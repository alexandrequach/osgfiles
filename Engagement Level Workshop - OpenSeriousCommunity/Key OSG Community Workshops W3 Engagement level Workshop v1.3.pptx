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4"/>
  </p:notesMasterIdLst>
  <p:sldIdLst>
    <p:sldId id="645" r:id="rId5"/>
    <p:sldId id="603" r:id="rId6"/>
    <p:sldId id="634" r:id="rId7"/>
    <p:sldId id="640" r:id="rId8"/>
    <p:sldId id="639" r:id="rId9"/>
    <p:sldId id="1194" r:id="rId10"/>
    <p:sldId id="420" r:id="rId11"/>
    <p:sldId id="650" r:id="rId12"/>
    <p:sldId id="426" r:id="rId13"/>
    <p:sldId id="646" r:id="rId14"/>
    <p:sldId id="647" r:id="rId15"/>
    <p:sldId id="648" r:id="rId16"/>
    <p:sldId id="1193" r:id="rId17"/>
    <p:sldId id="1195" r:id="rId18"/>
    <p:sldId id="1196" r:id="rId19"/>
    <p:sldId id="1197" r:id="rId20"/>
    <p:sldId id="1198" r:id="rId21"/>
    <p:sldId id="1199" r:id="rId22"/>
    <p:sldId id="120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 id="{00814527-E608-4D44-96F1-454FEA364CD1}">
          <p14:sldIdLst>
            <p14:sldId id="645"/>
            <p14:sldId id="603"/>
            <p14:sldId id="634"/>
            <p14:sldId id="640"/>
            <p14:sldId id="639"/>
          </p14:sldIdLst>
        </p14:section>
        <p14:section name="Version History" id="{3CAB9B00-4686-45AD-AE57-122C1B74B849}">
          <p14:sldIdLst>
            <p14:sldId id="1194"/>
          </p14:sldIdLst>
        </p14:section>
        <p14:section name="Working assumptions" id="{C98E5011-4B7B-4150-A01C-BAF2158E4205}">
          <p14:sldIdLst>
            <p14:sldId id="420"/>
            <p14:sldId id="650"/>
          </p14:sldIdLst>
        </p14:section>
        <p14:section name="Basic Level system" id="{731EE219-9F8A-4622-9F19-8FBDAF340A65}">
          <p14:sldIdLst>
            <p14:sldId id="426"/>
            <p14:sldId id="646"/>
          </p14:sldIdLst>
        </p14:section>
        <p14:section name="Variant : With individual engagement goals" id="{EBA3C2F7-D5B4-4CBF-AD78-9B98E38DDAEF}">
          <p14:sldIdLst>
            <p14:sldId id="647"/>
            <p14:sldId id="648"/>
          </p14:sldIdLst>
        </p14:section>
        <p14:section name="Additional level systems" id="{8E31F9A6-7623-4E15-8A28-C97867CCD209}">
          <p14:sldIdLst>
            <p14:sldId id="1193"/>
          </p14:sldIdLst>
        </p14:section>
        <p14:section name="Relative Engagement Level" id="{29D7C417-CF18-4FEE-9D32-2FCD7B3AFEDB}">
          <p14:sldIdLst>
            <p14:sldId id="1195"/>
            <p14:sldId id="1196"/>
            <p14:sldId id="1197"/>
            <p14:sldId id="1198"/>
            <p14:sldId id="1199"/>
            <p14:sldId id="120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F4B183"/>
    <a:srgbClr val="3494BA"/>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C14028-5E54-4594-80A5-4E1158D67223}" v="114" dt="2023-01-23T14:42:59.09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94660"/>
  </p:normalViewPr>
  <p:slideViewPr>
    <p:cSldViewPr snapToGrid="0">
      <p:cViewPr>
        <p:scale>
          <a:sx n="100" d="100"/>
          <a:sy n="100" d="100"/>
        </p:scale>
        <p:origin x="888" y="18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23/01/2023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F0F5F71A-6683-4344-8A86-B72493AD35FC}" type="slidenum">
              <a:rPr lang="fr-FR" smtClean="0"/>
              <a:t>13</a:t>
            </a:fld>
            <a:endParaRPr lang="fr-FR"/>
          </a:p>
        </p:txBody>
      </p:sp>
    </p:spTree>
    <p:extLst>
      <p:ext uri="{BB962C8B-B14F-4D97-AF65-F5344CB8AC3E}">
        <p14:creationId xmlns:p14="http://schemas.microsoft.com/office/powerpoint/2010/main" val="11219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1/23/2023</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CA9D41EC-A7F0-5701-30E7-C84980B6FA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1AB9D853-3685-109C-4665-4AEA6BA640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820A8FFA-8CC1-2520-3BFE-29FC2C227F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458A93C7-E6F3-A41D-FD8D-56DC7884CC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1DF7A464-D3F7-D3E1-C9D5-80DBD8BB02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B7E1131F-8B44-116B-7951-2642023828C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816758C9-F259-391F-71B7-0730FF58EE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4E3F5553-E01C-949D-174D-6E82E09C2E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1/23/2023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64E79651-7519-0E5E-8AC3-06AA05840D6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B969853B-CF5B-AD75-2BB1-6DBCA547539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DC476D27-4645-C312-AE01-AB0697F4E1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2" name="Image 4">
            <a:extLst>
              <a:ext uri="{FF2B5EF4-FFF2-40B4-BE49-F238E27FC236}">
                <a16:creationId xmlns:a16="http://schemas.microsoft.com/office/drawing/2014/main" id="{F3CE9FA7-6F5E-8DFC-1141-EEEA508566D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9C8C28A8-3405-3CF5-E425-A64BCF71CE5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15EEF07D-C474-2405-8788-65415C1B7A7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7ECADA13-6E70-180E-161A-6E649E110E0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4" name="Image 4">
            <a:extLst>
              <a:ext uri="{FF2B5EF4-FFF2-40B4-BE49-F238E27FC236}">
                <a16:creationId xmlns:a16="http://schemas.microsoft.com/office/drawing/2014/main" id="{9114E711-168D-B0AD-6252-680C3B3085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ACA0DD8C-A86B-B04C-FD50-F6AE194531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3163A6CD-55DA-5729-B038-DB1EA8F78EB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523B4BDE-83B7-8339-49B7-86B783AA91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4" name="Image 4">
            <a:extLst>
              <a:ext uri="{FF2B5EF4-FFF2-40B4-BE49-F238E27FC236}">
                <a16:creationId xmlns:a16="http://schemas.microsoft.com/office/drawing/2014/main" id="{F09544FF-ABB1-94DE-50B9-74EEDD318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1/23/2023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10" name="Image 4">
            <a:extLst>
              <a:ext uri="{FF2B5EF4-FFF2-40B4-BE49-F238E27FC236}">
                <a16:creationId xmlns:a16="http://schemas.microsoft.com/office/drawing/2014/main" id="{DD6E8D0D-5F56-CDB1-9882-3966B60FD0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2" name="Image 4">
            <a:extLst>
              <a:ext uri="{FF2B5EF4-FFF2-40B4-BE49-F238E27FC236}">
                <a16:creationId xmlns:a16="http://schemas.microsoft.com/office/drawing/2014/main" id="{6E1F4817-4D5A-A9DF-A46D-16DC3DFD924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4" name="Image 4">
            <a:extLst>
              <a:ext uri="{FF2B5EF4-FFF2-40B4-BE49-F238E27FC236}">
                <a16:creationId xmlns:a16="http://schemas.microsoft.com/office/drawing/2014/main" id="{DF21E626-844D-67DC-B55C-6236FD4AB81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6" name="Image 4">
            <a:extLst>
              <a:ext uri="{FF2B5EF4-FFF2-40B4-BE49-F238E27FC236}">
                <a16:creationId xmlns:a16="http://schemas.microsoft.com/office/drawing/2014/main" id="{EA9E38F3-3674-B979-3D7E-44955E2670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1/23/2023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6" name="Image 4">
            <a:extLst>
              <a:ext uri="{FF2B5EF4-FFF2-40B4-BE49-F238E27FC236}">
                <a16:creationId xmlns:a16="http://schemas.microsoft.com/office/drawing/2014/main" id="{7DEAED82-E616-880C-F387-84BE2CEDBD4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8" name="Image 4">
            <a:extLst>
              <a:ext uri="{FF2B5EF4-FFF2-40B4-BE49-F238E27FC236}">
                <a16:creationId xmlns:a16="http://schemas.microsoft.com/office/drawing/2014/main" id="{3B8E3E08-8850-8335-D527-3A7DBB00F3B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0" name="Image 4">
            <a:extLst>
              <a:ext uri="{FF2B5EF4-FFF2-40B4-BE49-F238E27FC236}">
                <a16:creationId xmlns:a16="http://schemas.microsoft.com/office/drawing/2014/main" id="{48F6A615-5F00-9D8B-F485-651432C1FFB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1" name="Image 4">
            <a:extLst>
              <a:ext uri="{FF2B5EF4-FFF2-40B4-BE49-F238E27FC236}">
                <a16:creationId xmlns:a16="http://schemas.microsoft.com/office/drawing/2014/main" id="{73034F59-C6B7-A678-BDB1-B2E5D598215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1/23/2023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5" name="Image 4">
            <a:extLst>
              <a:ext uri="{FF2B5EF4-FFF2-40B4-BE49-F238E27FC236}">
                <a16:creationId xmlns:a16="http://schemas.microsoft.com/office/drawing/2014/main" id="{BF9ABF0A-4662-7740-60BC-8063664C6E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6" name="Image 4">
            <a:extLst>
              <a:ext uri="{FF2B5EF4-FFF2-40B4-BE49-F238E27FC236}">
                <a16:creationId xmlns:a16="http://schemas.microsoft.com/office/drawing/2014/main" id="{1A966FF6-2855-0608-099F-D04FD0E1FD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7" name="Image 4">
            <a:extLst>
              <a:ext uri="{FF2B5EF4-FFF2-40B4-BE49-F238E27FC236}">
                <a16:creationId xmlns:a16="http://schemas.microsoft.com/office/drawing/2014/main" id="{C345511A-8CE6-A669-3282-AF12F654F8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8" name="Image 4">
            <a:extLst>
              <a:ext uri="{FF2B5EF4-FFF2-40B4-BE49-F238E27FC236}">
                <a16:creationId xmlns:a16="http://schemas.microsoft.com/office/drawing/2014/main" id="{4A71A206-34A6-BE71-6CAC-B790FC39A5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1/23/2023</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8C868CEF-9680-FCFA-7BCB-0F9E11C14F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EBE1C5CC-FE5A-6C34-F4AA-93394E4C61F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BB5AEDAD-197D-AF6A-26AD-FA1AC6D03E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714B7034-4641-11A8-82A4-1E4C731BE2D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1/23/2023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416E8D44-3BBA-2234-C666-7337E12F88B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0B00ED99-B166-758F-EA81-F458564C363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A0DC4A79-4FF7-976D-5497-934F6C63DE9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62F2B7F2-3251-7C91-9B62-9D81EEB98A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1/23/2023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E362102A-D736-60EA-46A0-73688AA21F4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8" name="Image 4">
            <a:extLst>
              <a:ext uri="{FF2B5EF4-FFF2-40B4-BE49-F238E27FC236}">
                <a16:creationId xmlns:a16="http://schemas.microsoft.com/office/drawing/2014/main" id="{619C49F9-E628-C187-8AFF-60C6B2FEFD1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9" name="Image 4">
            <a:extLst>
              <a:ext uri="{FF2B5EF4-FFF2-40B4-BE49-F238E27FC236}">
                <a16:creationId xmlns:a16="http://schemas.microsoft.com/office/drawing/2014/main" id="{077DDFFB-AA02-6D68-99F3-8274720E621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0" name="Image 4">
            <a:extLst>
              <a:ext uri="{FF2B5EF4-FFF2-40B4-BE49-F238E27FC236}">
                <a16:creationId xmlns:a16="http://schemas.microsoft.com/office/drawing/2014/main" id="{DD50E41F-4812-6DCF-6899-BF9AA219DED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1/23/2023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1/23/2023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jpeg"/><Relationship Id="rId21" Type="http://schemas.openxmlformats.org/officeDocument/2006/relationships/image" Target="../media/image20.jpeg"/><Relationship Id="rId34" Type="http://schemas.openxmlformats.org/officeDocument/2006/relationships/image" Target="../media/image33.jpe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jpeg"/><Relationship Id="rId33" Type="http://schemas.openxmlformats.org/officeDocument/2006/relationships/image" Target="../media/image32.jpeg"/><Relationship Id="rId38" Type="http://schemas.openxmlformats.org/officeDocument/2006/relationships/image" Target="../media/image37.jpe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jpeg"/><Relationship Id="rId29" Type="http://schemas.openxmlformats.org/officeDocument/2006/relationships/image" Target="../media/image28.jpe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jpeg"/><Relationship Id="rId32" Type="http://schemas.openxmlformats.org/officeDocument/2006/relationships/image" Target="../media/image31.jpeg"/><Relationship Id="rId37" Type="http://schemas.openxmlformats.org/officeDocument/2006/relationships/image" Target="../media/image36.jpe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jpeg"/><Relationship Id="rId28" Type="http://schemas.openxmlformats.org/officeDocument/2006/relationships/image" Target="../media/image27.jpeg"/><Relationship Id="rId36" Type="http://schemas.openxmlformats.org/officeDocument/2006/relationships/image" Target="../media/image35.jpeg"/><Relationship Id="rId10" Type="http://schemas.openxmlformats.org/officeDocument/2006/relationships/image" Target="../media/image9.svg"/><Relationship Id="rId19" Type="http://schemas.openxmlformats.org/officeDocument/2006/relationships/image" Target="../media/image18.jpeg"/><Relationship Id="rId31" Type="http://schemas.openxmlformats.org/officeDocument/2006/relationships/image" Target="../media/image30.jpe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jpeg"/><Relationship Id="rId27" Type="http://schemas.openxmlformats.org/officeDocument/2006/relationships/image" Target="../media/image26.jpeg"/><Relationship Id="rId30" Type="http://schemas.openxmlformats.org/officeDocument/2006/relationships/image" Target="../media/image29.jpeg"/><Relationship Id="rId35" Type="http://schemas.openxmlformats.org/officeDocument/2006/relationships/image" Target="../media/image34.jpeg"/><Relationship Id="rId8" Type="http://schemas.openxmlformats.org/officeDocument/2006/relationships/image" Target="../media/image7.sv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hyperlink" Target="https://en.wikipedia.org/wiki/Flow_(psychology)" TargetMode="External"/><Relationship Id="rId26" Type="http://schemas.openxmlformats.org/officeDocument/2006/relationships/image" Target="../media/image25.jpeg"/><Relationship Id="rId21" Type="http://schemas.openxmlformats.org/officeDocument/2006/relationships/image" Target="../media/image20.jpeg"/><Relationship Id="rId34" Type="http://schemas.openxmlformats.org/officeDocument/2006/relationships/image" Target="../media/image33.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4.jpeg"/><Relationship Id="rId33" Type="http://schemas.openxmlformats.org/officeDocument/2006/relationships/image" Target="../media/image32.jpeg"/><Relationship Id="rId38" Type="http://schemas.openxmlformats.org/officeDocument/2006/relationships/image" Target="../media/image37.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19.jpeg"/><Relationship Id="rId29"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3.jpeg"/><Relationship Id="rId32" Type="http://schemas.openxmlformats.org/officeDocument/2006/relationships/image" Target="../media/image31.jpeg"/><Relationship Id="rId37" Type="http://schemas.openxmlformats.org/officeDocument/2006/relationships/image" Target="../media/image36.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2.jpeg"/><Relationship Id="rId28" Type="http://schemas.openxmlformats.org/officeDocument/2006/relationships/image" Target="../media/image27.jpeg"/><Relationship Id="rId36" Type="http://schemas.openxmlformats.org/officeDocument/2006/relationships/image" Target="../media/image35.jpeg"/><Relationship Id="rId10" Type="http://schemas.openxmlformats.org/officeDocument/2006/relationships/image" Target="../media/image10.png"/><Relationship Id="rId19" Type="http://schemas.openxmlformats.org/officeDocument/2006/relationships/image" Target="../media/image18.jpeg"/><Relationship Id="rId31" Type="http://schemas.openxmlformats.org/officeDocument/2006/relationships/image" Target="../media/image30.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1.jpeg"/><Relationship Id="rId27" Type="http://schemas.openxmlformats.org/officeDocument/2006/relationships/image" Target="../media/image26.jpeg"/><Relationship Id="rId30" Type="http://schemas.openxmlformats.org/officeDocument/2006/relationships/image" Target="../media/image29.jpeg"/><Relationship Id="rId35" Type="http://schemas.openxmlformats.org/officeDocument/2006/relationships/image" Target="../media/image34.jpeg"/><Relationship Id="rId8" Type="http://schemas.openxmlformats.org/officeDocument/2006/relationships/image" Target="../media/image8.png"/><Relationship Id="rId3" Type="http://schemas.openxmlformats.org/officeDocument/2006/relationships/image" Target="../media/image3.svg"/></Relationships>
</file>

<file path=ppt/slides/_rels/slide4.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5.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hyperlink" Target="https://en.wikipedia.org/wiki/Flow_(psychology)" TargetMode="External"/><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39" Type="http://schemas.openxmlformats.org/officeDocument/2006/relationships/image" Target="../media/image39.sv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38" Type="http://schemas.openxmlformats.org/officeDocument/2006/relationships/image" Target="../media/image38.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jpeg"/><Relationship Id="rId18" Type="http://schemas.openxmlformats.org/officeDocument/2006/relationships/image" Target="../media/image34.jpeg"/><Relationship Id="rId3" Type="http://schemas.openxmlformats.org/officeDocument/2006/relationships/image" Target="../media/image19.jpeg"/><Relationship Id="rId21" Type="http://schemas.openxmlformats.org/officeDocument/2006/relationships/image" Target="../media/image37.jpeg"/><Relationship Id="rId7" Type="http://schemas.openxmlformats.org/officeDocument/2006/relationships/image" Target="../media/image23.jpeg"/><Relationship Id="rId12" Type="http://schemas.openxmlformats.org/officeDocument/2006/relationships/image" Target="../media/image28.jpeg"/><Relationship Id="rId17" Type="http://schemas.openxmlformats.org/officeDocument/2006/relationships/image" Target="../media/image33.jpeg"/><Relationship Id="rId2" Type="http://schemas.openxmlformats.org/officeDocument/2006/relationships/image" Target="../media/image18.jpeg"/><Relationship Id="rId16" Type="http://schemas.openxmlformats.org/officeDocument/2006/relationships/image" Target="../media/image32.jpeg"/><Relationship Id="rId20"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5" Type="http://schemas.openxmlformats.org/officeDocument/2006/relationships/image" Target="../media/image31.jpeg"/><Relationship Id="rId10" Type="http://schemas.openxmlformats.org/officeDocument/2006/relationships/image" Target="../media/image26.jpeg"/><Relationship Id="rId19" Type="http://schemas.openxmlformats.org/officeDocument/2006/relationships/image" Target="../media/image35.jpeg"/><Relationship Id="rId4" Type="http://schemas.openxmlformats.org/officeDocument/2006/relationships/image" Target="../media/image20.jpeg"/><Relationship Id="rId9" Type="http://schemas.openxmlformats.org/officeDocument/2006/relationships/image" Target="../media/image25.jpeg"/><Relationship Id="rId14" Type="http://schemas.openxmlformats.org/officeDocument/2006/relationships/image" Target="../media/image30.jpeg"/></Relationships>
</file>

<file path=ppt/slides/_rels/slide19.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jpeg"/><Relationship Id="rId18" Type="http://schemas.openxmlformats.org/officeDocument/2006/relationships/image" Target="../media/image34.jpeg"/><Relationship Id="rId3" Type="http://schemas.openxmlformats.org/officeDocument/2006/relationships/image" Target="../media/image19.jpeg"/><Relationship Id="rId7" Type="http://schemas.openxmlformats.org/officeDocument/2006/relationships/image" Target="../media/image23.jpeg"/><Relationship Id="rId12" Type="http://schemas.openxmlformats.org/officeDocument/2006/relationships/image" Target="../media/image28.jpeg"/><Relationship Id="rId17" Type="http://schemas.openxmlformats.org/officeDocument/2006/relationships/image" Target="../media/image33.jpeg"/><Relationship Id="rId2" Type="http://schemas.openxmlformats.org/officeDocument/2006/relationships/image" Target="../media/image18.jpeg"/><Relationship Id="rId16" Type="http://schemas.openxmlformats.org/officeDocument/2006/relationships/image" Target="../media/image32.jpeg"/><Relationship Id="rId20"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5" Type="http://schemas.openxmlformats.org/officeDocument/2006/relationships/image" Target="../media/image31.jpeg"/><Relationship Id="rId10" Type="http://schemas.openxmlformats.org/officeDocument/2006/relationships/image" Target="../media/image26.jpeg"/><Relationship Id="rId19" Type="http://schemas.openxmlformats.org/officeDocument/2006/relationships/image" Target="../media/image35.jpeg"/><Relationship Id="rId4" Type="http://schemas.openxmlformats.org/officeDocument/2006/relationships/image" Target="../media/image20.jpeg"/><Relationship Id="rId9" Type="http://schemas.openxmlformats.org/officeDocument/2006/relationships/image" Target="../media/image25.jpeg"/><Relationship Id="rId14"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p:txBody>
          <a:bodyPr>
            <a:normAutofit fontScale="90000"/>
          </a:bodyPr>
          <a:lstStyle/>
          <a:p>
            <a:r>
              <a:rPr lang="en-US"/>
              <a:t>  </a:t>
            </a:r>
            <a:br>
              <a:rPr lang="en-US"/>
            </a:br>
            <a:r>
              <a:rPr lang="en-US"/>
              <a:t>W3</a:t>
            </a:r>
            <a:br>
              <a:rPr lang="en-US"/>
            </a:br>
            <a:r>
              <a:rPr lang="en-US"/>
              <a:t>Engagement Level Workshop</a:t>
            </a:r>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p:txBody>
          <a:bodyPr/>
          <a:lstStyle/>
          <a:p>
            <a:r>
              <a:rPr lang="en-US"/>
              <a:t>Make current members’ engagement explicit to adjust expectations and better target activities</a:t>
            </a:r>
          </a:p>
        </p:txBody>
      </p:sp>
      <p:pic>
        <p:nvPicPr>
          <p:cNvPr id="2" name="Image 4">
            <a:extLst>
              <a:ext uri="{FF2B5EF4-FFF2-40B4-BE49-F238E27FC236}">
                <a16:creationId xmlns:a16="http://schemas.microsoft.com/office/drawing/2014/main" id="{F363E15C-A527-DB3C-71D8-640F348DA923}"/>
              </a:ext>
            </a:extLst>
          </p:cNvPr>
          <p:cNvPicPr>
            <a:picLocks noChangeAspect="1"/>
          </p:cNvPicPr>
          <p:nvPr/>
        </p:nvPicPr>
        <p:blipFill rotWithShape="1">
          <a:blip r:embed="rId2">
            <a:extLst>
              <a:ext uri="{28A0092B-C50C-407E-A947-70E740481C1C}">
                <a14:useLocalDpi xmlns:a14="http://schemas.microsoft.com/office/drawing/2010/main" val="0"/>
              </a:ext>
            </a:extLst>
          </a:blip>
          <a:srcRect b="18340"/>
          <a:stretch/>
        </p:blipFill>
        <p:spPr>
          <a:xfrm>
            <a:off x="9410700" y="5537255"/>
            <a:ext cx="2440305" cy="1101289"/>
          </a:xfrm>
          <a:prstGeom prst="rect">
            <a:avLst/>
          </a:prstGeom>
        </p:spPr>
      </p:pic>
      <p:graphicFrame>
        <p:nvGraphicFramePr>
          <p:cNvPr id="3" name="Tableau 5">
            <a:extLst>
              <a:ext uri="{FF2B5EF4-FFF2-40B4-BE49-F238E27FC236}">
                <a16:creationId xmlns:a16="http://schemas.microsoft.com/office/drawing/2014/main" id="{363B7F6B-2310-8EC1-F9BA-A68D1B251F70}"/>
              </a:ext>
            </a:extLst>
          </p:cNvPr>
          <p:cNvGraphicFramePr>
            <a:graphicFrameLocks noGrp="1"/>
          </p:cNvGraphicFramePr>
          <p:nvPr>
            <p:extLst>
              <p:ext uri="{D42A27DB-BD31-4B8C-83A1-F6EECF244321}">
                <p14:modId xmlns:p14="http://schemas.microsoft.com/office/powerpoint/2010/main" val="201463352"/>
              </p:ext>
            </p:extLst>
          </p:nvPr>
        </p:nvGraphicFramePr>
        <p:xfrm>
          <a:off x="7739641" y="102487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6" name="Groupe 2">
            <a:extLst>
              <a:ext uri="{FF2B5EF4-FFF2-40B4-BE49-F238E27FC236}">
                <a16:creationId xmlns:a16="http://schemas.microsoft.com/office/drawing/2014/main" id="{85BE2838-0205-F7AF-5E29-56D8B5F9D0AC}"/>
              </a:ext>
            </a:extLst>
          </p:cNvPr>
          <p:cNvGrpSpPr/>
          <p:nvPr/>
        </p:nvGrpSpPr>
        <p:grpSpPr>
          <a:xfrm>
            <a:off x="7831651" y="64897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057E5E23-28BA-7BD4-99DB-7564B6EA64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927A15BD-33E0-AD25-3964-B62D62A39A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DDF46C9C-8A22-0D51-DF7D-D44CB62CEF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C2816F97-FC32-B877-579D-480F8B6AE41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24CB9D88-99F4-9E84-7B4D-4821901C06B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3AF108BF-08CC-632B-FB95-7C95F074C7D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40DDCAFD-3E48-B4F2-6CF5-8B6AEEF80D5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439265" y="1618355"/>
              <a:ext cx="1006668" cy="1006668"/>
            </a:xfrm>
            <a:prstGeom prst="rect">
              <a:avLst/>
            </a:prstGeom>
          </p:spPr>
        </p:pic>
        <p:pic>
          <p:nvPicPr>
            <p:cNvPr id="14" name="Graphique 14" descr="Deux cœurs avec un remplissage uni">
              <a:extLst>
                <a:ext uri="{FF2B5EF4-FFF2-40B4-BE49-F238E27FC236}">
                  <a16:creationId xmlns:a16="http://schemas.microsoft.com/office/drawing/2014/main" id="{F0D85C2A-0FDE-2C35-AF4E-07543A60852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658122" y="1561531"/>
              <a:ext cx="298183" cy="298183"/>
            </a:xfrm>
            <a:prstGeom prst="rect">
              <a:avLst/>
            </a:prstGeom>
          </p:spPr>
        </p:pic>
        <p:pic>
          <p:nvPicPr>
            <p:cNvPr id="15" name="Image 15" descr="Une image contenant personne, homme, cravate, complet&#10;&#10;Description générée automatiquement">
              <a:extLst>
                <a:ext uri="{FF2B5EF4-FFF2-40B4-BE49-F238E27FC236}">
                  <a16:creationId xmlns:a16="http://schemas.microsoft.com/office/drawing/2014/main" id="{18461846-B1AB-3D2D-A478-42B7BBC85F93}"/>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6" descr="Une image contenant personne, extérieur, souriant, violet&#10;&#10;Description générée automatiquement">
              <a:extLst>
                <a:ext uri="{FF2B5EF4-FFF2-40B4-BE49-F238E27FC236}">
                  <a16:creationId xmlns:a16="http://schemas.microsoft.com/office/drawing/2014/main" id="{D584E5AB-19B4-77AD-BA14-1BF4D6E5035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7" name="Image 17" descr="Une image contenant personne, femme, souriant&#10;&#10;Description générée automatiquement">
              <a:extLst>
                <a:ext uri="{FF2B5EF4-FFF2-40B4-BE49-F238E27FC236}">
                  <a16:creationId xmlns:a16="http://schemas.microsoft.com/office/drawing/2014/main" id="{C67ACF53-0D21-4CF0-D1E6-0205385FCA9C}"/>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8" descr="Une image contenant personne, extérieur, souriant, foule&#10;&#10;Description générée automatiquement">
              <a:extLst>
                <a:ext uri="{FF2B5EF4-FFF2-40B4-BE49-F238E27FC236}">
                  <a16:creationId xmlns:a16="http://schemas.microsoft.com/office/drawing/2014/main" id="{DC7D2E88-4DA5-4D09-DE2E-AC6FA0D31B8F}"/>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9" descr="Une image contenant personne, souriant, homme, posant&#10;&#10;Description générée automatiquement">
              <a:extLst>
                <a:ext uri="{FF2B5EF4-FFF2-40B4-BE49-F238E27FC236}">
                  <a16:creationId xmlns:a16="http://schemas.microsoft.com/office/drawing/2014/main" id="{B2728C81-5E4F-6B00-E1D1-5E6068914BB9}"/>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0" name="Image 20" descr="Une image contenant personne, intérieur, posant, fermer&#10;&#10;Description générée automatiquement">
              <a:extLst>
                <a:ext uri="{FF2B5EF4-FFF2-40B4-BE49-F238E27FC236}">
                  <a16:creationId xmlns:a16="http://schemas.microsoft.com/office/drawing/2014/main" id="{A563DB04-D396-437A-C149-205D57277A6D}"/>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1" name="Image 21" descr="Une image contenant personne, homme, mur, souriant&#10;&#10;Description générée automatiquement">
              <a:extLst>
                <a:ext uri="{FF2B5EF4-FFF2-40B4-BE49-F238E27FC236}">
                  <a16:creationId xmlns:a16="http://schemas.microsoft.com/office/drawing/2014/main" id="{A501963D-B42C-DEF2-7B96-D5648733AEA6}"/>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2" name="Image 22" descr="Une image contenant homme, personne, intérieur, aîné&#10;&#10;Description générée automatiquement">
              <a:extLst>
                <a:ext uri="{FF2B5EF4-FFF2-40B4-BE49-F238E27FC236}">
                  <a16:creationId xmlns:a16="http://schemas.microsoft.com/office/drawing/2014/main" id="{82DFCA2F-ECC1-4E01-B2FC-FF856FE4BF5E}"/>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3" name="Image 23" descr="Une image contenant homme, personne, verres, portant&#10;&#10;Description générée automatiquement">
              <a:extLst>
                <a:ext uri="{FF2B5EF4-FFF2-40B4-BE49-F238E27FC236}">
                  <a16:creationId xmlns:a16="http://schemas.microsoft.com/office/drawing/2014/main" id="{24BD49AE-F23D-32C9-47CC-D19306DFA508}"/>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4" name="Image 24" descr="Une image contenant personne, homme, intérieur, souriant&#10;&#10;Description générée automatiquement">
              <a:extLst>
                <a:ext uri="{FF2B5EF4-FFF2-40B4-BE49-F238E27FC236}">
                  <a16:creationId xmlns:a16="http://schemas.microsoft.com/office/drawing/2014/main" id="{2178346A-FFDD-67A5-7E75-9D54C5E57137}"/>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5" name="Image 25" descr="Une image contenant personne, homme, cravate, souriant&#10;&#10;Description générée automatiquement">
              <a:extLst>
                <a:ext uri="{FF2B5EF4-FFF2-40B4-BE49-F238E27FC236}">
                  <a16:creationId xmlns:a16="http://schemas.microsoft.com/office/drawing/2014/main" id="{31E4BFC6-E0EB-1528-8222-4DD02FB033B5}"/>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6" name="Image 26" descr="Une image contenant personne, homme, souriant, aîné&#10;&#10;Description générée automatiquement">
              <a:extLst>
                <a:ext uri="{FF2B5EF4-FFF2-40B4-BE49-F238E27FC236}">
                  <a16:creationId xmlns:a16="http://schemas.microsoft.com/office/drawing/2014/main" id="{A2681A73-FDA3-9492-1645-C86932E7FBDB}"/>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7" name="Image 27" descr="Une image contenant personne, homme, souriant, aîné&#10;&#10;Description générée automatiquement">
              <a:extLst>
                <a:ext uri="{FF2B5EF4-FFF2-40B4-BE49-F238E27FC236}">
                  <a16:creationId xmlns:a16="http://schemas.microsoft.com/office/drawing/2014/main" id="{2C1AA7A0-4426-3D2E-9202-3F887A8556CF}"/>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8" name="Image 28" descr="Une image contenant personne, femme, souriant, posant&#10;&#10;Description générée automatiquement">
              <a:extLst>
                <a:ext uri="{FF2B5EF4-FFF2-40B4-BE49-F238E27FC236}">
                  <a16:creationId xmlns:a16="http://schemas.microsoft.com/office/drawing/2014/main" id="{F36960A6-B882-6158-0E02-FD0E8FB817BB}"/>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29" name="Image 29" descr="Une image contenant personne, extérieur, fermer&#10;&#10;Description générée automatiquement">
              <a:extLst>
                <a:ext uri="{FF2B5EF4-FFF2-40B4-BE49-F238E27FC236}">
                  <a16:creationId xmlns:a16="http://schemas.microsoft.com/office/drawing/2014/main" id="{B6C879A9-537E-0FDB-F337-8999282C658D}"/>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0" name="Image 30" descr="Une image contenant personne, mur, intérieur, jeune&#10;&#10;Description générée automatiquement">
              <a:extLst>
                <a:ext uri="{FF2B5EF4-FFF2-40B4-BE49-F238E27FC236}">
                  <a16:creationId xmlns:a16="http://schemas.microsoft.com/office/drawing/2014/main" id="{A5A63592-64D9-0BF7-7693-1463BF745F08}"/>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1" name="Image 31" descr="Une image contenant personne, homme, extérieur, arbre&#10;&#10;Description générée automatiquement">
              <a:extLst>
                <a:ext uri="{FF2B5EF4-FFF2-40B4-BE49-F238E27FC236}">
                  <a16:creationId xmlns:a16="http://schemas.microsoft.com/office/drawing/2014/main" id="{9FA72D73-FDE4-1709-B27F-4C3D5ABF56E4}"/>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2" name="Image 32" descr="Une image contenant personne, mur, souriant, intérieur&#10;&#10;Description générée automatiquement">
              <a:extLst>
                <a:ext uri="{FF2B5EF4-FFF2-40B4-BE49-F238E27FC236}">
                  <a16:creationId xmlns:a16="http://schemas.microsoft.com/office/drawing/2014/main" id="{E4C7397D-17E9-E781-CBCB-E194E49C9227}"/>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3" name="Image 33" descr="Une image contenant personne, mur, souriant, posant&#10;&#10;Description générée automatiquement">
              <a:extLst>
                <a:ext uri="{FF2B5EF4-FFF2-40B4-BE49-F238E27FC236}">
                  <a16:creationId xmlns:a16="http://schemas.microsoft.com/office/drawing/2014/main" id="{B8144F11-8CEE-0A90-17D0-D5CFDA3172AD}"/>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4" name="Image 34" descr="Une image contenant personne, mur, homme, souriant&#10;&#10;Description générée automatiquement">
              <a:extLst>
                <a:ext uri="{FF2B5EF4-FFF2-40B4-BE49-F238E27FC236}">
                  <a16:creationId xmlns:a16="http://schemas.microsoft.com/office/drawing/2014/main" id="{B0DEC5DF-73DE-BD50-7A10-6604842205E9}"/>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spTree>
    <p:extLst>
      <p:ext uri="{BB962C8B-B14F-4D97-AF65-F5344CB8AC3E}">
        <p14:creationId xmlns:p14="http://schemas.microsoft.com/office/powerpoint/2010/main" val="57033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en-US"/>
              <a:t>This document is an #OpenSeriousCommunity #OSC content</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en-US"/>
              <a:t>#OpenSeriousCommunity is a set of resources, organized as a framework, dedicated to help animate, sustain and develop communities. </a:t>
            </a:r>
          </a:p>
          <a:p>
            <a:pPr marL="0" indent="0">
              <a:buNone/>
            </a:pPr>
            <a:r>
              <a:rPr lang="en-US"/>
              <a:t>The communities concerned by #OpenSeriousCommunity can be as much in the corporate domain, as in associations, institutions or private. </a:t>
            </a:r>
          </a:p>
          <a:p>
            <a:pPr marL="0" indent="0">
              <a:buNone/>
            </a:pPr>
            <a:r>
              <a:rPr lang="en-US"/>
              <a:t>The #OpenSeriousCommunity contents follow the attributes of the #OSG contents, meaning that they are open-source, and structured to favor a maximum of appropriation of the content for retransmission purposes.</a:t>
            </a:r>
          </a:p>
          <a:p>
            <a:pPr marL="0" indent="0">
              <a:buNone/>
            </a:pPr>
            <a:r>
              <a:rPr lang="en-US"/>
              <a:t>To learn more, visit </a:t>
            </a:r>
            <a:r>
              <a:rPr lang="en-US">
                <a:hlinkClick r:id="rId2"/>
              </a:rPr>
              <a:t>https://www.openseriousgames.org/OpenSeriousCommunity</a:t>
            </a:r>
            <a:endParaRPr lang="en-US"/>
          </a:p>
          <a:p>
            <a:pPr marL="0" indent="0">
              <a:buNone/>
            </a:pPr>
            <a:endParaRPr lang="en-US"/>
          </a:p>
          <a:p>
            <a:pPr marL="0" indent="0">
              <a:buNone/>
            </a:pPr>
            <a:endParaRPr lang="en-US"/>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a:t>Engagement Level workshop</a:t>
            </a:r>
            <a:br>
              <a:rPr lang="en-US" sz="2800"/>
            </a:br>
            <a:r>
              <a:rPr lang="en-US" sz="2800"/>
              <a:t>Expected result example </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020376604"/>
              </p:ext>
            </p:extLst>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dirty="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dirty="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a:hlinkClick r:id="rId18"/>
              </a:rPr>
              <a:t>https://en.wikipedia.org/wiki/Flow_(psychology)</a:t>
            </a:r>
            <a:endParaRPr lang="en-US" sz="1100"/>
          </a:p>
          <a:p>
            <a:endParaRPr lang="en-US" sz="1100"/>
          </a:p>
        </p:txBody>
      </p:sp>
      <p:pic>
        <p:nvPicPr>
          <p:cNvPr id="14" name="Image 13" descr="Une image contenant personne, homme, cravate, complet&#10;&#10;Description générée automatiquement">
            <a:extLst>
              <a:ext uri="{FF2B5EF4-FFF2-40B4-BE49-F238E27FC236}">
                <a16:creationId xmlns:a16="http://schemas.microsoft.com/office/drawing/2014/main" id="{B696EB01-E4C8-41A5-A492-953881A6FD3E}"/>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655E41DD-23F6-41F1-9BD2-6484311BE12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037D13CC-8A6A-4D6C-9779-BB188DF22C51}"/>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4343B69-B39A-4EDF-8041-B9AD8C164522}"/>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7DE7DF05-DFE6-46BB-9CE1-4C5959A33898}"/>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288C2095-9453-45E5-BCBA-62041BD6E355}"/>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418DF618-E468-43A3-B334-7DFCAD9F6229}"/>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2288E470-715B-4D58-BC32-4070AFE5804C}"/>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ABF73D53-C154-4AB5-A2A7-D4D2146A3C07}"/>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30F6B8D1-A091-4DFC-AC34-46C5F338D7B8}"/>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49013062-5F00-474D-B843-EFA7FF751D2B}"/>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F72603E6-CCFA-4994-BF61-8A768F2E09CF}"/>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2279E222-24B2-46ED-BDF6-35B2F7B4C724}"/>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B28B3B8B-6004-46B1-A5D9-E998BDF06ACB}"/>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30147B6E-E1AD-441D-A186-EB68906562CF}"/>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54D3FED-76A0-40A6-9502-82C233BDA66B}"/>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2CDE586E-407F-4D73-B367-3269D3EA32FB}"/>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995689D7-21CB-48EB-961D-5B7F246CC3D9}"/>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E4F4D8C7-9BD0-4DED-ADE2-22F14D6BAD8E}"/>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7A07EBDC-ECEC-4ACB-8080-DB767C1FB27A}"/>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spTree>
    <p:extLst>
      <p:ext uri="{BB962C8B-B14F-4D97-AF65-F5344CB8AC3E}">
        <p14:creationId xmlns:p14="http://schemas.microsoft.com/office/powerpoint/2010/main" val="1434059974"/>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en-US" sz="2800"/>
              <a:t>Time Investment profiles Workshop</a:t>
            </a:r>
            <a:br>
              <a:rPr lang="en-US" sz="2800"/>
            </a:br>
            <a:r>
              <a:rPr lang="en-US" sz="2800" err="1"/>
              <a:t>Workshop</a:t>
            </a:r>
            <a:r>
              <a:rPr lang="en-US" sz="2800"/>
              <a:t> step by step</a:t>
            </a:r>
          </a:p>
        </p:txBody>
      </p:sp>
      <p:sp>
        <p:nvSpPr>
          <p:cNvPr id="14" name="ZoneTexte 13">
            <a:extLst>
              <a:ext uri="{FF2B5EF4-FFF2-40B4-BE49-F238E27FC236}">
                <a16:creationId xmlns:a16="http://schemas.microsoft.com/office/drawing/2014/main" id="{324AC220-AEB7-4C0B-A1F1-FAACDF7DF234}"/>
              </a:ext>
            </a:extLst>
          </p:cNvPr>
          <p:cNvSpPr txBox="1"/>
          <p:nvPr/>
        </p:nvSpPr>
        <p:spPr>
          <a:xfrm>
            <a:off x="11496252" y="6815480"/>
            <a:ext cx="2513365" cy="523220"/>
          </a:xfrm>
          <a:prstGeom prst="rect">
            <a:avLst/>
          </a:prstGeom>
          <a:noFill/>
        </p:spPr>
        <p:txBody>
          <a:bodyPr wrap="square" rtlCol="0">
            <a:spAutoFit/>
          </a:bodyPr>
          <a:lstStyle/>
          <a:p>
            <a:r>
              <a:rPr lang="en-US" sz="1400"/>
              <a:t>Only after a certain date, event</a:t>
            </a:r>
          </a:p>
        </p:txBody>
      </p:sp>
      <p:graphicFrame>
        <p:nvGraphicFramePr>
          <p:cNvPr id="4" name="Tableau 4">
            <a:extLst>
              <a:ext uri="{FF2B5EF4-FFF2-40B4-BE49-F238E27FC236}">
                <a16:creationId xmlns:a16="http://schemas.microsoft.com/office/drawing/2014/main" id="{DAED6B0E-FB0E-401A-937B-75839BD83A29}"/>
              </a:ext>
            </a:extLst>
          </p:cNvPr>
          <p:cNvGraphicFramePr>
            <a:graphicFrameLocks noGrp="1"/>
          </p:cNvGraphicFramePr>
          <p:nvPr>
            <p:extLst>
              <p:ext uri="{D42A27DB-BD31-4B8C-83A1-F6EECF244321}">
                <p14:modId xmlns:p14="http://schemas.microsoft.com/office/powerpoint/2010/main" val="2738249942"/>
              </p:ext>
            </p:extLst>
          </p:nvPr>
        </p:nvGraphicFramePr>
        <p:xfrm>
          <a:off x="145280" y="1813144"/>
          <a:ext cx="10630967" cy="4838700"/>
        </p:xfrm>
        <a:graphic>
          <a:graphicData uri="http://schemas.openxmlformats.org/drawingml/2006/table">
            <a:tbl>
              <a:tblPr firstRow="1" firstCol="1" bandRow="1">
                <a:tableStyleId>{5C22544A-7EE6-4342-B048-85BDC9FD1C3A}</a:tableStyleId>
              </a:tblPr>
              <a:tblGrid>
                <a:gridCol w="1115455">
                  <a:extLst>
                    <a:ext uri="{9D8B030D-6E8A-4147-A177-3AD203B41FA5}">
                      <a16:colId xmlns:a16="http://schemas.microsoft.com/office/drawing/2014/main" val="3637095222"/>
                    </a:ext>
                  </a:extLst>
                </a:gridCol>
                <a:gridCol w="1725236">
                  <a:extLst>
                    <a:ext uri="{9D8B030D-6E8A-4147-A177-3AD203B41FA5}">
                      <a16:colId xmlns:a16="http://schemas.microsoft.com/office/drawing/2014/main" val="1997714430"/>
                    </a:ext>
                  </a:extLst>
                </a:gridCol>
                <a:gridCol w="1589718">
                  <a:extLst>
                    <a:ext uri="{9D8B030D-6E8A-4147-A177-3AD203B41FA5}">
                      <a16:colId xmlns:a16="http://schemas.microsoft.com/office/drawing/2014/main" val="3341757670"/>
                    </a:ext>
                  </a:extLst>
                </a:gridCol>
                <a:gridCol w="1770149">
                  <a:extLst>
                    <a:ext uri="{9D8B030D-6E8A-4147-A177-3AD203B41FA5}">
                      <a16:colId xmlns:a16="http://schemas.microsoft.com/office/drawing/2014/main" val="3035350526"/>
                    </a:ext>
                  </a:extLst>
                </a:gridCol>
                <a:gridCol w="1476803">
                  <a:extLst>
                    <a:ext uri="{9D8B030D-6E8A-4147-A177-3AD203B41FA5}">
                      <a16:colId xmlns:a16="http://schemas.microsoft.com/office/drawing/2014/main" val="1419982903"/>
                    </a:ext>
                  </a:extLst>
                </a:gridCol>
                <a:gridCol w="1476803">
                  <a:extLst>
                    <a:ext uri="{9D8B030D-6E8A-4147-A177-3AD203B41FA5}">
                      <a16:colId xmlns:a16="http://schemas.microsoft.com/office/drawing/2014/main" val="2747996475"/>
                    </a:ext>
                  </a:extLst>
                </a:gridCol>
                <a:gridCol w="1476803">
                  <a:extLst>
                    <a:ext uri="{9D8B030D-6E8A-4147-A177-3AD203B41FA5}">
                      <a16:colId xmlns:a16="http://schemas.microsoft.com/office/drawing/2014/main" val="2174399618"/>
                    </a:ext>
                  </a:extLst>
                </a:gridCol>
              </a:tblGrid>
              <a:tr h="594340">
                <a:tc>
                  <a:txBody>
                    <a:bodyPr/>
                    <a:lstStyle/>
                    <a:p>
                      <a:endParaRPr lang="en-US" noProof="0"/>
                    </a:p>
                  </a:txBody>
                  <a:tcPr/>
                </a:tc>
                <a:tc>
                  <a:txBody>
                    <a:bodyPr/>
                    <a:lstStyle/>
                    <a:p>
                      <a:pPr algn="ctr"/>
                      <a:r>
                        <a:rPr lang="en-US" noProof="0"/>
                        <a:t>1</a:t>
                      </a:r>
                    </a:p>
                    <a:p>
                      <a:pPr algn="ctr"/>
                      <a:r>
                        <a:rPr lang="en-US" noProof="0"/>
                        <a:t>Introduction</a:t>
                      </a:r>
                    </a:p>
                  </a:txBody>
                  <a:tcPr/>
                </a:tc>
                <a:tc>
                  <a:txBody>
                    <a:bodyPr/>
                    <a:lstStyle/>
                    <a:p>
                      <a:pPr algn="ctr"/>
                      <a:r>
                        <a:rPr lang="en-US" noProof="0"/>
                        <a:t>2</a:t>
                      </a:r>
                    </a:p>
                    <a:p>
                      <a:pPr algn="ctr"/>
                      <a:r>
                        <a:rPr lang="en-US" noProof="0"/>
                        <a:t>Example result</a:t>
                      </a:r>
                    </a:p>
                  </a:txBody>
                  <a:tcPr/>
                </a:tc>
                <a:tc>
                  <a:txBody>
                    <a:bodyPr/>
                    <a:lstStyle/>
                    <a:p>
                      <a:pPr algn="ctr"/>
                      <a:r>
                        <a:rPr lang="en-US" noProof="0"/>
                        <a:t>3</a:t>
                      </a:r>
                    </a:p>
                    <a:p>
                      <a:pPr algn="ctr"/>
                      <a:r>
                        <a:rPr lang="en-US" noProof="0"/>
                        <a:t>Rules &amp; Mindset</a:t>
                      </a:r>
                    </a:p>
                  </a:txBody>
                  <a:tcPr/>
                </a:tc>
                <a:tc>
                  <a:txBody>
                    <a:bodyPr/>
                    <a:lstStyle/>
                    <a:p>
                      <a:pPr algn="ctr"/>
                      <a:r>
                        <a:rPr lang="en-US" noProof="0"/>
                        <a:t>4</a:t>
                      </a:r>
                    </a:p>
                    <a:p>
                      <a:pPr algn="ctr"/>
                      <a:r>
                        <a:rPr lang="en-US" noProof="0"/>
                        <a:t>Fill </a:t>
                      </a:r>
                    </a:p>
                  </a:txBody>
                  <a:tcPr/>
                </a:tc>
                <a:tc>
                  <a:txBody>
                    <a:bodyPr/>
                    <a:lstStyle/>
                    <a:p>
                      <a:pPr algn="ctr"/>
                      <a:r>
                        <a:rPr lang="en-US" noProof="0"/>
                        <a:t>5</a:t>
                      </a:r>
                    </a:p>
                    <a:p>
                      <a:pPr algn="ctr"/>
                      <a:r>
                        <a:rPr lang="en-US" noProof="0"/>
                        <a:t>Discussion</a:t>
                      </a:r>
                    </a:p>
                  </a:txBody>
                  <a:tcPr/>
                </a:tc>
                <a:tc>
                  <a:txBody>
                    <a:bodyPr/>
                    <a:lstStyle/>
                    <a:p>
                      <a:pPr algn="ctr"/>
                      <a:r>
                        <a:rPr lang="en-US" noProof="0"/>
                        <a:t>6</a:t>
                      </a:r>
                    </a:p>
                    <a:p>
                      <a:pPr algn="ctr"/>
                      <a:r>
                        <a:rPr lang="en-US" noProof="0"/>
                        <a:t>Decide main activities</a:t>
                      </a:r>
                    </a:p>
                  </a:txBody>
                  <a:tcPr/>
                </a:tc>
                <a:extLst>
                  <a:ext uri="{0D108BD9-81ED-4DB2-BD59-A6C34878D82A}">
                    <a16:rowId xmlns:a16="http://schemas.microsoft.com/office/drawing/2014/main" val="1802663392"/>
                  </a:ext>
                </a:extLst>
              </a:tr>
              <a:tr h="498335">
                <a:tc>
                  <a:txBody>
                    <a:bodyPr/>
                    <a:lstStyle/>
                    <a:p>
                      <a:r>
                        <a:rPr lang="en-US" sz="1400" noProof="0"/>
                        <a:t>Suggested timebox</a:t>
                      </a:r>
                    </a:p>
                  </a:txBody>
                  <a:tcPr/>
                </a:tc>
                <a:tc>
                  <a:txBody>
                    <a:bodyPr/>
                    <a:lstStyle/>
                    <a:p>
                      <a:r>
                        <a:rPr lang="en-US" sz="1200" noProof="0"/>
                        <a:t>5 minutes</a:t>
                      </a:r>
                    </a:p>
                  </a:txBody>
                  <a:tcPr/>
                </a:tc>
                <a:tc>
                  <a:txBody>
                    <a:bodyPr/>
                    <a:lstStyle/>
                    <a:p>
                      <a:r>
                        <a:rPr lang="en-US" sz="1200" noProof="0"/>
                        <a:t>5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2 minutes</a:t>
                      </a:r>
                    </a:p>
                  </a:txBody>
                  <a:tcPr/>
                </a:tc>
                <a:tc>
                  <a:txBody>
                    <a:bodyPr/>
                    <a:lstStyle/>
                    <a:p>
                      <a:r>
                        <a:rPr lang="en-US" sz="1200" noProof="0"/>
                        <a:t>10 minutes</a:t>
                      </a:r>
                    </a:p>
                  </a:txBody>
                  <a:tcPr/>
                </a:tc>
                <a:tc>
                  <a:txBody>
                    <a:bodyPr/>
                    <a:lstStyle/>
                    <a:p>
                      <a:r>
                        <a:rPr lang="en-US" sz="1200" noProof="0"/>
                        <a:t>20 minutes</a:t>
                      </a:r>
                    </a:p>
                  </a:txBody>
                  <a:tcPr/>
                </a:tc>
                <a:tc>
                  <a:txBody>
                    <a:bodyPr/>
                    <a:lstStyle/>
                    <a:p>
                      <a:r>
                        <a:rPr lang="en-US" sz="1200" noProof="0"/>
                        <a:t>15 minutes</a:t>
                      </a:r>
                    </a:p>
                  </a:txBody>
                  <a:tcPr/>
                </a:tc>
                <a:extLst>
                  <a:ext uri="{0D108BD9-81ED-4DB2-BD59-A6C34878D82A}">
                    <a16:rowId xmlns:a16="http://schemas.microsoft.com/office/drawing/2014/main" val="3050051482"/>
                  </a:ext>
                </a:extLst>
              </a:tr>
              <a:tr h="2016509">
                <a:tc>
                  <a:txBody>
                    <a:bodyPr/>
                    <a:lstStyle/>
                    <a:p>
                      <a:r>
                        <a:rPr lang="en-US" sz="1400" noProof="0"/>
                        <a:t>Action</a:t>
                      </a:r>
                    </a:p>
                  </a:txBody>
                  <a:tcPr/>
                </a:tc>
                <a:tc>
                  <a:txBody>
                    <a:bodyPr/>
                    <a:lstStyle/>
                    <a:p>
                      <a:r>
                        <a:rPr lang="en-US" sz="1050" noProof="0"/>
                        <a:t>Explain what motivates the workshop : </a:t>
                      </a:r>
                    </a:p>
                    <a:p>
                      <a:pPr marL="228600" indent="-228600">
                        <a:buFont typeface="+mj-lt"/>
                        <a:buAutoNum type="arabicPeriod"/>
                      </a:pPr>
                      <a:r>
                        <a:rPr lang="en-US" sz="1050" noProof="0"/>
                        <a:t>Avoid frustration or over solicitation of members</a:t>
                      </a:r>
                    </a:p>
                    <a:p>
                      <a:pPr marL="228600" indent="-228600">
                        <a:buFont typeface="+mj-lt"/>
                        <a:buAutoNum type="arabicPeriod"/>
                      </a:pPr>
                      <a:r>
                        <a:rPr lang="en-US" sz="1050" noProof="0"/>
                        <a:t>(Optional) Explain the theory behind the workshop</a:t>
                      </a:r>
                    </a:p>
                    <a:p>
                      <a:pPr marL="228600" indent="-228600">
                        <a:buFont typeface="+mj-lt"/>
                        <a:buAutoNum type="arabicPeriod"/>
                      </a:pPr>
                      <a:r>
                        <a:rPr lang="en-US" sz="1050" noProof="0"/>
                        <a:t>Adjust the activities to how members invest time in the Community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noProof="0"/>
                        <a:t>Show expected results of the workshop (previous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noProof="0"/>
                        <a:t>Show how it will be used (next slide)</a:t>
                      </a:r>
                    </a:p>
                  </a:txBody>
                  <a:tcPr/>
                </a:tc>
                <a:tc>
                  <a:txBody>
                    <a:bodyPr/>
                    <a:lstStyle/>
                    <a:p>
                      <a:r>
                        <a:rPr lang="en-US" sz="1050" noProof="0"/>
                        <a:t>Remind the rules &amp; mindset : </a:t>
                      </a:r>
                    </a:p>
                    <a:p>
                      <a:pPr marL="228600" indent="-228600">
                        <a:buFont typeface="+mj-lt"/>
                        <a:buAutoNum type="arabicPeriod"/>
                      </a:pPr>
                      <a:r>
                        <a:rPr lang="en-US" sz="1050" noProof="0"/>
                        <a:t>The sincerest, the easiest it will be on the long term</a:t>
                      </a:r>
                    </a:p>
                    <a:p>
                      <a:pPr marL="228600" indent="-228600">
                        <a:buFont typeface="+mj-lt"/>
                        <a:buAutoNum type="arabicPeriod"/>
                      </a:pPr>
                      <a:r>
                        <a:rPr lang="en-US" sz="1050" noProof="0"/>
                        <a:t>Neither shaming nor congratulating on current engagement level</a:t>
                      </a:r>
                    </a:p>
                    <a:p>
                      <a:pPr marL="228600" indent="-228600">
                        <a:buFont typeface="+mj-lt"/>
                        <a:buAutoNum type="arabicPeriod"/>
                      </a:pPr>
                      <a:r>
                        <a:rPr lang="en-US" sz="1050" noProof="0"/>
                        <a:t>(Optional) If target engagement level is different from current, explain why</a:t>
                      </a:r>
                    </a:p>
                    <a:p>
                      <a:pPr marL="228600" indent="-228600">
                        <a:buFont typeface="+mj-lt"/>
                        <a:buAutoNum type="arabicPeriod"/>
                      </a:pPr>
                      <a:r>
                        <a:rPr lang="en-US" sz="1050" noProof="0"/>
                        <a:t>Reminder : Engagement level are not tastes, each level comes with commitment and responsibilities</a:t>
                      </a:r>
                    </a:p>
                  </a:txBody>
                  <a:tcPr/>
                </a:tc>
                <a:tc>
                  <a:txBody>
                    <a:bodyPr/>
                    <a:lstStyle/>
                    <a:p>
                      <a:r>
                        <a:rPr lang="en-US" sz="1050" noProof="0" dirty="0"/>
                        <a:t>Present empty canvas, ask members to add their pictures in the right case. </a:t>
                      </a:r>
                    </a:p>
                    <a:p>
                      <a:r>
                        <a:rPr lang="en-US" sz="1050" noProof="0" dirty="0"/>
                        <a:t>Pictures can be replaced by names (less vivid)</a:t>
                      </a:r>
                    </a:p>
                    <a:p>
                      <a:endParaRPr lang="en-US" sz="1050" noProof="0" dirty="0"/>
                    </a:p>
                    <a:p>
                      <a:r>
                        <a:rPr lang="en-US" sz="1050" noProof="0" dirty="0"/>
                        <a:t>Variant: </a:t>
                      </a:r>
                    </a:p>
                    <a:p>
                      <a:r>
                        <a:rPr lang="en-US" sz="1050" noProof="0" dirty="0"/>
                        <a:t>You can also add individual target engagement level</a:t>
                      </a:r>
                    </a:p>
                  </a:txBody>
                  <a:tcPr/>
                </a:tc>
                <a:tc>
                  <a:txBody>
                    <a:bodyPr/>
                    <a:lstStyle/>
                    <a:p>
                      <a:r>
                        <a:rPr lang="en-US" sz="1050" noProof="0"/>
                        <a:t>Questions / Answers</a:t>
                      </a:r>
                    </a:p>
                  </a:txBody>
                  <a:tcPr/>
                </a:tc>
                <a:tc>
                  <a:txBody>
                    <a:bodyPr/>
                    <a:lstStyle/>
                    <a:p>
                      <a:r>
                        <a:rPr lang="en-US" sz="1050" noProof="0" dirty="0"/>
                        <a:t>From the result, decide what will be the main starting activities in the Community. </a:t>
                      </a:r>
                    </a:p>
                    <a:p>
                      <a:endParaRPr lang="en-US" sz="1050" noProof="0" dirty="0"/>
                    </a:p>
                    <a:p>
                      <a:r>
                        <a:rPr lang="en-US" sz="1050" noProof="0" dirty="0"/>
                        <a:t>(Optional) Collectively commit to a Given activity for next session or time period. </a:t>
                      </a:r>
                    </a:p>
                  </a:txBody>
                  <a:tcPr/>
                </a:tc>
                <a:extLst>
                  <a:ext uri="{0D108BD9-81ED-4DB2-BD59-A6C34878D82A}">
                    <a16:rowId xmlns:a16="http://schemas.microsoft.com/office/drawing/2014/main" val="987626046"/>
                  </a:ext>
                </a:extLst>
              </a:tr>
            </a:tbl>
          </a:graphicData>
        </a:graphic>
      </p:graphicFrame>
      <p:sp>
        <p:nvSpPr>
          <p:cNvPr id="5" name="Triangle isocèle 4">
            <a:extLst>
              <a:ext uri="{FF2B5EF4-FFF2-40B4-BE49-F238E27FC236}">
                <a16:creationId xmlns:a16="http://schemas.microsoft.com/office/drawing/2014/main" id="{B38AFCA8-59D9-487B-9924-9956586873D6}"/>
              </a:ext>
            </a:extLst>
          </p:cNvPr>
          <p:cNvSpPr/>
          <p:nvPr/>
        </p:nvSpPr>
        <p:spPr>
          <a:xfrm rot="5400000">
            <a:off x="8992134" y="3597258"/>
            <a:ext cx="4838698" cy="127047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6" name="Tableau 5">
            <a:extLst>
              <a:ext uri="{FF2B5EF4-FFF2-40B4-BE49-F238E27FC236}">
                <a16:creationId xmlns:a16="http://schemas.microsoft.com/office/drawing/2014/main" id="{8F92889C-910F-41FB-903A-7E8963BA10D2}"/>
              </a:ext>
            </a:extLst>
          </p:cNvPr>
          <p:cNvGraphicFramePr>
            <a:graphicFrameLocks noGrp="1"/>
          </p:cNvGraphicFramePr>
          <p:nvPr>
            <p:extLst>
              <p:ext uri="{D42A27DB-BD31-4B8C-83A1-F6EECF244321}">
                <p14:modId xmlns:p14="http://schemas.microsoft.com/office/powerpoint/2010/main" val="330882318"/>
              </p:ext>
            </p:extLst>
          </p:nvPr>
        </p:nvGraphicFramePr>
        <p:xfrm>
          <a:off x="8349241" y="54864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 name="Groupe 2">
            <a:extLst>
              <a:ext uri="{FF2B5EF4-FFF2-40B4-BE49-F238E27FC236}">
                <a16:creationId xmlns:a16="http://schemas.microsoft.com/office/drawing/2014/main" id="{F32DA409-BA8F-4DCD-B24C-13D20A5D4BB7}"/>
              </a:ext>
            </a:extLst>
          </p:cNvPr>
          <p:cNvGrpSpPr/>
          <p:nvPr/>
        </p:nvGrpSpPr>
        <p:grpSpPr>
          <a:xfrm>
            <a:off x="8441251" y="17274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BE317170-8A4E-4166-820B-D4D58ECD6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AB19BF8E-89E9-4B17-B61B-1A2450E05F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72C7D9DC-B3E9-4B0C-9E76-98AAF2F5D6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58C8229B-D239-490E-BEDD-67503AC17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D3EA719D-9C62-41ED-ADAE-9CAF2AFE87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25E2FBCB-C7ED-4BD6-9C02-3E9D75018CA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95383A16-88BF-4387-AEAA-D35EE30E491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15" name="Graphique 14" descr="Deux cœurs avec un remplissage uni">
              <a:extLst>
                <a:ext uri="{FF2B5EF4-FFF2-40B4-BE49-F238E27FC236}">
                  <a16:creationId xmlns:a16="http://schemas.microsoft.com/office/drawing/2014/main" id="{309E3CB2-D4F6-4CB7-BAF4-413122C0B7B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6" name="Image 15" descr="Une image contenant personne, homme, cravate, complet&#10;&#10;Description générée automatiquement">
              <a:extLst>
                <a:ext uri="{FF2B5EF4-FFF2-40B4-BE49-F238E27FC236}">
                  <a16:creationId xmlns:a16="http://schemas.microsoft.com/office/drawing/2014/main" id="{C53D07A6-1568-4241-9317-9EDFE577A7A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7" name="Image 16" descr="Une image contenant personne, extérieur, souriant, violet&#10;&#10;Description générée automatiquement">
              <a:extLst>
                <a:ext uri="{FF2B5EF4-FFF2-40B4-BE49-F238E27FC236}">
                  <a16:creationId xmlns:a16="http://schemas.microsoft.com/office/drawing/2014/main" id="{FD1C0789-9988-40C8-9B8E-2D2C04B21B95}"/>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8" name="Image 17" descr="Une image contenant personne, femme, souriant&#10;&#10;Description générée automatiquement">
              <a:extLst>
                <a:ext uri="{FF2B5EF4-FFF2-40B4-BE49-F238E27FC236}">
                  <a16:creationId xmlns:a16="http://schemas.microsoft.com/office/drawing/2014/main" id="{6AB21E26-AE27-4D1F-9191-3FA66B28D90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9" name="Image 18" descr="Une image contenant personne, extérieur, souriant, foule&#10;&#10;Description générée automatiquement">
              <a:extLst>
                <a:ext uri="{FF2B5EF4-FFF2-40B4-BE49-F238E27FC236}">
                  <a16:creationId xmlns:a16="http://schemas.microsoft.com/office/drawing/2014/main" id="{7D9B7053-677D-4A75-8D7A-64D49025831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20" name="Image 19" descr="Une image contenant personne, souriant, homme, posant&#10;&#10;Description générée automatiquement">
              <a:extLst>
                <a:ext uri="{FF2B5EF4-FFF2-40B4-BE49-F238E27FC236}">
                  <a16:creationId xmlns:a16="http://schemas.microsoft.com/office/drawing/2014/main" id="{0C50212E-0F28-4A03-8DC6-7AED6B396F6A}"/>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B6AA377F-7471-44F6-A3A6-07005535E58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1010A266-AC5C-4845-AA51-E75DDB2B57E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9B6C9F2C-8C6B-4980-86F1-8972F3B90A24}"/>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0C749F93-0954-449F-B9CF-DBDDE17BBFA1}"/>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4056B6E7-09D3-46A1-A4CB-EED109F60DC2}"/>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95994EB8-B28D-4D21-95B6-60F2D684D362}"/>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7" name="Image 26" descr="Une image contenant personne, homme, souriant, aîné&#10;&#10;Description générée automatiquement">
              <a:extLst>
                <a:ext uri="{FF2B5EF4-FFF2-40B4-BE49-F238E27FC236}">
                  <a16:creationId xmlns:a16="http://schemas.microsoft.com/office/drawing/2014/main" id="{56349D75-4410-4E56-8FD0-32AAC4FC2D52}"/>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8" name="Image 27" descr="Une image contenant personne, homme, souriant, aîné&#10;&#10;Description générée automatiquement">
              <a:extLst>
                <a:ext uri="{FF2B5EF4-FFF2-40B4-BE49-F238E27FC236}">
                  <a16:creationId xmlns:a16="http://schemas.microsoft.com/office/drawing/2014/main" id="{7EA25B15-A38D-4ADA-9C94-D80386628B7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9" name="Image 28" descr="Une image contenant personne, femme, souriant, posant&#10;&#10;Description générée automatiquement">
              <a:extLst>
                <a:ext uri="{FF2B5EF4-FFF2-40B4-BE49-F238E27FC236}">
                  <a16:creationId xmlns:a16="http://schemas.microsoft.com/office/drawing/2014/main" id="{FC18FC37-4F32-4420-B5BC-D4BF1DE1666D}"/>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0" name="Image 29" descr="Une image contenant personne, extérieur, fermer&#10;&#10;Description générée automatiquement">
              <a:extLst>
                <a:ext uri="{FF2B5EF4-FFF2-40B4-BE49-F238E27FC236}">
                  <a16:creationId xmlns:a16="http://schemas.microsoft.com/office/drawing/2014/main" id="{9ABB460D-B81C-406F-BEEF-D5C159CA2295}"/>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1" name="Image 30" descr="Une image contenant personne, mur, intérieur, jeune&#10;&#10;Description générée automatiquement">
              <a:extLst>
                <a:ext uri="{FF2B5EF4-FFF2-40B4-BE49-F238E27FC236}">
                  <a16:creationId xmlns:a16="http://schemas.microsoft.com/office/drawing/2014/main" id="{0ACA8F31-9FA8-4218-9D55-96E6635E6C6A}"/>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2" name="Image 31" descr="Une image contenant personne, homme, extérieur, arbre&#10;&#10;Description générée automatiquement">
              <a:extLst>
                <a:ext uri="{FF2B5EF4-FFF2-40B4-BE49-F238E27FC236}">
                  <a16:creationId xmlns:a16="http://schemas.microsoft.com/office/drawing/2014/main" id="{940269B5-E5CA-4FB3-95D9-EAA2A2ABBD06}"/>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3" name="Image 32" descr="Une image contenant personne, mur, souriant, intérieur&#10;&#10;Description générée automatiquement">
              <a:extLst>
                <a:ext uri="{FF2B5EF4-FFF2-40B4-BE49-F238E27FC236}">
                  <a16:creationId xmlns:a16="http://schemas.microsoft.com/office/drawing/2014/main" id="{6C7AC939-21E1-4204-A4BA-DF05E6C5573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4" name="Image 33" descr="Une image contenant personne, mur, souriant, posant&#10;&#10;Description générée automatiquement">
              <a:extLst>
                <a:ext uri="{FF2B5EF4-FFF2-40B4-BE49-F238E27FC236}">
                  <a16:creationId xmlns:a16="http://schemas.microsoft.com/office/drawing/2014/main" id="{CF437C15-811C-4946-97F3-6BDF28F2D030}"/>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5" name="Image 34" descr="Une image contenant personne, mur, homme, souriant&#10;&#10;Description générée automatiquement">
              <a:extLst>
                <a:ext uri="{FF2B5EF4-FFF2-40B4-BE49-F238E27FC236}">
                  <a16:creationId xmlns:a16="http://schemas.microsoft.com/office/drawing/2014/main" id="{8968B192-D070-434A-A012-B72A2F00FA50}"/>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spTree>
    <p:extLst>
      <p:ext uri="{BB962C8B-B14F-4D97-AF65-F5344CB8AC3E}">
        <p14:creationId xmlns:p14="http://schemas.microsoft.com/office/powerpoint/2010/main" val="1305242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a:t>Engagement Level workshop</a:t>
            </a:r>
            <a:br>
              <a:rPr lang="en-US" sz="2800"/>
            </a:br>
            <a:r>
              <a:rPr lang="en-US" sz="2800"/>
              <a:t>Using the result</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1173014853"/>
              </p:ext>
            </p:extLst>
          </p:nvPr>
        </p:nvGraphicFramePr>
        <p:xfrm>
          <a:off x="963756" y="2178245"/>
          <a:ext cx="10788785" cy="2263826"/>
        </p:xfrm>
        <a:graphic>
          <a:graphicData uri="http://schemas.openxmlformats.org/drawingml/2006/table">
            <a:tbl>
              <a:tblPr firstRow="1" bandRow="1">
                <a:tableStyleId>{5C22544A-7EE6-4342-B048-85BDC9FD1C3A}</a:tableStyleId>
              </a:tblPr>
              <a:tblGrid>
                <a:gridCol w="1541255">
                  <a:extLst>
                    <a:ext uri="{9D8B030D-6E8A-4147-A177-3AD203B41FA5}">
                      <a16:colId xmlns:a16="http://schemas.microsoft.com/office/drawing/2014/main" val="1258243979"/>
                    </a:ext>
                  </a:extLst>
                </a:gridCol>
                <a:gridCol w="1541255">
                  <a:extLst>
                    <a:ext uri="{9D8B030D-6E8A-4147-A177-3AD203B41FA5}">
                      <a16:colId xmlns:a16="http://schemas.microsoft.com/office/drawing/2014/main" val="1079462814"/>
                    </a:ext>
                  </a:extLst>
                </a:gridCol>
                <a:gridCol w="1541255">
                  <a:extLst>
                    <a:ext uri="{9D8B030D-6E8A-4147-A177-3AD203B41FA5}">
                      <a16:colId xmlns:a16="http://schemas.microsoft.com/office/drawing/2014/main" val="3397691572"/>
                    </a:ext>
                  </a:extLst>
                </a:gridCol>
                <a:gridCol w="1541255">
                  <a:extLst>
                    <a:ext uri="{9D8B030D-6E8A-4147-A177-3AD203B41FA5}">
                      <a16:colId xmlns:a16="http://schemas.microsoft.com/office/drawing/2014/main" val="3075883050"/>
                    </a:ext>
                  </a:extLst>
                </a:gridCol>
                <a:gridCol w="1541255">
                  <a:extLst>
                    <a:ext uri="{9D8B030D-6E8A-4147-A177-3AD203B41FA5}">
                      <a16:colId xmlns:a16="http://schemas.microsoft.com/office/drawing/2014/main" val="1259412674"/>
                    </a:ext>
                  </a:extLst>
                </a:gridCol>
                <a:gridCol w="1541255">
                  <a:extLst>
                    <a:ext uri="{9D8B030D-6E8A-4147-A177-3AD203B41FA5}">
                      <a16:colId xmlns:a16="http://schemas.microsoft.com/office/drawing/2014/main" val="3392695109"/>
                    </a:ext>
                  </a:extLst>
                </a:gridCol>
                <a:gridCol w="1541255">
                  <a:extLst>
                    <a:ext uri="{9D8B030D-6E8A-4147-A177-3AD203B41FA5}">
                      <a16:colId xmlns:a16="http://schemas.microsoft.com/office/drawing/2014/main" val="2848032752"/>
                    </a:ext>
                  </a:extLst>
                </a:gridCol>
              </a:tblGrid>
              <a:tr h="248980">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04546">
                <a:tc>
                  <a:txBody>
                    <a:bodyPr/>
                    <a:lstStyle/>
                    <a:p>
                      <a:pPr algn="ctr"/>
                      <a:r>
                        <a:rPr lang="en-US" sz="80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Active attendee</a:t>
                      </a:r>
                    </a:p>
                  </a:txBody>
                  <a:tcPr>
                    <a:solidFill>
                      <a:schemeClr val="bg1">
                        <a:lumMod val="95000"/>
                      </a:schemeClr>
                    </a:solidFill>
                  </a:tcPr>
                </a:tc>
                <a:tc>
                  <a:txBody>
                    <a:bodyPr/>
                    <a:lstStyle/>
                    <a:p>
                      <a:pPr algn="ctr"/>
                      <a:r>
                        <a:rPr lang="en-US" sz="80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Leader &amp; Creator</a:t>
                      </a:r>
                    </a:p>
                  </a:txBody>
                  <a:tcPr>
                    <a:solidFill>
                      <a:schemeClr val="accent1">
                        <a:lumMod val="75000"/>
                      </a:schemeClr>
                    </a:solidFill>
                  </a:tcPr>
                </a:tc>
                <a:tc>
                  <a:txBody>
                    <a:bodyPr/>
                    <a:lstStyle/>
                    <a:p>
                      <a:pPr algn="ctr"/>
                      <a:r>
                        <a:rPr lang="en-US" sz="80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4045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Propose Subscription to Social network accounts of the Community and react to posts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txBody>
                  <a:tcPr>
                    <a:solidFill>
                      <a:schemeClr val="bg1"/>
                    </a:solidFill>
                  </a:tcPr>
                </a:tc>
                <a:tc>
                  <a:txBody>
                    <a:bodyPr/>
                    <a:lstStyle/>
                    <a:p>
                      <a:pPr algn="ctr"/>
                      <a:r>
                        <a:rPr lang="en-US" sz="800">
                          <a:solidFill>
                            <a:schemeClr val="tx1"/>
                          </a:solidFill>
                        </a:rPr>
                        <a:t>Invite to events</a:t>
                      </a:r>
                    </a:p>
                    <a:p>
                      <a:pPr algn="ct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ask questions in the Community Chat room</a:t>
                      </a:r>
                    </a:p>
                  </a:txBody>
                  <a:tcPr>
                    <a:solidFill>
                      <a:schemeClr val="bg1">
                        <a:lumMod val="95000"/>
                      </a:schemeClr>
                    </a:solidFill>
                  </a:tcPr>
                </a:tc>
                <a:tc>
                  <a:txBody>
                    <a:bodyPr/>
                    <a:lstStyle/>
                    <a:p>
                      <a:pPr algn="ctr"/>
                      <a:r>
                        <a:rPr lang="en-US" sz="800">
                          <a:solidFill>
                            <a:schemeClr val="tx1"/>
                          </a:solidFill>
                        </a:rPr>
                        <a:t>Invite to series of events</a:t>
                      </a:r>
                    </a:p>
                    <a:p>
                      <a:pPr algn="ctr"/>
                      <a:endParaRPr lang="en-US" sz="800">
                        <a:solidFill>
                          <a:schemeClr val="tx1"/>
                        </a:solidFill>
                      </a:endParaRPr>
                    </a:p>
                    <a:p>
                      <a:pPr algn="ctr"/>
                      <a:r>
                        <a:rPr lang="en-US" sz="800">
                          <a:solidFill>
                            <a:schemeClr val="tx1"/>
                          </a:solidFill>
                        </a:rPr>
                        <a:t>Ask for some basic feedback to improve the Community (using polls)</a:t>
                      </a:r>
                    </a:p>
                  </a:txBody>
                  <a:tcPr>
                    <a:solidFill>
                      <a:schemeClr val="accent1">
                        <a:lumMod val="20000"/>
                        <a:lumOff val="80000"/>
                      </a:schemeClr>
                    </a:solidFill>
                  </a:tcPr>
                </a:tc>
                <a:tc>
                  <a:txBody>
                    <a:bodyPr/>
                    <a:lstStyle/>
                    <a:p>
                      <a:pPr marL="0" indent="0" algn="ctr">
                        <a:buFontTx/>
                        <a:buNone/>
                      </a:pPr>
                      <a:r>
                        <a:rPr lang="en-US" sz="800">
                          <a:solidFill>
                            <a:schemeClr val="tx1"/>
                          </a:solidFill>
                        </a:rPr>
                        <a:t>Offer to register as contributor for microtasks in Community projects or activities</a:t>
                      </a:r>
                    </a:p>
                    <a:p>
                      <a:pPr marL="0" indent="0" algn="ctr">
                        <a:buFontTx/>
                        <a:buNone/>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Answers questions in the Community chatroom / forum</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provide deeper feedback for the evolution of the Community</a:t>
                      </a:r>
                    </a:p>
                  </a:txBody>
                  <a:tcPr>
                    <a:solidFill>
                      <a:schemeClr val="accent1">
                        <a:lumMod val="40000"/>
                        <a:lumOff val="60000"/>
                      </a:schemeClr>
                    </a:solidFill>
                  </a:tcPr>
                </a:tc>
                <a:tc>
                  <a:txBody>
                    <a:bodyPr/>
                    <a:lstStyle/>
                    <a:p>
                      <a:pPr marL="0" indent="0" algn="ctr">
                        <a:buFontTx/>
                        <a:buNone/>
                      </a:pPr>
                      <a:r>
                        <a:rPr lang="en-US" sz="800">
                          <a:solidFill>
                            <a:schemeClr val="tx1"/>
                          </a:solidFill>
                        </a:rPr>
                        <a:t>Invite to Community decision meetings</a:t>
                      </a:r>
                    </a:p>
                    <a:p>
                      <a:pPr marL="0" indent="0" algn="ctr">
                        <a:buFontTx/>
                        <a:buNone/>
                      </a:pPr>
                      <a:endParaRPr lang="en-US" sz="800">
                        <a:solidFill>
                          <a:schemeClr val="tx1"/>
                        </a:solidFill>
                      </a:endParaRPr>
                    </a:p>
                    <a:p>
                      <a:pPr marL="0" indent="0" algn="ctr">
                        <a:buFontTx/>
                        <a:buNone/>
                      </a:pPr>
                      <a:r>
                        <a:rPr lang="en-US" sz="800">
                          <a:solidFill>
                            <a:schemeClr val="tx1"/>
                          </a:solidFill>
                        </a:rPr>
                        <a:t>Invite Organize events</a:t>
                      </a:r>
                    </a:p>
                    <a:p>
                      <a:pPr marL="0" indent="0" algn="ctr">
                        <a:buFontTx/>
                        <a:buNone/>
                      </a:pPr>
                      <a:endParaRPr lang="en-US" sz="800">
                        <a:solidFill>
                          <a:schemeClr val="tx1"/>
                        </a:solidFill>
                      </a:endParaRPr>
                    </a:p>
                    <a:p>
                      <a:pPr marL="0" indent="0" algn="ctr">
                        <a:buFontTx/>
                        <a:buNone/>
                      </a:pPr>
                      <a:r>
                        <a:rPr lang="en-US" sz="800">
                          <a:solidFill>
                            <a:schemeClr val="tx1"/>
                          </a:solidFill>
                        </a:rPr>
                        <a:t>Assign projects to lead</a:t>
                      </a:r>
                    </a:p>
                    <a:p>
                      <a:pPr marL="0" indent="0" algn="ctr">
                        <a:buFontTx/>
                        <a:buNone/>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collect external content and push in the Community Chatroom</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Invite Create original content or push content for the Community</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Propose creative spaces to express and share their content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Invite to community organization activities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Invite to matchmake members </a:t>
                      </a:r>
                    </a:p>
                  </a:txBody>
                  <a:tcPr>
                    <a:solidFill>
                      <a:schemeClr val="accent1">
                        <a:lumMod val="50000"/>
                      </a:schemeClr>
                    </a:solidFill>
                  </a:tcPr>
                </a:tc>
                <a:extLst>
                  <a:ext uri="{0D108BD9-81ED-4DB2-BD59-A6C34878D82A}">
                    <a16:rowId xmlns:a16="http://schemas.microsoft.com/office/drawing/2014/main" val="267751914"/>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3308" y="1491580"/>
            <a:ext cx="593626" cy="593626"/>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79745" y="1497784"/>
            <a:ext cx="593626" cy="593626"/>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9619" y="1536447"/>
            <a:ext cx="593626" cy="593626"/>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63182" y="1545598"/>
            <a:ext cx="593626" cy="593626"/>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54487" y="1563382"/>
            <a:ext cx="593626" cy="593626"/>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80627" y="1512940"/>
            <a:ext cx="593626" cy="593626"/>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69824" y="1466773"/>
            <a:ext cx="653526" cy="653526"/>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953397" y="1512940"/>
            <a:ext cx="193580" cy="193580"/>
          </a:xfrm>
          <a:prstGeom prst="rect">
            <a:avLst/>
          </a:prstGeom>
        </p:spPr>
      </p:pic>
      <p:pic>
        <p:nvPicPr>
          <p:cNvPr id="14" name="Image 13" descr="Une image contenant personne, homme, cravate, complet&#10;&#10;Description générée automatiquement">
            <a:extLst>
              <a:ext uri="{FF2B5EF4-FFF2-40B4-BE49-F238E27FC236}">
                <a16:creationId xmlns:a16="http://schemas.microsoft.com/office/drawing/2014/main" id="{0276176D-F7A9-4CE2-B96F-50F8526D654B}"/>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734013" y="4400999"/>
            <a:ext cx="313318" cy="313318"/>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08E70334-DC8D-44AE-A7CA-2F341A52CFAB}"/>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6044724" y="4854454"/>
            <a:ext cx="313318" cy="313318"/>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76249754-B172-453C-9100-F34D4DC154BF}"/>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284918" y="4400999"/>
            <a:ext cx="313318" cy="313318"/>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7F10C11-D993-43AD-AB86-7FBC69388431}"/>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825740" y="4414140"/>
            <a:ext cx="313318" cy="313318"/>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9F59AF60-28A7-4227-A04A-82F057E4E395}"/>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064449" y="4881543"/>
            <a:ext cx="313318" cy="313318"/>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609071F0-5988-48C3-A685-A4C22EE55AAA}"/>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500724" y="4400999"/>
            <a:ext cx="313318" cy="313318"/>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D8BD9263-601F-497E-B078-B7496254547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3290439" y="4846796"/>
            <a:ext cx="313318" cy="313318"/>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574B43B9-1207-44D3-93E4-B1BBF9231271}"/>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879562" y="4445616"/>
            <a:ext cx="313318" cy="313318"/>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F087FC78-82D7-4755-99CB-6282CAF67A6C}"/>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500723" y="4857940"/>
            <a:ext cx="313318" cy="313318"/>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50FCE991-F848-4755-AC46-5130D5745A90}"/>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963070" y="4429948"/>
            <a:ext cx="313318" cy="313318"/>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839CCB55-AC94-4D99-BBB5-6386375EF72B}"/>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969054" y="4870421"/>
            <a:ext cx="313318" cy="313318"/>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3A9B69B3-2DEC-4C7A-A850-EA7289AED434}"/>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062028" y="4423935"/>
            <a:ext cx="313318" cy="313318"/>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A0993739-AC3B-4B94-9694-73350ADFBF1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838831" y="4868477"/>
            <a:ext cx="313318" cy="313318"/>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C3E77CF2-5F1F-4CA7-B976-4F2BBE140328}"/>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389958" y="4421245"/>
            <a:ext cx="313318" cy="313318"/>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2D0E2BF7-1229-451F-B53F-3FD3EBEE82B7}"/>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6044725" y="4409782"/>
            <a:ext cx="313318" cy="313318"/>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992D300-3C14-4FA6-91F4-675AEE6F2A76}"/>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1084114" y="4334410"/>
            <a:ext cx="313318" cy="313318"/>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B8CF211B-6FE4-4BED-8EA8-924DFC16BE05}"/>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506938" y="4870421"/>
            <a:ext cx="313318" cy="313318"/>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36F58715-BF9C-4B0F-BAC8-09E0E05F1B1C}"/>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1064448" y="5319821"/>
            <a:ext cx="313318" cy="313318"/>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43E33ACB-9EB9-4E21-94DC-55C9538EFA04}"/>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1512549" y="4424166"/>
            <a:ext cx="313318" cy="313318"/>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46630AD1-BA54-47AC-8948-D033FBA44BF6}"/>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734013" y="4854454"/>
            <a:ext cx="313318" cy="313318"/>
          </a:xfrm>
          <a:prstGeom prst="rect">
            <a:avLst/>
          </a:prstGeom>
        </p:spPr>
      </p:pic>
      <p:sp>
        <p:nvSpPr>
          <p:cNvPr id="4" name="ZoneTexte 3">
            <a:extLst>
              <a:ext uri="{FF2B5EF4-FFF2-40B4-BE49-F238E27FC236}">
                <a16:creationId xmlns:a16="http://schemas.microsoft.com/office/drawing/2014/main" id="{BC93323B-E7A5-47FE-8DD4-55346F092C58}"/>
              </a:ext>
            </a:extLst>
          </p:cNvPr>
          <p:cNvSpPr txBox="1"/>
          <p:nvPr/>
        </p:nvSpPr>
        <p:spPr>
          <a:xfrm>
            <a:off x="0" y="3177331"/>
            <a:ext cx="871477" cy="461665"/>
          </a:xfrm>
          <a:prstGeom prst="rect">
            <a:avLst/>
          </a:prstGeom>
          <a:noFill/>
        </p:spPr>
        <p:txBody>
          <a:bodyPr wrap="square" rtlCol="0">
            <a:spAutoFit/>
          </a:bodyPr>
          <a:lstStyle/>
          <a:p>
            <a:r>
              <a:rPr lang="en-US" sz="800" b="1"/>
              <a:t>Suggested actions</a:t>
            </a:r>
          </a:p>
          <a:p>
            <a:r>
              <a:rPr lang="en-US" sz="800" b="1">
                <a:sym typeface="Wingdings" panose="05000000000000000000" pitchFamily="2" charset="2"/>
              </a:rPr>
              <a:t></a:t>
            </a:r>
            <a:endParaRPr lang="en-US" sz="800" b="1"/>
          </a:p>
        </p:txBody>
      </p:sp>
      <p:sp>
        <p:nvSpPr>
          <p:cNvPr id="40" name="Espace réservé du contenu 2">
            <a:extLst>
              <a:ext uri="{FF2B5EF4-FFF2-40B4-BE49-F238E27FC236}">
                <a16:creationId xmlns:a16="http://schemas.microsoft.com/office/drawing/2014/main" id="{9DE310B6-18CC-4DB6-8D44-8558B438EBAF}"/>
              </a:ext>
            </a:extLst>
          </p:cNvPr>
          <p:cNvSpPr txBox="1">
            <a:spLocks/>
          </p:cNvSpPr>
          <p:nvPr/>
        </p:nvSpPr>
        <p:spPr>
          <a:xfrm>
            <a:off x="2825740" y="5225002"/>
            <a:ext cx="9072662" cy="1323890"/>
          </a:xfrm>
          <a:prstGeom prst="rect">
            <a:avLst/>
          </a:prstGeom>
          <a:solidFill>
            <a:srgbClr val="EC7B2B"/>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a:t>What to do with the results ?</a:t>
            </a:r>
          </a:p>
          <a:p>
            <a:pPr marL="0" indent="0">
              <a:buFont typeface="Arial" panose="020B0604020202020204" pitchFamily="34" charset="0"/>
              <a:buNone/>
            </a:pPr>
            <a:r>
              <a:rPr lang="en-US" sz="1000"/>
              <a:t>✔️ Use it to recommend activities that fit the declared level of involvement</a:t>
            </a:r>
          </a:p>
          <a:p>
            <a:pPr marL="0" indent="0">
              <a:buFont typeface="Arial" panose="020B0604020202020204" pitchFamily="34" charset="0"/>
              <a:buNone/>
            </a:pPr>
            <a:r>
              <a:rPr lang="en-US" sz="1000"/>
              <a:t>💬 Use it to set up subgroups and decide on tools</a:t>
            </a:r>
          </a:p>
          <a:p>
            <a:pPr marL="0" indent="0">
              <a:buFont typeface="Arial" panose="020B0604020202020204" pitchFamily="34" charset="0"/>
              <a:buNone/>
            </a:pPr>
            <a:r>
              <a:rPr lang="en-US" sz="1000"/>
              <a:t>🔲 Use it to define Community engagement objectives (with stakeholders)</a:t>
            </a:r>
          </a:p>
          <a:p>
            <a:pPr marL="0" indent="0">
              <a:buFont typeface="Arial" panose="020B0604020202020204" pitchFamily="34" charset="0"/>
              <a:buNone/>
            </a:pPr>
            <a:r>
              <a:rPr lang="en-US" sz="1000"/>
              <a:t>📅 Update it regularly (example : once every quarter or every 10 sessions) or when Community members have drastically changed.</a:t>
            </a:r>
          </a:p>
          <a:p>
            <a:pPr marL="0" indent="0">
              <a:buFont typeface="Arial" panose="020B0604020202020204" pitchFamily="34" charset="0"/>
              <a:buNone/>
            </a:pPr>
            <a:endParaRPr lang="en-US" sz="1000"/>
          </a:p>
        </p:txBody>
      </p:sp>
    </p:spTree>
    <p:extLst>
      <p:ext uri="{BB962C8B-B14F-4D97-AF65-F5344CB8AC3E}">
        <p14:creationId xmlns:p14="http://schemas.microsoft.com/office/powerpoint/2010/main" val="2438374157"/>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FB29D0-660A-D7F7-7095-46262FDEF5A6}"/>
              </a:ext>
            </a:extLst>
          </p:cNvPr>
          <p:cNvSpPr>
            <a:spLocks noGrp="1"/>
          </p:cNvSpPr>
          <p:nvPr>
            <p:ph type="title"/>
          </p:nvPr>
        </p:nvSpPr>
        <p:spPr/>
        <p:txBody>
          <a:bodyPr/>
          <a:lstStyle/>
          <a:p>
            <a:r>
              <a:rPr lang="en-US" dirty="0"/>
              <a:t>Version history</a:t>
            </a:r>
          </a:p>
        </p:txBody>
      </p:sp>
      <p:graphicFrame>
        <p:nvGraphicFramePr>
          <p:cNvPr id="4" name="Tabella 4">
            <a:extLst>
              <a:ext uri="{FF2B5EF4-FFF2-40B4-BE49-F238E27FC236}">
                <a16:creationId xmlns:a16="http://schemas.microsoft.com/office/drawing/2014/main" id="{B1BAC992-D0FE-C24E-FC21-C59FB06DB746}"/>
              </a:ext>
            </a:extLst>
          </p:cNvPr>
          <p:cNvGraphicFramePr>
            <a:graphicFrameLocks noGrp="1"/>
          </p:cNvGraphicFramePr>
          <p:nvPr>
            <p:ph idx="1"/>
            <p:extLst>
              <p:ext uri="{D42A27DB-BD31-4B8C-83A1-F6EECF244321}">
                <p14:modId xmlns:p14="http://schemas.microsoft.com/office/powerpoint/2010/main" val="3570192485"/>
              </p:ext>
            </p:extLst>
          </p:nvPr>
        </p:nvGraphicFramePr>
        <p:xfrm>
          <a:off x="1116013" y="2478088"/>
          <a:ext cx="10167936" cy="2575560"/>
        </p:xfrm>
        <a:graphic>
          <a:graphicData uri="http://schemas.openxmlformats.org/drawingml/2006/table">
            <a:tbl>
              <a:tblPr firstRow="1" bandRow="1">
                <a:tableStyleId>{5C22544A-7EE6-4342-B048-85BDC9FD1C3A}</a:tableStyleId>
              </a:tblPr>
              <a:tblGrid>
                <a:gridCol w="1398587">
                  <a:extLst>
                    <a:ext uri="{9D8B030D-6E8A-4147-A177-3AD203B41FA5}">
                      <a16:colId xmlns:a16="http://schemas.microsoft.com/office/drawing/2014/main" val="2913910028"/>
                    </a:ext>
                  </a:extLst>
                </a:gridCol>
                <a:gridCol w="2057400">
                  <a:extLst>
                    <a:ext uri="{9D8B030D-6E8A-4147-A177-3AD203B41FA5}">
                      <a16:colId xmlns:a16="http://schemas.microsoft.com/office/drawing/2014/main" val="1907936708"/>
                    </a:ext>
                  </a:extLst>
                </a:gridCol>
                <a:gridCol w="6711949">
                  <a:extLst>
                    <a:ext uri="{9D8B030D-6E8A-4147-A177-3AD203B41FA5}">
                      <a16:colId xmlns:a16="http://schemas.microsoft.com/office/drawing/2014/main" val="3912563693"/>
                    </a:ext>
                  </a:extLst>
                </a:gridCol>
              </a:tblGrid>
              <a:tr h="370840">
                <a:tc>
                  <a:txBody>
                    <a:bodyPr/>
                    <a:lstStyle/>
                    <a:p>
                      <a:r>
                        <a:rPr lang="en-US" dirty="0"/>
                        <a:t>Version</a:t>
                      </a:r>
                    </a:p>
                  </a:txBody>
                  <a:tcPr/>
                </a:tc>
                <a:tc>
                  <a:txBody>
                    <a:bodyPr/>
                    <a:lstStyle/>
                    <a:p>
                      <a:r>
                        <a:rPr lang="en-US" dirty="0"/>
                        <a:t>Contributors</a:t>
                      </a:r>
                    </a:p>
                  </a:txBody>
                  <a:tcPr/>
                </a:tc>
                <a:tc>
                  <a:txBody>
                    <a:bodyPr/>
                    <a:lstStyle/>
                    <a:p>
                      <a:r>
                        <a:rPr lang="en-US" dirty="0"/>
                        <a:t>Update</a:t>
                      </a:r>
                    </a:p>
                  </a:txBody>
                  <a:tcPr/>
                </a:tc>
                <a:extLst>
                  <a:ext uri="{0D108BD9-81ED-4DB2-BD59-A6C34878D82A}">
                    <a16:rowId xmlns:a16="http://schemas.microsoft.com/office/drawing/2014/main" val="4233643669"/>
                  </a:ext>
                </a:extLst>
              </a:tr>
              <a:tr h="370840">
                <a:tc>
                  <a:txBody>
                    <a:bodyPr/>
                    <a:lstStyle/>
                    <a:p>
                      <a:r>
                        <a:rPr lang="en-US" sz="1200" dirty="0"/>
                        <a:t>1.0</a:t>
                      </a:r>
                    </a:p>
                  </a:txBody>
                  <a:tcPr/>
                </a:tc>
                <a:tc>
                  <a:txBody>
                    <a:bodyPr/>
                    <a:lstStyle/>
                    <a:p>
                      <a:r>
                        <a:rPr lang="en-US" sz="1200" dirty="0"/>
                        <a:t>Alexandre QUACH</a:t>
                      </a:r>
                    </a:p>
                  </a:txBody>
                  <a:tcPr/>
                </a:tc>
                <a:tc>
                  <a:txBody>
                    <a:bodyPr/>
                    <a:lstStyle/>
                    <a:p>
                      <a:r>
                        <a:rPr lang="en-US" sz="1200" dirty="0"/>
                        <a:t>First base workshop version</a:t>
                      </a:r>
                    </a:p>
                  </a:txBody>
                  <a:tcPr/>
                </a:tc>
                <a:extLst>
                  <a:ext uri="{0D108BD9-81ED-4DB2-BD59-A6C34878D82A}">
                    <a16:rowId xmlns:a16="http://schemas.microsoft.com/office/drawing/2014/main" val="4054614110"/>
                  </a:ext>
                </a:extLst>
              </a:tr>
              <a:tr h="370840">
                <a:tc>
                  <a:txBody>
                    <a:bodyPr/>
                    <a:lstStyle/>
                    <a:p>
                      <a:r>
                        <a:rPr lang="en-US" sz="1200" dirty="0"/>
                        <a:t>1.1</a:t>
                      </a:r>
                    </a:p>
                  </a:txBody>
                  <a:tcPr/>
                </a:tc>
                <a:tc>
                  <a:txBody>
                    <a:bodyPr/>
                    <a:lstStyle/>
                    <a:p>
                      <a:r>
                        <a:rPr lang="en-US" sz="1200" dirty="0"/>
                        <a:t>Alexandre QUACH</a:t>
                      </a:r>
                    </a:p>
                  </a:txBody>
                  <a:tcPr/>
                </a:tc>
                <a:tc>
                  <a:txBody>
                    <a:bodyPr/>
                    <a:lstStyle/>
                    <a:p>
                      <a:r>
                        <a:rPr lang="en-US" sz="1200" dirty="0"/>
                        <a:t>Adding variant : with individual engagement goals</a:t>
                      </a:r>
                    </a:p>
                  </a:txBody>
                  <a:tcPr/>
                </a:tc>
                <a:extLst>
                  <a:ext uri="{0D108BD9-81ED-4DB2-BD59-A6C34878D82A}">
                    <a16:rowId xmlns:a16="http://schemas.microsoft.com/office/drawing/2014/main" val="1202914957"/>
                  </a:ext>
                </a:extLst>
              </a:tr>
              <a:tr h="370840">
                <a:tc>
                  <a:txBody>
                    <a:bodyPr/>
                    <a:lstStyle/>
                    <a:p>
                      <a:r>
                        <a:rPr lang="en-US" sz="1200" dirty="0"/>
                        <a:t>1.2</a:t>
                      </a:r>
                    </a:p>
                  </a:txBody>
                  <a:tcPr/>
                </a:tc>
                <a:tc>
                  <a:txBody>
                    <a:bodyPr/>
                    <a:lstStyle/>
                    <a:p>
                      <a:r>
                        <a:rPr lang="en-US" sz="1200" dirty="0"/>
                        <a:t>Alexandre QUACH</a:t>
                      </a:r>
                    </a:p>
                  </a:txBody>
                  <a:tcPr/>
                </a:tc>
                <a:tc>
                  <a:txBody>
                    <a:bodyPr/>
                    <a:lstStyle/>
                    <a:p>
                      <a:r>
                        <a:rPr lang="en-US" sz="1200" dirty="0"/>
                        <a:t>Addition of additional level systems</a:t>
                      </a:r>
                    </a:p>
                    <a:p>
                      <a:r>
                        <a:rPr lang="en-US" sz="1200" dirty="0"/>
                        <a:t>Addition of the #OpenSeriousCommunity Tag &amp; Information</a:t>
                      </a:r>
                    </a:p>
                    <a:p>
                      <a:r>
                        <a:rPr lang="en-US" sz="1200" dirty="0"/>
                        <a:t>Addition of version history</a:t>
                      </a:r>
                    </a:p>
                    <a:p>
                      <a:r>
                        <a:rPr lang="en-US" sz="1200" dirty="0"/>
                        <a:t>Clarification of working assumption</a:t>
                      </a:r>
                    </a:p>
                  </a:txBody>
                  <a:tcPr/>
                </a:tc>
                <a:extLst>
                  <a:ext uri="{0D108BD9-81ED-4DB2-BD59-A6C34878D82A}">
                    <a16:rowId xmlns:a16="http://schemas.microsoft.com/office/drawing/2014/main" val="302890849"/>
                  </a:ext>
                </a:extLst>
              </a:tr>
              <a:tr h="370840">
                <a:tc>
                  <a:txBody>
                    <a:bodyPr/>
                    <a:lstStyle/>
                    <a:p>
                      <a:r>
                        <a:rPr lang="en-US" sz="1200" dirty="0"/>
                        <a:t>1.3</a:t>
                      </a:r>
                    </a:p>
                  </a:txBody>
                  <a:tcPr/>
                </a:tc>
                <a:tc>
                  <a:txBody>
                    <a:bodyPr/>
                    <a:lstStyle/>
                    <a:p>
                      <a:r>
                        <a:rPr lang="en-US" sz="1200" dirty="0"/>
                        <a:t>Alexandre QUACH</a:t>
                      </a:r>
                    </a:p>
                  </a:txBody>
                  <a:tcPr/>
                </a:tc>
                <a:tc>
                  <a:txBody>
                    <a:bodyPr/>
                    <a:lstStyle/>
                    <a:p>
                      <a:r>
                        <a:rPr lang="en-US" sz="1200" dirty="0"/>
                        <a:t>Added names in the additional level systems</a:t>
                      </a:r>
                    </a:p>
                    <a:p>
                      <a:r>
                        <a:rPr lang="en-US" sz="1200" dirty="0"/>
                        <a:t>Addition of “Relative engagement level”</a:t>
                      </a:r>
                    </a:p>
                    <a:p>
                      <a:endParaRPr lang="en-US" sz="1200" dirty="0"/>
                    </a:p>
                  </a:txBody>
                  <a:tcPr/>
                </a:tc>
                <a:extLst>
                  <a:ext uri="{0D108BD9-81ED-4DB2-BD59-A6C34878D82A}">
                    <a16:rowId xmlns:a16="http://schemas.microsoft.com/office/drawing/2014/main" val="1064432066"/>
                  </a:ext>
                </a:extLst>
              </a:tr>
            </a:tbl>
          </a:graphicData>
        </a:graphic>
      </p:graphicFrame>
    </p:spTree>
    <p:extLst>
      <p:ext uri="{BB962C8B-B14F-4D97-AF65-F5344CB8AC3E}">
        <p14:creationId xmlns:p14="http://schemas.microsoft.com/office/powerpoint/2010/main" val="2277307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a:t>
            </a:r>
            <a:br>
              <a:rPr lang="en-US" sz="2800" dirty="0"/>
            </a:br>
            <a:r>
              <a:rPr lang="en-US" sz="2800" dirty="0"/>
              <a:t>Working assumptions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849165393"/>
              </p:ext>
            </p:extLst>
          </p:nvPr>
        </p:nvGraphicFramePr>
        <p:xfrm>
          <a:off x="590919" y="5149695"/>
          <a:ext cx="11398926" cy="103632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95156">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579327">
                <a:tc>
                  <a:txBody>
                    <a:bodyPr/>
                    <a:lstStyle/>
                    <a:p>
                      <a:pPr algn="ctr"/>
                      <a:r>
                        <a:rPr lang="en-US" sz="140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experience something”</a:t>
                      </a:r>
                    </a:p>
                  </a:txBody>
                  <a:tcPr>
                    <a:solidFill>
                      <a:schemeClr val="bg1">
                        <a:lumMod val="95000"/>
                      </a:schemeClr>
                    </a:solidFill>
                  </a:tcPr>
                </a:tc>
                <a:tc>
                  <a:txBody>
                    <a:bodyPr/>
                    <a:lstStyle/>
                    <a:p>
                      <a:pPr algn="ctr"/>
                      <a:r>
                        <a:rPr lang="en-US" sz="140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“I want to add my own touch”</a:t>
                      </a:r>
                    </a:p>
                  </a:txBody>
                  <a:tcPr>
                    <a:solidFill>
                      <a:schemeClr val="accent1">
                        <a:lumMod val="75000"/>
                      </a:schemeClr>
                    </a:solidFill>
                  </a:tcPr>
                </a:tc>
                <a:tc>
                  <a:txBody>
                    <a:bodyPr/>
                    <a:lstStyle/>
                    <a:p>
                      <a:pPr algn="ctr"/>
                      <a:r>
                        <a:rPr lang="en-US" sz="140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743265" cy="1664844"/>
              <a:chOff x="150929" y="1955947"/>
              <a:chExt cx="11743265"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9054" y="2141130"/>
                <a:ext cx="1121514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a:t>Stimulation</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61686"/>
                <a:ext cx="11016354" cy="1088216"/>
                <a:chOff x="727970" y="2650692"/>
                <a:chExt cx="11016354" cy="1088216"/>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0692"/>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794524" y="2310713"/>
                <a:ext cx="4693003" cy="553998"/>
              </a:xfrm>
              <a:prstGeom prst="rect">
                <a:avLst/>
              </a:prstGeom>
              <a:noFill/>
            </p:spPr>
            <p:txBody>
              <a:bodyPr wrap="square" rtlCol="0">
                <a:spAutoFit/>
              </a:bodyPr>
              <a:lstStyle/>
              <a:p>
                <a:r>
                  <a:rPr lang="en-US" sz="1000"/>
                  <a:t>Common mistake : Asking for too much</a:t>
                </a:r>
              </a:p>
              <a:p>
                <a:r>
                  <a:rPr lang="en-US" sz="1000"/>
                  <a:t>Community Members </a:t>
                </a:r>
                <a:r>
                  <a:rPr lang="en-US" sz="1000">
                    <a:sym typeface="Wingdings" panose="05000000000000000000" pitchFamily="2" charset="2"/>
                  </a:rPr>
                  <a:t></a:t>
                </a:r>
                <a:r>
                  <a:rPr lang="en-US" sz="1000"/>
                  <a:t> Feeling spammed</a:t>
                </a:r>
              </a:p>
              <a:p>
                <a:r>
                  <a:rPr lang="en-US" sz="1000"/>
                  <a:t>Community Booster </a:t>
                </a:r>
                <a:r>
                  <a:rPr lang="en-US" sz="1000">
                    <a:sym typeface="Wingdings" panose="05000000000000000000" pitchFamily="2" charset="2"/>
                  </a:rPr>
                  <a:t></a:t>
                </a:r>
                <a:r>
                  <a:rPr lang="en-US" sz="1000"/>
                  <a:t> Frustration </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7420996" y="3092910"/>
                <a:ext cx="4232838" cy="507831"/>
              </a:xfrm>
              <a:prstGeom prst="rect">
                <a:avLst/>
              </a:prstGeom>
              <a:noFill/>
            </p:spPr>
            <p:txBody>
              <a:bodyPr wrap="square" rtlCol="0">
                <a:spAutoFit/>
              </a:bodyPr>
              <a:lstStyle/>
              <a:p>
                <a:pPr algn="r"/>
                <a:r>
                  <a:rPr lang="en-US" sz="900"/>
                  <a:t>Common mistake : Asking for too few</a:t>
                </a:r>
              </a:p>
              <a:p>
                <a:pPr algn="r"/>
                <a:r>
                  <a:rPr lang="en-US" sz="900"/>
                  <a:t>Community Members </a:t>
                </a:r>
                <a:r>
                  <a:rPr lang="en-US" sz="900">
                    <a:sym typeface="Wingdings" panose="05000000000000000000" pitchFamily="2" charset="2"/>
                  </a:rPr>
                  <a:t></a:t>
                </a:r>
                <a:r>
                  <a:rPr lang="en-US" sz="900"/>
                  <a:t> Boredom </a:t>
                </a:r>
              </a:p>
              <a:p>
                <a:pPr algn="r"/>
                <a:r>
                  <a:rPr lang="en-US" sz="900"/>
                  <a:t>Community Booster </a:t>
                </a:r>
                <a:r>
                  <a:rPr lang="en-US" sz="900">
                    <a:sym typeface="Wingdings" panose="05000000000000000000" pitchFamily="2" charset="2"/>
                  </a:rPr>
                  <a:t></a:t>
                </a:r>
                <a:r>
                  <a:rPr lang="en-US" sz="900"/>
                  <a:t> Missing opportunities</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6861" y="2967467"/>
                <a:ext cx="4030714" cy="369332"/>
              </a:xfrm>
              <a:prstGeom prst="rect">
                <a:avLst/>
              </a:prstGeom>
              <a:noFill/>
            </p:spPr>
            <p:txBody>
              <a:bodyPr wrap="square" rtlCol="0">
                <a:spAutoFit/>
              </a:bodyPr>
              <a:lstStyle/>
              <a:p>
                <a:pPr algn="ctr"/>
                <a:r>
                  <a:rPr lang="en-US" b="1">
                    <a:solidFill>
                      <a:srgbClr val="00B050"/>
                    </a:solidFill>
                  </a:rPr>
                  <a:t>Flow Zone : Best for stimulation</a:t>
                </a:r>
              </a:p>
            </p:txBody>
          </p:sp>
        </p:grpSp>
      </p:grpSp>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0651" y="41258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7655" y="41461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0998" y="41461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33182" y="41871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76525" y="41871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8197" y="41461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33647" y="40948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852504" y="40380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a:hlinkClick r:id="rId18"/>
              </a:rPr>
              <a:t>https://en.wikipedia.org/wiki/Flow_(psychology)</a:t>
            </a:r>
            <a:endParaRPr lang="en-US" sz="1100"/>
          </a:p>
          <a:p>
            <a:endParaRPr lang="en-US" sz="1100"/>
          </a:p>
        </p:txBody>
      </p:sp>
    </p:spTree>
    <p:extLst>
      <p:ext uri="{BB962C8B-B14F-4D97-AF65-F5344CB8AC3E}">
        <p14:creationId xmlns:p14="http://schemas.microsoft.com/office/powerpoint/2010/main" val="1311854233"/>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fr-FR" sz="2800" dirty="0"/>
              <a:t>Engagement </a:t>
            </a:r>
            <a:r>
              <a:rPr lang="fr-FR" sz="2800" dirty="0" err="1"/>
              <a:t>Level</a:t>
            </a:r>
            <a:r>
              <a:rPr lang="fr-FR" sz="2800" dirty="0"/>
              <a:t> workshop</a:t>
            </a:r>
            <a:br>
              <a:rPr lang="fr-FR" sz="2800" dirty="0"/>
            </a:br>
            <a:r>
              <a:rPr lang="en-US" sz="2800" dirty="0"/>
              <a:t>Working assumptions</a:t>
            </a:r>
          </a:p>
        </p:txBody>
      </p:sp>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743265" cy="1664844"/>
              <a:chOff x="150929" y="1955947"/>
              <a:chExt cx="11743265"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9054" y="2141130"/>
                <a:ext cx="1121514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a:t>Stimulation</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61686"/>
                <a:ext cx="11016354" cy="1088216"/>
                <a:chOff x="727970" y="2650692"/>
                <a:chExt cx="11016354" cy="1088216"/>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0692"/>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794524" y="2310713"/>
                <a:ext cx="4693003" cy="553998"/>
              </a:xfrm>
              <a:prstGeom prst="rect">
                <a:avLst/>
              </a:prstGeom>
              <a:noFill/>
            </p:spPr>
            <p:txBody>
              <a:bodyPr wrap="square" rtlCol="0">
                <a:spAutoFit/>
              </a:bodyPr>
              <a:lstStyle/>
              <a:p>
                <a:r>
                  <a:rPr lang="en-US" sz="1000"/>
                  <a:t>Common mistake : Asking for too much</a:t>
                </a:r>
              </a:p>
              <a:p>
                <a:r>
                  <a:rPr lang="en-US" sz="1000"/>
                  <a:t>Community Members </a:t>
                </a:r>
                <a:r>
                  <a:rPr lang="en-US" sz="1000">
                    <a:sym typeface="Wingdings" panose="05000000000000000000" pitchFamily="2" charset="2"/>
                  </a:rPr>
                  <a:t></a:t>
                </a:r>
                <a:r>
                  <a:rPr lang="en-US" sz="1000"/>
                  <a:t> Feeling spammed</a:t>
                </a:r>
              </a:p>
              <a:p>
                <a:r>
                  <a:rPr lang="en-US" sz="1000"/>
                  <a:t>Community Booster </a:t>
                </a:r>
                <a:r>
                  <a:rPr lang="en-US" sz="1000">
                    <a:sym typeface="Wingdings" panose="05000000000000000000" pitchFamily="2" charset="2"/>
                  </a:rPr>
                  <a:t></a:t>
                </a:r>
                <a:r>
                  <a:rPr lang="en-US" sz="1000"/>
                  <a:t> Frustration </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7420996" y="3092910"/>
                <a:ext cx="4232838" cy="507831"/>
              </a:xfrm>
              <a:prstGeom prst="rect">
                <a:avLst/>
              </a:prstGeom>
              <a:noFill/>
            </p:spPr>
            <p:txBody>
              <a:bodyPr wrap="square" rtlCol="0">
                <a:spAutoFit/>
              </a:bodyPr>
              <a:lstStyle/>
              <a:p>
                <a:pPr algn="r"/>
                <a:r>
                  <a:rPr lang="en-US" sz="900"/>
                  <a:t>Common mistake : Asking for too few</a:t>
                </a:r>
              </a:p>
              <a:p>
                <a:pPr algn="r"/>
                <a:r>
                  <a:rPr lang="en-US" sz="900"/>
                  <a:t>Community Members </a:t>
                </a:r>
                <a:r>
                  <a:rPr lang="en-US" sz="900">
                    <a:sym typeface="Wingdings" panose="05000000000000000000" pitchFamily="2" charset="2"/>
                  </a:rPr>
                  <a:t></a:t>
                </a:r>
                <a:r>
                  <a:rPr lang="en-US" sz="900"/>
                  <a:t> Boredom </a:t>
                </a:r>
              </a:p>
              <a:p>
                <a:pPr algn="r"/>
                <a:r>
                  <a:rPr lang="en-US" sz="900"/>
                  <a:t>Community Booster </a:t>
                </a:r>
                <a:r>
                  <a:rPr lang="en-US" sz="900">
                    <a:sym typeface="Wingdings" panose="05000000000000000000" pitchFamily="2" charset="2"/>
                  </a:rPr>
                  <a:t></a:t>
                </a:r>
                <a:r>
                  <a:rPr lang="en-US" sz="900"/>
                  <a:t> Missing opportunities</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6861" y="2967467"/>
                <a:ext cx="4030714" cy="369332"/>
              </a:xfrm>
              <a:prstGeom prst="rect">
                <a:avLst/>
              </a:prstGeom>
              <a:noFill/>
            </p:spPr>
            <p:txBody>
              <a:bodyPr wrap="square" rtlCol="0">
                <a:spAutoFit/>
              </a:bodyPr>
              <a:lstStyle/>
              <a:p>
                <a:pPr algn="ctr"/>
                <a:r>
                  <a:rPr lang="en-US" b="1">
                    <a:solidFill>
                      <a:srgbClr val="00B050"/>
                    </a:solidFill>
                  </a:rPr>
                  <a:t>Flow Zone : Best for stimulation</a:t>
                </a:r>
              </a:p>
            </p:txBody>
          </p:sp>
        </p:grpSp>
      </p:grpSp>
      <p:sp>
        <p:nvSpPr>
          <p:cNvPr id="3" name="Segnaposto contenuto 2">
            <a:extLst>
              <a:ext uri="{FF2B5EF4-FFF2-40B4-BE49-F238E27FC236}">
                <a16:creationId xmlns:a16="http://schemas.microsoft.com/office/drawing/2014/main" id="{2D704DF3-5B29-2E1C-1F8C-4E3F0AE817C7}"/>
              </a:ext>
            </a:extLst>
          </p:cNvPr>
          <p:cNvSpPr>
            <a:spLocks noGrp="1"/>
          </p:cNvSpPr>
          <p:nvPr>
            <p:ph idx="1"/>
          </p:nvPr>
        </p:nvSpPr>
        <p:spPr>
          <a:xfrm>
            <a:off x="1115568" y="4002402"/>
            <a:ext cx="10168128" cy="2169798"/>
          </a:xfrm>
        </p:spPr>
        <p:txBody>
          <a:bodyPr>
            <a:normAutofit fontScale="77500" lnSpcReduction="20000"/>
          </a:bodyPr>
          <a:lstStyle/>
          <a:p>
            <a:pPr marL="0" indent="0">
              <a:buNone/>
            </a:pPr>
            <a:r>
              <a:rPr lang="en-US" sz="1600" dirty="0"/>
              <a:t>The workshop assumes that </a:t>
            </a:r>
          </a:p>
          <a:p>
            <a:pPr>
              <a:buFontTx/>
              <a:buChar char="-"/>
            </a:pPr>
            <a:r>
              <a:rPr lang="en-US" sz="1600" dirty="0"/>
              <a:t>every member (or potential member) has, at a time t, a  “engagement level” towards a Community</a:t>
            </a:r>
          </a:p>
          <a:p>
            <a:pPr>
              <a:buFontTx/>
              <a:buChar char="-"/>
            </a:pPr>
            <a:r>
              <a:rPr lang="en-US" sz="1600" dirty="0"/>
              <a:t>This engagement level can vary over time</a:t>
            </a:r>
          </a:p>
          <a:p>
            <a:pPr>
              <a:buFontTx/>
              <a:buChar char="-"/>
            </a:pPr>
            <a:r>
              <a:rPr lang="en-US" sz="1600" dirty="0"/>
              <a:t>Requesting more engagement from a member than his/her current engagement level, can decrease the engagement level (member is feeling spammed)</a:t>
            </a:r>
          </a:p>
          <a:p>
            <a:pPr>
              <a:buFontTx/>
              <a:buChar char="-"/>
            </a:pPr>
            <a:r>
              <a:rPr lang="en-US" sz="1600" dirty="0"/>
              <a:t>Requesting less engagement from a member than his/her current engagement level, can decrease the engagement level (member is feeling boredom)</a:t>
            </a:r>
          </a:p>
          <a:p>
            <a:pPr>
              <a:buFontTx/>
              <a:buChar char="-"/>
            </a:pPr>
            <a:r>
              <a:rPr lang="en-US" sz="1600" dirty="0"/>
              <a:t>Feeling respected in one’s current engagement level can increase engagement level over time</a:t>
            </a:r>
          </a:p>
        </p:txBody>
      </p:sp>
    </p:spTree>
    <p:extLst>
      <p:ext uri="{BB962C8B-B14F-4D97-AF65-F5344CB8AC3E}">
        <p14:creationId xmlns:p14="http://schemas.microsoft.com/office/powerpoint/2010/main" val="3066423171"/>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Engagement Level workshop</a:t>
            </a:r>
            <a:br>
              <a:rPr lang="en-US" sz="2400" dirty="0"/>
            </a:br>
            <a:r>
              <a:rPr lang="en-US" sz="2400" dirty="0"/>
              <a:t>What the basic level system means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375866786"/>
              </p:ext>
            </p:extLst>
          </p:nvPr>
        </p:nvGraphicFramePr>
        <p:xfrm>
          <a:off x="320532" y="2656839"/>
          <a:ext cx="11588320" cy="3981211"/>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endParaRPr lang="en-US" sz="11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a:solidFill>
                            <a:schemeClr val="tx1"/>
                          </a:solidFill>
                        </a:rPr>
                        <a:t>E1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E2</a:t>
                      </a:r>
                    </a:p>
                  </a:txBody>
                  <a:tcPr>
                    <a:solidFill>
                      <a:schemeClr val="bg1">
                        <a:lumMod val="95000"/>
                      </a:schemeClr>
                    </a:solidFill>
                  </a:tcPr>
                </a:tc>
                <a:tc>
                  <a:txBody>
                    <a:bodyPr/>
                    <a:lstStyle/>
                    <a:p>
                      <a:pPr algn="ctr"/>
                      <a:r>
                        <a:rPr lang="en-US" sz="11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E6</a:t>
                      </a:r>
                    </a:p>
                  </a:txBody>
                  <a:tcPr>
                    <a:solidFill>
                      <a:schemeClr val="accent1">
                        <a:lumMod val="75000"/>
                      </a:schemeClr>
                    </a:solidFill>
                  </a:tcPr>
                </a:tc>
                <a:tc>
                  <a:txBody>
                    <a:bodyPr/>
                    <a:lstStyle/>
                    <a:p>
                      <a:pPr algn="ctr"/>
                      <a:r>
                        <a:rPr lang="en-US" sz="1100">
                          <a:solidFill>
                            <a:schemeClr val="bg1"/>
                          </a:solidFill>
                        </a:rPr>
                        <a:t>E7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endParaRPr lang="en-US" sz="11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solidFill>
                            <a:schemeClr val="tx1"/>
                          </a:solidFill>
                        </a:rPr>
                        <a:t>Curious</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pPr algn="ctr"/>
                      <a:r>
                        <a:rPr lang="en-US" sz="900">
                          <a:solidFill>
                            <a:schemeClr val="tx1"/>
                          </a:solidFill>
                        </a:rPr>
                        <a:t>What members are ready to give to the community</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solidFill>
                            <a:schemeClr val="tx1"/>
                          </a:solidFill>
                        </a:rPr>
                        <a:t>ATTENTION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a:solidFill>
                            <a:schemeClr val="tx1"/>
                          </a:solidFill>
                        </a:rPr>
                        <a:t>ATTENTION </a:t>
                      </a:r>
                    </a:p>
                    <a:p>
                      <a:pPr algn="l"/>
                      <a:r>
                        <a:rPr lang="en-US" sz="900">
                          <a:solidFill>
                            <a:schemeClr val="tx1"/>
                          </a:solidFill>
                        </a:rPr>
                        <a:t>+ ENOUGH TIME TO EXPERIMENT</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txBody>
                  <a:tcPr>
                    <a:solidFill>
                      <a:schemeClr val="accent1">
                        <a:lumMod val="20000"/>
                        <a:lumOff val="80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p>
                      <a:pPr algn="l"/>
                      <a:r>
                        <a:rPr lang="en-US" sz="900">
                          <a:solidFill>
                            <a:schemeClr val="tx1"/>
                          </a:solidFill>
                        </a:rPr>
                        <a:t>+ WILLINGNESS TO CONTRIBUTE</a:t>
                      </a:r>
                    </a:p>
                  </a:txBody>
                  <a:tcPr>
                    <a:solidFill>
                      <a:schemeClr val="accent1">
                        <a:lumMod val="40000"/>
                        <a:lumOff val="60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p>
                      <a:pPr algn="l"/>
                      <a:r>
                        <a:rPr lang="en-US" sz="900">
                          <a:solidFill>
                            <a:schemeClr val="tx1"/>
                          </a:solidFill>
                        </a:rPr>
                        <a:t>+ WILLINGNESS TO CONTRIBUTE</a:t>
                      </a:r>
                    </a:p>
                    <a:p>
                      <a:pPr algn="l"/>
                      <a:r>
                        <a:rPr lang="en-US" sz="900">
                          <a:solidFill>
                            <a:schemeClr val="tx1"/>
                          </a:solidFill>
                        </a:rPr>
                        <a:t>+WILLINGNESS TO TAKE RESPONSIBILITIES</a:t>
                      </a:r>
                    </a:p>
                  </a:txBody>
                  <a:tcPr>
                    <a:solidFill>
                      <a:schemeClr val="accent1">
                        <a:lumMod val="60000"/>
                        <a:lumOff val="40000"/>
                      </a:schemeClr>
                    </a:solidFill>
                  </a:tcPr>
                </a:tc>
                <a:tc>
                  <a:txBody>
                    <a:bodyPr/>
                    <a:lstStyle/>
                    <a:p>
                      <a:pPr algn="l"/>
                      <a:r>
                        <a:rPr lang="en-US" sz="900">
                          <a:solidFill>
                            <a:schemeClr val="bg1"/>
                          </a:solidFill>
                        </a:rPr>
                        <a:t>ATTENTION</a:t>
                      </a:r>
                    </a:p>
                    <a:p>
                      <a:pPr algn="l"/>
                      <a:r>
                        <a:rPr lang="en-US" sz="900">
                          <a:solidFill>
                            <a:schemeClr val="bg1"/>
                          </a:solidFill>
                        </a:rPr>
                        <a:t>+ ENOUGH TIME TO EXPERIMENT</a:t>
                      </a:r>
                    </a:p>
                    <a:p>
                      <a:pPr algn="l"/>
                      <a:r>
                        <a:rPr lang="en-US" sz="900">
                          <a:solidFill>
                            <a:schemeClr val="bg1"/>
                          </a:solidFill>
                        </a:rPr>
                        <a:t>+ RECURRING ATTENDANCE</a:t>
                      </a:r>
                    </a:p>
                    <a:p>
                      <a:pPr algn="l"/>
                      <a:r>
                        <a:rPr lang="en-US" sz="900">
                          <a:solidFill>
                            <a:schemeClr val="bg1"/>
                          </a:solidFill>
                        </a:rPr>
                        <a:t>+ WILLING NESS TO CONTRIBUTE</a:t>
                      </a:r>
                    </a:p>
                    <a:p>
                      <a:pPr algn="l"/>
                      <a:r>
                        <a:rPr lang="en-US" sz="90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BUILD</a:t>
                      </a:r>
                    </a:p>
                  </a:txBody>
                  <a:tcPr>
                    <a:solidFill>
                      <a:schemeClr val="accent1">
                        <a:lumMod val="75000"/>
                      </a:schemeClr>
                    </a:solidFill>
                  </a:tcPr>
                </a:tc>
                <a:tc>
                  <a:txBody>
                    <a:bodyPr/>
                    <a:lstStyle/>
                    <a:p>
                      <a:pPr algn="l"/>
                      <a:r>
                        <a:rPr lang="en-US" sz="900">
                          <a:solidFill>
                            <a:schemeClr val="bg1"/>
                          </a:solidFill>
                        </a:rPr>
                        <a:t>ATTENTION</a:t>
                      </a:r>
                    </a:p>
                    <a:p>
                      <a:pPr algn="l"/>
                      <a:r>
                        <a:rPr lang="en-US" sz="900">
                          <a:solidFill>
                            <a:schemeClr val="bg1"/>
                          </a:solidFill>
                        </a:rPr>
                        <a:t>+ ENOUGH TIME TO EXPERIMENT</a:t>
                      </a:r>
                    </a:p>
                    <a:p>
                      <a:pPr algn="l"/>
                      <a:r>
                        <a:rPr lang="en-US" sz="900">
                          <a:solidFill>
                            <a:schemeClr val="bg1"/>
                          </a:solidFill>
                        </a:rPr>
                        <a:t>+ RECURRING ATTENDANCE</a:t>
                      </a:r>
                    </a:p>
                    <a:p>
                      <a:pPr algn="l"/>
                      <a:r>
                        <a:rPr lang="en-US" sz="900">
                          <a:solidFill>
                            <a:schemeClr val="bg1"/>
                          </a:solidFill>
                        </a:rPr>
                        <a:t>+ WILLINGNESS TO CONTRIBUTE</a:t>
                      </a:r>
                    </a:p>
                    <a:p>
                      <a:pPr algn="l"/>
                      <a:r>
                        <a:rPr lang="en-US" sz="90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BUILD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RALLY</a:t>
                      </a:r>
                    </a:p>
                  </a:txBody>
                  <a:tcPr>
                    <a:solidFill>
                      <a:schemeClr val="accent1">
                        <a:lumMod val="50000"/>
                      </a:schemeClr>
                    </a:solidFill>
                  </a:tcPr>
                </a:tc>
                <a:extLst>
                  <a:ext uri="{0D108BD9-81ED-4DB2-BD59-A6C34878D82A}">
                    <a16:rowId xmlns:a16="http://schemas.microsoft.com/office/drawing/2014/main" val="2260415336"/>
                  </a:ext>
                </a:extLst>
              </a:tr>
              <a:tr h="1043462">
                <a:tc>
                  <a:txBody>
                    <a:bodyPr/>
                    <a:lstStyle/>
                    <a:p>
                      <a:pPr algn="ctr"/>
                      <a:r>
                        <a:rPr lang="en-US" sz="900">
                          <a:solidFill>
                            <a:schemeClr val="tx1"/>
                          </a:solidFill>
                        </a:rPr>
                        <a:t>What members can possibly expect from the Community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solidFill>
                            <a:schemeClr val="tx1"/>
                          </a:solidFill>
                        </a:rPr>
                        <a:t>Interesting content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a:solidFill>
                            <a:schemeClr val="tx1"/>
                          </a:solidFill>
                        </a:rPr>
                        <a:t>Pleasant experience</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a:solidFill>
                            <a:schemeClr val="tx1"/>
                          </a:solidFill>
                        </a:rPr>
                        <a:t>- Interest and Utility</a:t>
                      </a:r>
                    </a:p>
                    <a:p>
                      <a:pPr algn="l"/>
                      <a:r>
                        <a:rPr lang="en-US" sz="900">
                          <a:solidFill>
                            <a:schemeClr val="tx1"/>
                          </a:solidFill>
                        </a:rPr>
                        <a:t>- Usefulness of community or  content experience</a:t>
                      </a:r>
                    </a:p>
                  </a:txBody>
                  <a:tcPr>
                    <a:solidFill>
                      <a:schemeClr val="accent1">
                        <a:lumMod val="20000"/>
                        <a:lumOff val="80000"/>
                      </a:schemeClr>
                    </a:solidFill>
                  </a:tcPr>
                </a:tc>
                <a:tc>
                  <a:txBody>
                    <a:bodyPr/>
                    <a:lstStyle/>
                    <a:p>
                      <a:pPr algn="l"/>
                      <a:r>
                        <a:rPr lang="en-US" sz="900">
                          <a:solidFill>
                            <a:schemeClr val="tx1"/>
                          </a:solidFill>
                        </a:rPr>
                        <a:t>- Feeling of being active</a:t>
                      </a:r>
                    </a:p>
                    <a:p>
                      <a:pPr algn="l"/>
                      <a:r>
                        <a:rPr lang="en-US" sz="900">
                          <a:solidFill>
                            <a:schemeClr val="tx1"/>
                          </a:solidFill>
                        </a:rPr>
                        <a:t>- Concrete effects resulting from one’s action</a:t>
                      </a:r>
                    </a:p>
                    <a:p>
                      <a:pPr algn="l"/>
                      <a:r>
                        <a:rPr lang="en-US" sz="900">
                          <a:solidFill>
                            <a:schemeClr val="tx1"/>
                          </a:solidFill>
                        </a:rPr>
                        <a:t>- Sense of belonging in something bigger</a:t>
                      </a:r>
                    </a:p>
                    <a:p>
                      <a:pPr marL="171450" indent="-171450" algn="l">
                        <a:buFontTx/>
                        <a:buChar char="-"/>
                      </a:pPr>
                      <a:r>
                        <a:rPr lang="en-US" sz="900">
                          <a:solidFill>
                            <a:schemeClr val="tx1"/>
                          </a:solidFill>
                        </a:rPr>
                        <a:t>Better self-image</a:t>
                      </a:r>
                    </a:p>
                    <a:p>
                      <a:pPr marL="171450" indent="-171450" algn="l">
                        <a:buFontTx/>
                        <a:buChar char="-"/>
                      </a:pPr>
                      <a:r>
                        <a:rPr lang="en-US" sz="900">
                          <a:solidFill>
                            <a:schemeClr val="tx1"/>
                          </a:solidFill>
                        </a:rPr>
                        <a:t>Alignment of values</a:t>
                      </a:r>
                    </a:p>
                  </a:txBody>
                  <a:tcPr>
                    <a:solidFill>
                      <a:schemeClr val="accent1">
                        <a:lumMod val="40000"/>
                        <a:lumOff val="60000"/>
                      </a:schemeClr>
                    </a:solidFill>
                  </a:tcPr>
                </a:tc>
                <a:tc>
                  <a:txBody>
                    <a:bodyPr/>
                    <a:lstStyle/>
                    <a:p>
                      <a:pPr marL="171450" indent="-171450" algn="l">
                        <a:buFontTx/>
                        <a:buChar char="-"/>
                      </a:pPr>
                      <a:r>
                        <a:rPr lang="en-US" sz="900">
                          <a:solidFill>
                            <a:schemeClr val="tx1"/>
                          </a:solidFill>
                        </a:rPr>
                        <a:t>Responsibilities</a:t>
                      </a:r>
                    </a:p>
                    <a:p>
                      <a:pPr marL="171450" indent="-171450" algn="l">
                        <a:buFontTx/>
                        <a:buChar char="-"/>
                      </a:pPr>
                      <a:r>
                        <a:rPr lang="en-US" sz="900">
                          <a:solidFill>
                            <a:schemeClr val="tx1"/>
                          </a:solidFill>
                        </a:rPr>
                        <a:t>Risk of loss and more  meaningful success</a:t>
                      </a:r>
                    </a:p>
                    <a:p>
                      <a:pPr marL="171450" indent="-171450" algn="l">
                        <a:buFontTx/>
                        <a:buChar char="-"/>
                      </a:pPr>
                      <a:r>
                        <a:rPr lang="en-US" sz="900">
                          <a:solidFill>
                            <a:schemeClr val="tx1"/>
                          </a:solidFill>
                        </a:rPr>
                        <a:t>Challenge and opportunity to succeed</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A space to express oneself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Support and tools for creativity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Feeling of being aligned with oneself</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Posterity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Significance</a:t>
                      </a:r>
                    </a:p>
                  </a:txBody>
                  <a:tcPr>
                    <a:solidFill>
                      <a:schemeClr val="accent1">
                        <a:lumMod val="7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Unattended crowds to conquer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Significance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Large Vision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900">
                        <a:solidFill>
                          <a:schemeClr val="bg1"/>
                        </a:solidFill>
                      </a:endParaRPr>
                    </a:p>
                  </a:txBody>
                  <a:tcPr>
                    <a:solidFill>
                      <a:schemeClr val="accent1">
                        <a:lumMod val="50000"/>
                      </a:schemeClr>
                    </a:solidFill>
                  </a:tcPr>
                </a:tc>
                <a:extLst>
                  <a:ext uri="{0D108BD9-81ED-4DB2-BD59-A6C34878D82A}">
                    <a16:rowId xmlns:a16="http://schemas.microsoft.com/office/drawing/2014/main" val="1156104871"/>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274558" y="1841401"/>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51423" y="1888130"/>
            <a:ext cx="188517" cy="188517"/>
          </a:xfrm>
          <a:prstGeom prst="rect">
            <a:avLst/>
          </a:prstGeom>
        </p:spPr>
      </p:pic>
    </p:spTree>
    <p:extLst>
      <p:ext uri="{BB962C8B-B14F-4D97-AF65-F5344CB8AC3E}">
        <p14:creationId xmlns:p14="http://schemas.microsoft.com/office/powerpoint/2010/main" val="1588568121"/>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Engagement Level workshop</a:t>
            </a:r>
            <a:br>
              <a:rPr lang="en-US" sz="2400" dirty="0"/>
            </a:br>
            <a:r>
              <a:rPr lang="en-US" sz="2400" dirty="0"/>
              <a:t>Example activities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2012636818"/>
              </p:ext>
            </p:extLst>
          </p:nvPr>
        </p:nvGraphicFramePr>
        <p:xfrm>
          <a:off x="1882005" y="2695814"/>
          <a:ext cx="10139780" cy="3889771"/>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r>
                        <a:rPr lang="en-US" sz="1100">
                          <a:solidFill>
                            <a:schemeClr val="tx1"/>
                          </a:solidFill>
                        </a:rPr>
                        <a:t>E1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E2</a:t>
                      </a:r>
                    </a:p>
                  </a:txBody>
                  <a:tcPr>
                    <a:solidFill>
                      <a:schemeClr val="bg1">
                        <a:lumMod val="95000"/>
                      </a:schemeClr>
                    </a:solidFill>
                  </a:tcPr>
                </a:tc>
                <a:tc>
                  <a:txBody>
                    <a:bodyPr/>
                    <a:lstStyle/>
                    <a:p>
                      <a:pPr algn="ctr"/>
                      <a:r>
                        <a:rPr lang="en-US" sz="11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E6</a:t>
                      </a:r>
                    </a:p>
                  </a:txBody>
                  <a:tcPr>
                    <a:solidFill>
                      <a:schemeClr val="accent1">
                        <a:lumMod val="75000"/>
                      </a:schemeClr>
                    </a:solidFill>
                  </a:tcPr>
                </a:tc>
                <a:tc>
                  <a:txBody>
                    <a:bodyPr/>
                    <a:lstStyle/>
                    <a:p>
                      <a:pPr algn="ctr"/>
                      <a:r>
                        <a:rPr lang="en-US" sz="1100">
                          <a:solidFill>
                            <a:schemeClr val="bg1"/>
                          </a:solidFill>
                        </a:rPr>
                        <a:t>E7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r>
                        <a:rPr lang="en-US" sz="1100">
                          <a:solidFill>
                            <a:schemeClr val="tx1"/>
                          </a:solidFill>
                        </a:rPr>
                        <a:t>Curious</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Attendee</a:t>
                      </a:r>
                    </a:p>
                  </a:txBody>
                  <a:tcPr>
                    <a:solidFill>
                      <a:schemeClr val="bg1">
                        <a:lumMod val="95000"/>
                      </a:schemeClr>
                    </a:solidFill>
                  </a:tcPr>
                </a:tc>
                <a:tc>
                  <a:txBody>
                    <a:bodyPr/>
                    <a:lstStyle/>
                    <a:p>
                      <a:pPr algn="ctr"/>
                      <a:r>
                        <a:rPr lang="en-US" sz="110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Leader &amp; Creator</a:t>
                      </a:r>
                    </a:p>
                  </a:txBody>
                  <a:tcPr>
                    <a:solidFill>
                      <a:schemeClr val="accent1">
                        <a:lumMod val="75000"/>
                      </a:schemeClr>
                    </a:solidFill>
                  </a:tcPr>
                </a:tc>
                <a:tc>
                  <a:txBody>
                    <a:bodyPr/>
                    <a:lstStyle/>
                    <a:p>
                      <a:pPr algn="ctr"/>
                      <a:r>
                        <a:rPr lang="en-US" sz="1100" dirty="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r>
                        <a:rPr lang="en-US" sz="1100" noProof="0" dirty="0"/>
                        <a:t>Subscribe to a content thread (social media account, etc.) </a:t>
                      </a:r>
                    </a:p>
                    <a:p>
                      <a:endParaRPr lang="en-US" sz="1100" noProof="0" dirty="0"/>
                    </a:p>
                    <a:p>
                      <a:r>
                        <a:rPr lang="en-US" sz="1100" noProof="0" dirty="0"/>
                        <a:t>Agree to receive content (newsletters, brochure, etc.)</a:t>
                      </a:r>
                    </a:p>
                    <a:p>
                      <a:endParaRPr lang="en-US" sz="1100" noProof="0" dirty="0"/>
                    </a:p>
                    <a:p>
                      <a:r>
                        <a:rPr lang="en-US" sz="1100" noProof="0" dirty="0"/>
                        <a:t>Join a messaging room (or get invited to 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noProof="0"/>
                        <a:t>Watch or listen to an online content.</a:t>
                      </a:r>
                    </a:p>
                    <a:p>
                      <a:endParaRPr lang="en-US" sz="1100" noProof="0"/>
                    </a:p>
                    <a:p>
                      <a:r>
                        <a:rPr lang="en-US" sz="1100" noProof="0"/>
                        <a:t>Attend to an event in which you can act passively : Inspirational speaker, presentation, etc.</a:t>
                      </a:r>
                    </a:p>
                    <a:p>
                      <a:endParaRPr lang="en-US" sz="1100" noProof="0"/>
                    </a:p>
                  </a:txBody>
                  <a:tcPr>
                    <a:lnL w="12700" cap="flat" cmpd="sng" algn="ctr">
                      <a:noFill/>
                      <a:prstDash val="solid"/>
                      <a:round/>
                      <a:headEnd type="none" w="med" len="med"/>
                      <a:tailEnd type="none" w="med" len="med"/>
                    </a:lnL>
                    <a:solidFill>
                      <a:schemeClr val="bg1">
                        <a:lumMod val="95000"/>
                      </a:schemeClr>
                    </a:solidFill>
                  </a:tcPr>
                </a:tc>
                <a:tc>
                  <a:txBody>
                    <a:bodyPr/>
                    <a:lstStyle/>
                    <a:p>
                      <a:r>
                        <a:rPr lang="en-US" sz="1100" noProof="0"/>
                        <a:t>Introduce yourself to other members</a:t>
                      </a:r>
                    </a:p>
                    <a:p>
                      <a:endParaRPr lang="en-US" sz="1100" noProof="0"/>
                    </a:p>
                    <a:p>
                      <a:r>
                        <a:rPr lang="en-US" sz="1100" noProof="0"/>
                        <a:t>Answer to a quiz, a poll or a study</a:t>
                      </a:r>
                    </a:p>
                    <a:p>
                      <a:endParaRPr lang="en-US" sz="1100" noProof="0"/>
                    </a:p>
                    <a:p>
                      <a:r>
                        <a:rPr lang="en-US" sz="1100" noProof="0"/>
                        <a:t>React to a content (with likes, etc)</a:t>
                      </a:r>
                    </a:p>
                    <a:p>
                      <a:endParaRPr lang="en-US" sz="1100" noProof="0"/>
                    </a:p>
                    <a:p>
                      <a:r>
                        <a:rPr lang="en-US" sz="1100" noProof="0"/>
                        <a:t>Follow an online course with online exams</a:t>
                      </a:r>
                    </a:p>
                    <a:p>
                      <a:endParaRPr lang="en-US" sz="1100" noProof="0"/>
                    </a:p>
                    <a:p>
                      <a:r>
                        <a:rPr lang="en-US" sz="1100" noProof="0"/>
                        <a:t>Ask questions after or participate to discussions among peers after an event</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t>Actively review &amp; comment content (article, video, …), write down a feedback</a:t>
                      </a:r>
                    </a:p>
                    <a:p>
                      <a:endParaRPr lang="en-US" sz="110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t>Post external content in the Community messaging room </a:t>
                      </a:r>
                    </a:p>
                    <a:p>
                      <a:endParaRPr lang="en-US" sz="1100" noProof="0"/>
                    </a:p>
                    <a:p>
                      <a:r>
                        <a:rPr lang="en-US" sz="1100" noProof="0"/>
                        <a:t>Co-author a common deliverable</a:t>
                      </a:r>
                    </a:p>
                  </a:txBody>
                  <a:tcPr>
                    <a:solidFill>
                      <a:schemeClr val="accent1">
                        <a:lumMod val="40000"/>
                        <a:lumOff val="60000"/>
                      </a:schemeClr>
                    </a:solidFill>
                  </a:tcPr>
                </a:tc>
                <a:tc>
                  <a:txBody>
                    <a:bodyPr/>
                    <a:lstStyle/>
                    <a:p>
                      <a:r>
                        <a:rPr lang="en-US" sz="1100" noProof="0" dirty="0"/>
                        <a:t>Host a collective intelligence workshop </a:t>
                      </a:r>
                    </a:p>
                    <a:p>
                      <a:endParaRPr lang="en-US" sz="1100" noProof="0" dirty="0"/>
                    </a:p>
                    <a:p>
                      <a:r>
                        <a:rPr lang="en-US" sz="1100" noProof="0" dirty="0"/>
                        <a:t>Participate to an active pedagogy training</a:t>
                      </a:r>
                    </a:p>
                    <a:p>
                      <a:endParaRPr lang="en-US" sz="110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Prepare an event outside of the Community</a:t>
                      </a:r>
                    </a:p>
                    <a:p>
                      <a:endParaRPr lang="en-US" sz="1100" noProof="0" dirty="0"/>
                    </a:p>
                    <a:p>
                      <a:r>
                        <a:rPr lang="en-US" sz="1100" noProof="0" dirty="0"/>
                        <a:t>Manage a Community task from A to Z</a:t>
                      </a:r>
                    </a:p>
                    <a:p>
                      <a:endParaRPr lang="en-US" sz="1100" noProof="0" dirty="0"/>
                    </a:p>
                    <a:p>
                      <a:r>
                        <a:rPr lang="en-US" sz="1100" noProof="0" dirty="0"/>
                        <a:t>Take an official Community role</a:t>
                      </a:r>
                    </a:p>
                  </a:txBody>
                  <a:tcPr>
                    <a:solidFill>
                      <a:schemeClr val="accent1">
                        <a:lumMod val="60000"/>
                        <a:lumOff val="40000"/>
                      </a:schemeClr>
                    </a:solidFill>
                  </a:tcPr>
                </a:tc>
                <a:tc>
                  <a:txBody>
                    <a:bodyPr/>
                    <a:lstStyle/>
                    <a:p>
                      <a:r>
                        <a:rPr lang="en-US" sz="1100" noProof="0" dirty="0"/>
                        <a:t>Organize a working group (set up a team, define goals, organize planning, produce, share, etc.)</a:t>
                      </a:r>
                    </a:p>
                    <a:p>
                      <a:endParaRPr lang="en-US" sz="1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t>Design an event and host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t>Create original content by yourself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t>Design the community roadmap</a:t>
                      </a: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Organize the Community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Manage conflicts within and with the Community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Structure Community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Do whatever is not covered by roles of previous levels</a:t>
                      </a:r>
                    </a:p>
                  </a:txBody>
                  <a:tcPr>
                    <a:solidFill>
                      <a:schemeClr val="accent1">
                        <a:lumMod val="50000"/>
                      </a:schemeClr>
                    </a:solidFill>
                  </a:tcPr>
                </a:tc>
                <a:extLst>
                  <a:ext uri="{0D108BD9-81ED-4DB2-BD59-A6C34878D82A}">
                    <a16:rowId xmlns:a16="http://schemas.microsoft.com/office/drawing/2014/main" val="2260415336"/>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274558" y="1841401"/>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51423" y="1888130"/>
            <a:ext cx="188517" cy="188517"/>
          </a:xfrm>
          <a:prstGeom prst="rect">
            <a:avLst/>
          </a:prstGeom>
        </p:spPr>
      </p:pic>
    </p:spTree>
    <p:extLst>
      <p:ext uri="{BB962C8B-B14F-4D97-AF65-F5344CB8AC3E}">
        <p14:creationId xmlns:p14="http://schemas.microsoft.com/office/powerpoint/2010/main" val="2490704064"/>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 variant : </a:t>
            </a:r>
            <a:br>
              <a:rPr lang="en-US" sz="2800" dirty="0"/>
            </a:br>
            <a:r>
              <a:rPr lang="en-US" sz="2800" dirty="0"/>
              <a:t>Adding GOALS for next time period </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4" name="Image 13" descr="Une image contenant personne, homme, cravate, complet&#10;&#10;Description générée automatiquement">
            <a:extLst>
              <a:ext uri="{FF2B5EF4-FFF2-40B4-BE49-F238E27FC236}">
                <a16:creationId xmlns:a16="http://schemas.microsoft.com/office/drawing/2014/main" id="{B696EB01-E4C8-41A5-A492-953881A6FD3E}"/>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655E41DD-23F6-41F1-9BD2-6484311BE129}"/>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6063964" y="4078162"/>
            <a:ext cx="569795" cy="569795"/>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037D13CC-8A6A-4D6C-9779-BB188DF22C51}"/>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4343B69-B39A-4EDF-8041-B9AD8C164522}"/>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7DE7DF05-DFE6-46BB-9CE1-4C5959A33898}"/>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288C2095-9453-45E5-BCBA-62041BD6E35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069071" y="4691665"/>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418DF618-E468-43A3-B334-7DFCAD9F6229}"/>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25" y="6021137"/>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2288E470-715B-4D58-BC32-4070AFE5804C}"/>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ABF73D53-C154-4AB5-A2A7-D4D2146A3C07}"/>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061544" y="5305168"/>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30F6B8D1-A091-4DFC-AC34-46C5F338D7B8}"/>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49013062-5F00-474D-B843-EFA7FF751D2B}"/>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F72603E6-CCFA-4994-BF61-8A768F2E09CF}"/>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2279E222-24B2-46ED-BDF6-35B2F7B4C724}"/>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B28B3B8B-6004-46B1-A5D9-E998BDF06ACB}"/>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30147B6E-E1AD-441D-A186-EB68906562CF}"/>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6063965" y="3471983"/>
            <a:ext cx="569795" cy="569795"/>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54D3FED-76A0-40A6-9502-82C233BDA66B}"/>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2CDE586E-407F-4D73-B367-3269D3EA32FB}"/>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995689D7-21CB-48EB-961D-5B7F246CC3D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E4F4D8C7-9BD0-4DED-ADE2-22F14D6BAD8E}"/>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7A07EBDC-ECEC-4ACB-8080-DB767C1FB27A}"/>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cxnSp>
        <p:nvCxnSpPr>
          <p:cNvPr id="4" name="Connettore 2 3">
            <a:extLst>
              <a:ext uri="{FF2B5EF4-FFF2-40B4-BE49-F238E27FC236}">
                <a16:creationId xmlns:a16="http://schemas.microsoft.com/office/drawing/2014/main" id="{E7DA3624-ECD6-0A02-1C4F-FD234C29CCD4}"/>
              </a:ext>
            </a:extLst>
          </p:cNvPr>
          <p:cNvCxnSpPr>
            <a:cxnSpLocks/>
            <a:stCxn id="21" idx="3"/>
            <a:endCxn id="8" idx="1"/>
          </p:cNvCxnSpPr>
          <p:nvPr/>
        </p:nvCxnSpPr>
        <p:spPr>
          <a:xfrm>
            <a:off x="6638866" y="4976563"/>
            <a:ext cx="269509" cy="3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Elemento grafico 7" descr="Tiro a segno con riempimento a tinta unita">
            <a:extLst>
              <a:ext uri="{FF2B5EF4-FFF2-40B4-BE49-F238E27FC236}">
                <a16:creationId xmlns:a16="http://schemas.microsoft.com/office/drawing/2014/main" id="{4B5FF061-4B2E-578F-E1A8-E2D97A9014A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6908375" y="4694875"/>
            <a:ext cx="569795" cy="569795"/>
          </a:xfrm>
          <a:prstGeom prst="rect">
            <a:avLst/>
          </a:prstGeom>
        </p:spPr>
      </p:pic>
      <p:pic>
        <p:nvPicPr>
          <p:cNvPr id="40" name="Elemento grafico 39" descr="Tiro a segno con riempimento a tinta unita">
            <a:extLst>
              <a:ext uri="{FF2B5EF4-FFF2-40B4-BE49-F238E27FC236}">
                <a16:creationId xmlns:a16="http://schemas.microsoft.com/office/drawing/2014/main" id="{0F750B6E-1160-BED0-425C-29A2BF1741F4}"/>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539204" y="4125080"/>
            <a:ext cx="569795" cy="569795"/>
          </a:xfrm>
          <a:prstGeom prst="rect">
            <a:avLst/>
          </a:prstGeom>
        </p:spPr>
      </p:pic>
      <p:pic>
        <p:nvPicPr>
          <p:cNvPr id="41" name="Elemento grafico 40" descr="Tiro a segno con riempimento a tinta unita">
            <a:extLst>
              <a:ext uri="{FF2B5EF4-FFF2-40B4-BE49-F238E27FC236}">
                <a16:creationId xmlns:a16="http://schemas.microsoft.com/office/drawing/2014/main" id="{B73C194D-E24A-B8C6-D600-1ABA3F314511}"/>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539204" y="6021137"/>
            <a:ext cx="569795" cy="569795"/>
          </a:xfrm>
          <a:prstGeom prst="rect">
            <a:avLst/>
          </a:prstGeom>
        </p:spPr>
      </p:pic>
      <p:cxnSp>
        <p:nvCxnSpPr>
          <p:cNvPr id="43" name="Connettore 2 42">
            <a:extLst>
              <a:ext uri="{FF2B5EF4-FFF2-40B4-BE49-F238E27FC236}">
                <a16:creationId xmlns:a16="http://schemas.microsoft.com/office/drawing/2014/main" id="{C3153B56-21E2-C4C5-A0A4-4CC8C12E6D03}"/>
              </a:ext>
            </a:extLst>
          </p:cNvPr>
          <p:cNvCxnSpPr>
            <a:cxnSpLocks/>
            <a:endCxn id="40" idx="1"/>
          </p:cNvCxnSpPr>
          <p:nvPr/>
        </p:nvCxnSpPr>
        <p:spPr>
          <a:xfrm>
            <a:off x="6469793" y="4409977"/>
            <a:ext cx="206941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ttore 2 45">
            <a:extLst>
              <a:ext uri="{FF2B5EF4-FFF2-40B4-BE49-F238E27FC236}">
                <a16:creationId xmlns:a16="http://schemas.microsoft.com/office/drawing/2014/main" id="{49B165D4-90FD-937A-3457-404621286179}"/>
              </a:ext>
            </a:extLst>
          </p:cNvPr>
          <p:cNvCxnSpPr>
            <a:cxnSpLocks/>
            <a:stCxn id="22" idx="3"/>
            <a:endCxn id="41" idx="1"/>
          </p:cNvCxnSpPr>
          <p:nvPr/>
        </p:nvCxnSpPr>
        <p:spPr>
          <a:xfrm>
            <a:off x="3500820" y="6306035"/>
            <a:ext cx="50383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2" name="Elemento grafico 51" descr="Tiro a segno con riempimento a tinta unita">
            <a:extLst>
              <a:ext uri="{FF2B5EF4-FFF2-40B4-BE49-F238E27FC236}">
                <a16:creationId xmlns:a16="http://schemas.microsoft.com/office/drawing/2014/main" id="{BF231F89-9F21-8381-DEEA-7DB2D09554B0}"/>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5274427" y="4079464"/>
            <a:ext cx="569795" cy="569795"/>
          </a:xfrm>
          <a:prstGeom prst="rect">
            <a:avLst/>
          </a:prstGeom>
        </p:spPr>
      </p:pic>
      <p:cxnSp>
        <p:nvCxnSpPr>
          <p:cNvPr id="53" name="Connettore 2 52">
            <a:extLst>
              <a:ext uri="{FF2B5EF4-FFF2-40B4-BE49-F238E27FC236}">
                <a16:creationId xmlns:a16="http://schemas.microsoft.com/office/drawing/2014/main" id="{3460CD3F-802E-DA50-7215-1373E902CF0E}"/>
              </a:ext>
            </a:extLst>
          </p:cNvPr>
          <p:cNvCxnSpPr>
            <a:cxnSpLocks/>
            <a:stCxn id="39" idx="3"/>
            <a:endCxn id="52" idx="1"/>
          </p:cNvCxnSpPr>
          <p:nvPr/>
        </p:nvCxnSpPr>
        <p:spPr>
          <a:xfrm flipV="1">
            <a:off x="4748414" y="4364362"/>
            <a:ext cx="526013" cy="8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10167"/>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 variant : </a:t>
            </a:r>
            <a:br>
              <a:rPr lang="en-US" sz="2800" dirty="0"/>
            </a:br>
            <a:r>
              <a:rPr lang="en-US" sz="2800" dirty="0"/>
              <a:t>using nametags instead of portraits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sp>
        <p:nvSpPr>
          <p:cNvPr id="3" name="Rettangolo 2">
            <a:extLst>
              <a:ext uri="{FF2B5EF4-FFF2-40B4-BE49-F238E27FC236}">
                <a16:creationId xmlns:a16="http://schemas.microsoft.com/office/drawing/2014/main" id="{6353F848-D7EE-ABD7-0EDE-1474FAB0DA18}"/>
              </a:ext>
            </a:extLst>
          </p:cNvPr>
          <p:cNvSpPr/>
          <p:nvPr/>
        </p:nvSpPr>
        <p:spPr>
          <a:xfrm>
            <a:off x="2316476" y="356357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Umberto</a:t>
            </a:r>
          </a:p>
        </p:txBody>
      </p:sp>
      <p:sp>
        <p:nvSpPr>
          <p:cNvPr id="4" name="Rettangolo 3">
            <a:extLst>
              <a:ext uri="{FF2B5EF4-FFF2-40B4-BE49-F238E27FC236}">
                <a16:creationId xmlns:a16="http://schemas.microsoft.com/office/drawing/2014/main" id="{070FF403-274E-0A91-1530-3A7FEBC3508F}"/>
              </a:ext>
            </a:extLst>
          </p:cNvPr>
          <p:cNvSpPr/>
          <p:nvPr/>
        </p:nvSpPr>
        <p:spPr>
          <a:xfrm>
            <a:off x="8896785" y="774359"/>
            <a:ext cx="1272357" cy="5480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Current level</a:t>
            </a:r>
          </a:p>
        </p:txBody>
      </p:sp>
      <p:sp>
        <p:nvSpPr>
          <p:cNvPr id="6" name="Rettangolo 5">
            <a:extLst>
              <a:ext uri="{FF2B5EF4-FFF2-40B4-BE49-F238E27FC236}">
                <a16:creationId xmlns:a16="http://schemas.microsoft.com/office/drawing/2014/main" id="{98BE1EB5-BF94-13AF-926F-CBD7FB84F0FD}"/>
              </a:ext>
            </a:extLst>
          </p:cNvPr>
          <p:cNvSpPr/>
          <p:nvPr/>
        </p:nvSpPr>
        <p:spPr>
          <a:xfrm>
            <a:off x="10331379" y="774360"/>
            <a:ext cx="1272357" cy="548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Goal (if different from current level)</a:t>
            </a:r>
          </a:p>
        </p:txBody>
      </p:sp>
      <p:sp>
        <p:nvSpPr>
          <p:cNvPr id="8" name="Rettangolo 7">
            <a:extLst>
              <a:ext uri="{FF2B5EF4-FFF2-40B4-BE49-F238E27FC236}">
                <a16:creationId xmlns:a16="http://schemas.microsoft.com/office/drawing/2014/main" id="{5EDAD73F-5EC7-CD4D-85A2-107085D467DF}"/>
              </a:ext>
            </a:extLst>
          </p:cNvPr>
          <p:cNvSpPr/>
          <p:nvPr/>
        </p:nvSpPr>
        <p:spPr>
          <a:xfrm>
            <a:off x="5562858" y="5035886"/>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Umberto</a:t>
            </a:r>
          </a:p>
        </p:txBody>
      </p:sp>
      <p:sp>
        <p:nvSpPr>
          <p:cNvPr id="9" name="Rettangolo 8">
            <a:extLst>
              <a:ext uri="{FF2B5EF4-FFF2-40B4-BE49-F238E27FC236}">
                <a16:creationId xmlns:a16="http://schemas.microsoft.com/office/drawing/2014/main" id="{AC3D8BA8-20B5-FAB0-E237-C41D2D6E25B1}"/>
              </a:ext>
            </a:extLst>
          </p:cNvPr>
          <p:cNvSpPr/>
          <p:nvPr/>
        </p:nvSpPr>
        <p:spPr>
          <a:xfrm>
            <a:off x="3913364" y="3500993"/>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Laura</a:t>
            </a:r>
          </a:p>
        </p:txBody>
      </p:sp>
      <p:sp>
        <p:nvSpPr>
          <p:cNvPr id="10" name="Rettangolo 9">
            <a:extLst>
              <a:ext uri="{FF2B5EF4-FFF2-40B4-BE49-F238E27FC236}">
                <a16:creationId xmlns:a16="http://schemas.microsoft.com/office/drawing/2014/main" id="{ACF37C73-A490-CDFC-F519-3FF665828976}"/>
              </a:ext>
            </a:extLst>
          </p:cNvPr>
          <p:cNvSpPr/>
          <p:nvPr/>
        </p:nvSpPr>
        <p:spPr>
          <a:xfrm>
            <a:off x="3913363" y="4001900"/>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Toto</a:t>
            </a:r>
          </a:p>
        </p:txBody>
      </p:sp>
      <p:sp>
        <p:nvSpPr>
          <p:cNvPr id="12" name="Rettangolo 11">
            <a:extLst>
              <a:ext uri="{FF2B5EF4-FFF2-40B4-BE49-F238E27FC236}">
                <a16:creationId xmlns:a16="http://schemas.microsoft.com/office/drawing/2014/main" id="{41133970-C276-3052-7D72-5E737B66F1BD}"/>
              </a:ext>
            </a:extLst>
          </p:cNvPr>
          <p:cNvSpPr/>
          <p:nvPr/>
        </p:nvSpPr>
        <p:spPr>
          <a:xfrm>
            <a:off x="3913362" y="4518893"/>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Adriano</a:t>
            </a:r>
          </a:p>
        </p:txBody>
      </p:sp>
      <p:sp>
        <p:nvSpPr>
          <p:cNvPr id="40" name="Rettangolo 39">
            <a:extLst>
              <a:ext uri="{FF2B5EF4-FFF2-40B4-BE49-F238E27FC236}">
                <a16:creationId xmlns:a16="http://schemas.microsoft.com/office/drawing/2014/main" id="{379A9C0B-D762-D133-813E-353101BD2D5F}"/>
              </a:ext>
            </a:extLst>
          </p:cNvPr>
          <p:cNvSpPr/>
          <p:nvPr/>
        </p:nvSpPr>
        <p:spPr>
          <a:xfrm>
            <a:off x="3913362" y="5035886"/>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Romina</a:t>
            </a:r>
          </a:p>
        </p:txBody>
      </p:sp>
      <p:sp>
        <p:nvSpPr>
          <p:cNvPr id="41" name="Rettangolo 40">
            <a:extLst>
              <a:ext uri="{FF2B5EF4-FFF2-40B4-BE49-F238E27FC236}">
                <a16:creationId xmlns:a16="http://schemas.microsoft.com/office/drawing/2014/main" id="{FD3E272B-FB3B-5789-D98E-09B4D8D52027}"/>
              </a:ext>
            </a:extLst>
          </p:cNvPr>
          <p:cNvSpPr/>
          <p:nvPr/>
        </p:nvSpPr>
        <p:spPr>
          <a:xfrm>
            <a:off x="7193273" y="399029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Albano</a:t>
            </a:r>
          </a:p>
        </p:txBody>
      </p:sp>
      <p:sp>
        <p:nvSpPr>
          <p:cNvPr id="42" name="Rettangolo 41">
            <a:extLst>
              <a:ext uri="{FF2B5EF4-FFF2-40B4-BE49-F238E27FC236}">
                <a16:creationId xmlns:a16="http://schemas.microsoft.com/office/drawing/2014/main" id="{603951D7-3DD5-E0F7-6B73-1D37D5ADFECA}"/>
              </a:ext>
            </a:extLst>
          </p:cNvPr>
          <p:cNvSpPr/>
          <p:nvPr/>
        </p:nvSpPr>
        <p:spPr>
          <a:xfrm>
            <a:off x="7193273" y="348446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Luciano</a:t>
            </a:r>
          </a:p>
        </p:txBody>
      </p:sp>
      <p:sp>
        <p:nvSpPr>
          <p:cNvPr id="43" name="Rettangolo 42">
            <a:extLst>
              <a:ext uri="{FF2B5EF4-FFF2-40B4-BE49-F238E27FC236}">
                <a16:creationId xmlns:a16="http://schemas.microsoft.com/office/drawing/2014/main" id="{668AD7EC-21D8-D925-6F80-B96C2E3E75E0}"/>
              </a:ext>
            </a:extLst>
          </p:cNvPr>
          <p:cNvSpPr/>
          <p:nvPr/>
        </p:nvSpPr>
        <p:spPr>
          <a:xfrm>
            <a:off x="5562859" y="399029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Gianni</a:t>
            </a:r>
          </a:p>
        </p:txBody>
      </p:sp>
      <p:sp>
        <p:nvSpPr>
          <p:cNvPr id="44" name="Rettangolo 43">
            <a:extLst>
              <a:ext uri="{FF2B5EF4-FFF2-40B4-BE49-F238E27FC236}">
                <a16:creationId xmlns:a16="http://schemas.microsoft.com/office/drawing/2014/main" id="{871F93C2-9CE8-8EBC-6985-5BB1BBD6E866}"/>
              </a:ext>
            </a:extLst>
          </p:cNvPr>
          <p:cNvSpPr/>
          <p:nvPr/>
        </p:nvSpPr>
        <p:spPr>
          <a:xfrm>
            <a:off x="8809242" y="348446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Ilaria</a:t>
            </a:r>
          </a:p>
        </p:txBody>
      </p:sp>
      <p:sp>
        <p:nvSpPr>
          <p:cNvPr id="45" name="Rettangolo 44">
            <a:extLst>
              <a:ext uri="{FF2B5EF4-FFF2-40B4-BE49-F238E27FC236}">
                <a16:creationId xmlns:a16="http://schemas.microsoft.com/office/drawing/2014/main" id="{C2378FFB-8A40-4CBF-2072-DD0235E3BBFD}"/>
              </a:ext>
            </a:extLst>
          </p:cNvPr>
          <p:cNvSpPr/>
          <p:nvPr/>
        </p:nvSpPr>
        <p:spPr>
          <a:xfrm>
            <a:off x="5562859" y="346643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Andrea</a:t>
            </a:r>
          </a:p>
        </p:txBody>
      </p:sp>
      <p:sp>
        <p:nvSpPr>
          <p:cNvPr id="46" name="Rettangolo 45">
            <a:extLst>
              <a:ext uri="{FF2B5EF4-FFF2-40B4-BE49-F238E27FC236}">
                <a16:creationId xmlns:a16="http://schemas.microsoft.com/office/drawing/2014/main" id="{F6BC5B63-A7B7-F58A-133D-E093E2628B04}"/>
              </a:ext>
            </a:extLst>
          </p:cNvPr>
          <p:cNvSpPr/>
          <p:nvPr/>
        </p:nvSpPr>
        <p:spPr>
          <a:xfrm>
            <a:off x="842319" y="3568408"/>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Giacomo</a:t>
            </a:r>
          </a:p>
        </p:txBody>
      </p:sp>
      <p:sp>
        <p:nvSpPr>
          <p:cNvPr id="47" name="Rettangolo 46">
            <a:extLst>
              <a:ext uri="{FF2B5EF4-FFF2-40B4-BE49-F238E27FC236}">
                <a16:creationId xmlns:a16="http://schemas.microsoft.com/office/drawing/2014/main" id="{E5E1AD49-CDE0-0600-9713-437F748A00C3}"/>
              </a:ext>
            </a:extLst>
          </p:cNvPr>
          <p:cNvSpPr/>
          <p:nvPr/>
        </p:nvSpPr>
        <p:spPr>
          <a:xfrm>
            <a:off x="842319" y="4072029"/>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Paolo</a:t>
            </a:r>
          </a:p>
        </p:txBody>
      </p:sp>
      <p:sp>
        <p:nvSpPr>
          <p:cNvPr id="48" name="Rettangolo 47">
            <a:extLst>
              <a:ext uri="{FF2B5EF4-FFF2-40B4-BE49-F238E27FC236}">
                <a16:creationId xmlns:a16="http://schemas.microsoft.com/office/drawing/2014/main" id="{B7A433C3-187A-BA60-C293-CB2B71DD5952}"/>
              </a:ext>
            </a:extLst>
          </p:cNvPr>
          <p:cNvSpPr/>
          <p:nvPr/>
        </p:nvSpPr>
        <p:spPr>
          <a:xfrm>
            <a:off x="842319" y="4575650"/>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Natalia</a:t>
            </a:r>
          </a:p>
        </p:txBody>
      </p:sp>
      <p:sp>
        <p:nvSpPr>
          <p:cNvPr id="49" name="Rettangolo 48">
            <a:extLst>
              <a:ext uri="{FF2B5EF4-FFF2-40B4-BE49-F238E27FC236}">
                <a16:creationId xmlns:a16="http://schemas.microsoft.com/office/drawing/2014/main" id="{846703CB-8CBB-1E10-7BD9-A51C4DD46EBE}"/>
              </a:ext>
            </a:extLst>
          </p:cNvPr>
          <p:cNvSpPr/>
          <p:nvPr/>
        </p:nvSpPr>
        <p:spPr>
          <a:xfrm>
            <a:off x="10473182" y="348924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Fabio</a:t>
            </a:r>
          </a:p>
        </p:txBody>
      </p:sp>
      <p:sp>
        <p:nvSpPr>
          <p:cNvPr id="51" name="Rettangolo 50">
            <a:extLst>
              <a:ext uri="{FF2B5EF4-FFF2-40B4-BE49-F238E27FC236}">
                <a16:creationId xmlns:a16="http://schemas.microsoft.com/office/drawing/2014/main" id="{C87021BB-2911-0330-8B8D-87B96AC2D8E9}"/>
              </a:ext>
            </a:extLst>
          </p:cNvPr>
          <p:cNvSpPr/>
          <p:nvPr/>
        </p:nvSpPr>
        <p:spPr>
          <a:xfrm>
            <a:off x="7193273" y="4493218"/>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Toto</a:t>
            </a:r>
          </a:p>
        </p:txBody>
      </p:sp>
      <p:sp>
        <p:nvSpPr>
          <p:cNvPr id="53" name="Rettangolo 52">
            <a:extLst>
              <a:ext uri="{FF2B5EF4-FFF2-40B4-BE49-F238E27FC236}">
                <a16:creationId xmlns:a16="http://schemas.microsoft.com/office/drawing/2014/main" id="{3C335212-4DEC-0FAF-567C-0FF67BB1D8B3}"/>
              </a:ext>
            </a:extLst>
          </p:cNvPr>
          <p:cNvSpPr/>
          <p:nvPr/>
        </p:nvSpPr>
        <p:spPr>
          <a:xfrm>
            <a:off x="5553317" y="4531703"/>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Romina</a:t>
            </a:r>
          </a:p>
        </p:txBody>
      </p:sp>
      <p:sp>
        <p:nvSpPr>
          <p:cNvPr id="55" name="Rettangolo 54">
            <a:extLst>
              <a:ext uri="{FF2B5EF4-FFF2-40B4-BE49-F238E27FC236}">
                <a16:creationId xmlns:a16="http://schemas.microsoft.com/office/drawing/2014/main" id="{8CDF6583-42A4-39BE-58A1-30BA42163644}"/>
              </a:ext>
            </a:extLst>
          </p:cNvPr>
          <p:cNvSpPr/>
          <p:nvPr/>
        </p:nvSpPr>
        <p:spPr>
          <a:xfrm>
            <a:off x="8809241" y="3990294"/>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Laura</a:t>
            </a:r>
          </a:p>
        </p:txBody>
      </p:sp>
    </p:spTree>
    <p:extLst>
      <p:ext uri="{BB962C8B-B14F-4D97-AF65-F5344CB8AC3E}">
        <p14:creationId xmlns:p14="http://schemas.microsoft.com/office/powerpoint/2010/main" val="1361599261"/>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8118BD-9AED-2835-CA98-B4D133DE552D}"/>
              </a:ext>
            </a:extLst>
          </p:cNvPr>
          <p:cNvSpPr>
            <a:spLocks noGrp="1"/>
          </p:cNvSpPr>
          <p:nvPr>
            <p:ph type="title"/>
          </p:nvPr>
        </p:nvSpPr>
        <p:spPr/>
        <p:txBody>
          <a:bodyPr>
            <a:normAutofit/>
          </a:bodyPr>
          <a:lstStyle/>
          <a:p>
            <a:r>
              <a:rPr lang="en-US" sz="2800" dirty="0"/>
              <a:t>Changing the level system to other dimensions</a:t>
            </a:r>
            <a:br>
              <a:rPr lang="en-US" sz="2800" dirty="0"/>
            </a:br>
            <a:r>
              <a:rPr lang="en-US" sz="2800" dirty="0"/>
              <a:t>Examples</a:t>
            </a:r>
          </a:p>
        </p:txBody>
      </p:sp>
      <p:sp>
        <p:nvSpPr>
          <p:cNvPr id="42" name="CasellaDiTesto 41">
            <a:extLst>
              <a:ext uri="{FF2B5EF4-FFF2-40B4-BE49-F238E27FC236}">
                <a16:creationId xmlns:a16="http://schemas.microsoft.com/office/drawing/2014/main" id="{C0FF8946-2D5D-6AFC-344F-E726F491DC7C}"/>
              </a:ext>
            </a:extLst>
          </p:cNvPr>
          <p:cNvSpPr txBox="1"/>
          <p:nvPr/>
        </p:nvSpPr>
        <p:spPr>
          <a:xfrm>
            <a:off x="541464" y="2386728"/>
            <a:ext cx="2562954" cy="3754874"/>
          </a:xfrm>
          <a:prstGeom prst="rect">
            <a:avLst/>
          </a:prstGeom>
          <a:noFill/>
        </p:spPr>
        <p:txBody>
          <a:bodyPr wrap="square">
            <a:spAutoFit/>
          </a:bodyPr>
          <a:lstStyle/>
          <a:p>
            <a:r>
              <a:rPr lang="en-US" sz="1400" dirty="0"/>
              <a:t>There are multiple ways to define engagement levels.</a:t>
            </a:r>
          </a:p>
          <a:p>
            <a:endParaRPr lang="en-US" sz="1400" dirty="0"/>
          </a:p>
          <a:p>
            <a:r>
              <a:rPr lang="en-US" sz="1400" dirty="0"/>
              <a:t>The definition of Engagement levels can be adjusted to facilitate decision making about community activities, within the condition that the levels are easily understandable by workshop participants.</a:t>
            </a:r>
          </a:p>
          <a:p>
            <a:endParaRPr lang="en-US" sz="1400" noProof="0" dirty="0"/>
          </a:p>
          <a:p>
            <a:r>
              <a:rPr lang="en-US" sz="1400" dirty="0"/>
              <a:t>As inspiration, here are other examples to use. You can also choose to set less levels or more levels to make the scale simpler or more details</a:t>
            </a:r>
            <a:endParaRPr lang="en-US" sz="1400" noProof="0" dirty="0"/>
          </a:p>
        </p:txBody>
      </p:sp>
      <p:graphicFrame>
        <p:nvGraphicFramePr>
          <p:cNvPr id="16" name="Tableau 5">
            <a:extLst>
              <a:ext uri="{FF2B5EF4-FFF2-40B4-BE49-F238E27FC236}">
                <a16:creationId xmlns:a16="http://schemas.microsoft.com/office/drawing/2014/main" id="{1EF91333-C672-D3E5-C732-D35E85385B0D}"/>
              </a:ext>
            </a:extLst>
          </p:cNvPr>
          <p:cNvGraphicFramePr>
            <a:graphicFrameLocks noGrp="1"/>
          </p:cNvGraphicFramePr>
          <p:nvPr>
            <p:extLst>
              <p:ext uri="{D42A27DB-BD31-4B8C-83A1-F6EECF244321}">
                <p14:modId xmlns:p14="http://schemas.microsoft.com/office/powerpoint/2010/main" val="1417528789"/>
              </p:ext>
            </p:extLst>
          </p:nvPr>
        </p:nvGraphicFramePr>
        <p:xfrm>
          <a:off x="3612518" y="1927745"/>
          <a:ext cx="8194424" cy="134112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400" b="0" dirty="0">
                          <a:solidFill>
                            <a:schemeClr val="tx1"/>
                          </a:solidFill>
                        </a:rPr>
                        <a:t>Subscriber</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Visitor</a:t>
                      </a:r>
                    </a:p>
                  </a:txBody>
                  <a:tcPr>
                    <a:solidFill>
                      <a:schemeClr val="bg1">
                        <a:lumMod val="95000"/>
                      </a:schemeClr>
                    </a:solidFill>
                  </a:tcPr>
                </a:tc>
                <a:tc>
                  <a:txBody>
                    <a:bodyPr/>
                    <a:lstStyle/>
                    <a:p>
                      <a:pPr algn="ctr"/>
                      <a:r>
                        <a:rPr lang="en-US" sz="1400" b="0" dirty="0">
                          <a:solidFill>
                            <a:schemeClr val="tx1"/>
                          </a:solidFill>
                        </a:rPr>
                        <a:t>Regular</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bg1"/>
                          </a:solidFill>
                        </a:rPr>
                        <a:t>Organizer</a:t>
                      </a:r>
                    </a:p>
                  </a:txBody>
                  <a:tcPr>
                    <a:solidFill>
                      <a:schemeClr val="accent1">
                        <a:lumMod val="75000"/>
                      </a:schemeClr>
                    </a:solidFill>
                  </a:tcPr>
                </a:tc>
                <a:tc>
                  <a:txBody>
                    <a:bodyPr/>
                    <a:lstStyle/>
                    <a:p>
                      <a:pPr algn="ctr"/>
                      <a:r>
                        <a:rPr lang="en-US" sz="1400" b="0" dirty="0">
                          <a:solidFill>
                            <a:schemeClr val="bg1"/>
                          </a:solidFill>
                        </a:rPr>
                        <a:t>Booster</a:t>
                      </a:r>
                    </a:p>
                  </a:txBody>
                  <a:tcPr>
                    <a:solidFill>
                      <a:schemeClr val="accent1">
                        <a:lumMod val="50000"/>
                      </a:schemeClr>
                    </a:solidFill>
                  </a:tcPr>
                </a:tc>
                <a:extLst>
                  <a:ext uri="{0D108BD9-81ED-4DB2-BD59-A6C34878D82A}">
                    <a16:rowId xmlns:a16="http://schemas.microsoft.com/office/drawing/2014/main" val="1856160158"/>
                  </a:ext>
                </a:extLst>
              </a:tr>
              <a:tr h="413572">
                <a:tc>
                  <a:txBody>
                    <a:bodyPr/>
                    <a:lstStyle/>
                    <a:p>
                      <a:pPr algn="ctr"/>
                      <a:r>
                        <a:rPr lang="en-US" sz="1050" dirty="0">
                          <a:solidFill>
                            <a:schemeClr val="tx1"/>
                          </a:solidFill>
                        </a:rPr>
                        <a:t>Just informed of Community activities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Participating in Community activities</a:t>
                      </a:r>
                    </a:p>
                  </a:txBody>
                  <a:tcPr>
                    <a:solidFill>
                      <a:schemeClr val="bg1">
                        <a:lumMod val="95000"/>
                      </a:schemeClr>
                    </a:solidFill>
                  </a:tcPr>
                </a:tc>
                <a:tc>
                  <a:txBody>
                    <a:bodyPr/>
                    <a:lstStyle/>
                    <a:p>
                      <a:pPr algn="ctr"/>
                      <a:r>
                        <a:rPr lang="en-US" sz="1050" dirty="0">
                          <a:solidFill>
                            <a:schemeClr val="tx1"/>
                          </a:solidFill>
                        </a:rPr>
                        <a:t>Regular participation to Community activities</a:t>
                      </a:r>
                    </a:p>
                  </a:txBody>
                  <a:tcPr>
                    <a:solidFill>
                      <a:schemeClr val="accent1">
                        <a:lumMod val="20000"/>
                        <a:lumOff val="80000"/>
                      </a:schemeClr>
                    </a:solidFill>
                  </a:tcPr>
                </a:tc>
                <a:tc>
                  <a:txBody>
                    <a:bodyPr/>
                    <a:lstStyle/>
                    <a:p>
                      <a:pPr algn="ctr"/>
                      <a:r>
                        <a:rPr lang="en-US" sz="1050" dirty="0">
                          <a:solidFill>
                            <a:schemeClr val="tx1"/>
                          </a:solidFill>
                        </a:rPr>
                        <a:t>Contributing to organization of Community activities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Leading Community activities </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Contributing to activities and to organization of Community</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All the previous levels + Leading the Community</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aphicFrame>
        <p:nvGraphicFramePr>
          <p:cNvPr id="18" name="Tableau 5">
            <a:extLst>
              <a:ext uri="{FF2B5EF4-FFF2-40B4-BE49-F238E27FC236}">
                <a16:creationId xmlns:a16="http://schemas.microsoft.com/office/drawing/2014/main" id="{FB468F1C-34CB-1F56-17D4-8802F9549E43}"/>
              </a:ext>
            </a:extLst>
          </p:cNvPr>
          <p:cNvGraphicFramePr>
            <a:graphicFrameLocks noGrp="1"/>
          </p:cNvGraphicFramePr>
          <p:nvPr>
            <p:extLst>
              <p:ext uri="{D42A27DB-BD31-4B8C-83A1-F6EECF244321}">
                <p14:modId xmlns:p14="http://schemas.microsoft.com/office/powerpoint/2010/main" val="2080259499"/>
              </p:ext>
            </p:extLst>
          </p:nvPr>
        </p:nvGraphicFramePr>
        <p:xfrm>
          <a:off x="3612518" y="3736777"/>
          <a:ext cx="8194424" cy="87630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dirty="0">
                          <a:solidFill>
                            <a:schemeClr val="tx1"/>
                          </a:solidFill>
                        </a:rPr>
                        <a:t>&lt;15 minutes occasionally</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15min-1h occasionally </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1h-3h occasionally</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More than 3h occasionally</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15 min-1h regularly (&gt;15 min a week)</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1h-3h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Regularly (&gt; 1h a week)</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More than 3h regularly (&gt;3h a week)</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19" name="CasellaDiTesto 18">
            <a:extLst>
              <a:ext uri="{FF2B5EF4-FFF2-40B4-BE49-F238E27FC236}">
                <a16:creationId xmlns:a16="http://schemas.microsoft.com/office/drawing/2014/main" id="{16FB527A-D320-DDA1-AC13-51D6969523F4}"/>
              </a:ext>
            </a:extLst>
          </p:cNvPr>
          <p:cNvSpPr txBox="1"/>
          <p:nvPr/>
        </p:nvSpPr>
        <p:spPr>
          <a:xfrm>
            <a:off x="3597014" y="1584217"/>
            <a:ext cx="3127635" cy="307777"/>
          </a:xfrm>
          <a:prstGeom prst="rect">
            <a:avLst/>
          </a:prstGeom>
          <a:noFill/>
        </p:spPr>
        <p:txBody>
          <a:bodyPr wrap="square">
            <a:spAutoFit/>
          </a:bodyPr>
          <a:lstStyle/>
          <a:p>
            <a:r>
              <a:rPr lang="en-US" sz="1400" b="1" dirty="0"/>
              <a:t>Levels by type of commitment</a:t>
            </a:r>
            <a:endParaRPr lang="en-US" sz="1400" b="1" noProof="0" dirty="0"/>
          </a:p>
        </p:txBody>
      </p:sp>
      <p:sp>
        <p:nvSpPr>
          <p:cNvPr id="20" name="CasellaDiTesto 19">
            <a:extLst>
              <a:ext uri="{FF2B5EF4-FFF2-40B4-BE49-F238E27FC236}">
                <a16:creationId xmlns:a16="http://schemas.microsoft.com/office/drawing/2014/main" id="{B830E91D-9B5C-2716-BCB8-3EE9523B1346}"/>
              </a:ext>
            </a:extLst>
          </p:cNvPr>
          <p:cNvSpPr txBox="1"/>
          <p:nvPr/>
        </p:nvSpPr>
        <p:spPr>
          <a:xfrm>
            <a:off x="3521291" y="3429000"/>
            <a:ext cx="5327434" cy="307777"/>
          </a:xfrm>
          <a:prstGeom prst="rect">
            <a:avLst/>
          </a:prstGeom>
          <a:noFill/>
        </p:spPr>
        <p:txBody>
          <a:bodyPr wrap="square">
            <a:spAutoFit/>
          </a:bodyPr>
          <a:lstStyle/>
          <a:p>
            <a:r>
              <a:rPr lang="en-US" sz="1400" b="1" dirty="0"/>
              <a:t>Levels by amount and regularity of committed time</a:t>
            </a:r>
            <a:endParaRPr lang="en-US" sz="1400" b="1" noProof="0" dirty="0"/>
          </a:p>
        </p:txBody>
      </p:sp>
      <p:graphicFrame>
        <p:nvGraphicFramePr>
          <p:cNvPr id="21" name="Tableau 5">
            <a:extLst>
              <a:ext uri="{FF2B5EF4-FFF2-40B4-BE49-F238E27FC236}">
                <a16:creationId xmlns:a16="http://schemas.microsoft.com/office/drawing/2014/main" id="{848AC1A1-64E7-7FA0-2E91-B798B2B80772}"/>
              </a:ext>
            </a:extLst>
          </p:cNvPr>
          <p:cNvGraphicFramePr>
            <a:graphicFrameLocks noGrp="1"/>
          </p:cNvGraphicFramePr>
          <p:nvPr>
            <p:extLst>
              <p:ext uri="{D42A27DB-BD31-4B8C-83A1-F6EECF244321}">
                <p14:modId xmlns:p14="http://schemas.microsoft.com/office/powerpoint/2010/main" val="2816746901"/>
              </p:ext>
            </p:extLst>
          </p:nvPr>
        </p:nvGraphicFramePr>
        <p:xfrm>
          <a:off x="3612518" y="5196840"/>
          <a:ext cx="8194424" cy="166116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400" dirty="0">
                          <a:solidFill>
                            <a:schemeClr val="tx1"/>
                          </a:solidFill>
                        </a:rPr>
                        <a:t>Snacker</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Follower</a:t>
                      </a:r>
                    </a:p>
                  </a:txBody>
                  <a:tcPr>
                    <a:solidFill>
                      <a:schemeClr val="bg1">
                        <a:lumMod val="95000"/>
                      </a:schemeClr>
                    </a:solidFill>
                  </a:tcPr>
                </a:tc>
                <a:tc>
                  <a:txBody>
                    <a:bodyPr/>
                    <a:lstStyle/>
                    <a:p>
                      <a:pPr algn="ctr"/>
                      <a:r>
                        <a:rPr lang="en-US" sz="1400" dirty="0">
                          <a:solidFill>
                            <a:schemeClr val="tx1"/>
                          </a:solidFill>
                        </a:rPr>
                        <a:t>Finder</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Editor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Author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Organizer</a:t>
                      </a:r>
                    </a:p>
                  </a:txBody>
                  <a:tcPr>
                    <a:solidFill>
                      <a:schemeClr val="accent1">
                        <a:lumMod val="75000"/>
                      </a:schemeClr>
                    </a:solidFill>
                  </a:tcPr>
                </a:tc>
                <a:tc>
                  <a:txBody>
                    <a:bodyPr/>
                    <a:lstStyle/>
                    <a:p>
                      <a:pPr algn="ctr"/>
                      <a:r>
                        <a:rPr lang="en-US" sz="1400" dirty="0">
                          <a:solidFill>
                            <a:schemeClr val="bg1"/>
                          </a:solidFill>
                        </a:rPr>
                        <a:t>Booster</a:t>
                      </a:r>
                    </a:p>
                  </a:txBody>
                  <a:tcPr>
                    <a:solidFill>
                      <a:schemeClr val="accent1">
                        <a:lumMod val="50000"/>
                      </a:schemeClr>
                    </a:solidFill>
                  </a:tcPr>
                </a:tc>
                <a:extLst>
                  <a:ext uri="{0D108BD9-81ED-4DB2-BD59-A6C34878D82A}">
                    <a16:rowId xmlns:a16="http://schemas.microsoft.com/office/drawing/2014/main" val="1432047597"/>
                  </a:ext>
                </a:extLst>
              </a:tr>
              <a:tr h="413572">
                <a:tc>
                  <a:txBody>
                    <a:bodyPr/>
                    <a:lstStyle/>
                    <a:p>
                      <a:pPr algn="ctr"/>
                      <a:r>
                        <a:rPr lang="en-US" sz="1050" dirty="0">
                          <a:solidFill>
                            <a:schemeClr val="tx1"/>
                          </a:solidFill>
                        </a:rPr>
                        <a:t>Get informed globally (summaries, etc.) from afar without contributing</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Get informed in detail without contributing</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Provide information for deliverable (but no direct contribution)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Contribute to deliverable details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Contribute to deliverable details and content organization</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Contribute to details, content organization, and organization of delivery</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Organizer who also covers whatever work remains from previous levels</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22" name="CasellaDiTesto 21">
            <a:extLst>
              <a:ext uri="{FF2B5EF4-FFF2-40B4-BE49-F238E27FC236}">
                <a16:creationId xmlns:a16="http://schemas.microsoft.com/office/drawing/2014/main" id="{D0E77A0A-1CB3-F062-72D4-4F005B8F7B07}"/>
              </a:ext>
            </a:extLst>
          </p:cNvPr>
          <p:cNvSpPr txBox="1"/>
          <p:nvPr/>
        </p:nvSpPr>
        <p:spPr>
          <a:xfrm>
            <a:off x="3608019" y="4893623"/>
            <a:ext cx="5793874" cy="307777"/>
          </a:xfrm>
          <a:prstGeom prst="rect">
            <a:avLst/>
          </a:prstGeom>
          <a:noFill/>
        </p:spPr>
        <p:txBody>
          <a:bodyPr wrap="square">
            <a:spAutoFit/>
          </a:bodyPr>
          <a:lstStyle/>
          <a:p>
            <a:r>
              <a:rPr lang="en-US" sz="1400" b="1" dirty="0"/>
              <a:t>Levels by type of contribution to a Community deliverable</a:t>
            </a:r>
            <a:endParaRPr lang="en-US" sz="1400" b="1" noProof="0" dirty="0"/>
          </a:p>
        </p:txBody>
      </p:sp>
    </p:spTree>
    <p:extLst>
      <p:ext uri="{BB962C8B-B14F-4D97-AF65-F5344CB8AC3E}">
        <p14:creationId xmlns:p14="http://schemas.microsoft.com/office/powerpoint/2010/main" val="4230572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Another definition of engagement and relative Engagement level</a:t>
            </a:r>
          </a:p>
        </p:txBody>
      </p:sp>
      <p:sp>
        <p:nvSpPr>
          <p:cNvPr id="3" name="Segnaposto contenuto 2">
            <a:extLst>
              <a:ext uri="{FF2B5EF4-FFF2-40B4-BE49-F238E27FC236}">
                <a16:creationId xmlns:a16="http://schemas.microsoft.com/office/drawing/2014/main" id="{7B0D02F6-F6CA-3E37-7A00-B558BF55A46E}"/>
              </a:ext>
            </a:extLst>
          </p:cNvPr>
          <p:cNvSpPr>
            <a:spLocks noGrp="1"/>
          </p:cNvSpPr>
          <p:nvPr>
            <p:ph idx="1"/>
          </p:nvPr>
        </p:nvSpPr>
        <p:spPr>
          <a:xfrm>
            <a:off x="1115568" y="2084832"/>
            <a:ext cx="10168128" cy="2871216"/>
          </a:xfrm>
        </p:spPr>
        <p:txBody>
          <a:bodyPr>
            <a:normAutofit/>
          </a:bodyPr>
          <a:lstStyle/>
          <a:p>
            <a:r>
              <a:rPr lang="en-US" sz="1400" dirty="0"/>
              <a:t>In the previous level systems above, engagement was defined mostly by its signs (taking more and more responsibilities, being available more hours, etc.). This led to level systems that were simple to use when it comes to define which activities are proposed to which members.</a:t>
            </a:r>
          </a:p>
          <a:p>
            <a:r>
              <a:rPr lang="en-US" sz="1400" dirty="0"/>
              <a:t>Yet this way of measuring engagement does not consider the idea that a same given member can engage differently on different community topics and matters. For example, giving several hours and take responsibilities on a topic A, and just being a curious person about the topic B. </a:t>
            </a:r>
          </a:p>
          <a:p>
            <a:r>
              <a:rPr lang="en-US" sz="1400" dirty="0"/>
              <a:t>If we define engagement as the </a:t>
            </a:r>
            <a:r>
              <a:rPr lang="en-US" sz="1400" b="1" dirty="0"/>
              <a:t>ability to provide effort towards a delayed goal, beyond direct instant interest</a:t>
            </a:r>
            <a:r>
              <a:rPr lang="en-US" sz="1400" dirty="0"/>
              <a:t>, then we obtain another scale, which is more relative to every member’s engagement.</a:t>
            </a:r>
          </a:p>
          <a:p>
            <a:r>
              <a:rPr lang="en-US" sz="1400" dirty="0"/>
              <a:t>The following scale considers two dimensions : quantity of possible effort and distance from direct value. For practical reasons (using this scale in an operational workshop), these two dimensions are reduced into one dimension</a:t>
            </a:r>
          </a:p>
        </p:txBody>
      </p:sp>
      <p:graphicFrame>
        <p:nvGraphicFramePr>
          <p:cNvPr id="5" name="Tableau 5">
            <a:extLst>
              <a:ext uri="{FF2B5EF4-FFF2-40B4-BE49-F238E27FC236}">
                <a16:creationId xmlns:a16="http://schemas.microsoft.com/office/drawing/2014/main" id="{AB49B1BE-07EC-37BF-2243-B61482C15914}"/>
              </a:ext>
            </a:extLst>
          </p:cNvPr>
          <p:cNvGraphicFramePr>
            <a:graphicFrameLocks noGrp="1"/>
          </p:cNvGraphicFramePr>
          <p:nvPr>
            <p:extLst>
              <p:ext uri="{D42A27DB-BD31-4B8C-83A1-F6EECF244321}">
                <p14:modId xmlns:p14="http://schemas.microsoft.com/office/powerpoint/2010/main" val="3537699888"/>
              </p:ext>
            </p:extLst>
          </p:nvPr>
        </p:nvGraphicFramePr>
        <p:xfrm>
          <a:off x="908304" y="5312664"/>
          <a:ext cx="10735053" cy="82296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4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E6</a:t>
                      </a:r>
                    </a:p>
                  </a:txBody>
                  <a:tcPr>
                    <a:solidFill>
                      <a:schemeClr val="accent1">
                        <a:lumMod val="75000"/>
                      </a:schemeClr>
                    </a:solidFill>
                  </a:tcPr>
                </a:tc>
                <a:tc>
                  <a:txBody>
                    <a:bodyPr/>
                    <a:lstStyle/>
                    <a:p>
                      <a:pPr algn="ctr"/>
                      <a:r>
                        <a:rPr lang="en-US" sz="14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4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tx1"/>
                          </a:solidFill>
                        </a:rPr>
                        <a:t>Low effort Opportunists</a:t>
                      </a:r>
                    </a:p>
                  </a:txBody>
                  <a:tcPr>
                    <a:solidFill>
                      <a:schemeClr val="bg1">
                        <a:lumMod val="95000"/>
                      </a:schemeClr>
                    </a:solidFill>
                  </a:tcPr>
                </a:tc>
                <a:tc>
                  <a:txBody>
                    <a:bodyPr/>
                    <a:lstStyle/>
                    <a:p>
                      <a:pPr algn="ctr"/>
                      <a:r>
                        <a:rPr lang="en-US" sz="14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a:solidFill>
                            <a:schemeClr val="tx1"/>
                          </a:solidFill>
                        </a:rPr>
                        <a:t>Long termists</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a:solidFill>
                            <a:schemeClr val="bg1"/>
                          </a:solidFill>
                        </a:rPr>
                        <a:t>Open long termists</a:t>
                      </a:r>
                    </a:p>
                  </a:txBody>
                  <a:tcPr>
                    <a:solidFill>
                      <a:schemeClr val="accent1">
                        <a:lumMod val="75000"/>
                      </a:schemeClr>
                    </a:solidFill>
                  </a:tcPr>
                </a:tc>
                <a:tc>
                  <a:txBody>
                    <a:bodyPr/>
                    <a:lstStyle/>
                    <a:p>
                      <a:pPr algn="ctr"/>
                      <a:r>
                        <a:rPr lang="en-US" sz="14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bl>
          </a:graphicData>
        </a:graphic>
      </p:graphicFrame>
    </p:spTree>
    <p:extLst>
      <p:ext uri="{BB962C8B-B14F-4D97-AF65-F5344CB8AC3E}">
        <p14:creationId xmlns:p14="http://schemas.microsoft.com/office/powerpoint/2010/main" val="1708249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a:bodyPr>
          <a:lstStyle/>
          <a:p>
            <a:r>
              <a:rPr lang="en-US" dirty="0"/>
              <a:t>Relative Engagement level scale</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3800857239"/>
              </p:ext>
            </p:extLst>
          </p:nvPr>
        </p:nvGraphicFramePr>
        <p:xfrm>
          <a:off x="832105" y="1909864"/>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dirty="0">
                          <a:solidFill>
                            <a:schemeClr val="tx1"/>
                          </a:solidFill>
                        </a:rPr>
                        <a:t>As low effort as possible, and only for direct value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a low effort only, only for direct value</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high efforts both for direct value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but no efforts when value is unclear for self</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efforts for the Community vision, without calculating about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8" name="CasellaDiTesto 7">
            <a:extLst>
              <a:ext uri="{FF2B5EF4-FFF2-40B4-BE49-F238E27FC236}">
                <a16:creationId xmlns:a16="http://schemas.microsoft.com/office/drawing/2014/main" id="{E155607E-0D4E-DC8B-B70B-B4D5B272D0E5}"/>
              </a:ext>
            </a:extLst>
          </p:cNvPr>
          <p:cNvSpPr txBox="1"/>
          <p:nvPr/>
        </p:nvSpPr>
        <p:spPr>
          <a:xfrm>
            <a:off x="694944" y="4436790"/>
            <a:ext cx="4745736" cy="1384995"/>
          </a:xfrm>
          <a:prstGeom prst="rect">
            <a:avLst/>
          </a:prstGeom>
          <a:noFill/>
          <a:ln>
            <a:solidFill>
              <a:schemeClr val="tx1"/>
            </a:solidFill>
          </a:ln>
        </p:spPr>
        <p:txBody>
          <a:bodyPr wrap="square">
            <a:spAutoFit/>
          </a:bodyPr>
          <a:lstStyle/>
          <a:p>
            <a:r>
              <a:rPr lang="en-US" sz="1200" i="1" dirty="0"/>
              <a:t>Direct value</a:t>
            </a:r>
            <a:r>
              <a:rPr lang="en-US" sz="1200" dirty="0"/>
              <a:t> here means positive effects that happen for oneself, directly during the Community activities. For example, if a member solves his own operational problem during a community session, it is short term direct value. </a:t>
            </a:r>
          </a:p>
          <a:p>
            <a:endParaRPr lang="en-US" sz="1200" dirty="0"/>
          </a:p>
          <a:p>
            <a:r>
              <a:rPr lang="en-US" sz="1200" dirty="0"/>
              <a:t>The difference between low and high effort will depend on each community context and cannot be set here.</a:t>
            </a:r>
          </a:p>
        </p:txBody>
      </p:sp>
      <p:sp>
        <p:nvSpPr>
          <p:cNvPr id="9" name="CasellaDiTesto 8">
            <a:extLst>
              <a:ext uri="{FF2B5EF4-FFF2-40B4-BE49-F238E27FC236}">
                <a16:creationId xmlns:a16="http://schemas.microsoft.com/office/drawing/2014/main" id="{639D3094-A4A9-822B-47F1-2328B7364BA1}"/>
              </a:ext>
            </a:extLst>
          </p:cNvPr>
          <p:cNvSpPr txBox="1"/>
          <p:nvPr/>
        </p:nvSpPr>
        <p:spPr>
          <a:xfrm>
            <a:off x="5440680" y="4445934"/>
            <a:ext cx="4590288" cy="1938992"/>
          </a:xfrm>
          <a:prstGeom prst="rect">
            <a:avLst/>
          </a:prstGeom>
          <a:solidFill>
            <a:schemeClr val="accent1">
              <a:lumMod val="60000"/>
              <a:lumOff val="40000"/>
            </a:schemeClr>
          </a:solidFill>
        </p:spPr>
        <p:txBody>
          <a:bodyPr wrap="square">
            <a:spAutoFit/>
          </a:bodyPr>
          <a:lstStyle/>
          <a:p>
            <a:r>
              <a:rPr lang="en-US" sz="1200" i="1" dirty="0"/>
              <a:t>Indirect value </a:t>
            </a:r>
            <a:r>
              <a:rPr lang="en-US" sz="1200" dirty="0"/>
              <a:t>here means either positive effects that will happen for oneself, later than directly during Community activities, or an increase of the future positive effects that will happen. </a:t>
            </a:r>
          </a:p>
          <a:p>
            <a:endParaRPr lang="en-US" sz="1200" dirty="0"/>
          </a:p>
          <a:p>
            <a:r>
              <a:rPr lang="en-US" sz="1200" dirty="0"/>
              <a:t>For examples, if a member participates to a workshop that helps the Community select future topics, it is </a:t>
            </a:r>
            <a:r>
              <a:rPr lang="en-US" sz="1200" i="1" dirty="0"/>
              <a:t>indirect value</a:t>
            </a:r>
            <a:r>
              <a:rPr lang="en-US" sz="1200" dirty="0"/>
              <a:t>. If a member works on a topic that is not directly valuable by him but will be useful later-on (for example, in several months), then it is also </a:t>
            </a:r>
            <a:r>
              <a:rPr lang="en-US" sz="1200" i="1" dirty="0"/>
              <a:t>indirect value</a:t>
            </a:r>
            <a:r>
              <a:rPr lang="en-US" sz="1200" dirty="0"/>
              <a:t>. t </a:t>
            </a:r>
          </a:p>
        </p:txBody>
      </p:sp>
      <p:sp>
        <p:nvSpPr>
          <p:cNvPr id="10" name="CasellaDiTesto 9">
            <a:extLst>
              <a:ext uri="{FF2B5EF4-FFF2-40B4-BE49-F238E27FC236}">
                <a16:creationId xmlns:a16="http://schemas.microsoft.com/office/drawing/2014/main" id="{55853BA9-FC24-F703-F4F7-67C5452779B7}"/>
              </a:ext>
            </a:extLst>
          </p:cNvPr>
          <p:cNvSpPr txBox="1"/>
          <p:nvPr/>
        </p:nvSpPr>
        <p:spPr>
          <a:xfrm>
            <a:off x="10030968" y="4436790"/>
            <a:ext cx="1536190" cy="2123658"/>
          </a:xfrm>
          <a:prstGeom prst="rect">
            <a:avLst/>
          </a:prstGeom>
          <a:solidFill>
            <a:schemeClr val="accent1">
              <a:lumMod val="50000"/>
            </a:schemeClr>
          </a:solidFill>
        </p:spPr>
        <p:txBody>
          <a:bodyPr wrap="square">
            <a:spAutoFit/>
          </a:bodyPr>
          <a:lstStyle/>
          <a:p>
            <a:r>
              <a:rPr lang="en-US" sz="1200" dirty="0">
                <a:solidFill>
                  <a:schemeClr val="bg1"/>
                </a:solidFill>
              </a:rPr>
              <a:t>The highest engagement level in this scale is when a member provide efforts for the Community, even when there is (at the time of the effort) no clear direct or indirect value for him/her.</a:t>
            </a:r>
          </a:p>
        </p:txBody>
      </p:sp>
      <p:sp>
        <p:nvSpPr>
          <p:cNvPr id="11" name="Freccia in su 10">
            <a:extLst>
              <a:ext uri="{FF2B5EF4-FFF2-40B4-BE49-F238E27FC236}">
                <a16:creationId xmlns:a16="http://schemas.microsoft.com/office/drawing/2014/main" id="{2C3B3B79-FEFE-8DA9-9DF7-1F3CC60605EF}"/>
              </a:ext>
            </a:extLst>
          </p:cNvPr>
          <p:cNvSpPr/>
          <p:nvPr/>
        </p:nvSpPr>
        <p:spPr>
          <a:xfrm>
            <a:off x="7392417" y="3997470"/>
            <a:ext cx="624836" cy="454835"/>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ccia in su 11">
            <a:extLst>
              <a:ext uri="{FF2B5EF4-FFF2-40B4-BE49-F238E27FC236}">
                <a16:creationId xmlns:a16="http://schemas.microsoft.com/office/drawing/2014/main" id="{84005E41-AE5B-BF21-9EEB-213208731BDD}"/>
              </a:ext>
            </a:extLst>
          </p:cNvPr>
          <p:cNvSpPr/>
          <p:nvPr/>
        </p:nvSpPr>
        <p:spPr>
          <a:xfrm>
            <a:off x="8939531" y="3997470"/>
            <a:ext cx="624836" cy="454835"/>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ccia in su 12">
            <a:extLst>
              <a:ext uri="{FF2B5EF4-FFF2-40B4-BE49-F238E27FC236}">
                <a16:creationId xmlns:a16="http://schemas.microsoft.com/office/drawing/2014/main" id="{4A86B40A-8C77-4DA2-F7DA-B5BCCAA98259}"/>
              </a:ext>
            </a:extLst>
          </p:cNvPr>
          <p:cNvSpPr/>
          <p:nvPr/>
        </p:nvSpPr>
        <p:spPr>
          <a:xfrm>
            <a:off x="5845303" y="3997470"/>
            <a:ext cx="624836" cy="454835"/>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ccia in su 13">
            <a:extLst>
              <a:ext uri="{FF2B5EF4-FFF2-40B4-BE49-F238E27FC236}">
                <a16:creationId xmlns:a16="http://schemas.microsoft.com/office/drawing/2014/main" id="{380F2C42-D7C9-EB71-E1A3-2ED9C8D7D77E}"/>
              </a:ext>
            </a:extLst>
          </p:cNvPr>
          <p:cNvSpPr/>
          <p:nvPr/>
        </p:nvSpPr>
        <p:spPr>
          <a:xfrm>
            <a:off x="4298190" y="3997469"/>
            <a:ext cx="624836" cy="439320"/>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ccia in su 14">
            <a:extLst>
              <a:ext uri="{FF2B5EF4-FFF2-40B4-BE49-F238E27FC236}">
                <a16:creationId xmlns:a16="http://schemas.microsoft.com/office/drawing/2014/main" id="{1688EDE8-86BA-BFB6-994C-165893FFFDE1}"/>
              </a:ext>
            </a:extLst>
          </p:cNvPr>
          <p:cNvSpPr/>
          <p:nvPr/>
        </p:nvSpPr>
        <p:spPr>
          <a:xfrm>
            <a:off x="2751077" y="3997469"/>
            <a:ext cx="624836" cy="439320"/>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ccia in su 15">
            <a:extLst>
              <a:ext uri="{FF2B5EF4-FFF2-40B4-BE49-F238E27FC236}">
                <a16:creationId xmlns:a16="http://schemas.microsoft.com/office/drawing/2014/main" id="{F533564B-A12F-06AF-9F54-1A7BFD9DC6EE}"/>
              </a:ext>
            </a:extLst>
          </p:cNvPr>
          <p:cNvSpPr/>
          <p:nvPr/>
        </p:nvSpPr>
        <p:spPr>
          <a:xfrm>
            <a:off x="1203964" y="3997469"/>
            <a:ext cx="624836" cy="439320"/>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ccia in su 16">
            <a:extLst>
              <a:ext uri="{FF2B5EF4-FFF2-40B4-BE49-F238E27FC236}">
                <a16:creationId xmlns:a16="http://schemas.microsoft.com/office/drawing/2014/main" id="{A9E5B6A3-B2F7-E1A5-6F25-2302D1695F90}"/>
              </a:ext>
            </a:extLst>
          </p:cNvPr>
          <p:cNvSpPr/>
          <p:nvPr/>
        </p:nvSpPr>
        <p:spPr>
          <a:xfrm>
            <a:off x="10486645" y="3989711"/>
            <a:ext cx="624836" cy="454835"/>
          </a:xfrm>
          <a:prstGeom prst="up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3027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a:bodyPr>
          <a:lstStyle/>
          <a:p>
            <a:r>
              <a:rPr lang="en-US" dirty="0"/>
              <a:t>Relative Engagement level scale details</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3706787819"/>
              </p:ext>
            </p:extLst>
          </p:nvPr>
        </p:nvGraphicFramePr>
        <p:xfrm>
          <a:off x="832105" y="1909864"/>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a:solidFill>
                            <a:schemeClr val="tx1"/>
                          </a:solidFill>
                        </a:rPr>
                        <a:t>As low effort as possible, and only for direct value</a:t>
                      </a:r>
                      <a:endParaRPr lang="en-US" sz="1200" noProof="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a:solidFill>
                            <a:schemeClr val="tx1"/>
                          </a:solidFill>
                        </a:rPr>
                        <a:t>Can provide a low effort only, only for direct value</a:t>
                      </a:r>
                      <a:endParaRPr lang="en-US" sz="1200" noProof="0" dirty="0">
                        <a:solidFill>
                          <a:schemeClr val="tx1"/>
                        </a:solidFill>
                      </a:endParaRP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a:solidFill>
                            <a:schemeClr val="tx1"/>
                          </a:solidFill>
                        </a:rPr>
                        <a:t>Can provide high efforts both for direct value and indirect value, but no efforts when value is unclear</a:t>
                      </a:r>
                      <a:endParaRPr lang="en-US" sz="1200"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efforts for the Community vision, without calculating about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7" name="Freccia bidirezionale orizzontale 6">
            <a:extLst>
              <a:ext uri="{FF2B5EF4-FFF2-40B4-BE49-F238E27FC236}">
                <a16:creationId xmlns:a16="http://schemas.microsoft.com/office/drawing/2014/main" id="{788C4C5B-E08E-C754-B9C7-5A8F23459866}"/>
              </a:ext>
            </a:extLst>
          </p:cNvPr>
          <p:cNvSpPr/>
          <p:nvPr/>
        </p:nvSpPr>
        <p:spPr>
          <a:xfrm>
            <a:off x="832105" y="3830104"/>
            <a:ext cx="10764771" cy="704088"/>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content to consume</a:t>
            </a:r>
          </a:p>
        </p:txBody>
      </p:sp>
      <p:sp>
        <p:nvSpPr>
          <p:cNvPr id="18" name="Freccia bidirezionale orizzontale 17">
            <a:extLst>
              <a:ext uri="{FF2B5EF4-FFF2-40B4-BE49-F238E27FC236}">
                <a16:creationId xmlns:a16="http://schemas.microsoft.com/office/drawing/2014/main" id="{F77B5C5C-0FD0-9311-4FAC-532D9D634C4E}"/>
              </a:ext>
            </a:extLst>
          </p:cNvPr>
          <p:cNvSpPr/>
          <p:nvPr/>
        </p:nvSpPr>
        <p:spPr>
          <a:xfrm>
            <a:off x="2411733" y="4365028"/>
            <a:ext cx="9185143" cy="704088"/>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events in which participants are expected to be mostly passive (talks, lectures, etc.)</a:t>
            </a:r>
          </a:p>
        </p:txBody>
      </p:sp>
      <p:sp>
        <p:nvSpPr>
          <p:cNvPr id="19" name="Freccia bidirezionale orizzontale 18">
            <a:extLst>
              <a:ext uri="{FF2B5EF4-FFF2-40B4-BE49-F238E27FC236}">
                <a16:creationId xmlns:a16="http://schemas.microsoft.com/office/drawing/2014/main" id="{A1AEC4C4-ADE2-80A4-C4EC-5DF9AEF4D72D}"/>
              </a:ext>
            </a:extLst>
          </p:cNvPr>
          <p:cNvSpPr/>
          <p:nvPr/>
        </p:nvSpPr>
        <p:spPr>
          <a:xfrm>
            <a:off x="3957066" y="4863376"/>
            <a:ext cx="7639810" cy="704088"/>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online discussions and interactions</a:t>
            </a:r>
          </a:p>
          <a:p>
            <a:pPr algn="ctr"/>
            <a:r>
              <a:rPr lang="en-US" sz="1200" dirty="0">
                <a:solidFill>
                  <a:schemeClr val="tx1"/>
                </a:solidFill>
              </a:rPr>
              <a:t>Participation to community workshops with direct value </a:t>
            </a:r>
          </a:p>
        </p:txBody>
      </p:sp>
      <p:sp>
        <p:nvSpPr>
          <p:cNvPr id="20" name="Freccia bidirezionale orizzontale 19">
            <a:extLst>
              <a:ext uri="{FF2B5EF4-FFF2-40B4-BE49-F238E27FC236}">
                <a16:creationId xmlns:a16="http://schemas.microsoft.com/office/drawing/2014/main" id="{A2BFAAA7-44AE-DDED-5776-716EC74185E2}"/>
              </a:ext>
            </a:extLst>
          </p:cNvPr>
          <p:cNvSpPr/>
          <p:nvPr/>
        </p:nvSpPr>
        <p:spPr>
          <a:xfrm>
            <a:off x="5525262" y="5413248"/>
            <a:ext cx="6071614" cy="704088"/>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Contribution to community deliverables</a:t>
            </a:r>
          </a:p>
          <a:p>
            <a:pPr algn="ctr"/>
            <a:r>
              <a:rPr lang="en-US" sz="1200" dirty="0">
                <a:solidFill>
                  <a:schemeClr val="tx1"/>
                </a:solidFill>
              </a:rPr>
              <a:t>Participation to community workshops with indirect value (organization, etc.)</a:t>
            </a:r>
          </a:p>
        </p:txBody>
      </p:sp>
      <p:sp>
        <p:nvSpPr>
          <p:cNvPr id="21" name="Freccia bidirezionale orizzontale 20">
            <a:extLst>
              <a:ext uri="{FF2B5EF4-FFF2-40B4-BE49-F238E27FC236}">
                <a16:creationId xmlns:a16="http://schemas.microsoft.com/office/drawing/2014/main" id="{7A4B3404-521B-384D-7959-1913C6399A9D}"/>
              </a:ext>
            </a:extLst>
          </p:cNvPr>
          <p:cNvSpPr/>
          <p:nvPr/>
        </p:nvSpPr>
        <p:spPr>
          <a:xfrm>
            <a:off x="7132320" y="5916168"/>
            <a:ext cx="4464556" cy="704088"/>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offline contribution and tasks</a:t>
            </a:r>
          </a:p>
        </p:txBody>
      </p:sp>
    </p:spTree>
    <p:extLst>
      <p:ext uri="{BB962C8B-B14F-4D97-AF65-F5344CB8AC3E}">
        <p14:creationId xmlns:p14="http://schemas.microsoft.com/office/powerpoint/2010/main" val="3565614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Simple version</a:t>
            </a:r>
          </a:p>
        </p:txBody>
      </p:sp>
      <p:sp>
        <p:nvSpPr>
          <p:cNvPr id="7" name="Freccia bidirezionale orizzontale 6">
            <a:extLst>
              <a:ext uri="{FF2B5EF4-FFF2-40B4-BE49-F238E27FC236}">
                <a16:creationId xmlns:a16="http://schemas.microsoft.com/office/drawing/2014/main" id="{788C4C5B-E08E-C754-B9C7-5A8F23459866}"/>
              </a:ext>
            </a:extLst>
          </p:cNvPr>
          <p:cNvSpPr/>
          <p:nvPr/>
        </p:nvSpPr>
        <p:spPr>
          <a:xfrm>
            <a:off x="914401" y="2160092"/>
            <a:ext cx="10764771" cy="704088"/>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content to consume</a:t>
            </a:r>
          </a:p>
        </p:txBody>
      </p:sp>
      <p:sp>
        <p:nvSpPr>
          <p:cNvPr id="18" name="Freccia bidirezionale orizzontale 17">
            <a:extLst>
              <a:ext uri="{FF2B5EF4-FFF2-40B4-BE49-F238E27FC236}">
                <a16:creationId xmlns:a16="http://schemas.microsoft.com/office/drawing/2014/main" id="{F77B5C5C-0FD0-9311-4FAC-532D9D634C4E}"/>
              </a:ext>
            </a:extLst>
          </p:cNvPr>
          <p:cNvSpPr/>
          <p:nvPr/>
        </p:nvSpPr>
        <p:spPr>
          <a:xfrm>
            <a:off x="2494029" y="2512136"/>
            <a:ext cx="9185143" cy="704088"/>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events in which participants are expected to be mostly passive (talks, lectures, etc.)</a:t>
            </a:r>
          </a:p>
        </p:txBody>
      </p:sp>
      <p:sp>
        <p:nvSpPr>
          <p:cNvPr id="19" name="Freccia bidirezionale orizzontale 18">
            <a:extLst>
              <a:ext uri="{FF2B5EF4-FFF2-40B4-BE49-F238E27FC236}">
                <a16:creationId xmlns:a16="http://schemas.microsoft.com/office/drawing/2014/main" id="{A1AEC4C4-ADE2-80A4-C4EC-5DF9AEF4D72D}"/>
              </a:ext>
            </a:extLst>
          </p:cNvPr>
          <p:cNvSpPr/>
          <p:nvPr/>
        </p:nvSpPr>
        <p:spPr>
          <a:xfrm>
            <a:off x="4039362" y="2983052"/>
            <a:ext cx="7639810" cy="704088"/>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online discussions and interactions</a:t>
            </a:r>
          </a:p>
          <a:p>
            <a:pPr algn="ctr"/>
            <a:r>
              <a:rPr lang="en-US" sz="1200" dirty="0">
                <a:solidFill>
                  <a:schemeClr val="tx1"/>
                </a:solidFill>
              </a:rPr>
              <a:t>Participation to community workshops with direct value </a:t>
            </a:r>
          </a:p>
        </p:txBody>
      </p:sp>
      <p:sp>
        <p:nvSpPr>
          <p:cNvPr id="20" name="Freccia bidirezionale orizzontale 19">
            <a:extLst>
              <a:ext uri="{FF2B5EF4-FFF2-40B4-BE49-F238E27FC236}">
                <a16:creationId xmlns:a16="http://schemas.microsoft.com/office/drawing/2014/main" id="{A2BFAAA7-44AE-DDED-5776-716EC74185E2}"/>
              </a:ext>
            </a:extLst>
          </p:cNvPr>
          <p:cNvSpPr/>
          <p:nvPr/>
        </p:nvSpPr>
        <p:spPr>
          <a:xfrm>
            <a:off x="5607558" y="3514636"/>
            <a:ext cx="6071614" cy="704088"/>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Contribution to community deliverables</a:t>
            </a:r>
          </a:p>
          <a:p>
            <a:pPr algn="ctr"/>
            <a:r>
              <a:rPr lang="en-US" sz="1200" dirty="0">
                <a:solidFill>
                  <a:schemeClr val="tx1"/>
                </a:solidFill>
              </a:rPr>
              <a:t>Participation to community workshops with indirect value (organization, etc.)</a:t>
            </a:r>
          </a:p>
        </p:txBody>
      </p:sp>
      <p:sp>
        <p:nvSpPr>
          <p:cNvPr id="21" name="Freccia bidirezionale orizzontale 20">
            <a:extLst>
              <a:ext uri="{FF2B5EF4-FFF2-40B4-BE49-F238E27FC236}">
                <a16:creationId xmlns:a16="http://schemas.microsoft.com/office/drawing/2014/main" id="{7A4B3404-521B-384D-7959-1913C6399A9D}"/>
              </a:ext>
            </a:extLst>
          </p:cNvPr>
          <p:cNvSpPr/>
          <p:nvPr/>
        </p:nvSpPr>
        <p:spPr>
          <a:xfrm>
            <a:off x="7214616" y="4026700"/>
            <a:ext cx="4464556" cy="704088"/>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offline contribution and tasks</a:t>
            </a:r>
          </a:p>
        </p:txBody>
      </p:sp>
      <p:sp>
        <p:nvSpPr>
          <p:cNvPr id="3" name="Segnaposto contenuto 2">
            <a:extLst>
              <a:ext uri="{FF2B5EF4-FFF2-40B4-BE49-F238E27FC236}">
                <a16:creationId xmlns:a16="http://schemas.microsoft.com/office/drawing/2014/main" id="{A3A011D6-4DFD-422C-CBB4-E3D995E7AA22}"/>
              </a:ext>
            </a:extLst>
          </p:cNvPr>
          <p:cNvSpPr>
            <a:spLocks noGrp="1"/>
          </p:cNvSpPr>
          <p:nvPr>
            <p:ph idx="1"/>
          </p:nvPr>
        </p:nvSpPr>
        <p:spPr>
          <a:xfrm>
            <a:off x="957835" y="3641777"/>
            <a:ext cx="3054095" cy="2871216"/>
          </a:xfrm>
        </p:spPr>
        <p:txBody>
          <a:bodyPr>
            <a:normAutofit lnSpcReduction="10000"/>
          </a:bodyPr>
          <a:lstStyle/>
          <a:p>
            <a:pPr marL="0" indent="0">
              <a:buNone/>
            </a:pPr>
            <a:r>
              <a:rPr lang="en-US" sz="1200" dirty="0"/>
              <a:t>Using the relative engagement scale as a Workshop, it is recommended to use the activities only as  </a:t>
            </a:r>
          </a:p>
          <a:p>
            <a:pPr marL="0" indent="0">
              <a:buNone/>
            </a:pPr>
            <a:r>
              <a:rPr lang="en-US" sz="1200" dirty="0"/>
              <a:t>Participants may feel uncomfortable with the name of the levels (opportunists, etc.), especially when it comes to disclose one’s position.</a:t>
            </a:r>
          </a:p>
          <a:p>
            <a:pPr marL="0" indent="0">
              <a:buNone/>
            </a:pPr>
            <a:r>
              <a:rPr lang="en-US" sz="1200" dirty="0"/>
              <a:t>Also, the detailed description may be unclear as it requires to understand some concepts (high effort, low effort, direct value, indirect value …).</a:t>
            </a:r>
          </a:p>
          <a:p>
            <a:pPr marL="0" indent="0">
              <a:buNone/>
            </a:pPr>
            <a:r>
              <a:rPr lang="en-US" sz="1200" dirty="0"/>
              <a:t>It reduces the workshop to 5 levels for the simplest version</a:t>
            </a:r>
          </a:p>
        </p:txBody>
      </p:sp>
    </p:spTree>
    <p:extLst>
      <p:ext uri="{BB962C8B-B14F-4D97-AF65-F5344CB8AC3E}">
        <p14:creationId xmlns:p14="http://schemas.microsoft.com/office/powerpoint/2010/main" val="50788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Simple version</a:t>
            </a:r>
          </a:p>
        </p:txBody>
      </p:sp>
      <p:sp>
        <p:nvSpPr>
          <p:cNvPr id="7" name="Freccia bidirezionale orizzontale 6">
            <a:extLst>
              <a:ext uri="{FF2B5EF4-FFF2-40B4-BE49-F238E27FC236}">
                <a16:creationId xmlns:a16="http://schemas.microsoft.com/office/drawing/2014/main" id="{788C4C5B-E08E-C754-B9C7-5A8F23459866}"/>
              </a:ext>
            </a:extLst>
          </p:cNvPr>
          <p:cNvSpPr/>
          <p:nvPr/>
        </p:nvSpPr>
        <p:spPr>
          <a:xfrm>
            <a:off x="914401" y="2255342"/>
            <a:ext cx="10764771" cy="704088"/>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content to consume</a:t>
            </a:r>
          </a:p>
        </p:txBody>
      </p:sp>
      <p:sp>
        <p:nvSpPr>
          <p:cNvPr id="18" name="Freccia bidirezionale orizzontale 17">
            <a:extLst>
              <a:ext uri="{FF2B5EF4-FFF2-40B4-BE49-F238E27FC236}">
                <a16:creationId xmlns:a16="http://schemas.microsoft.com/office/drawing/2014/main" id="{F77B5C5C-0FD0-9311-4FAC-532D9D634C4E}"/>
              </a:ext>
            </a:extLst>
          </p:cNvPr>
          <p:cNvSpPr/>
          <p:nvPr/>
        </p:nvSpPr>
        <p:spPr>
          <a:xfrm>
            <a:off x="2494029" y="2607386"/>
            <a:ext cx="9185143" cy="704088"/>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events in which participants are expected to be mostly passive (talks, lectures, etc.)</a:t>
            </a:r>
          </a:p>
        </p:txBody>
      </p:sp>
      <p:sp>
        <p:nvSpPr>
          <p:cNvPr id="19" name="Freccia bidirezionale orizzontale 18">
            <a:extLst>
              <a:ext uri="{FF2B5EF4-FFF2-40B4-BE49-F238E27FC236}">
                <a16:creationId xmlns:a16="http://schemas.microsoft.com/office/drawing/2014/main" id="{A1AEC4C4-ADE2-80A4-C4EC-5DF9AEF4D72D}"/>
              </a:ext>
            </a:extLst>
          </p:cNvPr>
          <p:cNvSpPr/>
          <p:nvPr/>
        </p:nvSpPr>
        <p:spPr>
          <a:xfrm>
            <a:off x="4039362" y="3078302"/>
            <a:ext cx="7639810" cy="704088"/>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online discussions and interactions</a:t>
            </a:r>
          </a:p>
          <a:p>
            <a:pPr algn="ctr"/>
            <a:r>
              <a:rPr lang="en-US" sz="1200" dirty="0">
                <a:solidFill>
                  <a:schemeClr val="tx1"/>
                </a:solidFill>
              </a:rPr>
              <a:t>Participation to community workshops with direct value </a:t>
            </a:r>
          </a:p>
        </p:txBody>
      </p:sp>
      <p:sp>
        <p:nvSpPr>
          <p:cNvPr id="20" name="Freccia bidirezionale orizzontale 19">
            <a:extLst>
              <a:ext uri="{FF2B5EF4-FFF2-40B4-BE49-F238E27FC236}">
                <a16:creationId xmlns:a16="http://schemas.microsoft.com/office/drawing/2014/main" id="{A2BFAAA7-44AE-DDED-5776-716EC74185E2}"/>
              </a:ext>
            </a:extLst>
          </p:cNvPr>
          <p:cNvSpPr/>
          <p:nvPr/>
        </p:nvSpPr>
        <p:spPr>
          <a:xfrm>
            <a:off x="5607558" y="3609886"/>
            <a:ext cx="6071614" cy="704088"/>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Contribution to community deliverables</a:t>
            </a:r>
          </a:p>
          <a:p>
            <a:pPr algn="ctr"/>
            <a:r>
              <a:rPr lang="en-US" sz="1200" dirty="0">
                <a:solidFill>
                  <a:schemeClr val="tx1"/>
                </a:solidFill>
              </a:rPr>
              <a:t>Participation to community workshops with indirect value (organization, etc.)</a:t>
            </a:r>
          </a:p>
        </p:txBody>
      </p:sp>
      <p:sp>
        <p:nvSpPr>
          <p:cNvPr id="21" name="Freccia bidirezionale orizzontale 20">
            <a:extLst>
              <a:ext uri="{FF2B5EF4-FFF2-40B4-BE49-F238E27FC236}">
                <a16:creationId xmlns:a16="http://schemas.microsoft.com/office/drawing/2014/main" id="{7A4B3404-521B-384D-7959-1913C6399A9D}"/>
              </a:ext>
            </a:extLst>
          </p:cNvPr>
          <p:cNvSpPr/>
          <p:nvPr/>
        </p:nvSpPr>
        <p:spPr>
          <a:xfrm>
            <a:off x="7214616" y="4121950"/>
            <a:ext cx="4464556" cy="704088"/>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offline contribution and tasks</a:t>
            </a:r>
          </a:p>
        </p:txBody>
      </p:sp>
      <p:pic>
        <p:nvPicPr>
          <p:cNvPr id="32" name="Image 13" descr="Une image contenant personne, homme, cravate, complet&#10;&#10;Description générée automatiquement">
            <a:extLst>
              <a:ext uri="{FF2B5EF4-FFF2-40B4-BE49-F238E27FC236}">
                <a16:creationId xmlns:a16="http://schemas.microsoft.com/office/drawing/2014/main" id="{9F5A80E9-FFA5-E4A5-A895-C07C992FF42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93914" y="4763803"/>
            <a:ext cx="569795" cy="569795"/>
          </a:xfrm>
          <a:prstGeom prst="rect">
            <a:avLst/>
          </a:prstGeom>
        </p:spPr>
      </p:pic>
      <p:pic>
        <p:nvPicPr>
          <p:cNvPr id="33" name="Image 15" descr="Une image contenant personne, extérieur, souriant, violet&#10;&#10;Description générée automatiquement">
            <a:extLst>
              <a:ext uri="{FF2B5EF4-FFF2-40B4-BE49-F238E27FC236}">
                <a16:creationId xmlns:a16="http://schemas.microsoft.com/office/drawing/2014/main" id="{EDB1A615-4AF4-36ED-30A4-ACF66E0D15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39507" y="5372558"/>
            <a:ext cx="569795" cy="569795"/>
          </a:xfrm>
          <a:prstGeom prst="rect">
            <a:avLst/>
          </a:prstGeom>
        </p:spPr>
      </p:pic>
      <p:pic>
        <p:nvPicPr>
          <p:cNvPr id="34" name="Image 16" descr="Une image contenant personne, femme, souriant&#10;&#10;Description générée automatiquement">
            <a:extLst>
              <a:ext uri="{FF2B5EF4-FFF2-40B4-BE49-F238E27FC236}">
                <a16:creationId xmlns:a16="http://schemas.microsoft.com/office/drawing/2014/main" id="{0F7E31DB-CF3B-858E-842E-394DC319BCC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24214" y="4763803"/>
            <a:ext cx="569795" cy="569795"/>
          </a:xfrm>
          <a:prstGeom prst="rect">
            <a:avLst/>
          </a:prstGeom>
        </p:spPr>
      </p:pic>
      <p:pic>
        <p:nvPicPr>
          <p:cNvPr id="35" name="Image 17" descr="Une image contenant personne, extérieur, souriant, foule&#10;&#10;Description générée automatiquement">
            <a:extLst>
              <a:ext uri="{FF2B5EF4-FFF2-40B4-BE49-F238E27FC236}">
                <a16:creationId xmlns:a16="http://schemas.microsoft.com/office/drawing/2014/main" id="{7397E573-E5AC-3E46-F49E-D4A26ACAF44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00909" y="4763803"/>
            <a:ext cx="569795" cy="569795"/>
          </a:xfrm>
          <a:prstGeom prst="rect">
            <a:avLst/>
          </a:prstGeom>
        </p:spPr>
      </p:pic>
      <p:pic>
        <p:nvPicPr>
          <p:cNvPr id="36" name="Image 18" descr="Une image contenant personne, souriant, homme, posant&#10;&#10;Description générée automatiquement">
            <a:extLst>
              <a:ext uri="{FF2B5EF4-FFF2-40B4-BE49-F238E27FC236}">
                <a16:creationId xmlns:a16="http://schemas.microsoft.com/office/drawing/2014/main" id="{AE8D21C6-944D-DD07-93EC-F7600BFFA47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71054" y="5372558"/>
            <a:ext cx="569795" cy="569795"/>
          </a:xfrm>
          <a:prstGeom prst="rect">
            <a:avLst/>
          </a:prstGeom>
        </p:spPr>
      </p:pic>
      <p:pic>
        <p:nvPicPr>
          <p:cNvPr id="37" name="Image 20" descr="Une image contenant personne, intérieur, posant, fermer&#10;&#10;Description générée automatiquement">
            <a:extLst>
              <a:ext uri="{FF2B5EF4-FFF2-40B4-BE49-F238E27FC236}">
                <a16:creationId xmlns:a16="http://schemas.microsoft.com/office/drawing/2014/main" id="{06939AB0-6A13-19B5-6521-441117684D5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168371" y="4763803"/>
            <a:ext cx="569795" cy="569795"/>
          </a:xfrm>
          <a:prstGeom prst="rect">
            <a:avLst/>
          </a:prstGeom>
        </p:spPr>
      </p:pic>
      <p:pic>
        <p:nvPicPr>
          <p:cNvPr id="38" name="Image 21" descr="Une image contenant personne, homme, mur, souriant&#10;&#10;Description générée automatiquement">
            <a:extLst>
              <a:ext uri="{FF2B5EF4-FFF2-40B4-BE49-F238E27FC236}">
                <a16:creationId xmlns:a16="http://schemas.microsoft.com/office/drawing/2014/main" id="{C24313DC-1D32-7E20-BF1C-8E315052F45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224214" y="5372558"/>
            <a:ext cx="569795" cy="569795"/>
          </a:xfrm>
          <a:prstGeom prst="rect">
            <a:avLst/>
          </a:prstGeom>
        </p:spPr>
      </p:pic>
      <p:pic>
        <p:nvPicPr>
          <p:cNvPr id="39" name="Image 22" descr="Une image contenant homme, personne, intérieur, aîné&#10;&#10;Description générée automatiquement">
            <a:extLst>
              <a:ext uri="{FF2B5EF4-FFF2-40B4-BE49-F238E27FC236}">
                <a16:creationId xmlns:a16="http://schemas.microsoft.com/office/drawing/2014/main" id="{6DD2CAF8-A0F1-9283-723C-59FA907EE3C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313965" y="4763803"/>
            <a:ext cx="569795" cy="569795"/>
          </a:xfrm>
          <a:prstGeom prst="rect">
            <a:avLst/>
          </a:prstGeom>
        </p:spPr>
      </p:pic>
      <p:pic>
        <p:nvPicPr>
          <p:cNvPr id="40" name="Image 23" descr="Une image contenant homme, personne, verres, portant&#10;&#10;Description générée automatiquement">
            <a:extLst>
              <a:ext uri="{FF2B5EF4-FFF2-40B4-BE49-F238E27FC236}">
                <a16:creationId xmlns:a16="http://schemas.microsoft.com/office/drawing/2014/main" id="{FC3C97EF-B3DD-C93E-AF61-CEDEBE6077C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168371" y="5372558"/>
            <a:ext cx="569795" cy="569795"/>
          </a:xfrm>
          <a:prstGeom prst="rect">
            <a:avLst/>
          </a:prstGeom>
        </p:spPr>
      </p:pic>
      <p:pic>
        <p:nvPicPr>
          <p:cNvPr id="41" name="Image 24" descr="Une image contenant personne, homme, intérieur, souriant&#10;&#10;Description générée automatiquement">
            <a:extLst>
              <a:ext uri="{FF2B5EF4-FFF2-40B4-BE49-F238E27FC236}">
                <a16:creationId xmlns:a16="http://schemas.microsoft.com/office/drawing/2014/main" id="{B6AE2884-653F-CAE8-19CA-F8A653083307}"/>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585733" y="4145071"/>
            <a:ext cx="569795" cy="569795"/>
          </a:xfrm>
          <a:prstGeom prst="rect">
            <a:avLst/>
          </a:prstGeom>
        </p:spPr>
      </p:pic>
      <p:pic>
        <p:nvPicPr>
          <p:cNvPr id="42" name="Image 25" descr="Une image contenant personne, homme, cravate, souriant&#10;&#10;Description générée automatiquement">
            <a:extLst>
              <a:ext uri="{FF2B5EF4-FFF2-40B4-BE49-F238E27FC236}">
                <a16:creationId xmlns:a16="http://schemas.microsoft.com/office/drawing/2014/main" id="{F046337A-4DEB-525F-8010-A81351D01B3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585733" y="4753690"/>
            <a:ext cx="569795" cy="569795"/>
          </a:xfrm>
          <a:prstGeom prst="rect">
            <a:avLst/>
          </a:prstGeom>
        </p:spPr>
      </p:pic>
      <p:pic>
        <p:nvPicPr>
          <p:cNvPr id="43" name="Image 29" descr="Une image contenant personne, homme, souriant, aîné&#10;&#10;Description générée automatiquement">
            <a:extLst>
              <a:ext uri="{FF2B5EF4-FFF2-40B4-BE49-F238E27FC236}">
                <a16:creationId xmlns:a16="http://schemas.microsoft.com/office/drawing/2014/main" id="{65B94213-6F2F-D853-2E63-18B4710E87DF}"/>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40980" y="4763803"/>
            <a:ext cx="569795" cy="569795"/>
          </a:xfrm>
          <a:prstGeom prst="rect">
            <a:avLst/>
          </a:prstGeom>
        </p:spPr>
      </p:pic>
      <p:pic>
        <p:nvPicPr>
          <p:cNvPr id="44" name="Image 31" descr="Une image contenant personne, homme, souriant, aîné&#10;&#10;Description générée automatiquement">
            <a:extLst>
              <a:ext uri="{FF2B5EF4-FFF2-40B4-BE49-F238E27FC236}">
                <a16:creationId xmlns:a16="http://schemas.microsoft.com/office/drawing/2014/main" id="{8BF2D42E-52DF-3F00-ABF1-5806CE7AB23F}"/>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613980" y="5372558"/>
            <a:ext cx="569795" cy="569795"/>
          </a:xfrm>
          <a:prstGeom prst="rect">
            <a:avLst/>
          </a:prstGeom>
        </p:spPr>
      </p:pic>
      <p:pic>
        <p:nvPicPr>
          <p:cNvPr id="45" name="Image 32" descr="Une image contenant personne, femme, souriant, posant&#10;&#10;Description générée automatiquement">
            <a:extLst>
              <a:ext uri="{FF2B5EF4-FFF2-40B4-BE49-F238E27FC236}">
                <a16:creationId xmlns:a16="http://schemas.microsoft.com/office/drawing/2014/main" id="{22831D2D-C2DE-4400-A461-2EA39E85F32B}"/>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7944039" y="4763803"/>
            <a:ext cx="569795" cy="569795"/>
          </a:xfrm>
          <a:prstGeom prst="rect">
            <a:avLst/>
          </a:prstGeom>
        </p:spPr>
      </p:pic>
      <p:pic>
        <p:nvPicPr>
          <p:cNvPr id="46" name="Image 33" descr="Une image contenant personne, extérieur, fermer&#10;&#10;Description générée automatiquement">
            <a:extLst>
              <a:ext uri="{FF2B5EF4-FFF2-40B4-BE49-F238E27FC236}">
                <a16:creationId xmlns:a16="http://schemas.microsoft.com/office/drawing/2014/main" id="{DEF45B9C-14FE-8534-584A-80077C3F5007}"/>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539508" y="4763803"/>
            <a:ext cx="569795" cy="569795"/>
          </a:xfrm>
          <a:prstGeom prst="rect">
            <a:avLst/>
          </a:prstGeom>
        </p:spPr>
      </p:pic>
      <p:pic>
        <p:nvPicPr>
          <p:cNvPr id="47" name="Image 34" descr="Une image contenant personne, mur, intérieur, jeune&#10;&#10;Description générée automatiquement">
            <a:extLst>
              <a:ext uri="{FF2B5EF4-FFF2-40B4-BE49-F238E27FC236}">
                <a16:creationId xmlns:a16="http://schemas.microsoft.com/office/drawing/2014/main" id="{A8B20154-B7A5-C83A-1078-9D445CFFCA9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8574113" y="4763803"/>
            <a:ext cx="569795" cy="569795"/>
          </a:xfrm>
          <a:prstGeom prst="rect">
            <a:avLst/>
          </a:prstGeom>
        </p:spPr>
      </p:pic>
      <p:pic>
        <p:nvPicPr>
          <p:cNvPr id="48" name="Image 35" descr="Une image contenant personne, homme, extérieur, arbre&#10;&#10;Description générée automatiquement">
            <a:extLst>
              <a:ext uri="{FF2B5EF4-FFF2-40B4-BE49-F238E27FC236}">
                <a16:creationId xmlns:a16="http://schemas.microsoft.com/office/drawing/2014/main" id="{AC2CA7FC-570C-4D56-63F4-F0B50AC4211F}"/>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940980" y="4146081"/>
            <a:ext cx="569795" cy="569795"/>
          </a:xfrm>
          <a:prstGeom prst="rect">
            <a:avLst/>
          </a:prstGeom>
        </p:spPr>
      </p:pic>
      <p:pic>
        <p:nvPicPr>
          <p:cNvPr id="49" name="Image 36" descr="Une image contenant personne, mur, souriant, intérieur&#10;&#10;Description générée automatiquement">
            <a:extLst>
              <a:ext uri="{FF2B5EF4-FFF2-40B4-BE49-F238E27FC236}">
                <a16:creationId xmlns:a16="http://schemas.microsoft.com/office/drawing/2014/main" id="{A4D6781F-2CF3-26E9-10A1-65A8CA6D585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942794" y="5372558"/>
            <a:ext cx="569795" cy="569795"/>
          </a:xfrm>
          <a:prstGeom prst="rect">
            <a:avLst/>
          </a:prstGeom>
        </p:spPr>
      </p:pic>
      <p:pic>
        <p:nvPicPr>
          <p:cNvPr id="50" name="Image 37" descr="Une image contenant personne, mur, souriant, posant&#10;&#10;Description générée automatiquement">
            <a:extLst>
              <a:ext uri="{FF2B5EF4-FFF2-40B4-BE49-F238E27FC236}">
                <a16:creationId xmlns:a16="http://schemas.microsoft.com/office/drawing/2014/main" id="{D7D3C6EA-8ED2-9D22-89E7-E1A206F24BEC}"/>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940980" y="3535846"/>
            <a:ext cx="569795" cy="569795"/>
          </a:xfrm>
          <a:prstGeom prst="rect">
            <a:avLst/>
          </a:prstGeom>
        </p:spPr>
      </p:pic>
      <p:pic>
        <p:nvPicPr>
          <p:cNvPr id="51" name="Image 38" descr="Une image contenant personne, mur, homme, souriant&#10;&#10;Description générée automatiquement">
            <a:extLst>
              <a:ext uri="{FF2B5EF4-FFF2-40B4-BE49-F238E27FC236}">
                <a16:creationId xmlns:a16="http://schemas.microsoft.com/office/drawing/2014/main" id="{9BC4A329-15A5-AFA2-A187-5E65E2723D5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4393914" y="5372558"/>
            <a:ext cx="569795" cy="569795"/>
          </a:xfrm>
          <a:prstGeom prst="rect">
            <a:avLst/>
          </a:prstGeom>
        </p:spPr>
      </p:pic>
    </p:spTree>
    <p:extLst>
      <p:ext uri="{BB962C8B-B14F-4D97-AF65-F5344CB8AC3E}">
        <p14:creationId xmlns:p14="http://schemas.microsoft.com/office/powerpoint/2010/main" val="1988028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advanced version</a:t>
            </a:r>
          </a:p>
        </p:txBody>
      </p:sp>
      <p:pic>
        <p:nvPicPr>
          <p:cNvPr id="32" name="Image 13" descr="Une image contenant personne, homme, cravate, complet&#10;&#10;Description générée automatiquement">
            <a:extLst>
              <a:ext uri="{FF2B5EF4-FFF2-40B4-BE49-F238E27FC236}">
                <a16:creationId xmlns:a16="http://schemas.microsoft.com/office/drawing/2014/main" id="{9F5A80E9-FFA5-E4A5-A895-C07C992FF42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59479" y="4155048"/>
            <a:ext cx="569795" cy="569795"/>
          </a:xfrm>
          <a:prstGeom prst="rect">
            <a:avLst/>
          </a:prstGeom>
        </p:spPr>
      </p:pic>
      <p:pic>
        <p:nvPicPr>
          <p:cNvPr id="33" name="Image 15" descr="Une image contenant personne, extérieur, souriant, violet&#10;&#10;Description générée automatiquement">
            <a:extLst>
              <a:ext uri="{FF2B5EF4-FFF2-40B4-BE49-F238E27FC236}">
                <a16:creationId xmlns:a16="http://schemas.microsoft.com/office/drawing/2014/main" id="{EDB1A615-4AF4-36ED-30A4-ACF66E0D15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25232" y="4763803"/>
            <a:ext cx="569795" cy="569795"/>
          </a:xfrm>
          <a:prstGeom prst="rect">
            <a:avLst/>
          </a:prstGeom>
        </p:spPr>
      </p:pic>
      <p:pic>
        <p:nvPicPr>
          <p:cNvPr id="34" name="Image 16" descr="Une image contenant personne, femme, souriant&#10;&#10;Description générée automatiquement">
            <a:extLst>
              <a:ext uri="{FF2B5EF4-FFF2-40B4-BE49-F238E27FC236}">
                <a16:creationId xmlns:a16="http://schemas.microsoft.com/office/drawing/2014/main" id="{0F7E31DB-CF3B-858E-842E-394DC319BCC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79366" y="4155048"/>
            <a:ext cx="569795" cy="569795"/>
          </a:xfrm>
          <a:prstGeom prst="rect">
            <a:avLst/>
          </a:prstGeom>
        </p:spPr>
      </p:pic>
      <p:pic>
        <p:nvPicPr>
          <p:cNvPr id="35" name="Image 17" descr="Une image contenant personne, extérieur, souriant, foule&#10;&#10;Description générée automatiquement">
            <a:extLst>
              <a:ext uri="{FF2B5EF4-FFF2-40B4-BE49-F238E27FC236}">
                <a16:creationId xmlns:a16="http://schemas.microsoft.com/office/drawing/2014/main" id="{7397E573-E5AC-3E46-F49E-D4A26ACAF44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556061" y="4155048"/>
            <a:ext cx="569795" cy="569795"/>
          </a:xfrm>
          <a:prstGeom prst="rect">
            <a:avLst/>
          </a:prstGeom>
        </p:spPr>
      </p:pic>
      <p:pic>
        <p:nvPicPr>
          <p:cNvPr id="36" name="Image 18" descr="Une image contenant personne, souriant, homme, posant&#10;&#10;Description générée automatiquement">
            <a:extLst>
              <a:ext uri="{FF2B5EF4-FFF2-40B4-BE49-F238E27FC236}">
                <a16:creationId xmlns:a16="http://schemas.microsoft.com/office/drawing/2014/main" id="{AE8D21C6-944D-DD07-93EC-F7600BFFA47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71054" y="5372558"/>
            <a:ext cx="569795" cy="569795"/>
          </a:xfrm>
          <a:prstGeom prst="rect">
            <a:avLst/>
          </a:prstGeom>
        </p:spPr>
      </p:pic>
      <p:pic>
        <p:nvPicPr>
          <p:cNvPr id="37" name="Image 20" descr="Une image contenant personne, intérieur, posant, fermer&#10;&#10;Description générée automatiquement">
            <a:extLst>
              <a:ext uri="{FF2B5EF4-FFF2-40B4-BE49-F238E27FC236}">
                <a16:creationId xmlns:a16="http://schemas.microsoft.com/office/drawing/2014/main" id="{06939AB0-6A13-19B5-6521-441117684D5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254096" y="4155048"/>
            <a:ext cx="569795" cy="569795"/>
          </a:xfrm>
          <a:prstGeom prst="rect">
            <a:avLst/>
          </a:prstGeom>
        </p:spPr>
      </p:pic>
      <p:pic>
        <p:nvPicPr>
          <p:cNvPr id="38" name="Image 21" descr="Une image contenant personne, homme, mur, souriant&#10;&#10;Description générée automatiquement">
            <a:extLst>
              <a:ext uri="{FF2B5EF4-FFF2-40B4-BE49-F238E27FC236}">
                <a16:creationId xmlns:a16="http://schemas.microsoft.com/office/drawing/2014/main" id="{C24313DC-1D32-7E20-BF1C-8E315052F45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79366" y="4763803"/>
            <a:ext cx="569795" cy="569795"/>
          </a:xfrm>
          <a:prstGeom prst="rect">
            <a:avLst/>
          </a:prstGeom>
        </p:spPr>
      </p:pic>
      <p:pic>
        <p:nvPicPr>
          <p:cNvPr id="39" name="Image 22" descr="Une image contenant homme, personne, intérieur, aîné&#10;&#10;Description générée automatiquement">
            <a:extLst>
              <a:ext uri="{FF2B5EF4-FFF2-40B4-BE49-F238E27FC236}">
                <a16:creationId xmlns:a16="http://schemas.microsoft.com/office/drawing/2014/main" id="{6DD2CAF8-A0F1-9283-723C-59FA907EE3C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521604" y="4166507"/>
            <a:ext cx="569795" cy="569795"/>
          </a:xfrm>
          <a:prstGeom prst="rect">
            <a:avLst/>
          </a:prstGeom>
        </p:spPr>
      </p:pic>
      <p:pic>
        <p:nvPicPr>
          <p:cNvPr id="40" name="Image 23" descr="Une image contenant homme, personne, verres, portant&#10;&#10;Description générée automatiquement">
            <a:extLst>
              <a:ext uri="{FF2B5EF4-FFF2-40B4-BE49-F238E27FC236}">
                <a16:creationId xmlns:a16="http://schemas.microsoft.com/office/drawing/2014/main" id="{FC3C97EF-B3DD-C93E-AF61-CEDEBE6077C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254096" y="4763803"/>
            <a:ext cx="569795" cy="569795"/>
          </a:xfrm>
          <a:prstGeom prst="rect">
            <a:avLst/>
          </a:prstGeom>
        </p:spPr>
      </p:pic>
      <p:pic>
        <p:nvPicPr>
          <p:cNvPr id="41" name="Image 24" descr="Une image contenant personne, homme, intérieur, souriant&#10;&#10;Description générée automatiquement">
            <a:extLst>
              <a:ext uri="{FF2B5EF4-FFF2-40B4-BE49-F238E27FC236}">
                <a16:creationId xmlns:a16="http://schemas.microsoft.com/office/drawing/2014/main" id="{B6AE2884-653F-CAE8-19CA-F8A653083307}"/>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585733" y="4145071"/>
            <a:ext cx="569795" cy="569795"/>
          </a:xfrm>
          <a:prstGeom prst="rect">
            <a:avLst/>
          </a:prstGeom>
        </p:spPr>
      </p:pic>
      <p:pic>
        <p:nvPicPr>
          <p:cNvPr id="42" name="Image 25" descr="Une image contenant personne, homme, cravate, souriant&#10;&#10;Description générée automatiquement">
            <a:extLst>
              <a:ext uri="{FF2B5EF4-FFF2-40B4-BE49-F238E27FC236}">
                <a16:creationId xmlns:a16="http://schemas.microsoft.com/office/drawing/2014/main" id="{F046337A-4DEB-525F-8010-A81351D01B3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585733" y="4753690"/>
            <a:ext cx="569795" cy="569795"/>
          </a:xfrm>
          <a:prstGeom prst="rect">
            <a:avLst/>
          </a:prstGeom>
        </p:spPr>
      </p:pic>
      <p:pic>
        <p:nvPicPr>
          <p:cNvPr id="43" name="Image 29" descr="Une image contenant personne, homme, souriant, aîné&#10;&#10;Description générée automatiquement">
            <a:extLst>
              <a:ext uri="{FF2B5EF4-FFF2-40B4-BE49-F238E27FC236}">
                <a16:creationId xmlns:a16="http://schemas.microsoft.com/office/drawing/2014/main" id="{65B94213-6F2F-D853-2E63-18B4710E87DF}"/>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40980" y="4763803"/>
            <a:ext cx="569795" cy="569795"/>
          </a:xfrm>
          <a:prstGeom prst="rect">
            <a:avLst/>
          </a:prstGeom>
        </p:spPr>
      </p:pic>
      <p:pic>
        <p:nvPicPr>
          <p:cNvPr id="44" name="Image 31" descr="Une image contenant personne, homme, souriant, aîné&#10;&#10;Description générée automatiquement">
            <a:extLst>
              <a:ext uri="{FF2B5EF4-FFF2-40B4-BE49-F238E27FC236}">
                <a16:creationId xmlns:a16="http://schemas.microsoft.com/office/drawing/2014/main" id="{8BF2D42E-52DF-3F00-ABF1-5806CE7AB23F}"/>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569132" y="4763803"/>
            <a:ext cx="569795" cy="569795"/>
          </a:xfrm>
          <a:prstGeom prst="rect">
            <a:avLst/>
          </a:prstGeom>
        </p:spPr>
      </p:pic>
      <p:pic>
        <p:nvPicPr>
          <p:cNvPr id="45" name="Image 32" descr="Une image contenant personne, femme, souriant, posant&#10;&#10;Description générée automatiquement">
            <a:extLst>
              <a:ext uri="{FF2B5EF4-FFF2-40B4-BE49-F238E27FC236}">
                <a16:creationId xmlns:a16="http://schemas.microsoft.com/office/drawing/2014/main" id="{22831D2D-C2DE-4400-A461-2EA39E85F32B}"/>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986615" y="4166507"/>
            <a:ext cx="569795" cy="569795"/>
          </a:xfrm>
          <a:prstGeom prst="rect">
            <a:avLst/>
          </a:prstGeom>
        </p:spPr>
      </p:pic>
      <p:pic>
        <p:nvPicPr>
          <p:cNvPr id="46" name="Image 33" descr="Une image contenant personne, extérieur, fermer&#10;&#10;Description générée automatiquement">
            <a:extLst>
              <a:ext uri="{FF2B5EF4-FFF2-40B4-BE49-F238E27FC236}">
                <a16:creationId xmlns:a16="http://schemas.microsoft.com/office/drawing/2014/main" id="{DEF45B9C-14FE-8534-584A-80077C3F5007}"/>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625233" y="4155048"/>
            <a:ext cx="569795" cy="569795"/>
          </a:xfrm>
          <a:prstGeom prst="rect">
            <a:avLst/>
          </a:prstGeom>
        </p:spPr>
      </p:pic>
      <p:pic>
        <p:nvPicPr>
          <p:cNvPr id="47" name="Image 34" descr="Une image contenant personne, mur, intérieur, jeune&#10;&#10;Description générée automatiquement">
            <a:extLst>
              <a:ext uri="{FF2B5EF4-FFF2-40B4-BE49-F238E27FC236}">
                <a16:creationId xmlns:a16="http://schemas.microsoft.com/office/drawing/2014/main" id="{A8B20154-B7A5-C83A-1078-9D445CFFCA9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10526738" y="4155047"/>
            <a:ext cx="569795" cy="569795"/>
          </a:xfrm>
          <a:prstGeom prst="rect">
            <a:avLst/>
          </a:prstGeom>
        </p:spPr>
      </p:pic>
      <p:pic>
        <p:nvPicPr>
          <p:cNvPr id="48" name="Image 35" descr="Une image contenant personne, homme, extérieur, arbre&#10;&#10;Description générée automatiquement">
            <a:extLst>
              <a:ext uri="{FF2B5EF4-FFF2-40B4-BE49-F238E27FC236}">
                <a16:creationId xmlns:a16="http://schemas.microsoft.com/office/drawing/2014/main" id="{AC2CA7FC-570C-4D56-63F4-F0B50AC4211F}"/>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940980" y="4146081"/>
            <a:ext cx="569795" cy="569795"/>
          </a:xfrm>
          <a:prstGeom prst="rect">
            <a:avLst/>
          </a:prstGeom>
        </p:spPr>
      </p:pic>
      <p:pic>
        <p:nvPicPr>
          <p:cNvPr id="49" name="Image 36" descr="Une image contenant personne, mur, souriant, intérieur&#10;&#10;Description générée automatiquement">
            <a:extLst>
              <a:ext uri="{FF2B5EF4-FFF2-40B4-BE49-F238E27FC236}">
                <a16:creationId xmlns:a16="http://schemas.microsoft.com/office/drawing/2014/main" id="{A4D6781F-2CF3-26E9-10A1-65A8CA6D585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942794" y="5372558"/>
            <a:ext cx="569795" cy="569795"/>
          </a:xfrm>
          <a:prstGeom prst="rect">
            <a:avLst/>
          </a:prstGeom>
        </p:spPr>
      </p:pic>
      <p:pic>
        <p:nvPicPr>
          <p:cNvPr id="51" name="Image 38" descr="Une image contenant personne, mur, homme, souriant&#10;&#10;Description générée automatiquement">
            <a:extLst>
              <a:ext uri="{FF2B5EF4-FFF2-40B4-BE49-F238E27FC236}">
                <a16:creationId xmlns:a16="http://schemas.microsoft.com/office/drawing/2014/main" id="{9BC4A329-15A5-AFA2-A187-5E65E2723D5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359479" y="4763803"/>
            <a:ext cx="569795" cy="569795"/>
          </a:xfrm>
          <a:prstGeom prst="rect">
            <a:avLst/>
          </a:prstGeom>
        </p:spPr>
      </p:pic>
      <p:graphicFrame>
        <p:nvGraphicFramePr>
          <p:cNvPr id="3" name="Tableau 5">
            <a:extLst>
              <a:ext uri="{FF2B5EF4-FFF2-40B4-BE49-F238E27FC236}">
                <a16:creationId xmlns:a16="http://schemas.microsoft.com/office/drawing/2014/main" id="{86F34468-3A4F-3DE2-1A42-AF5197476D28}"/>
              </a:ext>
            </a:extLst>
          </p:cNvPr>
          <p:cNvGraphicFramePr>
            <a:graphicFrameLocks noGrp="1"/>
          </p:cNvGraphicFramePr>
          <p:nvPr>
            <p:extLst>
              <p:ext uri="{D42A27DB-BD31-4B8C-83A1-F6EECF244321}">
                <p14:modId xmlns:p14="http://schemas.microsoft.com/office/powerpoint/2010/main" val="157211845"/>
              </p:ext>
            </p:extLst>
          </p:nvPr>
        </p:nvGraphicFramePr>
        <p:xfrm>
          <a:off x="832105" y="1909864"/>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dirty="0">
                          <a:solidFill>
                            <a:schemeClr val="tx1"/>
                          </a:solidFill>
                        </a:rPr>
                        <a:t>As low effort as possible, and only for direct value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a low effort only, only for direct value</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high efforts both for direct value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but no efforts when value is unclear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efforts for the Community vision, without calculating about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Tree>
    <p:extLst>
      <p:ext uri="{BB962C8B-B14F-4D97-AF65-F5344CB8AC3E}">
        <p14:creationId xmlns:p14="http://schemas.microsoft.com/office/powerpoint/2010/main" val="1080773701"/>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Props1.xml><?xml version="1.0" encoding="utf-8"?>
<ds:datastoreItem xmlns:ds="http://schemas.openxmlformats.org/officeDocument/2006/customXml" ds:itemID="{539E8127-264B-4AA2-80FB-D355B730A6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8f11b-d4f1-47fe-837d-5da7d4fdfa8d"/>
    <ds:schemaRef ds:uri="2e054d75-df43-4e50-a610-0e7b0816d1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74E86D-68B9-40F6-8854-BE866BBD6597}">
  <ds:schemaRefs>
    <ds:schemaRef ds:uri="http://schemas.microsoft.com/sharepoint/v3/contenttype/forms"/>
  </ds:schemaRefs>
</ds:datastoreItem>
</file>

<file path=customXml/itemProps3.xml><?xml version="1.0" encoding="utf-8"?>
<ds:datastoreItem xmlns:ds="http://schemas.openxmlformats.org/officeDocument/2006/customXml" ds:itemID="{EE130F46-0203-41E4-930E-9660BC90F8DA}">
  <ds:schemaRefs>
    <ds:schemaRef ds:uri="http://schemas.microsoft.com/office/2006/documentManagement/types"/>
    <ds:schemaRef ds:uri="http://schemas.openxmlformats.org/package/2006/metadata/core-properties"/>
    <ds:schemaRef ds:uri="http://purl.org/dc/elements/1.1/"/>
    <ds:schemaRef ds:uri="http://purl.org/dc/dcmitype/"/>
    <ds:schemaRef ds:uri="http://schemas.microsoft.com/office/infopath/2007/PartnerControls"/>
    <ds:schemaRef ds:uri="2e054d75-df43-4e50-a610-0e7b0816d11a"/>
    <ds:schemaRef ds:uri="http://purl.org/dc/terms/"/>
    <ds:schemaRef ds:uri="ae28f11b-d4f1-47fe-837d-5da7d4fdfa8d"/>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3979</TotalTime>
  <Words>2929</Words>
  <Application>Microsoft Office PowerPoint</Application>
  <PresentationFormat>Widescreen</PresentationFormat>
  <Paragraphs>577</Paragraphs>
  <Slides>19</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19</vt:i4>
      </vt:variant>
    </vt:vector>
  </HeadingPairs>
  <TitlesOfParts>
    <vt:vector size="23" baseType="lpstr">
      <vt:lpstr>Arial</vt:lpstr>
      <vt:lpstr>Avenir Next LT Pro</vt:lpstr>
      <vt:lpstr>Calibri</vt:lpstr>
      <vt:lpstr>AccentBoxVTI</vt:lpstr>
      <vt:lpstr>   W3 Engagement Level Workshop</vt:lpstr>
      <vt:lpstr>This document is an #OpenSeriousCommunity #OSC content</vt:lpstr>
      <vt:lpstr>Engagement Level workshop Expected result example </vt:lpstr>
      <vt:lpstr>Time Investment profiles Workshop Workshop step by step</vt:lpstr>
      <vt:lpstr>Engagement Level workshop Using the result</vt:lpstr>
      <vt:lpstr>Version history</vt:lpstr>
      <vt:lpstr>Engagement Level workshop Working assumptions</vt:lpstr>
      <vt:lpstr>Engagement Level workshop Working assumptions</vt:lpstr>
      <vt:lpstr>Engagement Level workshop What the basic level system means</vt:lpstr>
      <vt:lpstr>Engagement Level workshop Example activities</vt:lpstr>
      <vt:lpstr>Engagement Level workshop variant :  Adding GOALS for next time period </vt:lpstr>
      <vt:lpstr>Engagement Level workshop variant :  using nametags instead of portraits</vt:lpstr>
      <vt:lpstr>Changing the level system to other dimensions Examples</vt:lpstr>
      <vt:lpstr>Another definition of engagement and relative Engagement level</vt:lpstr>
      <vt:lpstr>Relative Engagement level scale</vt:lpstr>
      <vt:lpstr>Relative Engagement level scale details</vt:lpstr>
      <vt:lpstr>Using Relative Engagement level scale in a workshop – Simple version</vt:lpstr>
      <vt:lpstr>Using Relative Engagement level scale in a workshop – Simple version</vt:lpstr>
      <vt:lpstr>Using Relative Engagement level scale in a workshop – advanced version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3</cp:revision>
  <dcterms:created xsi:type="dcterms:W3CDTF">2020-12-16T10:05:09Z</dcterms:created>
  <dcterms:modified xsi:type="dcterms:W3CDTF">2023-01-23T16:39:09Z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ies>
</file>