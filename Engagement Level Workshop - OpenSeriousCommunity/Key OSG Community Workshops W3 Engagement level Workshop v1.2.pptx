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18"/>
  </p:notesMasterIdLst>
  <p:sldIdLst>
    <p:sldId id="645" r:id="rId5"/>
    <p:sldId id="603" r:id="rId6"/>
    <p:sldId id="634" r:id="rId7"/>
    <p:sldId id="640" r:id="rId8"/>
    <p:sldId id="639" r:id="rId9"/>
    <p:sldId id="1194" r:id="rId10"/>
    <p:sldId id="420" r:id="rId11"/>
    <p:sldId id="650" r:id="rId12"/>
    <p:sldId id="426" r:id="rId13"/>
    <p:sldId id="646" r:id="rId14"/>
    <p:sldId id="1193" r:id="rId15"/>
    <p:sldId id="647" r:id="rId16"/>
    <p:sldId id="648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shop" id="{00814527-E608-4D44-96F1-454FEA364CD1}">
          <p14:sldIdLst>
            <p14:sldId id="645"/>
            <p14:sldId id="603"/>
            <p14:sldId id="634"/>
            <p14:sldId id="640"/>
            <p14:sldId id="639"/>
          </p14:sldIdLst>
        </p14:section>
        <p14:section name="Version History" id="{3CAB9B00-4686-45AD-AE57-122C1B74B849}">
          <p14:sldIdLst>
            <p14:sldId id="1194"/>
          </p14:sldIdLst>
        </p14:section>
        <p14:section name="Working assumptions" id="{C98E5011-4B7B-4150-A01C-BAF2158E4205}">
          <p14:sldIdLst>
            <p14:sldId id="420"/>
            <p14:sldId id="650"/>
          </p14:sldIdLst>
        </p14:section>
        <p14:section name="Basic Level system" id="{731EE219-9F8A-4622-9F19-8FBDAF340A65}">
          <p14:sldIdLst>
            <p14:sldId id="426"/>
            <p14:sldId id="646"/>
          </p14:sldIdLst>
        </p14:section>
        <p14:section name="Additional level systems" id="{8E31F9A6-7623-4E15-8A28-C97867CCD209}">
          <p14:sldIdLst>
            <p14:sldId id="1193"/>
          </p14:sldIdLst>
        </p14:section>
        <p14:section name="Variant : With individual engagement goals" id="{EBA3C2F7-D5B4-4CBF-AD78-9B98E38DDAEF}">
          <p14:sldIdLst>
            <p14:sldId id="647"/>
            <p14:sldId id="6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60"/>
  </p:normalViewPr>
  <p:slideViewPr>
    <p:cSldViewPr snapToGrid="0">
      <p:cViewPr>
        <p:scale>
          <a:sx n="100" d="100"/>
          <a:sy n="100" d="100"/>
        </p:scale>
        <p:origin x="888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CA9D41EC-A7F0-5701-30E7-C84980B6FA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1AB9D853-3685-109C-4665-4AEA6BA64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1" name="Image 4">
            <a:extLst>
              <a:ext uri="{FF2B5EF4-FFF2-40B4-BE49-F238E27FC236}">
                <a16:creationId xmlns:a16="http://schemas.microsoft.com/office/drawing/2014/main" id="{820A8FFA-8CC1-2520-3BFE-29FC2C227F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3" name="Image 4">
            <a:extLst>
              <a:ext uri="{FF2B5EF4-FFF2-40B4-BE49-F238E27FC236}">
                <a16:creationId xmlns:a16="http://schemas.microsoft.com/office/drawing/2014/main" id="{458A93C7-E6F3-A41D-FD8D-56DC7884CC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1DF7A464-D3F7-D3E1-C9D5-80DBD8BB0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B7E1131F-8B44-116B-7951-264202382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1" name="Image 4">
            <a:extLst>
              <a:ext uri="{FF2B5EF4-FFF2-40B4-BE49-F238E27FC236}">
                <a16:creationId xmlns:a16="http://schemas.microsoft.com/office/drawing/2014/main" id="{816758C9-F259-391F-71B7-0730FF58E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3" name="Image 4">
            <a:extLst>
              <a:ext uri="{FF2B5EF4-FFF2-40B4-BE49-F238E27FC236}">
                <a16:creationId xmlns:a16="http://schemas.microsoft.com/office/drawing/2014/main" id="{4E3F5553-E01C-949D-174D-6E82E09C2E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4E79651-7519-0E5E-8AC3-06AA05840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B969853B-CF5B-AD75-2BB1-6DBCA54753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1" name="Image 4">
            <a:extLst>
              <a:ext uri="{FF2B5EF4-FFF2-40B4-BE49-F238E27FC236}">
                <a16:creationId xmlns:a16="http://schemas.microsoft.com/office/drawing/2014/main" id="{DC476D27-4645-C312-AE01-AB0697F4E1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F3CE9FA7-6F5E-8DFC-1141-EEEA50856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9C8C28A8-3405-3CF5-E425-A64BCF71C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15EEF07D-C474-2405-8788-65415C1B7A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7ECADA13-6E70-180E-161A-6E649E110E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4" name="Image 4">
            <a:extLst>
              <a:ext uri="{FF2B5EF4-FFF2-40B4-BE49-F238E27FC236}">
                <a16:creationId xmlns:a16="http://schemas.microsoft.com/office/drawing/2014/main" id="{9114E711-168D-B0AD-6252-680C3B3085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ACA0DD8C-A86B-B04C-FD50-F6AE19453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3163A6CD-55DA-5729-B038-DB1EA8F78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523B4BDE-83B7-8339-49B7-86B783AA91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4" name="Image 4">
            <a:extLst>
              <a:ext uri="{FF2B5EF4-FFF2-40B4-BE49-F238E27FC236}">
                <a16:creationId xmlns:a16="http://schemas.microsoft.com/office/drawing/2014/main" id="{F09544FF-ABB1-94DE-50B9-74EEDD318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10" name="Image 4">
            <a:extLst>
              <a:ext uri="{FF2B5EF4-FFF2-40B4-BE49-F238E27FC236}">
                <a16:creationId xmlns:a16="http://schemas.microsoft.com/office/drawing/2014/main" id="{DD6E8D0D-5F56-CDB1-9882-3966B60FD0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6E1F4817-4D5A-A9DF-A46D-16DC3DFD92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4" name="Image 4">
            <a:extLst>
              <a:ext uri="{FF2B5EF4-FFF2-40B4-BE49-F238E27FC236}">
                <a16:creationId xmlns:a16="http://schemas.microsoft.com/office/drawing/2014/main" id="{DF21E626-844D-67DC-B55C-6236FD4AB8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6" name="Image 4">
            <a:extLst>
              <a:ext uri="{FF2B5EF4-FFF2-40B4-BE49-F238E27FC236}">
                <a16:creationId xmlns:a16="http://schemas.microsoft.com/office/drawing/2014/main" id="{EA9E38F3-3674-B979-3D7E-44955E26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7DEAED82-E616-880C-F387-84BE2CEDBD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3B8E3E08-8850-8335-D527-3A7DBB00F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48F6A615-5F00-9D8B-F485-651432C1FF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1" name="Image 4">
            <a:extLst>
              <a:ext uri="{FF2B5EF4-FFF2-40B4-BE49-F238E27FC236}">
                <a16:creationId xmlns:a16="http://schemas.microsoft.com/office/drawing/2014/main" id="{73034F59-C6B7-A678-BDB1-B2E5D5982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9ABF0A-4662-7740-60BC-8063664C6E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1A966FF6-2855-0608-099F-D04FD0E1F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7" name="Image 4">
            <a:extLst>
              <a:ext uri="{FF2B5EF4-FFF2-40B4-BE49-F238E27FC236}">
                <a16:creationId xmlns:a16="http://schemas.microsoft.com/office/drawing/2014/main" id="{C345511A-8CE6-A669-3282-AF12F654F8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4A71A206-34A6-BE71-6CAC-B790FC39A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8C868CEF-9680-FCFA-7BCB-0F9E11C14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EBE1C5CC-FE5A-6C34-F4AA-93394E4C61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BB5AEDAD-197D-AF6A-26AD-FA1AC6D03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3" name="Image 4">
            <a:extLst>
              <a:ext uri="{FF2B5EF4-FFF2-40B4-BE49-F238E27FC236}">
                <a16:creationId xmlns:a16="http://schemas.microsoft.com/office/drawing/2014/main" id="{714B7034-4641-11A8-82A4-1E4C731BE2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416E8D44-3BBA-2234-C666-7337E12F8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0B00ED99-B166-758F-EA81-F458564C3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A0DC4A79-4FF7-976D-5497-934F6C63D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3" name="Image 4">
            <a:extLst>
              <a:ext uri="{FF2B5EF4-FFF2-40B4-BE49-F238E27FC236}">
                <a16:creationId xmlns:a16="http://schemas.microsoft.com/office/drawing/2014/main" id="{62F2B7F2-3251-7C91-9B62-9D81EEB98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E362102A-D736-60EA-46A0-73688AA21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83696" y="0"/>
            <a:ext cx="897607" cy="405083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619C49F9-E628-C187-8AFF-60C6B2FEFD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7540" y="0"/>
            <a:ext cx="897607" cy="405083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077DDFFB-AA02-6D68-99F3-8274720E6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298159" y="6428876"/>
            <a:ext cx="897607" cy="405083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DD50E41F-4812-6DCF-6899-BF9AA219D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32003" y="6428876"/>
            <a:ext cx="897607" cy="4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38" Type="http://schemas.openxmlformats.org/officeDocument/2006/relationships/image" Target="../media/image37.jpe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37" Type="http://schemas.openxmlformats.org/officeDocument/2006/relationships/image" Target="../media/image36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36" Type="http://schemas.openxmlformats.org/officeDocument/2006/relationships/image" Target="../media/image35.jpeg"/><Relationship Id="rId10" Type="http://schemas.openxmlformats.org/officeDocument/2006/relationships/image" Target="../media/image9.sv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sv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penseriousgames.org/OpenSeriousCommunit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hyperlink" Target="https://en.wikipedia.org/wiki/Flow_(psychology)" TargetMode="External"/><Relationship Id="rId26" Type="http://schemas.openxmlformats.org/officeDocument/2006/relationships/image" Target="../media/image25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38" Type="http://schemas.openxmlformats.org/officeDocument/2006/relationships/image" Target="../media/image37.jpe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37" Type="http://schemas.openxmlformats.org/officeDocument/2006/relationships/image" Target="../media/image36.jpe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36" Type="http://schemas.openxmlformats.org/officeDocument/2006/relationships/image" Target="../media/image35.jpeg"/><Relationship Id="rId10" Type="http://schemas.openxmlformats.org/officeDocument/2006/relationships/image" Target="../media/image10.pn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8.png"/><Relationship Id="rId3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8.jpeg"/><Relationship Id="rId26" Type="http://schemas.openxmlformats.org/officeDocument/2006/relationships/image" Target="../media/image26.jpeg"/><Relationship Id="rId21" Type="http://schemas.openxmlformats.org/officeDocument/2006/relationships/image" Target="../media/image21.jpeg"/><Relationship Id="rId34" Type="http://schemas.openxmlformats.org/officeDocument/2006/relationships/image" Target="../media/image34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jpeg"/><Relationship Id="rId33" Type="http://schemas.openxmlformats.org/officeDocument/2006/relationships/image" Target="../media/image33.jpe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jpeg"/><Relationship Id="rId29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jpeg"/><Relationship Id="rId32" Type="http://schemas.openxmlformats.org/officeDocument/2006/relationships/image" Target="../media/image32.jpeg"/><Relationship Id="rId37" Type="http://schemas.openxmlformats.org/officeDocument/2006/relationships/image" Target="../media/image37.jpe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36" Type="http://schemas.openxmlformats.org/officeDocument/2006/relationships/image" Target="../media/image36.jpe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31" Type="http://schemas.openxmlformats.org/officeDocument/2006/relationships/image" Target="../media/image3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Relationship Id="rId30" Type="http://schemas.openxmlformats.org/officeDocument/2006/relationships/image" Target="../media/image30.jpeg"/><Relationship Id="rId35" Type="http://schemas.openxmlformats.org/officeDocument/2006/relationships/image" Target="../media/image35.jpeg"/><Relationship Id="rId8" Type="http://schemas.openxmlformats.org/officeDocument/2006/relationships/image" Target="../media/image8.png"/><Relationship Id="rId3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8.jpeg"/><Relationship Id="rId26" Type="http://schemas.openxmlformats.org/officeDocument/2006/relationships/image" Target="../media/image26.jpeg"/><Relationship Id="rId21" Type="http://schemas.openxmlformats.org/officeDocument/2006/relationships/image" Target="../media/image21.jpeg"/><Relationship Id="rId34" Type="http://schemas.openxmlformats.org/officeDocument/2006/relationships/image" Target="../media/image34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jpeg"/><Relationship Id="rId33" Type="http://schemas.openxmlformats.org/officeDocument/2006/relationships/image" Target="../media/image33.jpe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jpeg"/><Relationship Id="rId29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jpeg"/><Relationship Id="rId32" Type="http://schemas.openxmlformats.org/officeDocument/2006/relationships/image" Target="../media/image32.jpeg"/><Relationship Id="rId37" Type="http://schemas.openxmlformats.org/officeDocument/2006/relationships/image" Target="../media/image37.jpe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36" Type="http://schemas.openxmlformats.org/officeDocument/2006/relationships/image" Target="../media/image36.jpe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31" Type="http://schemas.openxmlformats.org/officeDocument/2006/relationships/image" Target="../media/image3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Relationship Id="rId30" Type="http://schemas.openxmlformats.org/officeDocument/2006/relationships/image" Target="../media/image30.jpeg"/><Relationship Id="rId35" Type="http://schemas.openxmlformats.org/officeDocument/2006/relationships/image" Target="../media/image35.jpeg"/><Relationship Id="rId8" Type="http://schemas.openxmlformats.org/officeDocument/2006/relationships/image" Target="../media/image8.png"/><Relationship Id="rId3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hyperlink" Target="https://en.wikipedia.org/wiki/Flow_(psychology)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8.jpeg"/><Relationship Id="rId26" Type="http://schemas.openxmlformats.org/officeDocument/2006/relationships/image" Target="../media/image26.jpeg"/><Relationship Id="rId39" Type="http://schemas.openxmlformats.org/officeDocument/2006/relationships/image" Target="../media/image39.svg"/><Relationship Id="rId21" Type="http://schemas.openxmlformats.org/officeDocument/2006/relationships/image" Target="../media/image21.jpeg"/><Relationship Id="rId34" Type="http://schemas.openxmlformats.org/officeDocument/2006/relationships/image" Target="../media/image34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jpeg"/><Relationship Id="rId33" Type="http://schemas.openxmlformats.org/officeDocument/2006/relationships/image" Target="../media/image33.jpeg"/><Relationship Id="rId38" Type="http://schemas.openxmlformats.org/officeDocument/2006/relationships/image" Target="../media/image38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jpeg"/><Relationship Id="rId29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jpeg"/><Relationship Id="rId32" Type="http://schemas.openxmlformats.org/officeDocument/2006/relationships/image" Target="../media/image32.jpeg"/><Relationship Id="rId37" Type="http://schemas.openxmlformats.org/officeDocument/2006/relationships/image" Target="../media/image37.jpe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36" Type="http://schemas.openxmlformats.org/officeDocument/2006/relationships/image" Target="../media/image36.jpe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31" Type="http://schemas.openxmlformats.org/officeDocument/2006/relationships/image" Target="../media/image3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Relationship Id="rId30" Type="http://schemas.openxmlformats.org/officeDocument/2006/relationships/image" Target="../media/image30.jpeg"/><Relationship Id="rId35" Type="http://schemas.openxmlformats.org/officeDocument/2006/relationships/image" Target="../media/image35.jpeg"/><Relationship Id="rId8" Type="http://schemas.openxmlformats.org/officeDocument/2006/relationships/image" Target="../media/image8.png"/><Relationship Id="rId3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 </a:t>
            </a:r>
            <a:br>
              <a:rPr lang="en-US"/>
            </a:br>
            <a:r>
              <a:rPr lang="en-US"/>
              <a:t>W3</a:t>
            </a:r>
            <a:br>
              <a:rPr lang="en-US"/>
            </a:br>
            <a:r>
              <a:rPr lang="en-US"/>
              <a:t>Engagement Level Workshop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Make current members’ engagement explicit to adjust expectations and better target activities</a:t>
            </a:r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F363E15C-A527-DB3C-71D8-640F348DA9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9410700" y="5537255"/>
            <a:ext cx="2440305" cy="1101289"/>
          </a:xfrm>
          <a:prstGeom prst="rect">
            <a:avLst/>
          </a:prstGeom>
        </p:spPr>
      </p:pic>
      <p:graphicFrame>
        <p:nvGraphicFramePr>
          <p:cNvPr id="3" name="Tableau 5">
            <a:extLst>
              <a:ext uri="{FF2B5EF4-FFF2-40B4-BE49-F238E27FC236}">
                <a16:creationId xmlns:a16="http://schemas.microsoft.com/office/drawing/2014/main" id="{363B7F6B-2310-8EC1-F9BA-A68D1B251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3352"/>
              </p:ext>
            </p:extLst>
          </p:nvPr>
        </p:nvGraphicFramePr>
        <p:xfrm>
          <a:off x="7739641" y="1024870"/>
          <a:ext cx="3606323" cy="199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89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68840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130843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pSp>
        <p:nvGrpSpPr>
          <p:cNvPr id="6" name="Groupe 2">
            <a:extLst>
              <a:ext uri="{FF2B5EF4-FFF2-40B4-BE49-F238E27FC236}">
                <a16:creationId xmlns:a16="http://schemas.microsoft.com/office/drawing/2014/main" id="{85BE2838-0205-F7AF-5E29-56D8B5F9D0AC}"/>
              </a:ext>
            </a:extLst>
          </p:cNvPr>
          <p:cNvGrpSpPr/>
          <p:nvPr/>
        </p:nvGrpSpPr>
        <p:grpSpPr>
          <a:xfrm>
            <a:off x="7831651" y="648975"/>
            <a:ext cx="3422302" cy="1420188"/>
            <a:chOff x="699387" y="1561531"/>
            <a:chExt cx="10746546" cy="4459606"/>
          </a:xfrm>
        </p:grpSpPr>
        <p:pic>
          <p:nvPicPr>
            <p:cNvPr id="7" name="Graphique 6" descr="Une artiste avec un remplissage uni">
              <a:extLst>
                <a:ext uri="{FF2B5EF4-FFF2-40B4-BE49-F238E27FC236}">
                  <a16:creationId xmlns:a16="http://schemas.microsoft.com/office/drawing/2014/main" id="{057E5E23-28BA-7BD4-99DB-7564B6EA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16269" y="1649369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Employée de bureau avec un remplissage uni">
              <a:extLst>
                <a:ext uri="{FF2B5EF4-FFF2-40B4-BE49-F238E27FC236}">
                  <a16:creationId xmlns:a16="http://schemas.microsoft.com/office/drawing/2014/main" id="{927A15BD-33E0-AD25-3964-B62D62A39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93273" y="1669686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Profil femelle avec un remplissage uni">
              <a:extLst>
                <a:ext uri="{FF2B5EF4-FFF2-40B4-BE49-F238E27FC236}">
                  <a16:creationId xmlns:a16="http://schemas.microsoft.com/office/drawing/2014/main" id="{DDF46C9C-8A22-0D51-DF7D-D44CB62CE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36616" y="1669686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Femme agricultrice avec un remplissage uni">
              <a:extLst>
                <a:ext uri="{FF2B5EF4-FFF2-40B4-BE49-F238E27FC236}">
                  <a16:creationId xmlns:a16="http://schemas.microsoft.com/office/drawing/2014/main" id="{C2816F97-FC32-B877-579D-480F8B6AE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38800" y="171062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Femme DJ avec un remplissage uni">
              <a:extLst>
                <a:ext uri="{FF2B5EF4-FFF2-40B4-BE49-F238E27FC236}">
                  <a16:creationId xmlns:a16="http://schemas.microsoft.com/office/drawing/2014/main" id="{24CB9D88-99F4-9E84-7B4D-4821901C0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82143" y="1710623"/>
              <a:ext cx="914400" cy="914400"/>
            </a:xfrm>
            <a:prstGeom prst="rect">
              <a:avLst/>
            </a:prstGeom>
          </p:spPr>
        </p:pic>
        <p:pic>
          <p:nvPicPr>
            <p:cNvPr id="12" name="Graphique 11" descr="Écolière avec un remplissage uni">
              <a:extLst>
                <a:ext uri="{FF2B5EF4-FFF2-40B4-BE49-F238E27FC236}">
                  <a16:creationId xmlns:a16="http://schemas.microsoft.com/office/drawing/2014/main" id="{3AF108BF-08CC-632B-FB95-7C95F074C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3815" y="1669686"/>
              <a:ext cx="914400" cy="914400"/>
            </a:xfrm>
            <a:prstGeom prst="rect">
              <a:avLst/>
            </a:prstGeom>
          </p:spPr>
        </p:pic>
        <p:pic>
          <p:nvPicPr>
            <p:cNvPr id="13" name="Graphique 12" descr="Héroïne avec un remplissage uni">
              <a:extLst>
                <a:ext uri="{FF2B5EF4-FFF2-40B4-BE49-F238E27FC236}">
                  <a16:creationId xmlns:a16="http://schemas.microsoft.com/office/drawing/2014/main" id="{40DDCAFD-3E48-B4F2-6CF5-8B6AEEF80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39265" y="1618355"/>
              <a:ext cx="1006668" cy="1006668"/>
            </a:xfrm>
            <a:prstGeom prst="rect">
              <a:avLst/>
            </a:prstGeom>
          </p:spPr>
        </p:pic>
        <p:pic>
          <p:nvPicPr>
            <p:cNvPr id="14" name="Graphique 14" descr="Deux cœurs avec un remplissage uni">
              <a:extLst>
                <a:ext uri="{FF2B5EF4-FFF2-40B4-BE49-F238E27FC236}">
                  <a16:creationId xmlns:a16="http://schemas.microsoft.com/office/drawing/2014/main" id="{F0D85C2A-0FDE-2C35-AF4E-07543A608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58122" y="1561531"/>
              <a:ext cx="298183" cy="298183"/>
            </a:xfrm>
            <a:prstGeom prst="rect">
              <a:avLst/>
            </a:prstGeom>
          </p:spPr>
        </p:pic>
        <p:pic>
          <p:nvPicPr>
            <p:cNvPr id="15" name="Image 15" descr="Une image contenant personne, homme, cravate, complet&#10;&#10;Description générée automatiquement">
              <a:extLst>
                <a:ext uri="{FF2B5EF4-FFF2-40B4-BE49-F238E27FC236}">
                  <a16:creationId xmlns:a16="http://schemas.microsoft.com/office/drawing/2014/main" id="{18461846-B1AB-3D2D-A478-42B7BBC85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3479552"/>
              <a:ext cx="569795" cy="569795"/>
            </a:xfrm>
            <a:prstGeom prst="rect">
              <a:avLst/>
            </a:prstGeom>
          </p:spPr>
        </p:pic>
        <p:pic>
          <p:nvPicPr>
            <p:cNvPr id="16" name="Image 16" descr="Une image contenant personne, extérieur, souriant, violet&#10;&#10;Description générée automatiquement">
              <a:extLst>
                <a:ext uri="{FF2B5EF4-FFF2-40B4-BE49-F238E27FC236}">
                  <a16:creationId xmlns:a16="http://schemas.microsoft.com/office/drawing/2014/main" id="{D584E5AB-19B4-77AD-BA14-1BF4D6E50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5" y="4081373"/>
              <a:ext cx="569795" cy="569795"/>
            </a:xfrm>
            <a:prstGeom prst="rect">
              <a:avLst/>
            </a:prstGeom>
          </p:spPr>
        </p:pic>
        <p:pic>
          <p:nvPicPr>
            <p:cNvPr id="17" name="Image 17" descr="Une image contenant personne, femme, souriant&#10;&#10;Description générée automatiquement">
              <a:extLst>
                <a:ext uri="{FF2B5EF4-FFF2-40B4-BE49-F238E27FC236}">
                  <a16:creationId xmlns:a16="http://schemas.microsoft.com/office/drawing/2014/main" id="{C67ACF53-0D21-4CF0-D1E6-0205385FC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3471335"/>
              <a:ext cx="569795" cy="569795"/>
            </a:xfrm>
            <a:prstGeom prst="rect">
              <a:avLst/>
            </a:prstGeom>
          </p:spPr>
        </p:pic>
        <p:pic>
          <p:nvPicPr>
            <p:cNvPr id="18" name="Image 18" descr="Une image contenant personne, extérieur, souriant, foule&#10;&#10;Description générée automatiquement">
              <a:extLst>
                <a:ext uri="{FF2B5EF4-FFF2-40B4-BE49-F238E27FC236}">
                  <a16:creationId xmlns:a16="http://schemas.microsoft.com/office/drawing/2014/main" id="{DC7D2E88-4DA5-4D09-DE2E-AC6FA0D31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7737" y="3475693"/>
              <a:ext cx="569795" cy="569795"/>
            </a:xfrm>
            <a:prstGeom prst="rect">
              <a:avLst/>
            </a:prstGeom>
          </p:spPr>
        </p:pic>
        <p:pic>
          <p:nvPicPr>
            <p:cNvPr id="19" name="Image 19" descr="Une image contenant personne, souriant, homme, posant&#10;&#10;Description générée automatiquement">
              <a:extLst>
                <a:ext uri="{FF2B5EF4-FFF2-40B4-BE49-F238E27FC236}">
                  <a16:creationId xmlns:a16="http://schemas.microsoft.com/office/drawing/2014/main" id="{B2728C81-5E4F-6B00-E1D1-5E6068914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0279" y="4800468"/>
              <a:ext cx="569795" cy="569795"/>
            </a:xfrm>
            <a:prstGeom prst="rect">
              <a:avLst/>
            </a:prstGeom>
          </p:spPr>
        </p:pic>
        <p:pic>
          <p:nvPicPr>
            <p:cNvPr id="20" name="Image 20" descr="Une image contenant personne, intérieur, posant, fermer&#10;&#10;Description générée automatiquement">
              <a:extLst>
                <a:ext uri="{FF2B5EF4-FFF2-40B4-BE49-F238E27FC236}">
                  <a16:creationId xmlns:a16="http://schemas.microsoft.com/office/drawing/2014/main" id="{A563DB04-D396-437A-C149-205D57277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3466539"/>
              <a:ext cx="569795" cy="569795"/>
            </a:xfrm>
            <a:prstGeom prst="rect">
              <a:avLst/>
            </a:prstGeom>
          </p:spPr>
        </p:pic>
        <p:pic>
          <p:nvPicPr>
            <p:cNvPr id="21" name="Image 21" descr="Une image contenant personne, homme, mur, souriant&#10;&#10;Description générée automatiquement">
              <a:extLst>
                <a:ext uri="{FF2B5EF4-FFF2-40B4-BE49-F238E27FC236}">
                  <a16:creationId xmlns:a16="http://schemas.microsoft.com/office/drawing/2014/main" id="{A501963D-B42C-DEF2-7B96-D5648733A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4103748"/>
              <a:ext cx="569795" cy="569795"/>
            </a:xfrm>
            <a:prstGeom prst="rect">
              <a:avLst/>
            </a:prstGeom>
          </p:spPr>
        </p:pic>
        <p:pic>
          <p:nvPicPr>
            <p:cNvPr id="22" name="Image 22" descr="Une image contenant homme, personne, intérieur, aîné&#10;&#10;Description générée automatiquement">
              <a:extLst>
                <a:ext uri="{FF2B5EF4-FFF2-40B4-BE49-F238E27FC236}">
                  <a16:creationId xmlns:a16="http://schemas.microsoft.com/office/drawing/2014/main" id="{82DFCA2F-ECC1-4E01-B2FC-FF856FE4B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07496" y="3466434"/>
              <a:ext cx="569795" cy="569795"/>
            </a:xfrm>
            <a:prstGeom prst="rect">
              <a:avLst/>
            </a:prstGeom>
          </p:spPr>
        </p:pic>
        <p:pic>
          <p:nvPicPr>
            <p:cNvPr id="23" name="Image 23" descr="Une image contenant homme, personne, verres, portant&#10;&#10;Description générée automatiquement">
              <a:extLst>
                <a:ext uri="{FF2B5EF4-FFF2-40B4-BE49-F238E27FC236}">
                  <a16:creationId xmlns:a16="http://schemas.microsoft.com/office/drawing/2014/main" id="{24BD49AE-F23D-32C9-47CC-D19306DFA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4082110"/>
              <a:ext cx="569795" cy="569795"/>
            </a:xfrm>
            <a:prstGeom prst="rect">
              <a:avLst/>
            </a:prstGeom>
          </p:spPr>
        </p:pic>
        <p:pic>
          <p:nvPicPr>
            <p:cNvPr id="24" name="Image 24" descr="Une image contenant personne, homme, intérieur, souriant&#10;&#10;Description générée automatiquement">
              <a:extLst>
                <a:ext uri="{FF2B5EF4-FFF2-40B4-BE49-F238E27FC236}">
                  <a16:creationId xmlns:a16="http://schemas.microsoft.com/office/drawing/2014/main" id="{2178346A-FFDD-67A5-7E75-9D54C5E57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4958" y="3510401"/>
              <a:ext cx="569795" cy="569795"/>
            </a:xfrm>
            <a:prstGeom prst="rect">
              <a:avLst/>
            </a:prstGeom>
          </p:spPr>
        </p:pic>
        <p:pic>
          <p:nvPicPr>
            <p:cNvPr id="25" name="Image 25" descr="Une image contenant personne, homme, cravate, souriant&#10;&#10;Description générée automatiquement">
              <a:extLst>
                <a:ext uri="{FF2B5EF4-FFF2-40B4-BE49-F238E27FC236}">
                  <a16:creationId xmlns:a16="http://schemas.microsoft.com/office/drawing/2014/main" id="{31E4BFC6-E0EB-1528-8222-4DD02FB03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1498" y="4193240"/>
              <a:ext cx="569795" cy="569795"/>
            </a:xfrm>
            <a:prstGeom prst="rect">
              <a:avLst/>
            </a:prstGeom>
          </p:spPr>
        </p:pic>
        <p:pic>
          <p:nvPicPr>
            <p:cNvPr id="26" name="Image 26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A2681A73-FDA3-9492-1645-C86932E7F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786237"/>
              <a:ext cx="569795" cy="569795"/>
            </a:xfrm>
            <a:prstGeom prst="rect">
              <a:avLst/>
            </a:prstGeom>
          </p:spPr>
        </p:pic>
        <p:pic>
          <p:nvPicPr>
            <p:cNvPr id="27" name="Image 27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2C1AA7A0-4426-3D2E-9202-3F887A855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0808" y="4103748"/>
              <a:ext cx="569795" cy="569795"/>
            </a:xfrm>
            <a:prstGeom prst="rect">
              <a:avLst/>
            </a:prstGeom>
          </p:spPr>
        </p:pic>
        <p:pic>
          <p:nvPicPr>
            <p:cNvPr id="28" name="Image 28" descr="Une image contenant personne, femme, souriant, posant&#10;&#10;Description générée automatiquement">
              <a:extLst>
                <a:ext uri="{FF2B5EF4-FFF2-40B4-BE49-F238E27FC236}">
                  <a16:creationId xmlns:a16="http://schemas.microsoft.com/office/drawing/2014/main" id="{F36960A6-B882-6158-0E02-FD0E8FB81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89258" y="3479552"/>
              <a:ext cx="569795" cy="569795"/>
            </a:xfrm>
            <a:prstGeom prst="rect">
              <a:avLst/>
            </a:prstGeom>
          </p:spPr>
        </p:pic>
        <p:pic>
          <p:nvPicPr>
            <p:cNvPr id="29" name="Image 29" descr="Une image contenant personne, extérieur, fermer&#10;&#10;Description générée automatiquement">
              <a:extLst>
                <a:ext uri="{FF2B5EF4-FFF2-40B4-BE49-F238E27FC236}">
                  <a16:creationId xmlns:a16="http://schemas.microsoft.com/office/drawing/2014/main" id="{B6C879A9-537E-0FDB-F337-8999282C6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6" y="3475194"/>
              <a:ext cx="569795" cy="569795"/>
            </a:xfrm>
            <a:prstGeom prst="rect">
              <a:avLst/>
            </a:prstGeom>
          </p:spPr>
        </p:pic>
        <p:pic>
          <p:nvPicPr>
            <p:cNvPr id="30" name="Image 30" descr="Une image contenant personne, mur, intérieur, jeune&#10;&#10;Description générée automatiquement">
              <a:extLst>
                <a:ext uri="{FF2B5EF4-FFF2-40B4-BE49-F238E27FC236}">
                  <a16:creationId xmlns:a16="http://schemas.microsoft.com/office/drawing/2014/main" id="{A5A63592-64D9-0BF7-7693-1463BF745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28385" y="3451572"/>
              <a:ext cx="569795" cy="569795"/>
            </a:xfrm>
            <a:prstGeom prst="rect">
              <a:avLst/>
            </a:prstGeom>
          </p:spPr>
        </p:pic>
        <p:pic>
          <p:nvPicPr>
            <p:cNvPr id="31" name="Image 31" descr="Une image contenant personne, homme, extérieur, arbre&#10;&#10;Description générée automatiquement">
              <a:extLst>
                <a:ext uri="{FF2B5EF4-FFF2-40B4-BE49-F238E27FC236}">
                  <a16:creationId xmlns:a16="http://schemas.microsoft.com/office/drawing/2014/main" id="{9FA72D73-FDE4-1709-B27F-4C3D5ABF5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158990"/>
              <a:ext cx="569795" cy="569795"/>
            </a:xfrm>
            <a:prstGeom prst="rect">
              <a:avLst/>
            </a:prstGeom>
          </p:spPr>
        </p:pic>
        <p:pic>
          <p:nvPicPr>
            <p:cNvPr id="32" name="Image 32" descr="Une image contenant personne, mur, souriant, intérieur&#10;&#10;Description générée automatiquement">
              <a:extLst>
                <a:ext uri="{FF2B5EF4-FFF2-40B4-BE49-F238E27FC236}">
                  <a16:creationId xmlns:a16="http://schemas.microsoft.com/office/drawing/2014/main" id="{E4C7397D-17E9-E781-CBCB-E194E49C9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1201" y="5451342"/>
              <a:ext cx="569795" cy="569795"/>
            </a:xfrm>
            <a:prstGeom prst="rect">
              <a:avLst/>
            </a:prstGeom>
          </p:spPr>
        </p:pic>
        <p:pic>
          <p:nvPicPr>
            <p:cNvPr id="33" name="Image 33" descr="Une image contenant personne, mur, souriant, posant&#10;&#10;Description générée automatiquement">
              <a:extLst>
                <a:ext uri="{FF2B5EF4-FFF2-40B4-BE49-F238E27FC236}">
                  <a16:creationId xmlns:a16="http://schemas.microsoft.com/office/drawing/2014/main" id="{B8144F11-8CEE-0A90-17D0-D5CFDA317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3504619"/>
              <a:ext cx="569795" cy="569795"/>
            </a:xfrm>
            <a:prstGeom prst="rect">
              <a:avLst/>
            </a:prstGeom>
          </p:spPr>
        </p:pic>
        <p:pic>
          <p:nvPicPr>
            <p:cNvPr id="34" name="Image 34" descr="Une image contenant personne, mur, homme, souriant&#10;&#10;Description générée automatiquement">
              <a:extLst>
                <a:ext uri="{FF2B5EF4-FFF2-40B4-BE49-F238E27FC236}">
                  <a16:creationId xmlns:a16="http://schemas.microsoft.com/office/drawing/2014/main" id="{B0DEC5DF-73DE-BD50-7A10-66048422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4088307"/>
              <a:ext cx="569795" cy="569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33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A794F-5F08-337C-50F0-FFEFF144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This document is an #OpenSeriousCommunity #OSC content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82D3C-1E44-118D-E03C-489E469B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7635"/>
            <a:ext cx="6920345" cy="37293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#OpenSeriousCommunity is a set of resources, organized as a framework, dedicated to help animate, sustain and develop communities. </a:t>
            </a:r>
          </a:p>
          <a:p>
            <a:pPr marL="0" indent="0">
              <a:buNone/>
            </a:pPr>
            <a:r>
              <a:rPr lang="en-US"/>
              <a:t>The communities concerned by #OpenSeriousCommunity can be as much in the corporate domain, as in associations, institutions or private. </a:t>
            </a:r>
          </a:p>
          <a:p>
            <a:pPr marL="0" indent="0">
              <a:buNone/>
            </a:pPr>
            <a:r>
              <a:rPr lang="en-US"/>
              <a:t>The #OpenSeriousCommunity contents follow the attributes of the #OSG contents, meaning that they are open-source, and structured to favor a maximum of appropriation of the content for retransmission purposes.</a:t>
            </a:r>
          </a:p>
          <a:p>
            <a:pPr marL="0" indent="0">
              <a:buNone/>
            </a:pPr>
            <a:r>
              <a:rPr lang="en-US"/>
              <a:t>To learn more, visit </a:t>
            </a:r>
            <a:r>
              <a:rPr lang="en-US">
                <a:hlinkClick r:id="rId2"/>
              </a:rPr>
              <a:t>https://www.openseriousgames.org/OpenSeriousCommunity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26674B-9CEA-9EBE-9AEA-28D0A38AB5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7923952" y="3081254"/>
            <a:ext cx="4027903" cy="181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9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Engagement Level workshop</a:t>
            </a:r>
            <a:br>
              <a:rPr lang="en-US" sz="2800"/>
            </a:br>
            <a:r>
              <a:rPr lang="en-US" sz="2800"/>
              <a:t>Expected result example 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76604"/>
              </p:ext>
            </p:extLst>
          </p:nvPr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A626635-2F0A-4EC8-88A7-7B72C0BA9495}"/>
              </a:ext>
            </a:extLst>
          </p:cNvPr>
          <p:cNvSpPr txBox="1"/>
          <p:nvPr/>
        </p:nvSpPr>
        <p:spPr>
          <a:xfrm>
            <a:off x="330692" y="6445761"/>
            <a:ext cx="6416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hlinkClick r:id="rId18"/>
              </a:rPr>
              <a:t>https://en.wikipedia.org/wiki/Flow_(psychology)</a:t>
            </a:r>
            <a:endParaRPr lang="en-US" sz="1100"/>
          </a:p>
          <a:p>
            <a:endParaRPr lang="en-US" sz="1100"/>
          </a:p>
        </p:txBody>
      </p:sp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B696EB01-E4C8-41A5-A492-953881A6FD3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3479552"/>
            <a:ext cx="569795" cy="569795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655E41DD-23F6-41F1-9BD2-6484311BE129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8625" y="4081373"/>
            <a:ext cx="569795" cy="569795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037D13CC-8A6A-4D6C-9779-BB188DF22C51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3471335"/>
            <a:ext cx="569795" cy="569795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4343B69-B39A-4EDF-8041-B9AD8C164522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737" y="3475693"/>
            <a:ext cx="569795" cy="569795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7DE7DF05-DFE6-46BB-9CE1-4C5959A33898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0279" y="4800468"/>
            <a:ext cx="569795" cy="569795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288C2095-9453-45E5-BCBA-62041BD6E355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489" y="3466539"/>
            <a:ext cx="569795" cy="569795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418DF618-E468-43A3-B334-7DFCAD9F6229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4103748"/>
            <a:ext cx="569795" cy="569795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2288E470-715B-4D58-BC32-4070AFE5804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7496" y="3466434"/>
            <a:ext cx="569795" cy="569795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ABF73D53-C154-4AB5-A2A7-D4D2146A3C07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489" y="4082110"/>
            <a:ext cx="569795" cy="569795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30F6B8D1-A091-4DFC-AC34-46C5F338D7B8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4958" y="3510401"/>
            <a:ext cx="569795" cy="569795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49013062-5F00-474D-B843-EFA7FF751D2B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1498" y="4193240"/>
            <a:ext cx="569795" cy="569795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F72603E6-CCFA-4994-BF61-8A768F2E09CF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786237"/>
            <a:ext cx="569795" cy="569795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2279E222-24B2-46ED-BDF6-35B2F7B4C724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808" y="4103748"/>
            <a:ext cx="569795" cy="569795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B28B3B8B-6004-46B1-A5D9-E998BDF06ACB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258" y="3479552"/>
            <a:ext cx="569795" cy="569795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30147B6E-E1AD-441D-A186-EB68906562CF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8626" y="3475194"/>
            <a:ext cx="569795" cy="569795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54D3FED-76A0-40A6-9502-82C233BDA66B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8385" y="3451572"/>
            <a:ext cx="569795" cy="569795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2CDE586E-407F-4D73-B367-3269D3EA32FB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158990"/>
            <a:ext cx="569795" cy="569795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995689D7-21CB-48EB-961D-5B7F246CC3D9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01" y="5451342"/>
            <a:ext cx="569795" cy="569795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E4F4D8C7-9BD0-4DED-ADE2-22F14D6BAD8E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3504619"/>
            <a:ext cx="569795" cy="569795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7A07EBDC-ECEC-4ACB-8080-DB767C1FB27A}"/>
              </a:ext>
            </a:extLst>
          </p:cNvPr>
          <p:cNvPicPr>
            <a:picLocks noChangeAspect="1"/>
          </p:cNvPicPr>
          <p:nvPr/>
        </p:nvPicPr>
        <p:blipFill>
          <a:blip r:embed="rId3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4088307"/>
            <a:ext cx="569795" cy="56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5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/>
              <a:t>Time Investment profiles Workshop</a:t>
            </a:r>
            <a:br>
              <a:rPr lang="en-US" sz="2800"/>
            </a:br>
            <a:r>
              <a:rPr lang="en-US" sz="2800" err="1"/>
              <a:t>Workshop</a:t>
            </a:r>
            <a:r>
              <a:rPr lang="en-US" sz="2800"/>
              <a:t> step by step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4AC220-AEB7-4C0B-A1F1-FAACDF7DF234}"/>
              </a:ext>
            </a:extLst>
          </p:cNvPr>
          <p:cNvSpPr txBox="1"/>
          <p:nvPr/>
        </p:nvSpPr>
        <p:spPr>
          <a:xfrm>
            <a:off x="11496252" y="6815480"/>
            <a:ext cx="2513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Only after a certain date, event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D6B0E-FB0E-401A-937B-75839BD8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49942"/>
              </p:ext>
            </p:extLst>
          </p:nvPr>
        </p:nvGraphicFramePr>
        <p:xfrm>
          <a:off x="145280" y="1813144"/>
          <a:ext cx="10630967" cy="4838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5455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725236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5897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770149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  <a:p>
                      <a:pPr algn="ctr"/>
                      <a:r>
                        <a:rPr lang="en-US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  <a:p>
                      <a:pPr algn="ctr"/>
                      <a:r>
                        <a:rPr lang="en-US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  <a:p>
                      <a:pPr algn="ctr"/>
                      <a:r>
                        <a:rPr lang="en-US" noProof="0"/>
                        <a:t>Rules &amp; Mindset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  <a:p>
                      <a:pPr algn="ctr"/>
                      <a:r>
                        <a:rPr lang="en-US" noProof="0"/>
                        <a:t>Fill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  <a:p>
                      <a:pPr algn="ctr"/>
                      <a:r>
                        <a:rPr lang="en-US" noProof="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  <a:p>
                      <a:pPr algn="ctr"/>
                      <a:r>
                        <a:rPr lang="en-US" noProof="0"/>
                        <a:t>Decide main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Explain what motivates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Avoid frustration or over solicitation of members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Explain the theory behind the workshop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Adjust the activities to how members invest time in the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Show expected results of the workshop (previous slide)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Show how it will be used (next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Remind the rules &amp; mindset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The sincerest, the easiest it will be on the long term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Neither shaming nor congratulating on current engagement level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If target engagement level is different from current, explain why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Reminder : Engagement level are not tastes, each level comes with commitment and responsibilities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/>
                        <a:t>Present empty canvas, ask members to add their pictures in the right case. </a:t>
                      </a:r>
                    </a:p>
                    <a:p>
                      <a:r>
                        <a:rPr lang="en-US" sz="1050" noProof="0" dirty="0"/>
                        <a:t>Pictures can be replaced by names (less vivid)</a:t>
                      </a:r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Variant: </a:t>
                      </a:r>
                    </a:p>
                    <a:p>
                      <a:r>
                        <a:rPr lang="en-US" sz="1050" noProof="0" dirty="0"/>
                        <a:t>You can also add individual target engagement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Questions /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/>
                        <a:t>From the result, decide what will be the main starting activities in the Community. </a:t>
                      </a:r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(Optional) Collectively commit to a Given activity for next session or time period.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38AFCA8-59D9-487B-9924-9956586873D6}"/>
              </a:ext>
            </a:extLst>
          </p:cNvPr>
          <p:cNvSpPr/>
          <p:nvPr/>
        </p:nvSpPr>
        <p:spPr>
          <a:xfrm rot="5400000">
            <a:off x="8992134" y="3597258"/>
            <a:ext cx="4838698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F92889C-910F-41FB-903A-7E8963BA1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82318"/>
              </p:ext>
            </p:extLst>
          </p:nvPr>
        </p:nvGraphicFramePr>
        <p:xfrm>
          <a:off x="8349241" y="548640"/>
          <a:ext cx="3606323" cy="199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89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515189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68840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130843"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 marL="28929" marR="28929" marT="14465" marB="144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 marL="28929" marR="28929" marT="14465" marB="1446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 marL="28929" marR="28929" marT="14465" marB="14465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F32DA409-BA8F-4DCD-B24C-13D20A5D4BB7}"/>
              </a:ext>
            </a:extLst>
          </p:cNvPr>
          <p:cNvGrpSpPr/>
          <p:nvPr/>
        </p:nvGrpSpPr>
        <p:grpSpPr>
          <a:xfrm>
            <a:off x="8441251" y="172745"/>
            <a:ext cx="3422302" cy="1420188"/>
            <a:chOff x="699387" y="1561531"/>
            <a:chExt cx="10746546" cy="4459606"/>
          </a:xfrm>
        </p:grpSpPr>
        <p:pic>
          <p:nvPicPr>
            <p:cNvPr id="7" name="Graphique 6" descr="Une artiste avec un remplissage uni">
              <a:extLst>
                <a:ext uri="{FF2B5EF4-FFF2-40B4-BE49-F238E27FC236}">
                  <a16:creationId xmlns:a16="http://schemas.microsoft.com/office/drawing/2014/main" id="{BE317170-8A4E-4166-820B-D4D58ECD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16269" y="1649369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Employée de bureau avec un remplissage uni">
              <a:extLst>
                <a:ext uri="{FF2B5EF4-FFF2-40B4-BE49-F238E27FC236}">
                  <a16:creationId xmlns:a16="http://schemas.microsoft.com/office/drawing/2014/main" id="{AB19BF8E-89E9-4B17-B61B-1A2450E05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93273" y="1669686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Profil femelle avec un remplissage uni">
              <a:extLst>
                <a:ext uri="{FF2B5EF4-FFF2-40B4-BE49-F238E27FC236}">
                  <a16:creationId xmlns:a16="http://schemas.microsoft.com/office/drawing/2014/main" id="{72C7D9DC-B3E9-4B0C-9E76-98AAF2F5D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36616" y="1669686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Femme agricultrice avec un remplissage uni">
              <a:extLst>
                <a:ext uri="{FF2B5EF4-FFF2-40B4-BE49-F238E27FC236}">
                  <a16:creationId xmlns:a16="http://schemas.microsoft.com/office/drawing/2014/main" id="{58C8229B-D239-490E-BEDD-67503AC17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171062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Femme DJ avec un remplissage uni">
              <a:extLst>
                <a:ext uri="{FF2B5EF4-FFF2-40B4-BE49-F238E27FC236}">
                  <a16:creationId xmlns:a16="http://schemas.microsoft.com/office/drawing/2014/main" id="{D3EA719D-9C62-41ED-ADAE-9CAF2AFE8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482143" y="1710623"/>
              <a:ext cx="914400" cy="914400"/>
            </a:xfrm>
            <a:prstGeom prst="rect">
              <a:avLst/>
            </a:prstGeom>
          </p:spPr>
        </p:pic>
        <p:pic>
          <p:nvPicPr>
            <p:cNvPr id="12" name="Graphique 11" descr="Écolière avec un remplissage uni">
              <a:extLst>
                <a:ext uri="{FF2B5EF4-FFF2-40B4-BE49-F238E27FC236}">
                  <a16:creationId xmlns:a16="http://schemas.microsoft.com/office/drawing/2014/main" id="{25E2FBCB-C7ED-4BD6-9C02-3E9D75018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3815" y="1669686"/>
              <a:ext cx="914400" cy="914400"/>
            </a:xfrm>
            <a:prstGeom prst="rect">
              <a:avLst/>
            </a:prstGeom>
          </p:spPr>
        </p:pic>
        <p:pic>
          <p:nvPicPr>
            <p:cNvPr id="13" name="Graphique 12" descr="Héroïne avec un remplissage uni">
              <a:extLst>
                <a:ext uri="{FF2B5EF4-FFF2-40B4-BE49-F238E27FC236}">
                  <a16:creationId xmlns:a16="http://schemas.microsoft.com/office/drawing/2014/main" id="{95383A16-88BF-4387-AEAA-D35EE30E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439265" y="1618355"/>
              <a:ext cx="1006668" cy="1006668"/>
            </a:xfrm>
            <a:prstGeom prst="rect">
              <a:avLst/>
            </a:prstGeom>
          </p:spPr>
        </p:pic>
        <p:pic>
          <p:nvPicPr>
            <p:cNvPr id="15" name="Graphique 14" descr="Deux cœurs avec un remplissage uni">
              <a:extLst>
                <a:ext uri="{FF2B5EF4-FFF2-40B4-BE49-F238E27FC236}">
                  <a16:creationId xmlns:a16="http://schemas.microsoft.com/office/drawing/2014/main" id="{309E3CB2-D4F6-4CB7-BAF4-413122C0B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58122" y="1561531"/>
              <a:ext cx="298183" cy="298183"/>
            </a:xfrm>
            <a:prstGeom prst="rect">
              <a:avLst/>
            </a:prstGeom>
          </p:spPr>
        </p:pic>
        <p:pic>
          <p:nvPicPr>
            <p:cNvPr id="16" name="Image 15" descr="Une image contenant personne, homme, cravate, complet&#10;&#10;Description générée automatiquement">
              <a:extLst>
                <a:ext uri="{FF2B5EF4-FFF2-40B4-BE49-F238E27FC236}">
                  <a16:creationId xmlns:a16="http://schemas.microsoft.com/office/drawing/2014/main" id="{C53D07A6-1568-4241-9317-9EDFE577A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3479552"/>
              <a:ext cx="569795" cy="569795"/>
            </a:xfrm>
            <a:prstGeom prst="rect">
              <a:avLst/>
            </a:prstGeom>
          </p:spPr>
        </p:pic>
        <p:pic>
          <p:nvPicPr>
            <p:cNvPr id="17" name="Image 16" descr="Une image contenant personne, extérieur, souriant, violet&#10;&#10;Description générée automatiquement">
              <a:extLst>
                <a:ext uri="{FF2B5EF4-FFF2-40B4-BE49-F238E27FC236}">
                  <a16:creationId xmlns:a16="http://schemas.microsoft.com/office/drawing/2014/main" id="{FD1C0789-9988-40C8-9B8E-2D2C04B21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5" y="4081373"/>
              <a:ext cx="569795" cy="569795"/>
            </a:xfrm>
            <a:prstGeom prst="rect">
              <a:avLst/>
            </a:prstGeom>
          </p:spPr>
        </p:pic>
        <p:pic>
          <p:nvPicPr>
            <p:cNvPr id="18" name="Image 17" descr="Une image contenant personne, femme, souriant&#10;&#10;Description générée automatiquement">
              <a:extLst>
                <a:ext uri="{FF2B5EF4-FFF2-40B4-BE49-F238E27FC236}">
                  <a16:creationId xmlns:a16="http://schemas.microsoft.com/office/drawing/2014/main" id="{6AB21E26-AE27-4D1F-9191-3FA66B28D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3471335"/>
              <a:ext cx="569795" cy="569795"/>
            </a:xfrm>
            <a:prstGeom prst="rect">
              <a:avLst/>
            </a:prstGeom>
          </p:spPr>
        </p:pic>
        <p:pic>
          <p:nvPicPr>
            <p:cNvPr id="19" name="Image 18" descr="Une image contenant personne, extérieur, souriant, foule&#10;&#10;Description générée automatiquement">
              <a:extLst>
                <a:ext uri="{FF2B5EF4-FFF2-40B4-BE49-F238E27FC236}">
                  <a16:creationId xmlns:a16="http://schemas.microsoft.com/office/drawing/2014/main" id="{7D9B7053-677D-4A75-8D7A-64D490258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7737" y="3475693"/>
              <a:ext cx="569795" cy="569795"/>
            </a:xfrm>
            <a:prstGeom prst="rect">
              <a:avLst/>
            </a:prstGeom>
          </p:spPr>
        </p:pic>
        <p:pic>
          <p:nvPicPr>
            <p:cNvPr id="20" name="Image 19" descr="Une image contenant personne, souriant, homme, posant&#10;&#10;Description générée automatiquement">
              <a:extLst>
                <a:ext uri="{FF2B5EF4-FFF2-40B4-BE49-F238E27FC236}">
                  <a16:creationId xmlns:a16="http://schemas.microsoft.com/office/drawing/2014/main" id="{0C50212E-0F28-4A03-8DC6-7AED6B396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0279" y="4800468"/>
              <a:ext cx="569795" cy="569795"/>
            </a:xfrm>
            <a:prstGeom prst="rect">
              <a:avLst/>
            </a:prstGeom>
          </p:spPr>
        </p:pic>
        <p:pic>
          <p:nvPicPr>
            <p:cNvPr id="21" name="Image 20" descr="Une image contenant personne, intérieur, posant, fermer&#10;&#10;Description générée automatiquement">
              <a:extLst>
                <a:ext uri="{FF2B5EF4-FFF2-40B4-BE49-F238E27FC236}">
                  <a16:creationId xmlns:a16="http://schemas.microsoft.com/office/drawing/2014/main" id="{B6AA377F-7471-44F6-A3A6-07005535E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3466539"/>
              <a:ext cx="569795" cy="569795"/>
            </a:xfrm>
            <a:prstGeom prst="rect">
              <a:avLst/>
            </a:prstGeom>
          </p:spPr>
        </p:pic>
        <p:pic>
          <p:nvPicPr>
            <p:cNvPr id="22" name="Image 21" descr="Une image contenant personne, homme, mur, souriant&#10;&#10;Description générée automatiquement">
              <a:extLst>
                <a:ext uri="{FF2B5EF4-FFF2-40B4-BE49-F238E27FC236}">
                  <a16:creationId xmlns:a16="http://schemas.microsoft.com/office/drawing/2014/main" id="{1010A266-AC5C-4845-AA51-E75DDB2B5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1042" y="4103748"/>
              <a:ext cx="569795" cy="569795"/>
            </a:xfrm>
            <a:prstGeom prst="rect">
              <a:avLst/>
            </a:prstGeom>
          </p:spPr>
        </p:pic>
        <p:pic>
          <p:nvPicPr>
            <p:cNvPr id="23" name="Image 22" descr="Une image contenant homme, personne, intérieur, aîné&#10;&#10;Description générée automatiquement">
              <a:extLst>
                <a:ext uri="{FF2B5EF4-FFF2-40B4-BE49-F238E27FC236}">
                  <a16:creationId xmlns:a16="http://schemas.microsoft.com/office/drawing/2014/main" id="{9B6C9F2C-8C6B-4980-86F1-8972F3B90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07496" y="3466434"/>
              <a:ext cx="569795" cy="569795"/>
            </a:xfrm>
            <a:prstGeom prst="rect">
              <a:avLst/>
            </a:prstGeom>
          </p:spPr>
        </p:pic>
        <p:pic>
          <p:nvPicPr>
            <p:cNvPr id="24" name="Image 23" descr="Une image contenant homme, personne, verres, portant&#10;&#10;Description générée automatiquement">
              <a:extLst>
                <a:ext uri="{FF2B5EF4-FFF2-40B4-BE49-F238E27FC236}">
                  <a16:creationId xmlns:a16="http://schemas.microsoft.com/office/drawing/2014/main" id="{0C749F93-0954-449F-B9CF-DBDDE17B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7489" y="4082110"/>
              <a:ext cx="569795" cy="569795"/>
            </a:xfrm>
            <a:prstGeom prst="rect">
              <a:avLst/>
            </a:prstGeom>
          </p:spPr>
        </p:pic>
        <p:pic>
          <p:nvPicPr>
            <p:cNvPr id="25" name="Image 24" descr="Une image contenant personne, homme, intérieur, souriant&#10;&#10;Description générée automatiquement">
              <a:extLst>
                <a:ext uri="{FF2B5EF4-FFF2-40B4-BE49-F238E27FC236}">
                  <a16:creationId xmlns:a16="http://schemas.microsoft.com/office/drawing/2014/main" id="{4056B6E7-09D3-46A1-A4CB-EED109F60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4958" y="3510401"/>
              <a:ext cx="569795" cy="569795"/>
            </a:xfrm>
            <a:prstGeom prst="rect">
              <a:avLst/>
            </a:prstGeom>
          </p:spPr>
        </p:pic>
        <p:pic>
          <p:nvPicPr>
            <p:cNvPr id="26" name="Image 25" descr="Une image contenant personne, homme, cravate, souriant&#10;&#10;Description générée automatiquement">
              <a:extLst>
                <a:ext uri="{FF2B5EF4-FFF2-40B4-BE49-F238E27FC236}">
                  <a16:creationId xmlns:a16="http://schemas.microsoft.com/office/drawing/2014/main" id="{95994EB8-B28D-4D21-95B6-60F2D684D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1498" y="4193240"/>
              <a:ext cx="569795" cy="569795"/>
            </a:xfrm>
            <a:prstGeom prst="rect">
              <a:avLst/>
            </a:prstGeom>
          </p:spPr>
        </p:pic>
        <p:pic>
          <p:nvPicPr>
            <p:cNvPr id="27" name="Image 26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56349D75-4410-4E56-8FD0-32AAC4FC2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786237"/>
              <a:ext cx="569795" cy="569795"/>
            </a:xfrm>
            <a:prstGeom prst="rect">
              <a:avLst/>
            </a:prstGeom>
          </p:spPr>
        </p:pic>
        <p:pic>
          <p:nvPicPr>
            <p:cNvPr id="28" name="Image 27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7EA25B15-A38D-4ADA-9C94-D80386628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0808" y="4103748"/>
              <a:ext cx="569795" cy="569795"/>
            </a:xfrm>
            <a:prstGeom prst="rect">
              <a:avLst/>
            </a:prstGeom>
          </p:spPr>
        </p:pic>
        <p:pic>
          <p:nvPicPr>
            <p:cNvPr id="29" name="Image 28" descr="Une image contenant personne, femme, souriant, posant&#10;&#10;Description générée automatiquement">
              <a:extLst>
                <a:ext uri="{FF2B5EF4-FFF2-40B4-BE49-F238E27FC236}">
                  <a16:creationId xmlns:a16="http://schemas.microsoft.com/office/drawing/2014/main" id="{FC18FC37-4F32-4420-B5BC-D4BF1DE16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89258" y="3479552"/>
              <a:ext cx="569795" cy="569795"/>
            </a:xfrm>
            <a:prstGeom prst="rect">
              <a:avLst/>
            </a:prstGeom>
          </p:spPr>
        </p:pic>
        <p:pic>
          <p:nvPicPr>
            <p:cNvPr id="30" name="Image 29" descr="Une image contenant personne, extérieur, fermer&#10;&#10;Description générée automatiquement">
              <a:extLst>
                <a:ext uri="{FF2B5EF4-FFF2-40B4-BE49-F238E27FC236}">
                  <a16:creationId xmlns:a16="http://schemas.microsoft.com/office/drawing/2014/main" id="{9ABB460D-B81C-406F-BEEF-D5C159CA2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626" y="3475194"/>
              <a:ext cx="569795" cy="569795"/>
            </a:xfrm>
            <a:prstGeom prst="rect">
              <a:avLst/>
            </a:prstGeom>
          </p:spPr>
        </p:pic>
        <p:pic>
          <p:nvPicPr>
            <p:cNvPr id="31" name="Image 30" descr="Une image contenant personne, mur, intérieur, jeune&#10;&#10;Description générée automatiquement">
              <a:extLst>
                <a:ext uri="{FF2B5EF4-FFF2-40B4-BE49-F238E27FC236}">
                  <a16:creationId xmlns:a16="http://schemas.microsoft.com/office/drawing/2014/main" id="{0ACA8F31-9FA8-4218-9D55-96E6635E6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28385" y="3451572"/>
              <a:ext cx="569795" cy="569795"/>
            </a:xfrm>
            <a:prstGeom prst="rect">
              <a:avLst/>
            </a:prstGeom>
          </p:spPr>
        </p:pic>
        <p:pic>
          <p:nvPicPr>
            <p:cNvPr id="32" name="Image 31" descr="Une image contenant personne, homme, extérieur, arbre&#10;&#10;Description générée automatiquement">
              <a:extLst>
                <a:ext uri="{FF2B5EF4-FFF2-40B4-BE49-F238E27FC236}">
                  <a16:creationId xmlns:a16="http://schemas.microsoft.com/office/drawing/2014/main" id="{940269B5-E5CA-4FB3-95D9-EAA2A2ABB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4158990"/>
              <a:ext cx="569795" cy="569795"/>
            </a:xfrm>
            <a:prstGeom prst="rect">
              <a:avLst/>
            </a:prstGeom>
          </p:spPr>
        </p:pic>
        <p:pic>
          <p:nvPicPr>
            <p:cNvPr id="33" name="Image 32" descr="Une image contenant personne, mur, souriant, intérieur&#10;&#10;Description générée automatiquement">
              <a:extLst>
                <a:ext uri="{FF2B5EF4-FFF2-40B4-BE49-F238E27FC236}">
                  <a16:creationId xmlns:a16="http://schemas.microsoft.com/office/drawing/2014/main" id="{6C7AC939-21E1-4204-A4BA-DF05E6C55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1201" y="5451342"/>
              <a:ext cx="569795" cy="569795"/>
            </a:xfrm>
            <a:prstGeom prst="rect">
              <a:avLst/>
            </a:prstGeom>
          </p:spPr>
        </p:pic>
        <p:pic>
          <p:nvPicPr>
            <p:cNvPr id="34" name="Image 33" descr="Une image contenant personne, mur, souriant, posant&#10;&#10;Description générée automatiquement">
              <a:extLst>
                <a:ext uri="{FF2B5EF4-FFF2-40B4-BE49-F238E27FC236}">
                  <a16:creationId xmlns:a16="http://schemas.microsoft.com/office/drawing/2014/main" id="{CF437C15-811C-4946-97F3-6BDF28F2D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9387" y="3504619"/>
              <a:ext cx="569795" cy="569795"/>
            </a:xfrm>
            <a:prstGeom prst="rect">
              <a:avLst/>
            </a:prstGeom>
          </p:spPr>
        </p:pic>
        <p:pic>
          <p:nvPicPr>
            <p:cNvPr id="35" name="Image 34" descr="Une image contenant personne, mur, homme, souriant&#10;&#10;Description générée automatiquement">
              <a:extLst>
                <a:ext uri="{FF2B5EF4-FFF2-40B4-BE49-F238E27FC236}">
                  <a16:creationId xmlns:a16="http://schemas.microsoft.com/office/drawing/2014/main" id="{8968B192-D070-434A-A012-B72A2F00F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619" y="4088307"/>
              <a:ext cx="569795" cy="569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524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Engagement Level workshop</a:t>
            </a:r>
            <a:br>
              <a:rPr lang="en-US" sz="2800"/>
            </a:br>
            <a:r>
              <a:rPr lang="en-US" sz="2800"/>
              <a:t>Using the result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14853"/>
              </p:ext>
            </p:extLst>
          </p:nvPr>
        </p:nvGraphicFramePr>
        <p:xfrm>
          <a:off x="963756" y="2178245"/>
          <a:ext cx="10788785" cy="226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255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541255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489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04546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4045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Propose Subscription to Social network accounts of the Community and react to posts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events</a:t>
                      </a:r>
                    </a:p>
                    <a:p>
                      <a:pPr algn="ctr"/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ask questions in the Community Chat room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series of events</a:t>
                      </a:r>
                    </a:p>
                    <a:p>
                      <a:pPr algn="ctr"/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Ask for some basic feedback to improve the Community (using polls)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Offer to register as contributor for microtasks in Community projects or activities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Answers questions in the Community chatroom / forum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provide deeper feedback for the evolution of the Community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Community decision meetings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Organize events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Assign projects to lead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Invite to collect external content and push in the Community Chatroom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Create original content or push content for the Community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Propose creative spaces to express and share their content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to community organization activities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Invite to matchmake members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1914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3308" y="1491580"/>
            <a:ext cx="593626" cy="593626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9745" y="1497784"/>
            <a:ext cx="593626" cy="593626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9619" y="1536447"/>
            <a:ext cx="593626" cy="593626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3182" y="1545598"/>
            <a:ext cx="593626" cy="593626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4487" y="1563382"/>
            <a:ext cx="593626" cy="593626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80627" y="1512940"/>
            <a:ext cx="593626" cy="593626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69824" y="1466773"/>
            <a:ext cx="653526" cy="653526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53397" y="1512940"/>
            <a:ext cx="193580" cy="193580"/>
          </a:xfrm>
          <a:prstGeom prst="rect">
            <a:avLst/>
          </a:prstGeom>
        </p:spPr>
      </p:pic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0276176D-F7A9-4CE2-B96F-50F8526D654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4013" y="4400999"/>
            <a:ext cx="313318" cy="313318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08E70334-DC8D-44AE-A7CA-2F341A52CFA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724" y="4854454"/>
            <a:ext cx="313318" cy="313318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76249754-B172-453C-9100-F34D4DC154B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4918" y="4400999"/>
            <a:ext cx="313318" cy="313318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7F10C11-D993-43AD-AB86-7FBC69388431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40" y="4414140"/>
            <a:ext cx="313318" cy="313318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9F59AF60-28A7-4227-A04A-82F057E4E395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449" y="4881543"/>
            <a:ext cx="313318" cy="313318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609071F0-5988-48C3-A685-A4C22EE55AAA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0724" y="4400999"/>
            <a:ext cx="313318" cy="313318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D8BD9263-601F-497E-B078-B7496254547A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0439" y="4846796"/>
            <a:ext cx="313318" cy="313318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574B43B9-1207-44D3-93E4-B1BBF9231271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9562" y="4445616"/>
            <a:ext cx="313318" cy="313318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F087FC78-82D7-4755-99CB-6282CAF67A6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0723" y="4857940"/>
            <a:ext cx="313318" cy="313318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50FCE991-F848-4755-AC46-5130D5745A90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3070" y="4429948"/>
            <a:ext cx="313318" cy="313318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839CCB55-AC94-4D99-BBB5-6386375EF72B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9054" y="4870421"/>
            <a:ext cx="313318" cy="313318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3A9B69B3-2DEC-4C7A-A850-EA7289AED434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028" y="4423935"/>
            <a:ext cx="313318" cy="313318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A0993739-AC3B-4B94-9694-73350ADFBF18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831" y="4868477"/>
            <a:ext cx="313318" cy="313318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C3E77CF2-5F1F-4CA7-B976-4F2BBE140328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9958" y="4421245"/>
            <a:ext cx="313318" cy="313318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2D0E2BF7-1229-451F-B53F-3FD3EBEE82B7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725" y="4409782"/>
            <a:ext cx="313318" cy="313318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992D300-3C14-4FA6-91F4-675AEE6F2A76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4114" y="4334410"/>
            <a:ext cx="313318" cy="313318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B8CF211B-6FE4-4BED-8EA8-924DFC16BE05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6938" y="4870421"/>
            <a:ext cx="313318" cy="313318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36F58715-BF9C-4B0F-BAC8-09E0E05F1B1C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448" y="5319821"/>
            <a:ext cx="313318" cy="313318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43E33ACB-9EB9-4E21-94DC-55C9538EFA04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2549" y="4424166"/>
            <a:ext cx="313318" cy="313318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46630AD1-BA54-47AC-8948-D033FBA44BF6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4013" y="4854454"/>
            <a:ext cx="313318" cy="31331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C93323B-E7A5-47FE-8DD4-55346F092C58}"/>
              </a:ext>
            </a:extLst>
          </p:cNvPr>
          <p:cNvSpPr txBox="1"/>
          <p:nvPr/>
        </p:nvSpPr>
        <p:spPr>
          <a:xfrm>
            <a:off x="0" y="3177331"/>
            <a:ext cx="871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Suggested actions</a:t>
            </a:r>
          </a:p>
          <a:p>
            <a:r>
              <a:rPr lang="en-US" sz="800" b="1">
                <a:sym typeface="Wingdings" panose="05000000000000000000" pitchFamily="2" charset="2"/>
              </a:rPr>
              <a:t></a:t>
            </a:r>
            <a:endParaRPr lang="en-US" sz="800" b="1"/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9DE310B6-18CC-4DB6-8D44-8558B438EBAF}"/>
              </a:ext>
            </a:extLst>
          </p:cNvPr>
          <p:cNvSpPr txBox="1">
            <a:spLocks/>
          </p:cNvSpPr>
          <p:nvPr/>
        </p:nvSpPr>
        <p:spPr>
          <a:xfrm>
            <a:off x="2825740" y="5225002"/>
            <a:ext cx="9072662" cy="1323890"/>
          </a:xfrm>
          <a:prstGeom prst="rect">
            <a:avLst/>
          </a:prstGeom>
          <a:solidFill>
            <a:srgbClr val="EC7B2B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b="1"/>
              <a:t>What to do with the results 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✔️ Use it to recommend activities that fit the declared level of involvement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💬 Use it to set up subgroups and decide on tools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🔲 Use it to define Community engagement objectives (with stakeholders)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📅 Update it regularly (example : once every quarter or every 10 sessions) or when Community members have drastically changed.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383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FB29D0-660A-D7F7-7095-46262FDE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B1BAC992-D0FE-C24E-FC21-C59FB06DB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830731"/>
              </p:ext>
            </p:extLst>
          </p:nvPr>
        </p:nvGraphicFramePr>
        <p:xfrm>
          <a:off x="1116013" y="2478088"/>
          <a:ext cx="10167936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587">
                  <a:extLst>
                    <a:ext uri="{9D8B030D-6E8A-4147-A177-3AD203B41FA5}">
                      <a16:colId xmlns:a16="http://schemas.microsoft.com/office/drawing/2014/main" val="291391002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07936708"/>
                    </a:ext>
                  </a:extLst>
                </a:gridCol>
                <a:gridCol w="6711949">
                  <a:extLst>
                    <a:ext uri="{9D8B030D-6E8A-4147-A177-3AD203B41FA5}">
                      <a16:colId xmlns:a16="http://schemas.microsoft.com/office/drawing/2014/main" val="391256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643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First base workshop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614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Adding variant : with individual engagement goals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91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Addition of additional level systems</a:t>
                      </a:r>
                    </a:p>
                    <a:p>
                      <a:r>
                        <a:rPr lang="en-US" sz="1200" dirty="0"/>
                        <a:t>Addition of the #OpenSeriousCommunity Tag &amp; Information</a:t>
                      </a:r>
                    </a:p>
                    <a:p>
                      <a:r>
                        <a:rPr lang="en-US" sz="1200" dirty="0"/>
                        <a:t>Addition of version history</a:t>
                      </a:r>
                    </a:p>
                    <a:p>
                      <a:r>
                        <a:rPr lang="en-US" sz="1200" dirty="0"/>
                        <a:t>Clarification of working assumption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9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30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Engagement Level workshop</a:t>
            </a:r>
            <a:br>
              <a:rPr lang="en-US" sz="2800" dirty="0"/>
            </a:br>
            <a:r>
              <a:rPr lang="en-US" sz="2800" dirty="0"/>
              <a:t>Working assumptions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165393"/>
              </p:ext>
            </p:extLst>
          </p:nvPr>
        </p:nvGraphicFramePr>
        <p:xfrm>
          <a:off x="590919" y="5149695"/>
          <a:ext cx="1139892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9515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57932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“You got my attention”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experience something”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reasons to come again”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feel involved”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“I want to lead something”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“I want to add my own touch”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“I want to gather people around this topic”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pSp>
        <p:nvGrpSpPr>
          <p:cNvPr id="33" name="Groupe 32">
            <a:extLst>
              <a:ext uri="{FF2B5EF4-FFF2-40B4-BE49-F238E27FC236}">
                <a16:creationId xmlns:a16="http://schemas.microsoft.com/office/drawing/2014/main" id="{50B7F87B-8164-4968-BF0E-5009D38D0414}"/>
              </a:ext>
            </a:extLst>
          </p:cNvPr>
          <p:cNvGrpSpPr/>
          <p:nvPr/>
        </p:nvGrpSpPr>
        <p:grpSpPr>
          <a:xfrm>
            <a:off x="150929" y="1955947"/>
            <a:ext cx="11838916" cy="1926454"/>
            <a:chOff x="150929" y="1955947"/>
            <a:chExt cx="11838916" cy="1926454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5CC47CE5-478C-483C-8DB6-39AAEE4C953A}"/>
                </a:ext>
              </a:extLst>
            </p:cNvPr>
            <p:cNvSpPr txBox="1"/>
            <p:nvPr/>
          </p:nvSpPr>
          <p:spPr>
            <a:xfrm>
              <a:off x="10436262" y="3620791"/>
              <a:ext cx="15535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Sense of Belonging</a:t>
              </a:r>
            </a:p>
          </p:txBody>
        </p: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B4E7BA9A-1AA0-4675-A919-C0E87DEBB2D3}"/>
                </a:ext>
              </a:extLst>
            </p:cNvPr>
            <p:cNvGrpSpPr/>
            <p:nvPr/>
          </p:nvGrpSpPr>
          <p:grpSpPr>
            <a:xfrm>
              <a:off x="150929" y="1955947"/>
              <a:ext cx="11743265" cy="1664844"/>
              <a:chOff x="150929" y="1955947"/>
              <a:chExt cx="11743265" cy="1664844"/>
            </a:xfrm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071AB7BD-E7F8-4A84-BA70-2C34707E771B}"/>
                  </a:ext>
                </a:extLst>
              </p:cNvPr>
              <p:cNvGrpSpPr/>
              <p:nvPr/>
            </p:nvGrpSpPr>
            <p:grpSpPr>
              <a:xfrm>
                <a:off x="679054" y="2141130"/>
                <a:ext cx="11215140" cy="1479661"/>
                <a:chOff x="816746" y="2272683"/>
                <a:chExt cx="11215140" cy="1739461"/>
              </a:xfrm>
            </p:grpSpPr>
            <p:cxnSp>
              <p:nvCxnSpPr>
                <p:cNvPr id="4" name="Connecteur droit avec flèche 3">
                  <a:extLst>
                    <a:ext uri="{FF2B5EF4-FFF2-40B4-BE49-F238E27FC236}">
                      <a16:creationId xmlns:a16="http://schemas.microsoft.com/office/drawing/2014/main" id="{829D9CA8-17FB-45B0-907F-D9664C352CCC}"/>
                    </a:ext>
                  </a:extLst>
                </p:cNvPr>
                <p:cNvCxnSpPr/>
                <p:nvPr/>
              </p:nvCxnSpPr>
              <p:spPr>
                <a:xfrm flipV="1">
                  <a:off x="816746" y="2272683"/>
                  <a:ext cx="0" cy="17222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Connecteur droit avec flèche 5">
                  <a:extLst>
                    <a:ext uri="{FF2B5EF4-FFF2-40B4-BE49-F238E27FC236}">
                      <a16:creationId xmlns:a16="http://schemas.microsoft.com/office/drawing/2014/main" id="{C7C6E663-1E2A-43C5-93F5-62B23922E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6746" y="3996430"/>
                  <a:ext cx="11215140" cy="157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74A3F16-D76B-40B4-A66A-756F3C927307}"/>
                  </a:ext>
                </a:extLst>
              </p:cNvPr>
              <p:cNvSpPr txBox="1"/>
              <p:nvPr/>
            </p:nvSpPr>
            <p:spPr>
              <a:xfrm>
                <a:off x="150929" y="1955947"/>
                <a:ext cx="23614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Stimulation</a:t>
                </a:r>
              </a:p>
            </p:txBody>
          </p:sp>
          <p:grpSp>
            <p:nvGrpSpPr>
              <p:cNvPr id="19" name="Groupe 18">
                <a:extLst>
                  <a:ext uri="{FF2B5EF4-FFF2-40B4-BE49-F238E27FC236}">
                    <a16:creationId xmlns:a16="http://schemas.microsoft.com/office/drawing/2014/main" id="{37ACF8FA-7788-4492-9A14-35FB178F2FF9}"/>
                  </a:ext>
                </a:extLst>
              </p:cNvPr>
              <p:cNvGrpSpPr/>
              <p:nvPr/>
            </p:nvGrpSpPr>
            <p:grpSpPr>
              <a:xfrm>
                <a:off x="670820" y="2261686"/>
                <a:ext cx="11016354" cy="1088216"/>
                <a:chOff x="727970" y="2650692"/>
                <a:chExt cx="11016354" cy="1088216"/>
              </a:xfrm>
            </p:grpSpPr>
            <p:sp>
              <p:nvSpPr>
                <p:cNvPr id="17" name="Triangle rectangle 16">
                  <a:extLst>
                    <a:ext uri="{FF2B5EF4-FFF2-40B4-BE49-F238E27FC236}">
                      <a16:creationId xmlns:a16="http://schemas.microsoft.com/office/drawing/2014/main" id="{FA1FEF06-6943-45A6-A70E-CFF46A1CD768}"/>
                    </a:ext>
                  </a:extLst>
                </p:cNvPr>
                <p:cNvSpPr/>
                <p:nvPr/>
              </p:nvSpPr>
              <p:spPr>
                <a:xfrm flipV="1">
                  <a:off x="727970" y="2950558"/>
                  <a:ext cx="11016354" cy="788350"/>
                </a:xfrm>
                <a:prstGeom prst="rtTriangle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FD8B7EE-83EA-45DB-A04D-257192C0FBF9}"/>
                    </a:ext>
                  </a:extLst>
                </p:cNvPr>
                <p:cNvSpPr/>
                <p:nvPr/>
              </p:nvSpPr>
              <p:spPr>
                <a:xfrm>
                  <a:off x="727970" y="2650692"/>
                  <a:ext cx="10949673" cy="298211"/>
                </a:xfrm>
                <a:prstGeom prst="rect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" name="Triangle rectangle 20">
                <a:extLst>
                  <a:ext uri="{FF2B5EF4-FFF2-40B4-BE49-F238E27FC236}">
                    <a16:creationId xmlns:a16="http://schemas.microsoft.com/office/drawing/2014/main" id="{B1212DDD-3C92-4E7E-971B-9EAF47007942}"/>
                  </a:ext>
                </a:extLst>
              </p:cNvPr>
              <p:cNvSpPr/>
              <p:nvPr/>
            </p:nvSpPr>
            <p:spPr>
              <a:xfrm flipH="1">
                <a:off x="2152649" y="2911069"/>
                <a:ext cx="9467845" cy="695726"/>
              </a:xfrm>
              <a:prstGeom prst="rtTriangle">
                <a:avLst/>
              </a:prstGeom>
              <a:solidFill>
                <a:srgbClr val="EC7B2B">
                  <a:alpha val="6902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4963006-0B4A-44B2-93A3-17C53D735387}"/>
                  </a:ext>
                </a:extLst>
              </p:cNvPr>
              <p:cNvSpPr txBox="1"/>
              <p:nvPr/>
            </p:nvSpPr>
            <p:spPr>
              <a:xfrm>
                <a:off x="794524" y="2310713"/>
                <a:ext cx="469300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/>
                  <a:t>Common mistake : Asking for too much</a:t>
                </a:r>
              </a:p>
              <a:p>
                <a:r>
                  <a:rPr lang="en-US" sz="1000"/>
                  <a:t>Community Members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Feeling spammed</a:t>
                </a:r>
              </a:p>
              <a:p>
                <a:r>
                  <a:rPr lang="en-US" sz="1000"/>
                  <a:t>Community Booster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Frustration 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66E091C-37C1-4A71-BBF6-105A428273C8}"/>
                  </a:ext>
                </a:extLst>
              </p:cNvPr>
              <p:cNvSpPr txBox="1"/>
              <p:nvPr/>
            </p:nvSpPr>
            <p:spPr>
              <a:xfrm>
                <a:off x="7420996" y="3092910"/>
                <a:ext cx="4232838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/>
                  <a:t>Common mistake : Asking for too few</a:t>
                </a:r>
              </a:p>
              <a:p>
                <a:pPr algn="r"/>
                <a:r>
                  <a:rPr lang="en-US" sz="900"/>
                  <a:t>Community Members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Boredom </a:t>
                </a:r>
              </a:p>
              <a:p>
                <a:pPr algn="r"/>
                <a:r>
                  <a:rPr lang="en-US" sz="900"/>
                  <a:t>Community Booster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Missing opportunities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F2A3C6AC-6B68-45E5-97B4-0B9D73D985F8}"/>
                  </a:ext>
                </a:extLst>
              </p:cNvPr>
              <p:cNvSpPr txBox="1"/>
              <p:nvPr/>
            </p:nvSpPr>
            <p:spPr>
              <a:xfrm rot="21393118">
                <a:off x="4136861" y="2967467"/>
                <a:ext cx="40307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0B050"/>
                    </a:solidFill>
                  </a:rPr>
                  <a:t>Flow Zone : Best for stimulation</a:t>
                </a:r>
              </a:p>
            </p:txBody>
          </p:sp>
        </p:grpSp>
      </p:grpSp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0651" y="41258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7655" y="41461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0998" y="41461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3182" y="41871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76525" y="41871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8197" y="41461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33647" y="40948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52504" y="4038031"/>
            <a:ext cx="298183" cy="298183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A626635-2F0A-4EC8-88A7-7B72C0BA9495}"/>
              </a:ext>
            </a:extLst>
          </p:cNvPr>
          <p:cNvSpPr txBox="1"/>
          <p:nvPr/>
        </p:nvSpPr>
        <p:spPr>
          <a:xfrm>
            <a:off x="330692" y="6445761"/>
            <a:ext cx="6416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hlinkClick r:id="rId18"/>
              </a:rPr>
              <a:t>https://en.wikipedia.org/wiki/Flow_(psychology)</a:t>
            </a:r>
            <a:endParaRPr lang="en-US" sz="1100"/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1185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Engagement </a:t>
            </a:r>
            <a:r>
              <a:rPr lang="fr-FR" sz="2800" dirty="0" err="1"/>
              <a:t>Level</a:t>
            </a:r>
            <a:r>
              <a:rPr lang="fr-FR" sz="2800" dirty="0"/>
              <a:t> workshop</a:t>
            </a:r>
            <a:br>
              <a:rPr lang="fr-FR" sz="2800" dirty="0"/>
            </a:br>
            <a:r>
              <a:rPr lang="en-US" sz="2800" dirty="0"/>
              <a:t>Working assumptions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50B7F87B-8164-4968-BF0E-5009D38D0414}"/>
              </a:ext>
            </a:extLst>
          </p:cNvPr>
          <p:cNvGrpSpPr/>
          <p:nvPr/>
        </p:nvGrpSpPr>
        <p:grpSpPr>
          <a:xfrm>
            <a:off x="150929" y="1955947"/>
            <a:ext cx="11838916" cy="1926454"/>
            <a:chOff x="150929" y="1955947"/>
            <a:chExt cx="11838916" cy="1926454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5CC47CE5-478C-483C-8DB6-39AAEE4C953A}"/>
                </a:ext>
              </a:extLst>
            </p:cNvPr>
            <p:cNvSpPr txBox="1"/>
            <p:nvPr/>
          </p:nvSpPr>
          <p:spPr>
            <a:xfrm>
              <a:off x="10436262" y="3620791"/>
              <a:ext cx="15535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Sense of Belonging</a:t>
              </a:r>
            </a:p>
          </p:txBody>
        </p: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B4E7BA9A-1AA0-4675-A919-C0E87DEBB2D3}"/>
                </a:ext>
              </a:extLst>
            </p:cNvPr>
            <p:cNvGrpSpPr/>
            <p:nvPr/>
          </p:nvGrpSpPr>
          <p:grpSpPr>
            <a:xfrm>
              <a:off x="150929" y="1955947"/>
              <a:ext cx="11743265" cy="1664844"/>
              <a:chOff x="150929" y="1955947"/>
              <a:chExt cx="11743265" cy="1664844"/>
            </a:xfrm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071AB7BD-E7F8-4A84-BA70-2C34707E771B}"/>
                  </a:ext>
                </a:extLst>
              </p:cNvPr>
              <p:cNvGrpSpPr/>
              <p:nvPr/>
            </p:nvGrpSpPr>
            <p:grpSpPr>
              <a:xfrm>
                <a:off x="679054" y="2141130"/>
                <a:ext cx="11215140" cy="1479661"/>
                <a:chOff x="816746" y="2272683"/>
                <a:chExt cx="11215140" cy="1739461"/>
              </a:xfrm>
            </p:grpSpPr>
            <p:cxnSp>
              <p:nvCxnSpPr>
                <p:cNvPr id="4" name="Connecteur droit avec flèche 3">
                  <a:extLst>
                    <a:ext uri="{FF2B5EF4-FFF2-40B4-BE49-F238E27FC236}">
                      <a16:creationId xmlns:a16="http://schemas.microsoft.com/office/drawing/2014/main" id="{829D9CA8-17FB-45B0-907F-D9664C352CCC}"/>
                    </a:ext>
                  </a:extLst>
                </p:cNvPr>
                <p:cNvCxnSpPr/>
                <p:nvPr/>
              </p:nvCxnSpPr>
              <p:spPr>
                <a:xfrm flipV="1">
                  <a:off x="816746" y="2272683"/>
                  <a:ext cx="0" cy="17222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Connecteur droit avec flèche 5">
                  <a:extLst>
                    <a:ext uri="{FF2B5EF4-FFF2-40B4-BE49-F238E27FC236}">
                      <a16:creationId xmlns:a16="http://schemas.microsoft.com/office/drawing/2014/main" id="{C7C6E663-1E2A-43C5-93F5-62B23922E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6746" y="3996430"/>
                  <a:ext cx="11215140" cy="157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74A3F16-D76B-40B4-A66A-756F3C927307}"/>
                  </a:ext>
                </a:extLst>
              </p:cNvPr>
              <p:cNvSpPr txBox="1"/>
              <p:nvPr/>
            </p:nvSpPr>
            <p:spPr>
              <a:xfrm>
                <a:off x="150929" y="1955947"/>
                <a:ext cx="23614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Stimulation</a:t>
                </a:r>
              </a:p>
            </p:txBody>
          </p:sp>
          <p:grpSp>
            <p:nvGrpSpPr>
              <p:cNvPr id="19" name="Groupe 18">
                <a:extLst>
                  <a:ext uri="{FF2B5EF4-FFF2-40B4-BE49-F238E27FC236}">
                    <a16:creationId xmlns:a16="http://schemas.microsoft.com/office/drawing/2014/main" id="{37ACF8FA-7788-4492-9A14-35FB178F2FF9}"/>
                  </a:ext>
                </a:extLst>
              </p:cNvPr>
              <p:cNvGrpSpPr/>
              <p:nvPr/>
            </p:nvGrpSpPr>
            <p:grpSpPr>
              <a:xfrm>
                <a:off x="670820" y="2261686"/>
                <a:ext cx="11016354" cy="1088216"/>
                <a:chOff x="727970" y="2650692"/>
                <a:chExt cx="11016354" cy="1088216"/>
              </a:xfrm>
            </p:grpSpPr>
            <p:sp>
              <p:nvSpPr>
                <p:cNvPr id="17" name="Triangle rectangle 16">
                  <a:extLst>
                    <a:ext uri="{FF2B5EF4-FFF2-40B4-BE49-F238E27FC236}">
                      <a16:creationId xmlns:a16="http://schemas.microsoft.com/office/drawing/2014/main" id="{FA1FEF06-6943-45A6-A70E-CFF46A1CD768}"/>
                    </a:ext>
                  </a:extLst>
                </p:cNvPr>
                <p:cNvSpPr/>
                <p:nvPr/>
              </p:nvSpPr>
              <p:spPr>
                <a:xfrm flipV="1">
                  <a:off x="727970" y="2950558"/>
                  <a:ext cx="11016354" cy="788350"/>
                </a:xfrm>
                <a:prstGeom prst="rtTriangle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FD8B7EE-83EA-45DB-A04D-257192C0FBF9}"/>
                    </a:ext>
                  </a:extLst>
                </p:cNvPr>
                <p:cNvSpPr/>
                <p:nvPr/>
              </p:nvSpPr>
              <p:spPr>
                <a:xfrm>
                  <a:off x="727970" y="2650692"/>
                  <a:ext cx="10949673" cy="298211"/>
                </a:xfrm>
                <a:prstGeom prst="rect">
                  <a:avLst/>
                </a:prstGeom>
                <a:solidFill>
                  <a:srgbClr val="EC7B2B">
                    <a:alpha val="6902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" name="Triangle rectangle 20">
                <a:extLst>
                  <a:ext uri="{FF2B5EF4-FFF2-40B4-BE49-F238E27FC236}">
                    <a16:creationId xmlns:a16="http://schemas.microsoft.com/office/drawing/2014/main" id="{B1212DDD-3C92-4E7E-971B-9EAF47007942}"/>
                  </a:ext>
                </a:extLst>
              </p:cNvPr>
              <p:cNvSpPr/>
              <p:nvPr/>
            </p:nvSpPr>
            <p:spPr>
              <a:xfrm flipH="1">
                <a:off x="2152649" y="2911069"/>
                <a:ext cx="9467845" cy="695726"/>
              </a:xfrm>
              <a:prstGeom prst="rtTriangle">
                <a:avLst/>
              </a:prstGeom>
              <a:solidFill>
                <a:srgbClr val="EC7B2B">
                  <a:alpha val="6902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4963006-0B4A-44B2-93A3-17C53D735387}"/>
                  </a:ext>
                </a:extLst>
              </p:cNvPr>
              <p:cNvSpPr txBox="1"/>
              <p:nvPr/>
            </p:nvSpPr>
            <p:spPr>
              <a:xfrm>
                <a:off x="794524" y="2310713"/>
                <a:ext cx="469300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/>
                  <a:t>Common mistake : Asking for too much</a:t>
                </a:r>
              </a:p>
              <a:p>
                <a:r>
                  <a:rPr lang="en-US" sz="1000"/>
                  <a:t>Community Members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Feeling spammed</a:t>
                </a:r>
              </a:p>
              <a:p>
                <a:r>
                  <a:rPr lang="en-US" sz="1000"/>
                  <a:t>Community Booster </a:t>
                </a:r>
                <a:r>
                  <a:rPr lang="en-US" sz="1000">
                    <a:sym typeface="Wingdings" panose="05000000000000000000" pitchFamily="2" charset="2"/>
                  </a:rPr>
                  <a:t></a:t>
                </a:r>
                <a:r>
                  <a:rPr lang="en-US" sz="1000"/>
                  <a:t> Frustration 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66E091C-37C1-4A71-BBF6-105A428273C8}"/>
                  </a:ext>
                </a:extLst>
              </p:cNvPr>
              <p:cNvSpPr txBox="1"/>
              <p:nvPr/>
            </p:nvSpPr>
            <p:spPr>
              <a:xfrm>
                <a:off x="7420996" y="3092910"/>
                <a:ext cx="4232838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/>
                  <a:t>Common mistake : Asking for too few</a:t>
                </a:r>
              </a:p>
              <a:p>
                <a:pPr algn="r"/>
                <a:r>
                  <a:rPr lang="en-US" sz="900"/>
                  <a:t>Community Members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Boredom </a:t>
                </a:r>
              </a:p>
              <a:p>
                <a:pPr algn="r"/>
                <a:r>
                  <a:rPr lang="en-US" sz="900"/>
                  <a:t>Community Booster </a:t>
                </a:r>
                <a:r>
                  <a:rPr lang="en-US" sz="900">
                    <a:sym typeface="Wingdings" panose="05000000000000000000" pitchFamily="2" charset="2"/>
                  </a:rPr>
                  <a:t></a:t>
                </a:r>
                <a:r>
                  <a:rPr lang="en-US" sz="900"/>
                  <a:t> Missing opportunities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F2A3C6AC-6B68-45E5-97B4-0B9D73D985F8}"/>
                  </a:ext>
                </a:extLst>
              </p:cNvPr>
              <p:cNvSpPr txBox="1"/>
              <p:nvPr/>
            </p:nvSpPr>
            <p:spPr>
              <a:xfrm rot="21393118">
                <a:off x="4136861" y="2967467"/>
                <a:ext cx="40307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0B050"/>
                    </a:solidFill>
                  </a:rPr>
                  <a:t>Flow Zone : Best for stimulation</a:t>
                </a:r>
              </a:p>
            </p:txBody>
          </p:sp>
        </p:grp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704DF3-5B29-2E1C-1F8C-4E3F0AE81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4002402"/>
            <a:ext cx="10168128" cy="21697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The workshop assumes that </a:t>
            </a:r>
          </a:p>
          <a:p>
            <a:pPr>
              <a:buFontTx/>
              <a:buChar char="-"/>
            </a:pPr>
            <a:r>
              <a:rPr lang="en-US" sz="1600" dirty="0"/>
              <a:t>every member (or potential member) has, at a time t, a  “engagement level” towards a Community</a:t>
            </a:r>
          </a:p>
          <a:p>
            <a:pPr>
              <a:buFontTx/>
              <a:buChar char="-"/>
            </a:pPr>
            <a:r>
              <a:rPr lang="en-US" sz="1600" dirty="0"/>
              <a:t>This engagement level can vary over time</a:t>
            </a:r>
          </a:p>
          <a:p>
            <a:pPr>
              <a:buFontTx/>
              <a:buChar char="-"/>
            </a:pPr>
            <a:r>
              <a:rPr lang="en-US" sz="1600" dirty="0"/>
              <a:t>Requesting more engagement from a member than his/her current engagement level, can decrease the engagement level (member is feeling spammed)</a:t>
            </a:r>
          </a:p>
          <a:p>
            <a:pPr>
              <a:buFontTx/>
              <a:buChar char="-"/>
            </a:pPr>
            <a:r>
              <a:rPr lang="en-US" sz="1600" dirty="0"/>
              <a:t>Requesting less engagement from a member than his/her current engagement level, can decrease the engagement level (member is feeling boredom)</a:t>
            </a:r>
          </a:p>
          <a:p>
            <a:pPr>
              <a:buFontTx/>
              <a:buChar char="-"/>
            </a:pPr>
            <a:r>
              <a:rPr lang="en-US" sz="1600" dirty="0"/>
              <a:t>Feeling respected in one’s current engagement level can increase engagement level over time</a:t>
            </a:r>
          </a:p>
        </p:txBody>
      </p:sp>
    </p:spTree>
    <p:extLst>
      <p:ext uri="{BB962C8B-B14F-4D97-AF65-F5344CB8AC3E}">
        <p14:creationId xmlns:p14="http://schemas.microsoft.com/office/powerpoint/2010/main" val="3066423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229"/>
    </mc:Choice>
    <mc:Fallback>
      <p:transition spd="slow" advTm="1082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20323"/>
          </a:xfrm>
        </p:spPr>
        <p:txBody>
          <a:bodyPr>
            <a:noAutofit/>
          </a:bodyPr>
          <a:lstStyle/>
          <a:p>
            <a:r>
              <a:rPr lang="en-US" sz="2400" dirty="0"/>
              <a:t>Engagement Level workshop</a:t>
            </a:r>
            <a:br>
              <a:rPr lang="en-US" sz="2400" dirty="0"/>
            </a:br>
            <a:r>
              <a:rPr lang="en-US" sz="2400" dirty="0"/>
              <a:t>What the basic level system means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866786"/>
              </p:ext>
            </p:extLst>
          </p:nvPr>
        </p:nvGraphicFramePr>
        <p:xfrm>
          <a:off x="320532" y="2656839"/>
          <a:ext cx="11588320" cy="3981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40">
                  <a:extLst>
                    <a:ext uri="{9D8B030D-6E8A-4147-A177-3AD203B41FA5}">
                      <a16:colId xmlns:a16="http://schemas.microsoft.com/office/drawing/2014/main" val="1210142047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27421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2322"/>
                  </a:ext>
                </a:extLst>
              </a:tr>
              <a:tr h="521731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152506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What members are ready to give to the community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 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WILLINGNESS TO CONTRIBUTE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 WILLINGNESS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+WILLINGNESS TO TAKE RESPONSIBILITIES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WILLING 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TAKE RESPONSIBILITIES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BUILD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ATTENTION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ENOUGH TIME TO EXPERIMENT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RECURRING ATTENDANCE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 WILLINGNESS TO CONTRIBUTE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TAKE RESPONSIBILITIES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BUILD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+WILLINGNESS TO RALLY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15336"/>
                  </a:ext>
                </a:extLst>
              </a:tr>
              <a:tr h="1043462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What members can possibly expect from the Community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Interesting 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Pleasant experience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Interest and Utility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Usefulness of community or  content experience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Feeling of being active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Concrete effects resulting from one’s action</a:t>
                      </a:r>
                    </a:p>
                    <a:p>
                      <a:pPr algn="l"/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- Sense of belonging in something bigger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Better self-image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Alignment of values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Responsibilities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Risk of loss and more  meaningful success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Challenge and opportunity to succeed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A space to express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Support and tools for creativity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- Feeling of being aligned with oneself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Posterity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Significance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Unattended crowds to conquer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Significance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Large Vision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104871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087C4F50-B231-42E1-B01C-DDA22F3AD2CF}"/>
              </a:ext>
            </a:extLst>
          </p:cNvPr>
          <p:cNvGrpSpPr/>
          <p:nvPr/>
        </p:nvGrpSpPr>
        <p:grpSpPr>
          <a:xfrm>
            <a:off x="2274558" y="1841401"/>
            <a:ext cx="9596910" cy="916410"/>
            <a:chOff x="1900629" y="1202922"/>
            <a:chExt cx="10542118" cy="1006668"/>
          </a:xfrm>
        </p:grpSpPr>
        <p:pic>
          <p:nvPicPr>
            <p:cNvPr id="4" name="Graphique 3" descr="Une artiste avec un remplissage uni">
              <a:extLst>
                <a:ext uri="{FF2B5EF4-FFF2-40B4-BE49-F238E27FC236}">
                  <a16:creationId xmlns:a16="http://schemas.microsoft.com/office/drawing/2014/main" id="{810F6C66-2740-4B77-907C-81B8FA93C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13083" y="1233936"/>
              <a:ext cx="914400" cy="914400"/>
            </a:xfrm>
            <a:prstGeom prst="rect">
              <a:avLst/>
            </a:prstGeom>
          </p:spPr>
        </p:pic>
        <p:pic>
          <p:nvPicPr>
            <p:cNvPr id="6" name="Graphique 5" descr="Employée de bureau avec un remplissage uni">
              <a:extLst>
                <a:ext uri="{FF2B5EF4-FFF2-40B4-BE49-F238E27FC236}">
                  <a16:creationId xmlns:a16="http://schemas.microsoft.com/office/drawing/2014/main" id="{2428B53D-1721-4057-B67B-B473AFBCB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90087" y="1254253"/>
              <a:ext cx="914400" cy="914400"/>
            </a:xfrm>
            <a:prstGeom prst="rect">
              <a:avLst/>
            </a:prstGeom>
          </p:spPr>
        </p:pic>
        <p:pic>
          <p:nvPicPr>
            <p:cNvPr id="7" name="Graphique 6" descr="Profil femelle avec un remplissage uni">
              <a:extLst>
                <a:ext uri="{FF2B5EF4-FFF2-40B4-BE49-F238E27FC236}">
                  <a16:creationId xmlns:a16="http://schemas.microsoft.com/office/drawing/2014/main" id="{062DB206-39D8-4B3C-BD13-3DBF65E66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33430" y="1254253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Femme agricultrice avec un remplissage uni">
              <a:extLst>
                <a:ext uri="{FF2B5EF4-FFF2-40B4-BE49-F238E27FC236}">
                  <a16:creationId xmlns:a16="http://schemas.microsoft.com/office/drawing/2014/main" id="{17D25DE1-D68C-48C9-9789-1053970B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5614" y="1295190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Femme DJ avec un remplissage uni">
              <a:extLst>
                <a:ext uri="{FF2B5EF4-FFF2-40B4-BE49-F238E27FC236}">
                  <a16:creationId xmlns:a16="http://schemas.microsoft.com/office/drawing/2014/main" id="{2B99E496-4F89-4E99-A7D5-F98B02B9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02812" y="1254253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Écolière avec un remplissage uni">
              <a:extLst>
                <a:ext uri="{FF2B5EF4-FFF2-40B4-BE49-F238E27FC236}">
                  <a16:creationId xmlns:a16="http://schemas.microsoft.com/office/drawing/2014/main" id="{287C0414-2195-4AD5-BA54-B2C74234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0629" y="125425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Héroïne avec un remplissage uni">
              <a:extLst>
                <a:ext uri="{FF2B5EF4-FFF2-40B4-BE49-F238E27FC236}">
                  <a16:creationId xmlns:a16="http://schemas.microsoft.com/office/drawing/2014/main" id="{B3430447-F5EA-4AF1-A1AF-F06A10FF0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36079" y="1202922"/>
              <a:ext cx="1006668" cy="1006668"/>
            </a:xfrm>
            <a:prstGeom prst="rect">
              <a:avLst/>
            </a:prstGeom>
          </p:spPr>
        </p:pic>
      </p:grpSp>
      <p:pic>
        <p:nvPicPr>
          <p:cNvPr id="12" name="Graphique 11" descr="Deux cœurs avec un remplissage uni">
            <a:extLst>
              <a:ext uri="{FF2B5EF4-FFF2-40B4-BE49-F238E27FC236}">
                <a16:creationId xmlns:a16="http://schemas.microsoft.com/office/drawing/2014/main" id="{4DCD1409-EDE8-4556-88E5-6E0DD3452F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423" y="1888130"/>
            <a:ext cx="188517" cy="1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6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72"/>
    </mc:Choice>
    <mc:Fallback xmlns="">
      <p:transition spd="slow" advTm="7707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20323"/>
          </a:xfrm>
        </p:spPr>
        <p:txBody>
          <a:bodyPr>
            <a:noAutofit/>
          </a:bodyPr>
          <a:lstStyle/>
          <a:p>
            <a:r>
              <a:rPr lang="en-US" sz="2400" dirty="0"/>
              <a:t>Engagement Level workshop</a:t>
            </a:r>
            <a:br>
              <a:rPr lang="en-US" sz="2400" dirty="0"/>
            </a:br>
            <a:r>
              <a:rPr lang="en-US" sz="2400" dirty="0"/>
              <a:t>Example activities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36818"/>
              </p:ext>
            </p:extLst>
          </p:nvPr>
        </p:nvGraphicFramePr>
        <p:xfrm>
          <a:off x="1882005" y="2695814"/>
          <a:ext cx="10139780" cy="3889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40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448540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2742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2322"/>
                  </a:ext>
                </a:extLst>
              </a:tr>
              <a:tr h="52173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  <a:tr h="152506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Subscribe to a content thread (social media account, etc.) 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Agree to receive content (newsletters, brochure, etc.)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Join a messaging room (or get invited to it)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Watch or listen to an online content.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Attend to an event in which you can act passively : Inspirational speaker, presentation, etc.</a:t>
                      </a:r>
                    </a:p>
                    <a:p>
                      <a:endParaRPr lang="en-US" sz="1100" noProof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Introduce yourself to other members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Answer to a quiz, a poll or a study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React to a content (with likes, etc)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Follow an online course with online exams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Ask questions after or participate to discussions among peers after an event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Actively review &amp; comment content (article, video, …), write down a feedback</a:t>
                      </a:r>
                    </a:p>
                    <a:p>
                      <a:endParaRPr lang="en-US" sz="11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Post external content in the Community messaging room </a:t>
                      </a:r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Co-author a common deliverable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Host a collective intelligence workshop 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Participate to an active pedagogy training</a:t>
                      </a:r>
                    </a:p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Prepare an event outside of the Community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Manage a Community task from A to Z</a:t>
                      </a:r>
                    </a:p>
                    <a:p>
                      <a:endParaRPr lang="en-US" sz="1100" noProof="0" dirty="0"/>
                    </a:p>
                    <a:p>
                      <a:r>
                        <a:rPr lang="en-US" sz="1100" noProof="0" dirty="0"/>
                        <a:t>Take an official Community role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Organize a working group (set up a team, define goals, organize planning, produce, share, etc.)</a:t>
                      </a:r>
                    </a:p>
                    <a:p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Design an event and host 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Create original content by yourself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Design the community roadmap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Organize the Community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Manage conflicts within and with the Community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Structure Community processes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bg1"/>
                          </a:solidFill>
                        </a:rPr>
                        <a:t>Do whatever is not covered by roles of previous levels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15336"/>
                  </a:ext>
                </a:extLst>
              </a:tr>
            </a:tbl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087C4F50-B231-42E1-B01C-DDA22F3AD2CF}"/>
              </a:ext>
            </a:extLst>
          </p:cNvPr>
          <p:cNvGrpSpPr/>
          <p:nvPr/>
        </p:nvGrpSpPr>
        <p:grpSpPr>
          <a:xfrm>
            <a:off x="2274558" y="1841401"/>
            <a:ext cx="9596910" cy="916410"/>
            <a:chOff x="1900629" y="1202922"/>
            <a:chExt cx="10542118" cy="1006668"/>
          </a:xfrm>
        </p:grpSpPr>
        <p:pic>
          <p:nvPicPr>
            <p:cNvPr id="4" name="Graphique 3" descr="Une artiste avec un remplissage uni">
              <a:extLst>
                <a:ext uri="{FF2B5EF4-FFF2-40B4-BE49-F238E27FC236}">
                  <a16:creationId xmlns:a16="http://schemas.microsoft.com/office/drawing/2014/main" id="{810F6C66-2740-4B77-907C-81B8FA93C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13083" y="1233936"/>
              <a:ext cx="914400" cy="914400"/>
            </a:xfrm>
            <a:prstGeom prst="rect">
              <a:avLst/>
            </a:prstGeom>
          </p:spPr>
        </p:pic>
        <p:pic>
          <p:nvPicPr>
            <p:cNvPr id="6" name="Graphique 5" descr="Employée de bureau avec un remplissage uni">
              <a:extLst>
                <a:ext uri="{FF2B5EF4-FFF2-40B4-BE49-F238E27FC236}">
                  <a16:creationId xmlns:a16="http://schemas.microsoft.com/office/drawing/2014/main" id="{2428B53D-1721-4057-B67B-B473AFBCB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90087" y="1254253"/>
              <a:ext cx="914400" cy="914400"/>
            </a:xfrm>
            <a:prstGeom prst="rect">
              <a:avLst/>
            </a:prstGeom>
          </p:spPr>
        </p:pic>
        <p:pic>
          <p:nvPicPr>
            <p:cNvPr id="7" name="Graphique 6" descr="Profil femelle avec un remplissage uni">
              <a:extLst>
                <a:ext uri="{FF2B5EF4-FFF2-40B4-BE49-F238E27FC236}">
                  <a16:creationId xmlns:a16="http://schemas.microsoft.com/office/drawing/2014/main" id="{062DB206-39D8-4B3C-BD13-3DBF65E66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33430" y="1254253"/>
              <a:ext cx="914400" cy="914400"/>
            </a:xfrm>
            <a:prstGeom prst="rect">
              <a:avLst/>
            </a:prstGeom>
          </p:spPr>
        </p:pic>
        <p:pic>
          <p:nvPicPr>
            <p:cNvPr id="8" name="Graphique 7" descr="Femme agricultrice avec un remplissage uni">
              <a:extLst>
                <a:ext uri="{FF2B5EF4-FFF2-40B4-BE49-F238E27FC236}">
                  <a16:creationId xmlns:a16="http://schemas.microsoft.com/office/drawing/2014/main" id="{17D25DE1-D68C-48C9-9789-1053970B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5614" y="1295190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Femme DJ avec un remplissage uni">
              <a:extLst>
                <a:ext uri="{FF2B5EF4-FFF2-40B4-BE49-F238E27FC236}">
                  <a16:creationId xmlns:a16="http://schemas.microsoft.com/office/drawing/2014/main" id="{2B99E496-4F89-4E99-A7D5-F98B02B9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02812" y="1254253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Écolière avec un remplissage uni">
              <a:extLst>
                <a:ext uri="{FF2B5EF4-FFF2-40B4-BE49-F238E27FC236}">
                  <a16:creationId xmlns:a16="http://schemas.microsoft.com/office/drawing/2014/main" id="{287C0414-2195-4AD5-BA54-B2C74234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0629" y="1254253"/>
              <a:ext cx="914400" cy="914400"/>
            </a:xfrm>
            <a:prstGeom prst="rect">
              <a:avLst/>
            </a:prstGeom>
          </p:spPr>
        </p:pic>
        <p:pic>
          <p:nvPicPr>
            <p:cNvPr id="11" name="Graphique 10" descr="Héroïne avec un remplissage uni">
              <a:extLst>
                <a:ext uri="{FF2B5EF4-FFF2-40B4-BE49-F238E27FC236}">
                  <a16:creationId xmlns:a16="http://schemas.microsoft.com/office/drawing/2014/main" id="{B3430447-F5EA-4AF1-A1AF-F06A10FF0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36079" y="1202922"/>
              <a:ext cx="1006668" cy="1006668"/>
            </a:xfrm>
            <a:prstGeom prst="rect">
              <a:avLst/>
            </a:prstGeom>
          </p:spPr>
        </p:pic>
      </p:grpSp>
      <p:pic>
        <p:nvPicPr>
          <p:cNvPr id="12" name="Graphique 11" descr="Deux cœurs avec un remplissage uni">
            <a:extLst>
              <a:ext uri="{FF2B5EF4-FFF2-40B4-BE49-F238E27FC236}">
                <a16:creationId xmlns:a16="http://schemas.microsoft.com/office/drawing/2014/main" id="{4DCD1409-EDE8-4556-88E5-6E0DD3452F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423" y="1888130"/>
            <a:ext cx="188517" cy="1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0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72"/>
    </mc:Choice>
    <mc:Fallback xmlns="">
      <p:transition spd="slow" advTm="7707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8118BD-9AED-2835-CA98-B4D133DE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Changing the level system to other dimensions</a:t>
            </a:r>
            <a:br>
              <a:rPr lang="en-US" sz="2800" dirty="0"/>
            </a:br>
            <a:r>
              <a:rPr lang="en-US" sz="2800" dirty="0"/>
              <a:t>Examples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0FF8946-2D5D-6AFC-344F-E726F491DC7C}"/>
              </a:ext>
            </a:extLst>
          </p:cNvPr>
          <p:cNvSpPr txBox="1"/>
          <p:nvPr/>
        </p:nvSpPr>
        <p:spPr>
          <a:xfrm>
            <a:off x="541464" y="2386728"/>
            <a:ext cx="256295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There are multiple ways to define engagement levels.</a:t>
            </a:r>
          </a:p>
          <a:p>
            <a:endParaRPr lang="en-US" sz="1400" dirty="0"/>
          </a:p>
          <a:p>
            <a:r>
              <a:rPr lang="en-US" sz="1400" dirty="0"/>
              <a:t>The definition of Engagement levels can be adjusted to facilitate decision making about community activities, within the condition that the levels are easily understandable by workshop participants.</a:t>
            </a:r>
          </a:p>
          <a:p>
            <a:endParaRPr lang="en-US" sz="1400" noProof="0" dirty="0"/>
          </a:p>
          <a:p>
            <a:r>
              <a:rPr lang="en-US" sz="1400" dirty="0"/>
              <a:t>As inspiration, here are other examples to use. You can also choose to set less levels or more levels to make the scale simpler or more details</a:t>
            </a:r>
            <a:endParaRPr lang="en-US" sz="1400" noProof="0" dirty="0"/>
          </a:p>
        </p:txBody>
      </p:sp>
      <p:graphicFrame>
        <p:nvGraphicFramePr>
          <p:cNvPr id="16" name="Tableau 5">
            <a:extLst>
              <a:ext uri="{FF2B5EF4-FFF2-40B4-BE49-F238E27FC236}">
                <a16:creationId xmlns:a16="http://schemas.microsoft.com/office/drawing/2014/main" id="{1EF91333-C672-D3E5-C732-D35E85385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445834"/>
              </p:ext>
            </p:extLst>
          </p:nvPr>
        </p:nvGraphicFramePr>
        <p:xfrm>
          <a:off x="3612518" y="1927745"/>
          <a:ext cx="819442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632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Just informed of Community activities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Participating in Community activities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Regular participation to Community activities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Contributing to organization of Community activities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Leading Community activities 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Contributing to activities and to organization of Community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All the previous levels + Leading the Community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graphicFrame>
        <p:nvGraphicFramePr>
          <p:cNvPr id="18" name="Tableau 5">
            <a:extLst>
              <a:ext uri="{FF2B5EF4-FFF2-40B4-BE49-F238E27FC236}">
                <a16:creationId xmlns:a16="http://schemas.microsoft.com/office/drawing/2014/main" id="{FB468F1C-34CB-1F56-17D4-8802F9549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422626"/>
              </p:ext>
            </p:extLst>
          </p:nvPr>
        </p:nvGraphicFramePr>
        <p:xfrm>
          <a:off x="3612518" y="3736777"/>
          <a:ext cx="8194424" cy="87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632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&lt;15 minutes occasionally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15min-1h occasionally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1h-3h occasionally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More than 3h occasionally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 min-1h regularly (&gt;15 min a week)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1h-3h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Regularly (&gt; 1h a week)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More than 3h regularly (&gt;3h a week)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6FB527A-D320-DDA1-AC13-51D6969523F4}"/>
              </a:ext>
            </a:extLst>
          </p:cNvPr>
          <p:cNvSpPr txBox="1"/>
          <p:nvPr/>
        </p:nvSpPr>
        <p:spPr>
          <a:xfrm>
            <a:off x="3597014" y="1584217"/>
            <a:ext cx="3127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Levels by type of commitment</a:t>
            </a:r>
            <a:endParaRPr lang="en-US" sz="1400" b="1" noProof="0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830E91D-9B5C-2716-BCB8-3EE9523B1346}"/>
              </a:ext>
            </a:extLst>
          </p:cNvPr>
          <p:cNvSpPr txBox="1"/>
          <p:nvPr/>
        </p:nvSpPr>
        <p:spPr>
          <a:xfrm>
            <a:off x="3521291" y="3429000"/>
            <a:ext cx="532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Levels by amount and regularity of committed time</a:t>
            </a:r>
            <a:endParaRPr lang="en-US" sz="1400" b="1" noProof="0" dirty="0"/>
          </a:p>
        </p:txBody>
      </p:sp>
      <p:graphicFrame>
        <p:nvGraphicFramePr>
          <p:cNvPr id="21" name="Tableau 5">
            <a:extLst>
              <a:ext uri="{FF2B5EF4-FFF2-40B4-BE49-F238E27FC236}">
                <a16:creationId xmlns:a16="http://schemas.microsoft.com/office/drawing/2014/main" id="{848AC1A1-64E7-7FA0-2E91-B798B2B80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632933"/>
              </p:ext>
            </p:extLst>
          </p:nvPr>
        </p:nvGraphicFramePr>
        <p:xfrm>
          <a:off x="3601513" y="5398624"/>
          <a:ext cx="8194424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632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170632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Get informed globally (summaries, etc.) from afar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Get informed in detail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Provide information for deliverables (but no direct contribution)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Contribute to deliverable details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Contribute to details and summarize content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Contribute to details, summaries, and organization of delivery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Covers all that is not covered in the previous levels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0E77A0A-1CB3-F062-72D4-4F005B8F7B07}"/>
              </a:ext>
            </a:extLst>
          </p:cNvPr>
          <p:cNvSpPr txBox="1"/>
          <p:nvPr/>
        </p:nvSpPr>
        <p:spPr>
          <a:xfrm>
            <a:off x="3597014" y="5095407"/>
            <a:ext cx="4870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Levels by contribution to a Community deliverable</a:t>
            </a:r>
            <a:endParaRPr lang="en-US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4230572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Engagement Level workshop variant : </a:t>
            </a:r>
            <a:br>
              <a:rPr lang="en-US" sz="2800" dirty="0"/>
            </a:br>
            <a:r>
              <a:rPr lang="en-US" sz="2800" dirty="0"/>
              <a:t>Adding GOALS for next time period 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/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pic>
        <p:nvPicPr>
          <p:cNvPr id="14" name="Image 13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B696EB01-E4C8-41A5-A492-953881A6FD3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3479552"/>
            <a:ext cx="569795" cy="569795"/>
          </a:xfrm>
          <a:prstGeom prst="rect">
            <a:avLst/>
          </a:prstGeom>
        </p:spPr>
      </p:pic>
      <p:pic>
        <p:nvPicPr>
          <p:cNvPr id="16" name="Image 15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655E41DD-23F6-41F1-9BD2-6484311BE129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3964" y="4078162"/>
            <a:ext cx="569795" cy="569795"/>
          </a:xfrm>
          <a:prstGeom prst="rect">
            <a:avLst/>
          </a:prstGeom>
        </p:spPr>
      </p:pic>
      <p:pic>
        <p:nvPicPr>
          <p:cNvPr id="17" name="Image 16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037D13CC-8A6A-4D6C-9779-BB188DF22C5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42" y="3471335"/>
            <a:ext cx="569795" cy="569795"/>
          </a:xfrm>
          <a:prstGeom prst="rect">
            <a:avLst/>
          </a:prstGeom>
        </p:spPr>
      </p:pic>
      <p:pic>
        <p:nvPicPr>
          <p:cNvPr id="18" name="Image 17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74343B69-B39A-4EDF-8041-B9AD8C164522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737" y="3475693"/>
            <a:ext cx="569795" cy="569795"/>
          </a:xfrm>
          <a:prstGeom prst="rect">
            <a:avLst/>
          </a:prstGeom>
        </p:spPr>
      </p:pic>
      <p:pic>
        <p:nvPicPr>
          <p:cNvPr id="19" name="Image 18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7DE7DF05-DFE6-46BB-9CE1-4C5959A33898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0279" y="4800468"/>
            <a:ext cx="569795" cy="569795"/>
          </a:xfrm>
          <a:prstGeom prst="rect">
            <a:avLst/>
          </a:prstGeom>
        </p:spPr>
      </p:pic>
      <p:pic>
        <p:nvPicPr>
          <p:cNvPr id="21" name="Image 20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288C2095-9453-45E5-BCBA-62041BD6E355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9071" y="4691665"/>
            <a:ext cx="569795" cy="569795"/>
          </a:xfrm>
          <a:prstGeom prst="rect">
            <a:avLst/>
          </a:prstGeom>
        </p:spPr>
      </p:pic>
      <p:pic>
        <p:nvPicPr>
          <p:cNvPr id="22" name="Image 21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418DF618-E468-43A3-B334-7DFCAD9F6229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25" y="6021137"/>
            <a:ext cx="569795" cy="569795"/>
          </a:xfrm>
          <a:prstGeom prst="rect">
            <a:avLst/>
          </a:prstGeom>
        </p:spPr>
      </p:pic>
      <p:pic>
        <p:nvPicPr>
          <p:cNvPr id="23" name="Image 22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2288E470-715B-4D58-BC32-4070AFE5804C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7496" y="3466434"/>
            <a:ext cx="569795" cy="569795"/>
          </a:xfrm>
          <a:prstGeom prst="rect">
            <a:avLst/>
          </a:prstGeom>
        </p:spPr>
      </p:pic>
      <p:pic>
        <p:nvPicPr>
          <p:cNvPr id="24" name="Image 23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ABF73D53-C154-4AB5-A2A7-D4D2146A3C07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544" y="5305168"/>
            <a:ext cx="569795" cy="569795"/>
          </a:xfrm>
          <a:prstGeom prst="rect">
            <a:avLst/>
          </a:prstGeom>
        </p:spPr>
      </p:pic>
      <p:pic>
        <p:nvPicPr>
          <p:cNvPr id="25" name="Image 24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30F6B8D1-A091-4DFC-AC34-46C5F338D7B8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4958" y="3510401"/>
            <a:ext cx="569795" cy="569795"/>
          </a:xfrm>
          <a:prstGeom prst="rect">
            <a:avLst/>
          </a:prstGeom>
        </p:spPr>
      </p:pic>
      <p:pic>
        <p:nvPicPr>
          <p:cNvPr id="26" name="Image 25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49013062-5F00-474D-B843-EFA7FF751D2B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1498" y="4193240"/>
            <a:ext cx="569795" cy="569795"/>
          </a:xfrm>
          <a:prstGeom prst="rect">
            <a:avLst/>
          </a:prstGeom>
        </p:spPr>
      </p:pic>
      <p:pic>
        <p:nvPicPr>
          <p:cNvPr id="30" name="Image 29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F72603E6-CCFA-4994-BF61-8A768F2E09CF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786237"/>
            <a:ext cx="569795" cy="569795"/>
          </a:xfrm>
          <a:prstGeom prst="rect">
            <a:avLst/>
          </a:prstGeom>
        </p:spPr>
      </p:pic>
      <p:pic>
        <p:nvPicPr>
          <p:cNvPr id="32" name="Image 3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2279E222-24B2-46ED-BDF6-35B2F7B4C724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808" y="4103748"/>
            <a:ext cx="569795" cy="569795"/>
          </a:xfrm>
          <a:prstGeom prst="rect">
            <a:avLst/>
          </a:prstGeom>
        </p:spPr>
      </p:pic>
      <p:pic>
        <p:nvPicPr>
          <p:cNvPr id="33" name="Image 3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B28B3B8B-6004-46B1-A5D9-E998BDF06ACB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258" y="3479552"/>
            <a:ext cx="569795" cy="569795"/>
          </a:xfrm>
          <a:prstGeom prst="rect">
            <a:avLst/>
          </a:prstGeom>
        </p:spPr>
      </p:pic>
      <p:pic>
        <p:nvPicPr>
          <p:cNvPr id="34" name="Image 3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30147B6E-E1AD-441D-A186-EB68906562CF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3965" y="3471983"/>
            <a:ext cx="569795" cy="569795"/>
          </a:xfrm>
          <a:prstGeom prst="rect">
            <a:avLst/>
          </a:prstGeom>
        </p:spPr>
      </p:pic>
      <p:pic>
        <p:nvPicPr>
          <p:cNvPr id="35" name="Image 34" descr="Une image contenant personne, mur, intérieur, jeune&#10;&#10;Description générée automatiquement">
            <a:extLst>
              <a:ext uri="{FF2B5EF4-FFF2-40B4-BE49-F238E27FC236}">
                <a16:creationId xmlns:a16="http://schemas.microsoft.com/office/drawing/2014/main" id="{254D3FED-76A0-40A6-9502-82C233BDA66B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8385" y="3451572"/>
            <a:ext cx="569795" cy="569795"/>
          </a:xfrm>
          <a:prstGeom prst="rect">
            <a:avLst/>
          </a:prstGeom>
        </p:spPr>
      </p:pic>
      <p:pic>
        <p:nvPicPr>
          <p:cNvPr id="36" name="Image 3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2CDE586E-407F-4D73-B367-3269D3EA32FB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4158990"/>
            <a:ext cx="569795" cy="569795"/>
          </a:xfrm>
          <a:prstGeom prst="rect">
            <a:avLst/>
          </a:prstGeom>
        </p:spPr>
      </p:pic>
      <p:pic>
        <p:nvPicPr>
          <p:cNvPr id="37" name="Image 3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995689D7-21CB-48EB-961D-5B7F246CC3D9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01" y="5451342"/>
            <a:ext cx="569795" cy="569795"/>
          </a:xfrm>
          <a:prstGeom prst="rect">
            <a:avLst/>
          </a:prstGeom>
        </p:spPr>
      </p:pic>
      <p:pic>
        <p:nvPicPr>
          <p:cNvPr id="38" name="Image 3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E4F4D8C7-9BD0-4DED-ADE2-22F14D6BAD8E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387" y="3504619"/>
            <a:ext cx="569795" cy="569795"/>
          </a:xfrm>
          <a:prstGeom prst="rect">
            <a:avLst/>
          </a:prstGeom>
        </p:spPr>
      </p:pic>
      <p:pic>
        <p:nvPicPr>
          <p:cNvPr id="39" name="Image 3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7A07EBDC-ECEC-4ACB-8080-DB767C1FB27A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8619" y="4088307"/>
            <a:ext cx="569795" cy="569795"/>
          </a:xfrm>
          <a:prstGeom prst="rect">
            <a:avLst/>
          </a:prstGeom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7DA3624-ECD6-0A02-1C4F-FD234C29CCD4}"/>
              </a:ext>
            </a:extLst>
          </p:cNvPr>
          <p:cNvCxnSpPr>
            <a:cxnSpLocks/>
            <a:stCxn id="21" idx="3"/>
            <a:endCxn id="8" idx="1"/>
          </p:cNvCxnSpPr>
          <p:nvPr/>
        </p:nvCxnSpPr>
        <p:spPr>
          <a:xfrm>
            <a:off x="6638866" y="4976563"/>
            <a:ext cx="269509" cy="3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lemento grafico 7" descr="Tiro a segno con riempimento a tinta unita">
            <a:extLst>
              <a:ext uri="{FF2B5EF4-FFF2-40B4-BE49-F238E27FC236}">
                <a16:creationId xmlns:a16="http://schemas.microsoft.com/office/drawing/2014/main" id="{4B5FF061-4B2E-578F-E1A8-E2D97A9014A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908375" y="4694875"/>
            <a:ext cx="569795" cy="569795"/>
          </a:xfrm>
          <a:prstGeom prst="rect">
            <a:avLst/>
          </a:prstGeom>
        </p:spPr>
      </p:pic>
      <p:pic>
        <p:nvPicPr>
          <p:cNvPr id="40" name="Elemento grafico 39" descr="Tiro a segno con riempimento a tinta unita">
            <a:extLst>
              <a:ext uri="{FF2B5EF4-FFF2-40B4-BE49-F238E27FC236}">
                <a16:creationId xmlns:a16="http://schemas.microsoft.com/office/drawing/2014/main" id="{0F750B6E-1160-BED0-425C-29A2BF1741F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39204" y="4125080"/>
            <a:ext cx="569795" cy="569795"/>
          </a:xfrm>
          <a:prstGeom prst="rect">
            <a:avLst/>
          </a:prstGeom>
        </p:spPr>
      </p:pic>
      <p:pic>
        <p:nvPicPr>
          <p:cNvPr id="41" name="Elemento grafico 40" descr="Tiro a segno con riempimento a tinta unita">
            <a:extLst>
              <a:ext uri="{FF2B5EF4-FFF2-40B4-BE49-F238E27FC236}">
                <a16:creationId xmlns:a16="http://schemas.microsoft.com/office/drawing/2014/main" id="{B73C194D-E24A-B8C6-D600-1ABA3F31451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39204" y="6021137"/>
            <a:ext cx="569795" cy="569795"/>
          </a:xfrm>
          <a:prstGeom prst="rect">
            <a:avLst/>
          </a:prstGeom>
        </p:spPr>
      </p:pic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C3153B56-21E2-C4C5-A0A4-4CC8C12E6D03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469793" y="4409977"/>
            <a:ext cx="20694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49B165D4-90FD-937A-3457-404621286179}"/>
              </a:ext>
            </a:extLst>
          </p:cNvPr>
          <p:cNvCxnSpPr>
            <a:cxnSpLocks/>
            <a:stCxn id="22" idx="3"/>
            <a:endCxn id="41" idx="1"/>
          </p:cNvCxnSpPr>
          <p:nvPr/>
        </p:nvCxnSpPr>
        <p:spPr>
          <a:xfrm>
            <a:off x="3500820" y="6306035"/>
            <a:ext cx="5038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Elemento grafico 51" descr="Tiro a segno con riempimento a tinta unita">
            <a:extLst>
              <a:ext uri="{FF2B5EF4-FFF2-40B4-BE49-F238E27FC236}">
                <a16:creationId xmlns:a16="http://schemas.microsoft.com/office/drawing/2014/main" id="{BF231F89-9F21-8381-DEEA-7DB2D09554B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274427" y="4079464"/>
            <a:ext cx="569795" cy="569795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460CD3F-802E-DA50-7215-1373E902CF0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>
          <a:xfrm flipV="1">
            <a:off x="4748414" y="4364362"/>
            <a:ext cx="526013" cy="8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C4B0-E757-4B7A-990C-B7FA3D78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Engagement Level workshop variant : </a:t>
            </a:r>
            <a:br>
              <a:rPr lang="en-US" sz="2800" dirty="0"/>
            </a:br>
            <a:r>
              <a:rPr lang="en-US" sz="2800" dirty="0"/>
              <a:t>using nametags instead of portraits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6DF376F-E1E9-434C-AE69-D2D58D946080}"/>
              </a:ext>
            </a:extLst>
          </p:cNvPr>
          <p:cNvGraphicFramePr>
            <a:graphicFrameLocks noGrp="1"/>
          </p:cNvGraphicFramePr>
          <p:nvPr/>
        </p:nvGraphicFramePr>
        <p:xfrm>
          <a:off x="396537" y="2673195"/>
          <a:ext cx="11398926" cy="71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18">
                  <a:extLst>
                    <a:ext uri="{9D8B030D-6E8A-4147-A177-3AD203B41FA5}">
                      <a16:colId xmlns:a16="http://schemas.microsoft.com/office/drawing/2014/main" val="125824397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07946281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7691572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075883050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1259412674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3392695109"/>
                    </a:ext>
                  </a:extLst>
                </a:gridCol>
                <a:gridCol w="1628418">
                  <a:extLst>
                    <a:ext uri="{9D8B030D-6E8A-4147-A177-3AD203B41FA5}">
                      <a16:colId xmlns:a16="http://schemas.microsoft.com/office/drawing/2014/main" val="2848032752"/>
                    </a:ext>
                  </a:extLst>
                </a:gridCol>
              </a:tblGrid>
              <a:tr h="2175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80861"/>
                  </a:ext>
                </a:extLst>
              </a:tr>
              <a:tr h="413572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Curious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attendee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Active and regular attendee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Contributor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Leader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Leader &amp; Creator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Community Booster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28388"/>
                  </a:ext>
                </a:extLst>
              </a:tr>
            </a:tbl>
          </a:graphicData>
        </a:graphic>
      </p:graphicFrame>
      <p:pic>
        <p:nvPicPr>
          <p:cNvPr id="7" name="Graphique 6" descr="Une artiste avec un remplissage uni">
            <a:extLst>
              <a:ext uri="{FF2B5EF4-FFF2-40B4-BE49-F238E27FC236}">
                <a16:creationId xmlns:a16="http://schemas.microsoft.com/office/drawing/2014/main" id="{9293A47D-F340-4796-AB83-76DCA419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269" y="1649369"/>
            <a:ext cx="914400" cy="914400"/>
          </a:xfrm>
          <a:prstGeom prst="rect">
            <a:avLst/>
          </a:prstGeom>
        </p:spPr>
      </p:pic>
      <p:pic>
        <p:nvPicPr>
          <p:cNvPr id="11" name="Graphique 10" descr="Employée de bureau avec un remplissage uni">
            <a:extLst>
              <a:ext uri="{FF2B5EF4-FFF2-40B4-BE49-F238E27FC236}">
                <a16:creationId xmlns:a16="http://schemas.microsoft.com/office/drawing/2014/main" id="{96532A1B-82BE-460F-B74F-BEA0B921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273" y="1669686"/>
            <a:ext cx="914400" cy="914400"/>
          </a:xfrm>
          <a:prstGeom prst="rect">
            <a:avLst/>
          </a:prstGeom>
        </p:spPr>
      </p:pic>
      <p:pic>
        <p:nvPicPr>
          <p:cNvPr id="13" name="Graphique 12" descr="Profil femelle avec un remplissage uni">
            <a:extLst>
              <a:ext uri="{FF2B5EF4-FFF2-40B4-BE49-F238E27FC236}">
                <a16:creationId xmlns:a16="http://schemas.microsoft.com/office/drawing/2014/main" id="{650C514C-4079-4E6A-B6AD-EC47601C5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6616" y="1669686"/>
            <a:ext cx="914400" cy="914400"/>
          </a:xfrm>
          <a:prstGeom prst="rect">
            <a:avLst/>
          </a:prstGeom>
        </p:spPr>
      </p:pic>
      <p:pic>
        <p:nvPicPr>
          <p:cNvPr id="15" name="Graphique 14" descr="Femme agricultrice avec un remplissage uni">
            <a:extLst>
              <a:ext uri="{FF2B5EF4-FFF2-40B4-BE49-F238E27FC236}">
                <a16:creationId xmlns:a16="http://schemas.microsoft.com/office/drawing/2014/main" id="{69F06F29-C3B9-43A5-88B1-363B6EE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10623"/>
            <a:ext cx="914400" cy="914400"/>
          </a:xfrm>
          <a:prstGeom prst="rect">
            <a:avLst/>
          </a:prstGeom>
        </p:spPr>
      </p:pic>
      <p:pic>
        <p:nvPicPr>
          <p:cNvPr id="20" name="Graphique 19" descr="Femme DJ avec un remplissage uni">
            <a:extLst>
              <a:ext uri="{FF2B5EF4-FFF2-40B4-BE49-F238E27FC236}">
                <a16:creationId xmlns:a16="http://schemas.microsoft.com/office/drawing/2014/main" id="{30E77CC5-F00E-47CA-8407-BA15C00F6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82143" y="1710623"/>
            <a:ext cx="914400" cy="914400"/>
          </a:xfrm>
          <a:prstGeom prst="rect">
            <a:avLst/>
          </a:prstGeom>
        </p:spPr>
      </p:pic>
      <p:pic>
        <p:nvPicPr>
          <p:cNvPr id="27" name="Graphique 26" descr="Écolière avec un remplissage uni">
            <a:extLst>
              <a:ext uri="{FF2B5EF4-FFF2-40B4-BE49-F238E27FC236}">
                <a16:creationId xmlns:a16="http://schemas.microsoft.com/office/drawing/2014/main" id="{1B2C5A10-7AA6-4D2A-952E-7DB07454D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815" y="1669686"/>
            <a:ext cx="914400" cy="914400"/>
          </a:xfrm>
          <a:prstGeom prst="rect">
            <a:avLst/>
          </a:prstGeom>
        </p:spPr>
      </p:pic>
      <p:pic>
        <p:nvPicPr>
          <p:cNvPr id="29" name="Graphique 28" descr="Héroïne avec un remplissage uni">
            <a:extLst>
              <a:ext uri="{FF2B5EF4-FFF2-40B4-BE49-F238E27FC236}">
                <a16:creationId xmlns:a16="http://schemas.microsoft.com/office/drawing/2014/main" id="{E1ADD144-FFAE-4359-881A-27B078C6E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39265" y="1618355"/>
            <a:ext cx="1006668" cy="1006668"/>
          </a:xfrm>
          <a:prstGeom prst="rect">
            <a:avLst/>
          </a:prstGeom>
        </p:spPr>
      </p:pic>
      <p:pic>
        <p:nvPicPr>
          <p:cNvPr id="31" name="Graphique 30" descr="Deux cœurs avec un remplissage uni">
            <a:extLst>
              <a:ext uri="{FF2B5EF4-FFF2-40B4-BE49-F238E27FC236}">
                <a16:creationId xmlns:a16="http://schemas.microsoft.com/office/drawing/2014/main" id="{2D21C005-0EB3-48FC-AEB3-193B39A369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8122" y="1561531"/>
            <a:ext cx="298183" cy="298183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6353F848-D7EE-ABD7-0EDE-1474FAB0DA18}"/>
              </a:ext>
            </a:extLst>
          </p:cNvPr>
          <p:cNvSpPr/>
          <p:nvPr/>
        </p:nvSpPr>
        <p:spPr>
          <a:xfrm>
            <a:off x="2316476" y="356357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Umberto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70FF403-274E-0A91-1530-3A7FEBC3508F}"/>
              </a:ext>
            </a:extLst>
          </p:cNvPr>
          <p:cNvSpPr/>
          <p:nvPr/>
        </p:nvSpPr>
        <p:spPr>
          <a:xfrm>
            <a:off x="8896785" y="774359"/>
            <a:ext cx="1272357" cy="548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Current level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8BE1EB5-BF94-13AF-926F-CBD7FB84F0FD}"/>
              </a:ext>
            </a:extLst>
          </p:cNvPr>
          <p:cNvSpPr/>
          <p:nvPr/>
        </p:nvSpPr>
        <p:spPr>
          <a:xfrm>
            <a:off x="10331379" y="774360"/>
            <a:ext cx="1272357" cy="548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Goal (if different from current level)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EDAD73F-5EC7-CD4D-85A2-107085D467DF}"/>
              </a:ext>
            </a:extLst>
          </p:cNvPr>
          <p:cNvSpPr/>
          <p:nvPr/>
        </p:nvSpPr>
        <p:spPr>
          <a:xfrm>
            <a:off x="5562858" y="5035886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Umberto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C3D8BA8-20B5-FAB0-E237-C41D2D6E25B1}"/>
              </a:ext>
            </a:extLst>
          </p:cNvPr>
          <p:cNvSpPr/>
          <p:nvPr/>
        </p:nvSpPr>
        <p:spPr>
          <a:xfrm>
            <a:off x="3913364" y="3500993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Laura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CF37C73-A490-CDFC-F519-3FF665828976}"/>
              </a:ext>
            </a:extLst>
          </p:cNvPr>
          <p:cNvSpPr/>
          <p:nvPr/>
        </p:nvSpPr>
        <p:spPr>
          <a:xfrm>
            <a:off x="3913363" y="4001900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Toto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1133970-C276-3052-7D72-5E737B66F1BD}"/>
              </a:ext>
            </a:extLst>
          </p:cNvPr>
          <p:cNvSpPr/>
          <p:nvPr/>
        </p:nvSpPr>
        <p:spPr>
          <a:xfrm>
            <a:off x="3913362" y="4518893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Adriano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379A9C0B-D762-D133-813E-353101BD2D5F}"/>
              </a:ext>
            </a:extLst>
          </p:cNvPr>
          <p:cNvSpPr/>
          <p:nvPr/>
        </p:nvSpPr>
        <p:spPr>
          <a:xfrm>
            <a:off x="3913362" y="5035886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Romina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D3E272B-FB3B-5789-D98E-09B4D8D52027}"/>
              </a:ext>
            </a:extLst>
          </p:cNvPr>
          <p:cNvSpPr/>
          <p:nvPr/>
        </p:nvSpPr>
        <p:spPr>
          <a:xfrm>
            <a:off x="7193273" y="399029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Albano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603951D7-3DD5-E0F7-6B73-1D37D5ADFECA}"/>
              </a:ext>
            </a:extLst>
          </p:cNvPr>
          <p:cNvSpPr/>
          <p:nvPr/>
        </p:nvSpPr>
        <p:spPr>
          <a:xfrm>
            <a:off x="7193273" y="348446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Luciano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668AD7EC-21D8-D925-6F80-B96C2E3E75E0}"/>
              </a:ext>
            </a:extLst>
          </p:cNvPr>
          <p:cNvSpPr/>
          <p:nvPr/>
        </p:nvSpPr>
        <p:spPr>
          <a:xfrm>
            <a:off x="5562859" y="399029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Gianni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871F93C2-9CE8-8EBC-6985-5BB1BBD6E866}"/>
              </a:ext>
            </a:extLst>
          </p:cNvPr>
          <p:cNvSpPr/>
          <p:nvPr/>
        </p:nvSpPr>
        <p:spPr>
          <a:xfrm>
            <a:off x="8809242" y="348446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Ilaria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C2378FFB-8A40-4CBF-2072-DD0235E3BBFD}"/>
              </a:ext>
            </a:extLst>
          </p:cNvPr>
          <p:cNvSpPr/>
          <p:nvPr/>
        </p:nvSpPr>
        <p:spPr>
          <a:xfrm>
            <a:off x="5562859" y="3466434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Andrea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F6BC5B63-A7B7-F58A-133D-E093E2628B04}"/>
              </a:ext>
            </a:extLst>
          </p:cNvPr>
          <p:cNvSpPr/>
          <p:nvPr/>
        </p:nvSpPr>
        <p:spPr>
          <a:xfrm>
            <a:off x="842319" y="3568408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Giacomo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E5E1AD49-CDE0-0600-9713-437F748A00C3}"/>
              </a:ext>
            </a:extLst>
          </p:cNvPr>
          <p:cNvSpPr/>
          <p:nvPr/>
        </p:nvSpPr>
        <p:spPr>
          <a:xfrm>
            <a:off x="842319" y="4072029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Paolo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7A433C3-187A-BA60-C293-CB2B71DD5952}"/>
              </a:ext>
            </a:extLst>
          </p:cNvPr>
          <p:cNvSpPr/>
          <p:nvPr/>
        </p:nvSpPr>
        <p:spPr>
          <a:xfrm>
            <a:off x="842319" y="4575650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Natalia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846703CB-8CBB-1E10-7BD9-A51C4DD46EBE}"/>
              </a:ext>
            </a:extLst>
          </p:cNvPr>
          <p:cNvSpPr/>
          <p:nvPr/>
        </p:nvSpPr>
        <p:spPr>
          <a:xfrm>
            <a:off x="10473182" y="3489242"/>
            <a:ext cx="1037391" cy="446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Fabio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C87021BB-2911-0330-8B8D-87B96AC2D8E9}"/>
              </a:ext>
            </a:extLst>
          </p:cNvPr>
          <p:cNvSpPr/>
          <p:nvPr/>
        </p:nvSpPr>
        <p:spPr>
          <a:xfrm>
            <a:off x="7193273" y="4493218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Toto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3C335212-4DEC-0FAF-567C-0FF67BB1D8B3}"/>
              </a:ext>
            </a:extLst>
          </p:cNvPr>
          <p:cNvSpPr/>
          <p:nvPr/>
        </p:nvSpPr>
        <p:spPr>
          <a:xfrm>
            <a:off x="5553317" y="4531703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Romina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8CDF6583-42A4-39BE-58A1-30BA42163644}"/>
              </a:ext>
            </a:extLst>
          </p:cNvPr>
          <p:cNvSpPr/>
          <p:nvPr/>
        </p:nvSpPr>
        <p:spPr>
          <a:xfrm>
            <a:off x="8809241" y="3990294"/>
            <a:ext cx="1037391" cy="446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Laura</a:t>
            </a:r>
          </a:p>
        </p:txBody>
      </p:sp>
    </p:spTree>
    <p:extLst>
      <p:ext uri="{BB962C8B-B14F-4D97-AF65-F5344CB8AC3E}">
        <p14:creationId xmlns:p14="http://schemas.microsoft.com/office/powerpoint/2010/main" val="136159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29"/>
    </mc:Choice>
    <mc:Fallback xmlns="">
      <p:transition spd="slow" advTm="108229"/>
    </mc:Fallback>
  </mc:AlternateContent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095EDE67814541926D3AC5F9ACC08F" ma:contentTypeVersion="12" ma:contentTypeDescription="Crée un document." ma:contentTypeScope="" ma:versionID="4740bcd7563aace758bb5af16567afb8">
  <xsd:schema xmlns:xsd="http://www.w3.org/2001/XMLSchema" xmlns:xs="http://www.w3.org/2001/XMLSchema" xmlns:p="http://schemas.microsoft.com/office/2006/metadata/properties" xmlns:ns2="ae28f11b-d4f1-47fe-837d-5da7d4fdfa8d" xmlns:ns3="2e054d75-df43-4e50-a610-0e7b0816d11a" targetNamespace="http://schemas.microsoft.com/office/2006/metadata/properties" ma:root="true" ma:fieldsID="0c540144d36b116ed9070dbfae6023f7" ns2:_="" ns3:_="">
    <xsd:import namespace="ae28f11b-d4f1-47fe-837d-5da7d4fdfa8d"/>
    <xsd:import namespace="2e054d75-df43-4e50-a610-0e7b0816d1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8f11b-d4f1-47fe-837d-5da7d4fdf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fb7d0a-9414-48cb-b3b7-290175ae35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54d75-df43-4e50-a610-0e7b0816d11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dd72b47-dd46-40b1-8755-ebe9ce9f18af}" ma:internalName="TaxCatchAll" ma:showField="CatchAllData" ma:web="2e054d75-df43-4e50-a610-0e7b0816d1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28f11b-d4f1-47fe-837d-5da7d4fdfa8d">
      <Terms xmlns="http://schemas.microsoft.com/office/infopath/2007/PartnerControls"/>
    </lcf76f155ced4ddcb4097134ff3c332f>
    <TaxCatchAll xmlns="2e054d75-df43-4e50-a610-0e7b0816d11a" xsi:nil="true"/>
  </documentManagement>
</p:properties>
</file>

<file path=customXml/itemProps1.xml><?xml version="1.0" encoding="utf-8"?>
<ds:datastoreItem xmlns:ds="http://schemas.openxmlformats.org/officeDocument/2006/customXml" ds:itemID="{BF74E86D-68B9-40F6-8854-BE866BBD65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9E8127-264B-4AA2-80FB-D355B730A6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28f11b-d4f1-47fe-837d-5da7d4fdfa8d"/>
    <ds:schemaRef ds:uri="2e054d75-df43-4e50-a610-0e7b0816d1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130F46-0203-41E4-930E-9660BC90F8DA}">
  <ds:schemaRefs>
    <ds:schemaRef ds:uri="2e054d75-df43-4e50-a610-0e7b0816d11a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ae28f11b-d4f1-47fe-837d-5da7d4fdfa8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3693</TotalTime>
  <Words>1783</Words>
  <Application>Microsoft Office PowerPoint</Application>
  <PresentationFormat>Widescreen</PresentationFormat>
  <Paragraphs>428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AccentBoxVTI</vt:lpstr>
      <vt:lpstr>   W3 Engagement Level Workshop</vt:lpstr>
      <vt:lpstr>This document is an #OpenSeriousCommunity #OSC content</vt:lpstr>
      <vt:lpstr>Engagement Level workshop Expected result example </vt:lpstr>
      <vt:lpstr>Time Investment profiles Workshop Workshop step by step</vt:lpstr>
      <vt:lpstr>Engagement Level workshop Using the result</vt:lpstr>
      <vt:lpstr>Version history</vt:lpstr>
      <vt:lpstr>Engagement Level workshop Working assumptions</vt:lpstr>
      <vt:lpstr>Engagement Level workshop Working assumptions</vt:lpstr>
      <vt:lpstr>Engagement Level workshop What the basic level system means</vt:lpstr>
      <vt:lpstr>Engagement Level workshop Example activities</vt:lpstr>
      <vt:lpstr>Changing the level system to other dimensions Examples</vt:lpstr>
      <vt:lpstr>Engagement Level workshop variant :  Adding GOALS for next time period </vt:lpstr>
      <vt:lpstr>Engagement Level workshop variant :  using nametags instead of portraits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3</cp:revision>
  <dcterms:created xsi:type="dcterms:W3CDTF">2020-12-16T10:05:09Z</dcterms:created>
  <dcterms:modified xsi:type="dcterms:W3CDTF">2023-01-23T10:11:07Z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0x01010043095EDE67814541926D3AC5F9ACC08F</vt:lpwstr>
  </property>
</Properties>
</file>