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33"/>
  </p:notesMasterIdLst>
  <p:sldIdLst>
    <p:sldId id="645" r:id="rId5"/>
    <p:sldId id="603" r:id="rId6"/>
    <p:sldId id="634" r:id="rId7"/>
    <p:sldId id="639" r:id="rId8"/>
    <p:sldId id="1194" r:id="rId9"/>
    <p:sldId id="1210" r:id="rId10"/>
    <p:sldId id="640" r:id="rId11"/>
    <p:sldId id="1209" r:id="rId12"/>
    <p:sldId id="1208" r:id="rId13"/>
    <p:sldId id="1201" r:id="rId14"/>
    <p:sldId id="420" r:id="rId15"/>
    <p:sldId id="650" r:id="rId16"/>
    <p:sldId id="1202" r:id="rId17"/>
    <p:sldId id="426" r:id="rId18"/>
    <p:sldId id="646" r:id="rId19"/>
    <p:sldId id="1203" r:id="rId20"/>
    <p:sldId id="647" r:id="rId21"/>
    <p:sldId id="648" r:id="rId22"/>
    <p:sldId id="1204" r:id="rId23"/>
    <p:sldId id="1193" r:id="rId24"/>
    <p:sldId id="1205" r:id="rId25"/>
    <p:sldId id="1206" r:id="rId26"/>
    <p:sldId id="1195" r:id="rId27"/>
    <p:sldId id="1196" r:id="rId28"/>
    <p:sldId id="1197" r:id="rId29"/>
    <p:sldId id="1198" r:id="rId30"/>
    <p:sldId id="1199" r:id="rId31"/>
    <p:sldId id="1200"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gagement Level Workshop in a Nutshell" id="{00814527-E608-4D44-96F1-454FEA364CD1}">
          <p14:sldIdLst>
            <p14:sldId id="645"/>
            <p14:sldId id="603"/>
            <p14:sldId id="634"/>
            <p14:sldId id="639"/>
          </p14:sldIdLst>
        </p14:section>
        <p14:section name="Version History" id="{3CAB9B00-4686-45AD-AE57-122C1B74B849}">
          <p14:sldIdLst>
            <p14:sldId id="1194"/>
          </p14:sldIdLst>
        </p14:section>
        <p14:section name="Hosting Engagement Level Workshop" id="{006F730A-77A4-4871-8B9B-48491EB413BF}">
          <p14:sldIdLst>
            <p14:sldId id="1210"/>
            <p14:sldId id="640"/>
            <p14:sldId id="1209"/>
            <p14:sldId id="1208"/>
          </p14:sldIdLst>
        </p14:section>
        <p14:section name="Work assumptions" id="{C98E5011-4B7B-4150-A01C-BAF2158E4205}">
          <p14:sldIdLst>
            <p14:sldId id="1201"/>
            <p14:sldId id="420"/>
            <p14:sldId id="650"/>
          </p14:sldIdLst>
        </p14:section>
        <p14:section name="Basic Level system" id="{731EE219-9F8A-4622-9F19-8FBDAF340A65}">
          <p14:sldIdLst>
            <p14:sldId id="1202"/>
            <p14:sldId id="426"/>
            <p14:sldId id="646"/>
          </p14:sldIdLst>
        </p14:section>
        <p14:section name="Variant : With individual engagement goals" id="{EBA3C2F7-D5B4-4CBF-AD78-9B98E38DDAEF}">
          <p14:sldIdLst>
            <p14:sldId id="1203"/>
            <p14:sldId id="647"/>
            <p14:sldId id="648"/>
          </p14:sldIdLst>
        </p14:section>
        <p14:section name="Additional engagement level systems" id="{8E31F9A6-7623-4E15-8A28-C97867CCD209}">
          <p14:sldIdLst>
            <p14:sldId id="1204"/>
            <p14:sldId id="1193"/>
            <p14:sldId id="1205"/>
          </p14:sldIdLst>
        </p14:section>
        <p14:section name="Relative Engagement Levels" id="{29D7C417-CF18-4FEE-9D32-2FCD7B3AFEDB}">
          <p14:sldIdLst>
            <p14:sldId id="1206"/>
            <p14:sldId id="1195"/>
            <p14:sldId id="1196"/>
            <p14:sldId id="1197"/>
            <p14:sldId id="1198"/>
            <p14:sldId id="1199"/>
            <p14:sldId id="120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C14028-5E54-4594-80A5-4E1158D67223}" v="138" dt="2023-01-24T09:36:06.02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4660"/>
  </p:normalViewPr>
  <p:slideViewPr>
    <p:cSldViewPr snapToGrid="0">
      <p:cViewPr varScale="1">
        <p:scale>
          <a:sx n="105" d="100"/>
          <a:sy n="105" d="100"/>
        </p:scale>
        <p:origin x="732"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24/01/2023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F0F5F71A-6683-4344-8A86-B72493AD35FC}" type="slidenum">
              <a:rPr lang="fr-FR" smtClean="0"/>
              <a:t>20</a:t>
            </a:fld>
            <a:endParaRPr lang="fr-FR"/>
          </a:p>
        </p:txBody>
      </p:sp>
    </p:spTree>
    <p:extLst>
      <p:ext uri="{BB962C8B-B14F-4D97-AF65-F5344CB8AC3E}">
        <p14:creationId xmlns:p14="http://schemas.microsoft.com/office/powerpoint/2010/main" val="11219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CA9D41EC-A7F0-5701-30E7-C84980B6FA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1AB9D853-3685-109C-4665-4AEA6BA640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20A8FFA-8CC1-2520-3BFE-29FC2C227F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58A93C7-E6F3-A41D-FD8D-56DC7884CC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1DF7A464-D3F7-D3E1-C9D5-80DBD8BB02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7E1131F-8B44-116B-7951-2642023828C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816758C9-F259-391F-71B7-0730FF58EE3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4E3F5553-E01C-949D-174D-6E82E09C2E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64E79651-7519-0E5E-8AC3-06AA05840D6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9" name="Image 4">
            <a:extLst>
              <a:ext uri="{FF2B5EF4-FFF2-40B4-BE49-F238E27FC236}">
                <a16:creationId xmlns:a16="http://schemas.microsoft.com/office/drawing/2014/main" id="{B969853B-CF5B-AD75-2BB1-6DBCA547539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1" name="Image 4">
            <a:extLst>
              <a:ext uri="{FF2B5EF4-FFF2-40B4-BE49-F238E27FC236}">
                <a16:creationId xmlns:a16="http://schemas.microsoft.com/office/drawing/2014/main" id="{DC476D27-4645-C312-AE01-AB0697F4E16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2" name="Image 4">
            <a:extLst>
              <a:ext uri="{FF2B5EF4-FFF2-40B4-BE49-F238E27FC236}">
                <a16:creationId xmlns:a16="http://schemas.microsoft.com/office/drawing/2014/main" id="{F3CE9FA7-6F5E-8DFC-1141-EEEA508566D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1/24/2023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9C8C28A8-3405-3CF5-E425-A64BCF71CE5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15EEF07D-C474-2405-8788-65415C1B7A7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7ECADA13-6E70-180E-161A-6E649E110E0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9114E711-168D-B0AD-6252-680C3B3085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1/24/2023</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ACA0DD8C-A86B-B04C-FD50-F6AE194531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3163A6CD-55DA-5729-B038-DB1EA8F78EB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523B4BDE-83B7-8339-49B7-86B783AA91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4" name="Image 4">
            <a:extLst>
              <a:ext uri="{FF2B5EF4-FFF2-40B4-BE49-F238E27FC236}">
                <a16:creationId xmlns:a16="http://schemas.microsoft.com/office/drawing/2014/main" id="{F09544FF-ABB1-94DE-50B9-74EEDD318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1/24/2023</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pic>
        <p:nvPicPr>
          <p:cNvPr id="10" name="Image 4">
            <a:extLst>
              <a:ext uri="{FF2B5EF4-FFF2-40B4-BE49-F238E27FC236}">
                <a16:creationId xmlns:a16="http://schemas.microsoft.com/office/drawing/2014/main" id="{DD6E8D0D-5F56-CDB1-9882-3966B60FD0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2" name="Image 4">
            <a:extLst>
              <a:ext uri="{FF2B5EF4-FFF2-40B4-BE49-F238E27FC236}">
                <a16:creationId xmlns:a16="http://schemas.microsoft.com/office/drawing/2014/main" id="{6E1F4817-4D5A-A9DF-A46D-16DC3DFD92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4" name="Image 4">
            <a:extLst>
              <a:ext uri="{FF2B5EF4-FFF2-40B4-BE49-F238E27FC236}">
                <a16:creationId xmlns:a16="http://schemas.microsoft.com/office/drawing/2014/main" id="{DF21E626-844D-67DC-B55C-6236FD4AB8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6" name="Image 4">
            <a:extLst>
              <a:ext uri="{FF2B5EF4-FFF2-40B4-BE49-F238E27FC236}">
                <a16:creationId xmlns:a16="http://schemas.microsoft.com/office/drawing/2014/main" id="{EA9E38F3-3674-B979-3D7E-44955E2670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1/24/2023</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6" name="Image 4">
            <a:extLst>
              <a:ext uri="{FF2B5EF4-FFF2-40B4-BE49-F238E27FC236}">
                <a16:creationId xmlns:a16="http://schemas.microsoft.com/office/drawing/2014/main" id="{7DEAED82-E616-880C-F387-84BE2CEDBD4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3B8E3E08-8850-8335-D527-3A7DBB00F3B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0" name="Image 4">
            <a:extLst>
              <a:ext uri="{FF2B5EF4-FFF2-40B4-BE49-F238E27FC236}">
                <a16:creationId xmlns:a16="http://schemas.microsoft.com/office/drawing/2014/main" id="{48F6A615-5F00-9D8B-F485-651432C1FF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1" name="Image 4">
            <a:extLst>
              <a:ext uri="{FF2B5EF4-FFF2-40B4-BE49-F238E27FC236}">
                <a16:creationId xmlns:a16="http://schemas.microsoft.com/office/drawing/2014/main" id="{73034F59-C6B7-A678-BDB1-B2E5D598215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1/24/2023</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5" name="Image 4">
            <a:extLst>
              <a:ext uri="{FF2B5EF4-FFF2-40B4-BE49-F238E27FC236}">
                <a16:creationId xmlns:a16="http://schemas.microsoft.com/office/drawing/2014/main" id="{BF9ABF0A-4662-7740-60BC-8063664C6E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6" name="Image 4">
            <a:extLst>
              <a:ext uri="{FF2B5EF4-FFF2-40B4-BE49-F238E27FC236}">
                <a16:creationId xmlns:a16="http://schemas.microsoft.com/office/drawing/2014/main" id="{1A966FF6-2855-0608-099F-D04FD0E1FD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7" name="Image 4">
            <a:extLst>
              <a:ext uri="{FF2B5EF4-FFF2-40B4-BE49-F238E27FC236}">
                <a16:creationId xmlns:a16="http://schemas.microsoft.com/office/drawing/2014/main" id="{C345511A-8CE6-A669-3282-AF12F654F80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8" name="Image 4">
            <a:extLst>
              <a:ext uri="{FF2B5EF4-FFF2-40B4-BE49-F238E27FC236}">
                <a16:creationId xmlns:a16="http://schemas.microsoft.com/office/drawing/2014/main" id="{4A71A206-34A6-BE71-6CAC-B790FC39A5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1/24/2023</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8C868CEF-9680-FCFA-7BCB-0F9E11C14F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EBE1C5CC-FE5A-6C34-F4AA-93394E4C61F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BB5AEDAD-197D-AF6A-26AD-FA1AC6D03E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714B7034-4641-11A8-82A4-1E4C731BE2D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1/24/2023</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8" name="Image 4">
            <a:extLst>
              <a:ext uri="{FF2B5EF4-FFF2-40B4-BE49-F238E27FC236}">
                <a16:creationId xmlns:a16="http://schemas.microsoft.com/office/drawing/2014/main" id="{416E8D44-3BBA-2234-C666-7337E12F88B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10" name="Image 4">
            <a:extLst>
              <a:ext uri="{FF2B5EF4-FFF2-40B4-BE49-F238E27FC236}">
                <a16:creationId xmlns:a16="http://schemas.microsoft.com/office/drawing/2014/main" id="{0B00ED99-B166-758F-EA81-F458564C363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12" name="Image 4">
            <a:extLst>
              <a:ext uri="{FF2B5EF4-FFF2-40B4-BE49-F238E27FC236}">
                <a16:creationId xmlns:a16="http://schemas.microsoft.com/office/drawing/2014/main" id="{A0DC4A79-4FF7-976D-5497-934F6C63DE9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3" name="Image 4">
            <a:extLst>
              <a:ext uri="{FF2B5EF4-FFF2-40B4-BE49-F238E27FC236}">
                <a16:creationId xmlns:a16="http://schemas.microsoft.com/office/drawing/2014/main" id="{62F2B7F2-3251-7C91-9B62-9D81EEB98A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pic>
        <p:nvPicPr>
          <p:cNvPr id="7" name="Image 4">
            <a:extLst>
              <a:ext uri="{FF2B5EF4-FFF2-40B4-BE49-F238E27FC236}">
                <a16:creationId xmlns:a16="http://schemas.microsoft.com/office/drawing/2014/main" id="{E362102A-D736-60EA-46A0-73688AA21F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83696" y="0"/>
            <a:ext cx="897607" cy="405083"/>
          </a:xfrm>
          <a:prstGeom prst="rect">
            <a:avLst/>
          </a:prstGeom>
        </p:spPr>
      </p:pic>
      <p:pic>
        <p:nvPicPr>
          <p:cNvPr id="8" name="Image 4">
            <a:extLst>
              <a:ext uri="{FF2B5EF4-FFF2-40B4-BE49-F238E27FC236}">
                <a16:creationId xmlns:a16="http://schemas.microsoft.com/office/drawing/2014/main" id="{619C49F9-E628-C187-8AFF-60C6B2FEFD1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7540" y="0"/>
            <a:ext cx="897607" cy="405083"/>
          </a:xfrm>
          <a:prstGeom prst="rect">
            <a:avLst/>
          </a:prstGeom>
        </p:spPr>
      </p:pic>
      <p:pic>
        <p:nvPicPr>
          <p:cNvPr id="9" name="Image 4">
            <a:extLst>
              <a:ext uri="{FF2B5EF4-FFF2-40B4-BE49-F238E27FC236}">
                <a16:creationId xmlns:a16="http://schemas.microsoft.com/office/drawing/2014/main" id="{077DDFFB-AA02-6D68-99F3-8274720E62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11298159" y="6428876"/>
            <a:ext cx="897607" cy="405083"/>
          </a:xfrm>
          <a:prstGeom prst="rect">
            <a:avLst/>
          </a:prstGeom>
        </p:spPr>
      </p:pic>
      <p:pic>
        <p:nvPicPr>
          <p:cNvPr id="10" name="Image 4">
            <a:extLst>
              <a:ext uri="{FF2B5EF4-FFF2-40B4-BE49-F238E27FC236}">
                <a16:creationId xmlns:a16="http://schemas.microsoft.com/office/drawing/2014/main" id="{DD50E41F-4812-6DCF-6899-BF9AA219DED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8340"/>
          <a:stretch/>
        </p:blipFill>
        <p:spPr>
          <a:xfrm>
            <a:off x="32003" y="6428876"/>
            <a:ext cx="897607" cy="405083"/>
          </a:xfrm>
          <a:prstGeom prst="rect">
            <a:avLst/>
          </a:prstGeom>
        </p:spPr>
      </p:pic>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1/24/2023</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9.sv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7.sv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26" Type="http://schemas.openxmlformats.org/officeDocument/2006/relationships/image" Target="../media/image25.jpeg"/><Relationship Id="rId21" Type="http://schemas.openxmlformats.org/officeDocument/2006/relationships/image" Target="../media/image20.jpeg"/><Relationship Id="rId34" Type="http://schemas.openxmlformats.org/officeDocument/2006/relationships/image" Target="../media/image33.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4.jpeg"/><Relationship Id="rId33" Type="http://schemas.openxmlformats.org/officeDocument/2006/relationships/image" Target="../media/image32.jpeg"/><Relationship Id="rId38" Type="http://schemas.openxmlformats.org/officeDocument/2006/relationships/image" Target="../media/image37.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19.jpeg"/><Relationship Id="rId29"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3.jpeg"/><Relationship Id="rId32" Type="http://schemas.openxmlformats.org/officeDocument/2006/relationships/image" Target="../media/image31.jpeg"/><Relationship Id="rId37" Type="http://schemas.openxmlformats.org/officeDocument/2006/relationships/image" Target="../media/image36.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2.jpeg"/><Relationship Id="rId28" Type="http://schemas.openxmlformats.org/officeDocument/2006/relationships/image" Target="../media/image27.jpeg"/><Relationship Id="rId36" Type="http://schemas.openxmlformats.org/officeDocument/2006/relationships/image" Target="../media/image35.jpeg"/><Relationship Id="rId10" Type="http://schemas.openxmlformats.org/officeDocument/2006/relationships/image" Target="../media/image10.png"/><Relationship Id="rId19" Type="http://schemas.openxmlformats.org/officeDocument/2006/relationships/image" Target="../media/image18.jpeg"/><Relationship Id="rId31" Type="http://schemas.openxmlformats.org/officeDocument/2006/relationships/image" Target="../media/image30.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1.jpeg"/><Relationship Id="rId27" Type="http://schemas.openxmlformats.org/officeDocument/2006/relationships/image" Target="../media/image26.jpeg"/><Relationship Id="rId30" Type="http://schemas.openxmlformats.org/officeDocument/2006/relationships/image" Target="../media/image29.jpeg"/><Relationship Id="rId35" Type="http://schemas.openxmlformats.org/officeDocument/2006/relationships/image" Target="../media/image34.jpeg"/><Relationship Id="rId8" Type="http://schemas.openxmlformats.org/officeDocument/2006/relationships/image" Target="../media/image8.png"/><Relationship Id="rId3" Type="http://schemas.openxmlformats.org/officeDocument/2006/relationships/image" Target="../media/image3.svg"/></Relationships>
</file>

<file path=ppt/slides/_rels/slide4.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hyperlink" Target="https://en.wikipedia.org/wiki/Flow_(psychology)" TargetMode="External"/><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jpeg"/><Relationship Id="rId26" Type="http://schemas.openxmlformats.org/officeDocument/2006/relationships/image" Target="../media/image26.jpeg"/><Relationship Id="rId39" Type="http://schemas.openxmlformats.org/officeDocument/2006/relationships/image" Target="../media/image39.svg"/><Relationship Id="rId21" Type="http://schemas.openxmlformats.org/officeDocument/2006/relationships/image" Target="../media/image21.jpeg"/><Relationship Id="rId34" Type="http://schemas.openxmlformats.org/officeDocument/2006/relationships/image" Target="../media/image34.jpe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jpeg"/><Relationship Id="rId33" Type="http://schemas.openxmlformats.org/officeDocument/2006/relationships/image" Target="../media/image33.jpeg"/><Relationship Id="rId38" Type="http://schemas.openxmlformats.org/officeDocument/2006/relationships/image" Target="../media/image38.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jpeg"/><Relationship Id="rId29"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24" Type="http://schemas.openxmlformats.org/officeDocument/2006/relationships/image" Target="../media/image24.jpeg"/><Relationship Id="rId32" Type="http://schemas.openxmlformats.org/officeDocument/2006/relationships/image" Target="../media/image32.jpeg"/><Relationship Id="rId37" Type="http://schemas.openxmlformats.org/officeDocument/2006/relationships/image" Target="../media/image37.jpeg"/><Relationship Id="rId5" Type="http://schemas.openxmlformats.org/officeDocument/2006/relationships/image" Target="../media/image5.svg"/><Relationship Id="rId15" Type="http://schemas.openxmlformats.org/officeDocument/2006/relationships/image" Target="../media/image15.svg"/><Relationship Id="rId23" Type="http://schemas.openxmlformats.org/officeDocument/2006/relationships/image" Target="../media/image23.jpeg"/><Relationship Id="rId28" Type="http://schemas.openxmlformats.org/officeDocument/2006/relationships/image" Target="../media/image28.jpeg"/><Relationship Id="rId36" Type="http://schemas.openxmlformats.org/officeDocument/2006/relationships/image" Target="../media/image36.jpeg"/><Relationship Id="rId10" Type="http://schemas.openxmlformats.org/officeDocument/2006/relationships/image" Target="../media/image10.png"/><Relationship Id="rId19" Type="http://schemas.openxmlformats.org/officeDocument/2006/relationships/image" Target="../media/image19.jpeg"/><Relationship Id="rId31" Type="http://schemas.openxmlformats.org/officeDocument/2006/relationships/image" Target="../media/image31.jpe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jpeg"/><Relationship Id="rId35" Type="http://schemas.openxmlformats.org/officeDocument/2006/relationships/image" Target="../media/image35.jpeg"/><Relationship Id="rId8" Type="http://schemas.openxmlformats.org/officeDocument/2006/relationships/image" Target="../media/image8.png"/><Relationship Id="rId3"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17" Type="http://schemas.openxmlformats.org/officeDocument/2006/relationships/image" Target="../media/image17.sv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18" Type="http://schemas.openxmlformats.org/officeDocument/2006/relationships/image" Target="../media/image56.pn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png"/><Relationship Id="rId17" Type="http://schemas.openxmlformats.org/officeDocument/2006/relationships/image" Target="../media/image55.svg"/><Relationship Id="rId2" Type="http://schemas.openxmlformats.org/officeDocument/2006/relationships/image" Target="../media/image40.png"/><Relationship Id="rId16"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svg"/><Relationship Id="rId15" Type="http://schemas.openxmlformats.org/officeDocument/2006/relationships/image" Target="../media/image53.svg"/><Relationship Id="rId10" Type="http://schemas.openxmlformats.org/officeDocument/2006/relationships/image" Target="../media/image48.png"/><Relationship Id="rId19" Type="http://schemas.openxmlformats.org/officeDocument/2006/relationships/image" Target="../media/image57.svg"/><Relationship Id="rId4" Type="http://schemas.openxmlformats.org/officeDocument/2006/relationships/image" Target="../media/image42.png"/><Relationship Id="rId9" Type="http://schemas.openxmlformats.org/officeDocument/2006/relationships/image" Target="../media/image47.svg"/><Relationship Id="rId1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21" Type="http://schemas.openxmlformats.org/officeDocument/2006/relationships/image" Target="../media/image37.jpe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31.jpeg"/><Relationship Id="rId10" Type="http://schemas.openxmlformats.org/officeDocument/2006/relationships/image" Target="../media/image26.jpeg"/><Relationship Id="rId19" Type="http://schemas.openxmlformats.org/officeDocument/2006/relationships/image" Target="../media/image35.jpe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s>
</file>

<file path=ppt/slides/_rels/slide28.xml.rels><?xml version="1.0" encoding="UTF-8" standalone="yes"?>
<Relationships xmlns="http://schemas.openxmlformats.org/package/2006/relationships"><Relationship Id="rId8" Type="http://schemas.openxmlformats.org/officeDocument/2006/relationships/image" Target="../media/image24.jpeg"/><Relationship Id="rId13" Type="http://schemas.openxmlformats.org/officeDocument/2006/relationships/image" Target="../media/image29.jpeg"/><Relationship Id="rId18" Type="http://schemas.openxmlformats.org/officeDocument/2006/relationships/image" Target="../media/image34.jpeg"/><Relationship Id="rId3" Type="http://schemas.openxmlformats.org/officeDocument/2006/relationships/image" Target="../media/image19.jpeg"/><Relationship Id="rId7" Type="http://schemas.openxmlformats.org/officeDocument/2006/relationships/image" Target="../media/image23.jpeg"/><Relationship Id="rId12" Type="http://schemas.openxmlformats.org/officeDocument/2006/relationships/image" Target="../media/image28.jpeg"/><Relationship Id="rId17" Type="http://schemas.openxmlformats.org/officeDocument/2006/relationships/image" Target="../media/image33.jpeg"/><Relationship Id="rId2" Type="http://schemas.openxmlformats.org/officeDocument/2006/relationships/image" Target="../media/image18.jpeg"/><Relationship Id="rId16" Type="http://schemas.openxmlformats.org/officeDocument/2006/relationships/image" Target="../media/image32.jpeg"/><Relationship Id="rId20"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22.jpeg"/><Relationship Id="rId11" Type="http://schemas.openxmlformats.org/officeDocument/2006/relationships/image" Target="../media/image27.jpeg"/><Relationship Id="rId5" Type="http://schemas.openxmlformats.org/officeDocument/2006/relationships/image" Target="../media/image21.jpeg"/><Relationship Id="rId15" Type="http://schemas.openxmlformats.org/officeDocument/2006/relationships/image" Target="../media/image31.jpeg"/><Relationship Id="rId10" Type="http://schemas.openxmlformats.org/officeDocument/2006/relationships/image" Target="../media/image26.jpeg"/><Relationship Id="rId19" Type="http://schemas.openxmlformats.org/officeDocument/2006/relationships/image" Target="../media/image35.jpeg"/><Relationship Id="rId4" Type="http://schemas.openxmlformats.org/officeDocument/2006/relationships/image" Target="../media/image20.jpeg"/><Relationship Id="rId9" Type="http://schemas.openxmlformats.org/officeDocument/2006/relationships/image" Target="../media/image25.jpeg"/><Relationship Id="rId1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p:txBody>
          <a:bodyPr>
            <a:normAutofit fontScale="90000"/>
          </a:bodyPr>
          <a:lstStyle/>
          <a:p>
            <a:r>
              <a:rPr lang="en-US"/>
              <a:t>  </a:t>
            </a:r>
            <a:br>
              <a:rPr lang="en-US"/>
            </a:br>
            <a:r>
              <a:rPr lang="en-US"/>
              <a:t>W3</a:t>
            </a:r>
            <a:br>
              <a:rPr lang="en-US"/>
            </a:br>
            <a:r>
              <a:rPr lang="en-US"/>
              <a:t>Engagement Level Workshop</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p:txBody>
          <a:bodyPr/>
          <a:lstStyle/>
          <a:p>
            <a:r>
              <a:rPr lang="en-US"/>
              <a:t>Make current members’ engagement explicit to adjust expectations and better target activities</a:t>
            </a:r>
          </a:p>
        </p:txBody>
      </p:sp>
      <p:pic>
        <p:nvPicPr>
          <p:cNvPr id="2" name="Image 4">
            <a:extLst>
              <a:ext uri="{FF2B5EF4-FFF2-40B4-BE49-F238E27FC236}">
                <a16:creationId xmlns:a16="http://schemas.microsoft.com/office/drawing/2014/main" id="{F363E15C-A527-DB3C-71D8-640F348DA923}"/>
              </a:ext>
            </a:extLst>
          </p:cNvPr>
          <p:cNvPicPr>
            <a:picLocks noChangeAspect="1"/>
          </p:cNvPicPr>
          <p:nvPr/>
        </p:nvPicPr>
        <p:blipFill rotWithShape="1">
          <a:blip r:embed="rId2">
            <a:extLst>
              <a:ext uri="{28A0092B-C50C-407E-A947-70E740481C1C}">
                <a14:useLocalDpi xmlns:a14="http://schemas.microsoft.com/office/drawing/2010/main" val="0"/>
              </a:ext>
            </a:extLst>
          </a:blip>
          <a:srcRect b="18340"/>
          <a:stretch/>
        </p:blipFill>
        <p:spPr>
          <a:xfrm>
            <a:off x="9410700" y="5537255"/>
            <a:ext cx="2440305" cy="1101289"/>
          </a:xfrm>
          <a:prstGeom prst="rect">
            <a:avLst/>
          </a:prstGeom>
        </p:spPr>
      </p:pic>
      <p:graphicFrame>
        <p:nvGraphicFramePr>
          <p:cNvPr id="3" name="Tableau 5">
            <a:extLst>
              <a:ext uri="{FF2B5EF4-FFF2-40B4-BE49-F238E27FC236}">
                <a16:creationId xmlns:a16="http://schemas.microsoft.com/office/drawing/2014/main" id="{363B7F6B-2310-8EC1-F9BA-A68D1B251F70}"/>
              </a:ext>
            </a:extLst>
          </p:cNvPr>
          <p:cNvGraphicFramePr>
            <a:graphicFrameLocks noGrp="1"/>
          </p:cNvGraphicFramePr>
          <p:nvPr>
            <p:extLst>
              <p:ext uri="{D42A27DB-BD31-4B8C-83A1-F6EECF244321}">
                <p14:modId xmlns:p14="http://schemas.microsoft.com/office/powerpoint/2010/main" val="201463352"/>
              </p:ext>
            </p:extLst>
          </p:nvPr>
        </p:nvGraphicFramePr>
        <p:xfrm>
          <a:off x="7739641" y="102487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6" name="Groupe 2">
            <a:extLst>
              <a:ext uri="{FF2B5EF4-FFF2-40B4-BE49-F238E27FC236}">
                <a16:creationId xmlns:a16="http://schemas.microsoft.com/office/drawing/2014/main" id="{85BE2838-0205-F7AF-5E29-56D8B5F9D0AC}"/>
              </a:ext>
            </a:extLst>
          </p:cNvPr>
          <p:cNvGrpSpPr/>
          <p:nvPr/>
        </p:nvGrpSpPr>
        <p:grpSpPr>
          <a:xfrm>
            <a:off x="7831651" y="64897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057E5E23-28BA-7BD4-99DB-7564B6EA64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927A15BD-33E0-AD25-3964-B62D62A39AC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DDF46C9C-8A22-0D51-DF7D-D44CB62CEF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C2816F97-FC32-B877-579D-480F8B6AE41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24CB9D88-99F4-9E84-7B4D-4821901C06B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3AF108BF-08CC-632B-FB95-7C95F074C7D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40DDCAFD-3E48-B4F2-6CF5-8B6AEEF80D5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439265" y="1618355"/>
              <a:ext cx="1006668" cy="1006668"/>
            </a:xfrm>
            <a:prstGeom prst="rect">
              <a:avLst/>
            </a:prstGeom>
          </p:spPr>
        </p:pic>
        <p:pic>
          <p:nvPicPr>
            <p:cNvPr id="14" name="Graphique 14" descr="Deux cœurs avec un remplissage uni">
              <a:extLst>
                <a:ext uri="{FF2B5EF4-FFF2-40B4-BE49-F238E27FC236}">
                  <a16:creationId xmlns:a16="http://schemas.microsoft.com/office/drawing/2014/main" id="{F0D85C2A-0FDE-2C35-AF4E-07543A60852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658122" y="1561531"/>
              <a:ext cx="298183" cy="298183"/>
            </a:xfrm>
            <a:prstGeom prst="rect">
              <a:avLst/>
            </a:prstGeom>
          </p:spPr>
        </p:pic>
        <p:pic>
          <p:nvPicPr>
            <p:cNvPr id="15" name="Image 15" descr="Une image contenant personne, homme, cravate, complet&#10;&#10;Description générée automatiquement">
              <a:extLst>
                <a:ext uri="{FF2B5EF4-FFF2-40B4-BE49-F238E27FC236}">
                  <a16:creationId xmlns:a16="http://schemas.microsoft.com/office/drawing/2014/main" id="{18461846-B1AB-3D2D-A478-42B7BBC85F93}"/>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6" descr="Une image contenant personne, extérieur, souriant, violet&#10;&#10;Description générée automatiquement">
              <a:extLst>
                <a:ext uri="{FF2B5EF4-FFF2-40B4-BE49-F238E27FC236}">
                  <a16:creationId xmlns:a16="http://schemas.microsoft.com/office/drawing/2014/main" id="{D584E5AB-19B4-77AD-BA14-1BF4D6E5035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7" descr="Une image contenant personne, femme, souriant&#10;&#10;Description générée automatiquement">
              <a:extLst>
                <a:ext uri="{FF2B5EF4-FFF2-40B4-BE49-F238E27FC236}">
                  <a16:creationId xmlns:a16="http://schemas.microsoft.com/office/drawing/2014/main" id="{C67ACF53-0D21-4CF0-D1E6-0205385FCA9C}"/>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8" descr="Une image contenant personne, extérieur, souriant, foule&#10;&#10;Description générée automatiquement">
              <a:extLst>
                <a:ext uri="{FF2B5EF4-FFF2-40B4-BE49-F238E27FC236}">
                  <a16:creationId xmlns:a16="http://schemas.microsoft.com/office/drawing/2014/main" id="{DC7D2E88-4DA5-4D09-DE2E-AC6FA0D31B8F}"/>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9" descr="Une image contenant personne, souriant, homme, posant&#10;&#10;Description générée automatiquement">
              <a:extLst>
                <a:ext uri="{FF2B5EF4-FFF2-40B4-BE49-F238E27FC236}">
                  <a16:creationId xmlns:a16="http://schemas.microsoft.com/office/drawing/2014/main" id="{B2728C81-5E4F-6B00-E1D1-5E6068914BB9}"/>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0" name="Image 20" descr="Une image contenant personne, intérieur, posant, fermer&#10;&#10;Description générée automatiquement">
              <a:extLst>
                <a:ext uri="{FF2B5EF4-FFF2-40B4-BE49-F238E27FC236}">
                  <a16:creationId xmlns:a16="http://schemas.microsoft.com/office/drawing/2014/main" id="{A563DB04-D396-437A-C149-205D57277A6D}"/>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1" name="Image 21" descr="Une image contenant personne, homme, mur, souriant&#10;&#10;Description générée automatiquement">
              <a:extLst>
                <a:ext uri="{FF2B5EF4-FFF2-40B4-BE49-F238E27FC236}">
                  <a16:creationId xmlns:a16="http://schemas.microsoft.com/office/drawing/2014/main" id="{A501963D-B42C-DEF2-7B96-D5648733AEA6}"/>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2" name="Image 22" descr="Une image contenant homme, personne, intérieur, aîné&#10;&#10;Description générée automatiquement">
              <a:extLst>
                <a:ext uri="{FF2B5EF4-FFF2-40B4-BE49-F238E27FC236}">
                  <a16:creationId xmlns:a16="http://schemas.microsoft.com/office/drawing/2014/main" id="{82DFCA2F-ECC1-4E01-B2FC-FF856FE4BF5E}"/>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3" name="Image 23" descr="Une image contenant homme, personne, verres, portant&#10;&#10;Description générée automatiquement">
              <a:extLst>
                <a:ext uri="{FF2B5EF4-FFF2-40B4-BE49-F238E27FC236}">
                  <a16:creationId xmlns:a16="http://schemas.microsoft.com/office/drawing/2014/main" id="{24BD49AE-F23D-32C9-47CC-D19306DFA50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4" name="Image 24" descr="Une image contenant personne, homme, intérieur, souriant&#10;&#10;Description générée automatiquement">
              <a:extLst>
                <a:ext uri="{FF2B5EF4-FFF2-40B4-BE49-F238E27FC236}">
                  <a16:creationId xmlns:a16="http://schemas.microsoft.com/office/drawing/2014/main" id="{2178346A-FFDD-67A5-7E75-9D54C5E57137}"/>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5" name="Image 25" descr="Une image contenant personne, homme, cravate, souriant&#10;&#10;Description générée automatiquement">
              <a:extLst>
                <a:ext uri="{FF2B5EF4-FFF2-40B4-BE49-F238E27FC236}">
                  <a16:creationId xmlns:a16="http://schemas.microsoft.com/office/drawing/2014/main" id="{31E4BFC6-E0EB-1528-8222-4DD02FB033B5}"/>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6" name="Image 26" descr="Une image contenant personne, homme, souriant, aîné&#10;&#10;Description générée automatiquement">
              <a:extLst>
                <a:ext uri="{FF2B5EF4-FFF2-40B4-BE49-F238E27FC236}">
                  <a16:creationId xmlns:a16="http://schemas.microsoft.com/office/drawing/2014/main" id="{A2681A73-FDA3-9492-1645-C86932E7FBDB}"/>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7" name="Image 27" descr="Une image contenant personne, homme, souriant, aîné&#10;&#10;Description générée automatiquement">
              <a:extLst>
                <a:ext uri="{FF2B5EF4-FFF2-40B4-BE49-F238E27FC236}">
                  <a16:creationId xmlns:a16="http://schemas.microsoft.com/office/drawing/2014/main" id="{2C1AA7A0-4426-3D2E-9202-3F887A8556CF}"/>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8" name="Image 28" descr="Une image contenant personne, femme, souriant, posant&#10;&#10;Description générée automatiquement">
              <a:extLst>
                <a:ext uri="{FF2B5EF4-FFF2-40B4-BE49-F238E27FC236}">
                  <a16:creationId xmlns:a16="http://schemas.microsoft.com/office/drawing/2014/main" id="{F36960A6-B882-6158-0E02-FD0E8FB817B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29" name="Image 29" descr="Une image contenant personne, extérieur, fermer&#10;&#10;Description générée automatiquement">
              <a:extLst>
                <a:ext uri="{FF2B5EF4-FFF2-40B4-BE49-F238E27FC236}">
                  <a16:creationId xmlns:a16="http://schemas.microsoft.com/office/drawing/2014/main" id="{B6C879A9-537E-0FDB-F337-8999282C658D}"/>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0" name="Image 30" descr="Une image contenant personne, mur, intérieur, jeune&#10;&#10;Description générée automatiquement">
              <a:extLst>
                <a:ext uri="{FF2B5EF4-FFF2-40B4-BE49-F238E27FC236}">
                  <a16:creationId xmlns:a16="http://schemas.microsoft.com/office/drawing/2014/main" id="{A5A63592-64D9-0BF7-7693-1463BF745F08}"/>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1" name="Image 31" descr="Une image contenant personne, homme, extérieur, arbre&#10;&#10;Description générée automatiquement">
              <a:extLst>
                <a:ext uri="{FF2B5EF4-FFF2-40B4-BE49-F238E27FC236}">
                  <a16:creationId xmlns:a16="http://schemas.microsoft.com/office/drawing/2014/main" id="{9FA72D73-FDE4-1709-B27F-4C3D5ABF56E4}"/>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2" name="Image 32" descr="Une image contenant personne, mur, souriant, intérieur&#10;&#10;Description générée automatiquement">
              <a:extLst>
                <a:ext uri="{FF2B5EF4-FFF2-40B4-BE49-F238E27FC236}">
                  <a16:creationId xmlns:a16="http://schemas.microsoft.com/office/drawing/2014/main" id="{E4C7397D-17E9-E781-CBCB-E194E49C9227}"/>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3" name="Image 33" descr="Une image contenant personne, mur, souriant, posant&#10;&#10;Description générée automatiquement">
              <a:extLst>
                <a:ext uri="{FF2B5EF4-FFF2-40B4-BE49-F238E27FC236}">
                  <a16:creationId xmlns:a16="http://schemas.microsoft.com/office/drawing/2014/main" id="{B8144F11-8CEE-0A90-17D0-D5CFDA3172AD}"/>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4" name="Image 34" descr="Une image contenant personne, mur, homme, souriant&#10;&#10;Description générée automatiquement">
              <a:extLst>
                <a:ext uri="{FF2B5EF4-FFF2-40B4-BE49-F238E27FC236}">
                  <a16:creationId xmlns:a16="http://schemas.microsoft.com/office/drawing/2014/main" id="{B0DEC5DF-73DE-BD50-7A10-6604842205E9}"/>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57033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en-US"/>
              <a:t>This document is an #OpenSeriousCommunity #OSC content</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en-US"/>
              <a:t>#OpenSeriousCommunity is a set of resources, organized as a framework, dedicated to help animate, sustain and develop communities. </a:t>
            </a:r>
          </a:p>
          <a:p>
            <a:pPr marL="0" indent="0">
              <a:buNone/>
            </a:pPr>
            <a:r>
              <a:rPr lang="en-US"/>
              <a:t>The communities concerned by #OpenSeriousCommunity can be as much in the corporate domain, as in associations, institutions or private. </a:t>
            </a:r>
          </a:p>
          <a:p>
            <a:pPr marL="0" indent="0">
              <a:buNone/>
            </a:pPr>
            <a:r>
              <a:rPr lang="en-US"/>
              <a:t>The #OpenSeriousCommunity contents follow the attributes of the #OSG contents, meaning that they are open-source, and structured to favor a maximum of appropriation of the content for retransmission purposes.</a:t>
            </a:r>
          </a:p>
          <a:p>
            <a:pPr marL="0" indent="0">
              <a:buNone/>
            </a:pPr>
            <a:r>
              <a:rPr lang="en-US"/>
              <a:t>To learn more, visit </a:t>
            </a:r>
            <a:r>
              <a:rPr lang="en-US">
                <a:hlinkClick r:id="rId2"/>
              </a:rPr>
              <a:t>https://www.openseriousgames.org/OpenSeriousCommunity</a:t>
            </a:r>
            <a:endParaRPr lang="en-US"/>
          </a:p>
          <a:p>
            <a:pPr marL="0" indent="0">
              <a:buNone/>
            </a:pPr>
            <a:endParaRPr lang="en-US"/>
          </a:p>
          <a:p>
            <a:pPr marL="0" indent="0">
              <a:buNone/>
            </a:pPr>
            <a:endParaRPr lang="en-US"/>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Expected result example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020376604"/>
              </p:ext>
            </p:extLst>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dirty="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8"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spTree>
    <p:extLst>
      <p:ext uri="{BB962C8B-B14F-4D97-AF65-F5344CB8AC3E}">
        <p14:creationId xmlns:p14="http://schemas.microsoft.com/office/powerpoint/2010/main" val="1434059974"/>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a:t>Engagement Level workshop</a:t>
            </a:r>
            <a:br>
              <a:rPr lang="en-US" sz="2800"/>
            </a:br>
            <a:r>
              <a:rPr lang="en-US" sz="2800"/>
              <a:t>Using the result</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1173014853"/>
              </p:ext>
            </p:extLst>
          </p:nvPr>
        </p:nvGraphicFramePr>
        <p:xfrm>
          <a:off x="963756" y="2178245"/>
          <a:ext cx="10788785" cy="2263826"/>
        </p:xfrm>
        <a:graphic>
          <a:graphicData uri="http://schemas.openxmlformats.org/drawingml/2006/table">
            <a:tbl>
              <a:tblPr firstRow="1" bandRow="1">
                <a:tableStyleId>{5C22544A-7EE6-4342-B048-85BDC9FD1C3A}</a:tableStyleId>
              </a:tblPr>
              <a:tblGrid>
                <a:gridCol w="1541255">
                  <a:extLst>
                    <a:ext uri="{9D8B030D-6E8A-4147-A177-3AD203B41FA5}">
                      <a16:colId xmlns:a16="http://schemas.microsoft.com/office/drawing/2014/main" val="1258243979"/>
                    </a:ext>
                  </a:extLst>
                </a:gridCol>
                <a:gridCol w="1541255">
                  <a:extLst>
                    <a:ext uri="{9D8B030D-6E8A-4147-A177-3AD203B41FA5}">
                      <a16:colId xmlns:a16="http://schemas.microsoft.com/office/drawing/2014/main" val="1079462814"/>
                    </a:ext>
                  </a:extLst>
                </a:gridCol>
                <a:gridCol w="1541255">
                  <a:extLst>
                    <a:ext uri="{9D8B030D-6E8A-4147-A177-3AD203B41FA5}">
                      <a16:colId xmlns:a16="http://schemas.microsoft.com/office/drawing/2014/main" val="3397691572"/>
                    </a:ext>
                  </a:extLst>
                </a:gridCol>
                <a:gridCol w="1541255">
                  <a:extLst>
                    <a:ext uri="{9D8B030D-6E8A-4147-A177-3AD203B41FA5}">
                      <a16:colId xmlns:a16="http://schemas.microsoft.com/office/drawing/2014/main" val="3075883050"/>
                    </a:ext>
                  </a:extLst>
                </a:gridCol>
                <a:gridCol w="1541255">
                  <a:extLst>
                    <a:ext uri="{9D8B030D-6E8A-4147-A177-3AD203B41FA5}">
                      <a16:colId xmlns:a16="http://schemas.microsoft.com/office/drawing/2014/main" val="1259412674"/>
                    </a:ext>
                  </a:extLst>
                </a:gridCol>
                <a:gridCol w="1541255">
                  <a:extLst>
                    <a:ext uri="{9D8B030D-6E8A-4147-A177-3AD203B41FA5}">
                      <a16:colId xmlns:a16="http://schemas.microsoft.com/office/drawing/2014/main" val="3392695109"/>
                    </a:ext>
                  </a:extLst>
                </a:gridCol>
                <a:gridCol w="1541255">
                  <a:extLst>
                    <a:ext uri="{9D8B030D-6E8A-4147-A177-3AD203B41FA5}">
                      <a16:colId xmlns:a16="http://schemas.microsoft.com/office/drawing/2014/main" val="2848032752"/>
                    </a:ext>
                  </a:extLst>
                </a:gridCol>
              </a:tblGrid>
              <a:tr h="248980">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04546">
                <a:tc>
                  <a:txBody>
                    <a:bodyPr/>
                    <a:lstStyle/>
                    <a:p>
                      <a:pPr algn="ctr"/>
                      <a:r>
                        <a:rPr lang="en-US" sz="80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Active attendee</a:t>
                      </a:r>
                    </a:p>
                  </a:txBody>
                  <a:tcPr>
                    <a:solidFill>
                      <a:schemeClr val="bg1">
                        <a:lumMod val="95000"/>
                      </a:schemeClr>
                    </a:solidFill>
                  </a:tcPr>
                </a:tc>
                <a:tc>
                  <a:txBody>
                    <a:bodyPr/>
                    <a:lstStyle/>
                    <a:p>
                      <a:pPr algn="ctr"/>
                      <a:r>
                        <a:rPr lang="en-US" sz="8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Leader &amp; Creator</a:t>
                      </a:r>
                    </a:p>
                  </a:txBody>
                  <a:tcPr>
                    <a:solidFill>
                      <a:schemeClr val="accent1">
                        <a:lumMod val="75000"/>
                      </a:schemeClr>
                    </a:solidFill>
                  </a:tcPr>
                </a:tc>
                <a:tc>
                  <a:txBody>
                    <a:bodyPr/>
                    <a:lstStyle/>
                    <a:p>
                      <a:pPr algn="ctr"/>
                      <a:r>
                        <a:rPr lang="en-US" sz="80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4045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Propose Subscription to Social network accounts of the Community and react to posts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txBody>
                  <a:tcPr>
                    <a:solidFill>
                      <a:schemeClr val="bg1"/>
                    </a:solidFill>
                  </a:tcPr>
                </a:tc>
                <a:tc>
                  <a:txBody>
                    <a:bodyPr/>
                    <a:lstStyle/>
                    <a:p>
                      <a:pPr algn="ctr"/>
                      <a:r>
                        <a:rPr lang="en-US" sz="800">
                          <a:solidFill>
                            <a:schemeClr val="tx1"/>
                          </a:solidFill>
                        </a:rPr>
                        <a:t>Invite to events</a:t>
                      </a:r>
                    </a:p>
                    <a:p>
                      <a:pPr algn="ct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ask questions in the Community Chat room</a:t>
                      </a:r>
                    </a:p>
                  </a:txBody>
                  <a:tcPr>
                    <a:solidFill>
                      <a:schemeClr val="bg1">
                        <a:lumMod val="95000"/>
                      </a:schemeClr>
                    </a:solidFill>
                  </a:tcPr>
                </a:tc>
                <a:tc>
                  <a:txBody>
                    <a:bodyPr/>
                    <a:lstStyle/>
                    <a:p>
                      <a:pPr algn="ctr"/>
                      <a:r>
                        <a:rPr lang="en-US" sz="800">
                          <a:solidFill>
                            <a:schemeClr val="tx1"/>
                          </a:solidFill>
                        </a:rPr>
                        <a:t>Invite to series of events</a:t>
                      </a:r>
                    </a:p>
                    <a:p>
                      <a:pPr algn="ctr"/>
                      <a:endParaRPr lang="en-US" sz="800">
                        <a:solidFill>
                          <a:schemeClr val="tx1"/>
                        </a:solidFill>
                      </a:endParaRPr>
                    </a:p>
                    <a:p>
                      <a:pPr algn="ctr"/>
                      <a:r>
                        <a:rPr lang="en-US" sz="800">
                          <a:solidFill>
                            <a:schemeClr val="tx1"/>
                          </a:solidFill>
                        </a:rPr>
                        <a:t>Ask for some basic feedback to improve the Community (using polls)</a:t>
                      </a:r>
                    </a:p>
                  </a:txBody>
                  <a:tcPr>
                    <a:solidFill>
                      <a:schemeClr val="accent1">
                        <a:lumMod val="20000"/>
                        <a:lumOff val="80000"/>
                      </a:schemeClr>
                    </a:solidFill>
                  </a:tcPr>
                </a:tc>
                <a:tc>
                  <a:txBody>
                    <a:bodyPr/>
                    <a:lstStyle/>
                    <a:p>
                      <a:pPr marL="0" indent="0" algn="ctr">
                        <a:buFontTx/>
                        <a:buNone/>
                      </a:pPr>
                      <a:r>
                        <a:rPr lang="en-US" sz="800">
                          <a:solidFill>
                            <a:schemeClr val="tx1"/>
                          </a:solidFill>
                        </a:rPr>
                        <a:t>Offer to register as contributor for microtasks in Community projects or activities</a:t>
                      </a:r>
                    </a:p>
                    <a:p>
                      <a:pPr marL="0" indent="0" algn="ctr">
                        <a:buFontTx/>
                        <a:buNone/>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Answers questions in the Community chatroom / forum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provide deeper feedback for the evolution of the Community</a:t>
                      </a:r>
                    </a:p>
                  </a:txBody>
                  <a:tcPr>
                    <a:solidFill>
                      <a:schemeClr val="accent1">
                        <a:lumMod val="40000"/>
                        <a:lumOff val="60000"/>
                      </a:schemeClr>
                    </a:solidFill>
                  </a:tcPr>
                </a:tc>
                <a:tc>
                  <a:txBody>
                    <a:bodyPr/>
                    <a:lstStyle/>
                    <a:p>
                      <a:pPr marL="0" indent="0" algn="ctr">
                        <a:buFontTx/>
                        <a:buNone/>
                      </a:pPr>
                      <a:r>
                        <a:rPr lang="en-US" sz="800">
                          <a:solidFill>
                            <a:schemeClr val="tx1"/>
                          </a:solidFill>
                        </a:rPr>
                        <a:t>Invite to Community decision meetings</a:t>
                      </a:r>
                    </a:p>
                    <a:p>
                      <a:pPr marL="0" indent="0" algn="ctr">
                        <a:buFontTx/>
                        <a:buNone/>
                      </a:pPr>
                      <a:endParaRPr lang="en-US" sz="800">
                        <a:solidFill>
                          <a:schemeClr val="tx1"/>
                        </a:solidFill>
                      </a:endParaRPr>
                    </a:p>
                    <a:p>
                      <a:pPr marL="0" indent="0" algn="ctr">
                        <a:buFontTx/>
                        <a:buNone/>
                      </a:pPr>
                      <a:r>
                        <a:rPr lang="en-US" sz="800">
                          <a:solidFill>
                            <a:schemeClr val="tx1"/>
                          </a:solidFill>
                        </a:rPr>
                        <a:t>Invite Organize events</a:t>
                      </a:r>
                    </a:p>
                    <a:p>
                      <a:pPr marL="0" indent="0" algn="ctr">
                        <a:buFontTx/>
                        <a:buNone/>
                      </a:pPr>
                      <a:endParaRPr lang="en-US" sz="800">
                        <a:solidFill>
                          <a:schemeClr val="tx1"/>
                        </a:solidFill>
                      </a:endParaRPr>
                    </a:p>
                    <a:p>
                      <a:pPr marL="0" indent="0" algn="ctr">
                        <a:buFontTx/>
                        <a:buNone/>
                      </a:pPr>
                      <a:r>
                        <a:rPr lang="en-US" sz="800">
                          <a:solidFill>
                            <a:schemeClr val="tx1"/>
                          </a:solidFill>
                        </a:rPr>
                        <a:t>Assign projects to lead</a:t>
                      </a:r>
                    </a:p>
                    <a:p>
                      <a:pPr marL="0" indent="0" algn="ctr">
                        <a:buFontTx/>
                        <a:buNone/>
                      </a:pPr>
                      <a:endParaRPr lang="en-US" sz="80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Invite to collect external content and push in the Community Chatroom</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Create original content or push content for the Community</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Propose creative spaces to express and share their content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to community organization activities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solidFill>
                        </a:rPr>
                        <a:t>Invite to matchmake members </a:t>
                      </a:r>
                    </a:p>
                  </a:txBody>
                  <a:tcPr>
                    <a:solidFill>
                      <a:schemeClr val="accent1">
                        <a:lumMod val="50000"/>
                      </a:schemeClr>
                    </a:solidFill>
                  </a:tcPr>
                </a:tc>
                <a:extLst>
                  <a:ext uri="{0D108BD9-81ED-4DB2-BD59-A6C34878D82A}">
                    <a16:rowId xmlns:a16="http://schemas.microsoft.com/office/drawing/2014/main" val="267751914"/>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73308" y="1491580"/>
            <a:ext cx="593626" cy="593626"/>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9745" y="1497784"/>
            <a:ext cx="593626" cy="593626"/>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69619" y="1536447"/>
            <a:ext cx="593626" cy="593626"/>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63182" y="1545598"/>
            <a:ext cx="593626" cy="593626"/>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054487" y="1563382"/>
            <a:ext cx="593626" cy="593626"/>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580627" y="1512940"/>
            <a:ext cx="593626" cy="593626"/>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69824" y="1466773"/>
            <a:ext cx="653526" cy="653526"/>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953397" y="1512940"/>
            <a:ext cx="193580" cy="193580"/>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0276176D-F7A9-4CE2-B96F-50F8526D654B}"/>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734013" y="4400999"/>
            <a:ext cx="313318" cy="313318"/>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08E70334-DC8D-44AE-A7CA-2F341A52CFAB}"/>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44724" y="4854454"/>
            <a:ext cx="313318" cy="313318"/>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76249754-B172-453C-9100-F34D4DC154BF}"/>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284918" y="4400999"/>
            <a:ext cx="313318" cy="313318"/>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7F10C11-D993-43AD-AB86-7FBC69388431}"/>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825740" y="4414140"/>
            <a:ext cx="313318" cy="313318"/>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9F59AF60-28A7-4227-A04A-82F057E4E395}"/>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064449" y="4881543"/>
            <a:ext cx="313318" cy="313318"/>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609071F0-5988-48C3-A685-A4C22EE55AAA}"/>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500724" y="4400999"/>
            <a:ext cx="313318" cy="313318"/>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D8BD9263-601F-497E-B078-B7496254547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3290439" y="4846796"/>
            <a:ext cx="313318" cy="313318"/>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574B43B9-1207-44D3-93E4-B1BBF9231271}"/>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879562" y="4445616"/>
            <a:ext cx="313318" cy="313318"/>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F087FC78-82D7-4755-99CB-6282CAF67A6C}"/>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500723" y="4857940"/>
            <a:ext cx="313318" cy="313318"/>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50FCE991-F848-4755-AC46-5130D5745A90}"/>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963070" y="4429948"/>
            <a:ext cx="313318" cy="313318"/>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839CCB55-AC94-4D99-BBB5-6386375EF7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969054" y="4870421"/>
            <a:ext cx="313318" cy="313318"/>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3A9B69B3-2DEC-4C7A-A850-EA7289AED434}"/>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1062028" y="4423935"/>
            <a:ext cx="313318" cy="313318"/>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A0993739-AC3B-4B94-9694-73350ADFBF1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838831" y="4868477"/>
            <a:ext cx="313318" cy="313318"/>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C3E77CF2-5F1F-4CA7-B976-4F2BBE140328}"/>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389958" y="4421245"/>
            <a:ext cx="313318" cy="313318"/>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2D0E2BF7-1229-451F-B53F-3FD3EBEE82B7}"/>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44725" y="4409782"/>
            <a:ext cx="313318" cy="313318"/>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992D300-3C14-4FA6-91F4-675AEE6F2A76}"/>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1084114" y="4334410"/>
            <a:ext cx="313318" cy="313318"/>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B8CF211B-6FE4-4BED-8EA8-924DFC16BE05}"/>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1506938" y="4870421"/>
            <a:ext cx="313318" cy="313318"/>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36F58715-BF9C-4B0F-BAC8-09E0E05F1B1C}"/>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1064448" y="5319821"/>
            <a:ext cx="313318" cy="313318"/>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43E33ACB-9EB9-4E21-94DC-55C9538EFA04}"/>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1512549" y="4424166"/>
            <a:ext cx="313318" cy="313318"/>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46630AD1-BA54-47AC-8948-D033FBA44BF6}"/>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734013" y="4854454"/>
            <a:ext cx="313318" cy="313318"/>
          </a:xfrm>
          <a:prstGeom prst="rect">
            <a:avLst/>
          </a:prstGeom>
        </p:spPr>
      </p:pic>
      <p:sp>
        <p:nvSpPr>
          <p:cNvPr id="4" name="ZoneTexte 3">
            <a:extLst>
              <a:ext uri="{FF2B5EF4-FFF2-40B4-BE49-F238E27FC236}">
                <a16:creationId xmlns:a16="http://schemas.microsoft.com/office/drawing/2014/main" id="{BC93323B-E7A5-47FE-8DD4-55346F092C58}"/>
              </a:ext>
            </a:extLst>
          </p:cNvPr>
          <p:cNvSpPr txBox="1"/>
          <p:nvPr/>
        </p:nvSpPr>
        <p:spPr>
          <a:xfrm>
            <a:off x="0" y="3177331"/>
            <a:ext cx="871477" cy="461665"/>
          </a:xfrm>
          <a:prstGeom prst="rect">
            <a:avLst/>
          </a:prstGeom>
          <a:noFill/>
        </p:spPr>
        <p:txBody>
          <a:bodyPr wrap="square" rtlCol="0">
            <a:spAutoFit/>
          </a:bodyPr>
          <a:lstStyle/>
          <a:p>
            <a:r>
              <a:rPr lang="en-US" sz="800" b="1"/>
              <a:t>Suggested actions</a:t>
            </a:r>
          </a:p>
          <a:p>
            <a:r>
              <a:rPr lang="en-US" sz="800" b="1">
                <a:sym typeface="Wingdings" panose="05000000000000000000" pitchFamily="2" charset="2"/>
              </a:rPr>
              <a:t></a:t>
            </a:r>
            <a:endParaRPr lang="en-US" sz="800" b="1"/>
          </a:p>
        </p:txBody>
      </p:sp>
      <p:sp>
        <p:nvSpPr>
          <p:cNvPr id="40" name="Espace réservé du contenu 2">
            <a:extLst>
              <a:ext uri="{FF2B5EF4-FFF2-40B4-BE49-F238E27FC236}">
                <a16:creationId xmlns:a16="http://schemas.microsoft.com/office/drawing/2014/main" id="{9DE310B6-18CC-4DB6-8D44-8558B438EBAF}"/>
              </a:ext>
            </a:extLst>
          </p:cNvPr>
          <p:cNvSpPr txBox="1">
            <a:spLocks/>
          </p:cNvSpPr>
          <p:nvPr/>
        </p:nvSpPr>
        <p:spPr>
          <a:xfrm>
            <a:off x="2825740" y="5225002"/>
            <a:ext cx="9072662" cy="1323890"/>
          </a:xfrm>
          <a:prstGeom prst="rect">
            <a:avLst/>
          </a:prstGeom>
          <a:solidFill>
            <a:srgbClr val="EC7B2B"/>
          </a:solidFill>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a:t>What to do with the results ?</a:t>
            </a:r>
          </a:p>
          <a:p>
            <a:pPr marL="0" indent="0">
              <a:buFont typeface="Arial" panose="020B0604020202020204" pitchFamily="34" charset="0"/>
              <a:buNone/>
            </a:pPr>
            <a:r>
              <a:rPr lang="en-US" sz="1000"/>
              <a:t>✔️ Use it to recommend activities that fit the declared level of involvement</a:t>
            </a:r>
          </a:p>
          <a:p>
            <a:pPr marL="0" indent="0">
              <a:buFont typeface="Arial" panose="020B0604020202020204" pitchFamily="34" charset="0"/>
              <a:buNone/>
            </a:pPr>
            <a:r>
              <a:rPr lang="en-US" sz="1000"/>
              <a:t>💬 Use it to set up subgroups and decide on tools</a:t>
            </a:r>
          </a:p>
          <a:p>
            <a:pPr marL="0" indent="0">
              <a:buFont typeface="Arial" panose="020B0604020202020204" pitchFamily="34" charset="0"/>
              <a:buNone/>
            </a:pPr>
            <a:r>
              <a:rPr lang="en-US" sz="1000"/>
              <a:t>🔲 Use it to define Community engagement objectives (with stakeholders)</a:t>
            </a:r>
          </a:p>
          <a:p>
            <a:pPr marL="0" indent="0">
              <a:buFont typeface="Arial" panose="020B0604020202020204" pitchFamily="34" charset="0"/>
              <a:buNone/>
            </a:pPr>
            <a:r>
              <a:rPr lang="en-US" sz="1000"/>
              <a:t>📅 Update it regularly (example : once every quarter or every 10 sessions) or when Community members have drastically changed.</a:t>
            </a:r>
          </a:p>
          <a:p>
            <a:pPr marL="0" indent="0">
              <a:buFont typeface="Arial" panose="020B0604020202020204" pitchFamily="34" charset="0"/>
              <a:buNone/>
            </a:pPr>
            <a:endParaRPr lang="en-US" sz="1000"/>
          </a:p>
        </p:txBody>
      </p:sp>
    </p:spTree>
    <p:extLst>
      <p:ext uri="{BB962C8B-B14F-4D97-AF65-F5344CB8AC3E}">
        <p14:creationId xmlns:p14="http://schemas.microsoft.com/office/powerpoint/2010/main" val="243837415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FB29D0-660A-D7F7-7095-46262FDEF5A6}"/>
              </a:ext>
            </a:extLst>
          </p:cNvPr>
          <p:cNvSpPr>
            <a:spLocks noGrp="1"/>
          </p:cNvSpPr>
          <p:nvPr>
            <p:ph type="title"/>
          </p:nvPr>
        </p:nvSpPr>
        <p:spPr/>
        <p:txBody>
          <a:bodyPr/>
          <a:lstStyle/>
          <a:p>
            <a:r>
              <a:rPr lang="en-US" dirty="0"/>
              <a:t>Version history</a:t>
            </a:r>
          </a:p>
        </p:txBody>
      </p:sp>
      <p:graphicFrame>
        <p:nvGraphicFramePr>
          <p:cNvPr id="4" name="Tabella 4">
            <a:extLst>
              <a:ext uri="{FF2B5EF4-FFF2-40B4-BE49-F238E27FC236}">
                <a16:creationId xmlns:a16="http://schemas.microsoft.com/office/drawing/2014/main" id="{B1BAC992-D0FE-C24E-FC21-C59FB06DB746}"/>
              </a:ext>
            </a:extLst>
          </p:cNvPr>
          <p:cNvGraphicFramePr>
            <a:graphicFrameLocks noGrp="1"/>
          </p:cNvGraphicFramePr>
          <p:nvPr>
            <p:ph idx="1"/>
            <p:extLst>
              <p:ext uri="{D42A27DB-BD31-4B8C-83A1-F6EECF244321}">
                <p14:modId xmlns:p14="http://schemas.microsoft.com/office/powerpoint/2010/main" val="2653581917"/>
              </p:ext>
            </p:extLst>
          </p:nvPr>
        </p:nvGraphicFramePr>
        <p:xfrm>
          <a:off x="1116013" y="2057464"/>
          <a:ext cx="10167936" cy="3215640"/>
        </p:xfrm>
        <a:graphic>
          <a:graphicData uri="http://schemas.openxmlformats.org/drawingml/2006/table">
            <a:tbl>
              <a:tblPr firstRow="1" bandRow="1">
                <a:tableStyleId>{5C22544A-7EE6-4342-B048-85BDC9FD1C3A}</a:tableStyleId>
              </a:tblPr>
              <a:tblGrid>
                <a:gridCol w="1398587">
                  <a:extLst>
                    <a:ext uri="{9D8B030D-6E8A-4147-A177-3AD203B41FA5}">
                      <a16:colId xmlns:a16="http://schemas.microsoft.com/office/drawing/2014/main" val="2913910028"/>
                    </a:ext>
                  </a:extLst>
                </a:gridCol>
                <a:gridCol w="2057400">
                  <a:extLst>
                    <a:ext uri="{9D8B030D-6E8A-4147-A177-3AD203B41FA5}">
                      <a16:colId xmlns:a16="http://schemas.microsoft.com/office/drawing/2014/main" val="1907936708"/>
                    </a:ext>
                  </a:extLst>
                </a:gridCol>
                <a:gridCol w="6711949">
                  <a:extLst>
                    <a:ext uri="{9D8B030D-6E8A-4147-A177-3AD203B41FA5}">
                      <a16:colId xmlns:a16="http://schemas.microsoft.com/office/drawing/2014/main" val="3912563693"/>
                    </a:ext>
                  </a:extLst>
                </a:gridCol>
              </a:tblGrid>
              <a:tr h="370840">
                <a:tc>
                  <a:txBody>
                    <a:bodyPr/>
                    <a:lstStyle/>
                    <a:p>
                      <a:r>
                        <a:rPr lang="en-US" dirty="0"/>
                        <a:t>Version</a:t>
                      </a:r>
                    </a:p>
                  </a:txBody>
                  <a:tcPr/>
                </a:tc>
                <a:tc>
                  <a:txBody>
                    <a:bodyPr/>
                    <a:lstStyle/>
                    <a:p>
                      <a:r>
                        <a:rPr lang="en-US" dirty="0"/>
                        <a:t>Contributors</a:t>
                      </a:r>
                    </a:p>
                  </a:txBody>
                  <a:tcPr/>
                </a:tc>
                <a:tc>
                  <a:txBody>
                    <a:bodyPr/>
                    <a:lstStyle/>
                    <a:p>
                      <a:r>
                        <a:rPr lang="en-US" dirty="0"/>
                        <a:t>Update</a:t>
                      </a:r>
                    </a:p>
                  </a:txBody>
                  <a:tcPr/>
                </a:tc>
                <a:extLst>
                  <a:ext uri="{0D108BD9-81ED-4DB2-BD59-A6C34878D82A}">
                    <a16:rowId xmlns:a16="http://schemas.microsoft.com/office/drawing/2014/main" val="4233643669"/>
                  </a:ext>
                </a:extLst>
              </a:tr>
              <a:tr h="370840">
                <a:tc>
                  <a:txBody>
                    <a:bodyPr/>
                    <a:lstStyle/>
                    <a:p>
                      <a:r>
                        <a:rPr lang="en-US" sz="1200" dirty="0"/>
                        <a:t>1.0</a:t>
                      </a:r>
                    </a:p>
                  </a:txBody>
                  <a:tcPr/>
                </a:tc>
                <a:tc>
                  <a:txBody>
                    <a:bodyPr/>
                    <a:lstStyle/>
                    <a:p>
                      <a:r>
                        <a:rPr lang="en-US" sz="1200" dirty="0"/>
                        <a:t>Alexandre QUACH</a:t>
                      </a:r>
                    </a:p>
                  </a:txBody>
                  <a:tcPr/>
                </a:tc>
                <a:tc>
                  <a:txBody>
                    <a:bodyPr/>
                    <a:lstStyle/>
                    <a:p>
                      <a:r>
                        <a:rPr lang="en-US" sz="1200" dirty="0"/>
                        <a:t>First base workshop version</a:t>
                      </a:r>
                    </a:p>
                  </a:txBody>
                  <a:tcPr/>
                </a:tc>
                <a:extLst>
                  <a:ext uri="{0D108BD9-81ED-4DB2-BD59-A6C34878D82A}">
                    <a16:rowId xmlns:a16="http://schemas.microsoft.com/office/drawing/2014/main" val="4054614110"/>
                  </a:ext>
                </a:extLst>
              </a:tr>
              <a:tr h="370840">
                <a:tc>
                  <a:txBody>
                    <a:bodyPr/>
                    <a:lstStyle/>
                    <a:p>
                      <a:r>
                        <a:rPr lang="en-US" sz="1200" dirty="0"/>
                        <a:t>1.1</a:t>
                      </a:r>
                    </a:p>
                  </a:txBody>
                  <a:tcPr/>
                </a:tc>
                <a:tc>
                  <a:txBody>
                    <a:bodyPr/>
                    <a:lstStyle/>
                    <a:p>
                      <a:r>
                        <a:rPr lang="en-US" sz="1200" dirty="0"/>
                        <a:t>Alexandre QUACH</a:t>
                      </a:r>
                    </a:p>
                  </a:txBody>
                  <a:tcPr/>
                </a:tc>
                <a:tc>
                  <a:txBody>
                    <a:bodyPr/>
                    <a:lstStyle/>
                    <a:p>
                      <a:r>
                        <a:rPr lang="en-US" sz="1200" dirty="0"/>
                        <a:t>Adding variant : with individual engagement goals</a:t>
                      </a:r>
                    </a:p>
                  </a:txBody>
                  <a:tcPr/>
                </a:tc>
                <a:extLst>
                  <a:ext uri="{0D108BD9-81ED-4DB2-BD59-A6C34878D82A}">
                    <a16:rowId xmlns:a16="http://schemas.microsoft.com/office/drawing/2014/main" val="1202914957"/>
                  </a:ext>
                </a:extLst>
              </a:tr>
              <a:tr h="370840">
                <a:tc>
                  <a:txBody>
                    <a:bodyPr/>
                    <a:lstStyle/>
                    <a:p>
                      <a:r>
                        <a:rPr lang="en-US" sz="1200" dirty="0"/>
                        <a:t>1.2</a:t>
                      </a:r>
                    </a:p>
                  </a:txBody>
                  <a:tcPr/>
                </a:tc>
                <a:tc>
                  <a:txBody>
                    <a:bodyPr/>
                    <a:lstStyle/>
                    <a:p>
                      <a:r>
                        <a:rPr lang="en-US" sz="1200" dirty="0"/>
                        <a:t>Alexandre QUACH</a:t>
                      </a:r>
                    </a:p>
                  </a:txBody>
                  <a:tcPr/>
                </a:tc>
                <a:tc>
                  <a:txBody>
                    <a:bodyPr/>
                    <a:lstStyle/>
                    <a:p>
                      <a:r>
                        <a:rPr lang="en-US" sz="1200" dirty="0"/>
                        <a:t>Addition of additional level systems</a:t>
                      </a:r>
                    </a:p>
                    <a:p>
                      <a:r>
                        <a:rPr lang="en-US" sz="1200" dirty="0"/>
                        <a:t>Addition of the #OpenSeriousCommunity Tag &amp; Information</a:t>
                      </a:r>
                    </a:p>
                    <a:p>
                      <a:r>
                        <a:rPr lang="en-US" sz="1200" dirty="0"/>
                        <a:t>Addition of version history</a:t>
                      </a:r>
                    </a:p>
                    <a:p>
                      <a:r>
                        <a:rPr lang="en-US" sz="1200" dirty="0"/>
                        <a:t>Clarification of working assumption</a:t>
                      </a:r>
                    </a:p>
                  </a:txBody>
                  <a:tcPr/>
                </a:tc>
                <a:extLst>
                  <a:ext uri="{0D108BD9-81ED-4DB2-BD59-A6C34878D82A}">
                    <a16:rowId xmlns:a16="http://schemas.microsoft.com/office/drawing/2014/main" val="302890849"/>
                  </a:ext>
                </a:extLst>
              </a:tr>
              <a:tr h="370840">
                <a:tc>
                  <a:txBody>
                    <a:bodyPr/>
                    <a:lstStyle/>
                    <a:p>
                      <a:r>
                        <a:rPr lang="en-US" sz="1200" dirty="0"/>
                        <a:t>1.3</a:t>
                      </a:r>
                    </a:p>
                  </a:txBody>
                  <a:tcPr/>
                </a:tc>
                <a:tc>
                  <a:txBody>
                    <a:bodyPr/>
                    <a:lstStyle/>
                    <a:p>
                      <a:r>
                        <a:rPr lang="en-US" sz="1200" dirty="0"/>
                        <a:t>Alexandre QUACH</a:t>
                      </a:r>
                    </a:p>
                  </a:txBody>
                  <a:tcPr/>
                </a:tc>
                <a:tc>
                  <a:txBody>
                    <a:bodyPr/>
                    <a:lstStyle/>
                    <a:p>
                      <a:r>
                        <a:rPr lang="en-US" sz="1200" dirty="0"/>
                        <a:t>Added names in the additional level systems</a:t>
                      </a:r>
                    </a:p>
                    <a:p>
                      <a:r>
                        <a:rPr lang="en-US" sz="1200" dirty="0"/>
                        <a:t>Addition of “Relative engagement level”</a:t>
                      </a:r>
                    </a:p>
                    <a:p>
                      <a:endParaRPr lang="en-US" sz="1200" dirty="0"/>
                    </a:p>
                  </a:txBody>
                  <a:tcPr/>
                </a:tc>
                <a:extLst>
                  <a:ext uri="{0D108BD9-81ED-4DB2-BD59-A6C34878D82A}">
                    <a16:rowId xmlns:a16="http://schemas.microsoft.com/office/drawing/2014/main" val="1064432066"/>
                  </a:ext>
                </a:extLst>
              </a:tr>
              <a:tr h="370840">
                <a:tc>
                  <a:txBody>
                    <a:bodyPr/>
                    <a:lstStyle/>
                    <a:p>
                      <a:r>
                        <a:rPr lang="en-US" sz="1200" dirty="0"/>
                        <a:t>1.4</a:t>
                      </a:r>
                    </a:p>
                  </a:txBody>
                  <a:tcPr/>
                </a:tc>
                <a:tc>
                  <a:txBody>
                    <a:bodyPr/>
                    <a:lstStyle/>
                    <a:p>
                      <a:r>
                        <a:rPr lang="en-US" sz="1200" dirty="0"/>
                        <a:t>Alexandre QUACH</a:t>
                      </a:r>
                    </a:p>
                  </a:txBody>
                  <a:tcPr/>
                </a:tc>
                <a:tc>
                  <a:txBody>
                    <a:bodyPr/>
                    <a:lstStyle/>
                    <a:p>
                      <a:r>
                        <a:rPr lang="en-US" sz="1200" dirty="0"/>
                        <a:t>Improved Additional engagement level systems, updated “Levels by type of commitment” to “levels by assumptions of commitment”</a:t>
                      </a:r>
                    </a:p>
                    <a:p>
                      <a:r>
                        <a:rPr lang="en-US" sz="1200" dirty="0"/>
                        <a:t>Added section “Hosting Engagement Level Workshop”</a:t>
                      </a:r>
                    </a:p>
                  </a:txBody>
                  <a:tcPr/>
                </a:tc>
                <a:extLst>
                  <a:ext uri="{0D108BD9-81ED-4DB2-BD59-A6C34878D82A}">
                    <a16:rowId xmlns:a16="http://schemas.microsoft.com/office/drawing/2014/main" val="3790681052"/>
                  </a:ext>
                </a:extLst>
              </a:tr>
            </a:tbl>
          </a:graphicData>
        </a:graphic>
      </p:graphicFrame>
    </p:spTree>
    <p:extLst>
      <p:ext uri="{BB962C8B-B14F-4D97-AF65-F5344CB8AC3E}">
        <p14:creationId xmlns:p14="http://schemas.microsoft.com/office/powerpoint/2010/main" val="2277307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Hosting engagement level workshop</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7743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en-US" sz="2800" dirty="0"/>
              <a:t>Engagement Level Workshop</a:t>
            </a:r>
            <a:br>
              <a:rPr lang="en-US" sz="2800" dirty="0"/>
            </a:br>
            <a:r>
              <a:rPr lang="en-US" sz="2800" dirty="0" err="1"/>
              <a:t>Workshop</a:t>
            </a:r>
            <a:r>
              <a:rPr lang="en-US" sz="2800" dirty="0"/>
              <a:t> step by step</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4" name="Tableau 4">
            <a:extLst>
              <a:ext uri="{FF2B5EF4-FFF2-40B4-BE49-F238E27FC236}">
                <a16:creationId xmlns:a16="http://schemas.microsoft.com/office/drawing/2014/main" id="{DAED6B0E-FB0E-401A-937B-75839BD83A29}"/>
              </a:ext>
            </a:extLst>
          </p:cNvPr>
          <p:cNvGraphicFramePr>
            <a:graphicFrameLocks noGrp="1"/>
          </p:cNvGraphicFramePr>
          <p:nvPr>
            <p:extLst>
              <p:ext uri="{D42A27DB-BD31-4B8C-83A1-F6EECF244321}">
                <p14:modId xmlns:p14="http://schemas.microsoft.com/office/powerpoint/2010/main" val="2738249942"/>
              </p:ext>
            </p:extLst>
          </p:nvPr>
        </p:nvGraphicFramePr>
        <p:xfrm>
          <a:off x="145280" y="1813144"/>
          <a:ext cx="10630967" cy="4838700"/>
        </p:xfrm>
        <a:graphic>
          <a:graphicData uri="http://schemas.openxmlformats.org/drawingml/2006/table">
            <a:tbl>
              <a:tblPr firstRow="1" firstCol="1" bandRow="1">
                <a:tableStyleId>{5C22544A-7EE6-4342-B048-85BDC9FD1C3A}</a:tableStyleId>
              </a:tblPr>
              <a:tblGrid>
                <a:gridCol w="1115455">
                  <a:extLst>
                    <a:ext uri="{9D8B030D-6E8A-4147-A177-3AD203B41FA5}">
                      <a16:colId xmlns:a16="http://schemas.microsoft.com/office/drawing/2014/main" val="3637095222"/>
                    </a:ext>
                  </a:extLst>
                </a:gridCol>
                <a:gridCol w="1725236">
                  <a:extLst>
                    <a:ext uri="{9D8B030D-6E8A-4147-A177-3AD203B41FA5}">
                      <a16:colId xmlns:a16="http://schemas.microsoft.com/office/drawing/2014/main" val="1997714430"/>
                    </a:ext>
                  </a:extLst>
                </a:gridCol>
                <a:gridCol w="1589718">
                  <a:extLst>
                    <a:ext uri="{9D8B030D-6E8A-4147-A177-3AD203B41FA5}">
                      <a16:colId xmlns:a16="http://schemas.microsoft.com/office/drawing/2014/main" val="3341757670"/>
                    </a:ext>
                  </a:extLst>
                </a:gridCol>
                <a:gridCol w="1770149">
                  <a:extLst>
                    <a:ext uri="{9D8B030D-6E8A-4147-A177-3AD203B41FA5}">
                      <a16:colId xmlns:a16="http://schemas.microsoft.com/office/drawing/2014/main" val="3035350526"/>
                    </a:ext>
                  </a:extLst>
                </a:gridCol>
                <a:gridCol w="1476803">
                  <a:extLst>
                    <a:ext uri="{9D8B030D-6E8A-4147-A177-3AD203B41FA5}">
                      <a16:colId xmlns:a16="http://schemas.microsoft.com/office/drawing/2014/main" val="1419982903"/>
                    </a:ext>
                  </a:extLst>
                </a:gridCol>
                <a:gridCol w="1476803">
                  <a:extLst>
                    <a:ext uri="{9D8B030D-6E8A-4147-A177-3AD203B41FA5}">
                      <a16:colId xmlns:a16="http://schemas.microsoft.com/office/drawing/2014/main" val="2747996475"/>
                    </a:ext>
                  </a:extLst>
                </a:gridCol>
                <a:gridCol w="1476803">
                  <a:extLst>
                    <a:ext uri="{9D8B030D-6E8A-4147-A177-3AD203B41FA5}">
                      <a16:colId xmlns:a16="http://schemas.microsoft.com/office/drawing/2014/main" val="2174399618"/>
                    </a:ext>
                  </a:extLst>
                </a:gridCol>
              </a:tblGrid>
              <a:tr h="594340">
                <a:tc>
                  <a:txBody>
                    <a:bodyPr/>
                    <a:lstStyle/>
                    <a:p>
                      <a:endParaRPr lang="en-US" noProof="0"/>
                    </a:p>
                  </a:txBody>
                  <a:tcPr/>
                </a:tc>
                <a:tc>
                  <a:txBody>
                    <a:bodyPr/>
                    <a:lstStyle/>
                    <a:p>
                      <a:pPr algn="ctr"/>
                      <a:r>
                        <a:rPr lang="en-US" noProof="0"/>
                        <a:t>1</a:t>
                      </a:r>
                    </a:p>
                    <a:p>
                      <a:pPr algn="ctr"/>
                      <a:r>
                        <a:rPr lang="en-US" noProof="0"/>
                        <a:t>Introduction</a:t>
                      </a:r>
                    </a:p>
                  </a:txBody>
                  <a:tcPr/>
                </a:tc>
                <a:tc>
                  <a:txBody>
                    <a:bodyPr/>
                    <a:lstStyle/>
                    <a:p>
                      <a:pPr algn="ctr"/>
                      <a:r>
                        <a:rPr lang="en-US" noProof="0"/>
                        <a:t>2</a:t>
                      </a:r>
                    </a:p>
                    <a:p>
                      <a:pPr algn="ctr"/>
                      <a:r>
                        <a:rPr lang="en-US" noProof="0"/>
                        <a:t>Example result</a:t>
                      </a:r>
                    </a:p>
                  </a:txBody>
                  <a:tcPr/>
                </a:tc>
                <a:tc>
                  <a:txBody>
                    <a:bodyPr/>
                    <a:lstStyle/>
                    <a:p>
                      <a:pPr algn="ctr"/>
                      <a:r>
                        <a:rPr lang="en-US" noProof="0"/>
                        <a:t>3</a:t>
                      </a:r>
                    </a:p>
                    <a:p>
                      <a:pPr algn="ctr"/>
                      <a:r>
                        <a:rPr lang="en-US" noProof="0"/>
                        <a:t>Rules &amp; Mindset</a:t>
                      </a:r>
                    </a:p>
                  </a:txBody>
                  <a:tcPr/>
                </a:tc>
                <a:tc>
                  <a:txBody>
                    <a:bodyPr/>
                    <a:lstStyle/>
                    <a:p>
                      <a:pPr algn="ctr"/>
                      <a:r>
                        <a:rPr lang="en-US" noProof="0"/>
                        <a:t>4</a:t>
                      </a:r>
                    </a:p>
                    <a:p>
                      <a:pPr algn="ctr"/>
                      <a:r>
                        <a:rPr lang="en-US" noProof="0"/>
                        <a:t>Fill </a:t>
                      </a:r>
                    </a:p>
                  </a:txBody>
                  <a:tcPr/>
                </a:tc>
                <a:tc>
                  <a:txBody>
                    <a:bodyPr/>
                    <a:lstStyle/>
                    <a:p>
                      <a:pPr algn="ctr"/>
                      <a:r>
                        <a:rPr lang="en-US" noProof="0"/>
                        <a:t>5</a:t>
                      </a:r>
                    </a:p>
                    <a:p>
                      <a:pPr algn="ctr"/>
                      <a:r>
                        <a:rPr lang="en-US" noProof="0"/>
                        <a:t>Discussion</a:t>
                      </a:r>
                    </a:p>
                  </a:txBody>
                  <a:tcPr/>
                </a:tc>
                <a:tc>
                  <a:txBody>
                    <a:bodyPr/>
                    <a:lstStyle/>
                    <a:p>
                      <a:pPr algn="ctr"/>
                      <a:r>
                        <a:rPr lang="en-US" noProof="0"/>
                        <a:t>6</a:t>
                      </a:r>
                    </a:p>
                    <a:p>
                      <a:pPr algn="ctr"/>
                      <a:r>
                        <a:rPr lang="en-US" noProof="0"/>
                        <a:t>Decide main activities</a:t>
                      </a:r>
                    </a:p>
                  </a:txBody>
                  <a:tcPr/>
                </a:tc>
                <a:extLst>
                  <a:ext uri="{0D108BD9-81ED-4DB2-BD59-A6C34878D82A}">
                    <a16:rowId xmlns:a16="http://schemas.microsoft.com/office/drawing/2014/main" val="1802663392"/>
                  </a:ext>
                </a:extLst>
              </a:tr>
              <a:tr h="498335">
                <a:tc>
                  <a:txBody>
                    <a:bodyPr/>
                    <a:lstStyle/>
                    <a:p>
                      <a:r>
                        <a:rPr lang="en-US" sz="1400" noProof="0"/>
                        <a:t>Suggested timebox</a:t>
                      </a:r>
                    </a:p>
                  </a:txBody>
                  <a:tcPr/>
                </a:tc>
                <a:tc>
                  <a:txBody>
                    <a:bodyPr/>
                    <a:lstStyle/>
                    <a:p>
                      <a:r>
                        <a:rPr lang="en-US" sz="1200" noProof="0"/>
                        <a:t>5 minutes</a:t>
                      </a:r>
                    </a:p>
                  </a:txBody>
                  <a:tcPr/>
                </a:tc>
                <a:tc>
                  <a:txBody>
                    <a:bodyPr/>
                    <a:lstStyle/>
                    <a:p>
                      <a:r>
                        <a:rPr lang="en-US" sz="1200" noProof="0"/>
                        <a:t>5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2 minutes</a:t>
                      </a:r>
                    </a:p>
                  </a:txBody>
                  <a:tcPr/>
                </a:tc>
                <a:tc>
                  <a:txBody>
                    <a:bodyPr/>
                    <a:lstStyle/>
                    <a:p>
                      <a:r>
                        <a:rPr lang="en-US" sz="1200" noProof="0"/>
                        <a:t>10 minutes</a:t>
                      </a:r>
                    </a:p>
                  </a:txBody>
                  <a:tcPr/>
                </a:tc>
                <a:tc>
                  <a:txBody>
                    <a:bodyPr/>
                    <a:lstStyle/>
                    <a:p>
                      <a:r>
                        <a:rPr lang="en-US" sz="1200" noProof="0"/>
                        <a:t>20 minutes</a:t>
                      </a:r>
                    </a:p>
                  </a:txBody>
                  <a:tcPr/>
                </a:tc>
                <a:tc>
                  <a:txBody>
                    <a:bodyPr/>
                    <a:lstStyle/>
                    <a:p>
                      <a:r>
                        <a:rPr lang="en-US" sz="1200" noProof="0"/>
                        <a:t>15 minutes</a:t>
                      </a:r>
                    </a:p>
                  </a:txBody>
                  <a:tcPr/>
                </a:tc>
                <a:extLst>
                  <a:ext uri="{0D108BD9-81ED-4DB2-BD59-A6C34878D82A}">
                    <a16:rowId xmlns:a16="http://schemas.microsoft.com/office/drawing/2014/main" val="3050051482"/>
                  </a:ext>
                </a:extLst>
              </a:tr>
              <a:tr h="2016509">
                <a:tc>
                  <a:txBody>
                    <a:bodyPr/>
                    <a:lstStyle/>
                    <a:p>
                      <a:r>
                        <a:rPr lang="en-US" sz="1400" noProof="0"/>
                        <a:t>Action</a:t>
                      </a:r>
                    </a:p>
                  </a:txBody>
                  <a:tcPr/>
                </a:tc>
                <a:tc>
                  <a:txBody>
                    <a:bodyPr/>
                    <a:lstStyle/>
                    <a:p>
                      <a:r>
                        <a:rPr lang="en-US" sz="1050" noProof="0"/>
                        <a:t>Explain what motivates the workshop : </a:t>
                      </a:r>
                    </a:p>
                    <a:p>
                      <a:pPr marL="228600" indent="-228600">
                        <a:buFont typeface="+mj-lt"/>
                        <a:buAutoNum type="arabicPeriod"/>
                      </a:pPr>
                      <a:r>
                        <a:rPr lang="en-US" sz="1050" noProof="0"/>
                        <a:t>Avoid frustration or over solicitation of members</a:t>
                      </a:r>
                    </a:p>
                    <a:p>
                      <a:pPr marL="228600" indent="-228600">
                        <a:buFont typeface="+mj-lt"/>
                        <a:buAutoNum type="arabicPeriod"/>
                      </a:pPr>
                      <a:r>
                        <a:rPr lang="en-US" sz="1050" noProof="0"/>
                        <a:t>(Optional) Explain the theory behind the workshop</a:t>
                      </a:r>
                    </a:p>
                    <a:p>
                      <a:pPr marL="228600" indent="-228600">
                        <a:buFont typeface="+mj-lt"/>
                        <a:buAutoNum type="arabicPeriod"/>
                      </a:pPr>
                      <a:r>
                        <a:rPr lang="en-US" sz="1050" noProof="0"/>
                        <a:t>Adjust the activities to how members invest time in the Community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expected results of the workshop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Show how it will be used (next slide)</a:t>
                      </a:r>
                    </a:p>
                  </a:txBody>
                  <a:tcPr/>
                </a:tc>
                <a:tc>
                  <a:txBody>
                    <a:bodyPr/>
                    <a:lstStyle/>
                    <a:p>
                      <a:r>
                        <a:rPr lang="en-US" sz="1050" noProof="0"/>
                        <a:t>Remind the rules &amp; mindset : </a:t>
                      </a:r>
                    </a:p>
                    <a:p>
                      <a:pPr marL="228600" indent="-228600">
                        <a:buFont typeface="+mj-lt"/>
                        <a:buAutoNum type="arabicPeriod"/>
                      </a:pPr>
                      <a:r>
                        <a:rPr lang="en-US" sz="1050" noProof="0"/>
                        <a:t>The sincerest, the easiest it will be on the long term</a:t>
                      </a:r>
                    </a:p>
                    <a:p>
                      <a:pPr marL="228600" indent="-228600">
                        <a:buFont typeface="+mj-lt"/>
                        <a:buAutoNum type="arabicPeriod"/>
                      </a:pPr>
                      <a:r>
                        <a:rPr lang="en-US" sz="1050" noProof="0"/>
                        <a:t>Neither shaming nor congratulating on current engagement level</a:t>
                      </a:r>
                    </a:p>
                    <a:p>
                      <a:pPr marL="228600" indent="-228600">
                        <a:buFont typeface="+mj-lt"/>
                        <a:buAutoNum type="arabicPeriod"/>
                      </a:pPr>
                      <a:r>
                        <a:rPr lang="en-US" sz="1050" noProof="0"/>
                        <a:t>(Optional) If target engagement level is different from current, explain why</a:t>
                      </a:r>
                    </a:p>
                    <a:p>
                      <a:pPr marL="228600" indent="-228600">
                        <a:buFont typeface="+mj-lt"/>
                        <a:buAutoNum type="arabicPeriod"/>
                      </a:pPr>
                      <a:r>
                        <a:rPr lang="en-US" sz="1050" noProof="0"/>
                        <a:t>Reminder : Engagement level are not tastes, each level comes with commitment and responsibilities</a:t>
                      </a:r>
                    </a:p>
                  </a:txBody>
                  <a:tcPr/>
                </a:tc>
                <a:tc>
                  <a:txBody>
                    <a:bodyPr/>
                    <a:lstStyle/>
                    <a:p>
                      <a:r>
                        <a:rPr lang="en-US" sz="1050" noProof="0" dirty="0"/>
                        <a:t>Present empty canvas, ask members to add their pictures in the right case. </a:t>
                      </a:r>
                    </a:p>
                    <a:p>
                      <a:r>
                        <a:rPr lang="en-US" sz="1050" noProof="0" dirty="0"/>
                        <a:t>Pictures can be replaced by names (less vivid)</a:t>
                      </a:r>
                    </a:p>
                    <a:p>
                      <a:endParaRPr lang="en-US" sz="1050" noProof="0" dirty="0"/>
                    </a:p>
                    <a:p>
                      <a:r>
                        <a:rPr lang="en-US" sz="1050" noProof="0" dirty="0"/>
                        <a:t>Variant: </a:t>
                      </a:r>
                    </a:p>
                    <a:p>
                      <a:r>
                        <a:rPr lang="en-US" sz="1050" noProof="0" dirty="0"/>
                        <a:t>You can also add individual target engagement level</a:t>
                      </a:r>
                    </a:p>
                  </a:txBody>
                  <a:tcPr/>
                </a:tc>
                <a:tc>
                  <a:txBody>
                    <a:bodyPr/>
                    <a:lstStyle/>
                    <a:p>
                      <a:r>
                        <a:rPr lang="en-US" sz="1050" noProof="0"/>
                        <a:t>Questions / Answers</a:t>
                      </a:r>
                    </a:p>
                  </a:txBody>
                  <a:tcPr/>
                </a:tc>
                <a:tc>
                  <a:txBody>
                    <a:bodyPr/>
                    <a:lstStyle/>
                    <a:p>
                      <a:r>
                        <a:rPr lang="en-US" sz="1050" noProof="0" dirty="0"/>
                        <a:t>From the result, decide what will be the main starting activities in the Community. </a:t>
                      </a:r>
                    </a:p>
                    <a:p>
                      <a:endParaRPr lang="en-US" sz="1050" noProof="0" dirty="0"/>
                    </a:p>
                    <a:p>
                      <a:r>
                        <a:rPr lang="en-US" sz="1050" noProof="0" dirty="0"/>
                        <a:t>(Optional) Collectively commit to a Given activity for next session or time period. </a:t>
                      </a:r>
                    </a:p>
                  </a:txBody>
                  <a:tcPr/>
                </a:tc>
                <a:extLst>
                  <a:ext uri="{0D108BD9-81ED-4DB2-BD59-A6C34878D82A}">
                    <a16:rowId xmlns:a16="http://schemas.microsoft.com/office/drawing/2014/main" val="987626046"/>
                  </a:ext>
                </a:extLst>
              </a:tr>
            </a:tbl>
          </a:graphicData>
        </a:graphic>
      </p:graphicFrame>
      <p:sp>
        <p:nvSpPr>
          <p:cNvPr id="5" name="Triangle isocèle 4">
            <a:extLst>
              <a:ext uri="{FF2B5EF4-FFF2-40B4-BE49-F238E27FC236}">
                <a16:creationId xmlns:a16="http://schemas.microsoft.com/office/drawing/2014/main" id="{B38AFCA8-59D9-487B-9924-9956586873D6}"/>
              </a:ext>
            </a:extLst>
          </p:cNvPr>
          <p:cNvSpPr/>
          <p:nvPr/>
        </p:nvSpPr>
        <p:spPr>
          <a:xfrm rot="5400000">
            <a:off x="8992134" y="3597258"/>
            <a:ext cx="4838698" cy="127047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6" name="Tableau 5">
            <a:extLst>
              <a:ext uri="{FF2B5EF4-FFF2-40B4-BE49-F238E27FC236}">
                <a16:creationId xmlns:a16="http://schemas.microsoft.com/office/drawing/2014/main" id="{8F92889C-910F-41FB-903A-7E8963BA10D2}"/>
              </a:ext>
            </a:extLst>
          </p:cNvPr>
          <p:cNvGraphicFramePr>
            <a:graphicFrameLocks noGrp="1"/>
          </p:cNvGraphicFramePr>
          <p:nvPr>
            <p:extLst>
              <p:ext uri="{D42A27DB-BD31-4B8C-83A1-F6EECF244321}">
                <p14:modId xmlns:p14="http://schemas.microsoft.com/office/powerpoint/2010/main" val="330882318"/>
              </p:ext>
            </p:extLst>
          </p:nvPr>
        </p:nvGraphicFramePr>
        <p:xfrm>
          <a:off x="8349241" y="54864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 name="Groupe 2">
            <a:extLst>
              <a:ext uri="{FF2B5EF4-FFF2-40B4-BE49-F238E27FC236}">
                <a16:creationId xmlns:a16="http://schemas.microsoft.com/office/drawing/2014/main" id="{F32DA409-BA8F-4DCD-B24C-13D20A5D4BB7}"/>
              </a:ext>
            </a:extLst>
          </p:cNvPr>
          <p:cNvGrpSpPr/>
          <p:nvPr/>
        </p:nvGrpSpPr>
        <p:grpSpPr>
          <a:xfrm>
            <a:off x="8441251" y="17274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BE317170-8A4E-4166-820B-D4D58ECD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AB19BF8E-89E9-4B17-B61B-1A2450E05F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72C7D9DC-B3E9-4B0C-9E76-98AAF2F5D6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58C8229B-D239-490E-BEDD-67503AC17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D3EA719D-9C62-41ED-ADAE-9CAF2AFE87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25E2FBCB-C7ED-4BD6-9C02-3E9D75018CA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95383A16-88BF-4387-AEAA-D35EE30E49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15" name="Graphique 14" descr="Deux cœurs avec un remplissage uni">
              <a:extLst>
                <a:ext uri="{FF2B5EF4-FFF2-40B4-BE49-F238E27FC236}">
                  <a16:creationId xmlns:a16="http://schemas.microsoft.com/office/drawing/2014/main" id="{309E3CB2-D4F6-4CB7-BAF4-413122C0B7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6" name="Image 15" descr="Une image contenant personne, homme, cravate, complet&#10;&#10;Description générée automatiquement">
              <a:extLst>
                <a:ext uri="{FF2B5EF4-FFF2-40B4-BE49-F238E27FC236}">
                  <a16:creationId xmlns:a16="http://schemas.microsoft.com/office/drawing/2014/main" id="{C53D07A6-1568-4241-9317-9EDFE577A7A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7" name="Image 16" descr="Une image contenant personne, extérieur, souriant, violet&#10;&#10;Description générée automatiquement">
              <a:extLst>
                <a:ext uri="{FF2B5EF4-FFF2-40B4-BE49-F238E27FC236}">
                  <a16:creationId xmlns:a16="http://schemas.microsoft.com/office/drawing/2014/main" id="{FD1C0789-9988-40C8-9B8E-2D2C04B21B95}"/>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8" name="Image 17" descr="Une image contenant personne, femme, souriant&#10;&#10;Description générée automatiquement">
              <a:extLst>
                <a:ext uri="{FF2B5EF4-FFF2-40B4-BE49-F238E27FC236}">
                  <a16:creationId xmlns:a16="http://schemas.microsoft.com/office/drawing/2014/main" id="{6AB21E26-AE27-4D1F-9191-3FA66B28D90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9" name="Image 18" descr="Une image contenant personne, extérieur, souriant, foule&#10;&#10;Description générée automatiquement">
              <a:extLst>
                <a:ext uri="{FF2B5EF4-FFF2-40B4-BE49-F238E27FC236}">
                  <a16:creationId xmlns:a16="http://schemas.microsoft.com/office/drawing/2014/main" id="{7D9B7053-677D-4A75-8D7A-64D49025831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20" name="Image 19" descr="Une image contenant personne, souriant, homme, posant&#10;&#10;Description générée automatiquement">
              <a:extLst>
                <a:ext uri="{FF2B5EF4-FFF2-40B4-BE49-F238E27FC236}">
                  <a16:creationId xmlns:a16="http://schemas.microsoft.com/office/drawing/2014/main" id="{0C50212E-0F28-4A03-8DC6-7AED6B396F6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B6AA377F-7471-44F6-A3A6-07005535E58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1010A266-AC5C-4845-AA51-E75DDB2B57E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9B6C9F2C-8C6B-4980-86F1-8972F3B90A24}"/>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0C749F93-0954-449F-B9CF-DBDDE17BBFA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4056B6E7-09D3-46A1-A4CB-EED109F60DC2}"/>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95994EB8-B28D-4D21-95B6-60F2D684D36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7" name="Image 26" descr="Une image contenant personne, homme, souriant, aîné&#10;&#10;Description générée automatiquement">
              <a:extLst>
                <a:ext uri="{FF2B5EF4-FFF2-40B4-BE49-F238E27FC236}">
                  <a16:creationId xmlns:a16="http://schemas.microsoft.com/office/drawing/2014/main" id="{56349D75-4410-4E56-8FD0-32AAC4FC2D52}"/>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8" name="Image 27" descr="Une image contenant personne, homme, souriant, aîné&#10;&#10;Description générée automatiquement">
              <a:extLst>
                <a:ext uri="{FF2B5EF4-FFF2-40B4-BE49-F238E27FC236}">
                  <a16:creationId xmlns:a16="http://schemas.microsoft.com/office/drawing/2014/main" id="{7EA25B15-A38D-4ADA-9C94-D80386628B7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9" name="Image 28" descr="Une image contenant personne, femme, souriant, posant&#10;&#10;Description générée automatiquement">
              <a:extLst>
                <a:ext uri="{FF2B5EF4-FFF2-40B4-BE49-F238E27FC236}">
                  <a16:creationId xmlns:a16="http://schemas.microsoft.com/office/drawing/2014/main" id="{FC18FC37-4F32-4420-B5BC-D4BF1DE1666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0" name="Image 29" descr="Une image contenant personne, extérieur, fermer&#10;&#10;Description générée automatiquement">
              <a:extLst>
                <a:ext uri="{FF2B5EF4-FFF2-40B4-BE49-F238E27FC236}">
                  <a16:creationId xmlns:a16="http://schemas.microsoft.com/office/drawing/2014/main" id="{9ABB460D-B81C-406F-BEEF-D5C159CA229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1" name="Image 30" descr="Une image contenant personne, mur, intérieur, jeune&#10;&#10;Description générée automatiquement">
              <a:extLst>
                <a:ext uri="{FF2B5EF4-FFF2-40B4-BE49-F238E27FC236}">
                  <a16:creationId xmlns:a16="http://schemas.microsoft.com/office/drawing/2014/main" id="{0ACA8F31-9FA8-4218-9D55-96E6635E6C6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2" name="Image 31" descr="Une image contenant personne, homme, extérieur, arbre&#10;&#10;Description générée automatiquement">
              <a:extLst>
                <a:ext uri="{FF2B5EF4-FFF2-40B4-BE49-F238E27FC236}">
                  <a16:creationId xmlns:a16="http://schemas.microsoft.com/office/drawing/2014/main" id="{940269B5-E5CA-4FB3-95D9-EAA2A2ABBD06}"/>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3" name="Image 32" descr="Une image contenant personne, mur, souriant, intérieur&#10;&#10;Description générée automatiquement">
              <a:extLst>
                <a:ext uri="{FF2B5EF4-FFF2-40B4-BE49-F238E27FC236}">
                  <a16:creationId xmlns:a16="http://schemas.microsoft.com/office/drawing/2014/main" id="{6C7AC939-21E1-4204-A4BA-DF05E6C5573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4" name="Image 33" descr="Une image contenant personne, mur, souriant, posant&#10;&#10;Description générée automatiquement">
              <a:extLst>
                <a:ext uri="{FF2B5EF4-FFF2-40B4-BE49-F238E27FC236}">
                  <a16:creationId xmlns:a16="http://schemas.microsoft.com/office/drawing/2014/main" id="{CF437C15-811C-4946-97F3-6BDF28F2D030}"/>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5" name="Image 34" descr="Une image contenant personne, mur, homme, souriant&#10;&#10;Description générée automatiquement">
              <a:extLst>
                <a:ext uri="{FF2B5EF4-FFF2-40B4-BE49-F238E27FC236}">
                  <a16:creationId xmlns:a16="http://schemas.microsoft.com/office/drawing/2014/main" id="{8968B192-D070-434A-A012-B72A2F00FA50}"/>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spTree>
    <p:extLst>
      <p:ext uri="{BB962C8B-B14F-4D97-AF65-F5344CB8AC3E}">
        <p14:creationId xmlns:p14="http://schemas.microsoft.com/office/powerpoint/2010/main" val="1305242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EE35A52-66E2-4385-03D2-B31AB527C9A6}"/>
              </a:ext>
            </a:extLst>
          </p:cNvPr>
          <p:cNvSpPr>
            <a:spLocks noGrp="1"/>
          </p:cNvSpPr>
          <p:nvPr>
            <p:ph type="title"/>
          </p:nvPr>
        </p:nvSpPr>
        <p:spPr/>
        <p:txBody>
          <a:bodyPr>
            <a:noAutofit/>
          </a:bodyPr>
          <a:lstStyle/>
          <a:p>
            <a:r>
              <a:rPr lang="en-US" sz="3200" dirty="0"/>
              <a:t>Answering bias : What is shared during the workshop might not be the true engagement level</a:t>
            </a:r>
          </a:p>
        </p:txBody>
      </p:sp>
      <p:sp>
        <p:nvSpPr>
          <p:cNvPr id="3" name="Segnaposto contenuto 2">
            <a:extLst>
              <a:ext uri="{FF2B5EF4-FFF2-40B4-BE49-F238E27FC236}">
                <a16:creationId xmlns:a16="http://schemas.microsoft.com/office/drawing/2014/main" id="{55041154-2D03-3ED8-FFB4-59AC520AB4E2}"/>
              </a:ext>
            </a:extLst>
          </p:cNvPr>
          <p:cNvSpPr>
            <a:spLocks noGrp="1"/>
          </p:cNvSpPr>
          <p:nvPr>
            <p:ph idx="1"/>
          </p:nvPr>
        </p:nvSpPr>
        <p:spPr>
          <a:xfrm>
            <a:off x="4266057" y="2098548"/>
            <a:ext cx="3600000" cy="4475988"/>
          </a:xfrm>
          <a:solidFill>
            <a:schemeClr val="accent2">
              <a:lumMod val="60000"/>
              <a:lumOff val="40000"/>
            </a:schemeClr>
          </a:solidFill>
        </p:spPr>
        <p:txBody>
          <a:bodyPr>
            <a:noAutofit/>
          </a:bodyPr>
          <a:lstStyle/>
          <a:p>
            <a:pPr marL="0" indent="0">
              <a:buNone/>
            </a:pPr>
            <a:r>
              <a:rPr lang="en-US" sz="1200" b="1" dirty="0"/>
              <a:t>Psychological unsafety </a:t>
            </a:r>
            <a:r>
              <a:rPr lang="en-US" sz="1200" dirty="0"/>
              <a:t>: Participants might fear revealing that their current level engagement is lower than what they think is the expectation, and therefore “answer up”.</a:t>
            </a:r>
          </a:p>
          <a:p>
            <a:pPr marL="0" indent="0">
              <a:buNone/>
            </a:pPr>
            <a:r>
              <a:rPr lang="en-US" sz="1200" b="1" dirty="0"/>
              <a:t>Virtue signaling :</a:t>
            </a:r>
            <a:r>
              <a:rPr lang="en-US" sz="1200" dirty="0"/>
              <a:t> Participants might intend to communicate a good character during a collective workshop</a:t>
            </a:r>
          </a:p>
          <a:p>
            <a:pPr marL="0" indent="0">
              <a:buNone/>
            </a:pPr>
            <a:r>
              <a:rPr lang="en-US" sz="1200" b="1" dirty="0"/>
              <a:t>Misunderstanding workshop application :</a:t>
            </a:r>
            <a:r>
              <a:rPr lang="en-US" sz="1200" dirty="0"/>
              <a:t> Participants might answer without understanding the activities adaptation it implies, therefore not be careful about their answer, answering down or answering up their real level.</a:t>
            </a:r>
          </a:p>
          <a:p>
            <a:pPr marL="0" indent="0">
              <a:buNone/>
            </a:pPr>
            <a:r>
              <a:rPr lang="en-US" sz="1200" b="1" dirty="0"/>
              <a:t>Influence by others :</a:t>
            </a:r>
            <a:r>
              <a:rPr lang="en-US" sz="1200" dirty="0"/>
              <a:t> Participants might be influenced by other participants to answer something different than they would if they were alone.</a:t>
            </a:r>
          </a:p>
          <a:p>
            <a:pPr marL="0" indent="0">
              <a:buNone/>
            </a:pPr>
            <a:r>
              <a:rPr lang="en-US" sz="1200" b="1" dirty="0"/>
              <a:t>Self-image different from reality</a:t>
            </a:r>
            <a:r>
              <a:rPr lang="en-US" sz="1200" dirty="0"/>
              <a:t> : Participants might see themselves as less or more engaged than in what practical conditions reveal.</a:t>
            </a:r>
          </a:p>
        </p:txBody>
      </p:sp>
      <p:sp>
        <p:nvSpPr>
          <p:cNvPr id="4" name="Segnaposto contenuto 2">
            <a:extLst>
              <a:ext uri="{FF2B5EF4-FFF2-40B4-BE49-F238E27FC236}">
                <a16:creationId xmlns:a16="http://schemas.microsoft.com/office/drawing/2014/main" id="{447123C1-3791-8CAC-9D15-8A0FCCC6B9A6}"/>
              </a:ext>
            </a:extLst>
          </p:cNvPr>
          <p:cNvSpPr txBox="1">
            <a:spLocks/>
          </p:cNvSpPr>
          <p:nvPr/>
        </p:nvSpPr>
        <p:spPr>
          <a:xfrm>
            <a:off x="8330184" y="2098548"/>
            <a:ext cx="3600000" cy="4475988"/>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Practical Solutions include various possibilities to adapt to your own context. The solutions are essentially based on : </a:t>
            </a:r>
          </a:p>
          <a:p>
            <a:pPr>
              <a:buFontTx/>
              <a:buChar char="-"/>
            </a:pPr>
            <a:r>
              <a:rPr lang="en-US" sz="1200" b="1" dirty="0"/>
              <a:t>Removing influence from others </a:t>
            </a:r>
            <a:r>
              <a:rPr lang="en-US" sz="1200" dirty="0"/>
              <a:t>: Get anonymous responses, or independent responses (without members seeing what others answered).</a:t>
            </a:r>
          </a:p>
          <a:p>
            <a:pPr>
              <a:buFontTx/>
              <a:buChar char="-"/>
            </a:pPr>
            <a:r>
              <a:rPr lang="en-US" sz="1200" b="1" dirty="0"/>
              <a:t>Create psychological safety :</a:t>
            </a:r>
            <a:r>
              <a:rPr lang="en-US" sz="1200" dirty="0"/>
              <a:t> Explicitly allow participants to answer low engagement. Explain that there will neither be sanctions, compliments, nor reputation effects for declaring any level of engagement. Open declaration to regular update.</a:t>
            </a:r>
          </a:p>
          <a:p>
            <a:pPr>
              <a:buFontTx/>
              <a:buChar char="-"/>
            </a:pPr>
            <a:r>
              <a:rPr lang="en-US" sz="1200" b="1" dirty="0"/>
              <a:t>Understanding of Workshop use : </a:t>
            </a:r>
            <a:r>
              <a:rPr lang="en-US" sz="1200" dirty="0"/>
              <a:t>Explain the interest and importance of getting a true information instead of a fantasized community.</a:t>
            </a:r>
          </a:p>
        </p:txBody>
      </p:sp>
      <p:sp>
        <p:nvSpPr>
          <p:cNvPr id="5" name="Segnaposto contenuto 2">
            <a:extLst>
              <a:ext uri="{FF2B5EF4-FFF2-40B4-BE49-F238E27FC236}">
                <a16:creationId xmlns:a16="http://schemas.microsoft.com/office/drawing/2014/main" id="{58477DC8-F075-11FF-D02B-F06155E17E1F}"/>
              </a:ext>
            </a:extLst>
          </p:cNvPr>
          <p:cNvSpPr txBox="1">
            <a:spLocks/>
          </p:cNvSpPr>
          <p:nvPr/>
        </p:nvSpPr>
        <p:spPr>
          <a:xfrm>
            <a:off x="242316" y="2098548"/>
            <a:ext cx="3600000" cy="4475988"/>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Results of the Engagement Level Workshop may be biased because of various reasons. </a:t>
            </a:r>
          </a:p>
          <a:p>
            <a:pPr marL="0" indent="0">
              <a:buNone/>
            </a:pPr>
            <a:r>
              <a:rPr lang="en-US" sz="1200" dirty="0"/>
              <a:t>A bias result may be less usable and lead you to make the wrong choices.</a:t>
            </a:r>
          </a:p>
          <a:p>
            <a:pPr marL="0" indent="0">
              <a:buNone/>
            </a:pPr>
            <a:r>
              <a:rPr lang="en-US" sz="1200" dirty="0"/>
              <a:t>Therefore, it is important to reduce the chance of bias, and increase the chance of matching activities </a:t>
            </a:r>
          </a:p>
          <a:p>
            <a:pPr marL="0" indent="0">
              <a:buNone/>
            </a:pPr>
            <a:r>
              <a:rPr lang="en-US" sz="1200" dirty="0"/>
              <a:t>Here are some potential causes for bias and practical solutions for prevention.</a:t>
            </a:r>
          </a:p>
        </p:txBody>
      </p:sp>
    </p:spTree>
    <p:extLst>
      <p:ext uri="{BB962C8B-B14F-4D97-AF65-F5344CB8AC3E}">
        <p14:creationId xmlns:p14="http://schemas.microsoft.com/office/powerpoint/2010/main" val="3206013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en-US" sz="2800" dirty="0"/>
              <a:t>Engagement Level Workshop</a:t>
            </a:r>
            <a:br>
              <a:rPr lang="en-US" sz="2800" dirty="0"/>
            </a:br>
            <a:r>
              <a:rPr lang="en-US" sz="2800" dirty="0"/>
              <a:t>Preparing to Host Workshop</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6" name="Tableau 5">
            <a:extLst>
              <a:ext uri="{FF2B5EF4-FFF2-40B4-BE49-F238E27FC236}">
                <a16:creationId xmlns:a16="http://schemas.microsoft.com/office/drawing/2014/main" id="{8F92889C-910F-41FB-903A-7E8963BA10D2}"/>
              </a:ext>
            </a:extLst>
          </p:cNvPr>
          <p:cNvGraphicFramePr>
            <a:graphicFrameLocks noGrp="1"/>
          </p:cNvGraphicFramePr>
          <p:nvPr/>
        </p:nvGraphicFramePr>
        <p:xfrm>
          <a:off x="8349241" y="548640"/>
          <a:ext cx="3606323" cy="199683"/>
        </p:xfrm>
        <a:graphic>
          <a:graphicData uri="http://schemas.openxmlformats.org/drawingml/2006/table">
            <a:tbl>
              <a:tblPr firstRow="1" bandRow="1">
                <a:tableStyleId>{5C22544A-7EE6-4342-B048-85BDC9FD1C3A}</a:tableStyleId>
              </a:tblPr>
              <a:tblGrid>
                <a:gridCol w="515189">
                  <a:extLst>
                    <a:ext uri="{9D8B030D-6E8A-4147-A177-3AD203B41FA5}">
                      <a16:colId xmlns:a16="http://schemas.microsoft.com/office/drawing/2014/main" val="1258243979"/>
                    </a:ext>
                  </a:extLst>
                </a:gridCol>
                <a:gridCol w="515189">
                  <a:extLst>
                    <a:ext uri="{9D8B030D-6E8A-4147-A177-3AD203B41FA5}">
                      <a16:colId xmlns:a16="http://schemas.microsoft.com/office/drawing/2014/main" val="1079462814"/>
                    </a:ext>
                  </a:extLst>
                </a:gridCol>
                <a:gridCol w="515189">
                  <a:extLst>
                    <a:ext uri="{9D8B030D-6E8A-4147-A177-3AD203B41FA5}">
                      <a16:colId xmlns:a16="http://schemas.microsoft.com/office/drawing/2014/main" val="3397691572"/>
                    </a:ext>
                  </a:extLst>
                </a:gridCol>
                <a:gridCol w="515189">
                  <a:extLst>
                    <a:ext uri="{9D8B030D-6E8A-4147-A177-3AD203B41FA5}">
                      <a16:colId xmlns:a16="http://schemas.microsoft.com/office/drawing/2014/main" val="3075883050"/>
                    </a:ext>
                  </a:extLst>
                </a:gridCol>
                <a:gridCol w="515189">
                  <a:extLst>
                    <a:ext uri="{9D8B030D-6E8A-4147-A177-3AD203B41FA5}">
                      <a16:colId xmlns:a16="http://schemas.microsoft.com/office/drawing/2014/main" val="1259412674"/>
                    </a:ext>
                  </a:extLst>
                </a:gridCol>
                <a:gridCol w="515189">
                  <a:extLst>
                    <a:ext uri="{9D8B030D-6E8A-4147-A177-3AD203B41FA5}">
                      <a16:colId xmlns:a16="http://schemas.microsoft.com/office/drawing/2014/main" val="3392695109"/>
                    </a:ext>
                  </a:extLst>
                </a:gridCol>
                <a:gridCol w="515189">
                  <a:extLst>
                    <a:ext uri="{9D8B030D-6E8A-4147-A177-3AD203B41FA5}">
                      <a16:colId xmlns:a16="http://schemas.microsoft.com/office/drawing/2014/main" val="2848032752"/>
                    </a:ext>
                  </a:extLst>
                </a:gridCol>
              </a:tblGrid>
              <a:tr h="68840">
                <a:tc>
                  <a:txBody>
                    <a:bodyPr/>
                    <a:lstStyle/>
                    <a:p>
                      <a:pPr algn="ctr"/>
                      <a:r>
                        <a:rPr lang="en-US" sz="200">
                          <a:solidFill>
                            <a:schemeClr val="tx1"/>
                          </a:solidFill>
                        </a:rPr>
                        <a:t>1</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2</a:t>
                      </a:r>
                    </a:p>
                  </a:txBody>
                  <a:tcPr marL="28929" marR="28929" marT="14465" marB="14465">
                    <a:solidFill>
                      <a:schemeClr val="bg1">
                        <a:lumMod val="95000"/>
                      </a:schemeClr>
                    </a:solidFill>
                  </a:tcPr>
                </a:tc>
                <a:tc>
                  <a:txBody>
                    <a:bodyPr/>
                    <a:lstStyle/>
                    <a:p>
                      <a:pPr algn="ctr"/>
                      <a:r>
                        <a:rPr lang="en-US" sz="200">
                          <a:solidFill>
                            <a:schemeClr val="tx1"/>
                          </a:solidFill>
                        </a:rPr>
                        <a:t>3</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4</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5</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6</a:t>
                      </a:r>
                    </a:p>
                  </a:txBody>
                  <a:tcPr marL="28929" marR="28929" marT="14465" marB="14465">
                    <a:solidFill>
                      <a:schemeClr val="accent1">
                        <a:lumMod val="75000"/>
                      </a:schemeClr>
                    </a:solidFill>
                  </a:tcPr>
                </a:tc>
                <a:tc>
                  <a:txBody>
                    <a:bodyPr/>
                    <a:lstStyle/>
                    <a:p>
                      <a:pPr algn="ctr"/>
                      <a:r>
                        <a:rPr lang="en-US" sz="200">
                          <a:solidFill>
                            <a:schemeClr val="bg1"/>
                          </a:solidFill>
                        </a:rPr>
                        <a:t>7</a:t>
                      </a:r>
                    </a:p>
                  </a:txBody>
                  <a:tcPr marL="28929" marR="28929" marT="14465" marB="14465">
                    <a:solidFill>
                      <a:schemeClr val="accent1">
                        <a:lumMod val="50000"/>
                      </a:schemeClr>
                    </a:solidFill>
                  </a:tcPr>
                </a:tc>
                <a:extLst>
                  <a:ext uri="{0D108BD9-81ED-4DB2-BD59-A6C34878D82A}">
                    <a16:rowId xmlns:a16="http://schemas.microsoft.com/office/drawing/2014/main" val="1311980861"/>
                  </a:ext>
                </a:extLst>
              </a:tr>
              <a:tr h="130843">
                <a:tc>
                  <a:txBody>
                    <a:bodyPr/>
                    <a:lstStyle/>
                    <a:p>
                      <a:pPr algn="ctr"/>
                      <a:r>
                        <a:rPr lang="en-US" sz="200">
                          <a:solidFill>
                            <a:schemeClr val="tx1"/>
                          </a:solidFill>
                        </a:rPr>
                        <a:t>Curious</a:t>
                      </a:r>
                    </a:p>
                  </a:txBody>
                  <a:tcPr marL="28929" marR="28929" marT="14465" marB="14465">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Active attendee</a:t>
                      </a:r>
                    </a:p>
                  </a:txBody>
                  <a:tcPr marL="28929" marR="28929" marT="14465" marB="14465">
                    <a:solidFill>
                      <a:schemeClr val="bg1">
                        <a:lumMod val="95000"/>
                      </a:schemeClr>
                    </a:solidFill>
                  </a:tcPr>
                </a:tc>
                <a:tc>
                  <a:txBody>
                    <a:bodyPr/>
                    <a:lstStyle/>
                    <a:p>
                      <a:pPr algn="ctr"/>
                      <a:r>
                        <a:rPr lang="en-US" sz="200">
                          <a:solidFill>
                            <a:schemeClr val="tx1"/>
                          </a:solidFill>
                        </a:rPr>
                        <a:t>Active and regular attendee</a:t>
                      </a:r>
                    </a:p>
                  </a:txBody>
                  <a:tcPr marL="28929" marR="28929" marT="14465" marB="14465">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Contributor</a:t>
                      </a:r>
                    </a:p>
                  </a:txBody>
                  <a:tcPr marL="28929" marR="28929" marT="14465" marB="14465">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tx1"/>
                          </a:solidFill>
                        </a:rPr>
                        <a:t>Leader</a:t>
                      </a:r>
                    </a:p>
                  </a:txBody>
                  <a:tcPr marL="28929" marR="28929" marT="14465" marB="14465">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
                          <a:solidFill>
                            <a:schemeClr val="bg1"/>
                          </a:solidFill>
                        </a:rPr>
                        <a:t>Leader &amp; Creator</a:t>
                      </a:r>
                    </a:p>
                  </a:txBody>
                  <a:tcPr marL="28929" marR="28929" marT="14465" marB="14465">
                    <a:solidFill>
                      <a:schemeClr val="accent1">
                        <a:lumMod val="75000"/>
                      </a:schemeClr>
                    </a:solidFill>
                  </a:tcPr>
                </a:tc>
                <a:tc>
                  <a:txBody>
                    <a:bodyPr/>
                    <a:lstStyle/>
                    <a:p>
                      <a:pPr algn="ctr"/>
                      <a:r>
                        <a:rPr lang="en-US" sz="200">
                          <a:solidFill>
                            <a:schemeClr val="bg1"/>
                          </a:solidFill>
                        </a:rPr>
                        <a:t>Community Booster</a:t>
                      </a:r>
                    </a:p>
                  </a:txBody>
                  <a:tcPr marL="28929" marR="28929" marT="14465" marB="14465">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 name="Groupe 2">
            <a:extLst>
              <a:ext uri="{FF2B5EF4-FFF2-40B4-BE49-F238E27FC236}">
                <a16:creationId xmlns:a16="http://schemas.microsoft.com/office/drawing/2014/main" id="{F32DA409-BA8F-4DCD-B24C-13D20A5D4BB7}"/>
              </a:ext>
            </a:extLst>
          </p:cNvPr>
          <p:cNvGrpSpPr/>
          <p:nvPr/>
        </p:nvGrpSpPr>
        <p:grpSpPr>
          <a:xfrm>
            <a:off x="8441251" y="172745"/>
            <a:ext cx="3422302" cy="1420188"/>
            <a:chOff x="699387" y="1561531"/>
            <a:chExt cx="10746546" cy="4459606"/>
          </a:xfrm>
        </p:grpSpPr>
        <p:pic>
          <p:nvPicPr>
            <p:cNvPr id="7" name="Graphique 6" descr="Une artiste avec un remplissage uni">
              <a:extLst>
                <a:ext uri="{FF2B5EF4-FFF2-40B4-BE49-F238E27FC236}">
                  <a16:creationId xmlns:a16="http://schemas.microsoft.com/office/drawing/2014/main" id="{BE317170-8A4E-4166-820B-D4D58ECD6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8" name="Graphique 7" descr="Employée de bureau avec un remplissage uni">
              <a:extLst>
                <a:ext uri="{FF2B5EF4-FFF2-40B4-BE49-F238E27FC236}">
                  <a16:creationId xmlns:a16="http://schemas.microsoft.com/office/drawing/2014/main" id="{AB19BF8E-89E9-4B17-B61B-1A2450E05F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9" name="Graphique 8" descr="Profil femelle avec un remplissage uni">
              <a:extLst>
                <a:ext uri="{FF2B5EF4-FFF2-40B4-BE49-F238E27FC236}">
                  <a16:creationId xmlns:a16="http://schemas.microsoft.com/office/drawing/2014/main" id="{72C7D9DC-B3E9-4B0C-9E76-98AAF2F5D6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0" name="Graphique 9" descr="Femme agricultrice avec un remplissage uni">
              <a:extLst>
                <a:ext uri="{FF2B5EF4-FFF2-40B4-BE49-F238E27FC236}">
                  <a16:creationId xmlns:a16="http://schemas.microsoft.com/office/drawing/2014/main" id="{58C8229B-D239-490E-BEDD-67503AC1741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11" name="Graphique 10" descr="Femme DJ avec un remplissage uni">
              <a:extLst>
                <a:ext uri="{FF2B5EF4-FFF2-40B4-BE49-F238E27FC236}">
                  <a16:creationId xmlns:a16="http://schemas.microsoft.com/office/drawing/2014/main" id="{D3EA719D-9C62-41ED-ADAE-9CAF2AFE879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12" name="Graphique 11" descr="Écolière avec un remplissage uni">
              <a:extLst>
                <a:ext uri="{FF2B5EF4-FFF2-40B4-BE49-F238E27FC236}">
                  <a16:creationId xmlns:a16="http://schemas.microsoft.com/office/drawing/2014/main" id="{25E2FBCB-C7ED-4BD6-9C02-3E9D75018CA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13" name="Graphique 12" descr="Héroïne avec un remplissage uni">
              <a:extLst>
                <a:ext uri="{FF2B5EF4-FFF2-40B4-BE49-F238E27FC236}">
                  <a16:creationId xmlns:a16="http://schemas.microsoft.com/office/drawing/2014/main" id="{95383A16-88BF-4387-AEAA-D35EE30E491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15" name="Graphique 14" descr="Deux cœurs avec un remplissage uni">
              <a:extLst>
                <a:ext uri="{FF2B5EF4-FFF2-40B4-BE49-F238E27FC236}">
                  <a16:creationId xmlns:a16="http://schemas.microsoft.com/office/drawing/2014/main" id="{309E3CB2-D4F6-4CB7-BAF4-413122C0B7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6" name="Image 15" descr="Une image contenant personne, homme, cravate, complet&#10;&#10;Description générée automatiquement">
              <a:extLst>
                <a:ext uri="{FF2B5EF4-FFF2-40B4-BE49-F238E27FC236}">
                  <a16:creationId xmlns:a16="http://schemas.microsoft.com/office/drawing/2014/main" id="{C53D07A6-1568-4241-9317-9EDFE577A7A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7" name="Image 16" descr="Une image contenant personne, extérieur, souriant, violet&#10;&#10;Description générée automatiquement">
              <a:extLst>
                <a:ext uri="{FF2B5EF4-FFF2-40B4-BE49-F238E27FC236}">
                  <a16:creationId xmlns:a16="http://schemas.microsoft.com/office/drawing/2014/main" id="{FD1C0789-9988-40C8-9B8E-2D2C04B21B95}"/>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5528625" y="4081373"/>
              <a:ext cx="569795" cy="569795"/>
            </a:xfrm>
            <a:prstGeom prst="rect">
              <a:avLst/>
            </a:prstGeom>
          </p:spPr>
        </p:pic>
        <p:pic>
          <p:nvPicPr>
            <p:cNvPr id="18" name="Image 17" descr="Une image contenant personne, femme, souriant&#10;&#10;Description générée automatiquement">
              <a:extLst>
                <a:ext uri="{FF2B5EF4-FFF2-40B4-BE49-F238E27FC236}">
                  <a16:creationId xmlns:a16="http://schemas.microsoft.com/office/drawing/2014/main" id="{6AB21E26-AE27-4D1F-9191-3FA66B28D90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9" name="Image 18" descr="Une image contenant personne, extérieur, souriant, foule&#10;&#10;Description générée automatiquement">
              <a:extLst>
                <a:ext uri="{FF2B5EF4-FFF2-40B4-BE49-F238E27FC236}">
                  <a16:creationId xmlns:a16="http://schemas.microsoft.com/office/drawing/2014/main" id="{7D9B7053-677D-4A75-8D7A-64D49025831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20" name="Image 19" descr="Une image contenant personne, souriant, homme, posant&#10;&#10;Description générée automatiquement">
              <a:extLst>
                <a:ext uri="{FF2B5EF4-FFF2-40B4-BE49-F238E27FC236}">
                  <a16:creationId xmlns:a16="http://schemas.microsoft.com/office/drawing/2014/main" id="{0C50212E-0F28-4A03-8DC6-7AED6B396F6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B6AA377F-7471-44F6-A3A6-07005535E58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157489" y="3466539"/>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1010A266-AC5C-4845-AA51-E75DDB2B57E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42" y="4103748"/>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9B6C9F2C-8C6B-4980-86F1-8972F3B90A24}"/>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0C749F93-0954-449F-B9CF-DBDDE17BBFA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157489" y="4082110"/>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4056B6E7-09D3-46A1-A4CB-EED109F60DC2}"/>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95994EB8-B28D-4D21-95B6-60F2D684D362}"/>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27" name="Image 26" descr="Une image contenant personne, homme, souriant, aîné&#10;&#10;Description générée automatiquement">
              <a:extLst>
                <a:ext uri="{FF2B5EF4-FFF2-40B4-BE49-F238E27FC236}">
                  <a16:creationId xmlns:a16="http://schemas.microsoft.com/office/drawing/2014/main" id="{56349D75-4410-4E56-8FD0-32AAC4FC2D52}"/>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28" name="Image 27" descr="Une image contenant personne, homme, souriant, aîné&#10;&#10;Description générée automatiquement">
              <a:extLst>
                <a:ext uri="{FF2B5EF4-FFF2-40B4-BE49-F238E27FC236}">
                  <a16:creationId xmlns:a16="http://schemas.microsoft.com/office/drawing/2014/main" id="{7EA25B15-A38D-4ADA-9C94-D80386628B78}"/>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29" name="Image 28" descr="Une image contenant personne, femme, souriant, posant&#10;&#10;Description générée automatiquement">
              <a:extLst>
                <a:ext uri="{FF2B5EF4-FFF2-40B4-BE49-F238E27FC236}">
                  <a16:creationId xmlns:a16="http://schemas.microsoft.com/office/drawing/2014/main" id="{FC18FC37-4F32-4420-B5BC-D4BF1DE1666D}"/>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0" name="Image 29" descr="Une image contenant personne, extérieur, fermer&#10;&#10;Description générée automatiquement">
              <a:extLst>
                <a:ext uri="{FF2B5EF4-FFF2-40B4-BE49-F238E27FC236}">
                  <a16:creationId xmlns:a16="http://schemas.microsoft.com/office/drawing/2014/main" id="{9ABB460D-B81C-406F-BEEF-D5C159CA2295}"/>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5528626" y="3475194"/>
              <a:ext cx="569795" cy="569795"/>
            </a:xfrm>
            <a:prstGeom prst="rect">
              <a:avLst/>
            </a:prstGeom>
          </p:spPr>
        </p:pic>
        <p:pic>
          <p:nvPicPr>
            <p:cNvPr id="31" name="Image 30" descr="Une image contenant personne, mur, intérieur, jeune&#10;&#10;Description générée automatiquement">
              <a:extLst>
                <a:ext uri="{FF2B5EF4-FFF2-40B4-BE49-F238E27FC236}">
                  <a16:creationId xmlns:a16="http://schemas.microsoft.com/office/drawing/2014/main" id="{0ACA8F31-9FA8-4218-9D55-96E6635E6C6A}"/>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2" name="Image 31" descr="Une image contenant personne, homme, extérieur, arbre&#10;&#10;Description générée automatiquement">
              <a:extLst>
                <a:ext uri="{FF2B5EF4-FFF2-40B4-BE49-F238E27FC236}">
                  <a16:creationId xmlns:a16="http://schemas.microsoft.com/office/drawing/2014/main" id="{940269B5-E5CA-4FB3-95D9-EAA2A2ABBD06}"/>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3" name="Image 32" descr="Une image contenant personne, mur, souriant, intérieur&#10;&#10;Description générée automatiquement">
              <a:extLst>
                <a:ext uri="{FF2B5EF4-FFF2-40B4-BE49-F238E27FC236}">
                  <a16:creationId xmlns:a16="http://schemas.microsoft.com/office/drawing/2014/main" id="{6C7AC939-21E1-4204-A4BA-DF05E6C5573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4" name="Image 33" descr="Une image contenant personne, mur, souriant, posant&#10;&#10;Description générée automatiquement">
              <a:extLst>
                <a:ext uri="{FF2B5EF4-FFF2-40B4-BE49-F238E27FC236}">
                  <a16:creationId xmlns:a16="http://schemas.microsoft.com/office/drawing/2014/main" id="{CF437C15-811C-4946-97F3-6BDF28F2D030}"/>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5" name="Image 34" descr="Une image contenant personne, mur, homme, souriant&#10;&#10;Description générée automatiquement">
              <a:extLst>
                <a:ext uri="{FF2B5EF4-FFF2-40B4-BE49-F238E27FC236}">
                  <a16:creationId xmlns:a16="http://schemas.microsoft.com/office/drawing/2014/main" id="{8968B192-D070-434A-A012-B72A2F00FA50}"/>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grpSp>
      <p:graphicFrame>
        <p:nvGraphicFramePr>
          <p:cNvPr id="36" name="Tabella 36">
            <a:extLst>
              <a:ext uri="{FF2B5EF4-FFF2-40B4-BE49-F238E27FC236}">
                <a16:creationId xmlns:a16="http://schemas.microsoft.com/office/drawing/2014/main" id="{72008287-A10F-A27F-C14C-C42A94CFAF05}"/>
              </a:ext>
            </a:extLst>
          </p:cNvPr>
          <p:cNvGraphicFramePr>
            <a:graphicFrameLocks noGrp="1"/>
          </p:cNvGraphicFramePr>
          <p:nvPr>
            <p:extLst>
              <p:ext uri="{D42A27DB-BD31-4B8C-83A1-F6EECF244321}">
                <p14:modId xmlns:p14="http://schemas.microsoft.com/office/powerpoint/2010/main" val="1978224348"/>
              </p:ext>
            </p:extLst>
          </p:nvPr>
        </p:nvGraphicFramePr>
        <p:xfrm>
          <a:off x="320040" y="2108549"/>
          <a:ext cx="10697085" cy="4389120"/>
        </p:xfrm>
        <a:graphic>
          <a:graphicData uri="http://schemas.openxmlformats.org/drawingml/2006/table">
            <a:tbl>
              <a:tblPr firstRow="1" bandRow="1">
                <a:tableStyleId>{5C22544A-7EE6-4342-B048-85BDC9FD1C3A}</a:tableStyleId>
              </a:tblPr>
              <a:tblGrid>
                <a:gridCol w="2139417">
                  <a:extLst>
                    <a:ext uri="{9D8B030D-6E8A-4147-A177-3AD203B41FA5}">
                      <a16:colId xmlns:a16="http://schemas.microsoft.com/office/drawing/2014/main" val="1128271190"/>
                    </a:ext>
                  </a:extLst>
                </a:gridCol>
                <a:gridCol w="2139417">
                  <a:extLst>
                    <a:ext uri="{9D8B030D-6E8A-4147-A177-3AD203B41FA5}">
                      <a16:colId xmlns:a16="http://schemas.microsoft.com/office/drawing/2014/main" val="2749463837"/>
                    </a:ext>
                  </a:extLst>
                </a:gridCol>
                <a:gridCol w="2139417">
                  <a:extLst>
                    <a:ext uri="{9D8B030D-6E8A-4147-A177-3AD203B41FA5}">
                      <a16:colId xmlns:a16="http://schemas.microsoft.com/office/drawing/2014/main" val="1643882369"/>
                    </a:ext>
                  </a:extLst>
                </a:gridCol>
                <a:gridCol w="2139417">
                  <a:extLst>
                    <a:ext uri="{9D8B030D-6E8A-4147-A177-3AD203B41FA5}">
                      <a16:colId xmlns:a16="http://schemas.microsoft.com/office/drawing/2014/main" val="1261343698"/>
                    </a:ext>
                  </a:extLst>
                </a:gridCol>
                <a:gridCol w="2139417">
                  <a:extLst>
                    <a:ext uri="{9D8B030D-6E8A-4147-A177-3AD203B41FA5}">
                      <a16:colId xmlns:a16="http://schemas.microsoft.com/office/drawing/2014/main" val="1964723104"/>
                    </a:ext>
                  </a:extLst>
                </a:gridCol>
              </a:tblGrid>
              <a:tr h="258734">
                <a:tc>
                  <a:txBody>
                    <a:bodyPr/>
                    <a:lstStyle/>
                    <a:p>
                      <a:r>
                        <a:rPr lang="en-US" dirty="0"/>
                        <a:t>Right conditions ?</a:t>
                      </a:r>
                    </a:p>
                  </a:txBody>
                  <a:tcPr/>
                </a:tc>
                <a:tc>
                  <a:txBody>
                    <a:bodyPr/>
                    <a:lstStyle/>
                    <a:p>
                      <a:r>
                        <a:rPr lang="en-US" dirty="0"/>
                        <a:t>(Optional) Level System</a:t>
                      </a:r>
                    </a:p>
                  </a:txBody>
                  <a:tcPr/>
                </a:tc>
                <a:tc>
                  <a:txBody>
                    <a:bodyPr/>
                    <a:lstStyle/>
                    <a:p>
                      <a:r>
                        <a:rPr lang="en-US" dirty="0"/>
                        <a:t>Workshop materials</a:t>
                      </a:r>
                    </a:p>
                  </a:txBody>
                  <a:tcPr/>
                </a:tc>
                <a:tc>
                  <a:txBody>
                    <a:bodyPr/>
                    <a:lstStyle/>
                    <a:p>
                      <a:r>
                        <a:rPr lang="en-US" dirty="0"/>
                        <a:t>Invitations</a:t>
                      </a:r>
                    </a:p>
                  </a:txBody>
                  <a:tcPr/>
                </a:tc>
                <a:tc>
                  <a:txBody>
                    <a:bodyPr/>
                    <a:lstStyle/>
                    <a:p>
                      <a:r>
                        <a:rPr lang="en-US" dirty="0"/>
                        <a:t>(Optional) Additional tips </a:t>
                      </a:r>
                    </a:p>
                  </a:txBody>
                  <a:tcPr/>
                </a:tc>
                <a:extLst>
                  <a:ext uri="{0D108BD9-81ED-4DB2-BD59-A6C34878D82A}">
                    <a16:rowId xmlns:a16="http://schemas.microsoft.com/office/drawing/2014/main" val="157274249"/>
                  </a:ext>
                </a:extLst>
              </a:tr>
              <a:tr h="9751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Check if you are in the right conditions to use this workshop</a:t>
                      </a:r>
                    </a:p>
                    <a:p>
                      <a:pPr marL="285750" indent="-285750">
                        <a:buFont typeface="Wingdings" panose="05000000000000000000" pitchFamily="2" charset="2"/>
                        <a:buChar char="q"/>
                      </a:pPr>
                      <a:r>
                        <a:rPr lang="en-US" sz="1200" dirty="0"/>
                        <a:t>You are currently in need to choose or adjust the next Community activities</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US" sz="1200" dirty="0"/>
                        <a:t>Your members would feel psychologically safe enough to express themselves during the workshop</a:t>
                      </a:r>
                    </a:p>
                    <a:p>
                      <a:pPr marL="285750" indent="-285750">
                        <a:buFont typeface="Wingdings" panose="05000000000000000000" pitchFamily="2" charset="2"/>
                        <a:buChar char="q"/>
                      </a:pPr>
                      <a:endParaRPr lang="en-US" sz="1200" dirty="0"/>
                    </a:p>
                    <a:p>
                      <a:pPr marL="285750" indent="-285750">
                        <a:buFont typeface="Wingdings" panose="05000000000000000000" pitchFamily="2" charset="2"/>
                        <a:buChar char="q"/>
                      </a:pPr>
                      <a:r>
                        <a:rPr lang="en-US" sz="1200" dirty="0"/>
                        <a:t>You have the right conditions (logistics, timing, interest) for participants to attend and spend time on their engagement level</a:t>
                      </a:r>
                    </a:p>
                  </a:txBody>
                  <a:tcPr/>
                </a:tc>
                <a:tc>
                  <a:txBody>
                    <a:bodyPr/>
                    <a:lstStyle/>
                    <a:p>
                      <a:r>
                        <a:rPr lang="en-US" sz="1200" dirty="0"/>
                        <a:t>Choose a level system that fit your Community and circumstances</a:t>
                      </a:r>
                    </a:p>
                    <a:p>
                      <a:endParaRPr lang="en-US" sz="1200" dirty="0"/>
                    </a:p>
                    <a:p>
                      <a:pPr marL="171450" indent="-171450">
                        <a:buFont typeface="Wingdings" panose="05000000000000000000" pitchFamily="2" charset="2"/>
                        <a:buChar char="q"/>
                      </a:pPr>
                      <a:r>
                        <a:rPr lang="en-US" sz="1200" dirty="0"/>
                        <a:t>Basic level system</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Levels by type of contribution to Community deliverable</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Relative Engagement Level</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Levels by amount and regularity of committed time</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Level by assumptions of participation</a:t>
                      </a:r>
                    </a:p>
                    <a:p>
                      <a:pPr marL="171450" indent="-171450">
                        <a:buFont typeface="Wingdings" panose="05000000000000000000" pitchFamily="2" charset="2"/>
                        <a:buChar char="q"/>
                      </a:pPr>
                      <a:endParaRPr lang="en-US" sz="1200" dirty="0"/>
                    </a:p>
                  </a:txBody>
                  <a:tcPr/>
                </a:tc>
                <a:tc>
                  <a:txBody>
                    <a:bodyPr/>
                    <a:lstStyle/>
                    <a:p>
                      <a:pPr marL="171450" indent="-171450">
                        <a:buFont typeface="Wingdings" panose="05000000000000000000" pitchFamily="2" charset="2"/>
                        <a:buChar char="q"/>
                      </a:pPr>
                      <a:r>
                        <a:rPr lang="en-US" sz="1200" dirty="0"/>
                        <a:t>Prepare a board (physical or virtual) with the levels </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the portraits (Optional, and more engaging) or at least the nametags</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Choose whether you want to ask for the current level only or also ask for the engagement level goal</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the presentation of the workshop (motivations, psychological safety conditions, …)</a:t>
                      </a:r>
                    </a:p>
                  </a:txBody>
                  <a:tcPr/>
                </a:tc>
                <a:tc>
                  <a:txBody>
                    <a:bodyPr/>
                    <a:lstStyle/>
                    <a:p>
                      <a:pPr marL="171450" indent="-171450">
                        <a:buFont typeface="Wingdings" panose="05000000000000000000" pitchFamily="2" charset="2"/>
                        <a:buChar char="q"/>
                      </a:pPr>
                      <a:r>
                        <a:rPr lang="en-US" sz="1200" dirty="0"/>
                        <a:t>Send invitations to your participants with the right pitch </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(Optional) Propose asynchronous offline answering for members who cannot attend</a:t>
                      </a:r>
                    </a:p>
                  </a:txBody>
                  <a:tcPr/>
                </a:tc>
                <a:tc>
                  <a:txBody>
                    <a:bodyPr/>
                    <a:lstStyle/>
                    <a:p>
                      <a:pPr marL="171450" indent="-171450">
                        <a:buFont typeface="Wingdings" panose="05000000000000000000" pitchFamily="2" charset="2"/>
                        <a:buChar char="q"/>
                      </a:pPr>
                      <a:r>
                        <a:rPr lang="en-US" sz="1200" dirty="0"/>
                        <a:t>Brainstorm various ideas of activities depending on the level, so that you can propose more concrete use of the workshop results</a:t>
                      </a:r>
                    </a:p>
                    <a:p>
                      <a:pPr marL="171450" indent="-171450">
                        <a:buFont typeface="Wingdings" panose="05000000000000000000" pitchFamily="2" charset="2"/>
                        <a:buChar char="q"/>
                      </a:pPr>
                      <a:endParaRPr lang="en-US" sz="1200" dirty="0"/>
                    </a:p>
                    <a:p>
                      <a:pPr marL="171450" indent="-171450">
                        <a:buFont typeface="Wingdings" panose="05000000000000000000" pitchFamily="2" charset="2"/>
                        <a:buChar char="q"/>
                      </a:pPr>
                      <a:r>
                        <a:rPr lang="en-US" sz="1200" dirty="0"/>
                        <a:t>Prepare different examples of Community formats (Communities with high proportion of low-level engagement, small communities with high engagement only…) that match different types of answer</a:t>
                      </a:r>
                    </a:p>
                  </a:txBody>
                  <a:tcPr/>
                </a:tc>
                <a:extLst>
                  <a:ext uri="{0D108BD9-81ED-4DB2-BD59-A6C34878D82A}">
                    <a16:rowId xmlns:a16="http://schemas.microsoft.com/office/drawing/2014/main" val="2111415472"/>
                  </a:ext>
                </a:extLst>
              </a:tr>
            </a:tbl>
          </a:graphicData>
        </a:graphic>
      </p:graphicFrame>
      <p:sp>
        <p:nvSpPr>
          <p:cNvPr id="4" name="Triangle isocèle 4">
            <a:extLst>
              <a:ext uri="{FF2B5EF4-FFF2-40B4-BE49-F238E27FC236}">
                <a16:creationId xmlns:a16="http://schemas.microsoft.com/office/drawing/2014/main" id="{CB577038-774B-052A-C0BE-4F920B2BBB08}"/>
              </a:ext>
            </a:extLst>
          </p:cNvPr>
          <p:cNvSpPr/>
          <p:nvPr/>
        </p:nvSpPr>
        <p:spPr>
          <a:xfrm rot="5400000">
            <a:off x="9112573" y="3717697"/>
            <a:ext cx="4838698" cy="102959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72651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Work Assumptions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8502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a:t>
            </a:r>
            <a:br>
              <a:rPr lang="en-US" sz="2800" dirty="0"/>
            </a:br>
            <a:r>
              <a:rPr lang="en-US" sz="2800" dirty="0"/>
              <a:t>Working assumptions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849165393"/>
              </p:ext>
            </p:extLst>
          </p:nvPr>
        </p:nvGraphicFramePr>
        <p:xfrm>
          <a:off x="590919" y="5149695"/>
          <a:ext cx="11398926" cy="103632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95156">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579327">
                <a:tc>
                  <a:txBody>
                    <a:bodyPr/>
                    <a:lstStyle/>
                    <a:p>
                      <a:pPr algn="ctr"/>
                      <a:r>
                        <a:rPr lang="en-US" sz="140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experience something”</a:t>
                      </a:r>
                    </a:p>
                  </a:txBody>
                  <a:tcPr>
                    <a:solidFill>
                      <a:schemeClr val="bg1">
                        <a:lumMod val="95000"/>
                      </a:schemeClr>
                    </a:solidFill>
                  </a:tcPr>
                </a:tc>
                <a:tc>
                  <a:txBody>
                    <a:bodyPr/>
                    <a:lstStyle/>
                    <a:p>
                      <a:pPr algn="ctr"/>
                      <a:r>
                        <a:rPr lang="en-US" sz="140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“I want to add my own touch”</a:t>
                      </a:r>
                    </a:p>
                  </a:txBody>
                  <a:tcPr>
                    <a:solidFill>
                      <a:schemeClr val="accent1">
                        <a:lumMod val="75000"/>
                      </a:schemeClr>
                    </a:solidFill>
                  </a:tcPr>
                </a:tc>
                <a:tc>
                  <a:txBody>
                    <a:bodyPr/>
                    <a:lstStyle/>
                    <a:p>
                      <a:pPr algn="ctr"/>
                      <a:r>
                        <a:rPr lang="en-US" sz="140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0651" y="41258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7655" y="41461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0998" y="41461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3182" y="41871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76525" y="41871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197" y="41461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33647" y="40948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52504" y="40380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a:hlinkClick r:id="rId18"/>
              </a:rPr>
              <a:t>https://en.wikipedia.org/wiki/Flow_(psychology)</a:t>
            </a:r>
            <a:endParaRPr lang="en-US" sz="1100"/>
          </a:p>
          <a:p>
            <a:endParaRPr lang="en-US" sz="1100"/>
          </a:p>
        </p:txBody>
      </p:sp>
    </p:spTree>
    <p:extLst>
      <p:ext uri="{BB962C8B-B14F-4D97-AF65-F5344CB8AC3E}">
        <p14:creationId xmlns:p14="http://schemas.microsoft.com/office/powerpoint/2010/main" val="1311854233"/>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fr-FR" sz="2800" dirty="0"/>
              <a:t>Engagement </a:t>
            </a:r>
            <a:r>
              <a:rPr lang="fr-FR" sz="2800" dirty="0" err="1"/>
              <a:t>Level</a:t>
            </a:r>
            <a:r>
              <a:rPr lang="fr-FR" sz="2800" dirty="0"/>
              <a:t> workshop</a:t>
            </a:r>
            <a:br>
              <a:rPr lang="fr-FR" sz="2800" dirty="0"/>
            </a:br>
            <a:r>
              <a:rPr lang="en-US" sz="2800" dirty="0"/>
              <a:t>Working assumptions</a:t>
            </a:r>
          </a:p>
        </p:txBody>
      </p:sp>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743265" cy="1664844"/>
              <a:chOff x="150929" y="1955947"/>
              <a:chExt cx="11743265"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9054" y="2141130"/>
                <a:ext cx="1121514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a:t>Stimulation</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61686"/>
                <a:ext cx="11016354" cy="1088216"/>
                <a:chOff x="727970" y="2650692"/>
                <a:chExt cx="11016354" cy="1088216"/>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0692"/>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794524" y="2310713"/>
                <a:ext cx="4693003" cy="553998"/>
              </a:xfrm>
              <a:prstGeom prst="rect">
                <a:avLst/>
              </a:prstGeom>
              <a:noFill/>
            </p:spPr>
            <p:txBody>
              <a:bodyPr wrap="square" rtlCol="0">
                <a:spAutoFit/>
              </a:bodyPr>
              <a:lstStyle/>
              <a:p>
                <a:r>
                  <a:rPr lang="en-US" sz="1000"/>
                  <a:t>Common mistake : Asking for too much</a:t>
                </a:r>
              </a:p>
              <a:p>
                <a:r>
                  <a:rPr lang="en-US" sz="1000"/>
                  <a:t>Community Members </a:t>
                </a:r>
                <a:r>
                  <a:rPr lang="en-US" sz="1000">
                    <a:sym typeface="Wingdings" panose="05000000000000000000" pitchFamily="2" charset="2"/>
                  </a:rPr>
                  <a:t></a:t>
                </a:r>
                <a:r>
                  <a:rPr lang="en-US" sz="1000"/>
                  <a:t> Feeling spammed</a:t>
                </a:r>
              </a:p>
              <a:p>
                <a:r>
                  <a:rPr lang="en-US" sz="1000"/>
                  <a:t>Community Booster </a:t>
                </a:r>
                <a:r>
                  <a:rPr lang="en-US" sz="1000">
                    <a:sym typeface="Wingdings" panose="05000000000000000000" pitchFamily="2" charset="2"/>
                  </a:rPr>
                  <a:t></a:t>
                </a:r>
                <a:r>
                  <a:rPr lang="en-US" sz="1000"/>
                  <a:t> Frustration </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7420996" y="3092910"/>
                <a:ext cx="4232838" cy="507831"/>
              </a:xfrm>
              <a:prstGeom prst="rect">
                <a:avLst/>
              </a:prstGeom>
              <a:noFill/>
            </p:spPr>
            <p:txBody>
              <a:bodyPr wrap="square" rtlCol="0">
                <a:spAutoFit/>
              </a:bodyPr>
              <a:lstStyle/>
              <a:p>
                <a:pPr algn="r"/>
                <a:r>
                  <a:rPr lang="en-US" sz="900"/>
                  <a:t>Common mistake : Asking for too few</a:t>
                </a:r>
              </a:p>
              <a:p>
                <a:pPr algn="r"/>
                <a:r>
                  <a:rPr lang="en-US" sz="900"/>
                  <a:t>Community Members </a:t>
                </a:r>
                <a:r>
                  <a:rPr lang="en-US" sz="900">
                    <a:sym typeface="Wingdings" panose="05000000000000000000" pitchFamily="2" charset="2"/>
                  </a:rPr>
                  <a:t></a:t>
                </a:r>
                <a:r>
                  <a:rPr lang="en-US" sz="900"/>
                  <a:t> Boredom </a:t>
                </a:r>
              </a:p>
              <a:p>
                <a:pPr algn="r"/>
                <a:r>
                  <a:rPr lang="en-US" sz="900"/>
                  <a:t>Community Booster </a:t>
                </a:r>
                <a:r>
                  <a:rPr lang="en-US" sz="900">
                    <a:sym typeface="Wingdings" panose="05000000000000000000" pitchFamily="2" charset="2"/>
                  </a:rPr>
                  <a:t></a:t>
                </a:r>
                <a:r>
                  <a:rPr lang="en-US" sz="900"/>
                  <a:t> Missing opportunities</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6861" y="2967467"/>
                <a:ext cx="4030714" cy="369332"/>
              </a:xfrm>
              <a:prstGeom prst="rect">
                <a:avLst/>
              </a:prstGeom>
              <a:noFill/>
            </p:spPr>
            <p:txBody>
              <a:bodyPr wrap="square" rtlCol="0">
                <a:spAutoFit/>
              </a:bodyPr>
              <a:lstStyle/>
              <a:p>
                <a:pPr algn="ctr"/>
                <a:r>
                  <a:rPr lang="en-US" b="1">
                    <a:solidFill>
                      <a:srgbClr val="00B050"/>
                    </a:solidFill>
                  </a:rPr>
                  <a:t>Flow Zone : Best for stimulation</a:t>
                </a:r>
              </a:p>
            </p:txBody>
          </p:sp>
        </p:grpSp>
      </p:grpSp>
      <p:sp>
        <p:nvSpPr>
          <p:cNvPr id="3" name="Segnaposto contenuto 2">
            <a:extLst>
              <a:ext uri="{FF2B5EF4-FFF2-40B4-BE49-F238E27FC236}">
                <a16:creationId xmlns:a16="http://schemas.microsoft.com/office/drawing/2014/main" id="{2D704DF3-5B29-2E1C-1F8C-4E3F0AE817C7}"/>
              </a:ext>
            </a:extLst>
          </p:cNvPr>
          <p:cNvSpPr>
            <a:spLocks noGrp="1"/>
          </p:cNvSpPr>
          <p:nvPr>
            <p:ph idx="1"/>
          </p:nvPr>
        </p:nvSpPr>
        <p:spPr>
          <a:xfrm>
            <a:off x="1115568" y="4002402"/>
            <a:ext cx="10168128" cy="2169798"/>
          </a:xfrm>
        </p:spPr>
        <p:txBody>
          <a:bodyPr>
            <a:normAutofit fontScale="77500" lnSpcReduction="20000"/>
          </a:bodyPr>
          <a:lstStyle/>
          <a:p>
            <a:pPr marL="0" indent="0">
              <a:buNone/>
            </a:pPr>
            <a:r>
              <a:rPr lang="en-US" sz="1600" dirty="0"/>
              <a:t>The workshop assumes that </a:t>
            </a:r>
          </a:p>
          <a:p>
            <a:pPr>
              <a:buFontTx/>
              <a:buChar char="-"/>
            </a:pPr>
            <a:r>
              <a:rPr lang="en-US" sz="1600" dirty="0"/>
              <a:t>every member (or potential member) has, at a time t, a  “engagement level” towards a Community</a:t>
            </a:r>
          </a:p>
          <a:p>
            <a:pPr>
              <a:buFontTx/>
              <a:buChar char="-"/>
            </a:pPr>
            <a:r>
              <a:rPr lang="en-US" sz="1600" dirty="0"/>
              <a:t>This engagement level can vary over time</a:t>
            </a:r>
          </a:p>
          <a:p>
            <a:pPr>
              <a:buFontTx/>
              <a:buChar char="-"/>
            </a:pPr>
            <a:r>
              <a:rPr lang="en-US" sz="1600" dirty="0"/>
              <a:t>Requesting more engagement from a member than his/her current engagement level, can decrease the engagement level (member is feeling spammed)</a:t>
            </a:r>
          </a:p>
          <a:p>
            <a:pPr>
              <a:buFontTx/>
              <a:buChar char="-"/>
            </a:pPr>
            <a:r>
              <a:rPr lang="en-US" sz="1600" dirty="0"/>
              <a:t>Requesting less engagement from a member than his/her current engagement level, can decrease the engagement level (member is feeling boredom)</a:t>
            </a:r>
          </a:p>
          <a:p>
            <a:pPr>
              <a:buFontTx/>
              <a:buChar char="-"/>
            </a:pPr>
            <a:r>
              <a:rPr lang="en-US" sz="1600" dirty="0"/>
              <a:t>Feeling respected in one’s current engagement level can increase engagement level over time</a:t>
            </a:r>
          </a:p>
        </p:txBody>
      </p:sp>
    </p:spTree>
    <p:extLst>
      <p:ext uri="{BB962C8B-B14F-4D97-AF65-F5344CB8AC3E}">
        <p14:creationId xmlns:p14="http://schemas.microsoft.com/office/powerpoint/2010/main" val="306642317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lstStyle/>
          <a:p>
            <a:r>
              <a:rPr lang="en-US" dirty="0"/>
              <a:t>Basic Level system</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18061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What the basic level system means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375866786"/>
              </p:ext>
            </p:extLst>
          </p:nvPr>
        </p:nvGraphicFramePr>
        <p:xfrm>
          <a:off x="320532" y="2656839"/>
          <a:ext cx="11588320" cy="398121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pPr algn="ctr"/>
                      <a:r>
                        <a:rPr lang="en-US" sz="900">
                          <a:solidFill>
                            <a:schemeClr val="tx1"/>
                          </a:solidFill>
                        </a:rPr>
                        <a:t>What members are ready to give to the community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ATTENTION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ATTENTION </a:t>
                      </a:r>
                    </a:p>
                    <a:p>
                      <a:pPr algn="l"/>
                      <a:r>
                        <a:rPr lang="en-US" sz="900">
                          <a:solidFill>
                            <a:schemeClr val="tx1"/>
                          </a:solidFill>
                        </a:rPr>
                        <a:t>+ ENOUGH TIME TO EXPERIMENT</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txBody>
                  <a:tcPr>
                    <a:solidFill>
                      <a:schemeClr val="accent1">
                        <a:lumMod val="20000"/>
                        <a:lumOff val="8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txBody>
                  <a:tcPr>
                    <a:solidFill>
                      <a:schemeClr val="accent1">
                        <a:lumMod val="40000"/>
                        <a:lumOff val="60000"/>
                      </a:schemeClr>
                    </a:solidFill>
                  </a:tcPr>
                </a:tc>
                <a:tc>
                  <a:txBody>
                    <a:bodyPr/>
                    <a:lstStyle/>
                    <a:p>
                      <a:pPr algn="l"/>
                      <a:r>
                        <a:rPr lang="en-US" sz="900">
                          <a:solidFill>
                            <a:schemeClr val="tx1"/>
                          </a:solidFill>
                        </a:rPr>
                        <a:t>ATTENTION</a:t>
                      </a:r>
                    </a:p>
                    <a:p>
                      <a:pPr algn="l"/>
                      <a:r>
                        <a:rPr lang="en-US" sz="900">
                          <a:solidFill>
                            <a:schemeClr val="tx1"/>
                          </a:solidFill>
                        </a:rPr>
                        <a:t>+ ENOUGH TIME TO EXPERIMENT</a:t>
                      </a:r>
                    </a:p>
                    <a:p>
                      <a:pPr algn="l"/>
                      <a:r>
                        <a:rPr lang="en-US" sz="900">
                          <a:solidFill>
                            <a:schemeClr val="tx1"/>
                          </a:solidFill>
                        </a:rPr>
                        <a:t>+ RECURRING ATTENDANCE</a:t>
                      </a:r>
                    </a:p>
                    <a:p>
                      <a:pPr algn="l"/>
                      <a:r>
                        <a:rPr lang="en-US" sz="900">
                          <a:solidFill>
                            <a:schemeClr val="tx1"/>
                          </a:solidFill>
                        </a:rPr>
                        <a:t>+ WILLINGNESS TO CONTRIBUTE</a:t>
                      </a:r>
                    </a:p>
                    <a:p>
                      <a:pPr algn="l"/>
                      <a:r>
                        <a:rPr lang="en-US" sz="900">
                          <a:solidFill>
                            <a:schemeClr val="tx1"/>
                          </a:solidFill>
                        </a:rPr>
                        <a:t>+WILLINGNESS TO TAKE RESPONSIBILITIES</a:t>
                      </a:r>
                    </a:p>
                  </a:txBody>
                  <a:tcPr>
                    <a:solidFill>
                      <a:schemeClr val="accent1">
                        <a:lumMod val="60000"/>
                        <a:lumOff val="40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 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txBody>
                  <a:tcPr>
                    <a:solidFill>
                      <a:schemeClr val="accent1">
                        <a:lumMod val="75000"/>
                      </a:schemeClr>
                    </a:solidFill>
                  </a:tcPr>
                </a:tc>
                <a:tc>
                  <a:txBody>
                    <a:bodyPr/>
                    <a:lstStyle/>
                    <a:p>
                      <a:pPr algn="l"/>
                      <a:r>
                        <a:rPr lang="en-US" sz="900">
                          <a:solidFill>
                            <a:schemeClr val="bg1"/>
                          </a:solidFill>
                        </a:rPr>
                        <a:t>ATTENTION</a:t>
                      </a:r>
                    </a:p>
                    <a:p>
                      <a:pPr algn="l"/>
                      <a:r>
                        <a:rPr lang="en-US" sz="900">
                          <a:solidFill>
                            <a:schemeClr val="bg1"/>
                          </a:solidFill>
                        </a:rPr>
                        <a:t>+ ENOUGH TIME TO EXPERIMENT</a:t>
                      </a:r>
                    </a:p>
                    <a:p>
                      <a:pPr algn="l"/>
                      <a:r>
                        <a:rPr lang="en-US" sz="900">
                          <a:solidFill>
                            <a:schemeClr val="bg1"/>
                          </a:solidFill>
                        </a:rPr>
                        <a:t>+ RECURRING ATTENDANCE</a:t>
                      </a:r>
                    </a:p>
                    <a:p>
                      <a:pPr algn="l"/>
                      <a:r>
                        <a:rPr lang="en-US" sz="900">
                          <a:solidFill>
                            <a:schemeClr val="bg1"/>
                          </a:solidFill>
                        </a:rPr>
                        <a:t>+ WILLINGNESS TO CONTRIBUTE</a:t>
                      </a:r>
                    </a:p>
                    <a:p>
                      <a:pPr algn="l"/>
                      <a:r>
                        <a:rPr lang="en-US" sz="90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+WILLINGNESS TO RALLY</a:t>
                      </a:r>
                    </a:p>
                  </a:txBody>
                  <a:tcPr>
                    <a:solidFill>
                      <a:schemeClr val="accent1">
                        <a:lumMod val="50000"/>
                      </a:schemeClr>
                    </a:solidFill>
                  </a:tcPr>
                </a:tc>
                <a:extLst>
                  <a:ext uri="{0D108BD9-81ED-4DB2-BD59-A6C34878D82A}">
                    <a16:rowId xmlns:a16="http://schemas.microsoft.com/office/drawing/2014/main" val="2260415336"/>
                  </a:ext>
                </a:extLst>
              </a:tr>
              <a:tr h="1043462">
                <a:tc>
                  <a:txBody>
                    <a:bodyPr/>
                    <a:lstStyle/>
                    <a:p>
                      <a:pPr algn="ctr"/>
                      <a:r>
                        <a:rPr lang="en-US" sz="900">
                          <a:solidFill>
                            <a:schemeClr val="tx1"/>
                          </a:solidFill>
                        </a:rPr>
                        <a:t>What members can possibly expect from the Community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a:solidFill>
                            <a:schemeClr val="tx1"/>
                          </a:solidFill>
                        </a:rPr>
                        <a:t>Interesting content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a:solidFill>
                            <a:schemeClr val="tx1"/>
                          </a:solidFill>
                        </a:rPr>
                        <a:t>Pleasant experience</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a:solidFill>
                            <a:schemeClr val="tx1"/>
                          </a:solidFill>
                        </a:rPr>
                        <a:t>- Interest and Utility</a:t>
                      </a:r>
                    </a:p>
                    <a:p>
                      <a:pPr algn="l"/>
                      <a:r>
                        <a:rPr lang="en-US" sz="900">
                          <a:solidFill>
                            <a:schemeClr val="tx1"/>
                          </a:solidFill>
                        </a:rPr>
                        <a:t>- Usefulness of community or  content experience</a:t>
                      </a:r>
                    </a:p>
                  </a:txBody>
                  <a:tcPr>
                    <a:solidFill>
                      <a:schemeClr val="accent1">
                        <a:lumMod val="20000"/>
                        <a:lumOff val="80000"/>
                      </a:schemeClr>
                    </a:solidFill>
                  </a:tcPr>
                </a:tc>
                <a:tc>
                  <a:txBody>
                    <a:bodyPr/>
                    <a:lstStyle/>
                    <a:p>
                      <a:pPr algn="l"/>
                      <a:r>
                        <a:rPr lang="en-US" sz="900">
                          <a:solidFill>
                            <a:schemeClr val="tx1"/>
                          </a:solidFill>
                        </a:rPr>
                        <a:t>- Feeling of being active</a:t>
                      </a:r>
                    </a:p>
                    <a:p>
                      <a:pPr algn="l"/>
                      <a:r>
                        <a:rPr lang="en-US" sz="900">
                          <a:solidFill>
                            <a:schemeClr val="tx1"/>
                          </a:solidFill>
                        </a:rPr>
                        <a:t>- Concrete effects resulting from one’s action</a:t>
                      </a:r>
                    </a:p>
                    <a:p>
                      <a:pPr algn="l"/>
                      <a:r>
                        <a:rPr lang="en-US" sz="900">
                          <a:solidFill>
                            <a:schemeClr val="tx1"/>
                          </a:solidFill>
                        </a:rPr>
                        <a:t>- Sense of belonging in something bigger</a:t>
                      </a:r>
                    </a:p>
                    <a:p>
                      <a:pPr marL="171450" indent="-171450" algn="l">
                        <a:buFontTx/>
                        <a:buChar char="-"/>
                      </a:pPr>
                      <a:r>
                        <a:rPr lang="en-US" sz="900">
                          <a:solidFill>
                            <a:schemeClr val="tx1"/>
                          </a:solidFill>
                        </a:rPr>
                        <a:t>Better self-image</a:t>
                      </a:r>
                    </a:p>
                    <a:p>
                      <a:pPr marL="171450" indent="-171450" algn="l">
                        <a:buFontTx/>
                        <a:buChar char="-"/>
                      </a:pPr>
                      <a:r>
                        <a:rPr lang="en-US" sz="900">
                          <a:solidFill>
                            <a:schemeClr val="tx1"/>
                          </a:solidFill>
                        </a:rPr>
                        <a:t>Alignment of values</a:t>
                      </a:r>
                    </a:p>
                  </a:txBody>
                  <a:tcPr>
                    <a:solidFill>
                      <a:schemeClr val="accent1">
                        <a:lumMod val="40000"/>
                        <a:lumOff val="60000"/>
                      </a:schemeClr>
                    </a:solidFill>
                  </a:tcPr>
                </a:tc>
                <a:tc>
                  <a:txBody>
                    <a:bodyPr/>
                    <a:lstStyle/>
                    <a:p>
                      <a:pPr marL="171450" indent="-171450" algn="l">
                        <a:buFontTx/>
                        <a:buChar char="-"/>
                      </a:pPr>
                      <a:r>
                        <a:rPr lang="en-US" sz="900">
                          <a:solidFill>
                            <a:schemeClr val="tx1"/>
                          </a:solidFill>
                        </a:rPr>
                        <a:t>Responsibilities</a:t>
                      </a:r>
                    </a:p>
                    <a:p>
                      <a:pPr marL="171450" indent="-171450" algn="l">
                        <a:buFontTx/>
                        <a:buChar char="-"/>
                      </a:pPr>
                      <a:r>
                        <a:rPr lang="en-US" sz="900">
                          <a:solidFill>
                            <a:schemeClr val="tx1"/>
                          </a:solidFill>
                        </a:rPr>
                        <a:t>Risk of loss and more  meaningful success</a:t>
                      </a:r>
                    </a:p>
                    <a:p>
                      <a:pPr marL="171450" indent="-171450" algn="l">
                        <a:buFontTx/>
                        <a:buChar char="-"/>
                      </a:pPr>
                      <a:r>
                        <a:rPr lang="en-US" sz="900">
                          <a:solidFill>
                            <a:schemeClr val="tx1"/>
                          </a:solidFill>
                        </a:rPr>
                        <a:t>Challenge and opportunity to succeed</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A space to express oneself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Support and tools for creativity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bg1"/>
                          </a:solidFill>
                        </a:rPr>
                        <a:t>- Feeling of being aligned with oneself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Posterity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Unattended crowds to conquer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Significance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a:solidFill>
                            <a:schemeClr val="bg1"/>
                          </a:solidFill>
                        </a:rPr>
                        <a:t>Large Vision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a:solidFill>
                          <a:schemeClr val="bg1"/>
                        </a:solidFill>
                      </a:endParaRPr>
                    </a:p>
                  </a:txBody>
                  <a:tcPr>
                    <a:solidFill>
                      <a:schemeClr val="accent1">
                        <a:lumMod val="50000"/>
                      </a:schemeClr>
                    </a:solidFill>
                  </a:tcPr>
                </a:tc>
                <a:extLst>
                  <a:ext uri="{0D108BD9-81ED-4DB2-BD59-A6C34878D82A}">
                    <a16:rowId xmlns:a16="http://schemas.microsoft.com/office/drawing/2014/main" val="1156104871"/>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1588568121"/>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Engagement Level workshop</a:t>
            </a:r>
            <a:br>
              <a:rPr lang="en-US" sz="2400" dirty="0"/>
            </a:br>
            <a:r>
              <a:rPr lang="en-US" sz="2400" dirty="0"/>
              <a:t>Example activities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2012636818"/>
              </p:ext>
            </p:extLst>
          </p:nvPr>
        </p:nvGraphicFramePr>
        <p:xfrm>
          <a:off x="1882005" y="2695814"/>
          <a:ext cx="10139780" cy="3889771"/>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r>
                        <a:rPr lang="en-US" sz="1100">
                          <a:solidFill>
                            <a:schemeClr val="tx1"/>
                          </a:solidFill>
                        </a:rPr>
                        <a:t>E1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E2</a:t>
                      </a:r>
                    </a:p>
                  </a:txBody>
                  <a:tcPr>
                    <a:solidFill>
                      <a:schemeClr val="bg1">
                        <a:lumMod val="95000"/>
                      </a:schemeClr>
                    </a:solidFill>
                  </a:tcPr>
                </a:tc>
                <a:tc>
                  <a:txBody>
                    <a:bodyPr/>
                    <a:lstStyle/>
                    <a:p>
                      <a:pPr algn="ctr"/>
                      <a:r>
                        <a:rPr lang="en-US" sz="11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E6</a:t>
                      </a:r>
                    </a:p>
                  </a:txBody>
                  <a:tcPr>
                    <a:solidFill>
                      <a:schemeClr val="accent1">
                        <a:lumMod val="75000"/>
                      </a:schemeClr>
                    </a:solidFill>
                  </a:tcPr>
                </a:tc>
                <a:tc>
                  <a:txBody>
                    <a:bodyPr/>
                    <a:lstStyle/>
                    <a:p>
                      <a:pPr algn="ctr"/>
                      <a:r>
                        <a:rPr lang="en-US" sz="1100">
                          <a:solidFill>
                            <a:schemeClr val="bg1"/>
                          </a:solidFill>
                        </a:rPr>
                        <a:t>E7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r>
                        <a:rPr lang="en-US" sz="1100">
                          <a:solidFill>
                            <a:schemeClr val="tx1"/>
                          </a:solidFill>
                        </a:rPr>
                        <a:t>Curious</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Attendee</a:t>
                      </a:r>
                    </a:p>
                  </a:txBody>
                  <a:tcPr>
                    <a:solidFill>
                      <a:schemeClr val="bg1">
                        <a:lumMod val="95000"/>
                      </a:schemeClr>
                    </a:solidFill>
                  </a:tcPr>
                </a:tc>
                <a:tc>
                  <a:txBody>
                    <a:bodyPr/>
                    <a:lstStyle/>
                    <a:p>
                      <a:pPr algn="ctr"/>
                      <a:r>
                        <a:rPr lang="en-US" sz="110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bg1"/>
                          </a:solidFill>
                        </a:rPr>
                        <a:t>Leader &amp; Creator</a:t>
                      </a:r>
                    </a:p>
                  </a:txBody>
                  <a:tcPr>
                    <a:solidFill>
                      <a:schemeClr val="accent1">
                        <a:lumMod val="75000"/>
                      </a:schemeClr>
                    </a:solidFill>
                  </a:tcPr>
                </a:tc>
                <a:tc>
                  <a:txBody>
                    <a:bodyPr/>
                    <a:lstStyle/>
                    <a:p>
                      <a:pPr algn="ctr"/>
                      <a:r>
                        <a:rPr lang="en-US" sz="1100" dirty="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r>
                        <a:rPr lang="en-US" sz="1100" noProof="0" dirty="0"/>
                        <a:t>Subscribe to a content thread (social media account, etc.) </a:t>
                      </a:r>
                    </a:p>
                    <a:p>
                      <a:endParaRPr lang="en-US" sz="1100" noProof="0" dirty="0"/>
                    </a:p>
                    <a:p>
                      <a:r>
                        <a:rPr lang="en-US" sz="1100" noProof="0" dirty="0"/>
                        <a:t>Agree to receive content (newsletters, brochure, etc.)</a:t>
                      </a:r>
                    </a:p>
                    <a:p>
                      <a:endParaRPr lang="en-US" sz="1100" noProof="0" dirty="0"/>
                    </a:p>
                    <a:p>
                      <a:r>
                        <a:rPr lang="en-US" sz="1100" noProof="0" dirty="0"/>
                        <a:t>Join a messaging room (or get invited to 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noProof="0"/>
                        <a:t>Watch or listen to an online content.</a:t>
                      </a:r>
                    </a:p>
                    <a:p>
                      <a:endParaRPr lang="en-US" sz="1100" noProof="0"/>
                    </a:p>
                    <a:p>
                      <a:r>
                        <a:rPr lang="en-US" sz="1100" noProof="0"/>
                        <a:t>Attend to an event in which you can act passively : Inspirational speaker, presentation, etc.</a:t>
                      </a:r>
                    </a:p>
                    <a:p>
                      <a:endParaRPr lang="en-US" sz="1100" noProof="0"/>
                    </a:p>
                  </a:txBody>
                  <a:tcPr>
                    <a:lnL w="12700" cap="flat" cmpd="sng" algn="ctr">
                      <a:noFill/>
                      <a:prstDash val="solid"/>
                      <a:round/>
                      <a:headEnd type="none" w="med" len="med"/>
                      <a:tailEnd type="none" w="med" len="med"/>
                    </a:lnL>
                    <a:solidFill>
                      <a:schemeClr val="bg1">
                        <a:lumMod val="95000"/>
                      </a:schemeClr>
                    </a:solidFill>
                  </a:tcPr>
                </a:tc>
                <a:tc>
                  <a:txBody>
                    <a:bodyPr/>
                    <a:lstStyle/>
                    <a:p>
                      <a:r>
                        <a:rPr lang="en-US" sz="1100" noProof="0"/>
                        <a:t>Introduce yourself to other members</a:t>
                      </a:r>
                    </a:p>
                    <a:p>
                      <a:endParaRPr lang="en-US" sz="1100" noProof="0"/>
                    </a:p>
                    <a:p>
                      <a:r>
                        <a:rPr lang="en-US" sz="1100" noProof="0"/>
                        <a:t>Answer to a quiz, a poll or a study</a:t>
                      </a:r>
                    </a:p>
                    <a:p>
                      <a:endParaRPr lang="en-US" sz="1100" noProof="0"/>
                    </a:p>
                    <a:p>
                      <a:r>
                        <a:rPr lang="en-US" sz="1100" noProof="0"/>
                        <a:t>React to a content (with likes, etc)</a:t>
                      </a:r>
                    </a:p>
                    <a:p>
                      <a:endParaRPr lang="en-US" sz="1100" noProof="0"/>
                    </a:p>
                    <a:p>
                      <a:r>
                        <a:rPr lang="en-US" sz="1100" noProof="0"/>
                        <a:t>Follow an online course with online exams</a:t>
                      </a:r>
                    </a:p>
                    <a:p>
                      <a:endParaRPr lang="en-US" sz="1100" noProof="0"/>
                    </a:p>
                    <a:p>
                      <a:r>
                        <a:rPr lang="en-US" sz="1100" noProof="0"/>
                        <a:t>Ask questions after or participate to discussions among peers after an event</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Actively review &amp; comment content (article, video, …), write down a feedback</a:t>
                      </a:r>
                    </a:p>
                    <a:p>
                      <a:endParaRPr lang="en-US" sz="1100" noProof="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a:t>Post external content in the Community messaging room </a:t>
                      </a:r>
                    </a:p>
                    <a:p>
                      <a:endParaRPr lang="en-US" sz="1100" noProof="0"/>
                    </a:p>
                    <a:p>
                      <a:r>
                        <a:rPr lang="en-US" sz="1100" noProof="0"/>
                        <a:t>Co-author a common deliverable</a:t>
                      </a:r>
                    </a:p>
                  </a:txBody>
                  <a:tcPr>
                    <a:solidFill>
                      <a:schemeClr val="accent1">
                        <a:lumMod val="40000"/>
                        <a:lumOff val="60000"/>
                      </a:schemeClr>
                    </a:solidFill>
                  </a:tcPr>
                </a:tc>
                <a:tc>
                  <a:txBody>
                    <a:bodyPr/>
                    <a:lstStyle/>
                    <a:p>
                      <a:r>
                        <a:rPr lang="en-US" sz="1100" noProof="0" dirty="0"/>
                        <a:t>Host a collective intelligence workshop </a:t>
                      </a:r>
                    </a:p>
                    <a:p>
                      <a:endParaRPr lang="en-US" sz="1100" noProof="0" dirty="0"/>
                    </a:p>
                    <a:p>
                      <a:r>
                        <a:rPr lang="en-US" sz="1100" noProof="0" dirty="0"/>
                        <a:t>Participate to an active pedagogy training</a:t>
                      </a:r>
                    </a:p>
                    <a:p>
                      <a:endParaRPr lang="en-US" sz="110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tx1"/>
                          </a:solidFill>
                        </a:rPr>
                        <a:t>Prepare an event outside of the Community</a:t>
                      </a:r>
                    </a:p>
                    <a:p>
                      <a:endParaRPr lang="en-US" sz="1100" noProof="0" dirty="0"/>
                    </a:p>
                    <a:p>
                      <a:r>
                        <a:rPr lang="en-US" sz="1100" noProof="0" dirty="0"/>
                        <a:t>Manage a Community task from A to Z</a:t>
                      </a:r>
                    </a:p>
                    <a:p>
                      <a:endParaRPr lang="en-US" sz="1100" noProof="0" dirty="0"/>
                    </a:p>
                    <a:p>
                      <a:r>
                        <a:rPr lang="en-US" sz="1100" noProof="0" dirty="0"/>
                        <a:t>Take an official Community role</a:t>
                      </a:r>
                    </a:p>
                  </a:txBody>
                  <a:tcPr>
                    <a:solidFill>
                      <a:schemeClr val="accent1">
                        <a:lumMod val="60000"/>
                        <a:lumOff val="40000"/>
                      </a:schemeClr>
                    </a:solidFill>
                  </a:tcPr>
                </a:tc>
                <a:tc>
                  <a:txBody>
                    <a:bodyPr/>
                    <a:lstStyle/>
                    <a:p>
                      <a:r>
                        <a:rPr lang="en-US" sz="1100" noProof="0" dirty="0"/>
                        <a:t>Organize a working group (set up a team, define goals, organize planning, produce, share, etc.)</a:t>
                      </a:r>
                    </a:p>
                    <a:p>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Design an event and host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Create original content by yourself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t>Design the community roadmap</a:t>
                      </a:r>
                    </a:p>
                  </a:txBody>
                  <a:tcP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Organize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Manage conflicts within and with the Community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Structure Community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Do whatever is not covered by roles of previous levels</a:t>
                      </a:r>
                    </a:p>
                  </a:txBody>
                  <a:tcPr>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2490704064"/>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fontScale="90000"/>
          </a:bodyPr>
          <a:lstStyle/>
          <a:p>
            <a:r>
              <a:rPr lang="en-US" dirty="0"/>
              <a:t>Variant with individual engagement goals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30862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Adding GOALS for next time period </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pic>
        <p:nvPicPr>
          <p:cNvPr id="14" name="Image 13" descr="Une image contenant personne, homme, cravate, complet&#10;&#10;Description générée automatiquement">
            <a:extLst>
              <a:ext uri="{FF2B5EF4-FFF2-40B4-BE49-F238E27FC236}">
                <a16:creationId xmlns:a16="http://schemas.microsoft.com/office/drawing/2014/main" id="{B696EB01-E4C8-41A5-A492-953881A6FD3E}"/>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4178619" y="3479552"/>
            <a:ext cx="569795" cy="569795"/>
          </a:xfrm>
          <a:prstGeom prst="rect">
            <a:avLst/>
          </a:prstGeom>
        </p:spPr>
      </p:pic>
      <p:pic>
        <p:nvPicPr>
          <p:cNvPr id="16" name="Image 15" descr="Une image contenant personne, extérieur, souriant, violet&#10;&#10;Description générée automatiquement">
            <a:extLst>
              <a:ext uri="{FF2B5EF4-FFF2-40B4-BE49-F238E27FC236}">
                <a16:creationId xmlns:a16="http://schemas.microsoft.com/office/drawing/2014/main" id="{655E41DD-23F6-41F1-9BD2-6484311BE129}"/>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6063964" y="4078162"/>
            <a:ext cx="569795" cy="569795"/>
          </a:xfrm>
          <a:prstGeom prst="rect">
            <a:avLst/>
          </a:prstGeom>
        </p:spPr>
      </p:pic>
      <p:pic>
        <p:nvPicPr>
          <p:cNvPr id="17" name="Image 16" descr="Une image contenant personne, femme, souriant&#10;&#10;Description générée automatiquement">
            <a:extLst>
              <a:ext uri="{FF2B5EF4-FFF2-40B4-BE49-F238E27FC236}">
                <a16:creationId xmlns:a16="http://schemas.microsoft.com/office/drawing/2014/main" id="{037D13CC-8A6A-4D6C-9779-BB188DF22C51}"/>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2931042" y="3471335"/>
            <a:ext cx="569795" cy="569795"/>
          </a:xfrm>
          <a:prstGeom prst="rect">
            <a:avLst/>
          </a:prstGeom>
        </p:spPr>
      </p:pic>
      <p:pic>
        <p:nvPicPr>
          <p:cNvPr id="18" name="Image 17" descr="Une image contenant personne, extérieur, souriant, foule&#10;&#10;Description générée automatiquement">
            <a:extLst>
              <a:ext uri="{FF2B5EF4-FFF2-40B4-BE49-F238E27FC236}">
                <a16:creationId xmlns:a16="http://schemas.microsoft.com/office/drawing/2014/main" id="{74343B69-B39A-4EDF-8041-B9AD8C164522}"/>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307737" y="3475693"/>
            <a:ext cx="569795" cy="569795"/>
          </a:xfrm>
          <a:prstGeom prst="rect">
            <a:avLst/>
          </a:prstGeom>
        </p:spPr>
      </p:pic>
      <p:pic>
        <p:nvPicPr>
          <p:cNvPr id="19" name="Image 18" descr="Une image contenant personne, souriant, homme, posant&#10;&#10;Description générée automatiquement">
            <a:extLst>
              <a:ext uri="{FF2B5EF4-FFF2-40B4-BE49-F238E27FC236}">
                <a16:creationId xmlns:a16="http://schemas.microsoft.com/office/drawing/2014/main" id="{7DE7DF05-DFE6-46BB-9CE1-4C5959A33898}"/>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310279" y="4800468"/>
            <a:ext cx="569795" cy="569795"/>
          </a:xfrm>
          <a:prstGeom prst="rect">
            <a:avLst/>
          </a:prstGeom>
        </p:spPr>
      </p:pic>
      <p:pic>
        <p:nvPicPr>
          <p:cNvPr id="21" name="Image 20" descr="Une image contenant personne, intérieur, posant, fermer&#10;&#10;Description générée automatiquement">
            <a:extLst>
              <a:ext uri="{FF2B5EF4-FFF2-40B4-BE49-F238E27FC236}">
                <a16:creationId xmlns:a16="http://schemas.microsoft.com/office/drawing/2014/main" id="{288C2095-9453-45E5-BCBA-62041BD6E355}"/>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6069071" y="4691665"/>
            <a:ext cx="569795" cy="569795"/>
          </a:xfrm>
          <a:prstGeom prst="rect">
            <a:avLst/>
          </a:prstGeom>
        </p:spPr>
      </p:pic>
      <p:pic>
        <p:nvPicPr>
          <p:cNvPr id="22" name="Image 21" descr="Une image contenant personne, homme, mur, souriant&#10;&#10;Description générée automatiquement">
            <a:extLst>
              <a:ext uri="{FF2B5EF4-FFF2-40B4-BE49-F238E27FC236}">
                <a16:creationId xmlns:a16="http://schemas.microsoft.com/office/drawing/2014/main" id="{418DF618-E468-43A3-B334-7DFCAD9F6229}"/>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931025" y="6021137"/>
            <a:ext cx="569795" cy="569795"/>
          </a:xfrm>
          <a:prstGeom prst="rect">
            <a:avLst/>
          </a:prstGeom>
        </p:spPr>
      </p:pic>
      <p:pic>
        <p:nvPicPr>
          <p:cNvPr id="23" name="Image 22" descr="Une image contenant homme, personne, intérieur, aîné&#10;&#10;Description générée automatiquement">
            <a:extLst>
              <a:ext uri="{FF2B5EF4-FFF2-40B4-BE49-F238E27FC236}">
                <a16:creationId xmlns:a16="http://schemas.microsoft.com/office/drawing/2014/main" id="{2288E470-715B-4D58-BC32-4070AFE5804C}"/>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7507496" y="3466434"/>
            <a:ext cx="569795" cy="569795"/>
          </a:xfrm>
          <a:prstGeom prst="rect">
            <a:avLst/>
          </a:prstGeom>
        </p:spPr>
      </p:pic>
      <p:pic>
        <p:nvPicPr>
          <p:cNvPr id="24" name="Image 23" descr="Une image contenant homme, personne, verres, portant&#10;&#10;Description générée automatiquement">
            <a:extLst>
              <a:ext uri="{FF2B5EF4-FFF2-40B4-BE49-F238E27FC236}">
                <a16:creationId xmlns:a16="http://schemas.microsoft.com/office/drawing/2014/main" id="{ABF73D53-C154-4AB5-A2A7-D4D2146A3C07}"/>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6061544" y="5305168"/>
            <a:ext cx="569795" cy="569795"/>
          </a:xfrm>
          <a:prstGeom prst="rect">
            <a:avLst/>
          </a:prstGeom>
        </p:spPr>
      </p:pic>
      <p:pic>
        <p:nvPicPr>
          <p:cNvPr id="25" name="Image 24" descr="Une image contenant personne, homme, intérieur, souriant&#10;&#10;Description générée automatiquement">
            <a:extLst>
              <a:ext uri="{FF2B5EF4-FFF2-40B4-BE49-F238E27FC236}">
                <a16:creationId xmlns:a16="http://schemas.microsoft.com/office/drawing/2014/main" id="{30F6B8D1-A091-4DFC-AC34-46C5F338D7B8}"/>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1324958" y="3510401"/>
            <a:ext cx="569795" cy="569795"/>
          </a:xfrm>
          <a:prstGeom prst="rect">
            <a:avLst/>
          </a:prstGeom>
        </p:spPr>
      </p:pic>
      <p:pic>
        <p:nvPicPr>
          <p:cNvPr id="26" name="Image 25" descr="Une image contenant personne, homme, cravate, souriant&#10;&#10;Description générée automatiquement">
            <a:extLst>
              <a:ext uri="{FF2B5EF4-FFF2-40B4-BE49-F238E27FC236}">
                <a16:creationId xmlns:a16="http://schemas.microsoft.com/office/drawing/2014/main" id="{49013062-5F00-474D-B843-EFA7FF751D2B}"/>
              </a:ext>
            </a:extLst>
          </p:cNvPr>
          <p:cNvPicPr>
            <a:picLocks noChangeAspect="1"/>
          </p:cNvPicPr>
          <p:nvPr/>
        </p:nvPicPr>
        <p:blipFill>
          <a:blip r:embed="rId28" cstate="email">
            <a:extLst>
              <a:ext uri="{28A0092B-C50C-407E-A947-70E740481C1C}">
                <a14:useLocalDpi xmlns:a14="http://schemas.microsoft.com/office/drawing/2010/main"/>
              </a:ext>
            </a:extLst>
          </a:blip>
          <a:stretch>
            <a:fillRect/>
          </a:stretch>
        </p:blipFill>
        <p:spPr>
          <a:xfrm>
            <a:off x="1321498" y="4193240"/>
            <a:ext cx="569795" cy="569795"/>
          </a:xfrm>
          <a:prstGeom prst="rect">
            <a:avLst/>
          </a:prstGeom>
        </p:spPr>
      </p:pic>
      <p:pic>
        <p:nvPicPr>
          <p:cNvPr id="30" name="Image 29" descr="Une image contenant personne, homme, souriant, aîné&#10;&#10;Description générée automatiquement">
            <a:extLst>
              <a:ext uri="{FF2B5EF4-FFF2-40B4-BE49-F238E27FC236}">
                <a16:creationId xmlns:a16="http://schemas.microsoft.com/office/drawing/2014/main" id="{F72603E6-CCFA-4994-BF61-8A768F2E09CF}"/>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699387" y="4786237"/>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2279E222-24B2-46ED-BDF6-35B2F7B4C724}"/>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2320808" y="4103748"/>
            <a:ext cx="569795" cy="569795"/>
          </a:xfrm>
          <a:prstGeom prst="rect">
            <a:avLst/>
          </a:prstGeom>
        </p:spPr>
      </p:pic>
      <p:pic>
        <p:nvPicPr>
          <p:cNvPr id="33" name="Image 32" descr="Une image contenant personne, femme, souriant, posant&#10;&#10;Description générée automatiquement">
            <a:extLst>
              <a:ext uri="{FF2B5EF4-FFF2-40B4-BE49-F238E27FC236}">
                <a16:creationId xmlns:a16="http://schemas.microsoft.com/office/drawing/2014/main" id="{B28B3B8B-6004-46B1-A5D9-E998BDF06ACB}"/>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089258" y="3479552"/>
            <a:ext cx="569795" cy="569795"/>
          </a:xfrm>
          <a:prstGeom prst="rect">
            <a:avLst/>
          </a:prstGeom>
        </p:spPr>
      </p:pic>
      <p:pic>
        <p:nvPicPr>
          <p:cNvPr id="34" name="Image 33" descr="Une image contenant personne, extérieur, fermer&#10;&#10;Description générée automatiquement">
            <a:extLst>
              <a:ext uri="{FF2B5EF4-FFF2-40B4-BE49-F238E27FC236}">
                <a16:creationId xmlns:a16="http://schemas.microsoft.com/office/drawing/2014/main" id="{30147B6E-E1AD-441D-A186-EB68906562CF}"/>
              </a:ext>
            </a:extLst>
          </p:cNvPr>
          <p:cNvPicPr>
            <a:picLocks noChangeAspect="1"/>
          </p:cNvPicPr>
          <p:nvPr/>
        </p:nvPicPr>
        <p:blipFill>
          <a:blip r:embed="rId32" cstate="email">
            <a:extLst>
              <a:ext uri="{28A0092B-C50C-407E-A947-70E740481C1C}">
                <a14:useLocalDpi xmlns:a14="http://schemas.microsoft.com/office/drawing/2010/main"/>
              </a:ext>
            </a:extLst>
          </a:blip>
          <a:stretch>
            <a:fillRect/>
          </a:stretch>
        </p:blipFill>
        <p:spPr>
          <a:xfrm>
            <a:off x="6063965" y="3471983"/>
            <a:ext cx="569795" cy="569795"/>
          </a:xfrm>
          <a:prstGeom prst="rect">
            <a:avLst/>
          </a:prstGeom>
        </p:spPr>
      </p:pic>
      <p:pic>
        <p:nvPicPr>
          <p:cNvPr id="35" name="Image 34" descr="Une image contenant personne, mur, intérieur, jeune&#10;&#10;Description générée automatiquement">
            <a:extLst>
              <a:ext uri="{FF2B5EF4-FFF2-40B4-BE49-F238E27FC236}">
                <a16:creationId xmlns:a16="http://schemas.microsoft.com/office/drawing/2014/main" id="{254D3FED-76A0-40A6-9502-82C233BDA66B}"/>
              </a:ext>
            </a:extLst>
          </p:cNvPr>
          <p:cNvPicPr>
            <a:picLocks noChangeAspect="1"/>
          </p:cNvPicPr>
          <p:nvPr/>
        </p:nvPicPr>
        <p:blipFill>
          <a:blip r:embed="rId33" cstate="email">
            <a:extLst>
              <a:ext uri="{28A0092B-C50C-407E-A947-70E740481C1C}">
                <a14:useLocalDpi xmlns:a14="http://schemas.microsoft.com/office/drawing/2010/main"/>
              </a:ext>
            </a:extLst>
          </a:blip>
          <a:stretch>
            <a:fillRect/>
          </a:stretch>
        </p:blipFill>
        <p:spPr>
          <a:xfrm>
            <a:off x="10728385" y="3451572"/>
            <a:ext cx="569795" cy="569795"/>
          </a:xfrm>
          <a:prstGeom prst="rect">
            <a:avLst/>
          </a:prstGeom>
        </p:spPr>
      </p:pic>
      <p:pic>
        <p:nvPicPr>
          <p:cNvPr id="36" name="Image 35" descr="Une image contenant personne, homme, extérieur, arbre&#10;&#10;Description générée automatiquement">
            <a:extLst>
              <a:ext uri="{FF2B5EF4-FFF2-40B4-BE49-F238E27FC236}">
                <a16:creationId xmlns:a16="http://schemas.microsoft.com/office/drawing/2014/main" id="{2CDE586E-407F-4D73-B367-3269D3EA32FB}"/>
              </a:ext>
            </a:extLst>
          </p:cNvPr>
          <p:cNvPicPr>
            <a:picLocks noChangeAspect="1"/>
          </p:cNvPicPr>
          <p:nvPr/>
        </p:nvPicPr>
        <p:blipFill>
          <a:blip r:embed="rId34" cstate="email">
            <a:extLst>
              <a:ext uri="{28A0092B-C50C-407E-A947-70E740481C1C}">
                <a14:useLocalDpi xmlns:a14="http://schemas.microsoft.com/office/drawing/2010/main"/>
              </a:ext>
            </a:extLst>
          </a:blip>
          <a:stretch>
            <a:fillRect/>
          </a:stretch>
        </p:blipFill>
        <p:spPr>
          <a:xfrm>
            <a:off x="699387" y="4158990"/>
            <a:ext cx="569795" cy="569795"/>
          </a:xfrm>
          <a:prstGeom prst="rect">
            <a:avLst/>
          </a:prstGeom>
        </p:spPr>
      </p:pic>
      <p:pic>
        <p:nvPicPr>
          <p:cNvPr id="37" name="Image 36" descr="Une image contenant personne, mur, souriant, intérieur&#10;&#10;Description générée automatiquement">
            <a:extLst>
              <a:ext uri="{FF2B5EF4-FFF2-40B4-BE49-F238E27FC236}">
                <a16:creationId xmlns:a16="http://schemas.microsoft.com/office/drawing/2014/main" id="{995689D7-21CB-48EB-961D-5B7F246CC3D9}"/>
              </a:ext>
            </a:extLst>
          </p:cNvPr>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a:off x="701201" y="5451342"/>
            <a:ext cx="569795" cy="569795"/>
          </a:xfrm>
          <a:prstGeom prst="rect">
            <a:avLst/>
          </a:prstGeom>
        </p:spPr>
      </p:pic>
      <p:pic>
        <p:nvPicPr>
          <p:cNvPr id="38" name="Image 37" descr="Une image contenant personne, mur, souriant, posant&#10;&#10;Description générée automatiquement">
            <a:extLst>
              <a:ext uri="{FF2B5EF4-FFF2-40B4-BE49-F238E27FC236}">
                <a16:creationId xmlns:a16="http://schemas.microsoft.com/office/drawing/2014/main" id="{E4F4D8C7-9BD0-4DED-ADE2-22F14D6BAD8E}"/>
              </a:ext>
            </a:extLst>
          </p:cNvPr>
          <p:cNvPicPr>
            <a:picLocks noChangeAspect="1"/>
          </p:cNvPicPr>
          <p:nvPr/>
        </p:nvPicPr>
        <p:blipFill>
          <a:blip r:embed="rId36" cstate="email">
            <a:extLst>
              <a:ext uri="{28A0092B-C50C-407E-A947-70E740481C1C}">
                <a14:useLocalDpi xmlns:a14="http://schemas.microsoft.com/office/drawing/2010/main"/>
              </a:ext>
            </a:extLst>
          </a:blip>
          <a:stretch>
            <a:fillRect/>
          </a:stretch>
        </p:blipFill>
        <p:spPr>
          <a:xfrm>
            <a:off x="699387" y="3504619"/>
            <a:ext cx="569795" cy="569795"/>
          </a:xfrm>
          <a:prstGeom prst="rect">
            <a:avLst/>
          </a:prstGeom>
        </p:spPr>
      </p:pic>
      <p:pic>
        <p:nvPicPr>
          <p:cNvPr id="39" name="Image 38" descr="Une image contenant personne, mur, homme, souriant&#10;&#10;Description générée automatiquement">
            <a:extLst>
              <a:ext uri="{FF2B5EF4-FFF2-40B4-BE49-F238E27FC236}">
                <a16:creationId xmlns:a16="http://schemas.microsoft.com/office/drawing/2014/main" id="{7A07EBDC-ECEC-4ACB-8080-DB767C1FB27A}"/>
              </a:ext>
            </a:extLst>
          </p:cNvPr>
          <p:cNvPicPr>
            <a:picLocks noChangeAspect="1"/>
          </p:cNvPicPr>
          <p:nvPr/>
        </p:nvPicPr>
        <p:blipFill>
          <a:blip r:embed="rId37" cstate="email">
            <a:extLst>
              <a:ext uri="{28A0092B-C50C-407E-A947-70E740481C1C}">
                <a14:useLocalDpi xmlns:a14="http://schemas.microsoft.com/office/drawing/2010/main"/>
              </a:ext>
            </a:extLst>
          </a:blip>
          <a:stretch>
            <a:fillRect/>
          </a:stretch>
        </p:blipFill>
        <p:spPr>
          <a:xfrm>
            <a:off x="4178619" y="4088307"/>
            <a:ext cx="569795" cy="569795"/>
          </a:xfrm>
          <a:prstGeom prst="rect">
            <a:avLst/>
          </a:prstGeom>
        </p:spPr>
      </p:pic>
      <p:cxnSp>
        <p:nvCxnSpPr>
          <p:cNvPr id="4" name="Connettore 2 3">
            <a:extLst>
              <a:ext uri="{FF2B5EF4-FFF2-40B4-BE49-F238E27FC236}">
                <a16:creationId xmlns:a16="http://schemas.microsoft.com/office/drawing/2014/main" id="{E7DA3624-ECD6-0A02-1C4F-FD234C29CCD4}"/>
              </a:ext>
            </a:extLst>
          </p:cNvPr>
          <p:cNvCxnSpPr>
            <a:cxnSpLocks/>
            <a:stCxn id="21" idx="3"/>
            <a:endCxn id="8" idx="1"/>
          </p:cNvCxnSpPr>
          <p:nvPr/>
        </p:nvCxnSpPr>
        <p:spPr>
          <a:xfrm>
            <a:off x="6638866" y="4976563"/>
            <a:ext cx="269509" cy="3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Elemento grafico 7" descr="Tiro a segno con riempimento a tinta unita">
            <a:extLst>
              <a:ext uri="{FF2B5EF4-FFF2-40B4-BE49-F238E27FC236}">
                <a16:creationId xmlns:a16="http://schemas.microsoft.com/office/drawing/2014/main" id="{4B5FF061-4B2E-578F-E1A8-E2D97A9014A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6908375" y="4694875"/>
            <a:ext cx="569795" cy="569795"/>
          </a:xfrm>
          <a:prstGeom prst="rect">
            <a:avLst/>
          </a:prstGeom>
        </p:spPr>
      </p:pic>
      <p:pic>
        <p:nvPicPr>
          <p:cNvPr id="40" name="Elemento grafico 39" descr="Tiro a segno con riempimento a tinta unita">
            <a:extLst>
              <a:ext uri="{FF2B5EF4-FFF2-40B4-BE49-F238E27FC236}">
                <a16:creationId xmlns:a16="http://schemas.microsoft.com/office/drawing/2014/main" id="{0F750B6E-1160-BED0-425C-29A2BF1741F4}"/>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4125080"/>
            <a:ext cx="569795" cy="569795"/>
          </a:xfrm>
          <a:prstGeom prst="rect">
            <a:avLst/>
          </a:prstGeom>
        </p:spPr>
      </p:pic>
      <p:pic>
        <p:nvPicPr>
          <p:cNvPr id="41" name="Elemento grafico 40" descr="Tiro a segno con riempimento a tinta unita">
            <a:extLst>
              <a:ext uri="{FF2B5EF4-FFF2-40B4-BE49-F238E27FC236}">
                <a16:creationId xmlns:a16="http://schemas.microsoft.com/office/drawing/2014/main" id="{B73C194D-E24A-B8C6-D600-1ABA3F314511}"/>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8539204" y="6021137"/>
            <a:ext cx="569795" cy="569795"/>
          </a:xfrm>
          <a:prstGeom prst="rect">
            <a:avLst/>
          </a:prstGeom>
        </p:spPr>
      </p:pic>
      <p:cxnSp>
        <p:nvCxnSpPr>
          <p:cNvPr id="43" name="Connettore 2 42">
            <a:extLst>
              <a:ext uri="{FF2B5EF4-FFF2-40B4-BE49-F238E27FC236}">
                <a16:creationId xmlns:a16="http://schemas.microsoft.com/office/drawing/2014/main" id="{C3153B56-21E2-C4C5-A0A4-4CC8C12E6D03}"/>
              </a:ext>
            </a:extLst>
          </p:cNvPr>
          <p:cNvCxnSpPr>
            <a:cxnSpLocks/>
            <a:endCxn id="40" idx="1"/>
          </p:cNvCxnSpPr>
          <p:nvPr/>
        </p:nvCxnSpPr>
        <p:spPr>
          <a:xfrm>
            <a:off x="6469793" y="4409977"/>
            <a:ext cx="206941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nettore 2 45">
            <a:extLst>
              <a:ext uri="{FF2B5EF4-FFF2-40B4-BE49-F238E27FC236}">
                <a16:creationId xmlns:a16="http://schemas.microsoft.com/office/drawing/2014/main" id="{49B165D4-90FD-937A-3457-404621286179}"/>
              </a:ext>
            </a:extLst>
          </p:cNvPr>
          <p:cNvCxnSpPr>
            <a:cxnSpLocks/>
            <a:stCxn id="22" idx="3"/>
            <a:endCxn id="41" idx="1"/>
          </p:cNvCxnSpPr>
          <p:nvPr/>
        </p:nvCxnSpPr>
        <p:spPr>
          <a:xfrm>
            <a:off x="3500820" y="6306035"/>
            <a:ext cx="5038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2" name="Elemento grafico 51" descr="Tiro a segno con riempimento a tinta unita">
            <a:extLst>
              <a:ext uri="{FF2B5EF4-FFF2-40B4-BE49-F238E27FC236}">
                <a16:creationId xmlns:a16="http://schemas.microsoft.com/office/drawing/2014/main" id="{BF231F89-9F21-8381-DEEA-7DB2D09554B0}"/>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5274427" y="4079464"/>
            <a:ext cx="569795" cy="569795"/>
          </a:xfrm>
          <a:prstGeom prst="rect">
            <a:avLst/>
          </a:prstGeom>
        </p:spPr>
      </p:pic>
      <p:cxnSp>
        <p:nvCxnSpPr>
          <p:cNvPr id="53" name="Connettore 2 52">
            <a:extLst>
              <a:ext uri="{FF2B5EF4-FFF2-40B4-BE49-F238E27FC236}">
                <a16:creationId xmlns:a16="http://schemas.microsoft.com/office/drawing/2014/main" id="{3460CD3F-802E-DA50-7215-1373E902CF0E}"/>
              </a:ext>
            </a:extLst>
          </p:cNvPr>
          <p:cNvCxnSpPr>
            <a:cxnSpLocks/>
            <a:stCxn id="39" idx="3"/>
            <a:endCxn id="52" idx="1"/>
          </p:cNvCxnSpPr>
          <p:nvPr/>
        </p:nvCxnSpPr>
        <p:spPr>
          <a:xfrm flipV="1">
            <a:off x="4748414" y="4364362"/>
            <a:ext cx="526013" cy="8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10167"/>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Engagement Level workshop variant : </a:t>
            </a:r>
            <a:br>
              <a:rPr lang="en-US" sz="2800" dirty="0"/>
            </a:br>
            <a:r>
              <a:rPr lang="en-US" sz="2800" dirty="0"/>
              <a:t>using nametags instead of portraits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nvGraphicFramePr>
        <p:xfrm>
          <a:off x="396537" y="2673195"/>
          <a:ext cx="11398926" cy="718372"/>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a:solidFill>
                            <a:schemeClr val="tx1"/>
                          </a:solidFill>
                        </a:rPr>
                        <a:t>Curious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Active attendee</a:t>
                      </a:r>
                    </a:p>
                  </a:txBody>
                  <a:tcPr>
                    <a:solidFill>
                      <a:schemeClr val="bg1">
                        <a:lumMod val="95000"/>
                      </a:schemeClr>
                    </a:solidFill>
                  </a:tcPr>
                </a:tc>
                <a:tc>
                  <a:txBody>
                    <a:bodyPr/>
                    <a:lstStyle/>
                    <a:p>
                      <a:pPr algn="ctr"/>
                      <a:r>
                        <a:rPr lang="en-US" sz="1050">
                          <a:solidFill>
                            <a:schemeClr val="tx1"/>
                          </a:solidFill>
                        </a:rPr>
                        <a:t>Active and regular attendee</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Contributor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tx1"/>
                          </a:solidFill>
                        </a:rPr>
                        <a:t>Leader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solidFill>
                            <a:schemeClr val="bg1"/>
                          </a:solidFill>
                        </a:rPr>
                        <a:t>Leader &amp; Creator</a:t>
                      </a:r>
                    </a:p>
                  </a:txBody>
                  <a:tcPr>
                    <a:solidFill>
                      <a:schemeClr val="accent1">
                        <a:lumMod val="75000"/>
                      </a:schemeClr>
                    </a:solidFill>
                  </a:tcPr>
                </a:tc>
                <a:tc>
                  <a:txBody>
                    <a:bodyPr/>
                    <a:lstStyle/>
                    <a:p>
                      <a:pPr algn="ctr"/>
                      <a:r>
                        <a:rPr lang="en-US" sz="1050">
                          <a:solidFill>
                            <a:schemeClr val="bg1"/>
                          </a:solidFill>
                        </a:rPr>
                        <a:t>Community Booster</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16269" y="16493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93273" y="16696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36616" y="16696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38800" y="17106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143" y="17106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03815" y="16696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439265" y="16183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658122" y="1561531"/>
            <a:ext cx="298183" cy="298183"/>
          </a:xfrm>
          <a:prstGeom prst="rect">
            <a:avLst/>
          </a:prstGeom>
        </p:spPr>
      </p:pic>
      <p:sp>
        <p:nvSpPr>
          <p:cNvPr id="3" name="Rettangolo 2">
            <a:extLst>
              <a:ext uri="{FF2B5EF4-FFF2-40B4-BE49-F238E27FC236}">
                <a16:creationId xmlns:a16="http://schemas.microsoft.com/office/drawing/2014/main" id="{6353F848-D7EE-ABD7-0EDE-1474FAB0DA18}"/>
              </a:ext>
            </a:extLst>
          </p:cNvPr>
          <p:cNvSpPr/>
          <p:nvPr/>
        </p:nvSpPr>
        <p:spPr>
          <a:xfrm>
            <a:off x="2316476" y="356357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4" name="Rettangolo 3">
            <a:extLst>
              <a:ext uri="{FF2B5EF4-FFF2-40B4-BE49-F238E27FC236}">
                <a16:creationId xmlns:a16="http://schemas.microsoft.com/office/drawing/2014/main" id="{070FF403-274E-0A91-1530-3A7FEBC3508F}"/>
              </a:ext>
            </a:extLst>
          </p:cNvPr>
          <p:cNvSpPr/>
          <p:nvPr/>
        </p:nvSpPr>
        <p:spPr>
          <a:xfrm>
            <a:off x="8896785" y="774359"/>
            <a:ext cx="1272357" cy="5480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Current level</a:t>
            </a:r>
          </a:p>
        </p:txBody>
      </p:sp>
      <p:sp>
        <p:nvSpPr>
          <p:cNvPr id="6" name="Rettangolo 5">
            <a:extLst>
              <a:ext uri="{FF2B5EF4-FFF2-40B4-BE49-F238E27FC236}">
                <a16:creationId xmlns:a16="http://schemas.microsoft.com/office/drawing/2014/main" id="{98BE1EB5-BF94-13AF-926F-CBD7FB84F0FD}"/>
              </a:ext>
            </a:extLst>
          </p:cNvPr>
          <p:cNvSpPr/>
          <p:nvPr/>
        </p:nvSpPr>
        <p:spPr>
          <a:xfrm>
            <a:off x="10331379" y="774360"/>
            <a:ext cx="1272357" cy="54807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Goal (if different from current level)</a:t>
            </a:r>
          </a:p>
        </p:txBody>
      </p:sp>
      <p:sp>
        <p:nvSpPr>
          <p:cNvPr id="8" name="Rettangolo 7">
            <a:extLst>
              <a:ext uri="{FF2B5EF4-FFF2-40B4-BE49-F238E27FC236}">
                <a16:creationId xmlns:a16="http://schemas.microsoft.com/office/drawing/2014/main" id="{5EDAD73F-5EC7-CD4D-85A2-107085D467DF}"/>
              </a:ext>
            </a:extLst>
          </p:cNvPr>
          <p:cNvSpPr/>
          <p:nvPr/>
        </p:nvSpPr>
        <p:spPr>
          <a:xfrm>
            <a:off x="5562858" y="5035886"/>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Umberto</a:t>
            </a:r>
          </a:p>
        </p:txBody>
      </p:sp>
      <p:sp>
        <p:nvSpPr>
          <p:cNvPr id="9" name="Rettangolo 8">
            <a:extLst>
              <a:ext uri="{FF2B5EF4-FFF2-40B4-BE49-F238E27FC236}">
                <a16:creationId xmlns:a16="http://schemas.microsoft.com/office/drawing/2014/main" id="{AC3D8BA8-20B5-FAB0-E237-C41D2D6E25B1}"/>
              </a:ext>
            </a:extLst>
          </p:cNvPr>
          <p:cNvSpPr/>
          <p:nvPr/>
        </p:nvSpPr>
        <p:spPr>
          <a:xfrm>
            <a:off x="3913364" y="35009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
        <p:nvSpPr>
          <p:cNvPr id="10" name="Rettangolo 9">
            <a:extLst>
              <a:ext uri="{FF2B5EF4-FFF2-40B4-BE49-F238E27FC236}">
                <a16:creationId xmlns:a16="http://schemas.microsoft.com/office/drawing/2014/main" id="{ACF37C73-A490-CDFC-F519-3FF665828976}"/>
              </a:ext>
            </a:extLst>
          </p:cNvPr>
          <p:cNvSpPr/>
          <p:nvPr/>
        </p:nvSpPr>
        <p:spPr>
          <a:xfrm>
            <a:off x="3913363" y="400190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12" name="Rettangolo 11">
            <a:extLst>
              <a:ext uri="{FF2B5EF4-FFF2-40B4-BE49-F238E27FC236}">
                <a16:creationId xmlns:a16="http://schemas.microsoft.com/office/drawing/2014/main" id="{41133970-C276-3052-7D72-5E737B66F1BD}"/>
              </a:ext>
            </a:extLst>
          </p:cNvPr>
          <p:cNvSpPr/>
          <p:nvPr/>
        </p:nvSpPr>
        <p:spPr>
          <a:xfrm>
            <a:off x="3913362" y="4518893"/>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Adriano</a:t>
            </a:r>
          </a:p>
        </p:txBody>
      </p:sp>
      <p:sp>
        <p:nvSpPr>
          <p:cNvPr id="40" name="Rettangolo 39">
            <a:extLst>
              <a:ext uri="{FF2B5EF4-FFF2-40B4-BE49-F238E27FC236}">
                <a16:creationId xmlns:a16="http://schemas.microsoft.com/office/drawing/2014/main" id="{379A9C0B-D762-D133-813E-353101BD2D5F}"/>
              </a:ext>
            </a:extLst>
          </p:cNvPr>
          <p:cNvSpPr/>
          <p:nvPr/>
        </p:nvSpPr>
        <p:spPr>
          <a:xfrm>
            <a:off x="3913362" y="5035886"/>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41" name="Rettangolo 40">
            <a:extLst>
              <a:ext uri="{FF2B5EF4-FFF2-40B4-BE49-F238E27FC236}">
                <a16:creationId xmlns:a16="http://schemas.microsoft.com/office/drawing/2014/main" id="{FD3E272B-FB3B-5789-D98E-09B4D8D52027}"/>
              </a:ext>
            </a:extLst>
          </p:cNvPr>
          <p:cNvSpPr/>
          <p:nvPr/>
        </p:nvSpPr>
        <p:spPr>
          <a:xfrm>
            <a:off x="7193273"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Albano</a:t>
            </a:r>
          </a:p>
        </p:txBody>
      </p:sp>
      <p:sp>
        <p:nvSpPr>
          <p:cNvPr id="42" name="Rettangolo 41">
            <a:extLst>
              <a:ext uri="{FF2B5EF4-FFF2-40B4-BE49-F238E27FC236}">
                <a16:creationId xmlns:a16="http://schemas.microsoft.com/office/drawing/2014/main" id="{603951D7-3DD5-E0F7-6B73-1D37D5ADFECA}"/>
              </a:ext>
            </a:extLst>
          </p:cNvPr>
          <p:cNvSpPr/>
          <p:nvPr/>
        </p:nvSpPr>
        <p:spPr>
          <a:xfrm>
            <a:off x="7193273"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Luciano</a:t>
            </a:r>
          </a:p>
        </p:txBody>
      </p:sp>
      <p:sp>
        <p:nvSpPr>
          <p:cNvPr id="43" name="Rettangolo 42">
            <a:extLst>
              <a:ext uri="{FF2B5EF4-FFF2-40B4-BE49-F238E27FC236}">
                <a16:creationId xmlns:a16="http://schemas.microsoft.com/office/drawing/2014/main" id="{668AD7EC-21D8-D925-6F80-B96C2E3E75E0}"/>
              </a:ext>
            </a:extLst>
          </p:cNvPr>
          <p:cNvSpPr/>
          <p:nvPr/>
        </p:nvSpPr>
        <p:spPr>
          <a:xfrm>
            <a:off x="5562859" y="399029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Gianni</a:t>
            </a:r>
          </a:p>
        </p:txBody>
      </p:sp>
      <p:sp>
        <p:nvSpPr>
          <p:cNvPr id="44" name="Rettangolo 43">
            <a:extLst>
              <a:ext uri="{FF2B5EF4-FFF2-40B4-BE49-F238E27FC236}">
                <a16:creationId xmlns:a16="http://schemas.microsoft.com/office/drawing/2014/main" id="{871F93C2-9CE8-8EBC-6985-5BB1BBD6E866}"/>
              </a:ext>
            </a:extLst>
          </p:cNvPr>
          <p:cNvSpPr/>
          <p:nvPr/>
        </p:nvSpPr>
        <p:spPr>
          <a:xfrm>
            <a:off x="8809242" y="348446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Ilaria</a:t>
            </a:r>
          </a:p>
        </p:txBody>
      </p:sp>
      <p:sp>
        <p:nvSpPr>
          <p:cNvPr id="45" name="Rettangolo 44">
            <a:extLst>
              <a:ext uri="{FF2B5EF4-FFF2-40B4-BE49-F238E27FC236}">
                <a16:creationId xmlns:a16="http://schemas.microsoft.com/office/drawing/2014/main" id="{C2378FFB-8A40-4CBF-2072-DD0235E3BBFD}"/>
              </a:ext>
            </a:extLst>
          </p:cNvPr>
          <p:cNvSpPr/>
          <p:nvPr/>
        </p:nvSpPr>
        <p:spPr>
          <a:xfrm>
            <a:off x="5562859" y="3466434"/>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Andrea</a:t>
            </a:r>
          </a:p>
        </p:txBody>
      </p:sp>
      <p:sp>
        <p:nvSpPr>
          <p:cNvPr id="46" name="Rettangolo 45">
            <a:extLst>
              <a:ext uri="{FF2B5EF4-FFF2-40B4-BE49-F238E27FC236}">
                <a16:creationId xmlns:a16="http://schemas.microsoft.com/office/drawing/2014/main" id="{F6BC5B63-A7B7-F58A-133D-E093E2628B04}"/>
              </a:ext>
            </a:extLst>
          </p:cNvPr>
          <p:cNvSpPr/>
          <p:nvPr/>
        </p:nvSpPr>
        <p:spPr>
          <a:xfrm>
            <a:off x="842319" y="3568408"/>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Giacomo</a:t>
            </a:r>
          </a:p>
        </p:txBody>
      </p:sp>
      <p:sp>
        <p:nvSpPr>
          <p:cNvPr id="47" name="Rettangolo 46">
            <a:extLst>
              <a:ext uri="{FF2B5EF4-FFF2-40B4-BE49-F238E27FC236}">
                <a16:creationId xmlns:a16="http://schemas.microsoft.com/office/drawing/2014/main" id="{E5E1AD49-CDE0-0600-9713-437F748A00C3}"/>
              </a:ext>
            </a:extLst>
          </p:cNvPr>
          <p:cNvSpPr/>
          <p:nvPr/>
        </p:nvSpPr>
        <p:spPr>
          <a:xfrm>
            <a:off x="842319" y="4072029"/>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Paolo</a:t>
            </a:r>
          </a:p>
        </p:txBody>
      </p:sp>
      <p:sp>
        <p:nvSpPr>
          <p:cNvPr id="48" name="Rettangolo 47">
            <a:extLst>
              <a:ext uri="{FF2B5EF4-FFF2-40B4-BE49-F238E27FC236}">
                <a16:creationId xmlns:a16="http://schemas.microsoft.com/office/drawing/2014/main" id="{B7A433C3-187A-BA60-C293-CB2B71DD5952}"/>
              </a:ext>
            </a:extLst>
          </p:cNvPr>
          <p:cNvSpPr/>
          <p:nvPr/>
        </p:nvSpPr>
        <p:spPr>
          <a:xfrm>
            <a:off x="842319" y="4575650"/>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Natalia</a:t>
            </a:r>
          </a:p>
        </p:txBody>
      </p:sp>
      <p:sp>
        <p:nvSpPr>
          <p:cNvPr id="49" name="Rettangolo 48">
            <a:extLst>
              <a:ext uri="{FF2B5EF4-FFF2-40B4-BE49-F238E27FC236}">
                <a16:creationId xmlns:a16="http://schemas.microsoft.com/office/drawing/2014/main" id="{846703CB-8CBB-1E10-7BD9-A51C4DD46EBE}"/>
              </a:ext>
            </a:extLst>
          </p:cNvPr>
          <p:cNvSpPr/>
          <p:nvPr/>
        </p:nvSpPr>
        <p:spPr>
          <a:xfrm>
            <a:off x="10473182" y="3489242"/>
            <a:ext cx="1037391" cy="446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Fabio</a:t>
            </a:r>
          </a:p>
        </p:txBody>
      </p:sp>
      <p:sp>
        <p:nvSpPr>
          <p:cNvPr id="51" name="Rettangolo 50">
            <a:extLst>
              <a:ext uri="{FF2B5EF4-FFF2-40B4-BE49-F238E27FC236}">
                <a16:creationId xmlns:a16="http://schemas.microsoft.com/office/drawing/2014/main" id="{C87021BB-2911-0330-8B8D-87B96AC2D8E9}"/>
              </a:ext>
            </a:extLst>
          </p:cNvPr>
          <p:cNvSpPr/>
          <p:nvPr/>
        </p:nvSpPr>
        <p:spPr>
          <a:xfrm>
            <a:off x="7193273" y="4493218"/>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Toto</a:t>
            </a:r>
          </a:p>
        </p:txBody>
      </p:sp>
      <p:sp>
        <p:nvSpPr>
          <p:cNvPr id="53" name="Rettangolo 52">
            <a:extLst>
              <a:ext uri="{FF2B5EF4-FFF2-40B4-BE49-F238E27FC236}">
                <a16:creationId xmlns:a16="http://schemas.microsoft.com/office/drawing/2014/main" id="{3C335212-4DEC-0FAF-567C-0FF67BB1D8B3}"/>
              </a:ext>
            </a:extLst>
          </p:cNvPr>
          <p:cNvSpPr/>
          <p:nvPr/>
        </p:nvSpPr>
        <p:spPr>
          <a:xfrm>
            <a:off x="5553317" y="4531703"/>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Romina</a:t>
            </a:r>
          </a:p>
        </p:txBody>
      </p:sp>
      <p:sp>
        <p:nvSpPr>
          <p:cNvPr id="55" name="Rettangolo 54">
            <a:extLst>
              <a:ext uri="{FF2B5EF4-FFF2-40B4-BE49-F238E27FC236}">
                <a16:creationId xmlns:a16="http://schemas.microsoft.com/office/drawing/2014/main" id="{8CDF6583-42A4-39BE-58A1-30BA42163644}"/>
              </a:ext>
            </a:extLst>
          </p:cNvPr>
          <p:cNvSpPr/>
          <p:nvPr/>
        </p:nvSpPr>
        <p:spPr>
          <a:xfrm>
            <a:off x="8809241" y="3990294"/>
            <a:ext cx="1037391" cy="446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Laura</a:t>
            </a:r>
          </a:p>
        </p:txBody>
      </p:sp>
    </p:spTree>
    <p:extLst>
      <p:ext uri="{BB962C8B-B14F-4D97-AF65-F5344CB8AC3E}">
        <p14:creationId xmlns:p14="http://schemas.microsoft.com/office/powerpoint/2010/main" val="1361599261"/>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fontScale="90000"/>
          </a:bodyPr>
          <a:lstStyle/>
          <a:p>
            <a:r>
              <a:rPr lang="en-US" dirty="0"/>
              <a:t>Additional engagement level systems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89895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8118BD-9AED-2835-CA98-B4D133DE552D}"/>
              </a:ext>
            </a:extLst>
          </p:cNvPr>
          <p:cNvSpPr>
            <a:spLocks noGrp="1"/>
          </p:cNvSpPr>
          <p:nvPr>
            <p:ph type="title"/>
          </p:nvPr>
        </p:nvSpPr>
        <p:spPr/>
        <p:txBody>
          <a:bodyPr>
            <a:normAutofit/>
          </a:bodyPr>
          <a:lstStyle/>
          <a:p>
            <a:r>
              <a:rPr lang="en-US" sz="2800" dirty="0"/>
              <a:t>Changing the level system to other dimensions</a:t>
            </a:r>
            <a:br>
              <a:rPr lang="en-US" sz="2800" dirty="0"/>
            </a:br>
            <a:r>
              <a:rPr lang="en-US" sz="2800" dirty="0"/>
              <a:t>Examples</a:t>
            </a:r>
          </a:p>
        </p:txBody>
      </p:sp>
      <p:sp>
        <p:nvSpPr>
          <p:cNvPr id="42" name="CasellaDiTesto 41">
            <a:extLst>
              <a:ext uri="{FF2B5EF4-FFF2-40B4-BE49-F238E27FC236}">
                <a16:creationId xmlns:a16="http://schemas.microsoft.com/office/drawing/2014/main" id="{C0FF8946-2D5D-6AFC-344F-E726F491DC7C}"/>
              </a:ext>
            </a:extLst>
          </p:cNvPr>
          <p:cNvSpPr txBox="1"/>
          <p:nvPr/>
        </p:nvSpPr>
        <p:spPr>
          <a:xfrm>
            <a:off x="541464" y="2386728"/>
            <a:ext cx="2562954" cy="3754874"/>
          </a:xfrm>
          <a:prstGeom prst="rect">
            <a:avLst/>
          </a:prstGeom>
          <a:noFill/>
        </p:spPr>
        <p:txBody>
          <a:bodyPr wrap="square">
            <a:spAutoFit/>
          </a:bodyPr>
          <a:lstStyle/>
          <a:p>
            <a:r>
              <a:rPr lang="en-US" sz="1400" dirty="0"/>
              <a:t>There are multiple ways to define engagement levels.</a:t>
            </a:r>
          </a:p>
          <a:p>
            <a:endParaRPr lang="en-US" sz="1400" dirty="0"/>
          </a:p>
          <a:p>
            <a:r>
              <a:rPr lang="en-US" sz="1400" dirty="0"/>
              <a:t>The definition of Engagement levels can be adjusted to facilitate decision making about community activities, within the condition that the levels are easily understandable by workshop participants.</a:t>
            </a:r>
          </a:p>
          <a:p>
            <a:endParaRPr lang="en-US" sz="1400" noProof="0" dirty="0"/>
          </a:p>
          <a:p>
            <a:r>
              <a:rPr lang="en-US" sz="1400" dirty="0"/>
              <a:t>As inspiration, here are other examples to use. You can also choose to set less levels or more levels to make the scale simpler or more details</a:t>
            </a:r>
            <a:endParaRPr lang="en-US" sz="1400" noProof="0" dirty="0"/>
          </a:p>
        </p:txBody>
      </p:sp>
      <p:graphicFrame>
        <p:nvGraphicFramePr>
          <p:cNvPr id="16" name="Tableau 5">
            <a:extLst>
              <a:ext uri="{FF2B5EF4-FFF2-40B4-BE49-F238E27FC236}">
                <a16:creationId xmlns:a16="http://schemas.microsoft.com/office/drawing/2014/main" id="{1EF91333-C672-D3E5-C732-D35E85385B0D}"/>
              </a:ext>
            </a:extLst>
          </p:cNvPr>
          <p:cNvGraphicFramePr>
            <a:graphicFrameLocks noGrp="1"/>
          </p:cNvGraphicFramePr>
          <p:nvPr>
            <p:extLst>
              <p:ext uri="{D42A27DB-BD31-4B8C-83A1-F6EECF244321}">
                <p14:modId xmlns:p14="http://schemas.microsoft.com/office/powerpoint/2010/main" val="2561029555"/>
              </p:ext>
            </p:extLst>
          </p:nvPr>
        </p:nvGraphicFramePr>
        <p:xfrm>
          <a:off x="3612518" y="2103376"/>
          <a:ext cx="8194424" cy="135636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dirty="0">
                          <a:solidFill>
                            <a:schemeClr val="tx1"/>
                          </a:solidFill>
                        </a:rPr>
                        <a:t>I will not participate by default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By default, I will not participate but exceptions are unknown yet</a:t>
                      </a:r>
                    </a:p>
                  </a:txBody>
                  <a:tcPr>
                    <a:solidFill>
                      <a:schemeClr val="bg1">
                        <a:lumMod val="95000"/>
                      </a:schemeClr>
                    </a:solidFill>
                  </a:tcPr>
                </a:tc>
                <a:tc>
                  <a:txBody>
                    <a:bodyPr/>
                    <a:lstStyle/>
                    <a:p>
                      <a:pPr algn="ctr"/>
                      <a:r>
                        <a:rPr lang="en-US" sz="1050" dirty="0">
                          <a:solidFill>
                            <a:schemeClr val="tx1"/>
                          </a:solidFill>
                        </a:rPr>
                        <a:t>By default, I will not participate, and exceptions are known in advance and limited</a:t>
                      </a:r>
                    </a:p>
                  </a:txBody>
                  <a:tcPr>
                    <a:solidFill>
                      <a:schemeClr val="accent1">
                        <a:lumMod val="20000"/>
                        <a:lumOff val="80000"/>
                      </a:schemeClr>
                    </a:solidFill>
                  </a:tcPr>
                </a:tc>
                <a:tc>
                  <a:txBody>
                    <a:bodyPr/>
                    <a:lstStyle/>
                    <a:p>
                      <a:pPr algn="ctr"/>
                      <a:r>
                        <a:rPr lang="en-US" sz="1050" dirty="0">
                          <a:solidFill>
                            <a:schemeClr val="tx1"/>
                          </a:solidFill>
                        </a:rPr>
                        <a:t>By default, I will participate, but exceptions are unknown yet</a:t>
                      </a:r>
                    </a:p>
                  </a:txBody>
                  <a:tcPr>
                    <a:solidFill>
                      <a:schemeClr val="accent1">
                        <a:lumMod val="40000"/>
                        <a:lumOff val="60000"/>
                      </a:schemeClr>
                    </a:solidFill>
                  </a:tcPr>
                </a:tc>
                <a:tc>
                  <a:txBody>
                    <a:bodyPr/>
                    <a:lstStyle/>
                    <a:p>
                      <a:pPr algn="ctr"/>
                      <a:r>
                        <a:rPr lang="en-US" sz="1050" dirty="0">
                          <a:solidFill>
                            <a:schemeClr val="tx1"/>
                          </a:solidFill>
                        </a:rPr>
                        <a:t>By default, I will participate, and exceptions are known in advance and cannot change</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By default, I will participate, exceptions are known in advance and still can change</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By default, I will participate with exception of well-defined cases of force majeure</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aphicFrame>
        <p:nvGraphicFramePr>
          <p:cNvPr id="18" name="Tableau 5">
            <a:extLst>
              <a:ext uri="{FF2B5EF4-FFF2-40B4-BE49-F238E27FC236}">
                <a16:creationId xmlns:a16="http://schemas.microsoft.com/office/drawing/2014/main" id="{FB468F1C-34CB-1F56-17D4-8802F9549E43}"/>
              </a:ext>
            </a:extLst>
          </p:cNvPr>
          <p:cNvGraphicFramePr>
            <a:graphicFrameLocks noGrp="1"/>
          </p:cNvGraphicFramePr>
          <p:nvPr>
            <p:extLst>
              <p:ext uri="{D42A27DB-BD31-4B8C-83A1-F6EECF244321}">
                <p14:modId xmlns:p14="http://schemas.microsoft.com/office/powerpoint/2010/main" val="3880368052"/>
              </p:ext>
            </p:extLst>
          </p:nvPr>
        </p:nvGraphicFramePr>
        <p:xfrm>
          <a:off x="3612518" y="3854010"/>
          <a:ext cx="8194424" cy="87630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E2</a:t>
                      </a:r>
                    </a:p>
                  </a:txBody>
                  <a:tcPr>
                    <a:solidFill>
                      <a:schemeClr val="bg1">
                        <a:lumMod val="95000"/>
                      </a:schemeClr>
                    </a:solidFill>
                  </a:tcPr>
                </a:tc>
                <a:tc>
                  <a:txBody>
                    <a:bodyPr/>
                    <a:lstStyle/>
                    <a:p>
                      <a:pPr algn="ctr"/>
                      <a:r>
                        <a:rPr lang="en-US" sz="140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413572">
                <a:tc>
                  <a:txBody>
                    <a:bodyPr/>
                    <a:lstStyle/>
                    <a:p>
                      <a:pPr algn="ctr"/>
                      <a:r>
                        <a:rPr lang="en-US" sz="1050" dirty="0">
                          <a:solidFill>
                            <a:schemeClr val="tx1"/>
                          </a:solidFill>
                        </a:rPr>
                        <a:t>&lt;15 minutes occasionally</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15min-1h occasionally </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1h-3h occasionally</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More than 3h occasionally</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15 min-1h regularly (&gt;15 min a week)</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1h-3h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Regularly (&gt; 1h a week)</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More than 3h regularly (&gt;3h a week)</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9" name="CasellaDiTesto 18">
            <a:extLst>
              <a:ext uri="{FF2B5EF4-FFF2-40B4-BE49-F238E27FC236}">
                <a16:creationId xmlns:a16="http://schemas.microsoft.com/office/drawing/2014/main" id="{16FB527A-D320-DDA1-AC13-51D6969523F4}"/>
              </a:ext>
            </a:extLst>
          </p:cNvPr>
          <p:cNvSpPr txBox="1"/>
          <p:nvPr/>
        </p:nvSpPr>
        <p:spPr>
          <a:xfrm>
            <a:off x="3597014" y="1814712"/>
            <a:ext cx="4312546" cy="307777"/>
          </a:xfrm>
          <a:prstGeom prst="rect">
            <a:avLst/>
          </a:prstGeom>
          <a:noFill/>
        </p:spPr>
        <p:txBody>
          <a:bodyPr wrap="square">
            <a:spAutoFit/>
          </a:bodyPr>
          <a:lstStyle/>
          <a:p>
            <a:r>
              <a:rPr lang="en-US" sz="1400" b="1" dirty="0"/>
              <a:t>Levels by assumptions of participation</a:t>
            </a:r>
            <a:endParaRPr lang="en-US" sz="1400" b="1" noProof="0" dirty="0"/>
          </a:p>
        </p:txBody>
      </p:sp>
      <p:sp>
        <p:nvSpPr>
          <p:cNvPr id="20" name="CasellaDiTesto 19">
            <a:extLst>
              <a:ext uri="{FF2B5EF4-FFF2-40B4-BE49-F238E27FC236}">
                <a16:creationId xmlns:a16="http://schemas.microsoft.com/office/drawing/2014/main" id="{B830E91D-9B5C-2716-BCB8-3EE9523B1346}"/>
              </a:ext>
            </a:extLst>
          </p:cNvPr>
          <p:cNvSpPr txBox="1"/>
          <p:nvPr/>
        </p:nvSpPr>
        <p:spPr>
          <a:xfrm>
            <a:off x="3521291" y="3546233"/>
            <a:ext cx="5327434" cy="307777"/>
          </a:xfrm>
          <a:prstGeom prst="rect">
            <a:avLst/>
          </a:prstGeom>
          <a:noFill/>
        </p:spPr>
        <p:txBody>
          <a:bodyPr wrap="square">
            <a:spAutoFit/>
          </a:bodyPr>
          <a:lstStyle/>
          <a:p>
            <a:r>
              <a:rPr lang="en-US" sz="1400" b="1" dirty="0"/>
              <a:t>Levels by amount and regularity of committed time</a:t>
            </a:r>
            <a:endParaRPr lang="en-US" sz="1400" b="1" noProof="0" dirty="0"/>
          </a:p>
        </p:txBody>
      </p:sp>
      <p:graphicFrame>
        <p:nvGraphicFramePr>
          <p:cNvPr id="21" name="Tableau 5">
            <a:extLst>
              <a:ext uri="{FF2B5EF4-FFF2-40B4-BE49-F238E27FC236}">
                <a16:creationId xmlns:a16="http://schemas.microsoft.com/office/drawing/2014/main" id="{848AC1A1-64E7-7FA0-2E91-B798B2B80772}"/>
              </a:ext>
            </a:extLst>
          </p:cNvPr>
          <p:cNvGraphicFramePr>
            <a:graphicFrameLocks noGrp="1"/>
          </p:cNvGraphicFramePr>
          <p:nvPr>
            <p:extLst>
              <p:ext uri="{D42A27DB-BD31-4B8C-83A1-F6EECF244321}">
                <p14:modId xmlns:p14="http://schemas.microsoft.com/office/powerpoint/2010/main" val="2816746901"/>
              </p:ext>
            </p:extLst>
          </p:nvPr>
        </p:nvGraphicFramePr>
        <p:xfrm>
          <a:off x="3612518" y="5196840"/>
          <a:ext cx="8194424" cy="1661160"/>
        </p:xfrm>
        <a:graphic>
          <a:graphicData uri="http://schemas.openxmlformats.org/drawingml/2006/table">
            <a:tbl>
              <a:tblPr firstRow="1" bandRow="1">
                <a:tableStyleId>{5C22544A-7EE6-4342-B048-85BDC9FD1C3A}</a:tableStyleId>
              </a:tblPr>
              <a:tblGrid>
                <a:gridCol w="1170632">
                  <a:extLst>
                    <a:ext uri="{9D8B030D-6E8A-4147-A177-3AD203B41FA5}">
                      <a16:colId xmlns:a16="http://schemas.microsoft.com/office/drawing/2014/main" val="1258243979"/>
                    </a:ext>
                  </a:extLst>
                </a:gridCol>
                <a:gridCol w="1170632">
                  <a:extLst>
                    <a:ext uri="{9D8B030D-6E8A-4147-A177-3AD203B41FA5}">
                      <a16:colId xmlns:a16="http://schemas.microsoft.com/office/drawing/2014/main" val="1079462814"/>
                    </a:ext>
                  </a:extLst>
                </a:gridCol>
                <a:gridCol w="1170632">
                  <a:extLst>
                    <a:ext uri="{9D8B030D-6E8A-4147-A177-3AD203B41FA5}">
                      <a16:colId xmlns:a16="http://schemas.microsoft.com/office/drawing/2014/main" val="3397691572"/>
                    </a:ext>
                  </a:extLst>
                </a:gridCol>
                <a:gridCol w="1170632">
                  <a:extLst>
                    <a:ext uri="{9D8B030D-6E8A-4147-A177-3AD203B41FA5}">
                      <a16:colId xmlns:a16="http://schemas.microsoft.com/office/drawing/2014/main" val="3075883050"/>
                    </a:ext>
                  </a:extLst>
                </a:gridCol>
                <a:gridCol w="1170632">
                  <a:extLst>
                    <a:ext uri="{9D8B030D-6E8A-4147-A177-3AD203B41FA5}">
                      <a16:colId xmlns:a16="http://schemas.microsoft.com/office/drawing/2014/main" val="1259412674"/>
                    </a:ext>
                  </a:extLst>
                </a:gridCol>
                <a:gridCol w="1170632">
                  <a:extLst>
                    <a:ext uri="{9D8B030D-6E8A-4147-A177-3AD203B41FA5}">
                      <a16:colId xmlns:a16="http://schemas.microsoft.com/office/drawing/2014/main" val="3392695109"/>
                    </a:ext>
                  </a:extLst>
                </a:gridCol>
                <a:gridCol w="1170632">
                  <a:extLst>
                    <a:ext uri="{9D8B030D-6E8A-4147-A177-3AD203B41FA5}">
                      <a16:colId xmlns:a16="http://schemas.microsoft.com/office/drawing/2014/main" val="2848032752"/>
                    </a:ext>
                  </a:extLst>
                </a:gridCol>
              </a:tblGrid>
              <a:tr h="217591">
                <a:tc>
                  <a:txBody>
                    <a:bodyPr/>
                    <a:lstStyle/>
                    <a:p>
                      <a:pPr algn="ctr"/>
                      <a:r>
                        <a:rPr lang="en-US" sz="140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bg1"/>
                          </a:solidFill>
                        </a:rPr>
                        <a:t>E6</a:t>
                      </a:r>
                    </a:p>
                  </a:txBody>
                  <a:tcPr>
                    <a:solidFill>
                      <a:schemeClr val="accent1">
                        <a:lumMod val="75000"/>
                      </a:schemeClr>
                    </a:solidFill>
                  </a:tcPr>
                </a:tc>
                <a:tc>
                  <a:txBody>
                    <a:bodyPr/>
                    <a:lstStyle/>
                    <a:p>
                      <a:pPr algn="ctr"/>
                      <a:r>
                        <a:rPr lang="en-US" sz="140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dirty="0">
                          <a:solidFill>
                            <a:schemeClr val="tx1"/>
                          </a:solidFill>
                        </a:rPr>
                        <a:t>Snacker</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Follower</a:t>
                      </a:r>
                    </a:p>
                  </a:txBody>
                  <a:tcPr>
                    <a:solidFill>
                      <a:schemeClr val="bg1">
                        <a:lumMod val="95000"/>
                      </a:schemeClr>
                    </a:solidFill>
                  </a:tcPr>
                </a:tc>
                <a:tc>
                  <a:txBody>
                    <a:bodyPr/>
                    <a:lstStyle/>
                    <a:p>
                      <a:pPr algn="ctr"/>
                      <a:r>
                        <a:rPr lang="en-US" sz="1400" dirty="0">
                          <a:solidFill>
                            <a:schemeClr val="tx1"/>
                          </a:solidFill>
                        </a:rPr>
                        <a:t>Finder</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Editor</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Author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Organizer</a:t>
                      </a:r>
                    </a:p>
                  </a:txBody>
                  <a:tcPr>
                    <a:solidFill>
                      <a:schemeClr val="accent1">
                        <a:lumMod val="75000"/>
                      </a:schemeClr>
                    </a:solidFill>
                  </a:tcPr>
                </a:tc>
                <a:tc>
                  <a:txBody>
                    <a:bodyPr/>
                    <a:lstStyle/>
                    <a:p>
                      <a:pPr algn="ctr"/>
                      <a:r>
                        <a:rPr lang="en-US" sz="1400" dirty="0">
                          <a:solidFill>
                            <a:schemeClr val="bg1"/>
                          </a:solidFill>
                        </a:rPr>
                        <a:t>Booster</a:t>
                      </a:r>
                    </a:p>
                  </a:txBody>
                  <a:tcPr>
                    <a:solidFill>
                      <a:schemeClr val="accent1">
                        <a:lumMod val="50000"/>
                      </a:schemeClr>
                    </a:solidFill>
                  </a:tcPr>
                </a:tc>
                <a:extLst>
                  <a:ext uri="{0D108BD9-81ED-4DB2-BD59-A6C34878D82A}">
                    <a16:rowId xmlns:a16="http://schemas.microsoft.com/office/drawing/2014/main" val="1432047597"/>
                  </a:ext>
                </a:extLst>
              </a:tr>
              <a:tr h="413572">
                <a:tc>
                  <a:txBody>
                    <a:bodyPr/>
                    <a:lstStyle/>
                    <a:p>
                      <a:pPr algn="ctr"/>
                      <a:r>
                        <a:rPr lang="en-US" sz="1050" dirty="0">
                          <a:solidFill>
                            <a:schemeClr val="tx1"/>
                          </a:solidFill>
                        </a:rPr>
                        <a:t>Get informed globally (summaries, etc.) from afar without contributing</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Get informed in detail without contributing</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Provide information for deliverable (but no direct contribution)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tx1"/>
                          </a:solidFill>
                        </a:rPr>
                        <a:t>Contribute to deliverable details and content organization</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Contribute to details, content organization, and organization of delivery</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rPr>
                        <a:t>Organizer who also covers whatever work remains from previous levels</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22" name="CasellaDiTesto 21">
            <a:extLst>
              <a:ext uri="{FF2B5EF4-FFF2-40B4-BE49-F238E27FC236}">
                <a16:creationId xmlns:a16="http://schemas.microsoft.com/office/drawing/2014/main" id="{D0E77A0A-1CB3-F062-72D4-4F005B8F7B07}"/>
              </a:ext>
            </a:extLst>
          </p:cNvPr>
          <p:cNvSpPr txBox="1"/>
          <p:nvPr/>
        </p:nvSpPr>
        <p:spPr>
          <a:xfrm>
            <a:off x="3608019" y="4893623"/>
            <a:ext cx="5793874" cy="307777"/>
          </a:xfrm>
          <a:prstGeom prst="rect">
            <a:avLst/>
          </a:prstGeom>
          <a:noFill/>
        </p:spPr>
        <p:txBody>
          <a:bodyPr wrap="square">
            <a:spAutoFit/>
          </a:bodyPr>
          <a:lstStyle/>
          <a:p>
            <a:r>
              <a:rPr lang="en-US" sz="1400" b="1" dirty="0"/>
              <a:t>Levels by type of contribution to a Community deliverable</a:t>
            </a:r>
            <a:endParaRPr lang="en-US" sz="1400" b="1" noProof="0" dirty="0"/>
          </a:p>
        </p:txBody>
      </p:sp>
    </p:spTree>
    <p:extLst>
      <p:ext uri="{BB962C8B-B14F-4D97-AF65-F5344CB8AC3E}">
        <p14:creationId xmlns:p14="http://schemas.microsoft.com/office/powerpoint/2010/main" val="4230572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839881-7101-131C-FACE-50AD4B6891C4}"/>
              </a:ext>
            </a:extLst>
          </p:cNvPr>
          <p:cNvSpPr>
            <a:spLocks noGrp="1"/>
          </p:cNvSpPr>
          <p:nvPr>
            <p:ph type="title"/>
          </p:nvPr>
        </p:nvSpPr>
        <p:spPr/>
        <p:txBody>
          <a:bodyPr>
            <a:normAutofit fontScale="90000"/>
          </a:bodyPr>
          <a:lstStyle/>
          <a:p>
            <a:r>
              <a:rPr lang="en-US" dirty="0"/>
              <a:t>Choosing an engagement level system</a:t>
            </a:r>
            <a:br>
              <a:rPr lang="en-US" dirty="0"/>
            </a:br>
            <a:r>
              <a:rPr lang="en-US" dirty="0"/>
              <a:t>Example choices</a:t>
            </a:r>
          </a:p>
        </p:txBody>
      </p:sp>
      <p:sp>
        <p:nvSpPr>
          <p:cNvPr id="3" name="Segnaposto contenuto 2">
            <a:extLst>
              <a:ext uri="{FF2B5EF4-FFF2-40B4-BE49-F238E27FC236}">
                <a16:creationId xmlns:a16="http://schemas.microsoft.com/office/drawing/2014/main" id="{CF6A9693-1F2D-AF08-CC03-53BB0DE273EC}"/>
              </a:ext>
            </a:extLst>
          </p:cNvPr>
          <p:cNvSpPr>
            <a:spLocks noGrp="1"/>
          </p:cNvSpPr>
          <p:nvPr>
            <p:ph idx="1"/>
          </p:nvPr>
        </p:nvSpPr>
        <p:spPr>
          <a:xfrm>
            <a:off x="923544" y="2212848"/>
            <a:ext cx="2648712" cy="4233672"/>
          </a:xfrm>
        </p:spPr>
        <p:txBody>
          <a:bodyPr>
            <a:normAutofit fontScale="92500"/>
          </a:bodyPr>
          <a:lstStyle/>
          <a:p>
            <a:pPr marL="0" indent="0">
              <a:buNone/>
            </a:pPr>
            <a:r>
              <a:rPr lang="en-US" sz="1400" dirty="0"/>
              <a:t>Depending on your situation, choosing the right level system can help you define Community tactics and activities after your engagement level measurement.</a:t>
            </a:r>
          </a:p>
          <a:p>
            <a:pPr marL="0" indent="0">
              <a:buNone/>
            </a:pPr>
            <a:r>
              <a:rPr lang="en-US" sz="1400" dirty="0"/>
              <a:t>For example, if you do not have much choice in the activity other than its duration, you may choose </a:t>
            </a:r>
            <a:r>
              <a:rPr lang="en-US" sz="1400" b="1" dirty="0"/>
              <a:t>Levels by amount and regularity of committed time</a:t>
            </a:r>
            <a:endParaRPr lang="en-US" sz="1400" b="1" noProof="0" dirty="0"/>
          </a:p>
          <a:p>
            <a:pPr marL="0" indent="0">
              <a:buNone/>
            </a:pPr>
            <a:r>
              <a:rPr lang="en-US" sz="1400" dirty="0"/>
              <a:t>If you have various medias and collective moments to use with your Community, and would like to target people better, you can use </a:t>
            </a:r>
            <a:r>
              <a:rPr lang="en-US" sz="1400" b="1" dirty="0"/>
              <a:t>Basic Level System.</a:t>
            </a:r>
          </a:p>
        </p:txBody>
      </p:sp>
      <p:sp>
        <p:nvSpPr>
          <p:cNvPr id="4" name="Segnaposto contenuto 2">
            <a:extLst>
              <a:ext uri="{FF2B5EF4-FFF2-40B4-BE49-F238E27FC236}">
                <a16:creationId xmlns:a16="http://schemas.microsoft.com/office/drawing/2014/main" id="{69AD135E-50E9-2C35-0656-4E679FEF9FC7}"/>
              </a:ext>
            </a:extLst>
          </p:cNvPr>
          <p:cNvSpPr txBox="1">
            <a:spLocks/>
          </p:cNvSpPr>
          <p:nvPr/>
        </p:nvSpPr>
        <p:spPr>
          <a:xfrm>
            <a:off x="5068826" y="2212848"/>
            <a:ext cx="2648712" cy="423367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If your Community is built around delivery of collectively produced content (for example, a collective book, a collective wiki, a website, etc.), you can use </a:t>
            </a:r>
            <a:r>
              <a:rPr lang="en-US" sz="1400" b="1" dirty="0"/>
              <a:t>Levels by type of contribution to a Community deliverable.</a:t>
            </a:r>
          </a:p>
          <a:p>
            <a:pPr marL="0" indent="0">
              <a:buNone/>
            </a:pPr>
            <a:r>
              <a:rPr lang="en-US" sz="1400" dirty="0"/>
              <a:t>If you have several potential topics in your Community you can choose for your activities, you can use “</a:t>
            </a:r>
            <a:r>
              <a:rPr lang="en-US" sz="1400" b="1" dirty="0"/>
              <a:t>Relative Engagement Levels</a:t>
            </a:r>
            <a:r>
              <a:rPr lang="en-US" sz="1400" dirty="0"/>
              <a:t>” (see dedicated section).</a:t>
            </a:r>
          </a:p>
          <a:p>
            <a:pPr marL="0" indent="0">
              <a:buNone/>
            </a:pPr>
            <a:r>
              <a:rPr lang="en-US" sz="1400" noProof="0" dirty="0"/>
              <a:t>If you </a:t>
            </a:r>
            <a:r>
              <a:rPr lang="en-US" sz="1400" dirty="0"/>
              <a:t>need to plan attendance with reliable information on participation, you can use </a:t>
            </a:r>
            <a:r>
              <a:rPr lang="en-US" sz="1400" b="1" dirty="0"/>
              <a:t>Levels by assumptions of participation</a:t>
            </a:r>
            <a:endParaRPr lang="en-US" sz="1400" b="1" noProof="0" dirty="0"/>
          </a:p>
          <a:p>
            <a:pPr marL="0" indent="0">
              <a:buNone/>
            </a:pPr>
            <a:endParaRPr lang="en-US" sz="1400" noProof="0" dirty="0"/>
          </a:p>
        </p:txBody>
      </p:sp>
      <p:pic>
        <p:nvPicPr>
          <p:cNvPr id="10" name="Elemento grafico 9" descr="Diagramma di flusso con riempimento a tinta unita">
            <a:extLst>
              <a:ext uri="{FF2B5EF4-FFF2-40B4-BE49-F238E27FC236}">
                <a16:creationId xmlns:a16="http://schemas.microsoft.com/office/drawing/2014/main" id="{8D73E16B-655F-4CC9-4363-5512FE4A3C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3674" y="5129785"/>
            <a:ext cx="914400" cy="914400"/>
          </a:xfrm>
          <a:prstGeom prst="rect">
            <a:avLst/>
          </a:prstGeom>
        </p:spPr>
      </p:pic>
      <p:pic>
        <p:nvPicPr>
          <p:cNvPr id="12" name="Elemento grafico 11" descr="Cronometro 75% con riempimento a tinta unita">
            <a:extLst>
              <a:ext uri="{FF2B5EF4-FFF2-40B4-BE49-F238E27FC236}">
                <a16:creationId xmlns:a16="http://schemas.microsoft.com/office/drawing/2014/main" id="{0785FFB7-2391-A4F5-5834-14208A8FDA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192" y="3579000"/>
            <a:ext cx="914400" cy="914400"/>
          </a:xfrm>
          <a:prstGeom prst="rect">
            <a:avLst/>
          </a:prstGeom>
        </p:spPr>
      </p:pic>
      <p:pic>
        <p:nvPicPr>
          <p:cNvPr id="14" name="Elemento grafico 13" descr="Macchina da scrivere con riempimento a tinta unita">
            <a:extLst>
              <a:ext uri="{FF2B5EF4-FFF2-40B4-BE49-F238E27FC236}">
                <a16:creationId xmlns:a16="http://schemas.microsoft.com/office/drawing/2014/main" id="{9A5E6EE6-5A78-F229-ABBB-A556B02A70E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3674" y="2441448"/>
            <a:ext cx="914400" cy="914400"/>
          </a:xfrm>
          <a:prstGeom prst="rect">
            <a:avLst/>
          </a:prstGeom>
        </p:spPr>
      </p:pic>
      <p:pic>
        <p:nvPicPr>
          <p:cNvPr id="16" name="Elemento grafico 15" descr="Rete online con riempimento a tinta unita">
            <a:extLst>
              <a:ext uri="{FF2B5EF4-FFF2-40B4-BE49-F238E27FC236}">
                <a16:creationId xmlns:a16="http://schemas.microsoft.com/office/drawing/2014/main" id="{91A3432D-D445-871A-11FA-C49A96B9160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4" y="4945152"/>
            <a:ext cx="914400" cy="914400"/>
          </a:xfrm>
          <a:prstGeom prst="rect">
            <a:avLst/>
          </a:prstGeom>
        </p:spPr>
      </p:pic>
      <p:pic>
        <p:nvPicPr>
          <p:cNvPr id="18" name="Elemento grafico 17" descr="Grafico a barre con andamento ascendente con riempimento a tinta unita">
            <a:extLst>
              <a:ext uri="{FF2B5EF4-FFF2-40B4-BE49-F238E27FC236}">
                <a16:creationId xmlns:a16="http://schemas.microsoft.com/office/drawing/2014/main" id="{60A9890F-9C81-6A26-2B1B-DDE467E19C9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54426" y="3950210"/>
            <a:ext cx="914400" cy="914400"/>
          </a:xfrm>
          <a:prstGeom prst="rect">
            <a:avLst/>
          </a:prstGeom>
        </p:spPr>
      </p:pic>
      <p:sp>
        <p:nvSpPr>
          <p:cNvPr id="19" name="Segnaposto contenuto 2">
            <a:extLst>
              <a:ext uri="{FF2B5EF4-FFF2-40B4-BE49-F238E27FC236}">
                <a16:creationId xmlns:a16="http://schemas.microsoft.com/office/drawing/2014/main" id="{1FCABFBD-17C3-C397-48AC-31E7F179FCD0}"/>
              </a:ext>
            </a:extLst>
          </p:cNvPr>
          <p:cNvSpPr txBox="1">
            <a:spLocks/>
          </p:cNvSpPr>
          <p:nvPr/>
        </p:nvSpPr>
        <p:spPr>
          <a:xfrm>
            <a:off x="9092184" y="2212848"/>
            <a:ext cx="2648712" cy="42336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t>Smaller, simpler Communities can use less levels, while more sophisticated communities can benefit from having from engagement levels.</a:t>
            </a:r>
          </a:p>
          <a:p>
            <a:pPr marL="0" indent="0">
              <a:buNone/>
            </a:pPr>
            <a:r>
              <a:rPr lang="en-US" sz="1400" dirty="0"/>
              <a:t>We recommend not to choose an engagement level system by habit only or by copying some other Community. You can choose an engagement level system that fits your Community and the next choices you must make.</a:t>
            </a:r>
          </a:p>
          <a:p>
            <a:pPr marL="0" indent="0">
              <a:buNone/>
            </a:pPr>
            <a:r>
              <a:rPr lang="en-US" sz="1400" dirty="0"/>
              <a:t>You can even use different level systems for a same Community, but each for different circumstances.</a:t>
            </a:r>
            <a:endParaRPr lang="en-US" sz="1400" noProof="0" dirty="0"/>
          </a:p>
        </p:txBody>
      </p:sp>
      <p:pic>
        <p:nvPicPr>
          <p:cNvPr id="21" name="Elemento grafico 20" descr="Cartello stradale con riempimento a tinta unita">
            <a:extLst>
              <a:ext uri="{FF2B5EF4-FFF2-40B4-BE49-F238E27FC236}">
                <a16:creationId xmlns:a16="http://schemas.microsoft.com/office/drawing/2014/main" id="{A90D433C-D768-3658-DE5E-C186E10EEA3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07329" y="5320932"/>
            <a:ext cx="914400" cy="914400"/>
          </a:xfrm>
          <a:prstGeom prst="rect">
            <a:avLst/>
          </a:prstGeom>
        </p:spPr>
      </p:pic>
      <p:pic>
        <p:nvPicPr>
          <p:cNvPr id="23" name="Elemento grafico 22" descr="Badge Non seguire più con riempimento a tinta unita">
            <a:extLst>
              <a:ext uri="{FF2B5EF4-FFF2-40B4-BE49-F238E27FC236}">
                <a16:creationId xmlns:a16="http://schemas.microsoft.com/office/drawing/2014/main" id="{5ED5AEEC-0F0B-025C-BDFD-5F3E0553A74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8136" y="2502411"/>
            <a:ext cx="469389" cy="469389"/>
          </a:xfrm>
          <a:prstGeom prst="rect">
            <a:avLst/>
          </a:prstGeom>
        </p:spPr>
      </p:pic>
      <p:pic>
        <p:nvPicPr>
          <p:cNvPr id="25" name="Elemento grafico 24" descr="Badge Segui con riempimento a tinta unita">
            <a:extLst>
              <a:ext uri="{FF2B5EF4-FFF2-40B4-BE49-F238E27FC236}">
                <a16:creationId xmlns:a16="http://schemas.microsoft.com/office/drawing/2014/main" id="{5BD77D72-7BE8-CF36-E333-6638BE5C25F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95140" y="2368300"/>
            <a:ext cx="469389" cy="469389"/>
          </a:xfrm>
          <a:prstGeom prst="rect">
            <a:avLst/>
          </a:prstGeom>
        </p:spPr>
      </p:pic>
      <p:pic>
        <p:nvPicPr>
          <p:cNvPr id="27" name="Elemento grafico 26" descr="Luci accese con riempimento a tinta unita">
            <a:extLst>
              <a:ext uri="{FF2B5EF4-FFF2-40B4-BE49-F238E27FC236}">
                <a16:creationId xmlns:a16="http://schemas.microsoft.com/office/drawing/2014/main" id="{908F0E12-7531-4D52-3A34-C69AFDDCF3B0}"/>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208264" y="3872484"/>
            <a:ext cx="914400" cy="914400"/>
          </a:xfrm>
          <a:prstGeom prst="rect">
            <a:avLst/>
          </a:prstGeom>
        </p:spPr>
      </p:pic>
    </p:spTree>
    <p:extLst>
      <p:ext uri="{BB962C8B-B14F-4D97-AF65-F5344CB8AC3E}">
        <p14:creationId xmlns:p14="http://schemas.microsoft.com/office/powerpoint/2010/main" val="1664001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54E0DA31-3292-B5B9-DA1D-CD8398654B1B}"/>
              </a:ext>
            </a:extLst>
          </p:cNvPr>
          <p:cNvSpPr>
            <a:spLocks noGrp="1"/>
          </p:cNvSpPr>
          <p:nvPr>
            <p:ph type="ctrTitle"/>
          </p:nvPr>
        </p:nvSpPr>
        <p:spPr/>
        <p:txBody>
          <a:bodyPr>
            <a:normAutofit/>
          </a:bodyPr>
          <a:lstStyle/>
          <a:p>
            <a:r>
              <a:rPr lang="en-US" dirty="0"/>
              <a:t>Relative Engagement Levels</a:t>
            </a:r>
          </a:p>
        </p:txBody>
      </p:sp>
      <p:sp>
        <p:nvSpPr>
          <p:cNvPr id="5" name="Sottotitolo 4">
            <a:extLst>
              <a:ext uri="{FF2B5EF4-FFF2-40B4-BE49-F238E27FC236}">
                <a16:creationId xmlns:a16="http://schemas.microsoft.com/office/drawing/2014/main" id="{75056B9F-28DC-404B-B524-6023EE06E7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70105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Another definition of engagement and relative Engagement levels</a:t>
            </a:r>
          </a:p>
        </p:txBody>
      </p:sp>
      <p:sp>
        <p:nvSpPr>
          <p:cNvPr id="3" name="Segnaposto contenuto 2">
            <a:extLst>
              <a:ext uri="{FF2B5EF4-FFF2-40B4-BE49-F238E27FC236}">
                <a16:creationId xmlns:a16="http://schemas.microsoft.com/office/drawing/2014/main" id="{7B0D02F6-F6CA-3E37-7A00-B558BF55A46E}"/>
              </a:ext>
            </a:extLst>
          </p:cNvPr>
          <p:cNvSpPr>
            <a:spLocks noGrp="1"/>
          </p:cNvSpPr>
          <p:nvPr>
            <p:ph idx="1"/>
          </p:nvPr>
        </p:nvSpPr>
        <p:spPr>
          <a:xfrm>
            <a:off x="1115568" y="2084832"/>
            <a:ext cx="10168128" cy="2871216"/>
          </a:xfrm>
        </p:spPr>
        <p:txBody>
          <a:bodyPr>
            <a:normAutofit/>
          </a:bodyPr>
          <a:lstStyle/>
          <a:p>
            <a:r>
              <a:rPr lang="en-US" sz="1400" dirty="0"/>
              <a:t>In the previous level systems above, engagement was defined mostly by its signs (taking more and more responsibilities, being available more hours, etc.). This led to level systems that were simple to use when it comes to define which activities are proposed to which members.</a:t>
            </a:r>
          </a:p>
          <a:p>
            <a:r>
              <a:rPr lang="en-US" sz="1400" dirty="0"/>
              <a:t>Yet this way of measuring engagement does not consider the idea that a same given member can engage differently on different community topics and matters. For example, giving several hours and take responsibilities on a topic A, and just being a curious person about the topic B. </a:t>
            </a:r>
          </a:p>
          <a:p>
            <a:r>
              <a:rPr lang="en-US" sz="1400" dirty="0"/>
              <a:t>If we define engagement as the </a:t>
            </a:r>
            <a:r>
              <a:rPr lang="en-US" sz="1400" b="1" dirty="0"/>
              <a:t>ability to provide effort towards a delayed goal, beyond direct instant interest</a:t>
            </a:r>
            <a:r>
              <a:rPr lang="en-US" sz="1400" dirty="0"/>
              <a:t>, then we obtain another scale, which is more relative to every member’s engagement.</a:t>
            </a:r>
          </a:p>
          <a:p>
            <a:r>
              <a:rPr lang="en-US" sz="1400" dirty="0"/>
              <a:t>The following scale considers two dimensions : quantity of possible effort and distance from direct value. For practical reasons (using this scale in an operational workshop), these two dimensions are reduced into one dimension</a:t>
            </a:r>
          </a:p>
        </p:txBody>
      </p:sp>
      <p:graphicFrame>
        <p:nvGraphicFramePr>
          <p:cNvPr id="5" name="Tableau 5">
            <a:extLst>
              <a:ext uri="{FF2B5EF4-FFF2-40B4-BE49-F238E27FC236}">
                <a16:creationId xmlns:a16="http://schemas.microsoft.com/office/drawing/2014/main" id="{AB49B1BE-07EC-37BF-2243-B61482C15914}"/>
              </a:ext>
            </a:extLst>
          </p:cNvPr>
          <p:cNvGraphicFramePr>
            <a:graphicFrameLocks noGrp="1"/>
          </p:cNvGraphicFramePr>
          <p:nvPr>
            <p:extLst>
              <p:ext uri="{D42A27DB-BD31-4B8C-83A1-F6EECF244321}">
                <p14:modId xmlns:p14="http://schemas.microsoft.com/office/powerpoint/2010/main" val="3537699888"/>
              </p:ext>
            </p:extLst>
          </p:nvPr>
        </p:nvGraphicFramePr>
        <p:xfrm>
          <a:off x="908304" y="5312664"/>
          <a:ext cx="10735053" cy="82296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4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E2</a:t>
                      </a:r>
                    </a:p>
                  </a:txBody>
                  <a:tcPr>
                    <a:solidFill>
                      <a:schemeClr val="bg1">
                        <a:lumMod val="95000"/>
                      </a:schemeClr>
                    </a:solidFill>
                  </a:tcPr>
                </a:tc>
                <a:tc>
                  <a:txBody>
                    <a:bodyPr/>
                    <a:lstStyle/>
                    <a:p>
                      <a:pPr algn="ctr"/>
                      <a:r>
                        <a:rPr lang="en-US" sz="14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E6</a:t>
                      </a:r>
                    </a:p>
                  </a:txBody>
                  <a:tcPr>
                    <a:solidFill>
                      <a:schemeClr val="accent1">
                        <a:lumMod val="75000"/>
                      </a:schemeClr>
                    </a:solidFill>
                  </a:tcPr>
                </a:tc>
                <a:tc>
                  <a:txBody>
                    <a:bodyPr/>
                    <a:lstStyle/>
                    <a:p>
                      <a:pPr algn="ctr"/>
                      <a:r>
                        <a:rPr lang="en-US" sz="14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4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tx1"/>
                          </a:solidFill>
                        </a:rPr>
                        <a:t>Low effort Opportunists</a:t>
                      </a:r>
                    </a:p>
                  </a:txBody>
                  <a:tcPr>
                    <a:solidFill>
                      <a:schemeClr val="bg1">
                        <a:lumMod val="95000"/>
                      </a:schemeClr>
                    </a:solidFill>
                  </a:tcPr>
                </a:tc>
                <a:tc>
                  <a:txBody>
                    <a:bodyPr/>
                    <a:lstStyle/>
                    <a:p>
                      <a:pPr algn="ctr"/>
                      <a:r>
                        <a:rPr lang="en-US" sz="14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tx1"/>
                          </a:solidFill>
                        </a:rPr>
                        <a:t>Long termists</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noProof="0">
                          <a:solidFill>
                            <a:schemeClr val="bg1"/>
                          </a:solidFill>
                        </a:rPr>
                        <a:t>Open long termists</a:t>
                      </a:r>
                    </a:p>
                  </a:txBody>
                  <a:tcPr>
                    <a:solidFill>
                      <a:schemeClr val="accent1">
                        <a:lumMod val="75000"/>
                      </a:schemeClr>
                    </a:solidFill>
                  </a:tcPr>
                </a:tc>
                <a:tc>
                  <a:txBody>
                    <a:bodyPr/>
                    <a:lstStyle/>
                    <a:p>
                      <a:pPr algn="ctr"/>
                      <a:r>
                        <a:rPr lang="en-US" sz="14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bl>
          </a:graphicData>
        </a:graphic>
      </p:graphicFrame>
    </p:spTree>
    <p:extLst>
      <p:ext uri="{BB962C8B-B14F-4D97-AF65-F5344CB8AC3E}">
        <p14:creationId xmlns:p14="http://schemas.microsoft.com/office/powerpoint/2010/main" val="1708249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a:bodyPr>
          <a:lstStyle/>
          <a:p>
            <a:r>
              <a:rPr lang="en-US" dirty="0"/>
              <a:t>Relative Engagement level scale</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3800857239"/>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 for self</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8" name="CasellaDiTesto 7">
            <a:extLst>
              <a:ext uri="{FF2B5EF4-FFF2-40B4-BE49-F238E27FC236}">
                <a16:creationId xmlns:a16="http://schemas.microsoft.com/office/drawing/2014/main" id="{E155607E-0D4E-DC8B-B70B-B4D5B272D0E5}"/>
              </a:ext>
            </a:extLst>
          </p:cNvPr>
          <p:cNvSpPr txBox="1"/>
          <p:nvPr/>
        </p:nvSpPr>
        <p:spPr>
          <a:xfrm>
            <a:off x="694944" y="4436790"/>
            <a:ext cx="4745736" cy="1384995"/>
          </a:xfrm>
          <a:prstGeom prst="rect">
            <a:avLst/>
          </a:prstGeom>
          <a:noFill/>
          <a:ln>
            <a:solidFill>
              <a:schemeClr val="tx1"/>
            </a:solidFill>
          </a:ln>
        </p:spPr>
        <p:txBody>
          <a:bodyPr wrap="square">
            <a:spAutoFit/>
          </a:bodyPr>
          <a:lstStyle/>
          <a:p>
            <a:r>
              <a:rPr lang="en-US" sz="1200" i="1" dirty="0"/>
              <a:t>Direct value</a:t>
            </a:r>
            <a:r>
              <a:rPr lang="en-US" sz="1200" dirty="0"/>
              <a:t> here means positive effects that happen for oneself, directly during the Community activities. For example, if a member solves his own operational problem during a community session, it is short term direct value. </a:t>
            </a:r>
          </a:p>
          <a:p>
            <a:endParaRPr lang="en-US" sz="1200" dirty="0"/>
          </a:p>
          <a:p>
            <a:r>
              <a:rPr lang="en-US" sz="1200" dirty="0"/>
              <a:t>The difference between low and high effort will depend on each community context and cannot be set here.</a:t>
            </a:r>
          </a:p>
        </p:txBody>
      </p:sp>
      <p:sp>
        <p:nvSpPr>
          <p:cNvPr id="9" name="CasellaDiTesto 8">
            <a:extLst>
              <a:ext uri="{FF2B5EF4-FFF2-40B4-BE49-F238E27FC236}">
                <a16:creationId xmlns:a16="http://schemas.microsoft.com/office/drawing/2014/main" id="{639D3094-A4A9-822B-47F1-2328B7364BA1}"/>
              </a:ext>
            </a:extLst>
          </p:cNvPr>
          <p:cNvSpPr txBox="1"/>
          <p:nvPr/>
        </p:nvSpPr>
        <p:spPr>
          <a:xfrm>
            <a:off x="5440680" y="4445934"/>
            <a:ext cx="4590288" cy="1938992"/>
          </a:xfrm>
          <a:prstGeom prst="rect">
            <a:avLst/>
          </a:prstGeom>
          <a:solidFill>
            <a:schemeClr val="accent1">
              <a:lumMod val="60000"/>
              <a:lumOff val="40000"/>
            </a:schemeClr>
          </a:solidFill>
        </p:spPr>
        <p:txBody>
          <a:bodyPr wrap="square">
            <a:spAutoFit/>
          </a:bodyPr>
          <a:lstStyle/>
          <a:p>
            <a:r>
              <a:rPr lang="en-US" sz="1200" i="1" dirty="0"/>
              <a:t>Indirect value </a:t>
            </a:r>
            <a:r>
              <a:rPr lang="en-US" sz="1200" dirty="0"/>
              <a:t>here means either positive effects that will happen for oneself, later than directly during Community activities, or an increase of the future positive effects that will happen. </a:t>
            </a:r>
          </a:p>
          <a:p>
            <a:endParaRPr lang="en-US" sz="1200" dirty="0"/>
          </a:p>
          <a:p>
            <a:r>
              <a:rPr lang="en-US" sz="1200" dirty="0"/>
              <a:t>For examples, if a member participates to a workshop that helps the Community select future topics, it is </a:t>
            </a:r>
            <a:r>
              <a:rPr lang="en-US" sz="1200" i="1" dirty="0"/>
              <a:t>indirect value</a:t>
            </a:r>
            <a:r>
              <a:rPr lang="en-US" sz="1200" dirty="0"/>
              <a:t>. If a member works on a topic that is not directly valuable by him but will be useful later-on (for example, in several months), then it is also </a:t>
            </a:r>
            <a:r>
              <a:rPr lang="en-US" sz="1200" i="1" dirty="0"/>
              <a:t>indirect value</a:t>
            </a:r>
            <a:r>
              <a:rPr lang="en-US" sz="1200" dirty="0"/>
              <a:t>. t </a:t>
            </a:r>
          </a:p>
        </p:txBody>
      </p:sp>
      <p:sp>
        <p:nvSpPr>
          <p:cNvPr id="10" name="CasellaDiTesto 9">
            <a:extLst>
              <a:ext uri="{FF2B5EF4-FFF2-40B4-BE49-F238E27FC236}">
                <a16:creationId xmlns:a16="http://schemas.microsoft.com/office/drawing/2014/main" id="{55853BA9-FC24-F703-F4F7-67C5452779B7}"/>
              </a:ext>
            </a:extLst>
          </p:cNvPr>
          <p:cNvSpPr txBox="1"/>
          <p:nvPr/>
        </p:nvSpPr>
        <p:spPr>
          <a:xfrm>
            <a:off x="10030968" y="4436790"/>
            <a:ext cx="1536190" cy="2123658"/>
          </a:xfrm>
          <a:prstGeom prst="rect">
            <a:avLst/>
          </a:prstGeom>
          <a:solidFill>
            <a:schemeClr val="accent1">
              <a:lumMod val="50000"/>
            </a:schemeClr>
          </a:solidFill>
        </p:spPr>
        <p:txBody>
          <a:bodyPr wrap="square">
            <a:spAutoFit/>
          </a:bodyPr>
          <a:lstStyle/>
          <a:p>
            <a:r>
              <a:rPr lang="en-US" sz="1200" dirty="0">
                <a:solidFill>
                  <a:schemeClr val="bg1"/>
                </a:solidFill>
              </a:rPr>
              <a:t>The highest engagement level in this scale is when a member provide efforts for the Community, even when there is (at the time of the effort) no clear direct or indirect value for him/her.</a:t>
            </a:r>
          </a:p>
        </p:txBody>
      </p:sp>
      <p:sp>
        <p:nvSpPr>
          <p:cNvPr id="11" name="Freccia in su 10">
            <a:extLst>
              <a:ext uri="{FF2B5EF4-FFF2-40B4-BE49-F238E27FC236}">
                <a16:creationId xmlns:a16="http://schemas.microsoft.com/office/drawing/2014/main" id="{2C3B3B79-FEFE-8DA9-9DF7-1F3CC60605EF}"/>
              </a:ext>
            </a:extLst>
          </p:cNvPr>
          <p:cNvSpPr/>
          <p:nvPr/>
        </p:nvSpPr>
        <p:spPr>
          <a:xfrm>
            <a:off x="7392417"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ccia in su 11">
            <a:extLst>
              <a:ext uri="{FF2B5EF4-FFF2-40B4-BE49-F238E27FC236}">
                <a16:creationId xmlns:a16="http://schemas.microsoft.com/office/drawing/2014/main" id="{84005E41-AE5B-BF21-9EEB-213208731BDD}"/>
              </a:ext>
            </a:extLst>
          </p:cNvPr>
          <p:cNvSpPr/>
          <p:nvPr/>
        </p:nvSpPr>
        <p:spPr>
          <a:xfrm>
            <a:off x="8939531"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ccia in su 12">
            <a:extLst>
              <a:ext uri="{FF2B5EF4-FFF2-40B4-BE49-F238E27FC236}">
                <a16:creationId xmlns:a16="http://schemas.microsoft.com/office/drawing/2014/main" id="{4A86B40A-8C77-4DA2-F7DA-B5BCCAA98259}"/>
              </a:ext>
            </a:extLst>
          </p:cNvPr>
          <p:cNvSpPr/>
          <p:nvPr/>
        </p:nvSpPr>
        <p:spPr>
          <a:xfrm>
            <a:off x="5845303" y="3997470"/>
            <a:ext cx="624836" cy="454835"/>
          </a:xfrm>
          <a:prstGeom prst="up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ccia in su 13">
            <a:extLst>
              <a:ext uri="{FF2B5EF4-FFF2-40B4-BE49-F238E27FC236}">
                <a16:creationId xmlns:a16="http://schemas.microsoft.com/office/drawing/2014/main" id="{380F2C42-D7C9-EB71-E1A3-2ED9C8D7D77E}"/>
              </a:ext>
            </a:extLst>
          </p:cNvPr>
          <p:cNvSpPr/>
          <p:nvPr/>
        </p:nvSpPr>
        <p:spPr>
          <a:xfrm>
            <a:off x="4298190"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ccia in su 14">
            <a:extLst>
              <a:ext uri="{FF2B5EF4-FFF2-40B4-BE49-F238E27FC236}">
                <a16:creationId xmlns:a16="http://schemas.microsoft.com/office/drawing/2014/main" id="{1688EDE8-86BA-BFB6-994C-165893FFFDE1}"/>
              </a:ext>
            </a:extLst>
          </p:cNvPr>
          <p:cNvSpPr/>
          <p:nvPr/>
        </p:nvSpPr>
        <p:spPr>
          <a:xfrm>
            <a:off x="2751077"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ccia in su 15">
            <a:extLst>
              <a:ext uri="{FF2B5EF4-FFF2-40B4-BE49-F238E27FC236}">
                <a16:creationId xmlns:a16="http://schemas.microsoft.com/office/drawing/2014/main" id="{F533564B-A12F-06AF-9F54-1A7BFD9DC6EE}"/>
              </a:ext>
            </a:extLst>
          </p:cNvPr>
          <p:cNvSpPr/>
          <p:nvPr/>
        </p:nvSpPr>
        <p:spPr>
          <a:xfrm>
            <a:off x="1203964" y="3997469"/>
            <a:ext cx="624836" cy="439320"/>
          </a:xfrm>
          <a:prstGeom prst="up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ccia in su 16">
            <a:extLst>
              <a:ext uri="{FF2B5EF4-FFF2-40B4-BE49-F238E27FC236}">
                <a16:creationId xmlns:a16="http://schemas.microsoft.com/office/drawing/2014/main" id="{A9E5B6A3-B2F7-E1A5-6F25-2302D1695F90}"/>
              </a:ext>
            </a:extLst>
          </p:cNvPr>
          <p:cNvSpPr/>
          <p:nvPr/>
        </p:nvSpPr>
        <p:spPr>
          <a:xfrm>
            <a:off x="10486645" y="3989711"/>
            <a:ext cx="624836" cy="454835"/>
          </a:xfrm>
          <a:prstGeom prst="up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3027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Example of activities types corresponding to relative engagement levels</a:t>
            </a:r>
          </a:p>
        </p:txBody>
      </p:sp>
      <p:graphicFrame>
        <p:nvGraphicFramePr>
          <p:cNvPr id="4" name="Tableau 5">
            <a:extLst>
              <a:ext uri="{FF2B5EF4-FFF2-40B4-BE49-F238E27FC236}">
                <a16:creationId xmlns:a16="http://schemas.microsoft.com/office/drawing/2014/main" id="{B02959C7-E04D-62FB-2215-148BBDB8A935}"/>
              </a:ext>
            </a:extLst>
          </p:cNvPr>
          <p:cNvGraphicFramePr>
            <a:graphicFrameLocks noGrp="1"/>
          </p:cNvGraphicFramePr>
          <p:nvPr>
            <p:extLst>
              <p:ext uri="{D42A27DB-BD31-4B8C-83A1-F6EECF244321}">
                <p14:modId xmlns:p14="http://schemas.microsoft.com/office/powerpoint/2010/main" val="3706787819"/>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a:solidFill>
                            <a:schemeClr val="tx1"/>
                          </a:solidFill>
                        </a:rPr>
                        <a:t>As low effort as possible, and only for direct value</a:t>
                      </a:r>
                      <a:endParaRPr lang="en-US" sz="1200" noProof="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a low effort only, only for direct value</a:t>
                      </a:r>
                      <a:endParaRPr lang="en-US" sz="1200" noProof="0" dirty="0">
                        <a:solidFill>
                          <a:schemeClr val="tx1"/>
                        </a:solidFill>
                      </a:endParaRP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a:solidFill>
                            <a:schemeClr val="tx1"/>
                          </a:solidFill>
                        </a:rPr>
                        <a:t>Can provide high efforts both for direct value and indirect value, but no efforts when value is unclear</a:t>
                      </a:r>
                      <a:endParaRPr lang="en-US" sz="1200"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7" name="Freccia bidirezionale orizzontale 6">
            <a:extLst>
              <a:ext uri="{FF2B5EF4-FFF2-40B4-BE49-F238E27FC236}">
                <a16:creationId xmlns:a16="http://schemas.microsoft.com/office/drawing/2014/main" id="{788C4C5B-E08E-C754-B9C7-5A8F23459866}"/>
              </a:ext>
            </a:extLst>
          </p:cNvPr>
          <p:cNvSpPr/>
          <p:nvPr/>
        </p:nvSpPr>
        <p:spPr>
          <a:xfrm>
            <a:off x="832105" y="3830104"/>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11733" y="4365028"/>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3957066" y="4863376"/>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525262" y="5413248"/>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132320" y="5916168"/>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spTree>
    <p:extLst>
      <p:ext uri="{BB962C8B-B14F-4D97-AF65-F5344CB8AC3E}">
        <p14:creationId xmlns:p14="http://schemas.microsoft.com/office/powerpoint/2010/main" val="356561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sp>
        <p:nvSpPr>
          <p:cNvPr id="7" name="Freccia bidirezionale orizzontale 6">
            <a:extLst>
              <a:ext uri="{FF2B5EF4-FFF2-40B4-BE49-F238E27FC236}">
                <a16:creationId xmlns:a16="http://schemas.microsoft.com/office/drawing/2014/main" id="{788C4C5B-E08E-C754-B9C7-5A8F23459866}"/>
              </a:ext>
            </a:extLst>
          </p:cNvPr>
          <p:cNvSpPr/>
          <p:nvPr/>
        </p:nvSpPr>
        <p:spPr>
          <a:xfrm>
            <a:off x="914401" y="2160092"/>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94029" y="2512136"/>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4039362" y="2983052"/>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607558" y="3514636"/>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214616" y="4026700"/>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sp>
        <p:nvSpPr>
          <p:cNvPr id="3" name="Segnaposto contenuto 2">
            <a:extLst>
              <a:ext uri="{FF2B5EF4-FFF2-40B4-BE49-F238E27FC236}">
                <a16:creationId xmlns:a16="http://schemas.microsoft.com/office/drawing/2014/main" id="{A3A011D6-4DFD-422C-CBB4-E3D995E7AA22}"/>
              </a:ext>
            </a:extLst>
          </p:cNvPr>
          <p:cNvSpPr>
            <a:spLocks noGrp="1"/>
          </p:cNvSpPr>
          <p:nvPr>
            <p:ph idx="1"/>
          </p:nvPr>
        </p:nvSpPr>
        <p:spPr>
          <a:xfrm>
            <a:off x="957835" y="3641777"/>
            <a:ext cx="3054095" cy="2871216"/>
          </a:xfrm>
        </p:spPr>
        <p:txBody>
          <a:bodyPr>
            <a:normAutofit lnSpcReduction="10000"/>
          </a:bodyPr>
          <a:lstStyle/>
          <a:p>
            <a:pPr marL="0" indent="0">
              <a:buNone/>
            </a:pPr>
            <a:r>
              <a:rPr lang="en-US" sz="1200" dirty="0"/>
              <a:t>Using the relative engagement scale as a Workshop, it is recommended to use the activities only as  </a:t>
            </a:r>
          </a:p>
          <a:p>
            <a:pPr marL="0" indent="0">
              <a:buNone/>
            </a:pPr>
            <a:r>
              <a:rPr lang="en-US" sz="1200" dirty="0"/>
              <a:t>Participants may feel uncomfortable with the name of the levels (opportunists, etc.), especially when it comes to disclose one’s position.</a:t>
            </a:r>
          </a:p>
          <a:p>
            <a:pPr marL="0" indent="0">
              <a:buNone/>
            </a:pPr>
            <a:r>
              <a:rPr lang="en-US" sz="1200" dirty="0"/>
              <a:t>Also, the detailed description may be unclear as it requires to understand some concepts (high effort, low effort, direct value, indirect value …).</a:t>
            </a:r>
          </a:p>
          <a:p>
            <a:pPr marL="0" indent="0">
              <a:buNone/>
            </a:pPr>
            <a:r>
              <a:rPr lang="en-US" sz="1200" dirty="0"/>
              <a:t>It reduces the workshop to 5 levels for the simplest version</a:t>
            </a:r>
          </a:p>
        </p:txBody>
      </p:sp>
    </p:spTree>
    <p:extLst>
      <p:ext uri="{BB962C8B-B14F-4D97-AF65-F5344CB8AC3E}">
        <p14:creationId xmlns:p14="http://schemas.microsoft.com/office/powerpoint/2010/main" val="50788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Simple version</a:t>
            </a:r>
          </a:p>
        </p:txBody>
      </p:sp>
      <p:sp>
        <p:nvSpPr>
          <p:cNvPr id="7" name="Freccia bidirezionale orizzontale 6">
            <a:extLst>
              <a:ext uri="{FF2B5EF4-FFF2-40B4-BE49-F238E27FC236}">
                <a16:creationId xmlns:a16="http://schemas.microsoft.com/office/drawing/2014/main" id="{788C4C5B-E08E-C754-B9C7-5A8F23459866}"/>
              </a:ext>
            </a:extLst>
          </p:cNvPr>
          <p:cNvSpPr/>
          <p:nvPr/>
        </p:nvSpPr>
        <p:spPr>
          <a:xfrm>
            <a:off x="914401" y="2255342"/>
            <a:ext cx="10764771" cy="704088"/>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Community content to consume</a:t>
            </a:r>
          </a:p>
        </p:txBody>
      </p:sp>
      <p:sp>
        <p:nvSpPr>
          <p:cNvPr id="18" name="Freccia bidirezionale orizzontale 17">
            <a:extLst>
              <a:ext uri="{FF2B5EF4-FFF2-40B4-BE49-F238E27FC236}">
                <a16:creationId xmlns:a16="http://schemas.microsoft.com/office/drawing/2014/main" id="{F77B5C5C-0FD0-9311-4FAC-532D9D634C4E}"/>
              </a:ext>
            </a:extLst>
          </p:cNvPr>
          <p:cNvSpPr/>
          <p:nvPr/>
        </p:nvSpPr>
        <p:spPr>
          <a:xfrm>
            <a:off x="2494029" y="2607386"/>
            <a:ext cx="9185143" cy="704088"/>
          </a:xfrm>
          <a:prstGeom prst="leftRightArrow">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events in which participants are expected to be mostly passive (talks, lectures, etc.)</a:t>
            </a:r>
          </a:p>
        </p:txBody>
      </p:sp>
      <p:sp>
        <p:nvSpPr>
          <p:cNvPr id="19" name="Freccia bidirezionale orizzontale 18">
            <a:extLst>
              <a:ext uri="{FF2B5EF4-FFF2-40B4-BE49-F238E27FC236}">
                <a16:creationId xmlns:a16="http://schemas.microsoft.com/office/drawing/2014/main" id="{A1AEC4C4-ADE2-80A4-C4EC-5DF9AEF4D72D}"/>
              </a:ext>
            </a:extLst>
          </p:cNvPr>
          <p:cNvSpPr/>
          <p:nvPr/>
        </p:nvSpPr>
        <p:spPr>
          <a:xfrm>
            <a:off x="4039362" y="3078302"/>
            <a:ext cx="7639810" cy="704088"/>
          </a:xfrm>
          <a:prstGeom prst="lef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Participation to community online discussions and interactions</a:t>
            </a:r>
          </a:p>
          <a:p>
            <a:pPr algn="ctr"/>
            <a:r>
              <a:rPr lang="en-US" sz="1200" dirty="0">
                <a:solidFill>
                  <a:schemeClr val="tx1"/>
                </a:solidFill>
              </a:rPr>
              <a:t>Participation to community workshops with direct value </a:t>
            </a:r>
          </a:p>
        </p:txBody>
      </p:sp>
      <p:sp>
        <p:nvSpPr>
          <p:cNvPr id="20" name="Freccia bidirezionale orizzontale 19">
            <a:extLst>
              <a:ext uri="{FF2B5EF4-FFF2-40B4-BE49-F238E27FC236}">
                <a16:creationId xmlns:a16="http://schemas.microsoft.com/office/drawing/2014/main" id="{A2BFAAA7-44AE-DDED-5776-716EC74185E2}"/>
              </a:ext>
            </a:extLst>
          </p:cNvPr>
          <p:cNvSpPr/>
          <p:nvPr/>
        </p:nvSpPr>
        <p:spPr>
          <a:xfrm>
            <a:off x="5607558" y="3609886"/>
            <a:ext cx="6071614" cy="704088"/>
          </a:xfrm>
          <a:prstGeom prst="lef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Contribution to community deliverables</a:t>
            </a:r>
          </a:p>
          <a:p>
            <a:pPr algn="ctr"/>
            <a:r>
              <a:rPr lang="en-US" sz="1200" dirty="0">
                <a:solidFill>
                  <a:schemeClr val="tx1"/>
                </a:solidFill>
              </a:rPr>
              <a:t>Participation to community workshops with indirect value (organization, etc.)</a:t>
            </a:r>
          </a:p>
        </p:txBody>
      </p:sp>
      <p:sp>
        <p:nvSpPr>
          <p:cNvPr id="21" name="Freccia bidirezionale orizzontale 20">
            <a:extLst>
              <a:ext uri="{FF2B5EF4-FFF2-40B4-BE49-F238E27FC236}">
                <a16:creationId xmlns:a16="http://schemas.microsoft.com/office/drawing/2014/main" id="{7A4B3404-521B-384D-7959-1913C6399A9D}"/>
              </a:ext>
            </a:extLst>
          </p:cNvPr>
          <p:cNvSpPr/>
          <p:nvPr/>
        </p:nvSpPr>
        <p:spPr>
          <a:xfrm>
            <a:off x="7214616" y="4121950"/>
            <a:ext cx="4464556" cy="704088"/>
          </a:xfrm>
          <a:prstGeom prst="leftRightArrow">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offline contribution and tasks</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93914" y="4763803"/>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39507" y="5372558"/>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24214" y="4763803"/>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600909" y="4763803"/>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1054" y="5372558"/>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168371" y="4763803"/>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224214" y="5372558"/>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313965" y="4763803"/>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168371" y="5372558"/>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585733" y="4145071"/>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585733" y="4753690"/>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40980" y="4763803"/>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613980" y="5372558"/>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7944039" y="4763803"/>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539508" y="4763803"/>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574113" y="4763803"/>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40980" y="4146081"/>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42794" y="5372558"/>
            <a:ext cx="569795" cy="569795"/>
          </a:xfrm>
          <a:prstGeom prst="rect">
            <a:avLst/>
          </a:prstGeom>
        </p:spPr>
      </p:pic>
      <p:pic>
        <p:nvPicPr>
          <p:cNvPr id="50" name="Image 37" descr="Une image contenant personne, mur, souriant, posant&#10;&#10;Description générée automatiquement">
            <a:extLst>
              <a:ext uri="{FF2B5EF4-FFF2-40B4-BE49-F238E27FC236}">
                <a16:creationId xmlns:a16="http://schemas.microsoft.com/office/drawing/2014/main" id="{D7D3C6EA-8ED2-9D22-89E7-E1A206F24BEC}"/>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940980" y="3535846"/>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4393914" y="5372558"/>
            <a:ext cx="569795" cy="569795"/>
          </a:xfrm>
          <a:prstGeom prst="rect">
            <a:avLst/>
          </a:prstGeom>
        </p:spPr>
      </p:pic>
      <p:sp>
        <p:nvSpPr>
          <p:cNvPr id="3" name="Segnaposto contenuto 2">
            <a:extLst>
              <a:ext uri="{FF2B5EF4-FFF2-40B4-BE49-F238E27FC236}">
                <a16:creationId xmlns:a16="http://schemas.microsoft.com/office/drawing/2014/main" id="{05DEB970-A000-56CD-792F-173C2D7BF12C}"/>
              </a:ext>
            </a:extLst>
          </p:cNvPr>
          <p:cNvSpPr>
            <a:spLocks noGrp="1"/>
          </p:cNvSpPr>
          <p:nvPr>
            <p:ph idx="1"/>
          </p:nvPr>
        </p:nvSpPr>
        <p:spPr>
          <a:xfrm>
            <a:off x="8574113" y="5738720"/>
            <a:ext cx="3070950" cy="808384"/>
          </a:xfrm>
        </p:spPr>
        <p:txBody>
          <a:bodyPr>
            <a:normAutofit/>
          </a:bodyPr>
          <a:lstStyle/>
          <a:p>
            <a:pPr marL="0" indent="0">
              <a:buNone/>
            </a:pPr>
            <a:r>
              <a:rPr lang="en-US" sz="1200" dirty="0"/>
              <a:t>The further on the right you are in this graph, the more arrows (activities) you can cumulate.</a:t>
            </a:r>
          </a:p>
        </p:txBody>
      </p:sp>
    </p:spTree>
    <p:extLst>
      <p:ext uri="{BB962C8B-B14F-4D97-AF65-F5344CB8AC3E}">
        <p14:creationId xmlns:p14="http://schemas.microsoft.com/office/powerpoint/2010/main" val="1988028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73D076-F1EE-E57A-F107-BD8E494ECDF0}"/>
              </a:ext>
            </a:extLst>
          </p:cNvPr>
          <p:cNvSpPr>
            <a:spLocks noGrp="1"/>
          </p:cNvSpPr>
          <p:nvPr>
            <p:ph type="title"/>
          </p:nvPr>
        </p:nvSpPr>
        <p:spPr/>
        <p:txBody>
          <a:bodyPr>
            <a:normAutofit fontScale="90000"/>
          </a:bodyPr>
          <a:lstStyle/>
          <a:p>
            <a:r>
              <a:rPr lang="en-US" dirty="0"/>
              <a:t>Using Relative Engagement level scale in a workshop – advanced version</a:t>
            </a:r>
          </a:p>
        </p:txBody>
      </p:sp>
      <p:pic>
        <p:nvPicPr>
          <p:cNvPr id="32" name="Image 13" descr="Une image contenant personne, homme, cravate, complet&#10;&#10;Description générée automatiquement">
            <a:extLst>
              <a:ext uri="{FF2B5EF4-FFF2-40B4-BE49-F238E27FC236}">
                <a16:creationId xmlns:a16="http://schemas.microsoft.com/office/drawing/2014/main" id="{9F5A80E9-FFA5-E4A5-A895-C07C992FF42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359479" y="4155048"/>
            <a:ext cx="569795" cy="569795"/>
          </a:xfrm>
          <a:prstGeom prst="rect">
            <a:avLst/>
          </a:prstGeom>
        </p:spPr>
      </p:pic>
      <p:pic>
        <p:nvPicPr>
          <p:cNvPr id="33" name="Image 15" descr="Une image contenant personne, extérieur, souriant, violet&#10;&#10;Description générée automatiquement">
            <a:extLst>
              <a:ext uri="{FF2B5EF4-FFF2-40B4-BE49-F238E27FC236}">
                <a16:creationId xmlns:a16="http://schemas.microsoft.com/office/drawing/2014/main" id="{EDB1A615-4AF4-36ED-30A4-ACF66E0D159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25232" y="4763803"/>
            <a:ext cx="569795" cy="569795"/>
          </a:xfrm>
          <a:prstGeom prst="rect">
            <a:avLst/>
          </a:prstGeom>
        </p:spPr>
      </p:pic>
      <p:pic>
        <p:nvPicPr>
          <p:cNvPr id="34" name="Image 16" descr="Une image contenant personne, femme, souriant&#10;&#10;Description générée automatiquement">
            <a:extLst>
              <a:ext uri="{FF2B5EF4-FFF2-40B4-BE49-F238E27FC236}">
                <a16:creationId xmlns:a16="http://schemas.microsoft.com/office/drawing/2014/main" id="{0F7E31DB-CF3B-858E-842E-394DC319BCC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79366" y="4155048"/>
            <a:ext cx="569795" cy="569795"/>
          </a:xfrm>
          <a:prstGeom prst="rect">
            <a:avLst/>
          </a:prstGeom>
        </p:spPr>
      </p:pic>
      <p:pic>
        <p:nvPicPr>
          <p:cNvPr id="35" name="Image 17" descr="Une image contenant personne, extérieur, souriant, foule&#10;&#10;Description générée automatiquement">
            <a:extLst>
              <a:ext uri="{FF2B5EF4-FFF2-40B4-BE49-F238E27FC236}">
                <a16:creationId xmlns:a16="http://schemas.microsoft.com/office/drawing/2014/main" id="{7397E573-E5AC-3E46-F49E-D4A26ACAF44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556061" y="4155048"/>
            <a:ext cx="569795" cy="569795"/>
          </a:xfrm>
          <a:prstGeom prst="rect">
            <a:avLst/>
          </a:prstGeom>
        </p:spPr>
      </p:pic>
      <p:pic>
        <p:nvPicPr>
          <p:cNvPr id="36" name="Image 18" descr="Une image contenant personne, souriant, homme, posant&#10;&#10;Description générée automatiquement">
            <a:extLst>
              <a:ext uri="{FF2B5EF4-FFF2-40B4-BE49-F238E27FC236}">
                <a16:creationId xmlns:a16="http://schemas.microsoft.com/office/drawing/2014/main" id="{AE8D21C6-944D-DD07-93EC-F7600BFFA47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71054" y="5372558"/>
            <a:ext cx="569795" cy="569795"/>
          </a:xfrm>
          <a:prstGeom prst="rect">
            <a:avLst/>
          </a:prstGeom>
        </p:spPr>
      </p:pic>
      <p:pic>
        <p:nvPicPr>
          <p:cNvPr id="37" name="Image 20" descr="Une image contenant personne, intérieur, posant, fermer&#10;&#10;Description générée automatiquement">
            <a:extLst>
              <a:ext uri="{FF2B5EF4-FFF2-40B4-BE49-F238E27FC236}">
                <a16:creationId xmlns:a16="http://schemas.microsoft.com/office/drawing/2014/main" id="{06939AB0-6A13-19B5-6521-441117684D5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54096" y="4155048"/>
            <a:ext cx="569795" cy="569795"/>
          </a:xfrm>
          <a:prstGeom prst="rect">
            <a:avLst/>
          </a:prstGeom>
        </p:spPr>
      </p:pic>
      <p:pic>
        <p:nvPicPr>
          <p:cNvPr id="38" name="Image 21" descr="Une image contenant personne, homme, mur, souriant&#10;&#10;Description générée automatiquement">
            <a:extLst>
              <a:ext uri="{FF2B5EF4-FFF2-40B4-BE49-F238E27FC236}">
                <a16:creationId xmlns:a16="http://schemas.microsoft.com/office/drawing/2014/main" id="{C24313DC-1D32-7E20-BF1C-8E315052F45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179366" y="4763803"/>
            <a:ext cx="569795" cy="569795"/>
          </a:xfrm>
          <a:prstGeom prst="rect">
            <a:avLst/>
          </a:prstGeom>
        </p:spPr>
      </p:pic>
      <p:pic>
        <p:nvPicPr>
          <p:cNvPr id="39" name="Image 22" descr="Une image contenant homme, personne, intérieur, aîné&#10;&#10;Description générée automatiquement">
            <a:extLst>
              <a:ext uri="{FF2B5EF4-FFF2-40B4-BE49-F238E27FC236}">
                <a16:creationId xmlns:a16="http://schemas.microsoft.com/office/drawing/2014/main" id="{6DD2CAF8-A0F1-9283-723C-59FA907EE3C4}"/>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7521604" y="4166507"/>
            <a:ext cx="569795" cy="569795"/>
          </a:xfrm>
          <a:prstGeom prst="rect">
            <a:avLst/>
          </a:prstGeom>
        </p:spPr>
      </p:pic>
      <p:pic>
        <p:nvPicPr>
          <p:cNvPr id="40" name="Image 23" descr="Une image contenant homme, personne, verres, portant&#10;&#10;Description générée automatiquement">
            <a:extLst>
              <a:ext uri="{FF2B5EF4-FFF2-40B4-BE49-F238E27FC236}">
                <a16:creationId xmlns:a16="http://schemas.microsoft.com/office/drawing/2014/main" id="{FC3C97EF-B3DD-C93E-AF61-CEDEBE6077C2}"/>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6254096" y="4763803"/>
            <a:ext cx="569795" cy="569795"/>
          </a:xfrm>
          <a:prstGeom prst="rect">
            <a:avLst/>
          </a:prstGeom>
        </p:spPr>
      </p:pic>
      <p:pic>
        <p:nvPicPr>
          <p:cNvPr id="41" name="Image 24" descr="Une image contenant personne, homme, intérieur, souriant&#10;&#10;Description générée automatiquement">
            <a:extLst>
              <a:ext uri="{FF2B5EF4-FFF2-40B4-BE49-F238E27FC236}">
                <a16:creationId xmlns:a16="http://schemas.microsoft.com/office/drawing/2014/main" id="{B6AE2884-653F-CAE8-19CA-F8A653083307}"/>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585733" y="4145071"/>
            <a:ext cx="569795" cy="569795"/>
          </a:xfrm>
          <a:prstGeom prst="rect">
            <a:avLst/>
          </a:prstGeom>
        </p:spPr>
      </p:pic>
      <p:pic>
        <p:nvPicPr>
          <p:cNvPr id="42" name="Image 25" descr="Une image contenant personne, homme, cravate, souriant&#10;&#10;Description générée automatiquement">
            <a:extLst>
              <a:ext uri="{FF2B5EF4-FFF2-40B4-BE49-F238E27FC236}">
                <a16:creationId xmlns:a16="http://schemas.microsoft.com/office/drawing/2014/main" id="{F046337A-4DEB-525F-8010-A81351D01B3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1585733" y="4753690"/>
            <a:ext cx="569795" cy="569795"/>
          </a:xfrm>
          <a:prstGeom prst="rect">
            <a:avLst/>
          </a:prstGeom>
        </p:spPr>
      </p:pic>
      <p:pic>
        <p:nvPicPr>
          <p:cNvPr id="43" name="Image 29" descr="Une image contenant personne, homme, souriant, aîné&#10;&#10;Description générée automatiquement">
            <a:extLst>
              <a:ext uri="{FF2B5EF4-FFF2-40B4-BE49-F238E27FC236}">
                <a16:creationId xmlns:a16="http://schemas.microsoft.com/office/drawing/2014/main" id="{65B94213-6F2F-D853-2E63-18B4710E87DF}"/>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40980" y="4763803"/>
            <a:ext cx="569795" cy="569795"/>
          </a:xfrm>
          <a:prstGeom prst="rect">
            <a:avLst/>
          </a:prstGeom>
        </p:spPr>
      </p:pic>
      <p:pic>
        <p:nvPicPr>
          <p:cNvPr id="44" name="Image 31" descr="Une image contenant personne, homme, souriant, aîné&#10;&#10;Description générée automatiquement">
            <a:extLst>
              <a:ext uri="{FF2B5EF4-FFF2-40B4-BE49-F238E27FC236}">
                <a16:creationId xmlns:a16="http://schemas.microsoft.com/office/drawing/2014/main" id="{8BF2D42E-52DF-3F00-ABF1-5806CE7AB23F}"/>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569132" y="4763803"/>
            <a:ext cx="569795" cy="569795"/>
          </a:xfrm>
          <a:prstGeom prst="rect">
            <a:avLst/>
          </a:prstGeom>
        </p:spPr>
      </p:pic>
      <p:pic>
        <p:nvPicPr>
          <p:cNvPr id="45" name="Image 32" descr="Une image contenant personne, femme, souriant, posant&#10;&#10;Description générée automatiquement">
            <a:extLst>
              <a:ext uri="{FF2B5EF4-FFF2-40B4-BE49-F238E27FC236}">
                <a16:creationId xmlns:a16="http://schemas.microsoft.com/office/drawing/2014/main" id="{22831D2D-C2DE-4400-A461-2EA39E85F32B}"/>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986615" y="4166507"/>
            <a:ext cx="569795" cy="569795"/>
          </a:xfrm>
          <a:prstGeom prst="rect">
            <a:avLst/>
          </a:prstGeom>
        </p:spPr>
      </p:pic>
      <p:pic>
        <p:nvPicPr>
          <p:cNvPr id="46" name="Image 33" descr="Une image contenant personne, extérieur, fermer&#10;&#10;Description générée automatiquement">
            <a:extLst>
              <a:ext uri="{FF2B5EF4-FFF2-40B4-BE49-F238E27FC236}">
                <a16:creationId xmlns:a16="http://schemas.microsoft.com/office/drawing/2014/main" id="{DEF45B9C-14FE-8534-584A-80077C3F5007}"/>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625233" y="4155048"/>
            <a:ext cx="569795" cy="569795"/>
          </a:xfrm>
          <a:prstGeom prst="rect">
            <a:avLst/>
          </a:prstGeom>
        </p:spPr>
      </p:pic>
      <p:pic>
        <p:nvPicPr>
          <p:cNvPr id="47" name="Image 34" descr="Une image contenant personne, mur, intérieur, jeune&#10;&#10;Description générée automatiquement">
            <a:extLst>
              <a:ext uri="{FF2B5EF4-FFF2-40B4-BE49-F238E27FC236}">
                <a16:creationId xmlns:a16="http://schemas.microsoft.com/office/drawing/2014/main" id="{A8B20154-B7A5-C83A-1078-9D445CFFCA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10526738" y="4155047"/>
            <a:ext cx="569795" cy="569795"/>
          </a:xfrm>
          <a:prstGeom prst="rect">
            <a:avLst/>
          </a:prstGeom>
        </p:spPr>
      </p:pic>
      <p:pic>
        <p:nvPicPr>
          <p:cNvPr id="48" name="Image 35" descr="Une image contenant personne, homme, extérieur, arbre&#10;&#10;Description générée automatiquement">
            <a:extLst>
              <a:ext uri="{FF2B5EF4-FFF2-40B4-BE49-F238E27FC236}">
                <a16:creationId xmlns:a16="http://schemas.microsoft.com/office/drawing/2014/main" id="{AC2CA7FC-570C-4D56-63F4-F0B50AC4211F}"/>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940980" y="4146081"/>
            <a:ext cx="569795" cy="569795"/>
          </a:xfrm>
          <a:prstGeom prst="rect">
            <a:avLst/>
          </a:prstGeom>
        </p:spPr>
      </p:pic>
      <p:pic>
        <p:nvPicPr>
          <p:cNvPr id="49" name="Image 36" descr="Une image contenant personne, mur, souriant, intérieur&#10;&#10;Description générée automatiquement">
            <a:extLst>
              <a:ext uri="{FF2B5EF4-FFF2-40B4-BE49-F238E27FC236}">
                <a16:creationId xmlns:a16="http://schemas.microsoft.com/office/drawing/2014/main" id="{A4D6781F-2CF3-26E9-10A1-65A8CA6D5856}"/>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942794" y="5372558"/>
            <a:ext cx="569795" cy="569795"/>
          </a:xfrm>
          <a:prstGeom prst="rect">
            <a:avLst/>
          </a:prstGeom>
        </p:spPr>
      </p:pic>
      <p:pic>
        <p:nvPicPr>
          <p:cNvPr id="51" name="Image 38" descr="Une image contenant personne, mur, homme, souriant&#10;&#10;Description générée automatiquement">
            <a:extLst>
              <a:ext uri="{FF2B5EF4-FFF2-40B4-BE49-F238E27FC236}">
                <a16:creationId xmlns:a16="http://schemas.microsoft.com/office/drawing/2014/main" id="{9BC4A329-15A5-AFA2-A187-5E65E2723D5D}"/>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4359479" y="4763803"/>
            <a:ext cx="569795" cy="569795"/>
          </a:xfrm>
          <a:prstGeom prst="rect">
            <a:avLst/>
          </a:prstGeom>
        </p:spPr>
      </p:pic>
      <p:graphicFrame>
        <p:nvGraphicFramePr>
          <p:cNvPr id="3" name="Tableau 5">
            <a:extLst>
              <a:ext uri="{FF2B5EF4-FFF2-40B4-BE49-F238E27FC236}">
                <a16:creationId xmlns:a16="http://schemas.microsoft.com/office/drawing/2014/main" id="{86F34468-3A4F-3DE2-1A42-AF5197476D28}"/>
              </a:ext>
            </a:extLst>
          </p:cNvPr>
          <p:cNvGraphicFramePr>
            <a:graphicFrameLocks noGrp="1"/>
          </p:cNvGraphicFramePr>
          <p:nvPr>
            <p:extLst>
              <p:ext uri="{D42A27DB-BD31-4B8C-83A1-F6EECF244321}">
                <p14:modId xmlns:p14="http://schemas.microsoft.com/office/powerpoint/2010/main" val="157211845"/>
              </p:ext>
            </p:extLst>
          </p:nvPr>
        </p:nvGraphicFramePr>
        <p:xfrm>
          <a:off x="832105" y="1909864"/>
          <a:ext cx="10735053" cy="2103120"/>
        </p:xfrm>
        <a:graphic>
          <a:graphicData uri="http://schemas.openxmlformats.org/drawingml/2006/table">
            <a:tbl>
              <a:tblPr firstRow="1" bandRow="1">
                <a:tableStyleId>{5C22544A-7EE6-4342-B048-85BDC9FD1C3A}</a:tableStyleId>
              </a:tblPr>
              <a:tblGrid>
                <a:gridCol w="1533579">
                  <a:extLst>
                    <a:ext uri="{9D8B030D-6E8A-4147-A177-3AD203B41FA5}">
                      <a16:colId xmlns:a16="http://schemas.microsoft.com/office/drawing/2014/main" val="1258243979"/>
                    </a:ext>
                  </a:extLst>
                </a:gridCol>
                <a:gridCol w="1533579">
                  <a:extLst>
                    <a:ext uri="{9D8B030D-6E8A-4147-A177-3AD203B41FA5}">
                      <a16:colId xmlns:a16="http://schemas.microsoft.com/office/drawing/2014/main" val="1079462814"/>
                    </a:ext>
                  </a:extLst>
                </a:gridCol>
                <a:gridCol w="1533579">
                  <a:extLst>
                    <a:ext uri="{9D8B030D-6E8A-4147-A177-3AD203B41FA5}">
                      <a16:colId xmlns:a16="http://schemas.microsoft.com/office/drawing/2014/main" val="3397691572"/>
                    </a:ext>
                  </a:extLst>
                </a:gridCol>
                <a:gridCol w="1533579">
                  <a:extLst>
                    <a:ext uri="{9D8B030D-6E8A-4147-A177-3AD203B41FA5}">
                      <a16:colId xmlns:a16="http://schemas.microsoft.com/office/drawing/2014/main" val="3075883050"/>
                    </a:ext>
                  </a:extLst>
                </a:gridCol>
                <a:gridCol w="1533579">
                  <a:extLst>
                    <a:ext uri="{9D8B030D-6E8A-4147-A177-3AD203B41FA5}">
                      <a16:colId xmlns:a16="http://schemas.microsoft.com/office/drawing/2014/main" val="1259412674"/>
                    </a:ext>
                  </a:extLst>
                </a:gridCol>
                <a:gridCol w="1533579">
                  <a:extLst>
                    <a:ext uri="{9D8B030D-6E8A-4147-A177-3AD203B41FA5}">
                      <a16:colId xmlns:a16="http://schemas.microsoft.com/office/drawing/2014/main" val="3392695109"/>
                    </a:ext>
                  </a:extLst>
                </a:gridCol>
                <a:gridCol w="1533579">
                  <a:extLst>
                    <a:ext uri="{9D8B030D-6E8A-4147-A177-3AD203B41FA5}">
                      <a16:colId xmlns:a16="http://schemas.microsoft.com/office/drawing/2014/main" val="2848032752"/>
                    </a:ext>
                  </a:extLst>
                </a:gridCol>
              </a:tblGrid>
              <a:tr h="217591">
                <a:tc>
                  <a:txBody>
                    <a:bodyPr/>
                    <a:lstStyle/>
                    <a:p>
                      <a:pPr algn="ctr"/>
                      <a:r>
                        <a:rPr lang="en-US" sz="1200" dirty="0">
                          <a:solidFill>
                            <a:schemeClr val="tx1"/>
                          </a:solidFill>
                        </a:rPr>
                        <a:t>E1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E2</a:t>
                      </a:r>
                    </a:p>
                  </a:txBody>
                  <a:tcPr>
                    <a:solidFill>
                      <a:schemeClr val="bg1">
                        <a:lumMod val="95000"/>
                      </a:schemeClr>
                    </a:solidFill>
                  </a:tcPr>
                </a:tc>
                <a:tc>
                  <a:txBody>
                    <a:bodyPr/>
                    <a:lstStyle/>
                    <a:p>
                      <a:pPr algn="ctr"/>
                      <a:r>
                        <a:rPr lang="en-US" sz="1200" dirty="0">
                          <a:solidFill>
                            <a:schemeClr val="tx1"/>
                          </a:solidFill>
                        </a:rPr>
                        <a:t>E3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E5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E6</a:t>
                      </a:r>
                    </a:p>
                  </a:txBody>
                  <a:tcPr>
                    <a:solidFill>
                      <a:schemeClr val="accent1">
                        <a:lumMod val="75000"/>
                      </a:schemeClr>
                    </a:solidFill>
                  </a:tcPr>
                </a:tc>
                <a:tc>
                  <a:txBody>
                    <a:bodyPr/>
                    <a:lstStyle/>
                    <a:p>
                      <a:pPr algn="ctr"/>
                      <a:r>
                        <a:rPr lang="en-US" sz="1200" dirty="0">
                          <a:solidFill>
                            <a:schemeClr val="bg1"/>
                          </a:solidFill>
                        </a:rPr>
                        <a:t>E7</a:t>
                      </a:r>
                    </a:p>
                  </a:txBody>
                  <a:tcPr>
                    <a:solidFill>
                      <a:schemeClr val="accent1">
                        <a:lumMod val="50000"/>
                      </a:schemeClr>
                    </a:solidFill>
                  </a:tcPr>
                </a:tc>
                <a:extLst>
                  <a:ext uri="{0D108BD9-81ED-4DB2-BD59-A6C34878D82A}">
                    <a16:rowId xmlns:a16="http://schemas.microsoft.com/office/drawing/2014/main" val="1311980861"/>
                  </a:ext>
                </a:extLst>
              </a:tr>
              <a:tr h="217591">
                <a:tc>
                  <a:txBody>
                    <a:bodyPr/>
                    <a:lstStyle/>
                    <a:p>
                      <a:pPr algn="ctr"/>
                      <a:r>
                        <a:rPr lang="en-US" sz="1200" b="1" noProof="0" dirty="0">
                          <a:solidFill>
                            <a:schemeClr val="tx1"/>
                          </a:solidFill>
                        </a:rPr>
                        <a:t>Consumers</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Low effort Opportunists</a:t>
                      </a:r>
                    </a:p>
                  </a:txBody>
                  <a:tcPr>
                    <a:solidFill>
                      <a:schemeClr val="bg1">
                        <a:lumMod val="95000"/>
                      </a:schemeClr>
                    </a:solidFill>
                  </a:tcPr>
                </a:tc>
                <a:tc>
                  <a:txBody>
                    <a:bodyPr/>
                    <a:lstStyle/>
                    <a:p>
                      <a:pPr algn="ctr"/>
                      <a:r>
                        <a:rPr lang="en-US" sz="1200" b="1" noProof="0" dirty="0">
                          <a:solidFill>
                            <a:schemeClr val="tx1"/>
                          </a:solidFill>
                        </a:rPr>
                        <a:t>Opportunists</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Open opportunists</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tx1"/>
                          </a:solidFill>
                        </a:rPr>
                        <a:t>Long-</a:t>
                      </a:r>
                      <a:r>
                        <a:rPr lang="en-US" sz="1200" b="1" noProof="0" dirty="0" err="1">
                          <a:solidFill>
                            <a:schemeClr val="tx1"/>
                          </a:solidFill>
                        </a:rPr>
                        <a:t>termists</a:t>
                      </a:r>
                      <a:endParaRPr lang="en-US" sz="1200" b="1" noProof="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dirty="0">
                          <a:solidFill>
                            <a:schemeClr val="bg1"/>
                          </a:solidFill>
                        </a:rPr>
                        <a:t>Open long-</a:t>
                      </a:r>
                      <a:r>
                        <a:rPr lang="en-US" sz="1200" b="1" noProof="0" dirty="0" err="1">
                          <a:solidFill>
                            <a:schemeClr val="bg1"/>
                          </a:solidFill>
                        </a:rPr>
                        <a:t>termists</a:t>
                      </a:r>
                      <a:endParaRPr lang="en-US" sz="1200" b="1" noProof="0" dirty="0">
                        <a:solidFill>
                          <a:schemeClr val="bg1"/>
                        </a:solidFill>
                      </a:endParaRPr>
                    </a:p>
                  </a:txBody>
                  <a:tcPr>
                    <a:solidFill>
                      <a:schemeClr val="accent1">
                        <a:lumMod val="75000"/>
                      </a:schemeClr>
                    </a:solidFill>
                  </a:tcPr>
                </a:tc>
                <a:tc>
                  <a:txBody>
                    <a:bodyPr/>
                    <a:lstStyle/>
                    <a:p>
                      <a:pPr algn="ctr"/>
                      <a:r>
                        <a:rPr lang="en-US" sz="1200" b="1" noProof="0" dirty="0">
                          <a:solidFill>
                            <a:schemeClr val="bg1"/>
                          </a:solidFill>
                        </a:rPr>
                        <a:t>Selfless Booster</a:t>
                      </a:r>
                    </a:p>
                  </a:txBody>
                  <a:tcPr>
                    <a:solidFill>
                      <a:schemeClr val="accent1">
                        <a:lumMod val="50000"/>
                      </a:schemeClr>
                    </a:solidFill>
                  </a:tcPr>
                </a:tc>
                <a:extLst>
                  <a:ext uri="{0D108BD9-81ED-4DB2-BD59-A6C34878D82A}">
                    <a16:rowId xmlns:a16="http://schemas.microsoft.com/office/drawing/2014/main" val="69874210"/>
                  </a:ext>
                </a:extLst>
              </a:tr>
              <a:tr h="413572">
                <a:tc>
                  <a:txBody>
                    <a:bodyPr/>
                    <a:lstStyle/>
                    <a:p>
                      <a:pPr algn="ctr"/>
                      <a:r>
                        <a:rPr lang="en-US" sz="1200" noProof="0" dirty="0">
                          <a:solidFill>
                            <a:schemeClr val="tx1"/>
                          </a:solidFill>
                        </a:rPr>
                        <a:t>As low effort as possible, and only for direct value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a low effort only, only for direct value</a:t>
                      </a:r>
                    </a:p>
                  </a:txBody>
                  <a:tcP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only for direct value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Only low efforts for both direct and indirect value. </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up to high efforts mostly for direct value, and low effort only for indirect long-term value</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Can provide high efforts both for direct value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tx1"/>
                          </a:solidFill>
                        </a:rPr>
                        <a:t>but no efforts when value is unclear</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high efforts for both direct and indirect value,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but  low effort only when value for self is unclear</a:t>
                      </a:r>
                    </a:p>
                  </a:txBody>
                  <a:tcP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noProof="0" dirty="0">
                          <a:solidFill>
                            <a:schemeClr val="bg1"/>
                          </a:solidFill>
                        </a:rPr>
                        <a:t>Can provide efforts for the Community vision, without calculating about direct or indirect value for self.</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Tree>
    <p:extLst>
      <p:ext uri="{BB962C8B-B14F-4D97-AF65-F5344CB8AC3E}">
        <p14:creationId xmlns:p14="http://schemas.microsoft.com/office/powerpoint/2010/main" val="1080773701"/>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130F46-0203-41E4-930E-9660BC90F8DA}">
  <ds:schemaRefs>
    <ds:schemaRef ds:uri="http://purl.org/dc/elements/1.1/"/>
    <ds:schemaRef ds:uri="http://schemas.microsoft.com/office/infopath/2007/PartnerControls"/>
    <ds:schemaRef ds:uri="http://schemas.microsoft.com/office/2006/metadata/properties"/>
    <ds:schemaRef ds:uri="http://schemas.microsoft.com/office/2006/documentManagement/types"/>
    <ds:schemaRef ds:uri="http://purl.org/dc/dcmitype/"/>
    <ds:schemaRef ds:uri="ae28f11b-d4f1-47fe-837d-5da7d4fdfa8d"/>
    <ds:schemaRef ds:uri="http://schemas.openxmlformats.org/package/2006/metadata/core-properties"/>
    <ds:schemaRef ds:uri="2e054d75-df43-4e50-a610-0e7b0816d11a"/>
    <ds:schemaRef ds:uri="http://www.w3.org/XML/1998/namespace"/>
    <ds:schemaRef ds:uri="http://purl.org/dc/terms/"/>
  </ds:schemaRefs>
</ds:datastoreItem>
</file>

<file path=customXml/itemProps2.xml><?xml version="1.0" encoding="utf-8"?>
<ds:datastoreItem xmlns:ds="http://schemas.openxmlformats.org/officeDocument/2006/customXml" ds:itemID="{BF74E86D-68B9-40F6-8854-BE866BBD6597}">
  <ds:schemaRefs>
    <ds:schemaRef ds:uri="http://schemas.microsoft.com/sharepoint/v3/contenttype/forms"/>
  </ds:schemaRefs>
</ds:datastoreItem>
</file>

<file path=customXml/itemProps3.xml><?xml version="1.0" encoding="utf-8"?>
<ds:datastoreItem xmlns:ds="http://schemas.openxmlformats.org/officeDocument/2006/customXml" ds:itemID="{539E8127-264B-4AA2-80FB-D355B730A6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28f11b-d4f1-47fe-837d-5da7d4fdfa8d"/>
    <ds:schemaRef ds:uri="2e054d75-df43-4e50-a610-0e7b0816d1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4167</TotalTime>
  <Words>3885</Words>
  <Application>Microsoft Office PowerPoint</Application>
  <PresentationFormat>Widescreen</PresentationFormat>
  <Paragraphs>656</Paragraphs>
  <Slides>28</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28</vt:i4>
      </vt:variant>
    </vt:vector>
  </HeadingPairs>
  <TitlesOfParts>
    <vt:vector size="33" baseType="lpstr">
      <vt:lpstr>Arial</vt:lpstr>
      <vt:lpstr>Avenir Next LT Pro</vt:lpstr>
      <vt:lpstr>Calibri</vt:lpstr>
      <vt:lpstr>Wingdings</vt:lpstr>
      <vt:lpstr>AccentBoxVTI</vt:lpstr>
      <vt:lpstr>   W3 Engagement Level Workshop</vt:lpstr>
      <vt:lpstr>This document is an #OpenSeriousCommunity #OSC content</vt:lpstr>
      <vt:lpstr>Engagement Level workshop Expected result example </vt:lpstr>
      <vt:lpstr>Engagement Level workshop Using the result</vt:lpstr>
      <vt:lpstr>Version history</vt:lpstr>
      <vt:lpstr>Hosting engagement level workshop</vt:lpstr>
      <vt:lpstr>Engagement Level Workshop Workshop step by step</vt:lpstr>
      <vt:lpstr>Answering bias : What is shared during the workshop might not be the true engagement level</vt:lpstr>
      <vt:lpstr>Engagement Level Workshop Preparing to Host Workshop</vt:lpstr>
      <vt:lpstr>Work Assumptions</vt:lpstr>
      <vt:lpstr>Engagement Level workshop Working assumptions</vt:lpstr>
      <vt:lpstr>Engagement Level workshop Working assumptions</vt:lpstr>
      <vt:lpstr>Basic Level system</vt:lpstr>
      <vt:lpstr>Engagement Level workshop What the basic level system means</vt:lpstr>
      <vt:lpstr>Engagement Level workshop Example activities</vt:lpstr>
      <vt:lpstr>Variant with individual engagement goals</vt:lpstr>
      <vt:lpstr>Engagement Level workshop variant :  Adding GOALS for next time period </vt:lpstr>
      <vt:lpstr>Engagement Level workshop variant :  using nametags instead of portraits</vt:lpstr>
      <vt:lpstr>Additional engagement level systems</vt:lpstr>
      <vt:lpstr>Changing the level system to other dimensions Examples</vt:lpstr>
      <vt:lpstr>Choosing an engagement level system Example choices</vt:lpstr>
      <vt:lpstr>Relative Engagement Levels</vt:lpstr>
      <vt:lpstr>Another definition of engagement and relative Engagement levels</vt:lpstr>
      <vt:lpstr>Relative Engagement level scale</vt:lpstr>
      <vt:lpstr>Example of activities types corresponding to relative engagement levels</vt:lpstr>
      <vt:lpstr>Using Relative Engagement level scale in a workshop – Simple version</vt:lpstr>
      <vt:lpstr>Using Relative Engagement level scale in a workshop – Simple version</vt:lpstr>
      <vt:lpstr>Using Relative Engagement level scale in a workshop – advanced version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2023-01-24T09:46:37Z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