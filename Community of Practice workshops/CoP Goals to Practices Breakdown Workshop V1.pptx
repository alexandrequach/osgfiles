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445" r:id="rId5"/>
    <p:sldId id="1248" r:id="rId6"/>
    <p:sldId id="446" r:id="rId7"/>
    <p:sldId id="381" r:id="rId8"/>
    <p:sldId id="433" r:id="rId9"/>
    <p:sldId id="425" r:id="rId10"/>
    <p:sldId id="434" r:id="rId11"/>
    <p:sldId id="1268" r:id="rId12"/>
    <p:sldId id="1283" r:id="rId13"/>
    <p:sldId id="1277" r:id="rId14"/>
    <p:sldId id="1276" r:id="rId15"/>
    <p:sldId id="1278" r:id="rId16"/>
    <p:sldId id="1279" r:id="rId17"/>
    <p:sldId id="1308" r:id="rId18"/>
    <p:sldId id="1280" r:id="rId19"/>
    <p:sldId id="440" r:id="rId20"/>
    <p:sldId id="1270" r:id="rId21"/>
    <p:sldId id="1274" r:id="rId22"/>
    <p:sldId id="1282" r:id="rId23"/>
    <p:sldId id="1302" r:id="rId24"/>
    <p:sldId id="1303" r:id="rId25"/>
    <p:sldId id="443" r:id="rId26"/>
    <p:sldId id="373" r:id="rId27"/>
    <p:sldId id="441" r:id="rId28"/>
    <p:sldId id="388" r:id="rId29"/>
    <p:sldId id="372" r:id="rId30"/>
    <p:sldId id="1296" r:id="rId31"/>
    <p:sldId id="1309" r:id="rId32"/>
    <p:sldId id="389" r:id="rId33"/>
    <p:sldId id="390" r:id="rId34"/>
    <p:sldId id="442" r:id="rId35"/>
    <p:sldId id="377" r:id="rId36"/>
    <p:sldId id="368"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EBDC8A-7D55-4ECA-857C-27B3F18071D5}">
          <p14:sldIdLst>
            <p14:sldId id="445"/>
            <p14:sldId id="1248"/>
            <p14:sldId id="446"/>
            <p14:sldId id="381"/>
            <p14:sldId id="433"/>
            <p14:sldId id="425"/>
            <p14:sldId id="434"/>
          </p14:sldIdLst>
        </p14:section>
        <p14:section name="Step 1 : Explanation about the workshop" id="{2CEB789A-EFED-4155-9DE5-086162DED3B6}">
          <p14:sldIdLst>
            <p14:sldId id="1268"/>
            <p14:sldId id="1283"/>
            <p14:sldId id="1277"/>
            <p14:sldId id="1276"/>
            <p14:sldId id="1278"/>
            <p14:sldId id="1279"/>
            <p14:sldId id="1308"/>
            <p14:sldId id="1280"/>
          </p14:sldIdLst>
        </p14:section>
        <p14:section name="Step 2 to 5" id="{C0EEE836-DDF3-4A0F-9484-BFF724A5706D}">
          <p14:sldIdLst>
            <p14:sldId id="440"/>
            <p14:sldId id="1270"/>
            <p14:sldId id="1274"/>
            <p14:sldId id="1282"/>
            <p14:sldId id="1302"/>
            <p14:sldId id="1303"/>
          </p14:sldIdLst>
        </p14:section>
        <p14:section name="Workshop Organization" id="{FAD6C551-5091-45D3-9F26-FA52318D05C6}">
          <p14:sldIdLst>
            <p14:sldId id="443"/>
            <p14:sldId id="373"/>
          </p14:sldIdLst>
        </p14:section>
        <p14:section name="Workshop Facilitation" id="{6786EF10-DF21-40DF-837A-7F7B2A8B016B}">
          <p14:sldIdLst>
            <p14:sldId id="441"/>
            <p14:sldId id="388"/>
            <p14:sldId id="372"/>
            <p14:sldId id="1296"/>
            <p14:sldId id="1309"/>
            <p14:sldId id="389"/>
            <p14:sldId id="390"/>
          </p14:sldIdLst>
        </p14:section>
        <p14:section name="Workshop adaptation" id="{995D30F4-1662-419F-848F-75B5B86564EF}">
          <p14:sldIdLst>
            <p14:sldId id="442"/>
            <p14:sldId id="377"/>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4E63"/>
    <a:srgbClr val="8E2C48"/>
    <a:srgbClr val="FF00FF"/>
    <a:srgbClr val="E2A2B4"/>
    <a:srgbClr val="FF0000"/>
    <a:srgbClr val="34657F"/>
    <a:srgbClr val="D3E4ED"/>
    <a:srgbClr val="E5E1E7"/>
    <a:srgbClr val="CFE7DE"/>
    <a:srgbClr val="68B4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EA837-3867-4034-814F-83D6BB7C50AA}" v="226" dt="2023-05-17T18:33:25.61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Stile scuro 1 - Color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6" autoAdjust="0"/>
    <p:restoredTop sz="94660"/>
  </p:normalViewPr>
  <p:slideViewPr>
    <p:cSldViewPr snapToGrid="0">
      <p:cViewPr varScale="1">
        <p:scale>
          <a:sx n="104" d="100"/>
          <a:sy n="104" d="100"/>
        </p:scale>
        <p:origin x="80"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ata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ata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Who is it for?</a:t>
          </a:r>
          <a:br>
            <a:rPr lang="en-US" sz="1200" b="0" noProof="0" dirty="0">
              <a:latin typeface="Avenir Next LT Pro" panose="020B0504020202020204" pitchFamily="34" charset="0"/>
            </a:rPr>
          </a:br>
          <a:endParaRPr lang="en-US" sz="1200" b="0" noProof="0" dirty="0">
            <a:latin typeface="Avenir Next LT Pro" panose="020B0504020202020204" pitchFamily="34" charset="0"/>
          </a:endParaRPr>
        </a:p>
        <a:p>
          <a:r>
            <a:rPr lang="en-US" sz="1200" b="0" noProof="0" dirty="0">
              <a:latin typeface="Avenir Next LT Pro" panose="020B0504020202020204" pitchFamily="34" charset="0"/>
            </a:rPr>
            <a:t>Communities of Practice (CoP) members who decide of what to do in the CoP</a:t>
          </a:r>
          <a:br>
            <a:rPr lang="en-US" sz="1200" b="0" noProof="0" dirty="0">
              <a:latin typeface="Avenir Next LT Pro" panose="020B0504020202020204" pitchFamily="34" charset="0"/>
            </a:rPr>
          </a:br>
          <a:endParaRPr lang="en-US" sz="1200" b="0" noProof="0" dirty="0">
            <a:solidFill>
              <a:srgbClr val="5C4E63"/>
            </a:solidFill>
            <a:latin typeface="Avenir Next LT Pro" panose="020B0504020202020204" pitchFamily="34" charset="0"/>
          </a:endParaRPr>
        </a:p>
      </dgm:t>
    </dgm:pt>
    <dgm:pt modelId="{116B4F7C-D509-4D94-8573-2C210DC9A8FE}" type="parTrans" cxnId="{216AEAAF-D4F8-4458-975E-7A17D13791F2}">
      <dgm:prSet/>
      <dgm:spPr/>
      <dgm:t>
        <a:bodyPr/>
        <a:lstStyle/>
        <a:p>
          <a:endParaRPr lang="fr-FR"/>
        </a:p>
      </dgm:t>
    </dgm:pt>
    <dgm:pt modelId="{CB846919-D07B-42ED-BA6B-F923ACFCB2FA}" type="sibTrans" cxnId="{216AEAAF-D4F8-4458-975E-7A17D13791F2}">
      <dgm:prSet/>
      <dgm:spPr/>
      <dgm:t>
        <a:bodyPr/>
        <a:lstStyle/>
        <a:p>
          <a:endParaRPr lang="fr-FR"/>
        </a:p>
      </dgm:t>
    </dgm:pt>
    <dgm:pt modelId="{AECDB24C-F157-4650-8D5A-4467846CF234}">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For which situations ?</a:t>
          </a:r>
          <a:endParaRPr lang="en-US" sz="1200" noProof="0" dirty="0">
            <a:latin typeface="Avenir Next LT Pro" panose="020B0504020202020204" pitchFamily="34" charset="0"/>
          </a:endParaRPr>
        </a:p>
        <a:p>
          <a:r>
            <a:rPr lang="en-US" sz="1200" noProof="0" dirty="0">
              <a:latin typeface="Avenir Next LT Pro" panose="020B0504020202020204" pitchFamily="34" charset="0"/>
            </a:rPr>
            <a:t>Situation 1 : CoP has listed a certain number of goals and wants to know what to do with practices about these goals</a:t>
          </a:r>
          <a:br>
            <a:rPr lang="en-US" sz="1200" noProof="0" dirty="0">
              <a:latin typeface="Avenir Next LT Pro" panose="020B0504020202020204" pitchFamily="34" charset="0"/>
            </a:rPr>
          </a:br>
          <a:endParaRPr lang="en-US" sz="1200" noProof="0" dirty="0">
            <a:latin typeface="Avenir Next LT Pro" panose="020B0504020202020204" pitchFamily="34" charset="0"/>
          </a:endParaRPr>
        </a:p>
        <a:p>
          <a:r>
            <a:rPr lang="en-US" sz="1200" noProof="0" dirty="0">
              <a:latin typeface="Avenir Next LT Pro" panose="020B0504020202020204" pitchFamily="34" charset="0"/>
            </a:rPr>
            <a:t>Situation 2 : CoP wants to define its activities</a:t>
          </a:r>
        </a:p>
      </dgm:t>
    </dgm:pt>
    <dgm:pt modelId="{CE913761-3F89-4A72-B6BB-F997C9EA3CEB}" type="parTrans" cxnId="{9C27FF33-91EA-4A07-B163-182CE56AD4D3}">
      <dgm:prSet/>
      <dgm:spPr/>
      <dgm:t>
        <a:bodyPr/>
        <a:lstStyle/>
        <a:p>
          <a:endParaRPr lang="fr-FR"/>
        </a:p>
      </dgm:t>
    </dgm:pt>
    <dgm:pt modelId="{F6FB4777-91AE-4058-8848-58D63B5ABB77}" type="sibTrans" cxnId="{9C27FF33-91EA-4A07-B163-182CE56AD4D3}">
      <dgm:prSet/>
      <dgm:spPr/>
      <dgm:t>
        <a:bodyPr/>
        <a:lstStyle/>
        <a:p>
          <a:endParaRPr lang="fr-FR"/>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2" custLinFactNeighborX="-1760" custLinFactNeighborY="1017">
        <dgm:presLayoutVars>
          <dgm:bulletEnabled val="1"/>
        </dgm:presLayoutVars>
      </dgm:prSet>
      <dgm:spPr/>
    </dgm:pt>
    <dgm:pt modelId="{70B380C1-3F1E-4D87-A304-E8A09875C035}" type="pres">
      <dgm:prSet presAssocID="{BA4E070F-ADC8-4CDC-94E4-64A273672FFB}" presName="invisiNode" presStyleLbl="node1" presStyleIdx="0" presStyleCnt="2"/>
      <dgm:spPr/>
    </dgm:pt>
    <dgm:pt modelId="{7A673366-D108-41D1-A757-E6F328FCC9C9}" type="pres">
      <dgm:prSet presAssocID="{BA4E070F-ADC8-4CDC-94E4-64A273672FFB}" presName="imagNode" presStyleLbl="fgImgPlace1" presStyleIdx="0" presStyleCnt="2"/>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7000" b="-7000"/>
          </a:stretch>
        </a:blipFill>
        <a:ln>
          <a:solidFill>
            <a:srgbClr val="8E2C48"/>
          </a:solidFill>
        </a:ln>
      </dgm:spPr>
      <dgm:extLst>
        <a:ext uri="{E40237B7-FDA0-4F09-8148-C483321AD2D9}">
          <dgm14:cNvPr xmlns:dgm14="http://schemas.microsoft.com/office/drawing/2010/diagram" id="0" name="" descr="Public cible avec un remplissage uni"/>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2">
        <dgm:presLayoutVars>
          <dgm:bulletEnabled val="1"/>
        </dgm:presLayoutVars>
      </dgm:prSet>
      <dgm:spPr/>
    </dgm:pt>
    <dgm:pt modelId="{AB667848-74F5-4172-A294-3336CF909320}" type="pres">
      <dgm:prSet presAssocID="{AECDB24C-F157-4650-8D5A-4467846CF234}" presName="invisiNode" presStyleLbl="node1" presStyleIdx="1" presStyleCnt="2"/>
      <dgm:spPr/>
    </dgm:pt>
    <dgm:pt modelId="{848092CF-B9E2-4851-AA8D-7B70D879A555}" type="pres">
      <dgm:prSet presAssocID="{AECDB24C-F157-4650-8D5A-4467846CF234}" presName="imagNode" presStyleLbl="fgImgPlace1" presStyleIdx="1" presStyleCnt="2"/>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7000" b="-7000"/>
          </a:stretch>
        </a:blipFill>
        <a:ln>
          <a:solidFill>
            <a:srgbClr val="8E2C48"/>
          </a:solidFill>
        </a:ln>
      </dgm:spPr>
      <dgm:extLst>
        <a:ext uri="{E40237B7-FDA0-4F09-8148-C483321AD2D9}">
          <dgm14:cNvPr xmlns:dgm14="http://schemas.microsoft.com/office/drawing/2010/diagram" id="0" name="" descr="Point d’interrogation avec un remplissage uni"/>
        </a:ext>
      </dgm:extLst>
    </dgm:pt>
  </dgm:ptLst>
  <dgm:cxnLst>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200" b="1" noProof="0">
              <a:solidFill>
                <a:srgbClr val="8E2C48"/>
              </a:solidFill>
              <a:latin typeface="Avenir Next LT Pro" panose="020B0504020202020204" pitchFamily="34" charset="0"/>
            </a:rPr>
            <a:t>1. Goal and explanation of the workshop</a:t>
          </a:r>
          <a:br>
            <a:rPr lang="en-US" sz="1200" noProof="0">
              <a:latin typeface="Avenir Next LT Pro" panose="020B0504020202020204" pitchFamily="34" charset="0"/>
            </a:rPr>
          </a:br>
          <a:br>
            <a:rPr lang="en-US" sz="1200" noProof="0">
              <a:latin typeface="Avenir Next LT Pro" panose="020B0504020202020204" pitchFamily="34" charset="0"/>
            </a:rPr>
          </a:br>
          <a:r>
            <a:rPr lang="en-US" sz="1200" noProof="0">
              <a:latin typeface="Avenir Next LT Pro" panose="020B0504020202020204" pitchFamily="34" charset="0"/>
            </a:rPr>
            <a:t>Explain why this workshop in the Community of practice (show the problem, the cause, and the workshop)</a:t>
          </a:r>
          <a:endParaRPr lang="en-US" sz="1200" noProof="0">
            <a:solidFill>
              <a:srgbClr val="5C4E63"/>
            </a:solidFill>
            <a:latin typeface="Avenir Next LT Pro" panose="020B0504020202020204" pitchFamily="34" charset="0"/>
          </a:endParaRPr>
        </a:p>
      </dgm:t>
    </dgm:pt>
    <dgm:pt modelId="{116B4F7C-D509-4D94-8573-2C210DC9A8FE}" type="parTrans" cxnId="{216AEAAF-D4F8-4458-975E-7A17D13791F2}">
      <dgm:prSet/>
      <dgm:spPr/>
      <dgm:t>
        <a:bodyPr/>
        <a:lstStyle/>
        <a:p>
          <a:endParaRPr lang="fr-FR" sz="1600"/>
        </a:p>
      </dgm:t>
    </dgm:pt>
    <dgm:pt modelId="{CB846919-D07B-42ED-BA6B-F923ACFCB2FA}" type="sibTrans" cxnId="{216AEAAF-D4F8-4458-975E-7A17D13791F2}">
      <dgm:prSet/>
      <dgm:spPr/>
      <dgm:t>
        <a:bodyPr/>
        <a:lstStyle/>
        <a:p>
          <a:endParaRPr lang="fr-FR" sz="1600"/>
        </a:p>
      </dgm:t>
    </dgm:pt>
    <dgm:pt modelId="{AECDB24C-F157-4650-8D5A-4467846CF234}">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2. Prioritize list of goals (members)</a:t>
          </a:r>
        </a:p>
        <a:p>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From all the members’ goals of the Community of practice, select the most important from which to extract practices</a:t>
          </a:r>
        </a:p>
      </dgm:t>
    </dgm:pt>
    <dgm:pt modelId="{CE913761-3F89-4A72-B6BB-F997C9EA3CEB}" type="parTrans" cxnId="{9C27FF33-91EA-4A07-B163-182CE56AD4D3}">
      <dgm:prSet/>
      <dgm:spPr/>
      <dgm:t>
        <a:bodyPr/>
        <a:lstStyle/>
        <a:p>
          <a:endParaRPr lang="fr-FR" sz="1600"/>
        </a:p>
      </dgm:t>
    </dgm:pt>
    <dgm:pt modelId="{F6FB4777-91AE-4058-8848-58D63B5ABB77}" type="sibTrans" cxnId="{9C27FF33-91EA-4A07-B163-182CE56AD4D3}">
      <dgm:prSet/>
      <dgm:spPr/>
      <dgm:t>
        <a:bodyPr/>
        <a:lstStyle/>
        <a:p>
          <a:endParaRPr lang="fr-FR" sz="1600"/>
        </a:p>
      </dgm:t>
    </dgm:pt>
    <dgm:pt modelId="{FA3A7637-6A57-4EAF-BABC-7AB0B5C0195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3. For the top goal, write down practices </a:t>
          </a:r>
        </a:p>
        <a:p>
          <a:endParaRPr lang="en-US" sz="1200" noProof="0" dirty="0">
            <a:solidFill>
              <a:srgbClr val="5C4E63"/>
            </a:solidFill>
            <a:latin typeface="Avenir Next LT Pro" panose="020B0504020202020204" pitchFamily="34" charset="0"/>
          </a:endParaRPr>
        </a:p>
        <a:p>
          <a:r>
            <a:rPr lang="en-US" sz="1200" noProof="0" dirty="0">
              <a:solidFill>
                <a:srgbClr val="5C4E63"/>
              </a:solidFill>
              <a:latin typeface="Avenir Next LT Pro" panose="020B0504020202020204" pitchFamily="34" charset="0"/>
            </a:rPr>
            <a:t>Members write down what they usually do for this goal</a:t>
          </a:r>
        </a:p>
      </dgm:t>
    </dgm:pt>
    <dgm:pt modelId="{E56E7D95-ACCA-44FA-9366-868AF1351F46}" type="parTrans" cxnId="{473E9909-F329-42F8-8D61-1F0E5C7CAB7A}">
      <dgm:prSet/>
      <dgm:spPr/>
      <dgm:t>
        <a:bodyPr/>
        <a:lstStyle/>
        <a:p>
          <a:endParaRPr lang="fr-FR" sz="1600"/>
        </a:p>
      </dgm:t>
    </dgm:pt>
    <dgm:pt modelId="{14AFA1AD-3C87-4A0B-BA83-4D8A673F5F60}" type="sibTrans" cxnId="{473E9909-F329-42F8-8D61-1F0E5C7CAB7A}">
      <dgm:prSet/>
      <dgm:spPr/>
      <dgm:t>
        <a:bodyPr/>
        <a:lstStyle/>
        <a:p>
          <a:endParaRPr lang="fr-FR" sz="1600"/>
        </a:p>
      </dgm:t>
    </dgm:pt>
    <dgm:pt modelId="{5CED16B4-8BD6-4B93-B03B-1706D8374EA2}">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5. Define what to do with the practices</a:t>
          </a:r>
        </a:p>
        <a:p>
          <a:endParaRPr lang="en-US" sz="1200" b="1" noProof="0" dirty="0">
            <a:solidFill>
              <a:srgbClr val="8E2C48"/>
            </a:solidFill>
            <a:latin typeface="Avenir Next LT Pro" panose="020B0504020202020204" pitchFamily="34" charset="0"/>
          </a:endParaRPr>
        </a:p>
        <a:p>
          <a:r>
            <a:rPr lang="en-US" sz="1200" b="0" noProof="0" dirty="0">
              <a:solidFill>
                <a:srgbClr val="5C4E63"/>
              </a:solidFill>
              <a:latin typeface="Avenir Next LT Pro" panose="020B0504020202020204" pitchFamily="34" charset="0"/>
            </a:rPr>
            <a:t>Starting with zone of your choice in the Practices Mastery Transposability Matrix (PMTM), decide what activities you will do for your listed practices</a:t>
          </a:r>
        </a:p>
      </dgm:t>
    </dgm:pt>
    <dgm:pt modelId="{C78C62B4-CABE-495A-A30E-9637BC9EAC89}" type="parTrans" cxnId="{EDCAB84A-CCA5-43A2-A243-3C4F07132276}">
      <dgm:prSet/>
      <dgm:spPr/>
      <dgm:t>
        <a:bodyPr/>
        <a:lstStyle/>
        <a:p>
          <a:endParaRPr lang="en-US"/>
        </a:p>
      </dgm:t>
    </dgm:pt>
    <dgm:pt modelId="{E9E15B78-A12F-45E5-ADE3-5B0BCC74E07F}" type="sibTrans" cxnId="{EDCAB84A-CCA5-43A2-A243-3C4F07132276}">
      <dgm:prSet/>
      <dgm:spPr/>
      <dgm:t>
        <a:bodyPr/>
        <a:lstStyle/>
        <a:p>
          <a:endParaRPr lang="en-US"/>
        </a:p>
      </dgm:t>
    </dgm:pt>
    <dgm:pt modelId="{494A770C-1BA7-4000-89E2-343295983990}">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4. Qualify practices</a:t>
          </a:r>
        </a:p>
        <a:p>
          <a:endParaRPr lang="en-US" sz="1200" b="1" noProof="0" dirty="0">
            <a:solidFill>
              <a:srgbClr val="8E2C48"/>
            </a:solidFill>
            <a:latin typeface="Avenir Next LT Pro" panose="020B0504020202020204" pitchFamily="34" charset="0"/>
          </a:endParaRPr>
        </a:p>
        <a:p>
          <a:r>
            <a:rPr lang="en-US" sz="1200" noProof="0" dirty="0">
              <a:solidFill>
                <a:srgbClr val="5C4E63"/>
              </a:solidFill>
              <a:latin typeface="Avenir Next LT Pro" panose="020B0504020202020204" pitchFamily="34" charset="0"/>
            </a:rPr>
            <a:t>For each practice, position them in the Practices Mastery-Transposability Matrix (PMTM)</a:t>
          </a:r>
        </a:p>
      </dgm:t>
    </dgm:pt>
    <dgm:pt modelId="{7B2DBB13-B8C0-4B61-8097-5CA48317B681}" type="parTrans" cxnId="{6EEB0F09-9234-495F-B1A9-61E230AB6047}">
      <dgm:prSet/>
      <dgm:spPr/>
      <dgm:t>
        <a:bodyPr/>
        <a:lstStyle/>
        <a:p>
          <a:endParaRPr lang="en-US"/>
        </a:p>
      </dgm:t>
    </dgm:pt>
    <dgm:pt modelId="{7BD43D13-6404-4A31-AC43-742FA6016223}" type="sibTrans" cxnId="{6EEB0F09-9234-495F-B1A9-61E230AB6047}">
      <dgm:prSet/>
      <dgm:spPr/>
      <dgm:t>
        <a:bodyPr/>
        <a:lstStyle/>
        <a:p>
          <a:endParaRPr lang="en-US"/>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5">
        <dgm:presLayoutVars>
          <dgm:bulletEnabled val="1"/>
        </dgm:presLayoutVars>
      </dgm:prSet>
      <dgm:spPr/>
    </dgm:pt>
    <dgm:pt modelId="{70B380C1-3F1E-4D87-A304-E8A09875C035}" type="pres">
      <dgm:prSet presAssocID="{BA4E070F-ADC8-4CDC-94E4-64A273672FFB}" presName="invisiNode" presStyleLbl="node1" presStyleIdx="0" presStyleCnt="5"/>
      <dgm:spPr/>
    </dgm:pt>
    <dgm:pt modelId="{7A673366-D108-41D1-A757-E6F328FCC9C9}" type="pres">
      <dgm:prSet presAssocID="{BA4E070F-ADC8-4CDC-94E4-64A273672FFB}" presName="imagNode" presStyleLbl="fgImgPlac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l="-10000" r="-10000"/>
          </a:stretch>
        </a:blipFill>
        <a:ln>
          <a:solidFill>
            <a:srgbClr val="8E2C48"/>
          </a:solidFill>
        </a:ln>
      </dgm:spPr>
      <dgm:extLst>
        <a:ext uri="{E40237B7-FDA0-4F09-8148-C483321AD2D9}">
          <dgm14:cNvPr xmlns:dgm14="http://schemas.microsoft.com/office/drawing/2010/diagram" id="0" name="" descr="Tiro a segno con riempimento a tinta unita"/>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5">
        <dgm:presLayoutVars>
          <dgm:bulletEnabled val="1"/>
        </dgm:presLayoutVars>
      </dgm:prSet>
      <dgm:spPr/>
    </dgm:pt>
    <dgm:pt modelId="{AB667848-74F5-4172-A294-3336CF909320}" type="pres">
      <dgm:prSet presAssocID="{AECDB24C-F157-4650-8D5A-4467846CF234}" presName="invisiNode" presStyleLbl="node1" presStyleIdx="1" presStyleCnt="5"/>
      <dgm:spPr/>
    </dgm:pt>
    <dgm:pt modelId="{848092CF-B9E2-4851-AA8D-7B70D879A555}" type="pres">
      <dgm:prSet presAssocID="{AECDB24C-F157-4650-8D5A-4467846CF234}" presName="imagNode" presStyleLbl="fgImgPlac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l="-10000" r="-10000"/>
          </a:stretch>
        </a:blipFill>
        <a:ln>
          <a:solidFill>
            <a:srgbClr val="8E2C48"/>
          </a:solidFill>
        </a:ln>
      </dgm:spPr>
      <dgm:extLst>
        <a:ext uri="{E40237B7-FDA0-4F09-8148-C483321AD2D9}">
          <dgm14:cNvPr xmlns:dgm14="http://schemas.microsoft.com/office/drawing/2010/diagram" id="0" name="" descr="Priorità con riempimento a tinta unita"/>
        </a:ext>
      </dgm:extLst>
    </dgm:pt>
    <dgm:pt modelId="{3FE769C7-ECEB-4F66-96F0-0B232AD5F92A}" type="pres">
      <dgm:prSet presAssocID="{F6FB4777-91AE-4058-8848-58D63B5ABB77}" presName="sibTrans" presStyleLbl="sibTrans2D1" presStyleIdx="0" presStyleCnt="0"/>
      <dgm:spPr/>
    </dgm:pt>
    <dgm:pt modelId="{C32F7D5E-7B8F-43CA-811F-D06B71790359}" type="pres">
      <dgm:prSet presAssocID="{FA3A7637-6A57-4EAF-BABC-7AB0B5C0195B}" presName="compNode" presStyleCnt="0"/>
      <dgm:spPr/>
    </dgm:pt>
    <dgm:pt modelId="{F677139D-3035-490A-997C-154D3529BFB7}" type="pres">
      <dgm:prSet presAssocID="{FA3A7637-6A57-4EAF-BABC-7AB0B5C0195B}" presName="node" presStyleLbl="node1" presStyleIdx="2" presStyleCnt="5">
        <dgm:presLayoutVars>
          <dgm:bulletEnabled val="1"/>
        </dgm:presLayoutVars>
      </dgm:prSet>
      <dgm:spPr/>
    </dgm:pt>
    <dgm:pt modelId="{ABCBF581-7353-40DE-B971-E616C2F8E53C}" type="pres">
      <dgm:prSet presAssocID="{FA3A7637-6A57-4EAF-BABC-7AB0B5C0195B}" presName="invisiNode" presStyleLbl="node1" presStyleIdx="2" presStyleCnt="5"/>
      <dgm:spPr/>
    </dgm:pt>
    <dgm:pt modelId="{B7183DFA-5031-4E8E-8D73-48543D88745F}" type="pres">
      <dgm:prSet presAssocID="{FA3A7637-6A57-4EAF-BABC-7AB0B5C0195B}" presName="imagNode" presStyleLbl="fgImgPlac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l="-10000" r="-10000"/>
          </a:stretch>
        </a:blipFill>
        <a:ln>
          <a:solidFill>
            <a:srgbClr val="8E2C48"/>
          </a:solidFill>
        </a:ln>
      </dgm:spPr>
      <dgm:extLst>
        <a:ext uri="{E40237B7-FDA0-4F09-8148-C483321AD2D9}">
          <dgm14:cNvPr xmlns:dgm14="http://schemas.microsoft.com/office/drawing/2010/diagram" id="0" name="" descr="Badge Tick1 con riempimento a tinta unita"/>
        </a:ext>
      </dgm:extLst>
    </dgm:pt>
    <dgm:pt modelId="{0E68894F-FC80-4761-A819-C68D5C975CFF}" type="pres">
      <dgm:prSet presAssocID="{14AFA1AD-3C87-4A0B-BA83-4D8A673F5F60}" presName="sibTrans" presStyleLbl="sibTrans2D1" presStyleIdx="0" presStyleCnt="0"/>
      <dgm:spPr/>
    </dgm:pt>
    <dgm:pt modelId="{AAD6240A-9314-45FC-AA66-2AEB49E337B0}" type="pres">
      <dgm:prSet presAssocID="{494A770C-1BA7-4000-89E2-343295983990}" presName="compNode" presStyleCnt="0"/>
      <dgm:spPr/>
    </dgm:pt>
    <dgm:pt modelId="{553F8B35-0D0B-43F4-B0ED-3CCE7C30D792}" type="pres">
      <dgm:prSet presAssocID="{494A770C-1BA7-4000-89E2-343295983990}" presName="node" presStyleLbl="node1" presStyleIdx="3" presStyleCnt="5">
        <dgm:presLayoutVars>
          <dgm:bulletEnabled val="1"/>
        </dgm:presLayoutVars>
      </dgm:prSet>
      <dgm:spPr/>
    </dgm:pt>
    <dgm:pt modelId="{93EFCD25-BA62-4A69-BD2D-25AEA7CA43A2}" type="pres">
      <dgm:prSet presAssocID="{494A770C-1BA7-4000-89E2-343295983990}" presName="invisiNode" presStyleLbl="node1" presStyleIdx="3" presStyleCnt="5"/>
      <dgm:spPr/>
    </dgm:pt>
    <dgm:pt modelId="{91E4E427-BF6D-4E74-8618-4E46287FCF25}" type="pres">
      <dgm:prSet presAssocID="{494A770C-1BA7-4000-89E2-343295983990}" presName="imagNode" presStyleLbl="fgImgPlac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a:fillRect l="-10000" r="-10000"/>
          </a:stretch>
        </a:blipFill>
      </dgm:spPr>
      <dgm:extLst>
        <a:ext uri="{E40237B7-FDA0-4F09-8148-C483321AD2D9}">
          <dgm14:cNvPr xmlns:dgm14="http://schemas.microsoft.com/office/drawing/2010/diagram" id="0" name="" descr="Frecce a zig zag con riempimento a tinta unita"/>
        </a:ext>
      </dgm:extLst>
    </dgm:pt>
    <dgm:pt modelId="{EF79C2F7-466F-40B9-A18F-A1A4655CA004}" type="pres">
      <dgm:prSet presAssocID="{7BD43D13-6404-4A31-AC43-742FA6016223}" presName="sibTrans" presStyleLbl="sibTrans2D1" presStyleIdx="0" presStyleCnt="0"/>
      <dgm:spPr/>
    </dgm:pt>
    <dgm:pt modelId="{D235A257-BD39-4378-91C8-B0AEB82F6A96}" type="pres">
      <dgm:prSet presAssocID="{5CED16B4-8BD6-4B93-B03B-1706D8374EA2}" presName="compNode" presStyleCnt="0"/>
      <dgm:spPr/>
    </dgm:pt>
    <dgm:pt modelId="{2DB5A598-CD8D-4063-83BE-4AE9AF9BC492}" type="pres">
      <dgm:prSet presAssocID="{5CED16B4-8BD6-4B93-B03B-1706D8374EA2}" presName="node" presStyleLbl="node1" presStyleIdx="4" presStyleCnt="5">
        <dgm:presLayoutVars>
          <dgm:bulletEnabled val="1"/>
        </dgm:presLayoutVars>
      </dgm:prSet>
      <dgm:spPr/>
    </dgm:pt>
    <dgm:pt modelId="{CD5CE032-E5F6-469E-9A56-E1BA02114A61}" type="pres">
      <dgm:prSet presAssocID="{5CED16B4-8BD6-4B93-B03B-1706D8374EA2}" presName="invisiNode" presStyleLbl="node1" presStyleIdx="4" presStyleCnt="5"/>
      <dgm:spPr/>
    </dgm:pt>
    <dgm:pt modelId="{464126BA-8911-40E0-BCE1-A77EED53B330}" type="pres">
      <dgm:prSet presAssocID="{5CED16B4-8BD6-4B93-B03B-1706D8374EA2}" presName="imagNode" presStyleLbl="fgImgPlac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l="-10000" r="-10000"/>
          </a:stretch>
        </a:blipFill>
      </dgm:spPr>
      <dgm:extLst>
        <a:ext uri="{E40237B7-FDA0-4F09-8148-C483321AD2D9}">
          <dgm14:cNvPr xmlns:dgm14="http://schemas.microsoft.com/office/drawing/2010/diagram" id="0" name="" descr="Diagramma di Gantt con riempimento a tinta unita"/>
        </a:ext>
      </dgm:extLst>
    </dgm:pt>
  </dgm:ptLst>
  <dgm:cxnLst>
    <dgm:cxn modelId="{C058E907-2B9C-4B72-8F8E-A9C3CCBABEF0}" type="presOf" srcId="{FA3A7637-6A57-4EAF-BABC-7AB0B5C0195B}" destId="{F677139D-3035-490A-997C-154D3529BFB7}" srcOrd="0" destOrd="0" presId="urn:microsoft.com/office/officeart/2005/8/layout/pList2"/>
    <dgm:cxn modelId="{6EEB0F09-9234-495F-B1A9-61E230AB6047}" srcId="{6A92B643-4AC5-407B-8868-99ED8AD206C1}" destId="{494A770C-1BA7-4000-89E2-343295983990}" srcOrd="3" destOrd="0" parTransId="{7B2DBB13-B8C0-4B61-8097-5CA48317B681}" sibTransId="{7BD43D13-6404-4A31-AC43-742FA6016223}"/>
    <dgm:cxn modelId="{473E9909-F329-42F8-8D61-1F0E5C7CAB7A}" srcId="{6A92B643-4AC5-407B-8868-99ED8AD206C1}" destId="{FA3A7637-6A57-4EAF-BABC-7AB0B5C0195B}" srcOrd="2" destOrd="0" parTransId="{E56E7D95-ACCA-44FA-9366-868AF1351F46}" sibTransId="{14AFA1AD-3C87-4A0B-BA83-4D8A673F5F60}"/>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5B8F6C21-52AA-4F03-86EE-2E94A2847C30}" type="presOf" srcId="{7BD43D13-6404-4A31-AC43-742FA6016223}" destId="{EF79C2F7-466F-40B9-A18F-A1A4655CA004}" srcOrd="0" destOrd="0" presId="urn:microsoft.com/office/officeart/2005/8/layout/pList2"/>
    <dgm:cxn modelId="{FCBE142E-1D92-4725-99CF-306A45E42819}" type="presOf" srcId="{14AFA1AD-3C87-4A0B-BA83-4D8A673F5F60}" destId="{0E68894F-FC80-4761-A819-C68D5C975CFF}"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EDCAB84A-CCA5-43A2-A243-3C4F07132276}" srcId="{6A92B643-4AC5-407B-8868-99ED8AD206C1}" destId="{5CED16B4-8BD6-4B93-B03B-1706D8374EA2}" srcOrd="4" destOrd="0" parTransId="{C78C62B4-CABE-495A-A30E-9637BC9EAC89}" sibTransId="{E9E15B78-A12F-45E5-ADE3-5B0BCC74E07F}"/>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DB6593D2-7A4E-4B6E-8367-EA687E4BF9E7}" type="presOf" srcId="{494A770C-1BA7-4000-89E2-343295983990}" destId="{553F8B35-0D0B-43F4-B0ED-3CCE7C30D792}" srcOrd="0" destOrd="0" presId="urn:microsoft.com/office/officeart/2005/8/layout/pList2"/>
    <dgm:cxn modelId="{9B8956E9-E207-4970-A500-F9CDBCE0841D}" type="presOf" srcId="{BA4E070F-ADC8-4CDC-94E4-64A273672FFB}" destId="{898961E9-ECB2-4197-BB94-E0A27D372B88}" srcOrd="0" destOrd="0" presId="urn:microsoft.com/office/officeart/2005/8/layout/pList2"/>
    <dgm:cxn modelId="{D8C927EB-7B6D-47DD-85CF-2DD3DCDB20F7}" type="presOf" srcId="{F6FB4777-91AE-4058-8848-58D63B5ABB77}" destId="{3FE769C7-ECEB-4F66-96F0-0B232AD5F92A}" srcOrd="0" destOrd="0" presId="urn:microsoft.com/office/officeart/2005/8/layout/pList2"/>
    <dgm:cxn modelId="{420FDAF5-EC0E-43E8-A177-431A674A9D49}" type="presOf" srcId="{5CED16B4-8BD6-4B93-B03B-1706D8374EA2}" destId="{2DB5A598-CD8D-4063-83BE-4AE9AF9BC492}"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 modelId="{1BADA813-2B2A-4D20-AC33-686380D1EB31}" type="presParOf" srcId="{9CCB972E-2C08-4452-8C14-248BA6A100B2}" destId="{3FE769C7-ECEB-4F66-96F0-0B232AD5F92A}" srcOrd="3" destOrd="0" presId="urn:microsoft.com/office/officeart/2005/8/layout/pList2"/>
    <dgm:cxn modelId="{35FB2C2A-0399-44FD-8A22-D873F98F067C}" type="presParOf" srcId="{9CCB972E-2C08-4452-8C14-248BA6A100B2}" destId="{C32F7D5E-7B8F-43CA-811F-D06B71790359}" srcOrd="4" destOrd="0" presId="urn:microsoft.com/office/officeart/2005/8/layout/pList2"/>
    <dgm:cxn modelId="{618EB790-52B8-444C-B07C-F817A8EEE8E3}" type="presParOf" srcId="{C32F7D5E-7B8F-43CA-811F-D06B71790359}" destId="{F677139D-3035-490A-997C-154D3529BFB7}" srcOrd="0" destOrd="0" presId="urn:microsoft.com/office/officeart/2005/8/layout/pList2"/>
    <dgm:cxn modelId="{A99B0247-A4BD-4E84-B535-FDF5C54A3838}" type="presParOf" srcId="{C32F7D5E-7B8F-43CA-811F-D06B71790359}" destId="{ABCBF581-7353-40DE-B971-E616C2F8E53C}" srcOrd="1" destOrd="0" presId="urn:microsoft.com/office/officeart/2005/8/layout/pList2"/>
    <dgm:cxn modelId="{1504FBCB-3BEF-49D5-9207-AC5AA674219D}" type="presParOf" srcId="{C32F7D5E-7B8F-43CA-811F-D06B71790359}" destId="{B7183DFA-5031-4E8E-8D73-48543D88745F}" srcOrd="2" destOrd="0" presId="urn:microsoft.com/office/officeart/2005/8/layout/pList2"/>
    <dgm:cxn modelId="{718E5299-C27A-4EA3-8D71-6FA6ED54CFFF}" type="presParOf" srcId="{9CCB972E-2C08-4452-8C14-248BA6A100B2}" destId="{0E68894F-FC80-4761-A819-C68D5C975CFF}" srcOrd="5" destOrd="0" presId="urn:microsoft.com/office/officeart/2005/8/layout/pList2"/>
    <dgm:cxn modelId="{A87C4CB0-7109-41AB-A741-C9679392C05C}" type="presParOf" srcId="{9CCB972E-2C08-4452-8C14-248BA6A100B2}" destId="{AAD6240A-9314-45FC-AA66-2AEB49E337B0}" srcOrd="6" destOrd="0" presId="urn:microsoft.com/office/officeart/2005/8/layout/pList2"/>
    <dgm:cxn modelId="{73289804-9BE4-49FF-A495-7305368A259A}" type="presParOf" srcId="{AAD6240A-9314-45FC-AA66-2AEB49E337B0}" destId="{553F8B35-0D0B-43F4-B0ED-3CCE7C30D792}" srcOrd="0" destOrd="0" presId="urn:microsoft.com/office/officeart/2005/8/layout/pList2"/>
    <dgm:cxn modelId="{16831287-77C8-4077-A6A8-8185E54C121B}" type="presParOf" srcId="{AAD6240A-9314-45FC-AA66-2AEB49E337B0}" destId="{93EFCD25-BA62-4A69-BD2D-25AEA7CA43A2}" srcOrd="1" destOrd="0" presId="urn:microsoft.com/office/officeart/2005/8/layout/pList2"/>
    <dgm:cxn modelId="{1FF78E0F-651C-44E3-8F12-9F05B644BB7B}" type="presParOf" srcId="{AAD6240A-9314-45FC-AA66-2AEB49E337B0}" destId="{91E4E427-BF6D-4E74-8618-4E46287FCF25}" srcOrd="2" destOrd="0" presId="urn:microsoft.com/office/officeart/2005/8/layout/pList2"/>
    <dgm:cxn modelId="{49F86E2B-41C2-4117-BAAB-5C568BA990CC}" type="presParOf" srcId="{9CCB972E-2C08-4452-8C14-248BA6A100B2}" destId="{EF79C2F7-466F-40B9-A18F-A1A4655CA004}" srcOrd="7" destOrd="0" presId="urn:microsoft.com/office/officeart/2005/8/layout/pList2"/>
    <dgm:cxn modelId="{A21E7306-2236-4F27-BA25-6B357512E76B}" type="presParOf" srcId="{9CCB972E-2C08-4452-8C14-248BA6A100B2}" destId="{D235A257-BD39-4378-91C8-B0AEB82F6A96}" srcOrd="8" destOrd="0" presId="urn:microsoft.com/office/officeart/2005/8/layout/pList2"/>
    <dgm:cxn modelId="{4F8F6493-1918-4E18-928B-D224672BA2C5}" type="presParOf" srcId="{D235A257-BD39-4378-91C8-B0AEB82F6A96}" destId="{2DB5A598-CD8D-4063-83BE-4AE9AF9BC492}" srcOrd="0" destOrd="0" presId="urn:microsoft.com/office/officeart/2005/8/layout/pList2"/>
    <dgm:cxn modelId="{2081E055-806D-4435-B400-ADAADA111D92}" type="presParOf" srcId="{D235A257-BD39-4378-91C8-B0AEB82F6A96}" destId="{CD5CE032-E5F6-469E-9A56-E1BA02114A61}" srcOrd="1" destOrd="0" presId="urn:microsoft.com/office/officeart/2005/8/layout/pList2"/>
    <dgm:cxn modelId="{0E3B36A2-53DD-465E-90B6-ADA5BAE1A6AA}" type="presParOf" srcId="{D235A257-BD39-4378-91C8-B0AEB82F6A96}" destId="{464126BA-8911-40E0-BCE1-A77EED53B330}"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Location</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Physical or remote (prepare a virtual wall and a discussion room if in remote) </a:t>
          </a:r>
        </a:p>
      </dgm:t>
    </dgm:pt>
    <dgm:pt modelId="{116B4F7C-D509-4D94-8573-2C210DC9A8FE}" type="parTrans" cxnId="{216AEAAF-D4F8-4458-975E-7A17D13791F2}">
      <dgm:prSet/>
      <dgm:spPr/>
      <dgm:t>
        <a:bodyPr/>
        <a:lstStyle/>
        <a:p>
          <a:endParaRPr lang="fr-FR" sz="1600"/>
        </a:p>
      </dgm:t>
    </dgm:pt>
    <dgm:pt modelId="{CB846919-D07B-42ED-BA6B-F923ACFCB2FA}" type="sibTrans" cxnId="{216AEAAF-D4F8-4458-975E-7A17D13791F2}">
      <dgm:prSet/>
      <dgm:spPr/>
      <dgm:t>
        <a:bodyPr/>
        <a:lstStyle/>
        <a:p>
          <a:endParaRPr lang="fr-FR" sz="1600"/>
        </a:p>
      </dgm:t>
    </dgm:pt>
    <dgm:pt modelId="{AECDB24C-F157-4650-8D5A-4467846CF234}">
      <dgm:prSet phldrT="[Texte]" custT="1"/>
      <dgm:spPr>
        <a:ln>
          <a:solidFill>
            <a:srgbClr val="8E2C48"/>
          </a:solidFill>
        </a:ln>
      </dgm:spPr>
      <dgm:t>
        <a:bodyPr/>
        <a:lstStyle/>
        <a:p>
          <a:pPr algn="ctr"/>
          <a:r>
            <a:rPr lang="en-US" sz="1200" b="1" noProof="0" dirty="0">
              <a:solidFill>
                <a:srgbClr val="8E2C48"/>
              </a:solidFill>
              <a:latin typeface="Avenir Next LT Pro" panose="020B0504020202020204" pitchFamily="34" charset="0"/>
            </a:rPr>
            <a:t>To prepare before</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solidFill>
                <a:srgbClr val="5C4E63"/>
              </a:solidFill>
              <a:latin typeface="Avenir Next LT Pro" panose="020B0504020202020204" pitchFamily="34" charset="0"/>
            </a:rPr>
            <a:t>A list of goals to work on in the Community.</a:t>
          </a:r>
        </a:p>
        <a:p>
          <a:pPr algn="ctr"/>
          <a:endParaRPr lang="fr-FR" sz="1200" dirty="0">
            <a:solidFill>
              <a:srgbClr val="5C4E63"/>
            </a:solidFill>
            <a:latin typeface="Avenir Next LT Pro" panose="020B0504020202020204" pitchFamily="34" charset="0"/>
          </a:endParaRPr>
        </a:p>
      </dgm:t>
    </dgm:pt>
    <dgm:pt modelId="{CE913761-3F89-4A72-B6BB-F997C9EA3CEB}" type="parTrans" cxnId="{9C27FF33-91EA-4A07-B163-182CE56AD4D3}">
      <dgm:prSet/>
      <dgm:spPr/>
      <dgm:t>
        <a:bodyPr/>
        <a:lstStyle/>
        <a:p>
          <a:endParaRPr lang="fr-FR" sz="1600"/>
        </a:p>
      </dgm:t>
    </dgm:pt>
    <dgm:pt modelId="{F6FB4777-91AE-4058-8848-58D63B5ABB77}" type="sibTrans" cxnId="{9C27FF33-91EA-4A07-B163-182CE56AD4D3}">
      <dgm:prSet/>
      <dgm:spPr/>
      <dgm:t>
        <a:bodyPr/>
        <a:lstStyle/>
        <a:p>
          <a:endParaRPr lang="fr-FR" sz="1600"/>
        </a:p>
      </dgm:t>
    </dgm:pt>
    <dgm:pt modelId="{FA3A7637-6A57-4EAF-BABC-7AB0B5C0195B}">
      <dgm:prSet phldrT="[Texte]" custT="1"/>
      <dgm:spPr>
        <a:ln>
          <a:solidFill>
            <a:srgbClr val="8E2C48"/>
          </a:solidFill>
        </a:ln>
      </dgm:spPr>
      <dgm:t>
        <a:bodyPr/>
        <a:lstStyle/>
        <a:p>
          <a:r>
            <a:rPr lang="en-US" sz="1200" b="1" noProof="0" dirty="0">
              <a:solidFill>
                <a:srgbClr val="8E2C48"/>
              </a:solidFill>
              <a:latin typeface="Avenir Next LT Pro" panose="020B0504020202020204" pitchFamily="34" charset="0"/>
            </a:rPr>
            <a:t>Participants</a:t>
          </a:r>
          <a:br>
            <a:rPr lang="en-US" sz="1200" noProof="0" dirty="0">
              <a:latin typeface="Avenir Next LT Pro" panose="020B0504020202020204" pitchFamily="34" charset="0"/>
            </a:rPr>
          </a:br>
          <a:br>
            <a:rPr lang="en-US" sz="1200" noProof="0" dirty="0">
              <a:latin typeface="Avenir Next LT Pro" panose="020B0504020202020204" pitchFamily="34" charset="0"/>
            </a:rPr>
          </a:br>
          <a:r>
            <a:rPr lang="en-US" sz="1200" noProof="0" dirty="0">
              <a:latin typeface="Avenir Next LT Pro" panose="020B0504020202020204" pitchFamily="34" charset="0"/>
            </a:rPr>
            <a:t>Members of Communities of Practice </a:t>
          </a:r>
          <a:r>
            <a:rPr lang="en-US" sz="1200" b="1" noProof="0" dirty="0">
              <a:latin typeface="Avenir Next LT Pro" panose="020B0504020202020204" pitchFamily="34" charset="0"/>
            </a:rPr>
            <a:t>who know what learning a practice means</a:t>
          </a:r>
        </a:p>
        <a:p>
          <a:endParaRPr lang="en-US" sz="1200" b="1" noProof="0" dirty="0">
            <a:latin typeface="Avenir Next LT Pro" panose="020B0504020202020204" pitchFamily="34" charset="0"/>
          </a:endParaRPr>
        </a:p>
        <a:p>
          <a:r>
            <a:rPr lang="en-US" sz="1200" b="0" noProof="0" dirty="0">
              <a:latin typeface="Avenir Next LT Pro" panose="020B0504020202020204" pitchFamily="34" charset="0"/>
            </a:rPr>
            <a:t>Participants should include </a:t>
          </a:r>
          <a:r>
            <a:rPr lang="en-US" sz="1200" b="1" noProof="0" dirty="0">
              <a:latin typeface="Avenir Next LT Pro" panose="020B0504020202020204" pitchFamily="34" charset="0"/>
            </a:rPr>
            <a:t>a minimum number of experienced potential contributors </a:t>
          </a:r>
          <a:r>
            <a:rPr lang="en-US" sz="1200" b="0" noProof="0" dirty="0">
              <a:latin typeface="Avenir Next LT Pro" panose="020B0504020202020204" pitchFamily="34" charset="0"/>
            </a:rPr>
            <a:t>to make this workshop interesting.</a:t>
          </a:r>
        </a:p>
        <a:p>
          <a:r>
            <a:rPr lang="en-US" sz="1200" b="0" noProof="0" dirty="0">
              <a:latin typeface="Avenir Next LT Pro" panose="020B0504020202020204" pitchFamily="34" charset="0"/>
            </a:rPr>
            <a:t>Workshop with unexperienced members only is likely to fail.</a:t>
          </a:r>
        </a:p>
      </dgm:t>
    </dgm:pt>
    <dgm:pt modelId="{E56E7D95-ACCA-44FA-9366-868AF1351F46}" type="parTrans" cxnId="{473E9909-F329-42F8-8D61-1F0E5C7CAB7A}">
      <dgm:prSet/>
      <dgm:spPr/>
      <dgm:t>
        <a:bodyPr/>
        <a:lstStyle/>
        <a:p>
          <a:endParaRPr lang="fr-FR" sz="1600"/>
        </a:p>
      </dgm:t>
    </dgm:pt>
    <dgm:pt modelId="{14AFA1AD-3C87-4A0B-BA83-4D8A673F5F60}" type="sibTrans" cxnId="{473E9909-F329-42F8-8D61-1F0E5C7CAB7A}">
      <dgm:prSet/>
      <dgm:spPr/>
      <dgm:t>
        <a:bodyPr/>
        <a:lstStyle/>
        <a:p>
          <a:endParaRPr lang="fr-FR" sz="1600"/>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3">
        <dgm:presLayoutVars>
          <dgm:bulletEnabled val="1"/>
        </dgm:presLayoutVars>
      </dgm:prSet>
      <dgm:spPr/>
    </dgm:pt>
    <dgm:pt modelId="{70B380C1-3F1E-4D87-A304-E8A09875C035}" type="pres">
      <dgm:prSet presAssocID="{BA4E070F-ADC8-4CDC-94E4-64A273672FFB}" presName="invisiNode" presStyleLbl="node1" presStyleIdx="0" presStyleCnt="3"/>
      <dgm:spPr/>
    </dgm:pt>
    <dgm:pt modelId="{7A673366-D108-41D1-A757-E6F328FCC9C9}" type="pres">
      <dgm:prSet presAssocID="{BA4E070F-ADC8-4CDC-94E4-64A273672FFB}" presName="imagNode" presStyleLbl="fgImgPlace1" presStyleIdx="0" presStyleCnt="3"/>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26000" b="-26000"/>
          </a:stretch>
        </a:blipFill>
        <a:ln>
          <a:solidFill>
            <a:srgbClr val="8E2C48"/>
          </a:solidFill>
        </a:ln>
      </dgm:spPr>
      <dgm:extLst>
        <a:ext uri="{E40237B7-FDA0-4F09-8148-C483321AD2D9}">
          <dgm14:cNvPr xmlns:dgm14="http://schemas.microsoft.com/office/drawing/2010/diagram" id="0" name="" descr="Panneau de signalisation avec un remplissage uni"/>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3">
        <dgm:presLayoutVars>
          <dgm:bulletEnabled val="1"/>
        </dgm:presLayoutVars>
      </dgm:prSet>
      <dgm:spPr/>
    </dgm:pt>
    <dgm:pt modelId="{AB667848-74F5-4172-A294-3336CF909320}" type="pres">
      <dgm:prSet presAssocID="{AECDB24C-F157-4650-8D5A-4467846CF234}" presName="invisiNode" presStyleLbl="node1" presStyleIdx="1" presStyleCnt="3"/>
      <dgm:spPr/>
    </dgm:pt>
    <dgm:pt modelId="{848092CF-B9E2-4851-AA8D-7B70D879A555}" type="pres">
      <dgm:prSet presAssocID="{AECDB24C-F157-4650-8D5A-4467846CF234}" presName="imagNode" presStyleLbl="fgImgPlace1" presStyleIdx="1" presStyleCnt="3"/>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26000" b="-26000"/>
          </a:stretch>
        </a:blipFill>
        <a:ln>
          <a:solidFill>
            <a:srgbClr val="8E2C48"/>
          </a:solidFill>
        </a:ln>
      </dgm:spPr>
      <dgm:extLst>
        <a:ext uri="{E40237B7-FDA0-4F09-8148-C483321AD2D9}">
          <dgm14:cNvPr xmlns:dgm14="http://schemas.microsoft.com/office/drawing/2010/diagram" id="0" name="" descr="Porte-documents avec un remplissage uni"/>
        </a:ext>
      </dgm:extLst>
    </dgm:pt>
    <dgm:pt modelId="{3FE769C7-ECEB-4F66-96F0-0B232AD5F92A}" type="pres">
      <dgm:prSet presAssocID="{F6FB4777-91AE-4058-8848-58D63B5ABB77}" presName="sibTrans" presStyleLbl="sibTrans2D1" presStyleIdx="0" presStyleCnt="0"/>
      <dgm:spPr/>
    </dgm:pt>
    <dgm:pt modelId="{C32F7D5E-7B8F-43CA-811F-D06B71790359}" type="pres">
      <dgm:prSet presAssocID="{FA3A7637-6A57-4EAF-BABC-7AB0B5C0195B}" presName="compNode" presStyleCnt="0"/>
      <dgm:spPr/>
    </dgm:pt>
    <dgm:pt modelId="{F677139D-3035-490A-997C-154D3529BFB7}" type="pres">
      <dgm:prSet presAssocID="{FA3A7637-6A57-4EAF-BABC-7AB0B5C0195B}" presName="node" presStyleLbl="node1" presStyleIdx="2" presStyleCnt="3">
        <dgm:presLayoutVars>
          <dgm:bulletEnabled val="1"/>
        </dgm:presLayoutVars>
      </dgm:prSet>
      <dgm:spPr/>
    </dgm:pt>
    <dgm:pt modelId="{ABCBF581-7353-40DE-B971-E616C2F8E53C}" type="pres">
      <dgm:prSet presAssocID="{FA3A7637-6A57-4EAF-BABC-7AB0B5C0195B}" presName="invisiNode" presStyleLbl="node1" presStyleIdx="2" presStyleCnt="3"/>
      <dgm:spPr/>
    </dgm:pt>
    <dgm:pt modelId="{B7183DFA-5031-4E8E-8D73-48543D88745F}" type="pres">
      <dgm:prSet presAssocID="{FA3A7637-6A57-4EAF-BABC-7AB0B5C0195B}" presName="imagNode" presStyleLbl="fgImgPlace1" presStyleIdx="2" presStyleCnt="3"/>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t="-26000" b="-26000"/>
          </a:stretch>
        </a:blipFill>
        <a:ln>
          <a:solidFill>
            <a:srgbClr val="8E2C48"/>
          </a:solidFill>
        </a:ln>
      </dgm:spPr>
      <dgm:extLst>
        <a:ext uri="{E40237B7-FDA0-4F09-8148-C483321AD2D9}">
          <dgm14:cNvPr xmlns:dgm14="http://schemas.microsoft.com/office/drawing/2010/diagram" id="0" name="" descr="Groupe avec un remplissage uni"/>
        </a:ext>
      </dgm:extLst>
    </dgm:pt>
  </dgm:ptLst>
  <dgm:cxnLst>
    <dgm:cxn modelId="{C058E907-2B9C-4B72-8F8E-A9C3CCBABEF0}" type="presOf" srcId="{FA3A7637-6A57-4EAF-BABC-7AB0B5C0195B}" destId="{F677139D-3035-490A-997C-154D3529BFB7}" srcOrd="0" destOrd="0" presId="urn:microsoft.com/office/officeart/2005/8/layout/pList2"/>
    <dgm:cxn modelId="{473E9909-F329-42F8-8D61-1F0E5C7CAB7A}" srcId="{6A92B643-4AC5-407B-8868-99ED8AD206C1}" destId="{FA3A7637-6A57-4EAF-BABC-7AB0B5C0195B}" srcOrd="2" destOrd="0" parTransId="{E56E7D95-ACCA-44FA-9366-868AF1351F46}" sibTransId="{14AFA1AD-3C87-4A0B-BA83-4D8A673F5F60}"/>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D8C927EB-7B6D-47DD-85CF-2DD3DCDB20F7}" type="presOf" srcId="{F6FB4777-91AE-4058-8848-58D63B5ABB77}" destId="{3FE769C7-ECEB-4F66-96F0-0B232AD5F92A}"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 modelId="{1BADA813-2B2A-4D20-AC33-686380D1EB31}" type="presParOf" srcId="{9CCB972E-2C08-4452-8C14-248BA6A100B2}" destId="{3FE769C7-ECEB-4F66-96F0-0B232AD5F92A}" srcOrd="3" destOrd="0" presId="urn:microsoft.com/office/officeart/2005/8/layout/pList2"/>
    <dgm:cxn modelId="{35FB2C2A-0399-44FD-8A22-D873F98F067C}" type="presParOf" srcId="{9CCB972E-2C08-4452-8C14-248BA6A100B2}" destId="{C32F7D5E-7B8F-43CA-811F-D06B71790359}" srcOrd="4" destOrd="0" presId="urn:microsoft.com/office/officeart/2005/8/layout/pList2"/>
    <dgm:cxn modelId="{618EB790-52B8-444C-B07C-F817A8EEE8E3}" type="presParOf" srcId="{C32F7D5E-7B8F-43CA-811F-D06B71790359}" destId="{F677139D-3035-490A-997C-154D3529BFB7}" srcOrd="0" destOrd="0" presId="urn:microsoft.com/office/officeart/2005/8/layout/pList2"/>
    <dgm:cxn modelId="{A99B0247-A4BD-4E84-B535-FDF5C54A3838}" type="presParOf" srcId="{C32F7D5E-7B8F-43CA-811F-D06B71790359}" destId="{ABCBF581-7353-40DE-B971-E616C2F8E53C}" srcOrd="1" destOrd="0" presId="urn:microsoft.com/office/officeart/2005/8/layout/pList2"/>
    <dgm:cxn modelId="{1504FBCB-3BEF-49D5-9207-AC5AA674219D}" type="presParOf" srcId="{C32F7D5E-7B8F-43CA-811F-D06B71790359}" destId="{B7183DFA-5031-4E8E-8D73-48543D88745F}"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92B643-4AC5-407B-8868-99ED8AD206C1}" type="doc">
      <dgm:prSet loTypeId="urn:microsoft.com/office/officeart/2005/8/layout/pList2" loCatId="picture" qsTypeId="urn:microsoft.com/office/officeart/2005/8/quickstyle/simple1" qsCatId="simple" csTypeId="urn:microsoft.com/office/officeart/2005/8/colors/accent3_1" csCatId="accent3" phldr="1"/>
      <dgm:spPr/>
    </dgm:pt>
    <dgm:pt modelId="{BA4E070F-ADC8-4CDC-94E4-64A273672FFB}">
      <dgm:prSet phldrT="[Texte]" custT="1"/>
      <dgm:spPr>
        <a:ln>
          <a:solidFill>
            <a:srgbClr val="8E2C48"/>
          </a:solidFill>
        </a:ln>
      </dgm:spPr>
      <dgm:t>
        <a:bodyPr/>
        <a:lstStyle/>
        <a:p>
          <a:r>
            <a:rPr lang="en-US" sz="1400" b="1" noProof="0" dirty="0">
              <a:solidFill>
                <a:srgbClr val="8E2C48"/>
              </a:solidFill>
              <a:latin typeface="Avenir Next LT Pro" panose="020B0504020202020204" pitchFamily="34" charset="0"/>
            </a:rPr>
            <a:t>This workshop is easier when</a:t>
          </a:r>
          <a:br>
            <a:rPr lang="en-US" sz="1400" noProof="0" dirty="0">
              <a:latin typeface="Avenir Next LT Pro" panose="020B0504020202020204" pitchFamily="34" charset="0"/>
            </a:rPr>
          </a:br>
          <a:br>
            <a:rPr lang="en-US" sz="1400" noProof="0" dirty="0">
              <a:latin typeface="Avenir Next LT Pro" panose="020B0504020202020204" pitchFamily="34" charset="0"/>
            </a:rPr>
          </a:br>
          <a:r>
            <a:rPr lang="en-US" sz="1400" noProof="0" dirty="0">
              <a:solidFill>
                <a:srgbClr val="5C4E63"/>
              </a:solidFill>
              <a:latin typeface="Avenir Next LT Pro" panose="020B0504020202020204" pitchFamily="34" charset="0"/>
            </a:rPr>
            <a:t>Members have past experiences in implementing practices to reach goals in their jobs.</a:t>
          </a:r>
        </a:p>
        <a:p>
          <a:r>
            <a:rPr lang="en-US" sz="1400" noProof="0" dirty="0">
              <a:solidFill>
                <a:srgbClr val="5C4E63"/>
              </a:solidFill>
              <a:latin typeface="Avenir Next LT Pro" panose="020B0504020202020204" pitchFamily="34" charset="0"/>
            </a:rPr>
            <a:t>Members have common goals in their own job.</a:t>
          </a:r>
        </a:p>
      </dgm:t>
    </dgm:pt>
    <dgm:pt modelId="{116B4F7C-D509-4D94-8573-2C210DC9A8FE}" type="parTrans" cxnId="{216AEAAF-D4F8-4458-975E-7A17D13791F2}">
      <dgm:prSet/>
      <dgm:spPr/>
      <dgm:t>
        <a:bodyPr/>
        <a:lstStyle/>
        <a:p>
          <a:endParaRPr lang="fr-FR"/>
        </a:p>
      </dgm:t>
    </dgm:pt>
    <dgm:pt modelId="{CB846919-D07B-42ED-BA6B-F923ACFCB2FA}" type="sibTrans" cxnId="{216AEAAF-D4F8-4458-975E-7A17D13791F2}">
      <dgm:prSet/>
      <dgm:spPr/>
      <dgm:t>
        <a:bodyPr/>
        <a:lstStyle/>
        <a:p>
          <a:endParaRPr lang="fr-FR"/>
        </a:p>
      </dgm:t>
    </dgm:pt>
    <dgm:pt modelId="{AECDB24C-F157-4650-8D5A-4467846CF234}">
      <dgm:prSet phldrT="[Texte]" custT="1"/>
      <dgm:spPr>
        <a:ln>
          <a:solidFill>
            <a:srgbClr val="8E2C48"/>
          </a:solidFill>
        </a:ln>
      </dgm:spPr>
      <dgm:t>
        <a:bodyPr/>
        <a:lstStyle/>
        <a:p>
          <a:pPr algn="ctr"/>
          <a:r>
            <a:rPr lang="en-US" sz="1400" b="1" noProof="0" dirty="0">
              <a:solidFill>
                <a:srgbClr val="8E2C48"/>
              </a:solidFill>
              <a:latin typeface="Avenir Next LT Pro" panose="020B0504020202020204" pitchFamily="34" charset="0"/>
            </a:rPr>
            <a:t>This workshop becomes very difficult when</a:t>
          </a:r>
          <a:br>
            <a:rPr lang="en-US" sz="1400" noProof="0" dirty="0">
              <a:latin typeface="Avenir Next LT Pro" panose="020B0504020202020204" pitchFamily="34" charset="0"/>
            </a:rPr>
          </a:br>
          <a:br>
            <a:rPr lang="en-US" sz="1400" noProof="0" dirty="0">
              <a:latin typeface="Avenir Next LT Pro" panose="020B0504020202020204" pitchFamily="34" charset="0"/>
            </a:rPr>
          </a:br>
          <a:r>
            <a:rPr lang="en-US" sz="1400" noProof="0" dirty="0">
              <a:solidFill>
                <a:srgbClr val="5C4E63"/>
              </a:solidFill>
              <a:latin typeface="Avenir Next LT Pro" panose="020B0504020202020204" pitchFamily="34" charset="0"/>
            </a:rPr>
            <a:t>List of goals is not ready yet</a:t>
          </a:r>
        </a:p>
        <a:p>
          <a:pPr algn="ctr"/>
          <a:r>
            <a:rPr lang="en-US" sz="1400" noProof="0" dirty="0">
              <a:solidFill>
                <a:srgbClr val="5C4E63"/>
              </a:solidFill>
              <a:latin typeface="Avenir Next LT Pro" panose="020B0504020202020204" pitchFamily="34" charset="0"/>
            </a:rPr>
            <a:t>Participants do not feel ready to share about their practice (especially lack of Mastery)</a:t>
          </a:r>
        </a:p>
      </dgm:t>
    </dgm:pt>
    <dgm:pt modelId="{CE913761-3F89-4A72-B6BB-F997C9EA3CEB}" type="parTrans" cxnId="{9C27FF33-91EA-4A07-B163-182CE56AD4D3}">
      <dgm:prSet/>
      <dgm:spPr/>
      <dgm:t>
        <a:bodyPr/>
        <a:lstStyle/>
        <a:p>
          <a:endParaRPr lang="fr-FR"/>
        </a:p>
      </dgm:t>
    </dgm:pt>
    <dgm:pt modelId="{F6FB4777-91AE-4058-8848-58D63B5ABB77}" type="sibTrans" cxnId="{9C27FF33-91EA-4A07-B163-182CE56AD4D3}">
      <dgm:prSet/>
      <dgm:spPr/>
      <dgm:t>
        <a:bodyPr/>
        <a:lstStyle/>
        <a:p>
          <a:endParaRPr lang="fr-FR"/>
        </a:p>
      </dgm:t>
    </dgm:pt>
    <dgm:pt modelId="{A39C1FB3-6965-4446-B405-DE606E0B7B62}" type="pres">
      <dgm:prSet presAssocID="{6A92B643-4AC5-407B-8868-99ED8AD206C1}" presName="Name0" presStyleCnt="0">
        <dgm:presLayoutVars>
          <dgm:dir/>
          <dgm:resizeHandles val="exact"/>
        </dgm:presLayoutVars>
      </dgm:prSet>
      <dgm:spPr/>
    </dgm:pt>
    <dgm:pt modelId="{DCAF6BC0-80BD-4AE2-B8BD-A32B9D7650FF}" type="pres">
      <dgm:prSet presAssocID="{6A92B643-4AC5-407B-8868-99ED8AD206C1}" presName="bkgdShp" presStyleLbl="alignAccFollowNode1" presStyleIdx="0" presStyleCnt="1" custLinFactNeighborX="6125" custLinFactNeighborY="-17846"/>
      <dgm:spPr>
        <a:ln>
          <a:solidFill>
            <a:srgbClr val="5C4E63">
              <a:alpha val="90000"/>
            </a:srgbClr>
          </a:solidFill>
        </a:ln>
      </dgm:spPr>
    </dgm:pt>
    <dgm:pt modelId="{9CCB972E-2C08-4452-8C14-248BA6A100B2}" type="pres">
      <dgm:prSet presAssocID="{6A92B643-4AC5-407B-8868-99ED8AD206C1}" presName="linComp" presStyleCnt="0"/>
      <dgm:spPr/>
    </dgm:pt>
    <dgm:pt modelId="{B66FACD9-74DD-41BA-992F-D7D14291020F}" type="pres">
      <dgm:prSet presAssocID="{BA4E070F-ADC8-4CDC-94E4-64A273672FFB}" presName="compNode" presStyleCnt="0"/>
      <dgm:spPr/>
    </dgm:pt>
    <dgm:pt modelId="{898961E9-ECB2-4197-BB94-E0A27D372B88}" type="pres">
      <dgm:prSet presAssocID="{BA4E070F-ADC8-4CDC-94E4-64A273672FFB}" presName="node" presStyleLbl="node1" presStyleIdx="0" presStyleCnt="2">
        <dgm:presLayoutVars>
          <dgm:bulletEnabled val="1"/>
        </dgm:presLayoutVars>
      </dgm:prSet>
      <dgm:spPr/>
    </dgm:pt>
    <dgm:pt modelId="{70B380C1-3F1E-4D87-A304-E8A09875C035}" type="pres">
      <dgm:prSet presAssocID="{BA4E070F-ADC8-4CDC-94E4-64A273672FFB}" presName="invisiNode" presStyleLbl="node1" presStyleIdx="0" presStyleCnt="2"/>
      <dgm:spPr/>
    </dgm:pt>
    <dgm:pt modelId="{7A673366-D108-41D1-A757-E6F328FCC9C9}" type="pres">
      <dgm:prSet presAssocID="{BA4E070F-ADC8-4CDC-94E4-64A273672FFB}" presName="imagNode" presStyleLbl="fgImgPlace1" presStyleIdx="0" presStyleCnt="2"/>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20000" b="-20000"/>
          </a:stretch>
        </a:blipFill>
        <a:ln>
          <a:solidFill>
            <a:srgbClr val="8E2C48"/>
          </a:solidFill>
        </a:ln>
      </dgm:spPr>
      <dgm:extLst>
        <a:ext uri="{E40237B7-FDA0-4F09-8148-C483321AD2D9}">
          <dgm14:cNvPr xmlns:dgm14="http://schemas.microsoft.com/office/drawing/2010/diagram" id="0" name="" descr="Segna Pollice su con riempimento a tinta unita"/>
        </a:ext>
      </dgm:extLst>
    </dgm:pt>
    <dgm:pt modelId="{911F8200-51A7-463E-B3C6-738CAE6BB385}" type="pres">
      <dgm:prSet presAssocID="{CB846919-D07B-42ED-BA6B-F923ACFCB2FA}" presName="sibTrans" presStyleLbl="sibTrans2D1" presStyleIdx="0" presStyleCnt="0"/>
      <dgm:spPr/>
    </dgm:pt>
    <dgm:pt modelId="{2974157F-4CC5-402F-860E-EED49DF5F229}" type="pres">
      <dgm:prSet presAssocID="{AECDB24C-F157-4650-8D5A-4467846CF234}" presName="compNode" presStyleCnt="0"/>
      <dgm:spPr/>
    </dgm:pt>
    <dgm:pt modelId="{BFB5E530-E857-441B-B448-7F6CB5417375}" type="pres">
      <dgm:prSet presAssocID="{AECDB24C-F157-4650-8D5A-4467846CF234}" presName="node" presStyleLbl="node1" presStyleIdx="1" presStyleCnt="2">
        <dgm:presLayoutVars>
          <dgm:bulletEnabled val="1"/>
        </dgm:presLayoutVars>
      </dgm:prSet>
      <dgm:spPr/>
    </dgm:pt>
    <dgm:pt modelId="{AB667848-74F5-4172-A294-3336CF909320}" type="pres">
      <dgm:prSet presAssocID="{AECDB24C-F157-4650-8D5A-4467846CF234}" presName="invisiNode" presStyleLbl="node1" presStyleIdx="1" presStyleCnt="2"/>
      <dgm:spPr/>
    </dgm:pt>
    <dgm:pt modelId="{848092CF-B9E2-4851-AA8D-7B70D879A555}" type="pres">
      <dgm:prSet presAssocID="{AECDB24C-F157-4650-8D5A-4467846CF234}" presName="imagNode" presStyleLbl="fgImgPlace1" presStyleIdx="1" presStyleCnt="2"/>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20000" b="-20000"/>
          </a:stretch>
        </a:blipFill>
        <a:ln>
          <a:solidFill>
            <a:srgbClr val="8E2C48"/>
          </a:solidFill>
        </a:ln>
      </dgm:spPr>
      <dgm:extLst>
        <a:ext uri="{E40237B7-FDA0-4F09-8148-C483321AD2D9}">
          <dgm14:cNvPr xmlns:dgm14="http://schemas.microsoft.com/office/drawing/2010/diagram" id="0" name="" descr="Pollice abbassato con riempimento a tinta unita"/>
        </a:ext>
      </dgm:extLst>
    </dgm:pt>
  </dgm:ptLst>
  <dgm:cxnLst>
    <dgm:cxn modelId="{5BDFB813-06CB-4629-9B22-68AA7B217305}" type="presOf" srcId="{AECDB24C-F157-4650-8D5A-4467846CF234}" destId="{BFB5E530-E857-441B-B448-7F6CB5417375}" srcOrd="0" destOrd="0" presId="urn:microsoft.com/office/officeart/2005/8/layout/pList2"/>
    <dgm:cxn modelId="{06430417-1C66-4DEB-9854-BBAA2293FAE3}" type="presOf" srcId="{CB846919-D07B-42ED-BA6B-F923ACFCB2FA}" destId="{911F8200-51A7-463E-B3C6-738CAE6BB385}" srcOrd="0" destOrd="0" presId="urn:microsoft.com/office/officeart/2005/8/layout/pList2"/>
    <dgm:cxn modelId="{9C27FF33-91EA-4A07-B163-182CE56AD4D3}" srcId="{6A92B643-4AC5-407B-8868-99ED8AD206C1}" destId="{AECDB24C-F157-4650-8D5A-4467846CF234}" srcOrd="1" destOrd="0" parTransId="{CE913761-3F89-4A72-B6BB-F997C9EA3CEB}" sibTransId="{F6FB4777-91AE-4058-8848-58D63B5ABB77}"/>
    <dgm:cxn modelId="{2CFDCC57-7E68-4505-87B3-BF1A56F32DFC}" type="presOf" srcId="{6A92B643-4AC5-407B-8868-99ED8AD206C1}" destId="{A39C1FB3-6965-4446-B405-DE606E0B7B62}" srcOrd="0" destOrd="0" presId="urn:microsoft.com/office/officeart/2005/8/layout/pList2"/>
    <dgm:cxn modelId="{216AEAAF-D4F8-4458-975E-7A17D13791F2}" srcId="{6A92B643-4AC5-407B-8868-99ED8AD206C1}" destId="{BA4E070F-ADC8-4CDC-94E4-64A273672FFB}" srcOrd="0" destOrd="0" parTransId="{116B4F7C-D509-4D94-8573-2C210DC9A8FE}" sibTransId="{CB846919-D07B-42ED-BA6B-F923ACFCB2FA}"/>
    <dgm:cxn modelId="{9B8956E9-E207-4970-A500-F9CDBCE0841D}" type="presOf" srcId="{BA4E070F-ADC8-4CDC-94E4-64A273672FFB}" destId="{898961E9-ECB2-4197-BB94-E0A27D372B88}" srcOrd="0" destOrd="0" presId="urn:microsoft.com/office/officeart/2005/8/layout/pList2"/>
    <dgm:cxn modelId="{3E8F1F6B-C5B3-4C4C-8DC7-B1AD20A538B4}" type="presParOf" srcId="{A39C1FB3-6965-4446-B405-DE606E0B7B62}" destId="{DCAF6BC0-80BD-4AE2-B8BD-A32B9D7650FF}" srcOrd="0" destOrd="0" presId="urn:microsoft.com/office/officeart/2005/8/layout/pList2"/>
    <dgm:cxn modelId="{0977A69C-AED9-4109-95D4-2B919799D8E2}" type="presParOf" srcId="{A39C1FB3-6965-4446-B405-DE606E0B7B62}" destId="{9CCB972E-2C08-4452-8C14-248BA6A100B2}" srcOrd="1" destOrd="0" presId="urn:microsoft.com/office/officeart/2005/8/layout/pList2"/>
    <dgm:cxn modelId="{D6401FFA-CC00-4AB0-9F66-D54E4C85B39C}" type="presParOf" srcId="{9CCB972E-2C08-4452-8C14-248BA6A100B2}" destId="{B66FACD9-74DD-41BA-992F-D7D14291020F}" srcOrd="0" destOrd="0" presId="urn:microsoft.com/office/officeart/2005/8/layout/pList2"/>
    <dgm:cxn modelId="{E19BB616-B03C-4FB3-A227-7CAB8F431687}" type="presParOf" srcId="{B66FACD9-74DD-41BA-992F-D7D14291020F}" destId="{898961E9-ECB2-4197-BB94-E0A27D372B88}" srcOrd="0" destOrd="0" presId="urn:microsoft.com/office/officeart/2005/8/layout/pList2"/>
    <dgm:cxn modelId="{9527EC24-1E12-411F-9B0F-DE94EC5BF986}" type="presParOf" srcId="{B66FACD9-74DD-41BA-992F-D7D14291020F}" destId="{70B380C1-3F1E-4D87-A304-E8A09875C035}" srcOrd="1" destOrd="0" presId="urn:microsoft.com/office/officeart/2005/8/layout/pList2"/>
    <dgm:cxn modelId="{DCD24C58-B57C-4541-9B05-DED3B50343F4}" type="presParOf" srcId="{B66FACD9-74DD-41BA-992F-D7D14291020F}" destId="{7A673366-D108-41D1-A757-E6F328FCC9C9}" srcOrd="2" destOrd="0" presId="urn:microsoft.com/office/officeart/2005/8/layout/pList2"/>
    <dgm:cxn modelId="{1B02AE6A-11B2-489B-858D-4157B5DB2DE0}" type="presParOf" srcId="{9CCB972E-2C08-4452-8C14-248BA6A100B2}" destId="{911F8200-51A7-463E-B3C6-738CAE6BB385}" srcOrd="1" destOrd="0" presId="urn:microsoft.com/office/officeart/2005/8/layout/pList2"/>
    <dgm:cxn modelId="{876B6CB7-E4E0-4192-9E22-667FE288146F}" type="presParOf" srcId="{9CCB972E-2C08-4452-8C14-248BA6A100B2}" destId="{2974157F-4CC5-402F-860E-EED49DF5F229}" srcOrd="2" destOrd="0" presId="urn:microsoft.com/office/officeart/2005/8/layout/pList2"/>
    <dgm:cxn modelId="{5D38C134-4901-4FBB-A1BE-3E6FFED69D48}" type="presParOf" srcId="{2974157F-4CC5-402F-860E-EED49DF5F229}" destId="{BFB5E530-E857-441B-B448-7F6CB5417375}" srcOrd="0" destOrd="0" presId="urn:microsoft.com/office/officeart/2005/8/layout/pList2"/>
    <dgm:cxn modelId="{E5A11849-FF60-4957-ADF9-627B0FE2C61D}" type="presParOf" srcId="{2974157F-4CC5-402F-860E-EED49DF5F229}" destId="{AB667848-74F5-4172-A294-3336CF909320}" srcOrd="1" destOrd="0" presId="urn:microsoft.com/office/officeart/2005/8/layout/pList2"/>
    <dgm:cxn modelId="{202C3E45-53C6-4074-91A8-9FCAD2E27DC3}" type="presParOf" srcId="{2974157F-4CC5-402F-860E-EED49DF5F229}" destId="{848092CF-B9E2-4851-AA8D-7B70D879A555}"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AE8F13-0071-40FD-97ED-FA689A9146B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69D915A-AD66-4AD4-B34B-AA5B4E725F1A}">
      <dgm:prSet phldrT="[Testo]"/>
      <dgm:spPr/>
      <dgm:t>
        <a:bodyPr/>
        <a:lstStyle/>
        <a:p>
          <a:r>
            <a:rPr lang="en-US" dirty="0"/>
            <a:t>Example Goal : successfully onboarding new members in a team </a:t>
          </a:r>
        </a:p>
      </dgm:t>
    </dgm:pt>
    <dgm:pt modelId="{41A7AF29-5837-4110-BD5B-98E8D3135FA6}" type="parTrans" cxnId="{79B37020-9A00-488C-9030-D28CEBCC21E1}">
      <dgm:prSet/>
      <dgm:spPr/>
      <dgm:t>
        <a:bodyPr/>
        <a:lstStyle/>
        <a:p>
          <a:endParaRPr lang="en-US"/>
        </a:p>
      </dgm:t>
    </dgm:pt>
    <dgm:pt modelId="{F64D37D4-DAA3-4BF9-B2FF-9B3340985AC9}" type="sibTrans" cxnId="{79B37020-9A00-488C-9030-D28CEBCC21E1}">
      <dgm:prSet/>
      <dgm:spPr/>
      <dgm:t>
        <a:bodyPr/>
        <a:lstStyle/>
        <a:p>
          <a:endParaRPr lang="en-US"/>
        </a:p>
      </dgm:t>
    </dgm:pt>
    <dgm:pt modelId="{D54C9DBF-294D-4B24-A013-093C559E6D87}">
      <dgm:prSet phldrT="[Testo]"/>
      <dgm:spPr/>
      <dgm:t>
        <a:bodyPr/>
        <a:lstStyle/>
        <a:p>
          <a:r>
            <a:rPr lang="en-US" dirty="0"/>
            <a:t>Example Practice : </a:t>
          </a:r>
        </a:p>
        <a:p>
          <a:r>
            <a:rPr lang="en-US" dirty="0"/>
            <a:t>Organize a Welcome tour of all sites</a:t>
          </a:r>
        </a:p>
      </dgm:t>
    </dgm:pt>
    <dgm:pt modelId="{4EE3B940-66A5-4225-90EF-E3D0331A3D02}" type="parTrans" cxnId="{812F0EFD-1DC6-41F4-8054-0FCB580BD590}">
      <dgm:prSet/>
      <dgm:spPr/>
      <dgm:t>
        <a:bodyPr/>
        <a:lstStyle/>
        <a:p>
          <a:endParaRPr lang="en-US"/>
        </a:p>
      </dgm:t>
    </dgm:pt>
    <dgm:pt modelId="{FCC92753-27C0-4AFD-8A25-8D750F52F218}" type="sibTrans" cxnId="{812F0EFD-1DC6-41F4-8054-0FCB580BD590}">
      <dgm:prSet/>
      <dgm:spPr/>
      <dgm:t>
        <a:bodyPr/>
        <a:lstStyle/>
        <a:p>
          <a:endParaRPr lang="en-US"/>
        </a:p>
      </dgm:t>
    </dgm:pt>
    <dgm:pt modelId="{D41E5CA7-A981-475F-9A63-D093260892E5}">
      <dgm:prSet phldrT="[Testo]"/>
      <dgm:spPr/>
      <dgm:t>
        <a:bodyPr/>
        <a:lstStyle/>
        <a:p>
          <a:r>
            <a:rPr lang="en-US" dirty="0"/>
            <a:t>Example Practice : </a:t>
          </a:r>
        </a:p>
        <a:p>
          <a:r>
            <a:rPr lang="en-US" dirty="0"/>
            <a:t>Prepare an onboarding book</a:t>
          </a:r>
        </a:p>
      </dgm:t>
    </dgm:pt>
    <dgm:pt modelId="{77918F37-312D-4C89-9E8F-589BD1F9FEA6}" type="parTrans" cxnId="{EDF40EDE-2C7F-4C18-9CF2-2069A68FE516}">
      <dgm:prSet/>
      <dgm:spPr/>
      <dgm:t>
        <a:bodyPr/>
        <a:lstStyle/>
        <a:p>
          <a:endParaRPr lang="en-US"/>
        </a:p>
      </dgm:t>
    </dgm:pt>
    <dgm:pt modelId="{0C70E4FB-6709-446B-B86F-C77F117DCEED}" type="sibTrans" cxnId="{EDF40EDE-2C7F-4C18-9CF2-2069A68FE516}">
      <dgm:prSet/>
      <dgm:spPr/>
      <dgm:t>
        <a:bodyPr/>
        <a:lstStyle/>
        <a:p>
          <a:endParaRPr lang="en-US"/>
        </a:p>
      </dgm:t>
    </dgm:pt>
    <dgm:pt modelId="{AD88D60D-C9E9-45E1-B6E3-A70D13F97F4F}">
      <dgm:prSet phldrT="[Testo]"/>
      <dgm:spPr/>
      <dgm:t>
        <a:bodyPr/>
        <a:lstStyle/>
        <a:p>
          <a:r>
            <a:rPr lang="en-US" dirty="0"/>
            <a:t>Example Practice :</a:t>
          </a:r>
        </a:p>
        <a:p>
          <a:r>
            <a:rPr lang="en-US" dirty="0"/>
            <a:t>Automatically activate all accounts on day one </a:t>
          </a:r>
        </a:p>
      </dgm:t>
    </dgm:pt>
    <dgm:pt modelId="{899001F9-ABFC-46B9-BC34-A5E83084BDF8}" type="parTrans" cxnId="{CE6227B4-6181-448E-AAE2-B75010A46344}">
      <dgm:prSet/>
      <dgm:spPr/>
      <dgm:t>
        <a:bodyPr/>
        <a:lstStyle/>
        <a:p>
          <a:endParaRPr lang="en-US"/>
        </a:p>
      </dgm:t>
    </dgm:pt>
    <dgm:pt modelId="{2EB4C975-6053-4BD6-8D7D-2F03FF449036}" type="sibTrans" cxnId="{CE6227B4-6181-448E-AAE2-B75010A46344}">
      <dgm:prSet/>
      <dgm:spPr/>
      <dgm:t>
        <a:bodyPr/>
        <a:lstStyle/>
        <a:p>
          <a:endParaRPr lang="en-US"/>
        </a:p>
      </dgm:t>
    </dgm:pt>
    <dgm:pt modelId="{12C72D21-D204-417E-82D1-D341C0EC5799}">
      <dgm:prSet phldrT="[Testo]"/>
      <dgm:spPr/>
      <dgm:t>
        <a:bodyPr/>
        <a:lstStyle/>
        <a:p>
          <a:r>
            <a:rPr lang="en-US" dirty="0"/>
            <a:t>Example Practice :</a:t>
          </a:r>
        </a:p>
        <a:p>
          <a:r>
            <a:rPr lang="en-US" dirty="0"/>
            <a:t>Organize a role / responsibilities workshop with the rest of the team</a:t>
          </a:r>
        </a:p>
      </dgm:t>
    </dgm:pt>
    <dgm:pt modelId="{D6CE8E0A-85B1-4FFD-9A3B-1F9D9425E9A5}" type="parTrans" cxnId="{16453447-D66B-440D-B069-675F211E6E85}">
      <dgm:prSet/>
      <dgm:spPr/>
      <dgm:t>
        <a:bodyPr/>
        <a:lstStyle/>
        <a:p>
          <a:endParaRPr lang="en-US"/>
        </a:p>
      </dgm:t>
    </dgm:pt>
    <dgm:pt modelId="{FAFD86A4-80BD-413D-BFFC-E660DB2A9C01}" type="sibTrans" cxnId="{16453447-D66B-440D-B069-675F211E6E85}">
      <dgm:prSet/>
      <dgm:spPr/>
      <dgm:t>
        <a:bodyPr/>
        <a:lstStyle/>
        <a:p>
          <a:endParaRPr lang="en-US"/>
        </a:p>
      </dgm:t>
    </dgm:pt>
    <dgm:pt modelId="{E06A5FE6-E6C1-4EE7-B80F-ED3CA4BAFBCC}" type="pres">
      <dgm:prSet presAssocID="{DDAE8F13-0071-40FD-97ED-FA689A9146B8}" presName="hierChild1" presStyleCnt="0">
        <dgm:presLayoutVars>
          <dgm:orgChart val="1"/>
          <dgm:chPref val="1"/>
          <dgm:dir/>
          <dgm:animOne val="branch"/>
          <dgm:animLvl val="lvl"/>
          <dgm:resizeHandles/>
        </dgm:presLayoutVars>
      </dgm:prSet>
      <dgm:spPr/>
    </dgm:pt>
    <dgm:pt modelId="{8686A915-34CE-41DC-8A2D-572C71E78923}" type="pres">
      <dgm:prSet presAssocID="{969D915A-AD66-4AD4-B34B-AA5B4E725F1A}" presName="hierRoot1" presStyleCnt="0">
        <dgm:presLayoutVars>
          <dgm:hierBranch val="init"/>
        </dgm:presLayoutVars>
      </dgm:prSet>
      <dgm:spPr/>
    </dgm:pt>
    <dgm:pt modelId="{56729CB1-D6B0-42E5-B02F-F84F695C562F}" type="pres">
      <dgm:prSet presAssocID="{969D915A-AD66-4AD4-B34B-AA5B4E725F1A}" presName="rootComposite1" presStyleCnt="0"/>
      <dgm:spPr/>
    </dgm:pt>
    <dgm:pt modelId="{AB4227E2-C9F9-4898-BD6B-F94BAA123DFA}" type="pres">
      <dgm:prSet presAssocID="{969D915A-AD66-4AD4-B34B-AA5B4E725F1A}" presName="rootText1" presStyleLbl="node0" presStyleIdx="0" presStyleCnt="1">
        <dgm:presLayoutVars>
          <dgm:chPref val="3"/>
        </dgm:presLayoutVars>
      </dgm:prSet>
      <dgm:spPr/>
    </dgm:pt>
    <dgm:pt modelId="{B85CE407-73AA-49BF-8EC1-72A44623AB61}" type="pres">
      <dgm:prSet presAssocID="{969D915A-AD66-4AD4-B34B-AA5B4E725F1A}" presName="rootConnector1" presStyleLbl="node1" presStyleIdx="0" presStyleCnt="0"/>
      <dgm:spPr/>
    </dgm:pt>
    <dgm:pt modelId="{BCCCFDC4-CA5E-422A-A200-778AB8B45430}" type="pres">
      <dgm:prSet presAssocID="{969D915A-AD66-4AD4-B34B-AA5B4E725F1A}" presName="hierChild2" presStyleCnt="0"/>
      <dgm:spPr/>
    </dgm:pt>
    <dgm:pt modelId="{54686792-D6A2-475F-98C7-5BC2501A304E}" type="pres">
      <dgm:prSet presAssocID="{4EE3B940-66A5-4225-90EF-E3D0331A3D02}" presName="Name37" presStyleLbl="parChTrans1D2" presStyleIdx="0" presStyleCnt="4"/>
      <dgm:spPr/>
    </dgm:pt>
    <dgm:pt modelId="{26A0C204-176E-48C1-B43D-1CFF5CC329DC}" type="pres">
      <dgm:prSet presAssocID="{D54C9DBF-294D-4B24-A013-093C559E6D87}" presName="hierRoot2" presStyleCnt="0">
        <dgm:presLayoutVars>
          <dgm:hierBranch val="init"/>
        </dgm:presLayoutVars>
      </dgm:prSet>
      <dgm:spPr/>
    </dgm:pt>
    <dgm:pt modelId="{0C216AEB-ED18-4B49-89D1-DF023984949D}" type="pres">
      <dgm:prSet presAssocID="{D54C9DBF-294D-4B24-A013-093C559E6D87}" presName="rootComposite" presStyleCnt="0"/>
      <dgm:spPr/>
    </dgm:pt>
    <dgm:pt modelId="{FB9429BB-FA27-4AEB-A94D-E90359132801}" type="pres">
      <dgm:prSet presAssocID="{D54C9DBF-294D-4B24-A013-093C559E6D87}" presName="rootText" presStyleLbl="node2" presStyleIdx="0" presStyleCnt="4">
        <dgm:presLayoutVars>
          <dgm:chPref val="3"/>
        </dgm:presLayoutVars>
      </dgm:prSet>
      <dgm:spPr/>
    </dgm:pt>
    <dgm:pt modelId="{482DBB89-1CEC-4AED-B2E9-8E22BBDAF13F}" type="pres">
      <dgm:prSet presAssocID="{D54C9DBF-294D-4B24-A013-093C559E6D87}" presName="rootConnector" presStyleLbl="node2" presStyleIdx="0" presStyleCnt="4"/>
      <dgm:spPr/>
    </dgm:pt>
    <dgm:pt modelId="{39860EBD-94A0-42FE-8FA6-0C900F41F9F7}" type="pres">
      <dgm:prSet presAssocID="{D54C9DBF-294D-4B24-A013-093C559E6D87}" presName="hierChild4" presStyleCnt="0"/>
      <dgm:spPr/>
    </dgm:pt>
    <dgm:pt modelId="{A811BD7A-3788-4578-8F6B-3B5A4CE9BC0E}" type="pres">
      <dgm:prSet presAssocID="{D54C9DBF-294D-4B24-A013-093C559E6D87}" presName="hierChild5" presStyleCnt="0"/>
      <dgm:spPr/>
    </dgm:pt>
    <dgm:pt modelId="{1765C9C5-EFE6-4871-9964-F3E02AB596E3}" type="pres">
      <dgm:prSet presAssocID="{77918F37-312D-4C89-9E8F-589BD1F9FEA6}" presName="Name37" presStyleLbl="parChTrans1D2" presStyleIdx="1" presStyleCnt="4"/>
      <dgm:spPr/>
    </dgm:pt>
    <dgm:pt modelId="{162F7CB2-7D35-4D8E-98EC-472ECA97251A}" type="pres">
      <dgm:prSet presAssocID="{D41E5CA7-A981-475F-9A63-D093260892E5}" presName="hierRoot2" presStyleCnt="0">
        <dgm:presLayoutVars>
          <dgm:hierBranch val="init"/>
        </dgm:presLayoutVars>
      </dgm:prSet>
      <dgm:spPr/>
    </dgm:pt>
    <dgm:pt modelId="{B2C9F81D-157C-4136-B2FF-0D2D7DD6AE51}" type="pres">
      <dgm:prSet presAssocID="{D41E5CA7-A981-475F-9A63-D093260892E5}" presName="rootComposite" presStyleCnt="0"/>
      <dgm:spPr/>
    </dgm:pt>
    <dgm:pt modelId="{57930BA5-9361-4729-9C95-82A51032B41B}" type="pres">
      <dgm:prSet presAssocID="{D41E5CA7-A981-475F-9A63-D093260892E5}" presName="rootText" presStyleLbl="node2" presStyleIdx="1" presStyleCnt="4">
        <dgm:presLayoutVars>
          <dgm:chPref val="3"/>
        </dgm:presLayoutVars>
      </dgm:prSet>
      <dgm:spPr/>
    </dgm:pt>
    <dgm:pt modelId="{A676F155-2660-417D-8DF5-5EED4824C3CB}" type="pres">
      <dgm:prSet presAssocID="{D41E5CA7-A981-475F-9A63-D093260892E5}" presName="rootConnector" presStyleLbl="node2" presStyleIdx="1" presStyleCnt="4"/>
      <dgm:spPr/>
    </dgm:pt>
    <dgm:pt modelId="{22DE2153-5290-43C6-9484-93BA4B1D61D2}" type="pres">
      <dgm:prSet presAssocID="{D41E5CA7-A981-475F-9A63-D093260892E5}" presName="hierChild4" presStyleCnt="0"/>
      <dgm:spPr/>
    </dgm:pt>
    <dgm:pt modelId="{F054A2DE-4C85-4F4C-8946-F3C24BC7DBF9}" type="pres">
      <dgm:prSet presAssocID="{D41E5CA7-A981-475F-9A63-D093260892E5}" presName="hierChild5" presStyleCnt="0"/>
      <dgm:spPr/>
    </dgm:pt>
    <dgm:pt modelId="{D60F8EE0-9A21-4380-9381-7399C7F2955C}" type="pres">
      <dgm:prSet presAssocID="{899001F9-ABFC-46B9-BC34-A5E83084BDF8}" presName="Name37" presStyleLbl="parChTrans1D2" presStyleIdx="2" presStyleCnt="4"/>
      <dgm:spPr/>
    </dgm:pt>
    <dgm:pt modelId="{5B2AD584-A65B-42CD-87BF-65A97177EADC}" type="pres">
      <dgm:prSet presAssocID="{AD88D60D-C9E9-45E1-B6E3-A70D13F97F4F}" presName="hierRoot2" presStyleCnt="0">
        <dgm:presLayoutVars>
          <dgm:hierBranch val="init"/>
        </dgm:presLayoutVars>
      </dgm:prSet>
      <dgm:spPr/>
    </dgm:pt>
    <dgm:pt modelId="{B6D57DAF-F7C0-4CD3-9A6D-9ECB7415C6D3}" type="pres">
      <dgm:prSet presAssocID="{AD88D60D-C9E9-45E1-B6E3-A70D13F97F4F}" presName="rootComposite" presStyleCnt="0"/>
      <dgm:spPr/>
    </dgm:pt>
    <dgm:pt modelId="{5771C3AC-121B-4B5A-AE17-BF7D16010C2B}" type="pres">
      <dgm:prSet presAssocID="{AD88D60D-C9E9-45E1-B6E3-A70D13F97F4F}" presName="rootText" presStyleLbl="node2" presStyleIdx="2" presStyleCnt="4">
        <dgm:presLayoutVars>
          <dgm:chPref val="3"/>
        </dgm:presLayoutVars>
      </dgm:prSet>
      <dgm:spPr/>
    </dgm:pt>
    <dgm:pt modelId="{01402D8F-A1CF-4998-9404-02F1548E446C}" type="pres">
      <dgm:prSet presAssocID="{AD88D60D-C9E9-45E1-B6E3-A70D13F97F4F}" presName="rootConnector" presStyleLbl="node2" presStyleIdx="2" presStyleCnt="4"/>
      <dgm:spPr/>
    </dgm:pt>
    <dgm:pt modelId="{1EEBECEF-F434-4771-8AF9-5217FA427FDE}" type="pres">
      <dgm:prSet presAssocID="{AD88D60D-C9E9-45E1-B6E3-A70D13F97F4F}" presName="hierChild4" presStyleCnt="0"/>
      <dgm:spPr/>
    </dgm:pt>
    <dgm:pt modelId="{5B8F5AF5-889F-425B-8BDA-7740F68C915D}" type="pres">
      <dgm:prSet presAssocID="{AD88D60D-C9E9-45E1-B6E3-A70D13F97F4F}" presName="hierChild5" presStyleCnt="0"/>
      <dgm:spPr/>
    </dgm:pt>
    <dgm:pt modelId="{27AA8778-27E4-4DEC-8157-07E8DEA847C7}" type="pres">
      <dgm:prSet presAssocID="{D6CE8E0A-85B1-4FFD-9A3B-1F9D9425E9A5}" presName="Name37" presStyleLbl="parChTrans1D2" presStyleIdx="3" presStyleCnt="4"/>
      <dgm:spPr/>
    </dgm:pt>
    <dgm:pt modelId="{2BC2FDA4-6E5E-4CF2-A70C-494A6EE14F91}" type="pres">
      <dgm:prSet presAssocID="{12C72D21-D204-417E-82D1-D341C0EC5799}" presName="hierRoot2" presStyleCnt="0">
        <dgm:presLayoutVars>
          <dgm:hierBranch val="init"/>
        </dgm:presLayoutVars>
      </dgm:prSet>
      <dgm:spPr/>
    </dgm:pt>
    <dgm:pt modelId="{0C3D064C-F159-4AE7-BBB7-BB8E2314C633}" type="pres">
      <dgm:prSet presAssocID="{12C72D21-D204-417E-82D1-D341C0EC5799}" presName="rootComposite" presStyleCnt="0"/>
      <dgm:spPr/>
    </dgm:pt>
    <dgm:pt modelId="{8352B5D8-2065-45F4-8D02-5AE0FB3F5BAC}" type="pres">
      <dgm:prSet presAssocID="{12C72D21-D204-417E-82D1-D341C0EC5799}" presName="rootText" presStyleLbl="node2" presStyleIdx="3" presStyleCnt="4">
        <dgm:presLayoutVars>
          <dgm:chPref val="3"/>
        </dgm:presLayoutVars>
      </dgm:prSet>
      <dgm:spPr/>
    </dgm:pt>
    <dgm:pt modelId="{9057EE2C-8922-4D00-86CC-A1A3368B8ABE}" type="pres">
      <dgm:prSet presAssocID="{12C72D21-D204-417E-82D1-D341C0EC5799}" presName="rootConnector" presStyleLbl="node2" presStyleIdx="3" presStyleCnt="4"/>
      <dgm:spPr/>
    </dgm:pt>
    <dgm:pt modelId="{7D80692C-B4DC-4F47-8124-2CAA7E7989BF}" type="pres">
      <dgm:prSet presAssocID="{12C72D21-D204-417E-82D1-D341C0EC5799}" presName="hierChild4" presStyleCnt="0"/>
      <dgm:spPr/>
    </dgm:pt>
    <dgm:pt modelId="{74D7F86E-0701-4661-BF15-87D017B0219D}" type="pres">
      <dgm:prSet presAssocID="{12C72D21-D204-417E-82D1-D341C0EC5799}" presName="hierChild5" presStyleCnt="0"/>
      <dgm:spPr/>
    </dgm:pt>
    <dgm:pt modelId="{826D6C0B-C4A8-4DD8-B657-29DDF96760E3}" type="pres">
      <dgm:prSet presAssocID="{969D915A-AD66-4AD4-B34B-AA5B4E725F1A}" presName="hierChild3" presStyleCnt="0"/>
      <dgm:spPr/>
    </dgm:pt>
  </dgm:ptLst>
  <dgm:cxnLst>
    <dgm:cxn modelId="{C4831A15-ED95-46C2-B3A7-69874A904AAC}" type="presOf" srcId="{4EE3B940-66A5-4225-90EF-E3D0331A3D02}" destId="{54686792-D6A2-475F-98C7-5BC2501A304E}" srcOrd="0" destOrd="0" presId="urn:microsoft.com/office/officeart/2005/8/layout/orgChart1"/>
    <dgm:cxn modelId="{5F9D7019-5120-4A35-874D-42B854B48724}" type="presOf" srcId="{AD88D60D-C9E9-45E1-B6E3-A70D13F97F4F}" destId="{01402D8F-A1CF-4998-9404-02F1548E446C}" srcOrd="1" destOrd="0" presId="urn:microsoft.com/office/officeart/2005/8/layout/orgChart1"/>
    <dgm:cxn modelId="{79B37020-9A00-488C-9030-D28CEBCC21E1}" srcId="{DDAE8F13-0071-40FD-97ED-FA689A9146B8}" destId="{969D915A-AD66-4AD4-B34B-AA5B4E725F1A}" srcOrd="0" destOrd="0" parTransId="{41A7AF29-5837-4110-BD5B-98E8D3135FA6}" sibTransId="{F64D37D4-DAA3-4BF9-B2FF-9B3340985AC9}"/>
    <dgm:cxn modelId="{E9EE8921-1606-4E0B-A574-18A65BFCB3BC}" type="presOf" srcId="{D41E5CA7-A981-475F-9A63-D093260892E5}" destId="{A676F155-2660-417D-8DF5-5EED4824C3CB}" srcOrd="1" destOrd="0" presId="urn:microsoft.com/office/officeart/2005/8/layout/orgChart1"/>
    <dgm:cxn modelId="{3E6B3F2F-0A85-4D6B-84AC-FEC6A7FD0CC7}" type="presOf" srcId="{12C72D21-D204-417E-82D1-D341C0EC5799}" destId="{8352B5D8-2065-45F4-8D02-5AE0FB3F5BAC}" srcOrd="0" destOrd="0" presId="urn:microsoft.com/office/officeart/2005/8/layout/orgChart1"/>
    <dgm:cxn modelId="{99949562-DA7C-42DF-9014-0B87DD8F9F73}" type="presOf" srcId="{969D915A-AD66-4AD4-B34B-AA5B4E725F1A}" destId="{AB4227E2-C9F9-4898-BD6B-F94BAA123DFA}" srcOrd="0" destOrd="0" presId="urn:microsoft.com/office/officeart/2005/8/layout/orgChart1"/>
    <dgm:cxn modelId="{16453447-D66B-440D-B069-675F211E6E85}" srcId="{969D915A-AD66-4AD4-B34B-AA5B4E725F1A}" destId="{12C72D21-D204-417E-82D1-D341C0EC5799}" srcOrd="3" destOrd="0" parTransId="{D6CE8E0A-85B1-4FFD-9A3B-1F9D9425E9A5}" sibTransId="{FAFD86A4-80BD-413D-BFFC-E660DB2A9C01}"/>
    <dgm:cxn modelId="{495B199B-9454-4FE0-ABDB-D0FDFB6E6C65}" type="presOf" srcId="{D41E5CA7-A981-475F-9A63-D093260892E5}" destId="{57930BA5-9361-4729-9C95-82A51032B41B}" srcOrd="0" destOrd="0" presId="urn:microsoft.com/office/officeart/2005/8/layout/orgChart1"/>
    <dgm:cxn modelId="{533FF5A4-48C5-407A-9F90-807B8F1102BA}" type="presOf" srcId="{D54C9DBF-294D-4B24-A013-093C559E6D87}" destId="{482DBB89-1CEC-4AED-B2E9-8E22BBDAF13F}" srcOrd="1" destOrd="0" presId="urn:microsoft.com/office/officeart/2005/8/layout/orgChart1"/>
    <dgm:cxn modelId="{10F12AA8-DFFC-4DBD-B336-01F890AB366D}" type="presOf" srcId="{77918F37-312D-4C89-9E8F-589BD1F9FEA6}" destId="{1765C9C5-EFE6-4871-9964-F3E02AB596E3}" srcOrd="0" destOrd="0" presId="urn:microsoft.com/office/officeart/2005/8/layout/orgChart1"/>
    <dgm:cxn modelId="{CE6227B4-6181-448E-AAE2-B75010A46344}" srcId="{969D915A-AD66-4AD4-B34B-AA5B4E725F1A}" destId="{AD88D60D-C9E9-45E1-B6E3-A70D13F97F4F}" srcOrd="2" destOrd="0" parTransId="{899001F9-ABFC-46B9-BC34-A5E83084BDF8}" sibTransId="{2EB4C975-6053-4BD6-8D7D-2F03FF449036}"/>
    <dgm:cxn modelId="{06D2BBB4-0A8B-4DE3-8EB5-506F782BB089}" type="presOf" srcId="{899001F9-ABFC-46B9-BC34-A5E83084BDF8}" destId="{D60F8EE0-9A21-4380-9381-7399C7F2955C}" srcOrd="0" destOrd="0" presId="urn:microsoft.com/office/officeart/2005/8/layout/orgChart1"/>
    <dgm:cxn modelId="{79C06FB6-CE5D-42EA-9F34-5A1E64908607}" type="presOf" srcId="{D6CE8E0A-85B1-4FFD-9A3B-1F9D9425E9A5}" destId="{27AA8778-27E4-4DEC-8157-07E8DEA847C7}" srcOrd="0" destOrd="0" presId="urn:microsoft.com/office/officeart/2005/8/layout/orgChart1"/>
    <dgm:cxn modelId="{99EBCCC0-96A2-4BE9-8EDF-46EE4FF5A049}" type="presOf" srcId="{AD88D60D-C9E9-45E1-B6E3-A70D13F97F4F}" destId="{5771C3AC-121B-4B5A-AE17-BF7D16010C2B}" srcOrd="0" destOrd="0" presId="urn:microsoft.com/office/officeart/2005/8/layout/orgChart1"/>
    <dgm:cxn modelId="{1CE147C4-08D4-4C77-95F3-8BE0D56AD4EE}" type="presOf" srcId="{12C72D21-D204-417E-82D1-D341C0EC5799}" destId="{9057EE2C-8922-4D00-86CC-A1A3368B8ABE}" srcOrd="1" destOrd="0" presId="urn:microsoft.com/office/officeart/2005/8/layout/orgChart1"/>
    <dgm:cxn modelId="{EDF40EDE-2C7F-4C18-9CF2-2069A68FE516}" srcId="{969D915A-AD66-4AD4-B34B-AA5B4E725F1A}" destId="{D41E5CA7-A981-475F-9A63-D093260892E5}" srcOrd="1" destOrd="0" parTransId="{77918F37-312D-4C89-9E8F-589BD1F9FEA6}" sibTransId="{0C70E4FB-6709-446B-B86F-C77F117DCEED}"/>
    <dgm:cxn modelId="{BDEAF9E4-9B2C-4BCF-976F-9DD092CC79F8}" type="presOf" srcId="{969D915A-AD66-4AD4-B34B-AA5B4E725F1A}" destId="{B85CE407-73AA-49BF-8EC1-72A44623AB61}" srcOrd="1" destOrd="0" presId="urn:microsoft.com/office/officeart/2005/8/layout/orgChart1"/>
    <dgm:cxn modelId="{2D6D86EB-2A6A-4A41-BEDE-81C86044E193}" type="presOf" srcId="{DDAE8F13-0071-40FD-97ED-FA689A9146B8}" destId="{E06A5FE6-E6C1-4EE7-B80F-ED3CA4BAFBCC}" srcOrd="0" destOrd="0" presId="urn:microsoft.com/office/officeart/2005/8/layout/orgChart1"/>
    <dgm:cxn modelId="{CE407FF6-748A-491B-B001-BBCB383592A9}" type="presOf" srcId="{D54C9DBF-294D-4B24-A013-093C559E6D87}" destId="{FB9429BB-FA27-4AEB-A94D-E90359132801}" srcOrd="0" destOrd="0" presId="urn:microsoft.com/office/officeart/2005/8/layout/orgChart1"/>
    <dgm:cxn modelId="{812F0EFD-1DC6-41F4-8054-0FCB580BD590}" srcId="{969D915A-AD66-4AD4-B34B-AA5B4E725F1A}" destId="{D54C9DBF-294D-4B24-A013-093C559E6D87}" srcOrd="0" destOrd="0" parTransId="{4EE3B940-66A5-4225-90EF-E3D0331A3D02}" sibTransId="{FCC92753-27C0-4AFD-8A25-8D750F52F218}"/>
    <dgm:cxn modelId="{E4AA049E-460D-4B62-8A0E-AA2350016AE6}" type="presParOf" srcId="{E06A5FE6-E6C1-4EE7-B80F-ED3CA4BAFBCC}" destId="{8686A915-34CE-41DC-8A2D-572C71E78923}" srcOrd="0" destOrd="0" presId="urn:microsoft.com/office/officeart/2005/8/layout/orgChart1"/>
    <dgm:cxn modelId="{B176247A-0D5E-4897-A189-2374F4712D20}" type="presParOf" srcId="{8686A915-34CE-41DC-8A2D-572C71E78923}" destId="{56729CB1-D6B0-42E5-B02F-F84F695C562F}" srcOrd="0" destOrd="0" presId="urn:microsoft.com/office/officeart/2005/8/layout/orgChart1"/>
    <dgm:cxn modelId="{7E69E9B7-7775-43E1-9627-9D5492337FC5}" type="presParOf" srcId="{56729CB1-D6B0-42E5-B02F-F84F695C562F}" destId="{AB4227E2-C9F9-4898-BD6B-F94BAA123DFA}" srcOrd="0" destOrd="0" presId="urn:microsoft.com/office/officeart/2005/8/layout/orgChart1"/>
    <dgm:cxn modelId="{275E71CB-4F77-4A27-A3BB-45B5C74318BE}" type="presParOf" srcId="{56729CB1-D6B0-42E5-B02F-F84F695C562F}" destId="{B85CE407-73AA-49BF-8EC1-72A44623AB61}" srcOrd="1" destOrd="0" presId="urn:microsoft.com/office/officeart/2005/8/layout/orgChart1"/>
    <dgm:cxn modelId="{D93645B4-4C61-485B-8CD3-87BB6D89BDF2}" type="presParOf" srcId="{8686A915-34CE-41DC-8A2D-572C71E78923}" destId="{BCCCFDC4-CA5E-422A-A200-778AB8B45430}" srcOrd="1" destOrd="0" presId="urn:microsoft.com/office/officeart/2005/8/layout/orgChart1"/>
    <dgm:cxn modelId="{B8C5C2AC-7367-4C72-89A3-7896AAA48935}" type="presParOf" srcId="{BCCCFDC4-CA5E-422A-A200-778AB8B45430}" destId="{54686792-D6A2-475F-98C7-5BC2501A304E}" srcOrd="0" destOrd="0" presId="urn:microsoft.com/office/officeart/2005/8/layout/orgChart1"/>
    <dgm:cxn modelId="{03C55881-4B42-4DE2-AEAF-EB22B5062670}" type="presParOf" srcId="{BCCCFDC4-CA5E-422A-A200-778AB8B45430}" destId="{26A0C204-176E-48C1-B43D-1CFF5CC329DC}" srcOrd="1" destOrd="0" presId="urn:microsoft.com/office/officeart/2005/8/layout/orgChart1"/>
    <dgm:cxn modelId="{F212697E-E8A1-44A4-BD81-EDD656E97ACE}" type="presParOf" srcId="{26A0C204-176E-48C1-B43D-1CFF5CC329DC}" destId="{0C216AEB-ED18-4B49-89D1-DF023984949D}" srcOrd="0" destOrd="0" presId="urn:microsoft.com/office/officeart/2005/8/layout/orgChart1"/>
    <dgm:cxn modelId="{6CFB91CD-4C3A-44A7-BDFD-3AF171C1BBE8}" type="presParOf" srcId="{0C216AEB-ED18-4B49-89D1-DF023984949D}" destId="{FB9429BB-FA27-4AEB-A94D-E90359132801}" srcOrd="0" destOrd="0" presId="urn:microsoft.com/office/officeart/2005/8/layout/orgChart1"/>
    <dgm:cxn modelId="{3CBC710C-C5C4-4594-9E60-AC475EDC51E7}" type="presParOf" srcId="{0C216AEB-ED18-4B49-89D1-DF023984949D}" destId="{482DBB89-1CEC-4AED-B2E9-8E22BBDAF13F}" srcOrd="1" destOrd="0" presId="urn:microsoft.com/office/officeart/2005/8/layout/orgChart1"/>
    <dgm:cxn modelId="{F849EA3A-9F7D-4FA8-9BD9-A93A3845C967}" type="presParOf" srcId="{26A0C204-176E-48C1-B43D-1CFF5CC329DC}" destId="{39860EBD-94A0-42FE-8FA6-0C900F41F9F7}" srcOrd="1" destOrd="0" presId="urn:microsoft.com/office/officeart/2005/8/layout/orgChart1"/>
    <dgm:cxn modelId="{A87B6FB2-21B4-44E7-9221-7840A147CCBA}" type="presParOf" srcId="{26A0C204-176E-48C1-B43D-1CFF5CC329DC}" destId="{A811BD7A-3788-4578-8F6B-3B5A4CE9BC0E}" srcOrd="2" destOrd="0" presId="urn:microsoft.com/office/officeart/2005/8/layout/orgChart1"/>
    <dgm:cxn modelId="{0E15BC5C-0667-4B12-8164-3E64CDC8FDBA}" type="presParOf" srcId="{BCCCFDC4-CA5E-422A-A200-778AB8B45430}" destId="{1765C9C5-EFE6-4871-9964-F3E02AB596E3}" srcOrd="2" destOrd="0" presId="urn:microsoft.com/office/officeart/2005/8/layout/orgChart1"/>
    <dgm:cxn modelId="{1F79FDD6-4CAD-4E45-886D-A34CFF97FAFB}" type="presParOf" srcId="{BCCCFDC4-CA5E-422A-A200-778AB8B45430}" destId="{162F7CB2-7D35-4D8E-98EC-472ECA97251A}" srcOrd="3" destOrd="0" presId="urn:microsoft.com/office/officeart/2005/8/layout/orgChart1"/>
    <dgm:cxn modelId="{3A8C4270-F476-4356-92BA-28558C63F310}" type="presParOf" srcId="{162F7CB2-7D35-4D8E-98EC-472ECA97251A}" destId="{B2C9F81D-157C-4136-B2FF-0D2D7DD6AE51}" srcOrd="0" destOrd="0" presId="urn:microsoft.com/office/officeart/2005/8/layout/orgChart1"/>
    <dgm:cxn modelId="{EB5ED775-9344-4842-B203-1F906328CE57}" type="presParOf" srcId="{B2C9F81D-157C-4136-B2FF-0D2D7DD6AE51}" destId="{57930BA5-9361-4729-9C95-82A51032B41B}" srcOrd="0" destOrd="0" presId="urn:microsoft.com/office/officeart/2005/8/layout/orgChart1"/>
    <dgm:cxn modelId="{5D3520CB-D935-49DB-880D-61B8006CD58F}" type="presParOf" srcId="{B2C9F81D-157C-4136-B2FF-0D2D7DD6AE51}" destId="{A676F155-2660-417D-8DF5-5EED4824C3CB}" srcOrd="1" destOrd="0" presId="urn:microsoft.com/office/officeart/2005/8/layout/orgChart1"/>
    <dgm:cxn modelId="{F382E89D-CAF9-41CF-938B-98F4A311B8F8}" type="presParOf" srcId="{162F7CB2-7D35-4D8E-98EC-472ECA97251A}" destId="{22DE2153-5290-43C6-9484-93BA4B1D61D2}" srcOrd="1" destOrd="0" presId="urn:microsoft.com/office/officeart/2005/8/layout/orgChart1"/>
    <dgm:cxn modelId="{7DE47FE1-8ED2-4D60-8FC9-C10D20206AD5}" type="presParOf" srcId="{162F7CB2-7D35-4D8E-98EC-472ECA97251A}" destId="{F054A2DE-4C85-4F4C-8946-F3C24BC7DBF9}" srcOrd="2" destOrd="0" presId="urn:microsoft.com/office/officeart/2005/8/layout/orgChart1"/>
    <dgm:cxn modelId="{455EBF79-17AA-47AF-85A3-117261D2A110}" type="presParOf" srcId="{BCCCFDC4-CA5E-422A-A200-778AB8B45430}" destId="{D60F8EE0-9A21-4380-9381-7399C7F2955C}" srcOrd="4" destOrd="0" presId="urn:microsoft.com/office/officeart/2005/8/layout/orgChart1"/>
    <dgm:cxn modelId="{FF9D18CA-10EB-467E-8E01-61BD89F6791F}" type="presParOf" srcId="{BCCCFDC4-CA5E-422A-A200-778AB8B45430}" destId="{5B2AD584-A65B-42CD-87BF-65A97177EADC}" srcOrd="5" destOrd="0" presId="urn:microsoft.com/office/officeart/2005/8/layout/orgChart1"/>
    <dgm:cxn modelId="{7C003F63-7C16-49CF-AFF5-A5C62813AFA8}" type="presParOf" srcId="{5B2AD584-A65B-42CD-87BF-65A97177EADC}" destId="{B6D57DAF-F7C0-4CD3-9A6D-9ECB7415C6D3}" srcOrd="0" destOrd="0" presId="urn:microsoft.com/office/officeart/2005/8/layout/orgChart1"/>
    <dgm:cxn modelId="{C76B6B5A-C16C-44EF-9E90-A0B6AADA8FB6}" type="presParOf" srcId="{B6D57DAF-F7C0-4CD3-9A6D-9ECB7415C6D3}" destId="{5771C3AC-121B-4B5A-AE17-BF7D16010C2B}" srcOrd="0" destOrd="0" presId="urn:microsoft.com/office/officeart/2005/8/layout/orgChart1"/>
    <dgm:cxn modelId="{EACCE2D0-5B73-428F-95B4-7C7531D0B14B}" type="presParOf" srcId="{B6D57DAF-F7C0-4CD3-9A6D-9ECB7415C6D3}" destId="{01402D8F-A1CF-4998-9404-02F1548E446C}" srcOrd="1" destOrd="0" presId="urn:microsoft.com/office/officeart/2005/8/layout/orgChart1"/>
    <dgm:cxn modelId="{2F6B235F-FB1C-4B8D-A050-AA42396233B9}" type="presParOf" srcId="{5B2AD584-A65B-42CD-87BF-65A97177EADC}" destId="{1EEBECEF-F434-4771-8AF9-5217FA427FDE}" srcOrd="1" destOrd="0" presId="urn:microsoft.com/office/officeart/2005/8/layout/orgChart1"/>
    <dgm:cxn modelId="{3B33E618-6E18-49C2-A6C9-37B419F64081}" type="presParOf" srcId="{5B2AD584-A65B-42CD-87BF-65A97177EADC}" destId="{5B8F5AF5-889F-425B-8BDA-7740F68C915D}" srcOrd="2" destOrd="0" presId="urn:microsoft.com/office/officeart/2005/8/layout/orgChart1"/>
    <dgm:cxn modelId="{4EA57E2F-DA6E-4426-B3AF-BC45D694A874}" type="presParOf" srcId="{BCCCFDC4-CA5E-422A-A200-778AB8B45430}" destId="{27AA8778-27E4-4DEC-8157-07E8DEA847C7}" srcOrd="6" destOrd="0" presId="urn:microsoft.com/office/officeart/2005/8/layout/orgChart1"/>
    <dgm:cxn modelId="{C33083A5-F4AA-4E7B-9992-3E8494D3D5D8}" type="presParOf" srcId="{BCCCFDC4-CA5E-422A-A200-778AB8B45430}" destId="{2BC2FDA4-6E5E-4CF2-A70C-494A6EE14F91}" srcOrd="7" destOrd="0" presId="urn:microsoft.com/office/officeart/2005/8/layout/orgChart1"/>
    <dgm:cxn modelId="{37373B1F-92BE-411D-9D78-B315104E11F8}" type="presParOf" srcId="{2BC2FDA4-6E5E-4CF2-A70C-494A6EE14F91}" destId="{0C3D064C-F159-4AE7-BBB7-BB8E2314C633}" srcOrd="0" destOrd="0" presId="urn:microsoft.com/office/officeart/2005/8/layout/orgChart1"/>
    <dgm:cxn modelId="{69DF86FF-7FFE-4033-8108-F0AF5669D79C}" type="presParOf" srcId="{0C3D064C-F159-4AE7-BBB7-BB8E2314C633}" destId="{8352B5D8-2065-45F4-8D02-5AE0FB3F5BAC}" srcOrd="0" destOrd="0" presId="urn:microsoft.com/office/officeart/2005/8/layout/orgChart1"/>
    <dgm:cxn modelId="{B0664B4F-461B-49A0-9AA6-94EC41B0441A}" type="presParOf" srcId="{0C3D064C-F159-4AE7-BBB7-BB8E2314C633}" destId="{9057EE2C-8922-4D00-86CC-A1A3368B8ABE}" srcOrd="1" destOrd="0" presId="urn:microsoft.com/office/officeart/2005/8/layout/orgChart1"/>
    <dgm:cxn modelId="{BC422E5B-53D8-423D-94F0-150C23605A79}" type="presParOf" srcId="{2BC2FDA4-6E5E-4CF2-A70C-494A6EE14F91}" destId="{7D80692C-B4DC-4F47-8124-2CAA7E7989BF}" srcOrd="1" destOrd="0" presId="urn:microsoft.com/office/officeart/2005/8/layout/orgChart1"/>
    <dgm:cxn modelId="{241ECC2E-9CEA-492D-BDF8-12DC36765DCC}" type="presParOf" srcId="{2BC2FDA4-6E5E-4CF2-A70C-494A6EE14F91}" destId="{74D7F86E-0701-4661-BF15-87D017B0219D}" srcOrd="2" destOrd="0" presId="urn:microsoft.com/office/officeart/2005/8/layout/orgChart1"/>
    <dgm:cxn modelId="{F7E21674-1F02-4366-B3F5-B47D90274F51}" type="presParOf" srcId="{8686A915-34CE-41DC-8A2D-572C71E78923}" destId="{826D6C0B-C4A8-4DD8-B657-29DDF96760E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4644188" cy="2206177"/>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139858" y="294157"/>
          <a:ext cx="2078319" cy="1617863"/>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7000" b="-7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103280" y="2206177"/>
          <a:ext cx="2078319" cy="269643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Who is it for?</a:t>
          </a:r>
          <a:br>
            <a:rPr lang="en-US" sz="1200" b="0" kern="1200" noProof="0" dirty="0">
              <a:latin typeface="Avenir Next LT Pro" panose="020B0504020202020204" pitchFamily="34" charset="0"/>
            </a:rPr>
          </a:br>
          <a:endParaRPr lang="en-US" sz="1200" b="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b="0" kern="1200" noProof="0" dirty="0">
              <a:latin typeface="Avenir Next LT Pro" panose="020B0504020202020204" pitchFamily="34" charset="0"/>
            </a:rPr>
            <a:t>Communities of Practice (CoP) members who decide of what to do in the CoP</a:t>
          </a:r>
          <a:br>
            <a:rPr lang="en-US" sz="1200" b="0" kern="1200" noProof="0" dirty="0">
              <a:latin typeface="Avenir Next LT Pro" panose="020B0504020202020204" pitchFamily="34" charset="0"/>
            </a:rPr>
          </a:br>
          <a:endParaRPr lang="en-US" sz="1200" b="0" kern="1200" noProof="0" dirty="0">
            <a:solidFill>
              <a:srgbClr val="5C4E63"/>
            </a:solidFill>
            <a:latin typeface="Avenir Next LT Pro" panose="020B0504020202020204" pitchFamily="34" charset="0"/>
          </a:endParaRPr>
        </a:p>
      </dsp:txBody>
      <dsp:txXfrm rot="10800000">
        <a:off x="167195" y="2206177"/>
        <a:ext cx="1950489" cy="2632524"/>
      </dsp:txXfrm>
    </dsp:sp>
    <dsp:sp modelId="{848092CF-B9E2-4851-AA8D-7B70D879A555}">
      <dsp:nvSpPr>
        <dsp:cNvPr id="0" name=""/>
        <dsp:cNvSpPr/>
      </dsp:nvSpPr>
      <dsp:spPr>
        <a:xfrm>
          <a:off x="2426009" y="294157"/>
          <a:ext cx="2078319" cy="1617863"/>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7000" b="-7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426009" y="2206177"/>
          <a:ext cx="2078319" cy="269643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For which situations ?</a:t>
          </a:r>
          <a:endParaRPr lang="en-US" sz="120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kern="1200" noProof="0" dirty="0">
              <a:latin typeface="Avenir Next LT Pro" panose="020B0504020202020204" pitchFamily="34" charset="0"/>
            </a:rPr>
            <a:t>Situation 1 : CoP has listed a certain number of goals and wants to know what to do with practices about these goals</a:t>
          </a:r>
          <a:br>
            <a:rPr lang="en-US" sz="1200" kern="1200" noProof="0" dirty="0">
              <a:latin typeface="Avenir Next LT Pro" panose="020B0504020202020204" pitchFamily="34" charset="0"/>
            </a:rPr>
          </a:br>
          <a:endParaRPr lang="en-US" sz="1200" kern="1200" noProof="0" dirty="0">
            <a:latin typeface="Avenir Next LT Pro" panose="020B0504020202020204" pitchFamily="34" charset="0"/>
          </a:endParaRPr>
        </a:p>
        <a:p>
          <a:pPr marL="0" lvl="0" indent="0" algn="ctr" defTabSz="622300">
            <a:lnSpc>
              <a:spcPct val="90000"/>
            </a:lnSpc>
            <a:spcBef>
              <a:spcPct val="0"/>
            </a:spcBef>
            <a:spcAft>
              <a:spcPct val="35000"/>
            </a:spcAft>
            <a:buNone/>
          </a:pPr>
          <a:r>
            <a:rPr lang="en-US" sz="1200" kern="1200" noProof="0" dirty="0">
              <a:latin typeface="Avenir Next LT Pro" panose="020B0504020202020204" pitchFamily="34" charset="0"/>
            </a:rPr>
            <a:t>Situation 2 : CoP wants to define its activities</a:t>
          </a:r>
        </a:p>
      </dsp:txBody>
      <dsp:txXfrm rot="10800000">
        <a:off x="2489924" y="2206177"/>
        <a:ext cx="1950489" cy="26325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8733639" cy="2472994"/>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264815" y="329732"/>
          <a:ext cx="1519260" cy="1813529"/>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264815"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a:solidFill>
                <a:srgbClr val="8E2C48"/>
              </a:solidFill>
              <a:latin typeface="Avenir Next LT Pro" panose="020B0504020202020204" pitchFamily="34" charset="0"/>
            </a:rPr>
            <a:t>1. Goal and explanation of the workshop</a:t>
          </a:r>
          <a:br>
            <a:rPr lang="en-US" sz="1200" kern="1200" noProof="0">
              <a:latin typeface="Avenir Next LT Pro" panose="020B0504020202020204" pitchFamily="34" charset="0"/>
            </a:rPr>
          </a:br>
          <a:br>
            <a:rPr lang="en-US" sz="1200" kern="1200" noProof="0">
              <a:latin typeface="Avenir Next LT Pro" panose="020B0504020202020204" pitchFamily="34" charset="0"/>
            </a:rPr>
          </a:br>
          <a:r>
            <a:rPr lang="en-US" sz="1200" kern="1200" noProof="0">
              <a:latin typeface="Avenir Next LT Pro" panose="020B0504020202020204" pitchFamily="34" charset="0"/>
            </a:rPr>
            <a:t>Explain why this workshop in the Community of practice (show the problem, the cause, and the workshop)</a:t>
          </a:r>
          <a:endParaRPr lang="en-US" sz="1200" kern="1200" noProof="0">
            <a:solidFill>
              <a:srgbClr val="5C4E63"/>
            </a:solidFill>
            <a:latin typeface="Avenir Next LT Pro" panose="020B0504020202020204" pitchFamily="34" charset="0"/>
          </a:endParaRPr>
        </a:p>
      </dsp:txBody>
      <dsp:txXfrm rot="10800000">
        <a:off x="311537" y="2472994"/>
        <a:ext cx="1425816" cy="2975827"/>
      </dsp:txXfrm>
    </dsp:sp>
    <dsp:sp modelId="{848092CF-B9E2-4851-AA8D-7B70D879A555}">
      <dsp:nvSpPr>
        <dsp:cNvPr id="0" name=""/>
        <dsp:cNvSpPr/>
      </dsp:nvSpPr>
      <dsp:spPr>
        <a:xfrm>
          <a:off x="1936002" y="329732"/>
          <a:ext cx="1519260" cy="1813529"/>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1936002"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2. Prioritize list of goals (members)</a:t>
          </a:r>
        </a:p>
        <a:p>
          <a:pPr marL="0" lvl="0" indent="0" algn="ctr" defTabSz="533400">
            <a:lnSpc>
              <a:spcPct val="90000"/>
            </a:lnSpc>
            <a:spcBef>
              <a:spcPct val="0"/>
            </a:spcBef>
            <a:spcAft>
              <a:spcPct val="35000"/>
            </a:spcAft>
            <a:buNone/>
          </a:pP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From all the members’ goals of the Community of practice, select the most important from which to extract practices</a:t>
          </a:r>
        </a:p>
      </dsp:txBody>
      <dsp:txXfrm rot="10800000">
        <a:off x="1982724" y="2472994"/>
        <a:ext cx="1425816" cy="2975827"/>
      </dsp:txXfrm>
    </dsp:sp>
    <dsp:sp modelId="{B7183DFA-5031-4E8E-8D73-48543D88745F}">
      <dsp:nvSpPr>
        <dsp:cNvPr id="0" name=""/>
        <dsp:cNvSpPr/>
      </dsp:nvSpPr>
      <dsp:spPr>
        <a:xfrm>
          <a:off x="3607189" y="329732"/>
          <a:ext cx="1519260" cy="1813529"/>
        </a:xfrm>
        <a:prstGeom prst="roundRect">
          <a:avLst>
            <a:gd name="adj" fmla="val 10000"/>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l="-10000" r="-1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F677139D-3035-490A-997C-154D3529BFB7}">
      <dsp:nvSpPr>
        <dsp:cNvPr id="0" name=""/>
        <dsp:cNvSpPr/>
      </dsp:nvSpPr>
      <dsp:spPr>
        <a:xfrm rot="10800000">
          <a:off x="3607189"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3. For the top goal, write down practices </a:t>
          </a:r>
        </a:p>
        <a:p>
          <a:pPr marL="0" lvl="0" indent="0" algn="ctr" defTabSz="533400">
            <a:lnSpc>
              <a:spcPct val="90000"/>
            </a:lnSpc>
            <a:spcBef>
              <a:spcPct val="0"/>
            </a:spcBef>
            <a:spcAft>
              <a:spcPct val="35000"/>
            </a:spcAft>
            <a:buNone/>
          </a:pPr>
          <a:endParaRPr lang="en-US" sz="1200" kern="1200" noProof="0" dirty="0">
            <a:solidFill>
              <a:srgbClr val="5C4E63"/>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Members write down what they usually do for this goal</a:t>
          </a:r>
        </a:p>
      </dsp:txBody>
      <dsp:txXfrm rot="10800000">
        <a:off x="3653911" y="2472994"/>
        <a:ext cx="1425816" cy="2975827"/>
      </dsp:txXfrm>
    </dsp:sp>
    <dsp:sp modelId="{91E4E427-BF6D-4E74-8618-4E46287FCF25}">
      <dsp:nvSpPr>
        <dsp:cNvPr id="0" name=""/>
        <dsp:cNvSpPr/>
      </dsp:nvSpPr>
      <dsp:spPr>
        <a:xfrm>
          <a:off x="5278376" y="329732"/>
          <a:ext cx="1519260" cy="1813529"/>
        </a:xfrm>
        <a:prstGeom prst="roundRect">
          <a:avLst>
            <a:gd name="adj" fmla="val 10000"/>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a:fillRect l="-10000" r="-10000"/>
          </a:stretch>
        </a:blip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3F8B35-0D0B-43F4-B0ED-3CCE7C30D792}">
      <dsp:nvSpPr>
        <dsp:cNvPr id="0" name=""/>
        <dsp:cNvSpPr/>
      </dsp:nvSpPr>
      <dsp:spPr>
        <a:xfrm rot="10800000">
          <a:off x="5278376"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4. Qualify practices</a:t>
          </a:r>
        </a:p>
        <a:p>
          <a:pPr marL="0" lvl="0" indent="0" algn="ctr" defTabSz="533400">
            <a:lnSpc>
              <a:spcPct val="90000"/>
            </a:lnSpc>
            <a:spcBef>
              <a:spcPct val="0"/>
            </a:spcBef>
            <a:spcAft>
              <a:spcPct val="35000"/>
            </a:spcAft>
            <a:buNone/>
          </a:pPr>
          <a:endParaRPr lang="en-US" sz="1200" b="1" kern="1200" noProof="0" dirty="0">
            <a:solidFill>
              <a:srgbClr val="8E2C48"/>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kern="1200" noProof="0" dirty="0">
              <a:solidFill>
                <a:srgbClr val="5C4E63"/>
              </a:solidFill>
              <a:latin typeface="Avenir Next LT Pro" panose="020B0504020202020204" pitchFamily="34" charset="0"/>
            </a:rPr>
            <a:t>For each practice, position them in the Practices Mastery-Transposability Matrix (PMTM)</a:t>
          </a:r>
        </a:p>
      </dsp:txBody>
      <dsp:txXfrm rot="10800000">
        <a:off x="5325098" y="2472994"/>
        <a:ext cx="1425816" cy="2975827"/>
      </dsp:txXfrm>
    </dsp:sp>
    <dsp:sp modelId="{464126BA-8911-40E0-BCE1-A77EED53B330}">
      <dsp:nvSpPr>
        <dsp:cNvPr id="0" name=""/>
        <dsp:cNvSpPr/>
      </dsp:nvSpPr>
      <dsp:spPr>
        <a:xfrm>
          <a:off x="6949562" y="329732"/>
          <a:ext cx="1519260" cy="1813529"/>
        </a:xfrm>
        <a:prstGeom prst="roundRect">
          <a:avLst>
            <a:gd name="adj" fmla="val 10000"/>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l="-10000" r="-10000"/>
          </a:stretch>
        </a:blip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B5A598-CD8D-4063-83BE-4AE9AF9BC492}">
      <dsp:nvSpPr>
        <dsp:cNvPr id="0" name=""/>
        <dsp:cNvSpPr/>
      </dsp:nvSpPr>
      <dsp:spPr>
        <a:xfrm rot="10800000">
          <a:off x="6949562" y="2472994"/>
          <a:ext cx="1519260" cy="3022549"/>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5. Define what to do with the practices</a:t>
          </a:r>
        </a:p>
        <a:p>
          <a:pPr marL="0" lvl="0" indent="0" algn="ctr" defTabSz="533400">
            <a:lnSpc>
              <a:spcPct val="90000"/>
            </a:lnSpc>
            <a:spcBef>
              <a:spcPct val="0"/>
            </a:spcBef>
            <a:spcAft>
              <a:spcPct val="35000"/>
            </a:spcAft>
            <a:buNone/>
          </a:pPr>
          <a:endParaRPr lang="en-US" sz="1200" b="1" kern="1200" noProof="0" dirty="0">
            <a:solidFill>
              <a:srgbClr val="8E2C48"/>
            </a:solidFill>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b="0" kern="1200" noProof="0" dirty="0">
              <a:solidFill>
                <a:srgbClr val="5C4E63"/>
              </a:solidFill>
              <a:latin typeface="Avenir Next LT Pro" panose="020B0504020202020204" pitchFamily="34" charset="0"/>
            </a:rPr>
            <a:t>Starting with zone of your choice in the Practices Mastery Transposability Matrix (PMTM), decide what activities you will do for your listed practices</a:t>
          </a:r>
        </a:p>
      </dsp:txBody>
      <dsp:txXfrm rot="10800000">
        <a:off x="6996284" y="2472994"/>
        <a:ext cx="1425816" cy="29758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7909828" cy="2242566"/>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237294" y="299008"/>
          <a:ext cx="2323511" cy="1644548"/>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237294" y="2242565"/>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Location</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Physical or remote (prepare a virtual wall and a discussion room if in remote) </a:t>
          </a:r>
        </a:p>
      </dsp:txBody>
      <dsp:txXfrm rot="10800000">
        <a:off x="308750" y="2242565"/>
        <a:ext cx="2180599" cy="2669458"/>
      </dsp:txXfrm>
    </dsp:sp>
    <dsp:sp modelId="{848092CF-B9E2-4851-AA8D-7B70D879A555}">
      <dsp:nvSpPr>
        <dsp:cNvPr id="0" name=""/>
        <dsp:cNvSpPr/>
      </dsp:nvSpPr>
      <dsp:spPr>
        <a:xfrm>
          <a:off x="2793158" y="299008"/>
          <a:ext cx="2323511" cy="1644548"/>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793158" y="2242565"/>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To prepare before</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solidFill>
                <a:srgbClr val="5C4E63"/>
              </a:solidFill>
              <a:latin typeface="Avenir Next LT Pro" panose="020B0504020202020204" pitchFamily="34" charset="0"/>
            </a:rPr>
            <a:t>A list of goals to work on in the Community.</a:t>
          </a:r>
        </a:p>
        <a:p>
          <a:pPr marL="0" lvl="0" indent="0" algn="ctr" defTabSz="533400">
            <a:lnSpc>
              <a:spcPct val="90000"/>
            </a:lnSpc>
            <a:spcBef>
              <a:spcPct val="0"/>
            </a:spcBef>
            <a:spcAft>
              <a:spcPct val="35000"/>
            </a:spcAft>
            <a:buNone/>
          </a:pPr>
          <a:endParaRPr lang="fr-FR" sz="1200" kern="1200" dirty="0">
            <a:solidFill>
              <a:srgbClr val="5C4E63"/>
            </a:solidFill>
            <a:latin typeface="Avenir Next LT Pro" panose="020B0504020202020204" pitchFamily="34" charset="0"/>
          </a:endParaRPr>
        </a:p>
      </dsp:txBody>
      <dsp:txXfrm rot="10800000">
        <a:off x="2864614" y="2242565"/>
        <a:ext cx="2180599" cy="2669458"/>
      </dsp:txXfrm>
    </dsp:sp>
    <dsp:sp modelId="{B7183DFA-5031-4E8E-8D73-48543D88745F}">
      <dsp:nvSpPr>
        <dsp:cNvPr id="0" name=""/>
        <dsp:cNvSpPr/>
      </dsp:nvSpPr>
      <dsp:spPr>
        <a:xfrm>
          <a:off x="5349021" y="299008"/>
          <a:ext cx="2323511" cy="1644548"/>
        </a:xfrm>
        <a:prstGeom prst="roundRect">
          <a:avLst>
            <a:gd name="adj" fmla="val 10000"/>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t="-26000" b="-26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F677139D-3035-490A-997C-154D3529BFB7}">
      <dsp:nvSpPr>
        <dsp:cNvPr id="0" name=""/>
        <dsp:cNvSpPr/>
      </dsp:nvSpPr>
      <dsp:spPr>
        <a:xfrm rot="10800000">
          <a:off x="5349021" y="2242565"/>
          <a:ext cx="2323511" cy="2740914"/>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noProof="0" dirty="0">
              <a:solidFill>
                <a:srgbClr val="8E2C48"/>
              </a:solidFill>
              <a:latin typeface="Avenir Next LT Pro" panose="020B0504020202020204" pitchFamily="34" charset="0"/>
            </a:rPr>
            <a:t>Participants</a:t>
          </a:r>
          <a:br>
            <a:rPr lang="en-US" sz="1200" kern="1200" noProof="0" dirty="0">
              <a:latin typeface="Avenir Next LT Pro" panose="020B0504020202020204" pitchFamily="34" charset="0"/>
            </a:rPr>
          </a:br>
          <a:br>
            <a:rPr lang="en-US" sz="1200" kern="1200" noProof="0" dirty="0">
              <a:latin typeface="Avenir Next LT Pro" panose="020B0504020202020204" pitchFamily="34" charset="0"/>
            </a:rPr>
          </a:br>
          <a:r>
            <a:rPr lang="en-US" sz="1200" kern="1200" noProof="0" dirty="0">
              <a:latin typeface="Avenir Next LT Pro" panose="020B0504020202020204" pitchFamily="34" charset="0"/>
            </a:rPr>
            <a:t>Members of Communities of Practice </a:t>
          </a:r>
          <a:r>
            <a:rPr lang="en-US" sz="1200" b="1" kern="1200" noProof="0" dirty="0">
              <a:latin typeface="Avenir Next LT Pro" panose="020B0504020202020204" pitchFamily="34" charset="0"/>
            </a:rPr>
            <a:t>who know what learning a practice means</a:t>
          </a:r>
        </a:p>
        <a:p>
          <a:pPr marL="0" lvl="0" indent="0" algn="ctr" defTabSz="533400">
            <a:lnSpc>
              <a:spcPct val="90000"/>
            </a:lnSpc>
            <a:spcBef>
              <a:spcPct val="0"/>
            </a:spcBef>
            <a:spcAft>
              <a:spcPct val="35000"/>
            </a:spcAft>
            <a:buNone/>
          </a:pPr>
          <a:endParaRPr lang="en-US" sz="1200" b="1" kern="1200" noProof="0" dirty="0">
            <a:latin typeface="Avenir Next LT Pro" panose="020B0504020202020204" pitchFamily="34" charset="0"/>
          </a:endParaRPr>
        </a:p>
        <a:p>
          <a:pPr marL="0" lvl="0" indent="0" algn="ctr" defTabSz="533400">
            <a:lnSpc>
              <a:spcPct val="90000"/>
            </a:lnSpc>
            <a:spcBef>
              <a:spcPct val="0"/>
            </a:spcBef>
            <a:spcAft>
              <a:spcPct val="35000"/>
            </a:spcAft>
            <a:buNone/>
          </a:pPr>
          <a:r>
            <a:rPr lang="en-US" sz="1200" b="0" kern="1200" noProof="0" dirty="0">
              <a:latin typeface="Avenir Next LT Pro" panose="020B0504020202020204" pitchFamily="34" charset="0"/>
            </a:rPr>
            <a:t>Participants should include </a:t>
          </a:r>
          <a:r>
            <a:rPr lang="en-US" sz="1200" b="1" kern="1200" noProof="0" dirty="0">
              <a:latin typeface="Avenir Next LT Pro" panose="020B0504020202020204" pitchFamily="34" charset="0"/>
            </a:rPr>
            <a:t>a minimum number of experienced potential contributors </a:t>
          </a:r>
          <a:r>
            <a:rPr lang="en-US" sz="1200" b="0" kern="1200" noProof="0" dirty="0">
              <a:latin typeface="Avenir Next LT Pro" panose="020B0504020202020204" pitchFamily="34" charset="0"/>
            </a:rPr>
            <a:t>to make this workshop interesting.</a:t>
          </a:r>
        </a:p>
        <a:p>
          <a:pPr marL="0" lvl="0" indent="0" algn="ctr" defTabSz="533400">
            <a:lnSpc>
              <a:spcPct val="90000"/>
            </a:lnSpc>
            <a:spcBef>
              <a:spcPct val="0"/>
            </a:spcBef>
            <a:spcAft>
              <a:spcPct val="35000"/>
            </a:spcAft>
            <a:buNone/>
          </a:pPr>
          <a:r>
            <a:rPr lang="en-US" sz="1200" b="0" kern="1200" noProof="0" dirty="0">
              <a:latin typeface="Avenir Next LT Pro" panose="020B0504020202020204" pitchFamily="34" charset="0"/>
            </a:rPr>
            <a:t>Workshop with unexperienced members only is likely to fail.</a:t>
          </a:r>
        </a:p>
      </dsp:txBody>
      <dsp:txXfrm rot="10800000">
        <a:off x="5420477" y="2242565"/>
        <a:ext cx="2180599" cy="26694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F6BC0-80BD-4AE2-B8BD-A32B9D7650FF}">
      <dsp:nvSpPr>
        <dsp:cNvPr id="0" name=""/>
        <dsp:cNvSpPr/>
      </dsp:nvSpPr>
      <dsp:spPr>
        <a:xfrm>
          <a:off x="0" y="0"/>
          <a:ext cx="3836925" cy="2040142"/>
        </a:xfrm>
        <a:prstGeom prst="roundRect">
          <a:avLst>
            <a:gd name="adj" fmla="val 10000"/>
          </a:avLst>
        </a:prstGeom>
        <a:solidFill>
          <a:schemeClr val="lt1">
            <a:alpha val="90000"/>
            <a:tint val="40000"/>
            <a:hueOff val="0"/>
            <a:satOff val="0"/>
            <a:lumOff val="0"/>
            <a:alphaOff val="0"/>
          </a:schemeClr>
        </a:solidFill>
        <a:ln w="12700" cap="flat" cmpd="sng" algn="ctr">
          <a:solidFill>
            <a:srgbClr val="5C4E63">
              <a:alpha val="90000"/>
            </a:srgbClr>
          </a:solidFill>
          <a:prstDash val="solid"/>
          <a:miter lim="800000"/>
        </a:ln>
        <a:effectLst/>
      </dsp:spPr>
      <dsp:style>
        <a:lnRef idx="2">
          <a:scrgbClr r="0" g="0" b="0"/>
        </a:lnRef>
        <a:fillRef idx="1">
          <a:scrgbClr r="0" g="0" b="0"/>
        </a:fillRef>
        <a:effectRef idx="0">
          <a:scrgbClr r="0" g="0" b="0"/>
        </a:effectRef>
        <a:fontRef idx="minor"/>
      </dsp:style>
    </dsp:sp>
    <dsp:sp modelId="{7A673366-D108-41D1-A757-E6F328FCC9C9}">
      <dsp:nvSpPr>
        <dsp:cNvPr id="0" name=""/>
        <dsp:cNvSpPr/>
      </dsp:nvSpPr>
      <dsp:spPr>
        <a:xfrm>
          <a:off x="115548" y="272018"/>
          <a:ext cx="1717061" cy="1496104"/>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t="-20000" b="-2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898961E9-ECB2-4197-BB94-E0A27D372B88}">
      <dsp:nvSpPr>
        <dsp:cNvPr id="0" name=""/>
        <dsp:cNvSpPr/>
      </dsp:nvSpPr>
      <dsp:spPr>
        <a:xfrm rot="10800000">
          <a:off x="115548" y="2040142"/>
          <a:ext cx="1717061" cy="2493506"/>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This workshop is easier when</a:t>
          </a:r>
          <a:br>
            <a:rPr lang="en-US" sz="1400" kern="1200" noProof="0" dirty="0">
              <a:latin typeface="Avenir Next LT Pro" panose="020B0504020202020204" pitchFamily="34" charset="0"/>
            </a:rPr>
          </a:br>
          <a:br>
            <a:rPr lang="en-US" sz="1400" kern="1200" noProof="0" dirty="0">
              <a:latin typeface="Avenir Next LT Pro" panose="020B0504020202020204" pitchFamily="34" charset="0"/>
            </a:rPr>
          </a:br>
          <a:r>
            <a:rPr lang="en-US" sz="1400" kern="1200" noProof="0" dirty="0">
              <a:solidFill>
                <a:srgbClr val="5C4E63"/>
              </a:solidFill>
              <a:latin typeface="Avenir Next LT Pro" panose="020B0504020202020204" pitchFamily="34" charset="0"/>
            </a:rPr>
            <a:t>Members have past experiences in implementing practices to reach goals in their jobs.</a:t>
          </a:r>
        </a:p>
        <a:p>
          <a:pPr marL="0" lvl="0" indent="0" algn="ctr" defTabSz="622300">
            <a:lnSpc>
              <a:spcPct val="90000"/>
            </a:lnSpc>
            <a:spcBef>
              <a:spcPct val="0"/>
            </a:spcBef>
            <a:spcAft>
              <a:spcPct val="35000"/>
            </a:spcAft>
            <a:buNone/>
          </a:pPr>
          <a:r>
            <a:rPr lang="en-US" sz="1400" kern="1200" noProof="0" dirty="0">
              <a:solidFill>
                <a:srgbClr val="5C4E63"/>
              </a:solidFill>
              <a:latin typeface="Avenir Next LT Pro" panose="020B0504020202020204" pitchFamily="34" charset="0"/>
            </a:rPr>
            <a:t>Members have common goals in their own job.</a:t>
          </a:r>
        </a:p>
      </dsp:txBody>
      <dsp:txXfrm rot="10800000">
        <a:off x="168354" y="2040142"/>
        <a:ext cx="1611449" cy="2440700"/>
      </dsp:txXfrm>
    </dsp:sp>
    <dsp:sp modelId="{848092CF-B9E2-4851-AA8D-7B70D879A555}">
      <dsp:nvSpPr>
        <dsp:cNvPr id="0" name=""/>
        <dsp:cNvSpPr/>
      </dsp:nvSpPr>
      <dsp:spPr>
        <a:xfrm>
          <a:off x="2004315" y="272018"/>
          <a:ext cx="1717061" cy="1496104"/>
        </a:xfrm>
        <a:prstGeom prst="roundRect">
          <a:avLst>
            <a:gd name="adj" fmla="val 10000"/>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t="-20000" b="-20000"/>
          </a:stretch>
        </a:blip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dsp:style>
    </dsp:sp>
    <dsp:sp modelId="{BFB5E530-E857-441B-B448-7F6CB5417375}">
      <dsp:nvSpPr>
        <dsp:cNvPr id="0" name=""/>
        <dsp:cNvSpPr/>
      </dsp:nvSpPr>
      <dsp:spPr>
        <a:xfrm rot="10800000">
          <a:off x="2004315" y="2040142"/>
          <a:ext cx="1717061" cy="2493506"/>
        </a:xfrm>
        <a:prstGeom prst="round2SameRect">
          <a:avLst>
            <a:gd name="adj1" fmla="val 10500"/>
            <a:gd name="adj2" fmla="val 0"/>
          </a:avLst>
        </a:prstGeom>
        <a:solidFill>
          <a:schemeClr val="lt1">
            <a:hueOff val="0"/>
            <a:satOff val="0"/>
            <a:lumOff val="0"/>
            <a:alphaOff val="0"/>
          </a:schemeClr>
        </a:solidFill>
        <a:ln w="12700" cap="flat" cmpd="sng" algn="ctr">
          <a:solidFill>
            <a:srgbClr val="8E2C4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noProof="0" dirty="0">
              <a:solidFill>
                <a:srgbClr val="8E2C48"/>
              </a:solidFill>
              <a:latin typeface="Avenir Next LT Pro" panose="020B0504020202020204" pitchFamily="34" charset="0"/>
            </a:rPr>
            <a:t>This workshop becomes very difficult when</a:t>
          </a:r>
          <a:br>
            <a:rPr lang="en-US" sz="1400" kern="1200" noProof="0" dirty="0">
              <a:latin typeface="Avenir Next LT Pro" panose="020B0504020202020204" pitchFamily="34" charset="0"/>
            </a:rPr>
          </a:br>
          <a:br>
            <a:rPr lang="en-US" sz="1400" kern="1200" noProof="0" dirty="0">
              <a:latin typeface="Avenir Next LT Pro" panose="020B0504020202020204" pitchFamily="34" charset="0"/>
            </a:rPr>
          </a:br>
          <a:r>
            <a:rPr lang="en-US" sz="1400" kern="1200" noProof="0" dirty="0">
              <a:solidFill>
                <a:srgbClr val="5C4E63"/>
              </a:solidFill>
              <a:latin typeface="Avenir Next LT Pro" panose="020B0504020202020204" pitchFamily="34" charset="0"/>
            </a:rPr>
            <a:t>List of goals is not ready yet</a:t>
          </a:r>
        </a:p>
        <a:p>
          <a:pPr marL="0" lvl="0" indent="0" algn="ctr" defTabSz="622300">
            <a:lnSpc>
              <a:spcPct val="90000"/>
            </a:lnSpc>
            <a:spcBef>
              <a:spcPct val="0"/>
            </a:spcBef>
            <a:spcAft>
              <a:spcPct val="35000"/>
            </a:spcAft>
            <a:buNone/>
          </a:pPr>
          <a:r>
            <a:rPr lang="en-US" sz="1400" kern="1200" noProof="0" dirty="0">
              <a:solidFill>
                <a:srgbClr val="5C4E63"/>
              </a:solidFill>
              <a:latin typeface="Avenir Next LT Pro" panose="020B0504020202020204" pitchFamily="34" charset="0"/>
            </a:rPr>
            <a:t>Participants do not feel ready to share about their practice (especially lack of Mastery)</a:t>
          </a:r>
        </a:p>
      </dsp:txBody>
      <dsp:txXfrm rot="10800000">
        <a:off x="2057121" y="2040142"/>
        <a:ext cx="1611449" cy="24407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AA8778-27E4-4DEC-8157-07E8DEA847C7}">
      <dsp:nvSpPr>
        <dsp:cNvPr id="0" name=""/>
        <dsp:cNvSpPr/>
      </dsp:nvSpPr>
      <dsp:spPr>
        <a:xfrm>
          <a:off x="3980688" y="1932376"/>
          <a:ext cx="3117699" cy="360725"/>
        </a:xfrm>
        <a:custGeom>
          <a:avLst/>
          <a:gdLst/>
          <a:ahLst/>
          <a:cxnLst/>
          <a:rect l="0" t="0" r="0" b="0"/>
          <a:pathLst>
            <a:path>
              <a:moveTo>
                <a:pt x="0" y="0"/>
              </a:moveTo>
              <a:lnTo>
                <a:pt x="0" y="180362"/>
              </a:lnTo>
              <a:lnTo>
                <a:pt x="3117699" y="180362"/>
              </a:lnTo>
              <a:lnTo>
                <a:pt x="3117699" y="360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0F8EE0-9A21-4380-9381-7399C7F2955C}">
      <dsp:nvSpPr>
        <dsp:cNvPr id="0" name=""/>
        <dsp:cNvSpPr/>
      </dsp:nvSpPr>
      <dsp:spPr>
        <a:xfrm>
          <a:off x="3980688" y="1932376"/>
          <a:ext cx="1039233" cy="360725"/>
        </a:xfrm>
        <a:custGeom>
          <a:avLst/>
          <a:gdLst/>
          <a:ahLst/>
          <a:cxnLst/>
          <a:rect l="0" t="0" r="0" b="0"/>
          <a:pathLst>
            <a:path>
              <a:moveTo>
                <a:pt x="0" y="0"/>
              </a:moveTo>
              <a:lnTo>
                <a:pt x="0" y="180362"/>
              </a:lnTo>
              <a:lnTo>
                <a:pt x="1039233" y="180362"/>
              </a:lnTo>
              <a:lnTo>
                <a:pt x="1039233" y="360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65C9C5-EFE6-4871-9964-F3E02AB596E3}">
      <dsp:nvSpPr>
        <dsp:cNvPr id="0" name=""/>
        <dsp:cNvSpPr/>
      </dsp:nvSpPr>
      <dsp:spPr>
        <a:xfrm>
          <a:off x="2941454" y="1932376"/>
          <a:ext cx="1039233" cy="360725"/>
        </a:xfrm>
        <a:custGeom>
          <a:avLst/>
          <a:gdLst/>
          <a:ahLst/>
          <a:cxnLst/>
          <a:rect l="0" t="0" r="0" b="0"/>
          <a:pathLst>
            <a:path>
              <a:moveTo>
                <a:pt x="1039233" y="0"/>
              </a:moveTo>
              <a:lnTo>
                <a:pt x="1039233" y="180362"/>
              </a:lnTo>
              <a:lnTo>
                <a:pt x="0" y="180362"/>
              </a:lnTo>
              <a:lnTo>
                <a:pt x="0" y="360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686792-D6A2-475F-98C7-5BC2501A304E}">
      <dsp:nvSpPr>
        <dsp:cNvPr id="0" name=""/>
        <dsp:cNvSpPr/>
      </dsp:nvSpPr>
      <dsp:spPr>
        <a:xfrm>
          <a:off x="862988" y="1932376"/>
          <a:ext cx="3117699" cy="360725"/>
        </a:xfrm>
        <a:custGeom>
          <a:avLst/>
          <a:gdLst/>
          <a:ahLst/>
          <a:cxnLst/>
          <a:rect l="0" t="0" r="0" b="0"/>
          <a:pathLst>
            <a:path>
              <a:moveTo>
                <a:pt x="3117699" y="0"/>
              </a:moveTo>
              <a:lnTo>
                <a:pt x="3117699" y="180362"/>
              </a:lnTo>
              <a:lnTo>
                <a:pt x="0" y="180362"/>
              </a:lnTo>
              <a:lnTo>
                <a:pt x="0" y="360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4227E2-C9F9-4898-BD6B-F94BAA123DFA}">
      <dsp:nvSpPr>
        <dsp:cNvPr id="0" name=""/>
        <dsp:cNvSpPr/>
      </dsp:nvSpPr>
      <dsp:spPr>
        <a:xfrm>
          <a:off x="3121817" y="1073506"/>
          <a:ext cx="1717740" cy="8588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Example Goal : successfully onboarding new members in a team </a:t>
          </a:r>
        </a:p>
      </dsp:txBody>
      <dsp:txXfrm>
        <a:off x="3121817" y="1073506"/>
        <a:ext cx="1717740" cy="858870"/>
      </dsp:txXfrm>
    </dsp:sp>
    <dsp:sp modelId="{FB9429BB-FA27-4AEB-A94D-E90359132801}">
      <dsp:nvSpPr>
        <dsp:cNvPr id="0" name=""/>
        <dsp:cNvSpPr/>
      </dsp:nvSpPr>
      <dsp:spPr>
        <a:xfrm>
          <a:off x="4118" y="2293102"/>
          <a:ext cx="1717740" cy="8588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Example Practice : </a:t>
          </a:r>
        </a:p>
        <a:p>
          <a:pPr marL="0" lvl="0" indent="0" algn="ctr" defTabSz="533400">
            <a:lnSpc>
              <a:spcPct val="90000"/>
            </a:lnSpc>
            <a:spcBef>
              <a:spcPct val="0"/>
            </a:spcBef>
            <a:spcAft>
              <a:spcPct val="35000"/>
            </a:spcAft>
            <a:buNone/>
          </a:pPr>
          <a:r>
            <a:rPr lang="en-US" sz="1200" kern="1200" dirty="0"/>
            <a:t>Organize a Welcome tour of all sites</a:t>
          </a:r>
        </a:p>
      </dsp:txBody>
      <dsp:txXfrm>
        <a:off x="4118" y="2293102"/>
        <a:ext cx="1717740" cy="858870"/>
      </dsp:txXfrm>
    </dsp:sp>
    <dsp:sp modelId="{57930BA5-9361-4729-9C95-82A51032B41B}">
      <dsp:nvSpPr>
        <dsp:cNvPr id="0" name=""/>
        <dsp:cNvSpPr/>
      </dsp:nvSpPr>
      <dsp:spPr>
        <a:xfrm>
          <a:off x="2082584" y="2293102"/>
          <a:ext cx="1717740" cy="8588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Example Practice : </a:t>
          </a:r>
        </a:p>
        <a:p>
          <a:pPr marL="0" lvl="0" indent="0" algn="ctr" defTabSz="533400">
            <a:lnSpc>
              <a:spcPct val="90000"/>
            </a:lnSpc>
            <a:spcBef>
              <a:spcPct val="0"/>
            </a:spcBef>
            <a:spcAft>
              <a:spcPct val="35000"/>
            </a:spcAft>
            <a:buNone/>
          </a:pPr>
          <a:r>
            <a:rPr lang="en-US" sz="1200" kern="1200" dirty="0"/>
            <a:t>Prepare an onboarding book</a:t>
          </a:r>
        </a:p>
      </dsp:txBody>
      <dsp:txXfrm>
        <a:off x="2082584" y="2293102"/>
        <a:ext cx="1717740" cy="858870"/>
      </dsp:txXfrm>
    </dsp:sp>
    <dsp:sp modelId="{5771C3AC-121B-4B5A-AE17-BF7D16010C2B}">
      <dsp:nvSpPr>
        <dsp:cNvPr id="0" name=""/>
        <dsp:cNvSpPr/>
      </dsp:nvSpPr>
      <dsp:spPr>
        <a:xfrm>
          <a:off x="4161050" y="2293102"/>
          <a:ext cx="1717740" cy="8588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Example Practice :</a:t>
          </a:r>
        </a:p>
        <a:p>
          <a:pPr marL="0" lvl="0" indent="0" algn="ctr" defTabSz="533400">
            <a:lnSpc>
              <a:spcPct val="90000"/>
            </a:lnSpc>
            <a:spcBef>
              <a:spcPct val="0"/>
            </a:spcBef>
            <a:spcAft>
              <a:spcPct val="35000"/>
            </a:spcAft>
            <a:buNone/>
          </a:pPr>
          <a:r>
            <a:rPr lang="en-US" sz="1200" kern="1200" dirty="0"/>
            <a:t>Automatically activate all accounts on day one </a:t>
          </a:r>
        </a:p>
      </dsp:txBody>
      <dsp:txXfrm>
        <a:off x="4161050" y="2293102"/>
        <a:ext cx="1717740" cy="858870"/>
      </dsp:txXfrm>
    </dsp:sp>
    <dsp:sp modelId="{8352B5D8-2065-45F4-8D02-5AE0FB3F5BAC}">
      <dsp:nvSpPr>
        <dsp:cNvPr id="0" name=""/>
        <dsp:cNvSpPr/>
      </dsp:nvSpPr>
      <dsp:spPr>
        <a:xfrm>
          <a:off x="6239517" y="2293102"/>
          <a:ext cx="1717740" cy="8588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Example Practice :</a:t>
          </a:r>
        </a:p>
        <a:p>
          <a:pPr marL="0" lvl="0" indent="0" algn="ctr" defTabSz="533400">
            <a:lnSpc>
              <a:spcPct val="90000"/>
            </a:lnSpc>
            <a:spcBef>
              <a:spcPct val="0"/>
            </a:spcBef>
            <a:spcAft>
              <a:spcPct val="35000"/>
            </a:spcAft>
            <a:buNone/>
          </a:pPr>
          <a:r>
            <a:rPr lang="en-US" sz="1200" kern="1200" dirty="0"/>
            <a:t>Organize a role / responsibilities workshop with the rest of the team</a:t>
          </a:r>
        </a:p>
      </dsp:txBody>
      <dsp:txXfrm>
        <a:off x="6239517" y="2293102"/>
        <a:ext cx="1717740" cy="858870"/>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23/05/2023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Click to change the mask text styles</a:t>
            </a:r>
          </a:p>
          <a:p>
            <a:pPr lvl="1"/>
            <a:r>
              <a:rPr lang="fr-FR"/>
              <a:t>Second level</a:t>
            </a:r>
          </a:p>
          <a:p>
            <a:pPr lvl="2"/>
            <a:r>
              <a:rPr lang="fr-FR"/>
              <a:t>Third level</a:t>
            </a:r>
          </a:p>
          <a:p>
            <a:pPr lvl="3"/>
            <a:r>
              <a:rPr lang="fr-FR"/>
              <a:t>Fourth level</a:t>
            </a:r>
          </a:p>
          <a:p>
            <a:pPr lvl="4"/>
            <a:r>
              <a:rPr lang="fr-FR"/>
              <a:t>Fifth level</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re et 3 photo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a:xfrm>
            <a:off x="2244436" y="1825625"/>
            <a:ext cx="9109363"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image en ligne 7">
            <a:extLst>
              <a:ext uri="{FF2B5EF4-FFF2-40B4-BE49-F238E27FC236}">
                <a16:creationId xmlns:a16="http://schemas.microsoft.com/office/drawing/2014/main" id="{4EB2234D-87EF-47C0-5BC7-6C13360493CB}"/>
              </a:ext>
            </a:extLst>
          </p:cNvPr>
          <p:cNvSpPr>
            <a:spLocks noGrp="1"/>
          </p:cNvSpPr>
          <p:nvPr>
            <p:ph type="clipArt" sz="quarter" idx="13" hasCustomPrompt="1"/>
          </p:nvPr>
        </p:nvSpPr>
        <p:spPr>
          <a:xfrm>
            <a:off x="838200" y="1845678"/>
            <a:ext cx="1263650" cy="1022350"/>
          </a:xfrm>
        </p:spPr>
        <p:txBody>
          <a:bodyPr>
            <a:normAutofit/>
          </a:bodyPr>
          <a:lstStyle>
            <a:lvl1pPr marL="0" indent="0">
              <a:buNone/>
              <a:defRPr sz="1050" b="0"/>
            </a:lvl1pPr>
          </a:lstStyle>
          <a:p>
            <a:r>
              <a:rPr lang="fr-FR"/>
              <a:t>Photo de créateur</a:t>
            </a:r>
          </a:p>
        </p:txBody>
      </p:sp>
      <p:sp>
        <p:nvSpPr>
          <p:cNvPr id="9" name="Espace réservé de l'image en ligne 7">
            <a:extLst>
              <a:ext uri="{FF2B5EF4-FFF2-40B4-BE49-F238E27FC236}">
                <a16:creationId xmlns:a16="http://schemas.microsoft.com/office/drawing/2014/main" id="{80FF0AD0-DC03-80A2-5327-95551E496B40}"/>
              </a:ext>
            </a:extLst>
          </p:cNvPr>
          <p:cNvSpPr>
            <a:spLocks noGrp="1"/>
          </p:cNvSpPr>
          <p:nvPr>
            <p:ph type="clipArt" sz="quarter" idx="14" hasCustomPrompt="1"/>
          </p:nvPr>
        </p:nvSpPr>
        <p:spPr>
          <a:xfrm>
            <a:off x="847725" y="3324719"/>
            <a:ext cx="1263650" cy="1022350"/>
          </a:xfrm>
        </p:spPr>
        <p:txBody>
          <a:bodyPr>
            <a:normAutofit/>
          </a:bodyPr>
          <a:lstStyle>
            <a:lvl1pPr marL="0" indent="0">
              <a:buNone/>
              <a:defRPr sz="105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Photo de créateur</a:t>
            </a:r>
          </a:p>
          <a:p>
            <a:endParaRPr lang="fr-FR"/>
          </a:p>
        </p:txBody>
      </p:sp>
      <p:sp>
        <p:nvSpPr>
          <p:cNvPr id="10" name="Espace réservé de l'image en ligne 7">
            <a:extLst>
              <a:ext uri="{FF2B5EF4-FFF2-40B4-BE49-F238E27FC236}">
                <a16:creationId xmlns:a16="http://schemas.microsoft.com/office/drawing/2014/main" id="{67326DE4-B342-58CE-D47F-A6038CBE45F6}"/>
              </a:ext>
            </a:extLst>
          </p:cNvPr>
          <p:cNvSpPr>
            <a:spLocks noGrp="1"/>
          </p:cNvSpPr>
          <p:nvPr>
            <p:ph type="clipArt" sz="quarter" idx="15" hasCustomPrompt="1"/>
          </p:nvPr>
        </p:nvSpPr>
        <p:spPr>
          <a:xfrm>
            <a:off x="838200" y="4813884"/>
            <a:ext cx="1263650" cy="1022350"/>
          </a:xfrm>
        </p:spPr>
        <p:txBody>
          <a:bodyPr>
            <a:normAutofit/>
          </a:bodyPr>
          <a:lstStyle>
            <a:lvl1pPr marL="0" indent="0">
              <a:buNone/>
              <a:defRPr sz="105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Photo de créateur</a:t>
            </a:r>
          </a:p>
          <a:p>
            <a:endParaRPr lang="fr-FR"/>
          </a:p>
        </p:txBody>
      </p:sp>
      <p:sp>
        <p:nvSpPr>
          <p:cNvPr id="12" name="Espace réservé du texte 11">
            <a:extLst>
              <a:ext uri="{FF2B5EF4-FFF2-40B4-BE49-F238E27FC236}">
                <a16:creationId xmlns:a16="http://schemas.microsoft.com/office/drawing/2014/main" id="{EF48C711-F14D-D25B-6014-ABDEC94DD767}"/>
              </a:ext>
            </a:extLst>
          </p:cNvPr>
          <p:cNvSpPr>
            <a:spLocks noGrp="1"/>
          </p:cNvSpPr>
          <p:nvPr>
            <p:ph type="body" sz="quarter" idx="16" hasCustomPrompt="1"/>
          </p:nvPr>
        </p:nvSpPr>
        <p:spPr>
          <a:xfrm>
            <a:off x="838201" y="2868028"/>
            <a:ext cx="1263650"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
        <p:nvSpPr>
          <p:cNvPr id="13" name="Espace réservé du texte 11">
            <a:extLst>
              <a:ext uri="{FF2B5EF4-FFF2-40B4-BE49-F238E27FC236}">
                <a16:creationId xmlns:a16="http://schemas.microsoft.com/office/drawing/2014/main" id="{03388C20-7E1F-1D0F-E90B-E6761A816CFC}"/>
              </a:ext>
            </a:extLst>
          </p:cNvPr>
          <p:cNvSpPr>
            <a:spLocks noGrp="1"/>
          </p:cNvSpPr>
          <p:nvPr>
            <p:ph type="body" sz="quarter" idx="17" hasCustomPrompt="1"/>
          </p:nvPr>
        </p:nvSpPr>
        <p:spPr>
          <a:xfrm>
            <a:off x="847726" y="4357193"/>
            <a:ext cx="1263650"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
        <p:nvSpPr>
          <p:cNvPr id="14" name="Espace réservé du texte 11">
            <a:extLst>
              <a:ext uri="{FF2B5EF4-FFF2-40B4-BE49-F238E27FC236}">
                <a16:creationId xmlns:a16="http://schemas.microsoft.com/office/drawing/2014/main" id="{045FF75B-4E95-B769-9520-DD8E9A5F4D3D}"/>
              </a:ext>
            </a:extLst>
          </p:cNvPr>
          <p:cNvSpPr>
            <a:spLocks noGrp="1"/>
          </p:cNvSpPr>
          <p:nvPr>
            <p:ph type="body" sz="quarter" idx="18" hasCustomPrompt="1"/>
          </p:nvPr>
        </p:nvSpPr>
        <p:spPr>
          <a:xfrm>
            <a:off x="838200" y="5836234"/>
            <a:ext cx="1273175" cy="365125"/>
          </a:xfrm>
        </p:spPr>
        <p:txBody>
          <a:bodyPr>
            <a:noAutofit/>
          </a:bodyPr>
          <a:lstStyle>
            <a:lvl1pPr marL="0" indent="0">
              <a:buNone/>
              <a:defRPr sz="1000" b="1"/>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fr-FR"/>
              <a:t>Nom de créateur</a:t>
            </a:r>
          </a:p>
        </p:txBody>
      </p:sp>
    </p:spTree>
    <p:extLst>
      <p:ext uri="{BB962C8B-B14F-4D97-AF65-F5344CB8AC3E}">
        <p14:creationId xmlns:p14="http://schemas.microsoft.com/office/powerpoint/2010/main" val="33050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5C4E63"/>
          </a:solidFill>
        </p:spPr>
        <p:txBody>
          <a:bodyPr anchor="ctr">
            <a:normAutofit/>
          </a:bodyPr>
          <a:lstStyle>
            <a:lvl1pPr marL="0" indent="0">
              <a:buNone/>
              <a:defRPr b="1">
                <a:solidFill>
                  <a:schemeClr val="bg1"/>
                </a:solidFill>
              </a:defRPr>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34657F"/>
          </a:solidFill>
        </p:spPr>
        <p:txBody>
          <a:bodyPr anchor="ctr">
            <a:normAutofit/>
          </a:bodyPr>
          <a:lstStyle>
            <a:lvl1pPr marL="0" indent="0">
              <a:buNone/>
              <a:defRPr b="1">
                <a:solidFill>
                  <a:schemeClr val="bg1"/>
                </a:solidFill>
              </a:defRPr>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8E2C48"/>
          </a:solidFill>
        </p:spPr>
        <p:txBody>
          <a:bodyPr anchor="ctr">
            <a:normAutofit/>
          </a:bodyPr>
          <a:lstStyle>
            <a:lvl1pPr marL="0" indent="0">
              <a:buNone/>
              <a:defRPr b="1">
                <a:solidFill>
                  <a:schemeClr val="bg1"/>
                </a:solidFill>
              </a:defRPr>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Tree>
    <p:extLst>
      <p:ext uri="{BB962C8B-B14F-4D97-AF65-F5344CB8AC3E}">
        <p14:creationId xmlns:p14="http://schemas.microsoft.com/office/powerpoint/2010/main" val="3179951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69950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97732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06959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odèles de carte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111C359F-018B-2A86-87C9-E7361BCF8DAC}"/>
              </a:ext>
            </a:extLst>
          </p:cNvPr>
          <p:cNvSpPr>
            <a:spLocks noGrp="1"/>
          </p:cNvSpPr>
          <p:nvPr>
            <p:ph sz="quarter" idx="13" hasCustomPrompt="1"/>
          </p:nvPr>
        </p:nvSpPr>
        <p:spPr>
          <a:xfrm>
            <a:off x="218125"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11" name="Espace réservé du texte 10">
            <a:extLst>
              <a:ext uri="{FF2B5EF4-FFF2-40B4-BE49-F238E27FC236}">
                <a16:creationId xmlns:a16="http://schemas.microsoft.com/office/drawing/2014/main" id="{7EC189BC-EE66-B573-8F87-E92F76E4475C}"/>
              </a:ext>
            </a:extLst>
          </p:cNvPr>
          <p:cNvSpPr>
            <a:spLocks noGrp="1"/>
          </p:cNvSpPr>
          <p:nvPr>
            <p:ph type="body" sz="quarter" idx="16"/>
          </p:nvPr>
        </p:nvSpPr>
        <p:spPr>
          <a:xfrm>
            <a:off x="322250" y="2538790"/>
            <a:ext cx="1885950" cy="2527300"/>
          </a:xfrm>
          <a:solidFill>
            <a:schemeClr val="bg1"/>
          </a:solidFill>
        </p:spPr>
        <p:txBody>
          <a:bodyPr>
            <a:normAutofit/>
          </a:bodyPr>
          <a:lstStyle>
            <a:lvl1pPr marL="0" indent="0">
              <a:buNone/>
              <a:defRPr sz="1400"/>
            </a:lvl1pPr>
          </a:lstStyle>
          <a:p>
            <a:pPr lvl="0"/>
            <a:endParaRPr lang="fr-FR"/>
          </a:p>
        </p:txBody>
      </p:sp>
      <p:sp>
        <p:nvSpPr>
          <p:cNvPr id="12" name="ZoneTexte 11">
            <a:extLst>
              <a:ext uri="{FF2B5EF4-FFF2-40B4-BE49-F238E27FC236}">
                <a16:creationId xmlns:a16="http://schemas.microsoft.com/office/drawing/2014/main" id="{556EA902-CE94-7824-0D2F-185092CDF1C4}"/>
              </a:ext>
            </a:extLst>
          </p:cNvPr>
          <p:cNvSpPr txBox="1"/>
          <p:nvPr userDrawn="1"/>
        </p:nvSpPr>
        <p:spPr>
          <a:xfrm>
            <a:off x="432821" y="1909969"/>
            <a:ext cx="1668911" cy="461665"/>
          </a:xfrm>
          <a:prstGeom prst="rect">
            <a:avLst/>
          </a:prstGeom>
          <a:noFill/>
        </p:spPr>
        <p:txBody>
          <a:bodyPr wrap="square" rtlCol="0">
            <a:spAutoFit/>
          </a:bodyPr>
          <a:lstStyle/>
          <a:p>
            <a:pPr algn="ctr"/>
            <a:r>
              <a:rPr lang="fr-FR" sz="1200"/>
              <a:t>Cartes à texte uniquement</a:t>
            </a:r>
          </a:p>
        </p:txBody>
      </p:sp>
      <p:sp>
        <p:nvSpPr>
          <p:cNvPr id="13" name="ZoneTexte 12">
            <a:extLst>
              <a:ext uri="{FF2B5EF4-FFF2-40B4-BE49-F238E27FC236}">
                <a16:creationId xmlns:a16="http://schemas.microsoft.com/office/drawing/2014/main" id="{FF6A34F7-C243-BA79-0736-76D2F4776F9C}"/>
              </a:ext>
            </a:extLst>
          </p:cNvPr>
          <p:cNvSpPr txBox="1"/>
          <p:nvPr userDrawn="1"/>
        </p:nvSpPr>
        <p:spPr>
          <a:xfrm>
            <a:off x="4891474" y="988461"/>
            <a:ext cx="3086101" cy="400110"/>
          </a:xfrm>
          <a:prstGeom prst="rect">
            <a:avLst/>
          </a:prstGeom>
          <a:noFill/>
        </p:spPr>
        <p:txBody>
          <a:bodyPr wrap="none" rtlCol="0">
            <a:spAutoFit/>
          </a:bodyPr>
          <a:lstStyle/>
          <a:p>
            <a:r>
              <a:rPr lang="fr-FR" sz="2000" b="1">
                <a:latin typeface="Avenir Next LT Pro" panose="020B0504020202020204" pitchFamily="34" charset="0"/>
              </a:rPr>
              <a:t>Modèles à copier coller</a:t>
            </a:r>
          </a:p>
        </p:txBody>
      </p:sp>
      <p:sp>
        <p:nvSpPr>
          <p:cNvPr id="14" name="Espace réservé du contenu 6">
            <a:extLst>
              <a:ext uri="{FF2B5EF4-FFF2-40B4-BE49-F238E27FC236}">
                <a16:creationId xmlns:a16="http://schemas.microsoft.com/office/drawing/2014/main" id="{D75F371F-B473-DA50-4A53-E04ED0FC7F98}"/>
              </a:ext>
            </a:extLst>
          </p:cNvPr>
          <p:cNvSpPr>
            <a:spLocks noGrp="1"/>
          </p:cNvSpPr>
          <p:nvPr>
            <p:ph sz="quarter" idx="17" hasCustomPrompt="1"/>
          </p:nvPr>
        </p:nvSpPr>
        <p:spPr>
          <a:xfrm>
            <a:off x="2677287"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16" name="ZoneTexte 15">
            <a:extLst>
              <a:ext uri="{FF2B5EF4-FFF2-40B4-BE49-F238E27FC236}">
                <a16:creationId xmlns:a16="http://schemas.microsoft.com/office/drawing/2014/main" id="{0328C455-600B-1AB0-880D-DA68AA3B7D4E}"/>
              </a:ext>
            </a:extLst>
          </p:cNvPr>
          <p:cNvSpPr txBox="1"/>
          <p:nvPr userDrawn="1"/>
        </p:nvSpPr>
        <p:spPr>
          <a:xfrm>
            <a:off x="3155420" y="1909969"/>
            <a:ext cx="1105046" cy="276999"/>
          </a:xfrm>
          <a:prstGeom prst="rect">
            <a:avLst/>
          </a:prstGeom>
          <a:noFill/>
        </p:spPr>
        <p:txBody>
          <a:bodyPr wrap="none" rtlCol="0">
            <a:spAutoFit/>
          </a:bodyPr>
          <a:lstStyle/>
          <a:p>
            <a:pPr algn="ctr"/>
            <a:r>
              <a:rPr lang="fr-FR" sz="1200"/>
              <a:t>Cartes à image</a:t>
            </a:r>
          </a:p>
        </p:txBody>
      </p:sp>
      <p:sp>
        <p:nvSpPr>
          <p:cNvPr id="17" name="Espace réservé du contenu 6">
            <a:extLst>
              <a:ext uri="{FF2B5EF4-FFF2-40B4-BE49-F238E27FC236}">
                <a16:creationId xmlns:a16="http://schemas.microsoft.com/office/drawing/2014/main" id="{4372A303-FC92-E1A9-CF05-352A510D1DEF}"/>
              </a:ext>
            </a:extLst>
          </p:cNvPr>
          <p:cNvSpPr>
            <a:spLocks noGrp="1"/>
          </p:cNvSpPr>
          <p:nvPr>
            <p:ph sz="quarter" idx="19" hasCustomPrompt="1"/>
          </p:nvPr>
        </p:nvSpPr>
        <p:spPr>
          <a:xfrm>
            <a:off x="7341329"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18" name="Espace réservé du texte 10">
            <a:extLst>
              <a:ext uri="{FF2B5EF4-FFF2-40B4-BE49-F238E27FC236}">
                <a16:creationId xmlns:a16="http://schemas.microsoft.com/office/drawing/2014/main" id="{1DD94612-9A8F-275B-DF65-6E00A8025508}"/>
              </a:ext>
            </a:extLst>
          </p:cNvPr>
          <p:cNvSpPr>
            <a:spLocks noGrp="1"/>
          </p:cNvSpPr>
          <p:nvPr>
            <p:ph type="body" sz="quarter" idx="20"/>
          </p:nvPr>
        </p:nvSpPr>
        <p:spPr>
          <a:xfrm>
            <a:off x="7445454" y="3836324"/>
            <a:ext cx="1885950" cy="1229766"/>
          </a:xfrm>
          <a:solidFill>
            <a:schemeClr val="bg1"/>
          </a:solidFill>
        </p:spPr>
        <p:txBody>
          <a:bodyPr>
            <a:normAutofit/>
          </a:bodyPr>
          <a:lstStyle>
            <a:lvl1pPr marL="0" indent="0">
              <a:buNone/>
              <a:defRPr sz="1400"/>
            </a:lvl1pPr>
          </a:lstStyle>
          <a:p>
            <a:pPr lvl="0"/>
            <a:endParaRPr lang="fr-FR"/>
          </a:p>
        </p:txBody>
      </p:sp>
      <p:sp>
        <p:nvSpPr>
          <p:cNvPr id="19" name="ZoneTexte 18">
            <a:extLst>
              <a:ext uri="{FF2B5EF4-FFF2-40B4-BE49-F238E27FC236}">
                <a16:creationId xmlns:a16="http://schemas.microsoft.com/office/drawing/2014/main" id="{DA65739D-32C5-4AAB-8BD3-9DEE3C5D1EE0}"/>
              </a:ext>
            </a:extLst>
          </p:cNvPr>
          <p:cNvSpPr txBox="1"/>
          <p:nvPr userDrawn="1"/>
        </p:nvSpPr>
        <p:spPr>
          <a:xfrm>
            <a:off x="7429011" y="1909969"/>
            <a:ext cx="1906865" cy="276999"/>
          </a:xfrm>
          <a:prstGeom prst="rect">
            <a:avLst/>
          </a:prstGeom>
          <a:noFill/>
        </p:spPr>
        <p:txBody>
          <a:bodyPr wrap="square" rtlCol="0">
            <a:spAutoFit/>
          </a:bodyPr>
          <a:lstStyle/>
          <a:p>
            <a:pPr algn="ctr"/>
            <a:r>
              <a:rPr lang="fr-FR" sz="1200"/>
              <a:t>Cartes à image + descriptif</a:t>
            </a:r>
          </a:p>
        </p:txBody>
      </p:sp>
      <p:sp>
        <p:nvSpPr>
          <p:cNvPr id="20" name="Espace réservé du contenu 6">
            <a:extLst>
              <a:ext uri="{FF2B5EF4-FFF2-40B4-BE49-F238E27FC236}">
                <a16:creationId xmlns:a16="http://schemas.microsoft.com/office/drawing/2014/main" id="{21C9015A-D94E-3F5C-67FD-1064683542EE}"/>
              </a:ext>
            </a:extLst>
          </p:cNvPr>
          <p:cNvSpPr>
            <a:spLocks noGrp="1"/>
          </p:cNvSpPr>
          <p:nvPr>
            <p:ph sz="quarter" idx="21" hasCustomPrompt="1"/>
          </p:nvPr>
        </p:nvSpPr>
        <p:spPr>
          <a:xfrm>
            <a:off x="9849010"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21" name="Espace réservé du texte 10">
            <a:extLst>
              <a:ext uri="{FF2B5EF4-FFF2-40B4-BE49-F238E27FC236}">
                <a16:creationId xmlns:a16="http://schemas.microsoft.com/office/drawing/2014/main" id="{F08A75ED-0577-15CE-E8E2-BD836D49E51A}"/>
              </a:ext>
            </a:extLst>
          </p:cNvPr>
          <p:cNvSpPr>
            <a:spLocks noGrp="1"/>
          </p:cNvSpPr>
          <p:nvPr>
            <p:ph type="body" sz="quarter" idx="22"/>
          </p:nvPr>
        </p:nvSpPr>
        <p:spPr>
          <a:xfrm>
            <a:off x="9953135" y="3836324"/>
            <a:ext cx="1885950" cy="947651"/>
          </a:xfrm>
          <a:solidFill>
            <a:schemeClr val="bg1"/>
          </a:solidFill>
        </p:spPr>
        <p:txBody>
          <a:bodyPr>
            <a:normAutofit/>
          </a:bodyPr>
          <a:lstStyle>
            <a:lvl1pPr marL="0" indent="0">
              <a:buNone/>
              <a:defRPr sz="1400"/>
            </a:lvl1pPr>
          </a:lstStyle>
          <a:p>
            <a:pPr lvl="0"/>
            <a:endParaRPr lang="fr-FR"/>
          </a:p>
        </p:txBody>
      </p:sp>
      <p:sp>
        <p:nvSpPr>
          <p:cNvPr id="22" name="ZoneTexte 21">
            <a:extLst>
              <a:ext uri="{FF2B5EF4-FFF2-40B4-BE49-F238E27FC236}">
                <a16:creationId xmlns:a16="http://schemas.microsoft.com/office/drawing/2014/main" id="{5DB481FE-A5BA-48E9-CCD4-DEA764520D32}"/>
              </a:ext>
            </a:extLst>
          </p:cNvPr>
          <p:cNvSpPr txBox="1"/>
          <p:nvPr userDrawn="1"/>
        </p:nvSpPr>
        <p:spPr>
          <a:xfrm>
            <a:off x="9835716" y="1909969"/>
            <a:ext cx="2003369" cy="461665"/>
          </a:xfrm>
          <a:prstGeom prst="rect">
            <a:avLst/>
          </a:prstGeom>
          <a:noFill/>
        </p:spPr>
        <p:txBody>
          <a:bodyPr wrap="none" rtlCol="0">
            <a:spAutoFit/>
          </a:bodyPr>
          <a:lstStyle/>
          <a:p>
            <a:pPr algn="ctr"/>
            <a:r>
              <a:rPr lang="fr-FR" sz="1200"/>
              <a:t>Cartes à image + descriptif</a:t>
            </a:r>
          </a:p>
          <a:p>
            <a:pPr algn="ctr"/>
            <a:r>
              <a:rPr lang="fr-FR" sz="1200"/>
              <a:t>+ caractéristique (points, </a:t>
            </a:r>
            <a:r>
              <a:rPr lang="fr-FR" sz="1200" err="1"/>
              <a:t>etc</a:t>
            </a:r>
            <a:r>
              <a:rPr lang="fr-FR" sz="1200"/>
              <a:t>)</a:t>
            </a:r>
          </a:p>
        </p:txBody>
      </p:sp>
      <p:sp>
        <p:nvSpPr>
          <p:cNvPr id="24" name="Espace réservé pour une image  23">
            <a:extLst>
              <a:ext uri="{FF2B5EF4-FFF2-40B4-BE49-F238E27FC236}">
                <a16:creationId xmlns:a16="http://schemas.microsoft.com/office/drawing/2014/main" id="{19D62B19-F213-F46A-389C-48A5832194BC}"/>
              </a:ext>
            </a:extLst>
          </p:cNvPr>
          <p:cNvSpPr>
            <a:spLocks noGrp="1"/>
          </p:cNvSpPr>
          <p:nvPr>
            <p:ph type="pic" sz="quarter" idx="23" hasCustomPrompt="1"/>
          </p:nvPr>
        </p:nvSpPr>
        <p:spPr>
          <a:xfrm>
            <a:off x="2782603" y="2538790"/>
            <a:ext cx="1858962" cy="2527300"/>
          </a:xfrm>
          <a:solidFill>
            <a:schemeClr val="bg1"/>
          </a:solidFill>
        </p:spPr>
        <p:txBody>
          <a:bodyPr anchor="ctr"/>
          <a:lstStyle>
            <a:lvl1pPr marL="0" indent="0" algn="ctr">
              <a:buNone/>
              <a:defRPr/>
            </a:lvl1pPr>
          </a:lstStyle>
          <a:p>
            <a:r>
              <a:rPr lang="fr-FR"/>
              <a:t>Insérez une image ici</a:t>
            </a:r>
          </a:p>
        </p:txBody>
      </p:sp>
      <p:sp>
        <p:nvSpPr>
          <p:cNvPr id="25" name="Espace réservé pour une image  23">
            <a:extLst>
              <a:ext uri="{FF2B5EF4-FFF2-40B4-BE49-F238E27FC236}">
                <a16:creationId xmlns:a16="http://schemas.microsoft.com/office/drawing/2014/main" id="{7141FD37-D3CB-7C48-6783-4503A2A7A286}"/>
              </a:ext>
            </a:extLst>
          </p:cNvPr>
          <p:cNvSpPr>
            <a:spLocks noGrp="1"/>
          </p:cNvSpPr>
          <p:nvPr>
            <p:ph type="pic" sz="quarter" idx="24" hasCustomPrompt="1"/>
          </p:nvPr>
        </p:nvSpPr>
        <p:spPr>
          <a:xfrm>
            <a:off x="7445454" y="2572674"/>
            <a:ext cx="1885950" cy="1263650"/>
          </a:xfrm>
          <a:solidFill>
            <a:schemeClr val="bg1"/>
          </a:solidFill>
        </p:spPr>
        <p:txBody>
          <a:bodyPr anchor="ctr"/>
          <a:lstStyle>
            <a:lvl1pPr marL="0" indent="0" algn="ctr">
              <a:buNone/>
              <a:defRPr/>
            </a:lvl1pPr>
          </a:lstStyle>
          <a:p>
            <a:r>
              <a:rPr lang="fr-FR"/>
              <a:t>Insérez une image ici</a:t>
            </a:r>
          </a:p>
        </p:txBody>
      </p:sp>
      <p:sp>
        <p:nvSpPr>
          <p:cNvPr id="26" name="Espace réservé du texte 10">
            <a:extLst>
              <a:ext uri="{FF2B5EF4-FFF2-40B4-BE49-F238E27FC236}">
                <a16:creationId xmlns:a16="http://schemas.microsoft.com/office/drawing/2014/main" id="{179E71D4-0D16-6D9A-A736-1EEB9E035FB2}"/>
              </a:ext>
            </a:extLst>
          </p:cNvPr>
          <p:cNvSpPr>
            <a:spLocks noGrp="1"/>
          </p:cNvSpPr>
          <p:nvPr>
            <p:ph type="body" sz="quarter" idx="25"/>
          </p:nvPr>
        </p:nvSpPr>
        <p:spPr>
          <a:xfrm>
            <a:off x="9953135" y="4783975"/>
            <a:ext cx="1885950" cy="282115"/>
          </a:xfrm>
          <a:solidFill>
            <a:schemeClr val="bg1"/>
          </a:solidFill>
        </p:spPr>
        <p:txBody>
          <a:bodyPr>
            <a:normAutofit/>
          </a:bodyPr>
          <a:lstStyle>
            <a:lvl1pPr marL="0" indent="0">
              <a:buNone/>
              <a:defRPr sz="1400"/>
            </a:lvl1pPr>
          </a:lstStyle>
          <a:p>
            <a:pPr lvl="0"/>
            <a:endParaRPr lang="fr-FR"/>
          </a:p>
        </p:txBody>
      </p:sp>
      <p:sp>
        <p:nvSpPr>
          <p:cNvPr id="27" name="Espace réservé pour une image  23">
            <a:extLst>
              <a:ext uri="{FF2B5EF4-FFF2-40B4-BE49-F238E27FC236}">
                <a16:creationId xmlns:a16="http://schemas.microsoft.com/office/drawing/2014/main" id="{D9BBC375-8B17-55B7-74CD-47BBD98D934F}"/>
              </a:ext>
            </a:extLst>
          </p:cNvPr>
          <p:cNvSpPr>
            <a:spLocks noGrp="1"/>
          </p:cNvSpPr>
          <p:nvPr>
            <p:ph type="pic" sz="quarter" idx="26" hasCustomPrompt="1"/>
          </p:nvPr>
        </p:nvSpPr>
        <p:spPr>
          <a:xfrm>
            <a:off x="9953135" y="2572674"/>
            <a:ext cx="1885950" cy="1263650"/>
          </a:xfrm>
          <a:solidFill>
            <a:schemeClr val="bg1"/>
          </a:solidFill>
        </p:spPr>
        <p:txBody>
          <a:bodyPr anchor="ctr"/>
          <a:lstStyle>
            <a:lvl1pPr marL="0" indent="0" algn="ctr">
              <a:buNone/>
              <a:defRPr/>
            </a:lvl1pPr>
          </a:lstStyle>
          <a:p>
            <a:r>
              <a:rPr lang="fr-FR"/>
              <a:t>Insérez une image ici</a:t>
            </a:r>
          </a:p>
        </p:txBody>
      </p:sp>
      <p:sp>
        <p:nvSpPr>
          <p:cNvPr id="28" name="Espace réservé du contenu 6">
            <a:extLst>
              <a:ext uri="{FF2B5EF4-FFF2-40B4-BE49-F238E27FC236}">
                <a16:creationId xmlns:a16="http://schemas.microsoft.com/office/drawing/2014/main" id="{4525E7DC-0901-95CA-C406-5BBF0AD4F4A1}"/>
              </a:ext>
            </a:extLst>
          </p:cNvPr>
          <p:cNvSpPr>
            <a:spLocks noGrp="1"/>
          </p:cNvSpPr>
          <p:nvPr>
            <p:ph sz="quarter" idx="27" hasCustomPrompt="1"/>
          </p:nvPr>
        </p:nvSpPr>
        <p:spPr>
          <a:xfrm>
            <a:off x="5035848" y="2340148"/>
            <a:ext cx="2094201" cy="2834525"/>
          </a:xfrm>
          <a:solidFill>
            <a:srgbClr val="8E2C48"/>
          </a:solidFill>
        </p:spPr>
        <p:txBody>
          <a:bodyPr>
            <a:normAutofit/>
          </a:bodyPr>
          <a:lstStyle>
            <a:lvl1pPr marL="0" indent="0">
              <a:buNone/>
              <a:defRPr sz="1050"/>
            </a:lvl1pPr>
          </a:lstStyle>
          <a:p>
            <a:pPr lvl="0"/>
            <a:r>
              <a:rPr lang="fr-FR"/>
              <a:t>Changer la couleur de la carte</a:t>
            </a:r>
          </a:p>
        </p:txBody>
      </p:sp>
      <p:sp>
        <p:nvSpPr>
          <p:cNvPr id="29" name="Espace réservé pour une image  23">
            <a:extLst>
              <a:ext uri="{FF2B5EF4-FFF2-40B4-BE49-F238E27FC236}">
                <a16:creationId xmlns:a16="http://schemas.microsoft.com/office/drawing/2014/main" id="{FCAE62C7-37B8-A863-E43D-01E445C71DBB}"/>
              </a:ext>
            </a:extLst>
          </p:cNvPr>
          <p:cNvSpPr>
            <a:spLocks noGrp="1"/>
          </p:cNvSpPr>
          <p:nvPr>
            <p:ph type="pic" sz="quarter" idx="28" hasCustomPrompt="1"/>
          </p:nvPr>
        </p:nvSpPr>
        <p:spPr>
          <a:xfrm>
            <a:off x="5141164" y="2538790"/>
            <a:ext cx="1858962" cy="2070618"/>
          </a:xfrm>
          <a:solidFill>
            <a:schemeClr val="bg1"/>
          </a:solidFill>
        </p:spPr>
        <p:txBody>
          <a:bodyPr anchor="ctr"/>
          <a:lstStyle>
            <a:lvl1pPr marL="0" indent="0" algn="ctr">
              <a:buNone/>
              <a:defRPr/>
            </a:lvl1pPr>
          </a:lstStyle>
          <a:p>
            <a:r>
              <a:rPr lang="fr-FR"/>
              <a:t>Insérez une image ici</a:t>
            </a:r>
          </a:p>
        </p:txBody>
      </p:sp>
      <p:sp>
        <p:nvSpPr>
          <p:cNvPr id="30" name="Espace réservé du texte 10">
            <a:extLst>
              <a:ext uri="{FF2B5EF4-FFF2-40B4-BE49-F238E27FC236}">
                <a16:creationId xmlns:a16="http://schemas.microsoft.com/office/drawing/2014/main" id="{80D1A890-FCF9-08E0-83F5-17E2CE0965D8}"/>
              </a:ext>
            </a:extLst>
          </p:cNvPr>
          <p:cNvSpPr>
            <a:spLocks noGrp="1"/>
          </p:cNvSpPr>
          <p:nvPr>
            <p:ph type="body" sz="quarter" idx="29" hasCustomPrompt="1"/>
          </p:nvPr>
        </p:nvSpPr>
        <p:spPr>
          <a:xfrm>
            <a:off x="5136448" y="4609408"/>
            <a:ext cx="1863677" cy="469410"/>
          </a:xfrm>
          <a:solidFill>
            <a:schemeClr val="bg1"/>
          </a:solidFill>
        </p:spPr>
        <p:txBody>
          <a:bodyPr>
            <a:normAutofit/>
          </a:bodyPr>
          <a:lstStyle>
            <a:lvl1pPr marL="0" indent="0" algn="ctr">
              <a:buNone/>
              <a:defRPr sz="1400" b="1"/>
            </a:lvl1pPr>
          </a:lstStyle>
          <a:p>
            <a:pPr lvl="0"/>
            <a:r>
              <a:rPr lang="fr-FR"/>
              <a:t>TITRE DE LA CARTE</a:t>
            </a:r>
          </a:p>
        </p:txBody>
      </p:sp>
      <p:sp>
        <p:nvSpPr>
          <p:cNvPr id="31" name="ZoneTexte 30">
            <a:extLst>
              <a:ext uri="{FF2B5EF4-FFF2-40B4-BE49-F238E27FC236}">
                <a16:creationId xmlns:a16="http://schemas.microsoft.com/office/drawing/2014/main" id="{A336CDB8-A233-ED83-A608-6F483E9D9D69}"/>
              </a:ext>
            </a:extLst>
          </p:cNvPr>
          <p:cNvSpPr txBox="1"/>
          <p:nvPr userDrawn="1"/>
        </p:nvSpPr>
        <p:spPr>
          <a:xfrm>
            <a:off x="5521875" y="1909969"/>
            <a:ext cx="1140312" cy="461665"/>
          </a:xfrm>
          <a:prstGeom prst="rect">
            <a:avLst/>
          </a:prstGeom>
          <a:noFill/>
        </p:spPr>
        <p:txBody>
          <a:bodyPr wrap="none" rtlCol="0">
            <a:spAutoFit/>
          </a:bodyPr>
          <a:lstStyle/>
          <a:p>
            <a:pPr algn="ctr"/>
            <a:r>
              <a:rPr lang="fr-FR" sz="1200"/>
              <a:t>Cartes à image </a:t>
            </a:r>
          </a:p>
          <a:p>
            <a:pPr algn="ctr"/>
            <a:r>
              <a:rPr lang="fr-FR" sz="1200"/>
              <a:t>avec titre</a:t>
            </a:r>
          </a:p>
        </p:txBody>
      </p:sp>
    </p:spTree>
    <p:extLst>
      <p:ext uri="{BB962C8B-B14F-4D97-AF65-F5344CB8AC3E}">
        <p14:creationId xmlns:p14="http://schemas.microsoft.com/office/powerpoint/2010/main" val="1726273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30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23/05/2023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Tree>
    <p:extLst>
      <p:ext uri="{BB962C8B-B14F-4D97-AF65-F5344CB8AC3E}">
        <p14:creationId xmlns:p14="http://schemas.microsoft.com/office/powerpoint/2010/main" val="2176281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717362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hyperlink" Target="https://www.komyu.io/"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Change the style of the title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Click to change the mask text styles</a:t>
            </a:r>
          </a:p>
          <a:p>
            <a:pPr lvl="1"/>
            <a:r>
              <a:rPr lang="fr-FR"/>
              <a:t>Second level</a:t>
            </a:r>
          </a:p>
          <a:p>
            <a:pPr lvl="2"/>
            <a:r>
              <a:rPr lang="fr-FR"/>
              <a:t>Third level</a:t>
            </a:r>
          </a:p>
          <a:p>
            <a:pPr lvl="3"/>
            <a:r>
              <a:rPr lang="fr-FR"/>
              <a:t>Fourth level</a:t>
            </a:r>
          </a:p>
          <a:p>
            <a:pPr lvl="4"/>
            <a:r>
              <a:rPr lang="fr-FR"/>
              <a:t>Fifth level</a:t>
            </a:r>
          </a:p>
        </p:txBody>
      </p:sp>
      <p:pic>
        <p:nvPicPr>
          <p:cNvPr id="13" name="Image 12" descr="Une image contenant texte, clipart&#10;&#10;Description générée automatiquement">
            <a:extLst>
              <a:ext uri="{FF2B5EF4-FFF2-40B4-BE49-F238E27FC236}">
                <a16:creationId xmlns:a16="http://schemas.microsoft.com/office/drawing/2014/main" id="{2E862182-9128-AF3B-447F-459E4893CBBB}"/>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91357" y="6579204"/>
            <a:ext cx="614777" cy="222893"/>
          </a:xfrm>
          <a:prstGeom prst="rect">
            <a:avLst/>
          </a:prstGeom>
        </p:spPr>
      </p:pic>
      <p:pic>
        <p:nvPicPr>
          <p:cNvPr id="15" name="Image 14" descr="Une image contenant texte, clipart&#10;&#10;Description générée automatiquement">
            <a:hlinkClick r:id="rId18"/>
            <a:extLst>
              <a:ext uri="{FF2B5EF4-FFF2-40B4-BE49-F238E27FC236}">
                <a16:creationId xmlns:a16="http://schemas.microsoft.com/office/drawing/2014/main" id="{DC223273-211B-D705-9FC4-1C51CF508A5D}"/>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1290852" y="6485110"/>
            <a:ext cx="901148" cy="372889"/>
          </a:xfrm>
          <a:prstGeom prst="rect">
            <a:avLst/>
          </a:prstGeom>
        </p:spPr>
      </p:pic>
      <p:pic>
        <p:nvPicPr>
          <p:cNvPr id="17" name="Image 16">
            <a:extLst>
              <a:ext uri="{FF2B5EF4-FFF2-40B4-BE49-F238E27FC236}">
                <a16:creationId xmlns:a16="http://schemas.microsoft.com/office/drawing/2014/main" id="{BDEE9BBC-47C9-BAAD-DE79-25B4F9C70B93}"/>
              </a:ext>
            </a:extLst>
          </p:cNvPr>
          <p:cNvPicPr>
            <a:picLocks noChangeAspect="1"/>
          </p:cNvPicPr>
          <p:nvPr userDrawn="1"/>
        </p:nvPicPr>
        <p:blipFill>
          <a:blip r:embed="rId20" cstate="screen">
            <a:extLst>
              <a:ext uri="{28A0092B-C50C-407E-A947-70E740481C1C}">
                <a14:useLocalDpi xmlns:a14="http://schemas.microsoft.com/office/drawing/2010/main"/>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0" r:id="rId4"/>
    <p:sldLayoutId id="2147483662" r:id="rId5"/>
    <p:sldLayoutId id="2147483651" r:id="rId6"/>
    <p:sldLayoutId id="2147483652" r:id="rId7"/>
    <p:sldLayoutId id="2147483653" r:id="rId8"/>
    <p:sldLayoutId id="2147483654" r:id="rId9"/>
    <p:sldLayoutId id="214748366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rgbClr val="8E2C48"/>
          </a:solidFill>
          <a:latin typeface="Avenir Next LT Pro"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1.xml"/><Relationship Id="rId4" Type="http://schemas.openxmlformats.org/officeDocument/2006/relationships/image" Target="../media/image45.sv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18" Type="http://schemas.openxmlformats.org/officeDocument/2006/relationships/image" Target="../media/image60.svg"/><Relationship Id="rId3" Type="http://schemas.openxmlformats.org/officeDocument/2006/relationships/diagramLayout" Target="../diagrams/layout5.xml"/><Relationship Id="rId7" Type="http://schemas.openxmlformats.org/officeDocument/2006/relationships/image" Target="../media/image49.png"/><Relationship Id="rId12" Type="http://schemas.openxmlformats.org/officeDocument/2006/relationships/image" Target="../media/image54.svg"/><Relationship Id="rId17" Type="http://schemas.openxmlformats.org/officeDocument/2006/relationships/image" Target="../media/image59.png"/><Relationship Id="rId2" Type="http://schemas.openxmlformats.org/officeDocument/2006/relationships/diagramData" Target="../diagrams/data5.xml"/><Relationship Id="rId16" Type="http://schemas.openxmlformats.org/officeDocument/2006/relationships/image" Target="../media/image58.svg"/><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53.png"/><Relationship Id="rId5" Type="http://schemas.openxmlformats.org/officeDocument/2006/relationships/diagramColors" Target="../diagrams/colors5.xml"/><Relationship Id="rId15" Type="http://schemas.openxmlformats.org/officeDocument/2006/relationships/image" Target="../media/image57.png"/><Relationship Id="rId10" Type="http://schemas.openxmlformats.org/officeDocument/2006/relationships/image" Target="../media/image52.svg"/><Relationship Id="rId4" Type="http://schemas.openxmlformats.org/officeDocument/2006/relationships/diagramQuickStyle" Target="../diagrams/quickStyle5.xml"/><Relationship Id="rId9" Type="http://schemas.openxmlformats.org/officeDocument/2006/relationships/image" Target="../media/image51.png"/><Relationship Id="rId14" Type="http://schemas.openxmlformats.org/officeDocument/2006/relationships/image" Target="../media/image56.svg"/></Relationships>
</file>

<file path=ppt/slides/_rels/slide1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8.svg"/><Relationship Id="rId7" Type="http://schemas.openxmlformats.org/officeDocument/2006/relationships/image" Target="../media/image64.sv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 Id="rId9" Type="http://schemas.openxmlformats.org/officeDocument/2006/relationships/image" Target="../media/image66.svg"/></Relationships>
</file>

<file path=ppt/slides/_rels/slide12.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8.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14.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8.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8.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16.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5.svg"/><Relationship Id="rId7" Type="http://schemas.openxmlformats.org/officeDocument/2006/relationships/image" Target="../media/image45.svg"/><Relationship Id="rId2"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77.sv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7.svg"/><Relationship Id="rId7"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81.png"/></Relationships>
</file>

<file path=ppt/slides/_rels/slide19.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Layout" Target="../slideLayouts/slideLayout1.xml"/><Relationship Id="rId5" Type="http://schemas.openxmlformats.org/officeDocument/2006/relationships/image" Target="../media/image45.sv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Layout" Target="../slideLayouts/slideLayout1.xml"/><Relationship Id="rId5" Type="http://schemas.openxmlformats.org/officeDocument/2006/relationships/image" Target="../media/image45.sv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png"/><Relationship Id="rId1" Type="http://schemas.openxmlformats.org/officeDocument/2006/relationships/slideLayout" Target="../slideLayouts/slideLayout1.xml"/><Relationship Id="rId5" Type="http://schemas.openxmlformats.org/officeDocument/2006/relationships/image" Target="../media/image45.sv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8.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28.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58.svg"/><Relationship Id="rId7" Type="http://schemas.openxmlformats.org/officeDocument/2006/relationships/image" Target="../media/image64.svg"/><Relationship Id="rId12" Type="http://schemas.openxmlformats.org/officeDocument/2006/relationships/image" Target="../media/image69.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svg"/><Relationship Id="rId5" Type="http://schemas.openxmlformats.org/officeDocument/2006/relationships/image" Target="../media/image62.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 Id="rId14" Type="http://schemas.openxmlformats.org/officeDocument/2006/relationships/image" Target="../media/image71.png"/></Relationships>
</file>

<file path=ppt/slides/_rels/slide2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svg"/><Relationship Id="rId7" Type="http://schemas.openxmlformats.org/officeDocument/2006/relationships/image" Target="../media/image88.svg"/><Relationship Id="rId2" Type="http://schemas.openxmlformats.org/officeDocument/2006/relationships/image" Target="../media/image83.png"/><Relationship Id="rId1" Type="http://schemas.openxmlformats.org/officeDocument/2006/relationships/slideLayout" Target="../slideLayouts/slideLayout5.xml"/><Relationship Id="rId6" Type="http://schemas.openxmlformats.org/officeDocument/2006/relationships/image" Target="../media/image87.png"/><Relationship Id="rId11" Type="http://schemas.openxmlformats.org/officeDocument/2006/relationships/image" Target="../media/image58.svg"/><Relationship Id="rId5" Type="http://schemas.openxmlformats.org/officeDocument/2006/relationships/image" Target="../media/image86.svg"/><Relationship Id="rId10" Type="http://schemas.openxmlformats.org/officeDocument/2006/relationships/image" Target="../media/image57.png"/><Relationship Id="rId4" Type="http://schemas.openxmlformats.org/officeDocument/2006/relationships/image" Target="../media/image85.png"/><Relationship Id="rId9" Type="http://schemas.openxmlformats.org/officeDocument/2006/relationships/image" Target="../media/image90.svg"/></Relationships>
</file>

<file path=ppt/slides/_rels/slide30.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svg"/><Relationship Id="rId18" Type="http://schemas.openxmlformats.org/officeDocument/2006/relationships/image" Target="../media/image107.svg"/><Relationship Id="rId3" Type="http://schemas.openxmlformats.org/officeDocument/2006/relationships/image" Target="../media/image92.svg"/><Relationship Id="rId7" Type="http://schemas.openxmlformats.org/officeDocument/2006/relationships/image" Target="../media/image96.svg"/><Relationship Id="rId12" Type="http://schemas.openxmlformats.org/officeDocument/2006/relationships/image" Target="../media/image101.png"/><Relationship Id="rId17" Type="http://schemas.openxmlformats.org/officeDocument/2006/relationships/image" Target="../media/image106.png"/><Relationship Id="rId2" Type="http://schemas.openxmlformats.org/officeDocument/2006/relationships/image" Target="../media/image91.png"/><Relationship Id="rId16" Type="http://schemas.openxmlformats.org/officeDocument/2006/relationships/image" Target="../media/image105.svg"/><Relationship Id="rId1" Type="http://schemas.openxmlformats.org/officeDocument/2006/relationships/slideLayout" Target="../slideLayouts/slideLayout5.xml"/><Relationship Id="rId6" Type="http://schemas.openxmlformats.org/officeDocument/2006/relationships/image" Target="../media/image95.png"/><Relationship Id="rId11" Type="http://schemas.openxmlformats.org/officeDocument/2006/relationships/image" Target="../media/image100.svg"/><Relationship Id="rId5" Type="http://schemas.openxmlformats.org/officeDocument/2006/relationships/image" Target="../media/image94.svg"/><Relationship Id="rId15" Type="http://schemas.openxmlformats.org/officeDocument/2006/relationships/image" Target="../media/image10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svg"/><Relationship Id="rId14" Type="http://schemas.openxmlformats.org/officeDocument/2006/relationships/image" Target="../media/image103.png"/></Relationships>
</file>

<file path=ppt/slides/_rels/slide31.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60F2153-A99C-7884-B357-72D68732BCD2}"/>
              </a:ext>
            </a:extLst>
          </p:cNvPr>
          <p:cNvSpPr txBox="1"/>
          <p:nvPr/>
        </p:nvSpPr>
        <p:spPr>
          <a:xfrm>
            <a:off x="1414226" y="617148"/>
            <a:ext cx="9924225" cy="5232202"/>
          </a:xfrm>
          <a:prstGeom prst="rect">
            <a:avLst/>
          </a:prstGeom>
          <a:noFill/>
        </p:spPr>
        <p:txBody>
          <a:bodyPr wrap="square" rtlCol="0">
            <a:spAutoFit/>
          </a:bodyPr>
          <a:lstStyle/>
          <a:p>
            <a:r>
              <a:rPr lang="en-US" sz="6000" i="1" dirty="0">
                <a:solidFill>
                  <a:srgbClr val="8E2C48"/>
                </a:solidFill>
              </a:rPr>
              <a:t>CoP Goals to practices breakdown workshop</a:t>
            </a:r>
          </a:p>
          <a:p>
            <a:endParaRPr lang="en-US" dirty="0"/>
          </a:p>
          <a:p>
            <a:endParaRPr lang="en-US" sz="2800" b="1" dirty="0">
              <a:solidFill>
                <a:srgbClr val="5C4E63"/>
              </a:solidFill>
              <a:latin typeface="Avenir Next LT Pro Light" panose="020B0304020202020204" pitchFamily="34" charset="0"/>
            </a:endParaRPr>
          </a:p>
          <a:p>
            <a:r>
              <a:rPr lang="en-US" sz="2800" b="1" dirty="0">
                <a:solidFill>
                  <a:srgbClr val="5C4E63"/>
                </a:solidFill>
                <a:latin typeface="Avenir Next LT Pro Light" panose="020B0304020202020204" pitchFamily="34" charset="0"/>
              </a:rPr>
              <a:t>Goal of this workshop</a:t>
            </a: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For a Community of Practice, list practices related to a goal</a:t>
            </a: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Qualify these practices on mastery and ability to transpose in multiple contexts</a:t>
            </a:r>
          </a:p>
          <a:p>
            <a:pPr marL="457200" indent="-457200">
              <a:buFont typeface="Arial" panose="020B0604020202020204" pitchFamily="34" charset="0"/>
              <a:buChar char="•"/>
            </a:pPr>
            <a:r>
              <a:rPr lang="en-US" sz="2800" dirty="0">
                <a:solidFill>
                  <a:srgbClr val="5C4E63"/>
                </a:solidFill>
                <a:latin typeface="Avenir Next LT Pro Light" panose="020B0304020202020204" pitchFamily="34" charset="0"/>
              </a:rPr>
              <a:t>Better choose what to do with each practice</a:t>
            </a:r>
          </a:p>
        </p:txBody>
      </p:sp>
    </p:spTree>
    <p:extLst>
      <p:ext uri="{BB962C8B-B14F-4D97-AF65-F5344CB8AC3E}">
        <p14:creationId xmlns:p14="http://schemas.microsoft.com/office/powerpoint/2010/main" val="390272588"/>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AFB83-0AAF-AE6E-F769-9151CC4D2074}"/>
              </a:ext>
            </a:extLst>
          </p:cNvPr>
          <p:cNvSpPr>
            <a:spLocks noGrp="1"/>
          </p:cNvSpPr>
          <p:nvPr>
            <p:ph type="title"/>
          </p:nvPr>
        </p:nvSpPr>
        <p:spPr/>
        <p:txBody>
          <a:bodyPr>
            <a:normAutofit/>
          </a:bodyPr>
          <a:lstStyle/>
          <a:p>
            <a:r>
              <a:rPr lang="en-US" sz="2800" dirty="0"/>
              <a:t>CoP Goals to practices breakdown workshop</a:t>
            </a:r>
            <a:br>
              <a:rPr lang="en-US" sz="2800" dirty="0"/>
            </a:br>
            <a:r>
              <a:rPr lang="en-US" sz="2800" dirty="0"/>
              <a:t>Assumptions</a:t>
            </a:r>
          </a:p>
        </p:txBody>
      </p:sp>
      <p:sp>
        <p:nvSpPr>
          <p:cNvPr id="3" name="Segnaposto contenuto 2">
            <a:extLst>
              <a:ext uri="{FF2B5EF4-FFF2-40B4-BE49-F238E27FC236}">
                <a16:creationId xmlns:a16="http://schemas.microsoft.com/office/drawing/2014/main" id="{FE0E95C0-AE74-30ED-CF2B-EFD6D8B7D5CE}"/>
              </a:ext>
            </a:extLst>
          </p:cNvPr>
          <p:cNvSpPr>
            <a:spLocks noGrp="1"/>
          </p:cNvSpPr>
          <p:nvPr>
            <p:ph idx="1"/>
          </p:nvPr>
        </p:nvSpPr>
        <p:spPr>
          <a:xfrm>
            <a:off x="4315969" y="1690688"/>
            <a:ext cx="6753456" cy="4590288"/>
          </a:xfrm>
          <a:ln>
            <a:noFill/>
          </a:ln>
        </p:spPr>
        <p:txBody>
          <a:bodyPr>
            <a:normAutofit/>
          </a:bodyPr>
          <a:lstStyle/>
          <a:p>
            <a:pPr marL="342900" indent="-342900">
              <a:buFont typeface="+mj-lt"/>
              <a:buAutoNum type="arabicPeriod"/>
            </a:pPr>
            <a:r>
              <a:rPr lang="en-US" sz="1400" dirty="0"/>
              <a:t>This workshop assumes that </a:t>
            </a:r>
            <a:r>
              <a:rPr lang="en-US" sz="1400" b="1" dirty="0"/>
              <a:t>the goal of a Corporate Community of Practice is to generate positive impact (mastery of practices, or at least implementation of it) outside of the Community context</a:t>
            </a:r>
            <a:r>
              <a:rPr lang="en-US" sz="1400" dirty="0"/>
              <a:t> : during the job, with other people who are not from the Community, etc.</a:t>
            </a:r>
          </a:p>
          <a:p>
            <a:pPr marL="342900" indent="-342900">
              <a:buFont typeface="+mj-lt"/>
              <a:buAutoNum type="arabicPeriod"/>
            </a:pPr>
            <a:r>
              <a:rPr lang="en-US" sz="1400" dirty="0"/>
              <a:t>For example, if a Corporate Community of practice is about “AI Transformation”, the goal would be that members develop AI impact in their own work and not only between Community members during community moments.</a:t>
            </a:r>
          </a:p>
          <a:p>
            <a:pPr marL="342900" indent="-342900">
              <a:buFont typeface="+mj-lt"/>
              <a:buAutoNum type="arabicPeriod"/>
            </a:pPr>
            <a:endParaRPr lang="en-US" sz="1400" dirty="0"/>
          </a:p>
          <a:p>
            <a:pPr marL="342900" indent="-342900">
              <a:buFont typeface="+mj-lt"/>
              <a:buAutoNum type="arabicPeriod"/>
            </a:pPr>
            <a:r>
              <a:rPr lang="en-US" sz="1400" dirty="0"/>
              <a:t>The workshop assumes that in a corporate community of practice, members have a set of identical individual professional goals and gather as a Community to share how to reach these goals, by leveraging mutualization (of resources, of experience, of capacity for effort)</a:t>
            </a:r>
          </a:p>
          <a:p>
            <a:pPr marL="342900" indent="-342900">
              <a:buFont typeface="+mj-lt"/>
              <a:buAutoNum type="arabicPeriod"/>
            </a:pPr>
            <a:endParaRPr lang="en-US" sz="1400" dirty="0"/>
          </a:p>
          <a:p>
            <a:pPr marL="342900" indent="-342900">
              <a:buFont typeface="+mj-lt"/>
              <a:buAutoNum type="arabicPeriod"/>
            </a:pPr>
            <a:r>
              <a:rPr lang="en-US" sz="1400" dirty="0"/>
              <a:t>Also, while acknowledging the power of potential mutualization, this workshop assumes that </a:t>
            </a:r>
            <a:r>
              <a:rPr lang="en-US" sz="1400" b="1" dirty="0"/>
              <a:t>not all practices have the same value for these common goals</a:t>
            </a:r>
            <a:endParaRPr lang="en-US" sz="1400" dirty="0"/>
          </a:p>
        </p:txBody>
      </p:sp>
      <p:pic>
        <p:nvPicPr>
          <p:cNvPr id="7" name="Elemento grafico 6" descr="Brindisi con riempimento a tinta unita">
            <a:extLst>
              <a:ext uri="{FF2B5EF4-FFF2-40B4-BE49-F238E27FC236}">
                <a16:creationId xmlns:a16="http://schemas.microsoft.com/office/drawing/2014/main" id="{84C746F6-7D80-37A9-002D-D15C65DC1C7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60549" y="3813049"/>
            <a:ext cx="914400" cy="914400"/>
          </a:xfrm>
          <a:prstGeom prst="rect">
            <a:avLst/>
          </a:prstGeom>
        </p:spPr>
      </p:pic>
      <p:pic>
        <p:nvPicPr>
          <p:cNvPr id="9" name="Elemento grafico 8" descr="Pesi irregolari con riempimento a tinta unita">
            <a:extLst>
              <a:ext uri="{FF2B5EF4-FFF2-40B4-BE49-F238E27FC236}">
                <a16:creationId xmlns:a16="http://schemas.microsoft.com/office/drawing/2014/main" id="{2CDF7FDC-993A-D47A-8545-F3E1EA9FD56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831594" y="5016430"/>
            <a:ext cx="914400" cy="914400"/>
          </a:xfrm>
          <a:prstGeom prst="rect">
            <a:avLst/>
          </a:prstGeom>
        </p:spPr>
      </p:pic>
      <p:pic>
        <p:nvPicPr>
          <p:cNvPr id="13" name="Elemento grafico 12" descr="Lavora dalla scrivania di casa con riempimento a tinta unita">
            <a:extLst>
              <a:ext uri="{FF2B5EF4-FFF2-40B4-BE49-F238E27FC236}">
                <a16:creationId xmlns:a16="http://schemas.microsoft.com/office/drawing/2014/main" id="{9D17CB21-8400-0CF4-4FCE-996890B82C9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317749" y="1522476"/>
            <a:ext cx="914400" cy="914400"/>
          </a:xfrm>
          <a:prstGeom prst="rect">
            <a:avLst/>
          </a:prstGeom>
        </p:spPr>
      </p:pic>
      <p:pic>
        <p:nvPicPr>
          <p:cNvPr id="14" name="Elemento grafico 13" descr="Lavora dalla scrivania di casa con riempimento a tinta unita">
            <a:extLst>
              <a:ext uri="{FF2B5EF4-FFF2-40B4-BE49-F238E27FC236}">
                <a16:creationId xmlns:a16="http://schemas.microsoft.com/office/drawing/2014/main" id="{B34FC091-8A58-FA9A-AB20-E7105BA7FB4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63219" y="1522476"/>
            <a:ext cx="914400" cy="914400"/>
          </a:xfrm>
          <a:prstGeom prst="rect">
            <a:avLst/>
          </a:prstGeom>
        </p:spPr>
      </p:pic>
      <p:pic>
        <p:nvPicPr>
          <p:cNvPr id="15" name="Elemento grafico 14" descr="Lavora dalla scrivania di casa con riempimento a tinta unita">
            <a:extLst>
              <a:ext uri="{FF2B5EF4-FFF2-40B4-BE49-F238E27FC236}">
                <a16:creationId xmlns:a16="http://schemas.microsoft.com/office/drawing/2014/main" id="{06097361-6141-A848-2027-78B155FE3ADA}"/>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317749" y="2510028"/>
            <a:ext cx="914400" cy="914400"/>
          </a:xfrm>
          <a:prstGeom prst="rect">
            <a:avLst/>
          </a:prstGeom>
        </p:spPr>
      </p:pic>
      <p:pic>
        <p:nvPicPr>
          <p:cNvPr id="17" name="Elemento grafico 16" descr="Lavora dalla scrivania di casa con riempimento a tinta unita">
            <a:extLst>
              <a:ext uri="{FF2B5EF4-FFF2-40B4-BE49-F238E27FC236}">
                <a16:creationId xmlns:a16="http://schemas.microsoft.com/office/drawing/2014/main" id="{E613627E-89CE-3A53-C2D7-BBEEAE00018B}"/>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353326" y="2515039"/>
            <a:ext cx="914400" cy="914400"/>
          </a:xfrm>
          <a:prstGeom prst="rect">
            <a:avLst/>
          </a:prstGeom>
        </p:spPr>
      </p:pic>
      <p:pic>
        <p:nvPicPr>
          <p:cNvPr id="18" name="Elemento grafico 17" descr="Freccia: curva oraria con riempimento a tinta unita">
            <a:extLst>
              <a:ext uri="{FF2B5EF4-FFF2-40B4-BE49-F238E27FC236}">
                <a16:creationId xmlns:a16="http://schemas.microsoft.com/office/drawing/2014/main" id="{67515795-E4A1-98EC-0A7D-A1D015975B49}"/>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4170901">
            <a:off x="2860549" y="1631613"/>
            <a:ext cx="914400" cy="914400"/>
          </a:xfrm>
          <a:prstGeom prst="rect">
            <a:avLst/>
          </a:prstGeom>
        </p:spPr>
      </p:pic>
      <p:pic>
        <p:nvPicPr>
          <p:cNvPr id="20" name="Elemento grafico 19" descr="Brainstorming di gruppo contorno">
            <a:extLst>
              <a:ext uri="{FF2B5EF4-FFF2-40B4-BE49-F238E27FC236}">
                <a16:creationId xmlns:a16="http://schemas.microsoft.com/office/drawing/2014/main" id="{F91D5611-C7A2-CE5E-3146-390BF6FA6B65}"/>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345438" y="2016252"/>
            <a:ext cx="914400" cy="914400"/>
          </a:xfrm>
          <a:prstGeom prst="rect">
            <a:avLst/>
          </a:prstGeom>
        </p:spPr>
      </p:pic>
      <p:pic>
        <p:nvPicPr>
          <p:cNvPr id="21" name="Elemento grafico 20" descr="Freccia: curva oraria con riempimento a tinta unita">
            <a:extLst>
              <a:ext uri="{FF2B5EF4-FFF2-40B4-BE49-F238E27FC236}">
                <a16:creationId xmlns:a16="http://schemas.microsoft.com/office/drawing/2014/main" id="{B9A806B2-C2B2-E39E-5DA4-F102D80F9B9E}"/>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7953594">
            <a:off x="2961012" y="2420875"/>
            <a:ext cx="914400" cy="914400"/>
          </a:xfrm>
          <a:prstGeom prst="rect">
            <a:avLst/>
          </a:prstGeom>
        </p:spPr>
      </p:pic>
      <p:pic>
        <p:nvPicPr>
          <p:cNvPr id="22" name="Elemento grafico 21" descr="Freccia: curva oraria con riempimento a tinta unita">
            <a:extLst>
              <a:ext uri="{FF2B5EF4-FFF2-40B4-BE49-F238E27FC236}">
                <a16:creationId xmlns:a16="http://schemas.microsoft.com/office/drawing/2014/main" id="{6C5A0F8F-88A4-1F2A-00DE-CF14A96C01A7}"/>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6370566" flipV="1">
            <a:off x="1888148" y="1715729"/>
            <a:ext cx="914400" cy="856718"/>
          </a:xfrm>
          <a:prstGeom prst="rect">
            <a:avLst/>
          </a:prstGeom>
        </p:spPr>
      </p:pic>
      <p:pic>
        <p:nvPicPr>
          <p:cNvPr id="23" name="Elemento grafico 22" descr="Freccia: curva oraria con riempimento a tinta unita">
            <a:extLst>
              <a:ext uri="{FF2B5EF4-FFF2-40B4-BE49-F238E27FC236}">
                <a16:creationId xmlns:a16="http://schemas.microsoft.com/office/drawing/2014/main" id="{4F26DFD6-C0DF-8BAD-5850-6FFEAEC73A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1891010" flipV="1">
            <a:off x="1775621" y="2464577"/>
            <a:ext cx="914400" cy="856718"/>
          </a:xfrm>
          <a:prstGeom prst="rect">
            <a:avLst/>
          </a:prstGeom>
        </p:spPr>
      </p:pic>
      <p:pic>
        <p:nvPicPr>
          <p:cNvPr id="28" name="Elemento grafico 27" descr="Lampadina e ingranaggio con riempimento a tinta unita">
            <a:extLst>
              <a:ext uri="{FF2B5EF4-FFF2-40B4-BE49-F238E27FC236}">
                <a16:creationId xmlns:a16="http://schemas.microsoft.com/office/drawing/2014/main" id="{AA48664C-86B6-A4CB-C887-F69FDBCC6F3A}"/>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573199" y="5335524"/>
            <a:ext cx="332842" cy="332842"/>
          </a:xfrm>
          <a:prstGeom prst="rect">
            <a:avLst/>
          </a:prstGeom>
        </p:spPr>
      </p:pic>
      <p:pic>
        <p:nvPicPr>
          <p:cNvPr id="29" name="Elemento grafico 28" descr="Lampadina e ingranaggio con riempimento a tinta unita">
            <a:extLst>
              <a:ext uri="{FF2B5EF4-FFF2-40B4-BE49-F238E27FC236}">
                <a16:creationId xmlns:a16="http://schemas.microsoft.com/office/drawing/2014/main" id="{0A99AFE4-DAF3-FABE-5709-D02DDC664543}"/>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636217" y="5024637"/>
            <a:ext cx="332842" cy="332842"/>
          </a:xfrm>
          <a:prstGeom prst="rect">
            <a:avLst/>
          </a:prstGeom>
        </p:spPr>
      </p:pic>
    </p:spTree>
    <p:extLst>
      <p:ext uri="{BB962C8B-B14F-4D97-AF65-F5344CB8AC3E}">
        <p14:creationId xmlns:p14="http://schemas.microsoft.com/office/powerpoint/2010/main" val="3205091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Pièce de puzzle comblant un trou">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8"/>
            <a:ext cx="4087306" cy="3464697"/>
          </a:xfrm>
        </p:spPr>
        <p:txBody>
          <a:bodyPr anchor="b">
            <a:normAutofit fontScale="90000"/>
          </a:bodyPr>
          <a:lstStyle/>
          <a:p>
            <a:pPr algn="l"/>
            <a:r>
              <a:rPr lang="en-US" sz="5400" dirty="0">
                <a:solidFill>
                  <a:srgbClr val="5C4E63"/>
                </a:solidFill>
                <a:latin typeface="Avenir Next LT Pro Light" panose="020B0304020202020204" pitchFamily="34" charset="0"/>
              </a:rPr>
              <a:t>Community of Practice </a:t>
            </a:r>
            <a:r>
              <a:rPr lang="en-US" sz="5400" b="1" dirty="0">
                <a:solidFill>
                  <a:srgbClr val="5C4E63"/>
                </a:solidFill>
                <a:latin typeface="Avenir Next LT Pro Light" panose="020B0304020202020204" pitchFamily="34" charset="0"/>
              </a:rPr>
              <a:t>Goals to Practice breakdown Workshop</a:t>
            </a:r>
          </a:p>
        </p:txBody>
      </p:sp>
    </p:spTree>
    <p:extLst>
      <p:ext uri="{BB962C8B-B14F-4D97-AF65-F5344CB8AC3E}">
        <p14:creationId xmlns:p14="http://schemas.microsoft.com/office/powerpoint/2010/main" val="3436738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0" y="0"/>
            <a:ext cx="12192000" cy="1325563"/>
          </a:xfrm>
        </p:spPr>
        <p:txBody>
          <a:bodyPr>
            <a:normAutofit/>
          </a:bodyPr>
          <a:lstStyle/>
          <a:p>
            <a:r>
              <a:rPr lang="fr-FR">
                <a:solidFill>
                  <a:srgbClr val="5C4E63"/>
                </a:solidFill>
                <a:latin typeface="Avenir Next LT Pro Light" panose="020B0304020202020204" pitchFamily="34" charset="0"/>
              </a:rPr>
              <a:t>For whom and </a:t>
            </a:r>
            <a:r>
              <a:rPr lang="fr-FR" err="1">
                <a:solidFill>
                  <a:srgbClr val="5C4E63"/>
                </a:solidFill>
                <a:latin typeface="Avenir Next LT Pro Light" panose="020B0304020202020204" pitchFamily="34" charset="0"/>
              </a:rPr>
              <a:t>why</a:t>
            </a:r>
            <a:r>
              <a:rPr lang="fr-FR">
                <a:solidFill>
                  <a:srgbClr val="5C4E63"/>
                </a:solidFill>
                <a:latin typeface="Avenir Next LT Pro Light" panose="020B0304020202020204" pitchFamily="34" charset="0"/>
              </a:rPr>
              <a:t> </a:t>
            </a:r>
            <a:r>
              <a:rPr lang="fr-FR" err="1">
                <a:solidFill>
                  <a:srgbClr val="5C4E63"/>
                </a:solidFill>
                <a:latin typeface="Avenir Next LT Pro Light" panose="020B0304020202020204" pitchFamily="34" charset="0"/>
              </a:rPr>
              <a:t>this</a:t>
            </a:r>
            <a:r>
              <a:rPr lang="fr-FR">
                <a:solidFill>
                  <a:srgbClr val="5C4E63"/>
                </a:solidFill>
                <a:latin typeface="Avenir Next LT Pro Light" panose="020B0304020202020204" pitchFamily="34" charset="0"/>
              </a:rPr>
              <a:t> </a:t>
            </a:r>
            <a:r>
              <a:rPr lang="fr-FR">
                <a:solidFill>
                  <a:srgbClr val="8E2C48"/>
                </a:solidFill>
                <a:latin typeface="Avenir Next LT Pro Light" panose="020B0304020202020204" pitchFamily="34" charset="0"/>
              </a:rPr>
              <a:t>Workshop?</a:t>
            </a:r>
            <a:endParaRPr lang="fr-FR">
              <a:solidFill>
                <a:srgbClr val="5C4E63"/>
              </a:solidFill>
              <a:latin typeface="Avenir Next LT Pro Light" panose="020B0304020202020204" pitchFamily="34" charset="0"/>
            </a:endParaRPr>
          </a:p>
        </p:txBody>
      </p:sp>
      <p:graphicFrame>
        <p:nvGraphicFramePr>
          <p:cNvPr id="14" name="Diagramme 13">
            <a:extLst>
              <a:ext uri="{FF2B5EF4-FFF2-40B4-BE49-F238E27FC236}">
                <a16:creationId xmlns:a16="http://schemas.microsoft.com/office/drawing/2014/main" id="{AFD662A8-3A2A-775A-1682-C5613BF18B68}"/>
              </a:ext>
            </a:extLst>
          </p:cNvPr>
          <p:cNvGraphicFramePr/>
          <p:nvPr>
            <p:extLst>
              <p:ext uri="{D42A27DB-BD31-4B8C-83A1-F6EECF244321}">
                <p14:modId xmlns:p14="http://schemas.microsoft.com/office/powerpoint/2010/main" val="3975451179"/>
              </p:ext>
            </p:extLst>
          </p:nvPr>
        </p:nvGraphicFramePr>
        <p:xfrm>
          <a:off x="3593433" y="1690687"/>
          <a:ext cx="4644188" cy="49026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egnaposto contenuto 2">
            <a:extLst>
              <a:ext uri="{FF2B5EF4-FFF2-40B4-BE49-F238E27FC236}">
                <a16:creationId xmlns:a16="http://schemas.microsoft.com/office/drawing/2014/main" id="{3F9A1DDF-F13E-22AD-74F2-BEB8A2B735C8}"/>
              </a:ext>
            </a:extLst>
          </p:cNvPr>
          <p:cNvSpPr txBox="1">
            <a:spLocks/>
          </p:cNvSpPr>
          <p:nvPr/>
        </p:nvSpPr>
        <p:spPr>
          <a:xfrm>
            <a:off x="9378645" y="5934456"/>
            <a:ext cx="2746299" cy="27908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a:t>*CoP = Community of Practice</a:t>
            </a:r>
          </a:p>
        </p:txBody>
      </p:sp>
    </p:spTree>
    <p:extLst>
      <p:ext uri="{BB962C8B-B14F-4D97-AF65-F5344CB8AC3E}">
        <p14:creationId xmlns:p14="http://schemas.microsoft.com/office/powerpoint/2010/main" val="21730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1" y="0"/>
            <a:ext cx="12192000" cy="1325563"/>
          </a:xfrm>
        </p:spPr>
        <p:txBody>
          <a:bodyPr>
            <a:normAutofit/>
          </a:bodyPr>
          <a:lstStyle/>
          <a:p>
            <a:r>
              <a:rPr lang="fr-FR">
                <a:solidFill>
                  <a:srgbClr val="5C4E63"/>
                </a:solidFill>
                <a:latin typeface="Avenir Next LT Pro Light" panose="020B0304020202020204" pitchFamily="34" charset="0"/>
              </a:rPr>
              <a:t>Presentation of the workshop steps (optional)</a:t>
            </a:r>
          </a:p>
        </p:txBody>
      </p:sp>
      <p:graphicFrame>
        <p:nvGraphicFramePr>
          <p:cNvPr id="14" name="Diagramme 13">
            <a:extLst>
              <a:ext uri="{FF2B5EF4-FFF2-40B4-BE49-F238E27FC236}">
                <a16:creationId xmlns:a16="http://schemas.microsoft.com/office/drawing/2014/main" id="{AFD662A8-3A2A-775A-1682-C5613BF18B68}"/>
              </a:ext>
            </a:extLst>
          </p:cNvPr>
          <p:cNvGraphicFramePr/>
          <p:nvPr>
            <p:extLst>
              <p:ext uri="{D42A27DB-BD31-4B8C-83A1-F6EECF244321}">
                <p14:modId xmlns:p14="http://schemas.microsoft.com/office/powerpoint/2010/main" val="2025298295"/>
              </p:ext>
            </p:extLst>
          </p:nvPr>
        </p:nvGraphicFramePr>
        <p:xfrm>
          <a:off x="1729179" y="1152144"/>
          <a:ext cx="8733639" cy="5495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849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9C83C-CF0E-55FD-8F7C-B0A92BE675F7}"/>
              </a:ext>
            </a:extLst>
          </p:cNvPr>
          <p:cNvSpPr>
            <a:spLocks noGrp="1"/>
          </p:cNvSpPr>
          <p:nvPr>
            <p:ph type="title"/>
          </p:nvPr>
        </p:nvSpPr>
        <p:spPr>
          <a:xfrm>
            <a:off x="0" y="0"/>
            <a:ext cx="10515600" cy="1325563"/>
          </a:xfrm>
        </p:spPr>
        <p:txBody>
          <a:bodyPr/>
          <a:lstStyle/>
          <a:p>
            <a:r>
              <a:rPr lang="fr-FR">
                <a:solidFill>
                  <a:srgbClr val="5C4E63"/>
                </a:solidFill>
                <a:latin typeface="Avenir Next LT Pro Light" panose="020B0304020202020204" pitchFamily="34" charset="0"/>
              </a:rPr>
              <a:t>Workshop </a:t>
            </a:r>
            <a:r>
              <a:rPr lang="fr-FR" err="1">
                <a:solidFill>
                  <a:srgbClr val="5C4E63"/>
                </a:solidFill>
                <a:latin typeface="Avenir Next LT Pro Light" panose="020B0304020202020204" pitchFamily="34" charset="0"/>
              </a:rPr>
              <a:t>organization</a:t>
            </a:r>
            <a:endParaRPr lang="fr-FR">
              <a:solidFill>
                <a:srgbClr val="5C4E63"/>
              </a:solidFill>
              <a:latin typeface="Avenir Next LT Pro Light" panose="020B0304020202020204" pitchFamily="34" charset="0"/>
            </a:endParaRPr>
          </a:p>
        </p:txBody>
      </p:sp>
      <p:graphicFrame>
        <p:nvGraphicFramePr>
          <p:cNvPr id="13" name="Diagramme 12">
            <a:extLst>
              <a:ext uri="{FF2B5EF4-FFF2-40B4-BE49-F238E27FC236}">
                <a16:creationId xmlns:a16="http://schemas.microsoft.com/office/drawing/2014/main" id="{DC56BF81-D9A3-F4C8-9A4B-166CFC9B8F71}"/>
              </a:ext>
            </a:extLst>
          </p:cNvPr>
          <p:cNvGraphicFramePr/>
          <p:nvPr>
            <p:extLst>
              <p:ext uri="{D42A27DB-BD31-4B8C-83A1-F6EECF244321}">
                <p14:modId xmlns:p14="http://schemas.microsoft.com/office/powerpoint/2010/main" val="3683112228"/>
              </p:ext>
            </p:extLst>
          </p:nvPr>
        </p:nvGraphicFramePr>
        <p:xfrm>
          <a:off x="2605772" y="1444752"/>
          <a:ext cx="7909828" cy="4983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8046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9C83C-CF0E-55FD-8F7C-B0A92BE675F7}"/>
              </a:ext>
            </a:extLst>
          </p:cNvPr>
          <p:cNvSpPr>
            <a:spLocks noGrp="1"/>
          </p:cNvSpPr>
          <p:nvPr>
            <p:ph type="title"/>
          </p:nvPr>
        </p:nvSpPr>
        <p:spPr>
          <a:xfrm>
            <a:off x="0" y="0"/>
            <a:ext cx="10515600" cy="1325563"/>
          </a:xfrm>
        </p:spPr>
        <p:txBody>
          <a:bodyPr/>
          <a:lstStyle/>
          <a:p>
            <a:r>
              <a:rPr lang="fr-FR">
                <a:solidFill>
                  <a:srgbClr val="5C4E63"/>
                </a:solidFill>
                <a:latin typeface="Avenir Next LT Pro Light" panose="020B0304020202020204" pitchFamily="34" charset="0"/>
              </a:rPr>
              <a:t>Favorable &amp; not favorable conditions</a:t>
            </a:r>
          </a:p>
        </p:txBody>
      </p:sp>
      <p:graphicFrame>
        <p:nvGraphicFramePr>
          <p:cNvPr id="13" name="Diagramme 12">
            <a:extLst>
              <a:ext uri="{FF2B5EF4-FFF2-40B4-BE49-F238E27FC236}">
                <a16:creationId xmlns:a16="http://schemas.microsoft.com/office/drawing/2014/main" id="{DC56BF81-D9A3-F4C8-9A4B-166CFC9B8F71}"/>
              </a:ext>
            </a:extLst>
          </p:cNvPr>
          <p:cNvGraphicFramePr/>
          <p:nvPr>
            <p:extLst>
              <p:ext uri="{D42A27DB-BD31-4B8C-83A1-F6EECF244321}">
                <p14:modId xmlns:p14="http://schemas.microsoft.com/office/powerpoint/2010/main" val="67859204"/>
              </p:ext>
            </p:extLst>
          </p:nvPr>
        </p:nvGraphicFramePr>
        <p:xfrm>
          <a:off x="3688587" y="1544383"/>
          <a:ext cx="3836925" cy="4533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63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55470" y="1837944"/>
            <a:ext cx="4346386" cy="3530073"/>
          </a:xfrm>
        </p:spPr>
        <p:txBody>
          <a:bodyPr anchor="b">
            <a:normAutofit fontScale="90000"/>
          </a:bodyPr>
          <a:lstStyle/>
          <a:p>
            <a:pPr algn="l"/>
            <a:r>
              <a:rPr lang="en-US" sz="5400">
                <a:solidFill>
                  <a:srgbClr val="5C4E63"/>
                </a:solidFill>
                <a:latin typeface="Avenir Next LT Pro Light" panose="020B0304020202020204" pitchFamily="34" charset="0"/>
              </a:rPr>
              <a:t>Step 1 : Explanation about workshop goals</a:t>
            </a:r>
          </a:p>
        </p:txBody>
      </p:sp>
      <p:pic>
        <p:nvPicPr>
          <p:cNvPr id="5" name="Image 4" descr="Personnes faisant un puzzle">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pic>
        <p:nvPicPr>
          <p:cNvPr id="3" name="Elemento grafico 2" descr="Cronometro 25% contorno">
            <a:extLst>
              <a:ext uri="{FF2B5EF4-FFF2-40B4-BE49-F238E27FC236}">
                <a16:creationId xmlns:a16="http://schemas.microsoft.com/office/drawing/2014/main" id="{DB26E030-4751-27F8-56C4-14FDCDAB0B1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19687" y="0"/>
            <a:ext cx="914400" cy="914400"/>
          </a:xfrm>
          <a:prstGeom prst="rect">
            <a:avLst/>
          </a:prstGeom>
        </p:spPr>
      </p:pic>
      <p:sp>
        <p:nvSpPr>
          <p:cNvPr id="4" name="CasellaDiTesto 3">
            <a:extLst>
              <a:ext uri="{FF2B5EF4-FFF2-40B4-BE49-F238E27FC236}">
                <a16:creationId xmlns:a16="http://schemas.microsoft.com/office/drawing/2014/main" id="{33DEDF31-BF15-28D0-D638-4A30B131B768}"/>
              </a:ext>
            </a:extLst>
          </p:cNvPr>
          <p:cNvSpPr txBox="1"/>
          <p:nvPr/>
        </p:nvSpPr>
        <p:spPr>
          <a:xfrm>
            <a:off x="11303410" y="729734"/>
            <a:ext cx="830677" cy="369332"/>
          </a:xfrm>
          <a:prstGeom prst="rect">
            <a:avLst/>
          </a:prstGeom>
          <a:noFill/>
        </p:spPr>
        <p:txBody>
          <a:bodyPr wrap="none" rtlCol="0">
            <a:spAutoFit/>
          </a:bodyPr>
          <a:lstStyle/>
          <a:p>
            <a:r>
              <a:rPr lang="en-US"/>
              <a:t>15 min</a:t>
            </a:r>
          </a:p>
        </p:txBody>
      </p:sp>
    </p:spTree>
    <p:extLst>
      <p:ext uri="{BB962C8B-B14F-4D97-AF65-F5344CB8AC3E}">
        <p14:creationId xmlns:p14="http://schemas.microsoft.com/office/powerpoint/2010/main" val="345893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F12BBE-2657-1D22-AACE-D2BF32C20D79}"/>
              </a:ext>
            </a:extLst>
          </p:cNvPr>
          <p:cNvSpPr>
            <a:spLocks noGrp="1"/>
          </p:cNvSpPr>
          <p:nvPr>
            <p:ph type="title"/>
          </p:nvPr>
        </p:nvSpPr>
        <p:spPr/>
        <p:txBody>
          <a:bodyPr>
            <a:noAutofit/>
          </a:bodyPr>
          <a:lstStyle/>
          <a:p>
            <a:r>
              <a:rPr lang="en-US" sz="2800" dirty="0"/>
              <a:t>CoP Goals to Practices Breakdown workshop</a:t>
            </a:r>
            <a:br>
              <a:rPr lang="en-US" sz="2800" dirty="0"/>
            </a:br>
            <a:r>
              <a:rPr lang="en-US" sz="2800" dirty="0"/>
              <a:t>The pain points that lead to creation of this workshop</a:t>
            </a:r>
          </a:p>
        </p:txBody>
      </p:sp>
      <p:pic>
        <p:nvPicPr>
          <p:cNvPr id="5" name="Immagine 4" descr="Uomo d’affari che alza le spalle">
            <a:extLst>
              <a:ext uri="{FF2B5EF4-FFF2-40B4-BE49-F238E27FC236}">
                <a16:creationId xmlns:a16="http://schemas.microsoft.com/office/drawing/2014/main" id="{7165D361-0FE8-A563-9692-32E95455B43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211123" y="3729952"/>
            <a:ext cx="1829230" cy="1421674"/>
          </a:xfrm>
          <a:prstGeom prst="rect">
            <a:avLst/>
          </a:prstGeom>
        </p:spPr>
      </p:pic>
      <p:pic>
        <p:nvPicPr>
          <p:cNvPr id="7" name="Immagine 6" descr="Addetto al servizio clienti con mano sul viso">
            <a:extLst>
              <a:ext uri="{FF2B5EF4-FFF2-40B4-BE49-F238E27FC236}">
                <a16:creationId xmlns:a16="http://schemas.microsoft.com/office/drawing/2014/main" id="{58C2F8B3-85C3-22B6-74DB-38CC795A394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58826" y="3639864"/>
            <a:ext cx="1735957" cy="1601850"/>
          </a:xfrm>
          <a:prstGeom prst="rect">
            <a:avLst/>
          </a:prstGeom>
        </p:spPr>
      </p:pic>
      <p:pic>
        <p:nvPicPr>
          <p:cNvPr id="11" name="Immagine 10" descr="Donna d'affari con i pollici in su">
            <a:extLst>
              <a:ext uri="{FF2B5EF4-FFF2-40B4-BE49-F238E27FC236}">
                <a16:creationId xmlns:a16="http://schemas.microsoft.com/office/drawing/2014/main" id="{72925AE6-4124-89DF-2B93-05FB6A8D036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1426"/>
          <a:stretch/>
        </p:blipFill>
        <p:spPr>
          <a:xfrm>
            <a:off x="9013256" y="3692442"/>
            <a:ext cx="2028645" cy="1533119"/>
          </a:xfrm>
          <a:prstGeom prst="rect">
            <a:avLst/>
          </a:prstGeom>
        </p:spPr>
      </p:pic>
      <p:sp>
        <p:nvSpPr>
          <p:cNvPr id="12" name="Fumetto: ovale 11">
            <a:extLst>
              <a:ext uri="{FF2B5EF4-FFF2-40B4-BE49-F238E27FC236}">
                <a16:creationId xmlns:a16="http://schemas.microsoft.com/office/drawing/2014/main" id="{096C4314-50E5-E8CA-0321-9C1F3CAB6805}"/>
              </a:ext>
            </a:extLst>
          </p:cNvPr>
          <p:cNvSpPr/>
          <p:nvPr/>
        </p:nvSpPr>
        <p:spPr>
          <a:xfrm>
            <a:off x="838200" y="2281262"/>
            <a:ext cx="2365724" cy="1325563"/>
          </a:xfrm>
          <a:prstGeom prst="wedgeEllipseCallout">
            <a:avLst>
              <a:gd name="adj1" fmla="val 46733"/>
              <a:gd name="adj2" fmla="val 5836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What do you want to me to do with that ?</a:t>
            </a:r>
          </a:p>
          <a:p>
            <a:pPr algn="ctr"/>
            <a:endParaRPr lang="en-US" sz="1200" dirty="0">
              <a:solidFill>
                <a:schemeClr val="tx1"/>
              </a:solidFill>
            </a:endParaRPr>
          </a:p>
          <a:p>
            <a:pPr algn="ctr"/>
            <a:r>
              <a:rPr lang="en-US" sz="1200" dirty="0">
                <a:solidFill>
                  <a:schemeClr val="tx1"/>
                </a:solidFill>
              </a:rPr>
              <a:t> These practices do not apply to us.</a:t>
            </a:r>
          </a:p>
        </p:txBody>
      </p:sp>
      <p:sp>
        <p:nvSpPr>
          <p:cNvPr id="14" name="Fumetto: ovale 13">
            <a:extLst>
              <a:ext uri="{FF2B5EF4-FFF2-40B4-BE49-F238E27FC236}">
                <a16:creationId xmlns:a16="http://schemas.microsoft.com/office/drawing/2014/main" id="{3D2E35EA-37CD-6351-F0D7-F5EFB7C595C6}"/>
              </a:ext>
            </a:extLst>
          </p:cNvPr>
          <p:cNvSpPr/>
          <p:nvPr/>
        </p:nvSpPr>
        <p:spPr>
          <a:xfrm>
            <a:off x="4475964" y="2250103"/>
            <a:ext cx="2365724" cy="1325563"/>
          </a:xfrm>
          <a:prstGeom prst="wedgeEllipseCallout">
            <a:avLst>
              <a:gd name="adj1" fmla="val 19290"/>
              <a:gd name="adj2" fmla="val 69398"/>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expected to learn a ready-to-apply practices, not to mostly listen to problems</a:t>
            </a:r>
          </a:p>
        </p:txBody>
      </p:sp>
      <p:sp>
        <p:nvSpPr>
          <p:cNvPr id="15" name="Fumetto: ovale 14">
            <a:extLst>
              <a:ext uri="{FF2B5EF4-FFF2-40B4-BE49-F238E27FC236}">
                <a16:creationId xmlns:a16="http://schemas.microsoft.com/office/drawing/2014/main" id="{01931215-DFFA-4C25-69D8-DB2C4C9763FD}"/>
              </a:ext>
            </a:extLst>
          </p:cNvPr>
          <p:cNvSpPr/>
          <p:nvPr/>
        </p:nvSpPr>
        <p:spPr>
          <a:xfrm>
            <a:off x="8300688" y="2281262"/>
            <a:ext cx="2365724" cy="1325563"/>
          </a:xfrm>
          <a:prstGeom prst="wedgeEllipseCallout">
            <a:avLst>
              <a:gd name="adj1" fmla="val 11946"/>
              <a:gd name="adj2" fmla="val 6319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Why am I pushed to share something that is not that valuable ? To fill the calendar ?</a:t>
            </a:r>
          </a:p>
        </p:txBody>
      </p:sp>
    </p:spTree>
    <p:extLst>
      <p:ext uri="{BB962C8B-B14F-4D97-AF65-F5344CB8AC3E}">
        <p14:creationId xmlns:p14="http://schemas.microsoft.com/office/powerpoint/2010/main" val="3629432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D46FA8-BBD8-E638-42EF-77429B721B2D}"/>
              </a:ext>
            </a:extLst>
          </p:cNvPr>
          <p:cNvSpPr>
            <a:spLocks noGrp="1"/>
          </p:cNvSpPr>
          <p:nvPr>
            <p:ph type="title"/>
          </p:nvPr>
        </p:nvSpPr>
        <p:spPr/>
        <p:txBody>
          <a:bodyPr>
            <a:noAutofit/>
          </a:bodyPr>
          <a:lstStyle/>
          <a:p>
            <a:r>
              <a:rPr lang="en-US" sz="2800" dirty="0"/>
              <a:t>CoP Goals to Practices Breakdown workshop</a:t>
            </a:r>
            <a:br>
              <a:rPr lang="en-US" sz="2800" dirty="0"/>
            </a:br>
            <a:r>
              <a:rPr lang="en-US" sz="2800" dirty="0"/>
              <a:t>“A Goal is not a practice”</a:t>
            </a:r>
          </a:p>
        </p:txBody>
      </p:sp>
      <p:graphicFrame>
        <p:nvGraphicFramePr>
          <p:cNvPr id="4" name="Segnaposto contenuto 3">
            <a:extLst>
              <a:ext uri="{FF2B5EF4-FFF2-40B4-BE49-F238E27FC236}">
                <a16:creationId xmlns:a16="http://schemas.microsoft.com/office/drawing/2014/main" id="{79D0CEF3-EF67-552B-AE61-0BA0723DC0D7}"/>
              </a:ext>
            </a:extLst>
          </p:cNvPr>
          <p:cNvGraphicFramePr>
            <a:graphicFrameLocks noGrp="1"/>
          </p:cNvGraphicFramePr>
          <p:nvPr>
            <p:ph idx="1"/>
            <p:extLst>
              <p:ext uri="{D42A27DB-BD31-4B8C-83A1-F6EECF244321}">
                <p14:modId xmlns:p14="http://schemas.microsoft.com/office/powerpoint/2010/main" val="3606556718"/>
              </p:ext>
            </p:extLst>
          </p:nvPr>
        </p:nvGraphicFramePr>
        <p:xfrm>
          <a:off x="2825496" y="1526096"/>
          <a:ext cx="7961376" cy="4225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contenuto 2">
            <a:extLst>
              <a:ext uri="{FF2B5EF4-FFF2-40B4-BE49-F238E27FC236}">
                <a16:creationId xmlns:a16="http://schemas.microsoft.com/office/drawing/2014/main" id="{CC817C2A-988F-5C20-0768-0DE7A836EE5E}"/>
              </a:ext>
            </a:extLst>
          </p:cNvPr>
          <p:cNvSpPr txBox="1">
            <a:spLocks/>
          </p:cNvSpPr>
          <p:nvPr/>
        </p:nvSpPr>
        <p:spPr>
          <a:xfrm>
            <a:off x="722376" y="1837943"/>
            <a:ext cx="2688336" cy="4348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dirty="0"/>
          </a:p>
        </p:txBody>
      </p:sp>
      <p:pic>
        <p:nvPicPr>
          <p:cNvPr id="7" name="Elemento grafico 6" descr="Stretta di mano con riempimento a tinta unita">
            <a:extLst>
              <a:ext uri="{FF2B5EF4-FFF2-40B4-BE49-F238E27FC236}">
                <a16:creationId xmlns:a16="http://schemas.microsoft.com/office/drawing/2014/main" id="{82CE9BC8-BE54-CC9F-6B0E-6AD3BFF5730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279648" y="4801552"/>
            <a:ext cx="914400" cy="914400"/>
          </a:xfrm>
          <a:prstGeom prst="rect">
            <a:avLst/>
          </a:prstGeom>
        </p:spPr>
      </p:pic>
      <p:pic>
        <p:nvPicPr>
          <p:cNvPr id="9" name="Elemento grafico 8" descr="Racconto con riempimento a tinta unita">
            <a:extLst>
              <a:ext uri="{FF2B5EF4-FFF2-40B4-BE49-F238E27FC236}">
                <a16:creationId xmlns:a16="http://schemas.microsoft.com/office/drawing/2014/main" id="{0F720879-8ABF-0D52-81E6-6A62B217FF8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245608" y="4801552"/>
            <a:ext cx="914400" cy="914400"/>
          </a:xfrm>
          <a:prstGeom prst="rect">
            <a:avLst/>
          </a:prstGeom>
        </p:spPr>
      </p:pic>
      <p:pic>
        <p:nvPicPr>
          <p:cNvPr id="11" name="Elemento grafico 10" descr="Appunti selezionati con riempimento a tinta unita">
            <a:extLst>
              <a:ext uri="{FF2B5EF4-FFF2-40B4-BE49-F238E27FC236}">
                <a16:creationId xmlns:a16="http://schemas.microsoft.com/office/drawing/2014/main" id="{1F49E16F-2D1D-19EB-2C8C-9C8603BDF4E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7440168" y="4837175"/>
            <a:ext cx="914400" cy="914400"/>
          </a:xfrm>
          <a:prstGeom prst="rect">
            <a:avLst/>
          </a:prstGeom>
        </p:spPr>
      </p:pic>
      <p:pic>
        <p:nvPicPr>
          <p:cNvPr id="13" name="Elemento grafico 12" descr="Post-it contorno">
            <a:extLst>
              <a:ext uri="{FF2B5EF4-FFF2-40B4-BE49-F238E27FC236}">
                <a16:creationId xmlns:a16="http://schemas.microsoft.com/office/drawing/2014/main" id="{90F703BA-3830-6991-5770-1AC87F9C0AA3}"/>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351264" y="4882418"/>
            <a:ext cx="914400" cy="914400"/>
          </a:xfrm>
          <a:prstGeom prst="rect">
            <a:avLst/>
          </a:prstGeom>
        </p:spPr>
      </p:pic>
      <p:pic>
        <p:nvPicPr>
          <p:cNvPr id="15" name="Elemento grafico 14" descr="Camminare con riempimento a tinta unita">
            <a:extLst>
              <a:ext uri="{FF2B5EF4-FFF2-40B4-BE49-F238E27FC236}">
                <a16:creationId xmlns:a16="http://schemas.microsoft.com/office/drawing/2014/main" id="{5358854B-0D17-4DD4-D963-6A1D0E8750E9}"/>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788152" y="1801366"/>
            <a:ext cx="743712" cy="743712"/>
          </a:xfrm>
          <a:prstGeom prst="rect">
            <a:avLst/>
          </a:prstGeom>
        </p:spPr>
      </p:pic>
      <p:pic>
        <p:nvPicPr>
          <p:cNvPr id="17" name="Elemento grafico 16" descr="Gruppo di uomini con riempimento a tinta unita">
            <a:extLst>
              <a:ext uri="{FF2B5EF4-FFF2-40B4-BE49-F238E27FC236}">
                <a16:creationId xmlns:a16="http://schemas.microsoft.com/office/drawing/2014/main" id="{F0986FB9-B7A9-3F0B-EF6B-F32630BF3301}"/>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794640" y="1676096"/>
            <a:ext cx="914400" cy="914400"/>
          </a:xfrm>
          <a:prstGeom prst="rect">
            <a:avLst/>
          </a:prstGeom>
        </p:spPr>
      </p:pic>
    </p:spTree>
    <p:extLst>
      <p:ext uri="{BB962C8B-B14F-4D97-AF65-F5344CB8AC3E}">
        <p14:creationId xmlns:p14="http://schemas.microsoft.com/office/powerpoint/2010/main" val="2936551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ccia in su 4">
            <a:extLst>
              <a:ext uri="{FF2B5EF4-FFF2-40B4-BE49-F238E27FC236}">
                <a16:creationId xmlns:a16="http://schemas.microsoft.com/office/drawing/2014/main" id="{C5C42454-426B-8CA8-342D-E6843B16A64C}"/>
              </a:ext>
            </a:extLst>
          </p:cNvPr>
          <p:cNvSpPr/>
          <p:nvPr/>
        </p:nvSpPr>
        <p:spPr>
          <a:xfrm>
            <a:off x="2776725" y="1690688"/>
            <a:ext cx="1685547" cy="420185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060A1E5A-1227-2DC4-4562-129F56DD7EB4}"/>
              </a:ext>
            </a:extLst>
          </p:cNvPr>
          <p:cNvSpPr>
            <a:spLocks noGrp="1"/>
          </p:cNvSpPr>
          <p:nvPr>
            <p:ph type="title"/>
          </p:nvPr>
        </p:nvSpPr>
        <p:spPr/>
        <p:txBody>
          <a:bodyPr>
            <a:normAutofit/>
          </a:bodyPr>
          <a:lstStyle/>
          <a:p>
            <a:r>
              <a:rPr lang="en-US" sz="2800" dirty="0"/>
              <a:t>CoP Goals to Practice Breakdown workshop</a:t>
            </a:r>
            <a:br>
              <a:rPr lang="en-US" sz="2800" dirty="0"/>
            </a:br>
            <a:r>
              <a:rPr lang="en-US" sz="2800" dirty="0"/>
              <a:t>Level of (individual) Mastery of practice</a:t>
            </a:r>
          </a:p>
        </p:txBody>
      </p:sp>
      <p:graphicFrame>
        <p:nvGraphicFramePr>
          <p:cNvPr id="4" name="Tabella 4">
            <a:extLst>
              <a:ext uri="{FF2B5EF4-FFF2-40B4-BE49-F238E27FC236}">
                <a16:creationId xmlns:a16="http://schemas.microsoft.com/office/drawing/2014/main" id="{C81708B1-F8AE-AE34-5959-51FD8124E623}"/>
              </a:ext>
            </a:extLst>
          </p:cNvPr>
          <p:cNvGraphicFramePr>
            <a:graphicFrameLocks noGrp="1"/>
          </p:cNvGraphicFramePr>
          <p:nvPr>
            <p:ph idx="1"/>
            <p:extLst>
              <p:ext uri="{D42A27DB-BD31-4B8C-83A1-F6EECF244321}">
                <p14:modId xmlns:p14="http://schemas.microsoft.com/office/powerpoint/2010/main" val="3929085671"/>
              </p:ext>
            </p:extLst>
          </p:nvPr>
        </p:nvGraphicFramePr>
        <p:xfrm>
          <a:off x="3197349" y="2577205"/>
          <a:ext cx="6327993" cy="3444240"/>
        </p:xfrm>
        <a:graphic>
          <a:graphicData uri="http://schemas.openxmlformats.org/drawingml/2006/table">
            <a:tbl>
              <a:tblPr firstRow="1" firstCol="1" bandRow="1">
                <a:tableStyleId>{5C22544A-7EE6-4342-B048-85BDC9FD1C3A}</a:tableStyleId>
              </a:tblPr>
              <a:tblGrid>
                <a:gridCol w="2422844">
                  <a:extLst>
                    <a:ext uri="{9D8B030D-6E8A-4147-A177-3AD203B41FA5}">
                      <a16:colId xmlns:a16="http://schemas.microsoft.com/office/drawing/2014/main" val="111057479"/>
                    </a:ext>
                  </a:extLst>
                </a:gridCol>
                <a:gridCol w="3905149">
                  <a:extLst>
                    <a:ext uri="{9D8B030D-6E8A-4147-A177-3AD203B41FA5}">
                      <a16:colId xmlns:a16="http://schemas.microsoft.com/office/drawing/2014/main" val="1126235631"/>
                    </a:ext>
                  </a:extLst>
                </a:gridCol>
              </a:tblGrid>
              <a:tr h="278805">
                <a:tc>
                  <a:txBody>
                    <a:bodyPr/>
                    <a:lstStyle/>
                    <a:p>
                      <a:endParaRPr lang="en-US" sz="1400" dirty="0"/>
                    </a:p>
                  </a:txBody>
                  <a:tcPr>
                    <a:lnB w="12700" cap="flat" cmpd="sng" algn="ctr">
                      <a:solidFill>
                        <a:schemeClr val="tx1"/>
                      </a:solidFill>
                      <a:prstDash val="solid"/>
                      <a:round/>
                      <a:headEnd type="none" w="med" len="med"/>
                      <a:tailEnd type="none" w="med" len="med"/>
                    </a:lnB>
                  </a:tcPr>
                </a:tc>
                <a:tc>
                  <a:txBody>
                    <a:bodyPr/>
                    <a:lstStyle/>
                    <a:p>
                      <a:r>
                        <a:rPr lang="en-US" sz="1400" dirty="0"/>
                        <a:t>Example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586475"/>
                  </a:ext>
                </a:extLst>
              </a:tr>
              <a:tr h="53159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i="1" dirty="0"/>
                        <a:t>I have overseen onboarding many members in my teams over the years, almost every time I organized the Welcome tour in the department and it was successful.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3745208"/>
                  </a:ext>
                </a:extLst>
              </a:tr>
              <a:tr h="45404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sz="1400" i="1" dirty="0"/>
                        <a:t>I organized many welcome tour to onboard various members in my teams, it brought some results but was not appreciated every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6275423"/>
                  </a:ext>
                </a:extLst>
              </a:tr>
              <a:tr h="291593">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i="1" dirty="0"/>
                        <a:t>Once when I had to onboard a new member in my team, I have organized a welcome tour in my department.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3060433"/>
                  </a:ext>
                </a:extLst>
              </a:tr>
              <a:tr h="454049">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1" dirty="0"/>
                        <a:t>I heard that in company X, what they do is to organize welcome tour to onboard members in their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350910"/>
                  </a:ext>
                </a:extLst>
              </a:tr>
            </a:tbl>
          </a:graphicData>
        </a:graphic>
      </p:graphicFrame>
      <p:pic>
        <p:nvPicPr>
          <p:cNvPr id="9" name="Elemento grafico 8" descr="Camminare con riempimento a tinta unita">
            <a:extLst>
              <a:ext uri="{FF2B5EF4-FFF2-40B4-BE49-F238E27FC236}">
                <a16:creationId xmlns:a16="http://schemas.microsoft.com/office/drawing/2014/main" id="{FA2E1D6A-F5DB-ED1D-C9ED-40A5B5651D4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538654" y="4653642"/>
            <a:ext cx="541630" cy="541630"/>
          </a:xfrm>
          <a:prstGeom prst="rect">
            <a:avLst/>
          </a:prstGeom>
        </p:spPr>
      </p:pic>
      <p:pic>
        <p:nvPicPr>
          <p:cNvPr id="10" name="Elemento grafico 9" descr="Neonato con riempimento a tinta unita">
            <a:extLst>
              <a:ext uri="{FF2B5EF4-FFF2-40B4-BE49-F238E27FC236}">
                <a16:creationId xmlns:a16="http://schemas.microsoft.com/office/drawing/2014/main" id="{FD5565C2-C840-5327-ACCB-704DE13D18B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550477" y="5355512"/>
            <a:ext cx="541630" cy="541630"/>
          </a:xfrm>
          <a:prstGeom prst="rect">
            <a:avLst/>
          </a:prstGeom>
        </p:spPr>
      </p:pic>
      <p:pic>
        <p:nvPicPr>
          <p:cNvPr id="11" name="Elemento grafico 10" descr="Eseguire con riempimento a tinta unita">
            <a:extLst>
              <a:ext uri="{FF2B5EF4-FFF2-40B4-BE49-F238E27FC236}">
                <a16:creationId xmlns:a16="http://schemas.microsoft.com/office/drawing/2014/main" id="{10612E71-C0D4-CC43-0114-14C38B53493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542595" y="3986471"/>
            <a:ext cx="541630" cy="541630"/>
          </a:xfrm>
          <a:prstGeom prst="rect">
            <a:avLst/>
          </a:prstGeom>
        </p:spPr>
      </p:pic>
      <p:pic>
        <p:nvPicPr>
          <p:cNvPr id="12" name="Elemento grafico 11" descr="Eroe con riempimento a tinta unita">
            <a:extLst>
              <a:ext uri="{FF2B5EF4-FFF2-40B4-BE49-F238E27FC236}">
                <a16:creationId xmlns:a16="http://schemas.microsoft.com/office/drawing/2014/main" id="{38E74129-3976-BD41-2A50-BE6A0DCE2BE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0477" y="3146053"/>
            <a:ext cx="541630" cy="541630"/>
          </a:xfrm>
          <a:prstGeom prst="rect">
            <a:avLst/>
          </a:prstGeom>
        </p:spPr>
      </p:pic>
    </p:spTree>
    <p:extLst>
      <p:ext uri="{BB962C8B-B14F-4D97-AF65-F5344CB8AC3E}">
        <p14:creationId xmlns:p14="http://schemas.microsoft.com/office/powerpoint/2010/main" val="378393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0A1E5A-1227-2DC4-4562-129F56DD7EB4}"/>
              </a:ext>
            </a:extLst>
          </p:cNvPr>
          <p:cNvSpPr>
            <a:spLocks noGrp="1"/>
          </p:cNvSpPr>
          <p:nvPr>
            <p:ph type="title"/>
          </p:nvPr>
        </p:nvSpPr>
        <p:spPr/>
        <p:txBody>
          <a:bodyPr>
            <a:normAutofit/>
          </a:bodyPr>
          <a:lstStyle/>
          <a:p>
            <a:r>
              <a:rPr lang="en-US" sz="2800" dirty="0"/>
              <a:t>CoP Goals to Practice Breakdown workshop</a:t>
            </a:r>
            <a:br>
              <a:rPr lang="en-US" sz="2800" dirty="0"/>
            </a:br>
            <a:r>
              <a:rPr lang="en-US" sz="2800" dirty="0"/>
              <a:t>Different levels of transposability for practices</a:t>
            </a:r>
            <a:br>
              <a:rPr lang="en-US" sz="2800" dirty="0"/>
            </a:br>
            <a:r>
              <a:rPr lang="en-US" sz="2800" dirty="0"/>
              <a:t>(Transposability on the set of members of the CoP)</a:t>
            </a:r>
          </a:p>
        </p:txBody>
      </p:sp>
      <p:graphicFrame>
        <p:nvGraphicFramePr>
          <p:cNvPr id="4" name="Tabella 4">
            <a:extLst>
              <a:ext uri="{FF2B5EF4-FFF2-40B4-BE49-F238E27FC236}">
                <a16:creationId xmlns:a16="http://schemas.microsoft.com/office/drawing/2014/main" id="{C81708B1-F8AE-AE34-5959-51FD8124E623}"/>
              </a:ext>
            </a:extLst>
          </p:cNvPr>
          <p:cNvGraphicFramePr>
            <a:graphicFrameLocks noGrp="1"/>
          </p:cNvGraphicFramePr>
          <p:nvPr>
            <p:ph idx="1"/>
            <p:extLst>
              <p:ext uri="{D42A27DB-BD31-4B8C-83A1-F6EECF244321}">
                <p14:modId xmlns:p14="http://schemas.microsoft.com/office/powerpoint/2010/main" val="687432037"/>
              </p:ext>
            </p:extLst>
          </p:nvPr>
        </p:nvGraphicFramePr>
        <p:xfrm>
          <a:off x="1063748" y="3118731"/>
          <a:ext cx="10290052" cy="2832116"/>
        </p:xfrm>
        <a:graphic>
          <a:graphicData uri="http://schemas.openxmlformats.org/drawingml/2006/table">
            <a:tbl>
              <a:tblPr firstRow="1" firstCol="1" bandRow="1">
                <a:tableStyleId>{5C22544A-7EE6-4342-B048-85BDC9FD1C3A}</a:tableStyleId>
              </a:tblPr>
              <a:tblGrid>
                <a:gridCol w="1525931">
                  <a:extLst>
                    <a:ext uri="{9D8B030D-6E8A-4147-A177-3AD203B41FA5}">
                      <a16:colId xmlns:a16="http://schemas.microsoft.com/office/drawing/2014/main" val="111057479"/>
                    </a:ext>
                  </a:extLst>
                </a:gridCol>
                <a:gridCol w="2044424">
                  <a:extLst>
                    <a:ext uri="{9D8B030D-6E8A-4147-A177-3AD203B41FA5}">
                      <a16:colId xmlns:a16="http://schemas.microsoft.com/office/drawing/2014/main" val="1126235631"/>
                    </a:ext>
                  </a:extLst>
                </a:gridCol>
                <a:gridCol w="2044424">
                  <a:extLst>
                    <a:ext uri="{9D8B030D-6E8A-4147-A177-3AD203B41FA5}">
                      <a16:colId xmlns:a16="http://schemas.microsoft.com/office/drawing/2014/main" val="2965155808"/>
                    </a:ext>
                  </a:extLst>
                </a:gridCol>
                <a:gridCol w="2161211">
                  <a:extLst>
                    <a:ext uri="{9D8B030D-6E8A-4147-A177-3AD203B41FA5}">
                      <a16:colId xmlns:a16="http://schemas.microsoft.com/office/drawing/2014/main" val="2353649618"/>
                    </a:ext>
                  </a:extLst>
                </a:gridCol>
                <a:gridCol w="2514062">
                  <a:extLst>
                    <a:ext uri="{9D8B030D-6E8A-4147-A177-3AD203B41FA5}">
                      <a16:colId xmlns:a16="http://schemas.microsoft.com/office/drawing/2014/main" val="2914053643"/>
                    </a:ext>
                  </a:extLst>
                </a:gridCol>
              </a:tblGrid>
              <a:tr h="393716">
                <a:tc>
                  <a:txBody>
                    <a:bodyPr/>
                    <a:lstStyle/>
                    <a:p>
                      <a:endParaRPr lang="en-US" sz="1400" dirty="0"/>
                    </a:p>
                  </a:txBody>
                  <a:tcPr/>
                </a:tc>
                <a:tc>
                  <a:txBody>
                    <a:bodyPr/>
                    <a:lstStyle/>
                    <a:p>
                      <a:r>
                        <a:rPr lang="en-US" sz="1400" dirty="0">
                          <a:solidFill>
                            <a:schemeClr val="tx1"/>
                          </a:solidFill>
                        </a:rPr>
                        <a:t>Context Specific</a:t>
                      </a:r>
                    </a:p>
                  </a:txBody>
                  <a:tcPr>
                    <a:solidFill>
                      <a:schemeClr val="bg1"/>
                    </a:solidFill>
                  </a:tcPr>
                </a:tc>
                <a:tc>
                  <a:txBody>
                    <a:bodyPr/>
                    <a:lstStyle/>
                    <a:p>
                      <a:r>
                        <a:rPr lang="en-US" sz="1400" dirty="0">
                          <a:solidFill>
                            <a:schemeClr val="tx1"/>
                          </a:solidFill>
                        </a:rPr>
                        <a:t>Unknown transposability</a:t>
                      </a:r>
                    </a:p>
                  </a:txBody>
                  <a:tcPr>
                    <a:solidFill>
                      <a:schemeClr val="bg1">
                        <a:lumMod val="85000"/>
                      </a:schemeClr>
                    </a:solidFill>
                  </a:tcPr>
                </a:tc>
                <a:tc>
                  <a:txBody>
                    <a:bodyPr/>
                    <a:lstStyle/>
                    <a:p>
                      <a:r>
                        <a:rPr lang="en-US" sz="1400" dirty="0">
                          <a:solidFill>
                            <a:schemeClr val="tx1"/>
                          </a:solidFill>
                        </a:rPr>
                        <a:t>Context adaptable</a:t>
                      </a:r>
                    </a:p>
                  </a:txBody>
                  <a:tcPr>
                    <a:solidFill>
                      <a:schemeClr val="bg1">
                        <a:lumMod val="65000"/>
                      </a:schemeClr>
                    </a:solidFill>
                  </a:tcPr>
                </a:tc>
                <a:tc>
                  <a:txBody>
                    <a:bodyPr/>
                    <a:lstStyle/>
                    <a:p>
                      <a:r>
                        <a:rPr lang="en-US" sz="1400" dirty="0"/>
                        <a:t>(Almost) Context-agnostic</a:t>
                      </a:r>
                    </a:p>
                  </a:txBody>
                  <a:tcPr>
                    <a:solidFill>
                      <a:schemeClr val="tx1"/>
                    </a:solidFill>
                  </a:tcPr>
                </a:tc>
                <a:extLst>
                  <a:ext uri="{0D108BD9-81ED-4DB2-BD59-A6C34878D82A}">
                    <a16:rowId xmlns:a16="http://schemas.microsoft.com/office/drawing/2014/main" val="3375586475"/>
                  </a:ext>
                </a:extLst>
              </a:tr>
              <a:tr h="393716">
                <a:tc>
                  <a:txBody>
                    <a:bodyPr/>
                    <a:lstStyle/>
                    <a:p>
                      <a:r>
                        <a:rPr lang="en-US" sz="1400" dirty="0"/>
                        <a:t>Example</a:t>
                      </a:r>
                    </a:p>
                  </a:txBody>
                  <a:tcPr/>
                </a:tc>
                <a:tc>
                  <a:txBody>
                    <a:bodyPr/>
                    <a:lstStyle/>
                    <a:p>
                      <a:r>
                        <a:rPr lang="en-US" sz="1400" i="1" dirty="0"/>
                        <a:t>“In my team, we have a member who used to be  a world class chef, and every time we onboard a new member, he cooks a dinner for the whole team.”</a:t>
                      </a:r>
                    </a:p>
                  </a:txBody>
                  <a:tcPr/>
                </a:tc>
                <a:tc>
                  <a:txBody>
                    <a:bodyPr/>
                    <a:lstStyle/>
                    <a:p>
                      <a:r>
                        <a:rPr lang="en-US" sz="1400" i="1" dirty="0"/>
                        <a:t>“In my team, every time we onboard a new member, we organize a set of sessions in a specific order : all the team, then each member, then one attendance in hierarchy meetings…but I do not know how much such process can apply elsewhere”</a:t>
                      </a:r>
                    </a:p>
                  </a:txBody>
                  <a:tcPr/>
                </a:tc>
                <a:tc>
                  <a:txBody>
                    <a:bodyPr/>
                    <a:lstStyle/>
                    <a:p>
                      <a:r>
                        <a:rPr lang="en-US" sz="1400" i="1" dirty="0"/>
                        <a:t>“In my team, every time we onboard a new member, we update the onboarding book (a customized guide for our team with culture, rules and important things to remember). </a:t>
                      </a:r>
                    </a:p>
                    <a:p>
                      <a:r>
                        <a:rPr lang="en-US" sz="1400" i="1" dirty="0"/>
                        <a:t>I can share the template with you if you want to adapt it to your own team.”</a:t>
                      </a:r>
                    </a:p>
                  </a:txBody>
                  <a:tcPr/>
                </a:tc>
                <a:tc>
                  <a:txBody>
                    <a:bodyPr/>
                    <a:lstStyle/>
                    <a:p>
                      <a:r>
                        <a:rPr lang="en-US" sz="1400" i="1" dirty="0"/>
                        <a:t>“In my team, every time we onboard a new member, there is at least two short individual meetings a week (remote or in real) between the newcomer and a random available member of the team.</a:t>
                      </a:r>
                    </a:p>
                    <a:p>
                      <a:r>
                        <a:rPr lang="en-US" sz="1400" i="1" dirty="0"/>
                        <a:t>I think you can try this in most teams”</a:t>
                      </a:r>
                    </a:p>
                  </a:txBody>
                  <a:tcPr/>
                </a:tc>
                <a:extLst>
                  <a:ext uri="{0D108BD9-81ED-4DB2-BD59-A6C34878D82A}">
                    <a16:rowId xmlns:a16="http://schemas.microsoft.com/office/drawing/2014/main" val="2773745208"/>
                  </a:ext>
                </a:extLst>
              </a:tr>
            </a:tbl>
          </a:graphicData>
        </a:graphic>
      </p:graphicFrame>
      <p:sp>
        <p:nvSpPr>
          <p:cNvPr id="3" name="Freccia bidirezionale orizzontale 2">
            <a:extLst>
              <a:ext uri="{FF2B5EF4-FFF2-40B4-BE49-F238E27FC236}">
                <a16:creationId xmlns:a16="http://schemas.microsoft.com/office/drawing/2014/main" id="{2374A07D-56EF-AC3B-BCA2-4FC1B1813BA3}"/>
              </a:ext>
            </a:extLst>
          </p:cNvPr>
          <p:cNvSpPr/>
          <p:nvPr/>
        </p:nvSpPr>
        <p:spPr>
          <a:xfrm>
            <a:off x="2493264" y="1958491"/>
            <a:ext cx="8979408" cy="639032"/>
          </a:xfrm>
          <a:prstGeom prst="lef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lemento grafico 5" descr="Pezzi del puzzle con riempimento a tinta unita">
            <a:extLst>
              <a:ext uri="{FF2B5EF4-FFF2-40B4-BE49-F238E27FC236}">
                <a16:creationId xmlns:a16="http://schemas.microsoft.com/office/drawing/2014/main" id="{55563011-86A7-D999-BD41-D4995F829B5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16792" y="2545015"/>
            <a:ext cx="541630" cy="541630"/>
          </a:xfrm>
          <a:prstGeom prst="rect">
            <a:avLst/>
          </a:prstGeom>
        </p:spPr>
      </p:pic>
      <p:pic>
        <p:nvPicPr>
          <p:cNvPr id="7" name="Elemento grafico 6" descr="Interrompi con riempimento a tinta unita">
            <a:extLst>
              <a:ext uri="{FF2B5EF4-FFF2-40B4-BE49-F238E27FC236}">
                <a16:creationId xmlns:a16="http://schemas.microsoft.com/office/drawing/2014/main" id="{426C8507-C20C-A230-3F1D-D09B2C577E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430839" y="2592787"/>
            <a:ext cx="448241" cy="448241"/>
          </a:xfrm>
          <a:prstGeom prst="rect">
            <a:avLst/>
          </a:prstGeom>
        </p:spPr>
      </p:pic>
      <p:pic>
        <p:nvPicPr>
          <p:cNvPr id="8" name="Elemento grafico 7" descr="Acqua con riempimento a tinta unita">
            <a:extLst>
              <a:ext uri="{FF2B5EF4-FFF2-40B4-BE49-F238E27FC236}">
                <a16:creationId xmlns:a16="http://schemas.microsoft.com/office/drawing/2014/main" id="{4B92442F-8063-9619-E2CC-04AD6B270FF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584592" y="2573213"/>
            <a:ext cx="513432" cy="513432"/>
          </a:xfrm>
          <a:prstGeom prst="rect">
            <a:avLst/>
          </a:prstGeom>
        </p:spPr>
      </p:pic>
      <p:sp>
        <p:nvSpPr>
          <p:cNvPr id="9" name="Bolla: nuvola 8">
            <a:extLst>
              <a:ext uri="{FF2B5EF4-FFF2-40B4-BE49-F238E27FC236}">
                <a16:creationId xmlns:a16="http://schemas.microsoft.com/office/drawing/2014/main" id="{1243B2BB-9695-F9AC-9EF1-7802E2E48939}"/>
              </a:ext>
            </a:extLst>
          </p:cNvPr>
          <p:cNvSpPr/>
          <p:nvPr/>
        </p:nvSpPr>
        <p:spPr>
          <a:xfrm>
            <a:off x="5653513" y="2573213"/>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10" name="Elemento grafico 9" descr="Interrompi con riempimento a tinta unita">
            <a:extLst>
              <a:ext uri="{FF2B5EF4-FFF2-40B4-BE49-F238E27FC236}">
                <a16:creationId xmlns:a16="http://schemas.microsoft.com/office/drawing/2014/main" id="{E7195569-6F73-6EC9-75FD-DC9CE1F3E58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26485" y="2627367"/>
            <a:ext cx="202562" cy="202562"/>
          </a:xfrm>
          <a:prstGeom prst="rect">
            <a:avLst/>
          </a:prstGeom>
        </p:spPr>
      </p:pic>
      <p:pic>
        <p:nvPicPr>
          <p:cNvPr id="11" name="Elemento grafico 10" descr="Interrompi con riempimento a tinta unita">
            <a:extLst>
              <a:ext uri="{FF2B5EF4-FFF2-40B4-BE49-F238E27FC236}">
                <a16:creationId xmlns:a16="http://schemas.microsoft.com/office/drawing/2014/main" id="{2756AE3E-6B86-A022-8ACE-14FCDA4F465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460212" y="2452655"/>
            <a:ext cx="202562" cy="202562"/>
          </a:xfrm>
          <a:prstGeom prst="rect">
            <a:avLst/>
          </a:prstGeom>
        </p:spPr>
      </p:pic>
      <p:pic>
        <p:nvPicPr>
          <p:cNvPr id="12" name="Elemento grafico 11" descr="Interrompi con riempimento a tinta unita">
            <a:extLst>
              <a:ext uri="{FF2B5EF4-FFF2-40B4-BE49-F238E27FC236}">
                <a16:creationId xmlns:a16="http://schemas.microsoft.com/office/drawing/2014/main" id="{CC133C7E-3FFE-FED4-3DFC-76ABB793A8C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45549" y="2451690"/>
            <a:ext cx="202562" cy="202562"/>
          </a:xfrm>
          <a:prstGeom prst="rect">
            <a:avLst/>
          </a:prstGeom>
        </p:spPr>
      </p:pic>
      <p:pic>
        <p:nvPicPr>
          <p:cNvPr id="13" name="Elemento grafico 12" descr="Interrompi con riempimento a tinta unita">
            <a:extLst>
              <a:ext uri="{FF2B5EF4-FFF2-40B4-BE49-F238E27FC236}">
                <a16:creationId xmlns:a16="http://schemas.microsoft.com/office/drawing/2014/main" id="{6793C14F-7E5B-AF46-E08A-73B9B267900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27158" y="2808282"/>
            <a:ext cx="202562" cy="202562"/>
          </a:xfrm>
          <a:prstGeom prst="rect">
            <a:avLst/>
          </a:prstGeom>
        </p:spPr>
      </p:pic>
    </p:spTree>
    <p:extLst>
      <p:ext uri="{BB962C8B-B14F-4D97-AF65-F5344CB8AC3E}">
        <p14:creationId xmlns:p14="http://schemas.microsoft.com/office/powerpoint/2010/main" val="54016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ccia in su 2">
            <a:extLst>
              <a:ext uri="{FF2B5EF4-FFF2-40B4-BE49-F238E27FC236}">
                <a16:creationId xmlns:a16="http://schemas.microsoft.com/office/drawing/2014/main" id="{A9842C9E-1EA9-1C1A-7D4A-AA3B992BADF1}"/>
              </a:ext>
            </a:extLst>
          </p:cNvPr>
          <p:cNvSpPr/>
          <p:nvPr/>
        </p:nvSpPr>
        <p:spPr>
          <a:xfrm rot="5400000">
            <a:off x="6438210" y="2235091"/>
            <a:ext cx="1020142" cy="6585997"/>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D77255F4-61BA-1D87-26F8-57EB597CE7C8}"/>
              </a:ext>
            </a:extLst>
          </p:cNvPr>
          <p:cNvSpPr>
            <a:spLocks noGrp="1"/>
          </p:cNvSpPr>
          <p:nvPr>
            <p:ph type="title"/>
          </p:nvPr>
        </p:nvSpPr>
        <p:spPr/>
        <p:txBody>
          <a:bodyPr anchor="t">
            <a:normAutofit/>
          </a:bodyPr>
          <a:lstStyle/>
          <a:p>
            <a:r>
              <a:rPr lang="en-US" sz="2400" dirty="0"/>
              <a:t>CoP Goals to Practice Breakdown workshop</a:t>
            </a:r>
            <a:br>
              <a:rPr lang="en-US" sz="2400" dirty="0"/>
            </a:br>
            <a:r>
              <a:rPr lang="en-US" sz="2400" dirty="0"/>
              <a:t>The Practices Mastery-Transposability Matrix (PMTM)</a:t>
            </a:r>
          </a:p>
        </p:txBody>
      </p:sp>
      <p:sp>
        <p:nvSpPr>
          <p:cNvPr id="4" name="Freccia in su 3">
            <a:extLst>
              <a:ext uri="{FF2B5EF4-FFF2-40B4-BE49-F238E27FC236}">
                <a16:creationId xmlns:a16="http://schemas.microsoft.com/office/drawing/2014/main" id="{E8A18068-ADA2-A4D4-C33D-48AE34992965}"/>
              </a:ext>
            </a:extLst>
          </p:cNvPr>
          <p:cNvSpPr/>
          <p:nvPr/>
        </p:nvSpPr>
        <p:spPr>
          <a:xfrm>
            <a:off x="1748430" y="1560626"/>
            <a:ext cx="1685547" cy="331888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egnaposto contenuto 4">
            <a:extLst>
              <a:ext uri="{FF2B5EF4-FFF2-40B4-BE49-F238E27FC236}">
                <a16:creationId xmlns:a16="http://schemas.microsoft.com/office/drawing/2014/main" id="{33344583-4A0A-C72A-F75B-6C0BCF7FA497}"/>
              </a:ext>
            </a:extLst>
          </p:cNvPr>
          <p:cNvGraphicFramePr>
            <a:graphicFrameLocks noGrp="1"/>
          </p:cNvGraphicFramePr>
          <p:nvPr>
            <p:ph idx="1"/>
            <p:extLst>
              <p:ext uri="{D42A27DB-BD31-4B8C-83A1-F6EECF244321}">
                <p14:modId xmlns:p14="http://schemas.microsoft.com/office/powerpoint/2010/main" val="3790316863"/>
              </p:ext>
            </p:extLst>
          </p:nvPr>
        </p:nvGraphicFramePr>
        <p:xfrm>
          <a:off x="2115057" y="2458415"/>
          <a:ext cx="7354827" cy="3398831"/>
        </p:xfrm>
        <a:graphic>
          <a:graphicData uri="http://schemas.openxmlformats.org/drawingml/2006/table">
            <a:tbl>
              <a:tblPr firstCol="1" bandRow="1">
                <a:tableStyleId>{5C22544A-7EE6-4342-B048-85BDC9FD1C3A}</a:tableStyleId>
              </a:tblPr>
              <a:tblGrid>
                <a:gridCol w="1544370">
                  <a:extLst>
                    <a:ext uri="{9D8B030D-6E8A-4147-A177-3AD203B41FA5}">
                      <a16:colId xmlns:a16="http://schemas.microsoft.com/office/drawing/2014/main" val="111057479"/>
                    </a:ext>
                  </a:extLst>
                </a:gridCol>
                <a:gridCol w="1540209">
                  <a:extLst>
                    <a:ext uri="{9D8B030D-6E8A-4147-A177-3AD203B41FA5}">
                      <a16:colId xmlns:a16="http://schemas.microsoft.com/office/drawing/2014/main" val="1126235631"/>
                    </a:ext>
                  </a:extLst>
                </a:gridCol>
                <a:gridCol w="1435608">
                  <a:extLst>
                    <a:ext uri="{9D8B030D-6E8A-4147-A177-3AD203B41FA5}">
                      <a16:colId xmlns:a16="http://schemas.microsoft.com/office/drawing/2014/main" val="4199794356"/>
                    </a:ext>
                  </a:extLst>
                </a:gridCol>
                <a:gridCol w="1318012">
                  <a:extLst>
                    <a:ext uri="{9D8B030D-6E8A-4147-A177-3AD203B41FA5}">
                      <a16:colId xmlns:a16="http://schemas.microsoft.com/office/drawing/2014/main" val="2753552203"/>
                    </a:ext>
                  </a:extLst>
                </a:gridCol>
                <a:gridCol w="1516628">
                  <a:extLst>
                    <a:ext uri="{9D8B030D-6E8A-4147-A177-3AD203B41FA5}">
                      <a16:colId xmlns:a16="http://schemas.microsoft.com/office/drawing/2014/main" val="3385127919"/>
                    </a:ext>
                  </a:extLst>
                </a:gridCol>
              </a:tblGrid>
              <a:tr h="66998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gridSpan="4">
                  <a:txBody>
                    <a:bodyPr/>
                    <a:lstStyle/>
                    <a:p>
                      <a:pPr algn="ctr"/>
                      <a:endParaRPr lang="en-US" sz="1400" i="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94329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gridSpan="4"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557784">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4"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tcPr>
                </a:tc>
                <a:tc hMerge="1" v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557784">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669982">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pic>
        <p:nvPicPr>
          <p:cNvPr id="6" name="Elemento grafico 5" descr="Camminare con riempimento a tinta unita">
            <a:extLst>
              <a:ext uri="{FF2B5EF4-FFF2-40B4-BE49-F238E27FC236}">
                <a16:creationId xmlns:a16="http://schemas.microsoft.com/office/drawing/2014/main" id="{07780246-A0AD-AE7F-0BC3-2CBC0AF4F41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73427" y="4043735"/>
            <a:ext cx="541630" cy="541630"/>
          </a:xfrm>
          <a:prstGeom prst="rect">
            <a:avLst/>
          </a:prstGeom>
        </p:spPr>
      </p:pic>
      <p:pic>
        <p:nvPicPr>
          <p:cNvPr id="7" name="Elemento grafico 6" descr="Neonato con riempimento a tinta unita">
            <a:extLst>
              <a:ext uri="{FF2B5EF4-FFF2-40B4-BE49-F238E27FC236}">
                <a16:creationId xmlns:a16="http://schemas.microsoft.com/office/drawing/2014/main" id="{47AF9D87-2DFE-3303-D154-9F34A219DE9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53781" y="4676895"/>
            <a:ext cx="541630" cy="541630"/>
          </a:xfrm>
          <a:prstGeom prst="rect">
            <a:avLst/>
          </a:prstGeom>
        </p:spPr>
      </p:pic>
      <p:pic>
        <p:nvPicPr>
          <p:cNvPr id="8" name="Elemento grafico 7" descr="Eseguire con riempimento a tinta unita">
            <a:extLst>
              <a:ext uri="{FF2B5EF4-FFF2-40B4-BE49-F238E27FC236}">
                <a16:creationId xmlns:a16="http://schemas.microsoft.com/office/drawing/2014/main" id="{02DD94C5-B83E-38D6-E732-BFDA64F88BC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545995" y="3329554"/>
            <a:ext cx="541630" cy="541630"/>
          </a:xfrm>
          <a:prstGeom prst="rect">
            <a:avLst/>
          </a:prstGeom>
        </p:spPr>
      </p:pic>
      <p:pic>
        <p:nvPicPr>
          <p:cNvPr id="9" name="Elemento grafico 8" descr="Eroe con riempimento a tinta unita">
            <a:extLst>
              <a:ext uri="{FF2B5EF4-FFF2-40B4-BE49-F238E27FC236}">
                <a16:creationId xmlns:a16="http://schemas.microsoft.com/office/drawing/2014/main" id="{71DAC750-D0B5-864E-CEA1-9D37D3597D2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541958" y="2615374"/>
            <a:ext cx="541630" cy="541630"/>
          </a:xfrm>
          <a:prstGeom prst="rect">
            <a:avLst/>
          </a:prstGeom>
        </p:spPr>
      </p:pic>
      <p:pic>
        <p:nvPicPr>
          <p:cNvPr id="10" name="Elemento grafico 9" descr="Pezzi del puzzle con riempimento a tinta unita">
            <a:extLst>
              <a:ext uri="{FF2B5EF4-FFF2-40B4-BE49-F238E27FC236}">
                <a16:creationId xmlns:a16="http://schemas.microsoft.com/office/drawing/2014/main" id="{40E03727-FD31-D016-80E0-1905A8B3626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138827" y="5938334"/>
            <a:ext cx="541630" cy="541630"/>
          </a:xfrm>
          <a:prstGeom prst="rect">
            <a:avLst/>
          </a:prstGeom>
        </p:spPr>
      </p:pic>
      <p:pic>
        <p:nvPicPr>
          <p:cNvPr id="11" name="Elemento grafico 10" descr="Interrompi con riempimento a tinta unita">
            <a:extLst>
              <a:ext uri="{FF2B5EF4-FFF2-40B4-BE49-F238E27FC236}">
                <a16:creationId xmlns:a16="http://schemas.microsoft.com/office/drawing/2014/main" id="{7D34AE6D-A24E-B6E8-1823-DF3A3453449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25096" y="6044634"/>
            <a:ext cx="448241" cy="448241"/>
          </a:xfrm>
          <a:prstGeom prst="rect">
            <a:avLst/>
          </a:prstGeom>
        </p:spPr>
      </p:pic>
      <p:pic>
        <p:nvPicPr>
          <p:cNvPr id="12" name="Elemento grafico 11" descr="Acqua con riempimento a tinta unita">
            <a:extLst>
              <a:ext uri="{FF2B5EF4-FFF2-40B4-BE49-F238E27FC236}">
                <a16:creationId xmlns:a16="http://schemas.microsoft.com/office/drawing/2014/main" id="{457670BA-52F2-95DC-F62A-7F0CEA2E971A}"/>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508648" y="5966532"/>
            <a:ext cx="513432" cy="513432"/>
          </a:xfrm>
          <a:prstGeom prst="rect">
            <a:avLst/>
          </a:prstGeom>
        </p:spPr>
      </p:pic>
      <p:sp>
        <p:nvSpPr>
          <p:cNvPr id="13" name="Bolla: nuvola 12">
            <a:extLst>
              <a:ext uri="{FF2B5EF4-FFF2-40B4-BE49-F238E27FC236}">
                <a16:creationId xmlns:a16="http://schemas.microsoft.com/office/drawing/2014/main" id="{5AC0C3AE-92FD-AF56-4ADC-F19281ED7DCF}"/>
              </a:ext>
            </a:extLst>
          </p:cNvPr>
          <p:cNvSpPr/>
          <p:nvPr/>
        </p:nvSpPr>
        <p:spPr>
          <a:xfrm>
            <a:off x="5525497" y="5969395"/>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14" name="Elemento grafico 13" descr="Interrompi con riempimento a tinta unita">
            <a:extLst>
              <a:ext uri="{FF2B5EF4-FFF2-40B4-BE49-F238E27FC236}">
                <a16:creationId xmlns:a16="http://schemas.microsoft.com/office/drawing/2014/main" id="{1947F0C6-D8F3-3231-1F43-26DE24620B2C}"/>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520742" y="6079214"/>
            <a:ext cx="202562" cy="202562"/>
          </a:xfrm>
          <a:prstGeom prst="rect">
            <a:avLst/>
          </a:prstGeom>
        </p:spPr>
      </p:pic>
      <p:pic>
        <p:nvPicPr>
          <p:cNvPr id="15" name="Elemento grafico 14" descr="Interrompi con riempimento a tinta unita">
            <a:extLst>
              <a:ext uri="{FF2B5EF4-FFF2-40B4-BE49-F238E27FC236}">
                <a16:creationId xmlns:a16="http://schemas.microsoft.com/office/drawing/2014/main" id="{A25F7450-8847-7920-293D-3C4E3BDBF55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54469" y="5904502"/>
            <a:ext cx="202562" cy="202562"/>
          </a:xfrm>
          <a:prstGeom prst="rect">
            <a:avLst/>
          </a:prstGeom>
        </p:spPr>
      </p:pic>
      <p:pic>
        <p:nvPicPr>
          <p:cNvPr id="16" name="Elemento grafico 15" descr="Interrompi con riempimento a tinta unita">
            <a:extLst>
              <a:ext uri="{FF2B5EF4-FFF2-40B4-BE49-F238E27FC236}">
                <a16:creationId xmlns:a16="http://schemas.microsoft.com/office/drawing/2014/main" id="{7E59E347-6CE4-2831-0A60-F283836AA909}"/>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339806" y="5903537"/>
            <a:ext cx="202562" cy="202562"/>
          </a:xfrm>
          <a:prstGeom prst="rect">
            <a:avLst/>
          </a:prstGeom>
        </p:spPr>
      </p:pic>
      <p:pic>
        <p:nvPicPr>
          <p:cNvPr id="17" name="Elemento grafico 16" descr="Interrompi con riempimento a tinta unita">
            <a:extLst>
              <a:ext uri="{FF2B5EF4-FFF2-40B4-BE49-F238E27FC236}">
                <a16:creationId xmlns:a16="http://schemas.microsoft.com/office/drawing/2014/main" id="{2448779E-60CB-9ED9-84EC-40D0A431026A}"/>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521415" y="6260129"/>
            <a:ext cx="202562" cy="202562"/>
          </a:xfrm>
          <a:prstGeom prst="rect">
            <a:avLst/>
          </a:prstGeom>
        </p:spPr>
      </p:pic>
      <p:sp>
        <p:nvSpPr>
          <p:cNvPr id="19" name="Rettangolo 18">
            <a:extLst>
              <a:ext uri="{FF2B5EF4-FFF2-40B4-BE49-F238E27FC236}">
                <a16:creationId xmlns:a16="http://schemas.microsoft.com/office/drawing/2014/main" id="{5A933B47-A2C4-6961-9734-00D24DF6B1DB}"/>
              </a:ext>
            </a:extLst>
          </p:cNvPr>
          <p:cNvSpPr/>
          <p:nvPr/>
        </p:nvSpPr>
        <p:spPr>
          <a:xfrm>
            <a:off x="4005885" y="2458415"/>
            <a:ext cx="957072" cy="5294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Alice</a:t>
            </a:r>
          </a:p>
        </p:txBody>
      </p:sp>
      <p:sp>
        <p:nvSpPr>
          <p:cNvPr id="20" name="Rettangolo 19">
            <a:extLst>
              <a:ext uri="{FF2B5EF4-FFF2-40B4-BE49-F238E27FC236}">
                <a16:creationId xmlns:a16="http://schemas.microsoft.com/office/drawing/2014/main" id="{1F7A087A-78A6-5596-8B71-BDA08A15130E}"/>
              </a:ext>
            </a:extLst>
          </p:cNvPr>
          <p:cNvSpPr/>
          <p:nvPr/>
        </p:nvSpPr>
        <p:spPr>
          <a:xfrm>
            <a:off x="5492712" y="4614798"/>
            <a:ext cx="957072" cy="5294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Alice</a:t>
            </a:r>
          </a:p>
        </p:txBody>
      </p:sp>
      <p:sp>
        <p:nvSpPr>
          <p:cNvPr id="21" name="Rettangolo 20">
            <a:extLst>
              <a:ext uri="{FF2B5EF4-FFF2-40B4-BE49-F238E27FC236}">
                <a16:creationId xmlns:a16="http://schemas.microsoft.com/office/drawing/2014/main" id="{DF7C2608-1A4F-9C6C-B610-067A937B967B}"/>
              </a:ext>
            </a:extLst>
          </p:cNvPr>
          <p:cNvSpPr/>
          <p:nvPr/>
        </p:nvSpPr>
        <p:spPr>
          <a:xfrm>
            <a:off x="8286828" y="4531341"/>
            <a:ext cx="957072" cy="5294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Alice</a:t>
            </a:r>
          </a:p>
        </p:txBody>
      </p:sp>
      <p:sp>
        <p:nvSpPr>
          <p:cNvPr id="22" name="Rettangolo 21">
            <a:extLst>
              <a:ext uri="{FF2B5EF4-FFF2-40B4-BE49-F238E27FC236}">
                <a16:creationId xmlns:a16="http://schemas.microsoft.com/office/drawing/2014/main" id="{64437670-7A05-83AD-FD98-F0F6387D6BC1}"/>
              </a:ext>
            </a:extLst>
          </p:cNvPr>
          <p:cNvSpPr/>
          <p:nvPr/>
        </p:nvSpPr>
        <p:spPr>
          <a:xfrm>
            <a:off x="6962551" y="3157004"/>
            <a:ext cx="957072" cy="529417"/>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Bob</a:t>
            </a:r>
          </a:p>
        </p:txBody>
      </p:sp>
      <p:sp>
        <p:nvSpPr>
          <p:cNvPr id="23" name="Rettangolo 22">
            <a:extLst>
              <a:ext uri="{FF2B5EF4-FFF2-40B4-BE49-F238E27FC236}">
                <a16:creationId xmlns:a16="http://schemas.microsoft.com/office/drawing/2014/main" id="{085DC1F4-F6EB-21D6-01B8-5669369F5089}"/>
              </a:ext>
            </a:extLst>
          </p:cNvPr>
          <p:cNvSpPr/>
          <p:nvPr/>
        </p:nvSpPr>
        <p:spPr>
          <a:xfrm>
            <a:off x="4016747" y="4087511"/>
            <a:ext cx="957072" cy="529417"/>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Bob</a:t>
            </a:r>
          </a:p>
        </p:txBody>
      </p:sp>
      <p:sp>
        <p:nvSpPr>
          <p:cNvPr id="24" name="Rettangolo 23">
            <a:extLst>
              <a:ext uri="{FF2B5EF4-FFF2-40B4-BE49-F238E27FC236}">
                <a16:creationId xmlns:a16="http://schemas.microsoft.com/office/drawing/2014/main" id="{CBE392F6-937C-C556-64DA-4EDE8C3069FC}"/>
              </a:ext>
            </a:extLst>
          </p:cNvPr>
          <p:cNvSpPr/>
          <p:nvPr/>
        </p:nvSpPr>
        <p:spPr>
          <a:xfrm>
            <a:off x="4016747" y="4614798"/>
            <a:ext cx="957072" cy="529417"/>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Bob</a:t>
            </a:r>
          </a:p>
        </p:txBody>
      </p:sp>
      <p:sp>
        <p:nvSpPr>
          <p:cNvPr id="25" name="Rettangolo 24">
            <a:extLst>
              <a:ext uri="{FF2B5EF4-FFF2-40B4-BE49-F238E27FC236}">
                <a16:creationId xmlns:a16="http://schemas.microsoft.com/office/drawing/2014/main" id="{87433F81-6124-AE88-B8D5-B5F24E1A30CB}"/>
              </a:ext>
            </a:extLst>
          </p:cNvPr>
          <p:cNvSpPr/>
          <p:nvPr/>
        </p:nvSpPr>
        <p:spPr>
          <a:xfrm>
            <a:off x="8253712" y="3358388"/>
            <a:ext cx="957072" cy="529417"/>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{Practice}</a:t>
            </a:r>
          </a:p>
          <a:p>
            <a:pPr algn="r"/>
            <a:r>
              <a:rPr lang="en-US" sz="1100" dirty="0">
                <a:solidFill>
                  <a:schemeClr val="tx1"/>
                </a:solidFill>
              </a:rPr>
              <a:t>Bob</a:t>
            </a:r>
          </a:p>
        </p:txBody>
      </p:sp>
      <p:sp>
        <p:nvSpPr>
          <p:cNvPr id="26" name="Rettangolo 25">
            <a:extLst>
              <a:ext uri="{FF2B5EF4-FFF2-40B4-BE49-F238E27FC236}">
                <a16:creationId xmlns:a16="http://schemas.microsoft.com/office/drawing/2014/main" id="{A3CB8C32-4360-DCED-883B-0DF232C28C14}"/>
              </a:ext>
            </a:extLst>
          </p:cNvPr>
          <p:cNvSpPr/>
          <p:nvPr/>
        </p:nvSpPr>
        <p:spPr>
          <a:xfrm>
            <a:off x="6810863" y="4112909"/>
            <a:ext cx="957072" cy="52941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{Practice}</a:t>
            </a:r>
          </a:p>
          <a:p>
            <a:pPr algn="r"/>
            <a:r>
              <a:rPr lang="en-US" sz="1100" dirty="0">
                <a:solidFill>
                  <a:schemeClr val="bg1"/>
                </a:solidFill>
              </a:rPr>
              <a:t>Charlie</a:t>
            </a:r>
          </a:p>
        </p:txBody>
      </p:sp>
      <p:sp>
        <p:nvSpPr>
          <p:cNvPr id="27" name="Segnaposto contenuto 2">
            <a:extLst>
              <a:ext uri="{FF2B5EF4-FFF2-40B4-BE49-F238E27FC236}">
                <a16:creationId xmlns:a16="http://schemas.microsoft.com/office/drawing/2014/main" id="{1E170AD0-D6EE-DB09-6B9C-E0A38A831FE3}"/>
              </a:ext>
            </a:extLst>
          </p:cNvPr>
          <p:cNvSpPr txBox="1">
            <a:spLocks/>
          </p:cNvSpPr>
          <p:nvPr/>
        </p:nvSpPr>
        <p:spPr>
          <a:xfrm>
            <a:off x="3915356" y="1649249"/>
            <a:ext cx="6419480" cy="6005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Members, what are your practices for {Goal} ?</a:t>
            </a:r>
          </a:p>
        </p:txBody>
      </p:sp>
    </p:spTree>
    <p:extLst>
      <p:ext uri="{BB962C8B-B14F-4D97-AF65-F5344CB8AC3E}">
        <p14:creationId xmlns:p14="http://schemas.microsoft.com/office/powerpoint/2010/main" val="3331709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7255F4-61BA-1D87-26F8-57EB597CE7C8}"/>
              </a:ext>
            </a:extLst>
          </p:cNvPr>
          <p:cNvSpPr>
            <a:spLocks noGrp="1"/>
          </p:cNvSpPr>
          <p:nvPr>
            <p:ph type="title"/>
          </p:nvPr>
        </p:nvSpPr>
        <p:spPr/>
        <p:txBody>
          <a:bodyPr anchor="t">
            <a:normAutofit/>
          </a:bodyPr>
          <a:lstStyle/>
          <a:p>
            <a:r>
              <a:rPr lang="en-US" sz="2800" dirty="0"/>
              <a:t>CoP Goals to Practice Breakdown workshop</a:t>
            </a:r>
            <a:br>
              <a:rPr lang="en-US" sz="2800" dirty="0"/>
            </a:br>
            <a:r>
              <a:rPr lang="en-US" sz="2800" dirty="0"/>
              <a:t>Types of practices</a:t>
            </a:r>
          </a:p>
        </p:txBody>
      </p:sp>
      <p:sp>
        <p:nvSpPr>
          <p:cNvPr id="4" name="Freccia in su 3">
            <a:extLst>
              <a:ext uri="{FF2B5EF4-FFF2-40B4-BE49-F238E27FC236}">
                <a16:creationId xmlns:a16="http://schemas.microsoft.com/office/drawing/2014/main" id="{E8A18068-ADA2-A4D4-C33D-48AE34992965}"/>
              </a:ext>
            </a:extLst>
          </p:cNvPr>
          <p:cNvSpPr/>
          <p:nvPr/>
        </p:nvSpPr>
        <p:spPr>
          <a:xfrm>
            <a:off x="4107582" y="1342864"/>
            <a:ext cx="1685547" cy="331888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egnaposto contenuto 4">
            <a:extLst>
              <a:ext uri="{FF2B5EF4-FFF2-40B4-BE49-F238E27FC236}">
                <a16:creationId xmlns:a16="http://schemas.microsoft.com/office/drawing/2014/main" id="{33344583-4A0A-C72A-F75B-6C0BCF7FA497}"/>
              </a:ext>
            </a:extLst>
          </p:cNvPr>
          <p:cNvGraphicFramePr>
            <a:graphicFrameLocks noGrp="1"/>
          </p:cNvGraphicFramePr>
          <p:nvPr>
            <p:ph idx="1"/>
          </p:nvPr>
        </p:nvGraphicFramePr>
        <p:xfrm>
          <a:off x="4474209" y="2228699"/>
          <a:ext cx="7354827" cy="3398831"/>
        </p:xfrm>
        <a:graphic>
          <a:graphicData uri="http://schemas.openxmlformats.org/drawingml/2006/table">
            <a:tbl>
              <a:tblPr firstCol="1" bandRow="1">
                <a:tableStyleId>{5C22544A-7EE6-4342-B048-85BDC9FD1C3A}</a:tableStyleId>
              </a:tblPr>
              <a:tblGrid>
                <a:gridCol w="1544370">
                  <a:extLst>
                    <a:ext uri="{9D8B030D-6E8A-4147-A177-3AD203B41FA5}">
                      <a16:colId xmlns:a16="http://schemas.microsoft.com/office/drawing/2014/main" val="111057479"/>
                    </a:ext>
                  </a:extLst>
                </a:gridCol>
                <a:gridCol w="1540209">
                  <a:extLst>
                    <a:ext uri="{9D8B030D-6E8A-4147-A177-3AD203B41FA5}">
                      <a16:colId xmlns:a16="http://schemas.microsoft.com/office/drawing/2014/main" val="1126235631"/>
                    </a:ext>
                  </a:extLst>
                </a:gridCol>
                <a:gridCol w="1435608">
                  <a:extLst>
                    <a:ext uri="{9D8B030D-6E8A-4147-A177-3AD203B41FA5}">
                      <a16:colId xmlns:a16="http://schemas.microsoft.com/office/drawing/2014/main" val="4199794356"/>
                    </a:ext>
                  </a:extLst>
                </a:gridCol>
                <a:gridCol w="1318012">
                  <a:extLst>
                    <a:ext uri="{9D8B030D-6E8A-4147-A177-3AD203B41FA5}">
                      <a16:colId xmlns:a16="http://schemas.microsoft.com/office/drawing/2014/main" val="2753552203"/>
                    </a:ext>
                  </a:extLst>
                </a:gridCol>
                <a:gridCol w="1516628">
                  <a:extLst>
                    <a:ext uri="{9D8B030D-6E8A-4147-A177-3AD203B41FA5}">
                      <a16:colId xmlns:a16="http://schemas.microsoft.com/office/drawing/2014/main" val="3385127919"/>
                    </a:ext>
                  </a:extLst>
                </a:gridCol>
              </a:tblGrid>
              <a:tr h="66998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800" i="1" dirty="0"/>
                        <a:t>Context specific practices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sz="18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2">
                  <a:txBody>
                    <a:bodyPr/>
                    <a:lstStyle/>
                    <a:p>
                      <a:r>
                        <a:rPr lang="en-US" sz="2400" dirty="0"/>
                        <a:t>Best practices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94329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dirty="0"/>
                        <a:t>Promising practices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557784">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algn="ctr"/>
                      <a:r>
                        <a:rPr lang="en-US" sz="1800" i="1" dirty="0"/>
                        <a:t>Seeds of Practices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rowSpan="2" gridSpan="3">
                  <a:txBody>
                    <a:bodyPr/>
                    <a:lstStyle/>
                    <a:p>
                      <a:pPr algn="ctr"/>
                      <a:r>
                        <a:rPr lang="en-US" sz="1800" i="1" dirty="0"/>
                        <a:t>Experimental practices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rowSpan="2" hMerge="1">
                  <a:txBody>
                    <a:bodyPr/>
                    <a:lstStyle/>
                    <a:p>
                      <a:endParaRPr lang="en-US"/>
                    </a:p>
                  </a:txBody>
                  <a:tcPr>
                    <a:lnL w="12700" cap="flat" cmpd="sng" algn="ctr">
                      <a:solidFill>
                        <a:schemeClr val="tx1"/>
                      </a:solidFill>
                      <a:prstDash val="solid"/>
                      <a:round/>
                      <a:headEnd type="none" w="med" len="med"/>
                      <a:tailEnd type="none" w="med" len="med"/>
                    </a:lnL>
                  </a:tcPr>
                </a:tc>
                <a:tc rowSpan="2"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557784">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669982">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pic>
        <p:nvPicPr>
          <p:cNvPr id="6" name="Elemento grafico 5" descr="Camminare con riempimento a tinta unita">
            <a:extLst>
              <a:ext uri="{FF2B5EF4-FFF2-40B4-BE49-F238E27FC236}">
                <a16:creationId xmlns:a16="http://schemas.microsoft.com/office/drawing/2014/main" id="{07780246-A0AD-AE7F-0BC3-2CBC0AF4F41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935521" y="3724985"/>
            <a:ext cx="541630" cy="541630"/>
          </a:xfrm>
          <a:prstGeom prst="rect">
            <a:avLst/>
          </a:prstGeom>
        </p:spPr>
      </p:pic>
      <p:pic>
        <p:nvPicPr>
          <p:cNvPr id="7" name="Elemento grafico 6" descr="Neonato con riempimento a tinta unita">
            <a:extLst>
              <a:ext uri="{FF2B5EF4-FFF2-40B4-BE49-F238E27FC236}">
                <a16:creationId xmlns:a16="http://schemas.microsoft.com/office/drawing/2014/main" id="{47AF9D87-2DFE-3303-D154-9F34A219DE9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15875" y="4358145"/>
            <a:ext cx="541630" cy="541630"/>
          </a:xfrm>
          <a:prstGeom prst="rect">
            <a:avLst/>
          </a:prstGeom>
        </p:spPr>
      </p:pic>
      <p:pic>
        <p:nvPicPr>
          <p:cNvPr id="8" name="Elemento grafico 7" descr="Eseguire con riempimento a tinta unita">
            <a:extLst>
              <a:ext uri="{FF2B5EF4-FFF2-40B4-BE49-F238E27FC236}">
                <a16:creationId xmlns:a16="http://schemas.microsoft.com/office/drawing/2014/main" id="{02DD94C5-B83E-38D6-E732-BFDA64F88BC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908089" y="3010804"/>
            <a:ext cx="541630" cy="541630"/>
          </a:xfrm>
          <a:prstGeom prst="rect">
            <a:avLst/>
          </a:prstGeom>
        </p:spPr>
      </p:pic>
      <p:pic>
        <p:nvPicPr>
          <p:cNvPr id="9" name="Elemento grafico 8" descr="Eroe con riempimento a tinta unita">
            <a:extLst>
              <a:ext uri="{FF2B5EF4-FFF2-40B4-BE49-F238E27FC236}">
                <a16:creationId xmlns:a16="http://schemas.microsoft.com/office/drawing/2014/main" id="{71DAC750-D0B5-864E-CEA1-9D37D3597D2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04052" y="2296624"/>
            <a:ext cx="541630" cy="541630"/>
          </a:xfrm>
          <a:prstGeom prst="rect">
            <a:avLst/>
          </a:prstGeom>
        </p:spPr>
      </p:pic>
      <p:pic>
        <p:nvPicPr>
          <p:cNvPr id="10" name="Elemento grafico 9" descr="Pezzi del puzzle con riempimento a tinta unita">
            <a:extLst>
              <a:ext uri="{FF2B5EF4-FFF2-40B4-BE49-F238E27FC236}">
                <a16:creationId xmlns:a16="http://schemas.microsoft.com/office/drawing/2014/main" id="{40E03727-FD31-D016-80E0-1905A8B3626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70547" y="5951245"/>
            <a:ext cx="541630" cy="541630"/>
          </a:xfrm>
          <a:prstGeom prst="rect">
            <a:avLst/>
          </a:prstGeom>
        </p:spPr>
      </p:pic>
      <p:pic>
        <p:nvPicPr>
          <p:cNvPr id="11" name="Elemento grafico 10" descr="Interrompi con riempimento a tinta unita">
            <a:extLst>
              <a:ext uri="{FF2B5EF4-FFF2-40B4-BE49-F238E27FC236}">
                <a16:creationId xmlns:a16="http://schemas.microsoft.com/office/drawing/2014/main" id="{7D34AE6D-A24E-B6E8-1823-DF3A3453449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456816" y="6057545"/>
            <a:ext cx="448241" cy="448241"/>
          </a:xfrm>
          <a:prstGeom prst="rect">
            <a:avLst/>
          </a:prstGeom>
        </p:spPr>
      </p:pic>
      <p:pic>
        <p:nvPicPr>
          <p:cNvPr id="12" name="Elemento grafico 11" descr="Acqua con riempimento a tinta unita">
            <a:extLst>
              <a:ext uri="{FF2B5EF4-FFF2-40B4-BE49-F238E27FC236}">
                <a16:creationId xmlns:a16="http://schemas.microsoft.com/office/drawing/2014/main" id="{457670BA-52F2-95DC-F62A-7F0CEA2E971A}"/>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840368" y="5979443"/>
            <a:ext cx="513432" cy="513432"/>
          </a:xfrm>
          <a:prstGeom prst="rect">
            <a:avLst/>
          </a:prstGeom>
        </p:spPr>
      </p:pic>
      <p:sp>
        <p:nvSpPr>
          <p:cNvPr id="13" name="Bolla: nuvola 12">
            <a:extLst>
              <a:ext uri="{FF2B5EF4-FFF2-40B4-BE49-F238E27FC236}">
                <a16:creationId xmlns:a16="http://schemas.microsoft.com/office/drawing/2014/main" id="{5AC0C3AE-92FD-AF56-4ADC-F19281ED7DCF}"/>
              </a:ext>
            </a:extLst>
          </p:cNvPr>
          <p:cNvSpPr/>
          <p:nvPr/>
        </p:nvSpPr>
        <p:spPr>
          <a:xfrm>
            <a:off x="7857217" y="5982306"/>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14" name="Elemento grafico 13" descr="Interrompi con riempimento a tinta unita">
            <a:extLst>
              <a:ext uri="{FF2B5EF4-FFF2-40B4-BE49-F238E27FC236}">
                <a16:creationId xmlns:a16="http://schemas.microsoft.com/office/drawing/2014/main" id="{1947F0C6-D8F3-3231-1F43-26DE24620B2C}"/>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852462" y="6092125"/>
            <a:ext cx="202562" cy="202562"/>
          </a:xfrm>
          <a:prstGeom prst="rect">
            <a:avLst/>
          </a:prstGeom>
        </p:spPr>
      </p:pic>
      <p:pic>
        <p:nvPicPr>
          <p:cNvPr id="15" name="Elemento grafico 14" descr="Interrompi con riempimento a tinta unita">
            <a:extLst>
              <a:ext uri="{FF2B5EF4-FFF2-40B4-BE49-F238E27FC236}">
                <a16:creationId xmlns:a16="http://schemas.microsoft.com/office/drawing/2014/main" id="{A25F7450-8847-7920-293D-3C4E3BDBF55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486189" y="5917413"/>
            <a:ext cx="202562" cy="202562"/>
          </a:xfrm>
          <a:prstGeom prst="rect">
            <a:avLst/>
          </a:prstGeom>
        </p:spPr>
      </p:pic>
      <p:pic>
        <p:nvPicPr>
          <p:cNvPr id="16" name="Elemento grafico 15" descr="Interrompi con riempimento a tinta unita">
            <a:extLst>
              <a:ext uri="{FF2B5EF4-FFF2-40B4-BE49-F238E27FC236}">
                <a16:creationId xmlns:a16="http://schemas.microsoft.com/office/drawing/2014/main" id="{7E59E347-6CE4-2831-0A60-F283836AA909}"/>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671526" y="5916448"/>
            <a:ext cx="202562" cy="202562"/>
          </a:xfrm>
          <a:prstGeom prst="rect">
            <a:avLst/>
          </a:prstGeom>
        </p:spPr>
      </p:pic>
      <p:pic>
        <p:nvPicPr>
          <p:cNvPr id="17" name="Elemento grafico 16" descr="Interrompi con riempimento a tinta unita">
            <a:extLst>
              <a:ext uri="{FF2B5EF4-FFF2-40B4-BE49-F238E27FC236}">
                <a16:creationId xmlns:a16="http://schemas.microsoft.com/office/drawing/2014/main" id="{2448779E-60CB-9ED9-84EC-40D0A431026A}"/>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853135" y="6273040"/>
            <a:ext cx="202562" cy="202562"/>
          </a:xfrm>
          <a:prstGeom prst="rect">
            <a:avLst/>
          </a:prstGeom>
        </p:spPr>
      </p:pic>
      <p:sp>
        <p:nvSpPr>
          <p:cNvPr id="18" name="Segnaposto contenuto 2">
            <a:extLst>
              <a:ext uri="{FF2B5EF4-FFF2-40B4-BE49-F238E27FC236}">
                <a16:creationId xmlns:a16="http://schemas.microsoft.com/office/drawing/2014/main" id="{CBC402D2-FB8A-2E6E-97AD-0C56B51A5F20}"/>
              </a:ext>
            </a:extLst>
          </p:cNvPr>
          <p:cNvSpPr txBox="1">
            <a:spLocks/>
          </p:cNvSpPr>
          <p:nvPr/>
        </p:nvSpPr>
        <p:spPr>
          <a:xfrm>
            <a:off x="1041123" y="2141649"/>
            <a:ext cx="1912389" cy="2943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Not all practices can be called best practices. </a:t>
            </a:r>
          </a:p>
          <a:p>
            <a:pPr marL="0" indent="0">
              <a:buNone/>
            </a:pPr>
            <a:endParaRPr lang="en-US" sz="1400" dirty="0"/>
          </a:p>
          <a:p>
            <a:pPr marL="0" indent="0">
              <a:buNone/>
            </a:pPr>
            <a:r>
              <a:rPr lang="en-US" sz="1400" dirty="0"/>
              <a:t>PMTM can help increase the chances of locating best practices.</a:t>
            </a:r>
          </a:p>
        </p:txBody>
      </p:sp>
    </p:spTree>
    <p:extLst>
      <p:ext uri="{BB962C8B-B14F-4D97-AF65-F5344CB8AC3E}">
        <p14:creationId xmlns:p14="http://schemas.microsoft.com/office/powerpoint/2010/main" val="336693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ccia in su 2">
            <a:extLst>
              <a:ext uri="{FF2B5EF4-FFF2-40B4-BE49-F238E27FC236}">
                <a16:creationId xmlns:a16="http://schemas.microsoft.com/office/drawing/2014/main" id="{9AF82031-0853-E864-70B7-0C6EE293CEED}"/>
              </a:ext>
            </a:extLst>
          </p:cNvPr>
          <p:cNvSpPr/>
          <p:nvPr/>
        </p:nvSpPr>
        <p:spPr>
          <a:xfrm rot="5400000">
            <a:off x="6743137" y="2210008"/>
            <a:ext cx="1020142" cy="6796309"/>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D77255F4-61BA-1D87-26F8-57EB597CE7C8}"/>
              </a:ext>
            </a:extLst>
          </p:cNvPr>
          <p:cNvSpPr>
            <a:spLocks noGrp="1"/>
          </p:cNvSpPr>
          <p:nvPr>
            <p:ph type="title"/>
          </p:nvPr>
        </p:nvSpPr>
        <p:spPr/>
        <p:txBody>
          <a:bodyPr anchor="t">
            <a:normAutofit/>
          </a:bodyPr>
          <a:lstStyle/>
          <a:p>
            <a:r>
              <a:rPr lang="en-US" sz="3200" dirty="0"/>
              <a:t>CoP Goals to Practice Breakdown workshop</a:t>
            </a:r>
            <a:br>
              <a:rPr lang="en-US" sz="3200" dirty="0"/>
            </a:br>
            <a:r>
              <a:rPr lang="en-US" sz="3200" dirty="0"/>
              <a:t>Ideas of activities in the PMTM</a:t>
            </a:r>
          </a:p>
        </p:txBody>
      </p:sp>
      <p:sp>
        <p:nvSpPr>
          <p:cNvPr id="4" name="Freccia in su 3">
            <a:extLst>
              <a:ext uri="{FF2B5EF4-FFF2-40B4-BE49-F238E27FC236}">
                <a16:creationId xmlns:a16="http://schemas.microsoft.com/office/drawing/2014/main" id="{E8A18068-ADA2-A4D4-C33D-48AE34992965}"/>
              </a:ext>
            </a:extLst>
          </p:cNvPr>
          <p:cNvSpPr/>
          <p:nvPr/>
        </p:nvSpPr>
        <p:spPr>
          <a:xfrm>
            <a:off x="1820185" y="1343958"/>
            <a:ext cx="1685547" cy="3318881"/>
          </a:xfrm>
          <a:prstGeom prst="upArrow">
            <a:avLst>
              <a:gd name="adj1" fmla="val 50000"/>
              <a:gd name="adj2" fmla="val 369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egnaposto contenuto 4">
            <a:extLst>
              <a:ext uri="{FF2B5EF4-FFF2-40B4-BE49-F238E27FC236}">
                <a16:creationId xmlns:a16="http://schemas.microsoft.com/office/drawing/2014/main" id="{33344583-4A0A-C72A-F75B-6C0BCF7FA497}"/>
              </a:ext>
            </a:extLst>
          </p:cNvPr>
          <p:cNvGraphicFramePr>
            <a:graphicFrameLocks noGrp="1"/>
          </p:cNvGraphicFramePr>
          <p:nvPr>
            <p:ph idx="1"/>
            <p:extLst>
              <p:ext uri="{D42A27DB-BD31-4B8C-83A1-F6EECF244321}">
                <p14:modId xmlns:p14="http://schemas.microsoft.com/office/powerpoint/2010/main" val="2094834693"/>
              </p:ext>
            </p:extLst>
          </p:nvPr>
        </p:nvGraphicFramePr>
        <p:xfrm>
          <a:off x="2241676" y="2036657"/>
          <a:ext cx="7708647" cy="3888670"/>
        </p:xfrm>
        <a:graphic>
          <a:graphicData uri="http://schemas.openxmlformats.org/drawingml/2006/table">
            <a:tbl>
              <a:tblPr firstCol="1" bandRow="1">
                <a:tableStyleId>{5C22544A-7EE6-4342-B048-85BDC9FD1C3A}</a:tableStyleId>
              </a:tblPr>
              <a:tblGrid>
                <a:gridCol w="1618665">
                  <a:extLst>
                    <a:ext uri="{9D8B030D-6E8A-4147-A177-3AD203B41FA5}">
                      <a16:colId xmlns:a16="http://schemas.microsoft.com/office/drawing/2014/main" val="111057479"/>
                    </a:ext>
                  </a:extLst>
                </a:gridCol>
                <a:gridCol w="1614304">
                  <a:extLst>
                    <a:ext uri="{9D8B030D-6E8A-4147-A177-3AD203B41FA5}">
                      <a16:colId xmlns:a16="http://schemas.microsoft.com/office/drawing/2014/main" val="1126235631"/>
                    </a:ext>
                  </a:extLst>
                </a:gridCol>
                <a:gridCol w="1504671">
                  <a:extLst>
                    <a:ext uri="{9D8B030D-6E8A-4147-A177-3AD203B41FA5}">
                      <a16:colId xmlns:a16="http://schemas.microsoft.com/office/drawing/2014/main" val="4199794356"/>
                    </a:ext>
                  </a:extLst>
                </a:gridCol>
                <a:gridCol w="1381418">
                  <a:extLst>
                    <a:ext uri="{9D8B030D-6E8A-4147-A177-3AD203B41FA5}">
                      <a16:colId xmlns:a16="http://schemas.microsoft.com/office/drawing/2014/main" val="2753552203"/>
                    </a:ext>
                  </a:extLst>
                </a:gridCol>
                <a:gridCol w="1589589">
                  <a:extLst>
                    <a:ext uri="{9D8B030D-6E8A-4147-A177-3AD203B41FA5}">
                      <a16:colId xmlns:a16="http://schemas.microsoft.com/office/drawing/2014/main" val="3385127919"/>
                    </a:ext>
                  </a:extLst>
                </a:gridCol>
              </a:tblGrid>
              <a:tr h="66998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400" i="1" dirty="0"/>
                        <a:t>Inspirational Presentations</a:t>
                      </a:r>
                    </a:p>
                    <a:p>
                      <a:pPr algn="ctr"/>
                      <a:endParaRPr lang="en-US" sz="1400" i="1" dirty="0"/>
                    </a:p>
                    <a:p>
                      <a:pPr algn="ctr"/>
                      <a:r>
                        <a:rPr lang="en-US" sz="1400" i="1" dirty="0"/>
                        <a:t>Daily-life escaping presentations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2">
                  <a:txBody>
                    <a:bodyPr/>
                    <a:lstStyle/>
                    <a:p>
                      <a:pPr marL="285750" indent="-285750">
                        <a:buFont typeface="Arial" panose="020B0604020202020204" pitchFamily="34" charset="0"/>
                        <a:buChar char="•"/>
                      </a:pPr>
                      <a:r>
                        <a:rPr lang="en-US" sz="1400" i="1" dirty="0"/>
                        <a:t>Training Sessions on practice (Shadow practice, simulations…)</a:t>
                      </a:r>
                    </a:p>
                    <a:p>
                      <a:pPr marL="285750" indent="-285750">
                        <a:buFont typeface="Arial" panose="020B0604020202020204" pitchFamily="34" charset="0"/>
                        <a:buChar char="•"/>
                      </a:pPr>
                      <a:r>
                        <a:rPr lang="en-US" sz="1400" i="1" dirty="0"/>
                        <a:t>Capitalization activities</a:t>
                      </a:r>
                    </a:p>
                    <a:p>
                      <a:pPr marL="285750" indent="-285750">
                        <a:buFont typeface="Arial" panose="020B0604020202020204" pitchFamily="34" charset="0"/>
                        <a:buChar char="•"/>
                      </a:pPr>
                      <a:r>
                        <a:rPr lang="en-US" sz="1400" i="1" dirty="0"/>
                        <a:t>Community support for practice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94329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1" dirty="0"/>
                        <a:t>Co-development sessions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1" dirty="0"/>
                        <a:t>Practice analysis &amp; improvement sessions (Value Stream map, Ishikawa, Continuous improvement, Keep-drop-start, extraction of take-aways for all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557784">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algn="ctr"/>
                      <a:endParaRPr lang="en-US" sz="1400" i="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rowSpan="2" gridSpan="3">
                  <a:txBody>
                    <a:bodyPr/>
                    <a:lstStyle/>
                    <a:p>
                      <a:pPr marL="285750" indent="-285750" algn="l">
                        <a:buFont typeface="Arial" panose="020B0604020202020204" pitchFamily="34" charset="0"/>
                        <a:buChar char="•"/>
                      </a:pPr>
                      <a:r>
                        <a:rPr lang="en-US" sz="1400" i="1" dirty="0"/>
                        <a:t>Identification of situations in which practice could be repeated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1" dirty="0"/>
                        <a:t>Short bursts of experimentation with feedback loop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rowSpan="2" hMerge="1">
                  <a:txBody>
                    <a:bodyPr/>
                    <a:lstStyle/>
                    <a:p>
                      <a:endParaRPr lang="en-US"/>
                    </a:p>
                  </a:txBody>
                  <a:tcPr>
                    <a:lnL w="12700" cap="flat" cmpd="sng" algn="ctr">
                      <a:solidFill>
                        <a:schemeClr val="tx1"/>
                      </a:solidFill>
                      <a:prstDash val="solid"/>
                      <a:round/>
                      <a:headEnd type="none" w="med" len="med"/>
                      <a:tailEnd type="none" w="med" len="med"/>
                    </a:lnL>
                  </a:tcPr>
                </a:tc>
                <a:tc rowSpan="2"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557784">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669982">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pic>
        <p:nvPicPr>
          <p:cNvPr id="6" name="Elemento grafico 5" descr="Camminare con riempimento a tinta unita">
            <a:extLst>
              <a:ext uri="{FF2B5EF4-FFF2-40B4-BE49-F238E27FC236}">
                <a16:creationId xmlns:a16="http://schemas.microsoft.com/office/drawing/2014/main" id="{07780246-A0AD-AE7F-0BC3-2CBC0AF4F41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00046" y="4107976"/>
            <a:ext cx="541630" cy="541630"/>
          </a:xfrm>
          <a:prstGeom prst="rect">
            <a:avLst/>
          </a:prstGeom>
        </p:spPr>
      </p:pic>
      <p:pic>
        <p:nvPicPr>
          <p:cNvPr id="7" name="Elemento grafico 6" descr="Neonato con riempimento a tinta unita">
            <a:extLst>
              <a:ext uri="{FF2B5EF4-FFF2-40B4-BE49-F238E27FC236}">
                <a16:creationId xmlns:a16="http://schemas.microsoft.com/office/drawing/2014/main" id="{47AF9D87-2DFE-3303-D154-9F34A219DE9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80400" y="4741136"/>
            <a:ext cx="541630" cy="541630"/>
          </a:xfrm>
          <a:prstGeom prst="rect">
            <a:avLst/>
          </a:prstGeom>
        </p:spPr>
      </p:pic>
      <p:pic>
        <p:nvPicPr>
          <p:cNvPr id="8" name="Elemento grafico 7" descr="Eseguire con riempimento a tinta unita">
            <a:extLst>
              <a:ext uri="{FF2B5EF4-FFF2-40B4-BE49-F238E27FC236}">
                <a16:creationId xmlns:a16="http://schemas.microsoft.com/office/drawing/2014/main" id="{02DD94C5-B83E-38D6-E732-BFDA64F88BC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72614" y="3393795"/>
            <a:ext cx="541630" cy="541630"/>
          </a:xfrm>
          <a:prstGeom prst="rect">
            <a:avLst/>
          </a:prstGeom>
        </p:spPr>
      </p:pic>
      <p:pic>
        <p:nvPicPr>
          <p:cNvPr id="9" name="Elemento grafico 8" descr="Eroe con riempimento a tinta unita">
            <a:extLst>
              <a:ext uri="{FF2B5EF4-FFF2-40B4-BE49-F238E27FC236}">
                <a16:creationId xmlns:a16="http://schemas.microsoft.com/office/drawing/2014/main" id="{71DAC750-D0B5-864E-CEA1-9D37D3597D2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72614" y="2398706"/>
            <a:ext cx="541630" cy="541630"/>
          </a:xfrm>
          <a:prstGeom prst="rect">
            <a:avLst/>
          </a:prstGeom>
        </p:spPr>
      </p:pic>
      <p:pic>
        <p:nvPicPr>
          <p:cNvPr id="10" name="Elemento grafico 9" descr="Pezzi del puzzle con riempimento a tinta unita">
            <a:extLst>
              <a:ext uri="{FF2B5EF4-FFF2-40B4-BE49-F238E27FC236}">
                <a16:creationId xmlns:a16="http://schemas.microsoft.com/office/drawing/2014/main" id="{40E03727-FD31-D016-80E0-1905A8B3626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38014" y="6002342"/>
            <a:ext cx="541630" cy="541630"/>
          </a:xfrm>
          <a:prstGeom prst="rect">
            <a:avLst/>
          </a:prstGeom>
        </p:spPr>
      </p:pic>
      <p:pic>
        <p:nvPicPr>
          <p:cNvPr id="11" name="Elemento grafico 10" descr="Interrompi con riempimento a tinta unita">
            <a:extLst>
              <a:ext uri="{FF2B5EF4-FFF2-40B4-BE49-F238E27FC236}">
                <a16:creationId xmlns:a16="http://schemas.microsoft.com/office/drawing/2014/main" id="{7D34AE6D-A24E-B6E8-1823-DF3A3453449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224283" y="6108642"/>
            <a:ext cx="448241" cy="448241"/>
          </a:xfrm>
          <a:prstGeom prst="rect">
            <a:avLst/>
          </a:prstGeom>
        </p:spPr>
      </p:pic>
      <p:pic>
        <p:nvPicPr>
          <p:cNvPr id="12" name="Elemento grafico 11" descr="Acqua con riempimento a tinta unita">
            <a:extLst>
              <a:ext uri="{FF2B5EF4-FFF2-40B4-BE49-F238E27FC236}">
                <a16:creationId xmlns:a16="http://schemas.microsoft.com/office/drawing/2014/main" id="{457670BA-52F2-95DC-F62A-7F0CEA2E971A}"/>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607835" y="6030540"/>
            <a:ext cx="513432" cy="513432"/>
          </a:xfrm>
          <a:prstGeom prst="rect">
            <a:avLst/>
          </a:prstGeom>
        </p:spPr>
      </p:pic>
      <p:sp>
        <p:nvSpPr>
          <p:cNvPr id="13" name="Bolla: nuvola 12">
            <a:extLst>
              <a:ext uri="{FF2B5EF4-FFF2-40B4-BE49-F238E27FC236}">
                <a16:creationId xmlns:a16="http://schemas.microsoft.com/office/drawing/2014/main" id="{5AC0C3AE-92FD-AF56-4ADC-F19281ED7DCF}"/>
              </a:ext>
            </a:extLst>
          </p:cNvPr>
          <p:cNvSpPr/>
          <p:nvPr/>
        </p:nvSpPr>
        <p:spPr>
          <a:xfrm>
            <a:off x="5624684" y="6033403"/>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14" name="Elemento grafico 13" descr="Interrompi con riempimento a tinta unita">
            <a:extLst>
              <a:ext uri="{FF2B5EF4-FFF2-40B4-BE49-F238E27FC236}">
                <a16:creationId xmlns:a16="http://schemas.microsoft.com/office/drawing/2014/main" id="{1947F0C6-D8F3-3231-1F43-26DE24620B2C}"/>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619929" y="6143222"/>
            <a:ext cx="202562" cy="202562"/>
          </a:xfrm>
          <a:prstGeom prst="rect">
            <a:avLst/>
          </a:prstGeom>
        </p:spPr>
      </p:pic>
      <p:pic>
        <p:nvPicPr>
          <p:cNvPr id="15" name="Elemento grafico 14" descr="Interrompi con riempimento a tinta unita">
            <a:extLst>
              <a:ext uri="{FF2B5EF4-FFF2-40B4-BE49-F238E27FC236}">
                <a16:creationId xmlns:a16="http://schemas.microsoft.com/office/drawing/2014/main" id="{A25F7450-8847-7920-293D-3C4E3BDBF55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253656" y="5968510"/>
            <a:ext cx="202562" cy="202562"/>
          </a:xfrm>
          <a:prstGeom prst="rect">
            <a:avLst/>
          </a:prstGeom>
        </p:spPr>
      </p:pic>
      <p:pic>
        <p:nvPicPr>
          <p:cNvPr id="16" name="Elemento grafico 15" descr="Interrompi con riempimento a tinta unita">
            <a:extLst>
              <a:ext uri="{FF2B5EF4-FFF2-40B4-BE49-F238E27FC236}">
                <a16:creationId xmlns:a16="http://schemas.microsoft.com/office/drawing/2014/main" id="{7E59E347-6CE4-2831-0A60-F283836AA909}"/>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438993" y="5967545"/>
            <a:ext cx="202562" cy="202562"/>
          </a:xfrm>
          <a:prstGeom prst="rect">
            <a:avLst/>
          </a:prstGeom>
        </p:spPr>
      </p:pic>
      <p:pic>
        <p:nvPicPr>
          <p:cNvPr id="17" name="Elemento grafico 16" descr="Interrompi con riempimento a tinta unita">
            <a:extLst>
              <a:ext uri="{FF2B5EF4-FFF2-40B4-BE49-F238E27FC236}">
                <a16:creationId xmlns:a16="http://schemas.microsoft.com/office/drawing/2014/main" id="{2448779E-60CB-9ED9-84EC-40D0A431026A}"/>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620602" y="6324137"/>
            <a:ext cx="202562" cy="202562"/>
          </a:xfrm>
          <a:prstGeom prst="rect">
            <a:avLst/>
          </a:prstGeom>
        </p:spPr>
      </p:pic>
    </p:spTree>
    <p:extLst>
      <p:ext uri="{BB962C8B-B14F-4D97-AF65-F5344CB8AC3E}">
        <p14:creationId xmlns:p14="http://schemas.microsoft.com/office/powerpoint/2010/main" val="3679993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en-US" sz="5400" dirty="0">
                <a:solidFill>
                  <a:srgbClr val="5C4E63"/>
                </a:solidFill>
                <a:latin typeface="Avenir Next LT Pro Light" panose="020B0304020202020204" pitchFamily="34" charset="0"/>
              </a:rPr>
              <a:t>Workshop Material</a:t>
            </a:r>
          </a:p>
        </p:txBody>
      </p:sp>
      <p:pic>
        <p:nvPicPr>
          <p:cNvPr id="5" name="Image 4" descr="Boîtes en carton">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424839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a:solidFill>
                  <a:srgbClr val="5C4E63"/>
                </a:solidFill>
                <a:latin typeface="Avenir Next LT Pro" panose="020B0504020202020204" pitchFamily="34" charset="0"/>
              </a:rPr>
              <a:t>Step 2 : </a:t>
            </a:r>
            <a:r>
              <a:rPr lang="en-US" sz="2800">
                <a:solidFill>
                  <a:srgbClr val="5C4E63"/>
                </a:solidFill>
                <a:latin typeface="Avenir Next LT Pro" panose="020B0504020202020204" pitchFamily="34" charset="0"/>
              </a:rPr>
              <a:t>Practice prioritization</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8" y="2189779"/>
            <a:ext cx="2374710" cy="2031325"/>
          </a:xfrm>
          <a:prstGeom prst="rect">
            <a:avLst/>
          </a:prstGeom>
          <a:noFill/>
        </p:spPr>
        <p:txBody>
          <a:bodyPr wrap="square">
            <a:spAutoFit/>
          </a:bodyPr>
          <a:lstStyle/>
          <a:p>
            <a:pPr algn="l"/>
            <a:r>
              <a:rPr lang="en-US" sz="1400" dirty="0">
                <a:solidFill>
                  <a:srgbClr val="5C4E63"/>
                </a:solidFill>
                <a:latin typeface="Avenir Next LT Pro" panose="020B0504020202020204" pitchFamily="34" charset="0"/>
              </a:rPr>
              <a:t>Among the list, what is your most important goal (in your life outside of the Community of Practice) right now ?</a:t>
            </a:r>
          </a:p>
          <a:p>
            <a:pPr algn="l"/>
            <a:endParaRPr lang="en-US" sz="1400" dirty="0">
              <a:solidFill>
                <a:srgbClr val="5C4E63"/>
              </a:solidFill>
              <a:latin typeface="Avenir Next LT Pro" panose="020B0504020202020204" pitchFamily="34" charset="0"/>
            </a:endParaRPr>
          </a:p>
          <a:p>
            <a:pPr algn="l"/>
            <a:r>
              <a:rPr lang="en-US" sz="1400" dirty="0">
                <a:solidFill>
                  <a:srgbClr val="5C4E63"/>
                </a:solidFill>
                <a:latin typeface="Avenir Next LT Pro" panose="020B0504020202020204" pitchFamily="34" charset="0"/>
              </a:rPr>
              <a:t>Participants dot-vote on goals that they consider the most important.</a:t>
            </a:r>
          </a:p>
        </p:txBody>
      </p:sp>
      <p:pic>
        <p:nvPicPr>
          <p:cNvPr id="29" name="Elemento grafico 28" descr="Badge con riempimento a tinta unita">
            <a:extLst>
              <a:ext uri="{FF2B5EF4-FFF2-40B4-BE49-F238E27FC236}">
                <a16:creationId xmlns:a16="http://schemas.microsoft.com/office/drawing/2014/main" id="{904F25C2-7878-0BC5-D3F4-299B02AC815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56356" y="1534466"/>
            <a:ext cx="565811" cy="565811"/>
          </a:xfrm>
          <a:prstGeom prst="rect">
            <a:avLst/>
          </a:prstGeom>
        </p:spPr>
      </p:pic>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32738" y="1617468"/>
            <a:ext cx="565811" cy="565811"/>
          </a:xfrm>
          <a:prstGeom prst="rect">
            <a:avLst/>
          </a:prstGeom>
        </p:spPr>
      </p:pic>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713657" cy="369332"/>
          </a:xfrm>
          <a:prstGeom prst="rect">
            <a:avLst/>
          </a:prstGeom>
          <a:noFill/>
        </p:spPr>
        <p:txBody>
          <a:bodyPr wrap="none" rtlCol="0">
            <a:spAutoFit/>
          </a:bodyPr>
          <a:lstStyle/>
          <a:p>
            <a:r>
              <a:rPr lang="en-US" dirty="0"/>
              <a:t>5 min</a:t>
            </a:r>
          </a:p>
        </p:txBody>
      </p:sp>
      <p:sp>
        <p:nvSpPr>
          <p:cNvPr id="4" name="Rettangolo 3">
            <a:extLst>
              <a:ext uri="{FF2B5EF4-FFF2-40B4-BE49-F238E27FC236}">
                <a16:creationId xmlns:a16="http://schemas.microsoft.com/office/drawing/2014/main" id="{84F899B4-1821-A7B0-8348-6E04FC88F49E}"/>
              </a:ext>
            </a:extLst>
          </p:cNvPr>
          <p:cNvSpPr/>
          <p:nvPr/>
        </p:nvSpPr>
        <p:spPr>
          <a:xfrm>
            <a:off x="3769498" y="1387751"/>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A</a:t>
            </a:r>
          </a:p>
        </p:txBody>
      </p:sp>
      <p:sp>
        <p:nvSpPr>
          <p:cNvPr id="5" name="Rettangolo 4">
            <a:extLst>
              <a:ext uri="{FF2B5EF4-FFF2-40B4-BE49-F238E27FC236}">
                <a16:creationId xmlns:a16="http://schemas.microsoft.com/office/drawing/2014/main" id="{C5EC4611-6FDC-3A8B-F229-D151885AA227}"/>
              </a:ext>
            </a:extLst>
          </p:cNvPr>
          <p:cNvSpPr/>
          <p:nvPr/>
        </p:nvSpPr>
        <p:spPr>
          <a:xfrm>
            <a:off x="3769498" y="2345824"/>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B</a:t>
            </a:r>
          </a:p>
        </p:txBody>
      </p:sp>
      <p:sp>
        <p:nvSpPr>
          <p:cNvPr id="6" name="Rettangolo 5">
            <a:extLst>
              <a:ext uri="{FF2B5EF4-FFF2-40B4-BE49-F238E27FC236}">
                <a16:creationId xmlns:a16="http://schemas.microsoft.com/office/drawing/2014/main" id="{4CA78EC8-679D-05EE-1DAF-D8CE72B4F107}"/>
              </a:ext>
            </a:extLst>
          </p:cNvPr>
          <p:cNvSpPr/>
          <p:nvPr/>
        </p:nvSpPr>
        <p:spPr>
          <a:xfrm>
            <a:off x="3769498" y="3303897"/>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C</a:t>
            </a:r>
          </a:p>
        </p:txBody>
      </p:sp>
      <p:sp>
        <p:nvSpPr>
          <p:cNvPr id="7" name="Rettangolo 6">
            <a:extLst>
              <a:ext uri="{FF2B5EF4-FFF2-40B4-BE49-F238E27FC236}">
                <a16:creationId xmlns:a16="http://schemas.microsoft.com/office/drawing/2014/main" id="{5B74CA30-DF47-9DF7-3470-B40E28C64C7B}"/>
              </a:ext>
            </a:extLst>
          </p:cNvPr>
          <p:cNvSpPr/>
          <p:nvPr/>
        </p:nvSpPr>
        <p:spPr>
          <a:xfrm>
            <a:off x="3769498" y="4261970"/>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D</a:t>
            </a:r>
          </a:p>
        </p:txBody>
      </p:sp>
      <p:sp>
        <p:nvSpPr>
          <p:cNvPr id="8" name="Rettangolo 7">
            <a:extLst>
              <a:ext uri="{FF2B5EF4-FFF2-40B4-BE49-F238E27FC236}">
                <a16:creationId xmlns:a16="http://schemas.microsoft.com/office/drawing/2014/main" id="{47DA77C4-CD99-D650-95E5-AFFA979AD9CE}"/>
              </a:ext>
            </a:extLst>
          </p:cNvPr>
          <p:cNvSpPr/>
          <p:nvPr/>
        </p:nvSpPr>
        <p:spPr>
          <a:xfrm>
            <a:off x="5342266" y="1387751"/>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E</a:t>
            </a:r>
          </a:p>
        </p:txBody>
      </p:sp>
      <p:sp>
        <p:nvSpPr>
          <p:cNvPr id="11" name="Rettangolo 10">
            <a:extLst>
              <a:ext uri="{FF2B5EF4-FFF2-40B4-BE49-F238E27FC236}">
                <a16:creationId xmlns:a16="http://schemas.microsoft.com/office/drawing/2014/main" id="{79A2A99C-E770-7AE0-A9AE-529CBCD537AF}"/>
              </a:ext>
            </a:extLst>
          </p:cNvPr>
          <p:cNvSpPr/>
          <p:nvPr/>
        </p:nvSpPr>
        <p:spPr>
          <a:xfrm>
            <a:off x="5342266" y="2345824"/>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F</a:t>
            </a:r>
          </a:p>
        </p:txBody>
      </p:sp>
      <p:sp>
        <p:nvSpPr>
          <p:cNvPr id="16" name="Rettangolo 15">
            <a:extLst>
              <a:ext uri="{FF2B5EF4-FFF2-40B4-BE49-F238E27FC236}">
                <a16:creationId xmlns:a16="http://schemas.microsoft.com/office/drawing/2014/main" id="{73D57A05-3332-7E04-56D4-A90994678241}"/>
              </a:ext>
            </a:extLst>
          </p:cNvPr>
          <p:cNvSpPr/>
          <p:nvPr/>
        </p:nvSpPr>
        <p:spPr>
          <a:xfrm>
            <a:off x="5342266" y="3303897"/>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G</a:t>
            </a:r>
          </a:p>
        </p:txBody>
      </p:sp>
      <p:sp>
        <p:nvSpPr>
          <p:cNvPr id="25" name="Rettangolo 24">
            <a:extLst>
              <a:ext uri="{FF2B5EF4-FFF2-40B4-BE49-F238E27FC236}">
                <a16:creationId xmlns:a16="http://schemas.microsoft.com/office/drawing/2014/main" id="{FBAFEAAB-2CF1-0DEA-AB59-2B7D174FAE20}"/>
              </a:ext>
            </a:extLst>
          </p:cNvPr>
          <p:cNvSpPr/>
          <p:nvPr/>
        </p:nvSpPr>
        <p:spPr>
          <a:xfrm>
            <a:off x="5342266" y="4261970"/>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H</a:t>
            </a:r>
          </a:p>
        </p:txBody>
      </p:sp>
      <p:sp>
        <p:nvSpPr>
          <p:cNvPr id="27" name="Parentesi graffa chiusa 26">
            <a:extLst>
              <a:ext uri="{FF2B5EF4-FFF2-40B4-BE49-F238E27FC236}">
                <a16:creationId xmlns:a16="http://schemas.microsoft.com/office/drawing/2014/main" id="{58A7184B-CA3F-9727-81D4-00015784234C}"/>
              </a:ext>
            </a:extLst>
          </p:cNvPr>
          <p:cNvSpPr/>
          <p:nvPr/>
        </p:nvSpPr>
        <p:spPr>
          <a:xfrm>
            <a:off x="7281353" y="1438663"/>
            <a:ext cx="673608" cy="36079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ttangolo 27">
            <a:extLst>
              <a:ext uri="{FF2B5EF4-FFF2-40B4-BE49-F238E27FC236}">
                <a16:creationId xmlns:a16="http://schemas.microsoft.com/office/drawing/2014/main" id="{70ACF53A-D68A-2459-3E56-2F8F17BC9A57}"/>
              </a:ext>
            </a:extLst>
          </p:cNvPr>
          <p:cNvSpPr/>
          <p:nvPr/>
        </p:nvSpPr>
        <p:spPr>
          <a:xfrm>
            <a:off x="9781412" y="2833051"/>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Goal A</a:t>
            </a:r>
          </a:p>
          <a:p>
            <a:pPr algn="ctr"/>
            <a:r>
              <a:rPr lang="en-US" sz="1100" dirty="0">
                <a:solidFill>
                  <a:schemeClr val="tx1"/>
                </a:solidFill>
              </a:rPr>
              <a:t>14 votes</a:t>
            </a:r>
          </a:p>
        </p:txBody>
      </p:sp>
      <p:sp>
        <p:nvSpPr>
          <p:cNvPr id="83" name="Freccia a destra 82">
            <a:extLst>
              <a:ext uri="{FF2B5EF4-FFF2-40B4-BE49-F238E27FC236}">
                <a16:creationId xmlns:a16="http://schemas.microsoft.com/office/drawing/2014/main" id="{662EE421-B229-86A5-E43F-DC176025880A}"/>
              </a:ext>
            </a:extLst>
          </p:cNvPr>
          <p:cNvSpPr/>
          <p:nvPr/>
        </p:nvSpPr>
        <p:spPr>
          <a:xfrm>
            <a:off x="7802511" y="3004537"/>
            <a:ext cx="1764792" cy="476179"/>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Segnaposto contenuto 2">
            <a:extLst>
              <a:ext uri="{FF2B5EF4-FFF2-40B4-BE49-F238E27FC236}">
                <a16:creationId xmlns:a16="http://schemas.microsoft.com/office/drawing/2014/main" id="{7E3D001E-FD3A-28CF-9B44-F21E77F88052}"/>
              </a:ext>
            </a:extLst>
          </p:cNvPr>
          <p:cNvSpPr txBox="1">
            <a:spLocks/>
          </p:cNvSpPr>
          <p:nvPr/>
        </p:nvSpPr>
        <p:spPr>
          <a:xfrm>
            <a:off x="8169070" y="2114957"/>
            <a:ext cx="1074395" cy="88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5C4E63"/>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5C4E63"/>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5C4E63"/>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5C4E63"/>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Extract top voted goal</a:t>
            </a:r>
          </a:p>
        </p:txBody>
      </p:sp>
      <p:pic>
        <p:nvPicPr>
          <p:cNvPr id="85" name="Elemento grafico 84" descr="Badge con riempimento a tinta unita">
            <a:extLst>
              <a:ext uri="{FF2B5EF4-FFF2-40B4-BE49-F238E27FC236}">
                <a16:creationId xmlns:a16="http://schemas.microsoft.com/office/drawing/2014/main" id="{BF4C4850-F9F0-78CF-4776-C5288DB23FF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56356" y="1534466"/>
            <a:ext cx="565811" cy="565811"/>
          </a:xfrm>
          <a:prstGeom prst="rect">
            <a:avLst/>
          </a:prstGeom>
        </p:spPr>
      </p:pic>
      <p:sp>
        <p:nvSpPr>
          <p:cNvPr id="86" name="Ovale 85">
            <a:extLst>
              <a:ext uri="{FF2B5EF4-FFF2-40B4-BE49-F238E27FC236}">
                <a16:creationId xmlns:a16="http://schemas.microsoft.com/office/drawing/2014/main" id="{83397078-1970-8710-12B4-59619DB66F5D}"/>
              </a:ext>
            </a:extLst>
          </p:cNvPr>
          <p:cNvSpPr/>
          <p:nvPr/>
        </p:nvSpPr>
        <p:spPr>
          <a:xfrm>
            <a:off x="4918124" y="183390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e 86">
            <a:extLst>
              <a:ext uri="{FF2B5EF4-FFF2-40B4-BE49-F238E27FC236}">
                <a16:creationId xmlns:a16="http://schemas.microsoft.com/office/drawing/2014/main" id="{177F7118-5FDC-CB10-BD76-C2E9517BEEC2}"/>
              </a:ext>
            </a:extLst>
          </p:cNvPr>
          <p:cNvSpPr/>
          <p:nvPr/>
        </p:nvSpPr>
        <p:spPr>
          <a:xfrm>
            <a:off x="4702358" y="195241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e 87">
            <a:extLst>
              <a:ext uri="{FF2B5EF4-FFF2-40B4-BE49-F238E27FC236}">
                <a16:creationId xmlns:a16="http://schemas.microsoft.com/office/drawing/2014/main" id="{FFFD620B-9D24-F8DB-5987-B13ACB939ACE}"/>
              </a:ext>
            </a:extLst>
          </p:cNvPr>
          <p:cNvSpPr/>
          <p:nvPr/>
        </p:nvSpPr>
        <p:spPr>
          <a:xfrm>
            <a:off x="4913302" y="202520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e 88">
            <a:extLst>
              <a:ext uri="{FF2B5EF4-FFF2-40B4-BE49-F238E27FC236}">
                <a16:creationId xmlns:a16="http://schemas.microsoft.com/office/drawing/2014/main" id="{B3D5AD90-23BC-E6EE-6B53-28A85C757571}"/>
              </a:ext>
            </a:extLst>
          </p:cNvPr>
          <p:cNvSpPr/>
          <p:nvPr/>
        </p:nvSpPr>
        <p:spPr>
          <a:xfrm>
            <a:off x="5025178" y="168280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e 89">
            <a:extLst>
              <a:ext uri="{FF2B5EF4-FFF2-40B4-BE49-F238E27FC236}">
                <a16:creationId xmlns:a16="http://schemas.microsoft.com/office/drawing/2014/main" id="{3F7A61B4-D9F9-B745-494E-CEBCDF7BEC27}"/>
              </a:ext>
            </a:extLst>
          </p:cNvPr>
          <p:cNvSpPr/>
          <p:nvPr/>
        </p:nvSpPr>
        <p:spPr>
          <a:xfrm>
            <a:off x="4929315" y="149918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e 90">
            <a:extLst>
              <a:ext uri="{FF2B5EF4-FFF2-40B4-BE49-F238E27FC236}">
                <a16:creationId xmlns:a16="http://schemas.microsoft.com/office/drawing/2014/main" id="{A1E5BA5C-E434-0600-2DAE-8738361700B4}"/>
              </a:ext>
            </a:extLst>
          </p:cNvPr>
          <p:cNvSpPr/>
          <p:nvPr/>
        </p:nvSpPr>
        <p:spPr>
          <a:xfrm>
            <a:off x="4864903" y="167227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e 91">
            <a:extLst>
              <a:ext uri="{FF2B5EF4-FFF2-40B4-BE49-F238E27FC236}">
                <a16:creationId xmlns:a16="http://schemas.microsoft.com/office/drawing/2014/main" id="{4154E781-CEF9-0EDE-E3B4-0AF53AF8440B}"/>
              </a:ext>
            </a:extLst>
          </p:cNvPr>
          <p:cNvSpPr/>
          <p:nvPr/>
        </p:nvSpPr>
        <p:spPr>
          <a:xfrm>
            <a:off x="4486592" y="195639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e 92">
            <a:extLst>
              <a:ext uri="{FF2B5EF4-FFF2-40B4-BE49-F238E27FC236}">
                <a16:creationId xmlns:a16="http://schemas.microsoft.com/office/drawing/2014/main" id="{59D420D1-AD90-952E-0C9F-D12D363A4E59}"/>
              </a:ext>
            </a:extLst>
          </p:cNvPr>
          <p:cNvSpPr/>
          <p:nvPr/>
        </p:nvSpPr>
        <p:spPr>
          <a:xfrm>
            <a:off x="4304999" y="195241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e 93">
            <a:extLst>
              <a:ext uri="{FF2B5EF4-FFF2-40B4-BE49-F238E27FC236}">
                <a16:creationId xmlns:a16="http://schemas.microsoft.com/office/drawing/2014/main" id="{11387308-EF8A-C502-15FB-CE893448B1FB}"/>
              </a:ext>
            </a:extLst>
          </p:cNvPr>
          <p:cNvSpPr/>
          <p:nvPr/>
        </p:nvSpPr>
        <p:spPr>
          <a:xfrm>
            <a:off x="3865191" y="158045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e 94">
            <a:extLst>
              <a:ext uri="{FF2B5EF4-FFF2-40B4-BE49-F238E27FC236}">
                <a16:creationId xmlns:a16="http://schemas.microsoft.com/office/drawing/2014/main" id="{78EE6724-CDB7-19D7-43AE-3B15BC4130FC}"/>
              </a:ext>
            </a:extLst>
          </p:cNvPr>
          <p:cNvSpPr/>
          <p:nvPr/>
        </p:nvSpPr>
        <p:spPr>
          <a:xfrm>
            <a:off x="4977624" y="256447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e 95">
            <a:extLst>
              <a:ext uri="{FF2B5EF4-FFF2-40B4-BE49-F238E27FC236}">
                <a16:creationId xmlns:a16="http://schemas.microsoft.com/office/drawing/2014/main" id="{6ADEB7B2-479C-3707-077A-16540B19D602}"/>
              </a:ext>
            </a:extLst>
          </p:cNvPr>
          <p:cNvSpPr/>
          <p:nvPr/>
        </p:nvSpPr>
        <p:spPr>
          <a:xfrm>
            <a:off x="4849664" y="270163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e 96">
            <a:extLst>
              <a:ext uri="{FF2B5EF4-FFF2-40B4-BE49-F238E27FC236}">
                <a16:creationId xmlns:a16="http://schemas.microsoft.com/office/drawing/2014/main" id="{6D30E9D8-F4DA-57C4-3553-A4566E686325}"/>
              </a:ext>
            </a:extLst>
          </p:cNvPr>
          <p:cNvSpPr/>
          <p:nvPr/>
        </p:nvSpPr>
        <p:spPr>
          <a:xfrm>
            <a:off x="5006510" y="283879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e 97">
            <a:extLst>
              <a:ext uri="{FF2B5EF4-FFF2-40B4-BE49-F238E27FC236}">
                <a16:creationId xmlns:a16="http://schemas.microsoft.com/office/drawing/2014/main" id="{BE0366AB-53AE-7A35-EECB-530337172BEF}"/>
              </a:ext>
            </a:extLst>
          </p:cNvPr>
          <p:cNvSpPr/>
          <p:nvPr/>
        </p:nvSpPr>
        <p:spPr>
          <a:xfrm>
            <a:off x="4815235" y="295056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e 98">
            <a:extLst>
              <a:ext uri="{FF2B5EF4-FFF2-40B4-BE49-F238E27FC236}">
                <a16:creationId xmlns:a16="http://schemas.microsoft.com/office/drawing/2014/main" id="{237989C6-1E05-349F-8B7C-4ABE6A7DD814}"/>
              </a:ext>
            </a:extLst>
          </p:cNvPr>
          <p:cNvSpPr/>
          <p:nvPr/>
        </p:nvSpPr>
        <p:spPr>
          <a:xfrm>
            <a:off x="4990110" y="302481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e 99">
            <a:extLst>
              <a:ext uri="{FF2B5EF4-FFF2-40B4-BE49-F238E27FC236}">
                <a16:creationId xmlns:a16="http://schemas.microsoft.com/office/drawing/2014/main" id="{362D0B55-3422-0FF4-863C-47112ABB8CF4}"/>
              </a:ext>
            </a:extLst>
          </p:cNvPr>
          <p:cNvSpPr/>
          <p:nvPr/>
        </p:nvSpPr>
        <p:spPr>
          <a:xfrm>
            <a:off x="4623729" y="296176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e 100">
            <a:extLst>
              <a:ext uri="{FF2B5EF4-FFF2-40B4-BE49-F238E27FC236}">
                <a16:creationId xmlns:a16="http://schemas.microsoft.com/office/drawing/2014/main" id="{C1504311-DFA4-27B9-DB1A-72DFE56F73DD}"/>
              </a:ext>
            </a:extLst>
          </p:cNvPr>
          <p:cNvSpPr/>
          <p:nvPr/>
        </p:nvSpPr>
        <p:spPr>
          <a:xfrm>
            <a:off x="3967626" y="202864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e 101">
            <a:extLst>
              <a:ext uri="{FF2B5EF4-FFF2-40B4-BE49-F238E27FC236}">
                <a16:creationId xmlns:a16="http://schemas.microsoft.com/office/drawing/2014/main" id="{60039BD0-0313-9473-AAA3-BAE54D65BEBE}"/>
              </a:ext>
            </a:extLst>
          </p:cNvPr>
          <p:cNvSpPr/>
          <p:nvPr/>
        </p:nvSpPr>
        <p:spPr>
          <a:xfrm>
            <a:off x="4485714" y="283879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e 102">
            <a:extLst>
              <a:ext uri="{FF2B5EF4-FFF2-40B4-BE49-F238E27FC236}">
                <a16:creationId xmlns:a16="http://schemas.microsoft.com/office/drawing/2014/main" id="{1BC45B8D-9B55-9500-B558-F212F31F4314}"/>
              </a:ext>
            </a:extLst>
          </p:cNvPr>
          <p:cNvSpPr/>
          <p:nvPr/>
        </p:nvSpPr>
        <p:spPr>
          <a:xfrm>
            <a:off x="4826673" y="339884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e 103">
            <a:extLst>
              <a:ext uri="{FF2B5EF4-FFF2-40B4-BE49-F238E27FC236}">
                <a16:creationId xmlns:a16="http://schemas.microsoft.com/office/drawing/2014/main" id="{D4F6E6DA-875F-932A-6AD1-D65125A966C7}"/>
              </a:ext>
            </a:extLst>
          </p:cNvPr>
          <p:cNvSpPr/>
          <p:nvPr/>
        </p:nvSpPr>
        <p:spPr>
          <a:xfrm>
            <a:off x="4901418" y="348041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e 104">
            <a:extLst>
              <a:ext uri="{FF2B5EF4-FFF2-40B4-BE49-F238E27FC236}">
                <a16:creationId xmlns:a16="http://schemas.microsoft.com/office/drawing/2014/main" id="{88D2BB13-DE47-D70B-75CA-452491CE73CC}"/>
              </a:ext>
            </a:extLst>
          </p:cNvPr>
          <p:cNvSpPr/>
          <p:nvPr/>
        </p:nvSpPr>
        <p:spPr>
          <a:xfrm>
            <a:off x="4910850" y="366153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e 105">
            <a:extLst>
              <a:ext uri="{FF2B5EF4-FFF2-40B4-BE49-F238E27FC236}">
                <a16:creationId xmlns:a16="http://schemas.microsoft.com/office/drawing/2014/main" id="{CBC3F30B-48C9-6731-CEE4-FB3D25C7AFC5}"/>
              </a:ext>
            </a:extLst>
          </p:cNvPr>
          <p:cNvSpPr/>
          <p:nvPr/>
        </p:nvSpPr>
        <p:spPr>
          <a:xfrm>
            <a:off x="4706757" y="152026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e 106">
            <a:extLst>
              <a:ext uri="{FF2B5EF4-FFF2-40B4-BE49-F238E27FC236}">
                <a16:creationId xmlns:a16="http://schemas.microsoft.com/office/drawing/2014/main" id="{D1D8AFF3-6177-9CEA-8095-DE57A5EB0207}"/>
              </a:ext>
            </a:extLst>
          </p:cNvPr>
          <p:cNvSpPr/>
          <p:nvPr/>
        </p:nvSpPr>
        <p:spPr>
          <a:xfrm>
            <a:off x="4818107" y="385352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e 107">
            <a:extLst>
              <a:ext uri="{FF2B5EF4-FFF2-40B4-BE49-F238E27FC236}">
                <a16:creationId xmlns:a16="http://schemas.microsoft.com/office/drawing/2014/main" id="{6FA0A76F-D9BB-680C-655E-56470A06F965}"/>
              </a:ext>
            </a:extLst>
          </p:cNvPr>
          <p:cNvSpPr/>
          <p:nvPr/>
        </p:nvSpPr>
        <p:spPr>
          <a:xfrm>
            <a:off x="4946175" y="389395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e 108">
            <a:extLst>
              <a:ext uri="{FF2B5EF4-FFF2-40B4-BE49-F238E27FC236}">
                <a16:creationId xmlns:a16="http://schemas.microsoft.com/office/drawing/2014/main" id="{3145F578-A3EC-A060-961B-2999E3E4DFFE}"/>
              </a:ext>
            </a:extLst>
          </p:cNvPr>
          <p:cNvSpPr/>
          <p:nvPr/>
        </p:nvSpPr>
        <p:spPr>
          <a:xfrm>
            <a:off x="5114680" y="383107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e 109">
            <a:extLst>
              <a:ext uri="{FF2B5EF4-FFF2-40B4-BE49-F238E27FC236}">
                <a16:creationId xmlns:a16="http://schemas.microsoft.com/office/drawing/2014/main" id="{CB6B603A-AB40-A062-5F4E-D75D1D87C9F7}"/>
              </a:ext>
            </a:extLst>
          </p:cNvPr>
          <p:cNvSpPr/>
          <p:nvPr/>
        </p:nvSpPr>
        <p:spPr>
          <a:xfrm>
            <a:off x="5079954" y="362992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e 110">
            <a:extLst>
              <a:ext uri="{FF2B5EF4-FFF2-40B4-BE49-F238E27FC236}">
                <a16:creationId xmlns:a16="http://schemas.microsoft.com/office/drawing/2014/main" id="{E4CE1ED7-E34B-2828-ABF3-6B0AEDEE115D}"/>
              </a:ext>
            </a:extLst>
          </p:cNvPr>
          <p:cNvSpPr/>
          <p:nvPr/>
        </p:nvSpPr>
        <p:spPr>
          <a:xfrm>
            <a:off x="4783630" y="437716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e 111">
            <a:extLst>
              <a:ext uri="{FF2B5EF4-FFF2-40B4-BE49-F238E27FC236}">
                <a16:creationId xmlns:a16="http://schemas.microsoft.com/office/drawing/2014/main" id="{8309A32B-295B-6BD6-D082-250146AA18BE}"/>
              </a:ext>
            </a:extLst>
          </p:cNvPr>
          <p:cNvSpPr/>
          <p:nvPr/>
        </p:nvSpPr>
        <p:spPr>
          <a:xfrm>
            <a:off x="4984327" y="459736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e 112">
            <a:extLst>
              <a:ext uri="{FF2B5EF4-FFF2-40B4-BE49-F238E27FC236}">
                <a16:creationId xmlns:a16="http://schemas.microsoft.com/office/drawing/2014/main" id="{EAE0888D-64ED-81F1-6466-49BA34D5C2C3}"/>
              </a:ext>
            </a:extLst>
          </p:cNvPr>
          <p:cNvSpPr/>
          <p:nvPr/>
        </p:nvSpPr>
        <p:spPr>
          <a:xfrm>
            <a:off x="4737344" y="475990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e 113">
            <a:extLst>
              <a:ext uri="{FF2B5EF4-FFF2-40B4-BE49-F238E27FC236}">
                <a16:creationId xmlns:a16="http://schemas.microsoft.com/office/drawing/2014/main" id="{3FEA6C05-78F4-8CD0-9BA6-952A23E64FC9}"/>
              </a:ext>
            </a:extLst>
          </p:cNvPr>
          <p:cNvSpPr/>
          <p:nvPr/>
        </p:nvSpPr>
        <p:spPr>
          <a:xfrm>
            <a:off x="6266623" y="401285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e 114">
            <a:extLst>
              <a:ext uri="{FF2B5EF4-FFF2-40B4-BE49-F238E27FC236}">
                <a16:creationId xmlns:a16="http://schemas.microsoft.com/office/drawing/2014/main" id="{5E8BE638-4E1D-AD65-452A-2CC3AE59DEF0}"/>
              </a:ext>
            </a:extLst>
          </p:cNvPr>
          <p:cNvSpPr/>
          <p:nvPr/>
        </p:nvSpPr>
        <p:spPr>
          <a:xfrm>
            <a:off x="6331664" y="381268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e 115">
            <a:extLst>
              <a:ext uri="{FF2B5EF4-FFF2-40B4-BE49-F238E27FC236}">
                <a16:creationId xmlns:a16="http://schemas.microsoft.com/office/drawing/2014/main" id="{80003744-ACEE-E88B-C72E-B39C61E8B4C2}"/>
              </a:ext>
            </a:extLst>
          </p:cNvPr>
          <p:cNvSpPr/>
          <p:nvPr/>
        </p:nvSpPr>
        <p:spPr>
          <a:xfrm>
            <a:off x="6429168" y="362661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e 116">
            <a:extLst>
              <a:ext uri="{FF2B5EF4-FFF2-40B4-BE49-F238E27FC236}">
                <a16:creationId xmlns:a16="http://schemas.microsoft.com/office/drawing/2014/main" id="{F29B9D1E-DD65-A708-E0FE-AC1AF665DEDF}"/>
              </a:ext>
            </a:extLst>
          </p:cNvPr>
          <p:cNvSpPr/>
          <p:nvPr/>
        </p:nvSpPr>
        <p:spPr>
          <a:xfrm>
            <a:off x="6417908" y="3378949"/>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e 117">
            <a:extLst>
              <a:ext uri="{FF2B5EF4-FFF2-40B4-BE49-F238E27FC236}">
                <a16:creationId xmlns:a16="http://schemas.microsoft.com/office/drawing/2014/main" id="{C18B9C5F-C3C4-26E6-7905-45E47B10F77A}"/>
              </a:ext>
            </a:extLst>
          </p:cNvPr>
          <p:cNvSpPr/>
          <p:nvPr/>
        </p:nvSpPr>
        <p:spPr>
          <a:xfrm>
            <a:off x="6222842" y="334233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e 118">
            <a:extLst>
              <a:ext uri="{FF2B5EF4-FFF2-40B4-BE49-F238E27FC236}">
                <a16:creationId xmlns:a16="http://schemas.microsoft.com/office/drawing/2014/main" id="{F20C0ED1-4038-A458-EA4A-E1E43E8A41B4}"/>
              </a:ext>
            </a:extLst>
          </p:cNvPr>
          <p:cNvSpPr/>
          <p:nvPr/>
        </p:nvSpPr>
        <p:spPr>
          <a:xfrm>
            <a:off x="6579211" y="351454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e 119">
            <a:extLst>
              <a:ext uri="{FF2B5EF4-FFF2-40B4-BE49-F238E27FC236}">
                <a16:creationId xmlns:a16="http://schemas.microsoft.com/office/drawing/2014/main" id="{2F2CE013-A1F8-7996-C3EC-414E0604DAAA}"/>
              </a:ext>
            </a:extLst>
          </p:cNvPr>
          <p:cNvSpPr/>
          <p:nvPr/>
        </p:nvSpPr>
        <p:spPr>
          <a:xfrm>
            <a:off x="4448519" y="149089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e 120">
            <a:extLst>
              <a:ext uri="{FF2B5EF4-FFF2-40B4-BE49-F238E27FC236}">
                <a16:creationId xmlns:a16="http://schemas.microsoft.com/office/drawing/2014/main" id="{DA24CCB7-0DDF-903C-62B7-92438B81F3C4}"/>
              </a:ext>
            </a:extLst>
          </p:cNvPr>
          <p:cNvSpPr/>
          <p:nvPr/>
        </p:nvSpPr>
        <p:spPr>
          <a:xfrm>
            <a:off x="6331664" y="280653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e 121">
            <a:extLst>
              <a:ext uri="{FF2B5EF4-FFF2-40B4-BE49-F238E27FC236}">
                <a16:creationId xmlns:a16="http://schemas.microsoft.com/office/drawing/2014/main" id="{50EE28E5-043D-4C86-48DF-E9987D0E9A11}"/>
              </a:ext>
            </a:extLst>
          </p:cNvPr>
          <p:cNvSpPr/>
          <p:nvPr/>
        </p:nvSpPr>
        <p:spPr>
          <a:xfrm>
            <a:off x="6451089" y="268763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e 122">
            <a:extLst>
              <a:ext uri="{FF2B5EF4-FFF2-40B4-BE49-F238E27FC236}">
                <a16:creationId xmlns:a16="http://schemas.microsoft.com/office/drawing/2014/main" id="{D1A8E1A2-1EEA-95BD-84EA-C4D06FC350D9}"/>
              </a:ext>
            </a:extLst>
          </p:cNvPr>
          <p:cNvSpPr/>
          <p:nvPr/>
        </p:nvSpPr>
        <p:spPr>
          <a:xfrm>
            <a:off x="6588838" y="289827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e 123">
            <a:extLst>
              <a:ext uri="{FF2B5EF4-FFF2-40B4-BE49-F238E27FC236}">
                <a16:creationId xmlns:a16="http://schemas.microsoft.com/office/drawing/2014/main" id="{B15C7249-06AA-8F05-16DF-5546C00CC9EA}"/>
              </a:ext>
            </a:extLst>
          </p:cNvPr>
          <p:cNvSpPr/>
          <p:nvPr/>
        </p:nvSpPr>
        <p:spPr>
          <a:xfrm>
            <a:off x="6426293" y="208315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e 124">
            <a:extLst>
              <a:ext uri="{FF2B5EF4-FFF2-40B4-BE49-F238E27FC236}">
                <a16:creationId xmlns:a16="http://schemas.microsoft.com/office/drawing/2014/main" id="{28ACC4FB-F837-F111-CF3E-097066A0A0A4}"/>
              </a:ext>
            </a:extLst>
          </p:cNvPr>
          <p:cNvSpPr/>
          <p:nvPr/>
        </p:nvSpPr>
        <p:spPr>
          <a:xfrm>
            <a:off x="6459851" y="190705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e 125">
            <a:extLst>
              <a:ext uri="{FF2B5EF4-FFF2-40B4-BE49-F238E27FC236}">
                <a16:creationId xmlns:a16="http://schemas.microsoft.com/office/drawing/2014/main" id="{A6341F72-B663-1B78-0105-0053B9CF084F}"/>
              </a:ext>
            </a:extLst>
          </p:cNvPr>
          <p:cNvSpPr/>
          <p:nvPr/>
        </p:nvSpPr>
        <p:spPr>
          <a:xfrm>
            <a:off x="6459851" y="163243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e 126">
            <a:extLst>
              <a:ext uri="{FF2B5EF4-FFF2-40B4-BE49-F238E27FC236}">
                <a16:creationId xmlns:a16="http://schemas.microsoft.com/office/drawing/2014/main" id="{5EA41ED2-B778-2011-F945-5B4669C88E33}"/>
              </a:ext>
            </a:extLst>
          </p:cNvPr>
          <p:cNvSpPr/>
          <p:nvPr/>
        </p:nvSpPr>
        <p:spPr>
          <a:xfrm>
            <a:off x="4173451" y="153013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ACF78D8B-2C6C-CBF4-BD48-E31DE93A81AA}"/>
              </a:ext>
            </a:extLst>
          </p:cNvPr>
          <p:cNvSpPr/>
          <p:nvPr/>
        </p:nvSpPr>
        <p:spPr>
          <a:xfrm>
            <a:off x="6541123" y="1478203"/>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e 128">
            <a:extLst>
              <a:ext uri="{FF2B5EF4-FFF2-40B4-BE49-F238E27FC236}">
                <a16:creationId xmlns:a16="http://schemas.microsoft.com/office/drawing/2014/main" id="{44F24F3E-5318-4067-8B7A-FDFC4CFC4700}"/>
              </a:ext>
            </a:extLst>
          </p:cNvPr>
          <p:cNvSpPr/>
          <p:nvPr/>
        </p:nvSpPr>
        <p:spPr>
          <a:xfrm>
            <a:off x="6614353" y="180853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e 129">
            <a:extLst>
              <a:ext uri="{FF2B5EF4-FFF2-40B4-BE49-F238E27FC236}">
                <a16:creationId xmlns:a16="http://schemas.microsoft.com/office/drawing/2014/main" id="{D4506FCA-C3FF-2702-0DB6-693EE777E638}"/>
              </a:ext>
            </a:extLst>
          </p:cNvPr>
          <p:cNvSpPr/>
          <p:nvPr/>
        </p:nvSpPr>
        <p:spPr>
          <a:xfrm>
            <a:off x="6230059" y="197108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e 130">
            <a:extLst>
              <a:ext uri="{FF2B5EF4-FFF2-40B4-BE49-F238E27FC236}">
                <a16:creationId xmlns:a16="http://schemas.microsoft.com/office/drawing/2014/main" id="{2F4287C5-E161-0C19-C74C-B1B286F3B5D1}"/>
              </a:ext>
            </a:extLst>
          </p:cNvPr>
          <p:cNvSpPr/>
          <p:nvPr/>
        </p:nvSpPr>
        <p:spPr>
          <a:xfrm>
            <a:off x="4115514" y="181483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e 131">
            <a:extLst>
              <a:ext uri="{FF2B5EF4-FFF2-40B4-BE49-F238E27FC236}">
                <a16:creationId xmlns:a16="http://schemas.microsoft.com/office/drawing/2014/main" id="{DE1067A7-840F-59EF-1845-57DEBE04A78E}"/>
              </a:ext>
            </a:extLst>
          </p:cNvPr>
          <p:cNvSpPr/>
          <p:nvPr/>
        </p:nvSpPr>
        <p:spPr>
          <a:xfrm>
            <a:off x="6594390" y="202540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e 132">
            <a:extLst>
              <a:ext uri="{FF2B5EF4-FFF2-40B4-BE49-F238E27FC236}">
                <a16:creationId xmlns:a16="http://schemas.microsoft.com/office/drawing/2014/main" id="{40A8568E-15D1-B14E-5374-114C37392F4F}"/>
              </a:ext>
            </a:extLst>
          </p:cNvPr>
          <p:cNvSpPr/>
          <p:nvPr/>
        </p:nvSpPr>
        <p:spPr>
          <a:xfrm>
            <a:off x="5021739" y="331468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5261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3 : </a:t>
            </a:r>
            <a:r>
              <a:rPr lang="en-US" sz="2800" dirty="0">
                <a:solidFill>
                  <a:srgbClr val="5C4E63"/>
                </a:solidFill>
                <a:latin typeface="Avenir Next LT Pro" panose="020B0504020202020204" pitchFamily="34" charset="0"/>
              </a:rPr>
              <a:t>Practice listing</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7" y="2189779"/>
            <a:ext cx="2504145" cy="3754874"/>
          </a:xfrm>
          <a:prstGeom prst="rect">
            <a:avLst/>
          </a:prstGeom>
          <a:noFill/>
        </p:spPr>
        <p:txBody>
          <a:bodyPr wrap="square">
            <a:spAutoFit/>
          </a:bodyPr>
          <a:lstStyle/>
          <a:p>
            <a:pPr algn="l"/>
            <a:r>
              <a:rPr lang="en-US" sz="1400" dirty="0">
                <a:solidFill>
                  <a:srgbClr val="5C4E63"/>
                </a:solidFill>
                <a:latin typeface="Avenir Next LT Pro" panose="020B0504020202020204" pitchFamily="34" charset="0"/>
              </a:rPr>
              <a:t>For the selected goal, think of </a:t>
            </a:r>
          </a:p>
          <a:p>
            <a:pPr marL="285750" indent="-285750" algn="l">
              <a:buFont typeface="Arial" panose="020B0604020202020204" pitchFamily="34" charset="0"/>
              <a:buChar char="•"/>
            </a:pPr>
            <a:r>
              <a:rPr lang="en-US" sz="1400" dirty="0">
                <a:solidFill>
                  <a:srgbClr val="5C4E63"/>
                </a:solidFill>
                <a:latin typeface="Avenir Next LT Pro" panose="020B0504020202020204" pitchFamily="34" charset="0"/>
              </a:rPr>
              <a:t>What you do in your job to reach this goal ? </a:t>
            </a:r>
          </a:p>
          <a:p>
            <a:pPr marL="285750" indent="-285750" algn="l">
              <a:buFont typeface="Arial" panose="020B0604020202020204" pitchFamily="34" charset="0"/>
              <a:buChar char="•"/>
            </a:pPr>
            <a:r>
              <a:rPr lang="en-US" sz="1400" dirty="0">
                <a:solidFill>
                  <a:srgbClr val="5C4E63"/>
                </a:solidFill>
                <a:latin typeface="Avenir Next LT Pro" panose="020B0504020202020204" pitchFamily="34" charset="0"/>
              </a:rPr>
              <a:t>What have you done in the past</a:t>
            </a:r>
          </a:p>
          <a:p>
            <a:pPr marL="285750" indent="-285750" algn="l">
              <a:buFont typeface="Arial" panose="020B0604020202020204" pitchFamily="34" charset="0"/>
              <a:buChar char="•"/>
            </a:pPr>
            <a:r>
              <a:rPr lang="en-US" sz="1400" dirty="0">
                <a:solidFill>
                  <a:srgbClr val="5C4E63"/>
                </a:solidFill>
                <a:latin typeface="Avenir Next LT Pro" panose="020B0504020202020204" pitchFamily="34" charset="0"/>
              </a:rPr>
              <a:t>What would you want to try ?</a:t>
            </a:r>
          </a:p>
          <a:p>
            <a:pPr algn="l"/>
            <a:endParaRPr lang="en-US" sz="1400" dirty="0">
              <a:solidFill>
                <a:srgbClr val="5C4E63"/>
              </a:solidFill>
              <a:latin typeface="Avenir Next LT Pro" panose="020B0504020202020204" pitchFamily="34" charset="0"/>
            </a:endParaRPr>
          </a:p>
          <a:p>
            <a:pPr algn="l"/>
            <a:r>
              <a:rPr lang="en-US" sz="1400" dirty="0">
                <a:solidFill>
                  <a:srgbClr val="5C4E63"/>
                </a:solidFill>
                <a:latin typeface="Avenir Next LT Pro" panose="020B0504020202020204" pitchFamily="34" charset="0"/>
              </a:rPr>
              <a:t>Each of the answer is a practice that can be written down.</a:t>
            </a:r>
          </a:p>
          <a:p>
            <a:pPr algn="l"/>
            <a:endParaRPr lang="en-US" sz="1400" dirty="0">
              <a:solidFill>
                <a:srgbClr val="5C4E63"/>
              </a:solidFill>
              <a:latin typeface="Avenir Next LT Pro" panose="020B0504020202020204" pitchFamily="34" charset="0"/>
            </a:endParaRPr>
          </a:p>
          <a:p>
            <a:pPr algn="l"/>
            <a:r>
              <a:rPr lang="en-US" sz="1400" dirty="0">
                <a:solidFill>
                  <a:srgbClr val="5C4E63"/>
                </a:solidFill>
                <a:latin typeface="Avenir Next LT Pro" panose="020B0504020202020204" pitchFamily="34" charset="0"/>
              </a:rPr>
              <a:t>Each participant writes down practices from his/her experience (everyone silently on his/her own side).</a:t>
            </a:r>
          </a:p>
        </p:txBody>
      </p:sp>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2738" y="1617468"/>
            <a:ext cx="565811" cy="565811"/>
          </a:xfrm>
          <a:prstGeom prst="rect">
            <a:avLst/>
          </a:prstGeom>
        </p:spPr>
      </p:pic>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713657" cy="369332"/>
          </a:xfrm>
          <a:prstGeom prst="rect">
            <a:avLst/>
          </a:prstGeom>
          <a:noFill/>
        </p:spPr>
        <p:txBody>
          <a:bodyPr wrap="none" rtlCol="0">
            <a:spAutoFit/>
          </a:bodyPr>
          <a:lstStyle/>
          <a:p>
            <a:r>
              <a:rPr lang="en-US" dirty="0"/>
              <a:t>5 min</a:t>
            </a:r>
          </a:p>
        </p:txBody>
      </p:sp>
      <p:sp>
        <p:nvSpPr>
          <p:cNvPr id="28" name="Rettangolo 27">
            <a:extLst>
              <a:ext uri="{FF2B5EF4-FFF2-40B4-BE49-F238E27FC236}">
                <a16:creationId xmlns:a16="http://schemas.microsoft.com/office/drawing/2014/main" id="{70ACF53A-D68A-2459-3E56-2F8F17BC9A57}"/>
              </a:ext>
            </a:extLst>
          </p:cNvPr>
          <p:cNvSpPr/>
          <p:nvPr/>
        </p:nvSpPr>
        <p:spPr>
          <a:xfrm>
            <a:off x="6928104" y="1282709"/>
            <a:ext cx="1438275" cy="8191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Onboarding a new member in the team</a:t>
            </a:r>
          </a:p>
        </p:txBody>
      </p:sp>
      <p:sp>
        <p:nvSpPr>
          <p:cNvPr id="9" name="Rettangolo 8">
            <a:extLst>
              <a:ext uri="{FF2B5EF4-FFF2-40B4-BE49-F238E27FC236}">
                <a16:creationId xmlns:a16="http://schemas.microsoft.com/office/drawing/2014/main" id="{596FA907-518F-3A93-BF3B-C652F6B6E7B2}"/>
              </a:ext>
            </a:extLst>
          </p:cNvPr>
          <p:cNvSpPr/>
          <p:nvPr/>
        </p:nvSpPr>
        <p:spPr>
          <a:xfrm>
            <a:off x="3863458" y="4263402"/>
            <a:ext cx="1385084" cy="6499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Organize a Welcome tour</a:t>
            </a:r>
          </a:p>
          <a:p>
            <a:pPr algn="ctr"/>
            <a:endParaRPr lang="en-US" sz="1100" dirty="0">
              <a:solidFill>
                <a:schemeClr val="tx1"/>
              </a:solidFill>
            </a:endParaRPr>
          </a:p>
          <a:p>
            <a:pPr algn="r"/>
            <a:r>
              <a:rPr lang="en-US" sz="1100" dirty="0">
                <a:solidFill>
                  <a:schemeClr val="tx1"/>
                </a:solidFill>
              </a:rPr>
              <a:t>Alice</a:t>
            </a:r>
          </a:p>
        </p:txBody>
      </p:sp>
      <p:sp>
        <p:nvSpPr>
          <p:cNvPr id="10" name="Rettangolo 9">
            <a:extLst>
              <a:ext uri="{FF2B5EF4-FFF2-40B4-BE49-F238E27FC236}">
                <a16:creationId xmlns:a16="http://schemas.microsoft.com/office/drawing/2014/main" id="{5388066D-562E-7195-AA34-266FFD715890}"/>
              </a:ext>
            </a:extLst>
          </p:cNvPr>
          <p:cNvSpPr/>
          <p:nvPr/>
        </p:nvSpPr>
        <p:spPr>
          <a:xfrm>
            <a:off x="3863458" y="5003600"/>
            <a:ext cx="1385084" cy="6499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Use an onboarding book </a:t>
            </a:r>
          </a:p>
          <a:p>
            <a:pPr algn="r"/>
            <a:r>
              <a:rPr lang="en-US" sz="1100" dirty="0">
                <a:solidFill>
                  <a:schemeClr val="tx1"/>
                </a:solidFill>
              </a:rPr>
              <a:t>Alice</a:t>
            </a:r>
          </a:p>
        </p:txBody>
      </p:sp>
      <p:pic>
        <p:nvPicPr>
          <p:cNvPr id="13" name="Immagine 12" descr="Donna d’affari che scrive su un blocco note">
            <a:extLst>
              <a:ext uri="{FF2B5EF4-FFF2-40B4-BE49-F238E27FC236}">
                <a16:creationId xmlns:a16="http://schemas.microsoft.com/office/drawing/2014/main" id="{C161C45A-5093-2F3B-63B6-71719972942A}"/>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4009875" y="3052189"/>
            <a:ext cx="1264810" cy="1149738"/>
          </a:xfrm>
          <a:prstGeom prst="rect">
            <a:avLst/>
          </a:prstGeom>
        </p:spPr>
      </p:pic>
      <p:pic>
        <p:nvPicPr>
          <p:cNvPr id="15" name="Immagine 14" descr="Donna d’affari con cartellina">
            <a:extLst>
              <a:ext uri="{FF2B5EF4-FFF2-40B4-BE49-F238E27FC236}">
                <a16:creationId xmlns:a16="http://schemas.microsoft.com/office/drawing/2014/main" id="{09E83DDD-ACCD-7D14-BAAA-34A15D5A5FC0}"/>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299189" y="3002030"/>
            <a:ext cx="1368873" cy="1169551"/>
          </a:xfrm>
          <a:prstGeom prst="rect">
            <a:avLst/>
          </a:prstGeom>
        </p:spPr>
      </p:pic>
      <p:pic>
        <p:nvPicPr>
          <p:cNvPr id="18" name="Immagine 17" descr="Uomo d’affari che prende appunti">
            <a:extLst>
              <a:ext uri="{FF2B5EF4-FFF2-40B4-BE49-F238E27FC236}">
                <a16:creationId xmlns:a16="http://schemas.microsoft.com/office/drawing/2014/main" id="{0358D122-FA21-F0D8-5830-98BDED561668}"/>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6080719" y="3032376"/>
            <a:ext cx="1239848" cy="1169551"/>
          </a:xfrm>
          <a:prstGeom prst="rect">
            <a:avLst/>
          </a:prstGeom>
        </p:spPr>
      </p:pic>
      <p:pic>
        <p:nvPicPr>
          <p:cNvPr id="22" name="Immagine 21" descr="Donna anziana mentre usa il blocco note">
            <a:extLst>
              <a:ext uri="{FF2B5EF4-FFF2-40B4-BE49-F238E27FC236}">
                <a16:creationId xmlns:a16="http://schemas.microsoft.com/office/drawing/2014/main" id="{D6E9FB34-0547-0665-AB33-62CBB6A3C02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8077549" y="2952214"/>
            <a:ext cx="1239848" cy="1198115"/>
          </a:xfrm>
          <a:prstGeom prst="rect">
            <a:avLst/>
          </a:prstGeom>
        </p:spPr>
      </p:pic>
      <p:sp>
        <p:nvSpPr>
          <p:cNvPr id="24" name="Rettangolo 23">
            <a:extLst>
              <a:ext uri="{FF2B5EF4-FFF2-40B4-BE49-F238E27FC236}">
                <a16:creationId xmlns:a16="http://schemas.microsoft.com/office/drawing/2014/main" id="{6F01BE5C-19F5-28FD-6021-987EB022488A}"/>
              </a:ext>
            </a:extLst>
          </p:cNvPr>
          <p:cNvSpPr/>
          <p:nvPr/>
        </p:nvSpPr>
        <p:spPr>
          <a:xfrm>
            <a:off x="6036994" y="4263402"/>
            <a:ext cx="1385084" cy="6499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One-on-one meeting with all members</a:t>
            </a:r>
          </a:p>
          <a:p>
            <a:pPr algn="r"/>
            <a:r>
              <a:rPr lang="en-US" sz="1100" dirty="0">
                <a:solidFill>
                  <a:schemeClr val="tx1"/>
                </a:solidFill>
              </a:rPr>
              <a:t>Bob</a:t>
            </a:r>
          </a:p>
        </p:txBody>
      </p:sp>
      <p:sp>
        <p:nvSpPr>
          <p:cNvPr id="31" name="Rettangolo 30">
            <a:extLst>
              <a:ext uri="{FF2B5EF4-FFF2-40B4-BE49-F238E27FC236}">
                <a16:creationId xmlns:a16="http://schemas.microsoft.com/office/drawing/2014/main" id="{CE2F7BBB-1815-1302-5309-3CDC84A4E707}"/>
              </a:ext>
            </a:extLst>
          </p:cNvPr>
          <p:cNvSpPr/>
          <p:nvPr/>
        </p:nvSpPr>
        <p:spPr>
          <a:xfrm>
            <a:off x="6051882" y="5003600"/>
            <a:ext cx="1385084" cy="6499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New member must organize self-presentation</a:t>
            </a:r>
          </a:p>
          <a:p>
            <a:pPr algn="r"/>
            <a:r>
              <a:rPr lang="en-US" sz="1100" dirty="0">
                <a:solidFill>
                  <a:schemeClr val="tx1"/>
                </a:solidFill>
              </a:rPr>
              <a:t>Bob</a:t>
            </a:r>
          </a:p>
        </p:txBody>
      </p:sp>
      <p:sp>
        <p:nvSpPr>
          <p:cNvPr id="32" name="Rettangolo 31">
            <a:extLst>
              <a:ext uri="{FF2B5EF4-FFF2-40B4-BE49-F238E27FC236}">
                <a16:creationId xmlns:a16="http://schemas.microsoft.com/office/drawing/2014/main" id="{A96148EA-D3B9-FEA1-3A58-4922AC8A0F3A}"/>
              </a:ext>
            </a:extLst>
          </p:cNvPr>
          <p:cNvSpPr/>
          <p:nvPr/>
        </p:nvSpPr>
        <p:spPr>
          <a:xfrm>
            <a:off x="8079001" y="4263402"/>
            <a:ext cx="1385084" cy="649931"/>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New member must organize self-presentation</a:t>
            </a:r>
          </a:p>
          <a:p>
            <a:pPr algn="r"/>
            <a:r>
              <a:rPr lang="en-US" sz="1100" dirty="0">
                <a:solidFill>
                  <a:schemeClr val="tx1"/>
                </a:solidFill>
              </a:rPr>
              <a:t>Charlotte</a:t>
            </a:r>
          </a:p>
        </p:txBody>
      </p:sp>
      <p:sp>
        <p:nvSpPr>
          <p:cNvPr id="33" name="Rettangolo 32">
            <a:extLst>
              <a:ext uri="{FF2B5EF4-FFF2-40B4-BE49-F238E27FC236}">
                <a16:creationId xmlns:a16="http://schemas.microsoft.com/office/drawing/2014/main" id="{E35B713F-FD20-37C0-3B47-4A865FD084CB}"/>
              </a:ext>
            </a:extLst>
          </p:cNvPr>
          <p:cNvSpPr/>
          <p:nvPr/>
        </p:nvSpPr>
        <p:spPr>
          <a:xfrm>
            <a:off x="8093889" y="5003600"/>
            <a:ext cx="1385084" cy="649931"/>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New member cheat sheet</a:t>
            </a:r>
          </a:p>
          <a:p>
            <a:pPr algn="r"/>
            <a:r>
              <a:rPr lang="en-US" sz="1100" dirty="0">
                <a:solidFill>
                  <a:schemeClr val="tx1"/>
                </a:solidFill>
              </a:rPr>
              <a:t>Charlotte</a:t>
            </a:r>
          </a:p>
        </p:txBody>
      </p:sp>
      <p:sp>
        <p:nvSpPr>
          <p:cNvPr id="34" name="Rettangolo 33">
            <a:extLst>
              <a:ext uri="{FF2B5EF4-FFF2-40B4-BE49-F238E27FC236}">
                <a16:creationId xmlns:a16="http://schemas.microsoft.com/office/drawing/2014/main" id="{E557E704-9DEE-970F-2811-2CF166F023F2}"/>
              </a:ext>
            </a:extLst>
          </p:cNvPr>
          <p:cNvSpPr/>
          <p:nvPr/>
        </p:nvSpPr>
        <p:spPr>
          <a:xfrm>
            <a:off x="10299189" y="4312084"/>
            <a:ext cx="1385084" cy="6499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Short meetings with all the hierarchy</a:t>
            </a:r>
          </a:p>
          <a:p>
            <a:pPr algn="r"/>
            <a:r>
              <a:rPr lang="en-US" sz="1100" dirty="0">
                <a:solidFill>
                  <a:schemeClr val="tx1"/>
                </a:solidFill>
              </a:rPr>
              <a:t>Dick</a:t>
            </a:r>
          </a:p>
        </p:txBody>
      </p:sp>
      <p:sp>
        <p:nvSpPr>
          <p:cNvPr id="35" name="Rettangolo 34">
            <a:extLst>
              <a:ext uri="{FF2B5EF4-FFF2-40B4-BE49-F238E27FC236}">
                <a16:creationId xmlns:a16="http://schemas.microsoft.com/office/drawing/2014/main" id="{19F2799B-A4E6-C144-D9B7-0B38899814BB}"/>
              </a:ext>
            </a:extLst>
          </p:cNvPr>
          <p:cNvSpPr/>
          <p:nvPr/>
        </p:nvSpPr>
        <p:spPr>
          <a:xfrm>
            <a:off x="10314077" y="5052282"/>
            <a:ext cx="1385084" cy="6499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Technical tests</a:t>
            </a:r>
          </a:p>
          <a:p>
            <a:pPr algn="r"/>
            <a:r>
              <a:rPr lang="en-US" sz="1100" dirty="0">
                <a:solidFill>
                  <a:schemeClr val="tx1"/>
                </a:solidFill>
              </a:rPr>
              <a:t>Dick</a:t>
            </a:r>
          </a:p>
        </p:txBody>
      </p:sp>
      <p:sp>
        <p:nvSpPr>
          <p:cNvPr id="36" name="Rettangolo 35">
            <a:extLst>
              <a:ext uri="{FF2B5EF4-FFF2-40B4-BE49-F238E27FC236}">
                <a16:creationId xmlns:a16="http://schemas.microsoft.com/office/drawing/2014/main" id="{52B0BD95-1A7D-C9F7-0C0B-B74A5E87838F}"/>
              </a:ext>
            </a:extLst>
          </p:cNvPr>
          <p:cNvSpPr/>
          <p:nvPr/>
        </p:nvSpPr>
        <p:spPr>
          <a:xfrm>
            <a:off x="6051882" y="5739448"/>
            <a:ext cx="1385084" cy="6499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Use an onboarding book</a:t>
            </a:r>
          </a:p>
          <a:p>
            <a:pPr algn="r"/>
            <a:r>
              <a:rPr lang="en-US" sz="1100" dirty="0">
                <a:solidFill>
                  <a:schemeClr val="tx1"/>
                </a:solidFill>
              </a:rPr>
              <a:t>Bob</a:t>
            </a:r>
          </a:p>
        </p:txBody>
      </p:sp>
      <p:sp>
        <p:nvSpPr>
          <p:cNvPr id="37" name="Rettangolo 36">
            <a:extLst>
              <a:ext uri="{FF2B5EF4-FFF2-40B4-BE49-F238E27FC236}">
                <a16:creationId xmlns:a16="http://schemas.microsoft.com/office/drawing/2014/main" id="{1EB4CF6A-E367-819F-DA4B-A8EC753F8F5E}"/>
              </a:ext>
            </a:extLst>
          </p:cNvPr>
          <p:cNvSpPr/>
          <p:nvPr/>
        </p:nvSpPr>
        <p:spPr>
          <a:xfrm>
            <a:off x="8093889" y="5739448"/>
            <a:ext cx="1385084" cy="649931"/>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Welcoming Party</a:t>
            </a:r>
          </a:p>
          <a:p>
            <a:pPr algn="r"/>
            <a:r>
              <a:rPr lang="en-US" sz="1100" dirty="0">
                <a:solidFill>
                  <a:schemeClr val="tx1"/>
                </a:solidFill>
              </a:rPr>
              <a:t>Charlotte</a:t>
            </a:r>
          </a:p>
        </p:txBody>
      </p:sp>
      <p:sp>
        <p:nvSpPr>
          <p:cNvPr id="38" name="Bolla: nuvola 37">
            <a:extLst>
              <a:ext uri="{FF2B5EF4-FFF2-40B4-BE49-F238E27FC236}">
                <a16:creationId xmlns:a16="http://schemas.microsoft.com/office/drawing/2014/main" id="{9A79B7D7-02D2-DD64-F8EB-E895C18ADFE2}"/>
              </a:ext>
            </a:extLst>
          </p:cNvPr>
          <p:cNvSpPr/>
          <p:nvPr/>
        </p:nvSpPr>
        <p:spPr>
          <a:xfrm>
            <a:off x="5394959" y="773897"/>
            <a:ext cx="4741541" cy="1868719"/>
          </a:xfrm>
          <a:prstGeom prst="cloudCallout">
            <a:avLst>
              <a:gd name="adj1" fmla="val -58182"/>
              <a:gd name="adj2" fmla="val 54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Bolla: nuvola 38">
            <a:extLst>
              <a:ext uri="{FF2B5EF4-FFF2-40B4-BE49-F238E27FC236}">
                <a16:creationId xmlns:a16="http://schemas.microsoft.com/office/drawing/2014/main" id="{DA54B1AC-29F8-2866-39D7-31E460468FCD}"/>
              </a:ext>
            </a:extLst>
          </p:cNvPr>
          <p:cNvSpPr/>
          <p:nvPr/>
        </p:nvSpPr>
        <p:spPr>
          <a:xfrm>
            <a:off x="5408298" y="773897"/>
            <a:ext cx="4741541" cy="1868719"/>
          </a:xfrm>
          <a:prstGeom prst="cloudCallout">
            <a:avLst>
              <a:gd name="adj1" fmla="val -12640"/>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Bolla: nuvola 39">
            <a:extLst>
              <a:ext uri="{FF2B5EF4-FFF2-40B4-BE49-F238E27FC236}">
                <a16:creationId xmlns:a16="http://schemas.microsoft.com/office/drawing/2014/main" id="{EDFB3FF9-F50C-9A59-6F68-68318E8CB15D}"/>
              </a:ext>
            </a:extLst>
          </p:cNvPr>
          <p:cNvSpPr/>
          <p:nvPr/>
        </p:nvSpPr>
        <p:spPr>
          <a:xfrm>
            <a:off x="5394959" y="777216"/>
            <a:ext cx="4741541" cy="1868719"/>
          </a:xfrm>
          <a:prstGeom prst="cloudCallout">
            <a:avLst>
              <a:gd name="adj1" fmla="val 22073"/>
              <a:gd name="adj2" fmla="val 585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Bolla: nuvola 40">
            <a:extLst>
              <a:ext uri="{FF2B5EF4-FFF2-40B4-BE49-F238E27FC236}">
                <a16:creationId xmlns:a16="http://schemas.microsoft.com/office/drawing/2014/main" id="{66705DEA-D01B-8950-8EB7-2180543D2223}"/>
              </a:ext>
            </a:extLst>
          </p:cNvPr>
          <p:cNvSpPr/>
          <p:nvPr/>
        </p:nvSpPr>
        <p:spPr>
          <a:xfrm>
            <a:off x="5408298" y="766521"/>
            <a:ext cx="4741541" cy="1868719"/>
          </a:xfrm>
          <a:prstGeom prst="cloudCallout">
            <a:avLst>
              <a:gd name="adj1" fmla="val -12640"/>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Bolla: nuvola 41">
            <a:extLst>
              <a:ext uri="{FF2B5EF4-FFF2-40B4-BE49-F238E27FC236}">
                <a16:creationId xmlns:a16="http://schemas.microsoft.com/office/drawing/2014/main" id="{22FEC8C2-E4B2-F098-E4B9-97F5C76E1C17}"/>
              </a:ext>
            </a:extLst>
          </p:cNvPr>
          <p:cNvSpPr/>
          <p:nvPr/>
        </p:nvSpPr>
        <p:spPr>
          <a:xfrm>
            <a:off x="5394959" y="769840"/>
            <a:ext cx="4741541" cy="1868719"/>
          </a:xfrm>
          <a:prstGeom prst="cloudCallout">
            <a:avLst>
              <a:gd name="adj1" fmla="val 57750"/>
              <a:gd name="adj2" fmla="val 6103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494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egnaposto contenuto 4">
            <a:extLst>
              <a:ext uri="{FF2B5EF4-FFF2-40B4-BE49-F238E27FC236}">
                <a16:creationId xmlns:a16="http://schemas.microsoft.com/office/drawing/2014/main" id="{424F5395-24C5-4054-5E87-1BBE3E757974}"/>
              </a:ext>
            </a:extLst>
          </p:cNvPr>
          <p:cNvGraphicFramePr>
            <a:graphicFrameLocks/>
          </p:cNvGraphicFramePr>
          <p:nvPr>
            <p:extLst>
              <p:ext uri="{D42A27DB-BD31-4B8C-83A1-F6EECF244321}">
                <p14:modId xmlns:p14="http://schemas.microsoft.com/office/powerpoint/2010/main" val="2835554485"/>
              </p:ext>
            </p:extLst>
          </p:nvPr>
        </p:nvGraphicFramePr>
        <p:xfrm>
          <a:off x="3264408" y="1520168"/>
          <a:ext cx="8434753" cy="4972070"/>
        </p:xfrm>
        <a:graphic>
          <a:graphicData uri="http://schemas.openxmlformats.org/drawingml/2006/table">
            <a:tbl>
              <a:tblPr firstCol="1" bandRow="1">
                <a:tableStyleId>{5C22544A-7EE6-4342-B048-85BDC9FD1C3A}</a:tableStyleId>
              </a:tblPr>
              <a:tblGrid>
                <a:gridCol w="1771134">
                  <a:extLst>
                    <a:ext uri="{9D8B030D-6E8A-4147-A177-3AD203B41FA5}">
                      <a16:colId xmlns:a16="http://schemas.microsoft.com/office/drawing/2014/main" val="111057479"/>
                    </a:ext>
                  </a:extLst>
                </a:gridCol>
                <a:gridCol w="1766361">
                  <a:extLst>
                    <a:ext uri="{9D8B030D-6E8A-4147-A177-3AD203B41FA5}">
                      <a16:colId xmlns:a16="http://schemas.microsoft.com/office/drawing/2014/main" val="1126235631"/>
                    </a:ext>
                  </a:extLst>
                </a:gridCol>
                <a:gridCol w="1646401">
                  <a:extLst>
                    <a:ext uri="{9D8B030D-6E8A-4147-A177-3AD203B41FA5}">
                      <a16:colId xmlns:a16="http://schemas.microsoft.com/office/drawing/2014/main" val="4199794356"/>
                    </a:ext>
                  </a:extLst>
                </a:gridCol>
                <a:gridCol w="1511539">
                  <a:extLst>
                    <a:ext uri="{9D8B030D-6E8A-4147-A177-3AD203B41FA5}">
                      <a16:colId xmlns:a16="http://schemas.microsoft.com/office/drawing/2014/main" val="2753552203"/>
                    </a:ext>
                  </a:extLst>
                </a:gridCol>
                <a:gridCol w="1739318">
                  <a:extLst>
                    <a:ext uri="{9D8B030D-6E8A-4147-A177-3AD203B41FA5}">
                      <a16:colId xmlns:a16="http://schemas.microsoft.com/office/drawing/2014/main" val="3385127919"/>
                    </a:ext>
                  </a:extLst>
                </a:gridCol>
              </a:tblGrid>
              <a:tr h="980101">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gridSpan="4">
                  <a:txBody>
                    <a:bodyPr/>
                    <a:lstStyle/>
                    <a:p>
                      <a:pPr algn="ctr"/>
                      <a:endParaRPr lang="en-US" sz="1400" i="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1379930">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gridSpan="4"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815969">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4"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tcPr>
                </a:tc>
                <a:tc hMerge="1" v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815969">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980101">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4 : </a:t>
            </a:r>
            <a:r>
              <a:rPr lang="en-US" sz="2800" dirty="0">
                <a:solidFill>
                  <a:srgbClr val="5C4E63"/>
                </a:solidFill>
                <a:latin typeface="Avenir Next LT Pro" panose="020B0504020202020204" pitchFamily="34" charset="0"/>
              </a:rPr>
              <a:t>Practice positioning</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7" y="2189779"/>
            <a:ext cx="2504145" cy="1815882"/>
          </a:xfrm>
          <a:prstGeom prst="rect">
            <a:avLst/>
          </a:prstGeom>
          <a:noFill/>
        </p:spPr>
        <p:txBody>
          <a:bodyPr wrap="square">
            <a:spAutoFit/>
          </a:bodyPr>
          <a:lstStyle/>
          <a:p>
            <a:pPr algn="l"/>
            <a:r>
              <a:rPr lang="en-US" sz="1400" dirty="0">
                <a:solidFill>
                  <a:srgbClr val="5C4E63"/>
                </a:solidFill>
                <a:latin typeface="Avenir Next LT Pro" panose="020B0504020202020204" pitchFamily="34" charset="0"/>
              </a:rPr>
              <a:t>Depending on their level of Mastery and what they estimate from transposability of their practice, members position their practices in the PMTM  (Practices Mastery Transposability Matrix ).</a:t>
            </a:r>
          </a:p>
        </p:txBody>
      </p:sp>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2738" y="1617468"/>
            <a:ext cx="565811" cy="565811"/>
          </a:xfrm>
          <a:prstGeom prst="rect">
            <a:avLst/>
          </a:prstGeom>
        </p:spPr>
      </p:pic>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830677" cy="369332"/>
          </a:xfrm>
          <a:prstGeom prst="rect">
            <a:avLst/>
          </a:prstGeom>
          <a:noFill/>
        </p:spPr>
        <p:txBody>
          <a:bodyPr wrap="none" rtlCol="0">
            <a:spAutoFit/>
          </a:bodyPr>
          <a:lstStyle/>
          <a:p>
            <a:r>
              <a:rPr lang="en-US" dirty="0"/>
              <a:t>25 min</a:t>
            </a:r>
          </a:p>
        </p:txBody>
      </p:sp>
      <p:sp>
        <p:nvSpPr>
          <p:cNvPr id="28" name="Rettangolo 27">
            <a:extLst>
              <a:ext uri="{FF2B5EF4-FFF2-40B4-BE49-F238E27FC236}">
                <a16:creationId xmlns:a16="http://schemas.microsoft.com/office/drawing/2014/main" id="{70ACF53A-D68A-2459-3E56-2F8F17BC9A57}"/>
              </a:ext>
            </a:extLst>
          </p:cNvPr>
          <p:cNvSpPr/>
          <p:nvPr/>
        </p:nvSpPr>
        <p:spPr>
          <a:xfrm>
            <a:off x="7815072" y="396450"/>
            <a:ext cx="1147409" cy="591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Onboarding a new member in the team</a:t>
            </a:r>
          </a:p>
        </p:txBody>
      </p:sp>
      <p:sp>
        <p:nvSpPr>
          <p:cNvPr id="9" name="Rettangolo 8">
            <a:extLst>
              <a:ext uri="{FF2B5EF4-FFF2-40B4-BE49-F238E27FC236}">
                <a16:creationId xmlns:a16="http://schemas.microsoft.com/office/drawing/2014/main" id="{596FA907-518F-3A93-BF3B-C652F6B6E7B2}"/>
              </a:ext>
            </a:extLst>
          </p:cNvPr>
          <p:cNvSpPr/>
          <p:nvPr/>
        </p:nvSpPr>
        <p:spPr>
          <a:xfrm>
            <a:off x="10314077" y="2759172"/>
            <a:ext cx="1104975" cy="4693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Organize a Welcome tour</a:t>
            </a:r>
          </a:p>
          <a:p>
            <a:pPr algn="r"/>
            <a:r>
              <a:rPr lang="en-US" sz="900" dirty="0">
                <a:solidFill>
                  <a:schemeClr val="tx1"/>
                </a:solidFill>
              </a:rPr>
              <a:t>Alice</a:t>
            </a:r>
          </a:p>
        </p:txBody>
      </p:sp>
      <p:sp>
        <p:nvSpPr>
          <p:cNvPr id="10" name="Rettangolo 9">
            <a:extLst>
              <a:ext uri="{FF2B5EF4-FFF2-40B4-BE49-F238E27FC236}">
                <a16:creationId xmlns:a16="http://schemas.microsoft.com/office/drawing/2014/main" id="{5388066D-562E-7195-AA34-266FFD715890}"/>
              </a:ext>
            </a:extLst>
          </p:cNvPr>
          <p:cNvSpPr/>
          <p:nvPr/>
        </p:nvSpPr>
        <p:spPr>
          <a:xfrm>
            <a:off x="8646376" y="1781160"/>
            <a:ext cx="1104975" cy="4693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Use an onboarding book </a:t>
            </a:r>
          </a:p>
          <a:p>
            <a:pPr algn="r"/>
            <a:r>
              <a:rPr lang="en-US" sz="900" dirty="0">
                <a:solidFill>
                  <a:schemeClr val="tx1"/>
                </a:solidFill>
              </a:rPr>
              <a:t>Alice</a:t>
            </a:r>
          </a:p>
        </p:txBody>
      </p:sp>
      <p:sp>
        <p:nvSpPr>
          <p:cNvPr id="24" name="Rettangolo 23">
            <a:extLst>
              <a:ext uri="{FF2B5EF4-FFF2-40B4-BE49-F238E27FC236}">
                <a16:creationId xmlns:a16="http://schemas.microsoft.com/office/drawing/2014/main" id="{6F01BE5C-19F5-28FD-6021-987EB022488A}"/>
              </a:ext>
            </a:extLst>
          </p:cNvPr>
          <p:cNvSpPr/>
          <p:nvPr/>
        </p:nvSpPr>
        <p:spPr>
          <a:xfrm>
            <a:off x="6572997" y="1665709"/>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One-on-one meeting with all members</a:t>
            </a:r>
          </a:p>
          <a:p>
            <a:pPr algn="r"/>
            <a:r>
              <a:rPr lang="en-US" sz="900" dirty="0">
                <a:solidFill>
                  <a:schemeClr val="tx1"/>
                </a:solidFill>
              </a:rPr>
              <a:t>Bob</a:t>
            </a:r>
          </a:p>
        </p:txBody>
      </p:sp>
      <p:sp>
        <p:nvSpPr>
          <p:cNvPr id="31" name="Rettangolo 30">
            <a:extLst>
              <a:ext uri="{FF2B5EF4-FFF2-40B4-BE49-F238E27FC236}">
                <a16:creationId xmlns:a16="http://schemas.microsoft.com/office/drawing/2014/main" id="{CE2F7BBB-1815-1302-5309-3CDC84A4E707}"/>
              </a:ext>
            </a:extLst>
          </p:cNvPr>
          <p:cNvSpPr/>
          <p:nvPr/>
        </p:nvSpPr>
        <p:spPr>
          <a:xfrm>
            <a:off x="5375226" y="4091202"/>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must organize self-presentation</a:t>
            </a:r>
          </a:p>
          <a:p>
            <a:pPr algn="r"/>
            <a:r>
              <a:rPr lang="en-US" sz="900" dirty="0">
                <a:solidFill>
                  <a:schemeClr val="tx1"/>
                </a:solidFill>
              </a:rPr>
              <a:t>Bob</a:t>
            </a:r>
          </a:p>
        </p:txBody>
      </p:sp>
      <p:sp>
        <p:nvSpPr>
          <p:cNvPr id="32" name="Rettangolo 31">
            <a:extLst>
              <a:ext uri="{FF2B5EF4-FFF2-40B4-BE49-F238E27FC236}">
                <a16:creationId xmlns:a16="http://schemas.microsoft.com/office/drawing/2014/main" id="{A96148EA-D3B9-FEA1-3A58-4922AC8A0F3A}"/>
              </a:ext>
            </a:extLst>
          </p:cNvPr>
          <p:cNvSpPr/>
          <p:nvPr/>
        </p:nvSpPr>
        <p:spPr>
          <a:xfrm>
            <a:off x="6835417" y="2724496"/>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must organize self-presentation</a:t>
            </a:r>
          </a:p>
          <a:p>
            <a:pPr algn="r"/>
            <a:r>
              <a:rPr lang="en-US" sz="900" dirty="0">
                <a:solidFill>
                  <a:schemeClr val="tx1"/>
                </a:solidFill>
              </a:rPr>
              <a:t>Charlotte</a:t>
            </a:r>
          </a:p>
        </p:txBody>
      </p:sp>
      <p:sp>
        <p:nvSpPr>
          <p:cNvPr id="33" name="Rettangolo 32">
            <a:extLst>
              <a:ext uri="{FF2B5EF4-FFF2-40B4-BE49-F238E27FC236}">
                <a16:creationId xmlns:a16="http://schemas.microsoft.com/office/drawing/2014/main" id="{E35B713F-FD20-37C0-3B47-4A865FD084CB}"/>
              </a:ext>
            </a:extLst>
          </p:cNvPr>
          <p:cNvSpPr/>
          <p:nvPr/>
        </p:nvSpPr>
        <p:spPr>
          <a:xfrm>
            <a:off x="10314076" y="1781160"/>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cheat sheet</a:t>
            </a:r>
          </a:p>
          <a:p>
            <a:pPr algn="r"/>
            <a:r>
              <a:rPr lang="en-US" sz="900" dirty="0">
                <a:solidFill>
                  <a:schemeClr val="tx1"/>
                </a:solidFill>
              </a:rPr>
              <a:t>Charlotte</a:t>
            </a:r>
          </a:p>
        </p:txBody>
      </p:sp>
      <p:sp>
        <p:nvSpPr>
          <p:cNvPr id="34" name="Rettangolo 33">
            <a:extLst>
              <a:ext uri="{FF2B5EF4-FFF2-40B4-BE49-F238E27FC236}">
                <a16:creationId xmlns:a16="http://schemas.microsoft.com/office/drawing/2014/main" id="{E557E704-9DEE-970F-2811-2CF166F023F2}"/>
              </a:ext>
            </a:extLst>
          </p:cNvPr>
          <p:cNvSpPr/>
          <p:nvPr/>
        </p:nvSpPr>
        <p:spPr>
          <a:xfrm>
            <a:off x="10314076" y="3291366"/>
            <a:ext cx="1104975" cy="4693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Short meetings with all the hierarchy</a:t>
            </a:r>
          </a:p>
          <a:p>
            <a:pPr algn="r"/>
            <a:r>
              <a:rPr lang="en-US" sz="900" dirty="0">
                <a:solidFill>
                  <a:schemeClr val="tx1"/>
                </a:solidFill>
              </a:rPr>
              <a:t>Dick</a:t>
            </a:r>
          </a:p>
        </p:txBody>
      </p:sp>
      <p:sp>
        <p:nvSpPr>
          <p:cNvPr id="35" name="Rettangolo 34">
            <a:extLst>
              <a:ext uri="{FF2B5EF4-FFF2-40B4-BE49-F238E27FC236}">
                <a16:creationId xmlns:a16="http://schemas.microsoft.com/office/drawing/2014/main" id="{19F2799B-A4E6-C144-D9B7-0B38899814BB}"/>
              </a:ext>
            </a:extLst>
          </p:cNvPr>
          <p:cNvSpPr/>
          <p:nvPr/>
        </p:nvSpPr>
        <p:spPr>
          <a:xfrm>
            <a:off x="6920588" y="3621874"/>
            <a:ext cx="1104975" cy="4693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Technical tests</a:t>
            </a:r>
          </a:p>
          <a:p>
            <a:pPr algn="r"/>
            <a:r>
              <a:rPr lang="en-US" sz="900" dirty="0">
                <a:solidFill>
                  <a:schemeClr val="tx1"/>
                </a:solidFill>
              </a:rPr>
              <a:t>Dick</a:t>
            </a:r>
          </a:p>
        </p:txBody>
      </p:sp>
      <p:sp>
        <p:nvSpPr>
          <p:cNvPr id="36" name="Rettangolo 35">
            <a:extLst>
              <a:ext uri="{FF2B5EF4-FFF2-40B4-BE49-F238E27FC236}">
                <a16:creationId xmlns:a16="http://schemas.microsoft.com/office/drawing/2014/main" id="{52B0BD95-1A7D-C9F7-0C0B-B74A5E87838F}"/>
              </a:ext>
            </a:extLst>
          </p:cNvPr>
          <p:cNvSpPr/>
          <p:nvPr/>
        </p:nvSpPr>
        <p:spPr>
          <a:xfrm>
            <a:off x="5302074" y="4981632"/>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Use an onboarding book</a:t>
            </a:r>
          </a:p>
          <a:p>
            <a:pPr algn="r"/>
            <a:r>
              <a:rPr lang="en-US" sz="900" dirty="0">
                <a:solidFill>
                  <a:schemeClr val="tx1"/>
                </a:solidFill>
              </a:rPr>
              <a:t>Bob</a:t>
            </a:r>
          </a:p>
        </p:txBody>
      </p:sp>
      <p:sp>
        <p:nvSpPr>
          <p:cNvPr id="37" name="Rettangolo 36">
            <a:extLst>
              <a:ext uri="{FF2B5EF4-FFF2-40B4-BE49-F238E27FC236}">
                <a16:creationId xmlns:a16="http://schemas.microsoft.com/office/drawing/2014/main" id="{1EB4CF6A-E367-819F-DA4B-A8EC753F8F5E}"/>
              </a:ext>
            </a:extLst>
          </p:cNvPr>
          <p:cNvSpPr/>
          <p:nvPr/>
        </p:nvSpPr>
        <p:spPr>
          <a:xfrm>
            <a:off x="7067933" y="4826202"/>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Welcoming Party</a:t>
            </a:r>
          </a:p>
          <a:p>
            <a:pPr algn="r"/>
            <a:r>
              <a:rPr lang="en-US" sz="900" dirty="0">
                <a:solidFill>
                  <a:schemeClr val="tx1"/>
                </a:solidFill>
              </a:rPr>
              <a:t>Charlotte</a:t>
            </a:r>
          </a:p>
        </p:txBody>
      </p:sp>
    </p:spTree>
    <p:extLst>
      <p:ext uri="{BB962C8B-B14F-4D97-AF65-F5344CB8AC3E}">
        <p14:creationId xmlns:p14="http://schemas.microsoft.com/office/powerpoint/2010/main" val="357382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egnaposto contenuto 4">
            <a:extLst>
              <a:ext uri="{FF2B5EF4-FFF2-40B4-BE49-F238E27FC236}">
                <a16:creationId xmlns:a16="http://schemas.microsoft.com/office/drawing/2014/main" id="{424F5395-24C5-4054-5E87-1BBE3E757974}"/>
              </a:ext>
            </a:extLst>
          </p:cNvPr>
          <p:cNvGraphicFramePr>
            <a:graphicFrameLocks/>
          </p:cNvGraphicFramePr>
          <p:nvPr/>
        </p:nvGraphicFramePr>
        <p:xfrm>
          <a:off x="3264408" y="1520168"/>
          <a:ext cx="8434753" cy="4972070"/>
        </p:xfrm>
        <a:graphic>
          <a:graphicData uri="http://schemas.openxmlformats.org/drawingml/2006/table">
            <a:tbl>
              <a:tblPr firstCol="1" bandRow="1">
                <a:tableStyleId>{5C22544A-7EE6-4342-B048-85BDC9FD1C3A}</a:tableStyleId>
              </a:tblPr>
              <a:tblGrid>
                <a:gridCol w="1771134">
                  <a:extLst>
                    <a:ext uri="{9D8B030D-6E8A-4147-A177-3AD203B41FA5}">
                      <a16:colId xmlns:a16="http://schemas.microsoft.com/office/drawing/2014/main" val="111057479"/>
                    </a:ext>
                  </a:extLst>
                </a:gridCol>
                <a:gridCol w="1766361">
                  <a:extLst>
                    <a:ext uri="{9D8B030D-6E8A-4147-A177-3AD203B41FA5}">
                      <a16:colId xmlns:a16="http://schemas.microsoft.com/office/drawing/2014/main" val="1126235631"/>
                    </a:ext>
                  </a:extLst>
                </a:gridCol>
                <a:gridCol w="1646401">
                  <a:extLst>
                    <a:ext uri="{9D8B030D-6E8A-4147-A177-3AD203B41FA5}">
                      <a16:colId xmlns:a16="http://schemas.microsoft.com/office/drawing/2014/main" val="4199794356"/>
                    </a:ext>
                  </a:extLst>
                </a:gridCol>
                <a:gridCol w="1511539">
                  <a:extLst>
                    <a:ext uri="{9D8B030D-6E8A-4147-A177-3AD203B41FA5}">
                      <a16:colId xmlns:a16="http://schemas.microsoft.com/office/drawing/2014/main" val="2753552203"/>
                    </a:ext>
                  </a:extLst>
                </a:gridCol>
                <a:gridCol w="1739318">
                  <a:extLst>
                    <a:ext uri="{9D8B030D-6E8A-4147-A177-3AD203B41FA5}">
                      <a16:colId xmlns:a16="http://schemas.microsoft.com/office/drawing/2014/main" val="3385127919"/>
                    </a:ext>
                  </a:extLst>
                </a:gridCol>
              </a:tblGrid>
              <a:tr h="980101">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gridSpan="4">
                  <a:txBody>
                    <a:bodyPr/>
                    <a:lstStyle/>
                    <a:p>
                      <a:pPr algn="ctr"/>
                      <a:endParaRPr lang="en-US" sz="1400" i="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1379930">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gridSpan="4"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815969">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4"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tcPr>
                </a:tc>
                <a:tc hMerge="1" v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815969">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980101">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5 : </a:t>
            </a:r>
            <a:r>
              <a:rPr lang="en-US" sz="2800" dirty="0">
                <a:solidFill>
                  <a:srgbClr val="5C4E63"/>
                </a:solidFill>
                <a:latin typeface="Avenir Next LT Pro" panose="020B0504020202020204" pitchFamily="34" charset="0"/>
              </a:rPr>
              <a:t>Practice selection</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8" y="2189779"/>
            <a:ext cx="1916712" cy="738664"/>
          </a:xfrm>
          <a:prstGeom prst="rect">
            <a:avLst/>
          </a:prstGeom>
          <a:noFill/>
        </p:spPr>
        <p:txBody>
          <a:bodyPr wrap="square">
            <a:spAutoFit/>
          </a:bodyPr>
          <a:lstStyle/>
          <a:p>
            <a:pPr algn="l"/>
            <a:r>
              <a:rPr lang="en-US" sz="1400" dirty="0">
                <a:solidFill>
                  <a:srgbClr val="5C4E63"/>
                </a:solidFill>
                <a:latin typeface="Avenir Next LT Pro" panose="020B0504020202020204" pitchFamily="34" charset="0"/>
              </a:rPr>
              <a:t>Vote on the practice you would like to start with</a:t>
            </a:r>
          </a:p>
        </p:txBody>
      </p:sp>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2738" y="1617468"/>
            <a:ext cx="565811" cy="565811"/>
          </a:xfrm>
          <a:prstGeom prst="rect">
            <a:avLst/>
          </a:prstGeom>
        </p:spPr>
      </p:pic>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713657" cy="369332"/>
          </a:xfrm>
          <a:prstGeom prst="rect">
            <a:avLst/>
          </a:prstGeom>
          <a:noFill/>
        </p:spPr>
        <p:txBody>
          <a:bodyPr wrap="none" rtlCol="0">
            <a:spAutoFit/>
          </a:bodyPr>
          <a:lstStyle/>
          <a:p>
            <a:r>
              <a:rPr lang="en-US" dirty="0"/>
              <a:t>5 min</a:t>
            </a:r>
          </a:p>
        </p:txBody>
      </p:sp>
      <p:sp>
        <p:nvSpPr>
          <p:cNvPr id="28" name="Rettangolo 27">
            <a:extLst>
              <a:ext uri="{FF2B5EF4-FFF2-40B4-BE49-F238E27FC236}">
                <a16:creationId xmlns:a16="http://schemas.microsoft.com/office/drawing/2014/main" id="{70ACF53A-D68A-2459-3E56-2F8F17BC9A57}"/>
              </a:ext>
            </a:extLst>
          </p:cNvPr>
          <p:cNvSpPr/>
          <p:nvPr/>
        </p:nvSpPr>
        <p:spPr>
          <a:xfrm>
            <a:off x="7815072" y="396450"/>
            <a:ext cx="1147409" cy="59152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Onboarding a new member in the team</a:t>
            </a:r>
          </a:p>
        </p:txBody>
      </p:sp>
      <p:sp>
        <p:nvSpPr>
          <p:cNvPr id="9" name="Rettangolo 8">
            <a:extLst>
              <a:ext uri="{FF2B5EF4-FFF2-40B4-BE49-F238E27FC236}">
                <a16:creationId xmlns:a16="http://schemas.microsoft.com/office/drawing/2014/main" id="{596FA907-518F-3A93-BF3B-C652F6B6E7B2}"/>
              </a:ext>
            </a:extLst>
          </p:cNvPr>
          <p:cNvSpPr/>
          <p:nvPr/>
        </p:nvSpPr>
        <p:spPr>
          <a:xfrm>
            <a:off x="10314077" y="2759172"/>
            <a:ext cx="1104975" cy="4693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Organize a Welcome tour</a:t>
            </a:r>
          </a:p>
          <a:p>
            <a:pPr algn="r"/>
            <a:r>
              <a:rPr lang="en-US" sz="900" dirty="0">
                <a:solidFill>
                  <a:schemeClr val="tx1"/>
                </a:solidFill>
              </a:rPr>
              <a:t>Alice</a:t>
            </a:r>
          </a:p>
        </p:txBody>
      </p:sp>
      <p:sp>
        <p:nvSpPr>
          <p:cNvPr id="10" name="Rettangolo 9">
            <a:extLst>
              <a:ext uri="{FF2B5EF4-FFF2-40B4-BE49-F238E27FC236}">
                <a16:creationId xmlns:a16="http://schemas.microsoft.com/office/drawing/2014/main" id="{5388066D-562E-7195-AA34-266FFD715890}"/>
              </a:ext>
            </a:extLst>
          </p:cNvPr>
          <p:cNvSpPr/>
          <p:nvPr/>
        </p:nvSpPr>
        <p:spPr>
          <a:xfrm>
            <a:off x="8646376" y="1781160"/>
            <a:ext cx="1104975" cy="4693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Use an onboarding book </a:t>
            </a:r>
          </a:p>
          <a:p>
            <a:pPr algn="r"/>
            <a:r>
              <a:rPr lang="en-US" sz="900" dirty="0">
                <a:solidFill>
                  <a:schemeClr val="tx1"/>
                </a:solidFill>
              </a:rPr>
              <a:t>Alice</a:t>
            </a:r>
          </a:p>
        </p:txBody>
      </p:sp>
      <p:sp>
        <p:nvSpPr>
          <p:cNvPr id="24" name="Rettangolo 23">
            <a:extLst>
              <a:ext uri="{FF2B5EF4-FFF2-40B4-BE49-F238E27FC236}">
                <a16:creationId xmlns:a16="http://schemas.microsoft.com/office/drawing/2014/main" id="{6F01BE5C-19F5-28FD-6021-987EB022488A}"/>
              </a:ext>
            </a:extLst>
          </p:cNvPr>
          <p:cNvSpPr/>
          <p:nvPr/>
        </p:nvSpPr>
        <p:spPr>
          <a:xfrm>
            <a:off x="6572997" y="1665709"/>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One-on-one meeting with all members</a:t>
            </a:r>
          </a:p>
          <a:p>
            <a:pPr algn="r"/>
            <a:r>
              <a:rPr lang="en-US" sz="900" dirty="0">
                <a:solidFill>
                  <a:schemeClr val="tx1"/>
                </a:solidFill>
              </a:rPr>
              <a:t>Bob</a:t>
            </a:r>
          </a:p>
        </p:txBody>
      </p:sp>
      <p:sp>
        <p:nvSpPr>
          <p:cNvPr id="31" name="Rettangolo 30">
            <a:extLst>
              <a:ext uri="{FF2B5EF4-FFF2-40B4-BE49-F238E27FC236}">
                <a16:creationId xmlns:a16="http://schemas.microsoft.com/office/drawing/2014/main" id="{CE2F7BBB-1815-1302-5309-3CDC84A4E707}"/>
              </a:ext>
            </a:extLst>
          </p:cNvPr>
          <p:cNvSpPr/>
          <p:nvPr/>
        </p:nvSpPr>
        <p:spPr>
          <a:xfrm>
            <a:off x="5375226" y="4091202"/>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must organize self-presentation</a:t>
            </a:r>
          </a:p>
          <a:p>
            <a:pPr algn="r"/>
            <a:r>
              <a:rPr lang="en-US" sz="900" dirty="0">
                <a:solidFill>
                  <a:schemeClr val="tx1"/>
                </a:solidFill>
              </a:rPr>
              <a:t>Bob</a:t>
            </a:r>
          </a:p>
        </p:txBody>
      </p:sp>
      <p:sp>
        <p:nvSpPr>
          <p:cNvPr id="32" name="Rettangolo 31">
            <a:extLst>
              <a:ext uri="{FF2B5EF4-FFF2-40B4-BE49-F238E27FC236}">
                <a16:creationId xmlns:a16="http://schemas.microsoft.com/office/drawing/2014/main" id="{A96148EA-D3B9-FEA1-3A58-4922AC8A0F3A}"/>
              </a:ext>
            </a:extLst>
          </p:cNvPr>
          <p:cNvSpPr/>
          <p:nvPr/>
        </p:nvSpPr>
        <p:spPr>
          <a:xfrm>
            <a:off x="6835417" y="2724496"/>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must organize self-presentation</a:t>
            </a:r>
          </a:p>
          <a:p>
            <a:pPr algn="r"/>
            <a:r>
              <a:rPr lang="en-US" sz="900" dirty="0">
                <a:solidFill>
                  <a:schemeClr val="tx1"/>
                </a:solidFill>
              </a:rPr>
              <a:t>Charlotte</a:t>
            </a:r>
          </a:p>
        </p:txBody>
      </p:sp>
      <p:sp>
        <p:nvSpPr>
          <p:cNvPr id="33" name="Rettangolo 32">
            <a:extLst>
              <a:ext uri="{FF2B5EF4-FFF2-40B4-BE49-F238E27FC236}">
                <a16:creationId xmlns:a16="http://schemas.microsoft.com/office/drawing/2014/main" id="{E35B713F-FD20-37C0-3B47-4A865FD084CB}"/>
              </a:ext>
            </a:extLst>
          </p:cNvPr>
          <p:cNvSpPr/>
          <p:nvPr/>
        </p:nvSpPr>
        <p:spPr>
          <a:xfrm>
            <a:off x="10314076" y="1781160"/>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New member cheat sheet</a:t>
            </a:r>
          </a:p>
          <a:p>
            <a:pPr algn="r"/>
            <a:r>
              <a:rPr lang="en-US" sz="900" dirty="0">
                <a:solidFill>
                  <a:schemeClr val="tx1"/>
                </a:solidFill>
              </a:rPr>
              <a:t>Charlotte</a:t>
            </a:r>
          </a:p>
        </p:txBody>
      </p:sp>
      <p:sp>
        <p:nvSpPr>
          <p:cNvPr id="34" name="Rettangolo 33">
            <a:extLst>
              <a:ext uri="{FF2B5EF4-FFF2-40B4-BE49-F238E27FC236}">
                <a16:creationId xmlns:a16="http://schemas.microsoft.com/office/drawing/2014/main" id="{E557E704-9DEE-970F-2811-2CF166F023F2}"/>
              </a:ext>
            </a:extLst>
          </p:cNvPr>
          <p:cNvSpPr/>
          <p:nvPr/>
        </p:nvSpPr>
        <p:spPr>
          <a:xfrm>
            <a:off x="10314076" y="3291366"/>
            <a:ext cx="1104975" cy="4693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Short meetings with all the hierarchy</a:t>
            </a:r>
          </a:p>
          <a:p>
            <a:pPr algn="r"/>
            <a:r>
              <a:rPr lang="en-US" sz="900" dirty="0">
                <a:solidFill>
                  <a:schemeClr val="tx1"/>
                </a:solidFill>
              </a:rPr>
              <a:t>Dick</a:t>
            </a:r>
          </a:p>
        </p:txBody>
      </p:sp>
      <p:sp>
        <p:nvSpPr>
          <p:cNvPr id="35" name="Rettangolo 34">
            <a:extLst>
              <a:ext uri="{FF2B5EF4-FFF2-40B4-BE49-F238E27FC236}">
                <a16:creationId xmlns:a16="http://schemas.microsoft.com/office/drawing/2014/main" id="{19F2799B-A4E6-C144-D9B7-0B38899814BB}"/>
              </a:ext>
            </a:extLst>
          </p:cNvPr>
          <p:cNvSpPr/>
          <p:nvPr/>
        </p:nvSpPr>
        <p:spPr>
          <a:xfrm>
            <a:off x="6920588" y="3621874"/>
            <a:ext cx="1104975" cy="4693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Technical tests</a:t>
            </a:r>
          </a:p>
          <a:p>
            <a:pPr algn="r"/>
            <a:r>
              <a:rPr lang="en-US" sz="900" dirty="0">
                <a:solidFill>
                  <a:schemeClr val="tx1"/>
                </a:solidFill>
              </a:rPr>
              <a:t>Dick</a:t>
            </a:r>
          </a:p>
        </p:txBody>
      </p:sp>
      <p:sp>
        <p:nvSpPr>
          <p:cNvPr id="36" name="Rettangolo 35">
            <a:extLst>
              <a:ext uri="{FF2B5EF4-FFF2-40B4-BE49-F238E27FC236}">
                <a16:creationId xmlns:a16="http://schemas.microsoft.com/office/drawing/2014/main" id="{52B0BD95-1A7D-C9F7-0C0B-B74A5E87838F}"/>
              </a:ext>
            </a:extLst>
          </p:cNvPr>
          <p:cNvSpPr/>
          <p:nvPr/>
        </p:nvSpPr>
        <p:spPr>
          <a:xfrm>
            <a:off x="5302074" y="4981632"/>
            <a:ext cx="1104975" cy="46932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Use an onboarding book</a:t>
            </a:r>
          </a:p>
          <a:p>
            <a:pPr algn="r"/>
            <a:r>
              <a:rPr lang="en-US" sz="900" dirty="0">
                <a:solidFill>
                  <a:schemeClr val="tx1"/>
                </a:solidFill>
              </a:rPr>
              <a:t>Bob</a:t>
            </a:r>
          </a:p>
        </p:txBody>
      </p:sp>
      <p:sp>
        <p:nvSpPr>
          <p:cNvPr id="37" name="Rettangolo 36">
            <a:extLst>
              <a:ext uri="{FF2B5EF4-FFF2-40B4-BE49-F238E27FC236}">
                <a16:creationId xmlns:a16="http://schemas.microsoft.com/office/drawing/2014/main" id="{1EB4CF6A-E367-819F-DA4B-A8EC753F8F5E}"/>
              </a:ext>
            </a:extLst>
          </p:cNvPr>
          <p:cNvSpPr/>
          <p:nvPr/>
        </p:nvSpPr>
        <p:spPr>
          <a:xfrm>
            <a:off x="7067933" y="4826202"/>
            <a:ext cx="1104975" cy="469328"/>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Welcoming Party</a:t>
            </a:r>
          </a:p>
          <a:p>
            <a:pPr algn="r"/>
            <a:r>
              <a:rPr lang="en-US" sz="900" dirty="0">
                <a:solidFill>
                  <a:schemeClr val="tx1"/>
                </a:solidFill>
              </a:rPr>
              <a:t>Charlotte</a:t>
            </a:r>
          </a:p>
        </p:txBody>
      </p:sp>
      <p:sp>
        <p:nvSpPr>
          <p:cNvPr id="4" name="Ovale 3">
            <a:extLst>
              <a:ext uri="{FF2B5EF4-FFF2-40B4-BE49-F238E27FC236}">
                <a16:creationId xmlns:a16="http://schemas.microsoft.com/office/drawing/2014/main" id="{2FD9358B-9FFA-F386-249F-8851BE74ED51}"/>
              </a:ext>
            </a:extLst>
          </p:cNvPr>
          <p:cNvSpPr/>
          <p:nvPr/>
        </p:nvSpPr>
        <p:spPr>
          <a:xfrm>
            <a:off x="6572997" y="188007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e 4">
            <a:extLst>
              <a:ext uri="{FF2B5EF4-FFF2-40B4-BE49-F238E27FC236}">
                <a16:creationId xmlns:a16="http://schemas.microsoft.com/office/drawing/2014/main" id="{2312C340-2C8A-B688-ADF9-0D24D0B6CBC1}"/>
              </a:ext>
            </a:extLst>
          </p:cNvPr>
          <p:cNvSpPr/>
          <p:nvPr/>
        </p:nvSpPr>
        <p:spPr>
          <a:xfrm>
            <a:off x="6491724" y="169988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e 6">
            <a:extLst>
              <a:ext uri="{FF2B5EF4-FFF2-40B4-BE49-F238E27FC236}">
                <a16:creationId xmlns:a16="http://schemas.microsoft.com/office/drawing/2014/main" id="{6FE1637C-3EE9-E512-4E1C-5D85C2D28A86}"/>
              </a:ext>
            </a:extLst>
          </p:cNvPr>
          <p:cNvSpPr/>
          <p:nvPr/>
        </p:nvSpPr>
        <p:spPr>
          <a:xfrm>
            <a:off x="6717972" y="1987734"/>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e 7">
            <a:extLst>
              <a:ext uri="{FF2B5EF4-FFF2-40B4-BE49-F238E27FC236}">
                <a16:creationId xmlns:a16="http://schemas.microsoft.com/office/drawing/2014/main" id="{1F64E440-8C0B-49D6-7DDA-A9F1781F6EEE}"/>
              </a:ext>
            </a:extLst>
          </p:cNvPr>
          <p:cNvSpPr/>
          <p:nvPr/>
        </p:nvSpPr>
        <p:spPr>
          <a:xfrm>
            <a:off x="6770567" y="289655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e 10">
            <a:extLst>
              <a:ext uri="{FF2B5EF4-FFF2-40B4-BE49-F238E27FC236}">
                <a16:creationId xmlns:a16="http://schemas.microsoft.com/office/drawing/2014/main" id="{C3857A0E-55CC-A4EB-50F4-DFD9824F4B20}"/>
              </a:ext>
            </a:extLst>
          </p:cNvPr>
          <p:cNvSpPr/>
          <p:nvPr/>
        </p:nvSpPr>
        <p:spPr>
          <a:xfrm>
            <a:off x="6346164" y="416332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e 11">
            <a:extLst>
              <a:ext uri="{FF2B5EF4-FFF2-40B4-BE49-F238E27FC236}">
                <a16:creationId xmlns:a16="http://schemas.microsoft.com/office/drawing/2014/main" id="{CF501FEA-DAF3-CB29-2704-B96D5A0AF4E9}"/>
              </a:ext>
            </a:extLst>
          </p:cNvPr>
          <p:cNvSpPr/>
          <p:nvPr/>
        </p:nvSpPr>
        <p:spPr>
          <a:xfrm>
            <a:off x="6962939" y="385882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e 12">
            <a:extLst>
              <a:ext uri="{FF2B5EF4-FFF2-40B4-BE49-F238E27FC236}">
                <a16:creationId xmlns:a16="http://schemas.microsoft.com/office/drawing/2014/main" id="{318C7467-1C1A-33F7-B7DC-16D123A9A892}"/>
              </a:ext>
            </a:extLst>
          </p:cNvPr>
          <p:cNvSpPr/>
          <p:nvPr/>
        </p:nvSpPr>
        <p:spPr>
          <a:xfrm>
            <a:off x="11330049" y="1892595"/>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e 13">
            <a:extLst>
              <a:ext uri="{FF2B5EF4-FFF2-40B4-BE49-F238E27FC236}">
                <a16:creationId xmlns:a16="http://schemas.microsoft.com/office/drawing/2014/main" id="{9F27675E-224B-3E96-97F5-C4F63EA600A6}"/>
              </a:ext>
            </a:extLst>
          </p:cNvPr>
          <p:cNvSpPr/>
          <p:nvPr/>
        </p:nvSpPr>
        <p:spPr>
          <a:xfrm>
            <a:off x="11359789" y="174002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e 14">
            <a:extLst>
              <a:ext uri="{FF2B5EF4-FFF2-40B4-BE49-F238E27FC236}">
                <a16:creationId xmlns:a16="http://schemas.microsoft.com/office/drawing/2014/main" id="{0456AF22-068B-D84F-C876-BB7FBCDB975E}"/>
              </a:ext>
            </a:extLst>
          </p:cNvPr>
          <p:cNvSpPr/>
          <p:nvPr/>
        </p:nvSpPr>
        <p:spPr>
          <a:xfrm>
            <a:off x="11138414" y="1617468"/>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e 15">
            <a:extLst>
              <a:ext uri="{FF2B5EF4-FFF2-40B4-BE49-F238E27FC236}">
                <a16:creationId xmlns:a16="http://schemas.microsoft.com/office/drawing/2014/main" id="{38609709-B5C0-26CA-1909-74C33B805028}"/>
              </a:ext>
            </a:extLst>
          </p:cNvPr>
          <p:cNvSpPr/>
          <p:nvPr/>
        </p:nvSpPr>
        <p:spPr>
          <a:xfrm>
            <a:off x="10872586" y="1637021"/>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BE44CD0D-B0C1-679B-B9A0-9E4D127B1414}"/>
              </a:ext>
            </a:extLst>
          </p:cNvPr>
          <p:cNvSpPr/>
          <p:nvPr/>
        </p:nvSpPr>
        <p:spPr>
          <a:xfrm>
            <a:off x="10645263" y="165552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e 17">
            <a:extLst>
              <a:ext uri="{FF2B5EF4-FFF2-40B4-BE49-F238E27FC236}">
                <a16:creationId xmlns:a16="http://schemas.microsoft.com/office/drawing/2014/main" id="{627FF99E-1244-59A1-5A21-9A9267A60D54}"/>
              </a:ext>
            </a:extLst>
          </p:cNvPr>
          <p:cNvSpPr/>
          <p:nvPr/>
        </p:nvSpPr>
        <p:spPr>
          <a:xfrm>
            <a:off x="10431076" y="1611736"/>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e 18">
            <a:extLst>
              <a:ext uri="{FF2B5EF4-FFF2-40B4-BE49-F238E27FC236}">
                <a16:creationId xmlns:a16="http://schemas.microsoft.com/office/drawing/2014/main" id="{8A42ABCC-4F7E-5E69-C7AA-9A255650E8D1}"/>
              </a:ext>
            </a:extLst>
          </p:cNvPr>
          <p:cNvSpPr/>
          <p:nvPr/>
        </p:nvSpPr>
        <p:spPr>
          <a:xfrm>
            <a:off x="11359789" y="209774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e 19">
            <a:extLst>
              <a:ext uri="{FF2B5EF4-FFF2-40B4-BE49-F238E27FC236}">
                <a16:creationId xmlns:a16="http://schemas.microsoft.com/office/drawing/2014/main" id="{24C6A57F-B467-A16E-1583-98EF38B820E5}"/>
              </a:ext>
            </a:extLst>
          </p:cNvPr>
          <p:cNvSpPr/>
          <p:nvPr/>
        </p:nvSpPr>
        <p:spPr>
          <a:xfrm>
            <a:off x="11510797" y="202086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e 20">
            <a:extLst>
              <a:ext uri="{FF2B5EF4-FFF2-40B4-BE49-F238E27FC236}">
                <a16:creationId xmlns:a16="http://schemas.microsoft.com/office/drawing/2014/main" id="{E4B5F47D-7828-9661-4944-8597B0D891B9}"/>
              </a:ext>
            </a:extLst>
          </p:cNvPr>
          <p:cNvSpPr/>
          <p:nvPr/>
        </p:nvSpPr>
        <p:spPr>
          <a:xfrm>
            <a:off x="11301103" y="3372442"/>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e 21">
            <a:extLst>
              <a:ext uri="{FF2B5EF4-FFF2-40B4-BE49-F238E27FC236}">
                <a16:creationId xmlns:a16="http://schemas.microsoft.com/office/drawing/2014/main" id="{0D41413C-C100-7F52-BD29-3210BB916334}"/>
              </a:ext>
            </a:extLst>
          </p:cNvPr>
          <p:cNvSpPr/>
          <p:nvPr/>
        </p:nvSpPr>
        <p:spPr>
          <a:xfrm>
            <a:off x="8080438" y="4819087"/>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e 22">
            <a:extLst>
              <a:ext uri="{FF2B5EF4-FFF2-40B4-BE49-F238E27FC236}">
                <a16:creationId xmlns:a16="http://schemas.microsoft.com/office/drawing/2014/main" id="{B53F2CD9-7870-79E2-0ED6-49975158973F}"/>
              </a:ext>
            </a:extLst>
          </p:cNvPr>
          <p:cNvSpPr/>
          <p:nvPr/>
        </p:nvSpPr>
        <p:spPr>
          <a:xfrm>
            <a:off x="7908826" y="4756200"/>
            <a:ext cx="162545" cy="16254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7388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re 1">
            <a:extLst>
              <a:ext uri="{FF2B5EF4-FFF2-40B4-BE49-F238E27FC236}">
                <a16:creationId xmlns:a16="http://schemas.microsoft.com/office/drawing/2014/main" id="{5F655389-9FF2-8EEE-EF4A-D5FBE115C687}"/>
              </a:ext>
            </a:extLst>
          </p:cNvPr>
          <p:cNvSpPr txBox="1">
            <a:spLocks/>
          </p:cNvSpPr>
          <p:nvPr/>
        </p:nvSpPr>
        <p:spPr>
          <a:xfrm>
            <a:off x="0" y="123966"/>
            <a:ext cx="12192000" cy="649931"/>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5C4E63"/>
                </a:solidFill>
                <a:latin typeface="Avenir Next LT Pro" panose="020B0504020202020204" pitchFamily="34" charset="0"/>
              </a:rPr>
              <a:t>Step 6 (Optional) : </a:t>
            </a:r>
            <a:r>
              <a:rPr lang="en-US" sz="2800" dirty="0">
                <a:solidFill>
                  <a:srgbClr val="5C4E63"/>
                </a:solidFill>
                <a:latin typeface="Avenir Next LT Pro" panose="020B0504020202020204" pitchFamily="34" charset="0"/>
              </a:rPr>
              <a:t>Define activity path for the most voted practice</a:t>
            </a:r>
          </a:p>
        </p:txBody>
      </p:sp>
      <p:sp>
        <p:nvSpPr>
          <p:cNvPr id="26" name="CasellaDiTesto 25">
            <a:extLst>
              <a:ext uri="{FF2B5EF4-FFF2-40B4-BE49-F238E27FC236}">
                <a16:creationId xmlns:a16="http://schemas.microsoft.com/office/drawing/2014/main" id="{FCAEB3E7-5D51-090F-3345-FA3752626560}"/>
              </a:ext>
            </a:extLst>
          </p:cNvPr>
          <p:cNvSpPr txBox="1"/>
          <p:nvPr/>
        </p:nvSpPr>
        <p:spPr>
          <a:xfrm>
            <a:off x="523938" y="2189779"/>
            <a:ext cx="1916712" cy="954107"/>
          </a:xfrm>
          <a:prstGeom prst="rect">
            <a:avLst/>
          </a:prstGeom>
          <a:noFill/>
        </p:spPr>
        <p:txBody>
          <a:bodyPr wrap="square">
            <a:spAutoFit/>
          </a:bodyPr>
          <a:lstStyle/>
          <a:p>
            <a:pPr algn="l"/>
            <a:r>
              <a:rPr lang="en-US" sz="1400" dirty="0">
                <a:solidFill>
                  <a:srgbClr val="5C4E63"/>
                </a:solidFill>
                <a:latin typeface="Avenir Next LT Pro" panose="020B0504020202020204" pitchFamily="34" charset="0"/>
              </a:rPr>
              <a:t>Imagine activities that you would do for the most voted practice</a:t>
            </a:r>
          </a:p>
        </p:txBody>
      </p:sp>
      <p:pic>
        <p:nvPicPr>
          <p:cNvPr id="30" name="Elemento grafico 29" descr="Badge 1 con riempimento a tinta unita">
            <a:extLst>
              <a:ext uri="{FF2B5EF4-FFF2-40B4-BE49-F238E27FC236}">
                <a16:creationId xmlns:a16="http://schemas.microsoft.com/office/drawing/2014/main" id="{239049C1-2790-8821-E532-F0A33A0226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2738" y="1617468"/>
            <a:ext cx="565811" cy="565811"/>
          </a:xfrm>
          <a:prstGeom prst="rect">
            <a:avLst/>
          </a:prstGeom>
        </p:spPr>
      </p:pic>
      <p:pic>
        <p:nvPicPr>
          <p:cNvPr id="2" name="Elemento grafico 1" descr="Cronometro 25% contorno">
            <a:extLst>
              <a:ext uri="{FF2B5EF4-FFF2-40B4-BE49-F238E27FC236}">
                <a16:creationId xmlns:a16="http://schemas.microsoft.com/office/drawing/2014/main" id="{4A41CA3B-4B6C-3D64-8BB2-44B1141F4F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219687" y="0"/>
            <a:ext cx="914400" cy="914400"/>
          </a:xfrm>
          <a:prstGeom prst="rect">
            <a:avLst/>
          </a:prstGeom>
        </p:spPr>
      </p:pic>
      <p:sp>
        <p:nvSpPr>
          <p:cNvPr id="3" name="CasellaDiTesto 2">
            <a:extLst>
              <a:ext uri="{FF2B5EF4-FFF2-40B4-BE49-F238E27FC236}">
                <a16:creationId xmlns:a16="http://schemas.microsoft.com/office/drawing/2014/main" id="{A9E34C22-B506-3D85-F08D-04E62984ED3A}"/>
              </a:ext>
            </a:extLst>
          </p:cNvPr>
          <p:cNvSpPr txBox="1"/>
          <p:nvPr/>
        </p:nvSpPr>
        <p:spPr>
          <a:xfrm>
            <a:off x="11303410" y="729734"/>
            <a:ext cx="830677" cy="369332"/>
          </a:xfrm>
          <a:prstGeom prst="rect">
            <a:avLst/>
          </a:prstGeom>
          <a:noFill/>
        </p:spPr>
        <p:txBody>
          <a:bodyPr wrap="none" rtlCol="0">
            <a:spAutoFit/>
          </a:bodyPr>
          <a:lstStyle/>
          <a:p>
            <a:r>
              <a:rPr lang="en-US" dirty="0"/>
              <a:t>20 min</a:t>
            </a:r>
          </a:p>
        </p:txBody>
      </p:sp>
      <p:sp>
        <p:nvSpPr>
          <p:cNvPr id="33" name="Rettangolo 32">
            <a:extLst>
              <a:ext uri="{FF2B5EF4-FFF2-40B4-BE49-F238E27FC236}">
                <a16:creationId xmlns:a16="http://schemas.microsoft.com/office/drawing/2014/main" id="{E35B713F-FD20-37C0-3B47-4A865FD084CB}"/>
              </a:ext>
            </a:extLst>
          </p:cNvPr>
          <p:cNvSpPr/>
          <p:nvPr/>
        </p:nvSpPr>
        <p:spPr>
          <a:xfrm>
            <a:off x="2884576" y="3143886"/>
            <a:ext cx="1468349" cy="761321"/>
          </a:xfrm>
          <a:prstGeom prst="rect">
            <a:avLst/>
          </a:prstGeom>
          <a:solidFill>
            <a:srgbClr val="E2A2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New member cheat sheet</a:t>
            </a:r>
          </a:p>
          <a:p>
            <a:pPr algn="r"/>
            <a:r>
              <a:rPr lang="en-US" sz="1400" dirty="0">
                <a:solidFill>
                  <a:schemeClr val="tx1"/>
                </a:solidFill>
              </a:rPr>
              <a:t>Charlotte</a:t>
            </a:r>
          </a:p>
        </p:txBody>
      </p:sp>
      <p:sp>
        <p:nvSpPr>
          <p:cNvPr id="25" name="Rettangolo 24">
            <a:extLst>
              <a:ext uri="{FF2B5EF4-FFF2-40B4-BE49-F238E27FC236}">
                <a16:creationId xmlns:a16="http://schemas.microsoft.com/office/drawing/2014/main" id="{54DE9BA0-BC48-3966-337F-C3AF1987E9C0}"/>
              </a:ext>
            </a:extLst>
          </p:cNvPr>
          <p:cNvSpPr/>
          <p:nvPr/>
        </p:nvSpPr>
        <p:spPr>
          <a:xfrm>
            <a:off x="4884826" y="3143886"/>
            <a:ext cx="1468349" cy="76132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Idea : </a:t>
            </a:r>
          </a:p>
          <a:p>
            <a:pPr algn="ctr"/>
            <a:r>
              <a:rPr lang="en-US" sz="1400" dirty="0">
                <a:solidFill>
                  <a:schemeClr val="tx1"/>
                </a:solidFill>
              </a:rPr>
              <a:t>Presentation by Charlotte</a:t>
            </a:r>
          </a:p>
        </p:txBody>
      </p:sp>
      <p:sp>
        <p:nvSpPr>
          <p:cNvPr id="27" name="Rettangolo 26">
            <a:extLst>
              <a:ext uri="{FF2B5EF4-FFF2-40B4-BE49-F238E27FC236}">
                <a16:creationId xmlns:a16="http://schemas.microsoft.com/office/drawing/2014/main" id="{CDBA9AD9-AA80-6591-86C4-BE0CCB8462A1}"/>
              </a:ext>
            </a:extLst>
          </p:cNvPr>
          <p:cNvSpPr/>
          <p:nvPr/>
        </p:nvSpPr>
        <p:spPr>
          <a:xfrm>
            <a:off x="5715000" y="4332236"/>
            <a:ext cx="1468349" cy="76132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Idea : </a:t>
            </a:r>
          </a:p>
          <a:p>
            <a:pPr algn="ctr"/>
            <a:r>
              <a:rPr lang="en-US" sz="1400" dirty="0">
                <a:solidFill>
                  <a:schemeClr val="tx1"/>
                </a:solidFill>
              </a:rPr>
              <a:t>Share the Cheat sheet template </a:t>
            </a:r>
          </a:p>
        </p:txBody>
      </p:sp>
      <p:sp>
        <p:nvSpPr>
          <p:cNvPr id="29" name="Rettangolo 28">
            <a:extLst>
              <a:ext uri="{FF2B5EF4-FFF2-40B4-BE49-F238E27FC236}">
                <a16:creationId xmlns:a16="http://schemas.microsoft.com/office/drawing/2014/main" id="{CEA616AD-3C97-8A81-B638-38B0D66F3F0E}"/>
              </a:ext>
            </a:extLst>
          </p:cNvPr>
          <p:cNvSpPr/>
          <p:nvPr/>
        </p:nvSpPr>
        <p:spPr>
          <a:xfrm>
            <a:off x="7639050" y="4603041"/>
            <a:ext cx="2209800" cy="9810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Idea : </a:t>
            </a:r>
          </a:p>
          <a:p>
            <a:pPr algn="ctr"/>
            <a:r>
              <a:rPr lang="en-US" sz="1400" dirty="0">
                <a:solidFill>
                  <a:schemeClr val="tx1"/>
                </a:solidFill>
              </a:rPr>
              <a:t>Share the Cheat sheet uses once they are customized by members</a:t>
            </a:r>
          </a:p>
        </p:txBody>
      </p:sp>
      <p:sp>
        <p:nvSpPr>
          <p:cNvPr id="38" name="Rettangolo 37">
            <a:extLst>
              <a:ext uri="{FF2B5EF4-FFF2-40B4-BE49-F238E27FC236}">
                <a16:creationId xmlns:a16="http://schemas.microsoft.com/office/drawing/2014/main" id="{56B572FC-2B5C-FA47-99D5-81C98D77C7CB}"/>
              </a:ext>
            </a:extLst>
          </p:cNvPr>
          <p:cNvSpPr/>
          <p:nvPr/>
        </p:nvSpPr>
        <p:spPr>
          <a:xfrm>
            <a:off x="6904126" y="3143886"/>
            <a:ext cx="2209800" cy="9810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Idea : </a:t>
            </a:r>
          </a:p>
          <a:p>
            <a:pPr algn="ctr"/>
            <a:r>
              <a:rPr lang="en-US" sz="1400" dirty="0">
                <a:solidFill>
                  <a:schemeClr val="tx1"/>
                </a:solidFill>
              </a:rPr>
              <a:t>Produce a new template that can be used at the whole company level </a:t>
            </a:r>
          </a:p>
        </p:txBody>
      </p:sp>
      <p:sp>
        <p:nvSpPr>
          <p:cNvPr id="39" name="Rettangolo 38">
            <a:extLst>
              <a:ext uri="{FF2B5EF4-FFF2-40B4-BE49-F238E27FC236}">
                <a16:creationId xmlns:a16="http://schemas.microsoft.com/office/drawing/2014/main" id="{EFE39A98-48F4-7980-D689-30559CE73221}"/>
              </a:ext>
            </a:extLst>
          </p:cNvPr>
          <p:cNvSpPr/>
          <p:nvPr/>
        </p:nvSpPr>
        <p:spPr>
          <a:xfrm>
            <a:off x="7639050" y="2062551"/>
            <a:ext cx="2209800" cy="9810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Idea : </a:t>
            </a:r>
          </a:p>
          <a:p>
            <a:pPr algn="ctr"/>
            <a:r>
              <a:rPr lang="en-US" sz="1400" dirty="0">
                <a:solidFill>
                  <a:schemeClr val="tx1"/>
                </a:solidFill>
              </a:rPr>
              <a:t>Produce the operating model on how, who, when to use the cheat sheet</a:t>
            </a:r>
          </a:p>
        </p:txBody>
      </p:sp>
    </p:spTree>
    <p:extLst>
      <p:ext uri="{BB962C8B-B14F-4D97-AF65-F5344CB8AC3E}">
        <p14:creationId xmlns:p14="http://schemas.microsoft.com/office/powerpoint/2010/main" val="1768046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346386" cy="2889114"/>
          </a:xfrm>
        </p:spPr>
        <p:txBody>
          <a:bodyPr anchor="b">
            <a:normAutofit/>
          </a:bodyPr>
          <a:lstStyle/>
          <a:p>
            <a:pPr algn="l"/>
            <a:r>
              <a:rPr lang="fr-FR" sz="5400">
                <a:solidFill>
                  <a:srgbClr val="5C4E63"/>
                </a:solidFill>
                <a:latin typeface="Avenir Next LT Pro Light" panose="020B0304020202020204" pitchFamily="34" charset="0"/>
              </a:rPr>
              <a:t>Organization</a:t>
            </a:r>
          </a:p>
        </p:txBody>
      </p:sp>
      <p:pic>
        <p:nvPicPr>
          <p:cNvPr id="5" name="Image 4" descr="Personnes faisant un puzzle">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993499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160443" y="1372769"/>
            <a:ext cx="2832018" cy="592712"/>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🎓Instructional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160443" y="1951975"/>
            <a:ext cx="2832018" cy="1690823"/>
          </a:xfrm>
          <a:prstGeom prst="rect">
            <a:avLst/>
          </a:prstGeom>
          <a:solidFill>
            <a:srgbClr val="E5E1E7"/>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Discover difference between best practice, promising practice, experimental practice</a:t>
            </a:r>
          </a:p>
          <a:p>
            <a:pPr marL="0" indent="0">
              <a:buFont typeface="Arial" panose="020B0604020202020204" pitchFamily="34" charset="0"/>
              <a:buNone/>
            </a:pPr>
            <a:r>
              <a:rPr lang="en-US" sz="1200" dirty="0">
                <a:latin typeface="Avenir Next LT Pro" panose="020B0504020202020204" pitchFamily="34" charset="0"/>
              </a:rPr>
              <a:t>Understand that not all practices have the same interest in sharing</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079243" y="1372769"/>
            <a:ext cx="2845965" cy="592712"/>
          </a:xfrm>
          <a:prstGeom prst="rect">
            <a:avLst/>
          </a:prstGeom>
          <a:solidFill>
            <a:srgbClr val="8E2C48"/>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chemeClr val="bg1"/>
                </a:solidFill>
                <a:latin typeface="Avenir Next LT Pro" panose="020B0504020202020204" pitchFamily="34" charset="0"/>
              </a:rPr>
              <a:t>🎯Objectives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079243" y="1951975"/>
            <a:ext cx="2845965" cy="1690823"/>
          </a:xfrm>
          <a:prstGeom prst="rect">
            <a:avLst/>
          </a:prstGeom>
          <a:solidFill>
            <a:srgbClr val="F7E5EA"/>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200" dirty="0">
                <a:latin typeface="Avenir Next LT Pro" panose="020B0504020202020204" pitchFamily="34" charset="0"/>
              </a:rPr>
              <a:t>Identify practices for most important goal of the CoP</a:t>
            </a:r>
          </a:p>
          <a:p>
            <a:pPr>
              <a:buFontTx/>
              <a:buChar char="-"/>
            </a:pPr>
            <a:r>
              <a:rPr lang="en-US" sz="1200" dirty="0">
                <a:latin typeface="Avenir Next LT Pro" panose="020B0504020202020204" pitchFamily="34" charset="0"/>
              </a:rPr>
              <a:t>Deliverables : </a:t>
            </a:r>
          </a:p>
          <a:p>
            <a:pPr lvl="1">
              <a:buFontTx/>
              <a:buChar char="-"/>
            </a:pPr>
            <a:r>
              <a:rPr lang="en-US" sz="1200" dirty="0">
                <a:latin typeface="Avenir Next LT Pro" panose="020B0504020202020204" pitchFamily="34" charset="0"/>
              </a:rPr>
              <a:t>mapping of members’ Practices for a given goal </a:t>
            </a:r>
          </a:p>
          <a:p>
            <a:pPr lvl="1">
              <a:buFontTx/>
              <a:buChar char="-"/>
            </a:pPr>
            <a:r>
              <a:rPr lang="en-US" sz="1200" dirty="0">
                <a:latin typeface="Avenir Next LT Pro" panose="020B0504020202020204" pitchFamily="34" charset="0"/>
              </a:rPr>
              <a:t>Ideas of activities for such practices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011990" y="1372769"/>
            <a:ext cx="2832018" cy="592712"/>
          </a:xfrm>
          <a:prstGeom prst="rect">
            <a:avLst/>
          </a:prstGeom>
          <a:solidFill>
            <a:srgbClr val="68B497"/>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011990" y="1951975"/>
            <a:ext cx="2832018" cy="1690823"/>
          </a:xfrm>
          <a:prstGeom prst="rect">
            <a:avLst/>
          </a:prstGeom>
          <a:solidFill>
            <a:srgbClr val="CFE7DE"/>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200" dirty="0">
                <a:latin typeface="Avenir Next LT Pro" panose="020B0504020202020204" pitchFamily="34" charset="0"/>
              </a:rPr>
              <a:t>Members of a same Community of Practice</a:t>
            </a:r>
          </a:p>
          <a:p>
            <a:pPr>
              <a:buFontTx/>
              <a:buChar char="-"/>
            </a:pPr>
            <a:r>
              <a:rPr lang="en-US" sz="1200" dirty="0">
                <a:latin typeface="Avenir Next LT Pro" panose="020B0504020202020204" pitchFamily="34" charset="0"/>
              </a:rPr>
              <a:t>Min : 5, max : 25</a:t>
            </a:r>
          </a:p>
          <a:p>
            <a:pPr>
              <a:buFontTx/>
              <a:buChar char="-"/>
            </a:pPr>
            <a:r>
              <a:rPr lang="en-US" sz="1200" dirty="0">
                <a:latin typeface="Avenir Next LT Pro" panose="020B0504020202020204" pitchFamily="34" charset="0"/>
              </a:rPr>
              <a:t>Pre-requisite : Members should have an idea of who the other members are, in order to assess transposability</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241643" y="1372769"/>
            <a:ext cx="2832018" cy="592712"/>
          </a:xfrm>
          <a:prstGeom prst="rect">
            <a:avLst/>
          </a:prstGeom>
          <a:solidFill>
            <a:srgbClr val="34657F"/>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241643" y="1951975"/>
            <a:ext cx="2832018" cy="1690823"/>
          </a:xfrm>
          <a:prstGeom prst="rect">
            <a:avLst/>
          </a:prstGeom>
          <a:solidFill>
            <a:srgbClr val="D3E4ED"/>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Community of Practice has prioritized learning goals, but does not know what or how to turn ambitions of learning into reality.</a:t>
            </a:r>
          </a:p>
          <a:p>
            <a:pPr marL="0" indent="0">
              <a:buNone/>
            </a:pPr>
            <a:r>
              <a:rPr lang="en-US" sz="1200" dirty="0">
                <a:latin typeface="Avenir Next LT Pro" panose="020B0504020202020204" pitchFamily="34" charset="0"/>
              </a:rPr>
              <a:t>Members decide to use this workshop to identify what should be started next and let members agree on practice targeting.</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160443" y="3807614"/>
            <a:ext cx="2832018" cy="592712"/>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160443" y="4386820"/>
            <a:ext cx="2832018" cy="1690823"/>
          </a:xfrm>
          <a:prstGeom prst="rect">
            <a:avLst/>
          </a:prstGeom>
          <a:solidFill>
            <a:srgbClr val="E5E1E7"/>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200" dirty="0">
                <a:latin typeface="Avenir Next LT Pro" panose="020B0504020202020204" pitchFamily="34" charset="0"/>
              </a:rPr>
              <a:t>Roadmap of a Community of practice</a:t>
            </a:r>
          </a:p>
          <a:p>
            <a:pPr>
              <a:buFontTx/>
              <a:buChar char="-"/>
            </a:pPr>
            <a:r>
              <a:rPr lang="en-US" sz="1200" dirty="0">
                <a:latin typeface="Avenir Next LT Pro" panose="020B0504020202020204" pitchFamily="34" charset="0"/>
              </a:rPr>
              <a:t>How to create mutual acquaintance and knowledge of others’ contexts</a:t>
            </a:r>
          </a:p>
          <a:p>
            <a:pPr>
              <a:buFontTx/>
              <a:buChar char="-"/>
            </a:pPr>
            <a:endParaRPr lang="en-US" sz="1200" dirty="0">
              <a:latin typeface="Avenir Next LT Pro" panose="020B0504020202020204" pitchFamily="34" charset="0"/>
            </a:endParaRP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079243" y="3807614"/>
            <a:ext cx="2845965" cy="592712"/>
          </a:xfrm>
          <a:prstGeom prst="rect">
            <a:avLst/>
          </a:prstGeom>
          <a:solidFill>
            <a:srgbClr val="8E2C48"/>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chemeClr val="bg1"/>
                </a:solidFill>
                <a:latin typeface="Avenir Next LT Pro" panose="020B0504020202020204" pitchFamily="34" charset="0"/>
              </a:rPr>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079243" y="4386820"/>
            <a:ext cx="2845965" cy="1690823"/>
          </a:xfrm>
          <a:prstGeom prst="rect">
            <a:avLst/>
          </a:prstGeom>
          <a:solidFill>
            <a:srgbClr val="F7E5EA"/>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latin typeface="Avenir Next LT Pro" panose="020B0504020202020204" pitchFamily="34" charset="0"/>
              </a:rPr>
              <a:t>75 minutes (including optional) or 55 minutes without optional part</a:t>
            </a:r>
          </a:p>
          <a:p>
            <a:pPr marL="0" indent="0">
              <a:buFont typeface="Arial" panose="020B0604020202020204" pitchFamily="34" charset="0"/>
              <a:buNone/>
            </a:pPr>
            <a:r>
              <a:rPr lang="en-US" sz="1200" dirty="0">
                <a:latin typeface="Avenir Next LT Pro" panose="020B0504020202020204" pitchFamily="34" charset="0"/>
              </a:rPr>
              <a:t>Can happen in real or remote</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011990" y="3807614"/>
            <a:ext cx="2832018" cy="592712"/>
          </a:xfrm>
          <a:prstGeom prst="rect">
            <a:avLst/>
          </a:prstGeom>
          <a:solidFill>
            <a:srgbClr val="68B497"/>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💡Ideas for complements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011990" y="4386820"/>
            <a:ext cx="2832018" cy="1690823"/>
          </a:xfrm>
          <a:prstGeom prst="rect">
            <a:avLst/>
          </a:prstGeom>
          <a:solidFill>
            <a:srgbClr val="CFE7DE"/>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1200" dirty="0">
                <a:latin typeface="Avenir Next LT Pro" panose="020B0504020202020204" pitchFamily="34" charset="0"/>
              </a:rPr>
              <a:t>CoP roadmap workshop</a:t>
            </a:r>
          </a:p>
          <a:p>
            <a:pPr>
              <a:buFontTx/>
              <a:buChar char="-"/>
            </a:pPr>
            <a:r>
              <a:rPr lang="en-US" sz="1200" dirty="0">
                <a:latin typeface="Avenir Next LT Pro" panose="020B0504020202020204" pitchFamily="34" charset="0"/>
              </a:rPr>
              <a:t>Topics Mapping</a:t>
            </a:r>
          </a:p>
          <a:p>
            <a:pPr>
              <a:buFontTx/>
              <a:buChar char="-"/>
            </a:pPr>
            <a:r>
              <a:rPr lang="en-US" sz="1200" dirty="0">
                <a:latin typeface="Avenir Next LT Pro" panose="020B0504020202020204" pitchFamily="34" charset="0"/>
              </a:rPr>
              <a:t>Practice Template</a:t>
            </a:r>
          </a:p>
          <a:p>
            <a:pPr>
              <a:buFontTx/>
              <a:buChar char="-"/>
            </a:pPr>
            <a:r>
              <a:rPr lang="en-US" sz="1200" dirty="0">
                <a:latin typeface="Avenir Next LT Pro" panose="020B0504020202020204" pitchFamily="34" charset="0"/>
              </a:rPr>
              <a:t>PMTM Multilayer Canvas Audit</a:t>
            </a:r>
          </a:p>
          <a:p>
            <a:pPr>
              <a:buFontTx/>
              <a:buChar char="-"/>
            </a:pPr>
            <a:r>
              <a:rPr lang="en-US" sz="1200" dirty="0">
                <a:latin typeface="Avenir Next LT Pro" panose="020B0504020202020204" pitchFamily="34" charset="0"/>
              </a:rPr>
              <a:t>Mutual presentation workshops</a:t>
            </a:r>
          </a:p>
          <a:p>
            <a:pPr>
              <a:buFontTx/>
              <a:buChar char="-"/>
            </a:pPr>
            <a:endParaRPr lang="en-US" sz="1200" dirty="0">
              <a:latin typeface="Avenir Next LT Pro" panose="020B0504020202020204" pitchFamily="34" charset="0"/>
            </a:endParaRP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241643" y="3807614"/>
            <a:ext cx="2832018" cy="592712"/>
          </a:xfrm>
          <a:prstGeom prst="rect">
            <a:avLst/>
          </a:prstGeom>
          <a:solidFill>
            <a:srgbClr val="34657F"/>
          </a:solidFill>
          <a:ln>
            <a:solidFill>
              <a:schemeClr val="tx1"/>
            </a:solidFill>
          </a:ln>
        </p:spPr>
        <p:txBody>
          <a:bodyPr vert="horz" lIns="91440" tIns="45720" rIns="91440" bIns="45720" rtlCol="0" anchor="ct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solidFill>
                  <a:schemeClr val="bg1"/>
                </a:solidFill>
                <a:latin typeface="Avenir Next LT Pro" panose="020B0504020202020204" pitchFamily="34" charset="0"/>
              </a:rPr>
              <a:t>🎤Short pitch (to be copied and pasted into the descriptions)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241643" y="4386820"/>
            <a:ext cx="2832018" cy="1690823"/>
          </a:xfrm>
          <a:prstGeom prst="rect">
            <a:avLst/>
          </a:prstGeom>
          <a:solidFill>
            <a:srgbClr val="D3E4ED"/>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latin typeface="Avenir Next LT Pro" panose="020B0504020202020204" pitchFamily="34" charset="0"/>
              </a:rPr>
              <a:t>Communities of Practice use the collective power to share practices with each other and reach goals.</a:t>
            </a:r>
          </a:p>
          <a:p>
            <a:pPr marL="0" indent="0">
              <a:buNone/>
            </a:pPr>
            <a:r>
              <a:rPr lang="en-US" sz="1200" dirty="0">
                <a:latin typeface="Avenir Next LT Pro" panose="020B0504020202020204" pitchFamily="34" charset="0"/>
              </a:rPr>
              <a:t>But not all practices have the same chance of success and of transposition. Cop Goals to Practices breakdown workshop help communities maximize the chances of results and focus their actions regarding practice sharing.  </a:t>
            </a:r>
          </a:p>
        </p:txBody>
      </p:sp>
      <p:sp>
        <p:nvSpPr>
          <p:cNvPr id="5" name="Titre 1">
            <a:extLst>
              <a:ext uri="{FF2B5EF4-FFF2-40B4-BE49-F238E27FC236}">
                <a16:creationId xmlns:a16="http://schemas.microsoft.com/office/drawing/2014/main" id="{405DF38B-F655-FA06-D7D7-0FC2C69C990D}"/>
              </a:ext>
            </a:extLst>
          </p:cNvPr>
          <p:cNvSpPr txBox="1">
            <a:spLocks/>
          </p:cNvSpPr>
          <p:nvPr/>
        </p:nvSpPr>
        <p:spPr>
          <a:xfrm>
            <a:off x="0" y="0"/>
            <a:ext cx="10515600"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panose="020B0504020202020204" pitchFamily="34" charset="0"/>
              </a:rPr>
              <a:t>Overview of the workshop</a:t>
            </a:r>
          </a:p>
        </p:txBody>
      </p:sp>
    </p:spTree>
    <p:extLst>
      <p:ext uri="{BB962C8B-B14F-4D97-AF65-F5344CB8AC3E}">
        <p14:creationId xmlns:p14="http://schemas.microsoft.com/office/powerpoint/2010/main" val="471399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fr-FR" sz="5400">
                <a:solidFill>
                  <a:srgbClr val="5C4E63"/>
                </a:solidFill>
                <a:latin typeface="Avenir Next LT Pro Light" panose="020B0304020202020204" pitchFamily="34" charset="0"/>
              </a:rPr>
              <a:t>Facilitation</a:t>
            </a:r>
          </a:p>
        </p:txBody>
      </p:sp>
      <p:pic>
        <p:nvPicPr>
          <p:cNvPr id="5" name="Image 4" descr="Mégaphone rose">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4172925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3">
            <a:extLst>
              <a:ext uri="{FF2B5EF4-FFF2-40B4-BE49-F238E27FC236}">
                <a16:creationId xmlns:a16="http://schemas.microsoft.com/office/drawing/2014/main" id="{D8D04DFD-72C9-0B24-0B60-0836AB930280}"/>
              </a:ext>
            </a:extLst>
          </p:cNvPr>
          <p:cNvGraphicFramePr>
            <a:graphicFrameLocks noGrp="1"/>
          </p:cNvGraphicFramePr>
          <p:nvPr>
            <p:extLst>
              <p:ext uri="{D42A27DB-BD31-4B8C-83A1-F6EECF244321}">
                <p14:modId xmlns:p14="http://schemas.microsoft.com/office/powerpoint/2010/main" val="861612579"/>
              </p:ext>
            </p:extLst>
          </p:nvPr>
        </p:nvGraphicFramePr>
        <p:xfrm>
          <a:off x="1123151" y="2014167"/>
          <a:ext cx="10234659" cy="3835505"/>
        </p:xfrm>
        <a:graphic>
          <a:graphicData uri="http://schemas.openxmlformats.org/drawingml/2006/table">
            <a:tbl>
              <a:tblPr firstRow="1" bandRow="1">
                <a:tableStyleId>{5C22544A-7EE6-4342-B048-85BDC9FD1C3A}</a:tableStyleId>
              </a:tblPr>
              <a:tblGrid>
                <a:gridCol w="2238159">
                  <a:extLst>
                    <a:ext uri="{9D8B030D-6E8A-4147-A177-3AD203B41FA5}">
                      <a16:colId xmlns:a16="http://schemas.microsoft.com/office/drawing/2014/main" val="1893304401"/>
                    </a:ext>
                  </a:extLst>
                </a:gridCol>
                <a:gridCol w="3613212">
                  <a:extLst>
                    <a:ext uri="{9D8B030D-6E8A-4147-A177-3AD203B41FA5}">
                      <a16:colId xmlns:a16="http://schemas.microsoft.com/office/drawing/2014/main" val="2684982596"/>
                    </a:ext>
                  </a:extLst>
                </a:gridCol>
                <a:gridCol w="4383288">
                  <a:extLst>
                    <a:ext uri="{9D8B030D-6E8A-4147-A177-3AD203B41FA5}">
                      <a16:colId xmlns:a16="http://schemas.microsoft.com/office/drawing/2014/main" val="124049370"/>
                    </a:ext>
                  </a:extLst>
                </a:gridCol>
              </a:tblGrid>
              <a:tr h="452225">
                <a:tc>
                  <a:txBody>
                    <a:bodyPr/>
                    <a:lstStyle/>
                    <a:p>
                      <a:r>
                        <a:rPr lang="en-US" noProof="0"/>
                        <a:t>Preparatory action</a:t>
                      </a:r>
                    </a:p>
                  </a:txBody>
                  <a:tcPr>
                    <a:solidFill>
                      <a:srgbClr val="5C4E63"/>
                    </a:solidFill>
                  </a:tcPr>
                </a:tc>
                <a:tc>
                  <a:txBody>
                    <a:bodyPr/>
                    <a:lstStyle/>
                    <a:p>
                      <a:r>
                        <a:rPr lang="en-US" noProof="0"/>
                        <a:t>Why this action </a:t>
                      </a:r>
                    </a:p>
                  </a:txBody>
                  <a:tcPr>
                    <a:solidFill>
                      <a:srgbClr val="5C4E63"/>
                    </a:solidFill>
                  </a:tcPr>
                </a:tc>
                <a:tc>
                  <a:txBody>
                    <a:bodyPr/>
                    <a:lstStyle/>
                    <a:p>
                      <a:r>
                        <a:rPr lang="en-US" noProof="0"/>
                        <a:t>Recommendations</a:t>
                      </a:r>
                    </a:p>
                  </a:txBody>
                  <a:tcPr>
                    <a:solidFill>
                      <a:srgbClr val="5C4E63"/>
                    </a:solidFill>
                  </a:tcPr>
                </a:tc>
                <a:extLst>
                  <a:ext uri="{0D108BD9-81ED-4DB2-BD59-A6C34878D82A}">
                    <a16:rowId xmlns:a16="http://schemas.microsoft.com/office/drawing/2014/main" val="3346938663"/>
                  </a:ext>
                </a:extLst>
              </a:tr>
              <a:tr h="452225">
                <a:tc>
                  <a:txBody>
                    <a:bodyPr/>
                    <a:lstStyle/>
                    <a:p>
                      <a:r>
                        <a:rPr lang="en-US" sz="1600" noProof="0" dirty="0"/>
                        <a:t>Prepare list of goals and voting system (dot voting, etc.)</a:t>
                      </a:r>
                    </a:p>
                  </a:txBody>
                  <a:tcPr>
                    <a:solidFill>
                      <a:srgbClr val="E5E1E7"/>
                    </a:solidFill>
                  </a:tcPr>
                </a:tc>
                <a:tc>
                  <a:txBody>
                    <a:bodyPr/>
                    <a:lstStyle/>
                    <a:p>
                      <a:r>
                        <a:rPr lang="en-US" sz="1600" noProof="0" dirty="0"/>
                        <a:t>Save time for phase 2</a:t>
                      </a:r>
                    </a:p>
                  </a:txBody>
                  <a:tcPr>
                    <a:solidFill>
                      <a:srgbClr val="E5E1E7"/>
                    </a:solidFill>
                  </a:tcPr>
                </a:tc>
                <a:tc>
                  <a:txBody>
                    <a:bodyPr/>
                    <a:lstStyle/>
                    <a:p>
                      <a:r>
                        <a:rPr lang="en-US" sz="1600" noProof="0" dirty="0"/>
                        <a:t>Goals should be about professional purposes of members, not goals of the Community</a:t>
                      </a:r>
                    </a:p>
                  </a:txBody>
                  <a:tcPr>
                    <a:solidFill>
                      <a:srgbClr val="E5E1E7"/>
                    </a:solidFill>
                  </a:tcPr>
                </a:tc>
                <a:extLst>
                  <a:ext uri="{0D108BD9-81ED-4DB2-BD59-A6C34878D82A}">
                    <a16:rowId xmlns:a16="http://schemas.microsoft.com/office/drawing/2014/main" val="3204251405"/>
                  </a:ext>
                </a:extLst>
              </a:tr>
              <a:tr h="452225">
                <a:tc>
                  <a:txBody>
                    <a:bodyPr/>
                    <a:lstStyle/>
                    <a:p>
                      <a:r>
                        <a:rPr lang="en-US" sz="1600" noProof="0" dirty="0"/>
                        <a:t>Prepare writing material</a:t>
                      </a:r>
                    </a:p>
                  </a:txBody>
                  <a:tcPr>
                    <a:solidFill>
                      <a:srgbClr val="E5E1E7"/>
                    </a:solidFill>
                  </a:tcPr>
                </a:tc>
                <a:tc>
                  <a:txBody>
                    <a:bodyPr/>
                    <a:lstStyle/>
                    <a:p>
                      <a:r>
                        <a:rPr lang="en-US" sz="1600" noProof="0" dirty="0"/>
                        <a:t>Save time for phase 3</a:t>
                      </a:r>
                    </a:p>
                  </a:txBody>
                  <a:tcPr>
                    <a:solidFill>
                      <a:srgbClr val="E5E1E7"/>
                    </a:solidFill>
                  </a:tcPr>
                </a:tc>
                <a:tc>
                  <a:txBody>
                    <a:bodyPr/>
                    <a:lstStyle/>
                    <a:p>
                      <a:r>
                        <a:rPr lang="en-US" sz="1600" noProof="0" dirty="0"/>
                        <a:t>Include examples to help participants understand the difference between a goal and a practice</a:t>
                      </a:r>
                    </a:p>
                  </a:txBody>
                  <a:tcPr>
                    <a:solidFill>
                      <a:srgbClr val="E5E1E7"/>
                    </a:solidFill>
                  </a:tcPr>
                </a:tc>
                <a:extLst>
                  <a:ext uri="{0D108BD9-81ED-4DB2-BD59-A6C34878D82A}">
                    <a16:rowId xmlns:a16="http://schemas.microsoft.com/office/drawing/2014/main" val="150510008"/>
                  </a:ext>
                </a:extLst>
              </a:tr>
              <a:tr h="452225">
                <a:tc>
                  <a:txBody>
                    <a:bodyPr/>
                    <a:lstStyle/>
                    <a:p>
                      <a:r>
                        <a:rPr lang="en-US" sz="1600" noProof="0" dirty="0"/>
                        <a:t>Prepare board for the PMTM</a:t>
                      </a:r>
                    </a:p>
                  </a:txBody>
                  <a:tcPr>
                    <a:solidFill>
                      <a:srgbClr val="E5E1E7"/>
                    </a:solidFill>
                  </a:tcPr>
                </a:tc>
                <a:tc>
                  <a:txBody>
                    <a:bodyPr/>
                    <a:lstStyle/>
                    <a:p>
                      <a:r>
                        <a:rPr lang="en-US" sz="1600" noProof="0" dirty="0"/>
                        <a:t>Save time for phase 4</a:t>
                      </a:r>
                    </a:p>
                  </a:txBody>
                  <a:tcPr>
                    <a:solidFill>
                      <a:srgbClr val="E5E1E7"/>
                    </a:solidFill>
                  </a:tcPr>
                </a:tc>
                <a:tc>
                  <a:txBody>
                    <a:bodyPr/>
                    <a:lstStyle/>
                    <a:p>
                      <a:r>
                        <a:rPr lang="en-US" sz="1600" noProof="0" dirty="0"/>
                        <a:t>Include examples that you will present to explain «transposability» and «level of mastery»</a:t>
                      </a:r>
                    </a:p>
                  </a:txBody>
                  <a:tcPr>
                    <a:solidFill>
                      <a:srgbClr val="E5E1E7"/>
                    </a:solidFill>
                  </a:tcPr>
                </a:tc>
                <a:extLst>
                  <a:ext uri="{0D108BD9-81ED-4DB2-BD59-A6C34878D82A}">
                    <a16:rowId xmlns:a16="http://schemas.microsoft.com/office/drawing/2014/main" val="2359730049"/>
                  </a:ext>
                </a:extLst>
              </a:tr>
              <a:tr h="452225">
                <a:tc>
                  <a:txBody>
                    <a:bodyPr/>
                    <a:lstStyle/>
                    <a:p>
                      <a:r>
                        <a:rPr lang="en-US" sz="1600" noProof="0" dirty="0"/>
                        <a:t>Prepare presentation </a:t>
                      </a:r>
                    </a:p>
                  </a:txBody>
                  <a:tcPr>
                    <a:solidFill>
                      <a:srgbClr val="E5E1E7"/>
                    </a:solidFill>
                  </a:tcPr>
                </a:tc>
                <a:tc>
                  <a:txBody>
                    <a:bodyPr/>
                    <a:lstStyle/>
                    <a:p>
                      <a:r>
                        <a:rPr lang="en-US" sz="1600" noProof="0" dirty="0"/>
                        <a:t>Save time for phase 1</a:t>
                      </a:r>
                    </a:p>
                  </a:txBody>
                  <a:tcPr>
                    <a:solidFill>
                      <a:srgbClr val="E5E1E7"/>
                    </a:solidFill>
                  </a:tcPr>
                </a:tc>
                <a:tc>
                  <a:txBody>
                    <a:bodyPr/>
                    <a:lstStyle/>
                    <a:p>
                      <a:r>
                        <a:rPr lang="en-US" sz="1600" noProof="0" dirty="0"/>
                        <a:t>If possible, adapt examples to the context of your Community </a:t>
                      </a:r>
                    </a:p>
                  </a:txBody>
                  <a:tcPr>
                    <a:solidFill>
                      <a:srgbClr val="E5E1E7"/>
                    </a:solidFill>
                  </a:tcPr>
                </a:tc>
                <a:extLst>
                  <a:ext uri="{0D108BD9-81ED-4DB2-BD59-A6C34878D82A}">
                    <a16:rowId xmlns:a16="http://schemas.microsoft.com/office/drawing/2014/main" val="1677279387"/>
                  </a:ext>
                </a:extLst>
              </a:tr>
              <a:tr h="452225">
                <a:tc>
                  <a:txBody>
                    <a:bodyPr/>
                    <a:lstStyle/>
                    <a:p>
                      <a:r>
                        <a:rPr lang="en-US" sz="1600" noProof="0" dirty="0"/>
                        <a:t>Prepare external sources of contribution (optional)</a:t>
                      </a:r>
                    </a:p>
                  </a:txBody>
                  <a:tcPr>
                    <a:solidFill>
                      <a:srgbClr val="E5E1E7"/>
                    </a:solidFill>
                  </a:tcPr>
                </a:tc>
                <a:tc>
                  <a:txBody>
                    <a:bodyPr/>
                    <a:lstStyle/>
                    <a:p>
                      <a:r>
                        <a:rPr lang="en-US" sz="1600" noProof="0" dirty="0"/>
                        <a:t>In case your Community lacks contributors, you can prepare some external content to add </a:t>
                      </a:r>
                    </a:p>
                  </a:txBody>
                  <a:tcPr>
                    <a:solidFill>
                      <a:srgbClr val="E5E1E7"/>
                    </a:solidFill>
                  </a:tcPr>
                </a:tc>
                <a:tc>
                  <a:txBody>
                    <a:bodyPr/>
                    <a:lstStyle/>
                    <a:p>
                      <a:endParaRPr lang="en-US" sz="1600" noProof="0" dirty="0"/>
                    </a:p>
                  </a:txBody>
                  <a:tcPr>
                    <a:solidFill>
                      <a:srgbClr val="E5E1E7"/>
                    </a:solidFill>
                  </a:tcPr>
                </a:tc>
                <a:extLst>
                  <a:ext uri="{0D108BD9-81ED-4DB2-BD59-A6C34878D82A}">
                    <a16:rowId xmlns:a16="http://schemas.microsoft.com/office/drawing/2014/main" val="915508669"/>
                  </a:ext>
                </a:extLst>
              </a:tr>
            </a:tbl>
          </a:graphicData>
        </a:graphic>
      </p:graphicFrame>
      <p:sp>
        <p:nvSpPr>
          <p:cNvPr id="4" name="Titre 1">
            <a:extLst>
              <a:ext uri="{FF2B5EF4-FFF2-40B4-BE49-F238E27FC236}">
                <a16:creationId xmlns:a16="http://schemas.microsoft.com/office/drawing/2014/main" id="{F1039933-E927-14D1-3ADD-DBEA708F0CE1}"/>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5C4E63"/>
                </a:solidFill>
                <a:latin typeface="Avenir Next LT Pro Light" panose="020B0304020202020204" pitchFamily="34" charset="0"/>
              </a:rPr>
              <a:t>Before the workshop</a:t>
            </a:r>
          </a:p>
        </p:txBody>
      </p:sp>
    </p:spTree>
    <p:extLst>
      <p:ext uri="{BB962C8B-B14F-4D97-AF65-F5344CB8AC3E}">
        <p14:creationId xmlns:p14="http://schemas.microsoft.com/office/powerpoint/2010/main" val="3728786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a:solidFill>
            <a:srgbClr val="8E2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359359489"/>
              </p:ext>
            </p:extLst>
          </p:nvPr>
        </p:nvGraphicFramePr>
        <p:xfrm>
          <a:off x="217648" y="1587114"/>
          <a:ext cx="10421855" cy="4350393"/>
        </p:xfrm>
        <a:graphic>
          <a:graphicData uri="http://schemas.openxmlformats.org/drawingml/2006/table">
            <a:tbl>
              <a:tblPr firstRow="1" bandRow="1">
                <a:tableStyleId>{5C22544A-7EE6-4342-B048-85BDC9FD1C3A}</a:tableStyleId>
              </a:tblPr>
              <a:tblGrid>
                <a:gridCol w="2292943">
                  <a:extLst>
                    <a:ext uri="{9D8B030D-6E8A-4147-A177-3AD203B41FA5}">
                      <a16:colId xmlns:a16="http://schemas.microsoft.com/office/drawing/2014/main" val="1302591909"/>
                    </a:ext>
                  </a:extLst>
                </a:gridCol>
                <a:gridCol w="5755585">
                  <a:extLst>
                    <a:ext uri="{9D8B030D-6E8A-4147-A177-3AD203B41FA5}">
                      <a16:colId xmlns:a16="http://schemas.microsoft.com/office/drawing/2014/main" val="1572267126"/>
                    </a:ext>
                  </a:extLst>
                </a:gridCol>
                <a:gridCol w="2373327">
                  <a:extLst>
                    <a:ext uri="{9D8B030D-6E8A-4147-A177-3AD203B41FA5}">
                      <a16:colId xmlns:a16="http://schemas.microsoft.com/office/drawing/2014/main" val="4222483745"/>
                    </a:ext>
                  </a:extLst>
                </a:gridCol>
              </a:tblGrid>
              <a:tr h="828942">
                <a:tc>
                  <a:txBody>
                    <a:bodyPr/>
                    <a:lstStyle/>
                    <a:p>
                      <a:r>
                        <a:rPr lang="en-US" sz="1400" noProof="0"/>
                        <a:t>Opening: </a:t>
                      </a:r>
                    </a:p>
                    <a:p>
                      <a:r>
                        <a:rPr lang="en-US" sz="1400" noProof="0"/>
                        <a:t>Intro</a:t>
                      </a:r>
                    </a:p>
                  </a:txBody>
                  <a:tcPr>
                    <a:solidFill>
                      <a:srgbClr val="5C4E63"/>
                    </a:solidFill>
                  </a:tcPr>
                </a:tc>
                <a:tc>
                  <a:txBody>
                    <a:bodyPr/>
                    <a:lstStyle/>
                    <a:p>
                      <a:pPr algn="ctr"/>
                      <a:r>
                        <a:rPr lang="en-US" sz="1400" noProof="0"/>
                        <a:t>Course of action</a:t>
                      </a:r>
                    </a:p>
                    <a:p>
                      <a:pPr algn="ctr"/>
                      <a:r>
                        <a:rPr lang="en-US" sz="1400" noProof="0"/>
                        <a:t>Game rules, Narrative</a:t>
                      </a:r>
                    </a:p>
                  </a:txBody>
                  <a:tcPr>
                    <a:solidFill>
                      <a:srgbClr val="5C4E63"/>
                    </a:solidFill>
                  </a:tcPr>
                </a:tc>
                <a:tc>
                  <a:txBody>
                    <a:bodyPr/>
                    <a:lstStyle/>
                    <a:p>
                      <a:r>
                        <a:rPr lang="en-US" sz="1400" noProof="0" dirty="0"/>
                        <a:t>Closing:</a:t>
                      </a:r>
                    </a:p>
                    <a:p>
                      <a:r>
                        <a:rPr lang="en-US" sz="1400" noProof="0" dirty="0"/>
                        <a:t>Debriefing, Thanks...</a:t>
                      </a:r>
                    </a:p>
                  </a:txBody>
                  <a:tcPr>
                    <a:solidFill>
                      <a:srgbClr val="5C4E63"/>
                    </a:solidFill>
                  </a:tcPr>
                </a:tc>
                <a:extLst>
                  <a:ext uri="{0D108BD9-81ED-4DB2-BD59-A6C34878D82A}">
                    <a16:rowId xmlns:a16="http://schemas.microsoft.com/office/drawing/2014/main" val="1724558119"/>
                  </a:ext>
                </a:extLst>
              </a:tr>
              <a:tr h="3521451">
                <a:tc>
                  <a:txBody>
                    <a:bodyPr/>
                    <a:lstStyle/>
                    <a:p>
                      <a:r>
                        <a:rPr lang="en-US" sz="1200" b="1" noProof="0" dirty="0">
                          <a:solidFill>
                            <a:srgbClr val="8E2C48"/>
                          </a:solidFill>
                        </a:rPr>
                        <a:t>Step 1 - 10 minutes.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Explanation of the purpose of the workshop (pain points, mastery level, transposability, adapted activities on the PMTM…) </a:t>
                      </a:r>
                    </a:p>
                  </a:txBody>
                  <a:tcPr>
                    <a:solidFill>
                      <a:srgbClr val="BFBFBF"/>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noProof="0" dirty="0">
                          <a:solidFill>
                            <a:srgbClr val="8E2C48"/>
                          </a:solidFill>
                        </a:rPr>
                        <a:t>Step 2 – 5 minutes : vote for the top goal</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Each participant votes on goals to extract the top goal on which practices will be identified</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noProof="0" dirty="0">
                          <a:solidFill>
                            <a:srgbClr val="8E2C48"/>
                          </a:solidFill>
                        </a:rPr>
                        <a:t>Step 3 – 5 minutes : write practices about the goal</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Every participant on their own side, writes down practices (if any) related to the goal</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noProof="0" dirty="0">
                          <a:solidFill>
                            <a:srgbClr val="8E2C48"/>
                          </a:solidFill>
                        </a:rPr>
                        <a:t>Step 4 – 25 minutes : position practices and short sharing about experience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All together, one participant and one practice at a time (to increase interaction). Participants place their practice on the PMTM. When a participant adds his/her practice on the PMTM, he/she can shortly share (10-30 seconds talk) about what it is, and why it is there on the PMTM. For example : “I have been doing {Practice} for years in {context}”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noProof="0" dirty="0">
                          <a:solidFill>
                            <a:srgbClr val="8E2C48"/>
                          </a:solidFill>
                        </a:rPr>
                        <a:t>Step 5 – 5 minutes : Selection of top practices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Collectively select the practices you want to start with</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noProof="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noProof="0" dirty="0">
                          <a:solidFill>
                            <a:srgbClr val="8E2C48"/>
                          </a:solidFill>
                        </a:rPr>
                        <a:t>Step 6 (optional) – 20 minutes : Imagine activities for practices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noProof="0" dirty="0"/>
                        <a:t>For the first practices, imagine activities for the practice. </a:t>
                      </a:r>
                    </a:p>
                  </a:txBody>
                  <a:tcPr>
                    <a:solidFill>
                      <a:srgbClr val="BFBFBF"/>
                    </a:solidFill>
                  </a:tcPr>
                </a:tc>
                <a:tc>
                  <a:txBody>
                    <a:bodyPr/>
                    <a:lstStyle/>
                    <a:p>
                      <a:r>
                        <a:rPr lang="en-US" sz="1200" b="1" noProof="0" dirty="0">
                          <a:solidFill>
                            <a:srgbClr val="8E2C48"/>
                          </a:solidFill>
                        </a:rPr>
                        <a:t>5 minutes</a:t>
                      </a:r>
                    </a:p>
                    <a:p>
                      <a:r>
                        <a:rPr lang="en-US" sz="1200" b="0" noProof="0" dirty="0">
                          <a:solidFill>
                            <a:schemeClr val="tx1"/>
                          </a:solidFill>
                        </a:rPr>
                        <a:t>Explanation of details on next steps</a:t>
                      </a:r>
                    </a:p>
                  </a:txBody>
                  <a:tcPr>
                    <a:solidFill>
                      <a:srgbClr val="BFBFBF"/>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700796" y="3429000"/>
            <a:ext cx="1145220" cy="101527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chemeClr val="bg1"/>
                </a:solidFill>
                <a:cs typeface="Calibri"/>
              </a:rPr>
              <a:t>Total :</a:t>
            </a:r>
          </a:p>
          <a:p>
            <a:pPr marL="0" indent="0" algn="ctr">
              <a:buFont typeface="Arial" panose="020B0604020202020204" pitchFamily="34" charset="0"/>
              <a:buNone/>
            </a:pPr>
            <a:r>
              <a:rPr lang="fr-FR" sz="2000" b="1" dirty="0">
                <a:solidFill>
                  <a:schemeClr val="bg1"/>
                </a:solidFill>
                <a:cs typeface="Calibri"/>
              </a:rPr>
              <a:t>75 minutes</a:t>
            </a:r>
          </a:p>
        </p:txBody>
      </p:sp>
      <p:sp>
        <p:nvSpPr>
          <p:cNvPr id="5" name="Titre 1">
            <a:extLst>
              <a:ext uri="{FF2B5EF4-FFF2-40B4-BE49-F238E27FC236}">
                <a16:creationId xmlns:a16="http://schemas.microsoft.com/office/drawing/2014/main" id="{7164D3F5-5BD8-6413-A5BD-5E9A14E2E7DB}"/>
              </a:ext>
            </a:extLst>
          </p:cNvPr>
          <p:cNvSpPr txBox="1">
            <a:spLocks/>
          </p:cNvSpPr>
          <p:nvPr/>
        </p:nvSpPr>
        <p:spPr>
          <a:xfrm>
            <a:off x="0" y="0"/>
            <a:ext cx="11974352"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5C4E63"/>
                </a:solidFill>
                <a:latin typeface="Avenir Next LT Pro Light" panose="020B0304020202020204" pitchFamily="34" charset="0"/>
              </a:rPr>
              <a:t>During the workshop</a:t>
            </a:r>
          </a:p>
        </p:txBody>
      </p:sp>
    </p:spTree>
    <p:extLst>
      <p:ext uri="{BB962C8B-B14F-4D97-AF65-F5344CB8AC3E}">
        <p14:creationId xmlns:p14="http://schemas.microsoft.com/office/powerpoint/2010/main" val="4289724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ccia in su 2">
            <a:extLst>
              <a:ext uri="{FF2B5EF4-FFF2-40B4-BE49-F238E27FC236}">
                <a16:creationId xmlns:a16="http://schemas.microsoft.com/office/drawing/2014/main" id="{A9842C9E-1EA9-1C1A-7D4A-AA3B992BADF1}"/>
              </a:ext>
            </a:extLst>
          </p:cNvPr>
          <p:cNvSpPr/>
          <p:nvPr/>
        </p:nvSpPr>
        <p:spPr>
          <a:xfrm rot="5400000">
            <a:off x="6694242" y="2235091"/>
            <a:ext cx="1020142" cy="6585997"/>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D77255F4-61BA-1D87-26F8-57EB597CE7C8}"/>
              </a:ext>
            </a:extLst>
          </p:cNvPr>
          <p:cNvSpPr>
            <a:spLocks noGrp="1"/>
          </p:cNvSpPr>
          <p:nvPr>
            <p:ph type="title"/>
          </p:nvPr>
        </p:nvSpPr>
        <p:spPr/>
        <p:txBody>
          <a:bodyPr anchor="t">
            <a:normAutofit/>
          </a:bodyPr>
          <a:lstStyle/>
          <a:p>
            <a:r>
              <a:rPr lang="en-US" sz="2400" dirty="0"/>
              <a:t>CoP Goals to Practice Breakdown workshop</a:t>
            </a:r>
            <a:br>
              <a:rPr lang="en-US" sz="2400" dirty="0"/>
            </a:br>
            <a:r>
              <a:rPr lang="en-US" sz="2400" dirty="0"/>
              <a:t>The Practices Mastery-Transposability Matrix (PMTM)</a:t>
            </a:r>
            <a:br>
              <a:rPr lang="en-US" sz="2400" dirty="0"/>
            </a:br>
            <a:r>
              <a:rPr lang="en-US" sz="2400" dirty="0"/>
              <a:t>Empty template to copy in virtual walls</a:t>
            </a:r>
          </a:p>
        </p:txBody>
      </p:sp>
      <p:sp>
        <p:nvSpPr>
          <p:cNvPr id="4" name="Freccia in su 3">
            <a:extLst>
              <a:ext uri="{FF2B5EF4-FFF2-40B4-BE49-F238E27FC236}">
                <a16:creationId xmlns:a16="http://schemas.microsoft.com/office/drawing/2014/main" id="{E8A18068-ADA2-A4D4-C33D-48AE34992965}"/>
              </a:ext>
            </a:extLst>
          </p:cNvPr>
          <p:cNvSpPr/>
          <p:nvPr/>
        </p:nvSpPr>
        <p:spPr>
          <a:xfrm>
            <a:off x="2004462" y="1560626"/>
            <a:ext cx="1685547" cy="331888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Segnaposto contenuto 4">
            <a:extLst>
              <a:ext uri="{FF2B5EF4-FFF2-40B4-BE49-F238E27FC236}">
                <a16:creationId xmlns:a16="http://schemas.microsoft.com/office/drawing/2014/main" id="{33344583-4A0A-C72A-F75B-6C0BCF7FA497}"/>
              </a:ext>
            </a:extLst>
          </p:cNvPr>
          <p:cNvGraphicFramePr>
            <a:graphicFrameLocks noGrp="1"/>
          </p:cNvGraphicFramePr>
          <p:nvPr>
            <p:ph idx="1"/>
            <p:extLst>
              <p:ext uri="{D42A27DB-BD31-4B8C-83A1-F6EECF244321}">
                <p14:modId xmlns:p14="http://schemas.microsoft.com/office/powerpoint/2010/main" val="3114359268"/>
              </p:ext>
            </p:extLst>
          </p:nvPr>
        </p:nvGraphicFramePr>
        <p:xfrm>
          <a:off x="2371089" y="2458415"/>
          <a:ext cx="7354827" cy="3398831"/>
        </p:xfrm>
        <a:graphic>
          <a:graphicData uri="http://schemas.openxmlformats.org/drawingml/2006/table">
            <a:tbl>
              <a:tblPr firstCol="1" bandRow="1">
                <a:tableStyleId>{5C22544A-7EE6-4342-B048-85BDC9FD1C3A}</a:tableStyleId>
              </a:tblPr>
              <a:tblGrid>
                <a:gridCol w="1544370">
                  <a:extLst>
                    <a:ext uri="{9D8B030D-6E8A-4147-A177-3AD203B41FA5}">
                      <a16:colId xmlns:a16="http://schemas.microsoft.com/office/drawing/2014/main" val="111057479"/>
                    </a:ext>
                  </a:extLst>
                </a:gridCol>
                <a:gridCol w="1540209">
                  <a:extLst>
                    <a:ext uri="{9D8B030D-6E8A-4147-A177-3AD203B41FA5}">
                      <a16:colId xmlns:a16="http://schemas.microsoft.com/office/drawing/2014/main" val="1126235631"/>
                    </a:ext>
                  </a:extLst>
                </a:gridCol>
                <a:gridCol w="1435608">
                  <a:extLst>
                    <a:ext uri="{9D8B030D-6E8A-4147-A177-3AD203B41FA5}">
                      <a16:colId xmlns:a16="http://schemas.microsoft.com/office/drawing/2014/main" val="4199794356"/>
                    </a:ext>
                  </a:extLst>
                </a:gridCol>
                <a:gridCol w="1318012">
                  <a:extLst>
                    <a:ext uri="{9D8B030D-6E8A-4147-A177-3AD203B41FA5}">
                      <a16:colId xmlns:a16="http://schemas.microsoft.com/office/drawing/2014/main" val="2753552203"/>
                    </a:ext>
                  </a:extLst>
                </a:gridCol>
                <a:gridCol w="1516628">
                  <a:extLst>
                    <a:ext uri="{9D8B030D-6E8A-4147-A177-3AD203B41FA5}">
                      <a16:colId xmlns:a16="http://schemas.microsoft.com/office/drawing/2014/main" val="3385127919"/>
                    </a:ext>
                  </a:extLst>
                </a:gridCol>
              </a:tblGrid>
              <a:tr h="66998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gridSpan="4">
                  <a:txBody>
                    <a:bodyPr/>
                    <a:lstStyle/>
                    <a:p>
                      <a:pPr algn="ctr"/>
                      <a:endParaRPr lang="en-US" sz="1400" i="1"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94329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gridSpan="4"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557784">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4"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pPr algn="ctr"/>
                      <a:endParaRPr 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vMerge="1">
                  <a:txBody>
                    <a:bodyPr/>
                    <a:lstStyle/>
                    <a:p>
                      <a:endParaRPr lang="en-US"/>
                    </a:p>
                  </a:txBody>
                  <a:tcPr>
                    <a:lnL w="12700" cap="flat" cmpd="sng" algn="ctr">
                      <a:solidFill>
                        <a:schemeClr val="tx1"/>
                      </a:solidFill>
                      <a:prstDash val="solid"/>
                      <a:round/>
                      <a:headEnd type="none" w="med" len="med"/>
                      <a:tailEnd type="none" w="med" len="med"/>
                    </a:lnL>
                  </a:tcPr>
                </a:tc>
                <a:tc hMerge="1" v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557784">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669982">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pic>
        <p:nvPicPr>
          <p:cNvPr id="6" name="Elemento grafico 5" descr="Camminare con riempimento a tinta unita">
            <a:extLst>
              <a:ext uri="{FF2B5EF4-FFF2-40B4-BE49-F238E27FC236}">
                <a16:creationId xmlns:a16="http://schemas.microsoft.com/office/drawing/2014/main" id="{07780246-A0AD-AE7F-0BC3-2CBC0AF4F41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9459" y="4043735"/>
            <a:ext cx="541630" cy="541630"/>
          </a:xfrm>
          <a:prstGeom prst="rect">
            <a:avLst/>
          </a:prstGeom>
        </p:spPr>
      </p:pic>
      <p:pic>
        <p:nvPicPr>
          <p:cNvPr id="7" name="Elemento grafico 6" descr="Neonato con riempimento a tinta unita">
            <a:extLst>
              <a:ext uri="{FF2B5EF4-FFF2-40B4-BE49-F238E27FC236}">
                <a16:creationId xmlns:a16="http://schemas.microsoft.com/office/drawing/2014/main" id="{47AF9D87-2DFE-3303-D154-9F34A219DE9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09813" y="4676895"/>
            <a:ext cx="541630" cy="541630"/>
          </a:xfrm>
          <a:prstGeom prst="rect">
            <a:avLst/>
          </a:prstGeom>
        </p:spPr>
      </p:pic>
      <p:pic>
        <p:nvPicPr>
          <p:cNvPr id="8" name="Elemento grafico 7" descr="Eseguire con riempimento a tinta unita">
            <a:extLst>
              <a:ext uri="{FF2B5EF4-FFF2-40B4-BE49-F238E27FC236}">
                <a16:creationId xmlns:a16="http://schemas.microsoft.com/office/drawing/2014/main" id="{02DD94C5-B83E-38D6-E732-BFDA64F88BC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02027" y="3329554"/>
            <a:ext cx="541630" cy="541630"/>
          </a:xfrm>
          <a:prstGeom prst="rect">
            <a:avLst/>
          </a:prstGeom>
        </p:spPr>
      </p:pic>
      <p:pic>
        <p:nvPicPr>
          <p:cNvPr id="9" name="Elemento grafico 8" descr="Eroe con riempimento a tinta unita">
            <a:extLst>
              <a:ext uri="{FF2B5EF4-FFF2-40B4-BE49-F238E27FC236}">
                <a16:creationId xmlns:a16="http://schemas.microsoft.com/office/drawing/2014/main" id="{71DAC750-D0B5-864E-CEA1-9D37D3597D2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797990" y="2615374"/>
            <a:ext cx="541630" cy="541630"/>
          </a:xfrm>
          <a:prstGeom prst="rect">
            <a:avLst/>
          </a:prstGeom>
        </p:spPr>
      </p:pic>
      <p:pic>
        <p:nvPicPr>
          <p:cNvPr id="10" name="Elemento grafico 9" descr="Pezzi del puzzle con riempimento a tinta unita">
            <a:extLst>
              <a:ext uri="{FF2B5EF4-FFF2-40B4-BE49-F238E27FC236}">
                <a16:creationId xmlns:a16="http://schemas.microsoft.com/office/drawing/2014/main" id="{40E03727-FD31-D016-80E0-1905A8B3626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394859" y="5938334"/>
            <a:ext cx="541630" cy="541630"/>
          </a:xfrm>
          <a:prstGeom prst="rect">
            <a:avLst/>
          </a:prstGeom>
        </p:spPr>
      </p:pic>
      <p:pic>
        <p:nvPicPr>
          <p:cNvPr id="11" name="Elemento grafico 10" descr="Interrompi con riempimento a tinta unita">
            <a:extLst>
              <a:ext uri="{FF2B5EF4-FFF2-40B4-BE49-F238E27FC236}">
                <a16:creationId xmlns:a16="http://schemas.microsoft.com/office/drawing/2014/main" id="{7D34AE6D-A24E-B6E8-1823-DF3A3453449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381128" y="6044634"/>
            <a:ext cx="448241" cy="448241"/>
          </a:xfrm>
          <a:prstGeom prst="rect">
            <a:avLst/>
          </a:prstGeom>
        </p:spPr>
      </p:pic>
      <p:pic>
        <p:nvPicPr>
          <p:cNvPr id="12" name="Elemento grafico 11" descr="Acqua con riempimento a tinta unita">
            <a:extLst>
              <a:ext uri="{FF2B5EF4-FFF2-40B4-BE49-F238E27FC236}">
                <a16:creationId xmlns:a16="http://schemas.microsoft.com/office/drawing/2014/main" id="{457670BA-52F2-95DC-F62A-7F0CEA2E971A}"/>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764680" y="5966532"/>
            <a:ext cx="513432" cy="513432"/>
          </a:xfrm>
          <a:prstGeom prst="rect">
            <a:avLst/>
          </a:prstGeom>
        </p:spPr>
      </p:pic>
      <p:sp>
        <p:nvSpPr>
          <p:cNvPr id="13" name="Bolla: nuvola 12">
            <a:extLst>
              <a:ext uri="{FF2B5EF4-FFF2-40B4-BE49-F238E27FC236}">
                <a16:creationId xmlns:a16="http://schemas.microsoft.com/office/drawing/2014/main" id="{5AC0C3AE-92FD-AF56-4ADC-F19281ED7DCF}"/>
              </a:ext>
            </a:extLst>
          </p:cNvPr>
          <p:cNvSpPr/>
          <p:nvPr/>
        </p:nvSpPr>
        <p:spPr>
          <a:xfrm>
            <a:off x="5781529" y="5969395"/>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14" name="Elemento grafico 13" descr="Interrompi con riempimento a tinta unita">
            <a:extLst>
              <a:ext uri="{FF2B5EF4-FFF2-40B4-BE49-F238E27FC236}">
                <a16:creationId xmlns:a16="http://schemas.microsoft.com/office/drawing/2014/main" id="{1947F0C6-D8F3-3231-1F43-26DE24620B2C}"/>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776774" y="6079214"/>
            <a:ext cx="202562" cy="202562"/>
          </a:xfrm>
          <a:prstGeom prst="rect">
            <a:avLst/>
          </a:prstGeom>
        </p:spPr>
      </p:pic>
      <p:pic>
        <p:nvPicPr>
          <p:cNvPr id="15" name="Elemento grafico 14" descr="Interrompi con riempimento a tinta unita">
            <a:extLst>
              <a:ext uri="{FF2B5EF4-FFF2-40B4-BE49-F238E27FC236}">
                <a16:creationId xmlns:a16="http://schemas.microsoft.com/office/drawing/2014/main" id="{A25F7450-8847-7920-293D-3C4E3BDBF55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410501" y="5904502"/>
            <a:ext cx="202562" cy="202562"/>
          </a:xfrm>
          <a:prstGeom prst="rect">
            <a:avLst/>
          </a:prstGeom>
        </p:spPr>
      </p:pic>
      <p:pic>
        <p:nvPicPr>
          <p:cNvPr id="16" name="Elemento grafico 15" descr="Interrompi con riempimento a tinta unita">
            <a:extLst>
              <a:ext uri="{FF2B5EF4-FFF2-40B4-BE49-F238E27FC236}">
                <a16:creationId xmlns:a16="http://schemas.microsoft.com/office/drawing/2014/main" id="{7E59E347-6CE4-2831-0A60-F283836AA909}"/>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595838" y="5903537"/>
            <a:ext cx="202562" cy="202562"/>
          </a:xfrm>
          <a:prstGeom prst="rect">
            <a:avLst/>
          </a:prstGeom>
        </p:spPr>
      </p:pic>
      <p:pic>
        <p:nvPicPr>
          <p:cNvPr id="17" name="Elemento grafico 16" descr="Interrompi con riempimento a tinta unita">
            <a:extLst>
              <a:ext uri="{FF2B5EF4-FFF2-40B4-BE49-F238E27FC236}">
                <a16:creationId xmlns:a16="http://schemas.microsoft.com/office/drawing/2014/main" id="{2448779E-60CB-9ED9-84EC-40D0A431026A}"/>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777447" y="6260129"/>
            <a:ext cx="202562" cy="202562"/>
          </a:xfrm>
          <a:prstGeom prst="rect">
            <a:avLst/>
          </a:prstGeom>
        </p:spPr>
      </p:pic>
    </p:spTree>
    <p:extLst>
      <p:ext uri="{BB962C8B-B14F-4D97-AF65-F5344CB8AC3E}">
        <p14:creationId xmlns:p14="http://schemas.microsoft.com/office/powerpoint/2010/main" val="1719300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7255F4-61BA-1D87-26F8-57EB597CE7C8}"/>
              </a:ext>
            </a:extLst>
          </p:cNvPr>
          <p:cNvSpPr>
            <a:spLocks noGrp="1"/>
          </p:cNvSpPr>
          <p:nvPr>
            <p:ph type="title"/>
          </p:nvPr>
        </p:nvSpPr>
        <p:spPr/>
        <p:txBody>
          <a:bodyPr anchor="t">
            <a:normAutofit/>
          </a:bodyPr>
          <a:lstStyle/>
          <a:p>
            <a:r>
              <a:rPr lang="en-US" sz="2400" dirty="0"/>
              <a:t>CoP Goals to Practice Breakdown workshop</a:t>
            </a:r>
            <a:br>
              <a:rPr lang="en-US" sz="2400" dirty="0"/>
            </a:br>
            <a:r>
              <a:rPr lang="en-US" sz="2400" dirty="0"/>
              <a:t>The Practices Mastery-Transposability Matrix (PMTM)</a:t>
            </a:r>
            <a:br>
              <a:rPr lang="en-US" sz="2400" dirty="0"/>
            </a:br>
            <a:r>
              <a:rPr lang="en-US" sz="2400" dirty="0"/>
              <a:t>Empty template to copy in virtual walls</a:t>
            </a:r>
          </a:p>
        </p:txBody>
      </p:sp>
      <p:sp>
        <p:nvSpPr>
          <p:cNvPr id="20" name="Freccia in su 19">
            <a:extLst>
              <a:ext uri="{FF2B5EF4-FFF2-40B4-BE49-F238E27FC236}">
                <a16:creationId xmlns:a16="http://schemas.microsoft.com/office/drawing/2014/main" id="{A335268F-4F6D-7158-9FB3-C4202D2CFBB8}"/>
              </a:ext>
            </a:extLst>
          </p:cNvPr>
          <p:cNvSpPr/>
          <p:nvPr/>
        </p:nvSpPr>
        <p:spPr>
          <a:xfrm>
            <a:off x="2051959" y="1434304"/>
            <a:ext cx="1685547" cy="331888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1" name="Segnaposto contenuto 4">
            <a:extLst>
              <a:ext uri="{FF2B5EF4-FFF2-40B4-BE49-F238E27FC236}">
                <a16:creationId xmlns:a16="http://schemas.microsoft.com/office/drawing/2014/main" id="{5B06A164-E570-1B39-8E75-46BC98903993}"/>
              </a:ext>
            </a:extLst>
          </p:cNvPr>
          <p:cNvGraphicFramePr>
            <a:graphicFrameLocks noGrp="1"/>
          </p:cNvGraphicFramePr>
          <p:nvPr>
            <p:ph idx="1"/>
            <p:extLst>
              <p:ext uri="{D42A27DB-BD31-4B8C-83A1-F6EECF244321}">
                <p14:modId xmlns:p14="http://schemas.microsoft.com/office/powerpoint/2010/main" val="3929875979"/>
              </p:ext>
            </p:extLst>
          </p:nvPr>
        </p:nvGraphicFramePr>
        <p:xfrm>
          <a:off x="2418586" y="2320139"/>
          <a:ext cx="7354827" cy="3398831"/>
        </p:xfrm>
        <a:graphic>
          <a:graphicData uri="http://schemas.openxmlformats.org/drawingml/2006/table">
            <a:tbl>
              <a:tblPr firstCol="1" bandRow="1">
                <a:tableStyleId>{5C22544A-7EE6-4342-B048-85BDC9FD1C3A}</a:tableStyleId>
              </a:tblPr>
              <a:tblGrid>
                <a:gridCol w="1544370">
                  <a:extLst>
                    <a:ext uri="{9D8B030D-6E8A-4147-A177-3AD203B41FA5}">
                      <a16:colId xmlns:a16="http://schemas.microsoft.com/office/drawing/2014/main" val="111057479"/>
                    </a:ext>
                  </a:extLst>
                </a:gridCol>
                <a:gridCol w="1540209">
                  <a:extLst>
                    <a:ext uri="{9D8B030D-6E8A-4147-A177-3AD203B41FA5}">
                      <a16:colId xmlns:a16="http://schemas.microsoft.com/office/drawing/2014/main" val="1126235631"/>
                    </a:ext>
                  </a:extLst>
                </a:gridCol>
                <a:gridCol w="1435608">
                  <a:extLst>
                    <a:ext uri="{9D8B030D-6E8A-4147-A177-3AD203B41FA5}">
                      <a16:colId xmlns:a16="http://schemas.microsoft.com/office/drawing/2014/main" val="4199794356"/>
                    </a:ext>
                  </a:extLst>
                </a:gridCol>
                <a:gridCol w="1318012">
                  <a:extLst>
                    <a:ext uri="{9D8B030D-6E8A-4147-A177-3AD203B41FA5}">
                      <a16:colId xmlns:a16="http://schemas.microsoft.com/office/drawing/2014/main" val="2753552203"/>
                    </a:ext>
                  </a:extLst>
                </a:gridCol>
                <a:gridCol w="1516628">
                  <a:extLst>
                    <a:ext uri="{9D8B030D-6E8A-4147-A177-3AD203B41FA5}">
                      <a16:colId xmlns:a16="http://schemas.microsoft.com/office/drawing/2014/main" val="3385127919"/>
                    </a:ext>
                  </a:extLst>
                </a:gridCol>
              </a:tblGrid>
              <a:tr h="669982">
                <a:tc>
                  <a:txBody>
                    <a:bodyPr/>
                    <a:lstStyle/>
                    <a:p>
                      <a:r>
                        <a:rPr lang="en-US" sz="1400" dirty="0"/>
                        <a:t>Honed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r>
                        <a:rPr lang="en-US" sz="1050" i="1" dirty="0"/>
                        <a:t>Context specific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dirty="0"/>
                        <a:t>Promising practices</a:t>
                      </a:r>
                    </a:p>
                    <a:p>
                      <a:pPr algn="l"/>
                      <a:endParaRPr lang="en-US" sz="105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2">
                  <a:txBody>
                    <a:bodyPr/>
                    <a:lstStyle/>
                    <a:p>
                      <a:pPr algn="l"/>
                      <a:r>
                        <a:rPr lang="en-US" sz="1050" dirty="0"/>
                        <a:t>Best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r>
                        <a:rPr lang="en-US" sz="1400" i="1" dirty="0"/>
                        <a:t>Make the practice a standard or a rule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45208"/>
                  </a:ext>
                </a:extLst>
              </a:tr>
              <a:tr h="943299">
                <a:tc>
                  <a:txBody>
                    <a:bodyPr/>
                    <a:lstStyle/>
                    <a:p>
                      <a:r>
                        <a:rPr lang="en-US" sz="1400" dirty="0">
                          <a:solidFill>
                            <a:schemeClr val="tx1"/>
                          </a:solidFill>
                        </a:rPr>
                        <a:t>Mixed-results practice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v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275423"/>
                  </a:ext>
                </a:extLst>
              </a:tr>
              <a:tr h="557784">
                <a:tc>
                  <a:txBody>
                    <a:bodyPr/>
                    <a:lstStyle/>
                    <a:p>
                      <a:r>
                        <a:rPr lang="en-US" sz="1400" dirty="0">
                          <a:solidFill>
                            <a:schemeClr val="tx1"/>
                          </a:solidFill>
                        </a:rPr>
                        <a:t>One-time story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a:txBody>
                    <a:bodyPr/>
                    <a:lstStyle/>
                    <a:p>
                      <a:pPr algn="l"/>
                      <a:r>
                        <a:rPr lang="en-US" sz="1050" i="1" dirty="0"/>
                        <a:t>Seeds of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rowSpan="2" gridSpan="3">
                  <a:txBody>
                    <a:bodyPr/>
                    <a:lstStyle/>
                    <a:p>
                      <a:pPr algn="l"/>
                      <a:r>
                        <a:rPr lang="en-US" sz="1050" i="1" dirty="0"/>
                        <a:t>Experimental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rowSpan="2" hMerge="1">
                  <a:txBody>
                    <a:bodyPr/>
                    <a:lstStyle/>
                    <a:p>
                      <a:endParaRPr lang="en-US"/>
                    </a:p>
                  </a:txBody>
                  <a:tcPr>
                    <a:lnL w="12700" cap="flat" cmpd="sng" algn="ctr">
                      <a:solidFill>
                        <a:schemeClr val="tx1"/>
                      </a:solidFill>
                      <a:prstDash val="solid"/>
                      <a:round/>
                      <a:headEnd type="none" w="med" len="med"/>
                      <a:tailEnd type="none" w="med" len="med"/>
                    </a:lnL>
                  </a:tcPr>
                </a:tc>
                <a:tc rowSpan="2" hMerge="1">
                  <a:txBody>
                    <a:bodyPr/>
                    <a:lstStyle/>
                    <a:p>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60433"/>
                  </a:ext>
                </a:extLst>
              </a:tr>
              <a:tr h="557784">
                <a:tc>
                  <a:txBody>
                    <a:bodyPr/>
                    <a:lstStyle/>
                    <a:p>
                      <a:r>
                        <a:rPr lang="en-US" sz="1400" dirty="0">
                          <a:solidFill>
                            <a:schemeClr val="tx1"/>
                          </a:solidFill>
                        </a:rPr>
                        <a:t>Unpracticed idea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US"/>
                    </a:p>
                  </a:txBody>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2350910"/>
                  </a:ext>
                </a:extLst>
              </a:tr>
              <a:tr h="669982">
                <a:tc>
                  <a:txBody>
                    <a:bodyPr/>
                    <a:lstStyle/>
                    <a:p>
                      <a:endParaRPr lang="en-US" sz="1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400" b="1" dirty="0">
                          <a:solidFill>
                            <a:schemeClr val="tx1"/>
                          </a:solidFill>
                        </a:rPr>
                        <a:t>Context Specific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b="1" dirty="0">
                          <a:solidFill>
                            <a:schemeClr val="tx1"/>
                          </a:solidFill>
                        </a:rPr>
                        <a:t>Unknown transposability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b="1" dirty="0">
                          <a:solidFill>
                            <a:schemeClr val="tx1"/>
                          </a:solidFill>
                        </a:rPr>
                        <a:t>Context adaptable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r>
                        <a:rPr lang="en-US" sz="1400" b="1" dirty="0">
                          <a:solidFill>
                            <a:schemeClr val="bg1"/>
                          </a:solidFill>
                        </a:rPr>
                        <a:t>(Almost) Context-agnostic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138034209"/>
                  </a:ext>
                </a:extLst>
              </a:tr>
            </a:tbl>
          </a:graphicData>
        </a:graphic>
      </p:graphicFrame>
      <p:pic>
        <p:nvPicPr>
          <p:cNvPr id="22" name="Elemento grafico 21" descr="Camminare con riempimento a tinta unita">
            <a:extLst>
              <a:ext uri="{FF2B5EF4-FFF2-40B4-BE49-F238E27FC236}">
                <a16:creationId xmlns:a16="http://schemas.microsoft.com/office/drawing/2014/main" id="{7EA00279-EE9B-9681-B763-471629D5177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76956" y="4148319"/>
            <a:ext cx="541630" cy="541630"/>
          </a:xfrm>
          <a:prstGeom prst="rect">
            <a:avLst/>
          </a:prstGeom>
        </p:spPr>
      </p:pic>
      <p:pic>
        <p:nvPicPr>
          <p:cNvPr id="23" name="Elemento grafico 22" descr="Neonato con riempimento a tinta unita">
            <a:extLst>
              <a:ext uri="{FF2B5EF4-FFF2-40B4-BE49-F238E27FC236}">
                <a16:creationId xmlns:a16="http://schemas.microsoft.com/office/drawing/2014/main" id="{5DF94BD4-1FD3-D3B7-91E2-C2E22AE7849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57310" y="4781479"/>
            <a:ext cx="541630" cy="541630"/>
          </a:xfrm>
          <a:prstGeom prst="rect">
            <a:avLst/>
          </a:prstGeom>
        </p:spPr>
      </p:pic>
      <p:pic>
        <p:nvPicPr>
          <p:cNvPr id="24" name="Elemento grafico 23" descr="Eseguire con riempimento a tinta unita">
            <a:extLst>
              <a:ext uri="{FF2B5EF4-FFF2-40B4-BE49-F238E27FC236}">
                <a16:creationId xmlns:a16="http://schemas.microsoft.com/office/drawing/2014/main" id="{85758484-0E08-8D22-1AA5-B31C6DD6C5B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49524" y="3434138"/>
            <a:ext cx="541630" cy="541630"/>
          </a:xfrm>
          <a:prstGeom prst="rect">
            <a:avLst/>
          </a:prstGeom>
        </p:spPr>
      </p:pic>
      <p:pic>
        <p:nvPicPr>
          <p:cNvPr id="25" name="Elemento grafico 24" descr="Eroe con riempimento a tinta unita">
            <a:extLst>
              <a:ext uri="{FF2B5EF4-FFF2-40B4-BE49-F238E27FC236}">
                <a16:creationId xmlns:a16="http://schemas.microsoft.com/office/drawing/2014/main" id="{681FC5E1-D1D6-2FDD-C514-846C3FA4A93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845487" y="2719958"/>
            <a:ext cx="541630" cy="541630"/>
          </a:xfrm>
          <a:prstGeom prst="rect">
            <a:avLst/>
          </a:prstGeom>
        </p:spPr>
      </p:pic>
      <p:pic>
        <p:nvPicPr>
          <p:cNvPr id="26" name="Elemento grafico 25" descr="Pezzi del puzzle con riempimento a tinta unita">
            <a:extLst>
              <a:ext uri="{FF2B5EF4-FFF2-40B4-BE49-F238E27FC236}">
                <a16:creationId xmlns:a16="http://schemas.microsoft.com/office/drawing/2014/main" id="{6503B0B2-10EF-8FBC-FDDA-BF00C780259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14924" y="5806791"/>
            <a:ext cx="541630" cy="541630"/>
          </a:xfrm>
          <a:prstGeom prst="rect">
            <a:avLst/>
          </a:prstGeom>
        </p:spPr>
      </p:pic>
      <p:pic>
        <p:nvPicPr>
          <p:cNvPr id="27" name="Elemento grafico 26" descr="Interrompi con riempimento a tinta unita">
            <a:extLst>
              <a:ext uri="{FF2B5EF4-FFF2-40B4-BE49-F238E27FC236}">
                <a16:creationId xmlns:a16="http://schemas.microsoft.com/office/drawing/2014/main" id="{30F0AC07-737C-6D84-0EBC-B57F4ED5CB7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401193" y="5913091"/>
            <a:ext cx="448241" cy="448241"/>
          </a:xfrm>
          <a:prstGeom prst="rect">
            <a:avLst/>
          </a:prstGeom>
        </p:spPr>
      </p:pic>
      <p:pic>
        <p:nvPicPr>
          <p:cNvPr id="28" name="Elemento grafico 27" descr="Acqua con riempimento a tinta unita">
            <a:extLst>
              <a:ext uri="{FF2B5EF4-FFF2-40B4-BE49-F238E27FC236}">
                <a16:creationId xmlns:a16="http://schemas.microsoft.com/office/drawing/2014/main" id="{080CBE9C-4CD0-0248-4AA2-689A36EF599D}"/>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784745" y="5834989"/>
            <a:ext cx="513432" cy="513432"/>
          </a:xfrm>
          <a:prstGeom prst="rect">
            <a:avLst/>
          </a:prstGeom>
        </p:spPr>
      </p:pic>
      <p:sp>
        <p:nvSpPr>
          <p:cNvPr id="29" name="Bolla: nuvola 28">
            <a:extLst>
              <a:ext uri="{FF2B5EF4-FFF2-40B4-BE49-F238E27FC236}">
                <a16:creationId xmlns:a16="http://schemas.microsoft.com/office/drawing/2014/main" id="{FA779FD2-9534-91A2-5A7E-6EED51060E69}"/>
              </a:ext>
            </a:extLst>
          </p:cNvPr>
          <p:cNvSpPr/>
          <p:nvPr/>
        </p:nvSpPr>
        <p:spPr>
          <a:xfrm>
            <a:off x="5801594" y="5837852"/>
            <a:ext cx="513117" cy="422200"/>
          </a:xfrm>
          <a:prstGeom prst="cloudCallout">
            <a:avLst>
              <a:gd name="adj1" fmla="val -54692"/>
              <a:gd name="adj2" fmla="val 5167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pic>
        <p:nvPicPr>
          <p:cNvPr id="30" name="Elemento grafico 29" descr="Interrompi con riempimento a tinta unita">
            <a:extLst>
              <a:ext uri="{FF2B5EF4-FFF2-40B4-BE49-F238E27FC236}">
                <a16:creationId xmlns:a16="http://schemas.microsoft.com/office/drawing/2014/main" id="{1A7DC8D3-B46A-0EF4-AD53-08F62E0DA55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796839" y="5947671"/>
            <a:ext cx="202562" cy="202562"/>
          </a:xfrm>
          <a:prstGeom prst="rect">
            <a:avLst/>
          </a:prstGeom>
        </p:spPr>
      </p:pic>
      <p:pic>
        <p:nvPicPr>
          <p:cNvPr id="31" name="Elemento grafico 30" descr="Interrompi con riempimento a tinta unita">
            <a:extLst>
              <a:ext uri="{FF2B5EF4-FFF2-40B4-BE49-F238E27FC236}">
                <a16:creationId xmlns:a16="http://schemas.microsoft.com/office/drawing/2014/main" id="{84DA44F4-719A-0A49-1138-90F6DA66189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430566" y="5772959"/>
            <a:ext cx="202562" cy="202562"/>
          </a:xfrm>
          <a:prstGeom prst="rect">
            <a:avLst/>
          </a:prstGeom>
        </p:spPr>
      </p:pic>
      <p:pic>
        <p:nvPicPr>
          <p:cNvPr id="32" name="Elemento grafico 31" descr="Interrompi con riempimento a tinta unita">
            <a:extLst>
              <a:ext uri="{FF2B5EF4-FFF2-40B4-BE49-F238E27FC236}">
                <a16:creationId xmlns:a16="http://schemas.microsoft.com/office/drawing/2014/main" id="{9FD859E9-7A5E-A5B0-5419-303EB0D5347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615903" y="5771994"/>
            <a:ext cx="202562" cy="202562"/>
          </a:xfrm>
          <a:prstGeom prst="rect">
            <a:avLst/>
          </a:prstGeom>
        </p:spPr>
      </p:pic>
      <p:pic>
        <p:nvPicPr>
          <p:cNvPr id="33" name="Elemento grafico 32" descr="Interrompi con riempimento a tinta unita">
            <a:extLst>
              <a:ext uri="{FF2B5EF4-FFF2-40B4-BE49-F238E27FC236}">
                <a16:creationId xmlns:a16="http://schemas.microsoft.com/office/drawing/2014/main" id="{33945E6D-F0FD-C925-EA18-18C1A05FE63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797512" y="6128586"/>
            <a:ext cx="202562" cy="202562"/>
          </a:xfrm>
          <a:prstGeom prst="rect">
            <a:avLst/>
          </a:prstGeom>
        </p:spPr>
      </p:pic>
    </p:spTree>
    <p:extLst>
      <p:ext uri="{BB962C8B-B14F-4D97-AF65-F5344CB8AC3E}">
        <p14:creationId xmlns:p14="http://schemas.microsoft.com/office/powerpoint/2010/main" val="3387410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2128" y="2935694"/>
            <a:ext cx="2404138" cy="2845981"/>
          </a:xfrm>
        </p:spPr>
        <p:txBody>
          <a:bodyPr/>
          <a:lstStyle/>
          <a:p>
            <a:r>
              <a:rPr lang="en-US" sz="1400" dirty="0"/>
              <a:t>If there are too few participants, unless they are very resourceful (know a lot of practices) and also know a lot of other participants’ contexts (especially absent), workshop will have low utility in the “discussion part” (step 4). However, you can focus the workshop more on the brainstorming ideas for activities part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4190" y="2432456"/>
            <a:ext cx="2412076" cy="503237"/>
          </a:xfrm>
          <a:solidFill>
            <a:srgbClr val="5C4E63"/>
          </a:solidFill>
        </p:spPr>
        <p:txBody>
          <a:bodyPr>
            <a:normAutofit/>
          </a:bodyPr>
          <a:lstStyle/>
          <a:p>
            <a:r>
              <a:rPr lang="en-US" sz="900">
                <a:solidFill>
                  <a:schemeClr val="bg1"/>
                </a:solidFill>
              </a:rPr>
              <a:t>How to adapt if there are very few participants (number close to the minimum limit)</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594205" y="29356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If there are too many participants, you can select the top 2 or top 3 goals and split into subgroups for each goal.</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586267" y="2432456"/>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How to adapt if there are many participants (number close to the maximum limit)</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346282" y="2935694"/>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Workshop is split into phases and if participants trust each other, it should not be a problem to participate to a given phase with enough provided explanations of what has been missed.</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338344" y="2432456"/>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How do you adapt if participants arrive at different times or in dribs and drabs? </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9106297" y="2935693"/>
            <a:ext cx="2404138" cy="2845981"/>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Make sure that each participant who leaves is known by at least one remaining participant, especially about context in order to estimate transposability of practices.</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9098359" y="2432455"/>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bg1"/>
                </a:solidFill>
                <a:latin typeface="Avenir Next LT Pro" panose="020B0504020202020204" pitchFamily="34" charset="0"/>
              </a:rPr>
              <a:t>If participants leave during the workshop, how do you deal with the remaining participants? </a:t>
            </a:r>
          </a:p>
        </p:txBody>
      </p:sp>
      <p:pic>
        <p:nvPicPr>
          <p:cNvPr id="3" name="Graphique 2" descr="Personne confuse avec un remplissage uni">
            <a:extLst>
              <a:ext uri="{FF2B5EF4-FFF2-40B4-BE49-F238E27FC236}">
                <a16:creationId xmlns:a16="http://schemas.microsoft.com/office/drawing/2014/main" id="{EC47456A-44DE-549A-4B87-2459E02969A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42128" y="1857397"/>
            <a:ext cx="575058" cy="575058"/>
          </a:xfrm>
          <a:prstGeom prst="rect">
            <a:avLst/>
          </a:prstGeom>
        </p:spPr>
      </p:pic>
      <p:pic>
        <p:nvPicPr>
          <p:cNvPr id="4" name="Graphique 3" descr="Personne confuse avec un remplissage uni">
            <a:extLst>
              <a:ext uri="{FF2B5EF4-FFF2-40B4-BE49-F238E27FC236}">
                <a16:creationId xmlns:a16="http://schemas.microsoft.com/office/drawing/2014/main" id="{C5B72942-37D4-EBAC-2300-3A0AF299E8F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85748" y="1890425"/>
            <a:ext cx="575058" cy="575058"/>
          </a:xfrm>
          <a:prstGeom prst="rect">
            <a:avLst/>
          </a:prstGeom>
        </p:spPr>
      </p:pic>
      <p:pic>
        <p:nvPicPr>
          <p:cNvPr id="7" name="Graphique 6" descr="Personne confuse avec un remplissage uni">
            <a:extLst>
              <a:ext uri="{FF2B5EF4-FFF2-40B4-BE49-F238E27FC236}">
                <a16:creationId xmlns:a16="http://schemas.microsoft.com/office/drawing/2014/main" id="{E3A4CD3C-10D3-AAB0-9B0C-14871CE5B18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04580" y="1766138"/>
            <a:ext cx="575058" cy="575058"/>
          </a:xfrm>
          <a:prstGeom prst="rect">
            <a:avLst/>
          </a:prstGeom>
        </p:spPr>
      </p:pic>
      <p:pic>
        <p:nvPicPr>
          <p:cNvPr id="8" name="Graphique 7" descr="Personne confuse avec un remplissage uni">
            <a:extLst>
              <a:ext uri="{FF2B5EF4-FFF2-40B4-BE49-F238E27FC236}">
                <a16:creationId xmlns:a16="http://schemas.microsoft.com/office/drawing/2014/main" id="{E1B1AC01-4B66-4CD1-F0A4-01DC6EC39F0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65568" y="1870186"/>
            <a:ext cx="575058" cy="575058"/>
          </a:xfrm>
          <a:prstGeom prst="rect">
            <a:avLst/>
          </a:prstGeom>
        </p:spPr>
      </p:pic>
      <p:pic>
        <p:nvPicPr>
          <p:cNvPr id="15" name="Graphique 14" descr="Personne confuse avec un remplissage uni">
            <a:extLst>
              <a:ext uri="{FF2B5EF4-FFF2-40B4-BE49-F238E27FC236}">
                <a16:creationId xmlns:a16="http://schemas.microsoft.com/office/drawing/2014/main" id="{87C147E1-83A9-4114-7B5A-00CB52F599B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85074" y="1890424"/>
            <a:ext cx="575058" cy="575058"/>
          </a:xfrm>
          <a:prstGeom prst="rect">
            <a:avLst/>
          </a:prstGeom>
        </p:spPr>
      </p:pic>
      <p:pic>
        <p:nvPicPr>
          <p:cNvPr id="16" name="Graphique 15" descr="Personne confuse avec un remplissage uni">
            <a:extLst>
              <a:ext uri="{FF2B5EF4-FFF2-40B4-BE49-F238E27FC236}">
                <a16:creationId xmlns:a16="http://schemas.microsoft.com/office/drawing/2014/main" id="{5E3CBAEF-F399-23CD-DC90-A5D23F5770E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82519" y="1890424"/>
            <a:ext cx="575058" cy="575058"/>
          </a:xfrm>
          <a:prstGeom prst="rect">
            <a:avLst/>
          </a:prstGeom>
        </p:spPr>
      </p:pic>
      <p:pic>
        <p:nvPicPr>
          <p:cNvPr id="17" name="Graphique 16" descr="Personne confuse avec un remplissage uni">
            <a:extLst>
              <a:ext uri="{FF2B5EF4-FFF2-40B4-BE49-F238E27FC236}">
                <a16:creationId xmlns:a16="http://schemas.microsoft.com/office/drawing/2014/main" id="{20D46EB4-BB1B-EB74-3F43-6384AF70C4F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00308" y="1858825"/>
            <a:ext cx="575058" cy="575058"/>
          </a:xfrm>
          <a:prstGeom prst="rect">
            <a:avLst/>
          </a:prstGeom>
        </p:spPr>
      </p:pic>
      <p:pic>
        <p:nvPicPr>
          <p:cNvPr id="18" name="Graphique 17" descr="Personne confuse avec un remplissage uni">
            <a:extLst>
              <a:ext uri="{FF2B5EF4-FFF2-40B4-BE49-F238E27FC236}">
                <a16:creationId xmlns:a16="http://schemas.microsoft.com/office/drawing/2014/main" id="{70BBEA47-D4C9-5C19-5E89-5648330C377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00308" y="1734539"/>
            <a:ext cx="575058" cy="575058"/>
          </a:xfrm>
          <a:prstGeom prst="rect">
            <a:avLst/>
          </a:prstGeom>
        </p:spPr>
      </p:pic>
      <p:pic>
        <p:nvPicPr>
          <p:cNvPr id="19" name="Graphique 18" descr="Personne confuse avec un remplissage uni">
            <a:extLst>
              <a:ext uri="{FF2B5EF4-FFF2-40B4-BE49-F238E27FC236}">
                <a16:creationId xmlns:a16="http://schemas.microsoft.com/office/drawing/2014/main" id="{AF70772E-8C14-430D-C61A-B2D84C10303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53097" y="1797737"/>
            <a:ext cx="575058" cy="575058"/>
          </a:xfrm>
          <a:prstGeom prst="rect">
            <a:avLst/>
          </a:prstGeom>
        </p:spPr>
      </p:pic>
      <p:pic>
        <p:nvPicPr>
          <p:cNvPr id="20" name="Graphique 19" descr="Personne confuse avec un remplissage uni">
            <a:extLst>
              <a:ext uri="{FF2B5EF4-FFF2-40B4-BE49-F238E27FC236}">
                <a16:creationId xmlns:a16="http://schemas.microsoft.com/office/drawing/2014/main" id="{5BB490CB-3DAC-5412-68ED-628B9E7F0D6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25392" y="1858825"/>
            <a:ext cx="575058" cy="575058"/>
          </a:xfrm>
          <a:prstGeom prst="rect">
            <a:avLst/>
          </a:prstGeom>
        </p:spPr>
      </p:pic>
      <p:pic>
        <p:nvPicPr>
          <p:cNvPr id="21" name="Graphique 20" descr="Personne confuse avec un remplissage uni">
            <a:extLst>
              <a:ext uri="{FF2B5EF4-FFF2-40B4-BE49-F238E27FC236}">
                <a16:creationId xmlns:a16="http://schemas.microsoft.com/office/drawing/2014/main" id="{0E2A16CC-A592-9277-248C-8C5D69DF794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394555" y="1764710"/>
            <a:ext cx="575058" cy="575058"/>
          </a:xfrm>
          <a:prstGeom prst="rect">
            <a:avLst/>
          </a:prstGeom>
        </p:spPr>
      </p:pic>
      <p:pic>
        <p:nvPicPr>
          <p:cNvPr id="31" name="Graphique 30" descr="Personne confuse avec un remplissage uni">
            <a:extLst>
              <a:ext uri="{FF2B5EF4-FFF2-40B4-BE49-F238E27FC236}">
                <a16:creationId xmlns:a16="http://schemas.microsoft.com/office/drawing/2014/main" id="{788A59AC-DDA8-7230-15BC-DBA063D444D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90283" y="1733111"/>
            <a:ext cx="575058" cy="575058"/>
          </a:xfrm>
          <a:prstGeom prst="rect">
            <a:avLst/>
          </a:prstGeom>
        </p:spPr>
      </p:pic>
      <p:pic>
        <p:nvPicPr>
          <p:cNvPr id="32" name="Graphique 31" descr="Personne confuse avec un remplissage uni">
            <a:extLst>
              <a:ext uri="{FF2B5EF4-FFF2-40B4-BE49-F238E27FC236}">
                <a16:creationId xmlns:a16="http://schemas.microsoft.com/office/drawing/2014/main" id="{51ABF49E-AA69-DE1B-30A1-5DDAD1E45D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43072" y="1796309"/>
            <a:ext cx="575058" cy="575058"/>
          </a:xfrm>
          <a:prstGeom prst="rect">
            <a:avLst/>
          </a:prstGeom>
        </p:spPr>
      </p:pic>
      <p:pic>
        <p:nvPicPr>
          <p:cNvPr id="33" name="Graphique 32" descr="Personne confuse avec un remplissage uni">
            <a:extLst>
              <a:ext uri="{FF2B5EF4-FFF2-40B4-BE49-F238E27FC236}">
                <a16:creationId xmlns:a16="http://schemas.microsoft.com/office/drawing/2014/main" id="{EFC1671D-F1A9-BC9F-E3E3-3E68DDEE495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15367" y="1857397"/>
            <a:ext cx="575058" cy="575058"/>
          </a:xfrm>
          <a:prstGeom prst="rect">
            <a:avLst/>
          </a:prstGeom>
        </p:spPr>
      </p:pic>
      <p:pic>
        <p:nvPicPr>
          <p:cNvPr id="34" name="Graphique 33" descr="Personne confuse avec un remplissage uni">
            <a:extLst>
              <a:ext uri="{FF2B5EF4-FFF2-40B4-BE49-F238E27FC236}">
                <a16:creationId xmlns:a16="http://schemas.microsoft.com/office/drawing/2014/main" id="{CA7E195C-C531-BBC6-2867-31597C2620F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28434" y="1672023"/>
            <a:ext cx="575058" cy="575058"/>
          </a:xfrm>
          <a:prstGeom prst="rect">
            <a:avLst/>
          </a:prstGeom>
        </p:spPr>
      </p:pic>
      <p:pic>
        <p:nvPicPr>
          <p:cNvPr id="35" name="Graphique 34" descr="Personne confuse avec un remplissage uni">
            <a:extLst>
              <a:ext uri="{FF2B5EF4-FFF2-40B4-BE49-F238E27FC236}">
                <a16:creationId xmlns:a16="http://schemas.microsoft.com/office/drawing/2014/main" id="{1E408969-0968-790E-3C2D-D794F9D4246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24162" y="1640424"/>
            <a:ext cx="575058" cy="575058"/>
          </a:xfrm>
          <a:prstGeom prst="rect">
            <a:avLst/>
          </a:prstGeom>
        </p:spPr>
      </p:pic>
      <p:pic>
        <p:nvPicPr>
          <p:cNvPr id="36" name="Graphique 35" descr="Personne confuse avec un remplissage uni">
            <a:extLst>
              <a:ext uri="{FF2B5EF4-FFF2-40B4-BE49-F238E27FC236}">
                <a16:creationId xmlns:a16="http://schemas.microsoft.com/office/drawing/2014/main" id="{73BED8D9-8F7F-2C14-660F-2ED95074608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76951" y="1703622"/>
            <a:ext cx="575058" cy="575058"/>
          </a:xfrm>
          <a:prstGeom prst="rect">
            <a:avLst/>
          </a:prstGeom>
        </p:spPr>
      </p:pic>
      <p:pic>
        <p:nvPicPr>
          <p:cNvPr id="39" name="Graphique 38" descr="Personne confuse avec un remplissage uni">
            <a:extLst>
              <a:ext uri="{FF2B5EF4-FFF2-40B4-BE49-F238E27FC236}">
                <a16:creationId xmlns:a16="http://schemas.microsoft.com/office/drawing/2014/main" id="{6BE17044-C07E-F119-917B-5FA766E6596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9246" y="1764710"/>
            <a:ext cx="575058" cy="575058"/>
          </a:xfrm>
          <a:prstGeom prst="rect">
            <a:avLst/>
          </a:prstGeom>
        </p:spPr>
      </p:pic>
      <p:pic>
        <p:nvPicPr>
          <p:cNvPr id="40" name="Graphique 39" descr="Personne confuse avec un remplissage uni">
            <a:extLst>
              <a:ext uri="{FF2B5EF4-FFF2-40B4-BE49-F238E27FC236}">
                <a16:creationId xmlns:a16="http://schemas.microsoft.com/office/drawing/2014/main" id="{E483A00B-D6A6-7D56-6377-A58EAC5376D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848552" y="1772535"/>
            <a:ext cx="575058" cy="575058"/>
          </a:xfrm>
          <a:prstGeom prst="rect">
            <a:avLst/>
          </a:prstGeom>
        </p:spPr>
      </p:pic>
      <p:pic>
        <p:nvPicPr>
          <p:cNvPr id="41" name="Graphique 40" descr="Personne confuse avec un remplissage uni">
            <a:extLst>
              <a:ext uri="{FF2B5EF4-FFF2-40B4-BE49-F238E27FC236}">
                <a16:creationId xmlns:a16="http://schemas.microsoft.com/office/drawing/2014/main" id="{E7217530-F666-0C61-7FC1-EC691A97242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44280" y="1740936"/>
            <a:ext cx="575058" cy="575058"/>
          </a:xfrm>
          <a:prstGeom prst="rect">
            <a:avLst/>
          </a:prstGeom>
        </p:spPr>
      </p:pic>
      <p:pic>
        <p:nvPicPr>
          <p:cNvPr id="42" name="Graphique 41" descr="Personne confuse avec un remplissage uni">
            <a:extLst>
              <a:ext uri="{FF2B5EF4-FFF2-40B4-BE49-F238E27FC236}">
                <a16:creationId xmlns:a16="http://schemas.microsoft.com/office/drawing/2014/main" id="{8CD3BD35-4347-C5DF-EBBA-5DABFACACAA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7069" y="1804134"/>
            <a:ext cx="575058" cy="575058"/>
          </a:xfrm>
          <a:prstGeom prst="rect">
            <a:avLst/>
          </a:prstGeom>
        </p:spPr>
      </p:pic>
      <p:pic>
        <p:nvPicPr>
          <p:cNvPr id="43" name="Graphique 42" descr="Personne confuse avec un remplissage uni">
            <a:extLst>
              <a:ext uri="{FF2B5EF4-FFF2-40B4-BE49-F238E27FC236}">
                <a16:creationId xmlns:a16="http://schemas.microsoft.com/office/drawing/2014/main" id="{EBABB49B-6271-EE0E-3804-FB43A903E61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69364" y="1865222"/>
            <a:ext cx="575058" cy="575058"/>
          </a:xfrm>
          <a:prstGeom prst="rect">
            <a:avLst/>
          </a:prstGeom>
        </p:spPr>
      </p:pic>
      <p:pic>
        <p:nvPicPr>
          <p:cNvPr id="44" name="Graphique 43" descr="Personne confuse avec un remplissage uni">
            <a:extLst>
              <a:ext uri="{FF2B5EF4-FFF2-40B4-BE49-F238E27FC236}">
                <a16:creationId xmlns:a16="http://schemas.microsoft.com/office/drawing/2014/main" id="{D849AE62-153A-5FCD-0091-DAF96CAC2A6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2860" y="1783897"/>
            <a:ext cx="575058" cy="575058"/>
          </a:xfrm>
          <a:prstGeom prst="rect">
            <a:avLst/>
          </a:prstGeom>
        </p:spPr>
      </p:pic>
      <p:pic>
        <p:nvPicPr>
          <p:cNvPr id="45" name="Graphique 44" descr="Personne confuse avec un remplissage uni">
            <a:extLst>
              <a:ext uri="{FF2B5EF4-FFF2-40B4-BE49-F238E27FC236}">
                <a16:creationId xmlns:a16="http://schemas.microsoft.com/office/drawing/2014/main" id="{3F22E81E-1579-5F54-83B4-8BDA317A509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938588" y="1752298"/>
            <a:ext cx="575058" cy="575058"/>
          </a:xfrm>
          <a:prstGeom prst="rect">
            <a:avLst/>
          </a:prstGeom>
        </p:spPr>
      </p:pic>
      <p:pic>
        <p:nvPicPr>
          <p:cNvPr id="46" name="Graphique 45" descr="Personne confuse avec un remplissage uni">
            <a:extLst>
              <a:ext uri="{FF2B5EF4-FFF2-40B4-BE49-F238E27FC236}">
                <a16:creationId xmlns:a16="http://schemas.microsoft.com/office/drawing/2014/main" id="{08125095-F560-01E3-61C3-3ECF0370B34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091377" y="1815496"/>
            <a:ext cx="575058" cy="575058"/>
          </a:xfrm>
          <a:prstGeom prst="rect">
            <a:avLst/>
          </a:prstGeom>
        </p:spPr>
      </p:pic>
      <p:pic>
        <p:nvPicPr>
          <p:cNvPr id="47" name="Graphique 46" descr="Personne confuse avec un remplissage uni">
            <a:extLst>
              <a:ext uri="{FF2B5EF4-FFF2-40B4-BE49-F238E27FC236}">
                <a16:creationId xmlns:a16="http://schemas.microsoft.com/office/drawing/2014/main" id="{3DEB07EB-2BE7-52B6-8EF9-0169345C815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163672" y="1876584"/>
            <a:ext cx="575058" cy="575058"/>
          </a:xfrm>
          <a:prstGeom prst="rect">
            <a:avLst/>
          </a:prstGeom>
        </p:spPr>
      </p:pic>
      <p:sp>
        <p:nvSpPr>
          <p:cNvPr id="48" name="Flèche : droite 47">
            <a:extLst>
              <a:ext uri="{FF2B5EF4-FFF2-40B4-BE49-F238E27FC236}">
                <a16:creationId xmlns:a16="http://schemas.microsoft.com/office/drawing/2014/main" id="{307D5A4B-80FC-B7DA-6B22-5B838B0C87E6}"/>
              </a:ext>
            </a:extLst>
          </p:cNvPr>
          <p:cNvSpPr/>
          <p:nvPr/>
        </p:nvSpPr>
        <p:spPr>
          <a:xfrm>
            <a:off x="6327036" y="2076387"/>
            <a:ext cx="2423384" cy="202293"/>
          </a:xfrm>
          <a:prstGeom prst="rightArrow">
            <a:avLst/>
          </a:prstGeom>
          <a:solidFill>
            <a:srgbClr val="3465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Graphique 49" descr="Personne confuse avec un remplissage uni">
            <a:extLst>
              <a:ext uri="{FF2B5EF4-FFF2-40B4-BE49-F238E27FC236}">
                <a16:creationId xmlns:a16="http://schemas.microsoft.com/office/drawing/2014/main" id="{FBBB0681-6755-B49A-9879-B74DCD47FE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323953" y="1886136"/>
            <a:ext cx="575058" cy="575058"/>
          </a:xfrm>
          <a:prstGeom prst="rect">
            <a:avLst/>
          </a:prstGeom>
        </p:spPr>
      </p:pic>
      <p:pic>
        <p:nvPicPr>
          <p:cNvPr id="51" name="Graphique 50" descr="Personne confuse avec un remplissage uni">
            <a:extLst>
              <a:ext uri="{FF2B5EF4-FFF2-40B4-BE49-F238E27FC236}">
                <a16:creationId xmlns:a16="http://schemas.microsoft.com/office/drawing/2014/main" id="{08158215-87DC-4BAC-42D6-58F97DA325E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52866" y="1769675"/>
            <a:ext cx="575058" cy="575058"/>
          </a:xfrm>
          <a:prstGeom prst="rect">
            <a:avLst/>
          </a:prstGeom>
        </p:spPr>
      </p:pic>
      <p:pic>
        <p:nvPicPr>
          <p:cNvPr id="52" name="Graphique 51" descr="Personne confuse avec un remplissage uni">
            <a:extLst>
              <a:ext uri="{FF2B5EF4-FFF2-40B4-BE49-F238E27FC236}">
                <a16:creationId xmlns:a16="http://schemas.microsoft.com/office/drawing/2014/main" id="{6C1BA350-E625-88D8-6D58-57DA1B26BA3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705655" y="1832873"/>
            <a:ext cx="575058" cy="575058"/>
          </a:xfrm>
          <a:prstGeom prst="rect">
            <a:avLst/>
          </a:prstGeom>
        </p:spPr>
      </p:pic>
      <p:pic>
        <p:nvPicPr>
          <p:cNvPr id="53" name="Graphique 52" descr="Personne confuse avec un remplissage uni">
            <a:extLst>
              <a:ext uri="{FF2B5EF4-FFF2-40B4-BE49-F238E27FC236}">
                <a16:creationId xmlns:a16="http://schemas.microsoft.com/office/drawing/2014/main" id="{7C535362-48E7-3082-851B-5AB3EAA3964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777950" y="1893961"/>
            <a:ext cx="575058" cy="575058"/>
          </a:xfrm>
          <a:prstGeom prst="rect">
            <a:avLst/>
          </a:prstGeom>
        </p:spPr>
      </p:pic>
      <p:pic>
        <p:nvPicPr>
          <p:cNvPr id="54" name="Graphique 53" descr="Personne confuse avec un remplissage uni">
            <a:extLst>
              <a:ext uri="{FF2B5EF4-FFF2-40B4-BE49-F238E27FC236}">
                <a16:creationId xmlns:a16="http://schemas.microsoft.com/office/drawing/2014/main" id="{F226F8EC-A0DC-7B3E-EA2B-1DAE01F14CC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347174" y="1781037"/>
            <a:ext cx="575058" cy="575058"/>
          </a:xfrm>
          <a:prstGeom prst="rect">
            <a:avLst/>
          </a:prstGeom>
        </p:spPr>
      </p:pic>
      <p:pic>
        <p:nvPicPr>
          <p:cNvPr id="55" name="Graphique 54" descr="Personne confuse avec un remplissage uni">
            <a:extLst>
              <a:ext uri="{FF2B5EF4-FFF2-40B4-BE49-F238E27FC236}">
                <a16:creationId xmlns:a16="http://schemas.microsoft.com/office/drawing/2014/main" id="{C00EE930-0541-42FC-6740-216EB6C7BE2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499963" y="1844235"/>
            <a:ext cx="575058" cy="575058"/>
          </a:xfrm>
          <a:prstGeom prst="rect">
            <a:avLst/>
          </a:prstGeom>
        </p:spPr>
      </p:pic>
      <p:pic>
        <p:nvPicPr>
          <p:cNvPr id="56" name="Graphique 55" descr="Personne confuse avec un remplissage uni">
            <a:extLst>
              <a:ext uri="{FF2B5EF4-FFF2-40B4-BE49-F238E27FC236}">
                <a16:creationId xmlns:a16="http://schemas.microsoft.com/office/drawing/2014/main" id="{4E459D50-9B72-83AD-7807-0C645B97CF1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529975" y="1671498"/>
            <a:ext cx="575058" cy="575058"/>
          </a:xfrm>
          <a:prstGeom prst="rect">
            <a:avLst/>
          </a:prstGeom>
        </p:spPr>
      </p:pic>
      <p:pic>
        <p:nvPicPr>
          <p:cNvPr id="57" name="Graphique 56" descr="Personne confuse avec un remplissage uni">
            <a:extLst>
              <a:ext uri="{FF2B5EF4-FFF2-40B4-BE49-F238E27FC236}">
                <a16:creationId xmlns:a16="http://schemas.microsoft.com/office/drawing/2014/main" id="{5A060EA3-3F3C-342C-09A7-66BCB9F6E74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526847" y="1844235"/>
            <a:ext cx="575058" cy="575058"/>
          </a:xfrm>
          <a:prstGeom prst="rect">
            <a:avLst/>
          </a:prstGeom>
        </p:spPr>
      </p:pic>
      <p:pic>
        <p:nvPicPr>
          <p:cNvPr id="58" name="Graphique 57" descr="Personne confuse avec un remplissage uni">
            <a:extLst>
              <a:ext uri="{FF2B5EF4-FFF2-40B4-BE49-F238E27FC236}">
                <a16:creationId xmlns:a16="http://schemas.microsoft.com/office/drawing/2014/main" id="{C8C9D70D-37C6-9038-3B8F-7F4ACB340EE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175362" y="1815496"/>
            <a:ext cx="575058" cy="575058"/>
          </a:xfrm>
          <a:prstGeom prst="rect">
            <a:avLst/>
          </a:prstGeom>
        </p:spPr>
      </p:pic>
      <p:pic>
        <p:nvPicPr>
          <p:cNvPr id="60" name="Graphique 59" descr="Horloge avec un remplissage uni">
            <a:extLst>
              <a:ext uri="{FF2B5EF4-FFF2-40B4-BE49-F238E27FC236}">
                <a16:creationId xmlns:a16="http://schemas.microsoft.com/office/drawing/2014/main" id="{58D53E30-77CE-0697-79EA-8C830A37A3E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214611" y="1152216"/>
            <a:ext cx="540658" cy="540658"/>
          </a:xfrm>
          <a:prstGeom prst="rect">
            <a:avLst/>
          </a:prstGeom>
        </p:spPr>
      </p:pic>
      <p:pic>
        <p:nvPicPr>
          <p:cNvPr id="71" name="Graphique 70" descr="Horloge avec un remplissage uni">
            <a:extLst>
              <a:ext uri="{FF2B5EF4-FFF2-40B4-BE49-F238E27FC236}">
                <a16:creationId xmlns:a16="http://schemas.microsoft.com/office/drawing/2014/main" id="{F6E77051-60DC-A585-29F4-77DA07BD3DE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012307" y="1224052"/>
            <a:ext cx="540658" cy="540658"/>
          </a:xfrm>
          <a:prstGeom prst="rect">
            <a:avLst/>
          </a:prstGeom>
        </p:spPr>
      </p:pic>
      <p:sp>
        <p:nvSpPr>
          <p:cNvPr id="74" name="Flèche : droite 73">
            <a:extLst>
              <a:ext uri="{FF2B5EF4-FFF2-40B4-BE49-F238E27FC236}">
                <a16:creationId xmlns:a16="http://schemas.microsoft.com/office/drawing/2014/main" id="{3BAF8F74-B073-3313-A851-A591FAD95150}"/>
              </a:ext>
            </a:extLst>
          </p:cNvPr>
          <p:cNvSpPr/>
          <p:nvPr/>
        </p:nvSpPr>
        <p:spPr>
          <a:xfrm>
            <a:off x="9082355" y="2020640"/>
            <a:ext cx="2423384" cy="202293"/>
          </a:xfrm>
          <a:prstGeom prst="rightArrow">
            <a:avLst/>
          </a:prstGeom>
          <a:solidFill>
            <a:srgbClr val="3465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que 74" descr="Porte ouverte avec un remplissage uni">
            <a:extLst>
              <a:ext uri="{FF2B5EF4-FFF2-40B4-BE49-F238E27FC236}">
                <a16:creationId xmlns:a16="http://schemas.microsoft.com/office/drawing/2014/main" id="{F834339E-1C25-7F5F-6AEE-DA4F85672113}"/>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928023" y="1714559"/>
            <a:ext cx="633034" cy="633034"/>
          </a:xfrm>
          <a:prstGeom prst="rect">
            <a:avLst/>
          </a:prstGeom>
        </p:spPr>
      </p:pic>
      <p:pic>
        <p:nvPicPr>
          <p:cNvPr id="77" name="Graphique 76" descr="Marcher avec un remplissage uni">
            <a:extLst>
              <a:ext uri="{FF2B5EF4-FFF2-40B4-BE49-F238E27FC236}">
                <a16:creationId xmlns:a16="http://schemas.microsoft.com/office/drawing/2014/main" id="{C474F176-CD2D-701B-7C1F-BD9F27BE8EE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552965" y="1734171"/>
            <a:ext cx="582883" cy="582883"/>
          </a:xfrm>
          <a:prstGeom prst="rect">
            <a:avLst/>
          </a:prstGeom>
        </p:spPr>
      </p:pic>
      <p:sp>
        <p:nvSpPr>
          <p:cNvPr id="49" name="Titre 1">
            <a:extLst>
              <a:ext uri="{FF2B5EF4-FFF2-40B4-BE49-F238E27FC236}">
                <a16:creationId xmlns:a16="http://schemas.microsoft.com/office/drawing/2014/main" id="{3D33CD63-14BD-1713-5F95-D26AD0E1D61D}"/>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Light" panose="020B0304020202020204" pitchFamily="34" charset="0"/>
              </a:rPr>
              <a:t>Special cases of facilitation</a:t>
            </a:r>
          </a:p>
        </p:txBody>
      </p:sp>
    </p:spTree>
    <p:extLst>
      <p:ext uri="{BB962C8B-B14F-4D97-AF65-F5344CB8AC3E}">
        <p14:creationId xmlns:p14="http://schemas.microsoft.com/office/powerpoint/2010/main" val="971998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689503" y="2656377"/>
            <a:ext cx="2404138" cy="3209965"/>
          </a:xfrm>
        </p:spPr>
        <p:txBody>
          <a:bodyPr/>
          <a:lstStyle/>
          <a:p>
            <a:r>
              <a:rPr lang="en-US" sz="1400" dirty="0"/>
              <a:t>They will have to accept that the Community focuses on goals that are not theirs, or practices that they have not chosen.</a:t>
            </a:r>
          </a:p>
          <a:p>
            <a:r>
              <a:rPr lang="en-US" sz="1400" dirty="0"/>
              <a:t>If they are fine with this consideration, you can let them not express themselves.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681565" y="2153139"/>
            <a:ext cx="2412076" cy="503237"/>
          </a:xfrm>
          <a:solidFill>
            <a:srgbClr val="5C4E63"/>
          </a:solidFill>
        </p:spPr>
        <p:txBody>
          <a:bodyPr>
            <a:normAutofit/>
          </a:bodyPr>
          <a:lstStyle/>
          <a:p>
            <a:pPr>
              <a:lnSpc>
                <a:spcPct val="100000"/>
              </a:lnSpc>
            </a:pPr>
            <a:r>
              <a:rPr lang="en-US" sz="900">
                <a:solidFill>
                  <a:schemeClr val="bg1"/>
                </a:solidFill>
              </a:rPr>
              <a:t>What if the participants don't dare to take the risk of exposing their choices and preferences ?</a:t>
            </a:r>
          </a:p>
        </p:txBody>
      </p:sp>
      <p:sp>
        <p:nvSpPr>
          <p:cNvPr id="9" name="Espace réservé du texte 17">
            <a:extLst>
              <a:ext uri="{FF2B5EF4-FFF2-40B4-BE49-F238E27FC236}">
                <a16:creationId xmlns:a16="http://schemas.microsoft.com/office/drawing/2014/main" id="{5DBD2133-F78E-46EE-2F9B-8284492DEFF8}"/>
              </a:ext>
            </a:extLst>
          </p:cNvPr>
          <p:cNvSpPr txBox="1">
            <a:spLocks/>
          </p:cNvSpPr>
          <p:nvPr/>
        </p:nvSpPr>
        <p:spPr>
          <a:xfrm>
            <a:off x="3441580" y="2656376"/>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If there is neither judgement on skills, nor on transposability, nor on “absolute” value of a practice or a context, your job as a facilitator mainly consists in unrolling a process that helps visibility (with PMTM) and focus. As a Community Leader, you are legitimate to facilitate this workshop, especially if you do not partake in the votes.</a:t>
            </a:r>
          </a:p>
        </p:txBody>
      </p:sp>
      <p:sp>
        <p:nvSpPr>
          <p:cNvPr id="10" name="Espace réservé du texte 2">
            <a:extLst>
              <a:ext uri="{FF2B5EF4-FFF2-40B4-BE49-F238E27FC236}">
                <a16:creationId xmlns:a16="http://schemas.microsoft.com/office/drawing/2014/main" id="{92F68B32-FB86-1BE6-C047-04E5374446F7}"/>
              </a:ext>
            </a:extLst>
          </p:cNvPr>
          <p:cNvSpPr txBox="1">
            <a:spLocks/>
          </p:cNvSpPr>
          <p:nvPr/>
        </p:nvSpPr>
        <p:spPr>
          <a:xfrm>
            <a:off x="3433642" y="2153139"/>
            <a:ext cx="2412076" cy="503237"/>
          </a:xfrm>
          <a:prstGeom prst="rect">
            <a:avLst/>
          </a:prstGeom>
          <a:solidFill>
            <a:srgbClr val="5C4E6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How do we deal with criticism of the legitimacy of facilitators?</a:t>
            </a:r>
          </a:p>
        </p:txBody>
      </p:sp>
      <p:sp>
        <p:nvSpPr>
          <p:cNvPr id="11" name="Espace réservé du texte 17">
            <a:extLst>
              <a:ext uri="{FF2B5EF4-FFF2-40B4-BE49-F238E27FC236}">
                <a16:creationId xmlns:a16="http://schemas.microsoft.com/office/drawing/2014/main" id="{459DD294-7DDC-00BE-96E8-AD836ED5A025}"/>
              </a:ext>
            </a:extLst>
          </p:cNvPr>
          <p:cNvSpPr txBox="1">
            <a:spLocks/>
          </p:cNvSpPr>
          <p:nvPr/>
        </p:nvSpPr>
        <p:spPr>
          <a:xfrm>
            <a:off x="6193657" y="2656377"/>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You should have at least minimum content in terms of practice. Most probably, people who do not participate are people without the voted goal or without practices to share or to try. Let beginners be. </a:t>
            </a:r>
          </a:p>
        </p:txBody>
      </p:sp>
      <p:sp>
        <p:nvSpPr>
          <p:cNvPr id="12" name="Espace réservé du texte 2">
            <a:extLst>
              <a:ext uri="{FF2B5EF4-FFF2-40B4-BE49-F238E27FC236}">
                <a16:creationId xmlns:a16="http://schemas.microsoft.com/office/drawing/2014/main" id="{7D82FFEC-2A8B-207C-DB1B-254B5D7AC06C}"/>
              </a:ext>
            </a:extLst>
          </p:cNvPr>
          <p:cNvSpPr txBox="1">
            <a:spLocks/>
          </p:cNvSpPr>
          <p:nvPr/>
        </p:nvSpPr>
        <p:spPr>
          <a:xfrm>
            <a:off x="6185719" y="2153139"/>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What if some people do not want to participate?</a:t>
            </a:r>
          </a:p>
        </p:txBody>
      </p:sp>
      <p:sp>
        <p:nvSpPr>
          <p:cNvPr id="13" name="Espace réservé du texte 17">
            <a:extLst>
              <a:ext uri="{FF2B5EF4-FFF2-40B4-BE49-F238E27FC236}">
                <a16:creationId xmlns:a16="http://schemas.microsoft.com/office/drawing/2014/main" id="{FED9094B-B3C7-164A-A246-7F4D05ABBAB3}"/>
              </a:ext>
            </a:extLst>
          </p:cNvPr>
          <p:cNvSpPr txBox="1">
            <a:spLocks/>
          </p:cNvSpPr>
          <p:nvPr/>
        </p:nvSpPr>
        <p:spPr>
          <a:xfrm>
            <a:off x="8953672" y="2656376"/>
            <a:ext cx="2404138" cy="3209965"/>
          </a:xfrm>
          <a:prstGeom prst="rect">
            <a:avLst/>
          </a:prstGeom>
          <a:solidFill>
            <a:schemeClr val="bg1">
              <a:lumMod val="95000"/>
            </a:schemeClr>
          </a:solid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rgbClr val="5C4E63"/>
                </a:solidFill>
                <a:latin typeface="Avenir Next LT Pro" panose="020B0504020202020204" pitchFamily="34" charset="0"/>
              </a:rPr>
              <a:t>You can present yourself as someone who helps members increase their chances for interaction with each other, or take some hindsight.</a:t>
            </a:r>
          </a:p>
        </p:txBody>
      </p:sp>
      <p:sp>
        <p:nvSpPr>
          <p:cNvPr id="14" name="Espace réservé du texte 2">
            <a:extLst>
              <a:ext uri="{FF2B5EF4-FFF2-40B4-BE49-F238E27FC236}">
                <a16:creationId xmlns:a16="http://schemas.microsoft.com/office/drawing/2014/main" id="{4EFAE2A6-6588-A55C-2B6E-23BEDE366FEE}"/>
              </a:ext>
            </a:extLst>
          </p:cNvPr>
          <p:cNvSpPr txBox="1">
            <a:spLocks/>
          </p:cNvSpPr>
          <p:nvPr/>
        </p:nvSpPr>
        <p:spPr>
          <a:xfrm>
            <a:off x="8945734" y="2153138"/>
            <a:ext cx="2412076" cy="503237"/>
          </a:xfrm>
          <a:prstGeom prst="rect">
            <a:avLst/>
          </a:prstGeom>
          <a:solidFill>
            <a:srgbClr val="5C4E63"/>
          </a:solidFill>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900">
                <a:solidFill>
                  <a:schemeClr val="bg1"/>
                </a:solidFill>
                <a:latin typeface="Avenir Next LT Pro" panose="020B0504020202020204" pitchFamily="34" charset="0"/>
              </a:rPr>
              <a:t>How can I feel more comfortable introducing myself as a facilitator? </a:t>
            </a:r>
          </a:p>
        </p:txBody>
      </p:sp>
      <p:pic>
        <p:nvPicPr>
          <p:cNvPr id="4" name="Graphique 3" descr="Poing serré avec un remplissage uni">
            <a:extLst>
              <a:ext uri="{FF2B5EF4-FFF2-40B4-BE49-F238E27FC236}">
                <a16:creationId xmlns:a16="http://schemas.microsoft.com/office/drawing/2014/main" id="{671745E4-020C-3E2B-B608-6FF09E34A1B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82716" y="1317707"/>
            <a:ext cx="581879" cy="581879"/>
          </a:xfrm>
          <a:prstGeom prst="rect">
            <a:avLst/>
          </a:prstGeom>
        </p:spPr>
      </p:pic>
      <p:pic>
        <p:nvPicPr>
          <p:cNvPr id="6" name="Graphique 5" descr="Visage en colère avec remplissage uni avec un remplissage uni">
            <a:extLst>
              <a:ext uri="{FF2B5EF4-FFF2-40B4-BE49-F238E27FC236}">
                <a16:creationId xmlns:a16="http://schemas.microsoft.com/office/drawing/2014/main" id="{7FBDCF44-8C15-2F2F-4CF8-E07CAC9ECEF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89012" y="1558630"/>
            <a:ext cx="581879" cy="581879"/>
          </a:xfrm>
          <a:prstGeom prst="rect">
            <a:avLst/>
          </a:prstGeom>
        </p:spPr>
      </p:pic>
      <p:pic>
        <p:nvPicPr>
          <p:cNvPr id="16" name="Graphique 15" descr="Visage grimaçant et transpirant avec remplissage uni avec un remplissage uni">
            <a:extLst>
              <a:ext uri="{FF2B5EF4-FFF2-40B4-BE49-F238E27FC236}">
                <a16:creationId xmlns:a16="http://schemas.microsoft.com/office/drawing/2014/main" id="{AA781C3F-DFAC-BD77-8112-41C7F217D77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430403" y="1447908"/>
            <a:ext cx="650135" cy="650135"/>
          </a:xfrm>
          <a:prstGeom prst="rect">
            <a:avLst/>
          </a:prstGeom>
        </p:spPr>
      </p:pic>
      <p:pic>
        <p:nvPicPr>
          <p:cNvPr id="18" name="Graphique 17" descr="Visage confus avec remplissage solide avec un remplissage uni">
            <a:extLst>
              <a:ext uri="{FF2B5EF4-FFF2-40B4-BE49-F238E27FC236}">
                <a16:creationId xmlns:a16="http://schemas.microsoft.com/office/drawing/2014/main" id="{83FE5F7B-5129-E458-B938-C8341D36A208}"/>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079365" y="1519102"/>
            <a:ext cx="633593" cy="633593"/>
          </a:xfrm>
          <a:prstGeom prst="rect">
            <a:avLst/>
          </a:prstGeom>
        </p:spPr>
      </p:pic>
      <p:grpSp>
        <p:nvGrpSpPr>
          <p:cNvPr id="19" name="Groupe 18">
            <a:extLst>
              <a:ext uri="{FF2B5EF4-FFF2-40B4-BE49-F238E27FC236}">
                <a16:creationId xmlns:a16="http://schemas.microsoft.com/office/drawing/2014/main" id="{01C9F016-709D-4BF3-08FD-E74551A3D136}"/>
              </a:ext>
            </a:extLst>
          </p:cNvPr>
          <p:cNvGrpSpPr/>
          <p:nvPr/>
        </p:nvGrpSpPr>
        <p:grpSpPr>
          <a:xfrm>
            <a:off x="9779429" y="1275241"/>
            <a:ext cx="759840" cy="822802"/>
            <a:chOff x="7560150" y="2879049"/>
            <a:chExt cx="982042" cy="1063416"/>
          </a:xfrm>
          <a:solidFill>
            <a:srgbClr val="34657F"/>
          </a:solidFill>
        </p:grpSpPr>
        <p:grpSp>
          <p:nvGrpSpPr>
            <p:cNvPr id="20" name="Groupe 19">
              <a:extLst>
                <a:ext uri="{FF2B5EF4-FFF2-40B4-BE49-F238E27FC236}">
                  <a16:creationId xmlns:a16="http://schemas.microsoft.com/office/drawing/2014/main" id="{7C4C5158-5E42-18E1-DD52-13C9E395F9D2}"/>
                </a:ext>
              </a:extLst>
            </p:cNvPr>
            <p:cNvGrpSpPr/>
            <p:nvPr/>
          </p:nvGrpSpPr>
          <p:grpSpPr>
            <a:xfrm>
              <a:off x="7798849" y="2879049"/>
              <a:ext cx="743343" cy="1063416"/>
              <a:chOff x="6391015" y="3260296"/>
              <a:chExt cx="743343" cy="1063416"/>
            </a:xfrm>
            <a:grpFill/>
          </p:grpSpPr>
          <p:grpSp>
            <p:nvGrpSpPr>
              <p:cNvPr id="31" name="Groupe 30">
                <a:extLst>
                  <a:ext uri="{FF2B5EF4-FFF2-40B4-BE49-F238E27FC236}">
                    <a16:creationId xmlns:a16="http://schemas.microsoft.com/office/drawing/2014/main" id="{84E600AB-6936-0A2A-9096-F0EDCA8BDE02}"/>
                  </a:ext>
                </a:extLst>
              </p:cNvPr>
              <p:cNvGrpSpPr/>
              <p:nvPr/>
            </p:nvGrpSpPr>
            <p:grpSpPr>
              <a:xfrm>
                <a:off x="6391015" y="3260296"/>
                <a:ext cx="743343" cy="1063416"/>
                <a:chOff x="6298348" y="3168316"/>
                <a:chExt cx="867130" cy="1240504"/>
              </a:xfrm>
              <a:grpFill/>
            </p:grpSpPr>
            <p:pic>
              <p:nvPicPr>
                <p:cNvPr id="33" name="Graphique 32" descr="Enseignant avec un remplissage uni">
                  <a:extLst>
                    <a:ext uri="{FF2B5EF4-FFF2-40B4-BE49-F238E27FC236}">
                      <a16:creationId xmlns:a16="http://schemas.microsoft.com/office/drawing/2014/main" id="{09E0F0A1-7A8A-63D0-AA75-7ECE14BFD51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298348" y="3168316"/>
                  <a:ext cx="867130" cy="867130"/>
                </a:xfrm>
                <a:prstGeom prst="rect">
                  <a:avLst/>
                </a:prstGeom>
              </p:spPr>
            </p:pic>
            <p:pic>
              <p:nvPicPr>
                <p:cNvPr id="34" name="Graphique 33" descr="Personne confuse avec un remplissage uni">
                  <a:extLst>
                    <a:ext uri="{FF2B5EF4-FFF2-40B4-BE49-F238E27FC236}">
                      <a16:creationId xmlns:a16="http://schemas.microsoft.com/office/drawing/2014/main" id="{A075FDA6-7623-EA73-BB16-943C1B9C7223}"/>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34664" t="32545" r="38513" b="-1"/>
                <a:stretch/>
              </p:blipFill>
              <p:spPr>
                <a:xfrm>
                  <a:off x="6367463" y="3792004"/>
                  <a:ext cx="245268" cy="616816"/>
                </a:xfrm>
                <a:prstGeom prst="rect">
                  <a:avLst/>
                </a:prstGeom>
              </p:spPr>
            </p:pic>
            <p:sp>
              <p:nvSpPr>
                <p:cNvPr id="35" name="Rectangle : coins arrondis 34">
                  <a:extLst>
                    <a:ext uri="{FF2B5EF4-FFF2-40B4-BE49-F238E27FC236}">
                      <a16:creationId xmlns:a16="http://schemas.microsoft.com/office/drawing/2014/main" id="{B0D4B82D-9E15-1A8A-844D-20FBB37C45FB}"/>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32" name="Image 31">
                <a:extLst>
                  <a:ext uri="{FF2B5EF4-FFF2-40B4-BE49-F238E27FC236}">
                    <a16:creationId xmlns:a16="http://schemas.microsoft.com/office/drawing/2014/main" id="{914EEB62-210F-36F8-FA6D-C8E815578999}"/>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6951983" y="3638955"/>
                <a:ext cx="98432" cy="94958"/>
              </a:xfrm>
              <a:prstGeom prst="rect">
                <a:avLst/>
              </a:prstGeom>
              <a:grpFill/>
              <a:ln>
                <a:noFill/>
              </a:ln>
            </p:spPr>
          </p:pic>
        </p:grpSp>
        <p:pic>
          <p:nvPicPr>
            <p:cNvPr id="21" name="Graphique 20" descr="Presse-papiers mixte avec un remplissage uni">
              <a:extLst>
                <a:ext uri="{FF2B5EF4-FFF2-40B4-BE49-F238E27FC236}">
                  <a16:creationId xmlns:a16="http://schemas.microsoft.com/office/drawing/2014/main" id="{56A29B8D-D3D0-AFC5-13DA-8FF9C628EF72}"/>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pic>
        <p:nvPicPr>
          <p:cNvPr id="39" name="Graphique 38" descr="Signe pouce en haut avec un remplissage uni">
            <a:extLst>
              <a:ext uri="{FF2B5EF4-FFF2-40B4-BE49-F238E27FC236}">
                <a16:creationId xmlns:a16="http://schemas.microsoft.com/office/drawing/2014/main" id="{3217DB3C-F5EE-F44E-5C62-B6EBE003B9A8}"/>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rot="19372495">
            <a:off x="10208287" y="1447908"/>
            <a:ext cx="198173" cy="198173"/>
          </a:xfrm>
          <a:prstGeom prst="rect">
            <a:avLst/>
          </a:prstGeom>
        </p:spPr>
      </p:pic>
      <p:sp>
        <p:nvSpPr>
          <p:cNvPr id="7" name="Titre 1">
            <a:extLst>
              <a:ext uri="{FF2B5EF4-FFF2-40B4-BE49-F238E27FC236}">
                <a16:creationId xmlns:a16="http://schemas.microsoft.com/office/drawing/2014/main" id="{8FE5D073-5719-EAF3-4A29-8010C9280B0E}"/>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5C4E63"/>
                </a:solidFill>
                <a:latin typeface="Avenir Next LT Pro Light" panose="020B0304020202020204" pitchFamily="34" charset="0"/>
              </a:rPr>
              <a:t>Special cases of facilitation</a:t>
            </a:r>
          </a:p>
        </p:txBody>
      </p:sp>
    </p:spTree>
    <p:extLst>
      <p:ext uri="{BB962C8B-B14F-4D97-AF65-F5344CB8AC3E}">
        <p14:creationId xmlns:p14="http://schemas.microsoft.com/office/powerpoint/2010/main" val="1093879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5C6F2FF8-FEA8-9E29-FA23-1FDC3C7CDB38}"/>
              </a:ext>
            </a:extLst>
          </p:cNvPr>
          <p:cNvSpPr>
            <a:spLocks noGrp="1"/>
          </p:cNvSpPr>
          <p:nvPr>
            <p:ph type="ctrTitle"/>
          </p:nvPr>
        </p:nvSpPr>
        <p:spPr>
          <a:xfrm>
            <a:off x="7464614" y="1783959"/>
            <a:ext cx="4087306" cy="2889114"/>
          </a:xfrm>
        </p:spPr>
        <p:txBody>
          <a:bodyPr anchor="b">
            <a:normAutofit/>
          </a:bodyPr>
          <a:lstStyle/>
          <a:p>
            <a:pPr algn="l"/>
            <a:r>
              <a:rPr lang="fr-FR" sz="5400">
                <a:solidFill>
                  <a:srgbClr val="5C4E63"/>
                </a:solidFill>
                <a:latin typeface="Avenir Next LT Pro Light" panose="020B0304020202020204" pitchFamily="34" charset="0"/>
              </a:rPr>
              <a:t>Adaptation</a:t>
            </a:r>
          </a:p>
        </p:txBody>
      </p:sp>
      <p:pic>
        <p:nvPicPr>
          <p:cNvPr id="5" name="Image 4" descr="Main couverte de peinture tenant un pinceau">
            <a:extLst>
              <a:ext uri="{FF2B5EF4-FFF2-40B4-BE49-F238E27FC236}">
                <a16:creationId xmlns:a16="http://schemas.microsoft.com/office/drawing/2014/main" id="{CB0B5827-FF19-A501-148D-7484231D0B9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478981"/>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589255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391858920"/>
              </p:ext>
            </p:extLst>
          </p:nvPr>
        </p:nvGraphicFramePr>
        <p:xfrm>
          <a:off x="6961023" y="1821540"/>
          <a:ext cx="4740676" cy="3506490"/>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Ideas for variants</a:t>
                      </a:r>
                    </a:p>
                  </a:txBody>
                  <a:tcPr>
                    <a:solidFill>
                      <a:srgbClr val="34657F"/>
                    </a:solidFill>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Title of the variant or extension</a:t>
                      </a:r>
                    </a:p>
                  </a:txBody>
                  <a:tcPr>
                    <a:solidFill>
                      <a:srgbClr val="34657F"/>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34657F"/>
                    </a:solidFill>
                  </a:tcPr>
                </a:tc>
                <a:extLst>
                  <a:ext uri="{0D108BD9-81ED-4DB2-BD59-A6C34878D82A}">
                    <a16:rowId xmlns:a16="http://schemas.microsoft.com/office/drawing/2014/main" val="1323693463"/>
                  </a:ext>
                </a:extLst>
              </a:tr>
              <a:tr h="353686">
                <a:tc>
                  <a:txBody>
                    <a:bodyPr/>
                    <a:lstStyle/>
                    <a:p>
                      <a:r>
                        <a:rPr lang="en-US" sz="1100" noProof="0"/>
                        <a:t>Asynchronous version of this workshop</a:t>
                      </a:r>
                    </a:p>
                  </a:txBody>
                  <a:tcPr>
                    <a:solidFill>
                      <a:srgbClr val="D3E4ED"/>
                    </a:solidFill>
                  </a:tcPr>
                </a:tc>
                <a:tc>
                  <a:txBody>
                    <a:bodyPr/>
                    <a:lstStyle/>
                    <a:p>
                      <a:r>
                        <a:rPr lang="en-US" sz="1100" noProof="0" dirty="0"/>
                        <a:t>This workshop could be performed asynchronously by using means for voting or proposing. </a:t>
                      </a:r>
                    </a:p>
                    <a:p>
                      <a:r>
                        <a:rPr lang="en-US" sz="1100" noProof="0" dirty="0"/>
                        <a:t>An interesting extension would be ready to use forms to reproduce the workshop.</a:t>
                      </a:r>
                    </a:p>
                  </a:txBody>
                  <a:tcPr>
                    <a:solidFill>
                      <a:srgbClr val="D3E4ED"/>
                    </a:solidFill>
                  </a:tcPr>
                </a:tc>
                <a:extLst>
                  <a:ext uri="{0D108BD9-81ED-4DB2-BD59-A6C34878D82A}">
                    <a16:rowId xmlns:a16="http://schemas.microsoft.com/office/drawing/2014/main" val="4249539521"/>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824107877"/>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035027814"/>
                  </a:ext>
                </a:extLst>
              </a:tr>
              <a:tr h="396301">
                <a:tc>
                  <a:txBody>
                    <a:bodyPr/>
                    <a:lstStyle/>
                    <a:p>
                      <a:endParaRPr lang="fr-FR" sz="1100"/>
                    </a:p>
                  </a:txBody>
                  <a:tcPr>
                    <a:solidFill>
                      <a:srgbClr val="D3E4ED"/>
                    </a:solidFill>
                  </a:tcPr>
                </a:tc>
                <a:tc>
                  <a:txBody>
                    <a:bodyPr/>
                    <a:lstStyle/>
                    <a:p>
                      <a:endParaRPr lang="fr-FR" sz="1100"/>
                    </a:p>
                  </a:txBody>
                  <a:tcPr>
                    <a:solidFill>
                      <a:srgbClr val="D3E4ED"/>
                    </a:solidFill>
                  </a:tcPr>
                </a:tc>
                <a:extLst>
                  <a:ext uri="{0D108BD9-81ED-4DB2-BD59-A6C34878D82A}">
                    <a16:rowId xmlns:a16="http://schemas.microsoft.com/office/drawing/2014/main" val="122548462"/>
                  </a:ext>
                </a:extLst>
              </a:tr>
              <a:tr h="396301">
                <a:tc>
                  <a:txBody>
                    <a:bodyPr/>
                    <a:lstStyle/>
                    <a:p>
                      <a:endParaRPr lang="fr-FR" sz="1100"/>
                    </a:p>
                  </a:txBody>
                  <a:tcPr>
                    <a:solidFill>
                      <a:srgbClr val="D3E4ED"/>
                    </a:solidFill>
                  </a:tcPr>
                </a:tc>
                <a:tc>
                  <a:txBody>
                    <a:bodyPr/>
                    <a:lstStyle/>
                    <a:p>
                      <a:endParaRPr lang="fr-FR" sz="1100" dirty="0"/>
                    </a:p>
                  </a:txBody>
                  <a:tcPr>
                    <a:solidFill>
                      <a:srgbClr val="D3E4ED"/>
                    </a:solidFill>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4173488350"/>
              </p:ext>
            </p:extLst>
          </p:nvPr>
        </p:nvGraphicFramePr>
        <p:xfrm>
          <a:off x="362762" y="1821540"/>
          <a:ext cx="6191648" cy="2311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Version history</a:t>
                      </a:r>
                    </a:p>
                  </a:txBody>
                  <a:tcPr>
                    <a:solidFill>
                      <a:srgbClr val="5C4E63"/>
                    </a:solidFill>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5C4E63"/>
                    </a:solidFill>
                  </a:tcPr>
                </a:tc>
                <a:tc>
                  <a:txBody>
                    <a:bodyPr/>
                    <a:lstStyle/>
                    <a:p>
                      <a:r>
                        <a:rPr lang="fr-FR" sz="1200" b="1" kern="1200">
                          <a:solidFill>
                            <a:schemeClr val="lt1"/>
                          </a:solidFill>
                          <a:latin typeface="+mn-lt"/>
                          <a:ea typeface="+mn-ea"/>
                          <a:cs typeface="+mn-cs"/>
                        </a:rPr>
                        <a:t>Contributors</a:t>
                      </a:r>
                    </a:p>
                  </a:txBody>
                  <a:tcPr>
                    <a:solidFill>
                      <a:srgbClr val="5C4E63"/>
                    </a:solidFill>
                  </a:tcPr>
                </a:tc>
                <a:tc>
                  <a:txBody>
                    <a:bodyPr/>
                    <a:lstStyle/>
                    <a:p>
                      <a:r>
                        <a:rPr lang="fr-FR" sz="1200" b="1" kern="1200">
                          <a:solidFill>
                            <a:schemeClr val="lt1"/>
                          </a:solidFill>
                          <a:latin typeface="+mn-lt"/>
                          <a:ea typeface="+mn-ea"/>
                          <a:cs typeface="+mn-cs"/>
                        </a:rPr>
                        <a:t>License</a:t>
                      </a:r>
                    </a:p>
                  </a:txBody>
                  <a:tcPr>
                    <a:solidFill>
                      <a:srgbClr val="5C4E63"/>
                    </a:solidFill>
                  </a:tcPr>
                </a:tc>
                <a:tc>
                  <a:txBody>
                    <a:bodyPr/>
                    <a:lstStyle/>
                    <a:p>
                      <a:r>
                        <a:rPr lang="fr-FR" sz="1200" b="1" kern="1200">
                          <a:solidFill>
                            <a:schemeClr val="lt1"/>
                          </a:solidFill>
                          <a:latin typeface="+mn-lt"/>
                          <a:ea typeface="+mn-ea"/>
                          <a:cs typeface="+mn-cs"/>
                        </a:rPr>
                        <a:t>Comments</a:t>
                      </a:r>
                    </a:p>
                  </a:txBody>
                  <a:tcPr>
                    <a:solidFill>
                      <a:srgbClr val="5C4E63"/>
                    </a:solidFill>
                  </a:tcPr>
                </a:tc>
                <a:extLst>
                  <a:ext uri="{0D108BD9-81ED-4DB2-BD59-A6C34878D82A}">
                    <a16:rowId xmlns:a16="http://schemas.microsoft.com/office/drawing/2014/main" val="748113296"/>
                  </a:ext>
                </a:extLst>
              </a:tr>
              <a:tr h="370840">
                <a:tc>
                  <a:txBody>
                    <a:bodyPr/>
                    <a:lstStyle/>
                    <a:p>
                      <a:r>
                        <a:rPr lang="fr-FR" sz="1200"/>
                        <a:t>1.0</a:t>
                      </a:r>
                    </a:p>
                  </a:txBody>
                  <a:tcPr>
                    <a:solidFill>
                      <a:srgbClr val="E5E1E7"/>
                    </a:solidFill>
                  </a:tcPr>
                </a:tc>
                <a:tc>
                  <a:txBody>
                    <a:bodyPr/>
                    <a:lstStyle/>
                    <a:p>
                      <a:r>
                        <a:rPr lang="fr-FR" sz="1200"/>
                        <a:t>Alexandre QUACH</a:t>
                      </a:r>
                    </a:p>
                  </a:txBody>
                  <a:tcPr>
                    <a:solidFill>
                      <a:srgbClr val="E5E1E7"/>
                    </a:solidFill>
                  </a:tcPr>
                </a:tc>
                <a:tc>
                  <a:txBody>
                    <a:bodyPr/>
                    <a:lstStyle/>
                    <a:p>
                      <a:r>
                        <a:rPr lang="fr-FR" sz="1200"/>
                        <a:t>CC-BY-SA 4.0</a:t>
                      </a:r>
                    </a:p>
                  </a:txBody>
                  <a:tcPr>
                    <a:solidFill>
                      <a:srgbClr val="E5E1E7"/>
                    </a:solidFill>
                  </a:tcPr>
                </a:tc>
                <a:tc>
                  <a:txBody>
                    <a:bodyPr/>
                    <a:lstStyle/>
                    <a:p>
                      <a:r>
                        <a:rPr lang="fr-FR" sz="1200"/>
                        <a:t>First version</a:t>
                      </a:r>
                    </a:p>
                  </a:txBody>
                  <a:tcPr>
                    <a:solidFill>
                      <a:srgbClr val="E5E1E7"/>
                    </a:solidFill>
                  </a:tcPr>
                </a:tc>
                <a:extLst>
                  <a:ext uri="{0D108BD9-81ED-4DB2-BD59-A6C34878D82A}">
                    <a16:rowId xmlns:a16="http://schemas.microsoft.com/office/drawing/2014/main" val="2337500579"/>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extLst>
                  <a:ext uri="{0D108BD9-81ED-4DB2-BD59-A6C34878D82A}">
                    <a16:rowId xmlns:a16="http://schemas.microsoft.com/office/drawing/2014/main" val="3565347869"/>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extLst>
                  <a:ext uri="{0D108BD9-81ED-4DB2-BD59-A6C34878D82A}">
                    <a16:rowId xmlns:a16="http://schemas.microsoft.com/office/drawing/2014/main" val="26495474"/>
                  </a:ext>
                </a:extLst>
              </a:tr>
              <a:tr h="370840">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tc>
                  <a:txBody>
                    <a:bodyPr/>
                    <a:lstStyle/>
                    <a:p>
                      <a:endParaRPr lang="fr-FR" sz="1200"/>
                    </a:p>
                  </a:txBody>
                  <a:tcPr>
                    <a:solidFill>
                      <a:srgbClr val="E5E1E7"/>
                    </a:solidFill>
                  </a:tcPr>
                </a:tc>
                <a:extLst>
                  <a:ext uri="{0D108BD9-81ED-4DB2-BD59-A6C34878D82A}">
                    <a16:rowId xmlns:a16="http://schemas.microsoft.com/office/drawing/2014/main" val="3632454121"/>
                  </a:ext>
                </a:extLst>
              </a:tr>
            </a:tbl>
          </a:graphicData>
        </a:graphic>
      </p:graphicFrame>
      <p:sp>
        <p:nvSpPr>
          <p:cNvPr id="3" name="Titre 1">
            <a:extLst>
              <a:ext uri="{FF2B5EF4-FFF2-40B4-BE49-F238E27FC236}">
                <a16:creationId xmlns:a16="http://schemas.microsoft.com/office/drawing/2014/main" id="{2FFDDFDD-687B-A973-3951-71E04596EDD5}"/>
              </a:ext>
            </a:extLst>
          </p:cNvPr>
          <p:cNvSpPr txBox="1">
            <a:spLocks/>
          </p:cNvSpPr>
          <p:nvPr/>
        </p:nvSpPr>
        <p:spPr>
          <a:xfrm>
            <a:off x="-1" y="0"/>
            <a:ext cx="11357811" cy="1372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solidFill>
                  <a:srgbClr val="5C4E63"/>
                </a:solidFill>
                <a:latin typeface="Avenir Next LT Pro Light" panose="020B0304020202020204" pitchFamily="34" charset="0"/>
              </a:rPr>
              <a:t>Adaptation of the workshop</a:t>
            </a:r>
          </a:p>
        </p:txBody>
      </p:sp>
    </p:spTree>
    <p:extLst>
      <p:ext uri="{BB962C8B-B14F-4D97-AF65-F5344CB8AC3E}">
        <p14:creationId xmlns:p14="http://schemas.microsoft.com/office/powerpoint/2010/main" val="2545377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7CDFAEC-DCF0-41F3-BC5D-210D5E342199}"/>
              </a:ext>
            </a:extLst>
          </p:cNvPr>
          <p:cNvSpPr txBox="1"/>
          <p:nvPr/>
        </p:nvSpPr>
        <p:spPr>
          <a:xfrm>
            <a:off x="1654672" y="5406735"/>
            <a:ext cx="8696335" cy="1384995"/>
          </a:xfrm>
          <a:prstGeom prst="rect">
            <a:avLst/>
          </a:prstGeom>
          <a:noFill/>
        </p:spPr>
        <p:txBody>
          <a:bodyPr wrap="square" rtlCol="0">
            <a:spAutoFit/>
          </a:bodyPr>
          <a:lstStyle/>
          <a:p>
            <a:pPr algn="ctr"/>
            <a:r>
              <a:rPr lang="en-US" sz="3600" i="1">
                <a:solidFill>
                  <a:srgbClr val="8E2C48"/>
                </a:solidFill>
              </a:rPr>
              <a:t>This workshop version is created by Komyu </a:t>
            </a:r>
          </a:p>
          <a:p>
            <a:pPr algn="ctr"/>
            <a:r>
              <a:rPr lang="en-US" sz="2400" i="1">
                <a:solidFill>
                  <a:srgbClr val="8E2C48"/>
                </a:solidFill>
              </a:rPr>
              <a:t>Open up for Massive Co-operation</a:t>
            </a:r>
          </a:p>
          <a:p>
            <a:pPr algn="ctr"/>
            <a:r>
              <a:rPr lang="en-US" sz="2400" i="1">
                <a:solidFill>
                  <a:srgbClr val="8E2C48"/>
                </a:solidFill>
              </a:rPr>
              <a:t>www.komyu.io</a:t>
            </a:r>
          </a:p>
        </p:txBody>
      </p:sp>
      <p:sp>
        <p:nvSpPr>
          <p:cNvPr id="2" name="ZoneTexte 1">
            <a:extLst>
              <a:ext uri="{FF2B5EF4-FFF2-40B4-BE49-F238E27FC236}">
                <a16:creationId xmlns:a16="http://schemas.microsoft.com/office/drawing/2014/main" id="{6A346D0F-3170-C006-C2B1-BC0512A160CD}"/>
              </a:ext>
            </a:extLst>
          </p:cNvPr>
          <p:cNvSpPr txBox="1"/>
          <p:nvPr/>
        </p:nvSpPr>
        <p:spPr>
          <a:xfrm>
            <a:off x="2047865" y="2919567"/>
            <a:ext cx="7572652" cy="769441"/>
          </a:xfrm>
          <a:prstGeom prst="rect">
            <a:avLst/>
          </a:prstGeom>
          <a:noFill/>
        </p:spPr>
        <p:txBody>
          <a:bodyPr wrap="square" rtlCol="0">
            <a:spAutoFit/>
          </a:bodyPr>
          <a:lstStyle/>
          <a:p>
            <a:pPr algn="ctr"/>
            <a:r>
              <a:rPr lang="en-US" sz="4400" i="1">
                <a:solidFill>
                  <a:srgbClr val="5C4E63"/>
                </a:solidFill>
                <a:latin typeface="Avenir Next LT Pro" panose="020B0504020202020204" pitchFamily="34" charset="0"/>
              </a:rPr>
              <a:t>Thank you</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3" ma:contentTypeDescription="Crée un document." ma:contentTypeScope="" ma:versionID="a6922994653ce45a18bf2687ad3c6ab9">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3e6cb7c5407703863c3b507eb4c6b8e9"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E148E0-1818-4872-A186-F8F5F7CB34AC}">
  <ds:schemaRefs>
    <ds:schemaRef ds:uri="http://schemas.microsoft.com/sharepoint/v3/contenttype/forms"/>
  </ds:schemaRefs>
</ds:datastoreItem>
</file>

<file path=customXml/itemProps2.xml><?xml version="1.0" encoding="utf-8"?>
<ds:datastoreItem xmlns:ds="http://schemas.openxmlformats.org/officeDocument/2006/customXml" ds:itemID="{2D99CE35-5194-47C9-81B3-4E7960441513}">
  <ds:schemaRefs>
    <ds:schemaRef ds:uri="http://purl.org/dc/dcmitype/"/>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purl.org/dc/terms/"/>
    <ds:schemaRef ds:uri="ae28f11b-d4f1-47fe-837d-5da7d4fdfa8d"/>
    <ds:schemaRef ds:uri="http://schemas.openxmlformats.org/package/2006/metadata/core-properties"/>
    <ds:schemaRef ds:uri="2e054d75-df43-4e50-a610-0e7b0816d11a"/>
    <ds:schemaRef ds:uri="http://purl.org/dc/elements/1.1/"/>
  </ds:schemaRefs>
</ds:datastoreItem>
</file>

<file path=customXml/itemProps3.xml><?xml version="1.0" encoding="utf-8"?>
<ds:datastoreItem xmlns:ds="http://schemas.openxmlformats.org/officeDocument/2006/customXml" ds:itemID="{88CBD591-39B1-4B74-A730-1C0C051827C0}">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14792</TotalTime>
  <Words>3068</Words>
  <Application>Microsoft Office PowerPoint</Application>
  <PresentationFormat>Widescreen</PresentationFormat>
  <Paragraphs>424</Paragraphs>
  <Slides>33</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33</vt:i4>
      </vt:variant>
    </vt:vector>
  </HeadingPairs>
  <TitlesOfParts>
    <vt:vector size="38" baseType="lpstr">
      <vt:lpstr>Arial</vt:lpstr>
      <vt:lpstr>Avenir Next LT Pro</vt:lpstr>
      <vt:lpstr>Avenir Next LT Pro Light</vt:lpstr>
      <vt:lpstr>Calibri</vt:lpstr>
      <vt:lpstr>Thème Office</vt:lpstr>
      <vt:lpstr>Presentazione standard di PowerPoint</vt:lpstr>
      <vt:lpstr>CoP Goals to practices breakdown workshop Assumptions</vt:lpstr>
      <vt:lpstr>Community of Practice Goals to Practice breakdown Workshop</vt:lpstr>
      <vt:lpstr>For whom and why this Workshop?</vt:lpstr>
      <vt:lpstr>Presentation of the workshop steps (optional)</vt:lpstr>
      <vt:lpstr>Workshop organization</vt:lpstr>
      <vt:lpstr>Favorable &amp; not favorable conditions</vt:lpstr>
      <vt:lpstr>Step 1 : Explanation about workshop goals</vt:lpstr>
      <vt:lpstr>CoP Goals to Practices Breakdown workshop The pain points that lead to creation of this workshop</vt:lpstr>
      <vt:lpstr>CoP Goals to Practices Breakdown workshop “A Goal is not a practice”</vt:lpstr>
      <vt:lpstr>CoP Goals to Practice Breakdown workshop Level of (individual) Mastery of practice</vt:lpstr>
      <vt:lpstr>CoP Goals to Practice Breakdown workshop Different levels of transposability for practices (Transposability on the set of members of the CoP)</vt:lpstr>
      <vt:lpstr>CoP Goals to Practice Breakdown workshop The Practices Mastery-Transposability Matrix (PMTM)</vt:lpstr>
      <vt:lpstr>CoP Goals to Practice Breakdown workshop Types of practices</vt:lpstr>
      <vt:lpstr>CoP Goals to Practice Breakdown workshop Ideas of activities in the PMTM</vt:lpstr>
      <vt:lpstr>Workshop Material</vt:lpstr>
      <vt:lpstr>Presentazione standard di PowerPoint</vt:lpstr>
      <vt:lpstr>Presentazione standard di PowerPoint</vt:lpstr>
      <vt:lpstr>Presentazione standard di PowerPoint</vt:lpstr>
      <vt:lpstr>Presentazione standard di PowerPoint</vt:lpstr>
      <vt:lpstr>Presentazione standard di PowerPoint</vt:lpstr>
      <vt:lpstr>Organization</vt:lpstr>
      <vt:lpstr>Presentazione standard di PowerPoint</vt:lpstr>
      <vt:lpstr>Facilitation</vt:lpstr>
      <vt:lpstr>Presentazione standard di PowerPoint</vt:lpstr>
      <vt:lpstr>Presentazione standard di PowerPoint</vt:lpstr>
      <vt:lpstr>CoP Goals to Practice Breakdown workshop The Practices Mastery-Transposability Matrix (PMTM) Empty template to copy in virtual walls</vt:lpstr>
      <vt:lpstr>CoP Goals to Practice Breakdown workshop The Practices Mastery-Transposability Matrix (PMTM) Empty template to copy in virtual walls</vt:lpstr>
      <vt:lpstr>Presentazione standard di PowerPoint</vt:lpstr>
      <vt:lpstr>Presentazione standard di PowerPoint</vt:lpstr>
      <vt:lpstr>Adaptation</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keywords>, docId:12DF0415C821B4766871999C74F59CAD</cp:keywords>
  <cp:lastModifiedBy>Alexandre Quach</cp:lastModifiedBy>
  <cp:revision>5</cp:revision>
  <dcterms:created xsi:type="dcterms:W3CDTF">2021-02-02T23:16:24Z</dcterms:created>
  <dcterms:modified xsi:type="dcterms:W3CDTF">2023-05-23T15:49:40Z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