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F2_F40EC347.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2"/>
  </p:notesMasterIdLst>
  <p:sldIdLst>
    <p:sldId id="256" r:id="rId2"/>
    <p:sldId id="603" r:id="rId3"/>
    <p:sldId id="566" r:id="rId4"/>
    <p:sldId id="493" r:id="rId5"/>
    <p:sldId id="416" r:id="rId6"/>
    <p:sldId id="596" r:id="rId7"/>
    <p:sldId id="377" r:id="rId8"/>
    <p:sldId id="499" r:id="rId9"/>
    <p:sldId id="616" r:id="rId10"/>
    <p:sldId id="617" r:id="rId11"/>
    <p:sldId id="618" r:id="rId12"/>
    <p:sldId id="619" r:id="rId13"/>
    <p:sldId id="620" r:id="rId14"/>
    <p:sldId id="621" r:id="rId15"/>
    <p:sldId id="473" r:id="rId16"/>
    <p:sldId id="420" r:id="rId17"/>
    <p:sldId id="613" r:id="rId18"/>
    <p:sldId id="614" r:id="rId19"/>
    <p:sldId id="446" r:id="rId20"/>
    <p:sldId id="498" r:id="rId21"/>
    <p:sldId id="469" r:id="rId22"/>
    <p:sldId id="471" r:id="rId23"/>
    <p:sldId id="541" r:id="rId24"/>
    <p:sldId id="542" r:id="rId25"/>
    <p:sldId id="543" r:id="rId26"/>
    <p:sldId id="544" r:id="rId27"/>
    <p:sldId id="545" r:id="rId28"/>
    <p:sldId id="546" r:id="rId29"/>
    <p:sldId id="485" r:id="rId30"/>
    <p:sldId id="509" r:id="rId31"/>
    <p:sldId id="460" r:id="rId32"/>
    <p:sldId id="511" r:id="rId33"/>
    <p:sldId id="515" r:id="rId34"/>
    <p:sldId id="514" r:id="rId35"/>
    <p:sldId id="516" r:id="rId36"/>
    <p:sldId id="486" r:id="rId37"/>
    <p:sldId id="481" r:id="rId38"/>
    <p:sldId id="482" r:id="rId39"/>
    <p:sldId id="484" r:id="rId40"/>
    <p:sldId id="562" r:id="rId41"/>
    <p:sldId id="500" r:id="rId42"/>
    <p:sldId id="547" r:id="rId43"/>
    <p:sldId id="501" r:id="rId44"/>
    <p:sldId id="506" r:id="rId45"/>
    <p:sldId id="523" r:id="rId46"/>
    <p:sldId id="554" r:id="rId47"/>
    <p:sldId id="556" r:id="rId48"/>
    <p:sldId id="561" r:id="rId49"/>
    <p:sldId id="502" r:id="rId50"/>
    <p:sldId id="548" r:id="rId51"/>
    <p:sldId id="589" r:id="rId52"/>
    <p:sldId id="439" r:id="rId53"/>
    <p:sldId id="427" r:id="rId54"/>
    <p:sldId id="526" r:id="rId55"/>
    <p:sldId id="555" r:id="rId56"/>
    <p:sldId id="557" r:id="rId57"/>
    <p:sldId id="560" r:id="rId58"/>
    <p:sldId id="592" r:id="rId59"/>
    <p:sldId id="487" r:id="rId60"/>
    <p:sldId id="604" r:id="rId61"/>
    <p:sldId id="425" r:id="rId62"/>
    <p:sldId id="538" r:id="rId63"/>
    <p:sldId id="534" r:id="rId64"/>
    <p:sldId id="535" r:id="rId65"/>
    <p:sldId id="488" r:id="rId66"/>
    <p:sldId id="529" r:id="rId67"/>
    <p:sldId id="530" r:id="rId68"/>
    <p:sldId id="558" r:id="rId69"/>
    <p:sldId id="563" r:id="rId70"/>
    <p:sldId id="472" r:id="rId71"/>
    <p:sldId id="429" r:id="rId72"/>
    <p:sldId id="491" r:id="rId73"/>
    <p:sldId id="551" r:id="rId74"/>
    <p:sldId id="540" r:id="rId75"/>
    <p:sldId id="428" r:id="rId76"/>
    <p:sldId id="565" r:id="rId77"/>
    <p:sldId id="597" r:id="rId78"/>
    <p:sldId id="536" r:id="rId79"/>
    <p:sldId id="602" r:id="rId80"/>
    <p:sldId id="564" r:id="rId81"/>
    <p:sldId id="615" r:id="rId82"/>
    <p:sldId id="552" r:id="rId83"/>
    <p:sldId id="467" r:id="rId84"/>
    <p:sldId id="598" r:id="rId85"/>
    <p:sldId id="600" r:id="rId86"/>
    <p:sldId id="609" r:id="rId87"/>
    <p:sldId id="568" r:id="rId88"/>
    <p:sldId id="611" r:id="rId89"/>
    <p:sldId id="601" r:id="rId90"/>
    <p:sldId id="588" r:id="rId91"/>
    <p:sldId id="573" r:id="rId92"/>
    <p:sldId id="580" r:id="rId93"/>
    <p:sldId id="590" r:id="rId94"/>
    <p:sldId id="591" r:id="rId95"/>
    <p:sldId id="574" r:id="rId96"/>
    <p:sldId id="581" r:id="rId97"/>
    <p:sldId id="579" r:id="rId98"/>
    <p:sldId id="582" r:id="rId99"/>
    <p:sldId id="567" r:id="rId100"/>
    <p:sldId id="583" r:id="rId101"/>
    <p:sldId id="575" r:id="rId102"/>
    <p:sldId id="584" r:id="rId103"/>
    <p:sldId id="576" r:id="rId104"/>
    <p:sldId id="585" r:id="rId105"/>
    <p:sldId id="578" r:id="rId106"/>
    <p:sldId id="586" r:id="rId107"/>
    <p:sldId id="587" r:id="rId108"/>
    <p:sldId id="594" r:id="rId109"/>
    <p:sldId id="593" r:id="rId110"/>
    <p:sldId id="595" r:id="rId111"/>
    <p:sldId id="608" r:id="rId112"/>
    <p:sldId id="599" r:id="rId113"/>
    <p:sldId id="495" r:id="rId114"/>
    <p:sldId id="553" r:id="rId115"/>
    <p:sldId id="415" r:id="rId116"/>
    <p:sldId id="462" r:id="rId117"/>
    <p:sldId id="463" r:id="rId118"/>
    <p:sldId id="458" r:id="rId119"/>
    <p:sldId id="464" r:id="rId120"/>
    <p:sldId id="412" r:id="rId121"/>
    <p:sldId id="437" r:id="rId122"/>
    <p:sldId id="447" r:id="rId123"/>
    <p:sldId id="448" r:id="rId124"/>
    <p:sldId id="413" r:id="rId125"/>
    <p:sldId id="414" r:id="rId126"/>
    <p:sldId id="451" r:id="rId127"/>
    <p:sldId id="480" r:id="rId128"/>
    <p:sldId id="489" r:id="rId129"/>
    <p:sldId id="490" r:id="rId130"/>
    <p:sldId id="522" r:id="rId131"/>
    <p:sldId id="449" r:id="rId132"/>
    <p:sldId id="431" r:id="rId133"/>
    <p:sldId id="432" r:id="rId134"/>
    <p:sldId id="433" r:id="rId135"/>
    <p:sldId id="434" r:id="rId136"/>
    <p:sldId id="435" r:id="rId137"/>
    <p:sldId id="436" r:id="rId138"/>
    <p:sldId id="570" r:id="rId139"/>
    <p:sldId id="571" r:id="rId140"/>
    <p:sldId id="572" r:id="rId14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DB94370-03DC-4CAC-A1EA-7AC9AE8AE527}">
          <p14:sldIdLst>
            <p14:sldId id="256"/>
            <p14:sldId id="603"/>
            <p14:sldId id="566"/>
            <p14:sldId id="493"/>
            <p14:sldId id="416"/>
            <p14:sldId id="596"/>
            <p14:sldId id="377"/>
          </p14:sldIdLst>
        </p14:section>
        <p14:section name="Rappel" id="{34F0E425-FA9A-4A12-87F3-6DA9CFCCFB76}">
          <p14:sldIdLst>
            <p14:sldId id="499"/>
            <p14:sldId id="616"/>
            <p14:sldId id="617"/>
            <p14:sldId id="618"/>
            <p14:sldId id="619"/>
            <p14:sldId id="620"/>
            <p14:sldId id="621"/>
            <p14:sldId id="473"/>
            <p14:sldId id="420"/>
            <p14:sldId id="613"/>
            <p14:sldId id="614"/>
            <p14:sldId id="446"/>
          </p14:sldIdLst>
        </p14:section>
        <p14:section name="Exemple d'usage du cycle" id="{F597E3E3-89AF-4E88-ADEF-B6824E77AEB3}">
          <p14:sldIdLst>
            <p14:sldId id="498"/>
            <p14:sldId id="469"/>
            <p14:sldId id="471"/>
            <p14:sldId id="541"/>
            <p14:sldId id="542"/>
            <p14:sldId id="543"/>
            <p14:sldId id="544"/>
            <p14:sldId id="545"/>
            <p14:sldId id="546"/>
          </p14:sldIdLst>
        </p14:section>
        <p14:section name="CCC-Goals" id="{F8A4BC4B-2DC7-410F-B852-9A60F2C4A451}">
          <p14:sldIdLst>
            <p14:sldId id="485"/>
            <p14:sldId id="509"/>
            <p14:sldId id="460"/>
            <p14:sldId id="511"/>
            <p14:sldId id="515"/>
            <p14:sldId id="514"/>
            <p14:sldId id="516"/>
            <p14:sldId id="486"/>
            <p14:sldId id="481"/>
            <p14:sldId id="482"/>
            <p14:sldId id="484"/>
            <p14:sldId id="562"/>
          </p14:sldIdLst>
        </p14:section>
        <p14:section name="CCC-Flow" id="{D1571AA5-6031-427E-B1F0-601DD45E51E7}">
          <p14:sldIdLst>
            <p14:sldId id="500"/>
            <p14:sldId id="547"/>
            <p14:sldId id="501"/>
            <p14:sldId id="506"/>
            <p14:sldId id="523"/>
            <p14:sldId id="554"/>
            <p14:sldId id="556"/>
            <p14:sldId id="561"/>
          </p14:sldIdLst>
        </p14:section>
        <p14:section name="CCC-Groups" id="{4E89D524-9039-4526-86F7-DCB2EFDF8B63}">
          <p14:sldIdLst>
            <p14:sldId id="502"/>
            <p14:sldId id="548"/>
            <p14:sldId id="589"/>
            <p14:sldId id="439"/>
            <p14:sldId id="427"/>
            <p14:sldId id="526"/>
            <p14:sldId id="555"/>
            <p14:sldId id="557"/>
            <p14:sldId id="560"/>
            <p14:sldId id="592"/>
          </p14:sldIdLst>
        </p14:section>
        <p14:section name="CCC-Decision" id="{BBF0D20E-5E43-4AA6-8B9E-80615789D082}">
          <p14:sldIdLst>
            <p14:sldId id="487"/>
            <p14:sldId id="604"/>
            <p14:sldId id="425"/>
            <p14:sldId id="538"/>
            <p14:sldId id="534"/>
            <p14:sldId id="535"/>
            <p14:sldId id="488"/>
            <p14:sldId id="529"/>
            <p14:sldId id="530"/>
            <p14:sldId id="558"/>
            <p14:sldId id="563"/>
            <p14:sldId id="472"/>
            <p14:sldId id="429"/>
          </p14:sldIdLst>
        </p14:section>
        <p14:section name="CCC-Ambassadors" id="{42C5E509-AD14-4609-8DD7-D26B89425AFD}">
          <p14:sldIdLst>
            <p14:sldId id="491"/>
            <p14:sldId id="551"/>
            <p14:sldId id="540"/>
            <p14:sldId id="428"/>
            <p14:sldId id="565"/>
            <p14:sldId id="597"/>
            <p14:sldId id="536"/>
            <p14:sldId id="602"/>
            <p14:sldId id="564"/>
          </p14:sldIdLst>
        </p14:section>
        <p14:section name="CCC-Indicators" id="{C0C7D3F4-6520-46BD-9C6C-14F29B83D73A}">
          <p14:sldIdLst>
            <p14:sldId id="615"/>
            <p14:sldId id="552"/>
            <p14:sldId id="467"/>
            <p14:sldId id="598"/>
            <p14:sldId id="600"/>
            <p14:sldId id="609"/>
            <p14:sldId id="568"/>
            <p14:sldId id="611"/>
            <p14:sldId id="601"/>
            <p14:sldId id="588"/>
            <p14:sldId id="573"/>
            <p14:sldId id="580"/>
            <p14:sldId id="590"/>
            <p14:sldId id="591"/>
            <p14:sldId id="574"/>
            <p14:sldId id="581"/>
            <p14:sldId id="579"/>
            <p14:sldId id="582"/>
            <p14:sldId id="567"/>
            <p14:sldId id="583"/>
            <p14:sldId id="575"/>
            <p14:sldId id="584"/>
            <p14:sldId id="576"/>
            <p14:sldId id="585"/>
            <p14:sldId id="578"/>
            <p14:sldId id="586"/>
            <p14:sldId id="587"/>
            <p14:sldId id="594"/>
            <p14:sldId id="593"/>
            <p14:sldId id="595"/>
            <p14:sldId id="608"/>
            <p14:sldId id="599"/>
          </p14:sldIdLst>
        </p14:section>
        <p14:section name="Vue globale" id="{A74AED3A-3C05-4C75-8666-8B55BEAF44F2}">
          <p14:sldIdLst>
            <p14:sldId id="495"/>
            <p14:sldId id="553"/>
            <p14:sldId id="415"/>
            <p14:sldId id="462"/>
            <p14:sldId id="463"/>
            <p14:sldId id="458"/>
            <p14:sldId id="464"/>
            <p14:sldId id="412"/>
            <p14:sldId id="437"/>
            <p14:sldId id="447"/>
            <p14:sldId id="448"/>
            <p14:sldId id="413"/>
            <p14:sldId id="414"/>
            <p14:sldId id="451"/>
            <p14:sldId id="480"/>
            <p14:sldId id="489"/>
            <p14:sldId id="490"/>
          </p14:sldIdLst>
        </p14:section>
        <p14:section name="Détail de chaque phase" id="{9934D312-CEA2-469A-9C8A-EEFB729DC35F}">
          <p14:sldIdLst>
            <p14:sldId id="522"/>
            <p14:sldId id="449"/>
            <p14:sldId id="431"/>
            <p14:sldId id="432"/>
            <p14:sldId id="433"/>
            <p14:sldId id="434"/>
            <p14:sldId id="435"/>
            <p14:sldId id="436"/>
          </p14:sldIdLst>
        </p14:section>
        <p14:section name="Cas d'interversion de phases" id="{C00B6603-0794-40F6-AC71-3969BD9E986B}">
          <p14:sldIdLst>
            <p14:sldId id="570"/>
            <p14:sldId id="571"/>
            <p14:sldId id="57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70EC6AD-4FF4-BF5F-83C9-5B991892CCBC}" name="Vanessa Hellebuyck" initials="VH" userId="f5b0253cc042002a" providerId="Windows Live"/>
  <p188:author id="{4E639BF4-B2A0-7906-371E-169088EFEE04}" name="Alexandre Quach" initials="AQ" userId="7bb690c8a6e028e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83AA"/>
    <a:srgbClr val="ED7D31"/>
    <a:srgbClr val="FFFF99"/>
    <a:srgbClr val="BFBFBF"/>
    <a:srgbClr val="9DC3E6"/>
    <a:srgbClr val="A9D18E"/>
    <a:srgbClr val="8FAADC"/>
    <a:srgbClr val="FFFFFF"/>
    <a:srgbClr val="A5A5A5"/>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2D718D-AEC8-4580-95B2-9891446AA4D6}" v="2" dt="2022-09-26T07:51:36.395"/>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95" autoAdjust="0"/>
    <p:restoredTop sz="94660"/>
  </p:normalViewPr>
  <p:slideViewPr>
    <p:cSldViewPr snapToGrid="0">
      <p:cViewPr varScale="1">
        <p:scale>
          <a:sx n="108" d="100"/>
          <a:sy n="108" d="100"/>
        </p:scale>
        <p:origin x="51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microsoft.com/office/2018/10/relationships/authors" Target="author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presProps" Target="presProps.xml"/><Relationship Id="rId148"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viewProps" Target="viewProps.xml"/><Relationship Id="rId90" Type="http://schemas.openxmlformats.org/officeDocument/2006/relationships/slide" Target="slides/slide8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2C2D718D-AEC8-4580-95B2-9891446AA4D6}"/>
    <pc:docChg chg="addSld delSld modSld addSection modSection">
      <pc:chgData name="Alexandre Quach" userId="7bb690c8a6e028e4" providerId="LiveId" clId="{2C2D718D-AEC8-4580-95B2-9891446AA4D6}" dt="2022-09-28T13:16:35.620" v="5" actId="1076"/>
      <pc:docMkLst>
        <pc:docMk/>
      </pc:docMkLst>
      <pc:sldChg chg="del">
        <pc:chgData name="Alexandre Quach" userId="7bb690c8a6e028e4" providerId="LiveId" clId="{2C2D718D-AEC8-4580-95B2-9891446AA4D6}" dt="2022-09-26T07:51:44.790" v="4" actId="47"/>
        <pc:sldMkLst>
          <pc:docMk/>
          <pc:sldMk cId="1951727762" sldId="418"/>
        </pc:sldMkLst>
      </pc:sldChg>
      <pc:sldChg chg="del">
        <pc:chgData name="Alexandre Quach" userId="7bb690c8a6e028e4" providerId="LiveId" clId="{2C2D718D-AEC8-4580-95B2-9891446AA4D6}" dt="2022-09-26T07:51:44.790" v="4" actId="47"/>
        <pc:sldMkLst>
          <pc:docMk/>
          <pc:sldMk cId="1472743583" sldId="459"/>
        </pc:sldMkLst>
      </pc:sldChg>
      <pc:sldChg chg="modSp mod">
        <pc:chgData name="Alexandre Quach" userId="7bb690c8a6e028e4" providerId="LiveId" clId="{2C2D718D-AEC8-4580-95B2-9891446AA4D6}" dt="2022-09-28T13:16:35.620" v="5" actId="1076"/>
        <pc:sldMkLst>
          <pc:docMk/>
          <pc:sldMk cId="3225251993" sldId="547"/>
        </pc:sldMkLst>
        <pc:spChg chg="mod">
          <ac:chgData name="Alexandre Quach" userId="7bb690c8a6e028e4" providerId="LiveId" clId="{2C2D718D-AEC8-4580-95B2-9891446AA4D6}" dt="2022-09-28T13:16:35.620" v="5" actId="1076"/>
          <ac:spMkLst>
            <pc:docMk/>
            <pc:sldMk cId="3225251993" sldId="547"/>
            <ac:spMk id="17" creationId="{E70E1083-BB02-2CB6-C1E5-8C5E3141A37A}"/>
          </ac:spMkLst>
        </pc:spChg>
      </pc:sldChg>
      <pc:sldChg chg="add">
        <pc:chgData name="Alexandre Quach" userId="7bb690c8a6e028e4" providerId="LiveId" clId="{2C2D718D-AEC8-4580-95B2-9891446AA4D6}" dt="2022-09-25T12:00:39.651" v="2"/>
        <pc:sldMkLst>
          <pc:docMk/>
          <pc:sldMk cId="3096041417" sldId="570"/>
        </pc:sldMkLst>
      </pc:sldChg>
      <pc:sldChg chg="add">
        <pc:chgData name="Alexandre Quach" userId="7bb690c8a6e028e4" providerId="LiveId" clId="{2C2D718D-AEC8-4580-95B2-9891446AA4D6}" dt="2022-09-25T12:00:39.651" v="2"/>
        <pc:sldMkLst>
          <pc:docMk/>
          <pc:sldMk cId="3765797810" sldId="571"/>
        </pc:sldMkLst>
      </pc:sldChg>
      <pc:sldChg chg="add">
        <pc:chgData name="Alexandre Quach" userId="7bb690c8a6e028e4" providerId="LiveId" clId="{2C2D718D-AEC8-4580-95B2-9891446AA4D6}" dt="2022-09-25T12:00:39.651" v="2"/>
        <pc:sldMkLst>
          <pc:docMk/>
          <pc:sldMk cId="1812196524" sldId="572"/>
        </pc:sldMkLst>
      </pc:sldChg>
      <pc:sldChg chg="del">
        <pc:chgData name="Alexandre Quach" userId="7bb690c8a6e028e4" providerId="LiveId" clId="{2C2D718D-AEC8-4580-95B2-9891446AA4D6}" dt="2022-09-26T07:51:44.790" v="4" actId="47"/>
        <pc:sldMkLst>
          <pc:docMk/>
          <pc:sldMk cId="3142365438" sldId="605"/>
        </pc:sldMkLst>
      </pc:sldChg>
      <pc:sldChg chg="del">
        <pc:chgData name="Alexandre Quach" userId="7bb690c8a6e028e4" providerId="LiveId" clId="{2C2D718D-AEC8-4580-95B2-9891446AA4D6}" dt="2022-09-26T07:51:44.790" v="4" actId="47"/>
        <pc:sldMkLst>
          <pc:docMk/>
          <pc:sldMk cId="417682992" sldId="606"/>
        </pc:sldMkLst>
      </pc:sldChg>
      <pc:sldChg chg="del">
        <pc:chgData name="Alexandre Quach" userId="7bb690c8a6e028e4" providerId="LiveId" clId="{2C2D718D-AEC8-4580-95B2-9891446AA4D6}" dt="2022-09-26T07:51:44.790" v="4" actId="47"/>
        <pc:sldMkLst>
          <pc:docMk/>
          <pc:sldMk cId="2977920903" sldId="607"/>
        </pc:sldMkLst>
      </pc:sldChg>
      <pc:sldChg chg="del">
        <pc:chgData name="Alexandre Quach" userId="7bb690c8a6e028e4" providerId="LiveId" clId="{2C2D718D-AEC8-4580-95B2-9891446AA4D6}" dt="2022-09-26T07:51:44.790" v="4" actId="47"/>
        <pc:sldMkLst>
          <pc:docMk/>
          <pc:sldMk cId="4105630392" sldId="610"/>
        </pc:sldMkLst>
      </pc:sldChg>
      <pc:sldChg chg="add">
        <pc:chgData name="Alexandre Quach" userId="7bb690c8a6e028e4" providerId="LiveId" clId="{2C2D718D-AEC8-4580-95B2-9891446AA4D6}" dt="2022-09-26T07:51:36.383" v="3"/>
        <pc:sldMkLst>
          <pc:docMk/>
          <pc:sldMk cId="1939526694" sldId="616"/>
        </pc:sldMkLst>
      </pc:sldChg>
      <pc:sldChg chg="add">
        <pc:chgData name="Alexandre Quach" userId="7bb690c8a6e028e4" providerId="LiveId" clId="{2C2D718D-AEC8-4580-95B2-9891446AA4D6}" dt="2022-09-26T07:51:36.383" v="3"/>
        <pc:sldMkLst>
          <pc:docMk/>
          <pc:sldMk cId="684098887" sldId="617"/>
        </pc:sldMkLst>
      </pc:sldChg>
      <pc:sldChg chg="add">
        <pc:chgData name="Alexandre Quach" userId="7bb690c8a6e028e4" providerId="LiveId" clId="{2C2D718D-AEC8-4580-95B2-9891446AA4D6}" dt="2022-09-26T07:51:36.383" v="3"/>
        <pc:sldMkLst>
          <pc:docMk/>
          <pc:sldMk cId="830060184" sldId="618"/>
        </pc:sldMkLst>
      </pc:sldChg>
      <pc:sldChg chg="add">
        <pc:chgData name="Alexandre Quach" userId="7bb690c8a6e028e4" providerId="LiveId" clId="{2C2D718D-AEC8-4580-95B2-9891446AA4D6}" dt="2022-09-26T07:51:36.383" v="3"/>
        <pc:sldMkLst>
          <pc:docMk/>
          <pc:sldMk cId="3224028877" sldId="619"/>
        </pc:sldMkLst>
      </pc:sldChg>
      <pc:sldChg chg="add">
        <pc:chgData name="Alexandre Quach" userId="7bb690c8a6e028e4" providerId="LiveId" clId="{2C2D718D-AEC8-4580-95B2-9891446AA4D6}" dt="2022-09-26T07:51:36.383" v="3"/>
        <pc:sldMkLst>
          <pc:docMk/>
          <pc:sldMk cId="366242873" sldId="620"/>
        </pc:sldMkLst>
      </pc:sldChg>
      <pc:sldChg chg="add">
        <pc:chgData name="Alexandre Quach" userId="7bb690c8a6e028e4" providerId="LiveId" clId="{2C2D718D-AEC8-4580-95B2-9891446AA4D6}" dt="2022-09-26T07:51:36.383" v="3"/>
        <pc:sldMkLst>
          <pc:docMk/>
          <pc:sldMk cId="2431483920" sldId="621"/>
        </pc:sldMkLst>
      </pc:sldChg>
    </pc:docChg>
  </pc:docChgLst>
</pc:chgInfo>
</file>

<file path=ppt/comments/modernComment_1F2_F40EC347.xml><?xml version="1.0" encoding="utf-8"?>
<p188:cmLst xmlns:a="http://schemas.openxmlformats.org/drawingml/2006/main" xmlns:r="http://schemas.openxmlformats.org/officeDocument/2006/relationships" xmlns:p188="http://schemas.microsoft.com/office/powerpoint/2018/8/main">
  <p188:cm id="{2BA8DC5A-C29D-4E9D-A337-CBDF58A4867D}" authorId="{570EC6AD-4FF4-BF5F-83C9-5B991892CCBC}" status="resolved" created="2022-06-17T11:50:21.649" complete="100000">
    <ac:txMkLst xmlns:ac="http://schemas.microsoft.com/office/drawing/2013/main/command">
      <pc:docMk xmlns:pc="http://schemas.microsoft.com/office/powerpoint/2013/main/command"/>
      <pc:sldMk xmlns:pc="http://schemas.microsoft.com/office/powerpoint/2013/main/command" cId="4094608199" sldId="498"/>
      <ac:spMk id="9" creationId="{72684439-8F46-4BB9-AF9C-82D301DB2013}"/>
      <ac:txMk cp="0" len="32">
        <ac:context len="33" hash="2305965073"/>
      </ac:txMk>
    </ac:txMkLst>
    <p188:pos x="2947573" y="268482"/>
    <p188:txBody>
      <a:bodyPr/>
      <a:lstStyle/>
      <a:p>
        <a:r>
          <a:rPr lang="fr-FR"/>
          <a:t>Vérifier le texte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DC682-A0FA-4050-8373-3D0B6B41B593}" type="datetimeFigureOut">
              <a:rPr lang="fr-FR" smtClean="0"/>
              <a:t>28/09/2022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81247-AF34-4F93-ACB2-EAAC5B47D7E6}" type="slidenum">
              <a:rPr lang="fr-FR" smtClean="0"/>
              <a:t>‹N°›</a:t>
            </a:fld>
            <a:endParaRPr lang="fr-FR"/>
          </a:p>
        </p:txBody>
      </p:sp>
    </p:spTree>
    <p:extLst>
      <p:ext uri="{BB962C8B-B14F-4D97-AF65-F5344CB8AC3E}">
        <p14:creationId xmlns:p14="http://schemas.microsoft.com/office/powerpoint/2010/main" val="4072157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13</a:t>
            </a:fld>
            <a:endParaRPr lang="fr-FR"/>
          </a:p>
        </p:txBody>
      </p:sp>
    </p:spTree>
    <p:extLst>
      <p:ext uri="{BB962C8B-B14F-4D97-AF65-F5344CB8AC3E}">
        <p14:creationId xmlns:p14="http://schemas.microsoft.com/office/powerpoint/2010/main" val="3496697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32</a:t>
            </a:fld>
            <a:endParaRPr lang="fr-FR"/>
          </a:p>
        </p:txBody>
      </p:sp>
    </p:spTree>
    <p:extLst>
      <p:ext uri="{BB962C8B-B14F-4D97-AF65-F5344CB8AC3E}">
        <p14:creationId xmlns:p14="http://schemas.microsoft.com/office/powerpoint/2010/main" val="8192680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33</a:t>
            </a:fld>
            <a:endParaRPr lang="fr-FR"/>
          </a:p>
        </p:txBody>
      </p:sp>
    </p:spTree>
    <p:extLst>
      <p:ext uri="{BB962C8B-B14F-4D97-AF65-F5344CB8AC3E}">
        <p14:creationId xmlns:p14="http://schemas.microsoft.com/office/powerpoint/2010/main" val="3540344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34</a:t>
            </a:fld>
            <a:endParaRPr lang="fr-FR"/>
          </a:p>
        </p:txBody>
      </p:sp>
    </p:spTree>
    <p:extLst>
      <p:ext uri="{BB962C8B-B14F-4D97-AF65-F5344CB8AC3E}">
        <p14:creationId xmlns:p14="http://schemas.microsoft.com/office/powerpoint/2010/main" val="3359337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35</a:t>
            </a:fld>
            <a:endParaRPr lang="fr-FR"/>
          </a:p>
        </p:txBody>
      </p:sp>
    </p:spTree>
    <p:extLst>
      <p:ext uri="{BB962C8B-B14F-4D97-AF65-F5344CB8AC3E}">
        <p14:creationId xmlns:p14="http://schemas.microsoft.com/office/powerpoint/2010/main" val="335846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114</a:t>
            </a:fld>
            <a:endParaRPr lang="fr-FR"/>
          </a:p>
        </p:txBody>
      </p:sp>
    </p:spTree>
    <p:extLst>
      <p:ext uri="{BB962C8B-B14F-4D97-AF65-F5344CB8AC3E}">
        <p14:creationId xmlns:p14="http://schemas.microsoft.com/office/powerpoint/2010/main" val="3996989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685310-3C18-492D-A7A8-CC91C275C66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3D25BEB-22F5-4A93-BA87-2B343EB24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620E8B8-2550-49F0-BC3A-2E9212F48318}"/>
              </a:ext>
            </a:extLst>
          </p:cNvPr>
          <p:cNvSpPr>
            <a:spLocks noGrp="1"/>
          </p:cNvSpPr>
          <p:nvPr>
            <p:ph type="dt" sz="half" idx="10"/>
          </p:nvPr>
        </p:nvSpPr>
        <p:spPr/>
        <p:txBody>
          <a:bodyPr/>
          <a:lstStyle/>
          <a:p>
            <a:fld id="{2E6439E6-DD8C-4C85-9C7B-9357438C85CB}" type="datetimeFigureOut">
              <a:rPr lang="fr-FR" smtClean="0"/>
              <a:t>28/09/2022</a:t>
            </a:fld>
            <a:endParaRPr lang="fr-FR"/>
          </a:p>
        </p:txBody>
      </p:sp>
      <p:sp>
        <p:nvSpPr>
          <p:cNvPr id="5" name="Espace réservé du pied de page 4">
            <a:extLst>
              <a:ext uri="{FF2B5EF4-FFF2-40B4-BE49-F238E27FC236}">
                <a16:creationId xmlns:a16="http://schemas.microsoft.com/office/drawing/2014/main" id="{742B22F5-7CE5-418E-BA73-7D740CD7FAB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E58BF29-CC9C-42AE-8CE7-BDEAD7D775B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77488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845003-365C-485F-BF7C-4D3DB52CFDF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28/09/2022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96238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28/09/2022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5717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28/09/2022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a:t>Debriefing</a:t>
            </a:r>
          </a:p>
        </p:txBody>
      </p:sp>
    </p:spTree>
    <p:extLst>
      <p:ext uri="{BB962C8B-B14F-4D97-AF65-F5344CB8AC3E}">
        <p14:creationId xmlns:p14="http://schemas.microsoft.com/office/powerpoint/2010/main" val="1485874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FF019E-C250-4721-A2DD-B0BC0B0593E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8356EF-D241-4C79-9805-7BBBA6930F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0A3F2E1-6410-450F-A2F1-20A06E33EF41}"/>
              </a:ext>
            </a:extLst>
          </p:cNvPr>
          <p:cNvSpPr>
            <a:spLocks noGrp="1"/>
          </p:cNvSpPr>
          <p:nvPr>
            <p:ph type="dt" sz="half" idx="10"/>
          </p:nvPr>
        </p:nvSpPr>
        <p:spPr/>
        <p:txBody>
          <a:bodyPr/>
          <a:lstStyle/>
          <a:p>
            <a:fld id="{2E6439E6-DD8C-4C85-9C7B-9357438C85CB}" type="datetimeFigureOut">
              <a:rPr lang="fr-FR" smtClean="0"/>
              <a:t>28/09/2022</a:t>
            </a:fld>
            <a:endParaRPr lang="fr-FR"/>
          </a:p>
        </p:txBody>
      </p:sp>
      <p:sp>
        <p:nvSpPr>
          <p:cNvPr id="5" name="Espace réservé du pied de page 4">
            <a:extLst>
              <a:ext uri="{FF2B5EF4-FFF2-40B4-BE49-F238E27FC236}">
                <a16:creationId xmlns:a16="http://schemas.microsoft.com/office/drawing/2014/main" id="{4E458F88-CC4C-44D1-8A3D-708CD81D24C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68F6612-ED10-435C-9F69-798332FB1C9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179951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6D998D-00F1-43B6-A0CC-3F259159249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ED72D67-0BE8-40AF-A5EB-8C9EC67AA3F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14C9918-64C1-4C20-8DC2-068DB8B1EF7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E81EC0D-F0AB-4959-92E6-E708FD97B8DD}"/>
              </a:ext>
            </a:extLst>
          </p:cNvPr>
          <p:cNvSpPr>
            <a:spLocks noGrp="1"/>
          </p:cNvSpPr>
          <p:nvPr>
            <p:ph type="dt" sz="half" idx="10"/>
          </p:nvPr>
        </p:nvSpPr>
        <p:spPr/>
        <p:txBody>
          <a:bodyPr/>
          <a:lstStyle/>
          <a:p>
            <a:fld id="{2E6439E6-DD8C-4C85-9C7B-9357438C85CB}" type="datetimeFigureOut">
              <a:rPr lang="fr-FR" smtClean="0"/>
              <a:t>28/09/2022</a:t>
            </a:fld>
            <a:endParaRPr lang="fr-FR"/>
          </a:p>
        </p:txBody>
      </p:sp>
      <p:sp>
        <p:nvSpPr>
          <p:cNvPr id="6" name="Espace réservé du pied de page 5">
            <a:extLst>
              <a:ext uri="{FF2B5EF4-FFF2-40B4-BE49-F238E27FC236}">
                <a16:creationId xmlns:a16="http://schemas.microsoft.com/office/drawing/2014/main" id="{FF06FDF8-5496-4A36-8B6D-DAEB8545D5D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332FEF2-9FF5-4D55-B5D5-65C4ED3574D2}"/>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699500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0A7C6-049A-4700-95E5-79A2884B533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59723CF-0BEA-407F-B1FB-13CCEFE386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C1E08F6-C285-46DA-9C04-A9964B35745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06465F0-C6B8-466D-9229-5FE9A60A10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7C7CCEE-23DA-484E-B06E-8F59DEB43A8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AADD7D6-40D2-404E-9827-38A49F4DE456}"/>
              </a:ext>
            </a:extLst>
          </p:cNvPr>
          <p:cNvSpPr>
            <a:spLocks noGrp="1"/>
          </p:cNvSpPr>
          <p:nvPr>
            <p:ph type="dt" sz="half" idx="10"/>
          </p:nvPr>
        </p:nvSpPr>
        <p:spPr/>
        <p:txBody>
          <a:bodyPr/>
          <a:lstStyle/>
          <a:p>
            <a:fld id="{2E6439E6-DD8C-4C85-9C7B-9357438C85CB}" type="datetimeFigureOut">
              <a:rPr lang="fr-FR" smtClean="0"/>
              <a:t>28/09/2022</a:t>
            </a:fld>
            <a:endParaRPr lang="fr-FR"/>
          </a:p>
        </p:txBody>
      </p:sp>
      <p:sp>
        <p:nvSpPr>
          <p:cNvPr id="8" name="Espace réservé du pied de page 7">
            <a:extLst>
              <a:ext uri="{FF2B5EF4-FFF2-40B4-BE49-F238E27FC236}">
                <a16:creationId xmlns:a16="http://schemas.microsoft.com/office/drawing/2014/main" id="{43E4C597-FE12-4177-B73A-2E0477E1121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FE31893-7592-4F7C-B754-E02850F8D62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997732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160D01-16EA-42AC-A2F8-D4A8EBE8E96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CE87F8B-F0DD-4B62-8BB3-1B2A6690475B}"/>
              </a:ext>
            </a:extLst>
          </p:cNvPr>
          <p:cNvSpPr>
            <a:spLocks noGrp="1"/>
          </p:cNvSpPr>
          <p:nvPr>
            <p:ph type="dt" sz="half" idx="10"/>
          </p:nvPr>
        </p:nvSpPr>
        <p:spPr/>
        <p:txBody>
          <a:bodyPr/>
          <a:lstStyle/>
          <a:p>
            <a:fld id="{2E6439E6-DD8C-4C85-9C7B-9357438C85CB}" type="datetimeFigureOut">
              <a:rPr lang="fr-FR" smtClean="0"/>
              <a:t>28/09/2022</a:t>
            </a:fld>
            <a:endParaRPr lang="fr-FR"/>
          </a:p>
        </p:txBody>
      </p:sp>
      <p:sp>
        <p:nvSpPr>
          <p:cNvPr id="4" name="Espace réservé du pied de page 3">
            <a:extLst>
              <a:ext uri="{FF2B5EF4-FFF2-40B4-BE49-F238E27FC236}">
                <a16:creationId xmlns:a16="http://schemas.microsoft.com/office/drawing/2014/main" id="{768A5997-972B-4E19-B70C-167B6EE6526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4A7C1DE-0436-4509-8C57-39C1E2FD084F}"/>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069599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98BF9B8-C33F-455E-9D2E-E9133AF04E3C}"/>
              </a:ext>
            </a:extLst>
          </p:cNvPr>
          <p:cNvSpPr>
            <a:spLocks noGrp="1"/>
          </p:cNvSpPr>
          <p:nvPr>
            <p:ph type="dt" sz="half" idx="10"/>
          </p:nvPr>
        </p:nvSpPr>
        <p:spPr/>
        <p:txBody>
          <a:bodyPr/>
          <a:lstStyle/>
          <a:p>
            <a:fld id="{2E6439E6-DD8C-4C85-9C7B-9357438C85CB}" type="datetimeFigureOut">
              <a:rPr lang="fr-FR" smtClean="0"/>
              <a:t>28/09/2022</a:t>
            </a:fld>
            <a:endParaRPr lang="fr-FR"/>
          </a:p>
        </p:txBody>
      </p:sp>
      <p:sp>
        <p:nvSpPr>
          <p:cNvPr id="3" name="Espace réservé du pied de page 2">
            <a:extLst>
              <a:ext uri="{FF2B5EF4-FFF2-40B4-BE49-F238E27FC236}">
                <a16:creationId xmlns:a16="http://schemas.microsoft.com/office/drawing/2014/main" id="{EDA78FEB-C0D0-467D-94FE-A6F44C9B45F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D0FEB0A-B50E-45FC-A24C-D14D5C95E306}"/>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44830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Vide">
    <p:spTree>
      <p:nvGrpSpPr>
        <p:cNvPr id="1" name=""/>
        <p:cNvGrpSpPr/>
        <p:nvPr/>
      </p:nvGrpSpPr>
      <p:grpSpPr>
        <a:xfrm>
          <a:off x="0" y="0"/>
          <a:ext cx="0" cy="0"/>
          <a:chOff x="0" y="0"/>
          <a:chExt cx="0" cy="0"/>
        </a:xfrm>
      </p:grpSpPr>
      <p:graphicFrame>
        <p:nvGraphicFramePr>
          <p:cNvPr id="5" name="Tableau 5">
            <a:extLst>
              <a:ext uri="{FF2B5EF4-FFF2-40B4-BE49-F238E27FC236}">
                <a16:creationId xmlns:a16="http://schemas.microsoft.com/office/drawing/2014/main" id="{43626336-AD4F-46C9-BBDD-93CDD63916D1}"/>
              </a:ext>
            </a:extLst>
          </p:cNvPr>
          <p:cNvGraphicFramePr>
            <a:graphicFrameLocks noGrp="1"/>
          </p:cNvGraphicFramePr>
          <p:nvPr userDrawn="1">
            <p:extLst>
              <p:ext uri="{D42A27DB-BD31-4B8C-83A1-F6EECF244321}">
                <p14:modId xmlns:p14="http://schemas.microsoft.com/office/powerpoint/2010/main" val="3802497704"/>
              </p:ext>
            </p:extLst>
          </p:nvPr>
        </p:nvGraphicFramePr>
        <p:xfrm>
          <a:off x="0" y="814646"/>
          <a:ext cx="12192000" cy="6043354"/>
        </p:xfrm>
        <a:graphic>
          <a:graphicData uri="http://schemas.openxmlformats.org/drawingml/2006/table">
            <a:tbl>
              <a:tblPr>
                <a:tableStyleId>{5C22544A-7EE6-4342-B048-85BDC9FD1C3A}</a:tableStyleId>
              </a:tblPr>
              <a:tblGrid>
                <a:gridCol w="4064000">
                  <a:extLst>
                    <a:ext uri="{9D8B030D-6E8A-4147-A177-3AD203B41FA5}">
                      <a16:colId xmlns:a16="http://schemas.microsoft.com/office/drawing/2014/main" val="2632507525"/>
                    </a:ext>
                  </a:extLst>
                </a:gridCol>
                <a:gridCol w="4064000">
                  <a:extLst>
                    <a:ext uri="{9D8B030D-6E8A-4147-A177-3AD203B41FA5}">
                      <a16:colId xmlns:a16="http://schemas.microsoft.com/office/drawing/2014/main" val="3186682466"/>
                    </a:ext>
                  </a:extLst>
                </a:gridCol>
                <a:gridCol w="4064000">
                  <a:extLst>
                    <a:ext uri="{9D8B030D-6E8A-4147-A177-3AD203B41FA5}">
                      <a16:colId xmlns:a16="http://schemas.microsoft.com/office/drawing/2014/main" val="2377753385"/>
                    </a:ext>
                  </a:extLst>
                </a:gridCol>
              </a:tblGrid>
              <a:tr h="3021677">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extLst>
                  <a:ext uri="{0D108BD9-81ED-4DB2-BD59-A6C34878D82A}">
                    <a16:rowId xmlns:a16="http://schemas.microsoft.com/office/drawing/2014/main" val="2236824995"/>
                  </a:ext>
                </a:extLst>
              </a:tr>
              <a:tr h="3021677">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solidFill>
                      <a:schemeClr val="bg1"/>
                    </a:solidFill>
                  </a:tcPr>
                </a:tc>
                <a:extLst>
                  <a:ext uri="{0D108BD9-81ED-4DB2-BD59-A6C34878D82A}">
                    <a16:rowId xmlns:a16="http://schemas.microsoft.com/office/drawing/2014/main" val="755290701"/>
                  </a:ext>
                </a:extLst>
              </a:tr>
            </a:tbl>
          </a:graphicData>
        </a:graphic>
      </p:graphicFrame>
      <p:sp>
        <p:nvSpPr>
          <p:cNvPr id="8" name="Espace réservé du texte 7">
            <a:extLst>
              <a:ext uri="{FF2B5EF4-FFF2-40B4-BE49-F238E27FC236}">
                <a16:creationId xmlns:a16="http://schemas.microsoft.com/office/drawing/2014/main" id="{87F67BE9-1A26-41E5-8920-7CC2EF2E57DE}"/>
              </a:ext>
            </a:extLst>
          </p:cNvPr>
          <p:cNvSpPr>
            <a:spLocks noGrp="1"/>
          </p:cNvSpPr>
          <p:nvPr>
            <p:ph type="body" sz="quarter" idx="10"/>
          </p:nvPr>
        </p:nvSpPr>
        <p:spPr>
          <a:xfrm>
            <a:off x="0" y="0"/>
            <a:ext cx="12192000" cy="814388"/>
          </a:xfrm>
        </p:spPr>
        <p:txBody>
          <a:bodyPr anchor="ctr"/>
          <a:lstStyle>
            <a:lvl1pPr marL="0" indent="0" algn="ctr">
              <a:buNone/>
              <a:defRPr/>
            </a:lvl1pPr>
          </a:lstStyle>
          <a:p>
            <a:pPr lvl="0"/>
            <a:r>
              <a:rPr lang="fr-FR"/>
              <a:t>Cliquez pour modifier les styles du texte du masque</a:t>
            </a:r>
          </a:p>
        </p:txBody>
      </p:sp>
    </p:spTree>
    <p:extLst>
      <p:ext uri="{BB962C8B-B14F-4D97-AF65-F5344CB8AC3E}">
        <p14:creationId xmlns:p14="http://schemas.microsoft.com/office/powerpoint/2010/main" val="4032107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3E685-751E-429E-8B10-DF14A67224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BF45ACF-D6C9-42C2-B41A-DA9D0C212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68E6850-4938-476B-8DD5-2A355B8D9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705D50-6C65-4188-A94C-B764F1FF8EEB}"/>
              </a:ext>
            </a:extLst>
          </p:cNvPr>
          <p:cNvSpPr>
            <a:spLocks noGrp="1"/>
          </p:cNvSpPr>
          <p:nvPr>
            <p:ph type="dt" sz="half" idx="10"/>
          </p:nvPr>
        </p:nvSpPr>
        <p:spPr/>
        <p:txBody>
          <a:bodyPr/>
          <a:lstStyle/>
          <a:p>
            <a:fld id="{2E6439E6-DD8C-4C85-9C7B-9357438C85CB}" type="datetimeFigureOut">
              <a:rPr lang="fr-FR" smtClean="0"/>
              <a:t>28/09/2022</a:t>
            </a:fld>
            <a:endParaRPr lang="fr-FR"/>
          </a:p>
        </p:txBody>
      </p:sp>
      <p:sp>
        <p:nvSpPr>
          <p:cNvPr id="6" name="Espace réservé du pied de page 5">
            <a:extLst>
              <a:ext uri="{FF2B5EF4-FFF2-40B4-BE49-F238E27FC236}">
                <a16:creationId xmlns:a16="http://schemas.microsoft.com/office/drawing/2014/main" id="{B35E966F-8E2C-48A7-A6B6-AC046E0CF51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9931A66-2C00-462D-8DF2-AA240519C48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423181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9E27D2-0953-455D-BC92-219F2619F07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99E603D-DC5A-4E30-A56B-2FB234D5E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B31F3DE-195F-4A79-8ECE-9CBDADF5F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F8DD4A6-48C4-4B9C-9143-3A3BFA6D0360}"/>
              </a:ext>
            </a:extLst>
          </p:cNvPr>
          <p:cNvSpPr>
            <a:spLocks noGrp="1"/>
          </p:cNvSpPr>
          <p:nvPr>
            <p:ph type="dt" sz="half" idx="10"/>
          </p:nvPr>
        </p:nvSpPr>
        <p:spPr/>
        <p:txBody>
          <a:bodyPr/>
          <a:lstStyle/>
          <a:p>
            <a:fld id="{2E6439E6-DD8C-4C85-9C7B-9357438C85CB}" type="datetimeFigureOut">
              <a:rPr lang="fr-FR" smtClean="0"/>
              <a:t>28/09/2022</a:t>
            </a:fld>
            <a:endParaRPr lang="fr-FR"/>
          </a:p>
        </p:txBody>
      </p:sp>
      <p:sp>
        <p:nvSpPr>
          <p:cNvPr id="6" name="Espace réservé du pied de page 5">
            <a:extLst>
              <a:ext uri="{FF2B5EF4-FFF2-40B4-BE49-F238E27FC236}">
                <a16:creationId xmlns:a16="http://schemas.microsoft.com/office/drawing/2014/main" id="{D9C4B816-33FB-4FDE-9AF2-FD91B87FCA4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55BADCF-7AC6-46F6-BAC8-F7C9840EDA29}"/>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1762815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A756C-D9A0-4999-A8F0-2EBF827851B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1422066-4595-4332-9DCD-73EC2894A69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936B61B-E570-467C-9304-E4798B7A0E34}"/>
              </a:ext>
            </a:extLst>
          </p:cNvPr>
          <p:cNvSpPr>
            <a:spLocks noGrp="1"/>
          </p:cNvSpPr>
          <p:nvPr>
            <p:ph type="dt" sz="half" idx="10"/>
          </p:nvPr>
        </p:nvSpPr>
        <p:spPr/>
        <p:txBody>
          <a:bodyPr/>
          <a:lstStyle/>
          <a:p>
            <a:fld id="{2E6439E6-DD8C-4C85-9C7B-9357438C85CB}" type="datetimeFigureOut">
              <a:rPr lang="fr-FR" smtClean="0"/>
              <a:t>28/09/2022</a:t>
            </a:fld>
            <a:endParaRPr lang="fr-FR"/>
          </a:p>
        </p:txBody>
      </p:sp>
      <p:sp>
        <p:nvSpPr>
          <p:cNvPr id="5" name="Espace réservé du pied de page 4">
            <a:extLst>
              <a:ext uri="{FF2B5EF4-FFF2-40B4-BE49-F238E27FC236}">
                <a16:creationId xmlns:a16="http://schemas.microsoft.com/office/drawing/2014/main" id="{EDA5D1A7-CDBF-4979-8E1C-84D5E8EFC83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6948957-746B-40ED-8ABA-E0201B1233D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717362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45C13EF-18EF-4672-A8FF-D5432E62685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24C6866-383E-4101-8F39-0B78CFD920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F1EC447-C55E-4FE3-AD43-3BEA82AA44F1}"/>
              </a:ext>
            </a:extLst>
          </p:cNvPr>
          <p:cNvSpPr>
            <a:spLocks noGrp="1"/>
          </p:cNvSpPr>
          <p:nvPr>
            <p:ph type="dt" sz="half" idx="10"/>
          </p:nvPr>
        </p:nvSpPr>
        <p:spPr/>
        <p:txBody>
          <a:bodyPr/>
          <a:lstStyle/>
          <a:p>
            <a:fld id="{2E6439E6-DD8C-4C85-9C7B-9357438C85CB}" type="datetimeFigureOut">
              <a:rPr lang="fr-FR" smtClean="0"/>
              <a:t>28/09/2022</a:t>
            </a:fld>
            <a:endParaRPr lang="fr-FR"/>
          </a:p>
        </p:txBody>
      </p:sp>
      <p:sp>
        <p:nvSpPr>
          <p:cNvPr id="5" name="Espace réservé du pied de page 4">
            <a:extLst>
              <a:ext uri="{FF2B5EF4-FFF2-40B4-BE49-F238E27FC236}">
                <a16:creationId xmlns:a16="http://schemas.microsoft.com/office/drawing/2014/main" id="{A59AC999-7ADC-444F-843C-C059B4BEC17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01E9F14-4E0C-4E96-8DD7-EAF9BD7E734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8839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5B21E6-212A-425C-89EA-040DE145E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D2EEFE4-89B8-4AF1-BA3D-A59A97C10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0AD8632-AF3B-4F7C-A2DA-A4F0278E20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6439E6-DD8C-4C85-9C7B-9357438C85CB}" type="datetimeFigureOut">
              <a:rPr lang="fr-FR" smtClean="0"/>
              <a:t>28/09/2022</a:t>
            </a:fld>
            <a:endParaRPr lang="fr-FR"/>
          </a:p>
        </p:txBody>
      </p:sp>
      <p:sp>
        <p:nvSpPr>
          <p:cNvPr id="5" name="Espace réservé du pied de page 4">
            <a:extLst>
              <a:ext uri="{FF2B5EF4-FFF2-40B4-BE49-F238E27FC236}">
                <a16:creationId xmlns:a16="http://schemas.microsoft.com/office/drawing/2014/main" id="{A9719DEF-3A99-45A4-8595-267FAE0A20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B1FB13C-4CB2-4D44-B791-DE40B8A975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B4D992-F161-4455-B186-2BFDF7EA604F}" type="slidenum">
              <a:rPr lang="fr-FR" smtClean="0"/>
              <a:t>‹N°›</a:t>
            </a:fld>
            <a:endParaRPr lang="fr-FR"/>
          </a:p>
        </p:txBody>
      </p:sp>
      <p:pic>
        <p:nvPicPr>
          <p:cNvPr id="7" name="Image 6">
            <a:extLst>
              <a:ext uri="{FF2B5EF4-FFF2-40B4-BE49-F238E27FC236}">
                <a16:creationId xmlns:a16="http://schemas.microsoft.com/office/drawing/2014/main" id="{9B2E73E3-5814-ACF9-4D7F-8664EFBEC9F6}"/>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b="18340"/>
          <a:stretch/>
        </p:blipFill>
        <p:spPr>
          <a:xfrm>
            <a:off x="11486803" y="11171"/>
            <a:ext cx="625559" cy="282309"/>
          </a:xfrm>
          <a:prstGeom prst="rect">
            <a:avLst/>
          </a:prstGeom>
        </p:spPr>
      </p:pic>
      <p:pic>
        <p:nvPicPr>
          <p:cNvPr id="8" name="Image 7">
            <a:extLst>
              <a:ext uri="{FF2B5EF4-FFF2-40B4-BE49-F238E27FC236}">
                <a16:creationId xmlns:a16="http://schemas.microsoft.com/office/drawing/2014/main" id="{5FCC472F-7A81-027B-DAF1-28C729467496}"/>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b="18340"/>
          <a:stretch/>
        </p:blipFill>
        <p:spPr>
          <a:xfrm>
            <a:off x="0" y="11171"/>
            <a:ext cx="625559" cy="282309"/>
          </a:xfrm>
          <a:prstGeom prst="rect">
            <a:avLst/>
          </a:prstGeom>
        </p:spPr>
      </p:pic>
      <p:pic>
        <p:nvPicPr>
          <p:cNvPr id="9" name="Image 8">
            <a:extLst>
              <a:ext uri="{FF2B5EF4-FFF2-40B4-BE49-F238E27FC236}">
                <a16:creationId xmlns:a16="http://schemas.microsoft.com/office/drawing/2014/main" id="{69B70014-C948-C158-9AD5-78D034ED0FFB}"/>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b="18340"/>
          <a:stretch/>
        </p:blipFill>
        <p:spPr>
          <a:xfrm>
            <a:off x="5208" y="6538912"/>
            <a:ext cx="625559" cy="282309"/>
          </a:xfrm>
          <a:prstGeom prst="rect">
            <a:avLst/>
          </a:prstGeom>
        </p:spPr>
      </p:pic>
      <p:pic>
        <p:nvPicPr>
          <p:cNvPr id="10" name="Image 9">
            <a:extLst>
              <a:ext uri="{FF2B5EF4-FFF2-40B4-BE49-F238E27FC236}">
                <a16:creationId xmlns:a16="http://schemas.microsoft.com/office/drawing/2014/main" id="{9C4AF45B-8CF4-94E0-2393-2DFCDCC78061}"/>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b="18340"/>
          <a:stretch/>
        </p:blipFill>
        <p:spPr>
          <a:xfrm>
            <a:off x="11534242" y="6538911"/>
            <a:ext cx="625559" cy="282309"/>
          </a:xfrm>
          <a:prstGeom prst="rect">
            <a:avLst/>
          </a:prstGeom>
        </p:spPr>
      </p:pic>
    </p:spTree>
    <p:extLst>
      <p:ext uri="{BB962C8B-B14F-4D97-AF65-F5344CB8AC3E}">
        <p14:creationId xmlns:p14="http://schemas.microsoft.com/office/powerpoint/2010/main" val="2469071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2" r:id="rId4"/>
    <p:sldLayoutId id="2147483651" r:id="rId5"/>
    <p:sldLayoutId id="2147483652" r:id="rId6"/>
    <p:sldLayoutId id="2147483653" r:id="rId7"/>
    <p:sldLayoutId id="2147483654" r:id="rId8"/>
    <p:sldLayoutId id="2147483655" r:id="rId9"/>
    <p:sldLayoutId id="2147483663" r:id="rId10"/>
    <p:sldLayoutId id="2147483656" r:id="rId11"/>
    <p:sldLayoutId id="2147483657" r:id="rId12"/>
    <p:sldLayoutId id="2147483658" r:id="rId13"/>
    <p:sldLayoutId id="214748365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openseriousgames.org/OpenSeriousCommunit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slide" Target="slide45.xml"/><Relationship Id="rId5" Type="http://schemas.openxmlformats.org/officeDocument/2006/relationships/slide" Target="slide29.xml"/><Relationship Id="rId4" Type="http://schemas.openxmlformats.org/officeDocument/2006/relationships/slide" Target="slide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hyperlink" Target="https://creativecommons.org/licenses/by/4.0/" TargetMode="Externa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10.pn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7.svg"/><Relationship Id="rId2" Type="http://schemas.openxmlformats.org/officeDocument/2006/relationships/image" Target="../media/image18.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19" Type="http://schemas.openxmlformats.org/officeDocument/2006/relationships/image" Target="../media/image11.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7.svg"/><Relationship Id="rId2" Type="http://schemas.openxmlformats.org/officeDocument/2006/relationships/image" Target="../media/image18.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13.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png"/><Relationship Id="rId18" Type="http://schemas.openxmlformats.org/officeDocument/2006/relationships/image" Target="../media/image33.sv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svg"/><Relationship Id="rId17" Type="http://schemas.openxmlformats.org/officeDocument/2006/relationships/image" Target="../media/image32.png"/><Relationship Id="rId2" Type="http://schemas.openxmlformats.org/officeDocument/2006/relationships/notesSlide" Target="../notesSlides/notesSlide1.xml"/><Relationship Id="rId16" Type="http://schemas.openxmlformats.org/officeDocument/2006/relationships/image" Target="../media/image31.svg"/><Relationship Id="rId20" Type="http://schemas.openxmlformats.org/officeDocument/2006/relationships/image" Target="../media/image35.svg"/><Relationship Id="rId1" Type="http://schemas.openxmlformats.org/officeDocument/2006/relationships/slideLayout" Target="../slideLayouts/slideLayout2.xml"/><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svg"/><Relationship Id="rId19" Type="http://schemas.openxmlformats.org/officeDocument/2006/relationships/image" Target="../media/image34.png"/><Relationship Id="rId4" Type="http://schemas.openxmlformats.org/officeDocument/2006/relationships/image" Target="../media/image19.svg"/><Relationship Id="rId9" Type="http://schemas.openxmlformats.org/officeDocument/2006/relationships/image" Target="../media/image24.png"/><Relationship Id="rId14" Type="http://schemas.openxmlformats.org/officeDocument/2006/relationships/image" Target="../media/image29.svg"/></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7.svg"/><Relationship Id="rId2" Type="http://schemas.openxmlformats.org/officeDocument/2006/relationships/image" Target="../media/image18.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38.png"/><Relationship Id="rId26" Type="http://schemas.openxmlformats.org/officeDocument/2006/relationships/image" Target="../media/image46.png"/><Relationship Id="rId3" Type="http://schemas.openxmlformats.org/officeDocument/2006/relationships/image" Target="../media/image19.svg"/><Relationship Id="rId21" Type="http://schemas.openxmlformats.org/officeDocument/2006/relationships/image" Target="../media/image41.sv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37.svg"/><Relationship Id="rId25" Type="http://schemas.openxmlformats.org/officeDocument/2006/relationships/image" Target="../media/image45.svg"/><Relationship Id="rId2" Type="http://schemas.openxmlformats.org/officeDocument/2006/relationships/image" Target="../media/image18.png"/><Relationship Id="rId16" Type="http://schemas.openxmlformats.org/officeDocument/2006/relationships/image" Target="../media/image36.png"/><Relationship Id="rId20" Type="http://schemas.openxmlformats.org/officeDocument/2006/relationships/image" Target="../media/image40.png"/><Relationship Id="rId29" Type="http://schemas.openxmlformats.org/officeDocument/2006/relationships/image" Target="../media/image49.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44.pn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43.svg"/><Relationship Id="rId28" Type="http://schemas.openxmlformats.org/officeDocument/2006/relationships/image" Target="../media/image48.png"/><Relationship Id="rId10" Type="http://schemas.openxmlformats.org/officeDocument/2006/relationships/image" Target="../media/image26.png"/><Relationship Id="rId19" Type="http://schemas.openxmlformats.org/officeDocument/2006/relationships/image" Target="../media/image39.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42.png"/><Relationship Id="rId27" Type="http://schemas.openxmlformats.org/officeDocument/2006/relationships/image" Target="../media/image47.svg"/><Relationship Id="rId30" Type="http://schemas.openxmlformats.org/officeDocument/2006/relationships/image" Target="../media/image3.png"/></Relationships>
</file>

<file path=ppt/slides/_rels/slide17.xml.rels><?xml version="1.0" encoding="UTF-8" standalone="yes"?>
<Relationships xmlns="http://schemas.openxmlformats.org/package/2006/relationships"><Relationship Id="rId13" Type="http://schemas.openxmlformats.org/officeDocument/2006/relationships/image" Target="../media/image29.svg"/><Relationship Id="rId18" Type="http://schemas.openxmlformats.org/officeDocument/2006/relationships/image" Target="../media/image51.svg"/><Relationship Id="rId26" Type="http://schemas.openxmlformats.org/officeDocument/2006/relationships/image" Target="../media/image59.svg"/><Relationship Id="rId39" Type="http://schemas.openxmlformats.org/officeDocument/2006/relationships/image" Target="../media/image70.png"/><Relationship Id="rId21" Type="http://schemas.openxmlformats.org/officeDocument/2006/relationships/image" Target="../media/image54.png"/><Relationship Id="rId34" Type="http://schemas.openxmlformats.org/officeDocument/2006/relationships/image" Target="../media/image67.svg"/><Relationship Id="rId42" Type="http://schemas.openxmlformats.org/officeDocument/2006/relationships/image" Target="../media/image73.svg"/><Relationship Id="rId47" Type="http://schemas.openxmlformats.org/officeDocument/2006/relationships/image" Target="../media/image78.png"/><Relationship Id="rId50" Type="http://schemas.openxmlformats.org/officeDocument/2006/relationships/image" Target="../media/image15.svg"/><Relationship Id="rId7" Type="http://schemas.openxmlformats.org/officeDocument/2006/relationships/image" Target="../media/image23.svg"/><Relationship Id="rId2" Type="http://schemas.openxmlformats.org/officeDocument/2006/relationships/image" Target="../media/image18.png"/><Relationship Id="rId16" Type="http://schemas.openxmlformats.org/officeDocument/2006/relationships/image" Target="../media/image3.png"/><Relationship Id="rId29" Type="http://schemas.openxmlformats.org/officeDocument/2006/relationships/image" Target="../media/image62.png"/><Relationship Id="rId11" Type="http://schemas.openxmlformats.org/officeDocument/2006/relationships/image" Target="../media/image27.svg"/><Relationship Id="rId24" Type="http://schemas.openxmlformats.org/officeDocument/2006/relationships/image" Target="../media/image57.svg"/><Relationship Id="rId32" Type="http://schemas.openxmlformats.org/officeDocument/2006/relationships/image" Target="../media/image65.svg"/><Relationship Id="rId37" Type="http://schemas.openxmlformats.org/officeDocument/2006/relationships/image" Target="../media/image68.png"/><Relationship Id="rId40" Type="http://schemas.openxmlformats.org/officeDocument/2006/relationships/image" Target="../media/image71.svg"/><Relationship Id="rId45" Type="http://schemas.openxmlformats.org/officeDocument/2006/relationships/image" Target="../media/image76.pn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56.png"/><Relationship Id="rId28" Type="http://schemas.openxmlformats.org/officeDocument/2006/relationships/image" Target="../media/image61.svg"/><Relationship Id="rId36" Type="http://schemas.openxmlformats.org/officeDocument/2006/relationships/image" Target="../media/image9.svg"/><Relationship Id="rId49" Type="http://schemas.openxmlformats.org/officeDocument/2006/relationships/image" Target="../media/image14.png"/><Relationship Id="rId10" Type="http://schemas.openxmlformats.org/officeDocument/2006/relationships/image" Target="../media/image26.png"/><Relationship Id="rId19" Type="http://schemas.openxmlformats.org/officeDocument/2006/relationships/image" Target="../media/image52.png"/><Relationship Id="rId31" Type="http://schemas.openxmlformats.org/officeDocument/2006/relationships/image" Target="../media/image64.png"/><Relationship Id="rId44" Type="http://schemas.openxmlformats.org/officeDocument/2006/relationships/image" Target="../media/image75.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55.svg"/><Relationship Id="rId27" Type="http://schemas.openxmlformats.org/officeDocument/2006/relationships/image" Target="../media/image60.png"/><Relationship Id="rId30" Type="http://schemas.openxmlformats.org/officeDocument/2006/relationships/image" Target="../media/image63.svg"/><Relationship Id="rId35" Type="http://schemas.openxmlformats.org/officeDocument/2006/relationships/image" Target="../media/image8.png"/><Relationship Id="rId43" Type="http://schemas.openxmlformats.org/officeDocument/2006/relationships/image" Target="../media/image74.png"/><Relationship Id="rId48" Type="http://schemas.openxmlformats.org/officeDocument/2006/relationships/image" Target="../media/image79.svg"/><Relationship Id="rId8" Type="http://schemas.openxmlformats.org/officeDocument/2006/relationships/image" Target="../media/image24.png"/><Relationship Id="rId3" Type="http://schemas.openxmlformats.org/officeDocument/2006/relationships/image" Target="../media/image19.svg"/><Relationship Id="rId12" Type="http://schemas.openxmlformats.org/officeDocument/2006/relationships/image" Target="../media/image28.png"/><Relationship Id="rId17" Type="http://schemas.openxmlformats.org/officeDocument/2006/relationships/image" Target="../media/image50.png"/><Relationship Id="rId25" Type="http://schemas.openxmlformats.org/officeDocument/2006/relationships/image" Target="../media/image58.png"/><Relationship Id="rId33" Type="http://schemas.openxmlformats.org/officeDocument/2006/relationships/image" Target="../media/image66.png"/><Relationship Id="rId38" Type="http://schemas.openxmlformats.org/officeDocument/2006/relationships/image" Target="../media/image69.svg"/><Relationship Id="rId46" Type="http://schemas.openxmlformats.org/officeDocument/2006/relationships/image" Target="../media/image77.svg"/><Relationship Id="rId20" Type="http://schemas.openxmlformats.org/officeDocument/2006/relationships/image" Target="../media/image53.svg"/><Relationship Id="rId41"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22.png"/></Relationships>
</file>

<file path=ppt/slides/_rels/slide18.xml.rels><?xml version="1.0" encoding="UTF-8" standalone="yes"?>
<Relationships xmlns="http://schemas.openxmlformats.org/package/2006/relationships"><Relationship Id="rId13" Type="http://schemas.openxmlformats.org/officeDocument/2006/relationships/image" Target="../media/image40.png"/><Relationship Id="rId18" Type="http://schemas.openxmlformats.org/officeDocument/2006/relationships/image" Target="../media/image45.svg"/><Relationship Id="rId26" Type="http://schemas.openxmlformats.org/officeDocument/2006/relationships/image" Target="../media/image21.svg"/><Relationship Id="rId3" Type="http://schemas.openxmlformats.org/officeDocument/2006/relationships/image" Target="../media/image15.svg"/><Relationship Id="rId21" Type="http://schemas.openxmlformats.org/officeDocument/2006/relationships/image" Target="../media/image48.png"/><Relationship Id="rId34" Type="http://schemas.openxmlformats.org/officeDocument/2006/relationships/image" Target="../media/image29.svg"/><Relationship Id="rId7" Type="http://schemas.openxmlformats.org/officeDocument/2006/relationships/image" Target="../media/image70.png"/><Relationship Id="rId12" Type="http://schemas.openxmlformats.org/officeDocument/2006/relationships/image" Target="../media/image39.svg"/><Relationship Id="rId17" Type="http://schemas.openxmlformats.org/officeDocument/2006/relationships/image" Target="../media/image44.png"/><Relationship Id="rId25" Type="http://schemas.openxmlformats.org/officeDocument/2006/relationships/image" Target="../media/image20.png"/><Relationship Id="rId33" Type="http://schemas.openxmlformats.org/officeDocument/2006/relationships/image" Target="../media/image28.png"/><Relationship Id="rId2" Type="http://schemas.openxmlformats.org/officeDocument/2006/relationships/image" Target="../media/image14.png"/><Relationship Id="rId16" Type="http://schemas.openxmlformats.org/officeDocument/2006/relationships/image" Target="../media/image43.svg"/><Relationship Id="rId20" Type="http://schemas.openxmlformats.org/officeDocument/2006/relationships/image" Target="../media/image47.svg"/><Relationship Id="rId29"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81.svg"/><Relationship Id="rId11" Type="http://schemas.openxmlformats.org/officeDocument/2006/relationships/image" Target="../media/image38.png"/><Relationship Id="rId24" Type="http://schemas.openxmlformats.org/officeDocument/2006/relationships/image" Target="../media/image19.svg"/><Relationship Id="rId32" Type="http://schemas.openxmlformats.org/officeDocument/2006/relationships/image" Target="../media/image27.svg"/><Relationship Id="rId5" Type="http://schemas.openxmlformats.org/officeDocument/2006/relationships/image" Target="../media/image50.png"/><Relationship Id="rId15" Type="http://schemas.openxmlformats.org/officeDocument/2006/relationships/image" Target="../media/image42.png"/><Relationship Id="rId23" Type="http://schemas.openxmlformats.org/officeDocument/2006/relationships/image" Target="../media/image18.png"/><Relationship Id="rId28" Type="http://schemas.openxmlformats.org/officeDocument/2006/relationships/image" Target="../media/image23.svg"/><Relationship Id="rId36" Type="http://schemas.openxmlformats.org/officeDocument/2006/relationships/image" Target="../media/image31.svg"/><Relationship Id="rId10" Type="http://schemas.openxmlformats.org/officeDocument/2006/relationships/image" Target="../media/image37.svg"/><Relationship Id="rId19" Type="http://schemas.openxmlformats.org/officeDocument/2006/relationships/image" Target="../media/image46.png"/><Relationship Id="rId31" Type="http://schemas.openxmlformats.org/officeDocument/2006/relationships/image" Target="../media/image26.png"/><Relationship Id="rId4" Type="http://schemas.openxmlformats.org/officeDocument/2006/relationships/image" Target="../media/image80.png"/><Relationship Id="rId9" Type="http://schemas.openxmlformats.org/officeDocument/2006/relationships/image" Target="../media/image36.png"/><Relationship Id="rId14" Type="http://schemas.openxmlformats.org/officeDocument/2006/relationships/image" Target="../media/image41.svg"/><Relationship Id="rId22" Type="http://schemas.openxmlformats.org/officeDocument/2006/relationships/image" Target="../media/image49.svg"/><Relationship Id="rId27" Type="http://schemas.openxmlformats.org/officeDocument/2006/relationships/image" Target="../media/image22.png"/><Relationship Id="rId30" Type="http://schemas.openxmlformats.org/officeDocument/2006/relationships/image" Target="../media/image25.svg"/><Relationship Id="rId35" Type="http://schemas.openxmlformats.org/officeDocument/2006/relationships/image" Target="../media/image30.png"/><Relationship Id="rId8" Type="http://schemas.openxmlformats.org/officeDocument/2006/relationships/image" Target="../media/image71.svg"/></Relationships>
</file>

<file path=ppt/slides/_rels/slide19.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35.sv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microsoft.com/office/2018/10/relationships/comments" Target="../comments/modernComment_1F2_F40EC347.xml"/><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2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83.svg"/><Relationship Id="rId7" Type="http://schemas.openxmlformats.org/officeDocument/2006/relationships/image" Target="../media/image87.svg"/><Relationship Id="rId2"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svg"/><Relationship Id="rId4" Type="http://schemas.openxmlformats.org/officeDocument/2006/relationships/image" Target="../media/image84.png"/><Relationship Id="rId9" Type="http://schemas.openxmlformats.org/officeDocument/2006/relationships/image" Target="../media/image17.svg"/></Relationships>
</file>

<file path=ppt/slides/_rels/slide2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7.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19.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8.png"/></Relationships>
</file>

<file path=ppt/slides/_rels/slide2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7.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21.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20.png"/></Relationships>
</file>

<file path=ppt/slides/_rels/slide2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7.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23.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22.png"/></Relationships>
</file>

<file path=ppt/slides/_rels/slide25.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7.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25.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24.png"/></Relationships>
</file>

<file path=ppt/slides/_rels/slide2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7.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2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26.png"/></Relationships>
</file>

<file path=ppt/slides/_rels/slide2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7.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29.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28.png"/></Relationships>
</file>

<file path=ppt/slides/_rels/slide28.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7.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31.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51.svg"/><Relationship Id="rId3" Type="http://schemas.openxmlformats.org/officeDocument/2006/relationships/image" Target="../media/image19.svg"/><Relationship Id="rId21" Type="http://schemas.openxmlformats.org/officeDocument/2006/relationships/image" Target="../media/image16.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50.png"/><Relationship Id="rId2" Type="http://schemas.openxmlformats.org/officeDocument/2006/relationships/image" Target="../media/image18.png"/><Relationship Id="rId16" Type="http://schemas.openxmlformats.org/officeDocument/2006/relationships/image" Target="../media/image3.png"/><Relationship Id="rId20" Type="http://schemas.openxmlformats.org/officeDocument/2006/relationships/image" Target="../media/image53.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11.sv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10.png"/><Relationship Id="rId10" Type="http://schemas.openxmlformats.org/officeDocument/2006/relationships/image" Target="../media/image26.png"/><Relationship Id="rId19" Type="http://schemas.openxmlformats.org/officeDocument/2006/relationships/image" Target="../media/image52.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17.svg"/></Relationships>
</file>

<file path=ppt/slides/_rels/slide31.xml.rels><?xml version="1.0" encoding="UTF-8" standalone="yes"?>
<Relationships xmlns="http://schemas.openxmlformats.org/package/2006/relationships"><Relationship Id="rId13" Type="http://schemas.openxmlformats.org/officeDocument/2006/relationships/image" Target="../media/image29.svg"/><Relationship Id="rId18" Type="http://schemas.openxmlformats.org/officeDocument/2006/relationships/image" Target="../media/image51.svg"/><Relationship Id="rId26" Type="http://schemas.openxmlformats.org/officeDocument/2006/relationships/image" Target="../media/image91.svg"/><Relationship Id="rId3" Type="http://schemas.openxmlformats.org/officeDocument/2006/relationships/image" Target="../media/image19.svg"/><Relationship Id="rId21" Type="http://schemas.openxmlformats.org/officeDocument/2006/relationships/image" Target="../media/image6.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50.png"/><Relationship Id="rId25" Type="http://schemas.openxmlformats.org/officeDocument/2006/relationships/image" Target="../media/image90.png"/><Relationship Id="rId33" Type="http://schemas.openxmlformats.org/officeDocument/2006/relationships/slide" Target="slide13.xml"/><Relationship Id="rId2" Type="http://schemas.openxmlformats.org/officeDocument/2006/relationships/image" Target="../media/image18.png"/><Relationship Id="rId16" Type="http://schemas.openxmlformats.org/officeDocument/2006/relationships/image" Target="../media/image3.png"/><Relationship Id="rId20" Type="http://schemas.openxmlformats.org/officeDocument/2006/relationships/image" Target="../media/image53.svg"/><Relationship Id="rId29" Type="http://schemas.openxmlformats.org/officeDocument/2006/relationships/image" Target="../media/image92.png"/><Relationship Id="rId1" Type="http://schemas.openxmlformats.org/officeDocument/2006/relationships/slideLayout" Target="../slideLayouts/slideLayout3.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89.svg"/><Relationship Id="rId32" Type="http://schemas.openxmlformats.org/officeDocument/2006/relationships/image" Target="../media/image9.sv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88.png"/><Relationship Id="rId28" Type="http://schemas.openxmlformats.org/officeDocument/2006/relationships/image" Target="../media/image11.svg"/><Relationship Id="rId10" Type="http://schemas.openxmlformats.org/officeDocument/2006/relationships/image" Target="../media/image26.png"/><Relationship Id="rId19" Type="http://schemas.openxmlformats.org/officeDocument/2006/relationships/image" Target="../media/image52.png"/><Relationship Id="rId31" Type="http://schemas.openxmlformats.org/officeDocument/2006/relationships/image" Target="../media/image8.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7.svg"/><Relationship Id="rId27" Type="http://schemas.openxmlformats.org/officeDocument/2006/relationships/image" Target="../media/image10.png"/><Relationship Id="rId30" Type="http://schemas.openxmlformats.org/officeDocument/2006/relationships/image" Target="../media/image93.svg"/><Relationship Id="rId8" Type="http://schemas.openxmlformats.org/officeDocument/2006/relationships/image" Target="../media/image24.png"/></Relationships>
</file>

<file path=ppt/slides/_rels/slide32.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png"/><Relationship Id="rId18" Type="http://schemas.openxmlformats.org/officeDocument/2006/relationships/image" Target="../media/image95.svg"/><Relationship Id="rId3" Type="http://schemas.openxmlformats.org/officeDocument/2006/relationships/image" Target="../media/image18.png"/><Relationship Id="rId21" Type="http://schemas.openxmlformats.org/officeDocument/2006/relationships/image" Target="../media/image96.png"/><Relationship Id="rId7" Type="http://schemas.openxmlformats.org/officeDocument/2006/relationships/image" Target="../media/image22.png"/><Relationship Id="rId12" Type="http://schemas.openxmlformats.org/officeDocument/2006/relationships/image" Target="../media/image27.svg"/><Relationship Id="rId17" Type="http://schemas.openxmlformats.org/officeDocument/2006/relationships/image" Target="../media/image94.png"/><Relationship Id="rId2" Type="http://schemas.openxmlformats.org/officeDocument/2006/relationships/notesSlide" Target="../notesSlides/notesSlide2.xml"/><Relationship Id="rId16" Type="http://schemas.openxmlformats.org/officeDocument/2006/relationships/image" Target="../media/image31.sv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svg"/><Relationship Id="rId19" Type="http://schemas.openxmlformats.org/officeDocument/2006/relationships/image" Target="../media/image50.png"/><Relationship Id="rId4" Type="http://schemas.openxmlformats.org/officeDocument/2006/relationships/image" Target="../media/image19.svg"/><Relationship Id="rId9" Type="http://schemas.openxmlformats.org/officeDocument/2006/relationships/image" Target="../media/image24.png"/><Relationship Id="rId14" Type="http://schemas.openxmlformats.org/officeDocument/2006/relationships/image" Target="../media/image29.svg"/><Relationship Id="rId22" Type="http://schemas.openxmlformats.org/officeDocument/2006/relationships/image" Target="../media/image97.svg"/></Relationships>
</file>

<file path=ppt/slides/_rels/slide33.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png"/><Relationship Id="rId18" Type="http://schemas.openxmlformats.org/officeDocument/2006/relationships/image" Target="../media/image95.svg"/><Relationship Id="rId3" Type="http://schemas.openxmlformats.org/officeDocument/2006/relationships/image" Target="../media/image18.png"/><Relationship Id="rId21" Type="http://schemas.openxmlformats.org/officeDocument/2006/relationships/image" Target="../media/image96.png"/><Relationship Id="rId7" Type="http://schemas.openxmlformats.org/officeDocument/2006/relationships/image" Target="../media/image22.png"/><Relationship Id="rId12" Type="http://schemas.openxmlformats.org/officeDocument/2006/relationships/image" Target="../media/image27.svg"/><Relationship Id="rId17" Type="http://schemas.openxmlformats.org/officeDocument/2006/relationships/image" Target="../media/image94.png"/><Relationship Id="rId2" Type="http://schemas.openxmlformats.org/officeDocument/2006/relationships/notesSlide" Target="../notesSlides/notesSlide3.xml"/><Relationship Id="rId16" Type="http://schemas.openxmlformats.org/officeDocument/2006/relationships/image" Target="../media/image31.sv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svg"/><Relationship Id="rId19" Type="http://schemas.openxmlformats.org/officeDocument/2006/relationships/image" Target="../media/image50.png"/><Relationship Id="rId4" Type="http://schemas.openxmlformats.org/officeDocument/2006/relationships/image" Target="../media/image19.svg"/><Relationship Id="rId9" Type="http://schemas.openxmlformats.org/officeDocument/2006/relationships/image" Target="../media/image24.png"/><Relationship Id="rId14" Type="http://schemas.openxmlformats.org/officeDocument/2006/relationships/image" Target="../media/image29.svg"/><Relationship Id="rId22" Type="http://schemas.openxmlformats.org/officeDocument/2006/relationships/image" Target="../media/image97.svg"/></Relationships>
</file>

<file path=ppt/slides/_rels/slide34.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png"/><Relationship Id="rId18" Type="http://schemas.openxmlformats.org/officeDocument/2006/relationships/image" Target="../media/image95.svg"/><Relationship Id="rId3" Type="http://schemas.openxmlformats.org/officeDocument/2006/relationships/image" Target="../media/image18.png"/><Relationship Id="rId21" Type="http://schemas.openxmlformats.org/officeDocument/2006/relationships/image" Target="../media/image96.png"/><Relationship Id="rId7" Type="http://schemas.openxmlformats.org/officeDocument/2006/relationships/image" Target="../media/image22.png"/><Relationship Id="rId12" Type="http://schemas.openxmlformats.org/officeDocument/2006/relationships/image" Target="../media/image27.svg"/><Relationship Id="rId17" Type="http://schemas.openxmlformats.org/officeDocument/2006/relationships/image" Target="../media/image94.png"/><Relationship Id="rId2" Type="http://schemas.openxmlformats.org/officeDocument/2006/relationships/notesSlide" Target="../notesSlides/notesSlide4.xml"/><Relationship Id="rId16" Type="http://schemas.openxmlformats.org/officeDocument/2006/relationships/image" Target="../media/image31.sv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svg"/><Relationship Id="rId19" Type="http://schemas.openxmlformats.org/officeDocument/2006/relationships/image" Target="../media/image50.png"/><Relationship Id="rId4" Type="http://schemas.openxmlformats.org/officeDocument/2006/relationships/image" Target="../media/image19.svg"/><Relationship Id="rId9" Type="http://schemas.openxmlformats.org/officeDocument/2006/relationships/image" Target="../media/image24.png"/><Relationship Id="rId14" Type="http://schemas.openxmlformats.org/officeDocument/2006/relationships/image" Target="../media/image29.svg"/><Relationship Id="rId22" Type="http://schemas.openxmlformats.org/officeDocument/2006/relationships/image" Target="../media/image97.svg"/></Relationships>
</file>

<file path=ppt/slides/_rels/slide35.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18" Type="http://schemas.openxmlformats.org/officeDocument/2006/relationships/image" Target="../media/image31.svg"/><Relationship Id="rId3" Type="http://schemas.openxmlformats.org/officeDocument/2006/relationships/image" Target="../media/image98.png"/><Relationship Id="rId21" Type="http://schemas.openxmlformats.org/officeDocument/2006/relationships/image" Target="../media/image50.png"/><Relationship Id="rId7" Type="http://schemas.openxmlformats.org/officeDocument/2006/relationships/image" Target="../media/image20.png"/><Relationship Id="rId12" Type="http://schemas.openxmlformats.org/officeDocument/2006/relationships/image" Target="../media/image25.svg"/><Relationship Id="rId17" Type="http://schemas.openxmlformats.org/officeDocument/2006/relationships/image" Target="../media/image30.png"/><Relationship Id="rId2" Type="http://schemas.openxmlformats.org/officeDocument/2006/relationships/notesSlide" Target="../notesSlides/notesSlide5.xml"/><Relationship Id="rId16" Type="http://schemas.openxmlformats.org/officeDocument/2006/relationships/image" Target="../media/image29.svg"/><Relationship Id="rId20" Type="http://schemas.openxmlformats.org/officeDocument/2006/relationships/image" Target="../media/image95.svg"/><Relationship Id="rId1" Type="http://schemas.openxmlformats.org/officeDocument/2006/relationships/slideLayout" Target="../slideLayouts/slideLayout2.xml"/><Relationship Id="rId6" Type="http://schemas.openxmlformats.org/officeDocument/2006/relationships/image" Target="../media/image19.svg"/><Relationship Id="rId11" Type="http://schemas.openxmlformats.org/officeDocument/2006/relationships/image" Target="../media/image24.png"/><Relationship Id="rId24" Type="http://schemas.openxmlformats.org/officeDocument/2006/relationships/image" Target="../media/image97.svg"/><Relationship Id="rId5" Type="http://schemas.openxmlformats.org/officeDocument/2006/relationships/image" Target="../media/image18.png"/><Relationship Id="rId15" Type="http://schemas.openxmlformats.org/officeDocument/2006/relationships/image" Target="../media/image28.png"/><Relationship Id="rId23" Type="http://schemas.openxmlformats.org/officeDocument/2006/relationships/image" Target="../media/image96.png"/><Relationship Id="rId10" Type="http://schemas.openxmlformats.org/officeDocument/2006/relationships/image" Target="../media/image23.svg"/><Relationship Id="rId19" Type="http://schemas.openxmlformats.org/officeDocument/2006/relationships/image" Target="../media/image94.png"/><Relationship Id="rId4" Type="http://schemas.openxmlformats.org/officeDocument/2006/relationships/image" Target="../media/image99.svg"/><Relationship Id="rId9" Type="http://schemas.openxmlformats.org/officeDocument/2006/relationships/image" Target="../media/image22.png"/><Relationship Id="rId14" Type="http://schemas.openxmlformats.org/officeDocument/2006/relationships/image" Target="../media/image27.svg"/><Relationship Id="rId22" Type="http://schemas.openxmlformats.org/officeDocument/2006/relationships/image" Target="../media/image51.svg"/></Relationships>
</file>

<file path=ppt/slides/_rels/slide36.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51.svg"/><Relationship Id="rId3" Type="http://schemas.openxmlformats.org/officeDocument/2006/relationships/image" Target="../media/image19.svg"/><Relationship Id="rId21" Type="http://schemas.openxmlformats.org/officeDocument/2006/relationships/image" Target="../media/image100.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50.png"/><Relationship Id="rId2" Type="http://schemas.openxmlformats.org/officeDocument/2006/relationships/image" Target="../media/image18.png"/><Relationship Id="rId16" Type="http://schemas.openxmlformats.org/officeDocument/2006/relationships/image" Target="../media/image3.png"/><Relationship Id="rId20" Type="http://schemas.openxmlformats.org/officeDocument/2006/relationships/image" Target="../media/image53.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19" Type="http://schemas.openxmlformats.org/officeDocument/2006/relationships/image" Target="../media/image52.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101.svg"/></Relationships>
</file>

<file path=ppt/slides/_rels/slide37.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03.svg"/><Relationship Id="rId2" Type="http://schemas.openxmlformats.org/officeDocument/2006/relationships/image" Target="../media/image102.png"/><Relationship Id="rId1" Type="http://schemas.openxmlformats.org/officeDocument/2006/relationships/slideLayout" Target="../slideLayouts/slideLayout4.xml"/><Relationship Id="rId6" Type="http://schemas.openxmlformats.org/officeDocument/2006/relationships/image" Target="../media/image106.png"/><Relationship Id="rId5" Type="http://schemas.openxmlformats.org/officeDocument/2006/relationships/image" Target="../media/image105.svg"/><Relationship Id="rId4" Type="http://schemas.openxmlformats.org/officeDocument/2006/relationships/image" Target="../media/image104.png"/></Relationships>
</file>

<file path=ppt/slides/_rels/slide4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89.svg"/><Relationship Id="rId18" Type="http://schemas.openxmlformats.org/officeDocument/2006/relationships/image" Target="../media/image20.png"/><Relationship Id="rId26" Type="http://schemas.openxmlformats.org/officeDocument/2006/relationships/image" Target="../media/image28.png"/><Relationship Id="rId3" Type="http://schemas.openxmlformats.org/officeDocument/2006/relationships/image" Target="../media/image108.svg"/><Relationship Id="rId21" Type="http://schemas.openxmlformats.org/officeDocument/2006/relationships/image" Target="../media/image23.svg"/><Relationship Id="rId7" Type="http://schemas.openxmlformats.org/officeDocument/2006/relationships/image" Target="../media/image93.svg"/><Relationship Id="rId12" Type="http://schemas.openxmlformats.org/officeDocument/2006/relationships/image" Target="../media/image88.png"/><Relationship Id="rId17" Type="http://schemas.openxmlformats.org/officeDocument/2006/relationships/image" Target="../media/image19.svg"/><Relationship Id="rId25" Type="http://schemas.openxmlformats.org/officeDocument/2006/relationships/image" Target="../media/image27.svg"/><Relationship Id="rId2" Type="http://schemas.openxmlformats.org/officeDocument/2006/relationships/image" Target="../media/image107.png"/><Relationship Id="rId16" Type="http://schemas.openxmlformats.org/officeDocument/2006/relationships/image" Target="../media/image18.png"/><Relationship Id="rId20" Type="http://schemas.openxmlformats.org/officeDocument/2006/relationships/image" Target="../media/image22.png"/><Relationship Id="rId29" Type="http://schemas.openxmlformats.org/officeDocument/2006/relationships/image" Target="../media/image31.svg"/><Relationship Id="rId1" Type="http://schemas.openxmlformats.org/officeDocument/2006/relationships/slideLayout" Target="../slideLayouts/slideLayout3.xml"/><Relationship Id="rId6" Type="http://schemas.openxmlformats.org/officeDocument/2006/relationships/image" Target="../media/image92.png"/><Relationship Id="rId11" Type="http://schemas.openxmlformats.org/officeDocument/2006/relationships/image" Target="../media/image7.svg"/><Relationship Id="rId24" Type="http://schemas.openxmlformats.org/officeDocument/2006/relationships/image" Target="../media/image26.png"/><Relationship Id="rId5" Type="http://schemas.openxmlformats.org/officeDocument/2006/relationships/image" Target="../media/image11.svg"/><Relationship Id="rId15" Type="http://schemas.openxmlformats.org/officeDocument/2006/relationships/image" Target="../media/image91.svg"/><Relationship Id="rId23" Type="http://schemas.openxmlformats.org/officeDocument/2006/relationships/image" Target="../media/image25.svg"/><Relationship Id="rId28" Type="http://schemas.openxmlformats.org/officeDocument/2006/relationships/image" Target="../media/image30.png"/><Relationship Id="rId10" Type="http://schemas.openxmlformats.org/officeDocument/2006/relationships/image" Target="../media/image6.png"/><Relationship Id="rId19" Type="http://schemas.openxmlformats.org/officeDocument/2006/relationships/image" Target="../media/image21.svg"/><Relationship Id="rId4" Type="http://schemas.openxmlformats.org/officeDocument/2006/relationships/image" Target="../media/image10.png"/><Relationship Id="rId9" Type="http://schemas.openxmlformats.org/officeDocument/2006/relationships/image" Target="../media/image9.svg"/><Relationship Id="rId14" Type="http://schemas.openxmlformats.org/officeDocument/2006/relationships/image" Target="../media/image90.png"/><Relationship Id="rId22" Type="http://schemas.openxmlformats.org/officeDocument/2006/relationships/image" Target="../media/image24.png"/><Relationship Id="rId27" Type="http://schemas.openxmlformats.org/officeDocument/2006/relationships/image" Target="../media/image29.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103.svg"/><Relationship Id="rId2" Type="http://schemas.openxmlformats.org/officeDocument/2006/relationships/image" Target="../media/image102.png"/><Relationship Id="rId1" Type="http://schemas.openxmlformats.org/officeDocument/2006/relationships/slideLayout" Target="../slideLayouts/slideLayout4.xml"/><Relationship Id="rId6" Type="http://schemas.openxmlformats.org/officeDocument/2006/relationships/image" Target="../media/image106.png"/><Relationship Id="rId5" Type="http://schemas.openxmlformats.org/officeDocument/2006/relationships/image" Target="../media/image105.svg"/><Relationship Id="rId4" Type="http://schemas.openxmlformats.org/officeDocument/2006/relationships/image" Target="../media/image104.png"/></Relationships>
</file>

<file path=ppt/slides/_rels/slide4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3" Type="http://schemas.openxmlformats.org/officeDocument/2006/relationships/image" Target="../media/image65.svg"/><Relationship Id="rId18" Type="http://schemas.openxmlformats.org/officeDocument/2006/relationships/image" Target="../media/image68.png"/><Relationship Id="rId26" Type="http://schemas.openxmlformats.org/officeDocument/2006/relationships/image" Target="../media/image76.png"/><Relationship Id="rId3" Type="http://schemas.openxmlformats.org/officeDocument/2006/relationships/image" Target="../media/image55.svg"/><Relationship Id="rId21" Type="http://schemas.openxmlformats.org/officeDocument/2006/relationships/image" Target="../media/image71.svg"/><Relationship Id="rId7" Type="http://schemas.openxmlformats.org/officeDocument/2006/relationships/image" Target="../media/image59.svg"/><Relationship Id="rId12" Type="http://schemas.openxmlformats.org/officeDocument/2006/relationships/image" Target="../media/image64.png"/><Relationship Id="rId17" Type="http://schemas.openxmlformats.org/officeDocument/2006/relationships/image" Target="../media/image9.svg"/><Relationship Id="rId25" Type="http://schemas.openxmlformats.org/officeDocument/2006/relationships/image" Target="../media/image75.svg"/><Relationship Id="rId33" Type="http://schemas.openxmlformats.org/officeDocument/2006/relationships/image" Target="../media/image11.svg"/><Relationship Id="rId2" Type="http://schemas.openxmlformats.org/officeDocument/2006/relationships/image" Target="../media/image54.png"/><Relationship Id="rId16" Type="http://schemas.openxmlformats.org/officeDocument/2006/relationships/image" Target="../media/image8.png"/><Relationship Id="rId20" Type="http://schemas.openxmlformats.org/officeDocument/2006/relationships/image" Target="../media/image70.png"/><Relationship Id="rId29" Type="http://schemas.openxmlformats.org/officeDocument/2006/relationships/image" Target="../media/image79.sv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svg"/><Relationship Id="rId24" Type="http://schemas.openxmlformats.org/officeDocument/2006/relationships/image" Target="../media/image74.png"/><Relationship Id="rId32" Type="http://schemas.openxmlformats.org/officeDocument/2006/relationships/image" Target="../media/image10.png"/><Relationship Id="rId5" Type="http://schemas.openxmlformats.org/officeDocument/2006/relationships/image" Target="../media/image57.svg"/><Relationship Id="rId15" Type="http://schemas.openxmlformats.org/officeDocument/2006/relationships/image" Target="../media/image67.svg"/><Relationship Id="rId23" Type="http://schemas.openxmlformats.org/officeDocument/2006/relationships/image" Target="../media/image73.svg"/><Relationship Id="rId28" Type="http://schemas.openxmlformats.org/officeDocument/2006/relationships/image" Target="../media/image78.png"/><Relationship Id="rId10" Type="http://schemas.openxmlformats.org/officeDocument/2006/relationships/image" Target="../media/image62.png"/><Relationship Id="rId19" Type="http://schemas.openxmlformats.org/officeDocument/2006/relationships/image" Target="../media/image69.svg"/><Relationship Id="rId31" Type="http://schemas.openxmlformats.org/officeDocument/2006/relationships/image" Target="../media/image17.svg"/><Relationship Id="rId4" Type="http://schemas.openxmlformats.org/officeDocument/2006/relationships/image" Target="../media/image56.png"/><Relationship Id="rId9" Type="http://schemas.openxmlformats.org/officeDocument/2006/relationships/image" Target="../media/image61.svg"/><Relationship Id="rId14" Type="http://schemas.openxmlformats.org/officeDocument/2006/relationships/image" Target="../media/image66.png"/><Relationship Id="rId22" Type="http://schemas.openxmlformats.org/officeDocument/2006/relationships/image" Target="../media/image72.png"/><Relationship Id="rId27" Type="http://schemas.openxmlformats.org/officeDocument/2006/relationships/image" Target="../media/image77.svg"/><Relationship Id="rId30" Type="http://schemas.openxmlformats.org/officeDocument/2006/relationships/image" Target="../media/image16.png"/><Relationship Id="rId8" Type="http://schemas.openxmlformats.org/officeDocument/2006/relationships/image" Target="../media/image60.png"/></Relationships>
</file>

<file path=ppt/slides/_rels/slide51.xml.rels><?xml version="1.0" encoding="UTF-8" standalone="yes"?>
<Relationships xmlns="http://schemas.openxmlformats.org/package/2006/relationships"><Relationship Id="rId13" Type="http://schemas.openxmlformats.org/officeDocument/2006/relationships/image" Target="../media/image65.svg"/><Relationship Id="rId18" Type="http://schemas.openxmlformats.org/officeDocument/2006/relationships/image" Target="../media/image68.png"/><Relationship Id="rId26" Type="http://schemas.openxmlformats.org/officeDocument/2006/relationships/image" Target="../media/image76.png"/><Relationship Id="rId3" Type="http://schemas.openxmlformats.org/officeDocument/2006/relationships/image" Target="../media/image55.svg"/><Relationship Id="rId21" Type="http://schemas.openxmlformats.org/officeDocument/2006/relationships/image" Target="../media/image71.svg"/><Relationship Id="rId7" Type="http://schemas.openxmlformats.org/officeDocument/2006/relationships/image" Target="../media/image59.svg"/><Relationship Id="rId12" Type="http://schemas.openxmlformats.org/officeDocument/2006/relationships/image" Target="../media/image64.png"/><Relationship Id="rId17" Type="http://schemas.openxmlformats.org/officeDocument/2006/relationships/image" Target="../media/image9.svg"/><Relationship Id="rId25" Type="http://schemas.openxmlformats.org/officeDocument/2006/relationships/image" Target="../media/image75.svg"/><Relationship Id="rId33" Type="http://schemas.openxmlformats.org/officeDocument/2006/relationships/image" Target="../media/image11.svg"/><Relationship Id="rId2" Type="http://schemas.openxmlformats.org/officeDocument/2006/relationships/image" Target="../media/image54.png"/><Relationship Id="rId16" Type="http://schemas.openxmlformats.org/officeDocument/2006/relationships/image" Target="../media/image8.png"/><Relationship Id="rId20" Type="http://schemas.openxmlformats.org/officeDocument/2006/relationships/image" Target="../media/image70.png"/><Relationship Id="rId29" Type="http://schemas.openxmlformats.org/officeDocument/2006/relationships/image" Target="../media/image79.sv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svg"/><Relationship Id="rId24" Type="http://schemas.openxmlformats.org/officeDocument/2006/relationships/image" Target="../media/image74.png"/><Relationship Id="rId32" Type="http://schemas.openxmlformats.org/officeDocument/2006/relationships/image" Target="../media/image10.png"/><Relationship Id="rId5" Type="http://schemas.openxmlformats.org/officeDocument/2006/relationships/image" Target="../media/image57.svg"/><Relationship Id="rId15" Type="http://schemas.openxmlformats.org/officeDocument/2006/relationships/image" Target="../media/image67.svg"/><Relationship Id="rId23" Type="http://schemas.openxmlformats.org/officeDocument/2006/relationships/image" Target="../media/image73.svg"/><Relationship Id="rId28" Type="http://schemas.openxmlformats.org/officeDocument/2006/relationships/image" Target="../media/image78.png"/><Relationship Id="rId10" Type="http://schemas.openxmlformats.org/officeDocument/2006/relationships/image" Target="../media/image62.png"/><Relationship Id="rId19" Type="http://schemas.openxmlformats.org/officeDocument/2006/relationships/image" Target="../media/image69.svg"/><Relationship Id="rId31" Type="http://schemas.openxmlformats.org/officeDocument/2006/relationships/image" Target="../media/image17.svg"/><Relationship Id="rId4" Type="http://schemas.openxmlformats.org/officeDocument/2006/relationships/image" Target="../media/image56.png"/><Relationship Id="rId9" Type="http://schemas.openxmlformats.org/officeDocument/2006/relationships/image" Target="../media/image61.svg"/><Relationship Id="rId14" Type="http://schemas.openxmlformats.org/officeDocument/2006/relationships/image" Target="../media/image66.png"/><Relationship Id="rId22" Type="http://schemas.openxmlformats.org/officeDocument/2006/relationships/image" Target="../media/image72.png"/><Relationship Id="rId27" Type="http://schemas.openxmlformats.org/officeDocument/2006/relationships/image" Target="../media/image77.svg"/><Relationship Id="rId30" Type="http://schemas.openxmlformats.org/officeDocument/2006/relationships/image" Target="../media/image16.png"/><Relationship Id="rId8" Type="http://schemas.openxmlformats.org/officeDocument/2006/relationships/image" Target="../media/image60.png"/></Relationships>
</file>

<file path=ppt/slides/_rels/slide52.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77.svg"/><Relationship Id="rId18" Type="http://schemas.openxmlformats.org/officeDocument/2006/relationships/image" Target="../media/image60.png"/><Relationship Id="rId26" Type="http://schemas.openxmlformats.org/officeDocument/2006/relationships/image" Target="../media/image68.png"/><Relationship Id="rId3" Type="http://schemas.openxmlformats.org/officeDocument/2006/relationships/image" Target="../media/image11.svg"/><Relationship Id="rId21" Type="http://schemas.openxmlformats.org/officeDocument/2006/relationships/image" Target="../media/image63.svg"/><Relationship Id="rId7" Type="http://schemas.openxmlformats.org/officeDocument/2006/relationships/image" Target="../media/image55.svg"/><Relationship Id="rId12" Type="http://schemas.openxmlformats.org/officeDocument/2006/relationships/image" Target="../media/image76.png"/><Relationship Id="rId17" Type="http://schemas.openxmlformats.org/officeDocument/2006/relationships/image" Target="../media/image59.svg"/><Relationship Id="rId25" Type="http://schemas.openxmlformats.org/officeDocument/2006/relationships/image" Target="../media/image67.svg"/><Relationship Id="rId2" Type="http://schemas.openxmlformats.org/officeDocument/2006/relationships/image" Target="../media/image10.png"/><Relationship Id="rId16" Type="http://schemas.openxmlformats.org/officeDocument/2006/relationships/image" Target="../media/image58.png"/><Relationship Id="rId20" Type="http://schemas.openxmlformats.org/officeDocument/2006/relationships/image" Target="../media/image62.png"/><Relationship Id="rId29" Type="http://schemas.openxmlformats.org/officeDocument/2006/relationships/image" Target="../media/image73.svg"/><Relationship Id="rId1" Type="http://schemas.openxmlformats.org/officeDocument/2006/relationships/slideLayout" Target="../slideLayouts/slideLayout3.xml"/><Relationship Id="rId6" Type="http://schemas.openxmlformats.org/officeDocument/2006/relationships/image" Target="../media/image54.png"/><Relationship Id="rId11" Type="http://schemas.openxmlformats.org/officeDocument/2006/relationships/image" Target="../media/image71.svg"/><Relationship Id="rId24" Type="http://schemas.openxmlformats.org/officeDocument/2006/relationships/image" Target="../media/image66.png"/><Relationship Id="rId5" Type="http://schemas.openxmlformats.org/officeDocument/2006/relationships/image" Target="../media/image9.svg"/><Relationship Id="rId15" Type="http://schemas.openxmlformats.org/officeDocument/2006/relationships/image" Target="../media/image79.svg"/><Relationship Id="rId23" Type="http://schemas.openxmlformats.org/officeDocument/2006/relationships/image" Target="../media/image65.svg"/><Relationship Id="rId28" Type="http://schemas.openxmlformats.org/officeDocument/2006/relationships/image" Target="../media/image72.png"/><Relationship Id="rId10" Type="http://schemas.openxmlformats.org/officeDocument/2006/relationships/image" Target="../media/image70.png"/><Relationship Id="rId19" Type="http://schemas.openxmlformats.org/officeDocument/2006/relationships/image" Target="../media/image61.svg"/><Relationship Id="rId31" Type="http://schemas.openxmlformats.org/officeDocument/2006/relationships/image" Target="../media/image75.svg"/><Relationship Id="rId4" Type="http://schemas.openxmlformats.org/officeDocument/2006/relationships/image" Target="../media/image8.png"/><Relationship Id="rId9" Type="http://schemas.openxmlformats.org/officeDocument/2006/relationships/image" Target="../media/image57.svg"/><Relationship Id="rId14" Type="http://schemas.openxmlformats.org/officeDocument/2006/relationships/image" Target="../media/image78.png"/><Relationship Id="rId22" Type="http://schemas.openxmlformats.org/officeDocument/2006/relationships/image" Target="../media/image64.png"/><Relationship Id="rId27" Type="http://schemas.openxmlformats.org/officeDocument/2006/relationships/image" Target="../media/image69.svg"/><Relationship Id="rId30" Type="http://schemas.openxmlformats.org/officeDocument/2006/relationships/image" Target="../media/image74.png"/></Relationships>
</file>

<file path=ppt/slides/_rels/slide53.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18" Type="http://schemas.openxmlformats.org/officeDocument/2006/relationships/image" Target="../media/image68.png"/><Relationship Id="rId26" Type="http://schemas.openxmlformats.org/officeDocument/2006/relationships/image" Target="../media/image76.png"/><Relationship Id="rId3" Type="http://schemas.openxmlformats.org/officeDocument/2006/relationships/image" Target="../media/image55.svg"/><Relationship Id="rId21" Type="http://schemas.openxmlformats.org/officeDocument/2006/relationships/image" Target="../media/image71.svg"/><Relationship Id="rId7" Type="http://schemas.openxmlformats.org/officeDocument/2006/relationships/image" Target="../media/image59.svg"/><Relationship Id="rId12" Type="http://schemas.openxmlformats.org/officeDocument/2006/relationships/image" Target="../media/image64.png"/><Relationship Id="rId17" Type="http://schemas.openxmlformats.org/officeDocument/2006/relationships/image" Target="../media/image9.svg"/><Relationship Id="rId25" Type="http://schemas.openxmlformats.org/officeDocument/2006/relationships/image" Target="../media/image75.svg"/><Relationship Id="rId2" Type="http://schemas.openxmlformats.org/officeDocument/2006/relationships/image" Target="../media/image54.png"/><Relationship Id="rId16" Type="http://schemas.openxmlformats.org/officeDocument/2006/relationships/image" Target="../media/image8.png"/><Relationship Id="rId20" Type="http://schemas.openxmlformats.org/officeDocument/2006/relationships/image" Target="../media/image70.png"/><Relationship Id="rId29" Type="http://schemas.openxmlformats.org/officeDocument/2006/relationships/image" Target="../media/image79.sv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svg"/><Relationship Id="rId24" Type="http://schemas.openxmlformats.org/officeDocument/2006/relationships/image" Target="../media/image74.png"/><Relationship Id="rId5" Type="http://schemas.openxmlformats.org/officeDocument/2006/relationships/image" Target="../media/image57.svg"/><Relationship Id="rId15" Type="http://schemas.openxmlformats.org/officeDocument/2006/relationships/image" Target="../media/image67.svg"/><Relationship Id="rId23" Type="http://schemas.openxmlformats.org/officeDocument/2006/relationships/image" Target="../media/image73.svg"/><Relationship Id="rId28" Type="http://schemas.openxmlformats.org/officeDocument/2006/relationships/image" Target="../media/image78.png"/><Relationship Id="rId10" Type="http://schemas.openxmlformats.org/officeDocument/2006/relationships/image" Target="../media/image62.png"/><Relationship Id="rId19" Type="http://schemas.openxmlformats.org/officeDocument/2006/relationships/image" Target="../media/image69.svg"/><Relationship Id="rId4" Type="http://schemas.openxmlformats.org/officeDocument/2006/relationships/image" Target="../media/image56.png"/><Relationship Id="rId9" Type="http://schemas.openxmlformats.org/officeDocument/2006/relationships/image" Target="../media/image61.svg"/><Relationship Id="rId14" Type="http://schemas.openxmlformats.org/officeDocument/2006/relationships/image" Target="../media/image66.png"/><Relationship Id="rId22" Type="http://schemas.openxmlformats.org/officeDocument/2006/relationships/image" Target="../media/image72.png"/><Relationship Id="rId27" Type="http://schemas.openxmlformats.org/officeDocument/2006/relationships/image" Target="../media/image77.svg"/></Relationships>
</file>

<file path=ppt/slides/_rels/slide54.xml.rels><?xml version="1.0" encoding="UTF-8" standalone="yes"?>
<Relationships xmlns="http://schemas.openxmlformats.org/package/2006/relationships"><Relationship Id="rId3" Type="http://schemas.openxmlformats.org/officeDocument/2006/relationships/slide" Target="slide63.xml"/><Relationship Id="rId2" Type="http://schemas.openxmlformats.org/officeDocument/2006/relationships/slide" Target="slide13.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hyperlink" Target="https://openseriousgames.org/osg-808-w2-topics-mapping/" TargetMode="Externa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103.svg"/><Relationship Id="rId2" Type="http://schemas.openxmlformats.org/officeDocument/2006/relationships/image" Target="../media/image102.png"/><Relationship Id="rId1" Type="http://schemas.openxmlformats.org/officeDocument/2006/relationships/slideLayout" Target="../slideLayouts/slideLayout4.xml"/><Relationship Id="rId6" Type="http://schemas.openxmlformats.org/officeDocument/2006/relationships/image" Target="../media/image106.png"/><Relationship Id="rId5" Type="http://schemas.openxmlformats.org/officeDocument/2006/relationships/image" Target="../media/image105.svg"/><Relationship Id="rId4" Type="http://schemas.openxmlformats.org/officeDocument/2006/relationships/image" Target="../media/image104.png"/></Relationships>
</file>

<file path=ppt/slides/_rels/slide58.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18" Type="http://schemas.openxmlformats.org/officeDocument/2006/relationships/image" Target="../media/image68.png"/><Relationship Id="rId26" Type="http://schemas.openxmlformats.org/officeDocument/2006/relationships/image" Target="../media/image76.png"/><Relationship Id="rId3" Type="http://schemas.openxmlformats.org/officeDocument/2006/relationships/image" Target="../media/image55.svg"/><Relationship Id="rId21" Type="http://schemas.openxmlformats.org/officeDocument/2006/relationships/image" Target="../media/image71.svg"/><Relationship Id="rId7" Type="http://schemas.openxmlformats.org/officeDocument/2006/relationships/image" Target="../media/image59.svg"/><Relationship Id="rId12" Type="http://schemas.openxmlformats.org/officeDocument/2006/relationships/image" Target="../media/image64.png"/><Relationship Id="rId17" Type="http://schemas.openxmlformats.org/officeDocument/2006/relationships/image" Target="../media/image9.svg"/><Relationship Id="rId25" Type="http://schemas.openxmlformats.org/officeDocument/2006/relationships/image" Target="../media/image75.svg"/><Relationship Id="rId2" Type="http://schemas.openxmlformats.org/officeDocument/2006/relationships/image" Target="../media/image54.png"/><Relationship Id="rId16" Type="http://schemas.openxmlformats.org/officeDocument/2006/relationships/image" Target="../media/image8.png"/><Relationship Id="rId20" Type="http://schemas.openxmlformats.org/officeDocument/2006/relationships/image" Target="../media/image70.png"/><Relationship Id="rId29" Type="http://schemas.openxmlformats.org/officeDocument/2006/relationships/image" Target="../media/image79.sv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svg"/><Relationship Id="rId24" Type="http://schemas.openxmlformats.org/officeDocument/2006/relationships/image" Target="../media/image74.png"/><Relationship Id="rId5" Type="http://schemas.openxmlformats.org/officeDocument/2006/relationships/image" Target="../media/image57.svg"/><Relationship Id="rId15" Type="http://schemas.openxmlformats.org/officeDocument/2006/relationships/image" Target="../media/image67.svg"/><Relationship Id="rId23" Type="http://schemas.openxmlformats.org/officeDocument/2006/relationships/image" Target="../media/image73.svg"/><Relationship Id="rId28" Type="http://schemas.openxmlformats.org/officeDocument/2006/relationships/image" Target="../media/image78.png"/><Relationship Id="rId10" Type="http://schemas.openxmlformats.org/officeDocument/2006/relationships/image" Target="../media/image62.png"/><Relationship Id="rId19" Type="http://schemas.openxmlformats.org/officeDocument/2006/relationships/image" Target="../media/image69.svg"/><Relationship Id="rId4" Type="http://schemas.openxmlformats.org/officeDocument/2006/relationships/image" Target="../media/image56.png"/><Relationship Id="rId9" Type="http://schemas.openxmlformats.org/officeDocument/2006/relationships/image" Target="../media/image61.svg"/><Relationship Id="rId14" Type="http://schemas.openxmlformats.org/officeDocument/2006/relationships/image" Target="../media/image66.png"/><Relationship Id="rId22" Type="http://schemas.openxmlformats.org/officeDocument/2006/relationships/image" Target="../media/image72.png"/><Relationship Id="rId27" Type="http://schemas.openxmlformats.org/officeDocument/2006/relationships/image" Target="../media/image77.svg"/></Relationships>
</file>

<file path=ppt/slides/_rels/slide5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7.svg"/></Relationships>
</file>

<file path=ppt/slides/_rels/slide61.xml.rels><?xml version="1.0" encoding="UTF-8" standalone="yes"?>
<Relationships xmlns="http://schemas.openxmlformats.org/package/2006/relationships"><Relationship Id="rId13" Type="http://schemas.openxmlformats.org/officeDocument/2006/relationships/image" Target="../media/image25.svg"/><Relationship Id="rId18" Type="http://schemas.openxmlformats.org/officeDocument/2006/relationships/image" Target="../media/image30.png"/><Relationship Id="rId26" Type="http://schemas.openxmlformats.org/officeDocument/2006/relationships/image" Target="../media/image113.png"/><Relationship Id="rId3" Type="http://schemas.openxmlformats.org/officeDocument/2006/relationships/image" Target="../media/image11.svg"/><Relationship Id="rId21" Type="http://schemas.openxmlformats.org/officeDocument/2006/relationships/image" Target="../media/image110.svg"/><Relationship Id="rId34" Type="http://schemas.openxmlformats.org/officeDocument/2006/relationships/image" Target="../media/image121.png"/><Relationship Id="rId7" Type="http://schemas.openxmlformats.org/officeDocument/2006/relationships/image" Target="../media/image19.svg"/><Relationship Id="rId12" Type="http://schemas.openxmlformats.org/officeDocument/2006/relationships/image" Target="../media/image24.png"/><Relationship Id="rId17" Type="http://schemas.openxmlformats.org/officeDocument/2006/relationships/image" Target="../media/image29.svg"/><Relationship Id="rId25" Type="http://schemas.openxmlformats.org/officeDocument/2006/relationships/image" Target="../media/image95.svg"/><Relationship Id="rId33" Type="http://schemas.openxmlformats.org/officeDocument/2006/relationships/image" Target="../media/image120.svg"/><Relationship Id="rId2" Type="http://schemas.openxmlformats.org/officeDocument/2006/relationships/image" Target="../media/image10.png"/><Relationship Id="rId16" Type="http://schemas.openxmlformats.org/officeDocument/2006/relationships/image" Target="../media/image28.png"/><Relationship Id="rId20" Type="http://schemas.openxmlformats.org/officeDocument/2006/relationships/image" Target="../media/image109.png"/><Relationship Id="rId29" Type="http://schemas.openxmlformats.org/officeDocument/2006/relationships/image" Target="../media/image116.svg"/><Relationship Id="rId1" Type="http://schemas.openxmlformats.org/officeDocument/2006/relationships/slideLayout" Target="../slideLayouts/slideLayout3.xml"/><Relationship Id="rId6" Type="http://schemas.openxmlformats.org/officeDocument/2006/relationships/image" Target="../media/image18.png"/><Relationship Id="rId11" Type="http://schemas.openxmlformats.org/officeDocument/2006/relationships/image" Target="../media/image23.svg"/><Relationship Id="rId24" Type="http://schemas.openxmlformats.org/officeDocument/2006/relationships/image" Target="../media/image94.png"/><Relationship Id="rId32" Type="http://schemas.openxmlformats.org/officeDocument/2006/relationships/image" Target="../media/image119.png"/><Relationship Id="rId5" Type="http://schemas.openxmlformats.org/officeDocument/2006/relationships/image" Target="../media/image9.svg"/><Relationship Id="rId15" Type="http://schemas.openxmlformats.org/officeDocument/2006/relationships/image" Target="../media/image27.svg"/><Relationship Id="rId23" Type="http://schemas.openxmlformats.org/officeDocument/2006/relationships/image" Target="../media/image112.svg"/><Relationship Id="rId28" Type="http://schemas.openxmlformats.org/officeDocument/2006/relationships/image" Target="../media/image115.png"/><Relationship Id="rId10" Type="http://schemas.openxmlformats.org/officeDocument/2006/relationships/image" Target="../media/image22.png"/><Relationship Id="rId19" Type="http://schemas.openxmlformats.org/officeDocument/2006/relationships/image" Target="../media/image31.svg"/><Relationship Id="rId31" Type="http://schemas.openxmlformats.org/officeDocument/2006/relationships/image" Target="../media/image118.svg"/><Relationship Id="rId4" Type="http://schemas.openxmlformats.org/officeDocument/2006/relationships/image" Target="../media/image8.png"/><Relationship Id="rId9" Type="http://schemas.openxmlformats.org/officeDocument/2006/relationships/image" Target="../media/image21.svg"/><Relationship Id="rId14" Type="http://schemas.openxmlformats.org/officeDocument/2006/relationships/image" Target="../media/image26.png"/><Relationship Id="rId22" Type="http://schemas.openxmlformats.org/officeDocument/2006/relationships/image" Target="../media/image111.png"/><Relationship Id="rId27" Type="http://schemas.openxmlformats.org/officeDocument/2006/relationships/image" Target="../media/image114.svg"/><Relationship Id="rId30" Type="http://schemas.openxmlformats.org/officeDocument/2006/relationships/image" Target="../media/image117.png"/><Relationship Id="rId35" Type="http://schemas.openxmlformats.org/officeDocument/2006/relationships/image" Target="../media/image122.svg"/><Relationship Id="rId8" Type="http://schemas.openxmlformats.org/officeDocument/2006/relationships/image" Target="../media/image20.png"/></Relationships>
</file>

<file path=ppt/slides/_rels/slide62.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63.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18" Type="http://schemas.openxmlformats.org/officeDocument/2006/relationships/image" Target="../media/image31.svg"/><Relationship Id="rId3" Type="http://schemas.openxmlformats.org/officeDocument/2006/relationships/image" Target="../media/image3.png"/><Relationship Id="rId7" Type="http://schemas.openxmlformats.org/officeDocument/2006/relationships/image" Target="../media/image20.png"/><Relationship Id="rId12" Type="http://schemas.openxmlformats.org/officeDocument/2006/relationships/image" Target="../media/image25.svg"/><Relationship Id="rId17" Type="http://schemas.openxmlformats.org/officeDocument/2006/relationships/image" Target="../media/image30.png"/><Relationship Id="rId2" Type="http://schemas.openxmlformats.org/officeDocument/2006/relationships/image" Target="../media/image2.jpeg"/><Relationship Id="rId16" Type="http://schemas.openxmlformats.org/officeDocument/2006/relationships/image" Target="../media/image29.svg"/><Relationship Id="rId1" Type="http://schemas.openxmlformats.org/officeDocument/2006/relationships/slideLayout" Target="../slideLayouts/slideLayout1.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svg"/><Relationship Id="rId4" Type="http://schemas.openxmlformats.org/officeDocument/2006/relationships/image" Target="../media/image1.png"/><Relationship Id="rId9" Type="http://schemas.openxmlformats.org/officeDocument/2006/relationships/image" Target="../media/image22.png"/><Relationship Id="rId14" Type="http://schemas.openxmlformats.org/officeDocument/2006/relationships/image" Target="../media/image27.svg"/></Relationships>
</file>

<file path=ppt/slides/_rels/slide64.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18" Type="http://schemas.openxmlformats.org/officeDocument/2006/relationships/image" Target="../media/image31.svg"/><Relationship Id="rId3" Type="http://schemas.openxmlformats.org/officeDocument/2006/relationships/image" Target="../media/image3.png"/><Relationship Id="rId7" Type="http://schemas.openxmlformats.org/officeDocument/2006/relationships/image" Target="../media/image20.png"/><Relationship Id="rId12" Type="http://schemas.openxmlformats.org/officeDocument/2006/relationships/image" Target="../media/image25.svg"/><Relationship Id="rId17" Type="http://schemas.openxmlformats.org/officeDocument/2006/relationships/image" Target="../media/image30.png"/><Relationship Id="rId2" Type="http://schemas.openxmlformats.org/officeDocument/2006/relationships/image" Target="../media/image2.jpeg"/><Relationship Id="rId16" Type="http://schemas.openxmlformats.org/officeDocument/2006/relationships/image" Target="../media/image29.svg"/><Relationship Id="rId1" Type="http://schemas.openxmlformats.org/officeDocument/2006/relationships/slideLayout" Target="../slideLayouts/slideLayout1.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svg"/><Relationship Id="rId4" Type="http://schemas.openxmlformats.org/officeDocument/2006/relationships/image" Target="../media/image1.png"/><Relationship Id="rId9" Type="http://schemas.openxmlformats.org/officeDocument/2006/relationships/image" Target="../media/image22.png"/><Relationship Id="rId14" Type="http://schemas.openxmlformats.org/officeDocument/2006/relationships/image" Target="../media/image27.svg"/></Relationships>
</file>

<file path=ppt/slides/_rels/slide6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66.xml.rels><?xml version="1.0" encoding="UTF-8" standalone="yes"?>
<Relationships xmlns="http://schemas.openxmlformats.org/package/2006/relationships"><Relationship Id="rId3" Type="http://schemas.openxmlformats.org/officeDocument/2006/relationships/slide" Target="slide63.xml"/><Relationship Id="rId2" Type="http://schemas.openxmlformats.org/officeDocument/2006/relationships/slide" Target="slide13.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103.svg"/><Relationship Id="rId2" Type="http://schemas.openxmlformats.org/officeDocument/2006/relationships/image" Target="../media/image102.png"/><Relationship Id="rId1" Type="http://schemas.openxmlformats.org/officeDocument/2006/relationships/slideLayout" Target="../slideLayouts/slideLayout4.xml"/><Relationship Id="rId6" Type="http://schemas.openxmlformats.org/officeDocument/2006/relationships/image" Target="../media/image106.png"/><Relationship Id="rId5" Type="http://schemas.openxmlformats.org/officeDocument/2006/relationships/image" Target="../media/image105.svg"/><Relationship Id="rId4" Type="http://schemas.openxmlformats.org/officeDocument/2006/relationships/image" Target="../media/image104.png"/></Relationships>
</file>

<file path=ppt/slides/_rels/slide70.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125.png"/><Relationship Id="rId26" Type="http://schemas.openxmlformats.org/officeDocument/2006/relationships/image" Target="../media/image132.svg"/><Relationship Id="rId3" Type="http://schemas.openxmlformats.org/officeDocument/2006/relationships/image" Target="../media/image19.svg"/><Relationship Id="rId21" Type="http://schemas.openxmlformats.org/officeDocument/2006/relationships/image" Target="../media/image128.sv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24.svg"/><Relationship Id="rId25" Type="http://schemas.openxmlformats.org/officeDocument/2006/relationships/image" Target="../media/image131.png"/><Relationship Id="rId2" Type="http://schemas.openxmlformats.org/officeDocument/2006/relationships/image" Target="../media/image18.png"/><Relationship Id="rId16" Type="http://schemas.openxmlformats.org/officeDocument/2006/relationships/image" Target="../media/image123.png"/><Relationship Id="rId20" Type="http://schemas.openxmlformats.org/officeDocument/2006/relationships/image" Target="../media/image127.png"/><Relationship Id="rId1" Type="http://schemas.openxmlformats.org/officeDocument/2006/relationships/slideLayout" Target="../slideLayouts/slideLayout3.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130.sv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129.png"/><Relationship Id="rId10" Type="http://schemas.openxmlformats.org/officeDocument/2006/relationships/image" Target="../media/image26.png"/><Relationship Id="rId19" Type="http://schemas.openxmlformats.org/officeDocument/2006/relationships/image" Target="../media/image126.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106.png"/></Relationships>
</file>

<file path=ppt/slides/_rels/slide71.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108.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07.png"/><Relationship Id="rId2" Type="http://schemas.openxmlformats.org/officeDocument/2006/relationships/image" Target="../media/image18.png"/><Relationship Id="rId16"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7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3" Type="http://schemas.openxmlformats.org/officeDocument/2006/relationships/image" Target="../media/image47.svg"/><Relationship Id="rId18" Type="http://schemas.openxmlformats.org/officeDocument/2006/relationships/image" Target="../media/image20.png"/><Relationship Id="rId26" Type="http://schemas.openxmlformats.org/officeDocument/2006/relationships/image" Target="../media/image28.png"/><Relationship Id="rId3" Type="http://schemas.openxmlformats.org/officeDocument/2006/relationships/image" Target="../media/image37.svg"/><Relationship Id="rId21" Type="http://schemas.openxmlformats.org/officeDocument/2006/relationships/image" Target="../media/image23.svg"/><Relationship Id="rId7" Type="http://schemas.openxmlformats.org/officeDocument/2006/relationships/image" Target="../media/image41.svg"/><Relationship Id="rId12" Type="http://schemas.openxmlformats.org/officeDocument/2006/relationships/image" Target="../media/image46.png"/><Relationship Id="rId17" Type="http://schemas.openxmlformats.org/officeDocument/2006/relationships/image" Target="../media/image19.svg"/><Relationship Id="rId25" Type="http://schemas.openxmlformats.org/officeDocument/2006/relationships/image" Target="../media/image27.svg"/><Relationship Id="rId33" Type="http://schemas.openxmlformats.org/officeDocument/2006/relationships/image" Target="../media/image11.svg"/><Relationship Id="rId2" Type="http://schemas.openxmlformats.org/officeDocument/2006/relationships/image" Target="../media/image36.png"/><Relationship Id="rId16" Type="http://schemas.openxmlformats.org/officeDocument/2006/relationships/image" Target="../media/image18.png"/><Relationship Id="rId20" Type="http://schemas.openxmlformats.org/officeDocument/2006/relationships/image" Target="../media/image22.png"/><Relationship Id="rId29" Type="http://schemas.openxmlformats.org/officeDocument/2006/relationships/image" Target="../media/image31.sv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5.svg"/><Relationship Id="rId24" Type="http://schemas.openxmlformats.org/officeDocument/2006/relationships/image" Target="../media/image26.png"/><Relationship Id="rId32" Type="http://schemas.openxmlformats.org/officeDocument/2006/relationships/image" Target="../media/image10.png"/><Relationship Id="rId5" Type="http://schemas.openxmlformats.org/officeDocument/2006/relationships/image" Target="../media/image39.svg"/><Relationship Id="rId15" Type="http://schemas.openxmlformats.org/officeDocument/2006/relationships/image" Target="../media/image49.svg"/><Relationship Id="rId23" Type="http://schemas.openxmlformats.org/officeDocument/2006/relationships/image" Target="../media/image25.svg"/><Relationship Id="rId28" Type="http://schemas.openxmlformats.org/officeDocument/2006/relationships/image" Target="../media/image30.png"/><Relationship Id="rId10" Type="http://schemas.openxmlformats.org/officeDocument/2006/relationships/image" Target="../media/image44.png"/><Relationship Id="rId19" Type="http://schemas.openxmlformats.org/officeDocument/2006/relationships/image" Target="../media/image21.svg"/><Relationship Id="rId31" Type="http://schemas.openxmlformats.org/officeDocument/2006/relationships/image" Target="../media/image17.sv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48.png"/><Relationship Id="rId22" Type="http://schemas.openxmlformats.org/officeDocument/2006/relationships/image" Target="../media/image24.png"/><Relationship Id="rId27" Type="http://schemas.openxmlformats.org/officeDocument/2006/relationships/image" Target="../media/image29.svg"/><Relationship Id="rId30" Type="http://schemas.openxmlformats.org/officeDocument/2006/relationships/image" Target="../media/image16.png"/><Relationship Id="rId8" Type="http://schemas.openxmlformats.org/officeDocument/2006/relationships/image" Target="../media/image42.png"/></Relationships>
</file>

<file path=ppt/slides/_rels/slide74.xml.rels><?xml version="1.0" encoding="UTF-8" standalone="yes"?>
<Relationships xmlns="http://schemas.openxmlformats.org/package/2006/relationships"><Relationship Id="rId13" Type="http://schemas.openxmlformats.org/officeDocument/2006/relationships/image" Target="../media/image28.png"/><Relationship Id="rId18" Type="http://schemas.openxmlformats.org/officeDocument/2006/relationships/image" Target="../media/image37.svg"/><Relationship Id="rId26" Type="http://schemas.openxmlformats.org/officeDocument/2006/relationships/image" Target="../media/image55.svg"/><Relationship Id="rId39" Type="http://schemas.openxmlformats.org/officeDocument/2006/relationships/image" Target="../media/image68.png"/><Relationship Id="rId21" Type="http://schemas.openxmlformats.org/officeDocument/2006/relationships/image" Target="../media/image42.png"/><Relationship Id="rId34" Type="http://schemas.openxmlformats.org/officeDocument/2006/relationships/image" Target="../media/image65.svg"/><Relationship Id="rId42" Type="http://schemas.openxmlformats.org/officeDocument/2006/relationships/image" Target="../media/image71.svg"/><Relationship Id="rId47" Type="http://schemas.openxmlformats.org/officeDocument/2006/relationships/image" Target="../media/image78.png"/><Relationship Id="rId7" Type="http://schemas.openxmlformats.org/officeDocument/2006/relationships/image" Target="../media/image22.png"/><Relationship Id="rId2" Type="http://schemas.openxmlformats.org/officeDocument/2006/relationships/slide" Target="slide78.xml"/><Relationship Id="rId16" Type="http://schemas.openxmlformats.org/officeDocument/2006/relationships/image" Target="../media/image31.sv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21.svg"/><Relationship Id="rId11" Type="http://schemas.openxmlformats.org/officeDocument/2006/relationships/image" Target="../media/image26.png"/><Relationship Id="rId24" Type="http://schemas.openxmlformats.org/officeDocument/2006/relationships/image" Target="../media/image41.svg"/><Relationship Id="rId32" Type="http://schemas.openxmlformats.org/officeDocument/2006/relationships/image" Target="../media/image61.svg"/><Relationship Id="rId37" Type="http://schemas.openxmlformats.org/officeDocument/2006/relationships/image" Target="../media/image8.png"/><Relationship Id="rId40" Type="http://schemas.openxmlformats.org/officeDocument/2006/relationships/image" Target="../media/image69.svg"/><Relationship Id="rId45" Type="http://schemas.openxmlformats.org/officeDocument/2006/relationships/image" Target="../media/image76.png"/><Relationship Id="rId5" Type="http://schemas.openxmlformats.org/officeDocument/2006/relationships/image" Target="../media/image20.png"/><Relationship Id="rId15" Type="http://schemas.openxmlformats.org/officeDocument/2006/relationships/image" Target="../media/image30.png"/><Relationship Id="rId23" Type="http://schemas.openxmlformats.org/officeDocument/2006/relationships/image" Target="../media/image40.png"/><Relationship Id="rId28" Type="http://schemas.openxmlformats.org/officeDocument/2006/relationships/image" Target="../media/image57.svg"/><Relationship Id="rId36" Type="http://schemas.openxmlformats.org/officeDocument/2006/relationships/image" Target="../media/image67.svg"/><Relationship Id="rId10" Type="http://schemas.openxmlformats.org/officeDocument/2006/relationships/image" Target="../media/image25.svg"/><Relationship Id="rId19" Type="http://schemas.openxmlformats.org/officeDocument/2006/relationships/image" Target="../media/image46.png"/><Relationship Id="rId31" Type="http://schemas.openxmlformats.org/officeDocument/2006/relationships/image" Target="../media/image60.png"/><Relationship Id="rId44" Type="http://schemas.openxmlformats.org/officeDocument/2006/relationships/image" Target="../media/image73.svg"/><Relationship Id="rId4" Type="http://schemas.openxmlformats.org/officeDocument/2006/relationships/image" Target="../media/image19.svg"/><Relationship Id="rId9" Type="http://schemas.openxmlformats.org/officeDocument/2006/relationships/image" Target="../media/image24.png"/><Relationship Id="rId14" Type="http://schemas.openxmlformats.org/officeDocument/2006/relationships/image" Target="../media/image29.svg"/><Relationship Id="rId22" Type="http://schemas.openxmlformats.org/officeDocument/2006/relationships/image" Target="../media/image43.svg"/><Relationship Id="rId27" Type="http://schemas.openxmlformats.org/officeDocument/2006/relationships/image" Target="../media/image56.png"/><Relationship Id="rId30" Type="http://schemas.openxmlformats.org/officeDocument/2006/relationships/image" Target="../media/image59.svg"/><Relationship Id="rId35" Type="http://schemas.openxmlformats.org/officeDocument/2006/relationships/image" Target="../media/image66.png"/><Relationship Id="rId43" Type="http://schemas.openxmlformats.org/officeDocument/2006/relationships/image" Target="../media/image72.png"/><Relationship Id="rId48" Type="http://schemas.openxmlformats.org/officeDocument/2006/relationships/image" Target="../media/image79.svg"/><Relationship Id="rId8" Type="http://schemas.openxmlformats.org/officeDocument/2006/relationships/image" Target="../media/image23.svg"/><Relationship Id="rId3" Type="http://schemas.openxmlformats.org/officeDocument/2006/relationships/image" Target="../media/image18.png"/><Relationship Id="rId12" Type="http://schemas.openxmlformats.org/officeDocument/2006/relationships/image" Target="../media/image27.svg"/><Relationship Id="rId17" Type="http://schemas.openxmlformats.org/officeDocument/2006/relationships/image" Target="../media/image36.png"/><Relationship Id="rId25" Type="http://schemas.openxmlformats.org/officeDocument/2006/relationships/image" Target="../media/image54.png"/><Relationship Id="rId33" Type="http://schemas.openxmlformats.org/officeDocument/2006/relationships/image" Target="../media/image64.png"/><Relationship Id="rId38" Type="http://schemas.openxmlformats.org/officeDocument/2006/relationships/image" Target="../media/image9.svg"/><Relationship Id="rId46" Type="http://schemas.openxmlformats.org/officeDocument/2006/relationships/image" Target="../media/image77.svg"/><Relationship Id="rId20" Type="http://schemas.openxmlformats.org/officeDocument/2006/relationships/image" Target="../media/image47.svg"/><Relationship Id="rId41" Type="http://schemas.openxmlformats.org/officeDocument/2006/relationships/image" Target="../media/image70.png"/></Relationships>
</file>

<file path=ppt/slides/_rels/slide75.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svg"/><Relationship Id="rId18" Type="http://schemas.openxmlformats.org/officeDocument/2006/relationships/image" Target="../media/image20.png"/><Relationship Id="rId26" Type="http://schemas.openxmlformats.org/officeDocument/2006/relationships/image" Target="../media/image28.png"/><Relationship Id="rId3" Type="http://schemas.openxmlformats.org/officeDocument/2006/relationships/image" Target="../media/image37.svg"/><Relationship Id="rId21" Type="http://schemas.openxmlformats.org/officeDocument/2006/relationships/image" Target="../media/image23.svg"/><Relationship Id="rId7" Type="http://schemas.openxmlformats.org/officeDocument/2006/relationships/image" Target="../media/image41.svg"/><Relationship Id="rId12" Type="http://schemas.openxmlformats.org/officeDocument/2006/relationships/image" Target="../media/image46.png"/><Relationship Id="rId17" Type="http://schemas.openxmlformats.org/officeDocument/2006/relationships/image" Target="../media/image19.svg"/><Relationship Id="rId25" Type="http://schemas.openxmlformats.org/officeDocument/2006/relationships/image" Target="../media/image27.svg"/><Relationship Id="rId2" Type="http://schemas.openxmlformats.org/officeDocument/2006/relationships/image" Target="../media/image36.png"/><Relationship Id="rId16" Type="http://schemas.openxmlformats.org/officeDocument/2006/relationships/image" Target="../media/image18.png"/><Relationship Id="rId20" Type="http://schemas.openxmlformats.org/officeDocument/2006/relationships/image" Target="../media/image22.png"/><Relationship Id="rId29" Type="http://schemas.openxmlformats.org/officeDocument/2006/relationships/image" Target="../media/image31.sv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5.svg"/><Relationship Id="rId24" Type="http://schemas.openxmlformats.org/officeDocument/2006/relationships/image" Target="../media/image26.png"/><Relationship Id="rId5" Type="http://schemas.openxmlformats.org/officeDocument/2006/relationships/image" Target="../media/image39.svg"/><Relationship Id="rId15" Type="http://schemas.openxmlformats.org/officeDocument/2006/relationships/image" Target="../media/image49.svg"/><Relationship Id="rId23" Type="http://schemas.openxmlformats.org/officeDocument/2006/relationships/image" Target="../media/image25.svg"/><Relationship Id="rId28" Type="http://schemas.openxmlformats.org/officeDocument/2006/relationships/image" Target="../media/image30.png"/><Relationship Id="rId10" Type="http://schemas.openxmlformats.org/officeDocument/2006/relationships/image" Target="../media/image44.png"/><Relationship Id="rId19" Type="http://schemas.openxmlformats.org/officeDocument/2006/relationships/image" Target="../media/image21.sv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48.png"/><Relationship Id="rId22" Type="http://schemas.openxmlformats.org/officeDocument/2006/relationships/image" Target="../media/image24.png"/><Relationship Id="rId27" Type="http://schemas.openxmlformats.org/officeDocument/2006/relationships/image" Target="../media/image29.sv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37.svg"/><Relationship Id="rId26" Type="http://schemas.openxmlformats.org/officeDocument/2006/relationships/image" Target="../media/image45.svg"/><Relationship Id="rId3" Type="http://schemas.openxmlformats.org/officeDocument/2006/relationships/image" Target="../media/image19.svg"/><Relationship Id="rId21" Type="http://schemas.openxmlformats.org/officeDocument/2006/relationships/image" Target="../media/image40.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36.png"/><Relationship Id="rId25" Type="http://schemas.openxmlformats.org/officeDocument/2006/relationships/image" Target="../media/image44.png"/><Relationship Id="rId2" Type="http://schemas.openxmlformats.org/officeDocument/2006/relationships/image" Target="../media/image18.png"/><Relationship Id="rId16" Type="http://schemas.openxmlformats.org/officeDocument/2006/relationships/image" Target="../media/image3.png"/><Relationship Id="rId20" Type="http://schemas.openxmlformats.org/officeDocument/2006/relationships/image" Target="../media/image39.svg"/><Relationship Id="rId29"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43.sv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42.png"/><Relationship Id="rId28" Type="http://schemas.openxmlformats.org/officeDocument/2006/relationships/image" Target="../media/image47.svg"/><Relationship Id="rId10" Type="http://schemas.openxmlformats.org/officeDocument/2006/relationships/image" Target="../media/image26.png"/><Relationship Id="rId19" Type="http://schemas.openxmlformats.org/officeDocument/2006/relationships/image" Target="../media/image38.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41.svg"/><Relationship Id="rId27" Type="http://schemas.openxmlformats.org/officeDocument/2006/relationships/image" Target="../media/image46.png"/><Relationship Id="rId30" Type="http://schemas.openxmlformats.org/officeDocument/2006/relationships/image" Target="../media/image49.sv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103.svg"/><Relationship Id="rId2" Type="http://schemas.openxmlformats.org/officeDocument/2006/relationships/image" Target="../media/image102.png"/><Relationship Id="rId1" Type="http://schemas.openxmlformats.org/officeDocument/2006/relationships/slideLayout" Target="../slideLayouts/slideLayout4.xml"/><Relationship Id="rId6" Type="http://schemas.openxmlformats.org/officeDocument/2006/relationships/image" Target="../media/image106.png"/><Relationship Id="rId5" Type="http://schemas.openxmlformats.org/officeDocument/2006/relationships/image" Target="../media/image105.svg"/><Relationship Id="rId4" Type="http://schemas.openxmlformats.org/officeDocument/2006/relationships/image" Target="../media/image104.png"/></Relationships>
</file>

<file path=ppt/slides/_rels/slide8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83.xml.rels><?xml version="1.0" encoding="UTF-8" standalone="yes"?>
<Relationships xmlns="http://schemas.openxmlformats.org/package/2006/relationships"><Relationship Id="rId13" Type="http://schemas.openxmlformats.org/officeDocument/2006/relationships/image" Target="../media/image81.svg"/><Relationship Id="rId18" Type="http://schemas.openxmlformats.org/officeDocument/2006/relationships/image" Target="../media/image20.png"/><Relationship Id="rId26" Type="http://schemas.openxmlformats.org/officeDocument/2006/relationships/image" Target="../media/image28.png"/><Relationship Id="rId3" Type="http://schemas.openxmlformats.org/officeDocument/2006/relationships/image" Target="../media/image110.svg"/><Relationship Id="rId21" Type="http://schemas.openxmlformats.org/officeDocument/2006/relationships/image" Target="../media/image23.svg"/><Relationship Id="rId34" Type="http://schemas.openxmlformats.org/officeDocument/2006/relationships/image" Target="../media/image53.svg"/><Relationship Id="rId7" Type="http://schemas.openxmlformats.org/officeDocument/2006/relationships/image" Target="../media/image9.svg"/><Relationship Id="rId12" Type="http://schemas.openxmlformats.org/officeDocument/2006/relationships/image" Target="../media/image50.png"/><Relationship Id="rId17" Type="http://schemas.openxmlformats.org/officeDocument/2006/relationships/image" Target="../media/image19.svg"/><Relationship Id="rId25" Type="http://schemas.openxmlformats.org/officeDocument/2006/relationships/image" Target="../media/image27.svg"/><Relationship Id="rId33" Type="http://schemas.openxmlformats.org/officeDocument/2006/relationships/image" Target="../media/image52.png"/><Relationship Id="rId2" Type="http://schemas.openxmlformats.org/officeDocument/2006/relationships/image" Target="../media/image109.png"/><Relationship Id="rId16" Type="http://schemas.openxmlformats.org/officeDocument/2006/relationships/image" Target="../media/image18.png"/><Relationship Id="rId20" Type="http://schemas.openxmlformats.org/officeDocument/2006/relationships/image" Target="../media/image22.png"/><Relationship Id="rId29" Type="http://schemas.openxmlformats.org/officeDocument/2006/relationships/image" Target="../media/image31.sv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7.svg"/><Relationship Id="rId24" Type="http://schemas.openxmlformats.org/officeDocument/2006/relationships/image" Target="../media/image26.png"/><Relationship Id="rId32" Type="http://schemas.openxmlformats.org/officeDocument/2006/relationships/image" Target="../media/image51.svg"/><Relationship Id="rId5" Type="http://schemas.openxmlformats.org/officeDocument/2006/relationships/image" Target="../media/image112.svg"/><Relationship Id="rId15" Type="http://schemas.openxmlformats.org/officeDocument/2006/relationships/image" Target="../media/image71.svg"/><Relationship Id="rId23" Type="http://schemas.openxmlformats.org/officeDocument/2006/relationships/image" Target="../media/image25.svg"/><Relationship Id="rId28" Type="http://schemas.openxmlformats.org/officeDocument/2006/relationships/image" Target="../media/image30.png"/><Relationship Id="rId36" Type="http://schemas.openxmlformats.org/officeDocument/2006/relationships/image" Target="../media/image136.svg"/><Relationship Id="rId10" Type="http://schemas.openxmlformats.org/officeDocument/2006/relationships/image" Target="../media/image16.png"/><Relationship Id="rId19" Type="http://schemas.openxmlformats.org/officeDocument/2006/relationships/image" Target="../media/image21.svg"/><Relationship Id="rId31" Type="http://schemas.openxmlformats.org/officeDocument/2006/relationships/image" Target="../media/image134.svg"/><Relationship Id="rId4" Type="http://schemas.openxmlformats.org/officeDocument/2006/relationships/image" Target="../media/image111.png"/><Relationship Id="rId9" Type="http://schemas.openxmlformats.org/officeDocument/2006/relationships/image" Target="../media/image11.svg"/><Relationship Id="rId14" Type="http://schemas.openxmlformats.org/officeDocument/2006/relationships/image" Target="../media/image70.png"/><Relationship Id="rId22" Type="http://schemas.openxmlformats.org/officeDocument/2006/relationships/image" Target="../media/image24.png"/><Relationship Id="rId27" Type="http://schemas.openxmlformats.org/officeDocument/2006/relationships/image" Target="../media/image29.svg"/><Relationship Id="rId30" Type="http://schemas.openxmlformats.org/officeDocument/2006/relationships/image" Target="../media/image133.png"/><Relationship Id="rId35" Type="http://schemas.openxmlformats.org/officeDocument/2006/relationships/image" Target="../media/image135.png"/><Relationship Id="rId8" Type="http://schemas.openxmlformats.org/officeDocument/2006/relationships/image" Target="../media/image10.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3" Type="http://schemas.openxmlformats.org/officeDocument/2006/relationships/image" Target="../media/image138.svg"/><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40.svg"/><Relationship Id="rId2" Type="http://schemas.openxmlformats.org/officeDocument/2006/relationships/image" Target="../media/image18.png"/><Relationship Id="rId16" Type="http://schemas.openxmlformats.org/officeDocument/2006/relationships/image" Target="../media/image139.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89.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50.png"/><Relationship Id="rId3" Type="http://schemas.openxmlformats.org/officeDocument/2006/relationships/image" Target="../media/image19.svg"/><Relationship Id="rId21" Type="http://schemas.openxmlformats.org/officeDocument/2006/relationships/image" Target="../media/image52.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34.svg"/><Relationship Id="rId2" Type="http://schemas.openxmlformats.org/officeDocument/2006/relationships/image" Target="../media/image18.png"/><Relationship Id="rId16" Type="http://schemas.openxmlformats.org/officeDocument/2006/relationships/image" Target="../media/image133.pn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17.sv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16.png"/><Relationship Id="rId10" Type="http://schemas.openxmlformats.org/officeDocument/2006/relationships/image" Target="../media/image26.png"/><Relationship Id="rId19" Type="http://schemas.openxmlformats.org/officeDocument/2006/relationships/image" Target="../media/image81.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53.svg"/></Relationships>
</file>

<file path=ppt/slides/_rels/slide92.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50.png"/><Relationship Id="rId3" Type="http://schemas.openxmlformats.org/officeDocument/2006/relationships/image" Target="../media/image19.svg"/><Relationship Id="rId21" Type="http://schemas.openxmlformats.org/officeDocument/2006/relationships/image" Target="../media/image52.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34.svg"/><Relationship Id="rId2" Type="http://schemas.openxmlformats.org/officeDocument/2006/relationships/image" Target="../media/image18.png"/><Relationship Id="rId16" Type="http://schemas.openxmlformats.org/officeDocument/2006/relationships/image" Target="../media/image133.pn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19" Type="http://schemas.openxmlformats.org/officeDocument/2006/relationships/image" Target="../media/image81.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53.svg"/></Relationships>
</file>

<file path=ppt/slides/_rels/slide93.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50.png"/><Relationship Id="rId3" Type="http://schemas.openxmlformats.org/officeDocument/2006/relationships/image" Target="../media/image19.svg"/><Relationship Id="rId21" Type="http://schemas.openxmlformats.org/officeDocument/2006/relationships/image" Target="../media/image52.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34.svg"/><Relationship Id="rId2" Type="http://schemas.openxmlformats.org/officeDocument/2006/relationships/image" Target="../media/image18.png"/><Relationship Id="rId16" Type="http://schemas.openxmlformats.org/officeDocument/2006/relationships/image" Target="../media/image133.pn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17.sv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16.png"/><Relationship Id="rId10" Type="http://schemas.openxmlformats.org/officeDocument/2006/relationships/image" Target="../media/image26.png"/><Relationship Id="rId19" Type="http://schemas.openxmlformats.org/officeDocument/2006/relationships/image" Target="../media/image81.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53.svg"/></Relationships>
</file>

<file path=ppt/slides/_rels/slide9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50.png"/><Relationship Id="rId3" Type="http://schemas.openxmlformats.org/officeDocument/2006/relationships/image" Target="../media/image19.svg"/><Relationship Id="rId21" Type="http://schemas.openxmlformats.org/officeDocument/2006/relationships/image" Target="../media/image52.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34.svg"/><Relationship Id="rId2" Type="http://schemas.openxmlformats.org/officeDocument/2006/relationships/image" Target="../media/image18.png"/><Relationship Id="rId16" Type="http://schemas.openxmlformats.org/officeDocument/2006/relationships/image" Target="../media/image133.pn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19" Type="http://schemas.openxmlformats.org/officeDocument/2006/relationships/image" Target="../media/image81.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53.svg"/></Relationships>
</file>

<file path=ppt/slides/_rels/slide9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50.png"/><Relationship Id="rId3" Type="http://schemas.openxmlformats.org/officeDocument/2006/relationships/image" Target="../media/image19.svg"/><Relationship Id="rId21" Type="http://schemas.openxmlformats.org/officeDocument/2006/relationships/image" Target="../media/image52.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34.svg"/><Relationship Id="rId25" Type="http://schemas.openxmlformats.org/officeDocument/2006/relationships/image" Target="../media/image141.svg"/><Relationship Id="rId2" Type="http://schemas.openxmlformats.org/officeDocument/2006/relationships/image" Target="../media/image18.png"/><Relationship Id="rId16" Type="http://schemas.openxmlformats.org/officeDocument/2006/relationships/image" Target="../media/image133.pn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17.sv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16.png"/><Relationship Id="rId10" Type="http://schemas.openxmlformats.org/officeDocument/2006/relationships/image" Target="../media/image26.png"/><Relationship Id="rId19" Type="http://schemas.openxmlformats.org/officeDocument/2006/relationships/image" Target="../media/image81.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53.svg"/></Relationships>
</file>

<file path=ppt/slides/_rels/slide96.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50.png"/><Relationship Id="rId3" Type="http://schemas.openxmlformats.org/officeDocument/2006/relationships/image" Target="../media/image19.svg"/><Relationship Id="rId21" Type="http://schemas.openxmlformats.org/officeDocument/2006/relationships/image" Target="../media/image52.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34.svg"/><Relationship Id="rId2" Type="http://schemas.openxmlformats.org/officeDocument/2006/relationships/image" Target="../media/image18.png"/><Relationship Id="rId16" Type="http://schemas.openxmlformats.org/officeDocument/2006/relationships/image" Target="../media/image133.pn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141.svg"/><Relationship Id="rId10" Type="http://schemas.openxmlformats.org/officeDocument/2006/relationships/image" Target="../media/image26.png"/><Relationship Id="rId19" Type="http://schemas.openxmlformats.org/officeDocument/2006/relationships/image" Target="../media/image81.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53.svg"/></Relationships>
</file>

<file path=ppt/slides/_rels/slide97.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50.png"/><Relationship Id="rId3" Type="http://schemas.openxmlformats.org/officeDocument/2006/relationships/image" Target="../media/image19.svg"/><Relationship Id="rId21" Type="http://schemas.openxmlformats.org/officeDocument/2006/relationships/image" Target="../media/image52.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34.svg"/><Relationship Id="rId25" Type="http://schemas.openxmlformats.org/officeDocument/2006/relationships/image" Target="../media/image17.svg"/><Relationship Id="rId2" Type="http://schemas.openxmlformats.org/officeDocument/2006/relationships/image" Target="../media/image18.png"/><Relationship Id="rId16" Type="http://schemas.openxmlformats.org/officeDocument/2006/relationships/image" Target="../media/image133.pn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16.pn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141.svg"/><Relationship Id="rId10" Type="http://schemas.openxmlformats.org/officeDocument/2006/relationships/image" Target="../media/image26.png"/><Relationship Id="rId19" Type="http://schemas.openxmlformats.org/officeDocument/2006/relationships/image" Target="../media/image81.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53.svg"/></Relationships>
</file>

<file path=ppt/slides/_rels/slide98.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50.png"/><Relationship Id="rId3" Type="http://schemas.openxmlformats.org/officeDocument/2006/relationships/image" Target="../media/image19.svg"/><Relationship Id="rId21" Type="http://schemas.openxmlformats.org/officeDocument/2006/relationships/image" Target="../media/image52.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34.svg"/><Relationship Id="rId2" Type="http://schemas.openxmlformats.org/officeDocument/2006/relationships/image" Target="../media/image18.png"/><Relationship Id="rId16" Type="http://schemas.openxmlformats.org/officeDocument/2006/relationships/image" Target="../media/image133.pn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141.svg"/><Relationship Id="rId10" Type="http://schemas.openxmlformats.org/officeDocument/2006/relationships/image" Target="../media/image26.png"/><Relationship Id="rId19" Type="http://schemas.openxmlformats.org/officeDocument/2006/relationships/image" Target="../media/image81.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53.svg"/></Relationships>
</file>

<file path=ppt/slides/_rels/slide9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18" Type="http://schemas.openxmlformats.org/officeDocument/2006/relationships/image" Target="../media/image68.png"/><Relationship Id="rId26" Type="http://schemas.openxmlformats.org/officeDocument/2006/relationships/image" Target="../media/image76.png"/><Relationship Id="rId3" Type="http://schemas.openxmlformats.org/officeDocument/2006/relationships/image" Target="../media/image55.svg"/><Relationship Id="rId21" Type="http://schemas.openxmlformats.org/officeDocument/2006/relationships/image" Target="../media/image71.svg"/><Relationship Id="rId7" Type="http://schemas.openxmlformats.org/officeDocument/2006/relationships/image" Target="../media/image59.svg"/><Relationship Id="rId12" Type="http://schemas.openxmlformats.org/officeDocument/2006/relationships/image" Target="../media/image64.png"/><Relationship Id="rId17" Type="http://schemas.openxmlformats.org/officeDocument/2006/relationships/image" Target="../media/image9.svg"/><Relationship Id="rId25" Type="http://schemas.openxmlformats.org/officeDocument/2006/relationships/image" Target="../media/image75.svg"/><Relationship Id="rId2" Type="http://schemas.openxmlformats.org/officeDocument/2006/relationships/image" Target="../media/image54.png"/><Relationship Id="rId16" Type="http://schemas.openxmlformats.org/officeDocument/2006/relationships/image" Target="../media/image8.png"/><Relationship Id="rId20" Type="http://schemas.openxmlformats.org/officeDocument/2006/relationships/image" Target="../media/image70.png"/><Relationship Id="rId29" Type="http://schemas.openxmlformats.org/officeDocument/2006/relationships/image" Target="../media/image79.sv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svg"/><Relationship Id="rId24" Type="http://schemas.openxmlformats.org/officeDocument/2006/relationships/image" Target="../media/image74.png"/><Relationship Id="rId5" Type="http://schemas.openxmlformats.org/officeDocument/2006/relationships/image" Target="../media/image57.svg"/><Relationship Id="rId15" Type="http://schemas.openxmlformats.org/officeDocument/2006/relationships/image" Target="../media/image67.svg"/><Relationship Id="rId23" Type="http://schemas.openxmlformats.org/officeDocument/2006/relationships/image" Target="../media/image73.svg"/><Relationship Id="rId28" Type="http://schemas.openxmlformats.org/officeDocument/2006/relationships/image" Target="../media/image78.png"/><Relationship Id="rId10" Type="http://schemas.openxmlformats.org/officeDocument/2006/relationships/image" Target="../media/image62.png"/><Relationship Id="rId19" Type="http://schemas.openxmlformats.org/officeDocument/2006/relationships/image" Target="../media/image69.svg"/><Relationship Id="rId31" Type="http://schemas.openxmlformats.org/officeDocument/2006/relationships/image" Target="../media/image17.svg"/><Relationship Id="rId4" Type="http://schemas.openxmlformats.org/officeDocument/2006/relationships/image" Target="../media/image56.png"/><Relationship Id="rId9" Type="http://schemas.openxmlformats.org/officeDocument/2006/relationships/image" Target="../media/image61.svg"/><Relationship Id="rId14" Type="http://schemas.openxmlformats.org/officeDocument/2006/relationships/image" Target="../media/image66.png"/><Relationship Id="rId22" Type="http://schemas.openxmlformats.org/officeDocument/2006/relationships/image" Target="../media/image72.png"/><Relationship Id="rId27" Type="http://schemas.openxmlformats.org/officeDocument/2006/relationships/image" Target="../media/image77.svg"/><Relationship Id="rId30" Type="http://schemas.openxmlformats.org/officeDocument/2006/relationships/image" Target="../media/image16.png"/></Relationships>
</file>

<file path=ppt/slides/_rels/slide102.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18" Type="http://schemas.openxmlformats.org/officeDocument/2006/relationships/image" Target="../media/image68.png"/><Relationship Id="rId26" Type="http://schemas.openxmlformats.org/officeDocument/2006/relationships/image" Target="../media/image76.png"/><Relationship Id="rId3" Type="http://schemas.openxmlformats.org/officeDocument/2006/relationships/image" Target="../media/image55.svg"/><Relationship Id="rId21" Type="http://schemas.openxmlformats.org/officeDocument/2006/relationships/image" Target="../media/image71.svg"/><Relationship Id="rId7" Type="http://schemas.openxmlformats.org/officeDocument/2006/relationships/image" Target="../media/image59.svg"/><Relationship Id="rId12" Type="http://schemas.openxmlformats.org/officeDocument/2006/relationships/image" Target="../media/image64.png"/><Relationship Id="rId17" Type="http://schemas.openxmlformats.org/officeDocument/2006/relationships/image" Target="../media/image9.svg"/><Relationship Id="rId25" Type="http://schemas.openxmlformats.org/officeDocument/2006/relationships/image" Target="../media/image75.svg"/><Relationship Id="rId2" Type="http://schemas.openxmlformats.org/officeDocument/2006/relationships/image" Target="../media/image54.png"/><Relationship Id="rId16" Type="http://schemas.openxmlformats.org/officeDocument/2006/relationships/image" Target="../media/image8.png"/><Relationship Id="rId20" Type="http://schemas.openxmlformats.org/officeDocument/2006/relationships/image" Target="../media/image70.png"/><Relationship Id="rId29" Type="http://schemas.openxmlformats.org/officeDocument/2006/relationships/image" Target="../media/image79.sv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svg"/><Relationship Id="rId24" Type="http://schemas.openxmlformats.org/officeDocument/2006/relationships/image" Target="../media/image74.png"/><Relationship Id="rId5" Type="http://schemas.openxmlformats.org/officeDocument/2006/relationships/image" Target="../media/image57.svg"/><Relationship Id="rId15" Type="http://schemas.openxmlformats.org/officeDocument/2006/relationships/image" Target="../media/image67.svg"/><Relationship Id="rId23" Type="http://schemas.openxmlformats.org/officeDocument/2006/relationships/image" Target="../media/image73.svg"/><Relationship Id="rId28" Type="http://schemas.openxmlformats.org/officeDocument/2006/relationships/image" Target="../media/image78.png"/><Relationship Id="rId10" Type="http://schemas.openxmlformats.org/officeDocument/2006/relationships/image" Target="../media/image62.png"/><Relationship Id="rId19" Type="http://schemas.openxmlformats.org/officeDocument/2006/relationships/image" Target="../media/image69.svg"/><Relationship Id="rId4" Type="http://schemas.openxmlformats.org/officeDocument/2006/relationships/image" Target="../media/image56.png"/><Relationship Id="rId9" Type="http://schemas.openxmlformats.org/officeDocument/2006/relationships/image" Target="../media/image61.svg"/><Relationship Id="rId14" Type="http://schemas.openxmlformats.org/officeDocument/2006/relationships/image" Target="../media/image66.png"/><Relationship Id="rId22" Type="http://schemas.openxmlformats.org/officeDocument/2006/relationships/image" Target="../media/image72.png"/><Relationship Id="rId27" Type="http://schemas.openxmlformats.org/officeDocument/2006/relationships/image" Target="../media/image77.svg"/></Relationships>
</file>

<file path=ppt/slides/_rels/slide103.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18" Type="http://schemas.openxmlformats.org/officeDocument/2006/relationships/image" Target="../media/image68.png"/><Relationship Id="rId26" Type="http://schemas.openxmlformats.org/officeDocument/2006/relationships/image" Target="../media/image76.png"/><Relationship Id="rId3" Type="http://schemas.openxmlformats.org/officeDocument/2006/relationships/image" Target="../media/image55.svg"/><Relationship Id="rId21" Type="http://schemas.openxmlformats.org/officeDocument/2006/relationships/image" Target="../media/image71.svg"/><Relationship Id="rId7" Type="http://schemas.openxmlformats.org/officeDocument/2006/relationships/image" Target="../media/image59.svg"/><Relationship Id="rId12" Type="http://schemas.openxmlformats.org/officeDocument/2006/relationships/image" Target="../media/image64.png"/><Relationship Id="rId17" Type="http://schemas.openxmlformats.org/officeDocument/2006/relationships/image" Target="../media/image9.svg"/><Relationship Id="rId25" Type="http://schemas.openxmlformats.org/officeDocument/2006/relationships/image" Target="../media/image75.svg"/><Relationship Id="rId2" Type="http://schemas.openxmlformats.org/officeDocument/2006/relationships/image" Target="../media/image54.png"/><Relationship Id="rId16" Type="http://schemas.openxmlformats.org/officeDocument/2006/relationships/image" Target="../media/image8.png"/><Relationship Id="rId20" Type="http://schemas.openxmlformats.org/officeDocument/2006/relationships/image" Target="../media/image70.png"/><Relationship Id="rId29" Type="http://schemas.openxmlformats.org/officeDocument/2006/relationships/image" Target="../media/image79.sv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svg"/><Relationship Id="rId24" Type="http://schemas.openxmlformats.org/officeDocument/2006/relationships/image" Target="../media/image74.png"/><Relationship Id="rId5" Type="http://schemas.openxmlformats.org/officeDocument/2006/relationships/image" Target="../media/image57.svg"/><Relationship Id="rId15" Type="http://schemas.openxmlformats.org/officeDocument/2006/relationships/image" Target="../media/image67.svg"/><Relationship Id="rId23" Type="http://schemas.openxmlformats.org/officeDocument/2006/relationships/image" Target="../media/image73.svg"/><Relationship Id="rId28" Type="http://schemas.openxmlformats.org/officeDocument/2006/relationships/image" Target="../media/image78.png"/><Relationship Id="rId10" Type="http://schemas.openxmlformats.org/officeDocument/2006/relationships/image" Target="../media/image62.png"/><Relationship Id="rId19" Type="http://schemas.openxmlformats.org/officeDocument/2006/relationships/image" Target="../media/image69.svg"/><Relationship Id="rId31" Type="http://schemas.openxmlformats.org/officeDocument/2006/relationships/image" Target="../media/image17.svg"/><Relationship Id="rId4" Type="http://schemas.openxmlformats.org/officeDocument/2006/relationships/image" Target="../media/image56.png"/><Relationship Id="rId9" Type="http://schemas.openxmlformats.org/officeDocument/2006/relationships/image" Target="../media/image61.svg"/><Relationship Id="rId14" Type="http://schemas.openxmlformats.org/officeDocument/2006/relationships/image" Target="../media/image66.png"/><Relationship Id="rId22" Type="http://schemas.openxmlformats.org/officeDocument/2006/relationships/image" Target="../media/image72.png"/><Relationship Id="rId27" Type="http://schemas.openxmlformats.org/officeDocument/2006/relationships/image" Target="../media/image77.svg"/><Relationship Id="rId30" Type="http://schemas.openxmlformats.org/officeDocument/2006/relationships/image" Target="../media/image16.png"/></Relationships>
</file>

<file path=ppt/slides/_rels/slide104.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18" Type="http://schemas.openxmlformats.org/officeDocument/2006/relationships/image" Target="../media/image68.png"/><Relationship Id="rId26" Type="http://schemas.openxmlformats.org/officeDocument/2006/relationships/image" Target="../media/image76.png"/><Relationship Id="rId3" Type="http://schemas.openxmlformats.org/officeDocument/2006/relationships/image" Target="../media/image55.svg"/><Relationship Id="rId21" Type="http://schemas.openxmlformats.org/officeDocument/2006/relationships/image" Target="../media/image71.svg"/><Relationship Id="rId7" Type="http://schemas.openxmlformats.org/officeDocument/2006/relationships/image" Target="../media/image59.svg"/><Relationship Id="rId12" Type="http://schemas.openxmlformats.org/officeDocument/2006/relationships/image" Target="../media/image64.png"/><Relationship Id="rId17" Type="http://schemas.openxmlformats.org/officeDocument/2006/relationships/image" Target="../media/image9.svg"/><Relationship Id="rId25" Type="http://schemas.openxmlformats.org/officeDocument/2006/relationships/image" Target="../media/image75.svg"/><Relationship Id="rId2" Type="http://schemas.openxmlformats.org/officeDocument/2006/relationships/image" Target="../media/image54.png"/><Relationship Id="rId16" Type="http://schemas.openxmlformats.org/officeDocument/2006/relationships/image" Target="../media/image8.png"/><Relationship Id="rId20" Type="http://schemas.openxmlformats.org/officeDocument/2006/relationships/image" Target="../media/image70.png"/><Relationship Id="rId29" Type="http://schemas.openxmlformats.org/officeDocument/2006/relationships/image" Target="../media/image79.sv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svg"/><Relationship Id="rId24" Type="http://schemas.openxmlformats.org/officeDocument/2006/relationships/image" Target="../media/image74.png"/><Relationship Id="rId5" Type="http://schemas.openxmlformats.org/officeDocument/2006/relationships/image" Target="../media/image57.svg"/><Relationship Id="rId15" Type="http://schemas.openxmlformats.org/officeDocument/2006/relationships/image" Target="../media/image67.svg"/><Relationship Id="rId23" Type="http://schemas.openxmlformats.org/officeDocument/2006/relationships/image" Target="../media/image73.svg"/><Relationship Id="rId28" Type="http://schemas.openxmlformats.org/officeDocument/2006/relationships/image" Target="../media/image78.png"/><Relationship Id="rId10" Type="http://schemas.openxmlformats.org/officeDocument/2006/relationships/image" Target="../media/image62.png"/><Relationship Id="rId19" Type="http://schemas.openxmlformats.org/officeDocument/2006/relationships/image" Target="../media/image69.svg"/><Relationship Id="rId4" Type="http://schemas.openxmlformats.org/officeDocument/2006/relationships/image" Target="../media/image56.png"/><Relationship Id="rId9" Type="http://schemas.openxmlformats.org/officeDocument/2006/relationships/image" Target="../media/image61.svg"/><Relationship Id="rId14" Type="http://schemas.openxmlformats.org/officeDocument/2006/relationships/image" Target="../media/image66.png"/><Relationship Id="rId22" Type="http://schemas.openxmlformats.org/officeDocument/2006/relationships/image" Target="../media/image72.png"/><Relationship Id="rId27" Type="http://schemas.openxmlformats.org/officeDocument/2006/relationships/image" Target="../media/image77.svg"/></Relationships>
</file>

<file path=ppt/slides/_rels/slide105.xml.rels><?xml version="1.0" encoding="UTF-8" standalone="yes"?>
<Relationships xmlns="http://schemas.openxmlformats.org/package/2006/relationships"><Relationship Id="rId8" Type="http://schemas.openxmlformats.org/officeDocument/2006/relationships/image" Target="../media/image146.png"/><Relationship Id="rId13" Type="http://schemas.openxmlformats.org/officeDocument/2006/relationships/image" Target="../media/image151.svg"/><Relationship Id="rId3" Type="http://schemas.openxmlformats.org/officeDocument/2006/relationships/image" Target="../media/image17.svg"/><Relationship Id="rId7" Type="http://schemas.openxmlformats.org/officeDocument/2006/relationships/image" Target="../media/image145.svg"/><Relationship Id="rId12" Type="http://schemas.openxmlformats.org/officeDocument/2006/relationships/image" Target="../media/image150.png"/><Relationship Id="rId17" Type="http://schemas.openxmlformats.org/officeDocument/2006/relationships/image" Target="../media/image31.svg"/><Relationship Id="rId2" Type="http://schemas.openxmlformats.org/officeDocument/2006/relationships/image" Target="../media/image16.png"/><Relationship Id="rId16"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144.png"/><Relationship Id="rId11" Type="http://schemas.openxmlformats.org/officeDocument/2006/relationships/image" Target="../media/image149.svg"/><Relationship Id="rId5" Type="http://schemas.openxmlformats.org/officeDocument/2006/relationships/image" Target="../media/image143.svg"/><Relationship Id="rId15" Type="http://schemas.openxmlformats.org/officeDocument/2006/relationships/image" Target="../media/image153.svg"/><Relationship Id="rId10" Type="http://schemas.openxmlformats.org/officeDocument/2006/relationships/image" Target="../media/image148.png"/><Relationship Id="rId4" Type="http://schemas.openxmlformats.org/officeDocument/2006/relationships/image" Target="../media/image142.png"/><Relationship Id="rId9" Type="http://schemas.openxmlformats.org/officeDocument/2006/relationships/image" Target="../media/image147.svg"/><Relationship Id="rId14" Type="http://schemas.openxmlformats.org/officeDocument/2006/relationships/image" Target="../media/image152.png"/></Relationships>
</file>

<file path=ppt/slides/_rels/slide106.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svg"/><Relationship Id="rId3" Type="http://schemas.openxmlformats.org/officeDocument/2006/relationships/image" Target="../media/image143.svg"/><Relationship Id="rId7" Type="http://schemas.openxmlformats.org/officeDocument/2006/relationships/image" Target="../media/image147.svg"/><Relationship Id="rId12" Type="http://schemas.openxmlformats.org/officeDocument/2006/relationships/image" Target="../media/image152.png"/><Relationship Id="rId2" Type="http://schemas.openxmlformats.org/officeDocument/2006/relationships/image" Target="../media/image142.png"/><Relationship Id="rId1" Type="http://schemas.openxmlformats.org/officeDocument/2006/relationships/slideLayout" Target="../slideLayouts/slideLayout2.xml"/><Relationship Id="rId6" Type="http://schemas.openxmlformats.org/officeDocument/2006/relationships/image" Target="../media/image146.png"/><Relationship Id="rId11" Type="http://schemas.openxmlformats.org/officeDocument/2006/relationships/image" Target="../media/image151.svg"/><Relationship Id="rId5" Type="http://schemas.openxmlformats.org/officeDocument/2006/relationships/image" Target="../media/image145.svg"/><Relationship Id="rId15" Type="http://schemas.openxmlformats.org/officeDocument/2006/relationships/image" Target="../media/image31.sv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svg"/><Relationship Id="rId14" Type="http://schemas.openxmlformats.org/officeDocument/2006/relationships/image" Target="../media/image30.png"/></Relationships>
</file>

<file path=ppt/slides/_rels/slide107.xml.rels><?xml version="1.0" encoding="UTF-8" standalone="yes"?>
<Relationships xmlns="http://schemas.openxmlformats.org/package/2006/relationships"><Relationship Id="rId3" Type="http://schemas.openxmlformats.org/officeDocument/2006/relationships/image" Target="../media/image138.svg"/><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55.svg"/><Relationship Id="rId7" Type="http://schemas.openxmlformats.org/officeDocument/2006/relationships/image" Target="../media/image159.svg"/><Relationship Id="rId2" Type="http://schemas.openxmlformats.org/officeDocument/2006/relationships/image" Target="../media/image154.png"/><Relationship Id="rId1" Type="http://schemas.openxmlformats.org/officeDocument/2006/relationships/slideLayout" Target="../slideLayouts/slideLayout2.xml"/><Relationship Id="rId6" Type="http://schemas.openxmlformats.org/officeDocument/2006/relationships/image" Target="../media/image158.png"/><Relationship Id="rId5" Type="http://schemas.openxmlformats.org/officeDocument/2006/relationships/image" Target="../media/image157.svg"/><Relationship Id="rId4" Type="http://schemas.openxmlformats.org/officeDocument/2006/relationships/image" Target="../media/image156.png"/></Relationships>
</file>

<file path=ppt/slides/_rels/slide109.xml.rels><?xml version="1.0" encoding="UTF-8" standalone="yes"?>
<Relationships xmlns="http://schemas.openxmlformats.org/package/2006/relationships"><Relationship Id="rId3" Type="http://schemas.openxmlformats.org/officeDocument/2006/relationships/image" Target="../media/image155.svg"/><Relationship Id="rId7" Type="http://schemas.openxmlformats.org/officeDocument/2006/relationships/image" Target="../media/image159.svg"/><Relationship Id="rId2" Type="http://schemas.openxmlformats.org/officeDocument/2006/relationships/image" Target="../media/image154.png"/><Relationship Id="rId1" Type="http://schemas.openxmlformats.org/officeDocument/2006/relationships/slideLayout" Target="../slideLayouts/slideLayout2.xml"/><Relationship Id="rId6" Type="http://schemas.openxmlformats.org/officeDocument/2006/relationships/image" Target="../media/image158.png"/><Relationship Id="rId5" Type="http://schemas.openxmlformats.org/officeDocument/2006/relationships/image" Target="../media/image157.svg"/><Relationship Id="rId4" Type="http://schemas.openxmlformats.org/officeDocument/2006/relationships/image" Target="../media/image156.png"/></Relationships>
</file>

<file path=ppt/slides/_rels/slide110.xml.rels><?xml version="1.0" encoding="UTF-8" standalone="yes"?>
<Relationships xmlns="http://schemas.openxmlformats.org/package/2006/relationships"><Relationship Id="rId3" Type="http://schemas.openxmlformats.org/officeDocument/2006/relationships/image" Target="../media/image155.svg"/><Relationship Id="rId7" Type="http://schemas.openxmlformats.org/officeDocument/2006/relationships/image" Target="../media/image159.svg"/><Relationship Id="rId2" Type="http://schemas.openxmlformats.org/officeDocument/2006/relationships/image" Target="../media/image154.png"/><Relationship Id="rId1" Type="http://schemas.openxmlformats.org/officeDocument/2006/relationships/slideLayout" Target="../slideLayouts/slideLayout2.xml"/><Relationship Id="rId6" Type="http://schemas.openxmlformats.org/officeDocument/2006/relationships/image" Target="../media/image158.png"/><Relationship Id="rId5" Type="http://schemas.openxmlformats.org/officeDocument/2006/relationships/image" Target="../media/image157.svg"/><Relationship Id="rId4" Type="http://schemas.openxmlformats.org/officeDocument/2006/relationships/image" Target="../media/image156.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3.svg"/><Relationship Id="rId2" Type="http://schemas.openxmlformats.org/officeDocument/2006/relationships/image" Target="../media/image102.png"/><Relationship Id="rId1" Type="http://schemas.openxmlformats.org/officeDocument/2006/relationships/slideLayout" Target="../slideLayouts/slideLayout4.xml"/><Relationship Id="rId6" Type="http://schemas.openxmlformats.org/officeDocument/2006/relationships/image" Target="../media/image106.png"/><Relationship Id="rId5" Type="http://schemas.openxmlformats.org/officeDocument/2006/relationships/image" Target="../media/image105.svg"/><Relationship Id="rId4" Type="http://schemas.openxmlformats.org/officeDocument/2006/relationships/image" Target="../media/image104.png"/></Relationships>
</file>

<file path=ppt/slides/_rels/slide11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png"/><Relationship Id="rId18" Type="http://schemas.openxmlformats.org/officeDocument/2006/relationships/image" Target="../media/image33.sv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svg"/><Relationship Id="rId17" Type="http://schemas.openxmlformats.org/officeDocument/2006/relationships/image" Target="../media/image32.png"/><Relationship Id="rId2" Type="http://schemas.openxmlformats.org/officeDocument/2006/relationships/notesSlide" Target="../notesSlides/notesSlide6.xml"/><Relationship Id="rId16" Type="http://schemas.openxmlformats.org/officeDocument/2006/relationships/image" Target="../media/image31.svg"/><Relationship Id="rId20" Type="http://schemas.openxmlformats.org/officeDocument/2006/relationships/image" Target="../media/image35.svg"/><Relationship Id="rId1" Type="http://schemas.openxmlformats.org/officeDocument/2006/relationships/slideLayout" Target="../slideLayouts/slideLayout2.xml"/><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svg"/><Relationship Id="rId19" Type="http://schemas.openxmlformats.org/officeDocument/2006/relationships/image" Target="../media/image34.png"/><Relationship Id="rId4" Type="http://schemas.openxmlformats.org/officeDocument/2006/relationships/image" Target="../media/image19.svg"/><Relationship Id="rId9" Type="http://schemas.openxmlformats.org/officeDocument/2006/relationships/image" Target="../media/image24.png"/><Relationship Id="rId14" Type="http://schemas.openxmlformats.org/officeDocument/2006/relationships/image" Target="../media/image29.svg"/></Relationships>
</file>

<file path=ppt/slides/_rels/slide11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116.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162.png"/><Relationship Id="rId26" Type="http://schemas.openxmlformats.org/officeDocument/2006/relationships/image" Target="../media/image170.png"/><Relationship Id="rId3" Type="http://schemas.openxmlformats.org/officeDocument/2006/relationships/image" Target="../media/image19.svg"/><Relationship Id="rId21" Type="http://schemas.openxmlformats.org/officeDocument/2006/relationships/image" Target="../media/image165.sv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61.svg"/><Relationship Id="rId25" Type="http://schemas.openxmlformats.org/officeDocument/2006/relationships/image" Target="../media/image169.svg"/><Relationship Id="rId2" Type="http://schemas.openxmlformats.org/officeDocument/2006/relationships/image" Target="../media/image18.png"/><Relationship Id="rId16" Type="http://schemas.openxmlformats.org/officeDocument/2006/relationships/image" Target="../media/image160.png"/><Relationship Id="rId20" Type="http://schemas.openxmlformats.org/officeDocument/2006/relationships/image" Target="../media/image164.png"/><Relationship Id="rId29" Type="http://schemas.openxmlformats.org/officeDocument/2006/relationships/image" Target="../media/image173.sv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168.pn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167.svg"/><Relationship Id="rId28" Type="http://schemas.openxmlformats.org/officeDocument/2006/relationships/image" Target="../media/image172.png"/><Relationship Id="rId10" Type="http://schemas.openxmlformats.org/officeDocument/2006/relationships/image" Target="../media/image26.png"/><Relationship Id="rId19" Type="http://schemas.openxmlformats.org/officeDocument/2006/relationships/image" Target="../media/image163.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166.png"/><Relationship Id="rId27" Type="http://schemas.openxmlformats.org/officeDocument/2006/relationships/image" Target="../media/image171.svg"/></Relationships>
</file>

<file path=ppt/slides/_rels/slide117.xml.rels><?xml version="1.0" encoding="UTF-8" standalone="yes"?>
<Relationships xmlns="http://schemas.openxmlformats.org/package/2006/relationships"><Relationship Id="rId13" Type="http://schemas.openxmlformats.org/officeDocument/2006/relationships/image" Target="../media/image29.svg"/><Relationship Id="rId18" Type="http://schemas.openxmlformats.org/officeDocument/2006/relationships/image" Target="../media/image176.png"/><Relationship Id="rId26" Type="http://schemas.openxmlformats.org/officeDocument/2006/relationships/image" Target="../media/image184.png"/><Relationship Id="rId3" Type="http://schemas.openxmlformats.org/officeDocument/2006/relationships/image" Target="../media/image19.svg"/><Relationship Id="rId21" Type="http://schemas.openxmlformats.org/officeDocument/2006/relationships/image" Target="../media/image179.svg"/><Relationship Id="rId34" Type="http://schemas.openxmlformats.org/officeDocument/2006/relationships/image" Target="../media/image192.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175.svg"/><Relationship Id="rId25" Type="http://schemas.openxmlformats.org/officeDocument/2006/relationships/image" Target="../media/image183.svg"/><Relationship Id="rId33" Type="http://schemas.openxmlformats.org/officeDocument/2006/relationships/image" Target="../media/image191.svg"/><Relationship Id="rId2" Type="http://schemas.openxmlformats.org/officeDocument/2006/relationships/image" Target="../media/image18.png"/><Relationship Id="rId16" Type="http://schemas.openxmlformats.org/officeDocument/2006/relationships/image" Target="../media/image174.png"/><Relationship Id="rId20" Type="http://schemas.openxmlformats.org/officeDocument/2006/relationships/image" Target="../media/image178.png"/><Relationship Id="rId29" Type="http://schemas.openxmlformats.org/officeDocument/2006/relationships/image" Target="../media/image187.sv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182.png"/><Relationship Id="rId32" Type="http://schemas.openxmlformats.org/officeDocument/2006/relationships/image" Target="../media/image190.pn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181.svg"/><Relationship Id="rId28" Type="http://schemas.openxmlformats.org/officeDocument/2006/relationships/image" Target="../media/image186.png"/><Relationship Id="rId10" Type="http://schemas.openxmlformats.org/officeDocument/2006/relationships/image" Target="../media/image26.png"/><Relationship Id="rId19" Type="http://schemas.openxmlformats.org/officeDocument/2006/relationships/image" Target="../media/image177.svg"/><Relationship Id="rId31" Type="http://schemas.openxmlformats.org/officeDocument/2006/relationships/image" Target="../media/image189.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180.png"/><Relationship Id="rId27" Type="http://schemas.openxmlformats.org/officeDocument/2006/relationships/image" Target="../media/image185.svg"/><Relationship Id="rId30" Type="http://schemas.openxmlformats.org/officeDocument/2006/relationships/image" Target="../media/image188.png"/><Relationship Id="rId35" Type="http://schemas.openxmlformats.org/officeDocument/2006/relationships/image" Target="../media/image193.svg"/><Relationship Id="rId8" Type="http://schemas.openxmlformats.org/officeDocument/2006/relationships/image" Target="../media/image24.png"/></Relationships>
</file>

<file path=ppt/slides/_rels/slide118.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18" Type="http://schemas.openxmlformats.org/officeDocument/2006/relationships/image" Target="../media/image31.svg"/><Relationship Id="rId3" Type="http://schemas.openxmlformats.org/officeDocument/2006/relationships/image" Target="../media/image3.png"/><Relationship Id="rId7" Type="http://schemas.openxmlformats.org/officeDocument/2006/relationships/image" Target="../media/image20.png"/><Relationship Id="rId12" Type="http://schemas.openxmlformats.org/officeDocument/2006/relationships/image" Target="../media/image25.svg"/><Relationship Id="rId17" Type="http://schemas.openxmlformats.org/officeDocument/2006/relationships/image" Target="../media/image30.png"/><Relationship Id="rId2" Type="http://schemas.openxmlformats.org/officeDocument/2006/relationships/image" Target="../media/image2.jpeg"/><Relationship Id="rId16" Type="http://schemas.openxmlformats.org/officeDocument/2006/relationships/image" Target="../media/image29.svg"/><Relationship Id="rId1" Type="http://schemas.openxmlformats.org/officeDocument/2006/relationships/slideLayout" Target="../slideLayouts/slideLayout1.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svg"/><Relationship Id="rId4" Type="http://schemas.openxmlformats.org/officeDocument/2006/relationships/image" Target="../media/image1.png"/><Relationship Id="rId9" Type="http://schemas.openxmlformats.org/officeDocument/2006/relationships/image" Target="../media/image22.png"/><Relationship Id="rId14" Type="http://schemas.openxmlformats.org/officeDocument/2006/relationships/image" Target="../media/image27.svg"/></Relationships>
</file>

<file path=ppt/slides/_rels/slide119.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18" Type="http://schemas.openxmlformats.org/officeDocument/2006/relationships/image" Target="../media/image31.svg"/><Relationship Id="rId3" Type="http://schemas.openxmlformats.org/officeDocument/2006/relationships/image" Target="../media/image3.png"/><Relationship Id="rId7" Type="http://schemas.openxmlformats.org/officeDocument/2006/relationships/image" Target="../media/image20.png"/><Relationship Id="rId12" Type="http://schemas.openxmlformats.org/officeDocument/2006/relationships/image" Target="../media/image25.svg"/><Relationship Id="rId17" Type="http://schemas.openxmlformats.org/officeDocument/2006/relationships/image" Target="../media/image30.png"/><Relationship Id="rId2" Type="http://schemas.openxmlformats.org/officeDocument/2006/relationships/image" Target="../media/image2.jpeg"/><Relationship Id="rId16" Type="http://schemas.openxmlformats.org/officeDocument/2006/relationships/image" Target="../media/image29.svg"/><Relationship Id="rId1" Type="http://schemas.openxmlformats.org/officeDocument/2006/relationships/slideLayout" Target="../slideLayouts/slideLayout1.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svg"/><Relationship Id="rId4" Type="http://schemas.openxmlformats.org/officeDocument/2006/relationships/image" Target="../media/image1.png"/><Relationship Id="rId9" Type="http://schemas.openxmlformats.org/officeDocument/2006/relationships/image" Target="../media/image22.png"/><Relationship Id="rId14" Type="http://schemas.openxmlformats.org/officeDocument/2006/relationships/image" Target="../media/image27.svg"/></Relationships>
</file>

<file path=ppt/slides/_rels/slide120.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18" Type="http://schemas.openxmlformats.org/officeDocument/2006/relationships/image" Target="../media/image37.svg"/><Relationship Id="rId26" Type="http://schemas.openxmlformats.org/officeDocument/2006/relationships/image" Target="../media/image45.svg"/><Relationship Id="rId3" Type="http://schemas.openxmlformats.org/officeDocument/2006/relationships/image" Target="../media/image19.svg"/><Relationship Id="rId21" Type="http://schemas.openxmlformats.org/officeDocument/2006/relationships/image" Target="../media/image40.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36.png"/><Relationship Id="rId25" Type="http://schemas.openxmlformats.org/officeDocument/2006/relationships/image" Target="../media/image44.png"/><Relationship Id="rId2" Type="http://schemas.openxmlformats.org/officeDocument/2006/relationships/image" Target="../media/image18.png"/><Relationship Id="rId16" Type="http://schemas.openxmlformats.org/officeDocument/2006/relationships/image" Target="../media/image3.png"/><Relationship Id="rId20" Type="http://schemas.openxmlformats.org/officeDocument/2006/relationships/image" Target="../media/image39.svg"/><Relationship Id="rId29"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43.sv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42.png"/><Relationship Id="rId28" Type="http://schemas.openxmlformats.org/officeDocument/2006/relationships/image" Target="../media/image47.svg"/><Relationship Id="rId10" Type="http://schemas.openxmlformats.org/officeDocument/2006/relationships/image" Target="../media/image26.png"/><Relationship Id="rId19" Type="http://schemas.openxmlformats.org/officeDocument/2006/relationships/image" Target="../media/image38.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41.svg"/><Relationship Id="rId27" Type="http://schemas.openxmlformats.org/officeDocument/2006/relationships/image" Target="../media/image46.png"/><Relationship Id="rId30" Type="http://schemas.openxmlformats.org/officeDocument/2006/relationships/image" Target="../media/image49.svg"/></Relationships>
</file>

<file path=ppt/slides/_rels/slide121.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122.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123.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124.xml.rels><?xml version="1.0" encoding="UTF-8" standalone="yes"?>
<Relationships xmlns="http://schemas.openxmlformats.org/package/2006/relationships"><Relationship Id="rId13" Type="http://schemas.openxmlformats.org/officeDocument/2006/relationships/image" Target="../media/image29.svg"/><Relationship Id="rId18" Type="http://schemas.openxmlformats.org/officeDocument/2006/relationships/image" Target="../media/image194.svg"/><Relationship Id="rId26" Type="http://schemas.openxmlformats.org/officeDocument/2006/relationships/image" Target="../media/image201.png"/><Relationship Id="rId39" Type="http://schemas.microsoft.com/office/2007/relationships/hdphoto" Target="../media/hdphoto1.wdp"/><Relationship Id="rId21" Type="http://schemas.openxmlformats.org/officeDocument/2006/relationships/image" Target="../media/image197.png"/><Relationship Id="rId34" Type="http://schemas.openxmlformats.org/officeDocument/2006/relationships/image" Target="../media/image209.png"/><Relationship Id="rId42" Type="http://schemas.openxmlformats.org/officeDocument/2006/relationships/image" Target="../media/image102.png"/><Relationship Id="rId47" Type="http://schemas.openxmlformats.org/officeDocument/2006/relationships/image" Target="../media/image127.png"/><Relationship Id="rId50" Type="http://schemas.openxmlformats.org/officeDocument/2006/relationships/image" Target="../media/image130.svg"/><Relationship Id="rId55" Type="http://schemas.openxmlformats.org/officeDocument/2006/relationships/image" Target="../media/image216.svg"/><Relationship Id="rId7" Type="http://schemas.openxmlformats.org/officeDocument/2006/relationships/image" Target="../media/image23.svg"/><Relationship Id="rId2" Type="http://schemas.openxmlformats.org/officeDocument/2006/relationships/image" Target="../media/image18.png"/><Relationship Id="rId16" Type="http://schemas.openxmlformats.org/officeDocument/2006/relationships/image" Target="../media/image3.png"/><Relationship Id="rId29" Type="http://schemas.openxmlformats.org/officeDocument/2006/relationships/image" Target="../media/image204.svg"/><Relationship Id="rId11" Type="http://schemas.openxmlformats.org/officeDocument/2006/relationships/image" Target="../media/image27.svg"/><Relationship Id="rId24" Type="http://schemas.openxmlformats.org/officeDocument/2006/relationships/image" Target="../media/image199.png"/><Relationship Id="rId32" Type="http://schemas.openxmlformats.org/officeDocument/2006/relationships/image" Target="../media/image207.png"/><Relationship Id="rId37" Type="http://schemas.openxmlformats.org/officeDocument/2006/relationships/image" Target="../media/image126.svg"/><Relationship Id="rId40" Type="http://schemas.openxmlformats.org/officeDocument/2006/relationships/image" Target="../media/image212.png"/><Relationship Id="rId45" Type="http://schemas.openxmlformats.org/officeDocument/2006/relationships/image" Target="../media/image123.png"/><Relationship Id="rId53" Type="http://schemas.openxmlformats.org/officeDocument/2006/relationships/image" Target="../media/image214.png"/><Relationship Id="rId5" Type="http://schemas.openxmlformats.org/officeDocument/2006/relationships/image" Target="../media/image21.svg"/><Relationship Id="rId10" Type="http://schemas.openxmlformats.org/officeDocument/2006/relationships/image" Target="../media/image26.png"/><Relationship Id="rId19" Type="http://schemas.openxmlformats.org/officeDocument/2006/relationships/image" Target="../media/image195.png"/><Relationship Id="rId31" Type="http://schemas.openxmlformats.org/officeDocument/2006/relationships/image" Target="../media/image206.svg"/><Relationship Id="rId44" Type="http://schemas.openxmlformats.org/officeDocument/2006/relationships/image" Target="../media/image105.svg"/><Relationship Id="rId52" Type="http://schemas.openxmlformats.org/officeDocument/2006/relationships/image" Target="../media/image132.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198.svg"/><Relationship Id="rId27" Type="http://schemas.openxmlformats.org/officeDocument/2006/relationships/image" Target="../media/image202.svg"/><Relationship Id="rId30" Type="http://schemas.openxmlformats.org/officeDocument/2006/relationships/image" Target="../media/image205.png"/><Relationship Id="rId35" Type="http://schemas.openxmlformats.org/officeDocument/2006/relationships/image" Target="../media/image210.svg"/><Relationship Id="rId43" Type="http://schemas.openxmlformats.org/officeDocument/2006/relationships/image" Target="../media/image103.svg"/><Relationship Id="rId48" Type="http://schemas.openxmlformats.org/officeDocument/2006/relationships/image" Target="../media/image128.svg"/><Relationship Id="rId56" Type="http://schemas.openxmlformats.org/officeDocument/2006/relationships/image" Target="../media/image217.svg"/><Relationship Id="rId8" Type="http://schemas.openxmlformats.org/officeDocument/2006/relationships/image" Target="../media/image24.png"/><Relationship Id="rId51" Type="http://schemas.openxmlformats.org/officeDocument/2006/relationships/image" Target="../media/image131.png"/><Relationship Id="rId3" Type="http://schemas.openxmlformats.org/officeDocument/2006/relationships/image" Target="../media/image19.svg"/><Relationship Id="rId12" Type="http://schemas.openxmlformats.org/officeDocument/2006/relationships/image" Target="../media/image28.png"/><Relationship Id="rId17" Type="http://schemas.openxmlformats.org/officeDocument/2006/relationships/image" Target="../media/image104.png"/><Relationship Id="rId25" Type="http://schemas.openxmlformats.org/officeDocument/2006/relationships/image" Target="../media/image200.svg"/><Relationship Id="rId33" Type="http://schemas.openxmlformats.org/officeDocument/2006/relationships/image" Target="../media/image208.svg"/><Relationship Id="rId38" Type="http://schemas.openxmlformats.org/officeDocument/2006/relationships/image" Target="../media/image211.png"/><Relationship Id="rId46" Type="http://schemas.openxmlformats.org/officeDocument/2006/relationships/image" Target="../media/image124.svg"/><Relationship Id="rId20" Type="http://schemas.openxmlformats.org/officeDocument/2006/relationships/image" Target="../media/image196.svg"/><Relationship Id="rId41" Type="http://schemas.openxmlformats.org/officeDocument/2006/relationships/image" Target="../media/image213.svg"/><Relationship Id="rId54" Type="http://schemas.openxmlformats.org/officeDocument/2006/relationships/image" Target="../media/image215.svg"/><Relationship Id="rId1" Type="http://schemas.openxmlformats.org/officeDocument/2006/relationships/slideLayout" Target="../slideLayouts/slideLayout2.xml"/><Relationship Id="rId6" Type="http://schemas.openxmlformats.org/officeDocument/2006/relationships/image" Target="../media/image22.png"/><Relationship Id="rId15" Type="http://schemas.openxmlformats.org/officeDocument/2006/relationships/image" Target="../media/image31.svg"/><Relationship Id="rId23" Type="http://schemas.openxmlformats.org/officeDocument/2006/relationships/image" Target="../media/image106.png"/><Relationship Id="rId28" Type="http://schemas.openxmlformats.org/officeDocument/2006/relationships/image" Target="../media/image203.png"/><Relationship Id="rId36" Type="http://schemas.openxmlformats.org/officeDocument/2006/relationships/image" Target="../media/image125.png"/><Relationship Id="rId49" Type="http://schemas.openxmlformats.org/officeDocument/2006/relationships/image" Target="../media/image129.png"/></Relationships>
</file>

<file path=ppt/slides/_rels/slide125.xml.rels><?xml version="1.0" encoding="UTF-8" standalone="yes"?>
<Relationships xmlns="http://schemas.openxmlformats.org/package/2006/relationships"><Relationship Id="rId13" Type="http://schemas.openxmlformats.org/officeDocument/2006/relationships/image" Target="../media/image29.svg"/><Relationship Id="rId18" Type="http://schemas.openxmlformats.org/officeDocument/2006/relationships/image" Target="../media/image194.svg"/><Relationship Id="rId26" Type="http://schemas.openxmlformats.org/officeDocument/2006/relationships/image" Target="../media/image209.png"/><Relationship Id="rId39" Type="http://schemas.openxmlformats.org/officeDocument/2006/relationships/image" Target="../media/image127.png"/><Relationship Id="rId21" Type="http://schemas.openxmlformats.org/officeDocument/2006/relationships/image" Target="../media/image197.png"/><Relationship Id="rId34" Type="http://schemas.openxmlformats.org/officeDocument/2006/relationships/image" Target="../media/image102.png"/><Relationship Id="rId42" Type="http://schemas.openxmlformats.org/officeDocument/2006/relationships/image" Target="../media/image130.svg"/><Relationship Id="rId47" Type="http://schemas.openxmlformats.org/officeDocument/2006/relationships/image" Target="../media/image216.svg"/><Relationship Id="rId7" Type="http://schemas.openxmlformats.org/officeDocument/2006/relationships/image" Target="../media/image23.svg"/><Relationship Id="rId2" Type="http://schemas.openxmlformats.org/officeDocument/2006/relationships/image" Target="../media/image18.png"/><Relationship Id="rId16" Type="http://schemas.openxmlformats.org/officeDocument/2006/relationships/image" Target="../media/image3.png"/><Relationship Id="rId29" Type="http://schemas.openxmlformats.org/officeDocument/2006/relationships/image" Target="../media/image126.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207.png"/><Relationship Id="rId32" Type="http://schemas.openxmlformats.org/officeDocument/2006/relationships/image" Target="../media/image212.png"/><Relationship Id="rId37" Type="http://schemas.openxmlformats.org/officeDocument/2006/relationships/image" Target="../media/image123.png"/><Relationship Id="rId40" Type="http://schemas.openxmlformats.org/officeDocument/2006/relationships/image" Target="../media/image128.svg"/><Relationship Id="rId45" Type="http://schemas.openxmlformats.org/officeDocument/2006/relationships/image" Target="../media/image214.pn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106.png"/><Relationship Id="rId28" Type="http://schemas.openxmlformats.org/officeDocument/2006/relationships/image" Target="../media/image125.png"/><Relationship Id="rId36" Type="http://schemas.openxmlformats.org/officeDocument/2006/relationships/image" Target="../media/image105.svg"/><Relationship Id="rId10" Type="http://schemas.openxmlformats.org/officeDocument/2006/relationships/image" Target="../media/image26.png"/><Relationship Id="rId19" Type="http://schemas.openxmlformats.org/officeDocument/2006/relationships/image" Target="../media/image195.png"/><Relationship Id="rId31" Type="http://schemas.microsoft.com/office/2007/relationships/hdphoto" Target="../media/hdphoto1.wdp"/><Relationship Id="rId44" Type="http://schemas.openxmlformats.org/officeDocument/2006/relationships/image" Target="../media/image132.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198.svg"/><Relationship Id="rId27" Type="http://schemas.openxmlformats.org/officeDocument/2006/relationships/image" Target="../media/image210.svg"/><Relationship Id="rId30" Type="http://schemas.openxmlformats.org/officeDocument/2006/relationships/image" Target="../media/image211.png"/><Relationship Id="rId35" Type="http://schemas.openxmlformats.org/officeDocument/2006/relationships/image" Target="../media/image103.svg"/><Relationship Id="rId43" Type="http://schemas.openxmlformats.org/officeDocument/2006/relationships/image" Target="../media/image131.png"/><Relationship Id="rId48" Type="http://schemas.openxmlformats.org/officeDocument/2006/relationships/image" Target="../media/image217.svg"/><Relationship Id="rId8" Type="http://schemas.openxmlformats.org/officeDocument/2006/relationships/image" Target="../media/image24.png"/><Relationship Id="rId3" Type="http://schemas.openxmlformats.org/officeDocument/2006/relationships/image" Target="../media/image19.svg"/><Relationship Id="rId12" Type="http://schemas.openxmlformats.org/officeDocument/2006/relationships/image" Target="../media/image28.png"/><Relationship Id="rId17" Type="http://schemas.openxmlformats.org/officeDocument/2006/relationships/image" Target="../media/image104.png"/><Relationship Id="rId25" Type="http://schemas.openxmlformats.org/officeDocument/2006/relationships/image" Target="../media/image208.svg"/><Relationship Id="rId33" Type="http://schemas.openxmlformats.org/officeDocument/2006/relationships/image" Target="../media/image213.svg"/><Relationship Id="rId38" Type="http://schemas.openxmlformats.org/officeDocument/2006/relationships/image" Target="../media/image124.svg"/><Relationship Id="rId46" Type="http://schemas.openxmlformats.org/officeDocument/2006/relationships/image" Target="../media/image215.svg"/><Relationship Id="rId20" Type="http://schemas.openxmlformats.org/officeDocument/2006/relationships/image" Target="../media/image196.svg"/><Relationship Id="rId41" Type="http://schemas.openxmlformats.org/officeDocument/2006/relationships/image" Target="../media/image129.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3" Type="http://schemas.openxmlformats.org/officeDocument/2006/relationships/image" Target="../media/image29.svg"/><Relationship Id="rId18" Type="http://schemas.openxmlformats.org/officeDocument/2006/relationships/image" Target="../media/image220.png"/><Relationship Id="rId26" Type="http://schemas.openxmlformats.org/officeDocument/2006/relationships/image" Target="../media/image228.png"/><Relationship Id="rId3" Type="http://schemas.openxmlformats.org/officeDocument/2006/relationships/image" Target="../media/image19.svg"/><Relationship Id="rId21" Type="http://schemas.openxmlformats.org/officeDocument/2006/relationships/image" Target="../media/image223.sv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219.svg"/><Relationship Id="rId25" Type="http://schemas.openxmlformats.org/officeDocument/2006/relationships/image" Target="../media/image227.svg"/><Relationship Id="rId33" Type="http://schemas.openxmlformats.org/officeDocument/2006/relationships/image" Target="../media/image235.svg"/><Relationship Id="rId2" Type="http://schemas.openxmlformats.org/officeDocument/2006/relationships/image" Target="../media/image18.png"/><Relationship Id="rId16" Type="http://schemas.openxmlformats.org/officeDocument/2006/relationships/image" Target="../media/image218.png"/><Relationship Id="rId20" Type="http://schemas.openxmlformats.org/officeDocument/2006/relationships/image" Target="../media/image222.png"/><Relationship Id="rId29" Type="http://schemas.openxmlformats.org/officeDocument/2006/relationships/image" Target="../media/image231.sv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svg"/><Relationship Id="rId24" Type="http://schemas.openxmlformats.org/officeDocument/2006/relationships/image" Target="../media/image226.png"/><Relationship Id="rId32" Type="http://schemas.openxmlformats.org/officeDocument/2006/relationships/image" Target="../media/image234.png"/><Relationship Id="rId5" Type="http://schemas.openxmlformats.org/officeDocument/2006/relationships/image" Target="../media/image21.svg"/><Relationship Id="rId15" Type="http://schemas.openxmlformats.org/officeDocument/2006/relationships/image" Target="../media/image31.svg"/><Relationship Id="rId23" Type="http://schemas.openxmlformats.org/officeDocument/2006/relationships/image" Target="../media/image225.svg"/><Relationship Id="rId28" Type="http://schemas.openxmlformats.org/officeDocument/2006/relationships/image" Target="../media/image230.png"/><Relationship Id="rId10" Type="http://schemas.openxmlformats.org/officeDocument/2006/relationships/image" Target="../media/image26.png"/><Relationship Id="rId19" Type="http://schemas.openxmlformats.org/officeDocument/2006/relationships/image" Target="../media/image221.svg"/><Relationship Id="rId31" Type="http://schemas.openxmlformats.org/officeDocument/2006/relationships/image" Target="../media/image233.sv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 Id="rId22" Type="http://schemas.openxmlformats.org/officeDocument/2006/relationships/image" Target="../media/image224.png"/><Relationship Id="rId27" Type="http://schemas.openxmlformats.org/officeDocument/2006/relationships/image" Target="../media/image229.svg"/><Relationship Id="rId30" Type="http://schemas.openxmlformats.org/officeDocument/2006/relationships/image" Target="../media/image232.png"/><Relationship Id="rId8" Type="http://schemas.openxmlformats.org/officeDocument/2006/relationships/image" Target="../media/image24.png"/></Relationships>
</file>

<file path=ppt/slides/_rels/slide128.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129.xml.rels><?xml version="1.0" encoding="UTF-8" standalone="yes"?>
<Relationships xmlns="http://schemas.openxmlformats.org/package/2006/relationships"><Relationship Id="rId13" Type="http://schemas.openxmlformats.org/officeDocument/2006/relationships/image" Target="../media/image247.svg"/><Relationship Id="rId18" Type="http://schemas.openxmlformats.org/officeDocument/2006/relationships/image" Target="../media/image252.png"/><Relationship Id="rId26" Type="http://schemas.openxmlformats.org/officeDocument/2006/relationships/image" Target="../media/image24.png"/><Relationship Id="rId3" Type="http://schemas.openxmlformats.org/officeDocument/2006/relationships/image" Target="../media/image237.svg"/><Relationship Id="rId21" Type="http://schemas.openxmlformats.org/officeDocument/2006/relationships/image" Target="../media/image19.svg"/><Relationship Id="rId34" Type="http://schemas.openxmlformats.org/officeDocument/2006/relationships/image" Target="../media/image254.png"/><Relationship Id="rId7" Type="http://schemas.openxmlformats.org/officeDocument/2006/relationships/image" Target="../media/image241.svg"/><Relationship Id="rId12" Type="http://schemas.openxmlformats.org/officeDocument/2006/relationships/image" Target="../media/image246.png"/><Relationship Id="rId17" Type="http://schemas.openxmlformats.org/officeDocument/2006/relationships/image" Target="../media/image251.svg"/><Relationship Id="rId25" Type="http://schemas.openxmlformats.org/officeDocument/2006/relationships/image" Target="../media/image23.svg"/><Relationship Id="rId33" Type="http://schemas.openxmlformats.org/officeDocument/2006/relationships/image" Target="../media/image31.svg"/><Relationship Id="rId2" Type="http://schemas.openxmlformats.org/officeDocument/2006/relationships/image" Target="../media/image236.png"/><Relationship Id="rId16" Type="http://schemas.openxmlformats.org/officeDocument/2006/relationships/image" Target="../media/image250.png"/><Relationship Id="rId20" Type="http://schemas.openxmlformats.org/officeDocument/2006/relationships/image" Target="../media/image18.png"/><Relationship Id="rId29" Type="http://schemas.openxmlformats.org/officeDocument/2006/relationships/image" Target="../media/image27.svg"/><Relationship Id="rId1" Type="http://schemas.openxmlformats.org/officeDocument/2006/relationships/slideLayout" Target="../slideLayouts/slideLayout1.xml"/><Relationship Id="rId6" Type="http://schemas.openxmlformats.org/officeDocument/2006/relationships/image" Target="../media/image240.png"/><Relationship Id="rId11" Type="http://schemas.openxmlformats.org/officeDocument/2006/relationships/image" Target="../media/image245.svg"/><Relationship Id="rId24" Type="http://schemas.openxmlformats.org/officeDocument/2006/relationships/image" Target="../media/image22.png"/><Relationship Id="rId32" Type="http://schemas.openxmlformats.org/officeDocument/2006/relationships/image" Target="../media/image30.png"/><Relationship Id="rId5" Type="http://schemas.openxmlformats.org/officeDocument/2006/relationships/image" Target="../media/image239.svg"/><Relationship Id="rId15" Type="http://schemas.openxmlformats.org/officeDocument/2006/relationships/image" Target="../media/image249.svg"/><Relationship Id="rId23" Type="http://schemas.openxmlformats.org/officeDocument/2006/relationships/image" Target="../media/image21.svg"/><Relationship Id="rId28" Type="http://schemas.openxmlformats.org/officeDocument/2006/relationships/image" Target="../media/image26.png"/><Relationship Id="rId10" Type="http://schemas.openxmlformats.org/officeDocument/2006/relationships/image" Target="../media/image244.png"/><Relationship Id="rId19" Type="http://schemas.openxmlformats.org/officeDocument/2006/relationships/image" Target="../media/image253.svg"/><Relationship Id="rId31" Type="http://schemas.openxmlformats.org/officeDocument/2006/relationships/image" Target="../media/image29.svg"/><Relationship Id="rId4" Type="http://schemas.openxmlformats.org/officeDocument/2006/relationships/image" Target="../media/image238.png"/><Relationship Id="rId9" Type="http://schemas.openxmlformats.org/officeDocument/2006/relationships/image" Target="../media/image243.svg"/><Relationship Id="rId14" Type="http://schemas.openxmlformats.org/officeDocument/2006/relationships/image" Target="../media/image248.png"/><Relationship Id="rId22" Type="http://schemas.openxmlformats.org/officeDocument/2006/relationships/image" Target="../media/image20.png"/><Relationship Id="rId27" Type="http://schemas.openxmlformats.org/officeDocument/2006/relationships/image" Target="../media/image25.svg"/><Relationship Id="rId30" Type="http://schemas.openxmlformats.org/officeDocument/2006/relationships/image" Target="../media/image28.png"/><Relationship Id="rId35" Type="http://schemas.openxmlformats.org/officeDocument/2006/relationships/image" Target="../media/image255.svg"/><Relationship Id="rId8" Type="http://schemas.openxmlformats.org/officeDocument/2006/relationships/image" Target="../media/image242.png"/></Relationships>
</file>

<file path=ppt/slides/_rels/slide13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35.sv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132.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35.svg"/><Relationship Id="rId2"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133.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35.svg"/><Relationship Id="rId2"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134.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35.svg"/><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135.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35.svg"/><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136.xml.rels><?xml version="1.0" encoding="UTF-8" standalone="yes"?>
<Relationships xmlns="http://schemas.openxmlformats.org/package/2006/relationships"><Relationship Id="rId3" Type="http://schemas.openxmlformats.org/officeDocument/2006/relationships/image" Target="../media/image29.svg"/><Relationship Id="rId7" Type="http://schemas.openxmlformats.org/officeDocument/2006/relationships/image" Target="../media/image35.svg"/><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137.xml.rels><?xml version="1.0" encoding="UTF-8" standalone="yes"?>
<Relationships xmlns="http://schemas.openxmlformats.org/package/2006/relationships"><Relationship Id="rId3" Type="http://schemas.openxmlformats.org/officeDocument/2006/relationships/image" Target="../media/image31.svg"/><Relationship Id="rId7" Type="http://schemas.openxmlformats.org/officeDocument/2006/relationships/image" Target="../media/image35.svg"/><Relationship Id="rId2"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138.xml.rels><?xml version="1.0" encoding="UTF-8" standalone="yes"?>
<Relationships xmlns="http://schemas.openxmlformats.org/package/2006/relationships"><Relationship Id="rId8" Type="http://schemas.openxmlformats.org/officeDocument/2006/relationships/image" Target="../media/image258.png"/><Relationship Id="rId13" Type="http://schemas.openxmlformats.org/officeDocument/2006/relationships/image" Target="../media/image263.svg"/><Relationship Id="rId18" Type="http://schemas.openxmlformats.org/officeDocument/2006/relationships/image" Target="../media/image268.png"/><Relationship Id="rId3" Type="http://schemas.openxmlformats.org/officeDocument/2006/relationships/image" Target="../media/image257.svg"/><Relationship Id="rId7" Type="http://schemas.openxmlformats.org/officeDocument/2006/relationships/image" Target="../media/image23.svg"/><Relationship Id="rId12" Type="http://schemas.openxmlformats.org/officeDocument/2006/relationships/image" Target="../media/image262.png"/><Relationship Id="rId17" Type="http://schemas.openxmlformats.org/officeDocument/2006/relationships/image" Target="../media/image267.svg"/><Relationship Id="rId2" Type="http://schemas.openxmlformats.org/officeDocument/2006/relationships/image" Target="../media/image256.png"/><Relationship Id="rId16" Type="http://schemas.openxmlformats.org/officeDocument/2006/relationships/image" Target="../media/image266.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61.svg"/><Relationship Id="rId5" Type="http://schemas.openxmlformats.org/officeDocument/2006/relationships/image" Target="../media/image21.svg"/><Relationship Id="rId15" Type="http://schemas.openxmlformats.org/officeDocument/2006/relationships/image" Target="../media/image265.svg"/><Relationship Id="rId10" Type="http://schemas.openxmlformats.org/officeDocument/2006/relationships/image" Target="../media/image260.png"/><Relationship Id="rId19" Type="http://schemas.openxmlformats.org/officeDocument/2006/relationships/image" Target="../media/image269.svg"/><Relationship Id="rId4" Type="http://schemas.openxmlformats.org/officeDocument/2006/relationships/image" Target="../media/image20.png"/><Relationship Id="rId9" Type="http://schemas.openxmlformats.org/officeDocument/2006/relationships/image" Target="../media/image259.svg"/><Relationship Id="rId14" Type="http://schemas.openxmlformats.org/officeDocument/2006/relationships/image" Target="../media/image264.png"/></Relationships>
</file>

<file path=ppt/slides/_rels/slide139.xml.rels><?xml version="1.0" encoding="UTF-8" standalone="yes"?>
<Relationships xmlns="http://schemas.openxmlformats.org/package/2006/relationships"><Relationship Id="rId8" Type="http://schemas.openxmlformats.org/officeDocument/2006/relationships/image" Target="../media/image258.png"/><Relationship Id="rId13" Type="http://schemas.openxmlformats.org/officeDocument/2006/relationships/image" Target="../media/image263.svg"/><Relationship Id="rId18" Type="http://schemas.openxmlformats.org/officeDocument/2006/relationships/image" Target="../media/image268.png"/><Relationship Id="rId3" Type="http://schemas.openxmlformats.org/officeDocument/2006/relationships/image" Target="../media/image270.svg"/><Relationship Id="rId7" Type="http://schemas.openxmlformats.org/officeDocument/2006/relationships/image" Target="../media/image272.svg"/><Relationship Id="rId12" Type="http://schemas.openxmlformats.org/officeDocument/2006/relationships/image" Target="../media/image262.png"/><Relationship Id="rId17" Type="http://schemas.openxmlformats.org/officeDocument/2006/relationships/image" Target="../media/image267.svg"/><Relationship Id="rId2" Type="http://schemas.openxmlformats.org/officeDocument/2006/relationships/image" Target="../media/image18.png"/><Relationship Id="rId16" Type="http://schemas.openxmlformats.org/officeDocument/2006/relationships/image" Target="../media/image266.png"/><Relationship Id="rId1" Type="http://schemas.openxmlformats.org/officeDocument/2006/relationships/slideLayout" Target="../slideLayouts/slideLayout2.xml"/><Relationship Id="rId6" Type="http://schemas.openxmlformats.org/officeDocument/2006/relationships/image" Target="../media/image271.png"/><Relationship Id="rId11" Type="http://schemas.openxmlformats.org/officeDocument/2006/relationships/image" Target="../media/image261.svg"/><Relationship Id="rId5" Type="http://schemas.openxmlformats.org/officeDocument/2006/relationships/image" Target="../media/image21.svg"/><Relationship Id="rId15" Type="http://schemas.openxmlformats.org/officeDocument/2006/relationships/image" Target="../media/image265.svg"/><Relationship Id="rId10" Type="http://schemas.openxmlformats.org/officeDocument/2006/relationships/image" Target="../media/image260.png"/><Relationship Id="rId19" Type="http://schemas.openxmlformats.org/officeDocument/2006/relationships/image" Target="../media/image269.svg"/><Relationship Id="rId4" Type="http://schemas.openxmlformats.org/officeDocument/2006/relationships/image" Target="../media/image20.png"/><Relationship Id="rId9" Type="http://schemas.openxmlformats.org/officeDocument/2006/relationships/image" Target="../media/image259.svg"/><Relationship Id="rId14" Type="http://schemas.openxmlformats.org/officeDocument/2006/relationships/image" Target="../media/image264.png"/></Relationships>
</file>

<file path=ppt/slides/_rels/slide140.xml.rels><?xml version="1.0" encoding="UTF-8" standalone="yes"?>
<Relationships xmlns="http://schemas.openxmlformats.org/package/2006/relationships"><Relationship Id="rId8" Type="http://schemas.openxmlformats.org/officeDocument/2006/relationships/image" Target="../media/image258.png"/><Relationship Id="rId13" Type="http://schemas.openxmlformats.org/officeDocument/2006/relationships/image" Target="../media/image263.svg"/><Relationship Id="rId18" Type="http://schemas.openxmlformats.org/officeDocument/2006/relationships/image" Target="../media/image268.png"/><Relationship Id="rId3" Type="http://schemas.openxmlformats.org/officeDocument/2006/relationships/image" Target="../media/image257.svg"/><Relationship Id="rId7" Type="http://schemas.openxmlformats.org/officeDocument/2006/relationships/image" Target="../media/image23.svg"/><Relationship Id="rId12" Type="http://schemas.openxmlformats.org/officeDocument/2006/relationships/image" Target="../media/image262.png"/><Relationship Id="rId17" Type="http://schemas.openxmlformats.org/officeDocument/2006/relationships/image" Target="../media/image267.svg"/><Relationship Id="rId2" Type="http://schemas.openxmlformats.org/officeDocument/2006/relationships/image" Target="../media/image256.png"/><Relationship Id="rId16" Type="http://schemas.openxmlformats.org/officeDocument/2006/relationships/image" Target="../media/image266.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61.svg"/><Relationship Id="rId5" Type="http://schemas.openxmlformats.org/officeDocument/2006/relationships/image" Target="../media/image21.svg"/><Relationship Id="rId15" Type="http://schemas.openxmlformats.org/officeDocument/2006/relationships/image" Target="../media/image265.svg"/><Relationship Id="rId10" Type="http://schemas.openxmlformats.org/officeDocument/2006/relationships/image" Target="../media/image260.png"/><Relationship Id="rId19" Type="http://schemas.openxmlformats.org/officeDocument/2006/relationships/image" Target="../media/image269.svg"/><Relationship Id="rId4" Type="http://schemas.openxmlformats.org/officeDocument/2006/relationships/image" Target="../media/image20.png"/><Relationship Id="rId9" Type="http://schemas.openxmlformats.org/officeDocument/2006/relationships/image" Target="../media/image259.svg"/><Relationship Id="rId14" Type="http://schemas.openxmlformats.org/officeDocument/2006/relationships/image" Target="../media/image26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Freeform 5">
            <a:extLst>
              <a:ext uri="{FF2B5EF4-FFF2-40B4-BE49-F238E27FC236}">
                <a16:creationId xmlns:a16="http://schemas.microsoft.com/office/drawing/2014/main" id="{0C29E671-465E-4B74-ADD3-16F78360C1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6">
            <a:extLst>
              <a:ext uri="{FF2B5EF4-FFF2-40B4-BE49-F238E27FC236}">
                <a16:creationId xmlns:a16="http://schemas.microsoft.com/office/drawing/2014/main" id="{F594BD5F-6948-4047-81D8-7B919E511C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7">
            <a:extLst>
              <a:ext uri="{FF2B5EF4-FFF2-40B4-BE49-F238E27FC236}">
                <a16:creationId xmlns:a16="http://schemas.microsoft.com/office/drawing/2014/main" id="{A8650E13-2A5C-4DA8-806D-0E3DF30C0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8">
            <a:extLst>
              <a:ext uri="{FF2B5EF4-FFF2-40B4-BE49-F238E27FC236}">
                <a16:creationId xmlns:a16="http://schemas.microsoft.com/office/drawing/2014/main" id="{77DCA4F2-ACE4-41A5-9605-564B88E1B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9">
            <a:extLst>
              <a:ext uri="{FF2B5EF4-FFF2-40B4-BE49-F238E27FC236}">
                <a16:creationId xmlns:a16="http://schemas.microsoft.com/office/drawing/2014/main" id="{E8DC6556-370C-44C6-B639-9D9918B8B0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a:extLst>
              <a:ext uri="{FF2B5EF4-FFF2-40B4-BE49-F238E27FC236}">
                <a16:creationId xmlns:a16="http://schemas.microsoft.com/office/drawing/2014/main" id="{856E8D2F-46B6-4F01-8622-7160DCE34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2">
            <a:extLst>
              <a:ext uri="{FF2B5EF4-FFF2-40B4-BE49-F238E27FC236}">
                <a16:creationId xmlns:a16="http://schemas.microsoft.com/office/drawing/2014/main" id="{93EF6B9B-C5DF-4288-A570-CFDDA7611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14">
            <a:extLst>
              <a:ext uri="{FF2B5EF4-FFF2-40B4-BE49-F238E27FC236}">
                <a16:creationId xmlns:a16="http://schemas.microsoft.com/office/drawing/2014/main" id="{F72D7222-7957-47AB-BAAC-3081B4997F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16">
            <a:extLst>
              <a:ext uri="{FF2B5EF4-FFF2-40B4-BE49-F238E27FC236}">
                <a16:creationId xmlns:a16="http://schemas.microsoft.com/office/drawing/2014/main" id="{72C8FD39-3281-4747-9100-E6B2083CDE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11">
            <a:extLst>
              <a:ext uri="{FF2B5EF4-FFF2-40B4-BE49-F238E27FC236}">
                <a16:creationId xmlns:a16="http://schemas.microsoft.com/office/drawing/2014/main" id="{EBC58988-C34D-45B2-97C8-7F58092EEF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1">
            <a:extLst>
              <a:ext uri="{FF2B5EF4-FFF2-40B4-BE49-F238E27FC236}">
                <a16:creationId xmlns:a16="http://schemas.microsoft.com/office/drawing/2014/main" id="{CFFBCB07-EB2F-4FDC-BF4F-D1DB5A9995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2">
            <a:extLst>
              <a:ext uri="{FF2B5EF4-FFF2-40B4-BE49-F238E27FC236}">
                <a16:creationId xmlns:a16="http://schemas.microsoft.com/office/drawing/2014/main" id="{CDE6A372-6227-4273-B9E4-30AAEE666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23">
            <a:extLst>
              <a:ext uri="{FF2B5EF4-FFF2-40B4-BE49-F238E27FC236}">
                <a16:creationId xmlns:a16="http://schemas.microsoft.com/office/drawing/2014/main" id="{A2E87603-7E57-4FC0-A5CF-3886867B16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5" name="Image 34" descr="Une image contenant texte, clipart&#10;&#10;Description générée automatiquement">
            <a:extLst>
              <a:ext uri="{FF2B5EF4-FFF2-40B4-BE49-F238E27FC236}">
                <a16:creationId xmlns:a16="http://schemas.microsoft.com/office/drawing/2014/main" id="{40AB62D6-2F4A-469C-8BA1-277B6236F9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4817" y="6409469"/>
            <a:ext cx="789196" cy="286130"/>
          </a:xfrm>
          <a:prstGeom prst="rect">
            <a:avLst/>
          </a:prstGeom>
        </p:spPr>
      </p:pic>
      <p:pic>
        <p:nvPicPr>
          <p:cNvPr id="37" name="Image 36">
            <a:extLst>
              <a:ext uri="{FF2B5EF4-FFF2-40B4-BE49-F238E27FC236}">
                <a16:creationId xmlns:a16="http://schemas.microsoft.com/office/drawing/2014/main" id="{1863A787-CFED-4655-8124-842B3F924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6302" y="5387295"/>
            <a:ext cx="890885" cy="859442"/>
          </a:xfrm>
          <a:prstGeom prst="rect">
            <a:avLst/>
          </a:prstGeom>
        </p:spPr>
      </p:pic>
      <p:pic>
        <p:nvPicPr>
          <p:cNvPr id="39" name="Image 38">
            <a:extLst>
              <a:ext uri="{FF2B5EF4-FFF2-40B4-BE49-F238E27FC236}">
                <a16:creationId xmlns:a16="http://schemas.microsoft.com/office/drawing/2014/main" id="{BD6543D7-86F0-4849-A1D1-80E7FBB2C3BF}"/>
              </a:ext>
            </a:extLst>
          </p:cNvPr>
          <p:cNvPicPr>
            <a:picLocks noChangeAspect="1"/>
          </p:cNvPicPr>
          <p:nvPr/>
        </p:nvPicPr>
        <p:blipFill rotWithShape="1">
          <a:blip r:embed="rId4">
            <a:extLst>
              <a:ext uri="{28A0092B-C50C-407E-A947-70E740481C1C}">
                <a14:useLocalDpi xmlns:a14="http://schemas.microsoft.com/office/drawing/2010/main" val="0"/>
              </a:ext>
            </a:extLst>
          </a:blip>
          <a:srcRect b="18340"/>
          <a:stretch/>
        </p:blipFill>
        <p:spPr>
          <a:xfrm>
            <a:off x="8487547" y="5900884"/>
            <a:ext cx="1997159" cy="901301"/>
          </a:xfrm>
          <a:prstGeom prst="rect">
            <a:avLst/>
          </a:prstGeom>
        </p:spPr>
      </p:pic>
      <p:sp>
        <p:nvSpPr>
          <p:cNvPr id="40" name="ZoneTexte 39">
            <a:extLst>
              <a:ext uri="{FF2B5EF4-FFF2-40B4-BE49-F238E27FC236}">
                <a16:creationId xmlns:a16="http://schemas.microsoft.com/office/drawing/2014/main" id="{4A30C228-82AC-4375-875C-C7B9F6F62736}"/>
              </a:ext>
            </a:extLst>
          </p:cNvPr>
          <p:cNvSpPr txBox="1"/>
          <p:nvPr/>
        </p:nvSpPr>
        <p:spPr>
          <a:xfrm>
            <a:off x="670450" y="851741"/>
            <a:ext cx="9429475" cy="5139869"/>
          </a:xfrm>
          <a:prstGeom prst="rect">
            <a:avLst/>
          </a:prstGeom>
          <a:noFill/>
        </p:spPr>
        <p:txBody>
          <a:bodyPr wrap="square" rtlCol="0">
            <a:spAutoFit/>
          </a:bodyPr>
          <a:lstStyle/>
          <a:p>
            <a:r>
              <a:rPr lang="fr-FR" sz="8800" b="1" i="1" dirty="0"/>
              <a:t>#OSC</a:t>
            </a:r>
          </a:p>
          <a:p>
            <a:r>
              <a:rPr lang="fr-FR" sz="8800" b="1" i="1" dirty="0">
                <a:solidFill>
                  <a:srgbClr val="ED7D31"/>
                </a:solidFill>
              </a:rPr>
              <a:t>Change </a:t>
            </a:r>
            <a:r>
              <a:rPr lang="fr-FR" sz="8800" b="1" i="1" dirty="0">
                <a:solidFill>
                  <a:srgbClr val="0683AA"/>
                </a:solidFill>
              </a:rPr>
              <a:t>Community </a:t>
            </a:r>
            <a:r>
              <a:rPr lang="fr-FR" sz="8800" b="1" i="1" dirty="0"/>
              <a:t>Cycle (CCC)</a:t>
            </a:r>
          </a:p>
          <a:p>
            <a:endParaRPr lang="fr-FR" sz="3200" b="1" i="1" dirty="0"/>
          </a:p>
          <a:p>
            <a:r>
              <a:rPr lang="fr-FR" sz="3200" b="1" i="1" dirty="0"/>
              <a:t>Usage opérationnel en entreprise</a:t>
            </a:r>
          </a:p>
        </p:txBody>
      </p:sp>
    </p:spTree>
    <p:extLst>
      <p:ext uri="{BB962C8B-B14F-4D97-AF65-F5344CB8AC3E}">
        <p14:creationId xmlns:p14="http://schemas.microsoft.com/office/powerpoint/2010/main" val="2842409871"/>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6A794F-5F08-337C-50F0-FFEFF1446E0F}"/>
              </a:ext>
            </a:extLst>
          </p:cNvPr>
          <p:cNvSpPr>
            <a:spLocks noGrp="1"/>
          </p:cNvSpPr>
          <p:nvPr>
            <p:ph type="title"/>
          </p:nvPr>
        </p:nvSpPr>
        <p:spPr/>
        <p:txBody>
          <a:bodyPr/>
          <a:lstStyle/>
          <a:p>
            <a:r>
              <a:rPr lang="fr-FR" dirty="0"/>
              <a:t>Ce document est un contenu #OpenSeriousCommunity #OSC</a:t>
            </a:r>
          </a:p>
        </p:txBody>
      </p:sp>
      <p:sp>
        <p:nvSpPr>
          <p:cNvPr id="3" name="Espace réservé du contenu 2">
            <a:extLst>
              <a:ext uri="{FF2B5EF4-FFF2-40B4-BE49-F238E27FC236}">
                <a16:creationId xmlns:a16="http://schemas.microsoft.com/office/drawing/2014/main" id="{CB182D3C-1E44-118D-E03C-489E469BD4D1}"/>
              </a:ext>
            </a:extLst>
          </p:cNvPr>
          <p:cNvSpPr>
            <a:spLocks noGrp="1"/>
          </p:cNvSpPr>
          <p:nvPr>
            <p:ph idx="1"/>
          </p:nvPr>
        </p:nvSpPr>
        <p:spPr>
          <a:xfrm>
            <a:off x="838200" y="2447635"/>
            <a:ext cx="6920345" cy="3729327"/>
          </a:xfrm>
        </p:spPr>
        <p:txBody>
          <a:bodyPr>
            <a:normAutofit fontScale="70000" lnSpcReduction="20000"/>
          </a:bodyPr>
          <a:lstStyle/>
          <a:p>
            <a:pPr marL="0" indent="0">
              <a:buNone/>
            </a:pPr>
            <a:r>
              <a:rPr lang="fr-FR" dirty="0"/>
              <a:t>#OpenSeriousCommunity est un ensemble de ressources dédiées à aider à animer, faire vivre, développer des communautés. </a:t>
            </a:r>
          </a:p>
          <a:p>
            <a:pPr marL="0" indent="0">
              <a:buNone/>
            </a:pPr>
            <a:r>
              <a:rPr lang="fr-FR" dirty="0"/>
              <a:t>Les communautés concernées par #OpenSeriousCommunity peuvent être tout autant du domaine de l’entreprise, que de celles des associations, des institutions ou privées. </a:t>
            </a:r>
          </a:p>
          <a:p>
            <a:pPr marL="0" indent="0">
              <a:buNone/>
            </a:pPr>
            <a:r>
              <a:rPr lang="fr-FR" dirty="0"/>
              <a:t>Les contenus #OpenSeriousCommunity suivent les attributs des contenus #OSG, c’est-à-dire qu’ils sont open source, et structurés pour favoriser un maximum l’appropriation du contenu à des fins de retransmission.</a:t>
            </a:r>
          </a:p>
          <a:p>
            <a:pPr marL="0" indent="0">
              <a:buNone/>
            </a:pPr>
            <a:r>
              <a:rPr lang="fr-FR" dirty="0"/>
              <a:t>Pour en savoir plus, rendez-vous sur </a:t>
            </a:r>
            <a:r>
              <a:rPr lang="fr-FR" dirty="0">
                <a:hlinkClick r:id="rId2"/>
              </a:rPr>
              <a:t>https://www.openseriousgames.org/OpenSeriousCommunity</a:t>
            </a:r>
            <a:endParaRPr lang="fr-FR" dirty="0"/>
          </a:p>
          <a:p>
            <a:pPr marL="0" indent="0">
              <a:buNone/>
            </a:pPr>
            <a:endParaRPr lang="fr-FR" dirty="0"/>
          </a:p>
        </p:txBody>
      </p:sp>
      <p:pic>
        <p:nvPicPr>
          <p:cNvPr id="5" name="Image 4">
            <a:extLst>
              <a:ext uri="{FF2B5EF4-FFF2-40B4-BE49-F238E27FC236}">
                <a16:creationId xmlns:a16="http://schemas.microsoft.com/office/drawing/2014/main" id="{F426674B-9CEA-9EBE-9AEA-28D0A38AB56C}"/>
              </a:ext>
            </a:extLst>
          </p:cNvPr>
          <p:cNvPicPr>
            <a:picLocks noChangeAspect="1"/>
          </p:cNvPicPr>
          <p:nvPr/>
        </p:nvPicPr>
        <p:blipFill rotWithShape="1">
          <a:blip r:embed="rId3">
            <a:extLst>
              <a:ext uri="{28A0092B-C50C-407E-A947-70E740481C1C}">
                <a14:useLocalDpi xmlns:a14="http://schemas.microsoft.com/office/drawing/2010/main" val="0"/>
              </a:ext>
            </a:extLst>
          </a:blip>
          <a:srcRect b="18340"/>
          <a:stretch/>
        </p:blipFill>
        <p:spPr>
          <a:xfrm>
            <a:off x="7923952" y="3081254"/>
            <a:ext cx="4027903" cy="1817759"/>
          </a:xfrm>
          <a:prstGeom prst="rect">
            <a:avLst/>
          </a:prstGeom>
        </p:spPr>
      </p:pic>
    </p:spTree>
    <p:extLst>
      <p:ext uri="{BB962C8B-B14F-4D97-AF65-F5344CB8AC3E}">
        <p14:creationId xmlns:p14="http://schemas.microsoft.com/office/powerpoint/2010/main" val="271929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62C9FFC8-78D6-79C8-27DC-940404A25B56}"/>
              </a:ext>
            </a:extLst>
          </p:cNvPr>
          <p:cNvSpPr txBox="1"/>
          <p:nvPr/>
        </p:nvSpPr>
        <p:spPr>
          <a:xfrm>
            <a:off x="749300" y="311704"/>
            <a:ext cx="10604500" cy="1077218"/>
          </a:xfrm>
          <a:prstGeom prst="rect">
            <a:avLst/>
          </a:prstGeom>
          <a:noFill/>
        </p:spPr>
        <p:txBody>
          <a:bodyPr wrap="square">
            <a:spAutoFit/>
          </a:bodyPr>
          <a:lstStyle/>
          <a:p>
            <a:pPr algn="ctr"/>
            <a:r>
              <a:rPr lang="fr-FR" sz="3600" b="1" i="1">
                <a:solidFill>
                  <a:srgbClr val="0683AA"/>
                </a:solidFill>
              </a:rPr>
              <a:t>Les questions à l’origine de ce travail</a:t>
            </a:r>
          </a:p>
          <a:p>
            <a:pPr algn="ctr"/>
            <a:r>
              <a:rPr lang="fr-FR" sz="2800" b="1" i="1"/>
              <a:t>Défis courants de communautés d’entreprise</a:t>
            </a:r>
            <a:endParaRPr lang="fr-FR" sz="2800" b="1" i="1">
              <a:cs typeface="Calibri"/>
            </a:endParaRPr>
          </a:p>
        </p:txBody>
      </p:sp>
      <p:sp>
        <p:nvSpPr>
          <p:cNvPr id="8" name="Bulle narrative : ronde 7">
            <a:extLst>
              <a:ext uri="{FF2B5EF4-FFF2-40B4-BE49-F238E27FC236}">
                <a16:creationId xmlns:a16="http://schemas.microsoft.com/office/drawing/2014/main" id="{D4F18CBD-1844-CE6F-D9A1-E0F9DAA5512D}"/>
              </a:ext>
            </a:extLst>
          </p:cNvPr>
          <p:cNvSpPr/>
          <p:nvPr/>
        </p:nvSpPr>
        <p:spPr>
          <a:xfrm>
            <a:off x="6123561" y="3736453"/>
            <a:ext cx="2868039" cy="1410290"/>
          </a:xfrm>
          <a:prstGeom prst="wedgeEllipseCallout">
            <a:avLst>
              <a:gd name="adj1" fmla="val -2043"/>
              <a:gd name="adj2" fmla="val 6656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COMMENT MESURER LA PERFORMANCE D’UNE COMMUNAUTÉ D’ENTREPRISE ?</a:t>
            </a:r>
          </a:p>
        </p:txBody>
      </p:sp>
      <p:sp>
        <p:nvSpPr>
          <p:cNvPr id="9" name="Bulle narrative : ronde 8">
            <a:extLst>
              <a:ext uri="{FF2B5EF4-FFF2-40B4-BE49-F238E27FC236}">
                <a16:creationId xmlns:a16="http://schemas.microsoft.com/office/drawing/2014/main" id="{9337EABB-70CC-29BD-A3B7-0E264C2B41FA}"/>
              </a:ext>
            </a:extLst>
          </p:cNvPr>
          <p:cNvSpPr/>
          <p:nvPr/>
        </p:nvSpPr>
        <p:spPr>
          <a:xfrm>
            <a:off x="6123561" y="1774355"/>
            <a:ext cx="3002774" cy="1410290"/>
          </a:xfrm>
          <a:prstGeom prst="wedgeEllipseCallout">
            <a:avLst>
              <a:gd name="adj1" fmla="val -7290"/>
              <a:gd name="adj2" fmla="val 74459"/>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COMMENT TROUVER DES ACTIVITÉS ADAPTÉES À DES MEMBRES AUX NIVEAUX HÉTÉROGÈNES ?</a:t>
            </a:r>
          </a:p>
        </p:txBody>
      </p:sp>
      <p:sp>
        <p:nvSpPr>
          <p:cNvPr id="10" name="Bulle narrative : ronde 9">
            <a:extLst>
              <a:ext uri="{FF2B5EF4-FFF2-40B4-BE49-F238E27FC236}">
                <a16:creationId xmlns:a16="http://schemas.microsoft.com/office/drawing/2014/main" id="{D05D4E48-CFF2-D0E8-3DB1-DB5D619B9EA4}"/>
              </a:ext>
            </a:extLst>
          </p:cNvPr>
          <p:cNvSpPr/>
          <p:nvPr/>
        </p:nvSpPr>
        <p:spPr>
          <a:xfrm>
            <a:off x="9763125" y="2132839"/>
            <a:ext cx="2428875" cy="1067149"/>
          </a:xfrm>
          <a:prstGeom prst="wedgeEllipseCallout">
            <a:avLst>
              <a:gd name="adj1" fmla="val 32467"/>
              <a:gd name="adj2" fmla="val 6725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QUEL RÔLE DONNER AUX AMBASSADEURS ?</a:t>
            </a:r>
          </a:p>
        </p:txBody>
      </p:sp>
      <p:sp>
        <p:nvSpPr>
          <p:cNvPr id="11" name="Bulle narrative : ronde 10">
            <a:extLst>
              <a:ext uri="{FF2B5EF4-FFF2-40B4-BE49-F238E27FC236}">
                <a16:creationId xmlns:a16="http://schemas.microsoft.com/office/drawing/2014/main" id="{804CA3C2-8655-F8EE-9F1A-EF81C3CCADBC}"/>
              </a:ext>
            </a:extLst>
          </p:cNvPr>
          <p:cNvSpPr/>
          <p:nvPr/>
        </p:nvSpPr>
        <p:spPr>
          <a:xfrm>
            <a:off x="3586492" y="3584977"/>
            <a:ext cx="2428875" cy="1848743"/>
          </a:xfrm>
          <a:prstGeom prst="wedgeEllipseCallout">
            <a:avLst>
              <a:gd name="adj1" fmla="val -997"/>
              <a:gd name="adj2" fmla="val 63820"/>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COMMENT FAIRE LE POINT SUR LÀ OÙ EN EST LA COMMUNAUTÉ SUR SES DIFFÉRENTS SUJETS ?</a:t>
            </a:r>
          </a:p>
        </p:txBody>
      </p:sp>
      <p:grpSp>
        <p:nvGrpSpPr>
          <p:cNvPr id="17" name="Groupe 16">
            <a:extLst>
              <a:ext uri="{FF2B5EF4-FFF2-40B4-BE49-F238E27FC236}">
                <a16:creationId xmlns:a16="http://schemas.microsoft.com/office/drawing/2014/main" id="{A57A07DD-B947-1EFF-5179-3BBCCB12668B}"/>
              </a:ext>
            </a:extLst>
          </p:cNvPr>
          <p:cNvGrpSpPr/>
          <p:nvPr/>
        </p:nvGrpSpPr>
        <p:grpSpPr>
          <a:xfrm>
            <a:off x="104342" y="4686300"/>
            <a:ext cx="3216513" cy="2300235"/>
            <a:chOff x="273518" y="3963501"/>
            <a:chExt cx="2642880" cy="1890012"/>
          </a:xfrm>
        </p:grpSpPr>
        <p:pic>
          <p:nvPicPr>
            <p:cNvPr id="6" name="Graphique 5" descr="Femme aux cheveux longs droits">
              <a:extLst>
                <a:ext uri="{FF2B5EF4-FFF2-40B4-BE49-F238E27FC236}">
                  <a16:creationId xmlns:a16="http://schemas.microsoft.com/office/drawing/2014/main" id="{15852FD4-9C86-5244-2BC4-CFDDA5C0BAE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12" name="Groupe 11">
              <a:extLst>
                <a:ext uri="{FF2B5EF4-FFF2-40B4-BE49-F238E27FC236}">
                  <a16:creationId xmlns:a16="http://schemas.microsoft.com/office/drawing/2014/main" id="{16CFC6D7-7FCF-39D8-6785-9A5622C74A77}"/>
                </a:ext>
              </a:extLst>
            </p:cNvPr>
            <p:cNvGrpSpPr/>
            <p:nvPr/>
          </p:nvGrpSpPr>
          <p:grpSpPr>
            <a:xfrm flipH="1">
              <a:off x="273518" y="4342678"/>
              <a:ext cx="2642880" cy="1510835"/>
              <a:chOff x="5652412" y="4227751"/>
              <a:chExt cx="2038599" cy="1115126"/>
            </a:xfrm>
          </p:grpSpPr>
          <p:pic>
            <p:nvPicPr>
              <p:cNvPr id="14" name="Graphique 13" descr="Homme portant un dossier">
                <a:extLst>
                  <a:ext uri="{FF2B5EF4-FFF2-40B4-BE49-F238E27FC236}">
                    <a16:creationId xmlns:a16="http://schemas.microsoft.com/office/drawing/2014/main" id="{AE3349AF-E750-959E-16EB-E0A139C8E32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15" name="Graphique 14" descr="Homme âgé portant une veste">
                <a:extLst>
                  <a:ext uri="{FF2B5EF4-FFF2-40B4-BE49-F238E27FC236}">
                    <a16:creationId xmlns:a16="http://schemas.microsoft.com/office/drawing/2014/main" id="{06D4942F-3C90-1C28-2145-449AA7978AAF}"/>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16" name="Espace réservé pour une image  29" descr="Homme en polo">
                <a:extLst>
                  <a:ext uri="{FF2B5EF4-FFF2-40B4-BE49-F238E27FC236}">
                    <a16:creationId xmlns:a16="http://schemas.microsoft.com/office/drawing/2014/main" id="{23DD2A47-3E8C-97F6-FD94-CD05A7E7E863}"/>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13" name="Graphique 12" descr="Un visage en conversation">
              <a:extLst>
                <a:ext uri="{FF2B5EF4-FFF2-40B4-BE49-F238E27FC236}">
                  <a16:creationId xmlns:a16="http://schemas.microsoft.com/office/drawing/2014/main" id="{CDE9B894-5A4A-A305-0E16-C05BED4A095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8" name="Bulle narrative : ronde 17">
            <a:extLst>
              <a:ext uri="{FF2B5EF4-FFF2-40B4-BE49-F238E27FC236}">
                <a16:creationId xmlns:a16="http://schemas.microsoft.com/office/drawing/2014/main" id="{9F6250B4-DA40-7B82-A7F2-594FB457EB27}"/>
              </a:ext>
            </a:extLst>
          </p:cNvPr>
          <p:cNvSpPr/>
          <p:nvPr/>
        </p:nvSpPr>
        <p:spPr>
          <a:xfrm>
            <a:off x="3549790" y="1821373"/>
            <a:ext cx="2428875" cy="1403503"/>
          </a:xfrm>
          <a:prstGeom prst="wedgeEllipseCallout">
            <a:avLst>
              <a:gd name="adj1" fmla="val 49"/>
              <a:gd name="adj2" fmla="val 66350"/>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COMMENT DÉCIDER DES PROCHAINES ACTIVITÉS LES PLUS ADAPTÉES  ?</a:t>
            </a:r>
          </a:p>
        </p:txBody>
      </p:sp>
      <p:sp>
        <p:nvSpPr>
          <p:cNvPr id="19" name="Bulle narrative : ronde 18">
            <a:extLst>
              <a:ext uri="{FF2B5EF4-FFF2-40B4-BE49-F238E27FC236}">
                <a16:creationId xmlns:a16="http://schemas.microsoft.com/office/drawing/2014/main" id="{9E785699-4D03-E65B-3A4A-3A0196A3A8AE}"/>
              </a:ext>
            </a:extLst>
          </p:cNvPr>
          <p:cNvSpPr/>
          <p:nvPr/>
        </p:nvSpPr>
        <p:spPr>
          <a:xfrm>
            <a:off x="259554" y="1650187"/>
            <a:ext cx="2428875" cy="1284206"/>
          </a:xfrm>
          <a:prstGeom prst="wedgeEllipseCallout">
            <a:avLst>
              <a:gd name="adj1" fmla="val -37075"/>
              <a:gd name="adj2" fmla="val 65194"/>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a:solidFill>
                  <a:schemeClr val="tx1"/>
                </a:solidFill>
              </a:rPr>
              <a:t>POURQUOI LES MEMBRES NE S’ENGAGENT PAS AU NIVEAU OÙ JE VOUDRAIS ?</a:t>
            </a:r>
          </a:p>
        </p:txBody>
      </p:sp>
      <p:sp>
        <p:nvSpPr>
          <p:cNvPr id="21" name="Bulle narrative : ronde 20">
            <a:extLst>
              <a:ext uri="{FF2B5EF4-FFF2-40B4-BE49-F238E27FC236}">
                <a16:creationId xmlns:a16="http://schemas.microsoft.com/office/drawing/2014/main" id="{AE946C7C-BD48-EA36-6A88-81840D68501C}"/>
              </a:ext>
            </a:extLst>
          </p:cNvPr>
          <p:cNvSpPr/>
          <p:nvPr/>
        </p:nvSpPr>
        <p:spPr>
          <a:xfrm>
            <a:off x="259554" y="3041668"/>
            <a:ext cx="2844511" cy="1276155"/>
          </a:xfrm>
          <a:prstGeom prst="wedgeEllipseCallout">
            <a:avLst>
              <a:gd name="adj1" fmla="val -37075"/>
              <a:gd name="adj2" fmla="val 65194"/>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a:solidFill>
                  <a:schemeClr val="tx1"/>
                </a:solidFill>
              </a:rPr>
              <a:t>POURQUOI MES AMBASSADEURS ÉTAIENT POPULAIRES AVANT MAIS PLUS MAINTENANT ?</a:t>
            </a:r>
            <a:endParaRPr lang="fr-FR">
              <a:solidFill>
                <a:schemeClr val="tx1"/>
              </a:solidFill>
            </a:endParaRPr>
          </a:p>
        </p:txBody>
      </p:sp>
      <p:sp>
        <p:nvSpPr>
          <p:cNvPr id="22" name="Bulle narrative : ronde 21">
            <a:extLst>
              <a:ext uri="{FF2B5EF4-FFF2-40B4-BE49-F238E27FC236}">
                <a16:creationId xmlns:a16="http://schemas.microsoft.com/office/drawing/2014/main" id="{E6E95FC8-36B4-E6C3-F86F-9CF9753D37EA}"/>
              </a:ext>
            </a:extLst>
          </p:cNvPr>
          <p:cNvSpPr/>
          <p:nvPr/>
        </p:nvSpPr>
        <p:spPr>
          <a:xfrm>
            <a:off x="9648824" y="3427177"/>
            <a:ext cx="2428875" cy="1033456"/>
          </a:xfrm>
          <a:prstGeom prst="wedgeEllipseCallout">
            <a:avLst>
              <a:gd name="adj1" fmla="val 32467"/>
              <a:gd name="adj2" fmla="val 6725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QUELS INDICATEURS POUR PILOTER LA COMMUNAUTÉ ?</a:t>
            </a:r>
          </a:p>
        </p:txBody>
      </p:sp>
    </p:spTree>
    <p:extLst>
      <p:ext uri="{BB962C8B-B14F-4D97-AF65-F5344CB8AC3E}">
        <p14:creationId xmlns:p14="http://schemas.microsoft.com/office/powerpoint/2010/main" val="2682254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e 6">
            <a:extLst>
              <a:ext uri="{FF2B5EF4-FFF2-40B4-BE49-F238E27FC236}">
                <a16:creationId xmlns:a16="http://schemas.microsoft.com/office/drawing/2014/main" id="{71CE04BF-BEC1-FD33-7B1B-24B2AD3B9C6C}"/>
              </a:ext>
            </a:extLst>
          </p:cNvPr>
          <p:cNvGrpSpPr/>
          <p:nvPr/>
        </p:nvGrpSpPr>
        <p:grpSpPr>
          <a:xfrm>
            <a:off x="-2679" y="4153047"/>
            <a:ext cx="2447736" cy="2873155"/>
            <a:chOff x="16860" y="20663"/>
            <a:chExt cx="2447736" cy="2873155"/>
          </a:xfrm>
        </p:grpSpPr>
        <p:pic>
          <p:nvPicPr>
            <p:cNvPr id="5" name="Graphique 4" descr="Homme tenant un panneau">
              <a:extLst>
                <a:ext uri="{FF2B5EF4-FFF2-40B4-BE49-F238E27FC236}">
                  <a16:creationId xmlns:a16="http://schemas.microsoft.com/office/drawing/2014/main" id="{30BBC519-ED29-6B18-DD7C-023D363FE90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16860" y="20663"/>
              <a:ext cx="2447736" cy="2720299"/>
            </a:xfrm>
            <a:prstGeom prst="rect">
              <a:avLst/>
            </a:prstGeom>
          </p:spPr>
        </p:pic>
        <p:sp>
          <p:nvSpPr>
            <p:cNvPr id="6" name="Espace réservé du texte 15">
              <a:extLst>
                <a:ext uri="{FF2B5EF4-FFF2-40B4-BE49-F238E27FC236}">
                  <a16:creationId xmlns:a16="http://schemas.microsoft.com/office/drawing/2014/main" id="{DD77FB14-2A5A-53B5-F8EE-4E045BA0E8A6}"/>
                </a:ext>
              </a:extLst>
            </p:cNvPr>
            <p:cNvSpPr txBox="1">
              <a:spLocks/>
            </p:cNvSpPr>
            <p:nvPr/>
          </p:nvSpPr>
          <p:spPr>
            <a:xfrm>
              <a:off x="224007" y="1735187"/>
              <a:ext cx="2025779" cy="115863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b="1" i="1"/>
                <a:t>Change Community Cycle</a:t>
              </a:r>
              <a:endParaRPr lang="fr-FR" sz="1600" b="1" i="1">
                <a:solidFill>
                  <a:srgbClr val="000000"/>
                </a:solidFill>
                <a:cs typeface="Calibri"/>
              </a:endParaRPr>
            </a:p>
            <a:p>
              <a:pPr marL="0" indent="0" algn="ctr">
                <a:buNone/>
              </a:pPr>
              <a:r>
                <a:rPr lang="fr-FR" sz="1600" b="1" i="1">
                  <a:solidFill>
                    <a:srgbClr val="ED7D31"/>
                  </a:solidFill>
                </a:rPr>
                <a:t>Sommaire</a:t>
              </a:r>
              <a:endParaRPr lang="fr-FR" sz="1600" b="1" i="1">
                <a:solidFill>
                  <a:srgbClr val="ED7D31"/>
                </a:solidFill>
                <a:cs typeface="Calibri"/>
              </a:endParaRPr>
            </a:p>
          </p:txBody>
        </p:sp>
      </p:grpSp>
      <p:sp>
        <p:nvSpPr>
          <p:cNvPr id="12" name="Espace réservé du contenu 2">
            <a:extLst>
              <a:ext uri="{FF2B5EF4-FFF2-40B4-BE49-F238E27FC236}">
                <a16:creationId xmlns:a16="http://schemas.microsoft.com/office/drawing/2014/main" id="{20BE4564-CF69-5C30-E31E-CDD134C7C5E0}"/>
              </a:ext>
            </a:extLst>
          </p:cNvPr>
          <p:cNvSpPr>
            <a:spLocks noGrp="1"/>
          </p:cNvSpPr>
          <p:nvPr>
            <p:ph idx="1"/>
          </p:nvPr>
        </p:nvSpPr>
        <p:spPr>
          <a:xfrm>
            <a:off x="3194014" y="905520"/>
            <a:ext cx="8337586" cy="4453880"/>
          </a:xfrm>
          <a:solidFill>
            <a:srgbClr val="0683AA"/>
          </a:solidFill>
        </p:spPr>
        <p:txBody>
          <a:bodyPr vert="horz" lIns="91440" tIns="45720" rIns="91440" bIns="45720" rtlCol="0" anchor="t">
            <a:noAutofit/>
          </a:bodyPr>
          <a:lstStyle/>
          <a:p>
            <a:pPr marL="171450" indent="-171450">
              <a:lnSpc>
                <a:spcPct val="100000"/>
              </a:lnSpc>
              <a:spcBef>
                <a:spcPts val="800"/>
              </a:spcBef>
            </a:pPr>
            <a:r>
              <a:rPr lang="fr-FR" sz="1800">
                <a:solidFill>
                  <a:schemeClr val="bg1"/>
                </a:solidFill>
                <a:cs typeface="Calibri"/>
              </a:rPr>
              <a:t>Présentation</a:t>
            </a:r>
          </a:p>
          <a:p>
            <a:pPr marL="171450" indent="-171450">
              <a:lnSpc>
                <a:spcPct val="100000"/>
              </a:lnSpc>
              <a:spcBef>
                <a:spcPts val="800"/>
              </a:spcBef>
            </a:pPr>
            <a:r>
              <a:rPr lang="fr-FR" sz="1800">
                <a:solidFill>
                  <a:schemeClr val="bg1"/>
                </a:solidFill>
                <a:cs typeface="Calibri"/>
                <a:hlinkClick r:id="rId4" action="ppaction://hlinksldjump">
                  <a:extLst>
                    <a:ext uri="{A12FA001-AC4F-418D-AE19-62706E023703}">
                      <ahyp:hlinkClr xmlns:ahyp="http://schemas.microsoft.com/office/drawing/2018/hyperlinkcolor" val="tx"/>
                    </a:ext>
                  </a:extLst>
                </a:hlinkClick>
              </a:rPr>
              <a:t>Cas d'usage</a:t>
            </a:r>
            <a:endParaRPr lang="fr-FR" sz="1800">
              <a:solidFill>
                <a:schemeClr val="bg1"/>
              </a:solidFill>
              <a:cs typeface="Calibri"/>
            </a:endParaRPr>
          </a:p>
          <a:p>
            <a:pPr marL="171450" indent="-171450">
              <a:lnSpc>
                <a:spcPct val="100000"/>
              </a:lnSpc>
              <a:spcBef>
                <a:spcPts val="800"/>
              </a:spcBef>
            </a:pPr>
            <a:r>
              <a:rPr lang="fr-FR" sz="1800">
                <a:solidFill>
                  <a:schemeClr val="bg1"/>
                </a:solidFill>
                <a:cs typeface="Calibri"/>
              </a:rPr>
              <a:t>Ateliers</a:t>
            </a:r>
          </a:p>
          <a:p>
            <a:pPr marL="628650" lvl="1">
              <a:lnSpc>
                <a:spcPct val="100000"/>
              </a:lnSpc>
              <a:spcBef>
                <a:spcPts val="800"/>
              </a:spcBef>
            </a:pPr>
            <a:r>
              <a:rPr lang="fr-FR" sz="1800">
                <a:solidFill>
                  <a:schemeClr val="bg1"/>
                </a:solidFill>
                <a:cs typeface="Calibri"/>
                <a:hlinkClick r:id="rId5" action="ppaction://hlinksldjump">
                  <a:extLst>
                    <a:ext uri="{A12FA001-AC4F-418D-AE19-62706E023703}">
                      <ahyp:hlinkClr xmlns:ahyp="http://schemas.microsoft.com/office/drawing/2018/hyperlinkcolor" val="tx"/>
                    </a:ext>
                  </a:extLst>
                </a:hlinkClick>
              </a:rPr>
              <a:t>CCC-Goals</a:t>
            </a:r>
            <a:r>
              <a:rPr lang="fr-FR" sz="1800">
                <a:solidFill>
                  <a:schemeClr val="bg1"/>
                </a:solidFill>
                <a:cs typeface="Calibri"/>
              </a:rPr>
              <a:t> : Alignement sur les objectifs de la Communauté par sujet</a:t>
            </a:r>
          </a:p>
          <a:p>
            <a:pPr marL="628650" lvl="1">
              <a:lnSpc>
                <a:spcPct val="100000"/>
              </a:lnSpc>
              <a:spcBef>
                <a:spcPts val="800"/>
              </a:spcBef>
            </a:pPr>
            <a:r>
              <a:rPr lang="fr-FR" sz="1800">
                <a:solidFill>
                  <a:schemeClr val="bg1"/>
                </a:solidFill>
                <a:cs typeface="Calibri"/>
                <a:hlinkClick r:id="rId6" action="ppaction://hlinksldjump">
                  <a:extLst>
                    <a:ext uri="{A12FA001-AC4F-418D-AE19-62706E023703}">
                      <ahyp:hlinkClr xmlns:ahyp="http://schemas.microsoft.com/office/drawing/2018/hyperlinkcolor" val="tx"/>
                    </a:ext>
                  </a:extLst>
                </a:hlinkClick>
              </a:rPr>
              <a:t>CCC-Flow</a:t>
            </a:r>
            <a:r>
              <a:rPr lang="fr-FR" sz="1800">
                <a:solidFill>
                  <a:schemeClr val="bg1"/>
                </a:solidFill>
                <a:cs typeface="Calibri"/>
              </a:rPr>
              <a:t> : Positionnement de tous les sujets de changement pour priorisation</a:t>
            </a:r>
          </a:p>
          <a:p>
            <a:pPr marL="628650" lvl="1">
              <a:lnSpc>
                <a:spcPct val="100000"/>
              </a:lnSpc>
              <a:spcBef>
                <a:spcPts val="800"/>
              </a:spcBef>
            </a:pPr>
            <a:r>
              <a:rPr lang="fr-FR" sz="1800">
                <a:solidFill>
                  <a:schemeClr val="bg1"/>
                </a:solidFill>
                <a:cs typeface="Calibri"/>
              </a:rPr>
              <a:t>CCC-Groups : Créer des groupes de niveau par maturité dans le sujet</a:t>
            </a:r>
          </a:p>
          <a:p>
            <a:pPr marL="628650" lvl="1">
              <a:lnSpc>
                <a:spcPct val="100000"/>
              </a:lnSpc>
              <a:spcBef>
                <a:spcPts val="800"/>
              </a:spcBef>
            </a:pPr>
            <a:r>
              <a:rPr lang="fr-FR" sz="1800">
                <a:solidFill>
                  <a:schemeClr val="bg1"/>
                </a:solidFill>
                <a:cs typeface="Calibri"/>
              </a:rPr>
              <a:t>CCC-</a:t>
            </a:r>
            <a:r>
              <a:rPr lang="fr-FR" sz="1800" err="1">
                <a:solidFill>
                  <a:schemeClr val="bg1"/>
                </a:solidFill>
                <a:cs typeface="Calibri"/>
              </a:rPr>
              <a:t>Decision</a:t>
            </a:r>
            <a:r>
              <a:rPr lang="fr-FR" sz="1800">
                <a:solidFill>
                  <a:schemeClr val="bg1"/>
                </a:solidFill>
                <a:cs typeface="Calibri"/>
              </a:rPr>
              <a:t> : Décision de feuille de route et d’activités de communauté</a:t>
            </a:r>
          </a:p>
          <a:p>
            <a:pPr marL="628650" lvl="1">
              <a:lnSpc>
                <a:spcPct val="100000"/>
              </a:lnSpc>
              <a:spcBef>
                <a:spcPts val="800"/>
              </a:spcBef>
            </a:pPr>
            <a:r>
              <a:rPr lang="fr-FR" sz="1800">
                <a:solidFill>
                  <a:schemeClr val="bg1"/>
                </a:solidFill>
                <a:cs typeface="Calibri"/>
              </a:rPr>
              <a:t>CCC-</a:t>
            </a:r>
            <a:r>
              <a:rPr lang="fr-FR" sz="1800" err="1">
                <a:solidFill>
                  <a:schemeClr val="bg1"/>
                </a:solidFill>
                <a:cs typeface="Calibri"/>
              </a:rPr>
              <a:t>Ambassadors</a:t>
            </a:r>
            <a:r>
              <a:rPr lang="fr-FR" sz="1800">
                <a:solidFill>
                  <a:schemeClr val="bg1"/>
                </a:solidFill>
                <a:cs typeface="Calibri"/>
              </a:rPr>
              <a:t> : Définir un parcours d'activité et de formation pour les ambassadeurs</a:t>
            </a:r>
          </a:p>
          <a:p>
            <a:pPr marL="628650" lvl="1">
              <a:lnSpc>
                <a:spcPct val="100000"/>
              </a:lnSpc>
              <a:spcBef>
                <a:spcPts val="800"/>
              </a:spcBef>
            </a:pPr>
            <a:r>
              <a:rPr lang="fr-FR" sz="1800">
                <a:solidFill>
                  <a:schemeClr val="bg1"/>
                </a:solidFill>
                <a:cs typeface="Calibri"/>
              </a:rPr>
              <a:t>CCC-</a:t>
            </a:r>
            <a:r>
              <a:rPr lang="fr-FR" sz="1800" err="1">
                <a:solidFill>
                  <a:schemeClr val="bg1"/>
                </a:solidFill>
                <a:cs typeface="Calibri"/>
              </a:rPr>
              <a:t>Indicators</a:t>
            </a:r>
            <a:r>
              <a:rPr lang="fr-FR" sz="1800">
                <a:solidFill>
                  <a:schemeClr val="bg1"/>
                </a:solidFill>
                <a:cs typeface="Calibri"/>
              </a:rPr>
              <a:t> : Mesurer la performance des communautés</a:t>
            </a:r>
          </a:p>
          <a:p>
            <a:pPr marL="171450">
              <a:lnSpc>
                <a:spcPct val="100000"/>
              </a:lnSpc>
              <a:spcBef>
                <a:spcPts val="800"/>
              </a:spcBef>
            </a:pPr>
            <a:endParaRPr lang="fr-FR" sz="1800">
              <a:solidFill>
                <a:schemeClr val="bg1"/>
              </a:solidFill>
              <a:cs typeface="Calibri"/>
            </a:endParaRPr>
          </a:p>
          <a:p>
            <a:pPr marL="171450">
              <a:lnSpc>
                <a:spcPct val="100000"/>
              </a:lnSpc>
              <a:spcBef>
                <a:spcPts val="800"/>
              </a:spcBef>
            </a:pPr>
            <a:r>
              <a:rPr lang="fr-FR" sz="1800">
                <a:solidFill>
                  <a:schemeClr val="bg1"/>
                </a:solidFill>
                <a:cs typeface="Calibri"/>
              </a:rPr>
              <a:t>Annexes Détails sur les Phases</a:t>
            </a:r>
          </a:p>
          <a:p>
            <a:pPr marL="628650" lvl="1">
              <a:lnSpc>
                <a:spcPct val="100000"/>
              </a:lnSpc>
              <a:spcBef>
                <a:spcPts val="800"/>
              </a:spcBef>
            </a:pPr>
            <a:endParaRPr lang="fr-FR" sz="1800">
              <a:solidFill>
                <a:schemeClr val="bg1"/>
              </a:solidFill>
              <a:cs typeface="Calibri"/>
            </a:endParaRPr>
          </a:p>
        </p:txBody>
      </p:sp>
    </p:spTree>
    <p:extLst>
      <p:ext uri="{BB962C8B-B14F-4D97-AF65-F5344CB8AC3E}">
        <p14:creationId xmlns:p14="http://schemas.microsoft.com/office/powerpoint/2010/main" val="963183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0" y="321342"/>
            <a:ext cx="12192000" cy="7193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Rappel #OSC </a:t>
            </a:r>
            <a:r>
              <a:rPr lang="fr-FR" sz="3200" b="1" i="1" dirty="0">
                <a:solidFill>
                  <a:srgbClr val="ED7D31"/>
                </a:solidFill>
              </a:rPr>
              <a:t>Change</a:t>
            </a:r>
            <a:r>
              <a:rPr lang="fr-FR" sz="3200" b="1" i="1" dirty="0"/>
              <a:t> </a:t>
            </a:r>
            <a:r>
              <a:rPr lang="fr-FR" sz="3200" b="1" i="1" dirty="0">
                <a:solidFill>
                  <a:srgbClr val="0683AA"/>
                </a:solidFill>
              </a:rPr>
              <a:t>Community</a:t>
            </a:r>
            <a:r>
              <a:rPr lang="fr-FR" sz="3200" b="1" i="1" dirty="0"/>
              <a:t> Cycle </a:t>
            </a:r>
            <a:r>
              <a:rPr lang="fr-FR" sz="3200" b="1" i="1" dirty="0">
                <a:solidFill>
                  <a:srgbClr val="0683AA"/>
                </a:solidFill>
              </a:rPr>
              <a:t>Model</a:t>
            </a:r>
          </a:p>
        </p:txBody>
      </p:sp>
      <p:sp>
        <p:nvSpPr>
          <p:cNvPr id="3" name="Espace réservé du contenu 2">
            <a:extLst>
              <a:ext uri="{FF2B5EF4-FFF2-40B4-BE49-F238E27FC236}">
                <a16:creationId xmlns:a16="http://schemas.microsoft.com/office/drawing/2014/main" id="{DF78EE7E-ABD5-4B1B-86FC-39C645452F69}"/>
              </a:ext>
            </a:extLst>
          </p:cNvPr>
          <p:cNvSpPr>
            <a:spLocks noGrp="1"/>
          </p:cNvSpPr>
          <p:nvPr>
            <p:ph idx="1"/>
          </p:nvPr>
        </p:nvSpPr>
        <p:spPr>
          <a:xfrm>
            <a:off x="753862" y="1825625"/>
            <a:ext cx="3254406" cy="4351338"/>
          </a:xfrm>
          <a:solidFill>
            <a:schemeClr val="accent2"/>
          </a:solidFill>
        </p:spPr>
        <p:txBody>
          <a:bodyPr>
            <a:normAutofit lnSpcReduction="10000"/>
          </a:bodyPr>
          <a:lstStyle/>
          <a:p>
            <a:pPr marL="0" indent="0" algn="ctr">
              <a:buNone/>
            </a:pPr>
            <a:r>
              <a:rPr lang="fr-FR" sz="2400" b="1">
                <a:solidFill>
                  <a:schemeClr val="bg1"/>
                </a:solidFill>
              </a:rPr>
              <a:t>POUR QUI ?</a:t>
            </a:r>
          </a:p>
          <a:p>
            <a:pPr marL="0" indent="0" algn="ctr">
              <a:buNone/>
            </a:pPr>
            <a:r>
              <a:rPr lang="fr-FR" sz="2400">
                <a:solidFill>
                  <a:schemeClr val="bg1"/>
                </a:solidFill>
              </a:rPr>
              <a:t>3 publics cibles </a:t>
            </a:r>
          </a:p>
          <a:p>
            <a:pPr marL="0" indent="0" algn="ctr">
              <a:buNone/>
            </a:pPr>
            <a:endParaRPr lang="fr-FR" sz="2400">
              <a:solidFill>
                <a:schemeClr val="bg1"/>
              </a:solidFill>
            </a:endParaRPr>
          </a:p>
          <a:p>
            <a:pPr marL="342900" indent="-342900">
              <a:buFont typeface="+mj-lt"/>
              <a:buAutoNum type="arabicPeriod"/>
            </a:pPr>
            <a:r>
              <a:rPr lang="fr-FR" sz="1600">
                <a:solidFill>
                  <a:schemeClr val="bg1"/>
                </a:solidFill>
              </a:rPr>
              <a:t>Responsables de </a:t>
            </a:r>
            <a:r>
              <a:rPr lang="fr-FR" sz="1600" b="1">
                <a:solidFill>
                  <a:schemeClr val="bg1"/>
                </a:solidFill>
              </a:rPr>
              <a:t>COMMUNAUTÉ D’ENTREPRISE</a:t>
            </a:r>
          </a:p>
          <a:p>
            <a:pPr marL="342900" indent="-342900">
              <a:buFont typeface="+mj-lt"/>
              <a:buAutoNum type="arabicPeriod"/>
            </a:pPr>
            <a:endParaRPr lang="fr-FR" sz="1600">
              <a:solidFill>
                <a:schemeClr val="bg1"/>
              </a:solidFill>
            </a:endParaRPr>
          </a:p>
          <a:p>
            <a:pPr marL="342900" indent="-342900">
              <a:buFont typeface="+mj-lt"/>
              <a:buAutoNum type="arabicPeriod"/>
            </a:pPr>
            <a:r>
              <a:rPr lang="fr-FR" sz="1600">
                <a:solidFill>
                  <a:schemeClr val="bg1"/>
                </a:solidFill>
              </a:rPr>
              <a:t>Responsables de </a:t>
            </a:r>
            <a:r>
              <a:rPr lang="fr-FR" sz="1600" b="1">
                <a:solidFill>
                  <a:schemeClr val="bg1"/>
                </a:solidFill>
              </a:rPr>
              <a:t>COMMUNAUTÉ DE PRATIQUE OU D’APPRENTISSAGE</a:t>
            </a:r>
          </a:p>
          <a:p>
            <a:pPr marL="342900" indent="-342900">
              <a:buFont typeface="+mj-lt"/>
              <a:buAutoNum type="arabicPeriod"/>
            </a:pPr>
            <a:endParaRPr lang="fr-FR" sz="1600">
              <a:solidFill>
                <a:schemeClr val="bg1"/>
              </a:solidFill>
            </a:endParaRPr>
          </a:p>
          <a:p>
            <a:pPr marL="342900" indent="-342900">
              <a:buFont typeface="+mj-lt"/>
              <a:buAutoNum type="arabicPeriod"/>
            </a:pPr>
            <a:r>
              <a:rPr lang="fr-FR" sz="1600">
                <a:solidFill>
                  <a:schemeClr val="bg1"/>
                </a:solidFill>
              </a:rPr>
              <a:t>Responsables de </a:t>
            </a:r>
            <a:r>
              <a:rPr lang="fr-FR" sz="1600" b="1">
                <a:solidFill>
                  <a:schemeClr val="bg1"/>
                </a:solidFill>
              </a:rPr>
              <a:t>CONDUITE D’UN CHANGEMENT DE MÉTHODE / PRATIQUE / CULTURE</a:t>
            </a:r>
          </a:p>
        </p:txBody>
      </p:sp>
      <p:sp>
        <p:nvSpPr>
          <p:cNvPr id="6" name="Espace réservé du contenu 2">
            <a:extLst>
              <a:ext uri="{FF2B5EF4-FFF2-40B4-BE49-F238E27FC236}">
                <a16:creationId xmlns:a16="http://schemas.microsoft.com/office/drawing/2014/main" id="{7D0C50E7-5166-4919-8A74-4890227C3712}"/>
              </a:ext>
            </a:extLst>
          </p:cNvPr>
          <p:cNvSpPr txBox="1">
            <a:spLocks/>
          </p:cNvSpPr>
          <p:nvPr/>
        </p:nvSpPr>
        <p:spPr>
          <a:xfrm>
            <a:off x="4313068" y="1825625"/>
            <a:ext cx="3254406" cy="4351338"/>
          </a:xfrm>
          <a:prstGeom prst="rect">
            <a:avLst/>
          </a:prstGeom>
          <a:solidFill>
            <a:schemeClr val="bg1">
              <a:lumMod val="8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400" b="1"/>
              <a:t>QU’EST-CE QUE C’EST ?</a:t>
            </a:r>
          </a:p>
          <a:p>
            <a:pPr marL="0" indent="0" algn="ctr">
              <a:buFont typeface="Arial" panose="020B0604020202020204" pitchFamily="34" charset="0"/>
              <a:buNone/>
            </a:pPr>
            <a:r>
              <a:rPr lang="fr-FR" sz="2400"/>
              <a:t>3 façons de le définir</a:t>
            </a:r>
          </a:p>
          <a:p>
            <a:pPr marL="0" indent="0" algn="ctr">
              <a:buFont typeface="Arial" panose="020B0604020202020204" pitchFamily="34" charset="0"/>
              <a:buNone/>
            </a:pPr>
            <a:endParaRPr lang="fr-FR" sz="2400"/>
          </a:p>
          <a:p>
            <a:pPr marL="342900" indent="-342900">
              <a:buFont typeface="+mj-lt"/>
              <a:buAutoNum type="arabicPeriod"/>
            </a:pPr>
            <a:r>
              <a:rPr lang="fr-FR" sz="1600"/>
              <a:t>Une</a:t>
            </a:r>
            <a:r>
              <a:rPr lang="fr-FR" sz="1600" b="1"/>
              <a:t> MODÉLISATION D’UN CYCLE DE VIE </a:t>
            </a:r>
            <a:r>
              <a:rPr lang="fr-FR" sz="1600"/>
              <a:t>d’une communauté</a:t>
            </a:r>
            <a:r>
              <a:rPr lang="fr-FR" sz="1600" b="1"/>
              <a:t> </a:t>
            </a:r>
            <a:r>
              <a:rPr lang="fr-FR" sz="1600"/>
              <a:t>devant porter un changement</a:t>
            </a:r>
          </a:p>
          <a:p>
            <a:pPr marL="342900" indent="-342900">
              <a:buFont typeface="+mj-lt"/>
              <a:buAutoNum type="arabicPeriod"/>
            </a:pPr>
            <a:endParaRPr lang="fr-FR" sz="1600"/>
          </a:p>
          <a:p>
            <a:pPr marL="342900" indent="-342900">
              <a:buFont typeface="+mj-lt"/>
              <a:buAutoNum type="arabicPeriod"/>
            </a:pPr>
            <a:r>
              <a:rPr lang="fr-FR" sz="1600"/>
              <a:t>Un</a:t>
            </a:r>
            <a:r>
              <a:rPr lang="fr-FR" sz="1600" b="1"/>
              <a:t> OUTIL DE SUIVI DE SUJETS </a:t>
            </a:r>
            <a:r>
              <a:rPr lang="fr-FR" sz="1600"/>
              <a:t>de communautés devant porter</a:t>
            </a:r>
            <a:r>
              <a:rPr lang="fr-FR" sz="1600" b="1"/>
              <a:t> </a:t>
            </a:r>
            <a:r>
              <a:rPr lang="fr-FR" sz="1600"/>
              <a:t>plusieurs changements</a:t>
            </a:r>
          </a:p>
          <a:p>
            <a:pPr marL="342900" indent="-342900">
              <a:buFont typeface="+mj-lt"/>
              <a:buAutoNum type="arabicPeriod"/>
            </a:pPr>
            <a:endParaRPr lang="fr-FR" sz="1600" b="1"/>
          </a:p>
          <a:p>
            <a:pPr marL="342900" indent="-342900">
              <a:buFont typeface="+mj-lt"/>
              <a:buAutoNum type="arabicPeriod"/>
            </a:pPr>
            <a:r>
              <a:rPr lang="fr-FR" sz="1600"/>
              <a:t>Un</a:t>
            </a:r>
            <a:r>
              <a:rPr lang="fr-FR" sz="1600" b="1"/>
              <a:t> RANGEMENT </a:t>
            </a:r>
            <a:r>
              <a:rPr lang="fr-FR" sz="1600"/>
              <a:t>des activités possibles dans une communauté</a:t>
            </a:r>
          </a:p>
        </p:txBody>
      </p:sp>
      <p:sp>
        <p:nvSpPr>
          <p:cNvPr id="5" name="Espace réservé du contenu 2">
            <a:extLst>
              <a:ext uri="{FF2B5EF4-FFF2-40B4-BE49-F238E27FC236}">
                <a16:creationId xmlns:a16="http://schemas.microsoft.com/office/drawing/2014/main" id="{046CC609-D928-4880-BEBB-5946762691C6}"/>
              </a:ext>
            </a:extLst>
          </p:cNvPr>
          <p:cNvSpPr txBox="1">
            <a:spLocks/>
          </p:cNvSpPr>
          <p:nvPr/>
        </p:nvSpPr>
        <p:spPr>
          <a:xfrm>
            <a:off x="7872274" y="1825625"/>
            <a:ext cx="3254406" cy="4351338"/>
          </a:xfrm>
          <a:prstGeom prst="rect">
            <a:avLst/>
          </a:prstGeom>
          <a:solidFill>
            <a:srgbClr val="0683AA"/>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400" b="1">
                <a:solidFill>
                  <a:schemeClr val="bg1"/>
                </a:solidFill>
              </a:rPr>
              <a:t>QUELLE UTILITÉ ?</a:t>
            </a:r>
          </a:p>
          <a:p>
            <a:pPr marL="0" indent="0" algn="ctr">
              <a:buFont typeface="Arial" panose="020B0604020202020204" pitchFamily="34" charset="0"/>
              <a:buNone/>
            </a:pPr>
            <a:r>
              <a:rPr lang="fr-FR" sz="2400">
                <a:solidFill>
                  <a:schemeClr val="bg1"/>
                </a:solidFill>
              </a:rPr>
              <a:t>3 bénéfices de l’usage</a:t>
            </a:r>
          </a:p>
          <a:p>
            <a:pPr marL="0" indent="0" algn="ctr">
              <a:buFont typeface="Arial" panose="020B0604020202020204" pitchFamily="34" charset="0"/>
              <a:buNone/>
            </a:pPr>
            <a:endParaRPr lang="fr-FR" sz="2400">
              <a:solidFill>
                <a:schemeClr val="bg1"/>
              </a:solidFill>
            </a:endParaRPr>
          </a:p>
          <a:p>
            <a:pPr marL="342900" indent="-342900">
              <a:buFont typeface="+mj-lt"/>
              <a:buAutoNum type="arabicPeriod"/>
            </a:pPr>
            <a:r>
              <a:rPr lang="fr-FR" sz="1600">
                <a:solidFill>
                  <a:schemeClr val="bg1"/>
                </a:solidFill>
              </a:rPr>
              <a:t>Un meilleur</a:t>
            </a:r>
            <a:r>
              <a:rPr lang="fr-FR" sz="1600" b="1">
                <a:solidFill>
                  <a:schemeClr val="bg1"/>
                </a:solidFill>
              </a:rPr>
              <a:t> PILOTAGE </a:t>
            </a:r>
            <a:r>
              <a:rPr lang="fr-FR" sz="1600">
                <a:solidFill>
                  <a:schemeClr val="bg1"/>
                </a:solidFill>
              </a:rPr>
              <a:t>d’une communauté de changement</a:t>
            </a:r>
          </a:p>
          <a:p>
            <a:pPr marL="342900" indent="-342900">
              <a:buFont typeface="+mj-lt"/>
              <a:buAutoNum type="arabicPeriod"/>
            </a:pPr>
            <a:endParaRPr lang="fr-FR" sz="1600">
              <a:solidFill>
                <a:schemeClr val="bg1"/>
              </a:solidFill>
            </a:endParaRPr>
          </a:p>
          <a:p>
            <a:pPr marL="342900" indent="-342900">
              <a:buFont typeface="+mj-lt"/>
              <a:buAutoNum type="arabicPeriod"/>
            </a:pPr>
            <a:r>
              <a:rPr lang="fr-FR" sz="1600">
                <a:solidFill>
                  <a:schemeClr val="bg1"/>
                </a:solidFill>
              </a:rPr>
              <a:t>Une meilleure </a:t>
            </a:r>
            <a:r>
              <a:rPr lang="fr-FR" sz="1600" b="1">
                <a:solidFill>
                  <a:schemeClr val="bg1"/>
                </a:solidFill>
              </a:rPr>
              <a:t>EXPÉRIENCE MEMBRE </a:t>
            </a:r>
            <a:r>
              <a:rPr lang="fr-FR" sz="1600">
                <a:solidFill>
                  <a:schemeClr val="bg1"/>
                </a:solidFill>
              </a:rPr>
              <a:t>pour mieux avancer</a:t>
            </a:r>
          </a:p>
          <a:p>
            <a:pPr marL="342900" indent="-342900">
              <a:buFont typeface="+mj-lt"/>
              <a:buAutoNum type="arabicPeriod"/>
            </a:pPr>
            <a:endParaRPr lang="fr-FR" sz="1600" b="1">
              <a:solidFill>
                <a:schemeClr val="bg1"/>
              </a:solidFill>
            </a:endParaRPr>
          </a:p>
          <a:p>
            <a:pPr marL="342900" indent="-342900">
              <a:buFont typeface="+mj-lt"/>
              <a:buAutoNum type="arabicPeriod"/>
            </a:pPr>
            <a:r>
              <a:rPr lang="fr-FR" sz="1600">
                <a:solidFill>
                  <a:schemeClr val="bg1"/>
                </a:solidFill>
              </a:rPr>
              <a:t>Des</a:t>
            </a:r>
            <a:r>
              <a:rPr lang="fr-FR" sz="1600" b="1">
                <a:solidFill>
                  <a:schemeClr val="bg1"/>
                </a:solidFill>
              </a:rPr>
              <a:t> MESURES D’AVANCEMENT </a:t>
            </a:r>
            <a:r>
              <a:rPr lang="fr-FR" sz="1600">
                <a:solidFill>
                  <a:schemeClr val="bg1"/>
                </a:solidFill>
              </a:rPr>
              <a:t>d’une communauté de changement</a:t>
            </a:r>
          </a:p>
        </p:txBody>
      </p:sp>
    </p:spTree>
    <p:extLst>
      <p:ext uri="{BB962C8B-B14F-4D97-AF65-F5344CB8AC3E}">
        <p14:creationId xmlns:p14="http://schemas.microsoft.com/office/powerpoint/2010/main" val="1436275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40116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1980368"/>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Apprendre à structurer les activités d’une Communauté sur la base d’un modèle simple de phases, allant de l’inspiration à la fortification</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40116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1980368"/>
            <a:ext cx="2845965" cy="1690823"/>
          </a:xfrm>
          <a:prstGeom prst="rect">
            <a:avLst/>
          </a:prstGeom>
          <a:solidFill>
            <a:schemeClr val="accent2">
              <a:lumMod val="20000"/>
              <a:lumOff val="80000"/>
            </a:schemeClr>
          </a:solidFill>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Au global : Cadrer la vie opérationnelle d’une Communauté de changement en entreprise</a:t>
            </a:r>
          </a:p>
          <a:p>
            <a:pPr marL="0" indent="0">
              <a:buNone/>
            </a:pPr>
            <a:r>
              <a:rPr lang="fr-FR" sz="1200" dirty="0"/>
              <a:t>Aligner les membres d’une Communauté sur ses buts (</a:t>
            </a:r>
            <a:r>
              <a:rPr lang="fr-FR" sz="1200" b="1" dirty="0"/>
              <a:t>CCC-Goals</a:t>
            </a:r>
            <a:r>
              <a:rPr lang="fr-FR" sz="1200" dirty="0"/>
              <a:t>), Faire le point sur les niveaux de maturité de chaque sujet (</a:t>
            </a:r>
            <a:r>
              <a:rPr lang="fr-FR" sz="1200" b="1" dirty="0"/>
              <a:t>CCC-Flow</a:t>
            </a:r>
            <a:r>
              <a:rPr lang="fr-FR" sz="1200" dirty="0"/>
              <a:t>), Faire le point sur les niveaux de pratique de chacun pour un sujet donné (</a:t>
            </a:r>
            <a:r>
              <a:rPr lang="fr-FR" sz="1200" b="1" dirty="0"/>
              <a:t>CCC-Groups</a:t>
            </a:r>
            <a:r>
              <a:rPr lang="fr-FR" sz="1200" dirty="0"/>
              <a:t>), Définir ensemble un parcours d’activité (</a:t>
            </a:r>
            <a:r>
              <a:rPr lang="fr-FR" sz="1200" b="1" dirty="0"/>
              <a:t>CCC-</a:t>
            </a:r>
            <a:r>
              <a:rPr lang="fr-FR" sz="1200" b="1" dirty="0" err="1"/>
              <a:t>Decision</a:t>
            </a:r>
            <a:r>
              <a:rPr lang="fr-FR" sz="1200" b="1" dirty="0"/>
              <a:t>), </a:t>
            </a:r>
            <a:r>
              <a:rPr lang="fr-FR" sz="1200" dirty="0"/>
              <a:t>Définir ensemble le rôle des ambassadeurs (</a:t>
            </a:r>
            <a:r>
              <a:rPr lang="fr-FR" sz="1200" b="1" dirty="0"/>
              <a:t>CCC-</a:t>
            </a:r>
            <a:r>
              <a:rPr lang="fr-FR" sz="1200" b="1" dirty="0" err="1"/>
              <a:t>Ambassadors</a:t>
            </a:r>
            <a:r>
              <a:rPr lang="fr-FR" sz="1200" dirty="0"/>
              <a:t>), Définir ensemble les indicateurs d’avancement de la Communauté (</a:t>
            </a:r>
            <a:r>
              <a:rPr lang="fr-FR" sz="1200" b="1" dirty="0"/>
              <a:t>CCC-</a:t>
            </a:r>
            <a:r>
              <a:rPr lang="fr-FR" sz="1200" b="1" dirty="0" err="1"/>
              <a:t>Indicators</a:t>
            </a:r>
            <a:r>
              <a:rPr lang="fr-FR" sz="1200" dirty="0"/>
              <a:t>)</a:t>
            </a:r>
          </a:p>
          <a:p>
            <a:pPr>
              <a:buFontTx/>
              <a:buChar char="-"/>
            </a:pPr>
            <a:endParaRPr lang="fr-FR" sz="1200" dirty="0"/>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40116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1980368"/>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Responsables, animateurs d’une Communauté d’entreprise devant porter un ou des changement(s)</a:t>
            </a:r>
          </a:p>
          <a:p>
            <a:pPr marL="0" indent="0">
              <a:buNone/>
            </a:pPr>
            <a:r>
              <a:rPr lang="fr-FR" sz="1200" dirty="0"/>
              <a:t>Membres actifs d’une Communauté d’entreprise</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40116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1980368"/>
            <a:ext cx="2832018" cy="1690823"/>
          </a:xfrm>
          <a:prstGeom prst="rect">
            <a:avLst/>
          </a:prstGeom>
          <a:solidFill>
            <a:schemeClr val="bg1"/>
          </a:solidFill>
          <a:ln>
            <a:solidFill>
              <a:schemeClr val="tx1"/>
            </a:solidFill>
          </a:ln>
        </p:spPr>
        <p:txBody>
          <a:bodyPr vert="horz" lIns="91440" tIns="45720" rIns="91440" bIns="45720" rtlCol="0" anchor="t">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200" dirty="0"/>
              <a:t>Une Communauté d’entreprise XYZ qui doit porter un changement de culture, se lance et exprime le besoin de s’aligner sur les objectifs des activités. </a:t>
            </a:r>
          </a:p>
          <a:p>
            <a:pPr marL="0" indent="0" algn="ctr">
              <a:buNone/>
            </a:pPr>
            <a:r>
              <a:rPr lang="fr-FR" sz="1200" dirty="0"/>
              <a:t>Particulièrement, certains membres expérimentés craignent un effet « soufflé qui retombera vite » si la Communauté se contente de trouver au coup par coup des personnes dites inspirantes, mais sans savoir comment enchaîner les activités vers un effet réel. </a:t>
            </a:r>
          </a:p>
          <a:p>
            <a:pPr marL="0" indent="0" algn="ctr">
              <a:buNone/>
            </a:pPr>
            <a:r>
              <a:rPr lang="fr-FR" sz="1200" dirty="0"/>
              <a:t>Elle décide d’utiliser les ateliers opérationnels Change Community Cycle (CCC) pour s’aligner, mesurer, mieux choisir ses activités.</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383600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415213"/>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fr-FR" sz="1200" dirty="0"/>
              <a:t>Création d’atelier</a:t>
            </a:r>
          </a:p>
          <a:p>
            <a:pPr>
              <a:buFontTx/>
              <a:buChar char="-"/>
            </a:pPr>
            <a:r>
              <a:rPr lang="fr-FR" sz="1200" dirty="0"/>
              <a:t>Facilitation de moments collectifs</a:t>
            </a:r>
          </a:p>
          <a:p>
            <a:pPr>
              <a:buFontTx/>
              <a:buChar char="-"/>
            </a:pPr>
            <a:r>
              <a:rPr lang="fr-FR" sz="1200" dirty="0"/>
              <a:t>Détermination des sujets de la Communauté</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383600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415213"/>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30 minutes par atelier environ (sauf CCC-</a:t>
            </a:r>
            <a:r>
              <a:rPr lang="fr-FR" sz="1200" dirty="0" err="1"/>
              <a:t>Indicators</a:t>
            </a:r>
            <a:r>
              <a:rPr lang="fr-FR" sz="1200" dirty="0"/>
              <a:t>, 45 minutes)</a:t>
            </a:r>
          </a:p>
          <a:p>
            <a:pPr marL="0" indent="0">
              <a:buFont typeface="Arial" panose="020B0604020202020204" pitchFamily="34" charset="0"/>
              <a:buNone/>
            </a:pPr>
            <a:r>
              <a:rPr lang="fr-FR" sz="1200" dirty="0"/>
              <a:t>Les ateliers sont faisables en présentiel en utilisant du management visuel physique, mais sont plutôt optimisés pour du distanciel avec un mur virtuel (outils tels que Miro, Mural, Microsoft Teams </a:t>
            </a:r>
            <a:r>
              <a:rPr lang="fr-FR" sz="1200" dirty="0" err="1"/>
              <a:t>Whiteboard</a:t>
            </a:r>
            <a:r>
              <a:rPr lang="fr-FR" sz="1200" dirty="0"/>
              <a:t>, Klaxoon, etc.)</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383600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41521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fr-FR" sz="1200" dirty="0"/>
              <a:t>Atelier Topics Mapping pour classer les sujets de la Communauté</a:t>
            </a:r>
          </a:p>
          <a:p>
            <a:pPr>
              <a:buFontTx/>
              <a:buChar char="-"/>
            </a:pPr>
            <a:r>
              <a:rPr lang="fr-FR" sz="1200" dirty="0"/>
              <a:t>Tout atelier permettant de mieux cadrer les sujets de la Communauté</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3836007"/>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415213"/>
            <a:ext cx="2832018" cy="1690823"/>
          </a:xfrm>
          <a:prstGeom prst="rect">
            <a:avLst/>
          </a:prstGeom>
          <a:solidFill>
            <a:schemeClr val="bg1"/>
          </a:solidFill>
          <a:ln>
            <a:solidFill>
              <a:schemeClr val="tx1"/>
            </a:solidFill>
          </a:ln>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Il est déjà assez difficile de faire vivre une Communauté, et si en plus le </a:t>
            </a:r>
          </a:p>
          <a:p>
            <a:pPr marL="0" indent="0">
              <a:buNone/>
            </a:pPr>
            <a:r>
              <a:rPr lang="fr-FR" sz="1200" dirty="0"/>
              <a:t>Les ateliers Change Community Cycle sont un ensemble d’ateliers utilisables pour structurer avec un même modèle les activités d’une communauté, de l’alignement des membres jusqu’à la définition des indicateurs, en passant par l’auto-évaluation des niveaux de chacun ou encore l’évaluation de la maturité de chaque sujet. </a:t>
            </a:r>
          </a:p>
        </p:txBody>
      </p:sp>
      <p:sp>
        <p:nvSpPr>
          <p:cNvPr id="39" name="ZoneTexte 38">
            <a:extLst>
              <a:ext uri="{FF2B5EF4-FFF2-40B4-BE49-F238E27FC236}">
                <a16:creationId xmlns:a16="http://schemas.microsoft.com/office/drawing/2014/main" id="{EA9CEF71-4F80-8D8B-8C7E-77B195056A45}"/>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dirty="0"/>
              <a:t>Ateliers CCC – </a:t>
            </a:r>
            <a:r>
              <a:rPr lang="fr-FR" sz="3200" b="1" i="1" dirty="0">
                <a:solidFill>
                  <a:srgbClr val="ED7D31"/>
                </a:solidFill>
              </a:rPr>
              <a:t>Organisation</a:t>
            </a:r>
          </a:p>
        </p:txBody>
      </p:sp>
      <p:sp>
        <p:nvSpPr>
          <p:cNvPr id="47" name="ZoneTexte 46">
            <a:extLst>
              <a:ext uri="{FF2B5EF4-FFF2-40B4-BE49-F238E27FC236}">
                <a16:creationId xmlns:a16="http://schemas.microsoft.com/office/drawing/2014/main" id="{77368814-ECA2-E686-2EF2-F93AA01FAB48}"/>
              </a:ext>
            </a:extLst>
          </p:cNvPr>
          <p:cNvSpPr txBox="1"/>
          <p:nvPr/>
        </p:nvSpPr>
        <p:spPr>
          <a:xfrm>
            <a:off x="334775" y="6335957"/>
            <a:ext cx="11602365" cy="369332"/>
          </a:xfrm>
          <a:prstGeom prst="rect">
            <a:avLst/>
          </a:prstGeom>
          <a:noFill/>
        </p:spPr>
        <p:txBody>
          <a:bodyPr wrap="square">
            <a:spAutoFit/>
          </a:bodyPr>
          <a:lstStyle/>
          <a:p>
            <a:pPr algn="ctr"/>
            <a:r>
              <a:rPr lang="fr-FR" sz="1800" b="1" i="1">
                <a:ea typeface="+mn-lt"/>
                <a:cs typeface="+mn-lt"/>
              </a:rPr>
              <a:t>Pour vérifier que cela correspond bien à nos besoins et capacités, et pouvoir organiser facilement la session</a:t>
            </a:r>
            <a:endParaRPr lang="fr-FR" sz="1800">
              <a:ea typeface="Calibri"/>
              <a:cs typeface="Calibri"/>
            </a:endParaRPr>
          </a:p>
        </p:txBody>
      </p:sp>
    </p:spTree>
    <p:extLst>
      <p:ext uri="{BB962C8B-B14F-4D97-AF65-F5344CB8AC3E}">
        <p14:creationId xmlns:p14="http://schemas.microsoft.com/office/powerpoint/2010/main" val="2393481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181405" cy="1325563"/>
          </a:xfrm>
        </p:spPr>
        <p:txBody>
          <a:bodyPr/>
          <a:lstStyle/>
          <a:p>
            <a:r>
              <a:rPr lang="fr-FR" dirty="0"/>
              <a:t>Versions de ce document</a:t>
            </a:r>
          </a:p>
        </p:txBody>
      </p:sp>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376493563"/>
              </p:ext>
            </p:extLst>
          </p:nvPr>
        </p:nvGraphicFramePr>
        <p:xfrm>
          <a:off x="398038" y="1600835"/>
          <a:ext cx="11559273" cy="3769360"/>
        </p:xfrm>
        <a:graphic>
          <a:graphicData uri="http://schemas.openxmlformats.org/drawingml/2006/table">
            <a:tbl>
              <a:tblPr firstRow="1" bandRow="1">
                <a:tableStyleId>{21E4AEA4-8DFA-4A89-87EB-49C32662AFE0}</a:tableStyleId>
              </a:tblPr>
              <a:tblGrid>
                <a:gridCol w="699685">
                  <a:extLst>
                    <a:ext uri="{9D8B030D-6E8A-4147-A177-3AD203B41FA5}">
                      <a16:colId xmlns:a16="http://schemas.microsoft.com/office/drawing/2014/main" val="3807656759"/>
                    </a:ext>
                  </a:extLst>
                </a:gridCol>
                <a:gridCol w="2882547">
                  <a:extLst>
                    <a:ext uri="{9D8B030D-6E8A-4147-A177-3AD203B41FA5}">
                      <a16:colId xmlns:a16="http://schemas.microsoft.com/office/drawing/2014/main" val="2648948851"/>
                    </a:ext>
                  </a:extLst>
                </a:gridCol>
                <a:gridCol w="853430">
                  <a:extLst>
                    <a:ext uri="{9D8B030D-6E8A-4147-A177-3AD203B41FA5}">
                      <a16:colId xmlns:a16="http://schemas.microsoft.com/office/drawing/2014/main" val="285982558"/>
                    </a:ext>
                  </a:extLst>
                </a:gridCol>
                <a:gridCol w="7123611">
                  <a:extLst>
                    <a:ext uri="{9D8B030D-6E8A-4147-A177-3AD203B41FA5}">
                      <a16:colId xmlns:a16="http://schemas.microsoft.com/office/drawing/2014/main" val="1267208164"/>
                    </a:ext>
                  </a:extLst>
                </a:gridCol>
              </a:tblGrid>
              <a:tr h="370840">
                <a:tc gridSpan="4">
                  <a:txBody>
                    <a:bodyPr/>
                    <a:lstStyle/>
                    <a:p>
                      <a:r>
                        <a:rPr lang="fr-FR" sz="1200" dirty="0"/>
                        <a:t>Historique des versions</a:t>
                      </a:r>
                    </a:p>
                  </a:txBody>
                  <a:tcPr/>
                </a:tc>
                <a:tc hMerge="1">
                  <a:txBody>
                    <a:bodyPr/>
                    <a:lstStyle/>
                    <a:p>
                      <a:endParaRPr lang="fr-FR" sz="1200"/>
                    </a:p>
                  </a:txBody>
                  <a:tcPr/>
                </a:tc>
                <a:tc hMerge="1">
                  <a:txBody>
                    <a:bodyPr/>
                    <a:lstStyle/>
                    <a:p>
                      <a:endParaRPr lang="fr-FR" sz="1200" dirty="0"/>
                    </a:p>
                  </a:txBody>
                  <a:tcPr/>
                </a:tc>
                <a:tc hMerge="1">
                  <a:txBody>
                    <a:bodyPr/>
                    <a:lstStyle/>
                    <a:p>
                      <a:endParaRPr lang="fr-FR" sz="1200" dirty="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dirty="0">
                          <a:solidFill>
                            <a:schemeClr val="lt1"/>
                          </a:solidFill>
                          <a:latin typeface="+mn-lt"/>
                          <a:ea typeface="+mn-ea"/>
                          <a:cs typeface="+mn-cs"/>
                        </a:rPr>
                        <a:t>Contributeurs  à l’incrément / à la mise à jour</a:t>
                      </a:r>
                    </a:p>
                  </a:txBody>
                  <a:tcPr>
                    <a:solidFill>
                      <a:srgbClr val="ED7D31"/>
                    </a:solidFill>
                  </a:tcPr>
                </a:tc>
                <a:tc>
                  <a:txBody>
                    <a:bodyPr/>
                    <a:lstStyle/>
                    <a:p>
                      <a:r>
                        <a:rPr lang="fr-FR" sz="1200" b="1" kern="1200" dirty="0">
                          <a:solidFill>
                            <a:schemeClr val="lt1"/>
                          </a:solidFill>
                          <a:latin typeface="+mn-lt"/>
                          <a:ea typeface="+mn-ea"/>
                          <a:cs typeface="+mn-cs"/>
                        </a:rPr>
                        <a:t>Licence</a:t>
                      </a:r>
                    </a:p>
                  </a:txBody>
                  <a:tcPr>
                    <a:solidFill>
                      <a:srgbClr val="ED7D31"/>
                    </a:solidFill>
                  </a:tcPr>
                </a:tc>
                <a:tc>
                  <a:txBody>
                    <a:bodyPr/>
                    <a:lstStyle/>
                    <a:p>
                      <a:r>
                        <a:rPr lang="fr-FR" sz="1200" b="1" kern="1200" dirty="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dirty="0"/>
                        <a:t>0.5</a:t>
                      </a:r>
                    </a:p>
                  </a:txBody>
                  <a:tcPr/>
                </a:tc>
                <a:tc>
                  <a:txBody>
                    <a:bodyPr/>
                    <a:lstStyle/>
                    <a:p>
                      <a:r>
                        <a:rPr lang="fr-FR" sz="1200" dirty="0"/>
                        <a:t>Alexandre QUACH</a:t>
                      </a:r>
                    </a:p>
                  </a:txBody>
                  <a:tcPr/>
                </a:tc>
                <a:tc>
                  <a:txBody>
                    <a:bodyPr/>
                    <a:lstStyle/>
                    <a:p>
                      <a:r>
                        <a:rPr lang="fr-FR" sz="1200" dirty="0">
                          <a:hlinkClick r:id="rId2"/>
                        </a:rPr>
                        <a:t>CC-BY-4.0</a:t>
                      </a:r>
                      <a:endParaRPr lang="fr-FR" sz="1200" dirty="0"/>
                    </a:p>
                  </a:txBody>
                  <a:tcPr/>
                </a:tc>
                <a:tc>
                  <a:txBody>
                    <a:bodyPr/>
                    <a:lstStyle/>
                    <a:p>
                      <a:r>
                        <a:rPr lang="fr-FR" sz="1200" dirty="0"/>
                        <a:t>Première version</a:t>
                      </a:r>
                    </a:p>
                    <a:p>
                      <a:r>
                        <a:rPr lang="fr-FR" sz="1200" dirty="0"/>
                        <a:t>Description des phases et des activités</a:t>
                      </a:r>
                    </a:p>
                  </a:txBody>
                  <a:tcPr/>
                </a:tc>
                <a:extLst>
                  <a:ext uri="{0D108BD9-81ED-4DB2-BD59-A6C34878D82A}">
                    <a16:rowId xmlns:a16="http://schemas.microsoft.com/office/drawing/2014/main" val="23375005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0.7</a:t>
                      </a:r>
                    </a:p>
                    <a:p>
                      <a:endParaRPr lang="fr-FR" sz="1200" dirty="0"/>
                    </a:p>
                  </a:txBody>
                  <a:tcPr/>
                </a:tc>
                <a:tc>
                  <a:txBody>
                    <a:bodyPr/>
                    <a:lstStyle/>
                    <a:p>
                      <a:r>
                        <a:rPr lang="fr-FR" sz="1200" dirty="0"/>
                        <a:t>Alexandre QUACH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hlinkClick r:id="rId2"/>
                        </a:rPr>
                        <a:t>CC-BY-4.0</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fr-FR" sz="1200" dirty="0"/>
                        <a:t>Ajout du détail des phases</a:t>
                      </a:r>
                    </a:p>
                    <a:p>
                      <a:r>
                        <a:rPr lang="fr-FR" sz="1200" dirty="0"/>
                        <a:t>Ajout des ateliers CCC-</a:t>
                      </a:r>
                      <a:r>
                        <a:rPr lang="fr-FR" sz="1200" dirty="0" err="1"/>
                        <a:t>Decision</a:t>
                      </a:r>
                      <a:r>
                        <a:rPr lang="fr-FR" sz="1200" dirty="0"/>
                        <a:t>, CCC-</a:t>
                      </a:r>
                      <a:r>
                        <a:rPr lang="fr-FR" sz="1200" dirty="0" err="1"/>
                        <a:t>Ambassadors</a:t>
                      </a:r>
                      <a:r>
                        <a:rPr lang="fr-FR" sz="1200" dirty="0"/>
                        <a:t>, CCC-Flow, CCC-Groups, CCC-</a:t>
                      </a:r>
                      <a:r>
                        <a:rPr lang="fr-FR" sz="1200" dirty="0" err="1"/>
                        <a:t>SeriousGames</a:t>
                      </a:r>
                      <a:endParaRPr lang="fr-FR" sz="1200" dirty="0"/>
                    </a:p>
                  </a:txBody>
                  <a:tcPr/>
                </a:tc>
                <a:extLst>
                  <a:ext uri="{0D108BD9-81ED-4DB2-BD59-A6C34878D82A}">
                    <a16:rowId xmlns:a16="http://schemas.microsoft.com/office/drawing/2014/main" val="2873773566"/>
                  </a:ext>
                </a:extLst>
              </a:tr>
              <a:tr h="370840">
                <a:tc>
                  <a:txBody>
                    <a:bodyPr/>
                    <a:lstStyle/>
                    <a:p>
                      <a:r>
                        <a:rPr lang="fr-FR" sz="1200" dirty="0"/>
                        <a:t>0.8</a:t>
                      </a:r>
                    </a:p>
                  </a:txBody>
                  <a:tcPr/>
                </a:tc>
                <a:tc>
                  <a:txBody>
                    <a:bodyPr/>
                    <a:lstStyle/>
                    <a:p>
                      <a:r>
                        <a:rPr lang="fr-FR" sz="1200" dirty="0"/>
                        <a:t>Alexandre QUACH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hlinkClick r:id="rId2"/>
                        </a:rPr>
                        <a:t>CC-BY-4.0</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fr-FR" sz="1200" dirty="0"/>
                        <a:t>Ajout du détail des phases</a:t>
                      </a:r>
                    </a:p>
                    <a:p>
                      <a:r>
                        <a:rPr lang="fr-FR" sz="1200" dirty="0"/>
                        <a:t>Ajout de l’atelier CCC-Goals </a:t>
                      </a:r>
                    </a:p>
                  </a:txBody>
                  <a:tcPr/>
                </a:tc>
                <a:extLst>
                  <a:ext uri="{0D108BD9-81ED-4DB2-BD59-A6C34878D82A}">
                    <a16:rowId xmlns:a16="http://schemas.microsoft.com/office/drawing/2014/main" val="3366225516"/>
                  </a:ext>
                </a:extLst>
              </a:tr>
              <a:tr h="370840">
                <a:tc>
                  <a:txBody>
                    <a:bodyPr/>
                    <a:lstStyle/>
                    <a:p>
                      <a:r>
                        <a:rPr lang="fr-FR" sz="1200" dirty="0"/>
                        <a:t>0.9</a:t>
                      </a:r>
                    </a:p>
                  </a:txBody>
                  <a:tcPr/>
                </a:tc>
                <a:tc>
                  <a:txBody>
                    <a:bodyPr/>
                    <a:lstStyle/>
                    <a:p>
                      <a:r>
                        <a:rPr lang="fr-FR" sz="1200" dirty="0"/>
                        <a:t>Alexandre QUACH</a:t>
                      </a:r>
                    </a:p>
                    <a:p>
                      <a:r>
                        <a:rPr lang="fr-FR" sz="1200" dirty="0"/>
                        <a:t>Vanessa HELLEBUYCK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hlinkClick r:id="rId2"/>
                        </a:rPr>
                        <a:t>CC-BY-4.0</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fr-FR" sz="1200" dirty="0"/>
                        <a:t>Suppression de CCC-Serious Games (sous cas dans CCC-</a:t>
                      </a:r>
                      <a:r>
                        <a:rPr lang="fr-FR" sz="1200" dirty="0" err="1"/>
                        <a:t>Decision</a:t>
                      </a:r>
                      <a:r>
                        <a:rPr lang="fr-FR" sz="1200" dirty="0"/>
                        <a:t>)</a:t>
                      </a:r>
                    </a:p>
                    <a:p>
                      <a:r>
                        <a:rPr lang="fr-FR" sz="1200" dirty="0"/>
                        <a:t>Ajout des métadonnées pour les différents ateliers (suivant #OpenSeriousTemplate V4)</a:t>
                      </a:r>
                    </a:p>
                  </a:txBody>
                  <a:tcPr/>
                </a:tc>
                <a:extLst>
                  <a:ext uri="{0D108BD9-81ED-4DB2-BD59-A6C34878D82A}">
                    <a16:rowId xmlns:a16="http://schemas.microsoft.com/office/drawing/2014/main" val="1189766315"/>
                  </a:ext>
                </a:extLst>
              </a:tr>
              <a:tr h="370840">
                <a:tc>
                  <a:txBody>
                    <a:bodyPr/>
                    <a:lstStyle/>
                    <a:p>
                      <a:r>
                        <a:rPr lang="fr-FR" sz="1200" dirty="0"/>
                        <a:t>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Alexandre QUACH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hlinkClick r:id="rId2"/>
                        </a:rPr>
                        <a:t>CC-BY-4.0</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fr-FR" sz="1200" dirty="0"/>
                        <a:t>Ajout de l’atelier CCC-</a:t>
                      </a:r>
                      <a:r>
                        <a:rPr lang="fr-FR" sz="1200" dirty="0" err="1"/>
                        <a:t>Indicators</a:t>
                      </a:r>
                      <a:endParaRPr lang="fr-FR" sz="1200" dirty="0"/>
                    </a:p>
                  </a:txBody>
                  <a:tcPr/>
                </a:tc>
                <a:extLst>
                  <a:ext uri="{0D108BD9-81ED-4DB2-BD59-A6C34878D82A}">
                    <a16:rowId xmlns:a16="http://schemas.microsoft.com/office/drawing/2014/main" val="1217066192"/>
                  </a:ext>
                </a:extLst>
              </a:tr>
              <a:tr h="370840">
                <a:tc>
                  <a:txBody>
                    <a:bodyPr/>
                    <a:lstStyle/>
                    <a:p>
                      <a:endParaRPr lang="fr-FR" sz="1200" dirty="0"/>
                    </a:p>
                  </a:txBody>
                  <a:tcPr/>
                </a:tc>
                <a:tc>
                  <a:txBody>
                    <a:bodyPr/>
                    <a:lstStyle/>
                    <a:p>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endParaRPr lang="fr-FR" sz="1200" dirty="0"/>
                    </a:p>
                  </a:txBody>
                  <a:tcPr/>
                </a:tc>
                <a:extLst>
                  <a:ext uri="{0D108BD9-81ED-4DB2-BD59-A6C34878D82A}">
                    <a16:rowId xmlns:a16="http://schemas.microsoft.com/office/drawing/2014/main" val="3632454121"/>
                  </a:ext>
                </a:extLst>
              </a:tr>
              <a:tr h="370840">
                <a:tc>
                  <a:txBody>
                    <a:bodyPr/>
                    <a:lstStyle/>
                    <a:p>
                      <a:endParaRPr lang="fr-FR" sz="1200" dirty="0"/>
                    </a:p>
                  </a:txBody>
                  <a:tcPr/>
                </a:tc>
                <a:tc>
                  <a:txBody>
                    <a:bodyPr/>
                    <a:lstStyle/>
                    <a:p>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endParaRPr lang="fr-FR" sz="1200" dirty="0"/>
                    </a:p>
                  </a:txBody>
                  <a:tcPr/>
                </a:tc>
                <a:extLst>
                  <a:ext uri="{0D108BD9-81ED-4DB2-BD59-A6C34878D82A}">
                    <a16:rowId xmlns:a16="http://schemas.microsoft.com/office/drawing/2014/main" val="1569836102"/>
                  </a:ext>
                </a:extLst>
              </a:tr>
            </a:tbl>
          </a:graphicData>
        </a:graphic>
      </p:graphicFrame>
    </p:spTree>
    <p:extLst>
      <p:ext uri="{BB962C8B-B14F-4D97-AF65-F5344CB8AC3E}">
        <p14:creationId xmlns:p14="http://schemas.microsoft.com/office/powerpoint/2010/main" val="2545377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337A549B-FB0E-4097-A123-DE5231C2FAB3}"/>
              </a:ext>
            </a:extLst>
          </p:cNvPr>
          <p:cNvSpPr txBox="1">
            <a:spLocks/>
          </p:cNvSpPr>
          <p:nvPr/>
        </p:nvSpPr>
        <p:spPr>
          <a:xfrm>
            <a:off x="0" y="877836"/>
            <a:ext cx="12192000" cy="156119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600" b="1" i="1" dirty="0"/>
              <a:t>Change Community Cycle Model</a:t>
            </a:r>
          </a:p>
          <a:p>
            <a:pPr marL="0" indent="0" algn="ctr">
              <a:buNone/>
            </a:pPr>
            <a:r>
              <a:rPr lang="fr-FR" sz="3200" b="1" i="1" dirty="0">
                <a:solidFill>
                  <a:srgbClr val="ED7D31"/>
                </a:solidFill>
              </a:rPr>
              <a:t>Rappel</a:t>
            </a:r>
            <a:r>
              <a:rPr lang="fr-FR" sz="3200" b="1" i="1" dirty="0"/>
              <a:t> </a:t>
            </a:r>
            <a:r>
              <a:rPr lang="fr-FR" sz="3200" b="1" i="1" dirty="0">
                <a:solidFill>
                  <a:srgbClr val="0683AA"/>
                </a:solidFill>
              </a:rPr>
              <a:t>#OSC</a:t>
            </a:r>
          </a:p>
        </p:txBody>
      </p:sp>
      <p:grpSp>
        <p:nvGrpSpPr>
          <p:cNvPr id="2" name="Groupe 1">
            <a:extLst>
              <a:ext uri="{FF2B5EF4-FFF2-40B4-BE49-F238E27FC236}">
                <a16:creationId xmlns:a16="http://schemas.microsoft.com/office/drawing/2014/main" id="{F1858701-0BB0-C657-7449-017834BDC81E}"/>
              </a:ext>
            </a:extLst>
          </p:cNvPr>
          <p:cNvGrpSpPr/>
          <p:nvPr/>
        </p:nvGrpSpPr>
        <p:grpSpPr>
          <a:xfrm>
            <a:off x="4128486" y="2741150"/>
            <a:ext cx="3698197" cy="4117299"/>
            <a:chOff x="4128486" y="2379688"/>
            <a:chExt cx="3698197" cy="4117299"/>
          </a:xfrm>
        </p:grpSpPr>
        <p:pic>
          <p:nvPicPr>
            <p:cNvPr id="8" name="Graphique 7" descr="Homme tenant un panneau">
              <a:extLst>
                <a:ext uri="{FF2B5EF4-FFF2-40B4-BE49-F238E27FC236}">
                  <a16:creationId xmlns:a16="http://schemas.microsoft.com/office/drawing/2014/main" id="{D243A25C-5A0A-4F67-BC20-FCD71E7C4AF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9" name="Espace réservé du texte 15">
              <a:extLst>
                <a:ext uri="{FF2B5EF4-FFF2-40B4-BE49-F238E27FC236}">
                  <a16:creationId xmlns:a16="http://schemas.microsoft.com/office/drawing/2014/main" id="{72684439-8F46-4BB9-AF9C-82D301DB2013}"/>
                </a:ext>
              </a:extLst>
            </p:cNvPr>
            <p:cNvSpPr txBox="1">
              <a:spLocks/>
            </p:cNvSpPr>
            <p:nvPr/>
          </p:nvSpPr>
          <p:spPr>
            <a:xfrm>
              <a:off x="4472402" y="4484981"/>
              <a:ext cx="3061317" cy="17545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LE </a:t>
              </a:r>
              <a:r>
                <a:rPr lang="fr-FR" sz="3200" b="1" i="1">
                  <a:solidFill>
                    <a:srgbClr val="ED7D31"/>
                  </a:solidFill>
                </a:rPr>
                <a:t>MODELE</a:t>
              </a:r>
              <a:r>
                <a:rPr lang="fr-FR" sz="3200" b="1" i="1"/>
                <a:t> EN BREF</a:t>
              </a:r>
              <a:endParaRPr lang="fr-FR" sz="3200" b="1" i="1">
                <a:solidFill>
                  <a:srgbClr val="0683AA"/>
                </a:solidFill>
              </a:endParaRPr>
            </a:p>
            <a:p>
              <a:pPr marL="0" indent="0" algn="ctr">
                <a:buFont typeface="Arial" panose="020B0604020202020204" pitchFamily="34" charset="0"/>
                <a:buNone/>
              </a:pPr>
              <a:endParaRPr lang="fr-FR" sz="3200" b="1" i="1">
                <a:solidFill>
                  <a:srgbClr val="0683AA"/>
                </a:solidFill>
              </a:endParaRPr>
            </a:p>
          </p:txBody>
        </p:sp>
      </p:grpSp>
    </p:spTree>
    <p:extLst>
      <p:ext uri="{BB962C8B-B14F-4D97-AF65-F5344CB8AC3E}">
        <p14:creationId xmlns:p14="http://schemas.microsoft.com/office/powerpoint/2010/main" val="4221533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41EBCDB0-661C-11C1-729B-B53799CD98A4}"/>
              </a:ext>
            </a:extLst>
          </p:cNvPr>
          <p:cNvSpPr txBox="1"/>
          <p:nvPr/>
        </p:nvSpPr>
        <p:spPr>
          <a:xfrm>
            <a:off x="0" y="1"/>
            <a:ext cx="12192000" cy="954107"/>
          </a:xfrm>
          <a:prstGeom prst="rect">
            <a:avLst/>
          </a:prstGeom>
          <a:noFill/>
        </p:spPr>
        <p:txBody>
          <a:bodyPr wrap="square" lIns="91440" tIns="45720" rIns="91440" bIns="45720" rtlCol="0" anchor="t">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7 phases de vie de communautés qui portent un changement</a:t>
            </a:r>
            <a:endParaRPr lang="fr-FR" sz="2400" b="1" i="1" dirty="0">
              <a:cs typeface="Calibri"/>
            </a:endParaRPr>
          </a:p>
        </p:txBody>
      </p:sp>
      <p:pic>
        <p:nvPicPr>
          <p:cNvPr id="4" name="Graphique 3" descr="Femme portant un tailleur">
            <a:extLst>
              <a:ext uri="{FF2B5EF4-FFF2-40B4-BE49-F238E27FC236}">
                <a16:creationId xmlns:a16="http://schemas.microsoft.com/office/drawing/2014/main" id="{A0AA357D-A891-0D95-993C-96879ED55B7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9531881" y="1636808"/>
            <a:ext cx="2507330" cy="5226467"/>
          </a:xfrm>
          <a:prstGeom prst="rect">
            <a:avLst/>
          </a:prstGeom>
        </p:spPr>
      </p:pic>
      <p:sp>
        <p:nvSpPr>
          <p:cNvPr id="2" name="Bulle narrative : ronde 1">
            <a:extLst>
              <a:ext uri="{FF2B5EF4-FFF2-40B4-BE49-F238E27FC236}">
                <a16:creationId xmlns:a16="http://schemas.microsoft.com/office/drawing/2014/main" id="{F1824294-6027-5E7A-EE2B-50DC6271E00D}"/>
              </a:ext>
            </a:extLst>
          </p:cNvPr>
          <p:cNvSpPr/>
          <p:nvPr/>
        </p:nvSpPr>
        <p:spPr>
          <a:xfrm>
            <a:off x="2767694" y="2437140"/>
            <a:ext cx="5862604" cy="1416451"/>
          </a:xfrm>
          <a:prstGeom prst="wedgeEllipseCallout">
            <a:avLst>
              <a:gd name="adj1" fmla="val 88161"/>
              <a:gd name="adj2" fmla="val -4435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DANS BEAUCOUP DE COMMUNAUTES D’ENTREPRISE, ON S’IMAGINE SOUVENT QU’IL </a:t>
            </a:r>
            <a:r>
              <a:rPr lang="fr-FR" sz="1400" b="1" dirty="0">
                <a:solidFill>
                  <a:srgbClr val="ED7D31"/>
                </a:solidFill>
              </a:rPr>
              <a:t>SUFFIT </a:t>
            </a:r>
            <a:r>
              <a:rPr lang="fr-FR" sz="1400" b="1" dirty="0">
                <a:solidFill>
                  <a:schemeClr val="tx1"/>
                </a:solidFill>
              </a:rPr>
              <a:t>D’INSPIRER POUR QUE, SUBITEMENT, LES MEMBRES PASSENT A L’ACTION, L’APPLICATION, SE METTENT A PARTAGER LES BONNES PRATIQUES ET LES TRANSMETTENT.</a:t>
            </a:r>
          </a:p>
        </p:txBody>
      </p:sp>
    </p:spTree>
    <p:extLst>
      <p:ext uri="{BB962C8B-B14F-4D97-AF65-F5344CB8AC3E}">
        <p14:creationId xmlns:p14="http://schemas.microsoft.com/office/powerpoint/2010/main" val="1939526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que 4" descr="Femme portant un tailleur">
            <a:extLst>
              <a:ext uri="{FF2B5EF4-FFF2-40B4-BE49-F238E27FC236}">
                <a16:creationId xmlns:a16="http://schemas.microsoft.com/office/drawing/2014/main" id="{65386866-0216-4162-3FAF-D1D640AF72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9531881" y="1636808"/>
            <a:ext cx="2507330" cy="5226467"/>
          </a:xfrm>
          <a:prstGeom prst="rect">
            <a:avLst/>
          </a:prstGeom>
        </p:spPr>
      </p:pic>
      <p:sp>
        <p:nvSpPr>
          <p:cNvPr id="3" name="ZoneTexte 2">
            <a:extLst>
              <a:ext uri="{FF2B5EF4-FFF2-40B4-BE49-F238E27FC236}">
                <a16:creationId xmlns:a16="http://schemas.microsoft.com/office/drawing/2014/main" id="{41EBCDB0-661C-11C1-729B-B53799CD98A4}"/>
              </a:ext>
            </a:extLst>
          </p:cNvPr>
          <p:cNvSpPr txBox="1"/>
          <p:nvPr/>
        </p:nvSpPr>
        <p:spPr>
          <a:xfrm>
            <a:off x="0" y="1"/>
            <a:ext cx="12192000" cy="954107"/>
          </a:xfrm>
          <a:prstGeom prst="rect">
            <a:avLst/>
          </a:prstGeom>
          <a:noFill/>
        </p:spPr>
        <p:txBody>
          <a:bodyPr wrap="square" lIns="91440" tIns="45720" rIns="91440" bIns="45720" rtlCol="0" anchor="t">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7 phases de vie de communautés qui portent un changement</a:t>
            </a:r>
            <a:endParaRPr lang="fr-FR" sz="2400" b="1" i="1" dirty="0">
              <a:cs typeface="Calibri"/>
            </a:endParaRPr>
          </a:p>
        </p:txBody>
      </p:sp>
      <p:sp>
        <p:nvSpPr>
          <p:cNvPr id="2" name="Bulle narrative : ronde 1">
            <a:extLst>
              <a:ext uri="{FF2B5EF4-FFF2-40B4-BE49-F238E27FC236}">
                <a16:creationId xmlns:a16="http://schemas.microsoft.com/office/drawing/2014/main" id="{F1824294-6027-5E7A-EE2B-50DC6271E00D}"/>
              </a:ext>
            </a:extLst>
          </p:cNvPr>
          <p:cNvSpPr/>
          <p:nvPr/>
        </p:nvSpPr>
        <p:spPr>
          <a:xfrm>
            <a:off x="2963002" y="1722268"/>
            <a:ext cx="5862604" cy="2037075"/>
          </a:xfrm>
          <a:prstGeom prst="wedgeEllipseCallout">
            <a:avLst>
              <a:gd name="adj1" fmla="val 83921"/>
              <a:gd name="adj2" fmla="val -27526"/>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MALHEUREUSEMENT, </a:t>
            </a:r>
            <a:r>
              <a:rPr lang="fr-FR" sz="1400" b="1" dirty="0">
                <a:solidFill>
                  <a:srgbClr val="ED7D31"/>
                </a:solidFill>
              </a:rPr>
              <a:t>SUR LE TERRAIN, C’EST RAREMENT LE CAS</a:t>
            </a:r>
            <a:r>
              <a:rPr lang="fr-FR" sz="1400" b="1" dirty="0">
                <a:solidFill>
                  <a:schemeClr val="tx1"/>
                </a:solidFill>
              </a:rPr>
              <a:t>. </a:t>
            </a:r>
          </a:p>
          <a:p>
            <a:pPr algn="ctr"/>
            <a:endParaRPr lang="fr-FR" sz="1400" b="1" dirty="0">
              <a:solidFill>
                <a:schemeClr val="tx1"/>
              </a:solidFill>
            </a:endParaRPr>
          </a:p>
          <a:p>
            <a:pPr algn="ctr"/>
            <a:r>
              <a:rPr lang="fr-FR" sz="1400" b="1" dirty="0">
                <a:solidFill>
                  <a:schemeClr val="tx1"/>
                </a:solidFill>
              </a:rPr>
              <a:t>IL Y A SOUVENT UNE MOTIVATION A DECOUVRIR DE NOUVEAUX SUJETS, MAIS L’ENGOUEMENT PEUT RETOMBER DERRIERE CAR IL EST SOUVENT </a:t>
            </a:r>
            <a:r>
              <a:rPr lang="fr-FR" sz="1400" b="1" dirty="0">
                <a:solidFill>
                  <a:srgbClr val="0683AA"/>
                </a:solidFill>
              </a:rPr>
              <a:t>DIFFICILE POUR LES MEMBRES DE SAVOIR COMMENT ENCHAINER APRES L’INSPIRATION.</a:t>
            </a:r>
          </a:p>
        </p:txBody>
      </p:sp>
      <p:sp>
        <p:nvSpPr>
          <p:cNvPr id="7" name="Bulle narrative : ronde 6">
            <a:extLst>
              <a:ext uri="{FF2B5EF4-FFF2-40B4-BE49-F238E27FC236}">
                <a16:creationId xmlns:a16="http://schemas.microsoft.com/office/drawing/2014/main" id="{BFC781FA-A1C5-49F0-EACD-8F7E0F4ADB9B}"/>
              </a:ext>
            </a:extLst>
          </p:cNvPr>
          <p:cNvSpPr/>
          <p:nvPr/>
        </p:nvSpPr>
        <p:spPr>
          <a:xfrm>
            <a:off x="3385192" y="3885150"/>
            <a:ext cx="5862604" cy="1078060"/>
          </a:xfrm>
          <a:prstGeom prst="wedgeEllipseCallout">
            <a:avLst>
              <a:gd name="adj1" fmla="val -64631"/>
              <a:gd name="adj2" fmla="val -6223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OUI, </a:t>
            </a:r>
            <a:r>
              <a:rPr lang="fr-FR" sz="1400" b="1" dirty="0">
                <a:solidFill>
                  <a:srgbClr val="ED7D31"/>
                </a:solidFill>
              </a:rPr>
              <a:t>NE PAS CONFONDRE </a:t>
            </a:r>
            <a:r>
              <a:rPr lang="fr-FR" sz="1400" b="1" dirty="0">
                <a:solidFill>
                  <a:schemeClr val="tx1"/>
                </a:solidFill>
              </a:rPr>
              <a:t>LA CAPACITÉ À DÉCOUVRIR PONCTUELLEMENT ET CELLE DE S’ENGAGER DANS UN CHANGEMENT RÉEL JUSQU’AU BOUT.</a:t>
            </a:r>
          </a:p>
        </p:txBody>
      </p:sp>
      <p:pic>
        <p:nvPicPr>
          <p:cNvPr id="4" name="Graphique 3" descr="Homme en polo">
            <a:extLst>
              <a:ext uri="{FF2B5EF4-FFF2-40B4-BE49-F238E27FC236}">
                <a16:creationId xmlns:a16="http://schemas.microsoft.com/office/drawing/2014/main" id="{1543489D-41B6-906C-CEED-1737063A42F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1673"/>
          <a:stretch/>
        </p:blipFill>
        <p:spPr>
          <a:xfrm>
            <a:off x="585926" y="2752682"/>
            <a:ext cx="2377076" cy="4105317"/>
          </a:xfrm>
          <a:prstGeom prst="rect">
            <a:avLst/>
          </a:prstGeom>
        </p:spPr>
      </p:pic>
    </p:spTree>
    <p:extLst>
      <p:ext uri="{BB962C8B-B14F-4D97-AF65-F5344CB8AC3E}">
        <p14:creationId xmlns:p14="http://schemas.microsoft.com/office/powerpoint/2010/main" val="684098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e 7">
            <a:extLst>
              <a:ext uri="{FF2B5EF4-FFF2-40B4-BE49-F238E27FC236}">
                <a16:creationId xmlns:a16="http://schemas.microsoft.com/office/drawing/2014/main" id="{7514F0AD-4118-4DF7-8B7C-C3C37645C828}"/>
              </a:ext>
            </a:extLst>
          </p:cNvPr>
          <p:cNvGrpSpPr/>
          <p:nvPr/>
        </p:nvGrpSpPr>
        <p:grpSpPr>
          <a:xfrm>
            <a:off x="1068001" y="1309677"/>
            <a:ext cx="9855683" cy="1127463"/>
            <a:chOff x="11600" y="1496380"/>
            <a:chExt cx="12038120" cy="1498765"/>
          </a:xfrm>
        </p:grpSpPr>
        <p:grpSp>
          <p:nvGrpSpPr>
            <p:cNvPr id="9" name="Groupe 8">
              <a:extLst>
                <a:ext uri="{FF2B5EF4-FFF2-40B4-BE49-F238E27FC236}">
                  <a16:creationId xmlns:a16="http://schemas.microsoft.com/office/drawing/2014/main" id="{49059D4B-0690-4AA5-9D1F-4C032A212518}"/>
                </a:ext>
              </a:extLst>
            </p:cNvPr>
            <p:cNvGrpSpPr/>
            <p:nvPr/>
          </p:nvGrpSpPr>
          <p:grpSpPr>
            <a:xfrm>
              <a:off x="11600" y="2499558"/>
              <a:ext cx="12038120" cy="495587"/>
              <a:chOff x="0" y="2140394"/>
              <a:chExt cx="12854128" cy="4544491"/>
            </a:xfrm>
          </p:grpSpPr>
          <p:sp>
            <p:nvSpPr>
              <p:cNvPr id="17" name="Espace réservé du texte 15">
                <a:extLst>
                  <a:ext uri="{FF2B5EF4-FFF2-40B4-BE49-F238E27FC236}">
                    <a16:creationId xmlns:a16="http://schemas.microsoft.com/office/drawing/2014/main" id="{9FCC0275-6599-4796-A233-A498894B6C0D}"/>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18" name="Espace réservé du texte 15">
                <a:extLst>
                  <a:ext uri="{FF2B5EF4-FFF2-40B4-BE49-F238E27FC236}">
                    <a16:creationId xmlns:a16="http://schemas.microsoft.com/office/drawing/2014/main" id="{8AA2A2FE-87E7-4149-8884-DDAE98BB07C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19" name="Espace réservé du texte 15">
                <a:extLst>
                  <a:ext uri="{FF2B5EF4-FFF2-40B4-BE49-F238E27FC236}">
                    <a16:creationId xmlns:a16="http://schemas.microsoft.com/office/drawing/2014/main" id="{8CDE1810-02A8-4999-ADFF-09922FAC3DD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20" name="Espace réservé du texte 15">
                <a:extLst>
                  <a:ext uri="{FF2B5EF4-FFF2-40B4-BE49-F238E27FC236}">
                    <a16:creationId xmlns:a16="http://schemas.microsoft.com/office/drawing/2014/main" id="{7BA2D7F0-A3DD-4FD6-83DD-BED546C0484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21" name="Espace réservé du texte 15">
                <a:extLst>
                  <a:ext uri="{FF2B5EF4-FFF2-40B4-BE49-F238E27FC236}">
                    <a16:creationId xmlns:a16="http://schemas.microsoft.com/office/drawing/2014/main" id="{67BD6515-574C-4F0A-9CD8-A74C48364E2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22" name="Espace réservé du texte 15">
                <a:extLst>
                  <a:ext uri="{FF2B5EF4-FFF2-40B4-BE49-F238E27FC236}">
                    <a16:creationId xmlns:a16="http://schemas.microsoft.com/office/drawing/2014/main" id="{2B042A42-E569-4B28-872A-C98E28951B87}"/>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23" name="Espace réservé du texte 15">
                <a:extLst>
                  <a:ext uri="{FF2B5EF4-FFF2-40B4-BE49-F238E27FC236}">
                    <a16:creationId xmlns:a16="http://schemas.microsoft.com/office/drawing/2014/main" id="{E31DAE78-5A3B-4CA9-A54D-FAF714EC82E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10" name="Graphique 9" descr="Ampoule avec un remplissage uni">
              <a:extLst>
                <a:ext uri="{FF2B5EF4-FFF2-40B4-BE49-F238E27FC236}">
                  <a16:creationId xmlns:a16="http://schemas.microsoft.com/office/drawing/2014/main" id="{FB349AAF-AADF-41DE-93D7-48C1F06B48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1" name="Graphique 10" descr="Seau et pelle avec un remplissage uni">
              <a:extLst>
                <a:ext uri="{FF2B5EF4-FFF2-40B4-BE49-F238E27FC236}">
                  <a16:creationId xmlns:a16="http://schemas.microsoft.com/office/drawing/2014/main" id="{9B08672D-72F7-4A9B-AE23-80337A1C4B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2" name="Graphique 11" descr="Tubes à essai avec un remplissage uni">
              <a:extLst>
                <a:ext uri="{FF2B5EF4-FFF2-40B4-BE49-F238E27FC236}">
                  <a16:creationId xmlns:a16="http://schemas.microsoft.com/office/drawing/2014/main" id="{BBD2D793-1EF2-4CE3-B3FB-BAC0FDBAA1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3" name="Graphique 12" descr="Explosion avec un remplissage uni">
              <a:extLst>
                <a:ext uri="{FF2B5EF4-FFF2-40B4-BE49-F238E27FC236}">
                  <a16:creationId xmlns:a16="http://schemas.microsoft.com/office/drawing/2014/main" id="{A0C3FF3B-A5F0-486B-B5A1-9EAEB0D7E6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4" name="Graphique 13" descr="Trophée avec un remplissage uni">
              <a:extLst>
                <a:ext uri="{FF2B5EF4-FFF2-40B4-BE49-F238E27FC236}">
                  <a16:creationId xmlns:a16="http://schemas.microsoft.com/office/drawing/2014/main" id="{306AD822-F5E7-4634-B62B-2E287D4E872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5" name="Graphique 14" descr="Assiette couverte avec un remplissage uni">
              <a:extLst>
                <a:ext uri="{FF2B5EF4-FFF2-40B4-BE49-F238E27FC236}">
                  <a16:creationId xmlns:a16="http://schemas.microsoft.com/office/drawing/2014/main" id="{DEBE8314-024E-49D1-BEA8-63DD154BB0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6" name="Graphique 15" descr="Scène de château avec un remplissage uni">
              <a:extLst>
                <a:ext uri="{FF2B5EF4-FFF2-40B4-BE49-F238E27FC236}">
                  <a16:creationId xmlns:a16="http://schemas.microsoft.com/office/drawing/2014/main" id="{5C95DE91-A2A8-42D7-A621-02B4F0DFC4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3" name="ZoneTexte 2">
            <a:extLst>
              <a:ext uri="{FF2B5EF4-FFF2-40B4-BE49-F238E27FC236}">
                <a16:creationId xmlns:a16="http://schemas.microsoft.com/office/drawing/2014/main" id="{41EBCDB0-661C-11C1-729B-B53799CD98A4}"/>
              </a:ext>
            </a:extLst>
          </p:cNvPr>
          <p:cNvSpPr txBox="1"/>
          <p:nvPr/>
        </p:nvSpPr>
        <p:spPr>
          <a:xfrm>
            <a:off x="0" y="1"/>
            <a:ext cx="12192000" cy="954107"/>
          </a:xfrm>
          <a:prstGeom prst="rect">
            <a:avLst/>
          </a:prstGeom>
          <a:noFill/>
        </p:spPr>
        <p:txBody>
          <a:bodyPr wrap="square" lIns="91440" tIns="45720" rIns="91440" bIns="45720" rtlCol="0" anchor="t">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7 phases de vie de communautés qui portent un changement</a:t>
            </a:r>
            <a:endParaRPr lang="fr-FR" sz="2400" b="1" i="1" dirty="0">
              <a:cs typeface="Calibri"/>
            </a:endParaRPr>
          </a:p>
        </p:txBody>
      </p:sp>
      <p:pic>
        <p:nvPicPr>
          <p:cNvPr id="4" name="Graphique 3" descr="Femme portant un tailleur">
            <a:extLst>
              <a:ext uri="{FF2B5EF4-FFF2-40B4-BE49-F238E27FC236}">
                <a16:creationId xmlns:a16="http://schemas.microsoft.com/office/drawing/2014/main" id="{A0AA357D-A891-0D95-993C-96879ED55B7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flipH="1">
            <a:off x="9531881" y="1636808"/>
            <a:ext cx="2507330" cy="5226467"/>
          </a:xfrm>
          <a:prstGeom prst="rect">
            <a:avLst/>
          </a:prstGeom>
        </p:spPr>
      </p:pic>
      <p:sp>
        <p:nvSpPr>
          <p:cNvPr id="2" name="Bulle narrative : ronde 1">
            <a:extLst>
              <a:ext uri="{FF2B5EF4-FFF2-40B4-BE49-F238E27FC236}">
                <a16:creationId xmlns:a16="http://schemas.microsoft.com/office/drawing/2014/main" id="{F1824294-6027-5E7A-EE2B-50DC6271E00D}"/>
              </a:ext>
            </a:extLst>
          </p:cNvPr>
          <p:cNvSpPr/>
          <p:nvPr/>
        </p:nvSpPr>
        <p:spPr>
          <a:xfrm>
            <a:off x="2776571" y="2889000"/>
            <a:ext cx="5862604" cy="1531861"/>
          </a:xfrm>
          <a:prstGeom prst="wedgeEllipseCallout">
            <a:avLst>
              <a:gd name="adj1" fmla="val 87707"/>
              <a:gd name="adj2" fmla="val -76946"/>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LE RÔLE DE LA COMMUNAUTÉ PEUT ALORS ALLER BIEN PLUS LOIN QUE SIMPLEMENT INSPIRER. </a:t>
            </a:r>
          </a:p>
          <a:p>
            <a:pPr algn="ctr"/>
            <a:endParaRPr lang="fr-FR" sz="1400" b="1" dirty="0">
              <a:solidFill>
                <a:schemeClr val="tx1"/>
              </a:solidFill>
            </a:endParaRPr>
          </a:p>
          <a:p>
            <a:pPr algn="ctr"/>
            <a:r>
              <a:rPr lang="fr-FR" sz="1400" b="1" dirty="0">
                <a:solidFill>
                  <a:schemeClr val="tx1"/>
                </a:solidFill>
              </a:rPr>
              <a:t>ELLE PEUT ACCOMPAGNER SES MEMBRES TOUT LE LONG DE LA MISE EN PLACE D’UN CHANGEMENT PAR EXEMPLE</a:t>
            </a:r>
          </a:p>
        </p:txBody>
      </p:sp>
      <p:sp>
        <p:nvSpPr>
          <p:cNvPr id="6" name="Bulle narrative : ronde 5">
            <a:extLst>
              <a:ext uri="{FF2B5EF4-FFF2-40B4-BE49-F238E27FC236}">
                <a16:creationId xmlns:a16="http://schemas.microsoft.com/office/drawing/2014/main" id="{45B066D6-0656-CA60-3E91-DAC098544A28}"/>
              </a:ext>
            </a:extLst>
          </p:cNvPr>
          <p:cNvSpPr/>
          <p:nvPr/>
        </p:nvSpPr>
        <p:spPr>
          <a:xfrm>
            <a:off x="3438853" y="4835061"/>
            <a:ext cx="5862604" cy="1078060"/>
          </a:xfrm>
          <a:prstGeom prst="wedgeEllipseCallout">
            <a:avLst>
              <a:gd name="adj1" fmla="val -60087"/>
              <a:gd name="adj2" fmla="val -7705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EN EFFET, </a:t>
            </a:r>
            <a:r>
              <a:rPr lang="fr-FR" sz="1400" b="1" dirty="0">
                <a:solidFill>
                  <a:srgbClr val="ED7D31"/>
                </a:solidFill>
              </a:rPr>
              <a:t>TOUT CELA N’EST PAS AUTOMATIQUE OU INTUITIF POUR TOUS</a:t>
            </a:r>
            <a:r>
              <a:rPr lang="fr-FR" sz="1400" b="1" dirty="0">
                <a:solidFill>
                  <a:schemeClr val="tx1"/>
                </a:solidFill>
              </a:rPr>
              <a:t>, AVOIR UN CHEMIN PERMET D’AIDER</a:t>
            </a:r>
          </a:p>
        </p:txBody>
      </p:sp>
      <p:pic>
        <p:nvPicPr>
          <p:cNvPr id="7" name="Graphique 6" descr="Homme en polo">
            <a:extLst>
              <a:ext uri="{FF2B5EF4-FFF2-40B4-BE49-F238E27FC236}">
                <a16:creationId xmlns:a16="http://schemas.microsoft.com/office/drawing/2014/main" id="{086BA264-8198-3095-433C-9FD26016CBD2}"/>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b="41673"/>
          <a:stretch/>
        </p:blipFill>
        <p:spPr>
          <a:xfrm>
            <a:off x="585926" y="2752682"/>
            <a:ext cx="2377076" cy="4105317"/>
          </a:xfrm>
          <a:prstGeom prst="rect">
            <a:avLst/>
          </a:prstGeom>
        </p:spPr>
      </p:pic>
    </p:spTree>
    <p:extLst>
      <p:ext uri="{BB962C8B-B14F-4D97-AF65-F5344CB8AC3E}">
        <p14:creationId xmlns:p14="http://schemas.microsoft.com/office/powerpoint/2010/main" val="830060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e 7">
            <a:extLst>
              <a:ext uri="{FF2B5EF4-FFF2-40B4-BE49-F238E27FC236}">
                <a16:creationId xmlns:a16="http://schemas.microsoft.com/office/drawing/2014/main" id="{7514F0AD-4118-4DF7-8B7C-C3C37645C828}"/>
              </a:ext>
            </a:extLst>
          </p:cNvPr>
          <p:cNvGrpSpPr/>
          <p:nvPr/>
        </p:nvGrpSpPr>
        <p:grpSpPr>
          <a:xfrm>
            <a:off x="1068001" y="1309677"/>
            <a:ext cx="9855683" cy="1127463"/>
            <a:chOff x="11600" y="1496380"/>
            <a:chExt cx="12038120" cy="1498765"/>
          </a:xfrm>
        </p:grpSpPr>
        <p:grpSp>
          <p:nvGrpSpPr>
            <p:cNvPr id="9" name="Groupe 8">
              <a:extLst>
                <a:ext uri="{FF2B5EF4-FFF2-40B4-BE49-F238E27FC236}">
                  <a16:creationId xmlns:a16="http://schemas.microsoft.com/office/drawing/2014/main" id="{49059D4B-0690-4AA5-9D1F-4C032A212518}"/>
                </a:ext>
              </a:extLst>
            </p:cNvPr>
            <p:cNvGrpSpPr/>
            <p:nvPr/>
          </p:nvGrpSpPr>
          <p:grpSpPr>
            <a:xfrm>
              <a:off x="11600" y="2499558"/>
              <a:ext cx="12038120" cy="495587"/>
              <a:chOff x="0" y="2140394"/>
              <a:chExt cx="12854128" cy="4544491"/>
            </a:xfrm>
          </p:grpSpPr>
          <p:sp>
            <p:nvSpPr>
              <p:cNvPr id="17" name="Espace réservé du texte 15">
                <a:extLst>
                  <a:ext uri="{FF2B5EF4-FFF2-40B4-BE49-F238E27FC236}">
                    <a16:creationId xmlns:a16="http://schemas.microsoft.com/office/drawing/2014/main" id="{9FCC0275-6599-4796-A233-A498894B6C0D}"/>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18" name="Espace réservé du texte 15">
                <a:extLst>
                  <a:ext uri="{FF2B5EF4-FFF2-40B4-BE49-F238E27FC236}">
                    <a16:creationId xmlns:a16="http://schemas.microsoft.com/office/drawing/2014/main" id="{8AA2A2FE-87E7-4149-8884-DDAE98BB07C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19" name="Espace réservé du texte 15">
                <a:extLst>
                  <a:ext uri="{FF2B5EF4-FFF2-40B4-BE49-F238E27FC236}">
                    <a16:creationId xmlns:a16="http://schemas.microsoft.com/office/drawing/2014/main" id="{8CDE1810-02A8-4999-ADFF-09922FAC3DD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20" name="Espace réservé du texte 15">
                <a:extLst>
                  <a:ext uri="{FF2B5EF4-FFF2-40B4-BE49-F238E27FC236}">
                    <a16:creationId xmlns:a16="http://schemas.microsoft.com/office/drawing/2014/main" id="{7BA2D7F0-A3DD-4FD6-83DD-BED546C0484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21" name="Espace réservé du texte 15">
                <a:extLst>
                  <a:ext uri="{FF2B5EF4-FFF2-40B4-BE49-F238E27FC236}">
                    <a16:creationId xmlns:a16="http://schemas.microsoft.com/office/drawing/2014/main" id="{67BD6515-574C-4F0A-9CD8-A74C48364E2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22" name="Espace réservé du texte 15">
                <a:extLst>
                  <a:ext uri="{FF2B5EF4-FFF2-40B4-BE49-F238E27FC236}">
                    <a16:creationId xmlns:a16="http://schemas.microsoft.com/office/drawing/2014/main" id="{2B042A42-E569-4B28-872A-C98E28951B87}"/>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23" name="Espace réservé du texte 15">
                <a:extLst>
                  <a:ext uri="{FF2B5EF4-FFF2-40B4-BE49-F238E27FC236}">
                    <a16:creationId xmlns:a16="http://schemas.microsoft.com/office/drawing/2014/main" id="{E31DAE78-5A3B-4CA9-A54D-FAF714EC82E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10" name="Graphique 9" descr="Ampoule avec un remplissage uni">
              <a:extLst>
                <a:ext uri="{FF2B5EF4-FFF2-40B4-BE49-F238E27FC236}">
                  <a16:creationId xmlns:a16="http://schemas.microsoft.com/office/drawing/2014/main" id="{FB349AAF-AADF-41DE-93D7-48C1F06B48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1" name="Graphique 10" descr="Seau et pelle avec un remplissage uni">
              <a:extLst>
                <a:ext uri="{FF2B5EF4-FFF2-40B4-BE49-F238E27FC236}">
                  <a16:creationId xmlns:a16="http://schemas.microsoft.com/office/drawing/2014/main" id="{9B08672D-72F7-4A9B-AE23-80337A1C4B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2" name="Graphique 11" descr="Tubes à essai avec un remplissage uni">
              <a:extLst>
                <a:ext uri="{FF2B5EF4-FFF2-40B4-BE49-F238E27FC236}">
                  <a16:creationId xmlns:a16="http://schemas.microsoft.com/office/drawing/2014/main" id="{BBD2D793-1EF2-4CE3-B3FB-BAC0FDBAA1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3" name="Graphique 12" descr="Explosion avec un remplissage uni">
              <a:extLst>
                <a:ext uri="{FF2B5EF4-FFF2-40B4-BE49-F238E27FC236}">
                  <a16:creationId xmlns:a16="http://schemas.microsoft.com/office/drawing/2014/main" id="{A0C3FF3B-A5F0-486B-B5A1-9EAEB0D7E6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4" name="Graphique 13" descr="Trophée avec un remplissage uni">
              <a:extLst>
                <a:ext uri="{FF2B5EF4-FFF2-40B4-BE49-F238E27FC236}">
                  <a16:creationId xmlns:a16="http://schemas.microsoft.com/office/drawing/2014/main" id="{306AD822-F5E7-4634-B62B-2E287D4E872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5" name="Graphique 14" descr="Assiette couverte avec un remplissage uni">
              <a:extLst>
                <a:ext uri="{FF2B5EF4-FFF2-40B4-BE49-F238E27FC236}">
                  <a16:creationId xmlns:a16="http://schemas.microsoft.com/office/drawing/2014/main" id="{DEBE8314-024E-49D1-BEA8-63DD154BB0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6" name="Graphique 15" descr="Scène de château avec un remplissage uni">
              <a:extLst>
                <a:ext uri="{FF2B5EF4-FFF2-40B4-BE49-F238E27FC236}">
                  <a16:creationId xmlns:a16="http://schemas.microsoft.com/office/drawing/2014/main" id="{5C95DE91-A2A8-42D7-A621-02B4F0DFC4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3" name="ZoneTexte 2">
            <a:extLst>
              <a:ext uri="{FF2B5EF4-FFF2-40B4-BE49-F238E27FC236}">
                <a16:creationId xmlns:a16="http://schemas.microsoft.com/office/drawing/2014/main" id="{41EBCDB0-661C-11C1-729B-B53799CD98A4}"/>
              </a:ext>
            </a:extLst>
          </p:cNvPr>
          <p:cNvSpPr txBox="1"/>
          <p:nvPr/>
        </p:nvSpPr>
        <p:spPr>
          <a:xfrm>
            <a:off x="0" y="1"/>
            <a:ext cx="12192000" cy="954107"/>
          </a:xfrm>
          <a:prstGeom prst="rect">
            <a:avLst/>
          </a:prstGeom>
          <a:noFill/>
        </p:spPr>
        <p:txBody>
          <a:bodyPr wrap="square" lIns="91440" tIns="45720" rIns="91440" bIns="45720" rtlCol="0" anchor="t">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7 phases de vie de communautés qui portent un changement</a:t>
            </a:r>
            <a:endParaRPr lang="fr-FR" sz="2400" b="1" i="1" dirty="0">
              <a:cs typeface="Calibri"/>
            </a:endParaRPr>
          </a:p>
        </p:txBody>
      </p:sp>
      <p:pic>
        <p:nvPicPr>
          <p:cNvPr id="4" name="Graphique 3" descr="Femme portant un tailleur">
            <a:extLst>
              <a:ext uri="{FF2B5EF4-FFF2-40B4-BE49-F238E27FC236}">
                <a16:creationId xmlns:a16="http://schemas.microsoft.com/office/drawing/2014/main" id="{A0AA357D-A891-0D95-993C-96879ED55B7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flipH="1">
            <a:off x="9531881" y="1636808"/>
            <a:ext cx="2507330" cy="5226467"/>
          </a:xfrm>
          <a:prstGeom prst="rect">
            <a:avLst/>
          </a:prstGeom>
        </p:spPr>
      </p:pic>
      <p:sp>
        <p:nvSpPr>
          <p:cNvPr id="2" name="Bulle narrative : ronde 1">
            <a:extLst>
              <a:ext uri="{FF2B5EF4-FFF2-40B4-BE49-F238E27FC236}">
                <a16:creationId xmlns:a16="http://schemas.microsoft.com/office/drawing/2014/main" id="{F1824294-6027-5E7A-EE2B-50DC6271E00D}"/>
              </a:ext>
            </a:extLst>
          </p:cNvPr>
          <p:cNvSpPr/>
          <p:nvPr/>
        </p:nvSpPr>
        <p:spPr>
          <a:xfrm>
            <a:off x="2810217" y="2437141"/>
            <a:ext cx="5862604" cy="2104710"/>
          </a:xfrm>
          <a:prstGeom prst="wedgeEllipseCallout">
            <a:avLst>
              <a:gd name="adj1" fmla="val 88464"/>
              <a:gd name="adj2" fmla="val -53059"/>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POUR DES </a:t>
            </a:r>
            <a:r>
              <a:rPr lang="fr-FR" sz="1400" b="1" dirty="0">
                <a:solidFill>
                  <a:srgbClr val="ED7D31"/>
                </a:solidFill>
              </a:rPr>
              <a:t>COMMUNAUTÉS D’ENTREPRISE QUI PORTENT DES CHANGEMENTS</a:t>
            </a:r>
            <a:r>
              <a:rPr lang="fr-FR" sz="1400" b="1" dirty="0">
                <a:solidFill>
                  <a:schemeClr val="tx1"/>
                </a:solidFill>
              </a:rPr>
              <a:t>, ON PEUT REPRÉSENTER UN CYCLE DE VIE DES SUJETS ET DES ACTIVITÉS SELON DIFFÉRENTES PHASES.</a:t>
            </a:r>
          </a:p>
          <a:p>
            <a:pPr algn="ctr"/>
            <a:r>
              <a:rPr lang="fr-FR" sz="1400" b="1" dirty="0">
                <a:solidFill>
                  <a:srgbClr val="0683AA"/>
                </a:solidFill>
              </a:rPr>
              <a:t>CE CYCLE DE VIE EST LE CHANGE COMMUNITY CYCLE </a:t>
            </a:r>
            <a:r>
              <a:rPr lang="fr-FR" sz="1400" b="1" dirty="0">
                <a:solidFill>
                  <a:schemeClr val="tx1"/>
                </a:solidFill>
              </a:rPr>
              <a:t>(CCC), ET PERMET DE MIEUX ORGANISER LES ACTIVITÉS, SE METTRE D’ACCORD, AVANCER ENSEMBLE.</a:t>
            </a:r>
          </a:p>
        </p:txBody>
      </p:sp>
    </p:spTree>
    <p:extLst>
      <p:ext uri="{BB962C8B-B14F-4D97-AF65-F5344CB8AC3E}">
        <p14:creationId xmlns:p14="http://schemas.microsoft.com/office/powerpoint/2010/main" val="3224028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76940" y="2380093"/>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INSPIRATION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5" name="Espace réservé du texte 15">
            <a:extLst>
              <a:ext uri="{FF2B5EF4-FFF2-40B4-BE49-F238E27FC236}">
                <a16:creationId xmlns:a16="http://schemas.microsoft.com/office/drawing/2014/main" id="{23E86B51-FA39-4CBD-AD4C-8049BC1B2F26}"/>
              </a:ext>
            </a:extLst>
          </p:cNvPr>
          <p:cNvSpPr txBox="1">
            <a:spLocks/>
          </p:cNvSpPr>
          <p:nvPr/>
        </p:nvSpPr>
        <p:spPr>
          <a:xfrm>
            <a:off x="1814587" y="2380093"/>
            <a:ext cx="1612936" cy="4153873"/>
          </a:xfrm>
          <a:prstGeom prst="rect">
            <a:avLst/>
          </a:prstGeom>
          <a:solidFill>
            <a:schemeClr val="bg1">
              <a:lumMod val="95000"/>
            </a:schemeClr>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COLLECTE</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6" name="Espace réservé du texte 15">
            <a:extLst>
              <a:ext uri="{FF2B5EF4-FFF2-40B4-BE49-F238E27FC236}">
                <a16:creationId xmlns:a16="http://schemas.microsoft.com/office/drawing/2014/main" id="{DCEA1CF7-5098-45F5-9E5A-1A665AE76AA5}"/>
              </a:ext>
            </a:extLst>
          </p:cNvPr>
          <p:cNvSpPr txBox="1">
            <a:spLocks/>
          </p:cNvSpPr>
          <p:nvPr/>
        </p:nvSpPr>
        <p:spPr>
          <a:xfrm>
            <a:off x="3542465" y="2380093"/>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INITIATION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7" name="Espace réservé du texte 15">
            <a:extLst>
              <a:ext uri="{FF2B5EF4-FFF2-40B4-BE49-F238E27FC236}">
                <a16:creationId xmlns:a16="http://schemas.microsoft.com/office/drawing/2014/main" id="{5F1F4080-42EC-4FC1-83FE-4D07E5D89749}"/>
              </a:ext>
            </a:extLst>
          </p:cNvPr>
          <p:cNvSpPr txBox="1">
            <a:spLocks/>
          </p:cNvSpPr>
          <p:nvPr/>
        </p:nvSpPr>
        <p:spPr>
          <a:xfrm>
            <a:off x="5289881" y="2380092"/>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CHOC DE LA RÉALITÉ</a:t>
            </a:r>
          </a:p>
          <a:p>
            <a:pPr marL="0" indent="0" algn="ctr">
              <a:buFont typeface="Arial" panose="020B0604020202020204" pitchFamily="34" charset="0"/>
              <a:buNone/>
            </a:pPr>
            <a:endParaRPr lang="fr-FR" sz="1400" b="1" i="1"/>
          </a:p>
          <a:p>
            <a:pPr marL="0" indent="0" algn="ctr">
              <a:buFont typeface="Arial" panose="020B0604020202020204" pitchFamily="34" charset="0"/>
              <a:buNone/>
            </a:pPr>
            <a:endParaRPr lang="fr-FR" sz="1400" b="1" i="1">
              <a:solidFill>
                <a:srgbClr val="ED7D31"/>
              </a:solidFill>
            </a:endParaRPr>
          </a:p>
        </p:txBody>
      </p:sp>
      <p:sp>
        <p:nvSpPr>
          <p:cNvPr id="8" name="Espace réservé du texte 15">
            <a:extLst>
              <a:ext uri="{FF2B5EF4-FFF2-40B4-BE49-F238E27FC236}">
                <a16:creationId xmlns:a16="http://schemas.microsoft.com/office/drawing/2014/main" id="{E57CB1DC-1737-4DED-8CD1-015F73A9E762}"/>
              </a:ext>
            </a:extLst>
          </p:cNvPr>
          <p:cNvSpPr txBox="1">
            <a:spLocks/>
          </p:cNvSpPr>
          <p:nvPr/>
        </p:nvSpPr>
        <p:spPr>
          <a:xfrm>
            <a:off x="7027528" y="2380091"/>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CONFIRMATION DE RÉUSSITES</a:t>
            </a:r>
          </a:p>
          <a:p>
            <a:pPr marL="0" indent="0" algn="ctr">
              <a:buFont typeface="Arial" panose="020B0604020202020204" pitchFamily="34" charset="0"/>
              <a:buNone/>
            </a:pPr>
            <a:endParaRPr lang="fr-FR" sz="1400" b="1" i="1">
              <a:solidFill>
                <a:srgbClr val="ED7D31"/>
              </a:solidFill>
            </a:endParaRPr>
          </a:p>
        </p:txBody>
      </p:sp>
      <p:sp>
        <p:nvSpPr>
          <p:cNvPr id="9" name="Espace réservé du texte 15">
            <a:extLst>
              <a:ext uri="{FF2B5EF4-FFF2-40B4-BE49-F238E27FC236}">
                <a16:creationId xmlns:a16="http://schemas.microsoft.com/office/drawing/2014/main" id="{29FC12E0-DC63-458D-84A8-5F7598EFD3A6}"/>
              </a:ext>
            </a:extLst>
          </p:cNvPr>
          <p:cNvSpPr txBox="1">
            <a:spLocks/>
          </p:cNvSpPr>
          <p:nvPr/>
        </p:nvSpPr>
        <p:spPr>
          <a:xfrm>
            <a:off x="8765175" y="2380091"/>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EXPOSITION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10" name="Espace réservé du texte 15">
            <a:extLst>
              <a:ext uri="{FF2B5EF4-FFF2-40B4-BE49-F238E27FC236}">
                <a16:creationId xmlns:a16="http://schemas.microsoft.com/office/drawing/2014/main" id="{930D1EF3-800C-4412-94CD-8A6C1D2C9DCE}"/>
              </a:ext>
            </a:extLst>
          </p:cNvPr>
          <p:cNvSpPr txBox="1">
            <a:spLocks/>
          </p:cNvSpPr>
          <p:nvPr/>
        </p:nvSpPr>
        <p:spPr>
          <a:xfrm>
            <a:off x="10502124" y="2380091"/>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FORTIFICATION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6208" y="1376914"/>
            <a:ext cx="914400" cy="914400"/>
          </a:xfrm>
          <a:prstGeom prst="rect">
            <a:avLst/>
          </a:prstGeom>
        </p:spPr>
      </p:pic>
      <p:pic>
        <p:nvPicPr>
          <p:cNvPr id="15" name="Graphique 14" descr="Seau et pelle avec un remplissage uni">
            <a:extLst>
              <a:ext uri="{FF2B5EF4-FFF2-40B4-BE49-F238E27FC236}">
                <a16:creationId xmlns:a16="http://schemas.microsoft.com/office/drawing/2014/main" id="{46829467-21FA-4B4E-BE9A-EAB8FA3E7D6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63855" y="1376914"/>
            <a:ext cx="914400" cy="914400"/>
          </a:xfrm>
          <a:prstGeom prst="rect">
            <a:avLst/>
          </a:prstGeom>
        </p:spPr>
      </p:pic>
      <p:pic>
        <p:nvPicPr>
          <p:cNvPr id="17" name="Graphique 16" descr="Tubes à essai avec un remplissage uni">
            <a:extLst>
              <a:ext uri="{FF2B5EF4-FFF2-40B4-BE49-F238E27FC236}">
                <a16:creationId xmlns:a16="http://schemas.microsoft.com/office/drawing/2014/main" id="{1F9FDC87-CE72-456E-B0B7-5FDFF30853D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98543" y="1376914"/>
            <a:ext cx="914400" cy="914400"/>
          </a:xfrm>
          <a:prstGeom prst="rect">
            <a:avLst/>
          </a:prstGeom>
        </p:spPr>
      </p:pic>
      <p:pic>
        <p:nvPicPr>
          <p:cNvPr id="19" name="Graphique 18" descr="Explosion avec un remplissage uni">
            <a:extLst>
              <a:ext uri="{FF2B5EF4-FFF2-40B4-BE49-F238E27FC236}">
                <a16:creationId xmlns:a16="http://schemas.microsoft.com/office/drawing/2014/main" id="{07D3CFFC-A08F-48DF-92E1-298FC228961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638800" y="1376914"/>
            <a:ext cx="914400" cy="914400"/>
          </a:xfrm>
          <a:prstGeom prst="rect">
            <a:avLst/>
          </a:prstGeom>
        </p:spPr>
      </p:pic>
      <p:pic>
        <p:nvPicPr>
          <p:cNvPr id="21" name="Graphique 20" descr="Trophée avec un remplissage uni">
            <a:extLst>
              <a:ext uri="{FF2B5EF4-FFF2-40B4-BE49-F238E27FC236}">
                <a16:creationId xmlns:a16="http://schemas.microsoft.com/office/drawing/2014/main" id="{6AB28851-209C-4763-9114-2EBE084DA8F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79057" y="1376914"/>
            <a:ext cx="914400" cy="914400"/>
          </a:xfrm>
          <a:prstGeom prst="rect">
            <a:avLst/>
          </a:prstGeom>
        </p:spPr>
      </p:pic>
      <p:pic>
        <p:nvPicPr>
          <p:cNvPr id="23" name="Graphique 22" descr="Assiette couverte avec un remplissage uni">
            <a:extLst>
              <a:ext uri="{FF2B5EF4-FFF2-40B4-BE49-F238E27FC236}">
                <a16:creationId xmlns:a16="http://schemas.microsoft.com/office/drawing/2014/main" id="{8DA0FBC4-2DE3-44A1-8FCC-F02BB199D64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113745" y="1376914"/>
            <a:ext cx="914400" cy="914400"/>
          </a:xfrm>
          <a:prstGeom prst="rect">
            <a:avLst/>
          </a:prstGeom>
        </p:spPr>
      </p:pic>
      <p:pic>
        <p:nvPicPr>
          <p:cNvPr id="25" name="Graphique 24" descr="Scène de château avec un remplissage uni">
            <a:extLst>
              <a:ext uri="{FF2B5EF4-FFF2-40B4-BE49-F238E27FC236}">
                <a16:creationId xmlns:a16="http://schemas.microsoft.com/office/drawing/2014/main" id="{42BAF03C-9B45-4E5C-B521-13100631396C}"/>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848433" y="1376914"/>
            <a:ext cx="914400" cy="914400"/>
          </a:xfrm>
          <a:prstGeom prst="rect">
            <a:avLst/>
          </a:prstGeom>
        </p:spPr>
      </p:pic>
      <p:sp>
        <p:nvSpPr>
          <p:cNvPr id="20" name="ZoneTexte 19">
            <a:extLst>
              <a:ext uri="{FF2B5EF4-FFF2-40B4-BE49-F238E27FC236}">
                <a16:creationId xmlns:a16="http://schemas.microsoft.com/office/drawing/2014/main" id="{056C6231-5CED-4F4B-861D-34C3031B96E5}"/>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Identification des phases – Etat des membres</a:t>
            </a:r>
          </a:p>
        </p:txBody>
      </p:sp>
      <p:sp>
        <p:nvSpPr>
          <p:cNvPr id="18" name="ZoneTexte 17">
            <a:extLst>
              <a:ext uri="{FF2B5EF4-FFF2-40B4-BE49-F238E27FC236}">
                <a16:creationId xmlns:a16="http://schemas.microsoft.com/office/drawing/2014/main" id="{5F99F095-521F-9FCE-B99A-F0E0BFB0A25F}"/>
              </a:ext>
            </a:extLst>
          </p:cNvPr>
          <p:cNvSpPr txBox="1"/>
          <p:nvPr/>
        </p:nvSpPr>
        <p:spPr>
          <a:xfrm>
            <a:off x="5260098" y="3296117"/>
            <a:ext cx="1612937"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1ère idée de ce qu’est le changement appliqué en-dehors de la vie de la communauté.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maintenant la découverte des résistances, freins et obstacles à franchir.</a:t>
            </a:r>
          </a:p>
        </p:txBody>
      </p:sp>
      <p:sp>
        <p:nvSpPr>
          <p:cNvPr id="22" name="ZoneTexte 21">
            <a:extLst>
              <a:ext uri="{FF2B5EF4-FFF2-40B4-BE49-F238E27FC236}">
                <a16:creationId xmlns:a16="http://schemas.microsoft.com/office/drawing/2014/main" id="{2503B351-31E1-C19E-8A1D-6BB08D62F846}"/>
              </a:ext>
            </a:extLst>
          </p:cNvPr>
          <p:cNvSpPr txBox="1"/>
          <p:nvPr/>
        </p:nvSpPr>
        <p:spPr>
          <a:xfrm>
            <a:off x="7026830" y="3313071"/>
            <a:ext cx="1612936"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mieux compris comment surmonter les défis.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Les réussites récentes doivent maintenant surmonter le défi du temps et des aléas.</a:t>
            </a:r>
          </a:p>
        </p:txBody>
      </p:sp>
      <p:sp>
        <p:nvSpPr>
          <p:cNvPr id="24" name="ZoneTexte 23">
            <a:extLst>
              <a:ext uri="{FF2B5EF4-FFF2-40B4-BE49-F238E27FC236}">
                <a16:creationId xmlns:a16="http://schemas.microsoft.com/office/drawing/2014/main" id="{D8DD7E8E-1513-0D44-2253-A53585510C1C}"/>
              </a:ext>
            </a:extLst>
          </p:cNvPr>
          <p:cNvSpPr txBox="1"/>
          <p:nvPr/>
        </p:nvSpPr>
        <p:spPr>
          <a:xfrm>
            <a:off x="8767966" y="3324830"/>
            <a:ext cx="1612936" cy="3046988"/>
          </a:xfrm>
          <a:prstGeom prst="rect">
            <a:avLst/>
          </a:prstGeom>
          <a:noFill/>
        </p:spPr>
        <p:txBody>
          <a:bodyPr wrap="square" lIns="91440" tIns="45720" rIns="91440" bIns="45720" anchor="t">
            <a:spAutoFit/>
          </a:bodyPr>
          <a:lstStyle/>
          <a:p>
            <a:pPr algn="ctr"/>
            <a:r>
              <a:rPr lang="fr-FR" sz="1200" b="1" i="1"/>
              <a:t>Les membres ont une idée de l’effet du changement au sein de leur propre communauté.</a:t>
            </a:r>
            <a:endParaRPr lang="fr-FR" sz="1200" b="1" i="1">
              <a:cs typeface="Calibri"/>
            </a:endParaRP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r>
              <a:rPr lang="fr-FR" sz="1200" b="1" i="1">
                <a:solidFill>
                  <a:srgbClr val="ED7D31"/>
                </a:solidFill>
              </a:rPr>
              <a:t>Il y a maintenant les opportunités d’apporter ces impacts positifs , au-delà du périmètre initial.</a:t>
            </a:r>
            <a:endParaRPr lang="fr-FR" sz="1200" b="1" i="1">
              <a:solidFill>
                <a:srgbClr val="000000"/>
              </a:solidFill>
              <a:cs typeface="Calibri" panose="020F0502020204030204"/>
            </a:endParaRPr>
          </a:p>
        </p:txBody>
      </p:sp>
      <p:sp>
        <p:nvSpPr>
          <p:cNvPr id="26" name="ZoneTexte 25">
            <a:extLst>
              <a:ext uri="{FF2B5EF4-FFF2-40B4-BE49-F238E27FC236}">
                <a16:creationId xmlns:a16="http://schemas.microsoft.com/office/drawing/2014/main" id="{7BF766F1-A028-F7CF-80A5-0BD7D1862F16}"/>
              </a:ext>
            </a:extLst>
          </p:cNvPr>
          <p:cNvSpPr txBox="1"/>
          <p:nvPr/>
        </p:nvSpPr>
        <p:spPr>
          <a:xfrm>
            <a:off x="10504915" y="3324830"/>
            <a:ext cx="1612936" cy="3231654"/>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idée de comment s’impliquer dans ce changement.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peut-être conflit de priorités avec les autres engagements, en dehors de la vie de la communauté. Il est temps de systématiser le changement.</a:t>
            </a:r>
          </a:p>
        </p:txBody>
      </p:sp>
      <p:sp>
        <p:nvSpPr>
          <p:cNvPr id="27" name="ZoneTexte 26">
            <a:extLst>
              <a:ext uri="{FF2B5EF4-FFF2-40B4-BE49-F238E27FC236}">
                <a16:creationId xmlns:a16="http://schemas.microsoft.com/office/drawing/2014/main" id="{E2DF1D18-DF56-566C-ABA8-C76E13075EE6}"/>
              </a:ext>
            </a:extLst>
          </p:cNvPr>
          <p:cNvSpPr txBox="1"/>
          <p:nvPr/>
        </p:nvSpPr>
        <p:spPr>
          <a:xfrm>
            <a:off x="3546301" y="3296117"/>
            <a:ext cx="1612936"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idée plus claire de ce que seraient les résultats du changement.</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une différence entre les ambitions, et l’état de pratique réel (qui est quasi nul) .</a:t>
            </a:r>
          </a:p>
        </p:txBody>
      </p:sp>
      <p:sp>
        <p:nvSpPr>
          <p:cNvPr id="28" name="ZoneTexte 27">
            <a:extLst>
              <a:ext uri="{FF2B5EF4-FFF2-40B4-BE49-F238E27FC236}">
                <a16:creationId xmlns:a16="http://schemas.microsoft.com/office/drawing/2014/main" id="{A71E92C7-0697-4243-C31D-31063217B0F2}"/>
              </a:ext>
            </a:extLst>
          </p:cNvPr>
          <p:cNvSpPr txBox="1"/>
          <p:nvPr/>
        </p:nvSpPr>
        <p:spPr>
          <a:xfrm>
            <a:off x="1813191" y="3308785"/>
            <a:ext cx="1617123" cy="2862322"/>
          </a:xfrm>
          <a:prstGeom prst="rect">
            <a:avLst/>
          </a:prstGeom>
          <a:noFill/>
        </p:spPr>
        <p:txBody>
          <a:bodyPr wrap="square">
            <a:spAutoFit/>
          </a:bodyPr>
          <a:lstStyle/>
          <a:p>
            <a:pPr marL="0" indent="0" algn="ctr">
              <a:buNone/>
            </a:pPr>
            <a:r>
              <a:rPr lang="fr-FR" sz="1200" b="1" i="1"/>
              <a:t>Les membres ont une vague idée de ce que serait le changement. </a:t>
            </a: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solidFill>
                <a:srgbClr val="ED7D31"/>
              </a:solidFill>
            </a:endParaRPr>
          </a:p>
          <a:p>
            <a:pPr marL="0" indent="0" algn="ctr">
              <a:buNone/>
            </a:pPr>
            <a:r>
              <a:rPr lang="fr-FR" sz="1200" b="1" i="1">
                <a:solidFill>
                  <a:srgbClr val="ED7D31"/>
                </a:solidFill>
              </a:rPr>
              <a:t>Il y a de la crainte de ne pas être impliqués dès le départ ou face à la charge d’implication. </a:t>
            </a:r>
          </a:p>
        </p:txBody>
      </p:sp>
      <p:sp>
        <p:nvSpPr>
          <p:cNvPr id="30" name="ZoneTexte 29">
            <a:extLst>
              <a:ext uri="{FF2B5EF4-FFF2-40B4-BE49-F238E27FC236}">
                <a16:creationId xmlns:a16="http://schemas.microsoft.com/office/drawing/2014/main" id="{0C0C9FD2-7A5C-244B-5E08-3246665ABCC5}"/>
              </a:ext>
            </a:extLst>
          </p:cNvPr>
          <p:cNvSpPr txBox="1"/>
          <p:nvPr/>
        </p:nvSpPr>
        <p:spPr>
          <a:xfrm>
            <a:off x="79034" y="3308785"/>
            <a:ext cx="1605258" cy="2677656"/>
          </a:xfrm>
          <a:prstGeom prst="rect">
            <a:avLst/>
          </a:prstGeom>
          <a:noFill/>
        </p:spPr>
        <p:txBody>
          <a:bodyPr wrap="square">
            <a:spAutoFit/>
          </a:bodyPr>
          <a:lstStyle/>
          <a:p>
            <a:pPr marL="0" indent="0" algn="ctr">
              <a:buFont typeface="Arial" panose="020B0604020202020204" pitchFamily="34" charset="0"/>
              <a:buNone/>
            </a:pPr>
            <a:r>
              <a:rPr lang="fr-FR" sz="1200" b="1" i="1"/>
              <a:t>Aucun membre ne sait ce qu’est le sujet-même du changement.</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est difficile d'impliquer sans une première sensibilisation.</a:t>
            </a:r>
          </a:p>
        </p:txBody>
      </p:sp>
      <p:grpSp>
        <p:nvGrpSpPr>
          <p:cNvPr id="47" name="Groupe 46">
            <a:extLst>
              <a:ext uri="{FF2B5EF4-FFF2-40B4-BE49-F238E27FC236}">
                <a16:creationId xmlns:a16="http://schemas.microsoft.com/office/drawing/2014/main" id="{C0299D21-F86E-43B5-D527-AF36A58F92DE}"/>
              </a:ext>
            </a:extLst>
          </p:cNvPr>
          <p:cNvGrpSpPr/>
          <p:nvPr/>
        </p:nvGrpSpPr>
        <p:grpSpPr>
          <a:xfrm>
            <a:off x="634441" y="4645594"/>
            <a:ext cx="10993156" cy="568228"/>
            <a:chOff x="634441" y="4352625"/>
            <a:chExt cx="10993156" cy="568228"/>
          </a:xfrm>
        </p:grpSpPr>
        <p:pic>
          <p:nvPicPr>
            <p:cNvPr id="32" name="Graphique 31" descr="Personne avec une idée contour">
              <a:extLst>
                <a:ext uri="{FF2B5EF4-FFF2-40B4-BE49-F238E27FC236}">
                  <a16:creationId xmlns:a16="http://schemas.microsoft.com/office/drawing/2014/main" id="{B4C1EA9D-1DBF-E598-F148-44DBA80F067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4441" y="4352625"/>
              <a:ext cx="532925" cy="532925"/>
            </a:xfrm>
            <a:prstGeom prst="rect">
              <a:avLst/>
            </a:prstGeom>
          </p:spPr>
        </p:pic>
        <p:pic>
          <p:nvPicPr>
            <p:cNvPr id="34" name="Graphique 33" descr="Personne avec une idée contour">
              <a:extLst>
                <a:ext uri="{FF2B5EF4-FFF2-40B4-BE49-F238E27FC236}">
                  <a16:creationId xmlns:a16="http://schemas.microsoft.com/office/drawing/2014/main" id="{A6CB66F6-4EBF-045D-0A4B-94A46AB2017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380403" y="4352625"/>
              <a:ext cx="532925" cy="532925"/>
            </a:xfrm>
            <a:prstGeom prst="rect">
              <a:avLst/>
            </a:prstGeom>
          </p:spPr>
        </p:pic>
        <p:pic>
          <p:nvPicPr>
            <p:cNvPr id="35" name="Graphique 34" descr="Personne avec une idée contour">
              <a:extLst>
                <a:ext uri="{FF2B5EF4-FFF2-40B4-BE49-F238E27FC236}">
                  <a16:creationId xmlns:a16="http://schemas.microsoft.com/office/drawing/2014/main" id="{E37CEB7A-D164-7A93-564E-954320C848E6}"/>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128345" y="4368759"/>
              <a:ext cx="532925" cy="532925"/>
            </a:xfrm>
            <a:prstGeom prst="rect">
              <a:avLst/>
            </a:prstGeom>
          </p:spPr>
        </p:pic>
        <p:pic>
          <p:nvPicPr>
            <p:cNvPr id="36" name="Graphique 35" descr="Personne avec une idée contour">
              <a:extLst>
                <a:ext uri="{FF2B5EF4-FFF2-40B4-BE49-F238E27FC236}">
                  <a16:creationId xmlns:a16="http://schemas.microsoft.com/office/drawing/2014/main" id="{30E36BE8-4445-4571-A588-5FE322508EDB}"/>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900229" y="4354127"/>
              <a:ext cx="532925" cy="532925"/>
            </a:xfrm>
            <a:prstGeom prst="rect">
              <a:avLst/>
            </a:prstGeom>
          </p:spPr>
        </p:pic>
        <p:pic>
          <p:nvPicPr>
            <p:cNvPr id="37" name="Graphique 36" descr="Personne avec une idée contour">
              <a:extLst>
                <a:ext uri="{FF2B5EF4-FFF2-40B4-BE49-F238E27FC236}">
                  <a16:creationId xmlns:a16="http://schemas.microsoft.com/office/drawing/2014/main" id="{F222F273-4CDA-5BF1-DEC7-F9A1302AA9E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640826" y="4368758"/>
              <a:ext cx="532925" cy="532925"/>
            </a:xfrm>
            <a:prstGeom prst="rect">
              <a:avLst/>
            </a:prstGeom>
          </p:spPr>
        </p:pic>
        <p:pic>
          <p:nvPicPr>
            <p:cNvPr id="38" name="Graphique 37" descr="Personne avec une idée contour">
              <a:extLst>
                <a:ext uri="{FF2B5EF4-FFF2-40B4-BE49-F238E27FC236}">
                  <a16:creationId xmlns:a16="http://schemas.microsoft.com/office/drawing/2014/main" id="{757AC178-C4FE-F896-8E12-33BE54CD0F0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339782" y="4387928"/>
              <a:ext cx="532925" cy="532925"/>
            </a:xfrm>
            <a:prstGeom prst="rect">
              <a:avLst/>
            </a:prstGeom>
          </p:spPr>
        </p:pic>
        <p:pic>
          <p:nvPicPr>
            <p:cNvPr id="39" name="Graphique 38" descr="Personne avec une idée contour">
              <a:extLst>
                <a:ext uri="{FF2B5EF4-FFF2-40B4-BE49-F238E27FC236}">
                  <a16:creationId xmlns:a16="http://schemas.microsoft.com/office/drawing/2014/main" id="{F54C5945-856A-F289-E3B5-EAC736150609}"/>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094672" y="4375193"/>
              <a:ext cx="532925" cy="532925"/>
            </a:xfrm>
            <a:prstGeom prst="rect">
              <a:avLst/>
            </a:prstGeom>
          </p:spPr>
        </p:pic>
      </p:grpSp>
      <p:grpSp>
        <p:nvGrpSpPr>
          <p:cNvPr id="48" name="Groupe 47">
            <a:extLst>
              <a:ext uri="{FF2B5EF4-FFF2-40B4-BE49-F238E27FC236}">
                <a16:creationId xmlns:a16="http://schemas.microsoft.com/office/drawing/2014/main" id="{0FBD4F65-A7CD-4331-12E5-BBF9E6C2A56F}"/>
              </a:ext>
            </a:extLst>
          </p:cNvPr>
          <p:cNvGrpSpPr/>
          <p:nvPr/>
        </p:nvGrpSpPr>
        <p:grpSpPr>
          <a:xfrm>
            <a:off x="641976" y="2766522"/>
            <a:ext cx="10853322" cy="447790"/>
            <a:chOff x="681053" y="2903291"/>
            <a:chExt cx="10853322" cy="447790"/>
          </a:xfrm>
        </p:grpSpPr>
        <p:pic>
          <p:nvPicPr>
            <p:cNvPr id="40" name="Graphique 39" descr="Carte avec repère contour">
              <a:extLst>
                <a:ext uri="{FF2B5EF4-FFF2-40B4-BE49-F238E27FC236}">
                  <a16:creationId xmlns:a16="http://schemas.microsoft.com/office/drawing/2014/main" id="{DE4D16FF-A926-0A22-2A23-EF8B74B2E35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81053" y="2911378"/>
              <a:ext cx="439703" cy="439703"/>
            </a:xfrm>
            <a:prstGeom prst="rect">
              <a:avLst/>
            </a:prstGeom>
          </p:spPr>
        </p:pic>
        <p:pic>
          <p:nvPicPr>
            <p:cNvPr id="41" name="Graphique 40" descr="Carte avec repère contour">
              <a:extLst>
                <a:ext uri="{FF2B5EF4-FFF2-40B4-BE49-F238E27FC236}">
                  <a16:creationId xmlns:a16="http://schemas.microsoft.com/office/drawing/2014/main" id="{C5CA6392-9A58-0B38-F0D1-C2981771A02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394224" y="2911377"/>
              <a:ext cx="439703" cy="439703"/>
            </a:xfrm>
            <a:prstGeom prst="rect">
              <a:avLst/>
            </a:prstGeom>
          </p:spPr>
        </p:pic>
        <p:pic>
          <p:nvPicPr>
            <p:cNvPr id="42" name="Graphique 41" descr="Carte avec repère contour">
              <a:extLst>
                <a:ext uri="{FF2B5EF4-FFF2-40B4-BE49-F238E27FC236}">
                  <a16:creationId xmlns:a16="http://schemas.microsoft.com/office/drawing/2014/main" id="{F7F74BCE-A221-14C8-0E30-0BEAA9EF127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4130264" y="2903292"/>
              <a:ext cx="439703" cy="439703"/>
            </a:xfrm>
            <a:prstGeom prst="rect">
              <a:avLst/>
            </a:prstGeom>
          </p:spPr>
        </p:pic>
        <p:pic>
          <p:nvPicPr>
            <p:cNvPr id="43" name="Graphique 42" descr="Carte avec repère contour">
              <a:extLst>
                <a:ext uri="{FF2B5EF4-FFF2-40B4-BE49-F238E27FC236}">
                  <a16:creationId xmlns:a16="http://schemas.microsoft.com/office/drawing/2014/main" id="{60DC41A6-120E-1D02-99C7-36F79B7DFAE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843435" y="2903291"/>
              <a:ext cx="439703" cy="439703"/>
            </a:xfrm>
            <a:prstGeom prst="rect">
              <a:avLst/>
            </a:prstGeom>
          </p:spPr>
        </p:pic>
        <p:pic>
          <p:nvPicPr>
            <p:cNvPr id="44" name="Graphique 43" descr="Carte avec repère contour">
              <a:extLst>
                <a:ext uri="{FF2B5EF4-FFF2-40B4-BE49-F238E27FC236}">
                  <a16:creationId xmlns:a16="http://schemas.microsoft.com/office/drawing/2014/main" id="{21526ED5-55BE-5009-2A20-27EF28FD12E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627797" y="2911378"/>
              <a:ext cx="439703" cy="439703"/>
            </a:xfrm>
            <a:prstGeom prst="rect">
              <a:avLst/>
            </a:prstGeom>
          </p:spPr>
        </p:pic>
        <p:pic>
          <p:nvPicPr>
            <p:cNvPr id="45" name="Graphique 44" descr="Carte avec repère contour">
              <a:extLst>
                <a:ext uri="{FF2B5EF4-FFF2-40B4-BE49-F238E27FC236}">
                  <a16:creationId xmlns:a16="http://schemas.microsoft.com/office/drawing/2014/main" id="{9A7E853E-D3EB-77DE-93AF-3B7BB93D213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340968" y="2911377"/>
              <a:ext cx="439703" cy="439703"/>
            </a:xfrm>
            <a:prstGeom prst="rect">
              <a:avLst/>
            </a:prstGeom>
          </p:spPr>
        </p:pic>
        <p:pic>
          <p:nvPicPr>
            <p:cNvPr id="46" name="Graphique 45" descr="Carte avec repère contour">
              <a:extLst>
                <a:ext uri="{FF2B5EF4-FFF2-40B4-BE49-F238E27FC236}">
                  <a16:creationId xmlns:a16="http://schemas.microsoft.com/office/drawing/2014/main" id="{BF6BFF02-CE5A-6F56-F43B-98CE3E934A5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094672" y="2911377"/>
              <a:ext cx="439703" cy="439703"/>
            </a:xfrm>
            <a:prstGeom prst="rect">
              <a:avLst/>
            </a:prstGeom>
          </p:spPr>
        </p:pic>
      </p:grpSp>
    </p:spTree>
    <p:extLst>
      <p:ext uri="{BB962C8B-B14F-4D97-AF65-F5344CB8AC3E}">
        <p14:creationId xmlns:p14="http://schemas.microsoft.com/office/powerpoint/2010/main" val="366242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e 7">
            <a:extLst>
              <a:ext uri="{FF2B5EF4-FFF2-40B4-BE49-F238E27FC236}">
                <a16:creationId xmlns:a16="http://schemas.microsoft.com/office/drawing/2014/main" id="{7514F0AD-4118-4DF7-8B7C-C3C37645C828}"/>
              </a:ext>
            </a:extLst>
          </p:cNvPr>
          <p:cNvGrpSpPr/>
          <p:nvPr/>
        </p:nvGrpSpPr>
        <p:grpSpPr>
          <a:xfrm>
            <a:off x="1068001" y="1309677"/>
            <a:ext cx="9855683" cy="1127463"/>
            <a:chOff x="11600" y="1496380"/>
            <a:chExt cx="12038120" cy="1498765"/>
          </a:xfrm>
        </p:grpSpPr>
        <p:grpSp>
          <p:nvGrpSpPr>
            <p:cNvPr id="9" name="Groupe 8">
              <a:extLst>
                <a:ext uri="{FF2B5EF4-FFF2-40B4-BE49-F238E27FC236}">
                  <a16:creationId xmlns:a16="http://schemas.microsoft.com/office/drawing/2014/main" id="{49059D4B-0690-4AA5-9D1F-4C032A212518}"/>
                </a:ext>
              </a:extLst>
            </p:cNvPr>
            <p:cNvGrpSpPr/>
            <p:nvPr/>
          </p:nvGrpSpPr>
          <p:grpSpPr>
            <a:xfrm>
              <a:off x="11600" y="2499558"/>
              <a:ext cx="12038120" cy="495587"/>
              <a:chOff x="0" y="2140394"/>
              <a:chExt cx="12854128" cy="4544491"/>
            </a:xfrm>
          </p:grpSpPr>
          <p:sp>
            <p:nvSpPr>
              <p:cNvPr id="17" name="Espace réservé du texte 15">
                <a:extLst>
                  <a:ext uri="{FF2B5EF4-FFF2-40B4-BE49-F238E27FC236}">
                    <a16:creationId xmlns:a16="http://schemas.microsoft.com/office/drawing/2014/main" id="{9FCC0275-6599-4796-A233-A498894B6C0D}"/>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18" name="Espace réservé du texte 15">
                <a:extLst>
                  <a:ext uri="{FF2B5EF4-FFF2-40B4-BE49-F238E27FC236}">
                    <a16:creationId xmlns:a16="http://schemas.microsoft.com/office/drawing/2014/main" id="{8AA2A2FE-87E7-4149-8884-DDAE98BB07C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19" name="Espace réservé du texte 15">
                <a:extLst>
                  <a:ext uri="{FF2B5EF4-FFF2-40B4-BE49-F238E27FC236}">
                    <a16:creationId xmlns:a16="http://schemas.microsoft.com/office/drawing/2014/main" id="{8CDE1810-02A8-4999-ADFF-09922FAC3DD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20" name="Espace réservé du texte 15">
                <a:extLst>
                  <a:ext uri="{FF2B5EF4-FFF2-40B4-BE49-F238E27FC236}">
                    <a16:creationId xmlns:a16="http://schemas.microsoft.com/office/drawing/2014/main" id="{7BA2D7F0-A3DD-4FD6-83DD-BED546C0484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21" name="Espace réservé du texte 15">
                <a:extLst>
                  <a:ext uri="{FF2B5EF4-FFF2-40B4-BE49-F238E27FC236}">
                    <a16:creationId xmlns:a16="http://schemas.microsoft.com/office/drawing/2014/main" id="{67BD6515-574C-4F0A-9CD8-A74C48364E2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22" name="Espace réservé du texte 15">
                <a:extLst>
                  <a:ext uri="{FF2B5EF4-FFF2-40B4-BE49-F238E27FC236}">
                    <a16:creationId xmlns:a16="http://schemas.microsoft.com/office/drawing/2014/main" id="{2B042A42-E569-4B28-872A-C98E28951B87}"/>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23" name="Espace réservé du texte 15">
                <a:extLst>
                  <a:ext uri="{FF2B5EF4-FFF2-40B4-BE49-F238E27FC236}">
                    <a16:creationId xmlns:a16="http://schemas.microsoft.com/office/drawing/2014/main" id="{E31DAE78-5A3B-4CA9-A54D-FAF714EC82E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10" name="Graphique 9" descr="Ampoule avec un remplissage uni">
              <a:extLst>
                <a:ext uri="{FF2B5EF4-FFF2-40B4-BE49-F238E27FC236}">
                  <a16:creationId xmlns:a16="http://schemas.microsoft.com/office/drawing/2014/main" id="{FB349AAF-AADF-41DE-93D7-48C1F06B48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1" name="Graphique 10" descr="Seau et pelle avec un remplissage uni">
              <a:extLst>
                <a:ext uri="{FF2B5EF4-FFF2-40B4-BE49-F238E27FC236}">
                  <a16:creationId xmlns:a16="http://schemas.microsoft.com/office/drawing/2014/main" id="{9B08672D-72F7-4A9B-AE23-80337A1C4B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2" name="Graphique 11" descr="Tubes à essai avec un remplissage uni">
              <a:extLst>
                <a:ext uri="{FF2B5EF4-FFF2-40B4-BE49-F238E27FC236}">
                  <a16:creationId xmlns:a16="http://schemas.microsoft.com/office/drawing/2014/main" id="{BBD2D793-1EF2-4CE3-B3FB-BAC0FDBAA1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3" name="Graphique 12" descr="Explosion avec un remplissage uni">
              <a:extLst>
                <a:ext uri="{FF2B5EF4-FFF2-40B4-BE49-F238E27FC236}">
                  <a16:creationId xmlns:a16="http://schemas.microsoft.com/office/drawing/2014/main" id="{A0C3FF3B-A5F0-486B-B5A1-9EAEB0D7E6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4" name="Graphique 13" descr="Trophée avec un remplissage uni">
              <a:extLst>
                <a:ext uri="{FF2B5EF4-FFF2-40B4-BE49-F238E27FC236}">
                  <a16:creationId xmlns:a16="http://schemas.microsoft.com/office/drawing/2014/main" id="{306AD822-F5E7-4634-B62B-2E287D4E872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5" name="Graphique 14" descr="Assiette couverte avec un remplissage uni">
              <a:extLst>
                <a:ext uri="{FF2B5EF4-FFF2-40B4-BE49-F238E27FC236}">
                  <a16:creationId xmlns:a16="http://schemas.microsoft.com/office/drawing/2014/main" id="{DEBE8314-024E-49D1-BEA8-63DD154BB0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6" name="Graphique 15" descr="Scène de château avec un remplissage uni">
              <a:extLst>
                <a:ext uri="{FF2B5EF4-FFF2-40B4-BE49-F238E27FC236}">
                  <a16:creationId xmlns:a16="http://schemas.microsoft.com/office/drawing/2014/main" id="{5C95DE91-A2A8-42D7-A621-02B4F0DFC4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3" name="ZoneTexte 2">
            <a:extLst>
              <a:ext uri="{FF2B5EF4-FFF2-40B4-BE49-F238E27FC236}">
                <a16:creationId xmlns:a16="http://schemas.microsoft.com/office/drawing/2014/main" id="{41EBCDB0-661C-11C1-729B-B53799CD98A4}"/>
              </a:ext>
            </a:extLst>
          </p:cNvPr>
          <p:cNvSpPr txBox="1"/>
          <p:nvPr/>
        </p:nvSpPr>
        <p:spPr>
          <a:xfrm>
            <a:off x="0" y="1"/>
            <a:ext cx="12192000" cy="954107"/>
          </a:xfrm>
          <a:prstGeom prst="rect">
            <a:avLst/>
          </a:prstGeom>
          <a:noFill/>
        </p:spPr>
        <p:txBody>
          <a:bodyPr wrap="square" lIns="91440" tIns="45720" rIns="91440" bIns="45720" rtlCol="0" anchor="t">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7 phases de vie de communautés qui portent un changement</a:t>
            </a:r>
            <a:endParaRPr lang="fr-FR" sz="2400" b="1" i="1" dirty="0">
              <a:cs typeface="Calibri"/>
            </a:endParaRPr>
          </a:p>
        </p:txBody>
      </p:sp>
      <p:pic>
        <p:nvPicPr>
          <p:cNvPr id="4" name="Graphique 3" descr="Femme portant un tailleur">
            <a:extLst>
              <a:ext uri="{FF2B5EF4-FFF2-40B4-BE49-F238E27FC236}">
                <a16:creationId xmlns:a16="http://schemas.microsoft.com/office/drawing/2014/main" id="{A0AA357D-A891-0D95-993C-96879ED55B7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flipH="1">
            <a:off x="9531881" y="1636808"/>
            <a:ext cx="2507330" cy="5226467"/>
          </a:xfrm>
          <a:prstGeom prst="rect">
            <a:avLst/>
          </a:prstGeom>
        </p:spPr>
      </p:pic>
      <p:sp>
        <p:nvSpPr>
          <p:cNvPr id="2" name="Bulle narrative : ronde 1">
            <a:extLst>
              <a:ext uri="{FF2B5EF4-FFF2-40B4-BE49-F238E27FC236}">
                <a16:creationId xmlns:a16="http://schemas.microsoft.com/office/drawing/2014/main" id="{F1824294-6027-5E7A-EE2B-50DC6271E00D}"/>
              </a:ext>
            </a:extLst>
          </p:cNvPr>
          <p:cNvSpPr/>
          <p:nvPr/>
        </p:nvSpPr>
        <p:spPr>
          <a:xfrm>
            <a:off x="3095823" y="3547361"/>
            <a:ext cx="6450518" cy="2119323"/>
          </a:xfrm>
          <a:prstGeom prst="wedgeEllipseCallout">
            <a:avLst>
              <a:gd name="adj1" fmla="val 65295"/>
              <a:gd name="adj2" fmla="val -75879"/>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IL Y A DANS CE DOCUMENT </a:t>
            </a:r>
          </a:p>
          <a:p>
            <a:pPr algn="ctr"/>
            <a:r>
              <a:rPr lang="fr-FR" sz="1400" b="1" dirty="0">
                <a:solidFill>
                  <a:srgbClr val="ED7D31"/>
                </a:solidFill>
              </a:rPr>
              <a:t>6 ATELIERS PRATIQUES À UTILISER </a:t>
            </a:r>
            <a:r>
              <a:rPr lang="fr-FR" sz="1400" b="1" dirty="0">
                <a:solidFill>
                  <a:schemeClr val="tx1"/>
                </a:solidFill>
              </a:rPr>
              <a:t>(AVEC L’EXPLICATION DE POURQUOI ET COMMENT LES ANIMER)</a:t>
            </a:r>
          </a:p>
          <a:p>
            <a:pPr algn="ctr"/>
            <a:endParaRPr lang="fr-FR" sz="1400" b="1" dirty="0">
              <a:solidFill>
                <a:schemeClr val="tx1"/>
              </a:solidFill>
            </a:endParaRPr>
          </a:p>
          <a:p>
            <a:pPr algn="ctr"/>
            <a:r>
              <a:rPr lang="fr-FR" sz="1400" b="1" dirty="0">
                <a:solidFill>
                  <a:srgbClr val="0683AA"/>
                </a:solidFill>
              </a:rPr>
              <a:t>DES TABLES D’ACTIVITÉS ET DE CONTENUS </a:t>
            </a:r>
            <a:r>
              <a:rPr lang="fr-FR" sz="1400" b="1" dirty="0">
                <a:solidFill>
                  <a:schemeClr val="tx1"/>
                </a:solidFill>
              </a:rPr>
              <a:t>PAR PHASE POUR AVOIR DES IDÉES</a:t>
            </a:r>
          </a:p>
          <a:p>
            <a:pPr algn="ctr"/>
            <a:endParaRPr lang="fr-FR" sz="1400" b="1" dirty="0">
              <a:solidFill>
                <a:schemeClr val="tx1"/>
              </a:solidFill>
            </a:endParaRPr>
          </a:p>
          <a:p>
            <a:pPr algn="ctr"/>
            <a:r>
              <a:rPr lang="fr-FR" sz="1400" b="1" dirty="0">
                <a:solidFill>
                  <a:schemeClr val="tx1"/>
                </a:solidFill>
              </a:rPr>
              <a:t>DES DÉTAILS SUR CHAQUE PHASE POUR MIEUX S’APPROPRIER LE CONTENU</a:t>
            </a:r>
          </a:p>
        </p:txBody>
      </p:sp>
    </p:spTree>
    <p:extLst>
      <p:ext uri="{BB962C8B-B14F-4D97-AF65-F5344CB8AC3E}">
        <p14:creationId xmlns:p14="http://schemas.microsoft.com/office/powerpoint/2010/main" val="2431483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0" y="243188"/>
            <a:ext cx="12192000" cy="71939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fr-FR" sz="3200" b="1" i="1" dirty="0">
                <a:solidFill>
                  <a:srgbClr val="0683AA"/>
                </a:solidFill>
                <a:ea typeface="+mn-lt"/>
                <a:cs typeface="+mn-lt"/>
              </a:rPr>
              <a:t>#OSC </a:t>
            </a:r>
            <a:r>
              <a:rPr lang="fr-FR" sz="3200" b="1" i="1" dirty="0">
                <a:solidFill>
                  <a:srgbClr val="ED7D31"/>
                </a:solidFill>
                <a:ea typeface="+mn-lt"/>
                <a:cs typeface="+mn-lt"/>
              </a:rPr>
              <a:t>Change </a:t>
            </a:r>
            <a:r>
              <a:rPr lang="fr-FR" sz="3200" b="1" i="1" dirty="0">
                <a:solidFill>
                  <a:srgbClr val="0683AA"/>
                </a:solidFill>
                <a:ea typeface="+mn-lt"/>
                <a:cs typeface="+mn-lt"/>
              </a:rPr>
              <a:t>Community </a:t>
            </a:r>
            <a:r>
              <a:rPr lang="fr-FR" sz="3200" b="1" i="1" dirty="0">
                <a:ea typeface="+mn-lt"/>
                <a:cs typeface="+mn-lt"/>
              </a:rPr>
              <a:t>Cycle</a:t>
            </a:r>
            <a:endParaRPr lang="en-US" sz="3200" dirty="0">
              <a:ea typeface="+mn-lt"/>
              <a:cs typeface="+mn-lt"/>
            </a:endParaRPr>
          </a:p>
          <a:p>
            <a:pPr marL="0" indent="0" algn="ctr">
              <a:buFont typeface="Arial" panose="020B0604020202020204" pitchFamily="34" charset="0"/>
              <a:buNone/>
            </a:pPr>
            <a:endParaRPr lang="fr-FR" sz="3200" b="1" i="1" dirty="0">
              <a:solidFill>
                <a:srgbClr val="0683AA"/>
              </a:solidFill>
              <a:cs typeface="Calibri"/>
            </a:endParaRPr>
          </a:p>
        </p:txBody>
      </p:sp>
      <p:grpSp>
        <p:nvGrpSpPr>
          <p:cNvPr id="3" name="Groupe 2">
            <a:extLst>
              <a:ext uri="{FF2B5EF4-FFF2-40B4-BE49-F238E27FC236}">
                <a16:creationId xmlns:a16="http://schemas.microsoft.com/office/drawing/2014/main" id="{E48A73A5-6419-E4A7-6D2F-CCBB12C7940D}"/>
              </a:ext>
            </a:extLst>
          </p:cNvPr>
          <p:cNvGrpSpPr/>
          <p:nvPr/>
        </p:nvGrpSpPr>
        <p:grpSpPr>
          <a:xfrm>
            <a:off x="1402672" y="1289641"/>
            <a:ext cx="9550028" cy="5325171"/>
            <a:chOff x="1970333" y="1590525"/>
            <a:chExt cx="8849202" cy="5325171"/>
          </a:xfrm>
        </p:grpSpPr>
        <p:grpSp>
          <p:nvGrpSpPr>
            <p:cNvPr id="8" name="Groupe 7">
              <a:extLst>
                <a:ext uri="{FF2B5EF4-FFF2-40B4-BE49-F238E27FC236}">
                  <a16:creationId xmlns:a16="http://schemas.microsoft.com/office/drawing/2014/main" id="{7514F0AD-4118-4DF7-8B7C-C3C37645C828}"/>
                </a:ext>
              </a:extLst>
            </p:cNvPr>
            <p:cNvGrpSpPr/>
            <p:nvPr/>
          </p:nvGrpSpPr>
          <p:grpSpPr>
            <a:xfrm>
              <a:off x="1970333" y="1590525"/>
              <a:ext cx="8792599" cy="1235461"/>
              <a:chOff x="11600" y="1496380"/>
              <a:chExt cx="12038120" cy="1498765"/>
            </a:xfrm>
          </p:grpSpPr>
          <p:grpSp>
            <p:nvGrpSpPr>
              <p:cNvPr id="9" name="Groupe 8">
                <a:extLst>
                  <a:ext uri="{FF2B5EF4-FFF2-40B4-BE49-F238E27FC236}">
                    <a16:creationId xmlns:a16="http://schemas.microsoft.com/office/drawing/2014/main" id="{49059D4B-0690-4AA5-9D1F-4C032A212518}"/>
                  </a:ext>
                </a:extLst>
              </p:cNvPr>
              <p:cNvGrpSpPr/>
              <p:nvPr/>
            </p:nvGrpSpPr>
            <p:grpSpPr>
              <a:xfrm>
                <a:off x="11600" y="2499558"/>
                <a:ext cx="12038120" cy="495587"/>
                <a:chOff x="0" y="2140394"/>
                <a:chExt cx="12854128" cy="4544491"/>
              </a:xfrm>
            </p:grpSpPr>
            <p:sp>
              <p:nvSpPr>
                <p:cNvPr id="17" name="Espace réservé du texte 15">
                  <a:extLst>
                    <a:ext uri="{FF2B5EF4-FFF2-40B4-BE49-F238E27FC236}">
                      <a16:creationId xmlns:a16="http://schemas.microsoft.com/office/drawing/2014/main" id="{9FCC0275-6599-4796-A233-A498894B6C0D}"/>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18" name="Espace réservé du texte 15">
                  <a:extLst>
                    <a:ext uri="{FF2B5EF4-FFF2-40B4-BE49-F238E27FC236}">
                      <a16:creationId xmlns:a16="http://schemas.microsoft.com/office/drawing/2014/main" id="{8AA2A2FE-87E7-4149-8884-DDAE98BB07C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19" name="Espace réservé du texte 15">
                  <a:extLst>
                    <a:ext uri="{FF2B5EF4-FFF2-40B4-BE49-F238E27FC236}">
                      <a16:creationId xmlns:a16="http://schemas.microsoft.com/office/drawing/2014/main" id="{8CDE1810-02A8-4999-ADFF-09922FAC3DD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20" name="Espace réservé du texte 15">
                  <a:extLst>
                    <a:ext uri="{FF2B5EF4-FFF2-40B4-BE49-F238E27FC236}">
                      <a16:creationId xmlns:a16="http://schemas.microsoft.com/office/drawing/2014/main" id="{7BA2D7F0-A3DD-4FD6-83DD-BED546C0484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21" name="Espace réservé du texte 15">
                  <a:extLst>
                    <a:ext uri="{FF2B5EF4-FFF2-40B4-BE49-F238E27FC236}">
                      <a16:creationId xmlns:a16="http://schemas.microsoft.com/office/drawing/2014/main" id="{67BD6515-574C-4F0A-9CD8-A74C48364E2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22" name="Espace réservé du texte 15">
                  <a:extLst>
                    <a:ext uri="{FF2B5EF4-FFF2-40B4-BE49-F238E27FC236}">
                      <a16:creationId xmlns:a16="http://schemas.microsoft.com/office/drawing/2014/main" id="{2B042A42-E569-4B28-872A-C98E28951B87}"/>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23" name="Espace réservé du texte 15">
                  <a:extLst>
                    <a:ext uri="{FF2B5EF4-FFF2-40B4-BE49-F238E27FC236}">
                      <a16:creationId xmlns:a16="http://schemas.microsoft.com/office/drawing/2014/main" id="{E31DAE78-5A3B-4CA9-A54D-FAF714EC82E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10" name="Graphique 9" descr="Ampoule avec un remplissage uni">
                <a:extLst>
                  <a:ext uri="{FF2B5EF4-FFF2-40B4-BE49-F238E27FC236}">
                    <a16:creationId xmlns:a16="http://schemas.microsoft.com/office/drawing/2014/main" id="{FB349AAF-AADF-41DE-93D7-48C1F06B48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1" name="Graphique 10" descr="Seau et pelle avec un remplissage uni">
                <a:extLst>
                  <a:ext uri="{FF2B5EF4-FFF2-40B4-BE49-F238E27FC236}">
                    <a16:creationId xmlns:a16="http://schemas.microsoft.com/office/drawing/2014/main" id="{9B08672D-72F7-4A9B-AE23-80337A1C4B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2" name="Graphique 11" descr="Tubes à essai avec un remplissage uni">
                <a:extLst>
                  <a:ext uri="{FF2B5EF4-FFF2-40B4-BE49-F238E27FC236}">
                    <a16:creationId xmlns:a16="http://schemas.microsoft.com/office/drawing/2014/main" id="{BBD2D793-1EF2-4CE3-B3FB-BAC0FDBAA1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3" name="Graphique 12" descr="Explosion avec un remplissage uni">
                <a:extLst>
                  <a:ext uri="{FF2B5EF4-FFF2-40B4-BE49-F238E27FC236}">
                    <a16:creationId xmlns:a16="http://schemas.microsoft.com/office/drawing/2014/main" id="{A0C3FF3B-A5F0-486B-B5A1-9EAEB0D7E6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4" name="Graphique 13" descr="Trophée avec un remplissage uni">
                <a:extLst>
                  <a:ext uri="{FF2B5EF4-FFF2-40B4-BE49-F238E27FC236}">
                    <a16:creationId xmlns:a16="http://schemas.microsoft.com/office/drawing/2014/main" id="{306AD822-F5E7-4634-B62B-2E287D4E872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5" name="Graphique 14" descr="Assiette couverte avec un remplissage uni">
                <a:extLst>
                  <a:ext uri="{FF2B5EF4-FFF2-40B4-BE49-F238E27FC236}">
                    <a16:creationId xmlns:a16="http://schemas.microsoft.com/office/drawing/2014/main" id="{DEBE8314-024E-49D1-BEA8-63DD154BB0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6" name="Graphique 15" descr="Scène de château avec un remplissage uni">
                <a:extLst>
                  <a:ext uri="{FF2B5EF4-FFF2-40B4-BE49-F238E27FC236}">
                    <a16:creationId xmlns:a16="http://schemas.microsoft.com/office/drawing/2014/main" id="{5C95DE91-A2A8-42D7-A621-02B4F0DFC4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27" name="Groupe 26">
              <a:extLst>
                <a:ext uri="{FF2B5EF4-FFF2-40B4-BE49-F238E27FC236}">
                  <a16:creationId xmlns:a16="http://schemas.microsoft.com/office/drawing/2014/main" id="{07E11D25-9103-415A-821E-257BA7A82260}"/>
                </a:ext>
              </a:extLst>
            </p:cNvPr>
            <p:cNvGrpSpPr/>
            <p:nvPr/>
          </p:nvGrpSpPr>
          <p:grpSpPr>
            <a:xfrm>
              <a:off x="2026935" y="2899165"/>
              <a:ext cx="8792598" cy="302158"/>
              <a:chOff x="0" y="2140394"/>
              <a:chExt cx="12854128" cy="4544491"/>
            </a:xfrm>
            <a:solidFill>
              <a:srgbClr val="ED7D31"/>
            </a:solidFill>
          </p:grpSpPr>
          <p:sp>
            <p:nvSpPr>
              <p:cNvPr id="35" name="Espace réservé du texte 15">
                <a:extLst>
                  <a:ext uri="{FF2B5EF4-FFF2-40B4-BE49-F238E27FC236}">
                    <a16:creationId xmlns:a16="http://schemas.microsoft.com/office/drawing/2014/main" id="{57F43268-B06B-451C-88F6-C8ABC350C5C8}"/>
                  </a:ext>
                </a:extLst>
              </p:cNvPr>
              <p:cNvSpPr txBox="1">
                <a:spLocks/>
              </p:cNvSpPr>
              <p:nvPr/>
            </p:nvSpPr>
            <p:spPr>
              <a:xfrm>
                <a:off x="0"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a:t>ENVIE</a:t>
                </a:r>
              </a:p>
            </p:txBody>
          </p:sp>
          <p:sp>
            <p:nvSpPr>
              <p:cNvPr id="36" name="Espace réservé du texte 15">
                <a:extLst>
                  <a:ext uri="{FF2B5EF4-FFF2-40B4-BE49-F238E27FC236}">
                    <a16:creationId xmlns:a16="http://schemas.microsoft.com/office/drawing/2014/main" id="{3C8FFC3C-649F-49F1-BCCA-156215E0EF03}"/>
                  </a:ext>
                </a:extLst>
              </p:cNvPr>
              <p:cNvSpPr txBox="1">
                <a:spLocks/>
              </p:cNvSpPr>
              <p:nvPr/>
            </p:nvSpPr>
            <p:spPr>
              <a:xfrm>
                <a:off x="1855434"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a:t>IMPLICATION</a:t>
                </a:r>
              </a:p>
            </p:txBody>
          </p:sp>
          <p:sp>
            <p:nvSpPr>
              <p:cNvPr id="37" name="Espace réservé du texte 15">
                <a:extLst>
                  <a:ext uri="{FF2B5EF4-FFF2-40B4-BE49-F238E27FC236}">
                    <a16:creationId xmlns:a16="http://schemas.microsoft.com/office/drawing/2014/main" id="{5ADDACEC-4760-4EA3-9302-7B8F6D37785D}"/>
                  </a:ext>
                </a:extLst>
              </p:cNvPr>
              <p:cNvSpPr txBox="1">
                <a:spLocks/>
              </p:cNvSpPr>
              <p:nvPr/>
            </p:nvSpPr>
            <p:spPr>
              <a:xfrm>
                <a:off x="3689003" y="2140394"/>
                <a:ext cx="1744135" cy="4544491"/>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a:t>EXPÉRIMENTATIONS</a:t>
                </a:r>
              </a:p>
            </p:txBody>
          </p:sp>
          <p:sp>
            <p:nvSpPr>
              <p:cNvPr id="38" name="Espace réservé du texte 15">
                <a:extLst>
                  <a:ext uri="{FF2B5EF4-FFF2-40B4-BE49-F238E27FC236}">
                    <a16:creationId xmlns:a16="http://schemas.microsoft.com/office/drawing/2014/main" id="{C20732DE-32B8-4D7F-A6E3-187097247D31}"/>
                  </a:ext>
                </a:extLst>
              </p:cNvPr>
              <p:cNvSpPr txBox="1">
                <a:spLocks/>
              </p:cNvSpPr>
              <p:nvPr/>
            </p:nvSpPr>
            <p:spPr>
              <a:xfrm>
                <a:off x="5566302" y="2140395"/>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a:t>MOYENS DE RESILIENCE</a:t>
                </a:r>
              </a:p>
            </p:txBody>
          </p:sp>
          <p:sp>
            <p:nvSpPr>
              <p:cNvPr id="39" name="Espace réservé du texte 15">
                <a:extLst>
                  <a:ext uri="{FF2B5EF4-FFF2-40B4-BE49-F238E27FC236}">
                    <a16:creationId xmlns:a16="http://schemas.microsoft.com/office/drawing/2014/main" id="{3DE9DCF9-733F-494C-B62B-63D221020625}"/>
                  </a:ext>
                </a:extLst>
              </p:cNvPr>
              <p:cNvSpPr txBox="1">
                <a:spLocks/>
              </p:cNvSpPr>
              <p:nvPr/>
            </p:nvSpPr>
            <p:spPr>
              <a:xfrm>
                <a:off x="7421736"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a:t>OPTIMISATION</a:t>
                </a:r>
              </a:p>
            </p:txBody>
          </p:sp>
          <p:sp>
            <p:nvSpPr>
              <p:cNvPr id="40" name="Espace réservé du texte 15">
                <a:extLst>
                  <a:ext uri="{FF2B5EF4-FFF2-40B4-BE49-F238E27FC236}">
                    <a16:creationId xmlns:a16="http://schemas.microsoft.com/office/drawing/2014/main" id="{848F18AF-392F-40CF-90F9-4191C4233FF6}"/>
                  </a:ext>
                </a:extLst>
              </p:cNvPr>
              <p:cNvSpPr txBox="1">
                <a:spLocks/>
              </p:cNvSpPr>
              <p:nvPr/>
            </p:nvSpPr>
            <p:spPr>
              <a:xfrm>
                <a:off x="9277170"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a:t>SERVICES VERS L’EXTÉRIEUR</a:t>
                </a:r>
              </a:p>
            </p:txBody>
          </p:sp>
          <p:sp>
            <p:nvSpPr>
              <p:cNvPr id="41" name="Espace réservé du texte 15">
                <a:extLst>
                  <a:ext uri="{FF2B5EF4-FFF2-40B4-BE49-F238E27FC236}">
                    <a16:creationId xmlns:a16="http://schemas.microsoft.com/office/drawing/2014/main" id="{55778ACD-CD6A-459B-8A20-F24563FDB266}"/>
                  </a:ext>
                </a:extLst>
              </p:cNvPr>
              <p:cNvSpPr txBox="1">
                <a:spLocks/>
              </p:cNvSpPr>
              <p:nvPr/>
            </p:nvSpPr>
            <p:spPr>
              <a:xfrm>
                <a:off x="11131859"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800" b="1" i="1"/>
                  <a:t>OFFICIALISATION</a:t>
                </a:r>
              </a:p>
            </p:txBody>
          </p:sp>
        </p:grpSp>
        <p:sp>
          <p:nvSpPr>
            <p:cNvPr id="28" name="ZoneTexte 27">
              <a:extLst>
                <a:ext uri="{FF2B5EF4-FFF2-40B4-BE49-F238E27FC236}">
                  <a16:creationId xmlns:a16="http://schemas.microsoft.com/office/drawing/2014/main" id="{5468E5A6-19C8-4FC4-BD32-20441E8FF088}"/>
                </a:ext>
              </a:extLst>
            </p:cNvPr>
            <p:cNvSpPr txBox="1"/>
            <p:nvPr/>
          </p:nvSpPr>
          <p:spPr>
            <a:xfrm>
              <a:off x="1970333" y="3268545"/>
              <a:ext cx="1234684" cy="2800767"/>
            </a:xfrm>
            <a:prstGeom prst="rect">
              <a:avLst/>
            </a:prstGeom>
            <a:noFill/>
          </p:spPr>
          <p:txBody>
            <a:bodyPr wrap="square" rtlCol="0">
              <a:spAutoFit/>
            </a:bodyPr>
            <a:lstStyle/>
            <a:p>
              <a:pPr algn="ctr"/>
              <a:r>
                <a:rPr lang="fr-FR" sz="1100" dirty="0"/>
                <a:t>📅Meetup externes</a:t>
              </a:r>
            </a:p>
            <a:p>
              <a:pPr algn="ctr"/>
              <a:endParaRPr lang="fr-FR" sz="1100" dirty="0"/>
            </a:p>
            <a:p>
              <a:pPr algn="ctr"/>
              <a:r>
                <a:rPr lang="fr-FR" sz="1100" dirty="0"/>
                <a:t>✨</a:t>
              </a:r>
              <a:r>
                <a:rPr lang="fr-FR" sz="1100" dirty="0" err="1"/>
                <a:t>Success</a:t>
              </a:r>
              <a:r>
                <a:rPr lang="fr-FR" sz="1100" dirty="0"/>
                <a:t> stories extrêmes et lointaines</a:t>
              </a:r>
            </a:p>
            <a:p>
              <a:pPr algn="ctr"/>
              <a:endParaRPr lang="fr-FR" sz="1100" dirty="0"/>
            </a:p>
            <a:p>
              <a:pPr algn="ctr"/>
              <a:r>
                <a:rPr lang="fr-FR" sz="1100" dirty="0"/>
                <a:t>🔮Veille et prospective</a:t>
              </a:r>
            </a:p>
            <a:p>
              <a:pPr algn="ctr"/>
              <a:endParaRPr lang="fr-FR" sz="1100" dirty="0"/>
            </a:p>
            <a:p>
              <a:pPr algn="ctr"/>
              <a:r>
                <a:rPr lang="fr-FR" sz="1100" dirty="0"/>
                <a:t>🗣️</a:t>
              </a:r>
              <a:r>
                <a:rPr lang="fr-FR" sz="1100" dirty="0" err="1"/>
                <a:t>Talks</a:t>
              </a:r>
              <a:r>
                <a:rPr lang="fr-FR" sz="1100" dirty="0"/>
                <a:t> Inspirants</a:t>
              </a:r>
            </a:p>
            <a:p>
              <a:pPr algn="ctr"/>
              <a:endParaRPr lang="fr-FR" sz="1100" dirty="0"/>
            </a:p>
            <a:p>
              <a:pPr algn="ctr"/>
              <a:r>
                <a:rPr lang="fr-FR" sz="1100" dirty="0"/>
                <a:t>🌍Vue globale</a:t>
              </a:r>
            </a:p>
            <a:p>
              <a:pPr algn="ctr"/>
              <a:endParaRPr lang="fr-FR" sz="1100" dirty="0"/>
            </a:p>
            <a:p>
              <a:pPr algn="ctr"/>
              <a:r>
                <a:rPr lang="fr-FR" sz="1100" dirty="0"/>
                <a:t>🎲Serious Games de découverte</a:t>
              </a:r>
            </a:p>
          </p:txBody>
        </p:sp>
        <p:sp>
          <p:nvSpPr>
            <p:cNvPr id="29" name="ZoneTexte 28">
              <a:extLst>
                <a:ext uri="{FF2B5EF4-FFF2-40B4-BE49-F238E27FC236}">
                  <a16:creationId xmlns:a16="http://schemas.microsoft.com/office/drawing/2014/main" id="{CA24E4DF-0EAE-40AF-990C-E17CFC27ED56}"/>
                </a:ext>
              </a:extLst>
            </p:cNvPr>
            <p:cNvSpPr txBox="1"/>
            <p:nvPr/>
          </p:nvSpPr>
          <p:spPr>
            <a:xfrm>
              <a:off x="3255618" y="3268545"/>
              <a:ext cx="1218570" cy="3477875"/>
            </a:xfrm>
            <a:prstGeom prst="rect">
              <a:avLst/>
            </a:prstGeom>
            <a:noFill/>
          </p:spPr>
          <p:txBody>
            <a:bodyPr wrap="square" rtlCol="0">
              <a:spAutoFit/>
            </a:bodyPr>
            <a:lstStyle/>
            <a:p>
              <a:pPr algn="ctr"/>
              <a:r>
                <a:rPr lang="fr-FR" sz="1100"/>
                <a:t>❓Ateliers « </a:t>
              </a:r>
              <a:r>
                <a:rPr lang="fr-FR" sz="1100" err="1"/>
                <a:t>What’s</a:t>
              </a:r>
              <a:r>
                <a:rPr lang="fr-FR" sz="1100"/>
                <a:t> In It For Me ? »</a:t>
              </a:r>
            </a:p>
            <a:p>
              <a:pPr algn="ctr"/>
              <a:endParaRPr lang="fr-FR" sz="1100"/>
            </a:p>
            <a:p>
              <a:pPr algn="ctr"/>
              <a:r>
                <a:rPr lang="fr-FR" sz="1100"/>
                <a:t>👍</a:t>
              </a:r>
              <a:r>
                <a:rPr lang="fr-FR" sz="1100" err="1"/>
                <a:t>Success</a:t>
              </a:r>
              <a:r>
                <a:rPr lang="fr-FR" sz="1100"/>
                <a:t> stories plus proches, partage d’expérience</a:t>
              </a:r>
            </a:p>
            <a:p>
              <a:pPr algn="ctr"/>
              <a:endParaRPr lang="fr-FR" sz="1100"/>
            </a:p>
            <a:p>
              <a:pPr algn="ctr"/>
              <a:r>
                <a:rPr lang="fr-FR" sz="1100"/>
                <a:t>😱Collecte des craintes et 🤩opportunités d’usages / SWOT</a:t>
              </a:r>
            </a:p>
            <a:p>
              <a:pPr algn="ctr"/>
              <a:endParaRPr lang="fr-FR" sz="1100"/>
            </a:p>
            <a:p>
              <a:pPr algn="ctr"/>
              <a:r>
                <a:rPr lang="fr-FR" sz="1100"/>
                <a:t>🤝Ateliers connaissance mutuelle des membres</a:t>
              </a:r>
            </a:p>
            <a:p>
              <a:pPr algn="ctr"/>
              <a:endParaRPr lang="fr-FR" sz="1100"/>
            </a:p>
            <a:p>
              <a:pPr algn="ctr"/>
              <a:r>
                <a:rPr lang="fr-FR" sz="1100"/>
                <a:t>🔎Audit / Diagnostic</a:t>
              </a:r>
            </a:p>
          </p:txBody>
        </p:sp>
        <p:sp>
          <p:nvSpPr>
            <p:cNvPr id="30" name="ZoneTexte 29">
              <a:extLst>
                <a:ext uri="{FF2B5EF4-FFF2-40B4-BE49-F238E27FC236}">
                  <a16:creationId xmlns:a16="http://schemas.microsoft.com/office/drawing/2014/main" id="{BD9A42F0-E65B-4DB0-8607-D4AD8A2C5819}"/>
                </a:ext>
              </a:extLst>
            </p:cNvPr>
            <p:cNvSpPr txBox="1"/>
            <p:nvPr/>
          </p:nvSpPr>
          <p:spPr>
            <a:xfrm>
              <a:off x="4547306" y="3268544"/>
              <a:ext cx="1260164" cy="3647152"/>
            </a:xfrm>
            <a:prstGeom prst="rect">
              <a:avLst/>
            </a:prstGeom>
            <a:noFill/>
          </p:spPr>
          <p:txBody>
            <a:bodyPr wrap="square" rtlCol="0">
              <a:spAutoFit/>
            </a:bodyPr>
            <a:lstStyle/>
            <a:p>
              <a:pPr algn="ctr"/>
              <a:r>
                <a:rPr lang="fr-FR" sz="1100"/>
                <a:t>🔧Tutos / Dojos basiques</a:t>
              </a:r>
            </a:p>
            <a:p>
              <a:pPr algn="ctr"/>
              <a:endParaRPr lang="fr-FR" sz="1100"/>
            </a:p>
            <a:p>
              <a:pPr algn="ctr"/>
              <a:r>
                <a:rPr lang="fr-FR" sz="1100"/>
                <a:t>📄 Documentation basiques/FAQ</a:t>
              </a:r>
            </a:p>
            <a:p>
              <a:pPr algn="ctr"/>
              <a:endParaRPr lang="fr-FR" sz="1100"/>
            </a:p>
            <a:p>
              <a:pPr algn="ctr"/>
              <a:r>
                <a:rPr lang="fr-FR" sz="1100"/>
                <a:t>📣 Aide à la promotion et au lancement</a:t>
              </a:r>
            </a:p>
            <a:p>
              <a:pPr algn="ctr"/>
              <a:endParaRPr lang="fr-FR" sz="1100"/>
            </a:p>
            <a:p>
              <a:pPr algn="ctr"/>
              <a:r>
                <a:rPr lang="fr-FR" sz="1100"/>
                <a:t>🕵️‍♀️ Système de </a:t>
              </a:r>
              <a:r>
                <a:rPr lang="fr-FR" sz="1100" err="1"/>
                <a:t>shadowing</a:t>
              </a:r>
              <a:endParaRPr lang="fr-FR" sz="1100"/>
            </a:p>
            <a:p>
              <a:pPr algn="ctr"/>
              <a:endParaRPr lang="fr-FR" sz="1100"/>
            </a:p>
            <a:p>
              <a:pPr algn="ctr"/>
              <a:r>
                <a:rPr lang="fr-FR" sz="1100"/>
                <a:t>▶️ Invitation à la mise en application en situation réelle</a:t>
              </a:r>
            </a:p>
            <a:p>
              <a:pPr algn="ctr"/>
              <a:endParaRPr lang="fr-FR" sz="1100"/>
            </a:p>
            <a:p>
              <a:pPr algn="ctr"/>
              <a:r>
                <a:rPr lang="fr-FR" sz="1100"/>
                <a:t>🧪Expérimentation de projets à l’intérieur de la Communauté</a:t>
              </a:r>
            </a:p>
          </p:txBody>
        </p:sp>
        <p:sp>
          <p:nvSpPr>
            <p:cNvPr id="31" name="ZoneTexte 30">
              <a:extLst>
                <a:ext uri="{FF2B5EF4-FFF2-40B4-BE49-F238E27FC236}">
                  <a16:creationId xmlns:a16="http://schemas.microsoft.com/office/drawing/2014/main" id="{2442376B-4629-4AD1-986E-950859C1EB32}"/>
                </a:ext>
              </a:extLst>
            </p:cNvPr>
            <p:cNvSpPr txBox="1"/>
            <p:nvPr/>
          </p:nvSpPr>
          <p:spPr>
            <a:xfrm>
              <a:off x="5844551" y="3268544"/>
              <a:ext cx="1195916" cy="3647152"/>
            </a:xfrm>
            <a:prstGeom prst="rect">
              <a:avLst/>
            </a:prstGeom>
            <a:noFill/>
          </p:spPr>
          <p:txBody>
            <a:bodyPr wrap="square" rtlCol="0">
              <a:spAutoFit/>
            </a:bodyPr>
            <a:lstStyle/>
            <a:p>
              <a:pPr algn="ctr"/>
              <a:r>
                <a:rPr lang="fr-FR" sz="1100"/>
                <a:t>🛠️ Dojos et pratiques avancées</a:t>
              </a:r>
            </a:p>
            <a:p>
              <a:pPr algn="ctr"/>
              <a:endParaRPr lang="fr-FR" sz="1100"/>
            </a:p>
            <a:p>
              <a:pPr algn="ctr"/>
              <a:r>
                <a:rPr lang="fr-FR" sz="1100"/>
                <a:t>💞 Groupes d’intervision / entraide spécifique / soutien moral /</a:t>
              </a:r>
            </a:p>
            <a:p>
              <a:pPr algn="ctr"/>
              <a:r>
                <a:rPr lang="fr-FR" sz="1100"/>
                <a:t>sous groupes / Revues entre pairs</a:t>
              </a:r>
            </a:p>
            <a:p>
              <a:pPr algn="ctr"/>
              <a:endParaRPr lang="fr-FR" sz="1100"/>
            </a:p>
            <a:p>
              <a:pPr algn="ctr"/>
              <a:r>
                <a:rPr lang="fr-FR" sz="1100"/>
                <a:t>🏋️Système de mentoring / coaching</a:t>
              </a:r>
            </a:p>
            <a:p>
              <a:pPr algn="ctr"/>
              <a:endParaRPr lang="fr-FR" sz="1100"/>
            </a:p>
            <a:p>
              <a:pPr algn="ctr"/>
              <a:r>
                <a:rPr lang="fr-FR" sz="1100"/>
                <a:t>🍺 Moments pour relâcher la pression ensemble</a:t>
              </a:r>
            </a:p>
            <a:p>
              <a:pPr algn="ctr"/>
              <a:endParaRPr lang="fr-FR" sz="1100"/>
            </a:p>
            <a:p>
              <a:pPr algn="ctr"/>
              <a:r>
                <a:rPr lang="fr-FR" sz="1100"/>
                <a:t>➕ ➖ Tables d’avantages et inconvénients</a:t>
              </a:r>
            </a:p>
          </p:txBody>
        </p:sp>
        <p:sp>
          <p:nvSpPr>
            <p:cNvPr id="32" name="ZoneTexte 31">
              <a:extLst>
                <a:ext uri="{FF2B5EF4-FFF2-40B4-BE49-F238E27FC236}">
                  <a16:creationId xmlns:a16="http://schemas.microsoft.com/office/drawing/2014/main" id="{D52EE48C-F260-487A-9BF8-E2765C84753C}"/>
                </a:ext>
              </a:extLst>
            </p:cNvPr>
            <p:cNvSpPr txBox="1"/>
            <p:nvPr/>
          </p:nvSpPr>
          <p:spPr>
            <a:xfrm>
              <a:off x="7129836" y="3268544"/>
              <a:ext cx="1151865" cy="3139321"/>
            </a:xfrm>
            <a:prstGeom prst="rect">
              <a:avLst/>
            </a:prstGeom>
            <a:noFill/>
          </p:spPr>
          <p:txBody>
            <a:bodyPr wrap="square" rtlCol="0">
              <a:spAutoFit/>
            </a:bodyPr>
            <a:lstStyle/>
            <a:p>
              <a:pPr algn="ctr"/>
              <a:r>
                <a:rPr lang="fr-FR" sz="1100"/>
                <a:t>⚖️ Définition des normes et règles locales</a:t>
              </a:r>
            </a:p>
            <a:p>
              <a:pPr algn="ctr"/>
              <a:endParaRPr lang="fr-FR" sz="1100"/>
            </a:p>
            <a:p>
              <a:pPr algn="ctr"/>
              <a:r>
                <a:rPr lang="fr-FR" sz="1100"/>
                <a:t>➡️ ⬅️ Identification des synergies, des ressources et documentations à mettre en commun</a:t>
              </a:r>
            </a:p>
            <a:p>
              <a:pPr algn="ctr"/>
              <a:endParaRPr lang="fr-FR" sz="1100"/>
            </a:p>
            <a:p>
              <a:pPr algn="ctr"/>
              <a:r>
                <a:rPr lang="fr-FR" sz="1100"/>
                <a:t>✔️ Clarification des best practices, des cas d’usages typiques (attention biais du survivant)</a:t>
              </a:r>
            </a:p>
          </p:txBody>
        </p:sp>
        <p:sp>
          <p:nvSpPr>
            <p:cNvPr id="33" name="ZoneTexte 32">
              <a:extLst>
                <a:ext uri="{FF2B5EF4-FFF2-40B4-BE49-F238E27FC236}">
                  <a16:creationId xmlns:a16="http://schemas.microsoft.com/office/drawing/2014/main" id="{516EFB78-494C-4E1E-80E1-5C2B182EB364}"/>
                </a:ext>
              </a:extLst>
            </p:cNvPr>
            <p:cNvSpPr txBox="1"/>
            <p:nvPr/>
          </p:nvSpPr>
          <p:spPr>
            <a:xfrm>
              <a:off x="8330123" y="3268544"/>
              <a:ext cx="1220750" cy="3308598"/>
            </a:xfrm>
            <a:prstGeom prst="rect">
              <a:avLst/>
            </a:prstGeom>
            <a:noFill/>
          </p:spPr>
          <p:txBody>
            <a:bodyPr wrap="square" rtlCol="0">
              <a:spAutoFit/>
            </a:bodyPr>
            <a:lstStyle/>
            <a:p>
              <a:pPr algn="ctr"/>
              <a:r>
                <a:rPr lang="fr-FR" sz="1100"/>
                <a:t>🎅 Construction d’une offre de service</a:t>
              </a:r>
            </a:p>
            <a:p>
              <a:pPr algn="ctr"/>
              <a:endParaRPr lang="fr-FR" sz="1100"/>
            </a:p>
            <a:p>
              <a:pPr algn="ctr"/>
              <a:r>
                <a:rPr lang="fr-FR" sz="1100"/>
                <a:t>🎓 Définition de parcours de formation</a:t>
              </a:r>
            </a:p>
            <a:p>
              <a:pPr algn="ctr"/>
              <a:endParaRPr lang="fr-FR" sz="1100"/>
            </a:p>
            <a:p>
              <a:pPr algn="ctr"/>
              <a:r>
                <a:rPr lang="fr-FR" sz="1100"/>
                <a:t>🛫 Transmission au-delà de la communauté</a:t>
              </a:r>
            </a:p>
            <a:p>
              <a:pPr algn="ctr"/>
              <a:endParaRPr lang="fr-FR" sz="1100"/>
            </a:p>
            <a:p>
              <a:pPr algn="ctr"/>
              <a:r>
                <a:rPr lang="fr-FR" sz="1100"/>
                <a:t>📜 Mise en place de certification locales</a:t>
              </a:r>
            </a:p>
            <a:p>
              <a:pPr algn="ctr"/>
              <a:endParaRPr lang="fr-FR" sz="1100"/>
            </a:p>
            <a:p>
              <a:pPr algn="ctr"/>
              <a:r>
                <a:rPr lang="fr-FR" sz="1100"/>
                <a:t>⭐Exposition et promotion de la documentation</a:t>
              </a:r>
            </a:p>
          </p:txBody>
        </p:sp>
        <p:sp>
          <p:nvSpPr>
            <p:cNvPr id="34" name="ZoneTexte 33">
              <a:extLst>
                <a:ext uri="{FF2B5EF4-FFF2-40B4-BE49-F238E27FC236}">
                  <a16:creationId xmlns:a16="http://schemas.microsoft.com/office/drawing/2014/main" id="{47324056-4AD2-4B17-89A3-D34BD5BC56BC}"/>
                </a:ext>
              </a:extLst>
            </p:cNvPr>
            <p:cNvSpPr txBox="1"/>
            <p:nvPr/>
          </p:nvSpPr>
          <p:spPr>
            <a:xfrm>
              <a:off x="9645091" y="3268544"/>
              <a:ext cx="1174444" cy="2462213"/>
            </a:xfrm>
            <a:prstGeom prst="rect">
              <a:avLst/>
            </a:prstGeom>
            <a:noFill/>
          </p:spPr>
          <p:txBody>
            <a:bodyPr wrap="square" rtlCol="0">
              <a:spAutoFit/>
            </a:bodyPr>
            <a:lstStyle/>
            <a:p>
              <a:pPr algn="ctr"/>
              <a:r>
                <a:rPr lang="fr-FR" sz="1100"/>
                <a:t>🏠 Officialisation des équipes et des tâches</a:t>
              </a:r>
            </a:p>
            <a:p>
              <a:pPr algn="ctr"/>
              <a:endParaRPr lang="fr-FR" sz="1100"/>
            </a:p>
            <a:p>
              <a:pPr algn="ctr"/>
              <a:r>
                <a:rPr lang="fr-FR" sz="1100"/>
                <a:t>😎Mise à jour des fiches de poste</a:t>
              </a:r>
            </a:p>
            <a:p>
              <a:pPr algn="ctr"/>
              <a:endParaRPr lang="fr-FR" sz="1100"/>
            </a:p>
            <a:p>
              <a:pPr algn="ctr"/>
              <a:r>
                <a:rPr lang="fr-FR" sz="1100"/>
                <a:t>👓 Intervention dans les processus de recrutement</a:t>
              </a:r>
            </a:p>
            <a:p>
              <a:pPr algn="ctr"/>
              <a:endParaRPr lang="fr-FR" sz="1100"/>
            </a:p>
            <a:p>
              <a:pPr algn="ctr"/>
              <a:r>
                <a:rPr lang="fr-FR" sz="1100"/>
                <a:t>🌍 Expansion des normes locales à d’autres domaines</a:t>
              </a:r>
            </a:p>
          </p:txBody>
        </p:sp>
      </p:grpSp>
      <p:sp>
        <p:nvSpPr>
          <p:cNvPr id="2" name="ZoneTexte 1">
            <a:extLst>
              <a:ext uri="{FF2B5EF4-FFF2-40B4-BE49-F238E27FC236}">
                <a16:creationId xmlns:a16="http://schemas.microsoft.com/office/drawing/2014/main" id="{715578CB-9FDD-1967-CF57-9F45DEDCCDC1}"/>
              </a:ext>
            </a:extLst>
          </p:cNvPr>
          <p:cNvSpPr txBox="1"/>
          <p:nvPr/>
        </p:nvSpPr>
        <p:spPr>
          <a:xfrm>
            <a:off x="2536093" y="797169"/>
            <a:ext cx="704166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b="1" i="1"/>
              <a:t>Modèle adapté aux suggestions tactiques d'activités</a:t>
            </a:r>
            <a:r>
              <a:rPr lang="en-US" sz="2400" b="1" i="1"/>
              <a:t>​</a:t>
            </a:r>
            <a:endParaRPr lang="en-US" sz="2400" b="1" i="1">
              <a:cs typeface="Calibri"/>
            </a:endParaRPr>
          </a:p>
        </p:txBody>
      </p:sp>
    </p:spTree>
    <p:extLst>
      <p:ext uri="{BB962C8B-B14F-4D97-AF65-F5344CB8AC3E}">
        <p14:creationId xmlns:p14="http://schemas.microsoft.com/office/powerpoint/2010/main" val="4113470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0" y="321342"/>
            <a:ext cx="12192000" cy="71939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fr-FR" sz="3200" b="1" i="1" dirty="0">
                <a:solidFill>
                  <a:srgbClr val="0683AA"/>
                </a:solidFill>
                <a:ea typeface="+mn-lt"/>
                <a:cs typeface="+mn-lt"/>
              </a:rPr>
              <a:t>#OSC </a:t>
            </a:r>
            <a:r>
              <a:rPr lang="fr-FR" sz="3200" b="1" i="1" dirty="0">
                <a:solidFill>
                  <a:srgbClr val="ED7D31"/>
                </a:solidFill>
                <a:ea typeface="+mn-lt"/>
                <a:cs typeface="+mn-lt"/>
              </a:rPr>
              <a:t>Change </a:t>
            </a:r>
            <a:r>
              <a:rPr lang="fr-FR" sz="3200" b="1" i="1" dirty="0">
                <a:solidFill>
                  <a:srgbClr val="0683AA"/>
                </a:solidFill>
                <a:ea typeface="+mn-lt"/>
                <a:cs typeface="+mn-lt"/>
              </a:rPr>
              <a:t>Community </a:t>
            </a:r>
            <a:r>
              <a:rPr lang="fr-FR" sz="3200" b="1" i="1" dirty="0">
                <a:ea typeface="+mn-lt"/>
                <a:cs typeface="+mn-lt"/>
              </a:rPr>
              <a:t>Cycle</a:t>
            </a:r>
            <a:endParaRPr lang="en-US" sz="3200" dirty="0">
              <a:ea typeface="+mn-lt"/>
              <a:cs typeface="+mn-lt"/>
            </a:endParaRPr>
          </a:p>
        </p:txBody>
      </p:sp>
      <p:grpSp>
        <p:nvGrpSpPr>
          <p:cNvPr id="8" name="Groupe 7">
            <a:extLst>
              <a:ext uri="{FF2B5EF4-FFF2-40B4-BE49-F238E27FC236}">
                <a16:creationId xmlns:a16="http://schemas.microsoft.com/office/drawing/2014/main" id="{7514F0AD-4118-4DF7-8B7C-C3C37645C828}"/>
              </a:ext>
            </a:extLst>
          </p:cNvPr>
          <p:cNvGrpSpPr/>
          <p:nvPr/>
        </p:nvGrpSpPr>
        <p:grpSpPr>
          <a:xfrm>
            <a:off x="1265029" y="2562573"/>
            <a:ext cx="9691248" cy="1262948"/>
            <a:chOff x="11600" y="1496380"/>
            <a:chExt cx="12038120" cy="1498765"/>
          </a:xfrm>
        </p:grpSpPr>
        <p:grpSp>
          <p:nvGrpSpPr>
            <p:cNvPr id="9" name="Groupe 8">
              <a:extLst>
                <a:ext uri="{FF2B5EF4-FFF2-40B4-BE49-F238E27FC236}">
                  <a16:creationId xmlns:a16="http://schemas.microsoft.com/office/drawing/2014/main" id="{49059D4B-0690-4AA5-9D1F-4C032A212518}"/>
                </a:ext>
              </a:extLst>
            </p:cNvPr>
            <p:cNvGrpSpPr/>
            <p:nvPr/>
          </p:nvGrpSpPr>
          <p:grpSpPr>
            <a:xfrm>
              <a:off x="11600" y="2499558"/>
              <a:ext cx="12038120" cy="495587"/>
              <a:chOff x="0" y="2140394"/>
              <a:chExt cx="12854128" cy="4544491"/>
            </a:xfrm>
          </p:grpSpPr>
          <p:sp>
            <p:nvSpPr>
              <p:cNvPr id="17" name="Espace réservé du texte 15">
                <a:extLst>
                  <a:ext uri="{FF2B5EF4-FFF2-40B4-BE49-F238E27FC236}">
                    <a16:creationId xmlns:a16="http://schemas.microsoft.com/office/drawing/2014/main" id="{9FCC0275-6599-4796-A233-A498894B6C0D}"/>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18" name="Espace réservé du texte 15">
                <a:extLst>
                  <a:ext uri="{FF2B5EF4-FFF2-40B4-BE49-F238E27FC236}">
                    <a16:creationId xmlns:a16="http://schemas.microsoft.com/office/drawing/2014/main" id="{8AA2A2FE-87E7-4149-8884-DDAE98BB07C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19" name="Espace réservé du texte 15">
                <a:extLst>
                  <a:ext uri="{FF2B5EF4-FFF2-40B4-BE49-F238E27FC236}">
                    <a16:creationId xmlns:a16="http://schemas.microsoft.com/office/drawing/2014/main" id="{8CDE1810-02A8-4999-ADFF-09922FAC3DD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20" name="Espace réservé du texte 15">
                <a:extLst>
                  <a:ext uri="{FF2B5EF4-FFF2-40B4-BE49-F238E27FC236}">
                    <a16:creationId xmlns:a16="http://schemas.microsoft.com/office/drawing/2014/main" id="{7BA2D7F0-A3DD-4FD6-83DD-BED546C0484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21" name="Espace réservé du texte 15">
                <a:extLst>
                  <a:ext uri="{FF2B5EF4-FFF2-40B4-BE49-F238E27FC236}">
                    <a16:creationId xmlns:a16="http://schemas.microsoft.com/office/drawing/2014/main" id="{67BD6515-574C-4F0A-9CD8-A74C48364E2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22" name="Espace réservé du texte 15">
                <a:extLst>
                  <a:ext uri="{FF2B5EF4-FFF2-40B4-BE49-F238E27FC236}">
                    <a16:creationId xmlns:a16="http://schemas.microsoft.com/office/drawing/2014/main" id="{2B042A42-E569-4B28-872A-C98E28951B87}"/>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23" name="Espace réservé du texte 15">
                <a:extLst>
                  <a:ext uri="{FF2B5EF4-FFF2-40B4-BE49-F238E27FC236}">
                    <a16:creationId xmlns:a16="http://schemas.microsoft.com/office/drawing/2014/main" id="{E31DAE78-5A3B-4CA9-A54D-FAF714EC82E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10" name="Graphique 9" descr="Ampoule avec un remplissage uni">
              <a:extLst>
                <a:ext uri="{FF2B5EF4-FFF2-40B4-BE49-F238E27FC236}">
                  <a16:creationId xmlns:a16="http://schemas.microsoft.com/office/drawing/2014/main" id="{FB349AAF-AADF-41DE-93D7-48C1F06B48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1" name="Graphique 10" descr="Seau et pelle avec un remplissage uni">
              <a:extLst>
                <a:ext uri="{FF2B5EF4-FFF2-40B4-BE49-F238E27FC236}">
                  <a16:creationId xmlns:a16="http://schemas.microsoft.com/office/drawing/2014/main" id="{9B08672D-72F7-4A9B-AE23-80337A1C4B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2" name="Graphique 11" descr="Tubes à essai avec un remplissage uni">
              <a:extLst>
                <a:ext uri="{FF2B5EF4-FFF2-40B4-BE49-F238E27FC236}">
                  <a16:creationId xmlns:a16="http://schemas.microsoft.com/office/drawing/2014/main" id="{BBD2D793-1EF2-4CE3-B3FB-BAC0FDBAA1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3" name="Graphique 12" descr="Explosion avec un remplissage uni">
              <a:extLst>
                <a:ext uri="{FF2B5EF4-FFF2-40B4-BE49-F238E27FC236}">
                  <a16:creationId xmlns:a16="http://schemas.microsoft.com/office/drawing/2014/main" id="{A0C3FF3B-A5F0-486B-B5A1-9EAEB0D7E6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4" name="Graphique 13" descr="Trophée avec un remplissage uni">
              <a:extLst>
                <a:ext uri="{FF2B5EF4-FFF2-40B4-BE49-F238E27FC236}">
                  <a16:creationId xmlns:a16="http://schemas.microsoft.com/office/drawing/2014/main" id="{306AD822-F5E7-4634-B62B-2E287D4E872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5" name="Graphique 14" descr="Assiette couverte avec un remplissage uni">
              <a:extLst>
                <a:ext uri="{FF2B5EF4-FFF2-40B4-BE49-F238E27FC236}">
                  <a16:creationId xmlns:a16="http://schemas.microsoft.com/office/drawing/2014/main" id="{DEBE8314-024E-49D1-BEA8-63DD154BB0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6" name="Graphique 15" descr="Scène de château avec un remplissage uni">
              <a:extLst>
                <a:ext uri="{FF2B5EF4-FFF2-40B4-BE49-F238E27FC236}">
                  <a16:creationId xmlns:a16="http://schemas.microsoft.com/office/drawing/2014/main" id="{5C95DE91-A2A8-42D7-A621-02B4F0DFC4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2" name="Groupe 1">
            <a:extLst>
              <a:ext uri="{FF2B5EF4-FFF2-40B4-BE49-F238E27FC236}">
                <a16:creationId xmlns:a16="http://schemas.microsoft.com/office/drawing/2014/main" id="{60E5E831-B44F-4F56-852F-6429E30110FB}"/>
              </a:ext>
            </a:extLst>
          </p:cNvPr>
          <p:cNvGrpSpPr/>
          <p:nvPr/>
        </p:nvGrpSpPr>
        <p:grpSpPr>
          <a:xfrm>
            <a:off x="1304164" y="3852502"/>
            <a:ext cx="9579180" cy="1280774"/>
            <a:chOff x="213802" y="5137390"/>
            <a:chExt cx="11778797" cy="1735944"/>
          </a:xfrm>
        </p:grpSpPr>
        <p:pic>
          <p:nvPicPr>
            <p:cNvPr id="43" name="Graphique 42" descr="Un astronaute avec un remplissage uni">
              <a:extLst>
                <a:ext uri="{FF2B5EF4-FFF2-40B4-BE49-F238E27FC236}">
                  <a16:creationId xmlns:a16="http://schemas.microsoft.com/office/drawing/2014/main" id="{637AE911-183B-44F4-B3F8-6939C55F049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31447" y="5181377"/>
              <a:ext cx="914400" cy="914401"/>
            </a:xfrm>
            <a:prstGeom prst="rect">
              <a:avLst/>
            </a:prstGeom>
          </p:spPr>
        </p:pic>
        <p:pic>
          <p:nvPicPr>
            <p:cNvPr id="44" name="Graphique 43" descr="Homme pilote avec un remplissage uni">
              <a:extLst>
                <a:ext uri="{FF2B5EF4-FFF2-40B4-BE49-F238E27FC236}">
                  <a16:creationId xmlns:a16="http://schemas.microsoft.com/office/drawing/2014/main" id="{A54F175E-5C7C-4112-A935-2D00C116DA4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829039" y="5199225"/>
              <a:ext cx="914400" cy="914400"/>
            </a:xfrm>
            <a:prstGeom prst="rect">
              <a:avLst/>
            </a:prstGeom>
          </p:spPr>
        </p:pic>
        <p:pic>
          <p:nvPicPr>
            <p:cNvPr id="45" name="Graphique 44" descr="Homme électricien avec un remplissage uni">
              <a:extLst>
                <a:ext uri="{FF2B5EF4-FFF2-40B4-BE49-F238E27FC236}">
                  <a16:creationId xmlns:a16="http://schemas.microsoft.com/office/drawing/2014/main" id="{72C1D675-C90D-48A7-B855-2B7C70B5B745}"/>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680674" y="5181377"/>
              <a:ext cx="914400" cy="914401"/>
            </a:xfrm>
            <a:prstGeom prst="rect">
              <a:avLst/>
            </a:prstGeom>
          </p:spPr>
        </p:pic>
        <p:pic>
          <p:nvPicPr>
            <p:cNvPr id="46" name="Graphique 45" descr="Homme scientifique avec un remplissage uni">
              <a:extLst>
                <a:ext uri="{FF2B5EF4-FFF2-40B4-BE49-F238E27FC236}">
                  <a16:creationId xmlns:a16="http://schemas.microsoft.com/office/drawing/2014/main" id="{68004A36-79CA-4F83-924B-DD77231FE00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959725" y="5199225"/>
              <a:ext cx="914400" cy="914401"/>
            </a:xfrm>
            <a:prstGeom prst="rect">
              <a:avLst/>
            </a:prstGeom>
          </p:spPr>
        </p:pic>
        <p:pic>
          <p:nvPicPr>
            <p:cNvPr id="47" name="Graphique 46" descr="Employé de bureau avec un remplissage uni">
              <a:extLst>
                <a:ext uri="{FF2B5EF4-FFF2-40B4-BE49-F238E27FC236}">
                  <a16:creationId xmlns:a16="http://schemas.microsoft.com/office/drawing/2014/main" id="{779D2072-DF1C-4B11-B1B6-2E283DFE6AC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9187569" y="5170549"/>
              <a:ext cx="914400" cy="914400"/>
            </a:xfrm>
            <a:prstGeom prst="rect">
              <a:avLst/>
            </a:prstGeom>
          </p:spPr>
        </p:pic>
        <p:pic>
          <p:nvPicPr>
            <p:cNvPr id="48" name="Graphique 47" descr="Homme détective avec un remplissage uni">
              <a:extLst>
                <a:ext uri="{FF2B5EF4-FFF2-40B4-BE49-F238E27FC236}">
                  <a16:creationId xmlns:a16="http://schemas.microsoft.com/office/drawing/2014/main" id="{E038CDC9-7B37-426B-8785-E21D9553EB9A}"/>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2231232" y="5188397"/>
              <a:ext cx="914400" cy="914401"/>
            </a:xfrm>
            <a:prstGeom prst="rect">
              <a:avLst/>
            </a:prstGeom>
          </p:spPr>
        </p:pic>
        <p:sp>
          <p:nvSpPr>
            <p:cNvPr id="49" name="ZoneTexte 48">
              <a:extLst>
                <a:ext uri="{FF2B5EF4-FFF2-40B4-BE49-F238E27FC236}">
                  <a16:creationId xmlns:a16="http://schemas.microsoft.com/office/drawing/2014/main" id="{D777BB82-C46A-463C-887A-33886AEFE346}"/>
                </a:ext>
              </a:extLst>
            </p:cNvPr>
            <p:cNvSpPr txBox="1"/>
            <p:nvPr/>
          </p:nvSpPr>
          <p:spPr>
            <a:xfrm>
              <a:off x="213802" y="6070092"/>
              <a:ext cx="1548298" cy="630544"/>
            </a:xfrm>
            <a:prstGeom prst="rect">
              <a:avLst/>
            </a:prstGeom>
            <a:noFill/>
          </p:spPr>
          <p:txBody>
            <a:bodyPr wrap="square">
              <a:spAutoFit/>
            </a:bodyPr>
            <a:lstStyle/>
            <a:p>
              <a:pPr marL="0" indent="0" algn="ctr">
                <a:buFont typeface="Arial" panose="020B0604020202020204" pitchFamily="34" charset="0"/>
                <a:buNone/>
              </a:pPr>
              <a:r>
                <a:rPr lang="fr-FR" sz="800" b="1" i="1"/>
                <a:t>AMBASSADEURS VISIONNAIRES </a:t>
              </a:r>
            </a:p>
            <a:p>
              <a:pPr marL="0" indent="0" algn="ctr">
                <a:buFont typeface="Arial" panose="020B0604020202020204" pitchFamily="34" charset="0"/>
                <a:buNone/>
              </a:pPr>
              <a:r>
                <a:rPr lang="fr-FR" sz="800" b="1" i="1"/>
                <a:t>&amp; « PRÊCHEURS»</a:t>
              </a:r>
            </a:p>
          </p:txBody>
        </p:sp>
        <p:sp>
          <p:nvSpPr>
            <p:cNvPr id="50" name="ZoneTexte 49">
              <a:extLst>
                <a:ext uri="{FF2B5EF4-FFF2-40B4-BE49-F238E27FC236}">
                  <a16:creationId xmlns:a16="http://schemas.microsoft.com/office/drawing/2014/main" id="{7EF19BB9-CCD4-47DC-9D87-91ED28DB42B0}"/>
                </a:ext>
              </a:extLst>
            </p:cNvPr>
            <p:cNvSpPr txBox="1"/>
            <p:nvPr/>
          </p:nvSpPr>
          <p:spPr>
            <a:xfrm>
              <a:off x="1941268" y="6074646"/>
              <a:ext cx="1592822" cy="798688"/>
            </a:xfrm>
            <a:prstGeom prst="rect">
              <a:avLst/>
            </a:prstGeom>
            <a:noFill/>
          </p:spPr>
          <p:txBody>
            <a:bodyPr wrap="square">
              <a:spAutoFit/>
            </a:bodyPr>
            <a:lstStyle/>
            <a:p>
              <a:pPr marL="0" indent="0" algn="ctr">
                <a:buFont typeface="Arial" panose="020B0604020202020204" pitchFamily="34" charset="0"/>
                <a:buNone/>
              </a:pPr>
              <a:r>
                <a:rPr lang="fr-FR" sz="800" b="1" i="1"/>
                <a:t>AMBASSADEURS DÉTECTIVES DE CONTRAINTES ET D’OPPORTUNITÉS</a:t>
              </a:r>
            </a:p>
          </p:txBody>
        </p:sp>
        <p:sp>
          <p:nvSpPr>
            <p:cNvPr id="51" name="ZoneTexte 50">
              <a:extLst>
                <a:ext uri="{FF2B5EF4-FFF2-40B4-BE49-F238E27FC236}">
                  <a16:creationId xmlns:a16="http://schemas.microsoft.com/office/drawing/2014/main" id="{EF52F5EE-8134-48B9-8CC6-AB8515DFE2E6}"/>
                </a:ext>
              </a:extLst>
            </p:cNvPr>
            <p:cNvSpPr txBox="1"/>
            <p:nvPr/>
          </p:nvSpPr>
          <p:spPr>
            <a:xfrm>
              <a:off x="3734144" y="6110536"/>
              <a:ext cx="1415953" cy="462399"/>
            </a:xfrm>
            <a:prstGeom prst="rect">
              <a:avLst/>
            </a:prstGeom>
            <a:noFill/>
          </p:spPr>
          <p:txBody>
            <a:bodyPr wrap="square">
              <a:spAutoFit/>
            </a:bodyPr>
            <a:lstStyle/>
            <a:p>
              <a:pPr marL="0" indent="0" algn="ctr">
                <a:buFont typeface="Arial" panose="020B0604020202020204" pitchFamily="34" charset="0"/>
                <a:buNone/>
              </a:pPr>
              <a:r>
                <a:rPr lang="fr-FR" sz="800" b="1" i="1"/>
                <a:t>AMBASSADEURS PROFESSEURS</a:t>
              </a:r>
            </a:p>
          </p:txBody>
        </p:sp>
        <p:sp>
          <p:nvSpPr>
            <p:cNvPr id="52" name="ZoneTexte 51">
              <a:extLst>
                <a:ext uri="{FF2B5EF4-FFF2-40B4-BE49-F238E27FC236}">
                  <a16:creationId xmlns:a16="http://schemas.microsoft.com/office/drawing/2014/main" id="{817DC9E6-895F-4273-9FF2-7E5B237FC48F}"/>
                </a:ext>
              </a:extLst>
            </p:cNvPr>
            <p:cNvSpPr txBox="1"/>
            <p:nvPr/>
          </p:nvSpPr>
          <p:spPr>
            <a:xfrm>
              <a:off x="5479663" y="6110536"/>
              <a:ext cx="1432716" cy="462399"/>
            </a:xfrm>
            <a:prstGeom prst="rect">
              <a:avLst/>
            </a:prstGeom>
            <a:noFill/>
          </p:spPr>
          <p:txBody>
            <a:bodyPr wrap="square">
              <a:spAutoFit/>
            </a:bodyPr>
            <a:lstStyle/>
            <a:p>
              <a:pPr marL="0" indent="0" algn="ctr">
                <a:buFont typeface="Arial" panose="020B0604020202020204" pitchFamily="34" charset="0"/>
                <a:buNone/>
              </a:pPr>
              <a:r>
                <a:rPr lang="fr-FR" sz="800" b="1" i="1"/>
                <a:t>AMBASSADEURS SUPPORT</a:t>
              </a:r>
            </a:p>
          </p:txBody>
        </p:sp>
        <p:sp>
          <p:nvSpPr>
            <p:cNvPr id="53" name="ZoneTexte 52">
              <a:extLst>
                <a:ext uri="{FF2B5EF4-FFF2-40B4-BE49-F238E27FC236}">
                  <a16:creationId xmlns:a16="http://schemas.microsoft.com/office/drawing/2014/main" id="{3B3ACEF8-C3E6-41FA-8645-9F7F73CE5BE4}"/>
                </a:ext>
              </a:extLst>
            </p:cNvPr>
            <p:cNvSpPr txBox="1"/>
            <p:nvPr/>
          </p:nvSpPr>
          <p:spPr>
            <a:xfrm>
              <a:off x="8916561" y="6074644"/>
              <a:ext cx="1446860" cy="462399"/>
            </a:xfrm>
            <a:prstGeom prst="rect">
              <a:avLst/>
            </a:prstGeom>
            <a:noFill/>
          </p:spPr>
          <p:txBody>
            <a:bodyPr wrap="square">
              <a:spAutoFit/>
            </a:bodyPr>
            <a:lstStyle/>
            <a:p>
              <a:pPr marL="0" indent="0" algn="ctr">
                <a:buFont typeface="Arial" panose="020B0604020202020204" pitchFamily="34" charset="0"/>
                <a:buNone/>
              </a:pPr>
              <a:r>
                <a:rPr lang="fr-FR" sz="800" b="1" i="1"/>
                <a:t>AMBASSADEURS « COMMERCIAUX »</a:t>
              </a:r>
            </a:p>
          </p:txBody>
        </p:sp>
        <p:sp>
          <p:nvSpPr>
            <p:cNvPr id="54" name="ZoneTexte 53">
              <a:extLst>
                <a:ext uri="{FF2B5EF4-FFF2-40B4-BE49-F238E27FC236}">
                  <a16:creationId xmlns:a16="http://schemas.microsoft.com/office/drawing/2014/main" id="{AB7ABB52-D298-400B-95B1-182BDADE9156}"/>
                </a:ext>
              </a:extLst>
            </p:cNvPr>
            <p:cNvSpPr txBox="1"/>
            <p:nvPr/>
          </p:nvSpPr>
          <p:spPr>
            <a:xfrm>
              <a:off x="7142145" y="6081667"/>
              <a:ext cx="1498352" cy="462399"/>
            </a:xfrm>
            <a:prstGeom prst="rect">
              <a:avLst/>
            </a:prstGeom>
            <a:noFill/>
          </p:spPr>
          <p:txBody>
            <a:bodyPr wrap="square">
              <a:spAutoFit/>
            </a:bodyPr>
            <a:lstStyle/>
            <a:p>
              <a:pPr marL="0" indent="0" algn="ctr">
                <a:buFont typeface="Arial" panose="020B0604020202020204" pitchFamily="34" charset="0"/>
                <a:buNone/>
              </a:pPr>
              <a:r>
                <a:rPr lang="fr-FR" sz="800" b="1" i="1"/>
                <a:t>AMBASSADEURS </a:t>
              </a:r>
            </a:p>
            <a:p>
              <a:pPr marL="0" indent="0" algn="ctr">
                <a:buFont typeface="Arial" panose="020B0604020202020204" pitchFamily="34" charset="0"/>
                <a:buNone/>
              </a:pPr>
              <a:r>
                <a:rPr lang="fr-FR" sz="800" b="1" i="1"/>
                <a:t>AUDITEURS</a:t>
              </a:r>
            </a:p>
          </p:txBody>
        </p:sp>
        <p:pic>
          <p:nvPicPr>
            <p:cNvPr id="55" name="Graphique 54" descr="Programmeur avec un remplissage uni">
              <a:extLst>
                <a:ext uri="{FF2B5EF4-FFF2-40B4-BE49-F238E27FC236}">
                  <a16:creationId xmlns:a16="http://schemas.microsoft.com/office/drawing/2014/main" id="{296B31F2-176C-496D-9FA6-ABE61AC216DC}"/>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400978" y="5137390"/>
              <a:ext cx="914400" cy="914401"/>
            </a:xfrm>
            <a:prstGeom prst="rect">
              <a:avLst/>
            </a:prstGeom>
          </p:spPr>
        </p:pic>
        <p:sp>
          <p:nvSpPr>
            <p:cNvPr id="56" name="ZoneTexte 55">
              <a:extLst>
                <a:ext uri="{FF2B5EF4-FFF2-40B4-BE49-F238E27FC236}">
                  <a16:creationId xmlns:a16="http://schemas.microsoft.com/office/drawing/2014/main" id="{B3D4768B-B430-480A-850E-9E6FB3B1FF14}"/>
                </a:ext>
              </a:extLst>
            </p:cNvPr>
            <p:cNvSpPr txBox="1"/>
            <p:nvPr/>
          </p:nvSpPr>
          <p:spPr>
            <a:xfrm>
              <a:off x="10545739" y="6082133"/>
              <a:ext cx="1446860" cy="462399"/>
            </a:xfrm>
            <a:prstGeom prst="rect">
              <a:avLst/>
            </a:prstGeom>
            <a:noFill/>
          </p:spPr>
          <p:txBody>
            <a:bodyPr wrap="square">
              <a:spAutoFit/>
            </a:bodyPr>
            <a:lstStyle/>
            <a:p>
              <a:pPr marL="0" indent="0" algn="ctr">
                <a:buFont typeface="Arial" panose="020B0604020202020204" pitchFamily="34" charset="0"/>
                <a:buNone/>
              </a:pPr>
              <a:r>
                <a:rPr lang="fr-FR" sz="800" b="1" i="1"/>
                <a:t>AMBASSADEURS DIPLOMATES</a:t>
              </a:r>
            </a:p>
          </p:txBody>
        </p:sp>
      </p:grpSp>
      <p:pic>
        <p:nvPicPr>
          <p:cNvPr id="57" name="Image 56">
            <a:extLst>
              <a:ext uri="{FF2B5EF4-FFF2-40B4-BE49-F238E27FC236}">
                <a16:creationId xmlns:a16="http://schemas.microsoft.com/office/drawing/2014/main" id="{D12BD52A-8F92-43EC-AEF9-7C7EF5836D7F}"/>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11764591" y="6474648"/>
            <a:ext cx="295285" cy="284863"/>
          </a:xfrm>
          <a:prstGeom prst="rect">
            <a:avLst/>
          </a:prstGeom>
        </p:spPr>
      </p:pic>
      <p:sp>
        <p:nvSpPr>
          <p:cNvPr id="5" name="ZoneTexte 4">
            <a:extLst>
              <a:ext uri="{FF2B5EF4-FFF2-40B4-BE49-F238E27FC236}">
                <a16:creationId xmlns:a16="http://schemas.microsoft.com/office/drawing/2014/main" id="{A2E9C241-5763-E74F-60AD-BA886D305FFB}"/>
              </a:ext>
            </a:extLst>
          </p:cNvPr>
          <p:cNvSpPr txBox="1"/>
          <p:nvPr/>
        </p:nvSpPr>
        <p:spPr>
          <a:xfrm>
            <a:off x="2096478" y="797169"/>
            <a:ext cx="802835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b="1" i="1"/>
              <a:t>Modèle adapté aux ajustements de rôles pour ambassadeurs</a:t>
            </a:r>
            <a:endParaRPr lang="en-US" sz="2400" b="1" i="1">
              <a:cs typeface="Calibri"/>
            </a:endParaRPr>
          </a:p>
        </p:txBody>
      </p:sp>
    </p:spTree>
    <p:extLst>
      <p:ext uri="{BB962C8B-B14F-4D97-AF65-F5344CB8AC3E}">
        <p14:creationId xmlns:p14="http://schemas.microsoft.com/office/powerpoint/2010/main" val="612096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6" name="Tableau 5">
            <a:extLst>
              <a:ext uri="{FF2B5EF4-FFF2-40B4-BE49-F238E27FC236}">
                <a16:creationId xmlns:a16="http://schemas.microsoft.com/office/drawing/2014/main" id="{114B9031-7D7A-2E98-A49F-6561A877F5C0}"/>
              </a:ext>
            </a:extLst>
          </p:cNvPr>
          <p:cNvGraphicFramePr>
            <a:graphicFrameLocks noGrp="1"/>
          </p:cNvGraphicFramePr>
          <p:nvPr>
            <p:extLst>
              <p:ext uri="{D42A27DB-BD31-4B8C-83A1-F6EECF244321}">
                <p14:modId xmlns:p14="http://schemas.microsoft.com/office/powerpoint/2010/main" val="453194100"/>
              </p:ext>
            </p:extLst>
          </p:nvPr>
        </p:nvGraphicFramePr>
        <p:xfrm>
          <a:off x="8881394" y="2133245"/>
          <a:ext cx="3118888" cy="546455"/>
        </p:xfrm>
        <a:graphic>
          <a:graphicData uri="http://schemas.openxmlformats.org/drawingml/2006/table">
            <a:tbl>
              <a:tblPr firstRow="1" bandRow="1">
                <a:tableStyleId>{073A0DAA-6AF3-43AB-8588-CEC1D06C72B9}</a:tableStyleId>
              </a:tblPr>
              <a:tblGrid>
                <a:gridCol w="389861">
                  <a:extLst>
                    <a:ext uri="{9D8B030D-6E8A-4147-A177-3AD203B41FA5}">
                      <a16:colId xmlns:a16="http://schemas.microsoft.com/office/drawing/2014/main" val="1486018635"/>
                    </a:ext>
                  </a:extLst>
                </a:gridCol>
                <a:gridCol w="389861">
                  <a:extLst>
                    <a:ext uri="{9D8B030D-6E8A-4147-A177-3AD203B41FA5}">
                      <a16:colId xmlns:a16="http://schemas.microsoft.com/office/drawing/2014/main" val="761339006"/>
                    </a:ext>
                  </a:extLst>
                </a:gridCol>
                <a:gridCol w="389861">
                  <a:extLst>
                    <a:ext uri="{9D8B030D-6E8A-4147-A177-3AD203B41FA5}">
                      <a16:colId xmlns:a16="http://schemas.microsoft.com/office/drawing/2014/main" val="416087062"/>
                    </a:ext>
                  </a:extLst>
                </a:gridCol>
                <a:gridCol w="389861">
                  <a:extLst>
                    <a:ext uri="{9D8B030D-6E8A-4147-A177-3AD203B41FA5}">
                      <a16:colId xmlns:a16="http://schemas.microsoft.com/office/drawing/2014/main" val="2064857721"/>
                    </a:ext>
                  </a:extLst>
                </a:gridCol>
                <a:gridCol w="389861">
                  <a:extLst>
                    <a:ext uri="{9D8B030D-6E8A-4147-A177-3AD203B41FA5}">
                      <a16:colId xmlns:a16="http://schemas.microsoft.com/office/drawing/2014/main" val="183491405"/>
                    </a:ext>
                  </a:extLst>
                </a:gridCol>
                <a:gridCol w="389861">
                  <a:extLst>
                    <a:ext uri="{9D8B030D-6E8A-4147-A177-3AD203B41FA5}">
                      <a16:colId xmlns:a16="http://schemas.microsoft.com/office/drawing/2014/main" val="3364014230"/>
                    </a:ext>
                  </a:extLst>
                </a:gridCol>
                <a:gridCol w="389861">
                  <a:extLst>
                    <a:ext uri="{9D8B030D-6E8A-4147-A177-3AD203B41FA5}">
                      <a16:colId xmlns:a16="http://schemas.microsoft.com/office/drawing/2014/main" val="365145181"/>
                    </a:ext>
                  </a:extLst>
                </a:gridCol>
                <a:gridCol w="389861">
                  <a:extLst>
                    <a:ext uri="{9D8B030D-6E8A-4147-A177-3AD203B41FA5}">
                      <a16:colId xmlns:a16="http://schemas.microsoft.com/office/drawing/2014/main" val="1628287487"/>
                    </a:ext>
                  </a:extLst>
                </a:gridCol>
              </a:tblGrid>
              <a:tr h="204312">
                <a:tc>
                  <a:txBody>
                    <a:bodyPr/>
                    <a:lstStyle/>
                    <a:p>
                      <a:pPr algn="ctr"/>
                      <a:r>
                        <a:rPr lang="fr-FR" sz="300">
                          <a:solidFill>
                            <a:schemeClr val="bg1"/>
                          </a:solidFill>
                        </a:rPr>
                        <a:t>PAS ENCORE COMMENCÉ</a:t>
                      </a: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INSPIRATION</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COLLECTE</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INITIATION</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CHOC DE LA RÉALITÉ</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CONFIRMATION DE RÉUSSITES</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EXPOSITION</a:t>
                      </a:r>
                    </a:p>
                    <a:p>
                      <a:pPr algn="ctr"/>
                      <a:endParaRPr lang="fr-FR" sz="300">
                        <a:solidFill>
                          <a:schemeClr val="bg1"/>
                        </a:solidFill>
                      </a:endParaRPr>
                    </a:p>
                  </a:txBody>
                  <a:tcPr marL="36893" marR="36893" marT="18446" marB="18446"/>
                </a:tc>
                <a:tc>
                  <a:txBody>
                    <a:bodyPr/>
                    <a:lstStyle/>
                    <a:p>
                      <a:pPr marL="0" indent="0" algn="ctr">
                        <a:buFont typeface="Arial" panose="020B0604020202020204" pitchFamily="34" charset="0"/>
                        <a:buNone/>
                      </a:pPr>
                      <a:r>
                        <a:rPr lang="fr-FR" sz="300" b="1" i="1">
                          <a:solidFill>
                            <a:schemeClr val="bg1"/>
                          </a:solidFill>
                        </a:rPr>
                        <a:t>FORTIFICATION</a:t>
                      </a:r>
                    </a:p>
                    <a:p>
                      <a:pPr marL="0" indent="0" algn="ctr">
                        <a:buFont typeface="Arial" panose="020B0604020202020204" pitchFamily="34" charset="0"/>
                        <a:buNone/>
                      </a:pPr>
                      <a:endParaRPr lang="fr-FR" sz="300" b="1" i="1">
                        <a:solidFill>
                          <a:schemeClr val="bg1"/>
                        </a:solidFill>
                      </a:endParaRPr>
                    </a:p>
                    <a:p>
                      <a:pPr algn="ctr"/>
                      <a:endParaRPr lang="fr-FR" sz="300">
                        <a:solidFill>
                          <a:schemeClr val="bg1"/>
                        </a:solidFill>
                      </a:endParaRPr>
                    </a:p>
                  </a:txBody>
                  <a:tcPr marL="36893" marR="36893" marT="18446" marB="18446"/>
                </a:tc>
                <a:extLst>
                  <a:ext uri="{0D108BD9-81ED-4DB2-BD59-A6C34878D82A}">
                    <a16:rowId xmlns:a16="http://schemas.microsoft.com/office/drawing/2014/main" val="3579208894"/>
                  </a:ext>
                </a:extLst>
              </a:tr>
              <a:tr h="342143">
                <a:tc>
                  <a:txBody>
                    <a:bodyPr/>
                    <a:lstStyle/>
                    <a:p>
                      <a:endParaRPr lang="fr-FR" sz="800"/>
                    </a:p>
                  </a:txBody>
                  <a:tcPr marL="36893" marR="36893" marT="18446" marB="18446"/>
                </a:tc>
                <a:tc>
                  <a:txBody>
                    <a:bodyPr/>
                    <a:lstStyle/>
                    <a:p>
                      <a:endParaRPr lang="fr-FR" sz="800" dirty="0"/>
                    </a:p>
                  </a:txBody>
                  <a:tcPr marL="36893" marR="36893" marT="18446" marB="18446"/>
                </a:tc>
                <a:tc>
                  <a:txBody>
                    <a:bodyPr/>
                    <a:lstStyle/>
                    <a:p>
                      <a:endParaRPr lang="fr-FR" sz="800"/>
                    </a:p>
                  </a:txBody>
                  <a:tcPr marL="36893" marR="36893" marT="18446" marB="18446"/>
                </a:tc>
                <a:tc>
                  <a:txBody>
                    <a:bodyPr/>
                    <a:lstStyle/>
                    <a:p>
                      <a:endParaRPr lang="fr-FR" sz="800" dirty="0"/>
                    </a:p>
                  </a:txBody>
                  <a:tcPr marL="36893" marR="36893" marT="18446" marB="18446"/>
                </a:tc>
                <a:tc>
                  <a:txBody>
                    <a:bodyPr/>
                    <a:lstStyle/>
                    <a:p>
                      <a:endParaRPr lang="fr-FR" sz="800"/>
                    </a:p>
                  </a:txBody>
                  <a:tcPr marL="36893" marR="36893" marT="18446" marB="18446"/>
                </a:tc>
                <a:tc>
                  <a:txBody>
                    <a:bodyPr/>
                    <a:lstStyle/>
                    <a:p>
                      <a:endParaRPr lang="fr-FR" sz="800"/>
                    </a:p>
                  </a:txBody>
                  <a:tcPr marL="36893" marR="36893" marT="18446" marB="18446"/>
                </a:tc>
                <a:tc>
                  <a:txBody>
                    <a:bodyPr/>
                    <a:lstStyle/>
                    <a:p>
                      <a:endParaRPr lang="fr-FR" sz="800"/>
                    </a:p>
                  </a:txBody>
                  <a:tcPr marL="36893" marR="36893" marT="18446" marB="18446"/>
                </a:tc>
                <a:tc>
                  <a:txBody>
                    <a:bodyPr/>
                    <a:lstStyle/>
                    <a:p>
                      <a:endParaRPr lang="fr-FR" sz="800" dirty="0"/>
                    </a:p>
                  </a:txBody>
                  <a:tcPr marL="36893" marR="36893" marT="18446" marB="18446"/>
                </a:tc>
                <a:extLst>
                  <a:ext uri="{0D108BD9-81ED-4DB2-BD59-A6C34878D82A}">
                    <a16:rowId xmlns:a16="http://schemas.microsoft.com/office/drawing/2014/main" val="1415023090"/>
                  </a:ext>
                </a:extLst>
              </a:tr>
            </a:tbl>
          </a:graphicData>
        </a:graphic>
      </p:graphicFrame>
      <p:graphicFrame>
        <p:nvGraphicFramePr>
          <p:cNvPr id="157" name="Tableau 5">
            <a:extLst>
              <a:ext uri="{FF2B5EF4-FFF2-40B4-BE49-F238E27FC236}">
                <a16:creationId xmlns:a16="http://schemas.microsoft.com/office/drawing/2014/main" id="{D8BED21C-D9BC-1D44-4CFF-A6BA741EDF0C}"/>
              </a:ext>
            </a:extLst>
          </p:cNvPr>
          <p:cNvGraphicFramePr>
            <a:graphicFrameLocks noGrp="1"/>
          </p:cNvGraphicFramePr>
          <p:nvPr>
            <p:extLst>
              <p:ext uri="{D42A27DB-BD31-4B8C-83A1-F6EECF244321}">
                <p14:modId xmlns:p14="http://schemas.microsoft.com/office/powerpoint/2010/main" val="2877976857"/>
              </p:ext>
            </p:extLst>
          </p:nvPr>
        </p:nvGraphicFramePr>
        <p:xfrm>
          <a:off x="8892486" y="2755655"/>
          <a:ext cx="3118888" cy="601501"/>
        </p:xfrm>
        <a:graphic>
          <a:graphicData uri="http://schemas.openxmlformats.org/drawingml/2006/table">
            <a:tbl>
              <a:tblPr firstRow="1" bandRow="1">
                <a:tableStyleId>{073A0DAA-6AF3-43AB-8588-CEC1D06C72B9}</a:tableStyleId>
              </a:tblPr>
              <a:tblGrid>
                <a:gridCol w="389861">
                  <a:extLst>
                    <a:ext uri="{9D8B030D-6E8A-4147-A177-3AD203B41FA5}">
                      <a16:colId xmlns:a16="http://schemas.microsoft.com/office/drawing/2014/main" val="1486018635"/>
                    </a:ext>
                  </a:extLst>
                </a:gridCol>
                <a:gridCol w="389861">
                  <a:extLst>
                    <a:ext uri="{9D8B030D-6E8A-4147-A177-3AD203B41FA5}">
                      <a16:colId xmlns:a16="http://schemas.microsoft.com/office/drawing/2014/main" val="761339006"/>
                    </a:ext>
                  </a:extLst>
                </a:gridCol>
                <a:gridCol w="389861">
                  <a:extLst>
                    <a:ext uri="{9D8B030D-6E8A-4147-A177-3AD203B41FA5}">
                      <a16:colId xmlns:a16="http://schemas.microsoft.com/office/drawing/2014/main" val="416087062"/>
                    </a:ext>
                  </a:extLst>
                </a:gridCol>
                <a:gridCol w="389861">
                  <a:extLst>
                    <a:ext uri="{9D8B030D-6E8A-4147-A177-3AD203B41FA5}">
                      <a16:colId xmlns:a16="http://schemas.microsoft.com/office/drawing/2014/main" val="2064857721"/>
                    </a:ext>
                  </a:extLst>
                </a:gridCol>
                <a:gridCol w="389861">
                  <a:extLst>
                    <a:ext uri="{9D8B030D-6E8A-4147-A177-3AD203B41FA5}">
                      <a16:colId xmlns:a16="http://schemas.microsoft.com/office/drawing/2014/main" val="183491405"/>
                    </a:ext>
                  </a:extLst>
                </a:gridCol>
                <a:gridCol w="389861">
                  <a:extLst>
                    <a:ext uri="{9D8B030D-6E8A-4147-A177-3AD203B41FA5}">
                      <a16:colId xmlns:a16="http://schemas.microsoft.com/office/drawing/2014/main" val="3364014230"/>
                    </a:ext>
                  </a:extLst>
                </a:gridCol>
                <a:gridCol w="389861">
                  <a:extLst>
                    <a:ext uri="{9D8B030D-6E8A-4147-A177-3AD203B41FA5}">
                      <a16:colId xmlns:a16="http://schemas.microsoft.com/office/drawing/2014/main" val="365145181"/>
                    </a:ext>
                  </a:extLst>
                </a:gridCol>
                <a:gridCol w="389861">
                  <a:extLst>
                    <a:ext uri="{9D8B030D-6E8A-4147-A177-3AD203B41FA5}">
                      <a16:colId xmlns:a16="http://schemas.microsoft.com/office/drawing/2014/main" val="1628287487"/>
                    </a:ext>
                  </a:extLst>
                </a:gridCol>
              </a:tblGrid>
              <a:tr h="204312">
                <a:tc>
                  <a:txBody>
                    <a:bodyPr/>
                    <a:lstStyle/>
                    <a:p>
                      <a:pPr algn="ctr"/>
                      <a:r>
                        <a:rPr lang="fr-FR" sz="300">
                          <a:solidFill>
                            <a:schemeClr val="bg1"/>
                          </a:solidFill>
                        </a:rPr>
                        <a:t>PAS ENCORE COMMENCÉ</a:t>
                      </a: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INSPIRATION</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COLLECTE</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INITIATION</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CHOC DE LA RÉALITÉ</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dirty="0">
                          <a:solidFill>
                            <a:schemeClr val="bg1"/>
                          </a:solidFill>
                        </a:rPr>
                        <a:t>CONFIRMATION DE RÉUSSITES</a:t>
                      </a:r>
                    </a:p>
                    <a:p>
                      <a:pPr algn="ctr"/>
                      <a:endParaRPr lang="fr-FR" sz="300" dirty="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EXPOSITION</a:t>
                      </a:r>
                    </a:p>
                    <a:p>
                      <a:pPr algn="ctr"/>
                      <a:endParaRPr lang="fr-FR" sz="300">
                        <a:solidFill>
                          <a:schemeClr val="bg1"/>
                        </a:solidFill>
                      </a:endParaRPr>
                    </a:p>
                  </a:txBody>
                  <a:tcPr marL="36893" marR="36893" marT="18446" marB="18446"/>
                </a:tc>
                <a:tc>
                  <a:txBody>
                    <a:bodyPr/>
                    <a:lstStyle/>
                    <a:p>
                      <a:pPr marL="0" indent="0" algn="ctr">
                        <a:buFont typeface="Arial" panose="020B0604020202020204" pitchFamily="34" charset="0"/>
                        <a:buNone/>
                      </a:pPr>
                      <a:r>
                        <a:rPr lang="fr-FR" sz="300" b="1" i="1">
                          <a:solidFill>
                            <a:schemeClr val="bg1"/>
                          </a:solidFill>
                        </a:rPr>
                        <a:t>FORTIFICATION</a:t>
                      </a:r>
                    </a:p>
                    <a:p>
                      <a:pPr marL="0" indent="0" algn="ctr">
                        <a:buFont typeface="Arial" panose="020B0604020202020204" pitchFamily="34" charset="0"/>
                        <a:buNone/>
                      </a:pPr>
                      <a:endParaRPr lang="fr-FR" sz="300" b="1" i="1">
                        <a:solidFill>
                          <a:schemeClr val="bg1"/>
                        </a:solidFill>
                      </a:endParaRPr>
                    </a:p>
                    <a:p>
                      <a:pPr algn="ctr"/>
                      <a:endParaRPr lang="fr-FR" sz="300">
                        <a:solidFill>
                          <a:schemeClr val="bg1"/>
                        </a:solidFill>
                      </a:endParaRPr>
                    </a:p>
                  </a:txBody>
                  <a:tcPr marL="36893" marR="36893" marT="18446" marB="18446"/>
                </a:tc>
                <a:extLst>
                  <a:ext uri="{0D108BD9-81ED-4DB2-BD59-A6C34878D82A}">
                    <a16:rowId xmlns:a16="http://schemas.microsoft.com/office/drawing/2014/main" val="3579208894"/>
                  </a:ext>
                </a:extLst>
              </a:tr>
              <a:tr h="397189">
                <a:tc>
                  <a:txBody>
                    <a:bodyPr/>
                    <a:lstStyle/>
                    <a:p>
                      <a:endParaRPr lang="fr-FR" sz="800"/>
                    </a:p>
                  </a:txBody>
                  <a:tcPr marL="36893" marR="36893" marT="18446" marB="18446"/>
                </a:tc>
                <a:tc>
                  <a:txBody>
                    <a:bodyPr/>
                    <a:lstStyle/>
                    <a:p>
                      <a:endParaRPr lang="fr-FR" sz="800" dirty="0"/>
                    </a:p>
                  </a:txBody>
                  <a:tcPr marL="36893" marR="36893" marT="18446" marB="18446"/>
                </a:tc>
                <a:tc>
                  <a:txBody>
                    <a:bodyPr/>
                    <a:lstStyle/>
                    <a:p>
                      <a:endParaRPr lang="fr-FR" sz="800"/>
                    </a:p>
                  </a:txBody>
                  <a:tcPr marL="36893" marR="36893" marT="18446" marB="18446"/>
                </a:tc>
                <a:tc>
                  <a:txBody>
                    <a:bodyPr/>
                    <a:lstStyle/>
                    <a:p>
                      <a:endParaRPr lang="fr-FR" sz="800" dirty="0"/>
                    </a:p>
                  </a:txBody>
                  <a:tcPr marL="36893" marR="36893" marT="18446" marB="18446"/>
                </a:tc>
                <a:tc>
                  <a:txBody>
                    <a:bodyPr/>
                    <a:lstStyle/>
                    <a:p>
                      <a:endParaRPr lang="fr-FR" sz="800"/>
                    </a:p>
                  </a:txBody>
                  <a:tcPr marL="36893" marR="36893" marT="18446" marB="18446"/>
                </a:tc>
                <a:tc>
                  <a:txBody>
                    <a:bodyPr/>
                    <a:lstStyle/>
                    <a:p>
                      <a:endParaRPr lang="fr-FR" sz="800"/>
                    </a:p>
                  </a:txBody>
                  <a:tcPr marL="36893" marR="36893" marT="18446" marB="18446"/>
                </a:tc>
                <a:tc>
                  <a:txBody>
                    <a:bodyPr/>
                    <a:lstStyle/>
                    <a:p>
                      <a:endParaRPr lang="fr-FR" sz="800"/>
                    </a:p>
                  </a:txBody>
                  <a:tcPr marL="36893" marR="36893" marT="18446" marB="18446"/>
                </a:tc>
                <a:tc>
                  <a:txBody>
                    <a:bodyPr/>
                    <a:lstStyle/>
                    <a:p>
                      <a:endParaRPr lang="fr-FR" sz="800" dirty="0"/>
                    </a:p>
                  </a:txBody>
                  <a:tcPr marL="36893" marR="36893" marT="18446" marB="18446"/>
                </a:tc>
                <a:extLst>
                  <a:ext uri="{0D108BD9-81ED-4DB2-BD59-A6C34878D82A}">
                    <a16:rowId xmlns:a16="http://schemas.microsoft.com/office/drawing/2014/main" val="1415023090"/>
                  </a:ext>
                </a:extLst>
              </a:tr>
            </a:tbl>
          </a:graphicData>
        </a:graphic>
      </p:graphicFrame>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0" y="321342"/>
            <a:ext cx="12192000" cy="71939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fr-FR" sz="3200" b="1" i="1" dirty="0">
                <a:solidFill>
                  <a:srgbClr val="0683AA"/>
                </a:solidFill>
                <a:ea typeface="+mn-lt"/>
                <a:cs typeface="+mn-lt"/>
              </a:rPr>
              <a:t>#OSC </a:t>
            </a:r>
            <a:r>
              <a:rPr lang="fr-FR" sz="3200" b="1" i="1" dirty="0">
                <a:solidFill>
                  <a:srgbClr val="ED7D31"/>
                </a:solidFill>
                <a:ea typeface="+mn-lt"/>
                <a:cs typeface="+mn-lt"/>
              </a:rPr>
              <a:t>Change </a:t>
            </a:r>
            <a:r>
              <a:rPr lang="fr-FR" sz="3200" b="1" i="1" dirty="0">
                <a:solidFill>
                  <a:srgbClr val="0683AA"/>
                </a:solidFill>
                <a:ea typeface="+mn-lt"/>
                <a:cs typeface="+mn-lt"/>
              </a:rPr>
              <a:t>Community </a:t>
            </a:r>
            <a:r>
              <a:rPr lang="fr-FR" sz="3200" b="1" i="1" dirty="0">
                <a:ea typeface="+mn-lt"/>
                <a:cs typeface="+mn-lt"/>
              </a:rPr>
              <a:t>Cycle</a:t>
            </a:r>
            <a:endParaRPr lang="en-US" sz="3200" dirty="0">
              <a:ea typeface="+mn-lt"/>
              <a:cs typeface="+mn-lt"/>
            </a:endParaRPr>
          </a:p>
        </p:txBody>
      </p:sp>
      <p:sp>
        <p:nvSpPr>
          <p:cNvPr id="5" name="ZoneTexte 4">
            <a:extLst>
              <a:ext uri="{FF2B5EF4-FFF2-40B4-BE49-F238E27FC236}">
                <a16:creationId xmlns:a16="http://schemas.microsoft.com/office/drawing/2014/main" id="{A2E9C241-5763-E74F-60AD-BA886D305FFB}"/>
              </a:ext>
            </a:extLst>
          </p:cNvPr>
          <p:cNvSpPr txBox="1"/>
          <p:nvPr/>
        </p:nvSpPr>
        <p:spPr>
          <a:xfrm>
            <a:off x="2096478" y="797169"/>
            <a:ext cx="802835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b="1" i="1" dirty="0"/>
              <a:t>Les ateliers pour usage opérationnel</a:t>
            </a:r>
            <a:endParaRPr lang="en-US" sz="2400" b="1" i="1" dirty="0">
              <a:cs typeface="Calibri"/>
            </a:endParaRPr>
          </a:p>
        </p:txBody>
      </p:sp>
      <p:grpSp>
        <p:nvGrpSpPr>
          <p:cNvPr id="3" name="Groupe 2">
            <a:extLst>
              <a:ext uri="{FF2B5EF4-FFF2-40B4-BE49-F238E27FC236}">
                <a16:creationId xmlns:a16="http://schemas.microsoft.com/office/drawing/2014/main" id="{227C8013-4150-E9F1-A1E1-094138383D74}"/>
              </a:ext>
            </a:extLst>
          </p:cNvPr>
          <p:cNvGrpSpPr/>
          <p:nvPr/>
        </p:nvGrpSpPr>
        <p:grpSpPr>
          <a:xfrm>
            <a:off x="289656" y="1676973"/>
            <a:ext cx="3225546" cy="1778064"/>
            <a:chOff x="3096631" y="1818574"/>
            <a:chExt cx="8963245" cy="4940937"/>
          </a:xfrm>
        </p:grpSpPr>
        <p:grpSp>
          <p:nvGrpSpPr>
            <p:cNvPr id="6" name="Groupe 5">
              <a:extLst>
                <a:ext uri="{FF2B5EF4-FFF2-40B4-BE49-F238E27FC236}">
                  <a16:creationId xmlns:a16="http://schemas.microsoft.com/office/drawing/2014/main" id="{C0DF3C4A-AAAE-88DB-0F7E-8C2C6BF526DF}"/>
                </a:ext>
              </a:extLst>
            </p:cNvPr>
            <p:cNvGrpSpPr/>
            <p:nvPr/>
          </p:nvGrpSpPr>
          <p:grpSpPr>
            <a:xfrm>
              <a:off x="3552347" y="1818574"/>
              <a:ext cx="8507529" cy="971156"/>
              <a:chOff x="11600" y="1496380"/>
              <a:chExt cx="12038120" cy="1498765"/>
            </a:xfrm>
          </p:grpSpPr>
          <p:grpSp>
            <p:nvGrpSpPr>
              <p:cNvPr id="77" name="Groupe 76">
                <a:extLst>
                  <a:ext uri="{FF2B5EF4-FFF2-40B4-BE49-F238E27FC236}">
                    <a16:creationId xmlns:a16="http://schemas.microsoft.com/office/drawing/2014/main" id="{3518B537-261C-B32B-7B33-38CE1F9DFB59}"/>
                  </a:ext>
                </a:extLst>
              </p:cNvPr>
              <p:cNvGrpSpPr/>
              <p:nvPr/>
            </p:nvGrpSpPr>
            <p:grpSpPr>
              <a:xfrm>
                <a:off x="11600" y="2499558"/>
                <a:ext cx="12038120" cy="495587"/>
                <a:chOff x="0" y="2140394"/>
                <a:chExt cx="12854128" cy="4544491"/>
              </a:xfrm>
            </p:grpSpPr>
            <p:sp>
              <p:nvSpPr>
                <p:cNvPr id="85" name="Espace réservé du texte 15">
                  <a:extLst>
                    <a:ext uri="{FF2B5EF4-FFF2-40B4-BE49-F238E27FC236}">
                      <a16:creationId xmlns:a16="http://schemas.microsoft.com/office/drawing/2014/main" id="{30FD839C-C164-1EA5-22C2-BF2DAAAC152A}"/>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86" name="Espace réservé du texte 15">
                  <a:extLst>
                    <a:ext uri="{FF2B5EF4-FFF2-40B4-BE49-F238E27FC236}">
                      <a16:creationId xmlns:a16="http://schemas.microsoft.com/office/drawing/2014/main" id="{1A69250E-3352-6A1A-49B2-B29CA5963AA0}"/>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87" name="Espace réservé du texte 15">
                  <a:extLst>
                    <a:ext uri="{FF2B5EF4-FFF2-40B4-BE49-F238E27FC236}">
                      <a16:creationId xmlns:a16="http://schemas.microsoft.com/office/drawing/2014/main" id="{51932508-E933-2DFC-834B-DE7861C272AC}"/>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88" name="Espace réservé du texte 15">
                  <a:extLst>
                    <a:ext uri="{FF2B5EF4-FFF2-40B4-BE49-F238E27FC236}">
                      <a16:creationId xmlns:a16="http://schemas.microsoft.com/office/drawing/2014/main" id="{29BAD630-716C-9295-CEEF-6FE33F842FBC}"/>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89" name="Espace réservé du texte 15">
                  <a:extLst>
                    <a:ext uri="{FF2B5EF4-FFF2-40B4-BE49-F238E27FC236}">
                      <a16:creationId xmlns:a16="http://schemas.microsoft.com/office/drawing/2014/main" id="{60878DA0-10BF-9C50-204B-37CF253A4DDD}"/>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90" name="Espace réservé du texte 15">
                  <a:extLst>
                    <a:ext uri="{FF2B5EF4-FFF2-40B4-BE49-F238E27FC236}">
                      <a16:creationId xmlns:a16="http://schemas.microsoft.com/office/drawing/2014/main" id="{F0DB8894-0D3C-72AD-3C67-A73589B0AC88}"/>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91" name="Espace réservé du texte 15">
                  <a:extLst>
                    <a:ext uri="{FF2B5EF4-FFF2-40B4-BE49-F238E27FC236}">
                      <a16:creationId xmlns:a16="http://schemas.microsoft.com/office/drawing/2014/main" id="{0A9D746C-7853-BE8F-8E38-B48F199C9E72}"/>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78" name="Graphique 77" descr="Ampoule avec un remplissage uni">
                <a:extLst>
                  <a:ext uri="{FF2B5EF4-FFF2-40B4-BE49-F238E27FC236}">
                    <a16:creationId xmlns:a16="http://schemas.microsoft.com/office/drawing/2014/main" id="{366EEBD0-ED88-FC5E-7FB4-4B7B3C5CC2E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79" name="Graphique 78" descr="Seau et pelle avec un remplissage uni">
                <a:extLst>
                  <a:ext uri="{FF2B5EF4-FFF2-40B4-BE49-F238E27FC236}">
                    <a16:creationId xmlns:a16="http://schemas.microsoft.com/office/drawing/2014/main" id="{1CAA77E1-CFB5-2984-8656-964BC8297FF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80" name="Graphique 79" descr="Tubes à essai avec un remplissage uni">
                <a:extLst>
                  <a:ext uri="{FF2B5EF4-FFF2-40B4-BE49-F238E27FC236}">
                    <a16:creationId xmlns:a16="http://schemas.microsoft.com/office/drawing/2014/main" id="{8E25AF89-A9AD-6521-0DB2-24F422A667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81" name="Graphique 80" descr="Explosion avec un remplissage uni">
                <a:extLst>
                  <a:ext uri="{FF2B5EF4-FFF2-40B4-BE49-F238E27FC236}">
                    <a16:creationId xmlns:a16="http://schemas.microsoft.com/office/drawing/2014/main" id="{609B3359-4170-9480-D958-78E7EC6CCE8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82" name="Graphique 81" descr="Trophée avec un remplissage uni">
                <a:extLst>
                  <a:ext uri="{FF2B5EF4-FFF2-40B4-BE49-F238E27FC236}">
                    <a16:creationId xmlns:a16="http://schemas.microsoft.com/office/drawing/2014/main" id="{95C22839-1335-E420-5327-78F2DC62EDF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83" name="Graphique 82" descr="Assiette couverte avec un remplissage uni">
                <a:extLst>
                  <a:ext uri="{FF2B5EF4-FFF2-40B4-BE49-F238E27FC236}">
                    <a16:creationId xmlns:a16="http://schemas.microsoft.com/office/drawing/2014/main" id="{DC059800-F9B3-B720-4C66-4EFE2F7941F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84" name="Graphique 83" descr="Scène de château avec un remplissage uni">
                <a:extLst>
                  <a:ext uri="{FF2B5EF4-FFF2-40B4-BE49-F238E27FC236}">
                    <a16:creationId xmlns:a16="http://schemas.microsoft.com/office/drawing/2014/main" id="{A8597FDC-B8C2-91E7-4640-CBEE62E0A3F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pic>
          <p:nvPicPr>
            <p:cNvPr id="7" name="Image 6">
              <a:extLst>
                <a:ext uri="{FF2B5EF4-FFF2-40B4-BE49-F238E27FC236}">
                  <a16:creationId xmlns:a16="http://schemas.microsoft.com/office/drawing/2014/main" id="{A79A3E21-4857-C06F-0E66-1EECBF5CDC88}"/>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764591" y="6474648"/>
              <a:ext cx="295285" cy="284863"/>
            </a:xfrm>
            <a:prstGeom prst="rect">
              <a:avLst/>
            </a:prstGeom>
          </p:spPr>
        </p:pic>
        <p:grpSp>
          <p:nvGrpSpPr>
            <p:cNvPr id="24" name="Groupe 23">
              <a:extLst>
                <a:ext uri="{FF2B5EF4-FFF2-40B4-BE49-F238E27FC236}">
                  <a16:creationId xmlns:a16="http://schemas.microsoft.com/office/drawing/2014/main" id="{3582DBB1-D4EF-D666-27DA-26B22E53656C}"/>
                </a:ext>
              </a:extLst>
            </p:cNvPr>
            <p:cNvGrpSpPr/>
            <p:nvPr/>
          </p:nvGrpSpPr>
          <p:grpSpPr>
            <a:xfrm>
              <a:off x="3099062" y="3360591"/>
              <a:ext cx="3677086" cy="385275"/>
              <a:chOff x="3099062" y="3401649"/>
              <a:chExt cx="3677086" cy="385275"/>
            </a:xfrm>
          </p:grpSpPr>
          <p:sp>
            <p:nvSpPr>
              <p:cNvPr id="74" name="Rectangle 73">
                <a:extLst>
                  <a:ext uri="{FF2B5EF4-FFF2-40B4-BE49-F238E27FC236}">
                    <a16:creationId xmlns:a16="http://schemas.microsoft.com/office/drawing/2014/main" id="{A3573946-B8CD-3E6D-99C5-822988C2E560}"/>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5" name="Connecteur droit avec flèche 74">
                <a:extLst>
                  <a:ext uri="{FF2B5EF4-FFF2-40B4-BE49-F238E27FC236}">
                    <a16:creationId xmlns:a16="http://schemas.microsoft.com/office/drawing/2014/main" id="{BBA5C4B7-CB77-FDC7-B502-BB8560923F6A}"/>
                  </a:ext>
                </a:extLst>
              </p:cNvPr>
              <p:cNvCxnSpPr>
                <a:cxnSpLocks/>
                <a:stCxn id="74" idx="3"/>
                <a:endCxn id="76" idx="1"/>
              </p:cNvCxnSpPr>
              <p:nvPr/>
            </p:nvCxnSpPr>
            <p:spPr>
              <a:xfrm>
                <a:off x="3392025" y="3594286"/>
                <a:ext cx="29988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6" name="Graphique 75" descr="Mille avec un remplissage uni">
                <a:extLst>
                  <a:ext uri="{FF2B5EF4-FFF2-40B4-BE49-F238E27FC236}">
                    <a16:creationId xmlns:a16="http://schemas.microsoft.com/office/drawing/2014/main" id="{0CAFFD38-38A1-6696-42D2-F717D38F1994}"/>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90873" y="3401649"/>
                <a:ext cx="385275" cy="385275"/>
              </a:xfrm>
              <a:prstGeom prst="rect">
                <a:avLst/>
              </a:prstGeom>
            </p:spPr>
          </p:pic>
        </p:grpSp>
        <p:grpSp>
          <p:nvGrpSpPr>
            <p:cNvPr id="25" name="Groupe 24">
              <a:extLst>
                <a:ext uri="{FF2B5EF4-FFF2-40B4-BE49-F238E27FC236}">
                  <a16:creationId xmlns:a16="http://schemas.microsoft.com/office/drawing/2014/main" id="{1AF81FEA-CFAF-ADB4-8102-6D2C701BB201}"/>
                </a:ext>
              </a:extLst>
            </p:cNvPr>
            <p:cNvGrpSpPr/>
            <p:nvPr/>
          </p:nvGrpSpPr>
          <p:grpSpPr>
            <a:xfrm>
              <a:off x="3099061" y="3804468"/>
              <a:ext cx="7355485" cy="385275"/>
              <a:chOff x="3099061" y="3796432"/>
              <a:chExt cx="7355485" cy="385275"/>
            </a:xfrm>
          </p:grpSpPr>
          <p:sp>
            <p:nvSpPr>
              <p:cNvPr id="71" name="Rectangle 70">
                <a:extLst>
                  <a:ext uri="{FF2B5EF4-FFF2-40B4-BE49-F238E27FC236}">
                    <a16:creationId xmlns:a16="http://schemas.microsoft.com/office/drawing/2014/main" id="{4DD1E273-77AE-5B17-6B9A-D6E3C979B50C}"/>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2" name="Connecteur droit avec flèche 71">
                <a:extLst>
                  <a:ext uri="{FF2B5EF4-FFF2-40B4-BE49-F238E27FC236}">
                    <a16:creationId xmlns:a16="http://schemas.microsoft.com/office/drawing/2014/main" id="{11A99D09-788A-37DF-D564-1E38E22D3B63}"/>
                  </a:ext>
                </a:extLst>
              </p:cNvPr>
              <p:cNvCxnSpPr>
                <a:cxnSpLocks/>
                <a:stCxn id="71" idx="3"/>
                <a:endCxn id="73"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3" name="Graphique 72" descr="Mille avec un remplissage uni">
                <a:extLst>
                  <a:ext uri="{FF2B5EF4-FFF2-40B4-BE49-F238E27FC236}">
                    <a16:creationId xmlns:a16="http://schemas.microsoft.com/office/drawing/2014/main" id="{46ECBCDB-1341-39DC-1671-B6D364BF1E1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069271" y="3796432"/>
                <a:ext cx="385275" cy="385275"/>
              </a:xfrm>
              <a:prstGeom prst="rect">
                <a:avLst/>
              </a:prstGeom>
            </p:spPr>
          </p:pic>
        </p:grpSp>
        <p:grpSp>
          <p:nvGrpSpPr>
            <p:cNvPr id="26" name="Groupe 25">
              <a:extLst>
                <a:ext uri="{FF2B5EF4-FFF2-40B4-BE49-F238E27FC236}">
                  <a16:creationId xmlns:a16="http://schemas.microsoft.com/office/drawing/2014/main" id="{8170BD62-DBFA-7778-0780-D685F28FF83D}"/>
                </a:ext>
              </a:extLst>
            </p:cNvPr>
            <p:cNvGrpSpPr/>
            <p:nvPr/>
          </p:nvGrpSpPr>
          <p:grpSpPr>
            <a:xfrm>
              <a:off x="3096631" y="5136099"/>
              <a:ext cx="2503539" cy="385275"/>
              <a:chOff x="3096631" y="5085827"/>
              <a:chExt cx="2503539" cy="385275"/>
            </a:xfrm>
          </p:grpSpPr>
          <p:sp>
            <p:nvSpPr>
              <p:cNvPr id="68" name="Rectangle 67">
                <a:extLst>
                  <a:ext uri="{FF2B5EF4-FFF2-40B4-BE49-F238E27FC236}">
                    <a16:creationId xmlns:a16="http://schemas.microsoft.com/office/drawing/2014/main" id="{0CE66E01-5507-8118-9386-A150D33B80C0}"/>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9" name="Connecteur droit avec flèche 68">
                <a:extLst>
                  <a:ext uri="{FF2B5EF4-FFF2-40B4-BE49-F238E27FC236}">
                    <a16:creationId xmlns:a16="http://schemas.microsoft.com/office/drawing/2014/main" id="{629B3F75-C57D-0491-EE8E-18421AFF6015}"/>
                  </a:ext>
                </a:extLst>
              </p:cNvPr>
              <p:cNvCxnSpPr>
                <a:cxnSpLocks/>
                <a:stCxn id="68" idx="3"/>
                <a:endCxn id="70"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0" name="Graphique 69" descr="Mille avec un remplissage uni">
                <a:extLst>
                  <a:ext uri="{FF2B5EF4-FFF2-40B4-BE49-F238E27FC236}">
                    <a16:creationId xmlns:a16="http://schemas.microsoft.com/office/drawing/2014/main" id="{82EC1135-4FE4-7A92-F21E-4725380BE60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214895" y="5085827"/>
                <a:ext cx="385275" cy="385275"/>
              </a:xfrm>
              <a:prstGeom prst="rect">
                <a:avLst/>
              </a:prstGeom>
            </p:spPr>
          </p:pic>
        </p:grpSp>
        <p:grpSp>
          <p:nvGrpSpPr>
            <p:cNvPr id="27" name="Groupe 26">
              <a:extLst>
                <a:ext uri="{FF2B5EF4-FFF2-40B4-BE49-F238E27FC236}">
                  <a16:creationId xmlns:a16="http://schemas.microsoft.com/office/drawing/2014/main" id="{46BD67C1-0EFA-EAF8-554B-A6BA50439F1E}"/>
                </a:ext>
              </a:extLst>
            </p:cNvPr>
            <p:cNvGrpSpPr/>
            <p:nvPr/>
          </p:nvGrpSpPr>
          <p:grpSpPr>
            <a:xfrm>
              <a:off x="3096631" y="4692222"/>
              <a:ext cx="6130386" cy="385275"/>
              <a:chOff x="3096631" y="4618230"/>
              <a:chExt cx="6130386" cy="385275"/>
            </a:xfrm>
          </p:grpSpPr>
          <p:sp>
            <p:nvSpPr>
              <p:cNvPr id="65" name="Rectangle 64">
                <a:extLst>
                  <a:ext uri="{FF2B5EF4-FFF2-40B4-BE49-F238E27FC236}">
                    <a16:creationId xmlns:a16="http://schemas.microsoft.com/office/drawing/2014/main" id="{ECE449B9-22BB-5A48-CFCC-9D48FE601FE2}"/>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6" name="Connecteur droit avec flèche 65">
                <a:extLst>
                  <a:ext uri="{FF2B5EF4-FFF2-40B4-BE49-F238E27FC236}">
                    <a16:creationId xmlns:a16="http://schemas.microsoft.com/office/drawing/2014/main" id="{B7DF8E21-324F-C9AD-9BCB-AAF2A009960C}"/>
                  </a:ext>
                </a:extLst>
              </p:cNvPr>
              <p:cNvCxnSpPr>
                <a:cxnSpLocks/>
                <a:stCxn id="65" idx="3"/>
                <a:endCxn id="67" idx="1"/>
              </p:cNvCxnSpPr>
              <p:nvPr/>
            </p:nvCxnSpPr>
            <p:spPr>
              <a:xfrm>
                <a:off x="3389594" y="4810867"/>
                <a:ext cx="54521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7" name="Graphique 66" descr="Mille avec un remplissage uni">
                <a:extLst>
                  <a:ext uri="{FF2B5EF4-FFF2-40B4-BE49-F238E27FC236}">
                    <a16:creationId xmlns:a16="http://schemas.microsoft.com/office/drawing/2014/main" id="{BFFFDEC4-853D-7BBE-BBEF-0566B662118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841742" y="4618230"/>
                <a:ext cx="385275" cy="385275"/>
              </a:xfrm>
              <a:prstGeom prst="rect">
                <a:avLst/>
              </a:prstGeom>
            </p:spPr>
          </p:pic>
        </p:grpSp>
        <p:grpSp>
          <p:nvGrpSpPr>
            <p:cNvPr id="28" name="Groupe 27">
              <a:extLst>
                <a:ext uri="{FF2B5EF4-FFF2-40B4-BE49-F238E27FC236}">
                  <a16:creationId xmlns:a16="http://schemas.microsoft.com/office/drawing/2014/main" id="{494C31D0-1AED-36A8-0F5C-4C2C5D620206}"/>
                </a:ext>
              </a:extLst>
            </p:cNvPr>
            <p:cNvGrpSpPr/>
            <p:nvPr/>
          </p:nvGrpSpPr>
          <p:grpSpPr>
            <a:xfrm>
              <a:off x="3096632" y="4248345"/>
              <a:ext cx="8567098" cy="385275"/>
              <a:chOff x="3096632" y="4195205"/>
              <a:chExt cx="8567098" cy="385275"/>
            </a:xfrm>
          </p:grpSpPr>
          <p:sp>
            <p:nvSpPr>
              <p:cNvPr id="62" name="Rectangle 61">
                <a:extLst>
                  <a:ext uri="{FF2B5EF4-FFF2-40B4-BE49-F238E27FC236}">
                    <a16:creationId xmlns:a16="http://schemas.microsoft.com/office/drawing/2014/main" id="{42EE37EB-A886-E3FB-F1E4-3C85B60662F8}"/>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3" name="Connecteur droit avec flèche 62">
                <a:extLst>
                  <a:ext uri="{FF2B5EF4-FFF2-40B4-BE49-F238E27FC236}">
                    <a16:creationId xmlns:a16="http://schemas.microsoft.com/office/drawing/2014/main" id="{269F926D-E18A-EC69-385D-21DF2400096F}"/>
                  </a:ext>
                </a:extLst>
              </p:cNvPr>
              <p:cNvCxnSpPr>
                <a:cxnSpLocks/>
                <a:stCxn id="62" idx="3"/>
                <a:endCxn id="64"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4" name="Graphique 63" descr="Mille avec un remplissage uni">
                <a:extLst>
                  <a:ext uri="{FF2B5EF4-FFF2-40B4-BE49-F238E27FC236}">
                    <a16:creationId xmlns:a16="http://schemas.microsoft.com/office/drawing/2014/main" id="{A2DF6BC8-9264-18CE-212B-EA21FA031484}"/>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278455" y="4195205"/>
                <a:ext cx="385275" cy="385275"/>
              </a:xfrm>
              <a:prstGeom prst="rect">
                <a:avLst/>
              </a:prstGeom>
            </p:spPr>
          </p:pic>
        </p:grpSp>
        <p:grpSp>
          <p:nvGrpSpPr>
            <p:cNvPr id="29" name="Groupe 28">
              <a:extLst>
                <a:ext uri="{FF2B5EF4-FFF2-40B4-BE49-F238E27FC236}">
                  <a16:creationId xmlns:a16="http://schemas.microsoft.com/office/drawing/2014/main" id="{AB8408A1-3214-DCD5-4283-8AF87C7823D8}"/>
                </a:ext>
              </a:extLst>
            </p:cNvPr>
            <p:cNvGrpSpPr/>
            <p:nvPr/>
          </p:nvGrpSpPr>
          <p:grpSpPr>
            <a:xfrm>
              <a:off x="3096635" y="5579974"/>
              <a:ext cx="1218292" cy="385275"/>
              <a:chOff x="3096635" y="5579974"/>
              <a:chExt cx="1218292" cy="385275"/>
            </a:xfrm>
          </p:grpSpPr>
          <p:sp>
            <p:nvSpPr>
              <p:cNvPr id="59" name="Rectangle 58">
                <a:extLst>
                  <a:ext uri="{FF2B5EF4-FFF2-40B4-BE49-F238E27FC236}">
                    <a16:creationId xmlns:a16="http://schemas.microsoft.com/office/drawing/2014/main" id="{BAE85D7B-F9E4-8DD9-3ABD-3E495E31B255}"/>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0" name="Connecteur droit avec flèche 59">
                <a:extLst>
                  <a:ext uri="{FF2B5EF4-FFF2-40B4-BE49-F238E27FC236}">
                    <a16:creationId xmlns:a16="http://schemas.microsoft.com/office/drawing/2014/main" id="{0A3B042F-EB10-E895-A5FB-4174E89492AC}"/>
                  </a:ext>
                </a:extLst>
              </p:cNvPr>
              <p:cNvCxnSpPr>
                <a:cxnSpLocks/>
                <a:stCxn id="59" idx="3"/>
                <a:endCxn id="61" idx="1"/>
              </p:cNvCxnSpPr>
              <p:nvPr/>
            </p:nvCxnSpPr>
            <p:spPr>
              <a:xfrm>
                <a:off x="3389598" y="5772612"/>
                <a:ext cx="5400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1" name="Graphique 60" descr="Mille avec un remplissage uni">
                <a:extLst>
                  <a:ext uri="{FF2B5EF4-FFF2-40B4-BE49-F238E27FC236}">
                    <a16:creationId xmlns:a16="http://schemas.microsoft.com/office/drawing/2014/main" id="{4F479D6A-1B4D-8273-A0B7-550434B7C3A6}"/>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929652" y="5579974"/>
                <a:ext cx="385275" cy="385275"/>
              </a:xfrm>
              <a:prstGeom prst="rect">
                <a:avLst/>
              </a:prstGeom>
            </p:spPr>
          </p:pic>
        </p:grpSp>
        <p:grpSp>
          <p:nvGrpSpPr>
            <p:cNvPr id="30" name="Groupe 29">
              <a:extLst>
                <a:ext uri="{FF2B5EF4-FFF2-40B4-BE49-F238E27FC236}">
                  <a16:creationId xmlns:a16="http://schemas.microsoft.com/office/drawing/2014/main" id="{8E55B208-85FD-F1F2-E9F8-A571A0C539CF}"/>
                </a:ext>
              </a:extLst>
            </p:cNvPr>
            <p:cNvGrpSpPr/>
            <p:nvPr/>
          </p:nvGrpSpPr>
          <p:grpSpPr>
            <a:xfrm>
              <a:off x="3099063" y="2916714"/>
              <a:ext cx="6127953" cy="385275"/>
              <a:chOff x="3099063" y="2916714"/>
              <a:chExt cx="6127953" cy="385275"/>
            </a:xfrm>
          </p:grpSpPr>
          <p:pic>
            <p:nvPicPr>
              <p:cNvPr id="41" name="Graphique 40" descr="Mille avec un remplissage uni">
                <a:extLst>
                  <a:ext uri="{FF2B5EF4-FFF2-40B4-BE49-F238E27FC236}">
                    <a16:creationId xmlns:a16="http://schemas.microsoft.com/office/drawing/2014/main" id="{EE704073-A064-C99B-5BBF-E099EB044F7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841741" y="2916714"/>
                <a:ext cx="385275" cy="385275"/>
              </a:xfrm>
              <a:prstGeom prst="rect">
                <a:avLst/>
              </a:prstGeom>
            </p:spPr>
          </p:pic>
          <p:sp>
            <p:nvSpPr>
              <p:cNvPr id="42" name="Rectangle 41">
                <a:extLst>
                  <a:ext uri="{FF2B5EF4-FFF2-40B4-BE49-F238E27FC236}">
                    <a16:creationId xmlns:a16="http://schemas.microsoft.com/office/drawing/2014/main" id="{96A2D6CF-C639-8516-62B6-2B33F1A58C1C}"/>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8" name="Connecteur droit avec flèche 57">
                <a:extLst>
                  <a:ext uri="{FF2B5EF4-FFF2-40B4-BE49-F238E27FC236}">
                    <a16:creationId xmlns:a16="http://schemas.microsoft.com/office/drawing/2014/main" id="{7C7F1359-6673-F054-1B9B-082072FFF909}"/>
                  </a:ext>
                </a:extLst>
              </p:cNvPr>
              <p:cNvCxnSpPr>
                <a:cxnSpLocks/>
                <a:stCxn id="42" idx="3"/>
                <a:endCxn id="41" idx="1"/>
              </p:cNvCxnSpPr>
              <p:nvPr/>
            </p:nvCxnSpPr>
            <p:spPr>
              <a:xfrm>
                <a:off x="3392026" y="3109352"/>
                <a:ext cx="5449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1" name="Groupe 30">
              <a:extLst>
                <a:ext uri="{FF2B5EF4-FFF2-40B4-BE49-F238E27FC236}">
                  <a16:creationId xmlns:a16="http://schemas.microsoft.com/office/drawing/2014/main" id="{47370B85-A376-CE89-C2E3-7E2EBF3A86C7}"/>
                </a:ext>
              </a:extLst>
            </p:cNvPr>
            <p:cNvGrpSpPr/>
            <p:nvPr/>
          </p:nvGrpSpPr>
          <p:grpSpPr>
            <a:xfrm>
              <a:off x="3096631" y="6065016"/>
              <a:ext cx="8182799" cy="310720"/>
              <a:chOff x="3096635" y="5617252"/>
              <a:chExt cx="8182799" cy="310720"/>
            </a:xfrm>
          </p:grpSpPr>
          <p:sp>
            <p:nvSpPr>
              <p:cNvPr id="39" name="Rectangle 38">
                <a:extLst>
                  <a:ext uri="{FF2B5EF4-FFF2-40B4-BE49-F238E27FC236}">
                    <a16:creationId xmlns:a16="http://schemas.microsoft.com/office/drawing/2014/main" id="{9770EF47-EAD6-4EE9-FEB5-67715F0D6EBF}"/>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0" name="Connecteur droit avec flèche 39">
                <a:extLst>
                  <a:ext uri="{FF2B5EF4-FFF2-40B4-BE49-F238E27FC236}">
                    <a16:creationId xmlns:a16="http://schemas.microsoft.com/office/drawing/2014/main" id="{9AD34778-AFFD-4E96-F7C5-C67E9F2FD32B}"/>
                  </a:ext>
                </a:extLst>
              </p:cNvPr>
              <p:cNvCxnSpPr>
                <a:cxnSpLocks/>
                <a:stCxn id="39" idx="3"/>
                <a:endCxn id="32" idx="1"/>
              </p:cNvCxnSpPr>
              <p:nvPr/>
            </p:nvCxnSpPr>
            <p:spPr>
              <a:xfrm>
                <a:off x="3389598" y="5772612"/>
                <a:ext cx="7889836" cy="0"/>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grpSp>
        <p:pic>
          <p:nvPicPr>
            <p:cNvPr id="32" name="Graphique 31" descr="Point d’interrogation avec un remplissage uni">
              <a:extLst>
                <a:ext uri="{FF2B5EF4-FFF2-40B4-BE49-F238E27FC236}">
                  <a16:creationId xmlns:a16="http://schemas.microsoft.com/office/drawing/2014/main" id="{535A8B35-7DCF-B14B-3956-BD8C08940AD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9430" y="6011965"/>
              <a:ext cx="416821" cy="416821"/>
            </a:xfrm>
            <a:prstGeom prst="rect">
              <a:avLst/>
            </a:prstGeom>
          </p:spPr>
        </p:pic>
        <p:pic>
          <p:nvPicPr>
            <p:cNvPr id="33" name="Graphique 32" descr="Point d’interrogation avec un remplissage uni">
              <a:extLst>
                <a:ext uri="{FF2B5EF4-FFF2-40B4-BE49-F238E27FC236}">
                  <a16:creationId xmlns:a16="http://schemas.microsoft.com/office/drawing/2014/main" id="{59F99D24-A382-EA1A-CCE9-BE5D7462791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069271" y="6011965"/>
              <a:ext cx="416821" cy="416821"/>
            </a:xfrm>
            <a:prstGeom prst="rect">
              <a:avLst/>
            </a:prstGeom>
          </p:spPr>
        </p:pic>
        <p:pic>
          <p:nvPicPr>
            <p:cNvPr id="34" name="Graphique 33" descr="Point d’interrogation avec un remplissage uni">
              <a:extLst>
                <a:ext uri="{FF2B5EF4-FFF2-40B4-BE49-F238E27FC236}">
                  <a16:creationId xmlns:a16="http://schemas.microsoft.com/office/drawing/2014/main" id="{C543E78B-5A78-F46A-DE57-6EBC1FBC079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862412" y="6016098"/>
              <a:ext cx="416821" cy="416821"/>
            </a:xfrm>
            <a:prstGeom prst="rect">
              <a:avLst/>
            </a:prstGeom>
          </p:spPr>
        </p:pic>
        <p:pic>
          <p:nvPicPr>
            <p:cNvPr id="35" name="Graphique 34" descr="Point d’interrogation avec un remplissage uni">
              <a:extLst>
                <a:ext uri="{FF2B5EF4-FFF2-40B4-BE49-F238E27FC236}">
                  <a16:creationId xmlns:a16="http://schemas.microsoft.com/office/drawing/2014/main" id="{1106ACDC-9AAE-AE38-9B22-AB7CC306BF7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597700" y="5999320"/>
              <a:ext cx="416821" cy="416821"/>
            </a:xfrm>
            <a:prstGeom prst="rect">
              <a:avLst/>
            </a:prstGeom>
          </p:spPr>
        </p:pic>
        <p:pic>
          <p:nvPicPr>
            <p:cNvPr id="36" name="Graphique 35" descr="Point d’interrogation avec un remplissage uni">
              <a:extLst>
                <a:ext uri="{FF2B5EF4-FFF2-40B4-BE49-F238E27FC236}">
                  <a16:creationId xmlns:a16="http://schemas.microsoft.com/office/drawing/2014/main" id="{6D3C87D6-469A-1B37-9097-94BC9FBFDA7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253134" y="6011964"/>
              <a:ext cx="416821" cy="416821"/>
            </a:xfrm>
            <a:prstGeom prst="rect">
              <a:avLst/>
            </a:prstGeom>
          </p:spPr>
        </p:pic>
        <p:pic>
          <p:nvPicPr>
            <p:cNvPr id="37" name="Graphique 36" descr="Point d’interrogation avec un remplissage uni">
              <a:extLst>
                <a:ext uri="{FF2B5EF4-FFF2-40B4-BE49-F238E27FC236}">
                  <a16:creationId xmlns:a16="http://schemas.microsoft.com/office/drawing/2014/main" id="{EE0CEEDE-F02C-2177-C53C-5537C36F384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126129" y="6011965"/>
              <a:ext cx="416821" cy="416821"/>
            </a:xfrm>
            <a:prstGeom prst="rect">
              <a:avLst/>
            </a:prstGeom>
          </p:spPr>
        </p:pic>
        <p:pic>
          <p:nvPicPr>
            <p:cNvPr id="38" name="Graphique 37" descr="Point d’interrogation avec un remplissage uni">
              <a:extLst>
                <a:ext uri="{FF2B5EF4-FFF2-40B4-BE49-F238E27FC236}">
                  <a16:creationId xmlns:a16="http://schemas.microsoft.com/office/drawing/2014/main" id="{775D0056-A231-AD5F-CDBD-38E32A7BE0D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911217" y="6008075"/>
              <a:ext cx="416821" cy="416821"/>
            </a:xfrm>
            <a:prstGeom prst="rect">
              <a:avLst/>
            </a:prstGeom>
          </p:spPr>
        </p:pic>
      </p:grpSp>
      <p:graphicFrame>
        <p:nvGraphicFramePr>
          <p:cNvPr id="93" name="Tableau 5">
            <a:extLst>
              <a:ext uri="{FF2B5EF4-FFF2-40B4-BE49-F238E27FC236}">
                <a16:creationId xmlns:a16="http://schemas.microsoft.com/office/drawing/2014/main" id="{6EC024C0-63F2-3362-C096-E21A4D7B974F}"/>
              </a:ext>
            </a:extLst>
          </p:cNvPr>
          <p:cNvGraphicFramePr>
            <a:graphicFrameLocks noGrp="1"/>
          </p:cNvGraphicFramePr>
          <p:nvPr>
            <p:extLst>
              <p:ext uri="{D42A27DB-BD31-4B8C-83A1-F6EECF244321}">
                <p14:modId xmlns:p14="http://schemas.microsoft.com/office/powerpoint/2010/main" val="946858237"/>
              </p:ext>
            </p:extLst>
          </p:nvPr>
        </p:nvGraphicFramePr>
        <p:xfrm>
          <a:off x="4271718" y="2009853"/>
          <a:ext cx="3702267" cy="1008722"/>
        </p:xfrm>
        <a:graphic>
          <a:graphicData uri="http://schemas.openxmlformats.org/drawingml/2006/table">
            <a:tbl>
              <a:tblPr firstRow="1" bandRow="1">
                <a:tableStyleId>{073A0DAA-6AF3-43AB-8588-CEC1D06C72B9}</a:tableStyleId>
              </a:tblPr>
              <a:tblGrid>
                <a:gridCol w="465614">
                  <a:extLst>
                    <a:ext uri="{9D8B030D-6E8A-4147-A177-3AD203B41FA5}">
                      <a16:colId xmlns:a16="http://schemas.microsoft.com/office/drawing/2014/main" val="1486018635"/>
                    </a:ext>
                  </a:extLst>
                </a:gridCol>
                <a:gridCol w="465614">
                  <a:extLst>
                    <a:ext uri="{9D8B030D-6E8A-4147-A177-3AD203B41FA5}">
                      <a16:colId xmlns:a16="http://schemas.microsoft.com/office/drawing/2014/main" val="761339006"/>
                    </a:ext>
                  </a:extLst>
                </a:gridCol>
                <a:gridCol w="465614">
                  <a:extLst>
                    <a:ext uri="{9D8B030D-6E8A-4147-A177-3AD203B41FA5}">
                      <a16:colId xmlns:a16="http://schemas.microsoft.com/office/drawing/2014/main" val="416087062"/>
                    </a:ext>
                  </a:extLst>
                </a:gridCol>
                <a:gridCol w="465614">
                  <a:extLst>
                    <a:ext uri="{9D8B030D-6E8A-4147-A177-3AD203B41FA5}">
                      <a16:colId xmlns:a16="http://schemas.microsoft.com/office/drawing/2014/main" val="2064857721"/>
                    </a:ext>
                  </a:extLst>
                </a:gridCol>
                <a:gridCol w="465614">
                  <a:extLst>
                    <a:ext uri="{9D8B030D-6E8A-4147-A177-3AD203B41FA5}">
                      <a16:colId xmlns:a16="http://schemas.microsoft.com/office/drawing/2014/main" val="183491405"/>
                    </a:ext>
                  </a:extLst>
                </a:gridCol>
                <a:gridCol w="465614">
                  <a:extLst>
                    <a:ext uri="{9D8B030D-6E8A-4147-A177-3AD203B41FA5}">
                      <a16:colId xmlns:a16="http://schemas.microsoft.com/office/drawing/2014/main" val="3364014230"/>
                    </a:ext>
                  </a:extLst>
                </a:gridCol>
                <a:gridCol w="465614">
                  <a:extLst>
                    <a:ext uri="{9D8B030D-6E8A-4147-A177-3AD203B41FA5}">
                      <a16:colId xmlns:a16="http://schemas.microsoft.com/office/drawing/2014/main" val="365145181"/>
                    </a:ext>
                  </a:extLst>
                </a:gridCol>
                <a:gridCol w="442969">
                  <a:extLst>
                    <a:ext uri="{9D8B030D-6E8A-4147-A177-3AD203B41FA5}">
                      <a16:colId xmlns:a16="http://schemas.microsoft.com/office/drawing/2014/main" val="1628287487"/>
                    </a:ext>
                  </a:extLst>
                </a:gridCol>
              </a:tblGrid>
              <a:tr h="340608">
                <a:tc>
                  <a:txBody>
                    <a:bodyPr/>
                    <a:lstStyle/>
                    <a:p>
                      <a:pPr algn="ctr"/>
                      <a:r>
                        <a:rPr lang="fr-FR" sz="500">
                          <a:solidFill>
                            <a:schemeClr val="bg1"/>
                          </a:solidFill>
                        </a:rPr>
                        <a:t>PAS ENCORE COMMENCÉ</a:t>
                      </a:r>
                    </a:p>
                  </a:txBody>
                  <a:tcPr marL="44063" marR="44063" marT="22032" marB="22032">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500" b="1" i="1">
                          <a:solidFill>
                            <a:schemeClr val="bg1"/>
                          </a:solidFill>
                        </a:rPr>
                        <a:t>INSPIRATION</a:t>
                      </a:r>
                    </a:p>
                    <a:p>
                      <a:pPr algn="ctr"/>
                      <a:endParaRPr lang="fr-FR" sz="500">
                        <a:solidFill>
                          <a:schemeClr val="bg1"/>
                        </a:solidFill>
                      </a:endParaRPr>
                    </a:p>
                  </a:txBody>
                  <a:tcPr marL="44063" marR="44063" marT="22032" marB="22032">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500" b="1" i="1">
                          <a:solidFill>
                            <a:schemeClr val="bg1"/>
                          </a:solidFill>
                        </a:rPr>
                        <a:t>COLLECTE</a:t>
                      </a:r>
                    </a:p>
                    <a:p>
                      <a:pPr algn="ctr"/>
                      <a:endParaRPr lang="fr-FR" sz="500">
                        <a:solidFill>
                          <a:schemeClr val="bg1"/>
                        </a:solidFill>
                      </a:endParaRPr>
                    </a:p>
                  </a:txBody>
                  <a:tcPr marL="44063" marR="44063" marT="22032" marB="22032">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500" b="1" i="1">
                          <a:solidFill>
                            <a:schemeClr val="bg1"/>
                          </a:solidFill>
                        </a:rPr>
                        <a:t>INITIATION</a:t>
                      </a:r>
                    </a:p>
                    <a:p>
                      <a:pPr algn="ctr"/>
                      <a:endParaRPr lang="fr-FR" sz="500">
                        <a:solidFill>
                          <a:schemeClr val="bg1"/>
                        </a:solidFill>
                      </a:endParaRPr>
                    </a:p>
                  </a:txBody>
                  <a:tcPr marL="44063" marR="44063" marT="22032" marB="22032">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500" b="1" i="1">
                          <a:solidFill>
                            <a:schemeClr val="bg1"/>
                          </a:solidFill>
                        </a:rPr>
                        <a:t>CHOC DE LA RÉALITÉ</a:t>
                      </a:r>
                    </a:p>
                    <a:p>
                      <a:pPr algn="ctr"/>
                      <a:endParaRPr lang="fr-FR" sz="500">
                        <a:solidFill>
                          <a:schemeClr val="bg1"/>
                        </a:solidFill>
                      </a:endParaRPr>
                    </a:p>
                  </a:txBody>
                  <a:tcPr marL="44063" marR="44063" marT="22032" marB="22032">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500" b="1" i="1" dirty="0">
                          <a:solidFill>
                            <a:schemeClr val="bg1"/>
                          </a:solidFill>
                        </a:rPr>
                        <a:t>CONFIRMATION DE RÉUSSITES</a:t>
                      </a:r>
                    </a:p>
                    <a:p>
                      <a:pPr algn="ctr"/>
                      <a:endParaRPr lang="fr-FR" sz="500" dirty="0">
                        <a:solidFill>
                          <a:schemeClr val="bg1"/>
                        </a:solidFill>
                      </a:endParaRPr>
                    </a:p>
                  </a:txBody>
                  <a:tcPr marL="44063" marR="44063" marT="22032" marB="22032">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500" b="1" i="1">
                          <a:solidFill>
                            <a:schemeClr val="bg1"/>
                          </a:solidFill>
                        </a:rPr>
                        <a:t>EXPOSITION</a:t>
                      </a:r>
                    </a:p>
                    <a:p>
                      <a:pPr algn="ctr"/>
                      <a:endParaRPr lang="fr-FR" sz="500">
                        <a:solidFill>
                          <a:schemeClr val="bg1"/>
                        </a:solidFill>
                      </a:endParaRPr>
                    </a:p>
                  </a:txBody>
                  <a:tcPr marL="44063" marR="44063" marT="22032" marB="22032">
                    <a:solidFill>
                      <a:schemeClr val="accent1"/>
                    </a:solidFill>
                  </a:tcPr>
                </a:tc>
                <a:tc>
                  <a:txBody>
                    <a:bodyPr/>
                    <a:lstStyle/>
                    <a:p>
                      <a:pPr marL="0" indent="0" algn="ctr">
                        <a:buFont typeface="Arial" panose="020B0604020202020204" pitchFamily="34" charset="0"/>
                        <a:buNone/>
                      </a:pPr>
                      <a:r>
                        <a:rPr lang="fr-FR" sz="500" b="1" i="1">
                          <a:solidFill>
                            <a:schemeClr val="bg1"/>
                          </a:solidFill>
                        </a:rPr>
                        <a:t>FORTIFICATION</a:t>
                      </a:r>
                    </a:p>
                    <a:p>
                      <a:pPr marL="0" indent="0" algn="ctr">
                        <a:buFont typeface="Arial" panose="020B0604020202020204" pitchFamily="34" charset="0"/>
                        <a:buNone/>
                      </a:pPr>
                      <a:endParaRPr lang="fr-FR" sz="500" b="1" i="1">
                        <a:solidFill>
                          <a:schemeClr val="bg1"/>
                        </a:solidFill>
                      </a:endParaRPr>
                    </a:p>
                    <a:p>
                      <a:pPr algn="ctr"/>
                      <a:endParaRPr lang="fr-FR" sz="500">
                        <a:solidFill>
                          <a:schemeClr val="bg1"/>
                        </a:solidFill>
                      </a:endParaRPr>
                    </a:p>
                  </a:txBody>
                  <a:tcPr marL="44063" marR="44063" marT="22032" marB="22032">
                    <a:solidFill>
                      <a:schemeClr val="accent1"/>
                    </a:solidFill>
                  </a:tcPr>
                </a:tc>
                <a:extLst>
                  <a:ext uri="{0D108BD9-81ED-4DB2-BD59-A6C34878D82A}">
                    <a16:rowId xmlns:a16="http://schemas.microsoft.com/office/drawing/2014/main" val="3579208894"/>
                  </a:ext>
                </a:extLst>
              </a:tr>
              <a:tr h="659858">
                <a:tc>
                  <a:txBody>
                    <a:bodyPr/>
                    <a:lstStyle/>
                    <a:p>
                      <a:endParaRPr lang="fr-FR" sz="800"/>
                    </a:p>
                  </a:txBody>
                  <a:tcPr marL="44063" marR="44063" marT="22032" marB="22032"/>
                </a:tc>
                <a:tc>
                  <a:txBody>
                    <a:bodyPr/>
                    <a:lstStyle/>
                    <a:p>
                      <a:endParaRPr lang="fr-FR" sz="800"/>
                    </a:p>
                  </a:txBody>
                  <a:tcPr marL="44063" marR="44063" marT="22032" marB="22032"/>
                </a:tc>
                <a:tc>
                  <a:txBody>
                    <a:bodyPr/>
                    <a:lstStyle/>
                    <a:p>
                      <a:endParaRPr lang="fr-FR" sz="800" dirty="0"/>
                    </a:p>
                  </a:txBody>
                  <a:tcPr marL="44063" marR="44063" marT="22032" marB="22032"/>
                </a:tc>
                <a:tc>
                  <a:txBody>
                    <a:bodyPr/>
                    <a:lstStyle/>
                    <a:p>
                      <a:endParaRPr lang="fr-FR" sz="800"/>
                    </a:p>
                  </a:txBody>
                  <a:tcPr marL="44063" marR="44063" marT="22032" marB="22032"/>
                </a:tc>
                <a:tc>
                  <a:txBody>
                    <a:bodyPr/>
                    <a:lstStyle/>
                    <a:p>
                      <a:endParaRPr lang="fr-FR" sz="800" dirty="0"/>
                    </a:p>
                  </a:txBody>
                  <a:tcPr marL="44063" marR="44063" marT="22032" marB="22032"/>
                </a:tc>
                <a:tc>
                  <a:txBody>
                    <a:bodyPr/>
                    <a:lstStyle/>
                    <a:p>
                      <a:endParaRPr lang="fr-FR" sz="800"/>
                    </a:p>
                  </a:txBody>
                  <a:tcPr marL="44063" marR="44063" marT="22032" marB="22032"/>
                </a:tc>
                <a:tc>
                  <a:txBody>
                    <a:bodyPr/>
                    <a:lstStyle/>
                    <a:p>
                      <a:endParaRPr lang="fr-FR" sz="800"/>
                    </a:p>
                  </a:txBody>
                  <a:tcPr marL="44063" marR="44063" marT="22032" marB="22032"/>
                </a:tc>
                <a:tc>
                  <a:txBody>
                    <a:bodyPr/>
                    <a:lstStyle/>
                    <a:p>
                      <a:endParaRPr lang="fr-FR" sz="800" dirty="0"/>
                    </a:p>
                  </a:txBody>
                  <a:tcPr marL="44063" marR="44063" marT="22032" marB="22032"/>
                </a:tc>
                <a:extLst>
                  <a:ext uri="{0D108BD9-81ED-4DB2-BD59-A6C34878D82A}">
                    <a16:rowId xmlns:a16="http://schemas.microsoft.com/office/drawing/2014/main" val="1415023090"/>
                  </a:ext>
                </a:extLst>
              </a:tr>
            </a:tbl>
          </a:graphicData>
        </a:graphic>
      </p:graphicFrame>
      <p:grpSp>
        <p:nvGrpSpPr>
          <p:cNvPr id="94" name="Groupe 93">
            <a:extLst>
              <a:ext uri="{FF2B5EF4-FFF2-40B4-BE49-F238E27FC236}">
                <a16:creationId xmlns:a16="http://schemas.microsoft.com/office/drawing/2014/main" id="{D7D05046-C7F3-BC3C-1E27-139A9DA621D2}"/>
              </a:ext>
            </a:extLst>
          </p:cNvPr>
          <p:cNvGrpSpPr/>
          <p:nvPr/>
        </p:nvGrpSpPr>
        <p:grpSpPr>
          <a:xfrm>
            <a:off x="4313966" y="2414159"/>
            <a:ext cx="3147885" cy="520627"/>
            <a:chOff x="4336624" y="3171547"/>
            <a:chExt cx="6102518" cy="1009292"/>
          </a:xfrm>
        </p:grpSpPr>
        <p:sp>
          <p:nvSpPr>
            <p:cNvPr id="95" name="Rectangle 94">
              <a:extLst>
                <a:ext uri="{FF2B5EF4-FFF2-40B4-BE49-F238E27FC236}">
                  <a16:creationId xmlns:a16="http://schemas.microsoft.com/office/drawing/2014/main" id="{037D9784-B474-A68C-876E-3C42FD226823}"/>
                </a:ext>
              </a:extLst>
            </p:cNvPr>
            <p:cNvSpPr/>
            <p:nvPr/>
          </p:nvSpPr>
          <p:spPr>
            <a:xfrm>
              <a:off x="5291092"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96" name="Rectangle 95">
              <a:extLst>
                <a:ext uri="{FF2B5EF4-FFF2-40B4-BE49-F238E27FC236}">
                  <a16:creationId xmlns:a16="http://schemas.microsoft.com/office/drawing/2014/main" id="{B303E946-F8C9-39EE-5588-B15CBCE33233}"/>
                </a:ext>
              </a:extLst>
            </p:cNvPr>
            <p:cNvSpPr/>
            <p:nvPr/>
          </p:nvSpPr>
          <p:spPr>
            <a:xfrm>
              <a:off x="5291091" y="3604935"/>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97" name="Rectangle 96">
              <a:extLst>
                <a:ext uri="{FF2B5EF4-FFF2-40B4-BE49-F238E27FC236}">
                  <a16:creationId xmlns:a16="http://schemas.microsoft.com/office/drawing/2014/main" id="{C85CE36F-F5BA-F863-1099-E416420F905C}"/>
                </a:ext>
              </a:extLst>
            </p:cNvPr>
            <p:cNvSpPr/>
            <p:nvPr/>
          </p:nvSpPr>
          <p:spPr>
            <a:xfrm>
              <a:off x="6267403"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98" name="Rectangle 97">
              <a:extLst>
                <a:ext uri="{FF2B5EF4-FFF2-40B4-BE49-F238E27FC236}">
                  <a16:creationId xmlns:a16="http://schemas.microsoft.com/office/drawing/2014/main" id="{FF26CBCE-6639-538B-C7DA-A378D179F904}"/>
                </a:ext>
              </a:extLst>
            </p:cNvPr>
            <p:cNvSpPr/>
            <p:nvPr/>
          </p:nvSpPr>
          <p:spPr>
            <a:xfrm>
              <a:off x="7243714"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99" name="Rectangle 98">
              <a:extLst>
                <a:ext uri="{FF2B5EF4-FFF2-40B4-BE49-F238E27FC236}">
                  <a16:creationId xmlns:a16="http://schemas.microsoft.com/office/drawing/2014/main" id="{247E2760-74DA-ED44-C99B-A01801CFE228}"/>
                </a:ext>
              </a:extLst>
            </p:cNvPr>
            <p:cNvSpPr/>
            <p:nvPr/>
          </p:nvSpPr>
          <p:spPr>
            <a:xfrm>
              <a:off x="8220025"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100" name="Rectangle 99">
              <a:extLst>
                <a:ext uri="{FF2B5EF4-FFF2-40B4-BE49-F238E27FC236}">
                  <a16:creationId xmlns:a16="http://schemas.microsoft.com/office/drawing/2014/main" id="{68580141-DBE9-1897-777B-05F61A3202AD}"/>
                </a:ext>
              </a:extLst>
            </p:cNvPr>
            <p:cNvSpPr/>
            <p:nvPr/>
          </p:nvSpPr>
          <p:spPr>
            <a:xfrm>
              <a:off x="8220024" y="35329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101" name="Rectangle 100">
              <a:extLst>
                <a:ext uri="{FF2B5EF4-FFF2-40B4-BE49-F238E27FC236}">
                  <a16:creationId xmlns:a16="http://schemas.microsoft.com/office/drawing/2014/main" id="{BE58238F-6D25-B762-6189-7BB985FB8C05}"/>
                </a:ext>
              </a:extLst>
            </p:cNvPr>
            <p:cNvSpPr/>
            <p:nvPr/>
          </p:nvSpPr>
          <p:spPr>
            <a:xfrm>
              <a:off x="4336743"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102" name="Rectangle 101">
              <a:extLst>
                <a:ext uri="{FF2B5EF4-FFF2-40B4-BE49-F238E27FC236}">
                  <a16:creationId xmlns:a16="http://schemas.microsoft.com/office/drawing/2014/main" id="{89B181C1-235E-25D3-F308-BE7A4C15A3B2}"/>
                </a:ext>
              </a:extLst>
            </p:cNvPr>
            <p:cNvSpPr/>
            <p:nvPr/>
          </p:nvSpPr>
          <p:spPr>
            <a:xfrm>
              <a:off x="4678416"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103" name="Rectangle 102">
              <a:extLst>
                <a:ext uri="{FF2B5EF4-FFF2-40B4-BE49-F238E27FC236}">
                  <a16:creationId xmlns:a16="http://schemas.microsoft.com/office/drawing/2014/main" id="{DA324535-241B-157F-C8DD-6CED55BB9E75}"/>
                </a:ext>
              </a:extLst>
            </p:cNvPr>
            <p:cNvSpPr/>
            <p:nvPr/>
          </p:nvSpPr>
          <p:spPr>
            <a:xfrm>
              <a:off x="4678415" y="35329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104" name="Rectangle 103">
              <a:extLst>
                <a:ext uri="{FF2B5EF4-FFF2-40B4-BE49-F238E27FC236}">
                  <a16:creationId xmlns:a16="http://schemas.microsoft.com/office/drawing/2014/main" id="{E352064A-07A0-DE6C-AACE-97732DAFE9E5}"/>
                </a:ext>
              </a:extLst>
            </p:cNvPr>
            <p:cNvSpPr/>
            <p:nvPr/>
          </p:nvSpPr>
          <p:spPr>
            <a:xfrm>
              <a:off x="4336624" y="3526545"/>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105" name="Rectangle 104">
              <a:extLst>
                <a:ext uri="{FF2B5EF4-FFF2-40B4-BE49-F238E27FC236}">
                  <a16:creationId xmlns:a16="http://schemas.microsoft.com/office/drawing/2014/main" id="{60D542A0-888A-53DA-BBA0-99E289CFEB72}"/>
                </a:ext>
              </a:extLst>
            </p:cNvPr>
            <p:cNvSpPr/>
            <p:nvPr/>
          </p:nvSpPr>
          <p:spPr>
            <a:xfrm>
              <a:off x="4336624" y="387011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106" name="Rectangle 105">
              <a:extLst>
                <a:ext uri="{FF2B5EF4-FFF2-40B4-BE49-F238E27FC236}">
                  <a16:creationId xmlns:a16="http://schemas.microsoft.com/office/drawing/2014/main" id="{A8CF7FDB-F678-F02C-A04F-95585E871AE9}"/>
                </a:ext>
              </a:extLst>
            </p:cNvPr>
            <p:cNvSpPr/>
            <p:nvPr/>
          </p:nvSpPr>
          <p:spPr>
            <a:xfrm>
              <a:off x="10146179"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grpSp>
      <p:graphicFrame>
        <p:nvGraphicFramePr>
          <p:cNvPr id="107" name="Tableau 5">
            <a:extLst>
              <a:ext uri="{FF2B5EF4-FFF2-40B4-BE49-F238E27FC236}">
                <a16:creationId xmlns:a16="http://schemas.microsoft.com/office/drawing/2014/main" id="{F2883BE1-1CFA-B98A-86F3-2AD25D25A386}"/>
              </a:ext>
            </a:extLst>
          </p:cNvPr>
          <p:cNvGraphicFramePr>
            <a:graphicFrameLocks noGrp="1"/>
          </p:cNvGraphicFramePr>
          <p:nvPr>
            <p:extLst>
              <p:ext uri="{D42A27DB-BD31-4B8C-83A1-F6EECF244321}">
                <p14:modId xmlns:p14="http://schemas.microsoft.com/office/powerpoint/2010/main" val="1430344522"/>
              </p:ext>
            </p:extLst>
          </p:nvPr>
        </p:nvGraphicFramePr>
        <p:xfrm>
          <a:off x="8896037" y="1486142"/>
          <a:ext cx="3118888" cy="601501"/>
        </p:xfrm>
        <a:graphic>
          <a:graphicData uri="http://schemas.openxmlformats.org/drawingml/2006/table">
            <a:tbl>
              <a:tblPr firstRow="1" bandRow="1">
                <a:tableStyleId>{073A0DAA-6AF3-43AB-8588-CEC1D06C72B9}</a:tableStyleId>
              </a:tblPr>
              <a:tblGrid>
                <a:gridCol w="389861">
                  <a:extLst>
                    <a:ext uri="{9D8B030D-6E8A-4147-A177-3AD203B41FA5}">
                      <a16:colId xmlns:a16="http://schemas.microsoft.com/office/drawing/2014/main" val="1486018635"/>
                    </a:ext>
                  </a:extLst>
                </a:gridCol>
                <a:gridCol w="389861">
                  <a:extLst>
                    <a:ext uri="{9D8B030D-6E8A-4147-A177-3AD203B41FA5}">
                      <a16:colId xmlns:a16="http://schemas.microsoft.com/office/drawing/2014/main" val="761339006"/>
                    </a:ext>
                  </a:extLst>
                </a:gridCol>
                <a:gridCol w="389861">
                  <a:extLst>
                    <a:ext uri="{9D8B030D-6E8A-4147-A177-3AD203B41FA5}">
                      <a16:colId xmlns:a16="http://schemas.microsoft.com/office/drawing/2014/main" val="416087062"/>
                    </a:ext>
                  </a:extLst>
                </a:gridCol>
                <a:gridCol w="389861">
                  <a:extLst>
                    <a:ext uri="{9D8B030D-6E8A-4147-A177-3AD203B41FA5}">
                      <a16:colId xmlns:a16="http://schemas.microsoft.com/office/drawing/2014/main" val="2064857721"/>
                    </a:ext>
                  </a:extLst>
                </a:gridCol>
                <a:gridCol w="389861">
                  <a:extLst>
                    <a:ext uri="{9D8B030D-6E8A-4147-A177-3AD203B41FA5}">
                      <a16:colId xmlns:a16="http://schemas.microsoft.com/office/drawing/2014/main" val="183491405"/>
                    </a:ext>
                  </a:extLst>
                </a:gridCol>
                <a:gridCol w="389861">
                  <a:extLst>
                    <a:ext uri="{9D8B030D-6E8A-4147-A177-3AD203B41FA5}">
                      <a16:colId xmlns:a16="http://schemas.microsoft.com/office/drawing/2014/main" val="3364014230"/>
                    </a:ext>
                  </a:extLst>
                </a:gridCol>
                <a:gridCol w="389861">
                  <a:extLst>
                    <a:ext uri="{9D8B030D-6E8A-4147-A177-3AD203B41FA5}">
                      <a16:colId xmlns:a16="http://schemas.microsoft.com/office/drawing/2014/main" val="365145181"/>
                    </a:ext>
                  </a:extLst>
                </a:gridCol>
                <a:gridCol w="389861">
                  <a:extLst>
                    <a:ext uri="{9D8B030D-6E8A-4147-A177-3AD203B41FA5}">
                      <a16:colId xmlns:a16="http://schemas.microsoft.com/office/drawing/2014/main" val="1628287487"/>
                    </a:ext>
                  </a:extLst>
                </a:gridCol>
              </a:tblGrid>
              <a:tr h="204312">
                <a:tc>
                  <a:txBody>
                    <a:bodyPr/>
                    <a:lstStyle/>
                    <a:p>
                      <a:pPr algn="ctr"/>
                      <a:r>
                        <a:rPr lang="fr-FR" sz="300">
                          <a:solidFill>
                            <a:schemeClr val="bg1"/>
                          </a:solidFill>
                        </a:rPr>
                        <a:t>PAS ENCORE COMMENCÉ</a:t>
                      </a: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INSPIRATION</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COLLECTE</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INITIATION</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CHOC DE LA RÉALITÉ</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CONFIRMATION DE RÉUSSITES</a:t>
                      </a:r>
                    </a:p>
                    <a:p>
                      <a:pPr algn="ctr"/>
                      <a:endParaRPr lang="fr-FR" sz="300">
                        <a:solidFill>
                          <a:schemeClr val="bg1"/>
                        </a:solidFill>
                      </a:endParaRPr>
                    </a:p>
                  </a:txBody>
                  <a:tcPr marL="36893" marR="36893" marT="18446" marB="1844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EXPOSITION</a:t>
                      </a:r>
                    </a:p>
                    <a:p>
                      <a:pPr algn="ctr"/>
                      <a:endParaRPr lang="fr-FR" sz="300">
                        <a:solidFill>
                          <a:schemeClr val="bg1"/>
                        </a:solidFill>
                      </a:endParaRPr>
                    </a:p>
                  </a:txBody>
                  <a:tcPr marL="36893" marR="36893" marT="18446" marB="18446"/>
                </a:tc>
                <a:tc>
                  <a:txBody>
                    <a:bodyPr/>
                    <a:lstStyle/>
                    <a:p>
                      <a:pPr marL="0" indent="0" algn="ctr">
                        <a:buFont typeface="Arial" panose="020B0604020202020204" pitchFamily="34" charset="0"/>
                        <a:buNone/>
                      </a:pPr>
                      <a:r>
                        <a:rPr lang="fr-FR" sz="300" b="1" i="1">
                          <a:solidFill>
                            <a:schemeClr val="bg1"/>
                          </a:solidFill>
                        </a:rPr>
                        <a:t>FORTIFICATION</a:t>
                      </a:r>
                    </a:p>
                    <a:p>
                      <a:pPr marL="0" indent="0" algn="ctr">
                        <a:buFont typeface="Arial" panose="020B0604020202020204" pitchFamily="34" charset="0"/>
                        <a:buNone/>
                      </a:pPr>
                      <a:endParaRPr lang="fr-FR" sz="300" b="1" i="1">
                        <a:solidFill>
                          <a:schemeClr val="bg1"/>
                        </a:solidFill>
                      </a:endParaRPr>
                    </a:p>
                    <a:p>
                      <a:pPr algn="ctr"/>
                      <a:endParaRPr lang="fr-FR" sz="300">
                        <a:solidFill>
                          <a:schemeClr val="bg1"/>
                        </a:solidFill>
                      </a:endParaRPr>
                    </a:p>
                  </a:txBody>
                  <a:tcPr marL="36893" marR="36893" marT="18446" marB="18446"/>
                </a:tc>
                <a:extLst>
                  <a:ext uri="{0D108BD9-81ED-4DB2-BD59-A6C34878D82A}">
                    <a16:rowId xmlns:a16="http://schemas.microsoft.com/office/drawing/2014/main" val="3579208894"/>
                  </a:ext>
                </a:extLst>
              </a:tr>
              <a:tr h="397189">
                <a:tc>
                  <a:txBody>
                    <a:bodyPr/>
                    <a:lstStyle/>
                    <a:p>
                      <a:endParaRPr lang="fr-FR" sz="800"/>
                    </a:p>
                  </a:txBody>
                  <a:tcPr marL="36893" marR="36893" marT="18446" marB="18446"/>
                </a:tc>
                <a:tc>
                  <a:txBody>
                    <a:bodyPr/>
                    <a:lstStyle/>
                    <a:p>
                      <a:endParaRPr lang="fr-FR" sz="800" dirty="0"/>
                    </a:p>
                  </a:txBody>
                  <a:tcPr marL="36893" marR="36893" marT="18446" marB="18446"/>
                </a:tc>
                <a:tc>
                  <a:txBody>
                    <a:bodyPr/>
                    <a:lstStyle/>
                    <a:p>
                      <a:endParaRPr lang="fr-FR" sz="800"/>
                    </a:p>
                  </a:txBody>
                  <a:tcPr marL="36893" marR="36893" marT="18446" marB="18446"/>
                </a:tc>
                <a:tc>
                  <a:txBody>
                    <a:bodyPr/>
                    <a:lstStyle/>
                    <a:p>
                      <a:endParaRPr lang="fr-FR" sz="800" dirty="0"/>
                    </a:p>
                  </a:txBody>
                  <a:tcPr marL="36893" marR="36893" marT="18446" marB="18446"/>
                </a:tc>
                <a:tc>
                  <a:txBody>
                    <a:bodyPr/>
                    <a:lstStyle/>
                    <a:p>
                      <a:endParaRPr lang="fr-FR" sz="800"/>
                    </a:p>
                  </a:txBody>
                  <a:tcPr marL="36893" marR="36893" marT="18446" marB="18446"/>
                </a:tc>
                <a:tc>
                  <a:txBody>
                    <a:bodyPr/>
                    <a:lstStyle/>
                    <a:p>
                      <a:endParaRPr lang="fr-FR" sz="800"/>
                    </a:p>
                  </a:txBody>
                  <a:tcPr marL="36893" marR="36893" marT="18446" marB="18446"/>
                </a:tc>
                <a:tc>
                  <a:txBody>
                    <a:bodyPr/>
                    <a:lstStyle/>
                    <a:p>
                      <a:endParaRPr lang="fr-FR" sz="800"/>
                    </a:p>
                  </a:txBody>
                  <a:tcPr marL="36893" marR="36893" marT="18446" marB="18446"/>
                </a:tc>
                <a:tc>
                  <a:txBody>
                    <a:bodyPr/>
                    <a:lstStyle/>
                    <a:p>
                      <a:endParaRPr lang="fr-FR" sz="800" dirty="0"/>
                    </a:p>
                  </a:txBody>
                  <a:tcPr marL="36893" marR="36893" marT="18446" marB="18446"/>
                </a:tc>
                <a:extLst>
                  <a:ext uri="{0D108BD9-81ED-4DB2-BD59-A6C34878D82A}">
                    <a16:rowId xmlns:a16="http://schemas.microsoft.com/office/drawing/2014/main" val="1415023090"/>
                  </a:ext>
                </a:extLst>
              </a:tr>
            </a:tbl>
          </a:graphicData>
        </a:graphic>
      </p:graphicFrame>
      <p:grpSp>
        <p:nvGrpSpPr>
          <p:cNvPr id="155" name="Groupe 154">
            <a:extLst>
              <a:ext uri="{FF2B5EF4-FFF2-40B4-BE49-F238E27FC236}">
                <a16:creationId xmlns:a16="http://schemas.microsoft.com/office/drawing/2014/main" id="{5696E9E0-543C-26AD-77C8-989E27FA8D6E}"/>
              </a:ext>
            </a:extLst>
          </p:cNvPr>
          <p:cNvGrpSpPr/>
          <p:nvPr/>
        </p:nvGrpSpPr>
        <p:grpSpPr>
          <a:xfrm>
            <a:off x="8472018" y="1676005"/>
            <a:ext cx="3429451" cy="1650941"/>
            <a:chOff x="4051030" y="5012265"/>
            <a:chExt cx="8620640" cy="4149983"/>
          </a:xfrm>
        </p:grpSpPr>
        <p:pic>
          <p:nvPicPr>
            <p:cNvPr id="57" name="Image 56">
              <a:extLst>
                <a:ext uri="{FF2B5EF4-FFF2-40B4-BE49-F238E27FC236}">
                  <a16:creationId xmlns:a16="http://schemas.microsoft.com/office/drawing/2014/main" id="{D12BD52A-8F92-43EC-AEF9-7C7EF5836D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764591" y="6474648"/>
              <a:ext cx="295285" cy="284863"/>
            </a:xfrm>
            <a:prstGeom prst="rect">
              <a:avLst/>
            </a:prstGeom>
          </p:spPr>
        </p:pic>
        <p:pic>
          <p:nvPicPr>
            <p:cNvPr id="108" name="Graphique 107" descr="Garçon aux cheveux bouclés">
              <a:extLst>
                <a:ext uri="{FF2B5EF4-FFF2-40B4-BE49-F238E27FC236}">
                  <a16:creationId xmlns:a16="http://schemas.microsoft.com/office/drawing/2014/main" id="{51471F1C-5F8D-849D-152F-2AA592217CC6}"/>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14041" r="26570" b="80008"/>
            <a:stretch/>
          </p:blipFill>
          <p:spPr>
            <a:xfrm>
              <a:off x="6246001" y="5049625"/>
              <a:ext cx="398467" cy="410478"/>
            </a:xfrm>
            <a:prstGeom prst="rect">
              <a:avLst/>
            </a:prstGeom>
          </p:spPr>
        </p:pic>
        <p:pic>
          <p:nvPicPr>
            <p:cNvPr id="109" name="Graphique 108" descr="Fille portant un sac à dos">
              <a:extLst>
                <a:ext uri="{FF2B5EF4-FFF2-40B4-BE49-F238E27FC236}">
                  <a16:creationId xmlns:a16="http://schemas.microsoft.com/office/drawing/2014/main" id="{3992F31E-A4EC-5275-C0FB-0F95A147E1C7}"/>
                </a:ext>
              </a:extLst>
            </p:cNvPr>
            <p:cNvPicPr>
              <a:picLocks noChangeAspect="1"/>
            </p:cNvPicPr>
            <p:nvPr/>
          </p:nvPicPr>
          <p:blipFill rotWithShape="1">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rcRect l="26028" r="21662" b="78734"/>
            <a:stretch/>
          </p:blipFill>
          <p:spPr>
            <a:xfrm>
              <a:off x="7135290" y="5035656"/>
              <a:ext cx="398465" cy="402293"/>
            </a:xfrm>
            <a:prstGeom prst="rect">
              <a:avLst/>
            </a:prstGeom>
          </p:spPr>
        </p:pic>
        <p:pic>
          <p:nvPicPr>
            <p:cNvPr id="110" name="Graphique 109" descr="Homme avec barbe">
              <a:extLst>
                <a:ext uri="{FF2B5EF4-FFF2-40B4-BE49-F238E27FC236}">
                  <a16:creationId xmlns:a16="http://schemas.microsoft.com/office/drawing/2014/main" id="{2F529258-AC70-B921-01A5-024AF95B67B5}"/>
                </a:ext>
              </a:extLst>
            </p:cNvPr>
            <p:cNvPicPr>
              <a:picLocks noChangeAspect="1"/>
            </p:cNvPicPr>
            <p:nvPr/>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l="27149" r="22590" b="81054"/>
            <a:stretch/>
          </p:blipFill>
          <p:spPr>
            <a:xfrm>
              <a:off x="7135199" y="5493275"/>
              <a:ext cx="370183" cy="433905"/>
            </a:xfrm>
            <a:prstGeom prst="rect">
              <a:avLst/>
            </a:prstGeom>
          </p:spPr>
        </p:pic>
        <p:pic>
          <p:nvPicPr>
            <p:cNvPr id="111" name="Graphique 110" descr="Homme tenant une tasse">
              <a:extLst>
                <a:ext uri="{FF2B5EF4-FFF2-40B4-BE49-F238E27FC236}">
                  <a16:creationId xmlns:a16="http://schemas.microsoft.com/office/drawing/2014/main" id="{22936F42-16F6-922A-69AC-3F43D4FEC846}"/>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l="24789" r="38520" b="82583"/>
            <a:stretch/>
          </p:blipFill>
          <p:spPr>
            <a:xfrm>
              <a:off x="11100250" y="5577597"/>
              <a:ext cx="370183" cy="397133"/>
            </a:xfrm>
            <a:prstGeom prst="rect">
              <a:avLst/>
            </a:prstGeom>
          </p:spPr>
        </p:pic>
        <p:pic>
          <p:nvPicPr>
            <p:cNvPr id="112" name="Graphique 111" descr="Homme en smoking">
              <a:extLst>
                <a:ext uri="{FF2B5EF4-FFF2-40B4-BE49-F238E27FC236}">
                  <a16:creationId xmlns:a16="http://schemas.microsoft.com/office/drawing/2014/main" id="{6AEBED62-8386-98D1-22C2-366C464C0187}"/>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l="32173" r="26312" b="80893"/>
            <a:stretch/>
          </p:blipFill>
          <p:spPr>
            <a:xfrm>
              <a:off x="5197833" y="5023537"/>
              <a:ext cx="351837" cy="462653"/>
            </a:xfrm>
            <a:prstGeom prst="rect">
              <a:avLst/>
            </a:prstGeom>
          </p:spPr>
        </p:pic>
        <p:pic>
          <p:nvPicPr>
            <p:cNvPr id="113" name="Graphique 112" descr="Homme avec bras prothétique">
              <a:extLst>
                <a:ext uri="{FF2B5EF4-FFF2-40B4-BE49-F238E27FC236}">
                  <a16:creationId xmlns:a16="http://schemas.microsoft.com/office/drawing/2014/main" id="{4CD5F982-6BB4-4120-BA80-186D92B1A4E0}"/>
                </a:ext>
              </a:extLst>
            </p:cNvPr>
            <p:cNvPicPr>
              <a:picLocks noChangeAspect="1"/>
            </p:cNvPicPr>
            <p:nvPr/>
          </p:nvPicPr>
          <p:blipFill rotWithShape="1">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l="6638" r="6901" b="81090"/>
            <a:stretch/>
          </p:blipFill>
          <p:spPr>
            <a:xfrm>
              <a:off x="5560576" y="5063041"/>
              <a:ext cx="521269" cy="381325"/>
            </a:xfrm>
            <a:prstGeom prst="rect">
              <a:avLst/>
            </a:prstGeom>
          </p:spPr>
        </p:pic>
        <p:pic>
          <p:nvPicPr>
            <p:cNvPr id="114" name="Graphique 113" descr="Homme portant une chemise avec motif">
              <a:extLst>
                <a:ext uri="{FF2B5EF4-FFF2-40B4-BE49-F238E27FC236}">
                  <a16:creationId xmlns:a16="http://schemas.microsoft.com/office/drawing/2014/main" id="{4318A665-0E60-1F9B-D40E-4F68D991C8D4}"/>
                </a:ext>
              </a:extLst>
            </p:cNvPr>
            <p:cNvPicPr>
              <a:picLocks noChangeAspect="1"/>
            </p:cNvPicPr>
            <p:nvPr/>
          </p:nvPicPr>
          <p:blipFill rotWithShape="1">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rcRect l="17279" r="47069" b="81696"/>
            <a:stretch/>
          </p:blipFill>
          <p:spPr>
            <a:xfrm>
              <a:off x="11420531" y="5075245"/>
              <a:ext cx="352508" cy="440443"/>
            </a:xfrm>
            <a:prstGeom prst="rect">
              <a:avLst/>
            </a:prstGeom>
          </p:spPr>
        </p:pic>
        <p:pic>
          <p:nvPicPr>
            <p:cNvPr id="115" name="Graphique 114" descr="Homme âgé portant une veste">
              <a:extLst>
                <a:ext uri="{FF2B5EF4-FFF2-40B4-BE49-F238E27FC236}">
                  <a16:creationId xmlns:a16="http://schemas.microsoft.com/office/drawing/2014/main" id="{D01B1E36-7E32-C14A-101F-CD9B7755C94B}"/>
                </a:ext>
              </a:extLst>
            </p:cNvPr>
            <p:cNvPicPr>
              <a:picLocks noChangeAspect="1"/>
            </p:cNvPicPr>
            <p:nvPr/>
          </p:nvPicPr>
          <p:blipFill rotWithShape="1">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rcRect l="34066" t="-865" r="16426" b="83209"/>
            <a:stretch/>
          </p:blipFill>
          <p:spPr>
            <a:xfrm>
              <a:off x="10039611" y="5568190"/>
              <a:ext cx="374626" cy="415948"/>
            </a:xfrm>
            <a:prstGeom prst="rect">
              <a:avLst/>
            </a:prstGeom>
          </p:spPr>
        </p:pic>
        <p:pic>
          <p:nvPicPr>
            <p:cNvPr id="116" name="Graphique 115" descr="Homme portant chapeau et costume">
              <a:extLst>
                <a:ext uri="{FF2B5EF4-FFF2-40B4-BE49-F238E27FC236}">
                  <a16:creationId xmlns:a16="http://schemas.microsoft.com/office/drawing/2014/main" id="{86D5206E-4A91-9445-9D2E-BECBEF5E1A34}"/>
                </a:ext>
              </a:extLst>
            </p:cNvPr>
            <p:cNvPicPr>
              <a:picLocks noChangeAspect="1"/>
            </p:cNvPicPr>
            <p:nvPr/>
          </p:nvPicPr>
          <p:blipFill rotWithShape="1">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rcRect l="38919" r="9450" b="80613"/>
            <a:stretch/>
          </p:blipFill>
          <p:spPr>
            <a:xfrm>
              <a:off x="5196466" y="5479633"/>
              <a:ext cx="419339" cy="457716"/>
            </a:xfrm>
            <a:prstGeom prst="rect">
              <a:avLst/>
            </a:prstGeom>
          </p:spPr>
        </p:pic>
        <p:pic>
          <p:nvPicPr>
            <p:cNvPr id="117" name="Graphique 116" descr="Femme non-voyante utilisant un bâton">
              <a:extLst>
                <a:ext uri="{FF2B5EF4-FFF2-40B4-BE49-F238E27FC236}">
                  <a16:creationId xmlns:a16="http://schemas.microsoft.com/office/drawing/2014/main" id="{6DD416C3-68DE-A69E-E19E-E827C07B28C0}"/>
                </a:ext>
              </a:extLst>
            </p:cNvPr>
            <p:cNvPicPr>
              <a:picLocks noChangeAspect="1"/>
            </p:cNvPicPr>
            <p:nvPr/>
          </p:nvPicPr>
          <p:blipFill rotWithShape="1">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rcRect l="19626" t="110" r="16666" b="79554"/>
            <a:stretch/>
          </p:blipFill>
          <p:spPr>
            <a:xfrm>
              <a:off x="6498199" y="5539712"/>
              <a:ext cx="411427" cy="397134"/>
            </a:xfrm>
            <a:prstGeom prst="rect">
              <a:avLst/>
            </a:prstGeom>
          </p:spPr>
        </p:pic>
        <p:pic>
          <p:nvPicPr>
            <p:cNvPr id="118" name="Graphique 117" descr="Femme levant le doigt">
              <a:extLst>
                <a:ext uri="{FF2B5EF4-FFF2-40B4-BE49-F238E27FC236}">
                  <a16:creationId xmlns:a16="http://schemas.microsoft.com/office/drawing/2014/main" id="{CA59ED73-4071-3DBC-ED75-7E0AA17E5A9D}"/>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l="19546" r="46612" b="79017"/>
            <a:stretch/>
          </p:blipFill>
          <p:spPr>
            <a:xfrm>
              <a:off x="9998441" y="5035656"/>
              <a:ext cx="379003" cy="456211"/>
            </a:xfrm>
            <a:prstGeom prst="rect">
              <a:avLst/>
            </a:prstGeom>
          </p:spPr>
        </p:pic>
        <p:pic>
          <p:nvPicPr>
            <p:cNvPr id="119" name="Graphique 118" descr="Femme avec queue de cheval">
              <a:extLst>
                <a:ext uri="{FF2B5EF4-FFF2-40B4-BE49-F238E27FC236}">
                  <a16:creationId xmlns:a16="http://schemas.microsoft.com/office/drawing/2014/main" id="{191015B5-49E1-84D6-8621-F5AAF7B0D17A}"/>
                </a:ext>
              </a:extLst>
            </p:cNvPr>
            <p:cNvPicPr>
              <a:picLocks noChangeAspect="1"/>
            </p:cNvPicPr>
            <p:nvPr/>
          </p:nvPicPr>
          <p:blipFill rotWithShape="1">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rcRect l="13852" r="47496" b="82170"/>
            <a:stretch/>
          </p:blipFill>
          <p:spPr>
            <a:xfrm>
              <a:off x="5569730" y="5515688"/>
              <a:ext cx="481610" cy="422737"/>
            </a:xfrm>
            <a:prstGeom prst="rect">
              <a:avLst/>
            </a:prstGeom>
          </p:spPr>
        </p:pic>
        <p:pic>
          <p:nvPicPr>
            <p:cNvPr id="120" name="Graphique 119" descr="Femme utilisant une cane">
              <a:extLst>
                <a:ext uri="{FF2B5EF4-FFF2-40B4-BE49-F238E27FC236}">
                  <a16:creationId xmlns:a16="http://schemas.microsoft.com/office/drawing/2014/main" id="{BF2CD0E6-ABF7-8D36-EB10-860441D77EF6}"/>
                </a:ext>
              </a:extLst>
            </p:cNvPr>
            <p:cNvPicPr>
              <a:picLocks noChangeAspect="1"/>
            </p:cNvPicPr>
            <p:nvPr/>
          </p:nvPicPr>
          <p:blipFill rotWithShape="1">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rcRect t="-1583" b="79779"/>
            <a:stretch/>
          </p:blipFill>
          <p:spPr>
            <a:xfrm>
              <a:off x="10792943" y="5012265"/>
              <a:ext cx="706248" cy="518063"/>
            </a:xfrm>
            <a:prstGeom prst="rect">
              <a:avLst/>
            </a:prstGeom>
          </p:spPr>
        </p:pic>
        <p:pic>
          <p:nvPicPr>
            <p:cNvPr id="121" name="Graphique 120" descr="Femme aux cheveux afro">
              <a:extLst>
                <a:ext uri="{FF2B5EF4-FFF2-40B4-BE49-F238E27FC236}">
                  <a16:creationId xmlns:a16="http://schemas.microsoft.com/office/drawing/2014/main" id="{B40B1200-0A17-AB61-B947-B1F092EFB257}"/>
                </a:ext>
              </a:extLst>
            </p:cNvPr>
            <p:cNvPicPr>
              <a:picLocks noChangeAspect="1"/>
            </p:cNvPicPr>
            <p:nvPr/>
          </p:nvPicPr>
          <p:blipFill rotWithShape="1">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rcRect b="77723"/>
            <a:stretch/>
          </p:blipFill>
          <p:spPr>
            <a:xfrm>
              <a:off x="11960378" y="5035656"/>
              <a:ext cx="711292" cy="518063"/>
            </a:xfrm>
            <a:prstGeom prst="rect">
              <a:avLst/>
            </a:prstGeom>
          </p:spPr>
        </p:pic>
        <p:sp>
          <p:nvSpPr>
            <p:cNvPr id="122" name="Rectangle 121">
              <a:extLst>
                <a:ext uri="{FF2B5EF4-FFF2-40B4-BE49-F238E27FC236}">
                  <a16:creationId xmlns:a16="http://schemas.microsoft.com/office/drawing/2014/main" id="{3BAD4256-FA2D-7FC9-A1C1-3D992121D0E1}"/>
                </a:ext>
              </a:extLst>
            </p:cNvPr>
            <p:cNvSpPr/>
            <p:nvPr/>
          </p:nvSpPr>
          <p:spPr>
            <a:xfrm>
              <a:off x="4051030" y="5047710"/>
              <a:ext cx="841243" cy="83251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a:solidFill>
                    <a:schemeClr val="tx1"/>
                  </a:solidFill>
                </a:rPr>
                <a:t>Sujet 1</a:t>
              </a:r>
            </a:p>
          </p:txBody>
        </p:sp>
        <p:sp>
          <p:nvSpPr>
            <p:cNvPr id="123" name="Rectangle 122">
              <a:extLst>
                <a:ext uri="{FF2B5EF4-FFF2-40B4-BE49-F238E27FC236}">
                  <a16:creationId xmlns:a16="http://schemas.microsoft.com/office/drawing/2014/main" id="{9D6E6AC8-2CB6-15F6-D925-AC44CF484817}"/>
                </a:ext>
              </a:extLst>
            </p:cNvPr>
            <p:cNvSpPr/>
            <p:nvPr/>
          </p:nvSpPr>
          <p:spPr>
            <a:xfrm>
              <a:off x="4051030" y="6538839"/>
              <a:ext cx="841243" cy="83251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a:solidFill>
                    <a:schemeClr val="tx1"/>
                  </a:solidFill>
                </a:rPr>
                <a:t>Sujet 2</a:t>
              </a:r>
            </a:p>
          </p:txBody>
        </p:sp>
        <p:sp>
          <p:nvSpPr>
            <p:cNvPr id="124" name="Rectangle 123">
              <a:extLst>
                <a:ext uri="{FF2B5EF4-FFF2-40B4-BE49-F238E27FC236}">
                  <a16:creationId xmlns:a16="http://schemas.microsoft.com/office/drawing/2014/main" id="{21BA5D13-B689-244A-3042-3F1C55B622B1}"/>
                </a:ext>
              </a:extLst>
            </p:cNvPr>
            <p:cNvSpPr/>
            <p:nvPr/>
          </p:nvSpPr>
          <p:spPr>
            <a:xfrm>
              <a:off x="4051030" y="8029968"/>
              <a:ext cx="841243" cy="83251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 dirty="0">
                  <a:solidFill>
                    <a:schemeClr val="tx1"/>
                  </a:solidFill>
                </a:rPr>
                <a:t>Sujet 3</a:t>
              </a:r>
            </a:p>
          </p:txBody>
        </p:sp>
        <p:pic>
          <p:nvPicPr>
            <p:cNvPr id="126" name="Graphique 125" descr="Garçon aux cheveux bouclés">
              <a:extLst>
                <a:ext uri="{FF2B5EF4-FFF2-40B4-BE49-F238E27FC236}">
                  <a16:creationId xmlns:a16="http://schemas.microsoft.com/office/drawing/2014/main" id="{D9F4D9B6-1D0D-4680-B0B5-EC1F807C0800}"/>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14041" r="26570" b="80008"/>
            <a:stretch/>
          </p:blipFill>
          <p:spPr>
            <a:xfrm>
              <a:off x="6246001" y="6688809"/>
              <a:ext cx="398467" cy="410478"/>
            </a:xfrm>
            <a:prstGeom prst="rect">
              <a:avLst/>
            </a:prstGeom>
          </p:spPr>
        </p:pic>
        <p:pic>
          <p:nvPicPr>
            <p:cNvPr id="127" name="Graphique 126" descr="Fille portant un sac à dos">
              <a:extLst>
                <a:ext uri="{FF2B5EF4-FFF2-40B4-BE49-F238E27FC236}">
                  <a16:creationId xmlns:a16="http://schemas.microsoft.com/office/drawing/2014/main" id="{0F523136-0D86-3987-F8BE-A5541EBA1EC8}"/>
                </a:ext>
              </a:extLst>
            </p:cNvPr>
            <p:cNvPicPr>
              <a:picLocks noChangeAspect="1"/>
            </p:cNvPicPr>
            <p:nvPr/>
          </p:nvPicPr>
          <p:blipFill rotWithShape="1">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rcRect l="26028" r="21662" b="78734"/>
            <a:stretch/>
          </p:blipFill>
          <p:spPr>
            <a:xfrm>
              <a:off x="10411524" y="6665596"/>
              <a:ext cx="398465" cy="402293"/>
            </a:xfrm>
            <a:prstGeom prst="rect">
              <a:avLst/>
            </a:prstGeom>
          </p:spPr>
        </p:pic>
        <p:pic>
          <p:nvPicPr>
            <p:cNvPr id="128" name="Graphique 127" descr="Homme avec barbe">
              <a:extLst>
                <a:ext uri="{FF2B5EF4-FFF2-40B4-BE49-F238E27FC236}">
                  <a16:creationId xmlns:a16="http://schemas.microsoft.com/office/drawing/2014/main" id="{E7068F98-7783-231E-2736-011A1D3E5BA9}"/>
                </a:ext>
              </a:extLst>
            </p:cNvPr>
            <p:cNvPicPr>
              <a:picLocks noChangeAspect="1"/>
            </p:cNvPicPr>
            <p:nvPr/>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l="27149" r="22590" b="81054"/>
            <a:stretch/>
          </p:blipFill>
          <p:spPr>
            <a:xfrm>
              <a:off x="9994025" y="6661696"/>
              <a:ext cx="370183" cy="433905"/>
            </a:xfrm>
            <a:prstGeom prst="rect">
              <a:avLst/>
            </a:prstGeom>
          </p:spPr>
        </p:pic>
        <p:pic>
          <p:nvPicPr>
            <p:cNvPr id="129" name="Graphique 128" descr="Homme tenant une tasse">
              <a:extLst>
                <a:ext uri="{FF2B5EF4-FFF2-40B4-BE49-F238E27FC236}">
                  <a16:creationId xmlns:a16="http://schemas.microsoft.com/office/drawing/2014/main" id="{F7ACABE2-748C-DFDD-81CB-78BF13DEACFE}"/>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l="24789" r="38520" b="82583"/>
            <a:stretch/>
          </p:blipFill>
          <p:spPr>
            <a:xfrm>
              <a:off x="9054767" y="7117332"/>
              <a:ext cx="370183" cy="397133"/>
            </a:xfrm>
            <a:prstGeom prst="rect">
              <a:avLst/>
            </a:prstGeom>
          </p:spPr>
        </p:pic>
        <p:pic>
          <p:nvPicPr>
            <p:cNvPr id="130" name="Graphique 129" descr="Homme en smoking">
              <a:extLst>
                <a:ext uri="{FF2B5EF4-FFF2-40B4-BE49-F238E27FC236}">
                  <a16:creationId xmlns:a16="http://schemas.microsoft.com/office/drawing/2014/main" id="{7DED012F-01BE-68C4-BA43-FC8F8D4ADD73}"/>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l="32173" r="26312" b="80893"/>
            <a:stretch/>
          </p:blipFill>
          <p:spPr>
            <a:xfrm>
              <a:off x="5197833" y="6662721"/>
              <a:ext cx="351837" cy="462653"/>
            </a:xfrm>
            <a:prstGeom prst="rect">
              <a:avLst/>
            </a:prstGeom>
          </p:spPr>
        </p:pic>
        <p:pic>
          <p:nvPicPr>
            <p:cNvPr id="131" name="Graphique 130" descr="Homme avec bras prothétique">
              <a:extLst>
                <a:ext uri="{FF2B5EF4-FFF2-40B4-BE49-F238E27FC236}">
                  <a16:creationId xmlns:a16="http://schemas.microsoft.com/office/drawing/2014/main" id="{EB45C058-C982-18E2-C957-A87050F841AF}"/>
                </a:ext>
              </a:extLst>
            </p:cNvPr>
            <p:cNvPicPr>
              <a:picLocks noChangeAspect="1"/>
            </p:cNvPicPr>
            <p:nvPr/>
          </p:nvPicPr>
          <p:blipFill rotWithShape="1">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l="6638" r="6901" b="81090"/>
            <a:stretch/>
          </p:blipFill>
          <p:spPr>
            <a:xfrm>
              <a:off x="10391487" y="7154872"/>
              <a:ext cx="521269" cy="381325"/>
            </a:xfrm>
            <a:prstGeom prst="rect">
              <a:avLst/>
            </a:prstGeom>
          </p:spPr>
        </p:pic>
        <p:pic>
          <p:nvPicPr>
            <p:cNvPr id="132" name="Graphique 131" descr="Homme portant une chemise avec motif">
              <a:extLst>
                <a:ext uri="{FF2B5EF4-FFF2-40B4-BE49-F238E27FC236}">
                  <a16:creationId xmlns:a16="http://schemas.microsoft.com/office/drawing/2014/main" id="{F674F3CD-4808-17F9-1479-1C7E57FB5F4B}"/>
                </a:ext>
              </a:extLst>
            </p:cNvPr>
            <p:cNvPicPr>
              <a:picLocks noChangeAspect="1"/>
            </p:cNvPicPr>
            <p:nvPr/>
          </p:nvPicPr>
          <p:blipFill rotWithShape="1">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rcRect l="17279" r="47069" b="81696"/>
            <a:stretch/>
          </p:blipFill>
          <p:spPr>
            <a:xfrm>
              <a:off x="9024997" y="6683034"/>
              <a:ext cx="352508" cy="440443"/>
            </a:xfrm>
            <a:prstGeom prst="rect">
              <a:avLst/>
            </a:prstGeom>
          </p:spPr>
        </p:pic>
        <p:pic>
          <p:nvPicPr>
            <p:cNvPr id="133" name="Graphique 132" descr="Homme âgé portant une veste">
              <a:extLst>
                <a:ext uri="{FF2B5EF4-FFF2-40B4-BE49-F238E27FC236}">
                  <a16:creationId xmlns:a16="http://schemas.microsoft.com/office/drawing/2014/main" id="{42097CCE-C651-88B2-2BFC-4B9F812E6766}"/>
                </a:ext>
              </a:extLst>
            </p:cNvPr>
            <p:cNvPicPr>
              <a:picLocks noChangeAspect="1"/>
            </p:cNvPicPr>
            <p:nvPr/>
          </p:nvPicPr>
          <p:blipFill rotWithShape="1">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rcRect l="34066" t="-865" r="16426" b="83209"/>
            <a:stretch/>
          </p:blipFill>
          <p:spPr>
            <a:xfrm>
              <a:off x="7127648" y="6658768"/>
              <a:ext cx="374626" cy="415948"/>
            </a:xfrm>
            <a:prstGeom prst="rect">
              <a:avLst/>
            </a:prstGeom>
          </p:spPr>
        </p:pic>
        <p:pic>
          <p:nvPicPr>
            <p:cNvPr id="134" name="Graphique 133" descr="Homme portant chapeau et costume">
              <a:extLst>
                <a:ext uri="{FF2B5EF4-FFF2-40B4-BE49-F238E27FC236}">
                  <a16:creationId xmlns:a16="http://schemas.microsoft.com/office/drawing/2014/main" id="{252407A4-E4CA-EF9E-BEEA-26792CAC37D1}"/>
                </a:ext>
              </a:extLst>
            </p:cNvPr>
            <p:cNvPicPr>
              <a:picLocks noChangeAspect="1"/>
            </p:cNvPicPr>
            <p:nvPr/>
          </p:nvPicPr>
          <p:blipFill rotWithShape="1">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rcRect l="38919" r="9450" b="80613"/>
            <a:stretch/>
          </p:blipFill>
          <p:spPr>
            <a:xfrm>
              <a:off x="8085521" y="6637885"/>
              <a:ext cx="419339" cy="457716"/>
            </a:xfrm>
            <a:prstGeom prst="rect">
              <a:avLst/>
            </a:prstGeom>
          </p:spPr>
        </p:pic>
        <p:pic>
          <p:nvPicPr>
            <p:cNvPr id="135" name="Graphique 134" descr="Femme non-voyante utilisant un bâton">
              <a:extLst>
                <a:ext uri="{FF2B5EF4-FFF2-40B4-BE49-F238E27FC236}">
                  <a16:creationId xmlns:a16="http://schemas.microsoft.com/office/drawing/2014/main" id="{1FBF8B45-518A-F5EB-76FD-6FECC6717797}"/>
                </a:ext>
              </a:extLst>
            </p:cNvPr>
            <p:cNvPicPr>
              <a:picLocks noChangeAspect="1"/>
            </p:cNvPicPr>
            <p:nvPr/>
          </p:nvPicPr>
          <p:blipFill rotWithShape="1">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rcRect l="19626" t="110" r="16666" b="79554"/>
            <a:stretch/>
          </p:blipFill>
          <p:spPr>
            <a:xfrm>
              <a:off x="11921158" y="7137378"/>
              <a:ext cx="411427" cy="397134"/>
            </a:xfrm>
            <a:prstGeom prst="rect">
              <a:avLst/>
            </a:prstGeom>
          </p:spPr>
        </p:pic>
        <p:pic>
          <p:nvPicPr>
            <p:cNvPr id="136" name="Graphique 135" descr="Femme levant le doigt">
              <a:extLst>
                <a:ext uri="{FF2B5EF4-FFF2-40B4-BE49-F238E27FC236}">
                  <a16:creationId xmlns:a16="http://schemas.microsoft.com/office/drawing/2014/main" id="{B5187CC5-BCB1-E460-66F0-79FCDE76D97F}"/>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l="19546" r="46612" b="79017"/>
            <a:stretch/>
          </p:blipFill>
          <p:spPr>
            <a:xfrm>
              <a:off x="11983177" y="6618505"/>
              <a:ext cx="379003" cy="456211"/>
            </a:xfrm>
            <a:prstGeom prst="rect">
              <a:avLst/>
            </a:prstGeom>
          </p:spPr>
        </p:pic>
        <p:pic>
          <p:nvPicPr>
            <p:cNvPr id="137" name="Graphique 136" descr="Femme avec queue de cheval">
              <a:extLst>
                <a:ext uri="{FF2B5EF4-FFF2-40B4-BE49-F238E27FC236}">
                  <a16:creationId xmlns:a16="http://schemas.microsoft.com/office/drawing/2014/main" id="{48CB4FD9-E5CB-6C2E-E146-DFF22F3D132F}"/>
                </a:ext>
              </a:extLst>
            </p:cNvPr>
            <p:cNvPicPr>
              <a:picLocks noChangeAspect="1"/>
            </p:cNvPicPr>
            <p:nvPr/>
          </p:nvPicPr>
          <p:blipFill rotWithShape="1">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rcRect l="13852" r="47496" b="82170"/>
            <a:stretch/>
          </p:blipFill>
          <p:spPr>
            <a:xfrm>
              <a:off x="5569730" y="7154872"/>
              <a:ext cx="481610" cy="422737"/>
            </a:xfrm>
            <a:prstGeom prst="rect">
              <a:avLst/>
            </a:prstGeom>
          </p:spPr>
        </p:pic>
        <p:pic>
          <p:nvPicPr>
            <p:cNvPr id="138" name="Graphique 137" descr="Femme utilisant une cane">
              <a:extLst>
                <a:ext uri="{FF2B5EF4-FFF2-40B4-BE49-F238E27FC236}">
                  <a16:creationId xmlns:a16="http://schemas.microsoft.com/office/drawing/2014/main" id="{4E829D6A-5586-A5B7-FCEB-75A2AA7C355E}"/>
                </a:ext>
              </a:extLst>
            </p:cNvPr>
            <p:cNvPicPr>
              <a:picLocks noChangeAspect="1"/>
            </p:cNvPicPr>
            <p:nvPr/>
          </p:nvPicPr>
          <p:blipFill rotWithShape="1">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rcRect t="-1583" b="79779"/>
            <a:stretch/>
          </p:blipFill>
          <p:spPr>
            <a:xfrm>
              <a:off x="6904757" y="7016449"/>
              <a:ext cx="706248" cy="518063"/>
            </a:xfrm>
            <a:prstGeom prst="rect">
              <a:avLst/>
            </a:prstGeom>
          </p:spPr>
        </p:pic>
        <p:pic>
          <p:nvPicPr>
            <p:cNvPr id="139" name="Graphique 138" descr="Femme aux cheveux afro">
              <a:extLst>
                <a:ext uri="{FF2B5EF4-FFF2-40B4-BE49-F238E27FC236}">
                  <a16:creationId xmlns:a16="http://schemas.microsoft.com/office/drawing/2014/main" id="{051913E3-3AEE-26EB-561B-870C007F1571}"/>
                </a:ext>
              </a:extLst>
            </p:cNvPr>
            <p:cNvPicPr>
              <a:picLocks noChangeAspect="1"/>
            </p:cNvPicPr>
            <p:nvPr/>
          </p:nvPicPr>
          <p:blipFill rotWithShape="1">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rcRect b="77723"/>
            <a:stretch/>
          </p:blipFill>
          <p:spPr>
            <a:xfrm>
              <a:off x="10929696" y="6619616"/>
              <a:ext cx="711292" cy="518063"/>
            </a:xfrm>
            <a:prstGeom prst="rect">
              <a:avLst/>
            </a:prstGeom>
          </p:spPr>
        </p:pic>
        <p:pic>
          <p:nvPicPr>
            <p:cNvPr id="141" name="Graphique 140" descr="Garçon aux cheveux bouclés">
              <a:extLst>
                <a:ext uri="{FF2B5EF4-FFF2-40B4-BE49-F238E27FC236}">
                  <a16:creationId xmlns:a16="http://schemas.microsoft.com/office/drawing/2014/main" id="{A91D81E4-CB85-AC22-1A56-318CD22CA6F1}"/>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14041" r="26570" b="80008"/>
            <a:stretch/>
          </p:blipFill>
          <p:spPr>
            <a:xfrm>
              <a:off x="5468727" y="8185441"/>
              <a:ext cx="398467" cy="410478"/>
            </a:xfrm>
            <a:prstGeom prst="rect">
              <a:avLst/>
            </a:prstGeom>
          </p:spPr>
        </p:pic>
        <p:pic>
          <p:nvPicPr>
            <p:cNvPr id="142" name="Graphique 141" descr="Fille portant un sac à dos">
              <a:extLst>
                <a:ext uri="{FF2B5EF4-FFF2-40B4-BE49-F238E27FC236}">
                  <a16:creationId xmlns:a16="http://schemas.microsoft.com/office/drawing/2014/main" id="{863AB431-20F5-2C7B-B164-6883F2069B47}"/>
                </a:ext>
              </a:extLst>
            </p:cNvPr>
            <p:cNvPicPr>
              <a:picLocks noChangeAspect="1"/>
            </p:cNvPicPr>
            <p:nvPr/>
          </p:nvPicPr>
          <p:blipFill rotWithShape="1">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rcRect l="26028" r="21662" b="78734"/>
            <a:stretch/>
          </p:blipFill>
          <p:spPr>
            <a:xfrm>
              <a:off x="7533755" y="8317397"/>
              <a:ext cx="398465" cy="402293"/>
            </a:xfrm>
            <a:prstGeom prst="rect">
              <a:avLst/>
            </a:prstGeom>
          </p:spPr>
        </p:pic>
        <p:pic>
          <p:nvPicPr>
            <p:cNvPr id="143" name="Graphique 142" descr="Homme avec barbe">
              <a:extLst>
                <a:ext uri="{FF2B5EF4-FFF2-40B4-BE49-F238E27FC236}">
                  <a16:creationId xmlns:a16="http://schemas.microsoft.com/office/drawing/2014/main" id="{F1433B4C-E487-83C7-237E-1568E8AC71CB}"/>
                </a:ext>
              </a:extLst>
            </p:cNvPr>
            <p:cNvPicPr>
              <a:picLocks noChangeAspect="1"/>
            </p:cNvPicPr>
            <p:nvPr/>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l="27149" r="22590" b="81054"/>
            <a:stretch/>
          </p:blipFill>
          <p:spPr>
            <a:xfrm>
              <a:off x="7279776" y="8264188"/>
              <a:ext cx="370183" cy="433905"/>
            </a:xfrm>
            <a:prstGeom prst="rect">
              <a:avLst/>
            </a:prstGeom>
          </p:spPr>
        </p:pic>
        <p:pic>
          <p:nvPicPr>
            <p:cNvPr id="144" name="Graphique 143" descr="Homme tenant une tasse">
              <a:extLst>
                <a:ext uri="{FF2B5EF4-FFF2-40B4-BE49-F238E27FC236}">
                  <a16:creationId xmlns:a16="http://schemas.microsoft.com/office/drawing/2014/main" id="{1C0E4F70-594E-25D2-B277-BA6BF755C7AE}"/>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l="24789" r="38520" b="82583"/>
            <a:stretch/>
          </p:blipFill>
          <p:spPr>
            <a:xfrm>
              <a:off x="6184950" y="8765115"/>
              <a:ext cx="370183" cy="397133"/>
            </a:xfrm>
            <a:prstGeom prst="rect">
              <a:avLst/>
            </a:prstGeom>
          </p:spPr>
        </p:pic>
        <p:pic>
          <p:nvPicPr>
            <p:cNvPr id="145" name="Graphique 144" descr="Homme en smoking">
              <a:extLst>
                <a:ext uri="{FF2B5EF4-FFF2-40B4-BE49-F238E27FC236}">
                  <a16:creationId xmlns:a16="http://schemas.microsoft.com/office/drawing/2014/main" id="{59BB3A15-C764-D1AA-8A58-4693F0C3AA2F}"/>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l="32173" r="26312" b="80893"/>
            <a:stretch/>
          </p:blipFill>
          <p:spPr>
            <a:xfrm>
              <a:off x="5116890" y="8206780"/>
              <a:ext cx="351837" cy="462653"/>
            </a:xfrm>
            <a:prstGeom prst="rect">
              <a:avLst/>
            </a:prstGeom>
          </p:spPr>
        </p:pic>
        <p:pic>
          <p:nvPicPr>
            <p:cNvPr id="146" name="Graphique 145" descr="Homme avec bras prothétique">
              <a:extLst>
                <a:ext uri="{FF2B5EF4-FFF2-40B4-BE49-F238E27FC236}">
                  <a16:creationId xmlns:a16="http://schemas.microsoft.com/office/drawing/2014/main" id="{5BADAD68-E001-871C-6D3C-D1E5A4AE2368}"/>
                </a:ext>
              </a:extLst>
            </p:cNvPr>
            <p:cNvPicPr>
              <a:picLocks noChangeAspect="1"/>
            </p:cNvPicPr>
            <p:nvPr/>
          </p:nvPicPr>
          <p:blipFill rotWithShape="1">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l="6638" r="6901" b="81090"/>
            <a:stretch/>
          </p:blipFill>
          <p:spPr>
            <a:xfrm>
              <a:off x="6553384" y="8703848"/>
              <a:ext cx="521269" cy="381325"/>
            </a:xfrm>
            <a:prstGeom prst="rect">
              <a:avLst/>
            </a:prstGeom>
          </p:spPr>
        </p:pic>
        <p:pic>
          <p:nvPicPr>
            <p:cNvPr id="147" name="Graphique 146" descr="Homme portant une chemise avec motif">
              <a:extLst>
                <a:ext uri="{FF2B5EF4-FFF2-40B4-BE49-F238E27FC236}">
                  <a16:creationId xmlns:a16="http://schemas.microsoft.com/office/drawing/2014/main" id="{5689B13C-8961-0022-8DBD-FAF2A5539FF4}"/>
                </a:ext>
              </a:extLst>
            </p:cNvPr>
            <p:cNvPicPr>
              <a:picLocks noChangeAspect="1"/>
            </p:cNvPicPr>
            <p:nvPr/>
          </p:nvPicPr>
          <p:blipFill rotWithShape="1">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rcRect l="17279" r="47069" b="81696"/>
            <a:stretch/>
          </p:blipFill>
          <p:spPr>
            <a:xfrm>
              <a:off x="6461511" y="8245063"/>
              <a:ext cx="352508" cy="440443"/>
            </a:xfrm>
            <a:prstGeom prst="rect">
              <a:avLst/>
            </a:prstGeom>
          </p:spPr>
        </p:pic>
        <p:pic>
          <p:nvPicPr>
            <p:cNvPr id="148" name="Graphique 147" descr="Homme âgé portant une veste">
              <a:extLst>
                <a:ext uri="{FF2B5EF4-FFF2-40B4-BE49-F238E27FC236}">
                  <a16:creationId xmlns:a16="http://schemas.microsoft.com/office/drawing/2014/main" id="{1FCD10A3-A1AC-84F7-3B4A-60483608A27A}"/>
                </a:ext>
              </a:extLst>
            </p:cNvPr>
            <p:cNvPicPr>
              <a:picLocks noChangeAspect="1"/>
            </p:cNvPicPr>
            <p:nvPr/>
          </p:nvPicPr>
          <p:blipFill rotWithShape="1">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rcRect l="34066" t="-865" r="16426" b="83209"/>
            <a:stretch/>
          </p:blipFill>
          <p:spPr>
            <a:xfrm>
              <a:off x="5822423" y="8175537"/>
              <a:ext cx="374626" cy="415948"/>
            </a:xfrm>
            <a:prstGeom prst="rect">
              <a:avLst/>
            </a:prstGeom>
          </p:spPr>
        </p:pic>
        <p:pic>
          <p:nvPicPr>
            <p:cNvPr id="149" name="Graphique 148" descr="Homme portant chapeau et costume">
              <a:extLst>
                <a:ext uri="{FF2B5EF4-FFF2-40B4-BE49-F238E27FC236}">
                  <a16:creationId xmlns:a16="http://schemas.microsoft.com/office/drawing/2014/main" id="{AB3B0B5D-2DA0-E216-AD46-6358C2438A33}"/>
                </a:ext>
              </a:extLst>
            </p:cNvPr>
            <p:cNvPicPr>
              <a:picLocks noChangeAspect="1"/>
            </p:cNvPicPr>
            <p:nvPr/>
          </p:nvPicPr>
          <p:blipFill rotWithShape="1">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rcRect l="38919" r="9450" b="80613"/>
            <a:stretch/>
          </p:blipFill>
          <p:spPr>
            <a:xfrm>
              <a:off x="5741077" y="8607968"/>
              <a:ext cx="419339" cy="457716"/>
            </a:xfrm>
            <a:prstGeom prst="rect">
              <a:avLst/>
            </a:prstGeom>
          </p:spPr>
        </p:pic>
        <p:pic>
          <p:nvPicPr>
            <p:cNvPr id="150" name="Graphique 149" descr="Femme non-voyante utilisant un bâton">
              <a:extLst>
                <a:ext uri="{FF2B5EF4-FFF2-40B4-BE49-F238E27FC236}">
                  <a16:creationId xmlns:a16="http://schemas.microsoft.com/office/drawing/2014/main" id="{C3631456-CFA5-5C20-82EF-D2F79157D10D}"/>
                </a:ext>
              </a:extLst>
            </p:cNvPr>
            <p:cNvPicPr>
              <a:picLocks noChangeAspect="1"/>
            </p:cNvPicPr>
            <p:nvPr/>
          </p:nvPicPr>
          <p:blipFill rotWithShape="1">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rcRect l="19626" t="110" r="16666" b="79554"/>
            <a:stretch/>
          </p:blipFill>
          <p:spPr>
            <a:xfrm>
              <a:off x="7057349" y="8698093"/>
              <a:ext cx="411427" cy="397134"/>
            </a:xfrm>
            <a:prstGeom prst="rect">
              <a:avLst/>
            </a:prstGeom>
          </p:spPr>
        </p:pic>
        <p:pic>
          <p:nvPicPr>
            <p:cNvPr id="151" name="Graphique 150" descr="Femme levant le doigt">
              <a:extLst>
                <a:ext uri="{FF2B5EF4-FFF2-40B4-BE49-F238E27FC236}">
                  <a16:creationId xmlns:a16="http://schemas.microsoft.com/office/drawing/2014/main" id="{A57F5D58-9FD3-7F56-57C8-17FECA304DE0}"/>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l="19546" r="46612" b="79017"/>
            <a:stretch/>
          </p:blipFill>
          <p:spPr>
            <a:xfrm>
              <a:off x="11983177" y="8161726"/>
              <a:ext cx="379003" cy="456211"/>
            </a:xfrm>
            <a:prstGeom prst="rect">
              <a:avLst/>
            </a:prstGeom>
          </p:spPr>
        </p:pic>
        <p:pic>
          <p:nvPicPr>
            <p:cNvPr id="152" name="Graphique 151" descr="Femme avec queue de cheval">
              <a:extLst>
                <a:ext uri="{FF2B5EF4-FFF2-40B4-BE49-F238E27FC236}">
                  <a16:creationId xmlns:a16="http://schemas.microsoft.com/office/drawing/2014/main" id="{D5F6B9CE-C430-593B-9307-A1F33B48A73D}"/>
                </a:ext>
              </a:extLst>
            </p:cNvPr>
            <p:cNvPicPr>
              <a:picLocks noChangeAspect="1"/>
            </p:cNvPicPr>
            <p:nvPr/>
          </p:nvPicPr>
          <p:blipFill rotWithShape="1">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rcRect l="13852" r="47496" b="82170"/>
            <a:stretch/>
          </p:blipFill>
          <p:spPr>
            <a:xfrm>
              <a:off x="5032906" y="8680599"/>
              <a:ext cx="481610" cy="422737"/>
            </a:xfrm>
            <a:prstGeom prst="rect">
              <a:avLst/>
            </a:prstGeom>
          </p:spPr>
        </p:pic>
        <p:pic>
          <p:nvPicPr>
            <p:cNvPr id="153" name="Graphique 152" descr="Femme utilisant une cane">
              <a:extLst>
                <a:ext uri="{FF2B5EF4-FFF2-40B4-BE49-F238E27FC236}">
                  <a16:creationId xmlns:a16="http://schemas.microsoft.com/office/drawing/2014/main" id="{8DC43FA4-1F4B-03F6-7B20-0E0DF7F8F95D}"/>
                </a:ext>
              </a:extLst>
            </p:cNvPr>
            <p:cNvPicPr>
              <a:picLocks noChangeAspect="1"/>
            </p:cNvPicPr>
            <p:nvPr/>
          </p:nvPicPr>
          <p:blipFill rotWithShape="1">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rcRect t="-1583" b="79779"/>
            <a:stretch/>
          </p:blipFill>
          <p:spPr>
            <a:xfrm>
              <a:off x="5189775" y="8559670"/>
              <a:ext cx="706248" cy="518063"/>
            </a:xfrm>
            <a:prstGeom prst="rect">
              <a:avLst/>
            </a:prstGeom>
          </p:spPr>
        </p:pic>
        <p:pic>
          <p:nvPicPr>
            <p:cNvPr id="154" name="Graphique 153" descr="Femme aux cheveux afro">
              <a:extLst>
                <a:ext uri="{FF2B5EF4-FFF2-40B4-BE49-F238E27FC236}">
                  <a16:creationId xmlns:a16="http://schemas.microsoft.com/office/drawing/2014/main" id="{F533860B-5B35-9F85-6A69-EE2E56AA5612}"/>
                </a:ext>
              </a:extLst>
            </p:cNvPr>
            <p:cNvPicPr>
              <a:picLocks noChangeAspect="1"/>
            </p:cNvPicPr>
            <p:nvPr/>
          </p:nvPicPr>
          <p:blipFill rotWithShape="1">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rcRect b="77723"/>
            <a:stretch/>
          </p:blipFill>
          <p:spPr>
            <a:xfrm>
              <a:off x="7379507" y="8631384"/>
              <a:ext cx="711292" cy="518063"/>
            </a:xfrm>
            <a:prstGeom prst="rect">
              <a:avLst/>
            </a:prstGeom>
          </p:spPr>
        </p:pic>
      </p:grpSp>
      <p:grpSp>
        <p:nvGrpSpPr>
          <p:cNvPr id="161" name="Groupe 160">
            <a:extLst>
              <a:ext uri="{FF2B5EF4-FFF2-40B4-BE49-F238E27FC236}">
                <a16:creationId xmlns:a16="http://schemas.microsoft.com/office/drawing/2014/main" id="{D4C61987-E411-7289-742E-E651B554B673}"/>
              </a:ext>
            </a:extLst>
          </p:cNvPr>
          <p:cNvGrpSpPr/>
          <p:nvPr/>
        </p:nvGrpSpPr>
        <p:grpSpPr>
          <a:xfrm>
            <a:off x="290634" y="3639271"/>
            <a:ext cx="2877656" cy="3203770"/>
            <a:chOff x="4128486" y="2379688"/>
            <a:chExt cx="3698197" cy="4117299"/>
          </a:xfrm>
        </p:grpSpPr>
        <p:pic>
          <p:nvPicPr>
            <p:cNvPr id="162" name="Graphique 161" descr="Homme tenant un panneau">
              <a:extLst>
                <a:ext uri="{FF2B5EF4-FFF2-40B4-BE49-F238E27FC236}">
                  <a16:creationId xmlns:a16="http://schemas.microsoft.com/office/drawing/2014/main" id="{0EAD6807-4505-D753-72A3-9CBE51586C2C}"/>
                </a:ext>
              </a:extLst>
            </p:cNvPr>
            <p:cNvPicPr>
              <a:picLocks noChangeAspect="1"/>
            </p:cNvPicPr>
            <p:nvPr/>
          </p:nvPicPr>
          <p:blipFill rotWithShape="1">
            <a:blip r:embed="rId49">
              <a:extLst>
                <a:ext uri="{28A0092B-C50C-407E-A947-70E740481C1C}">
                  <a14:useLocalDpi xmlns:a14="http://schemas.microsoft.com/office/drawing/2010/main" val="0"/>
                </a:ext>
                <a:ext uri="{96DAC541-7B7A-43D3-8B79-37D633B846F1}">
                  <asvg:svgBlip xmlns:asvg="http://schemas.microsoft.com/office/drawing/2016/SVG/main" r:embed="rId50"/>
                </a:ext>
              </a:extLst>
            </a:blip>
            <a:srcRect b="46692"/>
            <a:stretch/>
          </p:blipFill>
          <p:spPr>
            <a:xfrm>
              <a:off x="4128486" y="2379688"/>
              <a:ext cx="3698197" cy="4117299"/>
            </a:xfrm>
            <a:prstGeom prst="rect">
              <a:avLst/>
            </a:prstGeom>
          </p:spPr>
        </p:pic>
        <p:sp>
          <p:nvSpPr>
            <p:cNvPr id="163" name="Espace réservé du texte 15">
              <a:extLst>
                <a:ext uri="{FF2B5EF4-FFF2-40B4-BE49-F238E27FC236}">
                  <a16:creationId xmlns:a16="http://schemas.microsoft.com/office/drawing/2014/main" id="{A42F35E3-6D5E-BAA5-E4E0-D6943FD2E9FB}"/>
                </a:ext>
              </a:extLst>
            </p:cNvPr>
            <p:cNvSpPr txBox="1">
              <a:spLocks/>
            </p:cNvSpPr>
            <p:nvPr/>
          </p:nvSpPr>
          <p:spPr>
            <a:xfrm>
              <a:off x="4472402" y="4484981"/>
              <a:ext cx="3061317" cy="17545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i="1" dirty="0">
                  <a:solidFill>
                    <a:srgbClr val="ED7D31"/>
                  </a:solidFill>
                </a:rPr>
                <a:t>CCC-GOALS</a:t>
              </a:r>
            </a:p>
            <a:p>
              <a:pPr marL="0" indent="0" algn="ctr">
                <a:buFont typeface="Arial" panose="020B0604020202020204" pitchFamily="34" charset="0"/>
                <a:buNone/>
              </a:pPr>
              <a:r>
                <a:rPr lang="fr-FR" sz="2000" b="1" i="1" dirty="0">
                  <a:solidFill>
                    <a:srgbClr val="0683AA"/>
                  </a:solidFill>
                </a:rPr>
                <a:t>JUSQU’OÙ </a:t>
              </a:r>
              <a:r>
                <a:rPr lang="fr-FR" sz="2000" b="1" i="1" dirty="0"/>
                <a:t>VOULONS NOUS POUSSER CHAQUE SUJET ?</a:t>
              </a:r>
              <a:endParaRPr lang="fr-FR" sz="2000" b="1" i="1" dirty="0">
                <a:solidFill>
                  <a:srgbClr val="0683AA"/>
                </a:solidFill>
              </a:endParaRPr>
            </a:p>
          </p:txBody>
        </p:sp>
      </p:grpSp>
      <p:grpSp>
        <p:nvGrpSpPr>
          <p:cNvPr id="164" name="Groupe 163">
            <a:extLst>
              <a:ext uri="{FF2B5EF4-FFF2-40B4-BE49-F238E27FC236}">
                <a16:creationId xmlns:a16="http://schemas.microsoft.com/office/drawing/2014/main" id="{08F641CE-914B-7643-7F52-22CCDAB14B42}"/>
              </a:ext>
            </a:extLst>
          </p:cNvPr>
          <p:cNvGrpSpPr/>
          <p:nvPr/>
        </p:nvGrpSpPr>
        <p:grpSpPr>
          <a:xfrm>
            <a:off x="4657172" y="3654230"/>
            <a:ext cx="2877656" cy="3203770"/>
            <a:chOff x="4128486" y="2379688"/>
            <a:chExt cx="3698197" cy="4117299"/>
          </a:xfrm>
        </p:grpSpPr>
        <p:pic>
          <p:nvPicPr>
            <p:cNvPr id="165" name="Graphique 164" descr="Homme tenant un panneau">
              <a:extLst>
                <a:ext uri="{FF2B5EF4-FFF2-40B4-BE49-F238E27FC236}">
                  <a16:creationId xmlns:a16="http://schemas.microsoft.com/office/drawing/2014/main" id="{5300912E-AE9C-FF8D-F3F0-D4AC5A4F625C}"/>
                </a:ext>
              </a:extLst>
            </p:cNvPr>
            <p:cNvPicPr>
              <a:picLocks noChangeAspect="1"/>
            </p:cNvPicPr>
            <p:nvPr/>
          </p:nvPicPr>
          <p:blipFill rotWithShape="1">
            <a:blip r:embed="rId49">
              <a:extLst>
                <a:ext uri="{28A0092B-C50C-407E-A947-70E740481C1C}">
                  <a14:useLocalDpi xmlns:a14="http://schemas.microsoft.com/office/drawing/2010/main" val="0"/>
                </a:ext>
                <a:ext uri="{96DAC541-7B7A-43D3-8B79-37D633B846F1}">
                  <asvg:svgBlip xmlns:asvg="http://schemas.microsoft.com/office/drawing/2016/SVG/main" r:embed="rId50"/>
                </a:ext>
              </a:extLst>
            </a:blip>
            <a:srcRect b="46692"/>
            <a:stretch/>
          </p:blipFill>
          <p:spPr>
            <a:xfrm>
              <a:off x="4128486" y="2379688"/>
              <a:ext cx="3698197" cy="4117299"/>
            </a:xfrm>
            <a:prstGeom prst="rect">
              <a:avLst/>
            </a:prstGeom>
          </p:spPr>
        </p:pic>
        <p:sp>
          <p:nvSpPr>
            <p:cNvPr id="166" name="Espace réservé du texte 15">
              <a:extLst>
                <a:ext uri="{FF2B5EF4-FFF2-40B4-BE49-F238E27FC236}">
                  <a16:creationId xmlns:a16="http://schemas.microsoft.com/office/drawing/2014/main" id="{7CE69D32-AB5F-BE8F-383B-1EDF3521BD79}"/>
                </a:ext>
              </a:extLst>
            </p:cNvPr>
            <p:cNvSpPr txBox="1">
              <a:spLocks/>
            </p:cNvSpPr>
            <p:nvPr/>
          </p:nvSpPr>
          <p:spPr>
            <a:xfrm>
              <a:off x="4472402" y="4484981"/>
              <a:ext cx="3061317" cy="17545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i="1" dirty="0">
                  <a:solidFill>
                    <a:srgbClr val="ED7D31"/>
                  </a:solidFill>
                </a:rPr>
                <a:t>CCC-FLOW</a:t>
              </a:r>
            </a:p>
            <a:p>
              <a:pPr marL="0" indent="0" algn="ctr">
                <a:buFont typeface="Arial" panose="020B0604020202020204" pitchFamily="34" charset="0"/>
                <a:buNone/>
              </a:pPr>
              <a:r>
                <a:rPr lang="fr-FR" sz="2000" b="1" i="1" dirty="0"/>
                <a:t>OÙ EN SOMMES-NOUS SUR </a:t>
              </a:r>
              <a:r>
                <a:rPr lang="fr-FR" sz="2000" b="1" i="1" dirty="0">
                  <a:solidFill>
                    <a:srgbClr val="0683AA"/>
                  </a:solidFill>
                </a:rPr>
                <a:t>CHAQUE SUJET</a:t>
              </a:r>
              <a:r>
                <a:rPr lang="fr-FR" sz="2000" b="1" i="1" dirty="0"/>
                <a:t> ?</a:t>
              </a:r>
              <a:endParaRPr lang="fr-FR" sz="2000" b="1" i="1" dirty="0">
                <a:solidFill>
                  <a:srgbClr val="0683AA"/>
                </a:solidFill>
              </a:endParaRPr>
            </a:p>
          </p:txBody>
        </p:sp>
      </p:grpSp>
      <p:grpSp>
        <p:nvGrpSpPr>
          <p:cNvPr id="167" name="Groupe 166">
            <a:extLst>
              <a:ext uri="{FF2B5EF4-FFF2-40B4-BE49-F238E27FC236}">
                <a16:creationId xmlns:a16="http://schemas.microsoft.com/office/drawing/2014/main" id="{AB1FE61F-5B34-64DB-EA4C-2E110E6E3188}"/>
              </a:ext>
            </a:extLst>
          </p:cNvPr>
          <p:cNvGrpSpPr/>
          <p:nvPr/>
        </p:nvGrpSpPr>
        <p:grpSpPr>
          <a:xfrm>
            <a:off x="9094515" y="3627352"/>
            <a:ext cx="2877656" cy="3203770"/>
            <a:chOff x="4128486" y="2379688"/>
            <a:chExt cx="3698197" cy="4117299"/>
          </a:xfrm>
        </p:grpSpPr>
        <p:pic>
          <p:nvPicPr>
            <p:cNvPr id="168" name="Graphique 167" descr="Homme tenant un panneau">
              <a:extLst>
                <a:ext uri="{FF2B5EF4-FFF2-40B4-BE49-F238E27FC236}">
                  <a16:creationId xmlns:a16="http://schemas.microsoft.com/office/drawing/2014/main" id="{02D3BE37-969F-1147-01A7-30C7F4ED59A8}"/>
                </a:ext>
              </a:extLst>
            </p:cNvPr>
            <p:cNvPicPr>
              <a:picLocks noChangeAspect="1"/>
            </p:cNvPicPr>
            <p:nvPr/>
          </p:nvPicPr>
          <p:blipFill rotWithShape="1">
            <a:blip r:embed="rId49">
              <a:extLst>
                <a:ext uri="{28A0092B-C50C-407E-A947-70E740481C1C}">
                  <a14:useLocalDpi xmlns:a14="http://schemas.microsoft.com/office/drawing/2010/main" val="0"/>
                </a:ext>
                <a:ext uri="{96DAC541-7B7A-43D3-8B79-37D633B846F1}">
                  <asvg:svgBlip xmlns:asvg="http://schemas.microsoft.com/office/drawing/2016/SVG/main" r:embed="rId50"/>
                </a:ext>
              </a:extLst>
            </a:blip>
            <a:srcRect b="46692"/>
            <a:stretch/>
          </p:blipFill>
          <p:spPr>
            <a:xfrm>
              <a:off x="4128486" y="2379688"/>
              <a:ext cx="3698197" cy="4117299"/>
            </a:xfrm>
            <a:prstGeom prst="rect">
              <a:avLst/>
            </a:prstGeom>
          </p:spPr>
        </p:pic>
        <p:sp>
          <p:nvSpPr>
            <p:cNvPr id="169" name="Espace réservé du texte 15">
              <a:extLst>
                <a:ext uri="{FF2B5EF4-FFF2-40B4-BE49-F238E27FC236}">
                  <a16:creationId xmlns:a16="http://schemas.microsoft.com/office/drawing/2014/main" id="{4D3828FC-3130-9E43-B8AE-D605FD9A7757}"/>
                </a:ext>
              </a:extLst>
            </p:cNvPr>
            <p:cNvSpPr txBox="1">
              <a:spLocks/>
            </p:cNvSpPr>
            <p:nvPr/>
          </p:nvSpPr>
          <p:spPr>
            <a:xfrm>
              <a:off x="4472402" y="4484981"/>
              <a:ext cx="3061317" cy="17545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2000" b="1" i="1" dirty="0">
                  <a:solidFill>
                    <a:srgbClr val="ED7D31"/>
                  </a:solidFill>
                </a:rPr>
                <a:t>CCC-GROUPS</a:t>
              </a:r>
            </a:p>
            <a:p>
              <a:pPr marL="0" indent="0" algn="ctr">
                <a:buNone/>
              </a:pPr>
              <a:r>
                <a:rPr lang="fr-FR" sz="2000" b="1" i="1" dirty="0"/>
                <a:t>OÙ EN EST CHACUN EN MATURITÉ SUR </a:t>
              </a:r>
              <a:r>
                <a:rPr lang="fr-FR" sz="2000" b="1" i="1" dirty="0">
                  <a:solidFill>
                    <a:srgbClr val="0683AA"/>
                  </a:solidFill>
                </a:rPr>
                <a:t>NOS SUJETS</a:t>
              </a:r>
              <a:r>
                <a:rPr lang="fr-FR" sz="2000" b="1" i="1" dirty="0"/>
                <a:t> ?</a:t>
              </a:r>
              <a:endParaRPr lang="fr-FR" sz="2000" b="1" i="1" dirty="0">
                <a:solidFill>
                  <a:srgbClr val="0683AA"/>
                </a:solidFill>
              </a:endParaRPr>
            </a:p>
          </p:txBody>
        </p:sp>
      </p:grpSp>
    </p:spTree>
    <p:extLst>
      <p:ext uri="{BB962C8B-B14F-4D97-AF65-F5344CB8AC3E}">
        <p14:creationId xmlns:p14="http://schemas.microsoft.com/office/powerpoint/2010/main" val="3249926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0" y="321342"/>
            <a:ext cx="12192000" cy="71939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fr-FR" sz="3200" b="1" i="1" dirty="0">
                <a:solidFill>
                  <a:srgbClr val="0683AA"/>
                </a:solidFill>
                <a:ea typeface="+mn-lt"/>
                <a:cs typeface="+mn-lt"/>
              </a:rPr>
              <a:t>#OSC </a:t>
            </a:r>
            <a:r>
              <a:rPr lang="fr-FR" sz="3200" b="1" i="1" dirty="0">
                <a:solidFill>
                  <a:srgbClr val="ED7D31"/>
                </a:solidFill>
                <a:ea typeface="+mn-lt"/>
                <a:cs typeface="+mn-lt"/>
              </a:rPr>
              <a:t>Change </a:t>
            </a:r>
            <a:r>
              <a:rPr lang="fr-FR" sz="3200" b="1" i="1" dirty="0">
                <a:solidFill>
                  <a:srgbClr val="0683AA"/>
                </a:solidFill>
                <a:ea typeface="+mn-lt"/>
                <a:cs typeface="+mn-lt"/>
              </a:rPr>
              <a:t>Community </a:t>
            </a:r>
            <a:r>
              <a:rPr lang="fr-FR" sz="3200" b="1" i="1" dirty="0">
                <a:ea typeface="+mn-lt"/>
                <a:cs typeface="+mn-lt"/>
              </a:rPr>
              <a:t>Cycle</a:t>
            </a:r>
            <a:endParaRPr lang="en-US" sz="3200" dirty="0">
              <a:ea typeface="+mn-lt"/>
              <a:cs typeface="+mn-lt"/>
            </a:endParaRPr>
          </a:p>
        </p:txBody>
      </p:sp>
      <p:sp>
        <p:nvSpPr>
          <p:cNvPr id="5" name="ZoneTexte 4">
            <a:extLst>
              <a:ext uri="{FF2B5EF4-FFF2-40B4-BE49-F238E27FC236}">
                <a16:creationId xmlns:a16="http://schemas.microsoft.com/office/drawing/2014/main" id="{A2E9C241-5763-E74F-60AD-BA886D305FFB}"/>
              </a:ext>
            </a:extLst>
          </p:cNvPr>
          <p:cNvSpPr txBox="1"/>
          <p:nvPr/>
        </p:nvSpPr>
        <p:spPr>
          <a:xfrm>
            <a:off x="2096478" y="797169"/>
            <a:ext cx="802835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b="1" i="1" dirty="0"/>
              <a:t>Les ateliers pour usage opérationnel</a:t>
            </a:r>
            <a:endParaRPr lang="en-US" sz="2400" b="1" i="1" dirty="0">
              <a:cs typeface="Calibri"/>
            </a:endParaRPr>
          </a:p>
        </p:txBody>
      </p:sp>
      <p:grpSp>
        <p:nvGrpSpPr>
          <p:cNvPr id="161" name="Groupe 160">
            <a:extLst>
              <a:ext uri="{FF2B5EF4-FFF2-40B4-BE49-F238E27FC236}">
                <a16:creationId xmlns:a16="http://schemas.microsoft.com/office/drawing/2014/main" id="{D4C61987-E411-7289-742E-E651B554B673}"/>
              </a:ext>
            </a:extLst>
          </p:cNvPr>
          <p:cNvGrpSpPr/>
          <p:nvPr/>
        </p:nvGrpSpPr>
        <p:grpSpPr>
          <a:xfrm>
            <a:off x="290634" y="3639271"/>
            <a:ext cx="2877656" cy="3203770"/>
            <a:chOff x="4128486" y="2379688"/>
            <a:chExt cx="3698197" cy="4117299"/>
          </a:xfrm>
        </p:grpSpPr>
        <p:pic>
          <p:nvPicPr>
            <p:cNvPr id="162" name="Graphique 161" descr="Homme tenant un panneau">
              <a:extLst>
                <a:ext uri="{FF2B5EF4-FFF2-40B4-BE49-F238E27FC236}">
                  <a16:creationId xmlns:a16="http://schemas.microsoft.com/office/drawing/2014/main" id="{0EAD6807-4505-D753-72A3-9CBE51586C2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163" name="Espace réservé du texte 15">
              <a:extLst>
                <a:ext uri="{FF2B5EF4-FFF2-40B4-BE49-F238E27FC236}">
                  <a16:creationId xmlns:a16="http://schemas.microsoft.com/office/drawing/2014/main" id="{A42F35E3-6D5E-BAA5-E4E0-D6943FD2E9FB}"/>
                </a:ext>
              </a:extLst>
            </p:cNvPr>
            <p:cNvSpPr txBox="1">
              <a:spLocks/>
            </p:cNvSpPr>
            <p:nvPr/>
          </p:nvSpPr>
          <p:spPr>
            <a:xfrm>
              <a:off x="4472402" y="4484981"/>
              <a:ext cx="3061317" cy="17545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i="1" dirty="0">
                  <a:solidFill>
                    <a:srgbClr val="ED7D31"/>
                  </a:solidFill>
                </a:rPr>
                <a:t>CCC-DECISION</a:t>
              </a:r>
            </a:p>
            <a:p>
              <a:pPr marL="0" indent="0" algn="ctr">
                <a:buFont typeface="Arial" panose="020B0604020202020204" pitchFamily="34" charset="0"/>
                <a:buNone/>
              </a:pPr>
              <a:r>
                <a:rPr lang="fr-FR" sz="2000" b="1" i="1" dirty="0"/>
                <a:t>COMMENT CHOISIR NOS PROCHAINES </a:t>
              </a:r>
              <a:r>
                <a:rPr lang="fr-FR" sz="2000" b="1" i="1" dirty="0">
                  <a:solidFill>
                    <a:srgbClr val="ED7D31"/>
                  </a:solidFill>
                </a:rPr>
                <a:t>ACTIVITÉS</a:t>
              </a:r>
              <a:r>
                <a:rPr lang="fr-FR" sz="2000" b="1" i="1" dirty="0"/>
                <a:t> ?</a:t>
              </a:r>
              <a:endParaRPr lang="fr-FR" sz="2000" b="1" i="1" dirty="0">
                <a:solidFill>
                  <a:srgbClr val="0683AA"/>
                </a:solidFill>
              </a:endParaRPr>
            </a:p>
          </p:txBody>
        </p:sp>
      </p:grpSp>
      <p:grpSp>
        <p:nvGrpSpPr>
          <p:cNvPr id="164" name="Groupe 163">
            <a:extLst>
              <a:ext uri="{FF2B5EF4-FFF2-40B4-BE49-F238E27FC236}">
                <a16:creationId xmlns:a16="http://schemas.microsoft.com/office/drawing/2014/main" id="{08F641CE-914B-7643-7F52-22CCDAB14B42}"/>
              </a:ext>
            </a:extLst>
          </p:cNvPr>
          <p:cNvGrpSpPr/>
          <p:nvPr/>
        </p:nvGrpSpPr>
        <p:grpSpPr>
          <a:xfrm>
            <a:off x="4657172" y="3654230"/>
            <a:ext cx="2877656" cy="3203770"/>
            <a:chOff x="4128486" y="2379688"/>
            <a:chExt cx="3698197" cy="4117299"/>
          </a:xfrm>
        </p:grpSpPr>
        <p:pic>
          <p:nvPicPr>
            <p:cNvPr id="165" name="Graphique 164" descr="Homme tenant un panneau">
              <a:extLst>
                <a:ext uri="{FF2B5EF4-FFF2-40B4-BE49-F238E27FC236}">
                  <a16:creationId xmlns:a16="http://schemas.microsoft.com/office/drawing/2014/main" id="{5300912E-AE9C-FF8D-F3F0-D4AC5A4F625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166" name="Espace réservé du texte 15">
              <a:extLst>
                <a:ext uri="{FF2B5EF4-FFF2-40B4-BE49-F238E27FC236}">
                  <a16:creationId xmlns:a16="http://schemas.microsoft.com/office/drawing/2014/main" id="{7CE69D32-AB5F-BE8F-383B-1EDF3521BD79}"/>
                </a:ext>
              </a:extLst>
            </p:cNvPr>
            <p:cNvSpPr txBox="1">
              <a:spLocks/>
            </p:cNvSpPr>
            <p:nvPr/>
          </p:nvSpPr>
          <p:spPr>
            <a:xfrm>
              <a:off x="4472402" y="4484981"/>
              <a:ext cx="3061317" cy="17545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800" b="1" i="1" dirty="0">
                  <a:solidFill>
                    <a:srgbClr val="ED7D31"/>
                  </a:solidFill>
                </a:rPr>
                <a:t>CCC-AMBASSADORS</a:t>
              </a:r>
            </a:p>
            <a:p>
              <a:pPr marL="0" indent="0" algn="ctr">
                <a:buNone/>
              </a:pPr>
              <a:r>
                <a:rPr lang="fr-FR" sz="1800" b="1" i="1" dirty="0">
                  <a:ea typeface="+mn-lt"/>
                  <a:cs typeface="+mn-lt"/>
                </a:rPr>
                <a:t>COMMENT ADAPTER ET FORMER NOS </a:t>
              </a:r>
              <a:r>
                <a:rPr lang="fr-FR" sz="1800" b="1" i="1" dirty="0">
                  <a:solidFill>
                    <a:srgbClr val="ED7D31"/>
                  </a:solidFill>
                  <a:ea typeface="+mn-lt"/>
                  <a:cs typeface="+mn-lt"/>
                </a:rPr>
                <a:t>AMBASSADEURS </a:t>
              </a:r>
              <a:r>
                <a:rPr lang="fr-FR" sz="1800" b="1" i="1" dirty="0">
                  <a:ea typeface="+mn-lt"/>
                  <a:cs typeface="+mn-lt"/>
                </a:rPr>
                <a:t>?</a:t>
              </a:r>
              <a:endParaRPr lang="fr-FR" sz="1800" dirty="0">
                <a:ea typeface="+mn-lt"/>
                <a:cs typeface="+mn-lt"/>
              </a:endParaRPr>
            </a:p>
          </p:txBody>
        </p:sp>
      </p:grpSp>
      <p:grpSp>
        <p:nvGrpSpPr>
          <p:cNvPr id="167" name="Groupe 166">
            <a:extLst>
              <a:ext uri="{FF2B5EF4-FFF2-40B4-BE49-F238E27FC236}">
                <a16:creationId xmlns:a16="http://schemas.microsoft.com/office/drawing/2014/main" id="{AB1FE61F-5B34-64DB-EA4C-2E110E6E3188}"/>
              </a:ext>
            </a:extLst>
          </p:cNvPr>
          <p:cNvGrpSpPr/>
          <p:nvPr/>
        </p:nvGrpSpPr>
        <p:grpSpPr>
          <a:xfrm>
            <a:off x="9094515" y="3627352"/>
            <a:ext cx="2877656" cy="3203770"/>
            <a:chOff x="4128486" y="2379688"/>
            <a:chExt cx="3698197" cy="4117299"/>
          </a:xfrm>
        </p:grpSpPr>
        <p:pic>
          <p:nvPicPr>
            <p:cNvPr id="168" name="Graphique 167" descr="Homme tenant un panneau">
              <a:extLst>
                <a:ext uri="{FF2B5EF4-FFF2-40B4-BE49-F238E27FC236}">
                  <a16:creationId xmlns:a16="http://schemas.microsoft.com/office/drawing/2014/main" id="{02D3BE37-969F-1147-01A7-30C7F4ED59A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169" name="Espace réservé du texte 15">
              <a:extLst>
                <a:ext uri="{FF2B5EF4-FFF2-40B4-BE49-F238E27FC236}">
                  <a16:creationId xmlns:a16="http://schemas.microsoft.com/office/drawing/2014/main" id="{4D3828FC-3130-9E43-B8AE-D605FD9A7757}"/>
                </a:ext>
              </a:extLst>
            </p:cNvPr>
            <p:cNvSpPr txBox="1">
              <a:spLocks/>
            </p:cNvSpPr>
            <p:nvPr/>
          </p:nvSpPr>
          <p:spPr>
            <a:xfrm>
              <a:off x="4472402" y="4484981"/>
              <a:ext cx="3061317" cy="17545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2000" b="1" i="1" dirty="0">
                  <a:solidFill>
                    <a:srgbClr val="ED7D31"/>
                  </a:solidFill>
                </a:rPr>
                <a:t>CCC-INDICATORS</a:t>
              </a:r>
            </a:p>
            <a:p>
              <a:pPr marL="0" indent="0" algn="ctr">
                <a:buNone/>
              </a:pPr>
              <a:r>
                <a:rPr lang="fr-FR" sz="2000" b="1" i="1" dirty="0"/>
                <a:t>QUELS </a:t>
              </a:r>
              <a:r>
                <a:rPr lang="fr-FR" sz="2000" b="1" i="1" dirty="0">
                  <a:solidFill>
                    <a:srgbClr val="0683AA"/>
                  </a:solidFill>
                </a:rPr>
                <a:t>INDICATEURS</a:t>
              </a:r>
              <a:r>
                <a:rPr lang="fr-FR" sz="2000" b="1" i="1" dirty="0"/>
                <a:t> ALLONS NOUS SUIVRE?</a:t>
              </a:r>
            </a:p>
          </p:txBody>
        </p:sp>
      </p:grpSp>
      <p:pic>
        <p:nvPicPr>
          <p:cNvPr id="2" name="Image 1">
            <a:extLst>
              <a:ext uri="{FF2B5EF4-FFF2-40B4-BE49-F238E27FC236}">
                <a16:creationId xmlns:a16="http://schemas.microsoft.com/office/drawing/2014/main" id="{67745C0A-7605-5C8B-98F6-71BCA8BB0629}"/>
              </a:ext>
            </a:extLst>
          </p:cNvPr>
          <p:cNvPicPr>
            <a:picLocks noChangeAspect="1"/>
          </p:cNvPicPr>
          <p:nvPr/>
        </p:nvPicPr>
        <p:blipFill rotWithShape="1">
          <a:blip r:embed="rId4"/>
          <a:srcRect l="63495" t="27645" r="4692" b="32711"/>
          <a:stretch/>
        </p:blipFill>
        <p:spPr>
          <a:xfrm>
            <a:off x="0" y="1865090"/>
            <a:ext cx="3795997" cy="1489365"/>
          </a:xfrm>
          <a:prstGeom prst="rect">
            <a:avLst/>
          </a:prstGeom>
        </p:spPr>
      </p:pic>
      <p:pic>
        <p:nvPicPr>
          <p:cNvPr id="23" name="Graphique 22" descr="Mille avec un remplissage uni">
            <a:extLst>
              <a:ext uri="{FF2B5EF4-FFF2-40B4-BE49-F238E27FC236}">
                <a16:creationId xmlns:a16="http://schemas.microsoft.com/office/drawing/2014/main" id="{6EB7D8EB-6E93-C90C-D2A9-D2C6BAFCB41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29060" y="1677979"/>
            <a:ext cx="447536" cy="447536"/>
          </a:xfrm>
          <a:prstGeom prst="rect">
            <a:avLst/>
          </a:prstGeom>
        </p:spPr>
      </p:pic>
      <p:sp>
        <p:nvSpPr>
          <p:cNvPr id="43" name="ZoneTexte 42">
            <a:extLst>
              <a:ext uri="{FF2B5EF4-FFF2-40B4-BE49-F238E27FC236}">
                <a16:creationId xmlns:a16="http://schemas.microsoft.com/office/drawing/2014/main" id="{1B4B52C5-F802-CAA8-4011-7055092D948D}"/>
              </a:ext>
            </a:extLst>
          </p:cNvPr>
          <p:cNvSpPr txBox="1"/>
          <p:nvPr/>
        </p:nvSpPr>
        <p:spPr>
          <a:xfrm>
            <a:off x="10361902" y="1530419"/>
            <a:ext cx="464463" cy="707886"/>
          </a:xfrm>
          <a:prstGeom prst="rect">
            <a:avLst/>
          </a:prstGeom>
          <a:noFill/>
        </p:spPr>
        <p:txBody>
          <a:bodyPr wrap="square">
            <a:spAutoFit/>
          </a:bodyPr>
          <a:lstStyle/>
          <a:p>
            <a:r>
              <a:rPr lang="el-GR" sz="4000" dirty="0"/>
              <a:t>Σ</a:t>
            </a:r>
            <a:endParaRPr lang="fr-FR" sz="4000" dirty="0"/>
          </a:p>
        </p:txBody>
      </p:sp>
      <p:cxnSp>
        <p:nvCxnSpPr>
          <p:cNvPr id="44" name="Connecteur droit 43">
            <a:extLst>
              <a:ext uri="{FF2B5EF4-FFF2-40B4-BE49-F238E27FC236}">
                <a16:creationId xmlns:a16="http://schemas.microsoft.com/office/drawing/2014/main" id="{3872036A-7C65-073A-9308-CC1B2BD6B4AB}"/>
              </a:ext>
            </a:extLst>
          </p:cNvPr>
          <p:cNvCxnSpPr>
            <a:cxnSpLocks/>
          </p:cNvCxnSpPr>
          <p:nvPr/>
        </p:nvCxnSpPr>
        <p:spPr>
          <a:xfrm flipH="1">
            <a:off x="9302649" y="2843848"/>
            <a:ext cx="108846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45" name="ZoneTexte 44">
            <a:extLst>
              <a:ext uri="{FF2B5EF4-FFF2-40B4-BE49-F238E27FC236}">
                <a16:creationId xmlns:a16="http://schemas.microsoft.com/office/drawing/2014/main" id="{4825165A-B540-8A43-62DA-91FD94F0B71C}"/>
              </a:ext>
            </a:extLst>
          </p:cNvPr>
          <p:cNvSpPr txBox="1"/>
          <p:nvPr/>
        </p:nvSpPr>
        <p:spPr>
          <a:xfrm>
            <a:off x="9510700" y="2035866"/>
            <a:ext cx="464463" cy="707886"/>
          </a:xfrm>
          <a:prstGeom prst="rect">
            <a:avLst/>
          </a:prstGeom>
          <a:noFill/>
        </p:spPr>
        <p:txBody>
          <a:bodyPr wrap="square">
            <a:spAutoFit/>
          </a:bodyPr>
          <a:lstStyle/>
          <a:p>
            <a:r>
              <a:rPr lang="el-GR" sz="4000" dirty="0"/>
              <a:t>Σ</a:t>
            </a:r>
            <a:endParaRPr lang="fr-FR" sz="4000" dirty="0"/>
          </a:p>
        </p:txBody>
      </p:sp>
      <p:sp>
        <p:nvSpPr>
          <p:cNvPr id="46" name="ZoneTexte 45">
            <a:extLst>
              <a:ext uri="{FF2B5EF4-FFF2-40B4-BE49-F238E27FC236}">
                <a16:creationId xmlns:a16="http://schemas.microsoft.com/office/drawing/2014/main" id="{51803C56-5920-CB2B-3A8B-1F576F2F4F69}"/>
              </a:ext>
            </a:extLst>
          </p:cNvPr>
          <p:cNvSpPr txBox="1"/>
          <p:nvPr/>
        </p:nvSpPr>
        <p:spPr>
          <a:xfrm>
            <a:off x="9505668" y="2755992"/>
            <a:ext cx="464463" cy="707886"/>
          </a:xfrm>
          <a:prstGeom prst="rect">
            <a:avLst/>
          </a:prstGeom>
          <a:noFill/>
        </p:spPr>
        <p:txBody>
          <a:bodyPr wrap="square">
            <a:spAutoFit/>
          </a:bodyPr>
          <a:lstStyle/>
          <a:p>
            <a:r>
              <a:rPr lang="el-GR" sz="4000" dirty="0"/>
              <a:t>Σ</a:t>
            </a:r>
            <a:endParaRPr lang="fr-FR" sz="4000" dirty="0"/>
          </a:p>
        </p:txBody>
      </p:sp>
      <p:sp>
        <p:nvSpPr>
          <p:cNvPr id="47" name="ZoneTexte 46">
            <a:extLst>
              <a:ext uri="{FF2B5EF4-FFF2-40B4-BE49-F238E27FC236}">
                <a16:creationId xmlns:a16="http://schemas.microsoft.com/office/drawing/2014/main" id="{256D4544-ACF3-BAAA-065E-31ADFAE628EE}"/>
              </a:ext>
            </a:extLst>
          </p:cNvPr>
          <p:cNvSpPr txBox="1"/>
          <p:nvPr/>
        </p:nvSpPr>
        <p:spPr>
          <a:xfrm>
            <a:off x="9766192" y="2135962"/>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48" name="ZoneTexte 47">
            <a:extLst>
              <a:ext uri="{FF2B5EF4-FFF2-40B4-BE49-F238E27FC236}">
                <a16:creationId xmlns:a16="http://schemas.microsoft.com/office/drawing/2014/main" id="{720E56DF-B86C-9493-36A5-2BE8C517F151}"/>
              </a:ext>
            </a:extLst>
          </p:cNvPr>
          <p:cNvSpPr txBox="1"/>
          <p:nvPr/>
        </p:nvSpPr>
        <p:spPr>
          <a:xfrm>
            <a:off x="9491652" y="2559166"/>
            <a:ext cx="246248" cy="169277"/>
          </a:xfrm>
          <a:prstGeom prst="rect">
            <a:avLst/>
          </a:prstGeom>
          <a:noFill/>
        </p:spPr>
        <p:txBody>
          <a:bodyPr wrap="square">
            <a:spAutoFit/>
          </a:bodyPr>
          <a:lstStyle/>
          <a:p>
            <a:r>
              <a:rPr lang="fr-FR" sz="500" dirty="0"/>
              <a:t>I =</a:t>
            </a:r>
          </a:p>
        </p:txBody>
      </p:sp>
      <p:sp>
        <p:nvSpPr>
          <p:cNvPr id="49" name="Rectangle 48">
            <a:extLst>
              <a:ext uri="{FF2B5EF4-FFF2-40B4-BE49-F238E27FC236}">
                <a16:creationId xmlns:a16="http://schemas.microsoft.com/office/drawing/2014/main" id="{0D279765-8F36-5777-1DBE-5AF1DC27F5F1}"/>
              </a:ext>
            </a:extLst>
          </p:cNvPr>
          <p:cNvSpPr/>
          <p:nvPr/>
        </p:nvSpPr>
        <p:spPr>
          <a:xfrm>
            <a:off x="9660655" y="2571406"/>
            <a:ext cx="120649" cy="11548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50" name="Rectangle 49">
            <a:extLst>
              <a:ext uri="{FF2B5EF4-FFF2-40B4-BE49-F238E27FC236}">
                <a16:creationId xmlns:a16="http://schemas.microsoft.com/office/drawing/2014/main" id="{28969DCF-FFF9-FEC4-8A35-34D6AC5D4928}"/>
              </a:ext>
            </a:extLst>
          </p:cNvPr>
          <p:cNvSpPr/>
          <p:nvPr/>
        </p:nvSpPr>
        <p:spPr>
          <a:xfrm>
            <a:off x="9873119" y="2975815"/>
            <a:ext cx="246702" cy="2361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1" name="Connecteur droit 50">
            <a:extLst>
              <a:ext uri="{FF2B5EF4-FFF2-40B4-BE49-F238E27FC236}">
                <a16:creationId xmlns:a16="http://schemas.microsoft.com/office/drawing/2014/main" id="{4B607A7C-E8A1-D2CA-77CA-F8869BCB232B}"/>
              </a:ext>
            </a:extLst>
          </p:cNvPr>
          <p:cNvCxnSpPr>
            <a:cxnSpLocks/>
          </p:cNvCxnSpPr>
          <p:nvPr/>
        </p:nvCxnSpPr>
        <p:spPr>
          <a:xfrm flipH="1">
            <a:off x="11053683" y="2852341"/>
            <a:ext cx="1008672" cy="1398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52" name="ZoneTexte 51">
            <a:extLst>
              <a:ext uri="{FF2B5EF4-FFF2-40B4-BE49-F238E27FC236}">
                <a16:creationId xmlns:a16="http://schemas.microsoft.com/office/drawing/2014/main" id="{82566B01-9439-447D-918F-1A27946D42C7}"/>
              </a:ext>
            </a:extLst>
          </p:cNvPr>
          <p:cNvSpPr txBox="1"/>
          <p:nvPr/>
        </p:nvSpPr>
        <p:spPr>
          <a:xfrm>
            <a:off x="11175421" y="2817124"/>
            <a:ext cx="464463" cy="707886"/>
          </a:xfrm>
          <a:prstGeom prst="rect">
            <a:avLst/>
          </a:prstGeom>
          <a:noFill/>
        </p:spPr>
        <p:txBody>
          <a:bodyPr wrap="square">
            <a:spAutoFit/>
          </a:bodyPr>
          <a:lstStyle/>
          <a:p>
            <a:r>
              <a:rPr lang="el-GR" sz="4000" dirty="0"/>
              <a:t>Σ</a:t>
            </a:r>
            <a:endParaRPr lang="fr-FR" sz="4000" dirty="0"/>
          </a:p>
        </p:txBody>
      </p:sp>
      <p:sp>
        <p:nvSpPr>
          <p:cNvPr id="53" name="ZoneTexte 52">
            <a:extLst>
              <a:ext uri="{FF2B5EF4-FFF2-40B4-BE49-F238E27FC236}">
                <a16:creationId xmlns:a16="http://schemas.microsoft.com/office/drawing/2014/main" id="{B9051B3C-BB3F-0008-E035-48C877EEB82F}"/>
              </a:ext>
            </a:extLst>
          </p:cNvPr>
          <p:cNvSpPr txBox="1"/>
          <p:nvPr/>
        </p:nvSpPr>
        <p:spPr>
          <a:xfrm>
            <a:off x="11538634" y="2250835"/>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54" name="ZoneTexte 53">
            <a:extLst>
              <a:ext uri="{FF2B5EF4-FFF2-40B4-BE49-F238E27FC236}">
                <a16:creationId xmlns:a16="http://schemas.microsoft.com/office/drawing/2014/main" id="{24951CE9-9034-0FFF-299C-58FE14C02AC0}"/>
              </a:ext>
            </a:extLst>
          </p:cNvPr>
          <p:cNvSpPr txBox="1"/>
          <p:nvPr/>
        </p:nvSpPr>
        <p:spPr>
          <a:xfrm>
            <a:off x="11264094" y="2674039"/>
            <a:ext cx="246248" cy="169277"/>
          </a:xfrm>
          <a:prstGeom prst="rect">
            <a:avLst/>
          </a:prstGeom>
          <a:noFill/>
        </p:spPr>
        <p:txBody>
          <a:bodyPr wrap="square">
            <a:spAutoFit/>
          </a:bodyPr>
          <a:lstStyle/>
          <a:p>
            <a:r>
              <a:rPr lang="fr-FR" sz="500" dirty="0"/>
              <a:t>I =</a:t>
            </a:r>
          </a:p>
        </p:txBody>
      </p:sp>
      <p:pic>
        <p:nvPicPr>
          <p:cNvPr id="55" name="Graphique 54" descr="Femme non-voyante utilisant un bâton">
            <a:extLst>
              <a:ext uri="{FF2B5EF4-FFF2-40B4-BE49-F238E27FC236}">
                <a16:creationId xmlns:a16="http://schemas.microsoft.com/office/drawing/2014/main" id="{F47FB77F-D51E-1395-09CB-EC6A738EAC90}"/>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9626" t="110" r="16666" b="79554"/>
          <a:stretch/>
        </p:blipFill>
        <p:spPr>
          <a:xfrm>
            <a:off x="11534862" y="3026284"/>
            <a:ext cx="273418" cy="289567"/>
          </a:xfrm>
          <a:prstGeom prst="rect">
            <a:avLst/>
          </a:prstGeom>
        </p:spPr>
      </p:pic>
      <p:sp>
        <p:nvSpPr>
          <p:cNvPr id="56" name="ZoneTexte 55">
            <a:extLst>
              <a:ext uri="{FF2B5EF4-FFF2-40B4-BE49-F238E27FC236}">
                <a16:creationId xmlns:a16="http://schemas.microsoft.com/office/drawing/2014/main" id="{3AE62962-6A0A-2FAB-A51E-E3D87EECDC5E}"/>
              </a:ext>
            </a:extLst>
          </p:cNvPr>
          <p:cNvSpPr txBox="1"/>
          <p:nvPr/>
        </p:nvSpPr>
        <p:spPr>
          <a:xfrm>
            <a:off x="11208441" y="2136902"/>
            <a:ext cx="464463" cy="707886"/>
          </a:xfrm>
          <a:prstGeom prst="rect">
            <a:avLst/>
          </a:prstGeom>
          <a:noFill/>
        </p:spPr>
        <p:txBody>
          <a:bodyPr wrap="square">
            <a:spAutoFit/>
          </a:bodyPr>
          <a:lstStyle/>
          <a:p>
            <a:r>
              <a:rPr lang="el-GR" sz="4000" dirty="0"/>
              <a:t>Σ</a:t>
            </a:r>
            <a:endParaRPr lang="fr-FR" sz="4000" dirty="0"/>
          </a:p>
        </p:txBody>
      </p:sp>
      <p:grpSp>
        <p:nvGrpSpPr>
          <p:cNvPr id="196" name="Groupe 195">
            <a:extLst>
              <a:ext uri="{FF2B5EF4-FFF2-40B4-BE49-F238E27FC236}">
                <a16:creationId xmlns:a16="http://schemas.microsoft.com/office/drawing/2014/main" id="{18CD6C45-DD51-CC73-B508-D548A06C9913}"/>
              </a:ext>
            </a:extLst>
          </p:cNvPr>
          <p:cNvGrpSpPr/>
          <p:nvPr/>
        </p:nvGrpSpPr>
        <p:grpSpPr>
          <a:xfrm>
            <a:off x="4186331" y="2050589"/>
            <a:ext cx="4341551" cy="1017154"/>
            <a:chOff x="2325949" y="3049769"/>
            <a:chExt cx="7924090" cy="1856484"/>
          </a:xfrm>
        </p:grpSpPr>
        <p:grpSp>
          <p:nvGrpSpPr>
            <p:cNvPr id="125" name="Groupe 124">
              <a:extLst>
                <a:ext uri="{FF2B5EF4-FFF2-40B4-BE49-F238E27FC236}">
                  <a16:creationId xmlns:a16="http://schemas.microsoft.com/office/drawing/2014/main" id="{A4323B84-1265-1D35-BD3A-66740974774F}"/>
                </a:ext>
              </a:extLst>
            </p:cNvPr>
            <p:cNvGrpSpPr/>
            <p:nvPr/>
          </p:nvGrpSpPr>
          <p:grpSpPr>
            <a:xfrm>
              <a:off x="2325949" y="4050670"/>
              <a:ext cx="7884677" cy="855583"/>
              <a:chOff x="213802" y="5181377"/>
              <a:chExt cx="11559645" cy="1148090"/>
            </a:xfrm>
          </p:grpSpPr>
          <p:pic>
            <p:nvPicPr>
              <p:cNvPr id="140" name="Graphique 139" descr="Un astronaute avec un remplissage uni">
                <a:extLst>
                  <a:ext uri="{FF2B5EF4-FFF2-40B4-BE49-F238E27FC236}">
                    <a16:creationId xmlns:a16="http://schemas.microsoft.com/office/drawing/2014/main" id="{25F4C1EC-BD52-E221-B35F-8BF1FA683C7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26208" y="5199225"/>
                <a:ext cx="914400" cy="914400"/>
              </a:xfrm>
              <a:prstGeom prst="rect">
                <a:avLst/>
              </a:prstGeom>
            </p:spPr>
          </p:pic>
          <p:pic>
            <p:nvPicPr>
              <p:cNvPr id="158" name="Graphique 157" descr="Homme pilote avec un remplissage uni">
                <a:extLst>
                  <a:ext uri="{FF2B5EF4-FFF2-40B4-BE49-F238E27FC236}">
                    <a16:creationId xmlns:a16="http://schemas.microsoft.com/office/drawing/2014/main" id="{79C09FF8-9AA8-E828-C4A5-22AD24ACC84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582982" y="5196135"/>
                <a:ext cx="914400" cy="914400"/>
              </a:xfrm>
              <a:prstGeom prst="rect">
                <a:avLst/>
              </a:prstGeom>
            </p:spPr>
          </p:pic>
          <p:pic>
            <p:nvPicPr>
              <p:cNvPr id="159" name="Graphique 158" descr="Homme électricien avec un remplissage uni">
                <a:extLst>
                  <a:ext uri="{FF2B5EF4-FFF2-40B4-BE49-F238E27FC236}">
                    <a16:creationId xmlns:a16="http://schemas.microsoft.com/office/drawing/2014/main" id="{0AE6CBC4-143C-0906-BD1F-B95540933C4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663976" y="5199225"/>
                <a:ext cx="914400" cy="914400"/>
              </a:xfrm>
              <a:prstGeom prst="rect">
                <a:avLst/>
              </a:prstGeom>
            </p:spPr>
          </p:pic>
          <p:pic>
            <p:nvPicPr>
              <p:cNvPr id="160" name="Graphique 159" descr="Homme scientifique avec un remplissage uni">
                <a:extLst>
                  <a:ext uri="{FF2B5EF4-FFF2-40B4-BE49-F238E27FC236}">
                    <a16:creationId xmlns:a16="http://schemas.microsoft.com/office/drawing/2014/main" id="{6C45FC69-1070-CD96-817E-6A48B23B07BF}"/>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898543" y="5199225"/>
                <a:ext cx="914400" cy="914400"/>
              </a:xfrm>
              <a:prstGeom prst="rect">
                <a:avLst/>
              </a:prstGeom>
            </p:spPr>
          </p:pic>
          <p:pic>
            <p:nvPicPr>
              <p:cNvPr id="170" name="Graphique 169" descr="Employé de bureau avec un remplissage uni">
                <a:extLst>
                  <a:ext uri="{FF2B5EF4-FFF2-40B4-BE49-F238E27FC236}">
                    <a16:creationId xmlns:a16="http://schemas.microsoft.com/office/drawing/2014/main" id="{260728C3-B5A1-39FF-3F2F-545BFEDDA269}"/>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968160" y="5181377"/>
                <a:ext cx="914400" cy="914400"/>
              </a:xfrm>
              <a:prstGeom prst="rect">
                <a:avLst/>
              </a:prstGeom>
            </p:spPr>
          </p:pic>
          <p:pic>
            <p:nvPicPr>
              <p:cNvPr id="171" name="Graphique 170" descr="Homme détective avec un remplissage uni">
                <a:extLst>
                  <a:ext uri="{FF2B5EF4-FFF2-40B4-BE49-F238E27FC236}">
                    <a16:creationId xmlns:a16="http://schemas.microsoft.com/office/drawing/2014/main" id="{054F61B5-37FC-EAFA-F7AC-4202658C838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133110" y="5199225"/>
                <a:ext cx="914400" cy="914400"/>
              </a:xfrm>
              <a:prstGeom prst="rect">
                <a:avLst/>
              </a:prstGeom>
            </p:spPr>
          </p:pic>
          <p:sp>
            <p:nvSpPr>
              <p:cNvPr id="172" name="ZoneTexte 171">
                <a:extLst>
                  <a:ext uri="{FF2B5EF4-FFF2-40B4-BE49-F238E27FC236}">
                    <a16:creationId xmlns:a16="http://schemas.microsoft.com/office/drawing/2014/main" id="{F2112225-5F06-DCD4-A4BA-D26399563917}"/>
                  </a:ext>
                </a:extLst>
              </p:cNvPr>
              <p:cNvSpPr txBox="1"/>
              <p:nvPr/>
            </p:nvSpPr>
            <p:spPr>
              <a:xfrm>
                <a:off x="213802" y="6070092"/>
                <a:ext cx="1232674" cy="247800"/>
              </a:xfrm>
              <a:prstGeom prst="rect">
                <a:avLst/>
              </a:prstGeom>
              <a:noFill/>
            </p:spPr>
            <p:txBody>
              <a:bodyPr wrap="square">
                <a:spAutoFit/>
              </a:bodyPr>
              <a:lstStyle/>
              <a:p>
                <a:pPr marL="0" indent="0" algn="ctr">
                  <a:buFont typeface="Arial" panose="020B0604020202020204" pitchFamily="34" charset="0"/>
                  <a:buNone/>
                </a:pPr>
                <a:r>
                  <a:rPr lang="fr-FR" sz="300" b="1" i="1"/>
                  <a:t>AMBASSADEURS VISIONNAIRES </a:t>
                </a:r>
              </a:p>
              <a:p>
                <a:pPr marL="0" indent="0" algn="ctr">
                  <a:buFont typeface="Arial" panose="020B0604020202020204" pitchFamily="34" charset="0"/>
                  <a:buNone/>
                </a:pPr>
                <a:r>
                  <a:rPr lang="fr-FR" sz="300" b="1" i="1"/>
                  <a:t>&amp; « PRÊCHEURS»</a:t>
                </a:r>
              </a:p>
            </p:txBody>
          </p:sp>
          <p:sp>
            <p:nvSpPr>
              <p:cNvPr id="173" name="ZoneTexte 172">
                <a:extLst>
                  <a:ext uri="{FF2B5EF4-FFF2-40B4-BE49-F238E27FC236}">
                    <a16:creationId xmlns:a16="http://schemas.microsoft.com/office/drawing/2014/main" id="{36C6806B-A45C-6DC8-803F-4DBBA342858E}"/>
                  </a:ext>
                </a:extLst>
              </p:cNvPr>
              <p:cNvSpPr txBox="1"/>
              <p:nvPr/>
            </p:nvSpPr>
            <p:spPr>
              <a:xfrm>
                <a:off x="1941268" y="6074645"/>
                <a:ext cx="1232674" cy="247800"/>
              </a:xfrm>
              <a:prstGeom prst="rect">
                <a:avLst/>
              </a:prstGeom>
              <a:noFill/>
            </p:spPr>
            <p:txBody>
              <a:bodyPr wrap="square">
                <a:spAutoFit/>
              </a:bodyPr>
              <a:lstStyle/>
              <a:p>
                <a:pPr marL="0" indent="0" algn="ctr">
                  <a:buFont typeface="Arial" panose="020B0604020202020204" pitchFamily="34" charset="0"/>
                  <a:buNone/>
                </a:pPr>
                <a:r>
                  <a:rPr lang="fr-FR" sz="300" b="1" i="1"/>
                  <a:t>AMBASSADEURS DÉTECTIVES DE CONTRAINTES ET D’OPPORTUNITÉS</a:t>
                </a:r>
              </a:p>
            </p:txBody>
          </p:sp>
          <p:sp>
            <p:nvSpPr>
              <p:cNvPr id="174" name="ZoneTexte 173">
                <a:extLst>
                  <a:ext uri="{FF2B5EF4-FFF2-40B4-BE49-F238E27FC236}">
                    <a16:creationId xmlns:a16="http://schemas.microsoft.com/office/drawing/2014/main" id="{5F7333E5-4BB5-897B-8F45-D7BA3EE3839D}"/>
                  </a:ext>
                </a:extLst>
              </p:cNvPr>
              <p:cNvSpPr txBox="1"/>
              <p:nvPr/>
            </p:nvSpPr>
            <p:spPr>
              <a:xfrm>
                <a:off x="3734145" y="6110536"/>
                <a:ext cx="1232674" cy="185849"/>
              </a:xfrm>
              <a:prstGeom prst="rect">
                <a:avLst/>
              </a:prstGeom>
              <a:noFill/>
            </p:spPr>
            <p:txBody>
              <a:bodyPr wrap="square">
                <a:spAutoFit/>
              </a:bodyPr>
              <a:lstStyle/>
              <a:p>
                <a:pPr marL="0" indent="0" algn="ctr">
                  <a:buFont typeface="Arial" panose="020B0604020202020204" pitchFamily="34" charset="0"/>
                  <a:buNone/>
                </a:pPr>
                <a:r>
                  <a:rPr lang="fr-FR" sz="300" b="1" i="1"/>
                  <a:t>AMBASSADEURS PROFESSEURS</a:t>
                </a:r>
              </a:p>
            </p:txBody>
          </p:sp>
          <p:sp>
            <p:nvSpPr>
              <p:cNvPr id="175" name="ZoneTexte 174">
                <a:extLst>
                  <a:ext uri="{FF2B5EF4-FFF2-40B4-BE49-F238E27FC236}">
                    <a16:creationId xmlns:a16="http://schemas.microsoft.com/office/drawing/2014/main" id="{9FE5E99A-BD09-87E1-25EE-0BBD0AAD9F26}"/>
                  </a:ext>
                </a:extLst>
              </p:cNvPr>
              <p:cNvSpPr txBox="1"/>
              <p:nvPr/>
            </p:nvSpPr>
            <p:spPr>
              <a:xfrm>
                <a:off x="5479663" y="6110536"/>
                <a:ext cx="1232674" cy="185849"/>
              </a:xfrm>
              <a:prstGeom prst="rect">
                <a:avLst/>
              </a:prstGeom>
              <a:noFill/>
            </p:spPr>
            <p:txBody>
              <a:bodyPr wrap="square">
                <a:spAutoFit/>
              </a:bodyPr>
              <a:lstStyle/>
              <a:p>
                <a:pPr marL="0" indent="0" algn="ctr">
                  <a:buFont typeface="Arial" panose="020B0604020202020204" pitchFamily="34" charset="0"/>
                  <a:buNone/>
                </a:pPr>
                <a:r>
                  <a:rPr lang="fr-FR" sz="300" b="1" i="1"/>
                  <a:t>AMBASSADEURS SUPPORT</a:t>
                </a:r>
              </a:p>
            </p:txBody>
          </p:sp>
          <p:sp>
            <p:nvSpPr>
              <p:cNvPr id="176" name="ZoneTexte 175">
                <a:extLst>
                  <a:ext uri="{FF2B5EF4-FFF2-40B4-BE49-F238E27FC236}">
                    <a16:creationId xmlns:a16="http://schemas.microsoft.com/office/drawing/2014/main" id="{88CF2592-1DFA-189C-141F-488757D929BE}"/>
                  </a:ext>
                </a:extLst>
              </p:cNvPr>
              <p:cNvSpPr txBox="1"/>
              <p:nvPr/>
            </p:nvSpPr>
            <p:spPr>
              <a:xfrm>
                <a:off x="8738393" y="6056796"/>
                <a:ext cx="1373933" cy="185849"/>
              </a:xfrm>
              <a:prstGeom prst="rect">
                <a:avLst/>
              </a:prstGeom>
              <a:noFill/>
            </p:spPr>
            <p:txBody>
              <a:bodyPr wrap="square">
                <a:spAutoFit/>
              </a:bodyPr>
              <a:lstStyle/>
              <a:p>
                <a:pPr marL="0" indent="0" algn="ctr">
                  <a:buFont typeface="Arial" panose="020B0604020202020204" pitchFamily="34" charset="0"/>
                  <a:buNone/>
                </a:pPr>
                <a:r>
                  <a:rPr lang="fr-FR" sz="300" b="1" i="1"/>
                  <a:t>AMBASSADEURS « COMMERCIAUX »</a:t>
                </a:r>
              </a:p>
            </p:txBody>
          </p:sp>
          <p:sp>
            <p:nvSpPr>
              <p:cNvPr id="177" name="ZoneTexte 176">
                <a:extLst>
                  <a:ext uri="{FF2B5EF4-FFF2-40B4-BE49-F238E27FC236}">
                    <a16:creationId xmlns:a16="http://schemas.microsoft.com/office/drawing/2014/main" id="{5D5A6CE6-54B8-03A2-1B10-9BABC2591CDB}"/>
                  </a:ext>
                </a:extLst>
              </p:cNvPr>
              <p:cNvSpPr txBox="1"/>
              <p:nvPr/>
            </p:nvSpPr>
            <p:spPr>
              <a:xfrm>
                <a:off x="7142145" y="6081667"/>
                <a:ext cx="1373933" cy="247800"/>
              </a:xfrm>
              <a:prstGeom prst="rect">
                <a:avLst/>
              </a:prstGeom>
              <a:noFill/>
            </p:spPr>
            <p:txBody>
              <a:bodyPr wrap="square">
                <a:spAutoFit/>
              </a:bodyPr>
              <a:lstStyle/>
              <a:p>
                <a:pPr marL="0" indent="0" algn="ctr">
                  <a:buFont typeface="Arial" panose="020B0604020202020204" pitchFamily="34" charset="0"/>
                  <a:buNone/>
                </a:pPr>
                <a:r>
                  <a:rPr lang="fr-FR" sz="300" b="1" i="1"/>
                  <a:t>AMBASSADEURS </a:t>
                </a:r>
              </a:p>
              <a:p>
                <a:pPr marL="0" indent="0" algn="ctr">
                  <a:buFont typeface="Arial" panose="020B0604020202020204" pitchFamily="34" charset="0"/>
                  <a:buNone/>
                </a:pPr>
                <a:r>
                  <a:rPr lang="fr-FR" sz="300" b="1" i="1"/>
                  <a:t>AUDITEURS</a:t>
                </a:r>
              </a:p>
            </p:txBody>
          </p:sp>
          <p:pic>
            <p:nvPicPr>
              <p:cNvPr id="178" name="Graphique 177" descr="Programmeur avec un remplissage uni">
                <a:extLst>
                  <a:ext uri="{FF2B5EF4-FFF2-40B4-BE49-F238E27FC236}">
                    <a16:creationId xmlns:a16="http://schemas.microsoft.com/office/drawing/2014/main" id="{9A94226D-FE6C-2755-51AB-E7C3A165AF4E}"/>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401623" y="5181377"/>
                <a:ext cx="914400" cy="914400"/>
              </a:xfrm>
              <a:prstGeom prst="rect">
                <a:avLst/>
              </a:prstGeom>
            </p:spPr>
          </p:pic>
          <p:sp>
            <p:nvSpPr>
              <p:cNvPr id="179" name="ZoneTexte 178">
                <a:extLst>
                  <a:ext uri="{FF2B5EF4-FFF2-40B4-BE49-F238E27FC236}">
                    <a16:creationId xmlns:a16="http://schemas.microsoft.com/office/drawing/2014/main" id="{A97751B4-FC3C-8583-F093-B97A74BDE5D3}"/>
                  </a:ext>
                </a:extLst>
              </p:cNvPr>
              <p:cNvSpPr txBox="1"/>
              <p:nvPr/>
            </p:nvSpPr>
            <p:spPr>
              <a:xfrm>
                <a:off x="10399514" y="6051435"/>
                <a:ext cx="1373933" cy="185849"/>
              </a:xfrm>
              <a:prstGeom prst="rect">
                <a:avLst/>
              </a:prstGeom>
              <a:noFill/>
            </p:spPr>
            <p:txBody>
              <a:bodyPr wrap="square">
                <a:spAutoFit/>
              </a:bodyPr>
              <a:lstStyle/>
              <a:p>
                <a:pPr marL="0" indent="0" algn="ctr">
                  <a:buFont typeface="Arial" panose="020B0604020202020204" pitchFamily="34" charset="0"/>
                  <a:buNone/>
                </a:pPr>
                <a:r>
                  <a:rPr lang="fr-FR" sz="300" b="1" i="1"/>
                  <a:t>AMBASSADEURS DIPLOMATES</a:t>
                </a:r>
              </a:p>
            </p:txBody>
          </p:sp>
        </p:grpSp>
        <p:grpSp>
          <p:nvGrpSpPr>
            <p:cNvPr id="180" name="Groupe 179">
              <a:extLst>
                <a:ext uri="{FF2B5EF4-FFF2-40B4-BE49-F238E27FC236}">
                  <a16:creationId xmlns:a16="http://schemas.microsoft.com/office/drawing/2014/main" id="{D5E5D10D-72FE-0F93-D3A2-3A8B07CCECEA}"/>
                </a:ext>
              </a:extLst>
            </p:cNvPr>
            <p:cNvGrpSpPr/>
            <p:nvPr/>
          </p:nvGrpSpPr>
          <p:grpSpPr>
            <a:xfrm>
              <a:off x="2325949" y="3049769"/>
              <a:ext cx="7924090" cy="921374"/>
              <a:chOff x="11600" y="1496380"/>
              <a:chExt cx="12038120" cy="1498765"/>
            </a:xfrm>
          </p:grpSpPr>
          <p:grpSp>
            <p:nvGrpSpPr>
              <p:cNvPr id="181" name="Groupe 180">
                <a:extLst>
                  <a:ext uri="{FF2B5EF4-FFF2-40B4-BE49-F238E27FC236}">
                    <a16:creationId xmlns:a16="http://schemas.microsoft.com/office/drawing/2014/main" id="{39A7E06C-DF00-DE20-6099-0EDE9676CB63}"/>
                  </a:ext>
                </a:extLst>
              </p:cNvPr>
              <p:cNvGrpSpPr/>
              <p:nvPr/>
            </p:nvGrpSpPr>
            <p:grpSpPr>
              <a:xfrm>
                <a:off x="11600" y="2499558"/>
                <a:ext cx="12038120" cy="495587"/>
                <a:chOff x="0" y="2140394"/>
                <a:chExt cx="12854128" cy="4544491"/>
              </a:xfrm>
            </p:grpSpPr>
            <p:sp>
              <p:nvSpPr>
                <p:cNvPr id="189" name="Espace réservé du texte 15">
                  <a:extLst>
                    <a:ext uri="{FF2B5EF4-FFF2-40B4-BE49-F238E27FC236}">
                      <a16:creationId xmlns:a16="http://schemas.microsoft.com/office/drawing/2014/main" id="{390416F8-D819-C039-57CF-06D8539FB190}"/>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190" name="Espace réservé du texte 15">
                  <a:extLst>
                    <a:ext uri="{FF2B5EF4-FFF2-40B4-BE49-F238E27FC236}">
                      <a16:creationId xmlns:a16="http://schemas.microsoft.com/office/drawing/2014/main" id="{B2D427A0-FEEF-1129-8007-CB706366090B}"/>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191" name="Espace réservé du texte 15">
                  <a:extLst>
                    <a:ext uri="{FF2B5EF4-FFF2-40B4-BE49-F238E27FC236}">
                      <a16:creationId xmlns:a16="http://schemas.microsoft.com/office/drawing/2014/main" id="{9AC16F84-B348-034B-5E91-71BDCB02742F}"/>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192" name="Espace réservé du texte 15">
                  <a:extLst>
                    <a:ext uri="{FF2B5EF4-FFF2-40B4-BE49-F238E27FC236}">
                      <a16:creationId xmlns:a16="http://schemas.microsoft.com/office/drawing/2014/main" id="{C12E6666-A47A-6D6F-50AB-A54E4FE26FE7}"/>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193" name="Espace réservé du texte 15">
                  <a:extLst>
                    <a:ext uri="{FF2B5EF4-FFF2-40B4-BE49-F238E27FC236}">
                      <a16:creationId xmlns:a16="http://schemas.microsoft.com/office/drawing/2014/main" id="{338FA749-488D-C1D6-43AD-52E3A3A88547}"/>
                    </a:ext>
                  </a:extLst>
                </p:cNvPr>
                <p:cNvSpPr txBox="1">
                  <a:spLocks/>
                </p:cNvSpPr>
                <p:nvPr/>
              </p:nvSpPr>
              <p:spPr>
                <a:xfrm>
                  <a:off x="7349728" y="2140394"/>
                  <a:ext cx="1855434" cy="454449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194" name="Espace réservé du texte 15">
                  <a:extLst>
                    <a:ext uri="{FF2B5EF4-FFF2-40B4-BE49-F238E27FC236}">
                      <a16:creationId xmlns:a16="http://schemas.microsoft.com/office/drawing/2014/main" id="{4A336915-7DC2-704A-81FA-B8F30649C7A7}"/>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195" name="Espace réservé du texte 15">
                  <a:extLst>
                    <a:ext uri="{FF2B5EF4-FFF2-40B4-BE49-F238E27FC236}">
                      <a16:creationId xmlns:a16="http://schemas.microsoft.com/office/drawing/2014/main" id="{11D9E4DF-7798-B1B9-7C3D-793DC369A026}"/>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182" name="Graphique 181" descr="Ampoule avec un remplissage uni">
                <a:extLst>
                  <a:ext uri="{FF2B5EF4-FFF2-40B4-BE49-F238E27FC236}">
                    <a16:creationId xmlns:a16="http://schemas.microsoft.com/office/drawing/2014/main" id="{E501917D-28AD-0238-AF60-458E9184E2E3}"/>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360868" y="1496380"/>
                <a:ext cx="914400" cy="914400"/>
              </a:xfrm>
              <a:prstGeom prst="rect">
                <a:avLst/>
              </a:prstGeom>
            </p:spPr>
          </p:pic>
          <p:pic>
            <p:nvPicPr>
              <p:cNvPr id="183" name="Graphique 182" descr="Seau et pelle avec un remplissage uni">
                <a:extLst>
                  <a:ext uri="{FF2B5EF4-FFF2-40B4-BE49-F238E27FC236}">
                    <a16:creationId xmlns:a16="http://schemas.microsoft.com/office/drawing/2014/main" id="{F1578F34-4F81-F35E-E081-4C34B95406ED}"/>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2098515" y="1496380"/>
                <a:ext cx="914400" cy="914400"/>
              </a:xfrm>
              <a:prstGeom prst="rect">
                <a:avLst/>
              </a:prstGeom>
            </p:spPr>
          </p:pic>
          <p:pic>
            <p:nvPicPr>
              <p:cNvPr id="184" name="Graphique 183" descr="Tubes à essai avec un remplissage uni">
                <a:extLst>
                  <a:ext uri="{FF2B5EF4-FFF2-40B4-BE49-F238E27FC236}">
                    <a16:creationId xmlns:a16="http://schemas.microsoft.com/office/drawing/2014/main" id="{73243CD1-E383-CC66-BEA0-5AF362CA5207}"/>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3833203" y="1496380"/>
                <a:ext cx="914400" cy="914400"/>
              </a:xfrm>
              <a:prstGeom prst="rect">
                <a:avLst/>
              </a:prstGeom>
            </p:spPr>
          </p:pic>
          <p:pic>
            <p:nvPicPr>
              <p:cNvPr id="185" name="Graphique 184" descr="Explosion avec un remplissage uni">
                <a:extLst>
                  <a:ext uri="{FF2B5EF4-FFF2-40B4-BE49-F238E27FC236}">
                    <a16:creationId xmlns:a16="http://schemas.microsoft.com/office/drawing/2014/main" id="{C8F3DD9F-393F-E922-1C01-FB4DC59DB5AF}"/>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5573460" y="1496380"/>
                <a:ext cx="914400" cy="914400"/>
              </a:xfrm>
              <a:prstGeom prst="rect">
                <a:avLst/>
              </a:prstGeom>
            </p:spPr>
          </p:pic>
          <p:pic>
            <p:nvPicPr>
              <p:cNvPr id="186" name="Graphique 185" descr="Trophée avec un remplissage uni">
                <a:extLst>
                  <a:ext uri="{FF2B5EF4-FFF2-40B4-BE49-F238E27FC236}">
                    <a16:creationId xmlns:a16="http://schemas.microsoft.com/office/drawing/2014/main" id="{157BB353-512F-A077-44C0-3495D04B4FE5}"/>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7286742" y="1510822"/>
                <a:ext cx="914401" cy="914399"/>
              </a:xfrm>
              <a:prstGeom prst="rect">
                <a:avLst/>
              </a:prstGeom>
            </p:spPr>
          </p:pic>
          <p:pic>
            <p:nvPicPr>
              <p:cNvPr id="187" name="Graphique 186" descr="Assiette couverte avec un remplissage uni">
                <a:extLst>
                  <a:ext uri="{FF2B5EF4-FFF2-40B4-BE49-F238E27FC236}">
                    <a16:creationId xmlns:a16="http://schemas.microsoft.com/office/drawing/2014/main" id="{2256F320-7059-9C41-3CA5-0EC1568C1739}"/>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9048405" y="1496380"/>
                <a:ext cx="914400" cy="914400"/>
              </a:xfrm>
              <a:prstGeom prst="rect">
                <a:avLst/>
              </a:prstGeom>
            </p:spPr>
          </p:pic>
          <p:pic>
            <p:nvPicPr>
              <p:cNvPr id="188" name="Graphique 187" descr="Scène de château avec un remplissage uni">
                <a:extLst>
                  <a:ext uri="{FF2B5EF4-FFF2-40B4-BE49-F238E27FC236}">
                    <a16:creationId xmlns:a16="http://schemas.microsoft.com/office/drawing/2014/main" id="{4F75D791-AB5B-CCD6-DB95-CC83086D6884}"/>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10783093" y="1496380"/>
                <a:ext cx="914400" cy="914400"/>
              </a:xfrm>
              <a:prstGeom prst="rect">
                <a:avLst/>
              </a:prstGeom>
            </p:spPr>
          </p:pic>
        </p:grpSp>
      </p:grpSp>
    </p:spTree>
    <p:extLst>
      <p:ext uri="{BB962C8B-B14F-4D97-AF65-F5344CB8AC3E}">
        <p14:creationId xmlns:p14="http://schemas.microsoft.com/office/powerpoint/2010/main" val="2792180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15">
            <a:extLst>
              <a:ext uri="{FF2B5EF4-FFF2-40B4-BE49-F238E27FC236}">
                <a16:creationId xmlns:a16="http://schemas.microsoft.com/office/drawing/2014/main" id="{13E450DD-A0C3-584E-B1CB-0DEDD110DA3B}"/>
              </a:ext>
            </a:extLst>
          </p:cNvPr>
          <p:cNvSpPr txBox="1">
            <a:spLocks/>
          </p:cNvSpPr>
          <p:nvPr/>
        </p:nvSpPr>
        <p:spPr>
          <a:xfrm>
            <a:off x="0" y="321342"/>
            <a:ext cx="12192000" cy="71939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endParaRPr lang="en-US" sz="3200" dirty="0">
              <a:ea typeface="+mn-lt"/>
              <a:cs typeface="+mn-lt"/>
            </a:endParaRPr>
          </a:p>
        </p:txBody>
      </p:sp>
      <p:sp>
        <p:nvSpPr>
          <p:cNvPr id="10" name="ZoneTexte 9">
            <a:extLst>
              <a:ext uri="{FF2B5EF4-FFF2-40B4-BE49-F238E27FC236}">
                <a16:creationId xmlns:a16="http://schemas.microsoft.com/office/drawing/2014/main" id="{136A9F8B-EF2C-F96C-322A-C13EE87B0A0B}"/>
              </a:ext>
            </a:extLst>
          </p:cNvPr>
          <p:cNvSpPr txBox="1"/>
          <p:nvPr/>
        </p:nvSpPr>
        <p:spPr>
          <a:xfrm>
            <a:off x="1998786" y="797169"/>
            <a:ext cx="8243273"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b="1" i="1">
                <a:ea typeface="+mn-lt"/>
                <a:cs typeface="+mn-lt"/>
              </a:rPr>
              <a:t>Analyse par phase</a:t>
            </a:r>
            <a:endParaRPr lang="fr-FR" sz="2400">
              <a:ea typeface="+mn-lt"/>
              <a:cs typeface="+mn-lt"/>
            </a:endParaRPr>
          </a:p>
          <a:p>
            <a:pPr algn="ctr"/>
            <a:endParaRPr lang="fr-FR" sz="2400" b="1" i="1">
              <a:ea typeface="+mn-lt"/>
              <a:cs typeface="+mn-lt"/>
            </a:endParaRPr>
          </a:p>
          <a:p>
            <a:pPr algn="ctr"/>
            <a:r>
              <a:rPr lang="fr-FR" sz="1600" b="1" i="1">
                <a:ea typeface="+mn-lt"/>
                <a:cs typeface="+mn-lt"/>
              </a:rPr>
              <a:t>Des indices pour identifier la phase actuelle et comprendre les risques en cas de déphasage</a:t>
            </a:r>
            <a:endParaRPr lang="fr-FR">
              <a:ea typeface="+mn-lt"/>
              <a:cs typeface="+mn-lt"/>
            </a:endParaRPr>
          </a:p>
        </p:txBody>
      </p:sp>
      <p:graphicFrame>
        <p:nvGraphicFramePr>
          <p:cNvPr id="2" name="Tableau 4">
            <a:extLst>
              <a:ext uri="{FF2B5EF4-FFF2-40B4-BE49-F238E27FC236}">
                <a16:creationId xmlns:a16="http://schemas.microsoft.com/office/drawing/2014/main" id="{3767A1A7-D3B8-4055-4D9A-120C6BA7C879}"/>
              </a:ext>
            </a:extLst>
          </p:cNvPr>
          <p:cNvGraphicFramePr>
            <a:graphicFrameLocks noGrp="1"/>
          </p:cNvGraphicFramePr>
          <p:nvPr>
            <p:extLst>
              <p:ext uri="{D42A27DB-BD31-4B8C-83A1-F6EECF244321}">
                <p14:modId xmlns:p14="http://schemas.microsoft.com/office/powerpoint/2010/main" val="2230679758"/>
              </p:ext>
            </p:extLst>
          </p:nvPr>
        </p:nvGraphicFramePr>
        <p:xfrm>
          <a:off x="1998786" y="2689662"/>
          <a:ext cx="8824053" cy="2608771"/>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ne semblent pas connaître le sujet</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ne se considèrent même pas encore comme membres. </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n’ont que peu d’intérêt pour l’instant, par ignorance du sujet</a:t>
                      </a:r>
                    </a:p>
                  </a:txBody>
                  <a:tcPr/>
                </a:tc>
                <a:tc>
                  <a:txBody>
                    <a:bodyPr/>
                    <a:lstStyle/>
                    <a:p>
                      <a:pPr marL="171450" indent="-171450">
                        <a:buFont typeface="Arial" panose="020B0604020202020204" pitchFamily="34" charset="0"/>
                        <a:buChar char="•"/>
                      </a:pPr>
                      <a:r>
                        <a:rPr lang="fr-FR" sz="1200"/>
                        <a:t>Sensibiliser et faire découvrir un sujet, donner de premiers repères faciles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Eviter de demander trop d‘engagement pour éviter les positions défensives </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Eviter de mettre les membres sur la défensive en évoquant des situations trop proches, comparables et culpabilisantes</a:t>
                      </a:r>
                    </a:p>
                  </a:txBody>
                  <a:tcPr/>
                </a:tc>
                <a:tc>
                  <a:txBody>
                    <a:bodyPr/>
                    <a:lstStyle/>
                    <a:p>
                      <a:pPr marL="171450" indent="-171450">
                        <a:buFont typeface="Arial" panose="020B0604020202020204" pitchFamily="34" charset="0"/>
                        <a:buChar char="•"/>
                      </a:pPr>
                      <a:r>
                        <a:rPr lang="fr-FR" sz="1200"/>
                        <a:t>Les membres en ont assez qu’on parle de l‘extérieur et aimeraient qu’on leur parle d’eux.</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 sujet ne bénéficie plus de l’intérêt lié à sa nouveauté ou à son côté exceptionnel.</a:t>
                      </a:r>
                    </a:p>
                  </a:txBody>
                  <a:tcPr/>
                </a:tc>
                <a:extLst>
                  <a:ext uri="{0D108BD9-81ED-4DB2-BD59-A6C34878D82A}">
                    <a16:rowId xmlns:a16="http://schemas.microsoft.com/office/drawing/2014/main" val="2775041851"/>
                  </a:ext>
                </a:extLst>
              </a:tr>
            </a:tbl>
          </a:graphicData>
        </a:graphic>
      </p:graphicFrame>
      <p:sp>
        <p:nvSpPr>
          <p:cNvPr id="5" name="Espace réservé du texte 15">
            <a:extLst>
              <a:ext uri="{FF2B5EF4-FFF2-40B4-BE49-F238E27FC236}">
                <a16:creationId xmlns:a16="http://schemas.microsoft.com/office/drawing/2014/main" id="{6A4C87B2-219D-DBF5-23F3-9152DE43A3D2}"/>
              </a:ext>
            </a:extLst>
          </p:cNvPr>
          <p:cNvSpPr txBox="1">
            <a:spLocks/>
          </p:cNvSpPr>
          <p:nvPr/>
        </p:nvSpPr>
        <p:spPr>
          <a:xfrm>
            <a:off x="76940" y="2380093"/>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INSPIRATION</a:t>
            </a:r>
          </a:p>
          <a:p>
            <a:pPr marL="0" indent="0" algn="ctr">
              <a:buFont typeface="Arial" panose="020B0604020202020204" pitchFamily="34" charset="0"/>
              <a:buNone/>
            </a:pPr>
            <a:endParaRPr lang="fr-FR" sz="1400" b="1" i="1">
              <a:solidFill>
                <a:srgbClr val="ED7D31"/>
              </a:solidFill>
            </a:endParaRPr>
          </a:p>
        </p:txBody>
      </p:sp>
      <p:pic>
        <p:nvPicPr>
          <p:cNvPr id="6" name="Graphique 5" descr="Ampoule avec un remplissage uni">
            <a:extLst>
              <a:ext uri="{FF2B5EF4-FFF2-40B4-BE49-F238E27FC236}">
                <a16:creationId xmlns:a16="http://schemas.microsoft.com/office/drawing/2014/main" id="{0677A6FC-620E-B6AA-7C18-DD83B59226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1376914"/>
            <a:ext cx="914400" cy="914400"/>
          </a:xfrm>
          <a:prstGeom prst="rect">
            <a:avLst/>
          </a:prstGeom>
        </p:spPr>
      </p:pic>
      <p:sp>
        <p:nvSpPr>
          <p:cNvPr id="8" name="ZoneTexte 7">
            <a:extLst>
              <a:ext uri="{FF2B5EF4-FFF2-40B4-BE49-F238E27FC236}">
                <a16:creationId xmlns:a16="http://schemas.microsoft.com/office/drawing/2014/main" id="{5190090D-B67E-BB99-35B9-36131B3A459A}"/>
              </a:ext>
            </a:extLst>
          </p:cNvPr>
          <p:cNvSpPr txBox="1"/>
          <p:nvPr/>
        </p:nvSpPr>
        <p:spPr>
          <a:xfrm>
            <a:off x="79034" y="3308785"/>
            <a:ext cx="1605258" cy="2677656"/>
          </a:xfrm>
          <a:prstGeom prst="rect">
            <a:avLst/>
          </a:prstGeom>
          <a:noFill/>
        </p:spPr>
        <p:txBody>
          <a:bodyPr wrap="square">
            <a:spAutoFit/>
          </a:bodyPr>
          <a:lstStyle/>
          <a:p>
            <a:pPr marL="0" indent="0" algn="ctr">
              <a:buFont typeface="Arial" panose="020B0604020202020204" pitchFamily="34" charset="0"/>
              <a:buNone/>
            </a:pPr>
            <a:r>
              <a:rPr lang="fr-FR" sz="1200" b="1" i="1"/>
              <a:t>Aucun membre ne sait ce qu’est le sujet-même du changement.</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est difficile d'impliquer sans une première sensibilisation.</a:t>
            </a:r>
          </a:p>
        </p:txBody>
      </p:sp>
      <p:pic>
        <p:nvPicPr>
          <p:cNvPr id="9" name="Graphique 8" descr="Personne avec une idée contour">
            <a:extLst>
              <a:ext uri="{FF2B5EF4-FFF2-40B4-BE49-F238E27FC236}">
                <a16:creationId xmlns:a16="http://schemas.microsoft.com/office/drawing/2014/main" id="{DE84E78E-4371-1A1F-C5A9-ECD55F51660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4441" y="4645594"/>
            <a:ext cx="532925" cy="532925"/>
          </a:xfrm>
          <a:prstGeom prst="rect">
            <a:avLst/>
          </a:prstGeom>
        </p:spPr>
      </p:pic>
      <p:pic>
        <p:nvPicPr>
          <p:cNvPr id="11" name="Graphique 10" descr="Carte avec repère contour">
            <a:extLst>
              <a:ext uri="{FF2B5EF4-FFF2-40B4-BE49-F238E27FC236}">
                <a16:creationId xmlns:a16="http://schemas.microsoft.com/office/drawing/2014/main" id="{658C42A3-C521-9C80-A154-EBDC9880C95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1976" y="2774609"/>
            <a:ext cx="439703" cy="439703"/>
          </a:xfrm>
          <a:prstGeom prst="rect">
            <a:avLst/>
          </a:prstGeom>
        </p:spPr>
      </p:pic>
      <p:sp>
        <p:nvSpPr>
          <p:cNvPr id="12" name="ZoneTexte 11">
            <a:extLst>
              <a:ext uri="{FF2B5EF4-FFF2-40B4-BE49-F238E27FC236}">
                <a16:creationId xmlns:a16="http://schemas.microsoft.com/office/drawing/2014/main" id="{60FCFDC3-EFC5-D62E-339F-CAC1DCFA356E}"/>
              </a:ext>
            </a:extLst>
          </p:cNvPr>
          <p:cNvSpPr txBox="1"/>
          <p:nvPr/>
        </p:nvSpPr>
        <p:spPr>
          <a:xfrm rot="1458772">
            <a:off x="9746131" y="478340"/>
            <a:ext cx="2511025" cy="461665"/>
          </a:xfrm>
          <a:prstGeom prst="rect">
            <a:avLst/>
          </a:prstGeom>
          <a:solidFill>
            <a:schemeClr val="accent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b="1" i="1">
                <a:cs typeface="Calibri"/>
              </a:rPr>
              <a:t>EXEMPLE</a:t>
            </a:r>
          </a:p>
        </p:txBody>
      </p:sp>
    </p:spTree>
    <p:extLst>
      <p:ext uri="{BB962C8B-B14F-4D97-AF65-F5344CB8AC3E}">
        <p14:creationId xmlns:p14="http://schemas.microsoft.com/office/powerpoint/2010/main" val="1132329583"/>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337A549B-FB0E-4097-A123-DE5231C2FAB3}"/>
              </a:ext>
            </a:extLst>
          </p:cNvPr>
          <p:cNvSpPr txBox="1">
            <a:spLocks/>
          </p:cNvSpPr>
          <p:nvPr/>
        </p:nvSpPr>
        <p:spPr>
          <a:xfrm>
            <a:off x="0" y="877836"/>
            <a:ext cx="12192000" cy="15611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0" b="1" i="1" dirty="0"/>
              <a:t>Cas d’usage</a:t>
            </a:r>
          </a:p>
          <a:p>
            <a:pPr marL="0" indent="0" algn="ctr">
              <a:buNone/>
            </a:pPr>
            <a:r>
              <a:rPr lang="fr-FR" sz="2800" b="1" i="1" dirty="0"/>
              <a:t>#OSC </a:t>
            </a:r>
            <a:r>
              <a:rPr lang="fr-FR" sz="2800" b="1" i="1" dirty="0">
                <a:solidFill>
                  <a:srgbClr val="ED7D31"/>
                </a:solidFill>
              </a:rPr>
              <a:t>Change</a:t>
            </a:r>
            <a:r>
              <a:rPr lang="fr-FR" sz="2800" b="1" i="1" dirty="0"/>
              <a:t> </a:t>
            </a:r>
            <a:r>
              <a:rPr lang="fr-FR" sz="2800" b="1" i="1" dirty="0">
                <a:solidFill>
                  <a:srgbClr val="0683AA"/>
                </a:solidFill>
              </a:rPr>
              <a:t>Community</a:t>
            </a:r>
            <a:r>
              <a:rPr lang="fr-FR" sz="2800" b="1" i="1" dirty="0"/>
              <a:t> Cycle </a:t>
            </a:r>
            <a:r>
              <a:rPr lang="fr-FR" sz="2800" b="1" i="1" dirty="0">
                <a:solidFill>
                  <a:srgbClr val="0683AA"/>
                </a:solidFill>
              </a:rPr>
              <a:t>Model</a:t>
            </a:r>
          </a:p>
        </p:txBody>
      </p:sp>
      <p:grpSp>
        <p:nvGrpSpPr>
          <p:cNvPr id="2" name="Groupe 1">
            <a:extLst>
              <a:ext uri="{FF2B5EF4-FFF2-40B4-BE49-F238E27FC236}">
                <a16:creationId xmlns:a16="http://schemas.microsoft.com/office/drawing/2014/main" id="{F1858701-0BB0-C657-7449-017834BDC81E}"/>
              </a:ext>
            </a:extLst>
          </p:cNvPr>
          <p:cNvGrpSpPr/>
          <p:nvPr/>
        </p:nvGrpSpPr>
        <p:grpSpPr>
          <a:xfrm>
            <a:off x="4128486" y="2741150"/>
            <a:ext cx="3698197" cy="4117299"/>
            <a:chOff x="4128486" y="2379688"/>
            <a:chExt cx="3698197" cy="4117299"/>
          </a:xfrm>
        </p:grpSpPr>
        <p:pic>
          <p:nvPicPr>
            <p:cNvPr id="8" name="Graphique 7" descr="Homme tenant un panneau">
              <a:extLst>
                <a:ext uri="{FF2B5EF4-FFF2-40B4-BE49-F238E27FC236}">
                  <a16:creationId xmlns:a16="http://schemas.microsoft.com/office/drawing/2014/main" id="{D243A25C-5A0A-4F67-BC20-FCD71E7C4AF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b="46692"/>
            <a:stretch/>
          </p:blipFill>
          <p:spPr>
            <a:xfrm>
              <a:off x="4128486" y="2379688"/>
              <a:ext cx="3698197" cy="4117299"/>
            </a:xfrm>
            <a:prstGeom prst="rect">
              <a:avLst/>
            </a:prstGeom>
          </p:spPr>
        </p:pic>
        <p:sp>
          <p:nvSpPr>
            <p:cNvPr id="9" name="Espace réservé du texte 15">
              <a:extLst>
                <a:ext uri="{FF2B5EF4-FFF2-40B4-BE49-F238E27FC236}">
                  <a16:creationId xmlns:a16="http://schemas.microsoft.com/office/drawing/2014/main" id="{72684439-8F46-4BB9-AF9C-82D301DB2013}"/>
                </a:ext>
              </a:extLst>
            </p:cNvPr>
            <p:cNvSpPr txBox="1">
              <a:spLocks/>
            </p:cNvSpPr>
            <p:nvPr/>
          </p:nvSpPr>
          <p:spPr>
            <a:xfrm>
              <a:off x="4472402" y="4484981"/>
              <a:ext cx="3061317" cy="175455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EXEMPLES D’UTILISATION DU </a:t>
              </a:r>
              <a:r>
                <a:rPr lang="fr-FR" sz="3200" b="1" i="1">
                  <a:solidFill>
                    <a:srgbClr val="0683AA"/>
                  </a:solidFill>
                </a:rPr>
                <a:t>MODELE</a:t>
              </a:r>
              <a:endParaRPr lang="fr-FR" sz="3200" b="1" i="1">
                <a:solidFill>
                  <a:srgbClr val="000000"/>
                </a:solidFill>
                <a:cs typeface="Calibri"/>
              </a:endParaRPr>
            </a:p>
          </p:txBody>
        </p:sp>
      </p:grpSp>
    </p:spTree>
    <p:extLst>
      <p:ext uri="{BB962C8B-B14F-4D97-AF65-F5344CB8AC3E}">
        <p14:creationId xmlns:p14="http://schemas.microsoft.com/office/powerpoint/2010/main" val="4094608199"/>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FC3ABB5-A1CD-DAAF-1145-5F987FB1FDB2}"/>
              </a:ext>
            </a:extLst>
          </p:cNvPr>
          <p:cNvSpPr>
            <a:spLocks noGrp="1"/>
          </p:cNvSpPr>
          <p:nvPr>
            <p:ph idx="1"/>
          </p:nvPr>
        </p:nvSpPr>
        <p:spPr>
          <a:xfrm>
            <a:off x="7339145" y="2336491"/>
            <a:ext cx="3671787" cy="3467319"/>
          </a:xfrm>
        </p:spPr>
        <p:txBody>
          <a:bodyPr>
            <a:normAutofit/>
          </a:bodyPr>
          <a:lstStyle/>
          <a:p>
            <a:pPr marL="0" indent="0">
              <a:buNone/>
            </a:pPr>
            <a:r>
              <a:rPr lang="fr-FR"/>
              <a:t>La Communauté XYZ est une communauté d’entreprise qui vise à développer l’usage du nouvel outil numérique « XYZ » qui sera nécessaire pour toute l’entreprise à terme.</a:t>
            </a:r>
          </a:p>
        </p:txBody>
      </p:sp>
      <p:grpSp>
        <p:nvGrpSpPr>
          <p:cNvPr id="16" name="Groupe 15">
            <a:extLst>
              <a:ext uri="{FF2B5EF4-FFF2-40B4-BE49-F238E27FC236}">
                <a16:creationId xmlns:a16="http://schemas.microsoft.com/office/drawing/2014/main" id="{9B9C6428-E0D6-B039-ED16-ABCCFDF18118}"/>
              </a:ext>
            </a:extLst>
          </p:cNvPr>
          <p:cNvGrpSpPr/>
          <p:nvPr/>
        </p:nvGrpSpPr>
        <p:grpSpPr>
          <a:xfrm>
            <a:off x="1575066" y="1909886"/>
            <a:ext cx="2366729" cy="2366729"/>
            <a:chOff x="2689245" y="1766189"/>
            <a:chExt cx="2366729" cy="2366729"/>
          </a:xfrm>
        </p:grpSpPr>
        <p:pic>
          <p:nvPicPr>
            <p:cNvPr id="11" name="Graphique 10" descr="Ordinateur avec un remplissage uni">
              <a:extLst>
                <a:ext uri="{FF2B5EF4-FFF2-40B4-BE49-F238E27FC236}">
                  <a16:creationId xmlns:a16="http://schemas.microsoft.com/office/drawing/2014/main" id="{687D8FF7-6A24-D974-D755-CF01980FA9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89245" y="1766189"/>
              <a:ext cx="2366729" cy="2366729"/>
            </a:xfrm>
            <a:prstGeom prst="rect">
              <a:avLst/>
            </a:prstGeom>
          </p:spPr>
        </p:pic>
        <p:sp>
          <p:nvSpPr>
            <p:cNvPr id="12" name="ZoneTexte 11">
              <a:extLst>
                <a:ext uri="{FF2B5EF4-FFF2-40B4-BE49-F238E27FC236}">
                  <a16:creationId xmlns:a16="http://schemas.microsoft.com/office/drawing/2014/main" id="{C3CCA750-4DA7-3352-175C-E1F54FC12604}"/>
                </a:ext>
              </a:extLst>
            </p:cNvPr>
            <p:cNvSpPr txBox="1"/>
            <p:nvPr/>
          </p:nvSpPr>
          <p:spPr>
            <a:xfrm>
              <a:off x="3094499" y="2523116"/>
              <a:ext cx="817468" cy="584775"/>
            </a:xfrm>
            <a:prstGeom prst="rect">
              <a:avLst/>
            </a:prstGeom>
            <a:noFill/>
          </p:spPr>
          <p:txBody>
            <a:bodyPr wrap="none" rtlCol="0">
              <a:spAutoFit/>
            </a:bodyPr>
            <a:lstStyle/>
            <a:p>
              <a:r>
                <a:rPr lang="fr-FR" sz="3200" b="1" i="1">
                  <a:solidFill>
                    <a:srgbClr val="0683AA"/>
                  </a:solidFill>
                </a:rPr>
                <a:t>XYZ</a:t>
              </a:r>
            </a:p>
          </p:txBody>
        </p:sp>
      </p:grpSp>
      <p:grpSp>
        <p:nvGrpSpPr>
          <p:cNvPr id="18" name="Groupe 17">
            <a:extLst>
              <a:ext uri="{FF2B5EF4-FFF2-40B4-BE49-F238E27FC236}">
                <a16:creationId xmlns:a16="http://schemas.microsoft.com/office/drawing/2014/main" id="{50057B34-1D6D-F0A7-21D5-BCF8E89D2275}"/>
              </a:ext>
            </a:extLst>
          </p:cNvPr>
          <p:cNvGrpSpPr/>
          <p:nvPr/>
        </p:nvGrpSpPr>
        <p:grpSpPr>
          <a:xfrm rot="20416242">
            <a:off x="666563" y="3407369"/>
            <a:ext cx="1325564" cy="1325564"/>
            <a:chOff x="705353" y="3107891"/>
            <a:chExt cx="1325564" cy="1325564"/>
          </a:xfrm>
        </p:grpSpPr>
        <p:pic>
          <p:nvPicPr>
            <p:cNvPr id="7" name="Graphique 6" descr="Tablette avec un remplissage uni">
              <a:extLst>
                <a:ext uri="{FF2B5EF4-FFF2-40B4-BE49-F238E27FC236}">
                  <a16:creationId xmlns:a16="http://schemas.microsoft.com/office/drawing/2014/main" id="{B802EFD0-B9ED-0D3D-B8EC-A8B9E6C6EC6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5353" y="3107891"/>
              <a:ext cx="1325564" cy="1325564"/>
            </a:xfrm>
            <a:prstGeom prst="rect">
              <a:avLst/>
            </a:prstGeom>
          </p:spPr>
        </p:pic>
        <p:sp>
          <p:nvSpPr>
            <p:cNvPr id="13" name="ZoneTexte 12">
              <a:extLst>
                <a:ext uri="{FF2B5EF4-FFF2-40B4-BE49-F238E27FC236}">
                  <a16:creationId xmlns:a16="http://schemas.microsoft.com/office/drawing/2014/main" id="{A191C4ED-7DA4-D628-8F36-D83A08BA89C9}"/>
                </a:ext>
              </a:extLst>
            </p:cNvPr>
            <p:cNvSpPr txBox="1"/>
            <p:nvPr/>
          </p:nvSpPr>
          <p:spPr>
            <a:xfrm>
              <a:off x="1097644" y="3586007"/>
              <a:ext cx="540982" cy="369332"/>
            </a:xfrm>
            <a:prstGeom prst="rect">
              <a:avLst/>
            </a:prstGeom>
            <a:noFill/>
          </p:spPr>
          <p:txBody>
            <a:bodyPr wrap="none" rtlCol="0">
              <a:spAutoFit/>
            </a:bodyPr>
            <a:lstStyle/>
            <a:p>
              <a:r>
                <a:rPr lang="fr-FR" b="1" i="1">
                  <a:solidFill>
                    <a:srgbClr val="0683AA"/>
                  </a:solidFill>
                </a:rPr>
                <a:t>XYZ</a:t>
              </a:r>
            </a:p>
          </p:txBody>
        </p:sp>
      </p:grpSp>
      <p:grpSp>
        <p:nvGrpSpPr>
          <p:cNvPr id="17" name="Groupe 16">
            <a:extLst>
              <a:ext uri="{FF2B5EF4-FFF2-40B4-BE49-F238E27FC236}">
                <a16:creationId xmlns:a16="http://schemas.microsoft.com/office/drawing/2014/main" id="{A809A985-C605-7AAA-8D8F-66BFA8957F62}"/>
              </a:ext>
            </a:extLst>
          </p:cNvPr>
          <p:cNvGrpSpPr/>
          <p:nvPr/>
        </p:nvGrpSpPr>
        <p:grpSpPr>
          <a:xfrm>
            <a:off x="2533819" y="3718437"/>
            <a:ext cx="896181" cy="896181"/>
            <a:chOff x="2607052" y="4692073"/>
            <a:chExt cx="896181" cy="896181"/>
          </a:xfrm>
        </p:grpSpPr>
        <p:pic>
          <p:nvPicPr>
            <p:cNvPr id="9" name="Graphique 8" descr="Smartphone avec un remplissage uni">
              <a:extLst>
                <a:ext uri="{FF2B5EF4-FFF2-40B4-BE49-F238E27FC236}">
                  <a16:creationId xmlns:a16="http://schemas.microsoft.com/office/drawing/2014/main" id="{36FFA6C6-7953-B849-1654-32839126AF3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607052" y="4692073"/>
              <a:ext cx="896181" cy="896181"/>
            </a:xfrm>
            <a:prstGeom prst="rect">
              <a:avLst/>
            </a:prstGeom>
          </p:spPr>
        </p:pic>
        <p:sp>
          <p:nvSpPr>
            <p:cNvPr id="14" name="ZoneTexte 13">
              <a:extLst>
                <a:ext uri="{FF2B5EF4-FFF2-40B4-BE49-F238E27FC236}">
                  <a16:creationId xmlns:a16="http://schemas.microsoft.com/office/drawing/2014/main" id="{C0B70A21-D4D0-DBBC-71D8-E1E87458DBF1}"/>
                </a:ext>
              </a:extLst>
            </p:cNvPr>
            <p:cNvSpPr txBox="1"/>
            <p:nvPr/>
          </p:nvSpPr>
          <p:spPr>
            <a:xfrm>
              <a:off x="2853805" y="5009358"/>
              <a:ext cx="402674" cy="261610"/>
            </a:xfrm>
            <a:prstGeom prst="rect">
              <a:avLst/>
            </a:prstGeom>
            <a:noFill/>
          </p:spPr>
          <p:txBody>
            <a:bodyPr wrap="none" rtlCol="0">
              <a:spAutoFit/>
            </a:bodyPr>
            <a:lstStyle/>
            <a:p>
              <a:r>
                <a:rPr lang="fr-FR" sz="1100" b="1" i="1">
                  <a:solidFill>
                    <a:srgbClr val="0683AA"/>
                  </a:solidFill>
                </a:rPr>
                <a:t>XYZ</a:t>
              </a:r>
            </a:p>
          </p:txBody>
        </p:sp>
      </p:grpSp>
      <p:sp>
        <p:nvSpPr>
          <p:cNvPr id="19" name="Espace réservé du texte 15">
            <a:extLst>
              <a:ext uri="{FF2B5EF4-FFF2-40B4-BE49-F238E27FC236}">
                <a16:creationId xmlns:a16="http://schemas.microsoft.com/office/drawing/2014/main" id="{238B4FC1-31DD-65BC-CDAB-E16516287864}"/>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Exemple #OSC </a:t>
            </a:r>
            <a:r>
              <a:rPr lang="fr-FR" sz="3200" b="1" i="1" dirty="0">
                <a:solidFill>
                  <a:srgbClr val="ED7D31"/>
                </a:solidFill>
              </a:rPr>
              <a:t>Change</a:t>
            </a:r>
            <a:r>
              <a:rPr lang="fr-FR" sz="3200" b="1" i="1" dirty="0"/>
              <a:t> </a:t>
            </a:r>
            <a:r>
              <a:rPr lang="fr-FR" sz="3200" b="1" i="1" dirty="0">
                <a:solidFill>
                  <a:srgbClr val="0683AA"/>
                </a:solidFill>
              </a:rPr>
              <a:t>Community</a:t>
            </a:r>
            <a:r>
              <a:rPr lang="fr-FR" sz="3200" b="1" i="1" dirty="0"/>
              <a:t> Cycle </a:t>
            </a:r>
            <a:r>
              <a:rPr lang="fr-FR" sz="3200" b="1" i="1" dirty="0">
                <a:solidFill>
                  <a:srgbClr val="0683AA"/>
                </a:solidFill>
              </a:rPr>
              <a:t>Model</a:t>
            </a:r>
          </a:p>
        </p:txBody>
      </p:sp>
      <p:pic>
        <p:nvPicPr>
          <p:cNvPr id="23" name="Graphique 3" descr="Femme portant un tailleur">
            <a:extLst>
              <a:ext uri="{FF2B5EF4-FFF2-40B4-BE49-F238E27FC236}">
                <a16:creationId xmlns:a16="http://schemas.microsoft.com/office/drawing/2014/main" id="{6DD3D713-C303-844E-DA4F-F6B71ADB82E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3941795" y="1698616"/>
            <a:ext cx="2493401" cy="5197431"/>
          </a:xfrm>
          <a:prstGeom prst="rect">
            <a:avLst/>
          </a:prstGeom>
        </p:spPr>
      </p:pic>
    </p:spTree>
    <p:extLst>
      <p:ext uri="{BB962C8B-B14F-4D97-AF65-F5344CB8AC3E}">
        <p14:creationId xmlns:p14="http://schemas.microsoft.com/office/powerpoint/2010/main" val="27324787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e 56">
            <a:extLst>
              <a:ext uri="{FF2B5EF4-FFF2-40B4-BE49-F238E27FC236}">
                <a16:creationId xmlns:a16="http://schemas.microsoft.com/office/drawing/2014/main" id="{0AF6C26C-3F09-9D9B-3185-01C1F91F03E5}"/>
              </a:ext>
            </a:extLst>
          </p:cNvPr>
          <p:cNvGrpSpPr/>
          <p:nvPr/>
        </p:nvGrpSpPr>
        <p:grpSpPr>
          <a:xfrm>
            <a:off x="104342" y="4446868"/>
            <a:ext cx="3551321" cy="2539667"/>
            <a:chOff x="273518" y="3963501"/>
            <a:chExt cx="2642880" cy="1890012"/>
          </a:xfrm>
        </p:grpSpPr>
        <p:pic>
          <p:nvPicPr>
            <p:cNvPr id="58" name="Graphique 57" descr="Femme aux cheveux longs droits">
              <a:extLst>
                <a:ext uri="{FF2B5EF4-FFF2-40B4-BE49-F238E27FC236}">
                  <a16:creationId xmlns:a16="http://schemas.microsoft.com/office/drawing/2014/main" id="{677774D8-3199-B10C-75A7-4DBCC134F8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59" name="Groupe 58">
              <a:extLst>
                <a:ext uri="{FF2B5EF4-FFF2-40B4-BE49-F238E27FC236}">
                  <a16:creationId xmlns:a16="http://schemas.microsoft.com/office/drawing/2014/main" id="{504419BD-8ABF-8AA3-0248-6125B4618ACD}"/>
                </a:ext>
              </a:extLst>
            </p:cNvPr>
            <p:cNvGrpSpPr/>
            <p:nvPr/>
          </p:nvGrpSpPr>
          <p:grpSpPr>
            <a:xfrm flipH="1">
              <a:off x="273518" y="4342678"/>
              <a:ext cx="2642880" cy="1510835"/>
              <a:chOff x="5652412" y="4227751"/>
              <a:chExt cx="2038599" cy="1115126"/>
            </a:xfrm>
          </p:grpSpPr>
          <p:pic>
            <p:nvPicPr>
              <p:cNvPr id="61" name="Graphique 60" descr="Homme portant un dossier">
                <a:extLst>
                  <a:ext uri="{FF2B5EF4-FFF2-40B4-BE49-F238E27FC236}">
                    <a16:creationId xmlns:a16="http://schemas.microsoft.com/office/drawing/2014/main" id="{548AEA64-1C4A-662F-1E79-43FA0465A9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62" name="Graphique 61" descr="Homme âgé portant une veste">
                <a:extLst>
                  <a:ext uri="{FF2B5EF4-FFF2-40B4-BE49-F238E27FC236}">
                    <a16:creationId xmlns:a16="http://schemas.microsoft.com/office/drawing/2014/main" id="{83FC2AD6-73EF-5C15-08BA-C134F589057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63" name="Espace réservé pour une image  29" descr="Homme en polo">
                <a:extLst>
                  <a:ext uri="{FF2B5EF4-FFF2-40B4-BE49-F238E27FC236}">
                    <a16:creationId xmlns:a16="http://schemas.microsoft.com/office/drawing/2014/main" id="{A133B6B9-CA86-FF34-8503-FA51A3B513B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60" name="Graphique 59" descr="Un visage en conversation">
              <a:extLst>
                <a:ext uri="{FF2B5EF4-FFF2-40B4-BE49-F238E27FC236}">
                  <a16:creationId xmlns:a16="http://schemas.microsoft.com/office/drawing/2014/main" id="{6FC687B9-D097-6B63-38B7-42FABDE948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5" name="Bulle narrative : ronde 14">
            <a:extLst>
              <a:ext uri="{FF2B5EF4-FFF2-40B4-BE49-F238E27FC236}">
                <a16:creationId xmlns:a16="http://schemas.microsoft.com/office/drawing/2014/main" id="{1C127A1A-996B-8FFD-C776-AF2306198CB0}"/>
              </a:ext>
            </a:extLst>
          </p:cNvPr>
          <p:cNvSpPr/>
          <p:nvPr/>
        </p:nvSpPr>
        <p:spPr>
          <a:xfrm>
            <a:off x="82986" y="2073908"/>
            <a:ext cx="2286124" cy="1499982"/>
          </a:xfrm>
          <a:prstGeom prst="wedgeEllipseCallout">
            <a:avLst>
              <a:gd name="adj1" fmla="val 1615"/>
              <a:gd name="adj2" fmla="val 105989"/>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XYZ ? </a:t>
            </a:r>
          </a:p>
          <a:p>
            <a:pPr algn="ctr"/>
            <a:r>
              <a:rPr lang="fr-FR" sz="1400">
                <a:solidFill>
                  <a:schemeClr val="tx1"/>
                </a:solidFill>
              </a:rPr>
              <a:t>Qu’est-ce que c’est ?</a:t>
            </a:r>
          </a:p>
        </p:txBody>
      </p:sp>
      <p:sp>
        <p:nvSpPr>
          <p:cNvPr id="16" name="Bulle narrative : ronde 15">
            <a:extLst>
              <a:ext uri="{FF2B5EF4-FFF2-40B4-BE49-F238E27FC236}">
                <a16:creationId xmlns:a16="http://schemas.microsoft.com/office/drawing/2014/main" id="{54ADD3E0-F9B3-6BD1-EC6F-5FBFDAA01A64}"/>
              </a:ext>
            </a:extLst>
          </p:cNvPr>
          <p:cNvSpPr/>
          <p:nvPr/>
        </p:nvSpPr>
        <p:spPr>
          <a:xfrm>
            <a:off x="3356821" y="4413438"/>
            <a:ext cx="3252763" cy="1020251"/>
          </a:xfrm>
          <a:prstGeom prst="wedgeEllipseCallout">
            <a:avLst>
              <a:gd name="adj1" fmla="val -48311"/>
              <a:gd name="adj2" fmla="val 6534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1"/>
                </a:solidFill>
              </a:rPr>
              <a:t>Encore un sujet obscure ou inutile…</a:t>
            </a:r>
          </a:p>
        </p:txBody>
      </p:sp>
      <p:sp>
        <p:nvSpPr>
          <p:cNvPr id="17" name="Bulle narrative : ronde 16">
            <a:extLst>
              <a:ext uri="{FF2B5EF4-FFF2-40B4-BE49-F238E27FC236}">
                <a16:creationId xmlns:a16="http://schemas.microsoft.com/office/drawing/2014/main" id="{B26D3DC6-F361-2F22-A795-F8B3C8582F01}"/>
              </a:ext>
            </a:extLst>
          </p:cNvPr>
          <p:cNvSpPr/>
          <p:nvPr/>
        </p:nvSpPr>
        <p:spPr>
          <a:xfrm>
            <a:off x="1631405" y="3630046"/>
            <a:ext cx="2993951" cy="870820"/>
          </a:xfrm>
          <a:prstGeom prst="wedgeEllipseCallout">
            <a:avLst>
              <a:gd name="adj1" fmla="val -30228"/>
              <a:gd name="adj2" fmla="val 11348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Pourquoi pas ? Jetons un œil </a:t>
            </a:r>
          </a:p>
        </p:txBody>
      </p:sp>
      <p:sp>
        <p:nvSpPr>
          <p:cNvPr id="55" name="Bulle narrative : ronde 54">
            <a:extLst>
              <a:ext uri="{FF2B5EF4-FFF2-40B4-BE49-F238E27FC236}">
                <a16:creationId xmlns:a16="http://schemas.microsoft.com/office/drawing/2014/main" id="{73063B99-8526-4E5C-D46C-FE96C5D44BF6}"/>
              </a:ext>
            </a:extLst>
          </p:cNvPr>
          <p:cNvSpPr/>
          <p:nvPr/>
        </p:nvSpPr>
        <p:spPr>
          <a:xfrm>
            <a:off x="6905381" y="4209281"/>
            <a:ext cx="3338005" cy="1909788"/>
          </a:xfrm>
          <a:prstGeom prst="wedgeEllipseCallout">
            <a:avLst>
              <a:gd name="adj1" fmla="val 55111"/>
              <a:gd name="adj2" fmla="val -72529"/>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Et si on organisait une présentation des plus grands succès sur la plateforme XYZ ? </a:t>
            </a:r>
          </a:p>
        </p:txBody>
      </p:sp>
      <p:sp>
        <p:nvSpPr>
          <p:cNvPr id="18" name="Espace réservé du texte 15">
            <a:extLst>
              <a:ext uri="{FF2B5EF4-FFF2-40B4-BE49-F238E27FC236}">
                <a16:creationId xmlns:a16="http://schemas.microsoft.com/office/drawing/2014/main" id="{FE366B71-8191-9E18-91D6-AEADBC3C9907}"/>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Exemple #OSC </a:t>
            </a:r>
            <a:r>
              <a:rPr lang="fr-FR" sz="3200" b="1" i="1" dirty="0">
                <a:solidFill>
                  <a:srgbClr val="ED7D31"/>
                </a:solidFill>
              </a:rPr>
              <a:t>Change</a:t>
            </a:r>
            <a:r>
              <a:rPr lang="fr-FR" sz="3200" b="1" i="1" dirty="0"/>
              <a:t> </a:t>
            </a:r>
            <a:r>
              <a:rPr lang="fr-FR" sz="3200" b="1" i="1" dirty="0">
                <a:solidFill>
                  <a:srgbClr val="0683AA"/>
                </a:solidFill>
              </a:rPr>
              <a:t>Community</a:t>
            </a:r>
            <a:r>
              <a:rPr lang="fr-FR" sz="3200" b="1" i="1" dirty="0"/>
              <a:t> Cycle </a:t>
            </a:r>
            <a:r>
              <a:rPr lang="fr-FR" sz="3200" b="1" i="1" dirty="0">
                <a:solidFill>
                  <a:srgbClr val="0683AA"/>
                </a:solidFill>
              </a:rPr>
              <a:t>Model</a:t>
            </a:r>
          </a:p>
        </p:txBody>
      </p:sp>
      <p:sp>
        <p:nvSpPr>
          <p:cNvPr id="23" name="Bulle narrative : ronde 22">
            <a:extLst>
              <a:ext uri="{FF2B5EF4-FFF2-40B4-BE49-F238E27FC236}">
                <a16:creationId xmlns:a16="http://schemas.microsoft.com/office/drawing/2014/main" id="{96F48B03-7F19-35C0-5B40-A1F599DBF5CA}"/>
              </a:ext>
            </a:extLst>
          </p:cNvPr>
          <p:cNvSpPr/>
          <p:nvPr/>
        </p:nvSpPr>
        <p:spPr>
          <a:xfrm>
            <a:off x="4583001" y="1279403"/>
            <a:ext cx="5176186" cy="2975081"/>
          </a:xfrm>
          <a:prstGeom prst="wedgeEllipseCallout">
            <a:avLst>
              <a:gd name="adj1" fmla="val 68023"/>
              <a:gd name="adj2" fmla="val -10020"/>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a:solidFill>
                  <a:schemeClr val="tx1"/>
                </a:solidFill>
              </a:rPr>
              <a:t>Au début, personne ne connaît ce sujet. Sans envie, pas de volonté de changement.</a:t>
            </a:r>
          </a:p>
          <a:p>
            <a:pPr algn="ctr"/>
            <a:endParaRPr lang="fr-FR" sz="1800">
              <a:solidFill>
                <a:schemeClr val="tx1"/>
              </a:solidFill>
              <a:cs typeface="Calibri"/>
            </a:endParaRPr>
          </a:p>
          <a:p>
            <a:pPr algn="ctr"/>
            <a:r>
              <a:rPr lang="fr-FR">
                <a:solidFill>
                  <a:schemeClr val="tx1"/>
                </a:solidFill>
              </a:rPr>
              <a:t> </a:t>
            </a:r>
            <a:r>
              <a:rPr lang="fr-FR" sz="1800">
                <a:solidFill>
                  <a:schemeClr val="tx1"/>
                </a:solidFill>
              </a:rPr>
              <a:t>Commençons donc par des activités d’</a:t>
            </a:r>
            <a:r>
              <a:rPr lang="fr-FR" sz="1800" b="1">
                <a:solidFill>
                  <a:srgbClr val="ED7D31"/>
                </a:solidFill>
              </a:rPr>
              <a:t>INSPIRATION</a:t>
            </a:r>
            <a:r>
              <a:rPr lang="fr-FR" sz="1800">
                <a:solidFill>
                  <a:schemeClr val="tx1"/>
                </a:solidFill>
              </a:rPr>
              <a:t>, qui présentent la plateforme XYZ, </a:t>
            </a:r>
            <a:r>
              <a:rPr lang="fr-FR" sz="1800" b="1">
                <a:solidFill>
                  <a:srgbClr val="0683AA"/>
                </a:solidFill>
              </a:rPr>
              <a:t>sans </a:t>
            </a:r>
            <a:r>
              <a:rPr lang="fr-FR" b="1">
                <a:solidFill>
                  <a:srgbClr val="0683AA"/>
                </a:solidFill>
              </a:rPr>
              <a:t>que</a:t>
            </a:r>
            <a:r>
              <a:rPr lang="fr-FR" sz="1800" b="1">
                <a:solidFill>
                  <a:srgbClr val="0683AA"/>
                </a:solidFill>
              </a:rPr>
              <a:t> personne</a:t>
            </a:r>
            <a:r>
              <a:rPr lang="fr-FR" b="1">
                <a:solidFill>
                  <a:srgbClr val="0683AA"/>
                </a:solidFill>
              </a:rPr>
              <a:t> ne soit</a:t>
            </a:r>
            <a:r>
              <a:rPr lang="fr-FR" sz="1800" b="1">
                <a:solidFill>
                  <a:srgbClr val="0683AA"/>
                </a:solidFill>
              </a:rPr>
              <a:t> sur la défensive.</a:t>
            </a:r>
            <a:endParaRPr lang="fr-FR" sz="1800" b="1">
              <a:solidFill>
                <a:srgbClr val="0683AA"/>
              </a:solidFill>
              <a:cs typeface="Calibri"/>
            </a:endParaRPr>
          </a:p>
        </p:txBody>
      </p:sp>
      <p:pic>
        <p:nvPicPr>
          <p:cNvPr id="22" name="Graphique 3" descr="Femme portant un tailleur">
            <a:extLst>
              <a:ext uri="{FF2B5EF4-FFF2-40B4-BE49-F238E27FC236}">
                <a16:creationId xmlns:a16="http://schemas.microsoft.com/office/drawing/2014/main" id="{FFF94D8B-EC5E-1853-870C-C64CA002B80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9531881" y="1636808"/>
            <a:ext cx="2507330" cy="5226467"/>
          </a:xfrm>
          <a:prstGeom prst="rect">
            <a:avLst/>
          </a:prstGeom>
        </p:spPr>
      </p:pic>
      <p:sp>
        <p:nvSpPr>
          <p:cNvPr id="11" name="Espace réservé du texte 15">
            <a:extLst>
              <a:ext uri="{FF2B5EF4-FFF2-40B4-BE49-F238E27FC236}">
                <a16:creationId xmlns:a16="http://schemas.microsoft.com/office/drawing/2014/main" id="{15FD21CF-CBB6-8FEE-E3B4-4B01CE728577}"/>
              </a:ext>
            </a:extLst>
          </p:cNvPr>
          <p:cNvSpPr txBox="1">
            <a:spLocks/>
          </p:cNvSpPr>
          <p:nvPr/>
        </p:nvSpPr>
        <p:spPr>
          <a:xfrm>
            <a:off x="10704768" y="1176899"/>
            <a:ext cx="1298488" cy="4176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pic>
        <p:nvPicPr>
          <p:cNvPr id="4" name="Graphique 3" descr="Ampoule avec un remplissage uni">
            <a:extLst>
              <a:ext uri="{FF2B5EF4-FFF2-40B4-BE49-F238E27FC236}">
                <a16:creationId xmlns:a16="http://schemas.microsoft.com/office/drawing/2014/main" id="{C78F6CD5-14F3-79E1-96B6-14E776381F9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85945" y="331562"/>
            <a:ext cx="736135" cy="770528"/>
          </a:xfrm>
          <a:prstGeom prst="rect">
            <a:avLst/>
          </a:prstGeom>
        </p:spPr>
      </p:pic>
    </p:spTree>
    <p:extLst>
      <p:ext uri="{BB962C8B-B14F-4D97-AF65-F5344CB8AC3E}">
        <p14:creationId xmlns:p14="http://schemas.microsoft.com/office/powerpoint/2010/main" val="14567730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e 56">
            <a:extLst>
              <a:ext uri="{FF2B5EF4-FFF2-40B4-BE49-F238E27FC236}">
                <a16:creationId xmlns:a16="http://schemas.microsoft.com/office/drawing/2014/main" id="{0AF6C26C-3F09-9D9B-3185-01C1F91F03E5}"/>
              </a:ext>
            </a:extLst>
          </p:cNvPr>
          <p:cNvGrpSpPr/>
          <p:nvPr/>
        </p:nvGrpSpPr>
        <p:grpSpPr>
          <a:xfrm>
            <a:off x="104342" y="4446868"/>
            <a:ext cx="3551321" cy="2539667"/>
            <a:chOff x="273518" y="3963501"/>
            <a:chExt cx="2642880" cy="1890012"/>
          </a:xfrm>
        </p:grpSpPr>
        <p:pic>
          <p:nvPicPr>
            <p:cNvPr id="58" name="Graphique 57" descr="Femme aux cheveux longs droits">
              <a:extLst>
                <a:ext uri="{FF2B5EF4-FFF2-40B4-BE49-F238E27FC236}">
                  <a16:creationId xmlns:a16="http://schemas.microsoft.com/office/drawing/2014/main" id="{677774D8-3199-B10C-75A7-4DBCC134F8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59" name="Groupe 58">
              <a:extLst>
                <a:ext uri="{FF2B5EF4-FFF2-40B4-BE49-F238E27FC236}">
                  <a16:creationId xmlns:a16="http://schemas.microsoft.com/office/drawing/2014/main" id="{504419BD-8ABF-8AA3-0248-6125B4618ACD}"/>
                </a:ext>
              </a:extLst>
            </p:cNvPr>
            <p:cNvGrpSpPr/>
            <p:nvPr/>
          </p:nvGrpSpPr>
          <p:grpSpPr>
            <a:xfrm flipH="1">
              <a:off x="273518" y="4342678"/>
              <a:ext cx="2642880" cy="1510835"/>
              <a:chOff x="5652412" y="4227751"/>
              <a:chExt cx="2038599" cy="1115126"/>
            </a:xfrm>
          </p:grpSpPr>
          <p:pic>
            <p:nvPicPr>
              <p:cNvPr id="61" name="Graphique 60" descr="Homme portant un dossier">
                <a:extLst>
                  <a:ext uri="{FF2B5EF4-FFF2-40B4-BE49-F238E27FC236}">
                    <a16:creationId xmlns:a16="http://schemas.microsoft.com/office/drawing/2014/main" id="{548AEA64-1C4A-662F-1E79-43FA0465A9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62" name="Graphique 61" descr="Homme âgé portant une veste">
                <a:extLst>
                  <a:ext uri="{FF2B5EF4-FFF2-40B4-BE49-F238E27FC236}">
                    <a16:creationId xmlns:a16="http://schemas.microsoft.com/office/drawing/2014/main" id="{83FC2AD6-73EF-5C15-08BA-C134F589057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63" name="Espace réservé pour une image  29" descr="Homme en polo">
                <a:extLst>
                  <a:ext uri="{FF2B5EF4-FFF2-40B4-BE49-F238E27FC236}">
                    <a16:creationId xmlns:a16="http://schemas.microsoft.com/office/drawing/2014/main" id="{A133B6B9-CA86-FF34-8503-FA51A3B513B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60" name="Graphique 59" descr="Un visage en conversation">
              <a:extLst>
                <a:ext uri="{FF2B5EF4-FFF2-40B4-BE49-F238E27FC236}">
                  <a16:creationId xmlns:a16="http://schemas.microsoft.com/office/drawing/2014/main" id="{6FC687B9-D097-6B63-38B7-42FABDE948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5" name="Bulle narrative : ronde 14">
            <a:extLst>
              <a:ext uri="{FF2B5EF4-FFF2-40B4-BE49-F238E27FC236}">
                <a16:creationId xmlns:a16="http://schemas.microsoft.com/office/drawing/2014/main" id="{1C127A1A-996B-8FFD-C776-AF2306198CB0}"/>
              </a:ext>
            </a:extLst>
          </p:cNvPr>
          <p:cNvSpPr/>
          <p:nvPr/>
        </p:nvSpPr>
        <p:spPr>
          <a:xfrm>
            <a:off x="82986" y="2073908"/>
            <a:ext cx="2286124" cy="1499982"/>
          </a:xfrm>
          <a:prstGeom prst="wedgeEllipseCallout">
            <a:avLst>
              <a:gd name="adj1" fmla="val 1615"/>
              <a:gd name="adj2" fmla="val 105989"/>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Mais en quoi cela nous concerne ?</a:t>
            </a:r>
          </a:p>
        </p:txBody>
      </p:sp>
      <p:sp>
        <p:nvSpPr>
          <p:cNvPr id="16" name="Bulle narrative : ronde 15">
            <a:extLst>
              <a:ext uri="{FF2B5EF4-FFF2-40B4-BE49-F238E27FC236}">
                <a16:creationId xmlns:a16="http://schemas.microsoft.com/office/drawing/2014/main" id="{54ADD3E0-F9B3-6BD1-EC6F-5FBFDAA01A64}"/>
              </a:ext>
            </a:extLst>
          </p:cNvPr>
          <p:cNvSpPr/>
          <p:nvPr/>
        </p:nvSpPr>
        <p:spPr>
          <a:xfrm>
            <a:off x="3356821" y="4413438"/>
            <a:ext cx="3252763" cy="1020251"/>
          </a:xfrm>
          <a:prstGeom prst="wedgeEllipseCallout">
            <a:avLst>
              <a:gd name="adj1" fmla="val -48311"/>
              <a:gd name="adj2" fmla="val 6534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1"/>
                </a:solidFill>
              </a:rPr>
              <a:t>Encore quelque chose qu’on nous imposera sans rien demander…</a:t>
            </a:r>
          </a:p>
        </p:txBody>
      </p:sp>
      <p:sp>
        <p:nvSpPr>
          <p:cNvPr id="17" name="Bulle narrative : ronde 16">
            <a:extLst>
              <a:ext uri="{FF2B5EF4-FFF2-40B4-BE49-F238E27FC236}">
                <a16:creationId xmlns:a16="http://schemas.microsoft.com/office/drawing/2014/main" id="{B26D3DC6-F361-2F22-A795-F8B3C8582F01}"/>
              </a:ext>
            </a:extLst>
          </p:cNvPr>
          <p:cNvSpPr/>
          <p:nvPr/>
        </p:nvSpPr>
        <p:spPr>
          <a:xfrm>
            <a:off x="1631405" y="3630046"/>
            <a:ext cx="2993951" cy="870820"/>
          </a:xfrm>
          <a:prstGeom prst="wedgeEllipseCallout">
            <a:avLst>
              <a:gd name="adj1" fmla="val -30228"/>
              <a:gd name="adj2" fmla="val 11348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J’ai besoin de me projeter concrètement !</a:t>
            </a:r>
          </a:p>
        </p:txBody>
      </p:sp>
      <p:sp>
        <p:nvSpPr>
          <p:cNvPr id="55" name="Bulle narrative : ronde 54">
            <a:extLst>
              <a:ext uri="{FF2B5EF4-FFF2-40B4-BE49-F238E27FC236}">
                <a16:creationId xmlns:a16="http://schemas.microsoft.com/office/drawing/2014/main" id="{73063B99-8526-4E5C-D46C-FE96C5D44BF6}"/>
              </a:ext>
            </a:extLst>
          </p:cNvPr>
          <p:cNvSpPr/>
          <p:nvPr/>
        </p:nvSpPr>
        <p:spPr>
          <a:xfrm>
            <a:off x="6905381" y="4209281"/>
            <a:ext cx="3338005" cy="1909788"/>
          </a:xfrm>
          <a:prstGeom prst="wedgeEllipseCallout">
            <a:avLst>
              <a:gd name="adj1" fmla="val 55111"/>
              <a:gd name="adj2" fmla="val -72529"/>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Et si on organisait un atelier pour collecter les craintes, contraintes et ambitions ?</a:t>
            </a:r>
          </a:p>
        </p:txBody>
      </p:sp>
      <p:sp>
        <p:nvSpPr>
          <p:cNvPr id="18" name="Espace réservé du texte 15">
            <a:extLst>
              <a:ext uri="{FF2B5EF4-FFF2-40B4-BE49-F238E27FC236}">
                <a16:creationId xmlns:a16="http://schemas.microsoft.com/office/drawing/2014/main" id="{FE366B71-8191-9E18-91D6-AEADBC3C9907}"/>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Exemple #OSC </a:t>
            </a:r>
            <a:r>
              <a:rPr lang="fr-FR" sz="3200" b="1" i="1" dirty="0">
                <a:solidFill>
                  <a:srgbClr val="ED7D31"/>
                </a:solidFill>
              </a:rPr>
              <a:t>Change</a:t>
            </a:r>
            <a:r>
              <a:rPr lang="fr-FR" sz="3200" b="1" i="1" dirty="0"/>
              <a:t> </a:t>
            </a:r>
            <a:r>
              <a:rPr lang="fr-FR" sz="3200" b="1" i="1" dirty="0">
                <a:solidFill>
                  <a:srgbClr val="0683AA"/>
                </a:solidFill>
              </a:rPr>
              <a:t>Community</a:t>
            </a:r>
            <a:r>
              <a:rPr lang="fr-FR" sz="3200" b="1" i="1" dirty="0"/>
              <a:t> Cycle </a:t>
            </a:r>
            <a:r>
              <a:rPr lang="fr-FR" sz="3200" b="1" i="1" dirty="0">
                <a:solidFill>
                  <a:srgbClr val="0683AA"/>
                </a:solidFill>
              </a:rPr>
              <a:t>Model</a:t>
            </a:r>
          </a:p>
        </p:txBody>
      </p:sp>
      <p:sp>
        <p:nvSpPr>
          <p:cNvPr id="23" name="Bulle narrative : ronde 22">
            <a:extLst>
              <a:ext uri="{FF2B5EF4-FFF2-40B4-BE49-F238E27FC236}">
                <a16:creationId xmlns:a16="http://schemas.microsoft.com/office/drawing/2014/main" id="{96F48B03-7F19-35C0-5B40-A1F599DBF5CA}"/>
              </a:ext>
            </a:extLst>
          </p:cNvPr>
          <p:cNvSpPr/>
          <p:nvPr/>
        </p:nvSpPr>
        <p:spPr>
          <a:xfrm>
            <a:off x="4583001" y="1279403"/>
            <a:ext cx="5176186" cy="2975081"/>
          </a:xfrm>
          <a:prstGeom prst="wedgeEllipseCallout">
            <a:avLst>
              <a:gd name="adj1" fmla="val 68023"/>
              <a:gd name="adj2" fmla="val -10020"/>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Inspirer c’est bien, mais ce n’est pas suffisant pour vouloir se lancer. </a:t>
            </a:r>
          </a:p>
          <a:p>
            <a:pPr algn="ctr"/>
            <a:endParaRPr lang="fr-FR">
              <a:solidFill>
                <a:schemeClr val="tx1"/>
              </a:solidFill>
            </a:endParaRPr>
          </a:p>
          <a:p>
            <a:pPr algn="ctr"/>
            <a:r>
              <a:rPr lang="fr-FR">
                <a:solidFill>
                  <a:schemeClr val="tx1"/>
                </a:solidFill>
              </a:rPr>
              <a:t>On peut alors faire des activités de </a:t>
            </a:r>
            <a:r>
              <a:rPr lang="fr-FR" sz="1800" b="1">
                <a:solidFill>
                  <a:srgbClr val="ED7D31"/>
                </a:solidFill>
              </a:rPr>
              <a:t>COLLECTE. </a:t>
            </a:r>
            <a:r>
              <a:rPr lang="fr-FR" sz="1800">
                <a:solidFill>
                  <a:schemeClr val="tx1"/>
                </a:solidFill>
              </a:rPr>
              <a:t>Cela</a:t>
            </a:r>
            <a:r>
              <a:rPr lang="fr-FR">
                <a:solidFill>
                  <a:schemeClr val="tx1"/>
                </a:solidFill>
              </a:rPr>
              <a:t> permet aux membres de </a:t>
            </a:r>
            <a:r>
              <a:rPr lang="fr-FR" sz="1800" b="1">
                <a:solidFill>
                  <a:srgbClr val="0683AA"/>
                </a:solidFill>
              </a:rPr>
              <a:t>se sentir impliqués et écoutés</a:t>
            </a:r>
            <a:r>
              <a:rPr lang="fr-FR" b="1">
                <a:solidFill>
                  <a:srgbClr val="0683AA"/>
                </a:solidFill>
              </a:rPr>
              <a:t> dès le départ</a:t>
            </a:r>
            <a:r>
              <a:rPr lang="fr-FR" sz="1800" b="1">
                <a:solidFill>
                  <a:srgbClr val="0683AA"/>
                </a:solidFill>
              </a:rPr>
              <a:t>.</a:t>
            </a:r>
          </a:p>
        </p:txBody>
      </p:sp>
      <p:pic>
        <p:nvPicPr>
          <p:cNvPr id="22" name="Graphique 3" descr="Femme portant un tailleur">
            <a:extLst>
              <a:ext uri="{FF2B5EF4-FFF2-40B4-BE49-F238E27FC236}">
                <a16:creationId xmlns:a16="http://schemas.microsoft.com/office/drawing/2014/main" id="{FFF94D8B-EC5E-1853-870C-C64CA002B80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9531881" y="1636808"/>
            <a:ext cx="2507330" cy="5226467"/>
          </a:xfrm>
          <a:prstGeom prst="rect">
            <a:avLst/>
          </a:prstGeom>
        </p:spPr>
      </p:pic>
      <p:sp>
        <p:nvSpPr>
          <p:cNvPr id="2" name="Espace réservé du texte 15">
            <a:extLst>
              <a:ext uri="{FF2B5EF4-FFF2-40B4-BE49-F238E27FC236}">
                <a16:creationId xmlns:a16="http://schemas.microsoft.com/office/drawing/2014/main" id="{B751B872-6350-4519-DD00-66B3B234B730}"/>
              </a:ext>
            </a:extLst>
          </p:cNvPr>
          <p:cNvSpPr txBox="1">
            <a:spLocks/>
          </p:cNvSpPr>
          <p:nvPr/>
        </p:nvSpPr>
        <p:spPr>
          <a:xfrm>
            <a:off x="10621780" y="1086909"/>
            <a:ext cx="1298488" cy="4176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pic>
        <p:nvPicPr>
          <p:cNvPr id="8" name="Graphique 7" descr="Seau et pelle avec un remplissage uni">
            <a:extLst>
              <a:ext uri="{FF2B5EF4-FFF2-40B4-BE49-F238E27FC236}">
                <a16:creationId xmlns:a16="http://schemas.microsoft.com/office/drawing/2014/main" id="{A2DC5497-6AAB-EAD9-F5D0-F1E9095FBF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02957" y="241572"/>
            <a:ext cx="736135" cy="770528"/>
          </a:xfrm>
          <a:prstGeom prst="rect">
            <a:avLst/>
          </a:prstGeom>
        </p:spPr>
      </p:pic>
    </p:spTree>
    <p:extLst>
      <p:ext uri="{BB962C8B-B14F-4D97-AF65-F5344CB8AC3E}">
        <p14:creationId xmlns:p14="http://schemas.microsoft.com/office/powerpoint/2010/main" val="26095038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e 56">
            <a:extLst>
              <a:ext uri="{FF2B5EF4-FFF2-40B4-BE49-F238E27FC236}">
                <a16:creationId xmlns:a16="http://schemas.microsoft.com/office/drawing/2014/main" id="{0AF6C26C-3F09-9D9B-3185-01C1F91F03E5}"/>
              </a:ext>
            </a:extLst>
          </p:cNvPr>
          <p:cNvGrpSpPr/>
          <p:nvPr/>
        </p:nvGrpSpPr>
        <p:grpSpPr>
          <a:xfrm>
            <a:off x="104342" y="4446868"/>
            <a:ext cx="3551321" cy="2539667"/>
            <a:chOff x="273518" y="3963501"/>
            <a:chExt cx="2642880" cy="1890012"/>
          </a:xfrm>
        </p:grpSpPr>
        <p:pic>
          <p:nvPicPr>
            <p:cNvPr id="58" name="Graphique 57" descr="Femme aux cheveux longs droits">
              <a:extLst>
                <a:ext uri="{FF2B5EF4-FFF2-40B4-BE49-F238E27FC236}">
                  <a16:creationId xmlns:a16="http://schemas.microsoft.com/office/drawing/2014/main" id="{677774D8-3199-B10C-75A7-4DBCC134F8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59" name="Groupe 58">
              <a:extLst>
                <a:ext uri="{FF2B5EF4-FFF2-40B4-BE49-F238E27FC236}">
                  <a16:creationId xmlns:a16="http://schemas.microsoft.com/office/drawing/2014/main" id="{504419BD-8ABF-8AA3-0248-6125B4618ACD}"/>
                </a:ext>
              </a:extLst>
            </p:cNvPr>
            <p:cNvGrpSpPr/>
            <p:nvPr/>
          </p:nvGrpSpPr>
          <p:grpSpPr>
            <a:xfrm flipH="1">
              <a:off x="273518" y="4342678"/>
              <a:ext cx="2642880" cy="1510835"/>
              <a:chOff x="5652412" y="4227751"/>
              <a:chExt cx="2038599" cy="1115126"/>
            </a:xfrm>
          </p:grpSpPr>
          <p:pic>
            <p:nvPicPr>
              <p:cNvPr id="61" name="Graphique 60" descr="Homme portant un dossier">
                <a:extLst>
                  <a:ext uri="{FF2B5EF4-FFF2-40B4-BE49-F238E27FC236}">
                    <a16:creationId xmlns:a16="http://schemas.microsoft.com/office/drawing/2014/main" id="{548AEA64-1C4A-662F-1E79-43FA0465A9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62" name="Graphique 61" descr="Homme âgé portant une veste">
                <a:extLst>
                  <a:ext uri="{FF2B5EF4-FFF2-40B4-BE49-F238E27FC236}">
                    <a16:creationId xmlns:a16="http://schemas.microsoft.com/office/drawing/2014/main" id="{83FC2AD6-73EF-5C15-08BA-C134F589057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63" name="Espace réservé pour une image  29" descr="Homme en polo">
                <a:extLst>
                  <a:ext uri="{FF2B5EF4-FFF2-40B4-BE49-F238E27FC236}">
                    <a16:creationId xmlns:a16="http://schemas.microsoft.com/office/drawing/2014/main" id="{A133B6B9-CA86-FF34-8503-FA51A3B513B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60" name="Graphique 59" descr="Un visage en conversation">
              <a:extLst>
                <a:ext uri="{FF2B5EF4-FFF2-40B4-BE49-F238E27FC236}">
                  <a16:creationId xmlns:a16="http://schemas.microsoft.com/office/drawing/2014/main" id="{6FC687B9-D097-6B63-38B7-42FABDE948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5" name="Bulle narrative : ronde 14">
            <a:extLst>
              <a:ext uri="{FF2B5EF4-FFF2-40B4-BE49-F238E27FC236}">
                <a16:creationId xmlns:a16="http://schemas.microsoft.com/office/drawing/2014/main" id="{1C127A1A-996B-8FFD-C776-AF2306198CB0}"/>
              </a:ext>
            </a:extLst>
          </p:cNvPr>
          <p:cNvSpPr/>
          <p:nvPr/>
        </p:nvSpPr>
        <p:spPr>
          <a:xfrm>
            <a:off x="82986" y="2073908"/>
            <a:ext cx="2286124" cy="1499982"/>
          </a:xfrm>
          <a:prstGeom prst="wedgeEllipseCallout">
            <a:avLst>
              <a:gd name="adj1" fmla="val 1615"/>
              <a:gd name="adj2" fmla="val 105989"/>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OK pour la vision, mais comment s’y mettre ?</a:t>
            </a:r>
          </a:p>
        </p:txBody>
      </p:sp>
      <p:sp>
        <p:nvSpPr>
          <p:cNvPr id="16" name="Bulle narrative : ronde 15">
            <a:extLst>
              <a:ext uri="{FF2B5EF4-FFF2-40B4-BE49-F238E27FC236}">
                <a16:creationId xmlns:a16="http://schemas.microsoft.com/office/drawing/2014/main" id="{54ADD3E0-F9B3-6BD1-EC6F-5FBFDAA01A64}"/>
              </a:ext>
            </a:extLst>
          </p:cNvPr>
          <p:cNvSpPr/>
          <p:nvPr/>
        </p:nvSpPr>
        <p:spPr>
          <a:xfrm>
            <a:off x="3356821" y="4413438"/>
            <a:ext cx="3252763" cy="1020251"/>
          </a:xfrm>
          <a:prstGeom prst="wedgeEllipseCallout">
            <a:avLst>
              <a:gd name="adj1" fmla="val -48311"/>
              <a:gd name="adj2" fmla="val 6534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1"/>
                </a:solidFill>
              </a:rPr>
              <a:t>Je ne me sens pas de l’appliquer dès demain dans mon équipe.</a:t>
            </a:r>
          </a:p>
        </p:txBody>
      </p:sp>
      <p:sp>
        <p:nvSpPr>
          <p:cNvPr id="17" name="Bulle narrative : ronde 16">
            <a:extLst>
              <a:ext uri="{FF2B5EF4-FFF2-40B4-BE49-F238E27FC236}">
                <a16:creationId xmlns:a16="http://schemas.microsoft.com/office/drawing/2014/main" id="{B26D3DC6-F361-2F22-A795-F8B3C8582F01}"/>
              </a:ext>
            </a:extLst>
          </p:cNvPr>
          <p:cNvSpPr/>
          <p:nvPr/>
        </p:nvSpPr>
        <p:spPr>
          <a:xfrm>
            <a:off x="1631405" y="3630046"/>
            <a:ext cx="2993951" cy="870820"/>
          </a:xfrm>
          <a:prstGeom prst="wedgeEllipseCallout">
            <a:avLst>
              <a:gd name="adj1" fmla="val -30228"/>
              <a:gd name="adj2" fmla="val 11348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J’ai envie de pratiquer d’abord !</a:t>
            </a:r>
          </a:p>
        </p:txBody>
      </p:sp>
      <p:sp>
        <p:nvSpPr>
          <p:cNvPr id="55" name="Bulle narrative : ronde 54">
            <a:extLst>
              <a:ext uri="{FF2B5EF4-FFF2-40B4-BE49-F238E27FC236}">
                <a16:creationId xmlns:a16="http://schemas.microsoft.com/office/drawing/2014/main" id="{73063B99-8526-4E5C-D46C-FE96C5D44BF6}"/>
              </a:ext>
            </a:extLst>
          </p:cNvPr>
          <p:cNvSpPr/>
          <p:nvPr/>
        </p:nvSpPr>
        <p:spPr>
          <a:xfrm>
            <a:off x="6905381" y="4209281"/>
            <a:ext cx="3338005" cy="1909788"/>
          </a:xfrm>
          <a:prstGeom prst="wedgeEllipseCallout">
            <a:avLst>
              <a:gd name="adj1" fmla="val 55111"/>
              <a:gd name="adj2" fmla="val -72529"/>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Et si on organisait une session découverte et initiation à la plateforme XYZ ?</a:t>
            </a:r>
          </a:p>
        </p:txBody>
      </p:sp>
      <p:sp>
        <p:nvSpPr>
          <p:cNvPr id="18" name="Espace réservé du texte 15">
            <a:extLst>
              <a:ext uri="{FF2B5EF4-FFF2-40B4-BE49-F238E27FC236}">
                <a16:creationId xmlns:a16="http://schemas.microsoft.com/office/drawing/2014/main" id="{FE366B71-8191-9E18-91D6-AEADBC3C9907}"/>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Exemple #OSC </a:t>
            </a:r>
            <a:r>
              <a:rPr lang="fr-FR" sz="3200" b="1" i="1" dirty="0">
                <a:solidFill>
                  <a:srgbClr val="ED7D31"/>
                </a:solidFill>
              </a:rPr>
              <a:t>Change</a:t>
            </a:r>
            <a:r>
              <a:rPr lang="fr-FR" sz="3200" b="1" i="1" dirty="0"/>
              <a:t> </a:t>
            </a:r>
            <a:r>
              <a:rPr lang="fr-FR" sz="3200" b="1" i="1" dirty="0">
                <a:solidFill>
                  <a:srgbClr val="0683AA"/>
                </a:solidFill>
              </a:rPr>
              <a:t>Community</a:t>
            </a:r>
            <a:r>
              <a:rPr lang="fr-FR" sz="3200" b="1" i="1" dirty="0"/>
              <a:t> Cycle </a:t>
            </a:r>
            <a:r>
              <a:rPr lang="fr-FR" sz="3200" b="1" i="1" dirty="0">
                <a:solidFill>
                  <a:srgbClr val="0683AA"/>
                </a:solidFill>
              </a:rPr>
              <a:t>Model</a:t>
            </a:r>
          </a:p>
        </p:txBody>
      </p:sp>
      <p:sp>
        <p:nvSpPr>
          <p:cNvPr id="23" name="Bulle narrative : ronde 22">
            <a:extLst>
              <a:ext uri="{FF2B5EF4-FFF2-40B4-BE49-F238E27FC236}">
                <a16:creationId xmlns:a16="http://schemas.microsoft.com/office/drawing/2014/main" id="{96F48B03-7F19-35C0-5B40-A1F599DBF5CA}"/>
              </a:ext>
            </a:extLst>
          </p:cNvPr>
          <p:cNvSpPr/>
          <p:nvPr/>
        </p:nvSpPr>
        <p:spPr>
          <a:xfrm>
            <a:off x="4583001" y="1279403"/>
            <a:ext cx="5176186" cy="2975081"/>
          </a:xfrm>
          <a:prstGeom prst="wedgeEllipseCallout">
            <a:avLst>
              <a:gd name="adj1" fmla="val 68023"/>
              <a:gd name="adj2" fmla="val -10020"/>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Les situations et objectifs sont mis au clair, mais sans pratique, ce n’est que de la théorie.</a:t>
            </a:r>
          </a:p>
          <a:p>
            <a:pPr algn="ctr"/>
            <a:r>
              <a:rPr lang="fr-FR">
                <a:solidFill>
                  <a:schemeClr val="tx1"/>
                </a:solidFill>
              </a:rPr>
              <a:t> On peut alors faire des activités d’</a:t>
            </a:r>
            <a:r>
              <a:rPr lang="fr-FR" sz="1800" b="1">
                <a:solidFill>
                  <a:srgbClr val="ED7D31"/>
                </a:solidFill>
              </a:rPr>
              <a:t>INITIATION. </a:t>
            </a:r>
            <a:r>
              <a:rPr lang="fr-FR" sz="1800">
                <a:solidFill>
                  <a:schemeClr val="tx1"/>
                </a:solidFill>
              </a:rPr>
              <a:t>Cela</a:t>
            </a:r>
            <a:r>
              <a:rPr lang="fr-FR">
                <a:solidFill>
                  <a:schemeClr val="tx1"/>
                </a:solidFill>
              </a:rPr>
              <a:t> permet aux membres de </a:t>
            </a:r>
            <a:r>
              <a:rPr lang="fr-FR" sz="1800" b="1">
                <a:solidFill>
                  <a:srgbClr val="0683AA"/>
                </a:solidFill>
              </a:rPr>
              <a:t>pratiquer dans la Communauté sans se mettre à risque en dehors</a:t>
            </a:r>
            <a:r>
              <a:rPr lang="fr-FR" b="1">
                <a:solidFill>
                  <a:srgbClr val="0683AA"/>
                </a:solidFill>
              </a:rPr>
              <a:t>.</a:t>
            </a:r>
            <a:endParaRPr lang="fr-FR" sz="1800" b="1">
              <a:solidFill>
                <a:srgbClr val="0683AA"/>
              </a:solidFill>
            </a:endParaRPr>
          </a:p>
        </p:txBody>
      </p:sp>
      <p:pic>
        <p:nvPicPr>
          <p:cNvPr id="22" name="Graphique 3" descr="Femme portant un tailleur">
            <a:extLst>
              <a:ext uri="{FF2B5EF4-FFF2-40B4-BE49-F238E27FC236}">
                <a16:creationId xmlns:a16="http://schemas.microsoft.com/office/drawing/2014/main" id="{FFF94D8B-EC5E-1853-870C-C64CA002B80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9531881" y="1636808"/>
            <a:ext cx="2507330" cy="5226467"/>
          </a:xfrm>
          <a:prstGeom prst="rect">
            <a:avLst/>
          </a:prstGeom>
        </p:spPr>
      </p:pic>
      <p:sp>
        <p:nvSpPr>
          <p:cNvPr id="2" name="Espace réservé du texte 15">
            <a:extLst>
              <a:ext uri="{FF2B5EF4-FFF2-40B4-BE49-F238E27FC236}">
                <a16:creationId xmlns:a16="http://schemas.microsoft.com/office/drawing/2014/main" id="{F87E6B0B-8EA5-D929-98E6-79EB5317827F}"/>
              </a:ext>
            </a:extLst>
          </p:cNvPr>
          <p:cNvSpPr txBox="1">
            <a:spLocks/>
          </p:cNvSpPr>
          <p:nvPr/>
        </p:nvSpPr>
        <p:spPr>
          <a:xfrm>
            <a:off x="10789712" y="968094"/>
            <a:ext cx="1298488" cy="4176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pic>
        <p:nvPicPr>
          <p:cNvPr id="7" name="Graphique 6" descr="Tubes à essai avec un remplissage uni">
            <a:extLst>
              <a:ext uri="{FF2B5EF4-FFF2-40B4-BE49-F238E27FC236}">
                <a16:creationId xmlns:a16="http://schemas.microsoft.com/office/drawing/2014/main" id="{0EBFBF09-16BB-6414-6F46-D1E2E42E2C9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068507" y="122757"/>
            <a:ext cx="736135" cy="770528"/>
          </a:xfrm>
          <a:prstGeom prst="rect">
            <a:avLst/>
          </a:prstGeom>
        </p:spPr>
      </p:pic>
    </p:spTree>
    <p:extLst>
      <p:ext uri="{BB962C8B-B14F-4D97-AF65-F5344CB8AC3E}">
        <p14:creationId xmlns:p14="http://schemas.microsoft.com/office/powerpoint/2010/main" val="17954247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e 56">
            <a:extLst>
              <a:ext uri="{FF2B5EF4-FFF2-40B4-BE49-F238E27FC236}">
                <a16:creationId xmlns:a16="http://schemas.microsoft.com/office/drawing/2014/main" id="{0AF6C26C-3F09-9D9B-3185-01C1F91F03E5}"/>
              </a:ext>
            </a:extLst>
          </p:cNvPr>
          <p:cNvGrpSpPr/>
          <p:nvPr/>
        </p:nvGrpSpPr>
        <p:grpSpPr>
          <a:xfrm>
            <a:off x="104342" y="4446868"/>
            <a:ext cx="3551321" cy="2539667"/>
            <a:chOff x="273518" y="3963501"/>
            <a:chExt cx="2642880" cy="1890012"/>
          </a:xfrm>
        </p:grpSpPr>
        <p:pic>
          <p:nvPicPr>
            <p:cNvPr id="58" name="Graphique 57" descr="Femme aux cheveux longs droits">
              <a:extLst>
                <a:ext uri="{FF2B5EF4-FFF2-40B4-BE49-F238E27FC236}">
                  <a16:creationId xmlns:a16="http://schemas.microsoft.com/office/drawing/2014/main" id="{677774D8-3199-B10C-75A7-4DBCC134F8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59" name="Groupe 58">
              <a:extLst>
                <a:ext uri="{FF2B5EF4-FFF2-40B4-BE49-F238E27FC236}">
                  <a16:creationId xmlns:a16="http://schemas.microsoft.com/office/drawing/2014/main" id="{504419BD-8ABF-8AA3-0248-6125B4618ACD}"/>
                </a:ext>
              </a:extLst>
            </p:cNvPr>
            <p:cNvGrpSpPr/>
            <p:nvPr/>
          </p:nvGrpSpPr>
          <p:grpSpPr>
            <a:xfrm flipH="1">
              <a:off x="273518" y="4342678"/>
              <a:ext cx="2642880" cy="1510835"/>
              <a:chOff x="5652412" y="4227751"/>
              <a:chExt cx="2038599" cy="1115126"/>
            </a:xfrm>
          </p:grpSpPr>
          <p:pic>
            <p:nvPicPr>
              <p:cNvPr id="61" name="Graphique 60" descr="Homme portant un dossier">
                <a:extLst>
                  <a:ext uri="{FF2B5EF4-FFF2-40B4-BE49-F238E27FC236}">
                    <a16:creationId xmlns:a16="http://schemas.microsoft.com/office/drawing/2014/main" id="{548AEA64-1C4A-662F-1E79-43FA0465A9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62" name="Graphique 61" descr="Homme âgé portant une veste">
                <a:extLst>
                  <a:ext uri="{FF2B5EF4-FFF2-40B4-BE49-F238E27FC236}">
                    <a16:creationId xmlns:a16="http://schemas.microsoft.com/office/drawing/2014/main" id="{83FC2AD6-73EF-5C15-08BA-C134F589057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63" name="Espace réservé pour une image  29" descr="Homme en polo">
                <a:extLst>
                  <a:ext uri="{FF2B5EF4-FFF2-40B4-BE49-F238E27FC236}">
                    <a16:creationId xmlns:a16="http://schemas.microsoft.com/office/drawing/2014/main" id="{A133B6B9-CA86-FF34-8503-FA51A3B513B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60" name="Graphique 59" descr="Un visage en conversation">
              <a:extLst>
                <a:ext uri="{FF2B5EF4-FFF2-40B4-BE49-F238E27FC236}">
                  <a16:creationId xmlns:a16="http://schemas.microsoft.com/office/drawing/2014/main" id="{6FC687B9-D097-6B63-38B7-42FABDE948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5" name="Bulle narrative : ronde 14">
            <a:extLst>
              <a:ext uri="{FF2B5EF4-FFF2-40B4-BE49-F238E27FC236}">
                <a16:creationId xmlns:a16="http://schemas.microsoft.com/office/drawing/2014/main" id="{1C127A1A-996B-8FFD-C776-AF2306198CB0}"/>
              </a:ext>
            </a:extLst>
          </p:cNvPr>
          <p:cNvSpPr/>
          <p:nvPr/>
        </p:nvSpPr>
        <p:spPr>
          <a:xfrm>
            <a:off x="82986" y="2073908"/>
            <a:ext cx="2286124" cy="1499982"/>
          </a:xfrm>
          <a:prstGeom prst="wedgeEllipseCallout">
            <a:avLst>
              <a:gd name="adj1" fmla="val 1615"/>
              <a:gd name="adj2" fmla="val 105989"/>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Je veux bien appliquer, mais vous serez là si j’ai besoin d’aide ?</a:t>
            </a:r>
          </a:p>
        </p:txBody>
      </p:sp>
      <p:sp>
        <p:nvSpPr>
          <p:cNvPr id="16" name="Bulle narrative : ronde 15">
            <a:extLst>
              <a:ext uri="{FF2B5EF4-FFF2-40B4-BE49-F238E27FC236}">
                <a16:creationId xmlns:a16="http://schemas.microsoft.com/office/drawing/2014/main" id="{54ADD3E0-F9B3-6BD1-EC6F-5FBFDAA01A64}"/>
              </a:ext>
            </a:extLst>
          </p:cNvPr>
          <p:cNvSpPr/>
          <p:nvPr/>
        </p:nvSpPr>
        <p:spPr>
          <a:xfrm>
            <a:off x="3356821" y="4413438"/>
            <a:ext cx="3252763" cy="1020251"/>
          </a:xfrm>
          <a:prstGeom prst="wedgeEllipseCallout">
            <a:avLst>
              <a:gd name="adj1" fmla="val -48311"/>
              <a:gd name="adj2" fmla="val 6534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1"/>
                </a:solidFill>
              </a:rPr>
              <a:t>Dans la vraie vie, c’est beaucoup plus difficile.</a:t>
            </a:r>
          </a:p>
        </p:txBody>
      </p:sp>
      <p:sp>
        <p:nvSpPr>
          <p:cNvPr id="17" name="Bulle narrative : ronde 16">
            <a:extLst>
              <a:ext uri="{FF2B5EF4-FFF2-40B4-BE49-F238E27FC236}">
                <a16:creationId xmlns:a16="http://schemas.microsoft.com/office/drawing/2014/main" id="{B26D3DC6-F361-2F22-A795-F8B3C8582F01}"/>
              </a:ext>
            </a:extLst>
          </p:cNvPr>
          <p:cNvSpPr/>
          <p:nvPr/>
        </p:nvSpPr>
        <p:spPr>
          <a:xfrm>
            <a:off x="1631405" y="3630046"/>
            <a:ext cx="2993951" cy="870820"/>
          </a:xfrm>
          <a:prstGeom prst="wedgeEllipseCallout">
            <a:avLst>
              <a:gd name="adj1" fmla="val -30228"/>
              <a:gd name="adj2" fmla="val 11348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J’ai besoin d’être accompagné</a:t>
            </a:r>
          </a:p>
        </p:txBody>
      </p:sp>
      <p:sp>
        <p:nvSpPr>
          <p:cNvPr id="55" name="Bulle narrative : ronde 54">
            <a:extLst>
              <a:ext uri="{FF2B5EF4-FFF2-40B4-BE49-F238E27FC236}">
                <a16:creationId xmlns:a16="http://schemas.microsoft.com/office/drawing/2014/main" id="{73063B99-8526-4E5C-D46C-FE96C5D44BF6}"/>
              </a:ext>
            </a:extLst>
          </p:cNvPr>
          <p:cNvSpPr/>
          <p:nvPr/>
        </p:nvSpPr>
        <p:spPr>
          <a:xfrm>
            <a:off x="6905381" y="4209281"/>
            <a:ext cx="3596193" cy="1909788"/>
          </a:xfrm>
          <a:prstGeom prst="wedgeEllipseCallout">
            <a:avLst>
              <a:gd name="adj1" fmla="val 47211"/>
              <a:gd name="adj2" fmla="val -72529"/>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Et si on organisait des groupes d’intervision où chacun peut exposer son problème actuel et aider les autres ?</a:t>
            </a:r>
          </a:p>
        </p:txBody>
      </p:sp>
      <p:sp>
        <p:nvSpPr>
          <p:cNvPr id="18" name="Espace réservé du texte 15">
            <a:extLst>
              <a:ext uri="{FF2B5EF4-FFF2-40B4-BE49-F238E27FC236}">
                <a16:creationId xmlns:a16="http://schemas.microsoft.com/office/drawing/2014/main" id="{FE366B71-8191-9E18-91D6-AEADBC3C9907}"/>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Exemple #OSC </a:t>
            </a:r>
            <a:r>
              <a:rPr lang="fr-FR" sz="3200" b="1" i="1" dirty="0">
                <a:solidFill>
                  <a:srgbClr val="ED7D31"/>
                </a:solidFill>
              </a:rPr>
              <a:t>Change</a:t>
            </a:r>
            <a:r>
              <a:rPr lang="fr-FR" sz="3200" b="1" i="1" dirty="0"/>
              <a:t> </a:t>
            </a:r>
            <a:r>
              <a:rPr lang="fr-FR" sz="3200" b="1" i="1" dirty="0">
                <a:solidFill>
                  <a:srgbClr val="0683AA"/>
                </a:solidFill>
              </a:rPr>
              <a:t>Community</a:t>
            </a:r>
            <a:r>
              <a:rPr lang="fr-FR" sz="3200" b="1" i="1" dirty="0"/>
              <a:t> Cycle </a:t>
            </a:r>
            <a:r>
              <a:rPr lang="fr-FR" sz="3200" b="1" i="1" dirty="0">
                <a:solidFill>
                  <a:srgbClr val="0683AA"/>
                </a:solidFill>
              </a:rPr>
              <a:t>Model</a:t>
            </a:r>
          </a:p>
        </p:txBody>
      </p:sp>
      <p:sp>
        <p:nvSpPr>
          <p:cNvPr id="23" name="Bulle narrative : ronde 22">
            <a:extLst>
              <a:ext uri="{FF2B5EF4-FFF2-40B4-BE49-F238E27FC236}">
                <a16:creationId xmlns:a16="http://schemas.microsoft.com/office/drawing/2014/main" id="{96F48B03-7F19-35C0-5B40-A1F599DBF5CA}"/>
              </a:ext>
            </a:extLst>
          </p:cNvPr>
          <p:cNvSpPr/>
          <p:nvPr/>
        </p:nvSpPr>
        <p:spPr>
          <a:xfrm>
            <a:off x="4583001" y="1279403"/>
            <a:ext cx="5176186" cy="2975081"/>
          </a:xfrm>
          <a:prstGeom prst="wedgeEllipseCallout">
            <a:avLst>
              <a:gd name="adj1" fmla="val 68023"/>
              <a:gd name="adj2" fmla="val -10020"/>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Pratiquer dans un cadre maîtrisé permet de commencer, mais on ne fait pas face aux difficultés du réel.</a:t>
            </a:r>
          </a:p>
          <a:p>
            <a:pPr algn="ctr"/>
            <a:r>
              <a:rPr lang="fr-FR">
                <a:solidFill>
                  <a:schemeClr val="tx1"/>
                </a:solidFill>
              </a:rPr>
              <a:t> On peut alors faire des activités pour gérer le </a:t>
            </a:r>
            <a:r>
              <a:rPr lang="fr-FR" sz="1800" b="1">
                <a:solidFill>
                  <a:srgbClr val="ED7D31"/>
                </a:solidFill>
              </a:rPr>
              <a:t>CHOC DE LA RÉALITÉ. </a:t>
            </a:r>
            <a:r>
              <a:rPr lang="fr-FR" sz="1800">
                <a:solidFill>
                  <a:schemeClr val="tx1"/>
                </a:solidFill>
              </a:rPr>
              <a:t>Cela</a:t>
            </a:r>
            <a:r>
              <a:rPr lang="fr-FR">
                <a:solidFill>
                  <a:schemeClr val="tx1"/>
                </a:solidFill>
              </a:rPr>
              <a:t> permet aux membres de </a:t>
            </a:r>
            <a:r>
              <a:rPr lang="fr-FR" sz="1800" b="1">
                <a:solidFill>
                  <a:srgbClr val="0683AA"/>
                </a:solidFill>
              </a:rPr>
              <a:t>mettre en application en étant soutenus par la Communauté.</a:t>
            </a:r>
          </a:p>
        </p:txBody>
      </p:sp>
      <p:pic>
        <p:nvPicPr>
          <p:cNvPr id="22" name="Graphique 3" descr="Femme portant un tailleur">
            <a:extLst>
              <a:ext uri="{FF2B5EF4-FFF2-40B4-BE49-F238E27FC236}">
                <a16:creationId xmlns:a16="http://schemas.microsoft.com/office/drawing/2014/main" id="{FFF94D8B-EC5E-1853-870C-C64CA002B80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9531881" y="1636808"/>
            <a:ext cx="2507330" cy="5226467"/>
          </a:xfrm>
          <a:prstGeom prst="rect">
            <a:avLst/>
          </a:prstGeom>
        </p:spPr>
      </p:pic>
      <p:sp>
        <p:nvSpPr>
          <p:cNvPr id="2" name="Espace réservé du texte 15">
            <a:extLst>
              <a:ext uri="{FF2B5EF4-FFF2-40B4-BE49-F238E27FC236}">
                <a16:creationId xmlns:a16="http://schemas.microsoft.com/office/drawing/2014/main" id="{F6B94B4E-B558-6339-CA76-76372D8213AF}"/>
              </a:ext>
            </a:extLst>
          </p:cNvPr>
          <p:cNvSpPr txBox="1">
            <a:spLocks/>
          </p:cNvSpPr>
          <p:nvPr/>
        </p:nvSpPr>
        <p:spPr>
          <a:xfrm>
            <a:off x="10622061" y="968094"/>
            <a:ext cx="1298488" cy="4176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pic>
        <p:nvPicPr>
          <p:cNvPr id="6" name="Graphique 5" descr="Explosion avec un remplissage uni">
            <a:extLst>
              <a:ext uri="{FF2B5EF4-FFF2-40B4-BE49-F238E27FC236}">
                <a16:creationId xmlns:a16="http://schemas.microsoft.com/office/drawing/2014/main" id="{A3AB99AC-5DE8-F74E-093B-6C4B83FE8FB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02957" y="122757"/>
            <a:ext cx="736135" cy="770528"/>
          </a:xfrm>
          <a:prstGeom prst="rect">
            <a:avLst/>
          </a:prstGeom>
        </p:spPr>
      </p:pic>
    </p:spTree>
    <p:extLst>
      <p:ext uri="{BB962C8B-B14F-4D97-AF65-F5344CB8AC3E}">
        <p14:creationId xmlns:p14="http://schemas.microsoft.com/office/powerpoint/2010/main" val="33028152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e 56">
            <a:extLst>
              <a:ext uri="{FF2B5EF4-FFF2-40B4-BE49-F238E27FC236}">
                <a16:creationId xmlns:a16="http://schemas.microsoft.com/office/drawing/2014/main" id="{0AF6C26C-3F09-9D9B-3185-01C1F91F03E5}"/>
              </a:ext>
            </a:extLst>
          </p:cNvPr>
          <p:cNvGrpSpPr/>
          <p:nvPr/>
        </p:nvGrpSpPr>
        <p:grpSpPr>
          <a:xfrm>
            <a:off x="104342" y="4446868"/>
            <a:ext cx="3551321" cy="2539667"/>
            <a:chOff x="273518" y="3963501"/>
            <a:chExt cx="2642880" cy="1890012"/>
          </a:xfrm>
        </p:grpSpPr>
        <p:pic>
          <p:nvPicPr>
            <p:cNvPr id="58" name="Graphique 57" descr="Femme aux cheveux longs droits">
              <a:extLst>
                <a:ext uri="{FF2B5EF4-FFF2-40B4-BE49-F238E27FC236}">
                  <a16:creationId xmlns:a16="http://schemas.microsoft.com/office/drawing/2014/main" id="{677774D8-3199-B10C-75A7-4DBCC134F8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59" name="Groupe 58">
              <a:extLst>
                <a:ext uri="{FF2B5EF4-FFF2-40B4-BE49-F238E27FC236}">
                  <a16:creationId xmlns:a16="http://schemas.microsoft.com/office/drawing/2014/main" id="{504419BD-8ABF-8AA3-0248-6125B4618ACD}"/>
                </a:ext>
              </a:extLst>
            </p:cNvPr>
            <p:cNvGrpSpPr/>
            <p:nvPr/>
          </p:nvGrpSpPr>
          <p:grpSpPr>
            <a:xfrm flipH="1">
              <a:off x="273518" y="4342678"/>
              <a:ext cx="2642880" cy="1510835"/>
              <a:chOff x="5652412" y="4227751"/>
              <a:chExt cx="2038599" cy="1115126"/>
            </a:xfrm>
          </p:grpSpPr>
          <p:pic>
            <p:nvPicPr>
              <p:cNvPr id="61" name="Graphique 60" descr="Homme portant un dossier">
                <a:extLst>
                  <a:ext uri="{FF2B5EF4-FFF2-40B4-BE49-F238E27FC236}">
                    <a16:creationId xmlns:a16="http://schemas.microsoft.com/office/drawing/2014/main" id="{548AEA64-1C4A-662F-1E79-43FA0465A9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62" name="Graphique 61" descr="Homme âgé portant une veste">
                <a:extLst>
                  <a:ext uri="{FF2B5EF4-FFF2-40B4-BE49-F238E27FC236}">
                    <a16:creationId xmlns:a16="http://schemas.microsoft.com/office/drawing/2014/main" id="{83FC2AD6-73EF-5C15-08BA-C134F589057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63" name="Espace réservé pour une image  29" descr="Homme en polo">
                <a:extLst>
                  <a:ext uri="{FF2B5EF4-FFF2-40B4-BE49-F238E27FC236}">
                    <a16:creationId xmlns:a16="http://schemas.microsoft.com/office/drawing/2014/main" id="{A133B6B9-CA86-FF34-8503-FA51A3B513B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60" name="Graphique 59" descr="Un visage en conversation">
              <a:extLst>
                <a:ext uri="{FF2B5EF4-FFF2-40B4-BE49-F238E27FC236}">
                  <a16:creationId xmlns:a16="http://schemas.microsoft.com/office/drawing/2014/main" id="{6FC687B9-D097-6B63-38B7-42FABDE948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5" name="Bulle narrative : ronde 14">
            <a:extLst>
              <a:ext uri="{FF2B5EF4-FFF2-40B4-BE49-F238E27FC236}">
                <a16:creationId xmlns:a16="http://schemas.microsoft.com/office/drawing/2014/main" id="{1C127A1A-996B-8FFD-C776-AF2306198CB0}"/>
              </a:ext>
            </a:extLst>
          </p:cNvPr>
          <p:cNvSpPr/>
          <p:nvPr/>
        </p:nvSpPr>
        <p:spPr>
          <a:xfrm>
            <a:off x="82986" y="2073908"/>
            <a:ext cx="2286124" cy="1499982"/>
          </a:xfrm>
          <a:prstGeom prst="wedgeEllipseCallout">
            <a:avLst>
              <a:gd name="adj1" fmla="val 1615"/>
              <a:gd name="adj2" fmla="val 105989"/>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Maintenant qu’on a appliqué, comment capitaliser notre expérience ?</a:t>
            </a:r>
          </a:p>
        </p:txBody>
      </p:sp>
      <p:sp>
        <p:nvSpPr>
          <p:cNvPr id="16" name="Bulle narrative : ronde 15">
            <a:extLst>
              <a:ext uri="{FF2B5EF4-FFF2-40B4-BE49-F238E27FC236}">
                <a16:creationId xmlns:a16="http://schemas.microsoft.com/office/drawing/2014/main" id="{54ADD3E0-F9B3-6BD1-EC6F-5FBFDAA01A64}"/>
              </a:ext>
            </a:extLst>
          </p:cNvPr>
          <p:cNvSpPr/>
          <p:nvPr/>
        </p:nvSpPr>
        <p:spPr>
          <a:xfrm>
            <a:off x="3356821" y="4413438"/>
            <a:ext cx="3252763" cy="1020251"/>
          </a:xfrm>
          <a:prstGeom prst="wedgeEllipseCallout">
            <a:avLst>
              <a:gd name="adj1" fmla="val -48311"/>
              <a:gd name="adj2" fmla="val 6534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1"/>
                </a:solidFill>
              </a:rPr>
              <a:t>Quand on sera partis tout ce qu’on a pratiqué n’aura servi à rien.</a:t>
            </a:r>
          </a:p>
        </p:txBody>
      </p:sp>
      <p:sp>
        <p:nvSpPr>
          <p:cNvPr id="17" name="Bulle narrative : ronde 16">
            <a:extLst>
              <a:ext uri="{FF2B5EF4-FFF2-40B4-BE49-F238E27FC236}">
                <a16:creationId xmlns:a16="http://schemas.microsoft.com/office/drawing/2014/main" id="{B26D3DC6-F361-2F22-A795-F8B3C8582F01}"/>
              </a:ext>
            </a:extLst>
          </p:cNvPr>
          <p:cNvSpPr/>
          <p:nvPr/>
        </p:nvSpPr>
        <p:spPr>
          <a:xfrm>
            <a:off x="1631405" y="3630046"/>
            <a:ext cx="2993951" cy="870820"/>
          </a:xfrm>
          <a:prstGeom prst="wedgeEllipseCallout">
            <a:avLst>
              <a:gd name="adj1" fmla="val -30228"/>
              <a:gd name="adj2" fmla="val 11348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On pourrait mettre beaucoup de choses en commun</a:t>
            </a:r>
          </a:p>
        </p:txBody>
      </p:sp>
      <p:sp>
        <p:nvSpPr>
          <p:cNvPr id="55" name="Bulle narrative : ronde 54">
            <a:extLst>
              <a:ext uri="{FF2B5EF4-FFF2-40B4-BE49-F238E27FC236}">
                <a16:creationId xmlns:a16="http://schemas.microsoft.com/office/drawing/2014/main" id="{73063B99-8526-4E5C-D46C-FE96C5D44BF6}"/>
              </a:ext>
            </a:extLst>
          </p:cNvPr>
          <p:cNvSpPr/>
          <p:nvPr/>
        </p:nvSpPr>
        <p:spPr>
          <a:xfrm>
            <a:off x="6905381" y="4500865"/>
            <a:ext cx="3338005" cy="1618203"/>
          </a:xfrm>
          <a:prstGeom prst="wedgeEllipseCallout">
            <a:avLst>
              <a:gd name="adj1" fmla="val 55111"/>
              <a:gd name="adj2" fmla="val -72529"/>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Et si on écrivait un guide des bonnes pratiques de XYZ spécifique à notre entreprise ?</a:t>
            </a:r>
          </a:p>
        </p:txBody>
      </p:sp>
      <p:sp>
        <p:nvSpPr>
          <p:cNvPr id="18" name="Espace réservé du texte 15">
            <a:extLst>
              <a:ext uri="{FF2B5EF4-FFF2-40B4-BE49-F238E27FC236}">
                <a16:creationId xmlns:a16="http://schemas.microsoft.com/office/drawing/2014/main" id="{FE366B71-8191-9E18-91D6-AEADBC3C9907}"/>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Exemple #OSC </a:t>
            </a:r>
            <a:r>
              <a:rPr lang="fr-FR" sz="3200" b="1" i="1" dirty="0">
                <a:solidFill>
                  <a:srgbClr val="ED7D31"/>
                </a:solidFill>
              </a:rPr>
              <a:t>Change</a:t>
            </a:r>
            <a:r>
              <a:rPr lang="fr-FR" sz="3200" b="1" i="1" dirty="0"/>
              <a:t> </a:t>
            </a:r>
            <a:r>
              <a:rPr lang="fr-FR" sz="3200" b="1" i="1" dirty="0">
                <a:solidFill>
                  <a:srgbClr val="0683AA"/>
                </a:solidFill>
              </a:rPr>
              <a:t>Community</a:t>
            </a:r>
            <a:r>
              <a:rPr lang="fr-FR" sz="3200" b="1" i="1" dirty="0"/>
              <a:t> Cycle </a:t>
            </a:r>
            <a:r>
              <a:rPr lang="fr-FR" sz="3200" b="1" i="1" dirty="0">
                <a:solidFill>
                  <a:srgbClr val="0683AA"/>
                </a:solidFill>
              </a:rPr>
              <a:t>Model</a:t>
            </a:r>
          </a:p>
        </p:txBody>
      </p:sp>
      <p:sp>
        <p:nvSpPr>
          <p:cNvPr id="23" name="Bulle narrative : ronde 22">
            <a:extLst>
              <a:ext uri="{FF2B5EF4-FFF2-40B4-BE49-F238E27FC236}">
                <a16:creationId xmlns:a16="http://schemas.microsoft.com/office/drawing/2014/main" id="{96F48B03-7F19-35C0-5B40-A1F599DBF5CA}"/>
              </a:ext>
            </a:extLst>
          </p:cNvPr>
          <p:cNvSpPr/>
          <p:nvPr/>
        </p:nvSpPr>
        <p:spPr>
          <a:xfrm>
            <a:off x="3950564" y="1056443"/>
            <a:ext cx="6409677" cy="3390425"/>
          </a:xfrm>
          <a:prstGeom prst="wedgeEllipseCallout">
            <a:avLst>
              <a:gd name="adj1" fmla="val 56111"/>
              <a:gd name="adj2" fmla="val -14471"/>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Avoir réussi à mettre en application dans le quotidien est un premier pas, mais insuffisant pour développer de bonnes habitudes qui durent.</a:t>
            </a:r>
          </a:p>
          <a:p>
            <a:pPr algn="ctr"/>
            <a:r>
              <a:rPr lang="fr-FR">
                <a:solidFill>
                  <a:schemeClr val="tx1"/>
                </a:solidFill>
              </a:rPr>
              <a:t>  </a:t>
            </a:r>
          </a:p>
          <a:p>
            <a:pPr algn="ctr"/>
            <a:r>
              <a:rPr lang="fr-FR">
                <a:solidFill>
                  <a:schemeClr val="tx1"/>
                </a:solidFill>
              </a:rPr>
              <a:t>On peut alors faire des activités de </a:t>
            </a:r>
            <a:r>
              <a:rPr lang="fr-FR" sz="1800" b="1">
                <a:solidFill>
                  <a:srgbClr val="ED7D31"/>
                </a:solidFill>
              </a:rPr>
              <a:t>CONFIRMATION DES RÉUSSITES. </a:t>
            </a:r>
            <a:r>
              <a:rPr lang="fr-FR" sz="1800">
                <a:solidFill>
                  <a:schemeClr val="tx1"/>
                </a:solidFill>
              </a:rPr>
              <a:t>Cela</a:t>
            </a:r>
            <a:r>
              <a:rPr lang="fr-FR">
                <a:solidFill>
                  <a:schemeClr val="tx1"/>
                </a:solidFill>
              </a:rPr>
              <a:t> permet aux membres de </a:t>
            </a:r>
            <a:r>
              <a:rPr lang="fr-FR" sz="1800" b="1">
                <a:solidFill>
                  <a:srgbClr val="0683AA"/>
                </a:solidFill>
              </a:rPr>
              <a:t>renforcer une pratique sans avoir à tout recommencer pour les nouveaux.</a:t>
            </a:r>
          </a:p>
        </p:txBody>
      </p:sp>
      <p:pic>
        <p:nvPicPr>
          <p:cNvPr id="22" name="Graphique 3" descr="Femme portant un tailleur">
            <a:extLst>
              <a:ext uri="{FF2B5EF4-FFF2-40B4-BE49-F238E27FC236}">
                <a16:creationId xmlns:a16="http://schemas.microsoft.com/office/drawing/2014/main" id="{FFF94D8B-EC5E-1853-870C-C64CA002B80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9531881" y="1636808"/>
            <a:ext cx="2507330" cy="5226467"/>
          </a:xfrm>
          <a:prstGeom prst="rect">
            <a:avLst/>
          </a:prstGeom>
        </p:spPr>
      </p:pic>
      <p:sp>
        <p:nvSpPr>
          <p:cNvPr id="2" name="Espace réservé du texte 15">
            <a:extLst>
              <a:ext uri="{FF2B5EF4-FFF2-40B4-BE49-F238E27FC236}">
                <a16:creationId xmlns:a16="http://schemas.microsoft.com/office/drawing/2014/main" id="{530DF26B-529B-6D95-0025-75CA2A7B6D9A}"/>
              </a:ext>
            </a:extLst>
          </p:cNvPr>
          <p:cNvSpPr txBox="1">
            <a:spLocks/>
          </p:cNvSpPr>
          <p:nvPr/>
        </p:nvSpPr>
        <p:spPr>
          <a:xfrm>
            <a:off x="10619960" y="968094"/>
            <a:ext cx="1298488" cy="4176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pic>
        <p:nvPicPr>
          <p:cNvPr id="5" name="Graphique 4" descr="Trophée avec un remplissage uni">
            <a:extLst>
              <a:ext uri="{FF2B5EF4-FFF2-40B4-BE49-F238E27FC236}">
                <a16:creationId xmlns:a16="http://schemas.microsoft.com/office/drawing/2014/main" id="{9B81B9A9-AD40-74BA-D96A-66186F23E56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02957" y="122757"/>
            <a:ext cx="736135" cy="770528"/>
          </a:xfrm>
          <a:prstGeom prst="rect">
            <a:avLst/>
          </a:prstGeom>
        </p:spPr>
      </p:pic>
    </p:spTree>
    <p:extLst>
      <p:ext uri="{BB962C8B-B14F-4D97-AF65-F5344CB8AC3E}">
        <p14:creationId xmlns:p14="http://schemas.microsoft.com/office/powerpoint/2010/main" val="28239039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e 56">
            <a:extLst>
              <a:ext uri="{FF2B5EF4-FFF2-40B4-BE49-F238E27FC236}">
                <a16:creationId xmlns:a16="http://schemas.microsoft.com/office/drawing/2014/main" id="{0AF6C26C-3F09-9D9B-3185-01C1F91F03E5}"/>
              </a:ext>
            </a:extLst>
          </p:cNvPr>
          <p:cNvGrpSpPr/>
          <p:nvPr/>
        </p:nvGrpSpPr>
        <p:grpSpPr>
          <a:xfrm>
            <a:off x="104342" y="4446868"/>
            <a:ext cx="3551321" cy="2539667"/>
            <a:chOff x="273518" y="3963501"/>
            <a:chExt cx="2642880" cy="1890012"/>
          </a:xfrm>
        </p:grpSpPr>
        <p:pic>
          <p:nvPicPr>
            <p:cNvPr id="58" name="Graphique 57" descr="Femme aux cheveux longs droits">
              <a:extLst>
                <a:ext uri="{FF2B5EF4-FFF2-40B4-BE49-F238E27FC236}">
                  <a16:creationId xmlns:a16="http://schemas.microsoft.com/office/drawing/2014/main" id="{677774D8-3199-B10C-75A7-4DBCC134F8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59" name="Groupe 58">
              <a:extLst>
                <a:ext uri="{FF2B5EF4-FFF2-40B4-BE49-F238E27FC236}">
                  <a16:creationId xmlns:a16="http://schemas.microsoft.com/office/drawing/2014/main" id="{504419BD-8ABF-8AA3-0248-6125B4618ACD}"/>
                </a:ext>
              </a:extLst>
            </p:cNvPr>
            <p:cNvGrpSpPr/>
            <p:nvPr/>
          </p:nvGrpSpPr>
          <p:grpSpPr>
            <a:xfrm flipH="1">
              <a:off x="273518" y="4342678"/>
              <a:ext cx="2642880" cy="1510835"/>
              <a:chOff x="5652412" y="4227751"/>
              <a:chExt cx="2038599" cy="1115126"/>
            </a:xfrm>
          </p:grpSpPr>
          <p:pic>
            <p:nvPicPr>
              <p:cNvPr id="61" name="Graphique 60" descr="Homme portant un dossier">
                <a:extLst>
                  <a:ext uri="{FF2B5EF4-FFF2-40B4-BE49-F238E27FC236}">
                    <a16:creationId xmlns:a16="http://schemas.microsoft.com/office/drawing/2014/main" id="{548AEA64-1C4A-662F-1E79-43FA0465A9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62" name="Graphique 61" descr="Homme âgé portant une veste">
                <a:extLst>
                  <a:ext uri="{FF2B5EF4-FFF2-40B4-BE49-F238E27FC236}">
                    <a16:creationId xmlns:a16="http://schemas.microsoft.com/office/drawing/2014/main" id="{83FC2AD6-73EF-5C15-08BA-C134F589057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63" name="Espace réservé pour une image  29" descr="Homme en polo">
                <a:extLst>
                  <a:ext uri="{FF2B5EF4-FFF2-40B4-BE49-F238E27FC236}">
                    <a16:creationId xmlns:a16="http://schemas.microsoft.com/office/drawing/2014/main" id="{A133B6B9-CA86-FF34-8503-FA51A3B513B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60" name="Graphique 59" descr="Un visage en conversation">
              <a:extLst>
                <a:ext uri="{FF2B5EF4-FFF2-40B4-BE49-F238E27FC236}">
                  <a16:creationId xmlns:a16="http://schemas.microsoft.com/office/drawing/2014/main" id="{6FC687B9-D097-6B63-38B7-42FABDE948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5" name="Bulle narrative : ronde 14">
            <a:extLst>
              <a:ext uri="{FF2B5EF4-FFF2-40B4-BE49-F238E27FC236}">
                <a16:creationId xmlns:a16="http://schemas.microsoft.com/office/drawing/2014/main" id="{1C127A1A-996B-8FFD-C776-AF2306198CB0}"/>
              </a:ext>
            </a:extLst>
          </p:cNvPr>
          <p:cNvSpPr/>
          <p:nvPr/>
        </p:nvSpPr>
        <p:spPr>
          <a:xfrm>
            <a:off x="82986" y="2073908"/>
            <a:ext cx="2286124" cy="1499982"/>
          </a:xfrm>
          <a:prstGeom prst="wedgeEllipseCallout">
            <a:avLst>
              <a:gd name="adj1" fmla="val 1615"/>
              <a:gd name="adj2" fmla="val 105989"/>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Comment cela va se passer pour les autres ? Et les nouveaux ?</a:t>
            </a:r>
          </a:p>
        </p:txBody>
      </p:sp>
      <p:sp>
        <p:nvSpPr>
          <p:cNvPr id="16" name="Bulle narrative : ronde 15">
            <a:extLst>
              <a:ext uri="{FF2B5EF4-FFF2-40B4-BE49-F238E27FC236}">
                <a16:creationId xmlns:a16="http://schemas.microsoft.com/office/drawing/2014/main" id="{54ADD3E0-F9B3-6BD1-EC6F-5FBFDAA01A64}"/>
              </a:ext>
            </a:extLst>
          </p:cNvPr>
          <p:cNvSpPr/>
          <p:nvPr/>
        </p:nvSpPr>
        <p:spPr>
          <a:xfrm>
            <a:off x="3356821" y="4413438"/>
            <a:ext cx="3252763" cy="1020251"/>
          </a:xfrm>
          <a:prstGeom prst="wedgeEllipseCallout">
            <a:avLst>
              <a:gd name="adj1" fmla="val -48311"/>
              <a:gd name="adj2" fmla="val 6534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1"/>
                </a:solidFill>
              </a:rPr>
              <a:t>Le changement s’est bien déroulé pour nous, mais ce sera difficile ailleurs dans l’entreprise</a:t>
            </a:r>
          </a:p>
        </p:txBody>
      </p:sp>
      <p:sp>
        <p:nvSpPr>
          <p:cNvPr id="17" name="Bulle narrative : ronde 16">
            <a:extLst>
              <a:ext uri="{FF2B5EF4-FFF2-40B4-BE49-F238E27FC236}">
                <a16:creationId xmlns:a16="http://schemas.microsoft.com/office/drawing/2014/main" id="{B26D3DC6-F361-2F22-A795-F8B3C8582F01}"/>
              </a:ext>
            </a:extLst>
          </p:cNvPr>
          <p:cNvSpPr/>
          <p:nvPr/>
        </p:nvSpPr>
        <p:spPr>
          <a:xfrm>
            <a:off x="1631405" y="3630046"/>
            <a:ext cx="2993951" cy="870820"/>
          </a:xfrm>
          <a:prstGeom prst="wedgeEllipseCallout">
            <a:avLst>
              <a:gd name="adj1" fmla="val -30228"/>
              <a:gd name="adj2" fmla="val 11348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Je peux partager ce que j’ai vécu à d’autres</a:t>
            </a:r>
          </a:p>
        </p:txBody>
      </p:sp>
      <p:sp>
        <p:nvSpPr>
          <p:cNvPr id="55" name="Bulle narrative : ronde 54">
            <a:extLst>
              <a:ext uri="{FF2B5EF4-FFF2-40B4-BE49-F238E27FC236}">
                <a16:creationId xmlns:a16="http://schemas.microsoft.com/office/drawing/2014/main" id="{73063B99-8526-4E5C-D46C-FE96C5D44BF6}"/>
              </a:ext>
            </a:extLst>
          </p:cNvPr>
          <p:cNvSpPr/>
          <p:nvPr/>
        </p:nvSpPr>
        <p:spPr>
          <a:xfrm>
            <a:off x="6905381" y="4209281"/>
            <a:ext cx="3907622" cy="1909788"/>
          </a:xfrm>
          <a:prstGeom prst="wedgeEllipseCallout">
            <a:avLst>
              <a:gd name="adj1" fmla="val 39884"/>
              <a:gd name="adj2" fmla="val -70670"/>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Et si on créait une offre de service où notre Communauté peut accompagner des équipes qui souhaitent se lancer ?</a:t>
            </a:r>
          </a:p>
        </p:txBody>
      </p:sp>
      <p:sp>
        <p:nvSpPr>
          <p:cNvPr id="18" name="Espace réservé du texte 15">
            <a:extLst>
              <a:ext uri="{FF2B5EF4-FFF2-40B4-BE49-F238E27FC236}">
                <a16:creationId xmlns:a16="http://schemas.microsoft.com/office/drawing/2014/main" id="{FE366B71-8191-9E18-91D6-AEADBC3C9907}"/>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Exemple #OSC </a:t>
            </a:r>
            <a:r>
              <a:rPr lang="fr-FR" sz="3200" b="1" i="1" dirty="0">
                <a:solidFill>
                  <a:srgbClr val="ED7D31"/>
                </a:solidFill>
              </a:rPr>
              <a:t>Change</a:t>
            </a:r>
            <a:r>
              <a:rPr lang="fr-FR" sz="3200" b="1" i="1" dirty="0"/>
              <a:t> </a:t>
            </a:r>
            <a:r>
              <a:rPr lang="fr-FR" sz="3200" b="1" i="1" dirty="0">
                <a:solidFill>
                  <a:srgbClr val="0683AA"/>
                </a:solidFill>
              </a:rPr>
              <a:t>Community</a:t>
            </a:r>
            <a:r>
              <a:rPr lang="fr-FR" sz="3200" b="1" i="1" dirty="0"/>
              <a:t> Cycle </a:t>
            </a:r>
            <a:r>
              <a:rPr lang="fr-FR" sz="3200" b="1" i="1" dirty="0">
                <a:solidFill>
                  <a:srgbClr val="0683AA"/>
                </a:solidFill>
              </a:rPr>
              <a:t>Model</a:t>
            </a:r>
          </a:p>
        </p:txBody>
      </p:sp>
      <p:sp>
        <p:nvSpPr>
          <p:cNvPr id="23" name="Bulle narrative : ronde 22">
            <a:extLst>
              <a:ext uri="{FF2B5EF4-FFF2-40B4-BE49-F238E27FC236}">
                <a16:creationId xmlns:a16="http://schemas.microsoft.com/office/drawing/2014/main" id="{96F48B03-7F19-35C0-5B40-A1F599DBF5CA}"/>
              </a:ext>
            </a:extLst>
          </p:cNvPr>
          <p:cNvSpPr/>
          <p:nvPr/>
        </p:nvSpPr>
        <p:spPr>
          <a:xfrm>
            <a:off x="4065974" y="1020933"/>
            <a:ext cx="5861890" cy="2936991"/>
          </a:xfrm>
          <a:prstGeom prst="wedgeEllipseCallout">
            <a:avLst>
              <a:gd name="adj1" fmla="val 62571"/>
              <a:gd name="adj2" fmla="val -625"/>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Avoir réussi sur une communauté est bon signe, mais cela ne veut pas dire que le changement va se propager au-delà.</a:t>
            </a:r>
          </a:p>
          <a:p>
            <a:pPr algn="ctr"/>
            <a:endParaRPr lang="fr-FR">
              <a:solidFill>
                <a:schemeClr val="tx1"/>
              </a:solidFill>
            </a:endParaRPr>
          </a:p>
          <a:p>
            <a:pPr algn="ctr"/>
            <a:r>
              <a:rPr lang="fr-FR">
                <a:solidFill>
                  <a:schemeClr val="tx1"/>
                </a:solidFill>
              </a:rPr>
              <a:t>On peut alors faire des activités d’</a:t>
            </a:r>
            <a:r>
              <a:rPr lang="fr-FR" sz="1800" b="1">
                <a:solidFill>
                  <a:srgbClr val="ED7D31"/>
                </a:solidFill>
              </a:rPr>
              <a:t>EXPOSITION. </a:t>
            </a:r>
            <a:r>
              <a:rPr lang="fr-FR" sz="1800">
                <a:solidFill>
                  <a:schemeClr val="tx1"/>
                </a:solidFill>
              </a:rPr>
              <a:t>Cela</a:t>
            </a:r>
            <a:r>
              <a:rPr lang="fr-FR">
                <a:solidFill>
                  <a:schemeClr val="tx1"/>
                </a:solidFill>
              </a:rPr>
              <a:t> permet de </a:t>
            </a:r>
            <a:r>
              <a:rPr lang="fr-FR" sz="1800" b="1">
                <a:solidFill>
                  <a:srgbClr val="0683AA"/>
                </a:solidFill>
              </a:rPr>
              <a:t>capitaliser l’expérience de la communauté au-delà de son périmètr</a:t>
            </a:r>
            <a:r>
              <a:rPr lang="fr-FR" b="1">
                <a:solidFill>
                  <a:srgbClr val="0683AA"/>
                </a:solidFill>
              </a:rPr>
              <a:t>e initial</a:t>
            </a:r>
            <a:r>
              <a:rPr lang="fr-FR" sz="1800" b="1">
                <a:solidFill>
                  <a:srgbClr val="0683AA"/>
                </a:solidFill>
              </a:rPr>
              <a:t>.</a:t>
            </a:r>
          </a:p>
        </p:txBody>
      </p:sp>
      <p:pic>
        <p:nvPicPr>
          <p:cNvPr id="22" name="Graphique 3" descr="Femme portant un tailleur">
            <a:extLst>
              <a:ext uri="{FF2B5EF4-FFF2-40B4-BE49-F238E27FC236}">
                <a16:creationId xmlns:a16="http://schemas.microsoft.com/office/drawing/2014/main" id="{FFF94D8B-EC5E-1853-870C-C64CA002B80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9531881" y="1636808"/>
            <a:ext cx="2507330" cy="5226467"/>
          </a:xfrm>
          <a:prstGeom prst="rect">
            <a:avLst/>
          </a:prstGeom>
        </p:spPr>
      </p:pic>
      <p:sp>
        <p:nvSpPr>
          <p:cNvPr id="2" name="Espace réservé du texte 15">
            <a:extLst>
              <a:ext uri="{FF2B5EF4-FFF2-40B4-BE49-F238E27FC236}">
                <a16:creationId xmlns:a16="http://schemas.microsoft.com/office/drawing/2014/main" id="{2B5A4542-1B2A-61E1-E1A9-085861686FC2}"/>
              </a:ext>
            </a:extLst>
          </p:cNvPr>
          <p:cNvSpPr txBox="1">
            <a:spLocks/>
          </p:cNvSpPr>
          <p:nvPr/>
        </p:nvSpPr>
        <p:spPr>
          <a:xfrm>
            <a:off x="10622342" y="954465"/>
            <a:ext cx="1298488" cy="4176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pic>
        <p:nvPicPr>
          <p:cNvPr id="4" name="Graphique 3" descr="Assiette couverte avec un remplissage uni">
            <a:extLst>
              <a:ext uri="{FF2B5EF4-FFF2-40B4-BE49-F238E27FC236}">
                <a16:creationId xmlns:a16="http://schemas.microsoft.com/office/drawing/2014/main" id="{E7302CE1-CF6D-F1AE-3E05-A0D9196BF6F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02957" y="109128"/>
            <a:ext cx="736135" cy="770528"/>
          </a:xfrm>
          <a:prstGeom prst="rect">
            <a:avLst/>
          </a:prstGeom>
        </p:spPr>
      </p:pic>
    </p:spTree>
    <p:extLst>
      <p:ext uri="{BB962C8B-B14F-4D97-AF65-F5344CB8AC3E}">
        <p14:creationId xmlns:p14="http://schemas.microsoft.com/office/powerpoint/2010/main" val="39698509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e 56">
            <a:extLst>
              <a:ext uri="{FF2B5EF4-FFF2-40B4-BE49-F238E27FC236}">
                <a16:creationId xmlns:a16="http://schemas.microsoft.com/office/drawing/2014/main" id="{0AF6C26C-3F09-9D9B-3185-01C1F91F03E5}"/>
              </a:ext>
            </a:extLst>
          </p:cNvPr>
          <p:cNvGrpSpPr/>
          <p:nvPr/>
        </p:nvGrpSpPr>
        <p:grpSpPr>
          <a:xfrm>
            <a:off x="104342" y="4446868"/>
            <a:ext cx="3551321" cy="2539667"/>
            <a:chOff x="273518" y="3963501"/>
            <a:chExt cx="2642880" cy="1890012"/>
          </a:xfrm>
        </p:grpSpPr>
        <p:pic>
          <p:nvPicPr>
            <p:cNvPr id="58" name="Graphique 57" descr="Femme aux cheveux longs droits">
              <a:extLst>
                <a:ext uri="{FF2B5EF4-FFF2-40B4-BE49-F238E27FC236}">
                  <a16:creationId xmlns:a16="http://schemas.microsoft.com/office/drawing/2014/main" id="{677774D8-3199-B10C-75A7-4DBCC134F8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504" y="3963501"/>
              <a:ext cx="720449" cy="758367"/>
            </a:xfrm>
            <a:prstGeom prst="rect">
              <a:avLst/>
            </a:prstGeom>
          </p:spPr>
        </p:pic>
        <p:grpSp>
          <p:nvGrpSpPr>
            <p:cNvPr id="59" name="Groupe 58">
              <a:extLst>
                <a:ext uri="{FF2B5EF4-FFF2-40B4-BE49-F238E27FC236}">
                  <a16:creationId xmlns:a16="http://schemas.microsoft.com/office/drawing/2014/main" id="{504419BD-8ABF-8AA3-0248-6125B4618ACD}"/>
                </a:ext>
              </a:extLst>
            </p:cNvPr>
            <p:cNvGrpSpPr/>
            <p:nvPr/>
          </p:nvGrpSpPr>
          <p:grpSpPr>
            <a:xfrm flipH="1">
              <a:off x="273518" y="4342678"/>
              <a:ext cx="2642880" cy="1510835"/>
              <a:chOff x="5652412" y="4227751"/>
              <a:chExt cx="2038599" cy="1115126"/>
            </a:xfrm>
          </p:grpSpPr>
          <p:pic>
            <p:nvPicPr>
              <p:cNvPr id="61" name="Graphique 60" descr="Homme portant un dossier">
                <a:extLst>
                  <a:ext uri="{FF2B5EF4-FFF2-40B4-BE49-F238E27FC236}">
                    <a16:creationId xmlns:a16="http://schemas.microsoft.com/office/drawing/2014/main" id="{548AEA64-1C4A-662F-1E79-43FA0465A9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459171" y="4379512"/>
                <a:ext cx="1231840" cy="963365"/>
              </a:xfrm>
              <a:prstGeom prst="rect">
                <a:avLst/>
              </a:prstGeom>
            </p:spPr>
          </p:pic>
          <p:pic>
            <p:nvPicPr>
              <p:cNvPr id="62" name="Graphique 61" descr="Homme âgé portant une veste">
                <a:extLst>
                  <a:ext uri="{FF2B5EF4-FFF2-40B4-BE49-F238E27FC236}">
                    <a16:creationId xmlns:a16="http://schemas.microsoft.com/office/drawing/2014/main" id="{83FC2AD6-73EF-5C15-08BA-C134F589057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flipH="1">
                <a:off x="5652412" y="4227751"/>
                <a:ext cx="990457" cy="1072714"/>
              </a:xfrm>
              <a:prstGeom prst="rect">
                <a:avLst/>
              </a:prstGeom>
            </p:spPr>
          </p:pic>
          <p:pic>
            <p:nvPicPr>
              <p:cNvPr id="63" name="Espace réservé pour une image  29" descr="Homme en polo">
                <a:extLst>
                  <a:ext uri="{FF2B5EF4-FFF2-40B4-BE49-F238E27FC236}">
                    <a16:creationId xmlns:a16="http://schemas.microsoft.com/office/drawing/2014/main" id="{A133B6B9-CA86-FF34-8503-FA51A3B513B7}"/>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flipH="1">
                <a:off x="5993758" y="4357866"/>
                <a:ext cx="1135554" cy="960631"/>
              </a:xfrm>
              <a:prstGeom prst="rect">
                <a:avLst/>
              </a:prstGeom>
            </p:spPr>
          </p:pic>
        </p:grpSp>
        <p:pic>
          <p:nvPicPr>
            <p:cNvPr id="60" name="Graphique 59" descr="Un visage en conversation">
              <a:extLst>
                <a:ext uri="{FF2B5EF4-FFF2-40B4-BE49-F238E27FC236}">
                  <a16:creationId xmlns:a16="http://schemas.microsoft.com/office/drawing/2014/main" id="{6FC687B9-D097-6B63-38B7-42FABDE948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26327" y="4204295"/>
              <a:ext cx="312174" cy="370706"/>
            </a:xfrm>
            <a:prstGeom prst="rect">
              <a:avLst/>
            </a:prstGeom>
          </p:spPr>
        </p:pic>
      </p:grpSp>
      <p:sp>
        <p:nvSpPr>
          <p:cNvPr id="15" name="Bulle narrative : ronde 14">
            <a:extLst>
              <a:ext uri="{FF2B5EF4-FFF2-40B4-BE49-F238E27FC236}">
                <a16:creationId xmlns:a16="http://schemas.microsoft.com/office/drawing/2014/main" id="{1C127A1A-996B-8FFD-C776-AF2306198CB0}"/>
              </a:ext>
            </a:extLst>
          </p:cNvPr>
          <p:cNvSpPr/>
          <p:nvPr/>
        </p:nvSpPr>
        <p:spPr>
          <a:xfrm>
            <a:off x="82986" y="2073908"/>
            <a:ext cx="2286124" cy="1499982"/>
          </a:xfrm>
          <a:prstGeom prst="wedgeEllipseCallout">
            <a:avLst>
              <a:gd name="adj1" fmla="val 1615"/>
              <a:gd name="adj2" fmla="val 105989"/>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Comment rendre l’usage de XYZ systématique et plus officiel ? </a:t>
            </a:r>
          </a:p>
        </p:txBody>
      </p:sp>
      <p:sp>
        <p:nvSpPr>
          <p:cNvPr id="16" name="Bulle narrative : ronde 15">
            <a:extLst>
              <a:ext uri="{FF2B5EF4-FFF2-40B4-BE49-F238E27FC236}">
                <a16:creationId xmlns:a16="http://schemas.microsoft.com/office/drawing/2014/main" id="{54ADD3E0-F9B3-6BD1-EC6F-5FBFDAA01A64}"/>
              </a:ext>
            </a:extLst>
          </p:cNvPr>
          <p:cNvSpPr/>
          <p:nvPr/>
        </p:nvSpPr>
        <p:spPr>
          <a:xfrm>
            <a:off x="3356821" y="4413438"/>
            <a:ext cx="3252763" cy="1020251"/>
          </a:xfrm>
          <a:prstGeom prst="wedgeEllipseCallout">
            <a:avLst>
              <a:gd name="adj1" fmla="val -48311"/>
              <a:gd name="adj2" fmla="val 6534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a:solidFill>
                  <a:schemeClr val="tx1"/>
                </a:solidFill>
              </a:rPr>
              <a:t>Ça va toujours devoir reposer sur nous pour XYZ.</a:t>
            </a:r>
          </a:p>
        </p:txBody>
      </p:sp>
      <p:sp>
        <p:nvSpPr>
          <p:cNvPr id="17" name="Bulle narrative : ronde 16">
            <a:extLst>
              <a:ext uri="{FF2B5EF4-FFF2-40B4-BE49-F238E27FC236}">
                <a16:creationId xmlns:a16="http://schemas.microsoft.com/office/drawing/2014/main" id="{B26D3DC6-F361-2F22-A795-F8B3C8582F01}"/>
              </a:ext>
            </a:extLst>
          </p:cNvPr>
          <p:cNvSpPr/>
          <p:nvPr/>
        </p:nvSpPr>
        <p:spPr>
          <a:xfrm>
            <a:off x="1631405" y="3630046"/>
            <a:ext cx="2993951" cy="870820"/>
          </a:xfrm>
          <a:prstGeom prst="wedgeEllipseCallout">
            <a:avLst>
              <a:gd name="adj1" fmla="val -30228"/>
              <a:gd name="adj2" fmla="val 113488"/>
            </a:avLst>
          </a:prstGeom>
          <a:noFill/>
          <a:ln w="3810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Je peux maintenant aider à cadrer ce sujet </a:t>
            </a:r>
          </a:p>
        </p:txBody>
      </p:sp>
      <p:sp>
        <p:nvSpPr>
          <p:cNvPr id="55" name="Bulle narrative : ronde 54">
            <a:extLst>
              <a:ext uri="{FF2B5EF4-FFF2-40B4-BE49-F238E27FC236}">
                <a16:creationId xmlns:a16="http://schemas.microsoft.com/office/drawing/2014/main" id="{73063B99-8526-4E5C-D46C-FE96C5D44BF6}"/>
              </a:ext>
            </a:extLst>
          </p:cNvPr>
          <p:cNvSpPr/>
          <p:nvPr/>
        </p:nvSpPr>
        <p:spPr>
          <a:xfrm>
            <a:off x="6905381" y="4209281"/>
            <a:ext cx="3338005" cy="1909788"/>
          </a:xfrm>
          <a:prstGeom prst="wedgeEllipseCallout">
            <a:avLst>
              <a:gd name="adj1" fmla="val 55111"/>
              <a:gd name="adj2" fmla="val -72529"/>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Et si on participait à la mise à jour des fiches de recrutement et au passage d’entretiens sur le sujet XYZ ?</a:t>
            </a:r>
          </a:p>
        </p:txBody>
      </p:sp>
      <p:sp>
        <p:nvSpPr>
          <p:cNvPr id="18" name="Espace réservé du texte 15">
            <a:extLst>
              <a:ext uri="{FF2B5EF4-FFF2-40B4-BE49-F238E27FC236}">
                <a16:creationId xmlns:a16="http://schemas.microsoft.com/office/drawing/2014/main" id="{FE366B71-8191-9E18-91D6-AEADBC3C9907}"/>
              </a:ext>
            </a:extLst>
          </p:cNvPr>
          <p:cNvSpPr txBox="1">
            <a:spLocks/>
          </p:cNvSpPr>
          <p:nvPr/>
        </p:nvSpPr>
        <p:spPr>
          <a:xfrm>
            <a:off x="920975" y="60142"/>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Exemple #OSC </a:t>
            </a:r>
            <a:r>
              <a:rPr lang="fr-FR" sz="3200" b="1" i="1" dirty="0">
                <a:solidFill>
                  <a:srgbClr val="ED7D31"/>
                </a:solidFill>
              </a:rPr>
              <a:t>Change</a:t>
            </a:r>
            <a:r>
              <a:rPr lang="fr-FR" sz="3200" b="1" i="1" dirty="0"/>
              <a:t> </a:t>
            </a:r>
            <a:r>
              <a:rPr lang="fr-FR" sz="3200" b="1" i="1" dirty="0">
                <a:solidFill>
                  <a:srgbClr val="0683AA"/>
                </a:solidFill>
              </a:rPr>
              <a:t>Community</a:t>
            </a:r>
            <a:r>
              <a:rPr lang="fr-FR" sz="3200" b="1" i="1" dirty="0"/>
              <a:t> Cycle </a:t>
            </a:r>
            <a:r>
              <a:rPr lang="fr-FR" sz="3200" b="1" i="1" dirty="0">
                <a:solidFill>
                  <a:srgbClr val="0683AA"/>
                </a:solidFill>
              </a:rPr>
              <a:t>Model</a:t>
            </a:r>
          </a:p>
        </p:txBody>
      </p:sp>
      <p:sp>
        <p:nvSpPr>
          <p:cNvPr id="23" name="Bulle narrative : ronde 22">
            <a:extLst>
              <a:ext uri="{FF2B5EF4-FFF2-40B4-BE49-F238E27FC236}">
                <a16:creationId xmlns:a16="http://schemas.microsoft.com/office/drawing/2014/main" id="{96F48B03-7F19-35C0-5B40-A1F599DBF5CA}"/>
              </a:ext>
            </a:extLst>
          </p:cNvPr>
          <p:cNvSpPr/>
          <p:nvPr/>
        </p:nvSpPr>
        <p:spPr>
          <a:xfrm>
            <a:off x="3897297" y="1190626"/>
            <a:ext cx="5861890" cy="2975081"/>
          </a:xfrm>
          <a:prstGeom prst="wedgeEllipseCallout">
            <a:avLst>
              <a:gd name="adj1" fmla="val 65146"/>
              <a:gd name="adj2" fmla="val -10318"/>
            </a:avLst>
          </a:prstGeom>
          <a:noFill/>
          <a:ln w="38100">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Un changement soutenu par une communauté a de plus grandes chances de réussir, mais </a:t>
            </a:r>
            <a:r>
              <a:rPr lang="fr-FR">
                <a:solidFill>
                  <a:schemeClr val="tx1"/>
                </a:solidFill>
                <a:ea typeface="+mn-lt"/>
                <a:cs typeface="+mn-lt"/>
              </a:rPr>
              <a:t>il en faut plus </a:t>
            </a:r>
            <a:r>
              <a:rPr lang="fr-FR">
                <a:solidFill>
                  <a:schemeClr val="tx1"/>
                </a:solidFill>
              </a:rPr>
              <a:t>pour le rentrer dans les mœurs.</a:t>
            </a:r>
          </a:p>
          <a:p>
            <a:pPr algn="ctr"/>
            <a:endParaRPr lang="fr-FR">
              <a:solidFill>
                <a:schemeClr val="tx1"/>
              </a:solidFill>
            </a:endParaRPr>
          </a:p>
          <a:p>
            <a:pPr algn="ctr"/>
            <a:r>
              <a:rPr lang="fr-FR">
                <a:solidFill>
                  <a:schemeClr val="tx1"/>
                </a:solidFill>
              </a:rPr>
              <a:t>On peut alors faire des activités de </a:t>
            </a:r>
            <a:r>
              <a:rPr lang="fr-FR" sz="1800" b="1">
                <a:solidFill>
                  <a:srgbClr val="ED7D31"/>
                </a:solidFill>
              </a:rPr>
              <a:t>FORTIFICATION. </a:t>
            </a:r>
            <a:r>
              <a:rPr lang="fr-FR" sz="1800">
                <a:solidFill>
                  <a:schemeClr val="tx1"/>
                </a:solidFill>
              </a:rPr>
              <a:t>Cela</a:t>
            </a:r>
            <a:r>
              <a:rPr lang="fr-FR">
                <a:solidFill>
                  <a:schemeClr val="tx1"/>
                </a:solidFill>
              </a:rPr>
              <a:t> permet d’</a:t>
            </a:r>
            <a:r>
              <a:rPr lang="fr-FR" sz="1800" b="1">
                <a:solidFill>
                  <a:srgbClr val="0683AA"/>
                </a:solidFill>
              </a:rPr>
              <a:t>officialiser et de cadrer des règles à l’aide de l’expérience communautaire.</a:t>
            </a:r>
            <a:endParaRPr lang="fr-FR" sz="1800" b="1">
              <a:solidFill>
                <a:srgbClr val="0683AA"/>
              </a:solidFill>
              <a:cs typeface="Calibri"/>
            </a:endParaRPr>
          </a:p>
        </p:txBody>
      </p:sp>
      <p:pic>
        <p:nvPicPr>
          <p:cNvPr id="19" name="Graphique 3" descr="Femme portant un tailleur">
            <a:extLst>
              <a:ext uri="{FF2B5EF4-FFF2-40B4-BE49-F238E27FC236}">
                <a16:creationId xmlns:a16="http://schemas.microsoft.com/office/drawing/2014/main" id="{6EAC556A-8337-7D26-C2E2-0FCBB0485DB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9531881" y="1636808"/>
            <a:ext cx="2507330" cy="5226467"/>
          </a:xfrm>
          <a:prstGeom prst="rect">
            <a:avLst/>
          </a:prstGeom>
        </p:spPr>
      </p:pic>
      <p:sp>
        <p:nvSpPr>
          <p:cNvPr id="2" name="Espace réservé du texte 15">
            <a:extLst>
              <a:ext uri="{FF2B5EF4-FFF2-40B4-BE49-F238E27FC236}">
                <a16:creationId xmlns:a16="http://schemas.microsoft.com/office/drawing/2014/main" id="{9715CC82-E14A-BC6C-897A-EC3C247AAF84}"/>
              </a:ext>
            </a:extLst>
          </p:cNvPr>
          <p:cNvSpPr txBox="1">
            <a:spLocks/>
          </p:cNvSpPr>
          <p:nvPr/>
        </p:nvSpPr>
        <p:spPr>
          <a:xfrm>
            <a:off x="10640512" y="1173142"/>
            <a:ext cx="1298488" cy="4176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pic>
        <p:nvPicPr>
          <p:cNvPr id="3" name="Graphique 2" descr="Scène de château avec un remplissage uni">
            <a:extLst>
              <a:ext uri="{FF2B5EF4-FFF2-40B4-BE49-F238E27FC236}">
                <a16:creationId xmlns:a16="http://schemas.microsoft.com/office/drawing/2014/main" id="{9AED130F-AE59-A570-C5B4-71445B3E5AA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19306" y="327805"/>
            <a:ext cx="736135" cy="770528"/>
          </a:xfrm>
          <a:prstGeom prst="rect">
            <a:avLst/>
          </a:prstGeom>
        </p:spPr>
      </p:pic>
    </p:spTree>
    <p:extLst>
      <p:ext uri="{BB962C8B-B14F-4D97-AF65-F5344CB8AC3E}">
        <p14:creationId xmlns:p14="http://schemas.microsoft.com/office/powerpoint/2010/main" val="11246679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134224" y="703064"/>
            <a:ext cx="12192000" cy="19630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600" b="1" i="1"/>
              <a:t>Atelier CCC-Goals</a:t>
            </a:r>
          </a:p>
          <a:p>
            <a:pPr marL="0" indent="0" algn="ctr">
              <a:buNone/>
            </a:pPr>
            <a:r>
              <a:rPr lang="fr-FR" sz="3200" b="1" i="1">
                <a:solidFill>
                  <a:srgbClr val="0683AA"/>
                </a:solidFill>
              </a:rPr>
              <a:t>Alignement</a:t>
            </a:r>
            <a:r>
              <a:rPr lang="fr-FR" sz="3200" b="1" i="1"/>
              <a:t> sur les </a:t>
            </a:r>
            <a:r>
              <a:rPr lang="fr-FR" sz="3200" b="1" i="1">
                <a:solidFill>
                  <a:srgbClr val="ED7D31"/>
                </a:solidFill>
              </a:rPr>
              <a:t>objectifs</a:t>
            </a:r>
            <a:r>
              <a:rPr lang="fr-FR" sz="3200" b="1" i="1"/>
              <a:t> de la Communauté par sujet</a:t>
            </a:r>
            <a:endParaRPr lang="fr-FR" sz="3200" b="1" i="1">
              <a:solidFill>
                <a:srgbClr val="0683AA"/>
              </a:solidFill>
            </a:endParaRPr>
          </a:p>
        </p:txBody>
      </p:sp>
      <p:grpSp>
        <p:nvGrpSpPr>
          <p:cNvPr id="9" name="Groupe 8">
            <a:extLst>
              <a:ext uri="{FF2B5EF4-FFF2-40B4-BE49-F238E27FC236}">
                <a16:creationId xmlns:a16="http://schemas.microsoft.com/office/drawing/2014/main" id="{7B8CBEAA-5771-9500-B9AC-AEFB77DF7C1F}"/>
              </a:ext>
            </a:extLst>
          </p:cNvPr>
          <p:cNvGrpSpPr/>
          <p:nvPr/>
        </p:nvGrpSpPr>
        <p:grpSpPr>
          <a:xfrm>
            <a:off x="4128486" y="2741150"/>
            <a:ext cx="3698197" cy="4117299"/>
            <a:chOff x="4128486" y="2379688"/>
            <a:chExt cx="3698197" cy="4117299"/>
          </a:xfrm>
        </p:grpSpPr>
        <p:pic>
          <p:nvPicPr>
            <p:cNvPr id="10" name="Graphique 9" descr="Homme tenant un panneau">
              <a:extLst>
                <a:ext uri="{FF2B5EF4-FFF2-40B4-BE49-F238E27FC236}">
                  <a16:creationId xmlns:a16="http://schemas.microsoft.com/office/drawing/2014/main" id="{1B61B5EB-BE9C-F5E2-C3A9-C18F18BC53D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11" name="Espace réservé du texte 15">
              <a:extLst>
                <a:ext uri="{FF2B5EF4-FFF2-40B4-BE49-F238E27FC236}">
                  <a16:creationId xmlns:a16="http://schemas.microsoft.com/office/drawing/2014/main" id="{11051754-E0FA-1215-0381-82243C25D121}"/>
                </a:ext>
              </a:extLst>
            </p:cNvPr>
            <p:cNvSpPr txBox="1">
              <a:spLocks/>
            </p:cNvSpPr>
            <p:nvPr/>
          </p:nvSpPr>
          <p:spPr>
            <a:xfrm>
              <a:off x="4472402" y="4484981"/>
              <a:ext cx="3061317" cy="175455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solidFill>
                    <a:srgbClr val="ED7D31"/>
                  </a:solidFill>
                </a:rPr>
                <a:t>JUSQU’OÙ</a:t>
              </a:r>
              <a:r>
                <a:rPr lang="fr-FR" sz="3200" b="1" i="1"/>
                <a:t> VOULONS NOUS POUSSER CHAQUE SUJET ?</a:t>
              </a:r>
              <a:endParaRPr lang="fr-FR" sz="3200" b="1" i="1">
                <a:solidFill>
                  <a:srgbClr val="0683AA"/>
                </a:solidFill>
              </a:endParaRPr>
            </a:p>
          </p:txBody>
        </p:sp>
      </p:grpSp>
    </p:spTree>
    <p:extLst>
      <p:ext uri="{BB962C8B-B14F-4D97-AF65-F5344CB8AC3E}">
        <p14:creationId xmlns:p14="http://schemas.microsoft.com/office/powerpoint/2010/main" val="20430542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Groupe 38">
            <a:extLst>
              <a:ext uri="{FF2B5EF4-FFF2-40B4-BE49-F238E27FC236}">
                <a16:creationId xmlns:a16="http://schemas.microsoft.com/office/drawing/2014/main" id="{37E9A0EB-73EB-581D-B977-85A7A9D3DFD4}"/>
              </a:ext>
            </a:extLst>
          </p:cNvPr>
          <p:cNvGrpSpPr/>
          <p:nvPr/>
        </p:nvGrpSpPr>
        <p:grpSpPr>
          <a:xfrm>
            <a:off x="3131475" y="1746693"/>
            <a:ext cx="5855384" cy="3227747"/>
            <a:chOff x="3096631" y="1818574"/>
            <a:chExt cx="8963245" cy="4940937"/>
          </a:xfrm>
        </p:grpSpPr>
        <p:grpSp>
          <p:nvGrpSpPr>
            <p:cNvPr id="40" name="Groupe 39">
              <a:extLst>
                <a:ext uri="{FF2B5EF4-FFF2-40B4-BE49-F238E27FC236}">
                  <a16:creationId xmlns:a16="http://schemas.microsoft.com/office/drawing/2014/main" id="{6CD88646-F274-B6B0-15F1-2186DDB53887}"/>
                </a:ext>
              </a:extLst>
            </p:cNvPr>
            <p:cNvGrpSpPr/>
            <p:nvPr/>
          </p:nvGrpSpPr>
          <p:grpSpPr>
            <a:xfrm>
              <a:off x="3552347" y="1818574"/>
              <a:ext cx="8507529" cy="971156"/>
              <a:chOff x="11600" y="1496380"/>
              <a:chExt cx="12038120" cy="1498765"/>
            </a:xfrm>
          </p:grpSpPr>
          <p:grpSp>
            <p:nvGrpSpPr>
              <p:cNvPr id="80" name="Groupe 79">
                <a:extLst>
                  <a:ext uri="{FF2B5EF4-FFF2-40B4-BE49-F238E27FC236}">
                    <a16:creationId xmlns:a16="http://schemas.microsoft.com/office/drawing/2014/main" id="{F4658036-5B21-CA20-4586-C7EBF1484187}"/>
                  </a:ext>
                </a:extLst>
              </p:cNvPr>
              <p:cNvGrpSpPr/>
              <p:nvPr/>
            </p:nvGrpSpPr>
            <p:grpSpPr>
              <a:xfrm>
                <a:off x="11600" y="2499558"/>
                <a:ext cx="12038120" cy="495587"/>
                <a:chOff x="0" y="2140394"/>
                <a:chExt cx="12854128" cy="4544491"/>
              </a:xfrm>
            </p:grpSpPr>
            <p:sp>
              <p:nvSpPr>
                <p:cNvPr id="88" name="Espace réservé du texte 15">
                  <a:extLst>
                    <a:ext uri="{FF2B5EF4-FFF2-40B4-BE49-F238E27FC236}">
                      <a16:creationId xmlns:a16="http://schemas.microsoft.com/office/drawing/2014/main" id="{FE6AA3F3-26FB-97B6-B1CA-CE8FE300CC7B}"/>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INSPIRATION</a:t>
                  </a:r>
                </a:p>
                <a:p>
                  <a:pPr marL="0" indent="0" algn="ctr">
                    <a:buFont typeface="Arial" panose="020B0604020202020204" pitchFamily="34" charset="0"/>
                    <a:buNone/>
                  </a:pPr>
                  <a:endParaRPr lang="fr-FR" sz="600" b="1" i="1">
                    <a:solidFill>
                      <a:srgbClr val="ED7D31"/>
                    </a:solidFill>
                  </a:endParaRPr>
                </a:p>
              </p:txBody>
            </p:sp>
            <p:sp>
              <p:nvSpPr>
                <p:cNvPr id="89" name="Espace réservé du texte 15">
                  <a:extLst>
                    <a:ext uri="{FF2B5EF4-FFF2-40B4-BE49-F238E27FC236}">
                      <a16:creationId xmlns:a16="http://schemas.microsoft.com/office/drawing/2014/main" id="{3899F4F4-1C52-B96F-A883-B195E4C9307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COLLECTE</a:t>
                  </a:r>
                </a:p>
                <a:p>
                  <a:pPr marL="0" indent="0" algn="ctr">
                    <a:buFont typeface="Arial" panose="020B0604020202020204" pitchFamily="34" charset="0"/>
                    <a:buNone/>
                  </a:pPr>
                  <a:endParaRPr lang="fr-FR" sz="600" b="1" i="1">
                    <a:solidFill>
                      <a:srgbClr val="ED7D31"/>
                    </a:solidFill>
                  </a:endParaRPr>
                </a:p>
              </p:txBody>
            </p:sp>
            <p:sp>
              <p:nvSpPr>
                <p:cNvPr id="90" name="Espace réservé du texte 15">
                  <a:extLst>
                    <a:ext uri="{FF2B5EF4-FFF2-40B4-BE49-F238E27FC236}">
                      <a16:creationId xmlns:a16="http://schemas.microsoft.com/office/drawing/2014/main" id="{0FDE09AB-FB30-8368-1A1C-EA3CF5DF8150}"/>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INITIATION</a:t>
                  </a:r>
                </a:p>
                <a:p>
                  <a:pPr marL="0" indent="0" algn="ctr">
                    <a:buFont typeface="Arial" panose="020B0604020202020204" pitchFamily="34" charset="0"/>
                    <a:buNone/>
                  </a:pPr>
                  <a:endParaRPr lang="fr-FR" sz="600" b="1" i="1">
                    <a:solidFill>
                      <a:srgbClr val="ED7D31"/>
                    </a:solidFill>
                  </a:endParaRPr>
                </a:p>
              </p:txBody>
            </p:sp>
            <p:sp>
              <p:nvSpPr>
                <p:cNvPr id="91" name="Espace réservé du texte 15">
                  <a:extLst>
                    <a:ext uri="{FF2B5EF4-FFF2-40B4-BE49-F238E27FC236}">
                      <a16:creationId xmlns:a16="http://schemas.microsoft.com/office/drawing/2014/main" id="{200E2F15-B312-211F-3481-CC7BB001825A}"/>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CHOC DE LA RÉALITÉ</a:t>
                  </a:r>
                </a:p>
                <a:p>
                  <a:pPr marL="0" indent="0" algn="ctr">
                    <a:buFont typeface="Arial" panose="020B0604020202020204" pitchFamily="34" charset="0"/>
                    <a:buNone/>
                  </a:pPr>
                  <a:endParaRPr lang="fr-FR" sz="600" b="1" i="1">
                    <a:solidFill>
                      <a:srgbClr val="ED7D31"/>
                    </a:solidFill>
                  </a:endParaRPr>
                </a:p>
              </p:txBody>
            </p:sp>
            <p:sp>
              <p:nvSpPr>
                <p:cNvPr id="92" name="Espace réservé du texte 15">
                  <a:extLst>
                    <a:ext uri="{FF2B5EF4-FFF2-40B4-BE49-F238E27FC236}">
                      <a16:creationId xmlns:a16="http://schemas.microsoft.com/office/drawing/2014/main" id="{9C733784-12E2-5AAF-FF1D-54D46EDC1647}"/>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CONFIRMATION DE RÉUSSITES</a:t>
                  </a:r>
                </a:p>
              </p:txBody>
            </p:sp>
            <p:sp>
              <p:nvSpPr>
                <p:cNvPr id="93" name="Espace réservé du texte 15">
                  <a:extLst>
                    <a:ext uri="{FF2B5EF4-FFF2-40B4-BE49-F238E27FC236}">
                      <a16:creationId xmlns:a16="http://schemas.microsoft.com/office/drawing/2014/main" id="{B3744270-DF0B-C33C-DCEA-815F096B87EE}"/>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EXPOSITION</a:t>
                  </a:r>
                </a:p>
              </p:txBody>
            </p:sp>
            <p:sp>
              <p:nvSpPr>
                <p:cNvPr id="94" name="Espace réservé du texte 15">
                  <a:extLst>
                    <a:ext uri="{FF2B5EF4-FFF2-40B4-BE49-F238E27FC236}">
                      <a16:creationId xmlns:a16="http://schemas.microsoft.com/office/drawing/2014/main" id="{DD700486-4121-6732-8B07-5F7F912F1C3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FORTIFICATION</a:t>
                  </a:r>
                </a:p>
                <a:p>
                  <a:pPr marL="0" indent="0" algn="ctr">
                    <a:buFont typeface="Arial" panose="020B0604020202020204" pitchFamily="34" charset="0"/>
                    <a:buNone/>
                  </a:pPr>
                  <a:endParaRPr lang="fr-FR" sz="600" b="1" i="1">
                    <a:solidFill>
                      <a:srgbClr val="ED7D31"/>
                    </a:solidFill>
                  </a:endParaRPr>
                </a:p>
              </p:txBody>
            </p:sp>
          </p:grpSp>
          <p:pic>
            <p:nvPicPr>
              <p:cNvPr id="81" name="Graphique 80" descr="Ampoule avec un remplissage uni">
                <a:extLst>
                  <a:ext uri="{FF2B5EF4-FFF2-40B4-BE49-F238E27FC236}">
                    <a16:creationId xmlns:a16="http://schemas.microsoft.com/office/drawing/2014/main" id="{16882EDC-908F-C1F1-5A77-28532B8DCB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82" name="Graphique 81" descr="Seau et pelle avec un remplissage uni">
                <a:extLst>
                  <a:ext uri="{FF2B5EF4-FFF2-40B4-BE49-F238E27FC236}">
                    <a16:creationId xmlns:a16="http://schemas.microsoft.com/office/drawing/2014/main" id="{A5CCDBA4-67CD-BC52-A210-366D9C2FEE1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83" name="Graphique 82" descr="Tubes à essai avec un remplissage uni">
                <a:extLst>
                  <a:ext uri="{FF2B5EF4-FFF2-40B4-BE49-F238E27FC236}">
                    <a16:creationId xmlns:a16="http://schemas.microsoft.com/office/drawing/2014/main" id="{49636AA8-A6DB-A4C6-8F52-35D8CA488C0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84" name="Graphique 83" descr="Explosion avec un remplissage uni">
                <a:extLst>
                  <a:ext uri="{FF2B5EF4-FFF2-40B4-BE49-F238E27FC236}">
                    <a16:creationId xmlns:a16="http://schemas.microsoft.com/office/drawing/2014/main" id="{1C2EF7EA-4FBE-3C21-EAF0-4816ABD7F3E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85" name="Graphique 84" descr="Trophée avec un remplissage uni">
                <a:extLst>
                  <a:ext uri="{FF2B5EF4-FFF2-40B4-BE49-F238E27FC236}">
                    <a16:creationId xmlns:a16="http://schemas.microsoft.com/office/drawing/2014/main" id="{A54BD2FA-CC2E-5FD9-061E-2261370F138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86" name="Graphique 85" descr="Assiette couverte avec un remplissage uni">
                <a:extLst>
                  <a:ext uri="{FF2B5EF4-FFF2-40B4-BE49-F238E27FC236}">
                    <a16:creationId xmlns:a16="http://schemas.microsoft.com/office/drawing/2014/main" id="{908887A9-1237-9879-0DE0-767669C143A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87" name="Graphique 86" descr="Scène de château avec un remplissage uni">
                <a:extLst>
                  <a:ext uri="{FF2B5EF4-FFF2-40B4-BE49-F238E27FC236}">
                    <a16:creationId xmlns:a16="http://schemas.microsoft.com/office/drawing/2014/main" id="{B75C8EFE-FE4F-1EB5-23CB-5153E360253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pic>
          <p:nvPicPr>
            <p:cNvPr id="41" name="Image 40">
              <a:extLst>
                <a:ext uri="{FF2B5EF4-FFF2-40B4-BE49-F238E27FC236}">
                  <a16:creationId xmlns:a16="http://schemas.microsoft.com/office/drawing/2014/main" id="{081E105A-741E-5ED2-BFC4-09F14DF20742}"/>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764591" y="6474648"/>
              <a:ext cx="295285" cy="284863"/>
            </a:xfrm>
            <a:prstGeom prst="rect">
              <a:avLst/>
            </a:prstGeom>
          </p:spPr>
        </p:pic>
        <p:grpSp>
          <p:nvGrpSpPr>
            <p:cNvPr id="42" name="Groupe 41">
              <a:extLst>
                <a:ext uri="{FF2B5EF4-FFF2-40B4-BE49-F238E27FC236}">
                  <a16:creationId xmlns:a16="http://schemas.microsoft.com/office/drawing/2014/main" id="{4CB7E447-A039-C844-F433-D091BF7A327E}"/>
                </a:ext>
              </a:extLst>
            </p:cNvPr>
            <p:cNvGrpSpPr/>
            <p:nvPr/>
          </p:nvGrpSpPr>
          <p:grpSpPr>
            <a:xfrm>
              <a:off x="3099062" y="3360591"/>
              <a:ext cx="3677086" cy="385275"/>
              <a:chOff x="3099062" y="3401649"/>
              <a:chExt cx="3677086" cy="385275"/>
            </a:xfrm>
          </p:grpSpPr>
          <p:sp>
            <p:nvSpPr>
              <p:cNvPr id="77" name="Rectangle 76">
                <a:extLst>
                  <a:ext uri="{FF2B5EF4-FFF2-40B4-BE49-F238E27FC236}">
                    <a16:creationId xmlns:a16="http://schemas.microsoft.com/office/drawing/2014/main" id="{51B86AFF-E063-C4E9-0037-70146A5F9806}"/>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8" name="Connecteur droit avec flèche 77">
                <a:extLst>
                  <a:ext uri="{FF2B5EF4-FFF2-40B4-BE49-F238E27FC236}">
                    <a16:creationId xmlns:a16="http://schemas.microsoft.com/office/drawing/2014/main" id="{187B0113-2CA4-7E69-31A8-34F1D9D27E36}"/>
                  </a:ext>
                </a:extLst>
              </p:cNvPr>
              <p:cNvCxnSpPr>
                <a:cxnSpLocks/>
                <a:stCxn id="77" idx="3"/>
                <a:endCxn id="79" idx="1"/>
              </p:cNvCxnSpPr>
              <p:nvPr/>
            </p:nvCxnSpPr>
            <p:spPr>
              <a:xfrm>
                <a:off x="3392025" y="3594286"/>
                <a:ext cx="29988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9" name="Graphique 78" descr="Mille avec un remplissage uni">
                <a:extLst>
                  <a:ext uri="{FF2B5EF4-FFF2-40B4-BE49-F238E27FC236}">
                    <a16:creationId xmlns:a16="http://schemas.microsoft.com/office/drawing/2014/main" id="{B14FFA67-E22F-F4A8-ECB7-C863CB34A55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90873" y="3401649"/>
                <a:ext cx="385275" cy="385275"/>
              </a:xfrm>
              <a:prstGeom prst="rect">
                <a:avLst/>
              </a:prstGeom>
            </p:spPr>
          </p:pic>
        </p:grpSp>
        <p:grpSp>
          <p:nvGrpSpPr>
            <p:cNvPr id="43" name="Groupe 42">
              <a:extLst>
                <a:ext uri="{FF2B5EF4-FFF2-40B4-BE49-F238E27FC236}">
                  <a16:creationId xmlns:a16="http://schemas.microsoft.com/office/drawing/2014/main" id="{773E705C-DC3F-0164-10F5-935E20779988}"/>
                </a:ext>
              </a:extLst>
            </p:cNvPr>
            <p:cNvGrpSpPr/>
            <p:nvPr/>
          </p:nvGrpSpPr>
          <p:grpSpPr>
            <a:xfrm>
              <a:off x="3099061" y="3804468"/>
              <a:ext cx="7355485" cy="385275"/>
              <a:chOff x="3099061" y="3796432"/>
              <a:chExt cx="7355485" cy="385275"/>
            </a:xfrm>
          </p:grpSpPr>
          <p:sp>
            <p:nvSpPr>
              <p:cNvPr id="74" name="Rectangle 73">
                <a:extLst>
                  <a:ext uri="{FF2B5EF4-FFF2-40B4-BE49-F238E27FC236}">
                    <a16:creationId xmlns:a16="http://schemas.microsoft.com/office/drawing/2014/main" id="{31901042-0A95-EED3-6663-7E4242632AA7}"/>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5" name="Connecteur droit avec flèche 74">
                <a:extLst>
                  <a:ext uri="{FF2B5EF4-FFF2-40B4-BE49-F238E27FC236}">
                    <a16:creationId xmlns:a16="http://schemas.microsoft.com/office/drawing/2014/main" id="{ED822768-1E2B-F058-B72E-3BDF2936AC65}"/>
                  </a:ext>
                </a:extLst>
              </p:cNvPr>
              <p:cNvCxnSpPr>
                <a:cxnSpLocks/>
                <a:stCxn id="74" idx="3"/>
                <a:endCxn id="76"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6" name="Graphique 75" descr="Mille avec un remplissage uni">
                <a:extLst>
                  <a:ext uri="{FF2B5EF4-FFF2-40B4-BE49-F238E27FC236}">
                    <a16:creationId xmlns:a16="http://schemas.microsoft.com/office/drawing/2014/main" id="{42367BAA-BF58-6205-08FD-D9F6F8D3766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069271" y="3796432"/>
                <a:ext cx="385275" cy="385275"/>
              </a:xfrm>
              <a:prstGeom prst="rect">
                <a:avLst/>
              </a:prstGeom>
            </p:spPr>
          </p:pic>
        </p:grpSp>
        <p:grpSp>
          <p:nvGrpSpPr>
            <p:cNvPr id="44" name="Groupe 43">
              <a:extLst>
                <a:ext uri="{FF2B5EF4-FFF2-40B4-BE49-F238E27FC236}">
                  <a16:creationId xmlns:a16="http://schemas.microsoft.com/office/drawing/2014/main" id="{36681227-87FC-1366-1BDF-0280659D78FD}"/>
                </a:ext>
              </a:extLst>
            </p:cNvPr>
            <p:cNvGrpSpPr/>
            <p:nvPr/>
          </p:nvGrpSpPr>
          <p:grpSpPr>
            <a:xfrm>
              <a:off x="3096631" y="5136099"/>
              <a:ext cx="2503539" cy="385275"/>
              <a:chOff x="3096631" y="5085827"/>
              <a:chExt cx="2503539" cy="385275"/>
            </a:xfrm>
          </p:grpSpPr>
          <p:sp>
            <p:nvSpPr>
              <p:cNvPr id="71" name="Rectangle 70">
                <a:extLst>
                  <a:ext uri="{FF2B5EF4-FFF2-40B4-BE49-F238E27FC236}">
                    <a16:creationId xmlns:a16="http://schemas.microsoft.com/office/drawing/2014/main" id="{65C2DE47-24C3-1862-D2D7-7B2559E9D818}"/>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2" name="Connecteur droit avec flèche 71">
                <a:extLst>
                  <a:ext uri="{FF2B5EF4-FFF2-40B4-BE49-F238E27FC236}">
                    <a16:creationId xmlns:a16="http://schemas.microsoft.com/office/drawing/2014/main" id="{A17EC980-646A-6533-D99F-DEC8912AE4F3}"/>
                  </a:ext>
                </a:extLst>
              </p:cNvPr>
              <p:cNvCxnSpPr>
                <a:cxnSpLocks/>
                <a:stCxn id="71" idx="3"/>
                <a:endCxn id="73"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3" name="Graphique 72" descr="Mille avec un remplissage uni">
                <a:extLst>
                  <a:ext uri="{FF2B5EF4-FFF2-40B4-BE49-F238E27FC236}">
                    <a16:creationId xmlns:a16="http://schemas.microsoft.com/office/drawing/2014/main" id="{F5A53997-9CD2-1C90-5388-25FF46CAF2C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214895" y="5085827"/>
                <a:ext cx="385275" cy="385275"/>
              </a:xfrm>
              <a:prstGeom prst="rect">
                <a:avLst/>
              </a:prstGeom>
            </p:spPr>
          </p:pic>
        </p:grpSp>
        <p:grpSp>
          <p:nvGrpSpPr>
            <p:cNvPr id="45" name="Groupe 44">
              <a:extLst>
                <a:ext uri="{FF2B5EF4-FFF2-40B4-BE49-F238E27FC236}">
                  <a16:creationId xmlns:a16="http://schemas.microsoft.com/office/drawing/2014/main" id="{11A69F26-C6AF-3655-C6FA-872080228C24}"/>
                </a:ext>
              </a:extLst>
            </p:cNvPr>
            <p:cNvGrpSpPr/>
            <p:nvPr/>
          </p:nvGrpSpPr>
          <p:grpSpPr>
            <a:xfrm>
              <a:off x="3096631" y="4692222"/>
              <a:ext cx="6130386" cy="385275"/>
              <a:chOff x="3096631" y="4618230"/>
              <a:chExt cx="6130386" cy="385275"/>
            </a:xfrm>
          </p:grpSpPr>
          <p:sp>
            <p:nvSpPr>
              <p:cNvPr id="68" name="Rectangle 67">
                <a:extLst>
                  <a:ext uri="{FF2B5EF4-FFF2-40B4-BE49-F238E27FC236}">
                    <a16:creationId xmlns:a16="http://schemas.microsoft.com/office/drawing/2014/main" id="{7936FD64-1757-A649-F9A2-4FFA5D4A4C93}"/>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9" name="Connecteur droit avec flèche 68">
                <a:extLst>
                  <a:ext uri="{FF2B5EF4-FFF2-40B4-BE49-F238E27FC236}">
                    <a16:creationId xmlns:a16="http://schemas.microsoft.com/office/drawing/2014/main" id="{8A36D10D-B3DC-6F16-7252-EA01672E09F3}"/>
                  </a:ext>
                </a:extLst>
              </p:cNvPr>
              <p:cNvCxnSpPr>
                <a:cxnSpLocks/>
                <a:stCxn id="68" idx="3"/>
                <a:endCxn id="70" idx="1"/>
              </p:cNvCxnSpPr>
              <p:nvPr/>
            </p:nvCxnSpPr>
            <p:spPr>
              <a:xfrm>
                <a:off x="3389594" y="4810867"/>
                <a:ext cx="54521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0" name="Graphique 69" descr="Mille avec un remplissage uni">
                <a:extLst>
                  <a:ext uri="{FF2B5EF4-FFF2-40B4-BE49-F238E27FC236}">
                    <a16:creationId xmlns:a16="http://schemas.microsoft.com/office/drawing/2014/main" id="{7F384996-68D2-4581-6B4F-1667FB8639B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841742" y="4618230"/>
                <a:ext cx="385275" cy="385275"/>
              </a:xfrm>
              <a:prstGeom prst="rect">
                <a:avLst/>
              </a:prstGeom>
            </p:spPr>
          </p:pic>
        </p:grpSp>
        <p:grpSp>
          <p:nvGrpSpPr>
            <p:cNvPr id="46" name="Groupe 45">
              <a:extLst>
                <a:ext uri="{FF2B5EF4-FFF2-40B4-BE49-F238E27FC236}">
                  <a16:creationId xmlns:a16="http://schemas.microsoft.com/office/drawing/2014/main" id="{9431ECEF-AC0C-BFCD-C391-3866B8BF9A7D}"/>
                </a:ext>
              </a:extLst>
            </p:cNvPr>
            <p:cNvGrpSpPr/>
            <p:nvPr/>
          </p:nvGrpSpPr>
          <p:grpSpPr>
            <a:xfrm>
              <a:off x="3096632" y="4248345"/>
              <a:ext cx="8567098" cy="385275"/>
              <a:chOff x="3096632" y="4195205"/>
              <a:chExt cx="8567098" cy="385275"/>
            </a:xfrm>
          </p:grpSpPr>
          <p:sp>
            <p:nvSpPr>
              <p:cNvPr id="65" name="Rectangle 64">
                <a:extLst>
                  <a:ext uri="{FF2B5EF4-FFF2-40B4-BE49-F238E27FC236}">
                    <a16:creationId xmlns:a16="http://schemas.microsoft.com/office/drawing/2014/main" id="{305CDDF2-5B28-75A5-1493-D70F1E26C185}"/>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6" name="Connecteur droit avec flèche 65">
                <a:extLst>
                  <a:ext uri="{FF2B5EF4-FFF2-40B4-BE49-F238E27FC236}">
                    <a16:creationId xmlns:a16="http://schemas.microsoft.com/office/drawing/2014/main" id="{AF06D0E2-310E-2053-8DAE-FFC49AA06A42}"/>
                  </a:ext>
                </a:extLst>
              </p:cNvPr>
              <p:cNvCxnSpPr>
                <a:cxnSpLocks/>
                <a:stCxn id="65" idx="3"/>
                <a:endCxn id="67"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7" name="Graphique 66" descr="Mille avec un remplissage uni">
                <a:extLst>
                  <a:ext uri="{FF2B5EF4-FFF2-40B4-BE49-F238E27FC236}">
                    <a16:creationId xmlns:a16="http://schemas.microsoft.com/office/drawing/2014/main" id="{8D368040-0C11-5BD0-E8D7-0011432FEEF4}"/>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278455" y="4195205"/>
                <a:ext cx="385275" cy="385275"/>
              </a:xfrm>
              <a:prstGeom prst="rect">
                <a:avLst/>
              </a:prstGeom>
            </p:spPr>
          </p:pic>
        </p:grpSp>
        <p:grpSp>
          <p:nvGrpSpPr>
            <p:cNvPr id="47" name="Groupe 46">
              <a:extLst>
                <a:ext uri="{FF2B5EF4-FFF2-40B4-BE49-F238E27FC236}">
                  <a16:creationId xmlns:a16="http://schemas.microsoft.com/office/drawing/2014/main" id="{B29B9131-D012-632F-D00B-4CA3D2D2EA8F}"/>
                </a:ext>
              </a:extLst>
            </p:cNvPr>
            <p:cNvGrpSpPr/>
            <p:nvPr/>
          </p:nvGrpSpPr>
          <p:grpSpPr>
            <a:xfrm>
              <a:off x="3096635" y="5579974"/>
              <a:ext cx="1218292" cy="385275"/>
              <a:chOff x="3096635" y="5579974"/>
              <a:chExt cx="1218292" cy="385275"/>
            </a:xfrm>
          </p:grpSpPr>
          <p:sp>
            <p:nvSpPr>
              <p:cNvPr id="62" name="Rectangle 61">
                <a:extLst>
                  <a:ext uri="{FF2B5EF4-FFF2-40B4-BE49-F238E27FC236}">
                    <a16:creationId xmlns:a16="http://schemas.microsoft.com/office/drawing/2014/main" id="{EFE9F5A6-6C97-4CA2-B4ED-3919FEE0B2F9}"/>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3" name="Connecteur droit avec flèche 62">
                <a:extLst>
                  <a:ext uri="{FF2B5EF4-FFF2-40B4-BE49-F238E27FC236}">
                    <a16:creationId xmlns:a16="http://schemas.microsoft.com/office/drawing/2014/main" id="{3EC42580-83A2-97C3-65B5-92C0EDA1A338}"/>
                  </a:ext>
                </a:extLst>
              </p:cNvPr>
              <p:cNvCxnSpPr>
                <a:cxnSpLocks/>
                <a:stCxn id="62" idx="3"/>
                <a:endCxn id="64" idx="1"/>
              </p:cNvCxnSpPr>
              <p:nvPr/>
            </p:nvCxnSpPr>
            <p:spPr>
              <a:xfrm>
                <a:off x="3389598" y="5772612"/>
                <a:ext cx="5400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4" name="Graphique 63" descr="Mille avec un remplissage uni">
                <a:extLst>
                  <a:ext uri="{FF2B5EF4-FFF2-40B4-BE49-F238E27FC236}">
                    <a16:creationId xmlns:a16="http://schemas.microsoft.com/office/drawing/2014/main" id="{942D2FD4-D232-079E-0CB5-40D16A991FF0}"/>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929652" y="5579974"/>
                <a:ext cx="385275" cy="385275"/>
              </a:xfrm>
              <a:prstGeom prst="rect">
                <a:avLst/>
              </a:prstGeom>
            </p:spPr>
          </p:pic>
        </p:grpSp>
        <p:grpSp>
          <p:nvGrpSpPr>
            <p:cNvPr id="48" name="Groupe 47">
              <a:extLst>
                <a:ext uri="{FF2B5EF4-FFF2-40B4-BE49-F238E27FC236}">
                  <a16:creationId xmlns:a16="http://schemas.microsoft.com/office/drawing/2014/main" id="{FB423BE5-BAF5-F5B8-AA07-D4C07435F45D}"/>
                </a:ext>
              </a:extLst>
            </p:cNvPr>
            <p:cNvGrpSpPr/>
            <p:nvPr/>
          </p:nvGrpSpPr>
          <p:grpSpPr>
            <a:xfrm>
              <a:off x="3099063" y="2916714"/>
              <a:ext cx="6127953" cy="385275"/>
              <a:chOff x="3099063" y="2916714"/>
              <a:chExt cx="6127953" cy="385275"/>
            </a:xfrm>
          </p:grpSpPr>
          <p:pic>
            <p:nvPicPr>
              <p:cNvPr id="59" name="Graphique 58" descr="Mille avec un remplissage uni">
                <a:extLst>
                  <a:ext uri="{FF2B5EF4-FFF2-40B4-BE49-F238E27FC236}">
                    <a16:creationId xmlns:a16="http://schemas.microsoft.com/office/drawing/2014/main" id="{28FCF07C-4380-8465-5FFC-7BC88EB85E6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841741" y="2916714"/>
                <a:ext cx="385275" cy="385275"/>
              </a:xfrm>
              <a:prstGeom prst="rect">
                <a:avLst/>
              </a:prstGeom>
            </p:spPr>
          </p:pic>
          <p:sp>
            <p:nvSpPr>
              <p:cNvPr id="60" name="Rectangle 59">
                <a:extLst>
                  <a:ext uri="{FF2B5EF4-FFF2-40B4-BE49-F238E27FC236}">
                    <a16:creationId xmlns:a16="http://schemas.microsoft.com/office/drawing/2014/main" id="{EAB1F218-5AE1-E40C-C0D8-C7C4EB5E8479}"/>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1" name="Connecteur droit avec flèche 60">
                <a:extLst>
                  <a:ext uri="{FF2B5EF4-FFF2-40B4-BE49-F238E27FC236}">
                    <a16:creationId xmlns:a16="http://schemas.microsoft.com/office/drawing/2014/main" id="{D044D536-409A-ABD8-69BC-E5B7D1B6621C}"/>
                  </a:ext>
                </a:extLst>
              </p:cNvPr>
              <p:cNvCxnSpPr>
                <a:cxnSpLocks/>
                <a:stCxn id="60" idx="3"/>
                <a:endCxn id="59" idx="1"/>
              </p:cNvCxnSpPr>
              <p:nvPr/>
            </p:nvCxnSpPr>
            <p:spPr>
              <a:xfrm>
                <a:off x="3392026" y="3109352"/>
                <a:ext cx="5449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49" name="Groupe 48">
              <a:extLst>
                <a:ext uri="{FF2B5EF4-FFF2-40B4-BE49-F238E27FC236}">
                  <a16:creationId xmlns:a16="http://schemas.microsoft.com/office/drawing/2014/main" id="{A93CA606-3ACD-4756-F31F-6C07982E36AD}"/>
                </a:ext>
              </a:extLst>
            </p:cNvPr>
            <p:cNvGrpSpPr/>
            <p:nvPr/>
          </p:nvGrpSpPr>
          <p:grpSpPr>
            <a:xfrm>
              <a:off x="3096631" y="6065016"/>
              <a:ext cx="8182799" cy="310720"/>
              <a:chOff x="3096635" y="5617252"/>
              <a:chExt cx="8182799" cy="310720"/>
            </a:xfrm>
          </p:grpSpPr>
          <p:sp>
            <p:nvSpPr>
              <p:cNvPr id="57" name="Rectangle 56">
                <a:extLst>
                  <a:ext uri="{FF2B5EF4-FFF2-40B4-BE49-F238E27FC236}">
                    <a16:creationId xmlns:a16="http://schemas.microsoft.com/office/drawing/2014/main" id="{B33DF15B-75F2-40BB-4DDF-275E059A254A}"/>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8" name="Connecteur droit avec flèche 57">
                <a:extLst>
                  <a:ext uri="{FF2B5EF4-FFF2-40B4-BE49-F238E27FC236}">
                    <a16:creationId xmlns:a16="http://schemas.microsoft.com/office/drawing/2014/main" id="{C7C6BD1A-CD20-8423-6AF2-7956058B6711}"/>
                  </a:ext>
                </a:extLst>
              </p:cNvPr>
              <p:cNvCxnSpPr>
                <a:cxnSpLocks/>
                <a:stCxn id="57" idx="3"/>
                <a:endCxn id="50" idx="1"/>
              </p:cNvCxnSpPr>
              <p:nvPr/>
            </p:nvCxnSpPr>
            <p:spPr>
              <a:xfrm>
                <a:off x="3389598" y="5772612"/>
                <a:ext cx="7889836" cy="0"/>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grpSp>
        <p:pic>
          <p:nvPicPr>
            <p:cNvPr id="50" name="Graphique 49" descr="Point d’interrogation avec un remplissage uni">
              <a:extLst>
                <a:ext uri="{FF2B5EF4-FFF2-40B4-BE49-F238E27FC236}">
                  <a16:creationId xmlns:a16="http://schemas.microsoft.com/office/drawing/2014/main" id="{D1F31750-7CFC-96F4-184B-CFFF8D9876A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9430" y="6011965"/>
              <a:ext cx="416821" cy="416821"/>
            </a:xfrm>
            <a:prstGeom prst="rect">
              <a:avLst/>
            </a:prstGeom>
          </p:spPr>
        </p:pic>
        <p:pic>
          <p:nvPicPr>
            <p:cNvPr id="51" name="Graphique 50" descr="Point d’interrogation avec un remplissage uni">
              <a:extLst>
                <a:ext uri="{FF2B5EF4-FFF2-40B4-BE49-F238E27FC236}">
                  <a16:creationId xmlns:a16="http://schemas.microsoft.com/office/drawing/2014/main" id="{2376775C-98A6-5F62-B7FC-67BFE7408B9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069271" y="6011965"/>
              <a:ext cx="416821" cy="416821"/>
            </a:xfrm>
            <a:prstGeom prst="rect">
              <a:avLst/>
            </a:prstGeom>
          </p:spPr>
        </p:pic>
        <p:pic>
          <p:nvPicPr>
            <p:cNvPr id="52" name="Graphique 51" descr="Point d’interrogation avec un remplissage uni">
              <a:extLst>
                <a:ext uri="{FF2B5EF4-FFF2-40B4-BE49-F238E27FC236}">
                  <a16:creationId xmlns:a16="http://schemas.microsoft.com/office/drawing/2014/main" id="{E41169BC-3FB6-DA32-B4ED-107E14374675}"/>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862412" y="6016098"/>
              <a:ext cx="416821" cy="416821"/>
            </a:xfrm>
            <a:prstGeom prst="rect">
              <a:avLst/>
            </a:prstGeom>
          </p:spPr>
        </p:pic>
        <p:pic>
          <p:nvPicPr>
            <p:cNvPr id="53" name="Graphique 52" descr="Point d’interrogation avec un remplissage uni">
              <a:extLst>
                <a:ext uri="{FF2B5EF4-FFF2-40B4-BE49-F238E27FC236}">
                  <a16:creationId xmlns:a16="http://schemas.microsoft.com/office/drawing/2014/main" id="{B01F50FB-D9C6-E109-9EE0-DBCF6D2E3D1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597700" y="5999320"/>
              <a:ext cx="416821" cy="416821"/>
            </a:xfrm>
            <a:prstGeom prst="rect">
              <a:avLst/>
            </a:prstGeom>
          </p:spPr>
        </p:pic>
        <p:pic>
          <p:nvPicPr>
            <p:cNvPr id="54" name="Graphique 53" descr="Point d’interrogation avec un remplissage uni">
              <a:extLst>
                <a:ext uri="{FF2B5EF4-FFF2-40B4-BE49-F238E27FC236}">
                  <a16:creationId xmlns:a16="http://schemas.microsoft.com/office/drawing/2014/main" id="{60BDB2EF-BA9B-AEC2-9D61-25D924E60C1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253134" y="6011964"/>
              <a:ext cx="416821" cy="416821"/>
            </a:xfrm>
            <a:prstGeom prst="rect">
              <a:avLst/>
            </a:prstGeom>
          </p:spPr>
        </p:pic>
        <p:pic>
          <p:nvPicPr>
            <p:cNvPr id="55" name="Graphique 54" descr="Point d’interrogation avec un remplissage uni">
              <a:extLst>
                <a:ext uri="{FF2B5EF4-FFF2-40B4-BE49-F238E27FC236}">
                  <a16:creationId xmlns:a16="http://schemas.microsoft.com/office/drawing/2014/main" id="{63E2F001-22F7-E5DD-FB9E-F80A66338DF7}"/>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126129" y="6011965"/>
              <a:ext cx="416821" cy="416821"/>
            </a:xfrm>
            <a:prstGeom prst="rect">
              <a:avLst/>
            </a:prstGeom>
          </p:spPr>
        </p:pic>
        <p:pic>
          <p:nvPicPr>
            <p:cNvPr id="56" name="Graphique 55" descr="Point d’interrogation avec un remplissage uni">
              <a:extLst>
                <a:ext uri="{FF2B5EF4-FFF2-40B4-BE49-F238E27FC236}">
                  <a16:creationId xmlns:a16="http://schemas.microsoft.com/office/drawing/2014/main" id="{40E00746-0FDB-1EE4-7513-0F57605C52C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911217" y="6008075"/>
              <a:ext cx="416821" cy="416821"/>
            </a:xfrm>
            <a:prstGeom prst="rect">
              <a:avLst/>
            </a:prstGeom>
          </p:spPr>
        </p:pic>
      </p:grpSp>
      <p:sp>
        <p:nvSpPr>
          <p:cNvPr id="96" name="Bulle narrative : ronde 95">
            <a:extLst>
              <a:ext uri="{FF2B5EF4-FFF2-40B4-BE49-F238E27FC236}">
                <a16:creationId xmlns:a16="http://schemas.microsoft.com/office/drawing/2014/main" id="{CD398584-DCD9-9D4F-52D9-4495C95A0845}"/>
              </a:ext>
            </a:extLst>
          </p:cNvPr>
          <p:cNvSpPr/>
          <p:nvPr/>
        </p:nvSpPr>
        <p:spPr>
          <a:xfrm>
            <a:off x="91315" y="1029809"/>
            <a:ext cx="3268376" cy="1451524"/>
          </a:xfrm>
          <a:prstGeom prst="wedgeEllipseCallout">
            <a:avLst>
              <a:gd name="adj1" fmla="val -7468"/>
              <a:gd name="adj2" fmla="val 7678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DANS NOTRE COMMUNAUTÉ, NOUS AVONS DES OBJECTIFS DIFFÉRENTS DE MATURITÉ À ATTEINDRE, </a:t>
            </a:r>
            <a:r>
              <a:rPr lang="fr-FR" sz="1400" b="1">
                <a:solidFill>
                  <a:srgbClr val="0683AA"/>
                </a:solidFill>
              </a:rPr>
              <a:t>SELON LE SUJET</a:t>
            </a:r>
            <a:r>
              <a:rPr lang="fr-FR" sz="1400" b="1">
                <a:solidFill>
                  <a:schemeClr val="tx1"/>
                </a:solidFill>
              </a:rPr>
              <a:t>.</a:t>
            </a:r>
          </a:p>
        </p:txBody>
      </p:sp>
      <p:sp>
        <p:nvSpPr>
          <p:cNvPr id="101" name="Bulle narrative : ronde 100">
            <a:extLst>
              <a:ext uri="{FF2B5EF4-FFF2-40B4-BE49-F238E27FC236}">
                <a16:creationId xmlns:a16="http://schemas.microsoft.com/office/drawing/2014/main" id="{022F3626-D395-65A3-DF92-E91BFB9BD679}"/>
              </a:ext>
            </a:extLst>
          </p:cNvPr>
          <p:cNvSpPr/>
          <p:nvPr/>
        </p:nvSpPr>
        <p:spPr>
          <a:xfrm>
            <a:off x="8147060" y="2645521"/>
            <a:ext cx="3678002" cy="728265"/>
          </a:xfrm>
          <a:prstGeom prst="wedgeEllipseCallout">
            <a:avLst>
              <a:gd name="adj1" fmla="val 14391"/>
              <a:gd name="adj2" fmla="val 16791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rPr>
              <a:t>C’EST POUR CELA QUE NOUS FAISONS L’</a:t>
            </a:r>
            <a:r>
              <a:rPr lang="fr-FR" sz="1400" b="1">
                <a:solidFill>
                  <a:srgbClr val="ED7D31"/>
                </a:solidFill>
              </a:rPr>
              <a:t>ATELIER CCC-GOALS</a:t>
            </a:r>
            <a:r>
              <a:rPr lang="fr-FR" sz="1400" b="1">
                <a:solidFill>
                  <a:schemeClr val="tx1"/>
                </a:solidFill>
              </a:rPr>
              <a:t> !</a:t>
            </a:r>
          </a:p>
        </p:txBody>
      </p:sp>
      <p:sp>
        <p:nvSpPr>
          <p:cNvPr id="102" name="ZoneTexte 101">
            <a:extLst>
              <a:ext uri="{FF2B5EF4-FFF2-40B4-BE49-F238E27FC236}">
                <a16:creationId xmlns:a16="http://schemas.microsoft.com/office/drawing/2014/main" id="{0799A5AB-AD78-938E-7007-5DCA37808A62}"/>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Pourquoi ?</a:t>
            </a:r>
            <a:endParaRPr lang="fr-FR" sz="3200"/>
          </a:p>
        </p:txBody>
      </p:sp>
      <p:pic>
        <p:nvPicPr>
          <p:cNvPr id="106" name="Graphique 3" descr="Femme portant un tailleur">
            <a:extLst>
              <a:ext uri="{FF2B5EF4-FFF2-40B4-BE49-F238E27FC236}">
                <a16:creationId xmlns:a16="http://schemas.microsoft.com/office/drawing/2014/main" id="{B84E0861-DB79-5DCE-2CD8-55C276B8A5BC}"/>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01748" y="2375724"/>
            <a:ext cx="2493401" cy="5197431"/>
          </a:xfrm>
          <a:prstGeom prst="rect">
            <a:avLst/>
          </a:prstGeom>
        </p:spPr>
      </p:pic>
      <p:pic>
        <p:nvPicPr>
          <p:cNvPr id="2" name="Graphique 1" descr="Homme en polo">
            <a:extLst>
              <a:ext uri="{FF2B5EF4-FFF2-40B4-BE49-F238E27FC236}">
                <a16:creationId xmlns:a16="http://schemas.microsoft.com/office/drawing/2014/main" id="{10E0CFAB-3BB1-53B3-6AB3-DF818ED05154}"/>
              </a:ext>
            </a:extLst>
          </p:cNvPr>
          <p:cNvPicPr>
            <a:picLocks noChangeAspect="1"/>
          </p:cNvPicPr>
          <p:nvPr/>
        </p:nvPicPr>
        <p:blipFill rotWithShape="1">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rcRect b="41673"/>
          <a:stretch/>
        </p:blipFill>
        <p:spPr>
          <a:xfrm flipH="1">
            <a:off x="10120229" y="3292483"/>
            <a:ext cx="1983482" cy="3565517"/>
          </a:xfrm>
          <a:prstGeom prst="rect">
            <a:avLst/>
          </a:prstGeom>
        </p:spPr>
      </p:pic>
    </p:spTree>
    <p:extLst>
      <p:ext uri="{BB962C8B-B14F-4D97-AF65-F5344CB8AC3E}">
        <p14:creationId xmlns:p14="http://schemas.microsoft.com/office/powerpoint/2010/main" val="3875972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e 48">
            <a:extLst>
              <a:ext uri="{FF2B5EF4-FFF2-40B4-BE49-F238E27FC236}">
                <a16:creationId xmlns:a16="http://schemas.microsoft.com/office/drawing/2014/main" id="{2217B42A-5D37-42BF-92EA-1C2A2C758BED}"/>
              </a:ext>
            </a:extLst>
          </p:cNvPr>
          <p:cNvGrpSpPr/>
          <p:nvPr/>
        </p:nvGrpSpPr>
        <p:grpSpPr>
          <a:xfrm>
            <a:off x="7988088" y="2927274"/>
            <a:ext cx="3361383" cy="1758684"/>
            <a:chOff x="3096631" y="1818575"/>
            <a:chExt cx="8963245" cy="4940936"/>
          </a:xfrm>
        </p:grpSpPr>
        <p:grpSp>
          <p:nvGrpSpPr>
            <p:cNvPr id="50" name="Groupe 49">
              <a:extLst>
                <a:ext uri="{FF2B5EF4-FFF2-40B4-BE49-F238E27FC236}">
                  <a16:creationId xmlns:a16="http://schemas.microsoft.com/office/drawing/2014/main" id="{A2BCE122-646E-4E98-8014-278BD30C3CDC}"/>
                </a:ext>
              </a:extLst>
            </p:cNvPr>
            <p:cNvGrpSpPr/>
            <p:nvPr/>
          </p:nvGrpSpPr>
          <p:grpSpPr>
            <a:xfrm>
              <a:off x="3552347" y="1818575"/>
              <a:ext cx="8507529" cy="971157"/>
              <a:chOff x="11600" y="1496380"/>
              <a:chExt cx="12038120" cy="1498765"/>
            </a:xfrm>
          </p:grpSpPr>
          <p:grpSp>
            <p:nvGrpSpPr>
              <p:cNvPr id="98" name="Groupe 97">
                <a:extLst>
                  <a:ext uri="{FF2B5EF4-FFF2-40B4-BE49-F238E27FC236}">
                    <a16:creationId xmlns:a16="http://schemas.microsoft.com/office/drawing/2014/main" id="{275E7BF6-05B3-4B8E-9E3E-5154F49CFBDC}"/>
                  </a:ext>
                </a:extLst>
              </p:cNvPr>
              <p:cNvGrpSpPr/>
              <p:nvPr/>
            </p:nvGrpSpPr>
            <p:grpSpPr>
              <a:xfrm>
                <a:off x="11600" y="2499558"/>
                <a:ext cx="12038120" cy="495587"/>
                <a:chOff x="0" y="2140394"/>
                <a:chExt cx="12854128" cy="4544491"/>
              </a:xfrm>
            </p:grpSpPr>
            <p:sp>
              <p:nvSpPr>
                <p:cNvPr id="106" name="Espace réservé du texte 15">
                  <a:extLst>
                    <a:ext uri="{FF2B5EF4-FFF2-40B4-BE49-F238E27FC236}">
                      <a16:creationId xmlns:a16="http://schemas.microsoft.com/office/drawing/2014/main" id="{EC1221AC-E257-4B6D-AEDA-D3273D53818C}"/>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107" name="Espace réservé du texte 15">
                  <a:extLst>
                    <a:ext uri="{FF2B5EF4-FFF2-40B4-BE49-F238E27FC236}">
                      <a16:creationId xmlns:a16="http://schemas.microsoft.com/office/drawing/2014/main" id="{6044EFB5-F255-4D12-9656-F6CEFED0FD5B}"/>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108" name="Espace réservé du texte 15">
                  <a:extLst>
                    <a:ext uri="{FF2B5EF4-FFF2-40B4-BE49-F238E27FC236}">
                      <a16:creationId xmlns:a16="http://schemas.microsoft.com/office/drawing/2014/main" id="{9F2CE81A-96B9-4DAC-901C-94C1670ABC11}"/>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109" name="Espace réservé du texte 15">
                  <a:extLst>
                    <a:ext uri="{FF2B5EF4-FFF2-40B4-BE49-F238E27FC236}">
                      <a16:creationId xmlns:a16="http://schemas.microsoft.com/office/drawing/2014/main" id="{065E1CF3-AA5E-491C-9608-F81B6C371AC6}"/>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110" name="Espace réservé du texte 15">
                  <a:extLst>
                    <a:ext uri="{FF2B5EF4-FFF2-40B4-BE49-F238E27FC236}">
                      <a16:creationId xmlns:a16="http://schemas.microsoft.com/office/drawing/2014/main" id="{B5EF31F3-DC9C-48A2-BD63-505C9248F24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111" name="Espace réservé du texte 15">
                  <a:extLst>
                    <a:ext uri="{FF2B5EF4-FFF2-40B4-BE49-F238E27FC236}">
                      <a16:creationId xmlns:a16="http://schemas.microsoft.com/office/drawing/2014/main" id="{D96E584F-E34E-419F-B0D8-E1A454FAFA5E}"/>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112" name="Espace réservé du texte 15">
                  <a:extLst>
                    <a:ext uri="{FF2B5EF4-FFF2-40B4-BE49-F238E27FC236}">
                      <a16:creationId xmlns:a16="http://schemas.microsoft.com/office/drawing/2014/main" id="{C52FD6D9-DE85-4C89-8835-0B4E2350E4F6}"/>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99" name="Graphique 98" descr="Ampoule avec un remplissage uni">
                <a:extLst>
                  <a:ext uri="{FF2B5EF4-FFF2-40B4-BE49-F238E27FC236}">
                    <a16:creationId xmlns:a16="http://schemas.microsoft.com/office/drawing/2014/main" id="{D02B2DF8-E689-4A65-AAA5-7DE39E91F4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00" name="Graphique 99" descr="Seau et pelle avec un remplissage uni">
                <a:extLst>
                  <a:ext uri="{FF2B5EF4-FFF2-40B4-BE49-F238E27FC236}">
                    <a16:creationId xmlns:a16="http://schemas.microsoft.com/office/drawing/2014/main" id="{DB1E5BA4-2269-4AEE-87C1-FB5651641B5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01" name="Graphique 100" descr="Tubes à essai avec un remplissage uni">
                <a:extLst>
                  <a:ext uri="{FF2B5EF4-FFF2-40B4-BE49-F238E27FC236}">
                    <a16:creationId xmlns:a16="http://schemas.microsoft.com/office/drawing/2014/main" id="{90A36991-2C50-4B5B-BC89-10A43465332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02" name="Graphique 101" descr="Explosion avec un remplissage uni">
                <a:extLst>
                  <a:ext uri="{FF2B5EF4-FFF2-40B4-BE49-F238E27FC236}">
                    <a16:creationId xmlns:a16="http://schemas.microsoft.com/office/drawing/2014/main" id="{9590C51B-400A-44A8-A20B-CF9F20FD9F2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03" name="Graphique 102" descr="Trophée avec un remplissage uni">
                <a:extLst>
                  <a:ext uri="{FF2B5EF4-FFF2-40B4-BE49-F238E27FC236}">
                    <a16:creationId xmlns:a16="http://schemas.microsoft.com/office/drawing/2014/main" id="{DC5DB15A-CF38-4B6D-97D4-BD48C070748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04" name="Graphique 103" descr="Assiette couverte avec un remplissage uni">
                <a:extLst>
                  <a:ext uri="{FF2B5EF4-FFF2-40B4-BE49-F238E27FC236}">
                    <a16:creationId xmlns:a16="http://schemas.microsoft.com/office/drawing/2014/main" id="{9E1A1451-946A-435D-88D4-EFDCC86EF52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05" name="Graphique 104" descr="Scène de château avec un remplissage uni">
                <a:extLst>
                  <a:ext uri="{FF2B5EF4-FFF2-40B4-BE49-F238E27FC236}">
                    <a16:creationId xmlns:a16="http://schemas.microsoft.com/office/drawing/2014/main" id="{C1D3907E-973D-4343-AA98-E326254E2D0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pic>
          <p:nvPicPr>
            <p:cNvPr id="51" name="Image 50">
              <a:extLst>
                <a:ext uri="{FF2B5EF4-FFF2-40B4-BE49-F238E27FC236}">
                  <a16:creationId xmlns:a16="http://schemas.microsoft.com/office/drawing/2014/main" id="{4543585B-7598-4C01-B649-F1AD0261340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764591" y="6474648"/>
              <a:ext cx="295285" cy="284863"/>
            </a:xfrm>
            <a:prstGeom prst="rect">
              <a:avLst/>
            </a:prstGeom>
          </p:spPr>
        </p:pic>
        <p:grpSp>
          <p:nvGrpSpPr>
            <p:cNvPr id="52" name="Groupe 51">
              <a:extLst>
                <a:ext uri="{FF2B5EF4-FFF2-40B4-BE49-F238E27FC236}">
                  <a16:creationId xmlns:a16="http://schemas.microsoft.com/office/drawing/2014/main" id="{93E3C3E5-CACB-4B60-8AC8-28A7CDBCC1BE}"/>
                </a:ext>
              </a:extLst>
            </p:cNvPr>
            <p:cNvGrpSpPr/>
            <p:nvPr/>
          </p:nvGrpSpPr>
          <p:grpSpPr>
            <a:xfrm>
              <a:off x="3099062" y="3360591"/>
              <a:ext cx="3677086" cy="385275"/>
              <a:chOff x="3099062" y="3401649"/>
              <a:chExt cx="3677086" cy="385275"/>
            </a:xfrm>
          </p:grpSpPr>
          <p:sp>
            <p:nvSpPr>
              <p:cNvPr id="95" name="Rectangle 94">
                <a:extLst>
                  <a:ext uri="{FF2B5EF4-FFF2-40B4-BE49-F238E27FC236}">
                    <a16:creationId xmlns:a16="http://schemas.microsoft.com/office/drawing/2014/main" id="{9A233A35-480F-4373-9287-BCCA42043BF2}"/>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96" name="Connecteur droit avec flèche 95">
                <a:extLst>
                  <a:ext uri="{FF2B5EF4-FFF2-40B4-BE49-F238E27FC236}">
                    <a16:creationId xmlns:a16="http://schemas.microsoft.com/office/drawing/2014/main" id="{C6E16851-4BEB-4723-A80D-D38D9B00DD5F}"/>
                  </a:ext>
                </a:extLst>
              </p:cNvPr>
              <p:cNvCxnSpPr>
                <a:cxnSpLocks/>
                <a:stCxn id="95" idx="3"/>
                <a:endCxn id="97" idx="1"/>
              </p:cNvCxnSpPr>
              <p:nvPr/>
            </p:nvCxnSpPr>
            <p:spPr>
              <a:xfrm>
                <a:off x="3392025" y="3594286"/>
                <a:ext cx="29988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7" name="Graphique 96" descr="Mille avec un remplissage uni">
                <a:extLst>
                  <a:ext uri="{FF2B5EF4-FFF2-40B4-BE49-F238E27FC236}">
                    <a16:creationId xmlns:a16="http://schemas.microsoft.com/office/drawing/2014/main" id="{4B55A5F4-A59D-429E-8CBC-59D54745A581}"/>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90873" y="3401649"/>
                <a:ext cx="385275" cy="385275"/>
              </a:xfrm>
              <a:prstGeom prst="rect">
                <a:avLst/>
              </a:prstGeom>
            </p:spPr>
          </p:pic>
        </p:grpSp>
        <p:grpSp>
          <p:nvGrpSpPr>
            <p:cNvPr id="53" name="Groupe 52">
              <a:extLst>
                <a:ext uri="{FF2B5EF4-FFF2-40B4-BE49-F238E27FC236}">
                  <a16:creationId xmlns:a16="http://schemas.microsoft.com/office/drawing/2014/main" id="{398A92F8-9292-40BD-BC16-9FCB3DB40BE0}"/>
                </a:ext>
              </a:extLst>
            </p:cNvPr>
            <p:cNvGrpSpPr/>
            <p:nvPr/>
          </p:nvGrpSpPr>
          <p:grpSpPr>
            <a:xfrm>
              <a:off x="3099061" y="3804468"/>
              <a:ext cx="7355485" cy="385275"/>
              <a:chOff x="3099061" y="3796432"/>
              <a:chExt cx="7355485" cy="385275"/>
            </a:xfrm>
          </p:grpSpPr>
          <p:sp>
            <p:nvSpPr>
              <p:cNvPr id="92" name="Rectangle 91">
                <a:extLst>
                  <a:ext uri="{FF2B5EF4-FFF2-40B4-BE49-F238E27FC236}">
                    <a16:creationId xmlns:a16="http://schemas.microsoft.com/office/drawing/2014/main" id="{C9E601B6-8C3F-4846-B186-6BA72AC0AB03}"/>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93" name="Connecteur droit avec flèche 92">
                <a:extLst>
                  <a:ext uri="{FF2B5EF4-FFF2-40B4-BE49-F238E27FC236}">
                    <a16:creationId xmlns:a16="http://schemas.microsoft.com/office/drawing/2014/main" id="{4AC1F6E6-1D7E-47FB-B3C6-EAC2923CD5F6}"/>
                  </a:ext>
                </a:extLst>
              </p:cNvPr>
              <p:cNvCxnSpPr>
                <a:cxnSpLocks/>
                <a:stCxn id="92" idx="3"/>
                <a:endCxn id="94"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4" name="Graphique 93" descr="Mille avec un remplissage uni">
                <a:extLst>
                  <a:ext uri="{FF2B5EF4-FFF2-40B4-BE49-F238E27FC236}">
                    <a16:creationId xmlns:a16="http://schemas.microsoft.com/office/drawing/2014/main" id="{DDD0C6C3-B283-44B0-8435-44872A746BA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069271" y="3796432"/>
                <a:ext cx="385275" cy="385275"/>
              </a:xfrm>
              <a:prstGeom prst="rect">
                <a:avLst/>
              </a:prstGeom>
            </p:spPr>
          </p:pic>
        </p:grpSp>
        <p:grpSp>
          <p:nvGrpSpPr>
            <p:cNvPr id="54" name="Groupe 53">
              <a:extLst>
                <a:ext uri="{FF2B5EF4-FFF2-40B4-BE49-F238E27FC236}">
                  <a16:creationId xmlns:a16="http://schemas.microsoft.com/office/drawing/2014/main" id="{38BD8DD3-B469-4133-A0B7-DE918DC84F4E}"/>
                </a:ext>
              </a:extLst>
            </p:cNvPr>
            <p:cNvGrpSpPr/>
            <p:nvPr/>
          </p:nvGrpSpPr>
          <p:grpSpPr>
            <a:xfrm>
              <a:off x="3096631" y="5136099"/>
              <a:ext cx="2503539" cy="385275"/>
              <a:chOff x="3096631" y="5085827"/>
              <a:chExt cx="2503539" cy="385275"/>
            </a:xfrm>
          </p:grpSpPr>
          <p:sp>
            <p:nvSpPr>
              <p:cNvPr id="89" name="Rectangle 88">
                <a:extLst>
                  <a:ext uri="{FF2B5EF4-FFF2-40B4-BE49-F238E27FC236}">
                    <a16:creationId xmlns:a16="http://schemas.microsoft.com/office/drawing/2014/main" id="{7E91E56F-7475-401B-A3B2-F9A72EF5262A}"/>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90" name="Connecteur droit avec flèche 89">
                <a:extLst>
                  <a:ext uri="{FF2B5EF4-FFF2-40B4-BE49-F238E27FC236}">
                    <a16:creationId xmlns:a16="http://schemas.microsoft.com/office/drawing/2014/main" id="{088434FB-71DC-45BE-AC83-94B1340FD861}"/>
                  </a:ext>
                </a:extLst>
              </p:cNvPr>
              <p:cNvCxnSpPr>
                <a:cxnSpLocks/>
                <a:stCxn id="89" idx="3"/>
                <a:endCxn id="91"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1" name="Graphique 90" descr="Mille avec un remplissage uni">
                <a:extLst>
                  <a:ext uri="{FF2B5EF4-FFF2-40B4-BE49-F238E27FC236}">
                    <a16:creationId xmlns:a16="http://schemas.microsoft.com/office/drawing/2014/main" id="{5D9CB137-ECB8-40AB-84E2-FF76B749620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214895" y="5085827"/>
                <a:ext cx="385275" cy="385275"/>
              </a:xfrm>
              <a:prstGeom prst="rect">
                <a:avLst/>
              </a:prstGeom>
            </p:spPr>
          </p:pic>
        </p:grpSp>
        <p:grpSp>
          <p:nvGrpSpPr>
            <p:cNvPr id="55" name="Groupe 54">
              <a:extLst>
                <a:ext uri="{FF2B5EF4-FFF2-40B4-BE49-F238E27FC236}">
                  <a16:creationId xmlns:a16="http://schemas.microsoft.com/office/drawing/2014/main" id="{14209E9E-CDDA-4435-B4F0-AFFC70683ED5}"/>
                </a:ext>
              </a:extLst>
            </p:cNvPr>
            <p:cNvGrpSpPr/>
            <p:nvPr/>
          </p:nvGrpSpPr>
          <p:grpSpPr>
            <a:xfrm>
              <a:off x="3096631" y="4692222"/>
              <a:ext cx="6130386" cy="385275"/>
              <a:chOff x="3096631" y="4618230"/>
              <a:chExt cx="6130386" cy="385275"/>
            </a:xfrm>
          </p:grpSpPr>
          <p:sp>
            <p:nvSpPr>
              <p:cNvPr id="86" name="Rectangle 85">
                <a:extLst>
                  <a:ext uri="{FF2B5EF4-FFF2-40B4-BE49-F238E27FC236}">
                    <a16:creationId xmlns:a16="http://schemas.microsoft.com/office/drawing/2014/main" id="{38969185-1E98-48E9-B87C-06169E90C705}"/>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7" name="Connecteur droit avec flèche 86">
                <a:extLst>
                  <a:ext uri="{FF2B5EF4-FFF2-40B4-BE49-F238E27FC236}">
                    <a16:creationId xmlns:a16="http://schemas.microsoft.com/office/drawing/2014/main" id="{4CCB6418-9CE5-4985-9FDE-DB4EAFAACFF0}"/>
                  </a:ext>
                </a:extLst>
              </p:cNvPr>
              <p:cNvCxnSpPr>
                <a:cxnSpLocks/>
                <a:stCxn id="86" idx="3"/>
                <a:endCxn id="88" idx="1"/>
              </p:cNvCxnSpPr>
              <p:nvPr/>
            </p:nvCxnSpPr>
            <p:spPr>
              <a:xfrm>
                <a:off x="3389594" y="4810867"/>
                <a:ext cx="54521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8" name="Graphique 87" descr="Mille avec un remplissage uni">
                <a:extLst>
                  <a:ext uri="{FF2B5EF4-FFF2-40B4-BE49-F238E27FC236}">
                    <a16:creationId xmlns:a16="http://schemas.microsoft.com/office/drawing/2014/main" id="{B05CCF27-C077-4D73-9E21-DC00A09174FD}"/>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841742" y="4618230"/>
                <a:ext cx="385275" cy="385275"/>
              </a:xfrm>
              <a:prstGeom prst="rect">
                <a:avLst/>
              </a:prstGeom>
            </p:spPr>
          </p:pic>
        </p:grpSp>
        <p:grpSp>
          <p:nvGrpSpPr>
            <p:cNvPr id="57" name="Groupe 56">
              <a:extLst>
                <a:ext uri="{FF2B5EF4-FFF2-40B4-BE49-F238E27FC236}">
                  <a16:creationId xmlns:a16="http://schemas.microsoft.com/office/drawing/2014/main" id="{1D54045D-CF71-4F10-9DC0-7DD9F1E963C8}"/>
                </a:ext>
              </a:extLst>
            </p:cNvPr>
            <p:cNvGrpSpPr/>
            <p:nvPr/>
          </p:nvGrpSpPr>
          <p:grpSpPr>
            <a:xfrm>
              <a:off x="3096632" y="4248345"/>
              <a:ext cx="8567098" cy="385275"/>
              <a:chOff x="3096632" y="4195205"/>
              <a:chExt cx="8567098" cy="385275"/>
            </a:xfrm>
          </p:grpSpPr>
          <p:sp>
            <p:nvSpPr>
              <p:cNvPr id="81" name="Rectangle 80">
                <a:extLst>
                  <a:ext uri="{FF2B5EF4-FFF2-40B4-BE49-F238E27FC236}">
                    <a16:creationId xmlns:a16="http://schemas.microsoft.com/office/drawing/2014/main" id="{70C50221-EA2B-4EBB-BB26-4E11D0F41BA7}"/>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4" name="Connecteur droit avec flèche 83">
                <a:extLst>
                  <a:ext uri="{FF2B5EF4-FFF2-40B4-BE49-F238E27FC236}">
                    <a16:creationId xmlns:a16="http://schemas.microsoft.com/office/drawing/2014/main" id="{5C20CAE9-2137-4C55-BC05-A20B91C38789}"/>
                  </a:ext>
                </a:extLst>
              </p:cNvPr>
              <p:cNvCxnSpPr>
                <a:cxnSpLocks/>
                <a:stCxn id="81" idx="3"/>
                <a:endCxn id="85"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5" name="Graphique 84" descr="Mille avec un remplissage uni">
                <a:extLst>
                  <a:ext uri="{FF2B5EF4-FFF2-40B4-BE49-F238E27FC236}">
                    <a16:creationId xmlns:a16="http://schemas.microsoft.com/office/drawing/2014/main" id="{2059AD44-13D9-4186-AA6C-4DADC89D8C4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278455" y="4195205"/>
                <a:ext cx="385275" cy="385275"/>
              </a:xfrm>
              <a:prstGeom prst="rect">
                <a:avLst/>
              </a:prstGeom>
            </p:spPr>
          </p:pic>
        </p:grpSp>
        <p:grpSp>
          <p:nvGrpSpPr>
            <p:cNvPr id="58" name="Groupe 57">
              <a:extLst>
                <a:ext uri="{FF2B5EF4-FFF2-40B4-BE49-F238E27FC236}">
                  <a16:creationId xmlns:a16="http://schemas.microsoft.com/office/drawing/2014/main" id="{4E0F2B96-2609-4B39-8CF2-20F55AF921FC}"/>
                </a:ext>
              </a:extLst>
            </p:cNvPr>
            <p:cNvGrpSpPr/>
            <p:nvPr/>
          </p:nvGrpSpPr>
          <p:grpSpPr>
            <a:xfrm>
              <a:off x="3096635" y="5579974"/>
              <a:ext cx="1218292" cy="385275"/>
              <a:chOff x="3096635" y="5579974"/>
              <a:chExt cx="1218292" cy="385275"/>
            </a:xfrm>
          </p:grpSpPr>
          <p:sp>
            <p:nvSpPr>
              <p:cNvPr id="73" name="Rectangle 72">
                <a:extLst>
                  <a:ext uri="{FF2B5EF4-FFF2-40B4-BE49-F238E27FC236}">
                    <a16:creationId xmlns:a16="http://schemas.microsoft.com/office/drawing/2014/main" id="{B4CDB648-11A9-4589-8C12-57479E622A8F}"/>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4" name="Connecteur droit avec flèche 73">
                <a:extLst>
                  <a:ext uri="{FF2B5EF4-FFF2-40B4-BE49-F238E27FC236}">
                    <a16:creationId xmlns:a16="http://schemas.microsoft.com/office/drawing/2014/main" id="{B3B281B0-C41C-4769-84E7-E7191E1F29C5}"/>
                  </a:ext>
                </a:extLst>
              </p:cNvPr>
              <p:cNvCxnSpPr>
                <a:cxnSpLocks/>
                <a:stCxn id="73" idx="3"/>
                <a:endCxn id="78" idx="1"/>
              </p:cNvCxnSpPr>
              <p:nvPr/>
            </p:nvCxnSpPr>
            <p:spPr>
              <a:xfrm>
                <a:off x="3389598" y="5772612"/>
                <a:ext cx="5400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8" name="Graphique 77" descr="Mille avec un remplissage uni">
                <a:extLst>
                  <a:ext uri="{FF2B5EF4-FFF2-40B4-BE49-F238E27FC236}">
                    <a16:creationId xmlns:a16="http://schemas.microsoft.com/office/drawing/2014/main" id="{0C1443A1-28DF-482E-91D3-F270CB18624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929652" y="5579974"/>
                <a:ext cx="385275" cy="385275"/>
              </a:xfrm>
              <a:prstGeom prst="rect">
                <a:avLst/>
              </a:prstGeom>
            </p:spPr>
          </p:pic>
        </p:grpSp>
        <p:grpSp>
          <p:nvGrpSpPr>
            <p:cNvPr id="59" name="Groupe 58">
              <a:extLst>
                <a:ext uri="{FF2B5EF4-FFF2-40B4-BE49-F238E27FC236}">
                  <a16:creationId xmlns:a16="http://schemas.microsoft.com/office/drawing/2014/main" id="{4AE6D182-7AF9-479E-B82A-F04D4026969C}"/>
                </a:ext>
              </a:extLst>
            </p:cNvPr>
            <p:cNvGrpSpPr/>
            <p:nvPr/>
          </p:nvGrpSpPr>
          <p:grpSpPr>
            <a:xfrm>
              <a:off x="3099063" y="2916714"/>
              <a:ext cx="6127953" cy="385275"/>
              <a:chOff x="3099063" y="2916714"/>
              <a:chExt cx="6127953" cy="385275"/>
            </a:xfrm>
          </p:grpSpPr>
          <p:pic>
            <p:nvPicPr>
              <p:cNvPr id="70" name="Graphique 69" descr="Mille avec un remplissage uni">
                <a:extLst>
                  <a:ext uri="{FF2B5EF4-FFF2-40B4-BE49-F238E27FC236}">
                    <a16:creationId xmlns:a16="http://schemas.microsoft.com/office/drawing/2014/main" id="{A7FF7BD4-589C-499A-A062-5F7703D5A29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841741" y="2916714"/>
                <a:ext cx="385275" cy="385275"/>
              </a:xfrm>
              <a:prstGeom prst="rect">
                <a:avLst/>
              </a:prstGeom>
            </p:spPr>
          </p:pic>
          <p:sp>
            <p:nvSpPr>
              <p:cNvPr id="71" name="Rectangle 70">
                <a:extLst>
                  <a:ext uri="{FF2B5EF4-FFF2-40B4-BE49-F238E27FC236}">
                    <a16:creationId xmlns:a16="http://schemas.microsoft.com/office/drawing/2014/main" id="{5575C58E-225D-4ED5-8F67-472C60B0D3C2}"/>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2" name="Connecteur droit avec flèche 71">
                <a:extLst>
                  <a:ext uri="{FF2B5EF4-FFF2-40B4-BE49-F238E27FC236}">
                    <a16:creationId xmlns:a16="http://schemas.microsoft.com/office/drawing/2014/main" id="{49609BE6-BF06-4D77-BFEE-C4CB7DE663E3}"/>
                  </a:ext>
                </a:extLst>
              </p:cNvPr>
              <p:cNvCxnSpPr>
                <a:cxnSpLocks/>
                <a:stCxn id="71" idx="3"/>
                <a:endCxn id="70" idx="1"/>
              </p:cNvCxnSpPr>
              <p:nvPr/>
            </p:nvCxnSpPr>
            <p:spPr>
              <a:xfrm>
                <a:off x="3392026" y="3109352"/>
                <a:ext cx="5449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60" name="Groupe 59">
              <a:extLst>
                <a:ext uri="{FF2B5EF4-FFF2-40B4-BE49-F238E27FC236}">
                  <a16:creationId xmlns:a16="http://schemas.microsoft.com/office/drawing/2014/main" id="{CE15A39A-11E4-4383-94E7-33C812955162}"/>
                </a:ext>
              </a:extLst>
            </p:cNvPr>
            <p:cNvGrpSpPr/>
            <p:nvPr/>
          </p:nvGrpSpPr>
          <p:grpSpPr>
            <a:xfrm>
              <a:off x="3096631" y="6065016"/>
              <a:ext cx="8182799" cy="310720"/>
              <a:chOff x="3096635" y="5617252"/>
              <a:chExt cx="8182799" cy="310720"/>
            </a:xfrm>
          </p:grpSpPr>
          <p:sp>
            <p:nvSpPr>
              <p:cNvPr id="68" name="Rectangle 67">
                <a:extLst>
                  <a:ext uri="{FF2B5EF4-FFF2-40B4-BE49-F238E27FC236}">
                    <a16:creationId xmlns:a16="http://schemas.microsoft.com/office/drawing/2014/main" id="{D54DE745-EDE4-4242-9F76-EBF6B8C53D8E}"/>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9" name="Connecteur droit avec flèche 68">
                <a:extLst>
                  <a:ext uri="{FF2B5EF4-FFF2-40B4-BE49-F238E27FC236}">
                    <a16:creationId xmlns:a16="http://schemas.microsoft.com/office/drawing/2014/main" id="{52871803-3C49-4980-8152-6C01314C81DD}"/>
                  </a:ext>
                </a:extLst>
              </p:cNvPr>
              <p:cNvCxnSpPr>
                <a:cxnSpLocks/>
                <a:stCxn id="68" idx="3"/>
                <a:endCxn id="61" idx="1"/>
              </p:cNvCxnSpPr>
              <p:nvPr/>
            </p:nvCxnSpPr>
            <p:spPr>
              <a:xfrm>
                <a:off x="3389598" y="5772612"/>
                <a:ext cx="7889836" cy="0"/>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grpSp>
        <p:pic>
          <p:nvPicPr>
            <p:cNvPr id="61" name="Graphique 60" descr="Point d’interrogation avec un remplissage uni">
              <a:extLst>
                <a:ext uri="{FF2B5EF4-FFF2-40B4-BE49-F238E27FC236}">
                  <a16:creationId xmlns:a16="http://schemas.microsoft.com/office/drawing/2014/main" id="{D05E6652-B77C-4C34-BB41-6D30031F746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9430" y="6011965"/>
              <a:ext cx="416821" cy="416821"/>
            </a:xfrm>
            <a:prstGeom prst="rect">
              <a:avLst/>
            </a:prstGeom>
          </p:spPr>
        </p:pic>
        <p:pic>
          <p:nvPicPr>
            <p:cNvPr id="62" name="Graphique 61" descr="Point d’interrogation avec un remplissage uni">
              <a:extLst>
                <a:ext uri="{FF2B5EF4-FFF2-40B4-BE49-F238E27FC236}">
                  <a16:creationId xmlns:a16="http://schemas.microsoft.com/office/drawing/2014/main" id="{5818C625-EB07-406A-BA8B-9D5225A7FB4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069271" y="6011965"/>
              <a:ext cx="416821" cy="416821"/>
            </a:xfrm>
            <a:prstGeom prst="rect">
              <a:avLst/>
            </a:prstGeom>
          </p:spPr>
        </p:pic>
        <p:pic>
          <p:nvPicPr>
            <p:cNvPr id="63" name="Graphique 62" descr="Point d’interrogation avec un remplissage uni">
              <a:extLst>
                <a:ext uri="{FF2B5EF4-FFF2-40B4-BE49-F238E27FC236}">
                  <a16:creationId xmlns:a16="http://schemas.microsoft.com/office/drawing/2014/main" id="{6AE2864A-7532-4846-AB1E-0409C8F2E30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862412" y="6016098"/>
              <a:ext cx="416821" cy="416821"/>
            </a:xfrm>
            <a:prstGeom prst="rect">
              <a:avLst/>
            </a:prstGeom>
          </p:spPr>
        </p:pic>
        <p:pic>
          <p:nvPicPr>
            <p:cNvPr id="64" name="Graphique 63" descr="Point d’interrogation avec un remplissage uni">
              <a:extLst>
                <a:ext uri="{FF2B5EF4-FFF2-40B4-BE49-F238E27FC236}">
                  <a16:creationId xmlns:a16="http://schemas.microsoft.com/office/drawing/2014/main" id="{96D37F92-4E49-46A9-A839-52326720397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597700" y="5999320"/>
              <a:ext cx="416821" cy="416821"/>
            </a:xfrm>
            <a:prstGeom prst="rect">
              <a:avLst/>
            </a:prstGeom>
          </p:spPr>
        </p:pic>
        <p:pic>
          <p:nvPicPr>
            <p:cNvPr id="65" name="Graphique 64" descr="Point d’interrogation avec un remplissage uni">
              <a:extLst>
                <a:ext uri="{FF2B5EF4-FFF2-40B4-BE49-F238E27FC236}">
                  <a16:creationId xmlns:a16="http://schemas.microsoft.com/office/drawing/2014/main" id="{87D37FE3-1ADB-4457-AAAC-A2BB2DB4CCC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253134" y="6011964"/>
              <a:ext cx="416821" cy="416821"/>
            </a:xfrm>
            <a:prstGeom prst="rect">
              <a:avLst/>
            </a:prstGeom>
          </p:spPr>
        </p:pic>
        <p:pic>
          <p:nvPicPr>
            <p:cNvPr id="66" name="Graphique 65" descr="Point d’interrogation avec un remplissage uni">
              <a:extLst>
                <a:ext uri="{FF2B5EF4-FFF2-40B4-BE49-F238E27FC236}">
                  <a16:creationId xmlns:a16="http://schemas.microsoft.com/office/drawing/2014/main" id="{F2D16D41-5679-4669-BFB0-2CD428D5DFA5}"/>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126129" y="6011965"/>
              <a:ext cx="416821" cy="416821"/>
            </a:xfrm>
            <a:prstGeom prst="rect">
              <a:avLst/>
            </a:prstGeom>
          </p:spPr>
        </p:pic>
        <p:pic>
          <p:nvPicPr>
            <p:cNvPr id="67" name="Graphique 66" descr="Point d’interrogation avec un remplissage uni">
              <a:extLst>
                <a:ext uri="{FF2B5EF4-FFF2-40B4-BE49-F238E27FC236}">
                  <a16:creationId xmlns:a16="http://schemas.microsoft.com/office/drawing/2014/main" id="{FE5148D2-EE5B-4678-A9B1-597460813E8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911217" y="6008075"/>
              <a:ext cx="416821" cy="416821"/>
            </a:xfrm>
            <a:prstGeom prst="rect">
              <a:avLst/>
            </a:prstGeom>
          </p:spPr>
        </p:pic>
      </p:grpSp>
      <p:grpSp>
        <p:nvGrpSpPr>
          <p:cNvPr id="2" name="Groupe 1">
            <a:extLst>
              <a:ext uri="{FF2B5EF4-FFF2-40B4-BE49-F238E27FC236}">
                <a16:creationId xmlns:a16="http://schemas.microsoft.com/office/drawing/2014/main" id="{32A761CF-5E95-6B30-0D5F-EEAC98B94DE7}"/>
              </a:ext>
            </a:extLst>
          </p:cNvPr>
          <p:cNvGrpSpPr/>
          <p:nvPr/>
        </p:nvGrpSpPr>
        <p:grpSpPr>
          <a:xfrm>
            <a:off x="648540" y="2636668"/>
            <a:ext cx="3406780" cy="1365589"/>
            <a:chOff x="76940" y="1376914"/>
            <a:chExt cx="12038120" cy="4520548"/>
          </a:xfrm>
        </p:grpSpPr>
        <p:sp>
          <p:nvSpPr>
            <p:cNvPr id="75" name="Espace réservé du texte 15">
              <a:extLst>
                <a:ext uri="{FF2B5EF4-FFF2-40B4-BE49-F238E27FC236}">
                  <a16:creationId xmlns:a16="http://schemas.microsoft.com/office/drawing/2014/main" id="{6A671490-D5FE-4C98-FF28-8F0540B4EA74}"/>
                </a:ext>
              </a:extLst>
            </p:cNvPr>
            <p:cNvSpPr txBox="1">
              <a:spLocks/>
            </p:cNvSpPr>
            <p:nvPr/>
          </p:nvSpPr>
          <p:spPr>
            <a:xfrm>
              <a:off x="76940" y="2380093"/>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INSPIRATION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Personne ne sait ce qu’est le sujet même du changement.</a:t>
              </a:r>
            </a:p>
            <a:p>
              <a:pPr marL="0" indent="0" algn="ctr">
                <a:buFont typeface="Arial" panose="020B0604020202020204" pitchFamily="34" charset="0"/>
                <a:buNone/>
              </a:pPr>
              <a:r>
                <a:rPr lang="fr-FR" sz="200" b="1" i="1"/>
                <a:t>Il est difficile d'impliquer sans cette envie</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76" name="Espace réservé du texte 15">
              <a:extLst>
                <a:ext uri="{FF2B5EF4-FFF2-40B4-BE49-F238E27FC236}">
                  <a16:creationId xmlns:a16="http://schemas.microsoft.com/office/drawing/2014/main" id="{CBA8AA77-6517-B093-55D8-E90245FBAD65}"/>
                </a:ext>
              </a:extLst>
            </p:cNvPr>
            <p:cNvSpPr txBox="1">
              <a:spLocks/>
            </p:cNvSpPr>
            <p:nvPr/>
          </p:nvSpPr>
          <p:spPr>
            <a:xfrm>
              <a:off x="1814587" y="2380093"/>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COLLECTE</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vague idée de ce que serait le changement. </a:t>
              </a:r>
            </a:p>
            <a:p>
              <a:pPr marL="0" indent="0" algn="ctr">
                <a:buFont typeface="Arial" panose="020B0604020202020204" pitchFamily="34" charset="0"/>
                <a:buNone/>
              </a:pPr>
              <a:r>
                <a:rPr lang="fr-FR" sz="200" b="1" i="1"/>
                <a:t>Il y a à la fois de la crainte de la charge d’implication et crainte de ne pas être impliqués dès le départ </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77" name="Espace réservé du texte 15">
              <a:extLst>
                <a:ext uri="{FF2B5EF4-FFF2-40B4-BE49-F238E27FC236}">
                  <a16:creationId xmlns:a16="http://schemas.microsoft.com/office/drawing/2014/main" id="{886DAAD2-6155-E3AC-5841-C169CF6AD77E}"/>
                </a:ext>
              </a:extLst>
            </p:cNvPr>
            <p:cNvSpPr txBox="1">
              <a:spLocks/>
            </p:cNvSpPr>
            <p:nvPr/>
          </p:nvSpPr>
          <p:spPr>
            <a:xfrm>
              <a:off x="3552234" y="2380093"/>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INITIATION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idée plus claire de ce que seraient les résultats du changement.</a:t>
              </a:r>
            </a:p>
            <a:p>
              <a:pPr marL="0" indent="0" algn="ctr">
                <a:buFont typeface="Arial" panose="020B0604020202020204" pitchFamily="34" charset="0"/>
                <a:buNone/>
              </a:pPr>
              <a:r>
                <a:rPr lang="fr-FR" sz="200" b="1" i="1"/>
                <a:t>Il y a une différence entre les ambitions et l’état de pratique réel (qui est quasi nul) </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79" name="Espace réservé du texte 15">
              <a:extLst>
                <a:ext uri="{FF2B5EF4-FFF2-40B4-BE49-F238E27FC236}">
                  <a16:creationId xmlns:a16="http://schemas.microsoft.com/office/drawing/2014/main" id="{B3FB88F1-9529-9736-7444-9455BCB540B4}"/>
                </a:ext>
              </a:extLst>
            </p:cNvPr>
            <p:cNvSpPr txBox="1">
              <a:spLocks/>
            </p:cNvSpPr>
            <p:nvPr/>
          </p:nvSpPr>
          <p:spPr>
            <a:xfrm>
              <a:off x="5289881" y="2380092"/>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CHOC DE LA RÉALITÉ</a:t>
              </a:r>
            </a:p>
            <a:p>
              <a:pPr marL="0" indent="0" algn="ctr">
                <a:buFont typeface="Arial" panose="020B0604020202020204" pitchFamily="34" charset="0"/>
                <a:buNone/>
              </a:pPr>
              <a:endParaRPr lang="fr-FR" sz="200" b="1" i="1"/>
            </a:p>
            <a:p>
              <a:pPr marL="0" indent="0" algn="ctr">
                <a:buFont typeface="Arial" panose="020B0604020202020204" pitchFamily="34" charset="0"/>
                <a:buNone/>
              </a:pPr>
              <a:r>
                <a:rPr lang="fr-FR" sz="200" b="1" i="1"/>
                <a:t>Les membres ont une première idée de ce qu’est le changement en pratique, appliqué EN DEHORS de la vie de la communauté. </a:t>
              </a:r>
            </a:p>
            <a:p>
              <a:pPr marL="0" indent="0" algn="ctr">
                <a:buFont typeface="Arial" panose="020B0604020202020204" pitchFamily="34" charset="0"/>
                <a:buNone/>
              </a:pPr>
              <a:r>
                <a:rPr lang="fr-FR" sz="200" b="1" i="1"/>
                <a:t>Il y a maintenant la découverte des résistances, freins et obstacles à franchir </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80" name="Espace réservé du texte 15">
              <a:extLst>
                <a:ext uri="{FF2B5EF4-FFF2-40B4-BE49-F238E27FC236}">
                  <a16:creationId xmlns:a16="http://schemas.microsoft.com/office/drawing/2014/main" id="{0648EF6D-BD90-0533-68B8-CFD137E4A247}"/>
                </a:ext>
              </a:extLst>
            </p:cNvPr>
            <p:cNvSpPr txBox="1">
              <a:spLocks/>
            </p:cNvSpPr>
            <p:nvPr/>
          </p:nvSpPr>
          <p:spPr>
            <a:xfrm>
              <a:off x="7027528" y="2380091"/>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CONFIRMATION DE RÉUSSITES</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mieux compris comment surmonter les défis. </a:t>
              </a:r>
            </a:p>
            <a:p>
              <a:pPr marL="0" indent="0" algn="ctr">
                <a:buFont typeface="Arial" panose="020B0604020202020204" pitchFamily="34" charset="0"/>
                <a:buNone/>
              </a:pPr>
              <a:r>
                <a:rPr lang="fr-FR" sz="200" b="1" i="1"/>
                <a:t>Les réussites récentes doivent maintenant surmonter le défi du temps et des aléas.</a:t>
              </a:r>
            </a:p>
          </p:txBody>
        </p:sp>
        <p:sp>
          <p:nvSpPr>
            <p:cNvPr id="82" name="Espace réservé du texte 15">
              <a:extLst>
                <a:ext uri="{FF2B5EF4-FFF2-40B4-BE49-F238E27FC236}">
                  <a16:creationId xmlns:a16="http://schemas.microsoft.com/office/drawing/2014/main" id="{2A6EF969-AE69-4382-1CBA-F5DD69565DB0}"/>
                </a:ext>
              </a:extLst>
            </p:cNvPr>
            <p:cNvSpPr txBox="1">
              <a:spLocks/>
            </p:cNvSpPr>
            <p:nvPr/>
          </p:nvSpPr>
          <p:spPr>
            <a:xfrm>
              <a:off x="8765175" y="2380091"/>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EXPOSITION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idée de l’effet du changement chez soi.</a:t>
              </a:r>
            </a:p>
            <a:p>
              <a:pPr marL="0" indent="0" algn="ctr">
                <a:buFont typeface="Arial" panose="020B0604020202020204" pitchFamily="34" charset="0"/>
                <a:buNone/>
              </a:pPr>
              <a:r>
                <a:rPr lang="fr-FR" sz="200" b="1" i="1"/>
                <a:t>Il y a maintenant les opportunités de d’apporter ces impacts positifs au-delà du périmètre initial.</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83" name="Espace réservé du texte 15">
              <a:extLst>
                <a:ext uri="{FF2B5EF4-FFF2-40B4-BE49-F238E27FC236}">
                  <a16:creationId xmlns:a16="http://schemas.microsoft.com/office/drawing/2014/main" id="{B1C3F850-5740-F57F-26BA-937C3ADA2766}"/>
                </a:ext>
              </a:extLst>
            </p:cNvPr>
            <p:cNvSpPr txBox="1">
              <a:spLocks/>
            </p:cNvSpPr>
            <p:nvPr/>
          </p:nvSpPr>
          <p:spPr>
            <a:xfrm>
              <a:off x="10502124" y="2380091"/>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FORTIFICATION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idée de comment s’impliquer dans ce changement. </a:t>
              </a:r>
            </a:p>
            <a:p>
              <a:pPr marL="0" indent="0" algn="ctr">
                <a:buFont typeface="Arial" panose="020B0604020202020204" pitchFamily="34" charset="0"/>
                <a:buNone/>
              </a:pPr>
              <a:r>
                <a:rPr lang="fr-FR" sz="200" b="1" i="1"/>
                <a:t>Il y a peut-être conflit de priorité avec les autres engagements en dehors de la vie de la communauté.</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pic>
          <p:nvPicPr>
            <p:cNvPr id="113" name="Graphique 112" descr="Ampoule avec un remplissage uni">
              <a:extLst>
                <a:ext uri="{FF2B5EF4-FFF2-40B4-BE49-F238E27FC236}">
                  <a16:creationId xmlns:a16="http://schemas.microsoft.com/office/drawing/2014/main" id="{9C70FDD1-6848-10EE-92E8-65213598436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1376914"/>
              <a:ext cx="914400" cy="914400"/>
            </a:xfrm>
            <a:prstGeom prst="rect">
              <a:avLst/>
            </a:prstGeom>
          </p:spPr>
        </p:pic>
        <p:pic>
          <p:nvPicPr>
            <p:cNvPr id="114" name="Graphique 113" descr="Seau et pelle avec un remplissage uni">
              <a:extLst>
                <a:ext uri="{FF2B5EF4-FFF2-40B4-BE49-F238E27FC236}">
                  <a16:creationId xmlns:a16="http://schemas.microsoft.com/office/drawing/2014/main" id="{6F7F4F06-C0C1-54FF-C538-E01F1883DA4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63855" y="1376914"/>
              <a:ext cx="914400" cy="914400"/>
            </a:xfrm>
            <a:prstGeom prst="rect">
              <a:avLst/>
            </a:prstGeom>
          </p:spPr>
        </p:pic>
        <p:pic>
          <p:nvPicPr>
            <p:cNvPr id="115" name="Graphique 114" descr="Tubes à essai avec un remplissage uni">
              <a:extLst>
                <a:ext uri="{FF2B5EF4-FFF2-40B4-BE49-F238E27FC236}">
                  <a16:creationId xmlns:a16="http://schemas.microsoft.com/office/drawing/2014/main" id="{CB929764-3358-6AF0-7AAB-9F36C488A56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98543" y="1376914"/>
              <a:ext cx="914400" cy="914400"/>
            </a:xfrm>
            <a:prstGeom prst="rect">
              <a:avLst/>
            </a:prstGeom>
          </p:spPr>
        </p:pic>
        <p:pic>
          <p:nvPicPr>
            <p:cNvPr id="116" name="Graphique 115" descr="Explosion avec un remplissage uni">
              <a:extLst>
                <a:ext uri="{FF2B5EF4-FFF2-40B4-BE49-F238E27FC236}">
                  <a16:creationId xmlns:a16="http://schemas.microsoft.com/office/drawing/2014/main" id="{F671790A-0C8B-B7DA-93E2-67073B2987E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376914"/>
              <a:ext cx="914400" cy="914400"/>
            </a:xfrm>
            <a:prstGeom prst="rect">
              <a:avLst/>
            </a:prstGeom>
          </p:spPr>
        </p:pic>
        <p:pic>
          <p:nvPicPr>
            <p:cNvPr id="117" name="Graphique 116" descr="Trophée avec un remplissage uni">
              <a:extLst>
                <a:ext uri="{FF2B5EF4-FFF2-40B4-BE49-F238E27FC236}">
                  <a16:creationId xmlns:a16="http://schemas.microsoft.com/office/drawing/2014/main" id="{045E09D6-1E2D-8946-5466-36694DD8915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79057" y="1376914"/>
              <a:ext cx="914400" cy="914400"/>
            </a:xfrm>
            <a:prstGeom prst="rect">
              <a:avLst/>
            </a:prstGeom>
          </p:spPr>
        </p:pic>
        <p:pic>
          <p:nvPicPr>
            <p:cNvPr id="118" name="Graphique 117" descr="Assiette couverte avec un remplissage uni">
              <a:extLst>
                <a:ext uri="{FF2B5EF4-FFF2-40B4-BE49-F238E27FC236}">
                  <a16:creationId xmlns:a16="http://schemas.microsoft.com/office/drawing/2014/main" id="{37036D48-2598-7CE7-2EF5-982B5545776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13745" y="1376914"/>
              <a:ext cx="914400" cy="914400"/>
            </a:xfrm>
            <a:prstGeom prst="rect">
              <a:avLst/>
            </a:prstGeom>
          </p:spPr>
        </p:pic>
        <p:pic>
          <p:nvPicPr>
            <p:cNvPr id="119" name="Graphique 118" descr="Scène de château avec un remplissage uni">
              <a:extLst>
                <a:ext uri="{FF2B5EF4-FFF2-40B4-BE49-F238E27FC236}">
                  <a16:creationId xmlns:a16="http://schemas.microsoft.com/office/drawing/2014/main" id="{B4248ECA-7542-028D-5947-64797B9813C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848433" y="1376914"/>
              <a:ext cx="914400" cy="914400"/>
            </a:xfrm>
            <a:prstGeom prst="rect">
              <a:avLst/>
            </a:prstGeom>
          </p:spPr>
        </p:pic>
      </p:grpSp>
      <p:sp>
        <p:nvSpPr>
          <p:cNvPr id="121" name="Rectangle 120">
            <a:extLst>
              <a:ext uri="{FF2B5EF4-FFF2-40B4-BE49-F238E27FC236}">
                <a16:creationId xmlns:a16="http://schemas.microsoft.com/office/drawing/2014/main" id="{1CBA48ED-A361-DC94-27A5-089832620C00}"/>
              </a:ext>
            </a:extLst>
          </p:cNvPr>
          <p:cNvSpPr/>
          <p:nvPr/>
        </p:nvSpPr>
        <p:spPr>
          <a:xfrm>
            <a:off x="4793927" y="1996914"/>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grpSp>
        <p:nvGrpSpPr>
          <p:cNvPr id="133" name="Groupe 132">
            <a:extLst>
              <a:ext uri="{FF2B5EF4-FFF2-40B4-BE49-F238E27FC236}">
                <a16:creationId xmlns:a16="http://schemas.microsoft.com/office/drawing/2014/main" id="{4C09F8B6-042C-37A6-DED2-41357B96E959}"/>
              </a:ext>
            </a:extLst>
          </p:cNvPr>
          <p:cNvGrpSpPr/>
          <p:nvPr/>
        </p:nvGrpSpPr>
        <p:grpSpPr>
          <a:xfrm flipH="1">
            <a:off x="2732848" y="4043837"/>
            <a:ext cx="1264787" cy="1296013"/>
            <a:chOff x="7346530" y="4173715"/>
            <a:chExt cx="1543027" cy="1838320"/>
          </a:xfrm>
        </p:grpSpPr>
        <p:pic>
          <p:nvPicPr>
            <p:cNvPr id="134" name="Graphique 133" descr="Homme portant un dossier">
              <a:extLst>
                <a:ext uri="{FF2B5EF4-FFF2-40B4-BE49-F238E27FC236}">
                  <a16:creationId xmlns:a16="http://schemas.microsoft.com/office/drawing/2014/main" id="{756C34F3-01E5-80D0-85B0-E6CCBDB35F3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346530" y="4680382"/>
              <a:ext cx="1543027" cy="1331653"/>
            </a:xfrm>
            <a:prstGeom prst="rect">
              <a:avLst/>
            </a:prstGeom>
          </p:spPr>
        </p:pic>
        <p:pic>
          <p:nvPicPr>
            <p:cNvPr id="135" name="Graphique 134" descr="Homme âgé avec favoris">
              <a:extLst>
                <a:ext uri="{FF2B5EF4-FFF2-40B4-BE49-F238E27FC236}">
                  <a16:creationId xmlns:a16="http://schemas.microsoft.com/office/drawing/2014/main" id="{18669BED-DBBD-A79F-F933-43FC2236506D}"/>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7776530" y="4173715"/>
              <a:ext cx="685800" cy="685800"/>
            </a:xfrm>
            <a:prstGeom prst="rect">
              <a:avLst/>
            </a:prstGeom>
          </p:spPr>
        </p:pic>
        <p:pic>
          <p:nvPicPr>
            <p:cNvPr id="136" name="Graphique 135" descr="Un visage souriant">
              <a:extLst>
                <a:ext uri="{FF2B5EF4-FFF2-40B4-BE49-F238E27FC236}">
                  <a16:creationId xmlns:a16="http://schemas.microsoft.com/office/drawing/2014/main" id="{0E359E61-ACAF-9B46-F703-E190EC2269A0}"/>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8040677" y="4396946"/>
              <a:ext cx="343607" cy="354345"/>
            </a:xfrm>
            <a:prstGeom prst="rect">
              <a:avLst/>
            </a:prstGeom>
          </p:spPr>
        </p:pic>
      </p:grpSp>
      <p:pic>
        <p:nvPicPr>
          <p:cNvPr id="138" name="Espace réservé pour une image  29" descr="Homme en polo">
            <a:extLst>
              <a:ext uri="{FF2B5EF4-FFF2-40B4-BE49-F238E27FC236}">
                <a16:creationId xmlns:a16="http://schemas.microsoft.com/office/drawing/2014/main" id="{B6A8D0F4-FE52-A692-62B3-F376E0F62C06}"/>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b="68548"/>
          <a:stretch/>
        </p:blipFill>
        <p:spPr>
          <a:xfrm flipH="1">
            <a:off x="2226606" y="3972968"/>
            <a:ext cx="1165926" cy="986324"/>
          </a:xfrm>
          <a:prstGeom prst="rect">
            <a:avLst/>
          </a:prstGeom>
        </p:spPr>
      </p:pic>
      <p:sp>
        <p:nvSpPr>
          <p:cNvPr id="139" name="Bulle narrative : ronde 138">
            <a:extLst>
              <a:ext uri="{FF2B5EF4-FFF2-40B4-BE49-F238E27FC236}">
                <a16:creationId xmlns:a16="http://schemas.microsoft.com/office/drawing/2014/main" id="{216B1513-E870-B31C-C8A6-FE613C8A6EEC}"/>
              </a:ext>
            </a:extLst>
          </p:cNvPr>
          <p:cNvSpPr/>
          <p:nvPr/>
        </p:nvSpPr>
        <p:spPr>
          <a:xfrm>
            <a:off x="4880875" y="2782500"/>
            <a:ext cx="1214135" cy="765796"/>
          </a:xfrm>
          <a:prstGeom prst="wedgeEllipseCallout">
            <a:avLst>
              <a:gd name="adj1" fmla="val -16503"/>
              <a:gd name="adj2" fmla="val 74103"/>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b="1">
              <a:solidFill>
                <a:schemeClr val="tx1"/>
              </a:solidFill>
            </a:endParaRPr>
          </a:p>
        </p:txBody>
      </p:sp>
      <p:sp>
        <p:nvSpPr>
          <p:cNvPr id="140" name="Bulle narrative : ronde 139">
            <a:extLst>
              <a:ext uri="{FF2B5EF4-FFF2-40B4-BE49-F238E27FC236}">
                <a16:creationId xmlns:a16="http://schemas.microsoft.com/office/drawing/2014/main" id="{AF0B7408-613C-68A8-9A9E-8631E218E24A}"/>
              </a:ext>
            </a:extLst>
          </p:cNvPr>
          <p:cNvSpPr/>
          <p:nvPr/>
        </p:nvSpPr>
        <p:spPr>
          <a:xfrm>
            <a:off x="6062522" y="2855366"/>
            <a:ext cx="1214135" cy="765796"/>
          </a:xfrm>
          <a:prstGeom prst="wedgeEllipseCallout">
            <a:avLst>
              <a:gd name="adj1" fmla="val 28190"/>
              <a:gd name="adj2" fmla="val 78373"/>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b="1">
              <a:solidFill>
                <a:schemeClr val="tx1"/>
              </a:solidFill>
            </a:endParaRPr>
          </a:p>
        </p:txBody>
      </p:sp>
      <p:pic>
        <p:nvPicPr>
          <p:cNvPr id="141" name="Espace réservé pour une image  29" descr="Homme en polo">
            <a:extLst>
              <a:ext uri="{FF2B5EF4-FFF2-40B4-BE49-F238E27FC236}">
                <a16:creationId xmlns:a16="http://schemas.microsoft.com/office/drawing/2014/main" id="{33D37FD6-CB13-901F-2335-EC2FA3612C26}"/>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b="68548"/>
          <a:stretch/>
        </p:blipFill>
        <p:spPr>
          <a:xfrm flipH="1">
            <a:off x="6613825" y="3807707"/>
            <a:ext cx="1165926" cy="1059473"/>
          </a:xfrm>
          <a:prstGeom prst="rect">
            <a:avLst/>
          </a:prstGeom>
        </p:spPr>
      </p:pic>
      <p:pic>
        <p:nvPicPr>
          <p:cNvPr id="142" name="Graphique 141" descr="Femme avec bras prothétique">
            <a:extLst>
              <a:ext uri="{FF2B5EF4-FFF2-40B4-BE49-F238E27FC236}">
                <a16:creationId xmlns:a16="http://schemas.microsoft.com/office/drawing/2014/main" id="{D18FB7B5-15A5-DBE8-6EF4-23BE4AAE0F0C}"/>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b="2424"/>
          <a:stretch/>
        </p:blipFill>
        <p:spPr>
          <a:xfrm>
            <a:off x="4394540" y="3891193"/>
            <a:ext cx="1034092" cy="1059475"/>
          </a:xfrm>
          <a:prstGeom prst="rect">
            <a:avLst/>
          </a:prstGeom>
        </p:spPr>
      </p:pic>
      <p:pic>
        <p:nvPicPr>
          <p:cNvPr id="143" name="Graphique 142" descr="Homme âgé portant une veste">
            <a:extLst>
              <a:ext uri="{FF2B5EF4-FFF2-40B4-BE49-F238E27FC236}">
                <a16:creationId xmlns:a16="http://schemas.microsoft.com/office/drawing/2014/main" id="{D2526968-993A-76D6-873C-EE57F3FCA804}"/>
              </a:ext>
            </a:extLst>
          </p:cNvPr>
          <p:cNvPicPr>
            <a:picLocks noChangeAspect="1"/>
          </p:cNvPicPr>
          <p:nvPr/>
        </p:nvPicPr>
        <p:blipFill rotWithShape="1">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b="58457"/>
          <a:stretch/>
        </p:blipFill>
        <p:spPr>
          <a:xfrm>
            <a:off x="4794221" y="3806616"/>
            <a:ext cx="867481" cy="1101404"/>
          </a:xfrm>
          <a:prstGeom prst="rect">
            <a:avLst/>
          </a:prstGeom>
        </p:spPr>
      </p:pic>
      <p:grpSp>
        <p:nvGrpSpPr>
          <p:cNvPr id="144" name="Groupe 143">
            <a:extLst>
              <a:ext uri="{FF2B5EF4-FFF2-40B4-BE49-F238E27FC236}">
                <a16:creationId xmlns:a16="http://schemas.microsoft.com/office/drawing/2014/main" id="{6736A898-2BA0-20F0-E26C-1D750DAEEBE1}"/>
              </a:ext>
            </a:extLst>
          </p:cNvPr>
          <p:cNvGrpSpPr/>
          <p:nvPr/>
        </p:nvGrpSpPr>
        <p:grpSpPr>
          <a:xfrm flipH="1">
            <a:off x="6175777" y="4095797"/>
            <a:ext cx="1034092" cy="1059622"/>
            <a:chOff x="7346530" y="4173715"/>
            <a:chExt cx="1543027" cy="1838320"/>
          </a:xfrm>
        </p:grpSpPr>
        <p:pic>
          <p:nvPicPr>
            <p:cNvPr id="145" name="Graphique 144" descr="Homme portant un dossier">
              <a:extLst>
                <a:ext uri="{FF2B5EF4-FFF2-40B4-BE49-F238E27FC236}">
                  <a16:creationId xmlns:a16="http://schemas.microsoft.com/office/drawing/2014/main" id="{9882D238-315B-8A2A-0C31-9F7A6F011279}"/>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346530" y="4680382"/>
              <a:ext cx="1543027" cy="1331653"/>
            </a:xfrm>
            <a:prstGeom prst="rect">
              <a:avLst/>
            </a:prstGeom>
          </p:spPr>
        </p:pic>
        <p:pic>
          <p:nvPicPr>
            <p:cNvPr id="146" name="Graphique 145" descr="Homme âgé avec favoris">
              <a:extLst>
                <a:ext uri="{FF2B5EF4-FFF2-40B4-BE49-F238E27FC236}">
                  <a16:creationId xmlns:a16="http://schemas.microsoft.com/office/drawing/2014/main" id="{5DEE6D15-727B-CE73-4767-8DEF0D0673CD}"/>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7776530" y="4173715"/>
              <a:ext cx="685800" cy="685800"/>
            </a:xfrm>
            <a:prstGeom prst="rect">
              <a:avLst/>
            </a:prstGeom>
          </p:spPr>
        </p:pic>
        <p:pic>
          <p:nvPicPr>
            <p:cNvPr id="147" name="Graphique 146" descr="Un visage souriant">
              <a:extLst>
                <a:ext uri="{FF2B5EF4-FFF2-40B4-BE49-F238E27FC236}">
                  <a16:creationId xmlns:a16="http://schemas.microsoft.com/office/drawing/2014/main" id="{FD698DAA-603F-2D18-86C7-48585100C51B}"/>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8040677" y="4396946"/>
              <a:ext cx="343607" cy="354345"/>
            </a:xfrm>
            <a:prstGeom prst="rect">
              <a:avLst/>
            </a:prstGeom>
          </p:spPr>
        </p:pic>
      </p:grpSp>
      <p:pic>
        <p:nvPicPr>
          <p:cNvPr id="148" name="Graphique 147" descr="Femme avec bras prothétique">
            <a:extLst>
              <a:ext uri="{FF2B5EF4-FFF2-40B4-BE49-F238E27FC236}">
                <a16:creationId xmlns:a16="http://schemas.microsoft.com/office/drawing/2014/main" id="{0970A326-1DE2-C66D-D92E-1003414E9314}"/>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b="2424"/>
          <a:stretch/>
        </p:blipFill>
        <p:spPr>
          <a:xfrm>
            <a:off x="8786167" y="3422447"/>
            <a:ext cx="1517580" cy="1554830"/>
          </a:xfrm>
          <a:prstGeom prst="rect">
            <a:avLst/>
          </a:prstGeom>
        </p:spPr>
      </p:pic>
      <p:sp>
        <p:nvSpPr>
          <p:cNvPr id="8" name="Espace réservé du texte 7">
            <a:extLst>
              <a:ext uri="{FF2B5EF4-FFF2-40B4-BE49-F238E27FC236}">
                <a16:creationId xmlns:a16="http://schemas.microsoft.com/office/drawing/2014/main" id="{D270EF62-074B-43A4-8317-656159F178E6}"/>
              </a:ext>
            </a:extLst>
          </p:cNvPr>
          <p:cNvSpPr>
            <a:spLocks noGrp="1"/>
          </p:cNvSpPr>
          <p:nvPr>
            <p:ph type="body" sz="quarter" idx="16"/>
          </p:nvPr>
        </p:nvSpPr>
        <p:spPr>
          <a:xfrm>
            <a:off x="589507" y="4885750"/>
            <a:ext cx="3493003" cy="1169282"/>
          </a:xfrm>
        </p:spPr>
        <p:txBody>
          <a:bodyPr/>
          <a:lstStyle/>
          <a:p>
            <a:r>
              <a:rPr lang="fr-FR" sz="1200"/>
              <a:t>Les participants prennent connaissance du </a:t>
            </a:r>
            <a:r>
              <a:rPr lang="fr-FR" sz="1200">
                <a:hlinkClick r:id="rId33" action="ppaction://hlinksldjump"/>
              </a:rPr>
              <a:t>modèle CCC</a:t>
            </a:r>
            <a:r>
              <a:rPr lang="fr-FR" sz="1200"/>
              <a:t>. </a:t>
            </a:r>
          </a:p>
          <a:p>
            <a:r>
              <a:rPr lang="fr-FR" sz="1200"/>
              <a:t>(Facultatif) Ils peuvent faire le point sur ce qui est attendu d’eux en termes d’objectif global de la communauté. « Notre communauté au global vise-t-elle une phase en particulier ? »</a:t>
            </a:r>
          </a:p>
        </p:txBody>
      </p:sp>
      <p:sp>
        <p:nvSpPr>
          <p:cNvPr id="9" name="Espace réservé du texte 8">
            <a:extLst>
              <a:ext uri="{FF2B5EF4-FFF2-40B4-BE49-F238E27FC236}">
                <a16:creationId xmlns:a16="http://schemas.microsoft.com/office/drawing/2014/main" id="{B6C811D4-1FC7-4FB1-BD1A-89D1B362D69E}"/>
              </a:ext>
            </a:extLst>
          </p:cNvPr>
          <p:cNvSpPr>
            <a:spLocks noGrp="1"/>
          </p:cNvSpPr>
          <p:nvPr>
            <p:ph type="body" sz="quarter" idx="17"/>
          </p:nvPr>
        </p:nvSpPr>
        <p:spPr>
          <a:xfrm>
            <a:off x="4272401" y="4885750"/>
            <a:ext cx="3493003" cy="1169282"/>
          </a:xfrm>
        </p:spPr>
        <p:txBody>
          <a:bodyPr vert="horz" lIns="91440" tIns="45720" rIns="91440" bIns="45720" rtlCol="0" anchor="t">
            <a:noAutofit/>
          </a:bodyPr>
          <a:lstStyle/>
          <a:p>
            <a:r>
              <a:rPr lang="fr-FR" sz="1200"/>
              <a:t>Les participants listent les thèmes à traiter liés à la communauté, et leur phase actuelle (=phase de départ).</a:t>
            </a:r>
          </a:p>
          <a:p>
            <a:r>
              <a:rPr lang="fr-FR" sz="1200"/>
              <a:t>(Facultatif) Les sujets sur lesquels il y a déjà des objectifs (sponsors, obligations, …) sont indiqués.</a:t>
            </a:r>
          </a:p>
        </p:txBody>
      </p:sp>
      <p:sp>
        <p:nvSpPr>
          <p:cNvPr id="10" name="Espace réservé du texte 9">
            <a:extLst>
              <a:ext uri="{FF2B5EF4-FFF2-40B4-BE49-F238E27FC236}">
                <a16:creationId xmlns:a16="http://schemas.microsoft.com/office/drawing/2014/main" id="{26F94D76-5FD0-46F1-B9FD-333007552F50}"/>
              </a:ext>
            </a:extLst>
          </p:cNvPr>
          <p:cNvSpPr>
            <a:spLocks noGrp="1"/>
          </p:cNvSpPr>
          <p:nvPr>
            <p:ph type="body" sz="quarter" idx="18"/>
          </p:nvPr>
        </p:nvSpPr>
        <p:spPr>
          <a:xfrm>
            <a:off x="7948054" y="4884487"/>
            <a:ext cx="3493003" cy="1169283"/>
          </a:xfrm>
        </p:spPr>
        <p:txBody>
          <a:bodyPr vert="horz" lIns="91440" tIns="45720" rIns="91440" bIns="45720" rtlCol="0" anchor="t">
            <a:noAutofit/>
          </a:bodyPr>
          <a:lstStyle/>
          <a:p>
            <a:r>
              <a:rPr lang="fr-FR" sz="1200"/>
              <a:t>Ensemble, les participants votent leurs objectifs de phase à atteindre quant à ces sujets. Leur objectif est d’atteindre une phase fixe, ou « aussi loin que possible, on verra... ». </a:t>
            </a:r>
          </a:p>
          <a:p>
            <a:r>
              <a:rPr lang="fr-FR" sz="1200"/>
              <a:t>Plus une communauté découvre, plus elle apprend, et cet atelier pourra être refait plus tard.</a:t>
            </a:r>
            <a:endParaRPr lang="fr-FR" sz="1200">
              <a:cs typeface="Calibri"/>
            </a:endParaRPr>
          </a:p>
        </p:txBody>
      </p:sp>
      <p:sp>
        <p:nvSpPr>
          <p:cNvPr id="3" name="ZoneTexte 2">
            <a:extLst>
              <a:ext uri="{FF2B5EF4-FFF2-40B4-BE49-F238E27FC236}">
                <a16:creationId xmlns:a16="http://schemas.microsoft.com/office/drawing/2014/main" id="{3CC4DE09-92D4-B3DE-117D-86BBE5387B3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Vue d’ensemble</a:t>
            </a:r>
            <a:endParaRPr lang="fr-FR" sz="3200"/>
          </a:p>
        </p:txBody>
      </p:sp>
      <p:sp>
        <p:nvSpPr>
          <p:cNvPr id="132" name="Rectangle 131">
            <a:extLst>
              <a:ext uri="{FF2B5EF4-FFF2-40B4-BE49-F238E27FC236}">
                <a16:creationId xmlns:a16="http://schemas.microsoft.com/office/drawing/2014/main" id="{A8CA0E73-9873-7D63-3290-AB9EC577A95B}"/>
              </a:ext>
            </a:extLst>
          </p:cNvPr>
          <p:cNvSpPr/>
          <p:nvPr/>
        </p:nvSpPr>
        <p:spPr>
          <a:xfrm>
            <a:off x="5030098" y="2934159"/>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800">
                <a:solidFill>
                  <a:schemeClr val="tx1"/>
                </a:solidFill>
              </a:rPr>
              <a:t>Cyber</a:t>
            </a:r>
          </a:p>
        </p:txBody>
      </p:sp>
      <p:sp>
        <p:nvSpPr>
          <p:cNvPr id="137" name="Rectangle 136">
            <a:extLst>
              <a:ext uri="{FF2B5EF4-FFF2-40B4-BE49-F238E27FC236}">
                <a16:creationId xmlns:a16="http://schemas.microsoft.com/office/drawing/2014/main" id="{A8C4CE85-DD2D-4419-D91D-D0BCFF44CF7A}"/>
              </a:ext>
            </a:extLst>
          </p:cNvPr>
          <p:cNvSpPr/>
          <p:nvPr/>
        </p:nvSpPr>
        <p:spPr>
          <a:xfrm>
            <a:off x="5529971" y="3043109"/>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800">
                <a:solidFill>
                  <a:schemeClr val="tx1"/>
                </a:solidFill>
              </a:rPr>
              <a:t>RSE</a:t>
            </a:r>
            <a:endParaRPr lang="fr-FR"/>
          </a:p>
        </p:txBody>
      </p:sp>
      <p:sp>
        <p:nvSpPr>
          <p:cNvPr id="149" name="Rectangle 148">
            <a:extLst>
              <a:ext uri="{FF2B5EF4-FFF2-40B4-BE49-F238E27FC236}">
                <a16:creationId xmlns:a16="http://schemas.microsoft.com/office/drawing/2014/main" id="{11664B38-C6F9-0717-48E4-3329172F4087}"/>
              </a:ext>
            </a:extLst>
          </p:cNvPr>
          <p:cNvSpPr/>
          <p:nvPr/>
        </p:nvSpPr>
        <p:spPr>
          <a:xfrm>
            <a:off x="6226828" y="2997466"/>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50" name="Rectangle 149">
            <a:extLst>
              <a:ext uri="{FF2B5EF4-FFF2-40B4-BE49-F238E27FC236}">
                <a16:creationId xmlns:a16="http://schemas.microsoft.com/office/drawing/2014/main" id="{7708065C-4EF2-F2B2-BF51-36A35E66CE4C}"/>
              </a:ext>
            </a:extLst>
          </p:cNvPr>
          <p:cNvSpPr/>
          <p:nvPr/>
        </p:nvSpPr>
        <p:spPr>
          <a:xfrm>
            <a:off x="6714278" y="3166058"/>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800">
                <a:solidFill>
                  <a:schemeClr val="tx1"/>
                </a:solidFill>
              </a:rPr>
              <a:t>IOT</a:t>
            </a:r>
            <a:endParaRPr lang="fr-FR"/>
          </a:p>
        </p:txBody>
      </p:sp>
      <p:sp>
        <p:nvSpPr>
          <p:cNvPr id="151" name="Rectangle 150">
            <a:extLst>
              <a:ext uri="{FF2B5EF4-FFF2-40B4-BE49-F238E27FC236}">
                <a16:creationId xmlns:a16="http://schemas.microsoft.com/office/drawing/2014/main" id="{D7A7B2E9-8EBF-4EFE-3ACF-298F95F90D4C}"/>
              </a:ext>
            </a:extLst>
          </p:cNvPr>
          <p:cNvSpPr/>
          <p:nvPr/>
        </p:nvSpPr>
        <p:spPr>
          <a:xfrm>
            <a:off x="5312954" y="1727510"/>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52" name="Rectangle 151">
            <a:extLst>
              <a:ext uri="{FF2B5EF4-FFF2-40B4-BE49-F238E27FC236}">
                <a16:creationId xmlns:a16="http://schemas.microsoft.com/office/drawing/2014/main" id="{E8A70FD5-4DC3-6D6C-429B-C9A2FA95ECAB}"/>
              </a:ext>
            </a:extLst>
          </p:cNvPr>
          <p:cNvSpPr/>
          <p:nvPr/>
        </p:nvSpPr>
        <p:spPr>
          <a:xfrm>
            <a:off x="5314496" y="2115977"/>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53" name="Rectangle 152">
            <a:extLst>
              <a:ext uri="{FF2B5EF4-FFF2-40B4-BE49-F238E27FC236}">
                <a16:creationId xmlns:a16="http://schemas.microsoft.com/office/drawing/2014/main" id="{4F88DB55-8D2D-F2AE-3062-D4FDA614A43C}"/>
              </a:ext>
            </a:extLst>
          </p:cNvPr>
          <p:cNvSpPr/>
          <p:nvPr/>
        </p:nvSpPr>
        <p:spPr>
          <a:xfrm>
            <a:off x="5845505" y="1727511"/>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54" name="Rectangle 153">
            <a:extLst>
              <a:ext uri="{FF2B5EF4-FFF2-40B4-BE49-F238E27FC236}">
                <a16:creationId xmlns:a16="http://schemas.microsoft.com/office/drawing/2014/main" id="{7E27DBFD-1E28-836B-7784-6D838F97876F}"/>
              </a:ext>
            </a:extLst>
          </p:cNvPr>
          <p:cNvSpPr/>
          <p:nvPr/>
        </p:nvSpPr>
        <p:spPr>
          <a:xfrm>
            <a:off x="5865799" y="2106582"/>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55" name="Rectangle 154">
            <a:extLst>
              <a:ext uri="{FF2B5EF4-FFF2-40B4-BE49-F238E27FC236}">
                <a16:creationId xmlns:a16="http://schemas.microsoft.com/office/drawing/2014/main" id="{4CF06853-0104-A0BE-26D7-86216FFCC39A}"/>
              </a:ext>
            </a:extLst>
          </p:cNvPr>
          <p:cNvSpPr/>
          <p:nvPr/>
        </p:nvSpPr>
        <p:spPr>
          <a:xfrm>
            <a:off x="6443845" y="2115977"/>
            <a:ext cx="434034" cy="28830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Tree>
    <p:extLst>
      <p:ext uri="{BB962C8B-B14F-4D97-AF65-F5344CB8AC3E}">
        <p14:creationId xmlns:p14="http://schemas.microsoft.com/office/powerpoint/2010/main" val="39063456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e 17">
            <a:extLst>
              <a:ext uri="{FF2B5EF4-FFF2-40B4-BE49-F238E27FC236}">
                <a16:creationId xmlns:a16="http://schemas.microsoft.com/office/drawing/2014/main" id="{AD00CDDD-7B24-EFD6-A08A-DC745E16161D}"/>
              </a:ext>
            </a:extLst>
          </p:cNvPr>
          <p:cNvGrpSpPr/>
          <p:nvPr/>
        </p:nvGrpSpPr>
        <p:grpSpPr>
          <a:xfrm>
            <a:off x="1121044" y="1273782"/>
            <a:ext cx="9488276" cy="1157925"/>
            <a:chOff x="11600" y="1496380"/>
            <a:chExt cx="12038120" cy="1498765"/>
          </a:xfrm>
        </p:grpSpPr>
        <p:grpSp>
          <p:nvGrpSpPr>
            <p:cNvPr id="22" name="Groupe 21">
              <a:extLst>
                <a:ext uri="{FF2B5EF4-FFF2-40B4-BE49-F238E27FC236}">
                  <a16:creationId xmlns:a16="http://schemas.microsoft.com/office/drawing/2014/main" id="{055BD562-D649-6CEB-534A-7E38CE17C61F}"/>
                </a:ext>
              </a:extLst>
            </p:cNvPr>
            <p:cNvGrpSpPr/>
            <p:nvPr/>
          </p:nvGrpSpPr>
          <p:grpSpPr>
            <a:xfrm>
              <a:off x="11600" y="2499558"/>
              <a:ext cx="12038120" cy="495587"/>
              <a:chOff x="0" y="2140394"/>
              <a:chExt cx="12854128" cy="4544491"/>
            </a:xfrm>
          </p:grpSpPr>
          <p:sp>
            <p:nvSpPr>
              <p:cNvPr id="32" name="Espace réservé du texte 15">
                <a:extLst>
                  <a:ext uri="{FF2B5EF4-FFF2-40B4-BE49-F238E27FC236}">
                    <a16:creationId xmlns:a16="http://schemas.microsoft.com/office/drawing/2014/main" id="{9F381E78-A7B5-395E-CBD1-1A8DB7EA535F}"/>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33" name="Espace réservé du texte 15">
                <a:extLst>
                  <a:ext uri="{FF2B5EF4-FFF2-40B4-BE49-F238E27FC236}">
                    <a16:creationId xmlns:a16="http://schemas.microsoft.com/office/drawing/2014/main" id="{C648B402-FB33-2772-E3AE-D48CAA35D189}"/>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34" name="Espace réservé du texte 15">
                <a:extLst>
                  <a:ext uri="{FF2B5EF4-FFF2-40B4-BE49-F238E27FC236}">
                    <a16:creationId xmlns:a16="http://schemas.microsoft.com/office/drawing/2014/main" id="{15FCFE1B-DB8D-A04A-EA49-D6AD6E207B9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35" name="Espace réservé du texte 15">
                <a:extLst>
                  <a:ext uri="{FF2B5EF4-FFF2-40B4-BE49-F238E27FC236}">
                    <a16:creationId xmlns:a16="http://schemas.microsoft.com/office/drawing/2014/main" id="{F485FD6F-9AEA-F9EA-B4AD-A1BD4934C8B3}"/>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36" name="Espace réservé du texte 15">
                <a:extLst>
                  <a:ext uri="{FF2B5EF4-FFF2-40B4-BE49-F238E27FC236}">
                    <a16:creationId xmlns:a16="http://schemas.microsoft.com/office/drawing/2014/main" id="{FB585E0E-B29D-8E99-EBAB-D6A6257E94B4}"/>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37" name="Espace réservé du texte 15">
                <a:extLst>
                  <a:ext uri="{FF2B5EF4-FFF2-40B4-BE49-F238E27FC236}">
                    <a16:creationId xmlns:a16="http://schemas.microsoft.com/office/drawing/2014/main" id="{859FA13A-F7AF-E457-B0B0-37C2F51F14FE}"/>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38" name="Espace réservé du texte 15">
                <a:extLst>
                  <a:ext uri="{FF2B5EF4-FFF2-40B4-BE49-F238E27FC236}">
                    <a16:creationId xmlns:a16="http://schemas.microsoft.com/office/drawing/2014/main" id="{A43D0B7B-0DB6-0B35-861A-6618769C178D}"/>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24" name="Graphique 23" descr="Ampoule avec un remplissage uni">
              <a:extLst>
                <a:ext uri="{FF2B5EF4-FFF2-40B4-BE49-F238E27FC236}">
                  <a16:creationId xmlns:a16="http://schemas.microsoft.com/office/drawing/2014/main" id="{0BC930DA-EA22-C940-AF47-393B1969A71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868" y="1496380"/>
              <a:ext cx="914400" cy="914400"/>
            </a:xfrm>
            <a:prstGeom prst="rect">
              <a:avLst/>
            </a:prstGeom>
          </p:spPr>
        </p:pic>
        <p:pic>
          <p:nvPicPr>
            <p:cNvPr id="26" name="Graphique 25" descr="Seau et pelle avec un remplissage uni">
              <a:extLst>
                <a:ext uri="{FF2B5EF4-FFF2-40B4-BE49-F238E27FC236}">
                  <a16:creationId xmlns:a16="http://schemas.microsoft.com/office/drawing/2014/main" id="{5707A53E-AD42-2852-F51B-21CFE2B7DBE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8515" y="1496380"/>
              <a:ext cx="914400" cy="914400"/>
            </a:xfrm>
            <a:prstGeom prst="rect">
              <a:avLst/>
            </a:prstGeom>
          </p:spPr>
        </p:pic>
        <p:pic>
          <p:nvPicPr>
            <p:cNvPr id="27" name="Graphique 26" descr="Tubes à essai avec un remplissage uni">
              <a:extLst>
                <a:ext uri="{FF2B5EF4-FFF2-40B4-BE49-F238E27FC236}">
                  <a16:creationId xmlns:a16="http://schemas.microsoft.com/office/drawing/2014/main" id="{8D592868-8164-98D7-EC38-23455C7FC01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33203" y="1496380"/>
              <a:ext cx="914400" cy="914400"/>
            </a:xfrm>
            <a:prstGeom prst="rect">
              <a:avLst/>
            </a:prstGeom>
          </p:spPr>
        </p:pic>
        <p:pic>
          <p:nvPicPr>
            <p:cNvPr id="28" name="Graphique 27" descr="Explosion avec un remplissage uni">
              <a:extLst>
                <a:ext uri="{FF2B5EF4-FFF2-40B4-BE49-F238E27FC236}">
                  <a16:creationId xmlns:a16="http://schemas.microsoft.com/office/drawing/2014/main" id="{9F8FECA9-8032-8F9F-9D09-3BF8A896B77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73460" y="1496380"/>
              <a:ext cx="914400" cy="914400"/>
            </a:xfrm>
            <a:prstGeom prst="rect">
              <a:avLst/>
            </a:prstGeom>
          </p:spPr>
        </p:pic>
        <p:pic>
          <p:nvPicPr>
            <p:cNvPr id="29" name="Graphique 28" descr="Trophée avec un remplissage uni">
              <a:extLst>
                <a:ext uri="{FF2B5EF4-FFF2-40B4-BE49-F238E27FC236}">
                  <a16:creationId xmlns:a16="http://schemas.microsoft.com/office/drawing/2014/main" id="{B123F355-35B4-9EE1-DAAC-DA65B5DC490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13717" y="1496380"/>
              <a:ext cx="914400" cy="914400"/>
            </a:xfrm>
            <a:prstGeom prst="rect">
              <a:avLst/>
            </a:prstGeom>
          </p:spPr>
        </p:pic>
        <p:pic>
          <p:nvPicPr>
            <p:cNvPr id="30" name="Graphique 29" descr="Assiette couverte avec un remplissage uni">
              <a:extLst>
                <a:ext uri="{FF2B5EF4-FFF2-40B4-BE49-F238E27FC236}">
                  <a16:creationId xmlns:a16="http://schemas.microsoft.com/office/drawing/2014/main" id="{9AFFEFF6-E8AB-4CA0-50DB-68A520F6DEB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48405" y="1496380"/>
              <a:ext cx="914400" cy="914400"/>
            </a:xfrm>
            <a:prstGeom prst="rect">
              <a:avLst/>
            </a:prstGeom>
          </p:spPr>
        </p:pic>
        <p:pic>
          <p:nvPicPr>
            <p:cNvPr id="31" name="Graphique 30" descr="Scène de château avec un remplissage uni">
              <a:extLst>
                <a:ext uri="{FF2B5EF4-FFF2-40B4-BE49-F238E27FC236}">
                  <a16:creationId xmlns:a16="http://schemas.microsoft.com/office/drawing/2014/main" id="{AA249DE6-5B56-AC37-8479-2066E21388E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783093" y="1496380"/>
              <a:ext cx="914400" cy="914400"/>
            </a:xfrm>
            <a:prstGeom prst="rect">
              <a:avLst/>
            </a:prstGeom>
          </p:spPr>
        </p:pic>
      </p:grpSp>
      <p:grpSp>
        <p:nvGrpSpPr>
          <p:cNvPr id="62" name="Groupe 61">
            <a:extLst>
              <a:ext uri="{FF2B5EF4-FFF2-40B4-BE49-F238E27FC236}">
                <a16:creationId xmlns:a16="http://schemas.microsoft.com/office/drawing/2014/main" id="{B5C16EB9-9AA7-6F85-2CCD-D2D1AB0048B0}"/>
              </a:ext>
            </a:extLst>
          </p:cNvPr>
          <p:cNvGrpSpPr/>
          <p:nvPr/>
        </p:nvGrpSpPr>
        <p:grpSpPr>
          <a:xfrm>
            <a:off x="1167669" y="4058566"/>
            <a:ext cx="9488276" cy="1157925"/>
            <a:chOff x="11600" y="1496380"/>
            <a:chExt cx="12038120" cy="1498765"/>
          </a:xfrm>
        </p:grpSpPr>
        <p:grpSp>
          <p:nvGrpSpPr>
            <p:cNvPr id="63" name="Groupe 62">
              <a:extLst>
                <a:ext uri="{FF2B5EF4-FFF2-40B4-BE49-F238E27FC236}">
                  <a16:creationId xmlns:a16="http://schemas.microsoft.com/office/drawing/2014/main" id="{B9D02D03-7C64-526C-2095-F83E6E7AFF8A}"/>
                </a:ext>
              </a:extLst>
            </p:cNvPr>
            <p:cNvGrpSpPr/>
            <p:nvPr/>
          </p:nvGrpSpPr>
          <p:grpSpPr>
            <a:xfrm>
              <a:off x="11600" y="2499558"/>
              <a:ext cx="12038120" cy="495587"/>
              <a:chOff x="0" y="2140394"/>
              <a:chExt cx="12854128" cy="4544491"/>
            </a:xfrm>
          </p:grpSpPr>
          <p:sp>
            <p:nvSpPr>
              <p:cNvPr id="71" name="Espace réservé du texte 15">
                <a:extLst>
                  <a:ext uri="{FF2B5EF4-FFF2-40B4-BE49-F238E27FC236}">
                    <a16:creationId xmlns:a16="http://schemas.microsoft.com/office/drawing/2014/main" id="{E9E1CFAE-C3A1-51DD-D25C-5D4F298E6DEA}"/>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72" name="Espace réservé du texte 15">
                <a:extLst>
                  <a:ext uri="{FF2B5EF4-FFF2-40B4-BE49-F238E27FC236}">
                    <a16:creationId xmlns:a16="http://schemas.microsoft.com/office/drawing/2014/main" id="{EBD9E968-6399-C406-438A-27DDE2E7F0FC}"/>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73" name="Espace réservé du texte 15">
                <a:extLst>
                  <a:ext uri="{FF2B5EF4-FFF2-40B4-BE49-F238E27FC236}">
                    <a16:creationId xmlns:a16="http://schemas.microsoft.com/office/drawing/2014/main" id="{D6B25C3B-9B6B-5337-AE61-5B3D63025FE8}"/>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74" name="Espace réservé du texte 15">
                <a:extLst>
                  <a:ext uri="{FF2B5EF4-FFF2-40B4-BE49-F238E27FC236}">
                    <a16:creationId xmlns:a16="http://schemas.microsoft.com/office/drawing/2014/main" id="{EFE376F4-B4E4-4EDC-34DD-574719500F31}"/>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75" name="Espace réservé du texte 15">
                <a:extLst>
                  <a:ext uri="{FF2B5EF4-FFF2-40B4-BE49-F238E27FC236}">
                    <a16:creationId xmlns:a16="http://schemas.microsoft.com/office/drawing/2014/main" id="{AA137E7C-333C-7E2D-4EA1-E315942E2505}"/>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76" name="Espace réservé du texte 15">
                <a:extLst>
                  <a:ext uri="{FF2B5EF4-FFF2-40B4-BE49-F238E27FC236}">
                    <a16:creationId xmlns:a16="http://schemas.microsoft.com/office/drawing/2014/main" id="{269D0B41-BE7D-AADB-6CFF-04A42C4E0B8C}"/>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77" name="Espace réservé du texte 15">
                <a:extLst>
                  <a:ext uri="{FF2B5EF4-FFF2-40B4-BE49-F238E27FC236}">
                    <a16:creationId xmlns:a16="http://schemas.microsoft.com/office/drawing/2014/main" id="{858E8586-1028-9571-56A7-67B7AAC69F61}"/>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64" name="Graphique 63" descr="Ampoule avec un remplissage uni">
              <a:extLst>
                <a:ext uri="{FF2B5EF4-FFF2-40B4-BE49-F238E27FC236}">
                  <a16:creationId xmlns:a16="http://schemas.microsoft.com/office/drawing/2014/main" id="{4E9FB24B-AC41-EC2B-9B9D-0616D6FF788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868" y="1496380"/>
              <a:ext cx="914400" cy="914400"/>
            </a:xfrm>
            <a:prstGeom prst="rect">
              <a:avLst/>
            </a:prstGeom>
          </p:spPr>
        </p:pic>
        <p:pic>
          <p:nvPicPr>
            <p:cNvPr id="65" name="Graphique 64" descr="Seau et pelle avec un remplissage uni">
              <a:extLst>
                <a:ext uri="{FF2B5EF4-FFF2-40B4-BE49-F238E27FC236}">
                  <a16:creationId xmlns:a16="http://schemas.microsoft.com/office/drawing/2014/main" id="{F8066194-900D-B251-8F8C-1729EA8D8FA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8515" y="1496380"/>
              <a:ext cx="914400" cy="914400"/>
            </a:xfrm>
            <a:prstGeom prst="rect">
              <a:avLst/>
            </a:prstGeom>
          </p:spPr>
        </p:pic>
        <p:pic>
          <p:nvPicPr>
            <p:cNvPr id="66" name="Graphique 65" descr="Tubes à essai avec un remplissage uni">
              <a:extLst>
                <a:ext uri="{FF2B5EF4-FFF2-40B4-BE49-F238E27FC236}">
                  <a16:creationId xmlns:a16="http://schemas.microsoft.com/office/drawing/2014/main" id="{442A12CD-2FD0-0CA1-C8D6-0CBC08E9AFB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33203" y="1496380"/>
              <a:ext cx="914400" cy="914400"/>
            </a:xfrm>
            <a:prstGeom prst="rect">
              <a:avLst/>
            </a:prstGeom>
          </p:spPr>
        </p:pic>
        <p:pic>
          <p:nvPicPr>
            <p:cNvPr id="67" name="Graphique 66" descr="Explosion avec un remplissage uni">
              <a:extLst>
                <a:ext uri="{FF2B5EF4-FFF2-40B4-BE49-F238E27FC236}">
                  <a16:creationId xmlns:a16="http://schemas.microsoft.com/office/drawing/2014/main" id="{C9A69BDC-A530-319C-35FB-77C717DA217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73460" y="1496380"/>
              <a:ext cx="914400" cy="914400"/>
            </a:xfrm>
            <a:prstGeom prst="rect">
              <a:avLst/>
            </a:prstGeom>
          </p:spPr>
        </p:pic>
        <p:pic>
          <p:nvPicPr>
            <p:cNvPr id="68" name="Graphique 67" descr="Trophée avec un remplissage uni">
              <a:extLst>
                <a:ext uri="{FF2B5EF4-FFF2-40B4-BE49-F238E27FC236}">
                  <a16:creationId xmlns:a16="http://schemas.microsoft.com/office/drawing/2014/main" id="{E6B915D4-EE00-8ED7-00C5-A8A42D378F2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13717" y="1496380"/>
              <a:ext cx="914400" cy="914400"/>
            </a:xfrm>
            <a:prstGeom prst="rect">
              <a:avLst/>
            </a:prstGeom>
          </p:spPr>
        </p:pic>
        <p:pic>
          <p:nvPicPr>
            <p:cNvPr id="69" name="Graphique 68" descr="Assiette couverte avec un remplissage uni">
              <a:extLst>
                <a:ext uri="{FF2B5EF4-FFF2-40B4-BE49-F238E27FC236}">
                  <a16:creationId xmlns:a16="http://schemas.microsoft.com/office/drawing/2014/main" id="{5914C456-EB5B-DB36-87C1-FDAFA1FAF52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48405" y="1496380"/>
              <a:ext cx="914400" cy="914400"/>
            </a:xfrm>
            <a:prstGeom prst="rect">
              <a:avLst/>
            </a:prstGeom>
          </p:spPr>
        </p:pic>
        <p:pic>
          <p:nvPicPr>
            <p:cNvPr id="70" name="Graphique 69" descr="Scène de château avec un remplissage uni">
              <a:extLst>
                <a:ext uri="{FF2B5EF4-FFF2-40B4-BE49-F238E27FC236}">
                  <a16:creationId xmlns:a16="http://schemas.microsoft.com/office/drawing/2014/main" id="{468288A1-92CD-88E5-96F4-4394BB715B6F}"/>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783093" y="1496380"/>
              <a:ext cx="914400" cy="914400"/>
            </a:xfrm>
            <a:prstGeom prst="rect">
              <a:avLst/>
            </a:prstGeom>
          </p:spPr>
        </p:pic>
      </p:grpSp>
      <p:sp>
        <p:nvSpPr>
          <p:cNvPr id="42" name="Bulle narrative : ronde 41">
            <a:extLst>
              <a:ext uri="{FF2B5EF4-FFF2-40B4-BE49-F238E27FC236}">
                <a16:creationId xmlns:a16="http://schemas.microsoft.com/office/drawing/2014/main" id="{CF861B28-A04F-C08F-D0D2-A8DEDC79FACA}"/>
              </a:ext>
            </a:extLst>
          </p:cNvPr>
          <p:cNvSpPr/>
          <p:nvPr/>
        </p:nvSpPr>
        <p:spPr>
          <a:xfrm>
            <a:off x="6501103" y="2469930"/>
            <a:ext cx="3539147" cy="959070"/>
          </a:xfrm>
          <a:prstGeom prst="wedgeEllipseCallout">
            <a:avLst>
              <a:gd name="adj1" fmla="val 66029"/>
              <a:gd name="adj2" fmla="val -2150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DE SENSIBILISATION</a:t>
            </a:r>
            <a:r>
              <a:rPr lang="fr-FR" sz="1000" b="1">
                <a:solidFill>
                  <a:schemeClr val="tx1"/>
                </a:solidFill>
              </a:rPr>
              <a:t>, NOTRE MISSION EST SURTOUT </a:t>
            </a:r>
            <a:r>
              <a:rPr lang="fr-FR" sz="1000" b="1">
                <a:solidFill>
                  <a:srgbClr val="0683AA"/>
                </a:solidFill>
              </a:rPr>
              <a:t>D’INSPIRER SUR DE NOMBREUX SUJETS </a:t>
            </a:r>
            <a:r>
              <a:rPr lang="fr-FR" sz="1000" b="1">
                <a:solidFill>
                  <a:schemeClr val="tx1"/>
                </a:solidFill>
              </a:rPr>
              <a:t>SANS ALLER PLUS LOIN. TOUS NOS SUJETS S’ARRÊTENT A </a:t>
            </a:r>
            <a:r>
              <a:rPr lang="fr-FR" sz="1000" b="1" i="1">
                <a:solidFill>
                  <a:schemeClr val="tx1"/>
                </a:solidFill>
              </a:rPr>
              <a:t>INSPIRATION</a:t>
            </a:r>
            <a:r>
              <a:rPr lang="fr-FR" sz="1000" b="1">
                <a:solidFill>
                  <a:schemeClr val="tx1"/>
                </a:solidFill>
              </a:rPr>
              <a:t>.</a:t>
            </a:r>
            <a:endParaRPr lang="fr-FR" sz="1000"/>
          </a:p>
        </p:txBody>
      </p:sp>
      <p:sp>
        <p:nvSpPr>
          <p:cNvPr id="107" name="Bulle narrative : ronde 106">
            <a:extLst>
              <a:ext uri="{FF2B5EF4-FFF2-40B4-BE49-F238E27FC236}">
                <a16:creationId xmlns:a16="http://schemas.microsoft.com/office/drawing/2014/main" id="{D109D331-B90B-972E-087D-4C1DF50CFFE9}"/>
              </a:ext>
            </a:extLst>
          </p:cNvPr>
          <p:cNvSpPr/>
          <p:nvPr/>
        </p:nvSpPr>
        <p:spPr>
          <a:xfrm>
            <a:off x="6143349" y="5394584"/>
            <a:ext cx="4236749" cy="997293"/>
          </a:xfrm>
          <a:prstGeom prst="wedgeEllipseCallout">
            <a:avLst>
              <a:gd name="adj1" fmla="val 58836"/>
              <a:gd name="adj2" fmla="val -2543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DE RENSEIGNEMENT</a:t>
            </a:r>
            <a:r>
              <a:rPr lang="fr-FR" sz="1000" b="1">
                <a:solidFill>
                  <a:schemeClr val="tx1"/>
                </a:solidFill>
              </a:rPr>
              <a:t>, NOTRE MISSION EST </a:t>
            </a:r>
            <a:r>
              <a:rPr lang="fr-FR" sz="1000" b="1">
                <a:solidFill>
                  <a:srgbClr val="0683AA"/>
                </a:solidFill>
              </a:rPr>
              <a:t>DE DETECTER LES OPPORTUNITES </a:t>
            </a:r>
            <a:r>
              <a:rPr lang="fr-FR" sz="1000" b="1">
                <a:solidFill>
                  <a:schemeClr val="tx1"/>
                </a:solidFill>
              </a:rPr>
              <a:t>AFIN DE LAISSER D’AUTRES PORTER LE CHANGEMENT PLUS OFFICIELLEMENT. . TOUS NOS SUJETS S’ARRÊTENT A LA </a:t>
            </a:r>
            <a:r>
              <a:rPr lang="fr-FR" sz="1000" b="1" i="1">
                <a:solidFill>
                  <a:schemeClr val="tx1"/>
                </a:solidFill>
              </a:rPr>
              <a:t>COLLECTE</a:t>
            </a:r>
            <a:r>
              <a:rPr lang="fr-FR" sz="1000" b="1">
                <a:solidFill>
                  <a:schemeClr val="tx1"/>
                </a:solidFill>
              </a:rPr>
              <a:t>.</a:t>
            </a:r>
          </a:p>
        </p:txBody>
      </p:sp>
      <p:pic>
        <p:nvPicPr>
          <p:cNvPr id="108" name="Graphique 107" descr="Notes Post-it avec un remplissage uni">
            <a:extLst>
              <a:ext uri="{FF2B5EF4-FFF2-40B4-BE49-F238E27FC236}">
                <a16:creationId xmlns:a16="http://schemas.microsoft.com/office/drawing/2014/main" id="{96401561-678C-C932-4472-61BF58365588}"/>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57265" y="2431706"/>
            <a:ext cx="485113" cy="485113"/>
          </a:xfrm>
          <a:prstGeom prst="rect">
            <a:avLst/>
          </a:prstGeom>
        </p:spPr>
      </p:pic>
      <p:pic>
        <p:nvPicPr>
          <p:cNvPr id="109" name="Graphique 108" descr="Mille avec un remplissage uni">
            <a:extLst>
              <a:ext uri="{FF2B5EF4-FFF2-40B4-BE49-F238E27FC236}">
                <a16:creationId xmlns:a16="http://schemas.microsoft.com/office/drawing/2014/main" id="{0BB2C2FA-78B4-1B41-B0FC-4B8FA84EAEA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606157" y="2431707"/>
            <a:ext cx="485112" cy="485112"/>
          </a:xfrm>
          <a:prstGeom prst="rect">
            <a:avLst/>
          </a:prstGeom>
        </p:spPr>
      </p:pic>
      <p:cxnSp>
        <p:nvCxnSpPr>
          <p:cNvPr id="110" name="Connecteur droit avec flèche 109">
            <a:extLst>
              <a:ext uri="{FF2B5EF4-FFF2-40B4-BE49-F238E27FC236}">
                <a16:creationId xmlns:a16="http://schemas.microsoft.com/office/drawing/2014/main" id="{68467824-27C7-0500-BB23-EF3569E518FC}"/>
              </a:ext>
            </a:extLst>
          </p:cNvPr>
          <p:cNvCxnSpPr>
            <a:stCxn id="108" idx="3"/>
            <a:endCxn id="109" idx="1"/>
          </p:cNvCxnSpPr>
          <p:nvPr/>
        </p:nvCxnSpPr>
        <p:spPr>
          <a:xfrm>
            <a:off x="1142378" y="2674263"/>
            <a:ext cx="463779" cy="0"/>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pic>
        <p:nvPicPr>
          <p:cNvPr id="113" name="Graphique 112" descr="Notes Post-it avec un remplissage uni">
            <a:extLst>
              <a:ext uri="{FF2B5EF4-FFF2-40B4-BE49-F238E27FC236}">
                <a16:creationId xmlns:a16="http://schemas.microsoft.com/office/drawing/2014/main" id="{F605946F-4C0D-7F8F-67C1-0E66336737E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71158" y="5210923"/>
            <a:ext cx="485113" cy="485113"/>
          </a:xfrm>
          <a:prstGeom prst="rect">
            <a:avLst/>
          </a:prstGeom>
        </p:spPr>
      </p:pic>
      <p:pic>
        <p:nvPicPr>
          <p:cNvPr id="114" name="Graphique 113" descr="Mille avec un remplissage uni">
            <a:extLst>
              <a:ext uri="{FF2B5EF4-FFF2-40B4-BE49-F238E27FC236}">
                <a16:creationId xmlns:a16="http://schemas.microsoft.com/office/drawing/2014/main" id="{50142729-E462-00F4-047E-01225FCA90A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897616" y="5210924"/>
            <a:ext cx="485112" cy="485112"/>
          </a:xfrm>
          <a:prstGeom prst="rect">
            <a:avLst/>
          </a:prstGeom>
        </p:spPr>
      </p:pic>
      <p:cxnSp>
        <p:nvCxnSpPr>
          <p:cNvPr id="115" name="Connecteur droit avec flèche 114">
            <a:extLst>
              <a:ext uri="{FF2B5EF4-FFF2-40B4-BE49-F238E27FC236}">
                <a16:creationId xmlns:a16="http://schemas.microsoft.com/office/drawing/2014/main" id="{061F2594-0DB8-E047-2231-0ABEA01CD911}"/>
              </a:ext>
            </a:extLst>
          </p:cNvPr>
          <p:cNvCxnSpPr>
            <a:stCxn id="113" idx="3"/>
            <a:endCxn id="114" idx="1"/>
          </p:cNvCxnSpPr>
          <p:nvPr/>
        </p:nvCxnSpPr>
        <p:spPr>
          <a:xfrm>
            <a:off x="1156271" y="5453480"/>
            <a:ext cx="1741345" cy="0"/>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sp>
        <p:nvSpPr>
          <p:cNvPr id="44" name="ZoneTexte 43">
            <a:extLst>
              <a:ext uri="{FF2B5EF4-FFF2-40B4-BE49-F238E27FC236}">
                <a16:creationId xmlns:a16="http://schemas.microsoft.com/office/drawing/2014/main" id="{2A514106-5154-13DA-3B82-8D55DEE08E59}"/>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Cas d’usage</a:t>
            </a:r>
            <a:endParaRPr lang="fr-FR" sz="3200"/>
          </a:p>
        </p:txBody>
      </p:sp>
      <p:pic>
        <p:nvPicPr>
          <p:cNvPr id="3" name="Graphique 2" descr="Groupe d’hommes avec un remplissage uni">
            <a:extLst>
              <a:ext uri="{FF2B5EF4-FFF2-40B4-BE49-F238E27FC236}">
                <a16:creationId xmlns:a16="http://schemas.microsoft.com/office/drawing/2014/main" id="{A96F1FD5-E343-52DE-AC19-D449C112C38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946080" y="2334087"/>
            <a:ext cx="914400" cy="914400"/>
          </a:xfrm>
          <a:prstGeom prst="rect">
            <a:avLst/>
          </a:prstGeom>
        </p:spPr>
      </p:pic>
      <p:pic>
        <p:nvPicPr>
          <p:cNvPr id="47" name="Graphique 46" descr="Groupe d’hommes avec un remplissage uni">
            <a:extLst>
              <a:ext uri="{FF2B5EF4-FFF2-40B4-BE49-F238E27FC236}">
                <a16:creationId xmlns:a16="http://schemas.microsoft.com/office/drawing/2014/main" id="{2C50945B-F755-49B6-5173-5A4D0523C090}"/>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946080" y="5346348"/>
            <a:ext cx="914400" cy="914400"/>
          </a:xfrm>
          <a:prstGeom prst="rect">
            <a:avLst/>
          </a:prstGeom>
        </p:spPr>
      </p:pic>
      <p:sp>
        <p:nvSpPr>
          <p:cNvPr id="2" name="ZoneTexte 1">
            <a:extLst>
              <a:ext uri="{FF2B5EF4-FFF2-40B4-BE49-F238E27FC236}">
                <a16:creationId xmlns:a16="http://schemas.microsoft.com/office/drawing/2014/main" id="{95EF8E06-2A29-8020-AB1F-96FF8735E642}"/>
              </a:ext>
            </a:extLst>
          </p:cNvPr>
          <p:cNvSpPr txBox="1"/>
          <p:nvPr/>
        </p:nvSpPr>
        <p:spPr>
          <a:xfrm>
            <a:off x="10869319" y="3248487"/>
            <a:ext cx="1067921" cy="261610"/>
          </a:xfrm>
          <a:prstGeom prst="rect">
            <a:avLst/>
          </a:prstGeom>
          <a:noFill/>
        </p:spPr>
        <p:txBody>
          <a:bodyPr wrap="none" rtlCol="0">
            <a:spAutoFit/>
          </a:bodyPr>
          <a:lstStyle/>
          <a:p>
            <a:r>
              <a:rPr lang="fr-FR" sz="1100"/>
              <a:t>Communauté 1</a:t>
            </a:r>
          </a:p>
        </p:txBody>
      </p:sp>
      <p:sp>
        <p:nvSpPr>
          <p:cNvPr id="46" name="ZoneTexte 45">
            <a:extLst>
              <a:ext uri="{FF2B5EF4-FFF2-40B4-BE49-F238E27FC236}">
                <a16:creationId xmlns:a16="http://schemas.microsoft.com/office/drawing/2014/main" id="{D6ED0E6E-B703-2867-DCBA-1E3DBE943DFD}"/>
              </a:ext>
            </a:extLst>
          </p:cNvPr>
          <p:cNvSpPr txBox="1"/>
          <p:nvPr/>
        </p:nvSpPr>
        <p:spPr>
          <a:xfrm>
            <a:off x="10869318" y="6260748"/>
            <a:ext cx="1067921" cy="261610"/>
          </a:xfrm>
          <a:prstGeom prst="rect">
            <a:avLst/>
          </a:prstGeom>
          <a:noFill/>
        </p:spPr>
        <p:txBody>
          <a:bodyPr wrap="none" rtlCol="0">
            <a:spAutoFit/>
          </a:bodyPr>
          <a:lstStyle/>
          <a:p>
            <a:r>
              <a:rPr lang="fr-FR" sz="1100"/>
              <a:t>Communauté 2</a:t>
            </a:r>
          </a:p>
        </p:txBody>
      </p:sp>
    </p:spTree>
    <p:extLst>
      <p:ext uri="{BB962C8B-B14F-4D97-AF65-F5344CB8AC3E}">
        <p14:creationId xmlns:p14="http://schemas.microsoft.com/office/powerpoint/2010/main" val="10749654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Bulle narrative : ronde 91">
            <a:extLst>
              <a:ext uri="{FF2B5EF4-FFF2-40B4-BE49-F238E27FC236}">
                <a16:creationId xmlns:a16="http://schemas.microsoft.com/office/drawing/2014/main" id="{EA9ECA2E-9778-C637-B9CC-065D93A37AFA}"/>
              </a:ext>
            </a:extLst>
          </p:cNvPr>
          <p:cNvSpPr/>
          <p:nvPr/>
        </p:nvSpPr>
        <p:spPr>
          <a:xfrm>
            <a:off x="6827952" y="2503204"/>
            <a:ext cx="3675013" cy="925154"/>
          </a:xfrm>
          <a:prstGeom prst="wedgeEllipseCallout">
            <a:avLst>
              <a:gd name="adj1" fmla="val 60715"/>
              <a:gd name="adj2" fmla="val -3350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D’APPRENTISSAGE</a:t>
            </a:r>
            <a:r>
              <a:rPr lang="fr-FR" sz="1000" b="1">
                <a:solidFill>
                  <a:schemeClr val="tx1"/>
                </a:solidFill>
              </a:rPr>
              <a:t>, NOTRE MISSION EST </a:t>
            </a:r>
            <a:r>
              <a:rPr lang="fr-FR" sz="1000" b="1">
                <a:solidFill>
                  <a:srgbClr val="0683AA"/>
                </a:solidFill>
              </a:rPr>
              <a:t>D’INITIER ET FORMER </a:t>
            </a:r>
            <a:r>
              <a:rPr lang="fr-FR" sz="1000" b="1">
                <a:solidFill>
                  <a:schemeClr val="tx1"/>
                </a:solidFill>
              </a:rPr>
              <a:t>SANS ALLER JUSQUE DANS L’OPERATIONNEL. TOUS NOS SUJETS S’ARRÊTENT A </a:t>
            </a:r>
            <a:r>
              <a:rPr lang="fr-FR" sz="1000" b="1" i="1">
                <a:solidFill>
                  <a:schemeClr val="tx1"/>
                </a:solidFill>
              </a:rPr>
              <a:t>INITIATION</a:t>
            </a:r>
            <a:r>
              <a:rPr lang="fr-FR" sz="1000" b="1">
                <a:solidFill>
                  <a:schemeClr val="tx1"/>
                </a:solidFill>
              </a:rPr>
              <a:t>.</a:t>
            </a:r>
          </a:p>
        </p:txBody>
      </p:sp>
      <p:sp>
        <p:nvSpPr>
          <p:cNvPr id="93" name="Bulle narrative : ronde 92">
            <a:extLst>
              <a:ext uri="{FF2B5EF4-FFF2-40B4-BE49-F238E27FC236}">
                <a16:creationId xmlns:a16="http://schemas.microsoft.com/office/drawing/2014/main" id="{A226886B-4B83-955A-2280-AFE122500655}"/>
              </a:ext>
            </a:extLst>
          </p:cNvPr>
          <p:cNvSpPr/>
          <p:nvPr/>
        </p:nvSpPr>
        <p:spPr>
          <a:xfrm>
            <a:off x="6823738" y="5526219"/>
            <a:ext cx="4122342" cy="1045811"/>
          </a:xfrm>
          <a:prstGeom prst="wedgeEllipseCallout">
            <a:avLst>
              <a:gd name="adj1" fmla="val 49280"/>
              <a:gd name="adj2" fmla="val -3678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D’ENTRAIDE</a:t>
            </a:r>
            <a:r>
              <a:rPr lang="fr-FR" sz="1000" b="1">
                <a:solidFill>
                  <a:schemeClr val="tx1"/>
                </a:solidFill>
              </a:rPr>
              <a:t>, NOTRE MISSION EST </a:t>
            </a:r>
            <a:r>
              <a:rPr lang="fr-FR" sz="1000" b="1">
                <a:solidFill>
                  <a:srgbClr val="0683AA"/>
                </a:solidFill>
              </a:rPr>
              <a:t>DE DONNER LES MOYENS AUX MEMBRES DE SE SOUTENIR LES UNS LES AUTRES </a:t>
            </a:r>
            <a:r>
              <a:rPr lang="fr-FR" sz="1000" b="1">
                <a:solidFill>
                  <a:schemeClr val="tx1"/>
                </a:solidFill>
              </a:rPr>
              <a:t>SANS PRESSION SUR LA REUSSITE. TOUS NOS SUJETS S’ARRÊTENT A </a:t>
            </a:r>
            <a:r>
              <a:rPr lang="fr-FR" sz="1000" b="1" i="1">
                <a:solidFill>
                  <a:schemeClr val="tx1"/>
                </a:solidFill>
              </a:rPr>
              <a:t>CHOC DE LA REALITE</a:t>
            </a:r>
            <a:r>
              <a:rPr lang="fr-FR" sz="1000" b="1">
                <a:solidFill>
                  <a:schemeClr val="tx1"/>
                </a:solidFill>
              </a:rPr>
              <a:t>.</a:t>
            </a:r>
          </a:p>
        </p:txBody>
      </p:sp>
      <p:sp>
        <p:nvSpPr>
          <p:cNvPr id="44" name="ZoneTexte 43">
            <a:extLst>
              <a:ext uri="{FF2B5EF4-FFF2-40B4-BE49-F238E27FC236}">
                <a16:creationId xmlns:a16="http://schemas.microsoft.com/office/drawing/2014/main" id="{5B6D5F3B-8038-51A9-08B8-BCA501499FD3}"/>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Cas d’usage</a:t>
            </a:r>
            <a:endParaRPr lang="fr-FR" sz="3200"/>
          </a:p>
        </p:txBody>
      </p:sp>
      <p:grpSp>
        <p:nvGrpSpPr>
          <p:cNvPr id="47" name="Groupe 46">
            <a:extLst>
              <a:ext uri="{FF2B5EF4-FFF2-40B4-BE49-F238E27FC236}">
                <a16:creationId xmlns:a16="http://schemas.microsoft.com/office/drawing/2014/main" id="{9523D7AD-46C4-9309-F8AF-704CDDA7B24B}"/>
              </a:ext>
            </a:extLst>
          </p:cNvPr>
          <p:cNvGrpSpPr/>
          <p:nvPr/>
        </p:nvGrpSpPr>
        <p:grpSpPr>
          <a:xfrm>
            <a:off x="1121044" y="1273782"/>
            <a:ext cx="9488276" cy="1157925"/>
            <a:chOff x="11600" y="1496380"/>
            <a:chExt cx="12038120" cy="1498765"/>
          </a:xfrm>
        </p:grpSpPr>
        <p:grpSp>
          <p:nvGrpSpPr>
            <p:cNvPr id="48" name="Groupe 47">
              <a:extLst>
                <a:ext uri="{FF2B5EF4-FFF2-40B4-BE49-F238E27FC236}">
                  <a16:creationId xmlns:a16="http://schemas.microsoft.com/office/drawing/2014/main" id="{2D21FC83-7DFC-17A9-0668-8B5828636F1C}"/>
                </a:ext>
              </a:extLst>
            </p:cNvPr>
            <p:cNvGrpSpPr/>
            <p:nvPr/>
          </p:nvGrpSpPr>
          <p:grpSpPr>
            <a:xfrm>
              <a:off x="11600" y="2499558"/>
              <a:ext cx="12038120" cy="495587"/>
              <a:chOff x="0" y="2140394"/>
              <a:chExt cx="12854128" cy="4544491"/>
            </a:xfrm>
          </p:grpSpPr>
          <p:sp>
            <p:nvSpPr>
              <p:cNvPr id="56" name="Espace réservé du texte 15">
                <a:extLst>
                  <a:ext uri="{FF2B5EF4-FFF2-40B4-BE49-F238E27FC236}">
                    <a16:creationId xmlns:a16="http://schemas.microsoft.com/office/drawing/2014/main" id="{9C302FD4-A918-8D8E-48FF-3E79A6BE790A}"/>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57" name="Espace réservé du texte 15">
                <a:extLst>
                  <a:ext uri="{FF2B5EF4-FFF2-40B4-BE49-F238E27FC236}">
                    <a16:creationId xmlns:a16="http://schemas.microsoft.com/office/drawing/2014/main" id="{315EDF9D-0A98-4C89-3140-C4C856083EAC}"/>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58" name="Espace réservé du texte 15">
                <a:extLst>
                  <a:ext uri="{FF2B5EF4-FFF2-40B4-BE49-F238E27FC236}">
                    <a16:creationId xmlns:a16="http://schemas.microsoft.com/office/drawing/2014/main" id="{0EBA09A0-A07E-62C0-5665-CEFC5AF8D9DD}"/>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59" name="Espace réservé du texte 15">
                <a:extLst>
                  <a:ext uri="{FF2B5EF4-FFF2-40B4-BE49-F238E27FC236}">
                    <a16:creationId xmlns:a16="http://schemas.microsoft.com/office/drawing/2014/main" id="{F1BC0D7D-3E16-852C-330C-EB4E384837CD}"/>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60" name="Espace réservé du texte 15">
                <a:extLst>
                  <a:ext uri="{FF2B5EF4-FFF2-40B4-BE49-F238E27FC236}">
                    <a16:creationId xmlns:a16="http://schemas.microsoft.com/office/drawing/2014/main" id="{A6288BCE-876F-24E6-F685-CEEEEA40FDAB}"/>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61" name="Espace réservé du texte 15">
                <a:extLst>
                  <a:ext uri="{FF2B5EF4-FFF2-40B4-BE49-F238E27FC236}">
                    <a16:creationId xmlns:a16="http://schemas.microsoft.com/office/drawing/2014/main" id="{A53FE206-E345-8CF8-0105-1B59E354D2B4}"/>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62" name="Espace réservé du texte 15">
                <a:extLst>
                  <a:ext uri="{FF2B5EF4-FFF2-40B4-BE49-F238E27FC236}">
                    <a16:creationId xmlns:a16="http://schemas.microsoft.com/office/drawing/2014/main" id="{C9428A7C-E1DC-A277-3206-B116A531C1C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49" name="Graphique 48" descr="Ampoule avec un remplissage uni">
              <a:extLst>
                <a:ext uri="{FF2B5EF4-FFF2-40B4-BE49-F238E27FC236}">
                  <a16:creationId xmlns:a16="http://schemas.microsoft.com/office/drawing/2014/main" id="{863E6AE1-A2CD-E048-27B8-6C8F99EFD3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868" y="1496380"/>
              <a:ext cx="914400" cy="914400"/>
            </a:xfrm>
            <a:prstGeom prst="rect">
              <a:avLst/>
            </a:prstGeom>
          </p:spPr>
        </p:pic>
        <p:pic>
          <p:nvPicPr>
            <p:cNvPr id="50" name="Graphique 49" descr="Seau et pelle avec un remplissage uni">
              <a:extLst>
                <a:ext uri="{FF2B5EF4-FFF2-40B4-BE49-F238E27FC236}">
                  <a16:creationId xmlns:a16="http://schemas.microsoft.com/office/drawing/2014/main" id="{1884D3D5-04D1-CDCF-89A5-DD4FC0788F3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8515" y="1496380"/>
              <a:ext cx="914400" cy="914400"/>
            </a:xfrm>
            <a:prstGeom prst="rect">
              <a:avLst/>
            </a:prstGeom>
          </p:spPr>
        </p:pic>
        <p:pic>
          <p:nvPicPr>
            <p:cNvPr id="51" name="Graphique 50" descr="Tubes à essai avec un remplissage uni">
              <a:extLst>
                <a:ext uri="{FF2B5EF4-FFF2-40B4-BE49-F238E27FC236}">
                  <a16:creationId xmlns:a16="http://schemas.microsoft.com/office/drawing/2014/main" id="{3DC1BA6C-BD72-95C1-FFA7-C65B5CD2D70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33203" y="1496380"/>
              <a:ext cx="914400" cy="914400"/>
            </a:xfrm>
            <a:prstGeom prst="rect">
              <a:avLst/>
            </a:prstGeom>
          </p:spPr>
        </p:pic>
        <p:pic>
          <p:nvPicPr>
            <p:cNvPr id="52" name="Graphique 51" descr="Explosion avec un remplissage uni">
              <a:extLst>
                <a:ext uri="{FF2B5EF4-FFF2-40B4-BE49-F238E27FC236}">
                  <a16:creationId xmlns:a16="http://schemas.microsoft.com/office/drawing/2014/main" id="{4D1034D2-BC14-BAC4-8F71-92F85442EAF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73460" y="1496380"/>
              <a:ext cx="914400" cy="914400"/>
            </a:xfrm>
            <a:prstGeom prst="rect">
              <a:avLst/>
            </a:prstGeom>
          </p:spPr>
        </p:pic>
        <p:pic>
          <p:nvPicPr>
            <p:cNvPr id="53" name="Graphique 52" descr="Trophée avec un remplissage uni">
              <a:extLst>
                <a:ext uri="{FF2B5EF4-FFF2-40B4-BE49-F238E27FC236}">
                  <a16:creationId xmlns:a16="http://schemas.microsoft.com/office/drawing/2014/main" id="{D49603EC-E0C7-5669-C5DE-D8FB59E02A0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13717" y="1496380"/>
              <a:ext cx="914400" cy="914400"/>
            </a:xfrm>
            <a:prstGeom prst="rect">
              <a:avLst/>
            </a:prstGeom>
          </p:spPr>
        </p:pic>
        <p:pic>
          <p:nvPicPr>
            <p:cNvPr id="54" name="Graphique 53" descr="Assiette couverte avec un remplissage uni">
              <a:extLst>
                <a:ext uri="{FF2B5EF4-FFF2-40B4-BE49-F238E27FC236}">
                  <a16:creationId xmlns:a16="http://schemas.microsoft.com/office/drawing/2014/main" id="{92E6DC0F-ED9E-D250-A9B9-CBBA3A29326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48405" y="1496380"/>
              <a:ext cx="914400" cy="914400"/>
            </a:xfrm>
            <a:prstGeom prst="rect">
              <a:avLst/>
            </a:prstGeom>
          </p:spPr>
        </p:pic>
        <p:pic>
          <p:nvPicPr>
            <p:cNvPr id="55" name="Graphique 54" descr="Scène de château avec un remplissage uni">
              <a:extLst>
                <a:ext uri="{FF2B5EF4-FFF2-40B4-BE49-F238E27FC236}">
                  <a16:creationId xmlns:a16="http://schemas.microsoft.com/office/drawing/2014/main" id="{D02E8F78-FD95-65C3-7584-4230A9700DC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783093" y="1496380"/>
              <a:ext cx="914400" cy="914400"/>
            </a:xfrm>
            <a:prstGeom prst="rect">
              <a:avLst/>
            </a:prstGeom>
          </p:spPr>
        </p:pic>
      </p:grpSp>
      <p:grpSp>
        <p:nvGrpSpPr>
          <p:cNvPr id="63" name="Groupe 62">
            <a:extLst>
              <a:ext uri="{FF2B5EF4-FFF2-40B4-BE49-F238E27FC236}">
                <a16:creationId xmlns:a16="http://schemas.microsoft.com/office/drawing/2014/main" id="{2A33FD41-8D8A-4E73-7EE3-B4E321E363EA}"/>
              </a:ext>
            </a:extLst>
          </p:cNvPr>
          <p:cNvGrpSpPr/>
          <p:nvPr/>
        </p:nvGrpSpPr>
        <p:grpSpPr>
          <a:xfrm>
            <a:off x="1167669" y="4058566"/>
            <a:ext cx="9488276" cy="1157925"/>
            <a:chOff x="11600" y="1496380"/>
            <a:chExt cx="12038120" cy="1498765"/>
          </a:xfrm>
        </p:grpSpPr>
        <p:grpSp>
          <p:nvGrpSpPr>
            <p:cNvPr id="64" name="Groupe 63">
              <a:extLst>
                <a:ext uri="{FF2B5EF4-FFF2-40B4-BE49-F238E27FC236}">
                  <a16:creationId xmlns:a16="http://schemas.microsoft.com/office/drawing/2014/main" id="{61088826-7FB9-4044-12CF-87EAAAC59E3A}"/>
                </a:ext>
              </a:extLst>
            </p:cNvPr>
            <p:cNvGrpSpPr/>
            <p:nvPr/>
          </p:nvGrpSpPr>
          <p:grpSpPr>
            <a:xfrm>
              <a:off x="11600" y="2499558"/>
              <a:ext cx="12038120" cy="495587"/>
              <a:chOff x="0" y="2140394"/>
              <a:chExt cx="12854128" cy="4544491"/>
            </a:xfrm>
          </p:grpSpPr>
          <p:sp>
            <p:nvSpPr>
              <p:cNvPr id="72" name="Espace réservé du texte 15">
                <a:extLst>
                  <a:ext uri="{FF2B5EF4-FFF2-40B4-BE49-F238E27FC236}">
                    <a16:creationId xmlns:a16="http://schemas.microsoft.com/office/drawing/2014/main" id="{0695B684-9C9B-0155-7064-2365BF913779}"/>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73" name="Espace réservé du texte 15">
                <a:extLst>
                  <a:ext uri="{FF2B5EF4-FFF2-40B4-BE49-F238E27FC236}">
                    <a16:creationId xmlns:a16="http://schemas.microsoft.com/office/drawing/2014/main" id="{8055652F-9391-BAC4-0105-D9B336694DFE}"/>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74" name="Espace réservé du texte 15">
                <a:extLst>
                  <a:ext uri="{FF2B5EF4-FFF2-40B4-BE49-F238E27FC236}">
                    <a16:creationId xmlns:a16="http://schemas.microsoft.com/office/drawing/2014/main" id="{3D874D2C-DD65-63E8-B0C4-6A8C4CD4A4FD}"/>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75" name="Espace réservé du texte 15">
                <a:extLst>
                  <a:ext uri="{FF2B5EF4-FFF2-40B4-BE49-F238E27FC236}">
                    <a16:creationId xmlns:a16="http://schemas.microsoft.com/office/drawing/2014/main" id="{ED289BA2-E8DA-5B44-34C2-91E010A904E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76" name="Espace réservé du texte 15">
                <a:extLst>
                  <a:ext uri="{FF2B5EF4-FFF2-40B4-BE49-F238E27FC236}">
                    <a16:creationId xmlns:a16="http://schemas.microsoft.com/office/drawing/2014/main" id="{B7C1447A-48DD-4C04-B788-DBB763CFA69D}"/>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77" name="Espace réservé du texte 15">
                <a:extLst>
                  <a:ext uri="{FF2B5EF4-FFF2-40B4-BE49-F238E27FC236}">
                    <a16:creationId xmlns:a16="http://schemas.microsoft.com/office/drawing/2014/main" id="{0A594F3B-938A-43DF-6DB3-7F52BDD9CE90}"/>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78" name="Espace réservé du texte 15">
                <a:extLst>
                  <a:ext uri="{FF2B5EF4-FFF2-40B4-BE49-F238E27FC236}">
                    <a16:creationId xmlns:a16="http://schemas.microsoft.com/office/drawing/2014/main" id="{C3C9F4C6-A043-818D-95A3-AB5470CCFD5C}"/>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65" name="Graphique 64" descr="Ampoule avec un remplissage uni">
              <a:extLst>
                <a:ext uri="{FF2B5EF4-FFF2-40B4-BE49-F238E27FC236}">
                  <a16:creationId xmlns:a16="http://schemas.microsoft.com/office/drawing/2014/main" id="{AAC51725-6CD3-35B2-D476-738DB218673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868" y="1496380"/>
              <a:ext cx="914400" cy="914400"/>
            </a:xfrm>
            <a:prstGeom prst="rect">
              <a:avLst/>
            </a:prstGeom>
          </p:spPr>
        </p:pic>
        <p:pic>
          <p:nvPicPr>
            <p:cNvPr id="66" name="Graphique 65" descr="Seau et pelle avec un remplissage uni">
              <a:extLst>
                <a:ext uri="{FF2B5EF4-FFF2-40B4-BE49-F238E27FC236}">
                  <a16:creationId xmlns:a16="http://schemas.microsoft.com/office/drawing/2014/main" id="{2086FAF0-3648-C01B-C3F5-4C3B2A137B6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8515" y="1496380"/>
              <a:ext cx="914400" cy="914400"/>
            </a:xfrm>
            <a:prstGeom prst="rect">
              <a:avLst/>
            </a:prstGeom>
          </p:spPr>
        </p:pic>
        <p:pic>
          <p:nvPicPr>
            <p:cNvPr id="67" name="Graphique 66" descr="Tubes à essai avec un remplissage uni">
              <a:extLst>
                <a:ext uri="{FF2B5EF4-FFF2-40B4-BE49-F238E27FC236}">
                  <a16:creationId xmlns:a16="http://schemas.microsoft.com/office/drawing/2014/main" id="{0835826A-0982-F67F-4B64-2B05434D1AA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33203" y="1496380"/>
              <a:ext cx="914400" cy="914400"/>
            </a:xfrm>
            <a:prstGeom prst="rect">
              <a:avLst/>
            </a:prstGeom>
          </p:spPr>
        </p:pic>
        <p:pic>
          <p:nvPicPr>
            <p:cNvPr id="68" name="Graphique 67" descr="Explosion avec un remplissage uni">
              <a:extLst>
                <a:ext uri="{FF2B5EF4-FFF2-40B4-BE49-F238E27FC236}">
                  <a16:creationId xmlns:a16="http://schemas.microsoft.com/office/drawing/2014/main" id="{42A5EBA5-7017-9051-C1C1-30B95AE38D9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73460" y="1496380"/>
              <a:ext cx="914400" cy="914400"/>
            </a:xfrm>
            <a:prstGeom prst="rect">
              <a:avLst/>
            </a:prstGeom>
          </p:spPr>
        </p:pic>
        <p:pic>
          <p:nvPicPr>
            <p:cNvPr id="69" name="Graphique 68" descr="Trophée avec un remplissage uni">
              <a:extLst>
                <a:ext uri="{FF2B5EF4-FFF2-40B4-BE49-F238E27FC236}">
                  <a16:creationId xmlns:a16="http://schemas.microsoft.com/office/drawing/2014/main" id="{5B2D126E-8FAC-C9E1-84D6-6FB50E7624C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13717" y="1496380"/>
              <a:ext cx="914400" cy="914400"/>
            </a:xfrm>
            <a:prstGeom prst="rect">
              <a:avLst/>
            </a:prstGeom>
          </p:spPr>
        </p:pic>
        <p:pic>
          <p:nvPicPr>
            <p:cNvPr id="70" name="Graphique 69" descr="Assiette couverte avec un remplissage uni">
              <a:extLst>
                <a:ext uri="{FF2B5EF4-FFF2-40B4-BE49-F238E27FC236}">
                  <a16:creationId xmlns:a16="http://schemas.microsoft.com/office/drawing/2014/main" id="{3921DAB6-F986-C085-16B5-BF0A4E689B0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48405" y="1496380"/>
              <a:ext cx="914400" cy="914400"/>
            </a:xfrm>
            <a:prstGeom prst="rect">
              <a:avLst/>
            </a:prstGeom>
          </p:spPr>
        </p:pic>
        <p:pic>
          <p:nvPicPr>
            <p:cNvPr id="71" name="Graphique 70" descr="Scène de château avec un remplissage uni">
              <a:extLst>
                <a:ext uri="{FF2B5EF4-FFF2-40B4-BE49-F238E27FC236}">
                  <a16:creationId xmlns:a16="http://schemas.microsoft.com/office/drawing/2014/main" id="{45D59352-DBAD-C9CA-7F56-A91F1AB8D874}"/>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783093" y="1496380"/>
              <a:ext cx="914400" cy="914400"/>
            </a:xfrm>
            <a:prstGeom prst="rect">
              <a:avLst/>
            </a:prstGeom>
          </p:spPr>
        </p:pic>
      </p:grpSp>
      <p:pic>
        <p:nvPicPr>
          <p:cNvPr id="79" name="Graphique 78" descr="Notes Post-it avec un remplissage uni">
            <a:extLst>
              <a:ext uri="{FF2B5EF4-FFF2-40B4-BE49-F238E27FC236}">
                <a16:creationId xmlns:a16="http://schemas.microsoft.com/office/drawing/2014/main" id="{AD6AAB30-6AD7-BA52-D94C-2329DDDAD01B}"/>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57265" y="2431706"/>
            <a:ext cx="485113" cy="485113"/>
          </a:xfrm>
          <a:prstGeom prst="rect">
            <a:avLst/>
          </a:prstGeom>
        </p:spPr>
      </p:pic>
      <p:pic>
        <p:nvPicPr>
          <p:cNvPr id="80" name="Graphique 79" descr="Mille avec un remplissage uni">
            <a:extLst>
              <a:ext uri="{FF2B5EF4-FFF2-40B4-BE49-F238E27FC236}">
                <a16:creationId xmlns:a16="http://schemas.microsoft.com/office/drawing/2014/main" id="{54207DD0-6927-894C-26BB-BBD5D123F79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4250979" y="2416036"/>
            <a:ext cx="485112" cy="485112"/>
          </a:xfrm>
          <a:prstGeom prst="rect">
            <a:avLst/>
          </a:prstGeom>
        </p:spPr>
      </p:pic>
      <p:pic>
        <p:nvPicPr>
          <p:cNvPr id="81" name="Graphique 80" descr="Notes Post-it avec un remplissage uni">
            <a:extLst>
              <a:ext uri="{FF2B5EF4-FFF2-40B4-BE49-F238E27FC236}">
                <a16:creationId xmlns:a16="http://schemas.microsoft.com/office/drawing/2014/main" id="{694C2B4C-9DF8-CAE5-88E6-A72281A77D4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71158" y="5210923"/>
            <a:ext cx="485113" cy="485113"/>
          </a:xfrm>
          <a:prstGeom prst="rect">
            <a:avLst/>
          </a:prstGeom>
        </p:spPr>
      </p:pic>
      <p:pic>
        <p:nvPicPr>
          <p:cNvPr id="82" name="Graphique 81" descr="Mille avec un remplissage uni">
            <a:extLst>
              <a:ext uri="{FF2B5EF4-FFF2-40B4-BE49-F238E27FC236}">
                <a16:creationId xmlns:a16="http://schemas.microsoft.com/office/drawing/2014/main" id="{5B47FDA6-BCE6-75CB-621E-01A7A1125AE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683702" y="5204635"/>
            <a:ext cx="485112" cy="485112"/>
          </a:xfrm>
          <a:prstGeom prst="rect">
            <a:avLst/>
          </a:prstGeom>
        </p:spPr>
      </p:pic>
      <p:cxnSp>
        <p:nvCxnSpPr>
          <p:cNvPr id="83" name="Connecteur droit avec flèche 82">
            <a:extLst>
              <a:ext uri="{FF2B5EF4-FFF2-40B4-BE49-F238E27FC236}">
                <a16:creationId xmlns:a16="http://schemas.microsoft.com/office/drawing/2014/main" id="{69A9F1E5-BF00-DCE1-18CE-45EF8FAB800C}"/>
              </a:ext>
            </a:extLst>
          </p:cNvPr>
          <p:cNvCxnSpPr>
            <a:stCxn id="81" idx="3"/>
            <a:endCxn id="82" idx="1"/>
          </p:cNvCxnSpPr>
          <p:nvPr/>
        </p:nvCxnSpPr>
        <p:spPr>
          <a:xfrm flipV="1">
            <a:off x="1156271" y="5447191"/>
            <a:ext cx="4527431" cy="6289"/>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pic>
        <p:nvPicPr>
          <p:cNvPr id="84" name="Graphique 83" descr="Groupe d’hommes avec un remplissage uni">
            <a:extLst>
              <a:ext uri="{FF2B5EF4-FFF2-40B4-BE49-F238E27FC236}">
                <a16:creationId xmlns:a16="http://schemas.microsoft.com/office/drawing/2014/main" id="{70DD7A8B-6DB9-A7B0-F4A6-53CF8A5A226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946080" y="2334087"/>
            <a:ext cx="914400" cy="914400"/>
          </a:xfrm>
          <a:prstGeom prst="rect">
            <a:avLst/>
          </a:prstGeom>
        </p:spPr>
      </p:pic>
      <p:pic>
        <p:nvPicPr>
          <p:cNvPr id="85" name="Graphique 84" descr="Groupe d’hommes avec un remplissage uni">
            <a:extLst>
              <a:ext uri="{FF2B5EF4-FFF2-40B4-BE49-F238E27FC236}">
                <a16:creationId xmlns:a16="http://schemas.microsoft.com/office/drawing/2014/main" id="{FAD4E06C-F2D1-EA77-9658-C4FA86FEBC2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946080" y="5346348"/>
            <a:ext cx="914400" cy="914400"/>
          </a:xfrm>
          <a:prstGeom prst="rect">
            <a:avLst/>
          </a:prstGeom>
        </p:spPr>
      </p:pic>
      <p:cxnSp>
        <p:nvCxnSpPr>
          <p:cNvPr id="86" name="Connecteur droit avec flèche 85">
            <a:extLst>
              <a:ext uri="{FF2B5EF4-FFF2-40B4-BE49-F238E27FC236}">
                <a16:creationId xmlns:a16="http://schemas.microsoft.com/office/drawing/2014/main" id="{C410D4C3-5B22-7796-1E4E-9C2FB5629C9D}"/>
              </a:ext>
            </a:extLst>
          </p:cNvPr>
          <p:cNvCxnSpPr>
            <a:cxnSpLocks/>
            <a:endCxn id="80" idx="1"/>
          </p:cNvCxnSpPr>
          <p:nvPr/>
        </p:nvCxnSpPr>
        <p:spPr>
          <a:xfrm flipV="1">
            <a:off x="1142378" y="2658592"/>
            <a:ext cx="3108601" cy="15671"/>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sp>
        <p:nvSpPr>
          <p:cNvPr id="45" name="ZoneTexte 44">
            <a:extLst>
              <a:ext uri="{FF2B5EF4-FFF2-40B4-BE49-F238E27FC236}">
                <a16:creationId xmlns:a16="http://schemas.microsoft.com/office/drawing/2014/main" id="{F7A00C2E-1232-D8B5-58ED-8ED4A65AAAD2}"/>
              </a:ext>
            </a:extLst>
          </p:cNvPr>
          <p:cNvSpPr txBox="1"/>
          <p:nvPr/>
        </p:nvSpPr>
        <p:spPr>
          <a:xfrm>
            <a:off x="10869319" y="3248487"/>
            <a:ext cx="1067921" cy="261610"/>
          </a:xfrm>
          <a:prstGeom prst="rect">
            <a:avLst/>
          </a:prstGeom>
          <a:noFill/>
        </p:spPr>
        <p:txBody>
          <a:bodyPr wrap="none" rtlCol="0">
            <a:spAutoFit/>
          </a:bodyPr>
          <a:lstStyle/>
          <a:p>
            <a:r>
              <a:rPr lang="fr-FR" sz="1100"/>
              <a:t>Communauté 3</a:t>
            </a:r>
          </a:p>
        </p:txBody>
      </p:sp>
      <p:sp>
        <p:nvSpPr>
          <p:cNvPr id="46" name="ZoneTexte 45">
            <a:extLst>
              <a:ext uri="{FF2B5EF4-FFF2-40B4-BE49-F238E27FC236}">
                <a16:creationId xmlns:a16="http://schemas.microsoft.com/office/drawing/2014/main" id="{97B262DB-9B5B-F640-CBE2-5A2C325B78C7}"/>
              </a:ext>
            </a:extLst>
          </p:cNvPr>
          <p:cNvSpPr txBox="1"/>
          <p:nvPr/>
        </p:nvSpPr>
        <p:spPr>
          <a:xfrm>
            <a:off x="10869318" y="6260748"/>
            <a:ext cx="1067921" cy="261610"/>
          </a:xfrm>
          <a:prstGeom prst="rect">
            <a:avLst/>
          </a:prstGeom>
          <a:noFill/>
        </p:spPr>
        <p:txBody>
          <a:bodyPr wrap="none" rtlCol="0">
            <a:spAutoFit/>
          </a:bodyPr>
          <a:lstStyle/>
          <a:p>
            <a:r>
              <a:rPr lang="fr-FR" sz="1100"/>
              <a:t>Communauté 4</a:t>
            </a:r>
          </a:p>
        </p:txBody>
      </p:sp>
    </p:spTree>
    <p:extLst>
      <p:ext uri="{BB962C8B-B14F-4D97-AF65-F5344CB8AC3E}">
        <p14:creationId xmlns:p14="http://schemas.microsoft.com/office/powerpoint/2010/main" val="11203437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Bulle narrative : ronde 192">
            <a:extLst>
              <a:ext uri="{FF2B5EF4-FFF2-40B4-BE49-F238E27FC236}">
                <a16:creationId xmlns:a16="http://schemas.microsoft.com/office/drawing/2014/main" id="{3BABF1E8-ADEA-CF8F-AEA2-EF00C540D870}"/>
              </a:ext>
            </a:extLst>
          </p:cNvPr>
          <p:cNvSpPr/>
          <p:nvPr/>
        </p:nvSpPr>
        <p:spPr>
          <a:xfrm>
            <a:off x="8050957" y="5558199"/>
            <a:ext cx="2840560" cy="1224595"/>
          </a:xfrm>
          <a:prstGeom prst="wedgeEllipseCallout">
            <a:avLst>
              <a:gd name="adj1" fmla="val 50245"/>
              <a:gd name="adj2" fmla="val -4255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PILOTE</a:t>
            </a:r>
            <a:r>
              <a:rPr lang="fr-FR" sz="1000" b="1">
                <a:solidFill>
                  <a:schemeClr val="tx1"/>
                </a:solidFill>
              </a:rPr>
              <a:t>, NOTRE MISSION EST </a:t>
            </a:r>
            <a:r>
              <a:rPr lang="fr-FR" sz="1000" b="1">
                <a:solidFill>
                  <a:srgbClr val="0683AA"/>
                </a:solidFill>
              </a:rPr>
              <a:t>DE MAÎTRISER UN SUJET JUSQU’À POUVOIR LE TRANSMETTRE</a:t>
            </a:r>
            <a:r>
              <a:rPr lang="fr-FR" sz="1000" b="1">
                <a:solidFill>
                  <a:schemeClr val="tx1"/>
                </a:solidFill>
              </a:rPr>
              <a:t> AILLEURS. . TOUS NOS SUJETS S’ARRÊTENT A </a:t>
            </a:r>
            <a:r>
              <a:rPr lang="fr-FR" sz="1000" b="1" i="1">
                <a:solidFill>
                  <a:schemeClr val="tx1"/>
                </a:solidFill>
              </a:rPr>
              <a:t>EXPOSITION</a:t>
            </a:r>
          </a:p>
        </p:txBody>
      </p:sp>
      <p:sp>
        <p:nvSpPr>
          <p:cNvPr id="46" name="ZoneTexte 45">
            <a:extLst>
              <a:ext uri="{FF2B5EF4-FFF2-40B4-BE49-F238E27FC236}">
                <a16:creationId xmlns:a16="http://schemas.microsoft.com/office/drawing/2014/main" id="{0A75CB82-D1FC-2B55-2717-2C47461422C5}"/>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Cas d’usage</a:t>
            </a:r>
            <a:endParaRPr lang="fr-FR" sz="3200"/>
          </a:p>
        </p:txBody>
      </p:sp>
      <p:grpSp>
        <p:nvGrpSpPr>
          <p:cNvPr id="47" name="Groupe 46">
            <a:extLst>
              <a:ext uri="{FF2B5EF4-FFF2-40B4-BE49-F238E27FC236}">
                <a16:creationId xmlns:a16="http://schemas.microsoft.com/office/drawing/2014/main" id="{49E1240B-1AD1-06B5-D4AB-307AF811DC16}"/>
              </a:ext>
            </a:extLst>
          </p:cNvPr>
          <p:cNvGrpSpPr/>
          <p:nvPr/>
        </p:nvGrpSpPr>
        <p:grpSpPr>
          <a:xfrm>
            <a:off x="1121044" y="1273782"/>
            <a:ext cx="9488276" cy="1157925"/>
            <a:chOff x="11600" y="1496380"/>
            <a:chExt cx="12038120" cy="1498765"/>
          </a:xfrm>
        </p:grpSpPr>
        <p:grpSp>
          <p:nvGrpSpPr>
            <p:cNvPr id="48" name="Groupe 47">
              <a:extLst>
                <a:ext uri="{FF2B5EF4-FFF2-40B4-BE49-F238E27FC236}">
                  <a16:creationId xmlns:a16="http://schemas.microsoft.com/office/drawing/2014/main" id="{E15D75BA-CAE1-5893-7B01-B871426E057A}"/>
                </a:ext>
              </a:extLst>
            </p:cNvPr>
            <p:cNvGrpSpPr/>
            <p:nvPr/>
          </p:nvGrpSpPr>
          <p:grpSpPr>
            <a:xfrm>
              <a:off x="11600" y="2499558"/>
              <a:ext cx="12038120" cy="495587"/>
              <a:chOff x="0" y="2140394"/>
              <a:chExt cx="12854128" cy="4544491"/>
            </a:xfrm>
          </p:grpSpPr>
          <p:sp>
            <p:nvSpPr>
              <p:cNvPr id="56" name="Espace réservé du texte 15">
                <a:extLst>
                  <a:ext uri="{FF2B5EF4-FFF2-40B4-BE49-F238E27FC236}">
                    <a16:creationId xmlns:a16="http://schemas.microsoft.com/office/drawing/2014/main" id="{184A26CC-C283-98A4-C0A2-891EA46C4B17}"/>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57" name="Espace réservé du texte 15">
                <a:extLst>
                  <a:ext uri="{FF2B5EF4-FFF2-40B4-BE49-F238E27FC236}">
                    <a16:creationId xmlns:a16="http://schemas.microsoft.com/office/drawing/2014/main" id="{0ED96BF0-1966-8079-38D8-5A2577CA0EEE}"/>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58" name="Espace réservé du texte 15">
                <a:extLst>
                  <a:ext uri="{FF2B5EF4-FFF2-40B4-BE49-F238E27FC236}">
                    <a16:creationId xmlns:a16="http://schemas.microsoft.com/office/drawing/2014/main" id="{7BF0DDA3-C8B2-A0C9-9383-4C3EB4EB7FA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59" name="Espace réservé du texte 15">
                <a:extLst>
                  <a:ext uri="{FF2B5EF4-FFF2-40B4-BE49-F238E27FC236}">
                    <a16:creationId xmlns:a16="http://schemas.microsoft.com/office/drawing/2014/main" id="{B1E4A87B-E4E2-8FD9-6678-D6BD2D37F225}"/>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60" name="Espace réservé du texte 15">
                <a:extLst>
                  <a:ext uri="{FF2B5EF4-FFF2-40B4-BE49-F238E27FC236}">
                    <a16:creationId xmlns:a16="http://schemas.microsoft.com/office/drawing/2014/main" id="{28143F66-168C-9A9D-1D8F-9C1622B075CF}"/>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61" name="Espace réservé du texte 15">
                <a:extLst>
                  <a:ext uri="{FF2B5EF4-FFF2-40B4-BE49-F238E27FC236}">
                    <a16:creationId xmlns:a16="http://schemas.microsoft.com/office/drawing/2014/main" id="{1B865F26-194F-ACD3-33FA-69D51A21463A}"/>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62" name="Espace réservé du texte 15">
                <a:extLst>
                  <a:ext uri="{FF2B5EF4-FFF2-40B4-BE49-F238E27FC236}">
                    <a16:creationId xmlns:a16="http://schemas.microsoft.com/office/drawing/2014/main" id="{808F657D-42A9-9CD6-8B52-B1DF078186D6}"/>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49" name="Graphique 48" descr="Ampoule avec un remplissage uni">
              <a:extLst>
                <a:ext uri="{FF2B5EF4-FFF2-40B4-BE49-F238E27FC236}">
                  <a16:creationId xmlns:a16="http://schemas.microsoft.com/office/drawing/2014/main" id="{CB7CD550-3F47-C276-3CE2-DBC58DB0BB6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868" y="1496380"/>
              <a:ext cx="914400" cy="914400"/>
            </a:xfrm>
            <a:prstGeom prst="rect">
              <a:avLst/>
            </a:prstGeom>
          </p:spPr>
        </p:pic>
        <p:pic>
          <p:nvPicPr>
            <p:cNvPr id="50" name="Graphique 49" descr="Seau et pelle avec un remplissage uni">
              <a:extLst>
                <a:ext uri="{FF2B5EF4-FFF2-40B4-BE49-F238E27FC236}">
                  <a16:creationId xmlns:a16="http://schemas.microsoft.com/office/drawing/2014/main" id="{06DCB5B8-537C-5016-DDD0-E4D0D7D12C4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8515" y="1496380"/>
              <a:ext cx="914400" cy="914400"/>
            </a:xfrm>
            <a:prstGeom prst="rect">
              <a:avLst/>
            </a:prstGeom>
          </p:spPr>
        </p:pic>
        <p:pic>
          <p:nvPicPr>
            <p:cNvPr id="51" name="Graphique 50" descr="Tubes à essai avec un remplissage uni">
              <a:extLst>
                <a:ext uri="{FF2B5EF4-FFF2-40B4-BE49-F238E27FC236}">
                  <a16:creationId xmlns:a16="http://schemas.microsoft.com/office/drawing/2014/main" id="{DDF7BAC7-A963-1783-F375-A7D0D279638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33203" y="1496380"/>
              <a:ext cx="914400" cy="914400"/>
            </a:xfrm>
            <a:prstGeom prst="rect">
              <a:avLst/>
            </a:prstGeom>
          </p:spPr>
        </p:pic>
        <p:pic>
          <p:nvPicPr>
            <p:cNvPr id="52" name="Graphique 51" descr="Explosion avec un remplissage uni">
              <a:extLst>
                <a:ext uri="{FF2B5EF4-FFF2-40B4-BE49-F238E27FC236}">
                  <a16:creationId xmlns:a16="http://schemas.microsoft.com/office/drawing/2014/main" id="{6ACD24E2-D463-04CE-53D5-771B5C6059C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73460" y="1496380"/>
              <a:ext cx="914400" cy="914400"/>
            </a:xfrm>
            <a:prstGeom prst="rect">
              <a:avLst/>
            </a:prstGeom>
          </p:spPr>
        </p:pic>
        <p:pic>
          <p:nvPicPr>
            <p:cNvPr id="53" name="Graphique 52" descr="Trophée avec un remplissage uni">
              <a:extLst>
                <a:ext uri="{FF2B5EF4-FFF2-40B4-BE49-F238E27FC236}">
                  <a16:creationId xmlns:a16="http://schemas.microsoft.com/office/drawing/2014/main" id="{5A8813DC-CAA2-9FD9-9229-C009D4A5B93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13717" y="1496380"/>
              <a:ext cx="914400" cy="914400"/>
            </a:xfrm>
            <a:prstGeom prst="rect">
              <a:avLst/>
            </a:prstGeom>
          </p:spPr>
        </p:pic>
        <p:pic>
          <p:nvPicPr>
            <p:cNvPr id="54" name="Graphique 53" descr="Assiette couverte avec un remplissage uni">
              <a:extLst>
                <a:ext uri="{FF2B5EF4-FFF2-40B4-BE49-F238E27FC236}">
                  <a16:creationId xmlns:a16="http://schemas.microsoft.com/office/drawing/2014/main" id="{F509C7AA-FA23-8081-6676-008334B5A6CA}"/>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48405" y="1496380"/>
              <a:ext cx="914400" cy="914400"/>
            </a:xfrm>
            <a:prstGeom prst="rect">
              <a:avLst/>
            </a:prstGeom>
          </p:spPr>
        </p:pic>
        <p:pic>
          <p:nvPicPr>
            <p:cNvPr id="55" name="Graphique 54" descr="Scène de château avec un remplissage uni">
              <a:extLst>
                <a:ext uri="{FF2B5EF4-FFF2-40B4-BE49-F238E27FC236}">
                  <a16:creationId xmlns:a16="http://schemas.microsoft.com/office/drawing/2014/main" id="{92B79F31-58DD-F253-205A-8A67CF25D1F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783093" y="1496380"/>
              <a:ext cx="914400" cy="914400"/>
            </a:xfrm>
            <a:prstGeom prst="rect">
              <a:avLst/>
            </a:prstGeom>
          </p:spPr>
        </p:pic>
      </p:grpSp>
      <p:grpSp>
        <p:nvGrpSpPr>
          <p:cNvPr id="63" name="Groupe 62">
            <a:extLst>
              <a:ext uri="{FF2B5EF4-FFF2-40B4-BE49-F238E27FC236}">
                <a16:creationId xmlns:a16="http://schemas.microsoft.com/office/drawing/2014/main" id="{967D371D-A84E-3E7F-AB86-D4EB4E815262}"/>
              </a:ext>
            </a:extLst>
          </p:cNvPr>
          <p:cNvGrpSpPr/>
          <p:nvPr/>
        </p:nvGrpSpPr>
        <p:grpSpPr>
          <a:xfrm>
            <a:off x="1167669" y="4058566"/>
            <a:ext cx="9488276" cy="1157925"/>
            <a:chOff x="11600" y="1496380"/>
            <a:chExt cx="12038120" cy="1498765"/>
          </a:xfrm>
        </p:grpSpPr>
        <p:grpSp>
          <p:nvGrpSpPr>
            <p:cNvPr id="64" name="Groupe 63">
              <a:extLst>
                <a:ext uri="{FF2B5EF4-FFF2-40B4-BE49-F238E27FC236}">
                  <a16:creationId xmlns:a16="http://schemas.microsoft.com/office/drawing/2014/main" id="{692CC67E-EFB9-D316-8A6F-5AA17382E808}"/>
                </a:ext>
              </a:extLst>
            </p:cNvPr>
            <p:cNvGrpSpPr/>
            <p:nvPr/>
          </p:nvGrpSpPr>
          <p:grpSpPr>
            <a:xfrm>
              <a:off x="11600" y="2499558"/>
              <a:ext cx="12038120" cy="495587"/>
              <a:chOff x="0" y="2140394"/>
              <a:chExt cx="12854128" cy="4544491"/>
            </a:xfrm>
          </p:grpSpPr>
          <p:sp>
            <p:nvSpPr>
              <p:cNvPr id="72" name="Espace réservé du texte 15">
                <a:extLst>
                  <a:ext uri="{FF2B5EF4-FFF2-40B4-BE49-F238E27FC236}">
                    <a16:creationId xmlns:a16="http://schemas.microsoft.com/office/drawing/2014/main" id="{16F01103-6E9F-CE28-A58F-E555453F1F62}"/>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73" name="Espace réservé du texte 15">
                <a:extLst>
                  <a:ext uri="{FF2B5EF4-FFF2-40B4-BE49-F238E27FC236}">
                    <a16:creationId xmlns:a16="http://schemas.microsoft.com/office/drawing/2014/main" id="{5958E5FD-249D-A0EC-BF87-900ECFBF0E9F}"/>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74" name="Espace réservé du texte 15">
                <a:extLst>
                  <a:ext uri="{FF2B5EF4-FFF2-40B4-BE49-F238E27FC236}">
                    <a16:creationId xmlns:a16="http://schemas.microsoft.com/office/drawing/2014/main" id="{703CCED7-BCC2-0CF1-5E1D-FA5AB2B66617}"/>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75" name="Espace réservé du texte 15">
                <a:extLst>
                  <a:ext uri="{FF2B5EF4-FFF2-40B4-BE49-F238E27FC236}">
                    <a16:creationId xmlns:a16="http://schemas.microsoft.com/office/drawing/2014/main" id="{190B9C89-AAD1-472E-94E1-E4588DA9FE51}"/>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76" name="Espace réservé du texte 15">
                <a:extLst>
                  <a:ext uri="{FF2B5EF4-FFF2-40B4-BE49-F238E27FC236}">
                    <a16:creationId xmlns:a16="http://schemas.microsoft.com/office/drawing/2014/main" id="{5BBEF3F2-8B24-326E-6FF5-EB3792E15F7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77" name="Espace réservé du texte 15">
                <a:extLst>
                  <a:ext uri="{FF2B5EF4-FFF2-40B4-BE49-F238E27FC236}">
                    <a16:creationId xmlns:a16="http://schemas.microsoft.com/office/drawing/2014/main" id="{7786CE5B-FCD1-30F5-D7EA-FAFF2F930F8F}"/>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78" name="Espace réservé du texte 15">
                <a:extLst>
                  <a:ext uri="{FF2B5EF4-FFF2-40B4-BE49-F238E27FC236}">
                    <a16:creationId xmlns:a16="http://schemas.microsoft.com/office/drawing/2014/main" id="{73357BE2-6806-75DA-333E-9674C442FE80}"/>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65" name="Graphique 64" descr="Ampoule avec un remplissage uni">
              <a:extLst>
                <a:ext uri="{FF2B5EF4-FFF2-40B4-BE49-F238E27FC236}">
                  <a16:creationId xmlns:a16="http://schemas.microsoft.com/office/drawing/2014/main" id="{729D4542-5ADB-1C16-D206-5F019B816C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868" y="1496380"/>
              <a:ext cx="914400" cy="914400"/>
            </a:xfrm>
            <a:prstGeom prst="rect">
              <a:avLst/>
            </a:prstGeom>
          </p:spPr>
        </p:pic>
        <p:pic>
          <p:nvPicPr>
            <p:cNvPr id="66" name="Graphique 65" descr="Seau et pelle avec un remplissage uni">
              <a:extLst>
                <a:ext uri="{FF2B5EF4-FFF2-40B4-BE49-F238E27FC236}">
                  <a16:creationId xmlns:a16="http://schemas.microsoft.com/office/drawing/2014/main" id="{F0DA7E2D-76BE-1838-B31E-38615DCF81C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8515" y="1496380"/>
              <a:ext cx="914400" cy="914400"/>
            </a:xfrm>
            <a:prstGeom prst="rect">
              <a:avLst/>
            </a:prstGeom>
          </p:spPr>
        </p:pic>
        <p:pic>
          <p:nvPicPr>
            <p:cNvPr id="67" name="Graphique 66" descr="Tubes à essai avec un remplissage uni">
              <a:extLst>
                <a:ext uri="{FF2B5EF4-FFF2-40B4-BE49-F238E27FC236}">
                  <a16:creationId xmlns:a16="http://schemas.microsoft.com/office/drawing/2014/main" id="{2C2BE205-06F1-50D6-7466-1DB67456E83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33203" y="1496380"/>
              <a:ext cx="914400" cy="914400"/>
            </a:xfrm>
            <a:prstGeom prst="rect">
              <a:avLst/>
            </a:prstGeom>
          </p:spPr>
        </p:pic>
        <p:pic>
          <p:nvPicPr>
            <p:cNvPr id="68" name="Graphique 67" descr="Explosion avec un remplissage uni">
              <a:extLst>
                <a:ext uri="{FF2B5EF4-FFF2-40B4-BE49-F238E27FC236}">
                  <a16:creationId xmlns:a16="http://schemas.microsoft.com/office/drawing/2014/main" id="{CD3A4B16-DBA2-020B-74C5-F2A77A19001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73460" y="1496380"/>
              <a:ext cx="914400" cy="914400"/>
            </a:xfrm>
            <a:prstGeom prst="rect">
              <a:avLst/>
            </a:prstGeom>
          </p:spPr>
        </p:pic>
        <p:pic>
          <p:nvPicPr>
            <p:cNvPr id="69" name="Graphique 68" descr="Trophée avec un remplissage uni">
              <a:extLst>
                <a:ext uri="{FF2B5EF4-FFF2-40B4-BE49-F238E27FC236}">
                  <a16:creationId xmlns:a16="http://schemas.microsoft.com/office/drawing/2014/main" id="{417C0CAE-6189-8750-5BFC-00974EDFDEB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13717" y="1496380"/>
              <a:ext cx="914400" cy="914400"/>
            </a:xfrm>
            <a:prstGeom prst="rect">
              <a:avLst/>
            </a:prstGeom>
          </p:spPr>
        </p:pic>
        <p:pic>
          <p:nvPicPr>
            <p:cNvPr id="70" name="Graphique 69" descr="Assiette couverte avec un remplissage uni">
              <a:extLst>
                <a:ext uri="{FF2B5EF4-FFF2-40B4-BE49-F238E27FC236}">
                  <a16:creationId xmlns:a16="http://schemas.microsoft.com/office/drawing/2014/main" id="{83BB9D96-AEA9-F4D4-F904-5996440DD57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48405" y="1496380"/>
              <a:ext cx="914400" cy="914400"/>
            </a:xfrm>
            <a:prstGeom prst="rect">
              <a:avLst/>
            </a:prstGeom>
          </p:spPr>
        </p:pic>
        <p:pic>
          <p:nvPicPr>
            <p:cNvPr id="71" name="Graphique 70" descr="Scène de château avec un remplissage uni">
              <a:extLst>
                <a:ext uri="{FF2B5EF4-FFF2-40B4-BE49-F238E27FC236}">
                  <a16:creationId xmlns:a16="http://schemas.microsoft.com/office/drawing/2014/main" id="{FE2634EF-83DF-33FC-0052-6AC925851A5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783093" y="1496380"/>
              <a:ext cx="914400" cy="914400"/>
            </a:xfrm>
            <a:prstGeom prst="rect">
              <a:avLst/>
            </a:prstGeom>
          </p:spPr>
        </p:pic>
      </p:grpSp>
      <p:pic>
        <p:nvPicPr>
          <p:cNvPr id="79" name="Graphique 78" descr="Notes Post-it avec un remplissage uni">
            <a:extLst>
              <a:ext uri="{FF2B5EF4-FFF2-40B4-BE49-F238E27FC236}">
                <a16:creationId xmlns:a16="http://schemas.microsoft.com/office/drawing/2014/main" id="{15A100A4-60FC-9CAD-2B82-39820D0DF4D9}"/>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57265" y="2431706"/>
            <a:ext cx="485113" cy="485113"/>
          </a:xfrm>
          <a:prstGeom prst="rect">
            <a:avLst/>
          </a:prstGeom>
        </p:spPr>
      </p:pic>
      <p:pic>
        <p:nvPicPr>
          <p:cNvPr id="80" name="Graphique 79" descr="Mille avec un remplissage uni">
            <a:extLst>
              <a:ext uri="{FF2B5EF4-FFF2-40B4-BE49-F238E27FC236}">
                <a16:creationId xmlns:a16="http://schemas.microsoft.com/office/drawing/2014/main" id="{A5D62498-C277-2974-5767-22063078992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966691" y="2413903"/>
            <a:ext cx="485112" cy="485112"/>
          </a:xfrm>
          <a:prstGeom prst="rect">
            <a:avLst/>
          </a:prstGeom>
        </p:spPr>
      </p:pic>
      <p:pic>
        <p:nvPicPr>
          <p:cNvPr id="81" name="Graphique 80" descr="Notes Post-it avec un remplissage uni">
            <a:extLst>
              <a:ext uri="{FF2B5EF4-FFF2-40B4-BE49-F238E27FC236}">
                <a16:creationId xmlns:a16="http://schemas.microsoft.com/office/drawing/2014/main" id="{8622403D-189F-8E6C-64C1-B36C782649D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71158" y="5210923"/>
            <a:ext cx="485113" cy="485113"/>
          </a:xfrm>
          <a:prstGeom prst="rect">
            <a:avLst/>
          </a:prstGeom>
        </p:spPr>
      </p:pic>
      <p:pic>
        <p:nvPicPr>
          <p:cNvPr id="82" name="Graphique 81" descr="Mille avec un remplissage uni">
            <a:extLst>
              <a:ext uri="{FF2B5EF4-FFF2-40B4-BE49-F238E27FC236}">
                <a16:creationId xmlns:a16="http://schemas.microsoft.com/office/drawing/2014/main" id="{609C25EF-7825-0924-CC46-73984AAB388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408153" y="5197848"/>
            <a:ext cx="485112" cy="485112"/>
          </a:xfrm>
          <a:prstGeom prst="rect">
            <a:avLst/>
          </a:prstGeom>
        </p:spPr>
      </p:pic>
      <p:cxnSp>
        <p:nvCxnSpPr>
          <p:cNvPr id="83" name="Connecteur droit avec flèche 82">
            <a:extLst>
              <a:ext uri="{FF2B5EF4-FFF2-40B4-BE49-F238E27FC236}">
                <a16:creationId xmlns:a16="http://schemas.microsoft.com/office/drawing/2014/main" id="{ABFAB609-4877-AF68-18C4-8013B59542AD}"/>
              </a:ext>
            </a:extLst>
          </p:cNvPr>
          <p:cNvCxnSpPr>
            <a:stCxn id="81" idx="3"/>
            <a:endCxn id="82" idx="1"/>
          </p:cNvCxnSpPr>
          <p:nvPr/>
        </p:nvCxnSpPr>
        <p:spPr>
          <a:xfrm flipV="1">
            <a:off x="1156271" y="5440404"/>
            <a:ext cx="7251882" cy="13076"/>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pic>
        <p:nvPicPr>
          <p:cNvPr id="84" name="Graphique 83" descr="Groupe d’hommes avec un remplissage uni">
            <a:extLst>
              <a:ext uri="{FF2B5EF4-FFF2-40B4-BE49-F238E27FC236}">
                <a16:creationId xmlns:a16="http://schemas.microsoft.com/office/drawing/2014/main" id="{EE32DEF4-AA7C-0702-F967-9FBE51B9BB5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946080" y="2334087"/>
            <a:ext cx="914400" cy="914400"/>
          </a:xfrm>
          <a:prstGeom prst="rect">
            <a:avLst/>
          </a:prstGeom>
        </p:spPr>
      </p:pic>
      <p:pic>
        <p:nvPicPr>
          <p:cNvPr id="85" name="Graphique 84" descr="Groupe d’hommes avec un remplissage uni">
            <a:extLst>
              <a:ext uri="{FF2B5EF4-FFF2-40B4-BE49-F238E27FC236}">
                <a16:creationId xmlns:a16="http://schemas.microsoft.com/office/drawing/2014/main" id="{0A84C60F-CACB-D75F-82AE-835A5F4D4CB9}"/>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946080" y="5346348"/>
            <a:ext cx="914400" cy="914400"/>
          </a:xfrm>
          <a:prstGeom prst="rect">
            <a:avLst/>
          </a:prstGeom>
        </p:spPr>
      </p:pic>
      <p:cxnSp>
        <p:nvCxnSpPr>
          <p:cNvPr id="86" name="Connecteur droit avec flèche 85">
            <a:extLst>
              <a:ext uri="{FF2B5EF4-FFF2-40B4-BE49-F238E27FC236}">
                <a16:creationId xmlns:a16="http://schemas.microsoft.com/office/drawing/2014/main" id="{6C3F38BD-15C6-5D10-35CF-4BE5270F92D2}"/>
              </a:ext>
            </a:extLst>
          </p:cNvPr>
          <p:cNvCxnSpPr>
            <a:cxnSpLocks/>
            <a:endCxn id="80" idx="1"/>
          </p:cNvCxnSpPr>
          <p:nvPr/>
        </p:nvCxnSpPr>
        <p:spPr>
          <a:xfrm>
            <a:off x="1166087" y="2656459"/>
            <a:ext cx="5800604" cy="0"/>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sp>
        <p:nvSpPr>
          <p:cNvPr id="192" name="Bulle narrative : ronde 191">
            <a:extLst>
              <a:ext uri="{FF2B5EF4-FFF2-40B4-BE49-F238E27FC236}">
                <a16:creationId xmlns:a16="http://schemas.microsoft.com/office/drawing/2014/main" id="{676138C6-9E95-8DA2-F9C9-1A646C24CF96}"/>
              </a:ext>
            </a:extLst>
          </p:cNvPr>
          <p:cNvSpPr/>
          <p:nvPr/>
        </p:nvSpPr>
        <p:spPr>
          <a:xfrm>
            <a:off x="7576016" y="2413903"/>
            <a:ext cx="3121638" cy="1323594"/>
          </a:xfrm>
          <a:prstGeom prst="wedgeEllipseCallout">
            <a:avLst>
              <a:gd name="adj1" fmla="val 58920"/>
              <a:gd name="adj2" fmla="val -3030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DE PRATIQUE</a:t>
            </a:r>
            <a:r>
              <a:rPr lang="fr-FR" sz="1000" b="1">
                <a:solidFill>
                  <a:schemeClr val="tx1"/>
                </a:solidFill>
              </a:rPr>
              <a:t>, NOTRE MISSION EST </a:t>
            </a:r>
            <a:r>
              <a:rPr lang="fr-FR" sz="1000" b="1">
                <a:solidFill>
                  <a:srgbClr val="0683AA"/>
                </a:solidFill>
              </a:rPr>
              <a:t>D’ARRIVER A FAIRE PRATIQUER JUSQU’À LA REUSSITE PÉRENNE </a:t>
            </a:r>
            <a:r>
              <a:rPr lang="fr-FR" sz="1000" b="1">
                <a:solidFill>
                  <a:schemeClr val="tx1"/>
                </a:solidFill>
              </a:rPr>
              <a:t>DANS L’APPLICATION AU QUOTIDIEN. . TOUS NOS SUJETS S’ARRÊTENT A </a:t>
            </a:r>
            <a:r>
              <a:rPr lang="fr-FR" sz="1000" b="1" i="1">
                <a:solidFill>
                  <a:schemeClr val="tx1"/>
                </a:solidFill>
              </a:rPr>
              <a:t>CONFIRMATION DE REUSSITES</a:t>
            </a:r>
            <a:r>
              <a:rPr lang="fr-FR" sz="1000" b="1">
                <a:solidFill>
                  <a:schemeClr val="tx1"/>
                </a:solidFill>
              </a:rPr>
              <a:t>.</a:t>
            </a:r>
          </a:p>
        </p:txBody>
      </p:sp>
      <p:sp>
        <p:nvSpPr>
          <p:cNvPr id="45" name="ZoneTexte 44">
            <a:extLst>
              <a:ext uri="{FF2B5EF4-FFF2-40B4-BE49-F238E27FC236}">
                <a16:creationId xmlns:a16="http://schemas.microsoft.com/office/drawing/2014/main" id="{932F6947-D0F2-E78D-B450-E7F192774F9A}"/>
              </a:ext>
            </a:extLst>
          </p:cNvPr>
          <p:cNvSpPr txBox="1"/>
          <p:nvPr/>
        </p:nvSpPr>
        <p:spPr>
          <a:xfrm>
            <a:off x="10869319" y="3248487"/>
            <a:ext cx="1067921" cy="261610"/>
          </a:xfrm>
          <a:prstGeom prst="rect">
            <a:avLst/>
          </a:prstGeom>
          <a:noFill/>
        </p:spPr>
        <p:txBody>
          <a:bodyPr wrap="none" rtlCol="0">
            <a:spAutoFit/>
          </a:bodyPr>
          <a:lstStyle/>
          <a:p>
            <a:r>
              <a:rPr lang="fr-FR" sz="1100"/>
              <a:t>Communauté 5</a:t>
            </a:r>
          </a:p>
        </p:txBody>
      </p:sp>
      <p:sp>
        <p:nvSpPr>
          <p:cNvPr id="87" name="ZoneTexte 86">
            <a:extLst>
              <a:ext uri="{FF2B5EF4-FFF2-40B4-BE49-F238E27FC236}">
                <a16:creationId xmlns:a16="http://schemas.microsoft.com/office/drawing/2014/main" id="{FBD9F813-BFFF-F40F-7A8D-7249EFD97569}"/>
              </a:ext>
            </a:extLst>
          </p:cNvPr>
          <p:cNvSpPr txBox="1"/>
          <p:nvPr/>
        </p:nvSpPr>
        <p:spPr>
          <a:xfrm>
            <a:off x="10869318" y="6260748"/>
            <a:ext cx="1067921" cy="261610"/>
          </a:xfrm>
          <a:prstGeom prst="rect">
            <a:avLst/>
          </a:prstGeom>
          <a:noFill/>
        </p:spPr>
        <p:txBody>
          <a:bodyPr wrap="none" rtlCol="0">
            <a:spAutoFit/>
          </a:bodyPr>
          <a:lstStyle/>
          <a:p>
            <a:r>
              <a:rPr lang="fr-FR" sz="1100"/>
              <a:t>Communauté 6</a:t>
            </a:r>
          </a:p>
        </p:txBody>
      </p:sp>
    </p:spTree>
    <p:extLst>
      <p:ext uri="{BB962C8B-B14F-4D97-AF65-F5344CB8AC3E}">
        <p14:creationId xmlns:p14="http://schemas.microsoft.com/office/powerpoint/2010/main" val="32614240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6" name="Connecteur droit avec flèche 175">
            <a:extLst>
              <a:ext uri="{FF2B5EF4-FFF2-40B4-BE49-F238E27FC236}">
                <a16:creationId xmlns:a16="http://schemas.microsoft.com/office/drawing/2014/main" id="{35D7FFA7-93FD-E5E5-148E-EFC5A24E1AF7}"/>
              </a:ext>
            </a:extLst>
          </p:cNvPr>
          <p:cNvCxnSpPr>
            <a:cxnSpLocks/>
          </p:cNvCxnSpPr>
          <p:nvPr/>
        </p:nvCxnSpPr>
        <p:spPr>
          <a:xfrm>
            <a:off x="1206147" y="5431931"/>
            <a:ext cx="9846552" cy="0"/>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grpSp>
        <p:nvGrpSpPr>
          <p:cNvPr id="89" name="Groupe 88">
            <a:extLst>
              <a:ext uri="{FF2B5EF4-FFF2-40B4-BE49-F238E27FC236}">
                <a16:creationId xmlns:a16="http://schemas.microsoft.com/office/drawing/2014/main" id="{31CA068D-5FB1-2221-E726-38E0A3621253}"/>
              </a:ext>
            </a:extLst>
          </p:cNvPr>
          <p:cNvGrpSpPr/>
          <p:nvPr/>
        </p:nvGrpSpPr>
        <p:grpSpPr>
          <a:xfrm>
            <a:off x="1554603" y="5250564"/>
            <a:ext cx="8680221" cy="421351"/>
            <a:chOff x="6814690" y="4028721"/>
            <a:chExt cx="4775254" cy="259560"/>
          </a:xfrm>
          <a:solidFill>
            <a:srgbClr val="0683AA"/>
          </a:solidFill>
        </p:grpSpPr>
        <p:pic>
          <p:nvPicPr>
            <p:cNvPr id="91" name="Graphique 90" descr="Point d’interrogation avec un remplissage uni">
              <a:extLst>
                <a:ext uri="{FF2B5EF4-FFF2-40B4-BE49-F238E27FC236}">
                  <a16:creationId xmlns:a16="http://schemas.microsoft.com/office/drawing/2014/main" id="{3A13F134-6FC9-16D1-9703-B127AA00482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334873" y="4028721"/>
              <a:ext cx="255071" cy="255071"/>
            </a:xfrm>
            <a:prstGeom prst="rect">
              <a:avLst/>
            </a:prstGeom>
          </p:spPr>
        </p:pic>
        <p:pic>
          <p:nvPicPr>
            <p:cNvPr id="92" name="Graphique 91" descr="Point d’interrogation avec un remplissage uni">
              <a:extLst>
                <a:ext uri="{FF2B5EF4-FFF2-40B4-BE49-F238E27FC236}">
                  <a16:creationId xmlns:a16="http://schemas.microsoft.com/office/drawing/2014/main" id="{5130A143-D36C-FC22-C554-7690D32181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99906" y="4029092"/>
              <a:ext cx="255071" cy="255071"/>
            </a:xfrm>
            <a:prstGeom prst="rect">
              <a:avLst/>
            </a:prstGeom>
          </p:spPr>
        </p:pic>
        <p:pic>
          <p:nvPicPr>
            <p:cNvPr id="93" name="Graphique 92" descr="Point d’interrogation avec un remplissage uni">
              <a:extLst>
                <a:ext uri="{FF2B5EF4-FFF2-40B4-BE49-F238E27FC236}">
                  <a16:creationId xmlns:a16="http://schemas.microsoft.com/office/drawing/2014/main" id="{168F2733-655E-81B5-6B86-75095BEDDA8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40623" y="4033210"/>
              <a:ext cx="255071" cy="255071"/>
            </a:xfrm>
            <a:prstGeom prst="rect">
              <a:avLst/>
            </a:prstGeom>
          </p:spPr>
        </p:pic>
        <p:pic>
          <p:nvPicPr>
            <p:cNvPr id="94" name="Graphique 93" descr="Point d’interrogation avec un remplissage uni">
              <a:extLst>
                <a:ext uri="{FF2B5EF4-FFF2-40B4-BE49-F238E27FC236}">
                  <a16:creationId xmlns:a16="http://schemas.microsoft.com/office/drawing/2014/main" id="{22F9326E-9270-4EA9-4789-4E4D0DD6942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93832" y="4033210"/>
              <a:ext cx="255071" cy="255071"/>
            </a:xfrm>
            <a:prstGeom prst="rect">
              <a:avLst/>
            </a:prstGeom>
          </p:spPr>
        </p:pic>
        <p:pic>
          <p:nvPicPr>
            <p:cNvPr id="95" name="Graphique 94" descr="Point d’interrogation avec un remplissage uni">
              <a:extLst>
                <a:ext uri="{FF2B5EF4-FFF2-40B4-BE49-F238E27FC236}">
                  <a16:creationId xmlns:a16="http://schemas.microsoft.com/office/drawing/2014/main" id="{89B1CBE6-DD1F-607D-55E8-AD7C92BABB0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31050" y="4032142"/>
              <a:ext cx="255071" cy="255071"/>
            </a:xfrm>
            <a:prstGeom prst="rect">
              <a:avLst/>
            </a:prstGeom>
          </p:spPr>
        </p:pic>
        <p:pic>
          <p:nvPicPr>
            <p:cNvPr id="96" name="Graphique 95" descr="Point d’interrogation avec un remplissage uni">
              <a:extLst>
                <a:ext uri="{FF2B5EF4-FFF2-40B4-BE49-F238E27FC236}">
                  <a16:creationId xmlns:a16="http://schemas.microsoft.com/office/drawing/2014/main" id="{797A41C4-B22F-19AD-870B-9819E50CB53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77683" y="4031472"/>
              <a:ext cx="255071" cy="255071"/>
            </a:xfrm>
            <a:prstGeom prst="rect">
              <a:avLst/>
            </a:prstGeom>
          </p:spPr>
        </p:pic>
        <p:pic>
          <p:nvPicPr>
            <p:cNvPr id="97" name="Graphique 96" descr="Point d’interrogation avec un remplissage uni">
              <a:extLst>
                <a:ext uri="{FF2B5EF4-FFF2-40B4-BE49-F238E27FC236}">
                  <a16:creationId xmlns:a16="http://schemas.microsoft.com/office/drawing/2014/main" id="{EB2DDB23-F5C9-ED61-B90E-EA3801A2623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14690" y="4029092"/>
              <a:ext cx="255071" cy="255071"/>
            </a:xfrm>
            <a:prstGeom prst="rect">
              <a:avLst/>
            </a:prstGeom>
          </p:spPr>
        </p:pic>
      </p:grpSp>
      <p:sp>
        <p:nvSpPr>
          <p:cNvPr id="116" name="Bulle narrative : ronde 115">
            <a:extLst>
              <a:ext uri="{FF2B5EF4-FFF2-40B4-BE49-F238E27FC236}">
                <a16:creationId xmlns:a16="http://schemas.microsoft.com/office/drawing/2014/main" id="{6703547C-A4B1-1258-0EFB-9052695209F6}"/>
              </a:ext>
            </a:extLst>
          </p:cNvPr>
          <p:cNvSpPr/>
          <p:nvPr/>
        </p:nvSpPr>
        <p:spPr>
          <a:xfrm>
            <a:off x="7261934" y="2799434"/>
            <a:ext cx="3508546" cy="1016576"/>
          </a:xfrm>
          <a:prstGeom prst="wedgeEllipseCallout">
            <a:avLst>
              <a:gd name="adj1" fmla="val 52852"/>
              <a:gd name="adj2" fmla="val -3698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DE CHANGEMENT</a:t>
            </a:r>
            <a:r>
              <a:rPr lang="fr-FR" sz="1000" b="1">
                <a:solidFill>
                  <a:schemeClr val="tx1"/>
                </a:solidFill>
              </a:rPr>
              <a:t>, NOTRE MISSION EST </a:t>
            </a:r>
            <a:r>
              <a:rPr lang="fr-FR" sz="1000" b="1">
                <a:solidFill>
                  <a:srgbClr val="0683AA"/>
                </a:solidFill>
              </a:rPr>
              <a:t>D’ARRIVER A CONDUIRE UN CHANGEMENT JUSQU’À SON OFFICIALISATION. </a:t>
            </a:r>
            <a:r>
              <a:rPr lang="fr-FR" sz="1000" b="1">
                <a:solidFill>
                  <a:schemeClr val="tx1"/>
                </a:solidFill>
              </a:rPr>
              <a:t>. TOUS NOS SUJETS S’ARRÊTENT A </a:t>
            </a:r>
            <a:r>
              <a:rPr lang="fr-FR" sz="1000" b="1" i="1">
                <a:solidFill>
                  <a:schemeClr val="tx1"/>
                </a:solidFill>
              </a:rPr>
              <a:t>FORTIFICATION</a:t>
            </a:r>
            <a:r>
              <a:rPr lang="fr-FR" sz="1000" b="1">
                <a:solidFill>
                  <a:schemeClr val="tx1"/>
                </a:solidFill>
              </a:rPr>
              <a:t>.</a:t>
            </a:r>
          </a:p>
        </p:txBody>
      </p:sp>
      <p:sp>
        <p:nvSpPr>
          <p:cNvPr id="177" name="Bulle narrative : ronde 176">
            <a:extLst>
              <a:ext uri="{FF2B5EF4-FFF2-40B4-BE49-F238E27FC236}">
                <a16:creationId xmlns:a16="http://schemas.microsoft.com/office/drawing/2014/main" id="{3D079C07-01BD-208D-177D-21C5710E9886}"/>
              </a:ext>
            </a:extLst>
          </p:cNvPr>
          <p:cNvSpPr/>
          <p:nvPr/>
        </p:nvSpPr>
        <p:spPr>
          <a:xfrm>
            <a:off x="7261934" y="5671915"/>
            <a:ext cx="3648722" cy="1039215"/>
          </a:xfrm>
          <a:prstGeom prst="wedgeEllipseCallout">
            <a:avLst>
              <a:gd name="adj1" fmla="val 51906"/>
              <a:gd name="adj2" fmla="val -4458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NOUS SOMMES UNE </a:t>
            </a:r>
            <a:r>
              <a:rPr lang="fr-FR" sz="1000" b="1">
                <a:solidFill>
                  <a:srgbClr val="ED7D31"/>
                </a:solidFill>
              </a:rPr>
              <a:t>COMMUNAUTE THEMATIQUE</a:t>
            </a:r>
            <a:r>
              <a:rPr lang="fr-FR" sz="1000" b="1">
                <a:solidFill>
                  <a:schemeClr val="tx1"/>
                </a:solidFill>
              </a:rPr>
              <a:t>, NOTRE BUT EST </a:t>
            </a:r>
            <a:r>
              <a:rPr lang="fr-FR" sz="1000" b="1">
                <a:solidFill>
                  <a:srgbClr val="0683AA"/>
                </a:solidFill>
              </a:rPr>
              <a:t>D’ARRIVER AUSSI LOIN QUE POSSIBLE SUR DIVERS SUJETS</a:t>
            </a:r>
            <a:r>
              <a:rPr lang="fr-FR" sz="1000" b="1">
                <a:solidFill>
                  <a:schemeClr val="tx1"/>
                </a:solidFill>
              </a:rPr>
              <a:t> LIÉS A NOTRE THEME. TOUS NOS SUJETS S’ARRÊTENT A </a:t>
            </a:r>
            <a:r>
              <a:rPr lang="fr-FR" sz="1000" b="1" i="1">
                <a:solidFill>
                  <a:schemeClr val="tx1"/>
                </a:solidFill>
              </a:rPr>
              <a:t>LE PLUS LOIN POSSIBLE</a:t>
            </a:r>
            <a:r>
              <a:rPr lang="fr-FR" sz="1000" b="1">
                <a:solidFill>
                  <a:schemeClr val="tx1"/>
                </a:solidFill>
              </a:rPr>
              <a:t>.</a:t>
            </a:r>
          </a:p>
        </p:txBody>
      </p:sp>
      <p:sp>
        <p:nvSpPr>
          <p:cNvPr id="53" name="ZoneTexte 52">
            <a:extLst>
              <a:ext uri="{FF2B5EF4-FFF2-40B4-BE49-F238E27FC236}">
                <a16:creationId xmlns:a16="http://schemas.microsoft.com/office/drawing/2014/main" id="{E74E4082-058D-DE36-542C-62BBDD247E4F}"/>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Cas d’usage</a:t>
            </a:r>
            <a:endParaRPr lang="fr-FR" sz="3200"/>
          </a:p>
        </p:txBody>
      </p:sp>
      <p:grpSp>
        <p:nvGrpSpPr>
          <p:cNvPr id="54" name="Groupe 53">
            <a:extLst>
              <a:ext uri="{FF2B5EF4-FFF2-40B4-BE49-F238E27FC236}">
                <a16:creationId xmlns:a16="http://schemas.microsoft.com/office/drawing/2014/main" id="{61954974-A896-6EA8-F13D-663D829AC1E4}"/>
              </a:ext>
            </a:extLst>
          </p:cNvPr>
          <p:cNvGrpSpPr/>
          <p:nvPr/>
        </p:nvGrpSpPr>
        <p:grpSpPr>
          <a:xfrm>
            <a:off x="1121044" y="1273782"/>
            <a:ext cx="9488276" cy="1157925"/>
            <a:chOff x="11600" y="1496380"/>
            <a:chExt cx="12038120" cy="1498765"/>
          </a:xfrm>
        </p:grpSpPr>
        <p:grpSp>
          <p:nvGrpSpPr>
            <p:cNvPr id="55" name="Groupe 54">
              <a:extLst>
                <a:ext uri="{FF2B5EF4-FFF2-40B4-BE49-F238E27FC236}">
                  <a16:creationId xmlns:a16="http://schemas.microsoft.com/office/drawing/2014/main" id="{60CE7823-125A-389A-C0C5-DEA28DD5C774}"/>
                </a:ext>
              </a:extLst>
            </p:cNvPr>
            <p:cNvGrpSpPr/>
            <p:nvPr/>
          </p:nvGrpSpPr>
          <p:grpSpPr>
            <a:xfrm>
              <a:off x="11600" y="2499558"/>
              <a:ext cx="12038120" cy="495587"/>
              <a:chOff x="0" y="2140394"/>
              <a:chExt cx="12854128" cy="4544491"/>
            </a:xfrm>
          </p:grpSpPr>
          <p:sp>
            <p:nvSpPr>
              <p:cNvPr id="63" name="Espace réservé du texte 15">
                <a:extLst>
                  <a:ext uri="{FF2B5EF4-FFF2-40B4-BE49-F238E27FC236}">
                    <a16:creationId xmlns:a16="http://schemas.microsoft.com/office/drawing/2014/main" id="{9552967F-1ABA-1530-2089-0FA5B66F811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64" name="Espace réservé du texte 15">
                <a:extLst>
                  <a:ext uri="{FF2B5EF4-FFF2-40B4-BE49-F238E27FC236}">
                    <a16:creationId xmlns:a16="http://schemas.microsoft.com/office/drawing/2014/main" id="{C6123D46-2488-CE00-03FD-304AF7D14074}"/>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65" name="Espace réservé du texte 15">
                <a:extLst>
                  <a:ext uri="{FF2B5EF4-FFF2-40B4-BE49-F238E27FC236}">
                    <a16:creationId xmlns:a16="http://schemas.microsoft.com/office/drawing/2014/main" id="{DFD7F17B-811F-7060-5C00-1C1E9D68335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66" name="Espace réservé du texte 15">
                <a:extLst>
                  <a:ext uri="{FF2B5EF4-FFF2-40B4-BE49-F238E27FC236}">
                    <a16:creationId xmlns:a16="http://schemas.microsoft.com/office/drawing/2014/main" id="{DD603A73-9E6A-C5A7-D1D9-247F66488334}"/>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67" name="Espace réservé du texte 15">
                <a:extLst>
                  <a:ext uri="{FF2B5EF4-FFF2-40B4-BE49-F238E27FC236}">
                    <a16:creationId xmlns:a16="http://schemas.microsoft.com/office/drawing/2014/main" id="{E9BBA32F-1EF9-C8EE-7755-70D3D56E885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68" name="Espace réservé du texte 15">
                <a:extLst>
                  <a:ext uri="{FF2B5EF4-FFF2-40B4-BE49-F238E27FC236}">
                    <a16:creationId xmlns:a16="http://schemas.microsoft.com/office/drawing/2014/main" id="{D8D3C4BC-BC80-1D0B-284E-4F9031D6E514}"/>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69" name="Espace réservé du texte 15">
                <a:extLst>
                  <a:ext uri="{FF2B5EF4-FFF2-40B4-BE49-F238E27FC236}">
                    <a16:creationId xmlns:a16="http://schemas.microsoft.com/office/drawing/2014/main" id="{552BFF9F-CED7-FCC1-D7E3-18E0FD932579}"/>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56" name="Graphique 55" descr="Ampoule avec un remplissage uni">
              <a:extLst>
                <a:ext uri="{FF2B5EF4-FFF2-40B4-BE49-F238E27FC236}">
                  <a16:creationId xmlns:a16="http://schemas.microsoft.com/office/drawing/2014/main" id="{D216C885-B7A2-CC70-23F0-EA6C6A3AFDC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868" y="1496380"/>
              <a:ext cx="914400" cy="914400"/>
            </a:xfrm>
            <a:prstGeom prst="rect">
              <a:avLst/>
            </a:prstGeom>
          </p:spPr>
        </p:pic>
        <p:pic>
          <p:nvPicPr>
            <p:cNvPr id="57" name="Graphique 56" descr="Seau et pelle avec un remplissage uni">
              <a:extLst>
                <a:ext uri="{FF2B5EF4-FFF2-40B4-BE49-F238E27FC236}">
                  <a16:creationId xmlns:a16="http://schemas.microsoft.com/office/drawing/2014/main" id="{6B95B342-3BE0-0442-E80F-264119B3FBA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98515" y="1496380"/>
              <a:ext cx="914400" cy="914400"/>
            </a:xfrm>
            <a:prstGeom prst="rect">
              <a:avLst/>
            </a:prstGeom>
          </p:spPr>
        </p:pic>
        <p:pic>
          <p:nvPicPr>
            <p:cNvPr id="58" name="Graphique 57" descr="Tubes à essai avec un remplissage uni">
              <a:extLst>
                <a:ext uri="{FF2B5EF4-FFF2-40B4-BE49-F238E27FC236}">
                  <a16:creationId xmlns:a16="http://schemas.microsoft.com/office/drawing/2014/main" id="{2EF36B14-F1EC-CABF-9CCB-EAE0C014A4A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833203" y="1496380"/>
              <a:ext cx="914400" cy="914400"/>
            </a:xfrm>
            <a:prstGeom prst="rect">
              <a:avLst/>
            </a:prstGeom>
          </p:spPr>
        </p:pic>
        <p:pic>
          <p:nvPicPr>
            <p:cNvPr id="59" name="Graphique 58" descr="Explosion avec un remplissage uni">
              <a:extLst>
                <a:ext uri="{FF2B5EF4-FFF2-40B4-BE49-F238E27FC236}">
                  <a16:creationId xmlns:a16="http://schemas.microsoft.com/office/drawing/2014/main" id="{0A054144-BB9E-7D30-4A07-D79FC1086B7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73460" y="1496380"/>
              <a:ext cx="914400" cy="914400"/>
            </a:xfrm>
            <a:prstGeom prst="rect">
              <a:avLst/>
            </a:prstGeom>
          </p:spPr>
        </p:pic>
        <p:pic>
          <p:nvPicPr>
            <p:cNvPr id="60" name="Graphique 59" descr="Trophée avec un remplissage uni">
              <a:extLst>
                <a:ext uri="{FF2B5EF4-FFF2-40B4-BE49-F238E27FC236}">
                  <a16:creationId xmlns:a16="http://schemas.microsoft.com/office/drawing/2014/main" id="{C3EF70B2-0A70-DDF8-1C57-404513DAC62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13717" y="1496380"/>
              <a:ext cx="914400" cy="914400"/>
            </a:xfrm>
            <a:prstGeom prst="rect">
              <a:avLst/>
            </a:prstGeom>
          </p:spPr>
        </p:pic>
        <p:pic>
          <p:nvPicPr>
            <p:cNvPr id="61" name="Graphique 60" descr="Assiette couverte avec un remplissage uni">
              <a:extLst>
                <a:ext uri="{FF2B5EF4-FFF2-40B4-BE49-F238E27FC236}">
                  <a16:creationId xmlns:a16="http://schemas.microsoft.com/office/drawing/2014/main" id="{63C650F3-B822-26E5-01B3-663E26D8191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048405" y="1496380"/>
              <a:ext cx="914400" cy="914400"/>
            </a:xfrm>
            <a:prstGeom prst="rect">
              <a:avLst/>
            </a:prstGeom>
          </p:spPr>
        </p:pic>
        <p:pic>
          <p:nvPicPr>
            <p:cNvPr id="62" name="Graphique 61" descr="Scène de château avec un remplissage uni">
              <a:extLst>
                <a:ext uri="{FF2B5EF4-FFF2-40B4-BE49-F238E27FC236}">
                  <a16:creationId xmlns:a16="http://schemas.microsoft.com/office/drawing/2014/main" id="{E5052F0A-B5C0-3257-9BAD-8DA93B403723}"/>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3093" y="1496380"/>
              <a:ext cx="914400" cy="914400"/>
            </a:xfrm>
            <a:prstGeom prst="rect">
              <a:avLst/>
            </a:prstGeom>
          </p:spPr>
        </p:pic>
      </p:grpSp>
      <p:grpSp>
        <p:nvGrpSpPr>
          <p:cNvPr id="70" name="Groupe 69">
            <a:extLst>
              <a:ext uri="{FF2B5EF4-FFF2-40B4-BE49-F238E27FC236}">
                <a16:creationId xmlns:a16="http://schemas.microsoft.com/office/drawing/2014/main" id="{BA1781A0-204B-D0FB-2624-E9CDA99368AE}"/>
              </a:ext>
            </a:extLst>
          </p:cNvPr>
          <p:cNvGrpSpPr/>
          <p:nvPr/>
        </p:nvGrpSpPr>
        <p:grpSpPr>
          <a:xfrm>
            <a:off x="1167669" y="4058566"/>
            <a:ext cx="9488276" cy="1157925"/>
            <a:chOff x="11600" y="1496380"/>
            <a:chExt cx="12038120" cy="1498765"/>
          </a:xfrm>
        </p:grpSpPr>
        <p:grpSp>
          <p:nvGrpSpPr>
            <p:cNvPr id="71" name="Groupe 70">
              <a:extLst>
                <a:ext uri="{FF2B5EF4-FFF2-40B4-BE49-F238E27FC236}">
                  <a16:creationId xmlns:a16="http://schemas.microsoft.com/office/drawing/2014/main" id="{2421C8AA-08F1-6CDD-66A5-218832ABBA24}"/>
                </a:ext>
              </a:extLst>
            </p:cNvPr>
            <p:cNvGrpSpPr/>
            <p:nvPr/>
          </p:nvGrpSpPr>
          <p:grpSpPr>
            <a:xfrm>
              <a:off x="11600" y="2499558"/>
              <a:ext cx="12038120" cy="495587"/>
              <a:chOff x="0" y="2140394"/>
              <a:chExt cx="12854128" cy="4544491"/>
            </a:xfrm>
          </p:grpSpPr>
          <p:sp>
            <p:nvSpPr>
              <p:cNvPr id="79" name="Espace réservé du texte 15">
                <a:extLst>
                  <a:ext uri="{FF2B5EF4-FFF2-40B4-BE49-F238E27FC236}">
                    <a16:creationId xmlns:a16="http://schemas.microsoft.com/office/drawing/2014/main" id="{55CBE765-B7E0-097D-BEFB-B7BC9FA3B6B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80" name="Espace réservé du texte 15">
                <a:extLst>
                  <a:ext uri="{FF2B5EF4-FFF2-40B4-BE49-F238E27FC236}">
                    <a16:creationId xmlns:a16="http://schemas.microsoft.com/office/drawing/2014/main" id="{D94C3C34-1FC0-F3E6-BE1D-6C0CDF493FD5}"/>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81" name="Espace réservé du texte 15">
                <a:extLst>
                  <a:ext uri="{FF2B5EF4-FFF2-40B4-BE49-F238E27FC236}">
                    <a16:creationId xmlns:a16="http://schemas.microsoft.com/office/drawing/2014/main" id="{12C932F1-E3BC-9867-12D5-49602EAD2FD4}"/>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82" name="Espace réservé du texte 15">
                <a:extLst>
                  <a:ext uri="{FF2B5EF4-FFF2-40B4-BE49-F238E27FC236}">
                    <a16:creationId xmlns:a16="http://schemas.microsoft.com/office/drawing/2014/main" id="{81EF75AB-A29C-107D-AA04-F9E643246B3D}"/>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83" name="Espace réservé du texte 15">
                <a:extLst>
                  <a:ext uri="{FF2B5EF4-FFF2-40B4-BE49-F238E27FC236}">
                    <a16:creationId xmlns:a16="http://schemas.microsoft.com/office/drawing/2014/main" id="{E741A16A-A9AC-9A96-5C27-0503454B3BFE}"/>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84" name="Espace réservé du texte 15">
                <a:extLst>
                  <a:ext uri="{FF2B5EF4-FFF2-40B4-BE49-F238E27FC236}">
                    <a16:creationId xmlns:a16="http://schemas.microsoft.com/office/drawing/2014/main" id="{983C1233-9863-0521-7077-EEC49054291E}"/>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85" name="Espace réservé du texte 15">
                <a:extLst>
                  <a:ext uri="{FF2B5EF4-FFF2-40B4-BE49-F238E27FC236}">
                    <a16:creationId xmlns:a16="http://schemas.microsoft.com/office/drawing/2014/main" id="{A2E239EF-D731-5074-7259-D9AF075DAABF}"/>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72" name="Graphique 71" descr="Ampoule avec un remplissage uni">
              <a:extLst>
                <a:ext uri="{FF2B5EF4-FFF2-40B4-BE49-F238E27FC236}">
                  <a16:creationId xmlns:a16="http://schemas.microsoft.com/office/drawing/2014/main" id="{EA2B3B78-568E-DF34-B995-A2035D688AA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868" y="1496380"/>
              <a:ext cx="914400" cy="914400"/>
            </a:xfrm>
            <a:prstGeom prst="rect">
              <a:avLst/>
            </a:prstGeom>
          </p:spPr>
        </p:pic>
        <p:pic>
          <p:nvPicPr>
            <p:cNvPr id="73" name="Graphique 72" descr="Seau et pelle avec un remplissage uni">
              <a:extLst>
                <a:ext uri="{FF2B5EF4-FFF2-40B4-BE49-F238E27FC236}">
                  <a16:creationId xmlns:a16="http://schemas.microsoft.com/office/drawing/2014/main" id="{6233EC08-308A-4C72-462F-98ED1375B2C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98515" y="1496380"/>
              <a:ext cx="914400" cy="914400"/>
            </a:xfrm>
            <a:prstGeom prst="rect">
              <a:avLst/>
            </a:prstGeom>
          </p:spPr>
        </p:pic>
        <p:pic>
          <p:nvPicPr>
            <p:cNvPr id="74" name="Graphique 73" descr="Tubes à essai avec un remplissage uni">
              <a:extLst>
                <a:ext uri="{FF2B5EF4-FFF2-40B4-BE49-F238E27FC236}">
                  <a16:creationId xmlns:a16="http://schemas.microsoft.com/office/drawing/2014/main" id="{F18B1BFE-E209-D674-D2E8-8CAF5D447DB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833203" y="1496380"/>
              <a:ext cx="914400" cy="914400"/>
            </a:xfrm>
            <a:prstGeom prst="rect">
              <a:avLst/>
            </a:prstGeom>
          </p:spPr>
        </p:pic>
        <p:pic>
          <p:nvPicPr>
            <p:cNvPr id="75" name="Graphique 74" descr="Explosion avec un remplissage uni">
              <a:extLst>
                <a:ext uri="{FF2B5EF4-FFF2-40B4-BE49-F238E27FC236}">
                  <a16:creationId xmlns:a16="http://schemas.microsoft.com/office/drawing/2014/main" id="{C487D378-F9EB-2AFD-264E-B5782086AD6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73460" y="1496380"/>
              <a:ext cx="914400" cy="914400"/>
            </a:xfrm>
            <a:prstGeom prst="rect">
              <a:avLst/>
            </a:prstGeom>
          </p:spPr>
        </p:pic>
        <p:pic>
          <p:nvPicPr>
            <p:cNvPr id="76" name="Graphique 75" descr="Trophée avec un remplissage uni">
              <a:extLst>
                <a:ext uri="{FF2B5EF4-FFF2-40B4-BE49-F238E27FC236}">
                  <a16:creationId xmlns:a16="http://schemas.microsoft.com/office/drawing/2014/main" id="{5D40FC83-7D9F-908B-6DA3-F7EE1ABAD4E8}"/>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13717" y="1496380"/>
              <a:ext cx="914400" cy="914400"/>
            </a:xfrm>
            <a:prstGeom prst="rect">
              <a:avLst/>
            </a:prstGeom>
          </p:spPr>
        </p:pic>
        <p:pic>
          <p:nvPicPr>
            <p:cNvPr id="77" name="Graphique 76" descr="Assiette couverte avec un remplissage uni">
              <a:extLst>
                <a:ext uri="{FF2B5EF4-FFF2-40B4-BE49-F238E27FC236}">
                  <a16:creationId xmlns:a16="http://schemas.microsoft.com/office/drawing/2014/main" id="{16955EE9-503F-F3DC-3D08-587B9BDB2F3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048405" y="1496380"/>
              <a:ext cx="914400" cy="914400"/>
            </a:xfrm>
            <a:prstGeom prst="rect">
              <a:avLst/>
            </a:prstGeom>
          </p:spPr>
        </p:pic>
        <p:pic>
          <p:nvPicPr>
            <p:cNvPr id="78" name="Graphique 77" descr="Scène de château avec un remplissage uni">
              <a:extLst>
                <a:ext uri="{FF2B5EF4-FFF2-40B4-BE49-F238E27FC236}">
                  <a16:creationId xmlns:a16="http://schemas.microsoft.com/office/drawing/2014/main" id="{4658EFC1-3406-B02C-B9E3-BD04AFC8014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3093" y="1496380"/>
              <a:ext cx="914400" cy="914400"/>
            </a:xfrm>
            <a:prstGeom prst="rect">
              <a:avLst/>
            </a:prstGeom>
          </p:spPr>
        </p:pic>
      </p:grpSp>
      <p:pic>
        <p:nvPicPr>
          <p:cNvPr id="86" name="Graphique 85" descr="Notes Post-it avec un remplissage uni">
            <a:extLst>
              <a:ext uri="{FF2B5EF4-FFF2-40B4-BE49-F238E27FC236}">
                <a16:creationId xmlns:a16="http://schemas.microsoft.com/office/drawing/2014/main" id="{215900BC-624A-E2A2-5267-8470D78549A9}"/>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57265" y="2431706"/>
            <a:ext cx="485113" cy="485113"/>
          </a:xfrm>
          <a:prstGeom prst="rect">
            <a:avLst/>
          </a:prstGeom>
        </p:spPr>
      </p:pic>
      <p:pic>
        <p:nvPicPr>
          <p:cNvPr id="87" name="Graphique 86" descr="Mille avec un remplissage uni">
            <a:extLst>
              <a:ext uri="{FF2B5EF4-FFF2-40B4-BE49-F238E27FC236}">
                <a16:creationId xmlns:a16="http://schemas.microsoft.com/office/drawing/2014/main" id="{E23B1CDB-C136-F7BD-16D3-C5CB5BEDBF2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696121" y="2391379"/>
            <a:ext cx="485112" cy="485112"/>
          </a:xfrm>
          <a:prstGeom prst="rect">
            <a:avLst/>
          </a:prstGeom>
        </p:spPr>
      </p:pic>
      <p:pic>
        <p:nvPicPr>
          <p:cNvPr id="88" name="Graphique 87" descr="Notes Post-it avec un remplissage uni">
            <a:extLst>
              <a:ext uri="{FF2B5EF4-FFF2-40B4-BE49-F238E27FC236}">
                <a16:creationId xmlns:a16="http://schemas.microsoft.com/office/drawing/2014/main" id="{8E82D4B3-C430-5A4F-B87B-5C5FB5D382E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71158" y="5210923"/>
            <a:ext cx="485113" cy="485113"/>
          </a:xfrm>
          <a:prstGeom prst="rect">
            <a:avLst/>
          </a:prstGeom>
        </p:spPr>
      </p:pic>
      <p:pic>
        <p:nvPicPr>
          <p:cNvPr id="123" name="Graphique 122" descr="Groupe d’hommes avec un remplissage uni">
            <a:extLst>
              <a:ext uri="{FF2B5EF4-FFF2-40B4-BE49-F238E27FC236}">
                <a16:creationId xmlns:a16="http://schemas.microsoft.com/office/drawing/2014/main" id="{5B25E0EA-C9BE-88E5-63A5-DEECA497A01E}"/>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946080" y="2334087"/>
            <a:ext cx="914400" cy="914400"/>
          </a:xfrm>
          <a:prstGeom prst="rect">
            <a:avLst/>
          </a:prstGeom>
        </p:spPr>
      </p:pic>
      <p:pic>
        <p:nvPicPr>
          <p:cNvPr id="124" name="Graphique 123" descr="Groupe d’hommes avec un remplissage uni">
            <a:extLst>
              <a:ext uri="{FF2B5EF4-FFF2-40B4-BE49-F238E27FC236}">
                <a16:creationId xmlns:a16="http://schemas.microsoft.com/office/drawing/2014/main" id="{02BE9B46-98AF-99F0-0F1B-048061A6C049}"/>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946080" y="5346348"/>
            <a:ext cx="914400" cy="914400"/>
          </a:xfrm>
          <a:prstGeom prst="rect">
            <a:avLst/>
          </a:prstGeom>
        </p:spPr>
      </p:pic>
      <p:cxnSp>
        <p:nvCxnSpPr>
          <p:cNvPr id="125" name="Connecteur droit avec flèche 124">
            <a:extLst>
              <a:ext uri="{FF2B5EF4-FFF2-40B4-BE49-F238E27FC236}">
                <a16:creationId xmlns:a16="http://schemas.microsoft.com/office/drawing/2014/main" id="{EEC768F4-6AE0-F1FA-888D-1E055CB5930D}"/>
              </a:ext>
            </a:extLst>
          </p:cNvPr>
          <p:cNvCxnSpPr>
            <a:cxnSpLocks/>
            <a:stCxn id="86" idx="3"/>
            <a:endCxn id="87" idx="1"/>
          </p:cNvCxnSpPr>
          <p:nvPr/>
        </p:nvCxnSpPr>
        <p:spPr>
          <a:xfrm flipV="1">
            <a:off x="1142378" y="2633935"/>
            <a:ext cx="8553743" cy="40328"/>
          </a:xfrm>
          <a:prstGeom prst="straightConnector1">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sp>
        <p:nvSpPr>
          <p:cNvPr id="52" name="ZoneTexte 51">
            <a:extLst>
              <a:ext uri="{FF2B5EF4-FFF2-40B4-BE49-F238E27FC236}">
                <a16:creationId xmlns:a16="http://schemas.microsoft.com/office/drawing/2014/main" id="{F0C7F736-66AD-8140-18A7-1E6CAAC289D0}"/>
              </a:ext>
            </a:extLst>
          </p:cNvPr>
          <p:cNvSpPr txBox="1"/>
          <p:nvPr/>
        </p:nvSpPr>
        <p:spPr>
          <a:xfrm>
            <a:off x="10869319" y="3248487"/>
            <a:ext cx="1067921" cy="261610"/>
          </a:xfrm>
          <a:prstGeom prst="rect">
            <a:avLst/>
          </a:prstGeom>
          <a:noFill/>
        </p:spPr>
        <p:txBody>
          <a:bodyPr wrap="none" rtlCol="0">
            <a:spAutoFit/>
          </a:bodyPr>
          <a:lstStyle/>
          <a:p>
            <a:r>
              <a:rPr lang="fr-FR" sz="1100"/>
              <a:t>Communauté 7</a:t>
            </a:r>
          </a:p>
        </p:txBody>
      </p:sp>
      <p:sp>
        <p:nvSpPr>
          <p:cNvPr id="90" name="ZoneTexte 89">
            <a:extLst>
              <a:ext uri="{FF2B5EF4-FFF2-40B4-BE49-F238E27FC236}">
                <a16:creationId xmlns:a16="http://schemas.microsoft.com/office/drawing/2014/main" id="{8E1073E8-E81D-5B3D-70CA-708CCB498441}"/>
              </a:ext>
            </a:extLst>
          </p:cNvPr>
          <p:cNvSpPr txBox="1"/>
          <p:nvPr/>
        </p:nvSpPr>
        <p:spPr>
          <a:xfrm>
            <a:off x="10869318" y="6260748"/>
            <a:ext cx="1067921" cy="261610"/>
          </a:xfrm>
          <a:prstGeom prst="rect">
            <a:avLst/>
          </a:prstGeom>
          <a:noFill/>
        </p:spPr>
        <p:txBody>
          <a:bodyPr wrap="none" rtlCol="0">
            <a:spAutoFit/>
          </a:bodyPr>
          <a:lstStyle/>
          <a:p>
            <a:r>
              <a:rPr lang="fr-FR" sz="1100"/>
              <a:t>Communauté 8</a:t>
            </a:r>
          </a:p>
        </p:txBody>
      </p:sp>
      <p:sp>
        <p:nvSpPr>
          <p:cNvPr id="98" name="Espace réservé du texte 15">
            <a:extLst>
              <a:ext uri="{FF2B5EF4-FFF2-40B4-BE49-F238E27FC236}">
                <a16:creationId xmlns:a16="http://schemas.microsoft.com/office/drawing/2014/main" id="{EA732768-8452-B244-B911-1A4D26C1FBFE}"/>
              </a:ext>
            </a:extLst>
          </p:cNvPr>
          <p:cNvSpPr txBox="1">
            <a:spLocks/>
          </p:cNvSpPr>
          <p:nvPr/>
        </p:nvSpPr>
        <p:spPr>
          <a:xfrm>
            <a:off x="10770480" y="4828039"/>
            <a:ext cx="1271293" cy="382884"/>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AUSSI LOIN QUE POSSIBLE</a:t>
            </a:r>
          </a:p>
          <a:p>
            <a:pPr marL="0" indent="0" algn="ctr">
              <a:buFont typeface="Arial" panose="020B0604020202020204" pitchFamily="34" charset="0"/>
              <a:buNone/>
            </a:pPr>
            <a:endParaRPr lang="fr-FR" sz="1050" b="1" i="1">
              <a:solidFill>
                <a:srgbClr val="ED7D31"/>
              </a:solidFill>
            </a:endParaRPr>
          </a:p>
        </p:txBody>
      </p:sp>
    </p:spTree>
    <p:extLst>
      <p:ext uri="{BB962C8B-B14F-4D97-AF65-F5344CB8AC3E}">
        <p14:creationId xmlns:p14="http://schemas.microsoft.com/office/powerpoint/2010/main" val="15666047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 name="Groupe 97">
            <a:extLst>
              <a:ext uri="{FF2B5EF4-FFF2-40B4-BE49-F238E27FC236}">
                <a16:creationId xmlns:a16="http://schemas.microsoft.com/office/drawing/2014/main" id="{D7EAF5B1-2CD8-4630-ADC6-B0E20C443D81}"/>
              </a:ext>
            </a:extLst>
          </p:cNvPr>
          <p:cNvGrpSpPr/>
          <p:nvPr/>
        </p:nvGrpSpPr>
        <p:grpSpPr>
          <a:xfrm>
            <a:off x="2783382" y="1604714"/>
            <a:ext cx="7573603" cy="4317562"/>
            <a:chOff x="3389594" y="1818574"/>
            <a:chExt cx="8670282" cy="4940937"/>
          </a:xfrm>
        </p:grpSpPr>
        <p:grpSp>
          <p:nvGrpSpPr>
            <p:cNvPr id="8" name="Groupe 7">
              <a:extLst>
                <a:ext uri="{FF2B5EF4-FFF2-40B4-BE49-F238E27FC236}">
                  <a16:creationId xmlns:a16="http://schemas.microsoft.com/office/drawing/2014/main" id="{7514F0AD-4118-4DF7-8B7C-C3C37645C828}"/>
                </a:ext>
              </a:extLst>
            </p:cNvPr>
            <p:cNvGrpSpPr/>
            <p:nvPr/>
          </p:nvGrpSpPr>
          <p:grpSpPr>
            <a:xfrm>
              <a:off x="3552347" y="1818574"/>
              <a:ext cx="8507529" cy="971156"/>
              <a:chOff x="11600" y="1496380"/>
              <a:chExt cx="12038120" cy="1498765"/>
            </a:xfrm>
          </p:grpSpPr>
          <p:grpSp>
            <p:nvGrpSpPr>
              <p:cNvPr id="9" name="Groupe 8">
                <a:extLst>
                  <a:ext uri="{FF2B5EF4-FFF2-40B4-BE49-F238E27FC236}">
                    <a16:creationId xmlns:a16="http://schemas.microsoft.com/office/drawing/2014/main" id="{49059D4B-0690-4AA5-9D1F-4C032A212518}"/>
                  </a:ext>
                </a:extLst>
              </p:cNvPr>
              <p:cNvGrpSpPr/>
              <p:nvPr/>
            </p:nvGrpSpPr>
            <p:grpSpPr>
              <a:xfrm>
                <a:off x="11600" y="2499558"/>
                <a:ext cx="12038120" cy="495587"/>
                <a:chOff x="0" y="2140394"/>
                <a:chExt cx="12854128" cy="4544491"/>
              </a:xfrm>
            </p:grpSpPr>
            <p:sp>
              <p:nvSpPr>
                <p:cNvPr id="17" name="Espace réservé du texte 15">
                  <a:extLst>
                    <a:ext uri="{FF2B5EF4-FFF2-40B4-BE49-F238E27FC236}">
                      <a16:creationId xmlns:a16="http://schemas.microsoft.com/office/drawing/2014/main" id="{9FCC0275-6599-4796-A233-A498894B6C0D}"/>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INSPIRATION</a:t>
                  </a:r>
                </a:p>
                <a:p>
                  <a:pPr marL="0" indent="0" algn="ctr">
                    <a:buFont typeface="Arial" panose="020B0604020202020204" pitchFamily="34" charset="0"/>
                    <a:buNone/>
                  </a:pPr>
                  <a:endParaRPr lang="fr-FR" sz="600" b="1" i="1">
                    <a:solidFill>
                      <a:srgbClr val="ED7D31"/>
                    </a:solidFill>
                  </a:endParaRPr>
                </a:p>
              </p:txBody>
            </p:sp>
            <p:sp>
              <p:nvSpPr>
                <p:cNvPr id="18" name="Espace réservé du texte 15">
                  <a:extLst>
                    <a:ext uri="{FF2B5EF4-FFF2-40B4-BE49-F238E27FC236}">
                      <a16:creationId xmlns:a16="http://schemas.microsoft.com/office/drawing/2014/main" id="{8AA2A2FE-87E7-4149-8884-DDAE98BB07C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COLLECTE</a:t>
                  </a:r>
                </a:p>
                <a:p>
                  <a:pPr marL="0" indent="0" algn="ctr">
                    <a:buFont typeface="Arial" panose="020B0604020202020204" pitchFamily="34" charset="0"/>
                    <a:buNone/>
                  </a:pPr>
                  <a:endParaRPr lang="fr-FR" sz="600" b="1" i="1">
                    <a:solidFill>
                      <a:srgbClr val="ED7D31"/>
                    </a:solidFill>
                  </a:endParaRPr>
                </a:p>
              </p:txBody>
            </p:sp>
            <p:sp>
              <p:nvSpPr>
                <p:cNvPr id="19" name="Espace réservé du texte 15">
                  <a:extLst>
                    <a:ext uri="{FF2B5EF4-FFF2-40B4-BE49-F238E27FC236}">
                      <a16:creationId xmlns:a16="http://schemas.microsoft.com/office/drawing/2014/main" id="{8CDE1810-02A8-4999-ADFF-09922FAC3DD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INITIATION</a:t>
                  </a:r>
                </a:p>
                <a:p>
                  <a:pPr marL="0" indent="0" algn="ctr">
                    <a:buFont typeface="Arial" panose="020B0604020202020204" pitchFamily="34" charset="0"/>
                    <a:buNone/>
                  </a:pPr>
                  <a:endParaRPr lang="fr-FR" sz="600" b="1" i="1">
                    <a:solidFill>
                      <a:srgbClr val="ED7D31"/>
                    </a:solidFill>
                  </a:endParaRPr>
                </a:p>
              </p:txBody>
            </p:sp>
            <p:sp>
              <p:nvSpPr>
                <p:cNvPr id="20" name="Espace réservé du texte 15">
                  <a:extLst>
                    <a:ext uri="{FF2B5EF4-FFF2-40B4-BE49-F238E27FC236}">
                      <a16:creationId xmlns:a16="http://schemas.microsoft.com/office/drawing/2014/main" id="{7BA2D7F0-A3DD-4FD6-83DD-BED546C0484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CHOC DE LA RÉALITÉ</a:t>
                  </a:r>
                </a:p>
                <a:p>
                  <a:pPr marL="0" indent="0" algn="ctr">
                    <a:buFont typeface="Arial" panose="020B0604020202020204" pitchFamily="34" charset="0"/>
                    <a:buNone/>
                  </a:pPr>
                  <a:endParaRPr lang="fr-FR" sz="600" b="1" i="1">
                    <a:solidFill>
                      <a:srgbClr val="ED7D31"/>
                    </a:solidFill>
                  </a:endParaRPr>
                </a:p>
              </p:txBody>
            </p:sp>
            <p:sp>
              <p:nvSpPr>
                <p:cNvPr id="21" name="Espace réservé du texte 15">
                  <a:extLst>
                    <a:ext uri="{FF2B5EF4-FFF2-40B4-BE49-F238E27FC236}">
                      <a16:creationId xmlns:a16="http://schemas.microsoft.com/office/drawing/2014/main" id="{67BD6515-574C-4F0A-9CD8-A74C48364E2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CONFIRMATION DE RÉUSSITES</a:t>
                  </a:r>
                </a:p>
              </p:txBody>
            </p:sp>
            <p:sp>
              <p:nvSpPr>
                <p:cNvPr id="22" name="Espace réservé du texte 15">
                  <a:extLst>
                    <a:ext uri="{FF2B5EF4-FFF2-40B4-BE49-F238E27FC236}">
                      <a16:creationId xmlns:a16="http://schemas.microsoft.com/office/drawing/2014/main" id="{2B042A42-E569-4B28-872A-C98E28951B87}"/>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EXPOSITION</a:t>
                  </a:r>
                </a:p>
              </p:txBody>
            </p:sp>
            <p:sp>
              <p:nvSpPr>
                <p:cNvPr id="23" name="Espace réservé du texte 15">
                  <a:extLst>
                    <a:ext uri="{FF2B5EF4-FFF2-40B4-BE49-F238E27FC236}">
                      <a16:creationId xmlns:a16="http://schemas.microsoft.com/office/drawing/2014/main" id="{E31DAE78-5A3B-4CA9-A54D-FAF714EC82E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683AA"/>
                      </a:solidFill>
                    </a:rPr>
                    <a:t>FORTIFICATION</a:t>
                  </a:r>
                </a:p>
                <a:p>
                  <a:pPr marL="0" indent="0" algn="ctr">
                    <a:buFont typeface="Arial" panose="020B0604020202020204" pitchFamily="34" charset="0"/>
                    <a:buNone/>
                  </a:pPr>
                  <a:endParaRPr lang="fr-FR" sz="600" b="1" i="1">
                    <a:solidFill>
                      <a:srgbClr val="ED7D31"/>
                    </a:solidFill>
                  </a:endParaRPr>
                </a:p>
              </p:txBody>
            </p:sp>
          </p:grpSp>
          <p:pic>
            <p:nvPicPr>
              <p:cNvPr id="10" name="Graphique 9" descr="Ampoule avec un remplissage uni">
                <a:extLst>
                  <a:ext uri="{FF2B5EF4-FFF2-40B4-BE49-F238E27FC236}">
                    <a16:creationId xmlns:a16="http://schemas.microsoft.com/office/drawing/2014/main" id="{FB349AAF-AADF-41DE-93D7-48C1F06B48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1" name="Graphique 10" descr="Seau et pelle avec un remplissage uni">
                <a:extLst>
                  <a:ext uri="{FF2B5EF4-FFF2-40B4-BE49-F238E27FC236}">
                    <a16:creationId xmlns:a16="http://schemas.microsoft.com/office/drawing/2014/main" id="{9B08672D-72F7-4A9B-AE23-80337A1C4B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2" name="Graphique 11" descr="Tubes à essai avec un remplissage uni">
                <a:extLst>
                  <a:ext uri="{FF2B5EF4-FFF2-40B4-BE49-F238E27FC236}">
                    <a16:creationId xmlns:a16="http://schemas.microsoft.com/office/drawing/2014/main" id="{BBD2D793-1EF2-4CE3-B3FB-BAC0FDBAA1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3" name="Graphique 12" descr="Explosion avec un remplissage uni">
                <a:extLst>
                  <a:ext uri="{FF2B5EF4-FFF2-40B4-BE49-F238E27FC236}">
                    <a16:creationId xmlns:a16="http://schemas.microsoft.com/office/drawing/2014/main" id="{A0C3FF3B-A5F0-486B-B5A1-9EAEB0D7E6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4" name="Graphique 13" descr="Trophée avec un remplissage uni">
                <a:extLst>
                  <a:ext uri="{FF2B5EF4-FFF2-40B4-BE49-F238E27FC236}">
                    <a16:creationId xmlns:a16="http://schemas.microsoft.com/office/drawing/2014/main" id="{306AD822-F5E7-4634-B62B-2E287D4E872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5" name="Graphique 14" descr="Assiette couverte avec un remplissage uni">
                <a:extLst>
                  <a:ext uri="{FF2B5EF4-FFF2-40B4-BE49-F238E27FC236}">
                    <a16:creationId xmlns:a16="http://schemas.microsoft.com/office/drawing/2014/main" id="{DEBE8314-024E-49D1-BEA8-63DD154BB0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6" name="Graphique 15" descr="Scène de château avec un remplissage uni">
                <a:extLst>
                  <a:ext uri="{FF2B5EF4-FFF2-40B4-BE49-F238E27FC236}">
                    <a16:creationId xmlns:a16="http://schemas.microsoft.com/office/drawing/2014/main" id="{5C95DE91-A2A8-42D7-A621-02B4F0DFC4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pic>
          <p:nvPicPr>
            <p:cNvPr id="57" name="Image 56">
              <a:extLst>
                <a:ext uri="{FF2B5EF4-FFF2-40B4-BE49-F238E27FC236}">
                  <a16:creationId xmlns:a16="http://schemas.microsoft.com/office/drawing/2014/main" id="{D12BD52A-8F92-43EC-AEF9-7C7EF5836D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764591" y="6474648"/>
              <a:ext cx="295285" cy="284863"/>
            </a:xfrm>
            <a:prstGeom prst="rect">
              <a:avLst/>
            </a:prstGeom>
          </p:spPr>
        </p:pic>
        <p:grpSp>
          <p:nvGrpSpPr>
            <p:cNvPr id="84" name="Groupe 83">
              <a:extLst>
                <a:ext uri="{FF2B5EF4-FFF2-40B4-BE49-F238E27FC236}">
                  <a16:creationId xmlns:a16="http://schemas.microsoft.com/office/drawing/2014/main" id="{83A26211-ABCE-4A78-BB08-10B910BAD3CC}"/>
                </a:ext>
              </a:extLst>
            </p:cNvPr>
            <p:cNvGrpSpPr/>
            <p:nvPr/>
          </p:nvGrpSpPr>
          <p:grpSpPr>
            <a:xfrm>
              <a:off x="3392025" y="3360591"/>
              <a:ext cx="3384123" cy="385275"/>
              <a:chOff x="3392025" y="3401649"/>
              <a:chExt cx="3384123" cy="385275"/>
            </a:xfrm>
          </p:grpSpPr>
          <p:cxnSp>
            <p:nvCxnSpPr>
              <p:cNvPr id="45" name="Connecteur droit avec flèche 44">
                <a:extLst>
                  <a:ext uri="{FF2B5EF4-FFF2-40B4-BE49-F238E27FC236}">
                    <a16:creationId xmlns:a16="http://schemas.microsoft.com/office/drawing/2014/main" id="{A3C35447-364E-4AB8-92AD-BF387A4320BC}"/>
                  </a:ext>
                </a:extLst>
              </p:cNvPr>
              <p:cNvCxnSpPr>
                <a:cxnSpLocks/>
                <a:endCxn id="55" idx="1"/>
              </p:cNvCxnSpPr>
              <p:nvPr/>
            </p:nvCxnSpPr>
            <p:spPr>
              <a:xfrm>
                <a:off x="3392025" y="3594286"/>
                <a:ext cx="29988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5" name="Graphique 54" descr="Mille avec un remplissage uni">
                <a:extLst>
                  <a:ext uri="{FF2B5EF4-FFF2-40B4-BE49-F238E27FC236}">
                    <a16:creationId xmlns:a16="http://schemas.microsoft.com/office/drawing/2014/main" id="{91E1105B-5EC2-4BA4-9B6E-7255C232D76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90873" y="3401649"/>
                <a:ext cx="385275" cy="385275"/>
              </a:xfrm>
              <a:prstGeom prst="rect">
                <a:avLst/>
              </a:prstGeom>
            </p:spPr>
          </p:pic>
        </p:grpSp>
        <p:grpSp>
          <p:nvGrpSpPr>
            <p:cNvPr id="83" name="Groupe 82">
              <a:extLst>
                <a:ext uri="{FF2B5EF4-FFF2-40B4-BE49-F238E27FC236}">
                  <a16:creationId xmlns:a16="http://schemas.microsoft.com/office/drawing/2014/main" id="{3572EA88-050F-4B6A-B20C-447C0CDC7DAD}"/>
                </a:ext>
              </a:extLst>
            </p:cNvPr>
            <p:cNvGrpSpPr/>
            <p:nvPr/>
          </p:nvGrpSpPr>
          <p:grpSpPr>
            <a:xfrm>
              <a:off x="3392024" y="3804468"/>
              <a:ext cx="7062522" cy="385275"/>
              <a:chOff x="3392024" y="3796432"/>
              <a:chExt cx="7062522" cy="385275"/>
            </a:xfrm>
          </p:grpSpPr>
          <p:cxnSp>
            <p:nvCxnSpPr>
              <p:cNvPr id="46" name="Connecteur droit avec flèche 45">
                <a:extLst>
                  <a:ext uri="{FF2B5EF4-FFF2-40B4-BE49-F238E27FC236}">
                    <a16:creationId xmlns:a16="http://schemas.microsoft.com/office/drawing/2014/main" id="{C30F2C95-AA31-4CB5-ABCC-B3709541756E}"/>
                  </a:ext>
                </a:extLst>
              </p:cNvPr>
              <p:cNvCxnSpPr>
                <a:cxnSpLocks/>
                <a:endCxn id="56"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6" name="Graphique 55" descr="Mille avec un remplissage uni">
                <a:extLst>
                  <a:ext uri="{FF2B5EF4-FFF2-40B4-BE49-F238E27FC236}">
                    <a16:creationId xmlns:a16="http://schemas.microsoft.com/office/drawing/2014/main" id="{5CE8F8AE-B23A-4262-9686-0283EB723EE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069271" y="3796432"/>
                <a:ext cx="385275" cy="385275"/>
              </a:xfrm>
              <a:prstGeom prst="rect">
                <a:avLst/>
              </a:prstGeom>
            </p:spPr>
          </p:pic>
        </p:grpSp>
        <p:grpSp>
          <p:nvGrpSpPr>
            <p:cNvPr id="79" name="Groupe 78">
              <a:extLst>
                <a:ext uri="{FF2B5EF4-FFF2-40B4-BE49-F238E27FC236}">
                  <a16:creationId xmlns:a16="http://schemas.microsoft.com/office/drawing/2014/main" id="{475B4DBF-79F4-46DD-B98E-8581448349A8}"/>
                </a:ext>
              </a:extLst>
            </p:cNvPr>
            <p:cNvGrpSpPr/>
            <p:nvPr/>
          </p:nvGrpSpPr>
          <p:grpSpPr>
            <a:xfrm>
              <a:off x="3389594" y="5136099"/>
              <a:ext cx="2210576" cy="385275"/>
              <a:chOff x="3389594" y="5085827"/>
              <a:chExt cx="2210576" cy="385275"/>
            </a:xfrm>
          </p:grpSpPr>
          <p:cxnSp>
            <p:nvCxnSpPr>
              <p:cNvPr id="49" name="Connecteur droit avec flèche 48">
                <a:extLst>
                  <a:ext uri="{FF2B5EF4-FFF2-40B4-BE49-F238E27FC236}">
                    <a16:creationId xmlns:a16="http://schemas.microsoft.com/office/drawing/2014/main" id="{CEB1FBB2-50D4-46AE-AFAB-2D977BE1EBD2}"/>
                  </a:ext>
                </a:extLst>
              </p:cNvPr>
              <p:cNvCxnSpPr>
                <a:cxnSpLocks/>
                <a:endCxn id="58"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8" name="Graphique 57" descr="Mille avec un remplissage uni">
                <a:extLst>
                  <a:ext uri="{FF2B5EF4-FFF2-40B4-BE49-F238E27FC236}">
                    <a16:creationId xmlns:a16="http://schemas.microsoft.com/office/drawing/2014/main" id="{4A3BC969-E7E9-4341-B718-844DA1676E5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214895" y="5085827"/>
                <a:ext cx="385275" cy="385275"/>
              </a:xfrm>
              <a:prstGeom prst="rect">
                <a:avLst/>
              </a:prstGeom>
            </p:spPr>
          </p:pic>
        </p:grpSp>
        <p:grpSp>
          <p:nvGrpSpPr>
            <p:cNvPr id="81" name="Groupe 80">
              <a:extLst>
                <a:ext uri="{FF2B5EF4-FFF2-40B4-BE49-F238E27FC236}">
                  <a16:creationId xmlns:a16="http://schemas.microsoft.com/office/drawing/2014/main" id="{6043BFFE-6E03-4337-AE2E-AFCCBA45F08C}"/>
                </a:ext>
              </a:extLst>
            </p:cNvPr>
            <p:cNvGrpSpPr/>
            <p:nvPr/>
          </p:nvGrpSpPr>
          <p:grpSpPr>
            <a:xfrm>
              <a:off x="3389594" y="4692222"/>
              <a:ext cx="5837423" cy="385275"/>
              <a:chOff x="3389594" y="4618230"/>
              <a:chExt cx="5837423" cy="385275"/>
            </a:xfrm>
          </p:grpSpPr>
          <p:cxnSp>
            <p:nvCxnSpPr>
              <p:cNvPr id="48" name="Connecteur droit avec flèche 47">
                <a:extLst>
                  <a:ext uri="{FF2B5EF4-FFF2-40B4-BE49-F238E27FC236}">
                    <a16:creationId xmlns:a16="http://schemas.microsoft.com/office/drawing/2014/main" id="{63628979-EA1B-4D94-8521-8AB0AAF1BC6E}"/>
                  </a:ext>
                </a:extLst>
              </p:cNvPr>
              <p:cNvCxnSpPr>
                <a:cxnSpLocks/>
                <a:endCxn id="62" idx="1"/>
              </p:cNvCxnSpPr>
              <p:nvPr/>
            </p:nvCxnSpPr>
            <p:spPr>
              <a:xfrm>
                <a:off x="3389594" y="4810867"/>
                <a:ext cx="54521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2" name="Graphique 61" descr="Mille avec un remplissage uni">
                <a:extLst>
                  <a:ext uri="{FF2B5EF4-FFF2-40B4-BE49-F238E27FC236}">
                    <a16:creationId xmlns:a16="http://schemas.microsoft.com/office/drawing/2014/main" id="{618A7F82-B710-4945-83C9-4A44982202ED}"/>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841742" y="4618230"/>
                <a:ext cx="385275" cy="385275"/>
              </a:xfrm>
              <a:prstGeom prst="rect">
                <a:avLst/>
              </a:prstGeom>
            </p:spPr>
          </p:pic>
        </p:grpSp>
        <p:grpSp>
          <p:nvGrpSpPr>
            <p:cNvPr id="82" name="Groupe 81">
              <a:extLst>
                <a:ext uri="{FF2B5EF4-FFF2-40B4-BE49-F238E27FC236}">
                  <a16:creationId xmlns:a16="http://schemas.microsoft.com/office/drawing/2014/main" id="{2D01786F-63B6-4E38-851A-1E9ABFA8BAE2}"/>
                </a:ext>
              </a:extLst>
            </p:cNvPr>
            <p:cNvGrpSpPr/>
            <p:nvPr/>
          </p:nvGrpSpPr>
          <p:grpSpPr>
            <a:xfrm>
              <a:off x="3389595" y="4248345"/>
              <a:ext cx="8274135" cy="385275"/>
              <a:chOff x="3389595" y="4195205"/>
              <a:chExt cx="8274135" cy="385275"/>
            </a:xfrm>
          </p:grpSpPr>
          <p:cxnSp>
            <p:nvCxnSpPr>
              <p:cNvPr id="47" name="Connecteur droit avec flèche 46">
                <a:extLst>
                  <a:ext uri="{FF2B5EF4-FFF2-40B4-BE49-F238E27FC236}">
                    <a16:creationId xmlns:a16="http://schemas.microsoft.com/office/drawing/2014/main" id="{B7CC1C42-89A5-49A1-A677-5C2984387935}"/>
                  </a:ext>
                </a:extLst>
              </p:cNvPr>
              <p:cNvCxnSpPr>
                <a:cxnSpLocks/>
                <a:endCxn id="63"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3" name="Graphique 62" descr="Mille avec un remplissage uni">
                <a:extLst>
                  <a:ext uri="{FF2B5EF4-FFF2-40B4-BE49-F238E27FC236}">
                    <a16:creationId xmlns:a16="http://schemas.microsoft.com/office/drawing/2014/main" id="{884D4FEE-D768-4BED-9EBA-46C4AD80FF96}"/>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278455" y="4195205"/>
                <a:ext cx="385275" cy="385275"/>
              </a:xfrm>
              <a:prstGeom prst="rect">
                <a:avLst/>
              </a:prstGeom>
            </p:spPr>
          </p:pic>
        </p:grpSp>
        <p:grpSp>
          <p:nvGrpSpPr>
            <p:cNvPr id="80" name="Groupe 79">
              <a:extLst>
                <a:ext uri="{FF2B5EF4-FFF2-40B4-BE49-F238E27FC236}">
                  <a16:creationId xmlns:a16="http://schemas.microsoft.com/office/drawing/2014/main" id="{2FE4B598-5C73-4032-92B5-98276D625F26}"/>
                </a:ext>
              </a:extLst>
            </p:cNvPr>
            <p:cNvGrpSpPr/>
            <p:nvPr/>
          </p:nvGrpSpPr>
          <p:grpSpPr>
            <a:xfrm>
              <a:off x="3389598" y="5579974"/>
              <a:ext cx="925329" cy="385275"/>
              <a:chOff x="3389598" y="5579974"/>
              <a:chExt cx="925329" cy="385275"/>
            </a:xfrm>
          </p:grpSpPr>
          <p:cxnSp>
            <p:nvCxnSpPr>
              <p:cNvPr id="68" name="Connecteur droit avec flèche 67">
                <a:extLst>
                  <a:ext uri="{FF2B5EF4-FFF2-40B4-BE49-F238E27FC236}">
                    <a16:creationId xmlns:a16="http://schemas.microsoft.com/office/drawing/2014/main" id="{BD119CC3-5E67-49A4-8A48-AFA69B79EB0E}"/>
                  </a:ext>
                </a:extLst>
              </p:cNvPr>
              <p:cNvCxnSpPr>
                <a:cxnSpLocks/>
                <a:endCxn id="69" idx="1"/>
              </p:cNvCxnSpPr>
              <p:nvPr/>
            </p:nvCxnSpPr>
            <p:spPr>
              <a:xfrm>
                <a:off x="3389598" y="5772612"/>
                <a:ext cx="5400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9" name="Graphique 68" descr="Mille avec un remplissage uni">
                <a:extLst>
                  <a:ext uri="{FF2B5EF4-FFF2-40B4-BE49-F238E27FC236}">
                    <a16:creationId xmlns:a16="http://schemas.microsoft.com/office/drawing/2014/main" id="{C0A10F9C-E9FE-4B46-99E0-7686441DAE8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929652" y="5579974"/>
                <a:ext cx="385275" cy="385275"/>
              </a:xfrm>
              <a:prstGeom prst="rect">
                <a:avLst/>
              </a:prstGeom>
            </p:spPr>
          </p:pic>
        </p:grpSp>
        <p:grpSp>
          <p:nvGrpSpPr>
            <p:cNvPr id="85" name="Groupe 84">
              <a:extLst>
                <a:ext uri="{FF2B5EF4-FFF2-40B4-BE49-F238E27FC236}">
                  <a16:creationId xmlns:a16="http://schemas.microsoft.com/office/drawing/2014/main" id="{5719747B-B56C-4B0B-97AA-0534D5BEE332}"/>
                </a:ext>
              </a:extLst>
            </p:cNvPr>
            <p:cNvGrpSpPr/>
            <p:nvPr/>
          </p:nvGrpSpPr>
          <p:grpSpPr>
            <a:xfrm>
              <a:off x="3392026" y="2916714"/>
              <a:ext cx="5834990" cy="385275"/>
              <a:chOff x="3392026" y="2916714"/>
              <a:chExt cx="5834990" cy="385275"/>
            </a:xfrm>
          </p:grpSpPr>
          <p:pic>
            <p:nvPicPr>
              <p:cNvPr id="3" name="Graphique 2" descr="Mille avec un remplissage uni">
                <a:extLst>
                  <a:ext uri="{FF2B5EF4-FFF2-40B4-BE49-F238E27FC236}">
                    <a16:creationId xmlns:a16="http://schemas.microsoft.com/office/drawing/2014/main" id="{D83C7FAC-AC80-4B8A-83B7-E5116589188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841741" y="2916714"/>
                <a:ext cx="385275" cy="385275"/>
              </a:xfrm>
              <a:prstGeom prst="rect">
                <a:avLst/>
              </a:prstGeom>
            </p:spPr>
          </p:pic>
          <p:cxnSp>
            <p:nvCxnSpPr>
              <p:cNvPr id="6" name="Connecteur droit avec flèche 5">
                <a:extLst>
                  <a:ext uri="{FF2B5EF4-FFF2-40B4-BE49-F238E27FC236}">
                    <a16:creationId xmlns:a16="http://schemas.microsoft.com/office/drawing/2014/main" id="{617B6787-92AB-4B46-8699-70D3A9642676}"/>
                  </a:ext>
                </a:extLst>
              </p:cNvPr>
              <p:cNvCxnSpPr>
                <a:cxnSpLocks/>
                <a:endCxn id="3" idx="1"/>
              </p:cNvCxnSpPr>
              <p:nvPr/>
            </p:nvCxnSpPr>
            <p:spPr>
              <a:xfrm>
                <a:off x="3392026" y="3109352"/>
                <a:ext cx="54497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88" name="Connecteur droit avec flèche 87">
              <a:extLst>
                <a:ext uri="{FF2B5EF4-FFF2-40B4-BE49-F238E27FC236}">
                  <a16:creationId xmlns:a16="http://schemas.microsoft.com/office/drawing/2014/main" id="{BB922D56-7ECD-4640-BA3B-C5B98F5DB965}"/>
                </a:ext>
              </a:extLst>
            </p:cNvPr>
            <p:cNvCxnSpPr>
              <a:cxnSpLocks/>
              <a:endCxn id="92" idx="1"/>
            </p:cNvCxnSpPr>
            <p:nvPr/>
          </p:nvCxnSpPr>
          <p:spPr>
            <a:xfrm>
              <a:off x="3389594" y="6220376"/>
              <a:ext cx="7889834" cy="0"/>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pic>
          <p:nvPicPr>
            <p:cNvPr id="92" name="Graphique 91" descr="Point d’interrogation avec un remplissage uni">
              <a:extLst>
                <a:ext uri="{FF2B5EF4-FFF2-40B4-BE49-F238E27FC236}">
                  <a16:creationId xmlns:a16="http://schemas.microsoft.com/office/drawing/2014/main" id="{76A01633-EF92-4E04-84FE-A38F91CD3E67}"/>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9430" y="6011965"/>
              <a:ext cx="416821" cy="416821"/>
            </a:xfrm>
            <a:prstGeom prst="rect">
              <a:avLst/>
            </a:prstGeom>
          </p:spPr>
        </p:pic>
        <p:pic>
          <p:nvPicPr>
            <p:cNvPr id="101" name="Graphique 100" descr="Point d’interrogation avec un remplissage uni">
              <a:extLst>
                <a:ext uri="{FF2B5EF4-FFF2-40B4-BE49-F238E27FC236}">
                  <a16:creationId xmlns:a16="http://schemas.microsoft.com/office/drawing/2014/main" id="{135B9194-65B3-4DCB-BF3F-8962AF879C0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069271" y="6011965"/>
              <a:ext cx="416821" cy="416821"/>
            </a:xfrm>
            <a:prstGeom prst="rect">
              <a:avLst/>
            </a:prstGeom>
          </p:spPr>
        </p:pic>
        <p:pic>
          <p:nvPicPr>
            <p:cNvPr id="102" name="Graphique 101" descr="Point d’interrogation avec un remplissage uni">
              <a:extLst>
                <a:ext uri="{FF2B5EF4-FFF2-40B4-BE49-F238E27FC236}">
                  <a16:creationId xmlns:a16="http://schemas.microsoft.com/office/drawing/2014/main" id="{E96F9459-610A-4D72-AB30-67D8DC73E31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862412" y="6016098"/>
              <a:ext cx="416821" cy="416821"/>
            </a:xfrm>
            <a:prstGeom prst="rect">
              <a:avLst/>
            </a:prstGeom>
          </p:spPr>
        </p:pic>
        <p:pic>
          <p:nvPicPr>
            <p:cNvPr id="103" name="Graphique 102" descr="Point d’interrogation avec un remplissage uni">
              <a:extLst>
                <a:ext uri="{FF2B5EF4-FFF2-40B4-BE49-F238E27FC236}">
                  <a16:creationId xmlns:a16="http://schemas.microsoft.com/office/drawing/2014/main" id="{E3E581F9-2163-45AC-980F-A4147C56576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597700" y="5999320"/>
              <a:ext cx="416821" cy="416821"/>
            </a:xfrm>
            <a:prstGeom prst="rect">
              <a:avLst/>
            </a:prstGeom>
          </p:spPr>
        </p:pic>
        <p:pic>
          <p:nvPicPr>
            <p:cNvPr id="104" name="Graphique 103" descr="Point d’interrogation avec un remplissage uni">
              <a:extLst>
                <a:ext uri="{FF2B5EF4-FFF2-40B4-BE49-F238E27FC236}">
                  <a16:creationId xmlns:a16="http://schemas.microsoft.com/office/drawing/2014/main" id="{5D17DF88-D94D-40A2-8858-45522BD4B75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253134" y="6011964"/>
              <a:ext cx="416821" cy="416821"/>
            </a:xfrm>
            <a:prstGeom prst="rect">
              <a:avLst/>
            </a:prstGeom>
          </p:spPr>
        </p:pic>
        <p:pic>
          <p:nvPicPr>
            <p:cNvPr id="105" name="Graphique 104" descr="Point d’interrogation avec un remplissage uni">
              <a:extLst>
                <a:ext uri="{FF2B5EF4-FFF2-40B4-BE49-F238E27FC236}">
                  <a16:creationId xmlns:a16="http://schemas.microsoft.com/office/drawing/2014/main" id="{42A35046-F1F4-41E0-B865-CED1674A361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126129" y="6011965"/>
              <a:ext cx="416821" cy="416821"/>
            </a:xfrm>
            <a:prstGeom prst="rect">
              <a:avLst/>
            </a:prstGeom>
          </p:spPr>
        </p:pic>
        <p:pic>
          <p:nvPicPr>
            <p:cNvPr id="106" name="Graphique 105" descr="Point d’interrogation avec un remplissage uni">
              <a:extLst>
                <a:ext uri="{FF2B5EF4-FFF2-40B4-BE49-F238E27FC236}">
                  <a16:creationId xmlns:a16="http://schemas.microsoft.com/office/drawing/2014/main" id="{D0C20A8C-9FBA-4FB4-B519-D31B0DA2383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911217" y="6008075"/>
              <a:ext cx="416821" cy="416821"/>
            </a:xfrm>
            <a:prstGeom prst="rect">
              <a:avLst/>
            </a:prstGeom>
          </p:spPr>
        </p:pic>
      </p:grpSp>
      <p:pic>
        <p:nvPicPr>
          <p:cNvPr id="4" name="Graphique 3" descr="Notes Post-it 3 avec un remplissage uni">
            <a:extLst>
              <a:ext uri="{FF2B5EF4-FFF2-40B4-BE49-F238E27FC236}">
                <a16:creationId xmlns:a16="http://schemas.microsoft.com/office/drawing/2014/main" id="{D4B02CBA-36BD-4420-E91A-830374416F8E}"/>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6748" t="-2170" r="1"/>
          <a:stretch/>
        </p:blipFill>
        <p:spPr>
          <a:xfrm>
            <a:off x="2432042" y="2526886"/>
            <a:ext cx="359246" cy="343846"/>
          </a:xfrm>
          <a:prstGeom prst="rect">
            <a:avLst/>
          </a:prstGeom>
        </p:spPr>
      </p:pic>
      <p:pic>
        <p:nvPicPr>
          <p:cNvPr id="64" name="Graphique 63" descr="Notes Post-it 3 avec un remplissage uni">
            <a:extLst>
              <a:ext uri="{FF2B5EF4-FFF2-40B4-BE49-F238E27FC236}">
                <a16:creationId xmlns:a16="http://schemas.microsoft.com/office/drawing/2014/main" id="{D4E5546E-BB63-24CE-57DA-CA03C4C7667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46839" y="2925672"/>
            <a:ext cx="336543" cy="336543"/>
          </a:xfrm>
          <a:prstGeom prst="rect">
            <a:avLst/>
          </a:prstGeom>
        </p:spPr>
      </p:pic>
      <p:pic>
        <p:nvPicPr>
          <p:cNvPr id="65" name="Graphique 64" descr="Notes Post-it 3 avec un remplissage uni">
            <a:extLst>
              <a:ext uri="{FF2B5EF4-FFF2-40B4-BE49-F238E27FC236}">
                <a16:creationId xmlns:a16="http://schemas.microsoft.com/office/drawing/2014/main" id="{29DCDA72-1E07-E867-E457-B7D7A1B0DDC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46839" y="3306192"/>
            <a:ext cx="336543" cy="336543"/>
          </a:xfrm>
          <a:prstGeom prst="rect">
            <a:avLst/>
          </a:prstGeom>
        </p:spPr>
      </p:pic>
      <p:pic>
        <p:nvPicPr>
          <p:cNvPr id="66" name="Graphique 65" descr="Notes Post-it 3 avec un remplissage uni">
            <a:extLst>
              <a:ext uri="{FF2B5EF4-FFF2-40B4-BE49-F238E27FC236}">
                <a16:creationId xmlns:a16="http://schemas.microsoft.com/office/drawing/2014/main" id="{11B004EF-964C-3ABB-74F6-434FBF037EF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38933" y="3688797"/>
            <a:ext cx="336543" cy="336543"/>
          </a:xfrm>
          <a:prstGeom prst="rect">
            <a:avLst/>
          </a:prstGeom>
        </p:spPr>
      </p:pic>
      <p:pic>
        <p:nvPicPr>
          <p:cNvPr id="70" name="Graphique 69" descr="Notes Post-it 3 avec un remplissage uni">
            <a:extLst>
              <a:ext uri="{FF2B5EF4-FFF2-40B4-BE49-F238E27FC236}">
                <a16:creationId xmlns:a16="http://schemas.microsoft.com/office/drawing/2014/main" id="{11A8C070-7B43-B7EC-EC3B-C43F7DD07D2A}"/>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47854" y="4073206"/>
            <a:ext cx="336543" cy="336543"/>
          </a:xfrm>
          <a:prstGeom prst="rect">
            <a:avLst/>
          </a:prstGeom>
        </p:spPr>
      </p:pic>
      <p:pic>
        <p:nvPicPr>
          <p:cNvPr id="71" name="Graphique 70" descr="Notes Post-it 3 avec un remplissage uni">
            <a:extLst>
              <a:ext uri="{FF2B5EF4-FFF2-40B4-BE49-F238E27FC236}">
                <a16:creationId xmlns:a16="http://schemas.microsoft.com/office/drawing/2014/main" id="{8C402763-BCBD-6345-2B22-15E39E39C07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39948" y="4482447"/>
            <a:ext cx="336543" cy="336543"/>
          </a:xfrm>
          <a:prstGeom prst="rect">
            <a:avLst/>
          </a:prstGeom>
        </p:spPr>
      </p:pic>
      <p:pic>
        <p:nvPicPr>
          <p:cNvPr id="72" name="Graphique 71" descr="Notes Post-it 3 avec un remplissage uni">
            <a:extLst>
              <a:ext uri="{FF2B5EF4-FFF2-40B4-BE49-F238E27FC236}">
                <a16:creationId xmlns:a16="http://schemas.microsoft.com/office/drawing/2014/main" id="{A7CDF5C3-FA7D-4BB2-776B-D249DCE1508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39948" y="4862967"/>
            <a:ext cx="336543" cy="336543"/>
          </a:xfrm>
          <a:prstGeom prst="rect">
            <a:avLst/>
          </a:prstGeom>
        </p:spPr>
      </p:pic>
      <p:pic>
        <p:nvPicPr>
          <p:cNvPr id="73" name="Graphique 72" descr="Notes Post-it 3 avec un remplissage uni">
            <a:extLst>
              <a:ext uri="{FF2B5EF4-FFF2-40B4-BE49-F238E27FC236}">
                <a16:creationId xmlns:a16="http://schemas.microsoft.com/office/drawing/2014/main" id="{B2D79103-04F0-BE45-A014-ED74DD7CB1A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32042" y="5281084"/>
            <a:ext cx="336543" cy="336543"/>
          </a:xfrm>
          <a:prstGeom prst="rect">
            <a:avLst/>
          </a:prstGeom>
        </p:spPr>
      </p:pic>
      <p:sp>
        <p:nvSpPr>
          <p:cNvPr id="74" name="Bulle narrative : ronde 73">
            <a:extLst>
              <a:ext uri="{FF2B5EF4-FFF2-40B4-BE49-F238E27FC236}">
                <a16:creationId xmlns:a16="http://schemas.microsoft.com/office/drawing/2014/main" id="{484E5B14-6515-0E8F-004A-E03D61D2B532}"/>
              </a:ext>
            </a:extLst>
          </p:cNvPr>
          <p:cNvSpPr/>
          <p:nvPr/>
        </p:nvSpPr>
        <p:spPr>
          <a:xfrm>
            <a:off x="721520" y="2069779"/>
            <a:ext cx="2069768" cy="370037"/>
          </a:xfrm>
          <a:prstGeom prst="wedgeEllipseCallout">
            <a:avLst>
              <a:gd name="adj1" fmla="val 29339"/>
              <a:gd name="adj2" fmla="val 8174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Un sujet par post-it</a:t>
            </a:r>
          </a:p>
        </p:txBody>
      </p:sp>
      <p:sp>
        <p:nvSpPr>
          <p:cNvPr id="75" name="Bulle narrative : ronde 74">
            <a:extLst>
              <a:ext uri="{FF2B5EF4-FFF2-40B4-BE49-F238E27FC236}">
                <a16:creationId xmlns:a16="http://schemas.microsoft.com/office/drawing/2014/main" id="{A3AD0284-D82A-844D-D03E-B935679CF128}"/>
              </a:ext>
            </a:extLst>
          </p:cNvPr>
          <p:cNvSpPr/>
          <p:nvPr/>
        </p:nvSpPr>
        <p:spPr>
          <a:xfrm>
            <a:off x="377071" y="3435547"/>
            <a:ext cx="1806837" cy="829381"/>
          </a:xfrm>
          <a:prstGeom prst="wedgeEllipseCallout">
            <a:avLst>
              <a:gd name="adj1" fmla="val 62702"/>
              <a:gd name="adj2" fmla="val -4153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Pour chaque sujet, définir la phase CCC à laquelle on veut arriver</a:t>
            </a:r>
          </a:p>
        </p:txBody>
      </p:sp>
      <p:sp>
        <p:nvSpPr>
          <p:cNvPr id="61" name="ZoneTexte 60">
            <a:extLst>
              <a:ext uri="{FF2B5EF4-FFF2-40B4-BE49-F238E27FC236}">
                <a16:creationId xmlns:a16="http://schemas.microsoft.com/office/drawing/2014/main" id="{74ACE302-0173-1818-492C-AE71B7D3A7BB}"/>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Exemple de résultats</a:t>
            </a:r>
            <a:endParaRPr lang="fr-FR" sz="3200"/>
          </a:p>
        </p:txBody>
      </p:sp>
    </p:spTree>
    <p:extLst>
      <p:ext uri="{BB962C8B-B14F-4D97-AF65-F5344CB8AC3E}">
        <p14:creationId xmlns:p14="http://schemas.microsoft.com/office/powerpoint/2010/main" val="39256064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lèche : droite 22">
            <a:extLst>
              <a:ext uri="{FF2B5EF4-FFF2-40B4-BE49-F238E27FC236}">
                <a16:creationId xmlns:a16="http://schemas.microsoft.com/office/drawing/2014/main" id="{011DBE07-86F4-4C26-89A1-335718E27CF9}"/>
              </a:ext>
            </a:extLst>
          </p:cNvPr>
          <p:cNvSpPr/>
          <p:nvPr/>
        </p:nvSpPr>
        <p:spPr>
          <a:xfrm>
            <a:off x="220602" y="602142"/>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4" name="Tableau 4">
            <a:extLst>
              <a:ext uri="{FF2B5EF4-FFF2-40B4-BE49-F238E27FC236}">
                <a16:creationId xmlns:a16="http://schemas.microsoft.com/office/drawing/2014/main" id="{17FF7068-AC52-408E-AEE7-AF6B0F4F73FA}"/>
              </a:ext>
            </a:extLst>
          </p:cNvPr>
          <p:cNvGraphicFramePr>
            <a:graphicFrameLocks/>
          </p:cNvGraphicFramePr>
          <p:nvPr>
            <p:extLst>
              <p:ext uri="{D42A27DB-BD31-4B8C-83A1-F6EECF244321}">
                <p14:modId xmlns:p14="http://schemas.microsoft.com/office/powerpoint/2010/main" val="6195565"/>
              </p:ext>
            </p:extLst>
          </p:nvPr>
        </p:nvGraphicFramePr>
        <p:xfrm>
          <a:off x="220600" y="1143894"/>
          <a:ext cx="10421855" cy="5187582"/>
        </p:xfrm>
        <a:graphic>
          <a:graphicData uri="http://schemas.openxmlformats.org/drawingml/2006/table">
            <a:tbl>
              <a:tblPr firstRow="1" bandRow="1">
                <a:tableStyleId>{5C22544A-7EE6-4342-B048-85BDC9FD1C3A}</a:tableStyleId>
              </a:tblPr>
              <a:tblGrid>
                <a:gridCol w="2540355">
                  <a:extLst>
                    <a:ext uri="{9D8B030D-6E8A-4147-A177-3AD203B41FA5}">
                      <a16:colId xmlns:a16="http://schemas.microsoft.com/office/drawing/2014/main" val="1302591909"/>
                    </a:ext>
                  </a:extLst>
                </a:gridCol>
                <a:gridCol w="5609759">
                  <a:extLst>
                    <a:ext uri="{9D8B030D-6E8A-4147-A177-3AD203B41FA5}">
                      <a16:colId xmlns:a16="http://schemas.microsoft.com/office/drawing/2014/main" val="1572267126"/>
                    </a:ext>
                  </a:extLst>
                </a:gridCol>
                <a:gridCol w="2271741">
                  <a:extLst>
                    <a:ext uri="{9D8B030D-6E8A-4147-A177-3AD203B41FA5}">
                      <a16:colId xmlns:a16="http://schemas.microsoft.com/office/drawing/2014/main" val="4222483745"/>
                    </a:ext>
                  </a:extLst>
                </a:gridCol>
              </a:tblGrid>
              <a:tr h="828942">
                <a:tc>
                  <a:txBody>
                    <a:bodyPr/>
                    <a:lstStyle/>
                    <a:p>
                      <a:r>
                        <a:rPr lang="fr-FR" sz="1400"/>
                        <a:t>Ouverture : </a:t>
                      </a:r>
                    </a:p>
                    <a:p>
                      <a:r>
                        <a:rPr lang="fr-FR" sz="1400"/>
                        <a:t>Accueil, Intro, </a:t>
                      </a:r>
                      <a:r>
                        <a:rPr lang="fr-FR" sz="1400" err="1"/>
                        <a:t>Icebreaker</a:t>
                      </a:r>
                      <a:r>
                        <a:rPr lang="fr-FR" sz="1400"/>
                        <a:t>…</a:t>
                      </a:r>
                    </a:p>
                  </a:txBody>
                  <a:tcPr/>
                </a:tc>
                <a:tc>
                  <a:txBody>
                    <a:bodyPr/>
                    <a:lstStyle/>
                    <a:p>
                      <a:pPr algn="ctr"/>
                      <a:r>
                        <a:rPr lang="fr-FR" sz="1400"/>
                        <a:t>Déroulement</a:t>
                      </a:r>
                    </a:p>
                    <a:p>
                      <a:pPr algn="ctr"/>
                      <a:r>
                        <a:rPr lang="fr-FR" sz="1400"/>
                        <a:t>Règles du jeu, Narratif</a:t>
                      </a:r>
                    </a:p>
                  </a:txBody>
                  <a:tcPr/>
                </a:tc>
                <a:tc>
                  <a:txBody>
                    <a:bodyPr/>
                    <a:lstStyle/>
                    <a:p>
                      <a:r>
                        <a:rPr lang="fr-FR" sz="1400"/>
                        <a:t>Clôture :</a:t>
                      </a:r>
                    </a:p>
                    <a:p>
                      <a:r>
                        <a:rPr lang="fr-FR" sz="1400"/>
                        <a:t>Debriefing, Remerciements…</a:t>
                      </a:r>
                    </a:p>
                  </a:txBody>
                  <a:tcPr/>
                </a:tc>
                <a:extLst>
                  <a:ext uri="{0D108BD9-81ED-4DB2-BD59-A6C34878D82A}">
                    <a16:rowId xmlns:a16="http://schemas.microsoft.com/office/drawing/2014/main" val="1724558119"/>
                  </a:ext>
                </a:extLst>
              </a:tr>
              <a:tr h="3521451">
                <a:tc>
                  <a:txBody>
                    <a:bodyPr/>
                    <a:lstStyle/>
                    <a:p>
                      <a:r>
                        <a:rPr lang="fr-FR" sz="1400"/>
                        <a:t>5 min</a:t>
                      </a:r>
                    </a:p>
                    <a:p>
                      <a:endParaRPr lang="fr-FR" sz="1400"/>
                    </a:p>
                    <a:p>
                      <a:r>
                        <a:rPr lang="fr-FR" sz="1400" b="1">
                          <a:solidFill>
                            <a:srgbClr val="ED7D31"/>
                          </a:solidFill>
                        </a:rPr>
                        <a:t>Phase : Connaissance du model </a:t>
                      </a:r>
                    </a:p>
                    <a:p>
                      <a:pPr marL="285750" indent="-285750">
                        <a:buFont typeface="Arial" panose="020B0604020202020204" pitchFamily="34" charset="0"/>
                        <a:buChar char="•"/>
                      </a:pPr>
                      <a:r>
                        <a:rPr lang="fr-FR" sz="1400"/>
                        <a:t>Les participants sont répartis par groupe de 5/10, avec un facilitateur</a:t>
                      </a:r>
                    </a:p>
                    <a:p>
                      <a:pPr marL="0" indent="0">
                        <a:buFont typeface="Arial" panose="020B0604020202020204" pitchFamily="34" charset="0"/>
                        <a:buNone/>
                      </a:pPr>
                      <a:endParaRPr lang="fr-FR" sz="140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a:t>Le facilitateur montre le</a:t>
                      </a:r>
                      <a:r>
                        <a:rPr lang="fr-FR" sz="1400">
                          <a:hlinkClick r:id="rId2" action="ppaction://hlinksldjump"/>
                        </a:rPr>
                        <a:t> CCC-model</a:t>
                      </a:r>
                      <a:r>
                        <a:rPr lang="fr-FR" sz="1400"/>
                        <a:t> au groupe</a:t>
                      </a:r>
                    </a:p>
                    <a:p>
                      <a:pPr marL="285750" indent="-285750">
                        <a:buFont typeface="Arial" panose="020B0604020202020204" pitchFamily="34" charset="0"/>
                        <a:buChar char="•"/>
                      </a:pPr>
                      <a:endParaRPr lang="fr-FR" sz="1400"/>
                    </a:p>
                    <a:p>
                      <a:pPr marL="285750" indent="-285750">
                        <a:buFont typeface="Arial" panose="020B0604020202020204" pitchFamily="34" charset="0"/>
                        <a:buChar char="•"/>
                      </a:pPr>
                      <a:endParaRPr lang="fr-FR" sz="1400"/>
                    </a:p>
                  </a:txBody>
                  <a:tcPr/>
                </a:tc>
                <a:tc>
                  <a:txBody>
                    <a:bodyPr/>
                    <a:lstStyle/>
                    <a:p>
                      <a:r>
                        <a:rPr lang="fr-FR" sz="1400"/>
                        <a:t>20 min (5 minutes par sujet)</a:t>
                      </a:r>
                    </a:p>
                    <a:p>
                      <a:endParaRPr lang="fr-FR" sz="140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a:solidFill>
                            <a:srgbClr val="ED7D31"/>
                          </a:solidFill>
                        </a:rPr>
                        <a:t>Phase : Collecte des sujets</a:t>
                      </a:r>
                    </a:p>
                    <a:p>
                      <a:pPr marL="285750" indent="-285750">
                        <a:buFont typeface="Arial" panose="020B0604020202020204" pitchFamily="34" charset="0"/>
                        <a:buChar char="•"/>
                      </a:pPr>
                      <a:r>
                        <a:rPr lang="fr-FR" sz="1400"/>
                        <a:t>Les participants proposent des sujets simultanément en écrivant leurs sujets sur des post-it, en suivant cette règle : un sujet par post-it, résumé en quelques mots. </a:t>
                      </a:r>
                      <a:r>
                        <a:rPr lang="fr-FR" sz="1400" b="1">
                          <a:solidFill>
                            <a:schemeClr val="tx1"/>
                          </a:solidFill>
                        </a:rPr>
                        <a:t>Ex : « </a:t>
                      </a:r>
                      <a:r>
                        <a:rPr lang="fr-FR" sz="1400">
                          <a:solidFill>
                            <a:schemeClr val="tx1"/>
                          </a:solidFill>
                        </a:rPr>
                        <a:t>Cybersécurité », « gamification »</a:t>
                      </a:r>
                    </a:p>
                    <a:p>
                      <a:pPr marL="285750" lvl="0" indent="-285750">
                        <a:buFont typeface="Arial" panose="020B0604020202020204" pitchFamily="34" charset="0"/>
                        <a:buChar char="•"/>
                      </a:pPr>
                      <a:r>
                        <a:rPr lang="fr-FR" sz="1400"/>
                        <a:t>Ils commencent par les objectifs déjà connus (objectif global ou objectifs de sponsors, contraintes…), avant d’en créer de nouveaux.</a:t>
                      </a:r>
                      <a:endParaRPr lang="fr-FR"/>
                    </a:p>
                    <a:p>
                      <a:pPr marL="285750" indent="-285750">
                        <a:buFont typeface="Arial" panose="020B0604020202020204" pitchFamily="34" charset="0"/>
                        <a:buChar char="•"/>
                      </a:pPr>
                      <a:r>
                        <a:rPr lang="fr-FR" sz="1400"/>
                        <a:t>Le facilitateur place en vue de tous sur un mur les post-it au fur et à mesure qu’ils sont créés, enlève les doublons, et peut les regrouper par thème identique. </a:t>
                      </a:r>
                      <a:r>
                        <a:rPr lang="fr-FR" sz="1400" b="1"/>
                        <a:t>Ex : </a:t>
                      </a:r>
                      <a:r>
                        <a:rPr lang="fr-FR" sz="1400"/>
                        <a:t>un thème « cyber », </a:t>
                      </a:r>
                    </a:p>
                    <a:p>
                      <a:pPr marL="0" marR="0" lvl="0" indent="0" algn="l" rtl="0">
                        <a:lnSpc>
                          <a:spcPct val="100000"/>
                        </a:lnSpc>
                        <a:spcBef>
                          <a:spcPts val="0"/>
                        </a:spcBef>
                        <a:spcAft>
                          <a:spcPts val="0"/>
                        </a:spcAft>
                        <a:buClrTx/>
                        <a:buSzTx/>
                        <a:buFontTx/>
                        <a:buNone/>
                      </a:pPr>
                      <a:r>
                        <a:rPr lang="fr-FR" sz="1400" b="1">
                          <a:solidFill>
                            <a:srgbClr val="ED7D31"/>
                          </a:solidFill>
                        </a:rPr>
                        <a:t>Phase : Détermination des phases de départ et d’arrivée</a:t>
                      </a:r>
                      <a:endParaRPr lang="fr-FR"/>
                    </a:p>
                    <a:p>
                      <a:pPr marL="285750" indent="-285750">
                        <a:buFont typeface="Arial" panose="020B0604020202020204" pitchFamily="34" charset="0"/>
                        <a:buChar char="•"/>
                      </a:pPr>
                      <a:r>
                        <a:rPr lang="fr-FR" sz="1400"/>
                        <a:t>Les participants s’accordent pour placer tous les sujets, un à un, dans la phase actuelle adéquate. </a:t>
                      </a:r>
                      <a:r>
                        <a:rPr lang="fr-FR" sz="1400" b="1"/>
                        <a:t>Ex : </a:t>
                      </a:r>
                      <a:r>
                        <a:rPr lang="fr-FR" sz="1400"/>
                        <a:t>Le sujet « cyber » est placé en phase «collecte»</a:t>
                      </a:r>
                    </a:p>
                    <a:p>
                      <a:pPr marL="285750" marR="0" lvl="0" indent="-285750" algn="l" rtl="0" eaLnBrk="1" fontAlgn="auto" latinLnBrk="0" hangingPunct="1">
                        <a:lnSpc>
                          <a:spcPct val="100000"/>
                        </a:lnSpc>
                        <a:spcBef>
                          <a:spcPts val="0"/>
                        </a:spcBef>
                        <a:spcAft>
                          <a:spcPts val="0"/>
                        </a:spcAft>
                        <a:buClrTx/>
                        <a:buSzTx/>
                        <a:buFont typeface="Arial" panose="020B0604020202020204" pitchFamily="34" charset="0"/>
                        <a:buChar char="•"/>
                      </a:pPr>
                      <a:r>
                        <a:rPr lang="fr-FR" sz="1400"/>
                        <a:t>Les participants s’accordent pour placer tous les sujets, un à un, dans la phase d’arrivée souhaitée, selon leurs objectifs. </a:t>
                      </a:r>
                      <a:r>
                        <a:rPr lang="fr-FR" sz="1400" b="1"/>
                        <a:t>Ex : </a:t>
                      </a:r>
                      <a:r>
                        <a:rPr lang="fr-FR" sz="1400" b="0"/>
                        <a:t>L’objectif du </a:t>
                      </a:r>
                      <a:r>
                        <a:rPr lang="fr-FR" sz="1400"/>
                        <a:t>sujet «cyber » est de le porter en phase « Exposition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a:t>Variante : Faire les 2 phases (départ et arrivée) par sujet plutôt que séparer les phases.</a:t>
                      </a:r>
                    </a:p>
                  </a:txBody>
                  <a:tcPr/>
                </a:tc>
                <a:tc>
                  <a:txBody>
                    <a:bodyPr/>
                    <a:lstStyle/>
                    <a:p>
                      <a:r>
                        <a:rPr lang="fr-FR" sz="1400"/>
                        <a:t>5 min</a:t>
                      </a:r>
                    </a:p>
                    <a:p>
                      <a:endParaRPr lang="fr-FR" sz="140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a:solidFill>
                            <a:srgbClr val="ED7D31"/>
                          </a:solidFill>
                        </a:rPr>
                        <a:t>Phase : Restitution</a:t>
                      </a:r>
                    </a:p>
                    <a:p>
                      <a:pPr marL="285750" marR="0" lvl="0" indent="-285750" algn="l" rtl="0" eaLnBrk="1" fontAlgn="auto" latinLnBrk="0" hangingPunct="1">
                        <a:lnSpc>
                          <a:spcPct val="100000"/>
                        </a:lnSpc>
                        <a:spcBef>
                          <a:spcPts val="0"/>
                        </a:spcBef>
                        <a:spcAft>
                          <a:spcPts val="0"/>
                        </a:spcAft>
                        <a:buClrTx/>
                        <a:buSzTx/>
                        <a:buFont typeface="Arial"/>
                        <a:buChar char="•"/>
                      </a:pPr>
                      <a:r>
                        <a:rPr lang="fr-FR" sz="1400"/>
                        <a:t>Les participants donnent leur appréciation de l'atelier</a:t>
                      </a:r>
                    </a:p>
                    <a:p>
                      <a:pPr marL="285750" marR="0" lvl="0" indent="-285750" algn="l">
                        <a:lnSpc>
                          <a:spcPct val="100000"/>
                        </a:lnSpc>
                        <a:spcBef>
                          <a:spcPts val="0"/>
                        </a:spcBef>
                        <a:spcAft>
                          <a:spcPts val="0"/>
                        </a:spcAft>
                        <a:buClrTx/>
                        <a:buSzTx/>
                        <a:buFont typeface="Arial"/>
                        <a:buChar char="•"/>
                      </a:pPr>
                      <a:r>
                        <a:rPr lang="fr-FR" sz="1400"/>
                        <a:t>Ensemble, le groupe note le next steps</a:t>
                      </a:r>
                    </a:p>
                    <a:p>
                      <a:pPr marL="285750" marR="0" lvl="0" indent="-285750" algn="l">
                        <a:lnSpc>
                          <a:spcPct val="100000"/>
                        </a:lnSpc>
                        <a:spcBef>
                          <a:spcPts val="0"/>
                        </a:spcBef>
                        <a:spcAft>
                          <a:spcPts val="0"/>
                        </a:spcAft>
                        <a:buClrTx/>
                        <a:buSzTx/>
                        <a:buFont typeface="Arial"/>
                        <a:buChar char="•"/>
                      </a:pPr>
                      <a:r>
                        <a:rPr lang="fr-FR" sz="1400"/>
                        <a:t>Suite recommandée avec le CCC-Décision</a:t>
                      </a:r>
                    </a:p>
                    <a:p>
                      <a:pPr marL="0" marR="0" lvl="0" indent="0" algn="l">
                        <a:lnSpc>
                          <a:spcPct val="100000"/>
                        </a:lnSpc>
                        <a:spcBef>
                          <a:spcPts val="0"/>
                        </a:spcBef>
                        <a:spcAft>
                          <a:spcPts val="0"/>
                        </a:spcAft>
                        <a:buClrTx/>
                        <a:buSzTx/>
                        <a:buFontTx/>
                        <a:buNone/>
                      </a:pPr>
                      <a:endParaRPr lang="fr-FR" sz="1400"/>
                    </a:p>
                  </a:txBody>
                  <a:tcPr/>
                </a:tc>
                <a:extLst>
                  <a:ext uri="{0D108BD9-81ED-4DB2-BD59-A6C34878D82A}">
                    <a16:rowId xmlns:a16="http://schemas.microsoft.com/office/drawing/2014/main" val="215570386"/>
                  </a:ext>
                </a:extLst>
              </a:tr>
            </a:tbl>
          </a:graphicData>
        </a:graphic>
      </p:graphicFrame>
      <p:sp>
        <p:nvSpPr>
          <p:cNvPr id="25" name="Espace réservé du contenu 2">
            <a:extLst>
              <a:ext uri="{FF2B5EF4-FFF2-40B4-BE49-F238E27FC236}">
                <a16:creationId xmlns:a16="http://schemas.microsoft.com/office/drawing/2014/main" id="{767E15B1-5AD7-4AC2-8DA6-38450253D5A6}"/>
              </a:ext>
            </a:extLst>
          </p:cNvPr>
          <p:cNvSpPr txBox="1">
            <a:spLocks/>
          </p:cNvSpPr>
          <p:nvPr/>
        </p:nvSpPr>
        <p:spPr>
          <a:xfrm>
            <a:off x="10642455" y="2967094"/>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a:solidFill>
                  <a:srgbClr val="000000"/>
                </a:solidFill>
                <a:cs typeface="Calibri"/>
              </a:rPr>
              <a:t>Total :</a:t>
            </a:r>
          </a:p>
          <a:p>
            <a:pPr marL="0" indent="0" algn="ctr">
              <a:buNone/>
            </a:pPr>
            <a:r>
              <a:rPr lang="fr-FR" sz="2000" b="1">
                <a:solidFill>
                  <a:srgbClr val="000000"/>
                </a:solidFill>
                <a:cs typeface="Calibri"/>
              </a:rPr>
              <a:t>30 min </a:t>
            </a:r>
          </a:p>
        </p:txBody>
      </p:sp>
      <p:sp>
        <p:nvSpPr>
          <p:cNvPr id="7" name="ZoneTexte 6">
            <a:extLst>
              <a:ext uri="{FF2B5EF4-FFF2-40B4-BE49-F238E27FC236}">
                <a16:creationId xmlns:a16="http://schemas.microsoft.com/office/drawing/2014/main" id="{BD3A6710-B074-F715-3AF8-A48FD0326BB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Déroulement</a:t>
            </a:r>
            <a:endParaRPr lang="fr-FR" sz="3200"/>
          </a:p>
        </p:txBody>
      </p:sp>
    </p:spTree>
    <p:extLst>
      <p:ext uri="{BB962C8B-B14F-4D97-AF65-F5344CB8AC3E}">
        <p14:creationId xmlns:p14="http://schemas.microsoft.com/office/powerpoint/2010/main" val="38403257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40116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1980368"/>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Ce qui est appris : </a:t>
            </a:r>
          </a:p>
          <a:p>
            <a:r>
              <a:rPr lang="fr-FR" sz="1200"/>
              <a:t>Savoir choisir et prioriser des sujets</a:t>
            </a:r>
          </a:p>
          <a:p>
            <a:r>
              <a:rPr lang="fr-FR" sz="1200"/>
              <a:t>Définir des objectifs réalistes et atteignables selon le sujet et le contexte en intelligence collective</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40116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1980368"/>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Livrables produits : Une fresque montrant les objectifs de départ et d’arrivée à atteindre pour chaque sujet.</a:t>
            </a:r>
          </a:p>
          <a:p>
            <a:pPr marL="0" indent="0">
              <a:buFont typeface="Arial" panose="020B0604020202020204" pitchFamily="34" charset="0"/>
              <a:buNone/>
            </a:pPr>
            <a:r>
              <a:rPr lang="fr-FR" sz="1200"/>
              <a:t>Résultats atteints : Des objectifs clairs à atteindre</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40116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1980368"/>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Nombre de participants : 1-10</a:t>
            </a:r>
          </a:p>
          <a:p>
            <a:pPr marL="0" indent="0">
              <a:buNone/>
            </a:pPr>
            <a:r>
              <a:rPr lang="fr-FR" sz="1200"/>
              <a:t>Profil des participants : portent ou peuvent aider à porter un sujet clé de la communauté ou du changement.</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40116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1980368"/>
            <a:ext cx="2832018" cy="1690823"/>
          </a:xfrm>
          <a:prstGeom prst="rect">
            <a:avLst/>
          </a:prstGeom>
          <a:solidFill>
            <a:schemeClr val="bg1"/>
          </a:solidFill>
          <a:ln>
            <a:solidFill>
              <a:schemeClr val="tx1"/>
            </a:solidFill>
          </a:ln>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Une communauté accumule des frustrations de part et d’autres sur les différents sujets. Parfois, certains ont l’impression de se mettre trop de pression pour avancer (ce qui retire de la légèreté et de la liberté), parfois certains se plaignent de rester trop en surface. </a:t>
            </a:r>
          </a:p>
          <a:p>
            <a:pPr marL="0" indent="0">
              <a:buNone/>
            </a:pPr>
            <a:r>
              <a:rPr lang="fr-FR" sz="1200" dirty="0"/>
              <a:t>L’atelier CCC-Goals est utilisé pour les mettre d’accord.</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383600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415213"/>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Cet atelier proposer de poser les </a:t>
            </a:r>
            <a:r>
              <a:rPr lang="fr-FR" sz="1200" b="1"/>
              <a:t>objectifs</a:t>
            </a:r>
            <a:r>
              <a:rPr lang="fr-FR" sz="1200"/>
              <a:t> d’arrivée par sujet-clé.</a:t>
            </a:r>
          </a:p>
          <a:p>
            <a:pPr marL="0" indent="0">
              <a:buFont typeface="Arial" panose="020B0604020202020204" pitchFamily="34" charset="0"/>
              <a:buNone/>
            </a:pPr>
            <a:r>
              <a:rPr lang="fr-FR" sz="1200"/>
              <a:t>D’autres ateliers permettront de voir comment atteindre les phases voulues, les activités ou contenus adéquats…</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383600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415213"/>
            <a:ext cx="2845965" cy="1690823"/>
          </a:xfrm>
          <a:prstGeom prst="rect">
            <a:avLst/>
          </a:prstGeom>
          <a:solidFill>
            <a:schemeClr val="accent2">
              <a:lumMod val="20000"/>
              <a:lumOff val="80000"/>
            </a:schemeClr>
          </a:solidFill>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Durée : 30 minutes (5 minutes par sujet)</a:t>
            </a:r>
          </a:p>
          <a:p>
            <a:pPr marL="0" indent="0">
              <a:buFont typeface="Arial" panose="020B0604020202020204" pitchFamily="34" charset="0"/>
              <a:buNone/>
            </a:pPr>
            <a:r>
              <a:rPr lang="fr-FR" sz="1200" dirty="0"/>
              <a:t>Matériel nécessaire : le CCC-model</a:t>
            </a:r>
          </a:p>
          <a:p>
            <a:pPr marL="0" indent="0">
              <a:buFont typeface="Arial" panose="020B0604020202020204" pitchFamily="34" charset="0"/>
              <a:buNone/>
            </a:pPr>
            <a:r>
              <a:rPr lang="fr-FR" sz="1200" dirty="0"/>
              <a:t>En </a:t>
            </a:r>
            <a:r>
              <a:rPr lang="fr-FR" sz="1200" dirty="0" err="1"/>
              <a:t>visio</a:t>
            </a:r>
            <a:r>
              <a:rPr lang="fr-FR" sz="1200" dirty="0"/>
              <a:t> : Un mur collaboratif (type Klaxoon, Miro, Mural…)</a:t>
            </a:r>
          </a:p>
          <a:p>
            <a:pPr marL="0" indent="0">
              <a:buFont typeface="Arial" panose="020B0604020202020204" pitchFamily="34" charset="0"/>
              <a:buNone/>
            </a:pPr>
            <a:r>
              <a:rPr lang="fr-FR" sz="1200" dirty="0"/>
              <a:t>En physique : Des post-it et gros feutres</a:t>
            </a:r>
          </a:p>
          <a:p>
            <a:pPr marL="0" indent="0">
              <a:buFont typeface="Arial" panose="020B0604020202020204" pitchFamily="34" charset="0"/>
              <a:buNone/>
            </a:pPr>
            <a:r>
              <a:rPr lang="fr-FR" sz="1200" dirty="0"/>
              <a:t>Salles : Idéalement l’atelier se passe en présentiel dans une grande salle qui contient le management visuel de la Communauté</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383600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41521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Idées Ressources et compléments qui peuvent accompagner l’atelier :</a:t>
            </a:r>
          </a:p>
          <a:p>
            <a:pPr marL="0" indent="0">
              <a:buNone/>
            </a:pPr>
            <a:r>
              <a:rPr lang="fr-FR" sz="1200"/>
              <a:t>Peuvent être partagés en fin d’atelier pour les personnes souhaitant creuser le sujet</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3836007"/>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415213"/>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Jusqu’où voulons nous aller avec la Communauté ? </a:t>
            </a:r>
          </a:p>
          <a:p>
            <a:pPr marL="0" indent="0">
              <a:buNone/>
            </a:pPr>
            <a:r>
              <a:rPr lang="fr-FR" sz="1200" dirty="0"/>
              <a:t>Est-ce que cela dépend des différents sujets ?</a:t>
            </a:r>
          </a:p>
          <a:p>
            <a:pPr marL="0" indent="0">
              <a:buNone/>
            </a:pPr>
            <a:r>
              <a:rPr lang="fr-FR" sz="1200" dirty="0"/>
              <a:t>L’atelier CCC-Goals permet à une Communauté qui a son thème, de poser de manière simple les objectifs qu’elle souhaite atteindre en termes de maturité.</a:t>
            </a:r>
          </a:p>
        </p:txBody>
      </p:sp>
      <p:sp>
        <p:nvSpPr>
          <p:cNvPr id="39" name="ZoneTexte 38">
            <a:extLst>
              <a:ext uri="{FF2B5EF4-FFF2-40B4-BE49-F238E27FC236}">
                <a16:creationId xmlns:a16="http://schemas.microsoft.com/office/drawing/2014/main" id="{EA9CEF71-4F80-8D8B-8C7E-77B195056A45}"/>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Organisation</a:t>
            </a:r>
            <a:endParaRPr lang="fr-FR" sz="3200"/>
          </a:p>
        </p:txBody>
      </p:sp>
      <p:sp>
        <p:nvSpPr>
          <p:cNvPr id="19" name="ZoneTexte 18">
            <a:extLst>
              <a:ext uri="{FF2B5EF4-FFF2-40B4-BE49-F238E27FC236}">
                <a16:creationId xmlns:a16="http://schemas.microsoft.com/office/drawing/2014/main" id="{CC09D861-AD45-48E3-FF93-EC523ED2F4AD}"/>
              </a:ext>
            </a:extLst>
          </p:cNvPr>
          <p:cNvSpPr txBox="1"/>
          <p:nvPr/>
        </p:nvSpPr>
        <p:spPr>
          <a:xfrm>
            <a:off x="334775" y="6335957"/>
            <a:ext cx="11602365" cy="369332"/>
          </a:xfrm>
          <a:prstGeom prst="rect">
            <a:avLst/>
          </a:prstGeom>
          <a:noFill/>
        </p:spPr>
        <p:txBody>
          <a:bodyPr wrap="square">
            <a:spAutoFit/>
          </a:bodyPr>
          <a:lstStyle/>
          <a:p>
            <a:pPr algn="ctr"/>
            <a:r>
              <a:rPr lang="fr-FR" sz="1800" b="1" i="1">
                <a:ea typeface="+mn-lt"/>
                <a:cs typeface="+mn-lt"/>
              </a:rPr>
              <a:t>Pour vérifier que cela correspond bien à nos besoins et capacités, et pouvoir organiser facilement la session</a:t>
            </a:r>
            <a:endParaRPr lang="fr-FR" sz="1800">
              <a:ea typeface="Calibri"/>
              <a:cs typeface="Calibri"/>
            </a:endParaRPr>
          </a:p>
        </p:txBody>
      </p:sp>
    </p:spTree>
    <p:extLst>
      <p:ext uri="{BB962C8B-B14F-4D97-AF65-F5344CB8AC3E}">
        <p14:creationId xmlns:p14="http://schemas.microsoft.com/office/powerpoint/2010/main" val="22231198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1511743"/>
            <a:ext cx="2404138" cy="3520758"/>
          </a:xfrm>
        </p:spPr>
        <p:txBody>
          <a:bodyPr vert="horz" lIns="91440" tIns="45720" rIns="91440" bIns="45720" rtlCol="0" anchor="t">
            <a:noAutofit/>
          </a:bodyPr>
          <a:lstStyle/>
          <a:p>
            <a:r>
              <a:rPr lang="fr-FR" sz="1400">
                <a:cs typeface="Calibri"/>
              </a:rPr>
              <a:t>La posture du facilitateur par défaut est une posture basse, c’est-à-dire qu'il ne se place pas en formateur, il restitue au mieux les idées et les écrits des participants.</a:t>
            </a:r>
            <a:endParaRPr lang="fr-FR"/>
          </a:p>
          <a:p>
            <a:r>
              <a:rPr lang="fr-FR" sz="1400">
                <a:cs typeface="Calibri"/>
              </a:rPr>
              <a:t>Si le facilitateur est concerné, il peut alors jouer les 2 rôles.</a:t>
            </a:r>
            <a:endParaRPr lang="fr-F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999627"/>
            <a:ext cx="2412076" cy="503237"/>
          </a:xfrm>
        </p:spPr>
        <p:txBody>
          <a:bodyPr>
            <a:normAutofit/>
          </a:bodyPr>
          <a:lstStyle/>
          <a:p>
            <a:r>
              <a:rPr lang="fr-FR" sz="140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1511425"/>
            <a:ext cx="5247090" cy="3520758"/>
          </a:xfrm>
        </p:spPr>
        <p:txBody>
          <a:bodyPr vert="horz" lIns="91440" tIns="45720" rIns="91440" bIns="45720" rtlCol="0" anchor="t">
            <a:noAutofit/>
          </a:bodyPr>
          <a:lstStyle/>
          <a:p>
            <a:pPr marL="285750" indent="-285750">
              <a:buFont typeface="Arial" panose="020B0604020202020204" pitchFamily="34" charset="0"/>
              <a:buChar char="•"/>
            </a:pPr>
            <a:r>
              <a:rPr lang="fr-FR" sz="1400"/>
              <a:t>Le facilitateur met le CCC-Model à disposition des participants, il peut être imprimé et affiché, ou un peu plus écologique, projeté ou affiché sur un grand écran.</a:t>
            </a:r>
            <a:endParaRPr lang="fr-FR" sz="1400">
              <a:cs typeface="Calibri"/>
            </a:endParaRPr>
          </a:p>
          <a:p>
            <a:pPr marL="285750" indent="-285750">
              <a:buFont typeface="Arial" panose="020B0604020202020204" pitchFamily="34" charset="0"/>
              <a:buChar char="•"/>
            </a:pPr>
            <a:r>
              <a:rPr lang="fr-FR" sz="1400"/>
              <a:t>Lors de la phase où les participants listent les sujets à traiter, le facilitateur et les membres qui le souhaitent peuvent trier les post-it déposés pour y voir plus clair (retirer les doublons, regrouper par thème par exemple « orga », « animation »…)</a:t>
            </a:r>
          </a:p>
          <a:p>
            <a:pPr marL="285750" indent="-285750">
              <a:buFont typeface="Arial" panose="020B0604020202020204" pitchFamily="34" charset="0"/>
              <a:buChar char="•"/>
            </a:pPr>
            <a:r>
              <a:rPr lang="fr-FR" sz="1400"/>
              <a:t>Il est conseillé de s’entendre sur la phase de départ après chaque sujet (et non lister les sujets et ensuite délimiter leurs départs), car les discussions à leur propos seront plus fraîches.</a:t>
            </a:r>
            <a:endParaRPr lang="fr-FR" sz="1400">
              <a:cs typeface="Calibri"/>
            </a:endParaRP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999309"/>
            <a:ext cx="5255029" cy="503237"/>
          </a:xfrm>
        </p:spPr>
        <p:txBody>
          <a:bodyPr>
            <a:normAutofit/>
          </a:bodyPr>
          <a:lstStyle/>
          <a:p>
            <a:r>
              <a:rPr lang="fr-FR" sz="140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1511425"/>
            <a:ext cx="2404138" cy="3520758"/>
          </a:xfrm>
        </p:spPr>
        <p:txBody>
          <a:bodyPr/>
          <a:lstStyle/>
          <a:p>
            <a:r>
              <a:rPr lang="fr-FR" sz="1400"/>
              <a:t>Exemples de questions de Debriefing</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999309"/>
            <a:ext cx="2412076" cy="503237"/>
          </a:xfrm>
        </p:spPr>
        <p:txBody>
          <a:bodyPr>
            <a:normAutofit/>
          </a:bodyPr>
          <a:lstStyle/>
          <a:p>
            <a:r>
              <a:rPr lang="fr-FR" sz="1400"/>
              <a:t>🙋Debriefing</a:t>
            </a:r>
          </a:p>
        </p:txBody>
      </p:sp>
      <p:sp>
        <p:nvSpPr>
          <p:cNvPr id="10" name="ZoneTexte 9">
            <a:extLst>
              <a:ext uri="{FF2B5EF4-FFF2-40B4-BE49-F238E27FC236}">
                <a16:creationId xmlns:a16="http://schemas.microsoft.com/office/drawing/2014/main" id="{3A02B26F-36AA-FA5A-2C61-49B90AA09934}"/>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CCC-Goals – </a:t>
            </a:r>
            <a:r>
              <a:rPr lang="fr-FR" sz="3200" b="1" i="1">
                <a:solidFill>
                  <a:srgbClr val="ED7D31"/>
                </a:solidFill>
              </a:rPr>
              <a:t>Animation</a:t>
            </a:r>
            <a:endParaRPr lang="fr-FR" sz="3200"/>
          </a:p>
        </p:txBody>
      </p:sp>
    </p:spTree>
    <p:extLst>
      <p:ext uri="{BB962C8B-B14F-4D97-AF65-F5344CB8AC3E}">
        <p14:creationId xmlns:p14="http://schemas.microsoft.com/office/powerpoint/2010/main" val="37465308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566822D7-BE59-42A3-8647-937CD139D65E}"/>
              </a:ext>
            </a:extLst>
          </p:cNvPr>
          <p:cNvGrpSpPr/>
          <p:nvPr/>
        </p:nvGrpSpPr>
        <p:grpSpPr>
          <a:xfrm>
            <a:off x="160924" y="5542935"/>
            <a:ext cx="1203228" cy="1160644"/>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1244149305"/>
              </p:ext>
            </p:extLst>
          </p:nvPr>
        </p:nvGraphicFramePr>
        <p:xfrm>
          <a:off x="6986736" y="1555782"/>
          <a:ext cx="4740676" cy="429650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Idées de variantes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endParaRPr lang="fr-FR" sz="1100" dirty="0"/>
                    </a:p>
                  </a:txBody>
                  <a:tcPr/>
                </a:tc>
                <a:tc>
                  <a:txBody>
                    <a:bodyPr/>
                    <a:lstStyle/>
                    <a:p>
                      <a:endParaRPr lang="fr-FR" sz="1100" dirty="0"/>
                    </a:p>
                  </a:txBody>
                  <a:tcPr/>
                </a:tc>
                <a:extLst>
                  <a:ext uri="{0D108BD9-81ED-4DB2-BD59-A6C34878D82A}">
                    <a16:rowId xmlns:a16="http://schemas.microsoft.com/office/drawing/2014/main" val="4249539521"/>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824107877"/>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035027814"/>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a:p>
                  </a:txBody>
                  <a:tcPr/>
                </a:tc>
                <a:tc>
                  <a:txBody>
                    <a:bodyPr/>
                    <a:lstStyle/>
                    <a:p>
                      <a:endParaRPr lang="fr-FR" sz="1100" dirty="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nvGraphicFramePr>
        <p:xfrm>
          <a:off x="388475" y="1555782"/>
          <a:ext cx="6191648" cy="267716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Historique des versions</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a:solidFill>
                            <a:schemeClr val="lt1"/>
                          </a:solidFill>
                          <a:latin typeface="+mn-lt"/>
                          <a:ea typeface="+mn-ea"/>
                          <a:cs typeface="+mn-cs"/>
                        </a:rPr>
                        <a:t>Licence</a:t>
                      </a:r>
                    </a:p>
                  </a:txBody>
                  <a:tcPr>
                    <a:solidFill>
                      <a:srgbClr val="ED7D31"/>
                    </a:solidFill>
                  </a:tcPr>
                </a:tc>
                <a:tc>
                  <a:txBody>
                    <a:bodyPr/>
                    <a:lstStyle/>
                    <a:p>
                      <a:r>
                        <a:rPr lang="fr-FR" sz="1200" b="1" kern="120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a:t>1.0</a:t>
                      </a:r>
                    </a:p>
                  </a:txBody>
                  <a:tcPr/>
                </a:tc>
                <a:tc>
                  <a:txBody>
                    <a:bodyPr/>
                    <a:lstStyle/>
                    <a:p>
                      <a:r>
                        <a:rPr lang="fr-FR" sz="1200"/>
                        <a:t>Alexandre QUACH</a:t>
                      </a:r>
                    </a:p>
                    <a:p>
                      <a:r>
                        <a:rPr lang="fr-FR" sz="1200"/>
                        <a:t>Vanessa HELLEBUYCK</a:t>
                      </a:r>
                    </a:p>
                  </a:txBody>
                  <a:tcPr/>
                </a:tc>
                <a:tc>
                  <a:txBody>
                    <a:bodyPr/>
                    <a:lstStyle/>
                    <a:p>
                      <a:r>
                        <a:rPr lang="fr-FR" sz="1200"/>
                        <a:t>CC-BY-3.0</a:t>
                      </a:r>
                    </a:p>
                  </a:txBody>
                  <a:tcPr/>
                </a:tc>
                <a:tc>
                  <a:txBody>
                    <a:bodyPr/>
                    <a:lstStyle/>
                    <a:p>
                      <a:r>
                        <a:rPr lang="fr-FR" sz="1200"/>
                        <a:t>Première version</a:t>
                      </a:r>
                    </a:p>
                  </a:txBody>
                  <a:tcPr/>
                </a:tc>
                <a:extLst>
                  <a:ext uri="{0D108BD9-81ED-4DB2-BD59-A6C34878D82A}">
                    <a16:rowId xmlns:a16="http://schemas.microsoft.com/office/drawing/2014/main" val="233750057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56534786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26495474"/>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632454121"/>
                  </a:ext>
                </a:extLst>
              </a:tr>
            </a:tbl>
          </a:graphicData>
        </a:graphic>
      </p:graphicFrame>
      <p:sp>
        <p:nvSpPr>
          <p:cNvPr id="17" name="ZoneTexte 16">
            <a:extLst>
              <a:ext uri="{FF2B5EF4-FFF2-40B4-BE49-F238E27FC236}">
                <a16:creationId xmlns:a16="http://schemas.microsoft.com/office/drawing/2014/main" id="{E069AED5-1784-348D-6A9E-9D301F248D4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dirty="0"/>
              <a:t>Atelier CCC-Goals – </a:t>
            </a:r>
            <a:r>
              <a:rPr lang="fr-FR" sz="3200" b="1" i="1" dirty="0">
                <a:solidFill>
                  <a:srgbClr val="ED7D31"/>
                </a:solidFill>
              </a:rPr>
              <a:t>Adaptation</a:t>
            </a:r>
            <a:endParaRPr lang="fr-FR" sz="3200" dirty="0"/>
          </a:p>
        </p:txBody>
      </p:sp>
      <p:sp>
        <p:nvSpPr>
          <p:cNvPr id="37" name="Espace réservé du texte 15">
            <a:extLst>
              <a:ext uri="{FF2B5EF4-FFF2-40B4-BE49-F238E27FC236}">
                <a16:creationId xmlns:a16="http://schemas.microsoft.com/office/drawing/2014/main" id="{329CFF52-673C-9F7B-6823-AEDE5A5493C9}"/>
              </a:ext>
            </a:extLst>
          </p:cNvPr>
          <p:cNvSpPr txBox="1">
            <a:spLocks/>
          </p:cNvSpPr>
          <p:nvPr/>
        </p:nvSpPr>
        <p:spPr>
          <a:xfrm>
            <a:off x="1292106" y="6326283"/>
            <a:ext cx="10645035" cy="3589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a:solidFill>
                  <a:schemeClr val="tx1"/>
                </a:solidFill>
              </a:rPr>
              <a:t>Pour adapter facilement l’atelier et créer des variantes</a:t>
            </a:r>
          </a:p>
        </p:txBody>
      </p:sp>
    </p:spTree>
    <p:extLst>
      <p:ext uri="{BB962C8B-B14F-4D97-AF65-F5344CB8AC3E}">
        <p14:creationId xmlns:p14="http://schemas.microsoft.com/office/powerpoint/2010/main" val="16172394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134224" y="703064"/>
            <a:ext cx="12192000" cy="19630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600" b="1" i="1"/>
              <a:t>Atelier CCC-Flow</a:t>
            </a:r>
          </a:p>
          <a:p>
            <a:pPr marL="0" indent="0" algn="ctr">
              <a:buFont typeface="Arial" panose="020B0604020202020204" pitchFamily="34" charset="0"/>
              <a:buNone/>
            </a:pPr>
            <a:r>
              <a:rPr lang="fr-FR" sz="3200" b="1" i="1">
                <a:solidFill>
                  <a:srgbClr val="0683AA"/>
                </a:solidFill>
              </a:rPr>
              <a:t>Positionnement </a:t>
            </a:r>
            <a:r>
              <a:rPr lang="fr-FR" sz="3200" b="1" i="1"/>
              <a:t>de</a:t>
            </a:r>
            <a:r>
              <a:rPr lang="fr-FR" sz="3200" b="1" i="1">
                <a:solidFill>
                  <a:srgbClr val="0683AA"/>
                </a:solidFill>
              </a:rPr>
              <a:t> </a:t>
            </a:r>
            <a:r>
              <a:rPr lang="fr-FR" sz="3200" b="1" i="1">
                <a:solidFill>
                  <a:srgbClr val="ED7D31"/>
                </a:solidFill>
              </a:rPr>
              <a:t>tous les sujets </a:t>
            </a:r>
            <a:r>
              <a:rPr lang="fr-FR" sz="3200" b="1" i="1"/>
              <a:t>de changement pour priorisation</a:t>
            </a:r>
            <a:endParaRPr lang="fr-FR" sz="3200" b="1" i="1">
              <a:solidFill>
                <a:srgbClr val="0683AA"/>
              </a:solidFill>
            </a:endParaRPr>
          </a:p>
        </p:txBody>
      </p:sp>
      <p:grpSp>
        <p:nvGrpSpPr>
          <p:cNvPr id="9" name="Groupe 8">
            <a:extLst>
              <a:ext uri="{FF2B5EF4-FFF2-40B4-BE49-F238E27FC236}">
                <a16:creationId xmlns:a16="http://schemas.microsoft.com/office/drawing/2014/main" id="{7B8CBEAA-5771-9500-B9AC-AEFB77DF7C1F}"/>
              </a:ext>
            </a:extLst>
          </p:cNvPr>
          <p:cNvGrpSpPr/>
          <p:nvPr/>
        </p:nvGrpSpPr>
        <p:grpSpPr>
          <a:xfrm>
            <a:off x="4128486" y="2741150"/>
            <a:ext cx="3698197" cy="4117299"/>
            <a:chOff x="4128486" y="2379688"/>
            <a:chExt cx="3698197" cy="4117299"/>
          </a:xfrm>
        </p:grpSpPr>
        <p:pic>
          <p:nvPicPr>
            <p:cNvPr id="10" name="Graphique 9" descr="Homme tenant un panneau">
              <a:extLst>
                <a:ext uri="{FF2B5EF4-FFF2-40B4-BE49-F238E27FC236}">
                  <a16:creationId xmlns:a16="http://schemas.microsoft.com/office/drawing/2014/main" id="{1B61B5EB-BE9C-F5E2-C3A9-C18F18BC53D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11" name="Espace réservé du texte 15">
              <a:extLst>
                <a:ext uri="{FF2B5EF4-FFF2-40B4-BE49-F238E27FC236}">
                  <a16:creationId xmlns:a16="http://schemas.microsoft.com/office/drawing/2014/main" id="{11051754-E0FA-1215-0381-82243C25D121}"/>
                </a:ext>
              </a:extLst>
            </p:cNvPr>
            <p:cNvSpPr txBox="1">
              <a:spLocks/>
            </p:cNvSpPr>
            <p:nvPr/>
          </p:nvSpPr>
          <p:spPr>
            <a:xfrm>
              <a:off x="4472402" y="4484981"/>
              <a:ext cx="3061317" cy="17545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OÙ EN SOMMES-NOUS SUR </a:t>
              </a:r>
              <a:r>
                <a:rPr lang="fr-FR" sz="3200" b="1" i="1" dirty="0">
                  <a:solidFill>
                    <a:srgbClr val="0683AA"/>
                  </a:solidFill>
                </a:rPr>
                <a:t>CHAQUE SUJET</a:t>
              </a:r>
              <a:r>
                <a:rPr lang="fr-FR" sz="3200" b="1" i="1" dirty="0"/>
                <a:t> ?</a:t>
              </a:r>
              <a:endParaRPr lang="fr-FR" sz="3200" b="1" i="1" dirty="0">
                <a:solidFill>
                  <a:srgbClr val="0683AA"/>
                </a:solidFill>
              </a:endParaRPr>
            </a:p>
          </p:txBody>
        </p:sp>
      </p:grpSp>
    </p:spTree>
    <p:extLst>
      <p:ext uri="{BB962C8B-B14F-4D97-AF65-F5344CB8AC3E}">
        <p14:creationId xmlns:p14="http://schemas.microsoft.com/office/powerpoint/2010/main" val="8729547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au 5">
            <a:extLst>
              <a:ext uri="{FF2B5EF4-FFF2-40B4-BE49-F238E27FC236}">
                <a16:creationId xmlns:a16="http://schemas.microsoft.com/office/drawing/2014/main" id="{70CC887E-15F6-0C80-10E6-EE2EAAB02808}"/>
              </a:ext>
            </a:extLst>
          </p:cNvPr>
          <p:cNvGraphicFramePr>
            <a:graphicFrameLocks noGrp="1"/>
          </p:cNvGraphicFramePr>
          <p:nvPr>
            <p:extLst>
              <p:ext uri="{D42A27DB-BD31-4B8C-83A1-F6EECF244321}">
                <p14:modId xmlns:p14="http://schemas.microsoft.com/office/powerpoint/2010/main" val="266218582"/>
              </p:ext>
            </p:extLst>
          </p:nvPr>
        </p:nvGraphicFramePr>
        <p:xfrm>
          <a:off x="2171783" y="2659641"/>
          <a:ext cx="7998784" cy="2200440"/>
        </p:xfrm>
        <a:graphic>
          <a:graphicData uri="http://schemas.openxmlformats.org/drawingml/2006/table">
            <a:tbl>
              <a:tblPr firstRow="1" bandRow="1">
                <a:tableStyleId>{073A0DAA-6AF3-43AB-8588-CEC1D06C72B9}</a:tableStyleId>
              </a:tblPr>
              <a:tblGrid>
                <a:gridCol w="999848">
                  <a:extLst>
                    <a:ext uri="{9D8B030D-6E8A-4147-A177-3AD203B41FA5}">
                      <a16:colId xmlns:a16="http://schemas.microsoft.com/office/drawing/2014/main" val="1486018635"/>
                    </a:ext>
                  </a:extLst>
                </a:gridCol>
                <a:gridCol w="999848">
                  <a:extLst>
                    <a:ext uri="{9D8B030D-6E8A-4147-A177-3AD203B41FA5}">
                      <a16:colId xmlns:a16="http://schemas.microsoft.com/office/drawing/2014/main" val="761339006"/>
                    </a:ext>
                  </a:extLst>
                </a:gridCol>
                <a:gridCol w="999848">
                  <a:extLst>
                    <a:ext uri="{9D8B030D-6E8A-4147-A177-3AD203B41FA5}">
                      <a16:colId xmlns:a16="http://schemas.microsoft.com/office/drawing/2014/main" val="416087062"/>
                    </a:ext>
                  </a:extLst>
                </a:gridCol>
                <a:gridCol w="999848">
                  <a:extLst>
                    <a:ext uri="{9D8B030D-6E8A-4147-A177-3AD203B41FA5}">
                      <a16:colId xmlns:a16="http://schemas.microsoft.com/office/drawing/2014/main" val="2064857721"/>
                    </a:ext>
                  </a:extLst>
                </a:gridCol>
                <a:gridCol w="999848">
                  <a:extLst>
                    <a:ext uri="{9D8B030D-6E8A-4147-A177-3AD203B41FA5}">
                      <a16:colId xmlns:a16="http://schemas.microsoft.com/office/drawing/2014/main" val="183491405"/>
                    </a:ext>
                  </a:extLst>
                </a:gridCol>
                <a:gridCol w="999848">
                  <a:extLst>
                    <a:ext uri="{9D8B030D-6E8A-4147-A177-3AD203B41FA5}">
                      <a16:colId xmlns:a16="http://schemas.microsoft.com/office/drawing/2014/main" val="3364014230"/>
                    </a:ext>
                  </a:extLst>
                </a:gridCol>
                <a:gridCol w="999848">
                  <a:extLst>
                    <a:ext uri="{9D8B030D-6E8A-4147-A177-3AD203B41FA5}">
                      <a16:colId xmlns:a16="http://schemas.microsoft.com/office/drawing/2014/main" val="365145181"/>
                    </a:ext>
                  </a:extLst>
                </a:gridCol>
                <a:gridCol w="999848">
                  <a:extLst>
                    <a:ext uri="{9D8B030D-6E8A-4147-A177-3AD203B41FA5}">
                      <a16:colId xmlns:a16="http://schemas.microsoft.com/office/drawing/2014/main" val="1628287487"/>
                    </a:ext>
                  </a:extLst>
                </a:gridCol>
              </a:tblGrid>
              <a:tr h="408213">
                <a:tc>
                  <a:txBody>
                    <a:bodyPr/>
                    <a:lstStyle/>
                    <a:p>
                      <a:pPr algn="ctr"/>
                      <a:r>
                        <a:rPr lang="fr-FR" sz="700">
                          <a:solidFill>
                            <a:schemeClr val="bg1"/>
                          </a:solidFill>
                        </a:rPr>
                        <a:t>PAS ENCORE COMMENCÉ</a:t>
                      </a:r>
                    </a:p>
                  </a:txBody>
                  <a:tcPr marL="72862" marR="72862" marT="36431" marB="36431">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700" b="1" i="1">
                          <a:solidFill>
                            <a:schemeClr val="bg1"/>
                          </a:solidFill>
                        </a:rPr>
                        <a:t>INSPIRATION</a:t>
                      </a:r>
                    </a:p>
                    <a:p>
                      <a:pPr algn="ctr"/>
                      <a:endParaRPr lang="fr-FR" sz="700">
                        <a:solidFill>
                          <a:schemeClr val="bg1"/>
                        </a:solidFill>
                      </a:endParaRPr>
                    </a:p>
                  </a:txBody>
                  <a:tcPr marL="72862" marR="72862" marT="36431" marB="36431">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700" b="1" i="1">
                          <a:solidFill>
                            <a:schemeClr val="bg1"/>
                          </a:solidFill>
                        </a:rPr>
                        <a:t>COLLECTE</a:t>
                      </a:r>
                    </a:p>
                    <a:p>
                      <a:pPr algn="ctr"/>
                      <a:endParaRPr lang="fr-FR" sz="700">
                        <a:solidFill>
                          <a:schemeClr val="bg1"/>
                        </a:solidFill>
                      </a:endParaRPr>
                    </a:p>
                  </a:txBody>
                  <a:tcPr marL="72862" marR="72862" marT="36431" marB="36431">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700" b="1" i="1">
                          <a:solidFill>
                            <a:schemeClr val="bg1"/>
                          </a:solidFill>
                        </a:rPr>
                        <a:t>INITIATION</a:t>
                      </a:r>
                    </a:p>
                    <a:p>
                      <a:pPr algn="ctr"/>
                      <a:endParaRPr lang="fr-FR" sz="700">
                        <a:solidFill>
                          <a:schemeClr val="bg1"/>
                        </a:solidFill>
                      </a:endParaRPr>
                    </a:p>
                  </a:txBody>
                  <a:tcPr marL="72862" marR="72862" marT="36431" marB="36431">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700" b="1" i="1">
                          <a:solidFill>
                            <a:schemeClr val="bg1"/>
                          </a:solidFill>
                        </a:rPr>
                        <a:t>CHOC DE LA RÉALITÉ</a:t>
                      </a:r>
                    </a:p>
                    <a:p>
                      <a:pPr algn="ctr"/>
                      <a:endParaRPr lang="fr-FR" sz="700">
                        <a:solidFill>
                          <a:schemeClr val="bg1"/>
                        </a:solidFill>
                      </a:endParaRPr>
                    </a:p>
                  </a:txBody>
                  <a:tcPr marL="72862" marR="72862" marT="36431" marB="36431">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700" b="1" i="1">
                          <a:solidFill>
                            <a:schemeClr val="bg1"/>
                          </a:solidFill>
                        </a:rPr>
                        <a:t>CONFIRMATION DE RÉUSSITES</a:t>
                      </a:r>
                    </a:p>
                    <a:p>
                      <a:pPr algn="ctr"/>
                      <a:endParaRPr lang="fr-FR" sz="700">
                        <a:solidFill>
                          <a:schemeClr val="bg1"/>
                        </a:solidFill>
                      </a:endParaRPr>
                    </a:p>
                  </a:txBody>
                  <a:tcPr marL="72862" marR="72862" marT="36431" marB="36431">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700" b="1" i="1">
                          <a:solidFill>
                            <a:schemeClr val="bg1"/>
                          </a:solidFill>
                        </a:rPr>
                        <a:t>EXPOSITION</a:t>
                      </a:r>
                    </a:p>
                    <a:p>
                      <a:pPr algn="ctr"/>
                      <a:endParaRPr lang="fr-FR" sz="700">
                        <a:solidFill>
                          <a:schemeClr val="bg1"/>
                        </a:solidFill>
                      </a:endParaRPr>
                    </a:p>
                  </a:txBody>
                  <a:tcPr marL="72862" marR="72862" marT="36431" marB="36431">
                    <a:solidFill>
                      <a:srgbClr val="0683AA"/>
                    </a:solidFill>
                  </a:tcPr>
                </a:tc>
                <a:tc>
                  <a:txBody>
                    <a:bodyPr/>
                    <a:lstStyle/>
                    <a:p>
                      <a:pPr marL="0" indent="0" algn="ctr">
                        <a:buFont typeface="Arial" panose="020B0604020202020204" pitchFamily="34" charset="0"/>
                        <a:buNone/>
                      </a:pPr>
                      <a:r>
                        <a:rPr lang="fr-FR" sz="700" b="1" i="1">
                          <a:solidFill>
                            <a:schemeClr val="bg1"/>
                          </a:solidFill>
                        </a:rPr>
                        <a:t>FORTIFICATION</a:t>
                      </a:r>
                    </a:p>
                    <a:p>
                      <a:pPr marL="0" indent="0" algn="ctr">
                        <a:buFont typeface="Arial" panose="020B0604020202020204" pitchFamily="34" charset="0"/>
                        <a:buNone/>
                      </a:pPr>
                      <a:endParaRPr lang="fr-FR" sz="700" b="1" i="1">
                        <a:solidFill>
                          <a:schemeClr val="bg1"/>
                        </a:solidFill>
                      </a:endParaRPr>
                    </a:p>
                    <a:p>
                      <a:pPr algn="ctr"/>
                      <a:endParaRPr lang="fr-FR" sz="700">
                        <a:solidFill>
                          <a:schemeClr val="bg1"/>
                        </a:solidFill>
                      </a:endParaRPr>
                    </a:p>
                  </a:txBody>
                  <a:tcPr marL="72862" marR="72862" marT="36431" marB="36431">
                    <a:solidFill>
                      <a:srgbClr val="0683AA"/>
                    </a:solidFill>
                  </a:tcPr>
                </a:tc>
                <a:extLst>
                  <a:ext uri="{0D108BD9-81ED-4DB2-BD59-A6C34878D82A}">
                    <a16:rowId xmlns:a16="http://schemas.microsoft.com/office/drawing/2014/main" val="3579208894"/>
                  </a:ext>
                </a:extLst>
              </a:tr>
              <a:tr h="1792227">
                <a:tc>
                  <a:txBody>
                    <a:bodyPr/>
                    <a:lstStyle/>
                    <a:p>
                      <a:endParaRPr lang="fr-FR" sz="1500"/>
                    </a:p>
                  </a:txBody>
                  <a:tcPr marL="72862" marR="72862" marT="36431" marB="36431"/>
                </a:tc>
                <a:tc>
                  <a:txBody>
                    <a:bodyPr/>
                    <a:lstStyle/>
                    <a:p>
                      <a:endParaRPr lang="fr-FR" sz="1500"/>
                    </a:p>
                  </a:txBody>
                  <a:tcPr marL="72862" marR="72862" marT="36431" marB="36431"/>
                </a:tc>
                <a:tc>
                  <a:txBody>
                    <a:bodyPr/>
                    <a:lstStyle/>
                    <a:p>
                      <a:endParaRPr lang="fr-FR" sz="1500"/>
                    </a:p>
                  </a:txBody>
                  <a:tcPr marL="72862" marR="72862" marT="36431" marB="36431"/>
                </a:tc>
                <a:tc>
                  <a:txBody>
                    <a:bodyPr/>
                    <a:lstStyle/>
                    <a:p>
                      <a:endParaRPr lang="fr-FR" sz="1500"/>
                    </a:p>
                  </a:txBody>
                  <a:tcPr marL="72862" marR="72862" marT="36431" marB="36431"/>
                </a:tc>
                <a:tc>
                  <a:txBody>
                    <a:bodyPr/>
                    <a:lstStyle/>
                    <a:p>
                      <a:endParaRPr lang="fr-FR" sz="1500"/>
                    </a:p>
                  </a:txBody>
                  <a:tcPr marL="72862" marR="72862" marT="36431" marB="36431"/>
                </a:tc>
                <a:tc>
                  <a:txBody>
                    <a:bodyPr/>
                    <a:lstStyle/>
                    <a:p>
                      <a:endParaRPr lang="fr-FR" sz="1500"/>
                    </a:p>
                  </a:txBody>
                  <a:tcPr marL="72862" marR="72862" marT="36431" marB="36431"/>
                </a:tc>
                <a:tc>
                  <a:txBody>
                    <a:bodyPr/>
                    <a:lstStyle/>
                    <a:p>
                      <a:endParaRPr lang="fr-FR" sz="1500"/>
                    </a:p>
                  </a:txBody>
                  <a:tcPr marL="72862" marR="72862" marT="36431" marB="36431"/>
                </a:tc>
                <a:tc>
                  <a:txBody>
                    <a:bodyPr/>
                    <a:lstStyle/>
                    <a:p>
                      <a:endParaRPr lang="fr-FR" sz="1500"/>
                    </a:p>
                  </a:txBody>
                  <a:tcPr marL="72862" marR="72862" marT="36431" marB="36431"/>
                </a:tc>
                <a:extLst>
                  <a:ext uri="{0D108BD9-81ED-4DB2-BD59-A6C34878D82A}">
                    <a16:rowId xmlns:a16="http://schemas.microsoft.com/office/drawing/2014/main" val="1415023090"/>
                  </a:ext>
                </a:extLst>
              </a:tr>
            </a:tbl>
          </a:graphicData>
        </a:graphic>
      </p:graphicFrame>
      <p:sp>
        <p:nvSpPr>
          <p:cNvPr id="13" name="Rectangle 12">
            <a:extLst>
              <a:ext uri="{FF2B5EF4-FFF2-40B4-BE49-F238E27FC236}">
                <a16:creationId xmlns:a16="http://schemas.microsoft.com/office/drawing/2014/main" id="{ABA561B6-F94F-D82E-59FE-BBD56F17BA14}"/>
              </a:ext>
            </a:extLst>
          </p:cNvPr>
          <p:cNvSpPr/>
          <p:nvPr/>
        </p:nvSpPr>
        <p:spPr>
          <a:xfrm>
            <a:off x="3343197" y="3201400"/>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RDD</a:t>
            </a:r>
          </a:p>
        </p:txBody>
      </p:sp>
      <p:sp>
        <p:nvSpPr>
          <p:cNvPr id="14" name="Rectangle 13">
            <a:extLst>
              <a:ext uri="{FF2B5EF4-FFF2-40B4-BE49-F238E27FC236}">
                <a16:creationId xmlns:a16="http://schemas.microsoft.com/office/drawing/2014/main" id="{BF841757-DFA0-E57E-4C35-90B28E682C7E}"/>
              </a:ext>
            </a:extLst>
          </p:cNvPr>
          <p:cNvSpPr/>
          <p:nvPr/>
        </p:nvSpPr>
        <p:spPr>
          <a:xfrm>
            <a:off x="3711014" y="399209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solidFill>
                  <a:schemeClr val="tx1"/>
                </a:solidFill>
              </a:rPr>
              <a:t>Sujet</a:t>
            </a:r>
          </a:p>
        </p:txBody>
      </p:sp>
      <p:sp>
        <p:nvSpPr>
          <p:cNvPr id="15" name="Rectangle 14">
            <a:extLst>
              <a:ext uri="{FF2B5EF4-FFF2-40B4-BE49-F238E27FC236}">
                <a16:creationId xmlns:a16="http://schemas.microsoft.com/office/drawing/2014/main" id="{1AE1AA02-41CC-156A-C602-9C1B1273FF3B}"/>
              </a:ext>
            </a:extLst>
          </p:cNvPr>
          <p:cNvSpPr/>
          <p:nvPr/>
        </p:nvSpPr>
        <p:spPr>
          <a:xfrm>
            <a:off x="4667364" y="3409539"/>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solidFill>
                  <a:schemeClr val="tx1"/>
                </a:solidFill>
              </a:rPr>
              <a:t>Sujet</a:t>
            </a:r>
          </a:p>
        </p:txBody>
      </p:sp>
      <p:sp>
        <p:nvSpPr>
          <p:cNvPr id="16" name="Rectangle 15">
            <a:extLst>
              <a:ext uri="{FF2B5EF4-FFF2-40B4-BE49-F238E27FC236}">
                <a16:creationId xmlns:a16="http://schemas.microsoft.com/office/drawing/2014/main" id="{97A87AC2-43BE-4CCB-CC07-A57AB32D2586}"/>
              </a:ext>
            </a:extLst>
          </p:cNvPr>
          <p:cNvSpPr/>
          <p:nvPr/>
        </p:nvSpPr>
        <p:spPr>
          <a:xfrm>
            <a:off x="5352674" y="333888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IA</a:t>
            </a:r>
          </a:p>
        </p:txBody>
      </p:sp>
      <p:sp>
        <p:nvSpPr>
          <p:cNvPr id="17" name="Rectangle 16">
            <a:extLst>
              <a:ext uri="{FF2B5EF4-FFF2-40B4-BE49-F238E27FC236}">
                <a16:creationId xmlns:a16="http://schemas.microsoft.com/office/drawing/2014/main" id="{E70E1083-BB02-2CB6-C1E5-8C5E3141A37A}"/>
              </a:ext>
            </a:extLst>
          </p:cNvPr>
          <p:cNvSpPr/>
          <p:nvPr/>
        </p:nvSpPr>
        <p:spPr>
          <a:xfrm>
            <a:off x="7623745" y="333888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solidFill>
                  <a:schemeClr val="tx1"/>
                </a:solidFill>
              </a:rPr>
              <a:t>Sujet</a:t>
            </a:r>
          </a:p>
        </p:txBody>
      </p:sp>
      <p:sp>
        <p:nvSpPr>
          <p:cNvPr id="18" name="Rectangle 17">
            <a:extLst>
              <a:ext uri="{FF2B5EF4-FFF2-40B4-BE49-F238E27FC236}">
                <a16:creationId xmlns:a16="http://schemas.microsoft.com/office/drawing/2014/main" id="{0BBB0987-042E-79EB-F59B-874D284ECB44}"/>
              </a:ext>
            </a:extLst>
          </p:cNvPr>
          <p:cNvSpPr/>
          <p:nvPr/>
        </p:nvSpPr>
        <p:spPr>
          <a:xfrm>
            <a:off x="6632821" y="396113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solidFill>
                  <a:schemeClr val="tx1"/>
                </a:solidFill>
              </a:rPr>
              <a:t>Sujet</a:t>
            </a:r>
          </a:p>
        </p:txBody>
      </p:sp>
      <p:sp>
        <p:nvSpPr>
          <p:cNvPr id="19" name="Rectangle 18">
            <a:extLst>
              <a:ext uri="{FF2B5EF4-FFF2-40B4-BE49-F238E27FC236}">
                <a16:creationId xmlns:a16="http://schemas.microsoft.com/office/drawing/2014/main" id="{634C6E48-FBA0-3E28-997E-892066B45E17}"/>
              </a:ext>
            </a:extLst>
          </p:cNvPr>
          <p:cNvSpPr/>
          <p:nvPr/>
        </p:nvSpPr>
        <p:spPr>
          <a:xfrm>
            <a:off x="2585155" y="3494894"/>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RSE</a:t>
            </a:r>
          </a:p>
        </p:txBody>
      </p:sp>
      <p:sp>
        <p:nvSpPr>
          <p:cNvPr id="20" name="Rectangle 19">
            <a:extLst>
              <a:ext uri="{FF2B5EF4-FFF2-40B4-BE49-F238E27FC236}">
                <a16:creationId xmlns:a16="http://schemas.microsoft.com/office/drawing/2014/main" id="{EC432AFE-4BE0-43BC-B10B-9CF102B68E4F}"/>
              </a:ext>
            </a:extLst>
          </p:cNvPr>
          <p:cNvSpPr/>
          <p:nvPr/>
        </p:nvSpPr>
        <p:spPr>
          <a:xfrm>
            <a:off x="2788403" y="426100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RGPD</a:t>
            </a:r>
          </a:p>
        </p:txBody>
      </p:sp>
      <p:sp>
        <p:nvSpPr>
          <p:cNvPr id="21" name="Rectangle 20">
            <a:extLst>
              <a:ext uri="{FF2B5EF4-FFF2-40B4-BE49-F238E27FC236}">
                <a16:creationId xmlns:a16="http://schemas.microsoft.com/office/drawing/2014/main" id="{C6B6EC36-44CD-48AB-7AB8-21642123DB71}"/>
              </a:ext>
            </a:extLst>
          </p:cNvPr>
          <p:cNvSpPr/>
          <p:nvPr/>
        </p:nvSpPr>
        <p:spPr>
          <a:xfrm>
            <a:off x="3182694" y="3816934"/>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IOT</a:t>
            </a:r>
          </a:p>
        </p:txBody>
      </p:sp>
      <p:sp>
        <p:nvSpPr>
          <p:cNvPr id="22" name="Rectangle 21">
            <a:extLst>
              <a:ext uri="{FF2B5EF4-FFF2-40B4-BE49-F238E27FC236}">
                <a16:creationId xmlns:a16="http://schemas.microsoft.com/office/drawing/2014/main" id="{AAD9552D-08F2-0265-A996-58A51FE37F58}"/>
              </a:ext>
            </a:extLst>
          </p:cNvPr>
          <p:cNvSpPr/>
          <p:nvPr/>
        </p:nvSpPr>
        <p:spPr>
          <a:xfrm>
            <a:off x="2320960" y="4338458"/>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solidFill>
                  <a:schemeClr val="tx1"/>
                </a:solidFill>
              </a:rPr>
              <a:t>Sujet</a:t>
            </a:r>
          </a:p>
        </p:txBody>
      </p:sp>
      <p:sp>
        <p:nvSpPr>
          <p:cNvPr id="23" name="Rectangle 22">
            <a:extLst>
              <a:ext uri="{FF2B5EF4-FFF2-40B4-BE49-F238E27FC236}">
                <a16:creationId xmlns:a16="http://schemas.microsoft.com/office/drawing/2014/main" id="{C3C3915B-64BC-2728-BC8E-71157B185CC3}"/>
              </a:ext>
            </a:extLst>
          </p:cNvPr>
          <p:cNvSpPr/>
          <p:nvPr/>
        </p:nvSpPr>
        <p:spPr>
          <a:xfrm>
            <a:off x="8376898" y="3751861"/>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a:solidFill>
                  <a:schemeClr val="tx1"/>
                </a:solidFill>
              </a:rPr>
              <a:t>Sujet</a:t>
            </a:r>
          </a:p>
        </p:txBody>
      </p:sp>
      <p:sp>
        <p:nvSpPr>
          <p:cNvPr id="10" name="ZoneTexte 9">
            <a:extLst>
              <a:ext uri="{FF2B5EF4-FFF2-40B4-BE49-F238E27FC236}">
                <a16:creationId xmlns:a16="http://schemas.microsoft.com/office/drawing/2014/main" id="{E147F6FE-9498-8E29-CF36-EEAD0E33A645}"/>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CCC-Flow – </a:t>
            </a:r>
            <a:r>
              <a:rPr lang="fr-FR" sz="3200" b="1" i="1">
                <a:solidFill>
                  <a:srgbClr val="ED7D31"/>
                </a:solidFill>
              </a:rPr>
              <a:t>Pourquoi ?</a:t>
            </a:r>
            <a:endParaRPr lang="fr-FR" sz="3200"/>
          </a:p>
        </p:txBody>
      </p:sp>
      <p:sp>
        <p:nvSpPr>
          <p:cNvPr id="7" name="Bulle narrative : ronde 6">
            <a:extLst>
              <a:ext uri="{FF2B5EF4-FFF2-40B4-BE49-F238E27FC236}">
                <a16:creationId xmlns:a16="http://schemas.microsoft.com/office/drawing/2014/main" id="{B6BB61A2-BD2B-ADBB-9CE7-0A1705F77C75}"/>
              </a:ext>
            </a:extLst>
          </p:cNvPr>
          <p:cNvSpPr/>
          <p:nvPr/>
        </p:nvSpPr>
        <p:spPr>
          <a:xfrm>
            <a:off x="91315" y="1029809"/>
            <a:ext cx="3268376" cy="1451524"/>
          </a:xfrm>
          <a:prstGeom prst="wedgeEllipseCallout">
            <a:avLst>
              <a:gd name="adj1" fmla="val -7468"/>
              <a:gd name="adj2" fmla="val 7678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a:solidFill>
                  <a:schemeClr val="tx1"/>
                </a:solidFill>
              </a:rPr>
              <a:t>J’AIMERAIS FAIRE LE POINT SUR LA SITUATION DES </a:t>
            </a:r>
            <a:r>
              <a:rPr lang="fr-FR" sz="1400" b="1">
                <a:solidFill>
                  <a:srgbClr val="0683AA"/>
                </a:solidFill>
              </a:rPr>
              <a:t>SUJETS-CLÉS</a:t>
            </a:r>
            <a:r>
              <a:rPr lang="fr-FR" sz="1400" b="1">
                <a:solidFill>
                  <a:schemeClr val="tx1"/>
                </a:solidFill>
              </a:rPr>
              <a:t> DE NOTRE COMMUNAUTÉ.</a:t>
            </a:r>
          </a:p>
        </p:txBody>
      </p:sp>
      <p:sp>
        <p:nvSpPr>
          <p:cNvPr id="8" name="Bulle narrative : ronde 7">
            <a:extLst>
              <a:ext uri="{FF2B5EF4-FFF2-40B4-BE49-F238E27FC236}">
                <a16:creationId xmlns:a16="http://schemas.microsoft.com/office/drawing/2014/main" id="{8D432B07-7E75-E7CC-F5AB-EB68A7E21CCC}"/>
              </a:ext>
            </a:extLst>
          </p:cNvPr>
          <p:cNvSpPr/>
          <p:nvPr/>
        </p:nvSpPr>
        <p:spPr>
          <a:xfrm>
            <a:off x="8638388" y="1074574"/>
            <a:ext cx="3462297" cy="1451523"/>
          </a:xfrm>
          <a:prstGeom prst="wedgeEllipseCallout">
            <a:avLst>
              <a:gd name="adj1" fmla="val 15900"/>
              <a:gd name="adj2" fmla="val 99416"/>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rgbClr val="ED7D31"/>
                </a:solidFill>
              </a:rPr>
              <a:t>L’ATELIER CCC-FLOW</a:t>
            </a:r>
            <a:r>
              <a:rPr lang="fr-FR" sz="1400" b="1">
                <a:solidFill>
                  <a:schemeClr val="tx1"/>
                </a:solidFill>
              </a:rPr>
              <a:t> S’APPLIQUE PARFAITEMENT A UNE COMMUNAUTÉ EXISTANTE, POUVANT PORTER DES CHANGEMENTS !</a:t>
            </a:r>
          </a:p>
        </p:txBody>
      </p:sp>
      <p:pic>
        <p:nvPicPr>
          <p:cNvPr id="11" name="Graphique 3" descr="Femme portant un tailleur">
            <a:extLst>
              <a:ext uri="{FF2B5EF4-FFF2-40B4-BE49-F238E27FC236}">
                <a16:creationId xmlns:a16="http://schemas.microsoft.com/office/drawing/2014/main" id="{83E641E6-E900-DD79-87FD-8D78EC9091A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4705" y="2570861"/>
            <a:ext cx="2493401" cy="5197431"/>
          </a:xfrm>
          <a:prstGeom prst="rect">
            <a:avLst/>
          </a:prstGeom>
        </p:spPr>
      </p:pic>
      <p:pic>
        <p:nvPicPr>
          <p:cNvPr id="2" name="Graphique 1" descr="Homme en polo">
            <a:extLst>
              <a:ext uri="{FF2B5EF4-FFF2-40B4-BE49-F238E27FC236}">
                <a16:creationId xmlns:a16="http://schemas.microsoft.com/office/drawing/2014/main" id="{87F89F8E-BF30-E72E-E5E5-A12E6D3339D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1673"/>
          <a:stretch/>
        </p:blipFill>
        <p:spPr>
          <a:xfrm flipH="1">
            <a:off x="10120229" y="3292483"/>
            <a:ext cx="1983482" cy="3565517"/>
          </a:xfrm>
          <a:prstGeom prst="rect">
            <a:avLst/>
          </a:prstGeom>
        </p:spPr>
      </p:pic>
    </p:spTree>
    <p:extLst>
      <p:ext uri="{BB962C8B-B14F-4D97-AF65-F5344CB8AC3E}">
        <p14:creationId xmlns:p14="http://schemas.microsoft.com/office/powerpoint/2010/main" val="32252519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Graphique 52" descr="Femme portant un panneau">
            <a:extLst>
              <a:ext uri="{FF2B5EF4-FFF2-40B4-BE49-F238E27FC236}">
                <a16:creationId xmlns:a16="http://schemas.microsoft.com/office/drawing/2014/main" id="{C95C861B-4117-E5AB-13F8-A07C3169F0C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52945" y="1594552"/>
            <a:ext cx="2548571" cy="4156761"/>
          </a:xfrm>
          <a:prstGeom prst="rect">
            <a:avLst/>
          </a:prstGeom>
        </p:spPr>
      </p:pic>
      <p:sp>
        <p:nvSpPr>
          <p:cNvPr id="8" name="Espace réservé du texte 7">
            <a:extLst>
              <a:ext uri="{FF2B5EF4-FFF2-40B4-BE49-F238E27FC236}">
                <a16:creationId xmlns:a16="http://schemas.microsoft.com/office/drawing/2014/main" id="{D270EF62-074B-43A4-8317-656159F178E6}"/>
              </a:ext>
            </a:extLst>
          </p:cNvPr>
          <p:cNvSpPr>
            <a:spLocks noGrp="1"/>
          </p:cNvSpPr>
          <p:nvPr>
            <p:ph type="body" sz="quarter" idx="16"/>
          </p:nvPr>
        </p:nvSpPr>
        <p:spPr>
          <a:xfrm>
            <a:off x="4247137" y="4697776"/>
            <a:ext cx="3013884" cy="1019697"/>
          </a:xfrm>
        </p:spPr>
        <p:txBody>
          <a:bodyPr vert="horz" lIns="91440" tIns="45720" rIns="91440" bIns="45720" rtlCol="0" anchor="t">
            <a:noAutofit/>
          </a:bodyPr>
          <a:lstStyle/>
          <a:p>
            <a:r>
              <a:rPr lang="fr-FR" sz="1600"/>
              <a:t>Les participants établissent une list</a:t>
            </a:r>
            <a:r>
              <a:rPr lang="fr-FR"/>
              <a:t>e des sujets-clé de la Communauté.</a:t>
            </a:r>
            <a:endParaRPr lang="fr-FR" sz="1600"/>
          </a:p>
        </p:txBody>
      </p:sp>
      <p:sp>
        <p:nvSpPr>
          <p:cNvPr id="9" name="Espace réservé du texte 8">
            <a:extLst>
              <a:ext uri="{FF2B5EF4-FFF2-40B4-BE49-F238E27FC236}">
                <a16:creationId xmlns:a16="http://schemas.microsoft.com/office/drawing/2014/main" id="{B6C811D4-1FC7-4FB1-BD1A-89D1B362D69E}"/>
              </a:ext>
            </a:extLst>
          </p:cNvPr>
          <p:cNvSpPr>
            <a:spLocks noGrp="1"/>
          </p:cNvSpPr>
          <p:nvPr>
            <p:ph type="body" sz="quarter" idx="17"/>
          </p:nvPr>
        </p:nvSpPr>
        <p:spPr>
          <a:xfrm>
            <a:off x="472584" y="4674418"/>
            <a:ext cx="2840853" cy="1019697"/>
          </a:xfrm>
        </p:spPr>
        <p:txBody>
          <a:bodyPr/>
          <a:lstStyle/>
          <a:p>
            <a:r>
              <a:rPr lang="fr-FR" sz="1600"/>
              <a:t>Les participants prennent connaissance du modèle CCC. </a:t>
            </a:r>
          </a:p>
        </p:txBody>
      </p:sp>
      <p:sp>
        <p:nvSpPr>
          <p:cNvPr id="10" name="Espace réservé du texte 9">
            <a:extLst>
              <a:ext uri="{FF2B5EF4-FFF2-40B4-BE49-F238E27FC236}">
                <a16:creationId xmlns:a16="http://schemas.microsoft.com/office/drawing/2014/main" id="{26F94D76-5FD0-46F1-B9FD-333007552F50}"/>
              </a:ext>
            </a:extLst>
          </p:cNvPr>
          <p:cNvSpPr>
            <a:spLocks noGrp="1"/>
          </p:cNvSpPr>
          <p:nvPr>
            <p:ph type="body" sz="quarter" idx="18"/>
          </p:nvPr>
        </p:nvSpPr>
        <p:spPr>
          <a:xfrm>
            <a:off x="7788983" y="4725656"/>
            <a:ext cx="3719744" cy="1019697"/>
          </a:xfrm>
        </p:spPr>
        <p:txBody>
          <a:bodyPr vert="horz" lIns="91440" tIns="45720" rIns="91440" bIns="45720" rtlCol="0" anchor="t">
            <a:noAutofit/>
          </a:bodyPr>
          <a:lstStyle/>
          <a:p>
            <a:r>
              <a:rPr lang="fr-FR"/>
              <a:t>Les participants notent pour chaque sujet leur niveau de maturité actuel en les plaçant dans les différentes phases, ou bien dans « pas encore commencé »</a:t>
            </a:r>
          </a:p>
        </p:txBody>
      </p:sp>
      <p:sp>
        <p:nvSpPr>
          <p:cNvPr id="21" name="Bulle narrative : ronde 20">
            <a:extLst>
              <a:ext uri="{FF2B5EF4-FFF2-40B4-BE49-F238E27FC236}">
                <a16:creationId xmlns:a16="http://schemas.microsoft.com/office/drawing/2014/main" id="{09F36993-1B37-08DB-8A33-25D81B98C222}"/>
              </a:ext>
            </a:extLst>
          </p:cNvPr>
          <p:cNvSpPr/>
          <p:nvPr/>
        </p:nvSpPr>
        <p:spPr>
          <a:xfrm>
            <a:off x="4559750" y="2841865"/>
            <a:ext cx="1224713" cy="898310"/>
          </a:xfrm>
          <a:prstGeom prst="wedgeEllipseCallout">
            <a:avLst>
              <a:gd name="adj1" fmla="val -32518"/>
              <a:gd name="adj2" fmla="val 74103"/>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b="1">
              <a:solidFill>
                <a:schemeClr val="tx1"/>
              </a:solidFill>
            </a:endParaRPr>
          </a:p>
        </p:txBody>
      </p:sp>
      <p:sp>
        <p:nvSpPr>
          <p:cNvPr id="22" name="Bulle narrative : ronde 21">
            <a:extLst>
              <a:ext uri="{FF2B5EF4-FFF2-40B4-BE49-F238E27FC236}">
                <a16:creationId xmlns:a16="http://schemas.microsoft.com/office/drawing/2014/main" id="{1F83A53C-D267-D446-A548-8916ED603E7F}"/>
              </a:ext>
            </a:extLst>
          </p:cNvPr>
          <p:cNvSpPr/>
          <p:nvPr/>
        </p:nvSpPr>
        <p:spPr>
          <a:xfrm>
            <a:off x="5795445" y="3000519"/>
            <a:ext cx="1484340" cy="910853"/>
          </a:xfrm>
          <a:prstGeom prst="wedgeEllipseCallout">
            <a:avLst>
              <a:gd name="adj1" fmla="val 5424"/>
              <a:gd name="adj2" fmla="val 66847"/>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b="1">
              <a:solidFill>
                <a:schemeClr val="tx1"/>
              </a:solidFill>
            </a:endParaRPr>
          </a:p>
        </p:txBody>
      </p:sp>
      <p:pic>
        <p:nvPicPr>
          <p:cNvPr id="23" name="Espace réservé pour une image  29" descr="Homme en polo">
            <a:extLst>
              <a:ext uri="{FF2B5EF4-FFF2-40B4-BE49-F238E27FC236}">
                <a16:creationId xmlns:a16="http://schemas.microsoft.com/office/drawing/2014/main" id="{F380149A-547C-07D0-35DB-AC462F6F1FF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68548"/>
          <a:stretch/>
        </p:blipFill>
        <p:spPr>
          <a:xfrm flipH="1">
            <a:off x="6449404" y="3905982"/>
            <a:ext cx="869781" cy="790367"/>
          </a:xfrm>
          <a:prstGeom prst="rect">
            <a:avLst/>
          </a:prstGeom>
        </p:spPr>
      </p:pic>
      <p:pic>
        <p:nvPicPr>
          <p:cNvPr id="24" name="Graphique 23" descr="Femme avec bras prothétique">
            <a:extLst>
              <a:ext uri="{FF2B5EF4-FFF2-40B4-BE49-F238E27FC236}">
                <a16:creationId xmlns:a16="http://schemas.microsoft.com/office/drawing/2014/main" id="{B8ACC467-5DD6-30F6-3C0F-757050E0CCD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2424"/>
          <a:stretch/>
        </p:blipFill>
        <p:spPr>
          <a:xfrm>
            <a:off x="4113373" y="3918161"/>
            <a:ext cx="771433" cy="790369"/>
          </a:xfrm>
          <a:prstGeom prst="rect">
            <a:avLst/>
          </a:prstGeom>
        </p:spPr>
      </p:pic>
      <p:pic>
        <p:nvPicPr>
          <p:cNvPr id="25" name="Graphique 24" descr="Homme âgé portant une veste">
            <a:extLst>
              <a:ext uri="{FF2B5EF4-FFF2-40B4-BE49-F238E27FC236}">
                <a16:creationId xmlns:a16="http://schemas.microsoft.com/office/drawing/2014/main" id="{1196D9D6-431A-6DA2-26C4-38765BFCDEEA}"/>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58457"/>
          <a:stretch/>
        </p:blipFill>
        <p:spPr>
          <a:xfrm>
            <a:off x="4559750" y="3908848"/>
            <a:ext cx="647141" cy="821648"/>
          </a:xfrm>
          <a:prstGeom prst="rect">
            <a:avLst/>
          </a:prstGeom>
        </p:spPr>
      </p:pic>
      <p:grpSp>
        <p:nvGrpSpPr>
          <p:cNvPr id="26" name="Groupe 25">
            <a:extLst>
              <a:ext uri="{FF2B5EF4-FFF2-40B4-BE49-F238E27FC236}">
                <a16:creationId xmlns:a16="http://schemas.microsoft.com/office/drawing/2014/main" id="{007A2FDB-3035-4433-1F46-41385B7F365B}"/>
              </a:ext>
            </a:extLst>
          </p:cNvPr>
          <p:cNvGrpSpPr/>
          <p:nvPr/>
        </p:nvGrpSpPr>
        <p:grpSpPr>
          <a:xfrm flipH="1">
            <a:off x="5962653" y="3905982"/>
            <a:ext cx="771433" cy="832846"/>
            <a:chOff x="7346530" y="4173715"/>
            <a:chExt cx="1543027" cy="1838320"/>
          </a:xfrm>
        </p:grpSpPr>
        <p:pic>
          <p:nvPicPr>
            <p:cNvPr id="27" name="Graphique 26" descr="Homme portant un dossier">
              <a:extLst>
                <a:ext uri="{FF2B5EF4-FFF2-40B4-BE49-F238E27FC236}">
                  <a16:creationId xmlns:a16="http://schemas.microsoft.com/office/drawing/2014/main" id="{6D867E25-FAAC-ABD2-997F-1B704711D7E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46530" y="4680382"/>
              <a:ext cx="1543027" cy="1331653"/>
            </a:xfrm>
            <a:prstGeom prst="rect">
              <a:avLst/>
            </a:prstGeom>
          </p:spPr>
        </p:pic>
        <p:pic>
          <p:nvPicPr>
            <p:cNvPr id="28" name="Graphique 27" descr="Homme âgé avec favoris">
              <a:extLst>
                <a:ext uri="{FF2B5EF4-FFF2-40B4-BE49-F238E27FC236}">
                  <a16:creationId xmlns:a16="http://schemas.microsoft.com/office/drawing/2014/main" id="{B98DD64A-B30E-6EFF-58A1-6B6821D092E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776530" y="4173715"/>
              <a:ext cx="685800" cy="685800"/>
            </a:xfrm>
            <a:prstGeom prst="rect">
              <a:avLst/>
            </a:prstGeom>
          </p:spPr>
        </p:pic>
        <p:pic>
          <p:nvPicPr>
            <p:cNvPr id="29" name="Graphique 28" descr="Un visage souriant">
              <a:extLst>
                <a:ext uri="{FF2B5EF4-FFF2-40B4-BE49-F238E27FC236}">
                  <a16:creationId xmlns:a16="http://schemas.microsoft.com/office/drawing/2014/main" id="{5C5CCC88-7CDF-21C4-3319-D6593A0933D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040677" y="4396946"/>
              <a:ext cx="343607" cy="354345"/>
            </a:xfrm>
            <a:prstGeom prst="rect">
              <a:avLst/>
            </a:prstGeom>
          </p:spPr>
        </p:pic>
      </p:grpSp>
      <p:grpSp>
        <p:nvGrpSpPr>
          <p:cNvPr id="30" name="Groupe 29">
            <a:extLst>
              <a:ext uri="{FF2B5EF4-FFF2-40B4-BE49-F238E27FC236}">
                <a16:creationId xmlns:a16="http://schemas.microsoft.com/office/drawing/2014/main" id="{23E1DABA-C2FD-C1D5-7D9E-8E8A5A2E1153}"/>
              </a:ext>
            </a:extLst>
          </p:cNvPr>
          <p:cNvGrpSpPr/>
          <p:nvPr/>
        </p:nvGrpSpPr>
        <p:grpSpPr>
          <a:xfrm>
            <a:off x="428591" y="2250307"/>
            <a:ext cx="2974973" cy="1117161"/>
            <a:chOff x="76940" y="1376914"/>
            <a:chExt cx="12038120" cy="4520548"/>
          </a:xfrm>
        </p:grpSpPr>
        <p:sp>
          <p:nvSpPr>
            <p:cNvPr id="31" name="Espace réservé du texte 15">
              <a:extLst>
                <a:ext uri="{FF2B5EF4-FFF2-40B4-BE49-F238E27FC236}">
                  <a16:creationId xmlns:a16="http://schemas.microsoft.com/office/drawing/2014/main" id="{DE864E19-0316-9515-C257-0E11E1523C22}"/>
                </a:ext>
              </a:extLst>
            </p:cNvPr>
            <p:cNvSpPr txBox="1">
              <a:spLocks/>
            </p:cNvSpPr>
            <p:nvPr/>
          </p:nvSpPr>
          <p:spPr>
            <a:xfrm>
              <a:off x="76940" y="2380093"/>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INSPIRATION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Personne ne sait ce qu’est le sujet même du changement.</a:t>
              </a:r>
            </a:p>
            <a:p>
              <a:pPr marL="0" indent="0" algn="ctr">
                <a:buFont typeface="Arial" panose="020B0604020202020204" pitchFamily="34" charset="0"/>
                <a:buNone/>
              </a:pPr>
              <a:r>
                <a:rPr lang="fr-FR" sz="200" b="1" i="1"/>
                <a:t>Il est difficile d'impliquer sans cette envie</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32" name="Espace réservé du texte 15">
              <a:extLst>
                <a:ext uri="{FF2B5EF4-FFF2-40B4-BE49-F238E27FC236}">
                  <a16:creationId xmlns:a16="http://schemas.microsoft.com/office/drawing/2014/main" id="{C839A789-BB77-5307-252C-F5D317866707}"/>
                </a:ext>
              </a:extLst>
            </p:cNvPr>
            <p:cNvSpPr txBox="1">
              <a:spLocks/>
            </p:cNvSpPr>
            <p:nvPr/>
          </p:nvSpPr>
          <p:spPr>
            <a:xfrm>
              <a:off x="1814587" y="2380093"/>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COLLECTE</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vague idée de ce que serait le changement. </a:t>
              </a:r>
            </a:p>
            <a:p>
              <a:pPr marL="0" indent="0" algn="ctr">
                <a:buFont typeface="Arial" panose="020B0604020202020204" pitchFamily="34" charset="0"/>
                <a:buNone/>
              </a:pPr>
              <a:r>
                <a:rPr lang="fr-FR" sz="200" b="1" i="1"/>
                <a:t>Il y a à la fois de la crainte de la charge d’implication et crainte de ne pas être impliqués dès le départ </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33" name="Espace réservé du texte 15">
              <a:extLst>
                <a:ext uri="{FF2B5EF4-FFF2-40B4-BE49-F238E27FC236}">
                  <a16:creationId xmlns:a16="http://schemas.microsoft.com/office/drawing/2014/main" id="{ACBAB5A4-4BD9-D3EC-995D-8C1725029E24}"/>
                </a:ext>
              </a:extLst>
            </p:cNvPr>
            <p:cNvSpPr txBox="1">
              <a:spLocks/>
            </p:cNvSpPr>
            <p:nvPr/>
          </p:nvSpPr>
          <p:spPr>
            <a:xfrm>
              <a:off x="3552234" y="2380093"/>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INITIATION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idée plus claire de ce que seraient les résultats du changement.</a:t>
              </a:r>
            </a:p>
            <a:p>
              <a:pPr marL="0" indent="0" algn="ctr">
                <a:buFont typeface="Arial" panose="020B0604020202020204" pitchFamily="34" charset="0"/>
                <a:buNone/>
              </a:pPr>
              <a:r>
                <a:rPr lang="fr-FR" sz="200" b="1" i="1"/>
                <a:t>Il y a une différence entre les ambitions et l’état de pratique réel (qui est quasi nul) </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34" name="Espace réservé du texte 15">
              <a:extLst>
                <a:ext uri="{FF2B5EF4-FFF2-40B4-BE49-F238E27FC236}">
                  <a16:creationId xmlns:a16="http://schemas.microsoft.com/office/drawing/2014/main" id="{B90E6D60-DA0C-0273-9EAD-BB7E9F63B39D}"/>
                </a:ext>
              </a:extLst>
            </p:cNvPr>
            <p:cNvSpPr txBox="1">
              <a:spLocks/>
            </p:cNvSpPr>
            <p:nvPr/>
          </p:nvSpPr>
          <p:spPr>
            <a:xfrm>
              <a:off x="5289881" y="2380092"/>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CHOC DE LA RÉALITÉ</a:t>
              </a:r>
            </a:p>
            <a:p>
              <a:pPr marL="0" indent="0" algn="ctr">
                <a:buFont typeface="Arial" panose="020B0604020202020204" pitchFamily="34" charset="0"/>
                <a:buNone/>
              </a:pPr>
              <a:endParaRPr lang="fr-FR" sz="200" b="1" i="1"/>
            </a:p>
            <a:p>
              <a:pPr marL="0" indent="0" algn="ctr">
                <a:buFont typeface="Arial" panose="020B0604020202020204" pitchFamily="34" charset="0"/>
                <a:buNone/>
              </a:pPr>
              <a:r>
                <a:rPr lang="fr-FR" sz="200" b="1" i="1"/>
                <a:t>Les membres ont une première idée de ce qu’est le changement en pratique, appliqué EN DEHORS de la vie de la communauté. </a:t>
              </a:r>
            </a:p>
            <a:p>
              <a:pPr marL="0" indent="0" algn="ctr">
                <a:buFont typeface="Arial" panose="020B0604020202020204" pitchFamily="34" charset="0"/>
                <a:buNone/>
              </a:pPr>
              <a:r>
                <a:rPr lang="fr-FR" sz="200" b="1" i="1"/>
                <a:t>Il y a maintenant la découverte des résistances, freins et obstacles à franchir </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35" name="Espace réservé du texte 15">
              <a:extLst>
                <a:ext uri="{FF2B5EF4-FFF2-40B4-BE49-F238E27FC236}">
                  <a16:creationId xmlns:a16="http://schemas.microsoft.com/office/drawing/2014/main" id="{7AC4EE7E-957E-FE63-6C1A-A46311E96BBF}"/>
                </a:ext>
              </a:extLst>
            </p:cNvPr>
            <p:cNvSpPr txBox="1">
              <a:spLocks/>
            </p:cNvSpPr>
            <p:nvPr/>
          </p:nvSpPr>
          <p:spPr>
            <a:xfrm>
              <a:off x="7027528" y="2380091"/>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CONFIRMATION DE RÉUSSITES</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mieux compris comment surmonter les défis. </a:t>
              </a:r>
            </a:p>
            <a:p>
              <a:pPr marL="0" indent="0" algn="ctr">
                <a:buFont typeface="Arial" panose="020B0604020202020204" pitchFamily="34" charset="0"/>
                <a:buNone/>
              </a:pPr>
              <a:r>
                <a:rPr lang="fr-FR" sz="200" b="1" i="1"/>
                <a:t>Les réussites récentes doivent maintenant surmonter le défi du temps et des aléas.</a:t>
              </a:r>
            </a:p>
          </p:txBody>
        </p:sp>
        <p:sp>
          <p:nvSpPr>
            <p:cNvPr id="36" name="Espace réservé du texte 15">
              <a:extLst>
                <a:ext uri="{FF2B5EF4-FFF2-40B4-BE49-F238E27FC236}">
                  <a16:creationId xmlns:a16="http://schemas.microsoft.com/office/drawing/2014/main" id="{29D803E8-D2CA-88F5-3877-8E15F9E7CFEC}"/>
                </a:ext>
              </a:extLst>
            </p:cNvPr>
            <p:cNvSpPr txBox="1">
              <a:spLocks/>
            </p:cNvSpPr>
            <p:nvPr/>
          </p:nvSpPr>
          <p:spPr>
            <a:xfrm>
              <a:off x="8765175" y="2380091"/>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EXPOSITION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idée de l’effet du changement chez soi.</a:t>
              </a:r>
            </a:p>
            <a:p>
              <a:pPr marL="0" indent="0" algn="ctr">
                <a:buFont typeface="Arial" panose="020B0604020202020204" pitchFamily="34" charset="0"/>
                <a:buNone/>
              </a:pPr>
              <a:r>
                <a:rPr lang="fr-FR" sz="200" b="1" i="1"/>
                <a:t>Il y a maintenant les opportunités de d’apporter ces impacts positifs au-delà du périmètre initial.</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sp>
          <p:nvSpPr>
            <p:cNvPr id="37" name="Espace réservé du texte 15">
              <a:extLst>
                <a:ext uri="{FF2B5EF4-FFF2-40B4-BE49-F238E27FC236}">
                  <a16:creationId xmlns:a16="http://schemas.microsoft.com/office/drawing/2014/main" id="{323B4075-C859-6B1E-3275-520C9477BEB0}"/>
                </a:ext>
              </a:extLst>
            </p:cNvPr>
            <p:cNvSpPr txBox="1">
              <a:spLocks/>
            </p:cNvSpPr>
            <p:nvPr/>
          </p:nvSpPr>
          <p:spPr>
            <a:xfrm>
              <a:off x="10502124" y="2380091"/>
              <a:ext cx="1612936" cy="351736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 b="1" i="1">
                  <a:solidFill>
                    <a:srgbClr val="0683AA"/>
                  </a:solidFill>
                </a:rPr>
                <a:t>FORTIFICATION</a:t>
              </a: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r>
                <a:rPr lang="fr-FR" sz="200" b="1" i="1"/>
                <a:t>Les membres ont une idée de comment s’impliquer dans ce changement. </a:t>
              </a:r>
            </a:p>
            <a:p>
              <a:pPr marL="0" indent="0" algn="ctr">
                <a:buFont typeface="Arial" panose="020B0604020202020204" pitchFamily="34" charset="0"/>
                <a:buNone/>
              </a:pPr>
              <a:r>
                <a:rPr lang="fr-FR" sz="200" b="1" i="1"/>
                <a:t>Il y a peut-être conflit de priorité avec les autres engagements en dehors de la vie de la communauté.</a:t>
              </a: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a:p>
              <a:pPr marL="0" indent="0" algn="ctr">
                <a:buFont typeface="Arial" panose="020B0604020202020204" pitchFamily="34" charset="0"/>
                <a:buNone/>
              </a:pPr>
              <a:endParaRPr lang="fr-FR" sz="200" b="1" i="1">
                <a:solidFill>
                  <a:srgbClr val="ED7D31"/>
                </a:solidFill>
              </a:endParaRPr>
            </a:p>
          </p:txBody>
        </p:sp>
        <p:pic>
          <p:nvPicPr>
            <p:cNvPr id="38" name="Graphique 37" descr="Ampoule avec un remplissage uni">
              <a:extLst>
                <a:ext uri="{FF2B5EF4-FFF2-40B4-BE49-F238E27FC236}">
                  <a16:creationId xmlns:a16="http://schemas.microsoft.com/office/drawing/2014/main" id="{ADFBF0F6-CB78-407F-0091-D01A2919645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26208" y="1376914"/>
              <a:ext cx="914400" cy="914400"/>
            </a:xfrm>
            <a:prstGeom prst="rect">
              <a:avLst/>
            </a:prstGeom>
          </p:spPr>
        </p:pic>
        <p:pic>
          <p:nvPicPr>
            <p:cNvPr id="39" name="Graphique 38" descr="Seau et pelle avec un remplissage uni">
              <a:extLst>
                <a:ext uri="{FF2B5EF4-FFF2-40B4-BE49-F238E27FC236}">
                  <a16:creationId xmlns:a16="http://schemas.microsoft.com/office/drawing/2014/main" id="{5A5A13BE-0E61-A23C-0E35-6AC55291383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163855" y="1376914"/>
              <a:ext cx="914400" cy="914400"/>
            </a:xfrm>
            <a:prstGeom prst="rect">
              <a:avLst/>
            </a:prstGeom>
          </p:spPr>
        </p:pic>
        <p:pic>
          <p:nvPicPr>
            <p:cNvPr id="40" name="Graphique 39" descr="Tubes à essai avec un remplissage uni">
              <a:extLst>
                <a:ext uri="{FF2B5EF4-FFF2-40B4-BE49-F238E27FC236}">
                  <a16:creationId xmlns:a16="http://schemas.microsoft.com/office/drawing/2014/main" id="{FA2A0859-2E53-F325-131A-4992DBA1DB28}"/>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98543" y="1376914"/>
              <a:ext cx="914400" cy="914400"/>
            </a:xfrm>
            <a:prstGeom prst="rect">
              <a:avLst/>
            </a:prstGeom>
          </p:spPr>
        </p:pic>
        <p:pic>
          <p:nvPicPr>
            <p:cNvPr id="41" name="Graphique 40" descr="Explosion avec un remplissage uni">
              <a:extLst>
                <a:ext uri="{FF2B5EF4-FFF2-40B4-BE49-F238E27FC236}">
                  <a16:creationId xmlns:a16="http://schemas.microsoft.com/office/drawing/2014/main" id="{A9E3A160-5219-743C-F1A7-BF23B32F48C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638800" y="1376914"/>
              <a:ext cx="914400" cy="914400"/>
            </a:xfrm>
            <a:prstGeom prst="rect">
              <a:avLst/>
            </a:prstGeom>
          </p:spPr>
        </p:pic>
        <p:pic>
          <p:nvPicPr>
            <p:cNvPr id="42" name="Graphique 41" descr="Trophée avec un remplissage uni">
              <a:extLst>
                <a:ext uri="{FF2B5EF4-FFF2-40B4-BE49-F238E27FC236}">
                  <a16:creationId xmlns:a16="http://schemas.microsoft.com/office/drawing/2014/main" id="{B08F9A18-9AFE-6339-F800-5D38D07689EB}"/>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379057" y="1376914"/>
              <a:ext cx="914400" cy="914400"/>
            </a:xfrm>
            <a:prstGeom prst="rect">
              <a:avLst/>
            </a:prstGeom>
          </p:spPr>
        </p:pic>
        <p:pic>
          <p:nvPicPr>
            <p:cNvPr id="43" name="Graphique 42" descr="Assiette couverte avec un remplissage uni">
              <a:extLst>
                <a:ext uri="{FF2B5EF4-FFF2-40B4-BE49-F238E27FC236}">
                  <a16:creationId xmlns:a16="http://schemas.microsoft.com/office/drawing/2014/main" id="{95008071-B258-9E91-3FA3-D4A2ED09F19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113745" y="1376914"/>
              <a:ext cx="914400" cy="914400"/>
            </a:xfrm>
            <a:prstGeom prst="rect">
              <a:avLst/>
            </a:prstGeom>
          </p:spPr>
        </p:pic>
        <p:pic>
          <p:nvPicPr>
            <p:cNvPr id="44" name="Graphique 43" descr="Scène de château avec un remplissage uni">
              <a:extLst>
                <a:ext uri="{FF2B5EF4-FFF2-40B4-BE49-F238E27FC236}">
                  <a16:creationId xmlns:a16="http://schemas.microsoft.com/office/drawing/2014/main" id="{3298D850-B23A-2B4E-3CA6-D498817509E6}"/>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0848433" y="1376914"/>
              <a:ext cx="914400" cy="914400"/>
            </a:xfrm>
            <a:prstGeom prst="rect">
              <a:avLst/>
            </a:prstGeom>
          </p:spPr>
        </p:pic>
      </p:grpSp>
      <p:pic>
        <p:nvPicPr>
          <p:cNvPr id="45" name="Graphique 44" descr="Femme avec bras prothétique">
            <a:extLst>
              <a:ext uri="{FF2B5EF4-FFF2-40B4-BE49-F238E27FC236}">
                <a16:creationId xmlns:a16="http://schemas.microsoft.com/office/drawing/2014/main" id="{D1ABB860-F6B3-4BC6-9C63-35F36798C0F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2424"/>
          <a:stretch/>
        </p:blipFill>
        <p:spPr>
          <a:xfrm>
            <a:off x="498638" y="3572596"/>
            <a:ext cx="1132115" cy="1159904"/>
          </a:xfrm>
          <a:prstGeom prst="rect">
            <a:avLst/>
          </a:prstGeom>
        </p:spPr>
      </p:pic>
      <p:grpSp>
        <p:nvGrpSpPr>
          <p:cNvPr id="46" name="Groupe 45">
            <a:extLst>
              <a:ext uri="{FF2B5EF4-FFF2-40B4-BE49-F238E27FC236}">
                <a16:creationId xmlns:a16="http://schemas.microsoft.com/office/drawing/2014/main" id="{FEBD971B-9EF7-444A-A67F-819797D76A94}"/>
              </a:ext>
            </a:extLst>
          </p:cNvPr>
          <p:cNvGrpSpPr/>
          <p:nvPr/>
        </p:nvGrpSpPr>
        <p:grpSpPr>
          <a:xfrm flipH="1">
            <a:off x="2414403" y="3735062"/>
            <a:ext cx="943531" cy="1018644"/>
            <a:chOff x="7346530" y="4173715"/>
            <a:chExt cx="1543027" cy="1838320"/>
          </a:xfrm>
        </p:grpSpPr>
        <p:pic>
          <p:nvPicPr>
            <p:cNvPr id="47" name="Graphique 46" descr="Homme portant un dossier">
              <a:extLst>
                <a:ext uri="{FF2B5EF4-FFF2-40B4-BE49-F238E27FC236}">
                  <a16:creationId xmlns:a16="http://schemas.microsoft.com/office/drawing/2014/main" id="{11F86E43-7A7B-A575-67FE-2FD16903F53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46530" y="4680382"/>
              <a:ext cx="1543027" cy="1331653"/>
            </a:xfrm>
            <a:prstGeom prst="rect">
              <a:avLst/>
            </a:prstGeom>
          </p:spPr>
        </p:pic>
        <p:pic>
          <p:nvPicPr>
            <p:cNvPr id="48" name="Graphique 47" descr="Homme âgé avec favoris">
              <a:extLst>
                <a:ext uri="{FF2B5EF4-FFF2-40B4-BE49-F238E27FC236}">
                  <a16:creationId xmlns:a16="http://schemas.microsoft.com/office/drawing/2014/main" id="{F52FDE73-5B8B-722C-A633-0352C87D6B9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776530" y="4173715"/>
              <a:ext cx="685800" cy="685800"/>
            </a:xfrm>
            <a:prstGeom prst="rect">
              <a:avLst/>
            </a:prstGeom>
          </p:spPr>
        </p:pic>
        <p:pic>
          <p:nvPicPr>
            <p:cNvPr id="49" name="Graphique 48" descr="Un visage souriant">
              <a:extLst>
                <a:ext uri="{FF2B5EF4-FFF2-40B4-BE49-F238E27FC236}">
                  <a16:creationId xmlns:a16="http://schemas.microsoft.com/office/drawing/2014/main" id="{FFF7C765-BCF5-4182-F2F3-6903BC6BFA7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040677" y="4396946"/>
              <a:ext cx="343607" cy="354345"/>
            </a:xfrm>
            <a:prstGeom prst="rect">
              <a:avLst/>
            </a:prstGeom>
          </p:spPr>
        </p:pic>
      </p:grpSp>
      <p:pic>
        <p:nvPicPr>
          <p:cNvPr id="50" name="Graphique 49" descr="Homme âgé portant une veste">
            <a:extLst>
              <a:ext uri="{FF2B5EF4-FFF2-40B4-BE49-F238E27FC236}">
                <a16:creationId xmlns:a16="http://schemas.microsoft.com/office/drawing/2014/main" id="{79119513-82EE-04CD-15D1-FC4D8EA13AF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58457"/>
          <a:stretch/>
        </p:blipFill>
        <p:spPr>
          <a:xfrm flipH="1">
            <a:off x="1614299" y="3903993"/>
            <a:ext cx="758643" cy="821648"/>
          </a:xfrm>
          <a:prstGeom prst="rect">
            <a:avLst/>
          </a:prstGeom>
        </p:spPr>
      </p:pic>
      <p:pic>
        <p:nvPicPr>
          <p:cNvPr id="51" name="Espace réservé pour une image  29" descr="Homme en polo">
            <a:extLst>
              <a:ext uri="{FF2B5EF4-FFF2-40B4-BE49-F238E27FC236}">
                <a16:creationId xmlns:a16="http://schemas.microsoft.com/office/drawing/2014/main" id="{AC2509F6-D108-A07A-9E68-CA2979AE592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68548"/>
          <a:stretch/>
        </p:blipFill>
        <p:spPr>
          <a:xfrm flipH="1">
            <a:off x="1893010" y="3990727"/>
            <a:ext cx="869781" cy="735798"/>
          </a:xfrm>
          <a:prstGeom prst="rect">
            <a:avLst/>
          </a:prstGeom>
        </p:spPr>
      </p:pic>
      <p:graphicFrame>
        <p:nvGraphicFramePr>
          <p:cNvPr id="52" name="Tableau 5">
            <a:extLst>
              <a:ext uri="{FF2B5EF4-FFF2-40B4-BE49-F238E27FC236}">
                <a16:creationId xmlns:a16="http://schemas.microsoft.com/office/drawing/2014/main" id="{AC415087-8CA9-66D9-A2C2-881A1EC519A3}"/>
              </a:ext>
            </a:extLst>
          </p:cNvPr>
          <p:cNvGraphicFramePr>
            <a:graphicFrameLocks noGrp="1"/>
          </p:cNvGraphicFramePr>
          <p:nvPr>
            <p:extLst>
              <p:ext uri="{D42A27DB-BD31-4B8C-83A1-F6EECF244321}">
                <p14:modId xmlns:p14="http://schemas.microsoft.com/office/powerpoint/2010/main" val="3989400429"/>
              </p:ext>
            </p:extLst>
          </p:nvPr>
        </p:nvGraphicFramePr>
        <p:xfrm>
          <a:off x="8292459" y="2745437"/>
          <a:ext cx="2297168" cy="616991"/>
        </p:xfrm>
        <a:graphic>
          <a:graphicData uri="http://schemas.openxmlformats.org/drawingml/2006/table">
            <a:tbl>
              <a:tblPr firstRow="1" bandRow="1">
                <a:tableStyleId>{073A0DAA-6AF3-43AB-8588-CEC1D06C72B9}</a:tableStyleId>
              </a:tblPr>
              <a:tblGrid>
                <a:gridCol w="287146">
                  <a:extLst>
                    <a:ext uri="{9D8B030D-6E8A-4147-A177-3AD203B41FA5}">
                      <a16:colId xmlns:a16="http://schemas.microsoft.com/office/drawing/2014/main" val="1486018635"/>
                    </a:ext>
                  </a:extLst>
                </a:gridCol>
                <a:gridCol w="287146">
                  <a:extLst>
                    <a:ext uri="{9D8B030D-6E8A-4147-A177-3AD203B41FA5}">
                      <a16:colId xmlns:a16="http://schemas.microsoft.com/office/drawing/2014/main" val="761339006"/>
                    </a:ext>
                  </a:extLst>
                </a:gridCol>
                <a:gridCol w="287146">
                  <a:extLst>
                    <a:ext uri="{9D8B030D-6E8A-4147-A177-3AD203B41FA5}">
                      <a16:colId xmlns:a16="http://schemas.microsoft.com/office/drawing/2014/main" val="416087062"/>
                    </a:ext>
                  </a:extLst>
                </a:gridCol>
                <a:gridCol w="287146">
                  <a:extLst>
                    <a:ext uri="{9D8B030D-6E8A-4147-A177-3AD203B41FA5}">
                      <a16:colId xmlns:a16="http://schemas.microsoft.com/office/drawing/2014/main" val="2064857721"/>
                    </a:ext>
                  </a:extLst>
                </a:gridCol>
                <a:gridCol w="287146">
                  <a:extLst>
                    <a:ext uri="{9D8B030D-6E8A-4147-A177-3AD203B41FA5}">
                      <a16:colId xmlns:a16="http://schemas.microsoft.com/office/drawing/2014/main" val="183491405"/>
                    </a:ext>
                  </a:extLst>
                </a:gridCol>
                <a:gridCol w="287146">
                  <a:extLst>
                    <a:ext uri="{9D8B030D-6E8A-4147-A177-3AD203B41FA5}">
                      <a16:colId xmlns:a16="http://schemas.microsoft.com/office/drawing/2014/main" val="3364014230"/>
                    </a:ext>
                  </a:extLst>
                </a:gridCol>
                <a:gridCol w="287146">
                  <a:extLst>
                    <a:ext uri="{9D8B030D-6E8A-4147-A177-3AD203B41FA5}">
                      <a16:colId xmlns:a16="http://schemas.microsoft.com/office/drawing/2014/main" val="365145181"/>
                    </a:ext>
                  </a:extLst>
                </a:gridCol>
                <a:gridCol w="287146">
                  <a:extLst>
                    <a:ext uri="{9D8B030D-6E8A-4147-A177-3AD203B41FA5}">
                      <a16:colId xmlns:a16="http://schemas.microsoft.com/office/drawing/2014/main" val="1628287487"/>
                    </a:ext>
                  </a:extLst>
                </a:gridCol>
              </a:tblGrid>
              <a:tr h="195995">
                <a:tc>
                  <a:txBody>
                    <a:bodyPr/>
                    <a:lstStyle/>
                    <a:p>
                      <a:pPr algn="ctr"/>
                      <a:r>
                        <a:rPr lang="fr-FR" sz="300">
                          <a:solidFill>
                            <a:schemeClr val="bg1"/>
                          </a:solidFill>
                        </a:rPr>
                        <a:t>PAS ENCORE COMMENCÉ</a:t>
                      </a:r>
                    </a:p>
                  </a:txBody>
                  <a:tcPr marL="27174" marR="27174" marT="13587" marB="13587">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INSPIRATION</a:t>
                      </a:r>
                    </a:p>
                    <a:p>
                      <a:pPr algn="ctr"/>
                      <a:endParaRPr lang="fr-FR" sz="300">
                        <a:solidFill>
                          <a:schemeClr val="bg1"/>
                        </a:solidFill>
                      </a:endParaRPr>
                    </a:p>
                  </a:txBody>
                  <a:tcPr marL="27174" marR="27174" marT="13587" marB="13587">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COLLECTE</a:t>
                      </a:r>
                    </a:p>
                    <a:p>
                      <a:pPr algn="ctr"/>
                      <a:endParaRPr lang="fr-FR" sz="300">
                        <a:solidFill>
                          <a:schemeClr val="bg1"/>
                        </a:solidFill>
                      </a:endParaRPr>
                    </a:p>
                  </a:txBody>
                  <a:tcPr marL="27174" marR="27174" marT="13587" marB="13587">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INITIATION</a:t>
                      </a:r>
                    </a:p>
                    <a:p>
                      <a:pPr algn="ctr"/>
                      <a:endParaRPr lang="fr-FR" sz="300">
                        <a:solidFill>
                          <a:schemeClr val="bg1"/>
                        </a:solidFill>
                      </a:endParaRPr>
                    </a:p>
                  </a:txBody>
                  <a:tcPr marL="27174" marR="27174" marT="13587" marB="13587">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CHOC DE LA RÉALITÉ</a:t>
                      </a:r>
                    </a:p>
                    <a:p>
                      <a:pPr algn="ctr"/>
                      <a:endParaRPr lang="fr-FR" sz="300">
                        <a:solidFill>
                          <a:schemeClr val="bg1"/>
                        </a:solidFill>
                      </a:endParaRPr>
                    </a:p>
                  </a:txBody>
                  <a:tcPr marL="27174" marR="27174" marT="13587" marB="13587">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CONFIRMATION DE RÉUSSITES</a:t>
                      </a:r>
                    </a:p>
                    <a:p>
                      <a:pPr algn="ctr"/>
                      <a:endParaRPr lang="fr-FR" sz="300">
                        <a:solidFill>
                          <a:schemeClr val="bg1"/>
                        </a:solidFill>
                      </a:endParaRPr>
                    </a:p>
                  </a:txBody>
                  <a:tcPr marL="27174" marR="27174" marT="13587" marB="13587">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00" b="1" i="1">
                          <a:solidFill>
                            <a:schemeClr val="bg1"/>
                          </a:solidFill>
                        </a:rPr>
                        <a:t>EXPOSITION</a:t>
                      </a:r>
                    </a:p>
                    <a:p>
                      <a:pPr algn="ctr"/>
                      <a:endParaRPr lang="fr-FR" sz="300">
                        <a:solidFill>
                          <a:schemeClr val="bg1"/>
                        </a:solidFill>
                      </a:endParaRPr>
                    </a:p>
                  </a:txBody>
                  <a:tcPr marL="27174" marR="27174" marT="13587" marB="13587">
                    <a:solidFill>
                      <a:schemeClr val="accent1"/>
                    </a:solidFill>
                  </a:tcPr>
                </a:tc>
                <a:tc>
                  <a:txBody>
                    <a:bodyPr/>
                    <a:lstStyle/>
                    <a:p>
                      <a:pPr marL="0" indent="0" algn="ctr">
                        <a:buFont typeface="Arial" panose="020B0604020202020204" pitchFamily="34" charset="0"/>
                        <a:buNone/>
                      </a:pPr>
                      <a:r>
                        <a:rPr lang="fr-FR" sz="300" b="1" i="1">
                          <a:solidFill>
                            <a:schemeClr val="bg1"/>
                          </a:solidFill>
                        </a:rPr>
                        <a:t>FORTIFICATION</a:t>
                      </a:r>
                    </a:p>
                    <a:p>
                      <a:pPr marL="0" indent="0" algn="ctr">
                        <a:buFont typeface="Arial" panose="020B0604020202020204" pitchFamily="34" charset="0"/>
                        <a:buNone/>
                      </a:pPr>
                      <a:endParaRPr lang="fr-FR" sz="300" b="1" i="1">
                        <a:solidFill>
                          <a:schemeClr val="bg1"/>
                        </a:solidFill>
                      </a:endParaRPr>
                    </a:p>
                    <a:p>
                      <a:pPr algn="ctr"/>
                      <a:endParaRPr lang="fr-FR" sz="300">
                        <a:solidFill>
                          <a:schemeClr val="bg1"/>
                        </a:solidFill>
                      </a:endParaRPr>
                    </a:p>
                  </a:txBody>
                  <a:tcPr marL="27174" marR="27174" marT="13587" marB="13587">
                    <a:solidFill>
                      <a:schemeClr val="accent1"/>
                    </a:solidFill>
                  </a:tcPr>
                </a:tc>
                <a:extLst>
                  <a:ext uri="{0D108BD9-81ED-4DB2-BD59-A6C34878D82A}">
                    <a16:rowId xmlns:a16="http://schemas.microsoft.com/office/drawing/2014/main" val="3579208894"/>
                  </a:ext>
                </a:extLst>
              </a:tr>
              <a:tr h="406937">
                <a:tc>
                  <a:txBody>
                    <a:bodyPr/>
                    <a:lstStyle/>
                    <a:p>
                      <a:endParaRPr lang="fr-FR" sz="500"/>
                    </a:p>
                  </a:txBody>
                  <a:tcPr marL="27174" marR="27174" marT="13587" marB="13587"/>
                </a:tc>
                <a:tc>
                  <a:txBody>
                    <a:bodyPr/>
                    <a:lstStyle/>
                    <a:p>
                      <a:endParaRPr lang="fr-FR" sz="500"/>
                    </a:p>
                  </a:txBody>
                  <a:tcPr marL="27174" marR="27174" marT="13587" marB="13587"/>
                </a:tc>
                <a:tc>
                  <a:txBody>
                    <a:bodyPr/>
                    <a:lstStyle/>
                    <a:p>
                      <a:endParaRPr lang="fr-FR" sz="500"/>
                    </a:p>
                  </a:txBody>
                  <a:tcPr marL="27174" marR="27174" marT="13587" marB="13587"/>
                </a:tc>
                <a:tc>
                  <a:txBody>
                    <a:bodyPr/>
                    <a:lstStyle/>
                    <a:p>
                      <a:endParaRPr lang="fr-FR" sz="500"/>
                    </a:p>
                  </a:txBody>
                  <a:tcPr marL="27174" marR="27174" marT="13587" marB="13587"/>
                </a:tc>
                <a:tc>
                  <a:txBody>
                    <a:bodyPr/>
                    <a:lstStyle/>
                    <a:p>
                      <a:endParaRPr lang="fr-FR" sz="500"/>
                    </a:p>
                  </a:txBody>
                  <a:tcPr marL="27174" marR="27174" marT="13587" marB="13587"/>
                </a:tc>
                <a:tc>
                  <a:txBody>
                    <a:bodyPr/>
                    <a:lstStyle/>
                    <a:p>
                      <a:endParaRPr lang="fr-FR" sz="500"/>
                    </a:p>
                  </a:txBody>
                  <a:tcPr marL="27174" marR="27174" marT="13587" marB="13587"/>
                </a:tc>
                <a:tc>
                  <a:txBody>
                    <a:bodyPr/>
                    <a:lstStyle/>
                    <a:p>
                      <a:endParaRPr lang="fr-FR" sz="500"/>
                    </a:p>
                  </a:txBody>
                  <a:tcPr marL="27174" marR="27174" marT="13587" marB="13587"/>
                </a:tc>
                <a:tc>
                  <a:txBody>
                    <a:bodyPr/>
                    <a:lstStyle/>
                    <a:p>
                      <a:endParaRPr lang="fr-FR" sz="500" dirty="0"/>
                    </a:p>
                  </a:txBody>
                  <a:tcPr marL="27174" marR="27174" marT="13587" marB="13587"/>
                </a:tc>
                <a:extLst>
                  <a:ext uri="{0D108BD9-81ED-4DB2-BD59-A6C34878D82A}">
                    <a16:rowId xmlns:a16="http://schemas.microsoft.com/office/drawing/2014/main" val="1415023090"/>
                  </a:ext>
                </a:extLst>
              </a:tr>
            </a:tbl>
          </a:graphicData>
        </a:graphic>
      </p:graphicFrame>
      <p:grpSp>
        <p:nvGrpSpPr>
          <p:cNvPr id="66" name="Groupe 65">
            <a:extLst>
              <a:ext uri="{FF2B5EF4-FFF2-40B4-BE49-F238E27FC236}">
                <a16:creationId xmlns:a16="http://schemas.microsoft.com/office/drawing/2014/main" id="{02E8F0D3-39A4-51DA-2CC3-765CB571A48F}"/>
              </a:ext>
            </a:extLst>
          </p:cNvPr>
          <p:cNvGrpSpPr/>
          <p:nvPr/>
        </p:nvGrpSpPr>
        <p:grpSpPr>
          <a:xfrm>
            <a:off x="8381641" y="3012475"/>
            <a:ext cx="1820305" cy="301059"/>
            <a:chOff x="4336624" y="3171547"/>
            <a:chExt cx="6102518" cy="1009292"/>
          </a:xfrm>
        </p:grpSpPr>
        <p:sp>
          <p:nvSpPr>
            <p:cNvPr id="67" name="Rectangle 66">
              <a:extLst>
                <a:ext uri="{FF2B5EF4-FFF2-40B4-BE49-F238E27FC236}">
                  <a16:creationId xmlns:a16="http://schemas.microsoft.com/office/drawing/2014/main" id="{34F1123C-F478-6B52-BF22-350C39DD4707}"/>
                </a:ext>
              </a:extLst>
            </p:cNvPr>
            <p:cNvSpPr/>
            <p:nvPr/>
          </p:nvSpPr>
          <p:spPr>
            <a:xfrm>
              <a:off x="5291092"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68" name="Rectangle 67">
              <a:extLst>
                <a:ext uri="{FF2B5EF4-FFF2-40B4-BE49-F238E27FC236}">
                  <a16:creationId xmlns:a16="http://schemas.microsoft.com/office/drawing/2014/main" id="{C8344B81-0893-56C3-B8BA-DA167E9AF332}"/>
                </a:ext>
              </a:extLst>
            </p:cNvPr>
            <p:cNvSpPr/>
            <p:nvPr/>
          </p:nvSpPr>
          <p:spPr>
            <a:xfrm>
              <a:off x="5291091" y="3604935"/>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69" name="Rectangle 68">
              <a:extLst>
                <a:ext uri="{FF2B5EF4-FFF2-40B4-BE49-F238E27FC236}">
                  <a16:creationId xmlns:a16="http://schemas.microsoft.com/office/drawing/2014/main" id="{7E71F9D8-BA6C-9C03-CB46-BC51908A2317}"/>
                </a:ext>
              </a:extLst>
            </p:cNvPr>
            <p:cNvSpPr/>
            <p:nvPr/>
          </p:nvSpPr>
          <p:spPr>
            <a:xfrm>
              <a:off x="6267403"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0" name="Rectangle 69">
              <a:extLst>
                <a:ext uri="{FF2B5EF4-FFF2-40B4-BE49-F238E27FC236}">
                  <a16:creationId xmlns:a16="http://schemas.microsoft.com/office/drawing/2014/main" id="{39C3D19E-E678-4927-05A4-9B40D9004515}"/>
                </a:ext>
              </a:extLst>
            </p:cNvPr>
            <p:cNvSpPr/>
            <p:nvPr/>
          </p:nvSpPr>
          <p:spPr>
            <a:xfrm>
              <a:off x="7243714"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1" name="Rectangle 70">
              <a:extLst>
                <a:ext uri="{FF2B5EF4-FFF2-40B4-BE49-F238E27FC236}">
                  <a16:creationId xmlns:a16="http://schemas.microsoft.com/office/drawing/2014/main" id="{BC09ADA7-191E-3EE6-22BD-E9B48E75A716}"/>
                </a:ext>
              </a:extLst>
            </p:cNvPr>
            <p:cNvSpPr/>
            <p:nvPr/>
          </p:nvSpPr>
          <p:spPr>
            <a:xfrm>
              <a:off x="8220025"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2" name="Rectangle 71">
              <a:extLst>
                <a:ext uri="{FF2B5EF4-FFF2-40B4-BE49-F238E27FC236}">
                  <a16:creationId xmlns:a16="http://schemas.microsoft.com/office/drawing/2014/main" id="{369FC9B6-E961-08FA-E86E-DE66602A8A8F}"/>
                </a:ext>
              </a:extLst>
            </p:cNvPr>
            <p:cNvSpPr/>
            <p:nvPr/>
          </p:nvSpPr>
          <p:spPr>
            <a:xfrm>
              <a:off x="8220024" y="35329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3" name="Rectangle 72">
              <a:extLst>
                <a:ext uri="{FF2B5EF4-FFF2-40B4-BE49-F238E27FC236}">
                  <a16:creationId xmlns:a16="http://schemas.microsoft.com/office/drawing/2014/main" id="{EAC6CCEB-2B1D-7103-D0EB-C2FB26F5A5B4}"/>
                </a:ext>
              </a:extLst>
            </p:cNvPr>
            <p:cNvSpPr/>
            <p:nvPr/>
          </p:nvSpPr>
          <p:spPr>
            <a:xfrm>
              <a:off x="4336743"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4" name="Rectangle 73">
              <a:extLst>
                <a:ext uri="{FF2B5EF4-FFF2-40B4-BE49-F238E27FC236}">
                  <a16:creationId xmlns:a16="http://schemas.microsoft.com/office/drawing/2014/main" id="{898F2951-00F4-CBC3-E2AD-D66DF51237A1}"/>
                </a:ext>
              </a:extLst>
            </p:cNvPr>
            <p:cNvSpPr/>
            <p:nvPr/>
          </p:nvSpPr>
          <p:spPr>
            <a:xfrm>
              <a:off x="4678416"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5" name="Rectangle 74">
              <a:extLst>
                <a:ext uri="{FF2B5EF4-FFF2-40B4-BE49-F238E27FC236}">
                  <a16:creationId xmlns:a16="http://schemas.microsoft.com/office/drawing/2014/main" id="{34CAE846-8EE7-133D-2A7F-99841B16C458}"/>
                </a:ext>
              </a:extLst>
            </p:cNvPr>
            <p:cNvSpPr/>
            <p:nvPr/>
          </p:nvSpPr>
          <p:spPr>
            <a:xfrm>
              <a:off x="4678415" y="35329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6" name="Rectangle 75">
              <a:extLst>
                <a:ext uri="{FF2B5EF4-FFF2-40B4-BE49-F238E27FC236}">
                  <a16:creationId xmlns:a16="http://schemas.microsoft.com/office/drawing/2014/main" id="{2AE9D82A-92EB-E6C0-535A-AF24330929D4}"/>
                </a:ext>
              </a:extLst>
            </p:cNvPr>
            <p:cNvSpPr/>
            <p:nvPr/>
          </p:nvSpPr>
          <p:spPr>
            <a:xfrm>
              <a:off x="4336624" y="3526545"/>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7" name="Rectangle 76">
              <a:extLst>
                <a:ext uri="{FF2B5EF4-FFF2-40B4-BE49-F238E27FC236}">
                  <a16:creationId xmlns:a16="http://schemas.microsoft.com/office/drawing/2014/main" id="{28E2807C-EAA2-8C84-3D7F-386791CDF3D1}"/>
                </a:ext>
              </a:extLst>
            </p:cNvPr>
            <p:cNvSpPr/>
            <p:nvPr/>
          </p:nvSpPr>
          <p:spPr>
            <a:xfrm>
              <a:off x="4336624" y="387011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sp>
          <p:nvSpPr>
            <p:cNvPr id="78" name="Rectangle 77">
              <a:extLst>
                <a:ext uri="{FF2B5EF4-FFF2-40B4-BE49-F238E27FC236}">
                  <a16:creationId xmlns:a16="http://schemas.microsoft.com/office/drawing/2014/main" id="{462579A0-711A-AF1D-A3F5-A0012A7B1162}"/>
                </a:ext>
              </a:extLst>
            </p:cNvPr>
            <p:cNvSpPr/>
            <p:nvPr/>
          </p:nvSpPr>
          <p:spPr>
            <a:xfrm>
              <a:off x="10146179" y="317154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solidFill>
                  <a:schemeClr val="tx1"/>
                </a:solidFill>
              </a:endParaRPr>
            </a:p>
          </p:txBody>
        </p:sp>
      </p:grpSp>
      <p:sp>
        <p:nvSpPr>
          <p:cNvPr id="65" name="ZoneTexte 64">
            <a:extLst>
              <a:ext uri="{FF2B5EF4-FFF2-40B4-BE49-F238E27FC236}">
                <a16:creationId xmlns:a16="http://schemas.microsoft.com/office/drawing/2014/main" id="{7AC79516-9A05-B579-1D7A-D4DE514F6619}"/>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algn="ctr"/>
            <a:r>
              <a:rPr lang="fr-FR" sz="3200" b="1" i="1"/>
              <a:t>Atelier CCC-Flow – </a:t>
            </a:r>
            <a:r>
              <a:rPr lang="fr-FR" sz="3200" b="1" i="1">
                <a:solidFill>
                  <a:srgbClr val="ED7D31"/>
                </a:solidFill>
              </a:rPr>
              <a:t>Vue d'ensemble</a:t>
            </a:r>
            <a:endParaRPr lang="fr-FR" sz="3200">
              <a:solidFill>
                <a:srgbClr val="000000"/>
              </a:solidFill>
              <a:cs typeface="Calibri"/>
            </a:endParaRPr>
          </a:p>
        </p:txBody>
      </p:sp>
      <p:sp>
        <p:nvSpPr>
          <p:cNvPr id="64" name="Rectangle 63">
            <a:extLst>
              <a:ext uri="{FF2B5EF4-FFF2-40B4-BE49-F238E27FC236}">
                <a16:creationId xmlns:a16="http://schemas.microsoft.com/office/drawing/2014/main" id="{37E5B1F9-9E48-AB00-BB0F-B21F2F84BB7B}"/>
              </a:ext>
            </a:extLst>
          </p:cNvPr>
          <p:cNvSpPr/>
          <p:nvPr/>
        </p:nvSpPr>
        <p:spPr>
          <a:xfrm>
            <a:off x="4703216" y="3084308"/>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RSE</a:t>
            </a:r>
          </a:p>
        </p:txBody>
      </p:sp>
      <p:sp>
        <p:nvSpPr>
          <p:cNvPr id="79" name="Rectangle 78">
            <a:extLst>
              <a:ext uri="{FF2B5EF4-FFF2-40B4-BE49-F238E27FC236}">
                <a16:creationId xmlns:a16="http://schemas.microsoft.com/office/drawing/2014/main" id="{05308B5F-796E-B80E-1A67-5798D3EDC770}"/>
              </a:ext>
            </a:extLst>
          </p:cNvPr>
          <p:cNvSpPr/>
          <p:nvPr/>
        </p:nvSpPr>
        <p:spPr>
          <a:xfrm>
            <a:off x="5981783" y="3195084"/>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IA</a:t>
            </a:r>
          </a:p>
        </p:txBody>
      </p:sp>
      <p:sp>
        <p:nvSpPr>
          <p:cNvPr id="80" name="Rectangle 79">
            <a:extLst>
              <a:ext uri="{FF2B5EF4-FFF2-40B4-BE49-F238E27FC236}">
                <a16:creationId xmlns:a16="http://schemas.microsoft.com/office/drawing/2014/main" id="{5A03B356-B637-16FA-0E28-C57B323BA7C6}"/>
              </a:ext>
            </a:extLst>
          </p:cNvPr>
          <p:cNvSpPr/>
          <p:nvPr/>
        </p:nvSpPr>
        <p:spPr>
          <a:xfrm>
            <a:off x="6539941" y="3268728"/>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IOT</a:t>
            </a:r>
          </a:p>
        </p:txBody>
      </p:sp>
      <p:sp>
        <p:nvSpPr>
          <p:cNvPr id="81" name="Rectangle 80">
            <a:extLst>
              <a:ext uri="{FF2B5EF4-FFF2-40B4-BE49-F238E27FC236}">
                <a16:creationId xmlns:a16="http://schemas.microsoft.com/office/drawing/2014/main" id="{C93E0B44-9048-C925-A817-613B8E5389EB}"/>
              </a:ext>
            </a:extLst>
          </p:cNvPr>
          <p:cNvSpPr/>
          <p:nvPr/>
        </p:nvSpPr>
        <p:spPr>
          <a:xfrm>
            <a:off x="5195359" y="3024626"/>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RGPD</a:t>
            </a:r>
          </a:p>
        </p:txBody>
      </p:sp>
      <p:sp>
        <p:nvSpPr>
          <p:cNvPr id="82" name="Rectangle 81">
            <a:extLst>
              <a:ext uri="{FF2B5EF4-FFF2-40B4-BE49-F238E27FC236}">
                <a16:creationId xmlns:a16="http://schemas.microsoft.com/office/drawing/2014/main" id="{06C11385-2301-8E3A-95A8-E1BF8E71917A}"/>
              </a:ext>
            </a:extLst>
          </p:cNvPr>
          <p:cNvSpPr/>
          <p:nvPr/>
        </p:nvSpPr>
        <p:spPr>
          <a:xfrm>
            <a:off x="4733317" y="1790341"/>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83" name="Rectangle 82">
            <a:extLst>
              <a:ext uri="{FF2B5EF4-FFF2-40B4-BE49-F238E27FC236}">
                <a16:creationId xmlns:a16="http://schemas.microsoft.com/office/drawing/2014/main" id="{0564CCEC-8FB4-6AD4-4FC9-C05964645600}"/>
              </a:ext>
            </a:extLst>
          </p:cNvPr>
          <p:cNvSpPr/>
          <p:nvPr/>
        </p:nvSpPr>
        <p:spPr>
          <a:xfrm>
            <a:off x="4723439" y="2304653"/>
            <a:ext cx="444251" cy="4120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84" name="Rectangle 83">
            <a:extLst>
              <a:ext uri="{FF2B5EF4-FFF2-40B4-BE49-F238E27FC236}">
                <a16:creationId xmlns:a16="http://schemas.microsoft.com/office/drawing/2014/main" id="{4A142DB8-1BF2-A0E0-FD14-0BBEFA110306}"/>
              </a:ext>
            </a:extLst>
          </p:cNvPr>
          <p:cNvSpPr/>
          <p:nvPr/>
        </p:nvSpPr>
        <p:spPr>
          <a:xfrm>
            <a:off x="5239249" y="1790341"/>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85" name="Rectangle 84">
            <a:extLst>
              <a:ext uri="{FF2B5EF4-FFF2-40B4-BE49-F238E27FC236}">
                <a16:creationId xmlns:a16="http://schemas.microsoft.com/office/drawing/2014/main" id="{1C0C4D53-9395-993B-B3B9-DC4E26BDEB74}"/>
              </a:ext>
            </a:extLst>
          </p:cNvPr>
          <p:cNvSpPr/>
          <p:nvPr/>
        </p:nvSpPr>
        <p:spPr>
          <a:xfrm>
            <a:off x="5229371" y="2304653"/>
            <a:ext cx="444251" cy="4120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86" name="Rectangle 85">
            <a:extLst>
              <a:ext uri="{FF2B5EF4-FFF2-40B4-BE49-F238E27FC236}">
                <a16:creationId xmlns:a16="http://schemas.microsoft.com/office/drawing/2014/main" id="{F14DA6BE-CBDC-7883-4DC3-DB749F248656}"/>
              </a:ext>
            </a:extLst>
          </p:cNvPr>
          <p:cNvSpPr/>
          <p:nvPr/>
        </p:nvSpPr>
        <p:spPr>
          <a:xfrm>
            <a:off x="5754079" y="2091396"/>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Tree>
    <p:extLst>
      <p:ext uri="{BB962C8B-B14F-4D97-AF65-F5344CB8AC3E}">
        <p14:creationId xmlns:p14="http://schemas.microsoft.com/office/powerpoint/2010/main" val="2333152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CDC8544D-7FF8-BCE7-DE48-101BBA1DE8CE}"/>
              </a:ext>
            </a:extLst>
          </p:cNvPr>
          <p:cNvSpPr txBox="1">
            <a:spLocks/>
          </p:cNvSpPr>
          <p:nvPr/>
        </p:nvSpPr>
        <p:spPr>
          <a:xfrm>
            <a:off x="1076876" y="5385002"/>
            <a:ext cx="10038248" cy="362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Positionnement </a:t>
            </a:r>
            <a:r>
              <a:rPr lang="fr-FR" sz="1600" b="1" i="1"/>
              <a:t>de</a:t>
            </a:r>
            <a:r>
              <a:rPr lang="fr-FR" sz="1600" b="1" i="1">
                <a:solidFill>
                  <a:srgbClr val="0683AA"/>
                </a:solidFill>
              </a:rPr>
              <a:t> </a:t>
            </a:r>
            <a:r>
              <a:rPr lang="fr-FR" sz="1600" b="1" i="1">
                <a:solidFill>
                  <a:srgbClr val="ED7D31"/>
                </a:solidFill>
              </a:rPr>
              <a:t>tous les sujets </a:t>
            </a:r>
            <a:r>
              <a:rPr lang="fr-FR" sz="1600" b="1" i="1"/>
              <a:t>de changement pour priorisation</a:t>
            </a:r>
            <a:endParaRPr lang="fr-FR" sz="1600" b="1" i="1">
              <a:solidFill>
                <a:srgbClr val="0683AA"/>
              </a:solidFill>
            </a:endParaRPr>
          </a:p>
        </p:txBody>
      </p:sp>
      <p:graphicFrame>
        <p:nvGraphicFramePr>
          <p:cNvPr id="5" name="Tableau 5">
            <a:extLst>
              <a:ext uri="{FF2B5EF4-FFF2-40B4-BE49-F238E27FC236}">
                <a16:creationId xmlns:a16="http://schemas.microsoft.com/office/drawing/2014/main" id="{44FF14FE-AEBA-1284-7FD3-A19FF1EC203A}"/>
              </a:ext>
            </a:extLst>
          </p:cNvPr>
          <p:cNvGraphicFramePr>
            <a:graphicFrameLocks noGrp="1"/>
          </p:cNvGraphicFramePr>
          <p:nvPr>
            <p:extLst>
              <p:ext uri="{D42A27DB-BD31-4B8C-83A1-F6EECF244321}">
                <p14:modId xmlns:p14="http://schemas.microsoft.com/office/powerpoint/2010/main" val="3601309224"/>
              </p:ext>
            </p:extLst>
          </p:nvPr>
        </p:nvGraphicFramePr>
        <p:xfrm>
          <a:off x="1076876" y="2052943"/>
          <a:ext cx="10038248" cy="2752114"/>
        </p:xfrm>
        <a:graphic>
          <a:graphicData uri="http://schemas.openxmlformats.org/drawingml/2006/table">
            <a:tbl>
              <a:tblPr firstRow="1" bandRow="1">
                <a:tableStyleId>{073A0DAA-6AF3-43AB-8588-CEC1D06C72B9}</a:tableStyleId>
              </a:tblPr>
              <a:tblGrid>
                <a:gridCol w="1254781">
                  <a:extLst>
                    <a:ext uri="{9D8B030D-6E8A-4147-A177-3AD203B41FA5}">
                      <a16:colId xmlns:a16="http://schemas.microsoft.com/office/drawing/2014/main" val="1486018635"/>
                    </a:ext>
                  </a:extLst>
                </a:gridCol>
                <a:gridCol w="1254781">
                  <a:extLst>
                    <a:ext uri="{9D8B030D-6E8A-4147-A177-3AD203B41FA5}">
                      <a16:colId xmlns:a16="http://schemas.microsoft.com/office/drawing/2014/main" val="761339006"/>
                    </a:ext>
                  </a:extLst>
                </a:gridCol>
                <a:gridCol w="1254781">
                  <a:extLst>
                    <a:ext uri="{9D8B030D-6E8A-4147-A177-3AD203B41FA5}">
                      <a16:colId xmlns:a16="http://schemas.microsoft.com/office/drawing/2014/main" val="416087062"/>
                    </a:ext>
                  </a:extLst>
                </a:gridCol>
                <a:gridCol w="1254781">
                  <a:extLst>
                    <a:ext uri="{9D8B030D-6E8A-4147-A177-3AD203B41FA5}">
                      <a16:colId xmlns:a16="http://schemas.microsoft.com/office/drawing/2014/main" val="2064857721"/>
                    </a:ext>
                  </a:extLst>
                </a:gridCol>
                <a:gridCol w="1254781">
                  <a:extLst>
                    <a:ext uri="{9D8B030D-6E8A-4147-A177-3AD203B41FA5}">
                      <a16:colId xmlns:a16="http://schemas.microsoft.com/office/drawing/2014/main" val="183491405"/>
                    </a:ext>
                  </a:extLst>
                </a:gridCol>
                <a:gridCol w="1254781">
                  <a:extLst>
                    <a:ext uri="{9D8B030D-6E8A-4147-A177-3AD203B41FA5}">
                      <a16:colId xmlns:a16="http://schemas.microsoft.com/office/drawing/2014/main" val="3364014230"/>
                    </a:ext>
                  </a:extLst>
                </a:gridCol>
                <a:gridCol w="1254781">
                  <a:extLst>
                    <a:ext uri="{9D8B030D-6E8A-4147-A177-3AD203B41FA5}">
                      <a16:colId xmlns:a16="http://schemas.microsoft.com/office/drawing/2014/main" val="365145181"/>
                    </a:ext>
                  </a:extLst>
                </a:gridCol>
                <a:gridCol w="1254781">
                  <a:extLst>
                    <a:ext uri="{9D8B030D-6E8A-4147-A177-3AD203B41FA5}">
                      <a16:colId xmlns:a16="http://schemas.microsoft.com/office/drawing/2014/main" val="1628287487"/>
                    </a:ext>
                  </a:extLst>
                </a:gridCol>
              </a:tblGrid>
              <a:tr h="332194">
                <a:tc>
                  <a:txBody>
                    <a:bodyPr/>
                    <a:lstStyle/>
                    <a:p>
                      <a:pPr algn="ctr"/>
                      <a:r>
                        <a:rPr lang="fr-FR" sz="900">
                          <a:solidFill>
                            <a:schemeClr val="bg1"/>
                          </a:solidFill>
                        </a:rPr>
                        <a:t>PAS ENCORE COMMENCÉ</a:t>
                      </a: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INSPIRATION</a:t>
                      </a:r>
                    </a:p>
                    <a:p>
                      <a:pPr algn="ctr"/>
                      <a:endParaRPr lang="fr-FR" sz="900">
                        <a:solidFill>
                          <a:schemeClr val="bg1"/>
                        </a:solidFill>
                      </a:endParaRP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COLLECTE</a:t>
                      </a:r>
                    </a:p>
                    <a:p>
                      <a:pPr algn="ctr"/>
                      <a:endParaRPr lang="fr-FR" sz="900">
                        <a:solidFill>
                          <a:schemeClr val="bg1"/>
                        </a:solidFill>
                      </a:endParaRP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INITIATION</a:t>
                      </a:r>
                    </a:p>
                    <a:p>
                      <a:pPr algn="ctr"/>
                      <a:endParaRPr lang="fr-FR" sz="900">
                        <a:solidFill>
                          <a:schemeClr val="bg1"/>
                        </a:solidFill>
                      </a:endParaRP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CHOC DE LA RÉALITÉ</a:t>
                      </a:r>
                    </a:p>
                    <a:p>
                      <a:pPr algn="ctr"/>
                      <a:endParaRPr lang="fr-FR" sz="900">
                        <a:solidFill>
                          <a:schemeClr val="bg1"/>
                        </a:solidFill>
                      </a:endParaRP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CONFIRMATION DE RÉUSSITES</a:t>
                      </a:r>
                    </a:p>
                    <a:p>
                      <a:pPr algn="ctr"/>
                      <a:endParaRPr lang="fr-FR" sz="900">
                        <a:solidFill>
                          <a:schemeClr val="bg1"/>
                        </a:solidFill>
                      </a:endParaRP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EXPOSITION</a:t>
                      </a:r>
                    </a:p>
                    <a:p>
                      <a:pPr algn="ctr"/>
                      <a:endParaRPr lang="fr-FR" sz="900">
                        <a:solidFill>
                          <a:schemeClr val="bg1"/>
                        </a:solidFill>
                      </a:endParaRPr>
                    </a:p>
                  </a:txBody>
                  <a:tcPr>
                    <a:solidFill>
                      <a:srgbClr val="0683AA"/>
                    </a:solidFill>
                  </a:tcPr>
                </a:tc>
                <a:tc>
                  <a:txBody>
                    <a:bodyPr/>
                    <a:lstStyle/>
                    <a:p>
                      <a:pPr marL="0" indent="0" algn="ctr">
                        <a:buFont typeface="Arial" panose="020B0604020202020204" pitchFamily="34" charset="0"/>
                        <a:buNone/>
                      </a:pPr>
                      <a:r>
                        <a:rPr lang="fr-FR" sz="900" b="1" i="1">
                          <a:solidFill>
                            <a:schemeClr val="bg1"/>
                          </a:solidFill>
                        </a:rPr>
                        <a:t>FORTIFICATION</a:t>
                      </a:r>
                    </a:p>
                    <a:p>
                      <a:pPr marL="0" indent="0" algn="ctr">
                        <a:buFont typeface="Arial" panose="020B0604020202020204" pitchFamily="34" charset="0"/>
                        <a:buNone/>
                      </a:pPr>
                      <a:endParaRPr lang="fr-FR" sz="900" b="1" i="1">
                        <a:solidFill>
                          <a:schemeClr val="bg1"/>
                        </a:solidFill>
                      </a:endParaRPr>
                    </a:p>
                    <a:p>
                      <a:pPr algn="ctr"/>
                      <a:endParaRPr lang="fr-FR" sz="900">
                        <a:solidFill>
                          <a:schemeClr val="bg1"/>
                        </a:solidFill>
                      </a:endParaRPr>
                    </a:p>
                  </a:txBody>
                  <a:tcPr>
                    <a:solidFill>
                      <a:srgbClr val="0683AA"/>
                    </a:solidFill>
                  </a:tcPr>
                </a:tc>
                <a:extLst>
                  <a:ext uri="{0D108BD9-81ED-4DB2-BD59-A6C34878D82A}">
                    <a16:rowId xmlns:a16="http://schemas.microsoft.com/office/drawing/2014/main" val="3579208894"/>
                  </a:ext>
                </a:extLst>
              </a:tr>
              <a:tr h="2249194">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1415023090"/>
                  </a:ext>
                </a:extLst>
              </a:tr>
            </a:tbl>
          </a:graphicData>
        </a:graphic>
      </p:graphicFrame>
      <p:sp>
        <p:nvSpPr>
          <p:cNvPr id="6" name="Rectangle 5">
            <a:extLst>
              <a:ext uri="{FF2B5EF4-FFF2-40B4-BE49-F238E27FC236}">
                <a16:creationId xmlns:a16="http://schemas.microsoft.com/office/drawing/2014/main" id="{EAD7BEE4-4E26-E1CB-66F3-0BF8CFA4291F}"/>
              </a:ext>
            </a:extLst>
          </p:cNvPr>
          <p:cNvSpPr/>
          <p:nvPr/>
        </p:nvSpPr>
        <p:spPr>
          <a:xfrm>
            <a:off x="2683366" y="3002409"/>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RDD</a:t>
            </a:r>
          </a:p>
        </p:txBody>
      </p:sp>
      <p:sp>
        <p:nvSpPr>
          <p:cNvPr id="7" name="Rectangle 6">
            <a:extLst>
              <a:ext uri="{FF2B5EF4-FFF2-40B4-BE49-F238E27FC236}">
                <a16:creationId xmlns:a16="http://schemas.microsoft.com/office/drawing/2014/main" id="{14D28994-81F6-C522-D4A1-1BDAE40ED8D7}"/>
              </a:ext>
            </a:extLst>
          </p:cNvPr>
          <p:cNvSpPr/>
          <p:nvPr/>
        </p:nvSpPr>
        <p:spPr>
          <a:xfrm>
            <a:off x="2537433" y="3736080"/>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8" name="Rectangle 7">
            <a:extLst>
              <a:ext uri="{FF2B5EF4-FFF2-40B4-BE49-F238E27FC236}">
                <a16:creationId xmlns:a16="http://schemas.microsoft.com/office/drawing/2014/main" id="{52EA49C2-1A63-0E0B-7FCE-C8EFCC85820A}"/>
              </a:ext>
            </a:extLst>
          </p:cNvPr>
          <p:cNvSpPr/>
          <p:nvPr/>
        </p:nvSpPr>
        <p:spPr>
          <a:xfrm>
            <a:off x="3663292" y="2995318"/>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9" name="Rectangle 8">
            <a:extLst>
              <a:ext uri="{FF2B5EF4-FFF2-40B4-BE49-F238E27FC236}">
                <a16:creationId xmlns:a16="http://schemas.microsoft.com/office/drawing/2014/main" id="{D2BD97C0-B4F4-0E89-6633-A902B34DE3D1}"/>
              </a:ext>
            </a:extLst>
          </p:cNvPr>
          <p:cNvSpPr/>
          <p:nvPr/>
        </p:nvSpPr>
        <p:spPr>
          <a:xfrm>
            <a:off x="4950959" y="3202689"/>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IA</a:t>
            </a:r>
          </a:p>
        </p:txBody>
      </p:sp>
      <p:sp>
        <p:nvSpPr>
          <p:cNvPr id="10" name="Rectangle 9">
            <a:extLst>
              <a:ext uri="{FF2B5EF4-FFF2-40B4-BE49-F238E27FC236}">
                <a16:creationId xmlns:a16="http://schemas.microsoft.com/office/drawing/2014/main" id="{F1ED142C-1269-00A8-C0F8-F164B25EA4B7}"/>
              </a:ext>
            </a:extLst>
          </p:cNvPr>
          <p:cNvSpPr/>
          <p:nvPr/>
        </p:nvSpPr>
        <p:spPr>
          <a:xfrm>
            <a:off x="6722653" y="3185718"/>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1" name="Rectangle 10">
            <a:extLst>
              <a:ext uri="{FF2B5EF4-FFF2-40B4-BE49-F238E27FC236}">
                <a16:creationId xmlns:a16="http://schemas.microsoft.com/office/drawing/2014/main" id="{D45FA19E-1ACC-82DF-0FE2-3CD30EB304A6}"/>
              </a:ext>
            </a:extLst>
          </p:cNvPr>
          <p:cNvSpPr/>
          <p:nvPr/>
        </p:nvSpPr>
        <p:spPr>
          <a:xfrm>
            <a:off x="6382027" y="3855899"/>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2" name="Rectangle 11">
            <a:extLst>
              <a:ext uri="{FF2B5EF4-FFF2-40B4-BE49-F238E27FC236}">
                <a16:creationId xmlns:a16="http://schemas.microsoft.com/office/drawing/2014/main" id="{FD0909D5-7473-CD88-DEDF-EA80084586C2}"/>
              </a:ext>
            </a:extLst>
          </p:cNvPr>
          <p:cNvSpPr/>
          <p:nvPr/>
        </p:nvSpPr>
        <p:spPr>
          <a:xfrm>
            <a:off x="1368669" y="2799041"/>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RSE</a:t>
            </a:r>
          </a:p>
        </p:txBody>
      </p:sp>
      <p:sp>
        <p:nvSpPr>
          <p:cNvPr id="13" name="Rectangle 12">
            <a:extLst>
              <a:ext uri="{FF2B5EF4-FFF2-40B4-BE49-F238E27FC236}">
                <a16:creationId xmlns:a16="http://schemas.microsoft.com/office/drawing/2014/main" id="{4EEDB63D-5A9E-9CC2-AB0A-08CFC9A4F997}"/>
              </a:ext>
            </a:extLst>
          </p:cNvPr>
          <p:cNvSpPr/>
          <p:nvPr/>
        </p:nvSpPr>
        <p:spPr>
          <a:xfrm>
            <a:off x="1849754" y="2900415"/>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RGPD</a:t>
            </a:r>
          </a:p>
        </p:txBody>
      </p:sp>
      <p:sp>
        <p:nvSpPr>
          <p:cNvPr id="14" name="Rectangle 13">
            <a:extLst>
              <a:ext uri="{FF2B5EF4-FFF2-40B4-BE49-F238E27FC236}">
                <a16:creationId xmlns:a16="http://schemas.microsoft.com/office/drawing/2014/main" id="{11B6F80F-AEB4-980E-60AE-FBE55155D5E0}"/>
              </a:ext>
            </a:extLst>
          </p:cNvPr>
          <p:cNvSpPr/>
          <p:nvPr/>
        </p:nvSpPr>
        <p:spPr>
          <a:xfrm>
            <a:off x="1722728" y="3534703"/>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IOT</a:t>
            </a:r>
          </a:p>
        </p:txBody>
      </p:sp>
      <p:sp>
        <p:nvSpPr>
          <p:cNvPr id="15" name="Rectangle 14">
            <a:extLst>
              <a:ext uri="{FF2B5EF4-FFF2-40B4-BE49-F238E27FC236}">
                <a16:creationId xmlns:a16="http://schemas.microsoft.com/office/drawing/2014/main" id="{8AC9C19E-86A6-B95E-4879-592F472F57F6}"/>
              </a:ext>
            </a:extLst>
          </p:cNvPr>
          <p:cNvSpPr/>
          <p:nvPr/>
        </p:nvSpPr>
        <p:spPr>
          <a:xfrm>
            <a:off x="1250836" y="3383419"/>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7" name="Rectangle 16">
            <a:extLst>
              <a:ext uri="{FF2B5EF4-FFF2-40B4-BE49-F238E27FC236}">
                <a16:creationId xmlns:a16="http://schemas.microsoft.com/office/drawing/2014/main" id="{4E89E72E-24A0-994D-3539-387AE7812E82}"/>
              </a:ext>
            </a:extLst>
          </p:cNvPr>
          <p:cNvSpPr/>
          <p:nvPr/>
        </p:nvSpPr>
        <p:spPr>
          <a:xfrm>
            <a:off x="7853424" y="3202689"/>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a:t>
            </a:r>
          </a:p>
        </p:txBody>
      </p:sp>
      <p:sp>
        <p:nvSpPr>
          <p:cNvPr id="18" name="ZoneTexte 17">
            <a:extLst>
              <a:ext uri="{FF2B5EF4-FFF2-40B4-BE49-F238E27FC236}">
                <a16:creationId xmlns:a16="http://schemas.microsoft.com/office/drawing/2014/main" id="{91DBDCC9-39DF-CC9B-E38A-FB1FF2AC2A85}"/>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CCC-Flow – </a:t>
            </a:r>
            <a:r>
              <a:rPr lang="fr-FR" sz="3200" b="1" i="1">
                <a:solidFill>
                  <a:srgbClr val="ED7D31"/>
                </a:solidFill>
              </a:rPr>
              <a:t>Exemple de résultat</a:t>
            </a:r>
            <a:endParaRPr lang="fr-FR" sz="3200"/>
          </a:p>
        </p:txBody>
      </p:sp>
    </p:spTree>
    <p:extLst>
      <p:ext uri="{BB962C8B-B14F-4D97-AF65-F5344CB8AC3E}">
        <p14:creationId xmlns:p14="http://schemas.microsoft.com/office/powerpoint/2010/main" val="23154375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BD3A6710-B074-F715-3AF8-A48FD0326BB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CCC-Flow – </a:t>
            </a:r>
            <a:r>
              <a:rPr lang="fr-FR" sz="3200" b="1" i="1">
                <a:solidFill>
                  <a:srgbClr val="ED7D31"/>
                </a:solidFill>
              </a:rPr>
              <a:t>Déroulement</a:t>
            </a:r>
            <a:endParaRPr lang="fr-FR" sz="3200"/>
          </a:p>
        </p:txBody>
      </p:sp>
      <p:sp>
        <p:nvSpPr>
          <p:cNvPr id="3" name="Flèche : droite 2">
            <a:extLst>
              <a:ext uri="{FF2B5EF4-FFF2-40B4-BE49-F238E27FC236}">
                <a16:creationId xmlns:a16="http://schemas.microsoft.com/office/drawing/2014/main" id="{5E2C5BBB-B8F7-A8DB-5DD7-1CC80B814278}"/>
              </a:ext>
            </a:extLst>
          </p:cNvPr>
          <p:cNvSpPr/>
          <p:nvPr/>
        </p:nvSpPr>
        <p:spPr>
          <a:xfrm>
            <a:off x="220602" y="602142"/>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5" name="Tableau 4">
            <a:extLst>
              <a:ext uri="{FF2B5EF4-FFF2-40B4-BE49-F238E27FC236}">
                <a16:creationId xmlns:a16="http://schemas.microsoft.com/office/drawing/2014/main" id="{AC75CCAE-9C59-39F9-2701-769997CC5E5A}"/>
              </a:ext>
            </a:extLst>
          </p:cNvPr>
          <p:cNvGraphicFramePr>
            <a:graphicFrameLocks/>
          </p:cNvGraphicFramePr>
          <p:nvPr>
            <p:extLst>
              <p:ext uri="{D42A27DB-BD31-4B8C-83A1-F6EECF244321}">
                <p14:modId xmlns:p14="http://schemas.microsoft.com/office/powerpoint/2010/main" val="1539919508"/>
              </p:ext>
            </p:extLst>
          </p:nvPr>
        </p:nvGraphicFramePr>
        <p:xfrm>
          <a:off x="220600" y="1143894"/>
          <a:ext cx="10421855" cy="4547502"/>
        </p:xfrm>
        <a:graphic>
          <a:graphicData uri="http://schemas.openxmlformats.org/drawingml/2006/table">
            <a:tbl>
              <a:tblPr firstRow="1" bandRow="1">
                <a:tableStyleId>{5C22544A-7EE6-4342-B048-85BDC9FD1C3A}</a:tableStyleId>
              </a:tblPr>
              <a:tblGrid>
                <a:gridCol w="2549233">
                  <a:extLst>
                    <a:ext uri="{9D8B030D-6E8A-4147-A177-3AD203B41FA5}">
                      <a16:colId xmlns:a16="http://schemas.microsoft.com/office/drawing/2014/main" val="1302591909"/>
                    </a:ext>
                  </a:extLst>
                </a:gridCol>
                <a:gridCol w="5600881">
                  <a:extLst>
                    <a:ext uri="{9D8B030D-6E8A-4147-A177-3AD203B41FA5}">
                      <a16:colId xmlns:a16="http://schemas.microsoft.com/office/drawing/2014/main" val="1572267126"/>
                    </a:ext>
                  </a:extLst>
                </a:gridCol>
                <a:gridCol w="2271741">
                  <a:extLst>
                    <a:ext uri="{9D8B030D-6E8A-4147-A177-3AD203B41FA5}">
                      <a16:colId xmlns:a16="http://schemas.microsoft.com/office/drawing/2014/main" val="4222483745"/>
                    </a:ext>
                  </a:extLst>
                </a:gridCol>
              </a:tblGrid>
              <a:tr h="828942">
                <a:tc>
                  <a:txBody>
                    <a:bodyPr/>
                    <a:lstStyle/>
                    <a:p>
                      <a:r>
                        <a:rPr lang="fr-FR" sz="1400"/>
                        <a:t>Ouverture : </a:t>
                      </a:r>
                    </a:p>
                    <a:p>
                      <a:r>
                        <a:rPr lang="fr-FR" sz="1400"/>
                        <a:t>Accueil, Intro, </a:t>
                      </a:r>
                      <a:r>
                        <a:rPr lang="fr-FR" sz="1400" err="1"/>
                        <a:t>Icebreaker</a:t>
                      </a:r>
                      <a:r>
                        <a:rPr lang="fr-FR" sz="1400"/>
                        <a:t>…</a:t>
                      </a:r>
                    </a:p>
                  </a:txBody>
                  <a:tcPr/>
                </a:tc>
                <a:tc>
                  <a:txBody>
                    <a:bodyPr/>
                    <a:lstStyle/>
                    <a:p>
                      <a:pPr algn="ctr"/>
                      <a:r>
                        <a:rPr lang="fr-FR" sz="1400"/>
                        <a:t>Déroulement</a:t>
                      </a:r>
                    </a:p>
                    <a:p>
                      <a:pPr algn="ctr"/>
                      <a:r>
                        <a:rPr lang="fr-FR" sz="1400"/>
                        <a:t>Règles du jeu, Narratif</a:t>
                      </a:r>
                    </a:p>
                  </a:txBody>
                  <a:tcPr/>
                </a:tc>
                <a:tc>
                  <a:txBody>
                    <a:bodyPr/>
                    <a:lstStyle/>
                    <a:p>
                      <a:r>
                        <a:rPr lang="fr-FR" sz="1400"/>
                        <a:t>Clôture :</a:t>
                      </a:r>
                    </a:p>
                    <a:p>
                      <a:r>
                        <a:rPr lang="fr-FR" sz="1400"/>
                        <a:t>Debriefing, Remerciements…</a:t>
                      </a:r>
                    </a:p>
                  </a:txBody>
                  <a:tcPr/>
                </a:tc>
                <a:extLst>
                  <a:ext uri="{0D108BD9-81ED-4DB2-BD59-A6C34878D82A}">
                    <a16:rowId xmlns:a16="http://schemas.microsoft.com/office/drawing/2014/main" val="1724558119"/>
                  </a:ext>
                </a:extLst>
              </a:tr>
              <a:tr h="3521451">
                <a:tc>
                  <a:txBody>
                    <a:bodyPr/>
                    <a:lstStyle/>
                    <a:p>
                      <a:r>
                        <a:rPr lang="fr-FR" sz="1400"/>
                        <a:t>5 min</a:t>
                      </a:r>
                    </a:p>
                    <a:p>
                      <a:endParaRPr lang="fr-FR" sz="1400"/>
                    </a:p>
                    <a:p>
                      <a:r>
                        <a:rPr lang="fr-FR" sz="1400" b="1">
                          <a:solidFill>
                            <a:srgbClr val="ED7D31"/>
                          </a:solidFill>
                        </a:rPr>
                        <a:t>Phase : Connaissance du model </a:t>
                      </a:r>
                    </a:p>
                    <a:p>
                      <a:pPr marL="285750" indent="-285750">
                        <a:buFont typeface="Arial" panose="020B0604020202020204" pitchFamily="34" charset="0"/>
                        <a:buChar char="•"/>
                      </a:pPr>
                      <a:r>
                        <a:rPr lang="fr-FR" sz="1400"/>
                        <a:t>Les participants sont répartis par groupe de 5/10, avec un facilitateur</a:t>
                      </a:r>
                    </a:p>
                    <a:p>
                      <a:pPr marL="0" indent="0">
                        <a:buFont typeface="Arial" panose="020B0604020202020204" pitchFamily="34" charset="0"/>
                        <a:buNone/>
                      </a:pPr>
                      <a:endParaRPr lang="fr-FR" sz="140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a:t>Le facilitateur montre le</a:t>
                      </a:r>
                      <a:r>
                        <a:rPr lang="fr-FR" sz="1400">
                          <a:hlinkClick r:id="rId2" action="ppaction://hlinksldjump"/>
                        </a:rPr>
                        <a:t> CCC-model</a:t>
                      </a:r>
                      <a:r>
                        <a:rPr lang="fr-FR" sz="1400"/>
                        <a:t> au groupe</a:t>
                      </a:r>
                    </a:p>
                    <a:p>
                      <a:pPr marL="285750" indent="-285750">
                        <a:buFont typeface="Arial" panose="020B0604020202020204" pitchFamily="34" charset="0"/>
                        <a:buChar char="•"/>
                      </a:pPr>
                      <a:endParaRPr lang="fr-FR" sz="1400"/>
                    </a:p>
                    <a:p>
                      <a:pPr marL="285750" indent="-285750">
                        <a:buFont typeface="Arial" panose="020B0604020202020204" pitchFamily="34" charset="0"/>
                        <a:buChar char="•"/>
                      </a:pPr>
                      <a:endParaRPr lang="fr-FR" sz="1400"/>
                    </a:p>
                  </a:txBody>
                  <a:tcPr/>
                </a:tc>
                <a:tc>
                  <a:txBody>
                    <a:bodyPr/>
                    <a:lstStyle/>
                    <a:p>
                      <a:r>
                        <a:rPr lang="fr-FR" sz="1400"/>
                        <a:t>20 min (5 minutes par sujet)</a:t>
                      </a:r>
                    </a:p>
                    <a:p>
                      <a:endParaRPr lang="fr-FR" sz="140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a:solidFill>
                            <a:srgbClr val="ED7D31"/>
                          </a:solidFill>
                        </a:rPr>
                        <a:t>Phase : Collecte des sujets</a:t>
                      </a:r>
                    </a:p>
                    <a:p>
                      <a:pPr marL="285750" indent="-285750">
                        <a:buFont typeface="Arial" panose="020B0604020202020204" pitchFamily="34" charset="0"/>
                        <a:buChar char="•"/>
                      </a:pPr>
                      <a:r>
                        <a:rPr lang="fr-FR" sz="1400"/>
                        <a:t>Les participants énoncent les sujets phares existants de la communauté, en les écrivant </a:t>
                      </a:r>
                      <a:r>
                        <a:rPr lang="fr-FR" sz="1400" b="0" i="0" u="none" strike="noStrike" noProof="0">
                          <a:latin typeface="Calibri"/>
                        </a:rPr>
                        <a:t>simultanément </a:t>
                      </a:r>
                      <a:r>
                        <a:rPr lang="fr-FR" sz="1400"/>
                        <a:t>sur des post-it, selon cette règle : un sujet par post-it résumé en quelques mots. </a:t>
                      </a:r>
                      <a:r>
                        <a:rPr lang="fr-FR" sz="1400" b="1">
                          <a:solidFill>
                            <a:schemeClr val="tx1"/>
                          </a:solidFill>
                        </a:rPr>
                        <a:t>Ex : </a:t>
                      </a:r>
                      <a:r>
                        <a:rPr lang="fr-FR" sz="1400" i="1">
                          <a:solidFill>
                            <a:schemeClr val="tx1"/>
                          </a:solidFill>
                        </a:rPr>
                        <a:t>Cybersécurité</a:t>
                      </a:r>
                      <a:r>
                        <a:rPr lang="fr-FR" sz="1400">
                          <a:solidFill>
                            <a:schemeClr val="tx1"/>
                          </a:solidFill>
                        </a:rPr>
                        <a:t>, </a:t>
                      </a:r>
                      <a:r>
                        <a:rPr lang="fr-FR" sz="1400" i="1">
                          <a:solidFill>
                            <a:schemeClr val="tx1"/>
                          </a:solidFill>
                        </a:rPr>
                        <a:t>Gamification</a:t>
                      </a:r>
                    </a:p>
                    <a:p>
                      <a:pPr marL="285750" indent="-285750">
                        <a:buFont typeface="Arial" panose="020B0604020202020204" pitchFamily="34" charset="0"/>
                        <a:buChar char="•"/>
                      </a:pPr>
                      <a:r>
                        <a:rPr lang="fr-FR" sz="1400"/>
                        <a:t>Le facilitateur place </a:t>
                      </a:r>
                      <a:r>
                        <a:rPr lang="fr-FR" sz="1400" b="0" i="0" u="none" strike="noStrike" noProof="0">
                          <a:latin typeface="Calibri"/>
                        </a:rPr>
                        <a:t>les post-it </a:t>
                      </a:r>
                      <a:r>
                        <a:rPr lang="fr-FR" sz="1400"/>
                        <a:t>en vue de tous au fur et à mesure qu’ils sont créés, enlève les doublons, et peut les regrouper par thème identique. </a:t>
                      </a:r>
                      <a:r>
                        <a:rPr lang="fr-FR" sz="1400" b="1"/>
                        <a:t>Ex : </a:t>
                      </a:r>
                      <a:r>
                        <a:rPr lang="fr-FR" sz="1400"/>
                        <a:t>un post-it </a:t>
                      </a:r>
                      <a:r>
                        <a:rPr lang="fr-FR" sz="1400" i="1"/>
                        <a:t>Gamification</a:t>
                      </a:r>
                      <a:r>
                        <a:rPr lang="fr-FR" sz="1400"/>
                        <a:t> et un autre </a:t>
                      </a:r>
                      <a:r>
                        <a:rPr lang="fr-FR" sz="1400" i="1"/>
                        <a:t>Ludification</a:t>
                      </a:r>
                      <a:endParaRPr lang="fr-FR" sz="1400"/>
                    </a:p>
                    <a:p>
                      <a:pPr marL="0" marR="0" lvl="0" indent="0" algn="l">
                        <a:lnSpc>
                          <a:spcPct val="100000"/>
                        </a:lnSpc>
                        <a:spcBef>
                          <a:spcPts val="0"/>
                        </a:spcBef>
                        <a:spcAft>
                          <a:spcPts val="0"/>
                        </a:spcAft>
                        <a:buNone/>
                      </a:pPr>
                      <a:endParaRPr lang="fr-FR" sz="1400" b="1" i="0" u="none" strike="noStrike" noProof="0">
                        <a:solidFill>
                          <a:srgbClr val="ED7D31"/>
                        </a:solidFill>
                        <a:latin typeface="Calibri"/>
                      </a:endParaRPr>
                    </a:p>
                    <a:p>
                      <a:pPr marL="0" marR="0" lvl="0" indent="0" algn="l">
                        <a:lnSpc>
                          <a:spcPct val="100000"/>
                        </a:lnSpc>
                        <a:spcBef>
                          <a:spcPts val="0"/>
                        </a:spcBef>
                        <a:spcAft>
                          <a:spcPts val="0"/>
                        </a:spcAft>
                        <a:buNone/>
                      </a:pPr>
                      <a:r>
                        <a:rPr lang="fr-FR" sz="1400" b="1" i="0" u="none" strike="noStrike" noProof="0">
                          <a:solidFill>
                            <a:srgbClr val="ED7D31"/>
                          </a:solidFill>
                          <a:latin typeface="Calibri"/>
                        </a:rPr>
                        <a:t>Phase Placement des sujets</a:t>
                      </a:r>
                      <a:endParaRPr lang="en-US" sz="1400" b="0" i="0" u="none" strike="noStrike" noProof="0">
                        <a:latin typeface="Calibri"/>
                      </a:endParaRPr>
                    </a:p>
                    <a:p>
                      <a:pPr marL="285750" indent="-285750">
                        <a:buFont typeface="Arial" panose="020B0604020202020204" pitchFamily="34" charset="0"/>
                        <a:buChar char="•"/>
                      </a:pPr>
                      <a:r>
                        <a:rPr lang="fr-FR" sz="1400"/>
                        <a:t>Les participants s’accordent ensuite pour placer tous les sujets, un à un, dans leur phase actuelle. </a:t>
                      </a:r>
                      <a:r>
                        <a:rPr lang="fr-FR" sz="1400" b="1"/>
                        <a:t>Ex : </a:t>
                      </a:r>
                      <a:r>
                        <a:rPr lang="fr-FR" sz="1400"/>
                        <a:t>Le sujet « cyber » est placé en phase «collecte»</a:t>
                      </a:r>
                    </a:p>
                    <a:p>
                      <a:pPr marL="0" lvl="0" indent="0">
                        <a:buNone/>
                      </a:pPr>
                      <a:endParaRPr lang="fr-FR" sz="1400"/>
                    </a:p>
                    <a:p>
                      <a:pPr marL="285750" lvl="0" indent="-285750">
                        <a:buFont typeface="Arial" panose="020B0604020202020204" pitchFamily="34" charset="0"/>
                        <a:buChar char="•"/>
                      </a:pPr>
                      <a:r>
                        <a:rPr lang="fr-FR" sz="1400" b="0" i="0" u="none" strike="noStrike" noProof="0">
                          <a:latin typeface="Calibri"/>
                        </a:rPr>
                        <a:t>Variante : Les 2 phases s'enchaînent par sujet. </a:t>
                      </a:r>
                    </a:p>
                  </a:txBody>
                  <a:tcPr/>
                </a:tc>
                <a:tc>
                  <a:txBody>
                    <a:bodyPr/>
                    <a:lstStyle/>
                    <a:p>
                      <a:r>
                        <a:rPr lang="fr-FR" sz="1400"/>
                        <a:t>5 min</a:t>
                      </a:r>
                    </a:p>
                    <a:p>
                      <a:endParaRPr lang="fr-FR" sz="140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a:solidFill>
                            <a:srgbClr val="ED7D31"/>
                          </a:solidFill>
                        </a:rPr>
                        <a:t>Phase : Restitution</a:t>
                      </a:r>
                    </a:p>
                    <a:p>
                      <a:pPr marL="285750" marR="0" lvl="0" indent="-285750" algn="l" rtl="0" eaLnBrk="1" fontAlgn="auto" latinLnBrk="0" hangingPunct="1">
                        <a:lnSpc>
                          <a:spcPct val="100000"/>
                        </a:lnSpc>
                        <a:spcBef>
                          <a:spcPts val="0"/>
                        </a:spcBef>
                        <a:spcAft>
                          <a:spcPts val="0"/>
                        </a:spcAft>
                        <a:buClrTx/>
                        <a:buSzTx/>
                        <a:buFont typeface="Arial"/>
                        <a:buChar char="•"/>
                      </a:pPr>
                      <a:r>
                        <a:rPr lang="fr-FR" sz="1400"/>
                        <a:t>Les participants donnent leur appréciation de l'atelier</a:t>
                      </a:r>
                    </a:p>
                    <a:p>
                      <a:pPr marL="285750" marR="0" lvl="0" indent="-285750" algn="l">
                        <a:lnSpc>
                          <a:spcPct val="100000"/>
                        </a:lnSpc>
                        <a:spcBef>
                          <a:spcPts val="0"/>
                        </a:spcBef>
                        <a:spcAft>
                          <a:spcPts val="0"/>
                        </a:spcAft>
                        <a:buClrTx/>
                        <a:buSzTx/>
                        <a:buFont typeface="Arial"/>
                        <a:buChar char="•"/>
                      </a:pPr>
                      <a:r>
                        <a:rPr lang="fr-FR" sz="1400"/>
                        <a:t>Ensemble, le groupe note les</a:t>
                      </a:r>
                      <a:r>
                        <a:rPr lang="fr-FR" sz="1400" i="1"/>
                        <a:t> </a:t>
                      </a:r>
                      <a:r>
                        <a:rPr lang="fr-FR" sz="1400" i="1" err="1"/>
                        <a:t>next</a:t>
                      </a:r>
                      <a:r>
                        <a:rPr lang="fr-FR" sz="1400" i="1"/>
                        <a:t> </a:t>
                      </a:r>
                      <a:r>
                        <a:rPr lang="fr-FR" sz="1400" i="1" err="1"/>
                        <a:t>steps</a:t>
                      </a:r>
                      <a:endParaRPr lang="fr-FR" sz="1400" i="1"/>
                    </a:p>
                    <a:p>
                      <a:pPr marL="285750" marR="0" lvl="0" indent="-285750" algn="l">
                        <a:lnSpc>
                          <a:spcPct val="100000"/>
                        </a:lnSpc>
                        <a:spcBef>
                          <a:spcPts val="0"/>
                        </a:spcBef>
                        <a:spcAft>
                          <a:spcPts val="0"/>
                        </a:spcAft>
                        <a:buClrTx/>
                        <a:buSzTx/>
                        <a:buFont typeface="Arial"/>
                        <a:buChar char="•"/>
                      </a:pPr>
                      <a:r>
                        <a:rPr lang="fr-FR" sz="1400"/>
                        <a:t>Suite recommandée avec le CCC-Décision</a:t>
                      </a:r>
                    </a:p>
                    <a:p>
                      <a:pPr marL="0" marR="0" lvl="0" indent="0" algn="l">
                        <a:lnSpc>
                          <a:spcPct val="100000"/>
                        </a:lnSpc>
                        <a:spcBef>
                          <a:spcPts val="0"/>
                        </a:spcBef>
                        <a:spcAft>
                          <a:spcPts val="0"/>
                        </a:spcAft>
                        <a:buClrTx/>
                        <a:buSzTx/>
                        <a:buFontTx/>
                        <a:buNone/>
                      </a:pPr>
                      <a:endParaRPr lang="fr-FR" sz="1400"/>
                    </a:p>
                  </a:txBody>
                  <a:tcPr/>
                </a:tc>
                <a:extLst>
                  <a:ext uri="{0D108BD9-81ED-4DB2-BD59-A6C34878D82A}">
                    <a16:rowId xmlns:a16="http://schemas.microsoft.com/office/drawing/2014/main" val="215570386"/>
                  </a:ext>
                </a:extLst>
              </a:tr>
            </a:tbl>
          </a:graphicData>
        </a:graphic>
      </p:graphicFrame>
      <p:sp>
        <p:nvSpPr>
          <p:cNvPr id="8" name="Espace réservé du contenu 2">
            <a:extLst>
              <a:ext uri="{FF2B5EF4-FFF2-40B4-BE49-F238E27FC236}">
                <a16:creationId xmlns:a16="http://schemas.microsoft.com/office/drawing/2014/main" id="{0916F34A-FF53-0762-7620-527BF9F98F2C}"/>
              </a:ext>
            </a:extLst>
          </p:cNvPr>
          <p:cNvSpPr txBox="1">
            <a:spLocks/>
          </p:cNvSpPr>
          <p:nvPr/>
        </p:nvSpPr>
        <p:spPr>
          <a:xfrm>
            <a:off x="10642455" y="2967094"/>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a:solidFill>
                  <a:srgbClr val="000000"/>
                </a:solidFill>
                <a:cs typeface="Calibri"/>
              </a:rPr>
              <a:t>Total :</a:t>
            </a:r>
          </a:p>
          <a:p>
            <a:pPr marL="0" indent="0" algn="ctr">
              <a:buNone/>
            </a:pPr>
            <a:r>
              <a:rPr lang="fr-FR" sz="2000" b="1">
                <a:solidFill>
                  <a:srgbClr val="000000"/>
                </a:solidFill>
                <a:cs typeface="Calibri"/>
              </a:rPr>
              <a:t>30 min </a:t>
            </a:r>
          </a:p>
        </p:txBody>
      </p:sp>
    </p:spTree>
    <p:extLst>
      <p:ext uri="{BB962C8B-B14F-4D97-AF65-F5344CB8AC3E}">
        <p14:creationId xmlns:p14="http://schemas.microsoft.com/office/powerpoint/2010/main" val="10475931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40116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1980368"/>
            <a:ext cx="2832018" cy="1690823"/>
          </a:xfrm>
          <a:prstGeom prst="rect">
            <a:avLst/>
          </a:prstGeom>
          <a:solidFill>
            <a:schemeClr val="accent5">
              <a:lumMod val="20000"/>
              <a:lumOff val="80000"/>
            </a:schemeClr>
          </a:solidFill>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Ce qui est appris : </a:t>
            </a:r>
          </a:p>
          <a:p>
            <a:r>
              <a:rPr lang="fr-FR" sz="1200"/>
              <a:t>Savoir choisir et prioriser des sujets</a:t>
            </a:r>
          </a:p>
          <a:p>
            <a:r>
              <a:rPr lang="fr-FR" sz="1200"/>
              <a:t>Savoir situer un sujet justement</a:t>
            </a:r>
            <a:endParaRPr lang="fr-FR" sz="1200">
              <a:cs typeface="Calibri"/>
            </a:endParaRP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40116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1980368"/>
            <a:ext cx="2845965" cy="1690823"/>
          </a:xfrm>
          <a:prstGeom prst="rect">
            <a:avLst/>
          </a:prstGeom>
          <a:solidFill>
            <a:schemeClr val="accent2">
              <a:lumMod val="20000"/>
              <a:lumOff val="80000"/>
            </a:schemeClr>
          </a:solidFill>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Livrables produits : Une fresque du CCC-model montrant les sujets dans chacune de leur phase actuelle adéquate.</a:t>
            </a:r>
          </a:p>
          <a:p>
            <a:pPr marL="0" indent="0">
              <a:buNone/>
            </a:pPr>
            <a:r>
              <a:rPr lang="fr-FR" sz="1200"/>
              <a:t>Résultats atteints : Une vue d'ensemble de la situation des sujets-clés du changement</a:t>
            </a:r>
            <a:endParaRPr lang="fr-FR" sz="1200" err="1">
              <a:cs typeface="Calibri"/>
            </a:endParaRP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40116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1980368"/>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Nombre de participants : 1-10</a:t>
            </a:r>
          </a:p>
          <a:p>
            <a:pPr marL="0" indent="0">
              <a:buNone/>
            </a:pPr>
            <a:r>
              <a:rPr lang="fr-FR" sz="1200"/>
              <a:t>Profil des participants : portent ou peuvent aider à porter un sujet clé de la communauté ou du changement.</a:t>
            </a:r>
          </a:p>
          <a:p>
            <a:pPr marL="0" indent="0">
              <a:buNone/>
            </a:pPr>
            <a:r>
              <a:rPr lang="fr-FR" sz="1200" strike="sngStrike" err="1"/>
              <a:t>Pré-requis</a:t>
            </a:r>
            <a:r>
              <a:rPr lang="fr-FR" sz="1200" strike="sngStrike"/>
              <a:t> sur les participants (compétences, niveau de connaissance mutuelle, niveau d’adhésion …)</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40116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1980368"/>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Une communauté souhaite savoir où en sont tous ses </a:t>
            </a:r>
            <a:r>
              <a:rPr lang="fr-FR" sz="1200" dirty="0">
                <a:ea typeface="+mn-lt"/>
                <a:cs typeface="+mn-lt"/>
              </a:rPr>
              <a:t>sujets-clés de changement afin d'optimiser ensuite leur priorisation, gérer l’en cours, etc.</a:t>
            </a:r>
          </a:p>
          <a:p>
            <a:pPr marL="0" indent="0">
              <a:buNone/>
            </a:pPr>
            <a:r>
              <a:rPr lang="fr-FR" sz="1200" dirty="0">
                <a:ea typeface="+mn-lt"/>
                <a:cs typeface="+mn-lt"/>
              </a:rPr>
              <a:t>Elle utilise l’atelier CCC-Flow pour repérer là où en est chaque sujet, et mieux repérer les prochains à aborder.</a:t>
            </a:r>
            <a:endParaRPr lang="fr-FR" sz="1200" dirty="0">
              <a:cs typeface="Calibri"/>
            </a:endParaRP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383600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415213"/>
            <a:ext cx="2832018" cy="1690823"/>
          </a:xfrm>
          <a:prstGeom prst="rect">
            <a:avLst/>
          </a:prstGeom>
          <a:solidFill>
            <a:schemeClr val="accent5">
              <a:lumMod val="20000"/>
              <a:lumOff val="80000"/>
            </a:schemeClr>
          </a:solidFill>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Cet atelier proposer uniquement de placer les sujets-clés dans les bonnes phases.</a:t>
            </a:r>
            <a:endParaRPr lang="fr-FR"/>
          </a:p>
          <a:p>
            <a:pPr marL="0" indent="0">
              <a:buFont typeface="Arial" panose="020B0604020202020204" pitchFamily="34" charset="0"/>
              <a:buNone/>
            </a:pPr>
            <a:r>
              <a:rPr lang="fr-FR" sz="1200"/>
              <a:t>D’autres ateliers permettront de voir comment atteindre les phases voulues, les activités ou contenus adéquats…</a:t>
            </a:r>
            <a:endParaRPr lang="fr-FR" sz="1200">
              <a:cs typeface="Calibri"/>
            </a:endParaRP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383600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415213"/>
            <a:ext cx="2845965" cy="1690823"/>
          </a:xfrm>
          <a:prstGeom prst="rect">
            <a:avLst/>
          </a:prstGeom>
          <a:solidFill>
            <a:schemeClr val="accent2">
              <a:lumMod val="20000"/>
              <a:lumOff val="80000"/>
            </a:schemeClr>
          </a:solidFill>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Durée : 30 minutes (5 minutes par sujet)</a:t>
            </a:r>
          </a:p>
          <a:p>
            <a:pPr marL="0" indent="0">
              <a:buFont typeface="Arial" panose="020B0604020202020204" pitchFamily="34" charset="0"/>
              <a:buNone/>
            </a:pPr>
            <a:r>
              <a:rPr lang="fr-FR" sz="1200" dirty="0"/>
              <a:t>Matériel nécessaire : le CCC-model</a:t>
            </a:r>
          </a:p>
          <a:p>
            <a:pPr marL="0" indent="0">
              <a:buFont typeface="Arial" panose="020B0604020202020204" pitchFamily="34" charset="0"/>
              <a:buNone/>
            </a:pPr>
            <a:r>
              <a:rPr lang="fr-FR" sz="1200" dirty="0"/>
              <a:t>En </a:t>
            </a:r>
            <a:r>
              <a:rPr lang="fr-FR" sz="1200" dirty="0" err="1"/>
              <a:t>visio</a:t>
            </a:r>
            <a:r>
              <a:rPr lang="fr-FR" sz="1200" dirty="0"/>
              <a:t> : Un mur collaboratif (type Klaxoon, Miro, Mural…)</a:t>
            </a:r>
          </a:p>
          <a:p>
            <a:pPr marL="0" indent="0">
              <a:buFont typeface="Arial" panose="020B0604020202020204" pitchFamily="34" charset="0"/>
              <a:buNone/>
            </a:pPr>
            <a:r>
              <a:rPr lang="fr-FR" sz="1200" dirty="0"/>
              <a:t>En physique : Des post-it et gros feutres</a:t>
            </a:r>
          </a:p>
          <a:p>
            <a:pPr marL="0" indent="0">
              <a:buFont typeface="Arial" panose="020B0604020202020204" pitchFamily="34" charset="0"/>
              <a:buNone/>
            </a:pPr>
            <a:r>
              <a:rPr lang="fr-FR" sz="1200" dirty="0"/>
              <a:t>Salles : Idéalement l’atelier se passe en présentiel dans une grande salle qui contient le management visuel de la Communauté</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383600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41521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Idées Ressources et compléments qui peuvent accompagner l’atelier :</a:t>
            </a:r>
          </a:p>
          <a:p>
            <a:pPr marL="0" indent="0">
              <a:buNone/>
            </a:pPr>
            <a:r>
              <a:rPr lang="fr-FR" sz="1200">
                <a:ea typeface="+mn-lt"/>
                <a:cs typeface="+mn-lt"/>
              </a:rPr>
              <a:t>Pour déterminer les </a:t>
            </a:r>
            <a:r>
              <a:rPr lang="fr-FR" sz="1200" b="1">
                <a:ea typeface="+mn-lt"/>
                <a:cs typeface="+mn-lt"/>
              </a:rPr>
              <a:t>objectifs</a:t>
            </a:r>
            <a:r>
              <a:rPr lang="fr-FR" sz="1200">
                <a:ea typeface="+mn-lt"/>
                <a:cs typeface="+mn-lt"/>
              </a:rPr>
              <a:t> d’arrivée par sujet-clé, l'atelier CCC-Goals pourrait être le suivant.</a:t>
            </a:r>
          </a:p>
          <a:p>
            <a:pPr marL="0" indent="0">
              <a:buNone/>
            </a:pPr>
            <a:endParaRPr lang="fr-FR" sz="1200">
              <a:cs typeface="Calibri"/>
            </a:endParaRP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3836007"/>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415213"/>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Où en sommes nous dans les différents sujets de la Communauté ?</a:t>
            </a:r>
            <a:endParaRPr lang="fr-FR" dirty="0"/>
          </a:p>
          <a:p>
            <a:pPr marL="0" indent="0">
              <a:buNone/>
            </a:pPr>
            <a:r>
              <a:rPr lang="fr-FR" sz="1200" dirty="0"/>
              <a:t>L’atelier CCC-Flow permet de poser ensemble la maturité de chacun des sujets phares de la communauté, afin de mieux décider comment enchaîner ensuite.</a:t>
            </a:r>
            <a:endParaRPr lang="fr-FR" sz="1200" dirty="0">
              <a:cs typeface="Calibri"/>
            </a:endParaRPr>
          </a:p>
        </p:txBody>
      </p:sp>
      <p:sp>
        <p:nvSpPr>
          <p:cNvPr id="39" name="ZoneTexte 38">
            <a:extLst>
              <a:ext uri="{FF2B5EF4-FFF2-40B4-BE49-F238E27FC236}">
                <a16:creationId xmlns:a16="http://schemas.microsoft.com/office/drawing/2014/main" id="{EA9CEF71-4F80-8D8B-8C7E-77B195056A45}"/>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a:t>Atelier CCC-Flow – </a:t>
            </a:r>
            <a:r>
              <a:rPr lang="fr-FR" sz="3200" b="1" i="1">
                <a:solidFill>
                  <a:srgbClr val="ED7D31"/>
                </a:solidFill>
              </a:rPr>
              <a:t>Organisation</a:t>
            </a:r>
            <a:endParaRPr lang="fr-FR" sz="3200"/>
          </a:p>
        </p:txBody>
      </p:sp>
      <p:sp>
        <p:nvSpPr>
          <p:cNvPr id="19" name="ZoneTexte 18">
            <a:extLst>
              <a:ext uri="{FF2B5EF4-FFF2-40B4-BE49-F238E27FC236}">
                <a16:creationId xmlns:a16="http://schemas.microsoft.com/office/drawing/2014/main" id="{56B48C13-7FB6-52F7-CF7B-9B55AD0CEB41}"/>
              </a:ext>
            </a:extLst>
          </p:cNvPr>
          <p:cNvSpPr txBox="1"/>
          <p:nvPr/>
        </p:nvSpPr>
        <p:spPr>
          <a:xfrm>
            <a:off x="334775" y="6335957"/>
            <a:ext cx="11602365" cy="369332"/>
          </a:xfrm>
          <a:prstGeom prst="rect">
            <a:avLst/>
          </a:prstGeom>
          <a:noFill/>
        </p:spPr>
        <p:txBody>
          <a:bodyPr wrap="square">
            <a:spAutoFit/>
          </a:bodyPr>
          <a:lstStyle/>
          <a:p>
            <a:pPr algn="ctr"/>
            <a:r>
              <a:rPr lang="fr-FR" sz="1800" b="1" i="1">
                <a:ea typeface="+mn-lt"/>
                <a:cs typeface="+mn-lt"/>
              </a:rPr>
              <a:t>Pour vérifier que cela correspond bien à nos besoins et capacités, et pouvoir organiser facilement la session</a:t>
            </a:r>
            <a:endParaRPr lang="fr-FR" sz="1800">
              <a:ea typeface="Calibri"/>
              <a:cs typeface="Calibri"/>
            </a:endParaRPr>
          </a:p>
        </p:txBody>
      </p:sp>
    </p:spTree>
    <p:extLst>
      <p:ext uri="{BB962C8B-B14F-4D97-AF65-F5344CB8AC3E}">
        <p14:creationId xmlns:p14="http://schemas.microsoft.com/office/powerpoint/2010/main" val="15874190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1511743"/>
            <a:ext cx="2404138" cy="3520758"/>
          </a:xfrm>
        </p:spPr>
        <p:txBody>
          <a:bodyPr vert="horz" lIns="91440" tIns="45720" rIns="91440" bIns="45720" rtlCol="0" anchor="t">
            <a:noAutofit/>
          </a:bodyPr>
          <a:lstStyle/>
          <a:p>
            <a:r>
              <a:rPr lang="fr-FR" sz="1400">
                <a:cs typeface="Calibri"/>
              </a:rPr>
              <a:t>La posture du facilitateur par défaut est une posture basse, c’est-à-dire qu'il ne se place pas en formateur, il restitue au mieux les idées et les écrits des participants.</a:t>
            </a:r>
            <a:endParaRPr lang="fr-FR"/>
          </a:p>
          <a:p>
            <a:r>
              <a:rPr lang="fr-FR" sz="1400">
                <a:cs typeface="Calibri"/>
              </a:rPr>
              <a:t>Si le facilitateur est concerné, il peut alors jouer les 2 rôles.</a:t>
            </a:r>
            <a:endParaRPr lang="fr-F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999627"/>
            <a:ext cx="2412076" cy="503237"/>
          </a:xfrm>
        </p:spPr>
        <p:txBody>
          <a:bodyPr>
            <a:normAutofit/>
          </a:bodyPr>
          <a:lstStyle/>
          <a:p>
            <a:r>
              <a:rPr lang="fr-FR" sz="140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1511425"/>
            <a:ext cx="5247090" cy="3520758"/>
          </a:xfrm>
        </p:spPr>
        <p:txBody>
          <a:bodyPr vert="horz" lIns="91440" tIns="45720" rIns="91440" bIns="45720" rtlCol="0" anchor="t">
            <a:noAutofit/>
          </a:bodyPr>
          <a:lstStyle/>
          <a:p>
            <a:pPr marL="285750" indent="-285750">
              <a:buFont typeface="Arial" panose="020B0604020202020204" pitchFamily="34" charset="0"/>
              <a:buChar char="•"/>
            </a:pPr>
            <a:r>
              <a:rPr lang="fr-FR" sz="1400" dirty="0"/>
              <a:t>Le facilitateur met le CCC-Model à disposition des participants, il peut être imprimé et affiché, ou un peu plus écologique, projeté ou affiché sur un grand écran.</a:t>
            </a:r>
            <a:endParaRPr lang="fr-FR" sz="1400" dirty="0">
              <a:cs typeface="Calibri"/>
            </a:endParaRPr>
          </a:p>
          <a:p>
            <a:pPr marL="285750" indent="-285750">
              <a:buFont typeface="Arial" panose="020B0604020202020204" pitchFamily="34" charset="0"/>
              <a:buChar char="•"/>
            </a:pPr>
            <a:r>
              <a:rPr lang="fr-FR" sz="1400" dirty="0"/>
              <a:t>Lors de la phase où les participants listent les sujets à traiter, le facilitateur et les membres qui le souhaitent peuvent trier les post-it déposés pour y voir plus clair (retirer les doublons, regrouper par thème par exemple « orga », « animation »…)</a:t>
            </a:r>
          </a:p>
          <a:p>
            <a:pPr marL="285750" indent="-285750">
              <a:buFont typeface="Arial" panose="020B0604020202020204" pitchFamily="34" charset="0"/>
              <a:buChar char="•"/>
            </a:pPr>
            <a:r>
              <a:rPr lang="fr-FR" sz="1400" dirty="0"/>
              <a:t>Si un sujet est à la fois sur plusieurs phases (ce qui peut arriver si les participants n’en sont pas au même niveau), indiquez la phase de début et la phase de fin, et tirez un trait entre les 2 tickets. Il est recommandé ensuite de faire un atelier CCC-Groups pour ce sujet.</a:t>
            </a: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999309"/>
            <a:ext cx="5255029" cy="503237"/>
          </a:xfrm>
        </p:spPr>
        <p:txBody>
          <a:bodyPr>
            <a:normAutofit/>
          </a:bodyPr>
          <a:lstStyle/>
          <a:p>
            <a:r>
              <a:rPr lang="fr-FR" sz="140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1511425"/>
            <a:ext cx="2404138" cy="3520758"/>
          </a:xfrm>
        </p:spPr>
        <p:txBody>
          <a:bodyPr/>
          <a:lstStyle/>
          <a:p>
            <a:r>
              <a:rPr lang="fr-FR" sz="1400"/>
              <a:t>Exemples de questions de Debriefing</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999309"/>
            <a:ext cx="2412076" cy="503237"/>
          </a:xfrm>
        </p:spPr>
        <p:txBody>
          <a:bodyPr>
            <a:normAutofit/>
          </a:bodyPr>
          <a:lstStyle/>
          <a:p>
            <a:r>
              <a:rPr lang="fr-FR" sz="1400"/>
              <a:t>🙋Debriefing</a:t>
            </a:r>
          </a:p>
        </p:txBody>
      </p:sp>
      <p:sp>
        <p:nvSpPr>
          <p:cNvPr id="10" name="ZoneTexte 9">
            <a:extLst>
              <a:ext uri="{FF2B5EF4-FFF2-40B4-BE49-F238E27FC236}">
                <a16:creationId xmlns:a16="http://schemas.microsoft.com/office/drawing/2014/main" id="{3A02B26F-36AA-FA5A-2C61-49B90AA09934}"/>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a:t>Atelier CCC-Flow – </a:t>
            </a:r>
            <a:r>
              <a:rPr lang="fr-FR" sz="3200" b="1" i="1">
                <a:solidFill>
                  <a:srgbClr val="ED7D31"/>
                </a:solidFill>
              </a:rPr>
              <a:t>Animation</a:t>
            </a:r>
            <a:endParaRPr lang="fr-FR" sz="3200"/>
          </a:p>
        </p:txBody>
      </p:sp>
      <p:sp>
        <p:nvSpPr>
          <p:cNvPr id="2" name="Rectangle 1">
            <a:extLst>
              <a:ext uri="{FF2B5EF4-FFF2-40B4-BE49-F238E27FC236}">
                <a16:creationId xmlns:a16="http://schemas.microsoft.com/office/drawing/2014/main" id="{44EC2CE2-CEAA-FA1D-9EEB-11B5A287DCEC}"/>
              </a:ext>
            </a:extLst>
          </p:cNvPr>
          <p:cNvSpPr/>
          <p:nvPr/>
        </p:nvSpPr>
        <p:spPr>
          <a:xfrm>
            <a:off x="4231463" y="4309213"/>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Sujet </a:t>
            </a:r>
          </a:p>
          <a:p>
            <a:pPr algn="ctr"/>
            <a:r>
              <a:rPr lang="fr-FR" sz="800" dirty="0">
                <a:solidFill>
                  <a:schemeClr val="tx1"/>
                </a:solidFill>
              </a:rPr>
              <a:t>XYZ</a:t>
            </a:r>
          </a:p>
        </p:txBody>
      </p:sp>
      <p:sp>
        <p:nvSpPr>
          <p:cNvPr id="3" name="Rectangle 2">
            <a:extLst>
              <a:ext uri="{FF2B5EF4-FFF2-40B4-BE49-F238E27FC236}">
                <a16:creationId xmlns:a16="http://schemas.microsoft.com/office/drawing/2014/main" id="{2193AFE6-3E4D-C929-8E5E-8C42A75A2D1C}"/>
              </a:ext>
            </a:extLst>
          </p:cNvPr>
          <p:cNvSpPr/>
          <p:nvPr/>
        </p:nvSpPr>
        <p:spPr>
          <a:xfrm>
            <a:off x="7294162" y="4309213"/>
            <a:ext cx="444251" cy="43964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Sujet</a:t>
            </a:r>
          </a:p>
          <a:p>
            <a:pPr algn="ctr"/>
            <a:r>
              <a:rPr lang="fr-FR" sz="800" dirty="0">
                <a:solidFill>
                  <a:schemeClr val="tx1"/>
                </a:solidFill>
              </a:rPr>
              <a:t>XYZ</a:t>
            </a:r>
          </a:p>
        </p:txBody>
      </p:sp>
      <p:sp>
        <p:nvSpPr>
          <p:cNvPr id="4" name="Flèche : droite 3">
            <a:extLst>
              <a:ext uri="{FF2B5EF4-FFF2-40B4-BE49-F238E27FC236}">
                <a16:creationId xmlns:a16="http://schemas.microsoft.com/office/drawing/2014/main" id="{2081E47A-7DF5-CCAB-A18E-3476E02C0FA3}"/>
              </a:ext>
            </a:extLst>
          </p:cNvPr>
          <p:cNvSpPr/>
          <p:nvPr/>
        </p:nvSpPr>
        <p:spPr>
          <a:xfrm>
            <a:off x="4675714" y="4318092"/>
            <a:ext cx="2618448" cy="36044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4909301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566822D7-BE59-42A3-8647-937CD139D65E}"/>
              </a:ext>
            </a:extLst>
          </p:cNvPr>
          <p:cNvGrpSpPr/>
          <p:nvPr/>
        </p:nvGrpSpPr>
        <p:grpSpPr>
          <a:xfrm>
            <a:off x="160924" y="5542935"/>
            <a:ext cx="1203228" cy="1160644"/>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1222771585"/>
              </p:ext>
            </p:extLst>
          </p:nvPr>
        </p:nvGraphicFramePr>
        <p:xfrm>
          <a:off x="6986736" y="1555782"/>
          <a:ext cx="4740676" cy="429650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Idées de variantes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endParaRPr lang="fr-FR" sz="1100" dirty="0"/>
                    </a:p>
                  </a:txBody>
                  <a:tcPr/>
                </a:tc>
                <a:tc>
                  <a:txBody>
                    <a:bodyPr/>
                    <a:lstStyle/>
                    <a:p>
                      <a:endParaRPr lang="fr-FR" sz="1100" dirty="0"/>
                    </a:p>
                  </a:txBody>
                  <a:tcPr/>
                </a:tc>
                <a:extLst>
                  <a:ext uri="{0D108BD9-81ED-4DB2-BD59-A6C34878D82A}">
                    <a16:rowId xmlns:a16="http://schemas.microsoft.com/office/drawing/2014/main" val="4249539521"/>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824107877"/>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035027814"/>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a:p>
                  </a:txBody>
                  <a:tcPr/>
                </a:tc>
                <a:tc>
                  <a:txBody>
                    <a:bodyPr/>
                    <a:lstStyle/>
                    <a:p>
                      <a:endParaRPr lang="fr-FR" sz="1100" dirty="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2719321115"/>
              </p:ext>
            </p:extLst>
          </p:nvPr>
        </p:nvGraphicFramePr>
        <p:xfrm>
          <a:off x="388475" y="1555782"/>
          <a:ext cx="6191648" cy="267716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Historique des versions</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a:solidFill>
                            <a:schemeClr val="lt1"/>
                          </a:solidFill>
                          <a:latin typeface="+mn-lt"/>
                          <a:ea typeface="+mn-ea"/>
                          <a:cs typeface="+mn-cs"/>
                        </a:rPr>
                        <a:t>Licence</a:t>
                      </a:r>
                    </a:p>
                  </a:txBody>
                  <a:tcPr>
                    <a:solidFill>
                      <a:srgbClr val="ED7D31"/>
                    </a:solidFill>
                  </a:tcPr>
                </a:tc>
                <a:tc>
                  <a:txBody>
                    <a:bodyPr/>
                    <a:lstStyle/>
                    <a:p>
                      <a:r>
                        <a:rPr lang="fr-FR" sz="1200" b="1" kern="120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a:t>1.0</a:t>
                      </a:r>
                    </a:p>
                  </a:txBody>
                  <a:tcPr/>
                </a:tc>
                <a:tc>
                  <a:txBody>
                    <a:bodyPr/>
                    <a:lstStyle/>
                    <a:p>
                      <a:r>
                        <a:rPr lang="fr-FR" sz="1200"/>
                        <a:t>Alexandre QUACH</a:t>
                      </a:r>
                    </a:p>
                    <a:p>
                      <a:r>
                        <a:rPr lang="fr-FR" sz="1200"/>
                        <a:t>Vanessa HELLEBUYCK</a:t>
                      </a:r>
                    </a:p>
                  </a:txBody>
                  <a:tcPr/>
                </a:tc>
                <a:tc>
                  <a:txBody>
                    <a:bodyPr/>
                    <a:lstStyle/>
                    <a:p>
                      <a:r>
                        <a:rPr lang="fr-FR" sz="1200"/>
                        <a:t>CC-BY-3.0</a:t>
                      </a:r>
                    </a:p>
                  </a:txBody>
                  <a:tcPr/>
                </a:tc>
                <a:tc>
                  <a:txBody>
                    <a:bodyPr/>
                    <a:lstStyle/>
                    <a:p>
                      <a:r>
                        <a:rPr lang="fr-FR" sz="1200"/>
                        <a:t>Première version</a:t>
                      </a:r>
                    </a:p>
                  </a:txBody>
                  <a:tcPr/>
                </a:tc>
                <a:extLst>
                  <a:ext uri="{0D108BD9-81ED-4DB2-BD59-A6C34878D82A}">
                    <a16:rowId xmlns:a16="http://schemas.microsoft.com/office/drawing/2014/main" val="233750057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56534786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26495474"/>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632454121"/>
                  </a:ext>
                </a:extLst>
              </a:tr>
            </a:tbl>
          </a:graphicData>
        </a:graphic>
      </p:graphicFrame>
      <p:sp>
        <p:nvSpPr>
          <p:cNvPr id="17" name="ZoneTexte 16">
            <a:extLst>
              <a:ext uri="{FF2B5EF4-FFF2-40B4-BE49-F238E27FC236}">
                <a16:creationId xmlns:a16="http://schemas.microsoft.com/office/drawing/2014/main" id="{E069AED5-1784-348D-6A9E-9D301F248D4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CCC-Flow – </a:t>
            </a:r>
            <a:r>
              <a:rPr lang="fr-FR" sz="3200" b="1" i="1">
                <a:solidFill>
                  <a:srgbClr val="ED7D31"/>
                </a:solidFill>
              </a:rPr>
              <a:t>Adaptation</a:t>
            </a:r>
            <a:endParaRPr lang="fr-FR" sz="3200"/>
          </a:p>
        </p:txBody>
      </p:sp>
      <p:sp>
        <p:nvSpPr>
          <p:cNvPr id="37" name="Espace réservé du texte 15">
            <a:extLst>
              <a:ext uri="{FF2B5EF4-FFF2-40B4-BE49-F238E27FC236}">
                <a16:creationId xmlns:a16="http://schemas.microsoft.com/office/drawing/2014/main" id="{329CFF52-673C-9F7B-6823-AEDE5A5493C9}"/>
              </a:ext>
            </a:extLst>
          </p:cNvPr>
          <p:cNvSpPr txBox="1">
            <a:spLocks/>
          </p:cNvSpPr>
          <p:nvPr/>
        </p:nvSpPr>
        <p:spPr>
          <a:xfrm>
            <a:off x="1292106" y="6326283"/>
            <a:ext cx="10645035" cy="3589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a:solidFill>
                  <a:schemeClr val="tx1"/>
                </a:solidFill>
              </a:rPr>
              <a:t>Pour adapter facilement l’atelier et créer des variantes</a:t>
            </a:r>
          </a:p>
        </p:txBody>
      </p:sp>
    </p:spTree>
    <p:extLst>
      <p:ext uri="{BB962C8B-B14F-4D97-AF65-F5344CB8AC3E}">
        <p14:creationId xmlns:p14="http://schemas.microsoft.com/office/powerpoint/2010/main" val="20157686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696173EB-995E-42E1-AF15-85F20EF5C71D}"/>
              </a:ext>
            </a:extLst>
          </p:cNvPr>
          <p:cNvSpPr txBox="1">
            <a:spLocks/>
          </p:cNvSpPr>
          <p:nvPr/>
        </p:nvSpPr>
        <p:spPr>
          <a:xfrm>
            <a:off x="134224" y="703064"/>
            <a:ext cx="12192000" cy="196302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600" b="1" i="1"/>
              <a:t>Atelier CCC-Groups</a:t>
            </a:r>
          </a:p>
          <a:p>
            <a:pPr marL="0" indent="0" algn="ctr">
              <a:buNone/>
            </a:pPr>
            <a:r>
              <a:rPr lang="fr-FR" sz="3200" b="1" i="1"/>
              <a:t>Créer des </a:t>
            </a:r>
            <a:r>
              <a:rPr lang="fr-FR" sz="3200" b="1" i="1">
                <a:solidFill>
                  <a:srgbClr val="0683AA"/>
                </a:solidFill>
              </a:rPr>
              <a:t>groupes de niveau </a:t>
            </a:r>
            <a:r>
              <a:rPr lang="fr-FR" sz="3200" b="1" i="1"/>
              <a:t>par maturité dans le sujet</a:t>
            </a:r>
          </a:p>
        </p:txBody>
      </p:sp>
      <p:grpSp>
        <p:nvGrpSpPr>
          <p:cNvPr id="9" name="Groupe 8">
            <a:extLst>
              <a:ext uri="{FF2B5EF4-FFF2-40B4-BE49-F238E27FC236}">
                <a16:creationId xmlns:a16="http://schemas.microsoft.com/office/drawing/2014/main" id="{7B8CBEAA-5771-9500-B9AC-AEFB77DF7C1F}"/>
              </a:ext>
            </a:extLst>
          </p:cNvPr>
          <p:cNvGrpSpPr/>
          <p:nvPr/>
        </p:nvGrpSpPr>
        <p:grpSpPr>
          <a:xfrm>
            <a:off x="4128486" y="2741150"/>
            <a:ext cx="3698197" cy="4117299"/>
            <a:chOff x="4128486" y="2379688"/>
            <a:chExt cx="3698197" cy="4117299"/>
          </a:xfrm>
        </p:grpSpPr>
        <p:pic>
          <p:nvPicPr>
            <p:cNvPr id="10" name="Graphique 9" descr="Homme tenant un panneau">
              <a:extLst>
                <a:ext uri="{FF2B5EF4-FFF2-40B4-BE49-F238E27FC236}">
                  <a16:creationId xmlns:a16="http://schemas.microsoft.com/office/drawing/2014/main" id="{1B61B5EB-BE9C-F5E2-C3A9-C18F18BC53D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11" name="Espace réservé du texte 15">
              <a:extLst>
                <a:ext uri="{FF2B5EF4-FFF2-40B4-BE49-F238E27FC236}">
                  <a16:creationId xmlns:a16="http://schemas.microsoft.com/office/drawing/2014/main" id="{11051754-E0FA-1215-0381-82243C25D121}"/>
                </a:ext>
              </a:extLst>
            </p:cNvPr>
            <p:cNvSpPr txBox="1">
              <a:spLocks/>
            </p:cNvSpPr>
            <p:nvPr/>
          </p:nvSpPr>
          <p:spPr>
            <a:xfrm>
              <a:off x="4472402" y="4484981"/>
              <a:ext cx="3061317" cy="1754554"/>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3200" b="1" i="1"/>
                <a:t>OÙ EN EST CHAQUE MEMBRE SUR </a:t>
              </a:r>
              <a:r>
                <a:rPr lang="fr-FR" sz="3200" b="1" i="1">
                  <a:solidFill>
                    <a:srgbClr val="0683AA"/>
                  </a:solidFill>
                </a:rPr>
                <a:t>LE SUJET</a:t>
              </a:r>
              <a:r>
                <a:rPr lang="fr-FR" sz="3200" b="1" i="1"/>
                <a:t> ?</a:t>
              </a:r>
              <a:endParaRPr lang="fr-FR" sz="3200" b="1" i="1">
                <a:solidFill>
                  <a:srgbClr val="0683AA"/>
                </a:solidFill>
              </a:endParaRPr>
            </a:p>
          </p:txBody>
        </p:sp>
      </p:grpSp>
    </p:spTree>
    <p:extLst>
      <p:ext uri="{BB962C8B-B14F-4D97-AF65-F5344CB8AC3E}">
        <p14:creationId xmlns:p14="http://schemas.microsoft.com/office/powerpoint/2010/main" val="13048721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Bulle narrative : ronde 95">
            <a:extLst>
              <a:ext uri="{FF2B5EF4-FFF2-40B4-BE49-F238E27FC236}">
                <a16:creationId xmlns:a16="http://schemas.microsoft.com/office/drawing/2014/main" id="{CD398584-DCD9-9D4F-52D9-4495C95A0845}"/>
              </a:ext>
            </a:extLst>
          </p:cNvPr>
          <p:cNvSpPr/>
          <p:nvPr/>
        </p:nvSpPr>
        <p:spPr>
          <a:xfrm>
            <a:off x="91314" y="932155"/>
            <a:ext cx="4542829" cy="1549178"/>
          </a:xfrm>
          <a:prstGeom prst="wedgeEllipseCallout">
            <a:avLst>
              <a:gd name="adj1" fmla="val -17434"/>
              <a:gd name="adj2" fmla="val 8996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ea typeface="+mn-lt"/>
                <a:cs typeface="+mn-lt"/>
              </a:rPr>
              <a:t>POUR UN SUJET DONNÉ, SI LES MEMBRES SONT À DES NIVEAUX DE MATURITÉ TRÈS DIFFÉRENTS, ON A DES RISQUES D’ENNUI, D’ÊTRE PERDUS, DE DÉPHASAGE…</a:t>
            </a:r>
            <a:endParaRPr lang="fr-FR" sz="1400">
              <a:solidFill>
                <a:schemeClr val="tx1"/>
              </a:solidFill>
              <a:ea typeface="+mn-lt"/>
              <a:cs typeface="+mn-lt"/>
            </a:endParaRPr>
          </a:p>
        </p:txBody>
      </p:sp>
      <p:sp>
        <p:nvSpPr>
          <p:cNvPr id="102" name="ZoneTexte 101">
            <a:extLst>
              <a:ext uri="{FF2B5EF4-FFF2-40B4-BE49-F238E27FC236}">
                <a16:creationId xmlns:a16="http://schemas.microsoft.com/office/drawing/2014/main" id="{0799A5AB-AD78-938E-7007-5DCA37808A62}"/>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CCC-Groups – </a:t>
            </a:r>
            <a:r>
              <a:rPr lang="fr-FR" sz="3200" b="1" i="1">
                <a:solidFill>
                  <a:srgbClr val="ED7D31"/>
                </a:solidFill>
              </a:rPr>
              <a:t>Pourquoi ?</a:t>
            </a:r>
            <a:endParaRPr lang="fr-FR" sz="3200"/>
          </a:p>
        </p:txBody>
      </p:sp>
      <p:graphicFrame>
        <p:nvGraphicFramePr>
          <p:cNvPr id="95" name="Tableau 5">
            <a:extLst>
              <a:ext uri="{FF2B5EF4-FFF2-40B4-BE49-F238E27FC236}">
                <a16:creationId xmlns:a16="http://schemas.microsoft.com/office/drawing/2014/main" id="{8F621E66-3207-8286-5DB5-2146CAEF8CD2}"/>
              </a:ext>
            </a:extLst>
          </p:cNvPr>
          <p:cNvGraphicFramePr>
            <a:graphicFrameLocks noGrp="1"/>
          </p:cNvGraphicFramePr>
          <p:nvPr>
            <p:extLst>
              <p:ext uri="{D42A27DB-BD31-4B8C-83A1-F6EECF244321}">
                <p14:modId xmlns:p14="http://schemas.microsoft.com/office/powerpoint/2010/main" val="387971422"/>
              </p:ext>
            </p:extLst>
          </p:nvPr>
        </p:nvGraphicFramePr>
        <p:xfrm>
          <a:off x="2379216" y="2898963"/>
          <a:ext cx="7730048" cy="1872277"/>
        </p:xfrm>
        <a:graphic>
          <a:graphicData uri="http://schemas.openxmlformats.org/drawingml/2006/table">
            <a:tbl>
              <a:tblPr firstRow="1" bandRow="1">
                <a:tableStyleId>{073A0DAA-6AF3-43AB-8588-CEC1D06C72B9}</a:tableStyleId>
              </a:tblPr>
              <a:tblGrid>
                <a:gridCol w="966256">
                  <a:extLst>
                    <a:ext uri="{9D8B030D-6E8A-4147-A177-3AD203B41FA5}">
                      <a16:colId xmlns:a16="http://schemas.microsoft.com/office/drawing/2014/main" val="1486018635"/>
                    </a:ext>
                  </a:extLst>
                </a:gridCol>
                <a:gridCol w="966256">
                  <a:extLst>
                    <a:ext uri="{9D8B030D-6E8A-4147-A177-3AD203B41FA5}">
                      <a16:colId xmlns:a16="http://schemas.microsoft.com/office/drawing/2014/main" val="761339006"/>
                    </a:ext>
                  </a:extLst>
                </a:gridCol>
                <a:gridCol w="966256">
                  <a:extLst>
                    <a:ext uri="{9D8B030D-6E8A-4147-A177-3AD203B41FA5}">
                      <a16:colId xmlns:a16="http://schemas.microsoft.com/office/drawing/2014/main" val="416087062"/>
                    </a:ext>
                  </a:extLst>
                </a:gridCol>
                <a:gridCol w="966256">
                  <a:extLst>
                    <a:ext uri="{9D8B030D-6E8A-4147-A177-3AD203B41FA5}">
                      <a16:colId xmlns:a16="http://schemas.microsoft.com/office/drawing/2014/main" val="2064857721"/>
                    </a:ext>
                  </a:extLst>
                </a:gridCol>
                <a:gridCol w="966256">
                  <a:extLst>
                    <a:ext uri="{9D8B030D-6E8A-4147-A177-3AD203B41FA5}">
                      <a16:colId xmlns:a16="http://schemas.microsoft.com/office/drawing/2014/main" val="183491405"/>
                    </a:ext>
                  </a:extLst>
                </a:gridCol>
                <a:gridCol w="966256">
                  <a:extLst>
                    <a:ext uri="{9D8B030D-6E8A-4147-A177-3AD203B41FA5}">
                      <a16:colId xmlns:a16="http://schemas.microsoft.com/office/drawing/2014/main" val="3364014230"/>
                    </a:ext>
                  </a:extLst>
                </a:gridCol>
                <a:gridCol w="966256">
                  <a:extLst>
                    <a:ext uri="{9D8B030D-6E8A-4147-A177-3AD203B41FA5}">
                      <a16:colId xmlns:a16="http://schemas.microsoft.com/office/drawing/2014/main" val="365145181"/>
                    </a:ext>
                  </a:extLst>
                </a:gridCol>
                <a:gridCol w="966256">
                  <a:extLst>
                    <a:ext uri="{9D8B030D-6E8A-4147-A177-3AD203B41FA5}">
                      <a16:colId xmlns:a16="http://schemas.microsoft.com/office/drawing/2014/main" val="1628287487"/>
                    </a:ext>
                  </a:extLst>
                </a:gridCol>
              </a:tblGrid>
              <a:tr h="306232">
                <a:tc>
                  <a:txBody>
                    <a:bodyPr/>
                    <a:lstStyle/>
                    <a:p>
                      <a:pPr algn="ctr"/>
                      <a:r>
                        <a:rPr lang="fr-FR" sz="900">
                          <a:solidFill>
                            <a:schemeClr val="bg1"/>
                          </a:solidFill>
                        </a:rPr>
                        <a:t>PAS ENCORE COMMENCÉ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INSPIRATION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COLLECTE</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INITIATION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CHOC DE LA RÉALITÉ</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CONFIRMATION DE RÉUSSITES</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EXPOSITION</a:t>
                      </a:r>
                    </a:p>
                    <a:p>
                      <a:pPr algn="ctr"/>
                      <a:endParaRPr lang="fr-FR" sz="900">
                        <a:solidFill>
                          <a:schemeClr val="bg1"/>
                        </a:solidFill>
                      </a:endParaRPr>
                    </a:p>
                  </a:txBody>
                  <a:tcPr/>
                </a:tc>
                <a:tc>
                  <a:txBody>
                    <a:bodyPr/>
                    <a:lstStyle/>
                    <a:p>
                      <a:pPr marL="0" indent="0" algn="ctr">
                        <a:buFont typeface="Arial" panose="020B0604020202020204" pitchFamily="34" charset="0"/>
                        <a:buNone/>
                      </a:pPr>
                      <a:r>
                        <a:rPr lang="fr-FR" sz="900" b="1" i="1">
                          <a:solidFill>
                            <a:schemeClr val="bg1"/>
                          </a:solidFill>
                        </a:rPr>
                        <a:t>FORTIFICATION</a:t>
                      </a:r>
                    </a:p>
                    <a:p>
                      <a:pPr marL="0" indent="0" algn="ctr">
                        <a:buFont typeface="Arial" panose="020B0604020202020204" pitchFamily="34" charset="0"/>
                        <a:buNone/>
                      </a:pPr>
                      <a:endParaRPr lang="fr-FR" sz="900" b="1" i="1">
                        <a:solidFill>
                          <a:schemeClr val="bg1"/>
                        </a:solidFill>
                      </a:endParaRPr>
                    </a:p>
                    <a:p>
                      <a:pPr algn="ctr"/>
                      <a:endParaRPr lang="fr-FR" sz="900">
                        <a:solidFill>
                          <a:schemeClr val="bg1"/>
                        </a:solidFill>
                      </a:endParaRPr>
                    </a:p>
                  </a:txBody>
                  <a:tcPr/>
                </a:tc>
                <a:extLst>
                  <a:ext uri="{0D108BD9-81ED-4DB2-BD59-A6C34878D82A}">
                    <a16:rowId xmlns:a16="http://schemas.microsoft.com/office/drawing/2014/main" val="3579208894"/>
                  </a:ext>
                </a:extLst>
              </a:tr>
              <a:tr h="1369357">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1415023090"/>
                  </a:ext>
                </a:extLst>
              </a:tr>
            </a:tbl>
          </a:graphicData>
        </a:graphic>
      </p:graphicFrame>
      <p:pic>
        <p:nvPicPr>
          <p:cNvPr id="97" name="Graphique 96" descr="Garçon aux cheveux bouclés">
            <a:extLst>
              <a:ext uri="{FF2B5EF4-FFF2-40B4-BE49-F238E27FC236}">
                <a16:creationId xmlns:a16="http://schemas.microsoft.com/office/drawing/2014/main" id="{76FDE230-FBF9-E434-91B8-D360BE9423D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3502346" y="3446777"/>
            <a:ext cx="398467" cy="410478"/>
          </a:xfrm>
          <a:prstGeom prst="rect">
            <a:avLst/>
          </a:prstGeom>
        </p:spPr>
      </p:pic>
      <p:pic>
        <p:nvPicPr>
          <p:cNvPr id="98" name="Graphique 97" descr="Fille portant un sac à dos">
            <a:extLst>
              <a:ext uri="{FF2B5EF4-FFF2-40B4-BE49-F238E27FC236}">
                <a16:creationId xmlns:a16="http://schemas.microsoft.com/office/drawing/2014/main" id="{5C1F752B-FBCB-0C1F-CD4B-20D0B165D98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4391635" y="3432808"/>
            <a:ext cx="398465" cy="402293"/>
          </a:xfrm>
          <a:prstGeom prst="rect">
            <a:avLst/>
          </a:prstGeom>
        </p:spPr>
      </p:pic>
      <p:pic>
        <p:nvPicPr>
          <p:cNvPr id="99" name="Graphique 98" descr="Homme avec barbe">
            <a:extLst>
              <a:ext uri="{FF2B5EF4-FFF2-40B4-BE49-F238E27FC236}">
                <a16:creationId xmlns:a16="http://schemas.microsoft.com/office/drawing/2014/main" id="{BF1B7A2A-05DB-5053-1850-FAAE24F5F62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4391544" y="3890427"/>
            <a:ext cx="370183" cy="433905"/>
          </a:xfrm>
          <a:prstGeom prst="rect">
            <a:avLst/>
          </a:prstGeom>
        </p:spPr>
      </p:pic>
      <p:pic>
        <p:nvPicPr>
          <p:cNvPr id="100" name="Graphique 99" descr="Homme tenant une tasse">
            <a:extLst>
              <a:ext uri="{FF2B5EF4-FFF2-40B4-BE49-F238E27FC236}">
                <a16:creationId xmlns:a16="http://schemas.microsoft.com/office/drawing/2014/main" id="{C3D2DDCB-D527-D70C-9141-D5AE4EB22EF9}"/>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311112" y="3875300"/>
            <a:ext cx="370183" cy="397133"/>
          </a:xfrm>
          <a:prstGeom prst="rect">
            <a:avLst/>
          </a:prstGeom>
        </p:spPr>
      </p:pic>
      <p:pic>
        <p:nvPicPr>
          <p:cNvPr id="103" name="Graphique 102" descr="Homme en smoking">
            <a:extLst>
              <a:ext uri="{FF2B5EF4-FFF2-40B4-BE49-F238E27FC236}">
                <a16:creationId xmlns:a16="http://schemas.microsoft.com/office/drawing/2014/main" id="{73C41BE7-6930-B980-2850-ED91CA4BCAB5}"/>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454178" y="3420689"/>
            <a:ext cx="351837" cy="462653"/>
          </a:xfrm>
          <a:prstGeom prst="rect">
            <a:avLst/>
          </a:prstGeom>
        </p:spPr>
      </p:pic>
      <p:pic>
        <p:nvPicPr>
          <p:cNvPr id="104" name="Graphique 103" descr="Homme avec bras prothétique">
            <a:extLst>
              <a:ext uri="{FF2B5EF4-FFF2-40B4-BE49-F238E27FC236}">
                <a16:creationId xmlns:a16="http://schemas.microsoft.com/office/drawing/2014/main" id="{03A4CF43-A758-3EE0-C812-1C8E8161803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2816607" y="3487596"/>
            <a:ext cx="521269" cy="381325"/>
          </a:xfrm>
          <a:prstGeom prst="rect">
            <a:avLst/>
          </a:prstGeom>
        </p:spPr>
      </p:pic>
      <p:pic>
        <p:nvPicPr>
          <p:cNvPr id="107" name="Graphique 106" descr="Homme portant une chemise avec motif">
            <a:extLst>
              <a:ext uri="{FF2B5EF4-FFF2-40B4-BE49-F238E27FC236}">
                <a16:creationId xmlns:a16="http://schemas.microsoft.com/office/drawing/2014/main" id="{94C3FF56-7D71-F8B4-7051-6F734ADDAB7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6281342" y="3441002"/>
            <a:ext cx="352508" cy="440443"/>
          </a:xfrm>
          <a:prstGeom prst="rect">
            <a:avLst/>
          </a:prstGeom>
        </p:spPr>
      </p:pic>
      <p:pic>
        <p:nvPicPr>
          <p:cNvPr id="108" name="Graphique 107" descr="Homme âgé portant une veste">
            <a:extLst>
              <a:ext uri="{FF2B5EF4-FFF2-40B4-BE49-F238E27FC236}">
                <a16:creationId xmlns:a16="http://schemas.microsoft.com/office/drawing/2014/main" id="{DFCAEDA9-BD9D-966E-07EA-4B24A5EC7E5E}"/>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2445155" y="4334005"/>
            <a:ext cx="374626" cy="415948"/>
          </a:xfrm>
          <a:prstGeom prst="rect">
            <a:avLst/>
          </a:prstGeom>
        </p:spPr>
      </p:pic>
      <p:pic>
        <p:nvPicPr>
          <p:cNvPr id="109" name="Graphique 108" descr="Homme portant chapeau et costume">
            <a:extLst>
              <a:ext uri="{FF2B5EF4-FFF2-40B4-BE49-F238E27FC236}">
                <a16:creationId xmlns:a16="http://schemas.microsoft.com/office/drawing/2014/main" id="{08FE2D73-CEEF-DF2B-B8D0-CCCAAA69DECA}"/>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2452811" y="3876785"/>
            <a:ext cx="419339" cy="457716"/>
          </a:xfrm>
          <a:prstGeom prst="rect">
            <a:avLst/>
          </a:prstGeom>
        </p:spPr>
      </p:pic>
      <p:pic>
        <p:nvPicPr>
          <p:cNvPr id="110" name="Graphique 109" descr="Femme non-voyante utilisant un bâton">
            <a:extLst>
              <a:ext uri="{FF2B5EF4-FFF2-40B4-BE49-F238E27FC236}">
                <a16:creationId xmlns:a16="http://schemas.microsoft.com/office/drawing/2014/main" id="{E1C38EAA-67AC-7440-315D-6C790F3D6127}"/>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4350300" y="4342357"/>
            <a:ext cx="411427" cy="397134"/>
          </a:xfrm>
          <a:prstGeom prst="rect">
            <a:avLst/>
          </a:prstGeom>
        </p:spPr>
      </p:pic>
      <p:pic>
        <p:nvPicPr>
          <p:cNvPr id="111" name="Graphique 110" descr="Femme levant le doigt">
            <a:extLst>
              <a:ext uri="{FF2B5EF4-FFF2-40B4-BE49-F238E27FC236}">
                <a16:creationId xmlns:a16="http://schemas.microsoft.com/office/drawing/2014/main" id="{11F24FBE-E948-04ED-FE8C-65B05CB78E54}"/>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7254786" y="3432808"/>
            <a:ext cx="379003" cy="456211"/>
          </a:xfrm>
          <a:prstGeom prst="rect">
            <a:avLst/>
          </a:prstGeom>
        </p:spPr>
      </p:pic>
      <p:pic>
        <p:nvPicPr>
          <p:cNvPr id="112" name="Graphique 111" descr="Femme avec queue de cheval">
            <a:extLst>
              <a:ext uri="{FF2B5EF4-FFF2-40B4-BE49-F238E27FC236}">
                <a16:creationId xmlns:a16="http://schemas.microsoft.com/office/drawing/2014/main" id="{A95EDCA6-EFA2-FDA2-BC7A-CCF464CD4EEC}"/>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2826075" y="3912840"/>
            <a:ext cx="481610" cy="422737"/>
          </a:xfrm>
          <a:prstGeom prst="rect">
            <a:avLst/>
          </a:prstGeom>
        </p:spPr>
      </p:pic>
      <p:pic>
        <p:nvPicPr>
          <p:cNvPr id="113" name="Graphique 112" descr="Femme utilisant une cane">
            <a:extLst>
              <a:ext uri="{FF2B5EF4-FFF2-40B4-BE49-F238E27FC236}">
                <a16:creationId xmlns:a16="http://schemas.microsoft.com/office/drawing/2014/main" id="{1D5BCB93-6455-1799-D431-1E762D3BDF19}"/>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8049288" y="3409417"/>
            <a:ext cx="706248" cy="518063"/>
          </a:xfrm>
          <a:prstGeom prst="rect">
            <a:avLst/>
          </a:prstGeom>
        </p:spPr>
      </p:pic>
      <p:pic>
        <p:nvPicPr>
          <p:cNvPr id="114" name="Graphique 113" descr="Femme aux cheveux afro">
            <a:extLst>
              <a:ext uri="{FF2B5EF4-FFF2-40B4-BE49-F238E27FC236}">
                <a16:creationId xmlns:a16="http://schemas.microsoft.com/office/drawing/2014/main" id="{AD2023AC-6A26-A87B-ABFE-EFA19F4F0EE3}"/>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9216723" y="3432808"/>
            <a:ext cx="711292" cy="518063"/>
          </a:xfrm>
          <a:prstGeom prst="rect">
            <a:avLst/>
          </a:prstGeom>
        </p:spPr>
      </p:pic>
      <p:pic>
        <p:nvPicPr>
          <p:cNvPr id="106" name="Graphique 3" descr="Femme portant un tailleur">
            <a:extLst>
              <a:ext uri="{FF2B5EF4-FFF2-40B4-BE49-F238E27FC236}">
                <a16:creationId xmlns:a16="http://schemas.microsoft.com/office/drawing/2014/main" id="{B84E0861-DB79-5DCE-2CD8-55C276B8A5BC}"/>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254705" y="2570861"/>
            <a:ext cx="2493401" cy="5197431"/>
          </a:xfrm>
          <a:prstGeom prst="rect">
            <a:avLst/>
          </a:prstGeom>
        </p:spPr>
      </p:pic>
      <p:sp>
        <p:nvSpPr>
          <p:cNvPr id="101" name="Bulle narrative : ronde 100">
            <a:extLst>
              <a:ext uri="{FF2B5EF4-FFF2-40B4-BE49-F238E27FC236}">
                <a16:creationId xmlns:a16="http://schemas.microsoft.com/office/drawing/2014/main" id="{022F3626-D395-65A3-DF92-E91BFB9BD679}"/>
              </a:ext>
            </a:extLst>
          </p:cNvPr>
          <p:cNvSpPr/>
          <p:nvPr/>
        </p:nvSpPr>
        <p:spPr>
          <a:xfrm>
            <a:off x="8229603" y="709817"/>
            <a:ext cx="3870665" cy="2134551"/>
          </a:xfrm>
          <a:prstGeom prst="wedgeEllipseCallout">
            <a:avLst>
              <a:gd name="adj1" fmla="val 17742"/>
              <a:gd name="adj2" fmla="val 69669"/>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rgbClr val="ED7D31"/>
                </a:solidFill>
                <a:ea typeface="+mn-lt"/>
                <a:cs typeface="+mn-lt"/>
              </a:rPr>
              <a:t>L’ATELIER CCC-GROUP</a:t>
            </a:r>
            <a:r>
              <a:rPr lang="fr-FR" sz="1400" b="1">
                <a:solidFill>
                  <a:schemeClr val="tx1"/>
                </a:solidFill>
                <a:ea typeface="+mn-lt"/>
                <a:cs typeface="+mn-lt"/>
              </a:rPr>
              <a:t> PERMET PAR SUJET DONN</a:t>
            </a:r>
            <a:r>
              <a:rPr lang="fr-FR" sz="1400" b="1">
                <a:solidFill>
                  <a:schemeClr val="tx1"/>
                </a:solidFill>
              </a:rPr>
              <a:t>É</a:t>
            </a:r>
            <a:r>
              <a:rPr lang="fr-FR" sz="1400" b="1">
                <a:solidFill>
                  <a:schemeClr val="tx1"/>
                </a:solidFill>
                <a:ea typeface="+mn-lt"/>
                <a:cs typeface="+mn-lt"/>
              </a:rPr>
              <a:t>, DE PLACER LES MEMBRES SUR LES DIFF</a:t>
            </a:r>
            <a:r>
              <a:rPr lang="fr-FR" sz="1400" b="1">
                <a:solidFill>
                  <a:schemeClr val="tx1"/>
                </a:solidFill>
              </a:rPr>
              <a:t>É</a:t>
            </a:r>
            <a:r>
              <a:rPr lang="fr-FR" sz="1400" b="1">
                <a:solidFill>
                  <a:schemeClr val="tx1"/>
                </a:solidFill>
                <a:ea typeface="+mn-lt"/>
                <a:cs typeface="+mn-lt"/>
              </a:rPr>
              <a:t>RENTES PHASES DU CCC MODEL. </a:t>
            </a:r>
          </a:p>
          <a:p>
            <a:pPr algn="ctr"/>
            <a:endParaRPr lang="fr-FR" sz="1400" b="1">
              <a:solidFill>
                <a:schemeClr val="tx1"/>
              </a:solidFill>
              <a:ea typeface="+mn-lt"/>
              <a:cs typeface="+mn-lt"/>
            </a:endParaRPr>
          </a:p>
          <a:p>
            <a:pPr algn="ctr"/>
            <a:r>
              <a:rPr lang="fr-FR" sz="1400" b="1">
                <a:solidFill>
                  <a:schemeClr val="tx1"/>
                </a:solidFill>
                <a:ea typeface="+mn-lt"/>
                <a:cs typeface="+mn-lt"/>
              </a:rPr>
              <a:t>C'EST ALORS PLUS FACILE DE CHOISIR DES ACTIVIT</a:t>
            </a:r>
            <a:r>
              <a:rPr lang="fr-FR" sz="1400" b="1">
                <a:solidFill>
                  <a:schemeClr val="tx1"/>
                </a:solidFill>
              </a:rPr>
              <a:t>É</a:t>
            </a:r>
            <a:r>
              <a:rPr lang="fr-FR" sz="1400" b="1">
                <a:solidFill>
                  <a:schemeClr val="tx1"/>
                </a:solidFill>
                <a:ea typeface="+mn-lt"/>
                <a:cs typeface="+mn-lt"/>
              </a:rPr>
              <a:t>S « PAR NIVEAU »</a:t>
            </a:r>
            <a:endParaRPr lang="fr-FR" sz="1400">
              <a:solidFill>
                <a:schemeClr val="tx1"/>
              </a:solidFill>
              <a:ea typeface="+mn-lt"/>
              <a:cs typeface="+mn-lt"/>
            </a:endParaRPr>
          </a:p>
        </p:txBody>
      </p:sp>
      <p:pic>
        <p:nvPicPr>
          <p:cNvPr id="2" name="Graphique 1" descr="Homme en polo">
            <a:extLst>
              <a:ext uri="{FF2B5EF4-FFF2-40B4-BE49-F238E27FC236}">
                <a16:creationId xmlns:a16="http://schemas.microsoft.com/office/drawing/2014/main" id="{A2A6FC8F-7813-6450-58E6-BD9A0609E7F8}"/>
              </a:ext>
            </a:extLst>
          </p:cNvPr>
          <p:cNvPicPr>
            <a:picLocks noChangeAspect="1"/>
          </p:cNvPicPr>
          <p:nvPr/>
        </p:nvPicPr>
        <p:blipFill rotWithShape="1">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rcRect b="41673"/>
          <a:stretch/>
        </p:blipFill>
        <p:spPr>
          <a:xfrm flipH="1">
            <a:off x="10120229" y="3292483"/>
            <a:ext cx="1983482" cy="3565517"/>
          </a:xfrm>
          <a:prstGeom prst="rect">
            <a:avLst/>
          </a:prstGeom>
        </p:spPr>
      </p:pic>
    </p:spTree>
    <p:extLst>
      <p:ext uri="{BB962C8B-B14F-4D97-AF65-F5344CB8AC3E}">
        <p14:creationId xmlns:p14="http://schemas.microsoft.com/office/powerpoint/2010/main" val="37022486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Bulle narrative : ronde 95">
            <a:extLst>
              <a:ext uri="{FF2B5EF4-FFF2-40B4-BE49-F238E27FC236}">
                <a16:creationId xmlns:a16="http://schemas.microsoft.com/office/drawing/2014/main" id="{CD398584-DCD9-9D4F-52D9-4495C95A0845}"/>
              </a:ext>
            </a:extLst>
          </p:cNvPr>
          <p:cNvSpPr/>
          <p:nvPr/>
        </p:nvSpPr>
        <p:spPr>
          <a:xfrm>
            <a:off x="91314" y="932155"/>
            <a:ext cx="4542829" cy="1549178"/>
          </a:xfrm>
          <a:prstGeom prst="wedgeEllipseCallout">
            <a:avLst>
              <a:gd name="adj1" fmla="val -17434"/>
              <a:gd name="adj2" fmla="val 89965"/>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ea typeface="+mn-lt"/>
                <a:cs typeface="+mn-lt"/>
              </a:rPr>
              <a:t>CHAQUE PHASE CORRESPOND A UN NIVEAU DE MATURITE POUR UN SUJET DONNE</a:t>
            </a:r>
            <a:endParaRPr lang="fr-FR" sz="1400" dirty="0">
              <a:solidFill>
                <a:schemeClr val="tx1"/>
              </a:solidFill>
              <a:ea typeface="+mn-lt"/>
              <a:cs typeface="+mn-lt"/>
            </a:endParaRPr>
          </a:p>
        </p:txBody>
      </p:sp>
      <p:sp>
        <p:nvSpPr>
          <p:cNvPr id="102" name="ZoneTexte 101">
            <a:extLst>
              <a:ext uri="{FF2B5EF4-FFF2-40B4-BE49-F238E27FC236}">
                <a16:creationId xmlns:a16="http://schemas.microsoft.com/office/drawing/2014/main" id="{0799A5AB-AD78-938E-7007-5DCA37808A62}"/>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CCC-Groups – </a:t>
            </a:r>
            <a:r>
              <a:rPr lang="fr-FR" sz="3200" b="1" i="1">
                <a:solidFill>
                  <a:srgbClr val="ED7D31"/>
                </a:solidFill>
              </a:rPr>
              <a:t>Pourquoi ?</a:t>
            </a:r>
            <a:endParaRPr lang="fr-FR" sz="3200"/>
          </a:p>
        </p:txBody>
      </p:sp>
      <p:graphicFrame>
        <p:nvGraphicFramePr>
          <p:cNvPr id="95" name="Tableau 5">
            <a:extLst>
              <a:ext uri="{FF2B5EF4-FFF2-40B4-BE49-F238E27FC236}">
                <a16:creationId xmlns:a16="http://schemas.microsoft.com/office/drawing/2014/main" id="{8F621E66-3207-8286-5DB5-2146CAEF8CD2}"/>
              </a:ext>
            </a:extLst>
          </p:cNvPr>
          <p:cNvGraphicFramePr>
            <a:graphicFrameLocks noGrp="1"/>
          </p:cNvGraphicFramePr>
          <p:nvPr>
            <p:extLst>
              <p:ext uri="{D42A27DB-BD31-4B8C-83A1-F6EECF244321}">
                <p14:modId xmlns:p14="http://schemas.microsoft.com/office/powerpoint/2010/main" val="2709569166"/>
              </p:ext>
            </p:extLst>
          </p:nvPr>
        </p:nvGraphicFramePr>
        <p:xfrm>
          <a:off x="2362728" y="2692257"/>
          <a:ext cx="7730048" cy="2423160"/>
        </p:xfrm>
        <a:graphic>
          <a:graphicData uri="http://schemas.openxmlformats.org/drawingml/2006/table">
            <a:tbl>
              <a:tblPr firstRow="1" bandRow="1">
                <a:tableStyleId>{073A0DAA-6AF3-43AB-8588-CEC1D06C72B9}</a:tableStyleId>
              </a:tblPr>
              <a:tblGrid>
                <a:gridCol w="966256">
                  <a:extLst>
                    <a:ext uri="{9D8B030D-6E8A-4147-A177-3AD203B41FA5}">
                      <a16:colId xmlns:a16="http://schemas.microsoft.com/office/drawing/2014/main" val="1486018635"/>
                    </a:ext>
                  </a:extLst>
                </a:gridCol>
                <a:gridCol w="966256">
                  <a:extLst>
                    <a:ext uri="{9D8B030D-6E8A-4147-A177-3AD203B41FA5}">
                      <a16:colId xmlns:a16="http://schemas.microsoft.com/office/drawing/2014/main" val="761339006"/>
                    </a:ext>
                  </a:extLst>
                </a:gridCol>
                <a:gridCol w="966256">
                  <a:extLst>
                    <a:ext uri="{9D8B030D-6E8A-4147-A177-3AD203B41FA5}">
                      <a16:colId xmlns:a16="http://schemas.microsoft.com/office/drawing/2014/main" val="416087062"/>
                    </a:ext>
                  </a:extLst>
                </a:gridCol>
                <a:gridCol w="966256">
                  <a:extLst>
                    <a:ext uri="{9D8B030D-6E8A-4147-A177-3AD203B41FA5}">
                      <a16:colId xmlns:a16="http://schemas.microsoft.com/office/drawing/2014/main" val="2064857721"/>
                    </a:ext>
                  </a:extLst>
                </a:gridCol>
                <a:gridCol w="966256">
                  <a:extLst>
                    <a:ext uri="{9D8B030D-6E8A-4147-A177-3AD203B41FA5}">
                      <a16:colId xmlns:a16="http://schemas.microsoft.com/office/drawing/2014/main" val="183491405"/>
                    </a:ext>
                  </a:extLst>
                </a:gridCol>
                <a:gridCol w="966256">
                  <a:extLst>
                    <a:ext uri="{9D8B030D-6E8A-4147-A177-3AD203B41FA5}">
                      <a16:colId xmlns:a16="http://schemas.microsoft.com/office/drawing/2014/main" val="3364014230"/>
                    </a:ext>
                  </a:extLst>
                </a:gridCol>
                <a:gridCol w="966256">
                  <a:extLst>
                    <a:ext uri="{9D8B030D-6E8A-4147-A177-3AD203B41FA5}">
                      <a16:colId xmlns:a16="http://schemas.microsoft.com/office/drawing/2014/main" val="365145181"/>
                    </a:ext>
                  </a:extLst>
                </a:gridCol>
                <a:gridCol w="966256">
                  <a:extLst>
                    <a:ext uri="{9D8B030D-6E8A-4147-A177-3AD203B41FA5}">
                      <a16:colId xmlns:a16="http://schemas.microsoft.com/office/drawing/2014/main" val="1628287487"/>
                    </a:ext>
                  </a:extLst>
                </a:gridCol>
              </a:tblGrid>
              <a:tr h="306232">
                <a:tc>
                  <a:txBody>
                    <a:bodyPr/>
                    <a:lstStyle/>
                    <a:p>
                      <a:pPr algn="ctr"/>
                      <a:r>
                        <a:rPr lang="fr-FR" sz="900">
                          <a:solidFill>
                            <a:schemeClr val="bg1"/>
                          </a:solidFill>
                        </a:rPr>
                        <a:t>PAS ENCORE COMMENCÉ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INSPIRATION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dirty="0">
                          <a:solidFill>
                            <a:schemeClr val="bg1"/>
                          </a:solidFill>
                        </a:rPr>
                        <a:t>COLLECTE</a:t>
                      </a:r>
                    </a:p>
                    <a:p>
                      <a:pPr algn="ctr"/>
                      <a:endParaRPr lang="fr-FR" sz="900" dirty="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dirty="0">
                          <a:solidFill>
                            <a:schemeClr val="bg1"/>
                          </a:solidFill>
                        </a:rPr>
                        <a:t>INITIATION</a:t>
                      </a:r>
                    </a:p>
                    <a:p>
                      <a:pPr algn="ctr"/>
                      <a:endParaRPr lang="fr-FR" sz="900" dirty="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dirty="0">
                          <a:solidFill>
                            <a:schemeClr val="bg1"/>
                          </a:solidFill>
                        </a:rPr>
                        <a:t>CHOC DE LA RÉALITÉ</a:t>
                      </a:r>
                    </a:p>
                    <a:p>
                      <a:pPr algn="ctr"/>
                      <a:endParaRPr lang="fr-FR" sz="900" dirty="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CONFIRMATION DE RÉUSSITES</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EXPOSITION</a:t>
                      </a:r>
                    </a:p>
                    <a:p>
                      <a:pPr algn="ctr"/>
                      <a:endParaRPr lang="fr-FR" sz="900">
                        <a:solidFill>
                          <a:schemeClr val="bg1"/>
                        </a:solidFill>
                      </a:endParaRPr>
                    </a:p>
                  </a:txBody>
                  <a:tcPr/>
                </a:tc>
                <a:tc>
                  <a:txBody>
                    <a:bodyPr/>
                    <a:lstStyle/>
                    <a:p>
                      <a:pPr marL="0" indent="0" algn="ctr">
                        <a:buFont typeface="Arial" panose="020B0604020202020204" pitchFamily="34" charset="0"/>
                        <a:buNone/>
                      </a:pPr>
                      <a:r>
                        <a:rPr lang="fr-FR" sz="900" b="1" i="1">
                          <a:solidFill>
                            <a:schemeClr val="bg1"/>
                          </a:solidFill>
                        </a:rPr>
                        <a:t>FORTIFICATION</a:t>
                      </a:r>
                    </a:p>
                    <a:p>
                      <a:pPr marL="0" indent="0" algn="ctr">
                        <a:buFont typeface="Arial" panose="020B0604020202020204" pitchFamily="34" charset="0"/>
                        <a:buNone/>
                      </a:pPr>
                      <a:endParaRPr lang="fr-FR" sz="900" b="1" i="1">
                        <a:solidFill>
                          <a:schemeClr val="bg1"/>
                        </a:solidFill>
                      </a:endParaRPr>
                    </a:p>
                    <a:p>
                      <a:pPr algn="ctr"/>
                      <a:endParaRPr lang="fr-FR" sz="900">
                        <a:solidFill>
                          <a:schemeClr val="bg1"/>
                        </a:solidFill>
                      </a:endParaRPr>
                    </a:p>
                  </a:txBody>
                  <a:tcPr/>
                </a:tc>
                <a:extLst>
                  <a:ext uri="{0D108BD9-81ED-4DB2-BD59-A6C34878D82A}">
                    <a16:rowId xmlns:a16="http://schemas.microsoft.com/office/drawing/2014/main" val="3579208894"/>
                  </a:ext>
                </a:extLst>
              </a:tr>
              <a:tr h="1369357">
                <a:tc>
                  <a:txBody>
                    <a:bodyPr/>
                    <a:lstStyle/>
                    <a:p>
                      <a:pPr algn="ctr"/>
                      <a:r>
                        <a:rPr lang="fr-FR" sz="1200" dirty="0"/>
                        <a:t>Je ne connais pas du tout le sujet</a:t>
                      </a:r>
                    </a:p>
                  </a:txBody>
                  <a:tcPr/>
                </a:tc>
                <a:tc>
                  <a:txBody>
                    <a:bodyPr/>
                    <a:lstStyle/>
                    <a:p>
                      <a:pPr algn="ctr"/>
                      <a:r>
                        <a:rPr lang="fr-FR" sz="1200" dirty="0"/>
                        <a:t>J’en ai un peu entendu parler et cela m’intéresse</a:t>
                      </a:r>
                    </a:p>
                  </a:txBody>
                  <a:tcPr/>
                </a:tc>
                <a:tc>
                  <a:txBody>
                    <a:bodyPr/>
                    <a:lstStyle/>
                    <a:p>
                      <a:pPr algn="ctr"/>
                      <a:r>
                        <a:rPr lang="fr-FR" sz="1200" dirty="0"/>
                        <a:t>Je fais le point sur ma propre situation et mes propres motivations avant de me lancer</a:t>
                      </a:r>
                    </a:p>
                  </a:txBody>
                  <a:tcPr/>
                </a:tc>
                <a:tc>
                  <a:txBody>
                    <a:bodyPr/>
                    <a:lstStyle/>
                    <a:p>
                      <a:pPr algn="ctr"/>
                      <a:r>
                        <a:rPr lang="fr-FR" sz="1200" dirty="0"/>
                        <a:t>J’ai commencé à me former mais pas à appliquer</a:t>
                      </a:r>
                    </a:p>
                  </a:txBody>
                  <a:tcPr/>
                </a:tc>
                <a:tc>
                  <a:txBody>
                    <a:bodyPr/>
                    <a:lstStyle/>
                    <a:p>
                      <a:pPr algn="ctr"/>
                      <a:r>
                        <a:rPr lang="fr-FR" sz="1200" dirty="0"/>
                        <a:t>J’essaye d’appliquer, je fais face aux difficultés du réel</a:t>
                      </a:r>
                    </a:p>
                  </a:txBody>
                  <a:tcPr/>
                </a:tc>
                <a:tc>
                  <a:txBody>
                    <a:bodyPr/>
                    <a:lstStyle/>
                    <a:p>
                      <a:pPr algn="ctr"/>
                      <a:r>
                        <a:rPr lang="fr-FR" sz="1200" dirty="0"/>
                        <a:t>J’ai une expérience réussie au moins, je peux capitaliser certaines pratiques</a:t>
                      </a:r>
                    </a:p>
                  </a:txBody>
                  <a:tcPr/>
                </a:tc>
                <a:tc>
                  <a:txBody>
                    <a:bodyPr/>
                    <a:lstStyle/>
                    <a:p>
                      <a:pPr algn="ctr"/>
                      <a:r>
                        <a:rPr lang="fr-FR" sz="1200" dirty="0"/>
                        <a:t>Je suis capable de transmettre, partager, grâce à mes expériences déjà capitalisées</a:t>
                      </a:r>
                    </a:p>
                  </a:txBody>
                  <a:tcPr/>
                </a:tc>
                <a:tc>
                  <a:txBody>
                    <a:bodyPr/>
                    <a:lstStyle/>
                    <a:p>
                      <a:pPr algn="ctr"/>
                      <a:r>
                        <a:rPr lang="fr-FR" sz="1200" dirty="0"/>
                        <a:t>Je suis officiellement en charge de ce sujet de par mon expérience, et reconnu(e) comme référent</a:t>
                      </a:r>
                    </a:p>
                  </a:txBody>
                  <a:tcPr/>
                </a:tc>
                <a:extLst>
                  <a:ext uri="{0D108BD9-81ED-4DB2-BD59-A6C34878D82A}">
                    <a16:rowId xmlns:a16="http://schemas.microsoft.com/office/drawing/2014/main" val="1415023090"/>
                  </a:ext>
                </a:extLst>
              </a:tr>
            </a:tbl>
          </a:graphicData>
        </a:graphic>
      </p:graphicFrame>
      <p:pic>
        <p:nvPicPr>
          <p:cNvPr id="97" name="Graphique 96" descr="Garçon aux cheveux bouclés">
            <a:extLst>
              <a:ext uri="{FF2B5EF4-FFF2-40B4-BE49-F238E27FC236}">
                <a16:creationId xmlns:a16="http://schemas.microsoft.com/office/drawing/2014/main" id="{76FDE230-FBF9-E434-91B8-D360BE9423D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6106302" y="5205639"/>
            <a:ext cx="398467" cy="410478"/>
          </a:xfrm>
          <a:prstGeom prst="rect">
            <a:avLst/>
          </a:prstGeom>
        </p:spPr>
      </p:pic>
      <p:pic>
        <p:nvPicPr>
          <p:cNvPr id="98" name="Graphique 97" descr="Fille portant un sac à dos">
            <a:extLst>
              <a:ext uri="{FF2B5EF4-FFF2-40B4-BE49-F238E27FC236}">
                <a16:creationId xmlns:a16="http://schemas.microsoft.com/office/drawing/2014/main" id="{5C1F752B-FBCB-0C1F-CD4B-20D0B165D98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6995591" y="5191670"/>
            <a:ext cx="398465" cy="402293"/>
          </a:xfrm>
          <a:prstGeom prst="rect">
            <a:avLst/>
          </a:prstGeom>
        </p:spPr>
      </p:pic>
      <p:pic>
        <p:nvPicPr>
          <p:cNvPr id="99" name="Graphique 98" descr="Homme avec barbe">
            <a:extLst>
              <a:ext uri="{FF2B5EF4-FFF2-40B4-BE49-F238E27FC236}">
                <a16:creationId xmlns:a16="http://schemas.microsoft.com/office/drawing/2014/main" id="{BF1B7A2A-05DB-5053-1850-FAAE24F5F62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6995500" y="5649289"/>
            <a:ext cx="370183" cy="433905"/>
          </a:xfrm>
          <a:prstGeom prst="rect">
            <a:avLst/>
          </a:prstGeom>
        </p:spPr>
      </p:pic>
      <p:pic>
        <p:nvPicPr>
          <p:cNvPr id="100" name="Graphique 99" descr="Homme tenant une tasse">
            <a:extLst>
              <a:ext uri="{FF2B5EF4-FFF2-40B4-BE49-F238E27FC236}">
                <a16:creationId xmlns:a16="http://schemas.microsoft.com/office/drawing/2014/main" id="{C3D2DDCB-D527-D70C-9141-D5AE4EB22EF9}"/>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430655" y="5693923"/>
            <a:ext cx="370183" cy="397133"/>
          </a:xfrm>
          <a:prstGeom prst="rect">
            <a:avLst/>
          </a:prstGeom>
        </p:spPr>
      </p:pic>
      <p:pic>
        <p:nvPicPr>
          <p:cNvPr id="103" name="Graphique 102" descr="Homme en smoking">
            <a:extLst>
              <a:ext uri="{FF2B5EF4-FFF2-40B4-BE49-F238E27FC236}">
                <a16:creationId xmlns:a16="http://schemas.microsoft.com/office/drawing/2014/main" id="{73C41BE7-6930-B980-2850-ED91CA4BCAB5}"/>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5058134" y="5179551"/>
            <a:ext cx="351837" cy="462653"/>
          </a:xfrm>
          <a:prstGeom prst="rect">
            <a:avLst/>
          </a:prstGeom>
        </p:spPr>
      </p:pic>
      <p:pic>
        <p:nvPicPr>
          <p:cNvPr id="104" name="Graphique 103" descr="Homme avec bras prothétique">
            <a:extLst>
              <a:ext uri="{FF2B5EF4-FFF2-40B4-BE49-F238E27FC236}">
                <a16:creationId xmlns:a16="http://schemas.microsoft.com/office/drawing/2014/main" id="{03A4CF43-A758-3EE0-C812-1C8E81618039}"/>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5420563" y="5246458"/>
            <a:ext cx="521269" cy="381325"/>
          </a:xfrm>
          <a:prstGeom prst="rect">
            <a:avLst/>
          </a:prstGeom>
        </p:spPr>
      </p:pic>
      <p:pic>
        <p:nvPicPr>
          <p:cNvPr id="107" name="Graphique 106" descr="Homme portant une chemise avec motif">
            <a:extLst>
              <a:ext uri="{FF2B5EF4-FFF2-40B4-BE49-F238E27FC236}">
                <a16:creationId xmlns:a16="http://schemas.microsoft.com/office/drawing/2014/main" id="{94C3FF56-7D71-F8B4-7051-6F734ADDAB7B}"/>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5870398" y="5660776"/>
            <a:ext cx="352508" cy="440443"/>
          </a:xfrm>
          <a:prstGeom prst="rect">
            <a:avLst/>
          </a:prstGeom>
        </p:spPr>
      </p:pic>
      <p:pic>
        <p:nvPicPr>
          <p:cNvPr id="108" name="Graphique 107" descr="Homme âgé portant une veste">
            <a:extLst>
              <a:ext uri="{FF2B5EF4-FFF2-40B4-BE49-F238E27FC236}">
                <a16:creationId xmlns:a16="http://schemas.microsoft.com/office/drawing/2014/main" id="{DFCAEDA9-BD9D-966E-07EA-4B24A5EC7E5E}"/>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5049111" y="6092867"/>
            <a:ext cx="374626" cy="415948"/>
          </a:xfrm>
          <a:prstGeom prst="rect">
            <a:avLst/>
          </a:prstGeom>
        </p:spPr>
      </p:pic>
      <p:pic>
        <p:nvPicPr>
          <p:cNvPr id="109" name="Graphique 108" descr="Homme portant chapeau et costume">
            <a:extLst>
              <a:ext uri="{FF2B5EF4-FFF2-40B4-BE49-F238E27FC236}">
                <a16:creationId xmlns:a16="http://schemas.microsoft.com/office/drawing/2014/main" id="{08FE2D73-CEEF-DF2B-B8D0-CCCAAA69DECA}"/>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5056767" y="5635647"/>
            <a:ext cx="419339" cy="457716"/>
          </a:xfrm>
          <a:prstGeom prst="rect">
            <a:avLst/>
          </a:prstGeom>
        </p:spPr>
      </p:pic>
      <p:pic>
        <p:nvPicPr>
          <p:cNvPr id="110" name="Graphique 109" descr="Femme non-voyante utilisant un bâton">
            <a:extLst>
              <a:ext uri="{FF2B5EF4-FFF2-40B4-BE49-F238E27FC236}">
                <a16:creationId xmlns:a16="http://schemas.microsoft.com/office/drawing/2014/main" id="{E1C38EAA-67AC-7440-315D-6C790F3D6127}"/>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6954256" y="6101219"/>
            <a:ext cx="411427" cy="397134"/>
          </a:xfrm>
          <a:prstGeom prst="rect">
            <a:avLst/>
          </a:prstGeom>
        </p:spPr>
      </p:pic>
      <p:pic>
        <p:nvPicPr>
          <p:cNvPr id="111" name="Graphique 110" descr="Femme levant le doigt">
            <a:extLst>
              <a:ext uri="{FF2B5EF4-FFF2-40B4-BE49-F238E27FC236}">
                <a16:creationId xmlns:a16="http://schemas.microsoft.com/office/drawing/2014/main" id="{11F24FBE-E948-04ED-FE8C-65B05CB78E54}"/>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5894321" y="6145878"/>
            <a:ext cx="379003" cy="456211"/>
          </a:xfrm>
          <a:prstGeom prst="rect">
            <a:avLst/>
          </a:prstGeom>
        </p:spPr>
      </p:pic>
      <p:pic>
        <p:nvPicPr>
          <p:cNvPr id="112" name="Graphique 111" descr="Femme avec queue de cheval">
            <a:extLst>
              <a:ext uri="{FF2B5EF4-FFF2-40B4-BE49-F238E27FC236}">
                <a16:creationId xmlns:a16="http://schemas.microsoft.com/office/drawing/2014/main" id="{A95EDCA6-EFA2-FDA2-BC7A-CCF464CD4EEC}"/>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5430031" y="5671702"/>
            <a:ext cx="481610" cy="422737"/>
          </a:xfrm>
          <a:prstGeom prst="rect">
            <a:avLst/>
          </a:prstGeom>
        </p:spPr>
      </p:pic>
      <p:pic>
        <p:nvPicPr>
          <p:cNvPr id="113" name="Graphique 112" descr="Femme utilisant une cane">
            <a:extLst>
              <a:ext uri="{FF2B5EF4-FFF2-40B4-BE49-F238E27FC236}">
                <a16:creationId xmlns:a16="http://schemas.microsoft.com/office/drawing/2014/main" id="{1D5BCB93-6455-1799-D431-1E762D3BDF19}"/>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7319587" y="5913330"/>
            <a:ext cx="706248" cy="518063"/>
          </a:xfrm>
          <a:prstGeom prst="rect">
            <a:avLst/>
          </a:prstGeom>
        </p:spPr>
      </p:pic>
      <p:pic>
        <p:nvPicPr>
          <p:cNvPr id="114" name="Graphique 113" descr="Femme aux cheveux afro">
            <a:extLst>
              <a:ext uri="{FF2B5EF4-FFF2-40B4-BE49-F238E27FC236}">
                <a16:creationId xmlns:a16="http://schemas.microsoft.com/office/drawing/2014/main" id="{AD2023AC-6A26-A87B-ABFE-EFA19F4F0EE3}"/>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4407474" y="5621965"/>
            <a:ext cx="711292" cy="518063"/>
          </a:xfrm>
          <a:prstGeom prst="rect">
            <a:avLst/>
          </a:prstGeom>
        </p:spPr>
      </p:pic>
      <p:pic>
        <p:nvPicPr>
          <p:cNvPr id="106" name="Graphique 3" descr="Femme portant un tailleur">
            <a:extLst>
              <a:ext uri="{FF2B5EF4-FFF2-40B4-BE49-F238E27FC236}">
                <a16:creationId xmlns:a16="http://schemas.microsoft.com/office/drawing/2014/main" id="{B84E0861-DB79-5DCE-2CD8-55C276B8A5BC}"/>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19735" y="3146706"/>
            <a:ext cx="2193346" cy="4571974"/>
          </a:xfrm>
          <a:prstGeom prst="rect">
            <a:avLst/>
          </a:prstGeom>
        </p:spPr>
      </p:pic>
      <p:sp>
        <p:nvSpPr>
          <p:cNvPr id="101" name="Bulle narrative : ronde 100">
            <a:extLst>
              <a:ext uri="{FF2B5EF4-FFF2-40B4-BE49-F238E27FC236}">
                <a16:creationId xmlns:a16="http://schemas.microsoft.com/office/drawing/2014/main" id="{022F3626-D395-65A3-DF92-E91BFB9BD679}"/>
              </a:ext>
            </a:extLst>
          </p:cNvPr>
          <p:cNvSpPr/>
          <p:nvPr/>
        </p:nvSpPr>
        <p:spPr>
          <a:xfrm>
            <a:off x="8229603" y="1136342"/>
            <a:ext cx="3870665" cy="1251751"/>
          </a:xfrm>
          <a:prstGeom prst="wedgeEllipseCallout">
            <a:avLst>
              <a:gd name="adj1" fmla="val 21870"/>
              <a:gd name="adj2" fmla="val 113641"/>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ea typeface="+mn-lt"/>
                <a:cs typeface="+mn-lt"/>
              </a:rPr>
              <a:t>ON PEUT ÊTRE TRÈS AVANCÉ SUR UN SUJET ET TRÈS PEU MATURE SUR UN AUTRE, </a:t>
            </a:r>
            <a:r>
              <a:rPr lang="fr-FR" sz="1400" b="1" dirty="0">
                <a:solidFill>
                  <a:srgbClr val="ED7D31"/>
                </a:solidFill>
                <a:ea typeface="+mn-lt"/>
                <a:cs typeface="+mn-lt"/>
              </a:rPr>
              <a:t>L’IMPORTANT EST DE BIEN SE SITUER</a:t>
            </a:r>
            <a:r>
              <a:rPr lang="fr-FR" sz="1400" b="1" dirty="0">
                <a:solidFill>
                  <a:schemeClr val="tx1"/>
                </a:solidFill>
                <a:ea typeface="+mn-lt"/>
                <a:cs typeface="+mn-lt"/>
              </a:rPr>
              <a:t> SI ON SOUHAITE PROGRESSER.</a:t>
            </a:r>
            <a:endParaRPr lang="fr-FR" sz="1400" dirty="0">
              <a:solidFill>
                <a:schemeClr val="tx1"/>
              </a:solidFill>
              <a:ea typeface="+mn-lt"/>
              <a:cs typeface="+mn-lt"/>
            </a:endParaRPr>
          </a:p>
        </p:txBody>
      </p:sp>
      <p:pic>
        <p:nvPicPr>
          <p:cNvPr id="2" name="Graphique 1" descr="Homme en polo">
            <a:extLst>
              <a:ext uri="{FF2B5EF4-FFF2-40B4-BE49-F238E27FC236}">
                <a16:creationId xmlns:a16="http://schemas.microsoft.com/office/drawing/2014/main" id="{A2A6FC8F-7813-6450-58E6-BD9A0609E7F8}"/>
              </a:ext>
            </a:extLst>
          </p:cNvPr>
          <p:cNvPicPr>
            <a:picLocks noChangeAspect="1"/>
          </p:cNvPicPr>
          <p:nvPr/>
        </p:nvPicPr>
        <p:blipFill rotWithShape="1">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rcRect b="41673"/>
          <a:stretch/>
        </p:blipFill>
        <p:spPr>
          <a:xfrm flipH="1">
            <a:off x="10120229" y="3292483"/>
            <a:ext cx="1983482" cy="3565517"/>
          </a:xfrm>
          <a:prstGeom prst="rect">
            <a:avLst/>
          </a:prstGeom>
        </p:spPr>
      </p:pic>
    </p:spTree>
    <p:extLst>
      <p:ext uri="{BB962C8B-B14F-4D97-AF65-F5344CB8AC3E}">
        <p14:creationId xmlns:p14="http://schemas.microsoft.com/office/powerpoint/2010/main" val="16347141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ZoneTexte 9">
            <a:extLst>
              <a:ext uri="{FF2B5EF4-FFF2-40B4-BE49-F238E27FC236}">
                <a16:creationId xmlns:a16="http://schemas.microsoft.com/office/drawing/2014/main" id="{6EE0080D-CC47-C5A4-4D60-02F246C99D86}"/>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CCC-Groups – </a:t>
            </a:r>
            <a:r>
              <a:rPr lang="fr-FR" sz="3200" b="1" i="1">
                <a:solidFill>
                  <a:srgbClr val="ED7D31"/>
                </a:solidFill>
              </a:rPr>
              <a:t>Vue d’ensemble</a:t>
            </a:r>
            <a:endParaRPr lang="fr-FR" sz="3200"/>
          </a:p>
        </p:txBody>
      </p:sp>
      <p:sp>
        <p:nvSpPr>
          <p:cNvPr id="13" name="Bulle narrative : ronde 12">
            <a:extLst>
              <a:ext uri="{FF2B5EF4-FFF2-40B4-BE49-F238E27FC236}">
                <a16:creationId xmlns:a16="http://schemas.microsoft.com/office/drawing/2014/main" id="{33436149-4F65-2C2D-59C8-FE535E3DFD17}"/>
              </a:ext>
            </a:extLst>
          </p:cNvPr>
          <p:cNvSpPr/>
          <p:nvPr/>
        </p:nvSpPr>
        <p:spPr>
          <a:xfrm>
            <a:off x="732469" y="3157520"/>
            <a:ext cx="969905" cy="765796"/>
          </a:xfrm>
          <a:prstGeom prst="wedgeEllipseCallout">
            <a:avLst>
              <a:gd name="adj1" fmla="val -16503"/>
              <a:gd name="adj2" fmla="val 74103"/>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a:solidFill>
                  <a:schemeClr val="tx1"/>
                </a:solidFill>
                <a:cs typeface="Calibri"/>
              </a:rPr>
              <a:t>Sujet XYZ ?</a:t>
            </a:r>
          </a:p>
        </p:txBody>
      </p:sp>
      <p:sp>
        <p:nvSpPr>
          <p:cNvPr id="15" name="Bulle narrative : ronde 14">
            <a:extLst>
              <a:ext uri="{FF2B5EF4-FFF2-40B4-BE49-F238E27FC236}">
                <a16:creationId xmlns:a16="http://schemas.microsoft.com/office/drawing/2014/main" id="{83B7EC25-4639-B33B-7CE3-3492AA687239}"/>
              </a:ext>
            </a:extLst>
          </p:cNvPr>
          <p:cNvSpPr/>
          <p:nvPr/>
        </p:nvSpPr>
        <p:spPr>
          <a:xfrm>
            <a:off x="1748038" y="3152233"/>
            <a:ext cx="1214135" cy="765796"/>
          </a:xfrm>
          <a:prstGeom prst="wedgeEllipseCallout">
            <a:avLst>
              <a:gd name="adj1" fmla="val 3329"/>
              <a:gd name="adj2" fmla="val 77214"/>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fr-FR" sz="1400" b="1">
              <a:solidFill>
                <a:schemeClr val="tx1"/>
              </a:solidFill>
            </a:endParaRPr>
          </a:p>
        </p:txBody>
      </p:sp>
      <p:pic>
        <p:nvPicPr>
          <p:cNvPr id="17" name="Espace réservé pour une image  29" descr="Homme en polo">
            <a:extLst>
              <a:ext uri="{FF2B5EF4-FFF2-40B4-BE49-F238E27FC236}">
                <a16:creationId xmlns:a16="http://schemas.microsoft.com/office/drawing/2014/main" id="{2663C8B3-FFFD-C903-9F5B-EF9C9FABD18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68548"/>
          <a:stretch/>
        </p:blipFill>
        <p:spPr>
          <a:xfrm flipH="1">
            <a:off x="1771803" y="4221804"/>
            <a:ext cx="1165926" cy="1059473"/>
          </a:xfrm>
          <a:prstGeom prst="rect">
            <a:avLst/>
          </a:prstGeom>
        </p:spPr>
      </p:pic>
      <p:pic>
        <p:nvPicPr>
          <p:cNvPr id="19" name="Graphique 18" descr="Homme âgé portant une veste">
            <a:extLst>
              <a:ext uri="{FF2B5EF4-FFF2-40B4-BE49-F238E27FC236}">
                <a16:creationId xmlns:a16="http://schemas.microsoft.com/office/drawing/2014/main" id="{48D48490-0A48-9C69-F682-B3BAFA02067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58457"/>
          <a:stretch/>
        </p:blipFill>
        <p:spPr>
          <a:xfrm>
            <a:off x="450430" y="4181637"/>
            <a:ext cx="867481" cy="1101404"/>
          </a:xfrm>
          <a:prstGeom prst="rect">
            <a:avLst/>
          </a:prstGeom>
        </p:spPr>
      </p:pic>
      <p:sp>
        <p:nvSpPr>
          <p:cNvPr id="8" name="Espace réservé du texte 7">
            <a:extLst>
              <a:ext uri="{FF2B5EF4-FFF2-40B4-BE49-F238E27FC236}">
                <a16:creationId xmlns:a16="http://schemas.microsoft.com/office/drawing/2014/main" id="{D270EF62-074B-43A4-8317-656159F178E6}"/>
              </a:ext>
            </a:extLst>
          </p:cNvPr>
          <p:cNvSpPr>
            <a:spLocks noGrp="1"/>
          </p:cNvSpPr>
          <p:nvPr>
            <p:ph type="body" sz="quarter" idx="16"/>
          </p:nvPr>
        </p:nvSpPr>
        <p:spPr>
          <a:xfrm>
            <a:off x="372302" y="5256467"/>
            <a:ext cx="2647016" cy="1182424"/>
          </a:xfrm>
        </p:spPr>
        <p:txBody>
          <a:bodyPr vert="horz" lIns="91440" tIns="45720" rIns="91440" bIns="45720" rtlCol="0" anchor="t">
            <a:noAutofit/>
          </a:bodyPr>
          <a:lstStyle/>
          <a:p>
            <a:r>
              <a:rPr lang="fr-FR" sz="1600"/>
              <a:t>Ensemble, les participants choisissent </a:t>
            </a:r>
            <a:r>
              <a:rPr lang="fr-FR" sz="1600" b="1">
                <a:solidFill>
                  <a:srgbClr val="ED7D31"/>
                </a:solidFill>
              </a:rPr>
              <a:t>un</a:t>
            </a:r>
            <a:r>
              <a:rPr lang="fr-FR" sz="1600"/>
              <a:t> sujet </a:t>
            </a:r>
            <a:r>
              <a:rPr lang="fr-FR"/>
              <a:t>de</a:t>
            </a:r>
            <a:r>
              <a:rPr lang="fr-FR" sz="1600"/>
              <a:t> la </a:t>
            </a:r>
            <a:r>
              <a:rPr lang="fr-FR"/>
              <a:t>Communauté sur lequel se positionner</a:t>
            </a:r>
            <a:endParaRPr lang="fr-FR" sz="1600"/>
          </a:p>
        </p:txBody>
      </p:sp>
      <p:sp>
        <p:nvSpPr>
          <p:cNvPr id="9" name="Espace réservé du texte 8">
            <a:extLst>
              <a:ext uri="{FF2B5EF4-FFF2-40B4-BE49-F238E27FC236}">
                <a16:creationId xmlns:a16="http://schemas.microsoft.com/office/drawing/2014/main" id="{B6C811D4-1FC7-4FB1-BD1A-89D1B362D69E}"/>
              </a:ext>
            </a:extLst>
          </p:cNvPr>
          <p:cNvSpPr>
            <a:spLocks noGrp="1"/>
          </p:cNvSpPr>
          <p:nvPr>
            <p:ph type="body" sz="quarter" idx="17"/>
          </p:nvPr>
        </p:nvSpPr>
        <p:spPr>
          <a:xfrm>
            <a:off x="3354862" y="5266236"/>
            <a:ext cx="2637247" cy="1177842"/>
          </a:xfrm>
        </p:spPr>
        <p:txBody>
          <a:bodyPr vert="horz" lIns="91440" tIns="45720" rIns="91440" bIns="45720" rtlCol="0" anchor="t">
            <a:noAutofit/>
          </a:bodyPr>
          <a:lstStyle/>
          <a:p>
            <a:r>
              <a:rPr lang="fr-FR" sz="1600"/>
              <a:t>Les membres</a:t>
            </a:r>
            <a:r>
              <a:rPr lang="fr-FR"/>
              <a:t> se positionnent chacun sur une </a:t>
            </a:r>
            <a:r>
              <a:rPr lang="fr-FR" b="1">
                <a:solidFill>
                  <a:srgbClr val="ED7D31"/>
                </a:solidFill>
              </a:rPr>
              <a:t>phase</a:t>
            </a:r>
            <a:r>
              <a:rPr lang="fr-FR"/>
              <a:t> du CCC à propos du sujet donné. </a:t>
            </a:r>
            <a:r>
              <a:rPr lang="fr-FR">
                <a:ea typeface="+mn-lt"/>
                <a:cs typeface="+mn-lt"/>
              </a:rPr>
              <a:t>Les sous-groupes de niveau sont ensuite décidés. </a:t>
            </a:r>
            <a:endParaRPr lang="fr-FR" sz="1600">
              <a:cs typeface="Calibri"/>
            </a:endParaRPr>
          </a:p>
        </p:txBody>
      </p:sp>
      <p:sp>
        <p:nvSpPr>
          <p:cNvPr id="34" name="Espace réservé du texte 7">
            <a:extLst>
              <a:ext uri="{FF2B5EF4-FFF2-40B4-BE49-F238E27FC236}">
                <a16:creationId xmlns:a16="http://schemas.microsoft.com/office/drawing/2014/main" id="{61D14536-CAFD-ABA4-B820-94C044288A7C}"/>
              </a:ext>
            </a:extLst>
          </p:cNvPr>
          <p:cNvSpPr txBox="1">
            <a:spLocks/>
          </p:cNvSpPr>
          <p:nvPr/>
        </p:nvSpPr>
        <p:spPr>
          <a:xfrm>
            <a:off x="9258395" y="5252559"/>
            <a:ext cx="2647016" cy="1201963"/>
          </a:xfrm>
          <a:prstGeom prst="rect">
            <a:avLst/>
          </a:prstGeom>
          <a:solidFill>
            <a:schemeClr val="bg1">
              <a:lumMod val="95000"/>
            </a:schemeClr>
          </a:solidFill>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ea typeface="+mn-lt"/>
                <a:cs typeface="+mn-lt"/>
              </a:rPr>
              <a:t>Facultatif : Les sous-groupes organisent des </a:t>
            </a:r>
            <a:r>
              <a:rPr lang="fr-FR" b="1">
                <a:solidFill>
                  <a:srgbClr val="ED7D31"/>
                </a:solidFill>
                <a:ea typeface="+mn-lt"/>
                <a:cs typeface="+mn-lt"/>
              </a:rPr>
              <a:t>mises en relation avec les autres sous-groupes</a:t>
            </a:r>
            <a:r>
              <a:rPr lang="fr-FR">
                <a:ea typeface="+mn-lt"/>
                <a:cs typeface="+mn-lt"/>
              </a:rPr>
              <a:t> pour s'entraider à atteindre les objectifs</a:t>
            </a:r>
            <a:endParaRPr lang="fr-FR"/>
          </a:p>
        </p:txBody>
      </p:sp>
      <p:pic>
        <p:nvPicPr>
          <p:cNvPr id="32" name="Graphique 31" descr="Garçon aux cheveux bouclés">
            <a:extLst>
              <a:ext uri="{FF2B5EF4-FFF2-40B4-BE49-F238E27FC236}">
                <a16:creationId xmlns:a16="http://schemas.microsoft.com/office/drawing/2014/main" id="{4D624DE8-7091-B593-25A2-8B2522359BA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4041" r="26570" b="80008"/>
          <a:stretch/>
        </p:blipFill>
        <p:spPr>
          <a:xfrm>
            <a:off x="3975613" y="4857752"/>
            <a:ext cx="398467" cy="410478"/>
          </a:xfrm>
          <a:prstGeom prst="rect">
            <a:avLst/>
          </a:prstGeom>
        </p:spPr>
      </p:pic>
      <p:pic>
        <p:nvPicPr>
          <p:cNvPr id="33" name="Graphique 32" descr="Fille portant un sac à dos">
            <a:extLst>
              <a:ext uri="{FF2B5EF4-FFF2-40B4-BE49-F238E27FC236}">
                <a16:creationId xmlns:a16="http://schemas.microsoft.com/office/drawing/2014/main" id="{30BE9CDB-38D7-BE38-C724-5FAC34D710C0}"/>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6028" r="21662" b="78734"/>
          <a:stretch/>
        </p:blipFill>
        <p:spPr>
          <a:xfrm>
            <a:off x="5421749" y="4873090"/>
            <a:ext cx="398465" cy="402293"/>
          </a:xfrm>
          <a:prstGeom prst="rect">
            <a:avLst/>
          </a:prstGeom>
        </p:spPr>
      </p:pic>
      <p:pic>
        <p:nvPicPr>
          <p:cNvPr id="36" name="Graphique 35" descr="Femme non-voyante utilisant un bâton">
            <a:extLst>
              <a:ext uri="{FF2B5EF4-FFF2-40B4-BE49-F238E27FC236}">
                <a16:creationId xmlns:a16="http://schemas.microsoft.com/office/drawing/2014/main" id="{A8FE8DAE-9F02-8997-75CD-3F4C4512AB39}"/>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9626" t="110" r="16666" b="79554"/>
          <a:stretch/>
        </p:blipFill>
        <p:spPr>
          <a:xfrm>
            <a:off x="4491413" y="4893639"/>
            <a:ext cx="411427" cy="397134"/>
          </a:xfrm>
          <a:prstGeom prst="rect">
            <a:avLst/>
          </a:prstGeom>
        </p:spPr>
      </p:pic>
      <p:pic>
        <p:nvPicPr>
          <p:cNvPr id="37" name="Graphique 36" descr="Femme utilisant une cane">
            <a:extLst>
              <a:ext uri="{FF2B5EF4-FFF2-40B4-BE49-F238E27FC236}">
                <a16:creationId xmlns:a16="http://schemas.microsoft.com/office/drawing/2014/main" id="{67A741DA-5A02-1073-F7C1-52BC3861D7FF}"/>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1583" b="79779"/>
          <a:stretch/>
        </p:blipFill>
        <p:spPr>
          <a:xfrm>
            <a:off x="4790709" y="4771546"/>
            <a:ext cx="706248" cy="518063"/>
          </a:xfrm>
          <a:prstGeom prst="rect">
            <a:avLst/>
          </a:prstGeom>
        </p:spPr>
      </p:pic>
      <p:pic>
        <p:nvPicPr>
          <p:cNvPr id="38" name="Graphique 37" descr="Femme aux cheveux afro">
            <a:extLst>
              <a:ext uri="{FF2B5EF4-FFF2-40B4-BE49-F238E27FC236}">
                <a16:creationId xmlns:a16="http://schemas.microsoft.com/office/drawing/2014/main" id="{BF7EF4BE-61AB-9C68-F43D-E2B89DD3E503}"/>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b="77723"/>
          <a:stretch/>
        </p:blipFill>
        <p:spPr>
          <a:xfrm>
            <a:off x="3437683" y="4785167"/>
            <a:ext cx="662446" cy="488756"/>
          </a:xfrm>
          <a:prstGeom prst="rect">
            <a:avLst/>
          </a:prstGeom>
        </p:spPr>
      </p:pic>
      <p:sp>
        <p:nvSpPr>
          <p:cNvPr id="47" name="Espace réservé du texte 7">
            <a:extLst>
              <a:ext uri="{FF2B5EF4-FFF2-40B4-BE49-F238E27FC236}">
                <a16:creationId xmlns:a16="http://schemas.microsoft.com/office/drawing/2014/main" id="{5A6605C1-24CB-18D4-29B2-8CE142E37C82}"/>
              </a:ext>
            </a:extLst>
          </p:cNvPr>
          <p:cNvSpPr txBox="1">
            <a:spLocks/>
          </p:cNvSpPr>
          <p:nvPr/>
        </p:nvSpPr>
        <p:spPr>
          <a:xfrm>
            <a:off x="6298318" y="5262328"/>
            <a:ext cx="2647016" cy="1201963"/>
          </a:xfrm>
          <a:prstGeom prst="rect">
            <a:avLst/>
          </a:prstGeom>
          <a:solidFill>
            <a:schemeClr val="bg1">
              <a:lumMod val="95000"/>
            </a:schemeClr>
          </a:solidFill>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ea typeface="+mn-lt"/>
                <a:cs typeface="+mn-lt"/>
              </a:rPr>
              <a:t>Les membres d’un même sous-groupe sont mis en relation. Chaque sous-groupe pourra s’organiser selon son niveau</a:t>
            </a:r>
            <a:endParaRPr lang="fr-FR"/>
          </a:p>
        </p:txBody>
      </p:sp>
      <p:sp>
        <p:nvSpPr>
          <p:cNvPr id="59" name="Flèche : courbe vers le haut 58">
            <a:extLst>
              <a:ext uri="{FF2B5EF4-FFF2-40B4-BE49-F238E27FC236}">
                <a16:creationId xmlns:a16="http://schemas.microsoft.com/office/drawing/2014/main" id="{679185B4-9700-CA71-62AD-261D592B4544}"/>
              </a:ext>
            </a:extLst>
          </p:cNvPr>
          <p:cNvSpPr/>
          <p:nvPr/>
        </p:nvSpPr>
        <p:spPr>
          <a:xfrm rot="10800000">
            <a:off x="9267491" y="4861621"/>
            <a:ext cx="1484239" cy="443662"/>
          </a:xfrm>
          <a:prstGeom prst="curvedUp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a:solidFill>
                <a:schemeClr val="tx1"/>
              </a:solidFill>
            </a:endParaRPr>
          </a:p>
        </p:txBody>
      </p:sp>
      <p:sp>
        <p:nvSpPr>
          <p:cNvPr id="40" name="Flèche : courbe vers le haut 39">
            <a:extLst>
              <a:ext uri="{FF2B5EF4-FFF2-40B4-BE49-F238E27FC236}">
                <a16:creationId xmlns:a16="http://schemas.microsoft.com/office/drawing/2014/main" id="{0CB3BF6B-2CFA-B3EB-FD18-4FA629E3E6F2}"/>
              </a:ext>
            </a:extLst>
          </p:cNvPr>
          <p:cNvSpPr/>
          <p:nvPr/>
        </p:nvSpPr>
        <p:spPr>
          <a:xfrm rot="10800000">
            <a:off x="9492638" y="4861283"/>
            <a:ext cx="1484239" cy="443662"/>
          </a:xfrm>
          <a:prstGeom prst="curvedUpArrow">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a:solidFill>
                <a:schemeClr val="tx1"/>
              </a:solidFill>
            </a:endParaRPr>
          </a:p>
        </p:txBody>
      </p:sp>
      <p:graphicFrame>
        <p:nvGraphicFramePr>
          <p:cNvPr id="2" name="Tableau 5">
            <a:extLst>
              <a:ext uri="{FF2B5EF4-FFF2-40B4-BE49-F238E27FC236}">
                <a16:creationId xmlns:a16="http://schemas.microsoft.com/office/drawing/2014/main" id="{9A8775F9-76BC-9CF4-CDF1-339F0127F65A}"/>
              </a:ext>
            </a:extLst>
          </p:cNvPr>
          <p:cNvGraphicFramePr>
            <a:graphicFrameLocks noGrp="1"/>
          </p:cNvGraphicFramePr>
          <p:nvPr>
            <p:extLst>
              <p:ext uri="{D42A27DB-BD31-4B8C-83A1-F6EECF244321}">
                <p14:modId xmlns:p14="http://schemas.microsoft.com/office/powerpoint/2010/main" val="1810854870"/>
              </p:ext>
            </p:extLst>
          </p:nvPr>
        </p:nvGraphicFramePr>
        <p:xfrm>
          <a:off x="3852909" y="1850417"/>
          <a:ext cx="7730048" cy="1872277"/>
        </p:xfrm>
        <a:graphic>
          <a:graphicData uri="http://schemas.openxmlformats.org/drawingml/2006/table">
            <a:tbl>
              <a:tblPr firstRow="1" bandRow="1">
                <a:tableStyleId>{073A0DAA-6AF3-43AB-8588-CEC1D06C72B9}</a:tableStyleId>
              </a:tblPr>
              <a:tblGrid>
                <a:gridCol w="966256">
                  <a:extLst>
                    <a:ext uri="{9D8B030D-6E8A-4147-A177-3AD203B41FA5}">
                      <a16:colId xmlns:a16="http://schemas.microsoft.com/office/drawing/2014/main" val="1486018635"/>
                    </a:ext>
                  </a:extLst>
                </a:gridCol>
                <a:gridCol w="966256">
                  <a:extLst>
                    <a:ext uri="{9D8B030D-6E8A-4147-A177-3AD203B41FA5}">
                      <a16:colId xmlns:a16="http://schemas.microsoft.com/office/drawing/2014/main" val="761339006"/>
                    </a:ext>
                  </a:extLst>
                </a:gridCol>
                <a:gridCol w="966256">
                  <a:extLst>
                    <a:ext uri="{9D8B030D-6E8A-4147-A177-3AD203B41FA5}">
                      <a16:colId xmlns:a16="http://schemas.microsoft.com/office/drawing/2014/main" val="416087062"/>
                    </a:ext>
                  </a:extLst>
                </a:gridCol>
                <a:gridCol w="966256">
                  <a:extLst>
                    <a:ext uri="{9D8B030D-6E8A-4147-A177-3AD203B41FA5}">
                      <a16:colId xmlns:a16="http://schemas.microsoft.com/office/drawing/2014/main" val="2064857721"/>
                    </a:ext>
                  </a:extLst>
                </a:gridCol>
                <a:gridCol w="966256">
                  <a:extLst>
                    <a:ext uri="{9D8B030D-6E8A-4147-A177-3AD203B41FA5}">
                      <a16:colId xmlns:a16="http://schemas.microsoft.com/office/drawing/2014/main" val="183491405"/>
                    </a:ext>
                  </a:extLst>
                </a:gridCol>
                <a:gridCol w="966256">
                  <a:extLst>
                    <a:ext uri="{9D8B030D-6E8A-4147-A177-3AD203B41FA5}">
                      <a16:colId xmlns:a16="http://schemas.microsoft.com/office/drawing/2014/main" val="3364014230"/>
                    </a:ext>
                  </a:extLst>
                </a:gridCol>
                <a:gridCol w="966256">
                  <a:extLst>
                    <a:ext uri="{9D8B030D-6E8A-4147-A177-3AD203B41FA5}">
                      <a16:colId xmlns:a16="http://schemas.microsoft.com/office/drawing/2014/main" val="365145181"/>
                    </a:ext>
                  </a:extLst>
                </a:gridCol>
                <a:gridCol w="966256">
                  <a:extLst>
                    <a:ext uri="{9D8B030D-6E8A-4147-A177-3AD203B41FA5}">
                      <a16:colId xmlns:a16="http://schemas.microsoft.com/office/drawing/2014/main" val="1628287487"/>
                    </a:ext>
                  </a:extLst>
                </a:gridCol>
              </a:tblGrid>
              <a:tr h="306232">
                <a:tc>
                  <a:txBody>
                    <a:bodyPr/>
                    <a:lstStyle/>
                    <a:p>
                      <a:pPr algn="ctr"/>
                      <a:r>
                        <a:rPr lang="fr-FR" sz="900">
                          <a:solidFill>
                            <a:schemeClr val="bg1"/>
                          </a:solidFill>
                        </a:rPr>
                        <a:t>PAS ENCORE COMMENCÉ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INSPIRATION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COLLECTE</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INITIATION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CHOC DE LA RÉALITÉ</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CONFIRMATION DE RÉUSSITES</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EXPOSITION</a:t>
                      </a:r>
                    </a:p>
                    <a:p>
                      <a:pPr algn="ctr"/>
                      <a:endParaRPr lang="fr-FR" sz="900">
                        <a:solidFill>
                          <a:schemeClr val="bg1"/>
                        </a:solidFill>
                      </a:endParaRPr>
                    </a:p>
                  </a:txBody>
                  <a:tcPr/>
                </a:tc>
                <a:tc>
                  <a:txBody>
                    <a:bodyPr/>
                    <a:lstStyle/>
                    <a:p>
                      <a:pPr marL="0" indent="0" algn="ctr">
                        <a:buFont typeface="Arial" panose="020B0604020202020204" pitchFamily="34" charset="0"/>
                        <a:buNone/>
                      </a:pPr>
                      <a:r>
                        <a:rPr lang="fr-FR" sz="900" b="1" i="1">
                          <a:solidFill>
                            <a:schemeClr val="bg1"/>
                          </a:solidFill>
                        </a:rPr>
                        <a:t>FORTIFICATION</a:t>
                      </a:r>
                    </a:p>
                    <a:p>
                      <a:pPr marL="0" indent="0" algn="ctr">
                        <a:buFont typeface="Arial" panose="020B0604020202020204" pitchFamily="34" charset="0"/>
                        <a:buNone/>
                      </a:pPr>
                      <a:endParaRPr lang="fr-FR" sz="900" b="1" i="1">
                        <a:solidFill>
                          <a:schemeClr val="bg1"/>
                        </a:solidFill>
                      </a:endParaRPr>
                    </a:p>
                    <a:p>
                      <a:pPr algn="ctr"/>
                      <a:endParaRPr lang="fr-FR" sz="900">
                        <a:solidFill>
                          <a:schemeClr val="bg1"/>
                        </a:solidFill>
                      </a:endParaRPr>
                    </a:p>
                  </a:txBody>
                  <a:tcPr/>
                </a:tc>
                <a:extLst>
                  <a:ext uri="{0D108BD9-81ED-4DB2-BD59-A6C34878D82A}">
                    <a16:rowId xmlns:a16="http://schemas.microsoft.com/office/drawing/2014/main" val="3579208894"/>
                  </a:ext>
                </a:extLst>
              </a:tr>
              <a:tr h="1369357">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1415023090"/>
                  </a:ext>
                </a:extLst>
              </a:tr>
            </a:tbl>
          </a:graphicData>
        </a:graphic>
      </p:graphicFrame>
      <p:pic>
        <p:nvPicPr>
          <p:cNvPr id="3" name="Graphique 2" descr="Garçon aux cheveux bouclés">
            <a:extLst>
              <a:ext uri="{FF2B5EF4-FFF2-40B4-BE49-F238E27FC236}">
                <a16:creationId xmlns:a16="http://schemas.microsoft.com/office/drawing/2014/main" id="{DD66E6D0-9DFA-71AC-F8A9-A2AED4E77907}"/>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4041" r="26570" b="80008"/>
          <a:stretch/>
        </p:blipFill>
        <p:spPr>
          <a:xfrm>
            <a:off x="4976039" y="2398231"/>
            <a:ext cx="398467" cy="410478"/>
          </a:xfrm>
          <a:prstGeom prst="rect">
            <a:avLst/>
          </a:prstGeom>
        </p:spPr>
      </p:pic>
      <p:pic>
        <p:nvPicPr>
          <p:cNvPr id="4" name="Graphique 3" descr="Fille portant un sac à dos">
            <a:extLst>
              <a:ext uri="{FF2B5EF4-FFF2-40B4-BE49-F238E27FC236}">
                <a16:creationId xmlns:a16="http://schemas.microsoft.com/office/drawing/2014/main" id="{29AABA31-E213-733A-F896-4CC75FB3252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6028" r="21662" b="78734"/>
          <a:stretch/>
        </p:blipFill>
        <p:spPr>
          <a:xfrm>
            <a:off x="5865328" y="2384262"/>
            <a:ext cx="398465" cy="402293"/>
          </a:xfrm>
          <a:prstGeom prst="rect">
            <a:avLst/>
          </a:prstGeom>
        </p:spPr>
      </p:pic>
      <p:pic>
        <p:nvPicPr>
          <p:cNvPr id="5" name="Graphique 4" descr="Homme avec barbe">
            <a:extLst>
              <a:ext uri="{FF2B5EF4-FFF2-40B4-BE49-F238E27FC236}">
                <a16:creationId xmlns:a16="http://schemas.microsoft.com/office/drawing/2014/main" id="{E9BBE220-CA0F-53AA-C5E8-9A6647F6CD9A}"/>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27149" r="22590" b="81054"/>
          <a:stretch/>
        </p:blipFill>
        <p:spPr>
          <a:xfrm>
            <a:off x="5865237" y="2841881"/>
            <a:ext cx="370183" cy="433905"/>
          </a:xfrm>
          <a:prstGeom prst="rect">
            <a:avLst/>
          </a:prstGeom>
        </p:spPr>
      </p:pic>
      <p:pic>
        <p:nvPicPr>
          <p:cNvPr id="6" name="Graphique 5" descr="Homme tenant une tasse">
            <a:extLst>
              <a:ext uri="{FF2B5EF4-FFF2-40B4-BE49-F238E27FC236}">
                <a16:creationId xmlns:a16="http://schemas.microsoft.com/office/drawing/2014/main" id="{F132C3CE-BA5B-4FD1-297C-033A28E8C5C7}"/>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24789" r="38520" b="82583"/>
          <a:stretch/>
        </p:blipFill>
        <p:spPr>
          <a:xfrm>
            <a:off x="7784805" y="2826754"/>
            <a:ext cx="370183" cy="397133"/>
          </a:xfrm>
          <a:prstGeom prst="rect">
            <a:avLst/>
          </a:prstGeom>
        </p:spPr>
      </p:pic>
      <p:pic>
        <p:nvPicPr>
          <p:cNvPr id="7" name="Graphique 6" descr="Homme en smoking">
            <a:extLst>
              <a:ext uri="{FF2B5EF4-FFF2-40B4-BE49-F238E27FC236}">
                <a16:creationId xmlns:a16="http://schemas.microsoft.com/office/drawing/2014/main" id="{985EB748-8661-AF1D-A0DC-D2579AE0D124}"/>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32173" r="26312" b="80893"/>
          <a:stretch/>
        </p:blipFill>
        <p:spPr>
          <a:xfrm>
            <a:off x="3927871" y="2372143"/>
            <a:ext cx="351837" cy="462653"/>
          </a:xfrm>
          <a:prstGeom prst="rect">
            <a:avLst/>
          </a:prstGeom>
        </p:spPr>
      </p:pic>
      <p:pic>
        <p:nvPicPr>
          <p:cNvPr id="11" name="Graphique 10" descr="Homme avec bras prothétique">
            <a:extLst>
              <a:ext uri="{FF2B5EF4-FFF2-40B4-BE49-F238E27FC236}">
                <a16:creationId xmlns:a16="http://schemas.microsoft.com/office/drawing/2014/main" id="{D4328A46-CCA5-6A63-8D38-F1B2FB6DF5A8}"/>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6638" r="6901" b="81090"/>
          <a:stretch/>
        </p:blipFill>
        <p:spPr>
          <a:xfrm>
            <a:off x="4290300" y="2439050"/>
            <a:ext cx="521269" cy="381325"/>
          </a:xfrm>
          <a:prstGeom prst="rect">
            <a:avLst/>
          </a:prstGeom>
        </p:spPr>
      </p:pic>
      <p:pic>
        <p:nvPicPr>
          <p:cNvPr id="12" name="Graphique 11" descr="Homme portant une chemise avec motif">
            <a:extLst>
              <a:ext uri="{FF2B5EF4-FFF2-40B4-BE49-F238E27FC236}">
                <a16:creationId xmlns:a16="http://schemas.microsoft.com/office/drawing/2014/main" id="{30048250-2CDF-5485-9042-02322934B6E5}"/>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7279" r="47069" b="81696"/>
          <a:stretch/>
        </p:blipFill>
        <p:spPr>
          <a:xfrm>
            <a:off x="7755035" y="2392456"/>
            <a:ext cx="352508" cy="440443"/>
          </a:xfrm>
          <a:prstGeom prst="rect">
            <a:avLst/>
          </a:prstGeom>
        </p:spPr>
      </p:pic>
      <p:pic>
        <p:nvPicPr>
          <p:cNvPr id="14" name="Graphique 13" descr="Homme âgé portant une veste">
            <a:extLst>
              <a:ext uri="{FF2B5EF4-FFF2-40B4-BE49-F238E27FC236}">
                <a16:creationId xmlns:a16="http://schemas.microsoft.com/office/drawing/2014/main" id="{FABD6AD0-6341-ECEE-2870-8810E7C20B6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066" t="-865" r="16426" b="83209"/>
          <a:stretch/>
        </p:blipFill>
        <p:spPr>
          <a:xfrm>
            <a:off x="3918848" y="3285459"/>
            <a:ext cx="374626" cy="415948"/>
          </a:xfrm>
          <a:prstGeom prst="rect">
            <a:avLst/>
          </a:prstGeom>
        </p:spPr>
      </p:pic>
      <p:pic>
        <p:nvPicPr>
          <p:cNvPr id="16" name="Graphique 15" descr="Homme portant chapeau et costume">
            <a:extLst>
              <a:ext uri="{FF2B5EF4-FFF2-40B4-BE49-F238E27FC236}">
                <a16:creationId xmlns:a16="http://schemas.microsoft.com/office/drawing/2014/main" id="{F76478B9-D3B9-9E5C-AD8F-B3916AF33CC1}"/>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l="38919" r="9450" b="80613"/>
          <a:stretch/>
        </p:blipFill>
        <p:spPr>
          <a:xfrm>
            <a:off x="3926504" y="2828239"/>
            <a:ext cx="419339" cy="457716"/>
          </a:xfrm>
          <a:prstGeom prst="rect">
            <a:avLst/>
          </a:prstGeom>
        </p:spPr>
      </p:pic>
      <p:pic>
        <p:nvPicPr>
          <p:cNvPr id="18" name="Graphique 17" descr="Femme non-voyante utilisant un bâton">
            <a:extLst>
              <a:ext uri="{FF2B5EF4-FFF2-40B4-BE49-F238E27FC236}">
                <a16:creationId xmlns:a16="http://schemas.microsoft.com/office/drawing/2014/main" id="{5A994EB7-3A0A-2F73-3083-4B1C419D43A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9626" t="110" r="16666" b="79554"/>
          <a:stretch/>
        </p:blipFill>
        <p:spPr>
          <a:xfrm>
            <a:off x="5823993" y="3293811"/>
            <a:ext cx="411427" cy="397134"/>
          </a:xfrm>
          <a:prstGeom prst="rect">
            <a:avLst/>
          </a:prstGeom>
        </p:spPr>
      </p:pic>
      <p:pic>
        <p:nvPicPr>
          <p:cNvPr id="20" name="Graphique 19" descr="Femme levant le doigt">
            <a:extLst>
              <a:ext uri="{FF2B5EF4-FFF2-40B4-BE49-F238E27FC236}">
                <a16:creationId xmlns:a16="http://schemas.microsoft.com/office/drawing/2014/main" id="{B2681C70-A789-75BA-0501-029C2D56B171}"/>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l="19546" r="46612" b="79017"/>
          <a:stretch/>
        </p:blipFill>
        <p:spPr>
          <a:xfrm>
            <a:off x="8728479" y="2384262"/>
            <a:ext cx="379003" cy="456211"/>
          </a:xfrm>
          <a:prstGeom prst="rect">
            <a:avLst/>
          </a:prstGeom>
        </p:spPr>
      </p:pic>
      <p:pic>
        <p:nvPicPr>
          <p:cNvPr id="21" name="Graphique 20" descr="Femme avec queue de cheval">
            <a:extLst>
              <a:ext uri="{FF2B5EF4-FFF2-40B4-BE49-F238E27FC236}">
                <a16:creationId xmlns:a16="http://schemas.microsoft.com/office/drawing/2014/main" id="{727C0E26-6A21-5D0F-3158-43DDA37B63D8}"/>
              </a:ext>
            </a:extLst>
          </p:cNvPr>
          <p:cNvPicPr>
            <a:picLocks noChangeAspect="1"/>
          </p:cNvPicPr>
          <p:nvPr/>
        </p:nvPicPr>
        <p:blipFill rotWithShape="1">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rcRect l="13852" r="47496" b="82170"/>
          <a:stretch/>
        </p:blipFill>
        <p:spPr>
          <a:xfrm>
            <a:off x="4299768" y="2864294"/>
            <a:ext cx="481610" cy="422737"/>
          </a:xfrm>
          <a:prstGeom prst="rect">
            <a:avLst/>
          </a:prstGeom>
        </p:spPr>
      </p:pic>
      <p:pic>
        <p:nvPicPr>
          <p:cNvPr id="22" name="Graphique 21" descr="Femme utilisant une cane">
            <a:extLst>
              <a:ext uri="{FF2B5EF4-FFF2-40B4-BE49-F238E27FC236}">
                <a16:creationId xmlns:a16="http://schemas.microsoft.com/office/drawing/2014/main" id="{281B30A6-03D6-7943-32AF-34C4A509A91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1583" b="79779"/>
          <a:stretch/>
        </p:blipFill>
        <p:spPr>
          <a:xfrm>
            <a:off x="9522981" y="2360871"/>
            <a:ext cx="706248" cy="518063"/>
          </a:xfrm>
          <a:prstGeom prst="rect">
            <a:avLst/>
          </a:prstGeom>
        </p:spPr>
      </p:pic>
      <p:pic>
        <p:nvPicPr>
          <p:cNvPr id="23" name="Graphique 22" descr="Femme aux cheveux afro">
            <a:extLst>
              <a:ext uri="{FF2B5EF4-FFF2-40B4-BE49-F238E27FC236}">
                <a16:creationId xmlns:a16="http://schemas.microsoft.com/office/drawing/2014/main" id="{838C17A7-7314-F8F3-A154-E596B4278450}"/>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b="77723"/>
          <a:stretch/>
        </p:blipFill>
        <p:spPr>
          <a:xfrm>
            <a:off x="10690416" y="2384262"/>
            <a:ext cx="711292" cy="518063"/>
          </a:xfrm>
          <a:prstGeom prst="rect">
            <a:avLst/>
          </a:prstGeom>
        </p:spPr>
      </p:pic>
      <p:sp>
        <p:nvSpPr>
          <p:cNvPr id="24" name="Ellipse 23">
            <a:extLst>
              <a:ext uri="{FF2B5EF4-FFF2-40B4-BE49-F238E27FC236}">
                <a16:creationId xmlns:a16="http://schemas.microsoft.com/office/drawing/2014/main" id="{05B2CBD7-F0DA-F320-2680-E580317568BD}"/>
              </a:ext>
            </a:extLst>
          </p:cNvPr>
          <p:cNvSpPr/>
          <p:nvPr/>
        </p:nvSpPr>
        <p:spPr>
          <a:xfrm>
            <a:off x="5604304" y="2227319"/>
            <a:ext cx="1153856" cy="1766657"/>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llipse 24">
            <a:extLst>
              <a:ext uri="{FF2B5EF4-FFF2-40B4-BE49-F238E27FC236}">
                <a16:creationId xmlns:a16="http://schemas.microsoft.com/office/drawing/2014/main" id="{3EF0E444-F193-08AF-DC22-9E5A9B1307D0}"/>
              </a:ext>
            </a:extLst>
          </p:cNvPr>
          <p:cNvSpPr/>
          <p:nvPr/>
        </p:nvSpPr>
        <p:spPr>
          <a:xfrm>
            <a:off x="7584448" y="2360871"/>
            <a:ext cx="1153856" cy="1579554"/>
          </a:xfrm>
          <a:prstGeom prst="ellipse">
            <a:avLst/>
          </a:prstGeom>
          <a:noFill/>
          <a:ln w="571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llipse 25">
            <a:extLst>
              <a:ext uri="{FF2B5EF4-FFF2-40B4-BE49-F238E27FC236}">
                <a16:creationId xmlns:a16="http://schemas.microsoft.com/office/drawing/2014/main" id="{973CB8C8-606E-D780-AA80-EABB1F968821}"/>
              </a:ext>
            </a:extLst>
          </p:cNvPr>
          <p:cNvSpPr/>
          <p:nvPr/>
        </p:nvSpPr>
        <p:spPr>
          <a:xfrm>
            <a:off x="8442665" y="2227318"/>
            <a:ext cx="2974827" cy="1463627"/>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Ellipse 26">
            <a:extLst>
              <a:ext uri="{FF2B5EF4-FFF2-40B4-BE49-F238E27FC236}">
                <a16:creationId xmlns:a16="http://schemas.microsoft.com/office/drawing/2014/main" id="{5CC4AF12-4756-86C0-4736-33CF5AC93118}"/>
              </a:ext>
            </a:extLst>
          </p:cNvPr>
          <p:cNvSpPr/>
          <p:nvPr/>
        </p:nvSpPr>
        <p:spPr>
          <a:xfrm>
            <a:off x="3699436" y="2192334"/>
            <a:ext cx="1857625" cy="1766656"/>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Ellipse 27">
            <a:extLst>
              <a:ext uri="{FF2B5EF4-FFF2-40B4-BE49-F238E27FC236}">
                <a16:creationId xmlns:a16="http://schemas.microsoft.com/office/drawing/2014/main" id="{C7B3C44F-EE91-CDB6-0244-5BECEF06BE8E}"/>
              </a:ext>
            </a:extLst>
          </p:cNvPr>
          <p:cNvSpPr/>
          <p:nvPr/>
        </p:nvSpPr>
        <p:spPr>
          <a:xfrm>
            <a:off x="6475979" y="4927378"/>
            <a:ext cx="493379" cy="293716"/>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Flèche : courbe vers le haut 66">
            <a:extLst>
              <a:ext uri="{FF2B5EF4-FFF2-40B4-BE49-F238E27FC236}">
                <a16:creationId xmlns:a16="http://schemas.microsoft.com/office/drawing/2014/main" id="{0C04046D-B36E-C531-2D21-07C7BFF50955}"/>
              </a:ext>
            </a:extLst>
          </p:cNvPr>
          <p:cNvSpPr/>
          <p:nvPr/>
        </p:nvSpPr>
        <p:spPr>
          <a:xfrm flipH="1">
            <a:off x="6294323" y="3669775"/>
            <a:ext cx="3453358" cy="472967"/>
          </a:xfrm>
          <a:prstGeom prst="curvedUpArrow">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9" name="Ellipse 28">
            <a:extLst>
              <a:ext uri="{FF2B5EF4-FFF2-40B4-BE49-F238E27FC236}">
                <a16:creationId xmlns:a16="http://schemas.microsoft.com/office/drawing/2014/main" id="{25E8FE0F-6A36-7B66-F10C-D4BD623F1E47}"/>
              </a:ext>
            </a:extLst>
          </p:cNvPr>
          <p:cNvSpPr/>
          <p:nvPr/>
        </p:nvSpPr>
        <p:spPr>
          <a:xfrm>
            <a:off x="7130957" y="4926618"/>
            <a:ext cx="573586" cy="339357"/>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Ellipse 29">
            <a:extLst>
              <a:ext uri="{FF2B5EF4-FFF2-40B4-BE49-F238E27FC236}">
                <a16:creationId xmlns:a16="http://schemas.microsoft.com/office/drawing/2014/main" id="{8AAB8384-BFEC-F7AF-0B76-15DDF7203CBD}"/>
              </a:ext>
            </a:extLst>
          </p:cNvPr>
          <p:cNvSpPr/>
          <p:nvPr/>
        </p:nvSpPr>
        <p:spPr>
          <a:xfrm>
            <a:off x="7834743" y="4933582"/>
            <a:ext cx="637058" cy="363283"/>
          </a:xfrm>
          <a:prstGeom prst="ellipse">
            <a:avLst/>
          </a:prstGeom>
          <a:noFill/>
          <a:ln w="571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9209773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au 5">
            <a:extLst>
              <a:ext uri="{FF2B5EF4-FFF2-40B4-BE49-F238E27FC236}">
                <a16:creationId xmlns:a16="http://schemas.microsoft.com/office/drawing/2014/main" id="{618C8C00-A323-499F-A94F-3C38F42002B5}"/>
              </a:ext>
            </a:extLst>
          </p:cNvPr>
          <p:cNvGraphicFramePr>
            <a:graphicFrameLocks noGrp="1"/>
          </p:cNvGraphicFramePr>
          <p:nvPr>
            <p:extLst>
              <p:ext uri="{D42A27DB-BD31-4B8C-83A1-F6EECF244321}">
                <p14:modId xmlns:p14="http://schemas.microsoft.com/office/powerpoint/2010/main" val="3523589665"/>
              </p:ext>
            </p:extLst>
          </p:nvPr>
        </p:nvGraphicFramePr>
        <p:xfrm>
          <a:off x="2627790" y="1771494"/>
          <a:ext cx="7730048" cy="1872277"/>
        </p:xfrm>
        <a:graphic>
          <a:graphicData uri="http://schemas.openxmlformats.org/drawingml/2006/table">
            <a:tbl>
              <a:tblPr firstRow="1" bandRow="1">
                <a:tableStyleId>{073A0DAA-6AF3-43AB-8588-CEC1D06C72B9}</a:tableStyleId>
              </a:tblPr>
              <a:tblGrid>
                <a:gridCol w="966256">
                  <a:extLst>
                    <a:ext uri="{9D8B030D-6E8A-4147-A177-3AD203B41FA5}">
                      <a16:colId xmlns:a16="http://schemas.microsoft.com/office/drawing/2014/main" val="1486018635"/>
                    </a:ext>
                  </a:extLst>
                </a:gridCol>
                <a:gridCol w="966256">
                  <a:extLst>
                    <a:ext uri="{9D8B030D-6E8A-4147-A177-3AD203B41FA5}">
                      <a16:colId xmlns:a16="http://schemas.microsoft.com/office/drawing/2014/main" val="761339006"/>
                    </a:ext>
                  </a:extLst>
                </a:gridCol>
                <a:gridCol w="966256">
                  <a:extLst>
                    <a:ext uri="{9D8B030D-6E8A-4147-A177-3AD203B41FA5}">
                      <a16:colId xmlns:a16="http://schemas.microsoft.com/office/drawing/2014/main" val="416087062"/>
                    </a:ext>
                  </a:extLst>
                </a:gridCol>
                <a:gridCol w="966256">
                  <a:extLst>
                    <a:ext uri="{9D8B030D-6E8A-4147-A177-3AD203B41FA5}">
                      <a16:colId xmlns:a16="http://schemas.microsoft.com/office/drawing/2014/main" val="2064857721"/>
                    </a:ext>
                  </a:extLst>
                </a:gridCol>
                <a:gridCol w="966256">
                  <a:extLst>
                    <a:ext uri="{9D8B030D-6E8A-4147-A177-3AD203B41FA5}">
                      <a16:colId xmlns:a16="http://schemas.microsoft.com/office/drawing/2014/main" val="183491405"/>
                    </a:ext>
                  </a:extLst>
                </a:gridCol>
                <a:gridCol w="966256">
                  <a:extLst>
                    <a:ext uri="{9D8B030D-6E8A-4147-A177-3AD203B41FA5}">
                      <a16:colId xmlns:a16="http://schemas.microsoft.com/office/drawing/2014/main" val="3364014230"/>
                    </a:ext>
                  </a:extLst>
                </a:gridCol>
                <a:gridCol w="966256">
                  <a:extLst>
                    <a:ext uri="{9D8B030D-6E8A-4147-A177-3AD203B41FA5}">
                      <a16:colId xmlns:a16="http://schemas.microsoft.com/office/drawing/2014/main" val="365145181"/>
                    </a:ext>
                  </a:extLst>
                </a:gridCol>
                <a:gridCol w="966256">
                  <a:extLst>
                    <a:ext uri="{9D8B030D-6E8A-4147-A177-3AD203B41FA5}">
                      <a16:colId xmlns:a16="http://schemas.microsoft.com/office/drawing/2014/main" val="1628287487"/>
                    </a:ext>
                  </a:extLst>
                </a:gridCol>
              </a:tblGrid>
              <a:tr h="306232">
                <a:tc>
                  <a:txBody>
                    <a:bodyPr/>
                    <a:lstStyle/>
                    <a:p>
                      <a:pPr algn="ctr"/>
                      <a:r>
                        <a:rPr lang="fr-FR" sz="900">
                          <a:solidFill>
                            <a:schemeClr val="bg1"/>
                          </a:solidFill>
                        </a:rPr>
                        <a:t>PAS ENCORE COMMENCÉ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INSPIRATION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COLLECTE</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INITIATION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CHOC DE LA RÉALITÉ</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CONFIRMATION DE RÉUSSITES</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EXPOSITION</a:t>
                      </a:r>
                    </a:p>
                    <a:p>
                      <a:pPr algn="ctr"/>
                      <a:endParaRPr lang="fr-FR" sz="900">
                        <a:solidFill>
                          <a:schemeClr val="bg1"/>
                        </a:solidFill>
                      </a:endParaRPr>
                    </a:p>
                  </a:txBody>
                  <a:tcPr/>
                </a:tc>
                <a:tc>
                  <a:txBody>
                    <a:bodyPr/>
                    <a:lstStyle/>
                    <a:p>
                      <a:pPr marL="0" indent="0" algn="ctr">
                        <a:buFont typeface="Arial" panose="020B0604020202020204" pitchFamily="34" charset="0"/>
                        <a:buNone/>
                      </a:pPr>
                      <a:r>
                        <a:rPr lang="fr-FR" sz="900" b="1" i="1">
                          <a:solidFill>
                            <a:schemeClr val="bg1"/>
                          </a:solidFill>
                        </a:rPr>
                        <a:t>FORTIFICATION</a:t>
                      </a:r>
                    </a:p>
                    <a:p>
                      <a:pPr marL="0" indent="0" algn="ctr">
                        <a:buFont typeface="Arial" panose="020B0604020202020204" pitchFamily="34" charset="0"/>
                        <a:buNone/>
                      </a:pPr>
                      <a:endParaRPr lang="fr-FR" sz="900" b="1" i="1">
                        <a:solidFill>
                          <a:schemeClr val="bg1"/>
                        </a:solidFill>
                      </a:endParaRPr>
                    </a:p>
                    <a:p>
                      <a:pPr algn="ctr"/>
                      <a:endParaRPr lang="fr-FR" sz="900">
                        <a:solidFill>
                          <a:schemeClr val="bg1"/>
                        </a:solidFill>
                      </a:endParaRPr>
                    </a:p>
                  </a:txBody>
                  <a:tcPr/>
                </a:tc>
                <a:extLst>
                  <a:ext uri="{0D108BD9-81ED-4DB2-BD59-A6C34878D82A}">
                    <a16:rowId xmlns:a16="http://schemas.microsoft.com/office/drawing/2014/main" val="3579208894"/>
                  </a:ext>
                </a:extLst>
              </a:tr>
              <a:tr h="1369357">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1415023090"/>
                  </a:ext>
                </a:extLst>
              </a:tr>
            </a:tbl>
          </a:graphicData>
        </a:graphic>
      </p:graphicFrame>
      <p:pic>
        <p:nvPicPr>
          <p:cNvPr id="12" name="Graphique 11" descr="Garçon aux cheveux bouclés">
            <a:extLst>
              <a:ext uri="{FF2B5EF4-FFF2-40B4-BE49-F238E27FC236}">
                <a16:creationId xmlns:a16="http://schemas.microsoft.com/office/drawing/2014/main" id="{32D3FEE0-7CC9-495F-8942-B1317A92B44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3750920" y="2319308"/>
            <a:ext cx="398467" cy="410478"/>
          </a:xfrm>
          <a:prstGeom prst="rect">
            <a:avLst/>
          </a:prstGeom>
        </p:spPr>
      </p:pic>
      <p:pic>
        <p:nvPicPr>
          <p:cNvPr id="14" name="Graphique 13" descr="Fille portant un sac à dos">
            <a:extLst>
              <a:ext uri="{FF2B5EF4-FFF2-40B4-BE49-F238E27FC236}">
                <a16:creationId xmlns:a16="http://schemas.microsoft.com/office/drawing/2014/main" id="{775A56FA-967C-4CAF-9870-001C0F5FEF2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4640209" y="2305339"/>
            <a:ext cx="398465" cy="402293"/>
          </a:xfrm>
          <a:prstGeom prst="rect">
            <a:avLst/>
          </a:prstGeom>
        </p:spPr>
      </p:pic>
      <p:pic>
        <p:nvPicPr>
          <p:cNvPr id="16" name="Graphique 15" descr="Homme avec barbe">
            <a:extLst>
              <a:ext uri="{FF2B5EF4-FFF2-40B4-BE49-F238E27FC236}">
                <a16:creationId xmlns:a16="http://schemas.microsoft.com/office/drawing/2014/main" id="{DD2AADC8-6494-4C09-AA09-2C6958E6B56E}"/>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4640118" y="2762958"/>
            <a:ext cx="370183" cy="433905"/>
          </a:xfrm>
          <a:prstGeom prst="rect">
            <a:avLst/>
          </a:prstGeom>
        </p:spPr>
      </p:pic>
      <p:pic>
        <p:nvPicPr>
          <p:cNvPr id="18" name="Graphique 17" descr="Homme tenant une tasse">
            <a:extLst>
              <a:ext uri="{FF2B5EF4-FFF2-40B4-BE49-F238E27FC236}">
                <a16:creationId xmlns:a16="http://schemas.microsoft.com/office/drawing/2014/main" id="{AEE14D0B-1CB1-45B3-A6FB-52259A0FCCB3}"/>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559686" y="2747831"/>
            <a:ext cx="370183" cy="397133"/>
          </a:xfrm>
          <a:prstGeom prst="rect">
            <a:avLst/>
          </a:prstGeom>
        </p:spPr>
      </p:pic>
      <p:pic>
        <p:nvPicPr>
          <p:cNvPr id="20" name="Graphique 19" descr="Homme en smoking">
            <a:extLst>
              <a:ext uri="{FF2B5EF4-FFF2-40B4-BE49-F238E27FC236}">
                <a16:creationId xmlns:a16="http://schemas.microsoft.com/office/drawing/2014/main" id="{8D3C7C12-6A90-4C9B-B4D8-8712DE2AAE76}"/>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702752" y="2293220"/>
            <a:ext cx="351837" cy="462653"/>
          </a:xfrm>
          <a:prstGeom prst="rect">
            <a:avLst/>
          </a:prstGeom>
        </p:spPr>
      </p:pic>
      <p:pic>
        <p:nvPicPr>
          <p:cNvPr id="22" name="Graphique 21" descr="Homme avec bras prothétique">
            <a:extLst>
              <a:ext uri="{FF2B5EF4-FFF2-40B4-BE49-F238E27FC236}">
                <a16:creationId xmlns:a16="http://schemas.microsoft.com/office/drawing/2014/main" id="{1821B9F0-EB24-4182-BA3B-7106400241A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3065181" y="2360127"/>
            <a:ext cx="521269" cy="381325"/>
          </a:xfrm>
          <a:prstGeom prst="rect">
            <a:avLst/>
          </a:prstGeom>
        </p:spPr>
      </p:pic>
      <p:pic>
        <p:nvPicPr>
          <p:cNvPr id="25" name="Graphique 24" descr="Homme portant une chemise avec motif">
            <a:extLst>
              <a:ext uri="{FF2B5EF4-FFF2-40B4-BE49-F238E27FC236}">
                <a16:creationId xmlns:a16="http://schemas.microsoft.com/office/drawing/2014/main" id="{24036FDD-5F20-4145-9108-87C8E7CA4DE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6529916" y="2313533"/>
            <a:ext cx="352508" cy="440443"/>
          </a:xfrm>
          <a:prstGeom prst="rect">
            <a:avLst/>
          </a:prstGeom>
        </p:spPr>
      </p:pic>
      <p:pic>
        <p:nvPicPr>
          <p:cNvPr id="29" name="Graphique 28" descr="Homme âgé portant une veste">
            <a:extLst>
              <a:ext uri="{FF2B5EF4-FFF2-40B4-BE49-F238E27FC236}">
                <a16:creationId xmlns:a16="http://schemas.microsoft.com/office/drawing/2014/main" id="{73D07F7E-351A-47EE-9791-EB9CF289A5D4}"/>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2693729" y="3206536"/>
            <a:ext cx="374626" cy="415948"/>
          </a:xfrm>
          <a:prstGeom prst="rect">
            <a:avLst/>
          </a:prstGeom>
        </p:spPr>
      </p:pic>
      <p:pic>
        <p:nvPicPr>
          <p:cNvPr id="31" name="Graphique 30" descr="Homme portant chapeau et costume">
            <a:extLst>
              <a:ext uri="{FF2B5EF4-FFF2-40B4-BE49-F238E27FC236}">
                <a16:creationId xmlns:a16="http://schemas.microsoft.com/office/drawing/2014/main" id="{272F044E-B466-4F5A-9E16-22BF95477F8B}"/>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2701385" y="2749316"/>
            <a:ext cx="419339" cy="457716"/>
          </a:xfrm>
          <a:prstGeom prst="rect">
            <a:avLst/>
          </a:prstGeom>
        </p:spPr>
      </p:pic>
      <p:pic>
        <p:nvPicPr>
          <p:cNvPr id="41" name="Graphique 40" descr="Femme non-voyante utilisant un bâton">
            <a:extLst>
              <a:ext uri="{FF2B5EF4-FFF2-40B4-BE49-F238E27FC236}">
                <a16:creationId xmlns:a16="http://schemas.microsoft.com/office/drawing/2014/main" id="{27CDBAC8-286B-43E8-87A7-510519CBF3D6}"/>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4598874" y="3214888"/>
            <a:ext cx="411427" cy="397134"/>
          </a:xfrm>
          <a:prstGeom prst="rect">
            <a:avLst/>
          </a:prstGeom>
        </p:spPr>
      </p:pic>
      <p:pic>
        <p:nvPicPr>
          <p:cNvPr id="43" name="Graphique 42" descr="Femme levant le doigt">
            <a:extLst>
              <a:ext uri="{FF2B5EF4-FFF2-40B4-BE49-F238E27FC236}">
                <a16:creationId xmlns:a16="http://schemas.microsoft.com/office/drawing/2014/main" id="{251CFCFD-7207-4215-819C-95843DF9B617}"/>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7503360" y="2305339"/>
            <a:ext cx="379003" cy="456211"/>
          </a:xfrm>
          <a:prstGeom prst="rect">
            <a:avLst/>
          </a:prstGeom>
        </p:spPr>
      </p:pic>
      <p:pic>
        <p:nvPicPr>
          <p:cNvPr id="45" name="Graphique 44" descr="Femme avec queue de cheval">
            <a:extLst>
              <a:ext uri="{FF2B5EF4-FFF2-40B4-BE49-F238E27FC236}">
                <a16:creationId xmlns:a16="http://schemas.microsoft.com/office/drawing/2014/main" id="{DF39FC77-9A26-4DA6-AA00-3DE02EDF4D90}"/>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3074649" y="2785371"/>
            <a:ext cx="481610" cy="422737"/>
          </a:xfrm>
          <a:prstGeom prst="rect">
            <a:avLst/>
          </a:prstGeom>
        </p:spPr>
      </p:pic>
      <p:pic>
        <p:nvPicPr>
          <p:cNvPr id="47" name="Graphique 46" descr="Femme utilisant une cane">
            <a:extLst>
              <a:ext uri="{FF2B5EF4-FFF2-40B4-BE49-F238E27FC236}">
                <a16:creationId xmlns:a16="http://schemas.microsoft.com/office/drawing/2014/main" id="{15147892-9B77-4496-8944-BDB474904171}"/>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8297862" y="2281948"/>
            <a:ext cx="706248" cy="518063"/>
          </a:xfrm>
          <a:prstGeom prst="rect">
            <a:avLst/>
          </a:prstGeom>
        </p:spPr>
      </p:pic>
      <p:pic>
        <p:nvPicPr>
          <p:cNvPr id="49" name="Graphique 48" descr="Femme aux cheveux afro">
            <a:extLst>
              <a:ext uri="{FF2B5EF4-FFF2-40B4-BE49-F238E27FC236}">
                <a16:creationId xmlns:a16="http://schemas.microsoft.com/office/drawing/2014/main" id="{034A08D0-9268-433B-8200-51BB6CFAB927}"/>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9465297" y="2305339"/>
            <a:ext cx="711292" cy="518063"/>
          </a:xfrm>
          <a:prstGeom prst="rect">
            <a:avLst/>
          </a:prstGeom>
        </p:spPr>
      </p:pic>
      <p:sp>
        <p:nvSpPr>
          <p:cNvPr id="23" name="ZoneTexte 22">
            <a:extLst>
              <a:ext uri="{FF2B5EF4-FFF2-40B4-BE49-F238E27FC236}">
                <a16:creationId xmlns:a16="http://schemas.microsoft.com/office/drawing/2014/main" id="{C9866B61-349F-C264-120B-5D446AD546AD}"/>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a:t>Atelier CCC-Groups – </a:t>
            </a:r>
            <a:r>
              <a:rPr lang="fr-FR" sz="3200" b="1" i="1">
                <a:solidFill>
                  <a:srgbClr val="ED7D31"/>
                </a:solidFill>
              </a:rPr>
              <a:t>Exemple de résultat</a:t>
            </a:r>
            <a:endParaRPr lang="fr-FR" sz="3200"/>
          </a:p>
        </p:txBody>
      </p:sp>
      <p:sp>
        <p:nvSpPr>
          <p:cNvPr id="2" name="Ellipse 1">
            <a:extLst>
              <a:ext uri="{FF2B5EF4-FFF2-40B4-BE49-F238E27FC236}">
                <a16:creationId xmlns:a16="http://schemas.microsoft.com/office/drawing/2014/main" id="{28987208-CAE1-0849-589B-708D850F0445}"/>
              </a:ext>
            </a:extLst>
          </p:cNvPr>
          <p:cNvSpPr/>
          <p:nvPr/>
        </p:nvSpPr>
        <p:spPr>
          <a:xfrm>
            <a:off x="4379185" y="2148396"/>
            <a:ext cx="1153856" cy="1766657"/>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llipse 2">
            <a:extLst>
              <a:ext uri="{FF2B5EF4-FFF2-40B4-BE49-F238E27FC236}">
                <a16:creationId xmlns:a16="http://schemas.microsoft.com/office/drawing/2014/main" id="{3C110CC1-FE4C-9B51-AF03-7F6FF7C95DF7}"/>
              </a:ext>
            </a:extLst>
          </p:cNvPr>
          <p:cNvSpPr/>
          <p:nvPr/>
        </p:nvSpPr>
        <p:spPr>
          <a:xfrm>
            <a:off x="6359329" y="2281948"/>
            <a:ext cx="1153856" cy="1579554"/>
          </a:xfrm>
          <a:prstGeom prst="ellipse">
            <a:avLst/>
          </a:prstGeom>
          <a:noFill/>
          <a:ln w="571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Ellipse 3">
            <a:extLst>
              <a:ext uri="{FF2B5EF4-FFF2-40B4-BE49-F238E27FC236}">
                <a16:creationId xmlns:a16="http://schemas.microsoft.com/office/drawing/2014/main" id="{33F3F3C8-23B3-DE50-1608-93451BD4CD84}"/>
              </a:ext>
            </a:extLst>
          </p:cNvPr>
          <p:cNvSpPr/>
          <p:nvPr/>
        </p:nvSpPr>
        <p:spPr>
          <a:xfrm>
            <a:off x="7217546" y="2148395"/>
            <a:ext cx="2974827" cy="1463627"/>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llipse 6">
            <a:extLst>
              <a:ext uri="{FF2B5EF4-FFF2-40B4-BE49-F238E27FC236}">
                <a16:creationId xmlns:a16="http://schemas.microsoft.com/office/drawing/2014/main" id="{5DF801D8-2174-0DAF-EF45-A82F5E547AD5}"/>
              </a:ext>
            </a:extLst>
          </p:cNvPr>
          <p:cNvSpPr/>
          <p:nvPr/>
        </p:nvSpPr>
        <p:spPr>
          <a:xfrm>
            <a:off x="2474317" y="2113411"/>
            <a:ext cx="1857625" cy="1766656"/>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space réservé du texte 7">
            <a:extLst>
              <a:ext uri="{FF2B5EF4-FFF2-40B4-BE49-F238E27FC236}">
                <a16:creationId xmlns:a16="http://schemas.microsoft.com/office/drawing/2014/main" id="{B0A0544D-78CE-2668-EBF1-F35D230EE4DA}"/>
              </a:ext>
            </a:extLst>
          </p:cNvPr>
          <p:cNvSpPr txBox="1">
            <a:spLocks/>
          </p:cNvSpPr>
          <p:nvPr/>
        </p:nvSpPr>
        <p:spPr>
          <a:xfrm>
            <a:off x="2514371" y="4121820"/>
            <a:ext cx="1584276" cy="103755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a:solidFill>
                  <a:srgbClr val="0683AA"/>
                </a:solidFill>
              </a:rPr>
              <a:t>Sous-groupe 1</a:t>
            </a:r>
          </a:p>
          <a:p>
            <a:pPr marL="0" indent="0" algn="ctr">
              <a:buNone/>
            </a:pPr>
            <a:r>
              <a:rPr lang="fr-FR" sz="1600">
                <a:solidFill>
                  <a:srgbClr val="0683AA"/>
                </a:solidFill>
              </a:rPr>
              <a:t>Membres débutants</a:t>
            </a:r>
          </a:p>
        </p:txBody>
      </p:sp>
      <p:sp>
        <p:nvSpPr>
          <p:cNvPr id="21" name="Espace réservé du texte 7">
            <a:extLst>
              <a:ext uri="{FF2B5EF4-FFF2-40B4-BE49-F238E27FC236}">
                <a16:creationId xmlns:a16="http://schemas.microsoft.com/office/drawing/2014/main" id="{4E8608CF-5059-9404-AD20-9A117382953F}"/>
              </a:ext>
            </a:extLst>
          </p:cNvPr>
          <p:cNvSpPr txBox="1">
            <a:spLocks/>
          </p:cNvSpPr>
          <p:nvPr/>
        </p:nvSpPr>
        <p:spPr>
          <a:xfrm>
            <a:off x="4304346" y="4133925"/>
            <a:ext cx="1411910" cy="84762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a:solidFill>
                  <a:srgbClr val="ED7D31"/>
                </a:solidFill>
              </a:rPr>
              <a:t>Sous-groupe 2</a:t>
            </a:r>
          </a:p>
          <a:p>
            <a:pPr marL="0" indent="0" algn="ctr">
              <a:buNone/>
            </a:pPr>
            <a:r>
              <a:rPr lang="fr-FR" sz="1600">
                <a:solidFill>
                  <a:srgbClr val="ED7D31"/>
                </a:solidFill>
              </a:rPr>
              <a:t>Membres intermédiaires</a:t>
            </a:r>
          </a:p>
        </p:txBody>
      </p:sp>
      <p:sp>
        <p:nvSpPr>
          <p:cNvPr id="37" name="Espace réservé du texte 7">
            <a:extLst>
              <a:ext uri="{FF2B5EF4-FFF2-40B4-BE49-F238E27FC236}">
                <a16:creationId xmlns:a16="http://schemas.microsoft.com/office/drawing/2014/main" id="{B3CB90A2-4E8F-6DF3-2039-5674EFAF5A24}"/>
              </a:ext>
            </a:extLst>
          </p:cNvPr>
          <p:cNvSpPr txBox="1">
            <a:spLocks/>
          </p:cNvSpPr>
          <p:nvPr/>
        </p:nvSpPr>
        <p:spPr>
          <a:xfrm>
            <a:off x="6223914" y="4133924"/>
            <a:ext cx="1411910" cy="119267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a:t>Sous-groupe 3</a:t>
            </a:r>
          </a:p>
          <a:p>
            <a:pPr marL="0" indent="0" algn="ctr">
              <a:buNone/>
            </a:pPr>
            <a:r>
              <a:rPr lang="fr-FR" sz="1600"/>
              <a:t>Pratiquants en cours d’application</a:t>
            </a:r>
          </a:p>
        </p:txBody>
      </p:sp>
      <p:sp>
        <p:nvSpPr>
          <p:cNvPr id="38" name="Espace réservé du texte 7">
            <a:extLst>
              <a:ext uri="{FF2B5EF4-FFF2-40B4-BE49-F238E27FC236}">
                <a16:creationId xmlns:a16="http://schemas.microsoft.com/office/drawing/2014/main" id="{276E704A-2B1D-2350-EA5E-CCD9B4DE5D1F}"/>
              </a:ext>
            </a:extLst>
          </p:cNvPr>
          <p:cNvSpPr txBox="1">
            <a:spLocks/>
          </p:cNvSpPr>
          <p:nvPr/>
        </p:nvSpPr>
        <p:spPr>
          <a:xfrm>
            <a:off x="8221389" y="4133924"/>
            <a:ext cx="1411910" cy="926347"/>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600">
                <a:solidFill>
                  <a:srgbClr val="0683AA"/>
                </a:solidFill>
              </a:rPr>
              <a:t>Sous-groupe 4</a:t>
            </a:r>
          </a:p>
          <a:p>
            <a:pPr marL="0" indent="0" algn="ctr">
              <a:buNone/>
            </a:pPr>
            <a:r>
              <a:rPr lang="fr-FR" sz="1600">
                <a:solidFill>
                  <a:srgbClr val="0683AA"/>
                </a:solidFill>
              </a:rPr>
              <a:t>Références expérimentées</a:t>
            </a:r>
          </a:p>
        </p:txBody>
      </p:sp>
    </p:spTree>
    <p:extLst>
      <p:ext uri="{BB962C8B-B14F-4D97-AF65-F5344CB8AC3E}">
        <p14:creationId xmlns:p14="http://schemas.microsoft.com/office/powerpoint/2010/main" val="16789120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BD3A6710-B074-F715-3AF8-A48FD0326BB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CCC-Groups – </a:t>
            </a:r>
            <a:r>
              <a:rPr lang="fr-FR" sz="3200" b="1" i="1">
                <a:solidFill>
                  <a:srgbClr val="ED7D31"/>
                </a:solidFill>
              </a:rPr>
              <a:t>Déroulement</a:t>
            </a:r>
            <a:endParaRPr lang="fr-FR" sz="3200"/>
          </a:p>
        </p:txBody>
      </p:sp>
      <p:sp>
        <p:nvSpPr>
          <p:cNvPr id="6" name="Flèche : droite 5">
            <a:extLst>
              <a:ext uri="{FF2B5EF4-FFF2-40B4-BE49-F238E27FC236}">
                <a16:creationId xmlns:a16="http://schemas.microsoft.com/office/drawing/2014/main" id="{D3A6A294-10D8-44E7-85FD-B9B4A697B44F}"/>
              </a:ext>
            </a:extLst>
          </p:cNvPr>
          <p:cNvSpPr/>
          <p:nvPr/>
        </p:nvSpPr>
        <p:spPr>
          <a:xfrm>
            <a:off x="220602" y="602142"/>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8" name="Tableau 7">
            <a:extLst>
              <a:ext uri="{FF2B5EF4-FFF2-40B4-BE49-F238E27FC236}">
                <a16:creationId xmlns:a16="http://schemas.microsoft.com/office/drawing/2014/main" id="{438200EA-26A4-8F97-0FB4-1EA2B9B1EDAB}"/>
              </a:ext>
            </a:extLst>
          </p:cNvPr>
          <p:cNvGraphicFramePr>
            <a:graphicFrameLocks/>
          </p:cNvGraphicFramePr>
          <p:nvPr>
            <p:extLst>
              <p:ext uri="{D42A27DB-BD31-4B8C-83A1-F6EECF244321}">
                <p14:modId xmlns:p14="http://schemas.microsoft.com/office/powerpoint/2010/main" val="2072675818"/>
              </p:ext>
            </p:extLst>
          </p:nvPr>
        </p:nvGraphicFramePr>
        <p:xfrm>
          <a:off x="220600" y="1143894"/>
          <a:ext cx="10421855" cy="5370462"/>
        </p:xfrm>
        <a:graphic>
          <a:graphicData uri="http://schemas.openxmlformats.org/drawingml/2006/table">
            <a:tbl>
              <a:tblPr firstRow="1" bandRow="1">
                <a:tableStyleId>{5C22544A-7EE6-4342-B048-85BDC9FD1C3A}</a:tableStyleId>
              </a:tblPr>
              <a:tblGrid>
                <a:gridCol w="2549233">
                  <a:extLst>
                    <a:ext uri="{9D8B030D-6E8A-4147-A177-3AD203B41FA5}">
                      <a16:colId xmlns:a16="http://schemas.microsoft.com/office/drawing/2014/main" val="1302591909"/>
                    </a:ext>
                  </a:extLst>
                </a:gridCol>
                <a:gridCol w="5600881">
                  <a:extLst>
                    <a:ext uri="{9D8B030D-6E8A-4147-A177-3AD203B41FA5}">
                      <a16:colId xmlns:a16="http://schemas.microsoft.com/office/drawing/2014/main" val="1572267126"/>
                    </a:ext>
                  </a:extLst>
                </a:gridCol>
                <a:gridCol w="2271741">
                  <a:extLst>
                    <a:ext uri="{9D8B030D-6E8A-4147-A177-3AD203B41FA5}">
                      <a16:colId xmlns:a16="http://schemas.microsoft.com/office/drawing/2014/main" val="4222483745"/>
                    </a:ext>
                  </a:extLst>
                </a:gridCol>
              </a:tblGrid>
              <a:tr h="828942">
                <a:tc>
                  <a:txBody>
                    <a:bodyPr/>
                    <a:lstStyle/>
                    <a:p>
                      <a:r>
                        <a:rPr lang="fr-FR" sz="1400"/>
                        <a:t>Ouverture : </a:t>
                      </a:r>
                    </a:p>
                    <a:p>
                      <a:r>
                        <a:rPr lang="fr-FR" sz="1400"/>
                        <a:t>Accueil, Intro, </a:t>
                      </a:r>
                      <a:r>
                        <a:rPr lang="fr-FR" sz="1400" err="1"/>
                        <a:t>Icebreaker</a:t>
                      </a:r>
                      <a:r>
                        <a:rPr lang="fr-FR" sz="1400"/>
                        <a:t>…</a:t>
                      </a:r>
                    </a:p>
                  </a:txBody>
                  <a:tcPr/>
                </a:tc>
                <a:tc>
                  <a:txBody>
                    <a:bodyPr/>
                    <a:lstStyle/>
                    <a:p>
                      <a:pPr algn="ctr"/>
                      <a:r>
                        <a:rPr lang="fr-FR" sz="1400"/>
                        <a:t>Déroulement</a:t>
                      </a:r>
                    </a:p>
                    <a:p>
                      <a:pPr algn="ctr"/>
                      <a:r>
                        <a:rPr lang="fr-FR" sz="1400"/>
                        <a:t>Règles du jeu, Narratif</a:t>
                      </a:r>
                    </a:p>
                  </a:txBody>
                  <a:tcPr/>
                </a:tc>
                <a:tc>
                  <a:txBody>
                    <a:bodyPr/>
                    <a:lstStyle/>
                    <a:p>
                      <a:r>
                        <a:rPr lang="fr-FR" sz="1400"/>
                        <a:t>Clôture :</a:t>
                      </a:r>
                    </a:p>
                    <a:p>
                      <a:r>
                        <a:rPr lang="fr-FR" sz="1400"/>
                        <a:t>Debriefing, Remerciements…</a:t>
                      </a:r>
                    </a:p>
                  </a:txBody>
                  <a:tcPr/>
                </a:tc>
                <a:extLst>
                  <a:ext uri="{0D108BD9-81ED-4DB2-BD59-A6C34878D82A}">
                    <a16:rowId xmlns:a16="http://schemas.microsoft.com/office/drawing/2014/main" val="1724558119"/>
                  </a:ext>
                </a:extLst>
              </a:tr>
              <a:tr h="3521451">
                <a:tc>
                  <a:txBody>
                    <a:bodyPr/>
                    <a:lstStyle/>
                    <a:p>
                      <a:r>
                        <a:rPr lang="fr-FR" sz="1400"/>
                        <a:t>5 min</a:t>
                      </a:r>
                    </a:p>
                    <a:p>
                      <a:endParaRPr lang="fr-FR" sz="1400"/>
                    </a:p>
                    <a:p>
                      <a:r>
                        <a:rPr lang="fr-FR" sz="1400" b="1">
                          <a:solidFill>
                            <a:srgbClr val="ED7D31"/>
                          </a:solidFill>
                        </a:rPr>
                        <a:t>Phase : Connaissance du model </a:t>
                      </a:r>
                    </a:p>
                    <a:p>
                      <a:pPr marL="285750" indent="-285750">
                        <a:buFont typeface="Arial" panose="020B0604020202020204" pitchFamily="34" charset="0"/>
                        <a:buChar char="•"/>
                      </a:pPr>
                      <a:r>
                        <a:rPr lang="fr-FR" sz="1400"/>
                        <a:t>Les participants sont répartis par groupe de 5/10, avec un facilitateur</a:t>
                      </a:r>
                    </a:p>
                    <a:p>
                      <a:pPr marL="0" indent="0">
                        <a:buFont typeface="Arial" panose="020B0604020202020204" pitchFamily="34" charset="0"/>
                        <a:buNone/>
                      </a:pPr>
                      <a:endParaRPr lang="fr-FR" sz="140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a:t>Le facilitateur montre le</a:t>
                      </a:r>
                      <a:r>
                        <a:rPr lang="fr-FR" sz="1400">
                          <a:hlinkClick r:id="rId2" action="ppaction://hlinksldjump"/>
                        </a:rPr>
                        <a:t> CCC-model</a:t>
                      </a:r>
                      <a:r>
                        <a:rPr lang="fr-FR" sz="1400"/>
                        <a:t> au groupe</a:t>
                      </a:r>
                    </a:p>
                    <a:p>
                      <a:pPr marL="285750" indent="-285750">
                        <a:buFont typeface="Arial" panose="020B0604020202020204" pitchFamily="34" charset="0"/>
                        <a:buChar char="•"/>
                      </a:pPr>
                      <a:endParaRPr lang="fr-FR" sz="1400"/>
                    </a:p>
                    <a:p>
                      <a:pPr marL="285750" indent="-285750">
                        <a:buFont typeface="Arial" panose="020B0604020202020204" pitchFamily="34" charset="0"/>
                        <a:buChar char="•"/>
                      </a:pPr>
                      <a:endParaRPr lang="fr-FR" sz="1400"/>
                    </a:p>
                  </a:txBody>
                  <a:tcPr/>
                </a:tc>
                <a:tc>
                  <a:txBody>
                    <a:bodyPr/>
                    <a:lstStyle/>
                    <a:p>
                      <a:r>
                        <a:rPr lang="fr-FR" sz="1400" dirty="0"/>
                        <a:t>20 min (5 minutes par sujet)</a:t>
                      </a:r>
                    </a:p>
                    <a:p>
                      <a:endParaRPr lang="fr-FR"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solidFill>
                            <a:srgbClr val="ED7D31"/>
                          </a:solidFill>
                        </a:rPr>
                        <a:t>Phase : Choix du sujet</a:t>
                      </a:r>
                    </a:p>
                    <a:p>
                      <a:pPr marL="285750" indent="-285750">
                        <a:buFont typeface="Arial" panose="020B0604020202020204" pitchFamily="34" charset="0"/>
                        <a:buChar char="•"/>
                      </a:pPr>
                      <a:r>
                        <a:rPr lang="fr-FR" sz="1200" dirty="0"/>
                        <a:t>Les participants choisissent un </a:t>
                      </a:r>
                      <a:r>
                        <a:rPr lang="fr-FR" sz="1200" dirty="0">
                          <a:solidFill>
                            <a:schemeClr val="tx1"/>
                          </a:solidFill>
                        </a:rPr>
                        <a:t>sujet parmi les sujets existants de la communauté. </a:t>
                      </a:r>
                      <a:r>
                        <a:rPr lang="fr-FR" sz="1200" b="1" dirty="0">
                          <a:solidFill>
                            <a:schemeClr val="tx1"/>
                          </a:solidFill>
                        </a:rPr>
                        <a:t>Ex : </a:t>
                      </a:r>
                      <a:r>
                        <a:rPr lang="fr-FR" sz="1200" dirty="0">
                          <a:solidFill>
                            <a:schemeClr val="tx1"/>
                          </a:solidFill>
                        </a:rPr>
                        <a:t>Sur les sujets connus </a:t>
                      </a:r>
                      <a:r>
                        <a:rPr lang="fr-FR" sz="1200" dirty="0"/>
                        <a:t>de tous, les participants priorisent le sujet </a:t>
                      </a:r>
                      <a:r>
                        <a:rPr lang="fr-FR" sz="1200" i="1" dirty="0"/>
                        <a:t>Accessibilité </a:t>
                      </a:r>
                    </a:p>
                    <a:p>
                      <a:pPr marL="0" marR="0" lvl="0" indent="0" algn="l">
                        <a:lnSpc>
                          <a:spcPct val="100000"/>
                        </a:lnSpc>
                        <a:spcBef>
                          <a:spcPts val="0"/>
                        </a:spcBef>
                        <a:spcAft>
                          <a:spcPts val="0"/>
                        </a:spcAft>
                        <a:buNone/>
                      </a:pPr>
                      <a:r>
                        <a:rPr lang="fr-FR" sz="1400" b="1" i="0" u="none" strike="noStrike" noProof="0" dirty="0">
                          <a:solidFill>
                            <a:srgbClr val="ED7D31"/>
                          </a:solidFill>
                          <a:latin typeface="Calibri"/>
                        </a:rPr>
                        <a:t>Phase : Placement des participants sur les phases</a:t>
                      </a:r>
                      <a:endParaRPr lang="en-US" sz="1400" b="0" i="0" u="none" strike="noStrike" noProof="0" dirty="0">
                        <a:latin typeface="Calibri"/>
                      </a:endParaRPr>
                    </a:p>
                    <a:p>
                      <a:pPr marL="285750" indent="-285750">
                        <a:buFont typeface="Arial" panose="020B0604020202020204" pitchFamily="34" charset="0"/>
                        <a:buChar char="•"/>
                      </a:pPr>
                      <a:r>
                        <a:rPr lang="fr-FR" sz="1200" dirty="0"/>
                        <a:t>Les participants se placent sur les phases du modèle en fonction de leur propre expérience du sujet. </a:t>
                      </a:r>
                      <a:r>
                        <a:rPr lang="fr-FR" sz="1200" b="1" dirty="0"/>
                        <a:t>Ex </a:t>
                      </a:r>
                      <a:r>
                        <a:rPr lang="fr-FR" sz="1200" b="0" dirty="0"/>
                        <a:t>: Le projet de Marie concernant le sujet de </a:t>
                      </a:r>
                      <a:r>
                        <a:rPr lang="fr-FR" sz="1200" b="0" i="1" dirty="0"/>
                        <a:t>l’accessibilité</a:t>
                      </a:r>
                      <a:r>
                        <a:rPr lang="fr-FR" sz="1200" b="0" dirty="0"/>
                        <a:t> a été partagé dans toute l’entreprise, elle se place dans la phase </a:t>
                      </a:r>
                      <a:r>
                        <a:rPr lang="fr-FR" sz="1200" b="0" i="1" dirty="0"/>
                        <a:t>Exposition</a:t>
                      </a:r>
                      <a:r>
                        <a:rPr lang="fr-FR" sz="1200" b="0" dirty="0"/>
                        <a:t>. Léa n’a rien initié en rapport avec ce sujet, elle se place dans </a:t>
                      </a:r>
                      <a:r>
                        <a:rPr lang="fr-FR" sz="1200" b="0" i="1" dirty="0"/>
                        <a:t>Pas encore commencé.</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sz="1400" b="1" i="0" u="none" strike="noStrike" noProof="0" dirty="0">
                          <a:solidFill>
                            <a:srgbClr val="ED7D31"/>
                          </a:solidFill>
                          <a:latin typeface="+mn-lt"/>
                        </a:rPr>
                        <a:t>(Phase optionnelle): Prévision d’activités sur le sujet par phase (correspond à CCC-</a:t>
                      </a:r>
                      <a:r>
                        <a:rPr lang="fr-FR" sz="1400" b="1" i="0" u="none" strike="noStrike" noProof="0" dirty="0" err="1">
                          <a:solidFill>
                            <a:srgbClr val="ED7D31"/>
                          </a:solidFill>
                          <a:latin typeface="+mn-lt"/>
                        </a:rPr>
                        <a:t>Decision</a:t>
                      </a:r>
                      <a:r>
                        <a:rPr lang="fr-FR" sz="1400" b="1" i="0" u="none" strike="noStrike" noProof="0" dirty="0">
                          <a:solidFill>
                            <a:srgbClr val="ED7D31"/>
                          </a:solidFill>
                          <a:latin typeface="+mn-lt"/>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dirty="0"/>
                        <a:t>Les activités à prévoir sont déterminées par les placements. Ex : Marie qui s’est placée en </a:t>
                      </a:r>
                      <a:r>
                        <a:rPr lang="fr-FR" sz="1200" b="0" i="1" dirty="0"/>
                        <a:t>Exposition </a:t>
                      </a:r>
                      <a:r>
                        <a:rPr lang="fr-FR" sz="1200" b="0" dirty="0"/>
                        <a:t>pour le sujet de </a:t>
                      </a:r>
                      <a:r>
                        <a:rPr lang="fr-FR" sz="1200" b="0" i="1" dirty="0"/>
                        <a:t>l’accessibilité, </a:t>
                      </a:r>
                      <a:r>
                        <a:rPr lang="fr-FR" sz="1200" b="0" dirty="0"/>
                        <a:t>propose de transmettre au-delà de la communauté. Elle a trouvé cette activité dans le </a:t>
                      </a:r>
                      <a:r>
                        <a:rPr lang="fr-FR" sz="1200" b="0" dirty="0">
                          <a:hlinkClick r:id="rId3" action="ppaction://hlinksldjump"/>
                        </a:rPr>
                        <a:t>tableau-joint</a:t>
                      </a:r>
                      <a:r>
                        <a:rPr lang="fr-FR" sz="1200" b="0" dirty="0"/>
                        <a:t> des activités suggérées par phase.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solidFill>
                            <a:srgbClr val="ED7D31"/>
                          </a:solidFill>
                        </a:rPr>
                        <a:t>Phase facultative : Mise en relation</a:t>
                      </a:r>
                    </a:p>
                    <a:p>
                      <a:pPr marL="285750" indent="-285750">
                        <a:buFont typeface="Arial" panose="020B0604020202020204" pitchFamily="34" charset="0"/>
                        <a:buChar char="•"/>
                      </a:pPr>
                      <a:r>
                        <a:rPr lang="fr-FR" sz="1200" dirty="0"/>
                        <a:t>Certains participants peuvent voir un intérêt à partager leur expérience, leurs résultats, leurs avancées, à d’autres membres </a:t>
                      </a:r>
                      <a:r>
                        <a:rPr lang="fr-FR" sz="1200" dirty="0">
                          <a:solidFill>
                            <a:schemeClr val="tx1"/>
                          </a:solidFill>
                        </a:rPr>
                        <a:t>placés sur des phases différentes. Ils peuvent ici choisir de se mettre en relation pour mêler expérience et expertise à l’avenir afin de s’entraider. </a:t>
                      </a:r>
                      <a:r>
                        <a:rPr lang="fr-FR" sz="1200" b="1" dirty="0">
                          <a:solidFill>
                            <a:schemeClr val="tx1"/>
                          </a:solidFill>
                        </a:rPr>
                        <a:t>Ex : </a:t>
                      </a:r>
                      <a:r>
                        <a:rPr lang="fr-FR" sz="1200" dirty="0">
                          <a:solidFill>
                            <a:schemeClr val="tx1"/>
                          </a:solidFill>
                        </a:rPr>
                        <a:t>Sur </a:t>
                      </a:r>
                      <a:r>
                        <a:rPr lang="fr-FR" sz="1200" dirty="0"/>
                        <a:t>le sujet de l’</a:t>
                      </a:r>
                      <a:r>
                        <a:rPr lang="fr-FR" sz="1200" i="1" dirty="0"/>
                        <a:t>Accessibilité, </a:t>
                      </a:r>
                      <a:r>
                        <a:rPr lang="fr-FR" sz="1200" dirty="0">
                          <a:solidFill>
                            <a:schemeClr val="tx1"/>
                          </a:solidFill>
                        </a:rPr>
                        <a:t>Marie pense pouvoir faire avancer les groupes en phase d’</a:t>
                      </a:r>
                      <a:r>
                        <a:rPr lang="fr-FR" sz="1200" i="1" dirty="0">
                          <a:solidFill>
                            <a:schemeClr val="tx1"/>
                          </a:solidFill>
                        </a:rPr>
                        <a:t>Initiation</a:t>
                      </a:r>
                      <a:r>
                        <a:rPr lang="fr-FR" sz="1200" dirty="0">
                          <a:solidFill>
                            <a:schemeClr val="tx1"/>
                          </a:solidFill>
                        </a:rPr>
                        <a:t>.</a:t>
                      </a:r>
                      <a:endParaRPr lang="en-US" sz="1200" b="0" i="0" u="none" strike="noStrike" noProof="0" dirty="0">
                        <a:latin typeface="+mn-lt"/>
                      </a:endParaRPr>
                    </a:p>
                    <a:p>
                      <a:pPr marL="285750" indent="-285750">
                        <a:buFont typeface="Arial" panose="020B0604020202020204" pitchFamily="34" charset="0"/>
                        <a:buChar char="•"/>
                      </a:pPr>
                      <a:endParaRPr lang="fr-FR" sz="1400" b="0" i="1" dirty="0"/>
                    </a:p>
                  </a:txBody>
                  <a:tcPr/>
                </a:tc>
                <a:tc>
                  <a:txBody>
                    <a:bodyPr/>
                    <a:lstStyle/>
                    <a:p>
                      <a:r>
                        <a:rPr lang="fr-FR" sz="1400" dirty="0"/>
                        <a:t>5 min</a:t>
                      </a:r>
                    </a:p>
                    <a:p>
                      <a:endParaRPr lang="fr-FR"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solidFill>
                            <a:srgbClr val="ED7D31"/>
                          </a:solidFill>
                        </a:rPr>
                        <a:t>Phase : Restitution</a:t>
                      </a:r>
                    </a:p>
                    <a:p>
                      <a:pPr marL="285750" marR="0" lvl="0" indent="-285750" algn="l" rtl="0" eaLnBrk="1" fontAlgn="auto" latinLnBrk="0" hangingPunct="1">
                        <a:lnSpc>
                          <a:spcPct val="100000"/>
                        </a:lnSpc>
                        <a:spcBef>
                          <a:spcPts val="0"/>
                        </a:spcBef>
                        <a:spcAft>
                          <a:spcPts val="0"/>
                        </a:spcAft>
                        <a:buClrTx/>
                        <a:buSzTx/>
                        <a:buFont typeface="Arial"/>
                        <a:buChar char="•"/>
                      </a:pPr>
                      <a:r>
                        <a:rPr lang="fr-FR" sz="1400" dirty="0"/>
                        <a:t>Les participants donnent leur appréciation de l'atelier</a:t>
                      </a:r>
                    </a:p>
                    <a:p>
                      <a:pPr marL="285750" marR="0" lvl="0" indent="-285750" algn="l">
                        <a:lnSpc>
                          <a:spcPct val="100000"/>
                        </a:lnSpc>
                        <a:spcBef>
                          <a:spcPts val="0"/>
                        </a:spcBef>
                        <a:spcAft>
                          <a:spcPts val="0"/>
                        </a:spcAft>
                        <a:buClrTx/>
                        <a:buSzTx/>
                        <a:buFont typeface="Arial"/>
                        <a:buChar char="•"/>
                      </a:pPr>
                      <a:r>
                        <a:rPr lang="fr-FR" sz="1400" dirty="0"/>
                        <a:t>Ensemble, le groupe note les</a:t>
                      </a:r>
                      <a:r>
                        <a:rPr lang="fr-FR" sz="1400" i="1" dirty="0"/>
                        <a:t> </a:t>
                      </a:r>
                      <a:r>
                        <a:rPr lang="fr-FR" sz="1400" i="1" dirty="0" err="1"/>
                        <a:t>next</a:t>
                      </a:r>
                      <a:r>
                        <a:rPr lang="fr-FR" sz="1400" i="1" dirty="0"/>
                        <a:t> </a:t>
                      </a:r>
                      <a:r>
                        <a:rPr lang="fr-FR" sz="1400" i="1" dirty="0" err="1"/>
                        <a:t>steps</a:t>
                      </a:r>
                      <a:endParaRPr lang="fr-FR" sz="1400" i="1" dirty="0"/>
                    </a:p>
                    <a:p>
                      <a:pPr marL="285750" marR="0" lvl="0" indent="-285750" algn="l">
                        <a:lnSpc>
                          <a:spcPct val="100000"/>
                        </a:lnSpc>
                        <a:spcBef>
                          <a:spcPts val="0"/>
                        </a:spcBef>
                        <a:spcAft>
                          <a:spcPts val="0"/>
                        </a:spcAft>
                        <a:buClrTx/>
                        <a:buSzTx/>
                        <a:buFont typeface="Arial"/>
                        <a:buChar char="•"/>
                      </a:pPr>
                      <a:r>
                        <a:rPr lang="fr-FR" sz="1400" dirty="0"/>
                        <a:t>Suite recommandée avec ?</a:t>
                      </a:r>
                    </a:p>
                    <a:p>
                      <a:pPr marL="0" marR="0" lvl="0" indent="0" algn="l">
                        <a:lnSpc>
                          <a:spcPct val="100000"/>
                        </a:lnSpc>
                        <a:spcBef>
                          <a:spcPts val="0"/>
                        </a:spcBef>
                        <a:spcAft>
                          <a:spcPts val="0"/>
                        </a:spcAft>
                        <a:buClrTx/>
                        <a:buSzTx/>
                        <a:buFontTx/>
                        <a:buNone/>
                      </a:pPr>
                      <a:endParaRPr lang="fr-FR" sz="1400" dirty="0"/>
                    </a:p>
                  </a:txBody>
                  <a:tcPr/>
                </a:tc>
                <a:extLst>
                  <a:ext uri="{0D108BD9-81ED-4DB2-BD59-A6C34878D82A}">
                    <a16:rowId xmlns:a16="http://schemas.microsoft.com/office/drawing/2014/main" val="215570386"/>
                  </a:ext>
                </a:extLst>
              </a:tr>
            </a:tbl>
          </a:graphicData>
        </a:graphic>
      </p:graphicFrame>
      <p:sp>
        <p:nvSpPr>
          <p:cNvPr id="9" name="Espace réservé du contenu 2">
            <a:extLst>
              <a:ext uri="{FF2B5EF4-FFF2-40B4-BE49-F238E27FC236}">
                <a16:creationId xmlns:a16="http://schemas.microsoft.com/office/drawing/2014/main" id="{90EC7968-CAEB-318B-F272-B2E77605D208}"/>
              </a:ext>
            </a:extLst>
          </p:cNvPr>
          <p:cNvSpPr txBox="1">
            <a:spLocks/>
          </p:cNvSpPr>
          <p:nvPr/>
        </p:nvSpPr>
        <p:spPr>
          <a:xfrm>
            <a:off x="10642455" y="2967094"/>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a:solidFill>
                  <a:srgbClr val="000000"/>
                </a:solidFill>
                <a:cs typeface="Calibri"/>
              </a:rPr>
              <a:t>Total :</a:t>
            </a:r>
          </a:p>
          <a:p>
            <a:pPr marL="0" indent="0" algn="ctr">
              <a:buNone/>
            </a:pPr>
            <a:r>
              <a:rPr lang="fr-FR" sz="2000" b="1">
                <a:solidFill>
                  <a:srgbClr val="000000"/>
                </a:solidFill>
                <a:cs typeface="Calibri"/>
              </a:rPr>
              <a:t>30 min </a:t>
            </a:r>
          </a:p>
        </p:txBody>
      </p:sp>
    </p:spTree>
    <p:extLst>
      <p:ext uri="{BB962C8B-B14F-4D97-AF65-F5344CB8AC3E}">
        <p14:creationId xmlns:p14="http://schemas.microsoft.com/office/powerpoint/2010/main" val="16078153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40116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1980368"/>
            <a:ext cx="2832018" cy="1690823"/>
          </a:xfrm>
          <a:prstGeom prst="rect">
            <a:avLst/>
          </a:prstGeom>
          <a:solidFill>
            <a:schemeClr val="accent5">
              <a:lumMod val="20000"/>
              <a:lumOff val="80000"/>
            </a:schemeClr>
          </a:solidFill>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Ce qui est appris : </a:t>
            </a:r>
          </a:p>
          <a:p>
            <a:r>
              <a:rPr lang="fr-FR" sz="1200"/>
              <a:t>Savoir se situer sur un sujet donné.</a:t>
            </a:r>
            <a:endParaRPr lang="fr-FR" sz="1200">
              <a:cs typeface="Calibri"/>
            </a:endParaRP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40116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1980368"/>
            <a:ext cx="2845965" cy="1690823"/>
          </a:xfrm>
          <a:prstGeom prst="rect">
            <a:avLst/>
          </a:prstGeom>
          <a:solidFill>
            <a:schemeClr val="accent2">
              <a:lumMod val="20000"/>
              <a:lumOff val="80000"/>
            </a:schemeClr>
          </a:solidFill>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Livrables produits : Plusieurs fresques du CCC-model (une par sujet) montrant le positionnement des membres sur les phases par sujet-clé.</a:t>
            </a:r>
          </a:p>
          <a:p>
            <a:pPr marL="0" indent="0">
              <a:buNone/>
            </a:pPr>
            <a:r>
              <a:rPr lang="fr-FR" sz="1200"/>
              <a:t>Résultats atteints : Situation des membres par sujet-clé, et nouvelles mises en relations.</a:t>
            </a:r>
            <a:endParaRPr lang="fr-FR" sz="1200">
              <a:cs typeface="Calibri"/>
            </a:endParaRP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40116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1980368"/>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Nombre de participants : 1-10</a:t>
            </a:r>
          </a:p>
          <a:p>
            <a:pPr marL="0" indent="0">
              <a:buNone/>
            </a:pPr>
            <a:r>
              <a:rPr lang="fr-FR" sz="1200"/>
              <a:t>Profil des participants : portent ou peuvent aider à porter un sujet clé de la communauté ou du changement.</a:t>
            </a:r>
          </a:p>
          <a:p>
            <a:pPr marL="0" indent="0">
              <a:buNone/>
            </a:pPr>
            <a:r>
              <a:rPr lang="fr-FR" sz="1200" strike="sngStrike" err="1"/>
              <a:t>Pré-requis</a:t>
            </a:r>
            <a:r>
              <a:rPr lang="fr-FR" sz="1200" strike="sngStrike"/>
              <a:t> sur les participants (compétences, niveau de connaissance mutuelle, niveau d’adhésion …)</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40116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1980368"/>
            <a:ext cx="2832018" cy="1690823"/>
          </a:xfrm>
          <a:prstGeom prst="rect">
            <a:avLst/>
          </a:prstGeom>
          <a:solidFill>
            <a:schemeClr val="bg1"/>
          </a:solidFill>
          <a:ln>
            <a:solidFill>
              <a:schemeClr val="tx1"/>
            </a:solidFill>
          </a:ln>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Une communauté commence à recevoir des plaintes (ou des absences) sur ses activités  : certains ne viennent pas car les activités sont trop avancées par rapport à leur niveau de maturité, d’autres parce que c’est trop débutant. </a:t>
            </a:r>
          </a:p>
          <a:p>
            <a:pPr marL="0" indent="0">
              <a:buNone/>
            </a:pPr>
            <a:r>
              <a:rPr lang="fr-FR" sz="1200" dirty="0">
                <a:cs typeface="Calibri"/>
              </a:rPr>
              <a:t>Sur ses sujets clés, la Communauté décide alors d’utiliser l’atelier CCC-Groups afin de mieux repérer là où chacun en est.</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383600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415213"/>
            <a:ext cx="2832018" cy="1690823"/>
          </a:xfrm>
          <a:prstGeom prst="rect">
            <a:avLst/>
          </a:prstGeom>
          <a:solidFill>
            <a:schemeClr val="accent5">
              <a:lumMod val="20000"/>
              <a:lumOff val="80000"/>
            </a:schemeClr>
          </a:solidFill>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Cet atelier ne couvre pas la conception des différents sujets, ni le timing, ni la roadmap, ni le niveau d’engagement des membres</a:t>
            </a:r>
            <a:endParaRPr lang="fr-FR" sz="1200" dirty="0">
              <a:cs typeface="Calibri"/>
            </a:endParaRP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383600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415213"/>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Durée : 30 minutes (5 minutes par sujet)</a:t>
            </a:r>
          </a:p>
          <a:p>
            <a:pPr marL="0" indent="0">
              <a:buFont typeface="Arial" panose="020B0604020202020204" pitchFamily="34" charset="0"/>
              <a:buNone/>
            </a:pPr>
            <a:r>
              <a:rPr lang="fr-FR" sz="1200" dirty="0"/>
              <a:t>Matériel nécessaire : le CCC-model affiché ou un tableau vide prêt, idéalement les photos des membres prêtes</a:t>
            </a:r>
          </a:p>
          <a:p>
            <a:pPr marL="0" indent="0">
              <a:buFont typeface="Arial" panose="020B0604020202020204" pitchFamily="34" charset="0"/>
              <a:buNone/>
            </a:pPr>
            <a:r>
              <a:rPr lang="fr-FR" sz="1200" dirty="0"/>
              <a:t>En </a:t>
            </a:r>
            <a:r>
              <a:rPr lang="fr-FR" sz="1200" dirty="0" err="1"/>
              <a:t>visio</a:t>
            </a:r>
            <a:r>
              <a:rPr lang="fr-FR" sz="1200" dirty="0"/>
              <a:t> : Un mur collaboratif (type Klaxoon, Miro, Mural…)</a:t>
            </a:r>
          </a:p>
          <a:p>
            <a:pPr marL="0" indent="0">
              <a:buFont typeface="Arial" panose="020B0604020202020204" pitchFamily="34" charset="0"/>
              <a:buNone/>
            </a:pPr>
            <a:r>
              <a:rPr lang="fr-FR" sz="1200" dirty="0"/>
              <a:t>En physique : Des post-it et gros feutres</a:t>
            </a:r>
          </a:p>
          <a:p>
            <a:pPr marL="0" indent="0">
              <a:buFont typeface="Arial" panose="020B0604020202020204" pitchFamily="34" charset="0"/>
              <a:buNone/>
            </a:pPr>
            <a:endParaRPr lang="fr-FR" sz="1200" dirty="0"/>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383600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41521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Idées Ressources et compléments qui peuvent accompagner l’atelier :</a:t>
            </a:r>
          </a:p>
          <a:p>
            <a:pPr marL="0" indent="0">
              <a:buNone/>
            </a:pPr>
            <a:r>
              <a:rPr lang="fr-FR" sz="1200" dirty="0">
                <a:ea typeface="+mn-lt"/>
                <a:cs typeface="+mn-lt"/>
              </a:rPr>
              <a:t>Pour choisir les </a:t>
            </a:r>
            <a:r>
              <a:rPr lang="fr-FR" sz="1200" b="1" dirty="0">
                <a:ea typeface="+mn-lt"/>
                <a:cs typeface="+mn-lt"/>
              </a:rPr>
              <a:t>activités</a:t>
            </a:r>
            <a:r>
              <a:rPr lang="fr-FR" sz="1200" dirty="0">
                <a:ea typeface="+mn-lt"/>
                <a:cs typeface="+mn-lt"/>
              </a:rPr>
              <a:t> ou </a:t>
            </a:r>
            <a:r>
              <a:rPr lang="fr-FR" sz="1200" b="1" dirty="0">
                <a:ea typeface="+mn-lt"/>
                <a:cs typeface="+mn-lt"/>
              </a:rPr>
              <a:t>le contenu</a:t>
            </a:r>
            <a:r>
              <a:rPr lang="fr-FR" sz="1200" dirty="0">
                <a:ea typeface="+mn-lt"/>
                <a:cs typeface="+mn-lt"/>
              </a:rPr>
              <a:t> en fonction de chaque sous-groupe, l'atelier CCC-</a:t>
            </a:r>
            <a:r>
              <a:rPr lang="fr-FR" sz="1200" dirty="0" err="1">
                <a:ea typeface="+mn-lt"/>
                <a:cs typeface="+mn-lt"/>
              </a:rPr>
              <a:t>Decision</a:t>
            </a:r>
            <a:r>
              <a:rPr lang="fr-FR" sz="1200" dirty="0">
                <a:ea typeface="+mn-lt"/>
                <a:cs typeface="+mn-lt"/>
              </a:rPr>
              <a:t> pourrait être le suivant.</a:t>
            </a:r>
            <a:endParaRPr lang="fr-FR" dirty="0">
              <a:ea typeface="+mn-lt"/>
              <a:cs typeface="+mn-lt"/>
            </a:endParaRPr>
          </a:p>
          <a:p>
            <a:pPr marL="0" indent="0">
              <a:buNone/>
            </a:pPr>
            <a:r>
              <a:rPr lang="fr-FR" sz="1200" dirty="0">
                <a:ea typeface="+mn-lt"/>
                <a:cs typeface="+mn-lt"/>
              </a:rPr>
              <a:t>Pour déterminer les </a:t>
            </a:r>
            <a:r>
              <a:rPr lang="fr-FR" sz="1200" b="1" dirty="0">
                <a:ea typeface="+mn-lt"/>
                <a:cs typeface="+mn-lt"/>
              </a:rPr>
              <a:t>objectifs</a:t>
            </a:r>
            <a:r>
              <a:rPr lang="fr-FR" sz="1200" dirty="0">
                <a:ea typeface="+mn-lt"/>
                <a:cs typeface="+mn-lt"/>
              </a:rPr>
              <a:t> d’arrivée par sujet-clé, l'atelier CCC-Goals pourrait être le suivant.</a:t>
            </a:r>
            <a:endParaRPr lang="fr-FR" dirty="0"/>
          </a:p>
          <a:p>
            <a:pPr marL="0" indent="0">
              <a:buNone/>
            </a:pPr>
            <a:endParaRPr lang="fr-FR" sz="1200" dirty="0">
              <a:ea typeface="+mn-lt"/>
              <a:cs typeface="+mn-lt"/>
            </a:endParaRPr>
          </a:p>
          <a:p>
            <a:pPr marL="0" indent="0">
              <a:buNone/>
            </a:pPr>
            <a:endParaRPr lang="fr-FR" sz="1200" dirty="0">
              <a:cs typeface="Calibri"/>
            </a:endParaRPr>
          </a:p>
          <a:p>
            <a:pPr marL="0" indent="0">
              <a:buNone/>
            </a:pPr>
            <a:endParaRPr lang="fr-FR" sz="1200" dirty="0">
              <a:cs typeface="Calibri"/>
            </a:endParaRP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3836007"/>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415213"/>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cs typeface="Calibri"/>
              </a:rPr>
              <a:t>Les membres de la Communauté ont des niveaux de maturité différents selon chaque sujet. </a:t>
            </a:r>
          </a:p>
          <a:p>
            <a:pPr marL="0" indent="0">
              <a:buNone/>
            </a:pPr>
            <a:r>
              <a:rPr lang="fr-FR" sz="1200" dirty="0">
                <a:cs typeface="Calibri"/>
              </a:rPr>
              <a:t>Pour trouver ensemble des activités plus adaptées aux niveaux chacun, l’atelier CCC-Groups permet de faire le point sujet par sujet.</a:t>
            </a:r>
          </a:p>
        </p:txBody>
      </p:sp>
      <p:sp>
        <p:nvSpPr>
          <p:cNvPr id="39" name="ZoneTexte 38">
            <a:extLst>
              <a:ext uri="{FF2B5EF4-FFF2-40B4-BE49-F238E27FC236}">
                <a16:creationId xmlns:a16="http://schemas.microsoft.com/office/drawing/2014/main" id="{EA9CEF71-4F80-8D8B-8C7E-77B195056A45}"/>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a:t>Atelier CCC-Groups – </a:t>
            </a:r>
            <a:r>
              <a:rPr lang="fr-FR" sz="3200" b="1" i="1">
                <a:solidFill>
                  <a:srgbClr val="ED7D31"/>
                </a:solidFill>
              </a:rPr>
              <a:t>Organisation</a:t>
            </a:r>
            <a:endParaRPr lang="fr-FR" sz="3200"/>
          </a:p>
        </p:txBody>
      </p:sp>
      <p:sp>
        <p:nvSpPr>
          <p:cNvPr id="36" name="ZoneTexte 35">
            <a:extLst>
              <a:ext uri="{FF2B5EF4-FFF2-40B4-BE49-F238E27FC236}">
                <a16:creationId xmlns:a16="http://schemas.microsoft.com/office/drawing/2014/main" id="{8408FA09-DA7E-5B38-253C-43B2D2C7E530}"/>
              </a:ext>
            </a:extLst>
          </p:cNvPr>
          <p:cNvSpPr txBox="1"/>
          <p:nvPr/>
        </p:nvSpPr>
        <p:spPr>
          <a:xfrm>
            <a:off x="334775" y="6335957"/>
            <a:ext cx="11602365" cy="369332"/>
          </a:xfrm>
          <a:prstGeom prst="rect">
            <a:avLst/>
          </a:prstGeom>
          <a:noFill/>
        </p:spPr>
        <p:txBody>
          <a:bodyPr wrap="square">
            <a:spAutoFit/>
          </a:bodyPr>
          <a:lstStyle/>
          <a:p>
            <a:pPr algn="ctr"/>
            <a:r>
              <a:rPr lang="fr-FR" sz="1800" b="1" i="1">
                <a:ea typeface="+mn-lt"/>
                <a:cs typeface="+mn-lt"/>
              </a:rPr>
              <a:t>Pour vérifier que cela correspond bien à nos besoins et capacités, et pouvoir organiser facilement la session</a:t>
            </a:r>
            <a:endParaRPr lang="fr-FR" sz="1800">
              <a:ea typeface="Calibri"/>
              <a:cs typeface="Calibri"/>
            </a:endParaRPr>
          </a:p>
        </p:txBody>
      </p:sp>
    </p:spTree>
    <p:extLst>
      <p:ext uri="{BB962C8B-B14F-4D97-AF65-F5344CB8AC3E}">
        <p14:creationId xmlns:p14="http://schemas.microsoft.com/office/powerpoint/2010/main" val="39227178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1511742"/>
            <a:ext cx="2404138" cy="4516513"/>
          </a:xfrm>
        </p:spPr>
        <p:txBody>
          <a:bodyPr vert="horz" lIns="91440" tIns="45720" rIns="91440" bIns="45720" rtlCol="0" anchor="t">
            <a:noAutofit/>
          </a:bodyPr>
          <a:lstStyle/>
          <a:p>
            <a:r>
              <a:rPr lang="fr-FR" sz="1400">
                <a:cs typeface="Calibri"/>
              </a:rPr>
              <a:t>La posture du facilitateur par défaut est une posture basse, c’est-à-dire qu'il ne se place pas en formateur, il restitue au mieux les idées et les écrits des participants.</a:t>
            </a:r>
            <a:endParaRPr lang="fr-FR"/>
          </a:p>
          <a:p>
            <a:r>
              <a:rPr lang="fr-FR" sz="1400">
                <a:cs typeface="Calibri"/>
              </a:rPr>
              <a:t>Si le facilitateur est concerné, il peut alors jouer les 2 rôles.</a:t>
            </a:r>
            <a:endParaRPr lang="fr-F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999627"/>
            <a:ext cx="2412076" cy="503237"/>
          </a:xfrm>
        </p:spPr>
        <p:txBody>
          <a:bodyPr>
            <a:normAutofit/>
          </a:bodyPr>
          <a:lstStyle/>
          <a:p>
            <a:r>
              <a:rPr lang="fr-FR" sz="140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1511424"/>
            <a:ext cx="5247090" cy="4516513"/>
          </a:xfrm>
        </p:spPr>
        <p:txBody>
          <a:bodyPr vert="horz" lIns="91440" tIns="45720" rIns="91440" bIns="45720" rtlCol="0" anchor="t">
            <a:noAutofit/>
          </a:bodyPr>
          <a:lstStyle/>
          <a:p>
            <a:pPr marL="285750" indent="-285750">
              <a:buFont typeface="Arial" panose="020B0604020202020204" pitchFamily="34" charset="0"/>
              <a:buChar char="•"/>
            </a:pPr>
            <a:r>
              <a:rPr lang="fr-FR" sz="1400" dirty="0"/>
              <a:t>Le facilitateur met le CCC-Model à disposition des participants, il peut être imprimé et affiché, ou un peu plus écologique, projeté ou affiché sur un grand écran.</a:t>
            </a:r>
            <a:endParaRPr lang="fr-FR" sz="1400" dirty="0">
              <a:cs typeface="Calibri"/>
            </a:endParaRPr>
          </a:p>
          <a:p>
            <a:pPr marL="285750" indent="-285750">
              <a:buFont typeface="Arial" panose="020B0604020202020204" pitchFamily="34" charset="0"/>
              <a:buChar char="•"/>
            </a:pPr>
            <a:r>
              <a:rPr lang="fr-FR" sz="1400" dirty="0"/>
              <a:t>Lors de la phase où les participants listent les sujets à traiter, le facilitateur et les membres qui le souhaitent peuvent trier les post-it déposés pour y voir plus clair (retirer les doublons, regrouper par thème par exemple « orga », « animation »…)</a:t>
            </a:r>
          </a:p>
          <a:p>
            <a:pPr marL="285750" indent="-285750">
              <a:buFont typeface="Arial" panose="020B0604020202020204" pitchFamily="34" charset="0"/>
              <a:buChar char="•"/>
            </a:pPr>
            <a:r>
              <a:rPr lang="fr-FR" sz="1400" dirty="0"/>
              <a:t>Il est conseillé de s’entendre sur la phase de départ après chaque sujet (et non lister les sujets et ensuite délimiter leurs départs), car les discussions à leur propos seront plus fraîches.</a:t>
            </a:r>
          </a:p>
          <a:p>
            <a:pPr marL="285750" indent="-285750">
              <a:buFont typeface="Arial" panose="020B0604020202020204" pitchFamily="34" charset="0"/>
              <a:buChar char="•"/>
            </a:pPr>
            <a:r>
              <a:rPr lang="fr-FR" sz="1400" dirty="0">
                <a:cs typeface="Calibri"/>
              </a:rPr>
              <a:t>Une des grandes difficultés peut être de définir les sujets et leur granularité. Un sujet doit pouvoir être décliné sur plusieurs phases en plusieurs activités.</a:t>
            </a:r>
          </a:p>
          <a:p>
            <a:pPr marL="285750" indent="-285750">
              <a:buFont typeface="Arial" panose="020B0604020202020204" pitchFamily="34" charset="0"/>
              <a:buChar char="•"/>
            </a:pPr>
            <a:r>
              <a:rPr lang="fr-FR" sz="1400" dirty="0">
                <a:cs typeface="Calibri"/>
              </a:rPr>
              <a:t>A la place des sujets, il arrive souvent que les membres proposent des activités (ex: « Moi je propose qu’on fasse des meetups »). Recadrez la question autour du thème et du pourquoi plutôt que sur une forme</a:t>
            </a:r>
          </a:p>
          <a:p>
            <a:pPr marL="285750" indent="-285750">
              <a:buFont typeface="Arial" panose="020B0604020202020204" pitchFamily="34" charset="0"/>
              <a:buChar char="•"/>
            </a:pPr>
            <a:r>
              <a:rPr lang="fr-FR" sz="1400" dirty="0">
                <a:cs typeface="Calibri"/>
                <a:hlinkClick r:id="rId2"/>
              </a:rPr>
              <a:t>Pour ranger la liste de sujets en amont, vous pouvez faire un https://openseriousgames.org/osg-808-w2-topics-mapping/</a:t>
            </a:r>
            <a:endParaRPr lang="fr-FR" sz="1400" dirty="0">
              <a:cs typeface="Calibri"/>
            </a:endParaRPr>
          </a:p>
          <a:p>
            <a:pPr marL="285750" indent="-285750">
              <a:buFont typeface="Arial" panose="020B0604020202020204" pitchFamily="34" charset="0"/>
              <a:buChar char="•"/>
            </a:pPr>
            <a:endParaRPr lang="fr-FR" sz="1400" dirty="0">
              <a:cs typeface="Calibri"/>
            </a:endParaRP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999309"/>
            <a:ext cx="5255029" cy="503237"/>
          </a:xfrm>
        </p:spPr>
        <p:txBody>
          <a:bodyPr>
            <a:normAutofit/>
          </a:bodyPr>
          <a:lstStyle/>
          <a:p>
            <a:r>
              <a:rPr lang="fr-FR" sz="140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1511424"/>
            <a:ext cx="2404138" cy="4516513"/>
          </a:xfrm>
        </p:spPr>
        <p:txBody>
          <a:bodyPr/>
          <a:lstStyle/>
          <a:p>
            <a:r>
              <a:rPr lang="fr-FR" sz="1400"/>
              <a:t>Exemples de questions de Debriefing</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999309"/>
            <a:ext cx="2412076" cy="503237"/>
          </a:xfrm>
        </p:spPr>
        <p:txBody>
          <a:bodyPr>
            <a:normAutofit/>
          </a:bodyPr>
          <a:lstStyle/>
          <a:p>
            <a:r>
              <a:rPr lang="fr-FR" sz="1400"/>
              <a:t>🙋Debriefing</a:t>
            </a:r>
          </a:p>
        </p:txBody>
      </p:sp>
      <p:sp>
        <p:nvSpPr>
          <p:cNvPr id="10" name="ZoneTexte 9">
            <a:extLst>
              <a:ext uri="{FF2B5EF4-FFF2-40B4-BE49-F238E27FC236}">
                <a16:creationId xmlns:a16="http://schemas.microsoft.com/office/drawing/2014/main" id="{3A02B26F-36AA-FA5A-2C61-49B90AA09934}"/>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a:t>Atelier CCC-Groups – </a:t>
            </a:r>
            <a:r>
              <a:rPr lang="fr-FR" sz="3200" b="1" i="1">
                <a:solidFill>
                  <a:srgbClr val="ED7D31"/>
                </a:solidFill>
              </a:rPr>
              <a:t>Animation</a:t>
            </a:r>
            <a:endParaRPr lang="fr-FR" sz="3200"/>
          </a:p>
        </p:txBody>
      </p:sp>
    </p:spTree>
    <p:extLst>
      <p:ext uri="{BB962C8B-B14F-4D97-AF65-F5344CB8AC3E}">
        <p14:creationId xmlns:p14="http://schemas.microsoft.com/office/powerpoint/2010/main" val="36603063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566822D7-BE59-42A3-8647-937CD139D65E}"/>
              </a:ext>
            </a:extLst>
          </p:cNvPr>
          <p:cNvGrpSpPr/>
          <p:nvPr/>
        </p:nvGrpSpPr>
        <p:grpSpPr>
          <a:xfrm>
            <a:off x="160924" y="5542935"/>
            <a:ext cx="1203228" cy="1160644"/>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3211771498"/>
              </p:ext>
            </p:extLst>
          </p:nvPr>
        </p:nvGraphicFramePr>
        <p:xfrm>
          <a:off x="6986736" y="1555782"/>
          <a:ext cx="4740676" cy="429650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Idées de variantes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r>
                        <a:rPr lang="fr-FR" sz="1100" dirty="0">
                          <a:solidFill>
                            <a:srgbClr val="000000"/>
                          </a:solidFill>
                          <a:cs typeface="Calibri"/>
                        </a:rPr>
                        <a:t>Plusieurs CCC-Groups en même temps par sujet</a:t>
                      </a:r>
                      <a:endParaRPr lang="fr-FR" sz="1100" dirty="0"/>
                    </a:p>
                  </a:txBody>
                  <a:tcPr/>
                </a:tc>
                <a:tc>
                  <a:txBody>
                    <a:bodyPr/>
                    <a:lstStyle/>
                    <a:p>
                      <a:r>
                        <a:rPr lang="fr-FR" sz="1100" dirty="0"/>
                        <a:t>Voir slide suivante</a:t>
                      </a:r>
                    </a:p>
                  </a:txBody>
                  <a:tcPr/>
                </a:tc>
                <a:extLst>
                  <a:ext uri="{0D108BD9-81ED-4DB2-BD59-A6C34878D82A}">
                    <a16:rowId xmlns:a16="http://schemas.microsoft.com/office/drawing/2014/main" val="4249539521"/>
                  </a:ext>
                </a:extLst>
              </a:tr>
              <a:tr h="396301">
                <a:tc>
                  <a:txBody>
                    <a:bodyPr/>
                    <a:lstStyle/>
                    <a:p>
                      <a:endParaRPr lang="fr-FR" sz="1100"/>
                    </a:p>
                  </a:txBody>
                  <a:tcPr/>
                </a:tc>
                <a:tc>
                  <a:txBody>
                    <a:bodyPr/>
                    <a:lstStyle/>
                    <a:p>
                      <a:endParaRPr lang="fr-FR" sz="1100" dirty="0"/>
                    </a:p>
                  </a:txBody>
                  <a:tcPr/>
                </a:tc>
                <a:extLst>
                  <a:ext uri="{0D108BD9-81ED-4DB2-BD59-A6C34878D82A}">
                    <a16:rowId xmlns:a16="http://schemas.microsoft.com/office/drawing/2014/main" val="1824107877"/>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035027814"/>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a:p>
                  </a:txBody>
                  <a:tcPr/>
                </a:tc>
                <a:tc>
                  <a:txBody>
                    <a:bodyPr/>
                    <a:lstStyle/>
                    <a:p>
                      <a:endParaRPr lang="fr-FR" sz="1100" dirty="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nvGraphicFramePr>
        <p:xfrm>
          <a:off x="388475" y="1555782"/>
          <a:ext cx="6191648" cy="267716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Historique des versions</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a:solidFill>
                            <a:schemeClr val="lt1"/>
                          </a:solidFill>
                          <a:latin typeface="+mn-lt"/>
                          <a:ea typeface="+mn-ea"/>
                          <a:cs typeface="+mn-cs"/>
                        </a:rPr>
                        <a:t>Licence</a:t>
                      </a:r>
                    </a:p>
                  </a:txBody>
                  <a:tcPr>
                    <a:solidFill>
                      <a:srgbClr val="ED7D31"/>
                    </a:solidFill>
                  </a:tcPr>
                </a:tc>
                <a:tc>
                  <a:txBody>
                    <a:bodyPr/>
                    <a:lstStyle/>
                    <a:p>
                      <a:r>
                        <a:rPr lang="fr-FR" sz="1200" b="1" kern="120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a:t>1.0</a:t>
                      </a:r>
                    </a:p>
                  </a:txBody>
                  <a:tcPr/>
                </a:tc>
                <a:tc>
                  <a:txBody>
                    <a:bodyPr/>
                    <a:lstStyle/>
                    <a:p>
                      <a:r>
                        <a:rPr lang="fr-FR" sz="1200"/>
                        <a:t>Alexandre QUACH</a:t>
                      </a:r>
                    </a:p>
                    <a:p>
                      <a:r>
                        <a:rPr lang="fr-FR" sz="1200"/>
                        <a:t>Vanessa HELLEBUYCK</a:t>
                      </a:r>
                    </a:p>
                  </a:txBody>
                  <a:tcPr/>
                </a:tc>
                <a:tc>
                  <a:txBody>
                    <a:bodyPr/>
                    <a:lstStyle/>
                    <a:p>
                      <a:r>
                        <a:rPr lang="fr-FR" sz="1200"/>
                        <a:t>Licence d’usage (ex : CC-BY-3.0)</a:t>
                      </a:r>
                    </a:p>
                  </a:txBody>
                  <a:tcPr/>
                </a:tc>
                <a:tc>
                  <a:txBody>
                    <a:bodyPr/>
                    <a:lstStyle/>
                    <a:p>
                      <a:r>
                        <a:rPr lang="fr-FR" sz="1200"/>
                        <a:t>Descriptif rapide des ajouts de cette version</a:t>
                      </a:r>
                    </a:p>
                  </a:txBody>
                  <a:tcPr/>
                </a:tc>
                <a:extLst>
                  <a:ext uri="{0D108BD9-81ED-4DB2-BD59-A6C34878D82A}">
                    <a16:rowId xmlns:a16="http://schemas.microsoft.com/office/drawing/2014/main" val="233750057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56534786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26495474"/>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632454121"/>
                  </a:ext>
                </a:extLst>
              </a:tr>
            </a:tbl>
          </a:graphicData>
        </a:graphic>
      </p:graphicFrame>
      <p:sp>
        <p:nvSpPr>
          <p:cNvPr id="17" name="ZoneTexte 16">
            <a:extLst>
              <a:ext uri="{FF2B5EF4-FFF2-40B4-BE49-F238E27FC236}">
                <a16:creationId xmlns:a16="http://schemas.microsoft.com/office/drawing/2014/main" id="{E069AED5-1784-348D-6A9E-9D301F248D4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CCC-Groups – </a:t>
            </a:r>
            <a:r>
              <a:rPr lang="fr-FR" sz="3200" b="1" i="1">
                <a:solidFill>
                  <a:srgbClr val="ED7D31"/>
                </a:solidFill>
              </a:rPr>
              <a:t>Adaptation</a:t>
            </a:r>
            <a:endParaRPr lang="fr-FR" sz="3200"/>
          </a:p>
        </p:txBody>
      </p:sp>
      <p:sp>
        <p:nvSpPr>
          <p:cNvPr id="37" name="Espace réservé du texte 15">
            <a:extLst>
              <a:ext uri="{FF2B5EF4-FFF2-40B4-BE49-F238E27FC236}">
                <a16:creationId xmlns:a16="http://schemas.microsoft.com/office/drawing/2014/main" id="{329CFF52-673C-9F7B-6823-AEDE5A5493C9}"/>
              </a:ext>
            </a:extLst>
          </p:cNvPr>
          <p:cNvSpPr txBox="1">
            <a:spLocks/>
          </p:cNvSpPr>
          <p:nvPr/>
        </p:nvSpPr>
        <p:spPr>
          <a:xfrm>
            <a:off x="1292106" y="6326283"/>
            <a:ext cx="10645035" cy="3589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a:solidFill>
                  <a:schemeClr val="tx1"/>
                </a:solidFill>
              </a:rPr>
              <a:t>Pour adapter facilement l’atelier et créer des variantes</a:t>
            </a:r>
          </a:p>
        </p:txBody>
      </p:sp>
    </p:spTree>
    <p:extLst>
      <p:ext uri="{BB962C8B-B14F-4D97-AF65-F5344CB8AC3E}">
        <p14:creationId xmlns:p14="http://schemas.microsoft.com/office/powerpoint/2010/main" val="22172535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57D48B73-0933-E714-00A4-79DE9DA20FC5}"/>
              </a:ext>
            </a:extLst>
          </p:cNvPr>
          <p:cNvSpPr>
            <a:spLocks noGrp="1"/>
          </p:cNvSpPr>
          <p:nvPr>
            <p:ph type="title"/>
          </p:nvPr>
        </p:nvSpPr>
        <p:spPr/>
        <p:txBody>
          <a:bodyPr/>
          <a:lstStyle/>
          <a:p>
            <a:r>
              <a:rPr lang="fr-FR" dirty="0"/>
              <a:t>Variante CCC-groups : Plusieurs sujets à la fois</a:t>
            </a:r>
          </a:p>
        </p:txBody>
      </p:sp>
      <p:sp>
        <p:nvSpPr>
          <p:cNvPr id="10" name="Espace réservé du contenu 9">
            <a:extLst>
              <a:ext uri="{FF2B5EF4-FFF2-40B4-BE49-F238E27FC236}">
                <a16:creationId xmlns:a16="http://schemas.microsoft.com/office/drawing/2014/main" id="{43FD031E-7744-14BB-066D-0A42173D02C3}"/>
              </a:ext>
            </a:extLst>
          </p:cNvPr>
          <p:cNvSpPr>
            <a:spLocks noGrp="1"/>
          </p:cNvSpPr>
          <p:nvPr>
            <p:ph idx="1"/>
          </p:nvPr>
        </p:nvSpPr>
        <p:spPr>
          <a:xfrm>
            <a:off x="491971" y="1463401"/>
            <a:ext cx="10515600" cy="298739"/>
          </a:xfrm>
        </p:spPr>
        <p:txBody>
          <a:bodyPr>
            <a:normAutofit lnSpcReduction="10000"/>
          </a:bodyPr>
          <a:lstStyle/>
          <a:p>
            <a:r>
              <a:rPr lang="fr-FR" sz="1600" dirty="0"/>
              <a:t>Les participants sont invités à placer leurs portraits, sujet par sujet</a:t>
            </a:r>
          </a:p>
        </p:txBody>
      </p:sp>
      <p:graphicFrame>
        <p:nvGraphicFramePr>
          <p:cNvPr id="11" name="Tableau 5">
            <a:extLst>
              <a:ext uri="{FF2B5EF4-FFF2-40B4-BE49-F238E27FC236}">
                <a16:creationId xmlns:a16="http://schemas.microsoft.com/office/drawing/2014/main" id="{0F3E4B2A-92E7-B30A-CEA0-EFA476FD670B}"/>
              </a:ext>
            </a:extLst>
          </p:cNvPr>
          <p:cNvGraphicFramePr>
            <a:graphicFrameLocks noGrp="1"/>
          </p:cNvGraphicFramePr>
          <p:nvPr>
            <p:extLst>
              <p:ext uri="{D42A27DB-BD31-4B8C-83A1-F6EECF244321}">
                <p14:modId xmlns:p14="http://schemas.microsoft.com/office/powerpoint/2010/main" val="4030189589"/>
              </p:ext>
            </p:extLst>
          </p:nvPr>
        </p:nvGraphicFramePr>
        <p:xfrm>
          <a:off x="2637743" y="1941661"/>
          <a:ext cx="7730048" cy="1487339"/>
        </p:xfrm>
        <a:graphic>
          <a:graphicData uri="http://schemas.openxmlformats.org/drawingml/2006/table">
            <a:tbl>
              <a:tblPr firstRow="1" bandRow="1">
                <a:tableStyleId>{073A0DAA-6AF3-43AB-8588-CEC1D06C72B9}</a:tableStyleId>
              </a:tblPr>
              <a:tblGrid>
                <a:gridCol w="966256">
                  <a:extLst>
                    <a:ext uri="{9D8B030D-6E8A-4147-A177-3AD203B41FA5}">
                      <a16:colId xmlns:a16="http://schemas.microsoft.com/office/drawing/2014/main" val="1486018635"/>
                    </a:ext>
                  </a:extLst>
                </a:gridCol>
                <a:gridCol w="966256">
                  <a:extLst>
                    <a:ext uri="{9D8B030D-6E8A-4147-A177-3AD203B41FA5}">
                      <a16:colId xmlns:a16="http://schemas.microsoft.com/office/drawing/2014/main" val="761339006"/>
                    </a:ext>
                  </a:extLst>
                </a:gridCol>
                <a:gridCol w="966256">
                  <a:extLst>
                    <a:ext uri="{9D8B030D-6E8A-4147-A177-3AD203B41FA5}">
                      <a16:colId xmlns:a16="http://schemas.microsoft.com/office/drawing/2014/main" val="416087062"/>
                    </a:ext>
                  </a:extLst>
                </a:gridCol>
                <a:gridCol w="966256">
                  <a:extLst>
                    <a:ext uri="{9D8B030D-6E8A-4147-A177-3AD203B41FA5}">
                      <a16:colId xmlns:a16="http://schemas.microsoft.com/office/drawing/2014/main" val="2064857721"/>
                    </a:ext>
                  </a:extLst>
                </a:gridCol>
                <a:gridCol w="966256">
                  <a:extLst>
                    <a:ext uri="{9D8B030D-6E8A-4147-A177-3AD203B41FA5}">
                      <a16:colId xmlns:a16="http://schemas.microsoft.com/office/drawing/2014/main" val="183491405"/>
                    </a:ext>
                  </a:extLst>
                </a:gridCol>
                <a:gridCol w="966256">
                  <a:extLst>
                    <a:ext uri="{9D8B030D-6E8A-4147-A177-3AD203B41FA5}">
                      <a16:colId xmlns:a16="http://schemas.microsoft.com/office/drawing/2014/main" val="3364014230"/>
                    </a:ext>
                  </a:extLst>
                </a:gridCol>
                <a:gridCol w="966256">
                  <a:extLst>
                    <a:ext uri="{9D8B030D-6E8A-4147-A177-3AD203B41FA5}">
                      <a16:colId xmlns:a16="http://schemas.microsoft.com/office/drawing/2014/main" val="365145181"/>
                    </a:ext>
                  </a:extLst>
                </a:gridCol>
                <a:gridCol w="966256">
                  <a:extLst>
                    <a:ext uri="{9D8B030D-6E8A-4147-A177-3AD203B41FA5}">
                      <a16:colId xmlns:a16="http://schemas.microsoft.com/office/drawing/2014/main" val="1628287487"/>
                    </a:ext>
                  </a:extLst>
                </a:gridCol>
              </a:tblGrid>
              <a:tr h="440949">
                <a:tc>
                  <a:txBody>
                    <a:bodyPr/>
                    <a:lstStyle/>
                    <a:p>
                      <a:pPr algn="ctr"/>
                      <a:r>
                        <a:rPr lang="fr-FR" sz="900">
                          <a:solidFill>
                            <a:schemeClr val="bg1"/>
                          </a:solidFill>
                        </a:rPr>
                        <a:t>PAS ENCORE COMMENCÉ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INSPIRATION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COLLECTE</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INITIATION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CHOC DE LA RÉALITÉ</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CONFIRMATION DE RÉUSSITES</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EXPOSITION</a:t>
                      </a:r>
                    </a:p>
                    <a:p>
                      <a:pPr algn="ctr"/>
                      <a:endParaRPr lang="fr-FR" sz="900">
                        <a:solidFill>
                          <a:schemeClr val="bg1"/>
                        </a:solidFill>
                      </a:endParaRPr>
                    </a:p>
                  </a:txBody>
                  <a:tcPr/>
                </a:tc>
                <a:tc>
                  <a:txBody>
                    <a:bodyPr/>
                    <a:lstStyle/>
                    <a:p>
                      <a:pPr marL="0" indent="0" algn="ctr">
                        <a:buFont typeface="Arial" panose="020B0604020202020204" pitchFamily="34" charset="0"/>
                        <a:buNone/>
                      </a:pPr>
                      <a:r>
                        <a:rPr lang="fr-FR" sz="900" b="1" i="1">
                          <a:solidFill>
                            <a:schemeClr val="bg1"/>
                          </a:solidFill>
                        </a:rPr>
                        <a:t>FORTIFICATION</a:t>
                      </a:r>
                    </a:p>
                    <a:p>
                      <a:pPr marL="0" indent="0" algn="ctr">
                        <a:buFont typeface="Arial" panose="020B0604020202020204" pitchFamily="34" charset="0"/>
                        <a:buNone/>
                      </a:pPr>
                      <a:endParaRPr lang="fr-FR" sz="900" b="1" i="1">
                        <a:solidFill>
                          <a:schemeClr val="bg1"/>
                        </a:solidFill>
                      </a:endParaRPr>
                    </a:p>
                    <a:p>
                      <a:pPr algn="ctr"/>
                      <a:endParaRPr lang="fr-FR" sz="900">
                        <a:solidFill>
                          <a:schemeClr val="bg1"/>
                        </a:solidFill>
                      </a:endParaRPr>
                    </a:p>
                  </a:txBody>
                  <a:tcPr/>
                </a:tc>
                <a:extLst>
                  <a:ext uri="{0D108BD9-81ED-4DB2-BD59-A6C34878D82A}">
                    <a16:rowId xmlns:a16="http://schemas.microsoft.com/office/drawing/2014/main" val="3579208894"/>
                  </a:ext>
                </a:extLst>
              </a:tr>
              <a:tr h="984419">
                <a:tc>
                  <a:txBody>
                    <a:bodyPr/>
                    <a:lstStyle/>
                    <a:p>
                      <a:endParaRPr lang="fr-FR"/>
                    </a:p>
                  </a:txBody>
                  <a:tcPr/>
                </a:tc>
                <a:tc>
                  <a:txBody>
                    <a:bodyPr/>
                    <a:lstStyle/>
                    <a:p>
                      <a:endParaRPr lang="fr-FR" dirty="0"/>
                    </a:p>
                  </a:txBody>
                  <a:tcPr/>
                </a:tc>
                <a:tc>
                  <a:txBody>
                    <a:bodyPr/>
                    <a:lstStyle/>
                    <a:p>
                      <a:endParaRPr lang="fr-FR"/>
                    </a:p>
                  </a:txBody>
                  <a:tcPr/>
                </a:tc>
                <a:tc>
                  <a:txBody>
                    <a:bodyPr/>
                    <a:lstStyle/>
                    <a:p>
                      <a:endParaRPr lang="fr-FR" dirty="0"/>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1415023090"/>
                  </a:ext>
                </a:extLst>
              </a:tr>
            </a:tbl>
          </a:graphicData>
        </a:graphic>
      </p:graphicFrame>
      <p:pic>
        <p:nvPicPr>
          <p:cNvPr id="12" name="Graphique 11" descr="Garçon aux cheveux bouclés">
            <a:extLst>
              <a:ext uri="{FF2B5EF4-FFF2-40B4-BE49-F238E27FC236}">
                <a16:creationId xmlns:a16="http://schemas.microsoft.com/office/drawing/2014/main" id="{0879E5FB-6347-4812-DAFD-57438EAD45A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3760873" y="2489474"/>
            <a:ext cx="398467" cy="410478"/>
          </a:xfrm>
          <a:prstGeom prst="rect">
            <a:avLst/>
          </a:prstGeom>
        </p:spPr>
      </p:pic>
      <p:pic>
        <p:nvPicPr>
          <p:cNvPr id="13" name="Graphique 12" descr="Fille portant un sac à dos">
            <a:extLst>
              <a:ext uri="{FF2B5EF4-FFF2-40B4-BE49-F238E27FC236}">
                <a16:creationId xmlns:a16="http://schemas.microsoft.com/office/drawing/2014/main" id="{F6E21325-924B-936C-8359-AED5F379E08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4650162" y="2475505"/>
            <a:ext cx="398465" cy="402293"/>
          </a:xfrm>
          <a:prstGeom prst="rect">
            <a:avLst/>
          </a:prstGeom>
        </p:spPr>
      </p:pic>
      <p:pic>
        <p:nvPicPr>
          <p:cNvPr id="14" name="Graphique 13" descr="Homme avec barbe">
            <a:extLst>
              <a:ext uri="{FF2B5EF4-FFF2-40B4-BE49-F238E27FC236}">
                <a16:creationId xmlns:a16="http://schemas.microsoft.com/office/drawing/2014/main" id="{4DD7B8AA-1D42-AE59-B2A4-8E82C8585851}"/>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4650071" y="2933124"/>
            <a:ext cx="370183" cy="433905"/>
          </a:xfrm>
          <a:prstGeom prst="rect">
            <a:avLst/>
          </a:prstGeom>
        </p:spPr>
      </p:pic>
      <p:pic>
        <p:nvPicPr>
          <p:cNvPr id="15" name="Graphique 14" descr="Homme tenant une tasse">
            <a:extLst>
              <a:ext uri="{FF2B5EF4-FFF2-40B4-BE49-F238E27FC236}">
                <a16:creationId xmlns:a16="http://schemas.microsoft.com/office/drawing/2014/main" id="{D8801685-FDAF-B47F-9146-7A82D383D8FE}"/>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8615122" y="3017446"/>
            <a:ext cx="370183" cy="397133"/>
          </a:xfrm>
          <a:prstGeom prst="rect">
            <a:avLst/>
          </a:prstGeom>
        </p:spPr>
      </p:pic>
      <p:pic>
        <p:nvPicPr>
          <p:cNvPr id="16" name="Graphique 15" descr="Homme en smoking">
            <a:extLst>
              <a:ext uri="{FF2B5EF4-FFF2-40B4-BE49-F238E27FC236}">
                <a16:creationId xmlns:a16="http://schemas.microsoft.com/office/drawing/2014/main" id="{D1F90909-0E97-3CCC-4E64-225FF0DBB2EE}"/>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712705" y="2463386"/>
            <a:ext cx="351837" cy="462653"/>
          </a:xfrm>
          <a:prstGeom prst="rect">
            <a:avLst/>
          </a:prstGeom>
        </p:spPr>
      </p:pic>
      <p:pic>
        <p:nvPicPr>
          <p:cNvPr id="17" name="Graphique 16" descr="Homme avec bras prothétique">
            <a:extLst>
              <a:ext uri="{FF2B5EF4-FFF2-40B4-BE49-F238E27FC236}">
                <a16:creationId xmlns:a16="http://schemas.microsoft.com/office/drawing/2014/main" id="{21B98964-A3E3-43D9-CAA8-7A7F346D594A}"/>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3075448" y="2502890"/>
            <a:ext cx="521269" cy="381325"/>
          </a:xfrm>
          <a:prstGeom prst="rect">
            <a:avLst/>
          </a:prstGeom>
        </p:spPr>
      </p:pic>
      <p:pic>
        <p:nvPicPr>
          <p:cNvPr id="18" name="Graphique 17" descr="Homme portant une chemise avec motif">
            <a:extLst>
              <a:ext uri="{FF2B5EF4-FFF2-40B4-BE49-F238E27FC236}">
                <a16:creationId xmlns:a16="http://schemas.microsoft.com/office/drawing/2014/main" id="{D450C9EE-F2AE-51C9-BDF5-06EDF83576F4}"/>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8935403" y="2515094"/>
            <a:ext cx="352508" cy="440443"/>
          </a:xfrm>
          <a:prstGeom prst="rect">
            <a:avLst/>
          </a:prstGeom>
        </p:spPr>
      </p:pic>
      <p:pic>
        <p:nvPicPr>
          <p:cNvPr id="19" name="Graphique 18" descr="Homme âgé portant une veste">
            <a:extLst>
              <a:ext uri="{FF2B5EF4-FFF2-40B4-BE49-F238E27FC236}">
                <a16:creationId xmlns:a16="http://schemas.microsoft.com/office/drawing/2014/main" id="{42BD5952-C3B8-F083-89B4-EF6A6531738C}"/>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7554483" y="3008039"/>
            <a:ext cx="374626" cy="415948"/>
          </a:xfrm>
          <a:prstGeom prst="rect">
            <a:avLst/>
          </a:prstGeom>
        </p:spPr>
      </p:pic>
      <p:pic>
        <p:nvPicPr>
          <p:cNvPr id="20" name="Graphique 19" descr="Homme portant chapeau et costume">
            <a:extLst>
              <a:ext uri="{FF2B5EF4-FFF2-40B4-BE49-F238E27FC236}">
                <a16:creationId xmlns:a16="http://schemas.microsoft.com/office/drawing/2014/main" id="{4D885A42-C183-1192-8CD7-13A168480ADF}"/>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2711338" y="2919482"/>
            <a:ext cx="419339" cy="457716"/>
          </a:xfrm>
          <a:prstGeom prst="rect">
            <a:avLst/>
          </a:prstGeom>
        </p:spPr>
      </p:pic>
      <p:pic>
        <p:nvPicPr>
          <p:cNvPr id="21" name="Graphique 20" descr="Femme non-voyante utilisant un bâton">
            <a:extLst>
              <a:ext uri="{FF2B5EF4-FFF2-40B4-BE49-F238E27FC236}">
                <a16:creationId xmlns:a16="http://schemas.microsoft.com/office/drawing/2014/main" id="{853EA76A-674A-6B87-6CDB-D821226C6607}"/>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4013071" y="2979561"/>
            <a:ext cx="411427" cy="397134"/>
          </a:xfrm>
          <a:prstGeom prst="rect">
            <a:avLst/>
          </a:prstGeom>
        </p:spPr>
      </p:pic>
      <p:pic>
        <p:nvPicPr>
          <p:cNvPr id="22" name="Graphique 21" descr="Femme levant le doigt">
            <a:extLst>
              <a:ext uri="{FF2B5EF4-FFF2-40B4-BE49-F238E27FC236}">
                <a16:creationId xmlns:a16="http://schemas.microsoft.com/office/drawing/2014/main" id="{E65F1027-D895-2237-A8CB-60493515AABE}"/>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7513313" y="2475505"/>
            <a:ext cx="379003" cy="456211"/>
          </a:xfrm>
          <a:prstGeom prst="rect">
            <a:avLst/>
          </a:prstGeom>
        </p:spPr>
      </p:pic>
      <p:pic>
        <p:nvPicPr>
          <p:cNvPr id="23" name="Graphique 22" descr="Femme avec queue de cheval">
            <a:extLst>
              <a:ext uri="{FF2B5EF4-FFF2-40B4-BE49-F238E27FC236}">
                <a16:creationId xmlns:a16="http://schemas.microsoft.com/office/drawing/2014/main" id="{9453B47B-85FC-5428-329C-DE646F5802B2}"/>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3084602" y="2955537"/>
            <a:ext cx="481610" cy="422737"/>
          </a:xfrm>
          <a:prstGeom prst="rect">
            <a:avLst/>
          </a:prstGeom>
        </p:spPr>
      </p:pic>
      <p:pic>
        <p:nvPicPr>
          <p:cNvPr id="24" name="Graphique 23" descr="Femme utilisant une cane">
            <a:extLst>
              <a:ext uri="{FF2B5EF4-FFF2-40B4-BE49-F238E27FC236}">
                <a16:creationId xmlns:a16="http://schemas.microsoft.com/office/drawing/2014/main" id="{EF78B201-B650-5402-9109-AF1940F2B36F}"/>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8307815" y="2452114"/>
            <a:ext cx="706248" cy="518063"/>
          </a:xfrm>
          <a:prstGeom prst="rect">
            <a:avLst/>
          </a:prstGeom>
        </p:spPr>
      </p:pic>
      <p:pic>
        <p:nvPicPr>
          <p:cNvPr id="25" name="Graphique 24" descr="Femme aux cheveux afro">
            <a:extLst>
              <a:ext uri="{FF2B5EF4-FFF2-40B4-BE49-F238E27FC236}">
                <a16:creationId xmlns:a16="http://schemas.microsoft.com/office/drawing/2014/main" id="{BCBC70D2-13B4-3685-B6B2-B5A6033B2867}"/>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9475250" y="2475505"/>
            <a:ext cx="711292" cy="518063"/>
          </a:xfrm>
          <a:prstGeom prst="rect">
            <a:avLst/>
          </a:prstGeom>
        </p:spPr>
      </p:pic>
      <p:sp>
        <p:nvSpPr>
          <p:cNvPr id="26" name="Rectangle 25">
            <a:extLst>
              <a:ext uri="{FF2B5EF4-FFF2-40B4-BE49-F238E27FC236}">
                <a16:creationId xmlns:a16="http://schemas.microsoft.com/office/drawing/2014/main" id="{17765D5D-3DF8-F056-F1ED-7D9665EBD98E}"/>
              </a:ext>
            </a:extLst>
          </p:cNvPr>
          <p:cNvSpPr/>
          <p:nvPr/>
        </p:nvSpPr>
        <p:spPr>
          <a:xfrm>
            <a:off x="1565902" y="2487559"/>
            <a:ext cx="841243" cy="83251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Sujet 1</a:t>
            </a:r>
          </a:p>
        </p:txBody>
      </p:sp>
      <p:sp>
        <p:nvSpPr>
          <p:cNvPr id="27" name="Rectangle 26">
            <a:extLst>
              <a:ext uri="{FF2B5EF4-FFF2-40B4-BE49-F238E27FC236}">
                <a16:creationId xmlns:a16="http://schemas.microsoft.com/office/drawing/2014/main" id="{71494F74-E3DB-B88E-2F82-9AC33E7179D2}"/>
              </a:ext>
            </a:extLst>
          </p:cNvPr>
          <p:cNvSpPr/>
          <p:nvPr/>
        </p:nvSpPr>
        <p:spPr>
          <a:xfrm>
            <a:off x="1565902" y="3978688"/>
            <a:ext cx="841243" cy="83251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Sujet 2</a:t>
            </a:r>
          </a:p>
        </p:txBody>
      </p:sp>
      <p:sp>
        <p:nvSpPr>
          <p:cNvPr id="28" name="Rectangle 27">
            <a:extLst>
              <a:ext uri="{FF2B5EF4-FFF2-40B4-BE49-F238E27FC236}">
                <a16:creationId xmlns:a16="http://schemas.microsoft.com/office/drawing/2014/main" id="{659D2B68-6887-3E4E-8709-C6F09C13E89D}"/>
              </a:ext>
            </a:extLst>
          </p:cNvPr>
          <p:cNvSpPr/>
          <p:nvPr/>
        </p:nvSpPr>
        <p:spPr>
          <a:xfrm>
            <a:off x="1565902" y="5469817"/>
            <a:ext cx="841243" cy="83251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Sujet 3</a:t>
            </a:r>
          </a:p>
        </p:txBody>
      </p:sp>
      <p:graphicFrame>
        <p:nvGraphicFramePr>
          <p:cNvPr id="29" name="Tableau 5">
            <a:extLst>
              <a:ext uri="{FF2B5EF4-FFF2-40B4-BE49-F238E27FC236}">
                <a16:creationId xmlns:a16="http://schemas.microsoft.com/office/drawing/2014/main" id="{F3CCAA7B-8469-A0DA-8413-D675BAAB8EE0}"/>
              </a:ext>
            </a:extLst>
          </p:cNvPr>
          <p:cNvGraphicFramePr>
            <a:graphicFrameLocks noGrp="1"/>
          </p:cNvGraphicFramePr>
          <p:nvPr>
            <p:extLst>
              <p:ext uri="{D42A27DB-BD31-4B8C-83A1-F6EECF244321}">
                <p14:modId xmlns:p14="http://schemas.microsoft.com/office/powerpoint/2010/main" val="3995795809"/>
              </p:ext>
            </p:extLst>
          </p:nvPr>
        </p:nvGraphicFramePr>
        <p:xfrm>
          <a:off x="2637743" y="3580845"/>
          <a:ext cx="7730048" cy="1451495"/>
        </p:xfrm>
        <a:graphic>
          <a:graphicData uri="http://schemas.openxmlformats.org/drawingml/2006/table">
            <a:tbl>
              <a:tblPr firstRow="1" bandRow="1">
                <a:tableStyleId>{073A0DAA-6AF3-43AB-8588-CEC1D06C72B9}</a:tableStyleId>
              </a:tblPr>
              <a:tblGrid>
                <a:gridCol w="966256">
                  <a:extLst>
                    <a:ext uri="{9D8B030D-6E8A-4147-A177-3AD203B41FA5}">
                      <a16:colId xmlns:a16="http://schemas.microsoft.com/office/drawing/2014/main" val="1486018635"/>
                    </a:ext>
                  </a:extLst>
                </a:gridCol>
                <a:gridCol w="966256">
                  <a:extLst>
                    <a:ext uri="{9D8B030D-6E8A-4147-A177-3AD203B41FA5}">
                      <a16:colId xmlns:a16="http://schemas.microsoft.com/office/drawing/2014/main" val="761339006"/>
                    </a:ext>
                  </a:extLst>
                </a:gridCol>
                <a:gridCol w="966256">
                  <a:extLst>
                    <a:ext uri="{9D8B030D-6E8A-4147-A177-3AD203B41FA5}">
                      <a16:colId xmlns:a16="http://schemas.microsoft.com/office/drawing/2014/main" val="416087062"/>
                    </a:ext>
                  </a:extLst>
                </a:gridCol>
                <a:gridCol w="966256">
                  <a:extLst>
                    <a:ext uri="{9D8B030D-6E8A-4147-A177-3AD203B41FA5}">
                      <a16:colId xmlns:a16="http://schemas.microsoft.com/office/drawing/2014/main" val="2064857721"/>
                    </a:ext>
                  </a:extLst>
                </a:gridCol>
                <a:gridCol w="966256">
                  <a:extLst>
                    <a:ext uri="{9D8B030D-6E8A-4147-A177-3AD203B41FA5}">
                      <a16:colId xmlns:a16="http://schemas.microsoft.com/office/drawing/2014/main" val="183491405"/>
                    </a:ext>
                  </a:extLst>
                </a:gridCol>
                <a:gridCol w="966256">
                  <a:extLst>
                    <a:ext uri="{9D8B030D-6E8A-4147-A177-3AD203B41FA5}">
                      <a16:colId xmlns:a16="http://schemas.microsoft.com/office/drawing/2014/main" val="3364014230"/>
                    </a:ext>
                  </a:extLst>
                </a:gridCol>
                <a:gridCol w="966256">
                  <a:extLst>
                    <a:ext uri="{9D8B030D-6E8A-4147-A177-3AD203B41FA5}">
                      <a16:colId xmlns:a16="http://schemas.microsoft.com/office/drawing/2014/main" val="365145181"/>
                    </a:ext>
                  </a:extLst>
                </a:gridCol>
                <a:gridCol w="966256">
                  <a:extLst>
                    <a:ext uri="{9D8B030D-6E8A-4147-A177-3AD203B41FA5}">
                      <a16:colId xmlns:a16="http://schemas.microsoft.com/office/drawing/2014/main" val="1628287487"/>
                    </a:ext>
                  </a:extLst>
                </a:gridCol>
              </a:tblGrid>
              <a:tr h="424894">
                <a:tc>
                  <a:txBody>
                    <a:bodyPr/>
                    <a:lstStyle/>
                    <a:p>
                      <a:pPr algn="ctr"/>
                      <a:r>
                        <a:rPr lang="fr-FR" sz="900">
                          <a:solidFill>
                            <a:schemeClr val="bg1"/>
                          </a:solidFill>
                        </a:rPr>
                        <a:t>PAS ENCORE COMMENCÉ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INSPIRATION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COLLECTE</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INITIATION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CHOC DE LA RÉALITÉ</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CONFIRMATION DE RÉUSSITES</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EXPOSITION</a:t>
                      </a:r>
                    </a:p>
                    <a:p>
                      <a:pPr algn="ctr"/>
                      <a:endParaRPr lang="fr-FR" sz="900">
                        <a:solidFill>
                          <a:schemeClr val="bg1"/>
                        </a:solidFill>
                      </a:endParaRPr>
                    </a:p>
                  </a:txBody>
                  <a:tcPr/>
                </a:tc>
                <a:tc>
                  <a:txBody>
                    <a:bodyPr/>
                    <a:lstStyle/>
                    <a:p>
                      <a:pPr marL="0" indent="0" algn="ctr">
                        <a:buFont typeface="Arial" panose="020B0604020202020204" pitchFamily="34" charset="0"/>
                        <a:buNone/>
                      </a:pPr>
                      <a:r>
                        <a:rPr lang="fr-FR" sz="900" b="1" i="1">
                          <a:solidFill>
                            <a:schemeClr val="bg1"/>
                          </a:solidFill>
                        </a:rPr>
                        <a:t>FORTIFICATION</a:t>
                      </a:r>
                    </a:p>
                    <a:p>
                      <a:pPr marL="0" indent="0" algn="ctr">
                        <a:buFont typeface="Arial" panose="020B0604020202020204" pitchFamily="34" charset="0"/>
                        <a:buNone/>
                      </a:pPr>
                      <a:endParaRPr lang="fr-FR" sz="900" b="1" i="1">
                        <a:solidFill>
                          <a:schemeClr val="bg1"/>
                        </a:solidFill>
                      </a:endParaRPr>
                    </a:p>
                    <a:p>
                      <a:pPr algn="ctr"/>
                      <a:endParaRPr lang="fr-FR" sz="900">
                        <a:solidFill>
                          <a:schemeClr val="bg1"/>
                        </a:solidFill>
                      </a:endParaRPr>
                    </a:p>
                  </a:txBody>
                  <a:tcPr/>
                </a:tc>
                <a:extLst>
                  <a:ext uri="{0D108BD9-81ED-4DB2-BD59-A6C34878D82A}">
                    <a16:rowId xmlns:a16="http://schemas.microsoft.com/office/drawing/2014/main" val="3579208894"/>
                  </a:ext>
                </a:extLst>
              </a:tr>
              <a:tr h="948575">
                <a:tc>
                  <a:txBody>
                    <a:bodyPr/>
                    <a:lstStyle/>
                    <a:p>
                      <a:endParaRPr lang="fr-FR"/>
                    </a:p>
                  </a:txBody>
                  <a:tcPr/>
                </a:tc>
                <a:tc>
                  <a:txBody>
                    <a:bodyPr/>
                    <a:lstStyle/>
                    <a:p>
                      <a:endParaRPr lang="fr-FR" dirty="0"/>
                    </a:p>
                  </a:txBody>
                  <a:tcPr/>
                </a:tc>
                <a:tc>
                  <a:txBody>
                    <a:bodyPr/>
                    <a:lstStyle/>
                    <a:p>
                      <a:endParaRPr lang="fr-FR"/>
                    </a:p>
                  </a:txBody>
                  <a:tcPr/>
                </a:tc>
                <a:tc>
                  <a:txBody>
                    <a:bodyPr/>
                    <a:lstStyle/>
                    <a:p>
                      <a:endParaRPr lang="fr-FR" dirty="0"/>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1415023090"/>
                  </a:ext>
                </a:extLst>
              </a:tr>
            </a:tbl>
          </a:graphicData>
        </a:graphic>
      </p:graphicFrame>
      <p:pic>
        <p:nvPicPr>
          <p:cNvPr id="30" name="Graphique 29" descr="Garçon aux cheveux bouclés">
            <a:extLst>
              <a:ext uri="{FF2B5EF4-FFF2-40B4-BE49-F238E27FC236}">
                <a16:creationId xmlns:a16="http://schemas.microsoft.com/office/drawing/2014/main" id="{65BB8445-2421-FAA1-9D63-E4A410F86E5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3760873" y="4128658"/>
            <a:ext cx="398467" cy="410478"/>
          </a:xfrm>
          <a:prstGeom prst="rect">
            <a:avLst/>
          </a:prstGeom>
        </p:spPr>
      </p:pic>
      <p:pic>
        <p:nvPicPr>
          <p:cNvPr id="31" name="Graphique 30" descr="Fille portant un sac à dos">
            <a:extLst>
              <a:ext uri="{FF2B5EF4-FFF2-40B4-BE49-F238E27FC236}">
                <a16:creationId xmlns:a16="http://schemas.microsoft.com/office/drawing/2014/main" id="{804D284A-0019-D2A0-9C53-415F1C319E2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7926396" y="4105445"/>
            <a:ext cx="398465" cy="402293"/>
          </a:xfrm>
          <a:prstGeom prst="rect">
            <a:avLst/>
          </a:prstGeom>
        </p:spPr>
      </p:pic>
      <p:pic>
        <p:nvPicPr>
          <p:cNvPr id="32" name="Graphique 31" descr="Homme avec barbe">
            <a:extLst>
              <a:ext uri="{FF2B5EF4-FFF2-40B4-BE49-F238E27FC236}">
                <a16:creationId xmlns:a16="http://schemas.microsoft.com/office/drawing/2014/main" id="{F73DF82A-8041-A553-5492-F90E4C15165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7508897" y="4101545"/>
            <a:ext cx="370183" cy="433905"/>
          </a:xfrm>
          <a:prstGeom prst="rect">
            <a:avLst/>
          </a:prstGeom>
        </p:spPr>
      </p:pic>
      <p:pic>
        <p:nvPicPr>
          <p:cNvPr id="33" name="Graphique 32" descr="Homme tenant une tasse">
            <a:extLst>
              <a:ext uri="{FF2B5EF4-FFF2-40B4-BE49-F238E27FC236}">
                <a16:creationId xmlns:a16="http://schemas.microsoft.com/office/drawing/2014/main" id="{F9DBCD90-EA64-8A3D-269E-ED708383D39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569639" y="4557181"/>
            <a:ext cx="370183" cy="397133"/>
          </a:xfrm>
          <a:prstGeom prst="rect">
            <a:avLst/>
          </a:prstGeom>
        </p:spPr>
      </p:pic>
      <p:pic>
        <p:nvPicPr>
          <p:cNvPr id="34" name="Graphique 33" descr="Homme en smoking">
            <a:extLst>
              <a:ext uri="{FF2B5EF4-FFF2-40B4-BE49-F238E27FC236}">
                <a16:creationId xmlns:a16="http://schemas.microsoft.com/office/drawing/2014/main" id="{77BC050C-C7B1-286D-E51F-E0D47CD8DEFE}"/>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712705" y="4102570"/>
            <a:ext cx="351837" cy="462653"/>
          </a:xfrm>
          <a:prstGeom prst="rect">
            <a:avLst/>
          </a:prstGeom>
        </p:spPr>
      </p:pic>
      <p:pic>
        <p:nvPicPr>
          <p:cNvPr id="35" name="Graphique 34" descr="Homme avec bras prothétique">
            <a:extLst>
              <a:ext uri="{FF2B5EF4-FFF2-40B4-BE49-F238E27FC236}">
                <a16:creationId xmlns:a16="http://schemas.microsoft.com/office/drawing/2014/main" id="{8E0DED59-49CA-963F-6853-7D4DFF0362E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7906359" y="4594721"/>
            <a:ext cx="521269" cy="381325"/>
          </a:xfrm>
          <a:prstGeom prst="rect">
            <a:avLst/>
          </a:prstGeom>
        </p:spPr>
      </p:pic>
      <p:pic>
        <p:nvPicPr>
          <p:cNvPr id="36" name="Graphique 35" descr="Homme portant une chemise avec motif">
            <a:extLst>
              <a:ext uri="{FF2B5EF4-FFF2-40B4-BE49-F238E27FC236}">
                <a16:creationId xmlns:a16="http://schemas.microsoft.com/office/drawing/2014/main" id="{FBC55CCA-308F-7764-57F2-BF83FC0D62FD}"/>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6539869" y="4122883"/>
            <a:ext cx="352508" cy="440443"/>
          </a:xfrm>
          <a:prstGeom prst="rect">
            <a:avLst/>
          </a:prstGeom>
        </p:spPr>
      </p:pic>
      <p:pic>
        <p:nvPicPr>
          <p:cNvPr id="37" name="Graphique 36" descr="Homme âgé portant une veste">
            <a:extLst>
              <a:ext uri="{FF2B5EF4-FFF2-40B4-BE49-F238E27FC236}">
                <a16:creationId xmlns:a16="http://schemas.microsoft.com/office/drawing/2014/main" id="{B5B4FA51-7746-74D0-76F0-DBF1004897AA}"/>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4642520" y="4098617"/>
            <a:ext cx="374626" cy="415948"/>
          </a:xfrm>
          <a:prstGeom prst="rect">
            <a:avLst/>
          </a:prstGeom>
        </p:spPr>
      </p:pic>
      <p:pic>
        <p:nvPicPr>
          <p:cNvPr id="38" name="Graphique 37" descr="Homme portant chapeau et costume">
            <a:extLst>
              <a:ext uri="{FF2B5EF4-FFF2-40B4-BE49-F238E27FC236}">
                <a16:creationId xmlns:a16="http://schemas.microsoft.com/office/drawing/2014/main" id="{B8331F09-3B35-2C86-51A2-735C9C99C663}"/>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5600393" y="4077734"/>
            <a:ext cx="419339" cy="457716"/>
          </a:xfrm>
          <a:prstGeom prst="rect">
            <a:avLst/>
          </a:prstGeom>
        </p:spPr>
      </p:pic>
      <p:pic>
        <p:nvPicPr>
          <p:cNvPr id="39" name="Graphique 38" descr="Femme non-voyante utilisant un bâton">
            <a:extLst>
              <a:ext uri="{FF2B5EF4-FFF2-40B4-BE49-F238E27FC236}">
                <a16:creationId xmlns:a16="http://schemas.microsoft.com/office/drawing/2014/main" id="{696C7D9F-E369-DA48-92F8-905740AC9C80}"/>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9436030" y="4577227"/>
            <a:ext cx="411427" cy="397134"/>
          </a:xfrm>
          <a:prstGeom prst="rect">
            <a:avLst/>
          </a:prstGeom>
        </p:spPr>
      </p:pic>
      <p:pic>
        <p:nvPicPr>
          <p:cNvPr id="40" name="Graphique 39" descr="Femme levant le doigt">
            <a:extLst>
              <a:ext uri="{FF2B5EF4-FFF2-40B4-BE49-F238E27FC236}">
                <a16:creationId xmlns:a16="http://schemas.microsoft.com/office/drawing/2014/main" id="{96EF2BF3-7AA9-59E9-E573-B7F12C013F3E}"/>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9498049" y="4058354"/>
            <a:ext cx="379003" cy="456211"/>
          </a:xfrm>
          <a:prstGeom prst="rect">
            <a:avLst/>
          </a:prstGeom>
        </p:spPr>
      </p:pic>
      <p:pic>
        <p:nvPicPr>
          <p:cNvPr id="41" name="Graphique 40" descr="Femme avec queue de cheval">
            <a:extLst>
              <a:ext uri="{FF2B5EF4-FFF2-40B4-BE49-F238E27FC236}">
                <a16:creationId xmlns:a16="http://schemas.microsoft.com/office/drawing/2014/main" id="{A1571978-FAEF-AE06-62D2-7D6225B69982}"/>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3084602" y="4594721"/>
            <a:ext cx="481610" cy="422737"/>
          </a:xfrm>
          <a:prstGeom prst="rect">
            <a:avLst/>
          </a:prstGeom>
        </p:spPr>
      </p:pic>
      <p:pic>
        <p:nvPicPr>
          <p:cNvPr id="42" name="Graphique 41" descr="Femme utilisant une cane">
            <a:extLst>
              <a:ext uri="{FF2B5EF4-FFF2-40B4-BE49-F238E27FC236}">
                <a16:creationId xmlns:a16="http://schemas.microsoft.com/office/drawing/2014/main" id="{55E7EFAD-985C-74AD-0079-70A82E7DA866}"/>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4419629" y="4456298"/>
            <a:ext cx="706248" cy="518063"/>
          </a:xfrm>
          <a:prstGeom prst="rect">
            <a:avLst/>
          </a:prstGeom>
        </p:spPr>
      </p:pic>
      <p:pic>
        <p:nvPicPr>
          <p:cNvPr id="43" name="Graphique 42" descr="Femme aux cheveux afro">
            <a:extLst>
              <a:ext uri="{FF2B5EF4-FFF2-40B4-BE49-F238E27FC236}">
                <a16:creationId xmlns:a16="http://schemas.microsoft.com/office/drawing/2014/main" id="{095AC254-225E-56BA-1AD8-0CEE84A906EA}"/>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8444568" y="4059465"/>
            <a:ext cx="711292" cy="518063"/>
          </a:xfrm>
          <a:prstGeom prst="rect">
            <a:avLst/>
          </a:prstGeom>
        </p:spPr>
      </p:pic>
      <p:graphicFrame>
        <p:nvGraphicFramePr>
          <p:cNvPr id="59" name="Tableau 5">
            <a:extLst>
              <a:ext uri="{FF2B5EF4-FFF2-40B4-BE49-F238E27FC236}">
                <a16:creationId xmlns:a16="http://schemas.microsoft.com/office/drawing/2014/main" id="{0D4DA4A2-E12F-7D8C-F7C5-5492462E17D5}"/>
              </a:ext>
            </a:extLst>
          </p:cNvPr>
          <p:cNvGraphicFramePr>
            <a:graphicFrameLocks noGrp="1"/>
          </p:cNvGraphicFramePr>
          <p:nvPr>
            <p:extLst>
              <p:ext uri="{D42A27DB-BD31-4B8C-83A1-F6EECF244321}">
                <p14:modId xmlns:p14="http://schemas.microsoft.com/office/powerpoint/2010/main" val="4108419140"/>
              </p:ext>
            </p:extLst>
          </p:nvPr>
        </p:nvGraphicFramePr>
        <p:xfrm>
          <a:off x="2637743" y="5124066"/>
          <a:ext cx="7730048" cy="1451495"/>
        </p:xfrm>
        <a:graphic>
          <a:graphicData uri="http://schemas.openxmlformats.org/drawingml/2006/table">
            <a:tbl>
              <a:tblPr firstRow="1" bandRow="1">
                <a:tableStyleId>{073A0DAA-6AF3-43AB-8588-CEC1D06C72B9}</a:tableStyleId>
              </a:tblPr>
              <a:tblGrid>
                <a:gridCol w="966256">
                  <a:extLst>
                    <a:ext uri="{9D8B030D-6E8A-4147-A177-3AD203B41FA5}">
                      <a16:colId xmlns:a16="http://schemas.microsoft.com/office/drawing/2014/main" val="1486018635"/>
                    </a:ext>
                  </a:extLst>
                </a:gridCol>
                <a:gridCol w="966256">
                  <a:extLst>
                    <a:ext uri="{9D8B030D-6E8A-4147-A177-3AD203B41FA5}">
                      <a16:colId xmlns:a16="http://schemas.microsoft.com/office/drawing/2014/main" val="761339006"/>
                    </a:ext>
                  </a:extLst>
                </a:gridCol>
                <a:gridCol w="966256">
                  <a:extLst>
                    <a:ext uri="{9D8B030D-6E8A-4147-A177-3AD203B41FA5}">
                      <a16:colId xmlns:a16="http://schemas.microsoft.com/office/drawing/2014/main" val="416087062"/>
                    </a:ext>
                  </a:extLst>
                </a:gridCol>
                <a:gridCol w="966256">
                  <a:extLst>
                    <a:ext uri="{9D8B030D-6E8A-4147-A177-3AD203B41FA5}">
                      <a16:colId xmlns:a16="http://schemas.microsoft.com/office/drawing/2014/main" val="2064857721"/>
                    </a:ext>
                  </a:extLst>
                </a:gridCol>
                <a:gridCol w="966256">
                  <a:extLst>
                    <a:ext uri="{9D8B030D-6E8A-4147-A177-3AD203B41FA5}">
                      <a16:colId xmlns:a16="http://schemas.microsoft.com/office/drawing/2014/main" val="183491405"/>
                    </a:ext>
                  </a:extLst>
                </a:gridCol>
                <a:gridCol w="966256">
                  <a:extLst>
                    <a:ext uri="{9D8B030D-6E8A-4147-A177-3AD203B41FA5}">
                      <a16:colId xmlns:a16="http://schemas.microsoft.com/office/drawing/2014/main" val="3364014230"/>
                    </a:ext>
                  </a:extLst>
                </a:gridCol>
                <a:gridCol w="966256">
                  <a:extLst>
                    <a:ext uri="{9D8B030D-6E8A-4147-A177-3AD203B41FA5}">
                      <a16:colId xmlns:a16="http://schemas.microsoft.com/office/drawing/2014/main" val="365145181"/>
                    </a:ext>
                  </a:extLst>
                </a:gridCol>
                <a:gridCol w="966256">
                  <a:extLst>
                    <a:ext uri="{9D8B030D-6E8A-4147-A177-3AD203B41FA5}">
                      <a16:colId xmlns:a16="http://schemas.microsoft.com/office/drawing/2014/main" val="1628287487"/>
                    </a:ext>
                  </a:extLst>
                </a:gridCol>
              </a:tblGrid>
              <a:tr h="424894">
                <a:tc>
                  <a:txBody>
                    <a:bodyPr/>
                    <a:lstStyle/>
                    <a:p>
                      <a:pPr algn="ctr"/>
                      <a:r>
                        <a:rPr lang="fr-FR" sz="900">
                          <a:solidFill>
                            <a:schemeClr val="bg1"/>
                          </a:solidFill>
                        </a:rPr>
                        <a:t>PAS ENCORE COMMENCÉ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INSPIRATION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COLLECTE</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INITIATION</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CHOC DE LA RÉALITÉ</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CONFIRMATION DE RÉUSSITES</a:t>
                      </a:r>
                    </a:p>
                    <a:p>
                      <a:pPr algn="ctr"/>
                      <a:endParaRPr lang="fr-FR" sz="90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i="1">
                          <a:solidFill>
                            <a:schemeClr val="bg1"/>
                          </a:solidFill>
                        </a:rPr>
                        <a:t>EXPOSITION</a:t>
                      </a:r>
                    </a:p>
                    <a:p>
                      <a:pPr algn="ctr"/>
                      <a:endParaRPr lang="fr-FR" sz="900">
                        <a:solidFill>
                          <a:schemeClr val="bg1"/>
                        </a:solidFill>
                      </a:endParaRPr>
                    </a:p>
                  </a:txBody>
                  <a:tcPr/>
                </a:tc>
                <a:tc>
                  <a:txBody>
                    <a:bodyPr/>
                    <a:lstStyle/>
                    <a:p>
                      <a:pPr marL="0" indent="0" algn="ctr">
                        <a:buFont typeface="Arial" panose="020B0604020202020204" pitchFamily="34" charset="0"/>
                        <a:buNone/>
                      </a:pPr>
                      <a:r>
                        <a:rPr lang="fr-FR" sz="900" b="1" i="1">
                          <a:solidFill>
                            <a:schemeClr val="bg1"/>
                          </a:solidFill>
                        </a:rPr>
                        <a:t>FORTIFICATION</a:t>
                      </a:r>
                    </a:p>
                    <a:p>
                      <a:pPr marL="0" indent="0" algn="ctr">
                        <a:buFont typeface="Arial" panose="020B0604020202020204" pitchFamily="34" charset="0"/>
                        <a:buNone/>
                      </a:pPr>
                      <a:endParaRPr lang="fr-FR" sz="900" b="1" i="1">
                        <a:solidFill>
                          <a:schemeClr val="bg1"/>
                        </a:solidFill>
                      </a:endParaRPr>
                    </a:p>
                    <a:p>
                      <a:pPr algn="ctr"/>
                      <a:endParaRPr lang="fr-FR" sz="900">
                        <a:solidFill>
                          <a:schemeClr val="bg1"/>
                        </a:solidFill>
                      </a:endParaRPr>
                    </a:p>
                  </a:txBody>
                  <a:tcPr/>
                </a:tc>
                <a:extLst>
                  <a:ext uri="{0D108BD9-81ED-4DB2-BD59-A6C34878D82A}">
                    <a16:rowId xmlns:a16="http://schemas.microsoft.com/office/drawing/2014/main" val="3579208894"/>
                  </a:ext>
                </a:extLst>
              </a:tr>
              <a:tr h="948575">
                <a:tc>
                  <a:txBody>
                    <a:bodyPr/>
                    <a:lstStyle/>
                    <a:p>
                      <a:endParaRPr lang="fr-FR"/>
                    </a:p>
                  </a:txBody>
                  <a:tcPr/>
                </a:tc>
                <a:tc>
                  <a:txBody>
                    <a:bodyPr/>
                    <a:lstStyle/>
                    <a:p>
                      <a:endParaRPr lang="fr-FR" dirty="0"/>
                    </a:p>
                  </a:txBody>
                  <a:tcPr/>
                </a:tc>
                <a:tc>
                  <a:txBody>
                    <a:bodyPr/>
                    <a:lstStyle/>
                    <a:p>
                      <a:endParaRPr lang="fr-FR"/>
                    </a:p>
                  </a:txBody>
                  <a:tcPr/>
                </a:tc>
                <a:tc>
                  <a:txBody>
                    <a:bodyPr/>
                    <a:lstStyle/>
                    <a:p>
                      <a:endParaRPr lang="fr-FR" dirty="0"/>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1415023090"/>
                  </a:ext>
                </a:extLst>
              </a:tr>
            </a:tbl>
          </a:graphicData>
        </a:graphic>
      </p:graphicFrame>
      <p:pic>
        <p:nvPicPr>
          <p:cNvPr id="60" name="Graphique 59" descr="Garçon aux cheveux bouclés">
            <a:extLst>
              <a:ext uri="{FF2B5EF4-FFF2-40B4-BE49-F238E27FC236}">
                <a16:creationId xmlns:a16="http://schemas.microsoft.com/office/drawing/2014/main" id="{B9F00B26-124F-BFA2-6185-108652D0D6F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2983599" y="5625290"/>
            <a:ext cx="398467" cy="410478"/>
          </a:xfrm>
          <a:prstGeom prst="rect">
            <a:avLst/>
          </a:prstGeom>
        </p:spPr>
      </p:pic>
      <p:pic>
        <p:nvPicPr>
          <p:cNvPr id="61" name="Graphique 60" descr="Fille portant un sac à dos">
            <a:extLst>
              <a:ext uri="{FF2B5EF4-FFF2-40B4-BE49-F238E27FC236}">
                <a16:creationId xmlns:a16="http://schemas.microsoft.com/office/drawing/2014/main" id="{AA857D13-7795-D5F4-759C-F903E2A279D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5048627" y="5757246"/>
            <a:ext cx="398465" cy="402293"/>
          </a:xfrm>
          <a:prstGeom prst="rect">
            <a:avLst/>
          </a:prstGeom>
        </p:spPr>
      </p:pic>
      <p:pic>
        <p:nvPicPr>
          <p:cNvPr id="62" name="Graphique 61" descr="Homme avec barbe">
            <a:extLst>
              <a:ext uri="{FF2B5EF4-FFF2-40B4-BE49-F238E27FC236}">
                <a16:creationId xmlns:a16="http://schemas.microsoft.com/office/drawing/2014/main" id="{B9B6E6AC-12B6-3296-63A1-8ED783004945}"/>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4794648" y="5704037"/>
            <a:ext cx="370183" cy="433905"/>
          </a:xfrm>
          <a:prstGeom prst="rect">
            <a:avLst/>
          </a:prstGeom>
        </p:spPr>
      </p:pic>
      <p:pic>
        <p:nvPicPr>
          <p:cNvPr id="63" name="Graphique 62" descr="Homme tenant une tasse">
            <a:extLst>
              <a:ext uri="{FF2B5EF4-FFF2-40B4-BE49-F238E27FC236}">
                <a16:creationId xmlns:a16="http://schemas.microsoft.com/office/drawing/2014/main" id="{8572522C-116A-0DF5-2CB6-716682031CCA}"/>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3699822" y="6204964"/>
            <a:ext cx="370183" cy="397133"/>
          </a:xfrm>
          <a:prstGeom prst="rect">
            <a:avLst/>
          </a:prstGeom>
        </p:spPr>
      </p:pic>
      <p:pic>
        <p:nvPicPr>
          <p:cNvPr id="64" name="Graphique 63" descr="Homme en smoking">
            <a:extLst>
              <a:ext uri="{FF2B5EF4-FFF2-40B4-BE49-F238E27FC236}">
                <a16:creationId xmlns:a16="http://schemas.microsoft.com/office/drawing/2014/main" id="{A4DE16BA-1DAB-C276-2FCB-467FA9095286}"/>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631762" y="5646629"/>
            <a:ext cx="351837" cy="462653"/>
          </a:xfrm>
          <a:prstGeom prst="rect">
            <a:avLst/>
          </a:prstGeom>
        </p:spPr>
      </p:pic>
      <p:pic>
        <p:nvPicPr>
          <p:cNvPr id="65" name="Graphique 64" descr="Homme avec bras prothétique">
            <a:extLst>
              <a:ext uri="{FF2B5EF4-FFF2-40B4-BE49-F238E27FC236}">
                <a16:creationId xmlns:a16="http://schemas.microsoft.com/office/drawing/2014/main" id="{6A27BC5B-1E79-642F-C1E4-33D26B1B5728}"/>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4068256" y="6143697"/>
            <a:ext cx="521269" cy="381325"/>
          </a:xfrm>
          <a:prstGeom prst="rect">
            <a:avLst/>
          </a:prstGeom>
        </p:spPr>
      </p:pic>
      <p:pic>
        <p:nvPicPr>
          <p:cNvPr id="66" name="Graphique 65" descr="Homme portant une chemise avec motif">
            <a:extLst>
              <a:ext uri="{FF2B5EF4-FFF2-40B4-BE49-F238E27FC236}">
                <a16:creationId xmlns:a16="http://schemas.microsoft.com/office/drawing/2014/main" id="{1AECB171-5EDE-EFB6-368E-C0F852822835}"/>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3976383" y="5684912"/>
            <a:ext cx="352508" cy="440443"/>
          </a:xfrm>
          <a:prstGeom prst="rect">
            <a:avLst/>
          </a:prstGeom>
        </p:spPr>
      </p:pic>
      <p:pic>
        <p:nvPicPr>
          <p:cNvPr id="67" name="Graphique 66" descr="Homme âgé portant une veste">
            <a:extLst>
              <a:ext uri="{FF2B5EF4-FFF2-40B4-BE49-F238E27FC236}">
                <a16:creationId xmlns:a16="http://schemas.microsoft.com/office/drawing/2014/main" id="{82F0CEE8-312D-B62A-467A-3FF766A50751}"/>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3337295" y="5615386"/>
            <a:ext cx="374626" cy="415948"/>
          </a:xfrm>
          <a:prstGeom prst="rect">
            <a:avLst/>
          </a:prstGeom>
        </p:spPr>
      </p:pic>
      <p:pic>
        <p:nvPicPr>
          <p:cNvPr id="68" name="Graphique 67" descr="Homme portant chapeau et costume">
            <a:extLst>
              <a:ext uri="{FF2B5EF4-FFF2-40B4-BE49-F238E27FC236}">
                <a16:creationId xmlns:a16="http://schemas.microsoft.com/office/drawing/2014/main" id="{F504E2CC-B0F0-3129-01B2-FD6377974F6E}"/>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3255949" y="6047817"/>
            <a:ext cx="419339" cy="457716"/>
          </a:xfrm>
          <a:prstGeom prst="rect">
            <a:avLst/>
          </a:prstGeom>
        </p:spPr>
      </p:pic>
      <p:pic>
        <p:nvPicPr>
          <p:cNvPr id="69" name="Graphique 68" descr="Femme non-voyante utilisant un bâton">
            <a:extLst>
              <a:ext uri="{FF2B5EF4-FFF2-40B4-BE49-F238E27FC236}">
                <a16:creationId xmlns:a16="http://schemas.microsoft.com/office/drawing/2014/main" id="{71AA140B-6B5B-6A3D-9E42-05412410FDBD}"/>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4572221" y="6137942"/>
            <a:ext cx="411427" cy="397134"/>
          </a:xfrm>
          <a:prstGeom prst="rect">
            <a:avLst/>
          </a:prstGeom>
        </p:spPr>
      </p:pic>
      <p:pic>
        <p:nvPicPr>
          <p:cNvPr id="70" name="Graphique 69" descr="Femme levant le doigt">
            <a:extLst>
              <a:ext uri="{FF2B5EF4-FFF2-40B4-BE49-F238E27FC236}">
                <a16:creationId xmlns:a16="http://schemas.microsoft.com/office/drawing/2014/main" id="{A951CA5B-0C31-AE6A-8825-104CD1965334}"/>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9498049" y="5601575"/>
            <a:ext cx="379003" cy="456211"/>
          </a:xfrm>
          <a:prstGeom prst="rect">
            <a:avLst/>
          </a:prstGeom>
        </p:spPr>
      </p:pic>
      <p:pic>
        <p:nvPicPr>
          <p:cNvPr id="71" name="Graphique 70" descr="Femme avec queue de cheval">
            <a:extLst>
              <a:ext uri="{FF2B5EF4-FFF2-40B4-BE49-F238E27FC236}">
                <a16:creationId xmlns:a16="http://schemas.microsoft.com/office/drawing/2014/main" id="{F60EBCDB-722D-40C7-0379-3ABA62FE9305}"/>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2547778" y="6120448"/>
            <a:ext cx="481610" cy="422737"/>
          </a:xfrm>
          <a:prstGeom prst="rect">
            <a:avLst/>
          </a:prstGeom>
        </p:spPr>
      </p:pic>
      <p:pic>
        <p:nvPicPr>
          <p:cNvPr id="72" name="Graphique 71" descr="Femme utilisant une cane">
            <a:extLst>
              <a:ext uri="{FF2B5EF4-FFF2-40B4-BE49-F238E27FC236}">
                <a16:creationId xmlns:a16="http://schemas.microsoft.com/office/drawing/2014/main" id="{CA2CFE7E-8A80-86E8-2C8F-97235990534C}"/>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2704647" y="5999519"/>
            <a:ext cx="706248" cy="518063"/>
          </a:xfrm>
          <a:prstGeom prst="rect">
            <a:avLst/>
          </a:prstGeom>
        </p:spPr>
      </p:pic>
      <p:pic>
        <p:nvPicPr>
          <p:cNvPr id="73" name="Graphique 72" descr="Femme aux cheveux afro">
            <a:extLst>
              <a:ext uri="{FF2B5EF4-FFF2-40B4-BE49-F238E27FC236}">
                <a16:creationId xmlns:a16="http://schemas.microsoft.com/office/drawing/2014/main" id="{7B51DA49-79B4-1620-7AFD-586167AE6DB5}"/>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4894379" y="6071233"/>
            <a:ext cx="711292" cy="518063"/>
          </a:xfrm>
          <a:prstGeom prst="rect">
            <a:avLst/>
          </a:prstGeom>
        </p:spPr>
      </p:pic>
    </p:spTree>
    <p:extLst>
      <p:ext uri="{BB962C8B-B14F-4D97-AF65-F5344CB8AC3E}">
        <p14:creationId xmlns:p14="http://schemas.microsoft.com/office/powerpoint/2010/main" val="623664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337A549B-FB0E-4097-A123-DE5231C2FAB3}"/>
              </a:ext>
            </a:extLst>
          </p:cNvPr>
          <p:cNvSpPr txBox="1">
            <a:spLocks/>
          </p:cNvSpPr>
          <p:nvPr/>
        </p:nvSpPr>
        <p:spPr>
          <a:xfrm>
            <a:off x="0" y="877836"/>
            <a:ext cx="12192000" cy="15611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0" b="1" i="1"/>
              <a:t>Atelier CCC-</a:t>
            </a:r>
            <a:r>
              <a:rPr lang="fr-FR" sz="6000" b="1" i="1" err="1"/>
              <a:t>Decision</a:t>
            </a:r>
            <a:r>
              <a:rPr lang="fr-FR" sz="6000" b="1" i="1"/>
              <a:t> </a:t>
            </a:r>
          </a:p>
          <a:p>
            <a:pPr marL="0" indent="0" algn="ctr">
              <a:buFont typeface="Arial" panose="020B0604020202020204" pitchFamily="34" charset="0"/>
              <a:buNone/>
            </a:pPr>
            <a:r>
              <a:rPr lang="fr-FR" b="1" i="1">
                <a:solidFill>
                  <a:srgbClr val="0683AA"/>
                </a:solidFill>
              </a:rPr>
              <a:t>Décision</a:t>
            </a:r>
            <a:r>
              <a:rPr lang="fr-FR" b="1" i="1"/>
              <a:t> de </a:t>
            </a:r>
            <a:r>
              <a:rPr lang="fr-FR" b="1" i="1">
                <a:solidFill>
                  <a:srgbClr val="ED7D31"/>
                </a:solidFill>
              </a:rPr>
              <a:t>feuille de route et d’activités </a:t>
            </a:r>
            <a:r>
              <a:rPr lang="fr-FR" b="1" i="1"/>
              <a:t>de communauté</a:t>
            </a:r>
            <a:endParaRPr lang="fr-FR" b="1" i="1">
              <a:solidFill>
                <a:srgbClr val="0683AA"/>
              </a:solidFill>
            </a:endParaRPr>
          </a:p>
        </p:txBody>
      </p:sp>
      <p:grpSp>
        <p:nvGrpSpPr>
          <p:cNvPr id="2" name="Groupe 1">
            <a:extLst>
              <a:ext uri="{FF2B5EF4-FFF2-40B4-BE49-F238E27FC236}">
                <a16:creationId xmlns:a16="http://schemas.microsoft.com/office/drawing/2014/main" id="{F1858701-0BB0-C657-7449-017834BDC81E}"/>
              </a:ext>
            </a:extLst>
          </p:cNvPr>
          <p:cNvGrpSpPr/>
          <p:nvPr/>
        </p:nvGrpSpPr>
        <p:grpSpPr>
          <a:xfrm>
            <a:off x="4128486" y="2741150"/>
            <a:ext cx="3698197" cy="4117299"/>
            <a:chOff x="4128486" y="2379688"/>
            <a:chExt cx="3698197" cy="4117299"/>
          </a:xfrm>
        </p:grpSpPr>
        <p:pic>
          <p:nvPicPr>
            <p:cNvPr id="8" name="Graphique 7" descr="Homme tenant un panneau">
              <a:extLst>
                <a:ext uri="{FF2B5EF4-FFF2-40B4-BE49-F238E27FC236}">
                  <a16:creationId xmlns:a16="http://schemas.microsoft.com/office/drawing/2014/main" id="{D243A25C-5A0A-4F67-BC20-FCD71E7C4AF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9" name="Espace réservé du texte 15">
              <a:extLst>
                <a:ext uri="{FF2B5EF4-FFF2-40B4-BE49-F238E27FC236}">
                  <a16:creationId xmlns:a16="http://schemas.microsoft.com/office/drawing/2014/main" id="{72684439-8F46-4BB9-AF9C-82D301DB2013}"/>
                </a:ext>
              </a:extLst>
            </p:cNvPr>
            <p:cNvSpPr txBox="1">
              <a:spLocks/>
            </p:cNvSpPr>
            <p:nvPr/>
          </p:nvSpPr>
          <p:spPr>
            <a:xfrm>
              <a:off x="4472402" y="4484981"/>
              <a:ext cx="3061317" cy="175455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COMMENT CHOISIR NOS PROCHAINES </a:t>
              </a:r>
              <a:r>
                <a:rPr lang="fr-FR" sz="3200" b="1" i="1" dirty="0">
                  <a:solidFill>
                    <a:srgbClr val="ED7D31"/>
                  </a:solidFill>
                </a:rPr>
                <a:t>ACTIVITÉS</a:t>
              </a:r>
              <a:r>
                <a:rPr lang="fr-FR" sz="3200" b="1" i="1" dirty="0"/>
                <a:t> ?</a:t>
              </a:r>
              <a:endParaRPr lang="fr-FR" sz="3200" b="1" i="1" dirty="0">
                <a:solidFill>
                  <a:srgbClr val="0683AA"/>
                </a:solidFill>
              </a:endParaRPr>
            </a:p>
          </p:txBody>
        </p:sp>
      </p:grpSp>
    </p:spTree>
    <p:extLst>
      <p:ext uri="{BB962C8B-B14F-4D97-AF65-F5344CB8AC3E}">
        <p14:creationId xmlns:p14="http://schemas.microsoft.com/office/powerpoint/2010/main" val="4460781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Image 58">
            <a:extLst>
              <a:ext uri="{FF2B5EF4-FFF2-40B4-BE49-F238E27FC236}">
                <a16:creationId xmlns:a16="http://schemas.microsoft.com/office/drawing/2014/main" id="{64C7FF30-CAC7-CC31-C7F3-3F996BF1C917}"/>
              </a:ext>
            </a:extLst>
          </p:cNvPr>
          <p:cNvPicPr>
            <a:picLocks noChangeAspect="1"/>
          </p:cNvPicPr>
          <p:nvPr/>
        </p:nvPicPr>
        <p:blipFill rotWithShape="1">
          <a:blip r:embed="rId2"/>
          <a:srcRect l="63495" t="27645" r="4692" b="32711"/>
          <a:stretch/>
        </p:blipFill>
        <p:spPr>
          <a:xfrm>
            <a:off x="2110390" y="2517202"/>
            <a:ext cx="7738376" cy="3036163"/>
          </a:xfrm>
          <a:prstGeom prst="rect">
            <a:avLst/>
          </a:prstGeom>
        </p:spPr>
      </p:pic>
      <p:sp>
        <p:nvSpPr>
          <p:cNvPr id="10" name="ZoneTexte 9">
            <a:extLst>
              <a:ext uri="{FF2B5EF4-FFF2-40B4-BE49-F238E27FC236}">
                <a16:creationId xmlns:a16="http://schemas.microsoft.com/office/drawing/2014/main" id="{E147F6FE-9498-8E29-CF36-EEAD0E33A645}"/>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Pourquoi ?</a:t>
            </a:r>
            <a:endParaRPr lang="fr-FR" sz="3200"/>
          </a:p>
        </p:txBody>
      </p:sp>
      <p:sp>
        <p:nvSpPr>
          <p:cNvPr id="7" name="Bulle narrative : ronde 6">
            <a:extLst>
              <a:ext uri="{FF2B5EF4-FFF2-40B4-BE49-F238E27FC236}">
                <a16:creationId xmlns:a16="http://schemas.microsoft.com/office/drawing/2014/main" id="{B6BB61A2-BD2B-ADBB-9CE7-0A1705F77C75}"/>
              </a:ext>
            </a:extLst>
          </p:cNvPr>
          <p:cNvSpPr/>
          <p:nvPr/>
        </p:nvSpPr>
        <p:spPr>
          <a:xfrm>
            <a:off x="410910" y="1029808"/>
            <a:ext cx="4267622" cy="1766657"/>
          </a:xfrm>
          <a:prstGeom prst="wedgeEllipseCallout">
            <a:avLst>
              <a:gd name="adj1" fmla="val -17245"/>
              <a:gd name="adj2" fmla="val 73770"/>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rPr>
              <a:t>TOUT LE MONDE A PLEIN D’</a:t>
            </a:r>
            <a:r>
              <a:rPr lang="fr-FR" sz="1400" b="1" dirty="0">
                <a:solidFill>
                  <a:srgbClr val="0683AA"/>
                </a:solidFill>
              </a:rPr>
              <a:t>IDÉES</a:t>
            </a:r>
            <a:r>
              <a:rPr lang="fr-FR" sz="1400" b="1" dirty="0">
                <a:solidFill>
                  <a:schemeClr val="tx1"/>
                </a:solidFill>
              </a:rPr>
              <a:t> MAIS NOUS NE SAVONS PAS PAR OU COMMENCER. NOUS NE SOMMES PAS SURS NON PLUS QU’ELLES SOIENT OPTIMALES PAR RAPPORT A NOTRE CONTEXTE ACTUEL.</a:t>
            </a:r>
          </a:p>
        </p:txBody>
      </p:sp>
      <p:sp>
        <p:nvSpPr>
          <p:cNvPr id="8" name="Bulle narrative : ronde 7">
            <a:extLst>
              <a:ext uri="{FF2B5EF4-FFF2-40B4-BE49-F238E27FC236}">
                <a16:creationId xmlns:a16="http://schemas.microsoft.com/office/drawing/2014/main" id="{8D432B07-7E75-E7CC-F5AB-EB68A7E21CCC}"/>
              </a:ext>
            </a:extLst>
          </p:cNvPr>
          <p:cNvSpPr/>
          <p:nvPr/>
        </p:nvSpPr>
        <p:spPr>
          <a:xfrm>
            <a:off x="7981025" y="763480"/>
            <a:ext cx="4110361" cy="2202605"/>
          </a:xfrm>
          <a:prstGeom prst="wedgeEllipseCallout">
            <a:avLst>
              <a:gd name="adj1" fmla="val 12745"/>
              <a:gd name="adj2" fmla="val 6981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ea typeface="+mn-lt"/>
                <a:cs typeface="+mn-lt"/>
              </a:rPr>
              <a:t>UNE COMMUNAUTE DE CHANGEMENT, DE PRATIQUE OU D’APPRENTISSAGE PEUT AVOIR UN TRES </a:t>
            </a:r>
            <a:r>
              <a:rPr lang="fr-FR" sz="1400" b="1">
                <a:solidFill>
                  <a:srgbClr val="ED7D31"/>
                </a:solidFill>
                <a:ea typeface="+mn-lt"/>
                <a:cs typeface="+mn-lt"/>
              </a:rPr>
              <a:t>GRAND POTENTIEL D’IMPACT</a:t>
            </a:r>
            <a:r>
              <a:rPr lang="fr-FR" sz="1400" b="1">
                <a:solidFill>
                  <a:schemeClr val="tx1"/>
                </a:solidFill>
                <a:ea typeface="+mn-lt"/>
                <a:cs typeface="+mn-lt"/>
              </a:rPr>
              <a:t>, SI LE PEU DE TEMPS TOTAL PENDANT LEQUEL LES MEMBRES SE RETROUVENT EST BIEN UTILIS</a:t>
            </a:r>
            <a:r>
              <a:rPr lang="fr-FR" sz="1400" b="1">
                <a:solidFill>
                  <a:schemeClr val="tx1"/>
                </a:solidFill>
              </a:rPr>
              <a:t>É..</a:t>
            </a:r>
            <a:r>
              <a:rPr lang="fr-FR" sz="1400" b="1">
                <a:solidFill>
                  <a:schemeClr val="tx1"/>
                </a:solidFill>
                <a:ea typeface="+mn-lt"/>
                <a:cs typeface="+mn-lt"/>
              </a:rPr>
              <a:t>.</a:t>
            </a:r>
            <a:endParaRPr lang="fr-FR" sz="1400">
              <a:solidFill>
                <a:schemeClr val="tx1"/>
              </a:solidFill>
              <a:ea typeface="+mn-lt"/>
              <a:cs typeface="+mn-lt"/>
            </a:endParaRPr>
          </a:p>
        </p:txBody>
      </p:sp>
      <p:pic>
        <p:nvPicPr>
          <p:cNvPr id="11" name="Graphique 3" descr="Femme portant un tailleur">
            <a:extLst>
              <a:ext uri="{FF2B5EF4-FFF2-40B4-BE49-F238E27FC236}">
                <a16:creationId xmlns:a16="http://schemas.microsoft.com/office/drawing/2014/main" id="{83E641E6-E900-DD79-87FD-8D78EC9091A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4705" y="2570861"/>
            <a:ext cx="2493401" cy="5197431"/>
          </a:xfrm>
          <a:prstGeom prst="rect">
            <a:avLst/>
          </a:prstGeom>
        </p:spPr>
      </p:pic>
      <p:pic>
        <p:nvPicPr>
          <p:cNvPr id="2" name="Graphique 1" descr="Homme en polo">
            <a:extLst>
              <a:ext uri="{FF2B5EF4-FFF2-40B4-BE49-F238E27FC236}">
                <a16:creationId xmlns:a16="http://schemas.microsoft.com/office/drawing/2014/main" id="{CD0DAD29-85DA-DFF3-D1F8-66DC72D61B81}"/>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b="41673"/>
          <a:stretch/>
        </p:blipFill>
        <p:spPr>
          <a:xfrm flipH="1">
            <a:off x="10120229" y="3292483"/>
            <a:ext cx="1983482" cy="3565517"/>
          </a:xfrm>
          <a:prstGeom prst="rect">
            <a:avLst/>
          </a:prstGeom>
        </p:spPr>
      </p:pic>
    </p:spTree>
    <p:extLst>
      <p:ext uri="{BB962C8B-B14F-4D97-AF65-F5344CB8AC3E}">
        <p14:creationId xmlns:p14="http://schemas.microsoft.com/office/powerpoint/2010/main" val="22503927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Espace réservé pour une image  29" descr="Homme en polo">
            <a:extLst>
              <a:ext uri="{FF2B5EF4-FFF2-40B4-BE49-F238E27FC236}">
                <a16:creationId xmlns:a16="http://schemas.microsoft.com/office/drawing/2014/main" id="{3B9737E8-C025-44FD-AD07-08AA283060A8}"/>
              </a:ext>
            </a:extLst>
          </p:cNvPr>
          <p:cNvPicPr>
            <a:picLocks noGrp="1" noChangeAspect="1"/>
          </p:cNvPicPr>
          <p:nvPr>
            <p:ph type="pic" sz="quarter" idx="15"/>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68548"/>
          <a:stretch/>
        </p:blipFill>
        <p:spPr>
          <a:xfrm flipH="1">
            <a:off x="6612207" y="3756207"/>
            <a:ext cx="840420" cy="814093"/>
          </a:xfrm>
        </p:spPr>
      </p:pic>
      <p:sp>
        <p:nvSpPr>
          <p:cNvPr id="8" name="Espace réservé du texte 7">
            <a:extLst>
              <a:ext uri="{FF2B5EF4-FFF2-40B4-BE49-F238E27FC236}">
                <a16:creationId xmlns:a16="http://schemas.microsoft.com/office/drawing/2014/main" id="{D270EF62-074B-43A4-8317-656159F178E6}"/>
              </a:ext>
            </a:extLst>
          </p:cNvPr>
          <p:cNvSpPr>
            <a:spLocks noGrp="1"/>
          </p:cNvSpPr>
          <p:nvPr>
            <p:ph type="body" sz="quarter" idx="16"/>
          </p:nvPr>
        </p:nvSpPr>
        <p:spPr>
          <a:xfrm>
            <a:off x="757438" y="4532612"/>
            <a:ext cx="3402012" cy="1031874"/>
          </a:xfrm>
        </p:spPr>
        <p:txBody>
          <a:bodyPr/>
          <a:lstStyle/>
          <a:p>
            <a:r>
              <a:rPr lang="fr-FR" sz="1600"/>
              <a:t>1) Sélectionner </a:t>
            </a:r>
            <a:r>
              <a:rPr lang="fr-FR" sz="1600" b="1">
                <a:solidFill>
                  <a:srgbClr val="ED7D31"/>
                </a:solidFill>
              </a:rPr>
              <a:t>UN</a:t>
            </a:r>
            <a:r>
              <a:rPr lang="fr-FR" sz="1600"/>
              <a:t> sujet sur lequel on </a:t>
            </a:r>
            <a:r>
              <a:rPr lang="fr-FR" sz="1600" b="1">
                <a:solidFill>
                  <a:srgbClr val="0683AA"/>
                </a:solidFill>
              </a:rPr>
              <a:t>souhaite avancer</a:t>
            </a:r>
            <a:r>
              <a:rPr lang="fr-FR" sz="1600"/>
              <a:t> dans la communauté. Ce sujet doit pouvoir faire l’objet d’apprentissage.</a:t>
            </a:r>
          </a:p>
        </p:txBody>
      </p:sp>
      <p:sp>
        <p:nvSpPr>
          <p:cNvPr id="9" name="Espace réservé du texte 8">
            <a:extLst>
              <a:ext uri="{FF2B5EF4-FFF2-40B4-BE49-F238E27FC236}">
                <a16:creationId xmlns:a16="http://schemas.microsoft.com/office/drawing/2014/main" id="{B6C811D4-1FC7-4FB1-BD1A-89D1B362D69E}"/>
              </a:ext>
            </a:extLst>
          </p:cNvPr>
          <p:cNvSpPr>
            <a:spLocks noGrp="1"/>
          </p:cNvSpPr>
          <p:nvPr>
            <p:ph type="body" sz="quarter" idx="17"/>
          </p:nvPr>
        </p:nvSpPr>
        <p:spPr>
          <a:xfrm>
            <a:off x="4404128" y="4550477"/>
            <a:ext cx="3216396" cy="895105"/>
          </a:xfrm>
        </p:spPr>
        <p:txBody>
          <a:bodyPr vert="horz" lIns="91440" tIns="45720" rIns="91440" bIns="45720" rtlCol="0" anchor="t">
            <a:noAutofit/>
          </a:bodyPr>
          <a:lstStyle/>
          <a:p>
            <a:r>
              <a:rPr lang="fr-FR"/>
              <a:t>2) </a:t>
            </a:r>
            <a:r>
              <a:rPr lang="fr-FR" sz="1600"/>
              <a:t>Prendre le tableau des 7 phases pour </a:t>
            </a:r>
            <a:r>
              <a:rPr lang="fr-FR" sz="1600" b="1">
                <a:solidFill>
                  <a:srgbClr val="ED7D31"/>
                </a:solidFill>
              </a:rPr>
              <a:t>identifier la phase </a:t>
            </a:r>
            <a:r>
              <a:rPr lang="fr-FR" sz="1600"/>
              <a:t>dans laquelle</a:t>
            </a:r>
            <a:r>
              <a:rPr lang="fr-FR"/>
              <a:t> le sujet choisi se trouve</a:t>
            </a:r>
            <a:r>
              <a:rPr lang="fr-FR" sz="1600"/>
              <a:t>.</a:t>
            </a:r>
            <a:r>
              <a:rPr lang="fr-FR"/>
              <a:t> </a:t>
            </a:r>
            <a:endParaRPr lang="fr-FR" sz="1600"/>
          </a:p>
        </p:txBody>
      </p:sp>
      <p:sp>
        <p:nvSpPr>
          <p:cNvPr id="10" name="Espace réservé du texte 9">
            <a:extLst>
              <a:ext uri="{FF2B5EF4-FFF2-40B4-BE49-F238E27FC236}">
                <a16:creationId xmlns:a16="http://schemas.microsoft.com/office/drawing/2014/main" id="{26F94D76-5FD0-46F1-B9FD-333007552F50}"/>
              </a:ext>
            </a:extLst>
          </p:cNvPr>
          <p:cNvSpPr>
            <a:spLocks noGrp="1"/>
          </p:cNvSpPr>
          <p:nvPr>
            <p:ph type="body" sz="quarter" idx="18"/>
          </p:nvPr>
        </p:nvSpPr>
        <p:spPr>
          <a:xfrm>
            <a:off x="7906815" y="4550477"/>
            <a:ext cx="3402012" cy="1031875"/>
          </a:xfrm>
        </p:spPr>
        <p:txBody>
          <a:bodyPr vert="horz" lIns="91440" tIns="45720" rIns="91440" bIns="45720" rtlCol="0" anchor="t">
            <a:noAutofit/>
          </a:bodyPr>
          <a:lstStyle/>
          <a:p>
            <a:r>
              <a:rPr lang="fr-FR" sz="1600"/>
              <a:t>3) Utiliser les suggestions du CCC-Model en base d’imagination d’</a:t>
            </a:r>
            <a:r>
              <a:rPr lang="fr-FR" sz="1600" b="1">
                <a:solidFill>
                  <a:srgbClr val="0683AA"/>
                </a:solidFill>
              </a:rPr>
              <a:t>activités</a:t>
            </a:r>
            <a:r>
              <a:rPr lang="fr-FR" sz="1600"/>
              <a:t> appropriées pour la phase. Décider d’UNE activité qui aura lieu.</a:t>
            </a:r>
          </a:p>
          <a:p>
            <a:endParaRPr lang="fr-FR"/>
          </a:p>
        </p:txBody>
      </p:sp>
      <p:pic>
        <p:nvPicPr>
          <p:cNvPr id="32" name="Graphique 31" descr="Homme âgé portant une veste">
            <a:extLst>
              <a:ext uri="{FF2B5EF4-FFF2-40B4-BE49-F238E27FC236}">
                <a16:creationId xmlns:a16="http://schemas.microsoft.com/office/drawing/2014/main" id="{252B1C69-2877-4F75-A8F1-D6EBBBF3F0B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58457"/>
          <a:stretch/>
        </p:blipFill>
        <p:spPr>
          <a:xfrm flipH="1">
            <a:off x="6288528" y="3644650"/>
            <a:ext cx="717336" cy="905621"/>
          </a:xfrm>
          <a:prstGeom prst="rect">
            <a:avLst/>
          </a:prstGeom>
        </p:spPr>
      </p:pic>
      <p:grpSp>
        <p:nvGrpSpPr>
          <p:cNvPr id="11" name="Groupe 10">
            <a:extLst>
              <a:ext uri="{FF2B5EF4-FFF2-40B4-BE49-F238E27FC236}">
                <a16:creationId xmlns:a16="http://schemas.microsoft.com/office/drawing/2014/main" id="{5C36914A-F70F-47E9-B2BC-3AB1137F28AB}"/>
              </a:ext>
            </a:extLst>
          </p:cNvPr>
          <p:cNvGrpSpPr/>
          <p:nvPr/>
        </p:nvGrpSpPr>
        <p:grpSpPr>
          <a:xfrm>
            <a:off x="4616059" y="1875712"/>
            <a:ext cx="3001691" cy="1578236"/>
            <a:chOff x="76940" y="1376914"/>
            <a:chExt cx="12038120" cy="5259174"/>
          </a:xfrm>
        </p:grpSpPr>
        <p:grpSp>
          <p:nvGrpSpPr>
            <p:cNvPr id="12" name="Groupe 11">
              <a:extLst>
                <a:ext uri="{FF2B5EF4-FFF2-40B4-BE49-F238E27FC236}">
                  <a16:creationId xmlns:a16="http://schemas.microsoft.com/office/drawing/2014/main" id="{C3E9E27F-9365-47F7-99E7-B68642233DE5}"/>
                </a:ext>
              </a:extLst>
            </p:cNvPr>
            <p:cNvGrpSpPr/>
            <p:nvPr/>
          </p:nvGrpSpPr>
          <p:grpSpPr>
            <a:xfrm>
              <a:off x="76940" y="2380091"/>
              <a:ext cx="12038120" cy="4255997"/>
              <a:chOff x="0" y="2140394"/>
              <a:chExt cx="12854128" cy="4544491"/>
            </a:xfrm>
          </p:grpSpPr>
          <p:sp>
            <p:nvSpPr>
              <p:cNvPr id="20" name="Espace réservé du texte 15">
                <a:extLst>
                  <a:ext uri="{FF2B5EF4-FFF2-40B4-BE49-F238E27FC236}">
                    <a16:creationId xmlns:a16="http://schemas.microsoft.com/office/drawing/2014/main" id="{C313824A-66BC-4D4F-96AB-07B1EFC9B52F}"/>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a:t>INSPIRATION</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Personne ne sait ce qu’est le sujet même du changement.</a:t>
                </a:r>
              </a:p>
              <a:p>
                <a:pPr marL="0" indent="0" algn="ctr">
                  <a:buFont typeface="Arial" panose="020B0604020202020204" pitchFamily="34" charset="0"/>
                  <a:buNone/>
                </a:pPr>
                <a:r>
                  <a:rPr lang="fr-FR" sz="100"/>
                  <a:t>Il est difficile d'impliquer sans cette envie</a:t>
                </a:r>
              </a:p>
              <a:p>
                <a:pPr marL="0" indent="0" algn="ctr">
                  <a:buFont typeface="Arial" panose="020B0604020202020204" pitchFamily="34" charset="0"/>
                  <a:buNone/>
                </a:pPr>
                <a:endParaRPr lang="fr-FR" sz="100"/>
              </a:p>
              <a:p>
                <a:pPr marL="0" indent="0" algn="ctr">
                  <a:buFont typeface="Arial" panose="020B0604020202020204" pitchFamily="34" charset="0"/>
                  <a:buNone/>
                </a:pPr>
                <a:endParaRPr lang="fr-FR" sz="100"/>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ET BIEN DONNONS CETTE ENVIE</a:t>
                </a:r>
              </a:p>
              <a:p>
                <a:pPr marL="0" indent="0" algn="ctr">
                  <a:buFont typeface="Arial" panose="020B0604020202020204" pitchFamily="34" charset="0"/>
                  <a:buNone/>
                </a:pPr>
                <a:endParaRPr lang="fr-FR" sz="100"/>
              </a:p>
            </p:txBody>
          </p:sp>
          <p:sp>
            <p:nvSpPr>
              <p:cNvPr id="21" name="Espace réservé du texte 15">
                <a:extLst>
                  <a:ext uri="{FF2B5EF4-FFF2-40B4-BE49-F238E27FC236}">
                    <a16:creationId xmlns:a16="http://schemas.microsoft.com/office/drawing/2014/main" id="{6B2E96CC-6174-4865-990C-D6D2021547BD}"/>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a:t>COLLECTE</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Les membres ont une vague idée de ce que serait le changement. </a:t>
                </a:r>
              </a:p>
              <a:p>
                <a:pPr marL="0" indent="0" algn="ctr">
                  <a:buFont typeface="Arial" panose="020B0604020202020204" pitchFamily="34" charset="0"/>
                  <a:buNone/>
                </a:pPr>
                <a:r>
                  <a:rPr lang="fr-FR" sz="100"/>
                  <a:t>Il y a à la fois de la crainte d’implication et crainte de ne pas être impliqués </a:t>
                </a:r>
              </a:p>
              <a:p>
                <a:pPr marL="0" indent="0" algn="ctr">
                  <a:buFont typeface="Arial" panose="020B0604020202020204" pitchFamily="34" charset="0"/>
                  <a:buNone/>
                </a:pPr>
                <a:endParaRPr lang="fr-FR" sz="100"/>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ET BIEN IMPLIQUONS DÈS LE DÉPART</a:t>
                </a:r>
              </a:p>
              <a:p>
                <a:pPr marL="0" indent="0" algn="ctr">
                  <a:buFont typeface="Arial" panose="020B0604020202020204" pitchFamily="34" charset="0"/>
                  <a:buNone/>
                </a:pPr>
                <a:endParaRPr lang="fr-FR" sz="100"/>
              </a:p>
            </p:txBody>
          </p:sp>
          <p:sp>
            <p:nvSpPr>
              <p:cNvPr id="22" name="Espace réservé du texte 15">
                <a:extLst>
                  <a:ext uri="{FF2B5EF4-FFF2-40B4-BE49-F238E27FC236}">
                    <a16:creationId xmlns:a16="http://schemas.microsoft.com/office/drawing/2014/main" id="{E254B398-4A33-4002-8E82-A7EEF0F264A2}"/>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a:t>INITIATION</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Les membres ont une idée plus claire de ce que seraient les résultats du changement.</a:t>
                </a:r>
              </a:p>
              <a:p>
                <a:pPr marL="0" indent="0" algn="ctr">
                  <a:buFont typeface="Arial" panose="020B0604020202020204" pitchFamily="34" charset="0"/>
                  <a:buNone/>
                </a:pPr>
                <a:r>
                  <a:rPr lang="fr-FR" sz="100"/>
                  <a:t>Il y a une différence entre les ambitions et l’état de pratique réel (qui est quasi nul) </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ET BIEN FAISONS TESTER POUR DE VRAI</a:t>
                </a:r>
              </a:p>
              <a:p>
                <a:pPr marL="0" indent="0" algn="ctr">
                  <a:buFont typeface="Arial" panose="020B0604020202020204" pitchFamily="34" charset="0"/>
                  <a:buNone/>
                </a:pPr>
                <a:endParaRPr lang="fr-FR" sz="100"/>
              </a:p>
            </p:txBody>
          </p:sp>
          <p:sp>
            <p:nvSpPr>
              <p:cNvPr id="23" name="Espace réservé du texte 15">
                <a:extLst>
                  <a:ext uri="{FF2B5EF4-FFF2-40B4-BE49-F238E27FC236}">
                    <a16:creationId xmlns:a16="http://schemas.microsoft.com/office/drawing/2014/main" id="{74611A5D-CC13-4F75-95A2-4C1386D36EF3}"/>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a:t>CHOC DE LA RÉALITÉ</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Les membres ont une première idée de ce qu’est le changement en pratique, appliqué EN DEHORS de la vie de la communauté. </a:t>
                </a:r>
              </a:p>
              <a:p>
                <a:pPr marL="0" indent="0" algn="ctr">
                  <a:buFont typeface="Arial" panose="020B0604020202020204" pitchFamily="34" charset="0"/>
                  <a:buNone/>
                </a:pPr>
                <a:r>
                  <a:rPr lang="fr-FR" sz="100"/>
                  <a:t>Il y a maintenant la découverte des résistances, freins et obstacles à franchir </a:t>
                </a:r>
              </a:p>
              <a:p>
                <a:pPr marL="0" indent="0" algn="ctr">
                  <a:buFont typeface="Arial" panose="020B0604020202020204" pitchFamily="34" charset="0"/>
                  <a:buNone/>
                </a:pPr>
                <a:r>
                  <a:rPr lang="fr-FR" sz="100"/>
                  <a:t>ET BIEN TRAVERSONS LES DIFFICULTÉS ENSEMBLE</a:t>
                </a:r>
              </a:p>
              <a:p>
                <a:pPr marL="0" indent="0" algn="ctr">
                  <a:buFont typeface="Arial" panose="020B0604020202020204" pitchFamily="34" charset="0"/>
                  <a:buNone/>
                </a:pPr>
                <a:endParaRPr lang="fr-FR" sz="100"/>
              </a:p>
            </p:txBody>
          </p:sp>
          <p:sp>
            <p:nvSpPr>
              <p:cNvPr id="24" name="Espace réservé du texte 15">
                <a:extLst>
                  <a:ext uri="{FF2B5EF4-FFF2-40B4-BE49-F238E27FC236}">
                    <a16:creationId xmlns:a16="http://schemas.microsoft.com/office/drawing/2014/main" id="{ADB680B2-FEA0-4E2E-B8A3-DC40DF1463C6}"/>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a:t>CONFIRMATION DE RÉUSSITES</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Les membres ont mieux compris comment surmonter les défis. </a:t>
                </a:r>
              </a:p>
              <a:p>
                <a:pPr marL="0" indent="0" algn="ctr">
                  <a:buFont typeface="Arial" panose="020B0604020202020204" pitchFamily="34" charset="0"/>
                  <a:buNone/>
                </a:pPr>
                <a:r>
                  <a:rPr lang="fr-FR" sz="100"/>
                  <a:t>Les réussites récentes doivent maintenant surmonter le défi du temps et des aléas.</a:t>
                </a:r>
              </a:p>
              <a:p>
                <a:pPr marL="0" indent="0" algn="ctr">
                  <a:buFont typeface="Arial" panose="020B0604020202020204" pitchFamily="34" charset="0"/>
                  <a:buNone/>
                </a:pPr>
                <a:r>
                  <a:rPr lang="fr-FR" sz="100"/>
                  <a:t>ET BIEN CONSOLIDONS ET PÉRENNISONS CE QUI A ÉTÉ  ACCOMPLI</a:t>
                </a:r>
              </a:p>
            </p:txBody>
          </p:sp>
          <p:sp>
            <p:nvSpPr>
              <p:cNvPr id="25" name="Espace réservé du texte 15">
                <a:extLst>
                  <a:ext uri="{FF2B5EF4-FFF2-40B4-BE49-F238E27FC236}">
                    <a16:creationId xmlns:a16="http://schemas.microsoft.com/office/drawing/2014/main" id="{8B41113F-C72D-4014-A76C-3B42BDC1B50A}"/>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a:t>EXPOSITION</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Les membres ont une idée de l’effet du changement chez soi.</a:t>
                </a:r>
              </a:p>
              <a:p>
                <a:pPr marL="0" indent="0" algn="ctr">
                  <a:buFont typeface="Arial" panose="020B0604020202020204" pitchFamily="34" charset="0"/>
                  <a:buNone/>
                </a:pPr>
                <a:r>
                  <a:rPr lang="fr-FR" sz="100"/>
                  <a:t>Il y a maintenant les opportunités de d’apporter ces impacts positifs au-delà du périmètre initial.</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ET BIEN PRÉPARONS NOUS À ÉTENDRE LE CHANGEMENT</a:t>
                </a:r>
              </a:p>
            </p:txBody>
          </p:sp>
          <p:sp>
            <p:nvSpPr>
              <p:cNvPr id="26" name="Espace réservé du texte 15">
                <a:extLst>
                  <a:ext uri="{FF2B5EF4-FFF2-40B4-BE49-F238E27FC236}">
                    <a16:creationId xmlns:a16="http://schemas.microsoft.com/office/drawing/2014/main" id="{13223303-AA8F-4831-9E70-E337D82676A0}"/>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0"/>
                  <a:t>FORTIFICATION</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Les membres ont une idée de comment s’impliquer dans ce changement. </a:t>
                </a:r>
              </a:p>
              <a:p>
                <a:pPr marL="0" indent="0" algn="ctr">
                  <a:buFont typeface="Arial" panose="020B0604020202020204" pitchFamily="34" charset="0"/>
                  <a:buNone/>
                </a:pPr>
                <a:r>
                  <a:rPr lang="fr-FR" sz="100"/>
                  <a:t>Il y a peut-être conflit de priorité avec les autres engagements en dehors de la vie de la communauté.</a:t>
                </a:r>
              </a:p>
              <a:p>
                <a:pPr marL="0" indent="0" algn="ctr">
                  <a:buFont typeface="Arial" panose="020B0604020202020204" pitchFamily="34" charset="0"/>
                  <a:buNone/>
                </a:pPr>
                <a:endParaRPr lang="fr-FR" sz="100"/>
              </a:p>
              <a:p>
                <a:pPr marL="0" indent="0" algn="ctr">
                  <a:buFont typeface="Arial" panose="020B0604020202020204" pitchFamily="34" charset="0"/>
                  <a:buNone/>
                </a:pPr>
                <a:r>
                  <a:rPr lang="fr-FR" sz="100"/>
                  <a:t>ET BIEN OFFICIALISONS NOTRE RÔLE POUR CE CHANGEMENT</a:t>
                </a:r>
              </a:p>
              <a:p>
                <a:pPr marL="0" indent="0" algn="ctr">
                  <a:buFont typeface="Arial" panose="020B0604020202020204" pitchFamily="34" charset="0"/>
                  <a:buNone/>
                </a:pPr>
                <a:endParaRPr lang="fr-FR" sz="100"/>
              </a:p>
            </p:txBody>
          </p:sp>
        </p:grpSp>
        <p:pic>
          <p:nvPicPr>
            <p:cNvPr id="13" name="Graphique 12" descr="Ampoule avec un remplissage uni">
              <a:extLst>
                <a:ext uri="{FF2B5EF4-FFF2-40B4-BE49-F238E27FC236}">
                  <a16:creationId xmlns:a16="http://schemas.microsoft.com/office/drawing/2014/main" id="{AD0DBACE-1CDB-44FD-90E3-736ABCA0067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6208" y="1376914"/>
              <a:ext cx="914400" cy="914400"/>
            </a:xfrm>
            <a:prstGeom prst="rect">
              <a:avLst/>
            </a:prstGeom>
          </p:spPr>
        </p:pic>
        <p:pic>
          <p:nvPicPr>
            <p:cNvPr id="14" name="Graphique 13" descr="Seau et pelle avec un remplissage uni">
              <a:extLst>
                <a:ext uri="{FF2B5EF4-FFF2-40B4-BE49-F238E27FC236}">
                  <a16:creationId xmlns:a16="http://schemas.microsoft.com/office/drawing/2014/main" id="{7F77FC9F-EEDD-42A7-9389-A0ACCAA6476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163855" y="1376914"/>
              <a:ext cx="914400" cy="914400"/>
            </a:xfrm>
            <a:prstGeom prst="rect">
              <a:avLst/>
            </a:prstGeom>
          </p:spPr>
        </p:pic>
        <p:pic>
          <p:nvPicPr>
            <p:cNvPr id="15" name="Graphique 14" descr="Tubes à essai avec un remplissage uni">
              <a:extLst>
                <a:ext uri="{FF2B5EF4-FFF2-40B4-BE49-F238E27FC236}">
                  <a16:creationId xmlns:a16="http://schemas.microsoft.com/office/drawing/2014/main" id="{B3A06F4C-4EB1-4BB3-A815-C696F083410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898543" y="1376914"/>
              <a:ext cx="914400" cy="914400"/>
            </a:xfrm>
            <a:prstGeom prst="rect">
              <a:avLst/>
            </a:prstGeom>
          </p:spPr>
        </p:pic>
        <p:pic>
          <p:nvPicPr>
            <p:cNvPr id="16" name="Graphique 15" descr="Explosion avec un remplissage uni">
              <a:extLst>
                <a:ext uri="{FF2B5EF4-FFF2-40B4-BE49-F238E27FC236}">
                  <a16:creationId xmlns:a16="http://schemas.microsoft.com/office/drawing/2014/main" id="{4B44D4D0-E8A4-41E7-818F-823A5B6C6A2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638800" y="1376914"/>
              <a:ext cx="914400" cy="914400"/>
            </a:xfrm>
            <a:prstGeom prst="rect">
              <a:avLst/>
            </a:prstGeom>
          </p:spPr>
        </p:pic>
        <p:pic>
          <p:nvPicPr>
            <p:cNvPr id="17" name="Graphique 16" descr="Trophée avec un remplissage uni">
              <a:extLst>
                <a:ext uri="{FF2B5EF4-FFF2-40B4-BE49-F238E27FC236}">
                  <a16:creationId xmlns:a16="http://schemas.microsoft.com/office/drawing/2014/main" id="{180BFC66-85DE-42D9-BA58-BD7D7274173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79057" y="1376914"/>
              <a:ext cx="914400" cy="914400"/>
            </a:xfrm>
            <a:prstGeom prst="rect">
              <a:avLst/>
            </a:prstGeom>
          </p:spPr>
        </p:pic>
        <p:pic>
          <p:nvPicPr>
            <p:cNvPr id="18" name="Graphique 17" descr="Assiette couverte avec un remplissage uni">
              <a:extLst>
                <a:ext uri="{FF2B5EF4-FFF2-40B4-BE49-F238E27FC236}">
                  <a16:creationId xmlns:a16="http://schemas.microsoft.com/office/drawing/2014/main" id="{A266B7FF-1528-4FEE-8F29-999F92CAD667}"/>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113745" y="1376914"/>
              <a:ext cx="914400" cy="914400"/>
            </a:xfrm>
            <a:prstGeom prst="rect">
              <a:avLst/>
            </a:prstGeom>
          </p:spPr>
        </p:pic>
        <p:pic>
          <p:nvPicPr>
            <p:cNvPr id="19" name="Graphique 18" descr="Scène de château avec un remplissage uni">
              <a:extLst>
                <a:ext uri="{FF2B5EF4-FFF2-40B4-BE49-F238E27FC236}">
                  <a16:creationId xmlns:a16="http://schemas.microsoft.com/office/drawing/2014/main" id="{12F7673A-E1E6-4961-BFE6-0C6453334F7A}"/>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848433" y="1376914"/>
              <a:ext cx="914400" cy="914400"/>
            </a:xfrm>
            <a:prstGeom prst="rect">
              <a:avLst/>
            </a:prstGeom>
          </p:spPr>
        </p:pic>
      </p:grpSp>
      <p:pic>
        <p:nvPicPr>
          <p:cNvPr id="35" name="Espace réservé pour une image  27" descr="Fille portant une cape">
            <a:extLst>
              <a:ext uri="{FF2B5EF4-FFF2-40B4-BE49-F238E27FC236}">
                <a16:creationId xmlns:a16="http://schemas.microsoft.com/office/drawing/2014/main" id="{7F8BFF6A-DE74-4B97-B4B3-62A86FA108F3}"/>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20739" t="-32" r="12" b="67245"/>
          <a:stretch/>
        </p:blipFill>
        <p:spPr>
          <a:xfrm>
            <a:off x="4474271" y="3326793"/>
            <a:ext cx="1434953" cy="1231882"/>
          </a:xfrm>
          <a:prstGeom prst="rect">
            <a:avLst/>
          </a:prstGeom>
        </p:spPr>
      </p:pic>
      <p:grpSp>
        <p:nvGrpSpPr>
          <p:cNvPr id="3" name="Groupe 2">
            <a:extLst>
              <a:ext uri="{FF2B5EF4-FFF2-40B4-BE49-F238E27FC236}">
                <a16:creationId xmlns:a16="http://schemas.microsoft.com/office/drawing/2014/main" id="{38DBE940-7322-C8B3-43EC-59CBE2197022}"/>
              </a:ext>
            </a:extLst>
          </p:cNvPr>
          <p:cNvGrpSpPr/>
          <p:nvPr/>
        </p:nvGrpSpPr>
        <p:grpSpPr>
          <a:xfrm>
            <a:off x="992755" y="2132451"/>
            <a:ext cx="2700645" cy="2398203"/>
            <a:chOff x="1003301" y="2699377"/>
            <a:chExt cx="2700645" cy="2398203"/>
          </a:xfrm>
        </p:grpSpPr>
        <p:grpSp>
          <p:nvGrpSpPr>
            <p:cNvPr id="77" name="Groupe 76">
              <a:extLst>
                <a:ext uri="{FF2B5EF4-FFF2-40B4-BE49-F238E27FC236}">
                  <a16:creationId xmlns:a16="http://schemas.microsoft.com/office/drawing/2014/main" id="{5FA7E342-9C31-4642-B1E5-52C9FAFC5CF4}"/>
                </a:ext>
              </a:extLst>
            </p:cNvPr>
            <p:cNvGrpSpPr/>
            <p:nvPr/>
          </p:nvGrpSpPr>
          <p:grpSpPr>
            <a:xfrm>
              <a:off x="1003301" y="3656855"/>
              <a:ext cx="575065" cy="1262062"/>
              <a:chOff x="846138" y="3525644"/>
              <a:chExt cx="971550" cy="2132206"/>
            </a:xfrm>
          </p:grpSpPr>
          <p:pic>
            <p:nvPicPr>
              <p:cNvPr id="36" name="Espace réservé pour une image  27" descr="Fille portant une cape">
                <a:extLst>
                  <a:ext uri="{FF2B5EF4-FFF2-40B4-BE49-F238E27FC236}">
                    <a16:creationId xmlns:a16="http://schemas.microsoft.com/office/drawing/2014/main" id="{EAC9BD7C-58EC-48B7-A6BF-0387FC76A5D4}"/>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20740" t="-32" r="33953" b="52122"/>
              <a:stretch/>
            </p:blipFill>
            <p:spPr>
              <a:xfrm>
                <a:off x="846138" y="3525644"/>
                <a:ext cx="971550" cy="2132206"/>
              </a:xfrm>
              <a:prstGeom prst="rect">
                <a:avLst/>
              </a:prstGeom>
            </p:spPr>
          </p:pic>
          <p:sp>
            <p:nvSpPr>
              <p:cNvPr id="75" name="Rectangle 74">
                <a:extLst>
                  <a:ext uri="{FF2B5EF4-FFF2-40B4-BE49-F238E27FC236}">
                    <a16:creationId xmlns:a16="http://schemas.microsoft.com/office/drawing/2014/main" id="{7EC05D70-AA29-4482-9398-A9423ADA3E57}"/>
                  </a:ext>
                </a:extLst>
              </p:cNvPr>
              <p:cNvSpPr/>
              <p:nvPr/>
            </p:nvSpPr>
            <p:spPr>
              <a:xfrm rot="542513">
                <a:off x="1331958" y="4149685"/>
                <a:ext cx="280095" cy="3741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6" name="Graphique 75" descr="Un visage avec un seul sourcil">
                <a:extLst>
                  <a:ext uri="{FF2B5EF4-FFF2-40B4-BE49-F238E27FC236}">
                    <a16:creationId xmlns:a16="http://schemas.microsoft.com/office/drawing/2014/main" id="{33EA2F4B-799B-4A85-8AFE-E417D49E66A3}"/>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319605" y="4179582"/>
                <a:ext cx="304800" cy="314325"/>
              </a:xfrm>
              <a:prstGeom prst="rect">
                <a:avLst/>
              </a:prstGeom>
            </p:spPr>
          </p:pic>
        </p:grpSp>
        <p:pic>
          <p:nvPicPr>
            <p:cNvPr id="79" name="Graphique 78" descr="Homme âgé portant une veste">
              <a:extLst>
                <a:ext uri="{FF2B5EF4-FFF2-40B4-BE49-F238E27FC236}">
                  <a16:creationId xmlns:a16="http://schemas.microsoft.com/office/drawing/2014/main" id="{542874BC-0955-4D95-A231-AA1A3726D75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58457"/>
            <a:stretch/>
          </p:blipFill>
          <p:spPr>
            <a:xfrm>
              <a:off x="1253313" y="4014576"/>
              <a:ext cx="837425" cy="1072714"/>
            </a:xfrm>
            <a:prstGeom prst="rect">
              <a:avLst/>
            </a:prstGeom>
          </p:spPr>
        </p:pic>
        <p:pic>
          <p:nvPicPr>
            <p:cNvPr id="80" name="Espace réservé pour une image  29" descr="Homme en polo">
              <a:extLst>
                <a:ext uri="{FF2B5EF4-FFF2-40B4-BE49-F238E27FC236}">
                  <a16:creationId xmlns:a16="http://schemas.microsoft.com/office/drawing/2014/main" id="{D21B9787-412C-4727-84B5-8633002608F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68548"/>
            <a:stretch/>
          </p:blipFill>
          <p:spPr>
            <a:xfrm>
              <a:off x="1663359" y="4136949"/>
              <a:ext cx="960104" cy="960631"/>
            </a:xfrm>
            <a:prstGeom prst="rect">
              <a:avLst/>
            </a:prstGeom>
          </p:spPr>
        </p:pic>
        <p:pic>
          <p:nvPicPr>
            <p:cNvPr id="82" name="Graphique 81" descr="Notes Post-it avec un remplissage uni">
              <a:extLst>
                <a:ext uri="{FF2B5EF4-FFF2-40B4-BE49-F238E27FC236}">
                  <a16:creationId xmlns:a16="http://schemas.microsoft.com/office/drawing/2014/main" id="{C871509B-3D08-424B-A48B-C752CCF4124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flipH="1">
              <a:off x="2202587" y="2699377"/>
              <a:ext cx="1000906" cy="910110"/>
            </a:xfrm>
            <a:prstGeom prst="rect">
              <a:avLst/>
            </a:prstGeom>
          </p:spPr>
        </p:pic>
        <p:pic>
          <p:nvPicPr>
            <p:cNvPr id="83" name="Graphique 82" descr="Notes Post-it avec un remplissage uni">
              <a:extLst>
                <a:ext uri="{FF2B5EF4-FFF2-40B4-BE49-F238E27FC236}">
                  <a16:creationId xmlns:a16="http://schemas.microsoft.com/office/drawing/2014/main" id="{0843FE08-EA66-41E2-8FB5-CAD32670687A}"/>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flipH="1">
              <a:off x="2703040" y="3368277"/>
              <a:ext cx="1000906" cy="910110"/>
            </a:xfrm>
            <a:prstGeom prst="rect">
              <a:avLst/>
            </a:prstGeom>
          </p:spPr>
        </p:pic>
      </p:grpSp>
      <p:grpSp>
        <p:nvGrpSpPr>
          <p:cNvPr id="4" name="Groupe 3">
            <a:extLst>
              <a:ext uri="{FF2B5EF4-FFF2-40B4-BE49-F238E27FC236}">
                <a16:creationId xmlns:a16="http://schemas.microsoft.com/office/drawing/2014/main" id="{DC72818A-85B1-CFF9-9D67-B4FB3A2E1FBC}"/>
              </a:ext>
            </a:extLst>
          </p:cNvPr>
          <p:cNvGrpSpPr/>
          <p:nvPr/>
        </p:nvGrpSpPr>
        <p:grpSpPr>
          <a:xfrm>
            <a:off x="8334399" y="1642177"/>
            <a:ext cx="2755796" cy="2908300"/>
            <a:chOff x="8363469" y="2552700"/>
            <a:chExt cx="2755796" cy="2908300"/>
          </a:xfrm>
        </p:grpSpPr>
        <p:pic>
          <p:nvPicPr>
            <p:cNvPr id="33" name="Espace réservé pour une image  29" descr="Homme en polo">
              <a:extLst>
                <a:ext uri="{FF2B5EF4-FFF2-40B4-BE49-F238E27FC236}">
                  <a16:creationId xmlns:a16="http://schemas.microsoft.com/office/drawing/2014/main" id="{ECE00FA0-82D3-49DD-A06E-BC320CE17A1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68548"/>
            <a:stretch/>
          </p:blipFill>
          <p:spPr>
            <a:xfrm flipH="1">
              <a:off x="9872997" y="3633063"/>
              <a:ext cx="1246268" cy="1201135"/>
            </a:xfrm>
            <a:prstGeom prst="rect">
              <a:avLst/>
            </a:prstGeom>
          </p:spPr>
        </p:pic>
        <p:pic>
          <p:nvPicPr>
            <p:cNvPr id="37" name="Espace réservé pour une image  27" descr="Fille portant une cape">
              <a:extLst>
                <a:ext uri="{FF2B5EF4-FFF2-40B4-BE49-F238E27FC236}">
                  <a16:creationId xmlns:a16="http://schemas.microsoft.com/office/drawing/2014/main" id="{30306313-A12E-4CDE-BDB4-77FF98BE59E7}"/>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20739" t="5311" r="32780" b="67245"/>
            <a:stretch/>
          </p:blipFill>
          <p:spPr>
            <a:xfrm>
              <a:off x="8363469" y="3866707"/>
              <a:ext cx="842069" cy="1031875"/>
            </a:xfrm>
            <a:prstGeom prst="rect">
              <a:avLst/>
            </a:prstGeom>
          </p:spPr>
        </p:pic>
        <p:pic>
          <p:nvPicPr>
            <p:cNvPr id="38" name="Graphique 37" descr="Homme âgé portant une veste">
              <a:extLst>
                <a:ext uri="{FF2B5EF4-FFF2-40B4-BE49-F238E27FC236}">
                  <a16:creationId xmlns:a16="http://schemas.microsoft.com/office/drawing/2014/main" id="{B6C9E35B-BB8B-493A-8484-F7D50EBF488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58457"/>
            <a:stretch/>
          </p:blipFill>
          <p:spPr>
            <a:xfrm>
              <a:off x="8576685" y="4119723"/>
              <a:ext cx="1246267" cy="1341277"/>
            </a:xfrm>
            <a:prstGeom prst="rect">
              <a:avLst/>
            </a:prstGeom>
          </p:spPr>
        </p:pic>
        <p:sp>
          <p:nvSpPr>
            <p:cNvPr id="28" name="Rectangle 27">
              <a:extLst>
                <a:ext uri="{FF2B5EF4-FFF2-40B4-BE49-F238E27FC236}">
                  <a16:creationId xmlns:a16="http://schemas.microsoft.com/office/drawing/2014/main" id="{CCCF3768-9D3C-40F7-A327-DA3A35BDB552}"/>
                </a:ext>
              </a:extLst>
            </p:cNvPr>
            <p:cNvSpPr/>
            <p:nvPr/>
          </p:nvSpPr>
          <p:spPr>
            <a:xfrm>
              <a:off x="9283700" y="4321969"/>
              <a:ext cx="276225" cy="881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4" name="Graphique 43" descr="Visage heureux sans bouche">
              <a:extLst>
                <a:ext uri="{FF2B5EF4-FFF2-40B4-BE49-F238E27FC236}">
                  <a16:creationId xmlns:a16="http://schemas.microsoft.com/office/drawing/2014/main" id="{B4365CA4-02BF-4549-B030-261AA621CA2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283700" y="4221798"/>
              <a:ext cx="288448" cy="288448"/>
            </a:xfrm>
            <a:prstGeom prst="rect">
              <a:avLst/>
            </a:prstGeom>
          </p:spPr>
        </p:pic>
        <p:sp>
          <p:nvSpPr>
            <p:cNvPr id="45" name="Rectangle 44">
              <a:extLst>
                <a:ext uri="{FF2B5EF4-FFF2-40B4-BE49-F238E27FC236}">
                  <a16:creationId xmlns:a16="http://schemas.microsoft.com/office/drawing/2014/main" id="{0156A21B-9A8B-469D-B62D-1D180D6DB01A}"/>
                </a:ext>
              </a:extLst>
            </p:cNvPr>
            <p:cNvSpPr/>
            <p:nvPr/>
          </p:nvSpPr>
          <p:spPr>
            <a:xfrm>
              <a:off x="10326088" y="3921183"/>
              <a:ext cx="276225" cy="24548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6" name="Graphique 45" descr="Visage souriant avec yeux en forme de cœur">
              <a:extLst>
                <a:ext uri="{FF2B5EF4-FFF2-40B4-BE49-F238E27FC236}">
                  <a16:creationId xmlns:a16="http://schemas.microsoft.com/office/drawing/2014/main" id="{ED87D952-0B26-401D-907B-BF8D0A4C6C68}"/>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flipH="1">
              <a:off x="10274272" y="3866707"/>
              <a:ext cx="320936" cy="352425"/>
            </a:xfrm>
            <a:prstGeom prst="rect">
              <a:avLst/>
            </a:prstGeom>
          </p:spPr>
        </p:pic>
        <p:sp>
          <p:nvSpPr>
            <p:cNvPr id="47" name="Rectangle 46">
              <a:extLst>
                <a:ext uri="{FF2B5EF4-FFF2-40B4-BE49-F238E27FC236}">
                  <a16:creationId xmlns:a16="http://schemas.microsoft.com/office/drawing/2014/main" id="{7604F31E-AB7E-4E41-8EBB-C1F30B8B8673}"/>
                </a:ext>
              </a:extLst>
            </p:cNvPr>
            <p:cNvSpPr/>
            <p:nvPr/>
          </p:nvSpPr>
          <p:spPr>
            <a:xfrm rot="864213">
              <a:off x="8764576" y="4190462"/>
              <a:ext cx="230867" cy="3128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8" name="Graphique 47" descr="Visage en train de manger">
              <a:extLst>
                <a:ext uri="{FF2B5EF4-FFF2-40B4-BE49-F238E27FC236}">
                  <a16:creationId xmlns:a16="http://schemas.microsoft.com/office/drawing/2014/main" id="{EB45EF02-2BCB-4F9A-8F7D-C69A544573E4}"/>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8722190" y="4195921"/>
              <a:ext cx="304800" cy="314325"/>
            </a:xfrm>
            <a:prstGeom prst="rect">
              <a:avLst/>
            </a:prstGeom>
          </p:spPr>
        </p:pic>
        <p:sp>
          <p:nvSpPr>
            <p:cNvPr id="29" name="Bulle narrative : rectangle à coins arrondis 28">
              <a:extLst>
                <a:ext uri="{FF2B5EF4-FFF2-40B4-BE49-F238E27FC236}">
                  <a16:creationId xmlns:a16="http://schemas.microsoft.com/office/drawing/2014/main" id="{FADC7405-5ED9-43E6-9123-856B289848FA}"/>
                </a:ext>
              </a:extLst>
            </p:cNvPr>
            <p:cNvSpPr/>
            <p:nvPr/>
          </p:nvSpPr>
          <p:spPr>
            <a:xfrm>
              <a:off x="8534400" y="2552700"/>
              <a:ext cx="2024063" cy="1027895"/>
            </a:xfrm>
            <a:prstGeom prst="wedgeRoundRectCallout">
              <a:avLst>
                <a:gd name="adj1" fmla="val 36108"/>
                <a:gd name="adj2" fmla="val 59720"/>
                <a:gd name="adj3" fmla="val 16667"/>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39" name="Graphique 38" descr="Calendrier à feuilles avec un remplissage uni">
              <a:extLst>
                <a:ext uri="{FF2B5EF4-FFF2-40B4-BE49-F238E27FC236}">
                  <a16:creationId xmlns:a16="http://schemas.microsoft.com/office/drawing/2014/main" id="{DA7F33C0-37E7-4606-B199-B8B27DF4ACD8}"/>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9872997" y="3188417"/>
              <a:ext cx="345087" cy="345087"/>
            </a:xfrm>
            <a:prstGeom prst="rect">
              <a:avLst/>
            </a:prstGeom>
          </p:spPr>
        </p:pic>
        <p:pic>
          <p:nvPicPr>
            <p:cNvPr id="41" name="Graphique 40" descr="Ampoule et crayon avec un remplissage uni">
              <a:extLst>
                <a:ext uri="{FF2B5EF4-FFF2-40B4-BE49-F238E27FC236}">
                  <a16:creationId xmlns:a16="http://schemas.microsoft.com/office/drawing/2014/main" id="{13F0857F-C601-49D0-B890-3B913F536054}"/>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964612" y="2590433"/>
              <a:ext cx="914400" cy="914400"/>
            </a:xfrm>
            <a:prstGeom prst="rect">
              <a:avLst/>
            </a:prstGeom>
          </p:spPr>
        </p:pic>
      </p:grpSp>
      <p:sp>
        <p:nvSpPr>
          <p:cNvPr id="49" name="ZoneTexte 48">
            <a:extLst>
              <a:ext uri="{FF2B5EF4-FFF2-40B4-BE49-F238E27FC236}">
                <a16:creationId xmlns:a16="http://schemas.microsoft.com/office/drawing/2014/main" id="{629C4CC7-9112-2B62-C58A-AF25F78DAE55}"/>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Vue d’ensemble</a:t>
            </a:r>
            <a:endParaRPr lang="fr-FR" sz="3200"/>
          </a:p>
        </p:txBody>
      </p:sp>
    </p:spTree>
    <p:extLst>
      <p:ext uri="{BB962C8B-B14F-4D97-AF65-F5344CB8AC3E}">
        <p14:creationId xmlns:p14="http://schemas.microsoft.com/office/powerpoint/2010/main" val="20852049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e 17">
            <a:extLst>
              <a:ext uri="{FF2B5EF4-FFF2-40B4-BE49-F238E27FC236}">
                <a16:creationId xmlns:a16="http://schemas.microsoft.com/office/drawing/2014/main" id="{3ABCA483-1835-2763-79E7-C2A19B802A31}"/>
              </a:ext>
            </a:extLst>
          </p:cNvPr>
          <p:cNvGrpSpPr/>
          <p:nvPr/>
        </p:nvGrpSpPr>
        <p:grpSpPr>
          <a:xfrm>
            <a:off x="2154976" y="1509251"/>
            <a:ext cx="8507529" cy="971156"/>
            <a:chOff x="11600" y="1496380"/>
            <a:chExt cx="12038120" cy="1498765"/>
          </a:xfrm>
        </p:grpSpPr>
        <p:grpSp>
          <p:nvGrpSpPr>
            <p:cNvPr id="19" name="Groupe 18">
              <a:extLst>
                <a:ext uri="{FF2B5EF4-FFF2-40B4-BE49-F238E27FC236}">
                  <a16:creationId xmlns:a16="http://schemas.microsoft.com/office/drawing/2014/main" id="{7CC1D57C-C580-EC2F-8E17-129B4751677B}"/>
                </a:ext>
              </a:extLst>
            </p:cNvPr>
            <p:cNvGrpSpPr/>
            <p:nvPr/>
          </p:nvGrpSpPr>
          <p:grpSpPr>
            <a:xfrm>
              <a:off x="11600" y="2499558"/>
              <a:ext cx="12038120" cy="495587"/>
              <a:chOff x="0" y="2140394"/>
              <a:chExt cx="12854128" cy="4544491"/>
            </a:xfrm>
          </p:grpSpPr>
          <p:sp>
            <p:nvSpPr>
              <p:cNvPr id="35" name="Espace réservé du texte 15">
                <a:extLst>
                  <a:ext uri="{FF2B5EF4-FFF2-40B4-BE49-F238E27FC236}">
                    <a16:creationId xmlns:a16="http://schemas.microsoft.com/office/drawing/2014/main" id="{922963CD-FB94-636A-19F0-70923E89630A}"/>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36" name="Espace réservé du texte 15">
                <a:extLst>
                  <a:ext uri="{FF2B5EF4-FFF2-40B4-BE49-F238E27FC236}">
                    <a16:creationId xmlns:a16="http://schemas.microsoft.com/office/drawing/2014/main" id="{A6D39FBC-909B-7501-A4C1-287FE7986CCE}"/>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37" name="Espace réservé du texte 15">
                <a:extLst>
                  <a:ext uri="{FF2B5EF4-FFF2-40B4-BE49-F238E27FC236}">
                    <a16:creationId xmlns:a16="http://schemas.microsoft.com/office/drawing/2014/main" id="{59059A56-A953-D1D9-35F0-EBB29E9D1D4D}"/>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38" name="Espace réservé du texte 15">
                <a:extLst>
                  <a:ext uri="{FF2B5EF4-FFF2-40B4-BE49-F238E27FC236}">
                    <a16:creationId xmlns:a16="http://schemas.microsoft.com/office/drawing/2014/main" id="{0813AA53-B882-F15E-85D8-E670FEECB0C8}"/>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39" name="Espace réservé du texte 15">
                <a:extLst>
                  <a:ext uri="{FF2B5EF4-FFF2-40B4-BE49-F238E27FC236}">
                    <a16:creationId xmlns:a16="http://schemas.microsoft.com/office/drawing/2014/main" id="{8DC07FEE-F658-46BE-62CF-A465FD65550F}"/>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40" name="Espace réservé du texte 15">
                <a:extLst>
                  <a:ext uri="{FF2B5EF4-FFF2-40B4-BE49-F238E27FC236}">
                    <a16:creationId xmlns:a16="http://schemas.microsoft.com/office/drawing/2014/main" id="{4E13CD82-7B9E-FD4A-E445-BD8AF816E37A}"/>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41" name="Espace réservé du texte 15">
                <a:extLst>
                  <a:ext uri="{FF2B5EF4-FFF2-40B4-BE49-F238E27FC236}">
                    <a16:creationId xmlns:a16="http://schemas.microsoft.com/office/drawing/2014/main" id="{301B2213-3F22-DB24-5F87-7628D9762D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20" name="Graphique 19" descr="Ampoule avec un remplissage uni">
              <a:extLst>
                <a:ext uri="{FF2B5EF4-FFF2-40B4-BE49-F238E27FC236}">
                  <a16:creationId xmlns:a16="http://schemas.microsoft.com/office/drawing/2014/main" id="{1E264708-B90C-13EC-3D0A-8394B3E5D6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22" name="Graphique 21" descr="Seau et pelle avec un remplissage uni">
              <a:extLst>
                <a:ext uri="{FF2B5EF4-FFF2-40B4-BE49-F238E27FC236}">
                  <a16:creationId xmlns:a16="http://schemas.microsoft.com/office/drawing/2014/main" id="{ECB31EC3-F44D-CD49-FCC0-46ADB15479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24" name="Graphique 23" descr="Tubes à essai avec un remplissage uni">
              <a:extLst>
                <a:ext uri="{FF2B5EF4-FFF2-40B4-BE49-F238E27FC236}">
                  <a16:creationId xmlns:a16="http://schemas.microsoft.com/office/drawing/2014/main" id="{D81F59E7-762D-5D08-48B3-5449C75D833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26" name="Graphique 25" descr="Explosion avec un remplissage uni">
              <a:extLst>
                <a:ext uri="{FF2B5EF4-FFF2-40B4-BE49-F238E27FC236}">
                  <a16:creationId xmlns:a16="http://schemas.microsoft.com/office/drawing/2014/main" id="{E0FA620B-A9FC-4704-AE98-83D757D2AC1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28" name="Graphique 27" descr="Trophée avec un remplissage uni">
              <a:extLst>
                <a:ext uri="{FF2B5EF4-FFF2-40B4-BE49-F238E27FC236}">
                  <a16:creationId xmlns:a16="http://schemas.microsoft.com/office/drawing/2014/main" id="{27740290-DC6D-FCCE-7515-D8DF11DE818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33" name="Graphique 32" descr="Assiette couverte avec un remplissage uni">
              <a:extLst>
                <a:ext uri="{FF2B5EF4-FFF2-40B4-BE49-F238E27FC236}">
                  <a16:creationId xmlns:a16="http://schemas.microsoft.com/office/drawing/2014/main" id="{185B04BC-1D6F-49C2-98E8-9E0215E68B5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34" name="Graphique 33" descr="Scène de château avec un remplissage uni">
              <a:extLst>
                <a:ext uri="{FF2B5EF4-FFF2-40B4-BE49-F238E27FC236}">
                  <a16:creationId xmlns:a16="http://schemas.microsoft.com/office/drawing/2014/main" id="{426E6565-E3F4-9005-6CF8-EDB309A16B3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58" name="Rectangle 57">
            <a:extLst>
              <a:ext uri="{FF2B5EF4-FFF2-40B4-BE49-F238E27FC236}">
                <a16:creationId xmlns:a16="http://schemas.microsoft.com/office/drawing/2014/main" id="{2CB31F48-E1D2-834E-F4A3-13FDABD25DCF}"/>
              </a:ext>
            </a:extLst>
          </p:cNvPr>
          <p:cNvSpPr/>
          <p:nvPr/>
        </p:nvSpPr>
        <p:spPr>
          <a:xfrm>
            <a:off x="963456" y="2627184"/>
            <a:ext cx="803207" cy="8637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 X</a:t>
            </a:r>
          </a:p>
        </p:txBody>
      </p:sp>
      <p:sp>
        <p:nvSpPr>
          <p:cNvPr id="59" name="Rectangle 58">
            <a:extLst>
              <a:ext uri="{FF2B5EF4-FFF2-40B4-BE49-F238E27FC236}">
                <a16:creationId xmlns:a16="http://schemas.microsoft.com/office/drawing/2014/main" id="{5EAD9152-5F0A-F346-212B-2D3ECFE361EF}"/>
              </a:ext>
            </a:extLst>
          </p:cNvPr>
          <p:cNvSpPr/>
          <p:nvPr/>
        </p:nvSpPr>
        <p:spPr>
          <a:xfrm>
            <a:off x="2225368" y="2627184"/>
            <a:ext cx="1069495" cy="8637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a:solidFill>
                  <a:schemeClr val="tx1"/>
                </a:solidFill>
              </a:rPr>
              <a:t>1</a:t>
            </a:r>
            <a:r>
              <a:rPr lang="fr-FR" sz="800" b="1" baseline="30000">
                <a:solidFill>
                  <a:schemeClr val="tx1"/>
                </a:solidFill>
              </a:rPr>
              <a:t>ER</a:t>
            </a:r>
            <a:r>
              <a:rPr lang="fr-FR" sz="800" b="1">
                <a:solidFill>
                  <a:schemeClr val="tx1"/>
                </a:solidFill>
              </a:rPr>
              <a:t> MAI</a:t>
            </a:r>
          </a:p>
          <a:p>
            <a:pPr algn="ctr"/>
            <a:endParaRPr lang="fr-FR" sz="800" b="1">
              <a:solidFill>
                <a:schemeClr val="tx1"/>
              </a:solidFill>
            </a:endParaRPr>
          </a:p>
          <a:p>
            <a:pPr algn="ctr"/>
            <a:r>
              <a:rPr lang="fr-FR" sz="800">
                <a:solidFill>
                  <a:schemeClr val="tx1"/>
                </a:solidFill>
              </a:rPr>
              <a:t> 📅 Talk inspirant sur le sujet X </a:t>
            </a:r>
          </a:p>
        </p:txBody>
      </p:sp>
      <p:cxnSp>
        <p:nvCxnSpPr>
          <p:cNvPr id="72" name="Connecteur droit avec flèche 71">
            <a:extLst>
              <a:ext uri="{FF2B5EF4-FFF2-40B4-BE49-F238E27FC236}">
                <a16:creationId xmlns:a16="http://schemas.microsoft.com/office/drawing/2014/main" id="{B70F6185-0EB6-AF81-CD53-7812D1634503}"/>
              </a:ext>
            </a:extLst>
          </p:cNvPr>
          <p:cNvCxnSpPr>
            <a:cxnSpLocks/>
          </p:cNvCxnSpPr>
          <p:nvPr/>
        </p:nvCxnSpPr>
        <p:spPr>
          <a:xfrm>
            <a:off x="1766663" y="3122994"/>
            <a:ext cx="458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8" name="ZoneTexte 97">
            <a:extLst>
              <a:ext uri="{FF2B5EF4-FFF2-40B4-BE49-F238E27FC236}">
                <a16:creationId xmlns:a16="http://schemas.microsoft.com/office/drawing/2014/main" id="{437946EE-410A-41A5-BCF9-383647E5496E}"/>
              </a:ext>
            </a:extLst>
          </p:cNvPr>
          <p:cNvSpPr txBox="1"/>
          <p:nvPr/>
        </p:nvSpPr>
        <p:spPr>
          <a:xfrm>
            <a:off x="705" y="6454780"/>
            <a:ext cx="12192371" cy="307777"/>
          </a:xfrm>
          <a:prstGeom prst="rect">
            <a:avLst/>
          </a:prstGeom>
          <a:noFill/>
        </p:spPr>
        <p:txBody>
          <a:bodyPr wrap="square" lIns="91440" tIns="45720" rIns="91440" bIns="45720" anchor="t">
            <a:spAutoFit/>
          </a:bodyPr>
          <a:lstStyle/>
          <a:p>
            <a:pPr algn="ctr"/>
            <a:r>
              <a:rPr lang="fr-FR" sz="1400" i="1"/>
              <a:t>📅Evènements  ✍️Contenus ⚙️Structuration de Communauté</a:t>
            </a:r>
          </a:p>
        </p:txBody>
      </p:sp>
      <p:sp>
        <p:nvSpPr>
          <p:cNvPr id="42" name="ZoneTexte 41">
            <a:extLst>
              <a:ext uri="{FF2B5EF4-FFF2-40B4-BE49-F238E27FC236}">
                <a16:creationId xmlns:a16="http://schemas.microsoft.com/office/drawing/2014/main" id="{01A2969B-0B80-F443-B82A-DE751681F986}"/>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Exemple de résultat</a:t>
            </a:r>
            <a:endParaRPr lang="fr-FR" sz="3200"/>
          </a:p>
        </p:txBody>
      </p:sp>
      <p:sp>
        <p:nvSpPr>
          <p:cNvPr id="43" name="Rectangle 42">
            <a:extLst>
              <a:ext uri="{FF2B5EF4-FFF2-40B4-BE49-F238E27FC236}">
                <a16:creationId xmlns:a16="http://schemas.microsoft.com/office/drawing/2014/main" id="{3711B248-B7E0-27D6-A98B-A651C7FFDEF8}"/>
              </a:ext>
            </a:extLst>
          </p:cNvPr>
          <p:cNvSpPr/>
          <p:nvPr/>
        </p:nvSpPr>
        <p:spPr>
          <a:xfrm>
            <a:off x="963456" y="3566813"/>
            <a:ext cx="803207" cy="8637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 Y</a:t>
            </a:r>
          </a:p>
        </p:txBody>
      </p:sp>
      <p:sp>
        <p:nvSpPr>
          <p:cNvPr id="45" name="Rectangle 44">
            <a:extLst>
              <a:ext uri="{FF2B5EF4-FFF2-40B4-BE49-F238E27FC236}">
                <a16:creationId xmlns:a16="http://schemas.microsoft.com/office/drawing/2014/main" id="{8F1E6F01-C8CA-7958-2232-ADF2000E0E4B}"/>
              </a:ext>
            </a:extLst>
          </p:cNvPr>
          <p:cNvSpPr/>
          <p:nvPr/>
        </p:nvSpPr>
        <p:spPr>
          <a:xfrm>
            <a:off x="3491899" y="3566813"/>
            <a:ext cx="917410" cy="8637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a:solidFill>
                  <a:schemeClr val="tx1"/>
                </a:solidFill>
              </a:rPr>
              <a:t>Du 15 MAI au 31 MAI</a:t>
            </a:r>
            <a:endParaRPr lang="fr-FR" sz="800"/>
          </a:p>
          <a:p>
            <a:pPr algn="ctr"/>
            <a:r>
              <a:rPr lang="fr-FR" sz="800"/>
              <a:t>✍️</a:t>
            </a:r>
            <a:r>
              <a:rPr lang="fr-FR" sz="800">
                <a:solidFill>
                  <a:schemeClr val="tx1"/>
                </a:solidFill>
              </a:rPr>
              <a:t>Grille d’audit à produire et remplir par chaque équipe</a:t>
            </a:r>
          </a:p>
        </p:txBody>
      </p:sp>
      <p:sp>
        <p:nvSpPr>
          <p:cNvPr id="48" name="Rectangle 47">
            <a:extLst>
              <a:ext uri="{FF2B5EF4-FFF2-40B4-BE49-F238E27FC236}">
                <a16:creationId xmlns:a16="http://schemas.microsoft.com/office/drawing/2014/main" id="{630BFC70-D170-8BB8-7992-7426249B3201}"/>
              </a:ext>
            </a:extLst>
          </p:cNvPr>
          <p:cNvSpPr/>
          <p:nvPr/>
        </p:nvSpPr>
        <p:spPr>
          <a:xfrm>
            <a:off x="7201785" y="4586994"/>
            <a:ext cx="917410" cy="8637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a:solidFill>
                  <a:schemeClr val="tx1"/>
                </a:solidFill>
              </a:rPr>
              <a:t>Du 1 JANVIER A 28 FEVRIER</a:t>
            </a:r>
          </a:p>
          <a:p>
            <a:pPr algn="ctr"/>
            <a:endParaRPr lang="fr-FR" sz="800">
              <a:solidFill>
                <a:schemeClr val="tx1"/>
              </a:solidFill>
            </a:endParaRPr>
          </a:p>
          <a:p>
            <a:pPr algn="ctr"/>
            <a:r>
              <a:rPr lang="fr-FR" sz="800">
                <a:solidFill>
                  <a:schemeClr val="tx1"/>
                </a:solidFill>
              </a:rPr>
              <a:t>✍️Co-Ecriture d’un guide de bonnes pratiques</a:t>
            </a:r>
          </a:p>
        </p:txBody>
      </p:sp>
      <p:cxnSp>
        <p:nvCxnSpPr>
          <p:cNvPr id="51" name="Connecteur droit avec flèche 50">
            <a:extLst>
              <a:ext uri="{FF2B5EF4-FFF2-40B4-BE49-F238E27FC236}">
                <a16:creationId xmlns:a16="http://schemas.microsoft.com/office/drawing/2014/main" id="{304DEEC3-2340-7560-6B47-0F7EC03775CF}"/>
              </a:ext>
            </a:extLst>
          </p:cNvPr>
          <p:cNvCxnSpPr>
            <a:cxnSpLocks/>
          </p:cNvCxnSpPr>
          <p:nvPr/>
        </p:nvCxnSpPr>
        <p:spPr>
          <a:xfrm>
            <a:off x="1766663" y="3954867"/>
            <a:ext cx="17252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EB4AC102-D245-5B24-373C-D25E74D29A5B}"/>
              </a:ext>
            </a:extLst>
          </p:cNvPr>
          <p:cNvSpPr/>
          <p:nvPr/>
        </p:nvSpPr>
        <p:spPr>
          <a:xfrm>
            <a:off x="963456" y="4506442"/>
            <a:ext cx="803207" cy="8637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Sujet Z</a:t>
            </a:r>
          </a:p>
        </p:txBody>
      </p:sp>
      <p:cxnSp>
        <p:nvCxnSpPr>
          <p:cNvPr id="53" name="Connecteur droit avec flèche 52">
            <a:extLst>
              <a:ext uri="{FF2B5EF4-FFF2-40B4-BE49-F238E27FC236}">
                <a16:creationId xmlns:a16="http://schemas.microsoft.com/office/drawing/2014/main" id="{D77B14B3-0A10-D249-CCCC-FD7EA870FFE3}"/>
              </a:ext>
            </a:extLst>
          </p:cNvPr>
          <p:cNvCxnSpPr>
            <a:cxnSpLocks/>
          </p:cNvCxnSpPr>
          <p:nvPr/>
        </p:nvCxnSpPr>
        <p:spPr>
          <a:xfrm>
            <a:off x="1751286" y="4941768"/>
            <a:ext cx="54504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9955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Image 34" descr="Une image contenant texte, clipart&#10;&#10;Description générée automatiquement">
            <a:extLst>
              <a:ext uri="{FF2B5EF4-FFF2-40B4-BE49-F238E27FC236}">
                <a16:creationId xmlns:a16="http://schemas.microsoft.com/office/drawing/2014/main" id="{40AB62D6-2F4A-469C-8BA1-277B6236F9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12876" y="6411043"/>
            <a:ext cx="789196" cy="286130"/>
          </a:xfrm>
          <a:prstGeom prst="rect">
            <a:avLst/>
          </a:prstGeom>
        </p:spPr>
      </p:pic>
      <p:pic>
        <p:nvPicPr>
          <p:cNvPr id="37" name="Image 36">
            <a:extLst>
              <a:ext uri="{FF2B5EF4-FFF2-40B4-BE49-F238E27FC236}">
                <a16:creationId xmlns:a16="http://schemas.microsoft.com/office/drawing/2014/main" id="{1863A787-CFED-4655-8124-842B3F924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5302" y="6298669"/>
            <a:ext cx="446998" cy="431222"/>
          </a:xfrm>
          <a:prstGeom prst="rect">
            <a:avLst/>
          </a:prstGeom>
        </p:spPr>
      </p:pic>
      <p:pic>
        <p:nvPicPr>
          <p:cNvPr id="39" name="Image 38">
            <a:extLst>
              <a:ext uri="{FF2B5EF4-FFF2-40B4-BE49-F238E27FC236}">
                <a16:creationId xmlns:a16="http://schemas.microsoft.com/office/drawing/2014/main" id="{BD6543D7-86F0-4849-A1D1-80E7FBB2C3BF}"/>
              </a:ext>
            </a:extLst>
          </p:cNvPr>
          <p:cNvPicPr>
            <a:picLocks noChangeAspect="1"/>
          </p:cNvPicPr>
          <p:nvPr/>
        </p:nvPicPr>
        <p:blipFill rotWithShape="1">
          <a:blip r:embed="rId4">
            <a:extLst>
              <a:ext uri="{28A0092B-C50C-407E-A947-70E740481C1C}">
                <a14:useLocalDpi xmlns:a14="http://schemas.microsoft.com/office/drawing/2010/main" val="0"/>
              </a:ext>
            </a:extLst>
          </a:blip>
          <a:srcRect b="18340"/>
          <a:stretch/>
        </p:blipFill>
        <p:spPr>
          <a:xfrm>
            <a:off x="9890903" y="6242425"/>
            <a:ext cx="1098153" cy="495587"/>
          </a:xfrm>
          <a:prstGeom prst="rect">
            <a:avLst/>
          </a:prstGeom>
        </p:spPr>
      </p:pic>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Suggestions d’activité</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76940" y="1087397"/>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9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3093" y="1496380"/>
              <a:ext cx="914400" cy="914400"/>
            </a:xfrm>
            <a:prstGeom prst="rect">
              <a:avLst/>
            </a:prstGeom>
          </p:spPr>
        </p:pic>
      </p:grpSp>
      <p:grpSp>
        <p:nvGrpSpPr>
          <p:cNvPr id="3" name="Groupe 2">
            <a:extLst>
              <a:ext uri="{FF2B5EF4-FFF2-40B4-BE49-F238E27FC236}">
                <a16:creationId xmlns:a16="http://schemas.microsoft.com/office/drawing/2014/main" id="{1D5B5981-E01C-4CFC-800E-B788BEFFBE8C}"/>
              </a:ext>
            </a:extLst>
          </p:cNvPr>
          <p:cNvGrpSpPr/>
          <p:nvPr/>
        </p:nvGrpSpPr>
        <p:grpSpPr>
          <a:xfrm>
            <a:off x="76940" y="2703015"/>
            <a:ext cx="11840068" cy="4154984"/>
            <a:chOff x="85997" y="3536925"/>
            <a:chExt cx="11840068" cy="4154984"/>
          </a:xfrm>
        </p:grpSpPr>
        <p:sp>
          <p:nvSpPr>
            <p:cNvPr id="65" name="ZoneTexte 64">
              <a:extLst>
                <a:ext uri="{FF2B5EF4-FFF2-40B4-BE49-F238E27FC236}">
                  <a16:creationId xmlns:a16="http://schemas.microsoft.com/office/drawing/2014/main" id="{535227EB-27F1-4381-ABF4-77858F580766}"/>
                </a:ext>
              </a:extLst>
            </p:cNvPr>
            <p:cNvSpPr txBox="1"/>
            <p:nvPr/>
          </p:nvSpPr>
          <p:spPr>
            <a:xfrm>
              <a:off x="85997" y="3536926"/>
              <a:ext cx="1464141" cy="2462213"/>
            </a:xfrm>
            <a:prstGeom prst="rect">
              <a:avLst/>
            </a:prstGeom>
            <a:noFill/>
          </p:spPr>
          <p:txBody>
            <a:bodyPr wrap="square" rtlCol="0">
              <a:spAutoFit/>
            </a:bodyPr>
            <a:lstStyle/>
            <a:p>
              <a:pPr algn="ctr"/>
              <a:r>
                <a:rPr lang="fr-FR" sz="1100"/>
                <a:t>📅Meetup externes</a:t>
              </a:r>
            </a:p>
            <a:p>
              <a:pPr algn="ctr"/>
              <a:endParaRPr lang="fr-FR" sz="1100"/>
            </a:p>
            <a:p>
              <a:pPr algn="ctr"/>
              <a:r>
                <a:rPr lang="fr-FR" sz="1100"/>
                <a:t>✨</a:t>
              </a:r>
              <a:r>
                <a:rPr lang="fr-FR" sz="1100" err="1"/>
                <a:t>Success</a:t>
              </a:r>
              <a:r>
                <a:rPr lang="fr-FR" sz="1100"/>
                <a:t> stories extrêmes et lointaines</a:t>
              </a:r>
            </a:p>
            <a:p>
              <a:pPr algn="ctr"/>
              <a:endParaRPr lang="fr-FR" sz="1100"/>
            </a:p>
            <a:p>
              <a:pPr algn="ctr"/>
              <a:r>
                <a:rPr lang="fr-FR" sz="1100"/>
                <a:t>🔮Veille et prospective</a:t>
              </a:r>
            </a:p>
            <a:p>
              <a:pPr algn="ctr"/>
              <a:endParaRPr lang="fr-FR" sz="1100"/>
            </a:p>
            <a:p>
              <a:pPr algn="ctr"/>
              <a:r>
                <a:rPr lang="fr-FR" sz="1100"/>
                <a:t>🗣️</a:t>
              </a:r>
              <a:r>
                <a:rPr lang="fr-FR" sz="1100" err="1"/>
                <a:t>Talks</a:t>
              </a:r>
              <a:r>
                <a:rPr lang="fr-FR" sz="1100"/>
                <a:t> Inspirants</a:t>
              </a:r>
            </a:p>
            <a:p>
              <a:pPr algn="ctr"/>
              <a:endParaRPr lang="fr-FR" sz="1100"/>
            </a:p>
            <a:p>
              <a:pPr algn="ctr"/>
              <a:r>
                <a:rPr lang="fr-FR" sz="1100"/>
                <a:t>🌍Vue globale</a:t>
              </a:r>
            </a:p>
            <a:p>
              <a:pPr algn="ctr"/>
              <a:endParaRPr lang="fr-FR" sz="1100"/>
            </a:p>
            <a:p>
              <a:pPr algn="ctr"/>
              <a:r>
                <a:rPr lang="fr-FR" sz="1100"/>
                <a:t>🎲Serious Games de découverte</a:t>
              </a:r>
            </a:p>
          </p:txBody>
        </p:sp>
        <p:sp>
          <p:nvSpPr>
            <p:cNvPr id="66" name="ZoneTexte 65">
              <a:extLst>
                <a:ext uri="{FF2B5EF4-FFF2-40B4-BE49-F238E27FC236}">
                  <a16:creationId xmlns:a16="http://schemas.microsoft.com/office/drawing/2014/main" id="{FB674F3C-427F-4A2A-9D0B-B294340D3254}"/>
                </a:ext>
              </a:extLst>
            </p:cNvPr>
            <p:cNvSpPr txBox="1"/>
            <p:nvPr/>
          </p:nvSpPr>
          <p:spPr>
            <a:xfrm>
              <a:off x="1823644" y="3536926"/>
              <a:ext cx="1464141" cy="3477875"/>
            </a:xfrm>
            <a:prstGeom prst="rect">
              <a:avLst/>
            </a:prstGeom>
            <a:noFill/>
          </p:spPr>
          <p:txBody>
            <a:bodyPr wrap="square" rtlCol="0">
              <a:spAutoFit/>
            </a:bodyPr>
            <a:lstStyle/>
            <a:p>
              <a:pPr algn="ctr"/>
              <a:r>
                <a:rPr lang="fr-FR" sz="1100"/>
                <a:t>❓Ateliers « </a:t>
              </a:r>
              <a:r>
                <a:rPr lang="fr-FR" sz="1100" err="1"/>
                <a:t>What’s</a:t>
              </a:r>
              <a:r>
                <a:rPr lang="fr-FR" sz="1100"/>
                <a:t> In It For Me ? »</a:t>
              </a:r>
            </a:p>
            <a:p>
              <a:pPr algn="ctr"/>
              <a:endParaRPr lang="fr-FR" sz="1100"/>
            </a:p>
            <a:p>
              <a:pPr algn="ctr"/>
              <a:r>
                <a:rPr lang="fr-FR" sz="1100"/>
                <a:t>👍</a:t>
              </a:r>
              <a:r>
                <a:rPr lang="fr-FR" sz="1100" err="1"/>
                <a:t>Success</a:t>
              </a:r>
              <a:r>
                <a:rPr lang="fr-FR" sz="1100"/>
                <a:t> stories plus proches, partage d’expérience</a:t>
              </a:r>
            </a:p>
            <a:p>
              <a:pPr algn="ctr"/>
              <a:endParaRPr lang="fr-FR" sz="1100"/>
            </a:p>
            <a:p>
              <a:pPr algn="ctr"/>
              <a:r>
                <a:rPr lang="fr-FR" sz="1100"/>
                <a:t>😱 Collecte des craintes et 🤩opportunités d’usages / SWOT</a:t>
              </a:r>
            </a:p>
            <a:p>
              <a:pPr algn="ctr"/>
              <a:endParaRPr lang="fr-FR" sz="1100"/>
            </a:p>
            <a:p>
              <a:pPr algn="ctr"/>
              <a:r>
                <a:rPr lang="fr-FR" sz="1100"/>
                <a:t>🤝Ateliers connaissance mutuelle des membres</a:t>
              </a:r>
            </a:p>
            <a:p>
              <a:pPr algn="ctr"/>
              <a:endParaRPr lang="fr-FR" sz="1100"/>
            </a:p>
            <a:p>
              <a:pPr algn="ctr"/>
              <a:r>
                <a:rPr lang="fr-FR" sz="1100"/>
                <a:t>🔎Audit / Diagnostic / Etat des lieux sur un sujet donné</a:t>
              </a:r>
            </a:p>
          </p:txBody>
        </p:sp>
        <p:sp>
          <p:nvSpPr>
            <p:cNvPr id="67" name="ZoneTexte 66">
              <a:extLst>
                <a:ext uri="{FF2B5EF4-FFF2-40B4-BE49-F238E27FC236}">
                  <a16:creationId xmlns:a16="http://schemas.microsoft.com/office/drawing/2014/main" id="{BAC70D3C-A59F-44EA-96A0-82DE170C25FE}"/>
                </a:ext>
              </a:extLst>
            </p:cNvPr>
            <p:cNvSpPr txBox="1"/>
            <p:nvPr/>
          </p:nvSpPr>
          <p:spPr>
            <a:xfrm>
              <a:off x="3606422" y="3536926"/>
              <a:ext cx="1464141" cy="3647152"/>
            </a:xfrm>
            <a:prstGeom prst="rect">
              <a:avLst/>
            </a:prstGeom>
            <a:noFill/>
          </p:spPr>
          <p:txBody>
            <a:bodyPr wrap="square" rtlCol="0">
              <a:spAutoFit/>
            </a:bodyPr>
            <a:lstStyle/>
            <a:p>
              <a:pPr algn="ctr"/>
              <a:r>
                <a:rPr lang="fr-FR" sz="1100"/>
                <a:t>🔧Tutos / Dojos basiques</a:t>
              </a:r>
            </a:p>
            <a:p>
              <a:pPr algn="ctr"/>
              <a:endParaRPr lang="fr-FR" sz="1100"/>
            </a:p>
            <a:p>
              <a:pPr algn="ctr"/>
              <a:r>
                <a:rPr lang="fr-FR" sz="1100"/>
                <a:t>📄 Revue de documentation basiques/FAQ</a:t>
              </a:r>
            </a:p>
            <a:p>
              <a:pPr algn="ctr"/>
              <a:endParaRPr lang="fr-FR" sz="1100"/>
            </a:p>
            <a:p>
              <a:pPr algn="ctr"/>
              <a:r>
                <a:rPr lang="fr-FR" sz="1100"/>
                <a:t>📣 Aide à la promotion et au lancement</a:t>
              </a:r>
            </a:p>
            <a:p>
              <a:pPr algn="ctr"/>
              <a:endParaRPr lang="fr-FR" sz="1100"/>
            </a:p>
            <a:p>
              <a:pPr algn="ctr"/>
              <a:r>
                <a:rPr lang="fr-FR" sz="1100"/>
                <a:t>🕵️‍♀️ Système de </a:t>
              </a:r>
              <a:r>
                <a:rPr lang="fr-FR" sz="1100" err="1"/>
                <a:t>shadowing</a:t>
              </a:r>
              <a:endParaRPr lang="fr-FR" sz="1100"/>
            </a:p>
            <a:p>
              <a:pPr algn="ctr"/>
              <a:endParaRPr lang="fr-FR" sz="1100"/>
            </a:p>
            <a:p>
              <a:pPr algn="ctr"/>
              <a:r>
                <a:rPr lang="fr-FR" sz="1100"/>
                <a:t>▶️ Invitation à la mise en application en situation réelle</a:t>
              </a:r>
            </a:p>
            <a:p>
              <a:pPr algn="ctr"/>
              <a:endParaRPr lang="fr-FR" sz="1100"/>
            </a:p>
            <a:p>
              <a:pPr algn="ctr"/>
              <a:r>
                <a:rPr lang="fr-FR" sz="1100"/>
                <a:t>🧪Expérimentation de projets à l’intérieur de la Communauté</a:t>
              </a:r>
            </a:p>
          </p:txBody>
        </p:sp>
        <p:sp>
          <p:nvSpPr>
            <p:cNvPr id="68" name="ZoneTexte 67">
              <a:extLst>
                <a:ext uri="{FF2B5EF4-FFF2-40B4-BE49-F238E27FC236}">
                  <a16:creationId xmlns:a16="http://schemas.microsoft.com/office/drawing/2014/main" id="{C8C0DEAC-1741-40A9-8FFA-AA692C546EC1}"/>
                </a:ext>
              </a:extLst>
            </p:cNvPr>
            <p:cNvSpPr txBox="1"/>
            <p:nvPr/>
          </p:nvSpPr>
          <p:spPr>
            <a:xfrm>
              <a:off x="5323766" y="3536925"/>
              <a:ext cx="1464141" cy="4154984"/>
            </a:xfrm>
            <a:prstGeom prst="rect">
              <a:avLst/>
            </a:prstGeom>
            <a:noFill/>
          </p:spPr>
          <p:txBody>
            <a:bodyPr wrap="square" rtlCol="0">
              <a:spAutoFit/>
            </a:bodyPr>
            <a:lstStyle/>
            <a:p>
              <a:pPr algn="ctr"/>
              <a:r>
                <a:rPr lang="fr-FR" sz="1100"/>
                <a:t>🛠️ Dojos et pratiques avancées</a:t>
              </a:r>
            </a:p>
            <a:p>
              <a:pPr algn="ctr"/>
              <a:endParaRPr lang="fr-FR" sz="1100"/>
            </a:p>
            <a:p>
              <a:pPr algn="ctr"/>
              <a:r>
                <a:rPr lang="fr-FR" sz="1100"/>
                <a:t>💞 Groupes d’intervision / entraide spécifique / soutien moral /</a:t>
              </a:r>
            </a:p>
            <a:p>
              <a:pPr algn="ctr"/>
              <a:r>
                <a:rPr lang="fr-FR" sz="1100"/>
                <a:t>sous groupes / Revues entre pairs</a:t>
              </a:r>
            </a:p>
            <a:p>
              <a:pPr algn="ctr"/>
              <a:endParaRPr lang="fr-FR" sz="1100"/>
            </a:p>
            <a:p>
              <a:pPr algn="ctr"/>
              <a:r>
                <a:rPr lang="fr-FR" sz="1100"/>
                <a:t>🏋️Système de mentoring / coaching</a:t>
              </a:r>
            </a:p>
            <a:p>
              <a:pPr algn="ctr"/>
              <a:endParaRPr lang="fr-FR" sz="1100"/>
            </a:p>
            <a:p>
              <a:pPr algn="ctr"/>
              <a:r>
                <a:rPr lang="fr-FR" sz="1100"/>
                <a:t>🍺 Moments pour relâcher la pression ensemble</a:t>
              </a:r>
            </a:p>
            <a:p>
              <a:pPr algn="ctr"/>
              <a:endParaRPr lang="fr-FR" sz="1100"/>
            </a:p>
            <a:p>
              <a:pPr algn="ctr"/>
              <a:r>
                <a:rPr lang="fr-FR" sz="1100"/>
                <a:t>➕ ➖ Recensement d’avantages et inconvénients des changements</a:t>
              </a:r>
            </a:p>
            <a:p>
              <a:pPr algn="ctr"/>
              <a:endParaRPr lang="fr-FR" sz="1100"/>
            </a:p>
            <a:p>
              <a:pPr algn="ctr"/>
              <a:r>
                <a:rPr lang="fr-FR" sz="1100"/>
                <a:t>🔧 Mise en place système de suivi</a:t>
              </a:r>
            </a:p>
          </p:txBody>
        </p:sp>
        <p:sp>
          <p:nvSpPr>
            <p:cNvPr id="69" name="ZoneTexte 68">
              <a:extLst>
                <a:ext uri="{FF2B5EF4-FFF2-40B4-BE49-F238E27FC236}">
                  <a16:creationId xmlns:a16="http://schemas.microsoft.com/office/drawing/2014/main" id="{D52221F4-2470-42EE-8A07-B8454297A563}"/>
                </a:ext>
              </a:extLst>
            </p:cNvPr>
            <p:cNvSpPr txBox="1"/>
            <p:nvPr/>
          </p:nvSpPr>
          <p:spPr>
            <a:xfrm>
              <a:off x="7061413" y="3536925"/>
              <a:ext cx="1464141" cy="3308598"/>
            </a:xfrm>
            <a:prstGeom prst="rect">
              <a:avLst/>
            </a:prstGeom>
            <a:noFill/>
          </p:spPr>
          <p:txBody>
            <a:bodyPr wrap="square" rtlCol="0">
              <a:spAutoFit/>
            </a:bodyPr>
            <a:lstStyle/>
            <a:p>
              <a:pPr algn="ctr"/>
              <a:r>
                <a:rPr lang="fr-FR" sz="1100"/>
                <a:t>⚖️ Définition des normes et règles locales</a:t>
              </a:r>
            </a:p>
            <a:p>
              <a:pPr algn="ctr"/>
              <a:endParaRPr lang="fr-FR" sz="1100"/>
            </a:p>
            <a:p>
              <a:pPr algn="ctr"/>
              <a:r>
                <a:rPr lang="fr-FR" sz="1100"/>
                <a:t>➡️ ⬅️ Identification des synergies, des ressources et documentations à mettre en commun</a:t>
              </a:r>
            </a:p>
            <a:p>
              <a:pPr algn="ctr"/>
              <a:endParaRPr lang="fr-FR" sz="1100"/>
            </a:p>
            <a:p>
              <a:pPr algn="ctr"/>
              <a:r>
                <a:rPr lang="fr-FR" sz="1100"/>
                <a:t>✔️ Clarification des best practices, des cas d’usages typiques (attention biais du survivant)</a:t>
              </a:r>
            </a:p>
            <a:p>
              <a:pPr algn="ctr"/>
              <a:endParaRPr lang="fr-FR" sz="1100"/>
            </a:p>
            <a:p>
              <a:pPr algn="ctr"/>
              <a:r>
                <a:rPr lang="fr-FR" sz="1100"/>
                <a:t>🗣️Témoignages et retours d’expériences locaux </a:t>
              </a:r>
            </a:p>
          </p:txBody>
        </p:sp>
        <p:sp>
          <p:nvSpPr>
            <p:cNvPr id="70" name="ZoneTexte 69">
              <a:extLst>
                <a:ext uri="{FF2B5EF4-FFF2-40B4-BE49-F238E27FC236}">
                  <a16:creationId xmlns:a16="http://schemas.microsoft.com/office/drawing/2014/main" id="{D3741B66-CDA3-4940-A2D3-B84D7D2C095F}"/>
                </a:ext>
              </a:extLst>
            </p:cNvPr>
            <p:cNvSpPr txBox="1"/>
            <p:nvPr/>
          </p:nvSpPr>
          <p:spPr>
            <a:xfrm>
              <a:off x="8799060" y="3536925"/>
              <a:ext cx="1464141" cy="2800767"/>
            </a:xfrm>
            <a:prstGeom prst="rect">
              <a:avLst/>
            </a:prstGeom>
            <a:noFill/>
          </p:spPr>
          <p:txBody>
            <a:bodyPr wrap="square" rtlCol="0">
              <a:spAutoFit/>
            </a:bodyPr>
            <a:lstStyle/>
            <a:p>
              <a:pPr algn="ctr"/>
              <a:r>
                <a:rPr lang="fr-FR" sz="1100"/>
                <a:t>🎅 Construction d’une offre de service</a:t>
              </a:r>
            </a:p>
            <a:p>
              <a:pPr algn="ctr"/>
              <a:endParaRPr lang="fr-FR" sz="1100"/>
            </a:p>
            <a:p>
              <a:pPr algn="ctr"/>
              <a:r>
                <a:rPr lang="fr-FR" sz="1100"/>
                <a:t>🎓 Définition de parcours de formation</a:t>
              </a:r>
            </a:p>
            <a:p>
              <a:pPr algn="ctr"/>
              <a:endParaRPr lang="fr-FR" sz="1100"/>
            </a:p>
            <a:p>
              <a:pPr algn="ctr"/>
              <a:r>
                <a:rPr lang="fr-FR" sz="1100"/>
                <a:t>🛫 Transmission au-delà de la communauté</a:t>
              </a:r>
            </a:p>
            <a:p>
              <a:pPr algn="ctr"/>
              <a:endParaRPr lang="fr-FR" sz="1100"/>
            </a:p>
            <a:p>
              <a:pPr algn="ctr"/>
              <a:r>
                <a:rPr lang="fr-FR" sz="1100"/>
                <a:t>📜 Mise en place de certification locales</a:t>
              </a:r>
            </a:p>
            <a:p>
              <a:pPr algn="ctr"/>
              <a:endParaRPr lang="fr-FR" sz="1100"/>
            </a:p>
            <a:p>
              <a:pPr algn="ctr"/>
              <a:r>
                <a:rPr lang="fr-FR" sz="1100"/>
                <a:t>⭐Exposition et promotion de la documentation</a:t>
              </a:r>
            </a:p>
          </p:txBody>
        </p:sp>
        <p:sp>
          <p:nvSpPr>
            <p:cNvPr id="71" name="ZoneTexte 70">
              <a:extLst>
                <a:ext uri="{FF2B5EF4-FFF2-40B4-BE49-F238E27FC236}">
                  <a16:creationId xmlns:a16="http://schemas.microsoft.com/office/drawing/2014/main" id="{38880597-E85E-4B1E-9154-F02B17362B7E}"/>
                </a:ext>
              </a:extLst>
            </p:cNvPr>
            <p:cNvSpPr txBox="1"/>
            <p:nvPr/>
          </p:nvSpPr>
          <p:spPr>
            <a:xfrm>
              <a:off x="10461924" y="3536925"/>
              <a:ext cx="1464141" cy="2292935"/>
            </a:xfrm>
            <a:prstGeom prst="rect">
              <a:avLst/>
            </a:prstGeom>
            <a:noFill/>
          </p:spPr>
          <p:txBody>
            <a:bodyPr wrap="square" rtlCol="0">
              <a:spAutoFit/>
            </a:bodyPr>
            <a:lstStyle/>
            <a:p>
              <a:pPr algn="ctr"/>
              <a:r>
                <a:rPr lang="fr-FR" sz="1100"/>
                <a:t>🏠 Officialisation des équipes et des tâches</a:t>
              </a:r>
            </a:p>
            <a:p>
              <a:pPr algn="ctr"/>
              <a:endParaRPr lang="fr-FR" sz="1100"/>
            </a:p>
            <a:p>
              <a:pPr algn="ctr"/>
              <a:r>
                <a:rPr lang="fr-FR" sz="1100"/>
                <a:t>😎Mise à jour des fiches de poste</a:t>
              </a:r>
            </a:p>
            <a:p>
              <a:pPr algn="ctr"/>
              <a:endParaRPr lang="fr-FR" sz="1100"/>
            </a:p>
            <a:p>
              <a:pPr algn="ctr"/>
              <a:r>
                <a:rPr lang="fr-FR" sz="1100"/>
                <a:t>👓 Intervention dans les processus de recrutement</a:t>
              </a:r>
            </a:p>
            <a:p>
              <a:pPr algn="ctr"/>
              <a:endParaRPr lang="fr-FR" sz="1100"/>
            </a:p>
            <a:p>
              <a:pPr algn="ctr"/>
              <a:r>
                <a:rPr lang="fr-FR" sz="1100"/>
                <a:t>🌍 Expansion des normes locales à d’autres domaines</a:t>
              </a:r>
            </a:p>
          </p:txBody>
        </p:sp>
      </p:grpSp>
    </p:spTree>
    <p:extLst>
      <p:ext uri="{BB962C8B-B14F-4D97-AF65-F5344CB8AC3E}">
        <p14:creationId xmlns:p14="http://schemas.microsoft.com/office/powerpoint/2010/main" val="2514812182"/>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Image 34" descr="Une image contenant texte, clipart&#10;&#10;Description générée automatiquement">
            <a:extLst>
              <a:ext uri="{FF2B5EF4-FFF2-40B4-BE49-F238E27FC236}">
                <a16:creationId xmlns:a16="http://schemas.microsoft.com/office/drawing/2014/main" id="{40AB62D6-2F4A-469C-8BA1-277B6236F9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09680" y="6453701"/>
            <a:ext cx="789196" cy="286130"/>
          </a:xfrm>
          <a:prstGeom prst="rect">
            <a:avLst/>
          </a:prstGeom>
        </p:spPr>
      </p:pic>
      <p:pic>
        <p:nvPicPr>
          <p:cNvPr id="37" name="Image 36">
            <a:extLst>
              <a:ext uri="{FF2B5EF4-FFF2-40B4-BE49-F238E27FC236}">
                <a16:creationId xmlns:a16="http://schemas.microsoft.com/office/drawing/2014/main" id="{1863A787-CFED-4655-8124-842B3F924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2106" y="6341327"/>
            <a:ext cx="446998" cy="431222"/>
          </a:xfrm>
          <a:prstGeom prst="rect">
            <a:avLst/>
          </a:prstGeom>
        </p:spPr>
      </p:pic>
      <p:pic>
        <p:nvPicPr>
          <p:cNvPr id="39" name="Image 38">
            <a:extLst>
              <a:ext uri="{FF2B5EF4-FFF2-40B4-BE49-F238E27FC236}">
                <a16:creationId xmlns:a16="http://schemas.microsoft.com/office/drawing/2014/main" id="{BD6543D7-86F0-4849-A1D1-80E7FBB2C3BF}"/>
              </a:ext>
            </a:extLst>
          </p:cNvPr>
          <p:cNvPicPr>
            <a:picLocks noChangeAspect="1"/>
          </p:cNvPicPr>
          <p:nvPr/>
        </p:nvPicPr>
        <p:blipFill rotWithShape="1">
          <a:blip r:embed="rId4">
            <a:extLst>
              <a:ext uri="{28A0092B-C50C-407E-A947-70E740481C1C}">
                <a14:useLocalDpi xmlns:a14="http://schemas.microsoft.com/office/drawing/2010/main" val="0"/>
              </a:ext>
            </a:extLst>
          </a:blip>
          <a:srcRect b="18340"/>
          <a:stretch/>
        </p:blipFill>
        <p:spPr>
          <a:xfrm>
            <a:off x="9887707" y="6285083"/>
            <a:ext cx="1098153" cy="495587"/>
          </a:xfrm>
          <a:prstGeom prst="rect">
            <a:avLst/>
          </a:prstGeom>
        </p:spPr>
      </p:pic>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Suggestions de contenus</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11600" y="14431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3093" y="1496380"/>
              <a:ext cx="914400" cy="914400"/>
            </a:xfrm>
            <a:prstGeom prst="rect">
              <a:avLst/>
            </a:prstGeom>
          </p:spPr>
        </p:pic>
      </p:grpSp>
      <p:grpSp>
        <p:nvGrpSpPr>
          <p:cNvPr id="3" name="Groupe 2">
            <a:extLst>
              <a:ext uri="{FF2B5EF4-FFF2-40B4-BE49-F238E27FC236}">
                <a16:creationId xmlns:a16="http://schemas.microsoft.com/office/drawing/2014/main" id="{1D5B5981-E01C-4CFC-800E-B788BEFFBE8C}"/>
              </a:ext>
            </a:extLst>
          </p:cNvPr>
          <p:cNvGrpSpPr/>
          <p:nvPr/>
        </p:nvGrpSpPr>
        <p:grpSpPr>
          <a:xfrm>
            <a:off x="11600" y="3030655"/>
            <a:ext cx="11840068" cy="3139322"/>
            <a:chOff x="85997" y="3536925"/>
            <a:chExt cx="11840068" cy="3139322"/>
          </a:xfrm>
        </p:grpSpPr>
        <p:sp>
          <p:nvSpPr>
            <p:cNvPr id="65" name="ZoneTexte 64">
              <a:extLst>
                <a:ext uri="{FF2B5EF4-FFF2-40B4-BE49-F238E27FC236}">
                  <a16:creationId xmlns:a16="http://schemas.microsoft.com/office/drawing/2014/main" id="{535227EB-27F1-4381-ABF4-77858F580766}"/>
                </a:ext>
              </a:extLst>
            </p:cNvPr>
            <p:cNvSpPr txBox="1"/>
            <p:nvPr/>
          </p:nvSpPr>
          <p:spPr>
            <a:xfrm>
              <a:off x="85997" y="3536926"/>
              <a:ext cx="1464141" cy="3139321"/>
            </a:xfrm>
            <a:prstGeom prst="rect">
              <a:avLst/>
            </a:prstGeom>
            <a:noFill/>
          </p:spPr>
          <p:txBody>
            <a:bodyPr wrap="square" rtlCol="0">
              <a:spAutoFit/>
            </a:bodyPr>
            <a:lstStyle/>
            <a:p>
              <a:pPr algn="ctr"/>
              <a:r>
                <a:rPr lang="fr-FR" sz="1100"/>
                <a:t>📰Articles généralistes courts</a:t>
              </a:r>
            </a:p>
            <a:p>
              <a:pPr algn="ctr"/>
              <a:endParaRPr lang="fr-FR" sz="1100"/>
            </a:p>
            <a:p>
              <a:pPr algn="ctr"/>
              <a:r>
                <a:rPr lang="fr-FR" sz="1100"/>
                <a:t>▶️Vidéos « teaser »</a:t>
              </a:r>
            </a:p>
            <a:p>
              <a:pPr algn="ctr"/>
              <a:endParaRPr lang="fr-FR" sz="1100"/>
            </a:p>
            <a:p>
              <a:pPr algn="ctr"/>
              <a:r>
                <a:rPr lang="fr-FR" sz="1100"/>
                <a:t>💬 Mini </a:t>
              </a:r>
              <a:r>
                <a:rPr lang="fr-FR" sz="1100" err="1"/>
                <a:t>posts</a:t>
              </a:r>
              <a:r>
                <a:rPr lang="fr-FR" sz="1100"/>
                <a:t> sur la tendance liée au changement (articles externes, </a:t>
              </a:r>
              <a:r>
                <a:rPr lang="fr-FR" sz="1100" err="1"/>
                <a:t>etc</a:t>
              </a:r>
              <a:r>
                <a:rPr lang="fr-FR" sz="1100"/>
                <a:t>)</a:t>
              </a:r>
            </a:p>
            <a:p>
              <a:pPr algn="ctr"/>
              <a:endParaRPr lang="fr-FR" sz="1100"/>
            </a:p>
            <a:p>
              <a:pPr algn="ctr"/>
              <a:r>
                <a:rPr lang="fr-FR" sz="1100"/>
                <a:t>📰 Articles sur l’importance du sujet du changement à plus grande échelle</a:t>
              </a:r>
            </a:p>
            <a:p>
              <a:pPr algn="ctr"/>
              <a:endParaRPr lang="fr-FR" sz="1100"/>
            </a:p>
            <a:p>
              <a:pPr algn="ctr"/>
              <a:r>
                <a:rPr lang="fr-FR" sz="1100"/>
                <a:t>📰Articles sur les grandes réussites liées au changement</a:t>
              </a:r>
            </a:p>
          </p:txBody>
        </p:sp>
        <p:sp>
          <p:nvSpPr>
            <p:cNvPr id="66" name="ZoneTexte 65">
              <a:extLst>
                <a:ext uri="{FF2B5EF4-FFF2-40B4-BE49-F238E27FC236}">
                  <a16:creationId xmlns:a16="http://schemas.microsoft.com/office/drawing/2014/main" id="{FB674F3C-427F-4A2A-9D0B-B294340D3254}"/>
                </a:ext>
              </a:extLst>
            </p:cNvPr>
            <p:cNvSpPr txBox="1"/>
            <p:nvPr/>
          </p:nvSpPr>
          <p:spPr>
            <a:xfrm>
              <a:off x="1823644" y="3536926"/>
              <a:ext cx="1464141" cy="2123658"/>
            </a:xfrm>
            <a:prstGeom prst="rect">
              <a:avLst/>
            </a:prstGeom>
            <a:noFill/>
          </p:spPr>
          <p:txBody>
            <a:bodyPr wrap="square" rtlCol="0">
              <a:spAutoFit/>
            </a:bodyPr>
            <a:lstStyle/>
            <a:p>
              <a:pPr algn="ctr"/>
              <a:r>
                <a:rPr lang="fr-FR" sz="1100"/>
                <a:t>❓ Sondages, questionnaires d’intérêts</a:t>
              </a:r>
            </a:p>
            <a:p>
              <a:pPr algn="ctr"/>
              <a:endParaRPr lang="fr-FR" sz="1100"/>
            </a:p>
            <a:p>
              <a:pPr algn="ctr"/>
              <a:r>
                <a:rPr lang="fr-FR" sz="1100"/>
                <a:t>🎤Retours d’expériences (articles, vidéos, interviews…) plus proches (concurrents, autres personnes qui ressemblent aux membres, …)</a:t>
              </a:r>
            </a:p>
          </p:txBody>
        </p:sp>
        <p:sp>
          <p:nvSpPr>
            <p:cNvPr id="67" name="ZoneTexte 66">
              <a:extLst>
                <a:ext uri="{FF2B5EF4-FFF2-40B4-BE49-F238E27FC236}">
                  <a16:creationId xmlns:a16="http://schemas.microsoft.com/office/drawing/2014/main" id="{BAC70D3C-A59F-44EA-96A0-82DE170C25FE}"/>
                </a:ext>
              </a:extLst>
            </p:cNvPr>
            <p:cNvSpPr txBox="1"/>
            <p:nvPr/>
          </p:nvSpPr>
          <p:spPr>
            <a:xfrm>
              <a:off x="3606422" y="3536926"/>
              <a:ext cx="1464141" cy="1107996"/>
            </a:xfrm>
            <a:prstGeom prst="rect">
              <a:avLst/>
            </a:prstGeom>
            <a:noFill/>
          </p:spPr>
          <p:txBody>
            <a:bodyPr wrap="square" rtlCol="0">
              <a:spAutoFit/>
            </a:bodyPr>
            <a:lstStyle/>
            <a:p>
              <a:pPr algn="ctr"/>
              <a:r>
                <a:rPr lang="fr-FR" sz="1100"/>
                <a:t>🎓 Tutoriels de base</a:t>
              </a:r>
            </a:p>
            <a:p>
              <a:pPr algn="ctr"/>
              <a:endParaRPr lang="fr-FR" sz="1100"/>
            </a:p>
            <a:p>
              <a:pPr algn="ctr"/>
              <a:r>
                <a:rPr lang="fr-FR" sz="1100"/>
                <a:t>👍 Trucs et astuces pour bien démarrer</a:t>
              </a:r>
            </a:p>
            <a:p>
              <a:pPr algn="ctr"/>
              <a:endParaRPr lang="fr-FR" sz="1100"/>
            </a:p>
            <a:p>
              <a:pPr algn="ctr"/>
              <a:r>
                <a:rPr lang="fr-FR" sz="1100"/>
                <a:t>🆓 Essais gratuits</a:t>
              </a:r>
            </a:p>
          </p:txBody>
        </p:sp>
        <p:sp>
          <p:nvSpPr>
            <p:cNvPr id="68" name="ZoneTexte 67">
              <a:extLst>
                <a:ext uri="{FF2B5EF4-FFF2-40B4-BE49-F238E27FC236}">
                  <a16:creationId xmlns:a16="http://schemas.microsoft.com/office/drawing/2014/main" id="{C8C0DEAC-1741-40A9-8FFA-AA692C546EC1}"/>
                </a:ext>
              </a:extLst>
            </p:cNvPr>
            <p:cNvSpPr txBox="1"/>
            <p:nvPr/>
          </p:nvSpPr>
          <p:spPr>
            <a:xfrm>
              <a:off x="5323766" y="3536925"/>
              <a:ext cx="1464141" cy="2631490"/>
            </a:xfrm>
            <a:prstGeom prst="rect">
              <a:avLst/>
            </a:prstGeom>
            <a:noFill/>
          </p:spPr>
          <p:txBody>
            <a:bodyPr wrap="square" rtlCol="0">
              <a:spAutoFit/>
            </a:bodyPr>
            <a:lstStyle/>
            <a:p>
              <a:pPr algn="ctr"/>
              <a:r>
                <a:rPr lang="fr-FR" sz="1100"/>
                <a:t>📰 Articles avancés</a:t>
              </a:r>
            </a:p>
            <a:p>
              <a:pPr algn="ctr"/>
              <a:endParaRPr lang="fr-FR" sz="1100"/>
            </a:p>
            <a:p>
              <a:pPr algn="ctr"/>
              <a:r>
                <a:rPr lang="fr-FR" sz="1100"/>
                <a:t>🎓 Tutoriels d’outils, de fonctionnalités, de techniques avancés </a:t>
              </a:r>
            </a:p>
            <a:p>
              <a:pPr algn="ctr"/>
              <a:endParaRPr lang="fr-FR" sz="1100"/>
            </a:p>
            <a:p>
              <a:pPr algn="ctr"/>
              <a:r>
                <a:rPr lang="fr-FR" sz="1100"/>
                <a:t>▶️ Vidéos d’approfondissement</a:t>
              </a:r>
            </a:p>
            <a:p>
              <a:pPr algn="ctr"/>
              <a:endParaRPr lang="fr-FR" sz="1100"/>
            </a:p>
            <a:p>
              <a:pPr algn="ctr"/>
              <a:r>
                <a:rPr lang="fr-FR" sz="1100"/>
                <a:t>👍 Trucs et astuces d’experts</a:t>
              </a:r>
            </a:p>
            <a:p>
              <a:pPr algn="ctr"/>
              <a:endParaRPr lang="fr-FR" sz="1100"/>
            </a:p>
            <a:p>
              <a:pPr algn="ctr"/>
              <a:r>
                <a:rPr lang="fr-FR" sz="1100"/>
                <a:t>📅 Invitations à des événements spécialisés</a:t>
              </a:r>
            </a:p>
          </p:txBody>
        </p:sp>
        <p:sp>
          <p:nvSpPr>
            <p:cNvPr id="69" name="ZoneTexte 68">
              <a:extLst>
                <a:ext uri="{FF2B5EF4-FFF2-40B4-BE49-F238E27FC236}">
                  <a16:creationId xmlns:a16="http://schemas.microsoft.com/office/drawing/2014/main" id="{D52221F4-2470-42EE-8A07-B8454297A563}"/>
                </a:ext>
              </a:extLst>
            </p:cNvPr>
            <p:cNvSpPr txBox="1"/>
            <p:nvPr/>
          </p:nvSpPr>
          <p:spPr>
            <a:xfrm>
              <a:off x="7061413" y="3536925"/>
              <a:ext cx="1464141" cy="2462213"/>
            </a:xfrm>
            <a:prstGeom prst="rect">
              <a:avLst/>
            </a:prstGeom>
            <a:noFill/>
          </p:spPr>
          <p:txBody>
            <a:bodyPr wrap="square" rtlCol="0">
              <a:spAutoFit/>
            </a:bodyPr>
            <a:lstStyle/>
            <a:p>
              <a:pPr algn="ctr"/>
              <a:r>
                <a:rPr lang="fr-FR" sz="1100"/>
                <a:t>📰 Articles ou </a:t>
              </a:r>
              <a:r>
                <a:rPr lang="fr-FR" sz="1100" err="1"/>
                <a:t>posts</a:t>
              </a:r>
              <a:r>
                <a:rPr lang="fr-FR" sz="1100"/>
                <a:t> sur les réussites locales</a:t>
              </a:r>
            </a:p>
            <a:p>
              <a:pPr algn="ctr"/>
              <a:endParaRPr lang="fr-FR" sz="1100"/>
            </a:p>
            <a:p>
              <a:pPr algn="ctr"/>
              <a:r>
                <a:rPr lang="fr-FR" sz="1100"/>
                <a:t>📣 Mise en avant de membres ou de projets liés au changement</a:t>
              </a:r>
            </a:p>
            <a:p>
              <a:pPr algn="ctr"/>
              <a:endParaRPr lang="fr-FR" sz="1100"/>
            </a:p>
            <a:p>
              <a:pPr algn="ctr"/>
              <a:r>
                <a:rPr lang="fr-FR" sz="1100"/>
                <a:t>🎤Retours d’expériences (articles, vidéos, interviews, …) des membres</a:t>
              </a:r>
            </a:p>
          </p:txBody>
        </p:sp>
        <p:sp>
          <p:nvSpPr>
            <p:cNvPr id="70" name="ZoneTexte 69">
              <a:extLst>
                <a:ext uri="{FF2B5EF4-FFF2-40B4-BE49-F238E27FC236}">
                  <a16:creationId xmlns:a16="http://schemas.microsoft.com/office/drawing/2014/main" id="{D3741B66-CDA3-4940-A2D3-B84D7D2C095F}"/>
                </a:ext>
              </a:extLst>
            </p:cNvPr>
            <p:cNvSpPr txBox="1"/>
            <p:nvPr/>
          </p:nvSpPr>
          <p:spPr>
            <a:xfrm>
              <a:off x="8799060" y="3536925"/>
              <a:ext cx="1464141" cy="600164"/>
            </a:xfrm>
            <a:prstGeom prst="rect">
              <a:avLst/>
            </a:prstGeom>
            <a:noFill/>
          </p:spPr>
          <p:txBody>
            <a:bodyPr wrap="square" rtlCol="0">
              <a:spAutoFit/>
            </a:bodyPr>
            <a:lstStyle/>
            <a:p>
              <a:pPr algn="ctr"/>
              <a:r>
                <a:rPr lang="fr-FR" sz="1100"/>
                <a:t>🆕 Brochures, flyers, catalogues de services (à créer)</a:t>
              </a:r>
            </a:p>
          </p:txBody>
        </p:sp>
        <p:sp>
          <p:nvSpPr>
            <p:cNvPr id="71" name="ZoneTexte 70">
              <a:extLst>
                <a:ext uri="{FF2B5EF4-FFF2-40B4-BE49-F238E27FC236}">
                  <a16:creationId xmlns:a16="http://schemas.microsoft.com/office/drawing/2014/main" id="{38880597-E85E-4B1E-9154-F02B17362B7E}"/>
                </a:ext>
              </a:extLst>
            </p:cNvPr>
            <p:cNvSpPr txBox="1"/>
            <p:nvPr/>
          </p:nvSpPr>
          <p:spPr>
            <a:xfrm>
              <a:off x="10461924" y="3536925"/>
              <a:ext cx="1464141" cy="1785104"/>
            </a:xfrm>
            <a:prstGeom prst="rect">
              <a:avLst/>
            </a:prstGeom>
            <a:noFill/>
          </p:spPr>
          <p:txBody>
            <a:bodyPr wrap="square" rtlCol="0">
              <a:spAutoFit/>
            </a:bodyPr>
            <a:lstStyle/>
            <a:p>
              <a:pPr algn="ctr"/>
              <a:r>
                <a:rPr lang="fr-FR" sz="1100"/>
                <a:t>📣 Déclaration de lancement d’équipes</a:t>
              </a:r>
            </a:p>
            <a:p>
              <a:pPr algn="ctr"/>
              <a:endParaRPr lang="fr-FR" sz="1100"/>
            </a:p>
            <a:p>
              <a:pPr algn="ctr"/>
              <a:r>
                <a:rPr lang="fr-FR" sz="1100"/>
                <a:t>🏢 Fiches de poste / Offres</a:t>
              </a:r>
            </a:p>
            <a:p>
              <a:pPr algn="ctr"/>
              <a:endParaRPr lang="fr-FR" sz="1100"/>
            </a:p>
            <a:p>
              <a:pPr algn="ctr"/>
              <a:r>
                <a:rPr lang="fr-FR" sz="1100"/>
                <a:t>📣 Annonces officielles sur les changements de processus</a:t>
              </a:r>
            </a:p>
          </p:txBody>
        </p:sp>
      </p:grpSp>
    </p:spTree>
    <p:extLst>
      <p:ext uri="{BB962C8B-B14F-4D97-AF65-F5344CB8AC3E}">
        <p14:creationId xmlns:p14="http://schemas.microsoft.com/office/powerpoint/2010/main" val="1251542111"/>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e 17">
            <a:extLst>
              <a:ext uri="{FF2B5EF4-FFF2-40B4-BE49-F238E27FC236}">
                <a16:creationId xmlns:a16="http://schemas.microsoft.com/office/drawing/2014/main" id="{3ABCA483-1835-2763-79E7-C2A19B802A31}"/>
              </a:ext>
            </a:extLst>
          </p:cNvPr>
          <p:cNvGrpSpPr/>
          <p:nvPr/>
        </p:nvGrpSpPr>
        <p:grpSpPr>
          <a:xfrm>
            <a:off x="2496899" y="1900020"/>
            <a:ext cx="8507529" cy="971156"/>
            <a:chOff x="11600" y="1496380"/>
            <a:chExt cx="12038120" cy="1498765"/>
          </a:xfrm>
        </p:grpSpPr>
        <p:grpSp>
          <p:nvGrpSpPr>
            <p:cNvPr id="19" name="Groupe 18">
              <a:extLst>
                <a:ext uri="{FF2B5EF4-FFF2-40B4-BE49-F238E27FC236}">
                  <a16:creationId xmlns:a16="http://schemas.microsoft.com/office/drawing/2014/main" id="{7CC1D57C-C580-EC2F-8E17-129B4751677B}"/>
                </a:ext>
              </a:extLst>
            </p:cNvPr>
            <p:cNvGrpSpPr/>
            <p:nvPr/>
          </p:nvGrpSpPr>
          <p:grpSpPr>
            <a:xfrm>
              <a:off x="11600" y="2499558"/>
              <a:ext cx="12038120" cy="495587"/>
              <a:chOff x="0" y="2140394"/>
              <a:chExt cx="12854128" cy="4544491"/>
            </a:xfrm>
          </p:grpSpPr>
          <p:sp>
            <p:nvSpPr>
              <p:cNvPr id="35" name="Espace réservé du texte 15">
                <a:extLst>
                  <a:ext uri="{FF2B5EF4-FFF2-40B4-BE49-F238E27FC236}">
                    <a16:creationId xmlns:a16="http://schemas.microsoft.com/office/drawing/2014/main" id="{922963CD-FB94-636A-19F0-70923E89630A}"/>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36" name="Espace réservé du texte 15">
                <a:extLst>
                  <a:ext uri="{FF2B5EF4-FFF2-40B4-BE49-F238E27FC236}">
                    <a16:creationId xmlns:a16="http://schemas.microsoft.com/office/drawing/2014/main" id="{A6D39FBC-909B-7501-A4C1-287FE7986CCE}"/>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37" name="Espace réservé du texte 15">
                <a:extLst>
                  <a:ext uri="{FF2B5EF4-FFF2-40B4-BE49-F238E27FC236}">
                    <a16:creationId xmlns:a16="http://schemas.microsoft.com/office/drawing/2014/main" id="{59059A56-A953-D1D9-35F0-EBB29E9D1D4D}"/>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38" name="Espace réservé du texte 15">
                <a:extLst>
                  <a:ext uri="{FF2B5EF4-FFF2-40B4-BE49-F238E27FC236}">
                    <a16:creationId xmlns:a16="http://schemas.microsoft.com/office/drawing/2014/main" id="{0813AA53-B882-F15E-85D8-E670FEECB0C8}"/>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39" name="Espace réservé du texte 15">
                <a:extLst>
                  <a:ext uri="{FF2B5EF4-FFF2-40B4-BE49-F238E27FC236}">
                    <a16:creationId xmlns:a16="http://schemas.microsoft.com/office/drawing/2014/main" id="{8DC07FEE-F658-46BE-62CF-A465FD65550F}"/>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40" name="Espace réservé du texte 15">
                <a:extLst>
                  <a:ext uri="{FF2B5EF4-FFF2-40B4-BE49-F238E27FC236}">
                    <a16:creationId xmlns:a16="http://schemas.microsoft.com/office/drawing/2014/main" id="{4E13CD82-7B9E-FD4A-E445-BD8AF816E37A}"/>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41" name="Espace réservé du texte 15">
                <a:extLst>
                  <a:ext uri="{FF2B5EF4-FFF2-40B4-BE49-F238E27FC236}">
                    <a16:creationId xmlns:a16="http://schemas.microsoft.com/office/drawing/2014/main" id="{301B2213-3F22-DB24-5F87-7628D9762D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20" name="Graphique 19" descr="Ampoule avec un remplissage uni">
              <a:extLst>
                <a:ext uri="{FF2B5EF4-FFF2-40B4-BE49-F238E27FC236}">
                  <a16:creationId xmlns:a16="http://schemas.microsoft.com/office/drawing/2014/main" id="{1E264708-B90C-13EC-3D0A-8394B3E5D6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22" name="Graphique 21" descr="Seau et pelle avec un remplissage uni">
              <a:extLst>
                <a:ext uri="{FF2B5EF4-FFF2-40B4-BE49-F238E27FC236}">
                  <a16:creationId xmlns:a16="http://schemas.microsoft.com/office/drawing/2014/main" id="{ECB31EC3-F44D-CD49-FCC0-46ADB15479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24" name="Graphique 23" descr="Tubes à essai avec un remplissage uni">
              <a:extLst>
                <a:ext uri="{FF2B5EF4-FFF2-40B4-BE49-F238E27FC236}">
                  <a16:creationId xmlns:a16="http://schemas.microsoft.com/office/drawing/2014/main" id="{D81F59E7-762D-5D08-48B3-5449C75D833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26" name="Graphique 25" descr="Explosion avec un remplissage uni">
              <a:extLst>
                <a:ext uri="{FF2B5EF4-FFF2-40B4-BE49-F238E27FC236}">
                  <a16:creationId xmlns:a16="http://schemas.microsoft.com/office/drawing/2014/main" id="{E0FA620B-A9FC-4704-AE98-83D757D2AC1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28" name="Graphique 27" descr="Trophée avec un remplissage uni">
              <a:extLst>
                <a:ext uri="{FF2B5EF4-FFF2-40B4-BE49-F238E27FC236}">
                  <a16:creationId xmlns:a16="http://schemas.microsoft.com/office/drawing/2014/main" id="{27740290-DC6D-FCCE-7515-D8DF11DE818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33" name="Graphique 32" descr="Assiette couverte avec un remplissage uni">
              <a:extLst>
                <a:ext uri="{FF2B5EF4-FFF2-40B4-BE49-F238E27FC236}">
                  <a16:creationId xmlns:a16="http://schemas.microsoft.com/office/drawing/2014/main" id="{185B04BC-1D6F-49C2-98E8-9E0215E68B5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34" name="Graphique 33" descr="Scène de château avec un remplissage uni">
              <a:extLst>
                <a:ext uri="{FF2B5EF4-FFF2-40B4-BE49-F238E27FC236}">
                  <a16:creationId xmlns:a16="http://schemas.microsoft.com/office/drawing/2014/main" id="{426E6565-E3F4-9005-6CF8-EDB309A16B3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58" name="Rectangle 57">
            <a:extLst>
              <a:ext uri="{FF2B5EF4-FFF2-40B4-BE49-F238E27FC236}">
                <a16:creationId xmlns:a16="http://schemas.microsoft.com/office/drawing/2014/main" id="{2CB31F48-E1D2-834E-F4A3-13FDABD25DCF}"/>
              </a:ext>
            </a:extLst>
          </p:cNvPr>
          <p:cNvSpPr/>
          <p:nvPr/>
        </p:nvSpPr>
        <p:spPr>
          <a:xfrm>
            <a:off x="1217921" y="3415200"/>
            <a:ext cx="803207"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Sujet XYZ</a:t>
            </a:r>
          </a:p>
        </p:txBody>
      </p:sp>
      <p:sp>
        <p:nvSpPr>
          <p:cNvPr id="59" name="Rectangle 58">
            <a:extLst>
              <a:ext uri="{FF2B5EF4-FFF2-40B4-BE49-F238E27FC236}">
                <a16:creationId xmlns:a16="http://schemas.microsoft.com/office/drawing/2014/main" id="{5EAD9152-5F0A-F346-212B-2D3ECFE361EF}"/>
              </a:ext>
            </a:extLst>
          </p:cNvPr>
          <p:cNvSpPr/>
          <p:nvPr/>
        </p:nvSpPr>
        <p:spPr>
          <a:xfrm>
            <a:off x="2479833" y="3415200"/>
            <a:ext cx="1069495"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1</a:t>
            </a:r>
            <a:r>
              <a:rPr lang="fr-FR" sz="1000" b="1" baseline="30000">
                <a:solidFill>
                  <a:schemeClr val="tx1"/>
                </a:solidFill>
              </a:rPr>
              <a:t>ER</a:t>
            </a:r>
            <a:r>
              <a:rPr lang="fr-FR" sz="1000" b="1">
                <a:solidFill>
                  <a:schemeClr val="tx1"/>
                </a:solidFill>
              </a:rPr>
              <a:t> MAI</a:t>
            </a:r>
          </a:p>
          <a:p>
            <a:pPr algn="ctr"/>
            <a:endParaRPr lang="fr-FR" sz="1000" b="1">
              <a:solidFill>
                <a:schemeClr val="tx1"/>
              </a:solidFill>
            </a:endParaRPr>
          </a:p>
          <a:p>
            <a:pPr algn="ctr"/>
            <a:r>
              <a:rPr lang="fr-FR" sz="1000">
                <a:solidFill>
                  <a:schemeClr val="tx1"/>
                </a:solidFill>
              </a:rPr>
              <a:t> 📅 Talk inspirant sur le sujet XYZ </a:t>
            </a:r>
          </a:p>
        </p:txBody>
      </p:sp>
      <p:sp>
        <p:nvSpPr>
          <p:cNvPr id="60" name="Rectangle 59">
            <a:extLst>
              <a:ext uri="{FF2B5EF4-FFF2-40B4-BE49-F238E27FC236}">
                <a16:creationId xmlns:a16="http://schemas.microsoft.com/office/drawing/2014/main" id="{8B6FDB7B-6A5C-BFE6-A25F-37EF5248875B}"/>
              </a:ext>
            </a:extLst>
          </p:cNvPr>
          <p:cNvSpPr/>
          <p:nvPr/>
        </p:nvSpPr>
        <p:spPr>
          <a:xfrm>
            <a:off x="3833822" y="3415200"/>
            <a:ext cx="917410"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Du 15 MAI au 31 MAI</a:t>
            </a:r>
            <a:endParaRPr lang="fr-FR" sz="1000"/>
          </a:p>
          <a:p>
            <a:pPr algn="ctr"/>
            <a:r>
              <a:rPr lang="fr-FR" sz="1000"/>
              <a:t>✍️</a:t>
            </a:r>
            <a:r>
              <a:rPr lang="fr-FR" sz="1000">
                <a:solidFill>
                  <a:schemeClr val="tx1"/>
                </a:solidFill>
              </a:rPr>
              <a:t>Grille d’audit à produire et remplir par chaque équipe</a:t>
            </a:r>
          </a:p>
        </p:txBody>
      </p:sp>
      <p:sp>
        <p:nvSpPr>
          <p:cNvPr id="63" name="Rectangle 62">
            <a:extLst>
              <a:ext uri="{FF2B5EF4-FFF2-40B4-BE49-F238E27FC236}">
                <a16:creationId xmlns:a16="http://schemas.microsoft.com/office/drawing/2014/main" id="{7AD2BD4D-9256-BA4E-A9A5-41DB47BB04C7}"/>
              </a:ext>
            </a:extLst>
          </p:cNvPr>
          <p:cNvSpPr/>
          <p:nvPr/>
        </p:nvSpPr>
        <p:spPr>
          <a:xfrm>
            <a:off x="5062091" y="3415200"/>
            <a:ext cx="917410"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Du 1 JUIN au 31 AOUT</a:t>
            </a:r>
          </a:p>
          <a:p>
            <a:pPr algn="ctr"/>
            <a:endParaRPr lang="fr-FR" sz="1000">
              <a:solidFill>
                <a:schemeClr val="tx1"/>
              </a:solidFill>
            </a:endParaRPr>
          </a:p>
          <a:p>
            <a:pPr algn="ctr"/>
            <a:r>
              <a:rPr lang="fr-FR" sz="1000">
                <a:solidFill>
                  <a:schemeClr val="tx1"/>
                </a:solidFill>
              </a:rPr>
              <a:t>🎓Formation basique et tutoriels sur XYZ</a:t>
            </a:r>
          </a:p>
        </p:txBody>
      </p:sp>
      <p:sp>
        <p:nvSpPr>
          <p:cNvPr id="65" name="Rectangle 64">
            <a:extLst>
              <a:ext uri="{FF2B5EF4-FFF2-40B4-BE49-F238E27FC236}">
                <a16:creationId xmlns:a16="http://schemas.microsoft.com/office/drawing/2014/main" id="{E36152C3-83B8-8F9A-3575-BA5DA0CFB66E}"/>
              </a:ext>
            </a:extLst>
          </p:cNvPr>
          <p:cNvSpPr/>
          <p:nvPr/>
        </p:nvSpPr>
        <p:spPr>
          <a:xfrm>
            <a:off x="6315439" y="3415200"/>
            <a:ext cx="917410"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Du 1 SEPTEMBRE A FIN D’ANNEE</a:t>
            </a:r>
          </a:p>
          <a:p>
            <a:pPr algn="ctr"/>
            <a:r>
              <a:rPr lang="fr-FR" sz="1000"/>
              <a:t>⚙️</a:t>
            </a:r>
            <a:r>
              <a:rPr lang="fr-FR" sz="1000">
                <a:solidFill>
                  <a:schemeClr val="tx1"/>
                </a:solidFill>
              </a:rPr>
              <a:t>Suivi et coaching sur l’application de XYZ sur le terrain</a:t>
            </a:r>
          </a:p>
        </p:txBody>
      </p:sp>
      <p:sp>
        <p:nvSpPr>
          <p:cNvPr id="68" name="Rectangle 67">
            <a:extLst>
              <a:ext uri="{FF2B5EF4-FFF2-40B4-BE49-F238E27FC236}">
                <a16:creationId xmlns:a16="http://schemas.microsoft.com/office/drawing/2014/main" id="{7C65D3B8-625C-6399-90C9-36FA8206C753}"/>
              </a:ext>
            </a:extLst>
          </p:cNvPr>
          <p:cNvSpPr/>
          <p:nvPr/>
        </p:nvSpPr>
        <p:spPr>
          <a:xfrm>
            <a:off x="7543708" y="3415200"/>
            <a:ext cx="917410"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Du 1 JANVIER A 28 FEVRIER</a:t>
            </a:r>
          </a:p>
          <a:p>
            <a:pPr algn="ctr"/>
            <a:endParaRPr lang="fr-FR" sz="1000">
              <a:solidFill>
                <a:schemeClr val="tx1"/>
              </a:solidFill>
            </a:endParaRPr>
          </a:p>
          <a:p>
            <a:pPr algn="ctr"/>
            <a:r>
              <a:rPr lang="fr-FR" sz="1000">
                <a:solidFill>
                  <a:schemeClr val="tx1"/>
                </a:solidFill>
              </a:rPr>
              <a:t>✍️Co-Ecriture d’un guide de bonnes pratiques</a:t>
            </a:r>
          </a:p>
        </p:txBody>
      </p:sp>
      <p:sp>
        <p:nvSpPr>
          <p:cNvPr id="69" name="Rectangle 68">
            <a:extLst>
              <a:ext uri="{FF2B5EF4-FFF2-40B4-BE49-F238E27FC236}">
                <a16:creationId xmlns:a16="http://schemas.microsoft.com/office/drawing/2014/main" id="{F78F915A-5368-4759-1CB1-5FE9BF7C8032}"/>
              </a:ext>
            </a:extLst>
          </p:cNvPr>
          <p:cNvSpPr/>
          <p:nvPr/>
        </p:nvSpPr>
        <p:spPr>
          <a:xfrm>
            <a:off x="8771977" y="3415200"/>
            <a:ext cx="917410"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Q2-Q4</a:t>
            </a:r>
            <a:r>
              <a:rPr lang="fr-FR" sz="1000">
                <a:solidFill>
                  <a:schemeClr val="tx1"/>
                </a:solidFill>
              </a:rPr>
              <a:t> </a:t>
            </a:r>
          </a:p>
          <a:p>
            <a:pPr algn="ctr"/>
            <a:endParaRPr lang="fr-FR" sz="1000">
              <a:solidFill>
                <a:schemeClr val="tx1"/>
              </a:solidFill>
            </a:endParaRPr>
          </a:p>
          <a:p>
            <a:pPr algn="ctr"/>
            <a:r>
              <a:rPr lang="fr-FR" sz="1000"/>
              <a:t>⚙️</a:t>
            </a:r>
            <a:r>
              <a:rPr lang="fr-FR" sz="1000">
                <a:solidFill>
                  <a:schemeClr val="tx1"/>
                </a:solidFill>
              </a:rPr>
              <a:t>Montage d’une offre de service et formation par les membres </a:t>
            </a:r>
          </a:p>
        </p:txBody>
      </p:sp>
      <p:sp>
        <p:nvSpPr>
          <p:cNvPr id="70" name="Rectangle 69">
            <a:extLst>
              <a:ext uri="{FF2B5EF4-FFF2-40B4-BE49-F238E27FC236}">
                <a16:creationId xmlns:a16="http://schemas.microsoft.com/office/drawing/2014/main" id="{A887FED5-1DF3-7D72-C845-1E0AC71D698B}"/>
              </a:ext>
            </a:extLst>
          </p:cNvPr>
          <p:cNvSpPr/>
          <p:nvPr/>
        </p:nvSpPr>
        <p:spPr>
          <a:xfrm>
            <a:off x="9997169" y="3415200"/>
            <a:ext cx="1030740" cy="144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tx1"/>
                </a:solidFill>
              </a:rPr>
              <a:t>Année 3</a:t>
            </a:r>
          </a:p>
          <a:p>
            <a:pPr algn="ctr"/>
            <a:endParaRPr lang="fr-FR" sz="1000">
              <a:solidFill>
                <a:schemeClr val="tx1"/>
              </a:solidFill>
            </a:endParaRPr>
          </a:p>
          <a:p>
            <a:pPr algn="ctr"/>
            <a:r>
              <a:rPr lang="fr-FR" sz="1000">
                <a:solidFill>
                  <a:schemeClr val="tx1"/>
                </a:solidFill>
              </a:rPr>
              <a:t>Officialisation du sujet auprès du département</a:t>
            </a:r>
          </a:p>
          <a:p>
            <a:pPr algn="ctr"/>
            <a:r>
              <a:rPr lang="el-GR" sz="1000">
                <a:solidFill>
                  <a:schemeClr val="tx1"/>
                </a:solidFill>
              </a:rPr>
              <a:t>α</a:t>
            </a:r>
            <a:r>
              <a:rPr lang="fr-FR" sz="1000">
                <a:solidFill>
                  <a:schemeClr val="tx1"/>
                </a:solidFill>
              </a:rPr>
              <a:t> (Montage d’une équipe)</a:t>
            </a:r>
          </a:p>
        </p:txBody>
      </p:sp>
      <p:cxnSp>
        <p:nvCxnSpPr>
          <p:cNvPr id="72" name="Connecteur droit avec flèche 71">
            <a:extLst>
              <a:ext uri="{FF2B5EF4-FFF2-40B4-BE49-F238E27FC236}">
                <a16:creationId xmlns:a16="http://schemas.microsoft.com/office/drawing/2014/main" id="{B70F6185-0EB6-AF81-CD53-7812D1634503}"/>
              </a:ext>
            </a:extLst>
          </p:cNvPr>
          <p:cNvCxnSpPr>
            <a:cxnSpLocks/>
          </p:cNvCxnSpPr>
          <p:nvPr/>
        </p:nvCxnSpPr>
        <p:spPr>
          <a:xfrm>
            <a:off x="2021128" y="4135200"/>
            <a:ext cx="458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Connecteur droit avec flèche 72">
            <a:extLst>
              <a:ext uri="{FF2B5EF4-FFF2-40B4-BE49-F238E27FC236}">
                <a16:creationId xmlns:a16="http://schemas.microsoft.com/office/drawing/2014/main" id="{6750AD1A-4CA4-55F9-6AC2-2B1B96D46C37}"/>
              </a:ext>
            </a:extLst>
          </p:cNvPr>
          <p:cNvCxnSpPr>
            <a:cxnSpLocks/>
          </p:cNvCxnSpPr>
          <p:nvPr/>
        </p:nvCxnSpPr>
        <p:spPr>
          <a:xfrm>
            <a:off x="3549328" y="4135200"/>
            <a:ext cx="2844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Connecteur droit avec flèche 75">
            <a:extLst>
              <a:ext uri="{FF2B5EF4-FFF2-40B4-BE49-F238E27FC236}">
                <a16:creationId xmlns:a16="http://schemas.microsoft.com/office/drawing/2014/main" id="{804712EC-A901-D530-B588-F168C060483F}"/>
              </a:ext>
            </a:extLst>
          </p:cNvPr>
          <p:cNvCxnSpPr>
            <a:cxnSpLocks/>
          </p:cNvCxnSpPr>
          <p:nvPr/>
        </p:nvCxnSpPr>
        <p:spPr>
          <a:xfrm>
            <a:off x="4751232" y="4135200"/>
            <a:ext cx="3108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Connecteur droit avec flèche 77">
            <a:extLst>
              <a:ext uri="{FF2B5EF4-FFF2-40B4-BE49-F238E27FC236}">
                <a16:creationId xmlns:a16="http://schemas.microsoft.com/office/drawing/2014/main" id="{0A3721A4-0EC5-F93E-A740-CC7F368044AC}"/>
              </a:ext>
            </a:extLst>
          </p:cNvPr>
          <p:cNvCxnSpPr>
            <a:cxnSpLocks/>
          </p:cNvCxnSpPr>
          <p:nvPr/>
        </p:nvCxnSpPr>
        <p:spPr>
          <a:xfrm>
            <a:off x="5979501" y="4135200"/>
            <a:ext cx="3359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697D108F-40C4-8DA8-81CC-7DB84EDF0653}"/>
              </a:ext>
            </a:extLst>
          </p:cNvPr>
          <p:cNvCxnSpPr>
            <a:cxnSpLocks/>
          </p:cNvCxnSpPr>
          <p:nvPr/>
        </p:nvCxnSpPr>
        <p:spPr>
          <a:xfrm>
            <a:off x="7232849" y="4135200"/>
            <a:ext cx="3108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6DD3134B-8749-476F-84D2-D6392F5102E6}"/>
              </a:ext>
            </a:extLst>
          </p:cNvPr>
          <p:cNvCxnSpPr>
            <a:cxnSpLocks/>
          </p:cNvCxnSpPr>
          <p:nvPr/>
        </p:nvCxnSpPr>
        <p:spPr>
          <a:xfrm>
            <a:off x="8461118" y="4135200"/>
            <a:ext cx="3108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49261241-FF44-B269-1652-88E1D840DC0A}"/>
              </a:ext>
            </a:extLst>
          </p:cNvPr>
          <p:cNvCxnSpPr>
            <a:cxnSpLocks/>
          </p:cNvCxnSpPr>
          <p:nvPr/>
        </p:nvCxnSpPr>
        <p:spPr>
          <a:xfrm>
            <a:off x="9689387" y="4135200"/>
            <a:ext cx="3077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ZoneTexte 41">
            <a:extLst>
              <a:ext uri="{FF2B5EF4-FFF2-40B4-BE49-F238E27FC236}">
                <a16:creationId xmlns:a16="http://schemas.microsoft.com/office/drawing/2014/main" id="{01A2969B-0B80-F443-B82A-DE751681F986}"/>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Exemple de résultat</a:t>
            </a:r>
            <a:endParaRPr lang="fr-FR" sz="3200"/>
          </a:p>
        </p:txBody>
      </p:sp>
      <p:sp>
        <p:nvSpPr>
          <p:cNvPr id="4" name="ZoneTexte 3">
            <a:extLst>
              <a:ext uri="{FF2B5EF4-FFF2-40B4-BE49-F238E27FC236}">
                <a16:creationId xmlns:a16="http://schemas.microsoft.com/office/drawing/2014/main" id="{23A2E642-58C7-0642-3BCF-7F1BFE89EE2F}"/>
              </a:ext>
            </a:extLst>
          </p:cNvPr>
          <p:cNvSpPr txBox="1"/>
          <p:nvPr/>
        </p:nvSpPr>
        <p:spPr>
          <a:xfrm>
            <a:off x="705" y="6454780"/>
            <a:ext cx="12192371" cy="307777"/>
          </a:xfrm>
          <a:prstGeom prst="rect">
            <a:avLst/>
          </a:prstGeom>
          <a:noFill/>
        </p:spPr>
        <p:txBody>
          <a:bodyPr wrap="square" lIns="91440" tIns="45720" rIns="91440" bIns="45720" anchor="t">
            <a:spAutoFit/>
          </a:bodyPr>
          <a:lstStyle/>
          <a:p>
            <a:pPr algn="ctr"/>
            <a:r>
              <a:rPr lang="fr-FR" sz="1400" i="1"/>
              <a:t>📅Evènements  ✍️Contenus ⚙️Structuration de Communauté</a:t>
            </a:r>
          </a:p>
        </p:txBody>
      </p:sp>
    </p:spTree>
    <p:extLst>
      <p:ext uri="{BB962C8B-B14F-4D97-AF65-F5344CB8AC3E}">
        <p14:creationId xmlns:p14="http://schemas.microsoft.com/office/powerpoint/2010/main" val="316825222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BD3A6710-B074-F715-3AF8-A48FD0326BB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Déroulement</a:t>
            </a:r>
            <a:endParaRPr lang="fr-FR" sz="3200"/>
          </a:p>
        </p:txBody>
      </p:sp>
      <p:sp>
        <p:nvSpPr>
          <p:cNvPr id="18" name="Flèche : droite 17">
            <a:extLst>
              <a:ext uri="{FF2B5EF4-FFF2-40B4-BE49-F238E27FC236}">
                <a16:creationId xmlns:a16="http://schemas.microsoft.com/office/drawing/2014/main" id="{D44EE3DA-1807-730E-822E-CC4D953A711D}"/>
              </a:ext>
            </a:extLst>
          </p:cNvPr>
          <p:cNvSpPr/>
          <p:nvPr/>
        </p:nvSpPr>
        <p:spPr>
          <a:xfrm>
            <a:off x="220602" y="602142"/>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9" name="Tableau 18">
            <a:extLst>
              <a:ext uri="{FF2B5EF4-FFF2-40B4-BE49-F238E27FC236}">
                <a16:creationId xmlns:a16="http://schemas.microsoft.com/office/drawing/2014/main" id="{4B51B29F-E6C8-6BE3-5D56-1F7C7EC71947}"/>
              </a:ext>
            </a:extLst>
          </p:cNvPr>
          <p:cNvGraphicFramePr>
            <a:graphicFrameLocks/>
          </p:cNvGraphicFramePr>
          <p:nvPr>
            <p:extLst>
              <p:ext uri="{D42A27DB-BD31-4B8C-83A1-F6EECF244321}">
                <p14:modId xmlns:p14="http://schemas.microsoft.com/office/powerpoint/2010/main" val="369558355"/>
              </p:ext>
            </p:extLst>
          </p:nvPr>
        </p:nvGraphicFramePr>
        <p:xfrm>
          <a:off x="220600" y="1143894"/>
          <a:ext cx="10421855" cy="4974222"/>
        </p:xfrm>
        <a:graphic>
          <a:graphicData uri="http://schemas.openxmlformats.org/drawingml/2006/table">
            <a:tbl>
              <a:tblPr firstRow="1" bandRow="1">
                <a:tableStyleId>{5C22544A-7EE6-4342-B048-85BDC9FD1C3A}</a:tableStyleId>
              </a:tblPr>
              <a:tblGrid>
                <a:gridCol w="2549233">
                  <a:extLst>
                    <a:ext uri="{9D8B030D-6E8A-4147-A177-3AD203B41FA5}">
                      <a16:colId xmlns:a16="http://schemas.microsoft.com/office/drawing/2014/main" val="1302591909"/>
                    </a:ext>
                  </a:extLst>
                </a:gridCol>
                <a:gridCol w="5600881">
                  <a:extLst>
                    <a:ext uri="{9D8B030D-6E8A-4147-A177-3AD203B41FA5}">
                      <a16:colId xmlns:a16="http://schemas.microsoft.com/office/drawing/2014/main" val="1572267126"/>
                    </a:ext>
                  </a:extLst>
                </a:gridCol>
                <a:gridCol w="2271741">
                  <a:extLst>
                    <a:ext uri="{9D8B030D-6E8A-4147-A177-3AD203B41FA5}">
                      <a16:colId xmlns:a16="http://schemas.microsoft.com/office/drawing/2014/main" val="4222483745"/>
                    </a:ext>
                  </a:extLst>
                </a:gridCol>
              </a:tblGrid>
              <a:tr h="828942">
                <a:tc>
                  <a:txBody>
                    <a:bodyPr/>
                    <a:lstStyle/>
                    <a:p>
                      <a:r>
                        <a:rPr lang="fr-FR" sz="1400"/>
                        <a:t>Ouverture : </a:t>
                      </a:r>
                    </a:p>
                    <a:p>
                      <a:r>
                        <a:rPr lang="fr-FR" sz="1400"/>
                        <a:t>Accueil, Intro, </a:t>
                      </a:r>
                      <a:r>
                        <a:rPr lang="fr-FR" sz="1400" err="1"/>
                        <a:t>Icebreaker</a:t>
                      </a:r>
                      <a:r>
                        <a:rPr lang="fr-FR" sz="1400"/>
                        <a:t>…</a:t>
                      </a:r>
                    </a:p>
                  </a:txBody>
                  <a:tcPr/>
                </a:tc>
                <a:tc>
                  <a:txBody>
                    <a:bodyPr/>
                    <a:lstStyle/>
                    <a:p>
                      <a:pPr algn="ctr"/>
                      <a:r>
                        <a:rPr lang="fr-FR" sz="1400"/>
                        <a:t>Déroulement</a:t>
                      </a:r>
                    </a:p>
                    <a:p>
                      <a:pPr algn="ctr"/>
                      <a:r>
                        <a:rPr lang="fr-FR" sz="1400"/>
                        <a:t>Règles du jeu, Narratif</a:t>
                      </a:r>
                    </a:p>
                  </a:txBody>
                  <a:tcPr/>
                </a:tc>
                <a:tc>
                  <a:txBody>
                    <a:bodyPr/>
                    <a:lstStyle/>
                    <a:p>
                      <a:r>
                        <a:rPr lang="fr-FR" sz="1400"/>
                        <a:t>Clôture :</a:t>
                      </a:r>
                    </a:p>
                    <a:p>
                      <a:r>
                        <a:rPr lang="fr-FR" sz="1400"/>
                        <a:t>Debriefing, Remerciements…</a:t>
                      </a:r>
                    </a:p>
                  </a:txBody>
                  <a:tcPr/>
                </a:tc>
                <a:extLst>
                  <a:ext uri="{0D108BD9-81ED-4DB2-BD59-A6C34878D82A}">
                    <a16:rowId xmlns:a16="http://schemas.microsoft.com/office/drawing/2014/main" val="1724558119"/>
                  </a:ext>
                </a:extLst>
              </a:tr>
              <a:tr h="3521451">
                <a:tc>
                  <a:txBody>
                    <a:bodyPr/>
                    <a:lstStyle/>
                    <a:p>
                      <a:r>
                        <a:rPr lang="fr-FR" sz="1400"/>
                        <a:t>5 min</a:t>
                      </a:r>
                    </a:p>
                    <a:p>
                      <a:endParaRPr lang="fr-FR" sz="1400"/>
                    </a:p>
                    <a:p>
                      <a:r>
                        <a:rPr lang="fr-FR" sz="1400" b="1">
                          <a:solidFill>
                            <a:srgbClr val="ED7D31"/>
                          </a:solidFill>
                        </a:rPr>
                        <a:t>Phase : Connaissance du model </a:t>
                      </a:r>
                    </a:p>
                    <a:p>
                      <a:pPr marL="285750" indent="-285750">
                        <a:buFont typeface="Arial" panose="020B0604020202020204" pitchFamily="34" charset="0"/>
                        <a:buChar char="•"/>
                      </a:pPr>
                      <a:r>
                        <a:rPr lang="fr-FR" sz="1400"/>
                        <a:t>Les participants sont répartis par groupe de 5/10, avec un facilitateur</a:t>
                      </a:r>
                    </a:p>
                    <a:p>
                      <a:pPr marL="0" indent="0">
                        <a:buFont typeface="Arial" panose="020B0604020202020204" pitchFamily="34" charset="0"/>
                        <a:buNone/>
                      </a:pPr>
                      <a:endParaRPr lang="fr-FR" sz="140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a:t>Le facilitateur montre le</a:t>
                      </a:r>
                      <a:r>
                        <a:rPr lang="fr-FR" sz="1400">
                          <a:hlinkClick r:id="rId2" action="ppaction://hlinksldjump"/>
                        </a:rPr>
                        <a:t> CCC-model</a:t>
                      </a:r>
                      <a:r>
                        <a:rPr lang="fr-FR" sz="1400"/>
                        <a:t> au groupe</a:t>
                      </a:r>
                    </a:p>
                    <a:p>
                      <a:pPr marL="285750" indent="-285750">
                        <a:buFont typeface="Arial" panose="020B0604020202020204" pitchFamily="34" charset="0"/>
                        <a:buChar char="•"/>
                      </a:pPr>
                      <a:endParaRPr lang="fr-FR" sz="1400"/>
                    </a:p>
                    <a:p>
                      <a:pPr marL="285750" indent="-285750">
                        <a:buFont typeface="Arial" panose="020B0604020202020204" pitchFamily="34" charset="0"/>
                        <a:buChar char="•"/>
                      </a:pPr>
                      <a:endParaRPr lang="fr-FR" sz="1400"/>
                    </a:p>
                  </a:txBody>
                  <a:tcPr/>
                </a:tc>
                <a:tc>
                  <a:txBody>
                    <a:bodyPr/>
                    <a:lstStyle/>
                    <a:p>
                      <a:r>
                        <a:rPr lang="fr-FR" sz="1400" dirty="0"/>
                        <a:t>20 min (5 minutes par sujet)</a:t>
                      </a:r>
                    </a:p>
                    <a:p>
                      <a:endParaRPr lang="fr-FR"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solidFill>
                            <a:srgbClr val="ED7D31"/>
                          </a:solidFill>
                        </a:rPr>
                        <a:t>Phase : Collecte du sujets</a:t>
                      </a:r>
                    </a:p>
                    <a:p>
                      <a:pPr marL="285750" indent="-285750">
                        <a:buFont typeface="Arial" panose="020B0604020202020204" pitchFamily="34" charset="0"/>
                        <a:buChar char="•"/>
                      </a:pPr>
                      <a:r>
                        <a:rPr lang="fr-FR" sz="1400" dirty="0"/>
                        <a:t>Les participants choisissent un </a:t>
                      </a:r>
                      <a:r>
                        <a:rPr lang="fr-FR" sz="1400" dirty="0">
                          <a:solidFill>
                            <a:schemeClr val="tx1"/>
                          </a:solidFill>
                        </a:rPr>
                        <a:t>sujet parmi les sujets existants de la communauté. </a:t>
                      </a:r>
                      <a:r>
                        <a:rPr lang="fr-FR" sz="1400" b="1" dirty="0">
                          <a:solidFill>
                            <a:schemeClr val="tx1"/>
                          </a:solidFill>
                        </a:rPr>
                        <a:t>Ex : </a:t>
                      </a:r>
                      <a:r>
                        <a:rPr lang="fr-FR" sz="1400" dirty="0">
                          <a:solidFill>
                            <a:schemeClr val="tx1"/>
                          </a:solidFill>
                        </a:rPr>
                        <a:t>Sur les sujets connus </a:t>
                      </a:r>
                      <a:r>
                        <a:rPr lang="fr-FR" sz="1400" dirty="0"/>
                        <a:t>de tous, les participants priorisent le sujet </a:t>
                      </a:r>
                      <a:r>
                        <a:rPr lang="fr-FR" sz="1400" i="1" dirty="0"/>
                        <a:t>Ludo-pédagogie</a:t>
                      </a:r>
                      <a:endParaRPr lang="fr-FR" sz="1400" dirty="0"/>
                    </a:p>
                    <a:p>
                      <a:pPr marL="0" marR="0" lvl="0" indent="0" algn="l">
                        <a:lnSpc>
                          <a:spcPct val="100000"/>
                        </a:lnSpc>
                        <a:spcBef>
                          <a:spcPts val="0"/>
                        </a:spcBef>
                        <a:spcAft>
                          <a:spcPts val="0"/>
                        </a:spcAft>
                        <a:buNone/>
                      </a:pPr>
                      <a:endParaRPr lang="fr-FR" sz="1400" b="1" i="0" u="none" strike="noStrike" noProof="0" dirty="0">
                        <a:solidFill>
                          <a:srgbClr val="ED7D31"/>
                        </a:solidFill>
                        <a:latin typeface="Calibri"/>
                      </a:endParaRPr>
                    </a:p>
                    <a:p>
                      <a:pPr marL="0" marR="0" lvl="0" indent="0" algn="l">
                        <a:lnSpc>
                          <a:spcPct val="100000"/>
                        </a:lnSpc>
                        <a:spcBef>
                          <a:spcPts val="0"/>
                        </a:spcBef>
                        <a:spcAft>
                          <a:spcPts val="0"/>
                        </a:spcAft>
                        <a:buNone/>
                      </a:pPr>
                      <a:r>
                        <a:rPr lang="fr-FR" sz="1400" b="1" i="0" u="none" strike="noStrike" noProof="0" dirty="0">
                          <a:solidFill>
                            <a:srgbClr val="ED7D31"/>
                          </a:solidFill>
                          <a:latin typeface="Calibri"/>
                        </a:rPr>
                        <a:t>Phase : Placement des sujets</a:t>
                      </a:r>
                      <a:endParaRPr lang="en-US" sz="1400" b="0" i="0" u="none" strike="noStrike" noProof="0" dirty="0">
                        <a:latin typeface="Calibri"/>
                      </a:endParaRPr>
                    </a:p>
                    <a:p>
                      <a:pPr marL="285750" indent="-285750">
                        <a:buFont typeface="Arial" panose="020B0604020202020204" pitchFamily="34" charset="0"/>
                        <a:buChar char="•"/>
                      </a:pPr>
                      <a:r>
                        <a:rPr lang="fr-FR" sz="1400" dirty="0"/>
                        <a:t>Les participants s’accordent ensuite pour placer le sujet sur sa phase actuelle (Peut être couvert par l’atelier CCC-Flow). </a:t>
                      </a:r>
                      <a:r>
                        <a:rPr lang="fr-FR" sz="1400" b="1" dirty="0">
                          <a:solidFill>
                            <a:schemeClr val="tx1"/>
                          </a:solidFill>
                        </a:rPr>
                        <a:t>Ex : </a:t>
                      </a:r>
                      <a:r>
                        <a:rPr lang="fr-FR" sz="1400" b="0" dirty="0">
                          <a:solidFill>
                            <a:schemeClr val="tx1"/>
                          </a:solidFill>
                        </a:rPr>
                        <a:t>Le sujet </a:t>
                      </a:r>
                      <a:r>
                        <a:rPr lang="fr-FR" sz="1400" i="1" dirty="0"/>
                        <a:t>Ludo-pédagogie </a:t>
                      </a:r>
                      <a:r>
                        <a:rPr lang="fr-FR" sz="1400" i="0" dirty="0"/>
                        <a:t>est placé sur la phase </a:t>
                      </a:r>
                      <a:r>
                        <a:rPr lang="fr-FR" sz="1400" i="1" dirty="0"/>
                        <a:t>Confirmation de réussites</a:t>
                      </a:r>
                      <a:r>
                        <a:rPr lang="fr-FR" sz="1400" i="0" dirty="0"/>
                        <a:t>.</a:t>
                      </a:r>
                    </a:p>
                    <a:p>
                      <a:pPr marL="285750" indent="-285750">
                        <a:buFont typeface="Arial" panose="020B0604020202020204" pitchFamily="34" charset="0"/>
                        <a:buChar char="•"/>
                      </a:pPr>
                      <a:r>
                        <a:rPr lang="fr-FR" sz="1400" i="0" dirty="0"/>
                        <a:t>Les participants définissent la phase qu’on souhaite atteindre avec le sujet (peut être couvert par l’atelier CCC-Goals)</a:t>
                      </a:r>
                    </a:p>
                    <a:p>
                      <a:pPr marL="285750" indent="-285750">
                        <a:buFont typeface="Arial" panose="020B0604020202020204" pitchFamily="34" charset="0"/>
                        <a:buChar char="•"/>
                      </a:pPr>
                      <a:endParaRPr lang="fr-FR" sz="1400" i="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sz="1400" b="1" i="0" u="none" strike="noStrike" noProof="0" dirty="0">
                          <a:solidFill>
                            <a:srgbClr val="ED7D31"/>
                          </a:solidFill>
                          <a:latin typeface="+mn-lt"/>
                        </a:rPr>
                        <a:t>Phase : Prévision d’activités sur le sujet par phase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dirty="0"/>
                        <a:t>Les activités à prévoir sont déterminées par les placements. </a:t>
                      </a:r>
                      <a:r>
                        <a:rPr lang="fr-FR" sz="1400" b="1" dirty="0"/>
                        <a:t>Ex : </a:t>
                      </a:r>
                      <a:r>
                        <a:rPr lang="fr-FR" sz="1400" b="0" dirty="0">
                          <a:solidFill>
                            <a:schemeClr val="tx1"/>
                          </a:solidFill>
                        </a:rPr>
                        <a:t>Pour le sujet </a:t>
                      </a:r>
                      <a:r>
                        <a:rPr lang="fr-FR" sz="1400" i="1" dirty="0"/>
                        <a:t>Ludo-pédagogie </a:t>
                      </a:r>
                      <a:r>
                        <a:rPr lang="fr-FR" sz="1400" dirty="0"/>
                        <a:t>p</a:t>
                      </a:r>
                      <a:r>
                        <a:rPr lang="fr-FR" sz="1400" i="0" dirty="0"/>
                        <a:t>lacé sur </a:t>
                      </a:r>
                      <a:r>
                        <a:rPr lang="fr-FR" sz="1400" i="1" dirty="0"/>
                        <a:t>Confirmation de réussites</a:t>
                      </a:r>
                      <a:r>
                        <a:rPr lang="fr-FR" sz="1400" dirty="0"/>
                        <a:t> l’</a:t>
                      </a:r>
                      <a:r>
                        <a:rPr lang="fr-FR" sz="1400" b="0" dirty="0"/>
                        <a:t>activité </a:t>
                      </a:r>
                      <a:r>
                        <a:rPr lang="fr-FR" sz="1400" i="1" dirty="0"/>
                        <a:t>Témoignages et retours d’expériences locaux</a:t>
                      </a:r>
                      <a:r>
                        <a:rPr lang="fr-FR" sz="1400" dirty="0"/>
                        <a:t> </a:t>
                      </a:r>
                      <a:r>
                        <a:rPr lang="fr-FR" sz="1400" b="0" dirty="0"/>
                        <a:t>a été retenue dans le </a:t>
                      </a:r>
                      <a:r>
                        <a:rPr lang="fr-FR" sz="1400" b="0" dirty="0">
                          <a:hlinkClick r:id="rId3" action="ppaction://hlinksldjump"/>
                        </a:rPr>
                        <a:t>tableau-joint</a:t>
                      </a:r>
                      <a:r>
                        <a:rPr lang="fr-FR" sz="1400" b="0" dirty="0"/>
                        <a:t> des activités suggérées par phase.</a:t>
                      </a:r>
                      <a:endParaRPr lang="fr-FR" sz="1400" i="0" dirty="0"/>
                    </a:p>
                  </a:txBody>
                  <a:tcPr/>
                </a:tc>
                <a:tc>
                  <a:txBody>
                    <a:bodyPr/>
                    <a:lstStyle/>
                    <a:p>
                      <a:r>
                        <a:rPr lang="fr-FR" sz="1400" dirty="0"/>
                        <a:t>5 min</a:t>
                      </a:r>
                    </a:p>
                    <a:p>
                      <a:endParaRPr lang="fr-FR"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a:solidFill>
                            <a:srgbClr val="ED7D31"/>
                          </a:solidFill>
                        </a:rPr>
                        <a:t>Phase : Restitution</a:t>
                      </a:r>
                    </a:p>
                    <a:p>
                      <a:pPr marL="285750" marR="0" lvl="0" indent="-285750" algn="l" rtl="0" eaLnBrk="1" fontAlgn="auto" latinLnBrk="0" hangingPunct="1">
                        <a:lnSpc>
                          <a:spcPct val="100000"/>
                        </a:lnSpc>
                        <a:spcBef>
                          <a:spcPts val="0"/>
                        </a:spcBef>
                        <a:spcAft>
                          <a:spcPts val="0"/>
                        </a:spcAft>
                        <a:buClrTx/>
                        <a:buSzTx/>
                        <a:buFont typeface="Arial"/>
                        <a:buChar char="•"/>
                      </a:pPr>
                      <a:r>
                        <a:rPr lang="fr-FR" sz="1400" dirty="0"/>
                        <a:t>Les participants donnent leur appréciation de l'atelier</a:t>
                      </a:r>
                    </a:p>
                    <a:p>
                      <a:pPr marL="285750" marR="0" lvl="0" indent="-285750" algn="l">
                        <a:lnSpc>
                          <a:spcPct val="100000"/>
                        </a:lnSpc>
                        <a:spcBef>
                          <a:spcPts val="0"/>
                        </a:spcBef>
                        <a:spcAft>
                          <a:spcPts val="0"/>
                        </a:spcAft>
                        <a:buClrTx/>
                        <a:buSzTx/>
                        <a:buFont typeface="Arial"/>
                        <a:buChar char="•"/>
                      </a:pPr>
                      <a:r>
                        <a:rPr lang="fr-FR" sz="1400" dirty="0"/>
                        <a:t>Ensemble, le groupe note les</a:t>
                      </a:r>
                      <a:r>
                        <a:rPr lang="fr-FR" sz="1400" i="1" dirty="0"/>
                        <a:t> </a:t>
                      </a:r>
                      <a:r>
                        <a:rPr lang="fr-FR" sz="1400" i="1" dirty="0" err="1"/>
                        <a:t>next</a:t>
                      </a:r>
                      <a:r>
                        <a:rPr lang="fr-FR" sz="1400" i="1" dirty="0"/>
                        <a:t> </a:t>
                      </a:r>
                      <a:r>
                        <a:rPr lang="fr-FR" sz="1400" i="1" dirty="0" err="1"/>
                        <a:t>steps</a:t>
                      </a:r>
                      <a:endParaRPr lang="fr-FR" sz="1400" i="1" dirty="0"/>
                    </a:p>
                    <a:p>
                      <a:pPr marL="285750" marR="0" lvl="0" indent="-285750" algn="l">
                        <a:lnSpc>
                          <a:spcPct val="100000"/>
                        </a:lnSpc>
                        <a:spcBef>
                          <a:spcPts val="0"/>
                        </a:spcBef>
                        <a:spcAft>
                          <a:spcPts val="0"/>
                        </a:spcAft>
                        <a:buClrTx/>
                        <a:buSzTx/>
                        <a:buFont typeface="Arial"/>
                        <a:buChar char="•"/>
                      </a:pPr>
                      <a:r>
                        <a:rPr lang="fr-FR" sz="1400" dirty="0"/>
                        <a:t>Suite recommandée avec le CCC-Décision</a:t>
                      </a:r>
                    </a:p>
                    <a:p>
                      <a:pPr marL="0" marR="0" lvl="0" indent="0" algn="l">
                        <a:lnSpc>
                          <a:spcPct val="100000"/>
                        </a:lnSpc>
                        <a:spcBef>
                          <a:spcPts val="0"/>
                        </a:spcBef>
                        <a:spcAft>
                          <a:spcPts val="0"/>
                        </a:spcAft>
                        <a:buClrTx/>
                        <a:buSzTx/>
                        <a:buFontTx/>
                        <a:buNone/>
                      </a:pPr>
                      <a:endParaRPr lang="fr-FR" sz="1400" dirty="0"/>
                    </a:p>
                  </a:txBody>
                  <a:tcPr/>
                </a:tc>
                <a:extLst>
                  <a:ext uri="{0D108BD9-81ED-4DB2-BD59-A6C34878D82A}">
                    <a16:rowId xmlns:a16="http://schemas.microsoft.com/office/drawing/2014/main" val="215570386"/>
                  </a:ext>
                </a:extLst>
              </a:tr>
            </a:tbl>
          </a:graphicData>
        </a:graphic>
      </p:graphicFrame>
      <p:sp>
        <p:nvSpPr>
          <p:cNvPr id="20" name="Espace réservé du contenu 2">
            <a:extLst>
              <a:ext uri="{FF2B5EF4-FFF2-40B4-BE49-F238E27FC236}">
                <a16:creationId xmlns:a16="http://schemas.microsoft.com/office/drawing/2014/main" id="{6C52C370-F85E-3D60-6E05-967F9E36C738}"/>
              </a:ext>
            </a:extLst>
          </p:cNvPr>
          <p:cNvSpPr txBox="1">
            <a:spLocks/>
          </p:cNvSpPr>
          <p:nvPr/>
        </p:nvSpPr>
        <p:spPr>
          <a:xfrm>
            <a:off x="10642455" y="2967094"/>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a:solidFill>
                  <a:srgbClr val="000000"/>
                </a:solidFill>
                <a:cs typeface="Calibri"/>
              </a:rPr>
              <a:t>Total :</a:t>
            </a:r>
          </a:p>
          <a:p>
            <a:pPr marL="0" indent="0" algn="ctr">
              <a:buNone/>
            </a:pPr>
            <a:r>
              <a:rPr lang="fr-FR" sz="2000" b="1">
                <a:solidFill>
                  <a:srgbClr val="000000"/>
                </a:solidFill>
                <a:cs typeface="Calibri"/>
              </a:rPr>
              <a:t>30 min </a:t>
            </a:r>
          </a:p>
        </p:txBody>
      </p:sp>
    </p:spTree>
    <p:extLst>
      <p:ext uri="{BB962C8B-B14F-4D97-AF65-F5344CB8AC3E}">
        <p14:creationId xmlns:p14="http://schemas.microsoft.com/office/powerpoint/2010/main" val="35245803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40116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1980368"/>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Savoir construire un parcours d’activités suivant le modèle CCC</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40116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1980368"/>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Livrable : Liste des activités à effectuer dans la Communauté pour un sujet donné</a:t>
            </a:r>
          </a:p>
          <a:p>
            <a:pPr marL="0" indent="0">
              <a:buFont typeface="Arial" panose="020B0604020202020204" pitchFamily="34" charset="0"/>
              <a:buNone/>
            </a:pPr>
            <a:r>
              <a:rPr lang="fr-FR" sz="1200" dirty="0"/>
              <a:t>Livrable bonus : Planning des activités à effectuer dans la Communauté pour un sujet donné</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40116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1980368"/>
            <a:ext cx="2832018" cy="1690823"/>
          </a:xfrm>
          <a:prstGeom prst="rect">
            <a:avLst/>
          </a:prstGeom>
          <a:solidFill>
            <a:schemeClr val="bg1">
              <a:lumMod val="95000"/>
            </a:schemeClr>
          </a:solidFill>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Nombre de participants min-max : 1 à 10 participants. </a:t>
            </a:r>
          </a:p>
          <a:p>
            <a:pPr marL="0" indent="0">
              <a:buNone/>
            </a:pPr>
            <a:r>
              <a:rPr lang="fr-FR" sz="1200" dirty="0"/>
              <a:t>Profil des participants : Animateurs et décisionnaires de communautés d’entreprise</a:t>
            </a:r>
          </a:p>
          <a:p>
            <a:pPr marL="0" indent="0">
              <a:buNone/>
            </a:pPr>
            <a:r>
              <a:rPr lang="fr-FR" sz="1200" dirty="0" err="1"/>
              <a:t>Pré-requis</a:t>
            </a:r>
            <a:r>
              <a:rPr lang="fr-FR" sz="1200" dirty="0"/>
              <a:t> sur les participants (compétences, niveau de connaissance mutuelle, niveau d’adhésion …) : Doivent être en capacité d’imaginer des activités, et de comprendre le CCC-Model</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40116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1980368"/>
            <a:ext cx="2832018" cy="1690823"/>
          </a:xfrm>
          <a:prstGeom prst="rect">
            <a:avLst/>
          </a:prstGeom>
          <a:solidFill>
            <a:schemeClr val="bg1"/>
          </a:solidFill>
          <a:ln>
            <a:solidFill>
              <a:schemeClr val="tx1"/>
            </a:solidFill>
          </a:ln>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La Communauté XYZ a bien cadré un sujet à avancer et connaît le niveau de ses membres, elle doit maintenant déterminer la marche à suivre pour atteindre ses objectifs.</a:t>
            </a:r>
          </a:p>
          <a:p>
            <a:pPr marL="0" indent="0">
              <a:buNone/>
            </a:pPr>
            <a:r>
              <a:rPr lang="fr-FR" sz="1200" dirty="0"/>
              <a:t>Elle utilise alors l’atelier CCC-</a:t>
            </a:r>
            <a:r>
              <a:rPr lang="fr-FR" sz="1200" dirty="0" err="1"/>
              <a:t>Decision</a:t>
            </a:r>
            <a:r>
              <a:rPr lang="fr-FR" sz="1200" dirty="0"/>
              <a:t> pour </a:t>
            </a:r>
            <a:r>
              <a:rPr lang="fr-FR" sz="1200" dirty="0" err="1"/>
              <a:t>co-construire</a:t>
            </a:r>
            <a:r>
              <a:rPr lang="fr-FR" sz="1200" dirty="0"/>
              <a:t> un parcours d’activité qui fera évoluer progressivement les membres.</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383600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415213"/>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fr-FR" sz="1200" dirty="0"/>
              <a:t>Conception détaillée des événements </a:t>
            </a:r>
          </a:p>
          <a:p>
            <a:pPr>
              <a:buFontTx/>
              <a:buChar char="-"/>
            </a:pPr>
            <a:r>
              <a:rPr lang="fr-FR" sz="1200" dirty="0"/>
              <a:t>Activités de la Communauté n’étant pas à propos de ses sujets de travail (outillage, vie de Communauté, etc.)</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383600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415213"/>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Durée min-max : 30min à 1h)</a:t>
            </a:r>
          </a:p>
          <a:p>
            <a:pPr marL="0" indent="0">
              <a:buFont typeface="Arial" panose="020B0604020202020204" pitchFamily="34" charset="0"/>
              <a:buNone/>
            </a:pPr>
            <a:r>
              <a:rPr lang="fr-FR" sz="1200" dirty="0"/>
              <a:t>Matériel nécessaire : Mur de management visuel (physique ou distanciel), référentiels d’activités CCC (pour aide)</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383600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41521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 Autres ateliers CCC</a:t>
            </a:r>
          </a:p>
          <a:p>
            <a:pPr marL="0" indent="0">
              <a:buNone/>
            </a:pPr>
            <a:r>
              <a:rPr lang="fr-FR" sz="1200" dirty="0"/>
              <a:t>- Workshop Design Cards pour concevoir des événements en particulier</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3836007"/>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415213"/>
            <a:ext cx="2832018" cy="169082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Que devons nous faire pour atteindre nos objectifs ? Comment prendre le temps de bien se projeter et ne pas se jeter tout de suite dans une activité sans idée de comment enchaîner ?</a:t>
            </a:r>
          </a:p>
          <a:p>
            <a:pPr marL="0" indent="0">
              <a:buNone/>
            </a:pPr>
            <a:r>
              <a:rPr lang="fr-FR" sz="1200" dirty="0"/>
              <a:t>L’atelier CCC-</a:t>
            </a:r>
            <a:r>
              <a:rPr lang="fr-FR" sz="1200" dirty="0" err="1"/>
              <a:t>Decision</a:t>
            </a:r>
            <a:r>
              <a:rPr lang="fr-FR" sz="1200" dirty="0"/>
              <a:t> a pour but d’aider à </a:t>
            </a:r>
            <a:r>
              <a:rPr lang="fr-FR" sz="1200" dirty="0" err="1"/>
              <a:t>co-construire</a:t>
            </a:r>
            <a:r>
              <a:rPr lang="fr-FR" sz="1200" dirty="0"/>
              <a:t> un parcours apprenant, du point de départ jusqu’au but.</a:t>
            </a:r>
          </a:p>
        </p:txBody>
      </p:sp>
      <p:sp>
        <p:nvSpPr>
          <p:cNvPr id="39" name="ZoneTexte 38">
            <a:extLst>
              <a:ext uri="{FF2B5EF4-FFF2-40B4-BE49-F238E27FC236}">
                <a16:creationId xmlns:a16="http://schemas.microsoft.com/office/drawing/2014/main" id="{EA9CEF71-4F80-8D8B-8C7E-77B195056A45}"/>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Organisation</a:t>
            </a:r>
          </a:p>
        </p:txBody>
      </p:sp>
      <p:sp>
        <p:nvSpPr>
          <p:cNvPr id="47" name="ZoneTexte 46">
            <a:extLst>
              <a:ext uri="{FF2B5EF4-FFF2-40B4-BE49-F238E27FC236}">
                <a16:creationId xmlns:a16="http://schemas.microsoft.com/office/drawing/2014/main" id="{77368814-ECA2-E686-2EF2-F93AA01FAB48}"/>
              </a:ext>
            </a:extLst>
          </p:cNvPr>
          <p:cNvSpPr txBox="1"/>
          <p:nvPr/>
        </p:nvSpPr>
        <p:spPr>
          <a:xfrm>
            <a:off x="334775" y="6335957"/>
            <a:ext cx="11602365" cy="369332"/>
          </a:xfrm>
          <a:prstGeom prst="rect">
            <a:avLst/>
          </a:prstGeom>
          <a:noFill/>
        </p:spPr>
        <p:txBody>
          <a:bodyPr wrap="square">
            <a:spAutoFit/>
          </a:bodyPr>
          <a:lstStyle/>
          <a:p>
            <a:pPr algn="ctr"/>
            <a:r>
              <a:rPr lang="fr-FR" sz="1800" b="1" i="1">
                <a:ea typeface="+mn-lt"/>
                <a:cs typeface="+mn-lt"/>
              </a:rPr>
              <a:t>Pour vérifier que cela correspond bien à nos besoins et capacités, et pouvoir organiser facilement la session</a:t>
            </a:r>
            <a:endParaRPr lang="fr-FR" sz="1800">
              <a:ea typeface="Calibri"/>
              <a:cs typeface="Calibri"/>
            </a:endParaRPr>
          </a:p>
        </p:txBody>
      </p:sp>
    </p:spTree>
    <p:extLst>
      <p:ext uri="{BB962C8B-B14F-4D97-AF65-F5344CB8AC3E}">
        <p14:creationId xmlns:p14="http://schemas.microsoft.com/office/powerpoint/2010/main" val="32276172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1511743"/>
            <a:ext cx="2404138" cy="3520758"/>
          </a:xfrm>
        </p:spPr>
        <p:txBody>
          <a:bodyPr vert="horz" lIns="91440" tIns="45720" rIns="91440" bIns="45720" rtlCol="0" anchor="t">
            <a:noAutofit/>
          </a:bodyPr>
          <a:lstStyle/>
          <a:p>
            <a:r>
              <a:rPr lang="fr-FR" sz="1400">
                <a:cs typeface="Calibri"/>
              </a:rPr>
              <a:t>La posture du facilitateur par défaut est une posture basse, c’est-à-dire qu'il ne se place pas en formateur, il restitue au mieux les idées et les écrits des participants.</a:t>
            </a:r>
            <a:endParaRPr lang="fr-FR"/>
          </a:p>
          <a:p>
            <a:r>
              <a:rPr lang="fr-FR" sz="1400">
                <a:cs typeface="Calibri"/>
              </a:rPr>
              <a:t>Si le facilitateur est concerné, il peut alors jouer les 2 rôles.</a:t>
            </a:r>
            <a:endParaRPr lang="fr-F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999627"/>
            <a:ext cx="2412076" cy="503237"/>
          </a:xfrm>
        </p:spPr>
        <p:txBody>
          <a:bodyPr>
            <a:normAutofit/>
          </a:bodyPr>
          <a:lstStyle/>
          <a:p>
            <a:r>
              <a:rPr lang="fr-FR" sz="140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1511425"/>
            <a:ext cx="5247090" cy="3520758"/>
          </a:xfrm>
        </p:spPr>
        <p:txBody>
          <a:bodyPr vert="horz" lIns="91440" tIns="45720" rIns="91440" bIns="45720" rtlCol="0" anchor="t">
            <a:noAutofit/>
          </a:bodyPr>
          <a:lstStyle/>
          <a:p>
            <a:pPr marL="285750" indent="-285750">
              <a:buFont typeface="Arial" panose="020B0604020202020204" pitchFamily="34" charset="0"/>
              <a:buChar char="•"/>
            </a:pPr>
            <a:r>
              <a:rPr lang="fr-FR" sz="1400" dirty="0"/>
              <a:t>Le facilitateur met le CCC-Model à disposition des participants, il peut être imprimé et affiché, ou un peu plus écologique, projeté ou affiché sur un grand écran.</a:t>
            </a:r>
          </a:p>
          <a:p>
            <a:pPr marL="285750" indent="-285750">
              <a:buFont typeface="Arial" panose="020B0604020202020204" pitchFamily="34" charset="0"/>
              <a:buChar char="•"/>
            </a:pPr>
            <a:r>
              <a:rPr lang="fr-FR" sz="1400" dirty="0">
                <a:cs typeface="Calibri"/>
              </a:rPr>
              <a:t>Présenter les exemples (raconter l’histoire) permet de mieux faire s’imaginer un chemin cohérent par la suite</a:t>
            </a:r>
          </a:p>
          <a:p>
            <a:pPr marL="285750" indent="-285750">
              <a:buFont typeface="Arial" panose="020B0604020202020204" pitchFamily="34" charset="0"/>
              <a:buChar char="•"/>
            </a:pPr>
            <a:r>
              <a:rPr lang="fr-FR" sz="1400" dirty="0">
                <a:cs typeface="Calibri"/>
              </a:rPr>
              <a:t>Il n’est pas toujours facile d’imaginer un planning (difficile de connaître la vitesse d’avancement, etc.)</a:t>
            </a:r>
          </a:p>
          <a:p>
            <a:pPr marL="285750" indent="-285750">
              <a:buFont typeface="Arial" panose="020B0604020202020204" pitchFamily="34" charset="0"/>
              <a:buChar char="•"/>
            </a:pPr>
            <a:r>
              <a:rPr lang="fr-FR" sz="1400" dirty="0">
                <a:cs typeface="Calibri"/>
              </a:rPr>
              <a:t>L’exercice de se projeter peut être difficile voire mal vécu par des membres préférant une certaine forme de liberté de choix par rapport à celui d’un chemin prédéfini. Vous pouvez leur rappeler que la liberté de choix provient de celle de définir son chemin, et qu’il peut toujours être possible d’amender ce chemin au fur et à mesure qu’on le parcourt. Cela n’empêche pas de se donner une ligne directrice en session à un instant t au cas où on n’aurait pas les capacités de décider collégialement par la suite. </a:t>
            </a:r>
          </a:p>
          <a:p>
            <a:pPr marL="285750" indent="-285750">
              <a:buFont typeface="Arial" panose="020B0604020202020204" pitchFamily="34" charset="0"/>
              <a:buChar char="•"/>
            </a:pPr>
            <a:endParaRPr lang="fr-FR" sz="1400" dirty="0">
              <a:cs typeface="Calibri"/>
            </a:endParaRP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999309"/>
            <a:ext cx="5255029" cy="503237"/>
          </a:xfrm>
        </p:spPr>
        <p:txBody>
          <a:bodyPr>
            <a:normAutofit/>
          </a:bodyPr>
          <a:lstStyle/>
          <a:p>
            <a:r>
              <a:rPr lang="fr-FR" sz="140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1511425"/>
            <a:ext cx="2404138" cy="3520758"/>
          </a:xfrm>
        </p:spPr>
        <p:txBody>
          <a:bodyPr/>
          <a:lstStyle/>
          <a:p>
            <a:endParaRPr lang="fr-FR" sz="1400" dirty="0"/>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999309"/>
            <a:ext cx="2412076" cy="503237"/>
          </a:xfrm>
        </p:spPr>
        <p:txBody>
          <a:bodyPr>
            <a:normAutofit/>
          </a:bodyPr>
          <a:lstStyle/>
          <a:p>
            <a:r>
              <a:rPr lang="fr-FR" sz="1400"/>
              <a:t>🙋Debriefing</a:t>
            </a:r>
          </a:p>
        </p:txBody>
      </p:sp>
      <p:sp>
        <p:nvSpPr>
          <p:cNvPr id="10" name="ZoneTexte 9">
            <a:extLst>
              <a:ext uri="{FF2B5EF4-FFF2-40B4-BE49-F238E27FC236}">
                <a16:creationId xmlns:a16="http://schemas.microsoft.com/office/drawing/2014/main" id="{3A02B26F-36AA-FA5A-2C61-49B90AA09934}"/>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Animation</a:t>
            </a:r>
            <a:endParaRPr lang="fr-FR" sz="3200"/>
          </a:p>
        </p:txBody>
      </p:sp>
    </p:spTree>
    <p:extLst>
      <p:ext uri="{BB962C8B-B14F-4D97-AF65-F5344CB8AC3E}">
        <p14:creationId xmlns:p14="http://schemas.microsoft.com/office/powerpoint/2010/main" val="160954477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566822D7-BE59-42A3-8647-937CD139D65E}"/>
              </a:ext>
            </a:extLst>
          </p:cNvPr>
          <p:cNvGrpSpPr/>
          <p:nvPr/>
        </p:nvGrpSpPr>
        <p:grpSpPr>
          <a:xfrm>
            <a:off x="160924" y="5542935"/>
            <a:ext cx="1203228" cy="1160644"/>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2800595958"/>
              </p:ext>
            </p:extLst>
          </p:nvPr>
        </p:nvGraphicFramePr>
        <p:xfrm>
          <a:off x="6986736" y="1555782"/>
          <a:ext cx="4740676" cy="429650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Idées de variantes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r>
                        <a:rPr lang="fr-FR" sz="1100" dirty="0">
                          <a:solidFill>
                            <a:srgbClr val="000000"/>
                          </a:solidFill>
                          <a:cs typeface="Calibri"/>
                        </a:rPr>
                        <a:t>Variante qui prend en compte le fait de devoir répéter une même action </a:t>
                      </a:r>
                      <a:endParaRPr lang="fr-FR" sz="1100" dirty="0"/>
                    </a:p>
                  </a:txBody>
                  <a:tcPr/>
                </a:tc>
                <a:tc>
                  <a:txBody>
                    <a:bodyPr/>
                    <a:lstStyle/>
                    <a:p>
                      <a:r>
                        <a:rPr lang="fr-FR" sz="1100" dirty="0"/>
                        <a:t>Voir slide suivante</a:t>
                      </a:r>
                    </a:p>
                  </a:txBody>
                  <a:tcPr/>
                </a:tc>
                <a:extLst>
                  <a:ext uri="{0D108BD9-81ED-4DB2-BD59-A6C34878D82A}">
                    <a16:rowId xmlns:a16="http://schemas.microsoft.com/office/drawing/2014/main" val="4249539521"/>
                  </a:ext>
                </a:extLst>
              </a:tr>
              <a:tr h="396301">
                <a:tc>
                  <a:txBody>
                    <a:bodyPr/>
                    <a:lstStyle/>
                    <a:p>
                      <a:endParaRPr lang="fr-FR" sz="1100"/>
                    </a:p>
                  </a:txBody>
                  <a:tcPr/>
                </a:tc>
                <a:tc>
                  <a:txBody>
                    <a:bodyPr/>
                    <a:lstStyle/>
                    <a:p>
                      <a:endParaRPr lang="fr-FR" sz="1100" dirty="0"/>
                    </a:p>
                  </a:txBody>
                  <a:tcPr/>
                </a:tc>
                <a:extLst>
                  <a:ext uri="{0D108BD9-81ED-4DB2-BD59-A6C34878D82A}">
                    <a16:rowId xmlns:a16="http://schemas.microsoft.com/office/drawing/2014/main" val="1824107877"/>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035027814"/>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a:p>
                  </a:txBody>
                  <a:tcPr/>
                </a:tc>
                <a:tc>
                  <a:txBody>
                    <a:bodyPr/>
                    <a:lstStyle/>
                    <a:p>
                      <a:endParaRPr lang="fr-FR" sz="1100" dirty="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nvGraphicFramePr>
        <p:xfrm>
          <a:off x="388475" y="1555782"/>
          <a:ext cx="6191648" cy="267716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Historique des versions</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a:solidFill>
                            <a:schemeClr val="lt1"/>
                          </a:solidFill>
                          <a:latin typeface="+mn-lt"/>
                          <a:ea typeface="+mn-ea"/>
                          <a:cs typeface="+mn-cs"/>
                        </a:rPr>
                        <a:t>Licence</a:t>
                      </a:r>
                    </a:p>
                  </a:txBody>
                  <a:tcPr>
                    <a:solidFill>
                      <a:srgbClr val="ED7D31"/>
                    </a:solidFill>
                  </a:tcPr>
                </a:tc>
                <a:tc>
                  <a:txBody>
                    <a:bodyPr/>
                    <a:lstStyle/>
                    <a:p>
                      <a:r>
                        <a:rPr lang="fr-FR" sz="1200" b="1" kern="120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a:t>1.0</a:t>
                      </a:r>
                    </a:p>
                  </a:txBody>
                  <a:tcPr/>
                </a:tc>
                <a:tc>
                  <a:txBody>
                    <a:bodyPr/>
                    <a:lstStyle/>
                    <a:p>
                      <a:r>
                        <a:rPr lang="fr-FR" sz="1200"/>
                        <a:t>Alexandre QUACH</a:t>
                      </a:r>
                    </a:p>
                    <a:p>
                      <a:r>
                        <a:rPr lang="fr-FR" sz="1200"/>
                        <a:t>Vanessa HELLEBUYCK</a:t>
                      </a:r>
                    </a:p>
                  </a:txBody>
                  <a:tcPr/>
                </a:tc>
                <a:tc>
                  <a:txBody>
                    <a:bodyPr/>
                    <a:lstStyle/>
                    <a:p>
                      <a:r>
                        <a:rPr lang="fr-FR" sz="1200"/>
                        <a:t>CC-BY-3.0</a:t>
                      </a:r>
                    </a:p>
                  </a:txBody>
                  <a:tcPr/>
                </a:tc>
                <a:tc>
                  <a:txBody>
                    <a:bodyPr/>
                    <a:lstStyle/>
                    <a:p>
                      <a:r>
                        <a:rPr lang="fr-FR" sz="1200"/>
                        <a:t>Première version</a:t>
                      </a:r>
                    </a:p>
                  </a:txBody>
                  <a:tcPr/>
                </a:tc>
                <a:extLst>
                  <a:ext uri="{0D108BD9-81ED-4DB2-BD59-A6C34878D82A}">
                    <a16:rowId xmlns:a16="http://schemas.microsoft.com/office/drawing/2014/main" val="233750057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56534786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26495474"/>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632454121"/>
                  </a:ext>
                </a:extLst>
              </a:tr>
            </a:tbl>
          </a:graphicData>
        </a:graphic>
      </p:graphicFrame>
      <p:sp>
        <p:nvSpPr>
          <p:cNvPr id="17" name="ZoneTexte 16">
            <a:extLst>
              <a:ext uri="{FF2B5EF4-FFF2-40B4-BE49-F238E27FC236}">
                <a16:creationId xmlns:a16="http://schemas.microsoft.com/office/drawing/2014/main" id="{E069AED5-1784-348D-6A9E-9D301F248D4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Adaptation</a:t>
            </a:r>
            <a:endParaRPr lang="fr-FR" sz="3200"/>
          </a:p>
        </p:txBody>
      </p:sp>
      <p:sp>
        <p:nvSpPr>
          <p:cNvPr id="37" name="Espace réservé du texte 15">
            <a:extLst>
              <a:ext uri="{FF2B5EF4-FFF2-40B4-BE49-F238E27FC236}">
                <a16:creationId xmlns:a16="http://schemas.microsoft.com/office/drawing/2014/main" id="{329CFF52-673C-9F7B-6823-AEDE5A5493C9}"/>
              </a:ext>
            </a:extLst>
          </p:cNvPr>
          <p:cNvSpPr txBox="1">
            <a:spLocks/>
          </p:cNvSpPr>
          <p:nvPr/>
        </p:nvSpPr>
        <p:spPr>
          <a:xfrm>
            <a:off x="1292106" y="6326283"/>
            <a:ext cx="10645035" cy="3589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a:solidFill>
                  <a:schemeClr val="tx1"/>
                </a:solidFill>
              </a:rPr>
              <a:t>Pour adapter facilement l’atelier et créer des variantes</a:t>
            </a:r>
          </a:p>
        </p:txBody>
      </p:sp>
    </p:spTree>
    <p:extLst>
      <p:ext uri="{BB962C8B-B14F-4D97-AF65-F5344CB8AC3E}">
        <p14:creationId xmlns:p14="http://schemas.microsoft.com/office/powerpoint/2010/main" val="179155165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9" name="Groupe 148">
            <a:extLst>
              <a:ext uri="{FF2B5EF4-FFF2-40B4-BE49-F238E27FC236}">
                <a16:creationId xmlns:a16="http://schemas.microsoft.com/office/drawing/2014/main" id="{BFA7E28B-311D-D7AF-6D5D-6FFCDC2F007C}"/>
              </a:ext>
            </a:extLst>
          </p:cNvPr>
          <p:cNvGrpSpPr/>
          <p:nvPr/>
        </p:nvGrpSpPr>
        <p:grpSpPr>
          <a:xfrm>
            <a:off x="2316581" y="1322992"/>
            <a:ext cx="8507529" cy="971156"/>
            <a:chOff x="11600" y="1496380"/>
            <a:chExt cx="12038120" cy="1498765"/>
          </a:xfrm>
        </p:grpSpPr>
        <p:grpSp>
          <p:nvGrpSpPr>
            <p:cNvPr id="150" name="Groupe 149">
              <a:extLst>
                <a:ext uri="{FF2B5EF4-FFF2-40B4-BE49-F238E27FC236}">
                  <a16:creationId xmlns:a16="http://schemas.microsoft.com/office/drawing/2014/main" id="{E8EDB04B-9C30-1DCD-5331-6E62E7B12586}"/>
                </a:ext>
              </a:extLst>
            </p:cNvPr>
            <p:cNvGrpSpPr/>
            <p:nvPr/>
          </p:nvGrpSpPr>
          <p:grpSpPr>
            <a:xfrm>
              <a:off x="11600" y="2499558"/>
              <a:ext cx="12038120" cy="495587"/>
              <a:chOff x="0" y="2140394"/>
              <a:chExt cx="12854128" cy="4544491"/>
            </a:xfrm>
          </p:grpSpPr>
          <p:sp>
            <p:nvSpPr>
              <p:cNvPr id="158" name="Espace réservé du texte 15">
                <a:extLst>
                  <a:ext uri="{FF2B5EF4-FFF2-40B4-BE49-F238E27FC236}">
                    <a16:creationId xmlns:a16="http://schemas.microsoft.com/office/drawing/2014/main" id="{D40CA91E-BEA9-E431-6F46-2472D8DE4F06}"/>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159" name="Espace réservé du texte 15">
                <a:extLst>
                  <a:ext uri="{FF2B5EF4-FFF2-40B4-BE49-F238E27FC236}">
                    <a16:creationId xmlns:a16="http://schemas.microsoft.com/office/drawing/2014/main" id="{CC363A65-0E41-B02E-2655-317C2B0F9645}"/>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160" name="Espace réservé du texte 15">
                <a:extLst>
                  <a:ext uri="{FF2B5EF4-FFF2-40B4-BE49-F238E27FC236}">
                    <a16:creationId xmlns:a16="http://schemas.microsoft.com/office/drawing/2014/main" id="{27F5F817-66D7-7C31-3C57-72FAAF2809B3}"/>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161" name="Espace réservé du texte 15">
                <a:extLst>
                  <a:ext uri="{FF2B5EF4-FFF2-40B4-BE49-F238E27FC236}">
                    <a16:creationId xmlns:a16="http://schemas.microsoft.com/office/drawing/2014/main" id="{6E0976FE-395D-6C8B-8D46-A46D78C21599}"/>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162" name="Espace réservé du texte 15">
                <a:extLst>
                  <a:ext uri="{FF2B5EF4-FFF2-40B4-BE49-F238E27FC236}">
                    <a16:creationId xmlns:a16="http://schemas.microsoft.com/office/drawing/2014/main" id="{4FBD27D8-9D7B-E5E1-84C3-58D680AED4B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163" name="Espace réservé du texte 15">
                <a:extLst>
                  <a:ext uri="{FF2B5EF4-FFF2-40B4-BE49-F238E27FC236}">
                    <a16:creationId xmlns:a16="http://schemas.microsoft.com/office/drawing/2014/main" id="{9D39E2B4-A35F-A6C1-D56C-D4732455FF09}"/>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164" name="Espace réservé du texte 15">
                <a:extLst>
                  <a:ext uri="{FF2B5EF4-FFF2-40B4-BE49-F238E27FC236}">
                    <a16:creationId xmlns:a16="http://schemas.microsoft.com/office/drawing/2014/main" id="{B264BC92-217B-4486-3818-32D72445664A}"/>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151" name="Graphique 150" descr="Ampoule avec un remplissage uni">
              <a:extLst>
                <a:ext uri="{FF2B5EF4-FFF2-40B4-BE49-F238E27FC236}">
                  <a16:creationId xmlns:a16="http://schemas.microsoft.com/office/drawing/2014/main" id="{9D5BB801-5183-A44B-823A-8B3B66A839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52" name="Graphique 151" descr="Seau et pelle avec un remplissage uni">
              <a:extLst>
                <a:ext uri="{FF2B5EF4-FFF2-40B4-BE49-F238E27FC236}">
                  <a16:creationId xmlns:a16="http://schemas.microsoft.com/office/drawing/2014/main" id="{CCEA7B10-3354-58E6-91C0-CD2934A8E83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53" name="Graphique 152" descr="Tubes à essai avec un remplissage uni">
              <a:extLst>
                <a:ext uri="{FF2B5EF4-FFF2-40B4-BE49-F238E27FC236}">
                  <a16:creationId xmlns:a16="http://schemas.microsoft.com/office/drawing/2014/main" id="{F75F6069-2851-2758-67B4-709F69DC3F6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54" name="Graphique 153" descr="Explosion avec un remplissage uni">
              <a:extLst>
                <a:ext uri="{FF2B5EF4-FFF2-40B4-BE49-F238E27FC236}">
                  <a16:creationId xmlns:a16="http://schemas.microsoft.com/office/drawing/2014/main" id="{D909848F-7B64-67F5-D6B8-CD84317F985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55" name="Graphique 154" descr="Trophée avec un remplissage uni">
              <a:extLst>
                <a:ext uri="{FF2B5EF4-FFF2-40B4-BE49-F238E27FC236}">
                  <a16:creationId xmlns:a16="http://schemas.microsoft.com/office/drawing/2014/main" id="{B4FEC22A-DD1E-549A-A1C8-EF367AF2FA3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56" name="Graphique 155" descr="Assiette couverte avec un remplissage uni">
              <a:extLst>
                <a:ext uri="{FF2B5EF4-FFF2-40B4-BE49-F238E27FC236}">
                  <a16:creationId xmlns:a16="http://schemas.microsoft.com/office/drawing/2014/main" id="{6618A000-9264-E936-89C5-E139727D608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57" name="Graphique 156" descr="Scène de château avec un remplissage uni">
              <a:extLst>
                <a:ext uri="{FF2B5EF4-FFF2-40B4-BE49-F238E27FC236}">
                  <a16:creationId xmlns:a16="http://schemas.microsoft.com/office/drawing/2014/main" id="{E1FB561D-7D11-426C-0B04-86BF533C8FD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166" name="Rectangle 165">
            <a:extLst>
              <a:ext uri="{FF2B5EF4-FFF2-40B4-BE49-F238E27FC236}">
                <a16:creationId xmlns:a16="http://schemas.microsoft.com/office/drawing/2014/main" id="{EA0E3BDB-7112-5C12-44F3-571C43B2B837}"/>
              </a:ext>
            </a:extLst>
          </p:cNvPr>
          <p:cNvSpPr/>
          <p:nvPr/>
        </p:nvSpPr>
        <p:spPr>
          <a:xfrm>
            <a:off x="968437" y="2932809"/>
            <a:ext cx="803207" cy="66156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Sujet</a:t>
            </a:r>
          </a:p>
        </p:txBody>
      </p:sp>
      <p:sp>
        <p:nvSpPr>
          <p:cNvPr id="167" name="Rectangle 166">
            <a:extLst>
              <a:ext uri="{FF2B5EF4-FFF2-40B4-BE49-F238E27FC236}">
                <a16:creationId xmlns:a16="http://schemas.microsoft.com/office/drawing/2014/main" id="{BB21B0ED-3C7C-D519-748E-159111BACEAF}"/>
              </a:ext>
            </a:extLst>
          </p:cNvPr>
          <p:cNvSpPr/>
          <p:nvPr/>
        </p:nvSpPr>
        <p:spPr>
          <a:xfrm>
            <a:off x="2328750" y="2924101"/>
            <a:ext cx="1069495" cy="67459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Talk inspirant à 3 équipes du département </a:t>
            </a:r>
            <a:r>
              <a:rPr lang="el-GR" sz="1000">
                <a:solidFill>
                  <a:schemeClr val="tx1"/>
                </a:solidFill>
              </a:rPr>
              <a:t>α </a:t>
            </a:r>
            <a:r>
              <a:rPr lang="fr-FR" sz="1000">
                <a:solidFill>
                  <a:schemeClr val="tx1"/>
                </a:solidFill>
              </a:rPr>
              <a:t>en même temps</a:t>
            </a:r>
          </a:p>
        </p:txBody>
      </p:sp>
      <p:sp>
        <p:nvSpPr>
          <p:cNvPr id="169" name="Rectangle 168">
            <a:extLst>
              <a:ext uri="{FF2B5EF4-FFF2-40B4-BE49-F238E27FC236}">
                <a16:creationId xmlns:a16="http://schemas.microsoft.com/office/drawing/2014/main" id="{B398CB92-102F-938B-6618-453E3E89B8B7}"/>
              </a:ext>
            </a:extLst>
          </p:cNvPr>
          <p:cNvSpPr/>
          <p:nvPr/>
        </p:nvSpPr>
        <p:spPr>
          <a:xfrm>
            <a:off x="3671521" y="2573516"/>
            <a:ext cx="917410" cy="48232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Audit / Diagnostic de l’équipe 1</a:t>
            </a:r>
          </a:p>
        </p:txBody>
      </p:sp>
      <p:sp>
        <p:nvSpPr>
          <p:cNvPr id="170" name="Rectangle 169">
            <a:extLst>
              <a:ext uri="{FF2B5EF4-FFF2-40B4-BE49-F238E27FC236}">
                <a16:creationId xmlns:a16="http://schemas.microsoft.com/office/drawing/2014/main" id="{FE3EA364-1B43-DB70-8C98-415CD25F208F}"/>
              </a:ext>
            </a:extLst>
          </p:cNvPr>
          <p:cNvSpPr/>
          <p:nvPr/>
        </p:nvSpPr>
        <p:spPr>
          <a:xfrm>
            <a:off x="3679075" y="3714375"/>
            <a:ext cx="917410" cy="48232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Audit / Diagnostic de l’équipe 2</a:t>
            </a:r>
          </a:p>
        </p:txBody>
      </p:sp>
      <p:sp>
        <p:nvSpPr>
          <p:cNvPr id="171" name="Rectangle 170">
            <a:extLst>
              <a:ext uri="{FF2B5EF4-FFF2-40B4-BE49-F238E27FC236}">
                <a16:creationId xmlns:a16="http://schemas.microsoft.com/office/drawing/2014/main" id="{379AD755-BE7C-0520-B7F7-A8ED148FE865}"/>
              </a:ext>
            </a:extLst>
          </p:cNvPr>
          <p:cNvSpPr/>
          <p:nvPr/>
        </p:nvSpPr>
        <p:spPr>
          <a:xfrm>
            <a:off x="3679075" y="4544841"/>
            <a:ext cx="917410" cy="48232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Audit / Diagnostic de l’équipe 3</a:t>
            </a:r>
          </a:p>
        </p:txBody>
      </p:sp>
      <p:sp>
        <p:nvSpPr>
          <p:cNvPr id="172" name="Rectangle 171">
            <a:extLst>
              <a:ext uri="{FF2B5EF4-FFF2-40B4-BE49-F238E27FC236}">
                <a16:creationId xmlns:a16="http://schemas.microsoft.com/office/drawing/2014/main" id="{29FE9A43-E566-ED4B-4AF0-EB4A153F1B3A}"/>
              </a:ext>
            </a:extLst>
          </p:cNvPr>
          <p:cNvSpPr/>
          <p:nvPr/>
        </p:nvSpPr>
        <p:spPr>
          <a:xfrm>
            <a:off x="4914923" y="2486359"/>
            <a:ext cx="917410" cy="621567"/>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🎓Formation basique de l’équipe 1 au sous-sujet A</a:t>
            </a:r>
          </a:p>
        </p:txBody>
      </p:sp>
      <p:sp>
        <p:nvSpPr>
          <p:cNvPr id="173" name="Rectangle 172">
            <a:extLst>
              <a:ext uri="{FF2B5EF4-FFF2-40B4-BE49-F238E27FC236}">
                <a16:creationId xmlns:a16="http://schemas.microsoft.com/office/drawing/2014/main" id="{B5050688-084B-14B1-B2A0-A55DEC1D77D2}"/>
              </a:ext>
            </a:extLst>
          </p:cNvPr>
          <p:cNvSpPr/>
          <p:nvPr/>
        </p:nvSpPr>
        <p:spPr>
          <a:xfrm>
            <a:off x="4898350" y="3241848"/>
            <a:ext cx="917410" cy="71368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🎓Formation basique de l’équipe 1 au sous-sujet B</a:t>
            </a:r>
          </a:p>
        </p:txBody>
      </p:sp>
      <p:sp>
        <p:nvSpPr>
          <p:cNvPr id="174" name="Rectangle 173">
            <a:extLst>
              <a:ext uri="{FF2B5EF4-FFF2-40B4-BE49-F238E27FC236}">
                <a16:creationId xmlns:a16="http://schemas.microsoft.com/office/drawing/2014/main" id="{3F2283DE-50CA-D2D2-6E49-1D89F9DB8AE0}"/>
              </a:ext>
            </a:extLst>
          </p:cNvPr>
          <p:cNvSpPr/>
          <p:nvPr/>
        </p:nvSpPr>
        <p:spPr>
          <a:xfrm>
            <a:off x="6111640" y="2486359"/>
            <a:ext cx="917410" cy="9200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Suivi et coaching sur l’application du sujet A du </a:t>
            </a:r>
            <a:r>
              <a:rPr lang="fr-FR" sz="1000" err="1">
                <a:solidFill>
                  <a:schemeClr val="tx1"/>
                </a:solidFill>
              </a:rPr>
              <a:t>du</a:t>
            </a:r>
            <a:r>
              <a:rPr lang="fr-FR" sz="1000">
                <a:solidFill>
                  <a:schemeClr val="tx1"/>
                </a:solidFill>
              </a:rPr>
              <a:t> membre X de l’équipe 1</a:t>
            </a:r>
          </a:p>
        </p:txBody>
      </p:sp>
      <p:sp>
        <p:nvSpPr>
          <p:cNvPr id="175" name="Rectangle 174">
            <a:extLst>
              <a:ext uri="{FF2B5EF4-FFF2-40B4-BE49-F238E27FC236}">
                <a16:creationId xmlns:a16="http://schemas.microsoft.com/office/drawing/2014/main" id="{2C94AFC4-871F-53D8-90DE-6D036A727277}"/>
              </a:ext>
            </a:extLst>
          </p:cNvPr>
          <p:cNvSpPr/>
          <p:nvPr/>
        </p:nvSpPr>
        <p:spPr>
          <a:xfrm>
            <a:off x="6111640" y="3495503"/>
            <a:ext cx="917410" cy="9200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Suivi et coaching sur l’application du sujet A du </a:t>
            </a:r>
            <a:r>
              <a:rPr lang="fr-FR" sz="1000" err="1">
                <a:solidFill>
                  <a:schemeClr val="tx1"/>
                </a:solidFill>
              </a:rPr>
              <a:t>du</a:t>
            </a:r>
            <a:r>
              <a:rPr lang="fr-FR" sz="1000">
                <a:solidFill>
                  <a:schemeClr val="tx1"/>
                </a:solidFill>
              </a:rPr>
              <a:t> membre Y de l’équipe 1</a:t>
            </a:r>
          </a:p>
        </p:txBody>
      </p:sp>
      <p:sp>
        <p:nvSpPr>
          <p:cNvPr id="176" name="Rectangle 175">
            <a:extLst>
              <a:ext uri="{FF2B5EF4-FFF2-40B4-BE49-F238E27FC236}">
                <a16:creationId xmlns:a16="http://schemas.microsoft.com/office/drawing/2014/main" id="{2DDAB7A0-F3DA-4148-8DAB-9C50C80466F8}"/>
              </a:ext>
            </a:extLst>
          </p:cNvPr>
          <p:cNvSpPr/>
          <p:nvPr/>
        </p:nvSpPr>
        <p:spPr>
          <a:xfrm>
            <a:off x="6111640" y="4504603"/>
            <a:ext cx="917410" cy="92006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Suivi et coaching sur l’application du sujet A du </a:t>
            </a:r>
            <a:r>
              <a:rPr lang="fr-FR" sz="1000" err="1">
                <a:solidFill>
                  <a:schemeClr val="tx1"/>
                </a:solidFill>
              </a:rPr>
              <a:t>du</a:t>
            </a:r>
            <a:r>
              <a:rPr lang="fr-FR" sz="1000">
                <a:solidFill>
                  <a:schemeClr val="tx1"/>
                </a:solidFill>
              </a:rPr>
              <a:t> membre Z de l’équipe 1</a:t>
            </a:r>
          </a:p>
        </p:txBody>
      </p:sp>
      <p:sp>
        <p:nvSpPr>
          <p:cNvPr id="177" name="Rectangle 176">
            <a:extLst>
              <a:ext uri="{FF2B5EF4-FFF2-40B4-BE49-F238E27FC236}">
                <a16:creationId xmlns:a16="http://schemas.microsoft.com/office/drawing/2014/main" id="{E466A11E-E94E-792B-5E37-6474F43D8D0A}"/>
              </a:ext>
            </a:extLst>
          </p:cNvPr>
          <p:cNvSpPr/>
          <p:nvPr/>
        </p:nvSpPr>
        <p:spPr>
          <a:xfrm>
            <a:off x="7339909" y="2486359"/>
            <a:ext cx="917410" cy="122801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Capitalisation des bonnes pratiques utilisées par  X, Y et Z dans l’équipe 1</a:t>
            </a:r>
          </a:p>
        </p:txBody>
      </p:sp>
      <p:sp>
        <p:nvSpPr>
          <p:cNvPr id="178" name="Rectangle 177">
            <a:extLst>
              <a:ext uri="{FF2B5EF4-FFF2-40B4-BE49-F238E27FC236}">
                <a16:creationId xmlns:a16="http://schemas.microsoft.com/office/drawing/2014/main" id="{A49806BF-2F94-0409-0D45-2A19A7226903}"/>
              </a:ext>
            </a:extLst>
          </p:cNvPr>
          <p:cNvSpPr/>
          <p:nvPr/>
        </p:nvSpPr>
        <p:spPr>
          <a:xfrm>
            <a:off x="8568178" y="2486359"/>
            <a:ext cx="917410" cy="122801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a:t>
            </a:r>
            <a:r>
              <a:rPr lang="fr-FR" sz="1000">
                <a:solidFill>
                  <a:schemeClr val="tx1"/>
                </a:solidFill>
              </a:rPr>
              <a:t>Montage d’une offre de service sur la base des bonnes pratiques</a:t>
            </a:r>
          </a:p>
        </p:txBody>
      </p:sp>
      <p:sp>
        <p:nvSpPr>
          <p:cNvPr id="179" name="Rectangle 178">
            <a:extLst>
              <a:ext uri="{FF2B5EF4-FFF2-40B4-BE49-F238E27FC236}">
                <a16:creationId xmlns:a16="http://schemas.microsoft.com/office/drawing/2014/main" id="{5C3808C9-A48C-7BCA-509B-B6DB214F9347}"/>
              </a:ext>
            </a:extLst>
          </p:cNvPr>
          <p:cNvSpPr/>
          <p:nvPr/>
        </p:nvSpPr>
        <p:spPr>
          <a:xfrm>
            <a:off x="9793370" y="2486359"/>
            <a:ext cx="1030740" cy="12080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Officialisation du sujet auprès du département</a:t>
            </a:r>
          </a:p>
          <a:p>
            <a:pPr algn="ctr"/>
            <a:r>
              <a:rPr lang="el-GR" sz="1000">
                <a:solidFill>
                  <a:schemeClr val="tx1"/>
                </a:solidFill>
              </a:rPr>
              <a:t>α</a:t>
            </a:r>
            <a:endParaRPr lang="fr-FR" sz="1000">
              <a:solidFill>
                <a:schemeClr val="tx1"/>
              </a:solidFill>
            </a:endParaRPr>
          </a:p>
        </p:txBody>
      </p:sp>
      <p:sp>
        <p:nvSpPr>
          <p:cNvPr id="180" name="Rectangle 179">
            <a:extLst>
              <a:ext uri="{FF2B5EF4-FFF2-40B4-BE49-F238E27FC236}">
                <a16:creationId xmlns:a16="http://schemas.microsoft.com/office/drawing/2014/main" id="{55D7C223-F14D-DDAD-8914-AD93D6B21453}"/>
              </a:ext>
            </a:extLst>
          </p:cNvPr>
          <p:cNvSpPr/>
          <p:nvPr/>
        </p:nvSpPr>
        <p:spPr>
          <a:xfrm>
            <a:off x="9793370" y="3854713"/>
            <a:ext cx="1030740" cy="122801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Officialisation du sujet auprès du département</a:t>
            </a:r>
          </a:p>
          <a:p>
            <a:pPr algn="ctr"/>
            <a:r>
              <a:rPr lang="el-GR" sz="1000">
                <a:solidFill>
                  <a:schemeClr val="tx1"/>
                </a:solidFill>
              </a:rPr>
              <a:t>β</a:t>
            </a:r>
            <a:endParaRPr lang="fr-FR" sz="1000">
              <a:solidFill>
                <a:schemeClr val="tx1"/>
              </a:solidFill>
            </a:endParaRPr>
          </a:p>
        </p:txBody>
      </p:sp>
      <p:cxnSp>
        <p:nvCxnSpPr>
          <p:cNvPr id="15" name="Connecteur droit avec flèche 14">
            <a:extLst>
              <a:ext uri="{FF2B5EF4-FFF2-40B4-BE49-F238E27FC236}">
                <a16:creationId xmlns:a16="http://schemas.microsoft.com/office/drawing/2014/main" id="{2CA15A04-F304-3CE6-2E5E-64B51F28BCCC}"/>
              </a:ext>
            </a:extLst>
          </p:cNvPr>
          <p:cNvCxnSpPr>
            <a:cxnSpLocks/>
            <a:stCxn id="166" idx="3"/>
            <a:endCxn id="167" idx="1"/>
          </p:cNvCxnSpPr>
          <p:nvPr/>
        </p:nvCxnSpPr>
        <p:spPr>
          <a:xfrm flipV="1">
            <a:off x="1771644" y="3261397"/>
            <a:ext cx="557106" cy="21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1" name="Connecteur droit avec flèche 180">
            <a:extLst>
              <a:ext uri="{FF2B5EF4-FFF2-40B4-BE49-F238E27FC236}">
                <a16:creationId xmlns:a16="http://schemas.microsoft.com/office/drawing/2014/main" id="{E91FB2FA-11FF-0A9C-512B-34BCC53FCA52}"/>
              </a:ext>
            </a:extLst>
          </p:cNvPr>
          <p:cNvCxnSpPr>
            <a:cxnSpLocks/>
          </p:cNvCxnSpPr>
          <p:nvPr/>
        </p:nvCxnSpPr>
        <p:spPr>
          <a:xfrm flipV="1">
            <a:off x="3398245" y="2814678"/>
            <a:ext cx="273276" cy="4467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2" name="Connecteur droit avec flèche 181">
            <a:extLst>
              <a:ext uri="{FF2B5EF4-FFF2-40B4-BE49-F238E27FC236}">
                <a16:creationId xmlns:a16="http://schemas.microsoft.com/office/drawing/2014/main" id="{1006750F-EDC2-04D9-7FF2-194B33C048F7}"/>
              </a:ext>
            </a:extLst>
          </p:cNvPr>
          <p:cNvCxnSpPr>
            <a:cxnSpLocks/>
          </p:cNvCxnSpPr>
          <p:nvPr/>
        </p:nvCxnSpPr>
        <p:spPr>
          <a:xfrm>
            <a:off x="3398245" y="3261397"/>
            <a:ext cx="280830" cy="6941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3" name="Connecteur droit avec flèche 182">
            <a:extLst>
              <a:ext uri="{FF2B5EF4-FFF2-40B4-BE49-F238E27FC236}">
                <a16:creationId xmlns:a16="http://schemas.microsoft.com/office/drawing/2014/main" id="{89F1042F-91B6-0121-863D-C5CF045F1A74}"/>
              </a:ext>
            </a:extLst>
          </p:cNvPr>
          <p:cNvCxnSpPr>
            <a:cxnSpLocks/>
          </p:cNvCxnSpPr>
          <p:nvPr/>
        </p:nvCxnSpPr>
        <p:spPr>
          <a:xfrm>
            <a:off x="3398245" y="3261397"/>
            <a:ext cx="280830" cy="1524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4" name="Connecteur droit avec flèche 183">
            <a:extLst>
              <a:ext uri="{FF2B5EF4-FFF2-40B4-BE49-F238E27FC236}">
                <a16:creationId xmlns:a16="http://schemas.microsoft.com/office/drawing/2014/main" id="{BCDC2CBF-57F8-4C44-7F45-8FD8E50946E2}"/>
              </a:ext>
            </a:extLst>
          </p:cNvPr>
          <p:cNvCxnSpPr>
            <a:cxnSpLocks/>
          </p:cNvCxnSpPr>
          <p:nvPr/>
        </p:nvCxnSpPr>
        <p:spPr>
          <a:xfrm flipV="1">
            <a:off x="4588931" y="2797143"/>
            <a:ext cx="325992" cy="17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5" name="Connecteur droit avec flèche 184">
            <a:extLst>
              <a:ext uri="{FF2B5EF4-FFF2-40B4-BE49-F238E27FC236}">
                <a16:creationId xmlns:a16="http://schemas.microsoft.com/office/drawing/2014/main" id="{BC8F9E0E-1609-5D4B-7308-82F936A33144}"/>
              </a:ext>
            </a:extLst>
          </p:cNvPr>
          <p:cNvCxnSpPr>
            <a:cxnSpLocks/>
          </p:cNvCxnSpPr>
          <p:nvPr/>
        </p:nvCxnSpPr>
        <p:spPr>
          <a:xfrm>
            <a:off x="4588931" y="2814678"/>
            <a:ext cx="309419" cy="784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6" name="Connecteur droit avec flèche 185">
            <a:extLst>
              <a:ext uri="{FF2B5EF4-FFF2-40B4-BE49-F238E27FC236}">
                <a16:creationId xmlns:a16="http://schemas.microsoft.com/office/drawing/2014/main" id="{17F2DD22-A609-925E-298A-4DE57881A913}"/>
              </a:ext>
            </a:extLst>
          </p:cNvPr>
          <p:cNvCxnSpPr>
            <a:cxnSpLocks/>
          </p:cNvCxnSpPr>
          <p:nvPr/>
        </p:nvCxnSpPr>
        <p:spPr>
          <a:xfrm>
            <a:off x="5832333" y="2797143"/>
            <a:ext cx="279307" cy="1492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7" name="Connecteur droit avec flèche 186">
            <a:extLst>
              <a:ext uri="{FF2B5EF4-FFF2-40B4-BE49-F238E27FC236}">
                <a16:creationId xmlns:a16="http://schemas.microsoft.com/office/drawing/2014/main" id="{3EB174E7-658B-17F0-68BA-494C73FC7D8A}"/>
              </a:ext>
            </a:extLst>
          </p:cNvPr>
          <p:cNvCxnSpPr>
            <a:cxnSpLocks/>
          </p:cNvCxnSpPr>
          <p:nvPr/>
        </p:nvCxnSpPr>
        <p:spPr>
          <a:xfrm>
            <a:off x="5832333" y="2797143"/>
            <a:ext cx="279307" cy="1158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8" name="Connecteur droit avec flèche 187">
            <a:extLst>
              <a:ext uri="{FF2B5EF4-FFF2-40B4-BE49-F238E27FC236}">
                <a16:creationId xmlns:a16="http://schemas.microsoft.com/office/drawing/2014/main" id="{5CADC9FC-B5E1-9242-BE96-D519221B407C}"/>
              </a:ext>
            </a:extLst>
          </p:cNvPr>
          <p:cNvCxnSpPr>
            <a:cxnSpLocks/>
          </p:cNvCxnSpPr>
          <p:nvPr/>
        </p:nvCxnSpPr>
        <p:spPr>
          <a:xfrm>
            <a:off x="5832333" y="2797143"/>
            <a:ext cx="279307" cy="2167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9" name="Connecteur droit avec flèche 188">
            <a:extLst>
              <a:ext uri="{FF2B5EF4-FFF2-40B4-BE49-F238E27FC236}">
                <a16:creationId xmlns:a16="http://schemas.microsoft.com/office/drawing/2014/main" id="{73D84131-953C-10BF-A5ED-D41D65D0F321}"/>
              </a:ext>
            </a:extLst>
          </p:cNvPr>
          <p:cNvCxnSpPr>
            <a:cxnSpLocks/>
          </p:cNvCxnSpPr>
          <p:nvPr/>
        </p:nvCxnSpPr>
        <p:spPr>
          <a:xfrm flipV="1">
            <a:off x="7029050" y="3100367"/>
            <a:ext cx="310859" cy="855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0" name="Connecteur droit avec flèche 189">
            <a:extLst>
              <a:ext uri="{FF2B5EF4-FFF2-40B4-BE49-F238E27FC236}">
                <a16:creationId xmlns:a16="http://schemas.microsoft.com/office/drawing/2014/main" id="{248EDF88-A6F0-ABDD-D7FC-37016B6C77D3}"/>
              </a:ext>
            </a:extLst>
          </p:cNvPr>
          <p:cNvCxnSpPr>
            <a:cxnSpLocks/>
          </p:cNvCxnSpPr>
          <p:nvPr/>
        </p:nvCxnSpPr>
        <p:spPr>
          <a:xfrm>
            <a:off x="7029050" y="2946392"/>
            <a:ext cx="310859" cy="153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1" name="Connecteur droit avec flèche 190">
            <a:extLst>
              <a:ext uri="{FF2B5EF4-FFF2-40B4-BE49-F238E27FC236}">
                <a16:creationId xmlns:a16="http://schemas.microsoft.com/office/drawing/2014/main" id="{0CB30F44-065A-6929-5420-E5B0F86AC333}"/>
              </a:ext>
            </a:extLst>
          </p:cNvPr>
          <p:cNvCxnSpPr>
            <a:cxnSpLocks/>
          </p:cNvCxnSpPr>
          <p:nvPr/>
        </p:nvCxnSpPr>
        <p:spPr>
          <a:xfrm flipV="1">
            <a:off x="7029050" y="3100367"/>
            <a:ext cx="310859" cy="1864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2" name="Connecteur droit avec flèche 191">
            <a:extLst>
              <a:ext uri="{FF2B5EF4-FFF2-40B4-BE49-F238E27FC236}">
                <a16:creationId xmlns:a16="http://schemas.microsoft.com/office/drawing/2014/main" id="{CFE70AB2-7C18-1D82-D1F0-141260D60EC5}"/>
              </a:ext>
            </a:extLst>
          </p:cNvPr>
          <p:cNvCxnSpPr>
            <a:cxnSpLocks/>
            <a:endCxn id="178" idx="1"/>
          </p:cNvCxnSpPr>
          <p:nvPr/>
        </p:nvCxnSpPr>
        <p:spPr>
          <a:xfrm>
            <a:off x="8257319" y="3100367"/>
            <a:ext cx="3108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3" name="Rectangle 192">
            <a:extLst>
              <a:ext uri="{FF2B5EF4-FFF2-40B4-BE49-F238E27FC236}">
                <a16:creationId xmlns:a16="http://schemas.microsoft.com/office/drawing/2014/main" id="{E43C964A-812A-5EDE-0ED8-B70F7BFC5688}"/>
              </a:ext>
            </a:extLst>
          </p:cNvPr>
          <p:cNvSpPr/>
          <p:nvPr/>
        </p:nvSpPr>
        <p:spPr>
          <a:xfrm>
            <a:off x="8565101" y="3854713"/>
            <a:ext cx="917410" cy="122801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t>📜 </a:t>
            </a:r>
            <a:r>
              <a:rPr lang="fr-FR" sz="1000">
                <a:solidFill>
                  <a:schemeClr val="tx1"/>
                </a:solidFill>
              </a:rPr>
              <a:t>Etablissement d’une certification locale sur les bonnes pratiques </a:t>
            </a:r>
          </a:p>
        </p:txBody>
      </p:sp>
      <p:cxnSp>
        <p:nvCxnSpPr>
          <p:cNvPr id="194" name="Connecteur droit avec flèche 193">
            <a:extLst>
              <a:ext uri="{FF2B5EF4-FFF2-40B4-BE49-F238E27FC236}">
                <a16:creationId xmlns:a16="http://schemas.microsoft.com/office/drawing/2014/main" id="{CAEA541D-61F6-29BD-3B8B-1C023ACE06CE}"/>
              </a:ext>
            </a:extLst>
          </p:cNvPr>
          <p:cNvCxnSpPr>
            <a:cxnSpLocks/>
          </p:cNvCxnSpPr>
          <p:nvPr/>
        </p:nvCxnSpPr>
        <p:spPr>
          <a:xfrm>
            <a:off x="8257319" y="3100367"/>
            <a:ext cx="307782" cy="1152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5" name="Connecteur droit avec flèche 194">
            <a:extLst>
              <a:ext uri="{FF2B5EF4-FFF2-40B4-BE49-F238E27FC236}">
                <a16:creationId xmlns:a16="http://schemas.microsoft.com/office/drawing/2014/main" id="{EE298341-28E1-546A-9D9B-C3A374E9AE76}"/>
              </a:ext>
            </a:extLst>
          </p:cNvPr>
          <p:cNvCxnSpPr>
            <a:cxnSpLocks/>
          </p:cNvCxnSpPr>
          <p:nvPr/>
        </p:nvCxnSpPr>
        <p:spPr>
          <a:xfrm>
            <a:off x="9485588" y="3001797"/>
            <a:ext cx="3077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7" name="Connecteur droit avec flèche 196">
            <a:extLst>
              <a:ext uri="{FF2B5EF4-FFF2-40B4-BE49-F238E27FC236}">
                <a16:creationId xmlns:a16="http://schemas.microsoft.com/office/drawing/2014/main" id="{0D2E3811-E510-713D-D7AB-2DCAA7A15F29}"/>
              </a:ext>
            </a:extLst>
          </p:cNvPr>
          <p:cNvCxnSpPr>
            <a:cxnSpLocks/>
          </p:cNvCxnSpPr>
          <p:nvPr/>
        </p:nvCxnSpPr>
        <p:spPr>
          <a:xfrm>
            <a:off x="9485588" y="3001797"/>
            <a:ext cx="307782" cy="11324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ZoneTexte 52">
            <a:extLst>
              <a:ext uri="{FF2B5EF4-FFF2-40B4-BE49-F238E27FC236}">
                <a16:creationId xmlns:a16="http://schemas.microsoft.com/office/drawing/2014/main" id="{B1ADBFD3-D1A0-B6B6-A72F-EBD2EB656CC3}"/>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Decision</a:t>
            </a:r>
            <a:r>
              <a:rPr lang="fr-FR" sz="3200" b="1" i="1"/>
              <a:t> – </a:t>
            </a:r>
            <a:r>
              <a:rPr lang="fr-FR" sz="3200" b="1" i="1">
                <a:solidFill>
                  <a:srgbClr val="ED7D31"/>
                </a:solidFill>
              </a:rPr>
              <a:t>Variante « Breakdown »</a:t>
            </a:r>
            <a:endParaRPr lang="fr-FR" sz="3200"/>
          </a:p>
        </p:txBody>
      </p:sp>
      <p:grpSp>
        <p:nvGrpSpPr>
          <p:cNvPr id="54" name="Groupe 53">
            <a:extLst>
              <a:ext uri="{FF2B5EF4-FFF2-40B4-BE49-F238E27FC236}">
                <a16:creationId xmlns:a16="http://schemas.microsoft.com/office/drawing/2014/main" id="{AAD99DC7-29EC-42C4-14D7-23486DC46625}"/>
              </a:ext>
            </a:extLst>
          </p:cNvPr>
          <p:cNvGrpSpPr/>
          <p:nvPr/>
        </p:nvGrpSpPr>
        <p:grpSpPr>
          <a:xfrm>
            <a:off x="100926" y="5652938"/>
            <a:ext cx="1191180" cy="1126443"/>
            <a:chOff x="4763560" y="3762738"/>
            <a:chExt cx="978176" cy="925014"/>
          </a:xfrm>
        </p:grpSpPr>
        <p:grpSp>
          <p:nvGrpSpPr>
            <p:cNvPr id="55" name="Groupe 54">
              <a:extLst>
                <a:ext uri="{FF2B5EF4-FFF2-40B4-BE49-F238E27FC236}">
                  <a16:creationId xmlns:a16="http://schemas.microsoft.com/office/drawing/2014/main" id="{26DA8D20-B0DF-EC69-D8B1-6EE3815F850C}"/>
                </a:ext>
              </a:extLst>
            </p:cNvPr>
            <p:cNvGrpSpPr/>
            <p:nvPr/>
          </p:nvGrpSpPr>
          <p:grpSpPr>
            <a:xfrm flipH="1">
              <a:off x="4766062" y="3762738"/>
              <a:ext cx="975674" cy="925014"/>
              <a:chOff x="4716415" y="3792004"/>
              <a:chExt cx="1009529" cy="925014"/>
            </a:xfrm>
          </p:grpSpPr>
          <p:pic>
            <p:nvPicPr>
              <p:cNvPr id="58" name="Graphique 57" descr="Mégaphone1 avec un remplissage uni">
                <a:extLst>
                  <a:ext uri="{FF2B5EF4-FFF2-40B4-BE49-F238E27FC236}">
                    <a16:creationId xmlns:a16="http://schemas.microsoft.com/office/drawing/2014/main" id="{D8D2C391-CBFD-1CD3-897A-09B2020B3C5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4716415" y="3792004"/>
                <a:ext cx="384826" cy="398002"/>
              </a:xfrm>
              <a:prstGeom prst="rect">
                <a:avLst/>
              </a:prstGeom>
            </p:spPr>
          </p:pic>
          <p:grpSp>
            <p:nvGrpSpPr>
              <p:cNvPr id="59" name="Groupe 58">
                <a:extLst>
                  <a:ext uri="{FF2B5EF4-FFF2-40B4-BE49-F238E27FC236}">
                    <a16:creationId xmlns:a16="http://schemas.microsoft.com/office/drawing/2014/main" id="{41FD67BD-2256-1C3A-D081-13D46C5E1E69}"/>
                  </a:ext>
                </a:extLst>
              </p:cNvPr>
              <p:cNvGrpSpPr/>
              <p:nvPr/>
            </p:nvGrpSpPr>
            <p:grpSpPr>
              <a:xfrm>
                <a:off x="5048496" y="3886444"/>
                <a:ext cx="633086" cy="830574"/>
                <a:chOff x="5018285" y="3873291"/>
                <a:chExt cx="696980" cy="914400"/>
              </a:xfrm>
            </p:grpSpPr>
            <p:pic>
              <p:nvPicPr>
                <p:cNvPr id="62" name="Graphique 61" descr="Personne confuse avec un remplissage uni">
                  <a:extLst>
                    <a:ext uri="{FF2B5EF4-FFF2-40B4-BE49-F238E27FC236}">
                      <a16:creationId xmlns:a16="http://schemas.microsoft.com/office/drawing/2014/main" id="{CE2DC26F-D9E5-3F41-E170-85636DC02CF4}"/>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0440" r="-1"/>
                <a:stretch/>
              </p:blipFill>
              <p:spPr>
                <a:xfrm>
                  <a:off x="5079206" y="3873291"/>
                  <a:ext cx="636059" cy="914400"/>
                </a:xfrm>
                <a:prstGeom prst="rect">
                  <a:avLst/>
                </a:prstGeom>
              </p:spPr>
            </p:pic>
            <p:sp>
              <p:nvSpPr>
                <p:cNvPr id="63" name="Rectangle : coins arrondis 62">
                  <a:extLst>
                    <a:ext uri="{FF2B5EF4-FFF2-40B4-BE49-F238E27FC236}">
                      <a16:creationId xmlns:a16="http://schemas.microsoft.com/office/drawing/2014/main" id="{19065E68-29B0-EB05-3083-D1E9C5B8B959}"/>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endParaRPr lang="fr-FR"/>
                </a:p>
              </p:txBody>
            </p:sp>
          </p:grpSp>
          <p:pic>
            <p:nvPicPr>
              <p:cNvPr id="60" name="Graphique 59" descr="Balance de la justice avec un remplissage uni">
                <a:extLst>
                  <a:ext uri="{FF2B5EF4-FFF2-40B4-BE49-F238E27FC236}">
                    <a16:creationId xmlns:a16="http://schemas.microsoft.com/office/drawing/2014/main" id="{DB37D83E-29D1-7169-45F5-58C3C810022E}"/>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374349" y="3867945"/>
                <a:ext cx="351595" cy="351595"/>
              </a:xfrm>
              <a:prstGeom prst="rect">
                <a:avLst/>
              </a:prstGeom>
            </p:spPr>
          </p:pic>
          <p:pic>
            <p:nvPicPr>
              <p:cNvPr id="61" name="Image 60">
                <a:extLst>
                  <a:ext uri="{FF2B5EF4-FFF2-40B4-BE49-F238E27FC236}">
                    <a16:creationId xmlns:a16="http://schemas.microsoft.com/office/drawing/2014/main" id="{AF5B9A38-E6F4-1E99-8B49-E44064D78FB8}"/>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56" name="Graphique 55" descr="Balance de la justice avec un remplissage uni">
              <a:extLst>
                <a:ext uri="{FF2B5EF4-FFF2-40B4-BE49-F238E27FC236}">
                  <a16:creationId xmlns:a16="http://schemas.microsoft.com/office/drawing/2014/main" id="{2F997E0F-6AEF-5BC2-0730-DC9E03D746E5}"/>
                </a:ext>
              </a:extLst>
            </p:cNvPr>
            <p:cNvPicPr>
              <a:picLocks noChangeAspect="1"/>
            </p:cNvPicPr>
            <p:nvPr/>
          </p:nvPicPr>
          <p:blipFill rotWithShape="1">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rcRect l="7711" t="16230" r="55712" b="32471"/>
            <a:stretch/>
          </p:blipFill>
          <p:spPr>
            <a:xfrm flipH="1">
              <a:off x="4955380" y="3895743"/>
              <a:ext cx="124289" cy="180364"/>
            </a:xfrm>
            <a:prstGeom prst="rect">
              <a:avLst/>
            </a:prstGeom>
          </p:spPr>
        </p:pic>
        <p:pic>
          <p:nvPicPr>
            <p:cNvPr id="57" name="Graphique 56" descr="Balance de la justice avec un remplissage uni">
              <a:extLst>
                <a:ext uri="{FF2B5EF4-FFF2-40B4-BE49-F238E27FC236}">
                  <a16:creationId xmlns:a16="http://schemas.microsoft.com/office/drawing/2014/main" id="{B7438AD9-EC4F-8231-2D2E-D58842F2526C}"/>
                </a:ext>
              </a:extLst>
            </p:cNvPr>
            <p:cNvPicPr>
              <a:picLocks noChangeAspect="1"/>
            </p:cNvPicPr>
            <p:nvPr/>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l="58383" t="16186" b="30375"/>
            <a:stretch/>
          </p:blipFill>
          <p:spPr>
            <a:xfrm flipH="1">
              <a:off x="4763560" y="3895742"/>
              <a:ext cx="141416" cy="187889"/>
            </a:xfrm>
            <a:prstGeom prst="rect">
              <a:avLst/>
            </a:prstGeom>
          </p:spPr>
        </p:pic>
      </p:grpSp>
      <p:sp>
        <p:nvSpPr>
          <p:cNvPr id="64" name="Espace réservé du texte 15">
            <a:extLst>
              <a:ext uri="{FF2B5EF4-FFF2-40B4-BE49-F238E27FC236}">
                <a16:creationId xmlns:a16="http://schemas.microsoft.com/office/drawing/2014/main" id="{BD8C8D6E-C6B1-F30B-FB9A-4F9E65547D08}"/>
              </a:ext>
            </a:extLst>
          </p:cNvPr>
          <p:cNvSpPr txBox="1">
            <a:spLocks/>
          </p:cNvSpPr>
          <p:nvPr/>
        </p:nvSpPr>
        <p:spPr>
          <a:xfrm>
            <a:off x="1370040" y="5780549"/>
            <a:ext cx="10645035" cy="11583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fr-FR" sz="1600"/>
              <a:t>PLUS ON AVANCE, PLUS LES PHASES DEVIENNENT </a:t>
            </a:r>
            <a:r>
              <a:rPr lang="fr-FR" sz="1600">
                <a:solidFill>
                  <a:srgbClr val="0683AA"/>
                </a:solidFill>
              </a:rPr>
              <a:t>COMPLEXES</a:t>
            </a:r>
            <a:r>
              <a:rPr lang="fr-FR" sz="1600"/>
              <a:t> (AU MOINS JUSQU’À CONFIRMATION DES REUSSITES)</a:t>
            </a:r>
          </a:p>
          <a:p>
            <a:pPr marL="0" indent="0">
              <a:lnSpc>
                <a:spcPct val="110000"/>
              </a:lnSpc>
              <a:buNone/>
            </a:pPr>
            <a:r>
              <a:rPr lang="fr-FR" sz="1600"/>
              <a:t>UNE ACTION À UNE PHASE DONNÉE PEUT </a:t>
            </a:r>
            <a:r>
              <a:rPr lang="fr-FR" sz="1600">
                <a:solidFill>
                  <a:srgbClr val="ED7D31"/>
                </a:solidFill>
              </a:rPr>
              <a:t>SOUVENT ÊTRE SUIVIE PAR PLUSIEURS ACTIONS </a:t>
            </a:r>
            <a:r>
              <a:rPr lang="fr-FR" sz="1600"/>
              <a:t>À LA PHASE SUIVANTE.TOUTES LES ACTIONS N’ONT PAS BESOIN D’ÊTRE DEFINIES EN AMONT</a:t>
            </a:r>
            <a:endParaRPr lang="en-US" sz="1600">
              <a:cs typeface="Calibri"/>
            </a:endParaRPr>
          </a:p>
        </p:txBody>
      </p:sp>
    </p:spTree>
    <p:extLst>
      <p:ext uri="{BB962C8B-B14F-4D97-AF65-F5344CB8AC3E}">
        <p14:creationId xmlns:p14="http://schemas.microsoft.com/office/powerpoint/2010/main" val="9042252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e 7">
            <a:extLst>
              <a:ext uri="{FF2B5EF4-FFF2-40B4-BE49-F238E27FC236}">
                <a16:creationId xmlns:a16="http://schemas.microsoft.com/office/drawing/2014/main" id="{7514F0AD-4118-4DF7-8B7C-C3C37645C828}"/>
              </a:ext>
            </a:extLst>
          </p:cNvPr>
          <p:cNvGrpSpPr/>
          <p:nvPr/>
        </p:nvGrpSpPr>
        <p:grpSpPr>
          <a:xfrm>
            <a:off x="3404705" y="1910853"/>
            <a:ext cx="8507529" cy="971156"/>
            <a:chOff x="11600" y="1496380"/>
            <a:chExt cx="12038120" cy="1498765"/>
          </a:xfrm>
        </p:grpSpPr>
        <p:grpSp>
          <p:nvGrpSpPr>
            <p:cNvPr id="9" name="Groupe 8">
              <a:extLst>
                <a:ext uri="{FF2B5EF4-FFF2-40B4-BE49-F238E27FC236}">
                  <a16:creationId xmlns:a16="http://schemas.microsoft.com/office/drawing/2014/main" id="{49059D4B-0690-4AA5-9D1F-4C032A212518}"/>
                </a:ext>
              </a:extLst>
            </p:cNvPr>
            <p:cNvGrpSpPr/>
            <p:nvPr/>
          </p:nvGrpSpPr>
          <p:grpSpPr>
            <a:xfrm>
              <a:off x="11600" y="2499558"/>
              <a:ext cx="12038120" cy="495587"/>
              <a:chOff x="0" y="2140394"/>
              <a:chExt cx="12854128" cy="4544491"/>
            </a:xfrm>
          </p:grpSpPr>
          <p:sp>
            <p:nvSpPr>
              <p:cNvPr id="17" name="Espace réservé du texte 15">
                <a:extLst>
                  <a:ext uri="{FF2B5EF4-FFF2-40B4-BE49-F238E27FC236}">
                    <a16:creationId xmlns:a16="http://schemas.microsoft.com/office/drawing/2014/main" id="{9FCC0275-6599-4796-A233-A498894B6C0D}"/>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18" name="Espace réservé du texte 15">
                <a:extLst>
                  <a:ext uri="{FF2B5EF4-FFF2-40B4-BE49-F238E27FC236}">
                    <a16:creationId xmlns:a16="http://schemas.microsoft.com/office/drawing/2014/main" id="{8AA2A2FE-87E7-4149-8884-DDAE98BB07C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19" name="Espace réservé du texte 15">
                <a:extLst>
                  <a:ext uri="{FF2B5EF4-FFF2-40B4-BE49-F238E27FC236}">
                    <a16:creationId xmlns:a16="http://schemas.microsoft.com/office/drawing/2014/main" id="{8CDE1810-02A8-4999-ADFF-09922FAC3DD6}"/>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20" name="Espace réservé du texte 15">
                <a:extLst>
                  <a:ext uri="{FF2B5EF4-FFF2-40B4-BE49-F238E27FC236}">
                    <a16:creationId xmlns:a16="http://schemas.microsoft.com/office/drawing/2014/main" id="{7BA2D7F0-A3DD-4FD6-83DD-BED546C0484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21" name="Espace réservé du texte 15">
                <a:extLst>
                  <a:ext uri="{FF2B5EF4-FFF2-40B4-BE49-F238E27FC236}">
                    <a16:creationId xmlns:a16="http://schemas.microsoft.com/office/drawing/2014/main" id="{67BD6515-574C-4F0A-9CD8-A74C48364E28}"/>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22" name="Espace réservé du texte 15">
                <a:extLst>
                  <a:ext uri="{FF2B5EF4-FFF2-40B4-BE49-F238E27FC236}">
                    <a16:creationId xmlns:a16="http://schemas.microsoft.com/office/drawing/2014/main" id="{2B042A42-E569-4B28-872A-C98E28951B87}"/>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23" name="Espace réservé du texte 15">
                <a:extLst>
                  <a:ext uri="{FF2B5EF4-FFF2-40B4-BE49-F238E27FC236}">
                    <a16:creationId xmlns:a16="http://schemas.microsoft.com/office/drawing/2014/main" id="{E31DAE78-5A3B-4CA9-A54D-FAF714EC82E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10" name="Graphique 9" descr="Ampoule avec un remplissage uni">
              <a:extLst>
                <a:ext uri="{FF2B5EF4-FFF2-40B4-BE49-F238E27FC236}">
                  <a16:creationId xmlns:a16="http://schemas.microsoft.com/office/drawing/2014/main" id="{FB349AAF-AADF-41DE-93D7-48C1F06B48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11" name="Graphique 10" descr="Seau et pelle avec un remplissage uni">
              <a:extLst>
                <a:ext uri="{FF2B5EF4-FFF2-40B4-BE49-F238E27FC236}">
                  <a16:creationId xmlns:a16="http://schemas.microsoft.com/office/drawing/2014/main" id="{9B08672D-72F7-4A9B-AE23-80337A1C4B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2" name="Graphique 11" descr="Tubes à essai avec un remplissage uni">
              <a:extLst>
                <a:ext uri="{FF2B5EF4-FFF2-40B4-BE49-F238E27FC236}">
                  <a16:creationId xmlns:a16="http://schemas.microsoft.com/office/drawing/2014/main" id="{BBD2D793-1EF2-4CE3-B3FB-BAC0FDBAA1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3" name="Graphique 12" descr="Explosion avec un remplissage uni">
              <a:extLst>
                <a:ext uri="{FF2B5EF4-FFF2-40B4-BE49-F238E27FC236}">
                  <a16:creationId xmlns:a16="http://schemas.microsoft.com/office/drawing/2014/main" id="{A0C3FF3B-A5F0-486B-B5A1-9EAEB0D7E6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4" name="Graphique 13" descr="Trophée avec un remplissage uni">
              <a:extLst>
                <a:ext uri="{FF2B5EF4-FFF2-40B4-BE49-F238E27FC236}">
                  <a16:creationId xmlns:a16="http://schemas.microsoft.com/office/drawing/2014/main" id="{306AD822-F5E7-4634-B62B-2E287D4E872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5" name="Graphique 14" descr="Assiette couverte avec un remplissage uni">
              <a:extLst>
                <a:ext uri="{FF2B5EF4-FFF2-40B4-BE49-F238E27FC236}">
                  <a16:creationId xmlns:a16="http://schemas.microsoft.com/office/drawing/2014/main" id="{DEBE8314-024E-49D1-BEA8-63DD154BB0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6" name="Graphique 15" descr="Scène de château avec un remplissage uni">
              <a:extLst>
                <a:ext uri="{FF2B5EF4-FFF2-40B4-BE49-F238E27FC236}">
                  <a16:creationId xmlns:a16="http://schemas.microsoft.com/office/drawing/2014/main" id="{5C95DE91-A2A8-42D7-A621-02B4F0DFC4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pic>
        <p:nvPicPr>
          <p:cNvPr id="57" name="Image 56">
            <a:extLst>
              <a:ext uri="{FF2B5EF4-FFF2-40B4-BE49-F238E27FC236}">
                <a16:creationId xmlns:a16="http://schemas.microsoft.com/office/drawing/2014/main" id="{D12BD52A-8F92-43EC-AEF9-7C7EF5836D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764591" y="6474648"/>
            <a:ext cx="295285" cy="284863"/>
          </a:xfrm>
          <a:prstGeom prst="rect">
            <a:avLst/>
          </a:prstGeom>
        </p:spPr>
      </p:pic>
      <p:sp>
        <p:nvSpPr>
          <p:cNvPr id="37" name="ZoneTexte 36">
            <a:extLst>
              <a:ext uri="{FF2B5EF4-FFF2-40B4-BE49-F238E27FC236}">
                <a16:creationId xmlns:a16="http://schemas.microsoft.com/office/drawing/2014/main" id="{1A0343C9-7092-43C4-AC34-64AAC9DA88E8}"/>
              </a:ext>
            </a:extLst>
          </p:cNvPr>
          <p:cNvSpPr txBox="1"/>
          <p:nvPr/>
        </p:nvSpPr>
        <p:spPr>
          <a:xfrm>
            <a:off x="3404705" y="3037146"/>
            <a:ext cx="1082981" cy="461665"/>
          </a:xfrm>
          <a:prstGeom prst="rect">
            <a:avLst/>
          </a:prstGeom>
          <a:noFill/>
        </p:spPr>
        <p:txBody>
          <a:bodyPr wrap="square" rtlCol="0">
            <a:spAutoFit/>
          </a:bodyPr>
          <a:lstStyle/>
          <a:p>
            <a:pPr algn="ctr"/>
            <a:r>
              <a:rPr lang="fr-FR" sz="800"/>
              <a:t>🎲Serious Games de découverte, d’introduction</a:t>
            </a:r>
          </a:p>
        </p:txBody>
      </p:sp>
      <p:sp>
        <p:nvSpPr>
          <p:cNvPr id="39" name="ZoneTexte 38">
            <a:extLst>
              <a:ext uri="{FF2B5EF4-FFF2-40B4-BE49-F238E27FC236}">
                <a16:creationId xmlns:a16="http://schemas.microsoft.com/office/drawing/2014/main" id="{04E6581E-FB1C-42B1-BD72-14D5486464AC}"/>
              </a:ext>
            </a:extLst>
          </p:cNvPr>
          <p:cNvSpPr txBox="1"/>
          <p:nvPr/>
        </p:nvSpPr>
        <p:spPr>
          <a:xfrm>
            <a:off x="5887111" y="3037146"/>
            <a:ext cx="1082981" cy="338554"/>
          </a:xfrm>
          <a:prstGeom prst="rect">
            <a:avLst/>
          </a:prstGeom>
          <a:noFill/>
        </p:spPr>
        <p:txBody>
          <a:bodyPr wrap="square" rtlCol="0">
            <a:spAutoFit/>
          </a:bodyPr>
          <a:lstStyle/>
          <a:p>
            <a:pPr algn="ctr"/>
            <a:r>
              <a:rPr lang="fr-FR" sz="800"/>
              <a:t>🎲Serious Games de simulation</a:t>
            </a:r>
          </a:p>
        </p:txBody>
      </p:sp>
      <p:sp>
        <p:nvSpPr>
          <p:cNvPr id="40" name="ZoneTexte 39">
            <a:extLst>
              <a:ext uri="{FF2B5EF4-FFF2-40B4-BE49-F238E27FC236}">
                <a16:creationId xmlns:a16="http://schemas.microsoft.com/office/drawing/2014/main" id="{49DB7EAC-D701-4819-BEDB-BF8C4552B495}"/>
              </a:ext>
            </a:extLst>
          </p:cNvPr>
          <p:cNvSpPr txBox="1"/>
          <p:nvPr/>
        </p:nvSpPr>
        <p:spPr>
          <a:xfrm>
            <a:off x="7116978" y="3034927"/>
            <a:ext cx="1082981" cy="584775"/>
          </a:xfrm>
          <a:prstGeom prst="rect">
            <a:avLst/>
          </a:prstGeom>
          <a:noFill/>
        </p:spPr>
        <p:txBody>
          <a:bodyPr wrap="square" rtlCol="0">
            <a:spAutoFit/>
          </a:bodyPr>
          <a:lstStyle/>
          <a:p>
            <a:pPr algn="ctr"/>
            <a:r>
              <a:rPr lang="fr-FR" sz="800"/>
              <a:t>🎲Serious Games de production</a:t>
            </a:r>
          </a:p>
          <a:p>
            <a:pPr algn="ctr"/>
            <a:endParaRPr lang="fr-FR" sz="800"/>
          </a:p>
          <a:p>
            <a:pPr algn="ctr"/>
            <a:r>
              <a:rPr lang="fr-FR" sz="800" err="1"/>
              <a:t>Retrospectives</a:t>
            </a:r>
            <a:endParaRPr lang="fr-FR" sz="800"/>
          </a:p>
        </p:txBody>
      </p:sp>
      <p:pic>
        <p:nvPicPr>
          <p:cNvPr id="59" name="Graphique 58" descr="Femme portant un panneau">
            <a:extLst>
              <a:ext uri="{FF2B5EF4-FFF2-40B4-BE49-F238E27FC236}">
                <a16:creationId xmlns:a16="http://schemas.microsoft.com/office/drawing/2014/main" id="{DB049E45-7FF1-491F-B939-34152659A7E6}"/>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b="48520"/>
          <a:stretch/>
        </p:blipFill>
        <p:spPr>
          <a:xfrm>
            <a:off x="108581" y="3250801"/>
            <a:ext cx="3962956" cy="3607199"/>
          </a:xfrm>
          <a:prstGeom prst="rect">
            <a:avLst/>
          </a:prstGeom>
        </p:spPr>
      </p:pic>
      <p:sp>
        <p:nvSpPr>
          <p:cNvPr id="60" name="Espace réservé du texte 15">
            <a:extLst>
              <a:ext uri="{FF2B5EF4-FFF2-40B4-BE49-F238E27FC236}">
                <a16:creationId xmlns:a16="http://schemas.microsoft.com/office/drawing/2014/main" id="{974AA8AD-004F-4F65-A8F1-A365F548AE10}"/>
              </a:ext>
            </a:extLst>
          </p:cNvPr>
          <p:cNvSpPr txBox="1">
            <a:spLocks/>
          </p:cNvSpPr>
          <p:nvPr/>
        </p:nvSpPr>
        <p:spPr>
          <a:xfrm>
            <a:off x="442048" y="5054401"/>
            <a:ext cx="3061317" cy="175455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a:t>QUELS TYPES DE </a:t>
            </a:r>
            <a:r>
              <a:rPr lang="fr-FR" sz="3200" b="1" i="1">
                <a:solidFill>
                  <a:srgbClr val="0683AA"/>
                </a:solidFill>
              </a:rPr>
              <a:t>SERIOUS</a:t>
            </a:r>
            <a:r>
              <a:rPr lang="fr-FR" sz="3200" b="1" i="1"/>
              <a:t> </a:t>
            </a:r>
            <a:r>
              <a:rPr lang="fr-FR" sz="3200" b="1" i="1">
                <a:solidFill>
                  <a:srgbClr val="ED7D31"/>
                </a:solidFill>
              </a:rPr>
              <a:t>GAMES</a:t>
            </a:r>
            <a:r>
              <a:rPr lang="fr-FR" sz="3200" b="1" i="1"/>
              <a:t> POUR QUELLE PHASE ?</a:t>
            </a:r>
            <a:endParaRPr lang="fr-FR" sz="3200" b="1" i="1">
              <a:solidFill>
                <a:srgbClr val="0683AA"/>
              </a:solidFill>
            </a:endParaRPr>
          </a:p>
        </p:txBody>
      </p:sp>
      <p:sp>
        <p:nvSpPr>
          <p:cNvPr id="61" name="ZoneTexte 60">
            <a:extLst>
              <a:ext uri="{FF2B5EF4-FFF2-40B4-BE49-F238E27FC236}">
                <a16:creationId xmlns:a16="http://schemas.microsoft.com/office/drawing/2014/main" id="{C8D522B4-4243-462B-8FF5-67D47724E2BC}"/>
              </a:ext>
            </a:extLst>
          </p:cNvPr>
          <p:cNvSpPr txBox="1"/>
          <p:nvPr/>
        </p:nvSpPr>
        <p:spPr>
          <a:xfrm>
            <a:off x="4661180" y="3035910"/>
            <a:ext cx="1082981" cy="830997"/>
          </a:xfrm>
          <a:prstGeom prst="rect">
            <a:avLst/>
          </a:prstGeom>
          <a:noFill/>
        </p:spPr>
        <p:txBody>
          <a:bodyPr wrap="square" rtlCol="0">
            <a:spAutoFit/>
          </a:bodyPr>
          <a:lstStyle/>
          <a:p>
            <a:pPr algn="ctr"/>
            <a:r>
              <a:rPr lang="fr-FR" sz="800"/>
              <a:t>🎲Serious Games de projection (Futures-</a:t>
            </a:r>
            <a:r>
              <a:rPr lang="fr-FR" sz="800" err="1"/>
              <a:t>pectives</a:t>
            </a:r>
            <a:r>
              <a:rPr lang="fr-FR" sz="800"/>
              <a:t>)</a:t>
            </a:r>
          </a:p>
          <a:p>
            <a:pPr algn="ctr"/>
            <a:endParaRPr lang="fr-FR" sz="800"/>
          </a:p>
          <a:p>
            <a:pPr algn="ctr"/>
            <a:r>
              <a:rPr lang="fr-FR" sz="800"/>
              <a:t>Pre-Mortem</a:t>
            </a:r>
          </a:p>
          <a:p>
            <a:pPr algn="ctr"/>
            <a:r>
              <a:rPr lang="fr-FR" sz="800"/>
              <a:t>…</a:t>
            </a:r>
          </a:p>
        </p:txBody>
      </p:sp>
      <p:sp>
        <p:nvSpPr>
          <p:cNvPr id="26" name="ZoneTexte 25">
            <a:extLst>
              <a:ext uri="{FF2B5EF4-FFF2-40B4-BE49-F238E27FC236}">
                <a16:creationId xmlns:a16="http://schemas.microsoft.com/office/drawing/2014/main" id="{6BF4E94B-6382-43DD-BD24-C8E6A53E7E28}"/>
              </a:ext>
            </a:extLst>
          </p:cNvPr>
          <p:cNvSpPr txBox="1"/>
          <p:nvPr/>
        </p:nvSpPr>
        <p:spPr>
          <a:xfrm>
            <a:off x="8345247" y="3028269"/>
            <a:ext cx="1082981" cy="461665"/>
          </a:xfrm>
          <a:prstGeom prst="rect">
            <a:avLst/>
          </a:prstGeom>
          <a:noFill/>
        </p:spPr>
        <p:txBody>
          <a:bodyPr wrap="square" rtlCol="0">
            <a:spAutoFit/>
          </a:bodyPr>
          <a:lstStyle/>
          <a:p>
            <a:pPr algn="ctr"/>
            <a:r>
              <a:rPr lang="fr-FR" sz="800"/>
              <a:t>🎲Serious Games de production, </a:t>
            </a:r>
            <a:r>
              <a:rPr lang="fr-FR" sz="800" err="1"/>
              <a:t>Retrospectives</a:t>
            </a:r>
            <a:endParaRPr lang="fr-FR" sz="800"/>
          </a:p>
        </p:txBody>
      </p:sp>
      <p:sp>
        <p:nvSpPr>
          <p:cNvPr id="27" name="ZoneTexte 26">
            <a:extLst>
              <a:ext uri="{FF2B5EF4-FFF2-40B4-BE49-F238E27FC236}">
                <a16:creationId xmlns:a16="http://schemas.microsoft.com/office/drawing/2014/main" id="{D0B87540-EC9D-424D-ACF3-8D6B037E0DB5}"/>
              </a:ext>
            </a:extLst>
          </p:cNvPr>
          <p:cNvSpPr txBox="1"/>
          <p:nvPr/>
        </p:nvSpPr>
        <p:spPr>
          <a:xfrm>
            <a:off x="9572776" y="3028269"/>
            <a:ext cx="1082981" cy="584775"/>
          </a:xfrm>
          <a:prstGeom prst="rect">
            <a:avLst/>
          </a:prstGeom>
          <a:noFill/>
        </p:spPr>
        <p:txBody>
          <a:bodyPr wrap="square" rtlCol="0">
            <a:spAutoFit/>
          </a:bodyPr>
          <a:lstStyle/>
          <a:p>
            <a:pPr algn="ctr"/>
            <a:r>
              <a:rPr lang="fr-FR" sz="800"/>
              <a:t>🎲Serious Games de simulation avancée</a:t>
            </a:r>
          </a:p>
          <a:p>
            <a:pPr algn="ctr"/>
            <a:endParaRPr lang="fr-FR" sz="800"/>
          </a:p>
          <a:p>
            <a:pPr algn="ctr"/>
            <a:endParaRPr lang="fr-FR" sz="800"/>
          </a:p>
        </p:txBody>
      </p:sp>
      <p:sp>
        <p:nvSpPr>
          <p:cNvPr id="6" name="ZoneTexte 5">
            <a:extLst>
              <a:ext uri="{FF2B5EF4-FFF2-40B4-BE49-F238E27FC236}">
                <a16:creationId xmlns:a16="http://schemas.microsoft.com/office/drawing/2014/main" id="{86C089DE-D8F7-37DD-2CD5-42620390C6C6}"/>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algn="ctr"/>
            <a:r>
              <a:rPr lang="fr-FR" sz="3200" b="1" i="1"/>
              <a:t>Atelier CCC-</a:t>
            </a:r>
            <a:r>
              <a:rPr lang="fr-FR" sz="3200" b="1" i="1" err="1"/>
              <a:t>Decision</a:t>
            </a:r>
            <a:r>
              <a:rPr lang="fr-FR" sz="3200" b="1" i="1"/>
              <a:t> – </a:t>
            </a:r>
            <a:r>
              <a:rPr lang="fr-FR" sz="3200" b="1" i="1">
                <a:solidFill>
                  <a:srgbClr val="ED7D31"/>
                </a:solidFill>
              </a:rPr>
              <a:t>Variante « </a:t>
            </a:r>
            <a:r>
              <a:rPr lang="fr-FR" sz="3200" b="1" i="1" err="1">
                <a:solidFill>
                  <a:srgbClr val="ED7D31"/>
                </a:solidFill>
              </a:rPr>
              <a:t>Serious</a:t>
            </a:r>
            <a:r>
              <a:rPr lang="fr-FR" sz="3200" b="1" i="1">
                <a:solidFill>
                  <a:srgbClr val="ED7D31"/>
                </a:solidFill>
              </a:rPr>
              <a:t> Game »</a:t>
            </a:r>
            <a:endParaRPr lang="fr-FR" sz="3200"/>
          </a:p>
        </p:txBody>
      </p:sp>
    </p:spTree>
    <p:extLst>
      <p:ext uri="{BB962C8B-B14F-4D97-AF65-F5344CB8AC3E}">
        <p14:creationId xmlns:p14="http://schemas.microsoft.com/office/powerpoint/2010/main" val="190307081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337A549B-FB0E-4097-A123-DE5231C2FAB3}"/>
              </a:ext>
            </a:extLst>
          </p:cNvPr>
          <p:cNvSpPr txBox="1">
            <a:spLocks/>
          </p:cNvSpPr>
          <p:nvPr/>
        </p:nvSpPr>
        <p:spPr>
          <a:xfrm>
            <a:off x="0" y="877836"/>
            <a:ext cx="12192000" cy="156119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6000" b="1" i="1"/>
              <a:t>Atelier CCC-</a:t>
            </a:r>
            <a:r>
              <a:rPr lang="fr-FR" sz="6000" b="1" i="1" err="1">
                <a:ea typeface="+mn-lt"/>
                <a:cs typeface="+mn-lt"/>
              </a:rPr>
              <a:t>Ambassadors</a:t>
            </a:r>
            <a:r>
              <a:rPr lang="fr-FR" sz="6000" b="1" i="1">
                <a:ea typeface="+mn-lt"/>
                <a:cs typeface="+mn-lt"/>
              </a:rPr>
              <a:t> </a:t>
            </a:r>
            <a:endParaRPr lang="en-US" sz="6000">
              <a:ea typeface="+mn-lt"/>
              <a:cs typeface="+mn-lt"/>
            </a:endParaRPr>
          </a:p>
          <a:p>
            <a:pPr marL="0" indent="0" algn="ctr">
              <a:buNone/>
            </a:pPr>
            <a:r>
              <a:rPr lang="fr-FR" b="1" i="1"/>
              <a:t>Définir </a:t>
            </a:r>
            <a:r>
              <a:rPr lang="fr-FR" b="1" i="1">
                <a:solidFill>
                  <a:srgbClr val="000000"/>
                </a:solidFill>
              </a:rPr>
              <a:t>un parcours d'</a:t>
            </a:r>
            <a:r>
              <a:rPr lang="fr-FR" b="1" i="1">
                <a:solidFill>
                  <a:srgbClr val="0683AA"/>
                </a:solidFill>
              </a:rPr>
              <a:t>activité</a:t>
            </a:r>
            <a:r>
              <a:rPr lang="fr-FR" b="1" i="1">
                <a:solidFill>
                  <a:srgbClr val="000000"/>
                </a:solidFill>
              </a:rPr>
              <a:t> et de </a:t>
            </a:r>
            <a:r>
              <a:rPr lang="fr-FR" b="1" i="1">
                <a:solidFill>
                  <a:srgbClr val="ED7D31"/>
                </a:solidFill>
              </a:rPr>
              <a:t>formation</a:t>
            </a:r>
            <a:r>
              <a:rPr lang="fr-FR" b="1" i="1">
                <a:solidFill>
                  <a:srgbClr val="000000"/>
                </a:solidFill>
              </a:rPr>
              <a:t> pour les ambassadeurs</a:t>
            </a:r>
            <a:endParaRPr lang="fr-FR" b="1" i="1">
              <a:solidFill>
                <a:srgbClr val="ED7D31"/>
              </a:solidFill>
              <a:cs typeface="Calibri"/>
            </a:endParaRPr>
          </a:p>
        </p:txBody>
      </p:sp>
      <p:grpSp>
        <p:nvGrpSpPr>
          <p:cNvPr id="2" name="Groupe 1">
            <a:extLst>
              <a:ext uri="{FF2B5EF4-FFF2-40B4-BE49-F238E27FC236}">
                <a16:creationId xmlns:a16="http://schemas.microsoft.com/office/drawing/2014/main" id="{55274D86-E242-2318-FDF8-A62685FD268E}"/>
              </a:ext>
            </a:extLst>
          </p:cNvPr>
          <p:cNvGrpSpPr/>
          <p:nvPr/>
        </p:nvGrpSpPr>
        <p:grpSpPr>
          <a:xfrm>
            <a:off x="4128486" y="2760688"/>
            <a:ext cx="3698197" cy="4117299"/>
            <a:chOff x="4128486" y="2379688"/>
            <a:chExt cx="3698197" cy="4117299"/>
          </a:xfrm>
        </p:grpSpPr>
        <p:pic>
          <p:nvPicPr>
            <p:cNvPr id="8" name="Graphique 7" descr="Homme tenant un panneau">
              <a:extLst>
                <a:ext uri="{FF2B5EF4-FFF2-40B4-BE49-F238E27FC236}">
                  <a16:creationId xmlns:a16="http://schemas.microsoft.com/office/drawing/2014/main" id="{D243A25C-5A0A-4F67-BC20-FCD71E7C4AF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9" name="Espace réservé du texte 15">
              <a:extLst>
                <a:ext uri="{FF2B5EF4-FFF2-40B4-BE49-F238E27FC236}">
                  <a16:creationId xmlns:a16="http://schemas.microsoft.com/office/drawing/2014/main" id="{72684439-8F46-4BB9-AF9C-82D301DB2013}"/>
                </a:ext>
              </a:extLst>
            </p:cNvPr>
            <p:cNvSpPr txBox="1">
              <a:spLocks/>
            </p:cNvSpPr>
            <p:nvPr/>
          </p:nvSpPr>
          <p:spPr>
            <a:xfrm>
              <a:off x="4472402" y="4484981"/>
              <a:ext cx="3061317" cy="175455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b="1" i="1" dirty="0">
                  <a:ea typeface="+mn-lt"/>
                  <a:cs typeface="+mn-lt"/>
                </a:rPr>
                <a:t>COMMENT ADAPTER ET FORMER NOS </a:t>
              </a:r>
              <a:r>
                <a:rPr lang="fr-FR" b="1" i="1" dirty="0">
                  <a:solidFill>
                    <a:srgbClr val="ED7D31"/>
                  </a:solidFill>
                  <a:ea typeface="+mn-lt"/>
                  <a:cs typeface="+mn-lt"/>
                </a:rPr>
                <a:t>AMBASSADEURS </a:t>
              </a:r>
              <a:r>
                <a:rPr lang="fr-FR" b="1" i="1" dirty="0">
                  <a:ea typeface="+mn-lt"/>
                  <a:cs typeface="+mn-lt"/>
                </a:rPr>
                <a:t>?</a:t>
              </a:r>
              <a:endParaRPr lang="fr-FR" dirty="0">
                <a:ea typeface="+mn-lt"/>
                <a:cs typeface="+mn-lt"/>
              </a:endParaRPr>
            </a:p>
            <a:p>
              <a:pPr marL="0" indent="0" algn="ctr">
                <a:buFont typeface="Arial" panose="020B0604020202020204" pitchFamily="34" charset="0"/>
                <a:buNone/>
              </a:pPr>
              <a:endParaRPr lang="fr-FR" b="1" i="1" dirty="0">
                <a:solidFill>
                  <a:srgbClr val="000000"/>
                </a:solidFill>
                <a:cs typeface="Calibri"/>
              </a:endParaRPr>
            </a:p>
          </p:txBody>
        </p:sp>
      </p:grpSp>
    </p:spTree>
    <p:extLst>
      <p:ext uri="{BB962C8B-B14F-4D97-AF65-F5344CB8AC3E}">
        <p14:creationId xmlns:p14="http://schemas.microsoft.com/office/powerpoint/2010/main" val="17053716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Bulle narrative : ronde 95">
            <a:extLst>
              <a:ext uri="{FF2B5EF4-FFF2-40B4-BE49-F238E27FC236}">
                <a16:creationId xmlns:a16="http://schemas.microsoft.com/office/drawing/2014/main" id="{CD398584-DCD9-9D4F-52D9-4495C95A0845}"/>
              </a:ext>
            </a:extLst>
          </p:cNvPr>
          <p:cNvSpPr/>
          <p:nvPr/>
        </p:nvSpPr>
        <p:spPr>
          <a:xfrm>
            <a:off x="1006710" y="1354542"/>
            <a:ext cx="5288554" cy="1549178"/>
          </a:xfrm>
          <a:prstGeom prst="wedgeEllipseCallout">
            <a:avLst>
              <a:gd name="adj1" fmla="val -37410"/>
              <a:gd name="adj2" fmla="val 68762"/>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ea typeface="+mn-lt"/>
                <a:cs typeface="+mn-lt"/>
              </a:rPr>
              <a:t>COMMENT FAIRE POUR QUE NOS AMBASSADEURS SOIENT PLUS PERTINENTS DANS LEURS INTERVENTIONS ? ET QU’ILS PUISSENT MIEUX AIDER A CHAQUE PHASE DU CYCLE ?</a:t>
            </a:r>
            <a:endParaRPr lang="fr-FR" sz="1400" dirty="0">
              <a:solidFill>
                <a:schemeClr val="tx1"/>
              </a:solidFill>
              <a:ea typeface="+mn-lt"/>
              <a:cs typeface="+mn-lt"/>
            </a:endParaRPr>
          </a:p>
        </p:txBody>
      </p:sp>
      <p:sp>
        <p:nvSpPr>
          <p:cNvPr id="102" name="ZoneTexte 101">
            <a:extLst>
              <a:ext uri="{FF2B5EF4-FFF2-40B4-BE49-F238E27FC236}">
                <a16:creationId xmlns:a16="http://schemas.microsoft.com/office/drawing/2014/main" id="{0799A5AB-AD78-938E-7007-5DCA37808A62}"/>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Ambassadors</a:t>
            </a:r>
            <a:r>
              <a:rPr lang="fr-FR" sz="3200" b="1" i="1"/>
              <a:t> – </a:t>
            </a:r>
            <a:r>
              <a:rPr lang="fr-FR" sz="3200" b="1" i="1">
                <a:solidFill>
                  <a:srgbClr val="ED7D31"/>
                </a:solidFill>
              </a:rPr>
              <a:t>Pourquoi ?</a:t>
            </a:r>
            <a:endParaRPr lang="fr-FR" sz="3200"/>
          </a:p>
        </p:txBody>
      </p:sp>
      <p:sp>
        <p:nvSpPr>
          <p:cNvPr id="101" name="Bulle narrative : ronde 100">
            <a:extLst>
              <a:ext uri="{FF2B5EF4-FFF2-40B4-BE49-F238E27FC236}">
                <a16:creationId xmlns:a16="http://schemas.microsoft.com/office/drawing/2014/main" id="{022F3626-D395-65A3-DF92-E91BFB9BD679}"/>
              </a:ext>
            </a:extLst>
          </p:cNvPr>
          <p:cNvSpPr/>
          <p:nvPr/>
        </p:nvSpPr>
        <p:spPr>
          <a:xfrm>
            <a:off x="8611341" y="1046041"/>
            <a:ext cx="3444536" cy="1858945"/>
          </a:xfrm>
          <a:prstGeom prst="wedgeEllipseCallout">
            <a:avLst>
              <a:gd name="adj1" fmla="val 15516"/>
              <a:gd name="adj2" fmla="val 77592"/>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rgbClr val="ED7D31"/>
                </a:solidFill>
                <a:ea typeface="+mn-lt"/>
                <a:cs typeface="+mn-lt"/>
              </a:rPr>
              <a:t>L’ATELIER CCC-AMBASSADORS</a:t>
            </a:r>
            <a:r>
              <a:rPr lang="fr-FR" sz="1400" b="1">
                <a:solidFill>
                  <a:schemeClr val="tx1"/>
                </a:solidFill>
                <a:ea typeface="+mn-lt"/>
                <a:cs typeface="+mn-lt"/>
              </a:rPr>
              <a:t> PERMET DE DEFINIR UN PARCOURS D’ACTIVITES ET DE FORMATION POUR LES AMBASSADEURS.</a:t>
            </a:r>
            <a:endParaRPr lang="fr-FR" sz="1400">
              <a:solidFill>
                <a:schemeClr val="tx1"/>
              </a:solidFill>
              <a:ea typeface="+mn-lt"/>
              <a:cs typeface="+mn-lt"/>
            </a:endParaRPr>
          </a:p>
        </p:txBody>
      </p:sp>
      <p:grpSp>
        <p:nvGrpSpPr>
          <p:cNvPr id="27" name="Groupe 26">
            <a:extLst>
              <a:ext uri="{FF2B5EF4-FFF2-40B4-BE49-F238E27FC236}">
                <a16:creationId xmlns:a16="http://schemas.microsoft.com/office/drawing/2014/main" id="{ED39B014-5F6E-DACF-0179-0E5A8560ADC5}"/>
              </a:ext>
            </a:extLst>
          </p:cNvPr>
          <p:cNvGrpSpPr/>
          <p:nvPr/>
        </p:nvGrpSpPr>
        <p:grpSpPr>
          <a:xfrm>
            <a:off x="2325949" y="4050670"/>
            <a:ext cx="7884677" cy="1198231"/>
            <a:chOff x="213802" y="5181377"/>
            <a:chExt cx="11559645" cy="1607883"/>
          </a:xfrm>
        </p:grpSpPr>
        <p:pic>
          <p:nvPicPr>
            <p:cNvPr id="28" name="Graphique 27" descr="Un astronaute avec un remplissage uni">
              <a:extLst>
                <a:ext uri="{FF2B5EF4-FFF2-40B4-BE49-F238E27FC236}">
                  <a16:creationId xmlns:a16="http://schemas.microsoft.com/office/drawing/2014/main" id="{EFACCDFE-98A0-68E7-612F-24E9AF168EF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5199225"/>
              <a:ext cx="914400" cy="914400"/>
            </a:xfrm>
            <a:prstGeom prst="rect">
              <a:avLst/>
            </a:prstGeom>
          </p:spPr>
        </p:pic>
        <p:pic>
          <p:nvPicPr>
            <p:cNvPr id="29" name="Graphique 28" descr="Homme pilote avec un remplissage uni">
              <a:extLst>
                <a:ext uri="{FF2B5EF4-FFF2-40B4-BE49-F238E27FC236}">
                  <a16:creationId xmlns:a16="http://schemas.microsoft.com/office/drawing/2014/main" id="{320854AD-DE8F-F431-107D-FB920B70482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82982" y="5196135"/>
              <a:ext cx="914400" cy="914400"/>
            </a:xfrm>
            <a:prstGeom prst="rect">
              <a:avLst/>
            </a:prstGeom>
          </p:spPr>
        </p:pic>
        <p:pic>
          <p:nvPicPr>
            <p:cNvPr id="30" name="Graphique 29" descr="Homme électricien avec un remplissage uni">
              <a:extLst>
                <a:ext uri="{FF2B5EF4-FFF2-40B4-BE49-F238E27FC236}">
                  <a16:creationId xmlns:a16="http://schemas.microsoft.com/office/drawing/2014/main" id="{5E679C71-D3D4-BAE8-D828-E68D314B6C7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63976" y="5199225"/>
              <a:ext cx="914400" cy="914400"/>
            </a:xfrm>
            <a:prstGeom prst="rect">
              <a:avLst/>
            </a:prstGeom>
          </p:spPr>
        </p:pic>
        <p:pic>
          <p:nvPicPr>
            <p:cNvPr id="31" name="Graphique 30" descr="Homme scientifique avec un remplissage uni">
              <a:extLst>
                <a:ext uri="{FF2B5EF4-FFF2-40B4-BE49-F238E27FC236}">
                  <a16:creationId xmlns:a16="http://schemas.microsoft.com/office/drawing/2014/main" id="{5DB8B012-5FA8-3652-A49A-860644E396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898543" y="5199225"/>
              <a:ext cx="914400" cy="914400"/>
            </a:xfrm>
            <a:prstGeom prst="rect">
              <a:avLst/>
            </a:prstGeom>
          </p:spPr>
        </p:pic>
        <p:pic>
          <p:nvPicPr>
            <p:cNvPr id="32" name="Graphique 31" descr="Employé de bureau avec un remplissage uni">
              <a:extLst>
                <a:ext uri="{FF2B5EF4-FFF2-40B4-BE49-F238E27FC236}">
                  <a16:creationId xmlns:a16="http://schemas.microsoft.com/office/drawing/2014/main" id="{B9CA086A-6910-AE85-4328-C5A2A367EC2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968160" y="5181377"/>
              <a:ext cx="914400" cy="914400"/>
            </a:xfrm>
            <a:prstGeom prst="rect">
              <a:avLst/>
            </a:prstGeom>
          </p:spPr>
        </p:pic>
        <p:pic>
          <p:nvPicPr>
            <p:cNvPr id="33" name="Graphique 32" descr="Homme détective avec un remplissage uni">
              <a:extLst>
                <a:ext uri="{FF2B5EF4-FFF2-40B4-BE49-F238E27FC236}">
                  <a16:creationId xmlns:a16="http://schemas.microsoft.com/office/drawing/2014/main" id="{5B35418C-40BB-BE01-C33C-15B5557B6F9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133110" y="5199225"/>
              <a:ext cx="914400" cy="914400"/>
            </a:xfrm>
            <a:prstGeom prst="rect">
              <a:avLst/>
            </a:prstGeom>
          </p:spPr>
        </p:pic>
        <p:sp>
          <p:nvSpPr>
            <p:cNvPr id="34" name="ZoneTexte 33">
              <a:extLst>
                <a:ext uri="{FF2B5EF4-FFF2-40B4-BE49-F238E27FC236}">
                  <a16:creationId xmlns:a16="http://schemas.microsoft.com/office/drawing/2014/main" id="{C547B8B7-C9ED-52C2-AA13-1CDECB497696}"/>
                </a:ext>
              </a:extLst>
            </p:cNvPr>
            <p:cNvSpPr txBox="1"/>
            <p:nvPr/>
          </p:nvSpPr>
          <p:spPr>
            <a:xfrm>
              <a:off x="213802" y="6070092"/>
              <a:ext cx="1232674" cy="582059"/>
            </a:xfrm>
            <a:prstGeom prst="rect">
              <a:avLst/>
            </a:prstGeom>
            <a:noFill/>
          </p:spPr>
          <p:txBody>
            <a:bodyPr wrap="square">
              <a:spAutoFit/>
            </a:bodyPr>
            <a:lstStyle/>
            <a:p>
              <a:pPr marL="0" indent="0" algn="ctr">
                <a:buFont typeface="Arial" panose="020B0604020202020204" pitchFamily="34" charset="0"/>
                <a:buNone/>
              </a:pPr>
              <a:r>
                <a:rPr lang="fr-FR" sz="700" b="1" i="1"/>
                <a:t>AMBASSADEURS VISIONNAIRES </a:t>
              </a:r>
            </a:p>
            <a:p>
              <a:pPr marL="0" indent="0" algn="ctr">
                <a:buFont typeface="Arial" panose="020B0604020202020204" pitchFamily="34" charset="0"/>
                <a:buNone/>
              </a:pPr>
              <a:r>
                <a:rPr lang="fr-FR" sz="700" b="1" i="1"/>
                <a:t>&amp; « PRÊCHEURS»</a:t>
              </a:r>
            </a:p>
          </p:txBody>
        </p:sp>
        <p:sp>
          <p:nvSpPr>
            <p:cNvPr id="35" name="ZoneTexte 34">
              <a:extLst>
                <a:ext uri="{FF2B5EF4-FFF2-40B4-BE49-F238E27FC236}">
                  <a16:creationId xmlns:a16="http://schemas.microsoft.com/office/drawing/2014/main" id="{2578845F-CD9E-D936-24B1-AB0A5C78F21A}"/>
                </a:ext>
              </a:extLst>
            </p:cNvPr>
            <p:cNvSpPr txBox="1"/>
            <p:nvPr/>
          </p:nvSpPr>
          <p:spPr>
            <a:xfrm>
              <a:off x="1941268" y="6074645"/>
              <a:ext cx="1232674" cy="714615"/>
            </a:xfrm>
            <a:prstGeom prst="rect">
              <a:avLst/>
            </a:prstGeom>
            <a:noFill/>
          </p:spPr>
          <p:txBody>
            <a:bodyPr wrap="square">
              <a:spAutoFit/>
            </a:bodyPr>
            <a:lstStyle/>
            <a:p>
              <a:pPr marL="0" indent="0" algn="ctr">
                <a:buFont typeface="Arial" panose="020B0604020202020204" pitchFamily="34" charset="0"/>
                <a:buNone/>
              </a:pPr>
              <a:r>
                <a:rPr lang="fr-FR" sz="700" b="1" i="1"/>
                <a:t>AMBASSADEURS DÉTECTIVES DE CONTRAINTES ET D’OPPORTUNITÉS</a:t>
              </a:r>
            </a:p>
          </p:txBody>
        </p:sp>
        <p:sp>
          <p:nvSpPr>
            <p:cNvPr id="36" name="ZoneTexte 35">
              <a:extLst>
                <a:ext uri="{FF2B5EF4-FFF2-40B4-BE49-F238E27FC236}">
                  <a16:creationId xmlns:a16="http://schemas.microsoft.com/office/drawing/2014/main" id="{5BA67885-EB87-0BE6-F1FB-4EA6FAC02357}"/>
                </a:ext>
              </a:extLst>
            </p:cNvPr>
            <p:cNvSpPr txBox="1"/>
            <p:nvPr/>
          </p:nvSpPr>
          <p:spPr>
            <a:xfrm>
              <a:off x="3734145" y="6110536"/>
              <a:ext cx="1232674"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PROFESSEURS</a:t>
              </a:r>
            </a:p>
          </p:txBody>
        </p:sp>
        <p:sp>
          <p:nvSpPr>
            <p:cNvPr id="37" name="ZoneTexte 36">
              <a:extLst>
                <a:ext uri="{FF2B5EF4-FFF2-40B4-BE49-F238E27FC236}">
                  <a16:creationId xmlns:a16="http://schemas.microsoft.com/office/drawing/2014/main" id="{B25C9E50-B554-203D-113E-0EF1AD8BA14B}"/>
                </a:ext>
              </a:extLst>
            </p:cNvPr>
            <p:cNvSpPr txBox="1"/>
            <p:nvPr/>
          </p:nvSpPr>
          <p:spPr>
            <a:xfrm>
              <a:off x="5479663" y="6110536"/>
              <a:ext cx="1232674"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SUPPORT</a:t>
              </a:r>
            </a:p>
          </p:txBody>
        </p:sp>
        <p:sp>
          <p:nvSpPr>
            <p:cNvPr id="38" name="ZoneTexte 37">
              <a:extLst>
                <a:ext uri="{FF2B5EF4-FFF2-40B4-BE49-F238E27FC236}">
                  <a16:creationId xmlns:a16="http://schemas.microsoft.com/office/drawing/2014/main" id="{E1B93836-5E4C-A323-BC04-0EACF2E03B1C}"/>
                </a:ext>
              </a:extLst>
            </p:cNvPr>
            <p:cNvSpPr txBox="1"/>
            <p:nvPr/>
          </p:nvSpPr>
          <p:spPr>
            <a:xfrm>
              <a:off x="8738393" y="6056796"/>
              <a:ext cx="1373933"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 COMMERCIAUX »</a:t>
              </a:r>
            </a:p>
          </p:txBody>
        </p:sp>
        <p:sp>
          <p:nvSpPr>
            <p:cNvPr id="39" name="ZoneTexte 38">
              <a:extLst>
                <a:ext uri="{FF2B5EF4-FFF2-40B4-BE49-F238E27FC236}">
                  <a16:creationId xmlns:a16="http://schemas.microsoft.com/office/drawing/2014/main" id="{6582A42E-92B8-FBDD-C275-66BEB2C60C99}"/>
                </a:ext>
              </a:extLst>
            </p:cNvPr>
            <p:cNvSpPr txBox="1"/>
            <p:nvPr/>
          </p:nvSpPr>
          <p:spPr>
            <a:xfrm>
              <a:off x="7142146" y="6081667"/>
              <a:ext cx="1373933"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a:t>
              </a:r>
            </a:p>
            <a:p>
              <a:pPr marL="0" indent="0" algn="ctr">
                <a:buFont typeface="Arial" panose="020B0604020202020204" pitchFamily="34" charset="0"/>
                <a:buNone/>
              </a:pPr>
              <a:r>
                <a:rPr lang="fr-FR" sz="700" b="1" i="1"/>
                <a:t>AUDITEURS</a:t>
              </a:r>
            </a:p>
          </p:txBody>
        </p:sp>
        <p:pic>
          <p:nvPicPr>
            <p:cNvPr id="40" name="Graphique 39" descr="Programmeur avec un remplissage uni">
              <a:extLst>
                <a:ext uri="{FF2B5EF4-FFF2-40B4-BE49-F238E27FC236}">
                  <a16:creationId xmlns:a16="http://schemas.microsoft.com/office/drawing/2014/main" id="{D639841F-4BD7-C039-4D0F-20E54BDB1BD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401623" y="5181377"/>
              <a:ext cx="914400" cy="914400"/>
            </a:xfrm>
            <a:prstGeom prst="rect">
              <a:avLst/>
            </a:prstGeom>
          </p:spPr>
        </p:pic>
        <p:sp>
          <p:nvSpPr>
            <p:cNvPr id="41" name="ZoneTexte 40">
              <a:extLst>
                <a:ext uri="{FF2B5EF4-FFF2-40B4-BE49-F238E27FC236}">
                  <a16:creationId xmlns:a16="http://schemas.microsoft.com/office/drawing/2014/main" id="{DEA33A9C-FA0C-4F21-1591-D0D7520E2417}"/>
                </a:ext>
              </a:extLst>
            </p:cNvPr>
            <p:cNvSpPr txBox="1"/>
            <p:nvPr/>
          </p:nvSpPr>
          <p:spPr>
            <a:xfrm>
              <a:off x="10399514" y="6051434"/>
              <a:ext cx="1373933"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DIPLOMATES</a:t>
              </a:r>
            </a:p>
          </p:txBody>
        </p:sp>
      </p:grpSp>
      <p:grpSp>
        <p:nvGrpSpPr>
          <p:cNvPr id="42" name="Groupe 41">
            <a:extLst>
              <a:ext uri="{FF2B5EF4-FFF2-40B4-BE49-F238E27FC236}">
                <a16:creationId xmlns:a16="http://schemas.microsoft.com/office/drawing/2014/main" id="{B9BC8ED8-3477-420D-2B31-5EA746FC818D}"/>
              </a:ext>
            </a:extLst>
          </p:cNvPr>
          <p:cNvGrpSpPr/>
          <p:nvPr/>
        </p:nvGrpSpPr>
        <p:grpSpPr>
          <a:xfrm>
            <a:off x="2325949" y="3049769"/>
            <a:ext cx="7924090" cy="921374"/>
            <a:chOff x="11600" y="1496380"/>
            <a:chExt cx="12038120" cy="1498765"/>
          </a:xfrm>
        </p:grpSpPr>
        <p:grpSp>
          <p:nvGrpSpPr>
            <p:cNvPr id="43" name="Groupe 42">
              <a:extLst>
                <a:ext uri="{FF2B5EF4-FFF2-40B4-BE49-F238E27FC236}">
                  <a16:creationId xmlns:a16="http://schemas.microsoft.com/office/drawing/2014/main" id="{DD002106-F90A-7C14-90E7-210E49E26738}"/>
                </a:ext>
              </a:extLst>
            </p:cNvPr>
            <p:cNvGrpSpPr/>
            <p:nvPr/>
          </p:nvGrpSpPr>
          <p:grpSpPr>
            <a:xfrm>
              <a:off x="11600" y="2499558"/>
              <a:ext cx="12038120" cy="495587"/>
              <a:chOff x="0" y="2140394"/>
              <a:chExt cx="12854128" cy="4544491"/>
            </a:xfrm>
          </p:grpSpPr>
          <p:sp>
            <p:nvSpPr>
              <p:cNvPr id="51" name="Espace réservé du texte 15">
                <a:extLst>
                  <a:ext uri="{FF2B5EF4-FFF2-40B4-BE49-F238E27FC236}">
                    <a16:creationId xmlns:a16="http://schemas.microsoft.com/office/drawing/2014/main" id="{EFCAAF01-A933-DE11-848E-A5136DD1EC6A}"/>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52" name="Espace réservé du texte 15">
                <a:extLst>
                  <a:ext uri="{FF2B5EF4-FFF2-40B4-BE49-F238E27FC236}">
                    <a16:creationId xmlns:a16="http://schemas.microsoft.com/office/drawing/2014/main" id="{B28AB218-6170-1650-A263-A4446E759B97}"/>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53" name="Espace réservé du texte 15">
                <a:extLst>
                  <a:ext uri="{FF2B5EF4-FFF2-40B4-BE49-F238E27FC236}">
                    <a16:creationId xmlns:a16="http://schemas.microsoft.com/office/drawing/2014/main" id="{AC7FED5F-E440-42FE-A7EF-EB45017BC87C}"/>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54" name="Espace réservé du texte 15">
                <a:extLst>
                  <a:ext uri="{FF2B5EF4-FFF2-40B4-BE49-F238E27FC236}">
                    <a16:creationId xmlns:a16="http://schemas.microsoft.com/office/drawing/2014/main" id="{3E8B91A8-CF50-FE00-CA26-19EEEAE5F91D}"/>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55" name="Espace réservé du texte 15">
                <a:extLst>
                  <a:ext uri="{FF2B5EF4-FFF2-40B4-BE49-F238E27FC236}">
                    <a16:creationId xmlns:a16="http://schemas.microsoft.com/office/drawing/2014/main" id="{A8A807CA-7D3D-436D-9A68-B678C0692EC0}"/>
                  </a:ext>
                </a:extLst>
              </p:cNvPr>
              <p:cNvSpPr txBox="1">
                <a:spLocks/>
              </p:cNvSpPr>
              <p:nvPr/>
            </p:nvSpPr>
            <p:spPr>
              <a:xfrm>
                <a:off x="7349728" y="2140394"/>
                <a:ext cx="1855434" cy="454449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56" name="Espace réservé du texte 15">
                <a:extLst>
                  <a:ext uri="{FF2B5EF4-FFF2-40B4-BE49-F238E27FC236}">
                    <a16:creationId xmlns:a16="http://schemas.microsoft.com/office/drawing/2014/main" id="{5BA25CA5-F055-A5C5-395F-78B20830FEAC}"/>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57" name="Espace réservé du texte 15">
                <a:extLst>
                  <a:ext uri="{FF2B5EF4-FFF2-40B4-BE49-F238E27FC236}">
                    <a16:creationId xmlns:a16="http://schemas.microsoft.com/office/drawing/2014/main" id="{C652EDF5-0F19-F76F-22EF-2FC980DF4A7B}"/>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44" name="Graphique 43" descr="Ampoule avec un remplissage uni">
              <a:extLst>
                <a:ext uri="{FF2B5EF4-FFF2-40B4-BE49-F238E27FC236}">
                  <a16:creationId xmlns:a16="http://schemas.microsoft.com/office/drawing/2014/main" id="{393CF894-0210-9859-F644-8BBAC72A02B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60868" y="1496380"/>
              <a:ext cx="914400" cy="914400"/>
            </a:xfrm>
            <a:prstGeom prst="rect">
              <a:avLst/>
            </a:prstGeom>
          </p:spPr>
        </p:pic>
        <p:pic>
          <p:nvPicPr>
            <p:cNvPr id="45" name="Graphique 44" descr="Seau et pelle avec un remplissage uni">
              <a:extLst>
                <a:ext uri="{FF2B5EF4-FFF2-40B4-BE49-F238E27FC236}">
                  <a16:creationId xmlns:a16="http://schemas.microsoft.com/office/drawing/2014/main" id="{61CE581F-8C82-FB7E-AB94-32CBF307BF7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098515" y="1496380"/>
              <a:ext cx="914400" cy="914400"/>
            </a:xfrm>
            <a:prstGeom prst="rect">
              <a:avLst/>
            </a:prstGeom>
          </p:spPr>
        </p:pic>
        <p:pic>
          <p:nvPicPr>
            <p:cNvPr id="46" name="Graphique 45" descr="Tubes à essai avec un remplissage uni">
              <a:extLst>
                <a:ext uri="{FF2B5EF4-FFF2-40B4-BE49-F238E27FC236}">
                  <a16:creationId xmlns:a16="http://schemas.microsoft.com/office/drawing/2014/main" id="{74B97C48-F6A2-0A33-01B2-EC1D5EA129CF}"/>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33203" y="1496380"/>
              <a:ext cx="914400" cy="914400"/>
            </a:xfrm>
            <a:prstGeom prst="rect">
              <a:avLst/>
            </a:prstGeom>
          </p:spPr>
        </p:pic>
        <p:pic>
          <p:nvPicPr>
            <p:cNvPr id="47" name="Graphique 46" descr="Explosion avec un remplissage uni">
              <a:extLst>
                <a:ext uri="{FF2B5EF4-FFF2-40B4-BE49-F238E27FC236}">
                  <a16:creationId xmlns:a16="http://schemas.microsoft.com/office/drawing/2014/main" id="{35A4FABC-D11C-7FDE-B241-DC5623B50F77}"/>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573460" y="1496380"/>
              <a:ext cx="914400" cy="914400"/>
            </a:xfrm>
            <a:prstGeom prst="rect">
              <a:avLst/>
            </a:prstGeom>
          </p:spPr>
        </p:pic>
        <p:pic>
          <p:nvPicPr>
            <p:cNvPr id="48" name="Graphique 47" descr="Trophée avec un remplissage uni">
              <a:extLst>
                <a:ext uri="{FF2B5EF4-FFF2-40B4-BE49-F238E27FC236}">
                  <a16:creationId xmlns:a16="http://schemas.microsoft.com/office/drawing/2014/main" id="{93B5497B-2DBF-E62B-EBFC-15A5352EE0D1}"/>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286742" y="1510822"/>
              <a:ext cx="914401" cy="914399"/>
            </a:xfrm>
            <a:prstGeom prst="rect">
              <a:avLst/>
            </a:prstGeom>
          </p:spPr>
        </p:pic>
        <p:pic>
          <p:nvPicPr>
            <p:cNvPr id="49" name="Graphique 48" descr="Assiette couverte avec un remplissage uni">
              <a:extLst>
                <a:ext uri="{FF2B5EF4-FFF2-40B4-BE49-F238E27FC236}">
                  <a16:creationId xmlns:a16="http://schemas.microsoft.com/office/drawing/2014/main" id="{90AE9690-1784-F39B-1EE8-5BA7C1094949}"/>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048405" y="1496380"/>
              <a:ext cx="914400" cy="914400"/>
            </a:xfrm>
            <a:prstGeom prst="rect">
              <a:avLst/>
            </a:prstGeom>
          </p:spPr>
        </p:pic>
        <p:pic>
          <p:nvPicPr>
            <p:cNvPr id="50" name="Graphique 49" descr="Scène de château avec un remplissage uni">
              <a:extLst>
                <a:ext uri="{FF2B5EF4-FFF2-40B4-BE49-F238E27FC236}">
                  <a16:creationId xmlns:a16="http://schemas.microsoft.com/office/drawing/2014/main" id="{532966C5-75C0-36C9-5C45-028C7CB9803C}"/>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0783093" y="1496380"/>
              <a:ext cx="914400" cy="914400"/>
            </a:xfrm>
            <a:prstGeom prst="rect">
              <a:avLst/>
            </a:prstGeom>
          </p:spPr>
        </p:pic>
      </p:grpSp>
      <p:pic>
        <p:nvPicPr>
          <p:cNvPr id="106" name="Graphique 3" descr="Femme portant un tailleur">
            <a:extLst>
              <a:ext uri="{FF2B5EF4-FFF2-40B4-BE49-F238E27FC236}">
                <a16:creationId xmlns:a16="http://schemas.microsoft.com/office/drawing/2014/main" id="{B84E0861-DB79-5DCE-2CD8-55C276B8A5BC}"/>
              </a:ext>
            </a:extLst>
          </p:cNvPr>
          <p:cNvPicPr>
            <a:picLocks noChangeAspect="1"/>
          </p:cNvPicPr>
          <p:nvPr/>
        </p:nvPicPr>
        <p:blipFill rotWithShape="1">
          <a:blip r:embed="rId30">
            <a:extLst>
              <a:ext uri="{96DAC541-7B7A-43D3-8B79-37D633B846F1}">
                <asvg:svgBlip xmlns:asvg="http://schemas.microsoft.com/office/drawing/2016/SVG/main" r:embed="rId31"/>
              </a:ext>
            </a:extLst>
          </a:blip>
          <a:srcRect b="17515"/>
          <a:stretch/>
        </p:blipFill>
        <p:spPr>
          <a:xfrm>
            <a:off x="254705" y="2570861"/>
            <a:ext cx="2493401" cy="4287139"/>
          </a:xfrm>
          <a:prstGeom prst="rect">
            <a:avLst/>
          </a:prstGeom>
        </p:spPr>
      </p:pic>
      <p:pic>
        <p:nvPicPr>
          <p:cNvPr id="3" name="Graphique 2" descr="Homme en polo">
            <a:extLst>
              <a:ext uri="{FF2B5EF4-FFF2-40B4-BE49-F238E27FC236}">
                <a16:creationId xmlns:a16="http://schemas.microsoft.com/office/drawing/2014/main" id="{2799E0F3-F0EB-6CE4-3BB4-CA535D40A8C7}"/>
              </a:ext>
            </a:extLst>
          </p:cNvPr>
          <p:cNvPicPr>
            <a:picLocks noChangeAspect="1"/>
          </p:cNvPicPr>
          <p:nvPr/>
        </p:nvPicPr>
        <p:blipFill rotWithShape="1">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rcRect b="41673"/>
          <a:stretch/>
        </p:blipFill>
        <p:spPr>
          <a:xfrm flipH="1">
            <a:off x="10120229" y="3292483"/>
            <a:ext cx="1983482" cy="3565517"/>
          </a:xfrm>
          <a:prstGeom prst="rect">
            <a:avLst/>
          </a:prstGeom>
        </p:spPr>
      </p:pic>
    </p:spTree>
    <p:extLst>
      <p:ext uri="{BB962C8B-B14F-4D97-AF65-F5344CB8AC3E}">
        <p14:creationId xmlns:p14="http://schemas.microsoft.com/office/powerpoint/2010/main" val="24487509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D270EF62-074B-43A4-8317-656159F178E6}"/>
              </a:ext>
            </a:extLst>
          </p:cNvPr>
          <p:cNvSpPr>
            <a:spLocks noGrp="1"/>
          </p:cNvSpPr>
          <p:nvPr>
            <p:ph type="body" sz="quarter" idx="16"/>
          </p:nvPr>
        </p:nvSpPr>
        <p:spPr>
          <a:xfrm>
            <a:off x="232483" y="4532611"/>
            <a:ext cx="5956649" cy="1344405"/>
          </a:xfrm>
        </p:spPr>
        <p:txBody>
          <a:bodyPr/>
          <a:lstStyle/>
          <a:p>
            <a:r>
              <a:rPr lang="fr-FR" sz="1600" dirty="0"/>
              <a:t>Dans cet atelier, les ambassadeurs sont définis comme des personnes pouvant assister les membres sur une phase donnée</a:t>
            </a:r>
          </a:p>
          <a:p>
            <a:pPr marL="342900" indent="-342900">
              <a:buAutoNum type="arabicParenR"/>
            </a:pPr>
            <a:r>
              <a:rPr lang="fr-FR" sz="1600" dirty="0"/>
              <a:t>Placer les </a:t>
            </a:r>
            <a:r>
              <a:rPr lang="fr-FR" sz="1600" b="1" dirty="0">
                <a:solidFill>
                  <a:srgbClr val="ED7D31"/>
                </a:solidFill>
              </a:rPr>
              <a:t>ambassadeurs</a:t>
            </a:r>
            <a:r>
              <a:rPr lang="fr-FR" sz="1600" dirty="0"/>
              <a:t> que votre service/communauté possède sur les phases respectives, en vous aidant de la diapo jointe : </a:t>
            </a:r>
            <a:r>
              <a:rPr lang="fr-FR" sz="1600" dirty="0">
                <a:hlinkClick r:id="rId2" action="ppaction://hlinksldjump"/>
              </a:rPr>
              <a:t>postures des ambassadeurs</a:t>
            </a:r>
            <a:r>
              <a:rPr lang="fr-FR" sz="1600" dirty="0"/>
              <a:t>.</a:t>
            </a:r>
          </a:p>
        </p:txBody>
      </p:sp>
      <p:sp>
        <p:nvSpPr>
          <p:cNvPr id="10" name="Espace réservé du texte 9">
            <a:extLst>
              <a:ext uri="{FF2B5EF4-FFF2-40B4-BE49-F238E27FC236}">
                <a16:creationId xmlns:a16="http://schemas.microsoft.com/office/drawing/2014/main" id="{26F94D76-5FD0-46F1-B9FD-333007552F50}"/>
              </a:ext>
            </a:extLst>
          </p:cNvPr>
          <p:cNvSpPr>
            <a:spLocks noGrp="1"/>
          </p:cNvSpPr>
          <p:nvPr>
            <p:ph type="body" sz="quarter" idx="18"/>
          </p:nvPr>
        </p:nvSpPr>
        <p:spPr>
          <a:xfrm>
            <a:off x="6660743" y="4544525"/>
            <a:ext cx="5298774" cy="1332491"/>
          </a:xfrm>
        </p:spPr>
        <p:txBody>
          <a:bodyPr vert="horz" lIns="91440" tIns="45720" rIns="91440" bIns="45720" rtlCol="0" anchor="t">
            <a:noAutofit/>
          </a:bodyPr>
          <a:lstStyle/>
          <a:p>
            <a:r>
              <a:rPr lang="fr-FR" sz="1600"/>
              <a:t>2) Lister les compétences requises par phase pour chaque type d’ambassadeurs, pour initier un parcours apprenant. </a:t>
            </a:r>
            <a:endParaRPr lang="fr-FR"/>
          </a:p>
        </p:txBody>
      </p:sp>
      <p:sp>
        <p:nvSpPr>
          <p:cNvPr id="49" name="ZoneTexte 48">
            <a:extLst>
              <a:ext uri="{FF2B5EF4-FFF2-40B4-BE49-F238E27FC236}">
                <a16:creationId xmlns:a16="http://schemas.microsoft.com/office/drawing/2014/main" id="{629C4CC7-9112-2B62-C58A-AF25F78DAE55}"/>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Ambassadors</a:t>
            </a:r>
            <a:r>
              <a:rPr lang="fr-FR" sz="3200" b="1" i="1"/>
              <a:t> – </a:t>
            </a:r>
            <a:r>
              <a:rPr lang="fr-FR" sz="3200" b="1" i="1">
                <a:solidFill>
                  <a:srgbClr val="ED7D31"/>
                </a:solidFill>
              </a:rPr>
              <a:t>Vue d’ensemble</a:t>
            </a:r>
            <a:endParaRPr lang="fr-FR" sz="3200"/>
          </a:p>
        </p:txBody>
      </p:sp>
      <p:grpSp>
        <p:nvGrpSpPr>
          <p:cNvPr id="57" name="Groupe 56">
            <a:extLst>
              <a:ext uri="{FF2B5EF4-FFF2-40B4-BE49-F238E27FC236}">
                <a16:creationId xmlns:a16="http://schemas.microsoft.com/office/drawing/2014/main" id="{B2D2B0AB-E1A6-B89E-8D8A-BB1AE2D3485E}"/>
              </a:ext>
            </a:extLst>
          </p:cNvPr>
          <p:cNvGrpSpPr/>
          <p:nvPr/>
        </p:nvGrpSpPr>
        <p:grpSpPr>
          <a:xfrm>
            <a:off x="242209" y="1927274"/>
            <a:ext cx="5956649" cy="918107"/>
            <a:chOff x="11600" y="1496380"/>
            <a:chExt cx="12038120" cy="1498765"/>
          </a:xfrm>
        </p:grpSpPr>
        <p:grpSp>
          <p:nvGrpSpPr>
            <p:cNvPr id="58" name="Groupe 57">
              <a:extLst>
                <a:ext uri="{FF2B5EF4-FFF2-40B4-BE49-F238E27FC236}">
                  <a16:creationId xmlns:a16="http://schemas.microsoft.com/office/drawing/2014/main" id="{5D965168-7A5C-034B-AE8D-17197C87ACDB}"/>
                </a:ext>
              </a:extLst>
            </p:cNvPr>
            <p:cNvGrpSpPr/>
            <p:nvPr/>
          </p:nvGrpSpPr>
          <p:grpSpPr>
            <a:xfrm>
              <a:off x="11600" y="2499558"/>
              <a:ext cx="12038120" cy="495587"/>
              <a:chOff x="0" y="2140394"/>
              <a:chExt cx="12854128" cy="4544491"/>
            </a:xfrm>
          </p:grpSpPr>
          <p:sp>
            <p:nvSpPr>
              <p:cNvPr id="66" name="Espace réservé du texte 15">
                <a:extLst>
                  <a:ext uri="{FF2B5EF4-FFF2-40B4-BE49-F238E27FC236}">
                    <a16:creationId xmlns:a16="http://schemas.microsoft.com/office/drawing/2014/main" id="{909CBD56-0DA5-A8FF-8F22-54E4148A0B6C}"/>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INSPIRATION</a:t>
                </a:r>
              </a:p>
              <a:p>
                <a:pPr marL="0" indent="0" algn="ctr">
                  <a:buFont typeface="Arial" panose="020B0604020202020204" pitchFamily="34" charset="0"/>
                  <a:buNone/>
                </a:pPr>
                <a:endParaRPr lang="fr-FR" sz="700" b="1" i="1">
                  <a:solidFill>
                    <a:srgbClr val="ED7D31"/>
                  </a:solidFill>
                </a:endParaRPr>
              </a:p>
            </p:txBody>
          </p:sp>
          <p:sp>
            <p:nvSpPr>
              <p:cNvPr id="67" name="Espace réservé du texte 15">
                <a:extLst>
                  <a:ext uri="{FF2B5EF4-FFF2-40B4-BE49-F238E27FC236}">
                    <a16:creationId xmlns:a16="http://schemas.microsoft.com/office/drawing/2014/main" id="{8764512F-29DB-CE24-AED8-DA966905D07C}"/>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COLLECTE</a:t>
                </a:r>
              </a:p>
              <a:p>
                <a:pPr marL="0" indent="0" algn="ctr">
                  <a:buFont typeface="Arial" panose="020B0604020202020204" pitchFamily="34" charset="0"/>
                  <a:buNone/>
                </a:pPr>
                <a:endParaRPr lang="fr-FR" sz="700" b="1" i="1">
                  <a:solidFill>
                    <a:srgbClr val="ED7D31"/>
                  </a:solidFill>
                </a:endParaRPr>
              </a:p>
            </p:txBody>
          </p:sp>
          <p:sp>
            <p:nvSpPr>
              <p:cNvPr id="68" name="Espace réservé du texte 15">
                <a:extLst>
                  <a:ext uri="{FF2B5EF4-FFF2-40B4-BE49-F238E27FC236}">
                    <a16:creationId xmlns:a16="http://schemas.microsoft.com/office/drawing/2014/main" id="{78573FE4-2E04-5FCD-6762-8B67C9C28E94}"/>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INITIATION</a:t>
                </a:r>
              </a:p>
              <a:p>
                <a:pPr marL="0" indent="0" algn="ctr">
                  <a:buFont typeface="Arial" panose="020B0604020202020204" pitchFamily="34" charset="0"/>
                  <a:buNone/>
                </a:pPr>
                <a:endParaRPr lang="fr-FR" sz="700" b="1" i="1">
                  <a:solidFill>
                    <a:srgbClr val="ED7D31"/>
                  </a:solidFill>
                </a:endParaRPr>
              </a:p>
            </p:txBody>
          </p:sp>
          <p:sp>
            <p:nvSpPr>
              <p:cNvPr id="69" name="Espace réservé du texte 15">
                <a:extLst>
                  <a:ext uri="{FF2B5EF4-FFF2-40B4-BE49-F238E27FC236}">
                    <a16:creationId xmlns:a16="http://schemas.microsoft.com/office/drawing/2014/main" id="{3668D918-1C8F-182F-FB3C-72F4D1DF583B}"/>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CHOC DE LA RÉALITÉ</a:t>
                </a:r>
              </a:p>
              <a:p>
                <a:pPr marL="0" indent="0" algn="ctr">
                  <a:buFont typeface="Arial" panose="020B0604020202020204" pitchFamily="34" charset="0"/>
                  <a:buNone/>
                </a:pPr>
                <a:endParaRPr lang="fr-FR" sz="700" b="1" i="1">
                  <a:solidFill>
                    <a:srgbClr val="ED7D31"/>
                  </a:solidFill>
                </a:endParaRPr>
              </a:p>
            </p:txBody>
          </p:sp>
          <p:sp>
            <p:nvSpPr>
              <p:cNvPr id="70" name="Espace réservé du texte 15">
                <a:extLst>
                  <a:ext uri="{FF2B5EF4-FFF2-40B4-BE49-F238E27FC236}">
                    <a16:creationId xmlns:a16="http://schemas.microsoft.com/office/drawing/2014/main" id="{4B18AE2E-9BC5-7D1C-06D1-32D4DB2CD9AA}"/>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CONFIRMATION DE RÉUSSITES</a:t>
                </a:r>
              </a:p>
            </p:txBody>
          </p:sp>
          <p:sp>
            <p:nvSpPr>
              <p:cNvPr id="71" name="Espace réservé du texte 15">
                <a:extLst>
                  <a:ext uri="{FF2B5EF4-FFF2-40B4-BE49-F238E27FC236}">
                    <a16:creationId xmlns:a16="http://schemas.microsoft.com/office/drawing/2014/main" id="{BBDE1D2D-E6C1-F8AC-B191-580A1B37021A}"/>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EXPOSITION</a:t>
                </a:r>
              </a:p>
            </p:txBody>
          </p:sp>
          <p:sp>
            <p:nvSpPr>
              <p:cNvPr id="72" name="Espace réservé du texte 15">
                <a:extLst>
                  <a:ext uri="{FF2B5EF4-FFF2-40B4-BE49-F238E27FC236}">
                    <a16:creationId xmlns:a16="http://schemas.microsoft.com/office/drawing/2014/main" id="{9E69CD40-D9EF-42F9-0727-F1198A572DAA}"/>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FORTIFICATION</a:t>
                </a:r>
              </a:p>
              <a:p>
                <a:pPr marL="0" indent="0" algn="ctr">
                  <a:buFont typeface="Arial" panose="020B0604020202020204" pitchFamily="34" charset="0"/>
                  <a:buNone/>
                </a:pPr>
                <a:endParaRPr lang="fr-FR" sz="700" b="1" i="1">
                  <a:solidFill>
                    <a:srgbClr val="ED7D31"/>
                  </a:solidFill>
                </a:endParaRPr>
              </a:p>
            </p:txBody>
          </p:sp>
        </p:grpSp>
        <p:pic>
          <p:nvPicPr>
            <p:cNvPr id="59" name="Graphique 58" descr="Ampoule avec un remplissage uni">
              <a:extLst>
                <a:ext uri="{FF2B5EF4-FFF2-40B4-BE49-F238E27FC236}">
                  <a16:creationId xmlns:a16="http://schemas.microsoft.com/office/drawing/2014/main" id="{BCF9F91A-AE63-5F67-36B4-1496FFE99D4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868" y="1496380"/>
              <a:ext cx="914400" cy="914400"/>
            </a:xfrm>
            <a:prstGeom prst="rect">
              <a:avLst/>
            </a:prstGeom>
          </p:spPr>
        </p:pic>
        <p:pic>
          <p:nvPicPr>
            <p:cNvPr id="60" name="Graphique 59" descr="Seau et pelle avec un remplissage uni">
              <a:extLst>
                <a:ext uri="{FF2B5EF4-FFF2-40B4-BE49-F238E27FC236}">
                  <a16:creationId xmlns:a16="http://schemas.microsoft.com/office/drawing/2014/main" id="{0635B426-AACF-E2D7-8867-4581B9E03A2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8515" y="1496380"/>
              <a:ext cx="914400" cy="914400"/>
            </a:xfrm>
            <a:prstGeom prst="rect">
              <a:avLst/>
            </a:prstGeom>
          </p:spPr>
        </p:pic>
        <p:pic>
          <p:nvPicPr>
            <p:cNvPr id="61" name="Graphique 60" descr="Tubes à essai avec un remplissage uni">
              <a:extLst>
                <a:ext uri="{FF2B5EF4-FFF2-40B4-BE49-F238E27FC236}">
                  <a16:creationId xmlns:a16="http://schemas.microsoft.com/office/drawing/2014/main" id="{CC49917E-7DA6-0A05-1A1E-86B405318F8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33203" y="1496380"/>
              <a:ext cx="914400" cy="914400"/>
            </a:xfrm>
            <a:prstGeom prst="rect">
              <a:avLst/>
            </a:prstGeom>
          </p:spPr>
        </p:pic>
        <p:pic>
          <p:nvPicPr>
            <p:cNvPr id="62" name="Graphique 61" descr="Explosion avec un remplissage uni">
              <a:extLst>
                <a:ext uri="{FF2B5EF4-FFF2-40B4-BE49-F238E27FC236}">
                  <a16:creationId xmlns:a16="http://schemas.microsoft.com/office/drawing/2014/main" id="{5AFE72E0-6E66-EEEC-2B29-540A9DD6A72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73460" y="1496380"/>
              <a:ext cx="914400" cy="914400"/>
            </a:xfrm>
            <a:prstGeom prst="rect">
              <a:avLst/>
            </a:prstGeom>
          </p:spPr>
        </p:pic>
        <p:pic>
          <p:nvPicPr>
            <p:cNvPr id="63" name="Graphique 62" descr="Trophée avec un remplissage uni">
              <a:extLst>
                <a:ext uri="{FF2B5EF4-FFF2-40B4-BE49-F238E27FC236}">
                  <a16:creationId xmlns:a16="http://schemas.microsoft.com/office/drawing/2014/main" id="{AEA8B06F-D9FC-F36B-4002-93B34449D06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13717" y="1496380"/>
              <a:ext cx="914400" cy="914400"/>
            </a:xfrm>
            <a:prstGeom prst="rect">
              <a:avLst/>
            </a:prstGeom>
          </p:spPr>
        </p:pic>
        <p:pic>
          <p:nvPicPr>
            <p:cNvPr id="64" name="Graphique 63" descr="Assiette couverte avec un remplissage uni">
              <a:extLst>
                <a:ext uri="{FF2B5EF4-FFF2-40B4-BE49-F238E27FC236}">
                  <a16:creationId xmlns:a16="http://schemas.microsoft.com/office/drawing/2014/main" id="{BAB8DFD2-DAB7-0BF5-73E1-D2228C951169}"/>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48405" y="1496380"/>
              <a:ext cx="914400" cy="914400"/>
            </a:xfrm>
            <a:prstGeom prst="rect">
              <a:avLst/>
            </a:prstGeom>
          </p:spPr>
        </p:pic>
        <p:pic>
          <p:nvPicPr>
            <p:cNvPr id="65" name="Graphique 64" descr="Scène de château avec un remplissage uni">
              <a:extLst>
                <a:ext uri="{FF2B5EF4-FFF2-40B4-BE49-F238E27FC236}">
                  <a16:creationId xmlns:a16="http://schemas.microsoft.com/office/drawing/2014/main" id="{E54594C0-243A-41F2-7522-BFE87A712226}"/>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783093" y="1496380"/>
              <a:ext cx="914400" cy="914400"/>
            </a:xfrm>
            <a:prstGeom prst="rect">
              <a:avLst/>
            </a:prstGeom>
          </p:spPr>
        </p:pic>
      </p:grpSp>
      <p:sp>
        <p:nvSpPr>
          <p:cNvPr id="85" name="Rectangle 84">
            <a:extLst>
              <a:ext uri="{FF2B5EF4-FFF2-40B4-BE49-F238E27FC236}">
                <a16:creationId xmlns:a16="http://schemas.microsoft.com/office/drawing/2014/main" id="{EBE77E44-F330-295A-0EA9-89CE021D791F}"/>
              </a:ext>
            </a:extLst>
          </p:cNvPr>
          <p:cNvSpPr/>
          <p:nvPr/>
        </p:nvSpPr>
        <p:spPr>
          <a:xfrm>
            <a:off x="6748007" y="3488408"/>
            <a:ext cx="1069495" cy="10318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Savoir faire un Talk inspirant sur le sujet XYZ</a:t>
            </a:r>
          </a:p>
        </p:txBody>
      </p:sp>
      <p:sp>
        <p:nvSpPr>
          <p:cNvPr id="86" name="Rectangle 85">
            <a:extLst>
              <a:ext uri="{FF2B5EF4-FFF2-40B4-BE49-F238E27FC236}">
                <a16:creationId xmlns:a16="http://schemas.microsoft.com/office/drawing/2014/main" id="{B52ABC4F-5E16-E69B-9567-72B2C2A24978}"/>
              </a:ext>
            </a:extLst>
          </p:cNvPr>
          <p:cNvSpPr/>
          <p:nvPr/>
        </p:nvSpPr>
        <p:spPr>
          <a:xfrm>
            <a:off x="9194689" y="3487708"/>
            <a:ext cx="1069494" cy="103327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🎓Savoir donner une formation basique sur la pratique du sujet XYZ</a:t>
            </a:r>
          </a:p>
        </p:txBody>
      </p:sp>
      <p:pic>
        <p:nvPicPr>
          <p:cNvPr id="87" name="Graphique 86" descr="Un astronaute avec un remplissage uni">
            <a:extLst>
              <a:ext uri="{FF2B5EF4-FFF2-40B4-BE49-F238E27FC236}">
                <a16:creationId xmlns:a16="http://schemas.microsoft.com/office/drawing/2014/main" id="{770CE249-8B85-6C2E-7EB7-B16CA987358D}"/>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967267" y="2845381"/>
            <a:ext cx="630976" cy="630976"/>
          </a:xfrm>
          <a:prstGeom prst="rect">
            <a:avLst/>
          </a:prstGeom>
        </p:spPr>
      </p:pic>
      <p:sp>
        <p:nvSpPr>
          <p:cNvPr id="88" name="Rectangle 87">
            <a:extLst>
              <a:ext uri="{FF2B5EF4-FFF2-40B4-BE49-F238E27FC236}">
                <a16:creationId xmlns:a16="http://schemas.microsoft.com/office/drawing/2014/main" id="{A271B4D8-94DA-A5E8-82E1-FFCAE4C11F18}"/>
              </a:ext>
            </a:extLst>
          </p:cNvPr>
          <p:cNvSpPr/>
          <p:nvPr/>
        </p:nvSpPr>
        <p:spPr>
          <a:xfrm>
            <a:off x="7971349" y="3484719"/>
            <a:ext cx="1069493" cy="103187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Savoir Auditer / Faire le diagnostic d’équipes sur le sujet XYZ</a:t>
            </a:r>
          </a:p>
        </p:txBody>
      </p:sp>
      <p:sp>
        <p:nvSpPr>
          <p:cNvPr id="89" name="Rectangle 88">
            <a:extLst>
              <a:ext uri="{FF2B5EF4-FFF2-40B4-BE49-F238E27FC236}">
                <a16:creationId xmlns:a16="http://schemas.microsoft.com/office/drawing/2014/main" id="{14A576FF-41C8-6DF8-D0BC-B83581E72CB1}"/>
              </a:ext>
            </a:extLst>
          </p:cNvPr>
          <p:cNvSpPr/>
          <p:nvPr/>
        </p:nvSpPr>
        <p:spPr>
          <a:xfrm>
            <a:off x="10418028" y="3484719"/>
            <a:ext cx="1069493" cy="103187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Savoir faire le suivi et coaching sur l’application du sujet XYZ</a:t>
            </a:r>
          </a:p>
        </p:txBody>
      </p:sp>
      <p:pic>
        <p:nvPicPr>
          <p:cNvPr id="91" name="Graphique 90" descr="Homme détective avec un remplissage uni">
            <a:extLst>
              <a:ext uri="{FF2B5EF4-FFF2-40B4-BE49-F238E27FC236}">
                <a16:creationId xmlns:a16="http://schemas.microsoft.com/office/drawing/2014/main" id="{47B365EC-1AFA-D6BA-C8B6-5D775335FFB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154021" y="2853743"/>
            <a:ext cx="630976" cy="630976"/>
          </a:xfrm>
          <a:prstGeom prst="rect">
            <a:avLst/>
          </a:prstGeom>
        </p:spPr>
      </p:pic>
      <p:pic>
        <p:nvPicPr>
          <p:cNvPr id="92" name="Graphique 91" descr="Homme scientifique avec un remplissage uni">
            <a:extLst>
              <a:ext uri="{FF2B5EF4-FFF2-40B4-BE49-F238E27FC236}">
                <a16:creationId xmlns:a16="http://schemas.microsoft.com/office/drawing/2014/main" id="{C1FE944E-5D5F-F0EF-7056-878DA9AAE85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413948" y="2853743"/>
            <a:ext cx="630976" cy="630976"/>
          </a:xfrm>
          <a:prstGeom prst="rect">
            <a:avLst/>
          </a:prstGeom>
        </p:spPr>
      </p:pic>
      <p:pic>
        <p:nvPicPr>
          <p:cNvPr id="93" name="Graphique 92" descr="Homme électricien avec un remplissage uni">
            <a:extLst>
              <a:ext uri="{FF2B5EF4-FFF2-40B4-BE49-F238E27FC236}">
                <a16:creationId xmlns:a16="http://schemas.microsoft.com/office/drawing/2014/main" id="{D7C9EBCD-9350-B678-A255-41F94E272AD7}"/>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630263" y="2845381"/>
            <a:ext cx="630976" cy="630976"/>
          </a:xfrm>
          <a:prstGeom prst="rect">
            <a:avLst/>
          </a:prstGeom>
        </p:spPr>
      </p:pic>
      <p:sp>
        <p:nvSpPr>
          <p:cNvPr id="103" name="Espace réservé du texte 15">
            <a:extLst>
              <a:ext uri="{FF2B5EF4-FFF2-40B4-BE49-F238E27FC236}">
                <a16:creationId xmlns:a16="http://schemas.microsoft.com/office/drawing/2014/main" id="{5697DD16-D340-E930-7DAB-3193BA99EBB1}"/>
              </a:ext>
            </a:extLst>
          </p:cNvPr>
          <p:cNvSpPr txBox="1">
            <a:spLocks/>
          </p:cNvSpPr>
          <p:nvPr/>
        </p:nvSpPr>
        <p:spPr>
          <a:xfrm>
            <a:off x="6852613" y="2513864"/>
            <a:ext cx="798106" cy="303585"/>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INSPIRATION</a:t>
            </a:r>
          </a:p>
          <a:p>
            <a:pPr marL="0" indent="0" algn="ctr">
              <a:buFont typeface="Arial" panose="020B0604020202020204" pitchFamily="34" charset="0"/>
              <a:buNone/>
            </a:pPr>
            <a:endParaRPr lang="fr-FR" sz="700" b="1" i="1">
              <a:solidFill>
                <a:srgbClr val="ED7D31"/>
              </a:solidFill>
            </a:endParaRPr>
          </a:p>
        </p:txBody>
      </p:sp>
      <p:sp>
        <p:nvSpPr>
          <p:cNvPr id="105" name="Espace réservé du texte 15">
            <a:extLst>
              <a:ext uri="{FF2B5EF4-FFF2-40B4-BE49-F238E27FC236}">
                <a16:creationId xmlns:a16="http://schemas.microsoft.com/office/drawing/2014/main" id="{D944245B-4B5A-298D-FE9E-6AF3D595DB5F}"/>
              </a:ext>
            </a:extLst>
          </p:cNvPr>
          <p:cNvSpPr txBox="1">
            <a:spLocks/>
          </p:cNvSpPr>
          <p:nvPr/>
        </p:nvSpPr>
        <p:spPr>
          <a:xfrm>
            <a:off x="9310130" y="2513863"/>
            <a:ext cx="798106" cy="303585"/>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INITIATION</a:t>
            </a:r>
          </a:p>
          <a:p>
            <a:pPr marL="0" indent="0" algn="ctr">
              <a:buFont typeface="Arial" panose="020B0604020202020204" pitchFamily="34" charset="0"/>
              <a:buNone/>
            </a:pPr>
            <a:endParaRPr lang="fr-FR" sz="700" b="1" i="1">
              <a:solidFill>
                <a:srgbClr val="ED7D31"/>
              </a:solidFill>
            </a:endParaRPr>
          </a:p>
        </p:txBody>
      </p:sp>
      <p:sp>
        <p:nvSpPr>
          <p:cNvPr id="106" name="Espace réservé du texte 15">
            <a:extLst>
              <a:ext uri="{FF2B5EF4-FFF2-40B4-BE49-F238E27FC236}">
                <a16:creationId xmlns:a16="http://schemas.microsoft.com/office/drawing/2014/main" id="{A6DA8F35-A9EB-63EC-6617-30539550E9F8}"/>
              </a:ext>
            </a:extLst>
          </p:cNvPr>
          <p:cNvSpPr txBox="1">
            <a:spLocks/>
          </p:cNvSpPr>
          <p:nvPr/>
        </p:nvSpPr>
        <p:spPr>
          <a:xfrm>
            <a:off x="10463133" y="2513864"/>
            <a:ext cx="798106" cy="303585"/>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CHOC DE LA RÉALITÉ</a:t>
            </a:r>
          </a:p>
          <a:p>
            <a:pPr marL="0" indent="0" algn="ctr">
              <a:buFont typeface="Arial" panose="020B0604020202020204" pitchFamily="34" charset="0"/>
              <a:buNone/>
            </a:pPr>
            <a:endParaRPr lang="fr-FR" sz="700" b="1" i="1">
              <a:solidFill>
                <a:srgbClr val="ED7D31"/>
              </a:solidFill>
            </a:endParaRPr>
          </a:p>
        </p:txBody>
      </p:sp>
      <p:sp>
        <p:nvSpPr>
          <p:cNvPr id="73" name="Espace réservé du texte 15">
            <a:extLst>
              <a:ext uri="{FF2B5EF4-FFF2-40B4-BE49-F238E27FC236}">
                <a16:creationId xmlns:a16="http://schemas.microsoft.com/office/drawing/2014/main" id="{805CD770-D25D-EE93-8452-0DB57CDBDA32}"/>
              </a:ext>
            </a:extLst>
          </p:cNvPr>
          <p:cNvSpPr txBox="1">
            <a:spLocks/>
          </p:cNvSpPr>
          <p:nvPr/>
        </p:nvSpPr>
        <p:spPr>
          <a:xfrm>
            <a:off x="8089220" y="2513863"/>
            <a:ext cx="798106" cy="303585"/>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COLLECTE</a:t>
            </a:r>
          </a:p>
          <a:p>
            <a:pPr marL="0" indent="0" algn="ctr">
              <a:buFont typeface="Arial" panose="020B0604020202020204" pitchFamily="34" charset="0"/>
              <a:buNone/>
            </a:pPr>
            <a:endParaRPr lang="fr-FR" sz="700" b="1" i="1">
              <a:solidFill>
                <a:srgbClr val="ED7D31"/>
              </a:solidFill>
            </a:endParaRPr>
          </a:p>
        </p:txBody>
      </p:sp>
      <p:pic>
        <p:nvPicPr>
          <p:cNvPr id="75" name="Graphique 74" descr="Ampoule avec un remplissage uni">
            <a:extLst>
              <a:ext uri="{FF2B5EF4-FFF2-40B4-BE49-F238E27FC236}">
                <a16:creationId xmlns:a16="http://schemas.microsoft.com/office/drawing/2014/main" id="{D627D6CA-CCCB-38F7-C3EE-C442D46AC81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08644" y="1927274"/>
            <a:ext cx="452459" cy="560139"/>
          </a:xfrm>
          <a:prstGeom prst="rect">
            <a:avLst/>
          </a:prstGeom>
        </p:spPr>
      </p:pic>
      <p:pic>
        <p:nvPicPr>
          <p:cNvPr id="76" name="Graphique 75" descr="Seau et pelle avec un remplissage uni">
            <a:extLst>
              <a:ext uri="{FF2B5EF4-FFF2-40B4-BE49-F238E27FC236}">
                <a16:creationId xmlns:a16="http://schemas.microsoft.com/office/drawing/2014/main" id="{735EC030-7574-EA8B-1E28-4315740FA87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45798" y="1935576"/>
            <a:ext cx="452459" cy="560139"/>
          </a:xfrm>
          <a:prstGeom prst="rect">
            <a:avLst/>
          </a:prstGeom>
        </p:spPr>
      </p:pic>
      <p:pic>
        <p:nvPicPr>
          <p:cNvPr id="77" name="Graphique 76" descr="Tubes à essai avec un remplissage uni">
            <a:extLst>
              <a:ext uri="{FF2B5EF4-FFF2-40B4-BE49-F238E27FC236}">
                <a16:creationId xmlns:a16="http://schemas.microsoft.com/office/drawing/2014/main" id="{42F7D881-1617-8B1A-03A6-0E7622756EA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482953" y="1925793"/>
            <a:ext cx="452459" cy="560139"/>
          </a:xfrm>
          <a:prstGeom prst="rect">
            <a:avLst/>
          </a:prstGeom>
        </p:spPr>
      </p:pic>
      <p:pic>
        <p:nvPicPr>
          <p:cNvPr id="79" name="Graphique 78" descr="Explosion avec un remplissage uni">
            <a:extLst>
              <a:ext uri="{FF2B5EF4-FFF2-40B4-BE49-F238E27FC236}">
                <a16:creationId xmlns:a16="http://schemas.microsoft.com/office/drawing/2014/main" id="{7FB0DD91-14E7-B563-ACC9-3DBDCEE3DF0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635956" y="1925793"/>
            <a:ext cx="452459" cy="560139"/>
          </a:xfrm>
          <a:prstGeom prst="rect">
            <a:avLst/>
          </a:prstGeom>
        </p:spPr>
      </p:pic>
      <p:sp>
        <p:nvSpPr>
          <p:cNvPr id="2" name="Flèche : haut 1">
            <a:extLst>
              <a:ext uri="{FF2B5EF4-FFF2-40B4-BE49-F238E27FC236}">
                <a16:creationId xmlns:a16="http://schemas.microsoft.com/office/drawing/2014/main" id="{A42C49DE-C220-67C1-4CE3-D33A53D1B06D}"/>
              </a:ext>
            </a:extLst>
          </p:cNvPr>
          <p:cNvSpPr/>
          <p:nvPr/>
        </p:nvSpPr>
        <p:spPr>
          <a:xfrm>
            <a:off x="2177709" y="3984350"/>
            <a:ext cx="402071" cy="54010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Graphique 2" descr="Garçon aux cheveux bouclés">
            <a:extLst>
              <a:ext uri="{FF2B5EF4-FFF2-40B4-BE49-F238E27FC236}">
                <a16:creationId xmlns:a16="http://schemas.microsoft.com/office/drawing/2014/main" id="{097420AB-F498-1A8F-1089-3DB383A80F8F}"/>
              </a:ext>
            </a:extLst>
          </p:cNvPr>
          <p:cNvPicPr>
            <a:picLocks noChangeAspect="1"/>
          </p:cNvPicPr>
          <p:nvPr/>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l="14041" r="26570" b="80008"/>
          <a:stretch/>
        </p:blipFill>
        <p:spPr>
          <a:xfrm>
            <a:off x="375983" y="2942486"/>
            <a:ext cx="398467" cy="410478"/>
          </a:xfrm>
          <a:prstGeom prst="rect">
            <a:avLst/>
          </a:prstGeom>
        </p:spPr>
      </p:pic>
      <p:pic>
        <p:nvPicPr>
          <p:cNvPr id="4" name="Graphique 3" descr="Fille portant un sac à dos">
            <a:extLst>
              <a:ext uri="{FF2B5EF4-FFF2-40B4-BE49-F238E27FC236}">
                <a16:creationId xmlns:a16="http://schemas.microsoft.com/office/drawing/2014/main" id="{44BFD501-6170-9F1D-59F9-B7F2710DCA65}"/>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l="26028" r="21662" b="78734"/>
          <a:stretch/>
        </p:blipFill>
        <p:spPr>
          <a:xfrm>
            <a:off x="4028323" y="4031441"/>
            <a:ext cx="398465" cy="402293"/>
          </a:xfrm>
          <a:prstGeom prst="rect">
            <a:avLst/>
          </a:prstGeom>
        </p:spPr>
      </p:pic>
      <p:pic>
        <p:nvPicPr>
          <p:cNvPr id="5" name="Graphique 4" descr="Homme avec barbe">
            <a:extLst>
              <a:ext uri="{FF2B5EF4-FFF2-40B4-BE49-F238E27FC236}">
                <a16:creationId xmlns:a16="http://schemas.microsoft.com/office/drawing/2014/main" id="{8C1BAD88-B7D4-7A84-4BE1-9984D4346FDB}"/>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l="27149" r="22590" b="81054"/>
          <a:stretch/>
        </p:blipFill>
        <p:spPr>
          <a:xfrm>
            <a:off x="3610824" y="4027541"/>
            <a:ext cx="370183" cy="433905"/>
          </a:xfrm>
          <a:prstGeom prst="rect">
            <a:avLst/>
          </a:prstGeom>
        </p:spPr>
      </p:pic>
      <p:pic>
        <p:nvPicPr>
          <p:cNvPr id="6" name="Graphique 5" descr="Homme tenant une tasse">
            <a:extLst>
              <a:ext uri="{FF2B5EF4-FFF2-40B4-BE49-F238E27FC236}">
                <a16:creationId xmlns:a16="http://schemas.microsoft.com/office/drawing/2014/main" id="{3A57BEC6-8277-67B5-3107-CC393180EC00}"/>
              </a:ext>
            </a:extLst>
          </p:cNvPr>
          <p:cNvPicPr>
            <a:picLocks noChangeAspect="1"/>
          </p:cNvPicPr>
          <p:nvPr/>
        </p:nvPicPr>
        <p:blipFill rotWithShape="1">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l="24789" r="38520" b="82583"/>
          <a:stretch/>
        </p:blipFill>
        <p:spPr>
          <a:xfrm>
            <a:off x="3117472" y="4064313"/>
            <a:ext cx="370183" cy="397133"/>
          </a:xfrm>
          <a:prstGeom prst="rect">
            <a:avLst/>
          </a:prstGeom>
        </p:spPr>
      </p:pic>
      <p:pic>
        <p:nvPicPr>
          <p:cNvPr id="7" name="Graphique 6" descr="Homme avec bras prothétique">
            <a:extLst>
              <a:ext uri="{FF2B5EF4-FFF2-40B4-BE49-F238E27FC236}">
                <a16:creationId xmlns:a16="http://schemas.microsoft.com/office/drawing/2014/main" id="{AC77A113-A845-FC7F-D67B-88061EAFDB52}"/>
              </a:ext>
            </a:extLst>
          </p:cNvPr>
          <p:cNvPicPr>
            <a:picLocks noChangeAspect="1"/>
          </p:cNvPicPr>
          <p:nvPr/>
        </p:nvPicPr>
        <p:blipFill rotWithShape="1">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rcRect l="6638" r="6901" b="81090"/>
          <a:stretch/>
        </p:blipFill>
        <p:spPr>
          <a:xfrm>
            <a:off x="4966235" y="4012620"/>
            <a:ext cx="521269" cy="381325"/>
          </a:xfrm>
          <a:prstGeom prst="rect">
            <a:avLst/>
          </a:prstGeom>
        </p:spPr>
      </p:pic>
      <p:pic>
        <p:nvPicPr>
          <p:cNvPr id="9" name="Graphique 8" descr="Homme portant une chemise avec motif">
            <a:extLst>
              <a:ext uri="{FF2B5EF4-FFF2-40B4-BE49-F238E27FC236}">
                <a16:creationId xmlns:a16="http://schemas.microsoft.com/office/drawing/2014/main" id="{9EFE35D7-3C3D-E832-FEBF-D1679690D67E}"/>
              </a:ext>
            </a:extLst>
          </p:cNvPr>
          <p:cNvPicPr>
            <a:picLocks noChangeAspect="1"/>
          </p:cNvPicPr>
          <p:nvPr/>
        </p:nvPicPr>
        <p:blipFill rotWithShape="1">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rcRect l="17279" r="47069" b="81696"/>
          <a:stretch/>
        </p:blipFill>
        <p:spPr>
          <a:xfrm>
            <a:off x="2641796" y="4048879"/>
            <a:ext cx="352508" cy="440443"/>
          </a:xfrm>
          <a:prstGeom prst="rect">
            <a:avLst/>
          </a:prstGeom>
        </p:spPr>
      </p:pic>
      <p:pic>
        <p:nvPicPr>
          <p:cNvPr id="11" name="Graphique 10" descr="Homme âgé portant une veste">
            <a:extLst>
              <a:ext uri="{FF2B5EF4-FFF2-40B4-BE49-F238E27FC236}">
                <a16:creationId xmlns:a16="http://schemas.microsoft.com/office/drawing/2014/main" id="{22D386A9-0246-9358-CB2E-8604B5B54CE3}"/>
              </a:ext>
            </a:extLst>
          </p:cNvPr>
          <p:cNvPicPr>
            <a:picLocks noChangeAspect="1"/>
          </p:cNvPicPr>
          <p:nvPr/>
        </p:nvPicPr>
        <p:blipFill rotWithShape="1">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rcRect l="34066" t="-865" r="16426" b="83209"/>
          <a:stretch/>
        </p:blipFill>
        <p:spPr>
          <a:xfrm>
            <a:off x="1257630" y="2912445"/>
            <a:ext cx="374626" cy="415948"/>
          </a:xfrm>
          <a:prstGeom prst="rect">
            <a:avLst/>
          </a:prstGeom>
        </p:spPr>
      </p:pic>
      <p:pic>
        <p:nvPicPr>
          <p:cNvPr id="12" name="Graphique 11" descr="Homme portant chapeau et costume">
            <a:extLst>
              <a:ext uri="{FF2B5EF4-FFF2-40B4-BE49-F238E27FC236}">
                <a16:creationId xmlns:a16="http://schemas.microsoft.com/office/drawing/2014/main" id="{B9DBADEE-2F2F-828F-4157-B414D483214F}"/>
              </a:ext>
            </a:extLst>
          </p:cNvPr>
          <p:cNvPicPr>
            <a:picLocks noChangeAspect="1"/>
          </p:cNvPicPr>
          <p:nvPr/>
        </p:nvPicPr>
        <p:blipFill rotWithShape="1">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rcRect l="38919" r="9450" b="80613"/>
          <a:stretch/>
        </p:blipFill>
        <p:spPr>
          <a:xfrm>
            <a:off x="2215503" y="2891562"/>
            <a:ext cx="419339" cy="457716"/>
          </a:xfrm>
          <a:prstGeom prst="rect">
            <a:avLst/>
          </a:prstGeom>
        </p:spPr>
      </p:pic>
      <p:pic>
        <p:nvPicPr>
          <p:cNvPr id="13" name="Graphique 12" descr="Femme non-voyante utilisant un bâton">
            <a:extLst>
              <a:ext uri="{FF2B5EF4-FFF2-40B4-BE49-F238E27FC236}">
                <a16:creationId xmlns:a16="http://schemas.microsoft.com/office/drawing/2014/main" id="{15E1BBCF-FA33-7CF3-9BDA-B06309C3FA82}"/>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l="19626" t="110" r="16666" b="79554"/>
          <a:stretch/>
        </p:blipFill>
        <p:spPr>
          <a:xfrm>
            <a:off x="5893657" y="4051584"/>
            <a:ext cx="411427" cy="397134"/>
          </a:xfrm>
          <a:prstGeom prst="rect">
            <a:avLst/>
          </a:prstGeom>
        </p:spPr>
      </p:pic>
      <p:pic>
        <p:nvPicPr>
          <p:cNvPr id="14" name="Graphique 13" descr="Femme levant le doigt">
            <a:extLst>
              <a:ext uri="{FF2B5EF4-FFF2-40B4-BE49-F238E27FC236}">
                <a16:creationId xmlns:a16="http://schemas.microsoft.com/office/drawing/2014/main" id="{3A0C4800-55AF-FA9D-D0D3-E9D0C3BAD406}"/>
              </a:ext>
            </a:extLst>
          </p:cNvPr>
          <p:cNvPicPr>
            <a:picLocks noChangeAspect="1"/>
          </p:cNvPicPr>
          <p:nvPr/>
        </p:nvPicPr>
        <p:blipFill rotWithShape="1">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rcRect l="19546" r="46612" b="79017"/>
          <a:stretch/>
        </p:blipFill>
        <p:spPr>
          <a:xfrm>
            <a:off x="5556404" y="3992507"/>
            <a:ext cx="379003" cy="456211"/>
          </a:xfrm>
          <a:prstGeom prst="rect">
            <a:avLst/>
          </a:prstGeom>
        </p:spPr>
      </p:pic>
      <p:pic>
        <p:nvPicPr>
          <p:cNvPr id="15" name="Graphique 14" descr="Femme utilisant une cane">
            <a:extLst>
              <a:ext uri="{FF2B5EF4-FFF2-40B4-BE49-F238E27FC236}">
                <a16:creationId xmlns:a16="http://schemas.microsoft.com/office/drawing/2014/main" id="{F29C0920-B51F-DFEF-F68A-53176051FE76}"/>
              </a:ext>
            </a:extLst>
          </p:cNvPr>
          <p:cNvPicPr>
            <a:picLocks noChangeAspect="1"/>
          </p:cNvPicPr>
          <p:nvPr/>
        </p:nvPicPr>
        <p:blipFill rotWithShape="1">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rcRect t="-1583" b="79779"/>
          <a:stretch/>
        </p:blipFill>
        <p:spPr>
          <a:xfrm>
            <a:off x="4513334" y="2822921"/>
            <a:ext cx="706248" cy="518063"/>
          </a:xfrm>
          <a:prstGeom prst="rect">
            <a:avLst/>
          </a:prstGeom>
        </p:spPr>
      </p:pic>
      <p:pic>
        <p:nvPicPr>
          <p:cNvPr id="16" name="Graphique 15" descr="Femme aux cheveux afro">
            <a:extLst>
              <a:ext uri="{FF2B5EF4-FFF2-40B4-BE49-F238E27FC236}">
                <a16:creationId xmlns:a16="http://schemas.microsoft.com/office/drawing/2014/main" id="{0F8A5A6B-8B02-45B4-6541-CF0E76A67F42}"/>
              </a:ext>
            </a:extLst>
          </p:cNvPr>
          <p:cNvPicPr>
            <a:picLocks noChangeAspect="1"/>
          </p:cNvPicPr>
          <p:nvPr/>
        </p:nvPicPr>
        <p:blipFill rotWithShape="1">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rcRect b="77723"/>
          <a:stretch/>
        </p:blipFill>
        <p:spPr>
          <a:xfrm>
            <a:off x="4354111" y="3984350"/>
            <a:ext cx="711292" cy="518063"/>
          </a:xfrm>
          <a:prstGeom prst="rect">
            <a:avLst/>
          </a:prstGeom>
        </p:spPr>
      </p:pic>
    </p:spTree>
    <p:extLst>
      <p:ext uri="{BB962C8B-B14F-4D97-AF65-F5344CB8AC3E}">
        <p14:creationId xmlns:p14="http://schemas.microsoft.com/office/powerpoint/2010/main" val="4003107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e 4">
            <a:extLst>
              <a:ext uri="{FF2B5EF4-FFF2-40B4-BE49-F238E27FC236}">
                <a16:creationId xmlns:a16="http://schemas.microsoft.com/office/drawing/2014/main" id="{DECE1916-BCDD-4E59-943A-AD7BDD5EA2DE}"/>
              </a:ext>
            </a:extLst>
          </p:cNvPr>
          <p:cNvGrpSpPr/>
          <p:nvPr/>
        </p:nvGrpSpPr>
        <p:grpSpPr>
          <a:xfrm>
            <a:off x="2394355" y="2956756"/>
            <a:ext cx="9483773" cy="1294474"/>
            <a:chOff x="213802" y="5181377"/>
            <a:chExt cx="11778797" cy="1607883"/>
          </a:xfrm>
        </p:grpSpPr>
        <p:pic>
          <p:nvPicPr>
            <p:cNvPr id="6" name="Graphique 5" descr="Un astronaute avec un remplissage uni">
              <a:extLst>
                <a:ext uri="{FF2B5EF4-FFF2-40B4-BE49-F238E27FC236}">
                  <a16:creationId xmlns:a16="http://schemas.microsoft.com/office/drawing/2014/main" id="{0DC7CE2A-C3FD-485B-847D-AA20AB09D0A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5199225"/>
              <a:ext cx="914400" cy="914400"/>
            </a:xfrm>
            <a:prstGeom prst="rect">
              <a:avLst/>
            </a:prstGeom>
          </p:spPr>
        </p:pic>
        <p:pic>
          <p:nvPicPr>
            <p:cNvPr id="7" name="Graphique 6" descr="Homme pilote avec un remplissage uni">
              <a:extLst>
                <a:ext uri="{FF2B5EF4-FFF2-40B4-BE49-F238E27FC236}">
                  <a16:creationId xmlns:a16="http://schemas.microsoft.com/office/drawing/2014/main" id="{483E92CA-02C1-4302-BB18-7A9B1AB515A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802134" y="5226834"/>
              <a:ext cx="914400" cy="914400"/>
            </a:xfrm>
            <a:prstGeom prst="rect">
              <a:avLst/>
            </a:prstGeom>
          </p:spPr>
        </p:pic>
        <p:pic>
          <p:nvPicPr>
            <p:cNvPr id="10" name="Graphique 9" descr="Homme électricien avec un remplissage uni">
              <a:extLst>
                <a:ext uri="{FF2B5EF4-FFF2-40B4-BE49-F238E27FC236}">
                  <a16:creationId xmlns:a16="http://schemas.microsoft.com/office/drawing/2014/main" id="{5B310512-FEDE-4298-9AC8-FFB107CE011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63976" y="5199225"/>
              <a:ext cx="914400" cy="914400"/>
            </a:xfrm>
            <a:prstGeom prst="rect">
              <a:avLst/>
            </a:prstGeom>
          </p:spPr>
        </p:pic>
        <p:pic>
          <p:nvPicPr>
            <p:cNvPr id="11" name="Graphique 10" descr="Homme scientifique avec un remplissage uni">
              <a:extLst>
                <a:ext uri="{FF2B5EF4-FFF2-40B4-BE49-F238E27FC236}">
                  <a16:creationId xmlns:a16="http://schemas.microsoft.com/office/drawing/2014/main" id="{C0BB6B22-F231-4C4C-A706-4262760BCC9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898543" y="5199225"/>
              <a:ext cx="914400" cy="914400"/>
            </a:xfrm>
            <a:prstGeom prst="rect">
              <a:avLst/>
            </a:prstGeom>
          </p:spPr>
        </p:pic>
        <p:pic>
          <p:nvPicPr>
            <p:cNvPr id="12" name="Graphique 11" descr="Employé de bureau avec un remplissage uni">
              <a:extLst>
                <a:ext uri="{FF2B5EF4-FFF2-40B4-BE49-F238E27FC236}">
                  <a16:creationId xmlns:a16="http://schemas.microsoft.com/office/drawing/2014/main" id="{5E3FD550-BCDF-41F9-84D0-7179659DBB1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146329" y="5199225"/>
              <a:ext cx="914400" cy="914400"/>
            </a:xfrm>
            <a:prstGeom prst="rect">
              <a:avLst/>
            </a:prstGeom>
          </p:spPr>
        </p:pic>
        <p:pic>
          <p:nvPicPr>
            <p:cNvPr id="13" name="Graphique 12" descr="Homme détective avec un remplissage uni">
              <a:extLst>
                <a:ext uri="{FF2B5EF4-FFF2-40B4-BE49-F238E27FC236}">
                  <a16:creationId xmlns:a16="http://schemas.microsoft.com/office/drawing/2014/main" id="{2F4B3AD8-7FA2-46DA-AA70-E337D9C4162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133110" y="5199225"/>
              <a:ext cx="914400" cy="914400"/>
            </a:xfrm>
            <a:prstGeom prst="rect">
              <a:avLst/>
            </a:prstGeom>
          </p:spPr>
        </p:pic>
        <p:sp>
          <p:nvSpPr>
            <p:cNvPr id="14" name="ZoneTexte 13">
              <a:extLst>
                <a:ext uri="{FF2B5EF4-FFF2-40B4-BE49-F238E27FC236}">
                  <a16:creationId xmlns:a16="http://schemas.microsoft.com/office/drawing/2014/main" id="{F42CB6A0-550D-403D-A9F7-DD488219B7FA}"/>
                </a:ext>
              </a:extLst>
            </p:cNvPr>
            <p:cNvSpPr txBox="1"/>
            <p:nvPr/>
          </p:nvSpPr>
          <p:spPr>
            <a:xfrm>
              <a:off x="213802" y="6070092"/>
              <a:ext cx="1232674" cy="582059"/>
            </a:xfrm>
            <a:prstGeom prst="rect">
              <a:avLst/>
            </a:prstGeom>
            <a:noFill/>
          </p:spPr>
          <p:txBody>
            <a:bodyPr wrap="square">
              <a:spAutoFit/>
            </a:bodyPr>
            <a:lstStyle/>
            <a:p>
              <a:pPr marL="0" indent="0" algn="ctr">
                <a:buFont typeface="Arial" panose="020B0604020202020204" pitchFamily="34" charset="0"/>
                <a:buNone/>
              </a:pPr>
              <a:r>
                <a:rPr lang="fr-FR" sz="700" b="1" i="1"/>
                <a:t>AMBASSADEURS VISIONNAIRES </a:t>
              </a:r>
            </a:p>
            <a:p>
              <a:pPr marL="0" indent="0" algn="ctr">
                <a:buFont typeface="Arial" panose="020B0604020202020204" pitchFamily="34" charset="0"/>
                <a:buNone/>
              </a:pPr>
              <a:r>
                <a:rPr lang="fr-FR" sz="700" b="1" i="1"/>
                <a:t>&amp; « PRÊCHEURS»</a:t>
              </a:r>
            </a:p>
          </p:txBody>
        </p:sp>
        <p:sp>
          <p:nvSpPr>
            <p:cNvPr id="15" name="ZoneTexte 14">
              <a:extLst>
                <a:ext uri="{FF2B5EF4-FFF2-40B4-BE49-F238E27FC236}">
                  <a16:creationId xmlns:a16="http://schemas.microsoft.com/office/drawing/2014/main" id="{6ABD00B0-0AF1-4510-8945-8FE239ECFCE2}"/>
                </a:ext>
              </a:extLst>
            </p:cNvPr>
            <p:cNvSpPr txBox="1"/>
            <p:nvPr/>
          </p:nvSpPr>
          <p:spPr>
            <a:xfrm>
              <a:off x="1941268" y="6074645"/>
              <a:ext cx="1232674" cy="714615"/>
            </a:xfrm>
            <a:prstGeom prst="rect">
              <a:avLst/>
            </a:prstGeom>
            <a:noFill/>
          </p:spPr>
          <p:txBody>
            <a:bodyPr wrap="square">
              <a:spAutoFit/>
            </a:bodyPr>
            <a:lstStyle/>
            <a:p>
              <a:pPr marL="0" indent="0" algn="ctr">
                <a:buFont typeface="Arial" panose="020B0604020202020204" pitchFamily="34" charset="0"/>
                <a:buNone/>
              </a:pPr>
              <a:r>
                <a:rPr lang="fr-FR" sz="700" b="1" i="1"/>
                <a:t>AMBASSADEURS DÉTECTIVES DE CONTRAINTES ET D’OPPORTUNITÉS</a:t>
              </a:r>
            </a:p>
          </p:txBody>
        </p:sp>
        <p:sp>
          <p:nvSpPr>
            <p:cNvPr id="16" name="ZoneTexte 15">
              <a:extLst>
                <a:ext uri="{FF2B5EF4-FFF2-40B4-BE49-F238E27FC236}">
                  <a16:creationId xmlns:a16="http://schemas.microsoft.com/office/drawing/2014/main" id="{6E51C9C1-0045-4C40-8FCD-05C56716C60D}"/>
                </a:ext>
              </a:extLst>
            </p:cNvPr>
            <p:cNvSpPr txBox="1"/>
            <p:nvPr/>
          </p:nvSpPr>
          <p:spPr>
            <a:xfrm>
              <a:off x="3734145" y="6110536"/>
              <a:ext cx="1232674"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PROFESSEURS</a:t>
              </a:r>
            </a:p>
          </p:txBody>
        </p:sp>
        <p:sp>
          <p:nvSpPr>
            <p:cNvPr id="17" name="ZoneTexte 16">
              <a:extLst>
                <a:ext uri="{FF2B5EF4-FFF2-40B4-BE49-F238E27FC236}">
                  <a16:creationId xmlns:a16="http://schemas.microsoft.com/office/drawing/2014/main" id="{92FEA44D-3666-4F0A-A369-1AF4E80331FF}"/>
                </a:ext>
              </a:extLst>
            </p:cNvPr>
            <p:cNvSpPr txBox="1"/>
            <p:nvPr/>
          </p:nvSpPr>
          <p:spPr>
            <a:xfrm>
              <a:off x="5479663" y="6110536"/>
              <a:ext cx="1232674"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SUPPORT</a:t>
              </a:r>
            </a:p>
          </p:txBody>
        </p:sp>
        <p:sp>
          <p:nvSpPr>
            <p:cNvPr id="18" name="ZoneTexte 17">
              <a:extLst>
                <a:ext uri="{FF2B5EF4-FFF2-40B4-BE49-F238E27FC236}">
                  <a16:creationId xmlns:a16="http://schemas.microsoft.com/office/drawing/2014/main" id="{BE0310E8-4B15-486F-A995-ADF45D5B259E}"/>
                </a:ext>
              </a:extLst>
            </p:cNvPr>
            <p:cNvSpPr txBox="1"/>
            <p:nvPr/>
          </p:nvSpPr>
          <p:spPr>
            <a:xfrm>
              <a:off x="8916562" y="6074644"/>
              <a:ext cx="1373933"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 COMMERCIAUX »</a:t>
              </a:r>
            </a:p>
          </p:txBody>
        </p:sp>
        <p:sp>
          <p:nvSpPr>
            <p:cNvPr id="19" name="ZoneTexte 18">
              <a:extLst>
                <a:ext uri="{FF2B5EF4-FFF2-40B4-BE49-F238E27FC236}">
                  <a16:creationId xmlns:a16="http://schemas.microsoft.com/office/drawing/2014/main" id="{F8C278C9-610C-4A7B-86DE-D8EC74165102}"/>
                </a:ext>
              </a:extLst>
            </p:cNvPr>
            <p:cNvSpPr txBox="1"/>
            <p:nvPr/>
          </p:nvSpPr>
          <p:spPr>
            <a:xfrm>
              <a:off x="7142146" y="6081667"/>
              <a:ext cx="1373933"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a:t>
              </a:r>
            </a:p>
            <a:p>
              <a:pPr marL="0" indent="0" algn="ctr">
                <a:buFont typeface="Arial" panose="020B0604020202020204" pitchFamily="34" charset="0"/>
                <a:buNone/>
              </a:pPr>
              <a:r>
                <a:rPr lang="fr-FR" sz="700" b="1" i="1"/>
                <a:t>AUDITEURS</a:t>
              </a:r>
            </a:p>
          </p:txBody>
        </p:sp>
        <p:pic>
          <p:nvPicPr>
            <p:cNvPr id="20" name="Graphique 19" descr="Programmeur avec un remplissage uni">
              <a:extLst>
                <a:ext uri="{FF2B5EF4-FFF2-40B4-BE49-F238E27FC236}">
                  <a16:creationId xmlns:a16="http://schemas.microsoft.com/office/drawing/2014/main" id="{89881868-DAD7-4F65-90C6-6D84A42B59D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401623" y="5181377"/>
              <a:ext cx="914400" cy="914400"/>
            </a:xfrm>
            <a:prstGeom prst="rect">
              <a:avLst/>
            </a:prstGeom>
          </p:spPr>
        </p:pic>
        <p:sp>
          <p:nvSpPr>
            <p:cNvPr id="21" name="ZoneTexte 20">
              <a:extLst>
                <a:ext uri="{FF2B5EF4-FFF2-40B4-BE49-F238E27FC236}">
                  <a16:creationId xmlns:a16="http://schemas.microsoft.com/office/drawing/2014/main" id="{EC724627-550B-4BF9-A964-F3BABBFF92B8}"/>
                </a:ext>
              </a:extLst>
            </p:cNvPr>
            <p:cNvSpPr txBox="1"/>
            <p:nvPr/>
          </p:nvSpPr>
          <p:spPr>
            <a:xfrm>
              <a:off x="10618666" y="6082133"/>
              <a:ext cx="1373933" cy="431156"/>
            </a:xfrm>
            <a:prstGeom prst="rect">
              <a:avLst/>
            </a:prstGeom>
            <a:noFill/>
          </p:spPr>
          <p:txBody>
            <a:bodyPr wrap="square">
              <a:spAutoFit/>
            </a:bodyPr>
            <a:lstStyle/>
            <a:p>
              <a:pPr marL="0" indent="0" algn="ctr">
                <a:buFont typeface="Arial" panose="020B0604020202020204" pitchFamily="34" charset="0"/>
                <a:buNone/>
              </a:pPr>
              <a:r>
                <a:rPr lang="fr-FR" sz="700" b="1" i="1"/>
                <a:t>AMBASSADEURS DIPLOMATES</a:t>
              </a:r>
            </a:p>
          </p:txBody>
        </p:sp>
      </p:grpSp>
      <p:grpSp>
        <p:nvGrpSpPr>
          <p:cNvPr id="22" name="Groupe 21">
            <a:extLst>
              <a:ext uri="{FF2B5EF4-FFF2-40B4-BE49-F238E27FC236}">
                <a16:creationId xmlns:a16="http://schemas.microsoft.com/office/drawing/2014/main" id="{D95F64C1-F09B-1D10-C86B-F84DD2DAFC95}"/>
              </a:ext>
            </a:extLst>
          </p:cNvPr>
          <p:cNvGrpSpPr/>
          <p:nvPr/>
        </p:nvGrpSpPr>
        <p:grpSpPr>
          <a:xfrm>
            <a:off x="2319704" y="1725309"/>
            <a:ext cx="9628466" cy="1099114"/>
            <a:chOff x="11600" y="1496380"/>
            <a:chExt cx="12038120" cy="1498765"/>
          </a:xfrm>
        </p:grpSpPr>
        <p:grpSp>
          <p:nvGrpSpPr>
            <p:cNvPr id="23" name="Groupe 22">
              <a:extLst>
                <a:ext uri="{FF2B5EF4-FFF2-40B4-BE49-F238E27FC236}">
                  <a16:creationId xmlns:a16="http://schemas.microsoft.com/office/drawing/2014/main" id="{BA9B2668-FBD8-BEF1-9DDE-1660691FAE72}"/>
                </a:ext>
              </a:extLst>
            </p:cNvPr>
            <p:cNvGrpSpPr/>
            <p:nvPr/>
          </p:nvGrpSpPr>
          <p:grpSpPr>
            <a:xfrm>
              <a:off x="11600" y="2499558"/>
              <a:ext cx="12038120" cy="495587"/>
              <a:chOff x="0" y="2140394"/>
              <a:chExt cx="12854128" cy="4544491"/>
            </a:xfrm>
          </p:grpSpPr>
          <p:sp>
            <p:nvSpPr>
              <p:cNvPr id="34" name="Espace réservé du texte 15">
                <a:extLst>
                  <a:ext uri="{FF2B5EF4-FFF2-40B4-BE49-F238E27FC236}">
                    <a16:creationId xmlns:a16="http://schemas.microsoft.com/office/drawing/2014/main" id="{67664D1A-B1F5-AEC8-1457-F091BC88E8E9}"/>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35" name="Espace réservé du texte 15">
                <a:extLst>
                  <a:ext uri="{FF2B5EF4-FFF2-40B4-BE49-F238E27FC236}">
                    <a16:creationId xmlns:a16="http://schemas.microsoft.com/office/drawing/2014/main" id="{AA558D86-04A3-4B2D-25D0-EDC31517DEB7}"/>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36" name="Espace réservé du texte 15">
                <a:extLst>
                  <a:ext uri="{FF2B5EF4-FFF2-40B4-BE49-F238E27FC236}">
                    <a16:creationId xmlns:a16="http://schemas.microsoft.com/office/drawing/2014/main" id="{BB827989-1CFD-13DC-DAA3-E31CA5352FD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37" name="Espace réservé du texte 15">
                <a:extLst>
                  <a:ext uri="{FF2B5EF4-FFF2-40B4-BE49-F238E27FC236}">
                    <a16:creationId xmlns:a16="http://schemas.microsoft.com/office/drawing/2014/main" id="{B824B29A-602E-4D3F-D65A-DC9A06D5C52B}"/>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38" name="Espace réservé du texte 15">
                <a:extLst>
                  <a:ext uri="{FF2B5EF4-FFF2-40B4-BE49-F238E27FC236}">
                    <a16:creationId xmlns:a16="http://schemas.microsoft.com/office/drawing/2014/main" id="{D2F70FD0-859B-B3FA-6F87-04A45052BA13}"/>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39" name="Espace réservé du texte 15">
                <a:extLst>
                  <a:ext uri="{FF2B5EF4-FFF2-40B4-BE49-F238E27FC236}">
                    <a16:creationId xmlns:a16="http://schemas.microsoft.com/office/drawing/2014/main" id="{633DAB3B-AEF9-FA8A-F775-E9935FF14B78}"/>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40" name="Espace réservé du texte 15">
                <a:extLst>
                  <a:ext uri="{FF2B5EF4-FFF2-40B4-BE49-F238E27FC236}">
                    <a16:creationId xmlns:a16="http://schemas.microsoft.com/office/drawing/2014/main" id="{3A90F261-CC20-D8AB-BBAC-490154B237D5}"/>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24" name="Graphique 23" descr="Ampoule avec un remplissage uni">
              <a:extLst>
                <a:ext uri="{FF2B5EF4-FFF2-40B4-BE49-F238E27FC236}">
                  <a16:creationId xmlns:a16="http://schemas.microsoft.com/office/drawing/2014/main" id="{5FBDC3A5-F54B-64AD-68F4-ED529F144A3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60868" y="1496380"/>
              <a:ext cx="914400" cy="914400"/>
            </a:xfrm>
            <a:prstGeom prst="rect">
              <a:avLst/>
            </a:prstGeom>
          </p:spPr>
        </p:pic>
        <p:pic>
          <p:nvPicPr>
            <p:cNvPr id="25" name="Graphique 24" descr="Seau et pelle avec un remplissage uni">
              <a:extLst>
                <a:ext uri="{FF2B5EF4-FFF2-40B4-BE49-F238E27FC236}">
                  <a16:creationId xmlns:a16="http://schemas.microsoft.com/office/drawing/2014/main" id="{B199BBBB-969F-AC3E-C344-C2BE83F5213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098515" y="1496380"/>
              <a:ext cx="914400" cy="914400"/>
            </a:xfrm>
            <a:prstGeom prst="rect">
              <a:avLst/>
            </a:prstGeom>
          </p:spPr>
        </p:pic>
        <p:pic>
          <p:nvPicPr>
            <p:cNvPr id="29" name="Graphique 28" descr="Tubes à essai avec un remplissage uni">
              <a:extLst>
                <a:ext uri="{FF2B5EF4-FFF2-40B4-BE49-F238E27FC236}">
                  <a16:creationId xmlns:a16="http://schemas.microsoft.com/office/drawing/2014/main" id="{3F0DD9ED-A136-7994-43CF-12E27D90F354}"/>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33203" y="1496380"/>
              <a:ext cx="914400" cy="914400"/>
            </a:xfrm>
            <a:prstGeom prst="rect">
              <a:avLst/>
            </a:prstGeom>
          </p:spPr>
        </p:pic>
        <p:pic>
          <p:nvPicPr>
            <p:cNvPr id="30" name="Graphique 29" descr="Explosion avec un remplissage uni">
              <a:extLst>
                <a:ext uri="{FF2B5EF4-FFF2-40B4-BE49-F238E27FC236}">
                  <a16:creationId xmlns:a16="http://schemas.microsoft.com/office/drawing/2014/main" id="{7148841E-E124-1CA6-5FD5-8FEFD2AD3503}"/>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573460" y="1496380"/>
              <a:ext cx="914400" cy="914400"/>
            </a:xfrm>
            <a:prstGeom prst="rect">
              <a:avLst/>
            </a:prstGeom>
          </p:spPr>
        </p:pic>
        <p:pic>
          <p:nvPicPr>
            <p:cNvPr id="31" name="Graphique 30" descr="Trophée avec un remplissage uni">
              <a:extLst>
                <a:ext uri="{FF2B5EF4-FFF2-40B4-BE49-F238E27FC236}">
                  <a16:creationId xmlns:a16="http://schemas.microsoft.com/office/drawing/2014/main" id="{0991E741-7246-93C0-B9B5-C50F05AD6B8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313717" y="1496380"/>
              <a:ext cx="914400" cy="914400"/>
            </a:xfrm>
            <a:prstGeom prst="rect">
              <a:avLst/>
            </a:prstGeom>
          </p:spPr>
        </p:pic>
        <p:pic>
          <p:nvPicPr>
            <p:cNvPr id="32" name="Graphique 31" descr="Assiette couverte avec un remplissage uni">
              <a:extLst>
                <a:ext uri="{FF2B5EF4-FFF2-40B4-BE49-F238E27FC236}">
                  <a16:creationId xmlns:a16="http://schemas.microsoft.com/office/drawing/2014/main" id="{F7F512D2-024F-72A8-5F40-27A9DA516794}"/>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048405" y="1496380"/>
              <a:ext cx="914400" cy="914400"/>
            </a:xfrm>
            <a:prstGeom prst="rect">
              <a:avLst/>
            </a:prstGeom>
          </p:spPr>
        </p:pic>
        <p:pic>
          <p:nvPicPr>
            <p:cNvPr id="33" name="Graphique 32" descr="Scène de château avec un remplissage uni">
              <a:extLst>
                <a:ext uri="{FF2B5EF4-FFF2-40B4-BE49-F238E27FC236}">
                  <a16:creationId xmlns:a16="http://schemas.microsoft.com/office/drawing/2014/main" id="{EE025EDA-26B4-2E00-6A3E-E4FFC46D07F5}"/>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0783093" y="1496380"/>
              <a:ext cx="914400" cy="914400"/>
            </a:xfrm>
            <a:prstGeom prst="rect">
              <a:avLst/>
            </a:prstGeom>
          </p:spPr>
        </p:pic>
      </p:grpSp>
      <p:sp>
        <p:nvSpPr>
          <p:cNvPr id="41" name="ZoneTexte 40">
            <a:extLst>
              <a:ext uri="{FF2B5EF4-FFF2-40B4-BE49-F238E27FC236}">
                <a16:creationId xmlns:a16="http://schemas.microsoft.com/office/drawing/2014/main" id="{910ED46B-F4CA-BBF9-BCD9-57BC66C66587}"/>
              </a:ext>
            </a:extLst>
          </p:cNvPr>
          <p:cNvSpPr txBox="1"/>
          <p:nvPr/>
        </p:nvSpPr>
        <p:spPr>
          <a:xfrm>
            <a:off x="0" y="249331"/>
            <a:ext cx="12192000" cy="892552"/>
          </a:xfrm>
          <a:prstGeom prst="rect">
            <a:avLst/>
          </a:prstGeom>
          <a:noFill/>
        </p:spPr>
        <p:txBody>
          <a:bodyPr wrap="square" rtlCol="0">
            <a:spAutoFit/>
          </a:bodyPr>
          <a:lstStyle/>
          <a:p>
            <a:pPr marL="0" indent="0" algn="ctr">
              <a:buNone/>
            </a:pPr>
            <a:r>
              <a:rPr lang="fr-FR" sz="3200" b="1" i="1"/>
              <a:t>Atelier CCC-</a:t>
            </a:r>
            <a:r>
              <a:rPr lang="fr-FR" sz="3200" b="1" i="1" err="1"/>
              <a:t>Ambassadors</a:t>
            </a:r>
            <a:r>
              <a:rPr lang="fr-FR" sz="3200" b="1" i="1"/>
              <a:t> – </a:t>
            </a:r>
            <a:r>
              <a:rPr lang="fr-FR" sz="3200" b="1" i="1">
                <a:solidFill>
                  <a:srgbClr val="ED7D31"/>
                </a:solidFill>
              </a:rPr>
              <a:t>Exemple de résultat</a:t>
            </a:r>
          </a:p>
          <a:p>
            <a:pPr marL="0" indent="0" algn="ctr">
              <a:buNone/>
            </a:pPr>
            <a:r>
              <a:rPr lang="fr-FR" sz="2000" b="1" i="1"/>
              <a:t>Exemple de parcours ambassadeurs pour apprendre à intervenir sur toutes les phases</a:t>
            </a:r>
            <a:endParaRPr lang="fr-FR" sz="2000"/>
          </a:p>
        </p:txBody>
      </p:sp>
      <p:sp>
        <p:nvSpPr>
          <p:cNvPr id="42" name="Rectangle 41">
            <a:extLst>
              <a:ext uri="{FF2B5EF4-FFF2-40B4-BE49-F238E27FC236}">
                <a16:creationId xmlns:a16="http://schemas.microsoft.com/office/drawing/2014/main" id="{8F4E0CA2-77E1-D91A-405D-CBFD75CEC1F4}"/>
              </a:ext>
            </a:extLst>
          </p:cNvPr>
          <p:cNvSpPr/>
          <p:nvPr/>
        </p:nvSpPr>
        <p:spPr>
          <a:xfrm>
            <a:off x="2317355" y="4178342"/>
            <a:ext cx="1069495" cy="122801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Savoir faire un Talk inspirant sur le sujet XYZ</a:t>
            </a:r>
          </a:p>
        </p:txBody>
      </p:sp>
      <p:sp>
        <p:nvSpPr>
          <p:cNvPr id="43" name="Rectangle 42">
            <a:extLst>
              <a:ext uri="{FF2B5EF4-FFF2-40B4-BE49-F238E27FC236}">
                <a16:creationId xmlns:a16="http://schemas.microsoft.com/office/drawing/2014/main" id="{745794E6-8E54-B8BE-1923-3536D89C165B}"/>
              </a:ext>
            </a:extLst>
          </p:cNvPr>
          <p:cNvSpPr/>
          <p:nvPr/>
        </p:nvSpPr>
        <p:spPr>
          <a:xfrm>
            <a:off x="3860320" y="4178342"/>
            <a:ext cx="917410" cy="122801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Savoir Auditer / Faire le diagnostic d’équipes sur le sujet XYZ</a:t>
            </a:r>
          </a:p>
        </p:txBody>
      </p:sp>
      <p:sp>
        <p:nvSpPr>
          <p:cNvPr id="44" name="Rectangle 43">
            <a:extLst>
              <a:ext uri="{FF2B5EF4-FFF2-40B4-BE49-F238E27FC236}">
                <a16:creationId xmlns:a16="http://schemas.microsoft.com/office/drawing/2014/main" id="{8302CE04-3123-D4CB-D7CC-B7B1E79A73FE}"/>
              </a:ext>
            </a:extLst>
          </p:cNvPr>
          <p:cNvSpPr/>
          <p:nvPr/>
        </p:nvSpPr>
        <p:spPr>
          <a:xfrm>
            <a:off x="5251200" y="4178342"/>
            <a:ext cx="917410" cy="12080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🎓Savoir donner une formation basique sur la pratique du sujet XYZ</a:t>
            </a:r>
          </a:p>
        </p:txBody>
      </p:sp>
      <p:sp>
        <p:nvSpPr>
          <p:cNvPr id="45" name="Rectangle 44">
            <a:extLst>
              <a:ext uri="{FF2B5EF4-FFF2-40B4-BE49-F238E27FC236}">
                <a16:creationId xmlns:a16="http://schemas.microsoft.com/office/drawing/2014/main" id="{43B5DA46-412F-C6CA-FAE5-06CBA0C43515}"/>
              </a:ext>
            </a:extLst>
          </p:cNvPr>
          <p:cNvSpPr/>
          <p:nvPr/>
        </p:nvSpPr>
        <p:spPr>
          <a:xfrm>
            <a:off x="6642080" y="4178342"/>
            <a:ext cx="917410" cy="1228014"/>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 Savoir faire le suivi et coaching sur l’application du sujet XYZ</a:t>
            </a:r>
          </a:p>
        </p:txBody>
      </p:sp>
      <p:sp>
        <p:nvSpPr>
          <p:cNvPr id="46" name="Rectangle 45">
            <a:extLst>
              <a:ext uri="{FF2B5EF4-FFF2-40B4-BE49-F238E27FC236}">
                <a16:creationId xmlns:a16="http://schemas.microsoft.com/office/drawing/2014/main" id="{55D95313-FCEE-4726-576A-1D82DB5BC5E5}"/>
              </a:ext>
            </a:extLst>
          </p:cNvPr>
          <p:cNvSpPr/>
          <p:nvPr/>
        </p:nvSpPr>
        <p:spPr>
          <a:xfrm>
            <a:off x="8065335" y="4178342"/>
            <a:ext cx="917410" cy="122801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⚖️Avoir Capitalisé ses propres bonnes pratiques sur le sujet XYZ</a:t>
            </a:r>
          </a:p>
        </p:txBody>
      </p:sp>
      <p:sp>
        <p:nvSpPr>
          <p:cNvPr id="47" name="Rectangle 46">
            <a:extLst>
              <a:ext uri="{FF2B5EF4-FFF2-40B4-BE49-F238E27FC236}">
                <a16:creationId xmlns:a16="http://schemas.microsoft.com/office/drawing/2014/main" id="{71FADA1C-DE17-3BDF-9739-A2E13AA17F81}"/>
              </a:ext>
            </a:extLst>
          </p:cNvPr>
          <p:cNvSpPr/>
          <p:nvPr/>
        </p:nvSpPr>
        <p:spPr>
          <a:xfrm>
            <a:off x="9495847" y="4178342"/>
            <a:ext cx="917410" cy="122801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🎅Avoir monté ou contribué une offre de service</a:t>
            </a:r>
          </a:p>
        </p:txBody>
      </p:sp>
      <p:sp>
        <p:nvSpPr>
          <p:cNvPr id="48" name="Rectangle 47">
            <a:extLst>
              <a:ext uri="{FF2B5EF4-FFF2-40B4-BE49-F238E27FC236}">
                <a16:creationId xmlns:a16="http://schemas.microsoft.com/office/drawing/2014/main" id="{DCFAF2EA-286A-525A-2E12-0FF53FC7397B}"/>
              </a:ext>
            </a:extLst>
          </p:cNvPr>
          <p:cNvSpPr/>
          <p:nvPr/>
        </p:nvSpPr>
        <p:spPr>
          <a:xfrm>
            <a:off x="10814720" y="4166172"/>
            <a:ext cx="1030740" cy="12080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🏠Être un point de contact officiel sur le sujet XYZ auprès de la hiérarchie et proposer des changements</a:t>
            </a:r>
          </a:p>
        </p:txBody>
      </p:sp>
      <p:sp>
        <p:nvSpPr>
          <p:cNvPr id="2" name="Flèche : droite 1">
            <a:extLst>
              <a:ext uri="{FF2B5EF4-FFF2-40B4-BE49-F238E27FC236}">
                <a16:creationId xmlns:a16="http://schemas.microsoft.com/office/drawing/2014/main" id="{868C4F94-23B2-7F13-80E0-2CEEEB6FD002}"/>
              </a:ext>
            </a:extLst>
          </p:cNvPr>
          <p:cNvSpPr/>
          <p:nvPr/>
        </p:nvSpPr>
        <p:spPr>
          <a:xfrm>
            <a:off x="171450" y="4251226"/>
            <a:ext cx="1757319" cy="12280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a:solidFill>
                  <a:schemeClr val="bg1"/>
                </a:solidFill>
              </a:rPr>
              <a:t>Liste des compétences à développer</a:t>
            </a:r>
          </a:p>
        </p:txBody>
      </p:sp>
    </p:spTree>
    <p:extLst>
      <p:ext uri="{BB962C8B-B14F-4D97-AF65-F5344CB8AC3E}">
        <p14:creationId xmlns:p14="http://schemas.microsoft.com/office/powerpoint/2010/main" val="258712322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BD3A6710-B074-F715-3AF8-A48FD0326BB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Ambassadors</a:t>
            </a:r>
            <a:r>
              <a:rPr lang="fr-FR" sz="3200" b="1" i="1"/>
              <a:t> – </a:t>
            </a:r>
            <a:r>
              <a:rPr lang="fr-FR" sz="3200" b="1" i="1">
                <a:solidFill>
                  <a:srgbClr val="ED7D31"/>
                </a:solidFill>
              </a:rPr>
              <a:t>Déroulement</a:t>
            </a:r>
            <a:endParaRPr lang="fr-FR" sz="3200"/>
          </a:p>
        </p:txBody>
      </p:sp>
      <p:sp>
        <p:nvSpPr>
          <p:cNvPr id="18" name="Flèche : droite 17">
            <a:extLst>
              <a:ext uri="{FF2B5EF4-FFF2-40B4-BE49-F238E27FC236}">
                <a16:creationId xmlns:a16="http://schemas.microsoft.com/office/drawing/2014/main" id="{D44EE3DA-1807-730E-822E-CC4D953A711D}"/>
              </a:ext>
            </a:extLst>
          </p:cNvPr>
          <p:cNvSpPr/>
          <p:nvPr/>
        </p:nvSpPr>
        <p:spPr>
          <a:xfrm>
            <a:off x="220602" y="602142"/>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9" name="Tableau 18">
            <a:extLst>
              <a:ext uri="{FF2B5EF4-FFF2-40B4-BE49-F238E27FC236}">
                <a16:creationId xmlns:a16="http://schemas.microsoft.com/office/drawing/2014/main" id="{4B51B29F-E6C8-6BE3-5D56-1F7C7EC71947}"/>
              </a:ext>
            </a:extLst>
          </p:cNvPr>
          <p:cNvGraphicFramePr>
            <a:graphicFrameLocks/>
          </p:cNvGraphicFramePr>
          <p:nvPr>
            <p:extLst>
              <p:ext uri="{D42A27DB-BD31-4B8C-83A1-F6EECF244321}">
                <p14:modId xmlns:p14="http://schemas.microsoft.com/office/powerpoint/2010/main" val="1669989240"/>
              </p:ext>
            </p:extLst>
          </p:nvPr>
        </p:nvGraphicFramePr>
        <p:xfrm>
          <a:off x="220600" y="1143894"/>
          <a:ext cx="10421855" cy="4466331"/>
        </p:xfrm>
        <a:graphic>
          <a:graphicData uri="http://schemas.openxmlformats.org/drawingml/2006/table">
            <a:tbl>
              <a:tblPr firstRow="1" bandRow="1">
                <a:tableStyleId>{5C22544A-7EE6-4342-B048-85BDC9FD1C3A}</a:tableStyleId>
              </a:tblPr>
              <a:tblGrid>
                <a:gridCol w="2549233">
                  <a:extLst>
                    <a:ext uri="{9D8B030D-6E8A-4147-A177-3AD203B41FA5}">
                      <a16:colId xmlns:a16="http://schemas.microsoft.com/office/drawing/2014/main" val="1302591909"/>
                    </a:ext>
                  </a:extLst>
                </a:gridCol>
                <a:gridCol w="5600881">
                  <a:extLst>
                    <a:ext uri="{9D8B030D-6E8A-4147-A177-3AD203B41FA5}">
                      <a16:colId xmlns:a16="http://schemas.microsoft.com/office/drawing/2014/main" val="1572267126"/>
                    </a:ext>
                  </a:extLst>
                </a:gridCol>
                <a:gridCol w="2271741">
                  <a:extLst>
                    <a:ext uri="{9D8B030D-6E8A-4147-A177-3AD203B41FA5}">
                      <a16:colId xmlns:a16="http://schemas.microsoft.com/office/drawing/2014/main" val="4222483745"/>
                    </a:ext>
                  </a:extLst>
                </a:gridCol>
              </a:tblGrid>
              <a:tr h="828942">
                <a:tc>
                  <a:txBody>
                    <a:bodyPr/>
                    <a:lstStyle/>
                    <a:p>
                      <a:r>
                        <a:rPr lang="fr-FR" sz="1400" dirty="0"/>
                        <a:t>Ouverture : </a:t>
                      </a:r>
                    </a:p>
                    <a:p>
                      <a:r>
                        <a:rPr lang="fr-FR" sz="1400" dirty="0"/>
                        <a:t>Accueil, Intro, Icebreaker…</a:t>
                      </a:r>
                    </a:p>
                    <a:p>
                      <a:r>
                        <a:rPr lang="fr-FR" sz="1400" dirty="0"/>
                        <a:t>10 minutes</a:t>
                      </a:r>
                    </a:p>
                  </a:txBody>
                  <a:tcPr/>
                </a:tc>
                <a:tc>
                  <a:txBody>
                    <a:bodyPr/>
                    <a:lstStyle/>
                    <a:p>
                      <a:pPr algn="ctr"/>
                      <a:r>
                        <a:rPr lang="fr-FR" sz="1400" dirty="0"/>
                        <a:t>Déroulement</a:t>
                      </a:r>
                    </a:p>
                    <a:p>
                      <a:pPr algn="ctr"/>
                      <a:r>
                        <a:rPr lang="fr-FR" sz="1400" dirty="0"/>
                        <a:t>Règles du jeu, Narratif</a:t>
                      </a:r>
                    </a:p>
                    <a:p>
                      <a:pPr algn="ctr"/>
                      <a:r>
                        <a:rPr lang="fr-FR" sz="1400" dirty="0"/>
                        <a:t>15 min</a:t>
                      </a:r>
                    </a:p>
                  </a:txBody>
                  <a:tcPr/>
                </a:tc>
                <a:tc>
                  <a:txBody>
                    <a:bodyPr/>
                    <a:lstStyle/>
                    <a:p>
                      <a:r>
                        <a:rPr lang="fr-FR" sz="1400" dirty="0"/>
                        <a:t>Clôture :</a:t>
                      </a:r>
                    </a:p>
                    <a:p>
                      <a:r>
                        <a:rPr lang="fr-FR" sz="1400" dirty="0"/>
                        <a:t>Debriefing, Remerciements…</a:t>
                      </a:r>
                    </a:p>
                    <a:p>
                      <a:r>
                        <a:rPr lang="fr-FR" sz="1400" dirty="0"/>
                        <a:t>5 min</a:t>
                      </a:r>
                    </a:p>
                  </a:txBody>
                  <a:tcPr/>
                </a:tc>
                <a:extLst>
                  <a:ext uri="{0D108BD9-81ED-4DB2-BD59-A6C34878D82A}">
                    <a16:rowId xmlns:a16="http://schemas.microsoft.com/office/drawing/2014/main" val="1724558119"/>
                  </a:ext>
                </a:extLst>
              </a:tr>
              <a:tr h="3521451">
                <a:tc>
                  <a:txBody>
                    <a:bodyPr/>
                    <a:lstStyle/>
                    <a:p>
                      <a:pPr marL="285750" indent="-285750">
                        <a:buFont typeface="Arial" panose="020B0604020202020204" pitchFamily="34" charset="0"/>
                        <a:buChar char="•"/>
                      </a:pPr>
                      <a:r>
                        <a:rPr lang="fr-FR" sz="1400" dirty="0"/>
                        <a:t>Présenter le CCC-Model</a:t>
                      </a:r>
                    </a:p>
                    <a:p>
                      <a:pPr marL="285750" indent="-285750">
                        <a:buFont typeface="Arial" panose="020B0604020202020204" pitchFamily="34" charset="0"/>
                        <a:buChar char="•"/>
                      </a:pPr>
                      <a:r>
                        <a:rPr lang="fr-FR" sz="1400" dirty="0"/>
                        <a:t>Présenter les différentes postures d’ambassadeurs selon le CCC-Model</a:t>
                      </a:r>
                    </a:p>
                  </a:txBody>
                  <a:tcPr/>
                </a:tc>
                <a:tc>
                  <a:txBody>
                    <a:bodyPr/>
                    <a:lstStyle/>
                    <a:p>
                      <a:pPr marL="342900" indent="-342900">
                        <a:buFont typeface="+mj-lt"/>
                        <a:buAutoNum type="arabicPeriod"/>
                      </a:pPr>
                      <a:r>
                        <a:rPr lang="fr-FR" sz="1400" dirty="0"/>
                        <a:t>Présenter un tableau vide avec les phases</a:t>
                      </a:r>
                    </a:p>
                    <a:p>
                      <a:pPr marL="342900" indent="-342900">
                        <a:buFont typeface="+mj-lt"/>
                        <a:buAutoNum type="arabicPeriod"/>
                      </a:pPr>
                      <a:r>
                        <a:rPr lang="fr-FR" sz="1400" dirty="0"/>
                        <a:t>Demander aux ambassadeurs de se placer dans les phases où ils se sentent compétents (ils peuvent se placer sur plusieurs phases)</a:t>
                      </a:r>
                    </a:p>
                    <a:p>
                      <a:pPr marL="342900" indent="-342900">
                        <a:buFont typeface="+mj-lt"/>
                        <a:buAutoNum type="arabicPeriod"/>
                      </a:pPr>
                      <a:r>
                        <a:rPr lang="fr-FR" sz="1400" dirty="0"/>
                        <a:t>Pour chaque phase (peu importe s’il y a des membres ou pas), lister les compétences requises pour cette phase</a:t>
                      </a:r>
                    </a:p>
                  </a:txBody>
                  <a:tcPr/>
                </a:tc>
                <a:tc>
                  <a:txBody>
                    <a:bodyPr/>
                    <a:lstStyle/>
                    <a:p>
                      <a:pPr marL="0" marR="0" lvl="0" indent="0" algn="l">
                        <a:lnSpc>
                          <a:spcPct val="100000"/>
                        </a:lnSpc>
                        <a:spcBef>
                          <a:spcPts val="0"/>
                        </a:spcBef>
                        <a:spcAft>
                          <a:spcPts val="0"/>
                        </a:spcAft>
                        <a:buClrTx/>
                        <a:buSzTx/>
                        <a:buFontTx/>
                        <a:buNone/>
                      </a:pPr>
                      <a:r>
                        <a:rPr lang="fr-FR" sz="1400" dirty="0"/>
                        <a:t>Questions de Debriefing : </a:t>
                      </a:r>
                    </a:p>
                    <a:p>
                      <a:pPr marL="342900" marR="0" lvl="0" indent="-342900" algn="l">
                        <a:lnSpc>
                          <a:spcPct val="100000"/>
                        </a:lnSpc>
                        <a:spcBef>
                          <a:spcPts val="0"/>
                        </a:spcBef>
                        <a:spcAft>
                          <a:spcPts val="0"/>
                        </a:spcAft>
                        <a:buClrTx/>
                        <a:buSzTx/>
                        <a:buFont typeface="+mj-lt"/>
                        <a:buAutoNum type="arabicPeriod"/>
                      </a:pPr>
                      <a:r>
                        <a:rPr lang="fr-FR" sz="1400" dirty="0"/>
                        <a:t>Comment améliorer le parcours ambassadeur ? </a:t>
                      </a:r>
                    </a:p>
                    <a:p>
                      <a:pPr marL="342900" marR="0" lvl="0" indent="-342900" algn="l">
                        <a:lnSpc>
                          <a:spcPct val="100000"/>
                        </a:lnSpc>
                        <a:spcBef>
                          <a:spcPts val="0"/>
                        </a:spcBef>
                        <a:spcAft>
                          <a:spcPts val="0"/>
                        </a:spcAft>
                        <a:buClrTx/>
                        <a:buSzTx/>
                        <a:buFont typeface="+mj-lt"/>
                        <a:buAutoNum type="arabicPeriod"/>
                      </a:pPr>
                      <a:r>
                        <a:rPr lang="fr-FR" sz="1400" dirty="0"/>
                        <a:t>Quel est le type d’ambassadeurs que nous avons le plus ? </a:t>
                      </a:r>
                    </a:p>
                    <a:p>
                      <a:pPr marL="342900" marR="0" lvl="0" indent="-342900" algn="l">
                        <a:lnSpc>
                          <a:spcPct val="100000"/>
                        </a:lnSpc>
                        <a:spcBef>
                          <a:spcPts val="0"/>
                        </a:spcBef>
                        <a:spcAft>
                          <a:spcPts val="0"/>
                        </a:spcAft>
                        <a:buClrTx/>
                        <a:buSzTx/>
                        <a:buFont typeface="+mj-lt"/>
                        <a:buAutoNum type="arabicPeriod"/>
                      </a:pPr>
                      <a:r>
                        <a:rPr lang="fr-FR" sz="1400" dirty="0"/>
                        <a:t>Quel est le type d’ambassadeurs dont nous manquons le plus ? </a:t>
                      </a:r>
                    </a:p>
                  </a:txBody>
                  <a:tcPr/>
                </a:tc>
                <a:extLst>
                  <a:ext uri="{0D108BD9-81ED-4DB2-BD59-A6C34878D82A}">
                    <a16:rowId xmlns:a16="http://schemas.microsoft.com/office/drawing/2014/main" val="215570386"/>
                  </a:ext>
                </a:extLst>
              </a:tr>
            </a:tbl>
          </a:graphicData>
        </a:graphic>
      </p:graphicFrame>
      <p:sp>
        <p:nvSpPr>
          <p:cNvPr id="20" name="Espace réservé du contenu 2">
            <a:extLst>
              <a:ext uri="{FF2B5EF4-FFF2-40B4-BE49-F238E27FC236}">
                <a16:creationId xmlns:a16="http://schemas.microsoft.com/office/drawing/2014/main" id="{6C52C370-F85E-3D60-6E05-967F9E36C738}"/>
              </a:ext>
            </a:extLst>
          </p:cNvPr>
          <p:cNvSpPr txBox="1">
            <a:spLocks/>
          </p:cNvSpPr>
          <p:nvPr/>
        </p:nvSpPr>
        <p:spPr>
          <a:xfrm>
            <a:off x="10642455" y="2967094"/>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dirty="0">
                <a:solidFill>
                  <a:srgbClr val="000000"/>
                </a:solidFill>
                <a:cs typeface="Calibri"/>
              </a:rPr>
              <a:t>Total :</a:t>
            </a:r>
          </a:p>
          <a:p>
            <a:pPr marL="0" indent="0" algn="ctr">
              <a:buNone/>
            </a:pPr>
            <a:r>
              <a:rPr lang="fr-FR" sz="2000" b="1" dirty="0">
                <a:solidFill>
                  <a:srgbClr val="000000"/>
                </a:solidFill>
                <a:cs typeface="Calibri"/>
              </a:rPr>
              <a:t>30 min </a:t>
            </a:r>
          </a:p>
        </p:txBody>
      </p:sp>
    </p:spTree>
    <p:extLst>
      <p:ext uri="{BB962C8B-B14F-4D97-AF65-F5344CB8AC3E}">
        <p14:creationId xmlns:p14="http://schemas.microsoft.com/office/powerpoint/2010/main" val="153947464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40116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1980368"/>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Comprendre la variation du rôle d’ambassadeur selon la phase dans laquelle se trouve la Communauté</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40116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1980368"/>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b="1" dirty="0"/>
              <a:t>Livrables produits</a:t>
            </a:r>
            <a:r>
              <a:rPr lang="fr-FR" sz="1200" dirty="0"/>
              <a:t> : </a:t>
            </a:r>
          </a:p>
          <a:p>
            <a:pPr marL="0" indent="0">
              <a:buFont typeface="Arial" panose="020B0604020202020204" pitchFamily="34" charset="0"/>
              <a:buNone/>
            </a:pPr>
            <a:r>
              <a:rPr lang="fr-FR" sz="1200" dirty="0"/>
              <a:t>Parcours des ambassadeurs</a:t>
            </a:r>
          </a:p>
          <a:p>
            <a:pPr marL="0" indent="0">
              <a:buFont typeface="Arial" panose="020B0604020202020204" pitchFamily="34" charset="0"/>
              <a:buNone/>
            </a:pPr>
            <a:r>
              <a:rPr lang="fr-FR" sz="1200" b="1" dirty="0"/>
              <a:t>Résultats atteints </a:t>
            </a:r>
            <a:r>
              <a:rPr lang="fr-FR" sz="1200" dirty="0"/>
              <a:t>:</a:t>
            </a:r>
          </a:p>
          <a:p>
            <a:r>
              <a:rPr lang="fr-FR" sz="1200" dirty="0"/>
              <a:t>Des ambassadeurs de communauté plus satisfaits, plus pertinents dans leurs interventions, motivés pour continuer à se former</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40116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1980368"/>
            <a:ext cx="2832018" cy="1690823"/>
          </a:xfrm>
          <a:prstGeom prst="rect">
            <a:avLst/>
          </a:prstGeom>
          <a:solidFill>
            <a:schemeClr val="bg1">
              <a:lumMod val="95000"/>
            </a:schemeClr>
          </a:solidFill>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Nombre de participants min-max </a:t>
            </a:r>
            <a:r>
              <a:rPr lang="fr-FR" sz="1200" dirty="0"/>
              <a:t>:</a:t>
            </a:r>
          </a:p>
          <a:p>
            <a:pPr marL="0" indent="0">
              <a:buNone/>
            </a:pPr>
            <a:r>
              <a:rPr lang="fr-FR" sz="1200" dirty="0"/>
              <a:t>2 à 10 participants</a:t>
            </a:r>
          </a:p>
          <a:p>
            <a:pPr marL="0" indent="0">
              <a:buNone/>
            </a:pPr>
            <a:r>
              <a:rPr lang="fr-FR" sz="1200" b="1" dirty="0"/>
              <a:t>Profil des participants </a:t>
            </a:r>
            <a:r>
              <a:rPr lang="fr-FR" sz="1200" dirty="0"/>
              <a:t>: </a:t>
            </a:r>
          </a:p>
          <a:p>
            <a:pPr marL="0" indent="0">
              <a:buNone/>
            </a:pPr>
            <a:r>
              <a:rPr lang="fr-FR" sz="1200" dirty="0"/>
              <a:t>Animateurs de communauté</a:t>
            </a:r>
          </a:p>
          <a:p>
            <a:pPr marL="0" indent="0">
              <a:buNone/>
            </a:pPr>
            <a:r>
              <a:rPr lang="fr-FR" sz="1200" b="1" dirty="0" err="1"/>
              <a:t>Pré-requis</a:t>
            </a:r>
            <a:r>
              <a:rPr lang="fr-FR" sz="1200" b="1" dirty="0"/>
              <a:t> sur les participants (compétences, niveau de connaissance mutuelle, niveau d’adhésion …)</a:t>
            </a:r>
            <a:r>
              <a:rPr lang="fr-FR" sz="1200" dirty="0"/>
              <a:t> :</a:t>
            </a:r>
          </a:p>
          <a:p>
            <a:pPr marL="0" indent="0">
              <a:buNone/>
            </a:pPr>
            <a:r>
              <a:rPr lang="fr-FR" sz="1200" dirty="0"/>
              <a:t>Avoir une idée du modèle CCC</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40116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1980368"/>
            <a:ext cx="2832018" cy="1690823"/>
          </a:xfrm>
          <a:prstGeom prst="rect">
            <a:avLst/>
          </a:prstGeom>
          <a:solidFill>
            <a:schemeClr val="bg1"/>
          </a:solidFill>
          <a:ln>
            <a:solidFill>
              <a:schemeClr val="tx1"/>
            </a:solidFill>
          </a:ln>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Une communauté d’entreprise XYZ a trouvé des ambassadeurs lors de son lancement, mais depuis quelques temps les ambassadeurs ne trouvent ni leur place ni leur pertinence dans le fonctionnement de la Communauté. </a:t>
            </a:r>
          </a:p>
          <a:p>
            <a:pPr marL="0" indent="0">
              <a:buNone/>
            </a:pPr>
            <a:r>
              <a:rPr lang="fr-FR" sz="1200" dirty="0"/>
              <a:t>Plutôt que de redéfinir un rôle statique qui couvre ou bien trop ou bien trop peu, la Communauté XYZ choisit de se poser avec l’atelier CCC-</a:t>
            </a:r>
            <a:r>
              <a:rPr lang="fr-FR" sz="1200" dirty="0" err="1"/>
              <a:t>Ambassadors</a:t>
            </a:r>
            <a:r>
              <a:rPr lang="fr-FR" sz="1200" dirty="0"/>
              <a:t> pour mieux définir comment les ambassadeurs peuvent s’adapter à chaque situation.</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383600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415213"/>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Analyse de situation </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383600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415213"/>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b="1" dirty="0"/>
              <a:t>Durée min-max</a:t>
            </a:r>
          </a:p>
          <a:p>
            <a:pPr marL="0" indent="0">
              <a:buFont typeface="Arial" panose="020B0604020202020204" pitchFamily="34" charset="0"/>
              <a:buNone/>
            </a:pPr>
            <a:r>
              <a:rPr lang="fr-FR" sz="1200" dirty="0"/>
              <a:t>30 minutes</a:t>
            </a:r>
          </a:p>
          <a:p>
            <a:pPr marL="0" indent="0">
              <a:buFont typeface="Arial" panose="020B0604020202020204" pitchFamily="34" charset="0"/>
              <a:buNone/>
            </a:pPr>
            <a:r>
              <a:rPr lang="fr-FR" sz="1200" b="1" dirty="0"/>
              <a:t>Matériel nécessaire : </a:t>
            </a:r>
          </a:p>
          <a:p>
            <a:pPr marL="0" indent="0">
              <a:buFont typeface="Arial" panose="020B0604020202020204" pitchFamily="34" charset="0"/>
              <a:buNone/>
            </a:pPr>
            <a:r>
              <a:rPr lang="fr-FR" sz="1200" dirty="0"/>
              <a:t>Mur physique ou (recommandé) mur virtuel avec colonnes CCC </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383600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41521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Autres ateliers CCC</a:t>
            </a:r>
          </a:p>
          <a:p>
            <a:pPr marL="0" indent="0">
              <a:buNone/>
            </a:pPr>
            <a:r>
              <a:rPr lang="fr-FR" sz="1200" dirty="0"/>
              <a:t>Formations sur la création  de contenus en tant qu’ambassadeurs</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3836007"/>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415213"/>
            <a:ext cx="2832018" cy="1690823"/>
          </a:xfrm>
          <a:prstGeom prst="rect">
            <a:avLst/>
          </a:prstGeom>
          <a:solidFill>
            <a:schemeClr val="bg1"/>
          </a:solidFill>
          <a:ln>
            <a:solidFill>
              <a:schemeClr val="tx1"/>
            </a:solidFill>
          </a:ln>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Nommer des ambassadeurs d’une communauté donnée est une tactique assez courante, mais elle s’arrête souvent à les nommer.</a:t>
            </a:r>
          </a:p>
          <a:p>
            <a:pPr marL="0" indent="0">
              <a:buNone/>
            </a:pPr>
            <a:r>
              <a:rPr lang="fr-FR" sz="1200" dirty="0"/>
              <a:t>Et s’il était possible d’aider les ambassadeurs à être encore meilleurs dans leurs mission ? </a:t>
            </a:r>
          </a:p>
          <a:p>
            <a:pPr marL="0" indent="0">
              <a:buNone/>
            </a:pPr>
            <a:r>
              <a:rPr lang="fr-FR" sz="1200" dirty="0"/>
              <a:t>CCC-</a:t>
            </a:r>
            <a:r>
              <a:rPr lang="fr-FR" sz="1200" dirty="0" err="1"/>
              <a:t>Ambassadors</a:t>
            </a:r>
            <a:r>
              <a:rPr lang="fr-FR" sz="1200" dirty="0"/>
              <a:t> est un atelier qui utilise le modèle CCC pour aider à définir les rôles et interventions des ambassadeurs selon la phase dans laquelle se trouve la Communauté. </a:t>
            </a:r>
          </a:p>
        </p:txBody>
      </p:sp>
      <p:sp>
        <p:nvSpPr>
          <p:cNvPr id="39" name="ZoneTexte 38">
            <a:extLst>
              <a:ext uri="{FF2B5EF4-FFF2-40B4-BE49-F238E27FC236}">
                <a16:creationId xmlns:a16="http://schemas.microsoft.com/office/drawing/2014/main" id="{EA9CEF71-4F80-8D8B-8C7E-77B195056A45}"/>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dirty="0"/>
              <a:t>Atelier CCC-</a:t>
            </a:r>
            <a:r>
              <a:rPr lang="fr-FR" sz="3200" b="1" i="1" dirty="0" err="1"/>
              <a:t>Ambassadors</a:t>
            </a:r>
            <a:r>
              <a:rPr lang="fr-FR" sz="3200" b="1" i="1" dirty="0"/>
              <a:t> – </a:t>
            </a:r>
            <a:r>
              <a:rPr lang="fr-FR" sz="3200" b="1" i="1" dirty="0">
                <a:solidFill>
                  <a:srgbClr val="ED7D31"/>
                </a:solidFill>
              </a:rPr>
              <a:t>Organisation</a:t>
            </a:r>
          </a:p>
        </p:txBody>
      </p:sp>
      <p:sp>
        <p:nvSpPr>
          <p:cNvPr id="47" name="ZoneTexte 46">
            <a:extLst>
              <a:ext uri="{FF2B5EF4-FFF2-40B4-BE49-F238E27FC236}">
                <a16:creationId xmlns:a16="http://schemas.microsoft.com/office/drawing/2014/main" id="{77368814-ECA2-E686-2EF2-F93AA01FAB48}"/>
              </a:ext>
            </a:extLst>
          </p:cNvPr>
          <p:cNvSpPr txBox="1"/>
          <p:nvPr/>
        </p:nvSpPr>
        <p:spPr>
          <a:xfrm>
            <a:off x="334775" y="6335957"/>
            <a:ext cx="11602365" cy="369332"/>
          </a:xfrm>
          <a:prstGeom prst="rect">
            <a:avLst/>
          </a:prstGeom>
          <a:noFill/>
        </p:spPr>
        <p:txBody>
          <a:bodyPr wrap="square">
            <a:spAutoFit/>
          </a:bodyPr>
          <a:lstStyle/>
          <a:p>
            <a:pPr algn="ctr"/>
            <a:r>
              <a:rPr lang="fr-FR" sz="1800" b="1" i="1">
                <a:ea typeface="+mn-lt"/>
                <a:cs typeface="+mn-lt"/>
              </a:rPr>
              <a:t>Pour vérifier que cela correspond bien à nos besoins et capacités, et pouvoir organiser facilement la session</a:t>
            </a:r>
            <a:endParaRPr lang="fr-FR" sz="1800">
              <a:ea typeface="Calibri"/>
              <a:cs typeface="Calibri"/>
            </a:endParaRPr>
          </a:p>
        </p:txBody>
      </p:sp>
    </p:spTree>
    <p:extLst>
      <p:ext uri="{BB962C8B-B14F-4D97-AF65-F5344CB8AC3E}">
        <p14:creationId xmlns:p14="http://schemas.microsoft.com/office/powerpoint/2010/main" val="39608716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C49A48C6-402B-4648-B201-CBA371111691}"/>
              </a:ext>
            </a:extLst>
          </p:cNvPr>
          <p:cNvGrpSpPr/>
          <p:nvPr/>
        </p:nvGrpSpPr>
        <p:grpSpPr>
          <a:xfrm>
            <a:off x="51764" y="2263550"/>
            <a:ext cx="12038120" cy="495587"/>
            <a:chOff x="0" y="2140394"/>
            <a:chExt cx="12854128" cy="4544491"/>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5" name="Espace réservé du texte 15">
              <a:extLst>
                <a:ext uri="{FF2B5EF4-FFF2-40B4-BE49-F238E27FC236}">
                  <a16:creationId xmlns:a16="http://schemas.microsoft.com/office/drawing/2014/main" id="{23E86B51-FA39-4CBD-AD4C-8049BC1B2F2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6" name="Espace réservé du texte 15">
              <a:extLst>
                <a:ext uri="{FF2B5EF4-FFF2-40B4-BE49-F238E27FC236}">
                  <a16:creationId xmlns:a16="http://schemas.microsoft.com/office/drawing/2014/main" id="{DCEA1CF7-5098-45F5-9E5A-1A665AE76AA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7" name="Espace réservé du texte 15">
              <a:extLst>
                <a:ext uri="{FF2B5EF4-FFF2-40B4-BE49-F238E27FC236}">
                  <a16:creationId xmlns:a16="http://schemas.microsoft.com/office/drawing/2014/main" id="{5F1F4080-42EC-4FC1-83FE-4D07E5D89749}"/>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8" name="Espace réservé du texte 15">
              <a:extLst>
                <a:ext uri="{FF2B5EF4-FFF2-40B4-BE49-F238E27FC236}">
                  <a16:creationId xmlns:a16="http://schemas.microsoft.com/office/drawing/2014/main" id="{E57CB1DC-1737-4DED-8CD1-015F73A9E762}"/>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9" name="Espace réservé du texte 15">
              <a:extLst>
                <a:ext uri="{FF2B5EF4-FFF2-40B4-BE49-F238E27FC236}">
                  <a16:creationId xmlns:a16="http://schemas.microsoft.com/office/drawing/2014/main" id="{29FC12E0-DC63-458D-84A8-5F7598EFD3A6}"/>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10" name="Espace réservé du texte 15">
              <a:extLst>
                <a:ext uri="{FF2B5EF4-FFF2-40B4-BE49-F238E27FC236}">
                  <a16:creationId xmlns:a16="http://schemas.microsoft.com/office/drawing/2014/main" id="{930D1EF3-800C-4412-94CD-8A6C1D2C9DCE}"/>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1032" y="1260372"/>
            <a:ext cx="914400" cy="914400"/>
          </a:xfrm>
          <a:prstGeom prst="rect">
            <a:avLst/>
          </a:prstGeom>
        </p:spPr>
      </p:pic>
      <p:pic>
        <p:nvPicPr>
          <p:cNvPr id="15" name="Graphique 14" descr="Seau et pelle avec un remplissage uni">
            <a:extLst>
              <a:ext uri="{FF2B5EF4-FFF2-40B4-BE49-F238E27FC236}">
                <a16:creationId xmlns:a16="http://schemas.microsoft.com/office/drawing/2014/main" id="{46829467-21FA-4B4E-BE9A-EAB8FA3E7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38679" y="1260372"/>
            <a:ext cx="914400" cy="914400"/>
          </a:xfrm>
          <a:prstGeom prst="rect">
            <a:avLst/>
          </a:prstGeom>
        </p:spPr>
      </p:pic>
      <p:pic>
        <p:nvPicPr>
          <p:cNvPr id="17" name="Graphique 16" descr="Tubes à essai avec un remplissage uni">
            <a:extLst>
              <a:ext uri="{FF2B5EF4-FFF2-40B4-BE49-F238E27FC236}">
                <a16:creationId xmlns:a16="http://schemas.microsoft.com/office/drawing/2014/main" id="{1F9FDC87-CE72-456E-B0B7-5FDFF30853D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73367" y="1260372"/>
            <a:ext cx="914400" cy="914400"/>
          </a:xfrm>
          <a:prstGeom prst="rect">
            <a:avLst/>
          </a:prstGeom>
        </p:spPr>
      </p:pic>
      <p:pic>
        <p:nvPicPr>
          <p:cNvPr id="19" name="Graphique 18" descr="Explosion avec un remplissage uni">
            <a:extLst>
              <a:ext uri="{FF2B5EF4-FFF2-40B4-BE49-F238E27FC236}">
                <a16:creationId xmlns:a16="http://schemas.microsoft.com/office/drawing/2014/main" id="{07D3CFFC-A08F-48DF-92E1-298FC228961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13624" y="1260372"/>
            <a:ext cx="914400" cy="914400"/>
          </a:xfrm>
          <a:prstGeom prst="rect">
            <a:avLst/>
          </a:prstGeom>
        </p:spPr>
      </p:pic>
      <p:pic>
        <p:nvPicPr>
          <p:cNvPr id="21" name="Graphique 20" descr="Trophée avec un remplissage uni">
            <a:extLst>
              <a:ext uri="{FF2B5EF4-FFF2-40B4-BE49-F238E27FC236}">
                <a16:creationId xmlns:a16="http://schemas.microsoft.com/office/drawing/2014/main" id="{6AB28851-209C-4763-9114-2EBE084DA8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53881" y="1260372"/>
            <a:ext cx="914400" cy="914400"/>
          </a:xfrm>
          <a:prstGeom prst="rect">
            <a:avLst/>
          </a:prstGeom>
        </p:spPr>
      </p:pic>
      <p:pic>
        <p:nvPicPr>
          <p:cNvPr id="23" name="Graphique 22" descr="Assiette couverte avec un remplissage uni">
            <a:extLst>
              <a:ext uri="{FF2B5EF4-FFF2-40B4-BE49-F238E27FC236}">
                <a16:creationId xmlns:a16="http://schemas.microsoft.com/office/drawing/2014/main" id="{8DA0FBC4-2DE3-44A1-8FCC-F02BB199D64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88569" y="1260372"/>
            <a:ext cx="914400" cy="914400"/>
          </a:xfrm>
          <a:prstGeom prst="rect">
            <a:avLst/>
          </a:prstGeom>
        </p:spPr>
      </p:pic>
      <p:pic>
        <p:nvPicPr>
          <p:cNvPr id="25" name="Graphique 24" descr="Scène de château avec un remplissage uni">
            <a:extLst>
              <a:ext uri="{FF2B5EF4-FFF2-40B4-BE49-F238E27FC236}">
                <a16:creationId xmlns:a16="http://schemas.microsoft.com/office/drawing/2014/main" id="{42BAF03C-9B45-4E5C-B521-13100631396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823257" y="1260372"/>
            <a:ext cx="914400" cy="914400"/>
          </a:xfrm>
          <a:prstGeom prst="rect">
            <a:avLst/>
          </a:prstGeom>
        </p:spPr>
      </p:pic>
      <p:pic>
        <p:nvPicPr>
          <p:cNvPr id="37" name="Image 36">
            <a:extLst>
              <a:ext uri="{FF2B5EF4-FFF2-40B4-BE49-F238E27FC236}">
                <a16:creationId xmlns:a16="http://schemas.microsoft.com/office/drawing/2014/main" id="{D6CD7271-24C1-4241-A872-1D93E1E371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663501" y="6458944"/>
            <a:ext cx="413656" cy="399056"/>
          </a:xfrm>
          <a:prstGeom prst="rect">
            <a:avLst/>
          </a:prstGeom>
        </p:spPr>
      </p:pic>
      <p:pic>
        <p:nvPicPr>
          <p:cNvPr id="18" name="Graphique 17" descr="Un astronaute avec un remplissage uni">
            <a:extLst>
              <a:ext uri="{FF2B5EF4-FFF2-40B4-BE49-F238E27FC236}">
                <a16:creationId xmlns:a16="http://schemas.microsoft.com/office/drawing/2014/main" id="{D7D09AE2-4623-442D-9C76-E24C4BAF040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01032" y="2759137"/>
            <a:ext cx="914400" cy="914400"/>
          </a:xfrm>
          <a:prstGeom prst="rect">
            <a:avLst/>
          </a:prstGeom>
        </p:spPr>
      </p:pic>
      <p:pic>
        <p:nvPicPr>
          <p:cNvPr id="39" name="Graphique 38" descr="Homme pilote avec un remplissage uni">
            <a:extLst>
              <a:ext uri="{FF2B5EF4-FFF2-40B4-BE49-F238E27FC236}">
                <a16:creationId xmlns:a16="http://schemas.microsoft.com/office/drawing/2014/main" id="{564CC2AE-7031-4D1B-B63E-497C6834771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776958" y="2786746"/>
            <a:ext cx="914400" cy="914400"/>
          </a:xfrm>
          <a:prstGeom prst="rect">
            <a:avLst/>
          </a:prstGeom>
        </p:spPr>
      </p:pic>
      <p:pic>
        <p:nvPicPr>
          <p:cNvPr id="41" name="Graphique 40" descr="Homme électricien avec un remplissage uni">
            <a:extLst>
              <a:ext uri="{FF2B5EF4-FFF2-40B4-BE49-F238E27FC236}">
                <a16:creationId xmlns:a16="http://schemas.microsoft.com/office/drawing/2014/main" id="{8029D830-EE71-47F7-B7E4-4437CE7C8FB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38800" y="2759137"/>
            <a:ext cx="914400" cy="914400"/>
          </a:xfrm>
          <a:prstGeom prst="rect">
            <a:avLst/>
          </a:prstGeom>
        </p:spPr>
      </p:pic>
      <p:pic>
        <p:nvPicPr>
          <p:cNvPr id="43" name="Graphique 42" descr="Homme scientifique avec un remplissage uni">
            <a:extLst>
              <a:ext uri="{FF2B5EF4-FFF2-40B4-BE49-F238E27FC236}">
                <a16:creationId xmlns:a16="http://schemas.microsoft.com/office/drawing/2014/main" id="{B103AD06-F3B3-479A-B9CC-2D8351026350}"/>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3873367" y="2759137"/>
            <a:ext cx="914400" cy="914400"/>
          </a:xfrm>
          <a:prstGeom prst="rect">
            <a:avLst/>
          </a:prstGeom>
        </p:spPr>
      </p:pic>
      <p:pic>
        <p:nvPicPr>
          <p:cNvPr id="45" name="Graphique 44" descr="Employé de bureau avec un remplissage uni">
            <a:extLst>
              <a:ext uri="{FF2B5EF4-FFF2-40B4-BE49-F238E27FC236}">
                <a16:creationId xmlns:a16="http://schemas.microsoft.com/office/drawing/2014/main" id="{71D8C067-B26D-4E2B-B904-90C4439DEB99}"/>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9121153" y="2759137"/>
            <a:ext cx="914400" cy="914400"/>
          </a:xfrm>
          <a:prstGeom prst="rect">
            <a:avLst/>
          </a:prstGeom>
        </p:spPr>
      </p:pic>
      <p:pic>
        <p:nvPicPr>
          <p:cNvPr id="47" name="Graphique 46" descr="Homme détective avec un remplissage uni">
            <a:extLst>
              <a:ext uri="{FF2B5EF4-FFF2-40B4-BE49-F238E27FC236}">
                <a16:creationId xmlns:a16="http://schemas.microsoft.com/office/drawing/2014/main" id="{DE3ED0B9-CB83-4D44-99D9-75553F0B72D4}"/>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2107934" y="2759137"/>
            <a:ext cx="914400" cy="914400"/>
          </a:xfrm>
          <a:prstGeom prst="rect">
            <a:avLst/>
          </a:prstGeom>
        </p:spPr>
      </p:pic>
      <p:sp>
        <p:nvSpPr>
          <p:cNvPr id="49" name="ZoneTexte 48">
            <a:extLst>
              <a:ext uri="{FF2B5EF4-FFF2-40B4-BE49-F238E27FC236}">
                <a16:creationId xmlns:a16="http://schemas.microsoft.com/office/drawing/2014/main" id="{87544D84-B04B-445B-8E20-2D2FC9D4C3F0}"/>
              </a:ext>
            </a:extLst>
          </p:cNvPr>
          <p:cNvSpPr txBox="1"/>
          <p:nvPr/>
        </p:nvSpPr>
        <p:spPr>
          <a:xfrm>
            <a:off x="188626" y="3630004"/>
            <a:ext cx="1232673" cy="2970044"/>
          </a:xfrm>
          <a:prstGeom prst="rect">
            <a:avLst/>
          </a:prstGeom>
          <a:noFill/>
        </p:spPr>
        <p:txBody>
          <a:bodyPr wrap="square">
            <a:spAutoFit/>
          </a:bodyPr>
          <a:lstStyle/>
          <a:p>
            <a:pPr marL="0" indent="0" algn="ctr">
              <a:buFont typeface="Arial" panose="020B0604020202020204" pitchFamily="34" charset="0"/>
              <a:buNone/>
            </a:pPr>
            <a:r>
              <a:rPr lang="fr-FR" sz="1100" b="1" i="1" dirty="0"/>
              <a:t>AMBASSADEURS VISIONNAIRES </a:t>
            </a:r>
          </a:p>
          <a:p>
            <a:pPr marL="0" indent="0" algn="ctr">
              <a:buFont typeface="Arial" panose="020B0604020202020204" pitchFamily="34" charset="0"/>
              <a:buNone/>
            </a:pPr>
            <a:r>
              <a:rPr lang="fr-FR" sz="1100" b="1" i="1" dirty="0"/>
              <a:t>&amp; « PRÊCHEURS»</a:t>
            </a:r>
          </a:p>
          <a:p>
            <a:pPr marL="0" indent="0" algn="ctr">
              <a:buFont typeface="Arial" panose="020B0604020202020204" pitchFamily="34" charset="0"/>
              <a:buNone/>
            </a:pPr>
            <a:endParaRPr lang="fr-FR" sz="1100" b="1" i="1" dirty="0"/>
          </a:p>
          <a:p>
            <a:pPr algn="ctr"/>
            <a:r>
              <a:rPr lang="fr-FR" sz="1100" dirty="0"/>
              <a:t>Les ambassadeurs invitent à découvrir, être curieux. Ils partagent des exemples simples, parlants et inspirants.</a:t>
            </a:r>
          </a:p>
          <a:p>
            <a:pPr algn="ctr"/>
            <a:r>
              <a:rPr lang="fr-FR" sz="1100" dirty="0"/>
              <a:t>Ils ne font aucune pression sur l‘engagement et privilégient l‘ouverture  </a:t>
            </a:r>
          </a:p>
        </p:txBody>
      </p:sp>
      <p:sp>
        <p:nvSpPr>
          <p:cNvPr id="50" name="ZoneTexte 49">
            <a:extLst>
              <a:ext uri="{FF2B5EF4-FFF2-40B4-BE49-F238E27FC236}">
                <a16:creationId xmlns:a16="http://schemas.microsoft.com/office/drawing/2014/main" id="{8E2D85FB-0FD6-4FDB-A123-25ACBED79373}"/>
              </a:ext>
            </a:extLst>
          </p:cNvPr>
          <p:cNvSpPr txBox="1"/>
          <p:nvPr/>
        </p:nvSpPr>
        <p:spPr>
          <a:xfrm>
            <a:off x="1916092" y="3634555"/>
            <a:ext cx="1232673" cy="2970044"/>
          </a:xfrm>
          <a:prstGeom prst="rect">
            <a:avLst/>
          </a:prstGeom>
          <a:noFill/>
        </p:spPr>
        <p:txBody>
          <a:bodyPr wrap="square">
            <a:spAutoFit/>
          </a:bodyPr>
          <a:lstStyle/>
          <a:p>
            <a:pPr marL="0" indent="0" algn="ctr">
              <a:buFont typeface="Arial" panose="020B0604020202020204" pitchFamily="34" charset="0"/>
              <a:buNone/>
            </a:pPr>
            <a:r>
              <a:rPr lang="fr-FR" sz="1100" b="1" i="1"/>
              <a:t>AMBASSADEURS DÉTECTIVES</a:t>
            </a:r>
          </a:p>
          <a:p>
            <a:pPr marL="0" indent="0" algn="ctr">
              <a:buFont typeface="Arial" panose="020B0604020202020204" pitchFamily="34" charset="0"/>
              <a:buNone/>
            </a:pPr>
            <a:endParaRPr lang="fr-FR" sz="1100" b="1" i="1"/>
          </a:p>
          <a:p>
            <a:pPr marL="0" indent="0" algn="ctr">
              <a:buFont typeface="Arial" panose="020B0604020202020204" pitchFamily="34" charset="0"/>
              <a:buNone/>
            </a:pPr>
            <a:endParaRPr lang="fr-FR" sz="1100" b="1" i="1"/>
          </a:p>
          <a:p>
            <a:pPr algn="ctr"/>
            <a:r>
              <a:rPr lang="fr-FR" sz="1100"/>
              <a:t>Les ambassadeurs se renseignent sur les opportunités et imaginent les possibilités pour les saisir.</a:t>
            </a:r>
          </a:p>
          <a:p>
            <a:pPr algn="ctr"/>
            <a:endParaRPr lang="fr-FR" sz="1100"/>
          </a:p>
          <a:p>
            <a:pPr algn="ctr"/>
            <a:r>
              <a:rPr lang="fr-FR" sz="1100"/>
              <a:t>Ils ne vendent plus le rêve, mais se concentrent sur le présenter comme réalisable localement.</a:t>
            </a:r>
          </a:p>
        </p:txBody>
      </p:sp>
      <p:sp>
        <p:nvSpPr>
          <p:cNvPr id="51" name="ZoneTexte 50">
            <a:extLst>
              <a:ext uri="{FF2B5EF4-FFF2-40B4-BE49-F238E27FC236}">
                <a16:creationId xmlns:a16="http://schemas.microsoft.com/office/drawing/2014/main" id="{B2A4D6F8-D919-4193-A708-786B7AF3B59C}"/>
              </a:ext>
            </a:extLst>
          </p:cNvPr>
          <p:cNvSpPr txBox="1"/>
          <p:nvPr/>
        </p:nvSpPr>
        <p:spPr>
          <a:xfrm>
            <a:off x="3708969" y="3670447"/>
            <a:ext cx="1232673" cy="2970044"/>
          </a:xfrm>
          <a:prstGeom prst="rect">
            <a:avLst/>
          </a:prstGeom>
          <a:noFill/>
        </p:spPr>
        <p:txBody>
          <a:bodyPr wrap="square">
            <a:spAutoFit/>
          </a:bodyPr>
          <a:lstStyle/>
          <a:p>
            <a:pPr marL="0" indent="0" algn="ctr">
              <a:buFont typeface="Arial" panose="020B0604020202020204" pitchFamily="34" charset="0"/>
              <a:buNone/>
            </a:pPr>
            <a:r>
              <a:rPr lang="fr-FR" sz="1100" b="1" i="1"/>
              <a:t>AMBASSADEURS PROFESSEURS, VULGARISATEURS</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sont capables de transmettre les bases à des débutants, sans les embrouiller avec la complexité des niveaux avancés. </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assurent la sécurité de cet apprentissage.</a:t>
            </a:r>
          </a:p>
        </p:txBody>
      </p:sp>
      <p:sp>
        <p:nvSpPr>
          <p:cNvPr id="52" name="ZoneTexte 51">
            <a:extLst>
              <a:ext uri="{FF2B5EF4-FFF2-40B4-BE49-F238E27FC236}">
                <a16:creationId xmlns:a16="http://schemas.microsoft.com/office/drawing/2014/main" id="{40134128-C108-40DC-99E1-D37DD8463FD4}"/>
              </a:ext>
            </a:extLst>
          </p:cNvPr>
          <p:cNvSpPr txBox="1"/>
          <p:nvPr/>
        </p:nvSpPr>
        <p:spPr>
          <a:xfrm>
            <a:off x="5454487" y="3670447"/>
            <a:ext cx="1232673" cy="3139321"/>
          </a:xfrm>
          <a:prstGeom prst="rect">
            <a:avLst/>
          </a:prstGeom>
          <a:noFill/>
        </p:spPr>
        <p:txBody>
          <a:bodyPr wrap="square">
            <a:spAutoFit/>
          </a:bodyPr>
          <a:lstStyle/>
          <a:p>
            <a:pPr marL="0" indent="0" algn="ctr">
              <a:buFont typeface="Arial" panose="020B0604020202020204" pitchFamily="34" charset="0"/>
              <a:buNone/>
            </a:pPr>
            <a:r>
              <a:rPr lang="fr-FR" sz="1100" b="1" i="1"/>
              <a:t>AMBASSADEURS SUPPORT </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sont capables d’aider sur des problèmes complexes liés au sujet et de transmettre des compétences avancées.</a:t>
            </a:r>
          </a:p>
          <a:p>
            <a:pPr marL="0" indent="0" algn="ctr">
              <a:buFont typeface="Arial" panose="020B0604020202020204" pitchFamily="34" charset="0"/>
              <a:buNone/>
            </a:pPr>
            <a:r>
              <a:rPr lang="fr-FR" sz="1100"/>
              <a:t>Ils fournissent du soutien moral, logistique, technique, pédagogique aux membres.</a:t>
            </a:r>
            <a:endParaRPr lang="fr-FR" sz="1100" b="1" i="1"/>
          </a:p>
        </p:txBody>
      </p:sp>
      <p:sp>
        <p:nvSpPr>
          <p:cNvPr id="53" name="ZoneTexte 52">
            <a:extLst>
              <a:ext uri="{FF2B5EF4-FFF2-40B4-BE49-F238E27FC236}">
                <a16:creationId xmlns:a16="http://schemas.microsoft.com/office/drawing/2014/main" id="{51DFBDD7-4316-4C5F-B574-2355030A2914}"/>
              </a:ext>
            </a:extLst>
          </p:cNvPr>
          <p:cNvSpPr txBox="1"/>
          <p:nvPr/>
        </p:nvSpPr>
        <p:spPr>
          <a:xfrm>
            <a:off x="8891386" y="3634555"/>
            <a:ext cx="1373933" cy="2970044"/>
          </a:xfrm>
          <a:prstGeom prst="rect">
            <a:avLst/>
          </a:prstGeom>
          <a:noFill/>
        </p:spPr>
        <p:txBody>
          <a:bodyPr wrap="square">
            <a:spAutoFit/>
          </a:bodyPr>
          <a:lstStyle/>
          <a:p>
            <a:pPr marL="0" indent="0" algn="ctr">
              <a:buFont typeface="Arial" panose="020B0604020202020204" pitchFamily="34" charset="0"/>
              <a:buNone/>
            </a:pPr>
            <a:r>
              <a:rPr lang="fr-FR" sz="1100" b="1" i="1"/>
              <a:t>AMBASSADEURS « COMMERCIAUX »</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peuvent détecter dans d’autres contextes (que le contexte initial de la communauté) des opportunités de porter le changement.</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savent « vendre » ce changement à des décideurs externes.</a:t>
            </a:r>
          </a:p>
        </p:txBody>
      </p:sp>
      <p:sp>
        <p:nvSpPr>
          <p:cNvPr id="54" name="ZoneTexte 53">
            <a:extLst>
              <a:ext uri="{FF2B5EF4-FFF2-40B4-BE49-F238E27FC236}">
                <a16:creationId xmlns:a16="http://schemas.microsoft.com/office/drawing/2014/main" id="{CD69821A-35E8-4092-9847-0146B6A69700}"/>
              </a:ext>
            </a:extLst>
          </p:cNvPr>
          <p:cNvSpPr txBox="1"/>
          <p:nvPr/>
        </p:nvSpPr>
        <p:spPr>
          <a:xfrm>
            <a:off x="7116970" y="3641580"/>
            <a:ext cx="1373933" cy="3139321"/>
          </a:xfrm>
          <a:prstGeom prst="rect">
            <a:avLst/>
          </a:prstGeom>
          <a:noFill/>
        </p:spPr>
        <p:txBody>
          <a:bodyPr wrap="square">
            <a:spAutoFit/>
          </a:bodyPr>
          <a:lstStyle/>
          <a:p>
            <a:pPr marL="0" indent="0" algn="ctr">
              <a:buFont typeface="Arial" panose="020B0604020202020204" pitchFamily="34" charset="0"/>
              <a:buNone/>
            </a:pPr>
            <a:r>
              <a:rPr lang="fr-FR" sz="1100" b="1" i="1"/>
              <a:t>AMBASSADEURS </a:t>
            </a:r>
          </a:p>
          <a:p>
            <a:pPr marL="0" indent="0" algn="ctr">
              <a:buFont typeface="Arial" panose="020B0604020202020204" pitchFamily="34" charset="0"/>
              <a:buNone/>
            </a:pPr>
            <a:r>
              <a:rPr lang="fr-FR" sz="1100" b="1" i="1"/>
              <a:t>AUDITEURS</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sont capables de diagnostiquer des situations passées et d’identifier ce qu’il faut capitaliser pour la suite. </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savent identifier les points communs entre différents contextes pour mettre en commun des efforts ou ressources.</a:t>
            </a:r>
          </a:p>
        </p:txBody>
      </p:sp>
      <p:pic>
        <p:nvPicPr>
          <p:cNvPr id="56" name="Graphique 55" descr="Programmeur avec un remplissage uni">
            <a:extLst>
              <a:ext uri="{FF2B5EF4-FFF2-40B4-BE49-F238E27FC236}">
                <a16:creationId xmlns:a16="http://schemas.microsoft.com/office/drawing/2014/main" id="{DA3DEA15-4C44-407A-B0CE-C5BDB16CAF8B}"/>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7376447" y="2741289"/>
            <a:ext cx="914400" cy="914400"/>
          </a:xfrm>
          <a:prstGeom prst="rect">
            <a:avLst/>
          </a:prstGeom>
        </p:spPr>
      </p:pic>
      <p:sp>
        <p:nvSpPr>
          <p:cNvPr id="57" name="ZoneTexte 56">
            <a:extLst>
              <a:ext uri="{FF2B5EF4-FFF2-40B4-BE49-F238E27FC236}">
                <a16:creationId xmlns:a16="http://schemas.microsoft.com/office/drawing/2014/main" id="{CBAE39F2-9031-4238-B589-CF2EFF38FAA0}"/>
              </a:ext>
            </a:extLst>
          </p:cNvPr>
          <p:cNvSpPr txBox="1"/>
          <p:nvPr/>
        </p:nvSpPr>
        <p:spPr>
          <a:xfrm>
            <a:off x="10593490" y="3642044"/>
            <a:ext cx="1373933" cy="2800767"/>
          </a:xfrm>
          <a:prstGeom prst="rect">
            <a:avLst/>
          </a:prstGeom>
          <a:noFill/>
        </p:spPr>
        <p:txBody>
          <a:bodyPr wrap="square">
            <a:spAutoFit/>
          </a:bodyPr>
          <a:lstStyle/>
          <a:p>
            <a:pPr marL="0" indent="0" algn="ctr">
              <a:buFont typeface="Arial" panose="020B0604020202020204" pitchFamily="34" charset="0"/>
              <a:buNone/>
            </a:pPr>
            <a:r>
              <a:rPr lang="fr-FR" sz="1100" b="1" i="1"/>
              <a:t>AMBASSADEURS DIPLOMATES</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savent exprimer l’importance du changement sur le long terme. </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connaissent les subtilités administratives et décisionnelles qui permettent d’officialiser le changement.</a:t>
            </a:r>
          </a:p>
        </p:txBody>
      </p:sp>
      <p:sp>
        <p:nvSpPr>
          <p:cNvPr id="58" name="Espace réservé du texte 15">
            <a:extLst>
              <a:ext uri="{FF2B5EF4-FFF2-40B4-BE49-F238E27FC236}">
                <a16:creationId xmlns:a16="http://schemas.microsoft.com/office/drawing/2014/main" id="{EFF509E3-4E27-4F01-A2FC-3221630C0D7B}"/>
              </a:ext>
            </a:extLst>
          </p:cNvPr>
          <p:cNvSpPr txBox="1">
            <a:spLocks/>
          </p:cNvSpPr>
          <p:nvPr/>
        </p:nvSpPr>
        <p:spPr>
          <a:xfrm>
            <a:off x="0" y="0"/>
            <a:ext cx="12192000" cy="8782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#OSC </a:t>
            </a:r>
            <a:r>
              <a:rPr lang="fr-FR" sz="3200" b="1" i="1" dirty="0">
                <a:solidFill>
                  <a:srgbClr val="ED7D31"/>
                </a:solidFill>
              </a:rPr>
              <a:t>Change</a:t>
            </a:r>
            <a:r>
              <a:rPr lang="fr-FR" sz="3200" b="1" i="1" dirty="0"/>
              <a:t> </a:t>
            </a:r>
            <a:r>
              <a:rPr lang="fr-FR" sz="3200" b="1" i="1" dirty="0">
                <a:solidFill>
                  <a:srgbClr val="0683AA"/>
                </a:solidFill>
              </a:rPr>
              <a:t>Community</a:t>
            </a:r>
            <a:r>
              <a:rPr lang="fr-FR" sz="3200" b="1" i="1" dirty="0"/>
              <a:t> Cycle </a:t>
            </a:r>
            <a:r>
              <a:rPr lang="fr-FR" sz="3200" b="1" i="1" dirty="0">
                <a:solidFill>
                  <a:srgbClr val="0683AA"/>
                </a:solidFill>
              </a:rPr>
              <a:t>Model</a:t>
            </a:r>
          </a:p>
          <a:p>
            <a:pPr marL="0" indent="0" algn="ctr">
              <a:buNone/>
            </a:pPr>
            <a:r>
              <a:rPr lang="fr-FR" sz="2400" b="1" i="1" dirty="0"/>
              <a:t>Posture des ambassadeurs</a:t>
            </a:r>
          </a:p>
          <a:p>
            <a:pPr marL="0" indent="0" algn="ctr">
              <a:buFont typeface="Arial" panose="020B0604020202020204" pitchFamily="34" charset="0"/>
              <a:buNone/>
            </a:pPr>
            <a:endParaRPr lang="fr-FR" sz="3200" b="1" i="1" dirty="0">
              <a:solidFill>
                <a:srgbClr val="0683AA"/>
              </a:solidFill>
            </a:endParaRPr>
          </a:p>
        </p:txBody>
      </p:sp>
    </p:spTree>
    <p:extLst>
      <p:ext uri="{BB962C8B-B14F-4D97-AF65-F5344CB8AC3E}">
        <p14:creationId xmlns:p14="http://schemas.microsoft.com/office/powerpoint/2010/main" val="206163302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1511743"/>
            <a:ext cx="2404138" cy="3520758"/>
          </a:xfrm>
        </p:spPr>
        <p:txBody>
          <a:bodyPr vert="horz" lIns="91440" tIns="45720" rIns="91440" bIns="45720" rtlCol="0" anchor="t">
            <a:noAutofit/>
          </a:bodyPr>
          <a:lstStyle/>
          <a:p>
            <a:r>
              <a:rPr lang="fr-FR" sz="1400">
                <a:cs typeface="Calibri"/>
              </a:rPr>
              <a:t>La posture du facilitateur par défaut est une posture basse, c’est-à-dire qu'il ne se place pas en formateur, il restitue au mieux les idées et les écrits des participants.</a:t>
            </a:r>
            <a:endParaRPr lang="fr-FR"/>
          </a:p>
          <a:p>
            <a:r>
              <a:rPr lang="fr-FR" sz="1400">
                <a:cs typeface="Calibri"/>
              </a:rPr>
              <a:t>Si le facilitateur est concerné, il peut alors jouer les 2 rôles.</a:t>
            </a:r>
            <a:endParaRPr lang="fr-F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999627"/>
            <a:ext cx="2412076" cy="503237"/>
          </a:xfrm>
        </p:spPr>
        <p:txBody>
          <a:bodyPr>
            <a:normAutofit/>
          </a:bodyPr>
          <a:lstStyle/>
          <a:p>
            <a:r>
              <a:rPr lang="fr-FR" sz="140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1511425"/>
            <a:ext cx="5247090" cy="3520758"/>
          </a:xfrm>
        </p:spPr>
        <p:txBody>
          <a:bodyPr vert="horz" lIns="91440" tIns="45720" rIns="91440" bIns="45720" rtlCol="0" anchor="t">
            <a:noAutofit/>
          </a:bodyPr>
          <a:lstStyle/>
          <a:p>
            <a:pPr marL="285750" indent="-285750">
              <a:buFont typeface="Arial" panose="020B0604020202020204" pitchFamily="34" charset="0"/>
              <a:buChar char="•"/>
            </a:pPr>
            <a:r>
              <a:rPr lang="fr-FR" sz="1400" dirty="0"/>
              <a:t>Le facilitateur met le CCC-Model à disposition des participants, il peut être imprimé et affiché, ou un peu plus écologique, projeté ou affiché sur un grand écran.</a:t>
            </a:r>
          </a:p>
          <a:p>
            <a:pPr marL="285750" indent="-285750">
              <a:buFont typeface="Arial" panose="020B0604020202020204" pitchFamily="34" charset="0"/>
              <a:buChar char="•"/>
            </a:pPr>
            <a:r>
              <a:rPr lang="fr-FR" sz="1400" dirty="0">
                <a:cs typeface="Calibri"/>
              </a:rPr>
              <a:t>Tout le monde n’a pas la même définition du mot « ambassadeur ». Dans certains contextes, les ambassadeurs peuvent être des communicants, dans d’autres ce sont des opérateurs de communauté, dans d’autres ce sont des membres exemplaires, mais sans rôle particulier. Cet atelier ne vise pas à définir ou fixer le terme ambassadeur, mais à déterminer les postures d’assistance les plus appropriées pour chaque phase. </a:t>
            </a:r>
          </a:p>
          <a:p>
            <a:pPr marL="285750" indent="-285750">
              <a:buFont typeface="Arial" panose="020B0604020202020204" pitchFamily="34" charset="0"/>
              <a:buChar char="•"/>
            </a:pPr>
            <a:r>
              <a:rPr lang="fr-FR" sz="1400" dirty="0">
                <a:cs typeface="Calibri"/>
              </a:rPr>
              <a:t>Il peut être intéressant de commencer l’atelier en racontant des cas où la posture de l’ambassadeur (par exemple, « Prêcheur inspirant ») n’est pas adaptée à la phase dans laquelle les membres sont (dans le même exemple, si les membres sont dans le « Choc de la réalité »), et qu’elle peut créer du rejet malgré de la bonne volonté.  </a:t>
            </a:r>
          </a:p>
          <a:p>
            <a:pPr marL="285750" indent="-285750">
              <a:buFont typeface="Arial" panose="020B0604020202020204" pitchFamily="34" charset="0"/>
              <a:buChar char="•"/>
            </a:pPr>
            <a:endParaRPr lang="fr-FR" sz="1400" dirty="0">
              <a:cs typeface="Calibri"/>
            </a:endParaRP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999309"/>
            <a:ext cx="5255029" cy="503237"/>
          </a:xfrm>
        </p:spPr>
        <p:txBody>
          <a:bodyPr>
            <a:normAutofit/>
          </a:bodyPr>
          <a:lstStyle/>
          <a:p>
            <a:r>
              <a:rPr lang="fr-FR" sz="140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1511425"/>
            <a:ext cx="2404138" cy="3520758"/>
          </a:xfrm>
        </p:spPr>
        <p:txBody>
          <a:bodyPr/>
          <a:lstStyle/>
          <a:p>
            <a:endParaRPr lang="fr-FR" sz="1400" dirty="0"/>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999309"/>
            <a:ext cx="2412076" cy="503237"/>
          </a:xfrm>
        </p:spPr>
        <p:txBody>
          <a:bodyPr>
            <a:normAutofit/>
          </a:bodyPr>
          <a:lstStyle/>
          <a:p>
            <a:r>
              <a:rPr lang="fr-FR" sz="1400"/>
              <a:t>🙋Debriefing</a:t>
            </a:r>
          </a:p>
        </p:txBody>
      </p:sp>
      <p:sp>
        <p:nvSpPr>
          <p:cNvPr id="10" name="ZoneTexte 9">
            <a:extLst>
              <a:ext uri="{FF2B5EF4-FFF2-40B4-BE49-F238E27FC236}">
                <a16:creationId xmlns:a16="http://schemas.microsoft.com/office/drawing/2014/main" id="{3A02B26F-36AA-FA5A-2C61-49B90AA09934}"/>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dirty="0"/>
              <a:t>Atelier CCC-</a:t>
            </a:r>
            <a:r>
              <a:rPr lang="fr-FR" sz="3200" b="1" i="1" dirty="0" err="1"/>
              <a:t>Ambassadors</a:t>
            </a:r>
            <a:r>
              <a:rPr lang="fr-FR" sz="3200" b="1" i="1" dirty="0"/>
              <a:t> – </a:t>
            </a:r>
            <a:r>
              <a:rPr lang="fr-FR" sz="3200" b="1" i="1" dirty="0">
                <a:solidFill>
                  <a:srgbClr val="ED7D31"/>
                </a:solidFill>
              </a:rPr>
              <a:t>Animation</a:t>
            </a:r>
            <a:endParaRPr lang="fr-FR" sz="3200" dirty="0"/>
          </a:p>
        </p:txBody>
      </p:sp>
    </p:spTree>
    <p:extLst>
      <p:ext uri="{BB962C8B-B14F-4D97-AF65-F5344CB8AC3E}">
        <p14:creationId xmlns:p14="http://schemas.microsoft.com/office/powerpoint/2010/main" val="15090684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566822D7-BE59-42A3-8647-937CD139D65E}"/>
              </a:ext>
            </a:extLst>
          </p:cNvPr>
          <p:cNvGrpSpPr/>
          <p:nvPr/>
        </p:nvGrpSpPr>
        <p:grpSpPr>
          <a:xfrm>
            <a:off x="160924" y="5542935"/>
            <a:ext cx="1203228" cy="1160644"/>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3404820429"/>
              </p:ext>
            </p:extLst>
          </p:nvPr>
        </p:nvGraphicFramePr>
        <p:xfrm>
          <a:off x="6986736" y="1555782"/>
          <a:ext cx="4740676" cy="429650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Idées de variantes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endParaRPr lang="fr-FR" sz="1100" dirty="0"/>
                    </a:p>
                  </a:txBody>
                  <a:tcPr/>
                </a:tc>
                <a:tc>
                  <a:txBody>
                    <a:bodyPr/>
                    <a:lstStyle/>
                    <a:p>
                      <a:endParaRPr lang="fr-FR" sz="1100" dirty="0"/>
                    </a:p>
                  </a:txBody>
                  <a:tcPr/>
                </a:tc>
                <a:extLst>
                  <a:ext uri="{0D108BD9-81ED-4DB2-BD59-A6C34878D82A}">
                    <a16:rowId xmlns:a16="http://schemas.microsoft.com/office/drawing/2014/main" val="4249539521"/>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824107877"/>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035027814"/>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a:p>
                  </a:txBody>
                  <a:tcPr/>
                </a:tc>
                <a:tc>
                  <a:txBody>
                    <a:bodyPr/>
                    <a:lstStyle/>
                    <a:p>
                      <a:endParaRPr lang="fr-FR" sz="1100" dirty="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nvGraphicFramePr>
        <p:xfrm>
          <a:off x="388475" y="1555782"/>
          <a:ext cx="6191648" cy="267716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Historique des versions</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a:solidFill>
                            <a:schemeClr val="lt1"/>
                          </a:solidFill>
                          <a:latin typeface="+mn-lt"/>
                          <a:ea typeface="+mn-ea"/>
                          <a:cs typeface="+mn-cs"/>
                        </a:rPr>
                        <a:t>Licence</a:t>
                      </a:r>
                    </a:p>
                  </a:txBody>
                  <a:tcPr>
                    <a:solidFill>
                      <a:srgbClr val="ED7D31"/>
                    </a:solidFill>
                  </a:tcPr>
                </a:tc>
                <a:tc>
                  <a:txBody>
                    <a:bodyPr/>
                    <a:lstStyle/>
                    <a:p>
                      <a:r>
                        <a:rPr lang="fr-FR" sz="1200" b="1" kern="120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a:t>1.0</a:t>
                      </a:r>
                    </a:p>
                  </a:txBody>
                  <a:tcPr/>
                </a:tc>
                <a:tc>
                  <a:txBody>
                    <a:bodyPr/>
                    <a:lstStyle/>
                    <a:p>
                      <a:r>
                        <a:rPr lang="fr-FR" sz="1200"/>
                        <a:t>Alexandre QUACH</a:t>
                      </a:r>
                    </a:p>
                    <a:p>
                      <a:r>
                        <a:rPr lang="fr-FR" sz="1200"/>
                        <a:t>Vanessa HELLEBUYCK</a:t>
                      </a:r>
                    </a:p>
                  </a:txBody>
                  <a:tcPr/>
                </a:tc>
                <a:tc>
                  <a:txBody>
                    <a:bodyPr/>
                    <a:lstStyle/>
                    <a:p>
                      <a:r>
                        <a:rPr lang="fr-FR" sz="1200"/>
                        <a:t>CC-BY-3.0</a:t>
                      </a:r>
                    </a:p>
                  </a:txBody>
                  <a:tcPr/>
                </a:tc>
                <a:tc>
                  <a:txBody>
                    <a:bodyPr/>
                    <a:lstStyle/>
                    <a:p>
                      <a:r>
                        <a:rPr lang="fr-FR" sz="1200"/>
                        <a:t>Première version</a:t>
                      </a:r>
                    </a:p>
                  </a:txBody>
                  <a:tcPr/>
                </a:tc>
                <a:extLst>
                  <a:ext uri="{0D108BD9-81ED-4DB2-BD59-A6C34878D82A}">
                    <a16:rowId xmlns:a16="http://schemas.microsoft.com/office/drawing/2014/main" val="233750057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56534786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26495474"/>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632454121"/>
                  </a:ext>
                </a:extLst>
              </a:tr>
            </a:tbl>
          </a:graphicData>
        </a:graphic>
      </p:graphicFrame>
      <p:sp>
        <p:nvSpPr>
          <p:cNvPr id="17" name="ZoneTexte 16">
            <a:extLst>
              <a:ext uri="{FF2B5EF4-FFF2-40B4-BE49-F238E27FC236}">
                <a16:creationId xmlns:a16="http://schemas.microsoft.com/office/drawing/2014/main" id="{E069AED5-1784-348D-6A9E-9D301F248D4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Ambassadors</a:t>
            </a:r>
            <a:r>
              <a:rPr lang="fr-FR" sz="3200" b="1" i="1"/>
              <a:t> – </a:t>
            </a:r>
            <a:r>
              <a:rPr lang="fr-FR" sz="3200" b="1" i="1">
                <a:solidFill>
                  <a:srgbClr val="ED7D31"/>
                </a:solidFill>
              </a:rPr>
              <a:t>Adaptation</a:t>
            </a:r>
            <a:endParaRPr lang="fr-FR" sz="3200"/>
          </a:p>
        </p:txBody>
      </p:sp>
      <p:sp>
        <p:nvSpPr>
          <p:cNvPr id="37" name="Espace réservé du texte 15">
            <a:extLst>
              <a:ext uri="{FF2B5EF4-FFF2-40B4-BE49-F238E27FC236}">
                <a16:creationId xmlns:a16="http://schemas.microsoft.com/office/drawing/2014/main" id="{329CFF52-673C-9F7B-6823-AEDE5A5493C9}"/>
              </a:ext>
            </a:extLst>
          </p:cNvPr>
          <p:cNvSpPr txBox="1">
            <a:spLocks/>
          </p:cNvSpPr>
          <p:nvPr/>
        </p:nvSpPr>
        <p:spPr>
          <a:xfrm>
            <a:off x="1292106" y="6326283"/>
            <a:ext cx="10645035" cy="3589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a:solidFill>
                  <a:schemeClr val="tx1"/>
                </a:solidFill>
              </a:rPr>
              <a:t>Pour adapter facilement l’atelier et créer des variantes</a:t>
            </a:r>
          </a:p>
        </p:txBody>
      </p:sp>
    </p:spTree>
    <p:extLst>
      <p:ext uri="{BB962C8B-B14F-4D97-AF65-F5344CB8AC3E}">
        <p14:creationId xmlns:p14="http://schemas.microsoft.com/office/powerpoint/2010/main" val="343630776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337A549B-FB0E-4097-A123-DE5231C2FAB3}"/>
              </a:ext>
            </a:extLst>
          </p:cNvPr>
          <p:cNvSpPr txBox="1">
            <a:spLocks/>
          </p:cNvSpPr>
          <p:nvPr/>
        </p:nvSpPr>
        <p:spPr>
          <a:xfrm>
            <a:off x="0" y="877836"/>
            <a:ext cx="12192000" cy="156119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6000" b="1" i="1" dirty="0"/>
              <a:t>Atelier CCC-</a:t>
            </a:r>
            <a:r>
              <a:rPr lang="fr-FR" sz="6000" b="1" i="1" dirty="0" err="1">
                <a:ea typeface="+mn-lt"/>
                <a:cs typeface="+mn-lt"/>
              </a:rPr>
              <a:t>Indicators</a:t>
            </a:r>
            <a:r>
              <a:rPr lang="fr-FR" sz="6000" b="1" i="1" dirty="0">
                <a:ea typeface="+mn-lt"/>
                <a:cs typeface="+mn-lt"/>
              </a:rPr>
              <a:t> </a:t>
            </a:r>
            <a:endParaRPr lang="en-US" sz="6000" dirty="0">
              <a:ea typeface="+mn-lt"/>
              <a:cs typeface="+mn-lt"/>
            </a:endParaRPr>
          </a:p>
          <a:p>
            <a:pPr marL="0" indent="0" algn="ctr">
              <a:buNone/>
            </a:pPr>
            <a:r>
              <a:rPr lang="fr-FR" b="1" i="1" dirty="0"/>
              <a:t>Identifier les </a:t>
            </a:r>
            <a:r>
              <a:rPr lang="fr-FR" b="1" i="1" dirty="0">
                <a:solidFill>
                  <a:srgbClr val="0683AA"/>
                </a:solidFill>
              </a:rPr>
              <a:t>indicateurs pertinents </a:t>
            </a:r>
            <a:r>
              <a:rPr lang="fr-FR" b="1" i="1" dirty="0"/>
              <a:t>pour une communauté</a:t>
            </a:r>
            <a:endParaRPr lang="fr-FR" b="1" i="1" dirty="0">
              <a:solidFill>
                <a:srgbClr val="ED7D31"/>
              </a:solidFill>
              <a:cs typeface="Calibri"/>
            </a:endParaRPr>
          </a:p>
        </p:txBody>
      </p:sp>
      <p:grpSp>
        <p:nvGrpSpPr>
          <p:cNvPr id="2" name="Groupe 1">
            <a:extLst>
              <a:ext uri="{FF2B5EF4-FFF2-40B4-BE49-F238E27FC236}">
                <a16:creationId xmlns:a16="http://schemas.microsoft.com/office/drawing/2014/main" id="{55274D86-E242-2318-FDF8-A62685FD268E}"/>
              </a:ext>
            </a:extLst>
          </p:cNvPr>
          <p:cNvGrpSpPr/>
          <p:nvPr/>
        </p:nvGrpSpPr>
        <p:grpSpPr>
          <a:xfrm>
            <a:off x="4128486" y="2760688"/>
            <a:ext cx="3698197" cy="4117299"/>
            <a:chOff x="4128486" y="2379688"/>
            <a:chExt cx="3698197" cy="4117299"/>
          </a:xfrm>
        </p:grpSpPr>
        <p:pic>
          <p:nvPicPr>
            <p:cNvPr id="8" name="Graphique 7" descr="Homme tenant un panneau">
              <a:extLst>
                <a:ext uri="{FF2B5EF4-FFF2-40B4-BE49-F238E27FC236}">
                  <a16:creationId xmlns:a16="http://schemas.microsoft.com/office/drawing/2014/main" id="{D243A25C-5A0A-4F67-BC20-FCD71E7C4AF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9" name="Espace réservé du texte 15">
              <a:extLst>
                <a:ext uri="{FF2B5EF4-FFF2-40B4-BE49-F238E27FC236}">
                  <a16:creationId xmlns:a16="http://schemas.microsoft.com/office/drawing/2014/main" id="{72684439-8F46-4BB9-AF9C-82D301DB2013}"/>
                </a:ext>
              </a:extLst>
            </p:cNvPr>
            <p:cNvSpPr txBox="1">
              <a:spLocks/>
            </p:cNvSpPr>
            <p:nvPr/>
          </p:nvSpPr>
          <p:spPr>
            <a:xfrm>
              <a:off x="4472402" y="4484981"/>
              <a:ext cx="3061317" cy="175455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b="1" i="1" dirty="0">
                  <a:ea typeface="+mn-lt"/>
                  <a:cs typeface="+mn-lt"/>
                </a:rPr>
                <a:t>QUELS </a:t>
              </a:r>
              <a:r>
                <a:rPr lang="fr-FR" b="1" i="1" dirty="0">
                  <a:solidFill>
                    <a:srgbClr val="0683AA"/>
                  </a:solidFill>
                  <a:ea typeface="+mn-lt"/>
                  <a:cs typeface="+mn-lt"/>
                </a:rPr>
                <a:t>INDICATEURS</a:t>
              </a:r>
              <a:r>
                <a:rPr lang="fr-FR" b="1" i="1" dirty="0">
                  <a:ea typeface="+mn-lt"/>
                  <a:cs typeface="+mn-lt"/>
                </a:rPr>
                <a:t> ALLONS NOUS SUIVRE?</a:t>
              </a:r>
              <a:endParaRPr lang="fr-FR" dirty="0">
                <a:ea typeface="+mn-lt"/>
                <a:cs typeface="+mn-lt"/>
              </a:endParaRPr>
            </a:p>
            <a:p>
              <a:pPr marL="0" indent="0" algn="ctr">
                <a:buFont typeface="Arial" panose="020B0604020202020204" pitchFamily="34" charset="0"/>
                <a:buNone/>
              </a:pPr>
              <a:endParaRPr lang="fr-FR" b="1" i="1" dirty="0">
                <a:solidFill>
                  <a:srgbClr val="000000"/>
                </a:solidFill>
                <a:cs typeface="Calibri"/>
              </a:endParaRPr>
            </a:p>
          </p:txBody>
        </p:sp>
      </p:grpSp>
    </p:spTree>
    <p:extLst>
      <p:ext uri="{BB962C8B-B14F-4D97-AF65-F5344CB8AC3E}">
        <p14:creationId xmlns:p14="http://schemas.microsoft.com/office/powerpoint/2010/main" val="424893008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ZoneTexte 101">
            <a:extLst>
              <a:ext uri="{FF2B5EF4-FFF2-40B4-BE49-F238E27FC236}">
                <a16:creationId xmlns:a16="http://schemas.microsoft.com/office/drawing/2014/main" id="{0799A5AB-AD78-938E-7007-5DCA37808A62}"/>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Indicators</a:t>
            </a:r>
            <a:r>
              <a:rPr lang="fr-FR" sz="3200" b="1" i="1"/>
              <a:t> – </a:t>
            </a:r>
            <a:r>
              <a:rPr lang="fr-FR" sz="3200" b="1" i="1">
                <a:solidFill>
                  <a:srgbClr val="ED7D31"/>
                </a:solidFill>
              </a:rPr>
              <a:t>Pourquoi ?</a:t>
            </a:r>
            <a:endParaRPr lang="fr-FR" sz="3200"/>
          </a:p>
        </p:txBody>
      </p:sp>
      <p:pic>
        <p:nvPicPr>
          <p:cNvPr id="106" name="Graphique 3" descr="Femme portant un tailleur">
            <a:extLst>
              <a:ext uri="{FF2B5EF4-FFF2-40B4-BE49-F238E27FC236}">
                <a16:creationId xmlns:a16="http://schemas.microsoft.com/office/drawing/2014/main" id="{B84E0861-DB79-5DCE-2CD8-55C276B8A5BC}"/>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17515"/>
          <a:stretch/>
        </p:blipFill>
        <p:spPr>
          <a:xfrm>
            <a:off x="254705" y="2570861"/>
            <a:ext cx="2493401" cy="4287139"/>
          </a:xfrm>
          <a:prstGeom prst="rect">
            <a:avLst/>
          </a:prstGeom>
        </p:spPr>
      </p:pic>
      <p:pic>
        <p:nvPicPr>
          <p:cNvPr id="2" name="Graphique 1" descr="Homme en polo">
            <a:extLst>
              <a:ext uri="{FF2B5EF4-FFF2-40B4-BE49-F238E27FC236}">
                <a16:creationId xmlns:a16="http://schemas.microsoft.com/office/drawing/2014/main" id="{B5067FAD-CB08-13BA-61EC-9601D77BE91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1673"/>
          <a:stretch/>
        </p:blipFill>
        <p:spPr>
          <a:xfrm flipH="1">
            <a:off x="10120229" y="3292483"/>
            <a:ext cx="1983482" cy="3565517"/>
          </a:xfrm>
          <a:prstGeom prst="rect">
            <a:avLst/>
          </a:prstGeom>
        </p:spPr>
      </p:pic>
      <p:sp>
        <p:nvSpPr>
          <p:cNvPr id="3" name="Bulle narrative : ronde 2">
            <a:extLst>
              <a:ext uri="{FF2B5EF4-FFF2-40B4-BE49-F238E27FC236}">
                <a16:creationId xmlns:a16="http://schemas.microsoft.com/office/drawing/2014/main" id="{84FFE04D-AE5A-9B33-CFC6-A2BF68A7E67F}"/>
              </a:ext>
            </a:extLst>
          </p:cNvPr>
          <p:cNvSpPr/>
          <p:nvPr/>
        </p:nvSpPr>
        <p:spPr>
          <a:xfrm>
            <a:off x="963167" y="1030514"/>
            <a:ext cx="4000296" cy="1873206"/>
          </a:xfrm>
          <a:prstGeom prst="wedgeEllipseCallout">
            <a:avLst>
              <a:gd name="adj1" fmla="val -37410"/>
              <a:gd name="adj2" fmla="val 51716"/>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ea typeface="+mn-lt"/>
                <a:cs typeface="+mn-lt"/>
              </a:rPr>
              <a:t>LANCER UNE COMMUNAUTÉ EST UNE CHOSE, MAIS SUIVRE SON ACTIVITÉ EN EST UNE AUTRE. </a:t>
            </a:r>
          </a:p>
          <a:p>
            <a:pPr algn="ctr"/>
            <a:endParaRPr lang="fr-FR" sz="1400" b="1" dirty="0">
              <a:solidFill>
                <a:schemeClr val="tx1"/>
              </a:solidFill>
              <a:ea typeface="+mn-lt"/>
              <a:cs typeface="+mn-lt"/>
            </a:endParaRPr>
          </a:p>
          <a:p>
            <a:pPr algn="ctr"/>
            <a:r>
              <a:rPr lang="fr-FR" sz="1400" b="1" dirty="0">
                <a:solidFill>
                  <a:schemeClr val="tx1"/>
                </a:solidFill>
                <a:ea typeface="+mn-lt"/>
                <a:cs typeface="+mn-lt"/>
              </a:rPr>
              <a:t>AU-DELÀ DES ÉVÉNEMENTS « AU COUP PAR COUP », COMMENT MESURER L’ACTIVITÉ ?</a:t>
            </a:r>
            <a:endParaRPr lang="fr-FR" sz="1400" dirty="0">
              <a:solidFill>
                <a:schemeClr val="tx1"/>
              </a:solidFill>
              <a:ea typeface="+mn-lt"/>
              <a:cs typeface="+mn-lt"/>
            </a:endParaRPr>
          </a:p>
        </p:txBody>
      </p:sp>
      <p:sp>
        <p:nvSpPr>
          <p:cNvPr id="4" name="Bulle narrative : ronde 3">
            <a:extLst>
              <a:ext uri="{FF2B5EF4-FFF2-40B4-BE49-F238E27FC236}">
                <a16:creationId xmlns:a16="http://schemas.microsoft.com/office/drawing/2014/main" id="{29E78222-4882-87C9-30A3-87DB8122B841}"/>
              </a:ext>
            </a:extLst>
          </p:cNvPr>
          <p:cNvSpPr/>
          <p:nvPr/>
        </p:nvSpPr>
        <p:spPr>
          <a:xfrm>
            <a:off x="7741338" y="1248228"/>
            <a:ext cx="4000296" cy="1873206"/>
          </a:xfrm>
          <a:prstGeom prst="wedgeEllipseCallout">
            <a:avLst>
              <a:gd name="adj1" fmla="val 29351"/>
              <a:gd name="adj2" fmla="val 60239"/>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ea typeface="+mn-lt"/>
                <a:cs typeface="+mn-lt"/>
              </a:rPr>
              <a:t>ON PEUT UTILISER LE MODÈLE DU CCC POUR SUIVRE DIFFÉRENTS INDICATEURS, QUI PEUVENT AIDER À PRENDRE DES DÉCISIONS PAR LA SUITE.</a:t>
            </a:r>
          </a:p>
          <a:p>
            <a:pPr algn="ctr"/>
            <a:r>
              <a:rPr lang="fr-FR" sz="1400" b="1" dirty="0">
                <a:solidFill>
                  <a:schemeClr val="tx1"/>
                </a:solidFill>
                <a:ea typeface="+mn-lt"/>
                <a:cs typeface="+mn-lt"/>
              </a:rPr>
              <a:t>C’EST L’OBJET DE L’ATELIER </a:t>
            </a:r>
            <a:r>
              <a:rPr lang="fr-FR" sz="1400" b="1" dirty="0">
                <a:solidFill>
                  <a:srgbClr val="ED7D31"/>
                </a:solidFill>
                <a:ea typeface="+mn-lt"/>
                <a:cs typeface="+mn-lt"/>
              </a:rPr>
              <a:t>CCC-INDICATORS</a:t>
            </a:r>
            <a:endParaRPr lang="fr-FR" sz="1400" dirty="0">
              <a:solidFill>
                <a:srgbClr val="ED7D31"/>
              </a:solidFill>
              <a:ea typeface="+mn-lt"/>
              <a:cs typeface="+mn-lt"/>
            </a:endParaRPr>
          </a:p>
        </p:txBody>
      </p:sp>
    </p:spTree>
    <p:extLst>
      <p:ext uri="{BB962C8B-B14F-4D97-AF65-F5344CB8AC3E}">
        <p14:creationId xmlns:p14="http://schemas.microsoft.com/office/powerpoint/2010/main" val="8813441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34350D43-8558-C373-F424-E1520AD6C85D}"/>
              </a:ext>
            </a:extLst>
          </p:cNvPr>
          <p:cNvSpPr>
            <a:spLocks noGrp="1"/>
          </p:cNvSpPr>
          <p:nvPr>
            <p:ph type="body" sz="quarter" idx="16"/>
          </p:nvPr>
        </p:nvSpPr>
        <p:spPr>
          <a:xfrm>
            <a:off x="846138" y="5461000"/>
            <a:ext cx="3402012" cy="1147669"/>
          </a:xfrm>
        </p:spPr>
        <p:txBody>
          <a:bodyPr/>
          <a:lstStyle/>
          <a:p>
            <a:r>
              <a:rPr lang="fr-FR" dirty="0"/>
              <a:t>Les membres découvrent divers indicateurs de performances liés au CCC-model et décident s’ils souhaitent les utiliser pour suivre la performance de leur communauté.</a:t>
            </a:r>
          </a:p>
        </p:txBody>
      </p:sp>
      <p:sp>
        <p:nvSpPr>
          <p:cNvPr id="7" name="Espace réservé du texte 6">
            <a:extLst>
              <a:ext uri="{FF2B5EF4-FFF2-40B4-BE49-F238E27FC236}">
                <a16:creationId xmlns:a16="http://schemas.microsoft.com/office/drawing/2014/main" id="{E08C8108-F4DE-5EC7-4BF8-74925A9C4F85}"/>
              </a:ext>
            </a:extLst>
          </p:cNvPr>
          <p:cNvSpPr>
            <a:spLocks noGrp="1"/>
          </p:cNvSpPr>
          <p:nvPr>
            <p:ph type="body" sz="quarter" idx="17"/>
          </p:nvPr>
        </p:nvSpPr>
        <p:spPr>
          <a:xfrm>
            <a:off x="4395312" y="5461000"/>
            <a:ext cx="3402012" cy="1147669"/>
          </a:xfrm>
        </p:spPr>
        <p:txBody>
          <a:bodyPr/>
          <a:lstStyle/>
          <a:p>
            <a:r>
              <a:rPr lang="fr-FR" dirty="0"/>
              <a:t>Les membres choisissent des indicateurs de performance qu’ils souhaiteraient appliquer pour la Communauté</a:t>
            </a:r>
          </a:p>
        </p:txBody>
      </p:sp>
      <p:sp>
        <p:nvSpPr>
          <p:cNvPr id="31" name="Espace réservé du texte 30">
            <a:extLst>
              <a:ext uri="{FF2B5EF4-FFF2-40B4-BE49-F238E27FC236}">
                <a16:creationId xmlns:a16="http://schemas.microsoft.com/office/drawing/2014/main" id="{9866C265-1BAF-754F-01C0-ED73821711E9}"/>
              </a:ext>
            </a:extLst>
          </p:cNvPr>
          <p:cNvSpPr>
            <a:spLocks noGrp="1"/>
          </p:cNvSpPr>
          <p:nvPr>
            <p:ph type="body" sz="quarter" idx="18"/>
          </p:nvPr>
        </p:nvSpPr>
        <p:spPr>
          <a:xfrm>
            <a:off x="7935885" y="5461000"/>
            <a:ext cx="3402012" cy="1147669"/>
          </a:xfrm>
        </p:spPr>
        <p:txBody>
          <a:bodyPr/>
          <a:lstStyle/>
          <a:p>
            <a:r>
              <a:rPr lang="fr-FR"/>
              <a:t>Les premières mesures sont prises sur la base des informations déjà disponibles, et les prochaines mesures sont planifiées.</a:t>
            </a:r>
          </a:p>
        </p:txBody>
      </p:sp>
      <p:sp>
        <p:nvSpPr>
          <p:cNvPr id="6" name="ZoneTexte 5">
            <a:extLst>
              <a:ext uri="{FF2B5EF4-FFF2-40B4-BE49-F238E27FC236}">
                <a16:creationId xmlns:a16="http://schemas.microsoft.com/office/drawing/2014/main" id="{7031579F-B5AA-364B-283F-59144C79AA57}"/>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a:t>Atelier CCC-</a:t>
            </a:r>
            <a:r>
              <a:rPr lang="fr-FR" sz="3200" b="1" i="1" err="1"/>
              <a:t>Indicators</a:t>
            </a:r>
            <a:r>
              <a:rPr lang="fr-FR" sz="3200" b="1" i="1"/>
              <a:t> – </a:t>
            </a:r>
            <a:r>
              <a:rPr lang="fr-FR" sz="3200" b="1" i="1">
                <a:solidFill>
                  <a:srgbClr val="ED7D31"/>
                </a:solidFill>
              </a:rPr>
              <a:t>Vue d’ensemble</a:t>
            </a:r>
            <a:endParaRPr lang="fr-FR" sz="3200"/>
          </a:p>
        </p:txBody>
      </p:sp>
      <p:grpSp>
        <p:nvGrpSpPr>
          <p:cNvPr id="2" name="Groupe 1">
            <a:extLst>
              <a:ext uri="{FF2B5EF4-FFF2-40B4-BE49-F238E27FC236}">
                <a16:creationId xmlns:a16="http://schemas.microsoft.com/office/drawing/2014/main" id="{406F32A7-EBC0-078E-C3F8-557318B422E5}"/>
              </a:ext>
            </a:extLst>
          </p:cNvPr>
          <p:cNvGrpSpPr/>
          <p:nvPr/>
        </p:nvGrpSpPr>
        <p:grpSpPr>
          <a:xfrm>
            <a:off x="1259085" y="3587159"/>
            <a:ext cx="1939540" cy="1724731"/>
            <a:chOff x="1003301" y="3656855"/>
            <a:chExt cx="1620162" cy="1440725"/>
          </a:xfrm>
        </p:grpSpPr>
        <p:grpSp>
          <p:nvGrpSpPr>
            <p:cNvPr id="3" name="Groupe 2">
              <a:extLst>
                <a:ext uri="{FF2B5EF4-FFF2-40B4-BE49-F238E27FC236}">
                  <a16:creationId xmlns:a16="http://schemas.microsoft.com/office/drawing/2014/main" id="{B646283F-0A8E-5C13-13DE-118CD4B111C7}"/>
                </a:ext>
              </a:extLst>
            </p:cNvPr>
            <p:cNvGrpSpPr/>
            <p:nvPr/>
          </p:nvGrpSpPr>
          <p:grpSpPr>
            <a:xfrm>
              <a:off x="1003301" y="3656855"/>
              <a:ext cx="575065" cy="1262062"/>
              <a:chOff x="846138" y="3525644"/>
              <a:chExt cx="971550" cy="2132206"/>
            </a:xfrm>
          </p:grpSpPr>
          <p:pic>
            <p:nvPicPr>
              <p:cNvPr id="11" name="Espace réservé pour une image  27" descr="Fille portant une cape">
                <a:extLst>
                  <a:ext uri="{FF2B5EF4-FFF2-40B4-BE49-F238E27FC236}">
                    <a16:creationId xmlns:a16="http://schemas.microsoft.com/office/drawing/2014/main" id="{2F4D204E-CC11-C7D1-CD2D-FBE6053CA97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0740" t="-32" r="33953" b="52122"/>
              <a:stretch/>
            </p:blipFill>
            <p:spPr>
              <a:xfrm>
                <a:off x="846138" y="3525644"/>
                <a:ext cx="971550" cy="2132206"/>
              </a:xfrm>
              <a:prstGeom prst="rect">
                <a:avLst/>
              </a:prstGeom>
            </p:spPr>
          </p:pic>
          <p:sp>
            <p:nvSpPr>
              <p:cNvPr id="12" name="Rectangle 11">
                <a:extLst>
                  <a:ext uri="{FF2B5EF4-FFF2-40B4-BE49-F238E27FC236}">
                    <a16:creationId xmlns:a16="http://schemas.microsoft.com/office/drawing/2014/main" id="{E407C066-C8E9-E462-C4A6-EEF66EE73DCC}"/>
                  </a:ext>
                </a:extLst>
              </p:cNvPr>
              <p:cNvSpPr/>
              <p:nvPr/>
            </p:nvSpPr>
            <p:spPr>
              <a:xfrm rot="542513">
                <a:off x="1331958" y="4149685"/>
                <a:ext cx="280095" cy="3741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 name="Graphique 12" descr="Un visage avec un seul sourcil">
                <a:extLst>
                  <a:ext uri="{FF2B5EF4-FFF2-40B4-BE49-F238E27FC236}">
                    <a16:creationId xmlns:a16="http://schemas.microsoft.com/office/drawing/2014/main" id="{BF3A5599-B2E1-172B-0B84-6ECFC02FB4C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9605" y="4179582"/>
                <a:ext cx="304800" cy="314325"/>
              </a:xfrm>
              <a:prstGeom prst="rect">
                <a:avLst/>
              </a:prstGeom>
            </p:spPr>
          </p:pic>
        </p:grpSp>
        <p:pic>
          <p:nvPicPr>
            <p:cNvPr id="4" name="Graphique 3" descr="Homme âgé portant une veste">
              <a:extLst>
                <a:ext uri="{FF2B5EF4-FFF2-40B4-BE49-F238E27FC236}">
                  <a16:creationId xmlns:a16="http://schemas.microsoft.com/office/drawing/2014/main" id="{5BE0E1E2-660B-0D0C-5F0C-FE892AD902F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a:off x="1253313" y="4014576"/>
              <a:ext cx="837425" cy="1072714"/>
            </a:xfrm>
            <a:prstGeom prst="rect">
              <a:avLst/>
            </a:prstGeom>
          </p:spPr>
        </p:pic>
        <p:pic>
          <p:nvPicPr>
            <p:cNvPr id="8" name="Espace réservé pour une image  29" descr="Homme en polo">
              <a:extLst>
                <a:ext uri="{FF2B5EF4-FFF2-40B4-BE49-F238E27FC236}">
                  <a16:creationId xmlns:a16="http://schemas.microsoft.com/office/drawing/2014/main" id="{48FDAAFB-582A-88D4-5C55-1BE32BBA83FE}"/>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b="68548"/>
            <a:stretch/>
          </p:blipFill>
          <p:spPr>
            <a:xfrm>
              <a:off x="1663359" y="4136949"/>
              <a:ext cx="960104" cy="960631"/>
            </a:xfrm>
            <a:prstGeom prst="rect">
              <a:avLst/>
            </a:prstGeom>
          </p:spPr>
        </p:pic>
      </p:grpSp>
      <p:pic>
        <p:nvPicPr>
          <p:cNvPr id="14" name="Graphique 3" descr="Femme portant un tailleur">
            <a:extLst>
              <a:ext uri="{FF2B5EF4-FFF2-40B4-BE49-F238E27FC236}">
                <a16:creationId xmlns:a16="http://schemas.microsoft.com/office/drawing/2014/main" id="{5973BB02-F26E-6B1A-86E0-C1576711B075}"/>
              </a:ext>
            </a:extLst>
          </p:cNvPr>
          <p:cNvPicPr>
            <a:picLocks noChangeAspect="1"/>
          </p:cNvPicPr>
          <p:nvPr/>
        </p:nvPicPr>
        <p:blipFill rotWithShape="1">
          <a:blip r:embed="rId10">
            <a:extLst>
              <a:ext uri="{96DAC541-7B7A-43D3-8B79-37D633B846F1}">
                <asvg:svgBlip xmlns:asvg="http://schemas.microsoft.com/office/drawing/2016/SVG/main" r:embed="rId11"/>
              </a:ext>
            </a:extLst>
          </a:blip>
          <a:srcRect l="54159" b="55888"/>
          <a:stretch/>
        </p:blipFill>
        <p:spPr>
          <a:xfrm>
            <a:off x="6114866" y="4020595"/>
            <a:ext cx="866933" cy="1738946"/>
          </a:xfrm>
          <a:prstGeom prst="rect">
            <a:avLst/>
          </a:prstGeom>
        </p:spPr>
      </p:pic>
      <p:pic>
        <p:nvPicPr>
          <p:cNvPr id="15" name="Graphique 14" descr="Mille avec un remplissage uni">
            <a:extLst>
              <a:ext uri="{FF2B5EF4-FFF2-40B4-BE49-F238E27FC236}">
                <a16:creationId xmlns:a16="http://schemas.microsoft.com/office/drawing/2014/main" id="{2AF38CD2-7E44-D698-2618-C875A5CCADD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455597" y="2963984"/>
            <a:ext cx="447536" cy="447536"/>
          </a:xfrm>
          <a:prstGeom prst="rect">
            <a:avLst/>
          </a:prstGeom>
        </p:spPr>
      </p:pic>
      <p:sp>
        <p:nvSpPr>
          <p:cNvPr id="16" name="ZoneTexte 15">
            <a:extLst>
              <a:ext uri="{FF2B5EF4-FFF2-40B4-BE49-F238E27FC236}">
                <a16:creationId xmlns:a16="http://schemas.microsoft.com/office/drawing/2014/main" id="{055C29D9-A1C3-1BF8-A734-DA5D10B0B786}"/>
              </a:ext>
            </a:extLst>
          </p:cNvPr>
          <p:cNvSpPr txBox="1"/>
          <p:nvPr/>
        </p:nvSpPr>
        <p:spPr>
          <a:xfrm>
            <a:off x="2188439" y="2816424"/>
            <a:ext cx="464463" cy="707886"/>
          </a:xfrm>
          <a:prstGeom prst="rect">
            <a:avLst/>
          </a:prstGeom>
          <a:noFill/>
        </p:spPr>
        <p:txBody>
          <a:bodyPr wrap="square">
            <a:spAutoFit/>
          </a:bodyPr>
          <a:lstStyle/>
          <a:p>
            <a:r>
              <a:rPr lang="el-GR" sz="4000" dirty="0"/>
              <a:t>Σ</a:t>
            </a:r>
            <a:endParaRPr lang="fr-FR" sz="4000" dirty="0"/>
          </a:p>
        </p:txBody>
      </p:sp>
      <p:cxnSp>
        <p:nvCxnSpPr>
          <p:cNvPr id="28" name="Connecteur droit 27">
            <a:extLst>
              <a:ext uri="{FF2B5EF4-FFF2-40B4-BE49-F238E27FC236}">
                <a16:creationId xmlns:a16="http://schemas.microsoft.com/office/drawing/2014/main" id="{F80D4AF0-3525-F3B0-6460-AA9DE40A03F3}"/>
              </a:ext>
            </a:extLst>
          </p:cNvPr>
          <p:cNvCxnSpPr>
            <a:cxnSpLocks/>
          </p:cNvCxnSpPr>
          <p:nvPr/>
        </p:nvCxnSpPr>
        <p:spPr>
          <a:xfrm flipH="1">
            <a:off x="563234" y="3241529"/>
            <a:ext cx="108846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9" name="ZoneTexte 28">
            <a:extLst>
              <a:ext uri="{FF2B5EF4-FFF2-40B4-BE49-F238E27FC236}">
                <a16:creationId xmlns:a16="http://schemas.microsoft.com/office/drawing/2014/main" id="{3BF1B76B-A2D1-2EBD-8091-4874374528DB}"/>
              </a:ext>
            </a:extLst>
          </p:cNvPr>
          <p:cNvSpPr txBox="1"/>
          <p:nvPr/>
        </p:nvSpPr>
        <p:spPr>
          <a:xfrm>
            <a:off x="771285" y="2433547"/>
            <a:ext cx="464463" cy="707886"/>
          </a:xfrm>
          <a:prstGeom prst="rect">
            <a:avLst/>
          </a:prstGeom>
          <a:noFill/>
        </p:spPr>
        <p:txBody>
          <a:bodyPr wrap="square">
            <a:spAutoFit/>
          </a:bodyPr>
          <a:lstStyle/>
          <a:p>
            <a:r>
              <a:rPr lang="el-GR" sz="4000" dirty="0"/>
              <a:t>Σ</a:t>
            </a:r>
            <a:endParaRPr lang="fr-FR" sz="4000" dirty="0"/>
          </a:p>
        </p:txBody>
      </p:sp>
      <p:sp>
        <p:nvSpPr>
          <p:cNvPr id="30" name="ZoneTexte 29">
            <a:extLst>
              <a:ext uri="{FF2B5EF4-FFF2-40B4-BE49-F238E27FC236}">
                <a16:creationId xmlns:a16="http://schemas.microsoft.com/office/drawing/2014/main" id="{4A9355A8-6AAE-1AE8-3FA5-12B019F69097}"/>
              </a:ext>
            </a:extLst>
          </p:cNvPr>
          <p:cNvSpPr txBox="1"/>
          <p:nvPr/>
        </p:nvSpPr>
        <p:spPr>
          <a:xfrm>
            <a:off x="766253" y="3153673"/>
            <a:ext cx="464463" cy="707886"/>
          </a:xfrm>
          <a:prstGeom prst="rect">
            <a:avLst/>
          </a:prstGeom>
          <a:noFill/>
        </p:spPr>
        <p:txBody>
          <a:bodyPr wrap="square">
            <a:spAutoFit/>
          </a:bodyPr>
          <a:lstStyle/>
          <a:p>
            <a:r>
              <a:rPr lang="el-GR" sz="4000" dirty="0"/>
              <a:t>Σ</a:t>
            </a:r>
            <a:endParaRPr lang="fr-FR" sz="4000" dirty="0"/>
          </a:p>
        </p:txBody>
      </p:sp>
      <p:sp>
        <p:nvSpPr>
          <p:cNvPr id="32" name="ZoneTexte 31">
            <a:extLst>
              <a:ext uri="{FF2B5EF4-FFF2-40B4-BE49-F238E27FC236}">
                <a16:creationId xmlns:a16="http://schemas.microsoft.com/office/drawing/2014/main" id="{F15B2376-7D23-6F0C-ED6C-42913C66D7A8}"/>
              </a:ext>
            </a:extLst>
          </p:cNvPr>
          <p:cNvSpPr txBox="1"/>
          <p:nvPr/>
        </p:nvSpPr>
        <p:spPr>
          <a:xfrm>
            <a:off x="1026777" y="2533643"/>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33" name="ZoneTexte 32">
            <a:extLst>
              <a:ext uri="{FF2B5EF4-FFF2-40B4-BE49-F238E27FC236}">
                <a16:creationId xmlns:a16="http://schemas.microsoft.com/office/drawing/2014/main" id="{A3A5C0D0-8F6F-3424-093B-D39B74383626}"/>
              </a:ext>
            </a:extLst>
          </p:cNvPr>
          <p:cNvSpPr txBox="1"/>
          <p:nvPr/>
        </p:nvSpPr>
        <p:spPr>
          <a:xfrm>
            <a:off x="752237" y="2956847"/>
            <a:ext cx="246248" cy="169277"/>
          </a:xfrm>
          <a:prstGeom prst="rect">
            <a:avLst/>
          </a:prstGeom>
          <a:noFill/>
        </p:spPr>
        <p:txBody>
          <a:bodyPr wrap="square">
            <a:spAutoFit/>
          </a:bodyPr>
          <a:lstStyle/>
          <a:p>
            <a:r>
              <a:rPr lang="fr-FR" sz="500" dirty="0"/>
              <a:t>I =</a:t>
            </a:r>
          </a:p>
        </p:txBody>
      </p:sp>
      <p:sp>
        <p:nvSpPr>
          <p:cNvPr id="34" name="Rectangle 33">
            <a:extLst>
              <a:ext uri="{FF2B5EF4-FFF2-40B4-BE49-F238E27FC236}">
                <a16:creationId xmlns:a16="http://schemas.microsoft.com/office/drawing/2014/main" id="{01685E4B-8702-462B-D792-CBFCC655B2FF}"/>
              </a:ext>
            </a:extLst>
          </p:cNvPr>
          <p:cNvSpPr/>
          <p:nvPr/>
        </p:nvSpPr>
        <p:spPr>
          <a:xfrm>
            <a:off x="921240" y="2969087"/>
            <a:ext cx="120649" cy="11548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35" name="Rectangle 34">
            <a:extLst>
              <a:ext uri="{FF2B5EF4-FFF2-40B4-BE49-F238E27FC236}">
                <a16:creationId xmlns:a16="http://schemas.microsoft.com/office/drawing/2014/main" id="{8482C175-C200-5E82-8045-F9BBD046A367}"/>
              </a:ext>
            </a:extLst>
          </p:cNvPr>
          <p:cNvSpPr/>
          <p:nvPr/>
        </p:nvSpPr>
        <p:spPr>
          <a:xfrm>
            <a:off x="1133704" y="3373496"/>
            <a:ext cx="246702" cy="2361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6" name="Connecteur droit 35">
            <a:extLst>
              <a:ext uri="{FF2B5EF4-FFF2-40B4-BE49-F238E27FC236}">
                <a16:creationId xmlns:a16="http://schemas.microsoft.com/office/drawing/2014/main" id="{4B2AA59D-3D05-75AB-4F05-279D9B4F3F82}"/>
              </a:ext>
            </a:extLst>
          </p:cNvPr>
          <p:cNvCxnSpPr>
            <a:cxnSpLocks/>
          </p:cNvCxnSpPr>
          <p:nvPr/>
        </p:nvCxnSpPr>
        <p:spPr>
          <a:xfrm flipH="1">
            <a:off x="3013381" y="3861557"/>
            <a:ext cx="1008672" cy="1398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7" name="ZoneTexte 36">
            <a:extLst>
              <a:ext uri="{FF2B5EF4-FFF2-40B4-BE49-F238E27FC236}">
                <a16:creationId xmlns:a16="http://schemas.microsoft.com/office/drawing/2014/main" id="{CCE9D430-2CC3-10A3-CF2A-A3824505B43B}"/>
              </a:ext>
            </a:extLst>
          </p:cNvPr>
          <p:cNvSpPr txBox="1"/>
          <p:nvPr/>
        </p:nvSpPr>
        <p:spPr>
          <a:xfrm>
            <a:off x="3135119" y="3826340"/>
            <a:ext cx="464463" cy="707886"/>
          </a:xfrm>
          <a:prstGeom prst="rect">
            <a:avLst/>
          </a:prstGeom>
          <a:noFill/>
        </p:spPr>
        <p:txBody>
          <a:bodyPr wrap="square">
            <a:spAutoFit/>
          </a:bodyPr>
          <a:lstStyle/>
          <a:p>
            <a:r>
              <a:rPr lang="el-GR" sz="4000" dirty="0"/>
              <a:t>Σ</a:t>
            </a:r>
            <a:endParaRPr lang="fr-FR" sz="4000" dirty="0"/>
          </a:p>
        </p:txBody>
      </p:sp>
      <p:sp>
        <p:nvSpPr>
          <p:cNvPr id="38" name="ZoneTexte 37">
            <a:extLst>
              <a:ext uri="{FF2B5EF4-FFF2-40B4-BE49-F238E27FC236}">
                <a16:creationId xmlns:a16="http://schemas.microsoft.com/office/drawing/2014/main" id="{EE371292-36A0-332B-8A90-7C16EE6F6911}"/>
              </a:ext>
            </a:extLst>
          </p:cNvPr>
          <p:cNvSpPr txBox="1"/>
          <p:nvPr/>
        </p:nvSpPr>
        <p:spPr>
          <a:xfrm>
            <a:off x="3498332" y="3260051"/>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39" name="ZoneTexte 38">
            <a:extLst>
              <a:ext uri="{FF2B5EF4-FFF2-40B4-BE49-F238E27FC236}">
                <a16:creationId xmlns:a16="http://schemas.microsoft.com/office/drawing/2014/main" id="{8D07349C-6432-2503-A656-39408344BD5F}"/>
              </a:ext>
            </a:extLst>
          </p:cNvPr>
          <p:cNvSpPr txBox="1"/>
          <p:nvPr/>
        </p:nvSpPr>
        <p:spPr>
          <a:xfrm>
            <a:off x="3223792" y="3683255"/>
            <a:ext cx="246248" cy="169277"/>
          </a:xfrm>
          <a:prstGeom prst="rect">
            <a:avLst/>
          </a:prstGeom>
          <a:noFill/>
        </p:spPr>
        <p:txBody>
          <a:bodyPr wrap="square">
            <a:spAutoFit/>
          </a:bodyPr>
          <a:lstStyle/>
          <a:p>
            <a:r>
              <a:rPr lang="fr-FR" sz="500" dirty="0"/>
              <a:t>I =</a:t>
            </a:r>
          </a:p>
        </p:txBody>
      </p:sp>
      <p:pic>
        <p:nvPicPr>
          <p:cNvPr id="40" name="Graphique 39" descr="Femme non-voyante utilisant un bâton">
            <a:extLst>
              <a:ext uri="{FF2B5EF4-FFF2-40B4-BE49-F238E27FC236}">
                <a16:creationId xmlns:a16="http://schemas.microsoft.com/office/drawing/2014/main" id="{DDC6B7BA-ABA9-E5A6-D926-FCD8FA495CE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9626" t="110" r="16666" b="79554"/>
          <a:stretch/>
        </p:blipFill>
        <p:spPr>
          <a:xfrm>
            <a:off x="3494560" y="4035500"/>
            <a:ext cx="273418" cy="289567"/>
          </a:xfrm>
          <a:prstGeom prst="rect">
            <a:avLst/>
          </a:prstGeom>
        </p:spPr>
      </p:pic>
      <p:sp>
        <p:nvSpPr>
          <p:cNvPr id="41" name="ZoneTexte 40">
            <a:extLst>
              <a:ext uri="{FF2B5EF4-FFF2-40B4-BE49-F238E27FC236}">
                <a16:creationId xmlns:a16="http://schemas.microsoft.com/office/drawing/2014/main" id="{6F23CEA9-9347-0F60-9C05-2BEDE7AD23DD}"/>
              </a:ext>
            </a:extLst>
          </p:cNvPr>
          <p:cNvSpPr txBox="1"/>
          <p:nvPr/>
        </p:nvSpPr>
        <p:spPr>
          <a:xfrm>
            <a:off x="3168139" y="3146118"/>
            <a:ext cx="464463" cy="707886"/>
          </a:xfrm>
          <a:prstGeom prst="rect">
            <a:avLst/>
          </a:prstGeom>
          <a:noFill/>
        </p:spPr>
        <p:txBody>
          <a:bodyPr wrap="square">
            <a:spAutoFit/>
          </a:bodyPr>
          <a:lstStyle/>
          <a:p>
            <a:r>
              <a:rPr lang="el-GR" sz="4000" dirty="0"/>
              <a:t>Σ</a:t>
            </a:r>
            <a:endParaRPr lang="fr-FR" sz="4000" dirty="0"/>
          </a:p>
        </p:txBody>
      </p:sp>
      <p:sp>
        <p:nvSpPr>
          <p:cNvPr id="43" name="ZoneTexte 42">
            <a:extLst>
              <a:ext uri="{FF2B5EF4-FFF2-40B4-BE49-F238E27FC236}">
                <a16:creationId xmlns:a16="http://schemas.microsoft.com/office/drawing/2014/main" id="{6641086D-DAF2-839C-15C4-C50F14776BD7}"/>
              </a:ext>
            </a:extLst>
          </p:cNvPr>
          <p:cNvSpPr txBox="1"/>
          <p:nvPr/>
        </p:nvSpPr>
        <p:spPr>
          <a:xfrm>
            <a:off x="6614199" y="3652708"/>
            <a:ext cx="464463" cy="707886"/>
          </a:xfrm>
          <a:prstGeom prst="rect">
            <a:avLst/>
          </a:prstGeom>
          <a:noFill/>
        </p:spPr>
        <p:txBody>
          <a:bodyPr wrap="square">
            <a:spAutoFit/>
          </a:bodyPr>
          <a:lstStyle/>
          <a:p>
            <a:r>
              <a:rPr lang="el-GR" sz="4000" dirty="0"/>
              <a:t>Σ</a:t>
            </a:r>
            <a:endParaRPr lang="fr-FR" sz="4000" dirty="0"/>
          </a:p>
        </p:txBody>
      </p:sp>
      <p:sp>
        <p:nvSpPr>
          <p:cNvPr id="44" name="ZoneTexte 43">
            <a:extLst>
              <a:ext uri="{FF2B5EF4-FFF2-40B4-BE49-F238E27FC236}">
                <a16:creationId xmlns:a16="http://schemas.microsoft.com/office/drawing/2014/main" id="{6D23C89A-83BB-AC4D-A071-B55DF24EADE5}"/>
              </a:ext>
            </a:extLst>
          </p:cNvPr>
          <p:cNvSpPr txBox="1"/>
          <p:nvPr/>
        </p:nvSpPr>
        <p:spPr>
          <a:xfrm>
            <a:off x="6977412" y="3086419"/>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45" name="ZoneTexte 44">
            <a:extLst>
              <a:ext uri="{FF2B5EF4-FFF2-40B4-BE49-F238E27FC236}">
                <a16:creationId xmlns:a16="http://schemas.microsoft.com/office/drawing/2014/main" id="{CF681579-D31C-F2CB-9113-29111CBF6306}"/>
              </a:ext>
            </a:extLst>
          </p:cNvPr>
          <p:cNvSpPr txBox="1"/>
          <p:nvPr/>
        </p:nvSpPr>
        <p:spPr>
          <a:xfrm>
            <a:off x="6993376" y="3597601"/>
            <a:ext cx="246248" cy="169277"/>
          </a:xfrm>
          <a:prstGeom prst="rect">
            <a:avLst/>
          </a:prstGeom>
          <a:noFill/>
        </p:spPr>
        <p:txBody>
          <a:bodyPr wrap="square">
            <a:spAutoFit/>
          </a:bodyPr>
          <a:lstStyle/>
          <a:p>
            <a:r>
              <a:rPr lang="fr-FR" sz="500" dirty="0"/>
              <a:t>I =</a:t>
            </a:r>
          </a:p>
        </p:txBody>
      </p:sp>
      <p:pic>
        <p:nvPicPr>
          <p:cNvPr id="46" name="Graphique 45" descr="Femme non-voyante utilisant un bâton">
            <a:extLst>
              <a:ext uri="{FF2B5EF4-FFF2-40B4-BE49-F238E27FC236}">
                <a16:creationId xmlns:a16="http://schemas.microsoft.com/office/drawing/2014/main" id="{45F3BC88-7C39-7BDD-A94B-642B87A1F5D1}"/>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9626" t="110" r="16666" b="79554"/>
          <a:stretch/>
        </p:blipFill>
        <p:spPr>
          <a:xfrm>
            <a:off x="7003438" y="3823457"/>
            <a:ext cx="273418" cy="289567"/>
          </a:xfrm>
          <a:prstGeom prst="rect">
            <a:avLst/>
          </a:prstGeom>
        </p:spPr>
      </p:pic>
      <p:sp>
        <p:nvSpPr>
          <p:cNvPr id="47" name="ZoneTexte 46">
            <a:extLst>
              <a:ext uri="{FF2B5EF4-FFF2-40B4-BE49-F238E27FC236}">
                <a16:creationId xmlns:a16="http://schemas.microsoft.com/office/drawing/2014/main" id="{5F801A83-281A-69C6-0A87-B2B1A7FB9B0C}"/>
              </a:ext>
            </a:extLst>
          </p:cNvPr>
          <p:cNvSpPr txBox="1"/>
          <p:nvPr/>
        </p:nvSpPr>
        <p:spPr>
          <a:xfrm>
            <a:off x="6647219" y="2972486"/>
            <a:ext cx="464463" cy="707886"/>
          </a:xfrm>
          <a:prstGeom prst="rect">
            <a:avLst/>
          </a:prstGeom>
          <a:noFill/>
        </p:spPr>
        <p:txBody>
          <a:bodyPr wrap="square">
            <a:spAutoFit/>
          </a:bodyPr>
          <a:lstStyle/>
          <a:p>
            <a:r>
              <a:rPr lang="el-GR" sz="4000" dirty="0"/>
              <a:t>Σ</a:t>
            </a:r>
            <a:endParaRPr lang="fr-FR" sz="4000" dirty="0"/>
          </a:p>
        </p:txBody>
      </p:sp>
      <p:cxnSp>
        <p:nvCxnSpPr>
          <p:cNvPr id="48" name="Connecteur droit 47">
            <a:extLst>
              <a:ext uri="{FF2B5EF4-FFF2-40B4-BE49-F238E27FC236}">
                <a16:creationId xmlns:a16="http://schemas.microsoft.com/office/drawing/2014/main" id="{1049EFEA-BF36-B70C-0B93-5B26CAFDB82E}"/>
              </a:ext>
            </a:extLst>
          </p:cNvPr>
          <p:cNvCxnSpPr>
            <a:cxnSpLocks/>
          </p:cNvCxnSpPr>
          <p:nvPr/>
        </p:nvCxnSpPr>
        <p:spPr>
          <a:xfrm flipH="1">
            <a:off x="6544895" y="3700237"/>
            <a:ext cx="1008672" cy="13981"/>
          </a:xfrm>
          <a:prstGeom prst="line">
            <a:avLst/>
          </a:prstGeom>
          <a:ln w="57150"/>
        </p:spPr>
        <p:style>
          <a:lnRef idx="1">
            <a:schemeClr val="accent1"/>
          </a:lnRef>
          <a:fillRef idx="0">
            <a:schemeClr val="accent1"/>
          </a:fillRef>
          <a:effectRef idx="0">
            <a:schemeClr val="accent1"/>
          </a:effectRef>
          <a:fontRef idx="minor">
            <a:schemeClr val="tx1"/>
          </a:fontRef>
        </p:style>
      </p:cxnSp>
      <p:grpSp>
        <p:nvGrpSpPr>
          <p:cNvPr id="49" name="Groupe 48">
            <a:extLst>
              <a:ext uri="{FF2B5EF4-FFF2-40B4-BE49-F238E27FC236}">
                <a16:creationId xmlns:a16="http://schemas.microsoft.com/office/drawing/2014/main" id="{5929DDFF-6AB8-347F-3411-3D3D7015A018}"/>
              </a:ext>
            </a:extLst>
          </p:cNvPr>
          <p:cNvGrpSpPr/>
          <p:nvPr/>
        </p:nvGrpSpPr>
        <p:grpSpPr>
          <a:xfrm>
            <a:off x="4478434" y="3609639"/>
            <a:ext cx="1677733" cy="1724731"/>
            <a:chOff x="1003301" y="3656855"/>
            <a:chExt cx="1401466" cy="1440725"/>
          </a:xfrm>
        </p:grpSpPr>
        <p:grpSp>
          <p:nvGrpSpPr>
            <p:cNvPr id="50" name="Groupe 49">
              <a:extLst>
                <a:ext uri="{FF2B5EF4-FFF2-40B4-BE49-F238E27FC236}">
                  <a16:creationId xmlns:a16="http://schemas.microsoft.com/office/drawing/2014/main" id="{DFCBCCEC-0EE5-1ECA-0163-BCB197D895B7}"/>
                </a:ext>
              </a:extLst>
            </p:cNvPr>
            <p:cNvGrpSpPr/>
            <p:nvPr/>
          </p:nvGrpSpPr>
          <p:grpSpPr>
            <a:xfrm>
              <a:off x="1003301" y="3656855"/>
              <a:ext cx="575065" cy="1262062"/>
              <a:chOff x="846138" y="3525644"/>
              <a:chExt cx="971550" cy="2132206"/>
            </a:xfrm>
          </p:grpSpPr>
          <p:pic>
            <p:nvPicPr>
              <p:cNvPr id="53" name="Espace réservé pour une image  27" descr="Fille portant une cape">
                <a:extLst>
                  <a:ext uri="{FF2B5EF4-FFF2-40B4-BE49-F238E27FC236}">
                    <a16:creationId xmlns:a16="http://schemas.microsoft.com/office/drawing/2014/main" id="{DEC00949-D42D-2156-EBE5-84587B00226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0740" t="-32" r="33953" b="52122"/>
              <a:stretch/>
            </p:blipFill>
            <p:spPr>
              <a:xfrm>
                <a:off x="846138" y="3525644"/>
                <a:ext cx="971550" cy="2132206"/>
              </a:xfrm>
              <a:prstGeom prst="rect">
                <a:avLst/>
              </a:prstGeom>
            </p:spPr>
          </p:pic>
          <p:sp>
            <p:nvSpPr>
              <p:cNvPr id="54" name="Rectangle 53">
                <a:extLst>
                  <a:ext uri="{FF2B5EF4-FFF2-40B4-BE49-F238E27FC236}">
                    <a16:creationId xmlns:a16="http://schemas.microsoft.com/office/drawing/2014/main" id="{48D2760F-5C34-4ADC-9D20-6B9CF04BA8E5}"/>
                  </a:ext>
                </a:extLst>
              </p:cNvPr>
              <p:cNvSpPr/>
              <p:nvPr/>
            </p:nvSpPr>
            <p:spPr>
              <a:xfrm rot="542513">
                <a:off x="1331958" y="4149685"/>
                <a:ext cx="280095" cy="3741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5" name="Graphique 54" descr="Un visage avec un seul sourcil">
                <a:extLst>
                  <a:ext uri="{FF2B5EF4-FFF2-40B4-BE49-F238E27FC236}">
                    <a16:creationId xmlns:a16="http://schemas.microsoft.com/office/drawing/2014/main" id="{5D4F75B6-4023-C794-A6C4-6422CBE4398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9605" y="4179582"/>
                <a:ext cx="304800" cy="314325"/>
              </a:xfrm>
              <a:prstGeom prst="rect">
                <a:avLst/>
              </a:prstGeom>
            </p:spPr>
          </p:pic>
        </p:grpSp>
        <p:pic>
          <p:nvPicPr>
            <p:cNvPr id="51" name="Graphique 50" descr="Homme âgé portant une veste">
              <a:extLst>
                <a:ext uri="{FF2B5EF4-FFF2-40B4-BE49-F238E27FC236}">
                  <a16:creationId xmlns:a16="http://schemas.microsoft.com/office/drawing/2014/main" id="{EB4C3FB6-B625-D3E2-973A-0DE9F64192A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b="58457"/>
            <a:stretch/>
          </p:blipFill>
          <p:spPr>
            <a:xfrm>
              <a:off x="1253313" y="4014576"/>
              <a:ext cx="837425" cy="1072714"/>
            </a:xfrm>
            <a:prstGeom prst="rect">
              <a:avLst/>
            </a:prstGeom>
          </p:spPr>
        </p:pic>
        <p:pic>
          <p:nvPicPr>
            <p:cNvPr id="52" name="Espace réservé pour une image  29" descr="Homme en polo">
              <a:extLst>
                <a:ext uri="{FF2B5EF4-FFF2-40B4-BE49-F238E27FC236}">
                  <a16:creationId xmlns:a16="http://schemas.microsoft.com/office/drawing/2014/main" id="{3D068496-8AB8-954A-7519-FFF7CD3B50B3}"/>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r="22779" b="68548"/>
            <a:stretch/>
          </p:blipFill>
          <p:spPr>
            <a:xfrm>
              <a:off x="1663360" y="4136949"/>
              <a:ext cx="741407" cy="960631"/>
            </a:xfrm>
            <a:prstGeom prst="rect">
              <a:avLst/>
            </a:prstGeom>
          </p:spPr>
        </p:pic>
      </p:grpSp>
      <p:sp>
        <p:nvSpPr>
          <p:cNvPr id="56" name="Flèche : droite 55">
            <a:extLst>
              <a:ext uri="{FF2B5EF4-FFF2-40B4-BE49-F238E27FC236}">
                <a16:creationId xmlns:a16="http://schemas.microsoft.com/office/drawing/2014/main" id="{E28A2E04-5CB4-9597-2F2A-B5E0CB86916E}"/>
              </a:ext>
            </a:extLst>
          </p:cNvPr>
          <p:cNvSpPr/>
          <p:nvPr/>
        </p:nvSpPr>
        <p:spPr>
          <a:xfrm>
            <a:off x="8317426" y="3205232"/>
            <a:ext cx="2855399" cy="447536"/>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grpSp>
        <p:nvGrpSpPr>
          <p:cNvPr id="57" name="Groupe 56">
            <a:extLst>
              <a:ext uri="{FF2B5EF4-FFF2-40B4-BE49-F238E27FC236}">
                <a16:creationId xmlns:a16="http://schemas.microsoft.com/office/drawing/2014/main" id="{B8EC8C61-303D-072D-752C-2EB076E8204B}"/>
              </a:ext>
            </a:extLst>
          </p:cNvPr>
          <p:cNvGrpSpPr/>
          <p:nvPr/>
        </p:nvGrpSpPr>
        <p:grpSpPr>
          <a:xfrm>
            <a:off x="1354613" y="1031708"/>
            <a:ext cx="2649503" cy="1363984"/>
            <a:chOff x="789930" y="2075168"/>
            <a:chExt cx="4228114" cy="2176665"/>
          </a:xfrm>
        </p:grpSpPr>
        <p:grpSp>
          <p:nvGrpSpPr>
            <p:cNvPr id="58" name="Groupe 57">
              <a:extLst>
                <a:ext uri="{FF2B5EF4-FFF2-40B4-BE49-F238E27FC236}">
                  <a16:creationId xmlns:a16="http://schemas.microsoft.com/office/drawing/2014/main" id="{93080E17-BFA9-58F1-0B7A-E30FC3244558}"/>
                </a:ext>
              </a:extLst>
            </p:cNvPr>
            <p:cNvGrpSpPr/>
            <p:nvPr/>
          </p:nvGrpSpPr>
          <p:grpSpPr>
            <a:xfrm>
              <a:off x="1004899" y="2075168"/>
              <a:ext cx="4013145" cy="458111"/>
              <a:chOff x="11600" y="1496380"/>
              <a:chExt cx="12038120" cy="1498765"/>
            </a:xfrm>
          </p:grpSpPr>
          <p:grpSp>
            <p:nvGrpSpPr>
              <p:cNvPr id="96" name="Groupe 95">
                <a:extLst>
                  <a:ext uri="{FF2B5EF4-FFF2-40B4-BE49-F238E27FC236}">
                    <a16:creationId xmlns:a16="http://schemas.microsoft.com/office/drawing/2014/main" id="{0DEE8FD0-9618-5E71-7399-0E3B966DAEF4}"/>
                  </a:ext>
                </a:extLst>
              </p:cNvPr>
              <p:cNvGrpSpPr/>
              <p:nvPr/>
            </p:nvGrpSpPr>
            <p:grpSpPr>
              <a:xfrm>
                <a:off x="11600" y="2499558"/>
                <a:ext cx="12038120" cy="495587"/>
                <a:chOff x="0" y="2140394"/>
                <a:chExt cx="12854128" cy="4544491"/>
              </a:xfrm>
            </p:grpSpPr>
            <p:sp>
              <p:nvSpPr>
                <p:cNvPr id="104" name="Espace réservé du texte 15">
                  <a:extLst>
                    <a:ext uri="{FF2B5EF4-FFF2-40B4-BE49-F238E27FC236}">
                      <a16:creationId xmlns:a16="http://schemas.microsoft.com/office/drawing/2014/main" id="{CD82CBFA-F96B-4464-5D7D-5C2FB0D1BF19}"/>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105" name="Espace réservé du texte 15">
                  <a:extLst>
                    <a:ext uri="{FF2B5EF4-FFF2-40B4-BE49-F238E27FC236}">
                      <a16:creationId xmlns:a16="http://schemas.microsoft.com/office/drawing/2014/main" id="{87D20FB6-D53F-E9D8-DBFD-061BF6A495C7}"/>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106" name="Espace réservé du texte 15">
                  <a:extLst>
                    <a:ext uri="{FF2B5EF4-FFF2-40B4-BE49-F238E27FC236}">
                      <a16:creationId xmlns:a16="http://schemas.microsoft.com/office/drawing/2014/main" id="{67EA34D2-45C7-69C1-FA31-3C2052FCF62B}"/>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107" name="Espace réservé du texte 15">
                  <a:extLst>
                    <a:ext uri="{FF2B5EF4-FFF2-40B4-BE49-F238E27FC236}">
                      <a16:creationId xmlns:a16="http://schemas.microsoft.com/office/drawing/2014/main" id="{DF68A781-3660-6B72-190C-FF2CE26BBE0E}"/>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108" name="Espace réservé du texte 15">
                  <a:extLst>
                    <a:ext uri="{FF2B5EF4-FFF2-40B4-BE49-F238E27FC236}">
                      <a16:creationId xmlns:a16="http://schemas.microsoft.com/office/drawing/2014/main" id="{EE14F4E1-B616-935F-7A4E-4E33EF6740C0}"/>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109" name="Espace réservé du texte 15">
                  <a:extLst>
                    <a:ext uri="{FF2B5EF4-FFF2-40B4-BE49-F238E27FC236}">
                      <a16:creationId xmlns:a16="http://schemas.microsoft.com/office/drawing/2014/main" id="{B3E1F6CA-76AD-8690-DF8E-BC05D7E3B08A}"/>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110" name="Espace réservé du texte 15">
                  <a:extLst>
                    <a:ext uri="{FF2B5EF4-FFF2-40B4-BE49-F238E27FC236}">
                      <a16:creationId xmlns:a16="http://schemas.microsoft.com/office/drawing/2014/main" id="{18F66A5F-4F72-B452-D91E-42A129C8E3BC}"/>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97" name="Graphique 96" descr="Ampoule avec un remplissage uni">
                <a:extLst>
                  <a:ext uri="{FF2B5EF4-FFF2-40B4-BE49-F238E27FC236}">
                    <a16:creationId xmlns:a16="http://schemas.microsoft.com/office/drawing/2014/main" id="{8F69D6EC-CD3A-99BE-5FB0-92A43C77A40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60868" y="1496380"/>
                <a:ext cx="914400" cy="914400"/>
              </a:xfrm>
              <a:prstGeom prst="rect">
                <a:avLst/>
              </a:prstGeom>
            </p:spPr>
          </p:pic>
          <p:pic>
            <p:nvPicPr>
              <p:cNvPr id="98" name="Graphique 97" descr="Seau et pelle avec un remplissage uni">
                <a:extLst>
                  <a:ext uri="{FF2B5EF4-FFF2-40B4-BE49-F238E27FC236}">
                    <a16:creationId xmlns:a16="http://schemas.microsoft.com/office/drawing/2014/main" id="{43DD14F4-A849-3794-D4F8-015371BD946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098515" y="1496380"/>
                <a:ext cx="914400" cy="914400"/>
              </a:xfrm>
              <a:prstGeom prst="rect">
                <a:avLst/>
              </a:prstGeom>
            </p:spPr>
          </p:pic>
          <p:pic>
            <p:nvPicPr>
              <p:cNvPr id="99" name="Graphique 98" descr="Tubes à essai avec un remplissage uni">
                <a:extLst>
                  <a:ext uri="{FF2B5EF4-FFF2-40B4-BE49-F238E27FC236}">
                    <a16:creationId xmlns:a16="http://schemas.microsoft.com/office/drawing/2014/main" id="{6A22BDA4-A85D-6C01-878C-6E20739FB1C9}"/>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33203" y="1496380"/>
                <a:ext cx="914400" cy="914400"/>
              </a:xfrm>
              <a:prstGeom prst="rect">
                <a:avLst/>
              </a:prstGeom>
            </p:spPr>
          </p:pic>
          <p:pic>
            <p:nvPicPr>
              <p:cNvPr id="100" name="Graphique 99" descr="Explosion avec un remplissage uni">
                <a:extLst>
                  <a:ext uri="{FF2B5EF4-FFF2-40B4-BE49-F238E27FC236}">
                    <a16:creationId xmlns:a16="http://schemas.microsoft.com/office/drawing/2014/main" id="{4E7D733F-1876-5479-BE07-4305EFEAE58E}"/>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573460" y="1496380"/>
                <a:ext cx="914400" cy="914400"/>
              </a:xfrm>
              <a:prstGeom prst="rect">
                <a:avLst/>
              </a:prstGeom>
            </p:spPr>
          </p:pic>
          <p:pic>
            <p:nvPicPr>
              <p:cNvPr id="101" name="Graphique 100" descr="Trophée avec un remplissage uni">
                <a:extLst>
                  <a:ext uri="{FF2B5EF4-FFF2-40B4-BE49-F238E27FC236}">
                    <a16:creationId xmlns:a16="http://schemas.microsoft.com/office/drawing/2014/main" id="{F093C80C-3110-F8A4-4F25-60DE1E6C2546}"/>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313717" y="1496380"/>
                <a:ext cx="914400" cy="914400"/>
              </a:xfrm>
              <a:prstGeom prst="rect">
                <a:avLst/>
              </a:prstGeom>
            </p:spPr>
          </p:pic>
          <p:pic>
            <p:nvPicPr>
              <p:cNvPr id="102" name="Graphique 101" descr="Assiette couverte avec un remplissage uni">
                <a:extLst>
                  <a:ext uri="{FF2B5EF4-FFF2-40B4-BE49-F238E27FC236}">
                    <a16:creationId xmlns:a16="http://schemas.microsoft.com/office/drawing/2014/main" id="{01C2EAC2-7BB8-817D-C0D8-A5AE9B68FCC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048405" y="1496380"/>
                <a:ext cx="914400" cy="914400"/>
              </a:xfrm>
              <a:prstGeom prst="rect">
                <a:avLst/>
              </a:prstGeom>
            </p:spPr>
          </p:pic>
          <p:pic>
            <p:nvPicPr>
              <p:cNvPr id="103" name="Graphique 102" descr="Scène de château avec un remplissage uni">
                <a:extLst>
                  <a:ext uri="{FF2B5EF4-FFF2-40B4-BE49-F238E27FC236}">
                    <a16:creationId xmlns:a16="http://schemas.microsoft.com/office/drawing/2014/main" id="{22096A82-885A-D154-72FF-46CBADBC96F5}"/>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0783093" y="1496380"/>
                <a:ext cx="914400" cy="914400"/>
              </a:xfrm>
              <a:prstGeom prst="rect">
                <a:avLst/>
              </a:prstGeom>
            </p:spPr>
          </p:pic>
        </p:grpSp>
        <p:grpSp>
          <p:nvGrpSpPr>
            <p:cNvPr id="59" name="Groupe 58">
              <a:extLst>
                <a:ext uri="{FF2B5EF4-FFF2-40B4-BE49-F238E27FC236}">
                  <a16:creationId xmlns:a16="http://schemas.microsoft.com/office/drawing/2014/main" id="{15F8B6F9-62E6-36FD-B72E-1785858EFBF3}"/>
                </a:ext>
              </a:extLst>
            </p:cNvPr>
            <p:cNvGrpSpPr/>
            <p:nvPr/>
          </p:nvGrpSpPr>
          <p:grpSpPr>
            <a:xfrm>
              <a:off x="791077" y="2799355"/>
              <a:ext cx="1894821" cy="181741"/>
              <a:chOff x="3099062" y="3394846"/>
              <a:chExt cx="4016859" cy="385275"/>
            </a:xfrm>
          </p:grpSpPr>
          <p:sp>
            <p:nvSpPr>
              <p:cNvPr id="92" name="Rectangle 91">
                <a:extLst>
                  <a:ext uri="{FF2B5EF4-FFF2-40B4-BE49-F238E27FC236}">
                    <a16:creationId xmlns:a16="http://schemas.microsoft.com/office/drawing/2014/main" id="{1E4D118E-DFF5-5928-EEB7-233EC6DD1264}"/>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93" name="Connecteur droit avec flèche 92">
                <a:extLst>
                  <a:ext uri="{FF2B5EF4-FFF2-40B4-BE49-F238E27FC236}">
                    <a16:creationId xmlns:a16="http://schemas.microsoft.com/office/drawing/2014/main" id="{82046724-2A0C-0D89-0C1A-F497D317AF60}"/>
                  </a:ext>
                </a:extLst>
              </p:cNvPr>
              <p:cNvCxnSpPr>
                <a:cxnSpLocks/>
                <a:stCxn id="92" idx="3"/>
                <a:endCxn id="94"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4" name="Graphique 93" descr="Mille avec un remplissage uni">
                <a:extLst>
                  <a:ext uri="{FF2B5EF4-FFF2-40B4-BE49-F238E27FC236}">
                    <a16:creationId xmlns:a16="http://schemas.microsoft.com/office/drawing/2014/main" id="{08A65C71-FCB1-D0B3-2E03-2BE047D5BA05}"/>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6730646" y="3394846"/>
                <a:ext cx="385275" cy="385275"/>
              </a:xfrm>
              <a:prstGeom prst="rect">
                <a:avLst/>
              </a:prstGeom>
            </p:spPr>
          </p:pic>
          <p:sp>
            <p:nvSpPr>
              <p:cNvPr id="95" name="Rectangle 94">
                <a:extLst>
                  <a:ext uri="{FF2B5EF4-FFF2-40B4-BE49-F238E27FC236}">
                    <a16:creationId xmlns:a16="http://schemas.microsoft.com/office/drawing/2014/main" id="{AEB5C68D-B92C-AEF5-CC78-937392A1D8BC}"/>
                  </a:ext>
                </a:extLst>
              </p:cNvPr>
              <p:cNvSpPr/>
              <p:nvPr/>
            </p:nvSpPr>
            <p:spPr>
              <a:xfrm>
                <a:off x="6183629" y="340845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60" name="Groupe 59">
              <a:extLst>
                <a:ext uri="{FF2B5EF4-FFF2-40B4-BE49-F238E27FC236}">
                  <a16:creationId xmlns:a16="http://schemas.microsoft.com/office/drawing/2014/main" id="{A171698B-77ED-1AF0-E561-EF1623A4347D}"/>
                </a:ext>
              </a:extLst>
            </p:cNvPr>
            <p:cNvGrpSpPr/>
            <p:nvPr/>
          </p:nvGrpSpPr>
          <p:grpSpPr>
            <a:xfrm>
              <a:off x="791076" y="3011948"/>
              <a:ext cx="3469706" cy="181741"/>
              <a:chOff x="3099061" y="3796432"/>
              <a:chExt cx="7355485" cy="385275"/>
            </a:xfrm>
          </p:grpSpPr>
          <p:sp>
            <p:nvSpPr>
              <p:cNvPr id="88" name="Rectangle 87">
                <a:extLst>
                  <a:ext uri="{FF2B5EF4-FFF2-40B4-BE49-F238E27FC236}">
                    <a16:creationId xmlns:a16="http://schemas.microsoft.com/office/drawing/2014/main" id="{386F8F9E-6B2B-664E-9839-3B828731A655}"/>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9" name="Connecteur droit avec flèche 88">
                <a:extLst>
                  <a:ext uri="{FF2B5EF4-FFF2-40B4-BE49-F238E27FC236}">
                    <a16:creationId xmlns:a16="http://schemas.microsoft.com/office/drawing/2014/main" id="{C345F528-A22C-33BF-214F-F4321CDE4FDB}"/>
                  </a:ext>
                </a:extLst>
              </p:cNvPr>
              <p:cNvCxnSpPr>
                <a:cxnSpLocks/>
                <a:stCxn id="88" idx="3"/>
                <a:endCxn id="90"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0" name="Graphique 89" descr="Mille avec un remplissage uni">
                <a:extLst>
                  <a:ext uri="{FF2B5EF4-FFF2-40B4-BE49-F238E27FC236}">
                    <a16:creationId xmlns:a16="http://schemas.microsoft.com/office/drawing/2014/main" id="{0221DD5D-7E22-3015-C302-DE5650154EF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069271" y="3796432"/>
                <a:ext cx="385275" cy="385275"/>
              </a:xfrm>
              <a:prstGeom prst="rect">
                <a:avLst/>
              </a:prstGeom>
            </p:spPr>
          </p:pic>
          <p:sp>
            <p:nvSpPr>
              <p:cNvPr id="91" name="Rectangle 90">
                <a:extLst>
                  <a:ext uri="{FF2B5EF4-FFF2-40B4-BE49-F238E27FC236}">
                    <a16:creationId xmlns:a16="http://schemas.microsoft.com/office/drawing/2014/main" id="{158797F4-BFD4-4F50-CC26-98DF1DF91939}"/>
                  </a:ext>
                </a:extLst>
              </p:cNvPr>
              <p:cNvSpPr/>
              <p:nvPr/>
            </p:nvSpPr>
            <p:spPr>
              <a:xfrm>
                <a:off x="6183632" y="3839301"/>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61" name="Groupe 60">
              <a:extLst>
                <a:ext uri="{FF2B5EF4-FFF2-40B4-BE49-F238E27FC236}">
                  <a16:creationId xmlns:a16="http://schemas.microsoft.com/office/drawing/2014/main" id="{86B1A685-0D48-FBF6-AB20-8E953005510E}"/>
                </a:ext>
              </a:extLst>
            </p:cNvPr>
            <p:cNvGrpSpPr/>
            <p:nvPr/>
          </p:nvGrpSpPr>
          <p:grpSpPr>
            <a:xfrm>
              <a:off x="789930" y="3640101"/>
              <a:ext cx="1180962" cy="181741"/>
              <a:chOff x="3096631" y="5085827"/>
              <a:chExt cx="2503539" cy="385275"/>
            </a:xfrm>
          </p:grpSpPr>
          <p:sp>
            <p:nvSpPr>
              <p:cNvPr id="85" name="Rectangle 84">
                <a:extLst>
                  <a:ext uri="{FF2B5EF4-FFF2-40B4-BE49-F238E27FC236}">
                    <a16:creationId xmlns:a16="http://schemas.microsoft.com/office/drawing/2014/main" id="{04E555FE-2EE3-2C24-ADAB-06F1B3B100F1}"/>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6" name="Connecteur droit avec flèche 85">
                <a:extLst>
                  <a:ext uri="{FF2B5EF4-FFF2-40B4-BE49-F238E27FC236}">
                    <a16:creationId xmlns:a16="http://schemas.microsoft.com/office/drawing/2014/main" id="{8BB08F10-78CF-8BB5-D658-FFEF82B27CA1}"/>
                  </a:ext>
                </a:extLst>
              </p:cNvPr>
              <p:cNvCxnSpPr>
                <a:cxnSpLocks/>
                <a:stCxn id="85" idx="3"/>
                <a:endCxn id="87"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7" name="Graphique 86" descr="Mille avec un remplissage uni">
                <a:extLst>
                  <a:ext uri="{FF2B5EF4-FFF2-40B4-BE49-F238E27FC236}">
                    <a16:creationId xmlns:a16="http://schemas.microsoft.com/office/drawing/2014/main" id="{02934DEC-79F1-6F6F-9F80-48EA1F04BFA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5214895" y="5085827"/>
                <a:ext cx="385275" cy="385275"/>
              </a:xfrm>
              <a:prstGeom prst="rect">
                <a:avLst/>
              </a:prstGeom>
            </p:spPr>
          </p:pic>
        </p:grpSp>
        <p:grpSp>
          <p:nvGrpSpPr>
            <p:cNvPr id="62" name="Groupe 61">
              <a:extLst>
                <a:ext uri="{FF2B5EF4-FFF2-40B4-BE49-F238E27FC236}">
                  <a16:creationId xmlns:a16="http://schemas.microsoft.com/office/drawing/2014/main" id="{183708A7-2E93-F014-C50D-D550CC004DD8}"/>
                </a:ext>
              </a:extLst>
            </p:cNvPr>
            <p:cNvGrpSpPr/>
            <p:nvPr/>
          </p:nvGrpSpPr>
          <p:grpSpPr>
            <a:xfrm>
              <a:off x="789930" y="3432549"/>
              <a:ext cx="3007308" cy="181741"/>
              <a:chOff x="3096631" y="4622114"/>
              <a:chExt cx="6375239" cy="385275"/>
            </a:xfrm>
          </p:grpSpPr>
          <p:sp>
            <p:nvSpPr>
              <p:cNvPr id="81" name="Rectangle 80">
                <a:extLst>
                  <a:ext uri="{FF2B5EF4-FFF2-40B4-BE49-F238E27FC236}">
                    <a16:creationId xmlns:a16="http://schemas.microsoft.com/office/drawing/2014/main" id="{ADD22DC2-EBBC-0387-8D14-6DED8CC77C29}"/>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2" name="Connecteur droit avec flèche 81">
                <a:extLst>
                  <a:ext uri="{FF2B5EF4-FFF2-40B4-BE49-F238E27FC236}">
                    <a16:creationId xmlns:a16="http://schemas.microsoft.com/office/drawing/2014/main" id="{ADDB6C93-8B20-6691-9FC1-882CB9D1902A}"/>
                  </a:ext>
                </a:extLst>
              </p:cNvPr>
              <p:cNvCxnSpPr>
                <a:cxnSpLocks/>
                <a:stCxn id="81" idx="3"/>
                <a:endCxn id="83"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3" name="Graphique 82" descr="Mille avec un remplissage uni">
                <a:extLst>
                  <a:ext uri="{FF2B5EF4-FFF2-40B4-BE49-F238E27FC236}">
                    <a16:creationId xmlns:a16="http://schemas.microsoft.com/office/drawing/2014/main" id="{FB95E4FB-3AEC-DB64-14F5-09854AD76C11}"/>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086594" y="4622114"/>
                <a:ext cx="385276" cy="385275"/>
              </a:xfrm>
              <a:prstGeom prst="rect">
                <a:avLst/>
              </a:prstGeom>
            </p:spPr>
          </p:pic>
          <p:sp>
            <p:nvSpPr>
              <p:cNvPr id="84" name="Rectangle 83">
                <a:extLst>
                  <a:ext uri="{FF2B5EF4-FFF2-40B4-BE49-F238E27FC236}">
                    <a16:creationId xmlns:a16="http://schemas.microsoft.com/office/drawing/2014/main" id="{463C36BE-5159-15E5-4B0C-A28DFEB877F7}"/>
                  </a:ext>
                </a:extLst>
              </p:cNvPr>
              <p:cNvSpPr/>
              <p:nvPr/>
            </p:nvSpPr>
            <p:spPr>
              <a:xfrm>
                <a:off x="8579850" y="465970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63" name="Groupe 62">
              <a:extLst>
                <a:ext uri="{FF2B5EF4-FFF2-40B4-BE49-F238E27FC236}">
                  <a16:creationId xmlns:a16="http://schemas.microsoft.com/office/drawing/2014/main" id="{161AEF0E-5869-E20D-B51B-C360178DECD6}"/>
                </a:ext>
              </a:extLst>
            </p:cNvPr>
            <p:cNvGrpSpPr/>
            <p:nvPr/>
          </p:nvGrpSpPr>
          <p:grpSpPr>
            <a:xfrm>
              <a:off x="789930" y="3221332"/>
              <a:ext cx="4041245" cy="181741"/>
              <a:chOff x="3096632" y="4195205"/>
              <a:chExt cx="8567098" cy="385275"/>
            </a:xfrm>
          </p:grpSpPr>
          <p:sp>
            <p:nvSpPr>
              <p:cNvPr id="77" name="Rectangle 76">
                <a:extLst>
                  <a:ext uri="{FF2B5EF4-FFF2-40B4-BE49-F238E27FC236}">
                    <a16:creationId xmlns:a16="http://schemas.microsoft.com/office/drawing/2014/main" id="{2C84161D-0ECB-7F7A-6541-5524D0FEB733}"/>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8" name="Connecteur droit avec flèche 77">
                <a:extLst>
                  <a:ext uri="{FF2B5EF4-FFF2-40B4-BE49-F238E27FC236}">
                    <a16:creationId xmlns:a16="http://schemas.microsoft.com/office/drawing/2014/main" id="{F3C85C72-611F-10E7-D156-78DCC0EFAE3D}"/>
                  </a:ext>
                </a:extLst>
              </p:cNvPr>
              <p:cNvCxnSpPr>
                <a:cxnSpLocks/>
                <a:stCxn id="77" idx="3"/>
                <a:endCxn id="79"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9" name="Graphique 78" descr="Mille avec un remplissage uni">
                <a:extLst>
                  <a:ext uri="{FF2B5EF4-FFF2-40B4-BE49-F238E27FC236}">
                    <a16:creationId xmlns:a16="http://schemas.microsoft.com/office/drawing/2014/main" id="{8E9C4F21-8CA4-D2E3-0AE3-3859D53BC5C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11278455" y="4195205"/>
                <a:ext cx="385275" cy="385275"/>
              </a:xfrm>
              <a:prstGeom prst="rect">
                <a:avLst/>
              </a:prstGeom>
            </p:spPr>
          </p:pic>
          <p:sp>
            <p:nvSpPr>
              <p:cNvPr id="80" name="Rectangle 79">
                <a:extLst>
                  <a:ext uri="{FF2B5EF4-FFF2-40B4-BE49-F238E27FC236}">
                    <a16:creationId xmlns:a16="http://schemas.microsoft.com/office/drawing/2014/main" id="{9E3CC484-0EA1-AA5B-553F-1DB7650FF4B0}"/>
                  </a:ext>
                </a:extLst>
              </p:cNvPr>
              <p:cNvSpPr/>
              <p:nvPr/>
            </p:nvSpPr>
            <p:spPr>
              <a:xfrm>
                <a:off x="10100966" y="423248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64" name="Groupe 63">
              <a:extLst>
                <a:ext uri="{FF2B5EF4-FFF2-40B4-BE49-F238E27FC236}">
                  <a16:creationId xmlns:a16="http://schemas.microsoft.com/office/drawing/2014/main" id="{CD4AA29F-B9F2-2474-D823-1275C51E2511}"/>
                </a:ext>
              </a:extLst>
            </p:cNvPr>
            <p:cNvGrpSpPr/>
            <p:nvPr/>
          </p:nvGrpSpPr>
          <p:grpSpPr>
            <a:xfrm>
              <a:off x="791077" y="2593179"/>
              <a:ext cx="3006161" cy="181741"/>
              <a:chOff x="3099063" y="2916714"/>
              <a:chExt cx="6372808" cy="385275"/>
            </a:xfrm>
          </p:grpSpPr>
          <p:pic>
            <p:nvPicPr>
              <p:cNvPr id="73" name="Graphique 72" descr="Mille avec un remplissage uni">
                <a:extLst>
                  <a:ext uri="{FF2B5EF4-FFF2-40B4-BE49-F238E27FC236}">
                    <a16:creationId xmlns:a16="http://schemas.microsoft.com/office/drawing/2014/main" id="{62ABA84E-5195-CFEE-389B-524C32A0F01B}"/>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086595" y="2916714"/>
                <a:ext cx="385276" cy="385275"/>
              </a:xfrm>
              <a:prstGeom prst="rect">
                <a:avLst/>
              </a:prstGeom>
            </p:spPr>
          </p:pic>
          <p:sp>
            <p:nvSpPr>
              <p:cNvPr id="74" name="Rectangle 73">
                <a:extLst>
                  <a:ext uri="{FF2B5EF4-FFF2-40B4-BE49-F238E27FC236}">
                    <a16:creationId xmlns:a16="http://schemas.microsoft.com/office/drawing/2014/main" id="{A7C87343-7ED1-AA89-19E5-727D63166331}"/>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5" name="Connecteur droit avec flèche 74">
                <a:extLst>
                  <a:ext uri="{FF2B5EF4-FFF2-40B4-BE49-F238E27FC236}">
                    <a16:creationId xmlns:a16="http://schemas.microsoft.com/office/drawing/2014/main" id="{951FC5F6-3359-E874-C323-D959452B43AF}"/>
                  </a:ext>
                </a:extLst>
              </p:cNvPr>
              <p:cNvCxnSpPr>
                <a:cxnSpLocks/>
                <a:stCxn id="74" idx="3"/>
                <a:endCxn id="73"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3199F70F-E29A-FF03-475A-09A3A174A8BA}"/>
                  </a:ext>
                </a:extLst>
              </p:cNvPr>
              <p:cNvSpPr/>
              <p:nvPr/>
            </p:nvSpPr>
            <p:spPr>
              <a:xfrm>
                <a:off x="8569448" y="295808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65" name="Groupe 64">
              <a:extLst>
                <a:ext uri="{FF2B5EF4-FFF2-40B4-BE49-F238E27FC236}">
                  <a16:creationId xmlns:a16="http://schemas.microsoft.com/office/drawing/2014/main" id="{BFCB3E25-0D56-BBC7-3A41-43A0950C22C4}"/>
                </a:ext>
              </a:extLst>
            </p:cNvPr>
            <p:cNvGrpSpPr/>
            <p:nvPr/>
          </p:nvGrpSpPr>
          <p:grpSpPr>
            <a:xfrm>
              <a:off x="789930" y="4072324"/>
              <a:ext cx="3859964" cy="152537"/>
              <a:chOff x="3096635" y="5604607"/>
              <a:chExt cx="8182799" cy="323365"/>
            </a:xfrm>
          </p:grpSpPr>
          <p:sp>
            <p:nvSpPr>
              <p:cNvPr id="70" name="Rectangle 69">
                <a:extLst>
                  <a:ext uri="{FF2B5EF4-FFF2-40B4-BE49-F238E27FC236}">
                    <a16:creationId xmlns:a16="http://schemas.microsoft.com/office/drawing/2014/main" id="{98F2842C-B179-BD02-EEE7-D2318D820479}"/>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71" name="Connecteur droit avec flèche 70">
                <a:extLst>
                  <a:ext uri="{FF2B5EF4-FFF2-40B4-BE49-F238E27FC236}">
                    <a16:creationId xmlns:a16="http://schemas.microsoft.com/office/drawing/2014/main" id="{36D9FB0C-8081-AC7A-870A-E3353C0DA35D}"/>
                  </a:ext>
                </a:extLst>
              </p:cNvPr>
              <p:cNvCxnSpPr>
                <a:cxnSpLocks/>
                <a:stCxn id="70" idx="3"/>
                <a:endCxn id="66"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64885035-EF37-F6F1-7EDE-2321B9AB41D6}"/>
                  </a:ext>
                </a:extLst>
              </p:cNvPr>
              <p:cNvSpPr/>
              <p:nvPr/>
            </p:nvSpPr>
            <p:spPr>
              <a:xfrm>
                <a:off x="6197544" y="5604607"/>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pic>
          <p:nvPicPr>
            <p:cNvPr id="66" name="Graphique 65" descr="Point d’interrogation avec un remplissage uni">
              <a:extLst>
                <a:ext uri="{FF2B5EF4-FFF2-40B4-BE49-F238E27FC236}">
                  <a16:creationId xmlns:a16="http://schemas.microsoft.com/office/drawing/2014/main" id="{8019210D-790D-8067-8A4E-235944B52539}"/>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4649894" y="4053262"/>
              <a:ext cx="196622" cy="196622"/>
            </a:xfrm>
            <a:prstGeom prst="rect">
              <a:avLst/>
            </a:prstGeom>
          </p:spPr>
        </p:pic>
        <p:pic>
          <p:nvPicPr>
            <p:cNvPr id="67" name="Graphique 66" descr="Point d’interrogation avec un remplissage uni">
              <a:extLst>
                <a:ext uri="{FF2B5EF4-FFF2-40B4-BE49-F238E27FC236}">
                  <a16:creationId xmlns:a16="http://schemas.microsoft.com/office/drawing/2014/main" id="{961B7F8A-4A83-657C-312C-5640C337CB90}"/>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4079042" y="4053262"/>
              <a:ext cx="196622" cy="196622"/>
            </a:xfrm>
            <a:prstGeom prst="rect">
              <a:avLst/>
            </a:prstGeom>
          </p:spPr>
        </p:pic>
        <p:pic>
          <p:nvPicPr>
            <p:cNvPr id="68" name="Graphique 67" descr="Point d’interrogation avec un remplissage uni">
              <a:extLst>
                <a:ext uri="{FF2B5EF4-FFF2-40B4-BE49-F238E27FC236}">
                  <a16:creationId xmlns:a16="http://schemas.microsoft.com/office/drawing/2014/main" id="{52F27432-6B20-CE48-A10E-7E9B7A4779ED}"/>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3509746" y="4055211"/>
              <a:ext cx="196622" cy="196622"/>
            </a:xfrm>
            <a:prstGeom prst="rect">
              <a:avLst/>
            </a:prstGeom>
          </p:spPr>
        </p:pic>
        <p:pic>
          <p:nvPicPr>
            <p:cNvPr id="69" name="Graphique 68" descr="Point d’interrogation avec un remplissage uni">
              <a:extLst>
                <a:ext uri="{FF2B5EF4-FFF2-40B4-BE49-F238E27FC236}">
                  <a16:creationId xmlns:a16="http://schemas.microsoft.com/office/drawing/2014/main" id="{D70CD377-73A4-3CA0-93B0-FD7D3F57429E}"/>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2913160" y="4047297"/>
              <a:ext cx="196622" cy="196622"/>
            </a:xfrm>
            <a:prstGeom prst="rect">
              <a:avLst/>
            </a:prstGeom>
          </p:spPr>
        </p:pic>
      </p:grpSp>
      <p:pic>
        <p:nvPicPr>
          <p:cNvPr id="112" name="Graphique 111" descr="Calendrier journalier avec un remplissage uni">
            <a:extLst>
              <a:ext uri="{FF2B5EF4-FFF2-40B4-BE49-F238E27FC236}">
                <a16:creationId xmlns:a16="http://schemas.microsoft.com/office/drawing/2014/main" id="{DA12A03A-635A-4B7B-3ED6-101062DFE12C}"/>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8252480" y="3017971"/>
            <a:ext cx="339561" cy="339561"/>
          </a:xfrm>
          <a:prstGeom prst="rect">
            <a:avLst/>
          </a:prstGeom>
        </p:spPr>
      </p:pic>
      <p:pic>
        <p:nvPicPr>
          <p:cNvPr id="113" name="Graphique 112" descr="Calendrier journalier avec un remplissage uni">
            <a:extLst>
              <a:ext uri="{FF2B5EF4-FFF2-40B4-BE49-F238E27FC236}">
                <a16:creationId xmlns:a16="http://schemas.microsoft.com/office/drawing/2014/main" id="{AE344FE9-5D95-C709-5E40-E6C3C5A79D66}"/>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9393278" y="3017971"/>
            <a:ext cx="339561" cy="339561"/>
          </a:xfrm>
          <a:prstGeom prst="rect">
            <a:avLst/>
          </a:prstGeom>
        </p:spPr>
      </p:pic>
      <p:pic>
        <p:nvPicPr>
          <p:cNvPr id="114" name="Graphique 113" descr="Calendrier journalier avec un remplissage uni">
            <a:extLst>
              <a:ext uri="{FF2B5EF4-FFF2-40B4-BE49-F238E27FC236}">
                <a16:creationId xmlns:a16="http://schemas.microsoft.com/office/drawing/2014/main" id="{544B6CA2-0722-AB40-D780-C4BB194DA979}"/>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10603644" y="3008468"/>
            <a:ext cx="339561" cy="339561"/>
          </a:xfrm>
          <a:prstGeom prst="rect">
            <a:avLst/>
          </a:prstGeom>
        </p:spPr>
      </p:pic>
      <p:grpSp>
        <p:nvGrpSpPr>
          <p:cNvPr id="18" name="Groupe 17">
            <a:extLst>
              <a:ext uri="{FF2B5EF4-FFF2-40B4-BE49-F238E27FC236}">
                <a16:creationId xmlns:a16="http://schemas.microsoft.com/office/drawing/2014/main" id="{BB46C9D4-D3C4-F883-8105-3E5DF23AD007}"/>
              </a:ext>
            </a:extLst>
          </p:cNvPr>
          <p:cNvGrpSpPr/>
          <p:nvPr/>
        </p:nvGrpSpPr>
        <p:grpSpPr>
          <a:xfrm>
            <a:off x="4949921" y="1618731"/>
            <a:ext cx="1536773" cy="1293097"/>
            <a:chOff x="3491884" y="1509204"/>
            <a:chExt cx="6056051" cy="5095783"/>
          </a:xfrm>
        </p:grpSpPr>
        <p:sp>
          <p:nvSpPr>
            <p:cNvPr id="9" name="Ellipse 8">
              <a:extLst>
                <a:ext uri="{FF2B5EF4-FFF2-40B4-BE49-F238E27FC236}">
                  <a16:creationId xmlns:a16="http://schemas.microsoft.com/office/drawing/2014/main" id="{2DFC1D67-C31E-E70B-DD9C-021F80700B45}"/>
                </a:ext>
              </a:extLst>
            </p:cNvPr>
            <p:cNvSpPr/>
            <p:nvPr/>
          </p:nvSpPr>
          <p:spPr>
            <a:xfrm>
              <a:off x="3491884" y="2938509"/>
              <a:ext cx="3666478" cy="3666478"/>
            </a:xfrm>
            <a:prstGeom prst="ellipse">
              <a:avLst/>
            </a:prstGeom>
            <a:solidFill>
              <a:srgbClr val="ED7D31">
                <a:alpha val="30196"/>
              </a:srgbClr>
            </a:solidFill>
            <a:ln w="571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CCED0D7B-A116-0340-E2D3-10F21DA01760}"/>
                </a:ext>
              </a:extLst>
            </p:cNvPr>
            <p:cNvSpPr/>
            <p:nvPr/>
          </p:nvSpPr>
          <p:spPr>
            <a:xfrm>
              <a:off x="4752513" y="1509204"/>
              <a:ext cx="3666478" cy="3666478"/>
            </a:xfrm>
            <a:prstGeom prst="ellipse">
              <a:avLst/>
            </a:prstGeom>
            <a:solidFill>
              <a:schemeClr val="accent1">
                <a:alpha val="30196"/>
              </a:schemeClr>
            </a:solidFill>
            <a:ln w="571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586F94B1-56F9-1B90-6B56-983C40BD4F92}"/>
                </a:ext>
              </a:extLst>
            </p:cNvPr>
            <p:cNvSpPr/>
            <p:nvPr/>
          </p:nvSpPr>
          <p:spPr>
            <a:xfrm>
              <a:off x="5881457" y="2938509"/>
              <a:ext cx="3666478" cy="3666478"/>
            </a:xfrm>
            <a:prstGeom prst="ellipse">
              <a:avLst/>
            </a:prstGeom>
            <a:solidFill>
              <a:schemeClr val="bg1">
                <a:lumMod val="65000"/>
                <a:alpha val="30196"/>
              </a:schemeClr>
            </a:solidFill>
            <a:ln w="57150">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308465180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40116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1980368"/>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Identifier des indicateurs possibles si on utilise le modèle CCC</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40116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1980368"/>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Carte des indicateurs possibles pour la Communauté</a:t>
            </a:r>
          </a:p>
          <a:p>
            <a:pPr marL="0" indent="0">
              <a:buFont typeface="Arial" panose="020B0604020202020204" pitchFamily="34" charset="0"/>
              <a:buNone/>
            </a:pPr>
            <a:r>
              <a:rPr lang="fr-FR" sz="1200" dirty="0"/>
              <a:t>Décision sur les indicateurs qui seront suivis par la Communauté</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40116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1980368"/>
            <a:ext cx="2832018" cy="1690823"/>
          </a:xfrm>
          <a:prstGeom prst="rect">
            <a:avLst/>
          </a:prstGeom>
          <a:solidFill>
            <a:schemeClr val="bg1">
              <a:lumMod val="95000"/>
            </a:schemeClr>
          </a:solidFill>
        </p:spPr>
        <p:txBody>
          <a:bodyPr vert="horz" lIns="91440" tIns="45720" rIns="91440" bIns="45720" rtlCol="0" anchor="t">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1-10 participants</a:t>
            </a:r>
          </a:p>
          <a:p>
            <a:pPr marL="0" indent="0">
              <a:buNone/>
            </a:pPr>
            <a:r>
              <a:rPr lang="fr-FR" sz="1200" dirty="0"/>
              <a:t>Profil des participants : Membres d’une même communauté, responsables des décisions et du pilotage des activités</a:t>
            </a:r>
          </a:p>
          <a:p>
            <a:pPr marL="0" indent="0">
              <a:buNone/>
            </a:pPr>
            <a:r>
              <a:rPr lang="fr-FR" sz="1200" dirty="0" err="1"/>
              <a:t>Pré-requis</a:t>
            </a:r>
            <a:r>
              <a:rPr lang="fr-FR" sz="1200" dirty="0"/>
              <a:t> :</a:t>
            </a:r>
          </a:p>
          <a:p>
            <a:pPr marL="0" indent="0">
              <a:buNone/>
            </a:pPr>
            <a:r>
              <a:rPr lang="fr-FR" sz="1200" dirty="0"/>
              <a:t>Avoir utilisé au moins un des ateliers CCC-Goals, Flow et Groups pour la communauté, être familiers avec le CCC model</a:t>
            </a:r>
          </a:p>
          <a:p>
            <a:pPr marL="0" indent="0">
              <a:buNone/>
            </a:pPr>
            <a:r>
              <a:rPr lang="fr-FR" sz="1200" dirty="0"/>
              <a:t>Les participants doivent avoir des bases en pilotage d’activités</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40116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1980368"/>
            <a:ext cx="2832018" cy="1690823"/>
          </a:xfrm>
          <a:prstGeom prst="rect">
            <a:avLst/>
          </a:prstGeom>
          <a:solidFill>
            <a:schemeClr val="bg1"/>
          </a:solidFill>
          <a:ln>
            <a:solidFill>
              <a:schemeClr val="tx1"/>
            </a:solidFill>
          </a:ln>
        </p:spPr>
        <p:txBody>
          <a:bodyPr vert="horz" lIns="91440" tIns="45720" rIns="91440" bIns="45720" rtlCol="0" anchor="t">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La Communauté d’entreprise XYZ est questionnée à la fois par ses membres et sa hiérarchie. Une pression sur les conséquences mesurable est accrue car les membres contribuent à la Communauté pendant leur temps de travail.</a:t>
            </a:r>
          </a:p>
          <a:p>
            <a:pPr marL="0" indent="0">
              <a:buNone/>
            </a:pPr>
            <a:r>
              <a:rPr lang="fr-FR" sz="1200" dirty="0"/>
              <a:t> A quoi sert-elle vraiment ? Que peut-on attendre comme résultats ? Que peut-on mesurer ? </a:t>
            </a:r>
          </a:p>
          <a:p>
            <a:pPr marL="0" indent="0">
              <a:buNone/>
            </a:pPr>
            <a:r>
              <a:rPr lang="fr-FR" sz="1200" dirty="0"/>
              <a:t>La Communauté XYZ décide alors d’utiliser l’atelier CCC-</a:t>
            </a:r>
            <a:r>
              <a:rPr lang="fr-FR" sz="1200" dirty="0" err="1"/>
              <a:t>Indicators</a:t>
            </a:r>
            <a:r>
              <a:rPr lang="fr-FR" sz="1200" dirty="0"/>
              <a:t> et le modèle CCC pour découvrir différentes possibilités de mesures, et trouver celles qui leur conviennent le mieux. </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383600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415213"/>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Indicateurs spécifiques liés au thème même de la communauté (par exemple, s’il s’agit d’une communauté cybersécurité, indicateurs liés à la cybersécurité)</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383600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415213"/>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Durée 30 à 45 minutes</a:t>
            </a:r>
          </a:p>
          <a:p>
            <a:pPr marL="0" indent="0">
              <a:buFont typeface="Arial" panose="020B0604020202020204" pitchFamily="34" charset="0"/>
              <a:buNone/>
            </a:pPr>
            <a:r>
              <a:rPr lang="fr-FR" sz="1200" dirty="0"/>
              <a:t>Matériel nécessaire : mur virtuel, matériel de présentation</a:t>
            </a:r>
          </a:p>
          <a:p>
            <a:pPr marL="0" indent="0">
              <a:buFont typeface="Arial" panose="020B0604020202020204" pitchFamily="34" charset="0"/>
              <a:buNone/>
            </a:pPr>
            <a:r>
              <a:rPr lang="fr-FR" sz="1200" dirty="0"/>
              <a:t>Salles</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383600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41521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Modélisation de la valeur de la Communauté pour les membres et de la valeur pour l’entreprise</a:t>
            </a:r>
          </a:p>
          <a:p>
            <a:pPr marL="0" indent="0">
              <a:buNone/>
            </a:pPr>
            <a:r>
              <a:rPr lang="fr-FR" sz="1200" dirty="0"/>
              <a:t>Collecte des attentes des membres</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3836007"/>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415213"/>
            <a:ext cx="2832018" cy="1690823"/>
          </a:xfrm>
          <a:prstGeom prst="rect">
            <a:avLst/>
          </a:prstGeom>
          <a:solidFill>
            <a:schemeClr val="bg1"/>
          </a:solidFill>
          <a:ln>
            <a:solidFill>
              <a:schemeClr val="tx1"/>
            </a:solidFill>
          </a:ln>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Avec la variété des types de communauté, la complexité des activités possible, mesurer un impact est souvent une difficulté.</a:t>
            </a:r>
          </a:p>
          <a:p>
            <a:pPr marL="0" indent="0">
              <a:buNone/>
            </a:pPr>
            <a:r>
              <a:rPr lang="fr-FR" sz="1200" dirty="0"/>
              <a:t>Le modèle CCC propose une manière simple, utilisable sur de nombreux types de communauté, de suivi des activités et impacts.</a:t>
            </a:r>
          </a:p>
          <a:p>
            <a:pPr marL="0" indent="0">
              <a:buNone/>
            </a:pPr>
            <a:r>
              <a:rPr lang="fr-FR" sz="1200" dirty="0"/>
              <a:t>L’atelier CCC-</a:t>
            </a:r>
            <a:r>
              <a:rPr lang="fr-FR" sz="1200" dirty="0" err="1"/>
              <a:t>Indicators</a:t>
            </a:r>
            <a:r>
              <a:rPr lang="fr-FR" sz="1200" dirty="0"/>
              <a:t> consiste à découvrir, imaginer, sélectionner des indicateurs pertinents pour la Communauté.</a:t>
            </a:r>
          </a:p>
        </p:txBody>
      </p:sp>
      <p:sp>
        <p:nvSpPr>
          <p:cNvPr id="39" name="ZoneTexte 38">
            <a:extLst>
              <a:ext uri="{FF2B5EF4-FFF2-40B4-BE49-F238E27FC236}">
                <a16:creationId xmlns:a16="http://schemas.microsoft.com/office/drawing/2014/main" id="{EA9CEF71-4F80-8D8B-8C7E-77B195056A45}"/>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dirty="0"/>
              <a:t>Atelier CCC-</a:t>
            </a:r>
            <a:r>
              <a:rPr lang="fr-FR" sz="3200" b="1" i="1" dirty="0" err="1"/>
              <a:t>Indicators</a:t>
            </a:r>
            <a:r>
              <a:rPr lang="fr-FR" sz="3200" b="1" i="1" dirty="0"/>
              <a:t> – </a:t>
            </a:r>
            <a:r>
              <a:rPr lang="fr-FR" sz="3200" b="1" i="1" dirty="0">
                <a:solidFill>
                  <a:srgbClr val="ED7D31"/>
                </a:solidFill>
              </a:rPr>
              <a:t>Organisation</a:t>
            </a:r>
          </a:p>
        </p:txBody>
      </p:sp>
      <p:sp>
        <p:nvSpPr>
          <p:cNvPr id="47" name="ZoneTexte 46">
            <a:extLst>
              <a:ext uri="{FF2B5EF4-FFF2-40B4-BE49-F238E27FC236}">
                <a16:creationId xmlns:a16="http://schemas.microsoft.com/office/drawing/2014/main" id="{77368814-ECA2-E686-2EF2-F93AA01FAB48}"/>
              </a:ext>
            </a:extLst>
          </p:cNvPr>
          <p:cNvSpPr txBox="1"/>
          <p:nvPr/>
        </p:nvSpPr>
        <p:spPr>
          <a:xfrm>
            <a:off x="334775" y="6335957"/>
            <a:ext cx="11602365" cy="369332"/>
          </a:xfrm>
          <a:prstGeom prst="rect">
            <a:avLst/>
          </a:prstGeom>
          <a:noFill/>
        </p:spPr>
        <p:txBody>
          <a:bodyPr wrap="square">
            <a:spAutoFit/>
          </a:bodyPr>
          <a:lstStyle/>
          <a:p>
            <a:pPr algn="ctr"/>
            <a:r>
              <a:rPr lang="fr-FR" sz="1800" b="1" i="1">
                <a:ea typeface="+mn-lt"/>
                <a:cs typeface="+mn-lt"/>
              </a:rPr>
              <a:t>Pour vérifier que cela correspond bien à nos besoins et capacités, et pouvoir organiser facilement la session</a:t>
            </a:r>
            <a:endParaRPr lang="fr-FR" sz="1800">
              <a:ea typeface="Calibri"/>
              <a:cs typeface="Calibri"/>
            </a:endParaRPr>
          </a:p>
        </p:txBody>
      </p:sp>
    </p:spTree>
    <p:extLst>
      <p:ext uri="{BB962C8B-B14F-4D97-AF65-F5344CB8AC3E}">
        <p14:creationId xmlns:p14="http://schemas.microsoft.com/office/powerpoint/2010/main" val="170654159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BD3A6710-B074-F715-3AF8-A48FD0326BB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dirty="0"/>
              <a:t>Atelier CCC-</a:t>
            </a:r>
            <a:r>
              <a:rPr lang="fr-FR" sz="3200" b="1" i="1" dirty="0" err="1"/>
              <a:t>Indicators</a:t>
            </a:r>
            <a:r>
              <a:rPr lang="fr-FR" sz="3200" b="1" i="1" dirty="0"/>
              <a:t> – </a:t>
            </a:r>
            <a:r>
              <a:rPr lang="fr-FR" sz="3200" b="1" i="1" dirty="0">
                <a:solidFill>
                  <a:srgbClr val="ED7D31"/>
                </a:solidFill>
              </a:rPr>
              <a:t>Déroulement</a:t>
            </a:r>
            <a:endParaRPr lang="fr-FR" sz="3200" dirty="0"/>
          </a:p>
        </p:txBody>
      </p:sp>
      <p:sp>
        <p:nvSpPr>
          <p:cNvPr id="18" name="Flèche : droite 17">
            <a:extLst>
              <a:ext uri="{FF2B5EF4-FFF2-40B4-BE49-F238E27FC236}">
                <a16:creationId xmlns:a16="http://schemas.microsoft.com/office/drawing/2014/main" id="{D44EE3DA-1807-730E-822E-CC4D953A711D}"/>
              </a:ext>
            </a:extLst>
          </p:cNvPr>
          <p:cNvSpPr/>
          <p:nvPr/>
        </p:nvSpPr>
        <p:spPr>
          <a:xfrm>
            <a:off x="220602" y="602142"/>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9" name="Tableau 18">
            <a:extLst>
              <a:ext uri="{FF2B5EF4-FFF2-40B4-BE49-F238E27FC236}">
                <a16:creationId xmlns:a16="http://schemas.microsoft.com/office/drawing/2014/main" id="{4B51B29F-E6C8-6BE3-5D56-1F7C7EC71947}"/>
              </a:ext>
            </a:extLst>
          </p:cNvPr>
          <p:cNvGraphicFramePr>
            <a:graphicFrameLocks/>
          </p:cNvGraphicFramePr>
          <p:nvPr>
            <p:extLst>
              <p:ext uri="{D42A27DB-BD31-4B8C-83A1-F6EECF244321}">
                <p14:modId xmlns:p14="http://schemas.microsoft.com/office/powerpoint/2010/main" val="3957222097"/>
              </p:ext>
            </p:extLst>
          </p:nvPr>
        </p:nvGraphicFramePr>
        <p:xfrm>
          <a:off x="220600" y="1143894"/>
          <a:ext cx="10421855" cy="4466331"/>
        </p:xfrm>
        <a:graphic>
          <a:graphicData uri="http://schemas.openxmlformats.org/drawingml/2006/table">
            <a:tbl>
              <a:tblPr firstRow="1" bandRow="1">
                <a:tableStyleId>{5C22544A-7EE6-4342-B048-85BDC9FD1C3A}</a:tableStyleId>
              </a:tblPr>
              <a:tblGrid>
                <a:gridCol w="2549233">
                  <a:extLst>
                    <a:ext uri="{9D8B030D-6E8A-4147-A177-3AD203B41FA5}">
                      <a16:colId xmlns:a16="http://schemas.microsoft.com/office/drawing/2014/main" val="1302591909"/>
                    </a:ext>
                  </a:extLst>
                </a:gridCol>
                <a:gridCol w="5600881">
                  <a:extLst>
                    <a:ext uri="{9D8B030D-6E8A-4147-A177-3AD203B41FA5}">
                      <a16:colId xmlns:a16="http://schemas.microsoft.com/office/drawing/2014/main" val="1572267126"/>
                    </a:ext>
                  </a:extLst>
                </a:gridCol>
                <a:gridCol w="2271741">
                  <a:extLst>
                    <a:ext uri="{9D8B030D-6E8A-4147-A177-3AD203B41FA5}">
                      <a16:colId xmlns:a16="http://schemas.microsoft.com/office/drawing/2014/main" val="4222483745"/>
                    </a:ext>
                  </a:extLst>
                </a:gridCol>
              </a:tblGrid>
              <a:tr h="828942">
                <a:tc>
                  <a:txBody>
                    <a:bodyPr/>
                    <a:lstStyle/>
                    <a:p>
                      <a:r>
                        <a:rPr lang="fr-FR" sz="1400" dirty="0"/>
                        <a:t>Ouverture : </a:t>
                      </a:r>
                    </a:p>
                    <a:p>
                      <a:r>
                        <a:rPr lang="fr-FR" sz="1400" dirty="0"/>
                        <a:t>Accueil, Intro, Icebreaker…</a:t>
                      </a:r>
                    </a:p>
                    <a:p>
                      <a:r>
                        <a:rPr lang="fr-FR" sz="1400" dirty="0"/>
                        <a:t>5 minutes</a:t>
                      </a:r>
                    </a:p>
                  </a:txBody>
                  <a:tcPr/>
                </a:tc>
                <a:tc>
                  <a:txBody>
                    <a:bodyPr/>
                    <a:lstStyle/>
                    <a:p>
                      <a:pPr algn="ctr"/>
                      <a:r>
                        <a:rPr lang="fr-FR" sz="1400" dirty="0"/>
                        <a:t>Déroulement</a:t>
                      </a:r>
                    </a:p>
                    <a:p>
                      <a:pPr algn="ctr"/>
                      <a:r>
                        <a:rPr lang="fr-FR" sz="1400" dirty="0"/>
                        <a:t>Règles du jeu, Narratif</a:t>
                      </a:r>
                    </a:p>
                    <a:p>
                      <a:pPr algn="ctr"/>
                      <a:r>
                        <a:rPr lang="fr-FR" sz="1400" dirty="0"/>
                        <a:t>35 min</a:t>
                      </a:r>
                    </a:p>
                  </a:txBody>
                  <a:tcPr/>
                </a:tc>
                <a:tc>
                  <a:txBody>
                    <a:bodyPr/>
                    <a:lstStyle/>
                    <a:p>
                      <a:r>
                        <a:rPr lang="fr-FR" sz="1400" dirty="0"/>
                        <a:t>Clôture :</a:t>
                      </a:r>
                    </a:p>
                    <a:p>
                      <a:r>
                        <a:rPr lang="fr-FR" sz="1400" dirty="0"/>
                        <a:t>Debriefing, Remerciements…</a:t>
                      </a:r>
                    </a:p>
                    <a:p>
                      <a:r>
                        <a:rPr lang="fr-FR" sz="1400" dirty="0"/>
                        <a:t>5 min</a:t>
                      </a:r>
                    </a:p>
                  </a:txBody>
                  <a:tcPr/>
                </a:tc>
                <a:extLst>
                  <a:ext uri="{0D108BD9-81ED-4DB2-BD59-A6C34878D82A}">
                    <a16:rowId xmlns:a16="http://schemas.microsoft.com/office/drawing/2014/main" val="1724558119"/>
                  </a:ext>
                </a:extLst>
              </a:tr>
              <a:tr h="3521451">
                <a:tc>
                  <a:txBody>
                    <a:bodyPr/>
                    <a:lstStyle/>
                    <a:p>
                      <a:pPr marL="285750" indent="-285750">
                        <a:buFont typeface="Arial" panose="020B0604020202020204" pitchFamily="34" charset="0"/>
                        <a:buChar char="•"/>
                      </a:pPr>
                      <a:r>
                        <a:rPr lang="fr-FR" sz="1400" dirty="0"/>
                        <a:t>Rappeler le contexte qui fait qu’on demande des indicateurs ou qu’on a envie d’en établir</a:t>
                      </a:r>
                    </a:p>
                    <a:p>
                      <a:pPr marL="285750" indent="-285750">
                        <a:buFont typeface="Arial" panose="020B0604020202020204" pitchFamily="34" charset="0"/>
                        <a:buChar char="•"/>
                      </a:pPr>
                      <a:endParaRPr lang="fr-FR" sz="1400" dirty="0"/>
                    </a:p>
                    <a:p>
                      <a:pPr marL="285750" indent="-285750">
                        <a:buFont typeface="Arial" panose="020B0604020202020204" pitchFamily="34" charset="0"/>
                        <a:buChar char="•"/>
                      </a:pPr>
                      <a:r>
                        <a:rPr lang="fr-FR" sz="1400" dirty="0"/>
                        <a:t>Présenter l’intention de l’atelier</a:t>
                      </a:r>
                    </a:p>
                    <a:p>
                      <a:pPr marL="285750" indent="-285750">
                        <a:buFont typeface="Arial" panose="020B0604020202020204" pitchFamily="34" charset="0"/>
                        <a:buChar char="•"/>
                      </a:pPr>
                      <a:endParaRPr lang="fr-FR" sz="1400" dirty="0"/>
                    </a:p>
                    <a:p>
                      <a:pPr marL="0" indent="0">
                        <a:buFont typeface="Arial" panose="020B0604020202020204" pitchFamily="34" charset="0"/>
                        <a:buNone/>
                      </a:pPr>
                      <a:endParaRPr lang="fr-FR" sz="1400" dirty="0"/>
                    </a:p>
                  </a:txBody>
                  <a:tcPr/>
                </a:tc>
                <a:tc>
                  <a:txBody>
                    <a:bodyPr/>
                    <a:lstStyle/>
                    <a:p>
                      <a:pPr marL="342900" indent="-342900">
                        <a:buFont typeface="+mj-lt"/>
                        <a:buAutoNum type="arabicPeriod"/>
                      </a:pPr>
                      <a:r>
                        <a:rPr lang="fr-FR" sz="1400" b="1" dirty="0"/>
                        <a:t>15 minutes : </a:t>
                      </a:r>
                      <a:r>
                        <a:rPr lang="fr-FR" sz="1400" dirty="0"/>
                        <a:t>Faire une présentation rapide des différents indicateurs CCC (sans entrer dans les détails)</a:t>
                      </a:r>
                    </a:p>
                    <a:p>
                      <a:pPr marL="342900" indent="-342900">
                        <a:buFont typeface="+mj-lt"/>
                        <a:buAutoNum type="arabicPeriod"/>
                      </a:pPr>
                      <a:endParaRPr lang="fr-FR" sz="1400" dirty="0"/>
                    </a:p>
                    <a:p>
                      <a:pPr marL="342900" indent="-342900">
                        <a:buFont typeface="+mj-lt"/>
                        <a:buAutoNum type="arabicPeriod"/>
                      </a:pPr>
                      <a:r>
                        <a:rPr lang="fr-FR" sz="1400" b="1" dirty="0"/>
                        <a:t>5 minutes </a:t>
                      </a:r>
                      <a:r>
                        <a:rPr lang="fr-FR" sz="1400" dirty="0"/>
                        <a:t>Faire le point sur les indicateurs qui pourraient être intéressants pour la Communauté</a:t>
                      </a:r>
                    </a:p>
                    <a:p>
                      <a:pPr marL="342900" indent="-342900">
                        <a:buFont typeface="+mj-lt"/>
                        <a:buAutoNum type="arabicPeriod"/>
                      </a:pPr>
                      <a:endParaRPr lang="fr-FR" sz="1400" dirty="0"/>
                    </a:p>
                    <a:p>
                      <a:pPr marL="342900" indent="-342900">
                        <a:buFont typeface="+mj-lt"/>
                        <a:buAutoNum type="arabicPeriod"/>
                      </a:pPr>
                      <a:r>
                        <a:rPr lang="fr-FR" sz="1400" b="1" dirty="0"/>
                        <a:t>10 minutes </a:t>
                      </a:r>
                      <a:r>
                        <a:rPr lang="fr-FR" sz="1400" dirty="0"/>
                        <a:t>Ranger les indicateurs dans l’</a:t>
                      </a:r>
                      <a:r>
                        <a:rPr lang="fr-FR" sz="1400" dirty="0" err="1"/>
                        <a:t>Indicators</a:t>
                      </a:r>
                      <a:r>
                        <a:rPr lang="fr-FR" sz="1400" dirty="0"/>
                        <a:t> </a:t>
                      </a:r>
                      <a:r>
                        <a:rPr lang="fr-FR" sz="1400" dirty="0" err="1"/>
                        <a:t>Map</a:t>
                      </a:r>
                      <a:r>
                        <a:rPr lang="fr-FR" sz="1400" dirty="0"/>
                        <a:t>, pour sélectionner les indicateurs vraiment utilisables</a:t>
                      </a:r>
                    </a:p>
                    <a:p>
                      <a:pPr marL="342900" indent="-342900">
                        <a:buFont typeface="+mj-lt"/>
                        <a:buAutoNum type="arabicPeriod"/>
                      </a:pPr>
                      <a:endParaRPr lang="fr-FR" sz="1400" dirty="0"/>
                    </a:p>
                    <a:p>
                      <a:pPr marL="342900" indent="-342900">
                        <a:buFont typeface="+mj-lt"/>
                        <a:buAutoNum type="arabicPeriod"/>
                      </a:pPr>
                      <a:r>
                        <a:rPr lang="fr-FR" sz="1400" b="1" dirty="0"/>
                        <a:t>5 minutes </a:t>
                      </a:r>
                      <a:r>
                        <a:rPr lang="fr-FR" sz="1400" dirty="0"/>
                        <a:t>Prendre les engagements</a:t>
                      </a:r>
                    </a:p>
                  </a:txBody>
                  <a:tcPr/>
                </a:tc>
                <a:tc>
                  <a:txBody>
                    <a:bodyPr/>
                    <a:lstStyle/>
                    <a:p>
                      <a:pPr marL="0" marR="0" lvl="0" indent="0" algn="l">
                        <a:lnSpc>
                          <a:spcPct val="100000"/>
                        </a:lnSpc>
                        <a:spcBef>
                          <a:spcPts val="0"/>
                        </a:spcBef>
                        <a:spcAft>
                          <a:spcPts val="0"/>
                        </a:spcAft>
                        <a:buClrTx/>
                        <a:buSzTx/>
                        <a:buFontTx/>
                        <a:buNone/>
                      </a:pPr>
                      <a:r>
                        <a:rPr lang="fr-FR" sz="1400" dirty="0"/>
                        <a:t>Faire le point sur « à qui envoyer le CR » et comment communiquer les résultats de la session</a:t>
                      </a:r>
                    </a:p>
                    <a:p>
                      <a:pPr marL="0" marR="0" lvl="0" indent="0" algn="l">
                        <a:lnSpc>
                          <a:spcPct val="100000"/>
                        </a:lnSpc>
                        <a:spcBef>
                          <a:spcPts val="0"/>
                        </a:spcBef>
                        <a:spcAft>
                          <a:spcPts val="0"/>
                        </a:spcAft>
                        <a:buClrTx/>
                        <a:buSzTx/>
                        <a:buFontTx/>
                        <a:buNone/>
                      </a:pPr>
                      <a:endParaRPr lang="fr-FR" sz="1400" dirty="0"/>
                    </a:p>
                    <a:p>
                      <a:pPr marL="0" marR="0" lvl="0" indent="0" algn="l">
                        <a:lnSpc>
                          <a:spcPct val="100000"/>
                        </a:lnSpc>
                        <a:spcBef>
                          <a:spcPts val="0"/>
                        </a:spcBef>
                        <a:spcAft>
                          <a:spcPts val="0"/>
                        </a:spcAft>
                        <a:buClrTx/>
                        <a:buSzTx/>
                        <a:buFontTx/>
                        <a:buNone/>
                      </a:pPr>
                      <a:r>
                        <a:rPr lang="fr-FR" sz="1400" dirty="0"/>
                        <a:t>Poser la question sur le niveau de satisfaction sur la session</a:t>
                      </a:r>
                    </a:p>
                  </a:txBody>
                  <a:tcPr/>
                </a:tc>
                <a:extLst>
                  <a:ext uri="{0D108BD9-81ED-4DB2-BD59-A6C34878D82A}">
                    <a16:rowId xmlns:a16="http://schemas.microsoft.com/office/drawing/2014/main" val="215570386"/>
                  </a:ext>
                </a:extLst>
              </a:tr>
            </a:tbl>
          </a:graphicData>
        </a:graphic>
      </p:graphicFrame>
      <p:sp>
        <p:nvSpPr>
          <p:cNvPr id="20" name="Espace réservé du contenu 2">
            <a:extLst>
              <a:ext uri="{FF2B5EF4-FFF2-40B4-BE49-F238E27FC236}">
                <a16:creationId xmlns:a16="http://schemas.microsoft.com/office/drawing/2014/main" id="{6C52C370-F85E-3D60-6E05-967F9E36C738}"/>
              </a:ext>
            </a:extLst>
          </p:cNvPr>
          <p:cNvSpPr txBox="1">
            <a:spLocks/>
          </p:cNvSpPr>
          <p:nvPr/>
        </p:nvSpPr>
        <p:spPr>
          <a:xfrm>
            <a:off x="10642455" y="2967094"/>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dirty="0">
                <a:solidFill>
                  <a:srgbClr val="000000"/>
                </a:solidFill>
                <a:cs typeface="Calibri"/>
              </a:rPr>
              <a:t>Total :</a:t>
            </a:r>
          </a:p>
          <a:p>
            <a:pPr marL="0" indent="0" algn="ctr">
              <a:buNone/>
            </a:pPr>
            <a:r>
              <a:rPr lang="fr-FR" sz="2000" b="1" dirty="0">
                <a:solidFill>
                  <a:srgbClr val="000000"/>
                </a:solidFill>
                <a:cs typeface="Calibri"/>
              </a:rPr>
              <a:t>45 min </a:t>
            </a:r>
          </a:p>
        </p:txBody>
      </p:sp>
    </p:spTree>
    <p:extLst>
      <p:ext uri="{BB962C8B-B14F-4D97-AF65-F5344CB8AC3E}">
        <p14:creationId xmlns:p14="http://schemas.microsoft.com/office/powerpoint/2010/main" val="177833276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1511743"/>
            <a:ext cx="2404138" cy="3520758"/>
          </a:xfrm>
        </p:spPr>
        <p:txBody>
          <a:bodyPr vert="horz" lIns="91440" tIns="45720" rIns="91440" bIns="45720" rtlCol="0" anchor="t">
            <a:noAutofit/>
          </a:bodyPr>
          <a:lstStyle/>
          <a:p>
            <a:r>
              <a:rPr lang="fr-FR" sz="1100" dirty="0"/>
              <a:t>L’usage de CCC-</a:t>
            </a:r>
            <a:r>
              <a:rPr lang="fr-FR" sz="1100" dirty="0" err="1"/>
              <a:t>Indicators</a:t>
            </a:r>
            <a:r>
              <a:rPr lang="fr-FR" sz="1100" dirty="0"/>
              <a:t> implique une connaissance plus avancée des indicateurs que la moyenne des participants. </a:t>
            </a:r>
          </a:p>
          <a:p>
            <a:r>
              <a:rPr lang="fr-FR" sz="1100" dirty="0"/>
              <a:t>Ce n’est pas donc la posture du facilitateur qui prime que celle de l’expert facilitateur, qui est capable de présenter des informations extérieures complexes de manière </a:t>
            </a:r>
            <a:r>
              <a:rPr lang="fr-FR" sz="1100" dirty="0" err="1"/>
              <a:t>pédaogique</a:t>
            </a:r>
            <a:r>
              <a:rPr lang="fr-FR" sz="1100" dirty="0"/>
              <a:t>, sans non plus imposer son avis.</a:t>
            </a: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999627"/>
            <a:ext cx="2412076" cy="503237"/>
          </a:xfrm>
        </p:spPr>
        <p:txBody>
          <a:bodyPr>
            <a:normAutofit/>
          </a:bodyPr>
          <a:lstStyle/>
          <a:p>
            <a:r>
              <a:rPr lang="fr-FR" sz="140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1511425"/>
            <a:ext cx="5247090" cy="3520758"/>
          </a:xfrm>
        </p:spPr>
        <p:txBody>
          <a:bodyPr vert="horz" lIns="91440" tIns="45720" rIns="91440" bIns="45720" rtlCol="0" anchor="t">
            <a:noAutofit/>
          </a:bodyPr>
          <a:lstStyle/>
          <a:p>
            <a:pPr marL="285750" indent="-285750">
              <a:buFont typeface="Arial" panose="020B0604020202020204" pitchFamily="34" charset="0"/>
              <a:buChar char="•"/>
            </a:pPr>
            <a:r>
              <a:rPr lang="fr-FR" sz="1400" b="1" dirty="0">
                <a:cs typeface="Calibri"/>
              </a:rPr>
              <a:t>Préparation : </a:t>
            </a:r>
            <a:r>
              <a:rPr lang="fr-FR" sz="1400" dirty="0">
                <a:cs typeface="Calibri"/>
              </a:rPr>
              <a:t>Il est important de bien prendre le temps de connaître les indicateurs exemples AVANT la session, même s’il n’est pas nécessaire de tous les présenter en détail</a:t>
            </a:r>
          </a:p>
          <a:p>
            <a:pPr marL="285750" indent="-285750">
              <a:buFont typeface="Arial" panose="020B0604020202020204" pitchFamily="34" charset="0"/>
              <a:buChar char="•"/>
            </a:pPr>
            <a:r>
              <a:rPr lang="fr-FR" sz="1400" dirty="0">
                <a:cs typeface="Calibri"/>
              </a:rPr>
              <a:t>Le contenu des indicateurs peut sembler très « technique » à certaines personnes (particulièrement avec le visuel des signes et des symboles). S’en tenir dans ce cas là à ce que dit le personnage en haut à droite, et entrer dans les détails si besoin</a:t>
            </a:r>
          </a:p>
          <a:p>
            <a:pPr marL="285750" indent="-285750">
              <a:buFont typeface="Arial" panose="020B0604020202020204" pitchFamily="34" charset="0"/>
              <a:buChar char="•"/>
            </a:pPr>
            <a:r>
              <a:rPr lang="fr-FR" sz="1400" dirty="0">
                <a:cs typeface="Calibri"/>
              </a:rPr>
              <a:t>L’</a:t>
            </a:r>
            <a:r>
              <a:rPr lang="fr-FR" sz="1400" dirty="0" err="1">
                <a:cs typeface="Calibri"/>
              </a:rPr>
              <a:t>Indicators</a:t>
            </a:r>
            <a:r>
              <a:rPr lang="fr-FR" sz="1400" dirty="0">
                <a:cs typeface="Calibri"/>
              </a:rPr>
              <a:t> </a:t>
            </a:r>
            <a:r>
              <a:rPr lang="fr-FR" sz="1400" dirty="0" err="1">
                <a:cs typeface="Calibri"/>
              </a:rPr>
              <a:t>Map</a:t>
            </a:r>
            <a:r>
              <a:rPr lang="fr-FR" sz="1400" dirty="0">
                <a:cs typeface="Calibri"/>
              </a:rPr>
              <a:t> est un outil qui remet du réalisme opérationnel dans le choix des indicateurs, particulièrement pour éviter des dérives fortes comme « les indicateurs pour meubler » (dérive la plus courante, qui consiste à trouver des indicateurs à communiquer pour très vite remplir un rapport obligatoire). Cette sincérité dans la façon de présenter les choses peut choquer certains.</a:t>
            </a: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999309"/>
            <a:ext cx="5255029" cy="503237"/>
          </a:xfrm>
        </p:spPr>
        <p:txBody>
          <a:bodyPr>
            <a:normAutofit/>
          </a:bodyPr>
          <a:lstStyle/>
          <a:p>
            <a:r>
              <a:rPr lang="fr-FR" sz="140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1511425"/>
            <a:ext cx="2404138" cy="3520758"/>
          </a:xfrm>
        </p:spPr>
        <p:txBody>
          <a:bodyPr/>
          <a:lstStyle/>
          <a:p>
            <a:r>
              <a:rPr lang="fr-FR" sz="1400" dirty="0"/>
              <a:t>Pas de debriefing particulier pour cet atelier</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999309"/>
            <a:ext cx="2412076" cy="503237"/>
          </a:xfrm>
        </p:spPr>
        <p:txBody>
          <a:bodyPr>
            <a:normAutofit/>
          </a:bodyPr>
          <a:lstStyle/>
          <a:p>
            <a:r>
              <a:rPr lang="fr-FR" sz="1400"/>
              <a:t>🙋Debriefing</a:t>
            </a:r>
          </a:p>
        </p:txBody>
      </p:sp>
      <p:sp>
        <p:nvSpPr>
          <p:cNvPr id="10" name="ZoneTexte 9">
            <a:extLst>
              <a:ext uri="{FF2B5EF4-FFF2-40B4-BE49-F238E27FC236}">
                <a16:creationId xmlns:a16="http://schemas.microsoft.com/office/drawing/2014/main" id="{3A02B26F-36AA-FA5A-2C61-49B90AA09934}"/>
              </a:ext>
            </a:extLst>
          </p:cNvPr>
          <p:cNvSpPr txBox="1"/>
          <p:nvPr/>
        </p:nvSpPr>
        <p:spPr>
          <a:xfrm>
            <a:off x="0" y="249331"/>
            <a:ext cx="12192000" cy="584775"/>
          </a:xfrm>
          <a:prstGeom prst="rect">
            <a:avLst/>
          </a:prstGeom>
          <a:noFill/>
        </p:spPr>
        <p:txBody>
          <a:bodyPr wrap="square" lIns="91440" tIns="45720" rIns="91440" bIns="45720" rtlCol="0" anchor="t">
            <a:spAutoFit/>
          </a:bodyPr>
          <a:lstStyle/>
          <a:p>
            <a:pPr marL="0" indent="0" algn="ctr">
              <a:buNone/>
            </a:pPr>
            <a:r>
              <a:rPr lang="fr-FR" sz="3200" b="1" i="1" dirty="0"/>
              <a:t>Atelier CCC-</a:t>
            </a:r>
            <a:r>
              <a:rPr lang="fr-FR" sz="3200" b="1" i="1" dirty="0" err="1"/>
              <a:t>Indicators</a:t>
            </a:r>
            <a:r>
              <a:rPr lang="fr-FR" sz="3200" b="1" i="1" dirty="0"/>
              <a:t> – </a:t>
            </a:r>
            <a:r>
              <a:rPr lang="fr-FR" sz="3200" b="1" i="1" dirty="0">
                <a:solidFill>
                  <a:srgbClr val="ED7D31"/>
                </a:solidFill>
              </a:rPr>
              <a:t>Animation</a:t>
            </a:r>
            <a:endParaRPr lang="fr-FR" sz="3200" dirty="0"/>
          </a:p>
        </p:txBody>
      </p:sp>
    </p:spTree>
    <p:extLst>
      <p:ext uri="{BB962C8B-B14F-4D97-AF65-F5344CB8AC3E}">
        <p14:creationId xmlns:p14="http://schemas.microsoft.com/office/powerpoint/2010/main" val="34428933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p:txBody>
          <a:bodyPr/>
          <a:lstStyle/>
          <a:p>
            <a:r>
              <a:rPr lang="fr-FR" dirty="0"/>
              <a:t>CCC-</a:t>
            </a:r>
            <a:r>
              <a:rPr lang="fr-FR" dirty="0" err="1"/>
              <a:t>Indicators</a:t>
            </a:r>
            <a:r>
              <a:rPr lang="fr-FR" dirty="0"/>
              <a:t> : précautions d’usage</a:t>
            </a:r>
          </a:p>
        </p:txBody>
      </p:sp>
      <p:sp>
        <p:nvSpPr>
          <p:cNvPr id="3" name="Espace réservé du contenu 2">
            <a:extLst>
              <a:ext uri="{FF2B5EF4-FFF2-40B4-BE49-F238E27FC236}">
                <a16:creationId xmlns:a16="http://schemas.microsoft.com/office/drawing/2014/main" id="{FF9FE05F-BDF8-4C45-2E13-B24D90D4216F}"/>
              </a:ext>
            </a:extLst>
          </p:cNvPr>
          <p:cNvSpPr>
            <a:spLocks noGrp="1"/>
          </p:cNvSpPr>
          <p:nvPr>
            <p:ph idx="1"/>
          </p:nvPr>
        </p:nvSpPr>
        <p:spPr>
          <a:xfrm>
            <a:off x="3661299" y="1870014"/>
            <a:ext cx="8159226" cy="4351338"/>
          </a:xfrm>
        </p:spPr>
        <p:txBody>
          <a:bodyPr>
            <a:noAutofit/>
          </a:bodyPr>
          <a:lstStyle/>
          <a:p>
            <a:r>
              <a:rPr lang="fr-FR" sz="1400" dirty="0"/>
              <a:t>Les indicateurs sont des informations partielles, qui ne représenteront jamais toute la complexité d’une situation réelle. Ils se concentrent plutôt sur UN aspect particulier des situations que vous vivez. </a:t>
            </a:r>
          </a:p>
          <a:p>
            <a:r>
              <a:rPr lang="fr-FR" sz="1400" dirty="0"/>
              <a:t>Les indicateurs reposent sur une qualité des informations établies à travers les divers ateliers CCC. Sans ces informations de qualité, les indicateurs seront peu représentatifs, et donc peu utiles. </a:t>
            </a:r>
          </a:p>
          <a:p>
            <a:r>
              <a:rPr lang="fr-FR" sz="1400" dirty="0"/>
              <a:t>Il peut arriver que la collecte d’une information de qualité soit si fastidieuse que la mise en œuvre d’un indicateur perd de son intérêt pratique.</a:t>
            </a:r>
          </a:p>
          <a:p>
            <a:r>
              <a:rPr lang="fr-FR" sz="1400" dirty="0"/>
              <a:t>Mettre en place un indicateur « pour la joie d’avoir un indicateur » est une pratique qui peut créer beaucoup de travail pour très peu d’effets. C’est pour cela qu’à chaque indicateur nous indiquons des recommandations opérationnelles (actions ou décisions à prendre). Au-delà de nos recommandations, nous souhaitons que ce travail d’indicateurs vous soit UTILE et mène à des améliorations EFFECTIVES.</a:t>
            </a:r>
          </a:p>
          <a:p>
            <a:r>
              <a:rPr lang="fr-FR" sz="1400" dirty="0"/>
              <a:t>Il peut être intéressant de suivre un indicateur sur une période de temps, puis en suivre un autre qui étudie un autre aspect complémentaire sur la période suivante, etc.</a:t>
            </a:r>
          </a:p>
          <a:p>
            <a:r>
              <a:rPr lang="fr-FR" sz="1400" dirty="0"/>
              <a:t>Les indicateurs sont posés ici avec des formules détaillées au cas où vous souhaitez effectuer une mesure quantitative exacte. Cependant, si la mesure est difficile, vous pouvez simplement aborder un indicateur comme « un aspect particulier à regarder ou sur lequel s’exprimer ».  L’important est que ces informations aident votre Communauté à être effective, pas de se conformer exactement à un processus de mesure.</a:t>
            </a:r>
          </a:p>
          <a:p>
            <a:r>
              <a:rPr lang="fr-FR" sz="1400" dirty="0"/>
              <a:t>Pour chaque indicateur, nous vous indiquerons des recommandations selon s’il est très élevé ou très bas. Comme ces références (très élevé ou très bas) dépendent de chaque situation, c’est à vous de déterminer si les seuils sont franchis.</a:t>
            </a:r>
          </a:p>
        </p:txBody>
      </p:sp>
      <p:pic>
        <p:nvPicPr>
          <p:cNvPr id="4" name="Graphique 3" descr="Femme scientifique avec un remplissage uni">
            <a:extLst>
              <a:ext uri="{FF2B5EF4-FFF2-40B4-BE49-F238E27FC236}">
                <a16:creationId xmlns:a16="http://schemas.microsoft.com/office/drawing/2014/main" id="{EDBB5431-FA06-D0E2-CE51-3C1ECF88B6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66044" y="2114025"/>
            <a:ext cx="3010633" cy="3010633"/>
          </a:xfrm>
          <a:prstGeom prst="rect">
            <a:avLst/>
          </a:prstGeom>
        </p:spPr>
      </p:pic>
    </p:spTree>
    <p:extLst>
      <p:ext uri="{BB962C8B-B14F-4D97-AF65-F5344CB8AC3E}">
        <p14:creationId xmlns:p14="http://schemas.microsoft.com/office/powerpoint/2010/main" val="85488134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113B5A-5785-FFEB-1311-4151E529BB1F}"/>
              </a:ext>
            </a:extLst>
          </p:cNvPr>
          <p:cNvSpPr>
            <a:spLocks noGrp="1"/>
          </p:cNvSpPr>
          <p:nvPr>
            <p:ph type="title"/>
          </p:nvPr>
        </p:nvSpPr>
        <p:spPr/>
        <p:txBody>
          <a:bodyPr/>
          <a:lstStyle/>
          <a:p>
            <a:r>
              <a:rPr lang="fr-FR" dirty="0"/>
              <a:t>Indicateur </a:t>
            </a:r>
            <a:r>
              <a:rPr lang="fr-FR" dirty="0" err="1"/>
              <a:t>monophase</a:t>
            </a:r>
            <a:r>
              <a:rPr lang="fr-FR" dirty="0"/>
              <a:t> et </a:t>
            </a:r>
            <a:r>
              <a:rPr lang="fr-FR" dirty="0" err="1"/>
              <a:t>multiphases</a:t>
            </a:r>
            <a:endParaRPr lang="fr-FR" dirty="0"/>
          </a:p>
        </p:txBody>
      </p:sp>
      <p:sp>
        <p:nvSpPr>
          <p:cNvPr id="3" name="Espace réservé du contenu 2">
            <a:extLst>
              <a:ext uri="{FF2B5EF4-FFF2-40B4-BE49-F238E27FC236}">
                <a16:creationId xmlns:a16="http://schemas.microsoft.com/office/drawing/2014/main" id="{E72731FA-F95F-F0BF-9D0F-B2E27B1D3EFB}"/>
              </a:ext>
            </a:extLst>
          </p:cNvPr>
          <p:cNvSpPr>
            <a:spLocks noGrp="1"/>
          </p:cNvSpPr>
          <p:nvPr>
            <p:ph idx="1"/>
          </p:nvPr>
        </p:nvSpPr>
        <p:spPr>
          <a:xfrm>
            <a:off x="838200" y="1834503"/>
            <a:ext cx="3813699" cy="4351338"/>
          </a:xfrm>
        </p:spPr>
        <p:txBody>
          <a:bodyPr/>
          <a:lstStyle/>
          <a:p>
            <a:pPr marL="0" indent="0">
              <a:buNone/>
            </a:pPr>
            <a:r>
              <a:rPr lang="fr-FR" dirty="0"/>
              <a:t>Un </a:t>
            </a:r>
            <a:r>
              <a:rPr lang="fr-FR" dirty="0">
                <a:solidFill>
                  <a:srgbClr val="ED7D31"/>
                </a:solidFill>
              </a:rPr>
              <a:t>indicateur </a:t>
            </a:r>
            <a:r>
              <a:rPr lang="fr-FR" dirty="0" err="1">
                <a:solidFill>
                  <a:srgbClr val="ED7D31"/>
                </a:solidFill>
              </a:rPr>
              <a:t>monophase</a:t>
            </a:r>
            <a:r>
              <a:rPr lang="fr-FR" dirty="0">
                <a:solidFill>
                  <a:srgbClr val="ED7D31"/>
                </a:solidFill>
              </a:rPr>
              <a:t> </a:t>
            </a:r>
            <a:r>
              <a:rPr lang="fr-FR" dirty="0"/>
              <a:t>permet de mesurer les informations sur UNE phase en particulier</a:t>
            </a:r>
          </a:p>
        </p:txBody>
      </p:sp>
      <p:grpSp>
        <p:nvGrpSpPr>
          <p:cNvPr id="37" name="Groupe 36">
            <a:extLst>
              <a:ext uri="{FF2B5EF4-FFF2-40B4-BE49-F238E27FC236}">
                <a16:creationId xmlns:a16="http://schemas.microsoft.com/office/drawing/2014/main" id="{9CFD2391-6240-4E71-A8B5-F0217CC545DF}"/>
              </a:ext>
            </a:extLst>
          </p:cNvPr>
          <p:cNvGrpSpPr/>
          <p:nvPr/>
        </p:nvGrpSpPr>
        <p:grpSpPr>
          <a:xfrm>
            <a:off x="695833" y="4440053"/>
            <a:ext cx="3910600" cy="1790177"/>
            <a:chOff x="1168158" y="1690688"/>
            <a:chExt cx="9855683" cy="4511691"/>
          </a:xfrm>
        </p:grpSpPr>
        <p:grpSp>
          <p:nvGrpSpPr>
            <p:cNvPr id="4" name="Groupe 3">
              <a:extLst>
                <a:ext uri="{FF2B5EF4-FFF2-40B4-BE49-F238E27FC236}">
                  <a16:creationId xmlns:a16="http://schemas.microsoft.com/office/drawing/2014/main" id="{4B87FEB8-5940-D963-573A-0776E632DD24}"/>
                </a:ext>
              </a:extLst>
            </p:cNvPr>
            <p:cNvGrpSpPr/>
            <p:nvPr/>
          </p:nvGrpSpPr>
          <p:grpSpPr>
            <a:xfrm>
              <a:off x="1168158" y="1690688"/>
              <a:ext cx="9855683" cy="1127463"/>
              <a:chOff x="11600" y="1496380"/>
              <a:chExt cx="12038120" cy="1498765"/>
            </a:xfrm>
          </p:grpSpPr>
          <p:grpSp>
            <p:nvGrpSpPr>
              <p:cNvPr id="5" name="Groupe 4">
                <a:extLst>
                  <a:ext uri="{FF2B5EF4-FFF2-40B4-BE49-F238E27FC236}">
                    <a16:creationId xmlns:a16="http://schemas.microsoft.com/office/drawing/2014/main" id="{325E1CA8-AC73-52DB-0F8B-1CCE1A4DAC63}"/>
                  </a:ext>
                </a:extLst>
              </p:cNvPr>
              <p:cNvGrpSpPr/>
              <p:nvPr/>
            </p:nvGrpSpPr>
            <p:grpSpPr>
              <a:xfrm>
                <a:off x="11600" y="2499558"/>
                <a:ext cx="12038120" cy="495587"/>
                <a:chOff x="0" y="2140394"/>
                <a:chExt cx="12854128" cy="4544491"/>
              </a:xfrm>
            </p:grpSpPr>
            <p:sp>
              <p:nvSpPr>
                <p:cNvPr id="13" name="Espace réservé du texte 15">
                  <a:extLst>
                    <a:ext uri="{FF2B5EF4-FFF2-40B4-BE49-F238E27FC236}">
                      <a16:creationId xmlns:a16="http://schemas.microsoft.com/office/drawing/2014/main" id="{47A9989D-5A33-3EA0-83B5-6DE7BD77C8EC}"/>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14" name="Espace réservé du texte 15">
                  <a:extLst>
                    <a:ext uri="{FF2B5EF4-FFF2-40B4-BE49-F238E27FC236}">
                      <a16:creationId xmlns:a16="http://schemas.microsoft.com/office/drawing/2014/main" id="{9B8122E2-B784-0AB6-19BB-0C74F5C93857}"/>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15" name="Espace réservé du texte 15">
                  <a:extLst>
                    <a:ext uri="{FF2B5EF4-FFF2-40B4-BE49-F238E27FC236}">
                      <a16:creationId xmlns:a16="http://schemas.microsoft.com/office/drawing/2014/main" id="{EEA1876B-8D9D-2406-66F0-CE947688D52D}"/>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16" name="Espace réservé du texte 15">
                  <a:extLst>
                    <a:ext uri="{FF2B5EF4-FFF2-40B4-BE49-F238E27FC236}">
                      <a16:creationId xmlns:a16="http://schemas.microsoft.com/office/drawing/2014/main" id="{26E9C249-7E75-E31A-BB45-E35C2AD0C7CC}"/>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17" name="Espace réservé du texte 15">
                  <a:extLst>
                    <a:ext uri="{FF2B5EF4-FFF2-40B4-BE49-F238E27FC236}">
                      <a16:creationId xmlns:a16="http://schemas.microsoft.com/office/drawing/2014/main" id="{C5D1F955-4DE2-317D-98E7-9A3ADDC0F280}"/>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18" name="Espace réservé du texte 15">
                  <a:extLst>
                    <a:ext uri="{FF2B5EF4-FFF2-40B4-BE49-F238E27FC236}">
                      <a16:creationId xmlns:a16="http://schemas.microsoft.com/office/drawing/2014/main" id="{6BCB339B-F72D-0ECE-23D7-E0DB0F4D2A7A}"/>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19" name="Espace réservé du texte 15">
                  <a:extLst>
                    <a:ext uri="{FF2B5EF4-FFF2-40B4-BE49-F238E27FC236}">
                      <a16:creationId xmlns:a16="http://schemas.microsoft.com/office/drawing/2014/main" id="{929E4263-1339-7B6A-9623-285A277DFB1B}"/>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6" name="Graphique 5" descr="Ampoule avec un remplissage uni">
                <a:extLst>
                  <a:ext uri="{FF2B5EF4-FFF2-40B4-BE49-F238E27FC236}">
                    <a16:creationId xmlns:a16="http://schemas.microsoft.com/office/drawing/2014/main" id="{F7AE40B1-22B5-5D95-E747-22B5AE28503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7" name="Graphique 6" descr="Seau et pelle avec un remplissage uni">
                <a:extLst>
                  <a:ext uri="{FF2B5EF4-FFF2-40B4-BE49-F238E27FC236}">
                    <a16:creationId xmlns:a16="http://schemas.microsoft.com/office/drawing/2014/main" id="{DD8B8324-C360-BC0C-987F-426BF69205B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8" name="Graphique 7" descr="Tubes à essai avec un remplissage uni">
                <a:extLst>
                  <a:ext uri="{FF2B5EF4-FFF2-40B4-BE49-F238E27FC236}">
                    <a16:creationId xmlns:a16="http://schemas.microsoft.com/office/drawing/2014/main" id="{90D8B77D-3871-EDFE-01DD-83036C9361A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9" name="Graphique 8" descr="Explosion avec un remplissage uni">
                <a:extLst>
                  <a:ext uri="{FF2B5EF4-FFF2-40B4-BE49-F238E27FC236}">
                    <a16:creationId xmlns:a16="http://schemas.microsoft.com/office/drawing/2014/main" id="{68A95417-6578-7254-7973-E1499C88AF2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0" name="Graphique 9" descr="Trophée avec un remplissage uni">
                <a:extLst>
                  <a:ext uri="{FF2B5EF4-FFF2-40B4-BE49-F238E27FC236}">
                    <a16:creationId xmlns:a16="http://schemas.microsoft.com/office/drawing/2014/main" id="{C27BCFD9-734E-9108-5DA4-95DD9A2435B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1" name="Graphique 10" descr="Assiette couverte avec un remplissage uni">
                <a:extLst>
                  <a:ext uri="{FF2B5EF4-FFF2-40B4-BE49-F238E27FC236}">
                    <a16:creationId xmlns:a16="http://schemas.microsoft.com/office/drawing/2014/main" id="{CD5B5106-F17B-FB9B-AE31-C2DF0469339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2" name="Graphique 11" descr="Scène de château avec un remplissage uni">
                <a:extLst>
                  <a:ext uri="{FF2B5EF4-FFF2-40B4-BE49-F238E27FC236}">
                    <a16:creationId xmlns:a16="http://schemas.microsoft.com/office/drawing/2014/main" id="{B046D485-3A6B-EA4A-E1B1-F23F66DACB9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23" name="Rectangle 22">
              <a:extLst>
                <a:ext uri="{FF2B5EF4-FFF2-40B4-BE49-F238E27FC236}">
                  <a16:creationId xmlns:a16="http://schemas.microsoft.com/office/drawing/2014/main" id="{7299FBA7-E8BB-DE47-EEC6-86F8A2B28738}"/>
                </a:ext>
              </a:extLst>
            </p:cNvPr>
            <p:cNvSpPr/>
            <p:nvPr/>
          </p:nvSpPr>
          <p:spPr>
            <a:xfrm>
              <a:off x="5523390" y="2884934"/>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dirty="0">
                  <a:solidFill>
                    <a:schemeClr val="tx1"/>
                  </a:solidFill>
                </a:rPr>
                <a:t>Nombre (déclaratif) de problèmes résolus ou évités grâce à une discussion dans la Communauté</a:t>
              </a:r>
            </a:p>
          </p:txBody>
        </p:sp>
        <p:sp>
          <p:nvSpPr>
            <p:cNvPr id="29" name="Rectangle 28">
              <a:extLst>
                <a:ext uri="{FF2B5EF4-FFF2-40B4-BE49-F238E27FC236}">
                  <a16:creationId xmlns:a16="http://schemas.microsoft.com/office/drawing/2014/main" id="{1F42D498-E5A4-C3FA-7052-56E28AA020AE}"/>
                </a:ext>
              </a:extLst>
            </p:cNvPr>
            <p:cNvSpPr/>
            <p:nvPr/>
          </p:nvSpPr>
          <p:spPr>
            <a:xfrm>
              <a:off x="5523199" y="4039850"/>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dirty="0">
                  <a:solidFill>
                    <a:schemeClr val="tx1"/>
                  </a:solidFill>
                </a:rPr>
                <a:t>Temps gagné (déclaratif) dans le quotidien grâce à la Communauté</a:t>
              </a:r>
            </a:p>
          </p:txBody>
        </p:sp>
        <p:sp>
          <p:nvSpPr>
            <p:cNvPr id="34" name="Rectangle 33">
              <a:extLst>
                <a:ext uri="{FF2B5EF4-FFF2-40B4-BE49-F238E27FC236}">
                  <a16:creationId xmlns:a16="http://schemas.microsoft.com/office/drawing/2014/main" id="{F940EED0-216F-37DD-F8DD-874C7B8A6C8B}"/>
                </a:ext>
              </a:extLst>
            </p:cNvPr>
            <p:cNvSpPr/>
            <p:nvPr/>
          </p:nvSpPr>
          <p:spPr>
            <a:xfrm>
              <a:off x="5523199" y="5154506"/>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dirty="0">
                  <a:solidFill>
                    <a:schemeClr val="tx1"/>
                  </a:solidFill>
                </a:rPr>
                <a:t>Nombre de sessions d’entraide, de requêtes qui ont mené à une réponse de la Communauté</a:t>
              </a:r>
            </a:p>
          </p:txBody>
        </p:sp>
      </p:grpSp>
      <p:pic>
        <p:nvPicPr>
          <p:cNvPr id="39" name="Graphique 38" descr="Loupe avec un remplissage uni">
            <a:extLst>
              <a:ext uri="{FF2B5EF4-FFF2-40B4-BE49-F238E27FC236}">
                <a16:creationId xmlns:a16="http://schemas.microsoft.com/office/drawing/2014/main" id="{55F573DE-B0F8-05FD-8FA1-26BF59011487}"/>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926641" y="3910487"/>
            <a:ext cx="1805929" cy="1805929"/>
          </a:xfrm>
          <a:prstGeom prst="rect">
            <a:avLst/>
          </a:prstGeom>
        </p:spPr>
      </p:pic>
      <p:sp>
        <p:nvSpPr>
          <p:cNvPr id="40" name="Espace réservé du contenu 2">
            <a:extLst>
              <a:ext uri="{FF2B5EF4-FFF2-40B4-BE49-F238E27FC236}">
                <a16:creationId xmlns:a16="http://schemas.microsoft.com/office/drawing/2014/main" id="{924E1077-9BEF-D886-FB33-A317F9E178E9}"/>
              </a:ext>
            </a:extLst>
          </p:cNvPr>
          <p:cNvSpPr txBox="1">
            <a:spLocks/>
          </p:cNvSpPr>
          <p:nvPr/>
        </p:nvSpPr>
        <p:spPr>
          <a:xfrm>
            <a:off x="6553514" y="1834503"/>
            <a:ext cx="381369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dirty="0"/>
              <a:t>Un </a:t>
            </a:r>
            <a:r>
              <a:rPr lang="fr-FR" dirty="0">
                <a:solidFill>
                  <a:srgbClr val="ED7D31"/>
                </a:solidFill>
              </a:rPr>
              <a:t>indicateur </a:t>
            </a:r>
            <a:r>
              <a:rPr lang="fr-FR" dirty="0" err="1">
                <a:solidFill>
                  <a:srgbClr val="ED7D31"/>
                </a:solidFill>
              </a:rPr>
              <a:t>multiphase</a:t>
            </a:r>
            <a:r>
              <a:rPr lang="fr-FR" dirty="0">
                <a:solidFill>
                  <a:srgbClr val="ED7D31"/>
                </a:solidFill>
              </a:rPr>
              <a:t> </a:t>
            </a:r>
            <a:r>
              <a:rPr lang="fr-FR" dirty="0"/>
              <a:t>se sert d’une information qui concerne plusieurs phases</a:t>
            </a:r>
          </a:p>
        </p:txBody>
      </p:sp>
      <p:graphicFrame>
        <p:nvGraphicFramePr>
          <p:cNvPr id="41" name="Tableau 5">
            <a:extLst>
              <a:ext uri="{FF2B5EF4-FFF2-40B4-BE49-F238E27FC236}">
                <a16:creationId xmlns:a16="http://schemas.microsoft.com/office/drawing/2014/main" id="{ED8C7A2B-32F9-25AC-F302-743F6CB7D5D3}"/>
              </a:ext>
            </a:extLst>
          </p:cNvPr>
          <p:cNvGraphicFramePr>
            <a:graphicFrameLocks noGrp="1"/>
          </p:cNvGraphicFramePr>
          <p:nvPr>
            <p:extLst>
              <p:ext uri="{D42A27DB-BD31-4B8C-83A1-F6EECF244321}">
                <p14:modId xmlns:p14="http://schemas.microsoft.com/office/powerpoint/2010/main" val="4156636312"/>
              </p:ext>
            </p:extLst>
          </p:nvPr>
        </p:nvGraphicFramePr>
        <p:xfrm>
          <a:off x="5741268" y="4331736"/>
          <a:ext cx="4731040" cy="1771311"/>
        </p:xfrm>
        <a:graphic>
          <a:graphicData uri="http://schemas.openxmlformats.org/drawingml/2006/table">
            <a:tbl>
              <a:tblPr firstRow="1" bandRow="1">
                <a:tableStyleId>{073A0DAA-6AF3-43AB-8588-CEC1D06C72B9}</a:tableStyleId>
              </a:tblPr>
              <a:tblGrid>
                <a:gridCol w="591380">
                  <a:extLst>
                    <a:ext uri="{9D8B030D-6E8A-4147-A177-3AD203B41FA5}">
                      <a16:colId xmlns:a16="http://schemas.microsoft.com/office/drawing/2014/main" val="1486018635"/>
                    </a:ext>
                  </a:extLst>
                </a:gridCol>
                <a:gridCol w="591380">
                  <a:extLst>
                    <a:ext uri="{9D8B030D-6E8A-4147-A177-3AD203B41FA5}">
                      <a16:colId xmlns:a16="http://schemas.microsoft.com/office/drawing/2014/main" val="761339006"/>
                    </a:ext>
                  </a:extLst>
                </a:gridCol>
                <a:gridCol w="591380">
                  <a:extLst>
                    <a:ext uri="{9D8B030D-6E8A-4147-A177-3AD203B41FA5}">
                      <a16:colId xmlns:a16="http://schemas.microsoft.com/office/drawing/2014/main" val="416087062"/>
                    </a:ext>
                  </a:extLst>
                </a:gridCol>
                <a:gridCol w="591380">
                  <a:extLst>
                    <a:ext uri="{9D8B030D-6E8A-4147-A177-3AD203B41FA5}">
                      <a16:colId xmlns:a16="http://schemas.microsoft.com/office/drawing/2014/main" val="2064857721"/>
                    </a:ext>
                  </a:extLst>
                </a:gridCol>
                <a:gridCol w="591380">
                  <a:extLst>
                    <a:ext uri="{9D8B030D-6E8A-4147-A177-3AD203B41FA5}">
                      <a16:colId xmlns:a16="http://schemas.microsoft.com/office/drawing/2014/main" val="183491405"/>
                    </a:ext>
                  </a:extLst>
                </a:gridCol>
                <a:gridCol w="591380">
                  <a:extLst>
                    <a:ext uri="{9D8B030D-6E8A-4147-A177-3AD203B41FA5}">
                      <a16:colId xmlns:a16="http://schemas.microsoft.com/office/drawing/2014/main" val="3364014230"/>
                    </a:ext>
                  </a:extLst>
                </a:gridCol>
                <a:gridCol w="591380">
                  <a:extLst>
                    <a:ext uri="{9D8B030D-6E8A-4147-A177-3AD203B41FA5}">
                      <a16:colId xmlns:a16="http://schemas.microsoft.com/office/drawing/2014/main" val="365145181"/>
                    </a:ext>
                  </a:extLst>
                </a:gridCol>
                <a:gridCol w="591380">
                  <a:extLst>
                    <a:ext uri="{9D8B030D-6E8A-4147-A177-3AD203B41FA5}">
                      <a16:colId xmlns:a16="http://schemas.microsoft.com/office/drawing/2014/main" val="1628287487"/>
                    </a:ext>
                  </a:extLst>
                </a:gridCol>
              </a:tblGrid>
              <a:tr h="241446">
                <a:tc>
                  <a:txBody>
                    <a:bodyPr/>
                    <a:lstStyle/>
                    <a:p>
                      <a:pPr algn="ctr"/>
                      <a:r>
                        <a:rPr lang="fr-FR" sz="2800" dirty="0">
                          <a:solidFill>
                            <a:schemeClr val="tx1"/>
                          </a:solidFill>
                        </a:rPr>
                        <a:t>0</a:t>
                      </a:r>
                    </a:p>
                  </a:txBody>
                  <a:tcPr marL="43096" marR="43096" marT="21548" marB="21548">
                    <a:solidFill>
                      <a:schemeClr val="bg1"/>
                    </a:solidFill>
                  </a:tcPr>
                </a:tc>
                <a:tc>
                  <a:txBody>
                    <a:bodyPr/>
                    <a:lstStyle/>
                    <a:p>
                      <a:pPr algn="ctr"/>
                      <a:r>
                        <a:rPr lang="fr-FR" sz="2800" dirty="0">
                          <a:solidFill>
                            <a:schemeClr val="tx1"/>
                          </a:solidFill>
                        </a:rPr>
                        <a:t>1</a:t>
                      </a:r>
                    </a:p>
                  </a:txBody>
                  <a:tcPr marL="43096" marR="43096" marT="21548" marB="21548">
                    <a:solidFill>
                      <a:schemeClr val="bg1"/>
                    </a:solidFill>
                  </a:tcPr>
                </a:tc>
                <a:tc>
                  <a:txBody>
                    <a:bodyPr/>
                    <a:lstStyle/>
                    <a:p>
                      <a:pPr algn="ctr"/>
                      <a:r>
                        <a:rPr lang="fr-FR" sz="2800" dirty="0">
                          <a:solidFill>
                            <a:schemeClr val="tx1"/>
                          </a:solidFill>
                        </a:rPr>
                        <a:t>2</a:t>
                      </a:r>
                    </a:p>
                  </a:txBody>
                  <a:tcPr marL="43096" marR="43096" marT="21548" marB="21548">
                    <a:solidFill>
                      <a:schemeClr val="bg1"/>
                    </a:solidFill>
                  </a:tcPr>
                </a:tc>
                <a:tc>
                  <a:txBody>
                    <a:bodyPr/>
                    <a:lstStyle/>
                    <a:p>
                      <a:pPr algn="ctr"/>
                      <a:r>
                        <a:rPr lang="fr-FR" sz="2800" dirty="0">
                          <a:solidFill>
                            <a:schemeClr val="tx1"/>
                          </a:solidFill>
                        </a:rPr>
                        <a:t>3</a:t>
                      </a:r>
                    </a:p>
                  </a:txBody>
                  <a:tcPr marL="43096" marR="43096" marT="21548" marB="21548">
                    <a:solidFill>
                      <a:schemeClr val="bg1"/>
                    </a:solidFill>
                  </a:tcPr>
                </a:tc>
                <a:tc>
                  <a:txBody>
                    <a:bodyPr/>
                    <a:lstStyle/>
                    <a:p>
                      <a:pPr algn="ctr"/>
                      <a:r>
                        <a:rPr lang="fr-FR" sz="2800" dirty="0">
                          <a:solidFill>
                            <a:schemeClr val="tx1"/>
                          </a:solidFill>
                        </a:rPr>
                        <a:t>4</a:t>
                      </a:r>
                    </a:p>
                  </a:txBody>
                  <a:tcPr marL="43096" marR="43096" marT="21548" marB="21548">
                    <a:solidFill>
                      <a:schemeClr val="bg1"/>
                    </a:solidFill>
                  </a:tcPr>
                </a:tc>
                <a:tc>
                  <a:txBody>
                    <a:bodyPr/>
                    <a:lstStyle/>
                    <a:p>
                      <a:pPr algn="ctr"/>
                      <a:r>
                        <a:rPr lang="fr-FR" sz="2800" dirty="0">
                          <a:solidFill>
                            <a:schemeClr val="tx1"/>
                          </a:solidFill>
                        </a:rPr>
                        <a:t>5</a:t>
                      </a:r>
                    </a:p>
                  </a:txBody>
                  <a:tcPr marL="43096" marR="43096" marT="21548" marB="21548">
                    <a:solidFill>
                      <a:schemeClr val="bg1"/>
                    </a:solidFill>
                  </a:tcPr>
                </a:tc>
                <a:tc>
                  <a:txBody>
                    <a:bodyPr/>
                    <a:lstStyle/>
                    <a:p>
                      <a:pPr algn="ctr"/>
                      <a:r>
                        <a:rPr lang="fr-FR" sz="2800" dirty="0">
                          <a:solidFill>
                            <a:schemeClr val="tx1"/>
                          </a:solidFill>
                        </a:rPr>
                        <a:t>6</a:t>
                      </a:r>
                    </a:p>
                  </a:txBody>
                  <a:tcPr marL="43096" marR="43096" marT="21548" marB="21548">
                    <a:solidFill>
                      <a:schemeClr val="bg1"/>
                    </a:solidFill>
                  </a:tcPr>
                </a:tc>
                <a:tc>
                  <a:txBody>
                    <a:bodyPr/>
                    <a:lstStyle/>
                    <a:p>
                      <a:pPr algn="ctr"/>
                      <a:r>
                        <a:rPr lang="fr-FR" sz="2800" dirty="0">
                          <a:solidFill>
                            <a:schemeClr val="tx1"/>
                          </a:solidFill>
                        </a:rPr>
                        <a:t>7</a:t>
                      </a:r>
                    </a:p>
                  </a:txBody>
                  <a:tcPr marL="43096" marR="43096" marT="21548" marB="21548">
                    <a:solidFill>
                      <a:schemeClr val="bg1"/>
                    </a:solidFill>
                  </a:tcPr>
                </a:tc>
                <a:extLst>
                  <a:ext uri="{0D108BD9-81ED-4DB2-BD59-A6C34878D82A}">
                    <a16:rowId xmlns:a16="http://schemas.microsoft.com/office/drawing/2014/main" val="3367535307"/>
                  </a:ext>
                </a:extLst>
              </a:tr>
              <a:tr h="241446">
                <a:tc>
                  <a:txBody>
                    <a:bodyPr/>
                    <a:lstStyle/>
                    <a:p>
                      <a:pPr algn="ctr"/>
                      <a:r>
                        <a:rPr lang="fr-FR" sz="400" dirty="0">
                          <a:solidFill>
                            <a:schemeClr val="bg1"/>
                          </a:solidFill>
                        </a:rPr>
                        <a:t>PAS ENCORE COMMENCÉ</a:t>
                      </a: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INSPIRATION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COLLECTE</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INITIATION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CHOC DE LA RÉALITÉ</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CONFIRMATION DE RÉUSSITES</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EXPOSITION</a:t>
                      </a:r>
                    </a:p>
                    <a:p>
                      <a:pPr algn="ctr"/>
                      <a:endParaRPr lang="fr-FR" sz="400">
                        <a:solidFill>
                          <a:schemeClr val="bg1"/>
                        </a:solidFill>
                      </a:endParaRPr>
                    </a:p>
                  </a:txBody>
                  <a:tcPr marL="43096" marR="43096" marT="21548" marB="21548">
                    <a:solidFill>
                      <a:srgbClr val="0683AA"/>
                    </a:solidFill>
                  </a:tcPr>
                </a:tc>
                <a:tc>
                  <a:txBody>
                    <a:bodyPr/>
                    <a:lstStyle/>
                    <a:p>
                      <a:pPr marL="0" indent="0" algn="ctr">
                        <a:buFont typeface="Arial" panose="020B0604020202020204" pitchFamily="34" charset="0"/>
                        <a:buNone/>
                      </a:pPr>
                      <a:r>
                        <a:rPr lang="fr-FR" sz="400" b="1" i="1" dirty="0">
                          <a:solidFill>
                            <a:schemeClr val="bg1"/>
                          </a:solidFill>
                        </a:rPr>
                        <a:t>FORTIFICATION</a:t>
                      </a:r>
                    </a:p>
                    <a:p>
                      <a:pPr marL="0" indent="0" algn="ctr">
                        <a:buFont typeface="Arial" panose="020B0604020202020204" pitchFamily="34" charset="0"/>
                        <a:buNone/>
                      </a:pPr>
                      <a:endParaRPr lang="fr-FR" sz="400" b="1" i="1" dirty="0">
                        <a:solidFill>
                          <a:schemeClr val="bg1"/>
                        </a:solidFill>
                      </a:endParaRPr>
                    </a:p>
                    <a:p>
                      <a:pPr algn="ctr"/>
                      <a:endParaRPr lang="fr-FR" sz="400" dirty="0">
                        <a:solidFill>
                          <a:schemeClr val="bg1"/>
                        </a:solidFill>
                      </a:endParaRPr>
                    </a:p>
                  </a:txBody>
                  <a:tcPr marL="43096" marR="43096" marT="21548" marB="21548">
                    <a:solidFill>
                      <a:srgbClr val="0683AA"/>
                    </a:solidFill>
                  </a:tcPr>
                </a:tc>
                <a:extLst>
                  <a:ext uri="{0D108BD9-81ED-4DB2-BD59-A6C34878D82A}">
                    <a16:rowId xmlns:a16="http://schemas.microsoft.com/office/drawing/2014/main" val="3579208894"/>
                  </a:ext>
                </a:extLst>
              </a:tr>
              <a:tr h="1060049">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dirty="0"/>
                    </a:p>
                  </a:txBody>
                  <a:tcPr marL="43096" marR="43096" marT="21548" marB="21548"/>
                </a:tc>
                <a:extLst>
                  <a:ext uri="{0D108BD9-81ED-4DB2-BD59-A6C34878D82A}">
                    <a16:rowId xmlns:a16="http://schemas.microsoft.com/office/drawing/2014/main" val="1415023090"/>
                  </a:ext>
                </a:extLst>
              </a:tr>
            </a:tbl>
          </a:graphicData>
        </a:graphic>
      </p:graphicFrame>
      <p:grpSp>
        <p:nvGrpSpPr>
          <p:cNvPr id="42" name="Groupe 41">
            <a:extLst>
              <a:ext uri="{FF2B5EF4-FFF2-40B4-BE49-F238E27FC236}">
                <a16:creationId xmlns:a16="http://schemas.microsoft.com/office/drawing/2014/main" id="{E9B2D3F6-1437-644F-5DF1-3E3149EC393C}"/>
              </a:ext>
            </a:extLst>
          </p:cNvPr>
          <p:cNvGrpSpPr/>
          <p:nvPr/>
        </p:nvGrpSpPr>
        <p:grpSpPr>
          <a:xfrm>
            <a:off x="5817467" y="5097620"/>
            <a:ext cx="3942729" cy="884898"/>
            <a:chOff x="2320960" y="3201400"/>
            <a:chExt cx="6409931" cy="1487380"/>
          </a:xfrm>
        </p:grpSpPr>
        <p:sp>
          <p:nvSpPr>
            <p:cNvPr id="43" name="Rectangle 42">
              <a:extLst>
                <a:ext uri="{FF2B5EF4-FFF2-40B4-BE49-F238E27FC236}">
                  <a16:creationId xmlns:a16="http://schemas.microsoft.com/office/drawing/2014/main" id="{23CF146C-9B9C-3E11-DB10-DB05293B88A4}"/>
                </a:ext>
              </a:extLst>
            </p:cNvPr>
            <p:cNvSpPr/>
            <p:nvPr/>
          </p:nvSpPr>
          <p:spPr>
            <a:xfrm>
              <a:off x="3343197" y="3201400"/>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dirty="0">
                  <a:solidFill>
                    <a:schemeClr val="tx1"/>
                  </a:solidFill>
                </a:rPr>
                <a:t>RDD</a:t>
              </a:r>
            </a:p>
          </p:txBody>
        </p:sp>
        <p:sp>
          <p:nvSpPr>
            <p:cNvPr id="44" name="Rectangle 43">
              <a:extLst>
                <a:ext uri="{FF2B5EF4-FFF2-40B4-BE49-F238E27FC236}">
                  <a16:creationId xmlns:a16="http://schemas.microsoft.com/office/drawing/2014/main" id="{B7EA0B65-0EBC-16F8-D7EF-D0A6A4184AC8}"/>
                </a:ext>
              </a:extLst>
            </p:cNvPr>
            <p:cNvSpPr/>
            <p:nvPr/>
          </p:nvSpPr>
          <p:spPr>
            <a:xfrm>
              <a:off x="3711014" y="399209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45" name="Rectangle 44">
              <a:extLst>
                <a:ext uri="{FF2B5EF4-FFF2-40B4-BE49-F238E27FC236}">
                  <a16:creationId xmlns:a16="http://schemas.microsoft.com/office/drawing/2014/main" id="{27A0F117-5B75-C449-7D65-291A93705159}"/>
                </a:ext>
              </a:extLst>
            </p:cNvPr>
            <p:cNvSpPr/>
            <p:nvPr/>
          </p:nvSpPr>
          <p:spPr>
            <a:xfrm>
              <a:off x="4667364" y="3409539"/>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46" name="Rectangle 45">
              <a:extLst>
                <a:ext uri="{FF2B5EF4-FFF2-40B4-BE49-F238E27FC236}">
                  <a16:creationId xmlns:a16="http://schemas.microsoft.com/office/drawing/2014/main" id="{8690362F-7C04-D5EC-373C-E06D868829C6}"/>
                </a:ext>
              </a:extLst>
            </p:cNvPr>
            <p:cNvSpPr/>
            <p:nvPr/>
          </p:nvSpPr>
          <p:spPr>
            <a:xfrm>
              <a:off x="5352674" y="333888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IA</a:t>
              </a:r>
            </a:p>
          </p:txBody>
        </p:sp>
        <p:sp>
          <p:nvSpPr>
            <p:cNvPr id="47" name="Rectangle 46">
              <a:extLst>
                <a:ext uri="{FF2B5EF4-FFF2-40B4-BE49-F238E27FC236}">
                  <a16:creationId xmlns:a16="http://schemas.microsoft.com/office/drawing/2014/main" id="{739393D6-6D44-5179-1E7F-079727B1CB56}"/>
                </a:ext>
              </a:extLst>
            </p:cNvPr>
            <p:cNvSpPr/>
            <p:nvPr/>
          </p:nvSpPr>
          <p:spPr>
            <a:xfrm>
              <a:off x="7537994" y="346256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48" name="Rectangle 47">
              <a:extLst>
                <a:ext uri="{FF2B5EF4-FFF2-40B4-BE49-F238E27FC236}">
                  <a16:creationId xmlns:a16="http://schemas.microsoft.com/office/drawing/2014/main" id="{A60CCFAD-9EF2-658A-3178-0E3D383DE114}"/>
                </a:ext>
              </a:extLst>
            </p:cNvPr>
            <p:cNvSpPr/>
            <p:nvPr/>
          </p:nvSpPr>
          <p:spPr>
            <a:xfrm>
              <a:off x="6632821" y="396113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49" name="Rectangle 48">
              <a:extLst>
                <a:ext uri="{FF2B5EF4-FFF2-40B4-BE49-F238E27FC236}">
                  <a16:creationId xmlns:a16="http://schemas.microsoft.com/office/drawing/2014/main" id="{9C84F906-4188-BDC0-85C7-1089CA290411}"/>
                </a:ext>
              </a:extLst>
            </p:cNvPr>
            <p:cNvSpPr/>
            <p:nvPr/>
          </p:nvSpPr>
          <p:spPr>
            <a:xfrm>
              <a:off x="2585155" y="3494894"/>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RSE</a:t>
              </a:r>
            </a:p>
          </p:txBody>
        </p:sp>
        <p:sp>
          <p:nvSpPr>
            <p:cNvPr id="50" name="Rectangle 49">
              <a:extLst>
                <a:ext uri="{FF2B5EF4-FFF2-40B4-BE49-F238E27FC236}">
                  <a16:creationId xmlns:a16="http://schemas.microsoft.com/office/drawing/2014/main" id="{43C3DC49-80B2-4E46-5EAE-0F9DCF2F84D2}"/>
                </a:ext>
              </a:extLst>
            </p:cNvPr>
            <p:cNvSpPr/>
            <p:nvPr/>
          </p:nvSpPr>
          <p:spPr>
            <a:xfrm>
              <a:off x="2788403" y="426100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RGPD</a:t>
              </a:r>
            </a:p>
          </p:txBody>
        </p:sp>
        <p:sp>
          <p:nvSpPr>
            <p:cNvPr id="51" name="Rectangle 50">
              <a:extLst>
                <a:ext uri="{FF2B5EF4-FFF2-40B4-BE49-F238E27FC236}">
                  <a16:creationId xmlns:a16="http://schemas.microsoft.com/office/drawing/2014/main" id="{6E0D4BD9-D434-D086-0485-6B89687CEC3A}"/>
                </a:ext>
              </a:extLst>
            </p:cNvPr>
            <p:cNvSpPr/>
            <p:nvPr/>
          </p:nvSpPr>
          <p:spPr>
            <a:xfrm>
              <a:off x="3182694" y="3816934"/>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IOT</a:t>
              </a:r>
            </a:p>
          </p:txBody>
        </p:sp>
        <p:sp>
          <p:nvSpPr>
            <p:cNvPr id="52" name="Rectangle 51">
              <a:extLst>
                <a:ext uri="{FF2B5EF4-FFF2-40B4-BE49-F238E27FC236}">
                  <a16:creationId xmlns:a16="http://schemas.microsoft.com/office/drawing/2014/main" id="{96877D93-395C-5C1E-0F80-490500A759E9}"/>
                </a:ext>
              </a:extLst>
            </p:cNvPr>
            <p:cNvSpPr/>
            <p:nvPr/>
          </p:nvSpPr>
          <p:spPr>
            <a:xfrm>
              <a:off x="2320960" y="4338458"/>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53" name="Rectangle 52">
              <a:extLst>
                <a:ext uri="{FF2B5EF4-FFF2-40B4-BE49-F238E27FC236}">
                  <a16:creationId xmlns:a16="http://schemas.microsoft.com/office/drawing/2014/main" id="{F8931F82-EF50-9C51-9EA3-1F2C7F7A7DFE}"/>
                </a:ext>
              </a:extLst>
            </p:cNvPr>
            <p:cNvSpPr/>
            <p:nvPr/>
          </p:nvSpPr>
          <p:spPr>
            <a:xfrm>
              <a:off x="8376898" y="3751861"/>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cxnSp>
        <p:nvCxnSpPr>
          <p:cNvPr id="54" name="Connecteur droit 53">
            <a:extLst>
              <a:ext uri="{FF2B5EF4-FFF2-40B4-BE49-F238E27FC236}">
                <a16:creationId xmlns:a16="http://schemas.microsoft.com/office/drawing/2014/main" id="{99E6BE6E-EEA2-103E-1ECE-23BF75EAEFEC}"/>
              </a:ext>
            </a:extLst>
          </p:cNvPr>
          <p:cNvCxnSpPr>
            <a:cxnSpLocks/>
          </p:cNvCxnSpPr>
          <p:nvPr/>
        </p:nvCxnSpPr>
        <p:spPr>
          <a:xfrm flipH="1">
            <a:off x="10692026" y="5266100"/>
            <a:ext cx="108846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55" name="ZoneTexte 54">
            <a:extLst>
              <a:ext uri="{FF2B5EF4-FFF2-40B4-BE49-F238E27FC236}">
                <a16:creationId xmlns:a16="http://schemas.microsoft.com/office/drawing/2014/main" id="{791EBF0C-5D60-A6BC-152F-39A1BBDFC11B}"/>
              </a:ext>
            </a:extLst>
          </p:cNvPr>
          <p:cNvSpPr txBox="1"/>
          <p:nvPr/>
        </p:nvSpPr>
        <p:spPr>
          <a:xfrm>
            <a:off x="10900077" y="4458118"/>
            <a:ext cx="464463" cy="707886"/>
          </a:xfrm>
          <a:prstGeom prst="rect">
            <a:avLst/>
          </a:prstGeom>
          <a:noFill/>
        </p:spPr>
        <p:txBody>
          <a:bodyPr wrap="square">
            <a:spAutoFit/>
          </a:bodyPr>
          <a:lstStyle/>
          <a:p>
            <a:r>
              <a:rPr lang="el-GR" sz="4000" dirty="0"/>
              <a:t>Σ</a:t>
            </a:r>
            <a:endParaRPr lang="fr-FR" sz="4000" dirty="0"/>
          </a:p>
        </p:txBody>
      </p:sp>
      <p:sp>
        <p:nvSpPr>
          <p:cNvPr id="56" name="ZoneTexte 55">
            <a:extLst>
              <a:ext uri="{FF2B5EF4-FFF2-40B4-BE49-F238E27FC236}">
                <a16:creationId xmlns:a16="http://schemas.microsoft.com/office/drawing/2014/main" id="{F1604AC4-540D-F803-133E-22E4566C9A05}"/>
              </a:ext>
            </a:extLst>
          </p:cNvPr>
          <p:cNvSpPr txBox="1"/>
          <p:nvPr/>
        </p:nvSpPr>
        <p:spPr>
          <a:xfrm>
            <a:off x="10895045" y="5178244"/>
            <a:ext cx="464463" cy="707886"/>
          </a:xfrm>
          <a:prstGeom prst="rect">
            <a:avLst/>
          </a:prstGeom>
          <a:noFill/>
        </p:spPr>
        <p:txBody>
          <a:bodyPr wrap="square">
            <a:spAutoFit/>
          </a:bodyPr>
          <a:lstStyle/>
          <a:p>
            <a:r>
              <a:rPr lang="el-GR" sz="4000" dirty="0"/>
              <a:t>Σ</a:t>
            </a:r>
            <a:endParaRPr lang="fr-FR" sz="4000" dirty="0"/>
          </a:p>
        </p:txBody>
      </p:sp>
      <p:sp>
        <p:nvSpPr>
          <p:cNvPr id="57" name="ZoneTexte 56">
            <a:extLst>
              <a:ext uri="{FF2B5EF4-FFF2-40B4-BE49-F238E27FC236}">
                <a16:creationId xmlns:a16="http://schemas.microsoft.com/office/drawing/2014/main" id="{D6862BE5-6564-2257-E0A1-45184F31DEC9}"/>
              </a:ext>
            </a:extLst>
          </p:cNvPr>
          <p:cNvSpPr txBox="1"/>
          <p:nvPr/>
        </p:nvSpPr>
        <p:spPr>
          <a:xfrm>
            <a:off x="11155569" y="4558214"/>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58" name="ZoneTexte 57">
            <a:extLst>
              <a:ext uri="{FF2B5EF4-FFF2-40B4-BE49-F238E27FC236}">
                <a16:creationId xmlns:a16="http://schemas.microsoft.com/office/drawing/2014/main" id="{1B2A782A-76D7-AF78-5B7B-4636327304D0}"/>
              </a:ext>
            </a:extLst>
          </p:cNvPr>
          <p:cNvSpPr txBox="1"/>
          <p:nvPr/>
        </p:nvSpPr>
        <p:spPr>
          <a:xfrm>
            <a:off x="10881029" y="4981418"/>
            <a:ext cx="246248" cy="169277"/>
          </a:xfrm>
          <a:prstGeom prst="rect">
            <a:avLst/>
          </a:prstGeom>
          <a:noFill/>
        </p:spPr>
        <p:txBody>
          <a:bodyPr wrap="square">
            <a:spAutoFit/>
          </a:bodyPr>
          <a:lstStyle/>
          <a:p>
            <a:r>
              <a:rPr lang="fr-FR" sz="500" dirty="0"/>
              <a:t>I =</a:t>
            </a:r>
          </a:p>
        </p:txBody>
      </p:sp>
      <p:sp>
        <p:nvSpPr>
          <p:cNvPr id="59" name="Rectangle 58">
            <a:extLst>
              <a:ext uri="{FF2B5EF4-FFF2-40B4-BE49-F238E27FC236}">
                <a16:creationId xmlns:a16="http://schemas.microsoft.com/office/drawing/2014/main" id="{00EF0713-D517-CB71-DCA4-462C1A5ACC0F}"/>
              </a:ext>
            </a:extLst>
          </p:cNvPr>
          <p:cNvSpPr/>
          <p:nvPr/>
        </p:nvSpPr>
        <p:spPr>
          <a:xfrm>
            <a:off x="11050032" y="4993658"/>
            <a:ext cx="120649" cy="11548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60" name="Rectangle 59">
            <a:extLst>
              <a:ext uri="{FF2B5EF4-FFF2-40B4-BE49-F238E27FC236}">
                <a16:creationId xmlns:a16="http://schemas.microsoft.com/office/drawing/2014/main" id="{A67365D5-E770-431D-D3E3-BB29D953728C}"/>
              </a:ext>
            </a:extLst>
          </p:cNvPr>
          <p:cNvSpPr/>
          <p:nvPr/>
        </p:nvSpPr>
        <p:spPr>
          <a:xfrm>
            <a:off x="11262496" y="5398067"/>
            <a:ext cx="246702" cy="2361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pic>
        <p:nvPicPr>
          <p:cNvPr id="61" name="Graphique 60" descr="Loupe avec un remplissage uni">
            <a:extLst>
              <a:ext uri="{FF2B5EF4-FFF2-40B4-BE49-F238E27FC236}">
                <a16:creationId xmlns:a16="http://schemas.microsoft.com/office/drawing/2014/main" id="{91BC131F-39A3-DC67-BBD7-C24D078105CE}"/>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r="11324"/>
          <a:stretch/>
        </p:blipFill>
        <p:spPr>
          <a:xfrm>
            <a:off x="4608620" y="3646306"/>
            <a:ext cx="7585567" cy="3063875"/>
          </a:xfrm>
          <a:prstGeom prst="rect">
            <a:avLst/>
          </a:prstGeom>
        </p:spPr>
      </p:pic>
    </p:spTree>
    <p:extLst>
      <p:ext uri="{BB962C8B-B14F-4D97-AF65-F5344CB8AC3E}">
        <p14:creationId xmlns:p14="http://schemas.microsoft.com/office/powerpoint/2010/main" val="354430356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4FEF12-A04E-685B-C483-20CC22F368FF}"/>
              </a:ext>
            </a:extLst>
          </p:cNvPr>
          <p:cNvSpPr>
            <a:spLocks noGrp="1"/>
          </p:cNvSpPr>
          <p:nvPr>
            <p:ph type="title"/>
          </p:nvPr>
        </p:nvSpPr>
        <p:spPr/>
        <p:txBody>
          <a:bodyPr>
            <a:normAutofit/>
          </a:bodyPr>
          <a:lstStyle/>
          <a:p>
            <a:r>
              <a:rPr lang="fr-FR" sz="3200" dirty="0"/>
              <a:t>Exemples d’indicateurs </a:t>
            </a:r>
            <a:r>
              <a:rPr lang="fr-FR" sz="3200" dirty="0" err="1"/>
              <a:t>Monophase</a:t>
            </a:r>
            <a:r>
              <a:rPr lang="fr-FR" sz="3200" dirty="0"/>
              <a:t> CCC</a:t>
            </a:r>
          </a:p>
        </p:txBody>
      </p:sp>
      <p:grpSp>
        <p:nvGrpSpPr>
          <p:cNvPr id="6" name="Groupe 5">
            <a:extLst>
              <a:ext uri="{FF2B5EF4-FFF2-40B4-BE49-F238E27FC236}">
                <a16:creationId xmlns:a16="http://schemas.microsoft.com/office/drawing/2014/main" id="{BD5A284B-E289-1F39-1885-506D3CA051B0}"/>
              </a:ext>
            </a:extLst>
          </p:cNvPr>
          <p:cNvGrpSpPr/>
          <p:nvPr/>
        </p:nvGrpSpPr>
        <p:grpSpPr>
          <a:xfrm>
            <a:off x="1168158" y="1690688"/>
            <a:ext cx="9855683" cy="1127463"/>
            <a:chOff x="11600" y="1496380"/>
            <a:chExt cx="12038120" cy="1498765"/>
          </a:xfrm>
        </p:grpSpPr>
        <p:grpSp>
          <p:nvGrpSpPr>
            <p:cNvPr id="7" name="Groupe 6">
              <a:extLst>
                <a:ext uri="{FF2B5EF4-FFF2-40B4-BE49-F238E27FC236}">
                  <a16:creationId xmlns:a16="http://schemas.microsoft.com/office/drawing/2014/main" id="{3C2E15DC-BCAC-E84A-DB98-E910AA259463}"/>
                </a:ext>
              </a:extLst>
            </p:cNvPr>
            <p:cNvGrpSpPr/>
            <p:nvPr/>
          </p:nvGrpSpPr>
          <p:grpSpPr>
            <a:xfrm>
              <a:off x="11600" y="2499558"/>
              <a:ext cx="12038120" cy="495587"/>
              <a:chOff x="0" y="2140394"/>
              <a:chExt cx="12854128" cy="4544491"/>
            </a:xfrm>
          </p:grpSpPr>
          <p:sp>
            <p:nvSpPr>
              <p:cNvPr id="15" name="Espace réservé du texte 15">
                <a:extLst>
                  <a:ext uri="{FF2B5EF4-FFF2-40B4-BE49-F238E27FC236}">
                    <a16:creationId xmlns:a16="http://schemas.microsoft.com/office/drawing/2014/main" id="{BA527FCA-3E95-ABD5-1790-81E213FFF33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INSPIRATION</a:t>
                </a:r>
              </a:p>
              <a:p>
                <a:pPr marL="0" indent="0" algn="ctr">
                  <a:buFont typeface="Arial" panose="020B0604020202020204" pitchFamily="34" charset="0"/>
                  <a:buNone/>
                </a:pPr>
                <a:endParaRPr lang="fr-FR" sz="1050" b="1" i="1">
                  <a:solidFill>
                    <a:srgbClr val="ED7D31"/>
                  </a:solidFill>
                </a:endParaRPr>
              </a:p>
            </p:txBody>
          </p:sp>
          <p:sp>
            <p:nvSpPr>
              <p:cNvPr id="16" name="Espace réservé du texte 15">
                <a:extLst>
                  <a:ext uri="{FF2B5EF4-FFF2-40B4-BE49-F238E27FC236}">
                    <a16:creationId xmlns:a16="http://schemas.microsoft.com/office/drawing/2014/main" id="{40B87375-FE0E-53E9-9FA5-FD74B837A778}"/>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COLLECTE</a:t>
                </a:r>
              </a:p>
              <a:p>
                <a:pPr marL="0" indent="0" algn="ctr">
                  <a:buFont typeface="Arial" panose="020B0604020202020204" pitchFamily="34" charset="0"/>
                  <a:buNone/>
                </a:pPr>
                <a:endParaRPr lang="fr-FR" sz="1050" b="1" i="1">
                  <a:solidFill>
                    <a:srgbClr val="ED7D31"/>
                  </a:solidFill>
                </a:endParaRPr>
              </a:p>
            </p:txBody>
          </p:sp>
          <p:sp>
            <p:nvSpPr>
              <p:cNvPr id="17" name="Espace réservé du texte 15">
                <a:extLst>
                  <a:ext uri="{FF2B5EF4-FFF2-40B4-BE49-F238E27FC236}">
                    <a16:creationId xmlns:a16="http://schemas.microsoft.com/office/drawing/2014/main" id="{9AFC2C30-9952-CB9A-0624-7FF908B3FF02}"/>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INITIATION</a:t>
                </a:r>
              </a:p>
              <a:p>
                <a:pPr marL="0" indent="0" algn="ctr">
                  <a:buFont typeface="Arial" panose="020B0604020202020204" pitchFamily="34" charset="0"/>
                  <a:buNone/>
                </a:pPr>
                <a:endParaRPr lang="fr-FR" sz="1050" b="1" i="1">
                  <a:solidFill>
                    <a:srgbClr val="ED7D31"/>
                  </a:solidFill>
                </a:endParaRPr>
              </a:p>
            </p:txBody>
          </p:sp>
          <p:sp>
            <p:nvSpPr>
              <p:cNvPr id="18" name="Espace réservé du texte 15">
                <a:extLst>
                  <a:ext uri="{FF2B5EF4-FFF2-40B4-BE49-F238E27FC236}">
                    <a16:creationId xmlns:a16="http://schemas.microsoft.com/office/drawing/2014/main" id="{E60894AE-CD9F-255B-146B-A1EC8A36D62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CHOC DE LA RÉALITÉ</a:t>
                </a:r>
              </a:p>
              <a:p>
                <a:pPr marL="0" indent="0" algn="ctr">
                  <a:buFont typeface="Arial" panose="020B0604020202020204" pitchFamily="34" charset="0"/>
                  <a:buNone/>
                </a:pPr>
                <a:endParaRPr lang="fr-FR" sz="1050" b="1" i="1">
                  <a:solidFill>
                    <a:srgbClr val="ED7D31"/>
                  </a:solidFill>
                </a:endParaRPr>
              </a:p>
            </p:txBody>
          </p:sp>
          <p:sp>
            <p:nvSpPr>
              <p:cNvPr id="19" name="Espace réservé du texte 15">
                <a:extLst>
                  <a:ext uri="{FF2B5EF4-FFF2-40B4-BE49-F238E27FC236}">
                    <a16:creationId xmlns:a16="http://schemas.microsoft.com/office/drawing/2014/main" id="{E509E4EF-5771-4047-9D33-5E5485D10AD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CONFIRMATION DE RÉUSSITES</a:t>
                </a:r>
              </a:p>
            </p:txBody>
          </p:sp>
          <p:sp>
            <p:nvSpPr>
              <p:cNvPr id="20" name="Espace réservé du texte 15">
                <a:extLst>
                  <a:ext uri="{FF2B5EF4-FFF2-40B4-BE49-F238E27FC236}">
                    <a16:creationId xmlns:a16="http://schemas.microsoft.com/office/drawing/2014/main" id="{7E945937-C449-FF70-E277-D6CDBF286575}"/>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EXPOSITION</a:t>
                </a:r>
              </a:p>
            </p:txBody>
          </p:sp>
          <p:sp>
            <p:nvSpPr>
              <p:cNvPr id="21" name="Espace réservé du texte 15">
                <a:extLst>
                  <a:ext uri="{FF2B5EF4-FFF2-40B4-BE49-F238E27FC236}">
                    <a16:creationId xmlns:a16="http://schemas.microsoft.com/office/drawing/2014/main" id="{87112F22-E012-C747-3378-3E486AA51D9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050" b="1" i="1">
                    <a:solidFill>
                      <a:srgbClr val="0683AA"/>
                    </a:solidFill>
                  </a:rPr>
                  <a:t>FORTIFICATION</a:t>
                </a:r>
              </a:p>
              <a:p>
                <a:pPr marL="0" indent="0" algn="ctr">
                  <a:buFont typeface="Arial" panose="020B0604020202020204" pitchFamily="34" charset="0"/>
                  <a:buNone/>
                </a:pPr>
                <a:endParaRPr lang="fr-FR" sz="1050" b="1" i="1">
                  <a:solidFill>
                    <a:srgbClr val="ED7D31"/>
                  </a:solidFill>
                </a:endParaRPr>
              </a:p>
            </p:txBody>
          </p:sp>
        </p:grpSp>
        <p:pic>
          <p:nvPicPr>
            <p:cNvPr id="8" name="Graphique 7" descr="Ampoule avec un remplissage uni">
              <a:extLst>
                <a:ext uri="{FF2B5EF4-FFF2-40B4-BE49-F238E27FC236}">
                  <a16:creationId xmlns:a16="http://schemas.microsoft.com/office/drawing/2014/main" id="{52E6FBA0-DD28-3318-207E-E51D39ABAD9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9" name="Graphique 8" descr="Seau et pelle avec un remplissage uni">
              <a:extLst>
                <a:ext uri="{FF2B5EF4-FFF2-40B4-BE49-F238E27FC236}">
                  <a16:creationId xmlns:a16="http://schemas.microsoft.com/office/drawing/2014/main" id="{A9F89EA2-BEA1-4030-570D-C7AF13D3EC4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0" name="Graphique 9" descr="Tubes à essai avec un remplissage uni">
              <a:extLst>
                <a:ext uri="{FF2B5EF4-FFF2-40B4-BE49-F238E27FC236}">
                  <a16:creationId xmlns:a16="http://schemas.microsoft.com/office/drawing/2014/main" id="{5017FAEF-D4C6-EDEA-122B-390A4752EE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1" name="Graphique 10" descr="Explosion avec un remplissage uni">
              <a:extLst>
                <a:ext uri="{FF2B5EF4-FFF2-40B4-BE49-F238E27FC236}">
                  <a16:creationId xmlns:a16="http://schemas.microsoft.com/office/drawing/2014/main" id="{F66CEFEB-3DA6-0CDF-9F81-35D7ACD4174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2" name="Graphique 11" descr="Trophée avec un remplissage uni">
              <a:extLst>
                <a:ext uri="{FF2B5EF4-FFF2-40B4-BE49-F238E27FC236}">
                  <a16:creationId xmlns:a16="http://schemas.microsoft.com/office/drawing/2014/main" id="{7D8B85A2-501A-66C0-F43A-01318A3B563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3" name="Graphique 12" descr="Assiette couverte avec un remplissage uni">
              <a:extLst>
                <a:ext uri="{FF2B5EF4-FFF2-40B4-BE49-F238E27FC236}">
                  <a16:creationId xmlns:a16="http://schemas.microsoft.com/office/drawing/2014/main" id="{FE01236F-0A1D-4BD6-949B-64A2F9573E0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4" name="Graphique 13" descr="Scène de château avec un remplissage uni">
              <a:extLst>
                <a:ext uri="{FF2B5EF4-FFF2-40B4-BE49-F238E27FC236}">
                  <a16:creationId xmlns:a16="http://schemas.microsoft.com/office/drawing/2014/main" id="{97387D74-0F11-903D-6781-EA083F32AFC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22" name="Rectangle 21">
            <a:extLst>
              <a:ext uri="{FF2B5EF4-FFF2-40B4-BE49-F238E27FC236}">
                <a16:creationId xmlns:a16="http://schemas.microsoft.com/office/drawing/2014/main" id="{F2E90C80-B0E1-8F8D-6025-A287E280C9B5}"/>
              </a:ext>
            </a:extLst>
          </p:cNvPr>
          <p:cNvSpPr/>
          <p:nvPr/>
        </p:nvSpPr>
        <p:spPr>
          <a:xfrm>
            <a:off x="1251753" y="2884934"/>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de personnes qui ont assisté aux événements de la Communauté</a:t>
            </a:r>
          </a:p>
        </p:txBody>
      </p:sp>
      <p:sp>
        <p:nvSpPr>
          <p:cNvPr id="23" name="Rectangle 22">
            <a:extLst>
              <a:ext uri="{FF2B5EF4-FFF2-40B4-BE49-F238E27FC236}">
                <a16:creationId xmlns:a16="http://schemas.microsoft.com/office/drawing/2014/main" id="{768B6BFB-F5C5-E98E-B525-916B6E63CF75}"/>
              </a:ext>
            </a:extLst>
          </p:cNvPr>
          <p:cNvSpPr/>
          <p:nvPr/>
        </p:nvSpPr>
        <p:spPr>
          <a:xfrm>
            <a:off x="1251370" y="4039850"/>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de personnes qui ont ouvert les contenus de la Communauté</a:t>
            </a:r>
          </a:p>
        </p:txBody>
      </p:sp>
      <p:sp>
        <p:nvSpPr>
          <p:cNvPr id="26" name="Rectangle 25">
            <a:extLst>
              <a:ext uri="{FF2B5EF4-FFF2-40B4-BE49-F238E27FC236}">
                <a16:creationId xmlns:a16="http://schemas.microsoft.com/office/drawing/2014/main" id="{0264F0DD-BA33-1CB7-6F21-4201F4CAD868}"/>
              </a:ext>
            </a:extLst>
          </p:cNvPr>
          <p:cNvSpPr/>
          <p:nvPr/>
        </p:nvSpPr>
        <p:spPr>
          <a:xfrm>
            <a:off x="2675632" y="2884934"/>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de personnes  auditées / cas audités sur le sujet</a:t>
            </a:r>
          </a:p>
        </p:txBody>
      </p:sp>
      <p:sp>
        <p:nvSpPr>
          <p:cNvPr id="28" name="Rectangle 27">
            <a:extLst>
              <a:ext uri="{FF2B5EF4-FFF2-40B4-BE49-F238E27FC236}">
                <a16:creationId xmlns:a16="http://schemas.microsoft.com/office/drawing/2014/main" id="{85C56111-9850-1125-4666-5B1D2C692D1A}"/>
              </a:ext>
            </a:extLst>
          </p:cNvPr>
          <p:cNvSpPr/>
          <p:nvPr/>
        </p:nvSpPr>
        <p:spPr>
          <a:xfrm>
            <a:off x="5523390" y="2884934"/>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(déclaratif) de problèmes résolus ou évités grâce à une discussion dans la Communauté</a:t>
            </a:r>
          </a:p>
        </p:txBody>
      </p:sp>
      <p:sp>
        <p:nvSpPr>
          <p:cNvPr id="29" name="Rectangle 28">
            <a:extLst>
              <a:ext uri="{FF2B5EF4-FFF2-40B4-BE49-F238E27FC236}">
                <a16:creationId xmlns:a16="http://schemas.microsoft.com/office/drawing/2014/main" id="{6C061866-5A64-D424-CDED-99202FC3D238}"/>
              </a:ext>
            </a:extLst>
          </p:cNvPr>
          <p:cNvSpPr/>
          <p:nvPr/>
        </p:nvSpPr>
        <p:spPr>
          <a:xfrm>
            <a:off x="6947269" y="2884934"/>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de productions (livrables) de la Communauté qui capitalisent les bonnes pratiques</a:t>
            </a:r>
          </a:p>
        </p:txBody>
      </p:sp>
      <p:sp>
        <p:nvSpPr>
          <p:cNvPr id="30" name="Rectangle 29">
            <a:extLst>
              <a:ext uri="{FF2B5EF4-FFF2-40B4-BE49-F238E27FC236}">
                <a16:creationId xmlns:a16="http://schemas.microsoft.com/office/drawing/2014/main" id="{B3C19789-D9BA-9B21-651A-4C63DF25E852}"/>
              </a:ext>
            </a:extLst>
          </p:cNvPr>
          <p:cNvSpPr/>
          <p:nvPr/>
        </p:nvSpPr>
        <p:spPr>
          <a:xfrm>
            <a:off x="4099511" y="2884934"/>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d’objectifs pédagogiques atteints par les activités de la Communauté</a:t>
            </a:r>
          </a:p>
        </p:txBody>
      </p:sp>
      <p:sp>
        <p:nvSpPr>
          <p:cNvPr id="31" name="Rectangle 30">
            <a:extLst>
              <a:ext uri="{FF2B5EF4-FFF2-40B4-BE49-F238E27FC236}">
                <a16:creationId xmlns:a16="http://schemas.microsoft.com/office/drawing/2014/main" id="{B9588BEA-5A1E-5FD7-1431-7F4AF0771E50}"/>
              </a:ext>
            </a:extLst>
          </p:cNvPr>
          <p:cNvSpPr/>
          <p:nvPr/>
        </p:nvSpPr>
        <p:spPr>
          <a:xfrm>
            <a:off x="8371148" y="2884934"/>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d’événements externes donnés / contenus envoyés par la Communauté</a:t>
            </a:r>
          </a:p>
        </p:txBody>
      </p:sp>
      <p:sp>
        <p:nvSpPr>
          <p:cNvPr id="32" name="Rectangle 31">
            <a:extLst>
              <a:ext uri="{FF2B5EF4-FFF2-40B4-BE49-F238E27FC236}">
                <a16:creationId xmlns:a16="http://schemas.microsoft.com/office/drawing/2014/main" id="{57D4C7D5-7D47-AB65-2F7D-77A869F51898}"/>
              </a:ext>
            </a:extLst>
          </p:cNvPr>
          <p:cNvSpPr/>
          <p:nvPr/>
        </p:nvSpPr>
        <p:spPr>
          <a:xfrm>
            <a:off x="9795029" y="2884934"/>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de contributions de la Communauté aux recrutements, fiches de postes etc.</a:t>
            </a:r>
          </a:p>
        </p:txBody>
      </p:sp>
      <p:sp>
        <p:nvSpPr>
          <p:cNvPr id="33" name="Rectangle 32">
            <a:extLst>
              <a:ext uri="{FF2B5EF4-FFF2-40B4-BE49-F238E27FC236}">
                <a16:creationId xmlns:a16="http://schemas.microsoft.com/office/drawing/2014/main" id="{0E632038-8CA8-D126-6836-E568DEA142EE}"/>
              </a:ext>
            </a:extLst>
          </p:cNvPr>
          <p:cNvSpPr/>
          <p:nvPr/>
        </p:nvSpPr>
        <p:spPr>
          <a:xfrm>
            <a:off x="2675313" y="4039850"/>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d’avis collectés sur les sujets de la communauté, leur intérêt, leur applicabilité, etc.</a:t>
            </a:r>
          </a:p>
        </p:txBody>
      </p:sp>
      <p:sp>
        <p:nvSpPr>
          <p:cNvPr id="34" name="Rectangle 33">
            <a:extLst>
              <a:ext uri="{FF2B5EF4-FFF2-40B4-BE49-F238E27FC236}">
                <a16:creationId xmlns:a16="http://schemas.microsoft.com/office/drawing/2014/main" id="{6B943E5C-B696-0DB4-CC14-E7138BB3176F}"/>
              </a:ext>
            </a:extLst>
          </p:cNvPr>
          <p:cNvSpPr/>
          <p:nvPr/>
        </p:nvSpPr>
        <p:spPr>
          <a:xfrm>
            <a:off x="5523199" y="4039850"/>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Temps gagné (déclaratif) dans le quotidien grâce à la Communauté</a:t>
            </a:r>
          </a:p>
        </p:txBody>
      </p:sp>
      <p:sp>
        <p:nvSpPr>
          <p:cNvPr id="35" name="Rectangle 34">
            <a:extLst>
              <a:ext uri="{FF2B5EF4-FFF2-40B4-BE49-F238E27FC236}">
                <a16:creationId xmlns:a16="http://schemas.microsoft.com/office/drawing/2014/main" id="{E9220BD6-0DB8-3AE9-733B-08F161297912}"/>
              </a:ext>
            </a:extLst>
          </p:cNvPr>
          <p:cNvSpPr/>
          <p:nvPr/>
        </p:nvSpPr>
        <p:spPr>
          <a:xfrm>
            <a:off x="6947142" y="4039850"/>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de réussites des membres où ils reconnaissent la contribution de la Communauté</a:t>
            </a:r>
          </a:p>
        </p:txBody>
      </p:sp>
      <p:sp>
        <p:nvSpPr>
          <p:cNvPr id="36" name="Rectangle 35">
            <a:extLst>
              <a:ext uri="{FF2B5EF4-FFF2-40B4-BE49-F238E27FC236}">
                <a16:creationId xmlns:a16="http://schemas.microsoft.com/office/drawing/2014/main" id="{7384090E-58C9-DD50-02ED-BFD717354021}"/>
              </a:ext>
            </a:extLst>
          </p:cNvPr>
          <p:cNvSpPr/>
          <p:nvPr/>
        </p:nvSpPr>
        <p:spPr>
          <a:xfrm>
            <a:off x="4099256" y="4039850"/>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de certifications internes ou externes passées grâce à la Communauté</a:t>
            </a:r>
          </a:p>
        </p:txBody>
      </p:sp>
      <p:sp>
        <p:nvSpPr>
          <p:cNvPr id="37" name="Rectangle 36">
            <a:extLst>
              <a:ext uri="{FF2B5EF4-FFF2-40B4-BE49-F238E27FC236}">
                <a16:creationId xmlns:a16="http://schemas.microsoft.com/office/drawing/2014/main" id="{B3CFEB5C-4A0E-08EF-58B7-C17146810D69}"/>
              </a:ext>
            </a:extLst>
          </p:cNvPr>
          <p:cNvSpPr/>
          <p:nvPr/>
        </p:nvSpPr>
        <p:spPr>
          <a:xfrm>
            <a:off x="8371085" y="4039850"/>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Niveau d’adhésion et d’engagement des externes dans les activités de la Communauté</a:t>
            </a:r>
          </a:p>
        </p:txBody>
      </p:sp>
      <p:sp>
        <p:nvSpPr>
          <p:cNvPr id="39" name="Rectangle 38">
            <a:extLst>
              <a:ext uri="{FF2B5EF4-FFF2-40B4-BE49-F238E27FC236}">
                <a16:creationId xmlns:a16="http://schemas.microsoft.com/office/drawing/2014/main" id="{1CA85970-807D-4D50-FEDE-4E88ACE1BE77}"/>
              </a:ext>
            </a:extLst>
          </p:cNvPr>
          <p:cNvSpPr/>
          <p:nvPr/>
        </p:nvSpPr>
        <p:spPr>
          <a:xfrm>
            <a:off x="1251370" y="5154506"/>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Niveau de satisfaction général (ROTI, etc.) sur les activités inspirantes</a:t>
            </a:r>
          </a:p>
        </p:txBody>
      </p:sp>
      <p:sp>
        <p:nvSpPr>
          <p:cNvPr id="41" name="Rectangle 40">
            <a:extLst>
              <a:ext uri="{FF2B5EF4-FFF2-40B4-BE49-F238E27FC236}">
                <a16:creationId xmlns:a16="http://schemas.microsoft.com/office/drawing/2014/main" id="{A0F4B423-CEBE-0C31-2236-92D609AEFC90}"/>
              </a:ext>
            </a:extLst>
          </p:cNvPr>
          <p:cNvSpPr/>
          <p:nvPr/>
        </p:nvSpPr>
        <p:spPr>
          <a:xfrm>
            <a:off x="5523199" y="5154506"/>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de sessions d’entraide, de requêtes qui ont mené à une réponse de la Communauté</a:t>
            </a:r>
          </a:p>
        </p:txBody>
      </p:sp>
      <p:sp>
        <p:nvSpPr>
          <p:cNvPr id="43" name="Rectangle 42">
            <a:extLst>
              <a:ext uri="{FF2B5EF4-FFF2-40B4-BE49-F238E27FC236}">
                <a16:creationId xmlns:a16="http://schemas.microsoft.com/office/drawing/2014/main" id="{5CB7D414-E39C-2C5D-5755-26FB66864AEC}"/>
              </a:ext>
            </a:extLst>
          </p:cNvPr>
          <p:cNvSpPr/>
          <p:nvPr/>
        </p:nvSpPr>
        <p:spPr>
          <a:xfrm>
            <a:off x="4099256" y="5154506"/>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de formations données, de moments d’apprentissages organisés</a:t>
            </a:r>
          </a:p>
        </p:txBody>
      </p:sp>
      <p:sp>
        <p:nvSpPr>
          <p:cNvPr id="44" name="Rectangle 43">
            <a:extLst>
              <a:ext uri="{FF2B5EF4-FFF2-40B4-BE49-F238E27FC236}">
                <a16:creationId xmlns:a16="http://schemas.microsoft.com/office/drawing/2014/main" id="{EB8CB403-1441-E808-7800-B85A8724B5EF}"/>
              </a:ext>
            </a:extLst>
          </p:cNvPr>
          <p:cNvSpPr/>
          <p:nvPr/>
        </p:nvSpPr>
        <p:spPr>
          <a:xfrm>
            <a:off x="8371085" y="5154506"/>
            <a:ext cx="1154096" cy="10478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Nombre d’externes et niveau moyen d’engagement des externes dans les offres de la Communauté</a:t>
            </a:r>
          </a:p>
        </p:txBody>
      </p:sp>
    </p:spTree>
    <p:extLst>
      <p:ext uri="{BB962C8B-B14F-4D97-AF65-F5344CB8AC3E}">
        <p14:creationId xmlns:p14="http://schemas.microsoft.com/office/powerpoint/2010/main" val="240604623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4FEF12-A04E-685B-C483-20CC22F368FF}"/>
              </a:ext>
            </a:extLst>
          </p:cNvPr>
          <p:cNvSpPr>
            <a:spLocks noGrp="1"/>
          </p:cNvSpPr>
          <p:nvPr>
            <p:ph type="title"/>
          </p:nvPr>
        </p:nvSpPr>
        <p:spPr/>
        <p:txBody>
          <a:bodyPr/>
          <a:lstStyle/>
          <a:p>
            <a:r>
              <a:rPr lang="fr-FR" dirty="0"/>
              <a:t>Liste des indicateurs </a:t>
            </a:r>
            <a:r>
              <a:rPr lang="fr-FR" dirty="0" err="1"/>
              <a:t>multiphases</a:t>
            </a:r>
            <a:r>
              <a:rPr lang="fr-FR" dirty="0"/>
              <a:t> proposés</a:t>
            </a:r>
            <a:br>
              <a:rPr lang="fr-FR" dirty="0"/>
            </a:br>
            <a:r>
              <a:rPr lang="fr-FR" dirty="0"/>
              <a:t>CCC-</a:t>
            </a:r>
            <a:r>
              <a:rPr lang="fr-FR" dirty="0" err="1"/>
              <a:t>Indicators</a:t>
            </a:r>
            <a:endParaRPr lang="fr-FR" dirty="0"/>
          </a:p>
        </p:txBody>
      </p:sp>
      <p:sp>
        <p:nvSpPr>
          <p:cNvPr id="3" name="Espace réservé du contenu 2">
            <a:extLst>
              <a:ext uri="{FF2B5EF4-FFF2-40B4-BE49-F238E27FC236}">
                <a16:creationId xmlns:a16="http://schemas.microsoft.com/office/drawing/2014/main" id="{1DCB69B2-56D8-803F-7E36-C8D532A7FE36}"/>
              </a:ext>
            </a:extLst>
          </p:cNvPr>
          <p:cNvSpPr>
            <a:spLocks noGrp="1"/>
          </p:cNvSpPr>
          <p:nvPr>
            <p:ph idx="1"/>
          </p:nvPr>
        </p:nvSpPr>
        <p:spPr>
          <a:xfrm>
            <a:off x="2725444" y="1825625"/>
            <a:ext cx="8628355" cy="4351338"/>
          </a:xfrm>
        </p:spPr>
        <p:txBody>
          <a:bodyPr>
            <a:normAutofit/>
          </a:bodyPr>
          <a:lstStyle/>
          <a:p>
            <a:pPr marL="514350" indent="-514350">
              <a:buFont typeface="+mj-lt"/>
              <a:buAutoNum type="arabicPeriod"/>
            </a:pPr>
            <a:r>
              <a:rPr lang="fr-FR" sz="1800" dirty="0"/>
              <a:t>En cours de sujets</a:t>
            </a:r>
          </a:p>
          <a:p>
            <a:pPr marL="514350" indent="-514350">
              <a:buFont typeface="+mj-lt"/>
              <a:buAutoNum type="arabicPeriod"/>
            </a:pPr>
            <a:r>
              <a:rPr lang="fr-FR" sz="1800" dirty="0"/>
              <a:t>Niveau moyen des objectifs</a:t>
            </a:r>
          </a:p>
          <a:p>
            <a:pPr marL="514350" indent="-514350">
              <a:buFont typeface="+mj-lt"/>
              <a:buAutoNum type="arabicPeriod"/>
            </a:pPr>
            <a:r>
              <a:rPr lang="fr-FR" sz="1800" dirty="0"/>
              <a:t>Proportion de sujets pour lesquels la communauté a fixé un but</a:t>
            </a:r>
          </a:p>
          <a:p>
            <a:pPr marL="514350" indent="-514350">
              <a:buFont typeface="+mj-lt"/>
              <a:buAutoNum type="arabicPeriod"/>
            </a:pPr>
            <a:r>
              <a:rPr lang="fr-FR" sz="1800" dirty="0"/>
              <a:t>Proportion de sujets qui ont atteint leurs objectifs de phase</a:t>
            </a:r>
          </a:p>
          <a:p>
            <a:pPr marL="514350" indent="-514350">
              <a:buFont typeface="+mj-lt"/>
              <a:buAutoNum type="arabicPeriod"/>
            </a:pPr>
            <a:r>
              <a:rPr lang="fr-FR" sz="1800" dirty="0"/>
              <a:t>Niveau moyen de maturité des sujets</a:t>
            </a:r>
          </a:p>
          <a:p>
            <a:pPr marL="514350" indent="-514350">
              <a:buFont typeface="+mj-lt"/>
              <a:buAutoNum type="arabicPeriod"/>
            </a:pPr>
            <a:r>
              <a:rPr lang="fr-FR" sz="1800" dirty="0"/>
              <a:t>Niveau moyen des membres sur un sujet donné</a:t>
            </a:r>
          </a:p>
          <a:p>
            <a:pPr marL="514350" indent="-514350">
              <a:buFont typeface="+mj-lt"/>
              <a:buAutoNum type="arabicPeriod"/>
            </a:pPr>
            <a:r>
              <a:rPr lang="fr-FR" sz="1800" dirty="0"/>
              <a:t>Indice d’</a:t>
            </a:r>
            <a:r>
              <a:rPr lang="fr-FR" sz="1800" dirty="0" err="1"/>
              <a:t>heterogéneïté</a:t>
            </a:r>
            <a:r>
              <a:rPr lang="fr-FR" sz="1800" dirty="0"/>
              <a:t> des niveaux des membres sur un sujet donné</a:t>
            </a:r>
          </a:p>
          <a:p>
            <a:pPr marL="514350" indent="-514350">
              <a:buFont typeface="+mj-lt"/>
              <a:buAutoNum type="arabicPeriod"/>
            </a:pPr>
            <a:r>
              <a:rPr lang="fr-FR" sz="1800" dirty="0"/>
              <a:t>Proportions d’activités par phase (sur base d’historique)</a:t>
            </a:r>
          </a:p>
        </p:txBody>
      </p:sp>
    </p:spTree>
    <p:extLst>
      <p:ext uri="{BB962C8B-B14F-4D97-AF65-F5344CB8AC3E}">
        <p14:creationId xmlns:p14="http://schemas.microsoft.com/office/powerpoint/2010/main" val="182464086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p:txBody>
          <a:bodyPr>
            <a:noAutofit/>
          </a:bodyPr>
          <a:lstStyle/>
          <a:p>
            <a:r>
              <a:rPr lang="fr-FR" sz="2800" b="1" dirty="0"/>
              <a:t>Indicateur : </a:t>
            </a:r>
            <a:br>
              <a:rPr lang="fr-FR" sz="2800" b="1" dirty="0"/>
            </a:br>
            <a:r>
              <a:rPr lang="fr-FR" sz="2800" dirty="0"/>
              <a:t>En-cours de sujets</a:t>
            </a:r>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endParaRPr lang="fr-FR" sz="1400" b="1" dirty="0"/>
          </a:p>
          <a:p>
            <a:pPr marL="0" indent="0">
              <a:buNone/>
            </a:pPr>
            <a:r>
              <a:rPr lang="fr-FR" sz="1400" dirty="0"/>
              <a:t>Avoir identifié les sujets de la communauté </a:t>
            </a:r>
          </a:p>
          <a:p>
            <a:pPr marL="0" indent="0">
              <a:buNone/>
            </a:pPr>
            <a:endParaRPr lang="fr-FR" sz="1400" dirty="0"/>
          </a:p>
          <a:p>
            <a:pPr marL="0" indent="0">
              <a:buNone/>
            </a:pPr>
            <a:r>
              <a:rPr lang="fr-FR" sz="1400" dirty="0"/>
              <a:t>Avoir identifié les objectifs de phase des différents sujets avec CCC-Goals </a:t>
            </a:r>
          </a:p>
          <a:p>
            <a:pPr marL="0" indent="0">
              <a:buNone/>
            </a:pPr>
            <a:endParaRPr lang="fr-FR" sz="1400" dirty="0"/>
          </a:p>
          <a:p>
            <a:pPr marL="0" indent="0">
              <a:buNone/>
            </a:pPr>
            <a:r>
              <a:rPr lang="fr-FR" sz="1400" dirty="0"/>
              <a:t>Avoir identifié les statuts des tickets avec CCC-Flow</a:t>
            </a:r>
          </a:p>
          <a:p>
            <a:pPr marL="0" indent="0">
              <a:buNone/>
            </a:pPr>
            <a:endParaRPr lang="fr-FR" sz="1400" dirty="0"/>
          </a:p>
          <a:p>
            <a:pPr marL="0" indent="0">
              <a:buNone/>
            </a:pPr>
            <a:endParaRPr lang="fr-FR" sz="1400" dirty="0"/>
          </a:p>
          <a:p>
            <a:pPr marL="0" indent="0">
              <a:buNone/>
            </a:pPr>
            <a:endParaRPr lang="fr-FR" sz="1800" b="1" dirty="0"/>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Le but de cet indicateur est de mesurer le nombre de sujets qui ne sont pas encore considérés comme terminés (ayant atteint leurs objectifs) dans la Communauté. </a:t>
            </a:r>
          </a:p>
          <a:p>
            <a:pPr marL="0" indent="0">
              <a:buNone/>
            </a:pPr>
            <a:endParaRPr lang="fr-FR" sz="1400" dirty="0"/>
          </a:p>
          <a:p>
            <a:pPr marL="0" indent="0">
              <a:buNone/>
            </a:pPr>
            <a:r>
              <a:rPr lang="fr-FR" sz="1400" dirty="0"/>
              <a:t>Plus il y a de sujets « non terminés », plus cela influence les exercices de choix et de priorisation de sujet (en augmentant leur complexité), et plus il y a un risque de dispersion.</a:t>
            </a:r>
          </a:p>
          <a:p>
            <a:pPr marL="0" indent="0">
              <a:buNone/>
            </a:pPr>
            <a:endParaRPr lang="fr-FR" sz="1400" dirty="0"/>
          </a:p>
        </p:txBody>
      </p:sp>
      <p:grpSp>
        <p:nvGrpSpPr>
          <p:cNvPr id="6" name="Groupe 5">
            <a:extLst>
              <a:ext uri="{FF2B5EF4-FFF2-40B4-BE49-F238E27FC236}">
                <a16:creationId xmlns:a16="http://schemas.microsoft.com/office/drawing/2014/main" id="{1BF44FE3-5DEA-E7C2-574B-DA5153AAD1C4}"/>
              </a:ext>
            </a:extLst>
          </p:cNvPr>
          <p:cNvGrpSpPr/>
          <p:nvPr/>
        </p:nvGrpSpPr>
        <p:grpSpPr>
          <a:xfrm>
            <a:off x="1004899" y="2075168"/>
            <a:ext cx="4013145" cy="458111"/>
            <a:chOff x="11600" y="1496380"/>
            <a:chExt cx="12038120" cy="1498765"/>
          </a:xfrm>
        </p:grpSpPr>
        <p:grpSp>
          <p:nvGrpSpPr>
            <p:cNvPr id="60" name="Groupe 59">
              <a:extLst>
                <a:ext uri="{FF2B5EF4-FFF2-40B4-BE49-F238E27FC236}">
                  <a16:creationId xmlns:a16="http://schemas.microsoft.com/office/drawing/2014/main" id="{E68483BE-3531-9CA2-4F6D-D1D766FAE4DF}"/>
                </a:ext>
              </a:extLst>
            </p:cNvPr>
            <p:cNvGrpSpPr/>
            <p:nvPr/>
          </p:nvGrpSpPr>
          <p:grpSpPr>
            <a:xfrm>
              <a:off x="11600" y="2499558"/>
              <a:ext cx="12038120" cy="495587"/>
              <a:chOff x="0" y="2140394"/>
              <a:chExt cx="12854128" cy="4544491"/>
            </a:xfrm>
          </p:grpSpPr>
          <p:sp>
            <p:nvSpPr>
              <p:cNvPr id="68" name="Espace réservé du texte 15">
                <a:extLst>
                  <a:ext uri="{FF2B5EF4-FFF2-40B4-BE49-F238E27FC236}">
                    <a16:creationId xmlns:a16="http://schemas.microsoft.com/office/drawing/2014/main" id="{7F46281B-BB0B-E053-60C6-0E9F37DD9A9F}"/>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69" name="Espace réservé du texte 15">
                <a:extLst>
                  <a:ext uri="{FF2B5EF4-FFF2-40B4-BE49-F238E27FC236}">
                    <a16:creationId xmlns:a16="http://schemas.microsoft.com/office/drawing/2014/main" id="{6EDC949A-1451-7197-425B-72653F5F021D}"/>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70" name="Espace réservé du texte 15">
                <a:extLst>
                  <a:ext uri="{FF2B5EF4-FFF2-40B4-BE49-F238E27FC236}">
                    <a16:creationId xmlns:a16="http://schemas.microsoft.com/office/drawing/2014/main" id="{5962DA8B-40E7-8097-9E3A-230528001657}"/>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71" name="Espace réservé du texte 15">
                <a:extLst>
                  <a:ext uri="{FF2B5EF4-FFF2-40B4-BE49-F238E27FC236}">
                    <a16:creationId xmlns:a16="http://schemas.microsoft.com/office/drawing/2014/main" id="{74E60E0D-1F11-9B0F-B5FE-B605FA3AD2E6}"/>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72" name="Espace réservé du texte 15">
                <a:extLst>
                  <a:ext uri="{FF2B5EF4-FFF2-40B4-BE49-F238E27FC236}">
                    <a16:creationId xmlns:a16="http://schemas.microsoft.com/office/drawing/2014/main" id="{42BA4AF9-9A34-BF6C-7CC0-646FE7FB5959}"/>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73" name="Espace réservé du texte 15">
                <a:extLst>
                  <a:ext uri="{FF2B5EF4-FFF2-40B4-BE49-F238E27FC236}">
                    <a16:creationId xmlns:a16="http://schemas.microsoft.com/office/drawing/2014/main" id="{FDD8E2C1-09F6-B7D2-CC12-5304BA8A9922}"/>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74" name="Espace réservé du texte 15">
                <a:extLst>
                  <a:ext uri="{FF2B5EF4-FFF2-40B4-BE49-F238E27FC236}">
                    <a16:creationId xmlns:a16="http://schemas.microsoft.com/office/drawing/2014/main" id="{DD6F484E-BB35-7CE8-F809-B7D5F0A13E5C}"/>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61" name="Graphique 60" descr="Ampoule avec un remplissage uni">
              <a:extLst>
                <a:ext uri="{FF2B5EF4-FFF2-40B4-BE49-F238E27FC236}">
                  <a16:creationId xmlns:a16="http://schemas.microsoft.com/office/drawing/2014/main" id="{B3D7DDB2-9375-2AC1-FA2F-09E62DEABF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62" name="Graphique 61" descr="Seau et pelle avec un remplissage uni">
              <a:extLst>
                <a:ext uri="{FF2B5EF4-FFF2-40B4-BE49-F238E27FC236}">
                  <a16:creationId xmlns:a16="http://schemas.microsoft.com/office/drawing/2014/main" id="{C835C171-A400-71B8-EFA3-96E8909A2A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63" name="Graphique 62" descr="Tubes à essai avec un remplissage uni">
              <a:extLst>
                <a:ext uri="{FF2B5EF4-FFF2-40B4-BE49-F238E27FC236}">
                  <a16:creationId xmlns:a16="http://schemas.microsoft.com/office/drawing/2014/main" id="{494D14A7-05C6-D082-5286-EE83CC07F0A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64" name="Graphique 63" descr="Explosion avec un remplissage uni">
              <a:extLst>
                <a:ext uri="{FF2B5EF4-FFF2-40B4-BE49-F238E27FC236}">
                  <a16:creationId xmlns:a16="http://schemas.microsoft.com/office/drawing/2014/main" id="{6C642C0E-A5F3-1058-AD1F-0E8F635C774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65" name="Graphique 64" descr="Trophée avec un remplissage uni">
              <a:extLst>
                <a:ext uri="{FF2B5EF4-FFF2-40B4-BE49-F238E27FC236}">
                  <a16:creationId xmlns:a16="http://schemas.microsoft.com/office/drawing/2014/main" id="{63FA18B8-CC88-F495-EED5-0094A0D6128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66" name="Graphique 65" descr="Assiette couverte avec un remplissage uni">
              <a:extLst>
                <a:ext uri="{FF2B5EF4-FFF2-40B4-BE49-F238E27FC236}">
                  <a16:creationId xmlns:a16="http://schemas.microsoft.com/office/drawing/2014/main" id="{1F74D368-B443-3DE7-28A9-9353FA974FB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67" name="Graphique 66" descr="Scène de château avec un remplissage uni">
              <a:extLst>
                <a:ext uri="{FF2B5EF4-FFF2-40B4-BE49-F238E27FC236}">
                  <a16:creationId xmlns:a16="http://schemas.microsoft.com/office/drawing/2014/main" id="{D7E5E064-DAB1-1002-75ED-DA95ABBAF97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8" name="Groupe 7">
            <a:extLst>
              <a:ext uri="{FF2B5EF4-FFF2-40B4-BE49-F238E27FC236}">
                <a16:creationId xmlns:a16="http://schemas.microsoft.com/office/drawing/2014/main" id="{6168B20A-6F23-3F86-1220-EACCDDD8AE61}"/>
              </a:ext>
            </a:extLst>
          </p:cNvPr>
          <p:cNvGrpSpPr/>
          <p:nvPr/>
        </p:nvGrpSpPr>
        <p:grpSpPr>
          <a:xfrm>
            <a:off x="791077" y="2799355"/>
            <a:ext cx="1894821" cy="181741"/>
            <a:chOff x="3099062" y="3394846"/>
            <a:chExt cx="4016859" cy="385275"/>
          </a:xfrm>
        </p:grpSpPr>
        <p:sp>
          <p:nvSpPr>
            <p:cNvPr id="57" name="Rectangle 56">
              <a:extLst>
                <a:ext uri="{FF2B5EF4-FFF2-40B4-BE49-F238E27FC236}">
                  <a16:creationId xmlns:a16="http://schemas.microsoft.com/office/drawing/2014/main" id="{7E7DC007-C881-3F94-C5E4-8869A60F8F4E}"/>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8" name="Connecteur droit avec flèche 57">
              <a:extLst>
                <a:ext uri="{FF2B5EF4-FFF2-40B4-BE49-F238E27FC236}">
                  <a16:creationId xmlns:a16="http://schemas.microsoft.com/office/drawing/2014/main" id="{013DBF12-DEBC-25E5-A2A2-F82D1B8BA9E0}"/>
                </a:ext>
              </a:extLst>
            </p:cNvPr>
            <p:cNvCxnSpPr>
              <a:cxnSpLocks/>
              <a:stCxn id="57" idx="3"/>
              <a:endCxn id="59"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9" name="Graphique 58" descr="Mille avec un remplissage uni">
              <a:extLst>
                <a:ext uri="{FF2B5EF4-FFF2-40B4-BE49-F238E27FC236}">
                  <a16:creationId xmlns:a16="http://schemas.microsoft.com/office/drawing/2014/main" id="{6E7A8D1E-371A-388E-BC2E-F21AFA3D65E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sp>
          <p:nvSpPr>
            <p:cNvPr id="80" name="Rectangle 79">
              <a:extLst>
                <a:ext uri="{FF2B5EF4-FFF2-40B4-BE49-F238E27FC236}">
                  <a16:creationId xmlns:a16="http://schemas.microsoft.com/office/drawing/2014/main" id="{3C745A13-8A7A-C7A1-354F-82000179D8F9}"/>
                </a:ext>
              </a:extLst>
            </p:cNvPr>
            <p:cNvSpPr/>
            <p:nvPr/>
          </p:nvSpPr>
          <p:spPr>
            <a:xfrm>
              <a:off x="6183629" y="340845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9" name="Groupe 8">
            <a:extLst>
              <a:ext uri="{FF2B5EF4-FFF2-40B4-BE49-F238E27FC236}">
                <a16:creationId xmlns:a16="http://schemas.microsoft.com/office/drawing/2014/main" id="{4643A4B2-68B0-125F-A652-5D295D61A17E}"/>
              </a:ext>
            </a:extLst>
          </p:cNvPr>
          <p:cNvGrpSpPr/>
          <p:nvPr/>
        </p:nvGrpSpPr>
        <p:grpSpPr>
          <a:xfrm>
            <a:off x="791076" y="3011948"/>
            <a:ext cx="3469706" cy="181741"/>
            <a:chOff x="3099061" y="3796432"/>
            <a:chExt cx="7355485" cy="385275"/>
          </a:xfrm>
        </p:grpSpPr>
        <p:sp>
          <p:nvSpPr>
            <p:cNvPr id="54" name="Rectangle 53">
              <a:extLst>
                <a:ext uri="{FF2B5EF4-FFF2-40B4-BE49-F238E27FC236}">
                  <a16:creationId xmlns:a16="http://schemas.microsoft.com/office/drawing/2014/main" id="{FB0BB1EC-822F-DD13-BD83-4C83D8B7718B}"/>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5" name="Connecteur droit avec flèche 54">
              <a:extLst>
                <a:ext uri="{FF2B5EF4-FFF2-40B4-BE49-F238E27FC236}">
                  <a16:creationId xmlns:a16="http://schemas.microsoft.com/office/drawing/2014/main" id="{73B42778-CC87-F513-2EF9-B903E1CC136A}"/>
                </a:ext>
              </a:extLst>
            </p:cNvPr>
            <p:cNvCxnSpPr>
              <a:cxnSpLocks/>
              <a:stCxn id="54" idx="3"/>
              <a:endCxn id="56"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6" name="Graphique 55" descr="Mille avec un remplissage uni">
              <a:extLst>
                <a:ext uri="{FF2B5EF4-FFF2-40B4-BE49-F238E27FC236}">
                  <a16:creationId xmlns:a16="http://schemas.microsoft.com/office/drawing/2014/main" id="{0B24E34A-B988-7B55-F9A4-146AA57BBC1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sp>
          <p:nvSpPr>
            <p:cNvPr id="82" name="Rectangle 81">
              <a:extLst>
                <a:ext uri="{FF2B5EF4-FFF2-40B4-BE49-F238E27FC236}">
                  <a16:creationId xmlns:a16="http://schemas.microsoft.com/office/drawing/2014/main" id="{B30F002F-B2D0-414B-C42E-921A07F34695}"/>
                </a:ext>
              </a:extLst>
            </p:cNvPr>
            <p:cNvSpPr/>
            <p:nvPr/>
          </p:nvSpPr>
          <p:spPr>
            <a:xfrm>
              <a:off x="6183632" y="3839301"/>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3" name="Groupe 22">
            <a:extLst>
              <a:ext uri="{FF2B5EF4-FFF2-40B4-BE49-F238E27FC236}">
                <a16:creationId xmlns:a16="http://schemas.microsoft.com/office/drawing/2014/main" id="{5D256D02-99E0-7683-AD3A-F1B88B4164D0}"/>
              </a:ext>
            </a:extLst>
          </p:cNvPr>
          <p:cNvGrpSpPr/>
          <p:nvPr/>
        </p:nvGrpSpPr>
        <p:grpSpPr>
          <a:xfrm>
            <a:off x="789930" y="3640101"/>
            <a:ext cx="1180962" cy="181741"/>
            <a:chOff x="3096631" y="5085827"/>
            <a:chExt cx="2503539" cy="385275"/>
          </a:xfrm>
        </p:grpSpPr>
        <p:sp>
          <p:nvSpPr>
            <p:cNvPr id="51" name="Rectangle 50">
              <a:extLst>
                <a:ext uri="{FF2B5EF4-FFF2-40B4-BE49-F238E27FC236}">
                  <a16:creationId xmlns:a16="http://schemas.microsoft.com/office/drawing/2014/main" id="{6CFF01C0-5003-B95A-406D-CD3C8949EE5A}"/>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2" name="Connecteur droit avec flèche 51">
              <a:extLst>
                <a:ext uri="{FF2B5EF4-FFF2-40B4-BE49-F238E27FC236}">
                  <a16:creationId xmlns:a16="http://schemas.microsoft.com/office/drawing/2014/main" id="{4E962313-09C0-5099-82E8-043347838325}"/>
                </a:ext>
              </a:extLst>
            </p:cNvPr>
            <p:cNvCxnSpPr>
              <a:cxnSpLocks/>
              <a:stCxn id="51" idx="3"/>
              <a:endCxn id="53"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3" name="Graphique 52" descr="Mille avec un remplissage uni">
              <a:extLst>
                <a:ext uri="{FF2B5EF4-FFF2-40B4-BE49-F238E27FC236}">
                  <a16:creationId xmlns:a16="http://schemas.microsoft.com/office/drawing/2014/main" id="{A2ACBE47-4A0D-98C9-E88A-176D9AFB7EC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24" name="Groupe 23">
            <a:extLst>
              <a:ext uri="{FF2B5EF4-FFF2-40B4-BE49-F238E27FC236}">
                <a16:creationId xmlns:a16="http://schemas.microsoft.com/office/drawing/2014/main" id="{94A8C841-C5DE-2082-2C4E-28F3DF4C3B37}"/>
              </a:ext>
            </a:extLst>
          </p:cNvPr>
          <p:cNvGrpSpPr/>
          <p:nvPr/>
        </p:nvGrpSpPr>
        <p:grpSpPr>
          <a:xfrm>
            <a:off x="789930" y="3432549"/>
            <a:ext cx="3007308" cy="181741"/>
            <a:chOff x="3096631" y="4622114"/>
            <a:chExt cx="6375239" cy="385275"/>
          </a:xfrm>
        </p:grpSpPr>
        <p:sp>
          <p:nvSpPr>
            <p:cNvPr id="48" name="Rectangle 47">
              <a:extLst>
                <a:ext uri="{FF2B5EF4-FFF2-40B4-BE49-F238E27FC236}">
                  <a16:creationId xmlns:a16="http://schemas.microsoft.com/office/drawing/2014/main" id="{B3775085-5300-8A49-40E5-0244FA19E98B}"/>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9" name="Connecteur droit avec flèche 48">
              <a:extLst>
                <a:ext uri="{FF2B5EF4-FFF2-40B4-BE49-F238E27FC236}">
                  <a16:creationId xmlns:a16="http://schemas.microsoft.com/office/drawing/2014/main" id="{95EA854C-A3B7-48FD-EC18-D31EE497796B}"/>
                </a:ext>
              </a:extLst>
            </p:cNvPr>
            <p:cNvCxnSpPr>
              <a:cxnSpLocks/>
              <a:stCxn id="48" idx="3"/>
              <a:endCxn id="50"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0" name="Graphique 49" descr="Mille avec un remplissage uni">
              <a:extLst>
                <a:ext uri="{FF2B5EF4-FFF2-40B4-BE49-F238E27FC236}">
                  <a16:creationId xmlns:a16="http://schemas.microsoft.com/office/drawing/2014/main" id="{F2F800B2-95D5-6EA0-E74C-A3D4B726DAE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sp>
          <p:nvSpPr>
            <p:cNvPr id="86" name="Rectangle 85">
              <a:extLst>
                <a:ext uri="{FF2B5EF4-FFF2-40B4-BE49-F238E27FC236}">
                  <a16:creationId xmlns:a16="http://schemas.microsoft.com/office/drawing/2014/main" id="{B4CCFC07-AC34-730F-B3C9-B84ACEA736B2}"/>
                </a:ext>
              </a:extLst>
            </p:cNvPr>
            <p:cNvSpPr/>
            <p:nvPr/>
          </p:nvSpPr>
          <p:spPr>
            <a:xfrm>
              <a:off x="8579850" y="465970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5" name="Groupe 24">
            <a:extLst>
              <a:ext uri="{FF2B5EF4-FFF2-40B4-BE49-F238E27FC236}">
                <a16:creationId xmlns:a16="http://schemas.microsoft.com/office/drawing/2014/main" id="{66FB3E15-3051-C1BA-BB07-E14C7CBA712C}"/>
              </a:ext>
            </a:extLst>
          </p:cNvPr>
          <p:cNvGrpSpPr/>
          <p:nvPr/>
        </p:nvGrpSpPr>
        <p:grpSpPr>
          <a:xfrm>
            <a:off x="789930" y="3221332"/>
            <a:ext cx="4041245" cy="181741"/>
            <a:chOff x="3096632" y="4195205"/>
            <a:chExt cx="8567098" cy="385275"/>
          </a:xfrm>
        </p:grpSpPr>
        <p:sp>
          <p:nvSpPr>
            <p:cNvPr id="45" name="Rectangle 44">
              <a:extLst>
                <a:ext uri="{FF2B5EF4-FFF2-40B4-BE49-F238E27FC236}">
                  <a16:creationId xmlns:a16="http://schemas.microsoft.com/office/drawing/2014/main" id="{83C3E0EC-7341-FF2F-2FB6-09570722437C}"/>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6" name="Connecteur droit avec flèche 45">
              <a:extLst>
                <a:ext uri="{FF2B5EF4-FFF2-40B4-BE49-F238E27FC236}">
                  <a16:creationId xmlns:a16="http://schemas.microsoft.com/office/drawing/2014/main" id="{7AB9798E-631E-44DC-C710-5ADBDA3BAA11}"/>
                </a:ext>
              </a:extLst>
            </p:cNvPr>
            <p:cNvCxnSpPr>
              <a:cxnSpLocks/>
              <a:stCxn id="45" idx="3"/>
              <a:endCxn id="47"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7" name="Graphique 46" descr="Mille avec un remplissage uni">
              <a:extLst>
                <a:ext uri="{FF2B5EF4-FFF2-40B4-BE49-F238E27FC236}">
                  <a16:creationId xmlns:a16="http://schemas.microsoft.com/office/drawing/2014/main" id="{9F36B924-898F-CD16-A14A-B27C8DDADF2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sp>
          <p:nvSpPr>
            <p:cNvPr id="84" name="Rectangle 83">
              <a:extLst>
                <a:ext uri="{FF2B5EF4-FFF2-40B4-BE49-F238E27FC236}">
                  <a16:creationId xmlns:a16="http://schemas.microsoft.com/office/drawing/2014/main" id="{6C1BEF2F-7E7C-C5FD-98F7-0BD89FED11DA}"/>
                </a:ext>
              </a:extLst>
            </p:cNvPr>
            <p:cNvSpPr/>
            <p:nvPr/>
          </p:nvSpPr>
          <p:spPr>
            <a:xfrm>
              <a:off x="10100966" y="423248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7" name="Groupe 26">
            <a:extLst>
              <a:ext uri="{FF2B5EF4-FFF2-40B4-BE49-F238E27FC236}">
                <a16:creationId xmlns:a16="http://schemas.microsoft.com/office/drawing/2014/main" id="{67BD3A5D-3CAD-F3B3-DC9A-958A2DB3241F}"/>
              </a:ext>
            </a:extLst>
          </p:cNvPr>
          <p:cNvGrpSpPr/>
          <p:nvPr/>
        </p:nvGrpSpPr>
        <p:grpSpPr>
          <a:xfrm>
            <a:off x="791077" y="2593179"/>
            <a:ext cx="3006161" cy="181741"/>
            <a:chOff x="3099063" y="2916714"/>
            <a:chExt cx="6372808" cy="385275"/>
          </a:xfrm>
        </p:grpSpPr>
        <p:pic>
          <p:nvPicPr>
            <p:cNvPr id="38" name="Graphique 37" descr="Mille avec un remplissage uni">
              <a:extLst>
                <a:ext uri="{FF2B5EF4-FFF2-40B4-BE49-F238E27FC236}">
                  <a16:creationId xmlns:a16="http://schemas.microsoft.com/office/drawing/2014/main" id="{19D18482-E9EC-8F7C-928A-B5C1CB5E00A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39" name="Rectangle 38">
              <a:extLst>
                <a:ext uri="{FF2B5EF4-FFF2-40B4-BE49-F238E27FC236}">
                  <a16:creationId xmlns:a16="http://schemas.microsoft.com/office/drawing/2014/main" id="{3337475B-6B9B-A4E4-7BF7-816889EA3874}"/>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1" name="Connecteur droit avec flèche 40">
              <a:extLst>
                <a:ext uri="{FF2B5EF4-FFF2-40B4-BE49-F238E27FC236}">
                  <a16:creationId xmlns:a16="http://schemas.microsoft.com/office/drawing/2014/main" id="{A66C3612-0072-665D-5D7B-86880EEE5D4B}"/>
                </a:ext>
              </a:extLst>
            </p:cNvPr>
            <p:cNvCxnSpPr>
              <a:cxnSpLocks/>
              <a:stCxn id="39" idx="3"/>
              <a:endCxn id="38"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8DBB776D-FECA-D8A7-D222-BEAC40BEFF48}"/>
                </a:ext>
              </a:extLst>
            </p:cNvPr>
            <p:cNvSpPr/>
            <p:nvPr/>
          </p:nvSpPr>
          <p:spPr>
            <a:xfrm>
              <a:off x="8569448" y="295808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8" name="Groupe 27">
            <a:extLst>
              <a:ext uri="{FF2B5EF4-FFF2-40B4-BE49-F238E27FC236}">
                <a16:creationId xmlns:a16="http://schemas.microsoft.com/office/drawing/2014/main" id="{ED7E2CF3-4B22-85EE-F0D1-0FADFA031917}"/>
              </a:ext>
            </a:extLst>
          </p:cNvPr>
          <p:cNvGrpSpPr/>
          <p:nvPr/>
        </p:nvGrpSpPr>
        <p:grpSpPr>
          <a:xfrm>
            <a:off x="789930" y="4072324"/>
            <a:ext cx="3859964" cy="152537"/>
            <a:chOff x="3096635" y="5604607"/>
            <a:chExt cx="8182799" cy="323365"/>
          </a:xfrm>
        </p:grpSpPr>
        <p:sp>
          <p:nvSpPr>
            <p:cNvPr id="36" name="Rectangle 35">
              <a:extLst>
                <a:ext uri="{FF2B5EF4-FFF2-40B4-BE49-F238E27FC236}">
                  <a16:creationId xmlns:a16="http://schemas.microsoft.com/office/drawing/2014/main" id="{158DA7A6-4753-F7B1-1513-C33CD0FC58BA}"/>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7" name="Connecteur droit avec flèche 36">
              <a:extLst>
                <a:ext uri="{FF2B5EF4-FFF2-40B4-BE49-F238E27FC236}">
                  <a16:creationId xmlns:a16="http://schemas.microsoft.com/office/drawing/2014/main" id="{9F02ED51-E908-926B-FBB8-BF7FB3A0128B}"/>
                </a:ext>
              </a:extLst>
            </p:cNvPr>
            <p:cNvCxnSpPr>
              <a:cxnSpLocks/>
              <a:stCxn id="36" idx="3"/>
              <a:endCxn id="29"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id="{09CC3328-FC7D-E7AB-4605-1A79DC011F93}"/>
                </a:ext>
              </a:extLst>
            </p:cNvPr>
            <p:cNvSpPr/>
            <p:nvPr/>
          </p:nvSpPr>
          <p:spPr>
            <a:xfrm>
              <a:off x="6197544" y="5604607"/>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pic>
        <p:nvPicPr>
          <p:cNvPr id="29" name="Graphique 28" descr="Point d’interrogation avec un remplissage uni">
            <a:extLst>
              <a:ext uri="{FF2B5EF4-FFF2-40B4-BE49-F238E27FC236}">
                <a16:creationId xmlns:a16="http://schemas.microsoft.com/office/drawing/2014/main" id="{D1ACD88D-9F4B-43CA-578D-357FF454096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30" name="Graphique 29" descr="Point d’interrogation avec un remplissage uni">
            <a:extLst>
              <a:ext uri="{FF2B5EF4-FFF2-40B4-BE49-F238E27FC236}">
                <a16:creationId xmlns:a16="http://schemas.microsoft.com/office/drawing/2014/main" id="{720F00CA-879E-20F1-238C-9345DD45B51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31" name="Graphique 30" descr="Point d’interrogation avec un remplissage uni">
            <a:extLst>
              <a:ext uri="{FF2B5EF4-FFF2-40B4-BE49-F238E27FC236}">
                <a16:creationId xmlns:a16="http://schemas.microsoft.com/office/drawing/2014/main" id="{58943D23-AD5D-C9F8-BFC4-DCD4427FC6CD}"/>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32" name="Graphique 31" descr="Point d’interrogation avec un remplissage uni">
            <a:extLst>
              <a:ext uri="{FF2B5EF4-FFF2-40B4-BE49-F238E27FC236}">
                <a16:creationId xmlns:a16="http://schemas.microsoft.com/office/drawing/2014/main" id="{EA34A11F-A0E9-DAB1-963F-D492947321B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pic>
        <p:nvPicPr>
          <p:cNvPr id="93" name="Graphique 92" descr="Mille avec un remplissage uni">
            <a:extLst>
              <a:ext uri="{FF2B5EF4-FFF2-40B4-BE49-F238E27FC236}">
                <a16:creationId xmlns:a16="http://schemas.microsoft.com/office/drawing/2014/main" id="{9502F474-EF9D-17A6-F13C-9BDF216ACE46}"/>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238362" y="5360186"/>
            <a:ext cx="447536" cy="447536"/>
          </a:xfrm>
          <a:prstGeom prst="rect">
            <a:avLst/>
          </a:prstGeom>
        </p:spPr>
      </p:pic>
      <p:sp>
        <p:nvSpPr>
          <p:cNvPr id="110" name="ZoneTexte 109">
            <a:extLst>
              <a:ext uri="{FF2B5EF4-FFF2-40B4-BE49-F238E27FC236}">
                <a16:creationId xmlns:a16="http://schemas.microsoft.com/office/drawing/2014/main" id="{8501B49F-76BC-0CEF-B933-A45245E908FB}"/>
              </a:ext>
            </a:extLst>
          </p:cNvPr>
          <p:cNvSpPr txBox="1"/>
          <p:nvPr/>
        </p:nvSpPr>
        <p:spPr>
          <a:xfrm>
            <a:off x="1971204" y="5212626"/>
            <a:ext cx="464463" cy="707886"/>
          </a:xfrm>
          <a:prstGeom prst="rect">
            <a:avLst/>
          </a:prstGeom>
          <a:noFill/>
        </p:spPr>
        <p:txBody>
          <a:bodyPr wrap="square">
            <a:spAutoFit/>
          </a:bodyPr>
          <a:lstStyle/>
          <a:p>
            <a:r>
              <a:rPr lang="el-GR" sz="4000" dirty="0"/>
              <a:t>Σ</a:t>
            </a:r>
            <a:endParaRPr lang="fr-FR" sz="4000" dirty="0"/>
          </a:p>
        </p:txBody>
      </p:sp>
      <p:sp>
        <p:nvSpPr>
          <p:cNvPr id="112" name="ZoneTexte 111">
            <a:extLst>
              <a:ext uri="{FF2B5EF4-FFF2-40B4-BE49-F238E27FC236}">
                <a16:creationId xmlns:a16="http://schemas.microsoft.com/office/drawing/2014/main" id="{9CF28036-7A6C-224F-BD82-CF9006E85686}"/>
              </a:ext>
            </a:extLst>
          </p:cNvPr>
          <p:cNvSpPr txBox="1"/>
          <p:nvPr/>
        </p:nvSpPr>
        <p:spPr>
          <a:xfrm>
            <a:off x="543607" y="5955282"/>
            <a:ext cx="4052182" cy="461665"/>
          </a:xfrm>
          <a:prstGeom prst="rect">
            <a:avLst/>
          </a:prstGeom>
          <a:noFill/>
        </p:spPr>
        <p:txBody>
          <a:bodyPr wrap="square">
            <a:spAutoFit/>
          </a:bodyPr>
          <a:lstStyle/>
          <a:p>
            <a:pPr marL="0" indent="0">
              <a:buNone/>
            </a:pPr>
            <a:r>
              <a:rPr lang="fr-FR" sz="1200" dirty="0"/>
              <a:t>Nombre de sujet commencés et non considérés comme terminés</a:t>
            </a:r>
          </a:p>
        </p:txBody>
      </p:sp>
      <p:sp>
        <p:nvSpPr>
          <p:cNvPr id="113" name="Bulle narrative : ronde 112">
            <a:extLst>
              <a:ext uri="{FF2B5EF4-FFF2-40B4-BE49-F238E27FC236}">
                <a16:creationId xmlns:a16="http://schemas.microsoft.com/office/drawing/2014/main" id="{8FC23D14-2D66-2375-7457-9EE94A3EB76A}"/>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A quel point a-t-on terminé ce qu’on a commencé et qu’est-ce qu’il nous reste de déjà entamé ?</a:t>
            </a:r>
          </a:p>
        </p:txBody>
      </p:sp>
      <p:pic>
        <p:nvPicPr>
          <p:cNvPr id="114" name="Graphique 3" descr="Femme portant un tailleur">
            <a:extLst>
              <a:ext uri="{FF2B5EF4-FFF2-40B4-BE49-F238E27FC236}">
                <a16:creationId xmlns:a16="http://schemas.microsoft.com/office/drawing/2014/main" id="{A9A5C83B-4BE2-FB60-0670-33EA99D97516}"/>
              </a:ext>
            </a:extLst>
          </p:cNvPr>
          <p:cNvPicPr>
            <a:picLocks noChangeAspect="1"/>
          </p:cNvPicPr>
          <p:nvPr/>
        </p:nvPicPr>
        <p:blipFill rotWithShape="1">
          <a:blip r:embed="rId23">
            <a:extLst>
              <a:ext uri="{96DAC541-7B7A-43D3-8B79-37D633B846F1}">
                <asvg:svgBlip xmlns:asvg="http://schemas.microsoft.com/office/drawing/2016/SVG/main" r:embed="rId24"/>
              </a:ext>
            </a:extLst>
          </a:blip>
          <a:srcRect b="67900"/>
          <a:stretch/>
        </p:blipFill>
        <p:spPr>
          <a:xfrm flipH="1">
            <a:off x="9519412" y="371448"/>
            <a:ext cx="2672588" cy="1668390"/>
          </a:xfrm>
          <a:prstGeom prst="rect">
            <a:avLst/>
          </a:prstGeom>
        </p:spPr>
      </p:pic>
    </p:spTree>
    <p:extLst>
      <p:ext uri="{BB962C8B-B14F-4D97-AF65-F5344CB8AC3E}">
        <p14:creationId xmlns:p14="http://schemas.microsoft.com/office/powerpoint/2010/main" val="266654197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p:txBody>
          <a:bodyPr>
            <a:normAutofit/>
          </a:bodyPr>
          <a:lstStyle/>
          <a:p>
            <a:r>
              <a:rPr lang="fr-FR" sz="3200" b="1" dirty="0"/>
              <a:t>Indicateur : </a:t>
            </a:r>
            <a:br>
              <a:rPr lang="fr-FR" sz="3200" b="1" dirty="0"/>
            </a:br>
            <a:r>
              <a:rPr lang="fr-FR" sz="3200" dirty="0"/>
              <a:t>En-cours de sujets</a:t>
            </a:r>
          </a:p>
        </p:txBody>
      </p:sp>
      <p:grpSp>
        <p:nvGrpSpPr>
          <p:cNvPr id="3" name="Groupe 2">
            <a:extLst>
              <a:ext uri="{FF2B5EF4-FFF2-40B4-BE49-F238E27FC236}">
                <a16:creationId xmlns:a16="http://schemas.microsoft.com/office/drawing/2014/main" id="{B81C64F1-127E-B3FB-CDC0-4B5088D3441D}"/>
              </a:ext>
            </a:extLst>
          </p:cNvPr>
          <p:cNvGrpSpPr/>
          <p:nvPr/>
        </p:nvGrpSpPr>
        <p:grpSpPr>
          <a:xfrm>
            <a:off x="1004899" y="2075168"/>
            <a:ext cx="4013145" cy="458111"/>
            <a:chOff x="11600" y="1496380"/>
            <a:chExt cx="12038120" cy="1498765"/>
          </a:xfrm>
        </p:grpSpPr>
        <p:grpSp>
          <p:nvGrpSpPr>
            <p:cNvPr id="4" name="Groupe 3">
              <a:extLst>
                <a:ext uri="{FF2B5EF4-FFF2-40B4-BE49-F238E27FC236}">
                  <a16:creationId xmlns:a16="http://schemas.microsoft.com/office/drawing/2014/main" id="{A17BCC5F-A472-9F25-84D7-0ED3510DA081}"/>
                </a:ext>
              </a:extLst>
            </p:cNvPr>
            <p:cNvGrpSpPr/>
            <p:nvPr/>
          </p:nvGrpSpPr>
          <p:grpSpPr>
            <a:xfrm>
              <a:off x="11600" y="2499558"/>
              <a:ext cx="12038120" cy="495587"/>
              <a:chOff x="0" y="2140394"/>
              <a:chExt cx="12854128" cy="4544491"/>
            </a:xfrm>
          </p:grpSpPr>
          <p:sp>
            <p:nvSpPr>
              <p:cNvPr id="15" name="Espace réservé du texte 15">
                <a:extLst>
                  <a:ext uri="{FF2B5EF4-FFF2-40B4-BE49-F238E27FC236}">
                    <a16:creationId xmlns:a16="http://schemas.microsoft.com/office/drawing/2014/main" id="{906CCDA8-AC4B-3D3A-4D05-EE109B9BAC2A}"/>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16" name="Espace réservé du texte 15">
                <a:extLst>
                  <a:ext uri="{FF2B5EF4-FFF2-40B4-BE49-F238E27FC236}">
                    <a16:creationId xmlns:a16="http://schemas.microsoft.com/office/drawing/2014/main" id="{7172A105-2039-43A9-A58E-8734C11FC791}"/>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17" name="Espace réservé du texte 15">
                <a:extLst>
                  <a:ext uri="{FF2B5EF4-FFF2-40B4-BE49-F238E27FC236}">
                    <a16:creationId xmlns:a16="http://schemas.microsoft.com/office/drawing/2014/main" id="{AE30E131-FD18-8BBC-2592-33447D78806A}"/>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18" name="Espace réservé du texte 15">
                <a:extLst>
                  <a:ext uri="{FF2B5EF4-FFF2-40B4-BE49-F238E27FC236}">
                    <a16:creationId xmlns:a16="http://schemas.microsoft.com/office/drawing/2014/main" id="{8EAF6F70-2BFB-FB8B-5EF1-53F7FBC89AFF}"/>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19" name="Espace réservé du texte 15">
                <a:extLst>
                  <a:ext uri="{FF2B5EF4-FFF2-40B4-BE49-F238E27FC236}">
                    <a16:creationId xmlns:a16="http://schemas.microsoft.com/office/drawing/2014/main" id="{5AC5C74C-FD5D-AAFF-D2C9-A24700C27FAF}"/>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20" name="Espace réservé du texte 15">
                <a:extLst>
                  <a:ext uri="{FF2B5EF4-FFF2-40B4-BE49-F238E27FC236}">
                    <a16:creationId xmlns:a16="http://schemas.microsoft.com/office/drawing/2014/main" id="{B3E18EFD-678E-DA31-ECF8-7BEFB30E797B}"/>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21" name="Espace réservé du texte 15">
                <a:extLst>
                  <a:ext uri="{FF2B5EF4-FFF2-40B4-BE49-F238E27FC236}">
                    <a16:creationId xmlns:a16="http://schemas.microsoft.com/office/drawing/2014/main" id="{3BF543EA-877E-93D1-43AC-E1B9FDD79D87}"/>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5" name="Graphique 4" descr="Ampoule avec un remplissage uni">
              <a:extLst>
                <a:ext uri="{FF2B5EF4-FFF2-40B4-BE49-F238E27FC236}">
                  <a16:creationId xmlns:a16="http://schemas.microsoft.com/office/drawing/2014/main" id="{BB135EBC-9E2D-86CB-ECB7-CF4B37BCAEB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9" name="Graphique 8" descr="Seau et pelle avec un remplissage uni">
              <a:extLst>
                <a:ext uri="{FF2B5EF4-FFF2-40B4-BE49-F238E27FC236}">
                  <a16:creationId xmlns:a16="http://schemas.microsoft.com/office/drawing/2014/main" id="{25B7D8AD-A806-9EB0-F352-232B260A51D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0" name="Graphique 9" descr="Tubes à essai avec un remplissage uni">
              <a:extLst>
                <a:ext uri="{FF2B5EF4-FFF2-40B4-BE49-F238E27FC236}">
                  <a16:creationId xmlns:a16="http://schemas.microsoft.com/office/drawing/2014/main" id="{6A8CFDB4-39AD-BA62-6461-6FE159FE9AC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1" name="Graphique 10" descr="Explosion avec un remplissage uni">
              <a:extLst>
                <a:ext uri="{FF2B5EF4-FFF2-40B4-BE49-F238E27FC236}">
                  <a16:creationId xmlns:a16="http://schemas.microsoft.com/office/drawing/2014/main" id="{22FAEA42-CD75-00ED-0854-20ED4C4651D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2" name="Graphique 11" descr="Trophée avec un remplissage uni">
              <a:extLst>
                <a:ext uri="{FF2B5EF4-FFF2-40B4-BE49-F238E27FC236}">
                  <a16:creationId xmlns:a16="http://schemas.microsoft.com/office/drawing/2014/main" id="{035826C4-B81D-35FA-281B-9ACE2511467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3" name="Graphique 12" descr="Assiette couverte avec un remplissage uni">
              <a:extLst>
                <a:ext uri="{FF2B5EF4-FFF2-40B4-BE49-F238E27FC236}">
                  <a16:creationId xmlns:a16="http://schemas.microsoft.com/office/drawing/2014/main" id="{27ED6A7F-8487-A83B-4D0D-78BE8C7345A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4" name="Graphique 13" descr="Scène de château avec un remplissage uni">
              <a:extLst>
                <a:ext uri="{FF2B5EF4-FFF2-40B4-BE49-F238E27FC236}">
                  <a16:creationId xmlns:a16="http://schemas.microsoft.com/office/drawing/2014/main" id="{2B71B01B-81AD-41E6-0D77-2161BF864C7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22" name="Groupe 21">
            <a:extLst>
              <a:ext uri="{FF2B5EF4-FFF2-40B4-BE49-F238E27FC236}">
                <a16:creationId xmlns:a16="http://schemas.microsoft.com/office/drawing/2014/main" id="{7F04AD4B-8F7D-3D8D-398B-E1A53DB26B98}"/>
              </a:ext>
            </a:extLst>
          </p:cNvPr>
          <p:cNvGrpSpPr/>
          <p:nvPr/>
        </p:nvGrpSpPr>
        <p:grpSpPr>
          <a:xfrm>
            <a:off x="791077" y="2799355"/>
            <a:ext cx="1894821" cy="181741"/>
            <a:chOff x="3099062" y="3394846"/>
            <a:chExt cx="4016859" cy="385275"/>
          </a:xfrm>
        </p:grpSpPr>
        <p:sp>
          <p:nvSpPr>
            <p:cNvPr id="23" name="Rectangle 22">
              <a:extLst>
                <a:ext uri="{FF2B5EF4-FFF2-40B4-BE49-F238E27FC236}">
                  <a16:creationId xmlns:a16="http://schemas.microsoft.com/office/drawing/2014/main" id="{735F740E-91CD-3B98-9E3E-C5FF894D0E9C}"/>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4" name="Connecteur droit avec flèche 23">
              <a:extLst>
                <a:ext uri="{FF2B5EF4-FFF2-40B4-BE49-F238E27FC236}">
                  <a16:creationId xmlns:a16="http://schemas.microsoft.com/office/drawing/2014/main" id="{391DBA1B-3524-38FA-B015-82B22014BC84}"/>
                </a:ext>
              </a:extLst>
            </p:cNvPr>
            <p:cNvCxnSpPr>
              <a:cxnSpLocks/>
              <a:stCxn id="23" idx="3"/>
              <a:endCxn id="25"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5" name="Graphique 24" descr="Mille avec un remplissage uni">
              <a:extLst>
                <a:ext uri="{FF2B5EF4-FFF2-40B4-BE49-F238E27FC236}">
                  <a16:creationId xmlns:a16="http://schemas.microsoft.com/office/drawing/2014/main" id="{913ED5A8-58D9-75E6-2AC0-14002969FD7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sp>
          <p:nvSpPr>
            <p:cNvPr id="26" name="Rectangle 25">
              <a:extLst>
                <a:ext uri="{FF2B5EF4-FFF2-40B4-BE49-F238E27FC236}">
                  <a16:creationId xmlns:a16="http://schemas.microsoft.com/office/drawing/2014/main" id="{D3CC9893-B9F8-B496-0EBA-5546071C1485}"/>
                </a:ext>
              </a:extLst>
            </p:cNvPr>
            <p:cNvSpPr/>
            <p:nvPr/>
          </p:nvSpPr>
          <p:spPr>
            <a:xfrm>
              <a:off x="6183629" y="340845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7" name="Groupe 26">
            <a:extLst>
              <a:ext uri="{FF2B5EF4-FFF2-40B4-BE49-F238E27FC236}">
                <a16:creationId xmlns:a16="http://schemas.microsoft.com/office/drawing/2014/main" id="{13A02B07-BB6D-9784-7CA4-C0A1B8A0712C}"/>
              </a:ext>
            </a:extLst>
          </p:cNvPr>
          <p:cNvGrpSpPr/>
          <p:nvPr/>
        </p:nvGrpSpPr>
        <p:grpSpPr>
          <a:xfrm>
            <a:off x="791076" y="3011948"/>
            <a:ext cx="3469706" cy="181741"/>
            <a:chOff x="3099061" y="3796432"/>
            <a:chExt cx="7355485" cy="385275"/>
          </a:xfrm>
        </p:grpSpPr>
        <p:sp>
          <p:nvSpPr>
            <p:cNvPr id="28" name="Rectangle 27">
              <a:extLst>
                <a:ext uri="{FF2B5EF4-FFF2-40B4-BE49-F238E27FC236}">
                  <a16:creationId xmlns:a16="http://schemas.microsoft.com/office/drawing/2014/main" id="{8B38E330-655E-E57B-B58A-655EAE9FF8D2}"/>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9" name="Connecteur droit avec flèche 28">
              <a:extLst>
                <a:ext uri="{FF2B5EF4-FFF2-40B4-BE49-F238E27FC236}">
                  <a16:creationId xmlns:a16="http://schemas.microsoft.com/office/drawing/2014/main" id="{A09F8168-C506-17DA-E3B2-1F1DDCEFFA35}"/>
                </a:ext>
              </a:extLst>
            </p:cNvPr>
            <p:cNvCxnSpPr>
              <a:cxnSpLocks/>
              <a:stCxn id="28" idx="3"/>
              <a:endCxn id="30"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0" name="Graphique 29" descr="Mille avec un remplissage uni">
              <a:extLst>
                <a:ext uri="{FF2B5EF4-FFF2-40B4-BE49-F238E27FC236}">
                  <a16:creationId xmlns:a16="http://schemas.microsoft.com/office/drawing/2014/main" id="{229986D6-994F-0A2F-9946-A72FA373A40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sp>
          <p:nvSpPr>
            <p:cNvPr id="31" name="Rectangle 30">
              <a:extLst>
                <a:ext uri="{FF2B5EF4-FFF2-40B4-BE49-F238E27FC236}">
                  <a16:creationId xmlns:a16="http://schemas.microsoft.com/office/drawing/2014/main" id="{B39AC36F-BBB6-EE09-17B0-090A6A339832}"/>
                </a:ext>
              </a:extLst>
            </p:cNvPr>
            <p:cNvSpPr/>
            <p:nvPr/>
          </p:nvSpPr>
          <p:spPr>
            <a:xfrm>
              <a:off x="6183632" y="3839301"/>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32" name="Groupe 31">
            <a:extLst>
              <a:ext uri="{FF2B5EF4-FFF2-40B4-BE49-F238E27FC236}">
                <a16:creationId xmlns:a16="http://schemas.microsoft.com/office/drawing/2014/main" id="{F2029AFE-E3B5-4066-CCE5-D388ABC7869C}"/>
              </a:ext>
            </a:extLst>
          </p:cNvPr>
          <p:cNvGrpSpPr/>
          <p:nvPr/>
        </p:nvGrpSpPr>
        <p:grpSpPr>
          <a:xfrm>
            <a:off x="789930" y="3640101"/>
            <a:ext cx="1180962" cy="181741"/>
            <a:chOff x="3096631" y="5085827"/>
            <a:chExt cx="2503539" cy="385275"/>
          </a:xfrm>
        </p:grpSpPr>
        <p:sp>
          <p:nvSpPr>
            <p:cNvPr id="33" name="Rectangle 32">
              <a:extLst>
                <a:ext uri="{FF2B5EF4-FFF2-40B4-BE49-F238E27FC236}">
                  <a16:creationId xmlns:a16="http://schemas.microsoft.com/office/drawing/2014/main" id="{4A1D9DAD-8A4A-BB15-E18F-E2D4A1BA6D21}"/>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4" name="Connecteur droit avec flèche 33">
              <a:extLst>
                <a:ext uri="{FF2B5EF4-FFF2-40B4-BE49-F238E27FC236}">
                  <a16:creationId xmlns:a16="http://schemas.microsoft.com/office/drawing/2014/main" id="{8AE0051C-F7C9-1ECE-B31B-F1A013D9FDA7}"/>
                </a:ext>
              </a:extLst>
            </p:cNvPr>
            <p:cNvCxnSpPr>
              <a:cxnSpLocks/>
              <a:stCxn id="33" idx="3"/>
              <a:endCxn id="35"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5" name="Graphique 34" descr="Mille avec un remplissage uni">
              <a:extLst>
                <a:ext uri="{FF2B5EF4-FFF2-40B4-BE49-F238E27FC236}">
                  <a16:creationId xmlns:a16="http://schemas.microsoft.com/office/drawing/2014/main" id="{3EA2F256-9314-67A4-106D-BAAC202D545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36" name="Groupe 35">
            <a:extLst>
              <a:ext uri="{FF2B5EF4-FFF2-40B4-BE49-F238E27FC236}">
                <a16:creationId xmlns:a16="http://schemas.microsoft.com/office/drawing/2014/main" id="{AE3E3920-AD03-DC66-5946-E63C8EF4E7B3}"/>
              </a:ext>
            </a:extLst>
          </p:cNvPr>
          <p:cNvGrpSpPr/>
          <p:nvPr/>
        </p:nvGrpSpPr>
        <p:grpSpPr>
          <a:xfrm>
            <a:off x="789930" y="3432549"/>
            <a:ext cx="3007308" cy="181741"/>
            <a:chOff x="3096631" y="4622114"/>
            <a:chExt cx="6375239" cy="385275"/>
          </a:xfrm>
        </p:grpSpPr>
        <p:sp>
          <p:nvSpPr>
            <p:cNvPr id="37" name="Rectangle 36">
              <a:extLst>
                <a:ext uri="{FF2B5EF4-FFF2-40B4-BE49-F238E27FC236}">
                  <a16:creationId xmlns:a16="http://schemas.microsoft.com/office/drawing/2014/main" id="{9BA1DAA1-8CED-8737-03C0-921BC2677CAC}"/>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8" name="Connecteur droit avec flèche 37">
              <a:extLst>
                <a:ext uri="{FF2B5EF4-FFF2-40B4-BE49-F238E27FC236}">
                  <a16:creationId xmlns:a16="http://schemas.microsoft.com/office/drawing/2014/main" id="{96F64CB8-993B-16FA-319C-08AC03623875}"/>
                </a:ext>
              </a:extLst>
            </p:cNvPr>
            <p:cNvCxnSpPr>
              <a:cxnSpLocks/>
              <a:stCxn id="37" idx="3"/>
              <a:endCxn id="39"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9" name="Graphique 38" descr="Mille avec un remplissage uni">
              <a:extLst>
                <a:ext uri="{FF2B5EF4-FFF2-40B4-BE49-F238E27FC236}">
                  <a16:creationId xmlns:a16="http://schemas.microsoft.com/office/drawing/2014/main" id="{B5BD7A24-D536-6EB3-708D-016981BDD70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sp>
          <p:nvSpPr>
            <p:cNvPr id="40" name="Rectangle 39">
              <a:extLst>
                <a:ext uri="{FF2B5EF4-FFF2-40B4-BE49-F238E27FC236}">
                  <a16:creationId xmlns:a16="http://schemas.microsoft.com/office/drawing/2014/main" id="{0375CB17-4F91-FB42-CAAB-20AF55A247F5}"/>
                </a:ext>
              </a:extLst>
            </p:cNvPr>
            <p:cNvSpPr/>
            <p:nvPr/>
          </p:nvSpPr>
          <p:spPr>
            <a:xfrm>
              <a:off x="8579850" y="465970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41" name="Groupe 40">
            <a:extLst>
              <a:ext uri="{FF2B5EF4-FFF2-40B4-BE49-F238E27FC236}">
                <a16:creationId xmlns:a16="http://schemas.microsoft.com/office/drawing/2014/main" id="{48A8ACB0-5658-E957-0218-5A35F96AF5FD}"/>
              </a:ext>
            </a:extLst>
          </p:cNvPr>
          <p:cNvGrpSpPr/>
          <p:nvPr/>
        </p:nvGrpSpPr>
        <p:grpSpPr>
          <a:xfrm>
            <a:off x="789930" y="3221332"/>
            <a:ext cx="4041245" cy="181741"/>
            <a:chOff x="3096632" y="4195205"/>
            <a:chExt cx="8567098" cy="385275"/>
          </a:xfrm>
        </p:grpSpPr>
        <p:sp>
          <p:nvSpPr>
            <p:cNvPr id="42" name="Rectangle 41">
              <a:extLst>
                <a:ext uri="{FF2B5EF4-FFF2-40B4-BE49-F238E27FC236}">
                  <a16:creationId xmlns:a16="http://schemas.microsoft.com/office/drawing/2014/main" id="{CE65F71C-D358-C688-17EB-1C984C3B4202}"/>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3" name="Connecteur droit avec flèche 42">
              <a:extLst>
                <a:ext uri="{FF2B5EF4-FFF2-40B4-BE49-F238E27FC236}">
                  <a16:creationId xmlns:a16="http://schemas.microsoft.com/office/drawing/2014/main" id="{31102907-60A7-7232-C62C-F109EBFD7F42}"/>
                </a:ext>
              </a:extLst>
            </p:cNvPr>
            <p:cNvCxnSpPr>
              <a:cxnSpLocks/>
              <a:stCxn id="42" idx="3"/>
              <a:endCxn id="44"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4" name="Graphique 43" descr="Mille avec un remplissage uni">
              <a:extLst>
                <a:ext uri="{FF2B5EF4-FFF2-40B4-BE49-F238E27FC236}">
                  <a16:creationId xmlns:a16="http://schemas.microsoft.com/office/drawing/2014/main" id="{ABAAB275-9033-2249-6EF8-C7ED6AFCDC5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sp>
          <p:nvSpPr>
            <p:cNvPr id="45" name="Rectangle 44">
              <a:extLst>
                <a:ext uri="{FF2B5EF4-FFF2-40B4-BE49-F238E27FC236}">
                  <a16:creationId xmlns:a16="http://schemas.microsoft.com/office/drawing/2014/main" id="{AE59D456-4312-3DAC-203F-7FDC1AD1D6C9}"/>
                </a:ext>
              </a:extLst>
            </p:cNvPr>
            <p:cNvSpPr/>
            <p:nvPr/>
          </p:nvSpPr>
          <p:spPr>
            <a:xfrm>
              <a:off x="10100966" y="423248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46" name="Groupe 45">
            <a:extLst>
              <a:ext uri="{FF2B5EF4-FFF2-40B4-BE49-F238E27FC236}">
                <a16:creationId xmlns:a16="http://schemas.microsoft.com/office/drawing/2014/main" id="{E725FB28-46C8-4F85-211B-FB9056A72975}"/>
              </a:ext>
            </a:extLst>
          </p:cNvPr>
          <p:cNvGrpSpPr/>
          <p:nvPr/>
        </p:nvGrpSpPr>
        <p:grpSpPr>
          <a:xfrm>
            <a:off x="791077" y="2593179"/>
            <a:ext cx="3006161" cy="181741"/>
            <a:chOff x="3099063" y="2916714"/>
            <a:chExt cx="6372808" cy="385275"/>
          </a:xfrm>
        </p:grpSpPr>
        <p:pic>
          <p:nvPicPr>
            <p:cNvPr id="47" name="Graphique 46" descr="Mille avec un remplissage uni">
              <a:extLst>
                <a:ext uri="{FF2B5EF4-FFF2-40B4-BE49-F238E27FC236}">
                  <a16:creationId xmlns:a16="http://schemas.microsoft.com/office/drawing/2014/main" id="{63FD92AA-18C1-B939-6B81-8BF30468ACD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48" name="Rectangle 47">
              <a:extLst>
                <a:ext uri="{FF2B5EF4-FFF2-40B4-BE49-F238E27FC236}">
                  <a16:creationId xmlns:a16="http://schemas.microsoft.com/office/drawing/2014/main" id="{4DF12046-C4F8-8BB5-1644-41072B678DA5}"/>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9" name="Connecteur droit avec flèche 48">
              <a:extLst>
                <a:ext uri="{FF2B5EF4-FFF2-40B4-BE49-F238E27FC236}">
                  <a16:creationId xmlns:a16="http://schemas.microsoft.com/office/drawing/2014/main" id="{DB5311BF-7D4F-1FB2-5E68-3270BC3B7040}"/>
                </a:ext>
              </a:extLst>
            </p:cNvPr>
            <p:cNvCxnSpPr>
              <a:cxnSpLocks/>
              <a:stCxn id="48" idx="3"/>
              <a:endCxn id="47"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F8615BB4-FAB7-4371-D232-8D07DE90CB9C}"/>
                </a:ext>
              </a:extLst>
            </p:cNvPr>
            <p:cNvSpPr/>
            <p:nvPr/>
          </p:nvSpPr>
          <p:spPr>
            <a:xfrm>
              <a:off x="8569448" y="295808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51" name="Groupe 50">
            <a:extLst>
              <a:ext uri="{FF2B5EF4-FFF2-40B4-BE49-F238E27FC236}">
                <a16:creationId xmlns:a16="http://schemas.microsoft.com/office/drawing/2014/main" id="{51B40B28-CD82-6823-0C39-E9834AD26D33}"/>
              </a:ext>
            </a:extLst>
          </p:cNvPr>
          <p:cNvGrpSpPr/>
          <p:nvPr/>
        </p:nvGrpSpPr>
        <p:grpSpPr>
          <a:xfrm>
            <a:off x="789930" y="4072324"/>
            <a:ext cx="3859964" cy="152537"/>
            <a:chOff x="3096635" y="5604607"/>
            <a:chExt cx="8182799" cy="323365"/>
          </a:xfrm>
        </p:grpSpPr>
        <p:sp>
          <p:nvSpPr>
            <p:cNvPr id="52" name="Rectangle 51">
              <a:extLst>
                <a:ext uri="{FF2B5EF4-FFF2-40B4-BE49-F238E27FC236}">
                  <a16:creationId xmlns:a16="http://schemas.microsoft.com/office/drawing/2014/main" id="{B3E89D0F-C247-524B-28FC-F7261A5D3E67}"/>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3" name="Connecteur droit avec flèche 52">
              <a:extLst>
                <a:ext uri="{FF2B5EF4-FFF2-40B4-BE49-F238E27FC236}">
                  <a16:creationId xmlns:a16="http://schemas.microsoft.com/office/drawing/2014/main" id="{3F4DF41C-39AD-04A1-9625-A2973E6160FA}"/>
                </a:ext>
              </a:extLst>
            </p:cNvPr>
            <p:cNvCxnSpPr>
              <a:cxnSpLocks/>
              <a:stCxn id="52" idx="3"/>
              <a:endCxn id="55"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5CB6AD6B-94D8-76DB-8A9D-5F21FE551ACA}"/>
                </a:ext>
              </a:extLst>
            </p:cNvPr>
            <p:cNvSpPr/>
            <p:nvPr/>
          </p:nvSpPr>
          <p:spPr>
            <a:xfrm>
              <a:off x="6197544" y="5604607"/>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pic>
        <p:nvPicPr>
          <p:cNvPr id="55" name="Graphique 54" descr="Point d’interrogation avec un remplissage uni">
            <a:extLst>
              <a:ext uri="{FF2B5EF4-FFF2-40B4-BE49-F238E27FC236}">
                <a16:creationId xmlns:a16="http://schemas.microsoft.com/office/drawing/2014/main" id="{47FF88B6-96B3-BE47-AA89-670086BAD5B9}"/>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56" name="Graphique 55" descr="Point d’interrogation avec un remplissage uni">
            <a:extLst>
              <a:ext uri="{FF2B5EF4-FFF2-40B4-BE49-F238E27FC236}">
                <a16:creationId xmlns:a16="http://schemas.microsoft.com/office/drawing/2014/main" id="{E506DE4A-2CF2-6049-8BA9-1759785A5E1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57" name="Graphique 56" descr="Point d’interrogation avec un remplissage uni">
            <a:extLst>
              <a:ext uri="{FF2B5EF4-FFF2-40B4-BE49-F238E27FC236}">
                <a16:creationId xmlns:a16="http://schemas.microsoft.com/office/drawing/2014/main" id="{C1061B94-38A3-CDA8-5ACF-CA4C17A716C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58" name="Graphique 57" descr="Point d’interrogation avec un remplissage uni">
            <a:extLst>
              <a:ext uri="{FF2B5EF4-FFF2-40B4-BE49-F238E27FC236}">
                <a16:creationId xmlns:a16="http://schemas.microsoft.com/office/drawing/2014/main" id="{E819791A-5789-0FDF-0936-44B366AE979A}"/>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pic>
        <p:nvPicPr>
          <p:cNvPr id="59" name="Graphique 58" descr="Mille avec un remplissage uni">
            <a:extLst>
              <a:ext uri="{FF2B5EF4-FFF2-40B4-BE49-F238E27FC236}">
                <a16:creationId xmlns:a16="http://schemas.microsoft.com/office/drawing/2014/main" id="{7F52C7C2-AABC-E266-6199-A7D77A59BABA}"/>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238362" y="5360186"/>
            <a:ext cx="447536" cy="447536"/>
          </a:xfrm>
          <a:prstGeom prst="rect">
            <a:avLst/>
          </a:prstGeom>
        </p:spPr>
      </p:pic>
      <p:sp>
        <p:nvSpPr>
          <p:cNvPr id="60" name="ZoneTexte 59">
            <a:extLst>
              <a:ext uri="{FF2B5EF4-FFF2-40B4-BE49-F238E27FC236}">
                <a16:creationId xmlns:a16="http://schemas.microsoft.com/office/drawing/2014/main" id="{0D1C584A-CB9D-F59C-6F97-2362942886F3}"/>
              </a:ext>
            </a:extLst>
          </p:cNvPr>
          <p:cNvSpPr txBox="1"/>
          <p:nvPr/>
        </p:nvSpPr>
        <p:spPr>
          <a:xfrm>
            <a:off x="1971204" y="5212626"/>
            <a:ext cx="464463" cy="707886"/>
          </a:xfrm>
          <a:prstGeom prst="rect">
            <a:avLst/>
          </a:prstGeom>
          <a:noFill/>
        </p:spPr>
        <p:txBody>
          <a:bodyPr wrap="square">
            <a:spAutoFit/>
          </a:bodyPr>
          <a:lstStyle/>
          <a:p>
            <a:r>
              <a:rPr lang="el-GR" sz="4000" dirty="0"/>
              <a:t>Σ</a:t>
            </a:r>
            <a:endParaRPr lang="fr-FR" sz="4000" dirty="0"/>
          </a:p>
        </p:txBody>
      </p:sp>
      <p:sp>
        <p:nvSpPr>
          <p:cNvPr id="61" name="ZoneTexte 60">
            <a:extLst>
              <a:ext uri="{FF2B5EF4-FFF2-40B4-BE49-F238E27FC236}">
                <a16:creationId xmlns:a16="http://schemas.microsoft.com/office/drawing/2014/main" id="{503CEC06-F45E-C24E-43A8-F30A7900115E}"/>
              </a:ext>
            </a:extLst>
          </p:cNvPr>
          <p:cNvSpPr txBox="1"/>
          <p:nvPr/>
        </p:nvSpPr>
        <p:spPr>
          <a:xfrm>
            <a:off x="543607" y="5955282"/>
            <a:ext cx="4052182" cy="461665"/>
          </a:xfrm>
          <a:prstGeom prst="rect">
            <a:avLst/>
          </a:prstGeom>
          <a:noFill/>
        </p:spPr>
        <p:txBody>
          <a:bodyPr wrap="square">
            <a:spAutoFit/>
          </a:bodyPr>
          <a:lstStyle/>
          <a:p>
            <a:pPr marL="0" indent="0">
              <a:buNone/>
            </a:pPr>
            <a:r>
              <a:rPr lang="fr-FR" sz="1200" dirty="0"/>
              <a:t>Nombre de sujet commencés et non considérés comme terminés</a:t>
            </a:r>
          </a:p>
        </p:txBody>
      </p:sp>
      <p:sp>
        <p:nvSpPr>
          <p:cNvPr id="62" name="Espace réservé du contenu 2">
            <a:extLst>
              <a:ext uri="{FF2B5EF4-FFF2-40B4-BE49-F238E27FC236}">
                <a16:creationId xmlns:a16="http://schemas.microsoft.com/office/drawing/2014/main" id="{C76C53B5-7EAA-4EED-5F0E-DC7589772932}"/>
              </a:ext>
            </a:extLst>
          </p:cNvPr>
          <p:cNvSpPr txBox="1">
            <a:spLocks/>
          </p:cNvSpPr>
          <p:nvPr/>
        </p:nvSpPr>
        <p:spPr>
          <a:xfrm>
            <a:off x="5278478" y="1081085"/>
            <a:ext cx="5411692" cy="1633537"/>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élevé</a:t>
            </a:r>
          </a:p>
          <a:p>
            <a:pPr marL="0" indent="0">
              <a:buNone/>
            </a:pPr>
            <a:r>
              <a:rPr lang="fr-FR" sz="1400" dirty="0"/>
              <a:t>Cela peut être signe de : Un goût à commencer beaucoup de sujets, une potentielle dispersion. Cela peut parfois engendrer une frustration de ne pas être allé « au bout des choses ».</a:t>
            </a:r>
          </a:p>
          <a:p>
            <a:pPr marL="0" indent="0">
              <a:buNone/>
            </a:pPr>
            <a:r>
              <a:rPr lang="fr-FR" sz="1400" dirty="0"/>
              <a:t>On peut alors choisir de : reprioriser, abandonner certains sujets, se fixer des règles sur l’encours (maximum global, maximum par phase, etc.)</a:t>
            </a:r>
          </a:p>
          <a:p>
            <a:pPr marL="0" indent="0">
              <a:buNone/>
            </a:pPr>
            <a:endParaRPr lang="fr-FR" sz="1800" b="1" dirty="0"/>
          </a:p>
        </p:txBody>
      </p:sp>
      <p:sp>
        <p:nvSpPr>
          <p:cNvPr id="63" name="Espace réservé du contenu 2">
            <a:extLst>
              <a:ext uri="{FF2B5EF4-FFF2-40B4-BE49-F238E27FC236}">
                <a16:creationId xmlns:a16="http://schemas.microsoft.com/office/drawing/2014/main" id="{FE3D028B-C149-CEE0-8F9B-EF3B8A36547D}"/>
              </a:ext>
            </a:extLst>
          </p:cNvPr>
          <p:cNvSpPr txBox="1">
            <a:spLocks/>
          </p:cNvSpPr>
          <p:nvPr/>
        </p:nvSpPr>
        <p:spPr>
          <a:xfrm>
            <a:off x="5278478" y="2924172"/>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bas</a:t>
            </a:r>
          </a:p>
          <a:p>
            <a:pPr marL="0" indent="0">
              <a:buNone/>
            </a:pPr>
            <a:r>
              <a:rPr lang="fr-FR" sz="1400" dirty="0"/>
              <a:t>Cela peut être signe de : Une très forte concentration de la Communauté en termes de sujets abordés. Un risque de fermeture ou de manque de curiosité. Une perte de vitesse. Une capacité à bien terminer ses objectifs et à maîtriser sa dispersion.</a:t>
            </a:r>
          </a:p>
          <a:p>
            <a:pPr marL="0" indent="0">
              <a:buNone/>
            </a:pPr>
            <a:r>
              <a:rPr lang="fr-FR" sz="1400" dirty="0"/>
              <a:t>On peut alors choisir de : Ouvrir de nouveaux sujets.</a:t>
            </a:r>
            <a:r>
              <a:rPr lang="fr-FR" sz="1800" b="1" dirty="0"/>
              <a:t> </a:t>
            </a:r>
            <a:endParaRPr lang="fr-FR" sz="1400" dirty="0"/>
          </a:p>
        </p:txBody>
      </p:sp>
      <p:sp>
        <p:nvSpPr>
          <p:cNvPr id="64" name="Espace réservé du contenu 2">
            <a:extLst>
              <a:ext uri="{FF2B5EF4-FFF2-40B4-BE49-F238E27FC236}">
                <a16:creationId xmlns:a16="http://schemas.microsoft.com/office/drawing/2014/main" id="{E4474C5A-9BA2-7938-FEB2-35F0194FD7A2}"/>
              </a:ext>
            </a:extLst>
          </p:cNvPr>
          <p:cNvSpPr txBox="1">
            <a:spLocks/>
          </p:cNvSpPr>
          <p:nvPr/>
        </p:nvSpPr>
        <p:spPr>
          <a:xfrm>
            <a:off x="5278478" y="4762496"/>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marL="0" indent="0">
              <a:buNone/>
            </a:pPr>
            <a:r>
              <a:rPr lang="fr-FR" sz="1400" dirty="0"/>
              <a:t>Lorsqu’une communauté qui est très active est remise en cause sur ses effets et sa performance, il peut être intéressant de faire le point sur l’en-cours. </a:t>
            </a:r>
          </a:p>
          <a:p>
            <a:pPr marL="0" indent="0">
              <a:buNone/>
            </a:pPr>
            <a:r>
              <a:rPr lang="fr-FR" sz="1400" dirty="0"/>
              <a:t>Une variante peut consister à mesurer l’en-cours pour une phase donnée plutôt que l’en cours total, afin de mieux doser les activités.</a:t>
            </a:r>
            <a:endParaRPr lang="fr-FR" sz="1800" dirty="0"/>
          </a:p>
        </p:txBody>
      </p:sp>
    </p:spTree>
    <p:extLst>
      <p:ext uri="{BB962C8B-B14F-4D97-AF65-F5344CB8AC3E}">
        <p14:creationId xmlns:p14="http://schemas.microsoft.com/office/powerpoint/2010/main" val="221533109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5197431" cy="1325563"/>
          </a:xfrm>
        </p:spPr>
        <p:txBody>
          <a:bodyPr>
            <a:noAutofit/>
          </a:bodyPr>
          <a:lstStyle/>
          <a:p>
            <a:r>
              <a:rPr lang="fr-FR" sz="2800" b="1" dirty="0"/>
              <a:t>Indicateur : </a:t>
            </a:r>
            <a:br>
              <a:rPr lang="fr-FR" sz="2800" b="1" dirty="0"/>
            </a:br>
            <a:r>
              <a:rPr lang="fr-FR" sz="2800" b="1" dirty="0"/>
              <a:t>Niveau moyen des objectifs</a:t>
            </a:r>
            <a:endParaRPr lang="fr-FR" sz="2800" dirty="0"/>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endParaRPr lang="fr-FR" sz="1400" b="1" dirty="0"/>
          </a:p>
          <a:p>
            <a:pPr marL="0" indent="0">
              <a:buNone/>
            </a:pPr>
            <a:r>
              <a:rPr lang="fr-FR" sz="1400" dirty="0"/>
              <a:t>Avoir identifié les sujets de la communauté </a:t>
            </a:r>
          </a:p>
          <a:p>
            <a:pPr marL="0" indent="0">
              <a:buNone/>
            </a:pPr>
            <a:endParaRPr lang="fr-FR" sz="1400" dirty="0"/>
          </a:p>
          <a:p>
            <a:pPr marL="0" indent="0">
              <a:buNone/>
            </a:pPr>
            <a:r>
              <a:rPr lang="fr-FR" sz="1400" dirty="0"/>
              <a:t>Avoir identifié les objectifs de phase des différents sujets avec CCC-Goals </a:t>
            </a:r>
          </a:p>
          <a:p>
            <a:pPr marL="0" indent="0">
              <a:buNone/>
            </a:pPr>
            <a:endParaRPr lang="fr-FR" sz="1400" dirty="0"/>
          </a:p>
          <a:p>
            <a:pPr marL="0" indent="0">
              <a:buNone/>
            </a:pPr>
            <a:endParaRPr lang="fr-FR" sz="1800" b="1" dirty="0"/>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Le but de cet indicateur est de mesurer jusqu’où en moyenne la Communauté souhaite aller. </a:t>
            </a:r>
          </a:p>
          <a:p>
            <a:pPr marL="0" indent="0">
              <a:buNone/>
            </a:pPr>
            <a:r>
              <a:rPr lang="fr-FR" sz="1400" dirty="0"/>
              <a:t>On mesure cette moyenne en comptant divisant la somme des niveaux des objectifs (1 pour inspiration, 2 pour collecte, etc.)  par le nombre d’objectifs (terminés ou non)</a:t>
            </a:r>
          </a:p>
          <a:p>
            <a:pPr marL="0" indent="0">
              <a:buNone/>
            </a:pPr>
            <a:r>
              <a:rPr lang="fr-FR" sz="1400" dirty="0"/>
              <a:t>Les sujets « à objectif variable » (aussi loin qu’on peut selon CCC-Goals) ne sont comptabilisés par cet indicateur.</a:t>
            </a:r>
          </a:p>
          <a:p>
            <a:pPr marL="0" indent="0">
              <a:buNone/>
            </a:pPr>
            <a:r>
              <a:rPr lang="fr-FR" sz="1400" dirty="0"/>
              <a:t>Par défaut on compte les objectifs atteints ou non atteints. A noter que cet indicateur ne prend pas en compte l’état de départ des objectifs.</a:t>
            </a:r>
          </a:p>
        </p:txBody>
      </p:sp>
      <p:grpSp>
        <p:nvGrpSpPr>
          <p:cNvPr id="6" name="Groupe 5">
            <a:extLst>
              <a:ext uri="{FF2B5EF4-FFF2-40B4-BE49-F238E27FC236}">
                <a16:creationId xmlns:a16="http://schemas.microsoft.com/office/drawing/2014/main" id="{1BF44FE3-5DEA-E7C2-574B-DA5153AAD1C4}"/>
              </a:ext>
            </a:extLst>
          </p:cNvPr>
          <p:cNvGrpSpPr/>
          <p:nvPr/>
        </p:nvGrpSpPr>
        <p:grpSpPr>
          <a:xfrm>
            <a:off x="1004899" y="2075168"/>
            <a:ext cx="4013145" cy="458111"/>
            <a:chOff x="11600" y="1496380"/>
            <a:chExt cx="12038120" cy="1498765"/>
          </a:xfrm>
        </p:grpSpPr>
        <p:grpSp>
          <p:nvGrpSpPr>
            <p:cNvPr id="60" name="Groupe 59">
              <a:extLst>
                <a:ext uri="{FF2B5EF4-FFF2-40B4-BE49-F238E27FC236}">
                  <a16:creationId xmlns:a16="http://schemas.microsoft.com/office/drawing/2014/main" id="{E68483BE-3531-9CA2-4F6D-D1D766FAE4DF}"/>
                </a:ext>
              </a:extLst>
            </p:cNvPr>
            <p:cNvGrpSpPr/>
            <p:nvPr/>
          </p:nvGrpSpPr>
          <p:grpSpPr>
            <a:xfrm>
              <a:off x="11600" y="2499558"/>
              <a:ext cx="12038120" cy="495587"/>
              <a:chOff x="0" y="2140394"/>
              <a:chExt cx="12854128" cy="4544491"/>
            </a:xfrm>
          </p:grpSpPr>
          <p:sp>
            <p:nvSpPr>
              <p:cNvPr id="68" name="Espace réservé du texte 15">
                <a:extLst>
                  <a:ext uri="{FF2B5EF4-FFF2-40B4-BE49-F238E27FC236}">
                    <a16:creationId xmlns:a16="http://schemas.microsoft.com/office/drawing/2014/main" id="{7F46281B-BB0B-E053-60C6-0E9F37DD9A9F}"/>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69" name="Espace réservé du texte 15">
                <a:extLst>
                  <a:ext uri="{FF2B5EF4-FFF2-40B4-BE49-F238E27FC236}">
                    <a16:creationId xmlns:a16="http://schemas.microsoft.com/office/drawing/2014/main" id="{6EDC949A-1451-7197-425B-72653F5F021D}"/>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70" name="Espace réservé du texte 15">
                <a:extLst>
                  <a:ext uri="{FF2B5EF4-FFF2-40B4-BE49-F238E27FC236}">
                    <a16:creationId xmlns:a16="http://schemas.microsoft.com/office/drawing/2014/main" id="{5962DA8B-40E7-8097-9E3A-230528001657}"/>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71" name="Espace réservé du texte 15">
                <a:extLst>
                  <a:ext uri="{FF2B5EF4-FFF2-40B4-BE49-F238E27FC236}">
                    <a16:creationId xmlns:a16="http://schemas.microsoft.com/office/drawing/2014/main" id="{74E60E0D-1F11-9B0F-B5FE-B605FA3AD2E6}"/>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72" name="Espace réservé du texte 15">
                <a:extLst>
                  <a:ext uri="{FF2B5EF4-FFF2-40B4-BE49-F238E27FC236}">
                    <a16:creationId xmlns:a16="http://schemas.microsoft.com/office/drawing/2014/main" id="{42BA4AF9-9A34-BF6C-7CC0-646FE7FB5959}"/>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73" name="Espace réservé du texte 15">
                <a:extLst>
                  <a:ext uri="{FF2B5EF4-FFF2-40B4-BE49-F238E27FC236}">
                    <a16:creationId xmlns:a16="http://schemas.microsoft.com/office/drawing/2014/main" id="{FDD8E2C1-09F6-B7D2-CC12-5304BA8A9922}"/>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74" name="Espace réservé du texte 15">
                <a:extLst>
                  <a:ext uri="{FF2B5EF4-FFF2-40B4-BE49-F238E27FC236}">
                    <a16:creationId xmlns:a16="http://schemas.microsoft.com/office/drawing/2014/main" id="{DD6F484E-BB35-7CE8-F809-B7D5F0A13E5C}"/>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61" name="Graphique 60" descr="Ampoule avec un remplissage uni">
              <a:extLst>
                <a:ext uri="{FF2B5EF4-FFF2-40B4-BE49-F238E27FC236}">
                  <a16:creationId xmlns:a16="http://schemas.microsoft.com/office/drawing/2014/main" id="{B3D7DDB2-9375-2AC1-FA2F-09E62DEABF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62" name="Graphique 61" descr="Seau et pelle avec un remplissage uni">
              <a:extLst>
                <a:ext uri="{FF2B5EF4-FFF2-40B4-BE49-F238E27FC236}">
                  <a16:creationId xmlns:a16="http://schemas.microsoft.com/office/drawing/2014/main" id="{C835C171-A400-71B8-EFA3-96E8909A2A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63" name="Graphique 62" descr="Tubes à essai avec un remplissage uni">
              <a:extLst>
                <a:ext uri="{FF2B5EF4-FFF2-40B4-BE49-F238E27FC236}">
                  <a16:creationId xmlns:a16="http://schemas.microsoft.com/office/drawing/2014/main" id="{494D14A7-05C6-D082-5286-EE83CC07F0A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64" name="Graphique 63" descr="Explosion avec un remplissage uni">
              <a:extLst>
                <a:ext uri="{FF2B5EF4-FFF2-40B4-BE49-F238E27FC236}">
                  <a16:creationId xmlns:a16="http://schemas.microsoft.com/office/drawing/2014/main" id="{6C642C0E-A5F3-1058-AD1F-0E8F635C774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65" name="Graphique 64" descr="Trophée avec un remplissage uni">
              <a:extLst>
                <a:ext uri="{FF2B5EF4-FFF2-40B4-BE49-F238E27FC236}">
                  <a16:creationId xmlns:a16="http://schemas.microsoft.com/office/drawing/2014/main" id="{63FA18B8-CC88-F495-EED5-0094A0D6128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66" name="Graphique 65" descr="Assiette couverte avec un remplissage uni">
              <a:extLst>
                <a:ext uri="{FF2B5EF4-FFF2-40B4-BE49-F238E27FC236}">
                  <a16:creationId xmlns:a16="http://schemas.microsoft.com/office/drawing/2014/main" id="{1F74D368-B443-3DE7-28A9-9353FA974FB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67" name="Graphique 66" descr="Scène de château avec un remplissage uni">
              <a:extLst>
                <a:ext uri="{FF2B5EF4-FFF2-40B4-BE49-F238E27FC236}">
                  <a16:creationId xmlns:a16="http://schemas.microsoft.com/office/drawing/2014/main" id="{D7E5E064-DAB1-1002-75ED-DA95ABBAF97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8" name="Groupe 7">
            <a:extLst>
              <a:ext uri="{FF2B5EF4-FFF2-40B4-BE49-F238E27FC236}">
                <a16:creationId xmlns:a16="http://schemas.microsoft.com/office/drawing/2014/main" id="{6168B20A-6F23-3F86-1220-EACCDDD8AE61}"/>
              </a:ext>
            </a:extLst>
          </p:cNvPr>
          <p:cNvGrpSpPr/>
          <p:nvPr/>
        </p:nvGrpSpPr>
        <p:grpSpPr>
          <a:xfrm>
            <a:off x="791077" y="2799355"/>
            <a:ext cx="1894821" cy="181741"/>
            <a:chOff x="3099062" y="3394846"/>
            <a:chExt cx="4016859" cy="385275"/>
          </a:xfrm>
        </p:grpSpPr>
        <p:sp>
          <p:nvSpPr>
            <p:cNvPr id="57" name="Rectangle 56">
              <a:extLst>
                <a:ext uri="{FF2B5EF4-FFF2-40B4-BE49-F238E27FC236}">
                  <a16:creationId xmlns:a16="http://schemas.microsoft.com/office/drawing/2014/main" id="{7E7DC007-C881-3F94-C5E4-8869A60F8F4E}"/>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8" name="Connecteur droit avec flèche 57">
              <a:extLst>
                <a:ext uri="{FF2B5EF4-FFF2-40B4-BE49-F238E27FC236}">
                  <a16:creationId xmlns:a16="http://schemas.microsoft.com/office/drawing/2014/main" id="{013DBF12-DEBC-25E5-A2A2-F82D1B8BA9E0}"/>
                </a:ext>
              </a:extLst>
            </p:cNvPr>
            <p:cNvCxnSpPr>
              <a:cxnSpLocks/>
              <a:stCxn id="57" idx="3"/>
              <a:endCxn id="59"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9" name="Graphique 58" descr="Mille avec un remplissage uni">
              <a:extLst>
                <a:ext uri="{FF2B5EF4-FFF2-40B4-BE49-F238E27FC236}">
                  <a16:creationId xmlns:a16="http://schemas.microsoft.com/office/drawing/2014/main" id="{6E7A8D1E-371A-388E-BC2E-F21AFA3D65E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grpSp>
      <p:grpSp>
        <p:nvGrpSpPr>
          <p:cNvPr id="9" name="Groupe 8">
            <a:extLst>
              <a:ext uri="{FF2B5EF4-FFF2-40B4-BE49-F238E27FC236}">
                <a16:creationId xmlns:a16="http://schemas.microsoft.com/office/drawing/2014/main" id="{4643A4B2-68B0-125F-A652-5D295D61A17E}"/>
              </a:ext>
            </a:extLst>
          </p:cNvPr>
          <p:cNvGrpSpPr/>
          <p:nvPr/>
        </p:nvGrpSpPr>
        <p:grpSpPr>
          <a:xfrm>
            <a:off x="791076" y="3011948"/>
            <a:ext cx="3469706" cy="181741"/>
            <a:chOff x="3099061" y="3796432"/>
            <a:chExt cx="7355485" cy="385275"/>
          </a:xfrm>
        </p:grpSpPr>
        <p:sp>
          <p:nvSpPr>
            <p:cNvPr id="54" name="Rectangle 53">
              <a:extLst>
                <a:ext uri="{FF2B5EF4-FFF2-40B4-BE49-F238E27FC236}">
                  <a16:creationId xmlns:a16="http://schemas.microsoft.com/office/drawing/2014/main" id="{FB0BB1EC-822F-DD13-BD83-4C83D8B7718B}"/>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5" name="Connecteur droit avec flèche 54">
              <a:extLst>
                <a:ext uri="{FF2B5EF4-FFF2-40B4-BE49-F238E27FC236}">
                  <a16:creationId xmlns:a16="http://schemas.microsoft.com/office/drawing/2014/main" id="{73B42778-CC87-F513-2EF9-B903E1CC136A}"/>
                </a:ext>
              </a:extLst>
            </p:cNvPr>
            <p:cNvCxnSpPr>
              <a:cxnSpLocks/>
              <a:stCxn id="54" idx="3"/>
              <a:endCxn id="56"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6" name="Graphique 55" descr="Mille avec un remplissage uni">
              <a:extLst>
                <a:ext uri="{FF2B5EF4-FFF2-40B4-BE49-F238E27FC236}">
                  <a16:creationId xmlns:a16="http://schemas.microsoft.com/office/drawing/2014/main" id="{0B24E34A-B988-7B55-F9A4-146AA57BBC1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grpSp>
      <p:grpSp>
        <p:nvGrpSpPr>
          <p:cNvPr id="23" name="Groupe 22">
            <a:extLst>
              <a:ext uri="{FF2B5EF4-FFF2-40B4-BE49-F238E27FC236}">
                <a16:creationId xmlns:a16="http://schemas.microsoft.com/office/drawing/2014/main" id="{5D256D02-99E0-7683-AD3A-F1B88B4164D0}"/>
              </a:ext>
            </a:extLst>
          </p:cNvPr>
          <p:cNvGrpSpPr/>
          <p:nvPr/>
        </p:nvGrpSpPr>
        <p:grpSpPr>
          <a:xfrm>
            <a:off x="789930" y="3640101"/>
            <a:ext cx="1180962" cy="181741"/>
            <a:chOff x="3096631" y="5085827"/>
            <a:chExt cx="2503539" cy="385275"/>
          </a:xfrm>
        </p:grpSpPr>
        <p:sp>
          <p:nvSpPr>
            <p:cNvPr id="51" name="Rectangle 50">
              <a:extLst>
                <a:ext uri="{FF2B5EF4-FFF2-40B4-BE49-F238E27FC236}">
                  <a16:creationId xmlns:a16="http://schemas.microsoft.com/office/drawing/2014/main" id="{6CFF01C0-5003-B95A-406D-CD3C8949EE5A}"/>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2" name="Connecteur droit avec flèche 51">
              <a:extLst>
                <a:ext uri="{FF2B5EF4-FFF2-40B4-BE49-F238E27FC236}">
                  <a16:creationId xmlns:a16="http://schemas.microsoft.com/office/drawing/2014/main" id="{4E962313-09C0-5099-82E8-043347838325}"/>
                </a:ext>
              </a:extLst>
            </p:cNvPr>
            <p:cNvCxnSpPr>
              <a:cxnSpLocks/>
              <a:stCxn id="51" idx="3"/>
              <a:endCxn id="53"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3" name="Graphique 52" descr="Mille avec un remplissage uni">
              <a:extLst>
                <a:ext uri="{FF2B5EF4-FFF2-40B4-BE49-F238E27FC236}">
                  <a16:creationId xmlns:a16="http://schemas.microsoft.com/office/drawing/2014/main" id="{A2ACBE47-4A0D-98C9-E88A-176D9AFB7EC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24" name="Groupe 23">
            <a:extLst>
              <a:ext uri="{FF2B5EF4-FFF2-40B4-BE49-F238E27FC236}">
                <a16:creationId xmlns:a16="http://schemas.microsoft.com/office/drawing/2014/main" id="{94A8C841-C5DE-2082-2C4E-28F3DF4C3B37}"/>
              </a:ext>
            </a:extLst>
          </p:cNvPr>
          <p:cNvGrpSpPr/>
          <p:nvPr/>
        </p:nvGrpSpPr>
        <p:grpSpPr>
          <a:xfrm>
            <a:off x="789930" y="3432549"/>
            <a:ext cx="3007308" cy="181741"/>
            <a:chOff x="3096631" y="4622114"/>
            <a:chExt cx="6375239" cy="385275"/>
          </a:xfrm>
        </p:grpSpPr>
        <p:sp>
          <p:nvSpPr>
            <p:cNvPr id="48" name="Rectangle 47">
              <a:extLst>
                <a:ext uri="{FF2B5EF4-FFF2-40B4-BE49-F238E27FC236}">
                  <a16:creationId xmlns:a16="http://schemas.microsoft.com/office/drawing/2014/main" id="{B3775085-5300-8A49-40E5-0244FA19E98B}"/>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9" name="Connecteur droit avec flèche 48">
              <a:extLst>
                <a:ext uri="{FF2B5EF4-FFF2-40B4-BE49-F238E27FC236}">
                  <a16:creationId xmlns:a16="http://schemas.microsoft.com/office/drawing/2014/main" id="{95EA854C-A3B7-48FD-EC18-D31EE497796B}"/>
                </a:ext>
              </a:extLst>
            </p:cNvPr>
            <p:cNvCxnSpPr>
              <a:cxnSpLocks/>
              <a:stCxn id="48" idx="3"/>
              <a:endCxn id="50"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0" name="Graphique 49" descr="Mille avec un remplissage uni">
              <a:extLst>
                <a:ext uri="{FF2B5EF4-FFF2-40B4-BE49-F238E27FC236}">
                  <a16:creationId xmlns:a16="http://schemas.microsoft.com/office/drawing/2014/main" id="{F2F800B2-95D5-6EA0-E74C-A3D4B726DAE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grpSp>
      <p:grpSp>
        <p:nvGrpSpPr>
          <p:cNvPr id="25" name="Groupe 24">
            <a:extLst>
              <a:ext uri="{FF2B5EF4-FFF2-40B4-BE49-F238E27FC236}">
                <a16:creationId xmlns:a16="http://schemas.microsoft.com/office/drawing/2014/main" id="{66FB3E15-3051-C1BA-BB07-E14C7CBA712C}"/>
              </a:ext>
            </a:extLst>
          </p:cNvPr>
          <p:cNvGrpSpPr/>
          <p:nvPr/>
        </p:nvGrpSpPr>
        <p:grpSpPr>
          <a:xfrm>
            <a:off x="789930" y="3221332"/>
            <a:ext cx="4041245" cy="181741"/>
            <a:chOff x="3096632" y="4195205"/>
            <a:chExt cx="8567098" cy="385275"/>
          </a:xfrm>
        </p:grpSpPr>
        <p:sp>
          <p:nvSpPr>
            <p:cNvPr id="45" name="Rectangle 44">
              <a:extLst>
                <a:ext uri="{FF2B5EF4-FFF2-40B4-BE49-F238E27FC236}">
                  <a16:creationId xmlns:a16="http://schemas.microsoft.com/office/drawing/2014/main" id="{83C3E0EC-7341-FF2F-2FB6-09570722437C}"/>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6" name="Connecteur droit avec flèche 45">
              <a:extLst>
                <a:ext uri="{FF2B5EF4-FFF2-40B4-BE49-F238E27FC236}">
                  <a16:creationId xmlns:a16="http://schemas.microsoft.com/office/drawing/2014/main" id="{7AB9798E-631E-44DC-C710-5ADBDA3BAA11}"/>
                </a:ext>
              </a:extLst>
            </p:cNvPr>
            <p:cNvCxnSpPr>
              <a:cxnSpLocks/>
              <a:stCxn id="45" idx="3"/>
              <a:endCxn id="47"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7" name="Graphique 46" descr="Mille avec un remplissage uni">
              <a:extLst>
                <a:ext uri="{FF2B5EF4-FFF2-40B4-BE49-F238E27FC236}">
                  <a16:creationId xmlns:a16="http://schemas.microsoft.com/office/drawing/2014/main" id="{9F36B924-898F-CD16-A14A-B27C8DDADF2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grpSp>
      <p:grpSp>
        <p:nvGrpSpPr>
          <p:cNvPr id="27" name="Groupe 26">
            <a:extLst>
              <a:ext uri="{FF2B5EF4-FFF2-40B4-BE49-F238E27FC236}">
                <a16:creationId xmlns:a16="http://schemas.microsoft.com/office/drawing/2014/main" id="{67BD3A5D-3CAD-F3B3-DC9A-958A2DB3241F}"/>
              </a:ext>
            </a:extLst>
          </p:cNvPr>
          <p:cNvGrpSpPr/>
          <p:nvPr/>
        </p:nvGrpSpPr>
        <p:grpSpPr>
          <a:xfrm>
            <a:off x="791077" y="2593179"/>
            <a:ext cx="3006161" cy="181741"/>
            <a:chOff x="3099063" y="2916714"/>
            <a:chExt cx="6372808" cy="385275"/>
          </a:xfrm>
        </p:grpSpPr>
        <p:pic>
          <p:nvPicPr>
            <p:cNvPr id="38" name="Graphique 37" descr="Mille avec un remplissage uni">
              <a:extLst>
                <a:ext uri="{FF2B5EF4-FFF2-40B4-BE49-F238E27FC236}">
                  <a16:creationId xmlns:a16="http://schemas.microsoft.com/office/drawing/2014/main" id="{19D18482-E9EC-8F7C-928A-B5C1CB5E00A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39" name="Rectangle 38">
              <a:extLst>
                <a:ext uri="{FF2B5EF4-FFF2-40B4-BE49-F238E27FC236}">
                  <a16:creationId xmlns:a16="http://schemas.microsoft.com/office/drawing/2014/main" id="{3337475B-6B9B-A4E4-7BF7-816889EA3874}"/>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1" name="Connecteur droit avec flèche 40">
              <a:extLst>
                <a:ext uri="{FF2B5EF4-FFF2-40B4-BE49-F238E27FC236}">
                  <a16:creationId xmlns:a16="http://schemas.microsoft.com/office/drawing/2014/main" id="{A66C3612-0072-665D-5D7B-86880EEE5D4B}"/>
                </a:ext>
              </a:extLst>
            </p:cNvPr>
            <p:cNvCxnSpPr>
              <a:cxnSpLocks/>
              <a:stCxn id="39" idx="3"/>
              <a:endCxn id="38"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8" name="Groupe 27">
            <a:extLst>
              <a:ext uri="{FF2B5EF4-FFF2-40B4-BE49-F238E27FC236}">
                <a16:creationId xmlns:a16="http://schemas.microsoft.com/office/drawing/2014/main" id="{ED7E2CF3-4B22-85EE-F0D1-0FADFA031917}"/>
              </a:ext>
            </a:extLst>
          </p:cNvPr>
          <p:cNvGrpSpPr/>
          <p:nvPr/>
        </p:nvGrpSpPr>
        <p:grpSpPr>
          <a:xfrm>
            <a:off x="789930" y="4078287"/>
            <a:ext cx="3859964" cy="146572"/>
            <a:chOff x="3096635" y="5617252"/>
            <a:chExt cx="8182799" cy="310720"/>
          </a:xfrm>
        </p:grpSpPr>
        <p:sp>
          <p:nvSpPr>
            <p:cNvPr id="36" name="Rectangle 35">
              <a:extLst>
                <a:ext uri="{FF2B5EF4-FFF2-40B4-BE49-F238E27FC236}">
                  <a16:creationId xmlns:a16="http://schemas.microsoft.com/office/drawing/2014/main" id="{158DA7A6-4753-F7B1-1513-C33CD0FC58BA}"/>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7" name="Connecteur droit avec flèche 36">
              <a:extLst>
                <a:ext uri="{FF2B5EF4-FFF2-40B4-BE49-F238E27FC236}">
                  <a16:creationId xmlns:a16="http://schemas.microsoft.com/office/drawing/2014/main" id="{9F02ED51-E908-926B-FBB8-BF7FB3A0128B}"/>
                </a:ext>
              </a:extLst>
            </p:cNvPr>
            <p:cNvCxnSpPr>
              <a:cxnSpLocks/>
              <a:stCxn id="36" idx="3"/>
              <a:endCxn id="29"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grpSp>
      <p:pic>
        <p:nvPicPr>
          <p:cNvPr id="29" name="Graphique 28" descr="Point d’interrogation avec un remplissage uni">
            <a:extLst>
              <a:ext uri="{FF2B5EF4-FFF2-40B4-BE49-F238E27FC236}">
                <a16:creationId xmlns:a16="http://schemas.microsoft.com/office/drawing/2014/main" id="{D1ACD88D-9F4B-43CA-578D-357FF454096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30" name="Graphique 29" descr="Point d’interrogation avec un remplissage uni">
            <a:extLst>
              <a:ext uri="{FF2B5EF4-FFF2-40B4-BE49-F238E27FC236}">
                <a16:creationId xmlns:a16="http://schemas.microsoft.com/office/drawing/2014/main" id="{720F00CA-879E-20F1-238C-9345DD45B51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31" name="Graphique 30" descr="Point d’interrogation avec un remplissage uni">
            <a:extLst>
              <a:ext uri="{FF2B5EF4-FFF2-40B4-BE49-F238E27FC236}">
                <a16:creationId xmlns:a16="http://schemas.microsoft.com/office/drawing/2014/main" id="{58943D23-AD5D-C9F8-BFC4-DCD4427FC6CD}"/>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32" name="Graphique 31" descr="Point d’interrogation avec un remplissage uni">
            <a:extLst>
              <a:ext uri="{FF2B5EF4-FFF2-40B4-BE49-F238E27FC236}">
                <a16:creationId xmlns:a16="http://schemas.microsoft.com/office/drawing/2014/main" id="{EA34A11F-A0E9-DAB1-963F-D492947321B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sp>
        <p:nvSpPr>
          <p:cNvPr id="112" name="ZoneTexte 111">
            <a:extLst>
              <a:ext uri="{FF2B5EF4-FFF2-40B4-BE49-F238E27FC236}">
                <a16:creationId xmlns:a16="http://schemas.microsoft.com/office/drawing/2014/main" id="{9CF28036-7A6C-224F-BD82-CF9006E85686}"/>
              </a:ext>
            </a:extLst>
          </p:cNvPr>
          <p:cNvSpPr txBox="1"/>
          <p:nvPr/>
        </p:nvSpPr>
        <p:spPr>
          <a:xfrm>
            <a:off x="659807" y="6251983"/>
            <a:ext cx="4052182" cy="461665"/>
          </a:xfrm>
          <a:prstGeom prst="rect">
            <a:avLst/>
          </a:prstGeom>
          <a:noFill/>
        </p:spPr>
        <p:txBody>
          <a:bodyPr wrap="square">
            <a:spAutoFit/>
          </a:bodyPr>
          <a:lstStyle/>
          <a:p>
            <a:pPr marL="0" indent="0">
              <a:buNone/>
            </a:pPr>
            <a:r>
              <a:rPr lang="fr-FR" sz="1200" dirty="0"/>
              <a:t>Somme des niveaux des objectifs (atteints ou non atteints) divisés par le nombre d’objectifs</a:t>
            </a:r>
          </a:p>
        </p:txBody>
      </p:sp>
      <p:sp>
        <p:nvSpPr>
          <p:cNvPr id="113" name="Bulle narrative : ronde 112">
            <a:extLst>
              <a:ext uri="{FF2B5EF4-FFF2-40B4-BE49-F238E27FC236}">
                <a16:creationId xmlns:a16="http://schemas.microsoft.com/office/drawing/2014/main" id="{8FC23D14-2D66-2375-7457-9EE94A3EB76A}"/>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Cherche-t-on à aller loin avec la Communauté (peu importe d’où l’on part) ?</a:t>
            </a:r>
          </a:p>
        </p:txBody>
      </p:sp>
      <p:pic>
        <p:nvPicPr>
          <p:cNvPr id="114" name="Graphique 3" descr="Femme portant un tailleur">
            <a:extLst>
              <a:ext uri="{FF2B5EF4-FFF2-40B4-BE49-F238E27FC236}">
                <a16:creationId xmlns:a16="http://schemas.microsoft.com/office/drawing/2014/main" id="{A9A5C83B-4BE2-FB60-0670-33EA99D97516}"/>
              </a:ext>
            </a:extLst>
          </p:cNvPr>
          <p:cNvPicPr>
            <a:picLocks noChangeAspect="1"/>
          </p:cNvPicPr>
          <p:nvPr/>
        </p:nvPicPr>
        <p:blipFill rotWithShape="1">
          <a:blip r:embed="rId23">
            <a:extLst>
              <a:ext uri="{96DAC541-7B7A-43D3-8B79-37D633B846F1}">
                <asvg:svgBlip xmlns:asvg="http://schemas.microsoft.com/office/drawing/2016/SVG/main" r:embed="rId24"/>
              </a:ext>
            </a:extLst>
          </a:blip>
          <a:srcRect b="67900"/>
          <a:stretch/>
        </p:blipFill>
        <p:spPr>
          <a:xfrm flipH="1">
            <a:off x="9519412" y="371448"/>
            <a:ext cx="2672588" cy="1668390"/>
          </a:xfrm>
          <a:prstGeom prst="rect">
            <a:avLst/>
          </a:prstGeom>
        </p:spPr>
      </p:pic>
      <p:cxnSp>
        <p:nvCxnSpPr>
          <p:cNvPr id="3" name="Connecteur droit 2">
            <a:extLst>
              <a:ext uri="{FF2B5EF4-FFF2-40B4-BE49-F238E27FC236}">
                <a16:creationId xmlns:a16="http://schemas.microsoft.com/office/drawing/2014/main" id="{32A03BF4-6760-56D4-7DED-69ED74D5688A}"/>
              </a:ext>
            </a:extLst>
          </p:cNvPr>
          <p:cNvCxnSpPr>
            <a:cxnSpLocks/>
          </p:cNvCxnSpPr>
          <p:nvPr/>
        </p:nvCxnSpPr>
        <p:spPr>
          <a:xfrm flipH="1">
            <a:off x="2338088" y="5438509"/>
            <a:ext cx="156320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ZoneTexte 6">
            <a:extLst>
              <a:ext uri="{FF2B5EF4-FFF2-40B4-BE49-F238E27FC236}">
                <a16:creationId xmlns:a16="http://schemas.microsoft.com/office/drawing/2014/main" id="{3F48DA64-913D-074F-0506-8A5FB49D6847}"/>
              </a:ext>
            </a:extLst>
          </p:cNvPr>
          <p:cNvSpPr txBox="1"/>
          <p:nvPr/>
        </p:nvSpPr>
        <p:spPr>
          <a:xfrm>
            <a:off x="2546139" y="4630527"/>
            <a:ext cx="464463" cy="707886"/>
          </a:xfrm>
          <a:prstGeom prst="rect">
            <a:avLst/>
          </a:prstGeom>
          <a:noFill/>
        </p:spPr>
        <p:txBody>
          <a:bodyPr wrap="square">
            <a:spAutoFit/>
          </a:bodyPr>
          <a:lstStyle/>
          <a:p>
            <a:r>
              <a:rPr lang="el-GR" sz="4000" dirty="0"/>
              <a:t>Σ</a:t>
            </a:r>
            <a:endParaRPr lang="fr-FR" sz="4000" dirty="0"/>
          </a:p>
        </p:txBody>
      </p:sp>
      <p:sp>
        <p:nvSpPr>
          <p:cNvPr id="10" name="ZoneTexte 9">
            <a:extLst>
              <a:ext uri="{FF2B5EF4-FFF2-40B4-BE49-F238E27FC236}">
                <a16:creationId xmlns:a16="http://schemas.microsoft.com/office/drawing/2014/main" id="{5EC8FFB5-FA35-6637-9645-5073EE4E6F5C}"/>
              </a:ext>
            </a:extLst>
          </p:cNvPr>
          <p:cNvSpPr txBox="1"/>
          <p:nvPr/>
        </p:nvSpPr>
        <p:spPr>
          <a:xfrm>
            <a:off x="2304661" y="5366550"/>
            <a:ext cx="1992793" cy="1323439"/>
          </a:xfrm>
          <a:prstGeom prst="rect">
            <a:avLst/>
          </a:prstGeom>
          <a:noFill/>
        </p:spPr>
        <p:txBody>
          <a:bodyPr wrap="square">
            <a:spAutoFit/>
          </a:bodyPr>
          <a:lstStyle/>
          <a:p>
            <a:r>
              <a:rPr lang="el-GR" sz="4000" dirty="0"/>
              <a:t>Σ</a:t>
            </a:r>
            <a:r>
              <a:rPr lang="fr-FR" sz="4000" dirty="0"/>
              <a:t>   + </a:t>
            </a:r>
            <a:r>
              <a:rPr lang="el-GR" sz="4000" dirty="0"/>
              <a:t>Σ</a:t>
            </a:r>
            <a:endParaRPr lang="fr-FR" sz="4000" dirty="0"/>
          </a:p>
          <a:p>
            <a:endParaRPr lang="fr-FR" sz="4000" dirty="0"/>
          </a:p>
        </p:txBody>
      </p:sp>
      <p:sp>
        <p:nvSpPr>
          <p:cNvPr id="11" name="ZoneTexte 10">
            <a:extLst>
              <a:ext uri="{FF2B5EF4-FFF2-40B4-BE49-F238E27FC236}">
                <a16:creationId xmlns:a16="http://schemas.microsoft.com/office/drawing/2014/main" id="{EEE5DC50-E066-E464-95CC-0A894248EC9F}"/>
              </a:ext>
            </a:extLst>
          </p:cNvPr>
          <p:cNvSpPr txBox="1"/>
          <p:nvPr/>
        </p:nvSpPr>
        <p:spPr>
          <a:xfrm>
            <a:off x="2801631" y="4730623"/>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12" name="ZoneTexte 11">
            <a:extLst>
              <a:ext uri="{FF2B5EF4-FFF2-40B4-BE49-F238E27FC236}">
                <a16:creationId xmlns:a16="http://schemas.microsoft.com/office/drawing/2014/main" id="{14126136-8461-0703-6CFE-4A9884C08D62}"/>
              </a:ext>
            </a:extLst>
          </p:cNvPr>
          <p:cNvSpPr txBox="1"/>
          <p:nvPr/>
        </p:nvSpPr>
        <p:spPr>
          <a:xfrm>
            <a:off x="2527091" y="5153827"/>
            <a:ext cx="450618" cy="169277"/>
          </a:xfrm>
          <a:prstGeom prst="rect">
            <a:avLst/>
          </a:prstGeom>
          <a:noFill/>
        </p:spPr>
        <p:txBody>
          <a:bodyPr wrap="square">
            <a:spAutoFit/>
          </a:bodyPr>
          <a:lstStyle/>
          <a:p>
            <a:r>
              <a:rPr lang="fr-FR" sz="500" dirty="0"/>
              <a:t>i =           ,</a:t>
            </a:r>
          </a:p>
        </p:txBody>
      </p:sp>
      <p:pic>
        <p:nvPicPr>
          <p:cNvPr id="15" name="Graphique 14" descr="Mille avec un remplissage uni">
            <a:extLst>
              <a:ext uri="{FF2B5EF4-FFF2-40B4-BE49-F238E27FC236}">
                <a16:creationId xmlns:a16="http://schemas.microsoft.com/office/drawing/2014/main" id="{11B20C03-37CA-40F9-B95C-A4003621528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711093" y="5181964"/>
            <a:ext cx="123784" cy="123784"/>
          </a:xfrm>
          <a:prstGeom prst="rect">
            <a:avLst/>
          </a:prstGeom>
        </p:spPr>
      </p:pic>
      <p:pic>
        <p:nvPicPr>
          <p:cNvPr id="16" name="Graphique 15" descr="Mille avec un remplissage uni">
            <a:extLst>
              <a:ext uri="{FF2B5EF4-FFF2-40B4-BE49-F238E27FC236}">
                <a16:creationId xmlns:a16="http://schemas.microsoft.com/office/drawing/2014/main" id="{DA63194A-ABB7-C12E-D22E-5B7E6FEA332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687758" y="5560948"/>
            <a:ext cx="294237" cy="294237"/>
          </a:xfrm>
          <a:prstGeom prst="rect">
            <a:avLst/>
          </a:prstGeom>
        </p:spPr>
      </p:pic>
      <p:pic>
        <p:nvPicPr>
          <p:cNvPr id="18" name="Graphique 17" descr="Mille avec un remplissage uni">
            <a:extLst>
              <a:ext uri="{FF2B5EF4-FFF2-40B4-BE49-F238E27FC236}">
                <a16:creationId xmlns:a16="http://schemas.microsoft.com/office/drawing/2014/main" id="{36AC4D19-1ACB-AADC-A0CE-DE18A762A57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853925" y="5181964"/>
            <a:ext cx="123784" cy="123784"/>
          </a:xfrm>
          <a:prstGeom prst="rect">
            <a:avLst/>
          </a:prstGeom>
        </p:spPr>
      </p:pic>
      <p:pic>
        <p:nvPicPr>
          <p:cNvPr id="19" name="Graphique 18" descr="Mille avec un remplissage uni">
            <a:extLst>
              <a:ext uri="{FF2B5EF4-FFF2-40B4-BE49-F238E27FC236}">
                <a16:creationId xmlns:a16="http://schemas.microsoft.com/office/drawing/2014/main" id="{7C38EA06-5950-28DD-AC0A-851C137E582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596918" y="5570823"/>
            <a:ext cx="294237" cy="294237"/>
          </a:xfrm>
          <a:prstGeom prst="rect">
            <a:avLst/>
          </a:prstGeom>
        </p:spPr>
      </p:pic>
    </p:spTree>
    <p:extLst>
      <p:ext uri="{BB962C8B-B14F-4D97-AF65-F5344CB8AC3E}">
        <p14:creationId xmlns:p14="http://schemas.microsoft.com/office/powerpoint/2010/main" val="47132261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4257583" cy="1325563"/>
          </a:xfrm>
        </p:spPr>
        <p:txBody>
          <a:bodyPr>
            <a:normAutofit fontScale="90000"/>
          </a:bodyPr>
          <a:lstStyle/>
          <a:p>
            <a:r>
              <a:rPr lang="fr-FR" sz="3200" b="1" dirty="0"/>
              <a:t>Indicateur : </a:t>
            </a:r>
            <a:br>
              <a:rPr lang="fr-FR" sz="3200" b="1" dirty="0"/>
            </a:br>
            <a:r>
              <a:rPr lang="fr-FR" sz="3200" b="1" dirty="0"/>
              <a:t>Niveau moyen des objectifs</a:t>
            </a:r>
            <a:endParaRPr lang="fr-FR" sz="3200" dirty="0"/>
          </a:p>
        </p:txBody>
      </p:sp>
      <p:sp>
        <p:nvSpPr>
          <p:cNvPr id="62" name="Espace réservé du contenu 2">
            <a:extLst>
              <a:ext uri="{FF2B5EF4-FFF2-40B4-BE49-F238E27FC236}">
                <a16:creationId xmlns:a16="http://schemas.microsoft.com/office/drawing/2014/main" id="{C76C53B5-7EAA-4EED-5F0E-DC7589772932}"/>
              </a:ext>
            </a:extLst>
          </p:cNvPr>
          <p:cNvSpPr txBox="1">
            <a:spLocks/>
          </p:cNvSpPr>
          <p:nvPr/>
        </p:nvSpPr>
        <p:spPr>
          <a:xfrm>
            <a:off x="5278478" y="1081085"/>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élevé (proche de 7)</a:t>
            </a:r>
          </a:p>
          <a:p>
            <a:pPr marL="0" indent="0">
              <a:buNone/>
            </a:pPr>
            <a:r>
              <a:rPr lang="fr-FR" sz="1400" dirty="0"/>
              <a:t>Cela peut être signe de : Une communauté qui souhaite pousser ses sujets très loin, un goût pour les phases avancées du CCC.</a:t>
            </a:r>
          </a:p>
          <a:p>
            <a:pPr marL="0" indent="0">
              <a:buNone/>
            </a:pPr>
            <a:r>
              <a:rPr lang="fr-FR" sz="1400" dirty="0"/>
              <a:t>On peut alors choisir de : Inviter à se permettre plus de légèreté avec des sujets uniquement présents pour l’inspiration (qui peuvent avoir un effet positif indirect)</a:t>
            </a:r>
          </a:p>
          <a:p>
            <a:pPr marL="0" indent="0">
              <a:buNone/>
            </a:pPr>
            <a:endParaRPr lang="fr-FR" sz="1800" b="1" dirty="0"/>
          </a:p>
        </p:txBody>
      </p:sp>
      <p:sp>
        <p:nvSpPr>
          <p:cNvPr id="63" name="Espace réservé du contenu 2">
            <a:extLst>
              <a:ext uri="{FF2B5EF4-FFF2-40B4-BE49-F238E27FC236}">
                <a16:creationId xmlns:a16="http://schemas.microsoft.com/office/drawing/2014/main" id="{FE3D028B-C149-CEE0-8F9B-EF3B8A36547D}"/>
              </a:ext>
            </a:extLst>
          </p:cNvPr>
          <p:cNvSpPr txBox="1">
            <a:spLocks/>
          </p:cNvSpPr>
          <p:nvPr/>
        </p:nvSpPr>
        <p:spPr>
          <a:xfrm>
            <a:off x="5278478" y="2924172"/>
            <a:ext cx="5411692" cy="1633537"/>
          </a:xfrm>
          <a:prstGeom prst="rect">
            <a:avLst/>
          </a:prstGeom>
          <a:solidFill>
            <a:schemeClr val="bg1">
              <a:lumMod val="95000"/>
            </a:schemeClr>
          </a:solid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bas (proche de 1)</a:t>
            </a:r>
          </a:p>
          <a:p>
            <a:pPr marL="0" indent="0">
              <a:buNone/>
            </a:pPr>
            <a:r>
              <a:rPr lang="fr-FR" sz="1400" dirty="0"/>
              <a:t>Cela peut être signe de : Une communauté qui ne souhaite pas pousser ses sujets loin, une communauté qui considère qu’elle n’a pas le pouvoir de pousser ses sujets loin, ou que ses sujets n’ont pas la possibilité d’aller vers des phases avancées, une communauté qui a goût surtout à l’inspiration</a:t>
            </a:r>
          </a:p>
          <a:p>
            <a:pPr marL="0" indent="0">
              <a:buNone/>
            </a:pPr>
            <a:r>
              <a:rPr lang="fr-FR" sz="1400" dirty="0"/>
              <a:t>On peut alors choisir de : rediscuter des scénarios « et si on avait le pouvoir d’aller plus loin » (pour bien identifier s’il s’agit d’une limite choisie ou subie)</a:t>
            </a:r>
          </a:p>
        </p:txBody>
      </p:sp>
      <p:sp>
        <p:nvSpPr>
          <p:cNvPr id="64" name="Espace réservé du contenu 2">
            <a:extLst>
              <a:ext uri="{FF2B5EF4-FFF2-40B4-BE49-F238E27FC236}">
                <a16:creationId xmlns:a16="http://schemas.microsoft.com/office/drawing/2014/main" id="{E4474C5A-9BA2-7938-FEB2-35F0194FD7A2}"/>
              </a:ext>
            </a:extLst>
          </p:cNvPr>
          <p:cNvSpPr txBox="1">
            <a:spLocks/>
          </p:cNvSpPr>
          <p:nvPr/>
        </p:nvSpPr>
        <p:spPr>
          <a:xfrm>
            <a:off x="5278478" y="4762496"/>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marL="0" indent="0">
              <a:buNone/>
            </a:pPr>
            <a:r>
              <a:rPr lang="fr-FR" sz="1400" dirty="0"/>
              <a:t>Vous pouvez choisir de mesurer le niveau moyen des objectifs atteints ou des objectifs non atteints. </a:t>
            </a:r>
            <a:endParaRPr lang="fr-FR" sz="1800" dirty="0"/>
          </a:p>
        </p:txBody>
      </p:sp>
      <p:grpSp>
        <p:nvGrpSpPr>
          <p:cNvPr id="6" name="Groupe 5">
            <a:extLst>
              <a:ext uri="{FF2B5EF4-FFF2-40B4-BE49-F238E27FC236}">
                <a16:creationId xmlns:a16="http://schemas.microsoft.com/office/drawing/2014/main" id="{0EDB156D-B8F3-A130-58C9-937F0DECF820}"/>
              </a:ext>
            </a:extLst>
          </p:cNvPr>
          <p:cNvGrpSpPr/>
          <p:nvPr/>
        </p:nvGrpSpPr>
        <p:grpSpPr>
          <a:xfrm>
            <a:off x="1004899" y="2075168"/>
            <a:ext cx="4013145" cy="458111"/>
            <a:chOff x="11600" y="1496380"/>
            <a:chExt cx="12038120" cy="1498765"/>
          </a:xfrm>
        </p:grpSpPr>
        <p:grpSp>
          <p:nvGrpSpPr>
            <p:cNvPr id="7" name="Groupe 6">
              <a:extLst>
                <a:ext uri="{FF2B5EF4-FFF2-40B4-BE49-F238E27FC236}">
                  <a16:creationId xmlns:a16="http://schemas.microsoft.com/office/drawing/2014/main" id="{49BD4A49-1EAC-3798-3638-B8DD8507D561}"/>
                </a:ext>
              </a:extLst>
            </p:cNvPr>
            <p:cNvGrpSpPr/>
            <p:nvPr/>
          </p:nvGrpSpPr>
          <p:grpSpPr>
            <a:xfrm>
              <a:off x="11600" y="2499558"/>
              <a:ext cx="12038120" cy="495587"/>
              <a:chOff x="0" y="2140394"/>
              <a:chExt cx="12854128" cy="4544491"/>
            </a:xfrm>
          </p:grpSpPr>
          <p:sp>
            <p:nvSpPr>
              <p:cNvPr id="71" name="Espace réservé du texte 15">
                <a:extLst>
                  <a:ext uri="{FF2B5EF4-FFF2-40B4-BE49-F238E27FC236}">
                    <a16:creationId xmlns:a16="http://schemas.microsoft.com/office/drawing/2014/main" id="{44F6F1C9-8D20-1763-D2B1-800B645F9613}"/>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72" name="Espace réservé du texte 15">
                <a:extLst>
                  <a:ext uri="{FF2B5EF4-FFF2-40B4-BE49-F238E27FC236}">
                    <a16:creationId xmlns:a16="http://schemas.microsoft.com/office/drawing/2014/main" id="{A40B9D12-86B5-309A-6622-0973C271D290}"/>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73" name="Espace réservé du texte 15">
                <a:extLst>
                  <a:ext uri="{FF2B5EF4-FFF2-40B4-BE49-F238E27FC236}">
                    <a16:creationId xmlns:a16="http://schemas.microsoft.com/office/drawing/2014/main" id="{917E2D85-A499-625C-6B4F-1ECC48F06FB4}"/>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74" name="Espace réservé du texte 15">
                <a:extLst>
                  <a:ext uri="{FF2B5EF4-FFF2-40B4-BE49-F238E27FC236}">
                    <a16:creationId xmlns:a16="http://schemas.microsoft.com/office/drawing/2014/main" id="{0D428158-92B8-D3E7-5B73-456ABA8FF211}"/>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75" name="Espace réservé du texte 15">
                <a:extLst>
                  <a:ext uri="{FF2B5EF4-FFF2-40B4-BE49-F238E27FC236}">
                    <a16:creationId xmlns:a16="http://schemas.microsoft.com/office/drawing/2014/main" id="{6B7D9E94-74BA-951B-6C5D-E385648AC492}"/>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76" name="Espace réservé du texte 15">
                <a:extLst>
                  <a:ext uri="{FF2B5EF4-FFF2-40B4-BE49-F238E27FC236}">
                    <a16:creationId xmlns:a16="http://schemas.microsoft.com/office/drawing/2014/main" id="{72CD2482-F5DA-CDF5-8BDC-07A6869ABA5B}"/>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77" name="Espace réservé du texte 15">
                <a:extLst>
                  <a:ext uri="{FF2B5EF4-FFF2-40B4-BE49-F238E27FC236}">
                    <a16:creationId xmlns:a16="http://schemas.microsoft.com/office/drawing/2014/main" id="{DA9CFE16-B608-DAB6-26C4-00579119F18F}"/>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8" name="Graphique 7" descr="Ampoule avec un remplissage uni">
              <a:extLst>
                <a:ext uri="{FF2B5EF4-FFF2-40B4-BE49-F238E27FC236}">
                  <a16:creationId xmlns:a16="http://schemas.microsoft.com/office/drawing/2014/main" id="{4BF1A472-3823-201F-60BC-57B3FEF9A16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65" name="Graphique 64" descr="Seau et pelle avec un remplissage uni">
              <a:extLst>
                <a:ext uri="{FF2B5EF4-FFF2-40B4-BE49-F238E27FC236}">
                  <a16:creationId xmlns:a16="http://schemas.microsoft.com/office/drawing/2014/main" id="{A1BC1181-D6D6-A206-3DC6-DC896F03C69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66" name="Graphique 65" descr="Tubes à essai avec un remplissage uni">
              <a:extLst>
                <a:ext uri="{FF2B5EF4-FFF2-40B4-BE49-F238E27FC236}">
                  <a16:creationId xmlns:a16="http://schemas.microsoft.com/office/drawing/2014/main" id="{92D5EBDA-D091-4338-D1A4-2AB9EBF594C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67" name="Graphique 66" descr="Explosion avec un remplissage uni">
              <a:extLst>
                <a:ext uri="{FF2B5EF4-FFF2-40B4-BE49-F238E27FC236}">
                  <a16:creationId xmlns:a16="http://schemas.microsoft.com/office/drawing/2014/main" id="{01B1A167-3869-57DA-5C3A-18C609A166A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68" name="Graphique 67" descr="Trophée avec un remplissage uni">
              <a:extLst>
                <a:ext uri="{FF2B5EF4-FFF2-40B4-BE49-F238E27FC236}">
                  <a16:creationId xmlns:a16="http://schemas.microsoft.com/office/drawing/2014/main" id="{792FDFF2-E3DF-C57F-6DEE-30A6483D218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69" name="Graphique 68" descr="Assiette couverte avec un remplissage uni">
              <a:extLst>
                <a:ext uri="{FF2B5EF4-FFF2-40B4-BE49-F238E27FC236}">
                  <a16:creationId xmlns:a16="http://schemas.microsoft.com/office/drawing/2014/main" id="{3C70133D-926A-2E03-7CF8-07E12B4057A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70" name="Graphique 69" descr="Scène de château avec un remplissage uni">
              <a:extLst>
                <a:ext uri="{FF2B5EF4-FFF2-40B4-BE49-F238E27FC236}">
                  <a16:creationId xmlns:a16="http://schemas.microsoft.com/office/drawing/2014/main" id="{581AB04D-612A-AF68-8F45-E2C89C2E7DC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78" name="Groupe 77">
            <a:extLst>
              <a:ext uri="{FF2B5EF4-FFF2-40B4-BE49-F238E27FC236}">
                <a16:creationId xmlns:a16="http://schemas.microsoft.com/office/drawing/2014/main" id="{499AD01A-1E97-04C7-5CD0-06194834023D}"/>
              </a:ext>
            </a:extLst>
          </p:cNvPr>
          <p:cNvGrpSpPr/>
          <p:nvPr/>
        </p:nvGrpSpPr>
        <p:grpSpPr>
          <a:xfrm>
            <a:off x="791077" y="2799355"/>
            <a:ext cx="1894821" cy="181741"/>
            <a:chOff x="3099062" y="3394846"/>
            <a:chExt cx="4016859" cy="385275"/>
          </a:xfrm>
        </p:grpSpPr>
        <p:sp>
          <p:nvSpPr>
            <p:cNvPr id="79" name="Rectangle 78">
              <a:extLst>
                <a:ext uri="{FF2B5EF4-FFF2-40B4-BE49-F238E27FC236}">
                  <a16:creationId xmlns:a16="http://schemas.microsoft.com/office/drawing/2014/main" id="{E31B1E1C-D60A-D7B8-ED46-0F41033F5637}"/>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0" name="Connecteur droit avec flèche 79">
              <a:extLst>
                <a:ext uri="{FF2B5EF4-FFF2-40B4-BE49-F238E27FC236}">
                  <a16:creationId xmlns:a16="http://schemas.microsoft.com/office/drawing/2014/main" id="{A901A743-CEE9-92E3-2425-D2FD6DFCDAB8}"/>
                </a:ext>
              </a:extLst>
            </p:cNvPr>
            <p:cNvCxnSpPr>
              <a:cxnSpLocks/>
              <a:stCxn id="79" idx="3"/>
              <a:endCxn id="81"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1" name="Graphique 80" descr="Mille avec un remplissage uni">
              <a:extLst>
                <a:ext uri="{FF2B5EF4-FFF2-40B4-BE49-F238E27FC236}">
                  <a16:creationId xmlns:a16="http://schemas.microsoft.com/office/drawing/2014/main" id="{7872E82B-00F9-7A37-C248-D7C0C5D4FE1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grpSp>
      <p:grpSp>
        <p:nvGrpSpPr>
          <p:cNvPr id="82" name="Groupe 81">
            <a:extLst>
              <a:ext uri="{FF2B5EF4-FFF2-40B4-BE49-F238E27FC236}">
                <a16:creationId xmlns:a16="http://schemas.microsoft.com/office/drawing/2014/main" id="{52ED4882-D191-B2BE-2E35-75E2770794B5}"/>
              </a:ext>
            </a:extLst>
          </p:cNvPr>
          <p:cNvGrpSpPr/>
          <p:nvPr/>
        </p:nvGrpSpPr>
        <p:grpSpPr>
          <a:xfrm>
            <a:off x="791076" y="3011948"/>
            <a:ext cx="3469706" cy="181741"/>
            <a:chOff x="3099061" y="3796432"/>
            <a:chExt cx="7355485" cy="385275"/>
          </a:xfrm>
        </p:grpSpPr>
        <p:sp>
          <p:nvSpPr>
            <p:cNvPr id="83" name="Rectangle 82">
              <a:extLst>
                <a:ext uri="{FF2B5EF4-FFF2-40B4-BE49-F238E27FC236}">
                  <a16:creationId xmlns:a16="http://schemas.microsoft.com/office/drawing/2014/main" id="{21AF4255-B714-7F29-6742-F3C852A4AF4D}"/>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4" name="Connecteur droit avec flèche 83">
              <a:extLst>
                <a:ext uri="{FF2B5EF4-FFF2-40B4-BE49-F238E27FC236}">
                  <a16:creationId xmlns:a16="http://schemas.microsoft.com/office/drawing/2014/main" id="{7546017A-EC06-8A62-B795-3EE42E80626A}"/>
                </a:ext>
              </a:extLst>
            </p:cNvPr>
            <p:cNvCxnSpPr>
              <a:cxnSpLocks/>
              <a:stCxn id="83" idx="3"/>
              <a:endCxn id="85"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5" name="Graphique 84" descr="Mille avec un remplissage uni">
              <a:extLst>
                <a:ext uri="{FF2B5EF4-FFF2-40B4-BE49-F238E27FC236}">
                  <a16:creationId xmlns:a16="http://schemas.microsoft.com/office/drawing/2014/main" id="{C5E2B7DE-56E1-3DC9-1695-438630C1C65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grpSp>
      <p:grpSp>
        <p:nvGrpSpPr>
          <p:cNvPr id="86" name="Groupe 85">
            <a:extLst>
              <a:ext uri="{FF2B5EF4-FFF2-40B4-BE49-F238E27FC236}">
                <a16:creationId xmlns:a16="http://schemas.microsoft.com/office/drawing/2014/main" id="{81ED4B23-3896-1720-A343-AB2E8454A3F0}"/>
              </a:ext>
            </a:extLst>
          </p:cNvPr>
          <p:cNvGrpSpPr/>
          <p:nvPr/>
        </p:nvGrpSpPr>
        <p:grpSpPr>
          <a:xfrm>
            <a:off x="789930" y="3640101"/>
            <a:ext cx="1180962" cy="181741"/>
            <a:chOff x="3096631" y="5085827"/>
            <a:chExt cx="2503539" cy="385275"/>
          </a:xfrm>
        </p:grpSpPr>
        <p:sp>
          <p:nvSpPr>
            <p:cNvPr id="87" name="Rectangle 86">
              <a:extLst>
                <a:ext uri="{FF2B5EF4-FFF2-40B4-BE49-F238E27FC236}">
                  <a16:creationId xmlns:a16="http://schemas.microsoft.com/office/drawing/2014/main" id="{F986D94D-D2B0-C5E3-F869-DB56D7D91B85}"/>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88" name="Connecteur droit avec flèche 87">
              <a:extLst>
                <a:ext uri="{FF2B5EF4-FFF2-40B4-BE49-F238E27FC236}">
                  <a16:creationId xmlns:a16="http://schemas.microsoft.com/office/drawing/2014/main" id="{857E287E-37D7-8DB7-39E6-D897E9072E00}"/>
                </a:ext>
              </a:extLst>
            </p:cNvPr>
            <p:cNvCxnSpPr>
              <a:cxnSpLocks/>
              <a:stCxn id="87" idx="3"/>
              <a:endCxn id="89"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9" name="Graphique 88" descr="Mille avec un remplissage uni">
              <a:extLst>
                <a:ext uri="{FF2B5EF4-FFF2-40B4-BE49-F238E27FC236}">
                  <a16:creationId xmlns:a16="http://schemas.microsoft.com/office/drawing/2014/main" id="{484571A6-643A-7C38-E82E-BA46178BF84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90" name="Groupe 89">
            <a:extLst>
              <a:ext uri="{FF2B5EF4-FFF2-40B4-BE49-F238E27FC236}">
                <a16:creationId xmlns:a16="http://schemas.microsoft.com/office/drawing/2014/main" id="{E174A3AC-F8B0-880B-255B-C963EDC96271}"/>
              </a:ext>
            </a:extLst>
          </p:cNvPr>
          <p:cNvGrpSpPr/>
          <p:nvPr/>
        </p:nvGrpSpPr>
        <p:grpSpPr>
          <a:xfrm>
            <a:off x="789930" y="3432549"/>
            <a:ext cx="3007308" cy="181741"/>
            <a:chOff x="3096631" y="4622114"/>
            <a:chExt cx="6375239" cy="385275"/>
          </a:xfrm>
        </p:grpSpPr>
        <p:sp>
          <p:nvSpPr>
            <p:cNvPr id="91" name="Rectangle 90">
              <a:extLst>
                <a:ext uri="{FF2B5EF4-FFF2-40B4-BE49-F238E27FC236}">
                  <a16:creationId xmlns:a16="http://schemas.microsoft.com/office/drawing/2014/main" id="{7A5863ED-F0E0-6988-C589-752EA21C140D}"/>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92" name="Connecteur droit avec flèche 91">
              <a:extLst>
                <a:ext uri="{FF2B5EF4-FFF2-40B4-BE49-F238E27FC236}">
                  <a16:creationId xmlns:a16="http://schemas.microsoft.com/office/drawing/2014/main" id="{AF15BBBC-D87D-BA2F-3E9A-4480AC99682A}"/>
                </a:ext>
              </a:extLst>
            </p:cNvPr>
            <p:cNvCxnSpPr>
              <a:cxnSpLocks/>
              <a:stCxn id="91" idx="3"/>
              <a:endCxn id="93"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3" name="Graphique 92" descr="Mille avec un remplissage uni">
              <a:extLst>
                <a:ext uri="{FF2B5EF4-FFF2-40B4-BE49-F238E27FC236}">
                  <a16:creationId xmlns:a16="http://schemas.microsoft.com/office/drawing/2014/main" id="{1366FEC6-6EF5-CA32-6A9C-AA5D94BFDCF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grpSp>
      <p:grpSp>
        <p:nvGrpSpPr>
          <p:cNvPr id="94" name="Groupe 93">
            <a:extLst>
              <a:ext uri="{FF2B5EF4-FFF2-40B4-BE49-F238E27FC236}">
                <a16:creationId xmlns:a16="http://schemas.microsoft.com/office/drawing/2014/main" id="{209136DB-53EA-8D34-52CC-1C0A11DFAE87}"/>
              </a:ext>
            </a:extLst>
          </p:cNvPr>
          <p:cNvGrpSpPr/>
          <p:nvPr/>
        </p:nvGrpSpPr>
        <p:grpSpPr>
          <a:xfrm>
            <a:off x="789930" y="3221332"/>
            <a:ext cx="4041245" cy="181741"/>
            <a:chOff x="3096632" y="4195205"/>
            <a:chExt cx="8567098" cy="385275"/>
          </a:xfrm>
        </p:grpSpPr>
        <p:sp>
          <p:nvSpPr>
            <p:cNvPr id="95" name="Rectangle 94">
              <a:extLst>
                <a:ext uri="{FF2B5EF4-FFF2-40B4-BE49-F238E27FC236}">
                  <a16:creationId xmlns:a16="http://schemas.microsoft.com/office/drawing/2014/main" id="{F0B1EF31-9446-D073-524C-FAFDE01D2F11}"/>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96" name="Connecteur droit avec flèche 95">
              <a:extLst>
                <a:ext uri="{FF2B5EF4-FFF2-40B4-BE49-F238E27FC236}">
                  <a16:creationId xmlns:a16="http://schemas.microsoft.com/office/drawing/2014/main" id="{87092C27-A776-A442-CD5D-178124AF4DE7}"/>
                </a:ext>
              </a:extLst>
            </p:cNvPr>
            <p:cNvCxnSpPr>
              <a:cxnSpLocks/>
              <a:stCxn id="95" idx="3"/>
              <a:endCxn id="97"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7" name="Graphique 96" descr="Mille avec un remplissage uni">
              <a:extLst>
                <a:ext uri="{FF2B5EF4-FFF2-40B4-BE49-F238E27FC236}">
                  <a16:creationId xmlns:a16="http://schemas.microsoft.com/office/drawing/2014/main" id="{4EF7B1D2-61DA-28D9-29C9-A73573D3B64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grpSp>
      <p:grpSp>
        <p:nvGrpSpPr>
          <p:cNvPr id="98" name="Groupe 97">
            <a:extLst>
              <a:ext uri="{FF2B5EF4-FFF2-40B4-BE49-F238E27FC236}">
                <a16:creationId xmlns:a16="http://schemas.microsoft.com/office/drawing/2014/main" id="{7E5870A1-ACD1-F88E-894D-5FFB2E13A7D5}"/>
              </a:ext>
            </a:extLst>
          </p:cNvPr>
          <p:cNvGrpSpPr/>
          <p:nvPr/>
        </p:nvGrpSpPr>
        <p:grpSpPr>
          <a:xfrm>
            <a:off x="791077" y="2593179"/>
            <a:ext cx="3006161" cy="181741"/>
            <a:chOff x="3099063" y="2916714"/>
            <a:chExt cx="6372808" cy="385275"/>
          </a:xfrm>
        </p:grpSpPr>
        <p:pic>
          <p:nvPicPr>
            <p:cNvPr id="99" name="Graphique 98" descr="Mille avec un remplissage uni">
              <a:extLst>
                <a:ext uri="{FF2B5EF4-FFF2-40B4-BE49-F238E27FC236}">
                  <a16:creationId xmlns:a16="http://schemas.microsoft.com/office/drawing/2014/main" id="{7B3A0D81-316D-9575-0A0C-5F67D760179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100" name="Rectangle 99">
              <a:extLst>
                <a:ext uri="{FF2B5EF4-FFF2-40B4-BE49-F238E27FC236}">
                  <a16:creationId xmlns:a16="http://schemas.microsoft.com/office/drawing/2014/main" id="{85F75809-C4ED-6CA4-F6A5-8F0C8EB3649A}"/>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101" name="Connecteur droit avec flèche 100">
              <a:extLst>
                <a:ext uri="{FF2B5EF4-FFF2-40B4-BE49-F238E27FC236}">
                  <a16:creationId xmlns:a16="http://schemas.microsoft.com/office/drawing/2014/main" id="{D5B0EAA4-687A-00FB-81F1-F265FFEF309F}"/>
                </a:ext>
              </a:extLst>
            </p:cNvPr>
            <p:cNvCxnSpPr>
              <a:cxnSpLocks/>
              <a:stCxn id="100" idx="3"/>
              <a:endCxn id="99"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02" name="Groupe 101">
            <a:extLst>
              <a:ext uri="{FF2B5EF4-FFF2-40B4-BE49-F238E27FC236}">
                <a16:creationId xmlns:a16="http://schemas.microsoft.com/office/drawing/2014/main" id="{C7188676-B177-9085-EC55-54C93C421D24}"/>
              </a:ext>
            </a:extLst>
          </p:cNvPr>
          <p:cNvGrpSpPr/>
          <p:nvPr/>
        </p:nvGrpSpPr>
        <p:grpSpPr>
          <a:xfrm>
            <a:off x="789930" y="4078287"/>
            <a:ext cx="3859964" cy="146572"/>
            <a:chOff x="3096635" y="5617252"/>
            <a:chExt cx="8182799" cy="310720"/>
          </a:xfrm>
        </p:grpSpPr>
        <p:sp>
          <p:nvSpPr>
            <p:cNvPr id="103" name="Rectangle 102">
              <a:extLst>
                <a:ext uri="{FF2B5EF4-FFF2-40B4-BE49-F238E27FC236}">
                  <a16:creationId xmlns:a16="http://schemas.microsoft.com/office/drawing/2014/main" id="{CB18C6AF-9060-67A2-FFAD-E1B3A1DB3E11}"/>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104" name="Connecteur droit avec flèche 103">
              <a:extLst>
                <a:ext uri="{FF2B5EF4-FFF2-40B4-BE49-F238E27FC236}">
                  <a16:creationId xmlns:a16="http://schemas.microsoft.com/office/drawing/2014/main" id="{3C603BE2-421B-4A00-9B62-DF4DF0C25255}"/>
                </a:ext>
              </a:extLst>
            </p:cNvPr>
            <p:cNvCxnSpPr>
              <a:cxnSpLocks/>
              <a:stCxn id="103" idx="3"/>
              <a:endCxn id="105"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grpSp>
      <p:pic>
        <p:nvPicPr>
          <p:cNvPr id="105" name="Graphique 104" descr="Point d’interrogation avec un remplissage uni">
            <a:extLst>
              <a:ext uri="{FF2B5EF4-FFF2-40B4-BE49-F238E27FC236}">
                <a16:creationId xmlns:a16="http://schemas.microsoft.com/office/drawing/2014/main" id="{815DEC28-D74F-CB6A-B351-8E92F7FEFECB}"/>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106" name="Graphique 105" descr="Point d’interrogation avec un remplissage uni">
            <a:extLst>
              <a:ext uri="{FF2B5EF4-FFF2-40B4-BE49-F238E27FC236}">
                <a16:creationId xmlns:a16="http://schemas.microsoft.com/office/drawing/2014/main" id="{E68CE059-DADA-0FD3-21FB-BE58F4F3028B}"/>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107" name="Graphique 106" descr="Point d’interrogation avec un remplissage uni">
            <a:extLst>
              <a:ext uri="{FF2B5EF4-FFF2-40B4-BE49-F238E27FC236}">
                <a16:creationId xmlns:a16="http://schemas.microsoft.com/office/drawing/2014/main" id="{5B4C6573-EE4D-7391-98E6-4F6D097A138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108" name="Graphique 107" descr="Point d’interrogation avec un remplissage uni">
            <a:extLst>
              <a:ext uri="{FF2B5EF4-FFF2-40B4-BE49-F238E27FC236}">
                <a16:creationId xmlns:a16="http://schemas.microsoft.com/office/drawing/2014/main" id="{E340E0B3-2B79-1B95-BEA3-93800F6CDCD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sp>
        <p:nvSpPr>
          <p:cNvPr id="109" name="ZoneTexte 108">
            <a:extLst>
              <a:ext uri="{FF2B5EF4-FFF2-40B4-BE49-F238E27FC236}">
                <a16:creationId xmlns:a16="http://schemas.microsoft.com/office/drawing/2014/main" id="{89A01E5F-895B-CE58-0CC8-72DBE97404A6}"/>
              </a:ext>
            </a:extLst>
          </p:cNvPr>
          <p:cNvSpPr txBox="1"/>
          <p:nvPr/>
        </p:nvSpPr>
        <p:spPr>
          <a:xfrm>
            <a:off x="659807" y="6251983"/>
            <a:ext cx="4052182" cy="461665"/>
          </a:xfrm>
          <a:prstGeom prst="rect">
            <a:avLst/>
          </a:prstGeom>
          <a:noFill/>
        </p:spPr>
        <p:txBody>
          <a:bodyPr wrap="square">
            <a:spAutoFit/>
          </a:bodyPr>
          <a:lstStyle/>
          <a:p>
            <a:pPr marL="0" indent="0">
              <a:buNone/>
            </a:pPr>
            <a:r>
              <a:rPr lang="fr-FR" sz="1200" dirty="0"/>
              <a:t>Somme des niveaux des objectifs (atteints ou non atteints) divisés par le nombre d’objectifs</a:t>
            </a:r>
          </a:p>
        </p:txBody>
      </p:sp>
      <p:cxnSp>
        <p:nvCxnSpPr>
          <p:cNvPr id="110" name="Connecteur droit 109">
            <a:extLst>
              <a:ext uri="{FF2B5EF4-FFF2-40B4-BE49-F238E27FC236}">
                <a16:creationId xmlns:a16="http://schemas.microsoft.com/office/drawing/2014/main" id="{B485479A-C5FE-E78F-7D70-41EAE451FF6C}"/>
              </a:ext>
            </a:extLst>
          </p:cNvPr>
          <p:cNvCxnSpPr>
            <a:cxnSpLocks/>
          </p:cNvCxnSpPr>
          <p:nvPr/>
        </p:nvCxnSpPr>
        <p:spPr>
          <a:xfrm flipH="1">
            <a:off x="2338088" y="5438509"/>
            <a:ext cx="156320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1" name="ZoneTexte 110">
            <a:extLst>
              <a:ext uri="{FF2B5EF4-FFF2-40B4-BE49-F238E27FC236}">
                <a16:creationId xmlns:a16="http://schemas.microsoft.com/office/drawing/2014/main" id="{CC92D7B8-BAB9-FD0F-72CE-4CBFEE60AD69}"/>
              </a:ext>
            </a:extLst>
          </p:cNvPr>
          <p:cNvSpPr txBox="1"/>
          <p:nvPr/>
        </p:nvSpPr>
        <p:spPr>
          <a:xfrm>
            <a:off x="2546139" y="4630527"/>
            <a:ext cx="464463" cy="707886"/>
          </a:xfrm>
          <a:prstGeom prst="rect">
            <a:avLst/>
          </a:prstGeom>
          <a:noFill/>
        </p:spPr>
        <p:txBody>
          <a:bodyPr wrap="square">
            <a:spAutoFit/>
          </a:bodyPr>
          <a:lstStyle/>
          <a:p>
            <a:r>
              <a:rPr lang="el-GR" sz="4000" dirty="0"/>
              <a:t>Σ</a:t>
            </a:r>
            <a:endParaRPr lang="fr-FR" sz="4000" dirty="0"/>
          </a:p>
        </p:txBody>
      </p:sp>
      <p:sp>
        <p:nvSpPr>
          <p:cNvPr id="112" name="ZoneTexte 111">
            <a:extLst>
              <a:ext uri="{FF2B5EF4-FFF2-40B4-BE49-F238E27FC236}">
                <a16:creationId xmlns:a16="http://schemas.microsoft.com/office/drawing/2014/main" id="{B47B471C-C40D-9625-BC9F-EA90805114E7}"/>
              </a:ext>
            </a:extLst>
          </p:cNvPr>
          <p:cNvSpPr txBox="1"/>
          <p:nvPr/>
        </p:nvSpPr>
        <p:spPr>
          <a:xfrm>
            <a:off x="2304661" y="5366550"/>
            <a:ext cx="1992793" cy="1323439"/>
          </a:xfrm>
          <a:prstGeom prst="rect">
            <a:avLst/>
          </a:prstGeom>
          <a:noFill/>
        </p:spPr>
        <p:txBody>
          <a:bodyPr wrap="square">
            <a:spAutoFit/>
          </a:bodyPr>
          <a:lstStyle/>
          <a:p>
            <a:r>
              <a:rPr lang="el-GR" sz="4000" dirty="0"/>
              <a:t>Σ</a:t>
            </a:r>
            <a:r>
              <a:rPr lang="fr-FR" sz="4000" dirty="0"/>
              <a:t>   + </a:t>
            </a:r>
            <a:r>
              <a:rPr lang="el-GR" sz="4000" dirty="0"/>
              <a:t>Σ</a:t>
            </a:r>
            <a:endParaRPr lang="fr-FR" sz="4000" dirty="0"/>
          </a:p>
          <a:p>
            <a:endParaRPr lang="fr-FR" sz="4000" dirty="0"/>
          </a:p>
        </p:txBody>
      </p:sp>
      <p:sp>
        <p:nvSpPr>
          <p:cNvPr id="113" name="ZoneTexte 112">
            <a:extLst>
              <a:ext uri="{FF2B5EF4-FFF2-40B4-BE49-F238E27FC236}">
                <a16:creationId xmlns:a16="http://schemas.microsoft.com/office/drawing/2014/main" id="{BD44C849-C4E2-29F9-7216-36840C5D1706}"/>
              </a:ext>
            </a:extLst>
          </p:cNvPr>
          <p:cNvSpPr txBox="1"/>
          <p:nvPr/>
        </p:nvSpPr>
        <p:spPr>
          <a:xfrm>
            <a:off x="2801631" y="4730623"/>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114" name="ZoneTexte 113">
            <a:extLst>
              <a:ext uri="{FF2B5EF4-FFF2-40B4-BE49-F238E27FC236}">
                <a16:creationId xmlns:a16="http://schemas.microsoft.com/office/drawing/2014/main" id="{660DC314-4244-42BE-CBE3-CC2CEFDF7950}"/>
              </a:ext>
            </a:extLst>
          </p:cNvPr>
          <p:cNvSpPr txBox="1"/>
          <p:nvPr/>
        </p:nvSpPr>
        <p:spPr>
          <a:xfrm>
            <a:off x="2527091" y="5153827"/>
            <a:ext cx="450618" cy="169277"/>
          </a:xfrm>
          <a:prstGeom prst="rect">
            <a:avLst/>
          </a:prstGeom>
          <a:noFill/>
        </p:spPr>
        <p:txBody>
          <a:bodyPr wrap="square">
            <a:spAutoFit/>
          </a:bodyPr>
          <a:lstStyle/>
          <a:p>
            <a:r>
              <a:rPr lang="fr-FR" sz="500" dirty="0"/>
              <a:t>i =           ,</a:t>
            </a:r>
          </a:p>
        </p:txBody>
      </p:sp>
      <p:pic>
        <p:nvPicPr>
          <p:cNvPr id="115" name="Graphique 114" descr="Mille avec un remplissage uni">
            <a:extLst>
              <a:ext uri="{FF2B5EF4-FFF2-40B4-BE49-F238E27FC236}">
                <a16:creationId xmlns:a16="http://schemas.microsoft.com/office/drawing/2014/main" id="{CD504D4D-5C62-A080-72DE-23A4E11CFBB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711093" y="5181964"/>
            <a:ext cx="123784" cy="123784"/>
          </a:xfrm>
          <a:prstGeom prst="rect">
            <a:avLst/>
          </a:prstGeom>
        </p:spPr>
      </p:pic>
      <p:pic>
        <p:nvPicPr>
          <p:cNvPr id="116" name="Graphique 115" descr="Mille avec un remplissage uni">
            <a:extLst>
              <a:ext uri="{FF2B5EF4-FFF2-40B4-BE49-F238E27FC236}">
                <a16:creationId xmlns:a16="http://schemas.microsoft.com/office/drawing/2014/main" id="{D22EDD1F-A2EC-9F4C-D7E5-FCE9F39720D7}"/>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687758" y="5560948"/>
            <a:ext cx="294237" cy="294237"/>
          </a:xfrm>
          <a:prstGeom prst="rect">
            <a:avLst/>
          </a:prstGeom>
        </p:spPr>
      </p:pic>
      <p:pic>
        <p:nvPicPr>
          <p:cNvPr id="117" name="Graphique 116" descr="Mille avec un remplissage uni">
            <a:extLst>
              <a:ext uri="{FF2B5EF4-FFF2-40B4-BE49-F238E27FC236}">
                <a16:creationId xmlns:a16="http://schemas.microsoft.com/office/drawing/2014/main" id="{43E197FD-96EA-9F50-CF01-12EA3EA4D66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853925" y="5181964"/>
            <a:ext cx="123784" cy="123784"/>
          </a:xfrm>
          <a:prstGeom prst="rect">
            <a:avLst/>
          </a:prstGeom>
        </p:spPr>
      </p:pic>
      <p:pic>
        <p:nvPicPr>
          <p:cNvPr id="118" name="Graphique 117" descr="Mille avec un remplissage uni">
            <a:extLst>
              <a:ext uri="{FF2B5EF4-FFF2-40B4-BE49-F238E27FC236}">
                <a16:creationId xmlns:a16="http://schemas.microsoft.com/office/drawing/2014/main" id="{13A19999-BEEC-1D26-5E3A-B44FD36C56F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596918" y="5570823"/>
            <a:ext cx="294237" cy="294237"/>
          </a:xfrm>
          <a:prstGeom prst="rect">
            <a:avLst/>
          </a:prstGeom>
        </p:spPr>
      </p:pic>
    </p:spTree>
    <p:extLst>
      <p:ext uri="{BB962C8B-B14F-4D97-AF65-F5344CB8AC3E}">
        <p14:creationId xmlns:p14="http://schemas.microsoft.com/office/powerpoint/2010/main" val="162868180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6074806" cy="1325563"/>
          </a:xfrm>
        </p:spPr>
        <p:txBody>
          <a:bodyPr>
            <a:noAutofit/>
          </a:bodyPr>
          <a:lstStyle/>
          <a:p>
            <a:r>
              <a:rPr lang="fr-FR" sz="2800" b="1" dirty="0"/>
              <a:t>Indicateur : </a:t>
            </a:r>
            <a:br>
              <a:rPr lang="fr-FR" sz="2800" b="1" dirty="0"/>
            </a:br>
            <a:r>
              <a:rPr lang="fr-FR" sz="2800" dirty="0"/>
              <a:t>Proportion de sujets pour lesquels la communauté a fixé un but</a:t>
            </a:r>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endParaRPr lang="fr-FR" sz="1400" b="1" dirty="0"/>
          </a:p>
          <a:p>
            <a:pPr marL="0" indent="0">
              <a:buNone/>
            </a:pPr>
            <a:r>
              <a:rPr lang="fr-FR" sz="1400" dirty="0"/>
              <a:t>Avoir identifié les sujets de la communauté </a:t>
            </a:r>
          </a:p>
          <a:p>
            <a:pPr marL="0" indent="0">
              <a:buNone/>
            </a:pPr>
            <a:endParaRPr lang="fr-FR" sz="1400" dirty="0"/>
          </a:p>
          <a:p>
            <a:pPr marL="0" indent="0">
              <a:buNone/>
            </a:pPr>
            <a:r>
              <a:rPr lang="fr-FR" sz="1400" dirty="0"/>
              <a:t>Avoir identifié les objectifs de phase des différents sujets avec CCC-Goals </a:t>
            </a:r>
          </a:p>
          <a:p>
            <a:pPr marL="0" indent="0">
              <a:buNone/>
            </a:pPr>
            <a:endParaRPr lang="fr-FR" sz="1400" dirty="0"/>
          </a:p>
          <a:p>
            <a:pPr marL="0" indent="0">
              <a:buNone/>
            </a:pPr>
            <a:r>
              <a:rPr lang="fr-FR" sz="1400" dirty="0"/>
              <a:t>Avoir identifié les statuts des tickets avec CCC-Flow</a:t>
            </a:r>
          </a:p>
          <a:p>
            <a:pPr marL="0" indent="0">
              <a:buNone/>
            </a:pPr>
            <a:endParaRPr lang="fr-FR" sz="1400" dirty="0"/>
          </a:p>
          <a:p>
            <a:pPr marL="0" indent="0">
              <a:buNone/>
            </a:pPr>
            <a:endParaRPr lang="fr-FR" sz="1400" dirty="0"/>
          </a:p>
          <a:p>
            <a:pPr marL="0" indent="0">
              <a:buNone/>
            </a:pPr>
            <a:endParaRPr lang="fr-FR" sz="1800" b="1" dirty="0"/>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Le but de cet indicateur est de savoir globalement « » en termes de phases de CCC.</a:t>
            </a:r>
          </a:p>
          <a:p>
            <a:pPr marL="0" indent="0">
              <a:buNone/>
            </a:pPr>
            <a:r>
              <a:rPr lang="fr-FR" sz="1400" dirty="0"/>
              <a:t>On mesure cet indicateur en comptant divisant le nombre de sujets qui sont terminés (au sens CCC-Goals) avec le nombre total de sujets qui ont été abordés par la communauté.</a:t>
            </a:r>
          </a:p>
          <a:p>
            <a:pPr marL="0" indent="0">
              <a:buNone/>
            </a:pPr>
            <a:r>
              <a:rPr lang="fr-FR" sz="1400" dirty="0"/>
              <a:t>Les sujets « on avance autant que possible » (c’est à dire sans phase cible </a:t>
            </a:r>
            <a:r>
              <a:rPr lang="fr-FR" sz="1400" dirty="0" err="1"/>
              <a:t>pré-établie</a:t>
            </a:r>
            <a:r>
              <a:rPr lang="fr-FR" sz="1400" dirty="0"/>
              <a:t>) ne sont pas comptabilisés.</a:t>
            </a:r>
          </a:p>
          <a:p>
            <a:pPr marL="0" indent="0">
              <a:buNone/>
            </a:pPr>
            <a:r>
              <a:rPr lang="fr-FR" sz="1400" dirty="0"/>
              <a:t>Indirectement, on mesure aussi l’en-cours (nombre de sujets engagés non terminés).</a:t>
            </a:r>
          </a:p>
          <a:p>
            <a:pPr marL="0" indent="0">
              <a:buNone/>
            </a:pPr>
            <a:r>
              <a:rPr lang="fr-FR" sz="1400" dirty="0"/>
              <a:t>Cet indicateur perd de sa signification quand un grand nombre de tickets a été terminé par le passé. On peut choisir d’appliquer la mesure uniquement à des tickets dans une période de temps (par exemple, dans l’année)</a:t>
            </a:r>
          </a:p>
          <a:p>
            <a:pPr marL="0" indent="0">
              <a:buNone/>
            </a:pPr>
            <a:endParaRPr lang="fr-FR" sz="1400" dirty="0"/>
          </a:p>
          <a:p>
            <a:pPr marL="0" indent="0">
              <a:buNone/>
            </a:pPr>
            <a:endParaRPr lang="fr-FR" sz="1400" dirty="0"/>
          </a:p>
        </p:txBody>
      </p:sp>
      <p:grpSp>
        <p:nvGrpSpPr>
          <p:cNvPr id="10" name="Groupe 9">
            <a:extLst>
              <a:ext uri="{FF2B5EF4-FFF2-40B4-BE49-F238E27FC236}">
                <a16:creationId xmlns:a16="http://schemas.microsoft.com/office/drawing/2014/main" id="{FFC73505-72F0-7D55-68EB-47A10E7C8791}"/>
              </a:ext>
            </a:extLst>
          </p:cNvPr>
          <p:cNvGrpSpPr/>
          <p:nvPr/>
        </p:nvGrpSpPr>
        <p:grpSpPr>
          <a:xfrm>
            <a:off x="789930" y="2075168"/>
            <a:ext cx="4228114" cy="2176665"/>
            <a:chOff x="789930" y="2075168"/>
            <a:chExt cx="4228114" cy="2176665"/>
          </a:xfrm>
        </p:grpSpPr>
        <p:grpSp>
          <p:nvGrpSpPr>
            <p:cNvPr id="6" name="Groupe 5">
              <a:extLst>
                <a:ext uri="{FF2B5EF4-FFF2-40B4-BE49-F238E27FC236}">
                  <a16:creationId xmlns:a16="http://schemas.microsoft.com/office/drawing/2014/main" id="{1BF44FE3-5DEA-E7C2-574B-DA5153AAD1C4}"/>
                </a:ext>
              </a:extLst>
            </p:cNvPr>
            <p:cNvGrpSpPr/>
            <p:nvPr/>
          </p:nvGrpSpPr>
          <p:grpSpPr>
            <a:xfrm>
              <a:off x="1004899" y="2075168"/>
              <a:ext cx="4013145" cy="458111"/>
              <a:chOff x="11600" y="1496380"/>
              <a:chExt cx="12038120" cy="1498765"/>
            </a:xfrm>
          </p:grpSpPr>
          <p:grpSp>
            <p:nvGrpSpPr>
              <p:cNvPr id="60" name="Groupe 59">
                <a:extLst>
                  <a:ext uri="{FF2B5EF4-FFF2-40B4-BE49-F238E27FC236}">
                    <a16:creationId xmlns:a16="http://schemas.microsoft.com/office/drawing/2014/main" id="{E68483BE-3531-9CA2-4F6D-D1D766FAE4DF}"/>
                  </a:ext>
                </a:extLst>
              </p:cNvPr>
              <p:cNvGrpSpPr/>
              <p:nvPr/>
            </p:nvGrpSpPr>
            <p:grpSpPr>
              <a:xfrm>
                <a:off x="11600" y="2499558"/>
                <a:ext cx="12038120" cy="495587"/>
                <a:chOff x="0" y="2140394"/>
                <a:chExt cx="12854128" cy="4544491"/>
              </a:xfrm>
            </p:grpSpPr>
            <p:sp>
              <p:nvSpPr>
                <p:cNvPr id="68" name="Espace réservé du texte 15">
                  <a:extLst>
                    <a:ext uri="{FF2B5EF4-FFF2-40B4-BE49-F238E27FC236}">
                      <a16:creationId xmlns:a16="http://schemas.microsoft.com/office/drawing/2014/main" id="{7F46281B-BB0B-E053-60C6-0E9F37DD9A9F}"/>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69" name="Espace réservé du texte 15">
                  <a:extLst>
                    <a:ext uri="{FF2B5EF4-FFF2-40B4-BE49-F238E27FC236}">
                      <a16:creationId xmlns:a16="http://schemas.microsoft.com/office/drawing/2014/main" id="{6EDC949A-1451-7197-425B-72653F5F021D}"/>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70" name="Espace réservé du texte 15">
                  <a:extLst>
                    <a:ext uri="{FF2B5EF4-FFF2-40B4-BE49-F238E27FC236}">
                      <a16:creationId xmlns:a16="http://schemas.microsoft.com/office/drawing/2014/main" id="{5962DA8B-40E7-8097-9E3A-230528001657}"/>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71" name="Espace réservé du texte 15">
                  <a:extLst>
                    <a:ext uri="{FF2B5EF4-FFF2-40B4-BE49-F238E27FC236}">
                      <a16:creationId xmlns:a16="http://schemas.microsoft.com/office/drawing/2014/main" id="{74E60E0D-1F11-9B0F-B5FE-B605FA3AD2E6}"/>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72" name="Espace réservé du texte 15">
                  <a:extLst>
                    <a:ext uri="{FF2B5EF4-FFF2-40B4-BE49-F238E27FC236}">
                      <a16:creationId xmlns:a16="http://schemas.microsoft.com/office/drawing/2014/main" id="{42BA4AF9-9A34-BF6C-7CC0-646FE7FB5959}"/>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73" name="Espace réservé du texte 15">
                  <a:extLst>
                    <a:ext uri="{FF2B5EF4-FFF2-40B4-BE49-F238E27FC236}">
                      <a16:creationId xmlns:a16="http://schemas.microsoft.com/office/drawing/2014/main" id="{FDD8E2C1-09F6-B7D2-CC12-5304BA8A9922}"/>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74" name="Espace réservé du texte 15">
                  <a:extLst>
                    <a:ext uri="{FF2B5EF4-FFF2-40B4-BE49-F238E27FC236}">
                      <a16:creationId xmlns:a16="http://schemas.microsoft.com/office/drawing/2014/main" id="{DD6F484E-BB35-7CE8-F809-B7D5F0A13E5C}"/>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61" name="Graphique 60" descr="Ampoule avec un remplissage uni">
                <a:extLst>
                  <a:ext uri="{FF2B5EF4-FFF2-40B4-BE49-F238E27FC236}">
                    <a16:creationId xmlns:a16="http://schemas.microsoft.com/office/drawing/2014/main" id="{B3D7DDB2-9375-2AC1-FA2F-09E62DEABF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62" name="Graphique 61" descr="Seau et pelle avec un remplissage uni">
                <a:extLst>
                  <a:ext uri="{FF2B5EF4-FFF2-40B4-BE49-F238E27FC236}">
                    <a16:creationId xmlns:a16="http://schemas.microsoft.com/office/drawing/2014/main" id="{C835C171-A400-71B8-EFA3-96E8909A2A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63" name="Graphique 62" descr="Tubes à essai avec un remplissage uni">
                <a:extLst>
                  <a:ext uri="{FF2B5EF4-FFF2-40B4-BE49-F238E27FC236}">
                    <a16:creationId xmlns:a16="http://schemas.microsoft.com/office/drawing/2014/main" id="{494D14A7-05C6-D082-5286-EE83CC07F0A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64" name="Graphique 63" descr="Explosion avec un remplissage uni">
                <a:extLst>
                  <a:ext uri="{FF2B5EF4-FFF2-40B4-BE49-F238E27FC236}">
                    <a16:creationId xmlns:a16="http://schemas.microsoft.com/office/drawing/2014/main" id="{6C642C0E-A5F3-1058-AD1F-0E8F635C774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65" name="Graphique 64" descr="Trophée avec un remplissage uni">
                <a:extLst>
                  <a:ext uri="{FF2B5EF4-FFF2-40B4-BE49-F238E27FC236}">
                    <a16:creationId xmlns:a16="http://schemas.microsoft.com/office/drawing/2014/main" id="{63FA18B8-CC88-F495-EED5-0094A0D6128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66" name="Graphique 65" descr="Assiette couverte avec un remplissage uni">
                <a:extLst>
                  <a:ext uri="{FF2B5EF4-FFF2-40B4-BE49-F238E27FC236}">
                    <a16:creationId xmlns:a16="http://schemas.microsoft.com/office/drawing/2014/main" id="{1F74D368-B443-3DE7-28A9-9353FA974FB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67" name="Graphique 66" descr="Scène de château avec un remplissage uni">
                <a:extLst>
                  <a:ext uri="{FF2B5EF4-FFF2-40B4-BE49-F238E27FC236}">
                    <a16:creationId xmlns:a16="http://schemas.microsoft.com/office/drawing/2014/main" id="{D7E5E064-DAB1-1002-75ED-DA95ABBAF97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8" name="Groupe 7">
              <a:extLst>
                <a:ext uri="{FF2B5EF4-FFF2-40B4-BE49-F238E27FC236}">
                  <a16:creationId xmlns:a16="http://schemas.microsoft.com/office/drawing/2014/main" id="{6168B20A-6F23-3F86-1220-EACCDDD8AE61}"/>
                </a:ext>
              </a:extLst>
            </p:cNvPr>
            <p:cNvGrpSpPr/>
            <p:nvPr/>
          </p:nvGrpSpPr>
          <p:grpSpPr>
            <a:xfrm>
              <a:off x="791077" y="2799355"/>
              <a:ext cx="1894821" cy="181741"/>
              <a:chOff x="3099062" y="3394846"/>
              <a:chExt cx="4016859" cy="385275"/>
            </a:xfrm>
          </p:grpSpPr>
          <p:sp>
            <p:nvSpPr>
              <p:cNvPr id="57" name="Rectangle 56">
                <a:extLst>
                  <a:ext uri="{FF2B5EF4-FFF2-40B4-BE49-F238E27FC236}">
                    <a16:creationId xmlns:a16="http://schemas.microsoft.com/office/drawing/2014/main" id="{7E7DC007-C881-3F94-C5E4-8869A60F8F4E}"/>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8" name="Connecteur droit avec flèche 57">
                <a:extLst>
                  <a:ext uri="{FF2B5EF4-FFF2-40B4-BE49-F238E27FC236}">
                    <a16:creationId xmlns:a16="http://schemas.microsoft.com/office/drawing/2014/main" id="{013DBF12-DEBC-25E5-A2A2-F82D1B8BA9E0}"/>
                  </a:ext>
                </a:extLst>
              </p:cNvPr>
              <p:cNvCxnSpPr>
                <a:cxnSpLocks/>
                <a:stCxn id="57" idx="3"/>
                <a:endCxn id="59"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9" name="Graphique 58" descr="Mille avec un remplissage uni">
                <a:extLst>
                  <a:ext uri="{FF2B5EF4-FFF2-40B4-BE49-F238E27FC236}">
                    <a16:creationId xmlns:a16="http://schemas.microsoft.com/office/drawing/2014/main" id="{6E7A8D1E-371A-388E-BC2E-F21AFA3D65E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sp>
            <p:nvSpPr>
              <p:cNvPr id="80" name="Rectangle 79">
                <a:extLst>
                  <a:ext uri="{FF2B5EF4-FFF2-40B4-BE49-F238E27FC236}">
                    <a16:creationId xmlns:a16="http://schemas.microsoft.com/office/drawing/2014/main" id="{3C745A13-8A7A-C7A1-354F-82000179D8F9}"/>
                  </a:ext>
                </a:extLst>
              </p:cNvPr>
              <p:cNvSpPr/>
              <p:nvPr/>
            </p:nvSpPr>
            <p:spPr>
              <a:xfrm>
                <a:off x="6183629" y="340845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9" name="Groupe 8">
              <a:extLst>
                <a:ext uri="{FF2B5EF4-FFF2-40B4-BE49-F238E27FC236}">
                  <a16:creationId xmlns:a16="http://schemas.microsoft.com/office/drawing/2014/main" id="{4643A4B2-68B0-125F-A652-5D295D61A17E}"/>
                </a:ext>
              </a:extLst>
            </p:cNvPr>
            <p:cNvGrpSpPr/>
            <p:nvPr/>
          </p:nvGrpSpPr>
          <p:grpSpPr>
            <a:xfrm>
              <a:off x="791076" y="3011948"/>
              <a:ext cx="3469706" cy="181741"/>
              <a:chOff x="3099061" y="3796432"/>
              <a:chExt cx="7355485" cy="385275"/>
            </a:xfrm>
          </p:grpSpPr>
          <p:sp>
            <p:nvSpPr>
              <p:cNvPr id="54" name="Rectangle 53">
                <a:extLst>
                  <a:ext uri="{FF2B5EF4-FFF2-40B4-BE49-F238E27FC236}">
                    <a16:creationId xmlns:a16="http://schemas.microsoft.com/office/drawing/2014/main" id="{FB0BB1EC-822F-DD13-BD83-4C83D8B7718B}"/>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5" name="Connecteur droit avec flèche 54">
                <a:extLst>
                  <a:ext uri="{FF2B5EF4-FFF2-40B4-BE49-F238E27FC236}">
                    <a16:creationId xmlns:a16="http://schemas.microsoft.com/office/drawing/2014/main" id="{73B42778-CC87-F513-2EF9-B903E1CC136A}"/>
                  </a:ext>
                </a:extLst>
              </p:cNvPr>
              <p:cNvCxnSpPr>
                <a:cxnSpLocks/>
                <a:stCxn id="54" idx="3"/>
                <a:endCxn id="56"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6" name="Graphique 55" descr="Mille avec un remplissage uni">
                <a:extLst>
                  <a:ext uri="{FF2B5EF4-FFF2-40B4-BE49-F238E27FC236}">
                    <a16:creationId xmlns:a16="http://schemas.microsoft.com/office/drawing/2014/main" id="{0B24E34A-B988-7B55-F9A4-146AA57BBC1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sp>
            <p:nvSpPr>
              <p:cNvPr id="82" name="Rectangle 81">
                <a:extLst>
                  <a:ext uri="{FF2B5EF4-FFF2-40B4-BE49-F238E27FC236}">
                    <a16:creationId xmlns:a16="http://schemas.microsoft.com/office/drawing/2014/main" id="{B30F002F-B2D0-414B-C42E-921A07F34695}"/>
                  </a:ext>
                </a:extLst>
              </p:cNvPr>
              <p:cNvSpPr/>
              <p:nvPr/>
            </p:nvSpPr>
            <p:spPr>
              <a:xfrm>
                <a:off x="6183632" y="3839301"/>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3" name="Groupe 22">
              <a:extLst>
                <a:ext uri="{FF2B5EF4-FFF2-40B4-BE49-F238E27FC236}">
                  <a16:creationId xmlns:a16="http://schemas.microsoft.com/office/drawing/2014/main" id="{5D256D02-99E0-7683-AD3A-F1B88B4164D0}"/>
                </a:ext>
              </a:extLst>
            </p:cNvPr>
            <p:cNvGrpSpPr/>
            <p:nvPr/>
          </p:nvGrpSpPr>
          <p:grpSpPr>
            <a:xfrm>
              <a:off x="789930" y="3640101"/>
              <a:ext cx="1180962" cy="181741"/>
              <a:chOff x="3096631" y="5085827"/>
              <a:chExt cx="2503539" cy="385275"/>
            </a:xfrm>
          </p:grpSpPr>
          <p:sp>
            <p:nvSpPr>
              <p:cNvPr id="51" name="Rectangle 50">
                <a:extLst>
                  <a:ext uri="{FF2B5EF4-FFF2-40B4-BE49-F238E27FC236}">
                    <a16:creationId xmlns:a16="http://schemas.microsoft.com/office/drawing/2014/main" id="{6CFF01C0-5003-B95A-406D-CD3C8949EE5A}"/>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2" name="Connecteur droit avec flèche 51">
                <a:extLst>
                  <a:ext uri="{FF2B5EF4-FFF2-40B4-BE49-F238E27FC236}">
                    <a16:creationId xmlns:a16="http://schemas.microsoft.com/office/drawing/2014/main" id="{4E962313-09C0-5099-82E8-043347838325}"/>
                  </a:ext>
                </a:extLst>
              </p:cNvPr>
              <p:cNvCxnSpPr>
                <a:cxnSpLocks/>
                <a:stCxn id="51" idx="3"/>
                <a:endCxn id="53"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3" name="Graphique 52" descr="Mille avec un remplissage uni">
                <a:extLst>
                  <a:ext uri="{FF2B5EF4-FFF2-40B4-BE49-F238E27FC236}">
                    <a16:creationId xmlns:a16="http://schemas.microsoft.com/office/drawing/2014/main" id="{A2ACBE47-4A0D-98C9-E88A-176D9AFB7EC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24" name="Groupe 23">
              <a:extLst>
                <a:ext uri="{FF2B5EF4-FFF2-40B4-BE49-F238E27FC236}">
                  <a16:creationId xmlns:a16="http://schemas.microsoft.com/office/drawing/2014/main" id="{94A8C841-C5DE-2082-2C4E-28F3DF4C3B37}"/>
                </a:ext>
              </a:extLst>
            </p:cNvPr>
            <p:cNvGrpSpPr/>
            <p:nvPr/>
          </p:nvGrpSpPr>
          <p:grpSpPr>
            <a:xfrm>
              <a:off x="789930" y="3432549"/>
              <a:ext cx="3007308" cy="181741"/>
              <a:chOff x="3096631" y="4622114"/>
              <a:chExt cx="6375239" cy="385275"/>
            </a:xfrm>
          </p:grpSpPr>
          <p:sp>
            <p:nvSpPr>
              <p:cNvPr id="48" name="Rectangle 47">
                <a:extLst>
                  <a:ext uri="{FF2B5EF4-FFF2-40B4-BE49-F238E27FC236}">
                    <a16:creationId xmlns:a16="http://schemas.microsoft.com/office/drawing/2014/main" id="{B3775085-5300-8A49-40E5-0244FA19E98B}"/>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9" name="Connecteur droit avec flèche 48">
                <a:extLst>
                  <a:ext uri="{FF2B5EF4-FFF2-40B4-BE49-F238E27FC236}">
                    <a16:creationId xmlns:a16="http://schemas.microsoft.com/office/drawing/2014/main" id="{95EA854C-A3B7-48FD-EC18-D31EE497796B}"/>
                  </a:ext>
                </a:extLst>
              </p:cNvPr>
              <p:cNvCxnSpPr>
                <a:cxnSpLocks/>
                <a:stCxn id="48" idx="3"/>
                <a:endCxn id="50"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0" name="Graphique 49" descr="Mille avec un remplissage uni">
                <a:extLst>
                  <a:ext uri="{FF2B5EF4-FFF2-40B4-BE49-F238E27FC236}">
                    <a16:creationId xmlns:a16="http://schemas.microsoft.com/office/drawing/2014/main" id="{F2F800B2-95D5-6EA0-E74C-A3D4B726DAE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sp>
            <p:nvSpPr>
              <p:cNvPr id="86" name="Rectangle 85">
                <a:extLst>
                  <a:ext uri="{FF2B5EF4-FFF2-40B4-BE49-F238E27FC236}">
                    <a16:creationId xmlns:a16="http://schemas.microsoft.com/office/drawing/2014/main" id="{B4CCFC07-AC34-730F-B3C9-B84ACEA736B2}"/>
                  </a:ext>
                </a:extLst>
              </p:cNvPr>
              <p:cNvSpPr/>
              <p:nvPr/>
            </p:nvSpPr>
            <p:spPr>
              <a:xfrm>
                <a:off x="8579850" y="465970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5" name="Groupe 24">
              <a:extLst>
                <a:ext uri="{FF2B5EF4-FFF2-40B4-BE49-F238E27FC236}">
                  <a16:creationId xmlns:a16="http://schemas.microsoft.com/office/drawing/2014/main" id="{66FB3E15-3051-C1BA-BB07-E14C7CBA712C}"/>
                </a:ext>
              </a:extLst>
            </p:cNvPr>
            <p:cNvGrpSpPr/>
            <p:nvPr/>
          </p:nvGrpSpPr>
          <p:grpSpPr>
            <a:xfrm>
              <a:off x="789930" y="3221332"/>
              <a:ext cx="4041245" cy="181741"/>
              <a:chOff x="3096632" y="4195205"/>
              <a:chExt cx="8567098" cy="385275"/>
            </a:xfrm>
          </p:grpSpPr>
          <p:sp>
            <p:nvSpPr>
              <p:cNvPr id="45" name="Rectangle 44">
                <a:extLst>
                  <a:ext uri="{FF2B5EF4-FFF2-40B4-BE49-F238E27FC236}">
                    <a16:creationId xmlns:a16="http://schemas.microsoft.com/office/drawing/2014/main" id="{83C3E0EC-7341-FF2F-2FB6-09570722437C}"/>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6" name="Connecteur droit avec flèche 45">
                <a:extLst>
                  <a:ext uri="{FF2B5EF4-FFF2-40B4-BE49-F238E27FC236}">
                    <a16:creationId xmlns:a16="http://schemas.microsoft.com/office/drawing/2014/main" id="{7AB9798E-631E-44DC-C710-5ADBDA3BAA11}"/>
                  </a:ext>
                </a:extLst>
              </p:cNvPr>
              <p:cNvCxnSpPr>
                <a:cxnSpLocks/>
                <a:stCxn id="45" idx="3"/>
                <a:endCxn id="47"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7" name="Graphique 46" descr="Mille avec un remplissage uni">
                <a:extLst>
                  <a:ext uri="{FF2B5EF4-FFF2-40B4-BE49-F238E27FC236}">
                    <a16:creationId xmlns:a16="http://schemas.microsoft.com/office/drawing/2014/main" id="{9F36B924-898F-CD16-A14A-B27C8DDADF2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sp>
            <p:nvSpPr>
              <p:cNvPr id="84" name="Rectangle 83">
                <a:extLst>
                  <a:ext uri="{FF2B5EF4-FFF2-40B4-BE49-F238E27FC236}">
                    <a16:creationId xmlns:a16="http://schemas.microsoft.com/office/drawing/2014/main" id="{6C1BEF2F-7E7C-C5FD-98F7-0BD89FED11DA}"/>
                  </a:ext>
                </a:extLst>
              </p:cNvPr>
              <p:cNvSpPr/>
              <p:nvPr/>
            </p:nvSpPr>
            <p:spPr>
              <a:xfrm>
                <a:off x="10100966" y="423248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7" name="Groupe 26">
              <a:extLst>
                <a:ext uri="{FF2B5EF4-FFF2-40B4-BE49-F238E27FC236}">
                  <a16:creationId xmlns:a16="http://schemas.microsoft.com/office/drawing/2014/main" id="{67BD3A5D-3CAD-F3B3-DC9A-958A2DB3241F}"/>
                </a:ext>
              </a:extLst>
            </p:cNvPr>
            <p:cNvGrpSpPr/>
            <p:nvPr/>
          </p:nvGrpSpPr>
          <p:grpSpPr>
            <a:xfrm>
              <a:off x="791077" y="2593179"/>
              <a:ext cx="3006161" cy="181741"/>
              <a:chOff x="3099063" y="2916714"/>
              <a:chExt cx="6372808" cy="385275"/>
            </a:xfrm>
          </p:grpSpPr>
          <p:pic>
            <p:nvPicPr>
              <p:cNvPr id="38" name="Graphique 37" descr="Mille avec un remplissage uni">
                <a:extLst>
                  <a:ext uri="{FF2B5EF4-FFF2-40B4-BE49-F238E27FC236}">
                    <a16:creationId xmlns:a16="http://schemas.microsoft.com/office/drawing/2014/main" id="{19D18482-E9EC-8F7C-928A-B5C1CB5E00A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39" name="Rectangle 38">
                <a:extLst>
                  <a:ext uri="{FF2B5EF4-FFF2-40B4-BE49-F238E27FC236}">
                    <a16:creationId xmlns:a16="http://schemas.microsoft.com/office/drawing/2014/main" id="{3337475B-6B9B-A4E4-7BF7-816889EA3874}"/>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1" name="Connecteur droit avec flèche 40">
                <a:extLst>
                  <a:ext uri="{FF2B5EF4-FFF2-40B4-BE49-F238E27FC236}">
                    <a16:creationId xmlns:a16="http://schemas.microsoft.com/office/drawing/2014/main" id="{A66C3612-0072-665D-5D7B-86880EEE5D4B}"/>
                  </a:ext>
                </a:extLst>
              </p:cNvPr>
              <p:cNvCxnSpPr>
                <a:cxnSpLocks/>
                <a:stCxn id="39" idx="3"/>
                <a:endCxn id="38"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8DBB776D-FECA-D8A7-D222-BEAC40BEFF48}"/>
                  </a:ext>
                </a:extLst>
              </p:cNvPr>
              <p:cNvSpPr/>
              <p:nvPr/>
            </p:nvSpPr>
            <p:spPr>
              <a:xfrm>
                <a:off x="8569448" y="295808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8" name="Groupe 27">
              <a:extLst>
                <a:ext uri="{FF2B5EF4-FFF2-40B4-BE49-F238E27FC236}">
                  <a16:creationId xmlns:a16="http://schemas.microsoft.com/office/drawing/2014/main" id="{ED7E2CF3-4B22-85EE-F0D1-0FADFA031917}"/>
                </a:ext>
              </a:extLst>
            </p:cNvPr>
            <p:cNvGrpSpPr/>
            <p:nvPr/>
          </p:nvGrpSpPr>
          <p:grpSpPr>
            <a:xfrm>
              <a:off x="789930" y="4072324"/>
              <a:ext cx="3859964" cy="152537"/>
              <a:chOff x="3096635" y="5604607"/>
              <a:chExt cx="8182799" cy="323365"/>
            </a:xfrm>
          </p:grpSpPr>
          <p:sp>
            <p:nvSpPr>
              <p:cNvPr id="36" name="Rectangle 35">
                <a:extLst>
                  <a:ext uri="{FF2B5EF4-FFF2-40B4-BE49-F238E27FC236}">
                    <a16:creationId xmlns:a16="http://schemas.microsoft.com/office/drawing/2014/main" id="{158DA7A6-4753-F7B1-1513-C33CD0FC58BA}"/>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7" name="Connecteur droit avec flèche 36">
                <a:extLst>
                  <a:ext uri="{FF2B5EF4-FFF2-40B4-BE49-F238E27FC236}">
                    <a16:creationId xmlns:a16="http://schemas.microsoft.com/office/drawing/2014/main" id="{9F02ED51-E908-926B-FBB8-BF7FB3A0128B}"/>
                  </a:ext>
                </a:extLst>
              </p:cNvPr>
              <p:cNvCxnSpPr>
                <a:cxnSpLocks/>
                <a:stCxn id="36" idx="3"/>
                <a:endCxn id="29"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id="{09CC3328-FC7D-E7AB-4605-1A79DC011F93}"/>
                  </a:ext>
                </a:extLst>
              </p:cNvPr>
              <p:cNvSpPr/>
              <p:nvPr/>
            </p:nvSpPr>
            <p:spPr>
              <a:xfrm>
                <a:off x="6197544" y="5604607"/>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pic>
          <p:nvPicPr>
            <p:cNvPr id="29" name="Graphique 28" descr="Point d’interrogation avec un remplissage uni">
              <a:extLst>
                <a:ext uri="{FF2B5EF4-FFF2-40B4-BE49-F238E27FC236}">
                  <a16:creationId xmlns:a16="http://schemas.microsoft.com/office/drawing/2014/main" id="{D1ACD88D-9F4B-43CA-578D-357FF454096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30" name="Graphique 29" descr="Point d’interrogation avec un remplissage uni">
              <a:extLst>
                <a:ext uri="{FF2B5EF4-FFF2-40B4-BE49-F238E27FC236}">
                  <a16:creationId xmlns:a16="http://schemas.microsoft.com/office/drawing/2014/main" id="{720F00CA-879E-20F1-238C-9345DD45B51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31" name="Graphique 30" descr="Point d’interrogation avec un remplissage uni">
              <a:extLst>
                <a:ext uri="{FF2B5EF4-FFF2-40B4-BE49-F238E27FC236}">
                  <a16:creationId xmlns:a16="http://schemas.microsoft.com/office/drawing/2014/main" id="{58943D23-AD5D-C9F8-BFC4-DCD4427FC6CD}"/>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32" name="Graphique 31" descr="Point d’interrogation avec un remplissage uni">
              <a:extLst>
                <a:ext uri="{FF2B5EF4-FFF2-40B4-BE49-F238E27FC236}">
                  <a16:creationId xmlns:a16="http://schemas.microsoft.com/office/drawing/2014/main" id="{EA34A11F-A0E9-DAB1-963F-D492947321B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grpSp>
      <p:sp>
        <p:nvSpPr>
          <p:cNvPr id="112" name="ZoneTexte 111">
            <a:extLst>
              <a:ext uri="{FF2B5EF4-FFF2-40B4-BE49-F238E27FC236}">
                <a16:creationId xmlns:a16="http://schemas.microsoft.com/office/drawing/2014/main" id="{9CF28036-7A6C-224F-BD82-CF9006E85686}"/>
              </a:ext>
            </a:extLst>
          </p:cNvPr>
          <p:cNvSpPr txBox="1"/>
          <p:nvPr/>
        </p:nvSpPr>
        <p:spPr>
          <a:xfrm>
            <a:off x="543607" y="6285395"/>
            <a:ext cx="4052182" cy="461665"/>
          </a:xfrm>
          <a:prstGeom prst="rect">
            <a:avLst/>
          </a:prstGeom>
          <a:noFill/>
        </p:spPr>
        <p:txBody>
          <a:bodyPr wrap="square">
            <a:spAutoFit/>
          </a:bodyPr>
          <a:lstStyle/>
          <a:p>
            <a:pPr marL="0" indent="0">
              <a:buNone/>
            </a:pPr>
            <a:r>
              <a:rPr lang="fr-FR" sz="1200" dirty="0"/>
              <a:t>Nombre de sujets avec un but (au sens CCC-Goals) / nombre de sujets totaux</a:t>
            </a:r>
          </a:p>
        </p:txBody>
      </p:sp>
      <p:sp>
        <p:nvSpPr>
          <p:cNvPr id="3" name="Bulle narrative : ronde 2">
            <a:extLst>
              <a:ext uri="{FF2B5EF4-FFF2-40B4-BE49-F238E27FC236}">
                <a16:creationId xmlns:a16="http://schemas.microsoft.com/office/drawing/2014/main" id="{7D66FF16-84B0-E791-4F98-9773BB15A0B2}"/>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A quel point a-t-on visé un objectif sur les différents sujets abordés ?</a:t>
            </a:r>
          </a:p>
        </p:txBody>
      </p:sp>
      <p:pic>
        <p:nvPicPr>
          <p:cNvPr id="7" name="Graphique 3" descr="Femme portant un tailleur">
            <a:extLst>
              <a:ext uri="{FF2B5EF4-FFF2-40B4-BE49-F238E27FC236}">
                <a16:creationId xmlns:a16="http://schemas.microsoft.com/office/drawing/2014/main" id="{6B6AAAAF-AA6B-6140-322D-83A0407E620E}"/>
              </a:ext>
            </a:extLst>
          </p:cNvPr>
          <p:cNvPicPr>
            <a:picLocks noChangeAspect="1"/>
          </p:cNvPicPr>
          <p:nvPr/>
        </p:nvPicPr>
        <p:blipFill rotWithShape="1">
          <a:blip r:embed="rId23">
            <a:extLst>
              <a:ext uri="{96DAC541-7B7A-43D3-8B79-37D633B846F1}">
                <asvg:svgBlip xmlns:asvg="http://schemas.microsoft.com/office/drawing/2016/SVG/main" r:embed="rId24"/>
              </a:ext>
            </a:extLst>
          </a:blip>
          <a:srcRect b="67900"/>
          <a:stretch/>
        </p:blipFill>
        <p:spPr>
          <a:xfrm flipH="1">
            <a:off x="9519412" y="371448"/>
            <a:ext cx="2672588" cy="1668390"/>
          </a:xfrm>
          <a:prstGeom prst="rect">
            <a:avLst/>
          </a:prstGeom>
        </p:spPr>
      </p:pic>
      <p:pic>
        <p:nvPicPr>
          <p:cNvPr id="13" name="Graphique 12" descr="Mille avec un remplissage uni">
            <a:extLst>
              <a:ext uri="{FF2B5EF4-FFF2-40B4-BE49-F238E27FC236}">
                <a16:creationId xmlns:a16="http://schemas.microsoft.com/office/drawing/2014/main" id="{720B9FC4-364A-9262-ABC9-2DA509B2A1AA}"/>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135731" y="5138027"/>
            <a:ext cx="217382" cy="217382"/>
          </a:xfrm>
          <a:prstGeom prst="rect">
            <a:avLst/>
          </a:prstGeom>
        </p:spPr>
      </p:pic>
      <p:pic>
        <p:nvPicPr>
          <p:cNvPr id="14" name="Graphique 13" descr="Mille avec un remplissage uni">
            <a:extLst>
              <a:ext uri="{FF2B5EF4-FFF2-40B4-BE49-F238E27FC236}">
                <a16:creationId xmlns:a16="http://schemas.microsoft.com/office/drawing/2014/main" id="{F03B4057-E945-9B3C-6143-C58027E8744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183641" y="5095850"/>
            <a:ext cx="213345" cy="213345"/>
          </a:xfrm>
          <a:prstGeom prst="rect">
            <a:avLst/>
          </a:prstGeom>
        </p:spPr>
      </p:pic>
      <p:sp>
        <p:nvSpPr>
          <p:cNvPr id="15" name="Signe Plus 14">
            <a:extLst>
              <a:ext uri="{FF2B5EF4-FFF2-40B4-BE49-F238E27FC236}">
                <a16:creationId xmlns:a16="http://schemas.microsoft.com/office/drawing/2014/main" id="{A02AF6A1-CE8C-F3D2-A69B-CE00F3FEF9E3}"/>
              </a:ext>
            </a:extLst>
          </p:cNvPr>
          <p:cNvSpPr/>
          <p:nvPr/>
        </p:nvSpPr>
        <p:spPr>
          <a:xfrm>
            <a:off x="2322312" y="4889989"/>
            <a:ext cx="364119" cy="364119"/>
          </a:xfrm>
          <a:prstGeom prst="mathPlus">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74622FD1-3B9B-8EA3-D410-114000E815A7}"/>
              </a:ext>
            </a:extLst>
          </p:cNvPr>
          <p:cNvSpPr txBox="1"/>
          <p:nvPr/>
        </p:nvSpPr>
        <p:spPr>
          <a:xfrm>
            <a:off x="2578052" y="4714720"/>
            <a:ext cx="464463" cy="707886"/>
          </a:xfrm>
          <a:prstGeom prst="rect">
            <a:avLst/>
          </a:prstGeom>
          <a:noFill/>
        </p:spPr>
        <p:txBody>
          <a:bodyPr wrap="square">
            <a:spAutoFit/>
          </a:bodyPr>
          <a:lstStyle/>
          <a:p>
            <a:r>
              <a:rPr lang="el-GR" sz="4000" dirty="0"/>
              <a:t>Σ</a:t>
            </a:r>
            <a:endParaRPr lang="fr-FR" sz="4000" dirty="0"/>
          </a:p>
        </p:txBody>
      </p:sp>
      <p:sp>
        <p:nvSpPr>
          <p:cNvPr id="17" name="ZoneTexte 16">
            <a:extLst>
              <a:ext uri="{FF2B5EF4-FFF2-40B4-BE49-F238E27FC236}">
                <a16:creationId xmlns:a16="http://schemas.microsoft.com/office/drawing/2014/main" id="{DD75DE0B-820D-D827-044C-9DC532BCBC9C}"/>
              </a:ext>
            </a:extLst>
          </p:cNvPr>
          <p:cNvSpPr txBox="1"/>
          <p:nvPr/>
        </p:nvSpPr>
        <p:spPr>
          <a:xfrm>
            <a:off x="1535542" y="4721201"/>
            <a:ext cx="464463" cy="707886"/>
          </a:xfrm>
          <a:prstGeom prst="rect">
            <a:avLst/>
          </a:prstGeom>
          <a:noFill/>
        </p:spPr>
        <p:txBody>
          <a:bodyPr wrap="square">
            <a:spAutoFit/>
          </a:bodyPr>
          <a:lstStyle/>
          <a:p>
            <a:r>
              <a:rPr lang="el-GR" sz="4000" dirty="0"/>
              <a:t>Σ</a:t>
            </a:r>
            <a:endParaRPr lang="fr-FR" sz="4000" dirty="0"/>
          </a:p>
        </p:txBody>
      </p:sp>
      <p:sp>
        <p:nvSpPr>
          <p:cNvPr id="18" name="Rectangle 17">
            <a:extLst>
              <a:ext uri="{FF2B5EF4-FFF2-40B4-BE49-F238E27FC236}">
                <a16:creationId xmlns:a16="http://schemas.microsoft.com/office/drawing/2014/main" id="{7F51F720-B4DE-800E-F59D-858D5917CFD6}"/>
              </a:ext>
            </a:extLst>
          </p:cNvPr>
          <p:cNvSpPr/>
          <p:nvPr/>
        </p:nvSpPr>
        <p:spPr>
          <a:xfrm>
            <a:off x="2918928" y="4916226"/>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9" name="Rectangle 18">
            <a:extLst>
              <a:ext uri="{FF2B5EF4-FFF2-40B4-BE49-F238E27FC236}">
                <a16:creationId xmlns:a16="http://schemas.microsoft.com/office/drawing/2014/main" id="{6CFD5A85-4B4F-C1F4-1FE9-D1E3B5FC44AF}"/>
              </a:ext>
            </a:extLst>
          </p:cNvPr>
          <p:cNvSpPr/>
          <p:nvPr/>
        </p:nvSpPr>
        <p:spPr>
          <a:xfrm>
            <a:off x="1874316" y="4933105"/>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1" name="Connecteur droit 20">
            <a:extLst>
              <a:ext uri="{FF2B5EF4-FFF2-40B4-BE49-F238E27FC236}">
                <a16:creationId xmlns:a16="http://schemas.microsoft.com/office/drawing/2014/main" id="{1F783E59-CD62-BEC0-2A85-56BA7C987F0E}"/>
              </a:ext>
            </a:extLst>
          </p:cNvPr>
          <p:cNvCxnSpPr>
            <a:cxnSpLocks/>
          </p:cNvCxnSpPr>
          <p:nvPr/>
        </p:nvCxnSpPr>
        <p:spPr>
          <a:xfrm flipH="1">
            <a:off x="1620513" y="5464502"/>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4" name="ZoneTexte 33">
            <a:extLst>
              <a:ext uri="{FF2B5EF4-FFF2-40B4-BE49-F238E27FC236}">
                <a16:creationId xmlns:a16="http://schemas.microsoft.com/office/drawing/2014/main" id="{7744DC18-BFCB-48A4-86AC-3E29BF0F4799}"/>
              </a:ext>
            </a:extLst>
          </p:cNvPr>
          <p:cNvSpPr txBox="1"/>
          <p:nvPr/>
        </p:nvSpPr>
        <p:spPr>
          <a:xfrm>
            <a:off x="2013888" y="5428429"/>
            <a:ext cx="464463" cy="707886"/>
          </a:xfrm>
          <a:prstGeom prst="rect">
            <a:avLst/>
          </a:prstGeom>
          <a:noFill/>
        </p:spPr>
        <p:txBody>
          <a:bodyPr wrap="square">
            <a:spAutoFit/>
          </a:bodyPr>
          <a:lstStyle/>
          <a:p>
            <a:r>
              <a:rPr lang="el-GR" sz="4000" dirty="0"/>
              <a:t>Σ</a:t>
            </a:r>
            <a:endParaRPr lang="fr-FR" sz="4000" dirty="0"/>
          </a:p>
        </p:txBody>
      </p:sp>
      <p:sp>
        <p:nvSpPr>
          <p:cNvPr id="40" name="Rectangle 39">
            <a:extLst>
              <a:ext uri="{FF2B5EF4-FFF2-40B4-BE49-F238E27FC236}">
                <a16:creationId xmlns:a16="http://schemas.microsoft.com/office/drawing/2014/main" id="{451360F9-020A-974F-40CB-FFDFF8CCF7C3}"/>
              </a:ext>
            </a:extLst>
          </p:cNvPr>
          <p:cNvSpPr/>
          <p:nvPr/>
        </p:nvSpPr>
        <p:spPr>
          <a:xfrm>
            <a:off x="2352662" y="5640333"/>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Tree>
    <p:extLst>
      <p:ext uri="{BB962C8B-B14F-4D97-AF65-F5344CB8AC3E}">
        <p14:creationId xmlns:p14="http://schemas.microsoft.com/office/powerpoint/2010/main" val="212524631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4000500" cy="1325563"/>
          </a:xfrm>
        </p:spPr>
        <p:txBody>
          <a:bodyPr>
            <a:noAutofit/>
          </a:bodyPr>
          <a:lstStyle/>
          <a:p>
            <a:r>
              <a:rPr lang="fr-FR" sz="2400" b="1" dirty="0"/>
              <a:t>Indicateur : </a:t>
            </a:r>
            <a:br>
              <a:rPr lang="fr-FR" sz="2400" b="1" dirty="0"/>
            </a:br>
            <a:r>
              <a:rPr lang="fr-FR" sz="2400" dirty="0"/>
              <a:t>Proportion de sujets pour lesquels la communauté a fixé un but</a:t>
            </a:r>
          </a:p>
        </p:txBody>
      </p:sp>
      <p:grpSp>
        <p:nvGrpSpPr>
          <p:cNvPr id="3" name="Groupe 2">
            <a:extLst>
              <a:ext uri="{FF2B5EF4-FFF2-40B4-BE49-F238E27FC236}">
                <a16:creationId xmlns:a16="http://schemas.microsoft.com/office/drawing/2014/main" id="{CA2C6CA7-9086-99DD-8346-DE868D7262F0}"/>
              </a:ext>
            </a:extLst>
          </p:cNvPr>
          <p:cNvGrpSpPr/>
          <p:nvPr/>
        </p:nvGrpSpPr>
        <p:grpSpPr>
          <a:xfrm>
            <a:off x="789930" y="2075168"/>
            <a:ext cx="4228114" cy="2176665"/>
            <a:chOff x="789930" y="2075168"/>
            <a:chExt cx="4228114" cy="2176665"/>
          </a:xfrm>
        </p:grpSpPr>
        <p:grpSp>
          <p:nvGrpSpPr>
            <p:cNvPr id="4" name="Groupe 3">
              <a:extLst>
                <a:ext uri="{FF2B5EF4-FFF2-40B4-BE49-F238E27FC236}">
                  <a16:creationId xmlns:a16="http://schemas.microsoft.com/office/drawing/2014/main" id="{CC1BD480-770B-5B53-4C5A-F2E550167372}"/>
                </a:ext>
              </a:extLst>
            </p:cNvPr>
            <p:cNvGrpSpPr/>
            <p:nvPr/>
          </p:nvGrpSpPr>
          <p:grpSpPr>
            <a:xfrm>
              <a:off x="1004899" y="2075168"/>
              <a:ext cx="4013145" cy="458111"/>
              <a:chOff x="11600" y="1496380"/>
              <a:chExt cx="12038120" cy="1498765"/>
            </a:xfrm>
          </p:grpSpPr>
          <p:grpSp>
            <p:nvGrpSpPr>
              <p:cNvPr id="45" name="Groupe 44">
                <a:extLst>
                  <a:ext uri="{FF2B5EF4-FFF2-40B4-BE49-F238E27FC236}">
                    <a16:creationId xmlns:a16="http://schemas.microsoft.com/office/drawing/2014/main" id="{2CC6A12A-6BE4-D56D-FB02-64B1E5B7587B}"/>
                  </a:ext>
                </a:extLst>
              </p:cNvPr>
              <p:cNvGrpSpPr/>
              <p:nvPr/>
            </p:nvGrpSpPr>
            <p:grpSpPr>
              <a:xfrm>
                <a:off x="11600" y="2499558"/>
                <a:ext cx="12038120" cy="495587"/>
                <a:chOff x="0" y="2140394"/>
                <a:chExt cx="12854128" cy="4544491"/>
              </a:xfrm>
            </p:grpSpPr>
            <p:sp>
              <p:nvSpPr>
                <p:cNvPr id="53" name="Espace réservé du texte 15">
                  <a:extLst>
                    <a:ext uri="{FF2B5EF4-FFF2-40B4-BE49-F238E27FC236}">
                      <a16:creationId xmlns:a16="http://schemas.microsoft.com/office/drawing/2014/main" id="{3102091A-DDD6-7BB2-8BE1-2E53FF3C58C2}"/>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54" name="Espace réservé du texte 15">
                  <a:extLst>
                    <a:ext uri="{FF2B5EF4-FFF2-40B4-BE49-F238E27FC236}">
                      <a16:creationId xmlns:a16="http://schemas.microsoft.com/office/drawing/2014/main" id="{0BB0E724-9490-5E2C-A355-53C4FD833AF2}"/>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55" name="Espace réservé du texte 15">
                  <a:extLst>
                    <a:ext uri="{FF2B5EF4-FFF2-40B4-BE49-F238E27FC236}">
                      <a16:creationId xmlns:a16="http://schemas.microsoft.com/office/drawing/2014/main" id="{799CC038-4722-6A17-9048-25C77B9E5BF9}"/>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56" name="Espace réservé du texte 15">
                  <a:extLst>
                    <a:ext uri="{FF2B5EF4-FFF2-40B4-BE49-F238E27FC236}">
                      <a16:creationId xmlns:a16="http://schemas.microsoft.com/office/drawing/2014/main" id="{656705CB-6515-2686-7B55-13564E6E0177}"/>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57" name="Espace réservé du texte 15">
                  <a:extLst>
                    <a:ext uri="{FF2B5EF4-FFF2-40B4-BE49-F238E27FC236}">
                      <a16:creationId xmlns:a16="http://schemas.microsoft.com/office/drawing/2014/main" id="{D2A9B602-B847-09C0-269B-3AF45B40CFE7}"/>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58" name="Espace réservé du texte 15">
                  <a:extLst>
                    <a:ext uri="{FF2B5EF4-FFF2-40B4-BE49-F238E27FC236}">
                      <a16:creationId xmlns:a16="http://schemas.microsoft.com/office/drawing/2014/main" id="{85107EEB-B81E-572E-620C-594242E5993F}"/>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59" name="Espace réservé du texte 15">
                  <a:extLst>
                    <a:ext uri="{FF2B5EF4-FFF2-40B4-BE49-F238E27FC236}">
                      <a16:creationId xmlns:a16="http://schemas.microsoft.com/office/drawing/2014/main" id="{13096F1D-8C82-B196-0E40-B165FC996CBE}"/>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46" name="Graphique 45" descr="Ampoule avec un remplissage uni">
                <a:extLst>
                  <a:ext uri="{FF2B5EF4-FFF2-40B4-BE49-F238E27FC236}">
                    <a16:creationId xmlns:a16="http://schemas.microsoft.com/office/drawing/2014/main" id="{61217E6C-F065-AE5A-F1DE-197607D83F9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47" name="Graphique 46" descr="Seau et pelle avec un remplissage uni">
                <a:extLst>
                  <a:ext uri="{FF2B5EF4-FFF2-40B4-BE49-F238E27FC236}">
                    <a16:creationId xmlns:a16="http://schemas.microsoft.com/office/drawing/2014/main" id="{BA4569FA-6D55-7719-DE05-674829E7029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48" name="Graphique 47" descr="Tubes à essai avec un remplissage uni">
                <a:extLst>
                  <a:ext uri="{FF2B5EF4-FFF2-40B4-BE49-F238E27FC236}">
                    <a16:creationId xmlns:a16="http://schemas.microsoft.com/office/drawing/2014/main" id="{39321631-EA9E-674E-BFED-FD9E3254A70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49" name="Graphique 48" descr="Explosion avec un remplissage uni">
                <a:extLst>
                  <a:ext uri="{FF2B5EF4-FFF2-40B4-BE49-F238E27FC236}">
                    <a16:creationId xmlns:a16="http://schemas.microsoft.com/office/drawing/2014/main" id="{F894ED6F-4FC6-16C2-E1E2-501D629F1FF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0" name="Graphique 49" descr="Trophée avec un remplissage uni">
                <a:extLst>
                  <a:ext uri="{FF2B5EF4-FFF2-40B4-BE49-F238E27FC236}">
                    <a16:creationId xmlns:a16="http://schemas.microsoft.com/office/drawing/2014/main" id="{1FD69CDC-D732-EC22-685D-8AFB83565B9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1" name="Graphique 50" descr="Assiette couverte avec un remplissage uni">
                <a:extLst>
                  <a:ext uri="{FF2B5EF4-FFF2-40B4-BE49-F238E27FC236}">
                    <a16:creationId xmlns:a16="http://schemas.microsoft.com/office/drawing/2014/main" id="{7A3AF40F-5D57-6E46-4D7C-27FC29941B3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2" name="Graphique 51" descr="Scène de château avec un remplissage uni">
                <a:extLst>
                  <a:ext uri="{FF2B5EF4-FFF2-40B4-BE49-F238E27FC236}">
                    <a16:creationId xmlns:a16="http://schemas.microsoft.com/office/drawing/2014/main" id="{0A53FF84-768B-AA86-28B8-FAADEA55676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5" name="Groupe 4">
              <a:extLst>
                <a:ext uri="{FF2B5EF4-FFF2-40B4-BE49-F238E27FC236}">
                  <a16:creationId xmlns:a16="http://schemas.microsoft.com/office/drawing/2014/main" id="{DE271651-B001-6B5A-0767-B1D144088B6A}"/>
                </a:ext>
              </a:extLst>
            </p:cNvPr>
            <p:cNvGrpSpPr/>
            <p:nvPr/>
          </p:nvGrpSpPr>
          <p:grpSpPr>
            <a:xfrm>
              <a:off x="791077" y="2799355"/>
              <a:ext cx="1894821" cy="181741"/>
              <a:chOff x="3099062" y="3394846"/>
              <a:chExt cx="4016859" cy="385275"/>
            </a:xfrm>
          </p:grpSpPr>
          <p:sp>
            <p:nvSpPr>
              <p:cNvPr id="41" name="Rectangle 40">
                <a:extLst>
                  <a:ext uri="{FF2B5EF4-FFF2-40B4-BE49-F238E27FC236}">
                    <a16:creationId xmlns:a16="http://schemas.microsoft.com/office/drawing/2014/main" id="{55D994B7-E7AB-FA7C-52F1-84F90106569E}"/>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2" name="Connecteur droit avec flèche 41">
                <a:extLst>
                  <a:ext uri="{FF2B5EF4-FFF2-40B4-BE49-F238E27FC236}">
                    <a16:creationId xmlns:a16="http://schemas.microsoft.com/office/drawing/2014/main" id="{A4B0147D-FE5E-C8AC-A3D1-EB4E2DF6A8FF}"/>
                  </a:ext>
                </a:extLst>
              </p:cNvPr>
              <p:cNvCxnSpPr>
                <a:cxnSpLocks/>
                <a:stCxn id="41" idx="3"/>
                <a:endCxn id="43"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3" name="Graphique 42" descr="Mille avec un remplissage uni">
                <a:extLst>
                  <a:ext uri="{FF2B5EF4-FFF2-40B4-BE49-F238E27FC236}">
                    <a16:creationId xmlns:a16="http://schemas.microsoft.com/office/drawing/2014/main" id="{20D5C7C0-0F47-2CA7-6652-34B5DD8EB3B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sp>
            <p:nvSpPr>
              <p:cNvPr id="44" name="Rectangle 43">
                <a:extLst>
                  <a:ext uri="{FF2B5EF4-FFF2-40B4-BE49-F238E27FC236}">
                    <a16:creationId xmlns:a16="http://schemas.microsoft.com/office/drawing/2014/main" id="{7988DD67-D5A0-4FF5-0117-E27E45632BE1}"/>
                  </a:ext>
                </a:extLst>
              </p:cNvPr>
              <p:cNvSpPr/>
              <p:nvPr/>
            </p:nvSpPr>
            <p:spPr>
              <a:xfrm>
                <a:off x="6183629" y="340845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9" name="Groupe 8">
              <a:extLst>
                <a:ext uri="{FF2B5EF4-FFF2-40B4-BE49-F238E27FC236}">
                  <a16:creationId xmlns:a16="http://schemas.microsoft.com/office/drawing/2014/main" id="{9A84D409-BA13-3E79-F9E1-9AC3B5501E0C}"/>
                </a:ext>
              </a:extLst>
            </p:cNvPr>
            <p:cNvGrpSpPr/>
            <p:nvPr/>
          </p:nvGrpSpPr>
          <p:grpSpPr>
            <a:xfrm>
              <a:off x="791076" y="3011948"/>
              <a:ext cx="3469706" cy="181741"/>
              <a:chOff x="3099061" y="3796432"/>
              <a:chExt cx="7355485" cy="385275"/>
            </a:xfrm>
          </p:grpSpPr>
          <p:sp>
            <p:nvSpPr>
              <p:cNvPr id="37" name="Rectangle 36">
                <a:extLst>
                  <a:ext uri="{FF2B5EF4-FFF2-40B4-BE49-F238E27FC236}">
                    <a16:creationId xmlns:a16="http://schemas.microsoft.com/office/drawing/2014/main" id="{292477B4-E3BE-A8D8-4DB5-8A52430AE31C}"/>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8" name="Connecteur droit avec flèche 37">
                <a:extLst>
                  <a:ext uri="{FF2B5EF4-FFF2-40B4-BE49-F238E27FC236}">
                    <a16:creationId xmlns:a16="http://schemas.microsoft.com/office/drawing/2014/main" id="{6FE2FFE8-0B6F-86D1-C614-9391847969DA}"/>
                  </a:ext>
                </a:extLst>
              </p:cNvPr>
              <p:cNvCxnSpPr>
                <a:cxnSpLocks/>
                <a:stCxn id="37" idx="3"/>
                <a:endCxn id="39"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9" name="Graphique 38" descr="Mille avec un remplissage uni">
                <a:extLst>
                  <a:ext uri="{FF2B5EF4-FFF2-40B4-BE49-F238E27FC236}">
                    <a16:creationId xmlns:a16="http://schemas.microsoft.com/office/drawing/2014/main" id="{2D8336B1-E205-5610-682F-958F63436DC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sp>
            <p:nvSpPr>
              <p:cNvPr id="40" name="Rectangle 39">
                <a:extLst>
                  <a:ext uri="{FF2B5EF4-FFF2-40B4-BE49-F238E27FC236}">
                    <a16:creationId xmlns:a16="http://schemas.microsoft.com/office/drawing/2014/main" id="{CFA6A57E-C20C-AA79-37C8-F9DD14B72D84}"/>
                  </a:ext>
                </a:extLst>
              </p:cNvPr>
              <p:cNvSpPr/>
              <p:nvPr/>
            </p:nvSpPr>
            <p:spPr>
              <a:xfrm>
                <a:off x="6183632" y="3839301"/>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10" name="Groupe 9">
              <a:extLst>
                <a:ext uri="{FF2B5EF4-FFF2-40B4-BE49-F238E27FC236}">
                  <a16:creationId xmlns:a16="http://schemas.microsoft.com/office/drawing/2014/main" id="{E8E435B9-C832-0FC2-E979-DD074D80E09C}"/>
                </a:ext>
              </a:extLst>
            </p:cNvPr>
            <p:cNvGrpSpPr/>
            <p:nvPr/>
          </p:nvGrpSpPr>
          <p:grpSpPr>
            <a:xfrm>
              <a:off x="789930" y="3640101"/>
              <a:ext cx="1180962" cy="181741"/>
              <a:chOff x="3096631" y="5085827"/>
              <a:chExt cx="2503539" cy="385275"/>
            </a:xfrm>
          </p:grpSpPr>
          <p:sp>
            <p:nvSpPr>
              <p:cNvPr id="34" name="Rectangle 33">
                <a:extLst>
                  <a:ext uri="{FF2B5EF4-FFF2-40B4-BE49-F238E27FC236}">
                    <a16:creationId xmlns:a16="http://schemas.microsoft.com/office/drawing/2014/main" id="{2788FD5A-0881-B779-84DD-6E5DC7357A5F}"/>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5" name="Connecteur droit avec flèche 34">
                <a:extLst>
                  <a:ext uri="{FF2B5EF4-FFF2-40B4-BE49-F238E27FC236}">
                    <a16:creationId xmlns:a16="http://schemas.microsoft.com/office/drawing/2014/main" id="{412E26A6-DDCB-534B-44FD-F20B0EC3013F}"/>
                  </a:ext>
                </a:extLst>
              </p:cNvPr>
              <p:cNvCxnSpPr>
                <a:cxnSpLocks/>
                <a:stCxn id="34" idx="3"/>
                <a:endCxn id="36"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6" name="Graphique 35" descr="Mille avec un remplissage uni">
                <a:extLst>
                  <a:ext uri="{FF2B5EF4-FFF2-40B4-BE49-F238E27FC236}">
                    <a16:creationId xmlns:a16="http://schemas.microsoft.com/office/drawing/2014/main" id="{0BC51C6D-B823-7EF3-6425-B38F71C993E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11" name="Groupe 10">
              <a:extLst>
                <a:ext uri="{FF2B5EF4-FFF2-40B4-BE49-F238E27FC236}">
                  <a16:creationId xmlns:a16="http://schemas.microsoft.com/office/drawing/2014/main" id="{683786C5-8D17-7CE4-DF05-DA21542881CB}"/>
                </a:ext>
              </a:extLst>
            </p:cNvPr>
            <p:cNvGrpSpPr/>
            <p:nvPr/>
          </p:nvGrpSpPr>
          <p:grpSpPr>
            <a:xfrm>
              <a:off x="789930" y="3432549"/>
              <a:ext cx="3007308" cy="181741"/>
              <a:chOff x="3096631" y="4622114"/>
              <a:chExt cx="6375239" cy="385275"/>
            </a:xfrm>
          </p:grpSpPr>
          <p:sp>
            <p:nvSpPr>
              <p:cNvPr id="30" name="Rectangle 29">
                <a:extLst>
                  <a:ext uri="{FF2B5EF4-FFF2-40B4-BE49-F238E27FC236}">
                    <a16:creationId xmlns:a16="http://schemas.microsoft.com/office/drawing/2014/main" id="{05A3194B-851C-7267-5C1A-2E4E0D3E6042}"/>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1" name="Connecteur droit avec flèche 30">
                <a:extLst>
                  <a:ext uri="{FF2B5EF4-FFF2-40B4-BE49-F238E27FC236}">
                    <a16:creationId xmlns:a16="http://schemas.microsoft.com/office/drawing/2014/main" id="{D815992C-F163-81F1-6E0D-2B30DD9C4547}"/>
                  </a:ext>
                </a:extLst>
              </p:cNvPr>
              <p:cNvCxnSpPr>
                <a:cxnSpLocks/>
                <a:stCxn id="30" idx="3"/>
                <a:endCxn id="32"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2" name="Graphique 31" descr="Mille avec un remplissage uni">
                <a:extLst>
                  <a:ext uri="{FF2B5EF4-FFF2-40B4-BE49-F238E27FC236}">
                    <a16:creationId xmlns:a16="http://schemas.microsoft.com/office/drawing/2014/main" id="{E6590661-3EE6-9FDF-B0D0-0DD28DB1F7E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sp>
            <p:nvSpPr>
              <p:cNvPr id="33" name="Rectangle 32">
                <a:extLst>
                  <a:ext uri="{FF2B5EF4-FFF2-40B4-BE49-F238E27FC236}">
                    <a16:creationId xmlns:a16="http://schemas.microsoft.com/office/drawing/2014/main" id="{6720FC88-9087-5243-285A-0E4CC09A9F20}"/>
                  </a:ext>
                </a:extLst>
              </p:cNvPr>
              <p:cNvSpPr/>
              <p:nvPr/>
            </p:nvSpPr>
            <p:spPr>
              <a:xfrm>
                <a:off x="8579850" y="465970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12" name="Groupe 11">
              <a:extLst>
                <a:ext uri="{FF2B5EF4-FFF2-40B4-BE49-F238E27FC236}">
                  <a16:creationId xmlns:a16="http://schemas.microsoft.com/office/drawing/2014/main" id="{A5BA7522-5027-F3BB-10B9-13E6CBE56B17}"/>
                </a:ext>
              </a:extLst>
            </p:cNvPr>
            <p:cNvGrpSpPr/>
            <p:nvPr/>
          </p:nvGrpSpPr>
          <p:grpSpPr>
            <a:xfrm>
              <a:off x="789930" y="3221332"/>
              <a:ext cx="4041245" cy="181741"/>
              <a:chOff x="3096632" y="4195205"/>
              <a:chExt cx="8567098" cy="385275"/>
            </a:xfrm>
          </p:grpSpPr>
          <p:sp>
            <p:nvSpPr>
              <p:cNvPr id="26" name="Rectangle 25">
                <a:extLst>
                  <a:ext uri="{FF2B5EF4-FFF2-40B4-BE49-F238E27FC236}">
                    <a16:creationId xmlns:a16="http://schemas.microsoft.com/office/drawing/2014/main" id="{274C101B-AC3A-45B6-7E6C-1435D2330943}"/>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7" name="Connecteur droit avec flèche 26">
                <a:extLst>
                  <a:ext uri="{FF2B5EF4-FFF2-40B4-BE49-F238E27FC236}">
                    <a16:creationId xmlns:a16="http://schemas.microsoft.com/office/drawing/2014/main" id="{1D0C89AB-8830-60D3-55D1-B79BCBE93D1A}"/>
                  </a:ext>
                </a:extLst>
              </p:cNvPr>
              <p:cNvCxnSpPr>
                <a:cxnSpLocks/>
                <a:stCxn id="26" idx="3"/>
                <a:endCxn id="28"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8" name="Graphique 27" descr="Mille avec un remplissage uni">
                <a:extLst>
                  <a:ext uri="{FF2B5EF4-FFF2-40B4-BE49-F238E27FC236}">
                    <a16:creationId xmlns:a16="http://schemas.microsoft.com/office/drawing/2014/main" id="{31E7A37B-8FC1-AA53-4145-EEA6D2B9A20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sp>
            <p:nvSpPr>
              <p:cNvPr id="29" name="Rectangle 28">
                <a:extLst>
                  <a:ext uri="{FF2B5EF4-FFF2-40B4-BE49-F238E27FC236}">
                    <a16:creationId xmlns:a16="http://schemas.microsoft.com/office/drawing/2014/main" id="{B10965E6-1653-7F1A-10F0-6CBB148C2C8B}"/>
                  </a:ext>
                </a:extLst>
              </p:cNvPr>
              <p:cNvSpPr/>
              <p:nvPr/>
            </p:nvSpPr>
            <p:spPr>
              <a:xfrm>
                <a:off x="10100966" y="423248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13" name="Groupe 12">
              <a:extLst>
                <a:ext uri="{FF2B5EF4-FFF2-40B4-BE49-F238E27FC236}">
                  <a16:creationId xmlns:a16="http://schemas.microsoft.com/office/drawing/2014/main" id="{E8C036D0-002B-D6EC-7CBD-CBB9AB336602}"/>
                </a:ext>
              </a:extLst>
            </p:cNvPr>
            <p:cNvGrpSpPr/>
            <p:nvPr/>
          </p:nvGrpSpPr>
          <p:grpSpPr>
            <a:xfrm>
              <a:off x="791077" y="2593179"/>
              <a:ext cx="3006161" cy="181741"/>
              <a:chOff x="3099063" y="2916714"/>
              <a:chExt cx="6372808" cy="385275"/>
            </a:xfrm>
          </p:grpSpPr>
          <p:pic>
            <p:nvPicPr>
              <p:cNvPr id="22" name="Graphique 21" descr="Mille avec un remplissage uni">
                <a:extLst>
                  <a:ext uri="{FF2B5EF4-FFF2-40B4-BE49-F238E27FC236}">
                    <a16:creationId xmlns:a16="http://schemas.microsoft.com/office/drawing/2014/main" id="{14A2B312-61F0-1FE1-0AA0-45AF865A284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23" name="Rectangle 22">
                <a:extLst>
                  <a:ext uri="{FF2B5EF4-FFF2-40B4-BE49-F238E27FC236}">
                    <a16:creationId xmlns:a16="http://schemas.microsoft.com/office/drawing/2014/main" id="{11EFC09B-D5C0-9457-40CF-52DF08373B9E}"/>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4" name="Connecteur droit avec flèche 23">
                <a:extLst>
                  <a:ext uri="{FF2B5EF4-FFF2-40B4-BE49-F238E27FC236}">
                    <a16:creationId xmlns:a16="http://schemas.microsoft.com/office/drawing/2014/main" id="{D48E4557-ACE3-726D-AB0D-135E10A7420C}"/>
                  </a:ext>
                </a:extLst>
              </p:cNvPr>
              <p:cNvCxnSpPr>
                <a:cxnSpLocks/>
                <a:stCxn id="23" idx="3"/>
                <a:endCxn id="22"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C419559D-AECB-C365-1277-378D7370C695}"/>
                  </a:ext>
                </a:extLst>
              </p:cNvPr>
              <p:cNvSpPr/>
              <p:nvPr/>
            </p:nvSpPr>
            <p:spPr>
              <a:xfrm>
                <a:off x="8569448" y="295808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14" name="Groupe 13">
              <a:extLst>
                <a:ext uri="{FF2B5EF4-FFF2-40B4-BE49-F238E27FC236}">
                  <a16:creationId xmlns:a16="http://schemas.microsoft.com/office/drawing/2014/main" id="{DB6B6023-FDEC-EB58-B35B-CB4206172F72}"/>
                </a:ext>
              </a:extLst>
            </p:cNvPr>
            <p:cNvGrpSpPr/>
            <p:nvPr/>
          </p:nvGrpSpPr>
          <p:grpSpPr>
            <a:xfrm>
              <a:off x="789930" y="4072324"/>
              <a:ext cx="3859964" cy="152537"/>
              <a:chOff x="3096635" y="5604607"/>
              <a:chExt cx="8182799" cy="323365"/>
            </a:xfrm>
          </p:grpSpPr>
          <p:sp>
            <p:nvSpPr>
              <p:cNvPr id="19" name="Rectangle 18">
                <a:extLst>
                  <a:ext uri="{FF2B5EF4-FFF2-40B4-BE49-F238E27FC236}">
                    <a16:creationId xmlns:a16="http://schemas.microsoft.com/office/drawing/2014/main" id="{4AD532D4-E793-ED03-2CEC-0C69E2A43388}"/>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0" name="Connecteur droit avec flèche 19">
                <a:extLst>
                  <a:ext uri="{FF2B5EF4-FFF2-40B4-BE49-F238E27FC236}">
                    <a16:creationId xmlns:a16="http://schemas.microsoft.com/office/drawing/2014/main" id="{20FBB1CC-5E68-83A2-85FA-AD7A171A4542}"/>
                  </a:ext>
                </a:extLst>
              </p:cNvPr>
              <p:cNvCxnSpPr>
                <a:cxnSpLocks/>
                <a:stCxn id="19" idx="3"/>
                <a:endCxn id="15"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C1FAC9E0-5BD7-BFED-ADDE-B0E02B55D1CB}"/>
                  </a:ext>
                </a:extLst>
              </p:cNvPr>
              <p:cNvSpPr/>
              <p:nvPr/>
            </p:nvSpPr>
            <p:spPr>
              <a:xfrm>
                <a:off x="6197544" y="5604607"/>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pic>
          <p:nvPicPr>
            <p:cNvPr id="15" name="Graphique 14" descr="Point d’interrogation avec un remplissage uni">
              <a:extLst>
                <a:ext uri="{FF2B5EF4-FFF2-40B4-BE49-F238E27FC236}">
                  <a16:creationId xmlns:a16="http://schemas.microsoft.com/office/drawing/2014/main" id="{8761DF4E-B3DF-6462-4D71-52B39430C54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16" name="Graphique 15" descr="Point d’interrogation avec un remplissage uni">
              <a:extLst>
                <a:ext uri="{FF2B5EF4-FFF2-40B4-BE49-F238E27FC236}">
                  <a16:creationId xmlns:a16="http://schemas.microsoft.com/office/drawing/2014/main" id="{5C0F79BB-2027-82A8-2577-082C2355BCCD}"/>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17" name="Graphique 16" descr="Point d’interrogation avec un remplissage uni">
              <a:extLst>
                <a:ext uri="{FF2B5EF4-FFF2-40B4-BE49-F238E27FC236}">
                  <a16:creationId xmlns:a16="http://schemas.microsoft.com/office/drawing/2014/main" id="{9AE58248-C0D4-619C-4408-B82AF5A6D10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18" name="Graphique 17" descr="Point d’interrogation avec un remplissage uni">
              <a:extLst>
                <a:ext uri="{FF2B5EF4-FFF2-40B4-BE49-F238E27FC236}">
                  <a16:creationId xmlns:a16="http://schemas.microsoft.com/office/drawing/2014/main" id="{09CEAAB2-859B-C1F5-C095-3E27FDFC2E6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grpSp>
      <p:sp>
        <p:nvSpPr>
          <p:cNvPr id="60" name="ZoneTexte 59">
            <a:extLst>
              <a:ext uri="{FF2B5EF4-FFF2-40B4-BE49-F238E27FC236}">
                <a16:creationId xmlns:a16="http://schemas.microsoft.com/office/drawing/2014/main" id="{542B11EB-20E7-959D-A0E4-DBE88B4FD375}"/>
              </a:ext>
            </a:extLst>
          </p:cNvPr>
          <p:cNvSpPr txBox="1"/>
          <p:nvPr/>
        </p:nvSpPr>
        <p:spPr>
          <a:xfrm>
            <a:off x="543607" y="6285395"/>
            <a:ext cx="4052182" cy="461665"/>
          </a:xfrm>
          <a:prstGeom prst="rect">
            <a:avLst/>
          </a:prstGeom>
          <a:noFill/>
        </p:spPr>
        <p:txBody>
          <a:bodyPr wrap="square">
            <a:spAutoFit/>
          </a:bodyPr>
          <a:lstStyle/>
          <a:p>
            <a:pPr marL="0" indent="0">
              <a:buNone/>
            </a:pPr>
            <a:r>
              <a:rPr lang="fr-FR" sz="1200" dirty="0"/>
              <a:t>Nombre de sujets avec un but (au sens CCC-Goals) / nombre de sujets totaux</a:t>
            </a:r>
          </a:p>
        </p:txBody>
      </p:sp>
      <p:pic>
        <p:nvPicPr>
          <p:cNvPr id="61" name="Graphique 60" descr="Mille avec un remplissage uni">
            <a:extLst>
              <a:ext uri="{FF2B5EF4-FFF2-40B4-BE49-F238E27FC236}">
                <a16:creationId xmlns:a16="http://schemas.microsoft.com/office/drawing/2014/main" id="{6D8A331E-1E72-2A45-1FF5-D25BB3F10B5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135731" y="5138027"/>
            <a:ext cx="217382" cy="217382"/>
          </a:xfrm>
          <a:prstGeom prst="rect">
            <a:avLst/>
          </a:prstGeom>
        </p:spPr>
      </p:pic>
      <p:pic>
        <p:nvPicPr>
          <p:cNvPr id="62" name="Graphique 61" descr="Mille avec un remplissage uni">
            <a:extLst>
              <a:ext uri="{FF2B5EF4-FFF2-40B4-BE49-F238E27FC236}">
                <a16:creationId xmlns:a16="http://schemas.microsoft.com/office/drawing/2014/main" id="{53B663B8-4E5D-DC4F-8D7A-507E76FA3F7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183641" y="5095850"/>
            <a:ext cx="213345" cy="213345"/>
          </a:xfrm>
          <a:prstGeom prst="rect">
            <a:avLst/>
          </a:prstGeom>
        </p:spPr>
      </p:pic>
      <p:sp>
        <p:nvSpPr>
          <p:cNvPr id="63" name="Signe Plus 62">
            <a:extLst>
              <a:ext uri="{FF2B5EF4-FFF2-40B4-BE49-F238E27FC236}">
                <a16:creationId xmlns:a16="http://schemas.microsoft.com/office/drawing/2014/main" id="{FFC75FDF-1866-F33A-9273-227C8A7E8F19}"/>
              </a:ext>
            </a:extLst>
          </p:cNvPr>
          <p:cNvSpPr/>
          <p:nvPr/>
        </p:nvSpPr>
        <p:spPr>
          <a:xfrm>
            <a:off x="2322312" y="4889989"/>
            <a:ext cx="364119" cy="364119"/>
          </a:xfrm>
          <a:prstGeom prst="mathPlus">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ZoneTexte 63">
            <a:extLst>
              <a:ext uri="{FF2B5EF4-FFF2-40B4-BE49-F238E27FC236}">
                <a16:creationId xmlns:a16="http://schemas.microsoft.com/office/drawing/2014/main" id="{2D6B9E1A-9466-3533-A640-418165ADC70B}"/>
              </a:ext>
            </a:extLst>
          </p:cNvPr>
          <p:cNvSpPr txBox="1"/>
          <p:nvPr/>
        </p:nvSpPr>
        <p:spPr>
          <a:xfrm>
            <a:off x="2578052" y="4714720"/>
            <a:ext cx="464463" cy="707886"/>
          </a:xfrm>
          <a:prstGeom prst="rect">
            <a:avLst/>
          </a:prstGeom>
          <a:noFill/>
        </p:spPr>
        <p:txBody>
          <a:bodyPr wrap="square">
            <a:spAutoFit/>
          </a:bodyPr>
          <a:lstStyle/>
          <a:p>
            <a:r>
              <a:rPr lang="el-GR" sz="4000" dirty="0"/>
              <a:t>Σ</a:t>
            </a:r>
            <a:endParaRPr lang="fr-FR" sz="4000" dirty="0"/>
          </a:p>
        </p:txBody>
      </p:sp>
      <p:sp>
        <p:nvSpPr>
          <p:cNvPr id="65" name="ZoneTexte 64">
            <a:extLst>
              <a:ext uri="{FF2B5EF4-FFF2-40B4-BE49-F238E27FC236}">
                <a16:creationId xmlns:a16="http://schemas.microsoft.com/office/drawing/2014/main" id="{623B40B8-A50C-6E17-E61A-99679FDC5149}"/>
              </a:ext>
            </a:extLst>
          </p:cNvPr>
          <p:cNvSpPr txBox="1"/>
          <p:nvPr/>
        </p:nvSpPr>
        <p:spPr>
          <a:xfrm>
            <a:off x="1535542" y="4721201"/>
            <a:ext cx="464463" cy="707886"/>
          </a:xfrm>
          <a:prstGeom prst="rect">
            <a:avLst/>
          </a:prstGeom>
          <a:noFill/>
        </p:spPr>
        <p:txBody>
          <a:bodyPr wrap="square">
            <a:spAutoFit/>
          </a:bodyPr>
          <a:lstStyle/>
          <a:p>
            <a:r>
              <a:rPr lang="el-GR" sz="4000" dirty="0"/>
              <a:t>Σ</a:t>
            </a:r>
            <a:endParaRPr lang="fr-FR" sz="4000" dirty="0"/>
          </a:p>
        </p:txBody>
      </p:sp>
      <p:sp>
        <p:nvSpPr>
          <p:cNvPr id="66" name="Rectangle 65">
            <a:extLst>
              <a:ext uri="{FF2B5EF4-FFF2-40B4-BE49-F238E27FC236}">
                <a16:creationId xmlns:a16="http://schemas.microsoft.com/office/drawing/2014/main" id="{023F25B8-C554-C792-39D3-DA9D987DEAEF}"/>
              </a:ext>
            </a:extLst>
          </p:cNvPr>
          <p:cNvSpPr/>
          <p:nvPr/>
        </p:nvSpPr>
        <p:spPr>
          <a:xfrm>
            <a:off x="2918928" y="4916226"/>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67" name="Rectangle 66">
            <a:extLst>
              <a:ext uri="{FF2B5EF4-FFF2-40B4-BE49-F238E27FC236}">
                <a16:creationId xmlns:a16="http://schemas.microsoft.com/office/drawing/2014/main" id="{B34F483C-C517-8E23-F072-42092D3F1134}"/>
              </a:ext>
            </a:extLst>
          </p:cNvPr>
          <p:cNvSpPr/>
          <p:nvPr/>
        </p:nvSpPr>
        <p:spPr>
          <a:xfrm>
            <a:off x="1874316" y="4933105"/>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68" name="Connecteur droit 67">
            <a:extLst>
              <a:ext uri="{FF2B5EF4-FFF2-40B4-BE49-F238E27FC236}">
                <a16:creationId xmlns:a16="http://schemas.microsoft.com/office/drawing/2014/main" id="{93DFC27A-8402-2359-2ED8-A958D78AB8F3}"/>
              </a:ext>
            </a:extLst>
          </p:cNvPr>
          <p:cNvCxnSpPr>
            <a:cxnSpLocks/>
          </p:cNvCxnSpPr>
          <p:nvPr/>
        </p:nvCxnSpPr>
        <p:spPr>
          <a:xfrm flipH="1">
            <a:off x="1620513" y="5464502"/>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69" name="ZoneTexte 68">
            <a:extLst>
              <a:ext uri="{FF2B5EF4-FFF2-40B4-BE49-F238E27FC236}">
                <a16:creationId xmlns:a16="http://schemas.microsoft.com/office/drawing/2014/main" id="{7444943B-D0C0-C423-F68F-1BD8E0C28A57}"/>
              </a:ext>
            </a:extLst>
          </p:cNvPr>
          <p:cNvSpPr txBox="1"/>
          <p:nvPr/>
        </p:nvSpPr>
        <p:spPr>
          <a:xfrm>
            <a:off x="2013888" y="5428429"/>
            <a:ext cx="464463" cy="707886"/>
          </a:xfrm>
          <a:prstGeom prst="rect">
            <a:avLst/>
          </a:prstGeom>
          <a:noFill/>
        </p:spPr>
        <p:txBody>
          <a:bodyPr wrap="square">
            <a:spAutoFit/>
          </a:bodyPr>
          <a:lstStyle/>
          <a:p>
            <a:r>
              <a:rPr lang="el-GR" sz="4000" dirty="0"/>
              <a:t>Σ</a:t>
            </a:r>
            <a:endParaRPr lang="fr-FR" sz="4000" dirty="0"/>
          </a:p>
        </p:txBody>
      </p:sp>
      <p:sp>
        <p:nvSpPr>
          <p:cNvPr id="70" name="Rectangle 69">
            <a:extLst>
              <a:ext uri="{FF2B5EF4-FFF2-40B4-BE49-F238E27FC236}">
                <a16:creationId xmlns:a16="http://schemas.microsoft.com/office/drawing/2014/main" id="{EAE4320A-9EB2-19F6-29BF-2AA7B8035436}"/>
              </a:ext>
            </a:extLst>
          </p:cNvPr>
          <p:cNvSpPr/>
          <p:nvPr/>
        </p:nvSpPr>
        <p:spPr>
          <a:xfrm>
            <a:off x="2352662" y="5640333"/>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71" name="Espace réservé du contenu 2">
            <a:extLst>
              <a:ext uri="{FF2B5EF4-FFF2-40B4-BE49-F238E27FC236}">
                <a16:creationId xmlns:a16="http://schemas.microsoft.com/office/drawing/2014/main" id="{089D10D6-4562-9DE7-B81D-5AA93499FF88}"/>
              </a:ext>
            </a:extLst>
          </p:cNvPr>
          <p:cNvSpPr txBox="1">
            <a:spLocks/>
          </p:cNvSpPr>
          <p:nvPr/>
        </p:nvSpPr>
        <p:spPr>
          <a:xfrm>
            <a:off x="5278478" y="1081085"/>
            <a:ext cx="5411692" cy="1633537"/>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élevé (proche de 1)</a:t>
            </a:r>
          </a:p>
          <a:p>
            <a:pPr marL="0" indent="0">
              <a:buNone/>
            </a:pPr>
            <a:r>
              <a:rPr lang="fr-FR" sz="1400" dirty="0"/>
              <a:t>Cela peut être signe de : Une forte pression sur la phase d’arrivée de chaque sujet, une clarté sur les buts et ambition de la Communauté, une rigidité sur le traitement des sujets dans la Communauté.</a:t>
            </a:r>
          </a:p>
          <a:p>
            <a:pPr marL="0" indent="0">
              <a:buNone/>
            </a:pPr>
            <a:r>
              <a:rPr lang="fr-FR" sz="1400" dirty="0"/>
              <a:t>On peut alors choisir de : Garder son cap, ou réduire </a:t>
            </a:r>
            <a:r>
              <a:rPr lang="fr-FR" sz="1400"/>
              <a:t>si pertinent </a:t>
            </a:r>
            <a:r>
              <a:rPr lang="fr-FR" sz="1400" dirty="0"/>
              <a:t>le nombre de sujets avec objectifs pour les passer en « aussi loin qu’on peut »</a:t>
            </a:r>
          </a:p>
          <a:p>
            <a:pPr marL="0" indent="0">
              <a:buNone/>
            </a:pPr>
            <a:endParaRPr lang="fr-FR" sz="1800" b="1" dirty="0"/>
          </a:p>
        </p:txBody>
      </p:sp>
      <p:sp>
        <p:nvSpPr>
          <p:cNvPr id="72" name="Espace réservé du contenu 2">
            <a:extLst>
              <a:ext uri="{FF2B5EF4-FFF2-40B4-BE49-F238E27FC236}">
                <a16:creationId xmlns:a16="http://schemas.microsoft.com/office/drawing/2014/main" id="{17C201C0-C5FE-7AB4-1388-B45E1AF12E2C}"/>
              </a:ext>
            </a:extLst>
          </p:cNvPr>
          <p:cNvSpPr txBox="1">
            <a:spLocks/>
          </p:cNvSpPr>
          <p:nvPr/>
        </p:nvSpPr>
        <p:spPr>
          <a:xfrm>
            <a:off x="5278478" y="2924172"/>
            <a:ext cx="5411692" cy="1633537"/>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bas</a:t>
            </a:r>
          </a:p>
          <a:p>
            <a:pPr marL="0" indent="0">
              <a:buNone/>
            </a:pPr>
            <a:r>
              <a:rPr lang="fr-FR" sz="1400" dirty="0"/>
              <a:t>Cela peut être signe de : Pas de pression sur les objectifs de la Communauté. Peu d’intention préalable en termes d’accomplissements, approche plus opportuniste ou exploratoire des sujets et des activités. </a:t>
            </a:r>
          </a:p>
          <a:p>
            <a:pPr marL="0" indent="0">
              <a:buNone/>
            </a:pPr>
            <a:r>
              <a:rPr lang="fr-FR" sz="1400" dirty="0"/>
              <a:t>On peut alors choisir de : Se donner des objectifs avec CCC-Goals. Garder son cap exploratoire</a:t>
            </a:r>
          </a:p>
        </p:txBody>
      </p:sp>
      <p:sp>
        <p:nvSpPr>
          <p:cNvPr id="73" name="Espace réservé du contenu 2">
            <a:extLst>
              <a:ext uri="{FF2B5EF4-FFF2-40B4-BE49-F238E27FC236}">
                <a16:creationId xmlns:a16="http://schemas.microsoft.com/office/drawing/2014/main" id="{4B9F8F82-1ED7-B50E-402C-BAF556DD4E21}"/>
              </a:ext>
            </a:extLst>
          </p:cNvPr>
          <p:cNvSpPr txBox="1">
            <a:spLocks/>
          </p:cNvSpPr>
          <p:nvPr/>
        </p:nvSpPr>
        <p:spPr>
          <a:xfrm>
            <a:off x="5278478" y="4762496"/>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marL="0" indent="0">
              <a:buNone/>
            </a:pPr>
            <a:r>
              <a:rPr lang="fr-FR" sz="1400" dirty="0"/>
              <a:t>Pour chaque membre, identifier la proportion de sujets sur lesquels cette personne s’est donnée un but. </a:t>
            </a:r>
          </a:p>
          <a:p>
            <a:pPr marL="0" indent="0">
              <a:buNone/>
            </a:pPr>
            <a:r>
              <a:rPr lang="fr-FR" sz="1400" dirty="0"/>
              <a:t>Equilibrer les sujets sur lesquels la Communauté s’est définie un but (par exemple, pour rester cohérent avec les investissements de l’entreprise), et les sujets exploratoires sans but particulier.</a:t>
            </a:r>
          </a:p>
          <a:p>
            <a:pPr marL="0" indent="0">
              <a:buNone/>
            </a:pPr>
            <a:endParaRPr lang="fr-FR" sz="1400" dirty="0"/>
          </a:p>
          <a:p>
            <a:pPr marL="0" indent="0">
              <a:buNone/>
            </a:pPr>
            <a:endParaRPr lang="fr-FR" sz="1400" dirty="0"/>
          </a:p>
          <a:p>
            <a:pPr marL="0" indent="0">
              <a:buNone/>
            </a:pPr>
            <a:endParaRPr lang="fr-FR" sz="1800" b="1" dirty="0"/>
          </a:p>
          <a:p>
            <a:pPr marL="0" indent="0">
              <a:buNone/>
            </a:pPr>
            <a:endParaRPr lang="fr-FR" sz="1800" b="1" dirty="0"/>
          </a:p>
        </p:txBody>
      </p:sp>
    </p:spTree>
    <p:extLst>
      <p:ext uri="{BB962C8B-B14F-4D97-AF65-F5344CB8AC3E}">
        <p14:creationId xmlns:p14="http://schemas.microsoft.com/office/powerpoint/2010/main" val="296171754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6074806" cy="1325563"/>
          </a:xfrm>
        </p:spPr>
        <p:txBody>
          <a:bodyPr>
            <a:noAutofit/>
          </a:bodyPr>
          <a:lstStyle/>
          <a:p>
            <a:r>
              <a:rPr lang="fr-FR" sz="2800" b="1" dirty="0"/>
              <a:t>Indicateur : </a:t>
            </a:r>
            <a:br>
              <a:rPr lang="fr-FR" sz="2800" b="1" dirty="0"/>
            </a:br>
            <a:r>
              <a:rPr lang="fr-FR" sz="2800" dirty="0"/>
              <a:t>Proportion de sujets qui ont atteint leurs objectifs de phase</a:t>
            </a:r>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endParaRPr lang="fr-FR" sz="1400" b="1" dirty="0"/>
          </a:p>
          <a:p>
            <a:pPr marL="0" indent="0">
              <a:buNone/>
            </a:pPr>
            <a:r>
              <a:rPr lang="fr-FR" sz="1400" dirty="0"/>
              <a:t>Avoir identifié les sujets de la communauté </a:t>
            </a:r>
          </a:p>
          <a:p>
            <a:pPr marL="0" indent="0">
              <a:buNone/>
            </a:pPr>
            <a:endParaRPr lang="fr-FR" sz="1400" dirty="0"/>
          </a:p>
          <a:p>
            <a:pPr marL="0" indent="0">
              <a:buNone/>
            </a:pPr>
            <a:r>
              <a:rPr lang="fr-FR" sz="1400" dirty="0"/>
              <a:t>Avoir identifié les objectifs de phase des différents sujets avec CCC-Goals </a:t>
            </a:r>
          </a:p>
          <a:p>
            <a:pPr marL="0" indent="0">
              <a:buNone/>
            </a:pPr>
            <a:endParaRPr lang="fr-FR" sz="1400" dirty="0"/>
          </a:p>
          <a:p>
            <a:pPr marL="0" indent="0">
              <a:buNone/>
            </a:pPr>
            <a:r>
              <a:rPr lang="fr-FR" sz="1400" dirty="0"/>
              <a:t>Avoir identifié les statuts des tickets avec CCC-Flow</a:t>
            </a:r>
          </a:p>
          <a:p>
            <a:pPr marL="0" indent="0">
              <a:buNone/>
            </a:pPr>
            <a:endParaRPr lang="fr-FR" sz="1400" dirty="0"/>
          </a:p>
          <a:p>
            <a:pPr marL="0" indent="0">
              <a:buNone/>
            </a:pPr>
            <a:endParaRPr lang="fr-FR" sz="1400" dirty="0"/>
          </a:p>
          <a:p>
            <a:pPr marL="0" indent="0">
              <a:buNone/>
            </a:pPr>
            <a:endParaRPr lang="fr-FR" sz="1800" b="1" dirty="0"/>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Le but de cet indicateur est de savoir globalement « » en termes de phases de CCC.</a:t>
            </a:r>
          </a:p>
          <a:p>
            <a:pPr marL="0" indent="0">
              <a:buNone/>
            </a:pPr>
            <a:r>
              <a:rPr lang="fr-FR" sz="1400" dirty="0"/>
              <a:t>On mesure cet indicateur en comptant divisant le nombre de sujets qui sont terminés (au sens CCC-Goals) avec le nombre total de sujets qui ont été abordés par la communauté.</a:t>
            </a:r>
          </a:p>
          <a:p>
            <a:pPr marL="0" indent="0">
              <a:buNone/>
            </a:pPr>
            <a:r>
              <a:rPr lang="fr-FR" sz="1400" dirty="0"/>
              <a:t>Les sujets « on avance autant que possible » (c’est à dire sans phase cible </a:t>
            </a:r>
            <a:r>
              <a:rPr lang="fr-FR" sz="1400" dirty="0" err="1"/>
              <a:t>pré-établie</a:t>
            </a:r>
            <a:r>
              <a:rPr lang="fr-FR" sz="1400" dirty="0"/>
              <a:t>) ne sont pas comptabilisés.</a:t>
            </a:r>
          </a:p>
          <a:p>
            <a:pPr marL="0" indent="0">
              <a:buNone/>
            </a:pPr>
            <a:r>
              <a:rPr lang="fr-FR" sz="1400" dirty="0"/>
              <a:t>Indirectement, on mesure aussi l’en-cours (nombre de sujets engagés non terminés).</a:t>
            </a:r>
          </a:p>
          <a:p>
            <a:pPr marL="0" indent="0">
              <a:buNone/>
            </a:pPr>
            <a:r>
              <a:rPr lang="fr-FR" sz="1400" dirty="0"/>
              <a:t>Cet indicateur perd de sa signification quand un grand nombre de tickets a été terminé par le passé. On peut choisir d’appliquer la mesure uniquement à des tickets dans une période de temps (par exemple, dans l’année)</a:t>
            </a:r>
          </a:p>
          <a:p>
            <a:pPr marL="0" indent="0">
              <a:buNone/>
            </a:pPr>
            <a:endParaRPr lang="fr-FR" sz="1400" dirty="0"/>
          </a:p>
          <a:p>
            <a:pPr marL="0" indent="0">
              <a:buNone/>
            </a:pPr>
            <a:endParaRPr lang="fr-FR" sz="1400" dirty="0"/>
          </a:p>
        </p:txBody>
      </p:sp>
      <p:grpSp>
        <p:nvGrpSpPr>
          <p:cNvPr id="6" name="Groupe 5">
            <a:extLst>
              <a:ext uri="{FF2B5EF4-FFF2-40B4-BE49-F238E27FC236}">
                <a16:creationId xmlns:a16="http://schemas.microsoft.com/office/drawing/2014/main" id="{1BF44FE3-5DEA-E7C2-574B-DA5153AAD1C4}"/>
              </a:ext>
            </a:extLst>
          </p:cNvPr>
          <p:cNvGrpSpPr/>
          <p:nvPr/>
        </p:nvGrpSpPr>
        <p:grpSpPr>
          <a:xfrm>
            <a:off x="1004899" y="2075168"/>
            <a:ext cx="4013145" cy="458111"/>
            <a:chOff x="11600" y="1496380"/>
            <a:chExt cx="12038120" cy="1498765"/>
          </a:xfrm>
        </p:grpSpPr>
        <p:grpSp>
          <p:nvGrpSpPr>
            <p:cNvPr id="60" name="Groupe 59">
              <a:extLst>
                <a:ext uri="{FF2B5EF4-FFF2-40B4-BE49-F238E27FC236}">
                  <a16:creationId xmlns:a16="http://schemas.microsoft.com/office/drawing/2014/main" id="{E68483BE-3531-9CA2-4F6D-D1D766FAE4DF}"/>
                </a:ext>
              </a:extLst>
            </p:cNvPr>
            <p:cNvGrpSpPr/>
            <p:nvPr/>
          </p:nvGrpSpPr>
          <p:grpSpPr>
            <a:xfrm>
              <a:off x="11600" y="2499558"/>
              <a:ext cx="12038120" cy="495587"/>
              <a:chOff x="0" y="2140394"/>
              <a:chExt cx="12854128" cy="4544491"/>
            </a:xfrm>
          </p:grpSpPr>
          <p:sp>
            <p:nvSpPr>
              <p:cNvPr id="68" name="Espace réservé du texte 15">
                <a:extLst>
                  <a:ext uri="{FF2B5EF4-FFF2-40B4-BE49-F238E27FC236}">
                    <a16:creationId xmlns:a16="http://schemas.microsoft.com/office/drawing/2014/main" id="{7F46281B-BB0B-E053-60C6-0E9F37DD9A9F}"/>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69" name="Espace réservé du texte 15">
                <a:extLst>
                  <a:ext uri="{FF2B5EF4-FFF2-40B4-BE49-F238E27FC236}">
                    <a16:creationId xmlns:a16="http://schemas.microsoft.com/office/drawing/2014/main" id="{6EDC949A-1451-7197-425B-72653F5F021D}"/>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70" name="Espace réservé du texte 15">
                <a:extLst>
                  <a:ext uri="{FF2B5EF4-FFF2-40B4-BE49-F238E27FC236}">
                    <a16:creationId xmlns:a16="http://schemas.microsoft.com/office/drawing/2014/main" id="{5962DA8B-40E7-8097-9E3A-230528001657}"/>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71" name="Espace réservé du texte 15">
                <a:extLst>
                  <a:ext uri="{FF2B5EF4-FFF2-40B4-BE49-F238E27FC236}">
                    <a16:creationId xmlns:a16="http://schemas.microsoft.com/office/drawing/2014/main" id="{74E60E0D-1F11-9B0F-B5FE-B605FA3AD2E6}"/>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72" name="Espace réservé du texte 15">
                <a:extLst>
                  <a:ext uri="{FF2B5EF4-FFF2-40B4-BE49-F238E27FC236}">
                    <a16:creationId xmlns:a16="http://schemas.microsoft.com/office/drawing/2014/main" id="{42BA4AF9-9A34-BF6C-7CC0-646FE7FB5959}"/>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73" name="Espace réservé du texte 15">
                <a:extLst>
                  <a:ext uri="{FF2B5EF4-FFF2-40B4-BE49-F238E27FC236}">
                    <a16:creationId xmlns:a16="http://schemas.microsoft.com/office/drawing/2014/main" id="{FDD8E2C1-09F6-B7D2-CC12-5304BA8A9922}"/>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74" name="Espace réservé du texte 15">
                <a:extLst>
                  <a:ext uri="{FF2B5EF4-FFF2-40B4-BE49-F238E27FC236}">
                    <a16:creationId xmlns:a16="http://schemas.microsoft.com/office/drawing/2014/main" id="{DD6F484E-BB35-7CE8-F809-B7D5F0A13E5C}"/>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61" name="Graphique 60" descr="Ampoule avec un remplissage uni">
              <a:extLst>
                <a:ext uri="{FF2B5EF4-FFF2-40B4-BE49-F238E27FC236}">
                  <a16:creationId xmlns:a16="http://schemas.microsoft.com/office/drawing/2014/main" id="{B3D7DDB2-9375-2AC1-FA2F-09E62DEABF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62" name="Graphique 61" descr="Seau et pelle avec un remplissage uni">
              <a:extLst>
                <a:ext uri="{FF2B5EF4-FFF2-40B4-BE49-F238E27FC236}">
                  <a16:creationId xmlns:a16="http://schemas.microsoft.com/office/drawing/2014/main" id="{C835C171-A400-71B8-EFA3-96E8909A2A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63" name="Graphique 62" descr="Tubes à essai avec un remplissage uni">
              <a:extLst>
                <a:ext uri="{FF2B5EF4-FFF2-40B4-BE49-F238E27FC236}">
                  <a16:creationId xmlns:a16="http://schemas.microsoft.com/office/drawing/2014/main" id="{494D14A7-05C6-D082-5286-EE83CC07F0A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64" name="Graphique 63" descr="Explosion avec un remplissage uni">
              <a:extLst>
                <a:ext uri="{FF2B5EF4-FFF2-40B4-BE49-F238E27FC236}">
                  <a16:creationId xmlns:a16="http://schemas.microsoft.com/office/drawing/2014/main" id="{6C642C0E-A5F3-1058-AD1F-0E8F635C774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65" name="Graphique 64" descr="Trophée avec un remplissage uni">
              <a:extLst>
                <a:ext uri="{FF2B5EF4-FFF2-40B4-BE49-F238E27FC236}">
                  <a16:creationId xmlns:a16="http://schemas.microsoft.com/office/drawing/2014/main" id="{63FA18B8-CC88-F495-EED5-0094A0D6128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66" name="Graphique 65" descr="Assiette couverte avec un remplissage uni">
              <a:extLst>
                <a:ext uri="{FF2B5EF4-FFF2-40B4-BE49-F238E27FC236}">
                  <a16:creationId xmlns:a16="http://schemas.microsoft.com/office/drawing/2014/main" id="{1F74D368-B443-3DE7-28A9-9353FA974FB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67" name="Graphique 66" descr="Scène de château avec un remplissage uni">
              <a:extLst>
                <a:ext uri="{FF2B5EF4-FFF2-40B4-BE49-F238E27FC236}">
                  <a16:creationId xmlns:a16="http://schemas.microsoft.com/office/drawing/2014/main" id="{D7E5E064-DAB1-1002-75ED-DA95ABBAF97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8" name="Groupe 7">
            <a:extLst>
              <a:ext uri="{FF2B5EF4-FFF2-40B4-BE49-F238E27FC236}">
                <a16:creationId xmlns:a16="http://schemas.microsoft.com/office/drawing/2014/main" id="{6168B20A-6F23-3F86-1220-EACCDDD8AE61}"/>
              </a:ext>
            </a:extLst>
          </p:cNvPr>
          <p:cNvGrpSpPr/>
          <p:nvPr/>
        </p:nvGrpSpPr>
        <p:grpSpPr>
          <a:xfrm>
            <a:off x="791077" y="2799355"/>
            <a:ext cx="1894821" cy="181741"/>
            <a:chOff x="3099062" y="3394846"/>
            <a:chExt cx="4016859" cy="385275"/>
          </a:xfrm>
        </p:grpSpPr>
        <p:sp>
          <p:nvSpPr>
            <p:cNvPr id="57" name="Rectangle 56">
              <a:extLst>
                <a:ext uri="{FF2B5EF4-FFF2-40B4-BE49-F238E27FC236}">
                  <a16:creationId xmlns:a16="http://schemas.microsoft.com/office/drawing/2014/main" id="{7E7DC007-C881-3F94-C5E4-8869A60F8F4E}"/>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8" name="Connecteur droit avec flèche 57">
              <a:extLst>
                <a:ext uri="{FF2B5EF4-FFF2-40B4-BE49-F238E27FC236}">
                  <a16:creationId xmlns:a16="http://schemas.microsoft.com/office/drawing/2014/main" id="{013DBF12-DEBC-25E5-A2A2-F82D1B8BA9E0}"/>
                </a:ext>
              </a:extLst>
            </p:cNvPr>
            <p:cNvCxnSpPr>
              <a:cxnSpLocks/>
              <a:stCxn id="57" idx="3"/>
              <a:endCxn id="59"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9" name="Graphique 58" descr="Mille avec un remplissage uni">
              <a:extLst>
                <a:ext uri="{FF2B5EF4-FFF2-40B4-BE49-F238E27FC236}">
                  <a16:creationId xmlns:a16="http://schemas.microsoft.com/office/drawing/2014/main" id="{6E7A8D1E-371A-388E-BC2E-F21AFA3D65E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sp>
          <p:nvSpPr>
            <p:cNvPr id="80" name="Rectangle 79">
              <a:extLst>
                <a:ext uri="{FF2B5EF4-FFF2-40B4-BE49-F238E27FC236}">
                  <a16:creationId xmlns:a16="http://schemas.microsoft.com/office/drawing/2014/main" id="{3C745A13-8A7A-C7A1-354F-82000179D8F9}"/>
                </a:ext>
              </a:extLst>
            </p:cNvPr>
            <p:cNvSpPr/>
            <p:nvPr/>
          </p:nvSpPr>
          <p:spPr>
            <a:xfrm>
              <a:off x="6183629" y="340845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9" name="Groupe 8">
            <a:extLst>
              <a:ext uri="{FF2B5EF4-FFF2-40B4-BE49-F238E27FC236}">
                <a16:creationId xmlns:a16="http://schemas.microsoft.com/office/drawing/2014/main" id="{4643A4B2-68B0-125F-A652-5D295D61A17E}"/>
              </a:ext>
            </a:extLst>
          </p:cNvPr>
          <p:cNvGrpSpPr/>
          <p:nvPr/>
        </p:nvGrpSpPr>
        <p:grpSpPr>
          <a:xfrm>
            <a:off x="791076" y="3011948"/>
            <a:ext cx="3469706" cy="181741"/>
            <a:chOff x="3099061" y="3796432"/>
            <a:chExt cx="7355485" cy="385275"/>
          </a:xfrm>
        </p:grpSpPr>
        <p:sp>
          <p:nvSpPr>
            <p:cNvPr id="54" name="Rectangle 53">
              <a:extLst>
                <a:ext uri="{FF2B5EF4-FFF2-40B4-BE49-F238E27FC236}">
                  <a16:creationId xmlns:a16="http://schemas.microsoft.com/office/drawing/2014/main" id="{FB0BB1EC-822F-DD13-BD83-4C83D8B7718B}"/>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5" name="Connecteur droit avec flèche 54">
              <a:extLst>
                <a:ext uri="{FF2B5EF4-FFF2-40B4-BE49-F238E27FC236}">
                  <a16:creationId xmlns:a16="http://schemas.microsoft.com/office/drawing/2014/main" id="{73B42778-CC87-F513-2EF9-B903E1CC136A}"/>
                </a:ext>
              </a:extLst>
            </p:cNvPr>
            <p:cNvCxnSpPr>
              <a:cxnSpLocks/>
              <a:stCxn id="54" idx="3"/>
              <a:endCxn id="56"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6" name="Graphique 55" descr="Mille avec un remplissage uni">
              <a:extLst>
                <a:ext uri="{FF2B5EF4-FFF2-40B4-BE49-F238E27FC236}">
                  <a16:creationId xmlns:a16="http://schemas.microsoft.com/office/drawing/2014/main" id="{0B24E34A-B988-7B55-F9A4-146AA57BBC1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sp>
          <p:nvSpPr>
            <p:cNvPr id="82" name="Rectangle 81">
              <a:extLst>
                <a:ext uri="{FF2B5EF4-FFF2-40B4-BE49-F238E27FC236}">
                  <a16:creationId xmlns:a16="http://schemas.microsoft.com/office/drawing/2014/main" id="{B30F002F-B2D0-414B-C42E-921A07F34695}"/>
                </a:ext>
              </a:extLst>
            </p:cNvPr>
            <p:cNvSpPr/>
            <p:nvPr/>
          </p:nvSpPr>
          <p:spPr>
            <a:xfrm>
              <a:off x="6183632" y="3839301"/>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3" name="Groupe 22">
            <a:extLst>
              <a:ext uri="{FF2B5EF4-FFF2-40B4-BE49-F238E27FC236}">
                <a16:creationId xmlns:a16="http://schemas.microsoft.com/office/drawing/2014/main" id="{5D256D02-99E0-7683-AD3A-F1B88B4164D0}"/>
              </a:ext>
            </a:extLst>
          </p:cNvPr>
          <p:cNvGrpSpPr/>
          <p:nvPr/>
        </p:nvGrpSpPr>
        <p:grpSpPr>
          <a:xfrm>
            <a:off x="789930" y="3640101"/>
            <a:ext cx="1180962" cy="181741"/>
            <a:chOff x="3096631" y="5085827"/>
            <a:chExt cx="2503539" cy="385275"/>
          </a:xfrm>
        </p:grpSpPr>
        <p:sp>
          <p:nvSpPr>
            <p:cNvPr id="51" name="Rectangle 50">
              <a:extLst>
                <a:ext uri="{FF2B5EF4-FFF2-40B4-BE49-F238E27FC236}">
                  <a16:creationId xmlns:a16="http://schemas.microsoft.com/office/drawing/2014/main" id="{6CFF01C0-5003-B95A-406D-CD3C8949EE5A}"/>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2" name="Connecteur droit avec flèche 51">
              <a:extLst>
                <a:ext uri="{FF2B5EF4-FFF2-40B4-BE49-F238E27FC236}">
                  <a16:creationId xmlns:a16="http://schemas.microsoft.com/office/drawing/2014/main" id="{4E962313-09C0-5099-82E8-043347838325}"/>
                </a:ext>
              </a:extLst>
            </p:cNvPr>
            <p:cNvCxnSpPr>
              <a:cxnSpLocks/>
              <a:stCxn id="51" idx="3"/>
              <a:endCxn id="53"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3" name="Graphique 52" descr="Mille avec un remplissage uni">
              <a:extLst>
                <a:ext uri="{FF2B5EF4-FFF2-40B4-BE49-F238E27FC236}">
                  <a16:creationId xmlns:a16="http://schemas.microsoft.com/office/drawing/2014/main" id="{A2ACBE47-4A0D-98C9-E88A-176D9AFB7EC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24" name="Groupe 23">
            <a:extLst>
              <a:ext uri="{FF2B5EF4-FFF2-40B4-BE49-F238E27FC236}">
                <a16:creationId xmlns:a16="http://schemas.microsoft.com/office/drawing/2014/main" id="{94A8C841-C5DE-2082-2C4E-28F3DF4C3B37}"/>
              </a:ext>
            </a:extLst>
          </p:cNvPr>
          <p:cNvGrpSpPr/>
          <p:nvPr/>
        </p:nvGrpSpPr>
        <p:grpSpPr>
          <a:xfrm>
            <a:off x="789930" y="3432549"/>
            <a:ext cx="3007308" cy="181741"/>
            <a:chOff x="3096631" y="4622114"/>
            <a:chExt cx="6375239" cy="385275"/>
          </a:xfrm>
        </p:grpSpPr>
        <p:sp>
          <p:nvSpPr>
            <p:cNvPr id="48" name="Rectangle 47">
              <a:extLst>
                <a:ext uri="{FF2B5EF4-FFF2-40B4-BE49-F238E27FC236}">
                  <a16:creationId xmlns:a16="http://schemas.microsoft.com/office/drawing/2014/main" id="{B3775085-5300-8A49-40E5-0244FA19E98B}"/>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9" name="Connecteur droit avec flèche 48">
              <a:extLst>
                <a:ext uri="{FF2B5EF4-FFF2-40B4-BE49-F238E27FC236}">
                  <a16:creationId xmlns:a16="http://schemas.microsoft.com/office/drawing/2014/main" id="{95EA854C-A3B7-48FD-EC18-D31EE497796B}"/>
                </a:ext>
              </a:extLst>
            </p:cNvPr>
            <p:cNvCxnSpPr>
              <a:cxnSpLocks/>
              <a:stCxn id="48" idx="3"/>
              <a:endCxn id="50"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0" name="Graphique 49" descr="Mille avec un remplissage uni">
              <a:extLst>
                <a:ext uri="{FF2B5EF4-FFF2-40B4-BE49-F238E27FC236}">
                  <a16:creationId xmlns:a16="http://schemas.microsoft.com/office/drawing/2014/main" id="{F2F800B2-95D5-6EA0-E74C-A3D4B726DAE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sp>
          <p:nvSpPr>
            <p:cNvPr id="86" name="Rectangle 85">
              <a:extLst>
                <a:ext uri="{FF2B5EF4-FFF2-40B4-BE49-F238E27FC236}">
                  <a16:creationId xmlns:a16="http://schemas.microsoft.com/office/drawing/2014/main" id="{B4CCFC07-AC34-730F-B3C9-B84ACEA736B2}"/>
                </a:ext>
              </a:extLst>
            </p:cNvPr>
            <p:cNvSpPr/>
            <p:nvPr/>
          </p:nvSpPr>
          <p:spPr>
            <a:xfrm>
              <a:off x="8579850" y="465970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5" name="Groupe 24">
            <a:extLst>
              <a:ext uri="{FF2B5EF4-FFF2-40B4-BE49-F238E27FC236}">
                <a16:creationId xmlns:a16="http://schemas.microsoft.com/office/drawing/2014/main" id="{66FB3E15-3051-C1BA-BB07-E14C7CBA712C}"/>
              </a:ext>
            </a:extLst>
          </p:cNvPr>
          <p:cNvGrpSpPr/>
          <p:nvPr/>
        </p:nvGrpSpPr>
        <p:grpSpPr>
          <a:xfrm>
            <a:off x="789930" y="3221332"/>
            <a:ext cx="4041245" cy="181741"/>
            <a:chOff x="3096632" y="4195205"/>
            <a:chExt cx="8567098" cy="385275"/>
          </a:xfrm>
        </p:grpSpPr>
        <p:sp>
          <p:nvSpPr>
            <p:cNvPr id="45" name="Rectangle 44">
              <a:extLst>
                <a:ext uri="{FF2B5EF4-FFF2-40B4-BE49-F238E27FC236}">
                  <a16:creationId xmlns:a16="http://schemas.microsoft.com/office/drawing/2014/main" id="{83C3E0EC-7341-FF2F-2FB6-09570722437C}"/>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6" name="Connecteur droit avec flèche 45">
              <a:extLst>
                <a:ext uri="{FF2B5EF4-FFF2-40B4-BE49-F238E27FC236}">
                  <a16:creationId xmlns:a16="http://schemas.microsoft.com/office/drawing/2014/main" id="{7AB9798E-631E-44DC-C710-5ADBDA3BAA11}"/>
                </a:ext>
              </a:extLst>
            </p:cNvPr>
            <p:cNvCxnSpPr>
              <a:cxnSpLocks/>
              <a:stCxn id="45" idx="3"/>
              <a:endCxn id="47"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7" name="Graphique 46" descr="Mille avec un remplissage uni">
              <a:extLst>
                <a:ext uri="{FF2B5EF4-FFF2-40B4-BE49-F238E27FC236}">
                  <a16:creationId xmlns:a16="http://schemas.microsoft.com/office/drawing/2014/main" id="{9F36B924-898F-CD16-A14A-B27C8DDADF2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sp>
          <p:nvSpPr>
            <p:cNvPr id="84" name="Rectangle 83">
              <a:extLst>
                <a:ext uri="{FF2B5EF4-FFF2-40B4-BE49-F238E27FC236}">
                  <a16:creationId xmlns:a16="http://schemas.microsoft.com/office/drawing/2014/main" id="{6C1BEF2F-7E7C-C5FD-98F7-0BD89FED11DA}"/>
                </a:ext>
              </a:extLst>
            </p:cNvPr>
            <p:cNvSpPr/>
            <p:nvPr/>
          </p:nvSpPr>
          <p:spPr>
            <a:xfrm>
              <a:off x="10100966" y="423248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7" name="Groupe 26">
            <a:extLst>
              <a:ext uri="{FF2B5EF4-FFF2-40B4-BE49-F238E27FC236}">
                <a16:creationId xmlns:a16="http://schemas.microsoft.com/office/drawing/2014/main" id="{67BD3A5D-3CAD-F3B3-DC9A-958A2DB3241F}"/>
              </a:ext>
            </a:extLst>
          </p:cNvPr>
          <p:cNvGrpSpPr/>
          <p:nvPr/>
        </p:nvGrpSpPr>
        <p:grpSpPr>
          <a:xfrm>
            <a:off x="791077" y="2593179"/>
            <a:ext cx="3006161" cy="181741"/>
            <a:chOff x="3099063" y="2916714"/>
            <a:chExt cx="6372808" cy="385275"/>
          </a:xfrm>
        </p:grpSpPr>
        <p:pic>
          <p:nvPicPr>
            <p:cNvPr id="38" name="Graphique 37" descr="Mille avec un remplissage uni">
              <a:extLst>
                <a:ext uri="{FF2B5EF4-FFF2-40B4-BE49-F238E27FC236}">
                  <a16:creationId xmlns:a16="http://schemas.microsoft.com/office/drawing/2014/main" id="{19D18482-E9EC-8F7C-928A-B5C1CB5E00A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39" name="Rectangle 38">
              <a:extLst>
                <a:ext uri="{FF2B5EF4-FFF2-40B4-BE49-F238E27FC236}">
                  <a16:creationId xmlns:a16="http://schemas.microsoft.com/office/drawing/2014/main" id="{3337475B-6B9B-A4E4-7BF7-816889EA3874}"/>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1" name="Connecteur droit avec flèche 40">
              <a:extLst>
                <a:ext uri="{FF2B5EF4-FFF2-40B4-BE49-F238E27FC236}">
                  <a16:creationId xmlns:a16="http://schemas.microsoft.com/office/drawing/2014/main" id="{A66C3612-0072-665D-5D7B-86880EEE5D4B}"/>
                </a:ext>
              </a:extLst>
            </p:cNvPr>
            <p:cNvCxnSpPr>
              <a:cxnSpLocks/>
              <a:stCxn id="39" idx="3"/>
              <a:endCxn id="38"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8DBB776D-FECA-D8A7-D222-BEAC40BEFF48}"/>
                </a:ext>
              </a:extLst>
            </p:cNvPr>
            <p:cNvSpPr/>
            <p:nvPr/>
          </p:nvSpPr>
          <p:spPr>
            <a:xfrm>
              <a:off x="8569448" y="295808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8" name="Groupe 27">
            <a:extLst>
              <a:ext uri="{FF2B5EF4-FFF2-40B4-BE49-F238E27FC236}">
                <a16:creationId xmlns:a16="http://schemas.microsoft.com/office/drawing/2014/main" id="{ED7E2CF3-4B22-85EE-F0D1-0FADFA031917}"/>
              </a:ext>
            </a:extLst>
          </p:cNvPr>
          <p:cNvGrpSpPr/>
          <p:nvPr/>
        </p:nvGrpSpPr>
        <p:grpSpPr>
          <a:xfrm>
            <a:off x="789930" y="4072324"/>
            <a:ext cx="3859964" cy="152537"/>
            <a:chOff x="3096635" y="5604607"/>
            <a:chExt cx="8182799" cy="323365"/>
          </a:xfrm>
        </p:grpSpPr>
        <p:sp>
          <p:nvSpPr>
            <p:cNvPr id="36" name="Rectangle 35">
              <a:extLst>
                <a:ext uri="{FF2B5EF4-FFF2-40B4-BE49-F238E27FC236}">
                  <a16:creationId xmlns:a16="http://schemas.microsoft.com/office/drawing/2014/main" id="{158DA7A6-4753-F7B1-1513-C33CD0FC58BA}"/>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7" name="Connecteur droit avec flèche 36">
              <a:extLst>
                <a:ext uri="{FF2B5EF4-FFF2-40B4-BE49-F238E27FC236}">
                  <a16:creationId xmlns:a16="http://schemas.microsoft.com/office/drawing/2014/main" id="{9F02ED51-E908-926B-FBB8-BF7FB3A0128B}"/>
                </a:ext>
              </a:extLst>
            </p:cNvPr>
            <p:cNvCxnSpPr>
              <a:cxnSpLocks/>
              <a:stCxn id="36" idx="3"/>
              <a:endCxn id="29"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id="{09CC3328-FC7D-E7AB-4605-1A79DC011F93}"/>
                </a:ext>
              </a:extLst>
            </p:cNvPr>
            <p:cNvSpPr/>
            <p:nvPr/>
          </p:nvSpPr>
          <p:spPr>
            <a:xfrm>
              <a:off x="6197544" y="5604607"/>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pic>
        <p:nvPicPr>
          <p:cNvPr id="29" name="Graphique 28" descr="Point d’interrogation avec un remplissage uni">
            <a:extLst>
              <a:ext uri="{FF2B5EF4-FFF2-40B4-BE49-F238E27FC236}">
                <a16:creationId xmlns:a16="http://schemas.microsoft.com/office/drawing/2014/main" id="{D1ACD88D-9F4B-43CA-578D-357FF454096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30" name="Graphique 29" descr="Point d’interrogation avec un remplissage uni">
            <a:extLst>
              <a:ext uri="{FF2B5EF4-FFF2-40B4-BE49-F238E27FC236}">
                <a16:creationId xmlns:a16="http://schemas.microsoft.com/office/drawing/2014/main" id="{720F00CA-879E-20F1-238C-9345DD45B51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31" name="Graphique 30" descr="Point d’interrogation avec un remplissage uni">
            <a:extLst>
              <a:ext uri="{FF2B5EF4-FFF2-40B4-BE49-F238E27FC236}">
                <a16:creationId xmlns:a16="http://schemas.microsoft.com/office/drawing/2014/main" id="{58943D23-AD5D-C9F8-BFC4-DCD4427FC6CD}"/>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32" name="Graphique 31" descr="Point d’interrogation avec un remplissage uni">
            <a:extLst>
              <a:ext uri="{FF2B5EF4-FFF2-40B4-BE49-F238E27FC236}">
                <a16:creationId xmlns:a16="http://schemas.microsoft.com/office/drawing/2014/main" id="{EA34A11F-A0E9-DAB1-963F-D492947321B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pic>
        <p:nvPicPr>
          <p:cNvPr id="92" name="Graphique 91" descr="Mille avec un remplissage uni">
            <a:extLst>
              <a:ext uri="{FF2B5EF4-FFF2-40B4-BE49-F238E27FC236}">
                <a16:creationId xmlns:a16="http://schemas.microsoft.com/office/drawing/2014/main" id="{F3274CBC-5F36-3A36-2A0C-59EE7D54C5B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178074" y="5113718"/>
            <a:ext cx="225376" cy="225376"/>
          </a:xfrm>
          <a:prstGeom prst="rect">
            <a:avLst/>
          </a:prstGeom>
        </p:spPr>
      </p:pic>
      <p:pic>
        <p:nvPicPr>
          <p:cNvPr id="93" name="Graphique 92" descr="Mille avec un remplissage uni">
            <a:extLst>
              <a:ext uri="{FF2B5EF4-FFF2-40B4-BE49-F238E27FC236}">
                <a16:creationId xmlns:a16="http://schemas.microsoft.com/office/drawing/2014/main" id="{9502F474-EF9D-17A6-F13C-9BDF216ACE46}"/>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613721" y="5834008"/>
            <a:ext cx="217382" cy="217382"/>
          </a:xfrm>
          <a:prstGeom prst="rect">
            <a:avLst/>
          </a:prstGeom>
        </p:spPr>
      </p:pic>
      <p:cxnSp>
        <p:nvCxnSpPr>
          <p:cNvPr id="95" name="Connecteur droit 94">
            <a:extLst>
              <a:ext uri="{FF2B5EF4-FFF2-40B4-BE49-F238E27FC236}">
                <a16:creationId xmlns:a16="http://schemas.microsoft.com/office/drawing/2014/main" id="{0364DD2E-76A5-0CB0-A874-D84C54B4349E}"/>
              </a:ext>
            </a:extLst>
          </p:cNvPr>
          <p:cNvCxnSpPr>
            <a:cxnSpLocks/>
          </p:cNvCxnSpPr>
          <p:nvPr/>
        </p:nvCxnSpPr>
        <p:spPr>
          <a:xfrm flipH="1">
            <a:off x="1121334" y="5473555"/>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98" name="Graphique 97" descr="Mille avec un remplissage uni">
            <a:extLst>
              <a:ext uri="{FF2B5EF4-FFF2-40B4-BE49-F238E27FC236}">
                <a16:creationId xmlns:a16="http://schemas.microsoft.com/office/drawing/2014/main" id="{C51AEC79-C30C-7D4C-7F35-F3DC28300DF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661631" y="5791831"/>
            <a:ext cx="213345" cy="213345"/>
          </a:xfrm>
          <a:prstGeom prst="rect">
            <a:avLst/>
          </a:prstGeom>
        </p:spPr>
      </p:pic>
      <p:sp>
        <p:nvSpPr>
          <p:cNvPr id="99" name="Signe Plus 98">
            <a:extLst>
              <a:ext uri="{FF2B5EF4-FFF2-40B4-BE49-F238E27FC236}">
                <a16:creationId xmlns:a16="http://schemas.microsoft.com/office/drawing/2014/main" id="{904DD6B8-FFA8-1AF2-B95B-FEA8818DA805}"/>
              </a:ext>
            </a:extLst>
          </p:cNvPr>
          <p:cNvSpPr/>
          <p:nvPr/>
        </p:nvSpPr>
        <p:spPr>
          <a:xfrm>
            <a:off x="1800302" y="5585970"/>
            <a:ext cx="364119" cy="364119"/>
          </a:xfrm>
          <a:prstGeom prst="mathPlus">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Est égal à 101">
            <a:extLst>
              <a:ext uri="{FF2B5EF4-FFF2-40B4-BE49-F238E27FC236}">
                <a16:creationId xmlns:a16="http://schemas.microsoft.com/office/drawing/2014/main" id="{322A2A1C-FC6B-BEBA-2B6A-F9561FFBA93E}"/>
              </a:ext>
            </a:extLst>
          </p:cNvPr>
          <p:cNvSpPr/>
          <p:nvPr/>
        </p:nvSpPr>
        <p:spPr>
          <a:xfrm>
            <a:off x="2769870" y="5249787"/>
            <a:ext cx="438667" cy="447536"/>
          </a:xfrm>
          <a:prstGeom prst="mathEqual">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4" name="ZoneTexte 103">
            <a:extLst>
              <a:ext uri="{FF2B5EF4-FFF2-40B4-BE49-F238E27FC236}">
                <a16:creationId xmlns:a16="http://schemas.microsoft.com/office/drawing/2014/main" id="{44F25514-BB7A-D036-8678-7DE85B0ACB51}"/>
              </a:ext>
            </a:extLst>
          </p:cNvPr>
          <p:cNvSpPr txBox="1"/>
          <p:nvPr/>
        </p:nvSpPr>
        <p:spPr>
          <a:xfrm>
            <a:off x="3326878" y="5067181"/>
            <a:ext cx="1091210" cy="707886"/>
          </a:xfrm>
          <a:prstGeom prst="rect">
            <a:avLst/>
          </a:prstGeom>
          <a:noFill/>
        </p:spPr>
        <p:txBody>
          <a:bodyPr wrap="square">
            <a:spAutoFit/>
          </a:bodyPr>
          <a:lstStyle/>
          <a:p>
            <a:pPr marL="0" indent="0">
              <a:buNone/>
            </a:pPr>
            <a:r>
              <a:rPr lang="fr-FR" sz="4000" dirty="0"/>
              <a:t>… %</a:t>
            </a:r>
          </a:p>
        </p:txBody>
      </p:sp>
      <p:sp>
        <p:nvSpPr>
          <p:cNvPr id="106" name="ZoneTexte 105">
            <a:extLst>
              <a:ext uri="{FF2B5EF4-FFF2-40B4-BE49-F238E27FC236}">
                <a16:creationId xmlns:a16="http://schemas.microsoft.com/office/drawing/2014/main" id="{50C62DD1-08E1-5EF7-9DC1-EB14F4B21621}"/>
              </a:ext>
            </a:extLst>
          </p:cNvPr>
          <p:cNvSpPr txBox="1"/>
          <p:nvPr/>
        </p:nvSpPr>
        <p:spPr>
          <a:xfrm>
            <a:off x="1588706" y="4776783"/>
            <a:ext cx="464463" cy="707886"/>
          </a:xfrm>
          <a:prstGeom prst="rect">
            <a:avLst/>
          </a:prstGeom>
          <a:noFill/>
        </p:spPr>
        <p:txBody>
          <a:bodyPr wrap="square">
            <a:spAutoFit/>
          </a:bodyPr>
          <a:lstStyle/>
          <a:p>
            <a:r>
              <a:rPr lang="el-GR" sz="4000" dirty="0"/>
              <a:t>Σ</a:t>
            </a:r>
            <a:endParaRPr lang="fr-FR" sz="4000" dirty="0"/>
          </a:p>
        </p:txBody>
      </p:sp>
      <p:sp>
        <p:nvSpPr>
          <p:cNvPr id="109" name="ZoneTexte 108">
            <a:extLst>
              <a:ext uri="{FF2B5EF4-FFF2-40B4-BE49-F238E27FC236}">
                <a16:creationId xmlns:a16="http://schemas.microsoft.com/office/drawing/2014/main" id="{76B7A6B0-777C-D038-B449-E691E1C18863}"/>
              </a:ext>
            </a:extLst>
          </p:cNvPr>
          <p:cNvSpPr txBox="1"/>
          <p:nvPr/>
        </p:nvSpPr>
        <p:spPr>
          <a:xfrm>
            <a:off x="2056042" y="5410701"/>
            <a:ext cx="464463" cy="707886"/>
          </a:xfrm>
          <a:prstGeom prst="rect">
            <a:avLst/>
          </a:prstGeom>
          <a:noFill/>
        </p:spPr>
        <p:txBody>
          <a:bodyPr wrap="square">
            <a:spAutoFit/>
          </a:bodyPr>
          <a:lstStyle/>
          <a:p>
            <a:r>
              <a:rPr lang="el-GR" sz="4000" dirty="0"/>
              <a:t>Σ</a:t>
            </a:r>
            <a:endParaRPr lang="fr-FR" sz="4000" dirty="0"/>
          </a:p>
        </p:txBody>
      </p:sp>
      <p:sp>
        <p:nvSpPr>
          <p:cNvPr id="110" name="ZoneTexte 109">
            <a:extLst>
              <a:ext uri="{FF2B5EF4-FFF2-40B4-BE49-F238E27FC236}">
                <a16:creationId xmlns:a16="http://schemas.microsoft.com/office/drawing/2014/main" id="{8501B49F-76BC-0CEF-B933-A45245E908FB}"/>
              </a:ext>
            </a:extLst>
          </p:cNvPr>
          <p:cNvSpPr txBox="1"/>
          <p:nvPr/>
        </p:nvSpPr>
        <p:spPr>
          <a:xfrm>
            <a:off x="1013532" y="5417182"/>
            <a:ext cx="464463" cy="707886"/>
          </a:xfrm>
          <a:prstGeom prst="rect">
            <a:avLst/>
          </a:prstGeom>
          <a:noFill/>
        </p:spPr>
        <p:txBody>
          <a:bodyPr wrap="square">
            <a:spAutoFit/>
          </a:bodyPr>
          <a:lstStyle/>
          <a:p>
            <a:r>
              <a:rPr lang="el-GR" sz="4000" dirty="0"/>
              <a:t>Σ</a:t>
            </a:r>
            <a:endParaRPr lang="fr-FR" sz="4000" dirty="0"/>
          </a:p>
        </p:txBody>
      </p:sp>
      <p:sp>
        <p:nvSpPr>
          <p:cNvPr id="112" name="ZoneTexte 111">
            <a:extLst>
              <a:ext uri="{FF2B5EF4-FFF2-40B4-BE49-F238E27FC236}">
                <a16:creationId xmlns:a16="http://schemas.microsoft.com/office/drawing/2014/main" id="{9CF28036-7A6C-224F-BD82-CF9006E85686}"/>
              </a:ext>
            </a:extLst>
          </p:cNvPr>
          <p:cNvSpPr txBox="1"/>
          <p:nvPr/>
        </p:nvSpPr>
        <p:spPr>
          <a:xfrm>
            <a:off x="543607" y="6285395"/>
            <a:ext cx="4052182" cy="461665"/>
          </a:xfrm>
          <a:prstGeom prst="rect">
            <a:avLst/>
          </a:prstGeom>
          <a:noFill/>
        </p:spPr>
        <p:txBody>
          <a:bodyPr wrap="square">
            <a:spAutoFit/>
          </a:bodyPr>
          <a:lstStyle/>
          <a:p>
            <a:pPr marL="0" indent="0">
              <a:buNone/>
            </a:pPr>
            <a:r>
              <a:rPr lang="fr-FR" sz="1200" dirty="0"/>
              <a:t>Nombre de sujets terminés (CCC-Goals) / nombre de sujets totaux</a:t>
            </a:r>
          </a:p>
        </p:txBody>
      </p:sp>
      <p:sp>
        <p:nvSpPr>
          <p:cNvPr id="3" name="Bulle narrative : ronde 2">
            <a:extLst>
              <a:ext uri="{FF2B5EF4-FFF2-40B4-BE49-F238E27FC236}">
                <a16:creationId xmlns:a16="http://schemas.microsoft.com/office/drawing/2014/main" id="{7D66FF16-84B0-E791-4F98-9773BB15A0B2}"/>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A quel point avons-nous atteint nos objectifs parmi tout ce qu’on a fait ?</a:t>
            </a:r>
          </a:p>
        </p:txBody>
      </p:sp>
      <p:pic>
        <p:nvPicPr>
          <p:cNvPr id="7" name="Graphique 3" descr="Femme portant un tailleur">
            <a:extLst>
              <a:ext uri="{FF2B5EF4-FFF2-40B4-BE49-F238E27FC236}">
                <a16:creationId xmlns:a16="http://schemas.microsoft.com/office/drawing/2014/main" id="{6B6AAAAF-AA6B-6140-322D-83A0407E620E}"/>
              </a:ext>
            </a:extLst>
          </p:cNvPr>
          <p:cNvPicPr>
            <a:picLocks noChangeAspect="1"/>
          </p:cNvPicPr>
          <p:nvPr/>
        </p:nvPicPr>
        <p:blipFill rotWithShape="1">
          <a:blip r:embed="rId24">
            <a:extLst>
              <a:ext uri="{96DAC541-7B7A-43D3-8B79-37D633B846F1}">
                <asvg:svgBlip xmlns:asvg="http://schemas.microsoft.com/office/drawing/2016/SVG/main" r:embed="rId25"/>
              </a:ext>
            </a:extLst>
          </a:blip>
          <a:srcRect b="67900"/>
          <a:stretch/>
        </p:blipFill>
        <p:spPr>
          <a:xfrm flipH="1">
            <a:off x="9519412" y="371448"/>
            <a:ext cx="2672588" cy="1668390"/>
          </a:xfrm>
          <a:prstGeom prst="rect">
            <a:avLst/>
          </a:prstGeom>
        </p:spPr>
      </p:pic>
      <p:sp>
        <p:nvSpPr>
          <p:cNvPr id="10" name="Rectangle 9">
            <a:extLst>
              <a:ext uri="{FF2B5EF4-FFF2-40B4-BE49-F238E27FC236}">
                <a16:creationId xmlns:a16="http://schemas.microsoft.com/office/drawing/2014/main" id="{A003D616-1E03-8DBD-51BA-6E0E734ADB81}"/>
              </a:ext>
            </a:extLst>
          </p:cNvPr>
          <p:cNvSpPr/>
          <p:nvPr/>
        </p:nvSpPr>
        <p:spPr>
          <a:xfrm>
            <a:off x="1925810" y="4987938"/>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1" name="Rectangle 10">
            <a:extLst>
              <a:ext uri="{FF2B5EF4-FFF2-40B4-BE49-F238E27FC236}">
                <a16:creationId xmlns:a16="http://schemas.microsoft.com/office/drawing/2014/main" id="{5B77178B-92CD-038C-D374-ECDC5EFA6A6C}"/>
              </a:ext>
            </a:extLst>
          </p:cNvPr>
          <p:cNvSpPr/>
          <p:nvPr/>
        </p:nvSpPr>
        <p:spPr>
          <a:xfrm>
            <a:off x="2396918" y="5612207"/>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2" name="Rectangle 11">
            <a:extLst>
              <a:ext uri="{FF2B5EF4-FFF2-40B4-BE49-F238E27FC236}">
                <a16:creationId xmlns:a16="http://schemas.microsoft.com/office/drawing/2014/main" id="{8F488038-6FC5-7BE5-BBE9-80C902DD1B04}"/>
              </a:ext>
            </a:extLst>
          </p:cNvPr>
          <p:cNvSpPr/>
          <p:nvPr/>
        </p:nvSpPr>
        <p:spPr>
          <a:xfrm>
            <a:off x="1352306" y="5629086"/>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Tree>
    <p:extLst>
      <p:ext uri="{BB962C8B-B14F-4D97-AF65-F5344CB8AC3E}">
        <p14:creationId xmlns:p14="http://schemas.microsoft.com/office/powerpoint/2010/main" val="249944377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4105275" cy="1325563"/>
          </a:xfrm>
        </p:spPr>
        <p:txBody>
          <a:bodyPr>
            <a:noAutofit/>
          </a:bodyPr>
          <a:lstStyle/>
          <a:p>
            <a:r>
              <a:rPr lang="fr-FR" sz="2800" b="1" dirty="0"/>
              <a:t>Indicateur : </a:t>
            </a:r>
            <a:br>
              <a:rPr lang="fr-FR" sz="2800" b="1" dirty="0"/>
            </a:br>
            <a:r>
              <a:rPr lang="fr-FR" sz="2800" dirty="0"/>
              <a:t>Proportion de sujets qui ont atteint leurs objectifs de phase</a:t>
            </a:r>
          </a:p>
        </p:txBody>
      </p:sp>
      <p:grpSp>
        <p:nvGrpSpPr>
          <p:cNvPr id="3" name="Groupe 2">
            <a:extLst>
              <a:ext uri="{FF2B5EF4-FFF2-40B4-BE49-F238E27FC236}">
                <a16:creationId xmlns:a16="http://schemas.microsoft.com/office/drawing/2014/main" id="{94EE3459-D27B-1AF3-FBEB-34C0EBD0C9C7}"/>
              </a:ext>
            </a:extLst>
          </p:cNvPr>
          <p:cNvGrpSpPr/>
          <p:nvPr/>
        </p:nvGrpSpPr>
        <p:grpSpPr>
          <a:xfrm>
            <a:off x="1004899" y="2075168"/>
            <a:ext cx="4013145" cy="458111"/>
            <a:chOff x="11600" y="1496380"/>
            <a:chExt cx="12038120" cy="1498765"/>
          </a:xfrm>
        </p:grpSpPr>
        <p:grpSp>
          <p:nvGrpSpPr>
            <p:cNvPr id="4" name="Groupe 3">
              <a:extLst>
                <a:ext uri="{FF2B5EF4-FFF2-40B4-BE49-F238E27FC236}">
                  <a16:creationId xmlns:a16="http://schemas.microsoft.com/office/drawing/2014/main" id="{79FBAFFE-BC18-95DB-754E-826294BD6847}"/>
                </a:ext>
              </a:extLst>
            </p:cNvPr>
            <p:cNvGrpSpPr/>
            <p:nvPr/>
          </p:nvGrpSpPr>
          <p:grpSpPr>
            <a:xfrm>
              <a:off x="11600" y="2499558"/>
              <a:ext cx="12038120" cy="495587"/>
              <a:chOff x="0" y="2140394"/>
              <a:chExt cx="12854128" cy="4544491"/>
            </a:xfrm>
          </p:grpSpPr>
          <p:sp>
            <p:nvSpPr>
              <p:cNvPr id="15" name="Espace réservé du texte 15">
                <a:extLst>
                  <a:ext uri="{FF2B5EF4-FFF2-40B4-BE49-F238E27FC236}">
                    <a16:creationId xmlns:a16="http://schemas.microsoft.com/office/drawing/2014/main" id="{484E1801-1F07-F6C5-9DB4-1AEDA8641F6E}"/>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INSPIRATION</a:t>
                </a:r>
              </a:p>
              <a:p>
                <a:pPr marL="0" indent="0" algn="ctr">
                  <a:buFont typeface="Arial" panose="020B0604020202020204" pitchFamily="34" charset="0"/>
                  <a:buNone/>
                </a:pPr>
                <a:endParaRPr lang="fr-FR" sz="300" b="1" i="1">
                  <a:solidFill>
                    <a:srgbClr val="ED7D31"/>
                  </a:solidFill>
                </a:endParaRPr>
              </a:p>
            </p:txBody>
          </p:sp>
          <p:sp>
            <p:nvSpPr>
              <p:cNvPr id="16" name="Espace réservé du texte 15">
                <a:extLst>
                  <a:ext uri="{FF2B5EF4-FFF2-40B4-BE49-F238E27FC236}">
                    <a16:creationId xmlns:a16="http://schemas.microsoft.com/office/drawing/2014/main" id="{3E98E879-68BB-9521-34F7-BA1F9293369F}"/>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COLLECTE</a:t>
                </a:r>
              </a:p>
              <a:p>
                <a:pPr marL="0" indent="0" algn="ctr">
                  <a:buFont typeface="Arial" panose="020B0604020202020204" pitchFamily="34" charset="0"/>
                  <a:buNone/>
                </a:pPr>
                <a:endParaRPr lang="fr-FR" sz="300" b="1" i="1">
                  <a:solidFill>
                    <a:srgbClr val="ED7D31"/>
                  </a:solidFill>
                </a:endParaRPr>
              </a:p>
            </p:txBody>
          </p:sp>
          <p:sp>
            <p:nvSpPr>
              <p:cNvPr id="17" name="Espace réservé du texte 15">
                <a:extLst>
                  <a:ext uri="{FF2B5EF4-FFF2-40B4-BE49-F238E27FC236}">
                    <a16:creationId xmlns:a16="http://schemas.microsoft.com/office/drawing/2014/main" id="{2D7E01DC-39B5-016A-97EA-FF9E833B8032}"/>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INITIATION</a:t>
                </a:r>
              </a:p>
              <a:p>
                <a:pPr marL="0" indent="0" algn="ctr">
                  <a:buFont typeface="Arial" panose="020B0604020202020204" pitchFamily="34" charset="0"/>
                  <a:buNone/>
                </a:pPr>
                <a:endParaRPr lang="fr-FR" sz="300" b="1" i="1">
                  <a:solidFill>
                    <a:srgbClr val="ED7D31"/>
                  </a:solidFill>
                </a:endParaRPr>
              </a:p>
            </p:txBody>
          </p:sp>
          <p:sp>
            <p:nvSpPr>
              <p:cNvPr id="18" name="Espace réservé du texte 15">
                <a:extLst>
                  <a:ext uri="{FF2B5EF4-FFF2-40B4-BE49-F238E27FC236}">
                    <a16:creationId xmlns:a16="http://schemas.microsoft.com/office/drawing/2014/main" id="{972F5EE1-3A3A-7220-EDE8-A72E4371D319}"/>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CHOC DE LA RÉALITÉ</a:t>
                </a:r>
              </a:p>
              <a:p>
                <a:pPr marL="0" indent="0" algn="ctr">
                  <a:buFont typeface="Arial" panose="020B0604020202020204" pitchFamily="34" charset="0"/>
                  <a:buNone/>
                </a:pPr>
                <a:endParaRPr lang="fr-FR" sz="300" b="1" i="1">
                  <a:solidFill>
                    <a:srgbClr val="ED7D31"/>
                  </a:solidFill>
                </a:endParaRPr>
              </a:p>
            </p:txBody>
          </p:sp>
          <p:sp>
            <p:nvSpPr>
              <p:cNvPr id="19" name="Espace réservé du texte 15">
                <a:extLst>
                  <a:ext uri="{FF2B5EF4-FFF2-40B4-BE49-F238E27FC236}">
                    <a16:creationId xmlns:a16="http://schemas.microsoft.com/office/drawing/2014/main" id="{9382DF98-88C3-46F0-B832-E767786FC4E4}"/>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CONFIRMATION DE RÉUSSITES</a:t>
                </a:r>
              </a:p>
            </p:txBody>
          </p:sp>
          <p:sp>
            <p:nvSpPr>
              <p:cNvPr id="20" name="Espace réservé du texte 15">
                <a:extLst>
                  <a:ext uri="{FF2B5EF4-FFF2-40B4-BE49-F238E27FC236}">
                    <a16:creationId xmlns:a16="http://schemas.microsoft.com/office/drawing/2014/main" id="{53EC5DCA-7DB6-3597-1FFF-56125A45732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EXPOSITION</a:t>
                </a:r>
              </a:p>
            </p:txBody>
          </p:sp>
          <p:sp>
            <p:nvSpPr>
              <p:cNvPr id="21" name="Espace réservé du texte 15">
                <a:extLst>
                  <a:ext uri="{FF2B5EF4-FFF2-40B4-BE49-F238E27FC236}">
                    <a16:creationId xmlns:a16="http://schemas.microsoft.com/office/drawing/2014/main" id="{63CE6B2C-2029-F186-4C92-F3ED44F92431}"/>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00" b="1" i="1">
                    <a:solidFill>
                      <a:srgbClr val="0683AA"/>
                    </a:solidFill>
                  </a:rPr>
                  <a:t>FORTIFICATION</a:t>
                </a:r>
              </a:p>
              <a:p>
                <a:pPr marL="0" indent="0" algn="ctr">
                  <a:buFont typeface="Arial" panose="020B0604020202020204" pitchFamily="34" charset="0"/>
                  <a:buNone/>
                </a:pPr>
                <a:endParaRPr lang="fr-FR" sz="300" b="1" i="1">
                  <a:solidFill>
                    <a:srgbClr val="ED7D31"/>
                  </a:solidFill>
                </a:endParaRPr>
              </a:p>
            </p:txBody>
          </p:sp>
        </p:grpSp>
        <p:pic>
          <p:nvPicPr>
            <p:cNvPr id="5" name="Graphique 4" descr="Ampoule avec un remplissage uni">
              <a:extLst>
                <a:ext uri="{FF2B5EF4-FFF2-40B4-BE49-F238E27FC236}">
                  <a16:creationId xmlns:a16="http://schemas.microsoft.com/office/drawing/2014/main" id="{825C2038-D777-3DDA-02C3-4AEB7B09511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9" name="Graphique 8" descr="Seau et pelle avec un remplissage uni">
              <a:extLst>
                <a:ext uri="{FF2B5EF4-FFF2-40B4-BE49-F238E27FC236}">
                  <a16:creationId xmlns:a16="http://schemas.microsoft.com/office/drawing/2014/main" id="{ADA90FBF-F7C5-4D8D-0CFF-A1B4B80822C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10" name="Graphique 9" descr="Tubes à essai avec un remplissage uni">
              <a:extLst>
                <a:ext uri="{FF2B5EF4-FFF2-40B4-BE49-F238E27FC236}">
                  <a16:creationId xmlns:a16="http://schemas.microsoft.com/office/drawing/2014/main" id="{5957EDAB-0601-2D2E-674F-52176B4AF36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11" name="Graphique 10" descr="Explosion avec un remplissage uni">
              <a:extLst>
                <a:ext uri="{FF2B5EF4-FFF2-40B4-BE49-F238E27FC236}">
                  <a16:creationId xmlns:a16="http://schemas.microsoft.com/office/drawing/2014/main" id="{2B5288AF-08B0-4D5C-C4FF-0F6E56AC732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12" name="Graphique 11" descr="Trophée avec un remplissage uni">
              <a:extLst>
                <a:ext uri="{FF2B5EF4-FFF2-40B4-BE49-F238E27FC236}">
                  <a16:creationId xmlns:a16="http://schemas.microsoft.com/office/drawing/2014/main" id="{73822F0B-781B-DA82-7873-CFEBB0B56C9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13" name="Graphique 12" descr="Assiette couverte avec un remplissage uni">
              <a:extLst>
                <a:ext uri="{FF2B5EF4-FFF2-40B4-BE49-F238E27FC236}">
                  <a16:creationId xmlns:a16="http://schemas.microsoft.com/office/drawing/2014/main" id="{36C44B9A-C641-DD75-D357-6B7DFC12745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14" name="Graphique 13" descr="Scène de château avec un remplissage uni">
              <a:extLst>
                <a:ext uri="{FF2B5EF4-FFF2-40B4-BE49-F238E27FC236}">
                  <a16:creationId xmlns:a16="http://schemas.microsoft.com/office/drawing/2014/main" id="{19DC7964-0C71-314F-8A02-A31782B9C10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22" name="Groupe 21">
            <a:extLst>
              <a:ext uri="{FF2B5EF4-FFF2-40B4-BE49-F238E27FC236}">
                <a16:creationId xmlns:a16="http://schemas.microsoft.com/office/drawing/2014/main" id="{7696DC71-E4C9-3B03-676F-8FDFBD136763}"/>
              </a:ext>
            </a:extLst>
          </p:cNvPr>
          <p:cNvGrpSpPr/>
          <p:nvPr/>
        </p:nvGrpSpPr>
        <p:grpSpPr>
          <a:xfrm>
            <a:off x="791077" y="2799355"/>
            <a:ext cx="1894821" cy="181741"/>
            <a:chOff x="3099062" y="3394846"/>
            <a:chExt cx="4016859" cy="385275"/>
          </a:xfrm>
        </p:grpSpPr>
        <p:sp>
          <p:nvSpPr>
            <p:cNvPr id="23" name="Rectangle 22">
              <a:extLst>
                <a:ext uri="{FF2B5EF4-FFF2-40B4-BE49-F238E27FC236}">
                  <a16:creationId xmlns:a16="http://schemas.microsoft.com/office/drawing/2014/main" id="{D409FF4A-F05B-252D-CF61-6E0FE0D2C947}"/>
                </a:ext>
              </a:extLst>
            </p:cNvPr>
            <p:cNvSpPr/>
            <p:nvPr/>
          </p:nvSpPr>
          <p:spPr>
            <a:xfrm>
              <a:off x="3099062" y="3438926"/>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4" name="Connecteur droit avec flèche 23">
              <a:extLst>
                <a:ext uri="{FF2B5EF4-FFF2-40B4-BE49-F238E27FC236}">
                  <a16:creationId xmlns:a16="http://schemas.microsoft.com/office/drawing/2014/main" id="{B604CE8B-F518-EAE4-4232-1DFAF00C4D5D}"/>
                </a:ext>
              </a:extLst>
            </p:cNvPr>
            <p:cNvCxnSpPr>
              <a:cxnSpLocks/>
              <a:stCxn id="23" idx="3"/>
              <a:endCxn id="25" idx="1"/>
            </p:cNvCxnSpPr>
            <p:nvPr/>
          </p:nvCxnSpPr>
          <p:spPr>
            <a:xfrm flipV="1">
              <a:off x="3392026" y="3587485"/>
              <a:ext cx="3338620" cy="6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5" name="Graphique 24" descr="Mille avec un remplissage uni">
              <a:extLst>
                <a:ext uri="{FF2B5EF4-FFF2-40B4-BE49-F238E27FC236}">
                  <a16:creationId xmlns:a16="http://schemas.microsoft.com/office/drawing/2014/main" id="{388D5D55-1EF3-4C9E-519C-A5769CAA208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730646" y="3394846"/>
              <a:ext cx="385275" cy="385275"/>
            </a:xfrm>
            <a:prstGeom prst="rect">
              <a:avLst/>
            </a:prstGeom>
          </p:spPr>
        </p:pic>
        <p:sp>
          <p:nvSpPr>
            <p:cNvPr id="26" name="Rectangle 25">
              <a:extLst>
                <a:ext uri="{FF2B5EF4-FFF2-40B4-BE49-F238E27FC236}">
                  <a16:creationId xmlns:a16="http://schemas.microsoft.com/office/drawing/2014/main" id="{DB8A1347-DC3E-83E4-0F85-D358411A885D}"/>
                </a:ext>
              </a:extLst>
            </p:cNvPr>
            <p:cNvSpPr/>
            <p:nvPr/>
          </p:nvSpPr>
          <p:spPr>
            <a:xfrm>
              <a:off x="6183629" y="340845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27" name="Groupe 26">
            <a:extLst>
              <a:ext uri="{FF2B5EF4-FFF2-40B4-BE49-F238E27FC236}">
                <a16:creationId xmlns:a16="http://schemas.microsoft.com/office/drawing/2014/main" id="{80613E2F-4988-2935-4D37-800F805E5DF2}"/>
              </a:ext>
            </a:extLst>
          </p:cNvPr>
          <p:cNvGrpSpPr/>
          <p:nvPr/>
        </p:nvGrpSpPr>
        <p:grpSpPr>
          <a:xfrm>
            <a:off x="791076" y="3011948"/>
            <a:ext cx="3469706" cy="181741"/>
            <a:chOff x="3099061" y="3796432"/>
            <a:chExt cx="7355485" cy="385275"/>
          </a:xfrm>
        </p:grpSpPr>
        <p:sp>
          <p:nvSpPr>
            <p:cNvPr id="28" name="Rectangle 27">
              <a:extLst>
                <a:ext uri="{FF2B5EF4-FFF2-40B4-BE49-F238E27FC236}">
                  <a16:creationId xmlns:a16="http://schemas.microsoft.com/office/drawing/2014/main" id="{39333E4C-5C7A-0F5B-8ADA-2A144F4D9C24}"/>
                </a:ext>
              </a:extLst>
            </p:cNvPr>
            <p:cNvSpPr/>
            <p:nvPr/>
          </p:nvSpPr>
          <p:spPr>
            <a:xfrm>
              <a:off x="3099061" y="3833709"/>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29" name="Connecteur droit avec flèche 28">
              <a:extLst>
                <a:ext uri="{FF2B5EF4-FFF2-40B4-BE49-F238E27FC236}">
                  <a16:creationId xmlns:a16="http://schemas.microsoft.com/office/drawing/2014/main" id="{1B5B6944-4307-40FA-E3E0-F1EAE572EE1E}"/>
                </a:ext>
              </a:extLst>
            </p:cNvPr>
            <p:cNvCxnSpPr>
              <a:cxnSpLocks/>
              <a:stCxn id="28" idx="3"/>
              <a:endCxn id="30" idx="1"/>
            </p:cNvCxnSpPr>
            <p:nvPr/>
          </p:nvCxnSpPr>
          <p:spPr>
            <a:xfrm>
              <a:off x="3392024" y="3989069"/>
              <a:ext cx="667724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0" name="Graphique 29" descr="Mille avec un remplissage uni">
              <a:extLst>
                <a:ext uri="{FF2B5EF4-FFF2-40B4-BE49-F238E27FC236}">
                  <a16:creationId xmlns:a16="http://schemas.microsoft.com/office/drawing/2014/main" id="{8AE7B66E-BA1C-D2BE-F83F-1F54949458B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69271" y="3796432"/>
              <a:ext cx="385275" cy="385275"/>
            </a:xfrm>
            <a:prstGeom prst="rect">
              <a:avLst/>
            </a:prstGeom>
          </p:spPr>
        </p:pic>
        <p:sp>
          <p:nvSpPr>
            <p:cNvPr id="31" name="Rectangle 30">
              <a:extLst>
                <a:ext uri="{FF2B5EF4-FFF2-40B4-BE49-F238E27FC236}">
                  <a16:creationId xmlns:a16="http://schemas.microsoft.com/office/drawing/2014/main" id="{30D714D0-56A4-6463-550B-2ADDE9D0613F}"/>
                </a:ext>
              </a:extLst>
            </p:cNvPr>
            <p:cNvSpPr/>
            <p:nvPr/>
          </p:nvSpPr>
          <p:spPr>
            <a:xfrm>
              <a:off x="6183632" y="3839301"/>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32" name="Groupe 31">
            <a:extLst>
              <a:ext uri="{FF2B5EF4-FFF2-40B4-BE49-F238E27FC236}">
                <a16:creationId xmlns:a16="http://schemas.microsoft.com/office/drawing/2014/main" id="{5755B4B1-E6BC-D654-8897-41335FAF65FF}"/>
              </a:ext>
            </a:extLst>
          </p:cNvPr>
          <p:cNvGrpSpPr/>
          <p:nvPr/>
        </p:nvGrpSpPr>
        <p:grpSpPr>
          <a:xfrm>
            <a:off x="789930" y="3640101"/>
            <a:ext cx="1180962" cy="181741"/>
            <a:chOff x="3096631" y="5085827"/>
            <a:chExt cx="2503539" cy="385275"/>
          </a:xfrm>
        </p:grpSpPr>
        <p:sp>
          <p:nvSpPr>
            <p:cNvPr id="33" name="Rectangle 32">
              <a:extLst>
                <a:ext uri="{FF2B5EF4-FFF2-40B4-BE49-F238E27FC236}">
                  <a16:creationId xmlns:a16="http://schemas.microsoft.com/office/drawing/2014/main" id="{8E7C969E-7158-28B2-36AF-DB886E312398}"/>
                </a:ext>
              </a:extLst>
            </p:cNvPr>
            <p:cNvSpPr/>
            <p:nvPr/>
          </p:nvSpPr>
          <p:spPr>
            <a:xfrm>
              <a:off x="3096631" y="5123104"/>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4" name="Connecteur droit avec flèche 33">
              <a:extLst>
                <a:ext uri="{FF2B5EF4-FFF2-40B4-BE49-F238E27FC236}">
                  <a16:creationId xmlns:a16="http://schemas.microsoft.com/office/drawing/2014/main" id="{31F663F7-F535-A5DF-8A63-DC0978EEAA87}"/>
                </a:ext>
              </a:extLst>
            </p:cNvPr>
            <p:cNvCxnSpPr>
              <a:cxnSpLocks/>
              <a:stCxn id="33" idx="3"/>
              <a:endCxn id="35" idx="1"/>
            </p:cNvCxnSpPr>
            <p:nvPr/>
          </p:nvCxnSpPr>
          <p:spPr>
            <a:xfrm>
              <a:off x="3389594" y="5278464"/>
              <a:ext cx="18253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5" name="Graphique 34" descr="Mille avec un remplissage uni">
              <a:extLst>
                <a:ext uri="{FF2B5EF4-FFF2-40B4-BE49-F238E27FC236}">
                  <a16:creationId xmlns:a16="http://schemas.microsoft.com/office/drawing/2014/main" id="{14252E83-4A76-8F87-5C94-2BC0150F4806}"/>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214895" y="5085827"/>
              <a:ext cx="385275" cy="385275"/>
            </a:xfrm>
            <a:prstGeom prst="rect">
              <a:avLst/>
            </a:prstGeom>
          </p:spPr>
        </p:pic>
      </p:grpSp>
      <p:grpSp>
        <p:nvGrpSpPr>
          <p:cNvPr id="36" name="Groupe 35">
            <a:extLst>
              <a:ext uri="{FF2B5EF4-FFF2-40B4-BE49-F238E27FC236}">
                <a16:creationId xmlns:a16="http://schemas.microsoft.com/office/drawing/2014/main" id="{2306246D-ADC9-7398-E680-16629E7D3E03}"/>
              </a:ext>
            </a:extLst>
          </p:cNvPr>
          <p:cNvGrpSpPr/>
          <p:nvPr/>
        </p:nvGrpSpPr>
        <p:grpSpPr>
          <a:xfrm>
            <a:off x="789930" y="3432549"/>
            <a:ext cx="3007308" cy="181741"/>
            <a:chOff x="3096631" y="4622114"/>
            <a:chExt cx="6375239" cy="385275"/>
          </a:xfrm>
        </p:grpSpPr>
        <p:sp>
          <p:nvSpPr>
            <p:cNvPr id="37" name="Rectangle 36">
              <a:extLst>
                <a:ext uri="{FF2B5EF4-FFF2-40B4-BE49-F238E27FC236}">
                  <a16:creationId xmlns:a16="http://schemas.microsoft.com/office/drawing/2014/main" id="{41671634-BCD8-E51F-2905-D95C8707CBD4}"/>
                </a:ext>
              </a:extLst>
            </p:cNvPr>
            <p:cNvSpPr/>
            <p:nvPr/>
          </p:nvSpPr>
          <p:spPr>
            <a:xfrm>
              <a:off x="3096631" y="4655507"/>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38" name="Connecteur droit avec flèche 37">
              <a:extLst>
                <a:ext uri="{FF2B5EF4-FFF2-40B4-BE49-F238E27FC236}">
                  <a16:creationId xmlns:a16="http://schemas.microsoft.com/office/drawing/2014/main" id="{D72F6C1F-3AAD-9F79-BB5A-DAA8FF437924}"/>
                </a:ext>
              </a:extLst>
            </p:cNvPr>
            <p:cNvCxnSpPr>
              <a:cxnSpLocks/>
              <a:stCxn id="37" idx="3"/>
              <a:endCxn id="39" idx="1"/>
            </p:cNvCxnSpPr>
            <p:nvPr/>
          </p:nvCxnSpPr>
          <p:spPr>
            <a:xfrm>
              <a:off x="3389595" y="4810867"/>
              <a:ext cx="5697000"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9" name="Graphique 38" descr="Mille avec un remplissage uni">
              <a:extLst>
                <a:ext uri="{FF2B5EF4-FFF2-40B4-BE49-F238E27FC236}">
                  <a16:creationId xmlns:a16="http://schemas.microsoft.com/office/drawing/2014/main" id="{AD6C3D5F-6E8E-8CCF-9F53-F8DA36A2CCC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4" y="4622114"/>
              <a:ext cx="385276" cy="385275"/>
            </a:xfrm>
            <a:prstGeom prst="rect">
              <a:avLst/>
            </a:prstGeom>
          </p:spPr>
        </p:pic>
        <p:sp>
          <p:nvSpPr>
            <p:cNvPr id="40" name="Rectangle 39">
              <a:extLst>
                <a:ext uri="{FF2B5EF4-FFF2-40B4-BE49-F238E27FC236}">
                  <a16:creationId xmlns:a16="http://schemas.microsoft.com/office/drawing/2014/main" id="{B29DF122-F81A-0515-32D2-F99C1FEA786D}"/>
                </a:ext>
              </a:extLst>
            </p:cNvPr>
            <p:cNvSpPr/>
            <p:nvPr/>
          </p:nvSpPr>
          <p:spPr>
            <a:xfrm>
              <a:off x="8579850" y="465970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41" name="Groupe 40">
            <a:extLst>
              <a:ext uri="{FF2B5EF4-FFF2-40B4-BE49-F238E27FC236}">
                <a16:creationId xmlns:a16="http://schemas.microsoft.com/office/drawing/2014/main" id="{4D56C496-D065-A308-309F-7F1340368460}"/>
              </a:ext>
            </a:extLst>
          </p:cNvPr>
          <p:cNvGrpSpPr/>
          <p:nvPr/>
        </p:nvGrpSpPr>
        <p:grpSpPr>
          <a:xfrm>
            <a:off x="789930" y="3221332"/>
            <a:ext cx="4041245" cy="181741"/>
            <a:chOff x="3096632" y="4195205"/>
            <a:chExt cx="8567098" cy="385275"/>
          </a:xfrm>
        </p:grpSpPr>
        <p:sp>
          <p:nvSpPr>
            <p:cNvPr id="42" name="Rectangle 41">
              <a:extLst>
                <a:ext uri="{FF2B5EF4-FFF2-40B4-BE49-F238E27FC236}">
                  <a16:creationId xmlns:a16="http://schemas.microsoft.com/office/drawing/2014/main" id="{338A4466-571B-094F-5246-BA002F978966}"/>
                </a:ext>
              </a:extLst>
            </p:cNvPr>
            <p:cNvSpPr/>
            <p:nvPr/>
          </p:nvSpPr>
          <p:spPr>
            <a:xfrm>
              <a:off x="3096632" y="423248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3" name="Connecteur droit avec flèche 42">
              <a:extLst>
                <a:ext uri="{FF2B5EF4-FFF2-40B4-BE49-F238E27FC236}">
                  <a16:creationId xmlns:a16="http://schemas.microsoft.com/office/drawing/2014/main" id="{3E45C07C-2239-E2E1-2966-19388CD22531}"/>
                </a:ext>
              </a:extLst>
            </p:cNvPr>
            <p:cNvCxnSpPr>
              <a:cxnSpLocks/>
              <a:stCxn id="42" idx="3"/>
              <a:endCxn id="44" idx="1"/>
            </p:cNvCxnSpPr>
            <p:nvPr/>
          </p:nvCxnSpPr>
          <p:spPr>
            <a:xfrm>
              <a:off x="3389595" y="4387842"/>
              <a:ext cx="78888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4" name="Graphique 43" descr="Mille avec un remplissage uni">
              <a:extLst>
                <a:ext uri="{FF2B5EF4-FFF2-40B4-BE49-F238E27FC236}">
                  <a16:creationId xmlns:a16="http://schemas.microsoft.com/office/drawing/2014/main" id="{83237B27-8807-9A93-3547-CBAA348109F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278455" y="4195205"/>
              <a:ext cx="385275" cy="385275"/>
            </a:xfrm>
            <a:prstGeom prst="rect">
              <a:avLst/>
            </a:prstGeom>
          </p:spPr>
        </p:pic>
        <p:sp>
          <p:nvSpPr>
            <p:cNvPr id="45" name="Rectangle 44">
              <a:extLst>
                <a:ext uri="{FF2B5EF4-FFF2-40B4-BE49-F238E27FC236}">
                  <a16:creationId xmlns:a16="http://schemas.microsoft.com/office/drawing/2014/main" id="{9CFD0961-9EA1-5B55-604C-7CA2C04CB1D2}"/>
                </a:ext>
              </a:extLst>
            </p:cNvPr>
            <p:cNvSpPr/>
            <p:nvPr/>
          </p:nvSpPr>
          <p:spPr>
            <a:xfrm>
              <a:off x="10100966" y="4232482"/>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46" name="Groupe 45">
            <a:extLst>
              <a:ext uri="{FF2B5EF4-FFF2-40B4-BE49-F238E27FC236}">
                <a16:creationId xmlns:a16="http://schemas.microsoft.com/office/drawing/2014/main" id="{BC54480F-BB2B-2982-F2F5-4941B88442B3}"/>
              </a:ext>
            </a:extLst>
          </p:cNvPr>
          <p:cNvGrpSpPr/>
          <p:nvPr/>
        </p:nvGrpSpPr>
        <p:grpSpPr>
          <a:xfrm>
            <a:off x="791077" y="2593179"/>
            <a:ext cx="3006161" cy="181741"/>
            <a:chOff x="3099063" y="2916714"/>
            <a:chExt cx="6372808" cy="385275"/>
          </a:xfrm>
        </p:grpSpPr>
        <p:pic>
          <p:nvPicPr>
            <p:cNvPr id="47" name="Graphique 46" descr="Mille avec un remplissage uni">
              <a:extLst>
                <a:ext uri="{FF2B5EF4-FFF2-40B4-BE49-F238E27FC236}">
                  <a16:creationId xmlns:a16="http://schemas.microsoft.com/office/drawing/2014/main" id="{E139636E-5875-A951-87E4-AECD1F5F11C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86595" y="2916714"/>
              <a:ext cx="385276" cy="385275"/>
            </a:xfrm>
            <a:prstGeom prst="rect">
              <a:avLst/>
            </a:prstGeom>
          </p:spPr>
        </p:pic>
        <p:sp>
          <p:nvSpPr>
            <p:cNvPr id="48" name="Rectangle 47">
              <a:extLst>
                <a:ext uri="{FF2B5EF4-FFF2-40B4-BE49-F238E27FC236}">
                  <a16:creationId xmlns:a16="http://schemas.microsoft.com/office/drawing/2014/main" id="{D9BA2B8F-5284-050A-185E-AEC148662E7A}"/>
                </a:ext>
              </a:extLst>
            </p:cNvPr>
            <p:cNvSpPr/>
            <p:nvPr/>
          </p:nvSpPr>
          <p:spPr>
            <a:xfrm>
              <a:off x="3099063" y="295399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49" name="Connecteur droit avec flèche 48">
              <a:extLst>
                <a:ext uri="{FF2B5EF4-FFF2-40B4-BE49-F238E27FC236}">
                  <a16:creationId xmlns:a16="http://schemas.microsoft.com/office/drawing/2014/main" id="{B813DD08-9761-8BE3-1E14-7CCD9434B7F0}"/>
                </a:ext>
              </a:extLst>
            </p:cNvPr>
            <p:cNvCxnSpPr>
              <a:cxnSpLocks/>
              <a:stCxn id="48" idx="3"/>
              <a:endCxn id="47" idx="1"/>
            </p:cNvCxnSpPr>
            <p:nvPr/>
          </p:nvCxnSpPr>
          <p:spPr>
            <a:xfrm>
              <a:off x="3392027" y="3109353"/>
              <a:ext cx="569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FC47FEE4-7202-1146-F09D-240FA9D8EDC9}"/>
                </a:ext>
              </a:extLst>
            </p:cNvPr>
            <p:cNvSpPr/>
            <p:nvPr/>
          </p:nvSpPr>
          <p:spPr>
            <a:xfrm>
              <a:off x="8569448" y="2958086"/>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grpSp>
        <p:nvGrpSpPr>
          <p:cNvPr id="51" name="Groupe 50">
            <a:extLst>
              <a:ext uri="{FF2B5EF4-FFF2-40B4-BE49-F238E27FC236}">
                <a16:creationId xmlns:a16="http://schemas.microsoft.com/office/drawing/2014/main" id="{D0781129-F2A8-C39F-BE62-AEA5F9416182}"/>
              </a:ext>
            </a:extLst>
          </p:cNvPr>
          <p:cNvGrpSpPr/>
          <p:nvPr/>
        </p:nvGrpSpPr>
        <p:grpSpPr>
          <a:xfrm>
            <a:off x="789930" y="4072324"/>
            <a:ext cx="3859964" cy="152537"/>
            <a:chOff x="3096635" y="5604607"/>
            <a:chExt cx="8182799" cy="323365"/>
          </a:xfrm>
        </p:grpSpPr>
        <p:sp>
          <p:nvSpPr>
            <p:cNvPr id="52" name="Rectangle 51">
              <a:extLst>
                <a:ext uri="{FF2B5EF4-FFF2-40B4-BE49-F238E27FC236}">
                  <a16:creationId xmlns:a16="http://schemas.microsoft.com/office/drawing/2014/main" id="{5FB8DD1A-8B82-01E4-2150-C24BFE5351AF}"/>
                </a:ext>
              </a:extLst>
            </p:cNvPr>
            <p:cNvSpPr/>
            <p:nvPr/>
          </p:nvSpPr>
          <p:spPr>
            <a:xfrm>
              <a:off x="3096635" y="5617252"/>
              <a:ext cx="292963"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cxnSp>
          <p:nvCxnSpPr>
            <p:cNvPr id="53" name="Connecteur droit avec flèche 52">
              <a:extLst>
                <a:ext uri="{FF2B5EF4-FFF2-40B4-BE49-F238E27FC236}">
                  <a16:creationId xmlns:a16="http://schemas.microsoft.com/office/drawing/2014/main" id="{C51E9878-BF3B-C4DA-0481-A64F0BA3371B}"/>
                </a:ext>
              </a:extLst>
            </p:cNvPr>
            <p:cNvCxnSpPr>
              <a:cxnSpLocks/>
              <a:stCxn id="52" idx="3"/>
              <a:endCxn id="55" idx="1"/>
            </p:cNvCxnSpPr>
            <p:nvPr/>
          </p:nvCxnSpPr>
          <p:spPr>
            <a:xfrm flipV="1">
              <a:off x="3389599" y="5772608"/>
              <a:ext cx="7889835" cy="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10DEE384-D213-5CE5-F843-0892DA61F560}"/>
                </a:ext>
              </a:extLst>
            </p:cNvPr>
            <p:cNvSpPr/>
            <p:nvPr/>
          </p:nvSpPr>
          <p:spPr>
            <a:xfrm>
              <a:off x="6197544" y="5604607"/>
              <a:ext cx="292964" cy="31072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pic>
        <p:nvPicPr>
          <p:cNvPr id="55" name="Graphique 54" descr="Point d’interrogation avec un remplissage uni">
            <a:extLst>
              <a:ext uri="{FF2B5EF4-FFF2-40B4-BE49-F238E27FC236}">
                <a16:creationId xmlns:a16="http://schemas.microsoft.com/office/drawing/2014/main" id="{81F08574-5F26-1F0E-6E3A-4FE15CF685A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49894" y="4053262"/>
            <a:ext cx="196622" cy="196622"/>
          </a:xfrm>
          <a:prstGeom prst="rect">
            <a:avLst/>
          </a:prstGeom>
        </p:spPr>
      </p:pic>
      <p:pic>
        <p:nvPicPr>
          <p:cNvPr id="56" name="Graphique 55" descr="Point d’interrogation avec un remplissage uni">
            <a:extLst>
              <a:ext uri="{FF2B5EF4-FFF2-40B4-BE49-F238E27FC236}">
                <a16:creationId xmlns:a16="http://schemas.microsoft.com/office/drawing/2014/main" id="{83C44816-88A0-530F-264D-380132FAD466}"/>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079042" y="4053262"/>
            <a:ext cx="196622" cy="196622"/>
          </a:xfrm>
          <a:prstGeom prst="rect">
            <a:avLst/>
          </a:prstGeom>
        </p:spPr>
      </p:pic>
      <p:pic>
        <p:nvPicPr>
          <p:cNvPr id="57" name="Graphique 56" descr="Point d’interrogation avec un remplissage uni">
            <a:extLst>
              <a:ext uri="{FF2B5EF4-FFF2-40B4-BE49-F238E27FC236}">
                <a16:creationId xmlns:a16="http://schemas.microsoft.com/office/drawing/2014/main" id="{50C4FD24-DF17-F442-EA53-E71BEC4ABF8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509746" y="4055211"/>
            <a:ext cx="196622" cy="196622"/>
          </a:xfrm>
          <a:prstGeom prst="rect">
            <a:avLst/>
          </a:prstGeom>
        </p:spPr>
      </p:pic>
      <p:pic>
        <p:nvPicPr>
          <p:cNvPr id="58" name="Graphique 57" descr="Point d’interrogation avec un remplissage uni">
            <a:extLst>
              <a:ext uri="{FF2B5EF4-FFF2-40B4-BE49-F238E27FC236}">
                <a16:creationId xmlns:a16="http://schemas.microsoft.com/office/drawing/2014/main" id="{976CE2CB-5450-AFDD-F936-437EC5D87C9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13160" y="4047297"/>
            <a:ext cx="196622" cy="196622"/>
          </a:xfrm>
          <a:prstGeom prst="rect">
            <a:avLst/>
          </a:prstGeom>
        </p:spPr>
      </p:pic>
      <p:pic>
        <p:nvPicPr>
          <p:cNvPr id="59" name="Graphique 58" descr="Mille avec un remplissage uni">
            <a:extLst>
              <a:ext uri="{FF2B5EF4-FFF2-40B4-BE49-F238E27FC236}">
                <a16:creationId xmlns:a16="http://schemas.microsoft.com/office/drawing/2014/main" id="{4657FDEF-5AC3-6ACF-43CB-F26EC2521EA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178074" y="5113718"/>
            <a:ext cx="225376" cy="225376"/>
          </a:xfrm>
          <a:prstGeom prst="rect">
            <a:avLst/>
          </a:prstGeom>
        </p:spPr>
      </p:pic>
      <p:pic>
        <p:nvPicPr>
          <p:cNvPr id="60" name="Graphique 59" descr="Mille avec un remplissage uni">
            <a:extLst>
              <a:ext uri="{FF2B5EF4-FFF2-40B4-BE49-F238E27FC236}">
                <a16:creationId xmlns:a16="http://schemas.microsoft.com/office/drawing/2014/main" id="{DB87F9CE-864B-308C-E43F-18B9D260BE2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613721" y="5834008"/>
            <a:ext cx="217382" cy="217382"/>
          </a:xfrm>
          <a:prstGeom prst="rect">
            <a:avLst/>
          </a:prstGeom>
        </p:spPr>
      </p:pic>
      <p:cxnSp>
        <p:nvCxnSpPr>
          <p:cNvPr id="61" name="Connecteur droit 60">
            <a:extLst>
              <a:ext uri="{FF2B5EF4-FFF2-40B4-BE49-F238E27FC236}">
                <a16:creationId xmlns:a16="http://schemas.microsoft.com/office/drawing/2014/main" id="{3A718FAC-9847-4BEC-E5FA-469762613B5D}"/>
              </a:ext>
            </a:extLst>
          </p:cNvPr>
          <p:cNvCxnSpPr>
            <a:cxnSpLocks/>
          </p:cNvCxnSpPr>
          <p:nvPr/>
        </p:nvCxnSpPr>
        <p:spPr>
          <a:xfrm flipH="1">
            <a:off x="1121334" y="5473555"/>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62" name="Graphique 61" descr="Mille avec un remplissage uni">
            <a:extLst>
              <a:ext uri="{FF2B5EF4-FFF2-40B4-BE49-F238E27FC236}">
                <a16:creationId xmlns:a16="http://schemas.microsoft.com/office/drawing/2014/main" id="{72A72184-7AFF-53AC-329A-D38F1B0EE75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661631" y="5791831"/>
            <a:ext cx="213345" cy="213345"/>
          </a:xfrm>
          <a:prstGeom prst="rect">
            <a:avLst/>
          </a:prstGeom>
        </p:spPr>
      </p:pic>
      <p:sp>
        <p:nvSpPr>
          <p:cNvPr id="63" name="Signe Plus 62">
            <a:extLst>
              <a:ext uri="{FF2B5EF4-FFF2-40B4-BE49-F238E27FC236}">
                <a16:creationId xmlns:a16="http://schemas.microsoft.com/office/drawing/2014/main" id="{9D3A7E44-CC3F-50DC-BBF6-A2C50D5FE51D}"/>
              </a:ext>
            </a:extLst>
          </p:cNvPr>
          <p:cNvSpPr/>
          <p:nvPr/>
        </p:nvSpPr>
        <p:spPr>
          <a:xfrm>
            <a:off x="1800302" y="5585970"/>
            <a:ext cx="364119" cy="364119"/>
          </a:xfrm>
          <a:prstGeom prst="mathPlus">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Est égal à 63">
            <a:extLst>
              <a:ext uri="{FF2B5EF4-FFF2-40B4-BE49-F238E27FC236}">
                <a16:creationId xmlns:a16="http://schemas.microsoft.com/office/drawing/2014/main" id="{72B0702F-D5D0-3F7D-0FE2-6C5CB6CB1E51}"/>
              </a:ext>
            </a:extLst>
          </p:cNvPr>
          <p:cNvSpPr/>
          <p:nvPr/>
        </p:nvSpPr>
        <p:spPr>
          <a:xfrm>
            <a:off x="2769870" y="5249787"/>
            <a:ext cx="438667" cy="447536"/>
          </a:xfrm>
          <a:prstGeom prst="mathEqual">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65" name="ZoneTexte 64">
            <a:extLst>
              <a:ext uri="{FF2B5EF4-FFF2-40B4-BE49-F238E27FC236}">
                <a16:creationId xmlns:a16="http://schemas.microsoft.com/office/drawing/2014/main" id="{D3E62876-B8A7-BB99-30FB-6E277BC6296E}"/>
              </a:ext>
            </a:extLst>
          </p:cNvPr>
          <p:cNvSpPr txBox="1"/>
          <p:nvPr/>
        </p:nvSpPr>
        <p:spPr>
          <a:xfrm>
            <a:off x="3326878" y="5067181"/>
            <a:ext cx="1091210" cy="707886"/>
          </a:xfrm>
          <a:prstGeom prst="rect">
            <a:avLst/>
          </a:prstGeom>
          <a:noFill/>
        </p:spPr>
        <p:txBody>
          <a:bodyPr wrap="square">
            <a:spAutoFit/>
          </a:bodyPr>
          <a:lstStyle/>
          <a:p>
            <a:pPr marL="0" indent="0">
              <a:buNone/>
            </a:pPr>
            <a:r>
              <a:rPr lang="fr-FR" sz="4000" dirty="0"/>
              <a:t>… %</a:t>
            </a:r>
          </a:p>
        </p:txBody>
      </p:sp>
      <p:sp>
        <p:nvSpPr>
          <p:cNvPr id="66" name="ZoneTexte 65">
            <a:extLst>
              <a:ext uri="{FF2B5EF4-FFF2-40B4-BE49-F238E27FC236}">
                <a16:creationId xmlns:a16="http://schemas.microsoft.com/office/drawing/2014/main" id="{475787E0-FD3C-F6CC-A0E6-F4586EEC0FE2}"/>
              </a:ext>
            </a:extLst>
          </p:cNvPr>
          <p:cNvSpPr txBox="1"/>
          <p:nvPr/>
        </p:nvSpPr>
        <p:spPr>
          <a:xfrm>
            <a:off x="1588706" y="4776783"/>
            <a:ext cx="464463" cy="707886"/>
          </a:xfrm>
          <a:prstGeom prst="rect">
            <a:avLst/>
          </a:prstGeom>
          <a:noFill/>
        </p:spPr>
        <p:txBody>
          <a:bodyPr wrap="square">
            <a:spAutoFit/>
          </a:bodyPr>
          <a:lstStyle/>
          <a:p>
            <a:r>
              <a:rPr lang="el-GR" sz="4000" dirty="0"/>
              <a:t>Σ</a:t>
            </a:r>
            <a:endParaRPr lang="fr-FR" sz="4000" dirty="0"/>
          </a:p>
        </p:txBody>
      </p:sp>
      <p:sp>
        <p:nvSpPr>
          <p:cNvPr id="67" name="ZoneTexte 66">
            <a:extLst>
              <a:ext uri="{FF2B5EF4-FFF2-40B4-BE49-F238E27FC236}">
                <a16:creationId xmlns:a16="http://schemas.microsoft.com/office/drawing/2014/main" id="{331E2DC9-392F-1B7D-E3E3-CE1037839946}"/>
              </a:ext>
            </a:extLst>
          </p:cNvPr>
          <p:cNvSpPr txBox="1"/>
          <p:nvPr/>
        </p:nvSpPr>
        <p:spPr>
          <a:xfrm>
            <a:off x="2056042" y="5410701"/>
            <a:ext cx="464463" cy="707886"/>
          </a:xfrm>
          <a:prstGeom prst="rect">
            <a:avLst/>
          </a:prstGeom>
          <a:noFill/>
        </p:spPr>
        <p:txBody>
          <a:bodyPr wrap="square">
            <a:spAutoFit/>
          </a:bodyPr>
          <a:lstStyle/>
          <a:p>
            <a:r>
              <a:rPr lang="el-GR" sz="4000" dirty="0"/>
              <a:t>Σ</a:t>
            </a:r>
            <a:endParaRPr lang="fr-FR" sz="4000" dirty="0"/>
          </a:p>
        </p:txBody>
      </p:sp>
      <p:sp>
        <p:nvSpPr>
          <p:cNvPr id="68" name="ZoneTexte 67">
            <a:extLst>
              <a:ext uri="{FF2B5EF4-FFF2-40B4-BE49-F238E27FC236}">
                <a16:creationId xmlns:a16="http://schemas.microsoft.com/office/drawing/2014/main" id="{DF4DE49A-51B3-E963-FFDF-39E8FAD55614}"/>
              </a:ext>
            </a:extLst>
          </p:cNvPr>
          <p:cNvSpPr txBox="1"/>
          <p:nvPr/>
        </p:nvSpPr>
        <p:spPr>
          <a:xfrm>
            <a:off x="1013532" y="5417182"/>
            <a:ext cx="464463" cy="707886"/>
          </a:xfrm>
          <a:prstGeom prst="rect">
            <a:avLst/>
          </a:prstGeom>
          <a:noFill/>
        </p:spPr>
        <p:txBody>
          <a:bodyPr wrap="square">
            <a:spAutoFit/>
          </a:bodyPr>
          <a:lstStyle/>
          <a:p>
            <a:r>
              <a:rPr lang="el-GR" sz="4000" dirty="0"/>
              <a:t>Σ</a:t>
            </a:r>
            <a:endParaRPr lang="fr-FR" sz="4000" dirty="0"/>
          </a:p>
        </p:txBody>
      </p:sp>
      <p:sp>
        <p:nvSpPr>
          <p:cNvPr id="69" name="ZoneTexte 68">
            <a:extLst>
              <a:ext uri="{FF2B5EF4-FFF2-40B4-BE49-F238E27FC236}">
                <a16:creationId xmlns:a16="http://schemas.microsoft.com/office/drawing/2014/main" id="{4A3B4FD3-02FB-30B7-4858-419A91C24FA4}"/>
              </a:ext>
            </a:extLst>
          </p:cNvPr>
          <p:cNvSpPr txBox="1"/>
          <p:nvPr/>
        </p:nvSpPr>
        <p:spPr>
          <a:xfrm>
            <a:off x="543607" y="6285395"/>
            <a:ext cx="4052182" cy="461665"/>
          </a:xfrm>
          <a:prstGeom prst="rect">
            <a:avLst/>
          </a:prstGeom>
          <a:noFill/>
        </p:spPr>
        <p:txBody>
          <a:bodyPr wrap="square">
            <a:spAutoFit/>
          </a:bodyPr>
          <a:lstStyle/>
          <a:p>
            <a:pPr marL="0" indent="0">
              <a:buNone/>
            </a:pPr>
            <a:r>
              <a:rPr lang="fr-FR" sz="1200" dirty="0"/>
              <a:t>Nombre de sujets terminés (CCC-Goals) / nombre de sujets totaux</a:t>
            </a:r>
          </a:p>
        </p:txBody>
      </p:sp>
      <p:sp>
        <p:nvSpPr>
          <p:cNvPr id="70" name="Rectangle 69">
            <a:extLst>
              <a:ext uri="{FF2B5EF4-FFF2-40B4-BE49-F238E27FC236}">
                <a16:creationId xmlns:a16="http://schemas.microsoft.com/office/drawing/2014/main" id="{602AE6AE-0DD2-38FD-5C61-633D42C73CC0}"/>
              </a:ext>
            </a:extLst>
          </p:cNvPr>
          <p:cNvSpPr/>
          <p:nvPr/>
        </p:nvSpPr>
        <p:spPr>
          <a:xfrm>
            <a:off x="1925810" y="4987938"/>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71" name="Rectangle 70">
            <a:extLst>
              <a:ext uri="{FF2B5EF4-FFF2-40B4-BE49-F238E27FC236}">
                <a16:creationId xmlns:a16="http://schemas.microsoft.com/office/drawing/2014/main" id="{B0094F9D-F6A7-7726-83F1-BCB1224E88D9}"/>
              </a:ext>
            </a:extLst>
          </p:cNvPr>
          <p:cNvSpPr/>
          <p:nvPr/>
        </p:nvSpPr>
        <p:spPr>
          <a:xfrm>
            <a:off x="2396918" y="5612207"/>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72" name="Rectangle 71">
            <a:extLst>
              <a:ext uri="{FF2B5EF4-FFF2-40B4-BE49-F238E27FC236}">
                <a16:creationId xmlns:a16="http://schemas.microsoft.com/office/drawing/2014/main" id="{93E62F73-3C2B-3216-9AEA-AF5852286525}"/>
              </a:ext>
            </a:extLst>
          </p:cNvPr>
          <p:cNvSpPr/>
          <p:nvPr/>
        </p:nvSpPr>
        <p:spPr>
          <a:xfrm>
            <a:off x="1352306" y="5629086"/>
            <a:ext cx="267845" cy="28407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73" name="Espace réservé du contenu 2">
            <a:extLst>
              <a:ext uri="{FF2B5EF4-FFF2-40B4-BE49-F238E27FC236}">
                <a16:creationId xmlns:a16="http://schemas.microsoft.com/office/drawing/2014/main" id="{15D48F9D-E777-C85A-16F5-D46D19CB7D49}"/>
              </a:ext>
            </a:extLst>
          </p:cNvPr>
          <p:cNvSpPr txBox="1">
            <a:spLocks/>
          </p:cNvSpPr>
          <p:nvPr/>
        </p:nvSpPr>
        <p:spPr>
          <a:xfrm>
            <a:off x="5278478" y="1081085"/>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élevé</a:t>
            </a:r>
          </a:p>
          <a:p>
            <a:pPr marL="0" indent="0">
              <a:buNone/>
            </a:pPr>
            <a:r>
              <a:rPr lang="fr-FR" sz="1400" dirty="0"/>
              <a:t>Cela peut être signe de : Capacité à aller au bout des propositions. Ambitions faibles en termes d’objectifs. Historique long de la Communauté.</a:t>
            </a:r>
          </a:p>
          <a:p>
            <a:pPr marL="0" indent="0">
              <a:buNone/>
            </a:pPr>
            <a:r>
              <a:rPr lang="fr-FR" sz="1400" dirty="0"/>
              <a:t>On peut alors choisir de : renouveler les sujets, reprendre des sujets et pousser les ambitions sur ces sujets aux phases ultérieures. </a:t>
            </a:r>
          </a:p>
        </p:txBody>
      </p:sp>
      <p:sp>
        <p:nvSpPr>
          <p:cNvPr id="74" name="Espace réservé du contenu 2">
            <a:extLst>
              <a:ext uri="{FF2B5EF4-FFF2-40B4-BE49-F238E27FC236}">
                <a16:creationId xmlns:a16="http://schemas.microsoft.com/office/drawing/2014/main" id="{0E3BE8CF-B54A-6B9D-58A9-A44331D45201}"/>
              </a:ext>
            </a:extLst>
          </p:cNvPr>
          <p:cNvSpPr txBox="1">
            <a:spLocks/>
          </p:cNvSpPr>
          <p:nvPr/>
        </p:nvSpPr>
        <p:spPr>
          <a:xfrm>
            <a:off x="5278478" y="2924172"/>
            <a:ext cx="5411692" cy="1633537"/>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bas</a:t>
            </a:r>
          </a:p>
          <a:p>
            <a:pPr marL="0" indent="0">
              <a:buNone/>
            </a:pPr>
            <a:r>
              <a:rPr lang="fr-FR" sz="1400" dirty="0"/>
              <a:t>Cela peut être signe de : Ambitions trop élevées, Dispersion, faibles possibilités ou capacités à se concentrer sur faire avancer un sujet, jeunesse (nouveauté) de la Communauté, Turnover élevé des membres.</a:t>
            </a:r>
          </a:p>
          <a:p>
            <a:pPr marL="0" indent="0">
              <a:buNone/>
            </a:pPr>
            <a:r>
              <a:rPr lang="fr-FR" sz="1400" dirty="0"/>
              <a:t>On peut alors choisir de : Recentrer la communauté avec des ateliers de priorisation, revoir à la baisse les ambitions, se concentrer sur les membres qui restent</a:t>
            </a:r>
          </a:p>
          <a:p>
            <a:pPr marL="0" indent="0">
              <a:buNone/>
            </a:pPr>
            <a:endParaRPr lang="fr-FR" sz="1800" b="1" dirty="0"/>
          </a:p>
          <a:p>
            <a:pPr marL="0" indent="0">
              <a:buNone/>
            </a:pPr>
            <a:endParaRPr lang="fr-FR" sz="1800" b="1" dirty="0"/>
          </a:p>
        </p:txBody>
      </p:sp>
      <p:sp>
        <p:nvSpPr>
          <p:cNvPr id="75" name="Espace réservé du contenu 2">
            <a:extLst>
              <a:ext uri="{FF2B5EF4-FFF2-40B4-BE49-F238E27FC236}">
                <a16:creationId xmlns:a16="http://schemas.microsoft.com/office/drawing/2014/main" id="{F6B434AD-3434-BDEF-6E4D-3E20401A58FC}"/>
              </a:ext>
            </a:extLst>
          </p:cNvPr>
          <p:cNvSpPr txBox="1">
            <a:spLocks/>
          </p:cNvSpPr>
          <p:nvPr/>
        </p:nvSpPr>
        <p:spPr>
          <a:xfrm>
            <a:off x="5278478" y="4762496"/>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marL="0" indent="0">
              <a:buNone/>
            </a:pPr>
            <a:r>
              <a:rPr lang="fr-FR" sz="1400" dirty="0"/>
              <a:t>Pour le CCC-Goals, se donner « un objectif minimum » et « un objectif idéal » pour chaque sujet, et mesurer à nouveau les différents indicateurs.</a:t>
            </a:r>
          </a:p>
          <a:p>
            <a:pPr marL="0" indent="0">
              <a:buNone/>
            </a:pPr>
            <a:endParaRPr lang="fr-FR" sz="1400" dirty="0"/>
          </a:p>
          <a:p>
            <a:pPr marL="0" indent="0">
              <a:buNone/>
            </a:pPr>
            <a:endParaRPr lang="fr-FR" sz="1400" dirty="0"/>
          </a:p>
          <a:p>
            <a:pPr marL="0" indent="0">
              <a:buNone/>
            </a:pPr>
            <a:endParaRPr lang="fr-FR" sz="1800" b="1" dirty="0"/>
          </a:p>
          <a:p>
            <a:pPr marL="0" indent="0">
              <a:buNone/>
            </a:pPr>
            <a:endParaRPr lang="fr-FR" sz="1800" b="1" dirty="0"/>
          </a:p>
        </p:txBody>
      </p:sp>
    </p:spTree>
    <p:extLst>
      <p:ext uri="{BB962C8B-B14F-4D97-AF65-F5344CB8AC3E}">
        <p14:creationId xmlns:p14="http://schemas.microsoft.com/office/powerpoint/2010/main" val="76685588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p:txBody>
          <a:bodyPr>
            <a:normAutofit/>
          </a:bodyPr>
          <a:lstStyle/>
          <a:p>
            <a:r>
              <a:rPr lang="fr-FR" sz="3200" b="1" dirty="0"/>
              <a:t>Indicateur : </a:t>
            </a:r>
            <a:br>
              <a:rPr lang="fr-FR" sz="3200" b="1" dirty="0"/>
            </a:br>
            <a:r>
              <a:rPr lang="fr-FR" sz="3200" dirty="0"/>
              <a:t>Niveau moyen de maturité des sujets</a:t>
            </a:r>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endParaRPr lang="fr-FR" sz="1400" b="1" dirty="0"/>
          </a:p>
          <a:p>
            <a:pPr marL="0" indent="0">
              <a:buNone/>
            </a:pPr>
            <a:r>
              <a:rPr lang="fr-FR" sz="1400" dirty="0"/>
              <a:t>Avoir identifié les sujets de la communauté </a:t>
            </a:r>
          </a:p>
          <a:p>
            <a:pPr marL="0" indent="0">
              <a:buNone/>
            </a:pPr>
            <a:endParaRPr lang="fr-FR" sz="1400" dirty="0"/>
          </a:p>
          <a:p>
            <a:pPr marL="0" indent="0">
              <a:buNone/>
            </a:pPr>
            <a:r>
              <a:rPr lang="fr-FR" sz="1400" dirty="0"/>
              <a:t>Avoir positionné les différents sujets dans l’atelier CCC-Flow </a:t>
            </a:r>
          </a:p>
          <a:p>
            <a:pPr marL="0" indent="0">
              <a:buNone/>
            </a:pPr>
            <a:endParaRPr lang="fr-FR" sz="1400" dirty="0"/>
          </a:p>
          <a:p>
            <a:pPr marL="0" indent="0">
              <a:buNone/>
            </a:pPr>
            <a:endParaRPr lang="fr-FR" sz="1400" dirty="0"/>
          </a:p>
          <a:p>
            <a:pPr marL="0" indent="0">
              <a:buNone/>
            </a:pPr>
            <a:endParaRPr lang="fr-FR" sz="1800" b="1" dirty="0"/>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Le but de cet indicateur est de savoir globalement « où la communauté en est » en termes de phases de CCC.</a:t>
            </a:r>
          </a:p>
          <a:p>
            <a:pPr marL="0" indent="0">
              <a:buNone/>
            </a:pPr>
            <a:r>
              <a:rPr lang="fr-FR" sz="1400" dirty="0"/>
              <a:t>On mesure cet indicateur en donnant un niveau (par exemple : 0 pas commencé, 1 inspiration, 2 collecte…) et en faisant la moyenne des niveaux sur l’ensemble des tickets.</a:t>
            </a:r>
          </a:p>
          <a:p>
            <a:pPr marL="0" indent="0">
              <a:buNone/>
            </a:pPr>
            <a:r>
              <a:rPr lang="fr-FR" sz="1400" dirty="0"/>
              <a:t>Libre à vous de choisir ou non les sujets que vous considérez comme « terminés » ou non</a:t>
            </a:r>
          </a:p>
        </p:txBody>
      </p:sp>
      <p:graphicFrame>
        <p:nvGraphicFramePr>
          <p:cNvPr id="10" name="Tableau 5">
            <a:extLst>
              <a:ext uri="{FF2B5EF4-FFF2-40B4-BE49-F238E27FC236}">
                <a16:creationId xmlns:a16="http://schemas.microsoft.com/office/drawing/2014/main" id="{DF546B1B-D770-78E2-6F8E-E74494525D83}"/>
              </a:ext>
            </a:extLst>
          </p:cNvPr>
          <p:cNvGraphicFramePr>
            <a:graphicFrameLocks noGrp="1"/>
          </p:cNvGraphicFramePr>
          <p:nvPr>
            <p:extLst>
              <p:ext uri="{D42A27DB-BD31-4B8C-83A1-F6EECF244321}">
                <p14:modId xmlns:p14="http://schemas.microsoft.com/office/powerpoint/2010/main" val="1628637372"/>
              </p:ext>
            </p:extLst>
          </p:nvPr>
        </p:nvGraphicFramePr>
        <p:xfrm>
          <a:off x="394489" y="2039838"/>
          <a:ext cx="4731040" cy="1771311"/>
        </p:xfrm>
        <a:graphic>
          <a:graphicData uri="http://schemas.openxmlformats.org/drawingml/2006/table">
            <a:tbl>
              <a:tblPr firstRow="1" bandRow="1">
                <a:tableStyleId>{073A0DAA-6AF3-43AB-8588-CEC1D06C72B9}</a:tableStyleId>
              </a:tblPr>
              <a:tblGrid>
                <a:gridCol w="591380">
                  <a:extLst>
                    <a:ext uri="{9D8B030D-6E8A-4147-A177-3AD203B41FA5}">
                      <a16:colId xmlns:a16="http://schemas.microsoft.com/office/drawing/2014/main" val="1486018635"/>
                    </a:ext>
                  </a:extLst>
                </a:gridCol>
                <a:gridCol w="591380">
                  <a:extLst>
                    <a:ext uri="{9D8B030D-6E8A-4147-A177-3AD203B41FA5}">
                      <a16:colId xmlns:a16="http://schemas.microsoft.com/office/drawing/2014/main" val="761339006"/>
                    </a:ext>
                  </a:extLst>
                </a:gridCol>
                <a:gridCol w="591380">
                  <a:extLst>
                    <a:ext uri="{9D8B030D-6E8A-4147-A177-3AD203B41FA5}">
                      <a16:colId xmlns:a16="http://schemas.microsoft.com/office/drawing/2014/main" val="416087062"/>
                    </a:ext>
                  </a:extLst>
                </a:gridCol>
                <a:gridCol w="591380">
                  <a:extLst>
                    <a:ext uri="{9D8B030D-6E8A-4147-A177-3AD203B41FA5}">
                      <a16:colId xmlns:a16="http://schemas.microsoft.com/office/drawing/2014/main" val="2064857721"/>
                    </a:ext>
                  </a:extLst>
                </a:gridCol>
                <a:gridCol w="591380">
                  <a:extLst>
                    <a:ext uri="{9D8B030D-6E8A-4147-A177-3AD203B41FA5}">
                      <a16:colId xmlns:a16="http://schemas.microsoft.com/office/drawing/2014/main" val="183491405"/>
                    </a:ext>
                  </a:extLst>
                </a:gridCol>
                <a:gridCol w="591380">
                  <a:extLst>
                    <a:ext uri="{9D8B030D-6E8A-4147-A177-3AD203B41FA5}">
                      <a16:colId xmlns:a16="http://schemas.microsoft.com/office/drawing/2014/main" val="3364014230"/>
                    </a:ext>
                  </a:extLst>
                </a:gridCol>
                <a:gridCol w="591380">
                  <a:extLst>
                    <a:ext uri="{9D8B030D-6E8A-4147-A177-3AD203B41FA5}">
                      <a16:colId xmlns:a16="http://schemas.microsoft.com/office/drawing/2014/main" val="365145181"/>
                    </a:ext>
                  </a:extLst>
                </a:gridCol>
                <a:gridCol w="591380">
                  <a:extLst>
                    <a:ext uri="{9D8B030D-6E8A-4147-A177-3AD203B41FA5}">
                      <a16:colId xmlns:a16="http://schemas.microsoft.com/office/drawing/2014/main" val="1628287487"/>
                    </a:ext>
                  </a:extLst>
                </a:gridCol>
              </a:tblGrid>
              <a:tr h="241446">
                <a:tc>
                  <a:txBody>
                    <a:bodyPr/>
                    <a:lstStyle/>
                    <a:p>
                      <a:pPr algn="ctr"/>
                      <a:r>
                        <a:rPr lang="fr-FR" sz="2800" dirty="0">
                          <a:solidFill>
                            <a:schemeClr val="tx1"/>
                          </a:solidFill>
                        </a:rPr>
                        <a:t>0</a:t>
                      </a:r>
                    </a:p>
                  </a:txBody>
                  <a:tcPr marL="43096" marR="43096" marT="21548" marB="21548">
                    <a:solidFill>
                      <a:schemeClr val="bg1"/>
                    </a:solidFill>
                  </a:tcPr>
                </a:tc>
                <a:tc>
                  <a:txBody>
                    <a:bodyPr/>
                    <a:lstStyle/>
                    <a:p>
                      <a:pPr algn="ctr"/>
                      <a:r>
                        <a:rPr lang="fr-FR" sz="2800" dirty="0">
                          <a:solidFill>
                            <a:schemeClr val="tx1"/>
                          </a:solidFill>
                        </a:rPr>
                        <a:t>1</a:t>
                      </a:r>
                    </a:p>
                  </a:txBody>
                  <a:tcPr marL="43096" marR="43096" marT="21548" marB="21548">
                    <a:solidFill>
                      <a:schemeClr val="bg1"/>
                    </a:solidFill>
                  </a:tcPr>
                </a:tc>
                <a:tc>
                  <a:txBody>
                    <a:bodyPr/>
                    <a:lstStyle/>
                    <a:p>
                      <a:pPr algn="ctr"/>
                      <a:r>
                        <a:rPr lang="fr-FR" sz="2800" dirty="0">
                          <a:solidFill>
                            <a:schemeClr val="tx1"/>
                          </a:solidFill>
                        </a:rPr>
                        <a:t>2</a:t>
                      </a:r>
                    </a:p>
                  </a:txBody>
                  <a:tcPr marL="43096" marR="43096" marT="21548" marB="21548">
                    <a:solidFill>
                      <a:schemeClr val="bg1"/>
                    </a:solidFill>
                  </a:tcPr>
                </a:tc>
                <a:tc>
                  <a:txBody>
                    <a:bodyPr/>
                    <a:lstStyle/>
                    <a:p>
                      <a:pPr algn="ctr"/>
                      <a:r>
                        <a:rPr lang="fr-FR" sz="2800" dirty="0">
                          <a:solidFill>
                            <a:schemeClr val="tx1"/>
                          </a:solidFill>
                        </a:rPr>
                        <a:t>3</a:t>
                      </a:r>
                    </a:p>
                  </a:txBody>
                  <a:tcPr marL="43096" marR="43096" marT="21548" marB="21548">
                    <a:solidFill>
                      <a:schemeClr val="bg1"/>
                    </a:solidFill>
                  </a:tcPr>
                </a:tc>
                <a:tc>
                  <a:txBody>
                    <a:bodyPr/>
                    <a:lstStyle/>
                    <a:p>
                      <a:pPr algn="ctr"/>
                      <a:r>
                        <a:rPr lang="fr-FR" sz="2800" dirty="0">
                          <a:solidFill>
                            <a:schemeClr val="tx1"/>
                          </a:solidFill>
                        </a:rPr>
                        <a:t>4</a:t>
                      </a:r>
                    </a:p>
                  </a:txBody>
                  <a:tcPr marL="43096" marR="43096" marT="21548" marB="21548">
                    <a:solidFill>
                      <a:schemeClr val="bg1"/>
                    </a:solidFill>
                  </a:tcPr>
                </a:tc>
                <a:tc>
                  <a:txBody>
                    <a:bodyPr/>
                    <a:lstStyle/>
                    <a:p>
                      <a:pPr algn="ctr"/>
                      <a:r>
                        <a:rPr lang="fr-FR" sz="2800" dirty="0">
                          <a:solidFill>
                            <a:schemeClr val="tx1"/>
                          </a:solidFill>
                        </a:rPr>
                        <a:t>5</a:t>
                      </a:r>
                    </a:p>
                  </a:txBody>
                  <a:tcPr marL="43096" marR="43096" marT="21548" marB="21548">
                    <a:solidFill>
                      <a:schemeClr val="bg1"/>
                    </a:solidFill>
                  </a:tcPr>
                </a:tc>
                <a:tc>
                  <a:txBody>
                    <a:bodyPr/>
                    <a:lstStyle/>
                    <a:p>
                      <a:pPr algn="ctr"/>
                      <a:r>
                        <a:rPr lang="fr-FR" sz="2800" dirty="0">
                          <a:solidFill>
                            <a:schemeClr val="tx1"/>
                          </a:solidFill>
                        </a:rPr>
                        <a:t>6</a:t>
                      </a:r>
                    </a:p>
                  </a:txBody>
                  <a:tcPr marL="43096" marR="43096" marT="21548" marB="21548">
                    <a:solidFill>
                      <a:schemeClr val="bg1"/>
                    </a:solidFill>
                  </a:tcPr>
                </a:tc>
                <a:tc>
                  <a:txBody>
                    <a:bodyPr/>
                    <a:lstStyle/>
                    <a:p>
                      <a:pPr algn="ctr"/>
                      <a:r>
                        <a:rPr lang="fr-FR" sz="2800" dirty="0">
                          <a:solidFill>
                            <a:schemeClr val="tx1"/>
                          </a:solidFill>
                        </a:rPr>
                        <a:t>7</a:t>
                      </a:r>
                    </a:p>
                  </a:txBody>
                  <a:tcPr marL="43096" marR="43096" marT="21548" marB="21548">
                    <a:solidFill>
                      <a:schemeClr val="bg1"/>
                    </a:solidFill>
                  </a:tcPr>
                </a:tc>
                <a:extLst>
                  <a:ext uri="{0D108BD9-81ED-4DB2-BD59-A6C34878D82A}">
                    <a16:rowId xmlns:a16="http://schemas.microsoft.com/office/drawing/2014/main" val="3367535307"/>
                  </a:ext>
                </a:extLst>
              </a:tr>
              <a:tr h="241446">
                <a:tc>
                  <a:txBody>
                    <a:bodyPr/>
                    <a:lstStyle/>
                    <a:p>
                      <a:pPr algn="ctr"/>
                      <a:r>
                        <a:rPr lang="fr-FR" sz="400" dirty="0">
                          <a:solidFill>
                            <a:schemeClr val="bg1"/>
                          </a:solidFill>
                        </a:rPr>
                        <a:t>PAS ENCORE COMMENCÉ</a:t>
                      </a: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INSPIRATION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COLLECTE</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INITIATION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CHOC DE LA RÉALITÉ</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CONFIRMATION DE RÉUSSITES</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EXPOSITION</a:t>
                      </a:r>
                    </a:p>
                    <a:p>
                      <a:pPr algn="ctr"/>
                      <a:endParaRPr lang="fr-FR" sz="400">
                        <a:solidFill>
                          <a:schemeClr val="bg1"/>
                        </a:solidFill>
                      </a:endParaRPr>
                    </a:p>
                  </a:txBody>
                  <a:tcPr marL="43096" marR="43096" marT="21548" marB="21548">
                    <a:solidFill>
                      <a:srgbClr val="0683AA"/>
                    </a:solidFill>
                  </a:tcPr>
                </a:tc>
                <a:tc>
                  <a:txBody>
                    <a:bodyPr/>
                    <a:lstStyle/>
                    <a:p>
                      <a:pPr marL="0" indent="0" algn="ctr">
                        <a:buFont typeface="Arial" panose="020B0604020202020204" pitchFamily="34" charset="0"/>
                        <a:buNone/>
                      </a:pPr>
                      <a:r>
                        <a:rPr lang="fr-FR" sz="400" b="1" i="1" dirty="0">
                          <a:solidFill>
                            <a:schemeClr val="bg1"/>
                          </a:solidFill>
                        </a:rPr>
                        <a:t>FORTIFICATION</a:t>
                      </a:r>
                    </a:p>
                    <a:p>
                      <a:pPr marL="0" indent="0" algn="ctr">
                        <a:buFont typeface="Arial" panose="020B0604020202020204" pitchFamily="34" charset="0"/>
                        <a:buNone/>
                      </a:pPr>
                      <a:endParaRPr lang="fr-FR" sz="400" b="1" i="1" dirty="0">
                        <a:solidFill>
                          <a:schemeClr val="bg1"/>
                        </a:solidFill>
                      </a:endParaRPr>
                    </a:p>
                    <a:p>
                      <a:pPr algn="ctr"/>
                      <a:endParaRPr lang="fr-FR" sz="400" dirty="0">
                        <a:solidFill>
                          <a:schemeClr val="bg1"/>
                        </a:solidFill>
                      </a:endParaRPr>
                    </a:p>
                  </a:txBody>
                  <a:tcPr marL="43096" marR="43096" marT="21548" marB="21548">
                    <a:solidFill>
                      <a:srgbClr val="0683AA"/>
                    </a:solidFill>
                  </a:tcPr>
                </a:tc>
                <a:extLst>
                  <a:ext uri="{0D108BD9-81ED-4DB2-BD59-A6C34878D82A}">
                    <a16:rowId xmlns:a16="http://schemas.microsoft.com/office/drawing/2014/main" val="3579208894"/>
                  </a:ext>
                </a:extLst>
              </a:tr>
              <a:tr h="1060049">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dirty="0"/>
                    </a:p>
                  </a:txBody>
                  <a:tcPr marL="43096" marR="43096" marT="21548" marB="21548"/>
                </a:tc>
                <a:extLst>
                  <a:ext uri="{0D108BD9-81ED-4DB2-BD59-A6C34878D82A}">
                    <a16:rowId xmlns:a16="http://schemas.microsoft.com/office/drawing/2014/main" val="1415023090"/>
                  </a:ext>
                </a:extLst>
              </a:tr>
            </a:tbl>
          </a:graphicData>
        </a:graphic>
      </p:graphicFrame>
      <p:grpSp>
        <p:nvGrpSpPr>
          <p:cNvPr id="22" name="Groupe 21">
            <a:extLst>
              <a:ext uri="{FF2B5EF4-FFF2-40B4-BE49-F238E27FC236}">
                <a16:creationId xmlns:a16="http://schemas.microsoft.com/office/drawing/2014/main" id="{4D33AC72-B8F8-3813-C612-20518A4E8F1A}"/>
              </a:ext>
            </a:extLst>
          </p:cNvPr>
          <p:cNvGrpSpPr/>
          <p:nvPr/>
        </p:nvGrpSpPr>
        <p:grpSpPr>
          <a:xfrm>
            <a:off x="470688" y="2805722"/>
            <a:ext cx="3942729" cy="884898"/>
            <a:chOff x="2320960" y="3201400"/>
            <a:chExt cx="6409931" cy="1487380"/>
          </a:xfrm>
        </p:grpSpPr>
        <p:sp>
          <p:nvSpPr>
            <p:cNvPr id="11" name="Rectangle 10">
              <a:extLst>
                <a:ext uri="{FF2B5EF4-FFF2-40B4-BE49-F238E27FC236}">
                  <a16:creationId xmlns:a16="http://schemas.microsoft.com/office/drawing/2014/main" id="{DEB9D7C5-CC49-DD5B-D14D-A6AF943C6B4E}"/>
                </a:ext>
              </a:extLst>
            </p:cNvPr>
            <p:cNvSpPr/>
            <p:nvPr/>
          </p:nvSpPr>
          <p:spPr>
            <a:xfrm>
              <a:off x="3343197" y="3201400"/>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dirty="0">
                  <a:solidFill>
                    <a:schemeClr val="tx1"/>
                  </a:solidFill>
                </a:rPr>
                <a:t>RDD</a:t>
              </a:r>
            </a:p>
          </p:txBody>
        </p:sp>
        <p:sp>
          <p:nvSpPr>
            <p:cNvPr id="12" name="Rectangle 11">
              <a:extLst>
                <a:ext uri="{FF2B5EF4-FFF2-40B4-BE49-F238E27FC236}">
                  <a16:creationId xmlns:a16="http://schemas.microsoft.com/office/drawing/2014/main" id="{97B19086-0480-EB4A-AAC3-233C26A88963}"/>
                </a:ext>
              </a:extLst>
            </p:cNvPr>
            <p:cNvSpPr/>
            <p:nvPr/>
          </p:nvSpPr>
          <p:spPr>
            <a:xfrm>
              <a:off x="3711014" y="399209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3" name="Rectangle 12">
              <a:extLst>
                <a:ext uri="{FF2B5EF4-FFF2-40B4-BE49-F238E27FC236}">
                  <a16:creationId xmlns:a16="http://schemas.microsoft.com/office/drawing/2014/main" id="{ECA8223D-D93E-AD58-A702-0F276B8EF128}"/>
                </a:ext>
              </a:extLst>
            </p:cNvPr>
            <p:cNvSpPr/>
            <p:nvPr/>
          </p:nvSpPr>
          <p:spPr>
            <a:xfrm>
              <a:off x="4667364" y="3409539"/>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4" name="Rectangle 13">
              <a:extLst>
                <a:ext uri="{FF2B5EF4-FFF2-40B4-BE49-F238E27FC236}">
                  <a16:creationId xmlns:a16="http://schemas.microsoft.com/office/drawing/2014/main" id="{3B911DAE-DB4D-E436-504A-1A4CB5F2B6E4}"/>
                </a:ext>
              </a:extLst>
            </p:cNvPr>
            <p:cNvSpPr/>
            <p:nvPr/>
          </p:nvSpPr>
          <p:spPr>
            <a:xfrm>
              <a:off x="5352674" y="333888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IA</a:t>
              </a:r>
            </a:p>
          </p:txBody>
        </p:sp>
        <p:sp>
          <p:nvSpPr>
            <p:cNvPr id="15" name="Rectangle 14">
              <a:extLst>
                <a:ext uri="{FF2B5EF4-FFF2-40B4-BE49-F238E27FC236}">
                  <a16:creationId xmlns:a16="http://schemas.microsoft.com/office/drawing/2014/main" id="{E0E5F5AC-B85A-A65A-B8B0-C32D27939123}"/>
                </a:ext>
              </a:extLst>
            </p:cNvPr>
            <p:cNvSpPr/>
            <p:nvPr/>
          </p:nvSpPr>
          <p:spPr>
            <a:xfrm>
              <a:off x="7537994" y="346256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6" name="Rectangle 15">
              <a:extLst>
                <a:ext uri="{FF2B5EF4-FFF2-40B4-BE49-F238E27FC236}">
                  <a16:creationId xmlns:a16="http://schemas.microsoft.com/office/drawing/2014/main" id="{833D0701-6384-8A81-BA56-B464A7D94666}"/>
                </a:ext>
              </a:extLst>
            </p:cNvPr>
            <p:cNvSpPr/>
            <p:nvPr/>
          </p:nvSpPr>
          <p:spPr>
            <a:xfrm>
              <a:off x="6632821" y="396113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7" name="Rectangle 16">
              <a:extLst>
                <a:ext uri="{FF2B5EF4-FFF2-40B4-BE49-F238E27FC236}">
                  <a16:creationId xmlns:a16="http://schemas.microsoft.com/office/drawing/2014/main" id="{0E402C67-6E24-4C03-8284-CDA927701E21}"/>
                </a:ext>
              </a:extLst>
            </p:cNvPr>
            <p:cNvSpPr/>
            <p:nvPr/>
          </p:nvSpPr>
          <p:spPr>
            <a:xfrm>
              <a:off x="2585155" y="3494894"/>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RSE</a:t>
              </a:r>
            </a:p>
          </p:txBody>
        </p:sp>
        <p:sp>
          <p:nvSpPr>
            <p:cNvPr id="18" name="Rectangle 17">
              <a:extLst>
                <a:ext uri="{FF2B5EF4-FFF2-40B4-BE49-F238E27FC236}">
                  <a16:creationId xmlns:a16="http://schemas.microsoft.com/office/drawing/2014/main" id="{CAF16685-2D5F-1629-64D3-8A21F4D7CA10}"/>
                </a:ext>
              </a:extLst>
            </p:cNvPr>
            <p:cNvSpPr/>
            <p:nvPr/>
          </p:nvSpPr>
          <p:spPr>
            <a:xfrm>
              <a:off x="2788403" y="426100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RGPD</a:t>
              </a:r>
            </a:p>
          </p:txBody>
        </p:sp>
        <p:sp>
          <p:nvSpPr>
            <p:cNvPr id="19" name="Rectangle 18">
              <a:extLst>
                <a:ext uri="{FF2B5EF4-FFF2-40B4-BE49-F238E27FC236}">
                  <a16:creationId xmlns:a16="http://schemas.microsoft.com/office/drawing/2014/main" id="{589FC19A-BB1C-C36B-315D-24BC90B1F821}"/>
                </a:ext>
              </a:extLst>
            </p:cNvPr>
            <p:cNvSpPr/>
            <p:nvPr/>
          </p:nvSpPr>
          <p:spPr>
            <a:xfrm>
              <a:off x="3182694" y="3816934"/>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IOT</a:t>
              </a:r>
            </a:p>
          </p:txBody>
        </p:sp>
        <p:sp>
          <p:nvSpPr>
            <p:cNvPr id="20" name="Rectangle 19">
              <a:extLst>
                <a:ext uri="{FF2B5EF4-FFF2-40B4-BE49-F238E27FC236}">
                  <a16:creationId xmlns:a16="http://schemas.microsoft.com/office/drawing/2014/main" id="{0090D398-5B02-839C-7839-6D0484FBCF6C}"/>
                </a:ext>
              </a:extLst>
            </p:cNvPr>
            <p:cNvSpPr/>
            <p:nvPr/>
          </p:nvSpPr>
          <p:spPr>
            <a:xfrm>
              <a:off x="2320960" y="4338458"/>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21" name="Rectangle 20">
              <a:extLst>
                <a:ext uri="{FF2B5EF4-FFF2-40B4-BE49-F238E27FC236}">
                  <a16:creationId xmlns:a16="http://schemas.microsoft.com/office/drawing/2014/main" id="{FBD8B3E4-5A0B-D6C3-52AE-24B947234C7F}"/>
                </a:ext>
              </a:extLst>
            </p:cNvPr>
            <p:cNvSpPr/>
            <p:nvPr/>
          </p:nvSpPr>
          <p:spPr>
            <a:xfrm>
              <a:off x="8376898" y="3751861"/>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sp>
        <p:nvSpPr>
          <p:cNvPr id="42" name="ZoneTexte 41">
            <a:extLst>
              <a:ext uri="{FF2B5EF4-FFF2-40B4-BE49-F238E27FC236}">
                <a16:creationId xmlns:a16="http://schemas.microsoft.com/office/drawing/2014/main" id="{0D8D6BAA-C9C6-1650-696E-024374C3F38B}"/>
              </a:ext>
            </a:extLst>
          </p:cNvPr>
          <p:cNvSpPr txBox="1"/>
          <p:nvPr/>
        </p:nvSpPr>
        <p:spPr>
          <a:xfrm>
            <a:off x="579558" y="6121578"/>
            <a:ext cx="4052182" cy="276999"/>
          </a:xfrm>
          <a:prstGeom prst="rect">
            <a:avLst/>
          </a:prstGeom>
          <a:noFill/>
        </p:spPr>
        <p:txBody>
          <a:bodyPr wrap="square">
            <a:spAutoFit/>
          </a:bodyPr>
          <a:lstStyle/>
          <a:p>
            <a:pPr marL="0" indent="0">
              <a:buNone/>
            </a:pPr>
            <a:r>
              <a:rPr lang="fr-FR" sz="1200" dirty="0"/>
              <a:t>Niveau (phase) de chaque sujet / nombre de sujets totaux</a:t>
            </a:r>
          </a:p>
        </p:txBody>
      </p:sp>
      <p:cxnSp>
        <p:nvCxnSpPr>
          <p:cNvPr id="45" name="Connecteur droit 44">
            <a:extLst>
              <a:ext uri="{FF2B5EF4-FFF2-40B4-BE49-F238E27FC236}">
                <a16:creationId xmlns:a16="http://schemas.microsoft.com/office/drawing/2014/main" id="{A18F7069-E597-85E1-BB9E-EF5F4923933A}"/>
              </a:ext>
            </a:extLst>
          </p:cNvPr>
          <p:cNvCxnSpPr>
            <a:cxnSpLocks/>
          </p:cNvCxnSpPr>
          <p:nvPr/>
        </p:nvCxnSpPr>
        <p:spPr>
          <a:xfrm flipH="1">
            <a:off x="1407480" y="5413692"/>
            <a:ext cx="108846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48" name="ZoneTexte 47">
            <a:extLst>
              <a:ext uri="{FF2B5EF4-FFF2-40B4-BE49-F238E27FC236}">
                <a16:creationId xmlns:a16="http://schemas.microsoft.com/office/drawing/2014/main" id="{C1E2EB7D-CAEB-A990-2F5D-3CD055EA18F4}"/>
              </a:ext>
            </a:extLst>
          </p:cNvPr>
          <p:cNvSpPr txBox="1"/>
          <p:nvPr/>
        </p:nvSpPr>
        <p:spPr>
          <a:xfrm>
            <a:off x="1615531" y="4605710"/>
            <a:ext cx="464463" cy="707886"/>
          </a:xfrm>
          <a:prstGeom prst="rect">
            <a:avLst/>
          </a:prstGeom>
          <a:noFill/>
        </p:spPr>
        <p:txBody>
          <a:bodyPr wrap="square">
            <a:spAutoFit/>
          </a:bodyPr>
          <a:lstStyle/>
          <a:p>
            <a:r>
              <a:rPr lang="el-GR" sz="4000" dirty="0"/>
              <a:t>Σ</a:t>
            </a:r>
            <a:endParaRPr lang="fr-FR" sz="4000" dirty="0"/>
          </a:p>
        </p:txBody>
      </p:sp>
      <p:sp>
        <p:nvSpPr>
          <p:cNvPr id="50" name="ZoneTexte 49">
            <a:extLst>
              <a:ext uri="{FF2B5EF4-FFF2-40B4-BE49-F238E27FC236}">
                <a16:creationId xmlns:a16="http://schemas.microsoft.com/office/drawing/2014/main" id="{D4472441-E336-C18C-1D90-5E1981A51EDE}"/>
              </a:ext>
            </a:extLst>
          </p:cNvPr>
          <p:cNvSpPr txBox="1"/>
          <p:nvPr/>
        </p:nvSpPr>
        <p:spPr>
          <a:xfrm>
            <a:off x="1610499" y="5325836"/>
            <a:ext cx="464463" cy="707886"/>
          </a:xfrm>
          <a:prstGeom prst="rect">
            <a:avLst/>
          </a:prstGeom>
          <a:noFill/>
        </p:spPr>
        <p:txBody>
          <a:bodyPr wrap="square">
            <a:spAutoFit/>
          </a:bodyPr>
          <a:lstStyle/>
          <a:p>
            <a:r>
              <a:rPr lang="el-GR" sz="4000" dirty="0"/>
              <a:t>Σ</a:t>
            </a:r>
            <a:endParaRPr lang="fr-FR" sz="4000" dirty="0"/>
          </a:p>
        </p:txBody>
      </p:sp>
      <p:sp>
        <p:nvSpPr>
          <p:cNvPr id="51" name="ZoneTexte 50">
            <a:extLst>
              <a:ext uri="{FF2B5EF4-FFF2-40B4-BE49-F238E27FC236}">
                <a16:creationId xmlns:a16="http://schemas.microsoft.com/office/drawing/2014/main" id="{F7C8AAD9-3374-1326-25BE-BBC5AC4B4748}"/>
              </a:ext>
            </a:extLst>
          </p:cNvPr>
          <p:cNvSpPr txBox="1"/>
          <p:nvPr/>
        </p:nvSpPr>
        <p:spPr>
          <a:xfrm>
            <a:off x="1871023" y="4705806"/>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53" name="ZoneTexte 52">
            <a:extLst>
              <a:ext uri="{FF2B5EF4-FFF2-40B4-BE49-F238E27FC236}">
                <a16:creationId xmlns:a16="http://schemas.microsoft.com/office/drawing/2014/main" id="{FF9609C7-5403-B9E1-3A71-B903F0D436B9}"/>
              </a:ext>
            </a:extLst>
          </p:cNvPr>
          <p:cNvSpPr txBox="1"/>
          <p:nvPr/>
        </p:nvSpPr>
        <p:spPr>
          <a:xfrm>
            <a:off x="1596483" y="5129010"/>
            <a:ext cx="246248" cy="169277"/>
          </a:xfrm>
          <a:prstGeom prst="rect">
            <a:avLst/>
          </a:prstGeom>
          <a:noFill/>
        </p:spPr>
        <p:txBody>
          <a:bodyPr wrap="square">
            <a:spAutoFit/>
          </a:bodyPr>
          <a:lstStyle/>
          <a:p>
            <a:r>
              <a:rPr lang="fr-FR" sz="500" dirty="0"/>
              <a:t>I =</a:t>
            </a:r>
          </a:p>
        </p:txBody>
      </p:sp>
      <p:sp>
        <p:nvSpPr>
          <p:cNvPr id="54" name="Rectangle 53">
            <a:extLst>
              <a:ext uri="{FF2B5EF4-FFF2-40B4-BE49-F238E27FC236}">
                <a16:creationId xmlns:a16="http://schemas.microsoft.com/office/drawing/2014/main" id="{61073A8A-7F75-B0CC-12FF-1D07134AFC3F}"/>
              </a:ext>
            </a:extLst>
          </p:cNvPr>
          <p:cNvSpPr/>
          <p:nvPr/>
        </p:nvSpPr>
        <p:spPr>
          <a:xfrm>
            <a:off x="1765486" y="5141250"/>
            <a:ext cx="120649" cy="11548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55" name="Rectangle 54">
            <a:extLst>
              <a:ext uri="{FF2B5EF4-FFF2-40B4-BE49-F238E27FC236}">
                <a16:creationId xmlns:a16="http://schemas.microsoft.com/office/drawing/2014/main" id="{F3394780-1881-0CC3-6D8E-55B7A27600FE}"/>
              </a:ext>
            </a:extLst>
          </p:cNvPr>
          <p:cNvSpPr/>
          <p:nvPr/>
        </p:nvSpPr>
        <p:spPr>
          <a:xfrm>
            <a:off x="1977950" y="5545659"/>
            <a:ext cx="246702" cy="2361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56" name="Bulle narrative : ronde 55">
            <a:extLst>
              <a:ext uri="{FF2B5EF4-FFF2-40B4-BE49-F238E27FC236}">
                <a16:creationId xmlns:a16="http://schemas.microsoft.com/office/drawing/2014/main" id="{F65E5DC1-CDA7-EFF1-419E-807D8EB37CB4}"/>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Où en est-on à au global en termes de maturité de pratique ?</a:t>
            </a:r>
          </a:p>
        </p:txBody>
      </p:sp>
      <p:pic>
        <p:nvPicPr>
          <p:cNvPr id="57" name="Graphique 3" descr="Femme portant un tailleur">
            <a:extLst>
              <a:ext uri="{FF2B5EF4-FFF2-40B4-BE49-F238E27FC236}">
                <a16:creationId xmlns:a16="http://schemas.microsoft.com/office/drawing/2014/main" id="{F22CA437-1037-AB59-C1E3-2B4B43F536DE}"/>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7900"/>
          <a:stretch/>
        </p:blipFill>
        <p:spPr>
          <a:xfrm flipH="1">
            <a:off x="9519412" y="371448"/>
            <a:ext cx="2672588" cy="1668390"/>
          </a:xfrm>
          <a:prstGeom prst="rect">
            <a:avLst/>
          </a:prstGeom>
        </p:spPr>
      </p:pic>
    </p:spTree>
    <p:extLst>
      <p:ext uri="{BB962C8B-B14F-4D97-AF65-F5344CB8AC3E}">
        <p14:creationId xmlns:p14="http://schemas.microsoft.com/office/powerpoint/2010/main" val="269444308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470688" y="365125"/>
            <a:ext cx="4463262" cy="1325563"/>
          </a:xfrm>
        </p:spPr>
        <p:txBody>
          <a:bodyPr>
            <a:normAutofit/>
          </a:bodyPr>
          <a:lstStyle/>
          <a:p>
            <a:r>
              <a:rPr lang="fr-FR" sz="2800" b="1" dirty="0"/>
              <a:t>Indicateur : </a:t>
            </a:r>
            <a:br>
              <a:rPr lang="fr-FR" sz="2800" b="1" dirty="0"/>
            </a:br>
            <a:r>
              <a:rPr lang="fr-FR" sz="2800" dirty="0"/>
              <a:t>Niveau moyen de maturité des sujets</a:t>
            </a:r>
          </a:p>
        </p:txBody>
      </p:sp>
      <p:graphicFrame>
        <p:nvGraphicFramePr>
          <p:cNvPr id="3" name="Tableau 5">
            <a:extLst>
              <a:ext uri="{FF2B5EF4-FFF2-40B4-BE49-F238E27FC236}">
                <a16:creationId xmlns:a16="http://schemas.microsoft.com/office/drawing/2014/main" id="{4D646984-6689-821A-EB3D-A715E774F6EB}"/>
              </a:ext>
            </a:extLst>
          </p:cNvPr>
          <p:cNvGraphicFramePr>
            <a:graphicFrameLocks noGrp="1"/>
          </p:cNvGraphicFramePr>
          <p:nvPr>
            <p:extLst>
              <p:ext uri="{D42A27DB-BD31-4B8C-83A1-F6EECF244321}">
                <p14:modId xmlns:p14="http://schemas.microsoft.com/office/powerpoint/2010/main" val="3578883669"/>
              </p:ext>
            </p:extLst>
          </p:nvPr>
        </p:nvGraphicFramePr>
        <p:xfrm>
          <a:off x="394489" y="2039838"/>
          <a:ext cx="4731040" cy="1771311"/>
        </p:xfrm>
        <a:graphic>
          <a:graphicData uri="http://schemas.openxmlformats.org/drawingml/2006/table">
            <a:tbl>
              <a:tblPr firstRow="1" bandRow="1">
                <a:tableStyleId>{073A0DAA-6AF3-43AB-8588-CEC1D06C72B9}</a:tableStyleId>
              </a:tblPr>
              <a:tblGrid>
                <a:gridCol w="591380">
                  <a:extLst>
                    <a:ext uri="{9D8B030D-6E8A-4147-A177-3AD203B41FA5}">
                      <a16:colId xmlns:a16="http://schemas.microsoft.com/office/drawing/2014/main" val="1486018635"/>
                    </a:ext>
                  </a:extLst>
                </a:gridCol>
                <a:gridCol w="591380">
                  <a:extLst>
                    <a:ext uri="{9D8B030D-6E8A-4147-A177-3AD203B41FA5}">
                      <a16:colId xmlns:a16="http://schemas.microsoft.com/office/drawing/2014/main" val="761339006"/>
                    </a:ext>
                  </a:extLst>
                </a:gridCol>
                <a:gridCol w="591380">
                  <a:extLst>
                    <a:ext uri="{9D8B030D-6E8A-4147-A177-3AD203B41FA5}">
                      <a16:colId xmlns:a16="http://schemas.microsoft.com/office/drawing/2014/main" val="416087062"/>
                    </a:ext>
                  </a:extLst>
                </a:gridCol>
                <a:gridCol w="591380">
                  <a:extLst>
                    <a:ext uri="{9D8B030D-6E8A-4147-A177-3AD203B41FA5}">
                      <a16:colId xmlns:a16="http://schemas.microsoft.com/office/drawing/2014/main" val="2064857721"/>
                    </a:ext>
                  </a:extLst>
                </a:gridCol>
                <a:gridCol w="591380">
                  <a:extLst>
                    <a:ext uri="{9D8B030D-6E8A-4147-A177-3AD203B41FA5}">
                      <a16:colId xmlns:a16="http://schemas.microsoft.com/office/drawing/2014/main" val="183491405"/>
                    </a:ext>
                  </a:extLst>
                </a:gridCol>
                <a:gridCol w="591380">
                  <a:extLst>
                    <a:ext uri="{9D8B030D-6E8A-4147-A177-3AD203B41FA5}">
                      <a16:colId xmlns:a16="http://schemas.microsoft.com/office/drawing/2014/main" val="3364014230"/>
                    </a:ext>
                  </a:extLst>
                </a:gridCol>
                <a:gridCol w="591380">
                  <a:extLst>
                    <a:ext uri="{9D8B030D-6E8A-4147-A177-3AD203B41FA5}">
                      <a16:colId xmlns:a16="http://schemas.microsoft.com/office/drawing/2014/main" val="365145181"/>
                    </a:ext>
                  </a:extLst>
                </a:gridCol>
                <a:gridCol w="591380">
                  <a:extLst>
                    <a:ext uri="{9D8B030D-6E8A-4147-A177-3AD203B41FA5}">
                      <a16:colId xmlns:a16="http://schemas.microsoft.com/office/drawing/2014/main" val="1628287487"/>
                    </a:ext>
                  </a:extLst>
                </a:gridCol>
              </a:tblGrid>
              <a:tr h="241446">
                <a:tc>
                  <a:txBody>
                    <a:bodyPr/>
                    <a:lstStyle/>
                    <a:p>
                      <a:pPr algn="ctr"/>
                      <a:r>
                        <a:rPr lang="fr-FR" sz="2800" dirty="0">
                          <a:solidFill>
                            <a:schemeClr val="tx1"/>
                          </a:solidFill>
                        </a:rPr>
                        <a:t>0</a:t>
                      </a:r>
                    </a:p>
                  </a:txBody>
                  <a:tcPr marL="43096" marR="43096" marT="21548" marB="21548">
                    <a:solidFill>
                      <a:schemeClr val="bg1"/>
                    </a:solidFill>
                  </a:tcPr>
                </a:tc>
                <a:tc>
                  <a:txBody>
                    <a:bodyPr/>
                    <a:lstStyle/>
                    <a:p>
                      <a:pPr algn="ctr"/>
                      <a:r>
                        <a:rPr lang="fr-FR" sz="2800" dirty="0">
                          <a:solidFill>
                            <a:schemeClr val="tx1"/>
                          </a:solidFill>
                        </a:rPr>
                        <a:t>1</a:t>
                      </a:r>
                    </a:p>
                  </a:txBody>
                  <a:tcPr marL="43096" marR="43096" marT="21548" marB="21548">
                    <a:solidFill>
                      <a:schemeClr val="bg1"/>
                    </a:solidFill>
                  </a:tcPr>
                </a:tc>
                <a:tc>
                  <a:txBody>
                    <a:bodyPr/>
                    <a:lstStyle/>
                    <a:p>
                      <a:pPr algn="ctr"/>
                      <a:r>
                        <a:rPr lang="fr-FR" sz="2800" dirty="0">
                          <a:solidFill>
                            <a:schemeClr val="tx1"/>
                          </a:solidFill>
                        </a:rPr>
                        <a:t>2</a:t>
                      </a:r>
                    </a:p>
                  </a:txBody>
                  <a:tcPr marL="43096" marR="43096" marT="21548" marB="21548">
                    <a:solidFill>
                      <a:schemeClr val="bg1"/>
                    </a:solidFill>
                  </a:tcPr>
                </a:tc>
                <a:tc>
                  <a:txBody>
                    <a:bodyPr/>
                    <a:lstStyle/>
                    <a:p>
                      <a:pPr algn="ctr"/>
                      <a:r>
                        <a:rPr lang="fr-FR" sz="2800" dirty="0">
                          <a:solidFill>
                            <a:schemeClr val="tx1"/>
                          </a:solidFill>
                        </a:rPr>
                        <a:t>3</a:t>
                      </a:r>
                    </a:p>
                  </a:txBody>
                  <a:tcPr marL="43096" marR="43096" marT="21548" marB="21548">
                    <a:solidFill>
                      <a:schemeClr val="bg1"/>
                    </a:solidFill>
                  </a:tcPr>
                </a:tc>
                <a:tc>
                  <a:txBody>
                    <a:bodyPr/>
                    <a:lstStyle/>
                    <a:p>
                      <a:pPr algn="ctr"/>
                      <a:r>
                        <a:rPr lang="fr-FR" sz="2800" dirty="0">
                          <a:solidFill>
                            <a:schemeClr val="tx1"/>
                          </a:solidFill>
                        </a:rPr>
                        <a:t>4</a:t>
                      </a:r>
                    </a:p>
                  </a:txBody>
                  <a:tcPr marL="43096" marR="43096" marT="21548" marB="21548">
                    <a:solidFill>
                      <a:schemeClr val="bg1"/>
                    </a:solidFill>
                  </a:tcPr>
                </a:tc>
                <a:tc>
                  <a:txBody>
                    <a:bodyPr/>
                    <a:lstStyle/>
                    <a:p>
                      <a:pPr algn="ctr"/>
                      <a:r>
                        <a:rPr lang="fr-FR" sz="2800" dirty="0">
                          <a:solidFill>
                            <a:schemeClr val="tx1"/>
                          </a:solidFill>
                        </a:rPr>
                        <a:t>5</a:t>
                      </a:r>
                    </a:p>
                  </a:txBody>
                  <a:tcPr marL="43096" marR="43096" marT="21548" marB="21548">
                    <a:solidFill>
                      <a:schemeClr val="bg1"/>
                    </a:solidFill>
                  </a:tcPr>
                </a:tc>
                <a:tc>
                  <a:txBody>
                    <a:bodyPr/>
                    <a:lstStyle/>
                    <a:p>
                      <a:pPr algn="ctr"/>
                      <a:r>
                        <a:rPr lang="fr-FR" sz="2800" dirty="0">
                          <a:solidFill>
                            <a:schemeClr val="tx1"/>
                          </a:solidFill>
                        </a:rPr>
                        <a:t>6</a:t>
                      </a:r>
                    </a:p>
                  </a:txBody>
                  <a:tcPr marL="43096" marR="43096" marT="21548" marB="21548">
                    <a:solidFill>
                      <a:schemeClr val="bg1"/>
                    </a:solidFill>
                  </a:tcPr>
                </a:tc>
                <a:tc>
                  <a:txBody>
                    <a:bodyPr/>
                    <a:lstStyle/>
                    <a:p>
                      <a:pPr algn="ctr"/>
                      <a:r>
                        <a:rPr lang="fr-FR" sz="2800" dirty="0">
                          <a:solidFill>
                            <a:schemeClr val="tx1"/>
                          </a:solidFill>
                        </a:rPr>
                        <a:t>7</a:t>
                      </a:r>
                    </a:p>
                  </a:txBody>
                  <a:tcPr marL="43096" marR="43096" marT="21548" marB="21548">
                    <a:solidFill>
                      <a:schemeClr val="bg1"/>
                    </a:solidFill>
                  </a:tcPr>
                </a:tc>
                <a:extLst>
                  <a:ext uri="{0D108BD9-81ED-4DB2-BD59-A6C34878D82A}">
                    <a16:rowId xmlns:a16="http://schemas.microsoft.com/office/drawing/2014/main" val="3367535307"/>
                  </a:ext>
                </a:extLst>
              </a:tr>
              <a:tr h="241446">
                <a:tc>
                  <a:txBody>
                    <a:bodyPr/>
                    <a:lstStyle/>
                    <a:p>
                      <a:pPr algn="ctr"/>
                      <a:r>
                        <a:rPr lang="fr-FR" sz="400" dirty="0">
                          <a:solidFill>
                            <a:schemeClr val="bg1"/>
                          </a:solidFill>
                        </a:rPr>
                        <a:t>PAS ENCORE COMMENCÉ</a:t>
                      </a: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INSPIRATION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COLLECTE</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INITIATION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CHOC DE LA RÉALITÉ</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CONFIRMATION DE RÉUSSITES</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EXPOSITION</a:t>
                      </a:r>
                    </a:p>
                    <a:p>
                      <a:pPr algn="ctr"/>
                      <a:endParaRPr lang="fr-FR" sz="400">
                        <a:solidFill>
                          <a:schemeClr val="bg1"/>
                        </a:solidFill>
                      </a:endParaRPr>
                    </a:p>
                  </a:txBody>
                  <a:tcPr marL="43096" marR="43096" marT="21548" marB="21548">
                    <a:solidFill>
                      <a:srgbClr val="0683AA"/>
                    </a:solidFill>
                  </a:tcPr>
                </a:tc>
                <a:tc>
                  <a:txBody>
                    <a:bodyPr/>
                    <a:lstStyle/>
                    <a:p>
                      <a:pPr marL="0" indent="0" algn="ctr">
                        <a:buFont typeface="Arial" panose="020B0604020202020204" pitchFamily="34" charset="0"/>
                        <a:buNone/>
                      </a:pPr>
                      <a:r>
                        <a:rPr lang="fr-FR" sz="400" b="1" i="1" dirty="0">
                          <a:solidFill>
                            <a:schemeClr val="bg1"/>
                          </a:solidFill>
                        </a:rPr>
                        <a:t>FORTIFICATION</a:t>
                      </a:r>
                    </a:p>
                    <a:p>
                      <a:pPr marL="0" indent="0" algn="ctr">
                        <a:buFont typeface="Arial" panose="020B0604020202020204" pitchFamily="34" charset="0"/>
                        <a:buNone/>
                      </a:pPr>
                      <a:endParaRPr lang="fr-FR" sz="400" b="1" i="1" dirty="0">
                        <a:solidFill>
                          <a:schemeClr val="bg1"/>
                        </a:solidFill>
                      </a:endParaRPr>
                    </a:p>
                    <a:p>
                      <a:pPr algn="ctr"/>
                      <a:endParaRPr lang="fr-FR" sz="400" dirty="0">
                        <a:solidFill>
                          <a:schemeClr val="bg1"/>
                        </a:solidFill>
                      </a:endParaRPr>
                    </a:p>
                  </a:txBody>
                  <a:tcPr marL="43096" marR="43096" marT="21548" marB="21548">
                    <a:solidFill>
                      <a:srgbClr val="0683AA"/>
                    </a:solidFill>
                  </a:tcPr>
                </a:tc>
                <a:extLst>
                  <a:ext uri="{0D108BD9-81ED-4DB2-BD59-A6C34878D82A}">
                    <a16:rowId xmlns:a16="http://schemas.microsoft.com/office/drawing/2014/main" val="3579208894"/>
                  </a:ext>
                </a:extLst>
              </a:tr>
              <a:tr h="1060049">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dirty="0"/>
                    </a:p>
                  </a:txBody>
                  <a:tcPr marL="43096" marR="43096" marT="21548" marB="21548"/>
                </a:tc>
                <a:extLst>
                  <a:ext uri="{0D108BD9-81ED-4DB2-BD59-A6C34878D82A}">
                    <a16:rowId xmlns:a16="http://schemas.microsoft.com/office/drawing/2014/main" val="1415023090"/>
                  </a:ext>
                </a:extLst>
              </a:tr>
            </a:tbl>
          </a:graphicData>
        </a:graphic>
      </p:graphicFrame>
      <p:grpSp>
        <p:nvGrpSpPr>
          <p:cNvPr id="4" name="Groupe 3">
            <a:extLst>
              <a:ext uri="{FF2B5EF4-FFF2-40B4-BE49-F238E27FC236}">
                <a16:creationId xmlns:a16="http://schemas.microsoft.com/office/drawing/2014/main" id="{0D1F20E4-4E8F-ADAF-B758-219D8169AF08}"/>
              </a:ext>
            </a:extLst>
          </p:cNvPr>
          <p:cNvGrpSpPr/>
          <p:nvPr/>
        </p:nvGrpSpPr>
        <p:grpSpPr>
          <a:xfrm>
            <a:off x="470688" y="2805722"/>
            <a:ext cx="3942729" cy="884898"/>
            <a:chOff x="2320960" y="3201400"/>
            <a:chExt cx="6409931" cy="1487380"/>
          </a:xfrm>
        </p:grpSpPr>
        <p:sp>
          <p:nvSpPr>
            <p:cNvPr id="5" name="Rectangle 4">
              <a:extLst>
                <a:ext uri="{FF2B5EF4-FFF2-40B4-BE49-F238E27FC236}">
                  <a16:creationId xmlns:a16="http://schemas.microsoft.com/office/drawing/2014/main" id="{2C746DD9-634D-8269-4E02-AEF3B495E5C8}"/>
                </a:ext>
              </a:extLst>
            </p:cNvPr>
            <p:cNvSpPr/>
            <p:nvPr/>
          </p:nvSpPr>
          <p:spPr>
            <a:xfrm>
              <a:off x="3343197" y="3201400"/>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dirty="0">
                  <a:solidFill>
                    <a:schemeClr val="tx1"/>
                  </a:solidFill>
                </a:rPr>
                <a:t>RDD</a:t>
              </a:r>
            </a:p>
          </p:txBody>
        </p:sp>
        <p:sp>
          <p:nvSpPr>
            <p:cNvPr id="9" name="Rectangle 8">
              <a:extLst>
                <a:ext uri="{FF2B5EF4-FFF2-40B4-BE49-F238E27FC236}">
                  <a16:creationId xmlns:a16="http://schemas.microsoft.com/office/drawing/2014/main" id="{B422AB36-DA4B-9249-45CC-DC7C6BEBD992}"/>
                </a:ext>
              </a:extLst>
            </p:cNvPr>
            <p:cNvSpPr/>
            <p:nvPr/>
          </p:nvSpPr>
          <p:spPr>
            <a:xfrm>
              <a:off x="3711014" y="399209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0" name="Rectangle 9">
              <a:extLst>
                <a:ext uri="{FF2B5EF4-FFF2-40B4-BE49-F238E27FC236}">
                  <a16:creationId xmlns:a16="http://schemas.microsoft.com/office/drawing/2014/main" id="{992A1A77-93BF-C8C3-D430-838A5DD17D39}"/>
                </a:ext>
              </a:extLst>
            </p:cNvPr>
            <p:cNvSpPr/>
            <p:nvPr/>
          </p:nvSpPr>
          <p:spPr>
            <a:xfrm>
              <a:off x="4667364" y="3409539"/>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1" name="Rectangle 10">
              <a:extLst>
                <a:ext uri="{FF2B5EF4-FFF2-40B4-BE49-F238E27FC236}">
                  <a16:creationId xmlns:a16="http://schemas.microsoft.com/office/drawing/2014/main" id="{DDA1B529-0A53-A06D-1424-0BC6F6086058}"/>
                </a:ext>
              </a:extLst>
            </p:cNvPr>
            <p:cNvSpPr/>
            <p:nvPr/>
          </p:nvSpPr>
          <p:spPr>
            <a:xfrm>
              <a:off x="5352674" y="3338885"/>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IA</a:t>
              </a:r>
            </a:p>
          </p:txBody>
        </p:sp>
        <p:sp>
          <p:nvSpPr>
            <p:cNvPr id="12" name="Rectangle 11">
              <a:extLst>
                <a:ext uri="{FF2B5EF4-FFF2-40B4-BE49-F238E27FC236}">
                  <a16:creationId xmlns:a16="http://schemas.microsoft.com/office/drawing/2014/main" id="{31537300-D65C-37E9-BAA6-9B3CF843156A}"/>
                </a:ext>
              </a:extLst>
            </p:cNvPr>
            <p:cNvSpPr/>
            <p:nvPr/>
          </p:nvSpPr>
          <p:spPr>
            <a:xfrm>
              <a:off x="7537994" y="346256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3" name="Rectangle 12">
              <a:extLst>
                <a:ext uri="{FF2B5EF4-FFF2-40B4-BE49-F238E27FC236}">
                  <a16:creationId xmlns:a16="http://schemas.microsoft.com/office/drawing/2014/main" id="{404F4B5B-0C6F-936B-3412-093EDB63F16A}"/>
                </a:ext>
              </a:extLst>
            </p:cNvPr>
            <p:cNvSpPr/>
            <p:nvPr/>
          </p:nvSpPr>
          <p:spPr>
            <a:xfrm>
              <a:off x="6632821" y="396113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4" name="Rectangle 13">
              <a:extLst>
                <a:ext uri="{FF2B5EF4-FFF2-40B4-BE49-F238E27FC236}">
                  <a16:creationId xmlns:a16="http://schemas.microsoft.com/office/drawing/2014/main" id="{2500E2CA-B5A6-5F8E-9655-92C8F28F3D6C}"/>
                </a:ext>
              </a:extLst>
            </p:cNvPr>
            <p:cNvSpPr/>
            <p:nvPr/>
          </p:nvSpPr>
          <p:spPr>
            <a:xfrm>
              <a:off x="2585155" y="3494894"/>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RSE</a:t>
              </a:r>
            </a:p>
          </p:txBody>
        </p:sp>
        <p:sp>
          <p:nvSpPr>
            <p:cNvPr id="15" name="Rectangle 14">
              <a:extLst>
                <a:ext uri="{FF2B5EF4-FFF2-40B4-BE49-F238E27FC236}">
                  <a16:creationId xmlns:a16="http://schemas.microsoft.com/office/drawing/2014/main" id="{484CBE11-2A9C-05B5-0BE3-A31300265C63}"/>
                </a:ext>
              </a:extLst>
            </p:cNvPr>
            <p:cNvSpPr/>
            <p:nvPr/>
          </p:nvSpPr>
          <p:spPr>
            <a:xfrm>
              <a:off x="2788403" y="4261006"/>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RGPD</a:t>
              </a:r>
            </a:p>
          </p:txBody>
        </p:sp>
        <p:sp>
          <p:nvSpPr>
            <p:cNvPr id="16" name="Rectangle 15">
              <a:extLst>
                <a:ext uri="{FF2B5EF4-FFF2-40B4-BE49-F238E27FC236}">
                  <a16:creationId xmlns:a16="http://schemas.microsoft.com/office/drawing/2014/main" id="{ECA24E61-8CAD-45C3-0DF7-2EAE389E3CDE}"/>
                </a:ext>
              </a:extLst>
            </p:cNvPr>
            <p:cNvSpPr/>
            <p:nvPr/>
          </p:nvSpPr>
          <p:spPr>
            <a:xfrm>
              <a:off x="3182694" y="3816934"/>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
                  <a:solidFill>
                    <a:schemeClr val="tx1"/>
                  </a:solidFill>
                </a:rPr>
                <a:t>IOT</a:t>
              </a:r>
            </a:p>
          </p:txBody>
        </p:sp>
        <p:sp>
          <p:nvSpPr>
            <p:cNvPr id="17" name="Rectangle 16">
              <a:extLst>
                <a:ext uri="{FF2B5EF4-FFF2-40B4-BE49-F238E27FC236}">
                  <a16:creationId xmlns:a16="http://schemas.microsoft.com/office/drawing/2014/main" id="{B91FA05E-D38A-7590-2C18-DC2432E4E341}"/>
                </a:ext>
              </a:extLst>
            </p:cNvPr>
            <p:cNvSpPr/>
            <p:nvPr/>
          </p:nvSpPr>
          <p:spPr>
            <a:xfrm>
              <a:off x="2320960" y="4338458"/>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18" name="Rectangle 17">
              <a:extLst>
                <a:ext uri="{FF2B5EF4-FFF2-40B4-BE49-F238E27FC236}">
                  <a16:creationId xmlns:a16="http://schemas.microsoft.com/office/drawing/2014/main" id="{C9D13D2C-167A-E668-1BC2-135AF608B970}"/>
                </a:ext>
              </a:extLst>
            </p:cNvPr>
            <p:cNvSpPr/>
            <p:nvPr/>
          </p:nvSpPr>
          <p:spPr>
            <a:xfrm>
              <a:off x="8376898" y="3751861"/>
              <a:ext cx="353993" cy="35032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grpSp>
      <p:sp>
        <p:nvSpPr>
          <p:cNvPr id="19" name="ZoneTexte 18">
            <a:extLst>
              <a:ext uri="{FF2B5EF4-FFF2-40B4-BE49-F238E27FC236}">
                <a16:creationId xmlns:a16="http://schemas.microsoft.com/office/drawing/2014/main" id="{96D35936-DD65-F113-CF94-21A42301B9F9}"/>
              </a:ext>
            </a:extLst>
          </p:cNvPr>
          <p:cNvSpPr txBox="1"/>
          <p:nvPr/>
        </p:nvSpPr>
        <p:spPr>
          <a:xfrm>
            <a:off x="579558" y="6121578"/>
            <a:ext cx="4052182" cy="276999"/>
          </a:xfrm>
          <a:prstGeom prst="rect">
            <a:avLst/>
          </a:prstGeom>
          <a:noFill/>
        </p:spPr>
        <p:txBody>
          <a:bodyPr wrap="square">
            <a:spAutoFit/>
          </a:bodyPr>
          <a:lstStyle/>
          <a:p>
            <a:pPr marL="0" indent="0">
              <a:buNone/>
            </a:pPr>
            <a:r>
              <a:rPr lang="fr-FR" sz="1200" dirty="0"/>
              <a:t>Niveau (phase) de chaque sujet / nombre de sujets totaux</a:t>
            </a:r>
          </a:p>
        </p:txBody>
      </p:sp>
      <p:cxnSp>
        <p:nvCxnSpPr>
          <p:cNvPr id="20" name="Connecteur droit 19">
            <a:extLst>
              <a:ext uri="{FF2B5EF4-FFF2-40B4-BE49-F238E27FC236}">
                <a16:creationId xmlns:a16="http://schemas.microsoft.com/office/drawing/2014/main" id="{607BC852-9A79-1985-A83F-5EF9FD0EDC07}"/>
              </a:ext>
            </a:extLst>
          </p:cNvPr>
          <p:cNvCxnSpPr>
            <a:cxnSpLocks/>
          </p:cNvCxnSpPr>
          <p:nvPr/>
        </p:nvCxnSpPr>
        <p:spPr>
          <a:xfrm flipH="1">
            <a:off x="1407480" y="5413692"/>
            <a:ext cx="108846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1" name="ZoneTexte 20">
            <a:extLst>
              <a:ext uri="{FF2B5EF4-FFF2-40B4-BE49-F238E27FC236}">
                <a16:creationId xmlns:a16="http://schemas.microsoft.com/office/drawing/2014/main" id="{C49F1710-64E4-56E4-9273-EAB33085FF4E}"/>
              </a:ext>
            </a:extLst>
          </p:cNvPr>
          <p:cNvSpPr txBox="1"/>
          <p:nvPr/>
        </p:nvSpPr>
        <p:spPr>
          <a:xfrm>
            <a:off x="1615531" y="4605710"/>
            <a:ext cx="464463" cy="707886"/>
          </a:xfrm>
          <a:prstGeom prst="rect">
            <a:avLst/>
          </a:prstGeom>
          <a:noFill/>
        </p:spPr>
        <p:txBody>
          <a:bodyPr wrap="square">
            <a:spAutoFit/>
          </a:bodyPr>
          <a:lstStyle/>
          <a:p>
            <a:r>
              <a:rPr lang="el-GR" sz="4000" dirty="0"/>
              <a:t>Σ</a:t>
            </a:r>
            <a:endParaRPr lang="fr-FR" sz="4000" dirty="0"/>
          </a:p>
        </p:txBody>
      </p:sp>
      <p:sp>
        <p:nvSpPr>
          <p:cNvPr id="22" name="ZoneTexte 21">
            <a:extLst>
              <a:ext uri="{FF2B5EF4-FFF2-40B4-BE49-F238E27FC236}">
                <a16:creationId xmlns:a16="http://schemas.microsoft.com/office/drawing/2014/main" id="{49708A05-55F0-90F8-F02F-B499A0CFA9A4}"/>
              </a:ext>
            </a:extLst>
          </p:cNvPr>
          <p:cNvSpPr txBox="1"/>
          <p:nvPr/>
        </p:nvSpPr>
        <p:spPr>
          <a:xfrm>
            <a:off x="1610499" y="5325836"/>
            <a:ext cx="464463" cy="707886"/>
          </a:xfrm>
          <a:prstGeom prst="rect">
            <a:avLst/>
          </a:prstGeom>
          <a:noFill/>
        </p:spPr>
        <p:txBody>
          <a:bodyPr wrap="square">
            <a:spAutoFit/>
          </a:bodyPr>
          <a:lstStyle/>
          <a:p>
            <a:r>
              <a:rPr lang="el-GR" sz="4000" dirty="0"/>
              <a:t>Σ</a:t>
            </a:r>
            <a:endParaRPr lang="fr-FR" sz="4000" dirty="0"/>
          </a:p>
        </p:txBody>
      </p:sp>
      <p:sp>
        <p:nvSpPr>
          <p:cNvPr id="23" name="ZoneTexte 22">
            <a:extLst>
              <a:ext uri="{FF2B5EF4-FFF2-40B4-BE49-F238E27FC236}">
                <a16:creationId xmlns:a16="http://schemas.microsoft.com/office/drawing/2014/main" id="{3BDDAB70-6B60-257E-0FB5-4D802CF1D0BB}"/>
              </a:ext>
            </a:extLst>
          </p:cNvPr>
          <p:cNvSpPr txBox="1"/>
          <p:nvPr/>
        </p:nvSpPr>
        <p:spPr>
          <a:xfrm>
            <a:off x="1871023" y="4705806"/>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24" name="ZoneTexte 23">
            <a:extLst>
              <a:ext uri="{FF2B5EF4-FFF2-40B4-BE49-F238E27FC236}">
                <a16:creationId xmlns:a16="http://schemas.microsoft.com/office/drawing/2014/main" id="{6A3273DD-31A3-447D-4B0A-12EE4A875226}"/>
              </a:ext>
            </a:extLst>
          </p:cNvPr>
          <p:cNvSpPr txBox="1"/>
          <p:nvPr/>
        </p:nvSpPr>
        <p:spPr>
          <a:xfrm>
            <a:off x="1596483" y="5129010"/>
            <a:ext cx="246248" cy="169277"/>
          </a:xfrm>
          <a:prstGeom prst="rect">
            <a:avLst/>
          </a:prstGeom>
          <a:noFill/>
        </p:spPr>
        <p:txBody>
          <a:bodyPr wrap="square">
            <a:spAutoFit/>
          </a:bodyPr>
          <a:lstStyle/>
          <a:p>
            <a:r>
              <a:rPr lang="fr-FR" sz="500" dirty="0"/>
              <a:t>I =</a:t>
            </a:r>
          </a:p>
        </p:txBody>
      </p:sp>
      <p:sp>
        <p:nvSpPr>
          <p:cNvPr id="25" name="Rectangle 24">
            <a:extLst>
              <a:ext uri="{FF2B5EF4-FFF2-40B4-BE49-F238E27FC236}">
                <a16:creationId xmlns:a16="http://schemas.microsoft.com/office/drawing/2014/main" id="{13343F17-8C43-F977-7EA7-5815A02A5A53}"/>
              </a:ext>
            </a:extLst>
          </p:cNvPr>
          <p:cNvSpPr/>
          <p:nvPr/>
        </p:nvSpPr>
        <p:spPr>
          <a:xfrm>
            <a:off x="1765486" y="5141250"/>
            <a:ext cx="120649" cy="11548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26" name="Rectangle 25">
            <a:extLst>
              <a:ext uri="{FF2B5EF4-FFF2-40B4-BE49-F238E27FC236}">
                <a16:creationId xmlns:a16="http://schemas.microsoft.com/office/drawing/2014/main" id="{F4A82010-B9BE-F7CF-A095-DBF2BA665E08}"/>
              </a:ext>
            </a:extLst>
          </p:cNvPr>
          <p:cNvSpPr/>
          <p:nvPr/>
        </p:nvSpPr>
        <p:spPr>
          <a:xfrm>
            <a:off x="1977950" y="5545659"/>
            <a:ext cx="246702" cy="23614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a:solidFill>
                  <a:schemeClr val="tx1"/>
                </a:solidFill>
              </a:rPr>
              <a:t>Sujet</a:t>
            </a:r>
          </a:p>
        </p:txBody>
      </p:sp>
      <p:sp>
        <p:nvSpPr>
          <p:cNvPr id="27" name="Espace réservé du contenu 2">
            <a:extLst>
              <a:ext uri="{FF2B5EF4-FFF2-40B4-BE49-F238E27FC236}">
                <a16:creationId xmlns:a16="http://schemas.microsoft.com/office/drawing/2014/main" id="{46BAC02E-2CD5-713B-11B4-EECDA1D93391}"/>
              </a:ext>
            </a:extLst>
          </p:cNvPr>
          <p:cNvSpPr txBox="1">
            <a:spLocks/>
          </p:cNvSpPr>
          <p:nvPr/>
        </p:nvSpPr>
        <p:spPr>
          <a:xfrm>
            <a:off x="5278478" y="1081085"/>
            <a:ext cx="5411692" cy="1633537"/>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élevé</a:t>
            </a:r>
          </a:p>
          <a:p>
            <a:pPr marL="0" indent="0">
              <a:buNone/>
            </a:pPr>
            <a:r>
              <a:rPr lang="fr-FR" sz="1400" dirty="0"/>
              <a:t>Cela peut être signe de : Manque de renouveau des sujets de la Communauté. Concentration de la communauté sur des sujets déjà bien maîtrisés, faible sortie de zone de confort. Qualité ou compétence de la communauté sur ses sujets. </a:t>
            </a:r>
          </a:p>
          <a:p>
            <a:pPr marL="0" indent="0">
              <a:buNone/>
            </a:pPr>
            <a:r>
              <a:rPr lang="fr-FR" sz="1400" dirty="0"/>
              <a:t>On peut alors choisir de : Ajouter des sujets d’inspiration ou même des sujets nouveaux à commencer plus tard.</a:t>
            </a:r>
          </a:p>
          <a:p>
            <a:pPr marL="0" indent="0">
              <a:buNone/>
            </a:pPr>
            <a:endParaRPr lang="fr-FR" sz="1400" dirty="0"/>
          </a:p>
          <a:p>
            <a:pPr marL="0" indent="0">
              <a:buNone/>
            </a:pPr>
            <a:endParaRPr lang="fr-FR" sz="1800" b="1" dirty="0"/>
          </a:p>
        </p:txBody>
      </p:sp>
      <p:sp>
        <p:nvSpPr>
          <p:cNvPr id="28" name="Espace réservé du contenu 2">
            <a:extLst>
              <a:ext uri="{FF2B5EF4-FFF2-40B4-BE49-F238E27FC236}">
                <a16:creationId xmlns:a16="http://schemas.microsoft.com/office/drawing/2014/main" id="{86BF0222-73D6-6234-7D8E-4437C2CBD678}"/>
              </a:ext>
            </a:extLst>
          </p:cNvPr>
          <p:cNvSpPr txBox="1">
            <a:spLocks/>
          </p:cNvSpPr>
          <p:nvPr/>
        </p:nvSpPr>
        <p:spPr>
          <a:xfrm>
            <a:off x="5278478" y="2924172"/>
            <a:ext cx="5411692" cy="1633537"/>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bas</a:t>
            </a:r>
          </a:p>
          <a:p>
            <a:pPr marL="0" indent="0">
              <a:buNone/>
            </a:pPr>
            <a:r>
              <a:rPr lang="fr-FR" sz="1400" dirty="0"/>
              <a:t>Cela peut être signe de : Concentration (volontaire ou non) de la Communauté sur les premières phases du CCC. Incapacité ou difficultés à travailler les phases avancées du CCC. Objectifs de phase centrés sur des niveaux bas.</a:t>
            </a:r>
          </a:p>
          <a:p>
            <a:pPr marL="0" indent="0">
              <a:buNone/>
            </a:pPr>
            <a:r>
              <a:rPr lang="fr-FR" sz="1400" dirty="0"/>
              <a:t>On peut alors choisir de : Prioriser les sujets pour « aller au bout », revoir les ambitions à la hausse, pousser plus loin des sujets existants</a:t>
            </a:r>
          </a:p>
          <a:p>
            <a:pPr marL="0" indent="0">
              <a:buNone/>
            </a:pPr>
            <a:endParaRPr lang="fr-FR" sz="1800" b="1" dirty="0"/>
          </a:p>
          <a:p>
            <a:pPr marL="0" indent="0">
              <a:buNone/>
            </a:pPr>
            <a:endParaRPr lang="fr-FR" sz="1800" b="1" dirty="0"/>
          </a:p>
        </p:txBody>
      </p:sp>
      <p:sp>
        <p:nvSpPr>
          <p:cNvPr id="29" name="Espace réservé du contenu 2">
            <a:extLst>
              <a:ext uri="{FF2B5EF4-FFF2-40B4-BE49-F238E27FC236}">
                <a16:creationId xmlns:a16="http://schemas.microsoft.com/office/drawing/2014/main" id="{DAED207E-5DB9-6C8E-C6C9-D4B9F4540E99}"/>
              </a:ext>
            </a:extLst>
          </p:cNvPr>
          <p:cNvSpPr txBox="1">
            <a:spLocks/>
          </p:cNvSpPr>
          <p:nvPr/>
        </p:nvSpPr>
        <p:spPr>
          <a:xfrm>
            <a:off x="5278478" y="4762496"/>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marL="0" indent="0">
              <a:buNone/>
            </a:pPr>
            <a:r>
              <a:rPr lang="fr-FR" sz="1400" dirty="0"/>
              <a:t>Variante : Vous pouvez calculer « la distance moyenne des sujets à leurs objectifs dans leur état courant », c’est-à-dire la moyenne du nombre d’étapes qu’il faut passer pour qu’un sujet atteigne son objectif. Cela peut vous indiquer le niveau d’ambition de la Communauté, peu importe si elle maîtrise déjà ses sujets ou non.</a:t>
            </a:r>
          </a:p>
          <a:p>
            <a:pPr marL="0" indent="0">
              <a:buNone/>
            </a:pPr>
            <a:endParaRPr lang="fr-FR" sz="1400" dirty="0"/>
          </a:p>
          <a:p>
            <a:pPr marL="0" indent="0">
              <a:buNone/>
            </a:pPr>
            <a:endParaRPr lang="fr-FR" sz="1400" dirty="0"/>
          </a:p>
          <a:p>
            <a:pPr marL="0" indent="0">
              <a:buNone/>
            </a:pPr>
            <a:endParaRPr lang="fr-FR" sz="1800" b="1" dirty="0"/>
          </a:p>
          <a:p>
            <a:pPr marL="0" indent="0">
              <a:buNone/>
            </a:pPr>
            <a:endParaRPr lang="fr-FR" sz="1800" b="1" dirty="0"/>
          </a:p>
        </p:txBody>
      </p:sp>
    </p:spTree>
    <p:extLst>
      <p:ext uri="{BB962C8B-B14F-4D97-AF65-F5344CB8AC3E}">
        <p14:creationId xmlns:p14="http://schemas.microsoft.com/office/powerpoint/2010/main" val="20693459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1" y="365125"/>
            <a:ext cx="4905750" cy="1325563"/>
          </a:xfrm>
        </p:spPr>
        <p:txBody>
          <a:bodyPr>
            <a:normAutofit fontScale="90000"/>
          </a:bodyPr>
          <a:lstStyle/>
          <a:p>
            <a:r>
              <a:rPr lang="fr-FR" sz="3200" b="1" dirty="0"/>
              <a:t>Indicateur : </a:t>
            </a:r>
            <a:br>
              <a:rPr lang="fr-FR" sz="3200" b="1" dirty="0"/>
            </a:br>
            <a:r>
              <a:rPr lang="fr-FR" sz="3200" dirty="0"/>
              <a:t>Niveau moyen des membres sur un sujet donné</a:t>
            </a:r>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endParaRPr lang="fr-FR" sz="1400" b="1" dirty="0"/>
          </a:p>
          <a:p>
            <a:pPr marL="0" indent="0">
              <a:buNone/>
            </a:pPr>
            <a:r>
              <a:rPr lang="fr-FR" sz="1400" dirty="0"/>
              <a:t>Avoir sélectionné un sujet donné de la Communauté, sur lequel les membres sont à différents niveaux de pratique / maturité.</a:t>
            </a:r>
          </a:p>
          <a:p>
            <a:pPr marL="0" indent="0">
              <a:buNone/>
            </a:pPr>
            <a:endParaRPr lang="fr-FR" sz="1400" dirty="0"/>
          </a:p>
          <a:p>
            <a:pPr marL="0" indent="0">
              <a:buNone/>
            </a:pPr>
            <a:r>
              <a:rPr lang="fr-FR" sz="1400" dirty="0"/>
              <a:t>Avoir positionné les différents membres dans l’atelier CCC-Groups pour ce sujet</a:t>
            </a:r>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Le but de cet indicateur est de savoir globalement « où la communauté en est » en termes de phases de CCC.</a:t>
            </a:r>
          </a:p>
          <a:p>
            <a:pPr marL="0" indent="0">
              <a:buNone/>
            </a:pPr>
            <a:r>
              <a:rPr lang="fr-FR" sz="1400" dirty="0"/>
              <a:t>On mesure cet indicateur en donnant un niveau (par exemple : 0 pas commencé, 1 inspiration, 2 collecte…) et en faisant la moyenne des niveaux sur l’ensemble des tickets.</a:t>
            </a:r>
          </a:p>
          <a:p>
            <a:pPr marL="0" indent="0">
              <a:buNone/>
            </a:pPr>
            <a:r>
              <a:rPr lang="fr-FR" sz="1400" dirty="0"/>
              <a:t>Libre à vous de choisir ou non les sujets que vous considérez comme « terminés » ou non</a:t>
            </a:r>
          </a:p>
        </p:txBody>
      </p:sp>
      <p:graphicFrame>
        <p:nvGraphicFramePr>
          <p:cNvPr id="10" name="Tableau 5">
            <a:extLst>
              <a:ext uri="{FF2B5EF4-FFF2-40B4-BE49-F238E27FC236}">
                <a16:creationId xmlns:a16="http://schemas.microsoft.com/office/drawing/2014/main" id="{DF546B1B-D770-78E2-6F8E-E74494525D83}"/>
              </a:ext>
            </a:extLst>
          </p:cNvPr>
          <p:cNvGraphicFramePr>
            <a:graphicFrameLocks noGrp="1"/>
          </p:cNvGraphicFramePr>
          <p:nvPr/>
        </p:nvGraphicFramePr>
        <p:xfrm>
          <a:off x="394489" y="2039838"/>
          <a:ext cx="4731040" cy="1771311"/>
        </p:xfrm>
        <a:graphic>
          <a:graphicData uri="http://schemas.openxmlformats.org/drawingml/2006/table">
            <a:tbl>
              <a:tblPr firstRow="1" bandRow="1">
                <a:tableStyleId>{073A0DAA-6AF3-43AB-8588-CEC1D06C72B9}</a:tableStyleId>
              </a:tblPr>
              <a:tblGrid>
                <a:gridCol w="591380">
                  <a:extLst>
                    <a:ext uri="{9D8B030D-6E8A-4147-A177-3AD203B41FA5}">
                      <a16:colId xmlns:a16="http://schemas.microsoft.com/office/drawing/2014/main" val="1486018635"/>
                    </a:ext>
                  </a:extLst>
                </a:gridCol>
                <a:gridCol w="591380">
                  <a:extLst>
                    <a:ext uri="{9D8B030D-6E8A-4147-A177-3AD203B41FA5}">
                      <a16:colId xmlns:a16="http://schemas.microsoft.com/office/drawing/2014/main" val="761339006"/>
                    </a:ext>
                  </a:extLst>
                </a:gridCol>
                <a:gridCol w="591380">
                  <a:extLst>
                    <a:ext uri="{9D8B030D-6E8A-4147-A177-3AD203B41FA5}">
                      <a16:colId xmlns:a16="http://schemas.microsoft.com/office/drawing/2014/main" val="416087062"/>
                    </a:ext>
                  </a:extLst>
                </a:gridCol>
                <a:gridCol w="591380">
                  <a:extLst>
                    <a:ext uri="{9D8B030D-6E8A-4147-A177-3AD203B41FA5}">
                      <a16:colId xmlns:a16="http://schemas.microsoft.com/office/drawing/2014/main" val="2064857721"/>
                    </a:ext>
                  </a:extLst>
                </a:gridCol>
                <a:gridCol w="591380">
                  <a:extLst>
                    <a:ext uri="{9D8B030D-6E8A-4147-A177-3AD203B41FA5}">
                      <a16:colId xmlns:a16="http://schemas.microsoft.com/office/drawing/2014/main" val="183491405"/>
                    </a:ext>
                  </a:extLst>
                </a:gridCol>
                <a:gridCol w="591380">
                  <a:extLst>
                    <a:ext uri="{9D8B030D-6E8A-4147-A177-3AD203B41FA5}">
                      <a16:colId xmlns:a16="http://schemas.microsoft.com/office/drawing/2014/main" val="3364014230"/>
                    </a:ext>
                  </a:extLst>
                </a:gridCol>
                <a:gridCol w="591380">
                  <a:extLst>
                    <a:ext uri="{9D8B030D-6E8A-4147-A177-3AD203B41FA5}">
                      <a16:colId xmlns:a16="http://schemas.microsoft.com/office/drawing/2014/main" val="365145181"/>
                    </a:ext>
                  </a:extLst>
                </a:gridCol>
                <a:gridCol w="591380">
                  <a:extLst>
                    <a:ext uri="{9D8B030D-6E8A-4147-A177-3AD203B41FA5}">
                      <a16:colId xmlns:a16="http://schemas.microsoft.com/office/drawing/2014/main" val="1628287487"/>
                    </a:ext>
                  </a:extLst>
                </a:gridCol>
              </a:tblGrid>
              <a:tr h="241446">
                <a:tc>
                  <a:txBody>
                    <a:bodyPr/>
                    <a:lstStyle/>
                    <a:p>
                      <a:pPr algn="ctr"/>
                      <a:r>
                        <a:rPr lang="fr-FR" sz="2800" dirty="0">
                          <a:solidFill>
                            <a:schemeClr val="tx1"/>
                          </a:solidFill>
                        </a:rPr>
                        <a:t>0</a:t>
                      </a:r>
                    </a:p>
                  </a:txBody>
                  <a:tcPr marL="43096" marR="43096" marT="21548" marB="21548">
                    <a:solidFill>
                      <a:schemeClr val="bg1"/>
                    </a:solidFill>
                  </a:tcPr>
                </a:tc>
                <a:tc>
                  <a:txBody>
                    <a:bodyPr/>
                    <a:lstStyle/>
                    <a:p>
                      <a:pPr algn="ctr"/>
                      <a:r>
                        <a:rPr lang="fr-FR" sz="2800" dirty="0">
                          <a:solidFill>
                            <a:schemeClr val="tx1"/>
                          </a:solidFill>
                        </a:rPr>
                        <a:t>1</a:t>
                      </a:r>
                    </a:p>
                  </a:txBody>
                  <a:tcPr marL="43096" marR="43096" marT="21548" marB="21548">
                    <a:solidFill>
                      <a:schemeClr val="bg1"/>
                    </a:solidFill>
                  </a:tcPr>
                </a:tc>
                <a:tc>
                  <a:txBody>
                    <a:bodyPr/>
                    <a:lstStyle/>
                    <a:p>
                      <a:pPr algn="ctr"/>
                      <a:r>
                        <a:rPr lang="fr-FR" sz="2800" dirty="0">
                          <a:solidFill>
                            <a:schemeClr val="tx1"/>
                          </a:solidFill>
                        </a:rPr>
                        <a:t>2</a:t>
                      </a:r>
                    </a:p>
                  </a:txBody>
                  <a:tcPr marL="43096" marR="43096" marT="21548" marB="21548">
                    <a:solidFill>
                      <a:schemeClr val="bg1"/>
                    </a:solidFill>
                  </a:tcPr>
                </a:tc>
                <a:tc>
                  <a:txBody>
                    <a:bodyPr/>
                    <a:lstStyle/>
                    <a:p>
                      <a:pPr algn="ctr"/>
                      <a:r>
                        <a:rPr lang="fr-FR" sz="2800" dirty="0">
                          <a:solidFill>
                            <a:schemeClr val="tx1"/>
                          </a:solidFill>
                        </a:rPr>
                        <a:t>3</a:t>
                      </a:r>
                    </a:p>
                  </a:txBody>
                  <a:tcPr marL="43096" marR="43096" marT="21548" marB="21548">
                    <a:solidFill>
                      <a:schemeClr val="bg1"/>
                    </a:solidFill>
                  </a:tcPr>
                </a:tc>
                <a:tc>
                  <a:txBody>
                    <a:bodyPr/>
                    <a:lstStyle/>
                    <a:p>
                      <a:pPr algn="ctr"/>
                      <a:r>
                        <a:rPr lang="fr-FR" sz="2800" dirty="0">
                          <a:solidFill>
                            <a:schemeClr val="tx1"/>
                          </a:solidFill>
                        </a:rPr>
                        <a:t>4</a:t>
                      </a:r>
                    </a:p>
                  </a:txBody>
                  <a:tcPr marL="43096" marR="43096" marT="21548" marB="21548">
                    <a:solidFill>
                      <a:schemeClr val="bg1"/>
                    </a:solidFill>
                  </a:tcPr>
                </a:tc>
                <a:tc>
                  <a:txBody>
                    <a:bodyPr/>
                    <a:lstStyle/>
                    <a:p>
                      <a:pPr algn="ctr"/>
                      <a:r>
                        <a:rPr lang="fr-FR" sz="2800" dirty="0">
                          <a:solidFill>
                            <a:schemeClr val="tx1"/>
                          </a:solidFill>
                        </a:rPr>
                        <a:t>5</a:t>
                      </a:r>
                    </a:p>
                  </a:txBody>
                  <a:tcPr marL="43096" marR="43096" marT="21548" marB="21548">
                    <a:solidFill>
                      <a:schemeClr val="bg1"/>
                    </a:solidFill>
                  </a:tcPr>
                </a:tc>
                <a:tc>
                  <a:txBody>
                    <a:bodyPr/>
                    <a:lstStyle/>
                    <a:p>
                      <a:pPr algn="ctr"/>
                      <a:r>
                        <a:rPr lang="fr-FR" sz="2800" dirty="0">
                          <a:solidFill>
                            <a:schemeClr val="tx1"/>
                          </a:solidFill>
                        </a:rPr>
                        <a:t>6</a:t>
                      </a:r>
                    </a:p>
                  </a:txBody>
                  <a:tcPr marL="43096" marR="43096" marT="21548" marB="21548">
                    <a:solidFill>
                      <a:schemeClr val="bg1"/>
                    </a:solidFill>
                  </a:tcPr>
                </a:tc>
                <a:tc>
                  <a:txBody>
                    <a:bodyPr/>
                    <a:lstStyle/>
                    <a:p>
                      <a:pPr algn="ctr"/>
                      <a:r>
                        <a:rPr lang="fr-FR" sz="2800" dirty="0">
                          <a:solidFill>
                            <a:schemeClr val="tx1"/>
                          </a:solidFill>
                        </a:rPr>
                        <a:t>7</a:t>
                      </a:r>
                    </a:p>
                  </a:txBody>
                  <a:tcPr marL="43096" marR="43096" marT="21548" marB="21548">
                    <a:solidFill>
                      <a:schemeClr val="bg1"/>
                    </a:solidFill>
                  </a:tcPr>
                </a:tc>
                <a:extLst>
                  <a:ext uri="{0D108BD9-81ED-4DB2-BD59-A6C34878D82A}">
                    <a16:rowId xmlns:a16="http://schemas.microsoft.com/office/drawing/2014/main" val="3367535307"/>
                  </a:ext>
                </a:extLst>
              </a:tr>
              <a:tr h="241446">
                <a:tc>
                  <a:txBody>
                    <a:bodyPr/>
                    <a:lstStyle/>
                    <a:p>
                      <a:pPr algn="ctr"/>
                      <a:r>
                        <a:rPr lang="fr-FR" sz="400" dirty="0">
                          <a:solidFill>
                            <a:schemeClr val="bg1"/>
                          </a:solidFill>
                        </a:rPr>
                        <a:t>PAS ENCORE COMMENCÉ</a:t>
                      </a: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dirty="0">
                          <a:solidFill>
                            <a:schemeClr val="bg1"/>
                          </a:solidFill>
                        </a:rPr>
                        <a:t>INSPIRATION</a:t>
                      </a:r>
                    </a:p>
                    <a:p>
                      <a:pPr algn="ctr"/>
                      <a:endParaRPr lang="fr-FR" sz="400" dirty="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COLLECTE</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INITIATION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CHOC DE LA RÉALITÉ</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CONFIRMATION DE RÉUSSITES</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EXPOSITION</a:t>
                      </a:r>
                    </a:p>
                    <a:p>
                      <a:pPr algn="ctr"/>
                      <a:endParaRPr lang="fr-FR" sz="400">
                        <a:solidFill>
                          <a:schemeClr val="bg1"/>
                        </a:solidFill>
                      </a:endParaRPr>
                    </a:p>
                  </a:txBody>
                  <a:tcPr marL="43096" marR="43096" marT="21548" marB="21548">
                    <a:solidFill>
                      <a:srgbClr val="0683AA"/>
                    </a:solidFill>
                  </a:tcPr>
                </a:tc>
                <a:tc>
                  <a:txBody>
                    <a:bodyPr/>
                    <a:lstStyle/>
                    <a:p>
                      <a:pPr marL="0" indent="0" algn="ctr">
                        <a:buFont typeface="Arial" panose="020B0604020202020204" pitchFamily="34" charset="0"/>
                        <a:buNone/>
                      </a:pPr>
                      <a:r>
                        <a:rPr lang="fr-FR" sz="400" b="1" i="1" dirty="0">
                          <a:solidFill>
                            <a:schemeClr val="bg1"/>
                          </a:solidFill>
                        </a:rPr>
                        <a:t>FORTIFICATION</a:t>
                      </a:r>
                    </a:p>
                    <a:p>
                      <a:pPr marL="0" indent="0" algn="ctr">
                        <a:buFont typeface="Arial" panose="020B0604020202020204" pitchFamily="34" charset="0"/>
                        <a:buNone/>
                      </a:pPr>
                      <a:endParaRPr lang="fr-FR" sz="400" b="1" i="1" dirty="0">
                        <a:solidFill>
                          <a:schemeClr val="bg1"/>
                        </a:solidFill>
                      </a:endParaRPr>
                    </a:p>
                    <a:p>
                      <a:pPr algn="ctr"/>
                      <a:endParaRPr lang="fr-FR" sz="400" dirty="0">
                        <a:solidFill>
                          <a:schemeClr val="bg1"/>
                        </a:solidFill>
                      </a:endParaRPr>
                    </a:p>
                  </a:txBody>
                  <a:tcPr marL="43096" marR="43096" marT="21548" marB="21548">
                    <a:solidFill>
                      <a:srgbClr val="0683AA"/>
                    </a:solidFill>
                  </a:tcPr>
                </a:tc>
                <a:extLst>
                  <a:ext uri="{0D108BD9-81ED-4DB2-BD59-A6C34878D82A}">
                    <a16:rowId xmlns:a16="http://schemas.microsoft.com/office/drawing/2014/main" val="3579208894"/>
                  </a:ext>
                </a:extLst>
              </a:tr>
              <a:tr h="1060049">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dirty="0"/>
                    </a:p>
                  </a:txBody>
                  <a:tcPr marL="43096" marR="43096" marT="21548" marB="21548"/>
                </a:tc>
                <a:extLst>
                  <a:ext uri="{0D108BD9-81ED-4DB2-BD59-A6C34878D82A}">
                    <a16:rowId xmlns:a16="http://schemas.microsoft.com/office/drawing/2014/main" val="1415023090"/>
                  </a:ext>
                </a:extLst>
              </a:tr>
            </a:tbl>
          </a:graphicData>
        </a:graphic>
      </p:graphicFrame>
      <p:sp>
        <p:nvSpPr>
          <p:cNvPr id="42" name="ZoneTexte 41">
            <a:extLst>
              <a:ext uri="{FF2B5EF4-FFF2-40B4-BE49-F238E27FC236}">
                <a16:creationId xmlns:a16="http://schemas.microsoft.com/office/drawing/2014/main" id="{0D8D6BAA-C9C6-1650-696E-024374C3F38B}"/>
              </a:ext>
            </a:extLst>
          </p:cNvPr>
          <p:cNvSpPr txBox="1"/>
          <p:nvPr/>
        </p:nvSpPr>
        <p:spPr>
          <a:xfrm>
            <a:off x="494414" y="6118211"/>
            <a:ext cx="4052182" cy="461665"/>
          </a:xfrm>
          <a:prstGeom prst="rect">
            <a:avLst/>
          </a:prstGeom>
          <a:noFill/>
        </p:spPr>
        <p:txBody>
          <a:bodyPr wrap="square">
            <a:spAutoFit/>
          </a:bodyPr>
          <a:lstStyle/>
          <a:p>
            <a:pPr marL="0" indent="0">
              <a:buNone/>
            </a:pPr>
            <a:r>
              <a:rPr lang="fr-FR" sz="1200" dirty="0"/>
              <a:t>Niveau (phase) où se situe chaque membre / nombre de membres</a:t>
            </a:r>
          </a:p>
        </p:txBody>
      </p:sp>
      <p:cxnSp>
        <p:nvCxnSpPr>
          <p:cNvPr id="45" name="Connecteur droit 44">
            <a:extLst>
              <a:ext uri="{FF2B5EF4-FFF2-40B4-BE49-F238E27FC236}">
                <a16:creationId xmlns:a16="http://schemas.microsoft.com/office/drawing/2014/main" id="{A18F7069-E597-85E1-BB9E-EF5F4923933A}"/>
              </a:ext>
            </a:extLst>
          </p:cNvPr>
          <p:cNvCxnSpPr>
            <a:cxnSpLocks/>
          </p:cNvCxnSpPr>
          <p:nvPr/>
        </p:nvCxnSpPr>
        <p:spPr>
          <a:xfrm flipH="1">
            <a:off x="1121334" y="5473555"/>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48" name="ZoneTexte 47">
            <a:extLst>
              <a:ext uri="{FF2B5EF4-FFF2-40B4-BE49-F238E27FC236}">
                <a16:creationId xmlns:a16="http://schemas.microsoft.com/office/drawing/2014/main" id="{C1E2EB7D-CAEB-A990-2F5D-3CD055EA18F4}"/>
              </a:ext>
            </a:extLst>
          </p:cNvPr>
          <p:cNvSpPr txBox="1"/>
          <p:nvPr/>
        </p:nvSpPr>
        <p:spPr>
          <a:xfrm>
            <a:off x="1554856" y="4757970"/>
            <a:ext cx="464463" cy="707886"/>
          </a:xfrm>
          <a:prstGeom prst="rect">
            <a:avLst/>
          </a:prstGeom>
          <a:noFill/>
        </p:spPr>
        <p:txBody>
          <a:bodyPr wrap="square">
            <a:spAutoFit/>
          </a:bodyPr>
          <a:lstStyle/>
          <a:p>
            <a:r>
              <a:rPr lang="el-GR" sz="4000" dirty="0"/>
              <a:t>Σ</a:t>
            </a:r>
            <a:endParaRPr lang="fr-FR" sz="4000" dirty="0"/>
          </a:p>
        </p:txBody>
      </p:sp>
      <p:sp>
        <p:nvSpPr>
          <p:cNvPr id="50" name="ZoneTexte 49">
            <a:extLst>
              <a:ext uri="{FF2B5EF4-FFF2-40B4-BE49-F238E27FC236}">
                <a16:creationId xmlns:a16="http://schemas.microsoft.com/office/drawing/2014/main" id="{D4472441-E336-C18C-1D90-5E1981A51EDE}"/>
              </a:ext>
            </a:extLst>
          </p:cNvPr>
          <p:cNvSpPr txBox="1"/>
          <p:nvPr/>
        </p:nvSpPr>
        <p:spPr>
          <a:xfrm>
            <a:off x="1465841" y="5413692"/>
            <a:ext cx="464463" cy="707886"/>
          </a:xfrm>
          <a:prstGeom prst="rect">
            <a:avLst/>
          </a:prstGeom>
          <a:noFill/>
        </p:spPr>
        <p:txBody>
          <a:bodyPr wrap="square">
            <a:spAutoFit/>
          </a:bodyPr>
          <a:lstStyle/>
          <a:p>
            <a:r>
              <a:rPr lang="el-GR" sz="4000" dirty="0"/>
              <a:t>Σ</a:t>
            </a:r>
            <a:endParaRPr lang="fr-FR" sz="4000" dirty="0"/>
          </a:p>
        </p:txBody>
      </p:sp>
      <p:sp>
        <p:nvSpPr>
          <p:cNvPr id="51" name="ZoneTexte 50">
            <a:extLst>
              <a:ext uri="{FF2B5EF4-FFF2-40B4-BE49-F238E27FC236}">
                <a16:creationId xmlns:a16="http://schemas.microsoft.com/office/drawing/2014/main" id="{F7C8AAD9-3374-1326-25BE-BBC5AC4B4748}"/>
              </a:ext>
            </a:extLst>
          </p:cNvPr>
          <p:cNvSpPr txBox="1"/>
          <p:nvPr/>
        </p:nvSpPr>
        <p:spPr>
          <a:xfrm>
            <a:off x="1810348" y="4858066"/>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53" name="ZoneTexte 52">
            <a:extLst>
              <a:ext uri="{FF2B5EF4-FFF2-40B4-BE49-F238E27FC236}">
                <a16:creationId xmlns:a16="http://schemas.microsoft.com/office/drawing/2014/main" id="{FF9609C7-5403-B9E1-3A71-B903F0D436B9}"/>
              </a:ext>
            </a:extLst>
          </p:cNvPr>
          <p:cNvSpPr txBox="1"/>
          <p:nvPr/>
        </p:nvSpPr>
        <p:spPr>
          <a:xfrm>
            <a:off x="1535808" y="5281270"/>
            <a:ext cx="246248" cy="169277"/>
          </a:xfrm>
          <a:prstGeom prst="rect">
            <a:avLst/>
          </a:prstGeom>
          <a:noFill/>
        </p:spPr>
        <p:txBody>
          <a:bodyPr wrap="square">
            <a:spAutoFit/>
          </a:bodyPr>
          <a:lstStyle/>
          <a:p>
            <a:r>
              <a:rPr lang="fr-FR" sz="500" dirty="0"/>
              <a:t>i =</a:t>
            </a:r>
          </a:p>
        </p:txBody>
      </p:sp>
      <p:grpSp>
        <p:nvGrpSpPr>
          <p:cNvPr id="32" name="Groupe 31">
            <a:extLst>
              <a:ext uri="{FF2B5EF4-FFF2-40B4-BE49-F238E27FC236}">
                <a16:creationId xmlns:a16="http://schemas.microsoft.com/office/drawing/2014/main" id="{A29B3ED5-4237-739F-E7B6-80796E9AA9AA}"/>
              </a:ext>
            </a:extLst>
          </p:cNvPr>
          <p:cNvGrpSpPr/>
          <p:nvPr/>
        </p:nvGrpSpPr>
        <p:grpSpPr>
          <a:xfrm>
            <a:off x="392814" y="2753083"/>
            <a:ext cx="4731040" cy="929917"/>
            <a:chOff x="2445155" y="3409417"/>
            <a:chExt cx="7482860" cy="1340536"/>
          </a:xfrm>
        </p:grpSpPr>
        <p:pic>
          <p:nvPicPr>
            <p:cNvPr id="3" name="Graphique 2" descr="Garçon aux cheveux bouclés">
              <a:extLst>
                <a:ext uri="{FF2B5EF4-FFF2-40B4-BE49-F238E27FC236}">
                  <a16:creationId xmlns:a16="http://schemas.microsoft.com/office/drawing/2014/main" id="{D749B70A-2611-C3AB-B52C-0AB98CD0CB4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3502346" y="3446777"/>
              <a:ext cx="398467" cy="410478"/>
            </a:xfrm>
            <a:prstGeom prst="rect">
              <a:avLst/>
            </a:prstGeom>
          </p:spPr>
        </p:pic>
        <p:pic>
          <p:nvPicPr>
            <p:cNvPr id="6" name="Graphique 5" descr="Fille portant un sac à dos">
              <a:extLst>
                <a:ext uri="{FF2B5EF4-FFF2-40B4-BE49-F238E27FC236}">
                  <a16:creationId xmlns:a16="http://schemas.microsoft.com/office/drawing/2014/main" id="{8A274B59-9043-858B-D170-21B057176C0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4391635" y="3432808"/>
              <a:ext cx="398465" cy="402293"/>
            </a:xfrm>
            <a:prstGeom prst="rect">
              <a:avLst/>
            </a:prstGeom>
          </p:spPr>
        </p:pic>
        <p:pic>
          <p:nvPicPr>
            <p:cNvPr id="7" name="Graphique 6" descr="Homme avec barbe">
              <a:extLst>
                <a:ext uri="{FF2B5EF4-FFF2-40B4-BE49-F238E27FC236}">
                  <a16:creationId xmlns:a16="http://schemas.microsoft.com/office/drawing/2014/main" id="{204F4B4B-CA14-DCC0-183E-BFF4A443B0C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4391544" y="3890427"/>
              <a:ext cx="370183" cy="433905"/>
            </a:xfrm>
            <a:prstGeom prst="rect">
              <a:avLst/>
            </a:prstGeom>
          </p:spPr>
        </p:pic>
        <p:pic>
          <p:nvPicPr>
            <p:cNvPr id="8" name="Graphique 7" descr="Homme tenant une tasse">
              <a:extLst>
                <a:ext uri="{FF2B5EF4-FFF2-40B4-BE49-F238E27FC236}">
                  <a16:creationId xmlns:a16="http://schemas.microsoft.com/office/drawing/2014/main" id="{D493096D-339C-7D0E-874E-0F83CB35B65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311112" y="3875300"/>
              <a:ext cx="370183" cy="397133"/>
            </a:xfrm>
            <a:prstGeom prst="rect">
              <a:avLst/>
            </a:prstGeom>
          </p:spPr>
        </p:pic>
        <p:pic>
          <p:nvPicPr>
            <p:cNvPr id="9" name="Graphique 8" descr="Homme en smoking">
              <a:extLst>
                <a:ext uri="{FF2B5EF4-FFF2-40B4-BE49-F238E27FC236}">
                  <a16:creationId xmlns:a16="http://schemas.microsoft.com/office/drawing/2014/main" id="{DD1B5223-64A1-D62A-2DCD-06E83DDE654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454178" y="3420689"/>
              <a:ext cx="351837" cy="462653"/>
            </a:xfrm>
            <a:prstGeom prst="rect">
              <a:avLst/>
            </a:prstGeom>
          </p:spPr>
        </p:pic>
        <p:pic>
          <p:nvPicPr>
            <p:cNvPr id="23" name="Graphique 22" descr="Homme avec bras prothétique">
              <a:extLst>
                <a:ext uri="{FF2B5EF4-FFF2-40B4-BE49-F238E27FC236}">
                  <a16:creationId xmlns:a16="http://schemas.microsoft.com/office/drawing/2014/main" id="{2FC818E1-5C1E-CBBA-9CB2-BCBFC0685EC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2816607" y="3487596"/>
              <a:ext cx="521269" cy="381325"/>
            </a:xfrm>
            <a:prstGeom prst="rect">
              <a:avLst/>
            </a:prstGeom>
          </p:spPr>
        </p:pic>
        <p:pic>
          <p:nvPicPr>
            <p:cNvPr id="24" name="Graphique 23" descr="Homme portant une chemise avec motif">
              <a:extLst>
                <a:ext uri="{FF2B5EF4-FFF2-40B4-BE49-F238E27FC236}">
                  <a16:creationId xmlns:a16="http://schemas.microsoft.com/office/drawing/2014/main" id="{1DFA5BD6-D063-C732-068A-ADC2D87DBEE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6281342" y="3441002"/>
              <a:ext cx="352508" cy="440443"/>
            </a:xfrm>
            <a:prstGeom prst="rect">
              <a:avLst/>
            </a:prstGeom>
          </p:spPr>
        </p:pic>
        <p:pic>
          <p:nvPicPr>
            <p:cNvPr id="25" name="Graphique 24" descr="Homme âgé portant une veste">
              <a:extLst>
                <a:ext uri="{FF2B5EF4-FFF2-40B4-BE49-F238E27FC236}">
                  <a16:creationId xmlns:a16="http://schemas.microsoft.com/office/drawing/2014/main" id="{C9BDD7CA-0A09-F27A-17E8-F4B189B7C649}"/>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2445155" y="4334005"/>
              <a:ext cx="374626" cy="415948"/>
            </a:xfrm>
            <a:prstGeom prst="rect">
              <a:avLst/>
            </a:prstGeom>
          </p:spPr>
        </p:pic>
        <p:pic>
          <p:nvPicPr>
            <p:cNvPr id="26" name="Graphique 25" descr="Homme portant chapeau et costume">
              <a:extLst>
                <a:ext uri="{FF2B5EF4-FFF2-40B4-BE49-F238E27FC236}">
                  <a16:creationId xmlns:a16="http://schemas.microsoft.com/office/drawing/2014/main" id="{C28ABCD3-B4BB-4C49-245B-C19C0574B4B7}"/>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2452811" y="3876785"/>
              <a:ext cx="419339" cy="457716"/>
            </a:xfrm>
            <a:prstGeom prst="rect">
              <a:avLst/>
            </a:prstGeom>
          </p:spPr>
        </p:pic>
        <p:pic>
          <p:nvPicPr>
            <p:cNvPr id="27" name="Graphique 26" descr="Femme non-voyante utilisant un bâton">
              <a:extLst>
                <a:ext uri="{FF2B5EF4-FFF2-40B4-BE49-F238E27FC236}">
                  <a16:creationId xmlns:a16="http://schemas.microsoft.com/office/drawing/2014/main" id="{9310179E-8D8E-52D8-BD17-F0121BA6C8CE}"/>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4350300" y="4342357"/>
              <a:ext cx="411427" cy="397134"/>
            </a:xfrm>
            <a:prstGeom prst="rect">
              <a:avLst/>
            </a:prstGeom>
          </p:spPr>
        </p:pic>
        <p:pic>
          <p:nvPicPr>
            <p:cNvPr id="28" name="Graphique 27" descr="Femme levant le doigt">
              <a:extLst>
                <a:ext uri="{FF2B5EF4-FFF2-40B4-BE49-F238E27FC236}">
                  <a16:creationId xmlns:a16="http://schemas.microsoft.com/office/drawing/2014/main" id="{C0DF4F30-DC66-1F5B-BDF2-6662714EA57F}"/>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7254786" y="3432808"/>
              <a:ext cx="379003" cy="456211"/>
            </a:xfrm>
            <a:prstGeom prst="rect">
              <a:avLst/>
            </a:prstGeom>
          </p:spPr>
        </p:pic>
        <p:pic>
          <p:nvPicPr>
            <p:cNvPr id="29" name="Graphique 28" descr="Femme avec queue de cheval">
              <a:extLst>
                <a:ext uri="{FF2B5EF4-FFF2-40B4-BE49-F238E27FC236}">
                  <a16:creationId xmlns:a16="http://schemas.microsoft.com/office/drawing/2014/main" id="{C06EEA3E-D8A7-08DD-07E2-D6E6835D05BD}"/>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2826075" y="3912840"/>
              <a:ext cx="481610" cy="422737"/>
            </a:xfrm>
            <a:prstGeom prst="rect">
              <a:avLst/>
            </a:prstGeom>
          </p:spPr>
        </p:pic>
        <p:pic>
          <p:nvPicPr>
            <p:cNvPr id="30" name="Graphique 29" descr="Femme utilisant une cane">
              <a:extLst>
                <a:ext uri="{FF2B5EF4-FFF2-40B4-BE49-F238E27FC236}">
                  <a16:creationId xmlns:a16="http://schemas.microsoft.com/office/drawing/2014/main" id="{F65188C2-15DE-8FFB-9ADC-2D5D7038DC66}"/>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8049288" y="3409417"/>
              <a:ext cx="706248" cy="518063"/>
            </a:xfrm>
            <a:prstGeom prst="rect">
              <a:avLst/>
            </a:prstGeom>
          </p:spPr>
        </p:pic>
        <p:pic>
          <p:nvPicPr>
            <p:cNvPr id="31" name="Graphique 30" descr="Femme aux cheveux afro">
              <a:extLst>
                <a:ext uri="{FF2B5EF4-FFF2-40B4-BE49-F238E27FC236}">
                  <a16:creationId xmlns:a16="http://schemas.microsoft.com/office/drawing/2014/main" id="{7025737D-B845-9CEE-0482-AE20EBEB82C0}"/>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9216723" y="3432808"/>
              <a:ext cx="711292" cy="518063"/>
            </a:xfrm>
            <a:prstGeom prst="rect">
              <a:avLst/>
            </a:prstGeom>
          </p:spPr>
        </p:pic>
      </p:grpSp>
      <p:pic>
        <p:nvPicPr>
          <p:cNvPr id="33" name="Graphique 32" descr="Femme non-voyante utilisant un bâton">
            <a:extLst>
              <a:ext uri="{FF2B5EF4-FFF2-40B4-BE49-F238E27FC236}">
                <a16:creationId xmlns:a16="http://schemas.microsoft.com/office/drawing/2014/main" id="{ED3808D1-8D8C-8C0B-79E8-7CFECB95E2C8}"/>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1806576" y="5633515"/>
            <a:ext cx="273418" cy="289567"/>
          </a:xfrm>
          <a:prstGeom prst="rect">
            <a:avLst/>
          </a:prstGeom>
        </p:spPr>
      </p:pic>
      <p:sp>
        <p:nvSpPr>
          <p:cNvPr id="34" name="Bulle narrative : ronde 33">
            <a:extLst>
              <a:ext uri="{FF2B5EF4-FFF2-40B4-BE49-F238E27FC236}">
                <a16:creationId xmlns:a16="http://schemas.microsoft.com/office/drawing/2014/main" id="{91B95B71-4C19-79A0-9F2E-31EE7CE981D1}"/>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Sur le sujet XYZ, où en sont les membres en termes d’application ?</a:t>
            </a:r>
          </a:p>
        </p:txBody>
      </p:sp>
      <p:pic>
        <p:nvPicPr>
          <p:cNvPr id="35" name="Graphique 3" descr="Femme portant un tailleur">
            <a:extLst>
              <a:ext uri="{FF2B5EF4-FFF2-40B4-BE49-F238E27FC236}">
                <a16:creationId xmlns:a16="http://schemas.microsoft.com/office/drawing/2014/main" id="{D716C6C4-DFBF-7A79-FACC-16A822B8773C}"/>
              </a:ext>
            </a:extLst>
          </p:cNvPr>
          <p:cNvPicPr>
            <a:picLocks noChangeAspect="1"/>
          </p:cNvPicPr>
          <p:nvPr/>
        </p:nvPicPr>
        <p:blipFill rotWithShape="1">
          <a:blip r:embed="rId30">
            <a:extLst>
              <a:ext uri="{96DAC541-7B7A-43D3-8B79-37D633B846F1}">
                <asvg:svgBlip xmlns:asvg="http://schemas.microsoft.com/office/drawing/2016/SVG/main" r:embed="rId31"/>
              </a:ext>
            </a:extLst>
          </a:blip>
          <a:srcRect b="67900"/>
          <a:stretch/>
        </p:blipFill>
        <p:spPr>
          <a:xfrm flipH="1">
            <a:off x="9519412" y="371448"/>
            <a:ext cx="2672588" cy="1668390"/>
          </a:xfrm>
          <a:prstGeom prst="rect">
            <a:avLst/>
          </a:prstGeom>
        </p:spPr>
      </p:pic>
      <p:pic>
        <p:nvPicPr>
          <p:cNvPr id="11" name="Graphique 10" descr="Femme non-voyante utilisant un bâton">
            <a:extLst>
              <a:ext uri="{FF2B5EF4-FFF2-40B4-BE49-F238E27FC236}">
                <a16:creationId xmlns:a16="http://schemas.microsoft.com/office/drawing/2014/main" id="{CA7F1574-FF0D-6D09-FB58-38F4D33C8006}"/>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1708932" y="5313672"/>
            <a:ext cx="98646" cy="104472"/>
          </a:xfrm>
          <a:prstGeom prst="rect">
            <a:avLst/>
          </a:prstGeom>
        </p:spPr>
      </p:pic>
    </p:spTree>
    <p:extLst>
      <p:ext uri="{BB962C8B-B14F-4D97-AF65-F5344CB8AC3E}">
        <p14:creationId xmlns:p14="http://schemas.microsoft.com/office/powerpoint/2010/main" val="89748329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3971925" cy="1325563"/>
          </a:xfrm>
        </p:spPr>
        <p:txBody>
          <a:bodyPr>
            <a:noAutofit/>
          </a:bodyPr>
          <a:lstStyle/>
          <a:p>
            <a:r>
              <a:rPr lang="fr-FR" sz="2400" b="1" dirty="0"/>
              <a:t>Indicateur  : </a:t>
            </a:r>
            <a:br>
              <a:rPr lang="fr-FR" sz="2400" b="1" dirty="0"/>
            </a:br>
            <a:r>
              <a:rPr lang="fr-FR" sz="2400" dirty="0"/>
              <a:t>Niveau moyen des membres sur un sujet donné</a:t>
            </a:r>
          </a:p>
        </p:txBody>
      </p:sp>
      <p:sp>
        <p:nvSpPr>
          <p:cNvPr id="6" name="Espace réservé du contenu 2">
            <a:extLst>
              <a:ext uri="{FF2B5EF4-FFF2-40B4-BE49-F238E27FC236}">
                <a16:creationId xmlns:a16="http://schemas.microsoft.com/office/drawing/2014/main" id="{7A5F284E-8DB5-883C-C3E9-77D50DA8AF3C}"/>
              </a:ext>
            </a:extLst>
          </p:cNvPr>
          <p:cNvSpPr txBox="1">
            <a:spLocks/>
          </p:cNvSpPr>
          <p:nvPr/>
        </p:nvSpPr>
        <p:spPr>
          <a:xfrm>
            <a:off x="5278478" y="1081085"/>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élevé</a:t>
            </a:r>
          </a:p>
          <a:p>
            <a:pPr marL="0" indent="0">
              <a:buNone/>
            </a:pPr>
            <a:r>
              <a:rPr lang="fr-FR" sz="1400" dirty="0"/>
              <a:t>Cela peut être signe de : Maturité très élevée sur le sujet, surestimation du potentiel, risque d’ennui sur les sujets.</a:t>
            </a:r>
          </a:p>
          <a:p>
            <a:pPr marL="0" indent="0">
              <a:buNone/>
            </a:pPr>
            <a:r>
              <a:rPr lang="fr-FR" sz="1400" dirty="0"/>
              <a:t>On peut alors choisir de : Demander des sessions de retours d’expérience aux membres avancés pour confirmer le niveau, travailler des sous-sujets spécialisés </a:t>
            </a:r>
          </a:p>
        </p:txBody>
      </p:sp>
      <p:sp>
        <p:nvSpPr>
          <p:cNvPr id="7" name="Espace réservé du contenu 2">
            <a:extLst>
              <a:ext uri="{FF2B5EF4-FFF2-40B4-BE49-F238E27FC236}">
                <a16:creationId xmlns:a16="http://schemas.microsoft.com/office/drawing/2014/main" id="{77EE0546-B732-AAD8-C932-7E1C9E33186F}"/>
              </a:ext>
            </a:extLst>
          </p:cNvPr>
          <p:cNvSpPr txBox="1">
            <a:spLocks/>
          </p:cNvSpPr>
          <p:nvPr/>
        </p:nvSpPr>
        <p:spPr>
          <a:xfrm>
            <a:off x="5278478" y="2924172"/>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bas</a:t>
            </a:r>
          </a:p>
          <a:p>
            <a:pPr marL="0" indent="0">
              <a:buNone/>
            </a:pPr>
            <a:r>
              <a:rPr lang="fr-FR" sz="1400" dirty="0"/>
              <a:t>Cela peut être signe de : Nouveauté globale du sujet, sous-estimation du potentiel.</a:t>
            </a:r>
          </a:p>
          <a:p>
            <a:pPr marL="0" indent="0">
              <a:buNone/>
            </a:pPr>
            <a:r>
              <a:rPr lang="fr-FR" sz="1400" dirty="0"/>
              <a:t>On peut alors choisir de : Faire appel à des interventions extérieures ou des contenus (peu de source interne à la Communauté pour les connaissances)</a:t>
            </a:r>
          </a:p>
        </p:txBody>
      </p:sp>
      <p:sp>
        <p:nvSpPr>
          <p:cNvPr id="8" name="Espace réservé du contenu 2">
            <a:extLst>
              <a:ext uri="{FF2B5EF4-FFF2-40B4-BE49-F238E27FC236}">
                <a16:creationId xmlns:a16="http://schemas.microsoft.com/office/drawing/2014/main" id="{508FB5AD-E442-258F-6B6E-1E9D5F12352F}"/>
              </a:ext>
            </a:extLst>
          </p:cNvPr>
          <p:cNvSpPr txBox="1">
            <a:spLocks/>
          </p:cNvSpPr>
          <p:nvPr/>
        </p:nvSpPr>
        <p:spPr>
          <a:xfrm>
            <a:off x="5278478" y="4762496"/>
            <a:ext cx="5411692" cy="1633537"/>
          </a:xfrm>
          <a:prstGeom prst="rect">
            <a:avLst/>
          </a:prstGeom>
          <a:solidFill>
            <a:schemeClr val="bg1">
              <a:lumMod val="95000"/>
            </a:schemeClr>
          </a:solidFill>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a:buFontTx/>
              <a:buChar char="-"/>
            </a:pPr>
            <a:r>
              <a:rPr lang="fr-FR" sz="1400" dirty="0"/>
              <a:t>Ajouter des sous niveaux sur « choc de la réalité » (le niveau le plus long)</a:t>
            </a:r>
          </a:p>
          <a:p>
            <a:pPr>
              <a:buFontTx/>
              <a:buChar char="-"/>
            </a:pPr>
            <a:r>
              <a:rPr lang="fr-FR" sz="1400" dirty="0"/>
              <a:t>Au lieu de noter les phases, faire une liste d’activités par colonne et faire cocher les activités déjà faites</a:t>
            </a:r>
          </a:p>
          <a:p>
            <a:pPr>
              <a:buFontTx/>
              <a:buChar char="-"/>
            </a:pPr>
            <a:r>
              <a:rPr lang="fr-FR" sz="1400" dirty="0"/>
              <a:t>Proposer de faire repérer « le niveau où on veut commencer » plutôt que « le niveau où on est » dans CCC-Groups, pour les avancés qui souhaitent revoir des bases ou des débutants qui souhaitent aller très vite sans les bases.</a:t>
            </a:r>
          </a:p>
          <a:p>
            <a:pPr marL="0" indent="0">
              <a:buNone/>
            </a:pPr>
            <a:endParaRPr lang="fr-FR" sz="1400" dirty="0"/>
          </a:p>
          <a:p>
            <a:pPr marL="0" indent="0">
              <a:buNone/>
            </a:pPr>
            <a:endParaRPr lang="fr-FR" sz="1400" dirty="0"/>
          </a:p>
          <a:p>
            <a:pPr marL="0" indent="0">
              <a:buNone/>
            </a:pPr>
            <a:endParaRPr lang="fr-FR" sz="1400" dirty="0"/>
          </a:p>
          <a:p>
            <a:pPr marL="0" indent="0">
              <a:buNone/>
            </a:pPr>
            <a:endParaRPr lang="fr-FR" sz="1800" b="1" dirty="0"/>
          </a:p>
          <a:p>
            <a:pPr marL="0" indent="0">
              <a:buNone/>
            </a:pPr>
            <a:endParaRPr lang="fr-FR" sz="1800" b="1" dirty="0"/>
          </a:p>
        </p:txBody>
      </p:sp>
      <p:graphicFrame>
        <p:nvGraphicFramePr>
          <p:cNvPr id="3" name="Tableau 5">
            <a:extLst>
              <a:ext uri="{FF2B5EF4-FFF2-40B4-BE49-F238E27FC236}">
                <a16:creationId xmlns:a16="http://schemas.microsoft.com/office/drawing/2014/main" id="{FA9AE095-ABC3-A3DF-16B0-3187C022BC83}"/>
              </a:ext>
            </a:extLst>
          </p:cNvPr>
          <p:cNvGraphicFramePr>
            <a:graphicFrameLocks noGrp="1"/>
          </p:cNvGraphicFramePr>
          <p:nvPr/>
        </p:nvGraphicFramePr>
        <p:xfrm>
          <a:off x="394489" y="2039838"/>
          <a:ext cx="4731040" cy="1771311"/>
        </p:xfrm>
        <a:graphic>
          <a:graphicData uri="http://schemas.openxmlformats.org/drawingml/2006/table">
            <a:tbl>
              <a:tblPr firstRow="1" bandRow="1">
                <a:tableStyleId>{073A0DAA-6AF3-43AB-8588-CEC1D06C72B9}</a:tableStyleId>
              </a:tblPr>
              <a:tblGrid>
                <a:gridCol w="591380">
                  <a:extLst>
                    <a:ext uri="{9D8B030D-6E8A-4147-A177-3AD203B41FA5}">
                      <a16:colId xmlns:a16="http://schemas.microsoft.com/office/drawing/2014/main" val="1486018635"/>
                    </a:ext>
                  </a:extLst>
                </a:gridCol>
                <a:gridCol w="591380">
                  <a:extLst>
                    <a:ext uri="{9D8B030D-6E8A-4147-A177-3AD203B41FA5}">
                      <a16:colId xmlns:a16="http://schemas.microsoft.com/office/drawing/2014/main" val="761339006"/>
                    </a:ext>
                  </a:extLst>
                </a:gridCol>
                <a:gridCol w="591380">
                  <a:extLst>
                    <a:ext uri="{9D8B030D-6E8A-4147-A177-3AD203B41FA5}">
                      <a16:colId xmlns:a16="http://schemas.microsoft.com/office/drawing/2014/main" val="416087062"/>
                    </a:ext>
                  </a:extLst>
                </a:gridCol>
                <a:gridCol w="591380">
                  <a:extLst>
                    <a:ext uri="{9D8B030D-6E8A-4147-A177-3AD203B41FA5}">
                      <a16:colId xmlns:a16="http://schemas.microsoft.com/office/drawing/2014/main" val="2064857721"/>
                    </a:ext>
                  </a:extLst>
                </a:gridCol>
                <a:gridCol w="591380">
                  <a:extLst>
                    <a:ext uri="{9D8B030D-6E8A-4147-A177-3AD203B41FA5}">
                      <a16:colId xmlns:a16="http://schemas.microsoft.com/office/drawing/2014/main" val="183491405"/>
                    </a:ext>
                  </a:extLst>
                </a:gridCol>
                <a:gridCol w="591380">
                  <a:extLst>
                    <a:ext uri="{9D8B030D-6E8A-4147-A177-3AD203B41FA5}">
                      <a16:colId xmlns:a16="http://schemas.microsoft.com/office/drawing/2014/main" val="3364014230"/>
                    </a:ext>
                  </a:extLst>
                </a:gridCol>
                <a:gridCol w="591380">
                  <a:extLst>
                    <a:ext uri="{9D8B030D-6E8A-4147-A177-3AD203B41FA5}">
                      <a16:colId xmlns:a16="http://schemas.microsoft.com/office/drawing/2014/main" val="365145181"/>
                    </a:ext>
                  </a:extLst>
                </a:gridCol>
                <a:gridCol w="591380">
                  <a:extLst>
                    <a:ext uri="{9D8B030D-6E8A-4147-A177-3AD203B41FA5}">
                      <a16:colId xmlns:a16="http://schemas.microsoft.com/office/drawing/2014/main" val="1628287487"/>
                    </a:ext>
                  </a:extLst>
                </a:gridCol>
              </a:tblGrid>
              <a:tr h="241446">
                <a:tc>
                  <a:txBody>
                    <a:bodyPr/>
                    <a:lstStyle/>
                    <a:p>
                      <a:pPr algn="ctr"/>
                      <a:r>
                        <a:rPr lang="fr-FR" sz="2800" dirty="0">
                          <a:solidFill>
                            <a:schemeClr val="tx1"/>
                          </a:solidFill>
                        </a:rPr>
                        <a:t>0</a:t>
                      </a:r>
                    </a:p>
                  </a:txBody>
                  <a:tcPr marL="43096" marR="43096" marT="21548" marB="21548">
                    <a:solidFill>
                      <a:schemeClr val="bg1"/>
                    </a:solidFill>
                  </a:tcPr>
                </a:tc>
                <a:tc>
                  <a:txBody>
                    <a:bodyPr/>
                    <a:lstStyle/>
                    <a:p>
                      <a:pPr algn="ctr"/>
                      <a:r>
                        <a:rPr lang="fr-FR" sz="2800" dirty="0">
                          <a:solidFill>
                            <a:schemeClr val="tx1"/>
                          </a:solidFill>
                        </a:rPr>
                        <a:t>1</a:t>
                      </a:r>
                    </a:p>
                  </a:txBody>
                  <a:tcPr marL="43096" marR="43096" marT="21548" marB="21548">
                    <a:solidFill>
                      <a:schemeClr val="bg1"/>
                    </a:solidFill>
                  </a:tcPr>
                </a:tc>
                <a:tc>
                  <a:txBody>
                    <a:bodyPr/>
                    <a:lstStyle/>
                    <a:p>
                      <a:pPr algn="ctr"/>
                      <a:r>
                        <a:rPr lang="fr-FR" sz="2800" dirty="0">
                          <a:solidFill>
                            <a:schemeClr val="tx1"/>
                          </a:solidFill>
                        </a:rPr>
                        <a:t>2</a:t>
                      </a:r>
                    </a:p>
                  </a:txBody>
                  <a:tcPr marL="43096" marR="43096" marT="21548" marB="21548">
                    <a:solidFill>
                      <a:schemeClr val="bg1"/>
                    </a:solidFill>
                  </a:tcPr>
                </a:tc>
                <a:tc>
                  <a:txBody>
                    <a:bodyPr/>
                    <a:lstStyle/>
                    <a:p>
                      <a:pPr algn="ctr"/>
                      <a:r>
                        <a:rPr lang="fr-FR" sz="2800" dirty="0">
                          <a:solidFill>
                            <a:schemeClr val="tx1"/>
                          </a:solidFill>
                        </a:rPr>
                        <a:t>3</a:t>
                      </a:r>
                    </a:p>
                  </a:txBody>
                  <a:tcPr marL="43096" marR="43096" marT="21548" marB="21548">
                    <a:solidFill>
                      <a:schemeClr val="bg1"/>
                    </a:solidFill>
                  </a:tcPr>
                </a:tc>
                <a:tc>
                  <a:txBody>
                    <a:bodyPr/>
                    <a:lstStyle/>
                    <a:p>
                      <a:pPr algn="ctr"/>
                      <a:r>
                        <a:rPr lang="fr-FR" sz="2800" dirty="0">
                          <a:solidFill>
                            <a:schemeClr val="tx1"/>
                          </a:solidFill>
                        </a:rPr>
                        <a:t>4</a:t>
                      </a:r>
                    </a:p>
                  </a:txBody>
                  <a:tcPr marL="43096" marR="43096" marT="21548" marB="21548">
                    <a:solidFill>
                      <a:schemeClr val="bg1"/>
                    </a:solidFill>
                  </a:tcPr>
                </a:tc>
                <a:tc>
                  <a:txBody>
                    <a:bodyPr/>
                    <a:lstStyle/>
                    <a:p>
                      <a:pPr algn="ctr"/>
                      <a:r>
                        <a:rPr lang="fr-FR" sz="2800" dirty="0">
                          <a:solidFill>
                            <a:schemeClr val="tx1"/>
                          </a:solidFill>
                        </a:rPr>
                        <a:t>5</a:t>
                      </a:r>
                    </a:p>
                  </a:txBody>
                  <a:tcPr marL="43096" marR="43096" marT="21548" marB="21548">
                    <a:solidFill>
                      <a:schemeClr val="bg1"/>
                    </a:solidFill>
                  </a:tcPr>
                </a:tc>
                <a:tc>
                  <a:txBody>
                    <a:bodyPr/>
                    <a:lstStyle/>
                    <a:p>
                      <a:pPr algn="ctr"/>
                      <a:r>
                        <a:rPr lang="fr-FR" sz="2800" dirty="0">
                          <a:solidFill>
                            <a:schemeClr val="tx1"/>
                          </a:solidFill>
                        </a:rPr>
                        <a:t>6</a:t>
                      </a:r>
                    </a:p>
                  </a:txBody>
                  <a:tcPr marL="43096" marR="43096" marT="21548" marB="21548">
                    <a:solidFill>
                      <a:schemeClr val="bg1"/>
                    </a:solidFill>
                  </a:tcPr>
                </a:tc>
                <a:tc>
                  <a:txBody>
                    <a:bodyPr/>
                    <a:lstStyle/>
                    <a:p>
                      <a:pPr algn="ctr"/>
                      <a:r>
                        <a:rPr lang="fr-FR" sz="2800" dirty="0">
                          <a:solidFill>
                            <a:schemeClr val="tx1"/>
                          </a:solidFill>
                        </a:rPr>
                        <a:t>7</a:t>
                      </a:r>
                    </a:p>
                  </a:txBody>
                  <a:tcPr marL="43096" marR="43096" marT="21548" marB="21548">
                    <a:solidFill>
                      <a:schemeClr val="bg1"/>
                    </a:solidFill>
                  </a:tcPr>
                </a:tc>
                <a:extLst>
                  <a:ext uri="{0D108BD9-81ED-4DB2-BD59-A6C34878D82A}">
                    <a16:rowId xmlns:a16="http://schemas.microsoft.com/office/drawing/2014/main" val="3367535307"/>
                  </a:ext>
                </a:extLst>
              </a:tr>
              <a:tr h="241446">
                <a:tc>
                  <a:txBody>
                    <a:bodyPr/>
                    <a:lstStyle/>
                    <a:p>
                      <a:pPr algn="ctr"/>
                      <a:r>
                        <a:rPr lang="fr-FR" sz="400" dirty="0">
                          <a:solidFill>
                            <a:schemeClr val="bg1"/>
                          </a:solidFill>
                        </a:rPr>
                        <a:t>PAS ENCORE COMMENCÉ</a:t>
                      </a: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dirty="0">
                          <a:solidFill>
                            <a:schemeClr val="bg1"/>
                          </a:solidFill>
                        </a:rPr>
                        <a:t>INSPIRATION</a:t>
                      </a:r>
                    </a:p>
                    <a:p>
                      <a:pPr algn="ctr"/>
                      <a:endParaRPr lang="fr-FR" sz="400" dirty="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COLLECTE</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INITIATION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CHOC DE LA RÉALITÉ</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CONFIRMATION DE RÉUSSITES</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EXPOSITION</a:t>
                      </a:r>
                    </a:p>
                    <a:p>
                      <a:pPr algn="ctr"/>
                      <a:endParaRPr lang="fr-FR" sz="400">
                        <a:solidFill>
                          <a:schemeClr val="bg1"/>
                        </a:solidFill>
                      </a:endParaRPr>
                    </a:p>
                  </a:txBody>
                  <a:tcPr marL="43096" marR="43096" marT="21548" marB="21548">
                    <a:solidFill>
                      <a:srgbClr val="0683AA"/>
                    </a:solidFill>
                  </a:tcPr>
                </a:tc>
                <a:tc>
                  <a:txBody>
                    <a:bodyPr/>
                    <a:lstStyle/>
                    <a:p>
                      <a:pPr marL="0" indent="0" algn="ctr">
                        <a:buFont typeface="Arial" panose="020B0604020202020204" pitchFamily="34" charset="0"/>
                        <a:buNone/>
                      </a:pPr>
                      <a:r>
                        <a:rPr lang="fr-FR" sz="400" b="1" i="1" dirty="0">
                          <a:solidFill>
                            <a:schemeClr val="bg1"/>
                          </a:solidFill>
                        </a:rPr>
                        <a:t>FORTIFICATION</a:t>
                      </a:r>
                    </a:p>
                    <a:p>
                      <a:pPr marL="0" indent="0" algn="ctr">
                        <a:buFont typeface="Arial" panose="020B0604020202020204" pitchFamily="34" charset="0"/>
                        <a:buNone/>
                      </a:pPr>
                      <a:endParaRPr lang="fr-FR" sz="400" b="1" i="1" dirty="0">
                        <a:solidFill>
                          <a:schemeClr val="bg1"/>
                        </a:solidFill>
                      </a:endParaRPr>
                    </a:p>
                    <a:p>
                      <a:pPr algn="ctr"/>
                      <a:endParaRPr lang="fr-FR" sz="400" dirty="0">
                        <a:solidFill>
                          <a:schemeClr val="bg1"/>
                        </a:solidFill>
                      </a:endParaRPr>
                    </a:p>
                  </a:txBody>
                  <a:tcPr marL="43096" marR="43096" marT="21548" marB="21548">
                    <a:solidFill>
                      <a:srgbClr val="0683AA"/>
                    </a:solidFill>
                  </a:tcPr>
                </a:tc>
                <a:extLst>
                  <a:ext uri="{0D108BD9-81ED-4DB2-BD59-A6C34878D82A}">
                    <a16:rowId xmlns:a16="http://schemas.microsoft.com/office/drawing/2014/main" val="3579208894"/>
                  </a:ext>
                </a:extLst>
              </a:tr>
              <a:tr h="1060049">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dirty="0"/>
                    </a:p>
                  </a:txBody>
                  <a:tcPr marL="43096" marR="43096" marT="21548" marB="21548"/>
                </a:tc>
                <a:extLst>
                  <a:ext uri="{0D108BD9-81ED-4DB2-BD59-A6C34878D82A}">
                    <a16:rowId xmlns:a16="http://schemas.microsoft.com/office/drawing/2014/main" val="1415023090"/>
                  </a:ext>
                </a:extLst>
              </a:tr>
            </a:tbl>
          </a:graphicData>
        </a:graphic>
      </p:graphicFrame>
      <p:sp>
        <p:nvSpPr>
          <p:cNvPr id="4" name="ZoneTexte 3">
            <a:extLst>
              <a:ext uri="{FF2B5EF4-FFF2-40B4-BE49-F238E27FC236}">
                <a16:creationId xmlns:a16="http://schemas.microsoft.com/office/drawing/2014/main" id="{ACF59E8B-E24E-F493-C043-229C09D9C692}"/>
              </a:ext>
            </a:extLst>
          </p:cNvPr>
          <p:cNvSpPr txBox="1"/>
          <p:nvPr/>
        </p:nvSpPr>
        <p:spPr>
          <a:xfrm>
            <a:off x="494414" y="6118211"/>
            <a:ext cx="4052182" cy="461665"/>
          </a:xfrm>
          <a:prstGeom prst="rect">
            <a:avLst/>
          </a:prstGeom>
          <a:noFill/>
        </p:spPr>
        <p:txBody>
          <a:bodyPr wrap="square">
            <a:spAutoFit/>
          </a:bodyPr>
          <a:lstStyle/>
          <a:p>
            <a:pPr marL="0" indent="0">
              <a:buNone/>
            </a:pPr>
            <a:r>
              <a:rPr lang="fr-FR" sz="1200" dirty="0"/>
              <a:t>Niveau (phase) où se situe chaque membre / nombre de membres</a:t>
            </a:r>
          </a:p>
        </p:txBody>
      </p:sp>
      <p:cxnSp>
        <p:nvCxnSpPr>
          <p:cNvPr id="5" name="Connecteur droit 4">
            <a:extLst>
              <a:ext uri="{FF2B5EF4-FFF2-40B4-BE49-F238E27FC236}">
                <a16:creationId xmlns:a16="http://schemas.microsoft.com/office/drawing/2014/main" id="{46AB0A18-5D69-D18F-9459-4A6A150B4A32}"/>
              </a:ext>
            </a:extLst>
          </p:cNvPr>
          <p:cNvCxnSpPr>
            <a:cxnSpLocks/>
          </p:cNvCxnSpPr>
          <p:nvPr/>
        </p:nvCxnSpPr>
        <p:spPr>
          <a:xfrm flipH="1">
            <a:off x="1121334" y="5473555"/>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B24F92B7-C42C-1F97-2F46-CB955BC590D8}"/>
              </a:ext>
            </a:extLst>
          </p:cNvPr>
          <p:cNvSpPr txBox="1"/>
          <p:nvPr/>
        </p:nvSpPr>
        <p:spPr>
          <a:xfrm>
            <a:off x="1554856" y="4757970"/>
            <a:ext cx="464463" cy="707886"/>
          </a:xfrm>
          <a:prstGeom prst="rect">
            <a:avLst/>
          </a:prstGeom>
          <a:noFill/>
        </p:spPr>
        <p:txBody>
          <a:bodyPr wrap="square">
            <a:spAutoFit/>
          </a:bodyPr>
          <a:lstStyle/>
          <a:p>
            <a:r>
              <a:rPr lang="el-GR" sz="4000" dirty="0"/>
              <a:t>Σ</a:t>
            </a:r>
            <a:endParaRPr lang="fr-FR" sz="4000" dirty="0"/>
          </a:p>
        </p:txBody>
      </p:sp>
      <p:sp>
        <p:nvSpPr>
          <p:cNvPr id="10" name="ZoneTexte 9">
            <a:extLst>
              <a:ext uri="{FF2B5EF4-FFF2-40B4-BE49-F238E27FC236}">
                <a16:creationId xmlns:a16="http://schemas.microsoft.com/office/drawing/2014/main" id="{4D9F42F5-7EAA-7579-6646-16399ECCDE8C}"/>
              </a:ext>
            </a:extLst>
          </p:cNvPr>
          <p:cNvSpPr txBox="1"/>
          <p:nvPr/>
        </p:nvSpPr>
        <p:spPr>
          <a:xfrm>
            <a:off x="1465841" y="5413692"/>
            <a:ext cx="464463" cy="707886"/>
          </a:xfrm>
          <a:prstGeom prst="rect">
            <a:avLst/>
          </a:prstGeom>
          <a:noFill/>
        </p:spPr>
        <p:txBody>
          <a:bodyPr wrap="square">
            <a:spAutoFit/>
          </a:bodyPr>
          <a:lstStyle/>
          <a:p>
            <a:r>
              <a:rPr lang="el-GR" sz="4000" dirty="0"/>
              <a:t>Σ</a:t>
            </a:r>
            <a:endParaRPr lang="fr-FR" sz="4000" dirty="0"/>
          </a:p>
        </p:txBody>
      </p:sp>
      <p:sp>
        <p:nvSpPr>
          <p:cNvPr id="11" name="ZoneTexte 10">
            <a:extLst>
              <a:ext uri="{FF2B5EF4-FFF2-40B4-BE49-F238E27FC236}">
                <a16:creationId xmlns:a16="http://schemas.microsoft.com/office/drawing/2014/main" id="{13041F15-4671-C30D-D077-E1FC685575A6}"/>
              </a:ext>
            </a:extLst>
          </p:cNvPr>
          <p:cNvSpPr txBox="1"/>
          <p:nvPr/>
        </p:nvSpPr>
        <p:spPr>
          <a:xfrm>
            <a:off x="1810348" y="4858066"/>
            <a:ext cx="464463" cy="523220"/>
          </a:xfrm>
          <a:prstGeom prst="rect">
            <a:avLst/>
          </a:prstGeom>
          <a:noFill/>
        </p:spPr>
        <p:txBody>
          <a:bodyPr wrap="square">
            <a:spAutoFit/>
          </a:bodyPr>
          <a:lstStyle/>
          <a:p>
            <a:r>
              <a:rPr lang="fr-FR" sz="2800" dirty="0"/>
              <a:t>N</a:t>
            </a:r>
            <a:r>
              <a:rPr lang="fr-FR" sz="1600" dirty="0"/>
              <a:t>i</a:t>
            </a:r>
            <a:endParaRPr lang="fr-FR" sz="2800" dirty="0"/>
          </a:p>
        </p:txBody>
      </p:sp>
      <p:sp>
        <p:nvSpPr>
          <p:cNvPr id="12" name="ZoneTexte 11">
            <a:extLst>
              <a:ext uri="{FF2B5EF4-FFF2-40B4-BE49-F238E27FC236}">
                <a16:creationId xmlns:a16="http://schemas.microsoft.com/office/drawing/2014/main" id="{6AAF92B7-7C35-7129-1F27-5CE68A657B34}"/>
              </a:ext>
            </a:extLst>
          </p:cNvPr>
          <p:cNvSpPr txBox="1"/>
          <p:nvPr/>
        </p:nvSpPr>
        <p:spPr>
          <a:xfrm>
            <a:off x="1535808" y="5281270"/>
            <a:ext cx="246248" cy="169277"/>
          </a:xfrm>
          <a:prstGeom prst="rect">
            <a:avLst/>
          </a:prstGeom>
          <a:noFill/>
        </p:spPr>
        <p:txBody>
          <a:bodyPr wrap="square">
            <a:spAutoFit/>
          </a:bodyPr>
          <a:lstStyle/>
          <a:p>
            <a:r>
              <a:rPr lang="fr-FR" sz="500" dirty="0"/>
              <a:t>i =</a:t>
            </a:r>
          </a:p>
        </p:txBody>
      </p:sp>
      <p:grpSp>
        <p:nvGrpSpPr>
          <p:cNvPr id="13" name="Groupe 12">
            <a:extLst>
              <a:ext uri="{FF2B5EF4-FFF2-40B4-BE49-F238E27FC236}">
                <a16:creationId xmlns:a16="http://schemas.microsoft.com/office/drawing/2014/main" id="{A4854170-D6D5-468B-722E-9B19367B1254}"/>
              </a:ext>
            </a:extLst>
          </p:cNvPr>
          <p:cNvGrpSpPr/>
          <p:nvPr/>
        </p:nvGrpSpPr>
        <p:grpSpPr>
          <a:xfrm>
            <a:off x="392814" y="2753083"/>
            <a:ext cx="4731040" cy="929917"/>
            <a:chOff x="2445155" y="3409417"/>
            <a:chExt cx="7482860" cy="1340536"/>
          </a:xfrm>
        </p:grpSpPr>
        <p:pic>
          <p:nvPicPr>
            <p:cNvPr id="14" name="Graphique 13" descr="Garçon aux cheveux bouclés">
              <a:extLst>
                <a:ext uri="{FF2B5EF4-FFF2-40B4-BE49-F238E27FC236}">
                  <a16:creationId xmlns:a16="http://schemas.microsoft.com/office/drawing/2014/main" id="{0DA9D260-A8CD-B30E-1E92-52BEAA760FF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3502346" y="3446777"/>
              <a:ext cx="398467" cy="410478"/>
            </a:xfrm>
            <a:prstGeom prst="rect">
              <a:avLst/>
            </a:prstGeom>
          </p:spPr>
        </p:pic>
        <p:pic>
          <p:nvPicPr>
            <p:cNvPr id="15" name="Graphique 14" descr="Fille portant un sac à dos">
              <a:extLst>
                <a:ext uri="{FF2B5EF4-FFF2-40B4-BE49-F238E27FC236}">
                  <a16:creationId xmlns:a16="http://schemas.microsoft.com/office/drawing/2014/main" id="{37CFFA89-2AF4-36DB-6EA7-00D4082470D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4391635" y="3432808"/>
              <a:ext cx="398465" cy="402293"/>
            </a:xfrm>
            <a:prstGeom prst="rect">
              <a:avLst/>
            </a:prstGeom>
          </p:spPr>
        </p:pic>
        <p:pic>
          <p:nvPicPr>
            <p:cNvPr id="16" name="Graphique 15" descr="Homme avec barbe">
              <a:extLst>
                <a:ext uri="{FF2B5EF4-FFF2-40B4-BE49-F238E27FC236}">
                  <a16:creationId xmlns:a16="http://schemas.microsoft.com/office/drawing/2014/main" id="{59955506-EB37-1FF0-D7E4-DC5DBB0EDD96}"/>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4391544" y="3890427"/>
              <a:ext cx="370183" cy="433905"/>
            </a:xfrm>
            <a:prstGeom prst="rect">
              <a:avLst/>
            </a:prstGeom>
          </p:spPr>
        </p:pic>
        <p:pic>
          <p:nvPicPr>
            <p:cNvPr id="17" name="Graphique 16" descr="Homme tenant une tasse">
              <a:extLst>
                <a:ext uri="{FF2B5EF4-FFF2-40B4-BE49-F238E27FC236}">
                  <a16:creationId xmlns:a16="http://schemas.microsoft.com/office/drawing/2014/main" id="{EC2FD17A-1190-CD7E-F722-A2C51DD1E710}"/>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311112" y="3875300"/>
              <a:ext cx="370183" cy="397133"/>
            </a:xfrm>
            <a:prstGeom prst="rect">
              <a:avLst/>
            </a:prstGeom>
          </p:spPr>
        </p:pic>
        <p:pic>
          <p:nvPicPr>
            <p:cNvPr id="18" name="Graphique 17" descr="Homme en smoking">
              <a:extLst>
                <a:ext uri="{FF2B5EF4-FFF2-40B4-BE49-F238E27FC236}">
                  <a16:creationId xmlns:a16="http://schemas.microsoft.com/office/drawing/2014/main" id="{6BDBEDC2-8F8C-C9E5-8D7D-25D879F9E757}"/>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454178" y="3420689"/>
              <a:ext cx="351837" cy="462653"/>
            </a:xfrm>
            <a:prstGeom prst="rect">
              <a:avLst/>
            </a:prstGeom>
          </p:spPr>
        </p:pic>
        <p:pic>
          <p:nvPicPr>
            <p:cNvPr id="19" name="Graphique 18" descr="Homme avec bras prothétique">
              <a:extLst>
                <a:ext uri="{FF2B5EF4-FFF2-40B4-BE49-F238E27FC236}">
                  <a16:creationId xmlns:a16="http://schemas.microsoft.com/office/drawing/2014/main" id="{D5E45D6C-1967-1B13-6EF6-EAB86C69CE6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2816607" y="3487596"/>
              <a:ext cx="521269" cy="381325"/>
            </a:xfrm>
            <a:prstGeom prst="rect">
              <a:avLst/>
            </a:prstGeom>
          </p:spPr>
        </p:pic>
        <p:pic>
          <p:nvPicPr>
            <p:cNvPr id="20" name="Graphique 19" descr="Homme portant une chemise avec motif">
              <a:extLst>
                <a:ext uri="{FF2B5EF4-FFF2-40B4-BE49-F238E27FC236}">
                  <a16:creationId xmlns:a16="http://schemas.microsoft.com/office/drawing/2014/main" id="{E5F8D919-BE9C-0A1B-2EF6-1D8AFC9A29FC}"/>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6281342" y="3441002"/>
              <a:ext cx="352508" cy="440443"/>
            </a:xfrm>
            <a:prstGeom prst="rect">
              <a:avLst/>
            </a:prstGeom>
          </p:spPr>
        </p:pic>
        <p:pic>
          <p:nvPicPr>
            <p:cNvPr id="21" name="Graphique 20" descr="Homme âgé portant une veste">
              <a:extLst>
                <a:ext uri="{FF2B5EF4-FFF2-40B4-BE49-F238E27FC236}">
                  <a16:creationId xmlns:a16="http://schemas.microsoft.com/office/drawing/2014/main" id="{43A935CF-0892-A0D7-6C51-0347BE163295}"/>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2445155" y="4334005"/>
              <a:ext cx="374626" cy="415948"/>
            </a:xfrm>
            <a:prstGeom prst="rect">
              <a:avLst/>
            </a:prstGeom>
          </p:spPr>
        </p:pic>
        <p:pic>
          <p:nvPicPr>
            <p:cNvPr id="22" name="Graphique 21" descr="Homme portant chapeau et costume">
              <a:extLst>
                <a:ext uri="{FF2B5EF4-FFF2-40B4-BE49-F238E27FC236}">
                  <a16:creationId xmlns:a16="http://schemas.microsoft.com/office/drawing/2014/main" id="{4E0FC069-14B8-A8E9-8BB5-406787F694DF}"/>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2452811" y="3876785"/>
              <a:ext cx="419339" cy="457716"/>
            </a:xfrm>
            <a:prstGeom prst="rect">
              <a:avLst/>
            </a:prstGeom>
          </p:spPr>
        </p:pic>
        <p:pic>
          <p:nvPicPr>
            <p:cNvPr id="23" name="Graphique 22" descr="Femme non-voyante utilisant un bâton">
              <a:extLst>
                <a:ext uri="{FF2B5EF4-FFF2-40B4-BE49-F238E27FC236}">
                  <a16:creationId xmlns:a16="http://schemas.microsoft.com/office/drawing/2014/main" id="{489585E8-3041-2A92-9786-D688D63A3F15}"/>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4350300" y="4342357"/>
              <a:ext cx="411427" cy="397134"/>
            </a:xfrm>
            <a:prstGeom prst="rect">
              <a:avLst/>
            </a:prstGeom>
          </p:spPr>
        </p:pic>
        <p:pic>
          <p:nvPicPr>
            <p:cNvPr id="24" name="Graphique 23" descr="Femme levant le doigt">
              <a:extLst>
                <a:ext uri="{FF2B5EF4-FFF2-40B4-BE49-F238E27FC236}">
                  <a16:creationId xmlns:a16="http://schemas.microsoft.com/office/drawing/2014/main" id="{816773C1-D82E-60D9-D570-BA1CE9CECE37}"/>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7254786" y="3432808"/>
              <a:ext cx="379003" cy="456211"/>
            </a:xfrm>
            <a:prstGeom prst="rect">
              <a:avLst/>
            </a:prstGeom>
          </p:spPr>
        </p:pic>
        <p:pic>
          <p:nvPicPr>
            <p:cNvPr id="25" name="Graphique 24" descr="Femme avec queue de cheval">
              <a:extLst>
                <a:ext uri="{FF2B5EF4-FFF2-40B4-BE49-F238E27FC236}">
                  <a16:creationId xmlns:a16="http://schemas.microsoft.com/office/drawing/2014/main" id="{6080D52A-7C81-60CB-C118-8D1EC521EF8E}"/>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2826075" y="3912840"/>
              <a:ext cx="481610" cy="422737"/>
            </a:xfrm>
            <a:prstGeom prst="rect">
              <a:avLst/>
            </a:prstGeom>
          </p:spPr>
        </p:pic>
        <p:pic>
          <p:nvPicPr>
            <p:cNvPr id="26" name="Graphique 25" descr="Femme utilisant une cane">
              <a:extLst>
                <a:ext uri="{FF2B5EF4-FFF2-40B4-BE49-F238E27FC236}">
                  <a16:creationId xmlns:a16="http://schemas.microsoft.com/office/drawing/2014/main" id="{9C4666C7-9DE1-3427-C42D-3F346211DE7D}"/>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8049288" y="3409417"/>
              <a:ext cx="706248" cy="518063"/>
            </a:xfrm>
            <a:prstGeom prst="rect">
              <a:avLst/>
            </a:prstGeom>
          </p:spPr>
        </p:pic>
        <p:pic>
          <p:nvPicPr>
            <p:cNvPr id="27" name="Graphique 26" descr="Femme aux cheveux afro">
              <a:extLst>
                <a:ext uri="{FF2B5EF4-FFF2-40B4-BE49-F238E27FC236}">
                  <a16:creationId xmlns:a16="http://schemas.microsoft.com/office/drawing/2014/main" id="{085DF774-130E-56DB-AC59-74C9BED2E9F0}"/>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9216723" y="3432808"/>
              <a:ext cx="711292" cy="518063"/>
            </a:xfrm>
            <a:prstGeom prst="rect">
              <a:avLst/>
            </a:prstGeom>
          </p:spPr>
        </p:pic>
      </p:grpSp>
      <p:pic>
        <p:nvPicPr>
          <p:cNvPr id="28" name="Graphique 27" descr="Femme non-voyante utilisant un bâton">
            <a:extLst>
              <a:ext uri="{FF2B5EF4-FFF2-40B4-BE49-F238E27FC236}">
                <a16:creationId xmlns:a16="http://schemas.microsoft.com/office/drawing/2014/main" id="{D356B368-D36C-4F78-C927-14542134BF89}"/>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1806576" y="5633515"/>
            <a:ext cx="273418" cy="289567"/>
          </a:xfrm>
          <a:prstGeom prst="rect">
            <a:avLst/>
          </a:prstGeom>
        </p:spPr>
      </p:pic>
      <p:pic>
        <p:nvPicPr>
          <p:cNvPr id="29" name="Graphique 28" descr="Femme non-voyante utilisant un bâton">
            <a:extLst>
              <a:ext uri="{FF2B5EF4-FFF2-40B4-BE49-F238E27FC236}">
                <a16:creationId xmlns:a16="http://schemas.microsoft.com/office/drawing/2014/main" id="{0CA47F94-577C-DFAB-30F2-B7D431067061}"/>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1708932" y="5313672"/>
            <a:ext cx="98646" cy="104472"/>
          </a:xfrm>
          <a:prstGeom prst="rect">
            <a:avLst/>
          </a:prstGeom>
        </p:spPr>
      </p:pic>
    </p:spTree>
    <p:extLst>
      <p:ext uri="{BB962C8B-B14F-4D97-AF65-F5344CB8AC3E}">
        <p14:creationId xmlns:p14="http://schemas.microsoft.com/office/powerpoint/2010/main" val="12083048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6057900" cy="1325563"/>
          </a:xfrm>
        </p:spPr>
        <p:txBody>
          <a:bodyPr>
            <a:normAutofit fontScale="90000"/>
          </a:bodyPr>
          <a:lstStyle/>
          <a:p>
            <a:r>
              <a:rPr lang="fr-FR" sz="3200" b="1" dirty="0"/>
              <a:t>Indicateur : </a:t>
            </a:r>
            <a:br>
              <a:rPr lang="fr-FR" sz="3200" b="1" dirty="0"/>
            </a:br>
            <a:r>
              <a:rPr lang="fr-FR" sz="3200" dirty="0"/>
              <a:t>Indice d’</a:t>
            </a:r>
            <a:r>
              <a:rPr lang="fr-FR" sz="3200" dirty="0" err="1"/>
              <a:t>heterogéneïté</a:t>
            </a:r>
            <a:r>
              <a:rPr lang="fr-FR" sz="3200" dirty="0"/>
              <a:t> des niveaux des membres sur un sujet donné</a:t>
            </a:r>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endParaRPr lang="fr-FR" sz="1400" b="1" dirty="0"/>
          </a:p>
          <a:p>
            <a:pPr marL="0" indent="0">
              <a:buNone/>
            </a:pPr>
            <a:r>
              <a:rPr lang="fr-FR" sz="1400" dirty="0"/>
              <a:t>Avoir sélectionné un sujet donné de la Communauté, sur lequel les membres sont à différents niveaux de pratique / maturité.</a:t>
            </a:r>
          </a:p>
          <a:p>
            <a:pPr marL="0" indent="0">
              <a:buNone/>
            </a:pPr>
            <a:endParaRPr lang="fr-FR" sz="1400" dirty="0"/>
          </a:p>
          <a:p>
            <a:pPr marL="0" indent="0">
              <a:buNone/>
            </a:pPr>
            <a:r>
              <a:rPr lang="fr-FR" sz="1400" dirty="0"/>
              <a:t>Avoir positionné les différents membres dans l’atelier CCC-Groups pour ce sujet</a:t>
            </a:r>
          </a:p>
          <a:p>
            <a:pPr marL="0" indent="0">
              <a:buNone/>
            </a:pPr>
            <a:endParaRPr lang="fr-FR" sz="1400" b="1" dirty="0"/>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Cet indicateur mesure la somme des écarts de niveau entre tous les membres, renormalisée ensuite pour arriver à un nombre entre 0 et 1.</a:t>
            </a:r>
          </a:p>
          <a:p>
            <a:pPr marL="0" indent="0">
              <a:buNone/>
            </a:pPr>
            <a:r>
              <a:rPr lang="fr-FR" sz="1400" dirty="0"/>
              <a:t>Il permet de qualifier, pour un sujet donné, si le groupe est très homogène (les niveaux sont très proches, l’indicateur est proche de 0) ou hétérogène.</a:t>
            </a:r>
          </a:p>
          <a:p>
            <a:pPr marL="0" indent="0">
              <a:buNone/>
            </a:pPr>
            <a:r>
              <a:rPr lang="fr-FR" sz="1400" dirty="0"/>
              <a:t>Sur un grand nombre, cet indicateur peut aider à déterminer différentes stratégies vis-à-vis de la communauté, dépendant de l’</a:t>
            </a:r>
            <a:r>
              <a:rPr lang="fr-FR" sz="1400" dirty="0" err="1"/>
              <a:t>homogénéïté</a:t>
            </a:r>
            <a:r>
              <a:rPr lang="fr-FR" sz="1400" dirty="0"/>
              <a:t> de niveau.</a:t>
            </a:r>
          </a:p>
          <a:p>
            <a:pPr marL="0" indent="0">
              <a:buNone/>
            </a:pPr>
            <a:r>
              <a:rPr lang="fr-FR" sz="1400" dirty="0"/>
              <a:t>Note : Très fastidieux à calculer à la main</a:t>
            </a:r>
          </a:p>
        </p:txBody>
      </p:sp>
      <p:graphicFrame>
        <p:nvGraphicFramePr>
          <p:cNvPr id="10" name="Tableau 5">
            <a:extLst>
              <a:ext uri="{FF2B5EF4-FFF2-40B4-BE49-F238E27FC236}">
                <a16:creationId xmlns:a16="http://schemas.microsoft.com/office/drawing/2014/main" id="{DF546B1B-D770-78E2-6F8E-E74494525D83}"/>
              </a:ext>
            </a:extLst>
          </p:cNvPr>
          <p:cNvGraphicFramePr>
            <a:graphicFrameLocks noGrp="1"/>
          </p:cNvGraphicFramePr>
          <p:nvPr/>
        </p:nvGraphicFramePr>
        <p:xfrm>
          <a:off x="394489" y="2039838"/>
          <a:ext cx="4731040" cy="1771311"/>
        </p:xfrm>
        <a:graphic>
          <a:graphicData uri="http://schemas.openxmlformats.org/drawingml/2006/table">
            <a:tbl>
              <a:tblPr firstRow="1" bandRow="1">
                <a:tableStyleId>{073A0DAA-6AF3-43AB-8588-CEC1D06C72B9}</a:tableStyleId>
              </a:tblPr>
              <a:tblGrid>
                <a:gridCol w="591380">
                  <a:extLst>
                    <a:ext uri="{9D8B030D-6E8A-4147-A177-3AD203B41FA5}">
                      <a16:colId xmlns:a16="http://schemas.microsoft.com/office/drawing/2014/main" val="1486018635"/>
                    </a:ext>
                  </a:extLst>
                </a:gridCol>
                <a:gridCol w="591380">
                  <a:extLst>
                    <a:ext uri="{9D8B030D-6E8A-4147-A177-3AD203B41FA5}">
                      <a16:colId xmlns:a16="http://schemas.microsoft.com/office/drawing/2014/main" val="761339006"/>
                    </a:ext>
                  </a:extLst>
                </a:gridCol>
                <a:gridCol w="591380">
                  <a:extLst>
                    <a:ext uri="{9D8B030D-6E8A-4147-A177-3AD203B41FA5}">
                      <a16:colId xmlns:a16="http://schemas.microsoft.com/office/drawing/2014/main" val="416087062"/>
                    </a:ext>
                  </a:extLst>
                </a:gridCol>
                <a:gridCol w="591380">
                  <a:extLst>
                    <a:ext uri="{9D8B030D-6E8A-4147-A177-3AD203B41FA5}">
                      <a16:colId xmlns:a16="http://schemas.microsoft.com/office/drawing/2014/main" val="2064857721"/>
                    </a:ext>
                  </a:extLst>
                </a:gridCol>
                <a:gridCol w="591380">
                  <a:extLst>
                    <a:ext uri="{9D8B030D-6E8A-4147-A177-3AD203B41FA5}">
                      <a16:colId xmlns:a16="http://schemas.microsoft.com/office/drawing/2014/main" val="183491405"/>
                    </a:ext>
                  </a:extLst>
                </a:gridCol>
                <a:gridCol w="591380">
                  <a:extLst>
                    <a:ext uri="{9D8B030D-6E8A-4147-A177-3AD203B41FA5}">
                      <a16:colId xmlns:a16="http://schemas.microsoft.com/office/drawing/2014/main" val="3364014230"/>
                    </a:ext>
                  </a:extLst>
                </a:gridCol>
                <a:gridCol w="591380">
                  <a:extLst>
                    <a:ext uri="{9D8B030D-6E8A-4147-A177-3AD203B41FA5}">
                      <a16:colId xmlns:a16="http://schemas.microsoft.com/office/drawing/2014/main" val="365145181"/>
                    </a:ext>
                  </a:extLst>
                </a:gridCol>
                <a:gridCol w="591380">
                  <a:extLst>
                    <a:ext uri="{9D8B030D-6E8A-4147-A177-3AD203B41FA5}">
                      <a16:colId xmlns:a16="http://schemas.microsoft.com/office/drawing/2014/main" val="1628287487"/>
                    </a:ext>
                  </a:extLst>
                </a:gridCol>
              </a:tblGrid>
              <a:tr h="241446">
                <a:tc>
                  <a:txBody>
                    <a:bodyPr/>
                    <a:lstStyle/>
                    <a:p>
                      <a:pPr algn="ctr"/>
                      <a:r>
                        <a:rPr lang="fr-FR" sz="2800" dirty="0">
                          <a:solidFill>
                            <a:schemeClr val="tx1"/>
                          </a:solidFill>
                        </a:rPr>
                        <a:t>0</a:t>
                      </a:r>
                    </a:p>
                  </a:txBody>
                  <a:tcPr marL="43096" marR="43096" marT="21548" marB="21548">
                    <a:solidFill>
                      <a:schemeClr val="bg1"/>
                    </a:solidFill>
                  </a:tcPr>
                </a:tc>
                <a:tc>
                  <a:txBody>
                    <a:bodyPr/>
                    <a:lstStyle/>
                    <a:p>
                      <a:pPr algn="ctr"/>
                      <a:r>
                        <a:rPr lang="fr-FR" sz="2800" dirty="0">
                          <a:solidFill>
                            <a:schemeClr val="tx1"/>
                          </a:solidFill>
                        </a:rPr>
                        <a:t>1</a:t>
                      </a:r>
                    </a:p>
                  </a:txBody>
                  <a:tcPr marL="43096" marR="43096" marT="21548" marB="21548">
                    <a:solidFill>
                      <a:schemeClr val="bg1"/>
                    </a:solidFill>
                  </a:tcPr>
                </a:tc>
                <a:tc>
                  <a:txBody>
                    <a:bodyPr/>
                    <a:lstStyle/>
                    <a:p>
                      <a:pPr algn="ctr"/>
                      <a:r>
                        <a:rPr lang="fr-FR" sz="2800" dirty="0">
                          <a:solidFill>
                            <a:schemeClr val="tx1"/>
                          </a:solidFill>
                        </a:rPr>
                        <a:t>2</a:t>
                      </a:r>
                    </a:p>
                  </a:txBody>
                  <a:tcPr marL="43096" marR="43096" marT="21548" marB="21548">
                    <a:solidFill>
                      <a:schemeClr val="bg1"/>
                    </a:solidFill>
                  </a:tcPr>
                </a:tc>
                <a:tc>
                  <a:txBody>
                    <a:bodyPr/>
                    <a:lstStyle/>
                    <a:p>
                      <a:pPr algn="ctr"/>
                      <a:r>
                        <a:rPr lang="fr-FR" sz="2800" dirty="0">
                          <a:solidFill>
                            <a:schemeClr val="tx1"/>
                          </a:solidFill>
                        </a:rPr>
                        <a:t>3</a:t>
                      </a:r>
                    </a:p>
                  </a:txBody>
                  <a:tcPr marL="43096" marR="43096" marT="21548" marB="21548">
                    <a:solidFill>
                      <a:schemeClr val="bg1"/>
                    </a:solidFill>
                  </a:tcPr>
                </a:tc>
                <a:tc>
                  <a:txBody>
                    <a:bodyPr/>
                    <a:lstStyle/>
                    <a:p>
                      <a:pPr algn="ctr"/>
                      <a:r>
                        <a:rPr lang="fr-FR" sz="2800" dirty="0">
                          <a:solidFill>
                            <a:schemeClr val="tx1"/>
                          </a:solidFill>
                        </a:rPr>
                        <a:t>4</a:t>
                      </a:r>
                    </a:p>
                  </a:txBody>
                  <a:tcPr marL="43096" marR="43096" marT="21548" marB="21548">
                    <a:solidFill>
                      <a:schemeClr val="bg1"/>
                    </a:solidFill>
                  </a:tcPr>
                </a:tc>
                <a:tc>
                  <a:txBody>
                    <a:bodyPr/>
                    <a:lstStyle/>
                    <a:p>
                      <a:pPr algn="ctr"/>
                      <a:r>
                        <a:rPr lang="fr-FR" sz="2800" dirty="0">
                          <a:solidFill>
                            <a:schemeClr val="tx1"/>
                          </a:solidFill>
                        </a:rPr>
                        <a:t>5</a:t>
                      </a:r>
                    </a:p>
                  </a:txBody>
                  <a:tcPr marL="43096" marR="43096" marT="21548" marB="21548">
                    <a:solidFill>
                      <a:schemeClr val="bg1"/>
                    </a:solidFill>
                  </a:tcPr>
                </a:tc>
                <a:tc>
                  <a:txBody>
                    <a:bodyPr/>
                    <a:lstStyle/>
                    <a:p>
                      <a:pPr algn="ctr"/>
                      <a:r>
                        <a:rPr lang="fr-FR" sz="2800" dirty="0">
                          <a:solidFill>
                            <a:schemeClr val="tx1"/>
                          </a:solidFill>
                        </a:rPr>
                        <a:t>6</a:t>
                      </a:r>
                    </a:p>
                  </a:txBody>
                  <a:tcPr marL="43096" marR="43096" marT="21548" marB="21548">
                    <a:solidFill>
                      <a:schemeClr val="bg1"/>
                    </a:solidFill>
                  </a:tcPr>
                </a:tc>
                <a:tc>
                  <a:txBody>
                    <a:bodyPr/>
                    <a:lstStyle/>
                    <a:p>
                      <a:pPr algn="ctr"/>
                      <a:r>
                        <a:rPr lang="fr-FR" sz="2800" dirty="0">
                          <a:solidFill>
                            <a:schemeClr val="tx1"/>
                          </a:solidFill>
                        </a:rPr>
                        <a:t>7</a:t>
                      </a:r>
                    </a:p>
                  </a:txBody>
                  <a:tcPr marL="43096" marR="43096" marT="21548" marB="21548">
                    <a:solidFill>
                      <a:schemeClr val="bg1"/>
                    </a:solidFill>
                  </a:tcPr>
                </a:tc>
                <a:extLst>
                  <a:ext uri="{0D108BD9-81ED-4DB2-BD59-A6C34878D82A}">
                    <a16:rowId xmlns:a16="http://schemas.microsoft.com/office/drawing/2014/main" val="3367535307"/>
                  </a:ext>
                </a:extLst>
              </a:tr>
              <a:tr h="241446">
                <a:tc>
                  <a:txBody>
                    <a:bodyPr/>
                    <a:lstStyle/>
                    <a:p>
                      <a:pPr algn="ctr"/>
                      <a:r>
                        <a:rPr lang="fr-FR" sz="400" dirty="0">
                          <a:solidFill>
                            <a:schemeClr val="bg1"/>
                          </a:solidFill>
                        </a:rPr>
                        <a:t>PAS ENCORE COMMENCÉ</a:t>
                      </a: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dirty="0">
                          <a:solidFill>
                            <a:schemeClr val="bg1"/>
                          </a:solidFill>
                        </a:rPr>
                        <a:t>INSPIRATION</a:t>
                      </a:r>
                    </a:p>
                    <a:p>
                      <a:pPr algn="ctr"/>
                      <a:endParaRPr lang="fr-FR" sz="400" dirty="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COLLECTE</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INITIATION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CHOC DE LA RÉALITÉ</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CONFIRMATION DE RÉUSSITES</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EXPOSITION</a:t>
                      </a:r>
                    </a:p>
                    <a:p>
                      <a:pPr algn="ctr"/>
                      <a:endParaRPr lang="fr-FR" sz="400">
                        <a:solidFill>
                          <a:schemeClr val="bg1"/>
                        </a:solidFill>
                      </a:endParaRPr>
                    </a:p>
                  </a:txBody>
                  <a:tcPr marL="43096" marR="43096" marT="21548" marB="21548">
                    <a:solidFill>
                      <a:srgbClr val="0683AA"/>
                    </a:solidFill>
                  </a:tcPr>
                </a:tc>
                <a:tc>
                  <a:txBody>
                    <a:bodyPr/>
                    <a:lstStyle/>
                    <a:p>
                      <a:pPr marL="0" indent="0" algn="ctr">
                        <a:buFont typeface="Arial" panose="020B0604020202020204" pitchFamily="34" charset="0"/>
                        <a:buNone/>
                      </a:pPr>
                      <a:r>
                        <a:rPr lang="fr-FR" sz="400" b="1" i="1" dirty="0">
                          <a:solidFill>
                            <a:schemeClr val="bg1"/>
                          </a:solidFill>
                        </a:rPr>
                        <a:t>FORTIFICATION</a:t>
                      </a:r>
                    </a:p>
                    <a:p>
                      <a:pPr marL="0" indent="0" algn="ctr">
                        <a:buFont typeface="Arial" panose="020B0604020202020204" pitchFamily="34" charset="0"/>
                        <a:buNone/>
                      </a:pPr>
                      <a:endParaRPr lang="fr-FR" sz="400" b="1" i="1" dirty="0">
                        <a:solidFill>
                          <a:schemeClr val="bg1"/>
                        </a:solidFill>
                      </a:endParaRPr>
                    </a:p>
                    <a:p>
                      <a:pPr algn="ctr"/>
                      <a:endParaRPr lang="fr-FR" sz="400" dirty="0">
                        <a:solidFill>
                          <a:schemeClr val="bg1"/>
                        </a:solidFill>
                      </a:endParaRPr>
                    </a:p>
                  </a:txBody>
                  <a:tcPr marL="43096" marR="43096" marT="21548" marB="21548">
                    <a:solidFill>
                      <a:srgbClr val="0683AA"/>
                    </a:solidFill>
                  </a:tcPr>
                </a:tc>
                <a:extLst>
                  <a:ext uri="{0D108BD9-81ED-4DB2-BD59-A6C34878D82A}">
                    <a16:rowId xmlns:a16="http://schemas.microsoft.com/office/drawing/2014/main" val="3579208894"/>
                  </a:ext>
                </a:extLst>
              </a:tr>
              <a:tr h="1060049">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dirty="0"/>
                    </a:p>
                  </a:txBody>
                  <a:tcPr marL="43096" marR="43096" marT="21548" marB="21548"/>
                </a:tc>
                <a:extLst>
                  <a:ext uri="{0D108BD9-81ED-4DB2-BD59-A6C34878D82A}">
                    <a16:rowId xmlns:a16="http://schemas.microsoft.com/office/drawing/2014/main" val="1415023090"/>
                  </a:ext>
                </a:extLst>
              </a:tr>
            </a:tbl>
          </a:graphicData>
        </a:graphic>
      </p:graphicFrame>
      <p:sp>
        <p:nvSpPr>
          <p:cNvPr id="42" name="ZoneTexte 41">
            <a:extLst>
              <a:ext uri="{FF2B5EF4-FFF2-40B4-BE49-F238E27FC236}">
                <a16:creationId xmlns:a16="http://schemas.microsoft.com/office/drawing/2014/main" id="{0D8D6BAA-C9C6-1650-696E-024374C3F38B}"/>
              </a:ext>
            </a:extLst>
          </p:cNvPr>
          <p:cNvSpPr txBox="1"/>
          <p:nvPr/>
        </p:nvSpPr>
        <p:spPr>
          <a:xfrm>
            <a:off x="1061223" y="6086364"/>
            <a:ext cx="3612916" cy="461665"/>
          </a:xfrm>
          <a:prstGeom prst="rect">
            <a:avLst/>
          </a:prstGeom>
          <a:noFill/>
        </p:spPr>
        <p:txBody>
          <a:bodyPr wrap="square">
            <a:spAutoFit/>
          </a:bodyPr>
          <a:lstStyle/>
          <a:p>
            <a:pPr marL="0" indent="0">
              <a:buNone/>
            </a:pPr>
            <a:r>
              <a:rPr lang="fr-FR" sz="1200" dirty="0"/>
              <a:t>Somme des différences de niveau entre les membres / nombre de membres ²</a:t>
            </a:r>
          </a:p>
        </p:txBody>
      </p:sp>
      <p:grpSp>
        <p:nvGrpSpPr>
          <p:cNvPr id="32" name="Groupe 31">
            <a:extLst>
              <a:ext uri="{FF2B5EF4-FFF2-40B4-BE49-F238E27FC236}">
                <a16:creationId xmlns:a16="http://schemas.microsoft.com/office/drawing/2014/main" id="{A29B3ED5-4237-739F-E7B6-80796E9AA9AA}"/>
              </a:ext>
            </a:extLst>
          </p:cNvPr>
          <p:cNvGrpSpPr/>
          <p:nvPr/>
        </p:nvGrpSpPr>
        <p:grpSpPr>
          <a:xfrm>
            <a:off x="392814" y="2753083"/>
            <a:ext cx="4731040" cy="929917"/>
            <a:chOff x="2445155" y="3409417"/>
            <a:chExt cx="7482860" cy="1340536"/>
          </a:xfrm>
        </p:grpSpPr>
        <p:pic>
          <p:nvPicPr>
            <p:cNvPr id="3" name="Graphique 2" descr="Garçon aux cheveux bouclés">
              <a:extLst>
                <a:ext uri="{FF2B5EF4-FFF2-40B4-BE49-F238E27FC236}">
                  <a16:creationId xmlns:a16="http://schemas.microsoft.com/office/drawing/2014/main" id="{D749B70A-2611-C3AB-B52C-0AB98CD0CB4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3502346" y="3446777"/>
              <a:ext cx="398467" cy="410478"/>
            </a:xfrm>
            <a:prstGeom prst="rect">
              <a:avLst/>
            </a:prstGeom>
          </p:spPr>
        </p:pic>
        <p:pic>
          <p:nvPicPr>
            <p:cNvPr id="6" name="Graphique 5" descr="Fille portant un sac à dos">
              <a:extLst>
                <a:ext uri="{FF2B5EF4-FFF2-40B4-BE49-F238E27FC236}">
                  <a16:creationId xmlns:a16="http://schemas.microsoft.com/office/drawing/2014/main" id="{8A274B59-9043-858B-D170-21B057176C0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4391635" y="3432808"/>
              <a:ext cx="398465" cy="402293"/>
            </a:xfrm>
            <a:prstGeom prst="rect">
              <a:avLst/>
            </a:prstGeom>
          </p:spPr>
        </p:pic>
        <p:pic>
          <p:nvPicPr>
            <p:cNvPr id="7" name="Graphique 6" descr="Homme avec barbe">
              <a:extLst>
                <a:ext uri="{FF2B5EF4-FFF2-40B4-BE49-F238E27FC236}">
                  <a16:creationId xmlns:a16="http://schemas.microsoft.com/office/drawing/2014/main" id="{204F4B4B-CA14-DCC0-183E-BFF4A443B0C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4391544" y="3890427"/>
              <a:ext cx="370183" cy="433905"/>
            </a:xfrm>
            <a:prstGeom prst="rect">
              <a:avLst/>
            </a:prstGeom>
          </p:spPr>
        </p:pic>
        <p:pic>
          <p:nvPicPr>
            <p:cNvPr id="8" name="Graphique 7" descr="Homme tenant une tasse">
              <a:extLst>
                <a:ext uri="{FF2B5EF4-FFF2-40B4-BE49-F238E27FC236}">
                  <a16:creationId xmlns:a16="http://schemas.microsoft.com/office/drawing/2014/main" id="{D493096D-339C-7D0E-874E-0F83CB35B65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311112" y="3875300"/>
              <a:ext cx="370183" cy="397133"/>
            </a:xfrm>
            <a:prstGeom prst="rect">
              <a:avLst/>
            </a:prstGeom>
          </p:spPr>
        </p:pic>
        <p:pic>
          <p:nvPicPr>
            <p:cNvPr id="9" name="Graphique 8" descr="Homme en smoking">
              <a:extLst>
                <a:ext uri="{FF2B5EF4-FFF2-40B4-BE49-F238E27FC236}">
                  <a16:creationId xmlns:a16="http://schemas.microsoft.com/office/drawing/2014/main" id="{DD1B5223-64A1-D62A-2DCD-06E83DDE654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454178" y="3420689"/>
              <a:ext cx="351837" cy="462653"/>
            </a:xfrm>
            <a:prstGeom prst="rect">
              <a:avLst/>
            </a:prstGeom>
          </p:spPr>
        </p:pic>
        <p:pic>
          <p:nvPicPr>
            <p:cNvPr id="23" name="Graphique 22" descr="Homme avec bras prothétique">
              <a:extLst>
                <a:ext uri="{FF2B5EF4-FFF2-40B4-BE49-F238E27FC236}">
                  <a16:creationId xmlns:a16="http://schemas.microsoft.com/office/drawing/2014/main" id="{2FC818E1-5C1E-CBBA-9CB2-BCBFC0685EC3}"/>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2816607" y="3487596"/>
              <a:ext cx="521269" cy="381325"/>
            </a:xfrm>
            <a:prstGeom prst="rect">
              <a:avLst/>
            </a:prstGeom>
          </p:spPr>
        </p:pic>
        <p:pic>
          <p:nvPicPr>
            <p:cNvPr id="24" name="Graphique 23" descr="Homme portant une chemise avec motif">
              <a:extLst>
                <a:ext uri="{FF2B5EF4-FFF2-40B4-BE49-F238E27FC236}">
                  <a16:creationId xmlns:a16="http://schemas.microsoft.com/office/drawing/2014/main" id="{1DFA5BD6-D063-C732-068A-ADC2D87DBEEE}"/>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6281342" y="3441002"/>
              <a:ext cx="352508" cy="440443"/>
            </a:xfrm>
            <a:prstGeom prst="rect">
              <a:avLst/>
            </a:prstGeom>
          </p:spPr>
        </p:pic>
        <p:pic>
          <p:nvPicPr>
            <p:cNvPr id="25" name="Graphique 24" descr="Homme âgé portant une veste">
              <a:extLst>
                <a:ext uri="{FF2B5EF4-FFF2-40B4-BE49-F238E27FC236}">
                  <a16:creationId xmlns:a16="http://schemas.microsoft.com/office/drawing/2014/main" id="{C9BDD7CA-0A09-F27A-17E8-F4B189B7C649}"/>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2445155" y="4334005"/>
              <a:ext cx="374626" cy="415948"/>
            </a:xfrm>
            <a:prstGeom prst="rect">
              <a:avLst/>
            </a:prstGeom>
          </p:spPr>
        </p:pic>
        <p:pic>
          <p:nvPicPr>
            <p:cNvPr id="26" name="Graphique 25" descr="Homme portant chapeau et costume">
              <a:extLst>
                <a:ext uri="{FF2B5EF4-FFF2-40B4-BE49-F238E27FC236}">
                  <a16:creationId xmlns:a16="http://schemas.microsoft.com/office/drawing/2014/main" id="{C28ABCD3-B4BB-4C49-245B-C19C0574B4B7}"/>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2452811" y="3876785"/>
              <a:ext cx="419339" cy="457716"/>
            </a:xfrm>
            <a:prstGeom prst="rect">
              <a:avLst/>
            </a:prstGeom>
          </p:spPr>
        </p:pic>
        <p:pic>
          <p:nvPicPr>
            <p:cNvPr id="27" name="Graphique 26" descr="Femme non-voyante utilisant un bâton">
              <a:extLst>
                <a:ext uri="{FF2B5EF4-FFF2-40B4-BE49-F238E27FC236}">
                  <a16:creationId xmlns:a16="http://schemas.microsoft.com/office/drawing/2014/main" id="{9310179E-8D8E-52D8-BD17-F0121BA6C8CE}"/>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4350300" y="4342357"/>
              <a:ext cx="411427" cy="397134"/>
            </a:xfrm>
            <a:prstGeom prst="rect">
              <a:avLst/>
            </a:prstGeom>
          </p:spPr>
        </p:pic>
        <p:pic>
          <p:nvPicPr>
            <p:cNvPr id="28" name="Graphique 27" descr="Femme levant le doigt">
              <a:extLst>
                <a:ext uri="{FF2B5EF4-FFF2-40B4-BE49-F238E27FC236}">
                  <a16:creationId xmlns:a16="http://schemas.microsoft.com/office/drawing/2014/main" id="{C0DF4F30-DC66-1F5B-BDF2-6662714EA57F}"/>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7254786" y="3432808"/>
              <a:ext cx="379003" cy="456211"/>
            </a:xfrm>
            <a:prstGeom prst="rect">
              <a:avLst/>
            </a:prstGeom>
          </p:spPr>
        </p:pic>
        <p:pic>
          <p:nvPicPr>
            <p:cNvPr id="29" name="Graphique 28" descr="Femme avec queue de cheval">
              <a:extLst>
                <a:ext uri="{FF2B5EF4-FFF2-40B4-BE49-F238E27FC236}">
                  <a16:creationId xmlns:a16="http://schemas.microsoft.com/office/drawing/2014/main" id="{C06EEA3E-D8A7-08DD-07E2-D6E6835D05BD}"/>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2826075" y="3912840"/>
              <a:ext cx="481610" cy="422737"/>
            </a:xfrm>
            <a:prstGeom prst="rect">
              <a:avLst/>
            </a:prstGeom>
          </p:spPr>
        </p:pic>
        <p:pic>
          <p:nvPicPr>
            <p:cNvPr id="30" name="Graphique 29" descr="Femme utilisant une cane">
              <a:extLst>
                <a:ext uri="{FF2B5EF4-FFF2-40B4-BE49-F238E27FC236}">
                  <a16:creationId xmlns:a16="http://schemas.microsoft.com/office/drawing/2014/main" id="{F65188C2-15DE-8FFB-9ADC-2D5D7038DC66}"/>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8049288" y="3409417"/>
              <a:ext cx="706248" cy="518063"/>
            </a:xfrm>
            <a:prstGeom prst="rect">
              <a:avLst/>
            </a:prstGeom>
          </p:spPr>
        </p:pic>
        <p:pic>
          <p:nvPicPr>
            <p:cNvPr id="31" name="Graphique 30" descr="Femme aux cheveux afro">
              <a:extLst>
                <a:ext uri="{FF2B5EF4-FFF2-40B4-BE49-F238E27FC236}">
                  <a16:creationId xmlns:a16="http://schemas.microsoft.com/office/drawing/2014/main" id="{7025737D-B845-9CEE-0482-AE20EBEB82C0}"/>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9216723" y="3432808"/>
              <a:ext cx="711292" cy="518063"/>
            </a:xfrm>
            <a:prstGeom prst="rect">
              <a:avLst/>
            </a:prstGeom>
          </p:spPr>
        </p:pic>
      </p:grpSp>
      <p:grpSp>
        <p:nvGrpSpPr>
          <p:cNvPr id="12" name="Groupe 11">
            <a:extLst>
              <a:ext uri="{FF2B5EF4-FFF2-40B4-BE49-F238E27FC236}">
                <a16:creationId xmlns:a16="http://schemas.microsoft.com/office/drawing/2014/main" id="{74450734-FC62-E566-13F9-2CD2C31BB132}"/>
              </a:ext>
            </a:extLst>
          </p:cNvPr>
          <p:cNvGrpSpPr/>
          <p:nvPr/>
        </p:nvGrpSpPr>
        <p:grpSpPr>
          <a:xfrm>
            <a:off x="1188541" y="3902841"/>
            <a:ext cx="2909056" cy="1243106"/>
            <a:chOff x="1461290" y="4757970"/>
            <a:chExt cx="1656560" cy="707886"/>
          </a:xfrm>
        </p:grpSpPr>
        <p:sp>
          <p:nvSpPr>
            <p:cNvPr id="48" name="ZoneTexte 47">
              <a:extLst>
                <a:ext uri="{FF2B5EF4-FFF2-40B4-BE49-F238E27FC236}">
                  <a16:creationId xmlns:a16="http://schemas.microsoft.com/office/drawing/2014/main" id="{C1E2EB7D-CAEB-A990-2F5D-3CD055EA18F4}"/>
                </a:ext>
              </a:extLst>
            </p:cNvPr>
            <p:cNvSpPr txBox="1"/>
            <p:nvPr/>
          </p:nvSpPr>
          <p:spPr>
            <a:xfrm>
              <a:off x="1554856" y="4757970"/>
              <a:ext cx="464463" cy="683527"/>
            </a:xfrm>
            <a:prstGeom prst="rect">
              <a:avLst/>
            </a:prstGeom>
            <a:noFill/>
          </p:spPr>
          <p:txBody>
            <a:bodyPr wrap="square">
              <a:spAutoFit/>
            </a:bodyPr>
            <a:lstStyle/>
            <a:p>
              <a:r>
                <a:rPr lang="el-GR" sz="7200" dirty="0"/>
                <a:t>Σ</a:t>
              </a:r>
              <a:endParaRPr lang="fr-FR" sz="7200" dirty="0"/>
            </a:p>
          </p:txBody>
        </p:sp>
        <p:sp>
          <p:nvSpPr>
            <p:cNvPr id="51" name="ZoneTexte 50">
              <a:extLst>
                <a:ext uri="{FF2B5EF4-FFF2-40B4-BE49-F238E27FC236}">
                  <a16:creationId xmlns:a16="http://schemas.microsoft.com/office/drawing/2014/main" id="{F7C8AAD9-3374-1326-25BE-BBC5AC4B4748}"/>
                </a:ext>
              </a:extLst>
            </p:cNvPr>
            <p:cNvSpPr txBox="1"/>
            <p:nvPr/>
          </p:nvSpPr>
          <p:spPr>
            <a:xfrm>
              <a:off x="1810348" y="4858066"/>
              <a:ext cx="1307502" cy="525790"/>
            </a:xfrm>
            <a:prstGeom prst="rect">
              <a:avLst/>
            </a:prstGeom>
            <a:noFill/>
          </p:spPr>
          <p:txBody>
            <a:bodyPr wrap="square">
              <a:spAutoFit/>
            </a:bodyPr>
            <a:lstStyle/>
            <a:p>
              <a:r>
                <a:rPr lang="fr-FR" sz="5400" dirty="0"/>
                <a:t>|N</a:t>
              </a:r>
              <a:r>
                <a:rPr lang="fr-FR" sz="3600" dirty="0"/>
                <a:t>i-</a:t>
              </a:r>
              <a:r>
                <a:rPr lang="fr-FR" sz="5400" dirty="0" err="1"/>
                <a:t>N</a:t>
              </a:r>
              <a:r>
                <a:rPr lang="fr-FR" sz="3600" dirty="0" err="1"/>
                <a:t>j</a:t>
              </a:r>
              <a:r>
                <a:rPr lang="fr-FR" sz="5400" dirty="0"/>
                <a:t>|</a:t>
              </a:r>
            </a:p>
          </p:txBody>
        </p:sp>
        <p:sp>
          <p:nvSpPr>
            <p:cNvPr id="53" name="ZoneTexte 52">
              <a:extLst>
                <a:ext uri="{FF2B5EF4-FFF2-40B4-BE49-F238E27FC236}">
                  <a16:creationId xmlns:a16="http://schemas.microsoft.com/office/drawing/2014/main" id="{FF9609C7-5403-B9E1-3A71-B903F0D436B9}"/>
                </a:ext>
              </a:extLst>
            </p:cNvPr>
            <p:cNvSpPr txBox="1"/>
            <p:nvPr/>
          </p:nvSpPr>
          <p:spPr>
            <a:xfrm>
              <a:off x="1535808" y="5281270"/>
              <a:ext cx="339598" cy="144592"/>
            </a:xfrm>
            <a:prstGeom prst="rect">
              <a:avLst/>
            </a:prstGeom>
            <a:noFill/>
          </p:spPr>
          <p:txBody>
            <a:bodyPr wrap="square">
              <a:spAutoFit/>
            </a:bodyPr>
            <a:lstStyle/>
            <a:p>
              <a:r>
                <a:rPr lang="fr-FR" sz="1050" dirty="0" err="1"/>
                <a:t>i,j</a:t>
              </a:r>
              <a:r>
                <a:rPr lang="fr-FR" sz="1050" dirty="0"/>
                <a:t> =</a:t>
              </a:r>
            </a:p>
          </p:txBody>
        </p:sp>
        <p:cxnSp>
          <p:nvCxnSpPr>
            <p:cNvPr id="11" name="Connecteur droit 10">
              <a:extLst>
                <a:ext uri="{FF2B5EF4-FFF2-40B4-BE49-F238E27FC236}">
                  <a16:creationId xmlns:a16="http://schemas.microsoft.com/office/drawing/2014/main" id="{30478379-EBC2-B124-2F7E-85219CBB6D15}"/>
                </a:ext>
              </a:extLst>
            </p:cNvPr>
            <p:cNvCxnSpPr>
              <a:cxnSpLocks/>
            </p:cNvCxnSpPr>
            <p:nvPr/>
          </p:nvCxnSpPr>
          <p:spPr>
            <a:xfrm flipH="1">
              <a:off x="1461290" y="5465856"/>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grpSp>
      <p:pic>
        <p:nvPicPr>
          <p:cNvPr id="13" name="Graphique 12" descr="Femme non-voyante utilisant un bâton">
            <a:extLst>
              <a:ext uri="{FF2B5EF4-FFF2-40B4-BE49-F238E27FC236}">
                <a16:creationId xmlns:a16="http://schemas.microsoft.com/office/drawing/2014/main" id="{CDE84A92-BBE3-5F99-6CA1-DF3322BC412D}"/>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1641659" y="4841718"/>
            <a:ext cx="171489" cy="181618"/>
          </a:xfrm>
          <a:prstGeom prst="rect">
            <a:avLst/>
          </a:prstGeom>
        </p:spPr>
      </p:pic>
      <p:sp>
        <p:nvSpPr>
          <p:cNvPr id="14" name="ZoneTexte 13">
            <a:extLst>
              <a:ext uri="{FF2B5EF4-FFF2-40B4-BE49-F238E27FC236}">
                <a16:creationId xmlns:a16="http://schemas.microsoft.com/office/drawing/2014/main" id="{888FD054-5F77-AF0C-AA94-15840C90F882}"/>
              </a:ext>
            </a:extLst>
          </p:cNvPr>
          <p:cNvSpPr txBox="1"/>
          <p:nvPr/>
        </p:nvSpPr>
        <p:spPr>
          <a:xfrm>
            <a:off x="1985163" y="5103171"/>
            <a:ext cx="1195708" cy="707886"/>
          </a:xfrm>
          <a:prstGeom prst="rect">
            <a:avLst/>
          </a:prstGeom>
          <a:noFill/>
        </p:spPr>
        <p:txBody>
          <a:bodyPr wrap="square">
            <a:spAutoFit/>
          </a:bodyPr>
          <a:lstStyle/>
          <a:p>
            <a:r>
              <a:rPr lang="fr-FR" sz="4000" dirty="0"/>
              <a:t>(</a:t>
            </a:r>
            <a:r>
              <a:rPr lang="el-GR" sz="4000" dirty="0"/>
              <a:t>Σ</a:t>
            </a:r>
            <a:r>
              <a:rPr lang="fr-FR" sz="4000" dirty="0"/>
              <a:t>   )</a:t>
            </a:r>
          </a:p>
        </p:txBody>
      </p:sp>
      <p:pic>
        <p:nvPicPr>
          <p:cNvPr id="15" name="Graphique 14" descr="Femme non-voyante utilisant un bâton">
            <a:extLst>
              <a:ext uri="{FF2B5EF4-FFF2-40B4-BE49-F238E27FC236}">
                <a16:creationId xmlns:a16="http://schemas.microsoft.com/office/drawing/2014/main" id="{78FBF1F4-7083-BC67-D694-0CB4E5FE9367}"/>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2465928" y="5322994"/>
            <a:ext cx="273418" cy="289567"/>
          </a:xfrm>
          <a:prstGeom prst="rect">
            <a:avLst/>
          </a:prstGeom>
        </p:spPr>
      </p:pic>
      <p:sp>
        <p:nvSpPr>
          <p:cNvPr id="16" name="ZoneTexte 15">
            <a:extLst>
              <a:ext uri="{FF2B5EF4-FFF2-40B4-BE49-F238E27FC236}">
                <a16:creationId xmlns:a16="http://schemas.microsoft.com/office/drawing/2014/main" id="{A538E09F-EA83-F9A3-4B81-6A89C0CD41F9}"/>
              </a:ext>
            </a:extLst>
          </p:cNvPr>
          <p:cNvSpPr txBox="1"/>
          <p:nvPr/>
        </p:nvSpPr>
        <p:spPr>
          <a:xfrm>
            <a:off x="2893219" y="5187593"/>
            <a:ext cx="330410" cy="276999"/>
          </a:xfrm>
          <a:prstGeom prst="rect">
            <a:avLst/>
          </a:prstGeom>
          <a:noFill/>
        </p:spPr>
        <p:txBody>
          <a:bodyPr wrap="square">
            <a:spAutoFit/>
          </a:bodyPr>
          <a:lstStyle/>
          <a:p>
            <a:pPr marL="0" indent="0">
              <a:buNone/>
            </a:pPr>
            <a:r>
              <a:rPr lang="fr-FR" sz="1200" dirty="0"/>
              <a:t>2</a:t>
            </a:r>
          </a:p>
        </p:txBody>
      </p:sp>
      <p:sp>
        <p:nvSpPr>
          <p:cNvPr id="17" name="Bulle narrative : ronde 16">
            <a:extLst>
              <a:ext uri="{FF2B5EF4-FFF2-40B4-BE49-F238E27FC236}">
                <a16:creationId xmlns:a16="http://schemas.microsoft.com/office/drawing/2014/main" id="{9E0E0D7E-34EA-1E57-97A3-3E4761B581F6}"/>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Sur le sujet XYZ, à quel point sommes nous au même niveau de pratique ?</a:t>
            </a:r>
          </a:p>
        </p:txBody>
      </p:sp>
      <p:pic>
        <p:nvPicPr>
          <p:cNvPr id="18" name="Graphique 3" descr="Femme portant un tailleur">
            <a:extLst>
              <a:ext uri="{FF2B5EF4-FFF2-40B4-BE49-F238E27FC236}">
                <a16:creationId xmlns:a16="http://schemas.microsoft.com/office/drawing/2014/main" id="{41955F12-5BB6-74E0-87C1-E5E53FB8D15E}"/>
              </a:ext>
            </a:extLst>
          </p:cNvPr>
          <p:cNvPicPr>
            <a:picLocks noChangeAspect="1"/>
          </p:cNvPicPr>
          <p:nvPr/>
        </p:nvPicPr>
        <p:blipFill rotWithShape="1">
          <a:blip r:embed="rId30">
            <a:extLst>
              <a:ext uri="{96DAC541-7B7A-43D3-8B79-37D633B846F1}">
                <asvg:svgBlip xmlns:asvg="http://schemas.microsoft.com/office/drawing/2016/SVG/main" r:embed="rId31"/>
              </a:ext>
            </a:extLst>
          </a:blip>
          <a:srcRect b="67900"/>
          <a:stretch/>
        </p:blipFill>
        <p:spPr>
          <a:xfrm flipH="1">
            <a:off x="9519412" y="371448"/>
            <a:ext cx="2672588" cy="1668390"/>
          </a:xfrm>
          <a:prstGeom prst="rect">
            <a:avLst/>
          </a:prstGeom>
        </p:spPr>
      </p:pic>
      <p:pic>
        <p:nvPicPr>
          <p:cNvPr id="19" name="Graphique 18" descr="Homme tenant une tasse">
            <a:extLst>
              <a:ext uri="{FF2B5EF4-FFF2-40B4-BE49-F238E27FC236}">
                <a16:creationId xmlns:a16="http://schemas.microsoft.com/office/drawing/2014/main" id="{EF479D23-5D0E-DCFA-8A10-D09714657FBC}"/>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1821909" y="4839765"/>
            <a:ext cx="137787" cy="162183"/>
          </a:xfrm>
          <a:prstGeom prst="rect">
            <a:avLst/>
          </a:prstGeom>
        </p:spPr>
      </p:pic>
    </p:spTree>
    <p:extLst>
      <p:ext uri="{BB962C8B-B14F-4D97-AF65-F5344CB8AC3E}">
        <p14:creationId xmlns:p14="http://schemas.microsoft.com/office/powerpoint/2010/main" val="110621581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4285654" cy="1325563"/>
          </a:xfrm>
        </p:spPr>
        <p:txBody>
          <a:bodyPr>
            <a:noAutofit/>
          </a:bodyPr>
          <a:lstStyle/>
          <a:p>
            <a:r>
              <a:rPr lang="fr-FR" sz="2400" b="1" dirty="0"/>
              <a:t>Indicateur : </a:t>
            </a:r>
            <a:br>
              <a:rPr lang="fr-FR" sz="2400" b="1" dirty="0"/>
            </a:br>
            <a:r>
              <a:rPr lang="fr-FR" sz="2400" dirty="0"/>
              <a:t>Indice d’</a:t>
            </a:r>
            <a:r>
              <a:rPr lang="fr-FR" sz="2400" dirty="0" err="1"/>
              <a:t>heterogéneïté</a:t>
            </a:r>
            <a:r>
              <a:rPr lang="fr-FR" sz="2400" dirty="0"/>
              <a:t> des niveaux des membres sur un sujet donné</a:t>
            </a:r>
          </a:p>
        </p:txBody>
      </p:sp>
      <p:sp>
        <p:nvSpPr>
          <p:cNvPr id="3" name="Espace réservé du contenu 2">
            <a:extLst>
              <a:ext uri="{FF2B5EF4-FFF2-40B4-BE49-F238E27FC236}">
                <a16:creationId xmlns:a16="http://schemas.microsoft.com/office/drawing/2014/main" id="{8F4A847D-9763-1686-5CED-A88D9F61B147}"/>
              </a:ext>
            </a:extLst>
          </p:cNvPr>
          <p:cNvSpPr txBox="1">
            <a:spLocks/>
          </p:cNvSpPr>
          <p:nvPr/>
        </p:nvSpPr>
        <p:spPr>
          <a:xfrm>
            <a:off x="5278478" y="1081085"/>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élevé</a:t>
            </a:r>
          </a:p>
          <a:p>
            <a:pPr marL="0" indent="0">
              <a:buNone/>
            </a:pPr>
            <a:r>
              <a:rPr lang="fr-FR" sz="1400" dirty="0"/>
              <a:t>Cela peut être signe de : Des membres très différents (horizons, anciennetés, profils…)</a:t>
            </a:r>
          </a:p>
          <a:p>
            <a:pPr marL="0" indent="0">
              <a:buNone/>
            </a:pPr>
            <a:r>
              <a:rPr lang="fr-FR" sz="1400" dirty="0"/>
              <a:t>On peut alors choisir de : Déterminer des groupes de niveau, créer un système de mentoring</a:t>
            </a:r>
          </a:p>
          <a:p>
            <a:pPr marL="0" indent="0">
              <a:buNone/>
            </a:pPr>
            <a:endParaRPr lang="fr-FR" sz="1800" b="1" dirty="0"/>
          </a:p>
        </p:txBody>
      </p:sp>
      <p:sp>
        <p:nvSpPr>
          <p:cNvPr id="4" name="Espace réservé du contenu 2">
            <a:extLst>
              <a:ext uri="{FF2B5EF4-FFF2-40B4-BE49-F238E27FC236}">
                <a16:creationId xmlns:a16="http://schemas.microsoft.com/office/drawing/2014/main" id="{61941C12-C6E9-0010-7F8B-A27CAE5F12A4}"/>
              </a:ext>
            </a:extLst>
          </p:cNvPr>
          <p:cNvSpPr txBox="1">
            <a:spLocks/>
          </p:cNvSpPr>
          <p:nvPr/>
        </p:nvSpPr>
        <p:spPr>
          <a:xfrm>
            <a:off x="5278478" y="2924172"/>
            <a:ext cx="5411692" cy="1633537"/>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cet indicateur est très bas</a:t>
            </a:r>
          </a:p>
          <a:p>
            <a:pPr marL="0" indent="0">
              <a:buNone/>
            </a:pPr>
            <a:r>
              <a:rPr lang="fr-FR" sz="1400" dirty="0"/>
              <a:t>Cela peut être signe de : Même niveau (ou presque) de maturité des membres, cas extrêmes à la marge</a:t>
            </a:r>
          </a:p>
          <a:p>
            <a:pPr marL="0" indent="0">
              <a:buNone/>
            </a:pPr>
            <a:endParaRPr lang="fr-FR" sz="1400" dirty="0"/>
          </a:p>
          <a:p>
            <a:pPr marL="0" indent="0">
              <a:buNone/>
            </a:pPr>
            <a:r>
              <a:rPr lang="fr-FR" sz="1400" dirty="0"/>
              <a:t>On peut alors choisir de : Proposer des formats individuels pour les cas à la marge (très haut ou très bas)</a:t>
            </a:r>
          </a:p>
          <a:p>
            <a:pPr marL="0" indent="0">
              <a:buNone/>
            </a:pPr>
            <a:endParaRPr lang="fr-FR" sz="1800" b="1" dirty="0"/>
          </a:p>
          <a:p>
            <a:pPr marL="0" indent="0">
              <a:buNone/>
            </a:pPr>
            <a:endParaRPr lang="fr-FR" sz="1800" b="1" dirty="0"/>
          </a:p>
        </p:txBody>
      </p:sp>
      <p:sp>
        <p:nvSpPr>
          <p:cNvPr id="5" name="Espace réservé du contenu 2">
            <a:extLst>
              <a:ext uri="{FF2B5EF4-FFF2-40B4-BE49-F238E27FC236}">
                <a16:creationId xmlns:a16="http://schemas.microsoft.com/office/drawing/2014/main" id="{F363B5EE-DC5C-31CB-CA5C-3BAE9BE3C46E}"/>
              </a:ext>
            </a:extLst>
          </p:cNvPr>
          <p:cNvSpPr txBox="1">
            <a:spLocks/>
          </p:cNvSpPr>
          <p:nvPr/>
        </p:nvSpPr>
        <p:spPr>
          <a:xfrm>
            <a:off x="5278478" y="4762496"/>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marL="0" indent="0">
              <a:buNone/>
            </a:pPr>
            <a:endParaRPr lang="fr-FR" sz="1400" dirty="0"/>
          </a:p>
          <a:p>
            <a:pPr marL="0" indent="0">
              <a:buNone/>
            </a:pPr>
            <a:endParaRPr lang="fr-FR" sz="1400" dirty="0"/>
          </a:p>
          <a:p>
            <a:pPr marL="0" indent="0">
              <a:buNone/>
            </a:pPr>
            <a:endParaRPr lang="fr-FR" sz="1800" b="1" dirty="0"/>
          </a:p>
          <a:p>
            <a:pPr marL="0" indent="0">
              <a:buNone/>
            </a:pPr>
            <a:endParaRPr lang="fr-FR" sz="1800" b="1" dirty="0"/>
          </a:p>
        </p:txBody>
      </p:sp>
      <p:graphicFrame>
        <p:nvGraphicFramePr>
          <p:cNvPr id="9" name="Tableau 5">
            <a:extLst>
              <a:ext uri="{FF2B5EF4-FFF2-40B4-BE49-F238E27FC236}">
                <a16:creationId xmlns:a16="http://schemas.microsoft.com/office/drawing/2014/main" id="{D28AA1EA-030F-B600-DA00-A6D91141613F}"/>
              </a:ext>
            </a:extLst>
          </p:cNvPr>
          <p:cNvGraphicFramePr>
            <a:graphicFrameLocks noGrp="1"/>
          </p:cNvGraphicFramePr>
          <p:nvPr/>
        </p:nvGraphicFramePr>
        <p:xfrm>
          <a:off x="394489" y="2039838"/>
          <a:ext cx="4731040" cy="1771311"/>
        </p:xfrm>
        <a:graphic>
          <a:graphicData uri="http://schemas.openxmlformats.org/drawingml/2006/table">
            <a:tbl>
              <a:tblPr firstRow="1" bandRow="1">
                <a:tableStyleId>{073A0DAA-6AF3-43AB-8588-CEC1D06C72B9}</a:tableStyleId>
              </a:tblPr>
              <a:tblGrid>
                <a:gridCol w="591380">
                  <a:extLst>
                    <a:ext uri="{9D8B030D-6E8A-4147-A177-3AD203B41FA5}">
                      <a16:colId xmlns:a16="http://schemas.microsoft.com/office/drawing/2014/main" val="1486018635"/>
                    </a:ext>
                  </a:extLst>
                </a:gridCol>
                <a:gridCol w="591380">
                  <a:extLst>
                    <a:ext uri="{9D8B030D-6E8A-4147-A177-3AD203B41FA5}">
                      <a16:colId xmlns:a16="http://schemas.microsoft.com/office/drawing/2014/main" val="761339006"/>
                    </a:ext>
                  </a:extLst>
                </a:gridCol>
                <a:gridCol w="591380">
                  <a:extLst>
                    <a:ext uri="{9D8B030D-6E8A-4147-A177-3AD203B41FA5}">
                      <a16:colId xmlns:a16="http://schemas.microsoft.com/office/drawing/2014/main" val="416087062"/>
                    </a:ext>
                  </a:extLst>
                </a:gridCol>
                <a:gridCol w="591380">
                  <a:extLst>
                    <a:ext uri="{9D8B030D-6E8A-4147-A177-3AD203B41FA5}">
                      <a16:colId xmlns:a16="http://schemas.microsoft.com/office/drawing/2014/main" val="2064857721"/>
                    </a:ext>
                  </a:extLst>
                </a:gridCol>
                <a:gridCol w="591380">
                  <a:extLst>
                    <a:ext uri="{9D8B030D-6E8A-4147-A177-3AD203B41FA5}">
                      <a16:colId xmlns:a16="http://schemas.microsoft.com/office/drawing/2014/main" val="183491405"/>
                    </a:ext>
                  </a:extLst>
                </a:gridCol>
                <a:gridCol w="591380">
                  <a:extLst>
                    <a:ext uri="{9D8B030D-6E8A-4147-A177-3AD203B41FA5}">
                      <a16:colId xmlns:a16="http://schemas.microsoft.com/office/drawing/2014/main" val="3364014230"/>
                    </a:ext>
                  </a:extLst>
                </a:gridCol>
                <a:gridCol w="591380">
                  <a:extLst>
                    <a:ext uri="{9D8B030D-6E8A-4147-A177-3AD203B41FA5}">
                      <a16:colId xmlns:a16="http://schemas.microsoft.com/office/drawing/2014/main" val="365145181"/>
                    </a:ext>
                  </a:extLst>
                </a:gridCol>
                <a:gridCol w="591380">
                  <a:extLst>
                    <a:ext uri="{9D8B030D-6E8A-4147-A177-3AD203B41FA5}">
                      <a16:colId xmlns:a16="http://schemas.microsoft.com/office/drawing/2014/main" val="1628287487"/>
                    </a:ext>
                  </a:extLst>
                </a:gridCol>
              </a:tblGrid>
              <a:tr h="241446">
                <a:tc>
                  <a:txBody>
                    <a:bodyPr/>
                    <a:lstStyle/>
                    <a:p>
                      <a:pPr algn="ctr"/>
                      <a:r>
                        <a:rPr lang="fr-FR" sz="2800" dirty="0">
                          <a:solidFill>
                            <a:schemeClr val="tx1"/>
                          </a:solidFill>
                        </a:rPr>
                        <a:t>0</a:t>
                      </a:r>
                    </a:p>
                  </a:txBody>
                  <a:tcPr marL="43096" marR="43096" marT="21548" marB="21548">
                    <a:solidFill>
                      <a:schemeClr val="bg1"/>
                    </a:solidFill>
                  </a:tcPr>
                </a:tc>
                <a:tc>
                  <a:txBody>
                    <a:bodyPr/>
                    <a:lstStyle/>
                    <a:p>
                      <a:pPr algn="ctr"/>
                      <a:r>
                        <a:rPr lang="fr-FR" sz="2800" dirty="0">
                          <a:solidFill>
                            <a:schemeClr val="tx1"/>
                          </a:solidFill>
                        </a:rPr>
                        <a:t>1</a:t>
                      </a:r>
                    </a:p>
                  </a:txBody>
                  <a:tcPr marL="43096" marR="43096" marT="21548" marB="21548">
                    <a:solidFill>
                      <a:schemeClr val="bg1"/>
                    </a:solidFill>
                  </a:tcPr>
                </a:tc>
                <a:tc>
                  <a:txBody>
                    <a:bodyPr/>
                    <a:lstStyle/>
                    <a:p>
                      <a:pPr algn="ctr"/>
                      <a:r>
                        <a:rPr lang="fr-FR" sz="2800" dirty="0">
                          <a:solidFill>
                            <a:schemeClr val="tx1"/>
                          </a:solidFill>
                        </a:rPr>
                        <a:t>2</a:t>
                      </a:r>
                    </a:p>
                  </a:txBody>
                  <a:tcPr marL="43096" marR="43096" marT="21548" marB="21548">
                    <a:solidFill>
                      <a:schemeClr val="bg1"/>
                    </a:solidFill>
                  </a:tcPr>
                </a:tc>
                <a:tc>
                  <a:txBody>
                    <a:bodyPr/>
                    <a:lstStyle/>
                    <a:p>
                      <a:pPr algn="ctr"/>
                      <a:r>
                        <a:rPr lang="fr-FR" sz="2800" dirty="0">
                          <a:solidFill>
                            <a:schemeClr val="tx1"/>
                          </a:solidFill>
                        </a:rPr>
                        <a:t>3</a:t>
                      </a:r>
                    </a:p>
                  </a:txBody>
                  <a:tcPr marL="43096" marR="43096" marT="21548" marB="21548">
                    <a:solidFill>
                      <a:schemeClr val="bg1"/>
                    </a:solidFill>
                  </a:tcPr>
                </a:tc>
                <a:tc>
                  <a:txBody>
                    <a:bodyPr/>
                    <a:lstStyle/>
                    <a:p>
                      <a:pPr algn="ctr"/>
                      <a:r>
                        <a:rPr lang="fr-FR" sz="2800" dirty="0">
                          <a:solidFill>
                            <a:schemeClr val="tx1"/>
                          </a:solidFill>
                        </a:rPr>
                        <a:t>4</a:t>
                      </a:r>
                    </a:p>
                  </a:txBody>
                  <a:tcPr marL="43096" marR="43096" marT="21548" marB="21548">
                    <a:solidFill>
                      <a:schemeClr val="bg1"/>
                    </a:solidFill>
                  </a:tcPr>
                </a:tc>
                <a:tc>
                  <a:txBody>
                    <a:bodyPr/>
                    <a:lstStyle/>
                    <a:p>
                      <a:pPr algn="ctr"/>
                      <a:r>
                        <a:rPr lang="fr-FR" sz="2800" dirty="0">
                          <a:solidFill>
                            <a:schemeClr val="tx1"/>
                          </a:solidFill>
                        </a:rPr>
                        <a:t>5</a:t>
                      </a:r>
                    </a:p>
                  </a:txBody>
                  <a:tcPr marL="43096" marR="43096" marT="21548" marB="21548">
                    <a:solidFill>
                      <a:schemeClr val="bg1"/>
                    </a:solidFill>
                  </a:tcPr>
                </a:tc>
                <a:tc>
                  <a:txBody>
                    <a:bodyPr/>
                    <a:lstStyle/>
                    <a:p>
                      <a:pPr algn="ctr"/>
                      <a:r>
                        <a:rPr lang="fr-FR" sz="2800" dirty="0">
                          <a:solidFill>
                            <a:schemeClr val="tx1"/>
                          </a:solidFill>
                        </a:rPr>
                        <a:t>6</a:t>
                      </a:r>
                    </a:p>
                  </a:txBody>
                  <a:tcPr marL="43096" marR="43096" marT="21548" marB="21548">
                    <a:solidFill>
                      <a:schemeClr val="bg1"/>
                    </a:solidFill>
                  </a:tcPr>
                </a:tc>
                <a:tc>
                  <a:txBody>
                    <a:bodyPr/>
                    <a:lstStyle/>
                    <a:p>
                      <a:pPr algn="ctr"/>
                      <a:r>
                        <a:rPr lang="fr-FR" sz="2800" dirty="0">
                          <a:solidFill>
                            <a:schemeClr val="tx1"/>
                          </a:solidFill>
                        </a:rPr>
                        <a:t>7</a:t>
                      </a:r>
                    </a:p>
                  </a:txBody>
                  <a:tcPr marL="43096" marR="43096" marT="21548" marB="21548">
                    <a:solidFill>
                      <a:schemeClr val="bg1"/>
                    </a:solidFill>
                  </a:tcPr>
                </a:tc>
                <a:extLst>
                  <a:ext uri="{0D108BD9-81ED-4DB2-BD59-A6C34878D82A}">
                    <a16:rowId xmlns:a16="http://schemas.microsoft.com/office/drawing/2014/main" val="3367535307"/>
                  </a:ext>
                </a:extLst>
              </a:tr>
              <a:tr h="241446">
                <a:tc>
                  <a:txBody>
                    <a:bodyPr/>
                    <a:lstStyle/>
                    <a:p>
                      <a:pPr algn="ctr"/>
                      <a:r>
                        <a:rPr lang="fr-FR" sz="400" dirty="0">
                          <a:solidFill>
                            <a:schemeClr val="bg1"/>
                          </a:solidFill>
                        </a:rPr>
                        <a:t>PAS ENCORE COMMENCÉ</a:t>
                      </a: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dirty="0">
                          <a:solidFill>
                            <a:schemeClr val="bg1"/>
                          </a:solidFill>
                        </a:rPr>
                        <a:t>INSPIRATION</a:t>
                      </a:r>
                    </a:p>
                    <a:p>
                      <a:pPr algn="ctr"/>
                      <a:endParaRPr lang="fr-FR" sz="400" dirty="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COLLECTE</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INITIATION</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CHOC DE LA RÉALITÉ</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CONFIRMATION DE RÉUSSITES</a:t>
                      </a:r>
                    </a:p>
                    <a:p>
                      <a:pPr algn="ctr"/>
                      <a:endParaRPr lang="fr-FR" sz="400">
                        <a:solidFill>
                          <a:schemeClr val="bg1"/>
                        </a:solidFill>
                      </a:endParaRPr>
                    </a:p>
                  </a:txBody>
                  <a:tcPr marL="43096" marR="43096" marT="21548" marB="21548">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 b="1" i="1">
                          <a:solidFill>
                            <a:schemeClr val="bg1"/>
                          </a:solidFill>
                        </a:rPr>
                        <a:t>EXPOSITION</a:t>
                      </a:r>
                    </a:p>
                    <a:p>
                      <a:pPr algn="ctr"/>
                      <a:endParaRPr lang="fr-FR" sz="400">
                        <a:solidFill>
                          <a:schemeClr val="bg1"/>
                        </a:solidFill>
                      </a:endParaRPr>
                    </a:p>
                  </a:txBody>
                  <a:tcPr marL="43096" marR="43096" marT="21548" marB="21548">
                    <a:solidFill>
                      <a:srgbClr val="0683AA"/>
                    </a:solidFill>
                  </a:tcPr>
                </a:tc>
                <a:tc>
                  <a:txBody>
                    <a:bodyPr/>
                    <a:lstStyle/>
                    <a:p>
                      <a:pPr marL="0" indent="0" algn="ctr">
                        <a:buFont typeface="Arial" panose="020B0604020202020204" pitchFamily="34" charset="0"/>
                        <a:buNone/>
                      </a:pPr>
                      <a:r>
                        <a:rPr lang="fr-FR" sz="400" b="1" i="1" dirty="0">
                          <a:solidFill>
                            <a:schemeClr val="bg1"/>
                          </a:solidFill>
                        </a:rPr>
                        <a:t>FORTIFICATION</a:t>
                      </a:r>
                    </a:p>
                    <a:p>
                      <a:pPr marL="0" indent="0" algn="ctr">
                        <a:buFont typeface="Arial" panose="020B0604020202020204" pitchFamily="34" charset="0"/>
                        <a:buNone/>
                      </a:pPr>
                      <a:endParaRPr lang="fr-FR" sz="400" b="1" i="1" dirty="0">
                        <a:solidFill>
                          <a:schemeClr val="bg1"/>
                        </a:solidFill>
                      </a:endParaRPr>
                    </a:p>
                    <a:p>
                      <a:pPr algn="ctr"/>
                      <a:endParaRPr lang="fr-FR" sz="400" dirty="0">
                        <a:solidFill>
                          <a:schemeClr val="bg1"/>
                        </a:solidFill>
                      </a:endParaRPr>
                    </a:p>
                  </a:txBody>
                  <a:tcPr marL="43096" marR="43096" marT="21548" marB="21548">
                    <a:solidFill>
                      <a:srgbClr val="0683AA"/>
                    </a:solidFill>
                  </a:tcPr>
                </a:tc>
                <a:extLst>
                  <a:ext uri="{0D108BD9-81ED-4DB2-BD59-A6C34878D82A}">
                    <a16:rowId xmlns:a16="http://schemas.microsoft.com/office/drawing/2014/main" val="3579208894"/>
                  </a:ext>
                </a:extLst>
              </a:tr>
              <a:tr h="1060049">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a:p>
                  </a:txBody>
                  <a:tcPr marL="43096" marR="43096" marT="21548" marB="21548"/>
                </a:tc>
                <a:tc>
                  <a:txBody>
                    <a:bodyPr/>
                    <a:lstStyle/>
                    <a:p>
                      <a:endParaRPr lang="fr-FR" sz="900" dirty="0"/>
                    </a:p>
                  </a:txBody>
                  <a:tcPr marL="43096" marR="43096" marT="21548" marB="21548"/>
                </a:tc>
                <a:extLst>
                  <a:ext uri="{0D108BD9-81ED-4DB2-BD59-A6C34878D82A}">
                    <a16:rowId xmlns:a16="http://schemas.microsoft.com/office/drawing/2014/main" val="1415023090"/>
                  </a:ext>
                </a:extLst>
              </a:tr>
            </a:tbl>
          </a:graphicData>
        </a:graphic>
      </p:graphicFrame>
      <p:sp>
        <p:nvSpPr>
          <p:cNvPr id="10" name="ZoneTexte 9">
            <a:extLst>
              <a:ext uri="{FF2B5EF4-FFF2-40B4-BE49-F238E27FC236}">
                <a16:creationId xmlns:a16="http://schemas.microsoft.com/office/drawing/2014/main" id="{3C049325-D060-2681-EEE5-F06877B712E4}"/>
              </a:ext>
            </a:extLst>
          </p:cNvPr>
          <p:cNvSpPr txBox="1"/>
          <p:nvPr/>
        </p:nvSpPr>
        <p:spPr>
          <a:xfrm>
            <a:off x="1061223" y="6086364"/>
            <a:ext cx="3612916" cy="461665"/>
          </a:xfrm>
          <a:prstGeom prst="rect">
            <a:avLst/>
          </a:prstGeom>
          <a:noFill/>
        </p:spPr>
        <p:txBody>
          <a:bodyPr wrap="square">
            <a:spAutoFit/>
          </a:bodyPr>
          <a:lstStyle/>
          <a:p>
            <a:pPr marL="0" indent="0">
              <a:buNone/>
            </a:pPr>
            <a:r>
              <a:rPr lang="fr-FR" sz="1200" dirty="0"/>
              <a:t>Somme des différences de niveau entre les membres / nombre de membres ²</a:t>
            </a:r>
          </a:p>
        </p:txBody>
      </p:sp>
      <p:grpSp>
        <p:nvGrpSpPr>
          <p:cNvPr id="11" name="Groupe 10">
            <a:extLst>
              <a:ext uri="{FF2B5EF4-FFF2-40B4-BE49-F238E27FC236}">
                <a16:creationId xmlns:a16="http://schemas.microsoft.com/office/drawing/2014/main" id="{145A0245-BA60-C8A0-5800-3486CC1BDDF0}"/>
              </a:ext>
            </a:extLst>
          </p:cNvPr>
          <p:cNvGrpSpPr/>
          <p:nvPr/>
        </p:nvGrpSpPr>
        <p:grpSpPr>
          <a:xfrm>
            <a:off x="392814" y="2753083"/>
            <a:ext cx="4731040" cy="929917"/>
            <a:chOff x="2445155" y="3409417"/>
            <a:chExt cx="7482860" cy="1340536"/>
          </a:xfrm>
        </p:grpSpPr>
        <p:pic>
          <p:nvPicPr>
            <p:cNvPr id="12" name="Graphique 11" descr="Garçon aux cheveux bouclés">
              <a:extLst>
                <a:ext uri="{FF2B5EF4-FFF2-40B4-BE49-F238E27FC236}">
                  <a16:creationId xmlns:a16="http://schemas.microsoft.com/office/drawing/2014/main" id="{D7EBA31E-8FDD-20D4-D812-DF31880D5BA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41" r="26570" b="80008"/>
            <a:stretch/>
          </p:blipFill>
          <p:spPr>
            <a:xfrm>
              <a:off x="3502346" y="3446777"/>
              <a:ext cx="398467" cy="410478"/>
            </a:xfrm>
            <a:prstGeom prst="rect">
              <a:avLst/>
            </a:prstGeom>
          </p:spPr>
        </p:pic>
        <p:pic>
          <p:nvPicPr>
            <p:cNvPr id="13" name="Graphique 12" descr="Fille portant un sac à dos">
              <a:extLst>
                <a:ext uri="{FF2B5EF4-FFF2-40B4-BE49-F238E27FC236}">
                  <a16:creationId xmlns:a16="http://schemas.microsoft.com/office/drawing/2014/main" id="{DD4F804F-5ECA-564D-D88B-7B137C66F1F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028" r="21662" b="78734"/>
            <a:stretch/>
          </p:blipFill>
          <p:spPr>
            <a:xfrm>
              <a:off x="4391635" y="3432808"/>
              <a:ext cx="398465" cy="402293"/>
            </a:xfrm>
            <a:prstGeom prst="rect">
              <a:avLst/>
            </a:prstGeom>
          </p:spPr>
        </p:pic>
        <p:pic>
          <p:nvPicPr>
            <p:cNvPr id="14" name="Graphique 13" descr="Homme avec barbe">
              <a:extLst>
                <a:ext uri="{FF2B5EF4-FFF2-40B4-BE49-F238E27FC236}">
                  <a16:creationId xmlns:a16="http://schemas.microsoft.com/office/drawing/2014/main" id="{E8EE3705-5EC8-56B6-6B85-B1C4E8C65D2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149" r="22590" b="81054"/>
            <a:stretch/>
          </p:blipFill>
          <p:spPr>
            <a:xfrm>
              <a:off x="4391544" y="3890427"/>
              <a:ext cx="370183" cy="433905"/>
            </a:xfrm>
            <a:prstGeom prst="rect">
              <a:avLst/>
            </a:prstGeom>
          </p:spPr>
        </p:pic>
        <p:pic>
          <p:nvPicPr>
            <p:cNvPr id="15" name="Graphique 14" descr="Homme tenant une tasse">
              <a:extLst>
                <a:ext uri="{FF2B5EF4-FFF2-40B4-BE49-F238E27FC236}">
                  <a16:creationId xmlns:a16="http://schemas.microsoft.com/office/drawing/2014/main" id="{F6933D6A-23B0-FE5C-9D04-EB81112CCC02}"/>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6311112" y="3875300"/>
              <a:ext cx="370183" cy="397133"/>
            </a:xfrm>
            <a:prstGeom prst="rect">
              <a:avLst/>
            </a:prstGeom>
          </p:spPr>
        </p:pic>
        <p:pic>
          <p:nvPicPr>
            <p:cNvPr id="16" name="Graphique 15" descr="Homme en smoking">
              <a:extLst>
                <a:ext uri="{FF2B5EF4-FFF2-40B4-BE49-F238E27FC236}">
                  <a16:creationId xmlns:a16="http://schemas.microsoft.com/office/drawing/2014/main" id="{FD48215D-7D35-7C86-9E9A-C892043B86D3}"/>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2173" r="26312" b="80893"/>
            <a:stretch/>
          </p:blipFill>
          <p:spPr>
            <a:xfrm>
              <a:off x="2454178" y="3420689"/>
              <a:ext cx="351837" cy="462653"/>
            </a:xfrm>
            <a:prstGeom prst="rect">
              <a:avLst/>
            </a:prstGeom>
          </p:spPr>
        </p:pic>
        <p:pic>
          <p:nvPicPr>
            <p:cNvPr id="17" name="Graphique 16" descr="Homme avec bras prothétique">
              <a:extLst>
                <a:ext uri="{FF2B5EF4-FFF2-40B4-BE49-F238E27FC236}">
                  <a16:creationId xmlns:a16="http://schemas.microsoft.com/office/drawing/2014/main" id="{936ED392-A10F-4815-ED7F-0E6914211C60}"/>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6638" r="6901" b="81090"/>
            <a:stretch/>
          </p:blipFill>
          <p:spPr>
            <a:xfrm>
              <a:off x="2816607" y="3487596"/>
              <a:ext cx="521269" cy="381325"/>
            </a:xfrm>
            <a:prstGeom prst="rect">
              <a:avLst/>
            </a:prstGeom>
          </p:spPr>
        </p:pic>
        <p:pic>
          <p:nvPicPr>
            <p:cNvPr id="18" name="Graphique 17" descr="Homme portant une chemise avec motif">
              <a:extLst>
                <a:ext uri="{FF2B5EF4-FFF2-40B4-BE49-F238E27FC236}">
                  <a16:creationId xmlns:a16="http://schemas.microsoft.com/office/drawing/2014/main" id="{D906C796-0272-7729-449C-25BC00086000}"/>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17279" r="47069" b="81696"/>
            <a:stretch/>
          </p:blipFill>
          <p:spPr>
            <a:xfrm>
              <a:off x="6281342" y="3441002"/>
              <a:ext cx="352508" cy="440443"/>
            </a:xfrm>
            <a:prstGeom prst="rect">
              <a:avLst/>
            </a:prstGeom>
          </p:spPr>
        </p:pic>
        <p:pic>
          <p:nvPicPr>
            <p:cNvPr id="19" name="Graphique 18" descr="Homme âgé portant une veste">
              <a:extLst>
                <a:ext uri="{FF2B5EF4-FFF2-40B4-BE49-F238E27FC236}">
                  <a16:creationId xmlns:a16="http://schemas.microsoft.com/office/drawing/2014/main" id="{AEC597CA-F474-959C-BE93-7B45A352B591}"/>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34066" t="-865" r="16426" b="83209"/>
            <a:stretch/>
          </p:blipFill>
          <p:spPr>
            <a:xfrm>
              <a:off x="2445155" y="4334005"/>
              <a:ext cx="374626" cy="415948"/>
            </a:xfrm>
            <a:prstGeom prst="rect">
              <a:avLst/>
            </a:prstGeom>
          </p:spPr>
        </p:pic>
        <p:pic>
          <p:nvPicPr>
            <p:cNvPr id="20" name="Graphique 19" descr="Homme portant chapeau et costume">
              <a:extLst>
                <a:ext uri="{FF2B5EF4-FFF2-40B4-BE49-F238E27FC236}">
                  <a16:creationId xmlns:a16="http://schemas.microsoft.com/office/drawing/2014/main" id="{B63F9474-D3B6-FB79-01CD-1809F83B2C0D}"/>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8919" r="9450" b="80613"/>
            <a:stretch/>
          </p:blipFill>
          <p:spPr>
            <a:xfrm>
              <a:off x="2452811" y="3876785"/>
              <a:ext cx="419339" cy="457716"/>
            </a:xfrm>
            <a:prstGeom prst="rect">
              <a:avLst/>
            </a:prstGeom>
          </p:spPr>
        </p:pic>
        <p:pic>
          <p:nvPicPr>
            <p:cNvPr id="21" name="Graphique 20" descr="Femme non-voyante utilisant un bâton">
              <a:extLst>
                <a:ext uri="{FF2B5EF4-FFF2-40B4-BE49-F238E27FC236}">
                  <a16:creationId xmlns:a16="http://schemas.microsoft.com/office/drawing/2014/main" id="{37A59151-592C-04E3-98F7-B67F2E5CB565}"/>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4350300" y="4342357"/>
              <a:ext cx="411427" cy="397134"/>
            </a:xfrm>
            <a:prstGeom prst="rect">
              <a:avLst/>
            </a:prstGeom>
          </p:spPr>
        </p:pic>
        <p:pic>
          <p:nvPicPr>
            <p:cNvPr id="22" name="Graphique 21" descr="Femme levant le doigt">
              <a:extLst>
                <a:ext uri="{FF2B5EF4-FFF2-40B4-BE49-F238E27FC236}">
                  <a16:creationId xmlns:a16="http://schemas.microsoft.com/office/drawing/2014/main" id="{7E3672CD-B74D-73ED-AB00-8ED3BE9D387B}"/>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19546" r="46612" b="79017"/>
            <a:stretch/>
          </p:blipFill>
          <p:spPr>
            <a:xfrm>
              <a:off x="7254786" y="3432808"/>
              <a:ext cx="379003" cy="456211"/>
            </a:xfrm>
            <a:prstGeom prst="rect">
              <a:avLst/>
            </a:prstGeom>
          </p:spPr>
        </p:pic>
        <p:pic>
          <p:nvPicPr>
            <p:cNvPr id="23" name="Graphique 22" descr="Femme avec queue de cheval">
              <a:extLst>
                <a:ext uri="{FF2B5EF4-FFF2-40B4-BE49-F238E27FC236}">
                  <a16:creationId xmlns:a16="http://schemas.microsoft.com/office/drawing/2014/main" id="{48E8BC83-0B56-21AC-8B72-D0C4CBC0E2E0}"/>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l="13852" r="47496" b="82170"/>
            <a:stretch/>
          </p:blipFill>
          <p:spPr>
            <a:xfrm>
              <a:off x="2826075" y="3912840"/>
              <a:ext cx="481610" cy="422737"/>
            </a:xfrm>
            <a:prstGeom prst="rect">
              <a:avLst/>
            </a:prstGeom>
          </p:spPr>
        </p:pic>
        <p:pic>
          <p:nvPicPr>
            <p:cNvPr id="24" name="Graphique 23" descr="Femme utilisant une cane">
              <a:extLst>
                <a:ext uri="{FF2B5EF4-FFF2-40B4-BE49-F238E27FC236}">
                  <a16:creationId xmlns:a16="http://schemas.microsoft.com/office/drawing/2014/main" id="{BEBE382C-08E4-5EED-93CF-1FF18AE97DFC}"/>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583" b="79779"/>
            <a:stretch/>
          </p:blipFill>
          <p:spPr>
            <a:xfrm>
              <a:off x="8049288" y="3409417"/>
              <a:ext cx="706248" cy="518063"/>
            </a:xfrm>
            <a:prstGeom prst="rect">
              <a:avLst/>
            </a:prstGeom>
          </p:spPr>
        </p:pic>
        <p:pic>
          <p:nvPicPr>
            <p:cNvPr id="25" name="Graphique 24" descr="Femme aux cheveux afro">
              <a:extLst>
                <a:ext uri="{FF2B5EF4-FFF2-40B4-BE49-F238E27FC236}">
                  <a16:creationId xmlns:a16="http://schemas.microsoft.com/office/drawing/2014/main" id="{219471A1-70A6-595E-8DEB-6A81486A0DD4}"/>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b="77723"/>
            <a:stretch/>
          </p:blipFill>
          <p:spPr>
            <a:xfrm>
              <a:off x="9216723" y="3432808"/>
              <a:ext cx="711292" cy="518063"/>
            </a:xfrm>
            <a:prstGeom prst="rect">
              <a:avLst/>
            </a:prstGeom>
          </p:spPr>
        </p:pic>
      </p:grpSp>
      <p:grpSp>
        <p:nvGrpSpPr>
          <p:cNvPr id="26" name="Groupe 25">
            <a:extLst>
              <a:ext uri="{FF2B5EF4-FFF2-40B4-BE49-F238E27FC236}">
                <a16:creationId xmlns:a16="http://schemas.microsoft.com/office/drawing/2014/main" id="{464B155D-94F0-10FA-D428-8277933C2296}"/>
              </a:ext>
            </a:extLst>
          </p:cNvPr>
          <p:cNvGrpSpPr/>
          <p:nvPr/>
        </p:nvGrpSpPr>
        <p:grpSpPr>
          <a:xfrm>
            <a:off x="1188541" y="3902841"/>
            <a:ext cx="2909056" cy="1243106"/>
            <a:chOff x="1461290" y="4757970"/>
            <a:chExt cx="1656560" cy="707886"/>
          </a:xfrm>
        </p:grpSpPr>
        <p:sp>
          <p:nvSpPr>
            <p:cNvPr id="27" name="ZoneTexte 26">
              <a:extLst>
                <a:ext uri="{FF2B5EF4-FFF2-40B4-BE49-F238E27FC236}">
                  <a16:creationId xmlns:a16="http://schemas.microsoft.com/office/drawing/2014/main" id="{59C60CE6-17A4-5C38-AC49-9BBCE11493C4}"/>
                </a:ext>
              </a:extLst>
            </p:cNvPr>
            <p:cNvSpPr txBox="1"/>
            <p:nvPr/>
          </p:nvSpPr>
          <p:spPr>
            <a:xfrm>
              <a:off x="1554856" y="4757970"/>
              <a:ext cx="464463" cy="683527"/>
            </a:xfrm>
            <a:prstGeom prst="rect">
              <a:avLst/>
            </a:prstGeom>
            <a:noFill/>
          </p:spPr>
          <p:txBody>
            <a:bodyPr wrap="square">
              <a:spAutoFit/>
            </a:bodyPr>
            <a:lstStyle/>
            <a:p>
              <a:r>
                <a:rPr lang="el-GR" sz="7200" dirty="0"/>
                <a:t>Σ</a:t>
              </a:r>
              <a:endParaRPr lang="fr-FR" sz="7200" dirty="0"/>
            </a:p>
          </p:txBody>
        </p:sp>
        <p:sp>
          <p:nvSpPr>
            <p:cNvPr id="28" name="ZoneTexte 27">
              <a:extLst>
                <a:ext uri="{FF2B5EF4-FFF2-40B4-BE49-F238E27FC236}">
                  <a16:creationId xmlns:a16="http://schemas.microsoft.com/office/drawing/2014/main" id="{D4A5E6B2-62EB-BCA8-015A-A7AB48C37956}"/>
                </a:ext>
              </a:extLst>
            </p:cNvPr>
            <p:cNvSpPr txBox="1"/>
            <p:nvPr/>
          </p:nvSpPr>
          <p:spPr>
            <a:xfrm>
              <a:off x="1810348" y="4858066"/>
              <a:ext cx="1307502" cy="525790"/>
            </a:xfrm>
            <a:prstGeom prst="rect">
              <a:avLst/>
            </a:prstGeom>
            <a:noFill/>
          </p:spPr>
          <p:txBody>
            <a:bodyPr wrap="square">
              <a:spAutoFit/>
            </a:bodyPr>
            <a:lstStyle/>
            <a:p>
              <a:r>
                <a:rPr lang="fr-FR" sz="5400" dirty="0"/>
                <a:t>|N</a:t>
              </a:r>
              <a:r>
                <a:rPr lang="fr-FR" sz="3600" dirty="0"/>
                <a:t>i-</a:t>
              </a:r>
              <a:r>
                <a:rPr lang="fr-FR" sz="5400" dirty="0" err="1"/>
                <a:t>N</a:t>
              </a:r>
              <a:r>
                <a:rPr lang="fr-FR" sz="3600" dirty="0" err="1"/>
                <a:t>j</a:t>
              </a:r>
              <a:r>
                <a:rPr lang="fr-FR" sz="5400" dirty="0"/>
                <a:t>|</a:t>
              </a:r>
            </a:p>
          </p:txBody>
        </p:sp>
        <p:sp>
          <p:nvSpPr>
            <p:cNvPr id="29" name="ZoneTexte 28">
              <a:extLst>
                <a:ext uri="{FF2B5EF4-FFF2-40B4-BE49-F238E27FC236}">
                  <a16:creationId xmlns:a16="http://schemas.microsoft.com/office/drawing/2014/main" id="{1DB5CF48-A0C4-1215-3FCA-8E566E4D87F4}"/>
                </a:ext>
              </a:extLst>
            </p:cNvPr>
            <p:cNvSpPr txBox="1"/>
            <p:nvPr/>
          </p:nvSpPr>
          <p:spPr>
            <a:xfrm>
              <a:off x="1535808" y="5281270"/>
              <a:ext cx="339598" cy="144592"/>
            </a:xfrm>
            <a:prstGeom prst="rect">
              <a:avLst/>
            </a:prstGeom>
            <a:noFill/>
          </p:spPr>
          <p:txBody>
            <a:bodyPr wrap="square">
              <a:spAutoFit/>
            </a:bodyPr>
            <a:lstStyle/>
            <a:p>
              <a:r>
                <a:rPr lang="fr-FR" sz="1050" dirty="0" err="1"/>
                <a:t>i,j</a:t>
              </a:r>
              <a:r>
                <a:rPr lang="fr-FR" sz="1050" dirty="0"/>
                <a:t> =</a:t>
              </a:r>
            </a:p>
          </p:txBody>
        </p:sp>
        <p:cxnSp>
          <p:nvCxnSpPr>
            <p:cNvPr id="30" name="Connecteur droit 29">
              <a:extLst>
                <a:ext uri="{FF2B5EF4-FFF2-40B4-BE49-F238E27FC236}">
                  <a16:creationId xmlns:a16="http://schemas.microsoft.com/office/drawing/2014/main" id="{B930F2B4-C25D-86C5-CC09-D4A58F554308}"/>
                </a:ext>
              </a:extLst>
            </p:cNvPr>
            <p:cNvCxnSpPr>
              <a:cxnSpLocks/>
            </p:cNvCxnSpPr>
            <p:nvPr/>
          </p:nvCxnSpPr>
          <p:spPr>
            <a:xfrm flipH="1">
              <a:off x="1461290" y="5465856"/>
              <a:ext cx="1579827" cy="0"/>
            </a:xfrm>
            <a:prstGeom prst="line">
              <a:avLst/>
            </a:prstGeom>
            <a:ln w="57150"/>
          </p:spPr>
          <p:style>
            <a:lnRef idx="1">
              <a:schemeClr val="accent1"/>
            </a:lnRef>
            <a:fillRef idx="0">
              <a:schemeClr val="accent1"/>
            </a:fillRef>
            <a:effectRef idx="0">
              <a:schemeClr val="accent1"/>
            </a:effectRef>
            <a:fontRef idx="minor">
              <a:schemeClr val="tx1"/>
            </a:fontRef>
          </p:style>
        </p:cxnSp>
      </p:grpSp>
      <p:pic>
        <p:nvPicPr>
          <p:cNvPr id="31" name="Graphique 30" descr="Femme non-voyante utilisant un bâton">
            <a:extLst>
              <a:ext uri="{FF2B5EF4-FFF2-40B4-BE49-F238E27FC236}">
                <a16:creationId xmlns:a16="http://schemas.microsoft.com/office/drawing/2014/main" id="{4239F10D-DF5A-44FB-CD1C-353B8B33FB03}"/>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1641659" y="4841718"/>
            <a:ext cx="171489" cy="181618"/>
          </a:xfrm>
          <a:prstGeom prst="rect">
            <a:avLst/>
          </a:prstGeom>
        </p:spPr>
      </p:pic>
      <p:sp>
        <p:nvSpPr>
          <p:cNvPr id="32" name="ZoneTexte 31">
            <a:extLst>
              <a:ext uri="{FF2B5EF4-FFF2-40B4-BE49-F238E27FC236}">
                <a16:creationId xmlns:a16="http://schemas.microsoft.com/office/drawing/2014/main" id="{5D8F14C3-476C-71A1-C0C4-DDD534BC8B10}"/>
              </a:ext>
            </a:extLst>
          </p:cNvPr>
          <p:cNvSpPr txBox="1"/>
          <p:nvPr/>
        </p:nvSpPr>
        <p:spPr>
          <a:xfrm>
            <a:off x="1985163" y="5103171"/>
            <a:ext cx="1195708" cy="707886"/>
          </a:xfrm>
          <a:prstGeom prst="rect">
            <a:avLst/>
          </a:prstGeom>
          <a:noFill/>
        </p:spPr>
        <p:txBody>
          <a:bodyPr wrap="square">
            <a:spAutoFit/>
          </a:bodyPr>
          <a:lstStyle/>
          <a:p>
            <a:r>
              <a:rPr lang="fr-FR" sz="4000" dirty="0"/>
              <a:t>(</a:t>
            </a:r>
            <a:r>
              <a:rPr lang="el-GR" sz="4000" dirty="0"/>
              <a:t>Σ</a:t>
            </a:r>
            <a:r>
              <a:rPr lang="fr-FR" sz="4000" dirty="0"/>
              <a:t>   )</a:t>
            </a:r>
          </a:p>
        </p:txBody>
      </p:sp>
      <p:pic>
        <p:nvPicPr>
          <p:cNvPr id="33" name="Graphique 32" descr="Femme non-voyante utilisant un bâton">
            <a:extLst>
              <a:ext uri="{FF2B5EF4-FFF2-40B4-BE49-F238E27FC236}">
                <a16:creationId xmlns:a16="http://schemas.microsoft.com/office/drawing/2014/main" id="{D45504EC-862C-7517-713C-5F0029B6005C}"/>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l="19626" t="110" r="16666" b="79554"/>
          <a:stretch/>
        </p:blipFill>
        <p:spPr>
          <a:xfrm>
            <a:off x="2465928" y="5322994"/>
            <a:ext cx="273418" cy="289567"/>
          </a:xfrm>
          <a:prstGeom prst="rect">
            <a:avLst/>
          </a:prstGeom>
        </p:spPr>
      </p:pic>
      <p:sp>
        <p:nvSpPr>
          <p:cNvPr id="34" name="ZoneTexte 33">
            <a:extLst>
              <a:ext uri="{FF2B5EF4-FFF2-40B4-BE49-F238E27FC236}">
                <a16:creationId xmlns:a16="http://schemas.microsoft.com/office/drawing/2014/main" id="{D3D1E17A-E031-82CE-E791-183EC72CEA25}"/>
              </a:ext>
            </a:extLst>
          </p:cNvPr>
          <p:cNvSpPr txBox="1"/>
          <p:nvPr/>
        </p:nvSpPr>
        <p:spPr>
          <a:xfrm>
            <a:off x="2893219" y="5187593"/>
            <a:ext cx="330410" cy="276999"/>
          </a:xfrm>
          <a:prstGeom prst="rect">
            <a:avLst/>
          </a:prstGeom>
          <a:noFill/>
        </p:spPr>
        <p:txBody>
          <a:bodyPr wrap="square">
            <a:spAutoFit/>
          </a:bodyPr>
          <a:lstStyle/>
          <a:p>
            <a:pPr marL="0" indent="0">
              <a:buNone/>
            </a:pPr>
            <a:r>
              <a:rPr lang="fr-FR" sz="1200" dirty="0"/>
              <a:t>2</a:t>
            </a:r>
          </a:p>
        </p:txBody>
      </p:sp>
      <p:pic>
        <p:nvPicPr>
          <p:cNvPr id="35" name="Graphique 34" descr="Homme tenant une tasse">
            <a:extLst>
              <a:ext uri="{FF2B5EF4-FFF2-40B4-BE49-F238E27FC236}">
                <a16:creationId xmlns:a16="http://schemas.microsoft.com/office/drawing/2014/main" id="{647014FC-C498-B012-8446-1CAF90740A0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24789" r="38520" b="82583"/>
          <a:stretch/>
        </p:blipFill>
        <p:spPr>
          <a:xfrm>
            <a:off x="1821909" y="4839765"/>
            <a:ext cx="137787" cy="162183"/>
          </a:xfrm>
          <a:prstGeom prst="rect">
            <a:avLst/>
          </a:prstGeom>
        </p:spPr>
      </p:pic>
    </p:spTree>
    <p:extLst>
      <p:ext uri="{BB962C8B-B14F-4D97-AF65-F5344CB8AC3E}">
        <p14:creationId xmlns:p14="http://schemas.microsoft.com/office/powerpoint/2010/main" val="98287177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6057900" cy="1325563"/>
          </a:xfrm>
        </p:spPr>
        <p:txBody>
          <a:bodyPr>
            <a:normAutofit fontScale="90000"/>
          </a:bodyPr>
          <a:lstStyle/>
          <a:p>
            <a:r>
              <a:rPr lang="fr-FR" sz="3200" b="1" dirty="0"/>
              <a:t>Indicateur : </a:t>
            </a:r>
            <a:br>
              <a:rPr lang="fr-FR" sz="3200" b="1" dirty="0"/>
            </a:br>
            <a:r>
              <a:rPr lang="fr-FR" sz="3200" dirty="0"/>
              <a:t>Proportions d’activités par phase (sur base d’historique)</a:t>
            </a:r>
          </a:p>
        </p:txBody>
      </p:sp>
      <p:sp>
        <p:nvSpPr>
          <p:cNvPr id="4" name="Espace réservé du contenu 2">
            <a:extLst>
              <a:ext uri="{FF2B5EF4-FFF2-40B4-BE49-F238E27FC236}">
                <a16:creationId xmlns:a16="http://schemas.microsoft.com/office/drawing/2014/main" id="{B317263D-81CA-817F-121D-2BDFF683A2AF}"/>
              </a:ext>
            </a:extLst>
          </p:cNvPr>
          <p:cNvSpPr txBox="1">
            <a:spLocks/>
          </p:cNvSpPr>
          <p:nvPr/>
        </p:nvSpPr>
        <p:spPr>
          <a:xfrm>
            <a:off x="5314468" y="2195227"/>
            <a:ext cx="2778867" cy="419573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Prérequis</a:t>
            </a:r>
          </a:p>
          <a:p>
            <a:pPr marL="0" indent="0">
              <a:buNone/>
            </a:pPr>
            <a:r>
              <a:rPr lang="fr-FR" sz="1400" dirty="0"/>
              <a:t>Cet indicateur présuppose que la Communauté a déjà un historique significatif en termes d’activité. Il est impossible de l’utiliser tel quel au lancement de la Communauté.</a:t>
            </a:r>
          </a:p>
          <a:p>
            <a:pPr marL="0" indent="0">
              <a:buNone/>
            </a:pPr>
            <a:r>
              <a:rPr lang="fr-FR" sz="1400" dirty="0"/>
              <a:t>Avoir noté le temps que vous avez dédié à différentes sessions de travail collectives ou individuelles.</a:t>
            </a:r>
          </a:p>
          <a:p>
            <a:pPr marL="0" indent="0">
              <a:buNone/>
            </a:pPr>
            <a:r>
              <a:rPr lang="fr-FR" sz="1400" dirty="0"/>
              <a:t>Par exemple, si vous avez fait 10 sessions, et que chaque session était dédiée à une phase particulière du CCC, vous pouvez compter le nombre de sessions dédiées à une phase donnée.</a:t>
            </a:r>
          </a:p>
          <a:p>
            <a:pPr marL="0" indent="0">
              <a:buNone/>
            </a:pPr>
            <a:endParaRPr lang="fr-FR" sz="1400" dirty="0"/>
          </a:p>
          <a:p>
            <a:pPr marL="0" indent="0">
              <a:buNone/>
            </a:pPr>
            <a:endParaRPr lang="fr-FR" sz="1400" dirty="0"/>
          </a:p>
        </p:txBody>
      </p:sp>
      <p:sp>
        <p:nvSpPr>
          <p:cNvPr id="5" name="Espace réservé du contenu 2">
            <a:extLst>
              <a:ext uri="{FF2B5EF4-FFF2-40B4-BE49-F238E27FC236}">
                <a16:creationId xmlns:a16="http://schemas.microsoft.com/office/drawing/2014/main" id="{4821640C-10A5-5DD8-FF58-58024FF34A59}"/>
              </a:ext>
            </a:extLst>
          </p:cNvPr>
          <p:cNvSpPr txBox="1">
            <a:spLocks/>
          </p:cNvSpPr>
          <p:nvPr/>
        </p:nvSpPr>
        <p:spPr>
          <a:xfrm>
            <a:off x="8471214" y="2195227"/>
            <a:ext cx="2778867" cy="4195734"/>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Ce que cet indicateur mesure</a:t>
            </a:r>
          </a:p>
          <a:p>
            <a:pPr marL="0" indent="0">
              <a:buNone/>
            </a:pPr>
            <a:r>
              <a:rPr lang="fr-FR" sz="1400" dirty="0"/>
              <a:t>Cet indicateur mesure pour chaque phase, le temps que la communauté lui a dédié en termes d’activités collectives. On mesure le rapport entre « temps dédié » à une phase donné, avec le temps total.  Pour identifier la phase d’un moment donné, vous pouvez vous aider des tables d’activité ou de contenu.</a:t>
            </a:r>
          </a:p>
          <a:p>
            <a:pPr marL="0" indent="0">
              <a:buNone/>
            </a:pPr>
            <a:r>
              <a:rPr lang="fr-FR" sz="1400" dirty="0"/>
              <a:t>L’usage de cet indicateur présuppose un bon enregistrement des données au fur et à mesure de vos activités, ainsi que suffisamment de données.</a:t>
            </a:r>
          </a:p>
          <a:p>
            <a:pPr marL="0" indent="0">
              <a:buNone/>
            </a:pPr>
            <a:r>
              <a:rPr lang="fr-FR" sz="1400" dirty="0"/>
              <a:t>Cet indicateur vous aidera à identifier des déséquilibres ou bien savoir s’il y a des phases négligées, oubliées.</a:t>
            </a:r>
          </a:p>
        </p:txBody>
      </p:sp>
      <p:sp>
        <p:nvSpPr>
          <p:cNvPr id="42" name="ZoneTexte 41">
            <a:extLst>
              <a:ext uri="{FF2B5EF4-FFF2-40B4-BE49-F238E27FC236}">
                <a16:creationId xmlns:a16="http://schemas.microsoft.com/office/drawing/2014/main" id="{0D8D6BAA-C9C6-1650-696E-024374C3F38B}"/>
              </a:ext>
            </a:extLst>
          </p:cNvPr>
          <p:cNvSpPr txBox="1"/>
          <p:nvPr/>
        </p:nvSpPr>
        <p:spPr>
          <a:xfrm>
            <a:off x="1061223" y="6086364"/>
            <a:ext cx="3612916" cy="646331"/>
          </a:xfrm>
          <a:prstGeom prst="rect">
            <a:avLst/>
          </a:prstGeom>
          <a:noFill/>
        </p:spPr>
        <p:txBody>
          <a:bodyPr wrap="square">
            <a:spAutoFit/>
          </a:bodyPr>
          <a:lstStyle/>
          <a:p>
            <a:pPr marL="0" indent="0">
              <a:buNone/>
            </a:pPr>
            <a:r>
              <a:rPr lang="fr-FR" sz="1200" dirty="0"/>
              <a:t>Somme des temps consacré à des activités d’un niveau de maturité donné / somme totale du temps consacré à la Communauté</a:t>
            </a:r>
          </a:p>
        </p:txBody>
      </p:sp>
      <p:sp>
        <p:nvSpPr>
          <p:cNvPr id="17" name="Bulle narrative : ronde 16">
            <a:extLst>
              <a:ext uri="{FF2B5EF4-FFF2-40B4-BE49-F238E27FC236}">
                <a16:creationId xmlns:a16="http://schemas.microsoft.com/office/drawing/2014/main" id="{9E0E0D7E-34EA-1E57-97A3-3E4761B581F6}"/>
              </a:ext>
            </a:extLst>
          </p:cNvPr>
          <p:cNvSpPr/>
          <p:nvPr/>
        </p:nvSpPr>
        <p:spPr>
          <a:xfrm flipH="1">
            <a:off x="7216347" y="119313"/>
            <a:ext cx="3503256" cy="1099380"/>
          </a:xfrm>
          <a:prstGeom prst="wedgeEllipseCallout">
            <a:avLst>
              <a:gd name="adj1" fmla="val -53689"/>
              <a:gd name="adj2" fmla="val 242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400" b="1" dirty="0">
                <a:solidFill>
                  <a:schemeClr val="tx1"/>
                </a:solidFill>
              </a:rPr>
              <a:t>Quelles phases nous prennent le plus de temps et d’efforts, lesquels nous en prennent le moins ?</a:t>
            </a:r>
          </a:p>
        </p:txBody>
      </p:sp>
      <p:pic>
        <p:nvPicPr>
          <p:cNvPr id="18" name="Graphique 3" descr="Femme portant un tailleur">
            <a:extLst>
              <a:ext uri="{FF2B5EF4-FFF2-40B4-BE49-F238E27FC236}">
                <a16:creationId xmlns:a16="http://schemas.microsoft.com/office/drawing/2014/main" id="{41955F12-5BB6-74E0-87C1-E5E53FB8D15E}"/>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7900"/>
          <a:stretch/>
        </p:blipFill>
        <p:spPr>
          <a:xfrm flipH="1">
            <a:off x="9519412" y="371448"/>
            <a:ext cx="2672588" cy="1668390"/>
          </a:xfrm>
          <a:prstGeom prst="rect">
            <a:avLst/>
          </a:prstGeom>
        </p:spPr>
      </p:pic>
      <p:sp>
        <p:nvSpPr>
          <p:cNvPr id="22" name="Arc partiel 21">
            <a:extLst>
              <a:ext uri="{FF2B5EF4-FFF2-40B4-BE49-F238E27FC236}">
                <a16:creationId xmlns:a16="http://schemas.microsoft.com/office/drawing/2014/main" id="{11540C9C-3B8D-84D4-06B6-59CB274DAB96}"/>
              </a:ext>
            </a:extLst>
          </p:cNvPr>
          <p:cNvSpPr/>
          <p:nvPr/>
        </p:nvSpPr>
        <p:spPr>
          <a:xfrm>
            <a:off x="1666875" y="2519077"/>
            <a:ext cx="2557748" cy="2557748"/>
          </a:xfrm>
          <a:prstGeom prst="pie">
            <a:avLst>
              <a:gd name="adj1" fmla="val 11211586"/>
              <a:gd name="adj2" fmla="val 16200000"/>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3" name="Arc partiel 32">
            <a:extLst>
              <a:ext uri="{FF2B5EF4-FFF2-40B4-BE49-F238E27FC236}">
                <a16:creationId xmlns:a16="http://schemas.microsoft.com/office/drawing/2014/main" id="{8C80C344-3362-69E4-0CF8-A96DDBFA9F5C}"/>
              </a:ext>
            </a:extLst>
          </p:cNvPr>
          <p:cNvSpPr/>
          <p:nvPr/>
        </p:nvSpPr>
        <p:spPr>
          <a:xfrm>
            <a:off x="1666875" y="2519077"/>
            <a:ext cx="2557748" cy="2557748"/>
          </a:xfrm>
          <a:prstGeom prst="pie">
            <a:avLst>
              <a:gd name="adj1" fmla="val 9682690"/>
              <a:gd name="adj2" fmla="val 1120975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34" name="Arc partiel 33">
            <a:extLst>
              <a:ext uri="{FF2B5EF4-FFF2-40B4-BE49-F238E27FC236}">
                <a16:creationId xmlns:a16="http://schemas.microsoft.com/office/drawing/2014/main" id="{21BE4FB4-0CBF-34C2-0A9F-6D4DC93B5D44}"/>
              </a:ext>
            </a:extLst>
          </p:cNvPr>
          <p:cNvSpPr/>
          <p:nvPr/>
        </p:nvSpPr>
        <p:spPr>
          <a:xfrm>
            <a:off x="1666875" y="2519077"/>
            <a:ext cx="2557748" cy="2557748"/>
          </a:xfrm>
          <a:prstGeom prst="pie">
            <a:avLst>
              <a:gd name="adj1" fmla="val 16205698"/>
              <a:gd name="adj2" fmla="val 17363305"/>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5" name="Arc partiel 34">
            <a:extLst>
              <a:ext uri="{FF2B5EF4-FFF2-40B4-BE49-F238E27FC236}">
                <a16:creationId xmlns:a16="http://schemas.microsoft.com/office/drawing/2014/main" id="{1E925986-E351-4110-5695-6A0D8CA74507}"/>
              </a:ext>
            </a:extLst>
          </p:cNvPr>
          <p:cNvSpPr/>
          <p:nvPr/>
        </p:nvSpPr>
        <p:spPr>
          <a:xfrm>
            <a:off x="1666875" y="2519077"/>
            <a:ext cx="2557748" cy="2557748"/>
          </a:xfrm>
          <a:prstGeom prst="pie">
            <a:avLst>
              <a:gd name="adj1" fmla="val 17300939"/>
              <a:gd name="adj2" fmla="val 2051414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36" name="Arc partiel 35">
            <a:extLst>
              <a:ext uri="{FF2B5EF4-FFF2-40B4-BE49-F238E27FC236}">
                <a16:creationId xmlns:a16="http://schemas.microsoft.com/office/drawing/2014/main" id="{6E035B28-8878-1F44-54CA-EC5375749A9B}"/>
              </a:ext>
            </a:extLst>
          </p:cNvPr>
          <p:cNvSpPr/>
          <p:nvPr/>
        </p:nvSpPr>
        <p:spPr>
          <a:xfrm>
            <a:off x="1666875" y="2519077"/>
            <a:ext cx="2557748" cy="2557748"/>
          </a:xfrm>
          <a:prstGeom prst="pie">
            <a:avLst>
              <a:gd name="adj1" fmla="val 20497350"/>
              <a:gd name="adj2" fmla="val 542689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37" name="Arc partiel 36">
            <a:extLst>
              <a:ext uri="{FF2B5EF4-FFF2-40B4-BE49-F238E27FC236}">
                <a16:creationId xmlns:a16="http://schemas.microsoft.com/office/drawing/2014/main" id="{58788209-2694-13CC-D968-A61872692AEF}"/>
              </a:ext>
            </a:extLst>
          </p:cNvPr>
          <p:cNvSpPr/>
          <p:nvPr/>
        </p:nvSpPr>
        <p:spPr>
          <a:xfrm>
            <a:off x="1666875" y="2519077"/>
            <a:ext cx="2557748" cy="2557748"/>
          </a:xfrm>
          <a:prstGeom prst="pie">
            <a:avLst>
              <a:gd name="adj1" fmla="val 7414533"/>
              <a:gd name="adj2" fmla="val 9697403"/>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38" name="Arc partiel 37">
            <a:extLst>
              <a:ext uri="{FF2B5EF4-FFF2-40B4-BE49-F238E27FC236}">
                <a16:creationId xmlns:a16="http://schemas.microsoft.com/office/drawing/2014/main" id="{D904A53F-01C6-5067-A75E-1C5A75F68FCD}"/>
              </a:ext>
            </a:extLst>
          </p:cNvPr>
          <p:cNvSpPr/>
          <p:nvPr/>
        </p:nvSpPr>
        <p:spPr>
          <a:xfrm>
            <a:off x="1666875" y="2519077"/>
            <a:ext cx="2557748" cy="2557748"/>
          </a:xfrm>
          <a:prstGeom prst="pie">
            <a:avLst>
              <a:gd name="adj1" fmla="val 5430695"/>
              <a:gd name="adj2" fmla="val 741616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52" name="Espace réservé du texte 15">
            <a:extLst>
              <a:ext uri="{FF2B5EF4-FFF2-40B4-BE49-F238E27FC236}">
                <a16:creationId xmlns:a16="http://schemas.microsoft.com/office/drawing/2014/main" id="{E3F2ACCF-70CF-0B1E-B246-E9CF34F206FF}"/>
              </a:ext>
            </a:extLst>
          </p:cNvPr>
          <p:cNvSpPr txBox="1">
            <a:spLocks/>
          </p:cNvSpPr>
          <p:nvPr/>
        </p:nvSpPr>
        <p:spPr>
          <a:xfrm>
            <a:off x="1364914" y="2542689"/>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dirty="0">
                <a:solidFill>
                  <a:srgbClr val="ED7D31"/>
                </a:solidFill>
              </a:rPr>
              <a:t>INSPIRATION</a:t>
            </a:r>
          </a:p>
          <a:p>
            <a:pPr marL="0" indent="0" algn="ctr">
              <a:buFont typeface="Arial" panose="020B0604020202020204" pitchFamily="34" charset="0"/>
              <a:buNone/>
            </a:pPr>
            <a:endParaRPr lang="fr-FR" sz="600" b="1" i="1" dirty="0">
              <a:solidFill>
                <a:srgbClr val="ED7D31"/>
              </a:solidFill>
            </a:endParaRPr>
          </a:p>
        </p:txBody>
      </p:sp>
      <p:sp>
        <p:nvSpPr>
          <p:cNvPr id="54" name="Espace réservé du texte 15">
            <a:extLst>
              <a:ext uri="{FF2B5EF4-FFF2-40B4-BE49-F238E27FC236}">
                <a16:creationId xmlns:a16="http://schemas.microsoft.com/office/drawing/2014/main" id="{AE0B53A8-BD1D-BAF2-D60C-AC30B172ED12}"/>
              </a:ext>
            </a:extLst>
          </p:cNvPr>
          <p:cNvSpPr txBox="1">
            <a:spLocks/>
          </p:cNvSpPr>
          <p:nvPr/>
        </p:nvSpPr>
        <p:spPr>
          <a:xfrm>
            <a:off x="2853336" y="2250864"/>
            <a:ext cx="760596" cy="222361"/>
          </a:xfrm>
          <a:prstGeom prst="rect">
            <a:avLst/>
          </a:prstGeom>
          <a:solidFill>
            <a:schemeClr val="tx1"/>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dirty="0">
                <a:solidFill>
                  <a:schemeClr val="bg1"/>
                </a:solidFill>
              </a:rPr>
              <a:t>COLLECTE</a:t>
            </a:r>
          </a:p>
          <a:p>
            <a:pPr marL="0" indent="0" algn="ctr">
              <a:buFont typeface="Arial" panose="020B0604020202020204" pitchFamily="34" charset="0"/>
              <a:buNone/>
            </a:pPr>
            <a:endParaRPr lang="fr-FR" sz="600" b="1" i="1" dirty="0">
              <a:solidFill>
                <a:schemeClr val="bg1"/>
              </a:solidFill>
            </a:endParaRPr>
          </a:p>
        </p:txBody>
      </p:sp>
      <p:sp>
        <p:nvSpPr>
          <p:cNvPr id="55" name="Espace réservé du texte 15">
            <a:extLst>
              <a:ext uri="{FF2B5EF4-FFF2-40B4-BE49-F238E27FC236}">
                <a16:creationId xmlns:a16="http://schemas.microsoft.com/office/drawing/2014/main" id="{52653E53-C1E2-F46D-3303-2BD982293E26}"/>
              </a:ext>
            </a:extLst>
          </p:cNvPr>
          <p:cNvSpPr txBox="1">
            <a:spLocks/>
          </p:cNvSpPr>
          <p:nvPr/>
        </p:nvSpPr>
        <p:spPr>
          <a:xfrm>
            <a:off x="3920596" y="2624840"/>
            <a:ext cx="760596" cy="222361"/>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t>INITIATION</a:t>
            </a:r>
          </a:p>
          <a:p>
            <a:pPr marL="0" indent="0" algn="ctr">
              <a:buFont typeface="Arial" panose="020B0604020202020204" pitchFamily="34" charset="0"/>
              <a:buNone/>
            </a:pPr>
            <a:endParaRPr lang="fr-FR" sz="600" b="1" i="1"/>
          </a:p>
        </p:txBody>
      </p:sp>
      <p:sp>
        <p:nvSpPr>
          <p:cNvPr id="56" name="Espace réservé du texte 15">
            <a:extLst>
              <a:ext uri="{FF2B5EF4-FFF2-40B4-BE49-F238E27FC236}">
                <a16:creationId xmlns:a16="http://schemas.microsoft.com/office/drawing/2014/main" id="{7DB5C48C-1276-457F-05C3-A09979001C80}"/>
              </a:ext>
            </a:extLst>
          </p:cNvPr>
          <p:cNvSpPr txBox="1">
            <a:spLocks/>
          </p:cNvSpPr>
          <p:nvPr/>
        </p:nvSpPr>
        <p:spPr>
          <a:xfrm>
            <a:off x="4134963" y="4580656"/>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FF0000"/>
                </a:solidFill>
              </a:rPr>
              <a:t>CHOC DE LA RÉALITÉ</a:t>
            </a:r>
          </a:p>
          <a:p>
            <a:pPr marL="0" indent="0" algn="ctr">
              <a:buFont typeface="Arial" panose="020B0604020202020204" pitchFamily="34" charset="0"/>
              <a:buNone/>
            </a:pPr>
            <a:endParaRPr lang="fr-FR" sz="600" b="1" i="1">
              <a:solidFill>
                <a:srgbClr val="FF0000"/>
              </a:solidFill>
            </a:endParaRPr>
          </a:p>
        </p:txBody>
      </p:sp>
      <p:sp>
        <p:nvSpPr>
          <p:cNvPr id="57" name="Espace réservé du texte 15">
            <a:extLst>
              <a:ext uri="{FF2B5EF4-FFF2-40B4-BE49-F238E27FC236}">
                <a16:creationId xmlns:a16="http://schemas.microsoft.com/office/drawing/2014/main" id="{AA86C5DE-E6CE-1EA7-06A9-614FBE8666B8}"/>
              </a:ext>
            </a:extLst>
          </p:cNvPr>
          <p:cNvSpPr txBox="1">
            <a:spLocks/>
          </p:cNvSpPr>
          <p:nvPr/>
        </p:nvSpPr>
        <p:spPr>
          <a:xfrm>
            <a:off x="2125510" y="5552278"/>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0B050"/>
                </a:solidFill>
              </a:rPr>
              <a:t>CONFIRMATION DE RÉUSSITES</a:t>
            </a:r>
          </a:p>
        </p:txBody>
      </p:sp>
      <p:sp>
        <p:nvSpPr>
          <p:cNvPr id="58" name="Espace réservé du texte 15">
            <a:extLst>
              <a:ext uri="{FF2B5EF4-FFF2-40B4-BE49-F238E27FC236}">
                <a16:creationId xmlns:a16="http://schemas.microsoft.com/office/drawing/2014/main" id="{03284805-17E2-7589-52FE-FA1EEA9B356B}"/>
              </a:ext>
            </a:extLst>
          </p:cNvPr>
          <p:cNvSpPr txBox="1">
            <a:spLocks/>
          </p:cNvSpPr>
          <p:nvPr/>
        </p:nvSpPr>
        <p:spPr>
          <a:xfrm>
            <a:off x="1212472" y="4804118"/>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t>EXPOSITION</a:t>
            </a:r>
          </a:p>
        </p:txBody>
      </p:sp>
      <p:sp>
        <p:nvSpPr>
          <p:cNvPr id="59" name="Espace réservé du texte 15">
            <a:extLst>
              <a:ext uri="{FF2B5EF4-FFF2-40B4-BE49-F238E27FC236}">
                <a16:creationId xmlns:a16="http://schemas.microsoft.com/office/drawing/2014/main" id="{170FE87E-7839-50AF-597C-D72FCB69B417}"/>
              </a:ext>
            </a:extLst>
          </p:cNvPr>
          <p:cNvSpPr txBox="1">
            <a:spLocks/>
          </p:cNvSpPr>
          <p:nvPr/>
        </p:nvSpPr>
        <p:spPr>
          <a:xfrm>
            <a:off x="756694" y="4012849"/>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dirty="0">
                <a:solidFill>
                  <a:srgbClr val="0683AA"/>
                </a:solidFill>
              </a:rPr>
              <a:t>FORTIFICATION</a:t>
            </a:r>
          </a:p>
          <a:p>
            <a:pPr marL="0" indent="0" algn="ctr">
              <a:buFont typeface="Arial" panose="020B0604020202020204" pitchFamily="34" charset="0"/>
              <a:buNone/>
            </a:pPr>
            <a:endParaRPr lang="fr-FR" sz="600" b="1" i="1" dirty="0">
              <a:solidFill>
                <a:srgbClr val="ED7D31"/>
              </a:solidFill>
            </a:endParaRPr>
          </a:p>
        </p:txBody>
      </p:sp>
      <p:pic>
        <p:nvPicPr>
          <p:cNvPr id="43" name="Graphique 42" descr="Ampoule avec un remplissage uni">
            <a:extLst>
              <a:ext uri="{FF2B5EF4-FFF2-40B4-BE49-F238E27FC236}">
                <a16:creationId xmlns:a16="http://schemas.microsoft.com/office/drawing/2014/main" id="{6B8A99F0-3F06-5ED1-FF5D-34090012BAF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9615" y="2092582"/>
            <a:ext cx="431194" cy="410275"/>
          </a:xfrm>
          <a:prstGeom prst="rect">
            <a:avLst/>
          </a:prstGeom>
        </p:spPr>
      </p:pic>
      <p:pic>
        <p:nvPicPr>
          <p:cNvPr id="44" name="Graphique 43" descr="Seau et pelle avec un remplissage uni">
            <a:extLst>
              <a:ext uri="{FF2B5EF4-FFF2-40B4-BE49-F238E27FC236}">
                <a16:creationId xmlns:a16="http://schemas.microsoft.com/office/drawing/2014/main" id="{9E95CFAA-0C66-0C5A-7C31-6333C313677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018036" y="1800757"/>
            <a:ext cx="431194" cy="410275"/>
          </a:xfrm>
          <a:prstGeom prst="rect">
            <a:avLst/>
          </a:prstGeom>
        </p:spPr>
      </p:pic>
      <p:pic>
        <p:nvPicPr>
          <p:cNvPr id="45" name="Graphique 44" descr="Tubes à essai avec un remplissage uni">
            <a:extLst>
              <a:ext uri="{FF2B5EF4-FFF2-40B4-BE49-F238E27FC236}">
                <a16:creationId xmlns:a16="http://schemas.microsoft.com/office/drawing/2014/main" id="{B17A3EDC-C9DF-1D6F-2041-92852F2A591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083902" y="2174733"/>
            <a:ext cx="431194" cy="410275"/>
          </a:xfrm>
          <a:prstGeom prst="rect">
            <a:avLst/>
          </a:prstGeom>
        </p:spPr>
      </p:pic>
      <p:pic>
        <p:nvPicPr>
          <p:cNvPr id="46" name="Graphique 45" descr="Explosion avec un remplissage uni">
            <a:extLst>
              <a:ext uri="{FF2B5EF4-FFF2-40B4-BE49-F238E27FC236}">
                <a16:creationId xmlns:a16="http://schemas.microsoft.com/office/drawing/2014/main" id="{8367281D-1089-D643-C8B1-4C5B6B304CB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299499" y="4130548"/>
            <a:ext cx="431194" cy="410275"/>
          </a:xfrm>
          <a:prstGeom prst="rect">
            <a:avLst/>
          </a:prstGeom>
        </p:spPr>
      </p:pic>
      <p:pic>
        <p:nvPicPr>
          <p:cNvPr id="47" name="Graphique 46" descr="Trophée avec un remplissage uni">
            <a:extLst>
              <a:ext uri="{FF2B5EF4-FFF2-40B4-BE49-F238E27FC236}">
                <a16:creationId xmlns:a16="http://schemas.microsoft.com/office/drawing/2014/main" id="{A536C91A-E850-0CA3-38A0-C0ED22F0F22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291277" y="5102171"/>
            <a:ext cx="431194" cy="410275"/>
          </a:xfrm>
          <a:prstGeom prst="rect">
            <a:avLst/>
          </a:prstGeom>
        </p:spPr>
      </p:pic>
      <p:pic>
        <p:nvPicPr>
          <p:cNvPr id="49" name="Graphique 48" descr="Assiette couverte avec un remplissage uni">
            <a:extLst>
              <a:ext uri="{FF2B5EF4-FFF2-40B4-BE49-F238E27FC236}">
                <a16:creationId xmlns:a16="http://schemas.microsoft.com/office/drawing/2014/main" id="{F534D0A5-B07A-52D5-F7F7-103ED0D3531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376843" y="4354011"/>
            <a:ext cx="431194" cy="410275"/>
          </a:xfrm>
          <a:prstGeom prst="rect">
            <a:avLst/>
          </a:prstGeom>
        </p:spPr>
      </p:pic>
      <p:pic>
        <p:nvPicPr>
          <p:cNvPr id="50" name="Graphique 49" descr="Scène de château avec un remplissage uni">
            <a:extLst>
              <a:ext uri="{FF2B5EF4-FFF2-40B4-BE49-F238E27FC236}">
                <a16:creationId xmlns:a16="http://schemas.microsoft.com/office/drawing/2014/main" id="{AE08FD44-4D98-37E1-504C-81419070624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20000" y="3562742"/>
            <a:ext cx="431194" cy="410275"/>
          </a:xfrm>
          <a:prstGeom prst="rect">
            <a:avLst/>
          </a:prstGeom>
        </p:spPr>
      </p:pic>
    </p:spTree>
    <p:extLst>
      <p:ext uri="{BB962C8B-B14F-4D97-AF65-F5344CB8AC3E}">
        <p14:creationId xmlns:p14="http://schemas.microsoft.com/office/powerpoint/2010/main" val="8329963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4238453" cy="1325563"/>
          </a:xfrm>
        </p:spPr>
        <p:txBody>
          <a:bodyPr>
            <a:noAutofit/>
          </a:bodyPr>
          <a:lstStyle/>
          <a:p>
            <a:r>
              <a:rPr lang="fr-FR" sz="2400" b="1"/>
              <a:t>Indicateur : </a:t>
            </a:r>
            <a:br>
              <a:rPr lang="fr-FR" sz="2400" b="1" dirty="0"/>
            </a:br>
            <a:r>
              <a:rPr lang="fr-FR" sz="2400" dirty="0"/>
              <a:t>Proportions d’activités par phase (sur base d’historique)</a:t>
            </a:r>
          </a:p>
        </p:txBody>
      </p:sp>
      <p:sp>
        <p:nvSpPr>
          <p:cNvPr id="6" name="Espace réservé du contenu 2">
            <a:extLst>
              <a:ext uri="{FF2B5EF4-FFF2-40B4-BE49-F238E27FC236}">
                <a16:creationId xmlns:a16="http://schemas.microsoft.com/office/drawing/2014/main" id="{7A5F284E-8DB5-883C-C3E9-77D50DA8AF3C}"/>
              </a:ext>
            </a:extLst>
          </p:cNvPr>
          <p:cNvSpPr txBox="1">
            <a:spLocks/>
          </p:cNvSpPr>
          <p:nvPr/>
        </p:nvSpPr>
        <p:spPr>
          <a:xfrm>
            <a:off x="5076653" y="1244602"/>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la proportion d’une phase particulière est très élevée</a:t>
            </a:r>
          </a:p>
          <a:p>
            <a:pPr marL="0" indent="0">
              <a:buNone/>
            </a:pPr>
            <a:r>
              <a:rPr lang="fr-FR" sz="1400" dirty="0"/>
              <a:t>Cela peut être signe de : Habitude d’activité bien ancrée chez les membres, </a:t>
            </a:r>
          </a:p>
          <a:p>
            <a:pPr marL="0" indent="0">
              <a:buNone/>
            </a:pPr>
            <a:r>
              <a:rPr lang="fr-FR" sz="1400" dirty="0"/>
              <a:t>On peut alors choisir de : faire le point sur les buts, prendre plus le temps de définir des formats (ou d’en chercher) ou des parcours</a:t>
            </a:r>
          </a:p>
          <a:p>
            <a:pPr marL="0" indent="0">
              <a:buNone/>
            </a:pPr>
            <a:endParaRPr lang="fr-FR" sz="1800" b="1" dirty="0"/>
          </a:p>
        </p:txBody>
      </p:sp>
      <p:sp>
        <p:nvSpPr>
          <p:cNvPr id="7" name="Espace réservé du contenu 2">
            <a:extLst>
              <a:ext uri="{FF2B5EF4-FFF2-40B4-BE49-F238E27FC236}">
                <a16:creationId xmlns:a16="http://schemas.microsoft.com/office/drawing/2014/main" id="{77EE0546-B732-AAD8-C932-7E1C9E33186F}"/>
              </a:ext>
            </a:extLst>
          </p:cNvPr>
          <p:cNvSpPr txBox="1">
            <a:spLocks/>
          </p:cNvSpPr>
          <p:nvPr/>
        </p:nvSpPr>
        <p:spPr>
          <a:xfrm>
            <a:off x="5076653" y="3087689"/>
            <a:ext cx="5411692" cy="1633537"/>
          </a:xfrm>
          <a:prstGeom prst="rect">
            <a:avLst/>
          </a:prstGeom>
          <a:solidFill>
            <a:schemeClr val="bg1">
              <a:lumMod val="95000"/>
            </a:schemeClr>
          </a:solidFill>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Si la proportion d’une phase particulière est très basse</a:t>
            </a:r>
          </a:p>
          <a:p>
            <a:pPr marL="0" indent="0" algn="just">
              <a:buNone/>
            </a:pPr>
            <a:r>
              <a:rPr lang="fr-FR" sz="1400" dirty="0"/>
              <a:t>Cela peut être signe de : cette phase est absente des objectifs, cette phase est déjà acquise pour la plupart des sujets, cette phase est structurellement plus rapide ou déjà optimisée, cette phase est négligée</a:t>
            </a:r>
          </a:p>
          <a:p>
            <a:pPr marL="0" indent="0">
              <a:buNone/>
            </a:pPr>
            <a:endParaRPr lang="fr-FR" sz="1400" dirty="0"/>
          </a:p>
          <a:p>
            <a:pPr marL="0" indent="0">
              <a:buNone/>
            </a:pPr>
            <a:r>
              <a:rPr lang="fr-FR" sz="1400" dirty="0"/>
              <a:t>On peut alors choisir de : Analyser ce qui est fait plus en détail à cette phase</a:t>
            </a:r>
          </a:p>
          <a:p>
            <a:pPr marL="0" indent="0">
              <a:buNone/>
            </a:pPr>
            <a:endParaRPr lang="fr-FR" sz="1800" b="1" dirty="0"/>
          </a:p>
          <a:p>
            <a:pPr marL="0" indent="0">
              <a:buNone/>
            </a:pPr>
            <a:endParaRPr lang="fr-FR" sz="1800" b="1" dirty="0"/>
          </a:p>
        </p:txBody>
      </p:sp>
      <p:sp>
        <p:nvSpPr>
          <p:cNvPr id="8" name="Espace réservé du contenu 2">
            <a:extLst>
              <a:ext uri="{FF2B5EF4-FFF2-40B4-BE49-F238E27FC236}">
                <a16:creationId xmlns:a16="http://schemas.microsoft.com/office/drawing/2014/main" id="{508FB5AD-E442-258F-6B6E-1E9D5F12352F}"/>
              </a:ext>
            </a:extLst>
          </p:cNvPr>
          <p:cNvSpPr txBox="1">
            <a:spLocks/>
          </p:cNvSpPr>
          <p:nvPr/>
        </p:nvSpPr>
        <p:spPr>
          <a:xfrm>
            <a:off x="5076653" y="4926013"/>
            <a:ext cx="5411692" cy="1633537"/>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dirty="0"/>
              <a:t>Quelques idées d’usage ou variantes</a:t>
            </a:r>
          </a:p>
          <a:p>
            <a:pPr marL="0" indent="0">
              <a:buNone/>
            </a:pPr>
            <a:endParaRPr lang="fr-FR" sz="1400" dirty="0"/>
          </a:p>
          <a:p>
            <a:pPr marL="0" indent="0">
              <a:buNone/>
            </a:pPr>
            <a:endParaRPr lang="fr-FR" sz="1400" dirty="0"/>
          </a:p>
          <a:p>
            <a:pPr marL="0" indent="0">
              <a:buNone/>
            </a:pPr>
            <a:endParaRPr lang="fr-FR" sz="1400" dirty="0"/>
          </a:p>
          <a:p>
            <a:pPr marL="0" indent="0">
              <a:buNone/>
            </a:pPr>
            <a:endParaRPr lang="fr-FR" sz="1800" b="1" dirty="0"/>
          </a:p>
          <a:p>
            <a:pPr marL="0" indent="0">
              <a:buNone/>
            </a:pPr>
            <a:endParaRPr lang="fr-FR" sz="1800" b="1" dirty="0"/>
          </a:p>
        </p:txBody>
      </p:sp>
      <p:sp>
        <p:nvSpPr>
          <p:cNvPr id="3" name="Arc partiel 2">
            <a:extLst>
              <a:ext uri="{FF2B5EF4-FFF2-40B4-BE49-F238E27FC236}">
                <a16:creationId xmlns:a16="http://schemas.microsoft.com/office/drawing/2014/main" id="{22B172CE-2C80-FBE9-84F8-1A41663AA09D}"/>
              </a:ext>
            </a:extLst>
          </p:cNvPr>
          <p:cNvSpPr/>
          <p:nvPr/>
        </p:nvSpPr>
        <p:spPr>
          <a:xfrm>
            <a:off x="1666875" y="2519077"/>
            <a:ext cx="2557748" cy="2557748"/>
          </a:xfrm>
          <a:prstGeom prst="pie">
            <a:avLst>
              <a:gd name="adj1" fmla="val 11211586"/>
              <a:gd name="adj2" fmla="val 16200000"/>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4" name="Arc partiel 3">
            <a:extLst>
              <a:ext uri="{FF2B5EF4-FFF2-40B4-BE49-F238E27FC236}">
                <a16:creationId xmlns:a16="http://schemas.microsoft.com/office/drawing/2014/main" id="{9B39AC45-2DAF-7001-DC96-11CD1813B111}"/>
              </a:ext>
            </a:extLst>
          </p:cNvPr>
          <p:cNvSpPr/>
          <p:nvPr/>
        </p:nvSpPr>
        <p:spPr>
          <a:xfrm>
            <a:off x="1666875" y="2519077"/>
            <a:ext cx="2557748" cy="2557748"/>
          </a:xfrm>
          <a:prstGeom prst="pie">
            <a:avLst>
              <a:gd name="adj1" fmla="val 9682690"/>
              <a:gd name="adj2" fmla="val 1120975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5" name="Arc partiel 4">
            <a:extLst>
              <a:ext uri="{FF2B5EF4-FFF2-40B4-BE49-F238E27FC236}">
                <a16:creationId xmlns:a16="http://schemas.microsoft.com/office/drawing/2014/main" id="{5C1A6DE5-457F-9988-61CA-D6B094487863}"/>
              </a:ext>
            </a:extLst>
          </p:cNvPr>
          <p:cNvSpPr/>
          <p:nvPr/>
        </p:nvSpPr>
        <p:spPr>
          <a:xfrm>
            <a:off x="1666875" y="2519077"/>
            <a:ext cx="2557748" cy="2557748"/>
          </a:xfrm>
          <a:prstGeom prst="pie">
            <a:avLst>
              <a:gd name="adj1" fmla="val 16205698"/>
              <a:gd name="adj2" fmla="val 17363305"/>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Arc partiel 8">
            <a:extLst>
              <a:ext uri="{FF2B5EF4-FFF2-40B4-BE49-F238E27FC236}">
                <a16:creationId xmlns:a16="http://schemas.microsoft.com/office/drawing/2014/main" id="{EA981C65-5318-EA71-83E4-E2A0C960699A}"/>
              </a:ext>
            </a:extLst>
          </p:cNvPr>
          <p:cNvSpPr/>
          <p:nvPr/>
        </p:nvSpPr>
        <p:spPr>
          <a:xfrm>
            <a:off x="1666875" y="2519077"/>
            <a:ext cx="2557748" cy="2557748"/>
          </a:xfrm>
          <a:prstGeom prst="pie">
            <a:avLst>
              <a:gd name="adj1" fmla="val 17300939"/>
              <a:gd name="adj2" fmla="val 2051414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10" name="Arc partiel 9">
            <a:extLst>
              <a:ext uri="{FF2B5EF4-FFF2-40B4-BE49-F238E27FC236}">
                <a16:creationId xmlns:a16="http://schemas.microsoft.com/office/drawing/2014/main" id="{4E2C69F9-AD0D-C2CC-F5F2-D7BBE2985A86}"/>
              </a:ext>
            </a:extLst>
          </p:cNvPr>
          <p:cNvSpPr/>
          <p:nvPr/>
        </p:nvSpPr>
        <p:spPr>
          <a:xfrm>
            <a:off x="1666875" y="2519077"/>
            <a:ext cx="2557748" cy="2557748"/>
          </a:xfrm>
          <a:prstGeom prst="pie">
            <a:avLst>
              <a:gd name="adj1" fmla="val 20497350"/>
              <a:gd name="adj2" fmla="val 542689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11" name="Arc partiel 10">
            <a:extLst>
              <a:ext uri="{FF2B5EF4-FFF2-40B4-BE49-F238E27FC236}">
                <a16:creationId xmlns:a16="http://schemas.microsoft.com/office/drawing/2014/main" id="{27EED4DA-CBA6-886B-ADFB-564264B21937}"/>
              </a:ext>
            </a:extLst>
          </p:cNvPr>
          <p:cNvSpPr/>
          <p:nvPr/>
        </p:nvSpPr>
        <p:spPr>
          <a:xfrm>
            <a:off x="1666875" y="2519077"/>
            <a:ext cx="2557748" cy="2557748"/>
          </a:xfrm>
          <a:prstGeom prst="pie">
            <a:avLst>
              <a:gd name="adj1" fmla="val 7414533"/>
              <a:gd name="adj2" fmla="val 9697403"/>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12" name="Arc partiel 11">
            <a:extLst>
              <a:ext uri="{FF2B5EF4-FFF2-40B4-BE49-F238E27FC236}">
                <a16:creationId xmlns:a16="http://schemas.microsoft.com/office/drawing/2014/main" id="{A025ACDC-4F0F-5756-F410-E985ED2819E1}"/>
              </a:ext>
            </a:extLst>
          </p:cNvPr>
          <p:cNvSpPr/>
          <p:nvPr/>
        </p:nvSpPr>
        <p:spPr>
          <a:xfrm>
            <a:off x="1666875" y="2519077"/>
            <a:ext cx="2557748" cy="2557748"/>
          </a:xfrm>
          <a:prstGeom prst="pie">
            <a:avLst>
              <a:gd name="adj1" fmla="val 5430695"/>
              <a:gd name="adj2" fmla="val 741616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13" name="Espace réservé du texte 15">
            <a:extLst>
              <a:ext uri="{FF2B5EF4-FFF2-40B4-BE49-F238E27FC236}">
                <a16:creationId xmlns:a16="http://schemas.microsoft.com/office/drawing/2014/main" id="{75E8B081-F537-F447-E56D-4A6C3CA3BEC8}"/>
              </a:ext>
            </a:extLst>
          </p:cNvPr>
          <p:cNvSpPr txBox="1">
            <a:spLocks/>
          </p:cNvSpPr>
          <p:nvPr/>
        </p:nvSpPr>
        <p:spPr>
          <a:xfrm>
            <a:off x="1364914" y="2542689"/>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dirty="0">
                <a:solidFill>
                  <a:srgbClr val="ED7D31"/>
                </a:solidFill>
              </a:rPr>
              <a:t>INSPIRATION</a:t>
            </a:r>
          </a:p>
          <a:p>
            <a:pPr marL="0" indent="0" algn="ctr">
              <a:buFont typeface="Arial" panose="020B0604020202020204" pitchFamily="34" charset="0"/>
              <a:buNone/>
            </a:pPr>
            <a:endParaRPr lang="fr-FR" sz="600" b="1" i="1" dirty="0">
              <a:solidFill>
                <a:srgbClr val="ED7D31"/>
              </a:solidFill>
            </a:endParaRPr>
          </a:p>
        </p:txBody>
      </p:sp>
      <p:sp>
        <p:nvSpPr>
          <p:cNvPr id="14" name="Espace réservé du texte 15">
            <a:extLst>
              <a:ext uri="{FF2B5EF4-FFF2-40B4-BE49-F238E27FC236}">
                <a16:creationId xmlns:a16="http://schemas.microsoft.com/office/drawing/2014/main" id="{586918C9-A44B-377E-A4BB-888AF60B1406}"/>
              </a:ext>
            </a:extLst>
          </p:cNvPr>
          <p:cNvSpPr txBox="1">
            <a:spLocks/>
          </p:cNvSpPr>
          <p:nvPr/>
        </p:nvSpPr>
        <p:spPr>
          <a:xfrm>
            <a:off x="2853336" y="2250864"/>
            <a:ext cx="760596" cy="222361"/>
          </a:xfrm>
          <a:prstGeom prst="rect">
            <a:avLst/>
          </a:prstGeom>
          <a:solidFill>
            <a:schemeClr val="tx1"/>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dirty="0">
                <a:solidFill>
                  <a:schemeClr val="bg1"/>
                </a:solidFill>
              </a:rPr>
              <a:t>COLLECTE</a:t>
            </a:r>
          </a:p>
          <a:p>
            <a:pPr marL="0" indent="0" algn="ctr">
              <a:buFont typeface="Arial" panose="020B0604020202020204" pitchFamily="34" charset="0"/>
              <a:buNone/>
            </a:pPr>
            <a:endParaRPr lang="fr-FR" sz="600" b="1" i="1" dirty="0">
              <a:solidFill>
                <a:schemeClr val="bg1"/>
              </a:solidFill>
            </a:endParaRPr>
          </a:p>
        </p:txBody>
      </p:sp>
      <p:sp>
        <p:nvSpPr>
          <p:cNvPr id="15" name="Espace réservé du texte 15">
            <a:extLst>
              <a:ext uri="{FF2B5EF4-FFF2-40B4-BE49-F238E27FC236}">
                <a16:creationId xmlns:a16="http://schemas.microsoft.com/office/drawing/2014/main" id="{E426CAFE-C684-6DA9-402B-D25DEE1FECB7}"/>
              </a:ext>
            </a:extLst>
          </p:cNvPr>
          <p:cNvSpPr txBox="1">
            <a:spLocks/>
          </p:cNvSpPr>
          <p:nvPr/>
        </p:nvSpPr>
        <p:spPr>
          <a:xfrm>
            <a:off x="3920596" y="2624840"/>
            <a:ext cx="760596" cy="222361"/>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t>INITIATION</a:t>
            </a:r>
          </a:p>
          <a:p>
            <a:pPr marL="0" indent="0" algn="ctr">
              <a:buFont typeface="Arial" panose="020B0604020202020204" pitchFamily="34" charset="0"/>
              <a:buNone/>
            </a:pPr>
            <a:endParaRPr lang="fr-FR" sz="600" b="1" i="1"/>
          </a:p>
        </p:txBody>
      </p:sp>
      <p:sp>
        <p:nvSpPr>
          <p:cNvPr id="16" name="Espace réservé du texte 15">
            <a:extLst>
              <a:ext uri="{FF2B5EF4-FFF2-40B4-BE49-F238E27FC236}">
                <a16:creationId xmlns:a16="http://schemas.microsoft.com/office/drawing/2014/main" id="{B442A39C-E5E8-7B7E-BD8E-A9E7B2AB12F8}"/>
              </a:ext>
            </a:extLst>
          </p:cNvPr>
          <p:cNvSpPr txBox="1">
            <a:spLocks/>
          </p:cNvSpPr>
          <p:nvPr/>
        </p:nvSpPr>
        <p:spPr>
          <a:xfrm>
            <a:off x="4134963" y="4580656"/>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FF0000"/>
                </a:solidFill>
              </a:rPr>
              <a:t>CHOC DE LA RÉALITÉ</a:t>
            </a:r>
          </a:p>
          <a:p>
            <a:pPr marL="0" indent="0" algn="ctr">
              <a:buFont typeface="Arial" panose="020B0604020202020204" pitchFamily="34" charset="0"/>
              <a:buNone/>
            </a:pPr>
            <a:endParaRPr lang="fr-FR" sz="600" b="1" i="1">
              <a:solidFill>
                <a:srgbClr val="FF0000"/>
              </a:solidFill>
            </a:endParaRPr>
          </a:p>
        </p:txBody>
      </p:sp>
      <p:sp>
        <p:nvSpPr>
          <p:cNvPr id="17" name="Espace réservé du texte 15">
            <a:extLst>
              <a:ext uri="{FF2B5EF4-FFF2-40B4-BE49-F238E27FC236}">
                <a16:creationId xmlns:a16="http://schemas.microsoft.com/office/drawing/2014/main" id="{E94BE136-5708-7F1E-2C3D-60000BF73816}"/>
              </a:ext>
            </a:extLst>
          </p:cNvPr>
          <p:cNvSpPr txBox="1">
            <a:spLocks/>
          </p:cNvSpPr>
          <p:nvPr/>
        </p:nvSpPr>
        <p:spPr>
          <a:xfrm>
            <a:off x="2125510" y="5552278"/>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solidFill>
                  <a:srgbClr val="00B050"/>
                </a:solidFill>
              </a:rPr>
              <a:t>CONFIRMATION DE RÉUSSITES</a:t>
            </a:r>
          </a:p>
        </p:txBody>
      </p:sp>
      <p:sp>
        <p:nvSpPr>
          <p:cNvPr id="18" name="Espace réservé du texte 15">
            <a:extLst>
              <a:ext uri="{FF2B5EF4-FFF2-40B4-BE49-F238E27FC236}">
                <a16:creationId xmlns:a16="http://schemas.microsoft.com/office/drawing/2014/main" id="{89442841-7FCF-2213-2DA7-49F1D4E377B1}"/>
              </a:ext>
            </a:extLst>
          </p:cNvPr>
          <p:cNvSpPr txBox="1">
            <a:spLocks/>
          </p:cNvSpPr>
          <p:nvPr/>
        </p:nvSpPr>
        <p:spPr>
          <a:xfrm>
            <a:off x="1212472" y="4804118"/>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a:t>EXPOSITION</a:t>
            </a:r>
          </a:p>
        </p:txBody>
      </p:sp>
      <p:sp>
        <p:nvSpPr>
          <p:cNvPr id="19" name="Espace réservé du texte 15">
            <a:extLst>
              <a:ext uri="{FF2B5EF4-FFF2-40B4-BE49-F238E27FC236}">
                <a16:creationId xmlns:a16="http://schemas.microsoft.com/office/drawing/2014/main" id="{D3824218-22D8-FFC9-F21B-26B52688B728}"/>
              </a:ext>
            </a:extLst>
          </p:cNvPr>
          <p:cNvSpPr txBox="1">
            <a:spLocks/>
          </p:cNvSpPr>
          <p:nvPr/>
        </p:nvSpPr>
        <p:spPr>
          <a:xfrm>
            <a:off x="756694" y="4012849"/>
            <a:ext cx="760596" cy="22236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600" b="1" i="1" dirty="0">
                <a:solidFill>
                  <a:srgbClr val="0683AA"/>
                </a:solidFill>
              </a:rPr>
              <a:t>FORTIFICATION</a:t>
            </a:r>
          </a:p>
          <a:p>
            <a:pPr marL="0" indent="0" algn="ctr">
              <a:buFont typeface="Arial" panose="020B0604020202020204" pitchFamily="34" charset="0"/>
              <a:buNone/>
            </a:pPr>
            <a:endParaRPr lang="fr-FR" sz="600" b="1" i="1" dirty="0">
              <a:solidFill>
                <a:srgbClr val="ED7D31"/>
              </a:solidFill>
            </a:endParaRPr>
          </a:p>
        </p:txBody>
      </p:sp>
      <p:pic>
        <p:nvPicPr>
          <p:cNvPr id="20" name="Graphique 19" descr="Ampoule avec un remplissage uni">
            <a:extLst>
              <a:ext uri="{FF2B5EF4-FFF2-40B4-BE49-F238E27FC236}">
                <a16:creationId xmlns:a16="http://schemas.microsoft.com/office/drawing/2014/main" id="{6CA771CC-EB36-7755-FA09-E7DD07CEEE7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9615" y="2092582"/>
            <a:ext cx="431194" cy="410275"/>
          </a:xfrm>
          <a:prstGeom prst="rect">
            <a:avLst/>
          </a:prstGeom>
        </p:spPr>
      </p:pic>
      <p:pic>
        <p:nvPicPr>
          <p:cNvPr id="21" name="Graphique 20" descr="Seau et pelle avec un remplissage uni">
            <a:extLst>
              <a:ext uri="{FF2B5EF4-FFF2-40B4-BE49-F238E27FC236}">
                <a16:creationId xmlns:a16="http://schemas.microsoft.com/office/drawing/2014/main" id="{9AC1CCD4-9EFA-7006-3DB5-57BF59036E0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18036" y="1800757"/>
            <a:ext cx="431194" cy="410275"/>
          </a:xfrm>
          <a:prstGeom prst="rect">
            <a:avLst/>
          </a:prstGeom>
        </p:spPr>
      </p:pic>
      <p:pic>
        <p:nvPicPr>
          <p:cNvPr id="22" name="Graphique 21" descr="Tubes à essai avec un remplissage uni">
            <a:extLst>
              <a:ext uri="{FF2B5EF4-FFF2-40B4-BE49-F238E27FC236}">
                <a16:creationId xmlns:a16="http://schemas.microsoft.com/office/drawing/2014/main" id="{9C3B6379-2710-ED1D-0230-C545305AF7D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83902" y="2174733"/>
            <a:ext cx="431194" cy="410275"/>
          </a:xfrm>
          <a:prstGeom prst="rect">
            <a:avLst/>
          </a:prstGeom>
        </p:spPr>
      </p:pic>
      <p:pic>
        <p:nvPicPr>
          <p:cNvPr id="23" name="Graphique 22" descr="Explosion avec un remplissage uni">
            <a:extLst>
              <a:ext uri="{FF2B5EF4-FFF2-40B4-BE49-F238E27FC236}">
                <a16:creationId xmlns:a16="http://schemas.microsoft.com/office/drawing/2014/main" id="{89F2964E-0BD0-A7B4-AC0A-075F1031F41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299499" y="4130548"/>
            <a:ext cx="431194" cy="410275"/>
          </a:xfrm>
          <a:prstGeom prst="rect">
            <a:avLst/>
          </a:prstGeom>
        </p:spPr>
      </p:pic>
      <p:pic>
        <p:nvPicPr>
          <p:cNvPr id="24" name="Graphique 23" descr="Trophée avec un remplissage uni">
            <a:extLst>
              <a:ext uri="{FF2B5EF4-FFF2-40B4-BE49-F238E27FC236}">
                <a16:creationId xmlns:a16="http://schemas.microsoft.com/office/drawing/2014/main" id="{84D94CB1-616F-C640-45E7-B5F3077A90F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91277" y="5102171"/>
            <a:ext cx="431194" cy="410275"/>
          </a:xfrm>
          <a:prstGeom prst="rect">
            <a:avLst/>
          </a:prstGeom>
        </p:spPr>
      </p:pic>
      <p:pic>
        <p:nvPicPr>
          <p:cNvPr id="25" name="Graphique 24" descr="Assiette couverte avec un remplissage uni">
            <a:extLst>
              <a:ext uri="{FF2B5EF4-FFF2-40B4-BE49-F238E27FC236}">
                <a16:creationId xmlns:a16="http://schemas.microsoft.com/office/drawing/2014/main" id="{246C7698-D39A-3BC6-D812-E275E8F0CCB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376843" y="4354011"/>
            <a:ext cx="431194" cy="410275"/>
          </a:xfrm>
          <a:prstGeom prst="rect">
            <a:avLst/>
          </a:prstGeom>
        </p:spPr>
      </p:pic>
      <p:pic>
        <p:nvPicPr>
          <p:cNvPr id="26" name="Graphique 25" descr="Scène de château avec un remplissage uni">
            <a:extLst>
              <a:ext uri="{FF2B5EF4-FFF2-40B4-BE49-F238E27FC236}">
                <a16:creationId xmlns:a16="http://schemas.microsoft.com/office/drawing/2014/main" id="{82CE7F66-DAF5-B296-81AF-CAC80DAF231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20000" y="3562742"/>
            <a:ext cx="431194" cy="410275"/>
          </a:xfrm>
          <a:prstGeom prst="rect">
            <a:avLst/>
          </a:prstGeom>
        </p:spPr>
      </p:pic>
    </p:spTree>
    <p:extLst>
      <p:ext uri="{BB962C8B-B14F-4D97-AF65-F5344CB8AC3E}">
        <p14:creationId xmlns:p14="http://schemas.microsoft.com/office/powerpoint/2010/main" val="348924174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p:txBody>
          <a:bodyPr/>
          <a:lstStyle/>
          <a:p>
            <a:r>
              <a:rPr lang="fr-FR" dirty="0"/>
              <a:t>CCC-</a:t>
            </a:r>
            <a:r>
              <a:rPr lang="fr-FR" dirty="0" err="1"/>
              <a:t>Indicators</a:t>
            </a:r>
            <a:r>
              <a:rPr lang="fr-FR" dirty="0"/>
              <a:t> : aller plus loin avec les indicateurs</a:t>
            </a:r>
          </a:p>
        </p:txBody>
      </p:sp>
      <p:sp>
        <p:nvSpPr>
          <p:cNvPr id="3" name="Espace réservé du contenu 2">
            <a:extLst>
              <a:ext uri="{FF2B5EF4-FFF2-40B4-BE49-F238E27FC236}">
                <a16:creationId xmlns:a16="http://schemas.microsoft.com/office/drawing/2014/main" id="{FF9FE05F-BDF8-4C45-2E13-B24D90D4216F}"/>
              </a:ext>
            </a:extLst>
          </p:cNvPr>
          <p:cNvSpPr>
            <a:spLocks noGrp="1"/>
          </p:cNvSpPr>
          <p:nvPr>
            <p:ph idx="1"/>
          </p:nvPr>
        </p:nvSpPr>
        <p:spPr>
          <a:xfrm>
            <a:off x="3661299" y="1870014"/>
            <a:ext cx="8159226" cy="4351338"/>
          </a:xfrm>
        </p:spPr>
        <p:txBody>
          <a:bodyPr>
            <a:noAutofit/>
          </a:bodyPr>
          <a:lstStyle/>
          <a:p>
            <a:r>
              <a:rPr lang="fr-FR" sz="1400" dirty="0"/>
              <a:t>Les indicateurs présentés ci-dessus sont une infime partie des indicateurs que vous pouvez choisir pour votre communauté. </a:t>
            </a:r>
          </a:p>
          <a:p>
            <a:endParaRPr lang="fr-FR" sz="1400" dirty="0"/>
          </a:p>
          <a:p>
            <a:r>
              <a:rPr lang="fr-FR" sz="1400" dirty="0"/>
              <a:t>Il est libre à chacun (et recommandé) de trouver des indicateurs correspondant vraiment à ses objectifs </a:t>
            </a:r>
          </a:p>
          <a:p>
            <a:endParaRPr lang="fr-FR" sz="1400" dirty="0"/>
          </a:p>
          <a:p>
            <a:r>
              <a:rPr lang="fr-FR" sz="1400" dirty="0"/>
              <a:t>La discussion sur les indicateurs de performance peut avoir lieu pendant les étapes de pré-cadrage, de cadrage de la Communauté (avant le lancement), mais également et surtout pendant les moments d’amélioration continue de la Communauté. </a:t>
            </a:r>
          </a:p>
          <a:p>
            <a:endParaRPr lang="fr-FR" sz="1400" dirty="0"/>
          </a:p>
          <a:p>
            <a:r>
              <a:rPr lang="fr-FR" sz="1400" dirty="0"/>
              <a:t>Le CCC est un modèle particulier qui ne permet de formaliser qu’une partie de l’information communautaire, tous les indicateurs de bonne santé d’une Communauté ne proviennent pas du CCC.</a:t>
            </a:r>
          </a:p>
        </p:txBody>
      </p:sp>
      <p:pic>
        <p:nvPicPr>
          <p:cNvPr id="4" name="Graphique 3" descr="Femme scientifique avec un remplissage uni">
            <a:extLst>
              <a:ext uri="{FF2B5EF4-FFF2-40B4-BE49-F238E27FC236}">
                <a16:creationId xmlns:a16="http://schemas.microsoft.com/office/drawing/2014/main" id="{EDBB5431-FA06-D0E2-CE51-3C1ECF88B6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66044" y="2114025"/>
            <a:ext cx="3010633" cy="3010633"/>
          </a:xfrm>
          <a:prstGeom prst="rect">
            <a:avLst/>
          </a:prstGeom>
        </p:spPr>
      </p:pic>
    </p:spTree>
    <p:extLst>
      <p:ext uri="{BB962C8B-B14F-4D97-AF65-F5344CB8AC3E}">
        <p14:creationId xmlns:p14="http://schemas.microsoft.com/office/powerpoint/2010/main" val="101350100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10515600" cy="549275"/>
          </a:xfrm>
        </p:spPr>
        <p:txBody>
          <a:bodyPr>
            <a:noAutofit/>
          </a:bodyPr>
          <a:lstStyle/>
          <a:p>
            <a:r>
              <a:rPr lang="fr-FR" sz="3200" dirty="0"/>
              <a:t>CCC-</a:t>
            </a:r>
            <a:r>
              <a:rPr lang="fr-FR" sz="3200" dirty="0" err="1"/>
              <a:t>Indicators</a:t>
            </a:r>
            <a:r>
              <a:rPr lang="fr-FR" sz="3200" dirty="0"/>
              <a:t> : </a:t>
            </a:r>
            <a:br>
              <a:rPr lang="fr-FR" sz="3200" dirty="0"/>
            </a:br>
            <a:r>
              <a:rPr lang="fr-FR" sz="3200" dirty="0"/>
              <a:t>Placer ses indicateurs sur l’</a:t>
            </a:r>
            <a:r>
              <a:rPr lang="fr-FR" sz="3200" dirty="0" err="1"/>
              <a:t>Indicators</a:t>
            </a:r>
            <a:r>
              <a:rPr lang="fr-FR" sz="3200" dirty="0"/>
              <a:t> </a:t>
            </a:r>
            <a:r>
              <a:rPr lang="fr-FR" sz="3200" dirty="0" err="1"/>
              <a:t>Map</a:t>
            </a:r>
            <a:endParaRPr lang="fr-FR" sz="3200" dirty="0"/>
          </a:p>
        </p:txBody>
      </p:sp>
      <p:sp>
        <p:nvSpPr>
          <p:cNvPr id="7" name="Ellipse 6">
            <a:extLst>
              <a:ext uri="{FF2B5EF4-FFF2-40B4-BE49-F238E27FC236}">
                <a16:creationId xmlns:a16="http://schemas.microsoft.com/office/drawing/2014/main" id="{9285EE7D-8B0A-E747-8B29-6FD29017FB95}"/>
              </a:ext>
            </a:extLst>
          </p:cNvPr>
          <p:cNvSpPr/>
          <p:nvPr/>
        </p:nvSpPr>
        <p:spPr>
          <a:xfrm>
            <a:off x="3491884" y="2938509"/>
            <a:ext cx="3666478" cy="3666478"/>
          </a:xfrm>
          <a:prstGeom prst="ellipse">
            <a:avLst/>
          </a:prstGeom>
          <a:solidFill>
            <a:srgbClr val="ED7D31">
              <a:alpha val="30196"/>
            </a:srgbClr>
          </a:solidFill>
          <a:ln w="571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8A67FCB8-8CD0-06B9-76ED-DF89A7E22F23}"/>
              </a:ext>
            </a:extLst>
          </p:cNvPr>
          <p:cNvSpPr/>
          <p:nvPr/>
        </p:nvSpPr>
        <p:spPr>
          <a:xfrm>
            <a:off x="4752513" y="1509204"/>
            <a:ext cx="3666478" cy="3666478"/>
          </a:xfrm>
          <a:prstGeom prst="ellipse">
            <a:avLst/>
          </a:prstGeom>
          <a:solidFill>
            <a:schemeClr val="accent1">
              <a:alpha val="30196"/>
            </a:schemeClr>
          </a:solidFill>
          <a:ln w="571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25B8333E-F83B-01D6-FAD2-C1E5B1DA779A}"/>
              </a:ext>
            </a:extLst>
          </p:cNvPr>
          <p:cNvSpPr/>
          <p:nvPr/>
        </p:nvSpPr>
        <p:spPr>
          <a:xfrm>
            <a:off x="5881457" y="2938509"/>
            <a:ext cx="3666478" cy="3666478"/>
          </a:xfrm>
          <a:prstGeom prst="ellipse">
            <a:avLst/>
          </a:prstGeom>
          <a:solidFill>
            <a:schemeClr val="bg1">
              <a:lumMod val="65000"/>
              <a:alpha val="30196"/>
            </a:schemeClr>
          </a:solidFill>
          <a:ln w="57150">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74FBA945-9B09-0766-54E0-1CBDE9600F7F}"/>
              </a:ext>
            </a:extLst>
          </p:cNvPr>
          <p:cNvSpPr txBox="1"/>
          <p:nvPr/>
        </p:nvSpPr>
        <p:spPr>
          <a:xfrm>
            <a:off x="8131947" y="1148110"/>
            <a:ext cx="2831976" cy="1231106"/>
          </a:xfrm>
          <a:prstGeom prst="rect">
            <a:avLst/>
          </a:prstGeom>
          <a:noFill/>
        </p:spPr>
        <p:txBody>
          <a:bodyPr wrap="square" rtlCol="0">
            <a:spAutoFit/>
          </a:bodyPr>
          <a:lstStyle/>
          <a:p>
            <a:r>
              <a:rPr lang="fr-FR" b="1" dirty="0">
                <a:solidFill>
                  <a:srgbClr val="0683AA"/>
                </a:solidFill>
              </a:rPr>
              <a:t>Indicateurs faisables</a:t>
            </a:r>
          </a:p>
          <a:p>
            <a:r>
              <a:rPr lang="fr-FR" sz="1400" dirty="0">
                <a:solidFill>
                  <a:srgbClr val="0683AA"/>
                </a:solidFill>
              </a:rPr>
              <a:t>Indicateurs dont la mesure régulière est faisable, réaliste, et sur lesquels quelqu’un est prêt à s’engager à collecter, communiquer et assumer.</a:t>
            </a:r>
          </a:p>
        </p:txBody>
      </p:sp>
      <p:sp>
        <p:nvSpPr>
          <p:cNvPr id="11" name="ZoneTexte 10">
            <a:extLst>
              <a:ext uri="{FF2B5EF4-FFF2-40B4-BE49-F238E27FC236}">
                <a16:creationId xmlns:a16="http://schemas.microsoft.com/office/drawing/2014/main" id="{8E3312A8-BF1D-898D-19DD-287E46509E77}"/>
              </a:ext>
            </a:extLst>
          </p:cNvPr>
          <p:cNvSpPr txBox="1"/>
          <p:nvPr/>
        </p:nvSpPr>
        <p:spPr>
          <a:xfrm>
            <a:off x="9501327" y="4894115"/>
            <a:ext cx="2581182" cy="1938992"/>
          </a:xfrm>
          <a:prstGeom prst="rect">
            <a:avLst/>
          </a:prstGeom>
          <a:noFill/>
        </p:spPr>
        <p:txBody>
          <a:bodyPr wrap="square" rtlCol="0">
            <a:spAutoFit/>
          </a:bodyPr>
          <a:lstStyle/>
          <a:p>
            <a:r>
              <a:rPr lang="fr-FR" b="1" dirty="0">
                <a:solidFill>
                  <a:schemeClr val="bg1">
                    <a:lumMod val="50000"/>
                  </a:schemeClr>
                </a:solidFill>
              </a:rPr>
              <a:t>Indicateurs utiles pour décider </a:t>
            </a:r>
          </a:p>
          <a:p>
            <a:r>
              <a:rPr lang="fr-FR" sz="1400" dirty="0">
                <a:solidFill>
                  <a:schemeClr val="bg1">
                    <a:lumMod val="50000"/>
                  </a:schemeClr>
                </a:solidFill>
              </a:rPr>
              <a:t>Indicateurs dont le résultat de mesure a des chances de mener à des décisions concrètes, qui influent sur la prochaine mesure à venir et sur la vie de la Communauté</a:t>
            </a:r>
          </a:p>
        </p:txBody>
      </p:sp>
      <p:sp>
        <p:nvSpPr>
          <p:cNvPr id="12" name="ZoneTexte 11">
            <a:extLst>
              <a:ext uri="{FF2B5EF4-FFF2-40B4-BE49-F238E27FC236}">
                <a16:creationId xmlns:a16="http://schemas.microsoft.com/office/drawing/2014/main" id="{2E0D7991-1D91-7712-43F5-91120641A890}"/>
              </a:ext>
            </a:extLst>
          </p:cNvPr>
          <p:cNvSpPr txBox="1"/>
          <p:nvPr/>
        </p:nvSpPr>
        <p:spPr>
          <a:xfrm>
            <a:off x="659908" y="5028560"/>
            <a:ext cx="2831976" cy="1661993"/>
          </a:xfrm>
          <a:prstGeom prst="rect">
            <a:avLst/>
          </a:prstGeom>
          <a:noFill/>
        </p:spPr>
        <p:txBody>
          <a:bodyPr wrap="square" rtlCol="0">
            <a:spAutoFit/>
          </a:bodyPr>
          <a:lstStyle/>
          <a:p>
            <a:pPr algn="r"/>
            <a:r>
              <a:rPr lang="fr-FR" b="1" dirty="0">
                <a:solidFill>
                  <a:srgbClr val="ED7D31"/>
                </a:solidFill>
              </a:rPr>
              <a:t>Indicateurs communicables</a:t>
            </a:r>
          </a:p>
          <a:p>
            <a:pPr algn="r"/>
            <a:r>
              <a:rPr lang="fr-FR" sz="1400" dirty="0">
                <a:solidFill>
                  <a:srgbClr val="ED7D31"/>
                </a:solidFill>
              </a:rPr>
              <a:t>Indicateurs suffisamment compréhensibles pour être communiqués jusqu’aux parties prenantes en dehors de la Communauté (partenaires, hiérarchie, futurs membres, etc.)</a:t>
            </a:r>
          </a:p>
        </p:txBody>
      </p:sp>
      <p:sp>
        <p:nvSpPr>
          <p:cNvPr id="3" name="ZoneTexte 2">
            <a:extLst>
              <a:ext uri="{FF2B5EF4-FFF2-40B4-BE49-F238E27FC236}">
                <a16:creationId xmlns:a16="http://schemas.microsoft.com/office/drawing/2014/main" id="{83042411-AC66-9A5B-183F-58ADDDE46B6C}"/>
              </a:ext>
            </a:extLst>
          </p:cNvPr>
          <p:cNvSpPr txBox="1"/>
          <p:nvPr/>
        </p:nvSpPr>
        <p:spPr>
          <a:xfrm>
            <a:off x="838200" y="1324313"/>
            <a:ext cx="2917053" cy="2708434"/>
          </a:xfrm>
          <a:prstGeom prst="rect">
            <a:avLst/>
          </a:prstGeom>
          <a:noFill/>
        </p:spPr>
        <p:txBody>
          <a:bodyPr wrap="square" rtlCol="0">
            <a:spAutoFit/>
          </a:bodyPr>
          <a:lstStyle/>
          <a:p>
            <a:r>
              <a:rPr lang="fr-FR" b="1" dirty="0"/>
              <a:t>L’</a:t>
            </a:r>
            <a:r>
              <a:rPr lang="fr-FR" b="1" dirty="0" err="1"/>
              <a:t>Indicators</a:t>
            </a:r>
            <a:r>
              <a:rPr lang="fr-FR" b="1" dirty="0"/>
              <a:t> </a:t>
            </a:r>
            <a:r>
              <a:rPr lang="fr-FR" b="1" dirty="0" err="1"/>
              <a:t>Map</a:t>
            </a:r>
            <a:r>
              <a:rPr lang="fr-FR" b="1" dirty="0"/>
              <a:t> </a:t>
            </a:r>
            <a:r>
              <a:rPr lang="fr-FR" dirty="0"/>
              <a:t>est une carte qui vous permet de ranger vos indicateurs potentiels selon 3 questions : </a:t>
            </a:r>
          </a:p>
          <a:p>
            <a:pPr marL="285750" indent="-285750">
              <a:buFontTx/>
              <a:buChar char="-"/>
            </a:pPr>
            <a:r>
              <a:rPr lang="fr-FR" sz="1400" dirty="0"/>
              <a:t>La mesure est elle vraiment possible ?</a:t>
            </a:r>
          </a:p>
          <a:p>
            <a:pPr marL="285750" indent="-285750">
              <a:buFontTx/>
              <a:buChar char="-"/>
            </a:pPr>
            <a:r>
              <a:rPr lang="fr-FR" sz="1400" dirty="0"/>
              <a:t>Le résultat de la mesure peut-il vraiment nous aider à décider quelque chose ? </a:t>
            </a:r>
          </a:p>
          <a:p>
            <a:pPr marL="285750" indent="-285750">
              <a:buFontTx/>
              <a:buChar char="-"/>
            </a:pPr>
            <a:r>
              <a:rPr lang="fr-FR" sz="1400" dirty="0"/>
              <a:t>Peut-on communiquer cet indicateur à l’extérieur ?</a:t>
            </a:r>
          </a:p>
        </p:txBody>
      </p:sp>
      <p:pic>
        <p:nvPicPr>
          <p:cNvPr id="5" name="Graphique 4" descr="Mégaphone avec un remplissage uni">
            <a:extLst>
              <a:ext uri="{FF2B5EF4-FFF2-40B4-BE49-F238E27FC236}">
                <a16:creationId xmlns:a16="http://schemas.microsoft.com/office/drawing/2014/main" id="{EB79DFEF-7E6B-C5D7-5DDA-7C10C937FCA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5251" y="5028560"/>
            <a:ext cx="723824" cy="723824"/>
          </a:xfrm>
          <a:prstGeom prst="rect">
            <a:avLst/>
          </a:prstGeom>
        </p:spPr>
      </p:pic>
      <p:pic>
        <p:nvPicPr>
          <p:cNvPr id="13" name="Graphique 12" descr="Panneau de signalisation avec un remplissage uni">
            <a:extLst>
              <a:ext uri="{FF2B5EF4-FFF2-40B4-BE49-F238E27FC236}">
                <a16:creationId xmlns:a16="http://schemas.microsoft.com/office/drawing/2014/main" id="{3C920750-19FF-F716-6F86-E62375BAD9E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47935" y="4089746"/>
            <a:ext cx="914400" cy="914400"/>
          </a:xfrm>
          <a:prstGeom prst="rect">
            <a:avLst/>
          </a:prstGeom>
        </p:spPr>
      </p:pic>
      <p:pic>
        <p:nvPicPr>
          <p:cNvPr id="15" name="Graphique 14" descr="Presse-papiers vérifié avec un remplissage uni">
            <a:extLst>
              <a:ext uri="{FF2B5EF4-FFF2-40B4-BE49-F238E27FC236}">
                <a16:creationId xmlns:a16="http://schemas.microsoft.com/office/drawing/2014/main" id="{3E7F74ED-A33B-E4DD-4C01-A8BDE5EF1E6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14334" y="943252"/>
            <a:ext cx="914400" cy="914400"/>
          </a:xfrm>
          <a:prstGeom prst="rect">
            <a:avLst/>
          </a:prstGeom>
        </p:spPr>
      </p:pic>
    </p:spTree>
    <p:extLst>
      <p:ext uri="{BB962C8B-B14F-4D97-AF65-F5344CB8AC3E}">
        <p14:creationId xmlns:p14="http://schemas.microsoft.com/office/powerpoint/2010/main" val="100115838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10515600" cy="549275"/>
          </a:xfrm>
        </p:spPr>
        <p:txBody>
          <a:bodyPr>
            <a:noAutofit/>
          </a:bodyPr>
          <a:lstStyle/>
          <a:p>
            <a:r>
              <a:rPr lang="fr-FR" sz="3200" dirty="0"/>
              <a:t>CCC-</a:t>
            </a:r>
            <a:r>
              <a:rPr lang="fr-FR" sz="3200" dirty="0" err="1"/>
              <a:t>Indicators</a:t>
            </a:r>
            <a:r>
              <a:rPr lang="fr-FR" sz="3200" dirty="0"/>
              <a:t> : </a:t>
            </a:r>
            <a:br>
              <a:rPr lang="fr-FR" sz="3200" dirty="0"/>
            </a:br>
            <a:r>
              <a:rPr lang="fr-FR" sz="3200" dirty="0"/>
              <a:t>Placer ses indicateurs sur l’</a:t>
            </a:r>
            <a:r>
              <a:rPr lang="fr-FR" sz="3200" dirty="0" err="1"/>
              <a:t>Indicators</a:t>
            </a:r>
            <a:r>
              <a:rPr lang="fr-FR" sz="3200" dirty="0"/>
              <a:t> </a:t>
            </a:r>
            <a:r>
              <a:rPr lang="fr-FR" sz="3200" dirty="0" err="1"/>
              <a:t>Map</a:t>
            </a:r>
            <a:endParaRPr lang="fr-FR" sz="3200" dirty="0"/>
          </a:p>
        </p:txBody>
      </p:sp>
      <p:sp>
        <p:nvSpPr>
          <p:cNvPr id="7" name="Ellipse 6">
            <a:extLst>
              <a:ext uri="{FF2B5EF4-FFF2-40B4-BE49-F238E27FC236}">
                <a16:creationId xmlns:a16="http://schemas.microsoft.com/office/drawing/2014/main" id="{9285EE7D-8B0A-E747-8B29-6FD29017FB95}"/>
              </a:ext>
            </a:extLst>
          </p:cNvPr>
          <p:cNvSpPr/>
          <p:nvPr/>
        </p:nvSpPr>
        <p:spPr>
          <a:xfrm>
            <a:off x="3083511" y="2902998"/>
            <a:ext cx="3666478" cy="3666478"/>
          </a:xfrm>
          <a:prstGeom prst="ellipse">
            <a:avLst/>
          </a:prstGeom>
          <a:solidFill>
            <a:srgbClr val="ED7D31">
              <a:alpha val="30196"/>
            </a:srgbClr>
          </a:solidFill>
          <a:ln w="571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8A67FCB8-8CD0-06B9-76ED-DF89A7E22F23}"/>
              </a:ext>
            </a:extLst>
          </p:cNvPr>
          <p:cNvSpPr/>
          <p:nvPr/>
        </p:nvSpPr>
        <p:spPr>
          <a:xfrm>
            <a:off x="4344140" y="1473693"/>
            <a:ext cx="3666478" cy="3666478"/>
          </a:xfrm>
          <a:prstGeom prst="ellipse">
            <a:avLst/>
          </a:prstGeom>
          <a:solidFill>
            <a:schemeClr val="accent1">
              <a:alpha val="30196"/>
            </a:schemeClr>
          </a:solidFill>
          <a:ln w="571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25B8333E-F83B-01D6-FAD2-C1E5B1DA779A}"/>
              </a:ext>
            </a:extLst>
          </p:cNvPr>
          <p:cNvSpPr/>
          <p:nvPr/>
        </p:nvSpPr>
        <p:spPr>
          <a:xfrm>
            <a:off x="5473084" y="2902998"/>
            <a:ext cx="3666478" cy="3666478"/>
          </a:xfrm>
          <a:prstGeom prst="ellipse">
            <a:avLst/>
          </a:prstGeom>
          <a:solidFill>
            <a:schemeClr val="bg1">
              <a:lumMod val="65000"/>
              <a:alpha val="30196"/>
            </a:schemeClr>
          </a:solidFill>
          <a:ln w="57150">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74FBA945-9B09-0766-54E0-1CBDE9600F7F}"/>
              </a:ext>
            </a:extLst>
          </p:cNvPr>
          <p:cNvSpPr txBox="1"/>
          <p:nvPr/>
        </p:nvSpPr>
        <p:spPr>
          <a:xfrm>
            <a:off x="7723574" y="1112599"/>
            <a:ext cx="2831976" cy="1231106"/>
          </a:xfrm>
          <a:prstGeom prst="rect">
            <a:avLst/>
          </a:prstGeom>
          <a:noFill/>
        </p:spPr>
        <p:txBody>
          <a:bodyPr wrap="square" rtlCol="0">
            <a:spAutoFit/>
          </a:bodyPr>
          <a:lstStyle/>
          <a:p>
            <a:r>
              <a:rPr lang="fr-FR" b="1" dirty="0">
                <a:solidFill>
                  <a:srgbClr val="0683AA"/>
                </a:solidFill>
              </a:rPr>
              <a:t>Indicateurs faisables</a:t>
            </a:r>
          </a:p>
          <a:p>
            <a:r>
              <a:rPr lang="fr-FR" sz="1400" dirty="0">
                <a:solidFill>
                  <a:srgbClr val="0683AA"/>
                </a:solidFill>
              </a:rPr>
              <a:t>Indicateurs dont la mesure régulière est faisable, réaliste, et sur lesquels quelqu’un est prêt à s’engager à collecter, communiquer et assumer.</a:t>
            </a:r>
          </a:p>
        </p:txBody>
      </p:sp>
      <p:sp>
        <p:nvSpPr>
          <p:cNvPr id="11" name="ZoneTexte 10">
            <a:extLst>
              <a:ext uri="{FF2B5EF4-FFF2-40B4-BE49-F238E27FC236}">
                <a16:creationId xmlns:a16="http://schemas.microsoft.com/office/drawing/2014/main" id="{8E3312A8-BF1D-898D-19DD-287E46509E77}"/>
              </a:ext>
            </a:extLst>
          </p:cNvPr>
          <p:cNvSpPr txBox="1"/>
          <p:nvPr/>
        </p:nvSpPr>
        <p:spPr>
          <a:xfrm>
            <a:off x="9271247" y="4191705"/>
            <a:ext cx="2831976" cy="1723549"/>
          </a:xfrm>
          <a:prstGeom prst="rect">
            <a:avLst/>
          </a:prstGeom>
          <a:noFill/>
        </p:spPr>
        <p:txBody>
          <a:bodyPr wrap="square" rtlCol="0">
            <a:spAutoFit/>
          </a:bodyPr>
          <a:lstStyle/>
          <a:p>
            <a:r>
              <a:rPr lang="fr-FR" b="1" dirty="0">
                <a:solidFill>
                  <a:schemeClr val="bg1">
                    <a:lumMod val="50000"/>
                  </a:schemeClr>
                </a:solidFill>
              </a:rPr>
              <a:t>Indicateurs utiles pour décider </a:t>
            </a:r>
          </a:p>
          <a:p>
            <a:r>
              <a:rPr lang="fr-FR" sz="1400" dirty="0">
                <a:solidFill>
                  <a:schemeClr val="bg1">
                    <a:lumMod val="50000"/>
                  </a:schemeClr>
                </a:solidFill>
              </a:rPr>
              <a:t>Indicateurs dont le résultat de mesure a des chances de mener à des décisions concrètes, qui influent sur la prochaine mesure à venir et sur la vie de la Communauté</a:t>
            </a:r>
          </a:p>
        </p:txBody>
      </p:sp>
      <p:sp>
        <p:nvSpPr>
          <p:cNvPr id="12" name="ZoneTexte 11">
            <a:extLst>
              <a:ext uri="{FF2B5EF4-FFF2-40B4-BE49-F238E27FC236}">
                <a16:creationId xmlns:a16="http://schemas.microsoft.com/office/drawing/2014/main" id="{2E0D7991-1D91-7712-43F5-91120641A890}"/>
              </a:ext>
            </a:extLst>
          </p:cNvPr>
          <p:cNvSpPr txBox="1"/>
          <p:nvPr/>
        </p:nvSpPr>
        <p:spPr>
          <a:xfrm>
            <a:off x="251535" y="4191705"/>
            <a:ext cx="2831976" cy="1661993"/>
          </a:xfrm>
          <a:prstGeom prst="rect">
            <a:avLst/>
          </a:prstGeom>
          <a:noFill/>
        </p:spPr>
        <p:txBody>
          <a:bodyPr wrap="square" rtlCol="0">
            <a:spAutoFit/>
          </a:bodyPr>
          <a:lstStyle/>
          <a:p>
            <a:pPr algn="r"/>
            <a:r>
              <a:rPr lang="fr-FR" b="1" dirty="0">
                <a:solidFill>
                  <a:srgbClr val="ED7D31"/>
                </a:solidFill>
              </a:rPr>
              <a:t>Indicateurs communicables</a:t>
            </a:r>
          </a:p>
          <a:p>
            <a:pPr algn="r"/>
            <a:r>
              <a:rPr lang="fr-FR" sz="1400" dirty="0">
                <a:solidFill>
                  <a:srgbClr val="ED7D31"/>
                </a:solidFill>
              </a:rPr>
              <a:t>Indicateurs suffisamment compréhensibles pour être communiqués jusqu’aux parties prenantes en dehors de la Communauté (partenaires, hiérarchie, futurs membres, etc.)</a:t>
            </a:r>
          </a:p>
        </p:txBody>
      </p:sp>
      <p:sp>
        <p:nvSpPr>
          <p:cNvPr id="13" name="ZoneTexte 12">
            <a:extLst>
              <a:ext uri="{FF2B5EF4-FFF2-40B4-BE49-F238E27FC236}">
                <a16:creationId xmlns:a16="http://schemas.microsoft.com/office/drawing/2014/main" id="{75CC6C58-2003-2CEF-7038-61FAD9CA8F4E}"/>
              </a:ext>
            </a:extLst>
          </p:cNvPr>
          <p:cNvSpPr txBox="1"/>
          <p:nvPr/>
        </p:nvSpPr>
        <p:spPr>
          <a:xfrm>
            <a:off x="4352278" y="2902998"/>
            <a:ext cx="1128944" cy="461665"/>
          </a:xfrm>
          <a:prstGeom prst="rect">
            <a:avLst/>
          </a:prstGeom>
          <a:noFill/>
        </p:spPr>
        <p:txBody>
          <a:bodyPr wrap="square" rtlCol="0">
            <a:spAutoFit/>
          </a:bodyPr>
          <a:lstStyle/>
          <a:p>
            <a:pPr algn="ctr"/>
            <a:r>
              <a:rPr lang="fr-FR" sz="1200" b="1" dirty="0"/>
              <a:t>Indicateurs pour meubler</a:t>
            </a:r>
          </a:p>
        </p:txBody>
      </p:sp>
      <p:sp>
        <p:nvSpPr>
          <p:cNvPr id="16" name="ZoneTexte 15">
            <a:extLst>
              <a:ext uri="{FF2B5EF4-FFF2-40B4-BE49-F238E27FC236}">
                <a16:creationId xmlns:a16="http://schemas.microsoft.com/office/drawing/2014/main" id="{DE9AD99D-006F-265F-1B67-21172209A2A4}"/>
              </a:ext>
            </a:extLst>
          </p:cNvPr>
          <p:cNvSpPr txBox="1"/>
          <p:nvPr/>
        </p:nvSpPr>
        <p:spPr>
          <a:xfrm>
            <a:off x="5473084" y="5091356"/>
            <a:ext cx="1290961" cy="461665"/>
          </a:xfrm>
          <a:prstGeom prst="rect">
            <a:avLst/>
          </a:prstGeom>
          <a:noFill/>
        </p:spPr>
        <p:txBody>
          <a:bodyPr wrap="square" rtlCol="0">
            <a:spAutoFit/>
          </a:bodyPr>
          <a:lstStyle/>
          <a:p>
            <a:pPr algn="ctr"/>
            <a:r>
              <a:rPr lang="fr-FR" sz="1200" b="1" dirty="0"/>
              <a:t>Utopies d’indicateurs</a:t>
            </a:r>
          </a:p>
        </p:txBody>
      </p:sp>
      <p:sp>
        <p:nvSpPr>
          <p:cNvPr id="17" name="ZoneTexte 16">
            <a:extLst>
              <a:ext uri="{FF2B5EF4-FFF2-40B4-BE49-F238E27FC236}">
                <a16:creationId xmlns:a16="http://schemas.microsoft.com/office/drawing/2014/main" id="{0FF060D7-F83E-5E0D-570D-8E58F4163369}"/>
              </a:ext>
            </a:extLst>
          </p:cNvPr>
          <p:cNvSpPr txBox="1"/>
          <p:nvPr/>
        </p:nvSpPr>
        <p:spPr>
          <a:xfrm>
            <a:off x="6767745" y="2916314"/>
            <a:ext cx="1128944" cy="461665"/>
          </a:xfrm>
          <a:prstGeom prst="rect">
            <a:avLst/>
          </a:prstGeom>
          <a:noFill/>
        </p:spPr>
        <p:txBody>
          <a:bodyPr wrap="square" rtlCol="0">
            <a:spAutoFit/>
          </a:bodyPr>
          <a:lstStyle/>
          <a:p>
            <a:pPr algn="ctr"/>
            <a:r>
              <a:rPr lang="fr-FR" sz="1200" b="1" dirty="0"/>
              <a:t>Indicateurs internes</a:t>
            </a:r>
          </a:p>
        </p:txBody>
      </p:sp>
      <p:sp>
        <p:nvSpPr>
          <p:cNvPr id="18" name="ZoneTexte 17">
            <a:extLst>
              <a:ext uri="{FF2B5EF4-FFF2-40B4-BE49-F238E27FC236}">
                <a16:creationId xmlns:a16="http://schemas.microsoft.com/office/drawing/2014/main" id="{755C93CE-6FC9-269C-7566-4BC080D7272E}"/>
              </a:ext>
            </a:extLst>
          </p:cNvPr>
          <p:cNvSpPr txBox="1"/>
          <p:nvPr/>
        </p:nvSpPr>
        <p:spPr>
          <a:xfrm>
            <a:off x="5554092" y="3622093"/>
            <a:ext cx="1128944" cy="461665"/>
          </a:xfrm>
          <a:prstGeom prst="rect">
            <a:avLst/>
          </a:prstGeom>
          <a:noFill/>
        </p:spPr>
        <p:txBody>
          <a:bodyPr wrap="square" rtlCol="0">
            <a:spAutoFit/>
          </a:bodyPr>
          <a:lstStyle/>
          <a:p>
            <a:pPr algn="ctr"/>
            <a:r>
              <a:rPr lang="fr-FR" sz="1200" b="1" dirty="0"/>
              <a:t>Indicateurs clés</a:t>
            </a:r>
          </a:p>
        </p:txBody>
      </p:sp>
      <p:sp>
        <p:nvSpPr>
          <p:cNvPr id="19" name="ZoneTexte 18">
            <a:extLst>
              <a:ext uri="{FF2B5EF4-FFF2-40B4-BE49-F238E27FC236}">
                <a16:creationId xmlns:a16="http://schemas.microsoft.com/office/drawing/2014/main" id="{C2E3BAD5-C320-A5F4-A27D-ACDC2A1CD2A5}"/>
              </a:ext>
            </a:extLst>
          </p:cNvPr>
          <p:cNvSpPr txBox="1"/>
          <p:nvPr/>
        </p:nvSpPr>
        <p:spPr>
          <a:xfrm>
            <a:off x="3323579" y="3713896"/>
            <a:ext cx="1128944" cy="461665"/>
          </a:xfrm>
          <a:prstGeom prst="rect">
            <a:avLst/>
          </a:prstGeom>
          <a:noFill/>
        </p:spPr>
        <p:txBody>
          <a:bodyPr wrap="square" rtlCol="0">
            <a:spAutoFit/>
          </a:bodyPr>
          <a:lstStyle/>
          <a:p>
            <a:pPr algn="ctr"/>
            <a:r>
              <a:rPr lang="fr-FR" sz="1200" b="1" dirty="0"/>
              <a:t>Promesses d’indicateurs</a:t>
            </a:r>
          </a:p>
        </p:txBody>
      </p:sp>
      <p:sp>
        <p:nvSpPr>
          <p:cNvPr id="20" name="ZoneTexte 19">
            <a:extLst>
              <a:ext uri="{FF2B5EF4-FFF2-40B4-BE49-F238E27FC236}">
                <a16:creationId xmlns:a16="http://schemas.microsoft.com/office/drawing/2014/main" id="{29B3D212-A726-97C0-60BD-87C39FEE5F69}"/>
              </a:ext>
            </a:extLst>
          </p:cNvPr>
          <p:cNvSpPr txBox="1"/>
          <p:nvPr/>
        </p:nvSpPr>
        <p:spPr>
          <a:xfrm>
            <a:off x="7770550" y="3716760"/>
            <a:ext cx="1302059" cy="461665"/>
          </a:xfrm>
          <a:prstGeom prst="rect">
            <a:avLst/>
          </a:prstGeom>
          <a:noFill/>
        </p:spPr>
        <p:txBody>
          <a:bodyPr wrap="square" rtlCol="0">
            <a:spAutoFit/>
          </a:bodyPr>
          <a:lstStyle/>
          <a:p>
            <a:pPr algn="ctr"/>
            <a:r>
              <a:rPr lang="fr-FR" sz="1200" b="1" dirty="0"/>
              <a:t>Indicateurs trop techniques</a:t>
            </a:r>
          </a:p>
        </p:txBody>
      </p:sp>
      <p:sp>
        <p:nvSpPr>
          <p:cNvPr id="21" name="ZoneTexte 20">
            <a:extLst>
              <a:ext uri="{FF2B5EF4-FFF2-40B4-BE49-F238E27FC236}">
                <a16:creationId xmlns:a16="http://schemas.microsoft.com/office/drawing/2014/main" id="{46524BAE-FEB0-64B1-00F8-31E8AE9CC309}"/>
              </a:ext>
            </a:extLst>
          </p:cNvPr>
          <p:cNvSpPr txBox="1"/>
          <p:nvPr/>
        </p:nvSpPr>
        <p:spPr>
          <a:xfrm>
            <a:off x="5488621" y="1447033"/>
            <a:ext cx="1473694" cy="461665"/>
          </a:xfrm>
          <a:prstGeom prst="rect">
            <a:avLst/>
          </a:prstGeom>
          <a:noFill/>
        </p:spPr>
        <p:txBody>
          <a:bodyPr wrap="square" rtlCol="0">
            <a:spAutoFit/>
          </a:bodyPr>
          <a:lstStyle/>
          <a:p>
            <a:pPr algn="ctr"/>
            <a:r>
              <a:rPr lang="fr-FR" sz="1200" b="1" dirty="0"/>
              <a:t>Capacités de mesures inutiles</a:t>
            </a:r>
          </a:p>
        </p:txBody>
      </p:sp>
      <p:pic>
        <p:nvPicPr>
          <p:cNvPr id="3" name="Graphique 2" descr="Mégaphone avec un remplissage uni">
            <a:extLst>
              <a:ext uri="{FF2B5EF4-FFF2-40B4-BE49-F238E27FC236}">
                <a16:creationId xmlns:a16="http://schemas.microsoft.com/office/drawing/2014/main" id="{43E9F93E-0B74-A839-0E68-D0DB8091138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05611" y="3622093"/>
            <a:ext cx="723824" cy="723824"/>
          </a:xfrm>
          <a:prstGeom prst="rect">
            <a:avLst/>
          </a:prstGeom>
        </p:spPr>
      </p:pic>
      <p:pic>
        <p:nvPicPr>
          <p:cNvPr id="4" name="Graphique 3" descr="Panneau de signalisation avec un remplissage uni">
            <a:extLst>
              <a:ext uri="{FF2B5EF4-FFF2-40B4-BE49-F238E27FC236}">
                <a16:creationId xmlns:a16="http://schemas.microsoft.com/office/drawing/2014/main" id="{7DF1A919-4FF1-1CBC-8592-B1A6C0B8F29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86421" y="3364663"/>
            <a:ext cx="914400" cy="914400"/>
          </a:xfrm>
          <a:prstGeom prst="rect">
            <a:avLst/>
          </a:prstGeom>
        </p:spPr>
      </p:pic>
      <p:pic>
        <p:nvPicPr>
          <p:cNvPr id="5" name="Graphique 4" descr="Presse-papiers vérifié avec un remplissage uni">
            <a:extLst>
              <a:ext uri="{FF2B5EF4-FFF2-40B4-BE49-F238E27FC236}">
                <a16:creationId xmlns:a16="http://schemas.microsoft.com/office/drawing/2014/main" id="{2328CE5F-2FA7-3DD7-8C4A-89E0065E094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86872" y="989833"/>
            <a:ext cx="914400" cy="914400"/>
          </a:xfrm>
          <a:prstGeom prst="rect">
            <a:avLst/>
          </a:prstGeom>
        </p:spPr>
      </p:pic>
    </p:spTree>
    <p:extLst>
      <p:ext uri="{BB962C8B-B14F-4D97-AF65-F5344CB8AC3E}">
        <p14:creationId xmlns:p14="http://schemas.microsoft.com/office/powerpoint/2010/main" val="62143029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3D6568-FBE9-5170-E9B4-F0106525F572}"/>
              </a:ext>
            </a:extLst>
          </p:cNvPr>
          <p:cNvSpPr>
            <a:spLocks noGrp="1"/>
          </p:cNvSpPr>
          <p:nvPr>
            <p:ph type="title"/>
          </p:nvPr>
        </p:nvSpPr>
        <p:spPr>
          <a:xfrm>
            <a:off x="838200" y="365125"/>
            <a:ext cx="10515600" cy="549275"/>
          </a:xfrm>
        </p:spPr>
        <p:txBody>
          <a:bodyPr>
            <a:noAutofit/>
          </a:bodyPr>
          <a:lstStyle/>
          <a:p>
            <a:r>
              <a:rPr lang="fr-FR" sz="3200" dirty="0"/>
              <a:t>CCC-</a:t>
            </a:r>
            <a:r>
              <a:rPr lang="fr-FR" sz="3200" dirty="0" err="1"/>
              <a:t>Indicators</a:t>
            </a:r>
            <a:r>
              <a:rPr lang="fr-FR" sz="3200" dirty="0"/>
              <a:t> : </a:t>
            </a:r>
            <a:br>
              <a:rPr lang="fr-FR" sz="3200" dirty="0"/>
            </a:br>
            <a:r>
              <a:rPr lang="fr-FR" sz="3200" dirty="0"/>
              <a:t>Exemples de format de résultats</a:t>
            </a:r>
          </a:p>
        </p:txBody>
      </p:sp>
      <p:sp>
        <p:nvSpPr>
          <p:cNvPr id="7" name="Ellipse 6">
            <a:extLst>
              <a:ext uri="{FF2B5EF4-FFF2-40B4-BE49-F238E27FC236}">
                <a16:creationId xmlns:a16="http://schemas.microsoft.com/office/drawing/2014/main" id="{9285EE7D-8B0A-E747-8B29-6FD29017FB95}"/>
              </a:ext>
            </a:extLst>
          </p:cNvPr>
          <p:cNvSpPr/>
          <p:nvPr/>
        </p:nvSpPr>
        <p:spPr>
          <a:xfrm>
            <a:off x="3083511" y="2902998"/>
            <a:ext cx="3666478" cy="3666478"/>
          </a:xfrm>
          <a:prstGeom prst="ellipse">
            <a:avLst/>
          </a:prstGeom>
          <a:solidFill>
            <a:srgbClr val="ED7D31">
              <a:alpha val="30196"/>
            </a:srgbClr>
          </a:solidFill>
          <a:ln w="571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8A67FCB8-8CD0-06B9-76ED-DF89A7E22F23}"/>
              </a:ext>
            </a:extLst>
          </p:cNvPr>
          <p:cNvSpPr/>
          <p:nvPr/>
        </p:nvSpPr>
        <p:spPr>
          <a:xfrm>
            <a:off x="4344140" y="1473693"/>
            <a:ext cx="3666478" cy="3666478"/>
          </a:xfrm>
          <a:prstGeom prst="ellipse">
            <a:avLst/>
          </a:prstGeom>
          <a:solidFill>
            <a:schemeClr val="accent1">
              <a:alpha val="30196"/>
            </a:schemeClr>
          </a:solidFill>
          <a:ln w="571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25B8333E-F83B-01D6-FAD2-C1E5B1DA779A}"/>
              </a:ext>
            </a:extLst>
          </p:cNvPr>
          <p:cNvSpPr/>
          <p:nvPr/>
        </p:nvSpPr>
        <p:spPr>
          <a:xfrm>
            <a:off x="5473084" y="2902998"/>
            <a:ext cx="3666478" cy="3666478"/>
          </a:xfrm>
          <a:prstGeom prst="ellipse">
            <a:avLst/>
          </a:prstGeom>
          <a:solidFill>
            <a:schemeClr val="bg1">
              <a:lumMod val="65000"/>
              <a:alpha val="30196"/>
            </a:schemeClr>
          </a:solidFill>
          <a:ln w="57150">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74FBA945-9B09-0766-54E0-1CBDE9600F7F}"/>
              </a:ext>
            </a:extLst>
          </p:cNvPr>
          <p:cNvSpPr txBox="1"/>
          <p:nvPr/>
        </p:nvSpPr>
        <p:spPr>
          <a:xfrm>
            <a:off x="7723574" y="1112599"/>
            <a:ext cx="2831976" cy="584775"/>
          </a:xfrm>
          <a:prstGeom prst="rect">
            <a:avLst/>
          </a:prstGeom>
          <a:noFill/>
        </p:spPr>
        <p:txBody>
          <a:bodyPr wrap="square" rtlCol="0">
            <a:spAutoFit/>
          </a:bodyPr>
          <a:lstStyle/>
          <a:p>
            <a:r>
              <a:rPr lang="fr-FR" b="1" dirty="0">
                <a:solidFill>
                  <a:srgbClr val="0683AA"/>
                </a:solidFill>
              </a:rPr>
              <a:t>Indicateurs faisables</a:t>
            </a:r>
          </a:p>
          <a:p>
            <a:endParaRPr lang="fr-FR" sz="1400" dirty="0">
              <a:solidFill>
                <a:srgbClr val="0683AA"/>
              </a:solidFill>
            </a:endParaRPr>
          </a:p>
        </p:txBody>
      </p:sp>
      <p:sp>
        <p:nvSpPr>
          <p:cNvPr id="11" name="ZoneTexte 10">
            <a:extLst>
              <a:ext uri="{FF2B5EF4-FFF2-40B4-BE49-F238E27FC236}">
                <a16:creationId xmlns:a16="http://schemas.microsoft.com/office/drawing/2014/main" id="{8E3312A8-BF1D-898D-19DD-287E46509E77}"/>
              </a:ext>
            </a:extLst>
          </p:cNvPr>
          <p:cNvSpPr txBox="1"/>
          <p:nvPr/>
        </p:nvSpPr>
        <p:spPr>
          <a:xfrm>
            <a:off x="9271247" y="4191705"/>
            <a:ext cx="2831976" cy="646331"/>
          </a:xfrm>
          <a:prstGeom prst="rect">
            <a:avLst/>
          </a:prstGeom>
          <a:noFill/>
        </p:spPr>
        <p:txBody>
          <a:bodyPr wrap="square" rtlCol="0">
            <a:spAutoFit/>
          </a:bodyPr>
          <a:lstStyle/>
          <a:p>
            <a:r>
              <a:rPr lang="fr-FR" b="1" dirty="0">
                <a:solidFill>
                  <a:schemeClr val="bg1">
                    <a:lumMod val="50000"/>
                  </a:schemeClr>
                </a:solidFill>
              </a:rPr>
              <a:t>Indicateurs utiles pour décider</a:t>
            </a:r>
            <a:endParaRPr lang="fr-FR" sz="1400" dirty="0">
              <a:solidFill>
                <a:schemeClr val="bg1">
                  <a:lumMod val="50000"/>
                </a:schemeClr>
              </a:solidFill>
            </a:endParaRPr>
          </a:p>
        </p:txBody>
      </p:sp>
      <p:sp>
        <p:nvSpPr>
          <p:cNvPr id="12" name="ZoneTexte 11">
            <a:extLst>
              <a:ext uri="{FF2B5EF4-FFF2-40B4-BE49-F238E27FC236}">
                <a16:creationId xmlns:a16="http://schemas.microsoft.com/office/drawing/2014/main" id="{2E0D7991-1D91-7712-43F5-91120641A890}"/>
              </a:ext>
            </a:extLst>
          </p:cNvPr>
          <p:cNvSpPr txBox="1"/>
          <p:nvPr/>
        </p:nvSpPr>
        <p:spPr>
          <a:xfrm>
            <a:off x="251535" y="4191705"/>
            <a:ext cx="2831976" cy="584775"/>
          </a:xfrm>
          <a:prstGeom prst="rect">
            <a:avLst/>
          </a:prstGeom>
          <a:noFill/>
        </p:spPr>
        <p:txBody>
          <a:bodyPr wrap="square" rtlCol="0">
            <a:spAutoFit/>
          </a:bodyPr>
          <a:lstStyle/>
          <a:p>
            <a:pPr algn="r"/>
            <a:r>
              <a:rPr lang="fr-FR" b="1" dirty="0">
                <a:solidFill>
                  <a:srgbClr val="ED7D31"/>
                </a:solidFill>
              </a:rPr>
              <a:t>Indicateurs communicables</a:t>
            </a:r>
          </a:p>
          <a:p>
            <a:pPr algn="r"/>
            <a:endParaRPr lang="fr-FR" sz="1400" dirty="0">
              <a:solidFill>
                <a:srgbClr val="ED7D31"/>
              </a:solidFill>
            </a:endParaRPr>
          </a:p>
        </p:txBody>
      </p:sp>
      <p:sp>
        <p:nvSpPr>
          <p:cNvPr id="3" name="Rectangle 2">
            <a:extLst>
              <a:ext uri="{FF2B5EF4-FFF2-40B4-BE49-F238E27FC236}">
                <a16:creationId xmlns:a16="http://schemas.microsoft.com/office/drawing/2014/main" id="{AD099D41-D68E-9EA5-4EB4-1E24DB58F3A4}"/>
              </a:ext>
            </a:extLst>
          </p:cNvPr>
          <p:cNvSpPr/>
          <p:nvPr/>
        </p:nvSpPr>
        <p:spPr>
          <a:xfrm>
            <a:off x="4847866" y="3306932"/>
            <a:ext cx="748025" cy="4296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Indicateur A</a:t>
            </a:r>
          </a:p>
        </p:txBody>
      </p:sp>
      <p:sp>
        <p:nvSpPr>
          <p:cNvPr id="4" name="Rectangle 3">
            <a:extLst>
              <a:ext uri="{FF2B5EF4-FFF2-40B4-BE49-F238E27FC236}">
                <a16:creationId xmlns:a16="http://schemas.microsoft.com/office/drawing/2014/main" id="{F6F31E5C-987C-5EE2-C60E-C6C0879FB05A}"/>
              </a:ext>
            </a:extLst>
          </p:cNvPr>
          <p:cNvSpPr/>
          <p:nvPr/>
        </p:nvSpPr>
        <p:spPr>
          <a:xfrm>
            <a:off x="5595891" y="4030972"/>
            <a:ext cx="748025" cy="4296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Indicateur B</a:t>
            </a:r>
          </a:p>
        </p:txBody>
      </p:sp>
      <p:sp>
        <p:nvSpPr>
          <p:cNvPr id="5" name="Rectangle 4">
            <a:extLst>
              <a:ext uri="{FF2B5EF4-FFF2-40B4-BE49-F238E27FC236}">
                <a16:creationId xmlns:a16="http://schemas.microsoft.com/office/drawing/2014/main" id="{815DA678-C4B8-1F31-DB89-B33280AA5CEA}"/>
              </a:ext>
            </a:extLst>
          </p:cNvPr>
          <p:cNvSpPr/>
          <p:nvPr/>
        </p:nvSpPr>
        <p:spPr>
          <a:xfrm>
            <a:off x="6177379" y="2083145"/>
            <a:ext cx="748025" cy="4296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Indicateur D</a:t>
            </a:r>
          </a:p>
        </p:txBody>
      </p:sp>
      <p:sp>
        <p:nvSpPr>
          <p:cNvPr id="6" name="Rectangle 5">
            <a:extLst>
              <a:ext uri="{FF2B5EF4-FFF2-40B4-BE49-F238E27FC236}">
                <a16:creationId xmlns:a16="http://schemas.microsoft.com/office/drawing/2014/main" id="{7B425B6D-E305-D38E-23A6-A56DDF9DC3E1}"/>
              </a:ext>
            </a:extLst>
          </p:cNvPr>
          <p:cNvSpPr/>
          <p:nvPr/>
        </p:nvSpPr>
        <p:spPr>
          <a:xfrm>
            <a:off x="5429354" y="2052489"/>
            <a:ext cx="748025" cy="4296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Indicateur C</a:t>
            </a:r>
          </a:p>
        </p:txBody>
      </p:sp>
      <p:sp>
        <p:nvSpPr>
          <p:cNvPr id="14" name="Rectangle 13">
            <a:extLst>
              <a:ext uri="{FF2B5EF4-FFF2-40B4-BE49-F238E27FC236}">
                <a16:creationId xmlns:a16="http://schemas.microsoft.com/office/drawing/2014/main" id="{95791EE4-84BF-3629-6BDF-CCB166F8067B}"/>
              </a:ext>
            </a:extLst>
          </p:cNvPr>
          <p:cNvSpPr/>
          <p:nvPr/>
        </p:nvSpPr>
        <p:spPr>
          <a:xfrm>
            <a:off x="3838442" y="5346217"/>
            <a:ext cx="748025" cy="4296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Indicateur E</a:t>
            </a:r>
          </a:p>
        </p:txBody>
      </p:sp>
      <p:sp>
        <p:nvSpPr>
          <p:cNvPr id="15" name="Rectangle 14">
            <a:extLst>
              <a:ext uri="{FF2B5EF4-FFF2-40B4-BE49-F238E27FC236}">
                <a16:creationId xmlns:a16="http://schemas.microsoft.com/office/drawing/2014/main" id="{D4BE3081-42FB-C3E6-4FEF-AB6E84864E32}"/>
              </a:ext>
            </a:extLst>
          </p:cNvPr>
          <p:cNvSpPr/>
          <p:nvPr/>
        </p:nvSpPr>
        <p:spPr>
          <a:xfrm>
            <a:off x="4681329" y="5780298"/>
            <a:ext cx="748025" cy="4296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Indicateur F</a:t>
            </a:r>
          </a:p>
        </p:txBody>
      </p:sp>
      <p:sp>
        <p:nvSpPr>
          <p:cNvPr id="22" name="Rectangle 21">
            <a:extLst>
              <a:ext uri="{FF2B5EF4-FFF2-40B4-BE49-F238E27FC236}">
                <a16:creationId xmlns:a16="http://schemas.microsoft.com/office/drawing/2014/main" id="{ED317C87-6039-A8B6-E613-96FD03F90BA5}"/>
              </a:ext>
            </a:extLst>
          </p:cNvPr>
          <p:cNvSpPr/>
          <p:nvPr/>
        </p:nvSpPr>
        <p:spPr>
          <a:xfrm>
            <a:off x="7375207" y="5210360"/>
            <a:ext cx="748025" cy="4296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Indicateur I</a:t>
            </a:r>
          </a:p>
        </p:txBody>
      </p:sp>
      <p:sp>
        <p:nvSpPr>
          <p:cNvPr id="23" name="Rectangle 22">
            <a:extLst>
              <a:ext uri="{FF2B5EF4-FFF2-40B4-BE49-F238E27FC236}">
                <a16:creationId xmlns:a16="http://schemas.microsoft.com/office/drawing/2014/main" id="{25FDE9F4-38A2-A770-BC8E-ADAA39945CEF}"/>
              </a:ext>
            </a:extLst>
          </p:cNvPr>
          <p:cNvSpPr/>
          <p:nvPr/>
        </p:nvSpPr>
        <p:spPr>
          <a:xfrm>
            <a:off x="7889621" y="4736237"/>
            <a:ext cx="748025" cy="4296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Indicateur K</a:t>
            </a:r>
          </a:p>
        </p:txBody>
      </p:sp>
      <p:sp>
        <p:nvSpPr>
          <p:cNvPr id="24" name="Rectangle 23">
            <a:extLst>
              <a:ext uri="{FF2B5EF4-FFF2-40B4-BE49-F238E27FC236}">
                <a16:creationId xmlns:a16="http://schemas.microsoft.com/office/drawing/2014/main" id="{10BF81DB-4974-1E4D-FC91-19DC7DB04768}"/>
              </a:ext>
            </a:extLst>
          </p:cNvPr>
          <p:cNvSpPr/>
          <p:nvPr/>
        </p:nvSpPr>
        <p:spPr>
          <a:xfrm>
            <a:off x="6888581" y="5846048"/>
            <a:ext cx="748025" cy="4296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Indicateur H</a:t>
            </a:r>
          </a:p>
        </p:txBody>
      </p:sp>
      <p:sp>
        <p:nvSpPr>
          <p:cNvPr id="25" name="Rectangle 24">
            <a:extLst>
              <a:ext uri="{FF2B5EF4-FFF2-40B4-BE49-F238E27FC236}">
                <a16:creationId xmlns:a16="http://schemas.microsoft.com/office/drawing/2014/main" id="{EBB8A215-4B54-8167-182F-4538469961CE}"/>
              </a:ext>
            </a:extLst>
          </p:cNvPr>
          <p:cNvSpPr/>
          <p:nvPr/>
        </p:nvSpPr>
        <p:spPr>
          <a:xfrm>
            <a:off x="5809861" y="5311734"/>
            <a:ext cx="748025" cy="4296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Indicateur G</a:t>
            </a:r>
          </a:p>
        </p:txBody>
      </p:sp>
      <p:pic>
        <p:nvPicPr>
          <p:cNvPr id="13" name="Graphique 12" descr="Mégaphone avec un remplissage uni">
            <a:extLst>
              <a:ext uri="{FF2B5EF4-FFF2-40B4-BE49-F238E27FC236}">
                <a16:creationId xmlns:a16="http://schemas.microsoft.com/office/drawing/2014/main" id="{963A2585-A436-6117-AD3E-3DA3C660A92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6288" y="3534350"/>
            <a:ext cx="723824" cy="723824"/>
          </a:xfrm>
          <a:prstGeom prst="rect">
            <a:avLst/>
          </a:prstGeom>
        </p:spPr>
      </p:pic>
      <p:pic>
        <p:nvPicPr>
          <p:cNvPr id="16" name="Graphique 15" descr="Panneau de signalisation avec un remplissage uni">
            <a:extLst>
              <a:ext uri="{FF2B5EF4-FFF2-40B4-BE49-F238E27FC236}">
                <a16:creationId xmlns:a16="http://schemas.microsoft.com/office/drawing/2014/main" id="{58873076-38AA-A168-9178-F7736C38F2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86421" y="3364663"/>
            <a:ext cx="914400" cy="914400"/>
          </a:xfrm>
          <a:prstGeom prst="rect">
            <a:avLst/>
          </a:prstGeom>
        </p:spPr>
      </p:pic>
      <p:pic>
        <p:nvPicPr>
          <p:cNvPr id="17" name="Graphique 16" descr="Presse-papiers vérifié avec un remplissage uni">
            <a:extLst>
              <a:ext uri="{FF2B5EF4-FFF2-40B4-BE49-F238E27FC236}">
                <a16:creationId xmlns:a16="http://schemas.microsoft.com/office/drawing/2014/main" id="{DF53B60E-A7B1-14C2-0001-6E4D5F13FD2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75221" y="810139"/>
            <a:ext cx="914400" cy="914400"/>
          </a:xfrm>
          <a:prstGeom prst="rect">
            <a:avLst/>
          </a:prstGeom>
        </p:spPr>
      </p:pic>
      <p:sp>
        <p:nvSpPr>
          <p:cNvPr id="18" name="Rectangle 17">
            <a:extLst>
              <a:ext uri="{FF2B5EF4-FFF2-40B4-BE49-F238E27FC236}">
                <a16:creationId xmlns:a16="http://schemas.microsoft.com/office/drawing/2014/main" id="{3F1607A9-2671-1024-16B1-B01BB73299B4}"/>
              </a:ext>
            </a:extLst>
          </p:cNvPr>
          <p:cNvSpPr/>
          <p:nvPr/>
        </p:nvSpPr>
        <p:spPr>
          <a:xfrm>
            <a:off x="5798927" y="4530803"/>
            <a:ext cx="748025" cy="42964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Indicateur Z</a:t>
            </a:r>
          </a:p>
        </p:txBody>
      </p:sp>
    </p:spTree>
    <p:extLst>
      <p:ext uri="{BB962C8B-B14F-4D97-AF65-F5344CB8AC3E}">
        <p14:creationId xmlns:p14="http://schemas.microsoft.com/office/powerpoint/2010/main" val="259737621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578E64-1D85-2563-4E85-689FD1F21A8D}"/>
              </a:ext>
            </a:extLst>
          </p:cNvPr>
          <p:cNvSpPr>
            <a:spLocks noGrp="1"/>
          </p:cNvSpPr>
          <p:nvPr>
            <p:ph type="title"/>
          </p:nvPr>
        </p:nvSpPr>
        <p:spPr/>
        <p:txBody>
          <a:bodyPr/>
          <a:lstStyle/>
          <a:p>
            <a:r>
              <a:rPr lang="fr-FR" dirty="0"/>
              <a:t>CCC-</a:t>
            </a:r>
            <a:r>
              <a:rPr lang="fr-FR" dirty="0" err="1"/>
              <a:t>Indicators</a:t>
            </a:r>
            <a:r>
              <a:rPr lang="fr-FR" dirty="0"/>
              <a:t> </a:t>
            </a:r>
            <a:br>
              <a:rPr lang="fr-FR" dirty="0"/>
            </a:br>
            <a:r>
              <a:rPr lang="fr-FR" dirty="0"/>
              <a:t>Prendre les engagements sur la mesure</a:t>
            </a:r>
          </a:p>
        </p:txBody>
      </p:sp>
      <p:graphicFrame>
        <p:nvGraphicFramePr>
          <p:cNvPr id="4" name="Tableau 4">
            <a:extLst>
              <a:ext uri="{FF2B5EF4-FFF2-40B4-BE49-F238E27FC236}">
                <a16:creationId xmlns:a16="http://schemas.microsoft.com/office/drawing/2014/main" id="{BA739480-24DF-5C35-35C5-B4177224D7A0}"/>
              </a:ext>
            </a:extLst>
          </p:cNvPr>
          <p:cNvGraphicFramePr>
            <a:graphicFrameLocks noGrp="1"/>
          </p:cNvGraphicFramePr>
          <p:nvPr>
            <p:ph idx="1"/>
            <p:extLst>
              <p:ext uri="{D42A27DB-BD31-4B8C-83A1-F6EECF244321}">
                <p14:modId xmlns:p14="http://schemas.microsoft.com/office/powerpoint/2010/main" val="263775435"/>
              </p:ext>
            </p:extLst>
          </p:nvPr>
        </p:nvGraphicFramePr>
        <p:xfrm>
          <a:off x="838200" y="1825625"/>
          <a:ext cx="10515600" cy="40538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4141881047"/>
                    </a:ext>
                  </a:extLst>
                </a:gridCol>
                <a:gridCol w="2103120">
                  <a:extLst>
                    <a:ext uri="{9D8B030D-6E8A-4147-A177-3AD203B41FA5}">
                      <a16:colId xmlns:a16="http://schemas.microsoft.com/office/drawing/2014/main" val="2565087715"/>
                    </a:ext>
                  </a:extLst>
                </a:gridCol>
                <a:gridCol w="2103120">
                  <a:extLst>
                    <a:ext uri="{9D8B030D-6E8A-4147-A177-3AD203B41FA5}">
                      <a16:colId xmlns:a16="http://schemas.microsoft.com/office/drawing/2014/main" val="2120987669"/>
                    </a:ext>
                  </a:extLst>
                </a:gridCol>
                <a:gridCol w="2103120">
                  <a:extLst>
                    <a:ext uri="{9D8B030D-6E8A-4147-A177-3AD203B41FA5}">
                      <a16:colId xmlns:a16="http://schemas.microsoft.com/office/drawing/2014/main" val="3661049974"/>
                    </a:ext>
                  </a:extLst>
                </a:gridCol>
                <a:gridCol w="2103120">
                  <a:extLst>
                    <a:ext uri="{9D8B030D-6E8A-4147-A177-3AD203B41FA5}">
                      <a16:colId xmlns:a16="http://schemas.microsoft.com/office/drawing/2014/main" val="1788699137"/>
                    </a:ext>
                  </a:extLst>
                </a:gridCol>
              </a:tblGrid>
              <a:tr h="370840">
                <a:tc>
                  <a:txBody>
                    <a:bodyPr/>
                    <a:lstStyle/>
                    <a:p>
                      <a:r>
                        <a:rPr lang="fr-FR" dirty="0"/>
                        <a:t>Indicateur clé</a:t>
                      </a:r>
                    </a:p>
                  </a:txBody>
                  <a:tcPr/>
                </a:tc>
                <a:tc>
                  <a:txBody>
                    <a:bodyPr/>
                    <a:lstStyle/>
                    <a:p>
                      <a:r>
                        <a:rPr lang="fr-FR" dirty="0"/>
                        <a:t>Qui est responsable de la mesure</a:t>
                      </a:r>
                    </a:p>
                  </a:txBody>
                  <a:tcPr/>
                </a:tc>
                <a:tc>
                  <a:txBody>
                    <a:bodyPr/>
                    <a:lstStyle/>
                    <a:p>
                      <a:r>
                        <a:rPr lang="fr-FR" dirty="0"/>
                        <a:t>A quelle fréquence le mesurerons nous ?</a:t>
                      </a:r>
                    </a:p>
                  </a:txBody>
                  <a:tcPr/>
                </a:tc>
                <a:tc>
                  <a:txBody>
                    <a:bodyPr/>
                    <a:lstStyle/>
                    <a:p>
                      <a:r>
                        <a:rPr lang="fr-FR" dirty="0"/>
                        <a:t>Quand aura lieu la première mesure ?</a:t>
                      </a:r>
                    </a:p>
                  </a:txBody>
                  <a:tcPr/>
                </a:tc>
                <a:tc>
                  <a:txBody>
                    <a:bodyPr/>
                    <a:lstStyle/>
                    <a:p>
                      <a:r>
                        <a:rPr lang="fr-FR" dirty="0"/>
                        <a:t>Autres commentaires</a:t>
                      </a:r>
                    </a:p>
                  </a:txBody>
                  <a:tcPr/>
                </a:tc>
                <a:extLst>
                  <a:ext uri="{0D108BD9-81ED-4DB2-BD59-A6C34878D82A}">
                    <a16:rowId xmlns:a16="http://schemas.microsoft.com/office/drawing/2014/main" val="3071039635"/>
                  </a:ext>
                </a:extLst>
              </a:tr>
              <a:tr h="370840">
                <a:tc>
                  <a:txBody>
                    <a:bodyPr/>
                    <a:lstStyle/>
                    <a:p>
                      <a:r>
                        <a:rPr lang="fr-FR" i="1" dirty="0"/>
                        <a:t>Exemple : Niveau moyen des membres sur le sujet XYZ</a:t>
                      </a:r>
                    </a:p>
                  </a:txBody>
                  <a:tcPr/>
                </a:tc>
                <a:tc>
                  <a:txBody>
                    <a:bodyPr/>
                    <a:lstStyle/>
                    <a:p>
                      <a:r>
                        <a:rPr lang="fr-FR" i="1" dirty="0"/>
                        <a:t>Jacques</a:t>
                      </a:r>
                    </a:p>
                  </a:txBody>
                  <a:tcPr/>
                </a:tc>
                <a:tc>
                  <a:txBody>
                    <a:bodyPr/>
                    <a:lstStyle/>
                    <a:p>
                      <a:r>
                        <a:rPr lang="fr-FR" i="1" dirty="0"/>
                        <a:t>Tous les 4 mois</a:t>
                      </a:r>
                    </a:p>
                  </a:txBody>
                  <a:tcPr/>
                </a:tc>
                <a:tc>
                  <a:txBody>
                    <a:bodyPr/>
                    <a:lstStyle/>
                    <a:p>
                      <a:r>
                        <a:rPr lang="fr-FR" i="1" dirty="0"/>
                        <a:t>Lundi 4 avril</a:t>
                      </a:r>
                    </a:p>
                  </a:txBody>
                  <a:tcPr/>
                </a:tc>
                <a:tc>
                  <a:txBody>
                    <a:bodyPr/>
                    <a:lstStyle/>
                    <a:p>
                      <a:r>
                        <a:rPr lang="fr-FR" i="1" dirty="0"/>
                        <a:t>Essayer de collecter les informations en mars</a:t>
                      </a:r>
                    </a:p>
                  </a:txBody>
                  <a:tcPr/>
                </a:tc>
                <a:extLst>
                  <a:ext uri="{0D108BD9-81ED-4DB2-BD59-A6C34878D82A}">
                    <a16:rowId xmlns:a16="http://schemas.microsoft.com/office/drawing/2014/main" val="931955137"/>
                  </a:ext>
                </a:extLst>
              </a:tr>
              <a:tr h="370840">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806459337"/>
                  </a:ext>
                </a:extLst>
              </a:tr>
              <a:tr h="370840">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tc>
                  <a:txBody>
                    <a:bodyPr/>
                    <a:lstStyle/>
                    <a:p>
                      <a:endParaRPr lang="fr-FR" dirty="0"/>
                    </a:p>
                  </a:txBody>
                  <a:tcPr/>
                </a:tc>
                <a:extLst>
                  <a:ext uri="{0D108BD9-81ED-4DB2-BD59-A6C34878D82A}">
                    <a16:rowId xmlns:a16="http://schemas.microsoft.com/office/drawing/2014/main" val="4269300621"/>
                  </a:ext>
                </a:extLst>
              </a:tr>
              <a:tr h="370840">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661048174"/>
                  </a:ext>
                </a:extLst>
              </a:tr>
              <a:tr h="370840">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1407460955"/>
                  </a:ext>
                </a:extLst>
              </a:tr>
              <a:tr h="370840">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2324728541"/>
                  </a:ext>
                </a:extLst>
              </a:tr>
              <a:tr h="370840">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1535059528"/>
                  </a:ext>
                </a:extLst>
              </a:tr>
            </a:tbl>
          </a:graphicData>
        </a:graphic>
      </p:graphicFrame>
    </p:spTree>
    <p:extLst>
      <p:ext uri="{BB962C8B-B14F-4D97-AF65-F5344CB8AC3E}">
        <p14:creationId xmlns:p14="http://schemas.microsoft.com/office/powerpoint/2010/main" val="64884572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e 30">
            <a:extLst>
              <a:ext uri="{FF2B5EF4-FFF2-40B4-BE49-F238E27FC236}">
                <a16:creationId xmlns:a16="http://schemas.microsoft.com/office/drawing/2014/main" id="{566822D7-BE59-42A3-8647-937CD139D65E}"/>
              </a:ext>
            </a:extLst>
          </p:cNvPr>
          <p:cNvGrpSpPr/>
          <p:nvPr/>
        </p:nvGrpSpPr>
        <p:grpSpPr>
          <a:xfrm>
            <a:off x="160924" y="5542935"/>
            <a:ext cx="1203228" cy="1160644"/>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nvGraphicFramePr>
        <p:xfrm>
          <a:off x="6986736" y="1555782"/>
          <a:ext cx="4740676" cy="429650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Idées de variantes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r>
                        <a:rPr lang="fr-FR" sz="1100">
                          <a:solidFill>
                            <a:srgbClr val="000000"/>
                          </a:solidFill>
                          <a:cs typeface="Calibri"/>
                        </a:rPr>
                        <a:t>Vous pouvez proposer des variantes (on change le jeu) ou des extensions (on garde tout ce qui est déjà dans le jeu existant et on ajoute des éléments supplémentaires). </a:t>
                      </a:r>
                      <a:endParaRPr lang="fr-FR" sz="1100"/>
                    </a:p>
                  </a:txBody>
                  <a:tcPr/>
                </a:tc>
                <a:tc>
                  <a:txBody>
                    <a:bodyPr/>
                    <a:lstStyle/>
                    <a:p>
                      <a:r>
                        <a:rPr lang="fr-FR" sz="1100"/>
                        <a:t>Décrivez brièvement la variante</a:t>
                      </a:r>
                    </a:p>
                  </a:txBody>
                  <a:tcPr/>
                </a:tc>
                <a:extLst>
                  <a:ext uri="{0D108BD9-81ED-4DB2-BD59-A6C34878D82A}">
                    <a16:rowId xmlns:a16="http://schemas.microsoft.com/office/drawing/2014/main" val="4249539521"/>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824107877"/>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035027814"/>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4133077535"/>
              </p:ext>
            </p:extLst>
          </p:nvPr>
        </p:nvGraphicFramePr>
        <p:xfrm>
          <a:off x="388475" y="1555782"/>
          <a:ext cx="6191648" cy="286004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Historique des versions</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a:solidFill>
                            <a:schemeClr val="lt1"/>
                          </a:solidFill>
                          <a:latin typeface="+mn-lt"/>
                          <a:ea typeface="+mn-ea"/>
                          <a:cs typeface="+mn-cs"/>
                        </a:rPr>
                        <a:t>Licence</a:t>
                      </a:r>
                    </a:p>
                  </a:txBody>
                  <a:tcPr>
                    <a:solidFill>
                      <a:srgbClr val="ED7D31"/>
                    </a:solidFill>
                  </a:tcPr>
                </a:tc>
                <a:tc>
                  <a:txBody>
                    <a:bodyPr/>
                    <a:lstStyle/>
                    <a:p>
                      <a:r>
                        <a:rPr lang="fr-FR" sz="1200" b="1" kern="120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a:t>1.0</a:t>
                      </a:r>
                    </a:p>
                  </a:txBody>
                  <a:tcPr/>
                </a:tc>
                <a:tc>
                  <a:txBody>
                    <a:bodyPr/>
                    <a:lstStyle/>
                    <a:p>
                      <a:r>
                        <a:rPr lang="fr-FR" sz="1200" dirty="0"/>
                        <a:t>Alexandre QUACH</a:t>
                      </a:r>
                    </a:p>
                    <a:p>
                      <a:r>
                        <a:rPr lang="fr-FR" sz="1200" dirty="0"/>
                        <a:t>Marine CLAUSE</a:t>
                      </a:r>
                    </a:p>
                    <a:p>
                      <a:r>
                        <a:rPr lang="fr-FR" sz="1200" dirty="0"/>
                        <a:t>Stéphanie POUCHOY</a:t>
                      </a:r>
                    </a:p>
                  </a:txBody>
                  <a:tcPr/>
                </a:tc>
                <a:tc>
                  <a:txBody>
                    <a:bodyPr/>
                    <a:lstStyle/>
                    <a:p>
                      <a:r>
                        <a:rPr lang="fr-FR" sz="1200"/>
                        <a:t>CC-BY-3.0</a:t>
                      </a:r>
                    </a:p>
                  </a:txBody>
                  <a:tcPr/>
                </a:tc>
                <a:tc>
                  <a:txBody>
                    <a:bodyPr/>
                    <a:lstStyle/>
                    <a:p>
                      <a:r>
                        <a:rPr lang="fr-FR" sz="1200"/>
                        <a:t>Première version</a:t>
                      </a:r>
                    </a:p>
                  </a:txBody>
                  <a:tcPr/>
                </a:tc>
                <a:extLst>
                  <a:ext uri="{0D108BD9-81ED-4DB2-BD59-A6C34878D82A}">
                    <a16:rowId xmlns:a16="http://schemas.microsoft.com/office/drawing/2014/main" val="233750057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56534786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26495474"/>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dirty="0"/>
                    </a:p>
                  </a:txBody>
                  <a:tcPr/>
                </a:tc>
                <a:extLst>
                  <a:ext uri="{0D108BD9-81ED-4DB2-BD59-A6C34878D82A}">
                    <a16:rowId xmlns:a16="http://schemas.microsoft.com/office/drawing/2014/main" val="3632454121"/>
                  </a:ext>
                </a:extLst>
              </a:tr>
            </a:tbl>
          </a:graphicData>
        </a:graphic>
      </p:graphicFrame>
      <p:sp>
        <p:nvSpPr>
          <p:cNvPr id="17" name="ZoneTexte 16">
            <a:extLst>
              <a:ext uri="{FF2B5EF4-FFF2-40B4-BE49-F238E27FC236}">
                <a16:creationId xmlns:a16="http://schemas.microsoft.com/office/drawing/2014/main" id="{E069AED5-1784-348D-6A9E-9D301F248D48}"/>
              </a:ext>
            </a:extLst>
          </p:cNvPr>
          <p:cNvSpPr txBox="1"/>
          <p:nvPr/>
        </p:nvSpPr>
        <p:spPr>
          <a:xfrm>
            <a:off x="0" y="249331"/>
            <a:ext cx="12192000" cy="584775"/>
          </a:xfrm>
          <a:prstGeom prst="rect">
            <a:avLst/>
          </a:prstGeom>
          <a:noFill/>
        </p:spPr>
        <p:txBody>
          <a:bodyPr wrap="square" rtlCol="0">
            <a:spAutoFit/>
          </a:bodyPr>
          <a:lstStyle/>
          <a:p>
            <a:pPr marL="0" indent="0" algn="ctr">
              <a:buNone/>
            </a:pPr>
            <a:r>
              <a:rPr lang="fr-FR" sz="3200" b="1" i="1" dirty="0"/>
              <a:t>Atelier CCC-</a:t>
            </a:r>
            <a:r>
              <a:rPr lang="fr-FR" sz="3200" b="1" i="1" dirty="0" err="1"/>
              <a:t>Indicators</a:t>
            </a:r>
            <a:r>
              <a:rPr lang="fr-FR" sz="3200" b="1" i="1" dirty="0"/>
              <a:t> – </a:t>
            </a:r>
            <a:r>
              <a:rPr lang="fr-FR" sz="3200" b="1" i="1" dirty="0">
                <a:solidFill>
                  <a:srgbClr val="ED7D31"/>
                </a:solidFill>
              </a:rPr>
              <a:t>Adaptation</a:t>
            </a:r>
            <a:endParaRPr lang="fr-FR" sz="3200" dirty="0"/>
          </a:p>
        </p:txBody>
      </p:sp>
      <p:sp>
        <p:nvSpPr>
          <p:cNvPr id="37" name="Espace réservé du texte 15">
            <a:extLst>
              <a:ext uri="{FF2B5EF4-FFF2-40B4-BE49-F238E27FC236}">
                <a16:creationId xmlns:a16="http://schemas.microsoft.com/office/drawing/2014/main" id="{329CFF52-673C-9F7B-6823-AEDE5A5493C9}"/>
              </a:ext>
            </a:extLst>
          </p:cNvPr>
          <p:cNvSpPr txBox="1">
            <a:spLocks/>
          </p:cNvSpPr>
          <p:nvPr/>
        </p:nvSpPr>
        <p:spPr>
          <a:xfrm>
            <a:off x="1292106" y="6326283"/>
            <a:ext cx="10645035" cy="3589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a:solidFill>
                  <a:schemeClr val="tx1"/>
                </a:solidFill>
              </a:rPr>
              <a:t>Pour adapter facilement l’atelier et créer des variantes</a:t>
            </a:r>
          </a:p>
        </p:txBody>
      </p:sp>
    </p:spTree>
    <p:extLst>
      <p:ext uri="{BB962C8B-B14F-4D97-AF65-F5344CB8AC3E}">
        <p14:creationId xmlns:p14="http://schemas.microsoft.com/office/powerpoint/2010/main" val="399869448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337A549B-FB0E-4097-A123-DE5231C2FAB3}"/>
              </a:ext>
            </a:extLst>
          </p:cNvPr>
          <p:cNvSpPr txBox="1">
            <a:spLocks/>
          </p:cNvSpPr>
          <p:nvPr/>
        </p:nvSpPr>
        <p:spPr>
          <a:xfrm>
            <a:off x="0" y="877836"/>
            <a:ext cx="12192000" cy="156119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6000" b="1" i="1" dirty="0"/>
              <a:t>Annexes CCC</a:t>
            </a:r>
            <a:endParaRPr lang="fr-FR" sz="6000" b="1" i="1" dirty="0">
              <a:ea typeface="+mn-lt"/>
              <a:cs typeface="+mn-lt"/>
            </a:endParaRPr>
          </a:p>
          <a:p>
            <a:pPr marL="0" indent="0" algn="ctr">
              <a:buNone/>
            </a:pPr>
            <a:r>
              <a:rPr lang="fr-FR" b="1" i="1" dirty="0">
                <a:solidFill>
                  <a:srgbClr val="ED7D31"/>
                </a:solidFill>
              </a:rPr>
              <a:t>Vue globale </a:t>
            </a:r>
            <a:endParaRPr lang="fr-FR" b="1" i="1" dirty="0">
              <a:solidFill>
                <a:srgbClr val="000000"/>
              </a:solidFill>
              <a:cs typeface="Calibri"/>
            </a:endParaRPr>
          </a:p>
        </p:txBody>
      </p:sp>
      <p:grpSp>
        <p:nvGrpSpPr>
          <p:cNvPr id="2" name="Groupe 1">
            <a:extLst>
              <a:ext uri="{FF2B5EF4-FFF2-40B4-BE49-F238E27FC236}">
                <a16:creationId xmlns:a16="http://schemas.microsoft.com/office/drawing/2014/main" id="{55274D86-E242-2318-FDF8-A62685FD268E}"/>
              </a:ext>
            </a:extLst>
          </p:cNvPr>
          <p:cNvGrpSpPr/>
          <p:nvPr/>
        </p:nvGrpSpPr>
        <p:grpSpPr>
          <a:xfrm>
            <a:off x="4128486" y="2760688"/>
            <a:ext cx="3698197" cy="4117299"/>
            <a:chOff x="4128486" y="2379688"/>
            <a:chExt cx="3698197" cy="4117299"/>
          </a:xfrm>
        </p:grpSpPr>
        <p:pic>
          <p:nvPicPr>
            <p:cNvPr id="8" name="Graphique 7" descr="Homme tenant un panneau">
              <a:extLst>
                <a:ext uri="{FF2B5EF4-FFF2-40B4-BE49-F238E27FC236}">
                  <a16:creationId xmlns:a16="http://schemas.microsoft.com/office/drawing/2014/main" id="{D243A25C-5A0A-4F67-BC20-FCD71E7C4AF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9" name="Espace réservé du texte 15">
              <a:extLst>
                <a:ext uri="{FF2B5EF4-FFF2-40B4-BE49-F238E27FC236}">
                  <a16:creationId xmlns:a16="http://schemas.microsoft.com/office/drawing/2014/main" id="{72684439-8F46-4BB9-AF9C-82D301DB2013}"/>
                </a:ext>
              </a:extLst>
            </p:cNvPr>
            <p:cNvSpPr txBox="1">
              <a:spLocks/>
            </p:cNvSpPr>
            <p:nvPr/>
          </p:nvSpPr>
          <p:spPr>
            <a:xfrm>
              <a:off x="4472402" y="4484981"/>
              <a:ext cx="3061317" cy="175455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3200" b="1" i="1">
                  <a:ea typeface="+mn-lt"/>
                  <a:cs typeface="+mn-lt"/>
                </a:rPr>
                <a:t>LE MODELE DETAILLE</a:t>
              </a:r>
              <a:endParaRPr lang="fr-FR" sz="3200">
                <a:ea typeface="+mn-lt"/>
                <a:cs typeface="+mn-lt"/>
              </a:endParaRPr>
            </a:p>
            <a:p>
              <a:pPr marL="0" indent="0" algn="ctr">
                <a:buFont typeface="Arial" panose="020B0604020202020204" pitchFamily="34" charset="0"/>
                <a:buNone/>
              </a:pPr>
              <a:endParaRPr lang="fr-FR" sz="3200" b="1" i="1">
                <a:solidFill>
                  <a:srgbClr val="000000"/>
                </a:solidFill>
                <a:cs typeface="Calibri"/>
              </a:endParaRPr>
            </a:p>
          </p:txBody>
        </p:sp>
      </p:grpSp>
    </p:spTree>
    <p:extLst>
      <p:ext uri="{BB962C8B-B14F-4D97-AF65-F5344CB8AC3E}">
        <p14:creationId xmlns:p14="http://schemas.microsoft.com/office/powerpoint/2010/main" val="211978005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76940" y="2380093"/>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INSPIRATION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5" name="Espace réservé du texte 15">
            <a:extLst>
              <a:ext uri="{FF2B5EF4-FFF2-40B4-BE49-F238E27FC236}">
                <a16:creationId xmlns:a16="http://schemas.microsoft.com/office/drawing/2014/main" id="{23E86B51-FA39-4CBD-AD4C-8049BC1B2F26}"/>
              </a:ext>
            </a:extLst>
          </p:cNvPr>
          <p:cNvSpPr txBox="1">
            <a:spLocks/>
          </p:cNvSpPr>
          <p:nvPr/>
        </p:nvSpPr>
        <p:spPr>
          <a:xfrm>
            <a:off x="1814587" y="2380093"/>
            <a:ext cx="1612936" cy="4153873"/>
          </a:xfrm>
          <a:prstGeom prst="rect">
            <a:avLst/>
          </a:prstGeom>
          <a:solidFill>
            <a:schemeClr val="bg1">
              <a:lumMod val="95000"/>
            </a:schemeClr>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COLLECTE</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6" name="Espace réservé du texte 15">
            <a:extLst>
              <a:ext uri="{FF2B5EF4-FFF2-40B4-BE49-F238E27FC236}">
                <a16:creationId xmlns:a16="http://schemas.microsoft.com/office/drawing/2014/main" id="{DCEA1CF7-5098-45F5-9E5A-1A665AE76AA5}"/>
              </a:ext>
            </a:extLst>
          </p:cNvPr>
          <p:cNvSpPr txBox="1">
            <a:spLocks/>
          </p:cNvSpPr>
          <p:nvPr/>
        </p:nvSpPr>
        <p:spPr>
          <a:xfrm>
            <a:off x="3542465" y="2380093"/>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INITIATION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7" name="Espace réservé du texte 15">
            <a:extLst>
              <a:ext uri="{FF2B5EF4-FFF2-40B4-BE49-F238E27FC236}">
                <a16:creationId xmlns:a16="http://schemas.microsoft.com/office/drawing/2014/main" id="{5F1F4080-42EC-4FC1-83FE-4D07E5D89749}"/>
              </a:ext>
            </a:extLst>
          </p:cNvPr>
          <p:cNvSpPr txBox="1">
            <a:spLocks/>
          </p:cNvSpPr>
          <p:nvPr/>
        </p:nvSpPr>
        <p:spPr>
          <a:xfrm>
            <a:off x="5289881" y="2380092"/>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CHOC DE LA RÉALITÉ</a:t>
            </a:r>
          </a:p>
          <a:p>
            <a:pPr marL="0" indent="0" algn="ctr">
              <a:buFont typeface="Arial" panose="020B0604020202020204" pitchFamily="34" charset="0"/>
              <a:buNone/>
            </a:pPr>
            <a:endParaRPr lang="fr-FR" sz="1400" b="1" i="1"/>
          </a:p>
          <a:p>
            <a:pPr marL="0" indent="0" algn="ctr">
              <a:buFont typeface="Arial" panose="020B0604020202020204" pitchFamily="34" charset="0"/>
              <a:buNone/>
            </a:pPr>
            <a:endParaRPr lang="fr-FR" sz="1400" b="1" i="1">
              <a:solidFill>
                <a:srgbClr val="ED7D31"/>
              </a:solidFill>
            </a:endParaRPr>
          </a:p>
        </p:txBody>
      </p:sp>
      <p:sp>
        <p:nvSpPr>
          <p:cNvPr id="8" name="Espace réservé du texte 15">
            <a:extLst>
              <a:ext uri="{FF2B5EF4-FFF2-40B4-BE49-F238E27FC236}">
                <a16:creationId xmlns:a16="http://schemas.microsoft.com/office/drawing/2014/main" id="{E57CB1DC-1737-4DED-8CD1-015F73A9E762}"/>
              </a:ext>
            </a:extLst>
          </p:cNvPr>
          <p:cNvSpPr txBox="1">
            <a:spLocks/>
          </p:cNvSpPr>
          <p:nvPr/>
        </p:nvSpPr>
        <p:spPr>
          <a:xfrm>
            <a:off x="7027528" y="2380091"/>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CONFIRMATION DE RÉUSSITES</a:t>
            </a:r>
          </a:p>
          <a:p>
            <a:pPr marL="0" indent="0" algn="ctr">
              <a:buFont typeface="Arial" panose="020B0604020202020204" pitchFamily="34" charset="0"/>
              <a:buNone/>
            </a:pPr>
            <a:endParaRPr lang="fr-FR" sz="1400" b="1" i="1">
              <a:solidFill>
                <a:srgbClr val="ED7D31"/>
              </a:solidFill>
            </a:endParaRPr>
          </a:p>
        </p:txBody>
      </p:sp>
      <p:sp>
        <p:nvSpPr>
          <p:cNvPr id="9" name="Espace réservé du texte 15">
            <a:extLst>
              <a:ext uri="{FF2B5EF4-FFF2-40B4-BE49-F238E27FC236}">
                <a16:creationId xmlns:a16="http://schemas.microsoft.com/office/drawing/2014/main" id="{29FC12E0-DC63-458D-84A8-5F7598EFD3A6}"/>
              </a:ext>
            </a:extLst>
          </p:cNvPr>
          <p:cNvSpPr txBox="1">
            <a:spLocks/>
          </p:cNvSpPr>
          <p:nvPr/>
        </p:nvSpPr>
        <p:spPr>
          <a:xfrm>
            <a:off x="8765175" y="2380091"/>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EXPOSITION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sp>
        <p:nvSpPr>
          <p:cNvPr id="10" name="Espace réservé du texte 15">
            <a:extLst>
              <a:ext uri="{FF2B5EF4-FFF2-40B4-BE49-F238E27FC236}">
                <a16:creationId xmlns:a16="http://schemas.microsoft.com/office/drawing/2014/main" id="{930D1EF3-800C-4412-94CD-8A6C1D2C9DCE}"/>
              </a:ext>
            </a:extLst>
          </p:cNvPr>
          <p:cNvSpPr txBox="1">
            <a:spLocks/>
          </p:cNvSpPr>
          <p:nvPr/>
        </p:nvSpPr>
        <p:spPr>
          <a:xfrm>
            <a:off x="10502124" y="2380091"/>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FORTIFICATION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6208" y="1376914"/>
            <a:ext cx="914400" cy="914400"/>
          </a:xfrm>
          <a:prstGeom prst="rect">
            <a:avLst/>
          </a:prstGeom>
        </p:spPr>
      </p:pic>
      <p:pic>
        <p:nvPicPr>
          <p:cNvPr id="15" name="Graphique 14" descr="Seau et pelle avec un remplissage uni">
            <a:extLst>
              <a:ext uri="{FF2B5EF4-FFF2-40B4-BE49-F238E27FC236}">
                <a16:creationId xmlns:a16="http://schemas.microsoft.com/office/drawing/2014/main" id="{46829467-21FA-4B4E-BE9A-EAB8FA3E7D6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63855" y="1376914"/>
            <a:ext cx="914400" cy="914400"/>
          </a:xfrm>
          <a:prstGeom prst="rect">
            <a:avLst/>
          </a:prstGeom>
        </p:spPr>
      </p:pic>
      <p:pic>
        <p:nvPicPr>
          <p:cNvPr id="17" name="Graphique 16" descr="Tubes à essai avec un remplissage uni">
            <a:extLst>
              <a:ext uri="{FF2B5EF4-FFF2-40B4-BE49-F238E27FC236}">
                <a16:creationId xmlns:a16="http://schemas.microsoft.com/office/drawing/2014/main" id="{1F9FDC87-CE72-456E-B0B7-5FDFF30853D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98543" y="1376914"/>
            <a:ext cx="914400" cy="914400"/>
          </a:xfrm>
          <a:prstGeom prst="rect">
            <a:avLst/>
          </a:prstGeom>
        </p:spPr>
      </p:pic>
      <p:pic>
        <p:nvPicPr>
          <p:cNvPr id="19" name="Graphique 18" descr="Explosion avec un remplissage uni">
            <a:extLst>
              <a:ext uri="{FF2B5EF4-FFF2-40B4-BE49-F238E27FC236}">
                <a16:creationId xmlns:a16="http://schemas.microsoft.com/office/drawing/2014/main" id="{07D3CFFC-A08F-48DF-92E1-298FC228961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638800" y="1376914"/>
            <a:ext cx="914400" cy="914400"/>
          </a:xfrm>
          <a:prstGeom prst="rect">
            <a:avLst/>
          </a:prstGeom>
        </p:spPr>
      </p:pic>
      <p:pic>
        <p:nvPicPr>
          <p:cNvPr id="21" name="Graphique 20" descr="Trophée avec un remplissage uni">
            <a:extLst>
              <a:ext uri="{FF2B5EF4-FFF2-40B4-BE49-F238E27FC236}">
                <a16:creationId xmlns:a16="http://schemas.microsoft.com/office/drawing/2014/main" id="{6AB28851-209C-4763-9114-2EBE084DA8F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79057" y="1376914"/>
            <a:ext cx="914400" cy="914400"/>
          </a:xfrm>
          <a:prstGeom prst="rect">
            <a:avLst/>
          </a:prstGeom>
        </p:spPr>
      </p:pic>
      <p:pic>
        <p:nvPicPr>
          <p:cNvPr id="23" name="Graphique 22" descr="Assiette couverte avec un remplissage uni">
            <a:extLst>
              <a:ext uri="{FF2B5EF4-FFF2-40B4-BE49-F238E27FC236}">
                <a16:creationId xmlns:a16="http://schemas.microsoft.com/office/drawing/2014/main" id="{8DA0FBC4-2DE3-44A1-8FCC-F02BB199D64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113745" y="1376914"/>
            <a:ext cx="914400" cy="914400"/>
          </a:xfrm>
          <a:prstGeom prst="rect">
            <a:avLst/>
          </a:prstGeom>
        </p:spPr>
      </p:pic>
      <p:pic>
        <p:nvPicPr>
          <p:cNvPr id="25" name="Graphique 24" descr="Scène de château avec un remplissage uni">
            <a:extLst>
              <a:ext uri="{FF2B5EF4-FFF2-40B4-BE49-F238E27FC236}">
                <a16:creationId xmlns:a16="http://schemas.microsoft.com/office/drawing/2014/main" id="{42BAF03C-9B45-4E5C-B521-13100631396C}"/>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848433" y="1376914"/>
            <a:ext cx="914400" cy="914400"/>
          </a:xfrm>
          <a:prstGeom prst="rect">
            <a:avLst/>
          </a:prstGeom>
        </p:spPr>
      </p:pic>
      <p:sp>
        <p:nvSpPr>
          <p:cNvPr id="20" name="ZoneTexte 19">
            <a:extLst>
              <a:ext uri="{FF2B5EF4-FFF2-40B4-BE49-F238E27FC236}">
                <a16:creationId xmlns:a16="http://schemas.microsoft.com/office/drawing/2014/main" id="{056C6231-5CED-4F4B-861D-34C3031B96E5}"/>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Identification des phases – Etat des membres</a:t>
            </a:r>
          </a:p>
        </p:txBody>
      </p:sp>
      <p:sp>
        <p:nvSpPr>
          <p:cNvPr id="18" name="ZoneTexte 17">
            <a:extLst>
              <a:ext uri="{FF2B5EF4-FFF2-40B4-BE49-F238E27FC236}">
                <a16:creationId xmlns:a16="http://schemas.microsoft.com/office/drawing/2014/main" id="{5F99F095-521F-9FCE-B99A-F0E0BFB0A25F}"/>
              </a:ext>
            </a:extLst>
          </p:cNvPr>
          <p:cNvSpPr txBox="1"/>
          <p:nvPr/>
        </p:nvSpPr>
        <p:spPr>
          <a:xfrm>
            <a:off x="5260098" y="3296117"/>
            <a:ext cx="1612937"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1ère idée de ce qu’est le changement appliqué en-dehors de la vie de la communauté.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maintenant la découverte des résistances, freins et obstacles à franchir.</a:t>
            </a:r>
          </a:p>
        </p:txBody>
      </p:sp>
      <p:sp>
        <p:nvSpPr>
          <p:cNvPr id="22" name="ZoneTexte 21">
            <a:extLst>
              <a:ext uri="{FF2B5EF4-FFF2-40B4-BE49-F238E27FC236}">
                <a16:creationId xmlns:a16="http://schemas.microsoft.com/office/drawing/2014/main" id="{2503B351-31E1-C19E-8A1D-6BB08D62F846}"/>
              </a:ext>
            </a:extLst>
          </p:cNvPr>
          <p:cNvSpPr txBox="1"/>
          <p:nvPr/>
        </p:nvSpPr>
        <p:spPr>
          <a:xfrm>
            <a:off x="7026830" y="3313071"/>
            <a:ext cx="1612936"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mieux compris comment surmonter les défis.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Les réussites récentes doivent maintenant surmonter le défi du temps et des aléas.</a:t>
            </a:r>
          </a:p>
        </p:txBody>
      </p:sp>
      <p:sp>
        <p:nvSpPr>
          <p:cNvPr id="24" name="ZoneTexte 23">
            <a:extLst>
              <a:ext uri="{FF2B5EF4-FFF2-40B4-BE49-F238E27FC236}">
                <a16:creationId xmlns:a16="http://schemas.microsoft.com/office/drawing/2014/main" id="{D8DD7E8E-1513-0D44-2253-A53585510C1C}"/>
              </a:ext>
            </a:extLst>
          </p:cNvPr>
          <p:cNvSpPr txBox="1"/>
          <p:nvPr/>
        </p:nvSpPr>
        <p:spPr>
          <a:xfrm>
            <a:off x="8767966" y="3324830"/>
            <a:ext cx="1612936" cy="3046988"/>
          </a:xfrm>
          <a:prstGeom prst="rect">
            <a:avLst/>
          </a:prstGeom>
          <a:noFill/>
        </p:spPr>
        <p:txBody>
          <a:bodyPr wrap="square" lIns="91440" tIns="45720" rIns="91440" bIns="45720" anchor="t">
            <a:spAutoFit/>
          </a:bodyPr>
          <a:lstStyle/>
          <a:p>
            <a:pPr algn="ctr"/>
            <a:r>
              <a:rPr lang="fr-FR" sz="1200" b="1" i="1"/>
              <a:t>Les membres ont une idée de l’effet du changement au sein de leur propre communauté.</a:t>
            </a:r>
            <a:endParaRPr lang="fr-FR" sz="1200" b="1" i="1">
              <a:cs typeface="Calibri"/>
            </a:endParaRP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r>
              <a:rPr lang="fr-FR" sz="1200" b="1" i="1">
                <a:solidFill>
                  <a:srgbClr val="ED7D31"/>
                </a:solidFill>
              </a:rPr>
              <a:t>Il y a maintenant les opportunités d’apporter ces impacts positifs , au-delà du périmètre initial.</a:t>
            </a:r>
            <a:endParaRPr lang="fr-FR" sz="1200" b="1" i="1">
              <a:solidFill>
                <a:srgbClr val="000000"/>
              </a:solidFill>
              <a:cs typeface="Calibri" panose="020F0502020204030204"/>
            </a:endParaRPr>
          </a:p>
        </p:txBody>
      </p:sp>
      <p:sp>
        <p:nvSpPr>
          <p:cNvPr id="26" name="ZoneTexte 25">
            <a:extLst>
              <a:ext uri="{FF2B5EF4-FFF2-40B4-BE49-F238E27FC236}">
                <a16:creationId xmlns:a16="http://schemas.microsoft.com/office/drawing/2014/main" id="{7BF766F1-A028-F7CF-80A5-0BD7D1862F16}"/>
              </a:ext>
            </a:extLst>
          </p:cNvPr>
          <p:cNvSpPr txBox="1"/>
          <p:nvPr/>
        </p:nvSpPr>
        <p:spPr>
          <a:xfrm>
            <a:off x="10504915" y="3324830"/>
            <a:ext cx="1612936" cy="2862322"/>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idée de comment s’impliquer dans ce changement.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peut-être conflit de priorités avec les autres engagements, en dehors de la vie de la communauté.</a:t>
            </a:r>
          </a:p>
        </p:txBody>
      </p:sp>
      <p:sp>
        <p:nvSpPr>
          <p:cNvPr id="27" name="ZoneTexte 26">
            <a:extLst>
              <a:ext uri="{FF2B5EF4-FFF2-40B4-BE49-F238E27FC236}">
                <a16:creationId xmlns:a16="http://schemas.microsoft.com/office/drawing/2014/main" id="{E2DF1D18-DF56-566C-ABA8-C76E13075EE6}"/>
              </a:ext>
            </a:extLst>
          </p:cNvPr>
          <p:cNvSpPr txBox="1"/>
          <p:nvPr/>
        </p:nvSpPr>
        <p:spPr>
          <a:xfrm>
            <a:off x="3546301" y="3296117"/>
            <a:ext cx="1612936"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idée plus claire de ce que seraient les résultats du changement.</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une différence entre les ambitions, et l’état de pratique réel (qui est quasi nul) .</a:t>
            </a:r>
          </a:p>
        </p:txBody>
      </p:sp>
      <p:sp>
        <p:nvSpPr>
          <p:cNvPr id="28" name="ZoneTexte 27">
            <a:extLst>
              <a:ext uri="{FF2B5EF4-FFF2-40B4-BE49-F238E27FC236}">
                <a16:creationId xmlns:a16="http://schemas.microsoft.com/office/drawing/2014/main" id="{A71E92C7-0697-4243-C31D-31063217B0F2}"/>
              </a:ext>
            </a:extLst>
          </p:cNvPr>
          <p:cNvSpPr txBox="1"/>
          <p:nvPr/>
        </p:nvSpPr>
        <p:spPr>
          <a:xfrm>
            <a:off x="1813191" y="3308785"/>
            <a:ext cx="1617123" cy="2862322"/>
          </a:xfrm>
          <a:prstGeom prst="rect">
            <a:avLst/>
          </a:prstGeom>
          <a:noFill/>
        </p:spPr>
        <p:txBody>
          <a:bodyPr wrap="square">
            <a:spAutoFit/>
          </a:bodyPr>
          <a:lstStyle/>
          <a:p>
            <a:pPr marL="0" indent="0" algn="ctr">
              <a:buNone/>
            </a:pPr>
            <a:r>
              <a:rPr lang="fr-FR" sz="1200" b="1" i="1"/>
              <a:t>Les membres ont une vague idée de ce que serait le changement. </a:t>
            </a: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solidFill>
                <a:srgbClr val="ED7D31"/>
              </a:solidFill>
            </a:endParaRPr>
          </a:p>
          <a:p>
            <a:pPr marL="0" indent="0" algn="ctr">
              <a:buNone/>
            </a:pPr>
            <a:r>
              <a:rPr lang="fr-FR" sz="1200" b="1" i="1">
                <a:solidFill>
                  <a:srgbClr val="ED7D31"/>
                </a:solidFill>
              </a:rPr>
              <a:t>Il y a de la crainte de ne pas être impliqués dès le départ ou face à la charge d’implication. </a:t>
            </a:r>
          </a:p>
        </p:txBody>
      </p:sp>
      <p:sp>
        <p:nvSpPr>
          <p:cNvPr id="30" name="ZoneTexte 29">
            <a:extLst>
              <a:ext uri="{FF2B5EF4-FFF2-40B4-BE49-F238E27FC236}">
                <a16:creationId xmlns:a16="http://schemas.microsoft.com/office/drawing/2014/main" id="{0C0C9FD2-7A5C-244B-5E08-3246665ABCC5}"/>
              </a:ext>
            </a:extLst>
          </p:cNvPr>
          <p:cNvSpPr txBox="1"/>
          <p:nvPr/>
        </p:nvSpPr>
        <p:spPr>
          <a:xfrm>
            <a:off x="79034" y="3308785"/>
            <a:ext cx="1605258" cy="2677656"/>
          </a:xfrm>
          <a:prstGeom prst="rect">
            <a:avLst/>
          </a:prstGeom>
          <a:noFill/>
        </p:spPr>
        <p:txBody>
          <a:bodyPr wrap="square">
            <a:spAutoFit/>
          </a:bodyPr>
          <a:lstStyle/>
          <a:p>
            <a:pPr marL="0" indent="0" algn="ctr">
              <a:buFont typeface="Arial" panose="020B0604020202020204" pitchFamily="34" charset="0"/>
              <a:buNone/>
            </a:pPr>
            <a:r>
              <a:rPr lang="fr-FR" sz="1200" b="1" i="1"/>
              <a:t>Aucun membre ne sait ce qu’est le sujet-même du changement.</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est difficile d'impliquer sans une première sensibilisation.</a:t>
            </a:r>
          </a:p>
        </p:txBody>
      </p:sp>
      <p:grpSp>
        <p:nvGrpSpPr>
          <p:cNvPr id="47" name="Groupe 46">
            <a:extLst>
              <a:ext uri="{FF2B5EF4-FFF2-40B4-BE49-F238E27FC236}">
                <a16:creationId xmlns:a16="http://schemas.microsoft.com/office/drawing/2014/main" id="{C0299D21-F86E-43B5-D527-AF36A58F92DE}"/>
              </a:ext>
            </a:extLst>
          </p:cNvPr>
          <p:cNvGrpSpPr/>
          <p:nvPr/>
        </p:nvGrpSpPr>
        <p:grpSpPr>
          <a:xfrm>
            <a:off x="634441" y="4645594"/>
            <a:ext cx="10993156" cy="568228"/>
            <a:chOff x="634441" y="4352625"/>
            <a:chExt cx="10993156" cy="568228"/>
          </a:xfrm>
        </p:grpSpPr>
        <p:pic>
          <p:nvPicPr>
            <p:cNvPr id="32" name="Graphique 31" descr="Personne avec une idée contour">
              <a:extLst>
                <a:ext uri="{FF2B5EF4-FFF2-40B4-BE49-F238E27FC236}">
                  <a16:creationId xmlns:a16="http://schemas.microsoft.com/office/drawing/2014/main" id="{B4C1EA9D-1DBF-E598-F148-44DBA80F067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4441" y="4352625"/>
              <a:ext cx="532925" cy="532925"/>
            </a:xfrm>
            <a:prstGeom prst="rect">
              <a:avLst/>
            </a:prstGeom>
          </p:spPr>
        </p:pic>
        <p:pic>
          <p:nvPicPr>
            <p:cNvPr id="34" name="Graphique 33" descr="Personne avec une idée contour">
              <a:extLst>
                <a:ext uri="{FF2B5EF4-FFF2-40B4-BE49-F238E27FC236}">
                  <a16:creationId xmlns:a16="http://schemas.microsoft.com/office/drawing/2014/main" id="{A6CB66F6-4EBF-045D-0A4B-94A46AB2017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380403" y="4352625"/>
              <a:ext cx="532925" cy="532925"/>
            </a:xfrm>
            <a:prstGeom prst="rect">
              <a:avLst/>
            </a:prstGeom>
          </p:spPr>
        </p:pic>
        <p:pic>
          <p:nvPicPr>
            <p:cNvPr id="35" name="Graphique 34" descr="Personne avec une idée contour">
              <a:extLst>
                <a:ext uri="{FF2B5EF4-FFF2-40B4-BE49-F238E27FC236}">
                  <a16:creationId xmlns:a16="http://schemas.microsoft.com/office/drawing/2014/main" id="{E37CEB7A-D164-7A93-564E-954320C848E6}"/>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128345" y="4368759"/>
              <a:ext cx="532925" cy="532925"/>
            </a:xfrm>
            <a:prstGeom prst="rect">
              <a:avLst/>
            </a:prstGeom>
          </p:spPr>
        </p:pic>
        <p:pic>
          <p:nvPicPr>
            <p:cNvPr id="36" name="Graphique 35" descr="Personne avec une idée contour">
              <a:extLst>
                <a:ext uri="{FF2B5EF4-FFF2-40B4-BE49-F238E27FC236}">
                  <a16:creationId xmlns:a16="http://schemas.microsoft.com/office/drawing/2014/main" id="{30E36BE8-4445-4571-A588-5FE322508EDB}"/>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900229" y="4354127"/>
              <a:ext cx="532925" cy="532925"/>
            </a:xfrm>
            <a:prstGeom prst="rect">
              <a:avLst/>
            </a:prstGeom>
          </p:spPr>
        </p:pic>
        <p:pic>
          <p:nvPicPr>
            <p:cNvPr id="37" name="Graphique 36" descr="Personne avec une idée contour">
              <a:extLst>
                <a:ext uri="{FF2B5EF4-FFF2-40B4-BE49-F238E27FC236}">
                  <a16:creationId xmlns:a16="http://schemas.microsoft.com/office/drawing/2014/main" id="{F222F273-4CDA-5BF1-DEC7-F9A1302AA9E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640826" y="4368758"/>
              <a:ext cx="532925" cy="532925"/>
            </a:xfrm>
            <a:prstGeom prst="rect">
              <a:avLst/>
            </a:prstGeom>
          </p:spPr>
        </p:pic>
        <p:pic>
          <p:nvPicPr>
            <p:cNvPr id="38" name="Graphique 37" descr="Personne avec une idée contour">
              <a:extLst>
                <a:ext uri="{FF2B5EF4-FFF2-40B4-BE49-F238E27FC236}">
                  <a16:creationId xmlns:a16="http://schemas.microsoft.com/office/drawing/2014/main" id="{757AC178-C4FE-F896-8E12-33BE54CD0F0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339782" y="4387928"/>
              <a:ext cx="532925" cy="532925"/>
            </a:xfrm>
            <a:prstGeom prst="rect">
              <a:avLst/>
            </a:prstGeom>
          </p:spPr>
        </p:pic>
        <p:pic>
          <p:nvPicPr>
            <p:cNvPr id="39" name="Graphique 38" descr="Personne avec une idée contour">
              <a:extLst>
                <a:ext uri="{FF2B5EF4-FFF2-40B4-BE49-F238E27FC236}">
                  <a16:creationId xmlns:a16="http://schemas.microsoft.com/office/drawing/2014/main" id="{F54C5945-856A-F289-E3B5-EAC736150609}"/>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094672" y="4375193"/>
              <a:ext cx="532925" cy="532925"/>
            </a:xfrm>
            <a:prstGeom prst="rect">
              <a:avLst/>
            </a:prstGeom>
          </p:spPr>
        </p:pic>
      </p:grpSp>
      <p:grpSp>
        <p:nvGrpSpPr>
          <p:cNvPr id="48" name="Groupe 47">
            <a:extLst>
              <a:ext uri="{FF2B5EF4-FFF2-40B4-BE49-F238E27FC236}">
                <a16:creationId xmlns:a16="http://schemas.microsoft.com/office/drawing/2014/main" id="{0FBD4F65-A7CD-4331-12E5-BBF9E6C2A56F}"/>
              </a:ext>
            </a:extLst>
          </p:cNvPr>
          <p:cNvGrpSpPr/>
          <p:nvPr/>
        </p:nvGrpSpPr>
        <p:grpSpPr>
          <a:xfrm>
            <a:off x="641976" y="2766522"/>
            <a:ext cx="10853322" cy="447790"/>
            <a:chOff x="681053" y="2903291"/>
            <a:chExt cx="10853322" cy="447790"/>
          </a:xfrm>
        </p:grpSpPr>
        <p:pic>
          <p:nvPicPr>
            <p:cNvPr id="40" name="Graphique 39" descr="Carte avec repère contour">
              <a:extLst>
                <a:ext uri="{FF2B5EF4-FFF2-40B4-BE49-F238E27FC236}">
                  <a16:creationId xmlns:a16="http://schemas.microsoft.com/office/drawing/2014/main" id="{DE4D16FF-A926-0A22-2A23-EF8B74B2E35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81053" y="2911378"/>
              <a:ext cx="439703" cy="439703"/>
            </a:xfrm>
            <a:prstGeom prst="rect">
              <a:avLst/>
            </a:prstGeom>
          </p:spPr>
        </p:pic>
        <p:pic>
          <p:nvPicPr>
            <p:cNvPr id="41" name="Graphique 40" descr="Carte avec repère contour">
              <a:extLst>
                <a:ext uri="{FF2B5EF4-FFF2-40B4-BE49-F238E27FC236}">
                  <a16:creationId xmlns:a16="http://schemas.microsoft.com/office/drawing/2014/main" id="{C5CA6392-9A58-0B38-F0D1-C2981771A02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394224" y="2911377"/>
              <a:ext cx="439703" cy="439703"/>
            </a:xfrm>
            <a:prstGeom prst="rect">
              <a:avLst/>
            </a:prstGeom>
          </p:spPr>
        </p:pic>
        <p:pic>
          <p:nvPicPr>
            <p:cNvPr id="42" name="Graphique 41" descr="Carte avec repère contour">
              <a:extLst>
                <a:ext uri="{FF2B5EF4-FFF2-40B4-BE49-F238E27FC236}">
                  <a16:creationId xmlns:a16="http://schemas.microsoft.com/office/drawing/2014/main" id="{F7F74BCE-A221-14C8-0E30-0BEAA9EF127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4130264" y="2903292"/>
              <a:ext cx="439703" cy="439703"/>
            </a:xfrm>
            <a:prstGeom prst="rect">
              <a:avLst/>
            </a:prstGeom>
          </p:spPr>
        </p:pic>
        <p:pic>
          <p:nvPicPr>
            <p:cNvPr id="43" name="Graphique 42" descr="Carte avec repère contour">
              <a:extLst>
                <a:ext uri="{FF2B5EF4-FFF2-40B4-BE49-F238E27FC236}">
                  <a16:creationId xmlns:a16="http://schemas.microsoft.com/office/drawing/2014/main" id="{60DC41A6-120E-1D02-99C7-36F79B7DFAE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843435" y="2903291"/>
              <a:ext cx="439703" cy="439703"/>
            </a:xfrm>
            <a:prstGeom prst="rect">
              <a:avLst/>
            </a:prstGeom>
          </p:spPr>
        </p:pic>
        <p:pic>
          <p:nvPicPr>
            <p:cNvPr id="44" name="Graphique 43" descr="Carte avec repère contour">
              <a:extLst>
                <a:ext uri="{FF2B5EF4-FFF2-40B4-BE49-F238E27FC236}">
                  <a16:creationId xmlns:a16="http://schemas.microsoft.com/office/drawing/2014/main" id="{21526ED5-55BE-5009-2A20-27EF28FD12E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627797" y="2911378"/>
              <a:ext cx="439703" cy="439703"/>
            </a:xfrm>
            <a:prstGeom prst="rect">
              <a:avLst/>
            </a:prstGeom>
          </p:spPr>
        </p:pic>
        <p:pic>
          <p:nvPicPr>
            <p:cNvPr id="45" name="Graphique 44" descr="Carte avec repère contour">
              <a:extLst>
                <a:ext uri="{FF2B5EF4-FFF2-40B4-BE49-F238E27FC236}">
                  <a16:creationId xmlns:a16="http://schemas.microsoft.com/office/drawing/2014/main" id="{9A7E853E-D3EB-77DE-93AF-3B7BB93D213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340968" y="2911377"/>
              <a:ext cx="439703" cy="439703"/>
            </a:xfrm>
            <a:prstGeom prst="rect">
              <a:avLst/>
            </a:prstGeom>
          </p:spPr>
        </p:pic>
        <p:pic>
          <p:nvPicPr>
            <p:cNvPr id="46" name="Graphique 45" descr="Carte avec repère contour">
              <a:extLst>
                <a:ext uri="{FF2B5EF4-FFF2-40B4-BE49-F238E27FC236}">
                  <a16:creationId xmlns:a16="http://schemas.microsoft.com/office/drawing/2014/main" id="{BF6BFF02-CE5A-6F56-F43B-98CE3E934A5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094672" y="2911377"/>
              <a:ext cx="439703" cy="439703"/>
            </a:xfrm>
            <a:prstGeom prst="rect">
              <a:avLst/>
            </a:prstGeom>
          </p:spPr>
        </p:pic>
      </p:grpSp>
    </p:spTree>
    <p:extLst>
      <p:ext uri="{BB962C8B-B14F-4D97-AF65-F5344CB8AC3E}">
        <p14:creationId xmlns:p14="http://schemas.microsoft.com/office/powerpoint/2010/main" val="115768348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Cibles</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11600" y="14431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57" name="Groupe 56">
            <a:extLst>
              <a:ext uri="{FF2B5EF4-FFF2-40B4-BE49-F238E27FC236}">
                <a16:creationId xmlns:a16="http://schemas.microsoft.com/office/drawing/2014/main" id="{C00C506C-DEED-4AD2-97FB-2A2D9F9B4AA2}"/>
              </a:ext>
            </a:extLst>
          </p:cNvPr>
          <p:cNvGrpSpPr/>
          <p:nvPr/>
        </p:nvGrpSpPr>
        <p:grpSpPr>
          <a:xfrm>
            <a:off x="162520" y="2941877"/>
            <a:ext cx="11887200" cy="399056"/>
            <a:chOff x="0" y="2140394"/>
            <a:chExt cx="12854128" cy="4544491"/>
          </a:xfrm>
          <a:solidFill>
            <a:srgbClr val="ED7D31"/>
          </a:solidFill>
        </p:grpSpPr>
        <p:sp>
          <p:nvSpPr>
            <p:cNvPr id="58" name="Espace réservé du texte 15">
              <a:extLst>
                <a:ext uri="{FF2B5EF4-FFF2-40B4-BE49-F238E27FC236}">
                  <a16:creationId xmlns:a16="http://schemas.microsoft.com/office/drawing/2014/main" id="{1DC8A90F-C70E-452D-AA13-D6084914E06B}"/>
                </a:ext>
              </a:extLst>
            </p:cNvPr>
            <p:cNvSpPr txBox="1">
              <a:spLocks/>
            </p:cNvSpPr>
            <p:nvPr/>
          </p:nvSpPr>
          <p:spPr>
            <a:xfrm>
              <a:off x="0"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CRÉER L’ENVIE</a:t>
              </a:r>
            </a:p>
          </p:txBody>
        </p:sp>
        <p:sp>
          <p:nvSpPr>
            <p:cNvPr id="59" name="Espace réservé du texte 15">
              <a:extLst>
                <a:ext uri="{FF2B5EF4-FFF2-40B4-BE49-F238E27FC236}">
                  <a16:creationId xmlns:a16="http://schemas.microsoft.com/office/drawing/2014/main" id="{E3C3F7E9-4D69-4B03-AD27-AB6A1496D388}"/>
                </a:ext>
              </a:extLst>
            </p:cNvPr>
            <p:cNvSpPr txBox="1">
              <a:spLocks/>
            </p:cNvSpPr>
            <p:nvPr/>
          </p:nvSpPr>
          <p:spPr>
            <a:xfrm>
              <a:off x="1855434"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CLARIFIER L’IMPLICATION</a:t>
              </a:r>
            </a:p>
          </p:txBody>
        </p:sp>
        <p:sp>
          <p:nvSpPr>
            <p:cNvPr id="60" name="Espace réservé du texte 15">
              <a:extLst>
                <a:ext uri="{FF2B5EF4-FFF2-40B4-BE49-F238E27FC236}">
                  <a16:creationId xmlns:a16="http://schemas.microsoft.com/office/drawing/2014/main" id="{62A3FE33-4216-438B-8AF2-8A8B7B0BC45D}"/>
                </a:ext>
              </a:extLst>
            </p:cNvPr>
            <p:cNvSpPr txBox="1">
              <a:spLocks/>
            </p:cNvSpPr>
            <p:nvPr/>
          </p:nvSpPr>
          <p:spPr>
            <a:xfrm>
              <a:off x="3689003" y="2140394"/>
              <a:ext cx="1744135" cy="4544491"/>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FAIRE EXPÉRIMENTER</a:t>
              </a:r>
            </a:p>
          </p:txBody>
        </p:sp>
        <p:sp>
          <p:nvSpPr>
            <p:cNvPr id="61" name="Espace réservé du texte 15">
              <a:extLst>
                <a:ext uri="{FF2B5EF4-FFF2-40B4-BE49-F238E27FC236}">
                  <a16:creationId xmlns:a16="http://schemas.microsoft.com/office/drawing/2014/main" id="{94FF8E60-8C34-49D6-A33E-4BCE7224A51F}"/>
                </a:ext>
              </a:extLst>
            </p:cNvPr>
            <p:cNvSpPr txBox="1">
              <a:spLocks/>
            </p:cNvSpPr>
            <p:nvPr/>
          </p:nvSpPr>
          <p:spPr>
            <a:xfrm>
              <a:off x="5566302" y="2140395"/>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SOUTENIR </a:t>
              </a:r>
            </a:p>
          </p:txBody>
        </p:sp>
        <p:sp>
          <p:nvSpPr>
            <p:cNvPr id="62" name="Espace réservé du texte 15">
              <a:extLst>
                <a:ext uri="{FF2B5EF4-FFF2-40B4-BE49-F238E27FC236}">
                  <a16:creationId xmlns:a16="http://schemas.microsoft.com/office/drawing/2014/main" id="{2EC93E9B-DF0A-468D-A29C-668047BA5712}"/>
                </a:ext>
              </a:extLst>
            </p:cNvPr>
            <p:cNvSpPr txBox="1">
              <a:spLocks/>
            </p:cNvSpPr>
            <p:nvPr/>
          </p:nvSpPr>
          <p:spPr>
            <a:xfrm>
              <a:off x="7421736"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OPTIMISER</a:t>
              </a:r>
            </a:p>
          </p:txBody>
        </p:sp>
        <p:sp>
          <p:nvSpPr>
            <p:cNvPr id="63" name="Espace réservé du texte 15">
              <a:extLst>
                <a:ext uri="{FF2B5EF4-FFF2-40B4-BE49-F238E27FC236}">
                  <a16:creationId xmlns:a16="http://schemas.microsoft.com/office/drawing/2014/main" id="{E029A557-AE3B-4952-B521-630042A7F5C6}"/>
                </a:ext>
              </a:extLst>
            </p:cNvPr>
            <p:cNvSpPr txBox="1">
              <a:spLocks/>
            </p:cNvSpPr>
            <p:nvPr/>
          </p:nvSpPr>
          <p:spPr>
            <a:xfrm>
              <a:off x="9277170"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FAIRE SE PROPAGER</a:t>
              </a:r>
            </a:p>
          </p:txBody>
        </p:sp>
        <p:sp>
          <p:nvSpPr>
            <p:cNvPr id="64" name="Espace réservé du texte 15">
              <a:extLst>
                <a:ext uri="{FF2B5EF4-FFF2-40B4-BE49-F238E27FC236}">
                  <a16:creationId xmlns:a16="http://schemas.microsoft.com/office/drawing/2014/main" id="{58E61EDE-6BF6-4694-8661-F4B65F3C98B0}"/>
                </a:ext>
              </a:extLst>
            </p:cNvPr>
            <p:cNvSpPr txBox="1">
              <a:spLocks/>
            </p:cNvSpPr>
            <p:nvPr/>
          </p:nvSpPr>
          <p:spPr>
            <a:xfrm>
              <a:off x="11131859"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OFFICIALISER</a:t>
              </a:r>
            </a:p>
          </p:txBody>
        </p:sp>
      </p:grpSp>
    </p:spTree>
    <p:extLst>
      <p:ext uri="{BB962C8B-B14F-4D97-AF65-F5344CB8AC3E}">
        <p14:creationId xmlns:p14="http://schemas.microsoft.com/office/powerpoint/2010/main" val="2588099807"/>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Expérience utilisateur vis-à-vis du changement</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11600" y="14431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3" name="Bulle narrative : ronde 2">
            <a:extLst>
              <a:ext uri="{FF2B5EF4-FFF2-40B4-BE49-F238E27FC236}">
                <a16:creationId xmlns:a16="http://schemas.microsoft.com/office/drawing/2014/main" id="{DF79283D-5DA5-65C5-D99A-2F104B2BAD2A}"/>
              </a:ext>
            </a:extLst>
          </p:cNvPr>
          <p:cNvSpPr/>
          <p:nvPr/>
        </p:nvSpPr>
        <p:spPr>
          <a:xfrm>
            <a:off x="11600" y="3543300"/>
            <a:ext cx="1612936" cy="1079500"/>
          </a:xfrm>
          <a:prstGeom prst="wedgeEllipseCallout">
            <a:avLst>
              <a:gd name="adj1" fmla="val -1885"/>
              <a:gd name="adj2" fmla="val 7117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a:solidFill>
                  <a:schemeClr val="tx1"/>
                </a:solidFill>
              </a:rPr>
              <a:t>J’AI ENVIE</a:t>
            </a:r>
          </a:p>
        </p:txBody>
      </p:sp>
      <p:sp>
        <p:nvSpPr>
          <p:cNvPr id="28" name="Bulle narrative : ronde 27">
            <a:extLst>
              <a:ext uri="{FF2B5EF4-FFF2-40B4-BE49-F238E27FC236}">
                <a16:creationId xmlns:a16="http://schemas.microsoft.com/office/drawing/2014/main" id="{C661CF01-F6CC-BF12-C183-7FDC5B497B9D}"/>
              </a:ext>
            </a:extLst>
          </p:cNvPr>
          <p:cNvSpPr/>
          <p:nvPr/>
        </p:nvSpPr>
        <p:spPr>
          <a:xfrm>
            <a:off x="1749247" y="3543300"/>
            <a:ext cx="1612936" cy="1079500"/>
          </a:xfrm>
          <a:prstGeom prst="wedgeEllipseCallout">
            <a:avLst>
              <a:gd name="adj1" fmla="val -10207"/>
              <a:gd name="adj2" fmla="val 7428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a:solidFill>
                  <a:schemeClr val="tx1"/>
                </a:solidFill>
              </a:rPr>
              <a:t>JE ME SENS CONCERNÉ</a:t>
            </a:r>
          </a:p>
        </p:txBody>
      </p:sp>
      <p:sp>
        <p:nvSpPr>
          <p:cNvPr id="29" name="Bulle narrative : ronde 28">
            <a:extLst>
              <a:ext uri="{FF2B5EF4-FFF2-40B4-BE49-F238E27FC236}">
                <a16:creationId xmlns:a16="http://schemas.microsoft.com/office/drawing/2014/main" id="{066F2C47-AF95-6706-06B0-0B6B45CB9D2C}"/>
              </a:ext>
            </a:extLst>
          </p:cNvPr>
          <p:cNvSpPr/>
          <p:nvPr/>
        </p:nvSpPr>
        <p:spPr>
          <a:xfrm>
            <a:off x="3486894" y="3543300"/>
            <a:ext cx="1612936" cy="1079500"/>
          </a:xfrm>
          <a:prstGeom prst="wedgeEllipseCallout">
            <a:avLst>
              <a:gd name="adj1" fmla="val -7086"/>
              <a:gd name="adj2" fmla="val 7039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a:solidFill>
                  <a:schemeClr val="tx1"/>
                </a:solidFill>
              </a:rPr>
              <a:t>JE PEUX TESTER EN TOUTE SÉCURITÉ</a:t>
            </a:r>
          </a:p>
        </p:txBody>
      </p:sp>
      <p:sp>
        <p:nvSpPr>
          <p:cNvPr id="30" name="Bulle narrative : ronde 29">
            <a:extLst>
              <a:ext uri="{FF2B5EF4-FFF2-40B4-BE49-F238E27FC236}">
                <a16:creationId xmlns:a16="http://schemas.microsoft.com/office/drawing/2014/main" id="{A8D34CA5-9D8D-FB54-0390-4291606BD450}"/>
              </a:ext>
            </a:extLst>
          </p:cNvPr>
          <p:cNvSpPr/>
          <p:nvPr/>
        </p:nvSpPr>
        <p:spPr>
          <a:xfrm>
            <a:off x="5224192" y="3543300"/>
            <a:ext cx="1612936" cy="1079500"/>
          </a:xfrm>
          <a:prstGeom prst="wedgeEllipseCallout">
            <a:avLst>
              <a:gd name="adj1" fmla="val 2276"/>
              <a:gd name="adj2" fmla="val 7117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a:solidFill>
                  <a:schemeClr val="tx1"/>
                </a:solidFill>
              </a:rPr>
              <a:t>JE SUIS SOUTENU DANS MON USAGE</a:t>
            </a:r>
          </a:p>
        </p:txBody>
      </p:sp>
      <p:sp>
        <p:nvSpPr>
          <p:cNvPr id="31" name="Bulle narrative : ronde 30">
            <a:extLst>
              <a:ext uri="{FF2B5EF4-FFF2-40B4-BE49-F238E27FC236}">
                <a16:creationId xmlns:a16="http://schemas.microsoft.com/office/drawing/2014/main" id="{B56FDAFC-D1B2-EFA4-823D-50E39A37A9AA}"/>
              </a:ext>
            </a:extLst>
          </p:cNvPr>
          <p:cNvSpPr/>
          <p:nvPr/>
        </p:nvSpPr>
        <p:spPr>
          <a:xfrm>
            <a:off x="6961490" y="3543300"/>
            <a:ext cx="1612936" cy="1079500"/>
          </a:xfrm>
          <a:prstGeom prst="wedgeEllipseCallout">
            <a:avLst>
              <a:gd name="adj1" fmla="val -6046"/>
              <a:gd name="adj2" fmla="val 7117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a:solidFill>
                  <a:schemeClr val="tx1"/>
                </a:solidFill>
              </a:rPr>
              <a:t>MES REUSSITES SONT CAPITALISÉES</a:t>
            </a:r>
          </a:p>
        </p:txBody>
      </p:sp>
      <p:sp>
        <p:nvSpPr>
          <p:cNvPr id="32" name="Bulle narrative : ronde 31">
            <a:extLst>
              <a:ext uri="{FF2B5EF4-FFF2-40B4-BE49-F238E27FC236}">
                <a16:creationId xmlns:a16="http://schemas.microsoft.com/office/drawing/2014/main" id="{27E91D6D-9141-5543-E2DB-622548543AD7}"/>
              </a:ext>
            </a:extLst>
          </p:cNvPr>
          <p:cNvSpPr/>
          <p:nvPr/>
        </p:nvSpPr>
        <p:spPr>
          <a:xfrm>
            <a:off x="8699835" y="3539972"/>
            <a:ext cx="1612936" cy="1079500"/>
          </a:xfrm>
          <a:prstGeom prst="wedgeEllipseCallout">
            <a:avLst>
              <a:gd name="adj1" fmla="val 1755"/>
              <a:gd name="adj2" fmla="val 6884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a:solidFill>
                  <a:schemeClr val="tx1"/>
                </a:solidFill>
              </a:rPr>
              <a:t>JE PEUX APPORTER CE CHANGEMENT À D’AUTRES</a:t>
            </a:r>
          </a:p>
        </p:txBody>
      </p:sp>
      <p:sp>
        <p:nvSpPr>
          <p:cNvPr id="33" name="Bulle narrative : ronde 32">
            <a:extLst>
              <a:ext uri="{FF2B5EF4-FFF2-40B4-BE49-F238E27FC236}">
                <a16:creationId xmlns:a16="http://schemas.microsoft.com/office/drawing/2014/main" id="{AA6BCCF2-7E4A-7EAF-95E3-1DFB7305BED0}"/>
              </a:ext>
            </a:extLst>
          </p:cNvPr>
          <p:cNvSpPr/>
          <p:nvPr/>
        </p:nvSpPr>
        <p:spPr>
          <a:xfrm>
            <a:off x="10436784" y="3523944"/>
            <a:ext cx="1612936" cy="1079500"/>
          </a:xfrm>
          <a:prstGeom prst="wedgeEllipseCallout">
            <a:avLst>
              <a:gd name="adj1" fmla="val -325"/>
              <a:gd name="adj2" fmla="val 7039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a:solidFill>
                  <a:schemeClr val="tx1"/>
                </a:solidFill>
              </a:rPr>
              <a:t>J’AURAIS MOINS A M’EN SOUCIER UNE FOIS QUE CE SERA OFFICIEL</a:t>
            </a:r>
          </a:p>
        </p:txBody>
      </p:sp>
      <p:pic>
        <p:nvPicPr>
          <p:cNvPr id="5" name="Graphique 4" descr="Visage nerveux à remplissage uni avec un remplissage uni">
            <a:extLst>
              <a:ext uri="{FF2B5EF4-FFF2-40B4-BE49-F238E27FC236}">
                <a16:creationId xmlns:a16="http://schemas.microsoft.com/office/drawing/2014/main" id="{E26B24DC-3E72-D6B7-D028-5747E0D6419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783093" y="5033769"/>
            <a:ext cx="914400" cy="914400"/>
          </a:xfrm>
          <a:prstGeom prst="rect">
            <a:avLst/>
          </a:prstGeom>
        </p:spPr>
      </p:pic>
      <p:pic>
        <p:nvPicPr>
          <p:cNvPr id="7" name="Graphique 6" descr="Visage surpris à remplissage uni avec un remplissage uni">
            <a:extLst>
              <a:ext uri="{FF2B5EF4-FFF2-40B4-BE49-F238E27FC236}">
                <a16:creationId xmlns:a16="http://schemas.microsoft.com/office/drawing/2014/main" id="{C12F8040-7A57-85BD-E68A-F4FBAD4D758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025199" y="5062925"/>
            <a:ext cx="914400" cy="914400"/>
          </a:xfrm>
          <a:prstGeom prst="rect">
            <a:avLst/>
          </a:prstGeom>
        </p:spPr>
      </p:pic>
      <p:pic>
        <p:nvPicPr>
          <p:cNvPr id="9" name="Graphique 8" descr="Visage d’ange avec remplissage uni avec un remplissage uni">
            <a:extLst>
              <a:ext uri="{FF2B5EF4-FFF2-40B4-BE49-F238E27FC236}">
                <a16:creationId xmlns:a16="http://schemas.microsoft.com/office/drawing/2014/main" id="{72A3ABF0-1FBD-FED8-3E3A-5E0949E71BDB}"/>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12121" y="5075599"/>
            <a:ext cx="914400" cy="914400"/>
          </a:xfrm>
          <a:prstGeom prst="rect">
            <a:avLst/>
          </a:prstGeom>
        </p:spPr>
      </p:pic>
      <p:pic>
        <p:nvPicPr>
          <p:cNvPr id="11" name="Graphique 10" descr="Visage faisant un clin d’œil à remplissage solide avec un remplissage uni">
            <a:extLst>
              <a:ext uri="{FF2B5EF4-FFF2-40B4-BE49-F238E27FC236}">
                <a16:creationId xmlns:a16="http://schemas.microsoft.com/office/drawing/2014/main" id="{F727BD30-A7AD-7256-8F95-C86B3D85570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048405" y="5033769"/>
            <a:ext cx="914400" cy="914400"/>
          </a:xfrm>
          <a:prstGeom prst="rect">
            <a:avLst/>
          </a:prstGeom>
        </p:spPr>
      </p:pic>
      <p:pic>
        <p:nvPicPr>
          <p:cNvPr id="13" name="Graphique 12" descr="Visage portant des lunettes de soleil à remplissage uni avec un remplissage uni">
            <a:extLst>
              <a:ext uri="{FF2B5EF4-FFF2-40B4-BE49-F238E27FC236}">
                <a16:creationId xmlns:a16="http://schemas.microsoft.com/office/drawing/2014/main" id="{216FC710-7C08-1DFE-5231-618F99269826}"/>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313717" y="5033769"/>
            <a:ext cx="914400" cy="914400"/>
          </a:xfrm>
          <a:prstGeom prst="rect">
            <a:avLst/>
          </a:prstGeom>
        </p:spPr>
      </p:pic>
      <p:pic>
        <p:nvPicPr>
          <p:cNvPr id="15" name="Graphique 14" descr="Visage grimaçant et transpirant avec remplissage uni avec un remplissage uni">
            <a:extLst>
              <a:ext uri="{FF2B5EF4-FFF2-40B4-BE49-F238E27FC236}">
                <a16:creationId xmlns:a16="http://schemas.microsoft.com/office/drawing/2014/main" id="{0A2AE9DB-CDCA-093F-53FE-6160BE558B59}"/>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5638800" y="5056911"/>
            <a:ext cx="914400" cy="914400"/>
          </a:xfrm>
          <a:prstGeom prst="rect">
            <a:avLst/>
          </a:prstGeom>
        </p:spPr>
      </p:pic>
      <p:pic>
        <p:nvPicPr>
          <p:cNvPr id="17" name="Graphique 16" descr="Contour de visage avec étoile avec un remplissage uni">
            <a:extLst>
              <a:ext uri="{FF2B5EF4-FFF2-40B4-BE49-F238E27FC236}">
                <a16:creationId xmlns:a16="http://schemas.microsoft.com/office/drawing/2014/main" id="{F58ECF2E-00A0-DFF1-0CE7-6C79A6C67719}"/>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360868" y="5033769"/>
            <a:ext cx="914400" cy="914400"/>
          </a:xfrm>
          <a:prstGeom prst="rect">
            <a:avLst/>
          </a:prstGeom>
        </p:spPr>
      </p:pic>
    </p:spTree>
    <p:extLst>
      <p:ext uri="{BB962C8B-B14F-4D97-AF65-F5344CB8AC3E}">
        <p14:creationId xmlns:p14="http://schemas.microsoft.com/office/powerpoint/2010/main" val="512369608"/>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Si le changement était un produit</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11600" y="14431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19" name="ZoneTexte 18">
            <a:extLst>
              <a:ext uri="{FF2B5EF4-FFF2-40B4-BE49-F238E27FC236}">
                <a16:creationId xmlns:a16="http://schemas.microsoft.com/office/drawing/2014/main" id="{670B8AA1-52A3-E0B5-E83D-99A74545EA0E}"/>
              </a:ext>
            </a:extLst>
          </p:cNvPr>
          <p:cNvSpPr txBox="1"/>
          <p:nvPr/>
        </p:nvSpPr>
        <p:spPr>
          <a:xfrm>
            <a:off x="128356" y="4584101"/>
            <a:ext cx="1232673" cy="307777"/>
          </a:xfrm>
          <a:prstGeom prst="rect">
            <a:avLst/>
          </a:prstGeom>
          <a:noFill/>
        </p:spPr>
        <p:txBody>
          <a:bodyPr wrap="square">
            <a:spAutoFit/>
          </a:bodyPr>
          <a:lstStyle/>
          <a:p>
            <a:pPr marL="0" indent="0" algn="ctr">
              <a:buFont typeface="Arial" panose="020B0604020202020204" pitchFamily="34" charset="0"/>
              <a:buNone/>
            </a:pPr>
            <a:r>
              <a:rPr lang="fr-FR" sz="1400" b="1" i="1"/>
              <a:t>Publicité</a:t>
            </a:r>
          </a:p>
        </p:txBody>
      </p:sp>
      <p:sp>
        <p:nvSpPr>
          <p:cNvPr id="20" name="ZoneTexte 19">
            <a:extLst>
              <a:ext uri="{FF2B5EF4-FFF2-40B4-BE49-F238E27FC236}">
                <a16:creationId xmlns:a16="http://schemas.microsoft.com/office/drawing/2014/main" id="{43F507BA-FC19-F844-66DB-DBDF56DCCD62}"/>
              </a:ext>
            </a:extLst>
          </p:cNvPr>
          <p:cNvSpPr txBox="1"/>
          <p:nvPr/>
        </p:nvSpPr>
        <p:spPr>
          <a:xfrm>
            <a:off x="1939378" y="4584101"/>
            <a:ext cx="1232673" cy="738664"/>
          </a:xfrm>
          <a:prstGeom prst="rect">
            <a:avLst/>
          </a:prstGeom>
          <a:noFill/>
        </p:spPr>
        <p:txBody>
          <a:bodyPr wrap="square">
            <a:spAutoFit/>
          </a:bodyPr>
          <a:lstStyle/>
          <a:p>
            <a:pPr marL="0" indent="0" algn="ctr">
              <a:buFont typeface="Arial" panose="020B0604020202020204" pitchFamily="34" charset="0"/>
              <a:buNone/>
            </a:pPr>
            <a:r>
              <a:rPr lang="fr-FR" sz="1400" b="1" i="1"/>
              <a:t>Sondage sur les préférences</a:t>
            </a:r>
          </a:p>
        </p:txBody>
      </p:sp>
      <p:sp>
        <p:nvSpPr>
          <p:cNvPr id="21" name="ZoneTexte 20">
            <a:extLst>
              <a:ext uri="{FF2B5EF4-FFF2-40B4-BE49-F238E27FC236}">
                <a16:creationId xmlns:a16="http://schemas.microsoft.com/office/drawing/2014/main" id="{49EE826C-9336-74CF-9E68-E58439E8DDF1}"/>
              </a:ext>
            </a:extLst>
          </p:cNvPr>
          <p:cNvSpPr txBox="1"/>
          <p:nvPr/>
        </p:nvSpPr>
        <p:spPr>
          <a:xfrm>
            <a:off x="3689297" y="4584101"/>
            <a:ext cx="1232673" cy="954107"/>
          </a:xfrm>
          <a:prstGeom prst="rect">
            <a:avLst/>
          </a:prstGeom>
          <a:noFill/>
        </p:spPr>
        <p:txBody>
          <a:bodyPr wrap="square">
            <a:spAutoFit/>
          </a:bodyPr>
          <a:lstStyle/>
          <a:p>
            <a:pPr marL="0" indent="0" algn="ctr">
              <a:buFont typeface="Arial" panose="020B0604020202020204" pitchFamily="34" charset="0"/>
              <a:buNone/>
            </a:pPr>
            <a:r>
              <a:rPr lang="fr-FR" sz="1400" b="1" i="1" dirty="0"/>
              <a:t>Echantillon à expérimenter « en sécurité »</a:t>
            </a:r>
          </a:p>
        </p:txBody>
      </p:sp>
      <p:sp>
        <p:nvSpPr>
          <p:cNvPr id="22" name="ZoneTexte 21">
            <a:extLst>
              <a:ext uri="{FF2B5EF4-FFF2-40B4-BE49-F238E27FC236}">
                <a16:creationId xmlns:a16="http://schemas.microsoft.com/office/drawing/2014/main" id="{E700101F-C53C-6D1E-4D58-F24F7B095B8A}"/>
              </a:ext>
            </a:extLst>
          </p:cNvPr>
          <p:cNvSpPr txBox="1"/>
          <p:nvPr/>
        </p:nvSpPr>
        <p:spPr>
          <a:xfrm>
            <a:off x="5423985" y="4584101"/>
            <a:ext cx="1232673" cy="307777"/>
          </a:xfrm>
          <a:prstGeom prst="rect">
            <a:avLst/>
          </a:prstGeom>
          <a:noFill/>
        </p:spPr>
        <p:txBody>
          <a:bodyPr wrap="square">
            <a:spAutoFit/>
          </a:bodyPr>
          <a:lstStyle/>
          <a:p>
            <a:pPr marL="0" indent="0" algn="ctr">
              <a:buFont typeface="Arial" panose="020B0604020202020204" pitchFamily="34" charset="0"/>
              <a:buNone/>
            </a:pPr>
            <a:r>
              <a:rPr lang="fr-FR" sz="1400" b="1" i="1"/>
              <a:t>Support client </a:t>
            </a:r>
          </a:p>
        </p:txBody>
      </p:sp>
      <p:sp>
        <p:nvSpPr>
          <p:cNvPr id="23" name="ZoneTexte 22">
            <a:extLst>
              <a:ext uri="{FF2B5EF4-FFF2-40B4-BE49-F238E27FC236}">
                <a16:creationId xmlns:a16="http://schemas.microsoft.com/office/drawing/2014/main" id="{A9EB28E7-89DA-C995-D6DB-AFEB91DD3E51}"/>
              </a:ext>
            </a:extLst>
          </p:cNvPr>
          <p:cNvSpPr txBox="1"/>
          <p:nvPr/>
        </p:nvSpPr>
        <p:spPr>
          <a:xfrm>
            <a:off x="7167550" y="4584101"/>
            <a:ext cx="1232673" cy="523220"/>
          </a:xfrm>
          <a:prstGeom prst="rect">
            <a:avLst/>
          </a:prstGeom>
          <a:noFill/>
        </p:spPr>
        <p:txBody>
          <a:bodyPr wrap="square">
            <a:spAutoFit/>
          </a:bodyPr>
          <a:lstStyle/>
          <a:p>
            <a:pPr marL="0" indent="0" algn="ctr">
              <a:buFont typeface="Arial" panose="020B0604020202020204" pitchFamily="34" charset="0"/>
              <a:buNone/>
            </a:pPr>
            <a:r>
              <a:rPr lang="fr-FR" sz="1400" b="1" i="1"/>
              <a:t>Récolte des avis clients</a:t>
            </a:r>
          </a:p>
        </p:txBody>
      </p:sp>
      <p:sp>
        <p:nvSpPr>
          <p:cNvPr id="24" name="ZoneTexte 23">
            <a:extLst>
              <a:ext uri="{FF2B5EF4-FFF2-40B4-BE49-F238E27FC236}">
                <a16:creationId xmlns:a16="http://schemas.microsoft.com/office/drawing/2014/main" id="{F8F6E29F-FE6E-2894-D4EF-67796592B326}"/>
              </a:ext>
            </a:extLst>
          </p:cNvPr>
          <p:cNvSpPr txBox="1"/>
          <p:nvPr/>
        </p:nvSpPr>
        <p:spPr>
          <a:xfrm>
            <a:off x="8902238" y="4579424"/>
            <a:ext cx="1341507" cy="738664"/>
          </a:xfrm>
          <a:prstGeom prst="rect">
            <a:avLst/>
          </a:prstGeom>
          <a:noFill/>
        </p:spPr>
        <p:txBody>
          <a:bodyPr wrap="square">
            <a:spAutoFit/>
          </a:bodyPr>
          <a:lstStyle/>
          <a:p>
            <a:pPr marL="0" indent="0" algn="ctr">
              <a:buFont typeface="Arial" panose="020B0604020202020204" pitchFamily="34" charset="0"/>
              <a:buNone/>
            </a:pPr>
            <a:r>
              <a:rPr lang="fr-FR" sz="1400" b="1" i="1"/>
              <a:t>Club des ambassadeurs de la marque</a:t>
            </a:r>
          </a:p>
        </p:txBody>
      </p:sp>
      <p:sp>
        <p:nvSpPr>
          <p:cNvPr id="25" name="ZoneTexte 24">
            <a:extLst>
              <a:ext uri="{FF2B5EF4-FFF2-40B4-BE49-F238E27FC236}">
                <a16:creationId xmlns:a16="http://schemas.microsoft.com/office/drawing/2014/main" id="{E8394F90-16E0-31A7-A0C7-61E5FC63BEC1}"/>
              </a:ext>
            </a:extLst>
          </p:cNvPr>
          <p:cNvSpPr txBox="1"/>
          <p:nvPr/>
        </p:nvSpPr>
        <p:spPr>
          <a:xfrm>
            <a:off x="10645803" y="4584101"/>
            <a:ext cx="1232673" cy="954107"/>
          </a:xfrm>
          <a:prstGeom prst="rect">
            <a:avLst/>
          </a:prstGeom>
          <a:noFill/>
        </p:spPr>
        <p:txBody>
          <a:bodyPr wrap="square">
            <a:spAutoFit/>
          </a:bodyPr>
          <a:lstStyle/>
          <a:p>
            <a:pPr marL="0" indent="0" algn="ctr">
              <a:buFont typeface="Arial" panose="020B0604020202020204" pitchFamily="34" charset="0"/>
              <a:buNone/>
            </a:pPr>
            <a:r>
              <a:rPr lang="fr-FR" sz="1400" b="1" i="1"/>
              <a:t>Officialisation de l’usage du produit dans les normes</a:t>
            </a:r>
          </a:p>
        </p:txBody>
      </p:sp>
      <p:pic>
        <p:nvPicPr>
          <p:cNvPr id="4" name="Graphique 3" descr="Tribunal avec un remplissage uni">
            <a:extLst>
              <a:ext uri="{FF2B5EF4-FFF2-40B4-BE49-F238E27FC236}">
                <a16:creationId xmlns:a16="http://schemas.microsoft.com/office/drawing/2014/main" id="{B8D2E405-1083-340D-02FE-1CAE2E4EEE2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804939" y="3365066"/>
            <a:ext cx="914400" cy="914400"/>
          </a:xfrm>
          <a:prstGeom prst="rect">
            <a:avLst/>
          </a:prstGeom>
        </p:spPr>
      </p:pic>
      <p:pic>
        <p:nvPicPr>
          <p:cNvPr id="10" name="Graphique 9" descr="Centre d’appels avec un remplissage uni">
            <a:extLst>
              <a:ext uri="{FF2B5EF4-FFF2-40B4-BE49-F238E27FC236}">
                <a16:creationId xmlns:a16="http://schemas.microsoft.com/office/drawing/2014/main" id="{E03E7A8B-F0D9-999F-3616-99C530448FF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556789" y="3368569"/>
            <a:ext cx="914400" cy="914400"/>
          </a:xfrm>
          <a:prstGeom prst="rect">
            <a:avLst/>
          </a:prstGeom>
        </p:spPr>
      </p:pic>
      <p:pic>
        <p:nvPicPr>
          <p:cNvPr id="16" name="Graphique 15" descr="Dentifrice avec un remplissage uni">
            <a:extLst>
              <a:ext uri="{FF2B5EF4-FFF2-40B4-BE49-F238E27FC236}">
                <a16:creationId xmlns:a16="http://schemas.microsoft.com/office/drawing/2014/main" id="{673C8CD5-BF05-3A4F-98AA-E672D090AF66}"/>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33203" y="3391790"/>
            <a:ext cx="914400" cy="914400"/>
          </a:xfrm>
          <a:prstGeom prst="rect">
            <a:avLst/>
          </a:prstGeom>
        </p:spPr>
      </p:pic>
      <p:pic>
        <p:nvPicPr>
          <p:cNvPr id="27" name="Graphique 26" descr="Public cible avec un remplissage uni">
            <a:extLst>
              <a:ext uri="{FF2B5EF4-FFF2-40B4-BE49-F238E27FC236}">
                <a16:creationId xmlns:a16="http://schemas.microsoft.com/office/drawing/2014/main" id="{CEEA0E44-70DC-8C46-3BD3-547452F641DE}"/>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106904" y="3369789"/>
            <a:ext cx="914400" cy="914400"/>
          </a:xfrm>
          <a:prstGeom prst="rect">
            <a:avLst/>
          </a:prstGeom>
        </p:spPr>
      </p:pic>
      <p:grpSp>
        <p:nvGrpSpPr>
          <p:cNvPr id="37" name="Groupe 36">
            <a:extLst>
              <a:ext uri="{FF2B5EF4-FFF2-40B4-BE49-F238E27FC236}">
                <a16:creationId xmlns:a16="http://schemas.microsoft.com/office/drawing/2014/main" id="{611848C9-FB2E-199C-C4B4-B55E361CED6B}"/>
              </a:ext>
            </a:extLst>
          </p:cNvPr>
          <p:cNvGrpSpPr/>
          <p:nvPr/>
        </p:nvGrpSpPr>
        <p:grpSpPr>
          <a:xfrm>
            <a:off x="8852057" y="3339742"/>
            <a:ext cx="1307096" cy="1069902"/>
            <a:chOff x="9017406" y="3103420"/>
            <a:chExt cx="1307096" cy="1069902"/>
          </a:xfrm>
          <a:solidFill>
            <a:schemeClr val="tx1"/>
          </a:solidFill>
        </p:grpSpPr>
        <p:pic>
          <p:nvPicPr>
            <p:cNvPr id="8" name="Graphique 7" descr="Employée de bureau avec un remplissage uni">
              <a:extLst>
                <a:ext uri="{FF2B5EF4-FFF2-40B4-BE49-F238E27FC236}">
                  <a16:creationId xmlns:a16="http://schemas.microsoft.com/office/drawing/2014/main" id="{CABC2011-17C4-9AD4-11A8-63D2DB3E479D}"/>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9410102" y="3103420"/>
              <a:ext cx="914400" cy="914400"/>
            </a:xfrm>
            <a:prstGeom prst="rect">
              <a:avLst/>
            </a:prstGeom>
          </p:spPr>
        </p:pic>
        <p:pic>
          <p:nvPicPr>
            <p:cNvPr id="57" name="Graphique 56" descr="Micro de radio avec un remplissage uni">
              <a:extLst>
                <a:ext uri="{FF2B5EF4-FFF2-40B4-BE49-F238E27FC236}">
                  <a16:creationId xmlns:a16="http://schemas.microsoft.com/office/drawing/2014/main" id="{5082E55A-488C-4040-52B6-6FC9B60316D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017406" y="3495053"/>
              <a:ext cx="678269" cy="678269"/>
            </a:xfrm>
            <a:prstGeom prst="rect">
              <a:avLst/>
            </a:prstGeom>
          </p:spPr>
        </p:pic>
      </p:grpSp>
      <p:grpSp>
        <p:nvGrpSpPr>
          <p:cNvPr id="28" name="Groupe 27">
            <a:extLst>
              <a:ext uri="{FF2B5EF4-FFF2-40B4-BE49-F238E27FC236}">
                <a16:creationId xmlns:a16="http://schemas.microsoft.com/office/drawing/2014/main" id="{21510834-E0BE-1DF8-0976-4AFDE4405AD5}"/>
              </a:ext>
            </a:extLst>
          </p:cNvPr>
          <p:cNvGrpSpPr/>
          <p:nvPr/>
        </p:nvGrpSpPr>
        <p:grpSpPr>
          <a:xfrm>
            <a:off x="7266719" y="3456991"/>
            <a:ext cx="1034344" cy="634111"/>
            <a:chOff x="7152319" y="4069771"/>
            <a:chExt cx="1491543" cy="914400"/>
          </a:xfrm>
        </p:grpSpPr>
        <p:pic>
          <p:nvPicPr>
            <p:cNvPr id="14" name="Graphique 13" descr="Évaluation 3 étoiles avec un remplissage uni">
              <a:extLst>
                <a:ext uri="{FF2B5EF4-FFF2-40B4-BE49-F238E27FC236}">
                  <a16:creationId xmlns:a16="http://schemas.microsoft.com/office/drawing/2014/main" id="{B2349782-8372-F54B-DB30-2140FBC2FF5D}"/>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152319" y="4069771"/>
              <a:ext cx="914400" cy="914400"/>
            </a:xfrm>
            <a:prstGeom prst="rect">
              <a:avLst/>
            </a:prstGeom>
          </p:spPr>
        </p:pic>
        <p:pic>
          <p:nvPicPr>
            <p:cNvPr id="58" name="Graphique 57" descr="Évaluation 3 étoiles avec un remplissage uni">
              <a:extLst>
                <a:ext uri="{FF2B5EF4-FFF2-40B4-BE49-F238E27FC236}">
                  <a16:creationId xmlns:a16="http://schemas.microsoft.com/office/drawing/2014/main" id="{9913807B-B653-3FEE-386A-63CC8C56268F}"/>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729462" y="4069771"/>
              <a:ext cx="914400" cy="914400"/>
            </a:xfrm>
            <a:prstGeom prst="rect">
              <a:avLst/>
            </a:prstGeom>
          </p:spPr>
        </p:pic>
      </p:grpSp>
      <p:grpSp>
        <p:nvGrpSpPr>
          <p:cNvPr id="36" name="Groupe 35">
            <a:extLst>
              <a:ext uri="{FF2B5EF4-FFF2-40B4-BE49-F238E27FC236}">
                <a16:creationId xmlns:a16="http://schemas.microsoft.com/office/drawing/2014/main" id="{03EC586F-E576-DAA4-1205-E02F2B3CB44D}"/>
              </a:ext>
            </a:extLst>
          </p:cNvPr>
          <p:cNvGrpSpPr/>
          <p:nvPr/>
        </p:nvGrpSpPr>
        <p:grpSpPr>
          <a:xfrm>
            <a:off x="272642" y="3487855"/>
            <a:ext cx="914400" cy="914400"/>
            <a:chOff x="272642" y="3487855"/>
            <a:chExt cx="914400" cy="914400"/>
          </a:xfrm>
        </p:grpSpPr>
        <p:pic>
          <p:nvPicPr>
            <p:cNvPr id="30" name="Graphique 29" descr="Signe pouce en haut avec un remplissage uni">
              <a:extLst>
                <a:ext uri="{FF2B5EF4-FFF2-40B4-BE49-F238E27FC236}">
                  <a16:creationId xmlns:a16="http://schemas.microsoft.com/office/drawing/2014/main" id="{C558CECB-B2F2-C403-3FA2-5789E64E8EDC}"/>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729842" y="3697902"/>
              <a:ext cx="282716" cy="282716"/>
            </a:xfrm>
            <a:prstGeom prst="rect">
              <a:avLst/>
            </a:prstGeom>
          </p:spPr>
        </p:pic>
        <p:pic>
          <p:nvPicPr>
            <p:cNvPr id="32" name="Graphique 31" descr="Publicité avec un remplissage uni">
              <a:extLst>
                <a:ext uri="{FF2B5EF4-FFF2-40B4-BE49-F238E27FC236}">
                  <a16:creationId xmlns:a16="http://schemas.microsoft.com/office/drawing/2014/main" id="{E8486C8C-E889-E05E-EBCC-3A55C1F779C3}"/>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272642" y="3487855"/>
              <a:ext cx="914400" cy="914400"/>
            </a:xfrm>
            <a:prstGeom prst="rect">
              <a:avLst/>
            </a:prstGeom>
          </p:spPr>
        </p:pic>
        <p:pic>
          <p:nvPicPr>
            <p:cNvPr id="35" name="Graphique 34" descr="Visage au large sourire avec remplissage solide avec un remplissage uni">
              <a:extLst>
                <a:ext uri="{FF2B5EF4-FFF2-40B4-BE49-F238E27FC236}">
                  <a16:creationId xmlns:a16="http://schemas.microsoft.com/office/drawing/2014/main" id="{C883E921-22A8-495A-467F-EA188C0CEE57}"/>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09058" y="3673342"/>
              <a:ext cx="351297" cy="351297"/>
            </a:xfrm>
            <a:prstGeom prst="rect">
              <a:avLst/>
            </a:prstGeom>
          </p:spPr>
        </p:pic>
      </p:grpSp>
    </p:spTree>
    <p:extLst>
      <p:ext uri="{BB962C8B-B14F-4D97-AF65-F5344CB8AC3E}">
        <p14:creationId xmlns:p14="http://schemas.microsoft.com/office/powerpoint/2010/main" val="4227217145"/>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Image 34" descr="Une image contenant texte, clipart&#10;&#10;Description générée automatiquement">
            <a:extLst>
              <a:ext uri="{FF2B5EF4-FFF2-40B4-BE49-F238E27FC236}">
                <a16:creationId xmlns:a16="http://schemas.microsoft.com/office/drawing/2014/main" id="{40AB62D6-2F4A-469C-8BA1-277B6236F9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98080" y="5964697"/>
            <a:ext cx="789196" cy="286130"/>
          </a:xfrm>
          <a:prstGeom prst="rect">
            <a:avLst/>
          </a:prstGeom>
        </p:spPr>
      </p:pic>
      <p:pic>
        <p:nvPicPr>
          <p:cNvPr id="37" name="Image 36">
            <a:extLst>
              <a:ext uri="{FF2B5EF4-FFF2-40B4-BE49-F238E27FC236}">
                <a16:creationId xmlns:a16="http://schemas.microsoft.com/office/drawing/2014/main" id="{1863A787-CFED-4655-8124-842B3F924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0506" y="5852323"/>
            <a:ext cx="446998" cy="431222"/>
          </a:xfrm>
          <a:prstGeom prst="rect">
            <a:avLst/>
          </a:prstGeom>
        </p:spPr>
      </p:pic>
      <p:pic>
        <p:nvPicPr>
          <p:cNvPr id="39" name="Image 38">
            <a:extLst>
              <a:ext uri="{FF2B5EF4-FFF2-40B4-BE49-F238E27FC236}">
                <a16:creationId xmlns:a16="http://schemas.microsoft.com/office/drawing/2014/main" id="{BD6543D7-86F0-4849-A1D1-80E7FBB2C3BF}"/>
              </a:ext>
            </a:extLst>
          </p:cNvPr>
          <p:cNvPicPr>
            <a:picLocks noChangeAspect="1"/>
          </p:cNvPicPr>
          <p:nvPr/>
        </p:nvPicPr>
        <p:blipFill rotWithShape="1">
          <a:blip r:embed="rId4">
            <a:extLst>
              <a:ext uri="{28A0092B-C50C-407E-A947-70E740481C1C}">
                <a14:useLocalDpi xmlns:a14="http://schemas.microsoft.com/office/drawing/2010/main" val="0"/>
              </a:ext>
            </a:extLst>
          </a:blip>
          <a:srcRect b="18340"/>
          <a:stretch/>
        </p:blipFill>
        <p:spPr>
          <a:xfrm>
            <a:off x="9876107" y="5796079"/>
            <a:ext cx="1098153" cy="495587"/>
          </a:xfrm>
          <a:prstGeom prst="rect">
            <a:avLst/>
          </a:prstGeom>
        </p:spPr>
      </p:pic>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Suggestions d’activité</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0" y="954108"/>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9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3093" y="1496380"/>
              <a:ext cx="914400" cy="914400"/>
            </a:xfrm>
            <a:prstGeom prst="rect">
              <a:avLst/>
            </a:prstGeom>
          </p:spPr>
        </p:pic>
      </p:grpSp>
      <p:grpSp>
        <p:nvGrpSpPr>
          <p:cNvPr id="3" name="Groupe 2">
            <a:extLst>
              <a:ext uri="{FF2B5EF4-FFF2-40B4-BE49-F238E27FC236}">
                <a16:creationId xmlns:a16="http://schemas.microsoft.com/office/drawing/2014/main" id="{1D5B5981-E01C-4CFC-800E-B788BEFFBE8C}"/>
              </a:ext>
            </a:extLst>
          </p:cNvPr>
          <p:cNvGrpSpPr/>
          <p:nvPr/>
        </p:nvGrpSpPr>
        <p:grpSpPr>
          <a:xfrm>
            <a:off x="0" y="2569726"/>
            <a:ext cx="11840068" cy="4154984"/>
            <a:chOff x="85997" y="3536925"/>
            <a:chExt cx="11840068" cy="4154984"/>
          </a:xfrm>
        </p:grpSpPr>
        <p:sp>
          <p:nvSpPr>
            <p:cNvPr id="65" name="ZoneTexte 64">
              <a:extLst>
                <a:ext uri="{FF2B5EF4-FFF2-40B4-BE49-F238E27FC236}">
                  <a16:creationId xmlns:a16="http://schemas.microsoft.com/office/drawing/2014/main" id="{535227EB-27F1-4381-ABF4-77858F580766}"/>
                </a:ext>
              </a:extLst>
            </p:cNvPr>
            <p:cNvSpPr txBox="1"/>
            <p:nvPr/>
          </p:nvSpPr>
          <p:spPr>
            <a:xfrm>
              <a:off x="85997" y="3536926"/>
              <a:ext cx="1464141" cy="2462213"/>
            </a:xfrm>
            <a:prstGeom prst="rect">
              <a:avLst/>
            </a:prstGeom>
            <a:noFill/>
          </p:spPr>
          <p:txBody>
            <a:bodyPr wrap="square" rtlCol="0">
              <a:spAutoFit/>
            </a:bodyPr>
            <a:lstStyle/>
            <a:p>
              <a:pPr algn="ctr"/>
              <a:r>
                <a:rPr lang="fr-FR" sz="1100"/>
                <a:t>📅Meetup externes</a:t>
              </a:r>
            </a:p>
            <a:p>
              <a:pPr algn="ctr"/>
              <a:endParaRPr lang="fr-FR" sz="1100"/>
            </a:p>
            <a:p>
              <a:pPr algn="ctr"/>
              <a:r>
                <a:rPr lang="fr-FR" sz="1100"/>
                <a:t>✨</a:t>
              </a:r>
              <a:r>
                <a:rPr lang="fr-FR" sz="1100" err="1"/>
                <a:t>Success</a:t>
              </a:r>
              <a:r>
                <a:rPr lang="fr-FR" sz="1100"/>
                <a:t> stories extrêmes et lointaines</a:t>
              </a:r>
            </a:p>
            <a:p>
              <a:pPr algn="ctr"/>
              <a:endParaRPr lang="fr-FR" sz="1100"/>
            </a:p>
            <a:p>
              <a:pPr algn="ctr"/>
              <a:r>
                <a:rPr lang="fr-FR" sz="1100"/>
                <a:t>🔮Veille et prospective</a:t>
              </a:r>
            </a:p>
            <a:p>
              <a:pPr algn="ctr"/>
              <a:endParaRPr lang="fr-FR" sz="1100"/>
            </a:p>
            <a:p>
              <a:pPr algn="ctr"/>
              <a:r>
                <a:rPr lang="fr-FR" sz="1100"/>
                <a:t>🗣️</a:t>
              </a:r>
              <a:r>
                <a:rPr lang="fr-FR" sz="1100" err="1"/>
                <a:t>Talks</a:t>
              </a:r>
              <a:r>
                <a:rPr lang="fr-FR" sz="1100"/>
                <a:t> Inspirants</a:t>
              </a:r>
            </a:p>
            <a:p>
              <a:pPr algn="ctr"/>
              <a:endParaRPr lang="fr-FR" sz="1100"/>
            </a:p>
            <a:p>
              <a:pPr algn="ctr"/>
              <a:r>
                <a:rPr lang="fr-FR" sz="1100"/>
                <a:t>🌍Vue globale</a:t>
              </a:r>
            </a:p>
            <a:p>
              <a:pPr algn="ctr"/>
              <a:endParaRPr lang="fr-FR" sz="1100"/>
            </a:p>
            <a:p>
              <a:pPr algn="ctr"/>
              <a:r>
                <a:rPr lang="fr-FR" sz="1100"/>
                <a:t>🎲Serious Games de découverte</a:t>
              </a:r>
            </a:p>
          </p:txBody>
        </p:sp>
        <p:sp>
          <p:nvSpPr>
            <p:cNvPr id="66" name="ZoneTexte 65">
              <a:extLst>
                <a:ext uri="{FF2B5EF4-FFF2-40B4-BE49-F238E27FC236}">
                  <a16:creationId xmlns:a16="http://schemas.microsoft.com/office/drawing/2014/main" id="{FB674F3C-427F-4A2A-9D0B-B294340D3254}"/>
                </a:ext>
              </a:extLst>
            </p:cNvPr>
            <p:cNvSpPr txBox="1"/>
            <p:nvPr/>
          </p:nvSpPr>
          <p:spPr>
            <a:xfrm>
              <a:off x="1823644" y="3536926"/>
              <a:ext cx="1464141" cy="3477875"/>
            </a:xfrm>
            <a:prstGeom prst="rect">
              <a:avLst/>
            </a:prstGeom>
            <a:noFill/>
          </p:spPr>
          <p:txBody>
            <a:bodyPr wrap="square" rtlCol="0">
              <a:spAutoFit/>
            </a:bodyPr>
            <a:lstStyle/>
            <a:p>
              <a:pPr algn="ctr"/>
              <a:r>
                <a:rPr lang="fr-FR" sz="1100"/>
                <a:t>❓Ateliers « </a:t>
              </a:r>
              <a:r>
                <a:rPr lang="fr-FR" sz="1100" err="1"/>
                <a:t>What’s</a:t>
              </a:r>
              <a:r>
                <a:rPr lang="fr-FR" sz="1100"/>
                <a:t> In It For Me ? »</a:t>
              </a:r>
            </a:p>
            <a:p>
              <a:pPr algn="ctr"/>
              <a:endParaRPr lang="fr-FR" sz="1100"/>
            </a:p>
            <a:p>
              <a:pPr algn="ctr"/>
              <a:r>
                <a:rPr lang="fr-FR" sz="1100"/>
                <a:t>👍</a:t>
              </a:r>
              <a:r>
                <a:rPr lang="fr-FR" sz="1100" err="1"/>
                <a:t>Success</a:t>
              </a:r>
              <a:r>
                <a:rPr lang="fr-FR" sz="1100"/>
                <a:t> stories plus proches, partage d’expérience</a:t>
              </a:r>
            </a:p>
            <a:p>
              <a:pPr algn="ctr"/>
              <a:endParaRPr lang="fr-FR" sz="1100"/>
            </a:p>
            <a:p>
              <a:pPr algn="ctr"/>
              <a:r>
                <a:rPr lang="fr-FR" sz="1100"/>
                <a:t>😱 Collecte des craintes et 🤩opportunités d’usages / SWOT</a:t>
              </a:r>
            </a:p>
            <a:p>
              <a:pPr algn="ctr"/>
              <a:endParaRPr lang="fr-FR" sz="1100"/>
            </a:p>
            <a:p>
              <a:pPr algn="ctr"/>
              <a:r>
                <a:rPr lang="fr-FR" sz="1100"/>
                <a:t>🤝Ateliers connaissance mutuelle des membres</a:t>
              </a:r>
            </a:p>
            <a:p>
              <a:pPr algn="ctr"/>
              <a:endParaRPr lang="fr-FR" sz="1100"/>
            </a:p>
            <a:p>
              <a:pPr algn="ctr"/>
              <a:r>
                <a:rPr lang="fr-FR" sz="1100"/>
                <a:t>🔎Audit / Diagnostic / Etat des lieux sur un sujet donné</a:t>
              </a:r>
            </a:p>
          </p:txBody>
        </p:sp>
        <p:sp>
          <p:nvSpPr>
            <p:cNvPr id="67" name="ZoneTexte 66">
              <a:extLst>
                <a:ext uri="{FF2B5EF4-FFF2-40B4-BE49-F238E27FC236}">
                  <a16:creationId xmlns:a16="http://schemas.microsoft.com/office/drawing/2014/main" id="{BAC70D3C-A59F-44EA-96A0-82DE170C25FE}"/>
                </a:ext>
              </a:extLst>
            </p:cNvPr>
            <p:cNvSpPr txBox="1"/>
            <p:nvPr/>
          </p:nvSpPr>
          <p:spPr>
            <a:xfrm>
              <a:off x="3606422" y="3536926"/>
              <a:ext cx="1464141" cy="3647152"/>
            </a:xfrm>
            <a:prstGeom prst="rect">
              <a:avLst/>
            </a:prstGeom>
            <a:noFill/>
          </p:spPr>
          <p:txBody>
            <a:bodyPr wrap="square" rtlCol="0">
              <a:spAutoFit/>
            </a:bodyPr>
            <a:lstStyle/>
            <a:p>
              <a:pPr algn="ctr"/>
              <a:r>
                <a:rPr lang="fr-FR" sz="1100"/>
                <a:t>🔧Tutos / Dojos basiques</a:t>
              </a:r>
            </a:p>
            <a:p>
              <a:pPr algn="ctr"/>
              <a:endParaRPr lang="fr-FR" sz="1100"/>
            </a:p>
            <a:p>
              <a:pPr algn="ctr"/>
              <a:r>
                <a:rPr lang="fr-FR" sz="1100"/>
                <a:t>📄 Revue de documentation basiques/FAQ</a:t>
              </a:r>
            </a:p>
            <a:p>
              <a:pPr algn="ctr"/>
              <a:endParaRPr lang="fr-FR" sz="1100"/>
            </a:p>
            <a:p>
              <a:pPr algn="ctr"/>
              <a:r>
                <a:rPr lang="fr-FR" sz="1100"/>
                <a:t>📣 Aide à la promotion et au lancement</a:t>
              </a:r>
            </a:p>
            <a:p>
              <a:pPr algn="ctr"/>
              <a:endParaRPr lang="fr-FR" sz="1100"/>
            </a:p>
            <a:p>
              <a:pPr algn="ctr"/>
              <a:r>
                <a:rPr lang="fr-FR" sz="1100"/>
                <a:t>🕵️‍♀️ Système de </a:t>
              </a:r>
              <a:r>
                <a:rPr lang="fr-FR" sz="1100" err="1"/>
                <a:t>shadowing</a:t>
              </a:r>
              <a:endParaRPr lang="fr-FR" sz="1100"/>
            </a:p>
            <a:p>
              <a:pPr algn="ctr"/>
              <a:endParaRPr lang="fr-FR" sz="1100"/>
            </a:p>
            <a:p>
              <a:pPr algn="ctr"/>
              <a:r>
                <a:rPr lang="fr-FR" sz="1100"/>
                <a:t>▶️ Invitation à la mise en application en situation réelle</a:t>
              </a:r>
            </a:p>
            <a:p>
              <a:pPr algn="ctr"/>
              <a:endParaRPr lang="fr-FR" sz="1100"/>
            </a:p>
            <a:p>
              <a:pPr algn="ctr"/>
              <a:r>
                <a:rPr lang="fr-FR" sz="1100"/>
                <a:t>🧪Expérimentation de projets à l’intérieur de la Communauté</a:t>
              </a:r>
            </a:p>
          </p:txBody>
        </p:sp>
        <p:sp>
          <p:nvSpPr>
            <p:cNvPr id="68" name="ZoneTexte 67">
              <a:extLst>
                <a:ext uri="{FF2B5EF4-FFF2-40B4-BE49-F238E27FC236}">
                  <a16:creationId xmlns:a16="http://schemas.microsoft.com/office/drawing/2014/main" id="{C8C0DEAC-1741-40A9-8FFA-AA692C546EC1}"/>
                </a:ext>
              </a:extLst>
            </p:cNvPr>
            <p:cNvSpPr txBox="1"/>
            <p:nvPr/>
          </p:nvSpPr>
          <p:spPr>
            <a:xfrm>
              <a:off x="5323766" y="3536925"/>
              <a:ext cx="1464141" cy="4154984"/>
            </a:xfrm>
            <a:prstGeom prst="rect">
              <a:avLst/>
            </a:prstGeom>
            <a:noFill/>
          </p:spPr>
          <p:txBody>
            <a:bodyPr wrap="square" rtlCol="0">
              <a:spAutoFit/>
            </a:bodyPr>
            <a:lstStyle/>
            <a:p>
              <a:pPr algn="ctr"/>
              <a:r>
                <a:rPr lang="fr-FR" sz="1100"/>
                <a:t>🛠️ Dojos et pratiques avancées</a:t>
              </a:r>
            </a:p>
            <a:p>
              <a:pPr algn="ctr"/>
              <a:endParaRPr lang="fr-FR" sz="1100"/>
            </a:p>
            <a:p>
              <a:pPr algn="ctr"/>
              <a:r>
                <a:rPr lang="fr-FR" sz="1100"/>
                <a:t>💞 Groupes d’intervision / entraide spécifique / soutien moral /</a:t>
              </a:r>
            </a:p>
            <a:p>
              <a:pPr algn="ctr"/>
              <a:r>
                <a:rPr lang="fr-FR" sz="1100"/>
                <a:t>sous groupes / Revues entre pairs</a:t>
              </a:r>
            </a:p>
            <a:p>
              <a:pPr algn="ctr"/>
              <a:endParaRPr lang="fr-FR" sz="1100"/>
            </a:p>
            <a:p>
              <a:pPr algn="ctr"/>
              <a:r>
                <a:rPr lang="fr-FR" sz="1100"/>
                <a:t>🏋️Système de mentoring / coaching</a:t>
              </a:r>
            </a:p>
            <a:p>
              <a:pPr algn="ctr"/>
              <a:endParaRPr lang="fr-FR" sz="1100"/>
            </a:p>
            <a:p>
              <a:pPr algn="ctr"/>
              <a:r>
                <a:rPr lang="fr-FR" sz="1100"/>
                <a:t>🍺 Moments pour relâcher la pression ensemble</a:t>
              </a:r>
            </a:p>
            <a:p>
              <a:pPr algn="ctr"/>
              <a:endParaRPr lang="fr-FR" sz="1100"/>
            </a:p>
            <a:p>
              <a:pPr algn="ctr"/>
              <a:r>
                <a:rPr lang="fr-FR" sz="1100"/>
                <a:t>➕ ➖ Recensement d’avantages et inconvénients des changements</a:t>
              </a:r>
            </a:p>
            <a:p>
              <a:pPr algn="ctr"/>
              <a:endParaRPr lang="fr-FR" sz="1100"/>
            </a:p>
            <a:p>
              <a:pPr algn="ctr"/>
              <a:r>
                <a:rPr lang="fr-FR" sz="1100"/>
                <a:t>🔧 Mise en place système de suivi</a:t>
              </a:r>
            </a:p>
          </p:txBody>
        </p:sp>
        <p:sp>
          <p:nvSpPr>
            <p:cNvPr id="69" name="ZoneTexte 68">
              <a:extLst>
                <a:ext uri="{FF2B5EF4-FFF2-40B4-BE49-F238E27FC236}">
                  <a16:creationId xmlns:a16="http://schemas.microsoft.com/office/drawing/2014/main" id="{D52221F4-2470-42EE-8A07-B8454297A563}"/>
                </a:ext>
              </a:extLst>
            </p:cNvPr>
            <p:cNvSpPr txBox="1"/>
            <p:nvPr/>
          </p:nvSpPr>
          <p:spPr>
            <a:xfrm>
              <a:off x="7061413" y="3536925"/>
              <a:ext cx="1464141" cy="3308598"/>
            </a:xfrm>
            <a:prstGeom prst="rect">
              <a:avLst/>
            </a:prstGeom>
            <a:noFill/>
          </p:spPr>
          <p:txBody>
            <a:bodyPr wrap="square" rtlCol="0">
              <a:spAutoFit/>
            </a:bodyPr>
            <a:lstStyle/>
            <a:p>
              <a:pPr algn="ctr"/>
              <a:r>
                <a:rPr lang="fr-FR" sz="1100"/>
                <a:t>⚖️ Définition des normes et règles locales</a:t>
              </a:r>
            </a:p>
            <a:p>
              <a:pPr algn="ctr"/>
              <a:endParaRPr lang="fr-FR" sz="1100"/>
            </a:p>
            <a:p>
              <a:pPr algn="ctr"/>
              <a:r>
                <a:rPr lang="fr-FR" sz="1100"/>
                <a:t>➡️ ⬅️ Identification des synergies, des ressources et documentations à mettre en commun</a:t>
              </a:r>
            </a:p>
            <a:p>
              <a:pPr algn="ctr"/>
              <a:endParaRPr lang="fr-FR" sz="1100"/>
            </a:p>
            <a:p>
              <a:pPr algn="ctr"/>
              <a:r>
                <a:rPr lang="fr-FR" sz="1100"/>
                <a:t>✔️ Clarification des best practices, des cas d’usages typiques (attention biais du survivant)</a:t>
              </a:r>
            </a:p>
            <a:p>
              <a:pPr algn="ctr"/>
              <a:endParaRPr lang="fr-FR" sz="1100"/>
            </a:p>
            <a:p>
              <a:pPr algn="ctr"/>
              <a:r>
                <a:rPr lang="fr-FR" sz="1100"/>
                <a:t>🗣️Témoignages et retours d’expériences locaux </a:t>
              </a:r>
            </a:p>
          </p:txBody>
        </p:sp>
        <p:sp>
          <p:nvSpPr>
            <p:cNvPr id="70" name="ZoneTexte 69">
              <a:extLst>
                <a:ext uri="{FF2B5EF4-FFF2-40B4-BE49-F238E27FC236}">
                  <a16:creationId xmlns:a16="http://schemas.microsoft.com/office/drawing/2014/main" id="{D3741B66-CDA3-4940-A2D3-B84D7D2C095F}"/>
                </a:ext>
              </a:extLst>
            </p:cNvPr>
            <p:cNvSpPr txBox="1"/>
            <p:nvPr/>
          </p:nvSpPr>
          <p:spPr>
            <a:xfrm>
              <a:off x="8799060" y="3536925"/>
              <a:ext cx="1464141" cy="2800767"/>
            </a:xfrm>
            <a:prstGeom prst="rect">
              <a:avLst/>
            </a:prstGeom>
            <a:noFill/>
          </p:spPr>
          <p:txBody>
            <a:bodyPr wrap="square" rtlCol="0">
              <a:spAutoFit/>
            </a:bodyPr>
            <a:lstStyle/>
            <a:p>
              <a:pPr algn="ctr"/>
              <a:r>
                <a:rPr lang="fr-FR" sz="1100"/>
                <a:t>🎅 Construction d’une offre de service</a:t>
              </a:r>
            </a:p>
            <a:p>
              <a:pPr algn="ctr"/>
              <a:endParaRPr lang="fr-FR" sz="1100"/>
            </a:p>
            <a:p>
              <a:pPr algn="ctr"/>
              <a:r>
                <a:rPr lang="fr-FR" sz="1100"/>
                <a:t>🎓 Définition de parcours de formation</a:t>
              </a:r>
            </a:p>
            <a:p>
              <a:pPr algn="ctr"/>
              <a:endParaRPr lang="fr-FR" sz="1100"/>
            </a:p>
            <a:p>
              <a:pPr algn="ctr"/>
              <a:r>
                <a:rPr lang="fr-FR" sz="1100"/>
                <a:t>🛫 Transmission au-delà de la communauté</a:t>
              </a:r>
            </a:p>
            <a:p>
              <a:pPr algn="ctr"/>
              <a:endParaRPr lang="fr-FR" sz="1100"/>
            </a:p>
            <a:p>
              <a:pPr algn="ctr"/>
              <a:r>
                <a:rPr lang="fr-FR" sz="1100"/>
                <a:t>📜 Mise en place de certification locales</a:t>
              </a:r>
            </a:p>
            <a:p>
              <a:pPr algn="ctr"/>
              <a:endParaRPr lang="fr-FR" sz="1100"/>
            </a:p>
            <a:p>
              <a:pPr algn="ctr"/>
              <a:r>
                <a:rPr lang="fr-FR" sz="1100"/>
                <a:t>⭐Exposition et promotion de la documentation</a:t>
              </a:r>
            </a:p>
          </p:txBody>
        </p:sp>
        <p:sp>
          <p:nvSpPr>
            <p:cNvPr id="71" name="ZoneTexte 70">
              <a:extLst>
                <a:ext uri="{FF2B5EF4-FFF2-40B4-BE49-F238E27FC236}">
                  <a16:creationId xmlns:a16="http://schemas.microsoft.com/office/drawing/2014/main" id="{38880597-E85E-4B1E-9154-F02B17362B7E}"/>
                </a:ext>
              </a:extLst>
            </p:cNvPr>
            <p:cNvSpPr txBox="1"/>
            <p:nvPr/>
          </p:nvSpPr>
          <p:spPr>
            <a:xfrm>
              <a:off x="10461924" y="3536925"/>
              <a:ext cx="1464141" cy="2292935"/>
            </a:xfrm>
            <a:prstGeom prst="rect">
              <a:avLst/>
            </a:prstGeom>
            <a:noFill/>
          </p:spPr>
          <p:txBody>
            <a:bodyPr wrap="square" rtlCol="0">
              <a:spAutoFit/>
            </a:bodyPr>
            <a:lstStyle/>
            <a:p>
              <a:pPr algn="ctr"/>
              <a:r>
                <a:rPr lang="fr-FR" sz="1100"/>
                <a:t>🏠 Officialisation des équipes et des tâches</a:t>
              </a:r>
            </a:p>
            <a:p>
              <a:pPr algn="ctr"/>
              <a:endParaRPr lang="fr-FR" sz="1100"/>
            </a:p>
            <a:p>
              <a:pPr algn="ctr"/>
              <a:r>
                <a:rPr lang="fr-FR" sz="1100"/>
                <a:t>😎Mise à jour des fiches de poste</a:t>
              </a:r>
            </a:p>
            <a:p>
              <a:pPr algn="ctr"/>
              <a:endParaRPr lang="fr-FR" sz="1100"/>
            </a:p>
            <a:p>
              <a:pPr algn="ctr"/>
              <a:r>
                <a:rPr lang="fr-FR" sz="1100"/>
                <a:t>👓 Intervention dans les processus de recrutement</a:t>
              </a:r>
            </a:p>
            <a:p>
              <a:pPr algn="ctr"/>
              <a:endParaRPr lang="fr-FR" sz="1100"/>
            </a:p>
            <a:p>
              <a:pPr algn="ctr"/>
              <a:r>
                <a:rPr lang="fr-FR" sz="1100"/>
                <a:t>🌍 Expansion des normes locales à d’autres domaines</a:t>
              </a:r>
            </a:p>
          </p:txBody>
        </p:sp>
      </p:grpSp>
    </p:spTree>
    <p:extLst>
      <p:ext uri="{BB962C8B-B14F-4D97-AF65-F5344CB8AC3E}">
        <p14:creationId xmlns:p14="http://schemas.microsoft.com/office/powerpoint/2010/main" val="137256555"/>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Image 34" descr="Une image contenant texte, clipart&#10;&#10;Description générée automatiquement">
            <a:extLst>
              <a:ext uri="{FF2B5EF4-FFF2-40B4-BE49-F238E27FC236}">
                <a16:creationId xmlns:a16="http://schemas.microsoft.com/office/drawing/2014/main" id="{40AB62D6-2F4A-469C-8BA1-277B6236F9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09680" y="6453701"/>
            <a:ext cx="789196" cy="286130"/>
          </a:xfrm>
          <a:prstGeom prst="rect">
            <a:avLst/>
          </a:prstGeom>
        </p:spPr>
      </p:pic>
      <p:pic>
        <p:nvPicPr>
          <p:cNvPr id="37" name="Image 36">
            <a:extLst>
              <a:ext uri="{FF2B5EF4-FFF2-40B4-BE49-F238E27FC236}">
                <a16:creationId xmlns:a16="http://schemas.microsoft.com/office/drawing/2014/main" id="{1863A787-CFED-4655-8124-842B3F924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2106" y="6341327"/>
            <a:ext cx="446998" cy="431222"/>
          </a:xfrm>
          <a:prstGeom prst="rect">
            <a:avLst/>
          </a:prstGeom>
        </p:spPr>
      </p:pic>
      <p:pic>
        <p:nvPicPr>
          <p:cNvPr id="39" name="Image 38">
            <a:extLst>
              <a:ext uri="{FF2B5EF4-FFF2-40B4-BE49-F238E27FC236}">
                <a16:creationId xmlns:a16="http://schemas.microsoft.com/office/drawing/2014/main" id="{BD6543D7-86F0-4849-A1D1-80E7FBB2C3BF}"/>
              </a:ext>
            </a:extLst>
          </p:cNvPr>
          <p:cNvPicPr>
            <a:picLocks noChangeAspect="1"/>
          </p:cNvPicPr>
          <p:nvPr/>
        </p:nvPicPr>
        <p:blipFill rotWithShape="1">
          <a:blip r:embed="rId4">
            <a:extLst>
              <a:ext uri="{28A0092B-C50C-407E-A947-70E740481C1C}">
                <a14:useLocalDpi xmlns:a14="http://schemas.microsoft.com/office/drawing/2010/main" val="0"/>
              </a:ext>
            </a:extLst>
          </a:blip>
          <a:srcRect b="18340"/>
          <a:stretch/>
        </p:blipFill>
        <p:spPr>
          <a:xfrm>
            <a:off x="9887707" y="6285083"/>
            <a:ext cx="1098153" cy="495587"/>
          </a:xfrm>
          <a:prstGeom prst="rect">
            <a:avLst/>
          </a:prstGeom>
        </p:spPr>
      </p:pic>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Suggestions de contenus</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11600" y="14431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3093" y="1496380"/>
              <a:ext cx="914400" cy="914400"/>
            </a:xfrm>
            <a:prstGeom prst="rect">
              <a:avLst/>
            </a:prstGeom>
          </p:spPr>
        </p:pic>
      </p:grpSp>
      <p:grpSp>
        <p:nvGrpSpPr>
          <p:cNvPr id="3" name="Groupe 2">
            <a:extLst>
              <a:ext uri="{FF2B5EF4-FFF2-40B4-BE49-F238E27FC236}">
                <a16:creationId xmlns:a16="http://schemas.microsoft.com/office/drawing/2014/main" id="{1D5B5981-E01C-4CFC-800E-B788BEFFBE8C}"/>
              </a:ext>
            </a:extLst>
          </p:cNvPr>
          <p:cNvGrpSpPr/>
          <p:nvPr/>
        </p:nvGrpSpPr>
        <p:grpSpPr>
          <a:xfrm>
            <a:off x="11600" y="3030655"/>
            <a:ext cx="11840068" cy="3139322"/>
            <a:chOff x="85997" y="3536925"/>
            <a:chExt cx="11840068" cy="3139322"/>
          </a:xfrm>
        </p:grpSpPr>
        <p:sp>
          <p:nvSpPr>
            <p:cNvPr id="65" name="ZoneTexte 64">
              <a:extLst>
                <a:ext uri="{FF2B5EF4-FFF2-40B4-BE49-F238E27FC236}">
                  <a16:creationId xmlns:a16="http://schemas.microsoft.com/office/drawing/2014/main" id="{535227EB-27F1-4381-ABF4-77858F580766}"/>
                </a:ext>
              </a:extLst>
            </p:cNvPr>
            <p:cNvSpPr txBox="1"/>
            <p:nvPr/>
          </p:nvSpPr>
          <p:spPr>
            <a:xfrm>
              <a:off x="85997" y="3536926"/>
              <a:ext cx="1464141" cy="3139321"/>
            </a:xfrm>
            <a:prstGeom prst="rect">
              <a:avLst/>
            </a:prstGeom>
            <a:noFill/>
          </p:spPr>
          <p:txBody>
            <a:bodyPr wrap="square" rtlCol="0">
              <a:spAutoFit/>
            </a:bodyPr>
            <a:lstStyle/>
            <a:p>
              <a:pPr algn="ctr"/>
              <a:r>
                <a:rPr lang="fr-FR" sz="1100"/>
                <a:t>📰Articles généralistes courts</a:t>
              </a:r>
            </a:p>
            <a:p>
              <a:pPr algn="ctr"/>
              <a:endParaRPr lang="fr-FR" sz="1100"/>
            </a:p>
            <a:p>
              <a:pPr algn="ctr"/>
              <a:r>
                <a:rPr lang="fr-FR" sz="1100"/>
                <a:t>▶️Vidéos « teaser »</a:t>
              </a:r>
            </a:p>
            <a:p>
              <a:pPr algn="ctr"/>
              <a:endParaRPr lang="fr-FR" sz="1100"/>
            </a:p>
            <a:p>
              <a:pPr algn="ctr"/>
              <a:r>
                <a:rPr lang="fr-FR" sz="1100"/>
                <a:t>💬 Mini </a:t>
              </a:r>
              <a:r>
                <a:rPr lang="fr-FR" sz="1100" err="1"/>
                <a:t>posts</a:t>
              </a:r>
              <a:r>
                <a:rPr lang="fr-FR" sz="1100"/>
                <a:t> sur la tendance liée au changement (articles externes, </a:t>
              </a:r>
              <a:r>
                <a:rPr lang="fr-FR" sz="1100" err="1"/>
                <a:t>etc</a:t>
              </a:r>
              <a:r>
                <a:rPr lang="fr-FR" sz="1100"/>
                <a:t>)</a:t>
              </a:r>
            </a:p>
            <a:p>
              <a:pPr algn="ctr"/>
              <a:endParaRPr lang="fr-FR" sz="1100"/>
            </a:p>
            <a:p>
              <a:pPr algn="ctr"/>
              <a:r>
                <a:rPr lang="fr-FR" sz="1100"/>
                <a:t>📰 Articles sur l’importance du sujet du changement à plus grande échelle</a:t>
              </a:r>
            </a:p>
            <a:p>
              <a:pPr algn="ctr"/>
              <a:endParaRPr lang="fr-FR" sz="1100"/>
            </a:p>
            <a:p>
              <a:pPr algn="ctr"/>
              <a:r>
                <a:rPr lang="fr-FR" sz="1100"/>
                <a:t>📰Articles sur les grandes réussites liées au changement</a:t>
              </a:r>
            </a:p>
          </p:txBody>
        </p:sp>
        <p:sp>
          <p:nvSpPr>
            <p:cNvPr id="66" name="ZoneTexte 65">
              <a:extLst>
                <a:ext uri="{FF2B5EF4-FFF2-40B4-BE49-F238E27FC236}">
                  <a16:creationId xmlns:a16="http://schemas.microsoft.com/office/drawing/2014/main" id="{FB674F3C-427F-4A2A-9D0B-B294340D3254}"/>
                </a:ext>
              </a:extLst>
            </p:cNvPr>
            <p:cNvSpPr txBox="1"/>
            <p:nvPr/>
          </p:nvSpPr>
          <p:spPr>
            <a:xfrm>
              <a:off x="1823644" y="3536926"/>
              <a:ext cx="1464141" cy="2123658"/>
            </a:xfrm>
            <a:prstGeom prst="rect">
              <a:avLst/>
            </a:prstGeom>
            <a:noFill/>
          </p:spPr>
          <p:txBody>
            <a:bodyPr wrap="square" rtlCol="0">
              <a:spAutoFit/>
            </a:bodyPr>
            <a:lstStyle/>
            <a:p>
              <a:pPr algn="ctr"/>
              <a:r>
                <a:rPr lang="fr-FR" sz="1100"/>
                <a:t>❓ Sondages, questionnaires d’intérêts</a:t>
              </a:r>
            </a:p>
            <a:p>
              <a:pPr algn="ctr"/>
              <a:endParaRPr lang="fr-FR" sz="1100"/>
            </a:p>
            <a:p>
              <a:pPr algn="ctr"/>
              <a:r>
                <a:rPr lang="fr-FR" sz="1100"/>
                <a:t>🎤Retours d’expériences (articles, vidéos, interviews…) plus proches (concurrents, autres personnes qui ressemblent aux membres, …)</a:t>
              </a:r>
            </a:p>
          </p:txBody>
        </p:sp>
        <p:sp>
          <p:nvSpPr>
            <p:cNvPr id="67" name="ZoneTexte 66">
              <a:extLst>
                <a:ext uri="{FF2B5EF4-FFF2-40B4-BE49-F238E27FC236}">
                  <a16:creationId xmlns:a16="http://schemas.microsoft.com/office/drawing/2014/main" id="{BAC70D3C-A59F-44EA-96A0-82DE170C25FE}"/>
                </a:ext>
              </a:extLst>
            </p:cNvPr>
            <p:cNvSpPr txBox="1"/>
            <p:nvPr/>
          </p:nvSpPr>
          <p:spPr>
            <a:xfrm>
              <a:off x="3606422" y="3536926"/>
              <a:ext cx="1464141" cy="1107996"/>
            </a:xfrm>
            <a:prstGeom prst="rect">
              <a:avLst/>
            </a:prstGeom>
            <a:noFill/>
          </p:spPr>
          <p:txBody>
            <a:bodyPr wrap="square" rtlCol="0">
              <a:spAutoFit/>
            </a:bodyPr>
            <a:lstStyle/>
            <a:p>
              <a:pPr algn="ctr"/>
              <a:r>
                <a:rPr lang="fr-FR" sz="1100"/>
                <a:t>🎓 Tutoriels de base</a:t>
              </a:r>
            </a:p>
            <a:p>
              <a:pPr algn="ctr"/>
              <a:endParaRPr lang="fr-FR" sz="1100"/>
            </a:p>
            <a:p>
              <a:pPr algn="ctr"/>
              <a:r>
                <a:rPr lang="fr-FR" sz="1100"/>
                <a:t>👍 Trucs et astuces pour bien démarrer</a:t>
              </a:r>
            </a:p>
            <a:p>
              <a:pPr algn="ctr"/>
              <a:endParaRPr lang="fr-FR" sz="1100"/>
            </a:p>
            <a:p>
              <a:pPr algn="ctr"/>
              <a:r>
                <a:rPr lang="fr-FR" sz="1100"/>
                <a:t>🆓 Essais gratuits</a:t>
              </a:r>
            </a:p>
          </p:txBody>
        </p:sp>
        <p:sp>
          <p:nvSpPr>
            <p:cNvPr id="68" name="ZoneTexte 67">
              <a:extLst>
                <a:ext uri="{FF2B5EF4-FFF2-40B4-BE49-F238E27FC236}">
                  <a16:creationId xmlns:a16="http://schemas.microsoft.com/office/drawing/2014/main" id="{C8C0DEAC-1741-40A9-8FFA-AA692C546EC1}"/>
                </a:ext>
              </a:extLst>
            </p:cNvPr>
            <p:cNvSpPr txBox="1"/>
            <p:nvPr/>
          </p:nvSpPr>
          <p:spPr>
            <a:xfrm>
              <a:off x="5323766" y="3536925"/>
              <a:ext cx="1464141" cy="2631490"/>
            </a:xfrm>
            <a:prstGeom prst="rect">
              <a:avLst/>
            </a:prstGeom>
            <a:noFill/>
          </p:spPr>
          <p:txBody>
            <a:bodyPr wrap="square" rtlCol="0">
              <a:spAutoFit/>
            </a:bodyPr>
            <a:lstStyle/>
            <a:p>
              <a:pPr algn="ctr"/>
              <a:r>
                <a:rPr lang="fr-FR" sz="1100"/>
                <a:t>📰 Articles avancés</a:t>
              </a:r>
            </a:p>
            <a:p>
              <a:pPr algn="ctr"/>
              <a:endParaRPr lang="fr-FR" sz="1100"/>
            </a:p>
            <a:p>
              <a:pPr algn="ctr"/>
              <a:r>
                <a:rPr lang="fr-FR" sz="1100"/>
                <a:t>🎓 Tutoriels d’outils, de fonctionnalités, de techniques avancés </a:t>
              </a:r>
            </a:p>
            <a:p>
              <a:pPr algn="ctr"/>
              <a:endParaRPr lang="fr-FR" sz="1100"/>
            </a:p>
            <a:p>
              <a:pPr algn="ctr"/>
              <a:r>
                <a:rPr lang="fr-FR" sz="1100"/>
                <a:t>▶️ Vidéos d’approfondissement</a:t>
              </a:r>
            </a:p>
            <a:p>
              <a:pPr algn="ctr"/>
              <a:endParaRPr lang="fr-FR" sz="1100"/>
            </a:p>
            <a:p>
              <a:pPr algn="ctr"/>
              <a:r>
                <a:rPr lang="fr-FR" sz="1100"/>
                <a:t>👍 Trucs et astuces d’experts</a:t>
              </a:r>
            </a:p>
            <a:p>
              <a:pPr algn="ctr"/>
              <a:endParaRPr lang="fr-FR" sz="1100"/>
            </a:p>
            <a:p>
              <a:pPr algn="ctr"/>
              <a:r>
                <a:rPr lang="fr-FR" sz="1100"/>
                <a:t>📅 Invitations à des événements spécialisés</a:t>
              </a:r>
            </a:p>
          </p:txBody>
        </p:sp>
        <p:sp>
          <p:nvSpPr>
            <p:cNvPr id="69" name="ZoneTexte 68">
              <a:extLst>
                <a:ext uri="{FF2B5EF4-FFF2-40B4-BE49-F238E27FC236}">
                  <a16:creationId xmlns:a16="http://schemas.microsoft.com/office/drawing/2014/main" id="{D52221F4-2470-42EE-8A07-B8454297A563}"/>
                </a:ext>
              </a:extLst>
            </p:cNvPr>
            <p:cNvSpPr txBox="1"/>
            <p:nvPr/>
          </p:nvSpPr>
          <p:spPr>
            <a:xfrm>
              <a:off x="7061413" y="3536925"/>
              <a:ext cx="1464141" cy="2462213"/>
            </a:xfrm>
            <a:prstGeom prst="rect">
              <a:avLst/>
            </a:prstGeom>
            <a:noFill/>
          </p:spPr>
          <p:txBody>
            <a:bodyPr wrap="square" rtlCol="0">
              <a:spAutoFit/>
            </a:bodyPr>
            <a:lstStyle/>
            <a:p>
              <a:pPr algn="ctr"/>
              <a:r>
                <a:rPr lang="fr-FR" sz="1100"/>
                <a:t>📰 Articles ou </a:t>
              </a:r>
              <a:r>
                <a:rPr lang="fr-FR" sz="1100" err="1"/>
                <a:t>posts</a:t>
              </a:r>
              <a:r>
                <a:rPr lang="fr-FR" sz="1100"/>
                <a:t> sur les réussites locales</a:t>
              </a:r>
            </a:p>
            <a:p>
              <a:pPr algn="ctr"/>
              <a:endParaRPr lang="fr-FR" sz="1100"/>
            </a:p>
            <a:p>
              <a:pPr algn="ctr"/>
              <a:r>
                <a:rPr lang="fr-FR" sz="1100"/>
                <a:t>📣 Mise en avant de membres ou de projets liés au changement</a:t>
              </a:r>
            </a:p>
            <a:p>
              <a:pPr algn="ctr"/>
              <a:endParaRPr lang="fr-FR" sz="1100"/>
            </a:p>
            <a:p>
              <a:pPr algn="ctr"/>
              <a:r>
                <a:rPr lang="fr-FR" sz="1100"/>
                <a:t>🎤Retours d’expériences (articles, vidéos, interviews, …) des membres</a:t>
              </a:r>
            </a:p>
          </p:txBody>
        </p:sp>
        <p:sp>
          <p:nvSpPr>
            <p:cNvPr id="70" name="ZoneTexte 69">
              <a:extLst>
                <a:ext uri="{FF2B5EF4-FFF2-40B4-BE49-F238E27FC236}">
                  <a16:creationId xmlns:a16="http://schemas.microsoft.com/office/drawing/2014/main" id="{D3741B66-CDA3-4940-A2D3-B84D7D2C095F}"/>
                </a:ext>
              </a:extLst>
            </p:cNvPr>
            <p:cNvSpPr txBox="1"/>
            <p:nvPr/>
          </p:nvSpPr>
          <p:spPr>
            <a:xfrm>
              <a:off x="8799060" y="3536925"/>
              <a:ext cx="1464141" cy="600164"/>
            </a:xfrm>
            <a:prstGeom prst="rect">
              <a:avLst/>
            </a:prstGeom>
            <a:noFill/>
          </p:spPr>
          <p:txBody>
            <a:bodyPr wrap="square" rtlCol="0">
              <a:spAutoFit/>
            </a:bodyPr>
            <a:lstStyle/>
            <a:p>
              <a:pPr algn="ctr"/>
              <a:r>
                <a:rPr lang="fr-FR" sz="1100"/>
                <a:t>🆕 Brochures, flyers, catalogues de services (à créer)</a:t>
              </a:r>
            </a:p>
          </p:txBody>
        </p:sp>
        <p:sp>
          <p:nvSpPr>
            <p:cNvPr id="71" name="ZoneTexte 70">
              <a:extLst>
                <a:ext uri="{FF2B5EF4-FFF2-40B4-BE49-F238E27FC236}">
                  <a16:creationId xmlns:a16="http://schemas.microsoft.com/office/drawing/2014/main" id="{38880597-E85E-4B1E-9154-F02B17362B7E}"/>
                </a:ext>
              </a:extLst>
            </p:cNvPr>
            <p:cNvSpPr txBox="1"/>
            <p:nvPr/>
          </p:nvSpPr>
          <p:spPr>
            <a:xfrm>
              <a:off x="10461924" y="3536925"/>
              <a:ext cx="1464141" cy="1785104"/>
            </a:xfrm>
            <a:prstGeom prst="rect">
              <a:avLst/>
            </a:prstGeom>
            <a:noFill/>
          </p:spPr>
          <p:txBody>
            <a:bodyPr wrap="square" rtlCol="0">
              <a:spAutoFit/>
            </a:bodyPr>
            <a:lstStyle/>
            <a:p>
              <a:pPr algn="ctr"/>
              <a:r>
                <a:rPr lang="fr-FR" sz="1100"/>
                <a:t>📣 Déclaration de lancement d’équipes</a:t>
              </a:r>
            </a:p>
            <a:p>
              <a:pPr algn="ctr"/>
              <a:endParaRPr lang="fr-FR" sz="1100"/>
            </a:p>
            <a:p>
              <a:pPr algn="ctr"/>
              <a:r>
                <a:rPr lang="fr-FR" sz="1100"/>
                <a:t>🏢 Fiches de poste / Offres</a:t>
              </a:r>
            </a:p>
            <a:p>
              <a:pPr algn="ctr"/>
              <a:endParaRPr lang="fr-FR" sz="1100"/>
            </a:p>
            <a:p>
              <a:pPr algn="ctr"/>
              <a:r>
                <a:rPr lang="fr-FR" sz="1100"/>
                <a:t>📣 Annonces officielles sur les changements de processus</a:t>
              </a:r>
            </a:p>
          </p:txBody>
        </p:sp>
      </p:grpSp>
    </p:spTree>
    <p:extLst>
      <p:ext uri="{BB962C8B-B14F-4D97-AF65-F5344CB8AC3E}">
        <p14:creationId xmlns:p14="http://schemas.microsoft.com/office/powerpoint/2010/main" val="2811481386"/>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C49A48C6-402B-4648-B201-CBA371111691}"/>
              </a:ext>
            </a:extLst>
          </p:cNvPr>
          <p:cNvGrpSpPr/>
          <p:nvPr/>
        </p:nvGrpSpPr>
        <p:grpSpPr>
          <a:xfrm>
            <a:off x="51764" y="2263550"/>
            <a:ext cx="12038120" cy="495587"/>
            <a:chOff x="0" y="2140394"/>
            <a:chExt cx="12854128" cy="4544491"/>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5" name="Espace réservé du texte 15">
              <a:extLst>
                <a:ext uri="{FF2B5EF4-FFF2-40B4-BE49-F238E27FC236}">
                  <a16:creationId xmlns:a16="http://schemas.microsoft.com/office/drawing/2014/main" id="{23E86B51-FA39-4CBD-AD4C-8049BC1B2F2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6" name="Espace réservé du texte 15">
              <a:extLst>
                <a:ext uri="{FF2B5EF4-FFF2-40B4-BE49-F238E27FC236}">
                  <a16:creationId xmlns:a16="http://schemas.microsoft.com/office/drawing/2014/main" id="{DCEA1CF7-5098-45F5-9E5A-1A665AE76AA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7" name="Espace réservé du texte 15">
              <a:extLst>
                <a:ext uri="{FF2B5EF4-FFF2-40B4-BE49-F238E27FC236}">
                  <a16:creationId xmlns:a16="http://schemas.microsoft.com/office/drawing/2014/main" id="{5F1F4080-42EC-4FC1-83FE-4D07E5D89749}"/>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8" name="Espace réservé du texte 15">
              <a:extLst>
                <a:ext uri="{FF2B5EF4-FFF2-40B4-BE49-F238E27FC236}">
                  <a16:creationId xmlns:a16="http://schemas.microsoft.com/office/drawing/2014/main" id="{E57CB1DC-1737-4DED-8CD1-015F73A9E762}"/>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9" name="Espace réservé du texte 15">
              <a:extLst>
                <a:ext uri="{FF2B5EF4-FFF2-40B4-BE49-F238E27FC236}">
                  <a16:creationId xmlns:a16="http://schemas.microsoft.com/office/drawing/2014/main" id="{29FC12E0-DC63-458D-84A8-5F7598EFD3A6}"/>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10" name="Espace réservé du texte 15">
              <a:extLst>
                <a:ext uri="{FF2B5EF4-FFF2-40B4-BE49-F238E27FC236}">
                  <a16:creationId xmlns:a16="http://schemas.microsoft.com/office/drawing/2014/main" id="{930D1EF3-800C-4412-94CD-8A6C1D2C9DCE}"/>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1032" y="1260372"/>
            <a:ext cx="914400" cy="914400"/>
          </a:xfrm>
          <a:prstGeom prst="rect">
            <a:avLst/>
          </a:prstGeom>
        </p:spPr>
      </p:pic>
      <p:pic>
        <p:nvPicPr>
          <p:cNvPr id="15" name="Graphique 14" descr="Seau et pelle avec un remplissage uni">
            <a:extLst>
              <a:ext uri="{FF2B5EF4-FFF2-40B4-BE49-F238E27FC236}">
                <a16:creationId xmlns:a16="http://schemas.microsoft.com/office/drawing/2014/main" id="{46829467-21FA-4B4E-BE9A-EAB8FA3E7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38679" y="1260372"/>
            <a:ext cx="914400" cy="914400"/>
          </a:xfrm>
          <a:prstGeom prst="rect">
            <a:avLst/>
          </a:prstGeom>
        </p:spPr>
      </p:pic>
      <p:pic>
        <p:nvPicPr>
          <p:cNvPr id="17" name="Graphique 16" descr="Tubes à essai avec un remplissage uni">
            <a:extLst>
              <a:ext uri="{FF2B5EF4-FFF2-40B4-BE49-F238E27FC236}">
                <a16:creationId xmlns:a16="http://schemas.microsoft.com/office/drawing/2014/main" id="{1F9FDC87-CE72-456E-B0B7-5FDFF30853D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73367" y="1260372"/>
            <a:ext cx="914400" cy="914400"/>
          </a:xfrm>
          <a:prstGeom prst="rect">
            <a:avLst/>
          </a:prstGeom>
        </p:spPr>
      </p:pic>
      <p:pic>
        <p:nvPicPr>
          <p:cNvPr id="19" name="Graphique 18" descr="Explosion avec un remplissage uni">
            <a:extLst>
              <a:ext uri="{FF2B5EF4-FFF2-40B4-BE49-F238E27FC236}">
                <a16:creationId xmlns:a16="http://schemas.microsoft.com/office/drawing/2014/main" id="{07D3CFFC-A08F-48DF-92E1-298FC228961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13624" y="1260372"/>
            <a:ext cx="914400" cy="914400"/>
          </a:xfrm>
          <a:prstGeom prst="rect">
            <a:avLst/>
          </a:prstGeom>
        </p:spPr>
      </p:pic>
      <p:pic>
        <p:nvPicPr>
          <p:cNvPr id="21" name="Graphique 20" descr="Trophée avec un remplissage uni">
            <a:extLst>
              <a:ext uri="{FF2B5EF4-FFF2-40B4-BE49-F238E27FC236}">
                <a16:creationId xmlns:a16="http://schemas.microsoft.com/office/drawing/2014/main" id="{6AB28851-209C-4763-9114-2EBE084DA8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53881" y="1260372"/>
            <a:ext cx="914400" cy="914400"/>
          </a:xfrm>
          <a:prstGeom prst="rect">
            <a:avLst/>
          </a:prstGeom>
        </p:spPr>
      </p:pic>
      <p:pic>
        <p:nvPicPr>
          <p:cNvPr id="23" name="Graphique 22" descr="Assiette couverte avec un remplissage uni">
            <a:extLst>
              <a:ext uri="{FF2B5EF4-FFF2-40B4-BE49-F238E27FC236}">
                <a16:creationId xmlns:a16="http://schemas.microsoft.com/office/drawing/2014/main" id="{8DA0FBC4-2DE3-44A1-8FCC-F02BB199D64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88569" y="1260372"/>
            <a:ext cx="914400" cy="914400"/>
          </a:xfrm>
          <a:prstGeom prst="rect">
            <a:avLst/>
          </a:prstGeom>
        </p:spPr>
      </p:pic>
      <p:pic>
        <p:nvPicPr>
          <p:cNvPr id="25" name="Graphique 24" descr="Scène de château avec un remplissage uni">
            <a:extLst>
              <a:ext uri="{FF2B5EF4-FFF2-40B4-BE49-F238E27FC236}">
                <a16:creationId xmlns:a16="http://schemas.microsoft.com/office/drawing/2014/main" id="{42BAF03C-9B45-4E5C-B521-13100631396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823257" y="1260372"/>
            <a:ext cx="914400" cy="914400"/>
          </a:xfrm>
          <a:prstGeom prst="rect">
            <a:avLst/>
          </a:prstGeom>
        </p:spPr>
      </p:pic>
      <p:pic>
        <p:nvPicPr>
          <p:cNvPr id="37" name="Image 36">
            <a:extLst>
              <a:ext uri="{FF2B5EF4-FFF2-40B4-BE49-F238E27FC236}">
                <a16:creationId xmlns:a16="http://schemas.microsoft.com/office/drawing/2014/main" id="{D6CD7271-24C1-4241-A872-1D93E1E371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663501" y="6458944"/>
            <a:ext cx="413656" cy="399056"/>
          </a:xfrm>
          <a:prstGeom prst="rect">
            <a:avLst/>
          </a:prstGeom>
        </p:spPr>
      </p:pic>
      <p:pic>
        <p:nvPicPr>
          <p:cNvPr id="18" name="Graphique 17" descr="Un astronaute avec un remplissage uni">
            <a:extLst>
              <a:ext uri="{FF2B5EF4-FFF2-40B4-BE49-F238E27FC236}">
                <a16:creationId xmlns:a16="http://schemas.microsoft.com/office/drawing/2014/main" id="{D7D09AE2-4623-442D-9C76-E24C4BAF040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01032" y="2759137"/>
            <a:ext cx="914400" cy="914400"/>
          </a:xfrm>
          <a:prstGeom prst="rect">
            <a:avLst/>
          </a:prstGeom>
        </p:spPr>
      </p:pic>
      <p:pic>
        <p:nvPicPr>
          <p:cNvPr id="39" name="Graphique 38" descr="Homme pilote avec un remplissage uni">
            <a:extLst>
              <a:ext uri="{FF2B5EF4-FFF2-40B4-BE49-F238E27FC236}">
                <a16:creationId xmlns:a16="http://schemas.microsoft.com/office/drawing/2014/main" id="{564CC2AE-7031-4D1B-B63E-497C6834771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776958" y="2786746"/>
            <a:ext cx="914400" cy="914400"/>
          </a:xfrm>
          <a:prstGeom prst="rect">
            <a:avLst/>
          </a:prstGeom>
        </p:spPr>
      </p:pic>
      <p:pic>
        <p:nvPicPr>
          <p:cNvPr id="41" name="Graphique 40" descr="Homme électricien avec un remplissage uni">
            <a:extLst>
              <a:ext uri="{FF2B5EF4-FFF2-40B4-BE49-F238E27FC236}">
                <a16:creationId xmlns:a16="http://schemas.microsoft.com/office/drawing/2014/main" id="{8029D830-EE71-47F7-B7E4-4437CE7C8FB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38800" y="2759137"/>
            <a:ext cx="914400" cy="914400"/>
          </a:xfrm>
          <a:prstGeom prst="rect">
            <a:avLst/>
          </a:prstGeom>
        </p:spPr>
      </p:pic>
      <p:pic>
        <p:nvPicPr>
          <p:cNvPr id="43" name="Graphique 42" descr="Homme scientifique avec un remplissage uni">
            <a:extLst>
              <a:ext uri="{FF2B5EF4-FFF2-40B4-BE49-F238E27FC236}">
                <a16:creationId xmlns:a16="http://schemas.microsoft.com/office/drawing/2014/main" id="{B103AD06-F3B3-479A-B9CC-2D8351026350}"/>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3873367" y="2759137"/>
            <a:ext cx="914400" cy="914400"/>
          </a:xfrm>
          <a:prstGeom prst="rect">
            <a:avLst/>
          </a:prstGeom>
        </p:spPr>
      </p:pic>
      <p:pic>
        <p:nvPicPr>
          <p:cNvPr id="45" name="Graphique 44" descr="Employé de bureau avec un remplissage uni">
            <a:extLst>
              <a:ext uri="{FF2B5EF4-FFF2-40B4-BE49-F238E27FC236}">
                <a16:creationId xmlns:a16="http://schemas.microsoft.com/office/drawing/2014/main" id="{71D8C067-B26D-4E2B-B904-90C4439DEB99}"/>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9121153" y="2759137"/>
            <a:ext cx="914400" cy="914400"/>
          </a:xfrm>
          <a:prstGeom prst="rect">
            <a:avLst/>
          </a:prstGeom>
        </p:spPr>
      </p:pic>
      <p:pic>
        <p:nvPicPr>
          <p:cNvPr id="47" name="Graphique 46" descr="Homme détective avec un remplissage uni">
            <a:extLst>
              <a:ext uri="{FF2B5EF4-FFF2-40B4-BE49-F238E27FC236}">
                <a16:creationId xmlns:a16="http://schemas.microsoft.com/office/drawing/2014/main" id="{DE3ED0B9-CB83-4D44-99D9-75553F0B72D4}"/>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2107934" y="2759137"/>
            <a:ext cx="914400" cy="914400"/>
          </a:xfrm>
          <a:prstGeom prst="rect">
            <a:avLst/>
          </a:prstGeom>
        </p:spPr>
      </p:pic>
      <p:sp>
        <p:nvSpPr>
          <p:cNvPr id="49" name="ZoneTexte 48">
            <a:extLst>
              <a:ext uri="{FF2B5EF4-FFF2-40B4-BE49-F238E27FC236}">
                <a16:creationId xmlns:a16="http://schemas.microsoft.com/office/drawing/2014/main" id="{87544D84-B04B-445B-8E20-2D2FC9D4C3F0}"/>
              </a:ext>
            </a:extLst>
          </p:cNvPr>
          <p:cNvSpPr txBox="1"/>
          <p:nvPr/>
        </p:nvSpPr>
        <p:spPr>
          <a:xfrm>
            <a:off x="188626" y="3630004"/>
            <a:ext cx="1232673" cy="2970044"/>
          </a:xfrm>
          <a:prstGeom prst="rect">
            <a:avLst/>
          </a:prstGeom>
          <a:noFill/>
        </p:spPr>
        <p:txBody>
          <a:bodyPr wrap="square">
            <a:spAutoFit/>
          </a:bodyPr>
          <a:lstStyle/>
          <a:p>
            <a:pPr marL="0" indent="0" algn="ctr">
              <a:buFont typeface="Arial" panose="020B0604020202020204" pitchFamily="34" charset="0"/>
              <a:buNone/>
            </a:pPr>
            <a:r>
              <a:rPr lang="fr-FR" sz="1100" b="1" i="1"/>
              <a:t>AMBASSADEURS VISIONNAIRES </a:t>
            </a:r>
          </a:p>
          <a:p>
            <a:pPr marL="0" indent="0" algn="ctr">
              <a:buFont typeface="Arial" panose="020B0604020202020204" pitchFamily="34" charset="0"/>
              <a:buNone/>
            </a:pPr>
            <a:r>
              <a:rPr lang="fr-FR" sz="1100" b="1" i="1"/>
              <a:t>&amp; « PRÊCHEURS»</a:t>
            </a:r>
          </a:p>
          <a:p>
            <a:pPr marL="0" indent="0" algn="ctr">
              <a:buFont typeface="Arial" panose="020B0604020202020204" pitchFamily="34" charset="0"/>
              <a:buNone/>
            </a:pPr>
            <a:endParaRPr lang="fr-FR" sz="1100" b="1" i="1"/>
          </a:p>
          <a:p>
            <a:pPr algn="ctr"/>
            <a:r>
              <a:rPr lang="fr-FR" sz="1100"/>
              <a:t>Les ambassadeurs invitent à découvrir, être curieux. </a:t>
            </a:r>
            <a:r>
              <a:rPr lang="fr-FR" sz="1100" err="1"/>
              <a:t>lls</a:t>
            </a:r>
            <a:r>
              <a:rPr lang="fr-FR" sz="1100"/>
              <a:t> partagent des exemples simples, parlants et inspirants.</a:t>
            </a:r>
          </a:p>
          <a:p>
            <a:pPr algn="ctr"/>
            <a:r>
              <a:rPr lang="fr-FR" sz="1100"/>
              <a:t>Ils ne font aucune pression sur l‘engagement et privilégient l‘ouverture  </a:t>
            </a:r>
          </a:p>
        </p:txBody>
      </p:sp>
      <p:sp>
        <p:nvSpPr>
          <p:cNvPr id="50" name="ZoneTexte 49">
            <a:extLst>
              <a:ext uri="{FF2B5EF4-FFF2-40B4-BE49-F238E27FC236}">
                <a16:creationId xmlns:a16="http://schemas.microsoft.com/office/drawing/2014/main" id="{8E2D85FB-0FD6-4FDB-A123-25ACBED79373}"/>
              </a:ext>
            </a:extLst>
          </p:cNvPr>
          <p:cNvSpPr txBox="1"/>
          <p:nvPr/>
        </p:nvSpPr>
        <p:spPr>
          <a:xfrm>
            <a:off x="1916092" y="3634555"/>
            <a:ext cx="1232673" cy="2970044"/>
          </a:xfrm>
          <a:prstGeom prst="rect">
            <a:avLst/>
          </a:prstGeom>
          <a:noFill/>
        </p:spPr>
        <p:txBody>
          <a:bodyPr wrap="square">
            <a:spAutoFit/>
          </a:bodyPr>
          <a:lstStyle/>
          <a:p>
            <a:pPr marL="0" indent="0" algn="ctr">
              <a:buFont typeface="Arial" panose="020B0604020202020204" pitchFamily="34" charset="0"/>
              <a:buNone/>
            </a:pPr>
            <a:r>
              <a:rPr lang="fr-FR" sz="1100" b="1" i="1"/>
              <a:t>AMBASSADEURS DÉTECTIVES</a:t>
            </a:r>
          </a:p>
          <a:p>
            <a:pPr marL="0" indent="0" algn="ctr">
              <a:buFont typeface="Arial" panose="020B0604020202020204" pitchFamily="34" charset="0"/>
              <a:buNone/>
            </a:pPr>
            <a:endParaRPr lang="fr-FR" sz="1100" b="1" i="1"/>
          </a:p>
          <a:p>
            <a:pPr marL="0" indent="0" algn="ctr">
              <a:buFont typeface="Arial" panose="020B0604020202020204" pitchFamily="34" charset="0"/>
              <a:buNone/>
            </a:pPr>
            <a:endParaRPr lang="fr-FR" sz="1100" b="1" i="1"/>
          </a:p>
          <a:p>
            <a:pPr algn="ctr"/>
            <a:r>
              <a:rPr lang="fr-FR" sz="1100"/>
              <a:t>Les ambassadeurs se renseignent sur les opportunités et imaginent les possibilités pour les saisir.</a:t>
            </a:r>
          </a:p>
          <a:p>
            <a:pPr algn="ctr"/>
            <a:endParaRPr lang="fr-FR" sz="1100"/>
          </a:p>
          <a:p>
            <a:pPr algn="ctr"/>
            <a:r>
              <a:rPr lang="fr-FR" sz="1100"/>
              <a:t>Ils ne vendent plus le rêve, mais se concentrent sur le présenter comme réalisable localement.</a:t>
            </a:r>
          </a:p>
        </p:txBody>
      </p:sp>
      <p:sp>
        <p:nvSpPr>
          <p:cNvPr id="51" name="ZoneTexte 50">
            <a:extLst>
              <a:ext uri="{FF2B5EF4-FFF2-40B4-BE49-F238E27FC236}">
                <a16:creationId xmlns:a16="http://schemas.microsoft.com/office/drawing/2014/main" id="{B2A4D6F8-D919-4193-A708-786B7AF3B59C}"/>
              </a:ext>
            </a:extLst>
          </p:cNvPr>
          <p:cNvSpPr txBox="1"/>
          <p:nvPr/>
        </p:nvSpPr>
        <p:spPr>
          <a:xfrm>
            <a:off x="3708969" y="3670447"/>
            <a:ext cx="1232673" cy="2970044"/>
          </a:xfrm>
          <a:prstGeom prst="rect">
            <a:avLst/>
          </a:prstGeom>
          <a:noFill/>
        </p:spPr>
        <p:txBody>
          <a:bodyPr wrap="square">
            <a:spAutoFit/>
          </a:bodyPr>
          <a:lstStyle/>
          <a:p>
            <a:pPr marL="0" indent="0" algn="ctr">
              <a:buFont typeface="Arial" panose="020B0604020202020204" pitchFamily="34" charset="0"/>
              <a:buNone/>
            </a:pPr>
            <a:r>
              <a:rPr lang="fr-FR" sz="1100" b="1" i="1"/>
              <a:t>AMBASSADEURS PROFESSEURS, VULGARISATEURS</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sont capables de transmettre les bases à des débutants, sans les embrouiller avec la complexité des niveaux avancés. </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assurent la sécurité de cet apprentissage.</a:t>
            </a:r>
          </a:p>
        </p:txBody>
      </p:sp>
      <p:sp>
        <p:nvSpPr>
          <p:cNvPr id="52" name="ZoneTexte 51">
            <a:extLst>
              <a:ext uri="{FF2B5EF4-FFF2-40B4-BE49-F238E27FC236}">
                <a16:creationId xmlns:a16="http://schemas.microsoft.com/office/drawing/2014/main" id="{40134128-C108-40DC-99E1-D37DD8463FD4}"/>
              </a:ext>
            </a:extLst>
          </p:cNvPr>
          <p:cNvSpPr txBox="1"/>
          <p:nvPr/>
        </p:nvSpPr>
        <p:spPr>
          <a:xfrm>
            <a:off x="5454487" y="3670447"/>
            <a:ext cx="1232673" cy="3139321"/>
          </a:xfrm>
          <a:prstGeom prst="rect">
            <a:avLst/>
          </a:prstGeom>
          <a:noFill/>
        </p:spPr>
        <p:txBody>
          <a:bodyPr wrap="square">
            <a:spAutoFit/>
          </a:bodyPr>
          <a:lstStyle/>
          <a:p>
            <a:pPr marL="0" indent="0" algn="ctr">
              <a:buFont typeface="Arial" panose="020B0604020202020204" pitchFamily="34" charset="0"/>
              <a:buNone/>
            </a:pPr>
            <a:r>
              <a:rPr lang="fr-FR" sz="1100" b="1" i="1"/>
              <a:t>AMBASSADEURS SUPPORT </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sont capables d’aider sur des problèmes complexes liés au sujet et de transmettre des compétences avancées.</a:t>
            </a:r>
          </a:p>
          <a:p>
            <a:pPr marL="0" indent="0" algn="ctr">
              <a:buFont typeface="Arial" panose="020B0604020202020204" pitchFamily="34" charset="0"/>
              <a:buNone/>
            </a:pPr>
            <a:r>
              <a:rPr lang="fr-FR" sz="1100"/>
              <a:t>Ils fournissent du soutien moral, logistique, technique, pédagogique aux membres.</a:t>
            </a:r>
            <a:endParaRPr lang="fr-FR" sz="1100" b="1" i="1"/>
          </a:p>
        </p:txBody>
      </p:sp>
      <p:sp>
        <p:nvSpPr>
          <p:cNvPr id="53" name="ZoneTexte 52">
            <a:extLst>
              <a:ext uri="{FF2B5EF4-FFF2-40B4-BE49-F238E27FC236}">
                <a16:creationId xmlns:a16="http://schemas.microsoft.com/office/drawing/2014/main" id="{51DFBDD7-4316-4C5F-B574-2355030A2914}"/>
              </a:ext>
            </a:extLst>
          </p:cNvPr>
          <p:cNvSpPr txBox="1"/>
          <p:nvPr/>
        </p:nvSpPr>
        <p:spPr>
          <a:xfrm>
            <a:off x="8891386" y="3634555"/>
            <a:ext cx="1373933" cy="2970044"/>
          </a:xfrm>
          <a:prstGeom prst="rect">
            <a:avLst/>
          </a:prstGeom>
          <a:noFill/>
        </p:spPr>
        <p:txBody>
          <a:bodyPr wrap="square">
            <a:spAutoFit/>
          </a:bodyPr>
          <a:lstStyle/>
          <a:p>
            <a:pPr marL="0" indent="0" algn="ctr">
              <a:buFont typeface="Arial" panose="020B0604020202020204" pitchFamily="34" charset="0"/>
              <a:buNone/>
            </a:pPr>
            <a:r>
              <a:rPr lang="fr-FR" sz="1100" b="1" i="1"/>
              <a:t>AMBASSADEURS « COMMERCIAUX »</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peuvent détecter dans d’autres contextes (que le contexte initial de la communauté) des opportunités de porter le changement.</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savent « vendre » ce changement à des décideurs externes.</a:t>
            </a:r>
          </a:p>
        </p:txBody>
      </p:sp>
      <p:sp>
        <p:nvSpPr>
          <p:cNvPr id="54" name="ZoneTexte 53">
            <a:extLst>
              <a:ext uri="{FF2B5EF4-FFF2-40B4-BE49-F238E27FC236}">
                <a16:creationId xmlns:a16="http://schemas.microsoft.com/office/drawing/2014/main" id="{CD69821A-35E8-4092-9847-0146B6A69700}"/>
              </a:ext>
            </a:extLst>
          </p:cNvPr>
          <p:cNvSpPr txBox="1"/>
          <p:nvPr/>
        </p:nvSpPr>
        <p:spPr>
          <a:xfrm>
            <a:off x="7116970" y="3641580"/>
            <a:ext cx="1373933" cy="3139321"/>
          </a:xfrm>
          <a:prstGeom prst="rect">
            <a:avLst/>
          </a:prstGeom>
          <a:noFill/>
        </p:spPr>
        <p:txBody>
          <a:bodyPr wrap="square">
            <a:spAutoFit/>
          </a:bodyPr>
          <a:lstStyle/>
          <a:p>
            <a:pPr marL="0" indent="0" algn="ctr">
              <a:buFont typeface="Arial" panose="020B0604020202020204" pitchFamily="34" charset="0"/>
              <a:buNone/>
            </a:pPr>
            <a:r>
              <a:rPr lang="fr-FR" sz="1100" b="1" i="1"/>
              <a:t>AMBASSADEURS </a:t>
            </a:r>
          </a:p>
          <a:p>
            <a:pPr marL="0" indent="0" algn="ctr">
              <a:buFont typeface="Arial" panose="020B0604020202020204" pitchFamily="34" charset="0"/>
              <a:buNone/>
            </a:pPr>
            <a:r>
              <a:rPr lang="fr-FR" sz="1100" b="1" i="1"/>
              <a:t>AUDITEURS</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sont capables de diagnostiquer des situations passées et d’identifier ce qu’il faut capitaliser pour la suite. </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savent identifier les points communs entre différents contextes pour mettre en commun des efforts ou ressources.</a:t>
            </a:r>
          </a:p>
        </p:txBody>
      </p:sp>
      <p:pic>
        <p:nvPicPr>
          <p:cNvPr id="56" name="Graphique 55" descr="Programmeur avec un remplissage uni">
            <a:extLst>
              <a:ext uri="{FF2B5EF4-FFF2-40B4-BE49-F238E27FC236}">
                <a16:creationId xmlns:a16="http://schemas.microsoft.com/office/drawing/2014/main" id="{DA3DEA15-4C44-407A-B0CE-C5BDB16CAF8B}"/>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7376447" y="2741289"/>
            <a:ext cx="914400" cy="914400"/>
          </a:xfrm>
          <a:prstGeom prst="rect">
            <a:avLst/>
          </a:prstGeom>
        </p:spPr>
      </p:pic>
      <p:sp>
        <p:nvSpPr>
          <p:cNvPr id="57" name="ZoneTexte 56">
            <a:extLst>
              <a:ext uri="{FF2B5EF4-FFF2-40B4-BE49-F238E27FC236}">
                <a16:creationId xmlns:a16="http://schemas.microsoft.com/office/drawing/2014/main" id="{CBAE39F2-9031-4238-B589-CF2EFF38FAA0}"/>
              </a:ext>
            </a:extLst>
          </p:cNvPr>
          <p:cNvSpPr txBox="1"/>
          <p:nvPr/>
        </p:nvSpPr>
        <p:spPr>
          <a:xfrm>
            <a:off x="10593490" y="3642044"/>
            <a:ext cx="1373933" cy="2800767"/>
          </a:xfrm>
          <a:prstGeom prst="rect">
            <a:avLst/>
          </a:prstGeom>
          <a:noFill/>
        </p:spPr>
        <p:txBody>
          <a:bodyPr wrap="square">
            <a:spAutoFit/>
          </a:bodyPr>
          <a:lstStyle/>
          <a:p>
            <a:pPr marL="0" indent="0" algn="ctr">
              <a:buFont typeface="Arial" panose="020B0604020202020204" pitchFamily="34" charset="0"/>
              <a:buNone/>
            </a:pPr>
            <a:r>
              <a:rPr lang="fr-FR" sz="1100" b="1" i="1"/>
              <a:t>AMBASSADEURS DIPLOMATES</a:t>
            </a:r>
          </a:p>
          <a:p>
            <a:pPr marL="0" indent="0" algn="ctr">
              <a:buFont typeface="Arial" panose="020B0604020202020204" pitchFamily="34" charset="0"/>
              <a:buNone/>
            </a:pPr>
            <a:endParaRPr lang="fr-FR" sz="1100" b="1" i="1"/>
          </a:p>
          <a:p>
            <a:pPr marL="0" indent="0" algn="ctr">
              <a:buFont typeface="Arial" panose="020B0604020202020204" pitchFamily="34" charset="0"/>
              <a:buNone/>
            </a:pPr>
            <a:r>
              <a:rPr lang="fr-FR" sz="1100"/>
              <a:t>Les ambassadeurs savent exprimer l’importance du changement sur le long terme. </a:t>
            </a:r>
          </a:p>
          <a:p>
            <a:pPr marL="0" indent="0" algn="ctr">
              <a:buFont typeface="Arial" panose="020B0604020202020204" pitchFamily="34" charset="0"/>
              <a:buNone/>
            </a:pPr>
            <a:endParaRPr lang="fr-FR" sz="1100"/>
          </a:p>
          <a:p>
            <a:pPr marL="0" indent="0" algn="ctr">
              <a:buFont typeface="Arial" panose="020B0604020202020204" pitchFamily="34" charset="0"/>
              <a:buNone/>
            </a:pPr>
            <a:r>
              <a:rPr lang="fr-FR" sz="1100"/>
              <a:t>Ils connaissent les subtilités administratives et décisionnelles qui permettent d’officialiser le changement.</a:t>
            </a:r>
          </a:p>
        </p:txBody>
      </p:sp>
      <p:sp>
        <p:nvSpPr>
          <p:cNvPr id="58" name="Espace réservé du texte 15">
            <a:extLst>
              <a:ext uri="{FF2B5EF4-FFF2-40B4-BE49-F238E27FC236}">
                <a16:creationId xmlns:a16="http://schemas.microsoft.com/office/drawing/2014/main" id="{EFF509E3-4E27-4F01-A2FC-3221630C0D7B}"/>
              </a:ext>
            </a:extLst>
          </p:cNvPr>
          <p:cNvSpPr txBox="1">
            <a:spLocks/>
          </p:cNvSpPr>
          <p:nvPr/>
        </p:nvSpPr>
        <p:spPr>
          <a:xfrm>
            <a:off x="0" y="0"/>
            <a:ext cx="12192000" cy="8782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#OSC </a:t>
            </a:r>
            <a:r>
              <a:rPr lang="fr-FR" sz="3200" b="1" i="1" dirty="0">
                <a:solidFill>
                  <a:srgbClr val="ED7D31"/>
                </a:solidFill>
              </a:rPr>
              <a:t>Change</a:t>
            </a:r>
            <a:r>
              <a:rPr lang="fr-FR" sz="3200" b="1" i="1" dirty="0"/>
              <a:t> </a:t>
            </a:r>
            <a:r>
              <a:rPr lang="fr-FR" sz="3200" b="1" i="1" dirty="0">
                <a:solidFill>
                  <a:srgbClr val="0683AA"/>
                </a:solidFill>
              </a:rPr>
              <a:t>Community</a:t>
            </a:r>
            <a:r>
              <a:rPr lang="fr-FR" sz="3200" b="1" i="1" dirty="0"/>
              <a:t> Cycle </a:t>
            </a:r>
            <a:r>
              <a:rPr lang="fr-FR" sz="3200" b="1" i="1" dirty="0">
                <a:solidFill>
                  <a:srgbClr val="0683AA"/>
                </a:solidFill>
              </a:rPr>
              <a:t>Model</a:t>
            </a:r>
          </a:p>
          <a:p>
            <a:pPr marL="0" indent="0" algn="ctr">
              <a:buNone/>
            </a:pPr>
            <a:r>
              <a:rPr lang="fr-FR" sz="2400" b="1" i="1" dirty="0"/>
              <a:t>Posture des ambassadeurs</a:t>
            </a:r>
          </a:p>
          <a:p>
            <a:pPr marL="0" indent="0" algn="ctr">
              <a:buFont typeface="Arial" panose="020B0604020202020204" pitchFamily="34" charset="0"/>
              <a:buNone/>
            </a:pPr>
            <a:endParaRPr lang="fr-FR" sz="3200" b="1" i="1" dirty="0">
              <a:solidFill>
                <a:srgbClr val="0683AA"/>
              </a:solidFill>
            </a:endParaRPr>
          </a:p>
        </p:txBody>
      </p:sp>
    </p:spTree>
    <p:extLst>
      <p:ext uri="{BB962C8B-B14F-4D97-AF65-F5344CB8AC3E}">
        <p14:creationId xmlns:p14="http://schemas.microsoft.com/office/powerpoint/2010/main" val="19409009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Vagues d’arrivées       de la Communauté</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11600" y="14431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42" name="Flèche : virage 41">
            <a:extLst>
              <a:ext uri="{FF2B5EF4-FFF2-40B4-BE49-F238E27FC236}">
                <a16:creationId xmlns:a16="http://schemas.microsoft.com/office/drawing/2014/main" id="{86B6682D-CCE8-4206-A2EB-B241405D5EA7}"/>
              </a:ext>
            </a:extLst>
          </p:cNvPr>
          <p:cNvSpPr/>
          <p:nvPr/>
        </p:nvSpPr>
        <p:spPr>
          <a:xfrm flipV="1">
            <a:off x="74938" y="3564342"/>
            <a:ext cx="795073" cy="972511"/>
          </a:xfrm>
          <a:prstGeom prst="bentArrow">
            <a:avLst>
              <a:gd name="adj1" fmla="val 22620"/>
              <a:gd name="adj2" fmla="val 25000"/>
              <a:gd name="adj3" fmla="val 25000"/>
              <a:gd name="adj4" fmla="val 43750"/>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2" name="Flèche : droite à entaille 71">
            <a:extLst>
              <a:ext uri="{FF2B5EF4-FFF2-40B4-BE49-F238E27FC236}">
                <a16:creationId xmlns:a16="http://schemas.microsoft.com/office/drawing/2014/main" id="{1364D039-B596-4F5D-9A31-6A204C5B2D6A}"/>
              </a:ext>
            </a:extLst>
          </p:cNvPr>
          <p:cNvSpPr/>
          <p:nvPr/>
        </p:nvSpPr>
        <p:spPr>
          <a:xfrm>
            <a:off x="74938"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Flèche : virage 73">
            <a:extLst>
              <a:ext uri="{FF2B5EF4-FFF2-40B4-BE49-F238E27FC236}">
                <a16:creationId xmlns:a16="http://schemas.microsoft.com/office/drawing/2014/main" id="{9FD6D2D6-7869-414C-818F-D08994FD4EFC}"/>
              </a:ext>
            </a:extLst>
          </p:cNvPr>
          <p:cNvSpPr/>
          <p:nvPr/>
        </p:nvSpPr>
        <p:spPr>
          <a:xfrm flipV="1">
            <a:off x="1812585" y="3564342"/>
            <a:ext cx="795073" cy="972511"/>
          </a:xfrm>
          <a:prstGeom prst="bentArrow">
            <a:avLst>
              <a:gd name="adj1" fmla="val 22620"/>
              <a:gd name="adj2" fmla="val 25000"/>
              <a:gd name="adj3" fmla="val 25000"/>
              <a:gd name="adj4" fmla="val 43750"/>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5" name="Flèche : droite à entaille 74">
            <a:extLst>
              <a:ext uri="{FF2B5EF4-FFF2-40B4-BE49-F238E27FC236}">
                <a16:creationId xmlns:a16="http://schemas.microsoft.com/office/drawing/2014/main" id="{5F0244BD-14E8-4FF2-A676-61B12E52C1B8}"/>
              </a:ext>
            </a:extLst>
          </p:cNvPr>
          <p:cNvSpPr/>
          <p:nvPr/>
        </p:nvSpPr>
        <p:spPr>
          <a:xfrm>
            <a:off x="1812585"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Flèche : virage 76">
            <a:extLst>
              <a:ext uri="{FF2B5EF4-FFF2-40B4-BE49-F238E27FC236}">
                <a16:creationId xmlns:a16="http://schemas.microsoft.com/office/drawing/2014/main" id="{7B23F456-6369-48AE-B9A1-101000AF3F98}"/>
              </a:ext>
            </a:extLst>
          </p:cNvPr>
          <p:cNvSpPr/>
          <p:nvPr/>
        </p:nvSpPr>
        <p:spPr>
          <a:xfrm flipV="1">
            <a:off x="3441398" y="3564342"/>
            <a:ext cx="795073" cy="972511"/>
          </a:xfrm>
          <a:prstGeom prst="bentArrow">
            <a:avLst>
              <a:gd name="adj1" fmla="val 22620"/>
              <a:gd name="adj2" fmla="val 25000"/>
              <a:gd name="adj3" fmla="val 25000"/>
              <a:gd name="adj4" fmla="val 43750"/>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8" name="Flèche : droite à entaille 77">
            <a:extLst>
              <a:ext uri="{FF2B5EF4-FFF2-40B4-BE49-F238E27FC236}">
                <a16:creationId xmlns:a16="http://schemas.microsoft.com/office/drawing/2014/main" id="{671F2A5E-5456-425A-B31E-BA6BC9DE94DB}"/>
              </a:ext>
            </a:extLst>
          </p:cNvPr>
          <p:cNvSpPr/>
          <p:nvPr/>
        </p:nvSpPr>
        <p:spPr>
          <a:xfrm>
            <a:off x="3441398"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Flèche : virage 79">
            <a:extLst>
              <a:ext uri="{FF2B5EF4-FFF2-40B4-BE49-F238E27FC236}">
                <a16:creationId xmlns:a16="http://schemas.microsoft.com/office/drawing/2014/main" id="{F8E02546-FB0C-4D14-814E-B5D03E50DC94}"/>
              </a:ext>
            </a:extLst>
          </p:cNvPr>
          <p:cNvSpPr/>
          <p:nvPr/>
        </p:nvSpPr>
        <p:spPr>
          <a:xfrm flipV="1">
            <a:off x="5077920" y="3564342"/>
            <a:ext cx="795073" cy="972511"/>
          </a:xfrm>
          <a:prstGeom prst="bentArrow">
            <a:avLst>
              <a:gd name="adj1" fmla="val 22620"/>
              <a:gd name="adj2" fmla="val 25000"/>
              <a:gd name="adj3" fmla="val 25000"/>
              <a:gd name="adj4" fmla="val 43750"/>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1" name="Flèche : droite à entaille 80">
            <a:extLst>
              <a:ext uri="{FF2B5EF4-FFF2-40B4-BE49-F238E27FC236}">
                <a16:creationId xmlns:a16="http://schemas.microsoft.com/office/drawing/2014/main" id="{6E3A59A0-E233-4ED2-ABA8-7B42CD104A40}"/>
              </a:ext>
            </a:extLst>
          </p:cNvPr>
          <p:cNvSpPr/>
          <p:nvPr/>
        </p:nvSpPr>
        <p:spPr>
          <a:xfrm>
            <a:off x="5077920"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Flèche : virage 82">
            <a:extLst>
              <a:ext uri="{FF2B5EF4-FFF2-40B4-BE49-F238E27FC236}">
                <a16:creationId xmlns:a16="http://schemas.microsoft.com/office/drawing/2014/main" id="{5EAE79D8-93E0-4F11-B890-E0FCD372FB34}"/>
              </a:ext>
            </a:extLst>
          </p:cNvPr>
          <p:cNvSpPr/>
          <p:nvPr/>
        </p:nvSpPr>
        <p:spPr>
          <a:xfrm flipV="1">
            <a:off x="6815567" y="3564342"/>
            <a:ext cx="795073" cy="972511"/>
          </a:xfrm>
          <a:prstGeom prst="bentArrow">
            <a:avLst>
              <a:gd name="adj1" fmla="val 22620"/>
              <a:gd name="adj2" fmla="val 25000"/>
              <a:gd name="adj3" fmla="val 25000"/>
              <a:gd name="adj4" fmla="val 43750"/>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4" name="Flèche : droite à entaille 83">
            <a:extLst>
              <a:ext uri="{FF2B5EF4-FFF2-40B4-BE49-F238E27FC236}">
                <a16:creationId xmlns:a16="http://schemas.microsoft.com/office/drawing/2014/main" id="{22459504-0665-4983-B487-53CEE04797BA}"/>
              </a:ext>
            </a:extLst>
          </p:cNvPr>
          <p:cNvSpPr/>
          <p:nvPr/>
        </p:nvSpPr>
        <p:spPr>
          <a:xfrm>
            <a:off x="6815567"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Flèche : virage 85">
            <a:extLst>
              <a:ext uri="{FF2B5EF4-FFF2-40B4-BE49-F238E27FC236}">
                <a16:creationId xmlns:a16="http://schemas.microsoft.com/office/drawing/2014/main" id="{D7341909-1925-40A5-9011-327160FCB89F}"/>
              </a:ext>
            </a:extLst>
          </p:cNvPr>
          <p:cNvSpPr/>
          <p:nvPr/>
        </p:nvSpPr>
        <p:spPr>
          <a:xfrm flipV="1">
            <a:off x="8444380" y="3564342"/>
            <a:ext cx="795073" cy="972511"/>
          </a:xfrm>
          <a:prstGeom prst="bentArrow">
            <a:avLst>
              <a:gd name="adj1" fmla="val 22620"/>
              <a:gd name="adj2" fmla="val 25000"/>
              <a:gd name="adj3" fmla="val 25000"/>
              <a:gd name="adj4" fmla="val 43750"/>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7" name="Flèche : droite à entaille 86">
            <a:extLst>
              <a:ext uri="{FF2B5EF4-FFF2-40B4-BE49-F238E27FC236}">
                <a16:creationId xmlns:a16="http://schemas.microsoft.com/office/drawing/2014/main" id="{79AE0AF8-AED0-4424-B30F-20A163BFE890}"/>
              </a:ext>
            </a:extLst>
          </p:cNvPr>
          <p:cNvSpPr/>
          <p:nvPr/>
        </p:nvSpPr>
        <p:spPr>
          <a:xfrm>
            <a:off x="8444380"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Flèche : virage 88">
            <a:extLst>
              <a:ext uri="{FF2B5EF4-FFF2-40B4-BE49-F238E27FC236}">
                <a16:creationId xmlns:a16="http://schemas.microsoft.com/office/drawing/2014/main" id="{EDB212CF-DA13-4D3A-AD45-11573EF70620}"/>
              </a:ext>
            </a:extLst>
          </p:cNvPr>
          <p:cNvSpPr/>
          <p:nvPr/>
        </p:nvSpPr>
        <p:spPr>
          <a:xfrm flipV="1">
            <a:off x="10078095" y="3564342"/>
            <a:ext cx="795073" cy="972511"/>
          </a:xfrm>
          <a:prstGeom prst="bentArrow">
            <a:avLst>
              <a:gd name="adj1" fmla="val 22620"/>
              <a:gd name="adj2" fmla="val 25000"/>
              <a:gd name="adj3" fmla="val 25000"/>
              <a:gd name="adj4" fmla="val 43750"/>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0" name="Flèche : droite à entaille 89">
            <a:extLst>
              <a:ext uri="{FF2B5EF4-FFF2-40B4-BE49-F238E27FC236}">
                <a16:creationId xmlns:a16="http://schemas.microsoft.com/office/drawing/2014/main" id="{17F012AB-022F-444B-AF9D-6C3F48093C83}"/>
              </a:ext>
            </a:extLst>
          </p:cNvPr>
          <p:cNvSpPr/>
          <p:nvPr/>
        </p:nvSpPr>
        <p:spPr>
          <a:xfrm>
            <a:off x="10078095"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Flèche : virage 90">
            <a:extLst>
              <a:ext uri="{FF2B5EF4-FFF2-40B4-BE49-F238E27FC236}">
                <a16:creationId xmlns:a16="http://schemas.microsoft.com/office/drawing/2014/main" id="{4522ACE9-032D-46D2-AE12-8A3B07A22021}"/>
              </a:ext>
            </a:extLst>
          </p:cNvPr>
          <p:cNvSpPr/>
          <p:nvPr/>
        </p:nvSpPr>
        <p:spPr>
          <a:xfrm flipV="1">
            <a:off x="5844043" y="621375"/>
            <a:ext cx="373233" cy="317157"/>
          </a:xfrm>
          <a:prstGeom prst="bentArrow">
            <a:avLst>
              <a:gd name="adj1" fmla="val 22620"/>
              <a:gd name="adj2" fmla="val 25000"/>
              <a:gd name="adj3" fmla="val 25000"/>
              <a:gd name="adj4" fmla="val 43750"/>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5" name="ZoneTexte 94">
            <a:extLst>
              <a:ext uri="{FF2B5EF4-FFF2-40B4-BE49-F238E27FC236}">
                <a16:creationId xmlns:a16="http://schemas.microsoft.com/office/drawing/2014/main" id="{0FB9BF1E-FA28-4BAC-ABF2-348B331A39B8}"/>
              </a:ext>
            </a:extLst>
          </p:cNvPr>
          <p:cNvSpPr txBox="1"/>
          <p:nvPr/>
        </p:nvSpPr>
        <p:spPr>
          <a:xfrm>
            <a:off x="11600" y="3052465"/>
            <a:ext cx="1263668" cy="430887"/>
          </a:xfrm>
          <a:prstGeom prst="rect">
            <a:avLst/>
          </a:prstGeom>
          <a:noFill/>
        </p:spPr>
        <p:txBody>
          <a:bodyPr wrap="square">
            <a:spAutoFit/>
          </a:bodyPr>
          <a:lstStyle/>
          <a:p>
            <a:pPr marL="0" indent="0">
              <a:buFont typeface="Arial" panose="020B0604020202020204" pitchFamily="34" charset="0"/>
              <a:buNone/>
            </a:pPr>
            <a:r>
              <a:rPr lang="fr-FR" sz="1100" b="1" i="1">
                <a:solidFill>
                  <a:srgbClr val="00B050"/>
                </a:solidFill>
              </a:rPr>
              <a:t>« LE SUJET NOUS INTERESSE»</a:t>
            </a:r>
          </a:p>
        </p:txBody>
      </p:sp>
      <p:sp>
        <p:nvSpPr>
          <p:cNvPr id="103" name="ZoneTexte 102">
            <a:extLst>
              <a:ext uri="{FF2B5EF4-FFF2-40B4-BE49-F238E27FC236}">
                <a16:creationId xmlns:a16="http://schemas.microsoft.com/office/drawing/2014/main" id="{AF0CF04B-EE71-4197-ACC8-B5AD7A68E2A8}"/>
              </a:ext>
            </a:extLst>
          </p:cNvPr>
          <p:cNvSpPr txBox="1"/>
          <p:nvPr/>
        </p:nvSpPr>
        <p:spPr>
          <a:xfrm>
            <a:off x="1793366" y="3052465"/>
            <a:ext cx="1384840" cy="430887"/>
          </a:xfrm>
          <a:prstGeom prst="rect">
            <a:avLst/>
          </a:prstGeom>
          <a:noFill/>
        </p:spPr>
        <p:txBody>
          <a:bodyPr wrap="square">
            <a:spAutoFit/>
          </a:bodyPr>
          <a:lstStyle/>
          <a:p>
            <a:pPr marL="0" indent="0">
              <a:buFont typeface="Arial" panose="020B0604020202020204" pitchFamily="34" charset="0"/>
              <a:buNone/>
            </a:pPr>
            <a:r>
              <a:rPr lang="fr-FR" sz="1100" b="1" i="1">
                <a:solidFill>
                  <a:srgbClr val="00B050"/>
                </a:solidFill>
              </a:rPr>
              <a:t>« LE SUJET NOUS CONCERNE AUSSI.»</a:t>
            </a:r>
          </a:p>
        </p:txBody>
      </p:sp>
      <p:sp>
        <p:nvSpPr>
          <p:cNvPr id="104" name="ZoneTexte 103">
            <a:extLst>
              <a:ext uri="{FF2B5EF4-FFF2-40B4-BE49-F238E27FC236}">
                <a16:creationId xmlns:a16="http://schemas.microsoft.com/office/drawing/2014/main" id="{E9EF3A0D-F900-4219-9FF6-2E9773908318}"/>
              </a:ext>
            </a:extLst>
          </p:cNvPr>
          <p:cNvSpPr txBox="1"/>
          <p:nvPr/>
        </p:nvSpPr>
        <p:spPr>
          <a:xfrm>
            <a:off x="3430339" y="3052465"/>
            <a:ext cx="1384839" cy="430887"/>
          </a:xfrm>
          <a:prstGeom prst="rect">
            <a:avLst/>
          </a:prstGeom>
          <a:noFill/>
        </p:spPr>
        <p:txBody>
          <a:bodyPr wrap="square">
            <a:spAutoFit/>
          </a:bodyPr>
          <a:lstStyle/>
          <a:p>
            <a:pPr marL="0" indent="0">
              <a:buFont typeface="Arial" panose="020B0604020202020204" pitchFamily="34" charset="0"/>
              <a:buNone/>
            </a:pPr>
            <a:r>
              <a:rPr lang="fr-FR" sz="1100" b="1" i="1">
                <a:solidFill>
                  <a:srgbClr val="00B050"/>
                </a:solidFill>
              </a:rPr>
              <a:t>« NOUS VOULONS APPRENDRE AUSSI»</a:t>
            </a:r>
          </a:p>
        </p:txBody>
      </p:sp>
      <p:sp>
        <p:nvSpPr>
          <p:cNvPr id="105" name="ZoneTexte 104">
            <a:extLst>
              <a:ext uri="{FF2B5EF4-FFF2-40B4-BE49-F238E27FC236}">
                <a16:creationId xmlns:a16="http://schemas.microsoft.com/office/drawing/2014/main" id="{3D66C12F-C1CE-4BC9-94C1-946DA3E7C112}"/>
              </a:ext>
            </a:extLst>
          </p:cNvPr>
          <p:cNvSpPr txBox="1"/>
          <p:nvPr/>
        </p:nvSpPr>
        <p:spPr>
          <a:xfrm>
            <a:off x="5067313" y="3052465"/>
            <a:ext cx="1612935" cy="600164"/>
          </a:xfrm>
          <a:prstGeom prst="rect">
            <a:avLst/>
          </a:prstGeom>
          <a:noFill/>
        </p:spPr>
        <p:txBody>
          <a:bodyPr wrap="square">
            <a:spAutoFit/>
          </a:bodyPr>
          <a:lstStyle/>
          <a:p>
            <a:pPr marL="0" indent="0">
              <a:buFont typeface="Arial" panose="020B0604020202020204" pitchFamily="34" charset="0"/>
              <a:buNone/>
            </a:pPr>
            <a:r>
              <a:rPr lang="fr-FR" sz="1100" b="1" i="1">
                <a:solidFill>
                  <a:srgbClr val="00B050"/>
                </a:solidFill>
              </a:rPr>
              <a:t>« NOUS TRAVERSONS LES MÊMES DIFFICULTÉS»</a:t>
            </a:r>
          </a:p>
        </p:txBody>
      </p:sp>
      <p:sp>
        <p:nvSpPr>
          <p:cNvPr id="106" name="ZoneTexte 105">
            <a:extLst>
              <a:ext uri="{FF2B5EF4-FFF2-40B4-BE49-F238E27FC236}">
                <a16:creationId xmlns:a16="http://schemas.microsoft.com/office/drawing/2014/main" id="{76A55678-2B05-4D7C-A510-CA592D86279E}"/>
              </a:ext>
            </a:extLst>
          </p:cNvPr>
          <p:cNvSpPr txBox="1"/>
          <p:nvPr/>
        </p:nvSpPr>
        <p:spPr>
          <a:xfrm>
            <a:off x="6833051" y="3052465"/>
            <a:ext cx="1448900" cy="430887"/>
          </a:xfrm>
          <a:prstGeom prst="rect">
            <a:avLst/>
          </a:prstGeom>
          <a:noFill/>
        </p:spPr>
        <p:txBody>
          <a:bodyPr wrap="square">
            <a:spAutoFit/>
          </a:bodyPr>
          <a:lstStyle/>
          <a:p>
            <a:pPr marL="0" indent="0">
              <a:buFont typeface="Arial" panose="020B0604020202020204" pitchFamily="34" charset="0"/>
              <a:buNone/>
            </a:pPr>
            <a:r>
              <a:rPr lang="fr-FR" sz="1100" b="1" i="1">
                <a:solidFill>
                  <a:srgbClr val="00B050"/>
                </a:solidFill>
              </a:rPr>
              <a:t>« NOUS AVONS RÉUSSI ÉGALEMENT»</a:t>
            </a:r>
          </a:p>
        </p:txBody>
      </p:sp>
      <p:sp>
        <p:nvSpPr>
          <p:cNvPr id="107" name="ZoneTexte 106">
            <a:extLst>
              <a:ext uri="{FF2B5EF4-FFF2-40B4-BE49-F238E27FC236}">
                <a16:creationId xmlns:a16="http://schemas.microsoft.com/office/drawing/2014/main" id="{B4E08BE1-5B9A-4656-AC01-9EE20A1C8958}"/>
              </a:ext>
            </a:extLst>
          </p:cNvPr>
          <p:cNvSpPr txBox="1"/>
          <p:nvPr/>
        </p:nvSpPr>
        <p:spPr>
          <a:xfrm>
            <a:off x="8447064" y="3052465"/>
            <a:ext cx="1446215" cy="769441"/>
          </a:xfrm>
          <a:prstGeom prst="rect">
            <a:avLst/>
          </a:prstGeom>
          <a:noFill/>
        </p:spPr>
        <p:txBody>
          <a:bodyPr wrap="square">
            <a:spAutoFit/>
          </a:bodyPr>
          <a:lstStyle/>
          <a:p>
            <a:pPr marL="0" indent="0">
              <a:buFont typeface="Arial" panose="020B0604020202020204" pitchFamily="34" charset="0"/>
              <a:buNone/>
            </a:pPr>
            <a:r>
              <a:rPr lang="fr-FR" sz="1100" b="1" i="1">
                <a:solidFill>
                  <a:srgbClr val="00B050"/>
                </a:solidFill>
              </a:rPr>
              <a:t>« NOUS SOUHAITONS INTERVENIR AUSSI A PLUS GRANDE ECHELLE»</a:t>
            </a:r>
          </a:p>
        </p:txBody>
      </p:sp>
      <p:sp>
        <p:nvSpPr>
          <p:cNvPr id="108" name="ZoneTexte 107">
            <a:extLst>
              <a:ext uri="{FF2B5EF4-FFF2-40B4-BE49-F238E27FC236}">
                <a16:creationId xmlns:a16="http://schemas.microsoft.com/office/drawing/2014/main" id="{80654AB2-9190-433D-9FDB-09AF3A9A32F9}"/>
              </a:ext>
            </a:extLst>
          </p:cNvPr>
          <p:cNvSpPr txBox="1"/>
          <p:nvPr/>
        </p:nvSpPr>
        <p:spPr>
          <a:xfrm>
            <a:off x="10061078" y="3052465"/>
            <a:ext cx="1446215" cy="430887"/>
          </a:xfrm>
          <a:prstGeom prst="rect">
            <a:avLst/>
          </a:prstGeom>
          <a:noFill/>
        </p:spPr>
        <p:txBody>
          <a:bodyPr wrap="square">
            <a:spAutoFit/>
          </a:bodyPr>
          <a:lstStyle/>
          <a:p>
            <a:pPr marL="0" indent="0">
              <a:buFont typeface="Arial" panose="020B0604020202020204" pitchFamily="34" charset="0"/>
              <a:buNone/>
            </a:pPr>
            <a:r>
              <a:rPr lang="fr-FR" sz="1100" b="1" i="1">
                <a:solidFill>
                  <a:srgbClr val="00B050"/>
                </a:solidFill>
              </a:rPr>
              <a:t>« NOUS DEVONS OFFICIALISER AUSSI»</a:t>
            </a:r>
          </a:p>
        </p:txBody>
      </p:sp>
    </p:spTree>
    <p:extLst>
      <p:ext uri="{BB962C8B-B14F-4D97-AF65-F5344CB8AC3E}">
        <p14:creationId xmlns:p14="http://schemas.microsoft.com/office/powerpoint/2010/main" val="2326322266"/>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Vagues de départ       de la Communauté</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11600" y="14431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5" name="Flèche : virage 4">
            <a:extLst>
              <a:ext uri="{FF2B5EF4-FFF2-40B4-BE49-F238E27FC236}">
                <a16:creationId xmlns:a16="http://schemas.microsoft.com/office/drawing/2014/main" id="{F6815B20-F4E0-4D4E-B564-812DF19B8CA5}"/>
              </a:ext>
            </a:extLst>
          </p:cNvPr>
          <p:cNvSpPr/>
          <p:nvPr/>
        </p:nvSpPr>
        <p:spPr>
          <a:xfrm rot="5400000">
            <a:off x="1037583" y="4977825"/>
            <a:ext cx="972510" cy="1005420"/>
          </a:xfrm>
          <a:prstGeom prst="bentArrow">
            <a:avLst>
              <a:gd name="adj1" fmla="val 22620"/>
              <a:gd name="adj2" fmla="val 25000"/>
              <a:gd name="adj3" fmla="val 25000"/>
              <a:gd name="adj4" fmla="val 4375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2" name="Flèche : droite à entaille 71">
            <a:extLst>
              <a:ext uri="{FF2B5EF4-FFF2-40B4-BE49-F238E27FC236}">
                <a16:creationId xmlns:a16="http://schemas.microsoft.com/office/drawing/2014/main" id="{1364D039-B596-4F5D-9A31-6A204C5B2D6A}"/>
              </a:ext>
            </a:extLst>
          </p:cNvPr>
          <p:cNvSpPr/>
          <p:nvPr/>
        </p:nvSpPr>
        <p:spPr>
          <a:xfrm>
            <a:off x="74938"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Flèche : virage 72">
            <a:extLst>
              <a:ext uri="{FF2B5EF4-FFF2-40B4-BE49-F238E27FC236}">
                <a16:creationId xmlns:a16="http://schemas.microsoft.com/office/drawing/2014/main" id="{B74318E1-D4FD-4A42-9A86-5F169FB9DCCA}"/>
              </a:ext>
            </a:extLst>
          </p:cNvPr>
          <p:cNvSpPr/>
          <p:nvPr/>
        </p:nvSpPr>
        <p:spPr>
          <a:xfrm rot="5400000">
            <a:off x="2775230" y="4977825"/>
            <a:ext cx="972510" cy="1005420"/>
          </a:xfrm>
          <a:prstGeom prst="bentArrow">
            <a:avLst>
              <a:gd name="adj1" fmla="val 22620"/>
              <a:gd name="adj2" fmla="val 25000"/>
              <a:gd name="adj3" fmla="val 25000"/>
              <a:gd name="adj4" fmla="val 4375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5" name="Flèche : droite à entaille 74">
            <a:extLst>
              <a:ext uri="{FF2B5EF4-FFF2-40B4-BE49-F238E27FC236}">
                <a16:creationId xmlns:a16="http://schemas.microsoft.com/office/drawing/2014/main" id="{5F0244BD-14E8-4FF2-A676-61B12E52C1B8}"/>
              </a:ext>
            </a:extLst>
          </p:cNvPr>
          <p:cNvSpPr/>
          <p:nvPr/>
        </p:nvSpPr>
        <p:spPr>
          <a:xfrm>
            <a:off x="1812585"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Flèche : virage 75">
            <a:extLst>
              <a:ext uri="{FF2B5EF4-FFF2-40B4-BE49-F238E27FC236}">
                <a16:creationId xmlns:a16="http://schemas.microsoft.com/office/drawing/2014/main" id="{4B735996-0ADB-4E7D-828C-92D1ED683C68}"/>
              </a:ext>
            </a:extLst>
          </p:cNvPr>
          <p:cNvSpPr/>
          <p:nvPr/>
        </p:nvSpPr>
        <p:spPr>
          <a:xfrm rot="5400000">
            <a:off x="4404043" y="4977825"/>
            <a:ext cx="972510" cy="1005420"/>
          </a:xfrm>
          <a:prstGeom prst="bentArrow">
            <a:avLst>
              <a:gd name="adj1" fmla="val 22620"/>
              <a:gd name="adj2" fmla="val 25000"/>
              <a:gd name="adj3" fmla="val 25000"/>
              <a:gd name="adj4" fmla="val 4375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8" name="Flèche : droite à entaille 77">
            <a:extLst>
              <a:ext uri="{FF2B5EF4-FFF2-40B4-BE49-F238E27FC236}">
                <a16:creationId xmlns:a16="http://schemas.microsoft.com/office/drawing/2014/main" id="{671F2A5E-5456-425A-B31E-BA6BC9DE94DB}"/>
              </a:ext>
            </a:extLst>
          </p:cNvPr>
          <p:cNvSpPr/>
          <p:nvPr/>
        </p:nvSpPr>
        <p:spPr>
          <a:xfrm>
            <a:off x="3441398"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Flèche : virage 78">
            <a:extLst>
              <a:ext uri="{FF2B5EF4-FFF2-40B4-BE49-F238E27FC236}">
                <a16:creationId xmlns:a16="http://schemas.microsoft.com/office/drawing/2014/main" id="{BF55D21F-637A-4E74-A7FE-DEF69694F3FD}"/>
              </a:ext>
            </a:extLst>
          </p:cNvPr>
          <p:cNvSpPr/>
          <p:nvPr/>
        </p:nvSpPr>
        <p:spPr>
          <a:xfrm rot="5400000">
            <a:off x="6040565" y="4977825"/>
            <a:ext cx="972510" cy="1005420"/>
          </a:xfrm>
          <a:prstGeom prst="bentArrow">
            <a:avLst>
              <a:gd name="adj1" fmla="val 22620"/>
              <a:gd name="adj2" fmla="val 25000"/>
              <a:gd name="adj3" fmla="val 25000"/>
              <a:gd name="adj4" fmla="val 4375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1" name="Flèche : droite à entaille 80">
            <a:extLst>
              <a:ext uri="{FF2B5EF4-FFF2-40B4-BE49-F238E27FC236}">
                <a16:creationId xmlns:a16="http://schemas.microsoft.com/office/drawing/2014/main" id="{6E3A59A0-E233-4ED2-ABA8-7B42CD104A40}"/>
              </a:ext>
            </a:extLst>
          </p:cNvPr>
          <p:cNvSpPr/>
          <p:nvPr/>
        </p:nvSpPr>
        <p:spPr>
          <a:xfrm>
            <a:off x="5077920"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Flèche : virage 81">
            <a:extLst>
              <a:ext uri="{FF2B5EF4-FFF2-40B4-BE49-F238E27FC236}">
                <a16:creationId xmlns:a16="http://schemas.microsoft.com/office/drawing/2014/main" id="{7CC3F8CA-C909-4692-8564-68A3B87D838E}"/>
              </a:ext>
            </a:extLst>
          </p:cNvPr>
          <p:cNvSpPr/>
          <p:nvPr/>
        </p:nvSpPr>
        <p:spPr>
          <a:xfrm rot="5400000">
            <a:off x="7778212" y="4977825"/>
            <a:ext cx="972510" cy="1005420"/>
          </a:xfrm>
          <a:prstGeom prst="bentArrow">
            <a:avLst>
              <a:gd name="adj1" fmla="val 22620"/>
              <a:gd name="adj2" fmla="val 25000"/>
              <a:gd name="adj3" fmla="val 25000"/>
              <a:gd name="adj4" fmla="val 4375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4" name="Flèche : droite à entaille 83">
            <a:extLst>
              <a:ext uri="{FF2B5EF4-FFF2-40B4-BE49-F238E27FC236}">
                <a16:creationId xmlns:a16="http://schemas.microsoft.com/office/drawing/2014/main" id="{22459504-0665-4983-B487-53CEE04797BA}"/>
              </a:ext>
            </a:extLst>
          </p:cNvPr>
          <p:cNvSpPr/>
          <p:nvPr/>
        </p:nvSpPr>
        <p:spPr>
          <a:xfrm>
            <a:off x="6815567"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Flèche : virage 84">
            <a:extLst>
              <a:ext uri="{FF2B5EF4-FFF2-40B4-BE49-F238E27FC236}">
                <a16:creationId xmlns:a16="http://schemas.microsoft.com/office/drawing/2014/main" id="{82E1B9B3-5412-4D27-BF02-7C53D22AF222}"/>
              </a:ext>
            </a:extLst>
          </p:cNvPr>
          <p:cNvSpPr/>
          <p:nvPr/>
        </p:nvSpPr>
        <p:spPr>
          <a:xfrm rot="5400000">
            <a:off x="9407025" y="4977825"/>
            <a:ext cx="972510" cy="1005420"/>
          </a:xfrm>
          <a:prstGeom prst="bentArrow">
            <a:avLst>
              <a:gd name="adj1" fmla="val 22620"/>
              <a:gd name="adj2" fmla="val 25000"/>
              <a:gd name="adj3" fmla="val 25000"/>
              <a:gd name="adj4" fmla="val 4375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7" name="Flèche : droite à entaille 86">
            <a:extLst>
              <a:ext uri="{FF2B5EF4-FFF2-40B4-BE49-F238E27FC236}">
                <a16:creationId xmlns:a16="http://schemas.microsoft.com/office/drawing/2014/main" id="{79AE0AF8-AED0-4424-B30F-20A163BFE890}"/>
              </a:ext>
            </a:extLst>
          </p:cNvPr>
          <p:cNvSpPr/>
          <p:nvPr/>
        </p:nvSpPr>
        <p:spPr>
          <a:xfrm>
            <a:off x="8444380"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Flèche : droite à entaille 89">
            <a:extLst>
              <a:ext uri="{FF2B5EF4-FFF2-40B4-BE49-F238E27FC236}">
                <a16:creationId xmlns:a16="http://schemas.microsoft.com/office/drawing/2014/main" id="{17F012AB-022F-444B-AF9D-6C3F48093C83}"/>
              </a:ext>
            </a:extLst>
          </p:cNvPr>
          <p:cNvSpPr/>
          <p:nvPr/>
        </p:nvSpPr>
        <p:spPr>
          <a:xfrm>
            <a:off x="10078095" y="4157209"/>
            <a:ext cx="1448900" cy="112708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Flèche : virage 91">
            <a:extLst>
              <a:ext uri="{FF2B5EF4-FFF2-40B4-BE49-F238E27FC236}">
                <a16:creationId xmlns:a16="http://schemas.microsoft.com/office/drawing/2014/main" id="{FD1CFADB-FD65-4897-9F63-60B00590D65C}"/>
              </a:ext>
            </a:extLst>
          </p:cNvPr>
          <p:cNvSpPr/>
          <p:nvPr/>
        </p:nvSpPr>
        <p:spPr>
          <a:xfrm rot="5400000">
            <a:off x="5865217" y="594554"/>
            <a:ext cx="317785" cy="392229"/>
          </a:xfrm>
          <a:prstGeom prst="bentArrow">
            <a:avLst>
              <a:gd name="adj1" fmla="val 22620"/>
              <a:gd name="adj2" fmla="val 25000"/>
              <a:gd name="adj3" fmla="val 25000"/>
              <a:gd name="adj4" fmla="val 43750"/>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6" name="ZoneTexte 95">
            <a:extLst>
              <a:ext uri="{FF2B5EF4-FFF2-40B4-BE49-F238E27FC236}">
                <a16:creationId xmlns:a16="http://schemas.microsoft.com/office/drawing/2014/main" id="{F07512C0-21EA-43C7-919D-C21BF3DE32EE}"/>
              </a:ext>
            </a:extLst>
          </p:cNvPr>
          <p:cNvSpPr txBox="1"/>
          <p:nvPr/>
        </p:nvSpPr>
        <p:spPr>
          <a:xfrm>
            <a:off x="1248487" y="5966563"/>
            <a:ext cx="1089758" cy="600164"/>
          </a:xfrm>
          <a:prstGeom prst="rect">
            <a:avLst/>
          </a:prstGeom>
          <a:noFill/>
        </p:spPr>
        <p:txBody>
          <a:bodyPr wrap="square">
            <a:spAutoFit/>
          </a:bodyPr>
          <a:lstStyle/>
          <a:p>
            <a:pPr marL="0" indent="0" algn="ctr">
              <a:buFont typeface="Arial" panose="020B0604020202020204" pitchFamily="34" charset="0"/>
              <a:buNone/>
            </a:pPr>
            <a:r>
              <a:rPr lang="fr-FR" sz="1100" b="1" i="1">
                <a:solidFill>
                  <a:srgbClr val="FF0000"/>
                </a:solidFill>
              </a:rPr>
              <a:t>« NOUS NE SOMMES PAS CONCERNÉS»</a:t>
            </a:r>
          </a:p>
        </p:txBody>
      </p:sp>
      <p:sp>
        <p:nvSpPr>
          <p:cNvPr id="97" name="ZoneTexte 96">
            <a:extLst>
              <a:ext uri="{FF2B5EF4-FFF2-40B4-BE49-F238E27FC236}">
                <a16:creationId xmlns:a16="http://schemas.microsoft.com/office/drawing/2014/main" id="{770B6D97-848A-48C1-BE83-E08E9F0AF3A6}"/>
              </a:ext>
            </a:extLst>
          </p:cNvPr>
          <p:cNvSpPr txBox="1"/>
          <p:nvPr/>
        </p:nvSpPr>
        <p:spPr>
          <a:xfrm>
            <a:off x="3012915" y="5966563"/>
            <a:ext cx="1089758" cy="938719"/>
          </a:xfrm>
          <a:prstGeom prst="rect">
            <a:avLst/>
          </a:prstGeom>
          <a:noFill/>
        </p:spPr>
        <p:txBody>
          <a:bodyPr wrap="square">
            <a:spAutoFit/>
          </a:bodyPr>
          <a:lstStyle/>
          <a:p>
            <a:pPr marL="0" indent="0" algn="ctr">
              <a:buFont typeface="Arial" panose="020B0604020202020204" pitchFamily="34" charset="0"/>
              <a:buNone/>
            </a:pPr>
            <a:r>
              <a:rPr lang="fr-FR" sz="1100" b="1" i="1">
                <a:solidFill>
                  <a:srgbClr val="FF0000"/>
                </a:solidFill>
              </a:rPr>
              <a:t>« NOUS N’AVONS PAS POSSIBILITÉ D’APPRENDRE MAINTENANT»</a:t>
            </a:r>
          </a:p>
        </p:txBody>
      </p:sp>
      <p:sp>
        <p:nvSpPr>
          <p:cNvPr id="98" name="ZoneTexte 97">
            <a:extLst>
              <a:ext uri="{FF2B5EF4-FFF2-40B4-BE49-F238E27FC236}">
                <a16:creationId xmlns:a16="http://schemas.microsoft.com/office/drawing/2014/main" id="{FED253DF-B24C-49F7-BDEC-CE89334E4213}"/>
              </a:ext>
            </a:extLst>
          </p:cNvPr>
          <p:cNvSpPr txBox="1"/>
          <p:nvPr/>
        </p:nvSpPr>
        <p:spPr>
          <a:xfrm>
            <a:off x="4632781" y="5966563"/>
            <a:ext cx="1089758" cy="600164"/>
          </a:xfrm>
          <a:prstGeom prst="rect">
            <a:avLst/>
          </a:prstGeom>
          <a:noFill/>
        </p:spPr>
        <p:txBody>
          <a:bodyPr wrap="square">
            <a:spAutoFit/>
          </a:bodyPr>
          <a:lstStyle/>
          <a:p>
            <a:pPr marL="0" indent="0" algn="ctr">
              <a:buFont typeface="Arial" panose="020B0604020202020204" pitchFamily="34" charset="0"/>
              <a:buNone/>
            </a:pPr>
            <a:r>
              <a:rPr lang="fr-FR" sz="1100" b="1" i="1">
                <a:solidFill>
                  <a:srgbClr val="FF0000"/>
                </a:solidFill>
              </a:rPr>
              <a:t>« LE SUJET N’EST PAS PRIORITAIRE»</a:t>
            </a:r>
          </a:p>
        </p:txBody>
      </p:sp>
      <p:sp>
        <p:nvSpPr>
          <p:cNvPr id="99" name="ZoneTexte 98">
            <a:extLst>
              <a:ext uri="{FF2B5EF4-FFF2-40B4-BE49-F238E27FC236}">
                <a16:creationId xmlns:a16="http://schemas.microsoft.com/office/drawing/2014/main" id="{20FF105E-7652-4C3B-838C-CE8EFDD445DD}"/>
              </a:ext>
            </a:extLst>
          </p:cNvPr>
          <p:cNvSpPr txBox="1"/>
          <p:nvPr/>
        </p:nvSpPr>
        <p:spPr>
          <a:xfrm>
            <a:off x="6288172" y="5966563"/>
            <a:ext cx="1089758" cy="769441"/>
          </a:xfrm>
          <a:prstGeom prst="rect">
            <a:avLst/>
          </a:prstGeom>
          <a:noFill/>
        </p:spPr>
        <p:txBody>
          <a:bodyPr wrap="square">
            <a:spAutoFit/>
          </a:bodyPr>
          <a:lstStyle/>
          <a:p>
            <a:pPr marL="0" indent="0" algn="ctr">
              <a:buFont typeface="Arial" panose="020B0604020202020204" pitchFamily="34" charset="0"/>
              <a:buNone/>
            </a:pPr>
            <a:r>
              <a:rPr lang="fr-FR" sz="1100" b="1" i="1">
                <a:solidFill>
                  <a:srgbClr val="FF0000"/>
                </a:solidFill>
              </a:rPr>
              <a:t>« NOUS N’AVONS PAS ENCORE REUSSI »</a:t>
            </a:r>
          </a:p>
        </p:txBody>
      </p:sp>
      <p:sp>
        <p:nvSpPr>
          <p:cNvPr id="100" name="ZoneTexte 99">
            <a:extLst>
              <a:ext uri="{FF2B5EF4-FFF2-40B4-BE49-F238E27FC236}">
                <a16:creationId xmlns:a16="http://schemas.microsoft.com/office/drawing/2014/main" id="{713F48EB-C643-4223-B187-1537693A79D4}"/>
              </a:ext>
            </a:extLst>
          </p:cNvPr>
          <p:cNvSpPr txBox="1"/>
          <p:nvPr/>
        </p:nvSpPr>
        <p:spPr>
          <a:xfrm>
            <a:off x="7989141" y="5966563"/>
            <a:ext cx="1089758" cy="769441"/>
          </a:xfrm>
          <a:prstGeom prst="rect">
            <a:avLst/>
          </a:prstGeom>
          <a:noFill/>
        </p:spPr>
        <p:txBody>
          <a:bodyPr wrap="square">
            <a:spAutoFit/>
          </a:bodyPr>
          <a:lstStyle/>
          <a:p>
            <a:pPr marL="0" indent="0" algn="ctr">
              <a:buFont typeface="Arial" panose="020B0604020202020204" pitchFamily="34" charset="0"/>
              <a:buNone/>
            </a:pPr>
            <a:r>
              <a:rPr lang="fr-FR" sz="1100" b="1" i="1">
                <a:solidFill>
                  <a:srgbClr val="FF0000"/>
                </a:solidFill>
              </a:rPr>
              <a:t>« NOUS NE SOUHAITONS PAS ALLER PLUS LOIN »</a:t>
            </a:r>
          </a:p>
        </p:txBody>
      </p:sp>
      <p:sp>
        <p:nvSpPr>
          <p:cNvPr id="101" name="ZoneTexte 100">
            <a:extLst>
              <a:ext uri="{FF2B5EF4-FFF2-40B4-BE49-F238E27FC236}">
                <a16:creationId xmlns:a16="http://schemas.microsoft.com/office/drawing/2014/main" id="{7C103AA7-1C6A-474E-9C45-369D2E7DF477}"/>
              </a:ext>
            </a:extLst>
          </p:cNvPr>
          <p:cNvSpPr txBox="1"/>
          <p:nvPr/>
        </p:nvSpPr>
        <p:spPr>
          <a:xfrm>
            <a:off x="9609006" y="5966563"/>
            <a:ext cx="1264161" cy="600164"/>
          </a:xfrm>
          <a:prstGeom prst="rect">
            <a:avLst/>
          </a:prstGeom>
          <a:noFill/>
        </p:spPr>
        <p:txBody>
          <a:bodyPr wrap="square">
            <a:spAutoFit/>
          </a:bodyPr>
          <a:lstStyle/>
          <a:p>
            <a:pPr marL="0" indent="0" algn="ctr">
              <a:buFont typeface="Arial" panose="020B0604020202020204" pitchFamily="34" charset="0"/>
              <a:buNone/>
            </a:pPr>
            <a:r>
              <a:rPr lang="fr-FR" sz="1100" b="1" i="1">
                <a:solidFill>
                  <a:srgbClr val="FF0000"/>
                </a:solidFill>
              </a:rPr>
              <a:t>« NOUS N’AVONS PAS BESOIN D’OFFICIALISER»</a:t>
            </a:r>
          </a:p>
        </p:txBody>
      </p:sp>
    </p:spTree>
    <p:extLst>
      <p:ext uri="{BB962C8B-B14F-4D97-AF65-F5344CB8AC3E}">
        <p14:creationId xmlns:p14="http://schemas.microsoft.com/office/powerpoint/2010/main" val="315904719"/>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Liens avec les phases d’apprentissage (Taxonomie de Bloom)</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76940" y="1702907"/>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6" name="Forme libre : forme 5">
            <a:extLst>
              <a:ext uri="{FF2B5EF4-FFF2-40B4-BE49-F238E27FC236}">
                <a16:creationId xmlns:a16="http://schemas.microsoft.com/office/drawing/2014/main" id="{8CC63866-B365-44E3-8748-06AE8134A84F}"/>
              </a:ext>
            </a:extLst>
          </p:cNvPr>
          <p:cNvSpPr/>
          <p:nvPr/>
        </p:nvSpPr>
        <p:spPr>
          <a:xfrm>
            <a:off x="8868464" y="3290449"/>
            <a:ext cx="3148860" cy="581053"/>
          </a:xfrm>
          <a:custGeom>
            <a:avLst/>
            <a:gdLst>
              <a:gd name="connsiteX0" fmla="*/ 0 w 698984"/>
              <a:gd name="connsiteY0" fmla="*/ 394220 h 394220"/>
              <a:gd name="connsiteX1" fmla="*/ 349492 w 698984"/>
              <a:gd name="connsiteY1" fmla="*/ 0 h 394220"/>
              <a:gd name="connsiteX2" fmla="*/ 349492 w 698984"/>
              <a:gd name="connsiteY2" fmla="*/ 0 h 394220"/>
              <a:gd name="connsiteX3" fmla="*/ 698984 w 698984"/>
              <a:gd name="connsiteY3" fmla="*/ 394220 h 394220"/>
              <a:gd name="connsiteX4" fmla="*/ 0 w 698984"/>
              <a:gd name="connsiteY4" fmla="*/ 394220 h 394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984" h="394220">
                <a:moveTo>
                  <a:pt x="0" y="394220"/>
                </a:moveTo>
                <a:lnTo>
                  <a:pt x="349492" y="0"/>
                </a:lnTo>
                <a:lnTo>
                  <a:pt x="349492" y="0"/>
                </a:lnTo>
                <a:lnTo>
                  <a:pt x="698984" y="394220"/>
                </a:lnTo>
                <a:lnTo>
                  <a:pt x="0" y="3942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17780" rIns="0" bIns="17780" numCol="1" spcCol="1270" anchor="ctr" anchorCtr="0">
            <a:noAutofit/>
          </a:bodyPr>
          <a:lstStyle/>
          <a:p>
            <a:pPr marL="0" lvl="0" indent="0" algn="ctr" defTabSz="622300">
              <a:lnSpc>
                <a:spcPct val="90000"/>
              </a:lnSpc>
              <a:spcBef>
                <a:spcPct val="0"/>
              </a:spcBef>
              <a:spcAft>
                <a:spcPct val="35000"/>
              </a:spcAft>
              <a:buNone/>
            </a:pPr>
            <a:r>
              <a:rPr lang="fr-FR" sz="1600" b="1" kern="1200">
                <a:solidFill>
                  <a:schemeClr val="tx1"/>
                </a:solidFill>
              </a:rPr>
              <a:t>Synthèse</a:t>
            </a:r>
          </a:p>
        </p:txBody>
      </p:sp>
      <p:sp>
        <p:nvSpPr>
          <p:cNvPr id="7" name="Forme libre : forme 6">
            <a:extLst>
              <a:ext uri="{FF2B5EF4-FFF2-40B4-BE49-F238E27FC236}">
                <a16:creationId xmlns:a16="http://schemas.microsoft.com/office/drawing/2014/main" id="{E8826ED3-EEB5-4DD4-9BED-07110D3F9ED4}"/>
              </a:ext>
            </a:extLst>
          </p:cNvPr>
          <p:cNvSpPr/>
          <p:nvPr/>
        </p:nvSpPr>
        <p:spPr>
          <a:xfrm>
            <a:off x="7588088" y="3871502"/>
            <a:ext cx="2104751" cy="581053"/>
          </a:xfrm>
          <a:custGeom>
            <a:avLst/>
            <a:gdLst>
              <a:gd name="connsiteX0" fmla="*/ 0 w 1397968"/>
              <a:gd name="connsiteY0" fmla="*/ 394220 h 394220"/>
              <a:gd name="connsiteX1" fmla="*/ 349492 w 1397968"/>
              <a:gd name="connsiteY1" fmla="*/ 0 h 394220"/>
              <a:gd name="connsiteX2" fmla="*/ 1048476 w 1397968"/>
              <a:gd name="connsiteY2" fmla="*/ 0 h 394220"/>
              <a:gd name="connsiteX3" fmla="*/ 1397968 w 1397968"/>
              <a:gd name="connsiteY3" fmla="*/ 394220 h 394220"/>
              <a:gd name="connsiteX4" fmla="*/ 0 w 1397968"/>
              <a:gd name="connsiteY4" fmla="*/ 394220 h 394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968" h="394220">
                <a:moveTo>
                  <a:pt x="0" y="394220"/>
                </a:moveTo>
                <a:lnTo>
                  <a:pt x="349492" y="0"/>
                </a:lnTo>
                <a:lnTo>
                  <a:pt x="1048476" y="0"/>
                </a:lnTo>
                <a:lnTo>
                  <a:pt x="1397968" y="394220"/>
                </a:lnTo>
                <a:lnTo>
                  <a:pt x="0" y="3942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17780" rIns="0" bIns="17780" numCol="1" spcCol="1270" anchor="ctr" anchorCtr="0">
            <a:noAutofit/>
          </a:bodyPr>
          <a:lstStyle/>
          <a:p>
            <a:pPr marL="0" lvl="0" indent="0" algn="ctr" defTabSz="622300">
              <a:lnSpc>
                <a:spcPct val="90000"/>
              </a:lnSpc>
              <a:spcBef>
                <a:spcPct val="0"/>
              </a:spcBef>
              <a:spcAft>
                <a:spcPct val="35000"/>
              </a:spcAft>
              <a:buNone/>
            </a:pPr>
            <a:r>
              <a:rPr lang="fr-FR" sz="1600" b="1" kern="1200">
                <a:solidFill>
                  <a:schemeClr val="tx1"/>
                </a:solidFill>
              </a:rPr>
              <a:t>Evaluation</a:t>
            </a:r>
          </a:p>
        </p:txBody>
      </p:sp>
      <p:sp>
        <p:nvSpPr>
          <p:cNvPr id="8" name="Forme libre : forme 7">
            <a:extLst>
              <a:ext uri="{FF2B5EF4-FFF2-40B4-BE49-F238E27FC236}">
                <a16:creationId xmlns:a16="http://schemas.microsoft.com/office/drawing/2014/main" id="{5B7D1E51-7652-4F61-B43B-8000340133D1}"/>
              </a:ext>
            </a:extLst>
          </p:cNvPr>
          <p:cNvSpPr/>
          <p:nvPr/>
        </p:nvSpPr>
        <p:spPr>
          <a:xfrm>
            <a:off x="5935671" y="4472862"/>
            <a:ext cx="3157129" cy="581053"/>
          </a:xfrm>
          <a:custGeom>
            <a:avLst/>
            <a:gdLst>
              <a:gd name="connsiteX0" fmla="*/ 0 w 2096953"/>
              <a:gd name="connsiteY0" fmla="*/ 394220 h 394220"/>
              <a:gd name="connsiteX1" fmla="*/ 349492 w 2096953"/>
              <a:gd name="connsiteY1" fmla="*/ 0 h 394220"/>
              <a:gd name="connsiteX2" fmla="*/ 1747461 w 2096953"/>
              <a:gd name="connsiteY2" fmla="*/ 0 h 394220"/>
              <a:gd name="connsiteX3" fmla="*/ 2096953 w 2096953"/>
              <a:gd name="connsiteY3" fmla="*/ 394220 h 394220"/>
              <a:gd name="connsiteX4" fmla="*/ 0 w 2096953"/>
              <a:gd name="connsiteY4" fmla="*/ 394220 h 394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953" h="394220">
                <a:moveTo>
                  <a:pt x="0" y="394220"/>
                </a:moveTo>
                <a:lnTo>
                  <a:pt x="349492" y="0"/>
                </a:lnTo>
                <a:lnTo>
                  <a:pt x="1747461" y="0"/>
                </a:lnTo>
                <a:lnTo>
                  <a:pt x="2096953" y="394220"/>
                </a:lnTo>
                <a:lnTo>
                  <a:pt x="0" y="3942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17780" rIns="0" bIns="17780" numCol="1" spcCol="1270" anchor="ctr" anchorCtr="0">
            <a:noAutofit/>
          </a:bodyPr>
          <a:lstStyle/>
          <a:p>
            <a:pPr marL="0" lvl="0" indent="0" algn="ctr" defTabSz="622300">
              <a:lnSpc>
                <a:spcPct val="90000"/>
              </a:lnSpc>
              <a:spcBef>
                <a:spcPct val="0"/>
              </a:spcBef>
              <a:spcAft>
                <a:spcPct val="35000"/>
              </a:spcAft>
              <a:buNone/>
            </a:pPr>
            <a:r>
              <a:rPr lang="fr-FR" sz="1600" b="1" kern="1200">
                <a:solidFill>
                  <a:schemeClr val="tx1"/>
                </a:solidFill>
              </a:rPr>
              <a:t>Analyse</a:t>
            </a:r>
          </a:p>
        </p:txBody>
      </p:sp>
      <p:sp>
        <p:nvSpPr>
          <p:cNvPr id="9" name="Forme libre : forme 8">
            <a:extLst>
              <a:ext uri="{FF2B5EF4-FFF2-40B4-BE49-F238E27FC236}">
                <a16:creationId xmlns:a16="http://schemas.microsoft.com/office/drawing/2014/main" id="{30A9412B-EEBA-4EDD-80F0-55998E67420F}"/>
              </a:ext>
            </a:extLst>
          </p:cNvPr>
          <p:cNvSpPr/>
          <p:nvPr/>
        </p:nvSpPr>
        <p:spPr>
          <a:xfrm>
            <a:off x="4019383" y="5074222"/>
            <a:ext cx="4209504" cy="581053"/>
          </a:xfrm>
          <a:custGeom>
            <a:avLst/>
            <a:gdLst>
              <a:gd name="connsiteX0" fmla="*/ 0 w 2795937"/>
              <a:gd name="connsiteY0" fmla="*/ 394220 h 394220"/>
              <a:gd name="connsiteX1" fmla="*/ 349492 w 2795937"/>
              <a:gd name="connsiteY1" fmla="*/ 0 h 394220"/>
              <a:gd name="connsiteX2" fmla="*/ 2446445 w 2795937"/>
              <a:gd name="connsiteY2" fmla="*/ 0 h 394220"/>
              <a:gd name="connsiteX3" fmla="*/ 2795937 w 2795937"/>
              <a:gd name="connsiteY3" fmla="*/ 394220 h 394220"/>
              <a:gd name="connsiteX4" fmla="*/ 0 w 2795937"/>
              <a:gd name="connsiteY4" fmla="*/ 394220 h 394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5937" h="394220">
                <a:moveTo>
                  <a:pt x="0" y="394220"/>
                </a:moveTo>
                <a:lnTo>
                  <a:pt x="349492" y="0"/>
                </a:lnTo>
                <a:lnTo>
                  <a:pt x="2446445" y="0"/>
                </a:lnTo>
                <a:lnTo>
                  <a:pt x="2795937" y="394220"/>
                </a:lnTo>
                <a:lnTo>
                  <a:pt x="0" y="3942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17780" rIns="0" bIns="17780" numCol="1" spcCol="1270" anchor="ctr" anchorCtr="0">
            <a:noAutofit/>
          </a:bodyPr>
          <a:lstStyle/>
          <a:p>
            <a:pPr marL="0" lvl="0" indent="0" algn="ctr" defTabSz="622300">
              <a:lnSpc>
                <a:spcPct val="90000"/>
              </a:lnSpc>
              <a:spcBef>
                <a:spcPct val="0"/>
              </a:spcBef>
              <a:spcAft>
                <a:spcPct val="35000"/>
              </a:spcAft>
              <a:buNone/>
            </a:pPr>
            <a:r>
              <a:rPr lang="fr-FR" sz="1600" b="1" kern="1200">
                <a:solidFill>
                  <a:schemeClr val="tx1"/>
                </a:solidFill>
              </a:rPr>
              <a:t>Application</a:t>
            </a:r>
          </a:p>
        </p:txBody>
      </p:sp>
      <p:sp>
        <p:nvSpPr>
          <p:cNvPr id="10" name="Forme libre : forme 9">
            <a:extLst>
              <a:ext uri="{FF2B5EF4-FFF2-40B4-BE49-F238E27FC236}">
                <a16:creationId xmlns:a16="http://schemas.microsoft.com/office/drawing/2014/main" id="{2271D9BD-8C98-44A3-963A-E1E59D13FDB5}"/>
              </a:ext>
            </a:extLst>
          </p:cNvPr>
          <p:cNvSpPr/>
          <p:nvPr/>
        </p:nvSpPr>
        <p:spPr>
          <a:xfrm>
            <a:off x="1993268" y="5675582"/>
            <a:ext cx="5261880" cy="581053"/>
          </a:xfrm>
          <a:custGeom>
            <a:avLst/>
            <a:gdLst>
              <a:gd name="connsiteX0" fmla="*/ 0 w 3494921"/>
              <a:gd name="connsiteY0" fmla="*/ 394220 h 394220"/>
              <a:gd name="connsiteX1" fmla="*/ 349492 w 3494921"/>
              <a:gd name="connsiteY1" fmla="*/ 0 h 394220"/>
              <a:gd name="connsiteX2" fmla="*/ 3145429 w 3494921"/>
              <a:gd name="connsiteY2" fmla="*/ 0 h 394220"/>
              <a:gd name="connsiteX3" fmla="*/ 3494921 w 3494921"/>
              <a:gd name="connsiteY3" fmla="*/ 394220 h 394220"/>
              <a:gd name="connsiteX4" fmla="*/ 0 w 3494921"/>
              <a:gd name="connsiteY4" fmla="*/ 394220 h 394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4921" h="394220">
                <a:moveTo>
                  <a:pt x="0" y="394220"/>
                </a:moveTo>
                <a:lnTo>
                  <a:pt x="349492" y="0"/>
                </a:lnTo>
                <a:lnTo>
                  <a:pt x="3145429" y="0"/>
                </a:lnTo>
                <a:lnTo>
                  <a:pt x="3494921" y="394220"/>
                </a:lnTo>
                <a:lnTo>
                  <a:pt x="0" y="3942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17780" rIns="0" bIns="17780" numCol="1" spcCol="1270" anchor="ctr" anchorCtr="0">
            <a:noAutofit/>
          </a:bodyPr>
          <a:lstStyle/>
          <a:p>
            <a:pPr marL="0" lvl="0" indent="0" algn="ctr" defTabSz="622300">
              <a:lnSpc>
                <a:spcPct val="90000"/>
              </a:lnSpc>
              <a:spcBef>
                <a:spcPct val="0"/>
              </a:spcBef>
              <a:spcAft>
                <a:spcPct val="35000"/>
              </a:spcAft>
              <a:buNone/>
            </a:pPr>
            <a:r>
              <a:rPr lang="fr-FR" sz="1600" b="1" kern="1200">
                <a:solidFill>
                  <a:schemeClr val="tx1"/>
                </a:solidFill>
              </a:rPr>
              <a:t>Compréhension</a:t>
            </a:r>
          </a:p>
        </p:txBody>
      </p:sp>
      <p:sp>
        <p:nvSpPr>
          <p:cNvPr id="11" name="Forme libre : forme 10">
            <a:extLst>
              <a:ext uri="{FF2B5EF4-FFF2-40B4-BE49-F238E27FC236}">
                <a16:creationId xmlns:a16="http://schemas.microsoft.com/office/drawing/2014/main" id="{800CDA3D-7742-4E79-BB17-522CFE515E01}"/>
              </a:ext>
            </a:extLst>
          </p:cNvPr>
          <p:cNvSpPr/>
          <p:nvPr/>
        </p:nvSpPr>
        <p:spPr>
          <a:xfrm>
            <a:off x="76939" y="6276945"/>
            <a:ext cx="6314257" cy="581053"/>
          </a:xfrm>
          <a:custGeom>
            <a:avLst/>
            <a:gdLst>
              <a:gd name="connsiteX0" fmla="*/ 0 w 4193906"/>
              <a:gd name="connsiteY0" fmla="*/ 394220 h 394220"/>
              <a:gd name="connsiteX1" fmla="*/ 349492 w 4193906"/>
              <a:gd name="connsiteY1" fmla="*/ 0 h 394220"/>
              <a:gd name="connsiteX2" fmla="*/ 3844414 w 4193906"/>
              <a:gd name="connsiteY2" fmla="*/ 0 h 394220"/>
              <a:gd name="connsiteX3" fmla="*/ 4193906 w 4193906"/>
              <a:gd name="connsiteY3" fmla="*/ 394220 h 394220"/>
              <a:gd name="connsiteX4" fmla="*/ 0 w 4193906"/>
              <a:gd name="connsiteY4" fmla="*/ 394220 h 394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3906" h="394220">
                <a:moveTo>
                  <a:pt x="0" y="394220"/>
                </a:moveTo>
                <a:lnTo>
                  <a:pt x="349492" y="0"/>
                </a:lnTo>
                <a:lnTo>
                  <a:pt x="3844414" y="0"/>
                </a:lnTo>
                <a:lnTo>
                  <a:pt x="4193906" y="394220"/>
                </a:lnTo>
                <a:lnTo>
                  <a:pt x="0" y="3942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17780" rIns="0" bIns="17780" numCol="1" spcCol="1270" anchor="ctr" anchorCtr="0">
            <a:noAutofit/>
          </a:bodyPr>
          <a:lstStyle/>
          <a:p>
            <a:pPr marL="0" lvl="0" indent="0" algn="ctr" defTabSz="622300">
              <a:lnSpc>
                <a:spcPct val="90000"/>
              </a:lnSpc>
              <a:spcBef>
                <a:spcPct val="0"/>
              </a:spcBef>
              <a:spcAft>
                <a:spcPct val="35000"/>
              </a:spcAft>
              <a:buNone/>
            </a:pPr>
            <a:r>
              <a:rPr lang="fr-FR" sz="1600" b="1" kern="1200">
                <a:solidFill>
                  <a:schemeClr val="tx1"/>
                </a:solidFill>
              </a:rPr>
              <a:t>Connaissance</a:t>
            </a:r>
          </a:p>
        </p:txBody>
      </p:sp>
    </p:spTree>
    <p:extLst>
      <p:ext uri="{BB962C8B-B14F-4D97-AF65-F5344CB8AC3E}">
        <p14:creationId xmlns:p14="http://schemas.microsoft.com/office/powerpoint/2010/main" val="1513537340"/>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C49A48C6-402B-4648-B201-CBA371111691}"/>
              </a:ext>
            </a:extLst>
          </p:cNvPr>
          <p:cNvGrpSpPr/>
          <p:nvPr/>
        </p:nvGrpSpPr>
        <p:grpSpPr>
          <a:xfrm>
            <a:off x="76940" y="2480410"/>
            <a:ext cx="12038120" cy="495587"/>
            <a:chOff x="0" y="2140394"/>
            <a:chExt cx="12854128" cy="4544491"/>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5" name="Espace réservé du texte 15">
              <a:extLst>
                <a:ext uri="{FF2B5EF4-FFF2-40B4-BE49-F238E27FC236}">
                  <a16:creationId xmlns:a16="http://schemas.microsoft.com/office/drawing/2014/main" id="{23E86B51-FA39-4CBD-AD4C-8049BC1B2F2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6" name="Espace réservé du texte 15">
              <a:extLst>
                <a:ext uri="{FF2B5EF4-FFF2-40B4-BE49-F238E27FC236}">
                  <a16:creationId xmlns:a16="http://schemas.microsoft.com/office/drawing/2014/main" id="{DCEA1CF7-5098-45F5-9E5A-1A665AE76AA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7" name="Espace réservé du texte 15">
              <a:extLst>
                <a:ext uri="{FF2B5EF4-FFF2-40B4-BE49-F238E27FC236}">
                  <a16:creationId xmlns:a16="http://schemas.microsoft.com/office/drawing/2014/main" id="{5F1F4080-42EC-4FC1-83FE-4D07E5D89749}"/>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8" name="Espace réservé du texte 15">
              <a:extLst>
                <a:ext uri="{FF2B5EF4-FFF2-40B4-BE49-F238E27FC236}">
                  <a16:creationId xmlns:a16="http://schemas.microsoft.com/office/drawing/2014/main" id="{E57CB1DC-1737-4DED-8CD1-015F73A9E762}"/>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9" name="Espace réservé du texte 15">
              <a:extLst>
                <a:ext uri="{FF2B5EF4-FFF2-40B4-BE49-F238E27FC236}">
                  <a16:creationId xmlns:a16="http://schemas.microsoft.com/office/drawing/2014/main" id="{29FC12E0-DC63-458D-84A8-5F7598EFD3A6}"/>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10" name="Espace réservé du texte 15">
              <a:extLst>
                <a:ext uri="{FF2B5EF4-FFF2-40B4-BE49-F238E27FC236}">
                  <a16:creationId xmlns:a16="http://schemas.microsoft.com/office/drawing/2014/main" id="{930D1EF3-800C-4412-94CD-8A6C1D2C9DCE}"/>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1477232"/>
            <a:ext cx="914400" cy="914400"/>
          </a:xfrm>
          <a:prstGeom prst="rect">
            <a:avLst/>
          </a:prstGeom>
        </p:spPr>
      </p:pic>
      <p:pic>
        <p:nvPicPr>
          <p:cNvPr id="15" name="Graphique 14" descr="Seau et pelle avec un remplissage uni">
            <a:extLst>
              <a:ext uri="{FF2B5EF4-FFF2-40B4-BE49-F238E27FC236}">
                <a16:creationId xmlns:a16="http://schemas.microsoft.com/office/drawing/2014/main" id="{46829467-21FA-4B4E-BE9A-EAB8FA3E7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63855" y="1477232"/>
            <a:ext cx="914400" cy="914400"/>
          </a:xfrm>
          <a:prstGeom prst="rect">
            <a:avLst/>
          </a:prstGeom>
        </p:spPr>
      </p:pic>
      <p:pic>
        <p:nvPicPr>
          <p:cNvPr id="17" name="Graphique 16" descr="Tubes à essai avec un remplissage uni">
            <a:extLst>
              <a:ext uri="{FF2B5EF4-FFF2-40B4-BE49-F238E27FC236}">
                <a16:creationId xmlns:a16="http://schemas.microsoft.com/office/drawing/2014/main" id="{1F9FDC87-CE72-456E-B0B7-5FDFF30853D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98543" y="1477232"/>
            <a:ext cx="914400" cy="914400"/>
          </a:xfrm>
          <a:prstGeom prst="rect">
            <a:avLst/>
          </a:prstGeom>
        </p:spPr>
      </p:pic>
      <p:pic>
        <p:nvPicPr>
          <p:cNvPr id="19" name="Graphique 18" descr="Explosion avec un remplissage uni">
            <a:extLst>
              <a:ext uri="{FF2B5EF4-FFF2-40B4-BE49-F238E27FC236}">
                <a16:creationId xmlns:a16="http://schemas.microsoft.com/office/drawing/2014/main" id="{07D3CFFC-A08F-48DF-92E1-298FC228961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477232"/>
            <a:ext cx="914400" cy="914400"/>
          </a:xfrm>
          <a:prstGeom prst="rect">
            <a:avLst/>
          </a:prstGeom>
        </p:spPr>
      </p:pic>
      <p:pic>
        <p:nvPicPr>
          <p:cNvPr id="21" name="Graphique 20" descr="Trophée avec un remplissage uni">
            <a:extLst>
              <a:ext uri="{FF2B5EF4-FFF2-40B4-BE49-F238E27FC236}">
                <a16:creationId xmlns:a16="http://schemas.microsoft.com/office/drawing/2014/main" id="{6AB28851-209C-4763-9114-2EBE084DA8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79057" y="1477232"/>
            <a:ext cx="914400" cy="914400"/>
          </a:xfrm>
          <a:prstGeom prst="rect">
            <a:avLst/>
          </a:prstGeom>
        </p:spPr>
      </p:pic>
      <p:pic>
        <p:nvPicPr>
          <p:cNvPr id="23" name="Graphique 22" descr="Assiette couverte avec un remplissage uni">
            <a:extLst>
              <a:ext uri="{FF2B5EF4-FFF2-40B4-BE49-F238E27FC236}">
                <a16:creationId xmlns:a16="http://schemas.microsoft.com/office/drawing/2014/main" id="{8DA0FBC4-2DE3-44A1-8FCC-F02BB199D64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13745" y="1477232"/>
            <a:ext cx="914400" cy="914400"/>
          </a:xfrm>
          <a:prstGeom prst="rect">
            <a:avLst/>
          </a:prstGeom>
        </p:spPr>
      </p:pic>
      <p:pic>
        <p:nvPicPr>
          <p:cNvPr id="25" name="Graphique 24" descr="Scène de château avec un remplissage uni">
            <a:extLst>
              <a:ext uri="{FF2B5EF4-FFF2-40B4-BE49-F238E27FC236}">
                <a16:creationId xmlns:a16="http://schemas.microsoft.com/office/drawing/2014/main" id="{42BAF03C-9B45-4E5C-B521-13100631396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848433" y="1477232"/>
            <a:ext cx="914400" cy="914400"/>
          </a:xfrm>
          <a:prstGeom prst="rect">
            <a:avLst/>
          </a:prstGeom>
        </p:spPr>
      </p:pic>
      <p:grpSp>
        <p:nvGrpSpPr>
          <p:cNvPr id="20" name="Groupe 19">
            <a:extLst>
              <a:ext uri="{FF2B5EF4-FFF2-40B4-BE49-F238E27FC236}">
                <a16:creationId xmlns:a16="http://schemas.microsoft.com/office/drawing/2014/main" id="{A914E336-A3C4-486A-A697-DC24DC5762A7}"/>
              </a:ext>
            </a:extLst>
          </p:cNvPr>
          <p:cNvGrpSpPr/>
          <p:nvPr/>
        </p:nvGrpSpPr>
        <p:grpSpPr>
          <a:xfrm>
            <a:off x="227860" y="3029944"/>
            <a:ext cx="11887200" cy="399056"/>
            <a:chOff x="0" y="2140394"/>
            <a:chExt cx="12854128" cy="4544491"/>
          </a:xfrm>
          <a:solidFill>
            <a:srgbClr val="ED7D31"/>
          </a:solidFill>
        </p:grpSpPr>
        <p:sp>
          <p:nvSpPr>
            <p:cNvPr id="22" name="Espace réservé du texte 15">
              <a:extLst>
                <a:ext uri="{FF2B5EF4-FFF2-40B4-BE49-F238E27FC236}">
                  <a16:creationId xmlns:a16="http://schemas.microsoft.com/office/drawing/2014/main" id="{A5D64196-86DF-4215-A8F0-03A9E88C26E8}"/>
                </a:ext>
              </a:extLst>
            </p:cNvPr>
            <p:cNvSpPr txBox="1">
              <a:spLocks/>
            </p:cNvSpPr>
            <p:nvPr/>
          </p:nvSpPr>
          <p:spPr>
            <a:xfrm>
              <a:off x="0"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ENVIE</a:t>
              </a:r>
            </a:p>
          </p:txBody>
        </p:sp>
        <p:sp>
          <p:nvSpPr>
            <p:cNvPr id="24" name="Espace réservé du texte 15">
              <a:extLst>
                <a:ext uri="{FF2B5EF4-FFF2-40B4-BE49-F238E27FC236}">
                  <a16:creationId xmlns:a16="http://schemas.microsoft.com/office/drawing/2014/main" id="{D1105A2F-1363-497A-8091-FE91192A674B}"/>
                </a:ext>
              </a:extLst>
            </p:cNvPr>
            <p:cNvSpPr txBox="1">
              <a:spLocks/>
            </p:cNvSpPr>
            <p:nvPr/>
          </p:nvSpPr>
          <p:spPr>
            <a:xfrm>
              <a:off x="1855434"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IMPLICATION</a:t>
              </a:r>
            </a:p>
          </p:txBody>
        </p:sp>
        <p:sp>
          <p:nvSpPr>
            <p:cNvPr id="26" name="Espace réservé du texte 15">
              <a:extLst>
                <a:ext uri="{FF2B5EF4-FFF2-40B4-BE49-F238E27FC236}">
                  <a16:creationId xmlns:a16="http://schemas.microsoft.com/office/drawing/2014/main" id="{A6B1BCC0-AE67-4956-9A0B-E7D2A8C1362C}"/>
                </a:ext>
              </a:extLst>
            </p:cNvPr>
            <p:cNvSpPr txBox="1">
              <a:spLocks/>
            </p:cNvSpPr>
            <p:nvPr/>
          </p:nvSpPr>
          <p:spPr>
            <a:xfrm>
              <a:off x="3689003" y="2140394"/>
              <a:ext cx="1744135" cy="4544491"/>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EXPÉRIMENTATIONS</a:t>
              </a:r>
            </a:p>
          </p:txBody>
        </p:sp>
        <p:sp>
          <p:nvSpPr>
            <p:cNvPr id="27" name="Espace réservé du texte 15">
              <a:extLst>
                <a:ext uri="{FF2B5EF4-FFF2-40B4-BE49-F238E27FC236}">
                  <a16:creationId xmlns:a16="http://schemas.microsoft.com/office/drawing/2014/main" id="{1F0BF35A-30EA-4B41-A4BB-88CBB8E1588E}"/>
                </a:ext>
              </a:extLst>
            </p:cNvPr>
            <p:cNvSpPr txBox="1">
              <a:spLocks/>
            </p:cNvSpPr>
            <p:nvPr/>
          </p:nvSpPr>
          <p:spPr>
            <a:xfrm>
              <a:off x="5566302" y="2140395"/>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MOYENS DE RESILIENCE</a:t>
              </a:r>
            </a:p>
          </p:txBody>
        </p:sp>
        <p:sp>
          <p:nvSpPr>
            <p:cNvPr id="28" name="Espace réservé du texte 15">
              <a:extLst>
                <a:ext uri="{FF2B5EF4-FFF2-40B4-BE49-F238E27FC236}">
                  <a16:creationId xmlns:a16="http://schemas.microsoft.com/office/drawing/2014/main" id="{B2AA03C5-0F19-4A23-A50B-66B67F633572}"/>
                </a:ext>
              </a:extLst>
            </p:cNvPr>
            <p:cNvSpPr txBox="1">
              <a:spLocks/>
            </p:cNvSpPr>
            <p:nvPr/>
          </p:nvSpPr>
          <p:spPr>
            <a:xfrm>
              <a:off x="7421736"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OPTIMISATION</a:t>
              </a:r>
            </a:p>
          </p:txBody>
        </p:sp>
        <p:sp>
          <p:nvSpPr>
            <p:cNvPr id="29" name="Espace réservé du texte 15">
              <a:extLst>
                <a:ext uri="{FF2B5EF4-FFF2-40B4-BE49-F238E27FC236}">
                  <a16:creationId xmlns:a16="http://schemas.microsoft.com/office/drawing/2014/main" id="{4D6E42A1-A3DA-4C82-865A-0C24592CC248}"/>
                </a:ext>
              </a:extLst>
            </p:cNvPr>
            <p:cNvSpPr txBox="1">
              <a:spLocks/>
            </p:cNvSpPr>
            <p:nvPr/>
          </p:nvSpPr>
          <p:spPr>
            <a:xfrm>
              <a:off x="9277170"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SERVICES VERS L’EXTÉRIEUR</a:t>
              </a:r>
            </a:p>
          </p:txBody>
        </p:sp>
        <p:sp>
          <p:nvSpPr>
            <p:cNvPr id="30" name="Espace réservé du texte 15">
              <a:extLst>
                <a:ext uri="{FF2B5EF4-FFF2-40B4-BE49-F238E27FC236}">
                  <a16:creationId xmlns:a16="http://schemas.microsoft.com/office/drawing/2014/main" id="{ACAC137F-E763-4360-8D6F-DA03B0162A45}"/>
                </a:ext>
              </a:extLst>
            </p:cNvPr>
            <p:cNvSpPr txBox="1">
              <a:spLocks/>
            </p:cNvSpPr>
            <p:nvPr/>
          </p:nvSpPr>
          <p:spPr>
            <a:xfrm>
              <a:off x="11131859"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OFFICIALISATION</a:t>
              </a:r>
            </a:p>
          </p:txBody>
        </p:sp>
      </p:grpSp>
      <p:pic>
        <p:nvPicPr>
          <p:cNvPr id="37" name="Image 36">
            <a:extLst>
              <a:ext uri="{FF2B5EF4-FFF2-40B4-BE49-F238E27FC236}">
                <a16:creationId xmlns:a16="http://schemas.microsoft.com/office/drawing/2014/main" id="{D6CD7271-24C1-4241-A872-1D93E1E371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199004" y="6075156"/>
            <a:ext cx="680405" cy="656390"/>
          </a:xfrm>
          <a:prstGeom prst="rect">
            <a:avLst/>
          </a:prstGeom>
        </p:spPr>
      </p:pic>
      <p:sp>
        <p:nvSpPr>
          <p:cNvPr id="58" name="Espace réservé du texte 15">
            <a:extLst>
              <a:ext uri="{FF2B5EF4-FFF2-40B4-BE49-F238E27FC236}">
                <a16:creationId xmlns:a16="http://schemas.microsoft.com/office/drawing/2014/main" id="{EFF509E3-4E27-4F01-A2FC-3221630C0D7B}"/>
              </a:ext>
            </a:extLst>
          </p:cNvPr>
          <p:cNvSpPr txBox="1">
            <a:spLocks/>
          </p:cNvSpPr>
          <p:nvPr/>
        </p:nvSpPr>
        <p:spPr>
          <a:xfrm>
            <a:off x="76940" y="47982"/>
            <a:ext cx="12038120" cy="11007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500" b="1" i="1" dirty="0"/>
              <a:t>Lien avec les rôles de la </a:t>
            </a:r>
            <a:r>
              <a:rPr lang="fr-FR" sz="3500" b="1" i="1" dirty="0">
                <a:solidFill>
                  <a:srgbClr val="0683AA"/>
                </a:solidFill>
              </a:rPr>
              <a:t>méthode</a:t>
            </a:r>
            <a:r>
              <a:rPr lang="fr-FR" sz="3500" b="1" i="1" dirty="0"/>
              <a:t> #OSC</a:t>
            </a:r>
            <a:endParaRPr lang="fr-FR" sz="3500" b="1" i="1" dirty="0">
              <a:solidFill>
                <a:srgbClr val="ED7D31"/>
              </a:solidFill>
            </a:endParaRPr>
          </a:p>
          <a:p>
            <a:pPr marL="0" indent="0" algn="ctr">
              <a:buFont typeface="Arial" panose="020B0604020202020204" pitchFamily="34" charset="0"/>
              <a:buNone/>
            </a:pPr>
            <a:r>
              <a:rPr lang="fr-FR" b="1" i="1" dirty="0"/>
              <a:t>Evolution des membres novices en capacité de transmission</a:t>
            </a:r>
          </a:p>
        </p:txBody>
      </p:sp>
      <p:sp>
        <p:nvSpPr>
          <p:cNvPr id="12" name="Forme en L 11">
            <a:extLst>
              <a:ext uri="{FF2B5EF4-FFF2-40B4-BE49-F238E27FC236}">
                <a16:creationId xmlns:a16="http://schemas.microsoft.com/office/drawing/2014/main" id="{EB5D01DE-3CF9-4CDD-8D1A-0E85658C2280}"/>
              </a:ext>
            </a:extLst>
          </p:cNvPr>
          <p:cNvSpPr/>
          <p:nvPr/>
        </p:nvSpPr>
        <p:spPr>
          <a:xfrm rot="5400000">
            <a:off x="1315661" y="5706087"/>
            <a:ext cx="800128" cy="1331395"/>
          </a:xfrm>
          <a:prstGeom prst="corner">
            <a:avLst>
              <a:gd name="adj1" fmla="val 16120"/>
              <a:gd name="adj2" fmla="val 16110"/>
            </a:avLst>
          </a:prstGeom>
          <a:solidFill>
            <a:schemeClr val="bg1">
              <a:lumMod val="85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4" name="Forme libre : forme 13">
            <a:extLst>
              <a:ext uri="{FF2B5EF4-FFF2-40B4-BE49-F238E27FC236}">
                <a16:creationId xmlns:a16="http://schemas.microsoft.com/office/drawing/2014/main" id="{FE098B23-D315-41DD-94C6-8382CE114BC6}"/>
              </a:ext>
            </a:extLst>
          </p:cNvPr>
          <p:cNvSpPr/>
          <p:nvPr/>
        </p:nvSpPr>
        <p:spPr>
          <a:xfrm>
            <a:off x="1182099" y="6103888"/>
            <a:ext cx="139308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1 CURIEUX(-SE) :</a:t>
            </a:r>
            <a:r>
              <a:rPr lang="fr-FR" sz="1100" kern="1200"/>
              <a:t> Je m’intéresse, j’ai envie de tester</a:t>
            </a:r>
          </a:p>
        </p:txBody>
      </p:sp>
      <p:sp>
        <p:nvSpPr>
          <p:cNvPr id="16" name="Triangle isocèle 15">
            <a:extLst>
              <a:ext uri="{FF2B5EF4-FFF2-40B4-BE49-F238E27FC236}">
                <a16:creationId xmlns:a16="http://schemas.microsoft.com/office/drawing/2014/main" id="{557E5951-FA8F-41FA-9582-79B2BD3584FF}"/>
              </a:ext>
            </a:extLst>
          </p:cNvPr>
          <p:cNvSpPr/>
          <p:nvPr/>
        </p:nvSpPr>
        <p:spPr>
          <a:xfrm>
            <a:off x="2157300" y="5608069"/>
            <a:ext cx="226790" cy="226790"/>
          </a:xfrm>
          <a:prstGeom prst="triangle">
            <a:avLst>
              <a:gd name="adj" fmla="val 100000"/>
            </a:avLst>
          </a:prstGeom>
          <a:solidFill>
            <a:schemeClr val="bg1">
              <a:lumMod val="85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38" name="Forme en L 37">
            <a:extLst>
              <a:ext uri="{FF2B5EF4-FFF2-40B4-BE49-F238E27FC236}">
                <a16:creationId xmlns:a16="http://schemas.microsoft.com/office/drawing/2014/main" id="{354CC6D4-4503-4953-B79A-053628C1A1C8}"/>
              </a:ext>
            </a:extLst>
          </p:cNvPr>
          <p:cNvSpPr/>
          <p:nvPr/>
        </p:nvSpPr>
        <p:spPr>
          <a:xfrm rot="5400000">
            <a:off x="3747181" y="5358602"/>
            <a:ext cx="800128" cy="1331395"/>
          </a:xfrm>
          <a:prstGeom prst="corner">
            <a:avLst>
              <a:gd name="adj1" fmla="val 16120"/>
              <a:gd name="adj2" fmla="val 16110"/>
            </a:avLst>
          </a:prstGeom>
          <a:solidFill>
            <a:schemeClr val="bg1">
              <a:lumMod val="85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40" name="Forme libre : forme 39">
            <a:extLst>
              <a:ext uri="{FF2B5EF4-FFF2-40B4-BE49-F238E27FC236}">
                <a16:creationId xmlns:a16="http://schemas.microsoft.com/office/drawing/2014/main" id="{30CBD964-B5A5-42E2-BE5A-82A9949190B9}"/>
              </a:ext>
            </a:extLst>
          </p:cNvPr>
          <p:cNvSpPr/>
          <p:nvPr/>
        </p:nvSpPr>
        <p:spPr>
          <a:xfrm>
            <a:off x="3613620" y="5756403"/>
            <a:ext cx="1261006"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2 JOUEUR(-SE) :</a:t>
            </a:r>
            <a:r>
              <a:rPr lang="fr-FR" sz="1100" kern="1200"/>
              <a:t> J’expérimente, je pratique</a:t>
            </a:r>
          </a:p>
        </p:txBody>
      </p:sp>
      <p:sp>
        <p:nvSpPr>
          <p:cNvPr id="42" name="Triangle isocèle 41">
            <a:extLst>
              <a:ext uri="{FF2B5EF4-FFF2-40B4-BE49-F238E27FC236}">
                <a16:creationId xmlns:a16="http://schemas.microsoft.com/office/drawing/2014/main" id="{0E5742CD-6191-41F2-9E78-F545328A25BB}"/>
              </a:ext>
            </a:extLst>
          </p:cNvPr>
          <p:cNvSpPr/>
          <p:nvPr/>
        </p:nvSpPr>
        <p:spPr>
          <a:xfrm>
            <a:off x="4588820" y="5260584"/>
            <a:ext cx="226790" cy="226790"/>
          </a:xfrm>
          <a:prstGeom prst="triangle">
            <a:avLst>
              <a:gd name="adj" fmla="val 10000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44" name="Forme en L 43">
            <a:extLst>
              <a:ext uri="{FF2B5EF4-FFF2-40B4-BE49-F238E27FC236}">
                <a16:creationId xmlns:a16="http://schemas.microsoft.com/office/drawing/2014/main" id="{0446A202-4A6C-44DE-A767-D939E37F43E6}"/>
              </a:ext>
            </a:extLst>
          </p:cNvPr>
          <p:cNvSpPr/>
          <p:nvPr/>
        </p:nvSpPr>
        <p:spPr>
          <a:xfrm rot="5400000">
            <a:off x="6511164" y="4984044"/>
            <a:ext cx="800128" cy="1331395"/>
          </a:xfrm>
          <a:prstGeom prst="corner">
            <a:avLst>
              <a:gd name="adj1" fmla="val 16120"/>
              <a:gd name="adj2" fmla="val 1611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46" name="Forme libre : forme 45">
            <a:extLst>
              <a:ext uri="{FF2B5EF4-FFF2-40B4-BE49-F238E27FC236}">
                <a16:creationId xmlns:a16="http://schemas.microsoft.com/office/drawing/2014/main" id="{0B1EA4A7-1853-49E6-9F8F-81CE1F2A1AB5}"/>
              </a:ext>
            </a:extLst>
          </p:cNvPr>
          <p:cNvSpPr/>
          <p:nvPr/>
        </p:nvSpPr>
        <p:spPr>
          <a:xfrm>
            <a:off x="6377603" y="5381844"/>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3 ECLAIREUR(-SE) :</a:t>
            </a:r>
            <a:r>
              <a:rPr lang="fr-FR" sz="1100" kern="1200"/>
              <a:t> J’identifie l’opportunité de rejouer, je promeus, j’organise </a:t>
            </a:r>
          </a:p>
        </p:txBody>
      </p:sp>
      <p:sp>
        <p:nvSpPr>
          <p:cNvPr id="126" name="Triangle isocèle 125">
            <a:extLst>
              <a:ext uri="{FF2B5EF4-FFF2-40B4-BE49-F238E27FC236}">
                <a16:creationId xmlns:a16="http://schemas.microsoft.com/office/drawing/2014/main" id="{A1F0FE07-BAA2-4323-8353-58D2C1842023}"/>
              </a:ext>
            </a:extLst>
          </p:cNvPr>
          <p:cNvSpPr/>
          <p:nvPr/>
        </p:nvSpPr>
        <p:spPr>
          <a:xfrm>
            <a:off x="7333207" y="4914954"/>
            <a:ext cx="226790" cy="226790"/>
          </a:xfrm>
          <a:prstGeom prst="triangle">
            <a:avLst>
              <a:gd name="adj" fmla="val 10000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27" name="Forme en L 126">
            <a:extLst>
              <a:ext uri="{FF2B5EF4-FFF2-40B4-BE49-F238E27FC236}">
                <a16:creationId xmlns:a16="http://schemas.microsoft.com/office/drawing/2014/main" id="{C12800D8-594A-4179-B95D-3863F83A5A4A}"/>
              </a:ext>
            </a:extLst>
          </p:cNvPr>
          <p:cNvSpPr/>
          <p:nvPr/>
        </p:nvSpPr>
        <p:spPr>
          <a:xfrm rot="5400000">
            <a:off x="7906910" y="4821677"/>
            <a:ext cx="800128" cy="1331395"/>
          </a:xfrm>
          <a:prstGeom prst="corner">
            <a:avLst>
              <a:gd name="adj1" fmla="val 16120"/>
              <a:gd name="adj2" fmla="val 1611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28" name="Forme libre : forme 127">
            <a:extLst>
              <a:ext uri="{FF2B5EF4-FFF2-40B4-BE49-F238E27FC236}">
                <a16:creationId xmlns:a16="http://schemas.microsoft.com/office/drawing/2014/main" id="{40D5AB67-9F87-49DB-8D29-5ED6B9CF23DC}"/>
              </a:ext>
            </a:extLst>
          </p:cNvPr>
          <p:cNvSpPr/>
          <p:nvPr/>
        </p:nvSpPr>
        <p:spPr>
          <a:xfrm>
            <a:off x="7773349" y="5219477"/>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4 CO-ANIMATEUR(-TRICE) :</a:t>
            </a:r>
            <a:r>
              <a:rPr lang="fr-FR" sz="1100" kern="1200"/>
              <a:t> Je co-anime, je fais expérimenter</a:t>
            </a:r>
          </a:p>
        </p:txBody>
      </p:sp>
      <p:sp>
        <p:nvSpPr>
          <p:cNvPr id="129" name="Triangle isocèle 128">
            <a:extLst>
              <a:ext uri="{FF2B5EF4-FFF2-40B4-BE49-F238E27FC236}">
                <a16:creationId xmlns:a16="http://schemas.microsoft.com/office/drawing/2014/main" id="{66B2C47D-7612-4F63-B71D-CD7B156817D8}"/>
              </a:ext>
            </a:extLst>
          </p:cNvPr>
          <p:cNvSpPr/>
          <p:nvPr/>
        </p:nvSpPr>
        <p:spPr>
          <a:xfrm>
            <a:off x="8757932" y="4784444"/>
            <a:ext cx="226790" cy="226790"/>
          </a:xfrm>
          <a:prstGeom prst="triangle">
            <a:avLst>
              <a:gd name="adj" fmla="val 100000"/>
            </a:avLst>
          </a:prstGeom>
          <a:solidFill>
            <a:srgbClr val="ED7D31"/>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sp>
      <p:sp>
        <p:nvSpPr>
          <p:cNvPr id="130" name="Forme en L 129">
            <a:extLst>
              <a:ext uri="{FF2B5EF4-FFF2-40B4-BE49-F238E27FC236}">
                <a16:creationId xmlns:a16="http://schemas.microsoft.com/office/drawing/2014/main" id="{01A55F55-E534-4FCE-B502-08A6CD05E29F}"/>
              </a:ext>
            </a:extLst>
          </p:cNvPr>
          <p:cNvSpPr/>
          <p:nvPr/>
        </p:nvSpPr>
        <p:spPr>
          <a:xfrm rot="5400000">
            <a:off x="9341414" y="4588350"/>
            <a:ext cx="800128" cy="1331395"/>
          </a:xfrm>
          <a:prstGeom prst="corner">
            <a:avLst>
              <a:gd name="adj1" fmla="val 16120"/>
              <a:gd name="adj2" fmla="val 16110"/>
            </a:avLst>
          </a:prstGeom>
          <a:solidFill>
            <a:srgbClr val="ED7D31"/>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sp>
      <p:sp>
        <p:nvSpPr>
          <p:cNvPr id="131" name="Forme libre : forme 130">
            <a:extLst>
              <a:ext uri="{FF2B5EF4-FFF2-40B4-BE49-F238E27FC236}">
                <a16:creationId xmlns:a16="http://schemas.microsoft.com/office/drawing/2014/main" id="{2CA98E77-04A8-4853-B8D9-195E09DDEE81}"/>
              </a:ext>
            </a:extLst>
          </p:cNvPr>
          <p:cNvSpPr/>
          <p:nvPr/>
        </p:nvSpPr>
        <p:spPr>
          <a:xfrm>
            <a:off x="9207852" y="4986150"/>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5 ANIMATEUR(-TRICE) </a:t>
            </a:r>
            <a:r>
              <a:rPr lang="fr-FR" sz="1100" kern="1200"/>
              <a:t>: Je mène l’animation, j’invite et je forme à animer</a:t>
            </a:r>
          </a:p>
        </p:txBody>
      </p:sp>
      <p:sp>
        <p:nvSpPr>
          <p:cNvPr id="132" name="Triangle isocèle 131">
            <a:extLst>
              <a:ext uri="{FF2B5EF4-FFF2-40B4-BE49-F238E27FC236}">
                <a16:creationId xmlns:a16="http://schemas.microsoft.com/office/drawing/2014/main" id="{BA6BF652-E1E2-406D-80A4-2E49153F1852}"/>
              </a:ext>
            </a:extLst>
          </p:cNvPr>
          <p:cNvSpPr/>
          <p:nvPr/>
        </p:nvSpPr>
        <p:spPr>
          <a:xfrm>
            <a:off x="10148735" y="4552906"/>
            <a:ext cx="226790" cy="226790"/>
          </a:xfrm>
          <a:prstGeom prst="triangle">
            <a:avLst>
              <a:gd name="adj" fmla="val 100000"/>
            </a:avLst>
          </a:prstGeom>
          <a:solidFill>
            <a:srgbClr val="3494BA"/>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34" name="Forme libre : forme 133">
            <a:extLst>
              <a:ext uri="{FF2B5EF4-FFF2-40B4-BE49-F238E27FC236}">
                <a16:creationId xmlns:a16="http://schemas.microsoft.com/office/drawing/2014/main" id="{8727C1F5-25DD-43A7-99FA-83F7672D8360}"/>
              </a:ext>
            </a:extLst>
          </p:cNvPr>
          <p:cNvSpPr/>
          <p:nvPr/>
        </p:nvSpPr>
        <p:spPr>
          <a:xfrm>
            <a:off x="9204659" y="5954630"/>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6 CRÉATEUR(-SE) :</a:t>
            </a:r>
            <a:r>
              <a:rPr lang="fr-FR" sz="1100" kern="1200"/>
              <a:t> Je créé des variantes, des adaptations ou de nouveaux contenus</a:t>
            </a:r>
          </a:p>
        </p:txBody>
      </p:sp>
      <p:sp>
        <p:nvSpPr>
          <p:cNvPr id="136" name="Forme en L 135">
            <a:extLst>
              <a:ext uri="{FF2B5EF4-FFF2-40B4-BE49-F238E27FC236}">
                <a16:creationId xmlns:a16="http://schemas.microsoft.com/office/drawing/2014/main" id="{699DA6CB-A3DD-4A52-B739-87B334DBA41D}"/>
              </a:ext>
            </a:extLst>
          </p:cNvPr>
          <p:cNvSpPr/>
          <p:nvPr/>
        </p:nvSpPr>
        <p:spPr>
          <a:xfrm rot="5400000">
            <a:off x="10960546" y="4500484"/>
            <a:ext cx="800128" cy="1331395"/>
          </a:xfrm>
          <a:prstGeom prst="corner">
            <a:avLst>
              <a:gd name="adj1" fmla="val 16120"/>
              <a:gd name="adj2" fmla="val 16110"/>
            </a:avLst>
          </a:prstGeom>
          <a:solidFill>
            <a:srgbClr val="3494BA"/>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37" name="Forme libre : forme 136">
            <a:extLst>
              <a:ext uri="{FF2B5EF4-FFF2-40B4-BE49-F238E27FC236}">
                <a16:creationId xmlns:a16="http://schemas.microsoft.com/office/drawing/2014/main" id="{6BD1DD38-55DB-43A3-B2E3-1B0D279C7626}"/>
              </a:ext>
            </a:extLst>
          </p:cNvPr>
          <p:cNvSpPr/>
          <p:nvPr/>
        </p:nvSpPr>
        <p:spPr>
          <a:xfrm>
            <a:off x="10829507" y="4911590"/>
            <a:ext cx="1201990" cy="1354422"/>
          </a:xfrm>
          <a:custGeom>
            <a:avLst/>
            <a:gdLst>
              <a:gd name="connsiteX0" fmla="*/ 0 w 1201990"/>
              <a:gd name="connsiteY0" fmla="*/ 0 h 1354422"/>
              <a:gd name="connsiteX1" fmla="*/ 1201990 w 1201990"/>
              <a:gd name="connsiteY1" fmla="*/ 0 h 1354422"/>
              <a:gd name="connsiteX2" fmla="*/ 1201990 w 1201990"/>
              <a:gd name="connsiteY2" fmla="*/ 1354422 h 1354422"/>
              <a:gd name="connsiteX3" fmla="*/ 0 w 1201990"/>
              <a:gd name="connsiteY3" fmla="*/ 1354422 h 1354422"/>
              <a:gd name="connsiteX4" fmla="*/ 0 w 1201990"/>
              <a:gd name="connsiteY4" fmla="*/ 0 h 1354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354422">
                <a:moveTo>
                  <a:pt x="0" y="0"/>
                </a:moveTo>
                <a:lnTo>
                  <a:pt x="1201990" y="0"/>
                </a:lnTo>
                <a:lnTo>
                  <a:pt x="1201990" y="1354422"/>
                </a:lnTo>
                <a:lnTo>
                  <a:pt x="0" y="135442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7 CONTENT COMMUNITY BOOSTER </a:t>
            </a:r>
            <a:r>
              <a:rPr lang="fr-FR" sz="1100" kern="1200"/>
              <a:t>: Je connecte les personnes, j’aide à monter en niveau</a:t>
            </a:r>
          </a:p>
        </p:txBody>
      </p:sp>
      <p:grpSp>
        <p:nvGrpSpPr>
          <p:cNvPr id="71" name="Groupe 70">
            <a:extLst>
              <a:ext uri="{FF2B5EF4-FFF2-40B4-BE49-F238E27FC236}">
                <a16:creationId xmlns:a16="http://schemas.microsoft.com/office/drawing/2014/main" id="{B94AFF88-9A8F-41D6-AFBF-6BA46D6AC819}"/>
              </a:ext>
            </a:extLst>
          </p:cNvPr>
          <p:cNvGrpSpPr/>
          <p:nvPr/>
        </p:nvGrpSpPr>
        <p:grpSpPr>
          <a:xfrm>
            <a:off x="10631728" y="3594214"/>
            <a:ext cx="1266205" cy="1138016"/>
            <a:chOff x="10408603" y="1944527"/>
            <a:chExt cx="1266205" cy="1138016"/>
          </a:xfrm>
          <a:solidFill>
            <a:srgbClr val="3494BA"/>
          </a:solidFill>
        </p:grpSpPr>
        <p:grpSp>
          <p:nvGrpSpPr>
            <p:cNvPr id="72" name="Groupe 71">
              <a:extLst>
                <a:ext uri="{FF2B5EF4-FFF2-40B4-BE49-F238E27FC236}">
                  <a16:creationId xmlns:a16="http://schemas.microsoft.com/office/drawing/2014/main" id="{D0FC071E-3A30-4FC7-B974-C32B48F9F968}"/>
                </a:ext>
              </a:extLst>
            </p:cNvPr>
            <p:cNvGrpSpPr/>
            <p:nvPr/>
          </p:nvGrpSpPr>
          <p:grpSpPr>
            <a:xfrm>
              <a:off x="10781788" y="2168143"/>
              <a:ext cx="696980" cy="914400"/>
              <a:chOff x="5018285" y="3873291"/>
              <a:chExt cx="696980" cy="914400"/>
            </a:xfrm>
            <a:grpFill/>
          </p:grpSpPr>
          <p:pic>
            <p:nvPicPr>
              <p:cNvPr id="78" name="Graphique 77" descr="Personne confuse avec un remplissage uni">
                <a:extLst>
                  <a:ext uri="{FF2B5EF4-FFF2-40B4-BE49-F238E27FC236}">
                    <a16:creationId xmlns:a16="http://schemas.microsoft.com/office/drawing/2014/main" id="{B03671FC-34EE-4561-9A17-DE93A268DD92}"/>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30440" r="-1"/>
              <a:stretch/>
            </p:blipFill>
            <p:spPr>
              <a:xfrm>
                <a:off x="5079206" y="3873291"/>
                <a:ext cx="636059" cy="914400"/>
              </a:xfrm>
              <a:prstGeom prst="rect">
                <a:avLst/>
              </a:prstGeom>
            </p:spPr>
          </p:pic>
          <p:sp>
            <p:nvSpPr>
              <p:cNvPr id="79" name="Rectangle : coins arrondis 78">
                <a:extLst>
                  <a:ext uri="{FF2B5EF4-FFF2-40B4-BE49-F238E27FC236}">
                    <a16:creationId xmlns:a16="http://schemas.microsoft.com/office/drawing/2014/main" id="{0B846F4A-3FC8-42B5-A3CB-D3E41CC1723B}"/>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73" name="Graphique 72" descr="Panneau de signalisation avec un remplissage uni">
              <a:extLst>
                <a:ext uri="{FF2B5EF4-FFF2-40B4-BE49-F238E27FC236}">
                  <a16:creationId xmlns:a16="http://schemas.microsoft.com/office/drawing/2014/main" id="{72EE5A75-73F8-4483-A8C2-749E5BCA02CF}"/>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t="18628"/>
            <a:stretch/>
          </p:blipFill>
          <p:spPr>
            <a:xfrm>
              <a:off x="10932558" y="1976438"/>
              <a:ext cx="742250" cy="603990"/>
            </a:xfrm>
            <a:prstGeom prst="rect">
              <a:avLst/>
            </a:prstGeom>
          </p:spPr>
        </p:pic>
        <p:grpSp>
          <p:nvGrpSpPr>
            <p:cNvPr id="74" name="Groupe 73">
              <a:extLst>
                <a:ext uri="{FF2B5EF4-FFF2-40B4-BE49-F238E27FC236}">
                  <a16:creationId xmlns:a16="http://schemas.microsoft.com/office/drawing/2014/main" id="{994E204E-64D2-4994-BC2A-C487EE0F157B}"/>
                </a:ext>
              </a:extLst>
            </p:cNvPr>
            <p:cNvGrpSpPr/>
            <p:nvPr/>
          </p:nvGrpSpPr>
          <p:grpSpPr>
            <a:xfrm rot="21051146" flipH="1">
              <a:off x="10408603" y="1944527"/>
              <a:ext cx="391604" cy="567289"/>
              <a:chOff x="5616686" y="6627757"/>
              <a:chExt cx="644414" cy="888746"/>
            </a:xfrm>
            <a:grpFill/>
          </p:grpSpPr>
          <p:pic>
            <p:nvPicPr>
              <p:cNvPr id="76" name="Graphique 75" descr="Drapeau de golf dans un trou avec un remplissage uni">
                <a:extLst>
                  <a:ext uri="{FF2B5EF4-FFF2-40B4-BE49-F238E27FC236}">
                    <a16:creationId xmlns:a16="http://schemas.microsoft.com/office/drawing/2014/main" id="{3EBFBA21-092B-4CB4-BEDA-2D1B0E298643}"/>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19715" t="5069" r="36313" b="56423"/>
              <a:stretch/>
            </p:blipFill>
            <p:spPr>
              <a:xfrm>
                <a:off x="5616686" y="6627757"/>
                <a:ext cx="644414" cy="564328"/>
              </a:xfrm>
              <a:prstGeom prst="rect">
                <a:avLst/>
              </a:prstGeom>
            </p:spPr>
          </p:pic>
          <p:sp>
            <p:nvSpPr>
              <p:cNvPr id="77" name="Rectangle : coins arrondis 76">
                <a:extLst>
                  <a:ext uri="{FF2B5EF4-FFF2-40B4-BE49-F238E27FC236}">
                    <a16:creationId xmlns:a16="http://schemas.microsoft.com/office/drawing/2014/main" id="{8F537FF6-8621-44AF-8DAB-DC4670397374}"/>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75" name="Image 74">
              <a:extLst>
                <a:ext uri="{FF2B5EF4-FFF2-40B4-BE49-F238E27FC236}">
                  <a16:creationId xmlns:a16="http://schemas.microsoft.com/office/drawing/2014/main" id="{D295823D-81EC-4E85-9722-29C93336C553}"/>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grpSp>
        <p:nvGrpSpPr>
          <p:cNvPr id="80" name="Groupe 79">
            <a:extLst>
              <a:ext uri="{FF2B5EF4-FFF2-40B4-BE49-F238E27FC236}">
                <a16:creationId xmlns:a16="http://schemas.microsoft.com/office/drawing/2014/main" id="{5204E23E-6CC1-4B0F-AADD-28F6B0DA63B5}"/>
              </a:ext>
            </a:extLst>
          </p:cNvPr>
          <p:cNvGrpSpPr/>
          <p:nvPr/>
        </p:nvGrpSpPr>
        <p:grpSpPr>
          <a:xfrm>
            <a:off x="3606703" y="4801970"/>
            <a:ext cx="944022" cy="834837"/>
            <a:chOff x="3239584" y="4265153"/>
            <a:chExt cx="944022" cy="834837"/>
          </a:xfrm>
        </p:grpSpPr>
        <p:grpSp>
          <p:nvGrpSpPr>
            <p:cNvPr id="81" name="Groupe 80">
              <a:extLst>
                <a:ext uri="{FF2B5EF4-FFF2-40B4-BE49-F238E27FC236}">
                  <a16:creationId xmlns:a16="http://schemas.microsoft.com/office/drawing/2014/main" id="{A8C1BAC6-6BE5-4F35-9489-3E81701B4D2E}"/>
                </a:ext>
              </a:extLst>
            </p:cNvPr>
            <p:cNvGrpSpPr/>
            <p:nvPr/>
          </p:nvGrpSpPr>
          <p:grpSpPr>
            <a:xfrm>
              <a:off x="3239584" y="4265153"/>
              <a:ext cx="944022" cy="834837"/>
              <a:chOff x="3239584" y="4265153"/>
              <a:chExt cx="944022" cy="834837"/>
            </a:xfrm>
          </p:grpSpPr>
          <p:pic>
            <p:nvPicPr>
              <p:cNvPr id="83" name="Graphique 82" descr="Personne confuse avec un remplissage uni">
                <a:extLst>
                  <a:ext uri="{FF2B5EF4-FFF2-40B4-BE49-F238E27FC236}">
                    <a16:creationId xmlns:a16="http://schemas.microsoft.com/office/drawing/2014/main" id="{AC28AB1D-AAB5-47D1-AC87-47375773334E}"/>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239584" y="4281195"/>
                <a:ext cx="818795" cy="818795"/>
              </a:xfrm>
              <a:prstGeom prst="rect">
                <a:avLst/>
              </a:prstGeom>
            </p:spPr>
          </p:pic>
          <p:pic>
            <p:nvPicPr>
              <p:cNvPr id="84" name="Graphique 83" descr="Calendrier journalier avec un remplissage uni">
                <a:extLst>
                  <a:ext uri="{FF2B5EF4-FFF2-40B4-BE49-F238E27FC236}">
                    <a16:creationId xmlns:a16="http://schemas.microsoft.com/office/drawing/2014/main" id="{289C866C-A01A-4F68-B68C-371F4F48CED9}"/>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3826152" y="4265153"/>
                <a:ext cx="357454" cy="357454"/>
              </a:xfrm>
              <a:prstGeom prst="rect">
                <a:avLst/>
              </a:prstGeom>
            </p:spPr>
          </p:pic>
        </p:grpSp>
        <p:pic>
          <p:nvPicPr>
            <p:cNvPr id="82" name="Image 81">
              <a:extLst>
                <a:ext uri="{FF2B5EF4-FFF2-40B4-BE49-F238E27FC236}">
                  <a16:creationId xmlns:a16="http://schemas.microsoft.com/office/drawing/2014/main" id="{6DF4D559-4197-426E-9CBD-6910757485F5}"/>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grpSp>
        <p:nvGrpSpPr>
          <p:cNvPr id="85" name="Groupe 84">
            <a:extLst>
              <a:ext uri="{FF2B5EF4-FFF2-40B4-BE49-F238E27FC236}">
                <a16:creationId xmlns:a16="http://schemas.microsoft.com/office/drawing/2014/main" id="{114ABE05-E40C-46DE-A578-A78C656AD7F9}"/>
              </a:ext>
            </a:extLst>
          </p:cNvPr>
          <p:cNvGrpSpPr/>
          <p:nvPr/>
        </p:nvGrpSpPr>
        <p:grpSpPr>
          <a:xfrm>
            <a:off x="1231639" y="4867439"/>
            <a:ext cx="779343" cy="1094864"/>
            <a:chOff x="519806" y="4346910"/>
            <a:chExt cx="779343" cy="1094864"/>
          </a:xfrm>
        </p:grpSpPr>
        <p:pic>
          <p:nvPicPr>
            <p:cNvPr id="86" name="Graphique 85" descr="Homme avec un remplissage uni">
              <a:extLst>
                <a:ext uri="{FF2B5EF4-FFF2-40B4-BE49-F238E27FC236}">
                  <a16:creationId xmlns:a16="http://schemas.microsoft.com/office/drawing/2014/main" id="{5E70C518-842B-4A73-9930-486AA879BA28}"/>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t="759" b="1"/>
            <a:stretch/>
          </p:blipFill>
          <p:spPr>
            <a:xfrm>
              <a:off x="519806" y="4750406"/>
              <a:ext cx="696654" cy="691368"/>
            </a:xfrm>
            <a:prstGeom prst="rect">
              <a:avLst/>
            </a:prstGeom>
          </p:spPr>
        </p:pic>
        <p:pic>
          <p:nvPicPr>
            <p:cNvPr id="87" name="Graphique 86" descr="Questions avec un remplissage uni">
              <a:extLst>
                <a:ext uri="{FF2B5EF4-FFF2-40B4-BE49-F238E27FC236}">
                  <a16:creationId xmlns:a16="http://schemas.microsoft.com/office/drawing/2014/main" id="{13EE19B9-D3E4-48B3-8C47-9D6BBEE051AA}"/>
                </a:ext>
              </a:extLst>
            </p:cNvPr>
            <p:cNvPicPr>
              <a:picLocks noChangeAspect="1"/>
            </p:cNvPicPr>
            <p:nvPr/>
          </p:nvPicPr>
          <p:blipFill rotWithShape="1">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rcRect l="42233" t="4436" r="9899" b="50565"/>
            <a:stretch/>
          </p:blipFill>
          <p:spPr>
            <a:xfrm>
              <a:off x="840636" y="4346910"/>
              <a:ext cx="458513" cy="431034"/>
            </a:xfrm>
            <a:prstGeom prst="rect">
              <a:avLst/>
            </a:prstGeom>
          </p:spPr>
        </p:pic>
        <p:sp>
          <p:nvSpPr>
            <p:cNvPr id="88" name="Rectangle : coins arrondis 87">
              <a:extLst>
                <a:ext uri="{FF2B5EF4-FFF2-40B4-BE49-F238E27FC236}">
                  <a16:creationId xmlns:a16="http://schemas.microsoft.com/office/drawing/2014/main" id="{9E3A4325-B189-4362-ABBB-058622793DD6}"/>
                </a:ext>
              </a:extLst>
            </p:cNvPr>
            <p:cNvSpPr/>
            <p:nvPr/>
          </p:nvSpPr>
          <p:spPr>
            <a:xfrm>
              <a:off x="664001" y="4384434"/>
              <a:ext cx="277803" cy="296727"/>
            </a:xfrm>
            <a:prstGeom prst="roundRect">
              <a:avLst/>
            </a:prstGeom>
            <a:solidFill>
              <a:schemeClr val="bg1">
                <a:lumMod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89" name="Image 88">
              <a:extLst>
                <a:ext uri="{FF2B5EF4-FFF2-40B4-BE49-F238E27FC236}">
                  <a16:creationId xmlns:a16="http://schemas.microsoft.com/office/drawing/2014/main" id="{00E866B0-D1AA-4FB7-B395-597D90FFBE66}"/>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750577" y="4447088"/>
              <a:ext cx="175109" cy="168928"/>
            </a:xfrm>
            <a:prstGeom prst="rect">
              <a:avLst/>
            </a:prstGeom>
          </p:spPr>
        </p:pic>
      </p:grpSp>
      <p:grpSp>
        <p:nvGrpSpPr>
          <p:cNvPr id="90" name="Groupe 89">
            <a:extLst>
              <a:ext uri="{FF2B5EF4-FFF2-40B4-BE49-F238E27FC236}">
                <a16:creationId xmlns:a16="http://schemas.microsoft.com/office/drawing/2014/main" id="{F1AB2946-9C86-463D-A5C8-DE121A6E77A6}"/>
              </a:ext>
            </a:extLst>
          </p:cNvPr>
          <p:cNvGrpSpPr/>
          <p:nvPr/>
        </p:nvGrpSpPr>
        <p:grpSpPr>
          <a:xfrm>
            <a:off x="7764922" y="4192106"/>
            <a:ext cx="819385" cy="883274"/>
            <a:chOff x="6060465" y="3463636"/>
            <a:chExt cx="819385" cy="883274"/>
          </a:xfrm>
          <a:solidFill>
            <a:srgbClr val="ED7D31"/>
          </a:solidFill>
        </p:grpSpPr>
        <p:pic>
          <p:nvPicPr>
            <p:cNvPr id="91" name="Graphique 90" descr="Presse-papiers mixte avec un remplissage uni">
              <a:extLst>
                <a:ext uri="{FF2B5EF4-FFF2-40B4-BE49-F238E27FC236}">
                  <a16:creationId xmlns:a16="http://schemas.microsoft.com/office/drawing/2014/main" id="{76D65036-0EC3-4280-A47D-C458EDE86942}"/>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rot="20207580">
              <a:off x="6060465" y="3580343"/>
              <a:ext cx="314429" cy="314429"/>
            </a:xfrm>
            <a:prstGeom prst="rect">
              <a:avLst/>
            </a:prstGeom>
          </p:spPr>
        </p:pic>
        <p:grpSp>
          <p:nvGrpSpPr>
            <p:cNvPr id="92" name="Groupe 91">
              <a:extLst>
                <a:ext uri="{FF2B5EF4-FFF2-40B4-BE49-F238E27FC236}">
                  <a16:creationId xmlns:a16="http://schemas.microsoft.com/office/drawing/2014/main" id="{AE9FC346-D207-4640-BD6C-C4728FD2A909}"/>
                </a:ext>
              </a:extLst>
            </p:cNvPr>
            <p:cNvGrpSpPr/>
            <p:nvPr/>
          </p:nvGrpSpPr>
          <p:grpSpPr>
            <a:xfrm>
              <a:off x="6132133" y="3463636"/>
              <a:ext cx="612923" cy="883274"/>
              <a:chOff x="6132133" y="3463636"/>
              <a:chExt cx="612923" cy="883274"/>
            </a:xfrm>
            <a:grpFill/>
          </p:grpSpPr>
          <p:pic>
            <p:nvPicPr>
              <p:cNvPr id="95" name="Graphique 94" descr="Centre d’appels avec un remplissage uni">
                <a:extLst>
                  <a:ext uri="{FF2B5EF4-FFF2-40B4-BE49-F238E27FC236}">
                    <a16:creationId xmlns:a16="http://schemas.microsoft.com/office/drawing/2014/main" id="{35F24164-633F-47A7-BEF8-EE5A88824544}"/>
                  </a:ext>
                </a:extLst>
              </p:cNvPr>
              <p:cNvPicPr>
                <a:picLocks noChangeAspect="1"/>
              </p:cNvPicPr>
              <p:nvPr/>
            </p:nvPicPr>
            <p:blipFill rotWithShape="1">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b="44092"/>
              <a:stretch/>
            </p:blipFill>
            <p:spPr>
              <a:xfrm>
                <a:off x="6322855" y="3463636"/>
                <a:ext cx="422201" cy="236042"/>
              </a:xfrm>
              <a:prstGeom prst="rect">
                <a:avLst/>
              </a:prstGeom>
            </p:spPr>
          </p:pic>
          <p:grpSp>
            <p:nvGrpSpPr>
              <p:cNvPr id="96" name="Groupe 95">
                <a:extLst>
                  <a:ext uri="{FF2B5EF4-FFF2-40B4-BE49-F238E27FC236}">
                    <a16:creationId xmlns:a16="http://schemas.microsoft.com/office/drawing/2014/main" id="{591F00D6-4AFD-45D2-ACBD-7088ECFF8631}"/>
                  </a:ext>
                </a:extLst>
              </p:cNvPr>
              <p:cNvGrpSpPr/>
              <p:nvPr/>
            </p:nvGrpSpPr>
            <p:grpSpPr>
              <a:xfrm flipH="1">
                <a:off x="6132133" y="3682042"/>
                <a:ext cx="611857" cy="664868"/>
                <a:chOff x="5018285" y="4055721"/>
                <a:chExt cx="696982" cy="731970"/>
              </a:xfrm>
              <a:grpFill/>
            </p:grpSpPr>
            <p:pic>
              <p:nvPicPr>
                <p:cNvPr id="97" name="Graphique 96" descr="Personne confuse avec un remplissage uni">
                  <a:extLst>
                    <a:ext uri="{FF2B5EF4-FFF2-40B4-BE49-F238E27FC236}">
                      <a16:creationId xmlns:a16="http://schemas.microsoft.com/office/drawing/2014/main" id="{6BD5E57B-8145-480E-9A59-2C29137B20D9}"/>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l="30440" t="19951" r="-1"/>
                <a:stretch/>
              </p:blipFill>
              <p:spPr>
                <a:xfrm>
                  <a:off x="5079207" y="4055721"/>
                  <a:ext cx="636060" cy="731970"/>
                </a:xfrm>
                <a:prstGeom prst="rect">
                  <a:avLst/>
                </a:prstGeom>
              </p:spPr>
            </p:pic>
            <p:sp>
              <p:nvSpPr>
                <p:cNvPr id="98" name="Rectangle : coins arrondis 97">
                  <a:extLst>
                    <a:ext uri="{FF2B5EF4-FFF2-40B4-BE49-F238E27FC236}">
                      <a16:creationId xmlns:a16="http://schemas.microsoft.com/office/drawing/2014/main" id="{DB149246-5E4D-4681-849B-5042504D58C8}"/>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93" name="Image 92">
              <a:extLst>
                <a:ext uri="{FF2B5EF4-FFF2-40B4-BE49-F238E27FC236}">
                  <a16:creationId xmlns:a16="http://schemas.microsoft.com/office/drawing/2014/main" id="{45F0B5CF-F93B-4C4B-8418-F1CF8BCDE978}"/>
                </a:ext>
              </a:extLst>
            </p:cNvPr>
            <p:cNvPicPr>
              <a:picLocks noChangeAspect="1"/>
            </p:cNvPicPr>
            <p:nvPr/>
          </p:nvPicPr>
          <p:blipFill>
            <a:blip r:embed="rId38">
              <a:extLst>
                <a:ext uri="{BEBA8EAE-BF5A-486C-A8C5-ECC9F3942E4B}">
                  <a14:imgProps xmlns:a14="http://schemas.microsoft.com/office/drawing/2010/main">
                    <a14:imgLayer r:embed="rId3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94" name="Graphique 93" descr="Chronomètre avec un remplissage uni">
              <a:extLst>
                <a:ext uri="{FF2B5EF4-FFF2-40B4-BE49-F238E27FC236}">
                  <a16:creationId xmlns:a16="http://schemas.microsoft.com/office/drawing/2014/main" id="{53ACA43D-FF04-4089-82CA-A88DB560BC5C}"/>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6714271" y="3602551"/>
              <a:ext cx="165579" cy="165579"/>
            </a:xfrm>
            <a:prstGeom prst="rect">
              <a:avLst/>
            </a:prstGeom>
          </p:spPr>
        </p:pic>
      </p:grpSp>
      <p:grpSp>
        <p:nvGrpSpPr>
          <p:cNvPr id="107" name="Groupe 106">
            <a:extLst>
              <a:ext uri="{FF2B5EF4-FFF2-40B4-BE49-F238E27FC236}">
                <a16:creationId xmlns:a16="http://schemas.microsoft.com/office/drawing/2014/main" id="{7AB3CF50-5BBB-4E25-A34F-08501768B98E}"/>
              </a:ext>
            </a:extLst>
          </p:cNvPr>
          <p:cNvGrpSpPr/>
          <p:nvPr/>
        </p:nvGrpSpPr>
        <p:grpSpPr>
          <a:xfrm>
            <a:off x="9228213" y="3664505"/>
            <a:ext cx="1216113" cy="1173074"/>
            <a:chOff x="8930936" y="2408583"/>
            <a:chExt cx="1216113" cy="1173074"/>
          </a:xfrm>
          <a:solidFill>
            <a:schemeClr val="accent1"/>
          </a:solidFill>
        </p:grpSpPr>
        <p:grpSp>
          <p:nvGrpSpPr>
            <p:cNvPr id="108" name="Groupe 107">
              <a:extLst>
                <a:ext uri="{FF2B5EF4-FFF2-40B4-BE49-F238E27FC236}">
                  <a16:creationId xmlns:a16="http://schemas.microsoft.com/office/drawing/2014/main" id="{C373CDD5-ECFB-42CC-AE64-A4255D893913}"/>
                </a:ext>
              </a:extLst>
            </p:cNvPr>
            <p:cNvGrpSpPr/>
            <p:nvPr/>
          </p:nvGrpSpPr>
          <p:grpSpPr>
            <a:xfrm>
              <a:off x="8930936" y="2408583"/>
              <a:ext cx="1216113" cy="1173074"/>
              <a:chOff x="8930936" y="2401291"/>
              <a:chExt cx="1216113" cy="1173074"/>
            </a:xfrm>
            <a:grpFill/>
          </p:grpSpPr>
          <p:pic>
            <p:nvPicPr>
              <p:cNvPr id="112" name="Graphique 111" descr="Plan avec un remplissage uni">
                <a:extLst>
                  <a:ext uri="{FF2B5EF4-FFF2-40B4-BE49-F238E27FC236}">
                    <a16:creationId xmlns:a16="http://schemas.microsoft.com/office/drawing/2014/main" id="{BA8DEF69-5977-4FE5-8AA3-1AC8D2FD9722}"/>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8930936" y="2401291"/>
                <a:ext cx="590762" cy="590762"/>
              </a:xfrm>
              <a:prstGeom prst="rect">
                <a:avLst/>
              </a:prstGeom>
            </p:spPr>
          </p:pic>
          <p:grpSp>
            <p:nvGrpSpPr>
              <p:cNvPr id="113" name="Groupe 112">
                <a:extLst>
                  <a:ext uri="{FF2B5EF4-FFF2-40B4-BE49-F238E27FC236}">
                    <a16:creationId xmlns:a16="http://schemas.microsoft.com/office/drawing/2014/main" id="{5A653B1F-B857-4FCD-A6E0-129DA181337E}"/>
                  </a:ext>
                </a:extLst>
              </p:cNvPr>
              <p:cNvGrpSpPr/>
              <p:nvPr/>
            </p:nvGrpSpPr>
            <p:grpSpPr>
              <a:xfrm>
                <a:off x="9450069" y="2659965"/>
                <a:ext cx="696980" cy="914400"/>
                <a:chOff x="5018285" y="3873291"/>
                <a:chExt cx="696980" cy="914400"/>
              </a:xfrm>
              <a:grpFill/>
            </p:grpSpPr>
            <p:pic>
              <p:nvPicPr>
                <p:cNvPr id="114" name="Graphique 113" descr="Personne confuse avec un remplissage uni">
                  <a:extLst>
                    <a:ext uri="{FF2B5EF4-FFF2-40B4-BE49-F238E27FC236}">
                      <a16:creationId xmlns:a16="http://schemas.microsoft.com/office/drawing/2014/main" id="{BE55B32D-89A1-434A-AA78-9E1F4F65FD87}"/>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44"/>
                    </a:ext>
                  </a:extLst>
                </a:blip>
                <a:srcRect l="30440" r="-1"/>
                <a:stretch/>
              </p:blipFill>
              <p:spPr>
                <a:xfrm>
                  <a:off x="5079206" y="3873291"/>
                  <a:ext cx="636059" cy="914400"/>
                </a:xfrm>
                <a:prstGeom prst="rect">
                  <a:avLst/>
                </a:prstGeom>
              </p:spPr>
            </p:pic>
            <p:sp>
              <p:nvSpPr>
                <p:cNvPr id="115" name="Rectangle : coins arrondis 114">
                  <a:extLst>
                    <a:ext uri="{FF2B5EF4-FFF2-40B4-BE49-F238E27FC236}">
                      <a16:creationId xmlns:a16="http://schemas.microsoft.com/office/drawing/2014/main" id="{56183E7A-2B79-414C-9A3D-2B0F51FB24B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109" name="Groupe 108">
              <a:extLst>
                <a:ext uri="{FF2B5EF4-FFF2-40B4-BE49-F238E27FC236}">
                  <a16:creationId xmlns:a16="http://schemas.microsoft.com/office/drawing/2014/main" id="{95833ABF-AE22-41EB-A9F1-789F34847396}"/>
                </a:ext>
              </a:extLst>
            </p:cNvPr>
            <p:cNvGrpSpPr/>
            <p:nvPr/>
          </p:nvGrpSpPr>
          <p:grpSpPr>
            <a:xfrm>
              <a:off x="9237852" y="2714693"/>
              <a:ext cx="199881" cy="170748"/>
              <a:chOff x="8303417" y="2625343"/>
              <a:chExt cx="199881" cy="170748"/>
            </a:xfrm>
            <a:grpFill/>
          </p:grpSpPr>
          <p:sp>
            <p:nvSpPr>
              <p:cNvPr id="110" name="Rectangle 109">
                <a:extLst>
                  <a:ext uri="{FF2B5EF4-FFF2-40B4-BE49-F238E27FC236}">
                    <a16:creationId xmlns:a16="http://schemas.microsoft.com/office/drawing/2014/main" id="{2634B864-1989-4FF6-9E0A-9BBA57FFC990}"/>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1" name="Image 110">
                <a:extLst>
                  <a:ext uri="{FF2B5EF4-FFF2-40B4-BE49-F238E27FC236}">
                    <a16:creationId xmlns:a16="http://schemas.microsoft.com/office/drawing/2014/main" id="{0769BDC3-0165-4656-91F7-7B998245F99C}"/>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116" name="Groupe 115">
            <a:extLst>
              <a:ext uri="{FF2B5EF4-FFF2-40B4-BE49-F238E27FC236}">
                <a16:creationId xmlns:a16="http://schemas.microsoft.com/office/drawing/2014/main" id="{7F01D358-A608-4C67-86EB-52B2F2407245}"/>
              </a:ext>
            </a:extLst>
          </p:cNvPr>
          <p:cNvGrpSpPr/>
          <p:nvPr/>
        </p:nvGrpSpPr>
        <p:grpSpPr>
          <a:xfrm>
            <a:off x="6423190" y="4289114"/>
            <a:ext cx="978177" cy="925014"/>
            <a:chOff x="4763560" y="3762738"/>
            <a:chExt cx="978177" cy="925014"/>
          </a:xfrm>
        </p:grpSpPr>
        <p:grpSp>
          <p:nvGrpSpPr>
            <p:cNvPr id="117" name="Groupe 116">
              <a:extLst>
                <a:ext uri="{FF2B5EF4-FFF2-40B4-BE49-F238E27FC236}">
                  <a16:creationId xmlns:a16="http://schemas.microsoft.com/office/drawing/2014/main" id="{0129D389-8432-4670-85E8-E9A8CA748AE9}"/>
                </a:ext>
              </a:extLst>
            </p:cNvPr>
            <p:cNvGrpSpPr/>
            <p:nvPr/>
          </p:nvGrpSpPr>
          <p:grpSpPr>
            <a:xfrm flipH="1">
              <a:off x="4766063" y="3762738"/>
              <a:ext cx="975674" cy="925014"/>
              <a:chOff x="4716415" y="3792004"/>
              <a:chExt cx="1009529" cy="925014"/>
            </a:xfrm>
          </p:grpSpPr>
          <p:pic>
            <p:nvPicPr>
              <p:cNvPr id="120" name="Graphique 119" descr="Mégaphone1 avec un remplissage uni">
                <a:extLst>
                  <a:ext uri="{FF2B5EF4-FFF2-40B4-BE49-F238E27FC236}">
                    <a16:creationId xmlns:a16="http://schemas.microsoft.com/office/drawing/2014/main" id="{E2A09075-D827-40A8-AD3A-95D957F0A5AF}"/>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flipH="1">
                <a:off x="4716415" y="3792004"/>
                <a:ext cx="384826" cy="398002"/>
              </a:xfrm>
              <a:prstGeom prst="rect">
                <a:avLst/>
              </a:prstGeom>
            </p:spPr>
          </p:pic>
          <p:grpSp>
            <p:nvGrpSpPr>
              <p:cNvPr id="121" name="Groupe 120">
                <a:extLst>
                  <a:ext uri="{FF2B5EF4-FFF2-40B4-BE49-F238E27FC236}">
                    <a16:creationId xmlns:a16="http://schemas.microsoft.com/office/drawing/2014/main" id="{F23AFD8F-E7F7-469E-A666-EB77AD6C6951}"/>
                  </a:ext>
                </a:extLst>
              </p:cNvPr>
              <p:cNvGrpSpPr/>
              <p:nvPr/>
            </p:nvGrpSpPr>
            <p:grpSpPr>
              <a:xfrm>
                <a:off x="5048496" y="3886444"/>
                <a:ext cx="633086" cy="830574"/>
                <a:chOff x="5018285" y="3873291"/>
                <a:chExt cx="696980" cy="914400"/>
              </a:xfrm>
            </p:grpSpPr>
            <p:pic>
              <p:nvPicPr>
                <p:cNvPr id="124" name="Graphique 123" descr="Personne confuse avec un remplissage uni">
                  <a:extLst>
                    <a:ext uri="{FF2B5EF4-FFF2-40B4-BE49-F238E27FC236}">
                      <a16:creationId xmlns:a16="http://schemas.microsoft.com/office/drawing/2014/main" id="{605E87CF-DA82-45CC-85E3-8D77774995C0}"/>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l="30440" r="-1"/>
                <a:stretch/>
              </p:blipFill>
              <p:spPr>
                <a:xfrm>
                  <a:off x="5079206" y="3873291"/>
                  <a:ext cx="636059" cy="914400"/>
                </a:xfrm>
                <a:prstGeom prst="rect">
                  <a:avLst/>
                </a:prstGeom>
              </p:spPr>
            </p:pic>
            <p:sp>
              <p:nvSpPr>
                <p:cNvPr id="125" name="Rectangle : coins arrondis 124">
                  <a:extLst>
                    <a:ext uri="{FF2B5EF4-FFF2-40B4-BE49-F238E27FC236}">
                      <a16:creationId xmlns:a16="http://schemas.microsoft.com/office/drawing/2014/main" id="{46210E44-FE28-4C3D-AF63-9B80CFB9CE9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22" name="Graphique 121" descr="Balance de la justice avec un remplissage uni">
                <a:extLst>
                  <a:ext uri="{FF2B5EF4-FFF2-40B4-BE49-F238E27FC236}">
                    <a16:creationId xmlns:a16="http://schemas.microsoft.com/office/drawing/2014/main" id="{FDFCE680-DC68-4986-979E-CAA810CDE38E}"/>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5374349" y="3867945"/>
                <a:ext cx="351595" cy="351595"/>
              </a:xfrm>
              <a:prstGeom prst="rect">
                <a:avLst/>
              </a:prstGeom>
            </p:spPr>
          </p:pic>
          <p:pic>
            <p:nvPicPr>
              <p:cNvPr id="123" name="Image 122">
                <a:extLst>
                  <a:ext uri="{FF2B5EF4-FFF2-40B4-BE49-F238E27FC236}">
                    <a16:creationId xmlns:a16="http://schemas.microsoft.com/office/drawing/2014/main" id="{7B3352C8-E674-41E7-BE44-248C54BED31E}"/>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18" name="Graphique 117" descr="Balance de la justice avec un remplissage uni">
              <a:extLst>
                <a:ext uri="{FF2B5EF4-FFF2-40B4-BE49-F238E27FC236}">
                  <a16:creationId xmlns:a16="http://schemas.microsoft.com/office/drawing/2014/main" id="{4C3F1C56-ACD7-41DC-B39C-F4744653D214}"/>
                </a:ext>
              </a:extLst>
            </p:cNvPr>
            <p:cNvPicPr>
              <a:picLocks noChangeAspect="1"/>
            </p:cNvPicPr>
            <p:nvPr/>
          </p:nvPicPr>
          <p:blipFill rotWithShape="1">
            <a:blip r:embed="rId49">
              <a:extLst>
                <a:ext uri="{28A0092B-C50C-407E-A947-70E740481C1C}">
                  <a14:useLocalDpi xmlns:a14="http://schemas.microsoft.com/office/drawing/2010/main" val="0"/>
                </a:ext>
                <a:ext uri="{96DAC541-7B7A-43D3-8B79-37D633B846F1}">
                  <asvg:svgBlip xmlns:asvg="http://schemas.microsoft.com/office/drawing/2016/SVG/main" r:embed="rId50"/>
                </a:ext>
              </a:extLst>
            </a:blip>
            <a:srcRect l="7711" t="16230" r="55712" b="32471"/>
            <a:stretch/>
          </p:blipFill>
          <p:spPr>
            <a:xfrm flipH="1">
              <a:off x="4955380" y="3895743"/>
              <a:ext cx="124289" cy="180364"/>
            </a:xfrm>
            <a:prstGeom prst="rect">
              <a:avLst/>
            </a:prstGeom>
          </p:spPr>
        </p:pic>
        <p:pic>
          <p:nvPicPr>
            <p:cNvPr id="119" name="Graphique 118" descr="Balance de la justice avec un remplissage uni">
              <a:extLst>
                <a:ext uri="{FF2B5EF4-FFF2-40B4-BE49-F238E27FC236}">
                  <a16:creationId xmlns:a16="http://schemas.microsoft.com/office/drawing/2014/main" id="{C7F3A6F1-090D-4586-AC75-1E70FB4819C5}"/>
                </a:ext>
              </a:extLst>
            </p:cNvPr>
            <p:cNvPicPr>
              <a:picLocks noChangeAspect="1"/>
            </p:cNvPicPr>
            <p:nvPr/>
          </p:nvPicPr>
          <p:blipFill rotWithShape="1">
            <a:blip r:embed="rId51">
              <a:extLst>
                <a:ext uri="{28A0092B-C50C-407E-A947-70E740481C1C}">
                  <a14:useLocalDpi xmlns:a14="http://schemas.microsoft.com/office/drawing/2010/main" val="0"/>
                </a:ext>
                <a:ext uri="{96DAC541-7B7A-43D3-8B79-37D633B846F1}">
                  <asvg:svgBlip xmlns:asvg="http://schemas.microsoft.com/office/drawing/2016/SVG/main" r:embed="rId52"/>
                </a:ext>
              </a:extLst>
            </a:blip>
            <a:srcRect l="58383" t="16186" b="30375"/>
            <a:stretch/>
          </p:blipFill>
          <p:spPr>
            <a:xfrm flipH="1">
              <a:off x="4763560" y="3895742"/>
              <a:ext cx="141416" cy="187889"/>
            </a:xfrm>
            <a:prstGeom prst="rect">
              <a:avLst/>
            </a:prstGeom>
          </p:spPr>
        </p:pic>
      </p:grpSp>
      <p:grpSp>
        <p:nvGrpSpPr>
          <p:cNvPr id="99" name="Groupe 98">
            <a:extLst>
              <a:ext uri="{FF2B5EF4-FFF2-40B4-BE49-F238E27FC236}">
                <a16:creationId xmlns:a16="http://schemas.microsoft.com/office/drawing/2014/main" id="{7C76DB40-854A-49E2-B78C-6335ABB46AE0}"/>
              </a:ext>
            </a:extLst>
          </p:cNvPr>
          <p:cNvGrpSpPr/>
          <p:nvPr/>
        </p:nvGrpSpPr>
        <p:grpSpPr>
          <a:xfrm>
            <a:off x="8815470" y="3739052"/>
            <a:ext cx="982042" cy="1063416"/>
            <a:chOff x="7560150" y="2879049"/>
            <a:chExt cx="982042" cy="1063416"/>
          </a:xfrm>
          <a:solidFill>
            <a:srgbClr val="ED7D31"/>
          </a:solidFill>
        </p:grpSpPr>
        <p:grpSp>
          <p:nvGrpSpPr>
            <p:cNvPr id="100" name="Groupe 99">
              <a:extLst>
                <a:ext uri="{FF2B5EF4-FFF2-40B4-BE49-F238E27FC236}">
                  <a16:creationId xmlns:a16="http://schemas.microsoft.com/office/drawing/2014/main" id="{E4949DCA-092D-4363-9285-767EE5F8435C}"/>
                </a:ext>
              </a:extLst>
            </p:cNvPr>
            <p:cNvGrpSpPr/>
            <p:nvPr/>
          </p:nvGrpSpPr>
          <p:grpSpPr>
            <a:xfrm>
              <a:off x="7798849" y="2879049"/>
              <a:ext cx="743343" cy="1063416"/>
              <a:chOff x="6391015" y="3260296"/>
              <a:chExt cx="743343" cy="1063416"/>
            </a:xfrm>
            <a:grpFill/>
          </p:grpSpPr>
          <p:grpSp>
            <p:nvGrpSpPr>
              <p:cNvPr id="102" name="Groupe 101">
                <a:extLst>
                  <a:ext uri="{FF2B5EF4-FFF2-40B4-BE49-F238E27FC236}">
                    <a16:creationId xmlns:a16="http://schemas.microsoft.com/office/drawing/2014/main" id="{24E667AE-E906-41A5-B1C5-4D1A912ABFE3}"/>
                  </a:ext>
                </a:extLst>
              </p:cNvPr>
              <p:cNvGrpSpPr/>
              <p:nvPr/>
            </p:nvGrpSpPr>
            <p:grpSpPr>
              <a:xfrm>
                <a:off x="6391015" y="3260296"/>
                <a:ext cx="743343" cy="1063416"/>
                <a:chOff x="6298348" y="3168316"/>
                <a:chExt cx="867130" cy="1240504"/>
              </a:xfrm>
              <a:grpFill/>
            </p:grpSpPr>
            <p:pic>
              <p:nvPicPr>
                <p:cNvPr id="104" name="Graphique 103" descr="Enseignant avec un remplissage uni">
                  <a:extLst>
                    <a:ext uri="{FF2B5EF4-FFF2-40B4-BE49-F238E27FC236}">
                      <a16:creationId xmlns:a16="http://schemas.microsoft.com/office/drawing/2014/main" id="{34FD9EBE-4312-4EBE-9D09-BC06982BEE16}"/>
                    </a:ext>
                  </a:extLst>
                </p:cNvPr>
                <p:cNvPicPr>
                  <a:picLocks noChangeAspect="1"/>
                </p:cNvPicPr>
                <p:nvPr/>
              </p:nvPicPr>
              <p:blipFill>
                <a:blip r:embed="rId53">
                  <a:extLst>
                    <a:ext uri="{28A0092B-C50C-407E-A947-70E740481C1C}">
                      <a14:useLocalDpi xmlns:a14="http://schemas.microsoft.com/office/drawing/2010/main" val="0"/>
                    </a:ext>
                    <a:ext uri="{96DAC541-7B7A-43D3-8B79-37D633B846F1}">
                      <asvg:svgBlip xmlns:asvg="http://schemas.microsoft.com/office/drawing/2016/SVG/main" r:embed="rId54"/>
                    </a:ext>
                  </a:extLst>
                </a:blip>
                <a:stretch>
                  <a:fillRect/>
                </a:stretch>
              </p:blipFill>
              <p:spPr>
                <a:xfrm>
                  <a:off x="6298348" y="3168316"/>
                  <a:ext cx="867130" cy="867130"/>
                </a:xfrm>
                <a:prstGeom prst="rect">
                  <a:avLst/>
                </a:prstGeom>
              </p:spPr>
            </p:pic>
            <p:pic>
              <p:nvPicPr>
                <p:cNvPr id="105" name="Graphique 104" descr="Personne confuse avec un remplissage uni">
                  <a:extLst>
                    <a:ext uri="{FF2B5EF4-FFF2-40B4-BE49-F238E27FC236}">
                      <a16:creationId xmlns:a16="http://schemas.microsoft.com/office/drawing/2014/main" id="{6D3BC8B7-B0ED-486E-8442-2CD92799A6DA}"/>
                    </a:ext>
                  </a:extLst>
                </p:cNvPr>
                <p:cNvPicPr>
                  <a:picLocks noChangeAspect="1"/>
                </p:cNvPicPr>
                <p:nvPr/>
              </p:nvPicPr>
              <p:blipFill rotWithShape="1">
                <a:blip r:embed="rId36">
                  <a:extLst>
                    <a:ext uri="{28A0092B-C50C-407E-A947-70E740481C1C}">
                      <a14:useLocalDpi xmlns:a14="http://schemas.microsoft.com/office/drawing/2010/main" val="0"/>
                    </a:ext>
                    <a:ext uri="{96DAC541-7B7A-43D3-8B79-37D633B846F1}">
                      <asvg:svgBlip xmlns:asvg="http://schemas.microsoft.com/office/drawing/2016/SVG/main" r:embed="rId55"/>
                    </a:ext>
                  </a:extLst>
                </a:blip>
                <a:srcRect l="34664" t="32545" r="38513" b="-1"/>
                <a:stretch/>
              </p:blipFill>
              <p:spPr>
                <a:xfrm>
                  <a:off x="6367463" y="3792004"/>
                  <a:ext cx="245268" cy="616816"/>
                </a:xfrm>
                <a:prstGeom prst="rect">
                  <a:avLst/>
                </a:prstGeom>
              </p:spPr>
            </p:pic>
            <p:sp>
              <p:nvSpPr>
                <p:cNvPr id="106" name="Rectangle : coins arrondis 105">
                  <a:extLst>
                    <a:ext uri="{FF2B5EF4-FFF2-40B4-BE49-F238E27FC236}">
                      <a16:creationId xmlns:a16="http://schemas.microsoft.com/office/drawing/2014/main" id="{666DCA6B-83F4-4D9C-B532-A7B0DA7CD95A}"/>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03" name="Image 102">
                <a:extLst>
                  <a:ext uri="{FF2B5EF4-FFF2-40B4-BE49-F238E27FC236}">
                    <a16:creationId xmlns:a16="http://schemas.microsoft.com/office/drawing/2014/main" id="{CBE794E1-9F6E-4BFC-87BB-AEF2A1F38261}"/>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01" name="Graphique 100" descr="Presse-papiers mixte avec un remplissage uni">
              <a:extLst>
                <a:ext uri="{FF2B5EF4-FFF2-40B4-BE49-F238E27FC236}">
                  <a16:creationId xmlns:a16="http://schemas.microsoft.com/office/drawing/2014/main" id="{D9BB12EC-70FA-4014-B71F-D8F49AB11C1C}"/>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56"/>
                </a:ext>
              </a:extLst>
            </a:blip>
            <a:stretch>
              <a:fillRect/>
            </a:stretch>
          </p:blipFill>
          <p:spPr>
            <a:xfrm rot="20207580">
              <a:off x="7560150" y="3329802"/>
              <a:ext cx="314429" cy="314429"/>
            </a:xfrm>
            <a:prstGeom prst="rect">
              <a:avLst/>
            </a:prstGeom>
          </p:spPr>
        </p:pic>
      </p:grpSp>
    </p:spTree>
    <p:extLst>
      <p:ext uri="{BB962C8B-B14F-4D97-AF65-F5344CB8AC3E}">
        <p14:creationId xmlns:p14="http://schemas.microsoft.com/office/powerpoint/2010/main" val="283015041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Flèche : double flèche horizontale 139">
            <a:extLst>
              <a:ext uri="{FF2B5EF4-FFF2-40B4-BE49-F238E27FC236}">
                <a16:creationId xmlns:a16="http://schemas.microsoft.com/office/drawing/2014/main" id="{934E4C22-0A88-48C8-AB4A-ABF61E77CECE}"/>
              </a:ext>
            </a:extLst>
          </p:cNvPr>
          <p:cNvSpPr/>
          <p:nvPr/>
        </p:nvSpPr>
        <p:spPr>
          <a:xfrm>
            <a:off x="368468" y="3659199"/>
            <a:ext cx="11332131" cy="349015"/>
          </a:xfrm>
          <a:prstGeom prst="leftRightArrow">
            <a:avLst/>
          </a:prstGeom>
          <a:solidFill>
            <a:schemeClr val="bg1">
              <a:lumMod val="85000"/>
            </a:schemeClr>
          </a:solidFill>
          <a:ln>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solidFill>
                  <a:schemeClr val="tx1"/>
                </a:solidFill>
              </a:rPr>
              <a:t>Community Booster</a:t>
            </a:r>
          </a:p>
        </p:txBody>
      </p:sp>
      <p:sp>
        <p:nvSpPr>
          <p:cNvPr id="139" name="Flèche : double flèche horizontale 138">
            <a:extLst>
              <a:ext uri="{FF2B5EF4-FFF2-40B4-BE49-F238E27FC236}">
                <a16:creationId xmlns:a16="http://schemas.microsoft.com/office/drawing/2014/main" id="{8B43C15B-0A4C-42FE-8656-F6F292B5ED08}"/>
              </a:ext>
            </a:extLst>
          </p:cNvPr>
          <p:cNvSpPr/>
          <p:nvPr/>
        </p:nvSpPr>
        <p:spPr>
          <a:xfrm>
            <a:off x="3536437" y="4091376"/>
            <a:ext cx="5020792" cy="349015"/>
          </a:xfrm>
          <a:prstGeom prst="leftRightArrow">
            <a:avLst/>
          </a:prstGeom>
          <a:solidFill>
            <a:schemeClr val="bg1">
              <a:lumMod val="85000"/>
            </a:schemeClr>
          </a:solidFill>
          <a:ln>
            <a:solidFill>
              <a:srgbClr val="0683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solidFill>
                  <a:schemeClr val="tx1"/>
                </a:solidFill>
              </a:rPr>
              <a:t>Créateur</a:t>
            </a:r>
          </a:p>
        </p:txBody>
      </p:sp>
      <p:sp>
        <p:nvSpPr>
          <p:cNvPr id="138" name="Flèche : double flèche horizontale 137">
            <a:extLst>
              <a:ext uri="{FF2B5EF4-FFF2-40B4-BE49-F238E27FC236}">
                <a16:creationId xmlns:a16="http://schemas.microsoft.com/office/drawing/2014/main" id="{8C012456-2259-4281-8A89-0DB40BA4C451}"/>
              </a:ext>
            </a:extLst>
          </p:cNvPr>
          <p:cNvSpPr/>
          <p:nvPr/>
        </p:nvSpPr>
        <p:spPr>
          <a:xfrm>
            <a:off x="368468" y="4517823"/>
            <a:ext cx="6451114" cy="349015"/>
          </a:xfrm>
          <a:prstGeom prst="leftRightArrow">
            <a:avLst/>
          </a:prstGeom>
          <a:solidFill>
            <a:schemeClr val="bg1">
              <a:lumMod val="85000"/>
            </a:schemeClr>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solidFill>
                  <a:schemeClr val="tx1"/>
                </a:solidFill>
              </a:rPr>
              <a:t>Animateur</a:t>
            </a:r>
          </a:p>
        </p:txBody>
      </p:sp>
      <p:sp>
        <p:nvSpPr>
          <p:cNvPr id="135" name="Flèche : double flèche horizontale 134">
            <a:extLst>
              <a:ext uri="{FF2B5EF4-FFF2-40B4-BE49-F238E27FC236}">
                <a16:creationId xmlns:a16="http://schemas.microsoft.com/office/drawing/2014/main" id="{D06CE95D-93E1-4751-9C81-C2947B9A2E74}"/>
              </a:ext>
            </a:extLst>
          </p:cNvPr>
          <p:cNvSpPr/>
          <p:nvPr/>
        </p:nvSpPr>
        <p:spPr>
          <a:xfrm>
            <a:off x="1814587" y="4850298"/>
            <a:ext cx="3320165" cy="351595"/>
          </a:xfrm>
          <a:prstGeom prst="leftRightArrow">
            <a:avLst/>
          </a:prstGeom>
          <a:solidFill>
            <a:schemeClr val="bg1">
              <a:lumMod val="85000"/>
            </a:schemeClr>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solidFill>
                  <a:schemeClr val="tx1"/>
                </a:solidFill>
              </a:rPr>
              <a:t>Co-animateur</a:t>
            </a:r>
          </a:p>
        </p:txBody>
      </p:sp>
      <p:sp>
        <p:nvSpPr>
          <p:cNvPr id="3" name="Flèche : double flèche horizontale 2">
            <a:extLst>
              <a:ext uri="{FF2B5EF4-FFF2-40B4-BE49-F238E27FC236}">
                <a16:creationId xmlns:a16="http://schemas.microsoft.com/office/drawing/2014/main" id="{6BDD9246-4D44-4CF6-897A-0C30BE54CCB8}"/>
              </a:ext>
            </a:extLst>
          </p:cNvPr>
          <p:cNvSpPr/>
          <p:nvPr/>
        </p:nvSpPr>
        <p:spPr>
          <a:xfrm>
            <a:off x="368468" y="5483779"/>
            <a:ext cx="2928553" cy="277854"/>
          </a:xfrm>
          <a:prstGeom prst="leftRightArrow">
            <a:avLst/>
          </a:prstGeom>
          <a:solidFill>
            <a:schemeClr val="bg1">
              <a:lumMod val="85000"/>
            </a:schemeClr>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solidFill>
                  <a:schemeClr val="tx1"/>
                </a:solidFill>
              </a:rPr>
              <a:t>Eclaireur</a:t>
            </a:r>
          </a:p>
        </p:txBody>
      </p:sp>
      <p:grpSp>
        <p:nvGrpSpPr>
          <p:cNvPr id="11" name="Groupe 10">
            <a:extLst>
              <a:ext uri="{FF2B5EF4-FFF2-40B4-BE49-F238E27FC236}">
                <a16:creationId xmlns:a16="http://schemas.microsoft.com/office/drawing/2014/main" id="{C49A48C6-402B-4648-B201-CBA371111691}"/>
              </a:ext>
            </a:extLst>
          </p:cNvPr>
          <p:cNvGrpSpPr/>
          <p:nvPr/>
        </p:nvGrpSpPr>
        <p:grpSpPr>
          <a:xfrm>
            <a:off x="76940" y="2480410"/>
            <a:ext cx="12038120" cy="495587"/>
            <a:chOff x="0" y="2140394"/>
            <a:chExt cx="12854128" cy="4544491"/>
          </a:xfrm>
        </p:grpSpPr>
        <p:sp>
          <p:nvSpPr>
            <p:cNvPr id="4" name="Espace réservé du texte 15">
              <a:extLst>
                <a:ext uri="{FF2B5EF4-FFF2-40B4-BE49-F238E27FC236}">
                  <a16:creationId xmlns:a16="http://schemas.microsoft.com/office/drawing/2014/main" id="{C89304FF-F465-430F-AB9B-3E83F3221D55}"/>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5" name="Espace réservé du texte 15">
              <a:extLst>
                <a:ext uri="{FF2B5EF4-FFF2-40B4-BE49-F238E27FC236}">
                  <a16:creationId xmlns:a16="http://schemas.microsoft.com/office/drawing/2014/main" id="{23E86B51-FA39-4CBD-AD4C-8049BC1B2F2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6" name="Espace réservé du texte 15">
              <a:extLst>
                <a:ext uri="{FF2B5EF4-FFF2-40B4-BE49-F238E27FC236}">
                  <a16:creationId xmlns:a16="http://schemas.microsoft.com/office/drawing/2014/main" id="{DCEA1CF7-5098-45F5-9E5A-1A665AE76AA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7" name="Espace réservé du texte 15">
              <a:extLst>
                <a:ext uri="{FF2B5EF4-FFF2-40B4-BE49-F238E27FC236}">
                  <a16:creationId xmlns:a16="http://schemas.microsoft.com/office/drawing/2014/main" id="{5F1F4080-42EC-4FC1-83FE-4D07E5D89749}"/>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8" name="Espace réservé du texte 15">
              <a:extLst>
                <a:ext uri="{FF2B5EF4-FFF2-40B4-BE49-F238E27FC236}">
                  <a16:creationId xmlns:a16="http://schemas.microsoft.com/office/drawing/2014/main" id="{E57CB1DC-1737-4DED-8CD1-015F73A9E762}"/>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9" name="Espace réservé du texte 15">
              <a:extLst>
                <a:ext uri="{FF2B5EF4-FFF2-40B4-BE49-F238E27FC236}">
                  <a16:creationId xmlns:a16="http://schemas.microsoft.com/office/drawing/2014/main" id="{29FC12E0-DC63-458D-84A8-5F7598EFD3A6}"/>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10" name="Espace réservé du texte 15">
              <a:extLst>
                <a:ext uri="{FF2B5EF4-FFF2-40B4-BE49-F238E27FC236}">
                  <a16:creationId xmlns:a16="http://schemas.microsoft.com/office/drawing/2014/main" id="{930D1EF3-800C-4412-94CD-8A6C1D2C9DCE}"/>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13" name="Graphique 12" descr="Ampoule avec un remplissage uni">
            <a:extLst>
              <a:ext uri="{FF2B5EF4-FFF2-40B4-BE49-F238E27FC236}">
                <a16:creationId xmlns:a16="http://schemas.microsoft.com/office/drawing/2014/main" id="{D48B3737-D703-4918-8DD1-8221557E6A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1477232"/>
            <a:ext cx="914400" cy="914400"/>
          </a:xfrm>
          <a:prstGeom prst="rect">
            <a:avLst/>
          </a:prstGeom>
        </p:spPr>
      </p:pic>
      <p:pic>
        <p:nvPicPr>
          <p:cNvPr id="15" name="Graphique 14" descr="Seau et pelle avec un remplissage uni">
            <a:extLst>
              <a:ext uri="{FF2B5EF4-FFF2-40B4-BE49-F238E27FC236}">
                <a16:creationId xmlns:a16="http://schemas.microsoft.com/office/drawing/2014/main" id="{46829467-21FA-4B4E-BE9A-EAB8FA3E7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63855" y="1477232"/>
            <a:ext cx="914400" cy="914400"/>
          </a:xfrm>
          <a:prstGeom prst="rect">
            <a:avLst/>
          </a:prstGeom>
        </p:spPr>
      </p:pic>
      <p:pic>
        <p:nvPicPr>
          <p:cNvPr id="17" name="Graphique 16" descr="Tubes à essai avec un remplissage uni">
            <a:extLst>
              <a:ext uri="{FF2B5EF4-FFF2-40B4-BE49-F238E27FC236}">
                <a16:creationId xmlns:a16="http://schemas.microsoft.com/office/drawing/2014/main" id="{1F9FDC87-CE72-456E-B0B7-5FDFF30853D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98543" y="1477232"/>
            <a:ext cx="914400" cy="914400"/>
          </a:xfrm>
          <a:prstGeom prst="rect">
            <a:avLst/>
          </a:prstGeom>
        </p:spPr>
      </p:pic>
      <p:pic>
        <p:nvPicPr>
          <p:cNvPr id="19" name="Graphique 18" descr="Explosion avec un remplissage uni">
            <a:extLst>
              <a:ext uri="{FF2B5EF4-FFF2-40B4-BE49-F238E27FC236}">
                <a16:creationId xmlns:a16="http://schemas.microsoft.com/office/drawing/2014/main" id="{07D3CFFC-A08F-48DF-92E1-298FC228961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477232"/>
            <a:ext cx="914400" cy="914400"/>
          </a:xfrm>
          <a:prstGeom prst="rect">
            <a:avLst/>
          </a:prstGeom>
        </p:spPr>
      </p:pic>
      <p:pic>
        <p:nvPicPr>
          <p:cNvPr id="21" name="Graphique 20" descr="Trophée avec un remplissage uni">
            <a:extLst>
              <a:ext uri="{FF2B5EF4-FFF2-40B4-BE49-F238E27FC236}">
                <a16:creationId xmlns:a16="http://schemas.microsoft.com/office/drawing/2014/main" id="{6AB28851-209C-4763-9114-2EBE084DA8F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79057" y="1477232"/>
            <a:ext cx="914400" cy="914400"/>
          </a:xfrm>
          <a:prstGeom prst="rect">
            <a:avLst/>
          </a:prstGeom>
        </p:spPr>
      </p:pic>
      <p:pic>
        <p:nvPicPr>
          <p:cNvPr id="23" name="Graphique 22" descr="Assiette couverte avec un remplissage uni">
            <a:extLst>
              <a:ext uri="{FF2B5EF4-FFF2-40B4-BE49-F238E27FC236}">
                <a16:creationId xmlns:a16="http://schemas.microsoft.com/office/drawing/2014/main" id="{8DA0FBC4-2DE3-44A1-8FCC-F02BB199D64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13745" y="1477232"/>
            <a:ext cx="914400" cy="914400"/>
          </a:xfrm>
          <a:prstGeom prst="rect">
            <a:avLst/>
          </a:prstGeom>
        </p:spPr>
      </p:pic>
      <p:pic>
        <p:nvPicPr>
          <p:cNvPr id="25" name="Graphique 24" descr="Scène de château avec un remplissage uni">
            <a:extLst>
              <a:ext uri="{FF2B5EF4-FFF2-40B4-BE49-F238E27FC236}">
                <a16:creationId xmlns:a16="http://schemas.microsoft.com/office/drawing/2014/main" id="{42BAF03C-9B45-4E5C-B521-13100631396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848433" y="1477232"/>
            <a:ext cx="914400" cy="914400"/>
          </a:xfrm>
          <a:prstGeom prst="rect">
            <a:avLst/>
          </a:prstGeom>
        </p:spPr>
      </p:pic>
      <p:grpSp>
        <p:nvGrpSpPr>
          <p:cNvPr id="20" name="Groupe 19">
            <a:extLst>
              <a:ext uri="{FF2B5EF4-FFF2-40B4-BE49-F238E27FC236}">
                <a16:creationId xmlns:a16="http://schemas.microsoft.com/office/drawing/2014/main" id="{A914E336-A3C4-486A-A697-DC24DC5762A7}"/>
              </a:ext>
            </a:extLst>
          </p:cNvPr>
          <p:cNvGrpSpPr/>
          <p:nvPr/>
        </p:nvGrpSpPr>
        <p:grpSpPr>
          <a:xfrm>
            <a:off x="227860" y="3029944"/>
            <a:ext cx="11887200" cy="399056"/>
            <a:chOff x="0" y="2140394"/>
            <a:chExt cx="12854128" cy="4544491"/>
          </a:xfrm>
          <a:solidFill>
            <a:srgbClr val="ED7D31"/>
          </a:solidFill>
        </p:grpSpPr>
        <p:sp>
          <p:nvSpPr>
            <p:cNvPr id="22" name="Espace réservé du texte 15">
              <a:extLst>
                <a:ext uri="{FF2B5EF4-FFF2-40B4-BE49-F238E27FC236}">
                  <a16:creationId xmlns:a16="http://schemas.microsoft.com/office/drawing/2014/main" id="{A5D64196-86DF-4215-A8F0-03A9E88C26E8}"/>
                </a:ext>
              </a:extLst>
            </p:cNvPr>
            <p:cNvSpPr txBox="1">
              <a:spLocks/>
            </p:cNvSpPr>
            <p:nvPr/>
          </p:nvSpPr>
          <p:spPr>
            <a:xfrm>
              <a:off x="0"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ENVIE</a:t>
              </a:r>
            </a:p>
          </p:txBody>
        </p:sp>
        <p:sp>
          <p:nvSpPr>
            <p:cNvPr id="24" name="Espace réservé du texte 15">
              <a:extLst>
                <a:ext uri="{FF2B5EF4-FFF2-40B4-BE49-F238E27FC236}">
                  <a16:creationId xmlns:a16="http://schemas.microsoft.com/office/drawing/2014/main" id="{D1105A2F-1363-497A-8091-FE91192A674B}"/>
                </a:ext>
              </a:extLst>
            </p:cNvPr>
            <p:cNvSpPr txBox="1">
              <a:spLocks/>
            </p:cNvSpPr>
            <p:nvPr/>
          </p:nvSpPr>
          <p:spPr>
            <a:xfrm>
              <a:off x="1855434" y="2140396"/>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IMPLICATION</a:t>
              </a:r>
            </a:p>
          </p:txBody>
        </p:sp>
        <p:sp>
          <p:nvSpPr>
            <p:cNvPr id="26" name="Espace réservé du texte 15">
              <a:extLst>
                <a:ext uri="{FF2B5EF4-FFF2-40B4-BE49-F238E27FC236}">
                  <a16:creationId xmlns:a16="http://schemas.microsoft.com/office/drawing/2014/main" id="{A6B1BCC0-AE67-4956-9A0B-E7D2A8C1362C}"/>
                </a:ext>
              </a:extLst>
            </p:cNvPr>
            <p:cNvSpPr txBox="1">
              <a:spLocks/>
            </p:cNvSpPr>
            <p:nvPr/>
          </p:nvSpPr>
          <p:spPr>
            <a:xfrm>
              <a:off x="3689003" y="2140394"/>
              <a:ext cx="1744135" cy="4544491"/>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EXPÉRIMENTATIONS</a:t>
              </a:r>
            </a:p>
          </p:txBody>
        </p:sp>
        <p:sp>
          <p:nvSpPr>
            <p:cNvPr id="27" name="Espace réservé du texte 15">
              <a:extLst>
                <a:ext uri="{FF2B5EF4-FFF2-40B4-BE49-F238E27FC236}">
                  <a16:creationId xmlns:a16="http://schemas.microsoft.com/office/drawing/2014/main" id="{1F0BF35A-30EA-4B41-A4BB-88CBB8E1588E}"/>
                </a:ext>
              </a:extLst>
            </p:cNvPr>
            <p:cNvSpPr txBox="1">
              <a:spLocks/>
            </p:cNvSpPr>
            <p:nvPr/>
          </p:nvSpPr>
          <p:spPr>
            <a:xfrm>
              <a:off x="5566302" y="2140395"/>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MOYENS DE RESILIENCE</a:t>
              </a:r>
            </a:p>
          </p:txBody>
        </p:sp>
        <p:sp>
          <p:nvSpPr>
            <p:cNvPr id="28" name="Espace réservé du texte 15">
              <a:extLst>
                <a:ext uri="{FF2B5EF4-FFF2-40B4-BE49-F238E27FC236}">
                  <a16:creationId xmlns:a16="http://schemas.microsoft.com/office/drawing/2014/main" id="{B2AA03C5-0F19-4A23-A50B-66B67F633572}"/>
                </a:ext>
              </a:extLst>
            </p:cNvPr>
            <p:cNvSpPr txBox="1">
              <a:spLocks/>
            </p:cNvSpPr>
            <p:nvPr/>
          </p:nvSpPr>
          <p:spPr>
            <a:xfrm>
              <a:off x="7421736"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OPTIMISATION</a:t>
              </a:r>
            </a:p>
          </p:txBody>
        </p:sp>
        <p:sp>
          <p:nvSpPr>
            <p:cNvPr id="29" name="Espace réservé du texte 15">
              <a:extLst>
                <a:ext uri="{FF2B5EF4-FFF2-40B4-BE49-F238E27FC236}">
                  <a16:creationId xmlns:a16="http://schemas.microsoft.com/office/drawing/2014/main" id="{4D6E42A1-A3DA-4C82-865A-0C24592CC248}"/>
                </a:ext>
              </a:extLst>
            </p:cNvPr>
            <p:cNvSpPr txBox="1">
              <a:spLocks/>
            </p:cNvSpPr>
            <p:nvPr/>
          </p:nvSpPr>
          <p:spPr>
            <a:xfrm>
              <a:off x="9277170"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SERVICES VERS L’EXTÉRIEUR</a:t>
              </a:r>
            </a:p>
          </p:txBody>
        </p:sp>
        <p:sp>
          <p:nvSpPr>
            <p:cNvPr id="30" name="Espace réservé du texte 15">
              <a:extLst>
                <a:ext uri="{FF2B5EF4-FFF2-40B4-BE49-F238E27FC236}">
                  <a16:creationId xmlns:a16="http://schemas.microsoft.com/office/drawing/2014/main" id="{ACAC137F-E763-4360-8D6F-DA03B0162A45}"/>
                </a:ext>
              </a:extLst>
            </p:cNvPr>
            <p:cNvSpPr txBox="1">
              <a:spLocks/>
            </p:cNvSpPr>
            <p:nvPr/>
          </p:nvSpPr>
          <p:spPr>
            <a:xfrm>
              <a:off x="11131859" y="2140394"/>
              <a:ext cx="1722269" cy="4544489"/>
            </a:xfrm>
            <a:prstGeom prst="chevron">
              <a:avLst/>
            </a:prstGeom>
            <a:grpFill/>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100" b="1" i="1"/>
                <a:t>OFFICIALISATION</a:t>
              </a:r>
            </a:p>
          </p:txBody>
        </p:sp>
      </p:grpSp>
      <p:pic>
        <p:nvPicPr>
          <p:cNvPr id="37" name="Image 36">
            <a:extLst>
              <a:ext uri="{FF2B5EF4-FFF2-40B4-BE49-F238E27FC236}">
                <a16:creationId xmlns:a16="http://schemas.microsoft.com/office/drawing/2014/main" id="{D6CD7271-24C1-4241-A872-1D93E1E3717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199004" y="6075156"/>
            <a:ext cx="680405" cy="656390"/>
          </a:xfrm>
          <a:prstGeom prst="rect">
            <a:avLst/>
          </a:prstGeom>
        </p:spPr>
      </p:pic>
      <p:sp>
        <p:nvSpPr>
          <p:cNvPr id="58" name="Espace réservé du texte 15">
            <a:extLst>
              <a:ext uri="{FF2B5EF4-FFF2-40B4-BE49-F238E27FC236}">
                <a16:creationId xmlns:a16="http://schemas.microsoft.com/office/drawing/2014/main" id="{EFF509E3-4E27-4F01-A2FC-3221630C0D7B}"/>
              </a:ext>
            </a:extLst>
          </p:cNvPr>
          <p:cNvSpPr txBox="1">
            <a:spLocks/>
          </p:cNvSpPr>
          <p:nvPr/>
        </p:nvSpPr>
        <p:spPr>
          <a:xfrm>
            <a:off x="-76940" y="47982"/>
            <a:ext cx="12192000" cy="11007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b="1" i="1" dirty="0"/>
              <a:t>Lien avec les rôles de la </a:t>
            </a:r>
            <a:r>
              <a:rPr lang="fr-FR" sz="3200" b="1" i="1" dirty="0">
                <a:solidFill>
                  <a:srgbClr val="0683AA"/>
                </a:solidFill>
              </a:rPr>
              <a:t>méthode</a:t>
            </a:r>
            <a:r>
              <a:rPr lang="fr-FR" sz="3200" b="1" i="1" dirty="0"/>
              <a:t> #OSC</a:t>
            </a:r>
            <a:endParaRPr lang="fr-FR" sz="3200" b="1" i="1" dirty="0">
              <a:solidFill>
                <a:srgbClr val="ED7D31"/>
              </a:solidFill>
            </a:endParaRPr>
          </a:p>
          <a:p>
            <a:pPr marL="0" indent="0" algn="ctr">
              <a:buFont typeface="Arial" panose="020B0604020202020204" pitchFamily="34" charset="0"/>
              <a:buNone/>
            </a:pPr>
            <a:r>
              <a:rPr lang="fr-FR" sz="2400" b="1" i="1" dirty="0">
                <a:solidFill>
                  <a:srgbClr val="ED7D31"/>
                </a:solidFill>
              </a:rPr>
              <a:t>Champ d’intervention </a:t>
            </a:r>
            <a:r>
              <a:rPr lang="fr-FR" sz="2400" b="1" i="1" dirty="0"/>
              <a:t>des membres par rôle</a:t>
            </a:r>
          </a:p>
        </p:txBody>
      </p:sp>
      <p:sp>
        <p:nvSpPr>
          <p:cNvPr id="44" name="Forme en L 43">
            <a:extLst>
              <a:ext uri="{FF2B5EF4-FFF2-40B4-BE49-F238E27FC236}">
                <a16:creationId xmlns:a16="http://schemas.microsoft.com/office/drawing/2014/main" id="{0446A202-4A6C-44DE-A767-D939E37F43E6}"/>
              </a:ext>
            </a:extLst>
          </p:cNvPr>
          <p:cNvSpPr/>
          <p:nvPr/>
        </p:nvSpPr>
        <p:spPr>
          <a:xfrm rot="5400000">
            <a:off x="2373625" y="5763443"/>
            <a:ext cx="800128" cy="1331395"/>
          </a:xfrm>
          <a:prstGeom prst="corner">
            <a:avLst>
              <a:gd name="adj1" fmla="val 16120"/>
              <a:gd name="adj2" fmla="val 1611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46" name="Forme libre : forme 45">
            <a:extLst>
              <a:ext uri="{FF2B5EF4-FFF2-40B4-BE49-F238E27FC236}">
                <a16:creationId xmlns:a16="http://schemas.microsoft.com/office/drawing/2014/main" id="{0B1EA4A7-1853-49E6-9F8F-81CE1F2A1AB5}"/>
              </a:ext>
            </a:extLst>
          </p:cNvPr>
          <p:cNvSpPr/>
          <p:nvPr/>
        </p:nvSpPr>
        <p:spPr>
          <a:xfrm>
            <a:off x="2268877" y="6203057"/>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3 ECLAIREUR(-SE) :</a:t>
            </a:r>
            <a:r>
              <a:rPr lang="fr-FR" sz="1100" kern="1200"/>
              <a:t> Je promeus,</a:t>
            </a:r>
          </a:p>
        </p:txBody>
      </p:sp>
      <p:sp>
        <p:nvSpPr>
          <p:cNvPr id="126" name="Triangle isocèle 125">
            <a:extLst>
              <a:ext uri="{FF2B5EF4-FFF2-40B4-BE49-F238E27FC236}">
                <a16:creationId xmlns:a16="http://schemas.microsoft.com/office/drawing/2014/main" id="{A1F0FE07-BAA2-4323-8353-58D2C1842023}"/>
              </a:ext>
            </a:extLst>
          </p:cNvPr>
          <p:cNvSpPr/>
          <p:nvPr/>
        </p:nvSpPr>
        <p:spPr>
          <a:xfrm>
            <a:off x="3198692" y="5771047"/>
            <a:ext cx="226790" cy="226790"/>
          </a:xfrm>
          <a:prstGeom prst="triangle">
            <a:avLst>
              <a:gd name="adj" fmla="val 10000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27" name="Forme en L 126">
            <a:extLst>
              <a:ext uri="{FF2B5EF4-FFF2-40B4-BE49-F238E27FC236}">
                <a16:creationId xmlns:a16="http://schemas.microsoft.com/office/drawing/2014/main" id="{C12800D8-594A-4179-B95D-3863F83A5A4A}"/>
              </a:ext>
            </a:extLst>
          </p:cNvPr>
          <p:cNvSpPr/>
          <p:nvPr/>
        </p:nvSpPr>
        <p:spPr>
          <a:xfrm rot="5400000">
            <a:off x="4152522" y="5372521"/>
            <a:ext cx="800128" cy="1331395"/>
          </a:xfrm>
          <a:prstGeom prst="corner">
            <a:avLst>
              <a:gd name="adj1" fmla="val 16120"/>
              <a:gd name="adj2" fmla="val 16110"/>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28" name="Forme libre : forme 127">
            <a:extLst>
              <a:ext uri="{FF2B5EF4-FFF2-40B4-BE49-F238E27FC236}">
                <a16:creationId xmlns:a16="http://schemas.microsoft.com/office/drawing/2014/main" id="{40D5AB67-9F87-49DB-8D29-5ED6B9CF23DC}"/>
              </a:ext>
            </a:extLst>
          </p:cNvPr>
          <p:cNvSpPr/>
          <p:nvPr/>
        </p:nvSpPr>
        <p:spPr>
          <a:xfrm>
            <a:off x="4018961" y="5770321"/>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4 CO-ANIMATEUR(-TRICE) :</a:t>
            </a:r>
            <a:r>
              <a:rPr lang="fr-FR" sz="1100" kern="1200"/>
              <a:t> Je fais expérimenter</a:t>
            </a:r>
          </a:p>
        </p:txBody>
      </p:sp>
      <p:sp>
        <p:nvSpPr>
          <p:cNvPr id="130" name="Forme en L 129">
            <a:extLst>
              <a:ext uri="{FF2B5EF4-FFF2-40B4-BE49-F238E27FC236}">
                <a16:creationId xmlns:a16="http://schemas.microsoft.com/office/drawing/2014/main" id="{01A55F55-E534-4FCE-B502-08A6CD05E29F}"/>
              </a:ext>
            </a:extLst>
          </p:cNvPr>
          <p:cNvSpPr/>
          <p:nvPr/>
        </p:nvSpPr>
        <p:spPr>
          <a:xfrm rot="5400000">
            <a:off x="5676707" y="4900549"/>
            <a:ext cx="800128" cy="1331395"/>
          </a:xfrm>
          <a:prstGeom prst="corner">
            <a:avLst>
              <a:gd name="adj1" fmla="val 16120"/>
              <a:gd name="adj2" fmla="val 16110"/>
            </a:avLst>
          </a:prstGeom>
          <a:solidFill>
            <a:srgbClr val="ED7D31"/>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sp>
      <p:sp>
        <p:nvSpPr>
          <p:cNvPr id="131" name="Forme libre : forme 130">
            <a:extLst>
              <a:ext uri="{FF2B5EF4-FFF2-40B4-BE49-F238E27FC236}">
                <a16:creationId xmlns:a16="http://schemas.microsoft.com/office/drawing/2014/main" id="{2CA98E77-04A8-4853-B8D9-195E09DDEE81}"/>
              </a:ext>
            </a:extLst>
          </p:cNvPr>
          <p:cNvSpPr/>
          <p:nvPr/>
        </p:nvSpPr>
        <p:spPr>
          <a:xfrm>
            <a:off x="5543145" y="5298349"/>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5 ANIMATEUR(-TRICE) </a:t>
            </a:r>
            <a:r>
              <a:rPr lang="fr-FR" sz="1100" kern="1200"/>
              <a:t>: Je mène les groupes à travers les difficultés</a:t>
            </a:r>
          </a:p>
        </p:txBody>
      </p:sp>
      <p:sp>
        <p:nvSpPr>
          <p:cNvPr id="134" name="Forme libre : forme 133">
            <a:extLst>
              <a:ext uri="{FF2B5EF4-FFF2-40B4-BE49-F238E27FC236}">
                <a16:creationId xmlns:a16="http://schemas.microsoft.com/office/drawing/2014/main" id="{8727C1F5-25DD-43A7-99FA-83F7672D8360}"/>
              </a:ext>
            </a:extLst>
          </p:cNvPr>
          <p:cNvSpPr/>
          <p:nvPr/>
        </p:nvSpPr>
        <p:spPr>
          <a:xfrm>
            <a:off x="7324709" y="5030452"/>
            <a:ext cx="1201990" cy="1053615"/>
          </a:xfrm>
          <a:custGeom>
            <a:avLst/>
            <a:gdLst>
              <a:gd name="connsiteX0" fmla="*/ 0 w 1201990"/>
              <a:gd name="connsiteY0" fmla="*/ 0 h 1053615"/>
              <a:gd name="connsiteX1" fmla="*/ 1201990 w 1201990"/>
              <a:gd name="connsiteY1" fmla="*/ 0 h 1053615"/>
              <a:gd name="connsiteX2" fmla="*/ 1201990 w 1201990"/>
              <a:gd name="connsiteY2" fmla="*/ 1053615 h 1053615"/>
              <a:gd name="connsiteX3" fmla="*/ 0 w 1201990"/>
              <a:gd name="connsiteY3" fmla="*/ 1053615 h 1053615"/>
              <a:gd name="connsiteX4" fmla="*/ 0 w 1201990"/>
              <a:gd name="connsiteY4" fmla="*/ 0 h 1053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053615">
                <a:moveTo>
                  <a:pt x="0" y="0"/>
                </a:moveTo>
                <a:lnTo>
                  <a:pt x="1201990" y="0"/>
                </a:lnTo>
                <a:lnTo>
                  <a:pt x="1201990" y="1053615"/>
                </a:lnTo>
                <a:lnTo>
                  <a:pt x="0" y="10536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6 CRÉATEUR(-SE) :</a:t>
            </a:r>
            <a:r>
              <a:rPr lang="fr-FR" sz="1100" kern="1200"/>
              <a:t> Je créé des contenus, j’ajuste les pratiques</a:t>
            </a:r>
          </a:p>
        </p:txBody>
      </p:sp>
      <p:sp>
        <p:nvSpPr>
          <p:cNvPr id="136" name="Forme en L 135">
            <a:extLst>
              <a:ext uri="{FF2B5EF4-FFF2-40B4-BE49-F238E27FC236}">
                <a16:creationId xmlns:a16="http://schemas.microsoft.com/office/drawing/2014/main" id="{699DA6CB-A3DD-4A52-B739-87B334DBA41D}"/>
              </a:ext>
            </a:extLst>
          </p:cNvPr>
          <p:cNvSpPr/>
          <p:nvPr/>
        </p:nvSpPr>
        <p:spPr>
          <a:xfrm rot="5400000">
            <a:off x="10931931" y="4352271"/>
            <a:ext cx="800128" cy="1331395"/>
          </a:xfrm>
          <a:prstGeom prst="corner">
            <a:avLst>
              <a:gd name="adj1" fmla="val 16120"/>
              <a:gd name="adj2" fmla="val 16110"/>
            </a:avLst>
          </a:prstGeom>
          <a:solidFill>
            <a:srgbClr val="3494BA"/>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37" name="Forme libre : forme 136">
            <a:extLst>
              <a:ext uri="{FF2B5EF4-FFF2-40B4-BE49-F238E27FC236}">
                <a16:creationId xmlns:a16="http://schemas.microsoft.com/office/drawing/2014/main" id="{6BD1DD38-55DB-43A3-B2E3-1B0D279C7626}"/>
              </a:ext>
            </a:extLst>
          </p:cNvPr>
          <p:cNvSpPr/>
          <p:nvPr/>
        </p:nvSpPr>
        <p:spPr>
          <a:xfrm>
            <a:off x="10834809" y="4778233"/>
            <a:ext cx="1201990" cy="1354422"/>
          </a:xfrm>
          <a:custGeom>
            <a:avLst/>
            <a:gdLst>
              <a:gd name="connsiteX0" fmla="*/ 0 w 1201990"/>
              <a:gd name="connsiteY0" fmla="*/ 0 h 1354422"/>
              <a:gd name="connsiteX1" fmla="*/ 1201990 w 1201990"/>
              <a:gd name="connsiteY1" fmla="*/ 0 h 1354422"/>
              <a:gd name="connsiteX2" fmla="*/ 1201990 w 1201990"/>
              <a:gd name="connsiteY2" fmla="*/ 1354422 h 1354422"/>
              <a:gd name="connsiteX3" fmla="*/ 0 w 1201990"/>
              <a:gd name="connsiteY3" fmla="*/ 1354422 h 1354422"/>
              <a:gd name="connsiteX4" fmla="*/ 0 w 1201990"/>
              <a:gd name="connsiteY4" fmla="*/ 0 h 1354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1990" h="1354422">
                <a:moveTo>
                  <a:pt x="0" y="0"/>
                </a:moveTo>
                <a:lnTo>
                  <a:pt x="1201990" y="0"/>
                </a:lnTo>
                <a:lnTo>
                  <a:pt x="1201990" y="1354422"/>
                </a:lnTo>
                <a:lnTo>
                  <a:pt x="0" y="135442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fr-FR" sz="1100" b="1" kern="1200"/>
              <a:t>NIV 7 CONTENT COMMUNITY BOOSTER </a:t>
            </a:r>
            <a:r>
              <a:rPr lang="fr-FR" sz="1100" kern="1200"/>
              <a:t>: J’établis de quoi pousser la communauté plus loin</a:t>
            </a:r>
          </a:p>
        </p:txBody>
      </p:sp>
      <p:grpSp>
        <p:nvGrpSpPr>
          <p:cNvPr id="71" name="Groupe 70">
            <a:extLst>
              <a:ext uri="{FF2B5EF4-FFF2-40B4-BE49-F238E27FC236}">
                <a16:creationId xmlns:a16="http://schemas.microsoft.com/office/drawing/2014/main" id="{B94AFF88-9A8F-41D6-AFBF-6BA46D6AC819}"/>
              </a:ext>
            </a:extLst>
          </p:cNvPr>
          <p:cNvGrpSpPr/>
          <p:nvPr/>
        </p:nvGrpSpPr>
        <p:grpSpPr>
          <a:xfrm>
            <a:off x="10603113" y="3446001"/>
            <a:ext cx="1266205" cy="1138016"/>
            <a:chOff x="10408603" y="1944527"/>
            <a:chExt cx="1266205" cy="1138016"/>
          </a:xfrm>
          <a:solidFill>
            <a:srgbClr val="3494BA"/>
          </a:solidFill>
        </p:grpSpPr>
        <p:grpSp>
          <p:nvGrpSpPr>
            <p:cNvPr id="72" name="Groupe 71">
              <a:extLst>
                <a:ext uri="{FF2B5EF4-FFF2-40B4-BE49-F238E27FC236}">
                  <a16:creationId xmlns:a16="http://schemas.microsoft.com/office/drawing/2014/main" id="{D0FC071E-3A30-4FC7-B974-C32B48F9F968}"/>
                </a:ext>
              </a:extLst>
            </p:cNvPr>
            <p:cNvGrpSpPr/>
            <p:nvPr/>
          </p:nvGrpSpPr>
          <p:grpSpPr>
            <a:xfrm>
              <a:off x="10781788" y="2168143"/>
              <a:ext cx="696980" cy="914400"/>
              <a:chOff x="5018285" y="3873291"/>
              <a:chExt cx="696980" cy="914400"/>
            </a:xfrm>
            <a:grpFill/>
          </p:grpSpPr>
          <p:pic>
            <p:nvPicPr>
              <p:cNvPr id="78" name="Graphique 77" descr="Personne confuse avec un remplissage uni">
                <a:extLst>
                  <a:ext uri="{FF2B5EF4-FFF2-40B4-BE49-F238E27FC236}">
                    <a16:creationId xmlns:a16="http://schemas.microsoft.com/office/drawing/2014/main" id="{B03671FC-34EE-4561-9A17-DE93A268DD92}"/>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30440" r="-1"/>
              <a:stretch/>
            </p:blipFill>
            <p:spPr>
              <a:xfrm>
                <a:off x="5079206" y="3873291"/>
                <a:ext cx="636059" cy="914400"/>
              </a:xfrm>
              <a:prstGeom prst="rect">
                <a:avLst/>
              </a:prstGeom>
            </p:spPr>
          </p:pic>
          <p:sp>
            <p:nvSpPr>
              <p:cNvPr id="79" name="Rectangle : coins arrondis 78">
                <a:extLst>
                  <a:ext uri="{FF2B5EF4-FFF2-40B4-BE49-F238E27FC236}">
                    <a16:creationId xmlns:a16="http://schemas.microsoft.com/office/drawing/2014/main" id="{0B846F4A-3FC8-42B5-A3CB-D3E41CC1723B}"/>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73" name="Graphique 72" descr="Panneau de signalisation avec un remplissage uni">
              <a:extLst>
                <a:ext uri="{FF2B5EF4-FFF2-40B4-BE49-F238E27FC236}">
                  <a16:creationId xmlns:a16="http://schemas.microsoft.com/office/drawing/2014/main" id="{72EE5A75-73F8-4483-A8C2-749E5BCA02CF}"/>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t="18628"/>
            <a:stretch/>
          </p:blipFill>
          <p:spPr>
            <a:xfrm>
              <a:off x="10932558" y="1976438"/>
              <a:ext cx="742250" cy="603990"/>
            </a:xfrm>
            <a:prstGeom prst="rect">
              <a:avLst/>
            </a:prstGeom>
          </p:spPr>
        </p:pic>
        <p:grpSp>
          <p:nvGrpSpPr>
            <p:cNvPr id="74" name="Groupe 73">
              <a:extLst>
                <a:ext uri="{FF2B5EF4-FFF2-40B4-BE49-F238E27FC236}">
                  <a16:creationId xmlns:a16="http://schemas.microsoft.com/office/drawing/2014/main" id="{994E204E-64D2-4994-BC2A-C487EE0F157B}"/>
                </a:ext>
              </a:extLst>
            </p:cNvPr>
            <p:cNvGrpSpPr/>
            <p:nvPr/>
          </p:nvGrpSpPr>
          <p:grpSpPr>
            <a:xfrm rot="21051146" flipH="1">
              <a:off x="10408603" y="1944527"/>
              <a:ext cx="391604" cy="567289"/>
              <a:chOff x="5616686" y="6627757"/>
              <a:chExt cx="644414" cy="888746"/>
            </a:xfrm>
            <a:grpFill/>
          </p:grpSpPr>
          <p:pic>
            <p:nvPicPr>
              <p:cNvPr id="76" name="Graphique 75" descr="Drapeau de golf dans un trou avec un remplissage uni">
                <a:extLst>
                  <a:ext uri="{FF2B5EF4-FFF2-40B4-BE49-F238E27FC236}">
                    <a16:creationId xmlns:a16="http://schemas.microsoft.com/office/drawing/2014/main" id="{3EBFBA21-092B-4CB4-BEDA-2D1B0E298643}"/>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l="19715" t="5069" r="36313" b="56423"/>
              <a:stretch/>
            </p:blipFill>
            <p:spPr>
              <a:xfrm>
                <a:off x="5616686" y="6627757"/>
                <a:ext cx="644414" cy="564328"/>
              </a:xfrm>
              <a:prstGeom prst="rect">
                <a:avLst/>
              </a:prstGeom>
            </p:spPr>
          </p:pic>
          <p:sp>
            <p:nvSpPr>
              <p:cNvPr id="77" name="Rectangle : coins arrondis 76">
                <a:extLst>
                  <a:ext uri="{FF2B5EF4-FFF2-40B4-BE49-F238E27FC236}">
                    <a16:creationId xmlns:a16="http://schemas.microsoft.com/office/drawing/2014/main" id="{8F537FF6-8621-44AF-8DAB-DC4670397374}"/>
                  </a:ext>
                </a:extLst>
              </p:cNvPr>
              <p:cNvSpPr/>
              <p:nvPr/>
            </p:nvSpPr>
            <p:spPr>
              <a:xfrm rot="5400000">
                <a:off x="5542703" y="7279829"/>
                <a:ext cx="385705" cy="87643"/>
              </a:xfrm>
              <a:prstGeom prst="roundRect">
                <a:avLst>
                  <a:gd name="adj" fmla="val 50000"/>
                </a:avLst>
              </a:prstGeom>
              <a:solidFill>
                <a:schemeClr val="bg1">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75" name="Image 74">
              <a:extLst>
                <a:ext uri="{FF2B5EF4-FFF2-40B4-BE49-F238E27FC236}">
                  <a16:creationId xmlns:a16="http://schemas.microsoft.com/office/drawing/2014/main" id="{D295823D-81EC-4E85-9722-29C93336C553}"/>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20424315">
              <a:off x="10580132" y="2034678"/>
              <a:ext cx="120335" cy="116088"/>
            </a:xfrm>
            <a:prstGeom prst="rect">
              <a:avLst/>
            </a:prstGeom>
            <a:noFill/>
            <a:ln>
              <a:noFill/>
            </a:ln>
          </p:spPr>
        </p:pic>
      </p:grpSp>
      <p:grpSp>
        <p:nvGrpSpPr>
          <p:cNvPr id="90" name="Groupe 89">
            <a:extLst>
              <a:ext uri="{FF2B5EF4-FFF2-40B4-BE49-F238E27FC236}">
                <a16:creationId xmlns:a16="http://schemas.microsoft.com/office/drawing/2014/main" id="{F1AB2946-9C86-463D-A5C8-DE121A6E77A6}"/>
              </a:ext>
            </a:extLst>
          </p:cNvPr>
          <p:cNvGrpSpPr/>
          <p:nvPr/>
        </p:nvGrpSpPr>
        <p:grpSpPr>
          <a:xfrm>
            <a:off x="4010534" y="4742950"/>
            <a:ext cx="819385" cy="883274"/>
            <a:chOff x="6060465" y="3463636"/>
            <a:chExt cx="819385" cy="883274"/>
          </a:xfrm>
          <a:solidFill>
            <a:srgbClr val="ED7D31"/>
          </a:solidFill>
        </p:grpSpPr>
        <p:pic>
          <p:nvPicPr>
            <p:cNvPr id="91" name="Graphique 90" descr="Presse-papiers mixte avec un remplissage uni">
              <a:extLst>
                <a:ext uri="{FF2B5EF4-FFF2-40B4-BE49-F238E27FC236}">
                  <a16:creationId xmlns:a16="http://schemas.microsoft.com/office/drawing/2014/main" id="{76D65036-0EC3-4280-A47D-C458EDE8694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rot="20207580">
              <a:off x="6060465" y="3580343"/>
              <a:ext cx="314429" cy="314429"/>
            </a:xfrm>
            <a:prstGeom prst="rect">
              <a:avLst/>
            </a:prstGeom>
          </p:spPr>
        </p:pic>
        <p:grpSp>
          <p:nvGrpSpPr>
            <p:cNvPr id="92" name="Groupe 91">
              <a:extLst>
                <a:ext uri="{FF2B5EF4-FFF2-40B4-BE49-F238E27FC236}">
                  <a16:creationId xmlns:a16="http://schemas.microsoft.com/office/drawing/2014/main" id="{AE9FC346-D207-4640-BD6C-C4728FD2A909}"/>
                </a:ext>
              </a:extLst>
            </p:cNvPr>
            <p:cNvGrpSpPr/>
            <p:nvPr/>
          </p:nvGrpSpPr>
          <p:grpSpPr>
            <a:xfrm>
              <a:off x="6132133" y="3463636"/>
              <a:ext cx="612923" cy="883274"/>
              <a:chOff x="6132133" y="3463636"/>
              <a:chExt cx="612923" cy="883274"/>
            </a:xfrm>
            <a:grpFill/>
          </p:grpSpPr>
          <p:pic>
            <p:nvPicPr>
              <p:cNvPr id="95" name="Graphique 94" descr="Centre d’appels avec un remplissage uni">
                <a:extLst>
                  <a:ext uri="{FF2B5EF4-FFF2-40B4-BE49-F238E27FC236}">
                    <a16:creationId xmlns:a16="http://schemas.microsoft.com/office/drawing/2014/main" id="{35F24164-633F-47A7-BEF8-EE5A88824544}"/>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b="44092"/>
              <a:stretch/>
            </p:blipFill>
            <p:spPr>
              <a:xfrm>
                <a:off x="6322855" y="3463636"/>
                <a:ext cx="422201" cy="236042"/>
              </a:xfrm>
              <a:prstGeom prst="rect">
                <a:avLst/>
              </a:prstGeom>
            </p:spPr>
          </p:pic>
          <p:grpSp>
            <p:nvGrpSpPr>
              <p:cNvPr id="96" name="Groupe 95">
                <a:extLst>
                  <a:ext uri="{FF2B5EF4-FFF2-40B4-BE49-F238E27FC236}">
                    <a16:creationId xmlns:a16="http://schemas.microsoft.com/office/drawing/2014/main" id="{591F00D6-4AFD-45D2-ACBD-7088ECFF8631}"/>
                  </a:ext>
                </a:extLst>
              </p:cNvPr>
              <p:cNvGrpSpPr/>
              <p:nvPr/>
            </p:nvGrpSpPr>
            <p:grpSpPr>
              <a:xfrm flipH="1">
                <a:off x="6132133" y="3682042"/>
                <a:ext cx="611857" cy="664868"/>
                <a:chOff x="5018285" y="4055721"/>
                <a:chExt cx="696982" cy="731970"/>
              </a:xfrm>
              <a:grpFill/>
            </p:grpSpPr>
            <p:pic>
              <p:nvPicPr>
                <p:cNvPr id="97" name="Graphique 96" descr="Personne confuse avec un remplissage uni">
                  <a:extLst>
                    <a:ext uri="{FF2B5EF4-FFF2-40B4-BE49-F238E27FC236}">
                      <a16:creationId xmlns:a16="http://schemas.microsoft.com/office/drawing/2014/main" id="{6BD5E57B-8145-480E-9A59-2C29137B20D9}"/>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l="30440" t="19951" r="-1"/>
                <a:stretch/>
              </p:blipFill>
              <p:spPr>
                <a:xfrm>
                  <a:off x="5079207" y="4055721"/>
                  <a:ext cx="636060" cy="731970"/>
                </a:xfrm>
                <a:prstGeom prst="rect">
                  <a:avLst/>
                </a:prstGeom>
              </p:spPr>
            </p:pic>
            <p:sp>
              <p:nvSpPr>
                <p:cNvPr id="98" name="Rectangle : coins arrondis 97">
                  <a:extLst>
                    <a:ext uri="{FF2B5EF4-FFF2-40B4-BE49-F238E27FC236}">
                      <a16:creationId xmlns:a16="http://schemas.microsoft.com/office/drawing/2014/main" id="{DB149246-5E4D-4681-849B-5042504D58C8}"/>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93" name="Image 92">
              <a:extLst>
                <a:ext uri="{FF2B5EF4-FFF2-40B4-BE49-F238E27FC236}">
                  <a16:creationId xmlns:a16="http://schemas.microsoft.com/office/drawing/2014/main" id="{45F0B5CF-F93B-4C4B-8418-F1CF8BCDE978}"/>
                </a:ext>
              </a:extLst>
            </p:cNvPr>
            <p:cNvPicPr>
              <a:picLocks noChangeAspect="1"/>
            </p:cNvPicPr>
            <p:nvPr/>
          </p:nvPicPr>
          <p:blipFill>
            <a:blip r:embed="rId30">
              <a:extLst>
                <a:ext uri="{BEBA8EAE-BF5A-486C-A8C5-ECC9F3942E4B}">
                  <a14:imgProps xmlns:a14="http://schemas.microsoft.com/office/drawing/2010/main">
                    <a14:imgLayer r:embed="rId31">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94" name="Graphique 93" descr="Chronomètre avec un remplissage uni">
              <a:extLst>
                <a:ext uri="{FF2B5EF4-FFF2-40B4-BE49-F238E27FC236}">
                  <a16:creationId xmlns:a16="http://schemas.microsoft.com/office/drawing/2014/main" id="{53ACA43D-FF04-4089-82CA-A88DB560BC5C}"/>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6714271" y="3602551"/>
              <a:ext cx="165579" cy="165579"/>
            </a:xfrm>
            <a:prstGeom prst="rect">
              <a:avLst/>
            </a:prstGeom>
          </p:spPr>
        </p:pic>
      </p:grpSp>
      <p:grpSp>
        <p:nvGrpSpPr>
          <p:cNvPr id="107" name="Groupe 106">
            <a:extLst>
              <a:ext uri="{FF2B5EF4-FFF2-40B4-BE49-F238E27FC236}">
                <a16:creationId xmlns:a16="http://schemas.microsoft.com/office/drawing/2014/main" id="{7AB3CF50-5BBB-4E25-A34F-08501768B98E}"/>
              </a:ext>
            </a:extLst>
          </p:cNvPr>
          <p:cNvGrpSpPr/>
          <p:nvPr/>
        </p:nvGrpSpPr>
        <p:grpSpPr>
          <a:xfrm>
            <a:off x="7093642" y="3638200"/>
            <a:ext cx="1216113" cy="1173074"/>
            <a:chOff x="8930936" y="2408583"/>
            <a:chExt cx="1216113" cy="1173074"/>
          </a:xfrm>
          <a:solidFill>
            <a:schemeClr val="accent1"/>
          </a:solidFill>
        </p:grpSpPr>
        <p:grpSp>
          <p:nvGrpSpPr>
            <p:cNvPr id="108" name="Groupe 107">
              <a:extLst>
                <a:ext uri="{FF2B5EF4-FFF2-40B4-BE49-F238E27FC236}">
                  <a16:creationId xmlns:a16="http://schemas.microsoft.com/office/drawing/2014/main" id="{C373CDD5-ECFB-42CC-AE64-A4255D893913}"/>
                </a:ext>
              </a:extLst>
            </p:cNvPr>
            <p:cNvGrpSpPr/>
            <p:nvPr/>
          </p:nvGrpSpPr>
          <p:grpSpPr>
            <a:xfrm>
              <a:off x="8930936" y="2408583"/>
              <a:ext cx="1216113" cy="1173074"/>
              <a:chOff x="8930936" y="2401291"/>
              <a:chExt cx="1216113" cy="1173074"/>
            </a:xfrm>
            <a:grpFill/>
          </p:grpSpPr>
          <p:pic>
            <p:nvPicPr>
              <p:cNvPr id="112" name="Graphique 111" descr="Plan avec un remplissage uni">
                <a:extLst>
                  <a:ext uri="{FF2B5EF4-FFF2-40B4-BE49-F238E27FC236}">
                    <a16:creationId xmlns:a16="http://schemas.microsoft.com/office/drawing/2014/main" id="{BA8DEF69-5977-4FE5-8AA3-1AC8D2FD9722}"/>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930936" y="2401291"/>
                <a:ext cx="590762" cy="590762"/>
              </a:xfrm>
              <a:prstGeom prst="rect">
                <a:avLst/>
              </a:prstGeom>
            </p:spPr>
          </p:pic>
          <p:grpSp>
            <p:nvGrpSpPr>
              <p:cNvPr id="113" name="Groupe 112">
                <a:extLst>
                  <a:ext uri="{FF2B5EF4-FFF2-40B4-BE49-F238E27FC236}">
                    <a16:creationId xmlns:a16="http://schemas.microsoft.com/office/drawing/2014/main" id="{5A653B1F-B857-4FCD-A6E0-129DA181337E}"/>
                  </a:ext>
                </a:extLst>
              </p:cNvPr>
              <p:cNvGrpSpPr/>
              <p:nvPr/>
            </p:nvGrpSpPr>
            <p:grpSpPr>
              <a:xfrm>
                <a:off x="9450069" y="2659965"/>
                <a:ext cx="696980" cy="914400"/>
                <a:chOff x="5018285" y="3873291"/>
                <a:chExt cx="696980" cy="914400"/>
              </a:xfrm>
              <a:grpFill/>
            </p:grpSpPr>
            <p:pic>
              <p:nvPicPr>
                <p:cNvPr id="114" name="Graphique 113" descr="Personne confuse avec un remplissage uni">
                  <a:extLst>
                    <a:ext uri="{FF2B5EF4-FFF2-40B4-BE49-F238E27FC236}">
                      <a16:creationId xmlns:a16="http://schemas.microsoft.com/office/drawing/2014/main" id="{BE55B32D-89A1-434A-AA78-9E1F4F65FD87}"/>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36"/>
                    </a:ext>
                  </a:extLst>
                </a:blip>
                <a:srcRect l="30440" r="-1"/>
                <a:stretch/>
              </p:blipFill>
              <p:spPr>
                <a:xfrm>
                  <a:off x="5079206" y="3873291"/>
                  <a:ext cx="636059" cy="914400"/>
                </a:xfrm>
                <a:prstGeom prst="rect">
                  <a:avLst/>
                </a:prstGeom>
              </p:spPr>
            </p:pic>
            <p:sp>
              <p:nvSpPr>
                <p:cNvPr id="115" name="Rectangle : coins arrondis 114">
                  <a:extLst>
                    <a:ext uri="{FF2B5EF4-FFF2-40B4-BE49-F238E27FC236}">
                      <a16:creationId xmlns:a16="http://schemas.microsoft.com/office/drawing/2014/main" id="{56183E7A-2B79-414C-9A3D-2B0F51FB24B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109" name="Groupe 108">
              <a:extLst>
                <a:ext uri="{FF2B5EF4-FFF2-40B4-BE49-F238E27FC236}">
                  <a16:creationId xmlns:a16="http://schemas.microsoft.com/office/drawing/2014/main" id="{95833ABF-AE22-41EB-A9F1-789F34847396}"/>
                </a:ext>
              </a:extLst>
            </p:cNvPr>
            <p:cNvGrpSpPr/>
            <p:nvPr/>
          </p:nvGrpSpPr>
          <p:grpSpPr>
            <a:xfrm>
              <a:off x="9237852" y="2714693"/>
              <a:ext cx="199881" cy="170748"/>
              <a:chOff x="8303417" y="2625343"/>
              <a:chExt cx="199881" cy="170748"/>
            </a:xfrm>
            <a:grpFill/>
          </p:grpSpPr>
          <p:sp>
            <p:nvSpPr>
              <p:cNvPr id="110" name="Rectangle 109">
                <a:extLst>
                  <a:ext uri="{FF2B5EF4-FFF2-40B4-BE49-F238E27FC236}">
                    <a16:creationId xmlns:a16="http://schemas.microsoft.com/office/drawing/2014/main" id="{2634B864-1989-4FF6-9E0A-9BBA57FFC990}"/>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1" name="Image 110">
                <a:extLst>
                  <a:ext uri="{FF2B5EF4-FFF2-40B4-BE49-F238E27FC236}">
                    <a16:creationId xmlns:a16="http://schemas.microsoft.com/office/drawing/2014/main" id="{0769BDC3-0165-4656-91F7-7B998245F99C}"/>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116" name="Groupe 115">
            <a:extLst>
              <a:ext uri="{FF2B5EF4-FFF2-40B4-BE49-F238E27FC236}">
                <a16:creationId xmlns:a16="http://schemas.microsoft.com/office/drawing/2014/main" id="{7F01D358-A608-4C67-86EB-52B2F2407245}"/>
              </a:ext>
            </a:extLst>
          </p:cNvPr>
          <p:cNvGrpSpPr/>
          <p:nvPr/>
        </p:nvGrpSpPr>
        <p:grpSpPr>
          <a:xfrm>
            <a:off x="2299265" y="5150142"/>
            <a:ext cx="978177" cy="925014"/>
            <a:chOff x="4763560" y="3762738"/>
            <a:chExt cx="978177" cy="925014"/>
          </a:xfrm>
        </p:grpSpPr>
        <p:grpSp>
          <p:nvGrpSpPr>
            <p:cNvPr id="117" name="Groupe 116">
              <a:extLst>
                <a:ext uri="{FF2B5EF4-FFF2-40B4-BE49-F238E27FC236}">
                  <a16:creationId xmlns:a16="http://schemas.microsoft.com/office/drawing/2014/main" id="{0129D389-8432-4670-85E8-E9A8CA748AE9}"/>
                </a:ext>
              </a:extLst>
            </p:cNvPr>
            <p:cNvGrpSpPr/>
            <p:nvPr/>
          </p:nvGrpSpPr>
          <p:grpSpPr>
            <a:xfrm flipH="1">
              <a:off x="4766063" y="3762738"/>
              <a:ext cx="975674" cy="925014"/>
              <a:chOff x="4716415" y="3792004"/>
              <a:chExt cx="1009529" cy="925014"/>
            </a:xfrm>
          </p:grpSpPr>
          <p:pic>
            <p:nvPicPr>
              <p:cNvPr id="120" name="Graphique 119" descr="Mégaphone1 avec un remplissage uni">
                <a:extLst>
                  <a:ext uri="{FF2B5EF4-FFF2-40B4-BE49-F238E27FC236}">
                    <a16:creationId xmlns:a16="http://schemas.microsoft.com/office/drawing/2014/main" id="{E2A09075-D827-40A8-AD3A-95D957F0A5AF}"/>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tretch>
                <a:fillRect/>
              </a:stretch>
            </p:blipFill>
            <p:spPr>
              <a:xfrm flipH="1">
                <a:off x="4716415" y="3792004"/>
                <a:ext cx="384826" cy="398002"/>
              </a:xfrm>
              <a:prstGeom prst="rect">
                <a:avLst/>
              </a:prstGeom>
            </p:spPr>
          </p:pic>
          <p:grpSp>
            <p:nvGrpSpPr>
              <p:cNvPr id="121" name="Groupe 120">
                <a:extLst>
                  <a:ext uri="{FF2B5EF4-FFF2-40B4-BE49-F238E27FC236}">
                    <a16:creationId xmlns:a16="http://schemas.microsoft.com/office/drawing/2014/main" id="{F23AFD8F-E7F7-469E-A666-EB77AD6C6951}"/>
                  </a:ext>
                </a:extLst>
              </p:cNvPr>
              <p:cNvGrpSpPr/>
              <p:nvPr/>
            </p:nvGrpSpPr>
            <p:grpSpPr>
              <a:xfrm>
                <a:off x="5048496" y="3886444"/>
                <a:ext cx="633086" cy="830574"/>
                <a:chOff x="5018285" y="3873291"/>
                <a:chExt cx="696980" cy="914400"/>
              </a:xfrm>
            </p:grpSpPr>
            <p:pic>
              <p:nvPicPr>
                <p:cNvPr id="124" name="Graphique 123" descr="Personne confuse avec un remplissage uni">
                  <a:extLst>
                    <a:ext uri="{FF2B5EF4-FFF2-40B4-BE49-F238E27FC236}">
                      <a16:creationId xmlns:a16="http://schemas.microsoft.com/office/drawing/2014/main" id="{605E87CF-DA82-45CC-85E3-8D77774995C0}"/>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l="30440" r="-1"/>
                <a:stretch/>
              </p:blipFill>
              <p:spPr>
                <a:xfrm>
                  <a:off x="5079206" y="3873291"/>
                  <a:ext cx="636059" cy="914400"/>
                </a:xfrm>
                <a:prstGeom prst="rect">
                  <a:avLst/>
                </a:prstGeom>
              </p:spPr>
            </p:pic>
            <p:sp>
              <p:nvSpPr>
                <p:cNvPr id="125" name="Rectangle : coins arrondis 124">
                  <a:extLst>
                    <a:ext uri="{FF2B5EF4-FFF2-40B4-BE49-F238E27FC236}">
                      <a16:creationId xmlns:a16="http://schemas.microsoft.com/office/drawing/2014/main" id="{46210E44-FE28-4C3D-AF63-9B80CFB9CE9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22" name="Graphique 121" descr="Balance de la justice avec un remplissage uni">
                <a:extLst>
                  <a:ext uri="{FF2B5EF4-FFF2-40B4-BE49-F238E27FC236}">
                    <a16:creationId xmlns:a16="http://schemas.microsoft.com/office/drawing/2014/main" id="{FDFCE680-DC68-4986-979E-CAA810CDE38E}"/>
                  </a:ext>
                </a:extLst>
              </p:cNvPr>
              <p:cNvPicPr>
                <a:picLocks noChangeAspect="1"/>
              </p:cNvPicPr>
              <p:nvPr/>
            </p:nvPicPr>
            <p:blipFill>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5374349" y="3867945"/>
                <a:ext cx="351595" cy="351595"/>
              </a:xfrm>
              <a:prstGeom prst="rect">
                <a:avLst/>
              </a:prstGeom>
            </p:spPr>
          </p:pic>
          <p:pic>
            <p:nvPicPr>
              <p:cNvPr id="123" name="Image 122">
                <a:extLst>
                  <a:ext uri="{FF2B5EF4-FFF2-40B4-BE49-F238E27FC236}">
                    <a16:creationId xmlns:a16="http://schemas.microsoft.com/office/drawing/2014/main" id="{7B3352C8-E674-41E7-BE44-248C54BED31E}"/>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18" name="Graphique 117" descr="Balance de la justice avec un remplissage uni">
              <a:extLst>
                <a:ext uri="{FF2B5EF4-FFF2-40B4-BE49-F238E27FC236}">
                  <a16:creationId xmlns:a16="http://schemas.microsoft.com/office/drawing/2014/main" id="{4C3F1C56-ACD7-41DC-B39C-F4744653D214}"/>
                </a:ext>
              </a:extLst>
            </p:cNvPr>
            <p:cNvPicPr>
              <a:picLocks noChangeAspect="1"/>
            </p:cNvPicPr>
            <p:nvPr/>
          </p:nvPicPr>
          <p:blipFill rotWithShape="1">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l="7711" t="16230" r="55712" b="32471"/>
            <a:stretch/>
          </p:blipFill>
          <p:spPr>
            <a:xfrm flipH="1">
              <a:off x="4955380" y="3895743"/>
              <a:ext cx="124289" cy="180364"/>
            </a:xfrm>
            <a:prstGeom prst="rect">
              <a:avLst/>
            </a:prstGeom>
          </p:spPr>
        </p:pic>
        <p:pic>
          <p:nvPicPr>
            <p:cNvPr id="119" name="Graphique 118" descr="Balance de la justice avec un remplissage uni">
              <a:extLst>
                <a:ext uri="{FF2B5EF4-FFF2-40B4-BE49-F238E27FC236}">
                  <a16:creationId xmlns:a16="http://schemas.microsoft.com/office/drawing/2014/main" id="{C7F3A6F1-090D-4586-AC75-1E70FB4819C5}"/>
                </a:ext>
              </a:extLst>
            </p:cNvPr>
            <p:cNvPicPr>
              <a:picLocks noChangeAspect="1"/>
            </p:cNvPicPr>
            <p:nvPr/>
          </p:nvPicPr>
          <p:blipFill rotWithShape="1">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rcRect l="58383" t="16186" b="30375"/>
            <a:stretch/>
          </p:blipFill>
          <p:spPr>
            <a:xfrm flipH="1">
              <a:off x="4763560" y="3895742"/>
              <a:ext cx="141416" cy="187889"/>
            </a:xfrm>
            <a:prstGeom prst="rect">
              <a:avLst/>
            </a:prstGeom>
          </p:spPr>
        </p:pic>
      </p:grpSp>
      <p:grpSp>
        <p:nvGrpSpPr>
          <p:cNvPr id="99" name="Groupe 98">
            <a:extLst>
              <a:ext uri="{FF2B5EF4-FFF2-40B4-BE49-F238E27FC236}">
                <a16:creationId xmlns:a16="http://schemas.microsoft.com/office/drawing/2014/main" id="{7C76DB40-854A-49E2-B78C-6335ABB46AE0}"/>
              </a:ext>
            </a:extLst>
          </p:cNvPr>
          <p:cNvGrpSpPr/>
          <p:nvPr/>
        </p:nvGrpSpPr>
        <p:grpSpPr>
          <a:xfrm>
            <a:off x="5542594" y="4051264"/>
            <a:ext cx="982042" cy="1063416"/>
            <a:chOff x="7560150" y="2879049"/>
            <a:chExt cx="982042" cy="1063416"/>
          </a:xfrm>
          <a:solidFill>
            <a:srgbClr val="ED7D31"/>
          </a:solidFill>
        </p:grpSpPr>
        <p:grpSp>
          <p:nvGrpSpPr>
            <p:cNvPr id="100" name="Groupe 99">
              <a:extLst>
                <a:ext uri="{FF2B5EF4-FFF2-40B4-BE49-F238E27FC236}">
                  <a16:creationId xmlns:a16="http://schemas.microsoft.com/office/drawing/2014/main" id="{E4949DCA-092D-4363-9285-767EE5F8435C}"/>
                </a:ext>
              </a:extLst>
            </p:cNvPr>
            <p:cNvGrpSpPr/>
            <p:nvPr/>
          </p:nvGrpSpPr>
          <p:grpSpPr>
            <a:xfrm>
              <a:off x="7798849" y="2879049"/>
              <a:ext cx="743343" cy="1063416"/>
              <a:chOff x="6391015" y="3260296"/>
              <a:chExt cx="743343" cy="1063416"/>
            </a:xfrm>
            <a:grpFill/>
          </p:grpSpPr>
          <p:grpSp>
            <p:nvGrpSpPr>
              <p:cNvPr id="102" name="Groupe 101">
                <a:extLst>
                  <a:ext uri="{FF2B5EF4-FFF2-40B4-BE49-F238E27FC236}">
                    <a16:creationId xmlns:a16="http://schemas.microsoft.com/office/drawing/2014/main" id="{24E667AE-E906-41A5-B1C5-4D1A912ABFE3}"/>
                  </a:ext>
                </a:extLst>
              </p:cNvPr>
              <p:cNvGrpSpPr/>
              <p:nvPr/>
            </p:nvGrpSpPr>
            <p:grpSpPr>
              <a:xfrm>
                <a:off x="6391015" y="3260296"/>
                <a:ext cx="743343" cy="1063416"/>
                <a:chOff x="6298348" y="3168316"/>
                <a:chExt cx="867130" cy="1240504"/>
              </a:xfrm>
              <a:grpFill/>
            </p:grpSpPr>
            <p:pic>
              <p:nvPicPr>
                <p:cNvPr id="104" name="Graphique 103" descr="Enseignant avec un remplissage uni">
                  <a:extLst>
                    <a:ext uri="{FF2B5EF4-FFF2-40B4-BE49-F238E27FC236}">
                      <a16:creationId xmlns:a16="http://schemas.microsoft.com/office/drawing/2014/main" id="{34FD9EBE-4312-4EBE-9D09-BC06982BEE16}"/>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6298348" y="3168316"/>
                  <a:ext cx="867130" cy="867130"/>
                </a:xfrm>
                <a:prstGeom prst="rect">
                  <a:avLst/>
                </a:prstGeom>
              </p:spPr>
            </p:pic>
            <p:pic>
              <p:nvPicPr>
                <p:cNvPr id="105" name="Graphique 104" descr="Personne confuse avec un remplissage uni">
                  <a:extLst>
                    <a:ext uri="{FF2B5EF4-FFF2-40B4-BE49-F238E27FC236}">
                      <a16:creationId xmlns:a16="http://schemas.microsoft.com/office/drawing/2014/main" id="{6D3BC8B7-B0ED-486E-8442-2CD92799A6DA}"/>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47"/>
                    </a:ext>
                  </a:extLst>
                </a:blip>
                <a:srcRect l="34664" t="32545" r="38513" b="-1"/>
                <a:stretch/>
              </p:blipFill>
              <p:spPr>
                <a:xfrm>
                  <a:off x="6367463" y="3792004"/>
                  <a:ext cx="245268" cy="616816"/>
                </a:xfrm>
                <a:prstGeom prst="rect">
                  <a:avLst/>
                </a:prstGeom>
              </p:spPr>
            </p:pic>
            <p:sp>
              <p:nvSpPr>
                <p:cNvPr id="106" name="Rectangle : coins arrondis 105">
                  <a:extLst>
                    <a:ext uri="{FF2B5EF4-FFF2-40B4-BE49-F238E27FC236}">
                      <a16:creationId xmlns:a16="http://schemas.microsoft.com/office/drawing/2014/main" id="{666DCA6B-83F4-4D9C-B532-A7B0DA7CD95A}"/>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03" name="Image 102">
                <a:extLst>
                  <a:ext uri="{FF2B5EF4-FFF2-40B4-BE49-F238E27FC236}">
                    <a16:creationId xmlns:a16="http://schemas.microsoft.com/office/drawing/2014/main" id="{CBE794E1-9F6E-4BFC-87BB-AEF2A1F38261}"/>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101" name="Graphique 100" descr="Presse-papiers mixte avec un remplissage uni">
              <a:extLst>
                <a:ext uri="{FF2B5EF4-FFF2-40B4-BE49-F238E27FC236}">
                  <a16:creationId xmlns:a16="http://schemas.microsoft.com/office/drawing/2014/main" id="{D9BB12EC-70FA-4014-B71F-D8F49AB11C1C}"/>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rot="20207580">
              <a:off x="7560150" y="3329802"/>
              <a:ext cx="314429" cy="314429"/>
            </a:xfrm>
            <a:prstGeom prst="rect">
              <a:avLst/>
            </a:prstGeom>
          </p:spPr>
        </p:pic>
      </p:grpSp>
      <p:sp>
        <p:nvSpPr>
          <p:cNvPr id="133" name="Forme en L 132">
            <a:extLst>
              <a:ext uri="{FF2B5EF4-FFF2-40B4-BE49-F238E27FC236}">
                <a16:creationId xmlns:a16="http://schemas.microsoft.com/office/drawing/2014/main" id="{D5E6CA3A-4636-4AE4-BE8F-6726058F4211}"/>
              </a:ext>
            </a:extLst>
          </p:cNvPr>
          <p:cNvSpPr/>
          <p:nvPr/>
        </p:nvSpPr>
        <p:spPr>
          <a:xfrm rot="5400000">
            <a:off x="7432459" y="4590956"/>
            <a:ext cx="800128" cy="1331395"/>
          </a:xfrm>
          <a:prstGeom prst="corner">
            <a:avLst>
              <a:gd name="adj1" fmla="val 16120"/>
              <a:gd name="adj2" fmla="val 16110"/>
            </a:avLst>
          </a:prstGeom>
          <a:solidFill>
            <a:srgbClr val="3494BA"/>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Tree>
    <p:extLst>
      <p:ext uri="{BB962C8B-B14F-4D97-AF65-F5344CB8AC3E}">
        <p14:creationId xmlns:p14="http://schemas.microsoft.com/office/powerpoint/2010/main" val="76841479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33336" y="-116113"/>
            <a:ext cx="12192000" cy="584775"/>
          </a:xfrm>
          <a:prstGeom prst="rect">
            <a:avLst/>
          </a:prstGeom>
          <a:noFill/>
        </p:spPr>
        <p:txBody>
          <a:bodyPr wrap="square" rtlCol="0">
            <a:spAutoFit/>
          </a:bodyPr>
          <a:lstStyle/>
          <a:p>
            <a:pPr algn="ctr"/>
            <a:r>
              <a:rPr lang="fr-FR" b="1" i="1" dirty="0">
                <a:solidFill>
                  <a:srgbClr val="0683AA"/>
                </a:solidFill>
              </a:rPr>
              <a:t>#OSC </a:t>
            </a:r>
            <a:r>
              <a:rPr lang="fr-FR" b="1" i="1" dirty="0">
                <a:solidFill>
                  <a:srgbClr val="ED7D31"/>
                </a:solidFill>
              </a:rPr>
              <a:t>Change </a:t>
            </a:r>
            <a:r>
              <a:rPr lang="fr-FR" b="1" i="1" dirty="0">
                <a:solidFill>
                  <a:srgbClr val="0683AA"/>
                </a:solidFill>
              </a:rPr>
              <a:t>Community </a:t>
            </a:r>
            <a:r>
              <a:rPr lang="fr-FR" b="1" i="1" dirty="0"/>
              <a:t>Cycle</a:t>
            </a:r>
          </a:p>
          <a:p>
            <a:pPr algn="ctr"/>
            <a:r>
              <a:rPr lang="fr-FR" sz="1400" b="1" i="1" dirty="0"/>
              <a:t>Risques de réactions en cas de déphasage</a:t>
            </a:r>
          </a:p>
        </p:txBody>
      </p:sp>
      <p:graphicFrame>
        <p:nvGraphicFramePr>
          <p:cNvPr id="5" name="Tableau 5">
            <a:extLst>
              <a:ext uri="{FF2B5EF4-FFF2-40B4-BE49-F238E27FC236}">
                <a16:creationId xmlns:a16="http://schemas.microsoft.com/office/drawing/2014/main" id="{520EF48C-6778-4A23-BA08-268DC5DF1EAF}"/>
              </a:ext>
            </a:extLst>
          </p:cNvPr>
          <p:cNvGraphicFramePr>
            <a:graphicFrameLocks noGrp="1"/>
          </p:cNvGraphicFramePr>
          <p:nvPr>
            <p:extLst>
              <p:ext uri="{D42A27DB-BD31-4B8C-83A1-F6EECF244321}">
                <p14:modId xmlns:p14="http://schemas.microsoft.com/office/powerpoint/2010/main" val="2679777335"/>
              </p:ext>
            </p:extLst>
          </p:nvPr>
        </p:nvGraphicFramePr>
        <p:xfrm>
          <a:off x="33336" y="468662"/>
          <a:ext cx="12125328" cy="6370320"/>
        </p:xfrm>
        <a:graphic>
          <a:graphicData uri="http://schemas.openxmlformats.org/drawingml/2006/table">
            <a:tbl>
              <a:tblPr firstRow="1" firstCol="1" bandRow="1">
                <a:tableStyleId>{5C22544A-7EE6-4342-B048-85BDC9FD1C3A}</a:tableStyleId>
              </a:tblPr>
              <a:tblGrid>
                <a:gridCol w="1515666">
                  <a:extLst>
                    <a:ext uri="{9D8B030D-6E8A-4147-A177-3AD203B41FA5}">
                      <a16:colId xmlns:a16="http://schemas.microsoft.com/office/drawing/2014/main" val="293263624"/>
                    </a:ext>
                  </a:extLst>
                </a:gridCol>
                <a:gridCol w="1515666">
                  <a:extLst>
                    <a:ext uri="{9D8B030D-6E8A-4147-A177-3AD203B41FA5}">
                      <a16:colId xmlns:a16="http://schemas.microsoft.com/office/drawing/2014/main" val="2821878173"/>
                    </a:ext>
                  </a:extLst>
                </a:gridCol>
                <a:gridCol w="1515666">
                  <a:extLst>
                    <a:ext uri="{9D8B030D-6E8A-4147-A177-3AD203B41FA5}">
                      <a16:colId xmlns:a16="http://schemas.microsoft.com/office/drawing/2014/main" val="2564207028"/>
                    </a:ext>
                  </a:extLst>
                </a:gridCol>
                <a:gridCol w="1515666">
                  <a:extLst>
                    <a:ext uri="{9D8B030D-6E8A-4147-A177-3AD203B41FA5}">
                      <a16:colId xmlns:a16="http://schemas.microsoft.com/office/drawing/2014/main" val="1168522896"/>
                    </a:ext>
                  </a:extLst>
                </a:gridCol>
                <a:gridCol w="1515666">
                  <a:extLst>
                    <a:ext uri="{9D8B030D-6E8A-4147-A177-3AD203B41FA5}">
                      <a16:colId xmlns:a16="http://schemas.microsoft.com/office/drawing/2014/main" val="3193809133"/>
                    </a:ext>
                  </a:extLst>
                </a:gridCol>
                <a:gridCol w="1515666">
                  <a:extLst>
                    <a:ext uri="{9D8B030D-6E8A-4147-A177-3AD203B41FA5}">
                      <a16:colId xmlns:a16="http://schemas.microsoft.com/office/drawing/2014/main" val="2884559259"/>
                    </a:ext>
                  </a:extLst>
                </a:gridCol>
                <a:gridCol w="1515666">
                  <a:extLst>
                    <a:ext uri="{9D8B030D-6E8A-4147-A177-3AD203B41FA5}">
                      <a16:colId xmlns:a16="http://schemas.microsoft.com/office/drawing/2014/main" val="659738055"/>
                    </a:ext>
                  </a:extLst>
                </a:gridCol>
                <a:gridCol w="1515666">
                  <a:extLst>
                    <a:ext uri="{9D8B030D-6E8A-4147-A177-3AD203B41FA5}">
                      <a16:colId xmlns:a16="http://schemas.microsoft.com/office/drawing/2014/main" val="462766316"/>
                    </a:ext>
                  </a:extLst>
                </a:gridCol>
              </a:tblGrid>
              <a:tr h="877080">
                <a:tc>
                  <a:txBody>
                    <a:bodyPr/>
                    <a:lstStyle/>
                    <a:p>
                      <a:pPr algn="ctr"/>
                      <a:r>
                        <a:rPr lang="fr-FR" sz="1100"/>
                        <a:t>Si vous êtes dans la phase </a:t>
                      </a:r>
                      <a:r>
                        <a:rPr lang="fr-FR" sz="1100">
                          <a:sym typeface="Wingdings" panose="05000000000000000000" pitchFamily="2" charset="2"/>
                        </a:rPr>
                        <a:t></a:t>
                      </a:r>
                    </a:p>
                    <a:p>
                      <a:pPr algn="ctr"/>
                      <a:r>
                        <a:rPr lang="fr-FR" sz="1100">
                          <a:sym typeface="Wingdings" panose="05000000000000000000" pitchFamily="2" charset="2"/>
                        </a:rPr>
                        <a:t>Et que vous effectuez des actions de la phase ↓</a:t>
                      </a:r>
                      <a:endParaRPr lang="fr-FR" sz="1100"/>
                    </a:p>
                  </a:txBody>
                  <a:tcPr/>
                </a:tc>
                <a:tc>
                  <a:txBody>
                    <a:bodyPr/>
                    <a:lstStyle/>
                    <a:p>
                      <a:pPr algn="ctr"/>
                      <a:r>
                        <a:rPr lang="fr-FR" sz="1400"/>
                        <a:t>💡Inspiration</a:t>
                      </a:r>
                    </a:p>
                  </a:txBody>
                  <a:tcPr anchor="ctr"/>
                </a:tc>
                <a:tc>
                  <a:txBody>
                    <a:bodyPr/>
                    <a:lstStyle/>
                    <a:p>
                      <a:pPr algn="ctr"/>
                      <a:r>
                        <a:rPr lang="fr-FR" sz="1400"/>
                        <a:t>🔍Collecte</a:t>
                      </a:r>
                    </a:p>
                  </a:txBody>
                  <a:tcPr anchor="ctr"/>
                </a:tc>
                <a:tc>
                  <a:txBody>
                    <a:bodyPr/>
                    <a:lstStyle/>
                    <a:p>
                      <a:pPr algn="ctr"/>
                      <a:r>
                        <a:rPr lang="fr-FR" sz="1400"/>
                        <a:t>🧪Initiation</a:t>
                      </a:r>
                    </a:p>
                  </a:txBody>
                  <a:tcPr anchor="ctr"/>
                </a:tc>
                <a:tc>
                  <a:txBody>
                    <a:bodyPr/>
                    <a:lstStyle/>
                    <a:p>
                      <a:pPr algn="ctr"/>
                      <a:r>
                        <a:rPr lang="fr-FR" sz="1400" dirty="0"/>
                        <a:t>💥Choc de la réalité</a:t>
                      </a:r>
                    </a:p>
                  </a:txBody>
                  <a:tcPr anchor="ctr"/>
                </a:tc>
                <a:tc>
                  <a:txBody>
                    <a:bodyPr/>
                    <a:lstStyle/>
                    <a:p>
                      <a:pPr algn="ctr"/>
                      <a:r>
                        <a:rPr lang="fr-FR" sz="1400"/>
                        <a:t>🏆Confirmation des réussites</a:t>
                      </a:r>
                    </a:p>
                  </a:txBody>
                  <a:tcPr anchor="ctr"/>
                </a:tc>
                <a:tc>
                  <a:txBody>
                    <a:bodyPr/>
                    <a:lstStyle/>
                    <a:p>
                      <a:pPr algn="ctr"/>
                      <a:r>
                        <a:rPr lang="fr-FR" sz="1400"/>
                        <a:t>📣Exposition</a:t>
                      </a:r>
                    </a:p>
                  </a:txBody>
                  <a:tcPr anchor="ctr"/>
                </a:tc>
                <a:tc>
                  <a:txBody>
                    <a:bodyPr/>
                    <a:lstStyle/>
                    <a:p>
                      <a:pPr algn="ctr"/>
                      <a:r>
                        <a:rPr lang="fr-FR" sz="1400"/>
                        <a:t>🏰Fortification</a:t>
                      </a:r>
                    </a:p>
                  </a:txBody>
                  <a:tcPr anchor="ctr"/>
                </a:tc>
                <a:extLst>
                  <a:ext uri="{0D108BD9-81ED-4DB2-BD59-A6C34878D82A}">
                    <a16:rowId xmlns:a16="http://schemas.microsoft.com/office/drawing/2014/main" val="636236785"/>
                  </a:ext>
                </a:extLst>
              </a:tr>
              <a:tr h="603891">
                <a:tc>
                  <a:txBody>
                    <a:bodyPr/>
                    <a:lstStyle/>
                    <a:p>
                      <a:pPr algn="ctr"/>
                      <a:r>
                        <a:rPr lang="fr-FR" sz="1400"/>
                        <a:t>💡Inspiration</a:t>
                      </a:r>
                    </a:p>
                  </a:txBody>
                  <a:tcPr anchor="ctr"/>
                </a:tc>
                <a:tc>
                  <a:txBody>
                    <a:bodyPr/>
                    <a:lstStyle/>
                    <a:p>
                      <a:pPr algn="ctr"/>
                      <a:endParaRPr lang="fr-FR" sz="900" i="1"/>
                    </a:p>
                  </a:txBody>
                  <a:tcPr>
                    <a:solidFill>
                      <a:srgbClr val="92D050"/>
                    </a:solidFill>
                  </a:tcPr>
                </a:tc>
                <a:tc>
                  <a:txBody>
                    <a:bodyPr/>
                    <a:lstStyle/>
                    <a:p>
                      <a:pPr algn="ctr"/>
                      <a:r>
                        <a:rPr lang="fr-FR" sz="900" i="1"/>
                        <a:t>« Merci pour les exemples, mais en quoi cela s‘applique  à nous ? »</a:t>
                      </a:r>
                    </a:p>
                  </a:txBody>
                  <a:tcPr/>
                </a:tc>
                <a:tc>
                  <a:txBody>
                    <a:bodyPr/>
                    <a:lstStyle/>
                    <a:p>
                      <a:pPr algn="ctr"/>
                      <a:r>
                        <a:rPr lang="fr-FR" sz="900" i="1"/>
                        <a:t>« J’aimerais passer à l’action, pas juste entendre parler d’exemples lointains »</a:t>
                      </a:r>
                    </a:p>
                  </a:txBody>
                  <a:tcPr/>
                </a:tc>
                <a:tc>
                  <a:txBody>
                    <a:bodyPr/>
                    <a:lstStyle/>
                    <a:p>
                      <a:pPr algn="ctr"/>
                      <a:r>
                        <a:rPr lang="fr-FR" sz="900" i="1"/>
                        <a:t>« Le rêve c’est bien, mais mensonger par rapport à la réalité, surtout celle que je vis »</a:t>
                      </a:r>
                    </a:p>
                  </a:txBody>
                  <a:tcPr/>
                </a:tc>
                <a:tc>
                  <a:txBody>
                    <a:bodyPr/>
                    <a:lstStyle/>
                    <a:p>
                      <a:pPr algn="ctr"/>
                      <a:r>
                        <a:rPr lang="fr-FR" sz="900" i="1"/>
                        <a:t>« Merci, vous prêchez des convaincus. On connaît déjà. »</a:t>
                      </a:r>
                    </a:p>
                  </a:txBody>
                  <a:tcPr/>
                </a:tc>
                <a:tc>
                  <a:txBody>
                    <a:bodyPr/>
                    <a:lstStyle/>
                    <a:p>
                      <a:pPr algn="ctr"/>
                      <a:r>
                        <a:rPr lang="fr-FR" sz="900" i="1"/>
                        <a:t>« On pourrait plutôt utiliser le même contenu pour inspirer d’autres »</a:t>
                      </a:r>
                    </a:p>
                  </a:txBody>
                  <a:tcPr/>
                </a:tc>
                <a:tc>
                  <a:txBody>
                    <a:bodyPr/>
                    <a:lstStyle/>
                    <a:p>
                      <a:pPr algn="ctr"/>
                      <a:r>
                        <a:rPr lang="fr-FR" sz="900" i="1" dirty="0"/>
                        <a:t>« Il est temps d’officialiser, sinon on devra tout recommencer. »</a:t>
                      </a:r>
                    </a:p>
                  </a:txBody>
                  <a:tcPr/>
                </a:tc>
                <a:extLst>
                  <a:ext uri="{0D108BD9-81ED-4DB2-BD59-A6C34878D82A}">
                    <a16:rowId xmlns:a16="http://schemas.microsoft.com/office/drawing/2014/main" val="1572977377"/>
                  </a:ext>
                </a:extLst>
              </a:tr>
              <a:tr h="733296">
                <a:tc>
                  <a:txBody>
                    <a:bodyPr/>
                    <a:lstStyle/>
                    <a:p>
                      <a:pPr algn="ctr"/>
                      <a:r>
                        <a:rPr lang="fr-FR" sz="1400"/>
                        <a:t>🔍Collecte</a:t>
                      </a:r>
                    </a:p>
                  </a:txBody>
                  <a:tcPr anchor="ctr"/>
                </a:tc>
                <a:tc>
                  <a:txBody>
                    <a:bodyPr/>
                    <a:lstStyle/>
                    <a:p>
                      <a:pPr algn="ctr"/>
                      <a:r>
                        <a:rPr lang="fr-FR" sz="900" i="1" dirty="0"/>
                        <a:t>« Je n’ai pas vraiment envie de m’impliquer à ce stade, ce thème ne me parle pas»</a:t>
                      </a:r>
                    </a:p>
                  </a:txBody>
                  <a:tcPr/>
                </a:tc>
                <a:tc>
                  <a:txBody>
                    <a:bodyPr/>
                    <a:lstStyle/>
                    <a:p>
                      <a:pPr algn="ctr"/>
                      <a:endParaRPr lang="fr-FR" sz="900" i="1"/>
                    </a:p>
                  </a:txBody>
                  <a:tcPr>
                    <a:solidFill>
                      <a:srgbClr val="92D050"/>
                    </a:solidFill>
                  </a:tcPr>
                </a:tc>
                <a:tc>
                  <a:txBody>
                    <a:bodyPr/>
                    <a:lstStyle/>
                    <a:p>
                      <a:pPr algn="ctr"/>
                      <a:r>
                        <a:rPr lang="fr-FR" sz="900" i="1"/>
                        <a:t>« Les membres ont déjà fait le point, mais si on ne passe pas à l’action cela n’a aucun sens »</a:t>
                      </a:r>
                    </a:p>
                  </a:txBody>
                  <a:tcPr/>
                </a:tc>
                <a:tc>
                  <a:txBody>
                    <a:bodyPr/>
                    <a:lstStyle/>
                    <a:p>
                      <a:pPr algn="ctr"/>
                      <a:r>
                        <a:rPr lang="fr-FR" sz="900" i="1"/>
                        <a:t>« La situation est bien plus compliquée que la collecte de nos souhaits, et il y a beaucoup de détails à donner sur les risques »</a:t>
                      </a:r>
                    </a:p>
                  </a:txBody>
                  <a:tcPr/>
                </a:tc>
                <a:tc>
                  <a:txBody>
                    <a:bodyPr/>
                    <a:lstStyle/>
                    <a:p>
                      <a:pPr algn="ctr"/>
                      <a:r>
                        <a:rPr lang="fr-FR" sz="900" i="1" dirty="0"/>
                        <a:t>« Nous avons déjà bien pratiqué ce sujet nous aussi, la collecte ne nous apportera que peu d’informations »</a:t>
                      </a:r>
                    </a:p>
                  </a:txBody>
                  <a:tcPr/>
                </a:tc>
                <a:tc>
                  <a:txBody>
                    <a:bodyPr/>
                    <a:lstStyle/>
                    <a:p>
                      <a:pPr algn="ctr"/>
                      <a:r>
                        <a:rPr lang="fr-FR" sz="900" i="1" dirty="0"/>
                        <a:t>« Notre concentration concerne le déploiement du changement chez les autres, pas chez nous même, qui avons déjà assez de recul »</a:t>
                      </a:r>
                    </a:p>
                  </a:txBody>
                  <a:tcPr/>
                </a:tc>
                <a:tc>
                  <a:txBody>
                    <a:bodyPr/>
                    <a:lstStyle/>
                    <a:p>
                      <a:pPr algn="ctr"/>
                      <a:r>
                        <a:rPr lang="fr-FR" sz="900" i="1" dirty="0"/>
                        <a:t>« Ce n’est pas uniquement nos avis qui comptent, ils sont connus depuis longtemps, mais plutôt ceux de nos hiérarchies »</a:t>
                      </a:r>
                    </a:p>
                  </a:txBody>
                  <a:tcPr/>
                </a:tc>
                <a:extLst>
                  <a:ext uri="{0D108BD9-81ED-4DB2-BD59-A6C34878D82A}">
                    <a16:rowId xmlns:a16="http://schemas.microsoft.com/office/drawing/2014/main" val="2738260543"/>
                  </a:ext>
                </a:extLst>
              </a:tr>
              <a:tr h="603891">
                <a:tc>
                  <a:txBody>
                    <a:bodyPr/>
                    <a:lstStyle/>
                    <a:p>
                      <a:pPr algn="ctr"/>
                      <a:r>
                        <a:rPr lang="fr-FR" sz="1400"/>
                        <a:t>🧪Initiation</a:t>
                      </a:r>
                    </a:p>
                  </a:txBody>
                  <a:tcPr anchor="ctr"/>
                </a:tc>
                <a:tc>
                  <a:txBody>
                    <a:bodyPr/>
                    <a:lstStyle/>
                    <a:p>
                      <a:pPr algn="ctr"/>
                      <a:r>
                        <a:rPr lang="fr-FR" sz="900" i="1"/>
                        <a:t>« Apprendre de la nouveauté qui ne me concerne pas est un luxe que je n’ai pas »</a:t>
                      </a:r>
                    </a:p>
                  </a:txBody>
                  <a:tcPr/>
                </a:tc>
                <a:tc>
                  <a:txBody>
                    <a:bodyPr/>
                    <a:lstStyle/>
                    <a:p>
                      <a:pPr algn="ctr"/>
                      <a:r>
                        <a:rPr lang="fr-FR" sz="900" i="1"/>
                        <a:t>« Je ne me sens pas encore de me lancer tout de suite, l’opportunité est trop floue pour moi »</a:t>
                      </a:r>
                    </a:p>
                  </a:txBody>
                  <a:tcPr/>
                </a:tc>
                <a:tc>
                  <a:txBody>
                    <a:bodyPr/>
                    <a:lstStyle/>
                    <a:p>
                      <a:pPr algn="ctr"/>
                      <a:endParaRPr lang="fr-FR" sz="900" i="1"/>
                    </a:p>
                  </a:txBody>
                  <a:tcPr>
                    <a:solidFill>
                      <a:srgbClr val="92D050"/>
                    </a:solidFill>
                  </a:tcPr>
                </a:tc>
                <a:tc>
                  <a:txBody>
                    <a:bodyPr/>
                    <a:lstStyle/>
                    <a:p>
                      <a:pPr algn="ctr"/>
                      <a:r>
                        <a:rPr lang="fr-FR" sz="900" i="1" dirty="0"/>
                        <a:t>« La formation est toujours plus </a:t>
                      </a:r>
                      <a:r>
                        <a:rPr lang="fr-FR" sz="900" i="1" dirty="0" err="1"/>
                        <a:t>simplifiante</a:t>
                      </a:r>
                      <a:r>
                        <a:rPr lang="fr-FR" sz="900" i="1" dirty="0"/>
                        <a:t> que la réalité, le papier et le terrain sont différents. »</a:t>
                      </a:r>
                    </a:p>
                  </a:txBody>
                  <a:tcPr/>
                </a:tc>
                <a:tc>
                  <a:txBody>
                    <a:bodyPr/>
                    <a:lstStyle/>
                    <a:p>
                      <a:pPr algn="ctr"/>
                      <a:r>
                        <a:rPr lang="fr-FR" sz="900" i="1" dirty="0"/>
                        <a:t>« Nous sommes toujours motivés pour apprendre, mais nous connaissons déjà ces sujets »</a:t>
                      </a:r>
                    </a:p>
                  </a:txBody>
                  <a:tcPr/>
                </a:tc>
                <a:tc>
                  <a:txBody>
                    <a:bodyPr/>
                    <a:lstStyle/>
                    <a:p>
                      <a:pPr algn="ctr"/>
                      <a:r>
                        <a:rPr lang="fr-FR" sz="900" i="1" dirty="0"/>
                        <a:t>« Il est important de se former, mais si cela ne touche que nous, ce sera à deux vitesses et dommageable »</a:t>
                      </a:r>
                    </a:p>
                  </a:txBody>
                  <a:tcPr/>
                </a:tc>
                <a:tc>
                  <a:txBody>
                    <a:bodyPr/>
                    <a:lstStyle/>
                    <a:p>
                      <a:pPr algn="ctr"/>
                      <a:r>
                        <a:rPr lang="fr-FR" sz="900" i="1" dirty="0"/>
                        <a:t>« Se former nous même oui, mais pourquoi ne pas directement filtrer les personnes qui connaissent déjà le changement ? »</a:t>
                      </a:r>
                    </a:p>
                  </a:txBody>
                  <a:tcPr/>
                </a:tc>
                <a:extLst>
                  <a:ext uri="{0D108BD9-81ED-4DB2-BD59-A6C34878D82A}">
                    <a16:rowId xmlns:a16="http://schemas.microsoft.com/office/drawing/2014/main" val="103472952"/>
                  </a:ext>
                </a:extLst>
              </a:tr>
              <a:tr h="862701">
                <a:tc>
                  <a:txBody>
                    <a:bodyPr/>
                    <a:lstStyle/>
                    <a:p>
                      <a:pPr algn="ctr"/>
                      <a:r>
                        <a:rPr lang="fr-FR" sz="1400"/>
                        <a:t>💥Choc de la réalité</a:t>
                      </a:r>
                    </a:p>
                  </a:txBody>
                  <a:tcPr anchor="ctr"/>
                </a:tc>
                <a:tc>
                  <a:txBody>
                    <a:bodyPr/>
                    <a:lstStyle/>
                    <a:p>
                      <a:pPr algn="ctr"/>
                      <a:r>
                        <a:rPr lang="fr-FR" sz="900" i="1"/>
                        <a:t>« Ce sujet n’a encore aucune réalité opérationnelle pour nous, c’est trop complexe pour du vide »</a:t>
                      </a:r>
                    </a:p>
                  </a:txBody>
                  <a:tcPr/>
                </a:tc>
                <a:tc>
                  <a:txBody>
                    <a:bodyPr/>
                    <a:lstStyle/>
                    <a:p>
                      <a:pPr algn="ctr"/>
                      <a:r>
                        <a:rPr lang="fr-FR" sz="900" i="1"/>
                        <a:t>« Ce que vous me proposez est déjà trop complexe et peut-être surdimensionné comme dispositif, je n’ai même pas encore commencé »</a:t>
                      </a:r>
                    </a:p>
                  </a:txBody>
                  <a:tcPr/>
                </a:tc>
                <a:tc>
                  <a:txBody>
                    <a:bodyPr/>
                    <a:lstStyle/>
                    <a:p>
                      <a:pPr algn="ctr"/>
                      <a:r>
                        <a:rPr lang="fr-FR" sz="900" i="1" dirty="0"/>
                        <a:t>« Ce que vous proposez est trop difficile et trop complexe pour notre état actuel, nous n’avons pas assez pratiqué pour appliquer »</a:t>
                      </a:r>
                    </a:p>
                  </a:txBody>
                  <a:tcPr/>
                </a:tc>
                <a:tc>
                  <a:txBody>
                    <a:bodyPr/>
                    <a:lstStyle/>
                    <a:p>
                      <a:pPr algn="ctr"/>
                      <a:endParaRPr lang="fr-FR" sz="900" i="1" dirty="0"/>
                    </a:p>
                  </a:txBody>
                  <a:tcPr>
                    <a:solidFill>
                      <a:srgbClr val="92D050"/>
                    </a:solidFill>
                  </a:tcPr>
                </a:tc>
                <a:tc>
                  <a:txBody>
                    <a:bodyPr/>
                    <a:lstStyle/>
                    <a:p>
                      <a:pPr algn="ctr"/>
                      <a:r>
                        <a:rPr lang="fr-FR" sz="900" i="1" dirty="0"/>
                        <a:t>« Il n’y a plus trop d’activités importantes qui justifieraient un tel niveau de support, les changements sont en place. »</a:t>
                      </a:r>
                    </a:p>
                  </a:txBody>
                  <a:tcPr/>
                </a:tc>
                <a:tc>
                  <a:txBody>
                    <a:bodyPr/>
                    <a:lstStyle/>
                    <a:p>
                      <a:pPr algn="ctr"/>
                      <a:r>
                        <a:rPr lang="fr-FR" sz="900" i="1" dirty="0"/>
                        <a:t>« Nous nous connaissons déjà assez bien nous même, le support serait plutôt intéressant à apporter à d’autres. »</a:t>
                      </a:r>
                    </a:p>
                  </a:txBody>
                  <a:tcPr/>
                </a:tc>
                <a:tc>
                  <a:txBody>
                    <a:bodyPr/>
                    <a:lstStyle/>
                    <a:p>
                      <a:pPr algn="ctr"/>
                      <a:r>
                        <a:rPr lang="fr-FR" sz="900" i="1" dirty="0"/>
                        <a:t>« Pour pouvoir affronter les difficultés, il y a parfois besoin d’officialiser plutôt que tout gérer en informel communautaire »</a:t>
                      </a:r>
                    </a:p>
                  </a:txBody>
                  <a:tcPr/>
                </a:tc>
                <a:extLst>
                  <a:ext uri="{0D108BD9-81ED-4DB2-BD59-A6C34878D82A}">
                    <a16:rowId xmlns:a16="http://schemas.microsoft.com/office/drawing/2014/main" val="565666870"/>
                  </a:ext>
                </a:extLst>
              </a:tr>
              <a:tr h="733296">
                <a:tc>
                  <a:txBody>
                    <a:bodyPr/>
                    <a:lstStyle/>
                    <a:p>
                      <a:pPr algn="ctr"/>
                      <a:r>
                        <a:rPr lang="fr-FR" sz="1400"/>
                        <a:t>🏆Confirmation des réussites</a:t>
                      </a:r>
                    </a:p>
                  </a:txBody>
                  <a:tcPr anchor="ctr"/>
                </a:tc>
                <a:tc>
                  <a:txBody>
                    <a:bodyPr/>
                    <a:lstStyle/>
                    <a:p>
                      <a:pPr algn="ctr"/>
                      <a:r>
                        <a:rPr lang="fr-FR" sz="900" i="1"/>
                        <a:t>« Les bonnes pratiques c’est bien, mais pour ça il faut bien en avoir envie »</a:t>
                      </a:r>
                    </a:p>
                  </a:txBody>
                  <a:tcPr/>
                </a:tc>
                <a:tc>
                  <a:txBody>
                    <a:bodyPr/>
                    <a:lstStyle/>
                    <a:p>
                      <a:pPr algn="ctr"/>
                      <a:r>
                        <a:rPr lang="fr-FR" sz="900" i="1" dirty="0"/>
                        <a:t>« Oui nous avons des bonnes pratiques, mais nous ne nous sentons pas assez concernés pour les recenser »</a:t>
                      </a:r>
                    </a:p>
                  </a:txBody>
                  <a:tcPr/>
                </a:tc>
                <a:tc>
                  <a:txBody>
                    <a:bodyPr/>
                    <a:lstStyle/>
                    <a:p>
                      <a:pPr algn="ctr"/>
                      <a:r>
                        <a:rPr lang="fr-FR" sz="900" i="1" dirty="0"/>
                        <a:t>« Nous sommes à peine en train de nous former que vous voulez déjà des bonnes pratiques, qui n’ont pas encore vu le terrain ? »</a:t>
                      </a:r>
                    </a:p>
                  </a:txBody>
                  <a:tcPr/>
                </a:tc>
                <a:tc>
                  <a:txBody>
                    <a:bodyPr/>
                    <a:lstStyle/>
                    <a:p>
                      <a:pPr algn="ctr"/>
                      <a:r>
                        <a:rPr lang="fr-FR" sz="900" i="1" dirty="0"/>
                        <a:t>« Nous n’avons pas encore vraiment appliqué à un niveau satisfaisant, comment pourrions nous crier victoire maintenant ? »</a:t>
                      </a:r>
                    </a:p>
                  </a:txBody>
                  <a:tcPr/>
                </a:tc>
                <a:tc>
                  <a:txBody>
                    <a:bodyPr/>
                    <a:lstStyle/>
                    <a:p>
                      <a:pPr algn="ctr"/>
                      <a:endParaRPr lang="fr-FR" sz="900" i="1" dirty="0"/>
                    </a:p>
                  </a:txBody>
                  <a:tcPr>
                    <a:solidFill>
                      <a:srgbClr val="92D050"/>
                    </a:solidFill>
                  </a:tcPr>
                </a:tc>
                <a:tc>
                  <a:txBody>
                    <a:bodyPr/>
                    <a:lstStyle/>
                    <a:p>
                      <a:pPr algn="ctr"/>
                      <a:r>
                        <a:rPr lang="fr-FR" sz="900" i="1" dirty="0"/>
                        <a:t>« Nous avons déjà fait la liste des bonnes pratiques, mais ce n’est pas suffisant de seulement la stocker pour nous même. »</a:t>
                      </a:r>
                    </a:p>
                  </a:txBody>
                  <a:tcPr/>
                </a:tc>
                <a:tc>
                  <a:txBody>
                    <a:bodyPr/>
                    <a:lstStyle/>
                    <a:p>
                      <a:pPr algn="ctr"/>
                      <a:r>
                        <a:rPr lang="fr-FR" sz="900" i="1" dirty="0"/>
                        <a:t>« Il est temps de faire des réussites une vraie caractéristique de l’entreprise pas un accident de parcours »</a:t>
                      </a:r>
                    </a:p>
                  </a:txBody>
                  <a:tcPr/>
                </a:tc>
                <a:extLst>
                  <a:ext uri="{0D108BD9-81ED-4DB2-BD59-A6C34878D82A}">
                    <a16:rowId xmlns:a16="http://schemas.microsoft.com/office/drawing/2014/main" val="1970098905"/>
                  </a:ext>
                </a:extLst>
              </a:tr>
              <a:tr h="733296">
                <a:tc>
                  <a:txBody>
                    <a:bodyPr/>
                    <a:lstStyle/>
                    <a:p>
                      <a:pPr algn="ctr"/>
                      <a:r>
                        <a:rPr lang="fr-FR" sz="1400"/>
                        <a:t>📣Exposition</a:t>
                      </a:r>
                    </a:p>
                  </a:txBody>
                  <a:tcPr anchor="ctr"/>
                </a:tc>
                <a:tc>
                  <a:txBody>
                    <a:bodyPr/>
                    <a:lstStyle/>
                    <a:p>
                      <a:pPr algn="ctr"/>
                      <a:r>
                        <a:rPr lang="fr-FR" sz="900" i="1"/>
                        <a:t>« Nous ne sommes pas légitimes pour porter ailleurs un changement dont nous n’avons aucune idée nous même »</a:t>
                      </a:r>
                    </a:p>
                  </a:txBody>
                  <a:tcPr/>
                </a:tc>
                <a:tc>
                  <a:txBody>
                    <a:bodyPr/>
                    <a:lstStyle/>
                    <a:p>
                      <a:pPr algn="ctr"/>
                      <a:r>
                        <a:rPr lang="fr-FR" sz="900" i="1" dirty="0"/>
                        <a:t>« Nous ne nous sentons pas encore assez concernés par ce sujet pour aller le porter ailleurs.</a:t>
                      </a:r>
                    </a:p>
                  </a:txBody>
                  <a:tcPr/>
                </a:tc>
                <a:tc>
                  <a:txBody>
                    <a:bodyPr/>
                    <a:lstStyle/>
                    <a:p>
                      <a:pPr algn="ctr"/>
                      <a:r>
                        <a:rPr lang="fr-FR" sz="900" i="1" dirty="0"/>
                        <a:t>« Nous ne nous sommes pas légitimes pour créer chez d’autres ce que nous même n’avons pas réellement appliqué nous même. »</a:t>
                      </a:r>
                    </a:p>
                  </a:txBody>
                  <a:tcPr/>
                </a:tc>
                <a:tc>
                  <a:txBody>
                    <a:bodyPr/>
                    <a:lstStyle/>
                    <a:p>
                      <a:pPr algn="ctr"/>
                      <a:r>
                        <a:rPr lang="fr-FR" sz="900" i="1" dirty="0"/>
                        <a:t>« Il y a déjà trop à faire sur l’application réelle et à propos de nous même avant d’aller s’occuper des autres. »</a:t>
                      </a:r>
                    </a:p>
                  </a:txBody>
                  <a:tcPr/>
                </a:tc>
                <a:tc>
                  <a:txBody>
                    <a:bodyPr/>
                    <a:lstStyle/>
                    <a:p>
                      <a:pPr algn="ctr"/>
                      <a:r>
                        <a:rPr lang="fr-FR" sz="900" i="1" dirty="0"/>
                        <a:t>« Nous avons réussi à mettre en place certaines choses, mais nous ne nous sentons pas encore prêts à partager. »</a:t>
                      </a:r>
                    </a:p>
                  </a:txBody>
                  <a:tcPr/>
                </a:tc>
                <a:tc>
                  <a:txBody>
                    <a:bodyPr/>
                    <a:lstStyle/>
                    <a:p>
                      <a:pPr algn="ctr"/>
                      <a:endParaRPr lang="fr-FR" sz="900" i="1" dirty="0"/>
                    </a:p>
                  </a:txBody>
                  <a:tcPr>
                    <a:solidFill>
                      <a:srgbClr val="92D050"/>
                    </a:solidFill>
                  </a:tcPr>
                </a:tc>
                <a:tc>
                  <a:txBody>
                    <a:bodyPr/>
                    <a:lstStyle/>
                    <a:p>
                      <a:pPr algn="ctr"/>
                      <a:r>
                        <a:rPr lang="fr-FR" sz="900" i="1" dirty="0"/>
                        <a:t>« Aller prêcher le changement ne pourra être vraiment être efficace sur le long terme que si on l’officialise. »</a:t>
                      </a:r>
                    </a:p>
                  </a:txBody>
                  <a:tcPr/>
                </a:tc>
                <a:extLst>
                  <a:ext uri="{0D108BD9-81ED-4DB2-BD59-A6C34878D82A}">
                    <a16:rowId xmlns:a16="http://schemas.microsoft.com/office/drawing/2014/main" val="155667572"/>
                  </a:ext>
                </a:extLst>
              </a:tr>
              <a:tr h="603891">
                <a:tc>
                  <a:txBody>
                    <a:bodyPr/>
                    <a:lstStyle/>
                    <a:p>
                      <a:pPr algn="ctr"/>
                      <a:r>
                        <a:rPr lang="fr-FR" sz="1400"/>
                        <a:t>🏰Fortification</a:t>
                      </a:r>
                    </a:p>
                  </a:txBody>
                  <a:tcPr anchor="ctr"/>
                </a:tc>
                <a:tc>
                  <a:txBody>
                    <a:bodyPr/>
                    <a:lstStyle/>
                    <a:p>
                      <a:pPr algn="ctr"/>
                      <a:r>
                        <a:rPr lang="fr-FR" sz="900" i="1"/>
                        <a:t>« Encore des fonctions qui nous tombent dessus alors qu’on ne connaît rien au sujet »</a:t>
                      </a:r>
                    </a:p>
                  </a:txBody>
                  <a:tcPr/>
                </a:tc>
                <a:tc>
                  <a:txBody>
                    <a:bodyPr/>
                    <a:lstStyle/>
                    <a:p>
                      <a:pPr algn="ctr"/>
                      <a:r>
                        <a:rPr lang="fr-FR" sz="900" i="1"/>
                        <a:t>« On ne m’a pas demandé mon avis et à quel point je suis concerné avant de vouloir me coller un titre » </a:t>
                      </a:r>
                    </a:p>
                  </a:txBody>
                  <a:tcPr/>
                </a:tc>
                <a:tc>
                  <a:txBody>
                    <a:bodyPr/>
                    <a:lstStyle/>
                    <a:p>
                      <a:pPr algn="ctr"/>
                      <a:r>
                        <a:rPr lang="fr-FR" sz="900" i="1" dirty="0"/>
                        <a:t>« Nous sommes en inconfort à être officiellement attitrés sur ce changement alors que nous n’y sommes même pas formés »</a:t>
                      </a:r>
                    </a:p>
                  </a:txBody>
                  <a:tcPr/>
                </a:tc>
                <a:tc>
                  <a:txBody>
                    <a:bodyPr/>
                    <a:lstStyle/>
                    <a:p>
                      <a:pPr algn="ctr"/>
                      <a:r>
                        <a:rPr lang="fr-FR" sz="900" i="1" dirty="0"/>
                        <a:t>« Changer le titre pourra peut-être nous aider à avoir plus de légitimité, mais pas forcément un meilleur résultat. »</a:t>
                      </a:r>
                    </a:p>
                  </a:txBody>
                  <a:tcPr/>
                </a:tc>
                <a:tc>
                  <a:txBody>
                    <a:bodyPr/>
                    <a:lstStyle/>
                    <a:p>
                      <a:pPr algn="ctr"/>
                      <a:r>
                        <a:rPr lang="fr-FR" sz="900" i="1" dirty="0"/>
                        <a:t>« Ce n’est pas parce que nous avons réussi un changement que nous sommes prêts à en porter le poids du titre officiel »</a:t>
                      </a:r>
                    </a:p>
                  </a:txBody>
                  <a:tcPr/>
                </a:tc>
                <a:tc>
                  <a:txBody>
                    <a:bodyPr/>
                    <a:lstStyle/>
                    <a:p>
                      <a:pPr algn="ctr"/>
                      <a:r>
                        <a:rPr lang="fr-FR" sz="900" i="1" dirty="0"/>
                        <a:t>« Il est trop tôt pour officialiser certains changements, nous ne sommes pas assez nombreux. »</a:t>
                      </a:r>
                    </a:p>
                  </a:txBody>
                  <a:tcPr/>
                </a:tc>
                <a:tc>
                  <a:txBody>
                    <a:bodyPr/>
                    <a:lstStyle/>
                    <a:p>
                      <a:pPr algn="ctr"/>
                      <a:endParaRPr lang="fr-FR" sz="900" i="1" dirty="0"/>
                    </a:p>
                  </a:txBody>
                  <a:tcPr>
                    <a:solidFill>
                      <a:srgbClr val="92D050"/>
                    </a:solidFill>
                  </a:tcPr>
                </a:tc>
                <a:extLst>
                  <a:ext uri="{0D108BD9-81ED-4DB2-BD59-A6C34878D82A}">
                    <a16:rowId xmlns:a16="http://schemas.microsoft.com/office/drawing/2014/main" val="2958938991"/>
                  </a:ext>
                </a:extLst>
              </a:tr>
            </a:tbl>
          </a:graphicData>
        </a:graphic>
      </p:graphicFrame>
    </p:spTree>
    <p:extLst>
      <p:ext uri="{BB962C8B-B14F-4D97-AF65-F5344CB8AC3E}">
        <p14:creationId xmlns:p14="http://schemas.microsoft.com/office/powerpoint/2010/main" val="4255801695"/>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Motivateurs les plus adaptés par phase</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76940" y="1138312"/>
            <a:ext cx="12038120" cy="1498765"/>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grpSp>
        <p:nvGrpSpPr>
          <p:cNvPr id="4" name="Groupe 3">
            <a:extLst>
              <a:ext uri="{FF2B5EF4-FFF2-40B4-BE49-F238E27FC236}">
                <a16:creationId xmlns:a16="http://schemas.microsoft.com/office/drawing/2014/main" id="{BBDB8673-C00C-81FD-4A77-6BC2A0E9FA1C}"/>
              </a:ext>
            </a:extLst>
          </p:cNvPr>
          <p:cNvGrpSpPr/>
          <p:nvPr/>
        </p:nvGrpSpPr>
        <p:grpSpPr>
          <a:xfrm>
            <a:off x="8897991" y="3891621"/>
            <a:ext cx="1286847" cy="1039472"/>
            <a:chOff x="8129937" y="4169500"/>
            <a:chExt cx="1286847" cy="1039472"/>
          </a:xfrm>
        </p:grpSpPr>
        <p:pic>
          <p:nvPicPr>
            <p:cNvPr id="31" name="Graphique 30" descr="Poignée de main avec un remplissage uni">
              <a:extLst>
                <a:ext uri="{FF2B5EF4-FFF2-40B4-BE49-F238E27FC236}">
                  <a16:creationId xmlns:a16="http://schemas.microsoft.com/office/drawing/2014/main" id="{C8DB20A8-738B-54F7-8F01-214A4DACC34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378292" y="4169500"/>
              <a:ext cx="703975" cy="703975"/>
            </a:xfrm>
            <a:prstGeom prst="rect">
              <a:avLst/>
            </a:prstGeom>
          </p:spPr>
        </p:pic>
        <p:sp>
          <p:nvSpPr>
            <p:cNvPr id="36" name="ZoneTexte 35">
              <a:extLst>
                <a:ext uri="{FF2B5EF4-FFF2-40B4-BE49-F238E27FC236}">
                  <a16:creationId xmlns:a16="http://schemas.microsoft.com/office/drawing/2014/main" id="{9E9470F3-7481-CAAF-A10B-8ABF59294C1B}"/>
                </a:ext>
              </a:extLst>
            </p:cNvPr>
            <p:cNvSpPr txBox="1"/>
            <p:nvPr/>
          </p:nvSpPr>
          <p:spPr>
            <a:xfrm>
              <a:off x="8129937" y="4747307"/>
              <a:ext cx="1286847" cy="461665"/>
            </a:xfrm>
            <a:prstGeom prst="rect">
              <a:avLst/>
            </a:prstGeom>
            <a:noFill/>
          </p:spPr>
          <p:txBody>
            <a:bodyPr wrap="square">
              <a:spAutoFit/>
            </a:bodyPr>
            <a:lstStyle/>
            <a:p>
              <a:pPr algn="ctr"/>
              <a:r>
                <a:rPr lang="fr-FR" sz="1200">
                  <a:solidFill>
                    <a:srgbClr val="ED7D31"/>
                  </a:solidFill>
                </a:rPr>
                <a:t>Lien avec les autres</a:t>
              </a:r>
            </a:p>
          </p:txBody>
        </p:sp>
      </p:grpSp>
      <p:grpSp>
        <p:nvGrpSpPr>
          <p:cNvPr id="10" name="Groupe 9">
            <a:extLst>
              <a:ext uri="{FF2B5EF4-FFF2-40B4-BE49-F238E27FC236}">
                <a16:creationId xmlns:a16="http://schemas.microsoft.com/office/drawing/2014/main" id="{352886FE-5123-6ECE-5593-5A9ADDC87EF2}"/>
              </a:ext>
            </a:extLst>
          </p:cNvPr>
          <p:cNvGrpSpPr/>
          <p:nvPr/>
        </p:nvGrpSpPr>
        <p:grpSpPr>
          <a:xfrm>
            <a:off x="380987" y="2760779"/>
            <a:ext cx="1005429" cy="711057"/>
            <a:chOff x="1693778" y="4252127"/>
            <a:chExt cx="1005429" cy="711057"/>
          </a:xfrm>
        </p:grpSpPr>
        <p:grpSp>
          <p:nvGrpSpPr>
            <p:cNvPr id="28" name="Groupe 27">
              <a:extLst>
                <a:ext uri="{FF2B5EF4-FFF2-40B4-BE49-F238E27FC236}">
                  <a16:creationId xmlns:a16="http://schemas.microsoft.com/office/drawing/2014/main" id="{2556BFAB-6F89-7C29-4261-406022ACDFD2}"/>
                </a:ext>
              </a:extLst>
            </p:cNvPr>
            <p:cNvGrpSpPr/>
            <p:nvPr/>
          </p:nvGrpSpPr>
          <p:grpSpPr>
            <a:xfrm>
              <a:off x="1812986" y="4252127"/>
              <a:ext cx="788755" cy="483536"/>
              <a:chOff x="8496164" y="663605"/>
              <a:chExt cx="2837988" cy="1739790"/>
            </a:xfrm>
          </p:grpSpPr>
          <p:pic>
            <p:nvPicPr>
              <p:cNvPr id="29" name="Graphique 28" descr="Évaluation 3 étoiles avec un remplissage uni">
                <a:extLst>
                  <a:ext uri="{FF2B5EF4-FFF2-40B4-BE49-F238E27FC236}">
                    <a16:creationId xmlns:a16="http://schemas.microsoft.com/office/drawing/2014/main" id="{089D42C9-49AE-C209-C0F9-0998B3C03AC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496164" y="663605"/>
                <a:ext cx="1739790" cy="1739790"/>
              </a:xfrm>
              <a:prstGeom prst="rect">
                <a:avLst/>
              </a:prstGeom>
            </p:spPr>
          </p:pic>
          <p:pic>
            <p:nvPicPr>
              <p:cNvPr id="30" name="Graphique 29" descr="Évaluation 3 étoiles avec un remplissage uni">
                <a:extLst>
                  <a:ext uri="{FF2B5EF4-FFF2-40B4-BE49-F238E27FC236}">
                    <a16:creationId xmlns:a16="http://schemas.microsoft.com/office/drawing/2014/main" id="{AA7C89C3-53A1-238E-6399-96F24F159840}"/>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3972"/>
              <a:stretch/>
            </p:blipFill>
            <p:spPr>
              <a:xfrm>
                <a:off x="10185399" y="663605"/>
                <a:ext cx="1148753" cy="1739790"/>
              </a:xfrm>
              <a:prstGeom prst="rect">
                <a:avLst/>
              </a:prstGeom>
            </p:spPr>
          </p:pic>
        </p:grpSp>
        <p:sp>
          <p:nvSpPr>
            <p:cNvPr id="39" name="ZoneTexte 38">
              <a:extLst>
                <a:ext uri="{FF2B5EF4-FFF2-40B4-BE49-F238E27FC236}">
                  <a16:creationId xmlns:a16="http://schemas.microsoft.com/office/drawing/2014/main" id="{E3CA85FE-7A10-C37C-421A-FF4EDCD650FB}"/>
                </a:ext>
              </a:extLst>
            </p:cNvPr>
            <p:cNvSpPr txBox="1"/>
            <p:nvPr/>
          </p:nvSpPr>
          <p:spPr>
            <a:xfrm>
              <a:off x="1693778" y="4686185"/>
              <a:ext cx="1005429" cy="276999"/>
            </a:xfrm>
            <a:prstGeom prst="rect">
              <a:avLst/>
            </a:prstGeom>
            <a:noFill/>
          </p:spPr>
          <p:txBody>
            <a:bodyPr wrap="square">
              <a:spAutoFit/>
            </a:bodyPr>
            <a:lstStyle/>
            <a:p>
              <a:pPr algn="ctr"/>
              <a:r>
                <a:rPr lang="fr-FR" sz="1200">
                  <a:solidFill>
                    <a:srgbClr val="ED7D31"/>
                  </a:solidFill>
                </a:rPr>
                <a:t>Stimulation</a:t>
              </a:r>
            </a:p>
          </p:txBody>
        </p:sp>
      </p:grpSp>
      <p:grpSp>
        <p:nvGrpSpPr>
          <p:cNvPr id="11" name="Groupe 10">
            <a:extLst>
              <a:ext uri="{FF2B5EF4-FFF2-40B4-BE49-F238E27FC236}">
                <a16:creationId xmlns:a16="http://schemas.microsoft.com/office/drawing/2014/main" id="{4BE9C3AE-3B8B-0A9C-EC5B-36CEE930FE52}"/>
              </a:ext>
            </a:extLst>
          </p:cNvPr>
          <p:cNvGrpSpPr/>
          <p:nvPr/>
        </p:nvGrpSpPr>
        <p:grpSpPr>
          <a:xfrm>
            <a:off x="10411744" y="2783643"/>
            <a:ext cx="1159993" cy="982047"/>
            <a:chOff x="484305" y="4178272"/>
            <a:chExt cx="1159993" cy="982047"/>
          </a:xfrm>
        </p:grpSpPr>
        <p:sp>
          <p:nvSpPr>
            <p:cNvPr id="38" name="ZoneTexte 37">
              <a:extLst>
                <a:ext uri="{FF2B5EF4-FFF2-40B4-BE49-F238E27FC236}">
                  <a16:creationId xmlns:a16="http://schemas.microsoft.com/office/drawing/2014/main" id="{D77F5C55-319B-77F4-4BAB-D0BA44474130}"/>
                </a:ext>
              </a:extLst>
            </p:cNvPr>
            <p:cNvSpPr txBox="1"/>
            <p:nvPr/>
          </p:nvSpPr>
          <p:spPr>
            <a:xfrm>
              <a:off x="484305" y="4698654"/>
              <a:ext cx="1159993" cy="461665"/>
            </a:xfrm>
            <a:prstGeom prst="rect">
              <a:avLst/>
            </a:prstGeom>
            <a:noFill/>
          </p:spPr>
          <p:txBody>
            <a:bodyPr wrap="square">
              <a:spAutoFit/>
            </a:bodyPr>
            <a:lstStyle/>
            <a:p>
              <a:pPr algn="ctr"/>
              <a:r>
                <a:rPr lang="fr-FR" sz="1200">
                  <a:solidFill>
                    <a:srgbClr val="ED7D31"/>
                  </a:solidFill>
                </a:rPr>
                <a:t>Liberté et temps libre</a:t>
              </a:r>
            </a:p>
          </p:txBody>
        </p:sp>
        <p:pic>
          <p:nvPicPr>
            <p:cNvPr id="41" name="Graphique 40" descr="Sablier plein avec un remplissage uni">
              <a:extLst>
                <a:ext uri="{FF2B5EF4-FFF2-40B4-BE49-F238E27FC236}">
                  <a16:creationId xmlns:a16="http://schemas.microsoft.com/office/drawing/2014/main" id="{56E4E171-530F-779F-F8DD-D3496A00259E}"/>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18443" y="4178272"/>
              <a:ext cx="543111" cy="543111"/>
            </a:xfrm>
            <a:prstGeom prst="rect">
              <a:avLst/>
            </a:prstGeom>
          </p:spPr>
        </p:pic>
      </p:grpSp>
      <p:grpSp>
        <p:nvGrpSpPr>
          <p:cNvPr id="3" name="Groupe 2">
            <a:extLst>
              <a:ext uri="{FF2B5EF4-FFF2-40B4-BE49-F238E27FC236}">
                <a16:creationId xmlns:a16="http://schemas.microsoft.com/office/drawing/2014/main" id="{A1818819-3270-DD27-0C7B-F2ADE9D798E6}"/>
              </a:ext>
            </a:extLst>
          </p:cNvPr>
          <p:cNvGrpSpPr/>
          <p:nvPr/>
        </p:nvGrpSpPr>
        <p:grpSpPr>
          <a:xfrm>
            <a:off x="5392566" y="2637400"/>
            <a:ext cx="1418652" cy="1334516"/>
            <a:chOff x="9262488" y="4069606"/>
            <a:chExt cx="1418652" cy="1334516"/>
          </a:xfrm>
        </p:grpSpPr>
        <p:sp>
          <p:nvSpPr>
            <p:cNvPr id="37" name="ZoneTexte 36">
              <a:extLst>
                <a:ext uri="{FF2B5EF4-FFF2-40B4-BE49-F238E27FC236}">
                  <a16:creationId xmlns:a16="http://schemas.microsoft.com/office/drawing/2014/main" id="{906555EE-AF39-10E3-8E4A-5157FF9650FA}"/>
                </a:ext>
              </a:extLst>
            </p:cNvPr>
            <p:cNvSpPr txBox="1"/>
            <p:nvPr/>
          </p:nvSpPr>
          <p:spPr>
            <a:xfrm>
              <a:off x="9262488" y="4665458"/>
              <a:ext cx="1418652" cy="738664"/>
            </a:xfrm>
            <a:prstGeom prst="rect">
              <a:avLst/>
            </a:prstGeom>
            <a:noFill/>
          </p:spPr>
          <p:txBody>
            <a:bodyPr wrap="square">
              <a:spAutoFit/>
            </a:bodyPr>
            <a:lstStyle/>
            <a:p>
              <a:pPr algn="ctr"/>
              <a:r>
                <a:rPr lang="fr-FR" sz="1050">
                  <a:solidFill>
                    <a:srgbClr val="ED7D31"/>
                  </a:solidFill>
                </a:rPr>
                <a:t>Satisfaction des obligations et responsabilités existantes</a:t>
              </a:r>
            </a:p>
          </p:txBody>
        </p:sp>
        <p:pic>
          <p:nvPicPr>
            <p:cNvPr id="65" name="Graphique 64" descr="Presse-papiers vérifié avec un remplissage uni">
              <a:extLst>
                <a:ext uri="{FF2B5EF4-FFF2-40B4-BE49-F238E27FC236}">
                  <a16:creationId xmlns:a16="http://schemas.microsoft.com/office/drawing/2014/main" id="{59753FE3-D82B-99C6-5522-95060194B99F}"/>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619336" y="4069606"/>
              <a:ext cx="703975" cy="703975"/>
            </a:xfrm>
            <a:prstGeom prst="rect">
              <a:avLst/>
            </a:prstGeom>
          </p:spPr>
        </p:pic>
      </p:grpSp>
      <p:grpSp>
        <p:nvGrpSpPr>
          <p:cNvPr id="9" name="Groupe 8">
            <a:extLst>
              <a:ext uri="{FF2B5EF4-FFF2-40B4-BE49-F238E27FC236}">
                <a16:creationId xmlns:a16="http://schemas.microsoft.com/office/drawing/2014/main" id="{CE7775B6-774B-B63A-94C3-A6BBEDD3586B}"/>
              </a:ext>
            </a:extLst>
          </p:cNvPr>
          <p:cNvGrpSpPr/>
          <p:nvPr/>
        </p:nvGrpSpPr>
        <p:grpSpPr>
          <a:xfrm>
            <a:off x="5505817" y="4746716"/>
            <a:ext cx="1250314" cy="1063535"/>
            <a:chOff x="2772771" y="4249209"/>
            <a:chExt cx="1250314" cy="1063535"/>
          </a:xfrm>
        </p:grpSpPr>
        <p:pic>
          <p:nvPicPr>
            <p:cNvPr id="35" name="Graphique 34" descr="Aspiration avec un remplissage uni">
              <a:extLst>
                <a:ext uri="{FF2B5EF4-FFF2-40B4-BE49-F238E27FC236}">
                  <a16:creationId xmlns:a16="http://schemas.microsoft.com/office/drawing/2014/main" id="{E1FDA64D-2EFB-2337-DCB8-08B1BBDFE69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148137" y="4249209"/>
              <a:ext cx="585744" cy="585744"/>
            </a:xfrm>
            <a:prstGeom prst="rect">
              <a:avLst/>
            </a:prstGeom>
          </p:spPr>
        </p:pic>
        <p:sp>
          <p:nvSpPr>
            <p:cNvPr id="66" name="ZoneTexte 65">
              <a:extLst>
                <a:ext uri="{FF2B5EF4-FFF2-40B4-BE49-F238E27FC236}">
                  <a16:creationId xmlns:a16="http://schemas.microsoft.com/office/drawing/2014/main" id="{FBF3FBA6-5527-5894-E3CC-84A5FCB4D85F}"/>
                </a:ext>
              </a:extLst>
            </p:cNvPr>
            <p:cNvSpPr txBox="1"/>
            <p:nvPr/>
          </p:nvSpPr>
          <p:spPr>
            <a:xfrm>
              <a:off x="2772771" y="4735663"/>
              <a:ext cx="1250314" cy="577081"/>
            </a:xfrm>
            <a:prstGeom prst="rect">
              <a:avLst/>
            </a:prstGeom>
            <a:noFill/>
          </p:spPr>
          <p:txBody>
            <a:bodyPr wrap="square">
              <a:spAutoFit/>
            </a:bodyPr>
            <a:lstStyle/>
            <a:p>
              <a:pPr algn="ctr"/>
              <a:r>
                <a:rPr lang="fr-FR" sz="1050">
                  <a:solidFill>
                    <a:srgbClr val="ED7D31"/>
                  </a:solidFill>
                </a:rPr>
                <a:t>Développement de compétences et réalisation de soi</a:t>
              </a:r>
            </a:p>
          </p:txBody>
        </p:sp>
      </p:grpSp>
      <p:grpSp>
        <p:nvGrpSpPr>
          <p:cNvPr id="6" name="Groupe 5">
            <a:extLst>
              <a:ext uri="{FF2B5EF4-FFF2-40B4-BE49-F238E27FC236}">
                <a16:creationId xmlns:a16="http://schemas.microsoft.com/office/drawing/2014/main" id="{764CB6FE-FC60-9745-4CB2-A69211C1FC5F}"/>
              </a:ext>
            </a:extLst>
          </p:cNvPr>
          <p:cNvGrpSpPr/>
          <p:nvPr/>
        </p:nvGrpSpPr>
        <p:grpSpPr>
          <a:xfrm>
            <a:off x="9048096" y="2698022"/>
            <a:ext cx="1000589" cy="1218467"/>
            <a:chOff x="6088603" y="4144848"/>
            <a:chExt cx="1000589" cy="1218467"/>
          </a:xfrm>
        </p:grpSpPr>
        <p:pic>
          <p:nvPicPr>
            <p:cNvPr id="33" name="Graphique 32" descr="Globe terrestre : Europe et Afrique avec un remplissage uni">
              <a:extLst>
                <a:ext uri="{FF2B5EF4-FFF2-40B4-BE49-F238E27FC236}">
                  <a16:creationId xmlns:a16="http://schemas.microsoft.com/office/drawing/2014/main" id="{2D90FB19-9B97-F61E-9B29-B32D08CF1286}"/>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278977" y="4144848"/>
              <a:ext cx="643205" cy="643205"/>
            </a:xfrm>
            <a:prstGeom prst="rect">
              <a:avLst/>
            </a:prstGeom>
          </p:spPr>
        </p:pic>
        <p:sp>
          <p:nvSpPr>
            <p:cNvPr id="67" name="ZoneTexte 66">
              <a:extLst>
                <a:ext uri="{FF2B5EF4-FFF2-40B4-BE49-F238E27FC236}">
                  <a16:creationId xmlns:a16="http://schemas.microsoft.com/office/drawing/2014/main" id="{85A23259-EC0E-81A0-25EE-1990DB685008}"/>
                </a:ext>
              </a:extLst>
            </p:cNvPr>
            <p:cNvSpPr txBox="1"/>
            <p:nvPr/>
          </p:nvSpPr>
          <p:spPr>
            <a:xfrm>
              <a:off x="6088603" y="4716985"/>
              <a:ext cx="1000589" cy="646330"/>
            </a:xfrm>
            <a:prstGeom prst="rect">
              <a:avLst/>
            </a:prstGeom>
            <a:noFill/>
          </p:spPr>
          <p:txBody>
            <a:bodyPr wrap="square">
              <a:spAutoFit/>
            </a:bodyPr>
            <a:lstStyle/>
            <a:p>
              <a:pPr algn="ctr"/>
              <a:r>
                <a:rPr lang="fr-FR" sz="1200">
                  <a:solidFill>
                    <a:srgbClr val="ED7D31"/>
                  </a:solidFill>
                </a:rPr>
                <a:t>Impact positif et sens</a:t>
              </a:r>
            </a:p>
          </p:txBody>
        </p:sp>
      </p:grpSp>
      <p:grpSp>
        <p:nvGrpSpPr>
          <p:cNvPr id="5" name="Groupe 4">
            <a:extLst>
              <a:ext uri="{FF2B5EF4-FFF2-40B4-BE49-F238E27FC236}">
                <a16:creationId xmlns:a16="http://schemas.microsoft.com/office/drawing/2014/main" id="{46912DEB-B242-66EC-1925-18BDB00DF459}"/>
              </a:ext>
            </a:extLst>
          </p:cNvPr>
          <p:cNvGrpSpPr/>
          <p:nvPr/>
        </p:nvGrpSpPr>
        <p:grpSpPr>
          <a:xfrm>
            <a:off x="11288993" y="2749453"/>
            <a:ext cx="1029363" cy="1102618"/>
            <a:chOff x="7045161" y="4263771"/>
            <a:chExt cx="1029363" cy="1102618"/>
          </a:xfrm>
        </p:grpSpPr>
        <p:pic>
          <p:nvPicPr>
            <p:cNvPr id="27" name="Graphique 26" descr="Coffre au trésor avec un remplissage uni">
              <a:extLst>
                <a:ext uri="{FF2B5EF4-FFF2-40B4-BE49-F238E27FC236}">
                  <a16:creationId xmlns:a16="http://schemas.microsoft.com/office/drawing/2014/main" id="{0C68F5E0-740C-4D84-C534-84492F11FDB2}"/>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315085" y="4263771"/>
              <a:ext cx="483536" cy="483536"/>
            </a:xfrm>
            <a:prstGeom prst="rect">
              <a:avLst/>
            </a:prstGeom>
          </p:spPr>
        </p:pic>
        <p:sp>
          <p:nvSpPr>
            <p:cNvPr id="70" name="ZoneTexte 69">
              <a:extLst>
                <a:ext uri="{FF2B5EF4-FFF2-40B4-BE49-F238E27FC236}">
                  <a16:creationId xmlns:a16="http://schemas.microsoft.com/office/drawing/2014/main" id="{8289095A-02F5-1B55-6061-D4DE02F798C4}"/>
                </a:ext>
              </a:extLst>
            </p:cNvPr>
            <p:cNvSpPr txBox="1"/>
            <p:nvPr/>
          </p:nvSpPr>
          <p:spPr>
            <a:xfrm>
              <a:off x="7045161" y="4720058"/>
              <a:ext cx="1029363" cy="646331"/>
            </a:xfrm>
            <a:prstGeom prst="rect">
              <a:avLst/>
            </a:prstGeom>
            <a:noFill/>
          </p:spPr>
          <p:txBody>
            <a:bodyPr wrap="square">
              <a:spAutoFit/>
            </a:bodyPr>
            <a:lstStyle/>
            <a:p>
              <a:pPr algn="ctr"/>
              <a:r>
                <a:rPr lang="fr-FR" sz="1200">
                  <a:solidFill>
                    <a:srgbClr val="ED7D31"/>
                  </a:solidFill>
                </a:rPr>
                <a:t>Bien matériels et financiers</a:t>
              </a:r>
            </a:p>
          </p:txBody>
        </p:sp>
      </p:grpSp>
      <p:grpSp>
        <p:nvGrpSpPr>
          <p:cNvPr id="7" name="Groupe 6">
            <a:extLst>
              <a:ext uri="{FF2B5EF4-FFF2-40B4-BE49-F238E27FC236}">
                <a16:creationId xmlns:a16="http://schemas.microsoft.com/office/drawing/2014/main" id="{A1DA2FCB-3EF6-156E-B768-08AFE7748A55}"/>
              </a:ext>
            </a:extLst>
          </p:cNvPr>
          <p:cNvGrpSpPr/>
          <p:nvPr/>
        </p:nvGrpSpPr>
        <p:grpSpPr>
          <a:xfrm>
            <a:off x="8613450" y="5106642"/>
            <a:ext cx="1000589" cy="1385077"/>
            <a:chOff x="5073165" y="4187837"/>
            <a:chExt cx="1000589" cy="1385077"/>
          </a:xfrm>
        </p:grpSpPr>
        <p:pic>
          <p:nvPicPr>
            <p:cNvPr id="42" name="Graphique 41" descr="Pinceau avec un remplissage uni">
              <a:extLst>
                <a:ext uri="{FF2B5EF4-FFF2-40B4-BE49-F238E27FC236}">
                  <a16:creationId xmlns:a16="http://schemas.microsoft.com/office/drawing/2014/main" id="{48A78765-3DA7-7D15-2EEE-19AFF8B31304}"/>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5357599" y="4187837"/>
              <a:ext cx="512996" cy="512996"/>
            </a:xfrm>
            <a:prstGeom prst="rect">
              <a:avLst/>
            </a:prstGeom>
          </p:spPr>
        </p:pic>
        <p:sp>
          <p:nvSpPr>
            <p:cNvPr id="71" name="ZoneTexte 70">
              <a:extLst>
                <a:ext uri="{FF2B5EF4-FFF2-40B4-BE49-F238E27FC236}">
                  <a16:creationId xmlns:a16="http://schemas.microsoft.com/office/drawing/2014/main" id="{4F6C9410-9C6A-F8D5-C3D5-9134F56E8CFB}"/>
                </a:ext>
              </a:extLst>
            </p:cNvPr>
            <p:cNvSpPr txBox="1"/>
            <p:nvPr/>
          </p:nvSpPr>
          <p:spPr>
            <a:xfrm>
              <a:off x="5073165" y="4741917"/>
              <a:ext cx="1000589" cy="830997"/>
            </a:xfrm>
            <a:prstGeom prst="rect">
              <a:avLst/>
            </a:prstGeom>
            <a:noFill/>
          </p:spPr>
          <p:txBody>
            <a:bodyPr wrap="square">
              <a:spAutoFit/>
            </a:bodyPr>
            <a:lstStyle/>
            <a:p>
              <a:pPr algn="ctr"/>
              <a:r>
                <a:rPr lang="fr-FR" sz="1200">
                  <a:solidFill>
                    <a:srgbClr val="ED7D31"/>
                  </a:solidFill>
                </a:rPr>
                <a:t>Espace créatif et expression de soi</a:t>
              </a:r>
            </a:p>
          </p:txBody>
        </p:sp>
      </p:grpSp>
      <p:grpSp>
        <p:nvGrpSpPr>
          <p:cNvPr id="8" name="Groupe 7">
            <a:extLst>
              <a:ext uri="{FF2B5EF4-FFF2-40B4-BE49-F238E27FC236}">
                <a16:creationId xmlns:a16="http://schemas.microsoft.com/office/drawing/2014/main" id="{BD2BADCB-EAF3-4085-FC4E-0B556D6DBCEC}"/>
              </a:ext>
            </a:extLst>
          </p:cNvPr>
          <p:cNvGrpSpPr/>
          <p:nvPr/>
        </p:nvGrpSpPr>
        <p:grpSpPr>
          <a:xfrm>
            <a:off x="7211757" y="2684269"/>
            <a:ext cx="1259697" cy="1021135"/>
            <a:chOff x="3938444" y="4187837"/>
            <a:chExt cx="1259697" cy="1021135"/>
          </a:xfrm>
        </p:grpSpPr>
        <p:pic>
          <p:nvPicPr>
            <p:cNvPr id="32" name="Graphique 31" descr="Utilisateurs avec un remplissage uni">
              <a:extLst>
                <a:ext uri="{FF2B5EF4-FFF2-40B4-BE49-F238E27FC236}">
                  <a16:creationId xmlns:a16="http://schemas.microsoft.com/office/drawing/2014/main" id="{FF554AA1-B8B6-3CEF-B367-9A26B09F944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4278095" y="4187837"/>
              <a:ext cx="590398" cy="590398"/>
            </a:xfrm>
            <a:prstGeom prst="rect">
              <a:avLst/>
            </a:prstGeom>
          </p:spPr>
        </p:pic>
        <p:sp>
          <p:nvSpPr>
            <p:cNvPr id="72" name="ZoneTexte 71">
              <a:extLst>
                <a:ext uri="{FF2B5EF4-FFF2-40B4-BE49-F238E27FC236}">
                  <a16:creationId xmlns:a16="http://schemas.microsoft.com/office/drawing/2014/main" id="{D6B0CA35-DF64-F69B-5158-196AD5850D03}"/>
                </a:ext>
              </a:extLst>
            </p:cNvPr>
            <p:cNvSpPr txBox="1"/>
            <p:nvPr/>
          </p:nvSpPr>
          <p:spPr>
            <a:xfrm>
              <a:off x="3938444" y="4747307"/>
              <a:ext cx="1259697" cy="461665"/>
            </a:xfrm>
            <a:prstGeom prst="rect">
              <a:avLst/>
            </a:prstGeom>
            <a:noFill/>
          </p:spPr>
          <p:txBody>
            <a:bodyPr wrap="square">
              <a:spAutoFit/>
            </a:bodyPr>
            <a:lstStyle/>
            <a:p>
              <a:pPr algn="ctr"/>
              <a:r>
                <a:rPr lang="fr-FR" sz="1200">
                  <a:solidFill>
                    <a:srgbClr val="ED7D31"/>
                  </a:solidFill>
                </a:rPr>
                <a:t>Reconnaissance sociale </a:t>
              </a:r>
            </a:p>
          </p:txBody>
        </p:sp>
      </p:grpSp>
      <p:grpSp>
        <p:nvGrpSpPr>
          <p:cNvPr id="74" name="Groupe 73">
            <a:extLst>
              <a:ext uri="{FF2B5EF4-FFF2-40B4-BE49-F238E27FC236}">
                <a16:creationId xmlns:a16="http://schemas.microsoft.com/office/drawing/2014/main" id="{664BF1BE-C047-1798-E8CA-7D424D3A3034}"/>
              </a:ext>
            </a:extLst>
          </p:cNvPr>
          <p:cNvGrpSpPr/>
          <p:nvPr/>
        </p:nvGrpSpPr>
        <p:grpSpPr>
          <a:xfrm>
            <a:off x="5628259" y="3911183"/>
            <a:ext cx="1005429" cy="705053"/>
            <a:chOff x="1691336" y="4252127"/>
            <a:chExt cx="1005429" cy="705053"/>
          </a:xfrm>
        </p:grpSpPr>
        <p:grpSp>
          <p:nvGrpSpPr>
            <p:cNvPr id="75" name="Groupe 74">
              <a:extLst>
                <a:ext uri="{FF2B5EF4-FFF2-40B4-BE49-F238E27FC236}">
                  <a16:creationId xmlns:a16="http://schemas.microsoft.com/office/drawing/2014/main" id="{B3EBB362-1570-A2E5-6BB5-ED4B9BFDC5A1}"/>
                </a:ext>
              </a:extLst>
            </p:cNvPr>
            <p:cNvGrpSpPr/>
            <p:nvPr/>
          </p:nvGrpSpPr>
          <p:grpSpPr>
            <a:xfrm>
              <a:off x="1812986" y="4252127"/>
              <a:ext cx="788755" cy="483536"/>
              <a:chOff x="8496164" y="663605"/>
              <a:chExt cx="2837988" cy="1739790"/>
            </a:xfrm>
          </p:grpSpPr>
          <p:pic>
            <p:nvPicPr>
              <p:cNvPr id="77" name="Graphique 76" descr="Évaluation 3 étoiles avec un remplissage uni">
                <a:extLst>
                  <a:ext uri="{FF2B5EF4-FFF2-40B4-BE49-F238E27FC236}">
                    <a16:creationId xmlns:a16="http://schemas.microsoft.com/office/drawing/2014/main" id="{5EF5CB4D-E6EA-1D53-F083-9E3E8EFC986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496164" y="663605"/>
                <a:ext cx="1739790" cy="1739790"/>
              </a:xfrm>
              <a:prstGeom prst="rect">
                <a:avLst/>
              </a:prstGeom>
            </p:spPr>
          </p:pic>
          <p:pic>
            <p:nvPicPr>
              <p:cNvPr id="78" name="Graphique 77" descr="Évaluation 3 étoiles avec un remplissage uni">
                <a:extLst>
                  <a:ext uri="{FF2B5EF4-FFF2-40B4-BE49-F238E27FC236}">
                    <a16:creationId xmlns:a16="http://schemas.microsoft.com/office/drawing/2014/main" id="{F689B830-2EC0-477D-9906-E988CA51696C}"/>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33972"/>
              <a:stretch/>
            </p:blipFill>
            <p:spPr>
              <a:xfrm>
                <a:off x="10185399" y="663605"/>
                <a:ext cx="1148753" cy="1739790"/>
              </a:xfrm>
              <a:prstGeom prst="rect">
                <a:avLst/>
              </a:prstGeom>
            </p:spPr>
          </p:pic>
        </p:grpSp>
        <p:sp>
          <p:nvSpPr>
            <p:cNvPr id="76" name="ZoneTexte 75">
              <a:extLst>
                <a:ext uri="{FF2B5EF4-FFF2-40B4-BE49-F238E27FC236}">
                  <a16:creationId xmlns:a16="http://schemas.microsoft.com/office/drawing/2014/main" id="{EC9087B0-DA4E-A9D8-448F-D2719D79F534}"/>
                </a:ext>
              </a:extLst>
            </p:cNvPr>
            <p:cNvSpPr txBox="1"/>
            <p:nvPr/>
          </p:nvSpPr>
          <p:spPr>
            <a:xfrm>
              <a:off x="1691336" y="4541682"/>
              <a:ext cx="1005429" cy="415498"/>
            </a:xfrm>
            <a:prstGeom prst="rect">
              <a:avLst/>
            </a:prstGeom>
            <a:noFill/>
          </p:spPr>
          <p:txBody>
            <a:bodyPr wrap="square">
              <a:spAutoFit/>
            </a:bodyPr>
            <a:lstStyle/>
            <a:p>
              <a:pPr algn="ctr"/>
              <a:r>
                <a:rPr lang="fr-FR" sz="1050">
                  <a:solidFill>
                    <a:srgbClr val="ED7D31"/>
                  </a:solidFill>
                </a:rPr>
                <a:t>Bien être et sécurité </a:t>
              </a:r>
            </a:p>
          </p:txBody>
        </p:sp>
      </p:grpSp>
      <p:grpSp>
        <p:nvGrpSpPr>
          <p:cNvPr id="13" name="Groupe 12">
            <a:extLst>
              <a:ext uri="{FF2B5EF4-FFF2-40B4-BE49-F238E27FC236}">
                <a16:creationId xmlns:a16="http://schemas.microsoft.com/office/drawing/2014/main" id="{6B7ED7BC-8974-5464-DD1C-23817E41D6E9}"/>
              </a:ext>
            </a:extLst>
          </p:cNvPr>
          <p:cNvGrpSpPr/>
          <p:nvPr/>
        </p:nvGrpSpPr>
        <p:grpSpPr>
          <a:xfrm>
            <a:off x="365742" y="3891621"/>
            <a:ext cx="1000589" cy="1218467"/>
            <a:chOff x="6088603" y="4144848"/>
            <a:chExt cx="1000589" cy="1218467"/>
          </a:xfrm>
        </p:grpSpPr>
        <p:pic>
          <p:nvPicPr>
            <p:cNvPr id="14" name="Graphique 13" descr="Globe terrestre : Europe et Afrique avec un remplissage uni">
              <a:extLst>
                <a:ext uri="{FF2B5EF4-FFF2-40B4-BE49-F238E27FC236}">
                  <a16:creationId xmlns:a16="http://schemas.microsoft.com/office/drawing/2014/main" id="{1885092F-D3BE-A152-C3CA-5B0BC169B282}"/>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278977" y="4144848"/>
              <a:ext cx="643205" cy="643205"/>
            </a:xfrm>
            <a:prstGeom prst="rect">
              <a:avLst/>
            </a:prstGeom>
          </p:spPr>
        </p:pic>
        <p:sp>
          <p:nvSpPr>
            <p:cNvPr id="15" name="ZoneTexte 14">
              <a:extLst>
                <a:ext uri="{FF2B5EF4-FFF2-40B4-BE49-F238E27FC236}">
                  <a16:creationId xmlns:a16="http://schemas.microsoft.com/office/drawing/2014/main" id="{607F37AD-E263-D56F-4DE3-DD88C8FA1BFF}"/>
                </a:ext>
              </a:extLst>
            </p:cNvPr>
            <p:cNvSpPr txBox="1"/>
            <p:nvPr/>
          </p:nvSpPr>
          <p:spPr>
            <a:xfrm>
              <a:off x="6088603" y="4716985"/>
              <a:ext cx="1000589" cy="646330"/>
            </a:xfrm>
            <a:prstGeom prst="rect">
              <a:avLst/>
            </a:prstGeom>
            <a:noFill/>
          </p:spPr>
          <p:txBody>
            <a:bodyPr wrap="square">
              <a:spAutoFit/>
            </a:bodyPr>
            <a:lstStyle/>
            <a:p>
              <a:pPr algn="ctr"/>
              <a:r>
                <a:rPr lang="fr-FR" sz="1200">
                  <a:solidFill>
                    <a:srgbClr val="ED7D31"/>
                  </a:solidFill>
                </a:rPr>
                <a:t>Impact positif et sens</a:t>
              </a:r>
            </a:p>
          </p:txBody>
        </p:sp>
      </p:grpSp>
      <p:grpSp>
        <p:nvGrpSpPr>
          <p:cNvPr id="16" name="Groupe 15">
            <a:extLst>
              <a:ext uri="{FF2B5EF4-FFF2-40B4-BE49-F238E27FC236}">
                <a16:creationId xmlns:a16="http://schemas.microsoft.com/office/drawing/2014/main" id="{4ABC5E77-B1D2-355C-980D-A142D2C642F7}"/>
              </a:ext>
            </a:extLst>
          </p:cNvPr>
          <p:cNvGrpSpPr/>
          <p:nvPr/>
        </p:nvGrpSpPr>
        <p:grpSpPr>
          <a:xfrm>
            <a:off x="1911729" y="2743942"/>
            <a:ext cx="1418652" cy="1554865"/>
            <a:chOff x="9261998" y="4069606"/>
            <a:chExt cx="1418652" cy="1554865"/>
          </a:xfrm>
        </p:grpSpPr>
        <p:sp>
          <p:nvSpPr>
            <p:cNvPr id="18" name="ZoneTexte 17">
              <a:extLst>
                <a:ext uri="{FF2B5EF4-FFF2-40B4-BE49-F238E27FC236}">
                  <a16:creationId xmlns:a16="http://schemas.microsoft.com/office/drawing/2014/main" id="{F2713458-7B72-2F90-5F72-ABE9C53FF950}"/>
                </a:ext>
              </a:extLst>
            </p:cNvPr>
            <p:cNvSpPr txBox="1"/>
            <p:nvPr/>
          </p:nvSpPr>
          <p:spPr>
            <a:xfrm>
              <a:off x="9261998" y="4793474"/>
              <a:ext cx="1418652" cy="830997"/>
            </a:xfrm>
            <a:prstGeom prst="rect">
              <a:avLst/>
            </a:prstGeom>
            <a:noFill/>
          </p:spPr>
          <p:txBody>
            <a:bodyPr wrap="square">
              <a:spAutoFit/>
            </a:bodyPr>
            <a:lstStyle/>
            <a:p>
              <a:pPr algn="ctr"/>
              <a:r>
                <a:rPr lang="fr-FR" sz="1200">
                  <a:solidFill>
                    <a:srgbClr val="ED7D31"/>
                  </a:solidFill>
                </a:rPr>
                <a:t>Satisfaction des obligations et responsabilités existantes</a:t>
              </a:r>
            </a:p>
          </p:txBody>
        </p:sp>
        <p:pic>
          <p:nvPicPr>
            <p:cNvPr id="19" name="Graphique 18" descr="Presse-papiers vérifié avec un remplissage uni">
              <a:extLst>
                <a:ext uri="{FF2B5EF4-FFF2-40B4-BE49-F238E27FC236}">
                  <a16:creationId xmlns:a16="http://schemas.microsoft.com/office/drawing/2014/main" id="{6783A4DC-5074-D0E6-74D7-3D5D83EFDD9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619336" y="4069606"/>
              <a:ext cx="703975" cy="703975"/>
            </a:xfrm>
            <a:prstGeom prst="rect">
              <a:avLst/>
            </a:prstGeom>
          </p:spPr>
        </p:pic>
      </p:grpSp>
      <p:grpSp>
        <p:nvGrpSpPr>
          <p:cNvPr id="20" name="Groupe 19">
            <a:extLst>
              <a:ext uri="{FF2B5EF4-FFF2-40B4-BE49-F238E27FC236}">
                <a16:creationId xmlns:a16="http://schemas.microsoft.com/office/drawing/2014/main" id="{511CFB0E-CEA2-DC38-1D50-95ABAACF217A}"/>
              </a:ext>
            </a:extLst>
          </p:cNvPr>
          <p:cNvGrpSpPr/>
          <p:nvPr/>
        </p:nvGrpSpPr>
        <p:grpSpPr>
          <a:xfrm>
            <a:off x="3712878" y="2752936"/>
            <a:ext cx="1250314" cy="1378823"/>
            <a:chOff x="2772771" y="4187837"/>
            <a:chExt cx="1250314" cy="1378823"/>
          </a:xfrm>
        </p:grpSpPr>
        <p:pic>
          <p:nvPicPr>
            <p:cNvPr id="21" name="Graphique 20" descr="Aspiration avec un remplissage uni">
              <a:extLst>
                <a:ext uri="{FF2B5EF4-FFF2-40B4-BE49-F238E27FC236}">
                  <a16:creationId xmlns:a16="http://schemas.microsoft.com/office/drawing/2014/main" id="{5881C824-8D7B-A632-83D7-D794D630F7D4}"/>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147046" y="4187837"/>
              <a:ext cx="585744" cy="585744"/>
            </a:xfrm>
            <a:prstGeom prst="rect">
              <a:avLst/>
            </a:prstGeom>
          </p:spPr>
        </p:pic>
        <p:sp>
          <p:nvSpPr>
            <p:cNvPr id="22" name="ZoneTexte 21">
              <a:extLst>
                <a:ext uri="{FF2B5EF4-FFF2-40B4-BE49-F238E27FC236}">
                  <a16:creationId xmlns:a16="http://schemas.microsoft.com/office/drawing/2014/main" id="{44BF300C-C099-5E37-E163-A1FFE29F5043}"/>
                </a:ext>
              </a:extLst>
            </p:cNvPr>
            <p:cNvSpPr txBox="1"/>
            <p:nvPr/>
          </p:nvSpPr>
          <p:spPr>
            <a:xfrm>
              <a:off x="2772771" y="4735663"/>
              <a:ext cx="1250314" cy="830997"/>
            </a:xfrm>
            <a:prstGeom prst="rect">
              <a:avLst/>
            </a:prstGeom>
            <a:noFill/>
          </p:spPr>
          <p:txBody>
            <a:bodyPr wrap="square">
              <a:spAutoFit/>
            </a:bodyPr>
            <a:lstStyle/>
            <a:p>
              <a:pPr algn="ctr"/>
              <a:r>
                <a:rPr lang="fr-FR" sz="1200">
                  <a:solidFill>
                    <a:srgbClr val="ED7D31"/>
                  </a:solidFill>
                </a:rPr>
                <a:t>Développement de compétences et réalisation de soi</a:t>
              </a:r>
            </a:p>
          </p:txBody>
        </p:sp>
      </p:grpSp>
      <p:grpSp>
        <p:nvGrpSpPr>
          <p:cNvPr id="23" name="Groupe 22">
            <a:extLst>
              <a:ext uri="{FF2B5EF4-FFF2-40B4-BE49-F238E27FC236}">
                <a16:creationId xmlns:a16="http://schemas.microsoft.com/office/drawing/2014/main" id="{FEA39F9E-E33F-2968-7419-E4E33F7BA7B8}"/>
              </a:ext>
            </a:extLst>
          </p:cNvPr>
          <p:cNvGrpSpPr/>
          <p:nvPr/>
        </p:nvGrpSpPr>
        <p:grpSpPr>
          <a:xfrm>
            <a:off x="10804962" y="4872659"/>
            <a:ext cx="1418652" cy="1554865"/>
            <a:chOff x="9261998" y="4069606"/>
            <a:chExt cx="1418652" cy="1554865"/>
          </a:xfrm>
        </p:grpSpPr>
        <p:sp>
          <p:nvSpPr>
            <p:cNvPr id="24" name="ZoneTexte 23">
              <a:extLst>
                <a:ext uri="{FF2B5EF4-FFF2-40B4-BE49-F238E27FC236}">
                  <a16:creationId xmlns:a16="http://schemas.microsoft.com/office/drawing/2014/main" id="{1B72D880-5690-F7FD-BF17-4EC61E4753DE}"/>
                </a:ext>
              </a:extLst>
            </p:cNvPr>
            <p:cNvSpPr txBox="1"/>
            <p:nvPr/>
          </p:nvSpPr>
          <p:spPr>
            <a:xfrm>
              <a:off x="9261998" y="4793474"/>
              <a:ext cx="1418652" cy="830997"/>
            </a:xfrm>
            <a:prstGeom prst="rect">
              <a:avLst/>
            </a:prstGeom>
            <a:noFill/>
          </p:spPr>
          <p:txBody>
            <a:bodyPr wrap="square">
              <a:spAutoFit/>
            </a:bodyPr>
            <a:lstStyle/>
            <a:p>
              <a:pPr algn="ctr"/>
              <a:r>
                <a:rPr lang="fr-FR" sz="1200">
                  <a:solidFill>
                    <a:srgbClr val="ED7D31"/>
                  </a:solidFill>
                </a:rPr>
                <a:t>Satisfaction des obligations et responsabilités existantes</a:t>
              </a:r>
            </a:p>
          </p:txBody>
        </p:sp>
        <p:pic>
          <p:nvPicPr>
            <p:cNvPr id="25" name="Graphique 24" descr="Presse-papiers vérifié avec un remplissage uni">
              <a:extLst>
                <a:ext uri="{FF2B5EF4-FFF2-40B4-BE49-F238E27FC236}">
                  <a16:creationId xmlns:a16="http://schemas.microsoft.com/office/drawing/2014/main" id="{21C75EEB-2B39-ED02-1BD5-0C688695395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619336" y="4069606"/>
              <a:ext cx="703975" cy="703975"/>
            </a:xfrm>
            <a:prstGeom prst="rect">
              <a:avLst/>
            </a:prstGeom>
          </p:spPr>
        </p:pic>
      </p:grpSp>
      <p:grpSp>
        <p:nvGrpSpPr>
          <p:cNvPr id="26" name="Groupe 25">
            <a:extLst>
              <a:ext uri="{FF2B5EF4-FFF2-40B4-BE49-F238E27FC236}">
                <a16:creationId xmlns:a16="http://schemas.microsoft.com/office/drawing/2014/main" id="{F0540E51-4444-A581-503B-B3136A48C79B}"/>
              </a:ext>
            </a:extLst>
          </p:cNvPr>
          <p:cNvGrpSpPr/>
          <p:nvPr/>
        </p:nvGrpSpPr>
        <p:grpSpPr>
          <a:xfrm>
            <a:off x="3695017" y="4405672"/>
            <a:ext cx="1250314" cy="1378823"/>
            <a:chOff x="2772771" y="4187837"/>
            <a:chExt cx="1250314" cy="1378823"/>
          </a:xfrm>
        </p:grpSpPr>
        <p:pic>
          <p:nvPicPr>
            <p:cNvPr id="57" name="Graphique 56" descr="Aspiration avec un remplissage uni">
              <a:extLst>
                <a:ext uri="{FF2B5EF4-FFF2-40B4-BE49-F238E27FC236}">
                  <a16:creationId xmlns:a16="http://schemas.microsoft.com/office/drawing/2014/main" id="{81859D42-B59F-034C-43BD-22F5770966D7}"/>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147046" y="4187837"/>
              <a:ext cx="585744" cy="585744"/>
            </a:xfrm>
            <a:prstGeom prst="rect">
              <a:avLst/>
            </a:prstGeom>
          </p:spPr>
        </p:pic>
        <p:sp>
          <p:nvSpPr>
            <p:cNvPr id="58" name="ZoneTexte 57">
              <a:extLst>
                <a:ext uri="{FF2B5EF4-FFF2-40B4-BE49-F238E27FC236}">
                  <a16:creationId xmlns:a16="http://schemas.microsoft.com/office/drawing/2014/main" id="{B74D5EBE-412F-D6D9-8396-3F73909DB833}"/>
                </a:ext>
              </a:extLst>
            </p:cNvPr>
            <p:cNvSpPr txBox="1"/>
            <p:nvPr/>
          </p:nvSpPr>
          <p:spPr>
            <a:xfrm>
              <a:off x="2772771" y="4735663"/>
              <a:ext cx="1250314" cy="830997"/>
            </a:xfrm>
            <a:prstGeom prst="rect">
              <a:avLst/>
            </a:prstGeom>
            <a:noFill/>
          </p:spPr>
          <p:txBody>
            <a:bodyPr wrap="square">
              <a:spAutoFit/>
            </a:bodyPr>
            <a:lstStyle/>
            <a:p>
              <a:pPr algn="ctr"/>
              <a:r>
                <a:rPr lang="fr-FR" sz="1200">
                  <a:solidFill>
                    <a:srgbClr val="ED7D31"/>
                  </a:solidFill>
                </a:rPr>
                <a:t>Développement de compétences et réalisation de soi</a:t>
              </a:r>
            </a:p>
          </p:txBody>
        </p:sp>
      </p:grpSp>
      <p:grpSp>
        <p:nvGrpSpPr>
          <p:cNvPr id="59" name="Groupe 58">
            <a:extLst>
              <a:ext uri="{FF2B5EF4-FFF2-40B4-BE49-F238E27FC236}">
                <a16:creationId xmlns:a16="http://schemas.microsoft.com/office/drawing/2014/main" id="{9374748A-F43F-B799-3959-39E6461A27FF}"/>
              </a:ext>
            </a:extLst>
          </p:cNvPr>
          <p:cNvGrpSpPr/>
          <p:nvPr/>
        </p:nvGrpSpPr>
        <p:grpSpPr>
          <a:xfrm>
            <a:off x="5492543" y="5784687"/>
            <a:ext cx="1286847" cy="1004692"/>
            <a:chOff x="8129936" y="4169500"/>
            <a:chExt cx="1286847" cy="1004692"/>
          </a:xfrm>
        </p:grpSpPr>
        <p:pic>
          <p:nvPicPr>
            <p:cNvPr id="60" name="Graphique 59" descr="Poignée de main avec un remplissage uni">
              <a:extLst>
                <a:ext uri="{FF2B5EF4-FFF2-40B4-BE49-F238E27FC236}">
                  <a16:creationId xmlns:a16="http://schemas.microsoft.com/office/drawing/2014/main" id="{C1FCD8E0-1F5E-2DCF-712C-4234E76A1C2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378292" y="4169500"/>
              <a:ext cx="703975" cy="703975"/>
            </a:xfrm>
            <a:prstGeom prst="rect">
              <a:avLst/>
            </a:prstGeom>
          </p:spPr>
        </p:pic>
        <p:sp>
          <p:nvSpPr>
            <p:cNvPr id="61" name="ZoneTexte 60">
              <a:extLst>
                <a:ext uri="{FF2B5EF4-FFF2-40B4-BE49-F238E27FC236}">
                  <a16:creationId xmlns:a16="http://schemas.microsoft.com/office/drawing/2014/main" id="{F24C208A-789D-5A42-A15D-AF62BADC564A}"/>
                </a:ext>
              </a:extLst>
            </p:cNvPr>
            <p:cNvSpPr txBox="1"/>
            <p:nvPr/>
          </p:nvSpPr>
          <p:spPr>
            <a:xfrm>
              <a:off x="8129936" y="4712527"/>
              <a:ext cx="1286847" cy="461665"/>
            </a:xfrm>
            <a:prstGeom prst="rect">
              <a:avLst/>
            </a:prstGeom>
            <a:noFill/>
          </p:spPr>
          <p:txBody>
            <a:bodyPr wrap="square">
              <a:spAutoFit/>
            </a:bodyPr>
            <a:lstStyle/>
            <a:p>
              <a:pPr algn="ctr"/>
              <a:r>
                <a:rPr lang="fr-FR" sz="1200">
                  <a:solidFill>
                    <a:srgbClr val="ED7D31"/>
                  </a:solidFill>
                </a:rPr>
                <a:t>Lien avec les autres</a:t>
              </a:r>
            </a:p>
          </p:txBody>
        </p:sp>
      </p:grpSp>
      <p:grpSp>
        <p:nvGrpSpPr>
          <p:cNvPr id="62" name="Groupe 61">
            <a:extLst>
              <a:ext uri="{FF2B5EF4-FFF2-40B4-BE49-F238E27FC236}">
                <a16:creationId xmlns:a16="http://schemas.microsoft.com/office/drawing/2014/main" id="{5DBB7E0B-0493-E431-F252-05703CD84108}"/>
              </a:ext>
            </a:extLst>
          </p:cNvPr>
          <p:cNvGrpSpPr/>
          <p:nvPr/>
        </p:nvGrpSpPr>
        <p:grpSpPr>
          <a:xfrm>
            <a:off x="9315990" y="5193211"/>
            <a:ext cx="1259697" cy="1021135"/>
            <a:chOff x="3938444" y="4187837"/>
            <a:chExt cx="1259697" cy="1021135"/>
          </a:xfrm>
        </p:grpSpPr>
        <p:pic>
          <p:nvPicPr>
            <p:cNvPr id="63" name="Graphique 62" descr="Utilisateurs avec un remplissage uni">
              <a:extLst>
                <a:ext uri="{FF2B5EF4-FFF2-40B4-BE49-F238E27FC236}">
                  <a16:creationId xmlns:a16="http://schemas.microsoft.com/office/drawing/2014/main" id="{7DC8B2FD-D9DE-B1FD-9F8B-F177ED41A4E6}"/>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4278095" y="4187837"/>
              <a:ext cx="590398" cy="590398"/>
            </a:xfrm>
            <a:prstGeom prst="rect">
              <a:avLst/>
            </a:prstGeom>
          </p:spPr>
        </p:pic>
        <p:sp>
          <p:nvSpPr>
            <p:cNvPr id="64" name="ZoneTexte 63">
              <a:extLst>
                <a:ext uri="{FF2B5EF4-FFF2-40B4-BE49-F238E27FC236}">
                  <a16:creationId xmlns:a16="http://schemas.microsoft.com/office/drawing/2014/main" id="{559D0F6C-419D-E67E-D147-CF8A3D331ED6}"/>
                </a:ext>
              </a:extLst>
            </p:cNvPr>
            <p:cNvSpPr txBox="1"/>
            <p:nvPr/>
          </p:nvSpPr>
          <p:spPr>
            <a:xfrm>
              <a:off x="3938444" y="4747307"/>
              <a:ext cx="1259697" cy="461665"/>
            </a:xfrm>
            <a:prstGeom prst="rect">
              <a:avLst/>
            </a:prstGeom>
            <a:noFill/>
          </p:spPr>
          <p:txBody>
            <a:bodyPr wrap="square">
              <a:spAutoFit/>
            </a:bodyPr>
            <a:lstStyle/>
            <a:p>
              <a:pPr algn="ctr"/>
              <a:r>
                <a:rPr lang="fr-FR" sz="1200">
                  <a:solidFill>
                    <a:srgbClr val="ED7D31"/>
                  </a:solidFill>
                </a:rPr>
                <a:t>Reconnaissance sociale </a:t>
              </a:r>
            </a:p>
          </p:txBody>
        </p:sp>
      </p:grpSp>
      <p:grpSp>
        <p:nvGrpSpPr>
          <p:cNvPr id="69" name="Groupe 68">
            <a:extLst>
              <a:ext uri="{FF2B5EF4-FFF2-40B4-BE49-F238E27FC236}">
                <a16:creationId xmlns:a16="http://schemas.microsoft.com/office/drawing/2014/main" id="{BC198179-1609-5D75-E975-18A90F6FBA50}"/>
              </a:ext>
            </a:extLst>
          </p:cNvPr>
          <p:cNvGrpSpPr/>
          <p:nvPr/>
        </p:nvGrpSpPr>
        <p:grpSpPr>
          <a:xfrm>
            <a:off x="10884440" y="3832714"/>
            <a:ext cx="1259697" cy="1021135"/>
            <a:chOff x="3938444" y="4187837"/>
            <a:chExt cx="1259697" cy="1021135"/>
          </a:xfrm>
        </p:grpSpPr>
        <p:pic>
          <p:nvPicPr>
            <p:cNvPr id="73" name="Graphique 72" descr="Utilisateurs avec un remplissage uni">
              <a:extLst>
                <a:ext uri="{FF2B5EF4-FFF2-40B4-BE49-F238E27FC236}">
                  <a16:creationId xmlns:a16="http://schemas.microsoft.com/office/drawing/2014/main" id="{598DB1D4-534D-4FC4-0FAE-29C393655E57}"/>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4278095" y="4187837"/>
              <a:ext cx="590398" cy="590398"/>
            </a:xfrm>
            <a:prstGeom prst="rect">
              <a:avLst/>
            </a:prstGeom>
          </p:spPr>
        </p:pic>
        <p:sp>
          <p:nvSpPr>
            <p:cNvPr id="84" name="ZoneTexte 83">
              <a:extLst>
                <a:ext uri="{FF2B5EF4-FFF2-40B4-BE49-F238E27FC236}">
                  <a16:creationId xmlns:a16="http://schemas.microsoft.com/office/drawing/2014/main" id="{CD20312A-5C90-AA65-832C-727AD11CAE76}"/>
                </a:ext>
              </a:extLst>
            </p:cNvPr>
            <p:cNvSpPr txBox="1"/>
            <p:nvPr/>
          </p:nvSpPr>
          <p:spPr>
            <a:xfrm>
              <a:off x="3938444" y="4747307"/>
              <a:ext cx="1259697" cy="461665"/>
            </a:xfrm>
            <a:prstGeom prst="rect">
              <a:avLst/>
            </a:prstGeom>
            <a:noFill/>
          </p:spPr>
          <p:txBody>
            <a:bodyPr wrap="square">
              <a:spAutoFit/>
            </a:bodyPr>
            <a:lstStyle/>
            <a:p>
              <a:pPr algn="ctr"/>
              <a:r>
                <a:rPr lang="fr-FR" sz="1200">
                  <a:solidFill>
                    <a:srgbClr val="ED7D31"/>
                  </a:solidFill>
                </a:rPr>
                <a:t>Reconnaissance sociale </a:t>
              </a:r>
            </a:p>
          </p:txBody>
        </p:sp>
      </p:grpSp>
      <p:grpSp>
        <p:nvGrpSpPr>
          <p:cNvPr id="87" name="Groupe 86">
            <a:extLst>
              <a:ext uri="{FF2B5EF4-FFF2-40B4-BE49-F238E27FC236}">
                <a16:creationId xmlns:a16="http://schemas.microsoft.com/office/drawing/2014/main" id="{F5718DD8-0F16-2579-FC69-C326B5444DED}"/>
              </a:ext>
            </a:extLst>
          </p:cNvPr>
          <p:cNvGrpSpPr/>
          <p:nvPr/>
        </p:nvGrpSpPr>
        <p:grpSpPr>
          <a:xfrm>
            <a:off x="7295662" y="3796438"/>
            <a:ext cx="1000589" cy="1218467"/>
            <a:chOff x="6088603" y="4144848"/>
            <a:chExt cx="1000589" cy="1218467"/>
          </a:xfrm>
        </p:grpSpPr>
        <p:pic>
          <p:nvPicPr>
            <p:cNvPr id="88" name="Graphique 87" descr="Globe terrestre : Europe et Afrique avec un remplissage uni">
              <a:extLst>
                <a:ext uri="{FF2B5EF4-FFF2-40B4-BE49-F238E27FC236}">
                  <a16:creationId xmlns:a16="http://schemas.microsoft.com/office/drawing/2014/main" id="{61B93EB6-9EBA-DFD1-C3EC-3DC17F24B3F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278977" y="4144848"/>
              <a:ext cx="643205" cy="643205"/>
            </a:xfrm>
            <a:prstGeom prst="rect">
              <a:avLst/>
            </a:prstGeom>
          </p:spPr>
        </p:pic>
        <p:sp>
          <p:nvSpPr>
            <p:cNvPr id="89" name="ZoneTexte 88">
              <a:extLst>
                <a:ext uri="{FF2B5EF4-FFF2-40B4-BE49-F238E27FC236}">
                  <a16:creationId xmlns:a16="http://schemas.microsoft.com/office/drawing/2014/main" id="{9981D94D-97ED-2A2D-0AC0-30A6D1C941C2}"/>
                </a:ext>
              </a:extLst>
            </p:cNvPr>
            <p:cNvSpPr txBox="1"/>
            <p:nvPr/>
          </p:nvSpPr>
          <p:spPr>
            <a:xfrm>
              <a:off x="6088603" y="4716985"/>
              <a:ext cx="1000589" cy="646330"/>
            </a:xfrm>
            <a:prstGeom prst="rect">
              <a:avLst/>
            </a:prstGeom>
            <a:noFill/>
          </p:spPr>
          <p:txBody>
            <a:bodyPr wrap="square">
              <a:spAutoFit/>
            </a:bodyPr>
            <a:lstStyle/>
            <a:p>
              <a:pPr algn="ctr"/>
              <a:r>
                <a:rPr lang="fr-FR" sz="1200">
                  <a:solidFill>
                    <a:srgbClr val="ED7D31"/>
                  </a:solidFill>
                </a:rPr>
                <a:t>Impact positif et sens</a:t>
              </a:r>
            </a:p>
          </p:txBody>
        </p:sp>
      </p:grpSp>
    </p:spTree>
    <p:extLst>
      <p:ext uri="{BB962C8B-B14F-4D97-AF65-F5344CB8AC3E}">
        <p14:creationId xmlns:p14="http://schemas.microsoft.com/office/powerpoint/2010/main" val="68748772"/>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Couleur de Communauté les plus probables</a:t>
            </a:r>
          </a:p>
        </p:txBody>
      </p:sp>
      <p:grpSp>
        <p:nvGrpSpPr>
          <p:cNvPr id="2" name="Groupe 1">
            <a:extLst>
              <a:ext uri="{FF2B5EF4-FFF2-40B4-BE49-F238E27FC236}">
                <a16:creationId xmlns:a16="http://schemas.microsoft.com/office/drawing/2014/main" id="{44DC02C5-8EC3-418D-8F64-1205CE8396C7}"/>
              </a:ext>
            </a:extLst>
          </p:cNvPr>
          <p:cNvGrpSpPr/>
          <p:nvPr/>
        </p:nvGrpSpPr>
        <p:grpSpPr>
          <a:xfrm>
            <a:off x="2238374" y="1443114"/>
            <a:ext cx="9811345" cy="1221529"/>
            <a:chOff x="11600" y="1496380"/>
            <a:chExt cx="12038120" cy="1498765"/>
          </a:xfrm>
        </p:grpSpPr>
        <p:grpSp>
          <p:nvGrpSpPr>
            <p:cNvPr id="34" name="Groupe 33">
              <a:extLst>
                <a:ext uri="{FF2B5EF4-FFF2-40B4-BE49-F238E27FC236}">
                  <a16:creationId xmlns:a16="http://schemas.microsoft.com/office/drawing/2014/main" id="{57A77D37-FD05-4F12-BEC5-BF6914DEA2AF}"/>
                </a:ext>
              </a:extLst>
            </p:cNvPr>
            <p:cNvGrpSpPr/>
            <p:nvPr/>
          </p:nvGrpSpPr>
          <p:grpSpPr>
            <a:xfrm>
              <a:off x="11600" y="2499558"/>
              <a:ext cx="12038120" cy="495587"/>
              <a:chOff x="0" y="2140394"/>
              <a:chExt cx="12854128" cy="4544491"/>
            </a:xfrm>
          </p:grpSpPr>
          <p:sp>
            <p:nvSpPr>
              <p:cNvPr id="43" name="Espace réservé du texte 15">
                <a:extLst>
                  <a:ext uri="{FF2B5EF4-FFF2-40B4-BE49-F238E27FC236}">
                    <a16:creationId xmlns:a16="http://schemas.microsoft.com/office/drawing/2014/main" id="{92772B21-44EF-44DF-BE38-9865A73CCD34}"/>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b="1" i="1">
                    <a:solidFill>
                      <a:srgbClr val="0683AA"/>
                    </a:solidFill>
                  </a:rPr>
                  <a:t>INSPIRATION</a:t>
                </a:r>
              </a:p>
              <a:p>
                <a:pPr marL="0" indent="0" algn="ctr">
                  <a:buFont typeface="Arial" panose="020B0604020202020204" pitchFamily="34" charset="0"/>
                  <a:buNone/>
                </a:pPr>
                <a:endParaRPr lang="fr-FR" sz="1200" b="1" i="1">
                  <a:solidFill>
                    <a:srgbClr val="ED7D31"/>
                  </a:solidFill>
                </a:endParaRPr>
              </a:p>
            </p:txBody>
          </p:sp>
          <p:sp>
            <p:nvSpPr>
              <p:cNvPr id="44" name="Espace réservé du texte 15">
                <a:extLst>
                  <a:ext uri="{FF2B5EF4-FFF2-40B4-BE49-F238E27FC236}">
                    <a16:creationId xmlns:a16="http://schemas.microsoft.com/office/drawing/2014/main" id="{12363DAC-30D4-40E1-99F9-9EC2176BD996}"/>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b="1" i="1">
                    <a:solidFill>
                      <a:srgbClr val="0683AA"/>
                    </a:solidFill>
                  </a:rPr>
                  <a:t>COLLECTE</a:t>
                </a:r>
              </a:p>
              <a:p>
                <a:pPr marL="0" indent="0" algn="ctr">
                  <a:buFont typeface="Arial" panose="020B0604020202020204" pitchFamily="34" charset="0"/>
                  <a:buNone/>
                </a:pPr>
                <a:endParaRPr lang="fr-FR" sz="1200" b="1" i="1">
                  <a:solidFill>
                    <a:srgbClr val="ED7D31"/>
                  </a:solidFill>
                </a:endParaRPr>
              </a:p>
            </p:txBody>
          </p:sp>
          <p:sp>
            <p:nvSpPr>
              <p:cNvPr id="45" name="Espace réservé du texte 15">
                <a:extLst>
                  <a:ext uri="{FF2B5EF4-FFF2-40B4-BE49-F238E27FC236}">
                    <a16:creationId xmlns:a16="http://schemas.microsoft.com/office/drawing/2014/main" id="{8A06633E-195B-4408-B368-D860E3672F85}"/>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b="1" i="1">
                    <a:solidFill>
                      <a:srgbClr val="0683AA"/>
                    </a:solidFill>
                  </a:rPr>
                  <a:t>INITIATION</a:t>
                </a:r>
              </a:p>
              <a:p>
                <a:pPr marL="0" indent="0" algn="ctr">
                  <a:buFont typeface="Arial" panose="020B0604020202020204" pitchFamily="34" charset="0"/>
                  <a:buNone/>
                </a:pPr>
                <a:endParaRPr lang="fr-FR" sz="1200" b="1" i="1">
                  <a:solidFill>
                    <a:srgbClr val="ED7D31"/>
                  </a:solidFill>
                </a:endParaRPr>
              </a:p>
            </p:txBody>
          </p:sp>
          <p:sp>
            <p:nvSpPr>
              <p:cNvPr id="46" name="Espace réservé du texte 15">
                <a:extLst>
                  <a:ext uri="{FF2B5EF4-FFF2-40B4-BE49-F238E27FC236}">
                    <a16:creationId xmlns:a16="http://schemas.microsoft.com/office/drawing/2014/main" id="{094C9682-94F3-4E6B-AD0A-BDFADFE259C2}"/>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b="1" i="1">
                    <a:solidFill>
                      <a:srgbClr val="0683AA"/>
                    </a:solidFill>
                  </a:rPr>
                  <a:t>CHOC DE LA RÉALITÉ</a:t>
                </a:r>
              </a:p>
              <a:p>
                <a:pPr marL="0" indent="0" algn="ctr">
                  <a:buFont typeface="Arial" panose="020B0604020202020204" pitchFamily="34" charset="0"/>
                  <a:buNone/>
                </a:pPr>
                <a:endParaRPr lang="fr-FR" sz="1200" b="1" i="1">
                  <a:solidFill>
                    <a:srgbClr val="ED7D31"/>
                  </a:solidFill>
                </a:endParaRPr>
              </a:p>
            </p:txBody>
          </p:sp>
          <p:sp>
            <p:nvSpPr>
              <p:cNvPr id="47" name="Espace réservé du texte 15">
                <a:extLst>
                  <a:ext uri="{FF2B5EF4-FFF2-40B4-BE49-F238E27FC236}">
                    <a16:creationId xmlns:a16="http://schemas.microsoft.com/office/drawing/2014/main" id="{94365A3D-99CC-42B2-AF24-19A918DA948C}"/>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b="1" i="1">
                    <a:solidFill>
                      <a:srgbClr val="0683AA"/>
                    </a:solidFill>
                  </a:rPr>
                  <a:t>CONFIRMATION DE RÉUSSITES</a:t>
                </a:r>
              </a:p>
            </p:txBody>
          </p:sp>
          <p:sp>
            <p:nvSpPr>
              <p:cNvPr id="48" name="Espace réservé du texte 15">
                <a:extLst>
                  <a:ext uri="{FF2B5EF4-FFF2-40B4-BE49-F238E27FC236}">
                    <a16:creationId xmlns:a16="http://schemas.microsoft.com/office/drawing/2014/main" id="{95A0CEFF-AC30-4EFB-ABEA-8A456CAC97CD}"/>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b="1" i="1">
                    <a:solidFill>
                      <a:srgbClr val="0683AA"/>
                    </a:solidFill>
                  </a:rPr>
                  <a:t>EXPOSITION</a:t>
                </a:r>
              </a:p>
            </p:txBody>
          </p:sp>
          <p:sp>
            <p:nvSpPr>
              <p:cNvPr id="49" name="Espace réservé du texte 15">
                <a:extLst>
                  <a:ext uri="{FF2B5EF4-FFF2-40B4-BE49-F238E27FC236}">
                    <a16:creationId xmlns:a16="http://schemas.microsoft.com/office/drawing/2014/main" id="{94E9D1B6-B942-4A60-8F29-5306550C08D4}"/>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200" b="1" i="1">
                    <a:solidFill>
                      <a:srgbClr val="0683AA"/>
                    </a:solidFill>
                  </a:rPr>
                  <a:t>FORTIFICATION</a:t>
                </a:r>
              </a:p>
              <a:p>
                <a:pPr marL="0" indent="0" algn="ctr">
                  <a:buFont typeface="Arial" panose="020B0604020202020204" pitchFamily="34" charset="0"/>
                  <a:buNone/>
                </a:pPr>
                <a:endParaRPr lang="fr-FR" sz="1200" b="1" i="1">
                  <a:solidFill>
                    <a:srgbClr val="ED7D31"/>
                  </a:solidFill>
                </a:endParaRPr>
              </a:p>
            </p:txBody>
          </p:sp>
        </p:grpSp>
        <p:pic>
          <p:nvPicPr>
            <p:cNvPr id="50" name="Graphique 49" descr="Ampoule avec un remplissage uni">
              <a:extLst>
                <a:ext uri="{FF2B5EF4-FFF2-40B4-BE49-F238E27FC236}">
                  <a16:creationId xmlns:a16="http://schemas.microsoft.com/office/drawing/2014/main" id="{8629949F-3FFF-4F01-9CA5-4ED2EEA38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68" y="1496380"/>
              <a:ext cx="914400" cy="914400"/>
            </a:xfrm>
            <a:prstGeom prst="rect">
              <a:avLst/>
            </a:prstGeom>
          </p:spPr>
        </p:pic>
        <p:pic>
          <p:nvPicPr>
            <p:cNvPr id="51" name="Graphique 50" descr="Seau et pelle avec un remplissage uni">
              <a:extLst>
                <a:ext uri="{FF2B5EF4-FFF2-40B4-BE49-F238E27FC236}">
                  <a16:creationId xmlns:a16="http://schemas.microsoft.com/office/drawing/2014/main" id="{6A9C4FB2-6756-4CFE-8874-82E0D92D77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8515" y="1496380"/>
              <a:ext cx="914400" cy="914400"/>
            </a:xfrm>
            <a:prstGeom prst="rect">
              <a:avLst/>
            </a:prstGeom>
          </p:spPr>
        </p:pic>
        <p:pic>
          <p:nvPicPr>
            <p:cNvPr id="52" name="Graphique 51" descr="Tubes à essai avec un remplissage uni">
              <a:extLst>
                <a:ext uri="{FF2B5EF4-FFF2-40B4-BE49-F238E27FC236}">
                  <a16:creationId xmlns:a16="http://schemas.microsoft.com/office/drawing/2014/main" id="{5E41655D-82B1-41AA-8D1E-ADF56FB60B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33203" y="1496380"/>
              <a:ext cx="914400" cy="914400"/>
            </a:xfrm>
            <a:prstGeom prst="rect">
              <a:avLst/>
            </a:prstGeom>
          </p:spPr>
        </p:pic>
        <p:pic>
          <p:nvPicPr>
            <p:cNvPr id="53" name="Graphique 52" descr="Explosion avec un remplissage uni">
              <a:extLst>
                <a:ext uri="{FF2B5EF4-FFF2-40B4-BE49-F238E27FC236}">
                  <a16:creationId xmlns:a16="http://schemas.microsoft.com/office/drawing/2014/main" id="{C5CE6FFE-78C6-4421-A97A-4DBA345D46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3460" y="1496380"/>
              <a:ext cx="914400" cy="914400"/>
            </a:xfrm>
            <a:prstGeom prst="rect">
              <a:avLst/>
            </a:prstGeom>
          </p:spPr>
        </p:pic>
        <p:pic>
          <p:nvPicPr>
            <p:cNvPr id="54" name="Graphique 53" descr="Trophée avec un remplissage uni">
              <a:extLst>
                <a:ext uri="{FF2B5EF4-FFF2-40B4-BE49-F238E27FC236}">
                  <a16:creationId xmlns:a16="http://schemas.microsoft.com/office/drawing/2014/main" id="{CE231B44-7BB7-4121-96F3-13C34A212C6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13717" y="1496380"/>
              <a:ext cx="914400" cy="914400"/>
            </a:xfrm>
            <a:prstGeom prst="rect">
              <a:avLst/>
            </a:prstGeom>
          </p:spPr>
        </p:pic>
        <p:pic>
          <p:nvPicPr>
            <p:cNvPr id="55" name="Graphique 54" descr="Assiette couverte avec un remplissage uni">
              <a:extLst>
                <a:ext uri="{FF2B5EF4-FFF2-40B4-BE49-F238E27FC236}">
                  <a16:creationId xmlns:a16="http://schemas.microsoft.com/office/drawing/2014/main" id="{9BE9BA4D-31AB-497B-BF93-894A16FEFA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48405" y="1496380"/>
              <a:ext cx="914400" cy="914400"/>
            </a:xfrm>
            <a:prstGeom prst="rect">
              <a:avLst/>
            </a:prstGeom>
          </p:spPr>
        </p:pic>
        <p:pic>
          <p:nvPicPr>
            <p:cNvPr id="56" name="Graphique 55" descr="Scène de château avec un remplissage uni">
              <a:extLst>
                <a:ext uri="{FF2B5EF4-FFF2-40B4-BE49-F238E27FC236}">
                  <a16:creationId xmlns:a16="http://schemas.microsoft.com/office/drawing/2014/main" id="{074A3C60-74AA-4738-9BF6-5E20D5DA2D8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83093" y="1496380"/>
              <a:ext cx="914400" cy="914400"/>
            </a:xfrm>
            <a:prstGeom prst="rect">
              <a:avLst/>
            </a:prstGeom>
          </p:spPr>
        </p:pic>
      </p:grpSp>
      <p:sp>
        <p:nvSpPr>
          <p:cNvPr id="101" name="Espace réservé du contenu 9">
            <a:extLst>
              <a:ext uri="{FF2B5EF4-FFF2-40B4-BE49-F238E27FC236}">
                <a16:creationId xmlns:a16="http://schemas.microsoft.com/office/drawing/2014/main" id="{DD1EB2F7-A07F-6FCD-59AB-3C8E01D30BD6}"/>
              </a:ext>
            </a:extLst>
          </p:cNvPr>
          <p:cNvSpPr txBox="1">
            <a:spLocks/>
          </p:cNvSpPr>
          <p:nvPr/>
        </p:nvSpPr>
        <p:spPr>
          <a:xfrm>
            <a:off x="166370" y="3140599"/>
            <a:ext cx="1929130" cy="648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b="1">
                <a:solidFill>
                  <a:srgbClr val="0683AA"/>
                </a:solidFill>
              </a:rPr>
              <a:t>COMMUNAUTÉS BLEUES : SUR LE TEMPS DE TRAVAIL « PRODUCTIF »</a:t>
            </a:r>
          </a:p>
        </p:txBody>
      </p:sp>
      <p:sp>
        <p:nvSpPr>
          <p:cNvPr id="103" name="Espace réservé du contenu 9">
            <a:extLst>
              <a:ext uri="{FF2B5EF4-FFF2-40B4-BE49-F238E27FC236}">
                <a16:creationId xmlns:a16="http://schemas.microsoft.com/office/drawing/2014/main" id="{1819B2A3-DD32-C42A-01C8-6DB78AA28005}"/>
              </a:ext>
            </a:extLst>
          </p:cNvPr>
          <p:cNvSpPr txBox="1">
            <a:spLocks/>
          </p:cNvSpPr>
          <p:nvPr/>
        </p:nvSpPr>
        <p:spPr>
          <a:xfrm>
            <a:off x="130962" y="3988011"/>
            <a:ext cx="1929130" cy="648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b="1">
                <a:solidFill>
                  <a:schemeClr val="bg1">
                    <a:lumMod val="65000"/>
                  </a:schemeClr>
                </a:solidFill>
              </a:rPr>
              <a:t>COMMUNAUTÉS GRISES : SUR LE TEMPS DE TRAVAIL « NON PRODUCTIF » (PAUSES, ENTRE DEUX, …) </a:t>
            </a:r>
          </a:p>
        </p:txBody>
      </p:sp>
      <p:sp>
        <p:nvSpPr>
          <p:cNvPr id="104" name="Espace réservé du contenu 9">
            <a:extLst>
              <a:ext uri="{FF2B5EF4-FFF2-40B4-BE49-F238E27FC236}">
                <a16:creationId xmlns:a16="http://schemas.microsoft.com/office/drawing/2014/main" id="{FCA14344-97B7-DA94-B576-8D9F59B32E9B}"/>
              </a:ext>
            </a:extLst>
          </p:cNvPr>
          <p:cNvSpPr txBox="1">
            <a:spLocks/>
          </p:cNvSpPr>
          <p:nvPr/>
        </p:nvSpPr>
        <p:spPr>
          <a:xfrm>
            <a:off x="166370" y="5116022"/>
            <a:ext cx="1929130" cy="648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b="1">
                <a:solidFill>
                  <a:srgbClr val="ED7D31"/>
                </a:solidFill>
              </a:rPr>
              <a:t>COMMUNAUTÉS ORANGES : SUR LE TEMPS PERSONNEL</a:t>
            </a:r>
          </a:p>
          <a:p>
            <a:pPr marL="0" indent="0">
              <a:buFont typeface="Arial" panose="020B0604020202020204" pitchFamily="34" charset="0"/>
              <a:buNone/>
            </a:pPr>
            <a:endParaRPr lang="fr-FR" sz="1200" b="1">
              <a:solidFill>
                <a:srgbClr val="ED7D31"/>
              </a:solidFill>
            </a:endParaRPr>
          </a:p>
        </p:txBody>
      </p:sp>
      <p:sp>
        <p:nvSpPr>
          <p:cNvPr id="106" name="Rectangle 105">
            <a:extLst>
              <a:ext uri="{FF2B5EF4-FFF2-40B4-BE49-F238E27FC236}">
                <a16:creationId xmlns:a16="http://schemas.microsoft.com/office/drawing/2014/main" id="{A05C7CB0-BA69-11DF-C9F0-3A3875168DF5}"/>
              </a:ext>
            </a:extLst>
          </p:cNvPr>
          <p:cNvSpPr/>
          <p:nvPr/>
        </p:nvSpPr>
        <p:spPr>
          <a:xfrm>
            <a:off x="5070818" y="3365037"/>
            <a:ext cx="6947431" cy="36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06">
            <a:extLst>
              <a:ext uri="{FF2B5EF4-FFF2-40B4-BE49-F238E27FC236}">
                <a16:creationId xmlns:a16="http://schemas.microsoft.com/office/drawing/2014/main" id="{42893E84-ED83-8D61-1FED-1259477059F3}"/>
              </a:ext>
            </a:extLst>
          </p:cNvPr>
          <p:cNvSpPr/>
          <p:nvPr/>
        </p:nvSpPr>
        <p:spPr>
          <a:xfrm>
            <a:off x="2238373" y="4156250"/>
            <a:ext cx="6979470" cy="3600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07">
            <a:extLst>
              <a:ext uri="{FF2B5EF4-FFF2-40B4-BE49-F238E27FC236}">
                <a16:creationId xmlns:a16="http://schemas.microsoft.com/office/drawing/2014/main" id="{9C7D28EC-AB99-747D-ABF8-66611BBB0287}"/>
              </a:ext>
            </a:extLst>
          </p:cNvPr>
          <p:cNvSpPr/>
          <p:nvPr/>
        </p:nvSpPr>
        <p:spPr>
          <a:xfrm>
            <a:off x="2238373" y="5013567"/>
            <a:ext cx="1282542" cy="36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08">
            <a:extLst>
              <a:ext uri="{FF2B5EF4-FFF2-40B4-BE49-F238E27FC236}">
                <a16:creationId xmlns:a16="http://schemas.microsoft.com/office/drawing/2014/main" id="{82FE1418-931D-AB53-948F-52F452155817}"/>
              </a:ext>
            </a:extLst>
          </p:cNvPr>
          <p:cNvSpPr/>
          <p:nvPr/>
        </p:nvSpPr>
        <p:spPr>
          <a:xfrm>
            <a:off x="5084425" y="5036646"/>
            <a:ext cx="1282542" cy="36000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294517390"/>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Rôles demandés aux sponsors</a:t>
            </a:r>
          </a:p>
        </p:txBody>
      </p:sp>
      <p:grpSp>
        <p:nvGrpSpPr>
          <p:cNvPr id="26" name="Groupe 25">
            <a:extLst>
              <a:ext uri="{FF2B5EF4-FFF2-40B4-BE49-F238E27FC236}">
                <a16:creationId xmlns:a16="http://schemas.microsoft.com/office/drawing/2014/main" id="{7C089B97-8A8C-FB33-D32A-3B5F1F97137D}"/>
              </a:ext>
            </a:extLst>
          </p:cNvPr>
          <p:cNvGrpSpPr/>
          <p:nvPr/>
        </p:nvGrpSpPr>
        <p:grpSpPr>
          <a:xfrm>
            <a:off x="3766949" y="3813500"/>
            <a:ext cx="1114326" cy="1029156"/>
            <a:chOff x="4318275" y="139989"/>
            <a:chExt cx="2272482" cy="2098791"/>
          </a:xfrm>
        </p:grpSpPr>
        <p:grpSp>
          <p:nvGrpSpPr>
            <p:cNvPr id="27" name="Groupe 26">
              <a:extLst>
                <a:ext uri="{FF2B5EF4-FFF2-40B4-BE49-F238E27FC236}">
                  <a16:creationId xmlns:a16="http://schemas.microsoft.com/office/drawing/2014/main" id="{7F3A1CB0-D060-BDD4-31FB-72D1811C125B}"/>
                </a:ext>
              </a:extLst>
            </p:cNvPr>
            <p:cNvGrpSpPr/>
            <p:nvPr/>
          </p:nvGrpSpPr>
          <p:grpSpPr>
            <a:xfrm>
              <a:off x="4498848" y="139989"/>
              <a:ext cx="2091909" cy="1611654"/>
              <a:chOff x="1822045" y="3697163"/>
              <a:chExt cx="3786095" cy="2916894"/>
            </a:xfrm>
          </p:grpSpPr>
          <p:pic>
            <p:nvPicPr>
              <p:cNvPr id="29" name="Graphique 28" descr="Employée de bureau avec un remplissage uni">
                <a:extLst>
                  <a:ext uri="{FF2B5EF4-FFF2-40B4-BE49-F238E27FC236}">
                    <a16:creationId xmlns:a16="http://schemas.microsoft.com/office/drawing/2014/main" id="{39B553D3-6600-6D67-AC68-FA3B8C12B7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22045" y="4092388"/>
                <a:ext cx="2521669" cy="2521669"/>
              </a:xfrm>
              <a:prstGeom prst="rect">
                <a:avLst/>
              </a:prstGeom>
            </p:spPr>
          </p:pic>
          <p:sp>
            <p:nvSpPr>
              <p:cNvPr id="30" name="Rectangle 29">
                <a:extLst>
                  <a:ext uri="{FF2B5EF4-FFF2-40B4-BE49-F238E27FC236}">
                    <a16:creationId xmlns:a16="http://schemas.microsoft.com/office/drawing/2014/main" id="{517E0AFC-A04A-A45B-52CE-3A64E5286C0E}"/>
                  </a:ext>
                </a:extLst>
              </p:cNvPr>
              <p:cNvSpPr/>
              <p:nvPr/>
            </p:nvSpPr>
            <p:spPr>
              <a:xfrm rot="7249682">
                <a:off x="3286580" y="5342828"/>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31" name="Graphique 30" descr="Bouclier avec un remplissage uni">
                <a:extLst>
                  <a:ext uri="{FF2B5EF4-FFF2-40B4-BE49-F238E27FC236}">
                    <a16:creationId xmlns:a16="http://schemas.microsoft.com/office/drawing/2014/main" id="{A87ACA18-DB5C-1854-FCCB-21CBE5C5779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82921" y="3697163"/>
                <a:ext cx="2125219" cy="2125219"/>
              </a:xfrm>
              <a:prstGeom prst="rect">
                <a:avLst/>
              </a:prstGeom>
            </p:spPr>
          </p:pic>
          <p:pic>
            <p:nvPicPr>
              <p:cNvPr id="32" name="Graphique 31" descr="Calendrier journalier avec un remplissage uni">
                <a:extLst>
                  <a:ext uri="{FF2B5EF4-FFF2-40B4-BE49-F238E27FC236}">
                    <a16:creationId xmlns:a16="http://schemas.microsoft.com/office/drawing/2014/main" id="{5A004F8D-5A1D-0A0C-EC21-A87FFE5EEA3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16050" y="4171671"/>
                <a:ext cx="1058961" cy="1058961"/>
              </a:xfrm>
              <a:prstGeom prst="rect">
                <a:avLst/>
              </a:prstGeom>
            </p:spPr>
          </p:pic>
        </p:grpSp>
        <p:sp>
          <p:nvSpPr>
            <p:cNvPr id="28" name="Rectangle 27">
              <a:extLst>
                <a:ext uri="{FF2B5EF4-FFF2-40B4-BE49-F238E27FC236}">
                  <a16:creationId xmlns:a16="http://schemas.microsoft.com/office/drawing/2014/main" id="{F61089B4-192B-22A3-83D2-E168127E56C2}"/>
                </a:ext>
              </a:extLst>
            </p:cNvPr>
            <p:cNvSpPr/>
            <p:nvPr/>
          </p:nvSpPr>
          <p:spPr>
            <a:xfrm>
              <a:off x="4318275" y="1398443"/>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défenseur du temps</a:t>
              </a:r>
            </a:p>
          </p:txBody>
        </p:sp>
      </p:grpSp>
      <p:grpSp>
        <p:nvGrpSpPr>
          <p:cNvPr id="33" name="Groupe 32">
            <a:extLst>
              <a:ext uri="{FF2B5EF4-FFF2-40B4-BE49-F238E27FC236}">
                <a16:creationId xmlns:a16="http://schemas.microsoft.com/office/drawing/2014/main" id="{1F7803CF-4344-07E3-A316-3E06D95364FA}"/>
              </a:ext>
            </a:extLst>
          </p:cNvPr>
          <p:cNvGrpSpPr/>
          <p:nvPr/>
        </p:nvGrpSpPr>
        <p:grpSpPr>
          <a:xfrm>
            <a:off x="322593" y="2874038"/>
            <a:ext cx="1072810" cy="968831"/>
            <a:chOff x="6620614" y="263011"/>
            <a:chExt cx="2187817" cy="1975769"/>
          </a:xfrm>
        </p:grpSpPr>
        <p:grpSp>
          <p:nvGrpSpPr>
            <p:cNvPr id="35" name="Groupe 34">
              <a:extLst>
                <a:ext uri="{FF2B5EF4-FFF2-40B4-BE49-F238E27FC236}">
                  <a16:creationId xmlns:a16="http://schemas.microsoft.com/office/drawing/2014/main" id="{E41EFFD5-F48A-4737-6A6C-0408B3A07FB8}"/>
                </a:ext>
              </a:extLst>
            </p:cNvPr>
            <p:cNvGrpSpPr/>
            <p:nvPr/>
          </p:nvGrpSpPr>
          <p:grpSpPr>
            <a:xfrm>
              <a:off x="6835953" y="263011"/>
              <a:ext cx="1972478" cy="1390231"/>
              <a:chOff x="7771323" y="789003"/>
              <a:chExt cx="3577777" cy="2521669"/>
            </a:xfrm>
          </p:grpSpPr>
          <p:pic>
            <p:nvPicPr>
              <p:cNvPr id="37" name="Graphique 36" descr="Employée de bureau avec un remplissage uni">
                <a:extLst>
                  <a:ext uri="{FF2B5EF4-FFF2-40B4-BE49-F238E27FC236}">
                    <a16:creationId xmlns:a16="http://schemas.microsoft.com/office/drawing/2014/main" id="{965F152A-0EA4-FA36-61F3-BCD68F974BC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71323" y="789003"/>
                <a:ext cx="2521669" cy="2521669"/>
              </a:xfrm>
              <a:prstGeom prst="rect">
                <a:avLst/>
              </a:prstGeom>
            </p:spPr>
          </p:pic>
          <p:sp>
            <p:nvSpPr>
              <p:cNvPr id="38" name="Rectangle 37">
                <a:extLst>
                  <a:ext uri="{FF2B5EF4-FFF2-40B4-BE49-F238E27FC236}">
                    <a16:creationId xmlns:a16="http://schemas.microsoft.com/office/drawing/2014/main" id="{F203526B-4CAB-C224-D5FE-C5588E791F8E}"/>
                  </a:ext>
                </a:extLst>
              </p:cNvPr>
              <p:cNvSpPr/>
              <p:nvPr/>
            </p:nvSpPr>
            <p:spPr>
              <a:xfrm rot="7542486">
                <a:off x="9308974" y="2157040"/>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39" name="Graphique 38" descr="Mégaphone avec un remplissage uni">
                <a:extLst>
                  <a:ext uri="{FF2B5EF4-FFF2-40B4-BE49-F238E27FC236}">
                    <a16:creationId xmlns:a16="http://schemas.microsoft.com/office/drawing/2014/main" id="{8A789A4A-680F-B6A4-5408-768E88761C5E}"/>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14658"/>
              <a:stretch/>
            </p:blipFill>
            <p:spPr>
              <a:xfrm rot="2220631">
                <a:off x="9459956" y="878072"/>
                <a:ext cx="1889144" cy="1612225"/>
              </a:xfrm>
              <a:prstGeom prst="rect">
                <a:avLst/>
              </a:prstGeom>
            </p:spPr>
          </p:pic>
        </p:grpSp>
        <p:sp>
          <p:nvSpPr>
            <p:cNvPr id="36" name="Rectangle 35">
              <a:extLst>
                <a:ext uri="{FF2B5EF4-FFF2-40B4-BE49-F238E27FC236}">
                  <a16:creationId xmlns:a16="http://schemas.microsoft.com/office/drawing/2014/main" id="{3D5B7C49-4B09-D40A-A583-12E84CFBE5F5}"/>
                </a:ext>
              </a:extLst>
            </p:cNvPr>
            <p:cNvSpPr/>
            <p:nvPr/>
          </p:nvSpPr>
          <p:spPr>
            <a:xfrm>
              <a:off x="6620614" y="1398443"/>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promoteur</a:t>
              </a:r>
            </a:p>
          </p:txBody>
        </p:sp>
      </p:grpSp>
      <p:grpSp>
        <p:nvGrpSpPr>
          <p:cNvPr id="61" name="Groupe 60">
            <a:extLst>
              <a:ext uri="{FF2B5EF4-FFF2-40B4-BE49-F238E27FC236}">
                <a16:creationId xmlns:a16="http://schemas.microsoft.com/office/drawing/2014/main" id="{21CDD4FB-0B8A-F431-5F52-4E5FDFF52DFB}"/>
              </a:ext>
            </a:extLst>
          </p:cNvPr>
          <p:cNvGrpSpPr/>
          <p:nvPr/>
        </p:nvGrpSpPr>
        <p:grpSpPr>
          <a:xfrm>
            <a:off x="2098515" y="4829997"/>
            <a:ext cx="1006506" cy="1017839"/>
            <a:chOff x="4318275" y="2524542"/>
            <a:chExt cx="2052601" cy="2075713"/>
          </a:xfrm>
        </p:grpSpPr>
        <p:grpSp>
          <p:nvGrpSpPr>
            <p:cNvPr id="62" name="Groupe 61">
              <a:extLst>
                <a:ext uri="{FF2B5EF4-FFF2-40B4-BE49-F238E27FC236}">
                  <a16:creationId xmlns:a16="http://schemas.microsoft.com/office/drawing/2014/main" id="{8198FDFB-E48A-92EE-2A94-4A7AF21AFFC7}"/>
                </a:ext>
              </a:extLst>
            </p:cNvPr>
            <p:cNvGrpSpPr/>
            <p:nvPr/>
          </p:nvGrpSpPr>
          <p:grpSpPr>
            <a:xfrm>
              <a:off x="4397837" y="2524542"/>
              <a:ext cx="1973039" cy="1623467"/>
              <a:chOff x="1872074" y="789004"/>
              <a:chExt cx="3064646" cy="2521669"/>
            </a:xfrm>
          </p:grpSpPr>
          <p:pic>
            <p:nvPicPr>
              <p:cNvPr id="64" name="Graphique 63" descr="Employée de bureau avec un remplissage uni">
                <a:extLst>
                  <a:ext uri="{FF2B5EF4-FFF2-40B4-BE49-F238E27FC236}">
                    <a16:creationId xmlns:a16="http://schemas.microsoft.com/office/drawing/2014/main" id="{F9740C5D-9A88-303F-5518-1863C236F14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72074" y="789004"/>
                <a:ext cx="2521669" cy="2521669"/>
              </a:xfrm>
              <a:prstGeom prst="rect">
                <a:avLst/>
              </a:prstGeom>
            </p:spPr>
          </p:pic>
          <p:sp>
            <p:nvSpPr>
              <p:cNvPr id="65" name="Rectangle 64">
                <a:extLst>
                  <a:ext uri="{FF2B5EF4-FFF2-40B4-BE49-F238E27FC236}">
                    <a16:creationId xmlns:a16="http://schemas.microsoft.com/office/drawing/2014/main" id="{FD81A338-E902-8CCB-F44B-17FAACD1B679}"/>
                  </a:ext>
                </a:extLst>
              </p:cNvPr>
              <p:cNvSpPr/>
              <p:nvPr/>
            </p:nvSpPr>
            <p:spPr>
              <a:xfrm rot="7249682">
                <a:off x="3346632" y="2089907"/>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66" name="Graphique 65" descr="Signe pouce en haut avec un remplissage uni">
                <a:extLst>
                  <a:ext uri="{FF2B5EF4-FFF2-40B4-BE49-F238E27FC236}">
                    <a16:creationId xmlns:a16="http://schemas.microsoft.com/office/drawing/2014/main" id="{E99F5F31-2D1C-1769-99B6-2286E606B53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18059647">
                <a:off x="3940973" y="810751"/>
                <a:ext cx="995747" cy="995747"/>
              </a:xfrm>
              <a:prstGeom prst="rect">
                <a:avLst/>
              </a:prstGeom>
            </p:spPr>
          </p:pic>
        </p:grpSp>
        <p:sp>
          <p:nvSpPr>
            <p:cNvPr id="63" name="Rectangle 62">
              <a:extLst>
                <a:ext uri="{FF2B5EF4-FFF2-40B4-BE49-F238E27FC236}">
                  <a16:creationId xmlns:a16="http://schemas.microsoft.com/office/drawing/2014/main" id="{649D35EE-0E55-F84F-A5DA-B8DFD33095A2}"/>
                </a:ext>
              </a:extLst>
            </p:cNvPr>
            <p:cNvSpPr/>
            <p:nvPr/>
          </p:nvSpPr>
          <p:spPr>
            <a:xfrm>
              <a:off x="4318275" y="3759918"/>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participant</a:t>
              </a:r>
            </a:p>
          </p:txBody>
        </p:sp>
      </p:grpSp>
      <p:grpSp>
        <p:nvGrpSpPr>
          <p:cNvPr id="67" name="Groupe 66">
            <a:extLst>
              <a:ext uri="{FF2B5EF4-FFF2-40B4-BE49-F238E27FC236}">
                <a16:creationId xmlns:a16="http://schemas.microsoft.com/office/drawing/2014/main" id="{F9DD5E8F-0E4D-43FA-C9FA-D193AD9EC7B9}"/>
              </a:ext>
            </a:extLst>
          </p:cNvPr>
          <p:cNvGrpSpPr/>
          <p:nvPr/>
        </p:nvGrpSpPr>
        <p:grpSpPr>
          <a:xfrm>
            <a:off x="10902300" y="5760392"/>
            <a:ext cx="1181342" cy="1072681"/>
            <a:chOff x="6620614" y="2412700"/>
            <a:chExt cx="2409149" cy="2187555"/>
          </a:xfrm>
        </p:grpSpPr>
        <p:grpSp>
          <p:nvGrpSpPr>
            <p:cNvPr id="68" name="Groupe 67">
              <a:extLst>
                <a:ext uri="{FF2B5EF4-FFF2-40B4-BE49-F238E27FC236}">
                  <a16:creationId xmlns:a16="http://schemas.microsoft.com/office/drawing/2014/main" id="{0C9F37DE-A49C-347A-AA8A-D4F3253613F6}"/>
                </a:ext>
              </a:extLst>
            </p:cNvPr>
            <p:cNvGrpSpPr/>
            <p:nvPr/>
          </p:nvGrpSpPr>
          <p:grpSpPr>
            <a:xfrm>
              <a:off x="6679829" y="2412700"/>
              <a:ext cx="2349934" cy="1785141"/>
              <a:chOff x="7771323" y="635824"/>
              <a:chExt cx="3521133" cy="2674848"/>
            </a:xfrm>
          </p:grpSpPr>
          <p:pic>
            <p:nvPicPr>
              <p:cNvPr id="70" name="Graphique 69" descr="Employée de bureau avec un remplissage uni">
                <a:extLst>
                  <a:ext uri="{FF2B5EF4-FFF2-40B4-BE49-F238E27FC236}">
                    <a16:creationId xmlns:a16="http://schemas.microsoft.com/office/drawing/2014/main" id="{40E4FA1C-1581-4339-91F9-6219F30E185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5511"/>
              <a:stretch/>
            </p:blipFill>
            <p:spPr>
              <a:xfrm>
                <a:off x="7771323" y="1180130"/>
                <a:ext cx="2521669" cy="2130542"/>
              </a:xfrm>
              <a:prstGeom prst="rect">
                <a:avLst/>
              </a:prstGeom>
            </p:spPr>
          </p:pic>
          <p:sp>
            <p:nvSpPr>
              <p:cNvPr id="71" name="Rectangle 70">
                <a:extLst>
                  <a:ext uri="{FF2B5EF4-FFF2-40B4-BE49-F238E27FC236}">
                    <a16:creationId xmlns:a16="http://schemas.microsoft.com/office/drawing/2014/main" id="{7B590C8E-16EA-7D23-9CB9-7925B3BB5CCE}"/>
                  </a:ext>
                </a:extLst>
              </p:cNvPr>
              <p:cNvSpPr/>
              <p:nvPr/>
            </p:nvSpPr>
            <p:spPr>
              <a:xfrm rot="7542486">
                <a:off x="9308974" y="2157040"/>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72" name="Graphique 71" descr="Couronne avec un remplissage uni">
                <a:extLst>
                  <a:ext uri="{FF2B5EF4-FFF2-40B4-BE49-F238E27FC236}">
                    <a16:creationId xmlns:a16="http://schemas.microsoft.com/office/drawing/2014/main" id="{CF076113-2E65-04A5-C8E3-572CD7123B9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flipV="1">
                <a:off x="8048907" y="961936"/>
                <a:ext cx="1921432" cy="594363"/>
              </a:xfrm>
              <a:prstGeom prst="rect">
                <a:avLst/>
              </a:prstGeom>
            </p:spPr>
          </p:pic>
          <p:pic>
            <p:nvPicPr>
              <p:cNvPr id="73" name="Graphique 72" descr="Employée de bureau avec un remplissage uni">
                <a:extLst>
                  <a:ext uri="{FF2B5EF4-FFF2-40B4-BE49-F238E27FC236}">
                    <a16:creationId xmlns:a16="http://schemas.microsoft.com/office/drawing/2014/main" id="{58AE5107-5FCF-CF67-81C9-B72530D218C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307" b="79737"/>
              <a:stretch/>
            </p:blipFill>
            <p:spPr>
              <a:xfrm>
                <a:off x="7771323" y="717379"/>
                <a:ext cx="2521669" cy="594363"/>
              </a:xfrm>
              <a:prstGeom prst="rect">
                <a:avLst/>
              </a:prstGeom>
            </p:spPr>
          </p:pic>
          <p:pic>
            <p:nvPicPr>
              <p:cNvPr id="74" name="Graphique 73" descr="Index pointant vers la droite vu du côté du dos de la main avec un remplissage uni">
                <a:extLst>
                  <a:ext uri="{FF2B5EF4-FFF2-40B4-BE49-F238E27FC236}">
                    <a16:creationId xmlns:a16="http://schemas.microsoft.com/office/drawing/2014/main" id="{8F783ABC-2F4A-6EC5-273F-4264BB72BCAC}"/>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13336"/>
              <a:stretch/>
            </p:blipFill>
            <p:spPr>
              <a:xfrm rot="18229742">
                <a:off x="9994179" y="728577"/>
                <a:ext cx="1391029" cy="1205524"/>
              </a:xfrm>
              <a:prstGeom prst="rect">
                <a:avLst/>
              </a:prstGeom>
            </p:spPr>
          </p:pic>
        </p:grpSp>
        <p:sp>
          <p:nvSpPr>
            <p:cNvPr id="69" name="Rectangle 68">
              <a:extLst>
                <a:ext uri="{FF2B5EF4-FFF2-40B4-BE49-F238E27FC236}">
                  <a16:creationId xmlns:a16="http://schemas.microsoft.com/office/drawing/2014/main" id="{DA87B8F2-0C4B-CBF1-F237-E6270B883D9C}"/>
                </a:ext>
              </a:extLst>
            </p:cNvPr>
            <p:cNvSpPr/>
            <p:nvPr/>
          </p:nvSpPr>
          <p:spPr>
            <a:xfrm>
              <a:off x="6620614" y="3759918"/>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décisionnaire systématique</a:t>
              </a:r>
            </a:p>
          </p:txBody>
        </p:sp>
      </p:grpSp>
      <p:grpSp>
        <p:nvGrpSpPr>
          <p:cNvPr id="75" name="Groupe 74">
            <a:extLst>
              <a:ext uri="{FF2B5EF4-FFF2-40B4-BE49-F238E27FC236}">
                <a16:creationId xmlns:a16="http://schemas.microsoft.com/office/drawing/2014/main" id="{BB3B84FC-1458-EFDF-B828-24A3C5E3BFFF}"/>
              </a:ext>
            </a:extLst>
          </p:cNvPr>
          <p:cNvGrpSpPr/>
          <p:nvPr/>
        </p:nvGrpSpPr>
        <p:grpSpPr>
          <a:xfrm>
            <a:off x="9218596" y="5775604"/>
            <a:ext cx="1220949" cy="1060280"/>
            <a:chOff x="9038675" y="2437990"/>
            <a:chExt cx="2489921" cy="2162265"/>
          </a:xfrm>
        </p:grpSpPr>
        <p:grpSp>
          <p:nvGrpSpPr>
            <p:cNvPr id="76" name="Groupe 75">
              <a:extLst>
                <a:ext uri="{FF2B5EF4-FFF2-40B4-BE49-F238E27FC236}">
                  <a16:creationId xmlns:a16="http://schemas.microsoft.com/office/drawing/2014/main" id="{D4324392-AFA6-B9B5-143D-4F02A79CFEFA}"/>
                </a:ext>
              </a:extLst>
            </p:cNvPr>
            <p:cNvGrpSpPr/>
            <p:nvPr/>
          </p:nvGrpSpPr>
          <p:grpSpPr>
            <a:xfrm>
              <a:off x="9038675" y="2437990"/>
              <a:ext cx="2489921" cy="1748559"/>
              <a:chOff x="1822045" y="3936873"/>
              <a:chExt cx="3812269" cy="2677184"/>
            </a:xfrm>
          </p:grpSpPr>
          <p:pic>
            <p:nvPicPr>
              <p:cNvPr id="78" name="Graphique 77" descr="Employée de bureau avec un remplissage uni">
                <a:extLst>
                  <a:ext uri="{FF2B5EF4-FFF2-40B4-BE49-F238E27FC236}">
                    <a16:creationId xmlns:a16="http://schemas.microsoft.com/office/drawing/2014/main" id="{F36C5704-A5F6-F26F-AAE1-FDD26331133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22045" y="4092388"/>
                <a:ext cx="2521669" cy="2521669"/>
              </a:xfrm>
              <a:prstGeom prst="rect">
                <a:avLst/>
              </a:prstGeom>
            </p:spPr>
          </p:pic>
          <p:sp>
            <p:nvSpPr>
              <p:cNvPr id="79" name="Rectangle 78">
                <a:extLst>
                  <a:ext uri="{FF2B5EF4-FFF2-40B4-BE49-F238E27FC236}">
                    <a16:creationId xmlns:a16="http://schemas.microsoft.com/office/drawing/2014/main" id="{670D3657-1AA7-A532-CC87-9D21FFE98F28}"/>
                  </a:ext>
                </a:extLst>
              </p:cNvPr>
              <p:cNvSpPr/>
              <p:nvPr/>
            </p:nvSpPr>
            <p:spPr>
              <a:xfrm rot="7249682">
                <a:off x="3286580" y="5342828"/>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80" name="Graphique 79" descr="Marteau d'officiel avec un remplissage uni">
                <a:extLst>
                  <a:ext uri="{FF2B5EF4-FFF2-40B4-BE49-F238E27FC236}">
                    <a16:creationId xmlns:a16="http://schemas.microsoft.com/office/drawing/2014/main" id="{3A46349D-2C5B-5714-D621-EE34446D734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3943871" y="3936873"/>
                <a:ext cx="1690443" cy="1556691"/>
              </a:xfrm>
              <a:prstGeom prst="rect">
                <a:avLst/>
              </a:prstGeom>
            </p:spPr>
          </p:pic>
        </p:grpSp>
        <p:sp>
          <p:nvSpPr>
            <p:cNvPr id="77" name="Rectangle 76">
              <a:extLst>
                <a:ext uri="{FF2B5EF4-FFF2-40B4-BE49-F238E27FC236}">
                  <a16:creationId xmlns:a16="http://schemas.microsoft.com/office/drawing/2014/main" id="{396D8C2E-3C47-BE5A-A916-486C52C200E0}"/>
                </a:ext>
              </a:extLst>
            </p:cNvPr>
            <p:cNvSpPr/>
            <p:nvPr/>
          </p:nvSpPr>
          <p:spPr>
            <a:xfrm>
              <a:off x="9052742" y="3759918"/>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décisionnaire au besoin</a:t>
              </a:r>
            </a:p>
          </p:txBody>
        </p:sp>
      </p:grpSp>
      <p:grpSp>
        <p:nvGrpSpPr>
          <p:cNvPr id="81" name="Groupe 80">
            <a:extLst>
              <a:ext uri="{FF2B5EF4-FFF2-40B4-BE49-F238E27FC236}">
                <a16:creationId xmlns:a16="http://schemas.microsoft.com/office/drawing/2014/main" id="{8E4512BD-6DCE-FBC7-E163-1E2247F64693}"/>
              </a:ext>
            </a:extLst>
          </p:cNvPr>
          <p:cNvGrpSpPr/>
          <p:nvPr/>
        </p:nvGrpSpPr>
        <p:grpSpPr>
          <a:xfrm>
            <a:off x="7356205" y="5814679"/>
            <a:ext cx="1231914" cy="1018393"/>
            <a:chOff x="4318275" y="4592486"/>
            <a:chExt cx="2512283" cy="2076842"/>
          </a:xfrm>
        </p:grpSpPr>
        <p:grpSp>
          <p:nvGrpSpPr>
            <p:cNvPr id="82" name="Groupe 81">
              <a:extLst>
                <a:ext uri="{FF2B5EF4-FFF2-40B4-BE49-F238E27FC236}">
                  <a16:creationId xmlns:a16="http://schemas.microsoft.com/office/drawing/2014/main" id="{E383C93E-6521-2C99-2965-C4937368F797}"/>
                </a:ext>
              </a:extLst>
            </p:cNvPr>
            <p:cNvGrpSpPr/>
            <p:nvPr/>
          </p:nvGrpSpPr>
          <p:grpSpPr>
            <a:xfrm>
              <a:off x="4418605" y="4592486"/>
              <a:ext cx="2411953" cy="1668182"/>
              <a:chOff x="7814209" y="3970452"/>
              <a:chExt cx="3645974" cy="2521669"/>
            </a:xfrm>
          </p:grpSpPr>
          <p:pic>
            <p:nvPicPr>
              <p:cNvPr id="84" name="Graphique 83" descr="Employée de bureau avec un remplissage uni">
                <a:extLst>
                  <a:ext uri="{FF2B5EF4-FFF2-40B4-BE49-F238E27FC236}">
                    <a16:creationId xmlns:a16="http://schemas.microsoft.com/office/drawing/2014/main" id="{B3271664-884F-8960-8F1F-428A9DEA2F6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14209" y="3970452"/>
                <a:ext cx="2521669" cy="2521669"/>
              </a:xfrm>
              <a:prstGeom prst="rect">
                <a:avLst/>
              </a:prstGeom>
            </p:spPr>
          </p:pic>
          <p:sp>
            <p:nvSpPr>
              <p:cNvPr id="85" name="Rectangle 84">
                <a:extLst>
                  <a:ext uri="{FF2B5EF4-FFF2-40B4-BE49-F238E27FC236}">
                    <a16:creationId xmlns:a16="http://schemas.microsoft.com/office/drawing/2014/main" id="{1245BFFB-CB74-39AA-5819-81F7806B0D06}"/>
                  </a:ext>
                </a:extLst>
              </p:cNvPr>
              <p:cNvSpPr/>
              <p:nvPr/>
            </p:nvSpPr>
            <p:spPr>
              <a:xfrm rot="7542486">
                <a:off x="9340836" y="5264821"/>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86" name="Graphique 85" descr="Menottes avec un remplissage uni">
                <a:extLst>
                  <a:ext uri="{FF2B5EF4-FFF2-40B4-BE49-F238E27FC236}">
                    <a16:creationId xmlns:a16="http://schemas.microsoft.com/office/drawing/2014/main" id="{AFEDE415-8EFE-EA11-D4F0-EFDD8CA14A40}"/>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781974" y="4544150"/>
                <a:ext cx="1678209" cy="1678209"/>
              </a:xfrm>
              <a:prstGeom prst="rect">
                <a:avLst/>
              </a:prstGeom>
            </p:spPr>
          </p:pic>
        </p:grpSp>
        <p:sp>
          <p:nvSpPr>
            <p:cNvPr id="83" name="Rectangle 82">
              <a:extLst>
                <a:ext uri="{FF2B5EF4-FFF2-40B4-BE49-F238E27FC236}">
                  <a16:creationId xmlns:a16="http://schemas.microsoft.com/office/drawing/2014/main" id="{72346DCD-2387-6524-68CA-1BA975BC826D}"/>
                </a:ext>
              </a:extLst>
            </p:cNvPr>
            <p:cNvSpPr/>
            <p:nvPr/>
          </p:nvSpPr>
          <p:spPr>
            <a:xfrm>
              <a:off x="4318275" y="5828991"/>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obligateur</a:t>
              </a:r>
            </a:p>
          </p:txBody>
        </p:sp>
      </p:grpSp>
      <p:grpSp>
        <p:nvGrpSpPr>
          <p:cNvPr id="87" name="Groupe 86">
            <a:extLst>
              <a:ext uri="{FF2B5EF4-FFF2-40B4-BE49-F238E27FC236}">
                <a16:creationId xmlns:a16="http://schemas.microsoft.com/office/drawing/2014/main" id="{4B2433EE-EC72-95F7-CDF3-2598F3592A79}"/>
              </a:ext>
            </a:extLst>
          </p:cNvPr>
          <p:cNvGrpSpPr/>
          <p:nvPr/>
        </p:nvGrpSpPr>
        <p:grpSpPr>
          <a:xfrm>
            <a:off x="11600" y="1443112"/>
            <a:ext cx="12038120" cy="1498765"/>
            <a:chOff x="11600" y="1496380"/>
            <a:chExt cx="12038120" cy="1498765"/>
          </a:xfrm>
        </p:grpSpPr>
        <p:grpSp>
          <p:nvGrpSpPr>
            <p:cNvPr id="88" name="Groupe 87">
              <a:extLst>
                <a:ext uri="{FF2B5EF4-FFF2-40B4-BE49-F238E27FC236}">
                  <a16:creationId xmlns:a16="http://schemas.microsoft.com/office/drawing/2014/main" id="{16764B33-163F-6436-542E-06366999D338}"/>
                </a:ext>
              </a:extLst>
            </p:cNvPr>
            <p:cNvGrpSpPr/>
            <p:nvPr/>
          </p:nvGrpSpPr>
          <p:grpSpPr>
            <a:xfrm>
              <a:off x="11600" y="2499558"/>
              <a:ext cx="12038120" cy="495587"/>
              <a:chOff x="0" y="2140394"/>
              <a:chExt cx="12854128" cy="4544491"/>
            </a:xfrm>
          </p:grpSpPr>
          <p:sp>
            <p:nvSpPr>
              <p:cNvPr id="96" name="Espace réservé du texte 15">
                <a:extLst>
                  <a:ext uri="{FF2B5EF4-FFF2-40B4-BE49-F238E27FC236}">
                    <a16:creationId xmlns:a16="http://schemas.microsoft.com/office/drawing/2014/main" id="{0B11819C-0F26-8C5E-CDEC-E53724FA5238}"/>
                  </a:ext>
                </a:extLst>
              </p:cNvPr>
              <p:cNvSpPr txBox="1">
                <a:spLocks/>
              </p:cNvSpPr>
              <p:nvPr/>
            </p:nvSpPr>
            <p:spPr>
              <a:xfrm>
                <a:off x="0"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INSPIRATION</a:t>
                </a:r>
              </a:p>
              <a:p>
                <a:pPr marL="0" indent="0" algn="ctr">
                  <a:buFont typeface="Arial" panose="020B0604020202020204" pitchFamily="34" charset="0"/>
                  <a:buNone/>
                </a:pPr>
                <a:endParaRPr lang="fr-FR" sz="1600" b="1" i="1">
                  <a:solidFill>
                    <a:srgbClr val="ED7D31"/>
                  </a:solidFill>
                </a:endParaRPr>
              </a:p>
            </p:txBody>
          </p:sp>
          <p:sp>
            <p:nvSpPr>
              <p:cNvPr id="97" name="Espace réservé du texte 15">
                <a:extLst>
                  <a:ext uri="{FF2B5EF4-FFF2-40B4-BE49-F238E27FC236}">
                    <a16:creationId xmlns:a16="http://schemas.microsoft.com/office/drawing/2014/main" id="{9B54A0F1-2D21-485B-D6A3-25E2750B99E1}"/>
                  </a:ext>
                </a:extLst>
              </p:cNvPr>
              <p:cNvSpPr txBox="1">
                <a:spLocks/>
              </p:cNvSpPr>
              <p:nvPr/>
            </p:nvSpPr>
            <p:spPr>
              <a:xfrm>
                <a:off x="1855434"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COLLECTE</a:t>
                </a:r>
              </a:p>
              <a:p>
                <a:pPr marL="0" indent="0" algn="ctr">
                  <a:buFont typeface="Arial" panose="020B0604020202020204" pitchFamily="34" charset="0"/>
                  <a:buNone/>
                </a:pPr>
                <a:endParaRPr lang="fr-FR" sz="1600" b="1" i="1">
                  <a:solidFill>
                    <a:srgbClr val="ED7D31"/>
                  </a:solidFill>
                </a:endParaRPr>
              </a:p>
            </p:txBody>
          </p:sp>
          <p:sp>
            <p:nvSpPr>
              <p:cNvPr id="98" name="Espace réservé du texte 15">
                <a:extLst>
                  <a:ext uri="{FF2B5EF4-FFF2-40B4-BE49-F238E27FC236}">
                    <a16:creationId xmlns:a16="http://schemas.microsoft.com/office/drawing/2014/main" id="{64DDF18C-A054-52FD-2E54-AB02AFC83F69}"/>
                  </a:ext>
                </a:extLst>
              </p:cNvPr>
              <p:cNvSpPr txBox="1">
                <a:spLocks/>
              </p:cNvSpPr>
              <p:nvPr/>
            </p:nvSpPr>
            <p:spPr>
              <a:xfrm>
                <a:off x="3710868" y="2140396"/>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INITIATION</a:t>
                </a:r>
              </a:p>
              <a:p>
                <a:pPr marL="0" indent="0" algn="ctr">
                  <a:buFont typeface="Arial" panose="020B0604020202020204" pitchFamily="34" charset="0"/>
                  <a:buNone/>
                </a:pPr>
                <a:endParaRPr lang="fr-FR" sz="1600" b="1" i="1">
                  <a:solidFill>
                    <a:srgbClr val="ED7D31"/>
                  </a:solidFill>
                </a:endParaRPr>
              </a:p>
            </p:txBody>
          </p:sp>
          <p:sp>
            <p:nvSpPr>
              <p:cNvPr id="99" name="Espace réservé du texte 15">
                <a:extLst>
                  <a:ext uri="{FF2B5EF4-FFF2-40B4-BE49-F238E27FC236}">
                    <a16:creationId xmlns:a16="http://schemas.microsoft.com/office/drawing/2014/main" id="{22DEA1A3-0667-F199-9DA3-780461D0411B}"/>
                  </a:ext>
                </a:extLst>
              </p:cNvPr>
              <p:cNvSpPr txBox="1">
                <a:spLocks/>
              </p:cNvSpPr>
              <p:nvPr/>
            </p:nvSpPr>
            <p:spPr>
              <a:xfrm>
                <a:off x="5566302" y="2140395"/>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CHOC DE LA RÉALITÉ</a:t>
                </a:r>
              </a:p>
              <a:p>
                <a:pPr marL="0" indent="0" algn="ctr">
                  <a:buFont typeface="Arial" panose="020B0604020202020204" pitchFamily="34" charset="0"/>
                  <a:buNone/>
                </a:pPr>
                <a:endParaRPr lang="fr-FR" sz="1600" b="1" i="1">
                  <a:solidFill>
                    <a:srgbClr val="ED7D31"/>
                  </a:solidFill>
                </a:endParaRPr>
              </a:p>
            </p:txBody>
          </p:sp>
          <p:sp>
            <p:nvSpPr>
              <p:cNvPr id="100" name="Espace réservé du texte 15">
                <a:extLst>
                  <a:ext uri="{FF2B5EF4-FFF2-40B4-BE49-F238E27FC236}">
                    <a16:creationId xmlns:a16="http://schemas.microsoft.com/office/drawing/2014/main" id="{832A936B-0A1A-1111-0199-01B7C6BC9285}"/>
                  </a:ext>
                </a:extLst>
              </p:cNvPr>
              <p:cNvSpPr txBox="1">
                <a:spLocks/>
              </p:cNvSpPr>
              <p:nvPr/>
            </p:nvSpPr>
            <p:spPr>
              <a:xfrm>
                <a:off x="7421736"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CONFIRMATION DE RÉUSSITES</a:t>
                </a:r>
              </a:p>
            </p:txBody>
          </p:sp>
          <p:sp>
            <p:nvSpPr>
              <p:cNvPr id="102" name="Espace réservé du texte 15">
                <a:extLst>
                  <a:ext uri="{FF2B5EF4-FFF2-40B4-BE49-F238E27FC236}">
                    <a16:creationId xmlns:a16="http://schemas.microsoft.com/office/drawing/2014/main" id="{E68E8064-D843-B067-7FE7-7710C86FE5FE}"/>
                  </a:ext>
                </a:extLst>
              </p:cNvPr>
              <p:cNvSpPr txBox="1">
                <a:spLocks/>
              </p:cNvSpPr>
              <p:nvPr/>
            </p:nvSpPr>
            <p:spPr>
              <a:xfrm>
                <a:off x="9277170"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EXPOSITION</a:t>
                </a:r>
              </a:p>
            </p:txBody>
          </p:sp>
          <p:sp>
            <p:nvSpPr>
              <p:cNvPr id="105" name="Espace réservé du texte 15">
                <a:extLst>
                  <a:ext uri="{FF2B5EF4-FFF2-40B4-BE49-F238E27FC236}">
                    <a16:creationId xmlns:a16="http://schemas.microsoft.com/office/drawing/2014/main" id="{90F58B9C-9FEB-8247-6899-CDD92BFC7ADF}"/>
                  </a:ext>
                </a:extLst>
              </p:cNvPr>
              <p:cNvSpPr txBox="1">
                <a:spLocks/>
              </p:cNvSpPr>
              <p:nvPr/>
            </p:nvSpPr>
            <p:spPr>
              <a:xfrm>
                <a:off x="11131859" y="2140394"/>
                <a:ext cx="1722269" cy="454448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600" b="1" i="1">
                    <a:solidFill>
                      <a:srgbClr val="0683AA"/>
                    </a:solidFill>
                  </a:rPr>
                  <a:t>FORTIFICATION</a:t>
                </a:r>
              </a:p>
              <a:p>
                <a:pPr marL="0" indent="0" algn="ctr">
                  <a:buFont typeface="Arial" panose="020B0604020202020204" pitchFamily="34" charset="0"/>
                  <a:buNone/>
                </a:pPr>
                <a:endParaRPr lang="fr-FR" sz="1600" b="1" i="1">
                  <a:solidFill>
                    <a:srgbClr val="ED7D31"/>
                  </a:solidFill>
                </a:endParaRPr>
              </a:p>
            </p:txBody>
          </p:sp>
        </p:grpSp>
        <p:pic>
          <p:nvPicPr>
            <p:cNvPr id="89" name="Graphique 88" descr="Ampoule avec un remplissage uni">
              <a:extLst>
                <a:ext uri="{FF2B5EF4-FFF2-40B4-BE49-F238E27FC236}">
                  <a16:creationId xmlns:a16="http://schemas.microsoft.com/office/drawing/2014/main" id="{30C10EB1-3784-22AF-F662-EA0730B75F9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60868" y="1496380"/>
              <a:ext cx="914400" cy="914400"/>
            </a:xfrm>
            <a:prstGeom prst="rect">
              <a:avLst/>
            </a:prstGeom>
          </p:spPr>
        </p:pic>
        <p:pic>
          <p:nvPicPr>
            <p:cNvPr id="90" name="Graphique 89" descr="Seau et pelle avec un remplissage uni">
              <a:extLst>
                <a:ext uri="{FF2B5EF4-FFF2-40B4-BE49-F238E27FC236}">
                  <a16:creationId xmlns:a16="http://schemas.microsoft.com/office/drawing/2014/main" id="{B5927D86-54DE-9F09-E0AC-E3064238AE49}"/>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098515" y="1496380"/>
              <a:ext cx="914400" cy="914400"/>
            </a:xfrm>
            <a:prstGeom prst="rect">
              <a:avLst/>
            </a:prstGeom>
          </p:spPr>
        </p:pic>
        <p:pic>
          <p:nvPicPr>
            <p:cNvPr id="91" name="Graphique 90" descr="Tubes à essai avec un remplissage uni">
              <a:extLst>
                <a:ext uri="{FF2B5EF4-FFF2-40B4-BE49-F238E27FC236}">
                  <a16:creationId xmlns:a16="http://schemas.microsoft.com/office/drawing/2014/main" id="{4278A199-3F80-1B6B-88BD-97F24D4112A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833203" y="1496380"/>
              <a:ext cx="914400" cy="914400"/>
            </a:xfrm>
            <a:prstGeom prst="rect">
              <a:avLst/>
            </a:prstGeom>
          </p:spPr>
        </p:pic>
        <p:pic>
          <p:nvPicPr>
            <p:cNvPr id="92" name="Graphique 91" descr="Explosion avec un remplissage uni">
              <a:extLst>
                <a:ext uri="{FF2B5EF4-FFF2-40B4-BE49-F238E27FC236}">
                  <a16:creationId xmlns:a16="http://schemas.microsoft.com/office/drawing/2014/main" id="{31229712-782A-EFE7-9C2A-E92ACD49D7B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5573460" y="1496380"/>
              <a:ext cx="914400" cy="914400"/>
            </a:xfrm>
            <a:prstGeom prst="rect">
              <a:avLst/>
            </a:prstGeom>
          </p:spPr>
        </p:pic>
        <p:pic>
          <p:nvPicPr>
            <p:cNvPr id="93" name="Graphique 92" descr="Trophée avec un remplissage uni">
              <a:extLst>
                <a:ext uri="{FF2B5EF4-FFF2-40B4-BE49-F238E27FC236}">
                  <a16:creationId xmlns:a16="http://schemas.microsoft.com/office/drawing/2014/main" id="{FB3391F2-53ED-0202-BCC6-3A19BBC919AC}"/>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313717" y="1496380"/>
              <a:ext cx="914400" cy="914400"/>
            </a:xfrm>
            <a:prstGeom prst="rect">
              <a:avLst/>
            </a:prstGeom>
          </p:spPr>
        </p:pic>
        <p:pic>
          <p:nvPicPr>
            <p:cNvPr id="94" name="Graphique 93" descr="Assiette couverte avec un remplissage uni">
              <a:extLst>
                <a:ext uri="{FF2B5EF4-FFF2-40B4-BE49-F238E27FC236}">
                  <a16:creationId xmlns:a16="http://schemas.microsoft.com/office/drawing/2014/main" id="{596129D2-DBB6-E86F-2B58-42E287719F1B}"/>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048405" y="1496380"/>
              <a:ext cx="914400" cy="914400"/>
            </a:xfrm>
            <a:prstGeom prst="rect">
              <a:avLst/>
            </a:prstGeom>
          </p:spPr>
        </p:pic>
        <p:pic>
          <p:nvPicPr>
            <p:cNvPr id="95" name="Graphique 94" descr="Scène de château avec un remplissage uni">
              <a:extLst>
                <a:ext uri="{FF2B5EF4-FFF2-40B4-BE49-F238E27FC236}">
                  <a16:creationId xmlns:a16="http://schemas.microsoft.com/office/drawing/2014/main" id="{5A1C63EC-B0E4-3463-D684-E582C3EF6176}"/>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0783093" y="1496380"/>
              <a:ext cx="914400" cy="914400"/>
            </a:xfrm>
            <a:prstGeom prst="rect">
              <a:avLst/>
            </a:prstGeom>
          </p:spPr>
        </p:pic>
      </p:grpSp>
      <p:grpSp>
        <p:nvGrpSpPr>
          <p:cNvPr id="110" name="Groupe 109">
            <a:extLst>
              <a:ext uri="{FF2B5EF4-FFF2-40B4-BE49-F238E27FC236}">
                <a16:creationId xmlns:a16="http://schemas.microsoft.com/office/drawing/2014/main" id="{51F8D242-6DB6-3ED5-0F81-7A6F60250B5A}"/>
              </a:ext>
            </a:extLst>
          </p:cNvPr>
          <p:cNvGrpSpPr/>
          <p:nvPr/>
        </p:nvGrpSpPr>
        <p:grpSpPr>
          <a:xfrm>
            <a:off x="7336008" y="4829997"/>
            <a:ext cx="1006506" cy="1017839"/>
            <a:chOff x="4318275" y="2524542"/>
            <a:chExt cx="2052601" cy="2075713"/>
          </a:xfrm>
        </p:grpSpPr>
        <p:grpSp>
          <p:nvGrpSpPr>
            <p:cNvPr id="111" name="Groupe 110">
              <a:extLst>
                <a:ext uri="{FF2B5EF4-FFF2-40B4-BE49-F238E27FC236}">
                  <a16:creationId xmlns:a16="http://schemas.microsoft.com/office/drawing/2014/main" id="{C8D263A1-60CC-A48C-D365-CE8403B16DC3}"/>
                </a:ext>
              </a:extLst>
            </p:cNvPr>
            <p:cNvGrpSpPr/>
            <p:nvPr/>
          </p:nvGrpSpPr>
          <p:grpSpPr>
            <a:xfrm>
              <a:off x="4397837" y="2524542"/>
              <a:ext cx="1973039" cy="1623467"/>
              <a:chOff x="1872074" y="789004"/>
              <a:chExt cx="3064646" cy="2521669"/>
            </a:xfrm>
          </p:grpSpPr>
          <p:pic>
            <p:nvPicPr>
              <p:cNvPr id="113" name="Graphique 112" descr="Employée de bureau avec un remplissage uni">
                <a:extLst>
                  <a:ext uri="{FF2B5EF4-FFF2-40B4-BE49-F238E27FC236}">
                    <a16:creationId xmlns:a16="http://schemas.microsoft.com/office/drawing/2014/main" id="{106C8AB0-7FAA-8782-0CE2-1F1CDA56686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72074" y="789004"/>
                <a:ext cx="2521669" cy="2521669"/>
              </a:xfrm>
              <a:prstGeom prst="rect">
                <a:avLst/>
              </a:prstGeom>
            </p:spPr>
          </p:pic>
          <p:sp>
            <p:nvSpPr>
              <p:cNvPr id="114" name="Rectangle 113">
                <a:extLst>
                  <a:ext uri="{FF2B5EF4-FFF2-40B4-BE49-F238E27FC236}">
                    <a16:creationId xmlns:a16="http://schemas.microsoft.com/office/drawing/2014/main" id="{F0525912-E669-17E9-1B16-589D491D178E}"/>
                  </a:ext>
                </a:extLst>
              </p:cNvPr>
              <p:cNvSpPr/>
              <p:nvPr/>
            </p:nvSpPr>
            <p:spPr>
              <a:xfrm rot="7249682">
                <a:off x="3346632" y="2089907"/>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115" name="Graphique 114" descr="Signe pouce en haut avec un remplissage uni">
                <a:extLst>
                  <a:ext uri="{FF2B5EF4-FFF2-40B4-BE49-F238E27FC236}">
                    <a16:creationId xmlns:a16="http://schemas.microsoft.com/office/drawing/2014/main" id="{0DF319A5-57B6-0929-CB51-47EEDB994CF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18059647">
                <a:off x="3940973" y="810751"/>
                <a:ext cx="995747" cy="995747"/>
              </a:xfrm>
              <a:prstGeom prst="rect">
                <a:avLst/>
              </a:prstGeom>
            </p:spPr>
          </p:pic>
        </p:grpSp>
        <p:sp>
          <p:nvSpPr>
            <p:cNvPr id="112" name="Rectangle 111">
              <a:extLst>
                <a:ext uri="{FF2B5EF4-FFF2-40B4-BE49-F238E27FC236}">
                  <a16:creationId xmlns:a16="http://schemas.microsoft.com/office/drawing/2014/main" id="{ADAE6814-D99B-88D2-1746-3260B3518262}"/>
                </a:ext>
              </a:extLst>
            </p:cNvPr>
            <p:cNvSpPr/>
            <p:nvPr/>
          </p:nvSpPr>
          <p:spPr>
            <a:xfrm>
              <a:off x="4318275" y="3759918"/>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participant</a:t>
              </a:r>
            </a:p>
          </p:txBody>
        </p:sp>
      </p:grpSp>
      <p:grpSp>
        <p:nvGrpSpPr>
          <p:cNvPr id="116" name="Groupe 115">
            <a:extLst>
              <a:ext uri="{FF2B5EF4-FFF2-40B4-BE49-F238E27FC236}">
                <a16:creationId xmlns:a16="http://schemas.microsoft.com/office/drawing/2014/main" id="{38710BDF-A0CC-2773-7AA3-2D5D47C2583B}"/>
              </a:ext>
            </a:extLst>
          </p:cNvPr>
          <p:cNvGrpSpPr/>
          <p:nvPr/>
        </p:nvGrpSpPr>
        <p:grpSpPr>
          <a:xfrm>
            <a:off x="10841388" y="3778041"/>
            <a:ext cx="1133255" cy="1027019"/>
            <a:chOff x="9052742" y="144345"/>
            <a:chExt cx="2311084" cy="2094435"/>
          </a:xfrm>
        </p:grpSpPr>
        <p:grpSp>
          <p:nvGrpSpPr>
            <p:cNvPr id="117" name="Groupe 116">
              <a:extLst>
                <a:ext uri="{FF2B5EF4-FFF2-40B4-BE49-F238E27FC236}">
                  <a16:creationId xmlns:a16="http://schemas.microsoft.com/office/drawing/2014/main" id="{2903006F-0646-2197-B144-9EEBFD9DFB8D}"/>
                </a:ext>
              </a:extLst>
            </p:cNvPr>
            <p:cNvGrpSpPr/>
            <p:nvPr/>
          </p:nvGrpSpPr>
          <p:grpSpPr>
            <a:xfrm>
              <a:off x="9071405" y="144345"/>
              <a:ext cx="2292421" cy="1646987"/>
              <a:chOff x="7814209" y="3711178"/>
              <a:chExt cx="3870761" cy="2780943"/>
            </a:xfrm>
          </p:grpSpPr>
          <p:pic>
            <p:nvPicPr>
              <p:cNvPr id="119" name="Graphique 118" descr="Employée de bureau avec un remplissage uni">
                <a:extLst>
                  <a:ext uri="{FF2B5EF4-FFF2-40B4-BE49-F238E27FC236}">
                    <a16:creationId xmlns:a16="http://schemas.microsoft.com/office/drawing/2014/main" id="{48037267-AEA4-33F0-1B56-4CDE58791C5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14209" y="3970452"/>
                <a:ext cx="2521669" cy="2521669"/>
              </a:xfrm>
              <a:prstGeom prst="rect">
                <a:avLst/>
              </a:prstGeom>
            </p:spPr>
          </p:pic>
          <p:sp>
            <p:nvSpPr>
              <p:cNvPr id="120" name="Rectangle 119">
                <a:extLst>
                  <a:ext uri="{FF2B5EF4-FFF2-40B4-BE49-F238E27FC236}">
                    <a16:creationId xmlns:a16="http://schemas.microsoft.com/office/drawing/2014/main" id="{522F2193-2EA6-5898-4610-AD9DDE6D34F6}"/>
                  </a:ext>
                </a:extLst>
              </p:cNvPr>
              <p:cNvSpPr/>
              <p:nvPr/>
            </p:nvSpPr>
            <p:spPr>
              <a:xfrm rot="7542486">
                <a:off x="9340836" y="5264821"/>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121" name="Graphique 120" descr="Tirelire avec un remplissage uni">
                <a:extLst>
                  <a:ext uri="{FF2B5EF4-FFF2-40B4-BE49-F238E27FC236}">
                    <a16:creationId xmlns:a16="http://schemas.microsoft.com/office/drawing/2014/main" id="{72E7CA9B-4C55-4C5D-6E07-6AAC4F3BC8D6}"/>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flipH="1">
                <a:off x="9504273" y="3711178"/>
                <a:ext cx="2180697" cy="1970254"/>
              </a:xfrm>
              <a:prstGeom prst="rect">
                <a:avLst/>
              </a:prstGeom>
            </p:spPr>
          </p:pic>
        </p:grpSp>
        <p:sp>
          <p:nvSpPr>
            <p:cNvPr id="118" name="Rectangle 117">
              <a:extLst>
                <a:ext uri="{FF2B5EF4-FFF2-40B4-BE49-F238E27FC236}">
                  <a16:creationId xmlns:a16="http://schemas.microsoft.com/office/drawing/2014/main" id="{5BEC53B3-984B-9CB5-30D3-3559222B8E5F}"/>
                </a:ext>
              </a:extLst>
            </p:cNvPr>
            <p:cNvSpPr/>
            <p:nvPr/>
          </p:nvSpPr>
          <p:spPr>
            <a:xfrm>
              <a:off x="9052742" y="1398443"/>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investisseur</a:t>
              </a:r>
            </a:p>
          </p:txBody>
        </p:sp>
      </p:grpSp>
      <p:grpSp>
        <p:nvGrpSpPr>
          <p:cNvPr id="128" name="Groupe 127">
            <a:extLst>
              <a:ext uri="{FF2B5EF4-FFF2-40B4-BE49-F238E27FC236}">
                <a16:creationId xmlns:a16="http://schemas.microsoft.com/office/drawing/2014/main" id="{F0EAAA19-A1F3-9A5F-DB42-F7D1F6BBF031}"/>
              </a:ext>
            </a:extLst>
          </p:cNvPr>
          <p:cNvGrpSpPr/>
          <p:nvPr/>
        </p:nvGrpSpPr>
        <p:grpSpPr>
          <a:xfrm>
            <a:off x="9129470" y="2919105"/>
            <a:ext cx="1072810" cy="968831"/>
            <a:chOff x="6620614" y="263011"/>
            <a:chExt cx="2187817" cy="1975769"/>
          </a:xfrm>
        </p:grpSpPr>
        <p:grpSp>
          <p:nvGrpSpPr>
            <p:cNvPr id="129" name="Groupe 128">
              <a:extLst>
                <a:ext uri="{FF2B5EF4-FFF2-40B4-BE49-F238E27FC236}">
                  <a16:creationId xmlns:a16="http://schemas.microsoft.com/office/drawing/2014/main" id="{ABE4C05E-1812-C104-933C-5482F9D68124}"/>
                </a:ext>
              </a:extLst>
            </p:cNvPr>
            <p:cNvGrpSpPr/>
            <p:nvPr/>
          </p:nvGrpSpPr>
          <p:grpSpPr>
            <a:xfrm>
              <a:off x="6835953" y="263011"/>
              <a:ext cx="1972478" cy="1390231"/>
              <a:chOff x="7771323" y="789003"/>
              <a:chExt cx="3577777" cy="2521669"/>
            </a:xfrm>
          </p:grpSpPr>
          <p:pic>
            <p:nvPicPr>
              <p:cNvPr id="131" name="Graphique 130" descr="Employée de bureau avec un remplissage uni">
                <a:extLst>
                  <a:ext uri="{FF2B5EF4-FFF2-40B4-BE49-F238E27FC236}">
                    <a16:creationId xmlns:a16="http://schemas.microsoft.com/office/drawing/2014/main" id="{10778199-80D2-EEC5-00A0-BDE1F37C673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71323" y="789003"/>
                <a:ext cx="2521669" cy="2521669"/>
              </a:xfrm>
              <a:prstGeom prst="rect">
                <a:avLst/>
              </a:prstGeom>
            </p:spPr>
          </p:pic>
          <p:sp>
            <p:nvSpPr>
              <p:cNvPr id="132" name="Rectangle 131">
                <a:extLst>
                  <a:ext uri="{FF2B5EF4-FFF2-40B4-BE49-F238E27FC236}">
                    <a16:creationId xmlns:a16="http://schemas.microsoft.com/office/drawing/2014/main" id="{F1ED5EE4-78B1-8A2C-6F80-887F123CCEFF}"/>
                  </a:ext>
                </a:extLst>
              </p:cNvPr>
              <p:cNvSpPr/>
              <p:nvPr/>
            </p:nvSpPr>
            <p:spPr>
              <a:xfrm rot="7542486">
                <a:off x="9308974" y="2157040"/>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133" name="Graphique 132" descr="Mégaphone avec un remplissage uni">
                <a:extLst>
                  <a:ext uri="{FF2B5EF4-FFF2-40B4-BE49-F238E27FC236}">
                    <a16:creationId xmlns:a16="http://schemas.microsoft.com/office/drawing/2014/main" id="{88167AB5-C669-F9A3-428D-39DBA90DE826}"/>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14658"/>
              <a:stretch/>
            </p:blipFill>
            <p:spPr>
              <a:xfrm rot="2220631">
                <a:off x="9459956" y="878072"/>
                <a:ext cx="1889144" cy="1612225"/>
              </a:xfrm>
              <a:prstGeom prst="rect">
                <a:avLst/>
              </a:prstGeom>
            </p:spPr>
          </p:pic>
        </p:grpSp>
        <p:sp>
          <p:nvSpPr>
            <p:cNvPr id="130" name="Rectangle 129">
              <a:extLst>
                <a:ext uri="{FF2B5EF4-FFF2-40B4-BE49-F238E27FC236}">
                  <a16:creationId xmlns:a16="http://schemas.microsoft.com/office/drawing/2014/main" id="{7FF022F7-5B27-F7CA-4F3D-96CFF4551800}"/>
                </a:ext>
              </a:extLst>
            </p:cNvPr>
            <p:cNvSpPr/>
            <p:nvPr/>
          </p:nvSpPr>
          <p:spPr>
            <a:xfrm>
              <a:off x="6620614" y="1398443"/>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promoteur</a:t>
              </a:r>
            </a:p>
          </p:txBody>
        </p:sp>
      </p:grpSp>
      <p:grpSp>
        <p:nvGrpSpPr>
          <p:cNvPr id="141" name="Groupe 140">
            <a:extLst>
              <a:ext uri="{FF2B5EF4-FFF2-40B4-BE49-F238E27FC236}">
                <a16:creationId xmlns:a16="http://schemas.microsoft.com/office/drawing/2014/main" id="{3E8F17ED-B71A-5430-1189-000B4D1393C3}"/>
              </a:ext>
            </a:extLst>
          </p:cNvPr>
          <p:cNvGrpSpPr/>
          <p:nvPr/>
        </p:nvGrpSpPr>
        <p:grpSpPr>
          <a:xfrm>
            <a:off x="5545755" y="3842869"/>
            <a:ext cx="1114326" cy="1029156"/>
            <a:chOff x="4318275" y="139989"/>
            <a:chExt cx="2272482" cy="2098791"/>
          </a:xfrm>
        </p:grpSpPr>
        <p:grpSp>
          <p:nvGrpSpPr>
            <p:cNvPr id="142" name="Groupe 141">
              <a:extLst>
                <a:ext uri="{FF2B5EF4-FFF2-40B4-BE49-F238E27FC236}">
                  <a16:creationId xmlns:a16="http://schemas.microsoft.com/office/drawing/2014/main" id="{AF268F9B-4F0C-81C1-1797-89967EB2EB50}"/>
                </a:ext>
              </a:extLst>
            </p:cNvPr>
            <p:cNvGrpSpPr/>
            <p:nvPr/>
          </p:nvGrpSpPr>
          <p:grpSpPr>
            <a:xfrm>
              <a:off x="4498848" y="139989"/>
              <a:ext cx="2091909" cy="1611654"/>
              <a:chOff x="1822045" y="3697163"/>
              <a:chExt cx="3786095" cy="2916894"/>
            </a:xfrm>
          </p:grpSpPr>
          <p:pic>
            <p:nvPicPr>
              <p:cNvPr id="144" name="Graphique 143" descr="Employée de bureau avec un remplissage uni">
                <a:extLst>
                  <a:ext uri="{FF2B5EF4-FFF2-40B4-BE49-F238E27FC236}">
                    <a16:creationId xmlns:a16="http://schemas.microsoft.com/office/drawing/2014/main" id="{EF556722-5E46-357B-E298-508098D78E4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22045" y="4092388"/>
                <a:ext cx="2521669" cy="2521669"/>
              </a:xfrm>
              <a:prstGeom prst="rect">
                <a:avLst/>
              </a:prstGeom>
            </p:spPr>
          </p:pic>
          <p:sp>
            <p:nvSpPr>
              <p:cNvPr id="145" name="Rectangle 144">
                <a:extLst>
                  <a:ext uri="{FF2B5EF4-FFF2-40B4-BE49-F238E27FC236}">
                    <a16:creationId xmlns:a16="http://schemas.microsoft.com/office/drawing/2014/main" id="{27AD284E-473A-2011-F006-02A8802E855F}"/>
                  </a:ext>
                </a:extLst>
              </p:cNvPr>
              <p:cNvSpPr/>
              <p:nvPr/>
            </p:nvSpPr>
            <p:spPr>
              <a:xfrm rot="7249682">
                <a:off x="3286580" y="5342828"/>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146" name="Graphique 145" descr="Bouclier avec un remplissage uni">
                <a:extLst>
                  <a:ext uri="{FF2B5EF4-FFF2-40B4-BE49-F238E27FC236}">
                    <a16:creationId xmlns:a16="http://schemas.microsoft.com/office/drawing/2014/main" id="{7D7EC535-9AA9-46D7-866E-43D23EE0D7F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82921" y="3697163"/>
                <a:ext cx="2125219" cy="2125219"/>
              </a:xfrm>
              <a:prstGeom prst="rect">
                <a:avLst/>
              </a:prstGeom>
            </p:spPr>
          </p:pic>
          <p:pic>
            <p:nvPicPr>
              <p:cNvPr id="147" name="Graphique 146" descr="Calendrier journalier avec un remplissage uni">
                <a:extLst>
                  <a:ext uri="{FF2B5EF4-FFF2-40B4-BE49-F238E27FC236}">
                    <a16:creationId xmlns:a16="http://schemas.microsoft.com/office/drawing/2014/main" id="{270A1779-0966-50B8-198F-E52BB9BD705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16050" y="4171671"/>
                <a:ext cx="1058961" cy="1058961"/>
              </a:xfrm>
              <a:prstGeom prst="rect">
                <a:avLst/>
              </a:prstGeom>
            </p:spPr>
          </p:pic>
        </p:grpSp>
        <p:sp>
          <p:nvSpPr>
            <p:cNvPr id="143" name="Rectangle 142">
              <a:extLst>
                <a:ext uri="{FF2B5EF4-FFF2-40B4-BE49-F238E27FC236}">
                  <a16:creationId xmlns:a16="http://schemas.microsoft.com/office/drawing/2014/main" id="{52DA7C89-16EE-2FE0-151A-5129AF21EA58}"/>
                </a:ext>
              </a:extLst>
            </p:cNvPr>
            <p:cNvSpPr/>
            <p:nvPr/>
          </p:nvSpPr>
          <p:spPr>
            <a:xfrm>
              <a:off x="4318275" y="1398443"/>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défenseur du temps</a:t>
              </a:r>
            </a:p>
          </p:txBody>
        </p:sp>
      </p:grpSp>
      <p:grpSp>
        <p:nvGrpSpPr>
          <p:cNvPr id="148" name="Groupe 147">
            <a:extLst>
              <a:ext uri="{FF2B5EF4-FFF2-40B4-BE49-F238E27FC236}">
                <a16:creationId xmlns:a16="http://schemas.microsoft.com/office/drawing/2014/main" id="{4B75118A-F2DE-BD0F-D3C7-E79316584ED5}"/>
              </a:ext>
            </a:extLst>
          </p:cNvPr>
          <p:cNvGrpSpPr/>
          <p:nvPr/>
        </p:nvGrpSpPr>
        <p:grpSpPr>
          <a:xfrm>
            <a:off x="5475550" y="5797719"/>
            <a:ext cx="1220949" cy="1060280"/>
            <a:chOff x="9038675" y="2437990"/>
            <a:chExt cx="2489921" cy="2162265"/>
          </a:xfrm>
        </p:grpSpPr>
        <p:grpSp>
          <p:nvGrpSpPr>
            <p:cNvPr id="149" name="Groupe 148">
              <a:extLst>
                <a:ext uri="{FF2B5EF4-FFF2-40B4-BE49-F238E27FC236}">
                  <a16:creationId xmlns:a16="http://schemas.microsoft.com/office/drawing/2014/main" id="{D31FF01A-7169-4387-C111-39A5496AB010}"/>
                </a:ext>
              </a:extLst>
            </p:cNvPr>
            <p:cNvGrpSpPr/>
            <p:nvPr/>
          </p:nvGrpSpPr>
          <p:grpSpPr>
            <a:xfrm>
              <a:off x="9038675" y="2437990"/>
              <a:ext cx="2489921" cy="1748559"/>
              <a:chOff x="1822045" y="3936873"/>
              <a:chExt cx="3812269" cy="2677184"/>
            </a:xfrm>
          </p:grpSpPr>
          <p:pic>
            <p:nvPicPr>
              <p:cNvPr id="151" name="Graphique 150" descr="Employée de bureau avec un remplissage uni">
                <a:extLst>
                  <a:ext uri="{FF2B5EF4-FFF2-40B4-BE49-F238E27FC236}">
                    <a16:creationId xmlns:a16="http://schemas.microsoft.com/office/drawing/2014/main" id="{2770CF5C-32FD-1D05-E9E6-CCDC650BE7A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22045" y="4092388"/>
                <a:ext cx="2521669" cy="2521669"/>
              </a:xfrm>
              <a:prstGeom prst="rect">
                <a:avLst/>
              </a:prstGeom>
            </p:spPr>
          </p:pic>
          <p:sp>
            <p:nvSpPr>
              <p:cNvPr id="152" name="Rectangle 151">
                <a:extLst>
                  <a:ext uri="{FF2B5EF4-FFF2-40B4-BE49-F238E27FC236}">
                    <a16:creationId xmlns:a16="http://schemas.microsoft.com/office/drawing/2014/main" id="{B21BCFA6-DF8D-D028-D7D3-217FA06C0F34}"/>
                  </a:ext>
                </a:extLst>
              </p:cNvPr>
              <p:cNvSpPr/>
              <p:nvPr/>
            </p:nvSpPr>
            <p:spPr>
              <a:xfrm rot="7249682">
                <a:off x="3286580" y="5342828"/>
                <a:ext cx="1259007" cy="44823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b="1"/>
              </a:p>
            </p:txBody>
          </p:sp>
          <p:pic>
            <p:nvPicPr>
              <p:cNvPr id="153" name="Graphique 152" descr="Marteau d'officiel avec un remplissage uni">
                <a:extLst>
                  <a:ext uri="{FF2B5EF4-FFF2-40B4-BE49-F238E27FC236}">
                    <a16:creationId xmlns:a16="http://schemas.microsoft.com/office/drawing/2014/main" id="{9C60B16C-CFF9-6F58-9326-8EB8E6E6CA7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3943871" y="3936873"/>
                <a:ext cx="1690443" cy="1556691"/>
              </a:xfrm>
              <a:prstGeom prst="rect">
                <a:avLst/>
              </a:prstGeom>
            </p:spPr>
          </p:pic>
        </p:grpSp>
        <p:sp>
          <p:nvSpPr>
            <p:cNvPr id="150" name="Rectangle 149">
              <a:extLst>
                <a:ext uri="{FF2B5EF4-FFF2-40B4-BE49-F238E27FC236}">
                  <a16:creationId xmlns:a16="http://schemas.microsoft.com/office/drawing/2014/main" id="{380C38EB-C540-C70A-DFB1-7229DE3975F3}"/>
                </a:ext>
              </a:extLst>
            </p:cNvPr>
            <p:cNvSpPr/>
            <p:nvPr/>
          </p:nvSpPr>
          <p:spPr>
            <a:xfrm>
              <a:off x="9052742" y="3759918"/>
              <a:ext cx="1872191" cy="84033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900" b="1">
                  <a:solidFill>
                    <a:schemeClr val="tx1"/>
                  </a:solidFill>
                </a:rPr>
                <a:t>Sponsor décisionnaire au besoin</a:t>
              </a:r>
            </a:p>
          </p:txBody>
        </p:sp>
      </p:grpSp>
    </p:spTree>
    <p:extLst>
      <p:ext uri="{BB962C8B-B14F-4D97-AF65-F5344CB8AC3E}">
        <p14:creationId xmlns:p14="http://schemas.microsoft.com/office/powerpoint/2010/main" val="893990250"/>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15">
            <a:extLst>
              <a:ext uri="{FF2B5EF4-FFF2-40B4-BE49-F238E27FC236}">
                <a16:creationId xmlns:a16="http://schemas.microsoft.com/office/drawing/2014/main" id="{337A549B-FB0E-4097-A123-DE5231C2FAB3}"/>
              </a:ext>
            </a:extLst>
          </p:cNvPr>
          <p:cNvSpPr txBox="1">
            <a:spLocks/>
          </p:cNvSpPr>
          <p:nvPr/>
        </p:nvSpPr>
        <p:spPr>
          <a:xfrm>
            <a:off x="0" y="877836"/>
            <a:ext cx="12192000" cy="156119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6000" b="1" i="1"/>
              <a:t>Annexes CCC</a:t>
            </a:r>
            <a:endParaRPr lang="fr-FR" sz="6000" b="1" i="1">
              <a:ea typeface="+mn-lt"/>
              <a:cs typeface="+mn-lt"/>
            </a:endParaRPr>
          </a:p>
          <a:p>
            <a:pPr marL="0" indent="0" algn="ctr">
              <a:buNone/>
            </a:pPr>
            <a:r>
              <a:rPr lang="fr-FR" b="1" i="1"/>
              <a:t>Sous-Titre </a:t>
            </a:r>
            <a:r>
              <a:rPr lang="fr-FR" b="1" i="1">
                <a:solidFill>
                  <a:srgbClr val="0683AA"/>
                </a:solidFill>
              </a:rPr>
              <a:t>titre</a:t>
            </a:r>
            <a:r>
              <a:rPr lang="fr-FR" b="1" i="1"/>
              <a:t> </a:t>
            </a:r>
            <a:r>
              <a:rPr lang="fr-FR" b="1" i="1" err="1">
                <a:solidFill>
                  <a:srgbClr val="ED7D31"/>
                </a:solidFill>
              </a:rPr>
              <a:t>titre</a:t>
            </a:r>
            <a:r>
              <a:rPr lang="fr-FR" b="1" i="1">
                <a:solidFill>
                  <a:srgbClr val="ED7D31"/>
                </a:solidFill>
              </a:rPr>
              <a:t> </a:t>
            </a:r>
            <a:endParaRPr lang="fr-FR" b="1" i="1">
              <a:solidFill>
                <a:srgbClr val="000000"/>
              </a:solidFill>
              <a:cs typeface="Calibri"/>
            </a:endParaRPr>
          </a:p>
        </p:txBody>
      </p:sp>
      <p:grpSp>
        <p:nvGrpSpPr>
          <p:cNvPr id="2" name="Groupe 1">
            <a:extLst>
              <a:ext uri="{FF2B5EF4-FFF2-40B4-BE49-F238E27FC236}">
                <a16:creationId xmlns:a16="http://schemas.microsoft.com/office/drawing/2014/main" id="{55274D86-E242-2318-FDF8-A62685FD268E}"/>
              </a:ext>
            </a:extLst>
          </p:cNvPr>
          <p:cNvGrpSpPr/>
          <p:nvPr/>
        </p:nvGrpSpPr>
        <p:grpSpPr>
          <a:xfrm>
            <a:off x="4128486" y="2760688"/>
            <a:ext cx="3698197" cy="4117299"/>
            <a:chOff x="4128486" y="2379688"/>
            <a:chExt cx="3698197" cy="4117299"/>
          </a:xfrm>
        </p:grpSpPr>
        <p:pic>
          <p:nvPicPr>
            <p:cNvPr id="8" name="Graphique 7" descr="Homme tenant un panneau">
              <a:extLst>
                <a:ext uri="{FF2B5EF4-FFF2-40B4-BE49-F238E27FC236}">
                  <a16:creationId xmlns:a16="http://schemas.microsoft.com/office/drawing/2014/main" id="{D243A25C-5A0A-4F67-BC20-FCD71E7C4AF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46692"/>
            <a:stretch/>
          </p:blipFill>
          <p:spPr>
            <a:xfrm>
              <a:off x="4128486" y="2379688"/>
              <a:ext cx="3698197" cy="4117299"/>
            </a:xfrm>
            <a:prstGeom prst="rect">
              <a:avLst/>
            </a:prstGeom>
          </p:spPr>
        </p:pic>
        <p:sp>
          <p:nvSpPr>
            <p:cNvPr id="9" name="Espace réservé du texte 15">
              <a:extLst>
                <a:ext uri="{FF2B5EF4-FFF2-40B4-BE49-F238E27FC236}">
                  <a16:creationId xmlns:a16="http://schemas.microsoft.com/office/drawing/2014/main" id="{72684439-8F46-4BB9-AF9C-82D301DB2013}"/>
                </a:ext>
              </a:extLst>
            </p:cNvPr>
            <p:cNvSpPr txBox="1">
              <a:spLocks/>
            </p:cNvSpPr>
            <p:nvPr/>
          </p:nvSpPr>
          <p:spPr>
            <a:xfrm>
              <a:off x="4472402" y="4484981"/>
              <a:ext cx="3061317" cy="175455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3200" b="1" i="1">
                  <a:ea typeface="+mn-lt"/>
                  <a:cs typeface="+mn-lt"/>
                </a:rPr>
                <a:t>LE DETAIL DE CHAQUE PHASE</a:t>
              </a:r>
              <a:endParaRPr lang="fr-FR" sz="3200">
                <a:ea typeface="+mn-lt"/>
                <a:cs typeface="+mn-lt"/>
              </a:endParaRPr>
            </a:p>
            <a:p>
              <a:pPr marL="0" indent="0" algn="ctr">
                <a:buFont typeface="Arial" panose="020B0604020202020204" pitchFamily="34" charset="0"/>
                <a:buNone/>
              </a:pPr>
              <a:endParaRPr lang="fr-FR" sz="3200" b="1" i="1">
                <a:solidFill>
                  <a:srgbClr val="000000"/>
                </a:solidFill>
                <a:cs typeface="Calibri"/>
              </a:endParaRPr>
            </a:p>
          </p:txBody>
        </p:sp>
      </p:grpSp>
    </p:spTree>
    <p:extLst>
      <p:ext uri="{BB962C8B-B14F-4D97-AF65-F5344CB8AC3E}">
        <p14:creationId xmlns:p14="http://schemas.microsoft.com/office/powerpoint/2010/main" val="9034231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Analyse par Phase</a:t>
            </a:r>
          </a:p>
        </p:txBody>
      </p:sp>
      <p:graphicFrame>
        <p:nvGraphicFramePr>
          <p:cNvPr id="10" name="Tableau 4">
            <a:extLst>
              <a:ext uri="{FF2B5EF4-FFF2-40B4-BE49-F238E27FC236}">
                <a16:creationId xmlns:a16="http://schemas.microsoft.com/office/drawing/2014/main" id="{C1914BA3-CDD6-44EE-ACE9-1A60DEB62C02}"/>
              </a:ext>
            </a:extLst>
          </p:cNvPr>
          <p:cNvGraphicFramePr>
            <a:graphicFrameLocks noGrp="1"/>
          </p:cNvGraphicFramePr>
          <p:nvPr>
            <p:extLst>
              <p:ext uri="{D42A27DB-BD31-4B8C-83A1-F6EECF244321}">
                <p14:modId xmlns:p14="http://schemas.microsoft.com/office/powerpoint/2010/main" val="434132336"/>
              </p:ext>
            </p:extLst>
          </p:nvPr>
        </p:nvGraphicFramePr>
        <p:xfrm>
          <a:off x="2543031" y="2718237"/>
          <a:ext cx="8824053" cy="2608771"/>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ne semblent pas connaître le sujet</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ne se considèrent même pas encore comme membres. </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n’ont que peu d’intérêt pour l’instant, par ignorance du sujet</a:t>
                      </a:r>
                    </a:p>
                  </a:txBody>
                  <a:tcPr/>
                </a:tc>
                <a:tc>
                  <a:txBody>
                    <a:bodyPr/>
                    <a:lstStyle/>
                    <a:p>
                      <a:pPr marL="171450" indent="-171450">
                        <a:buFont typeface="Arial" panose="020B0604020202020204" pitchFamily="34" charset="0"/>
                        <a:buChar char="•"/>
                      </a:pPr>
                      <a:r>
                        <a:rPr lang="fr-FR" sz="1200"/>
                        <a:t>Sensibiliser et faire découvrir un sujet, donner de premiers repères faciles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Eviter de demander trop d‘engagement pour éviter les positions défensives </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Eviter de mettre les membres sur la défensive en évoquant des situations trop proches, comparables et culpabilisantes</a:t>
                      </a:r>
                    </a:p>
                  </a:txBody>
                  <a:tcPr/>
                </a:tc>
                <a:tc>
                  <a:txBody>
                    <a:bodyPr/>
                    <a:lstStyle/>
                    <a:p>
                      <a:pPr marL="171450" indent="-171450">
                        <a:buFont typeface="Arial" panose="020B0604020202020204" pitchFamily="34" charset="0"/>
                        <a:buChar char="•"/>
                      </a:pPr>
                      <a:r>
                        <a:rPr lang="fr-FR" sz="1200"/>
                        <a:t>Les membres en ont assez qu’on parle de l‘extérieur et aimeraient qu’on leur parle d’eux.</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 sujet ne bénéficie plus de l’intérêt lié à sa nouveauté ou à son côté exceptionnel.</a:t>
                      </a:r>
                    </a:p>
                  </a:txBody>
                  <a:tcPr/>
                </a:tc>
                <a:extLst>
                  <a:ext uri="{0D108BD9-81ED-4DB2-BD59-A6C34878D82A}">
                    <a16:rowId xmlns:a16="http://schemas.microsoft.com/office/drawing/2014/main" val="2775041851"/>
                  </a:ext>
                </a:extLst>
              </a:tr>
            </a:tbl>
          </a:graphicData>
        </a:graphic>
      </p:graphicFrame>
      <p:sp>
        <p:nvSpPr>
          <p:cNvPr id="2" name="Espace réservé du texte 15">
            <a:extLst>
              <a:ext uri="{FF2B5EF4-FFF2-40B4-BE49-F238E27FC236}">
                <a16:creationId xmlns:a16="http://schemas.microsoft.com/office/drawing/2014/main" id="{B631881B-07F2-1541-17F4-D583E91B20A5}"/>
              </a:ext>
            </a:extLst>
          </p:cNvPr>
          <p:cNvSpPr txBox="1">
            <a:spLocks/>
          </p:cNvSpPr>
          <p:nvPr/>
        </p:nvSpPr>
        <p:spPr>
          <a:xfrm>
            <a:off x="76940" y="2380093"/>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INSPIRATION</a:t>
            </a:r>
          </a:p>
          <a:p>
            <a:pPr marL="0" indent="0" algn="ctr">
              <a:buFont typeface="Arial" panose="020B0604020202020204" pitchFamily="34" charset="0"/>
              <a:buNone/>
            </a:pPr>
            <a:endParaRPr lang="fr-FR" sz="1400" b="1" i="1">
              <a:solidFill>
                <a:srgbClr val="ED7D31"/>
              </a:solidFill>
            </a:endParaRPr>
          </a:p>
        </p:txBody>
      </p:sp>
      <p:pic>
        <p:nvPicPr>
          <p:cNvPr id="3" name="Graphique 2" descr="Ampoule avec un remplissage uni">
            <a:extLst>
              <a:ext uri="{FF2B5EF4-FFF2-40B4-BE49-F238E27FC236}">
                <a16:creationId xmlns:a16="http://schemas.microsoft.com/office/drawing/2014/main" id="{FA29256B-67D8-5375-6E81-508FED689D2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208" y="1376914"/>
            <a:ext cx="914400" cy="914400"/>
          </a:xfrm>
          <a:prstGeom prst="rect">
            <a:avLst/>
          </a:prstGeom>
        </p:spPr>
      </p:pic>
      <p:sp>
        <p:nvSpPr>
          <p:cNvPr id="4" name="ZoneTexte 3">
            <a:extLst>
              <a:ext uri="{FF2B5EF4-FFF2-40B4-BE49-F238E27FC236}">
                <a16:creationId xmlns:a16="http://schemas.microsoft.com/office/drawing/2014/main" id="{07A1F13A-DD6C-28BD-3471-2AB207DC0B1D}"/>
              </a:ext>
            </a:extLst>
          </p:cNvPr>
          <p:cNvSpPr txBox="1"/>
          <p:nvPr/>
        </p:nvSpPr>
        <p:spPr>
          <a:xfrm>
            <a:off x="79034" y="3308785"/>
            <a:ext cx="1605258" cy="2677656"/>
          </a:xfrm>
          <a:prstGeom prst="rect">
            <a:avLst/>
          </a:prstGeom>
          <a:noFill/>
        </p:spPr>
        <p:txBody>
          <a:bodyPr wrap="square">
            <a:spAutoFit/>
          </a:bodyPr>
          <a:lstStyle/>
          <a:p>
            <a:pPr marL="0" indent="0" algn="ctr">
              <a:buFont typeface="Arial" panose="020B0604020202020204" pitchFamily="34" charset="0"/>
              <a:buNone/>
            </a:pPr>
            <a:r>
              <a:rPr lang="fr-FR" sz="1200" b="1" i="1"/>
              <a:t>Aucun membre ne sait ce qu’est le sujet-même du changement.</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est difficile d'impliquer sans une première sensibilisation.</a:t>
            </a:r>
          </a:p>
        </p:txBody>
      </p:sp>
      <p:pic>
        <p:nvPicPr>
          <p:cNvPr id="5" name="Graphique 4" descr="Personne avec une idée contour">
            <a:extLst>
              <a:ext uri="{FF2B5EF4-FFF2-40B4-BE49-F238E27FC236}">
                <a16:creationId xmlns:a16="http://schemas.microsoft.com/office/drawing/2014/main" id="{E6C279CD-033E-882F-D55E-D0FAC316150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4441" y="4645594"/>
            <a:ext cx="532925" cy="532925"/>
          </a:xfrm>
          <a:prstGeom prst="rect">
            <a:avLst/>
          </a:prstGeom>
        </p:spPr>
      </p:pic>
      <p:pic>
        <p:nvPicPr>
          <p:cNvPr id="6" name="Graphique 5" descr="Carte avec repère contour">
            <a:extLst>
              <a:ext uri="{FF2B5EF4-FFF2-40B4-BE49-F238E27FC236}">
                <a16:creationId xmlns:a16="http://schemas.microsoft.com/office/drawing/2014/main" id="{45373BA1-F5A2-330F-CD27-AFF91A34E38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1976" y="2774609"/>
            <a:ext cx="439703" cy="439703"/>
          </a:xfrm>
          <a:prstGeom prst="rect">
            <a:avLst/>
          </a:prstGeom>
        </p:spPr>
      </p:pic>
    </p:spTree>
    <p:extLst>
      <p:ext uri="{BB962C8B-B14F-4D97-AF65-F5344CB8AC3E}">
        <p14:creationId xmlns:p14="http://schemas.microsoft.com/office/powerpoint/2010/main" val="1367522989"/>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4">
            <a:extLst>
              <a:ext uri="{FF2B5EF4-FFF2-40B4-BE49-F238E27FC236}">
                <a16:creationId xmlns:a16="http://schemas.microsoft.com/office/drawing/2014/main" id="{0A10AFE5-6B0F-4083-9B12-F996900D4D17}"/>
              </a:ext>
            </a:extLst>
          </p:cNvPr>
          <p:cNvGraphicFramePr>
            <a:graphicFrameLocks noGrp="1"/>
          </p:cNvGraphicFramePr>
          <p:nvPr>
            <p:extLst>
              <p:ext uri="{D42A27DB-BD31-4B8C-83A1-F6EECF244321}">
                <p14:modId xmlns:p14="http://schemas.microsoft.com/office/powerpoint/2010/main" val="3298847852"/>
              </p:ext>
            </p:extLst>
          </p:nvPr>
        </p:nvGraphicFramePr>
        <p:xfrm>
          <a:off x="2543031" y="2718236"/>
          <a:ext cx="8824053" cy="2883593"/>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commencent à partager à propos des risques et limites du changement chez eux.</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peuvent entrer sur la défensive : « Et pourquoi cela s’appliquerait à moi ? »</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se demandent à quel point le changement peut les concerner, et si le changement peut s’appliquer à leur cas.</a:t>
                      </a:r>
                    </a:p>
                  </a:txBody>
                  <a:tcPr/>
                </a:tc>
                <a:tc>
                  <a:txBody>
                    <a:bodyPr/>
                    <a:lstStyle/>
                    <a:p>
                      <a:pPr marL="285750" indent="-285750">
                        <a:buFont typeface="Arial" panose="020B0604020202020204" pitchFamily="34" charset="0"/>
                        <a:buChar char="•"/>
                      </a:pPr>
                      <a:r>
                        <a:rPr lang="fr-FR" sz="1200" dirty="0"/>
                        <a:t>Faire un premier pont entre le sujet du changement et la situation des membres</a:t>
                      </a:r>
                    </a:p>
                    <a:p>
                      <a:pPr marL="285750" indent="-285750">
                        <a:buFont typeface="Arial" panose="020B0604020202020204" pitchFamily="34" charset="0"/>
                        <a:buChar char="•"/>
                      </a:pPr>
                      <a:endParaRPr lang="fr-FR" sz="1200" dirty="0"/>
                    </a:p>
                    <a:p>
                      <a:pPr marL="285750" indent="-285750">
                        <a:buFont typeface="Arial" panose="020B0604020202020204" pitchFamily="34" charset="0"/>
                        <a:buChar char="•"/>
                      </a:pPr>
                      <a:r>
                        <a:rPr lang="fr-FR" sz="1200" dirty="0"/>
                        <a:t>Clarifier comment chacun est concerné par le changement (intérêt, risques, avantages, inconvénients, timing, …)</a:t>
                      </a:r>
                    </a:p>
                    <a:p>
                      <a:pPr marL="285750" indent="-285750">
                        <a:buFont typeface="Arial" panose="020B0604020202020204" pitchFamily="34" charset="0"/>
                        <a:buChar char="•"/>
                      </a:pPr>
                      <a:endParaRPr lang="fr-FR" sz="1200" dirty="0"/>
                    </a:p>
                    <a:p>
                      <a:pPr marL="285750" indent="-285750">
                        <a:buFont typeface="Arial" panose="020B0604020202020204" pitchFamily="34" charset="0"/>
                        <a:buChar char="•"/>
                      </a:pPr>
                      <a:r>
                        <a:rPr lang="fr-FR" sz="1200" dirty="0"/>
                        <a:t>Identifier ce qui pourrait apporter de la valeur pour les membres (spécifiquement à la situation de chacun, pas de manière générale)</a:t>
                      </a:r>
                    </a:p>
                  </a:txBody>
                  <a:tcPr/>
                </a:tc>
                <a:tc>
                  <a:txBody>
                    <a:bodyPr/>
                    <a:lstStyle/>
                    <a:p>
                      <a:pPr marL="171450" indent="-171450">
                        <a:buFont typeface="Arial" panose="020B0604020202020204" pitchFamily="34" charset="0"/>
                        <a:buChar char="•"/>
                      </a:pPr>
                      <a:r>
                        <a:rPr lang="fr-FR" sz="1200" dirty="0"/>
                        <a:t>Les membres comprennent mieux leur propre situation vis-à-vis du changement, et souhaitent passer à l’action, ou bien ils  s’arrêtent d’un commun accord après avoir constaté la faible priorité du changement.</a:t>
                      </a:r>
                    </a:p>
                  </a:txBody>
                  <a:tcPr/>
                </a:tc>
                <a:extLst>
                  <a:ext uri="{0D108BD9-81ED-4DB2-BD59-A6C34878D82A}">
                    <a16:rowId xmlns:a16="http://schemas.microsoft.com/office/drawing/2014/main" val="2775041851"/>
                  </a:ext>
                </a:extLst>
              </a:tr>
            </a:tbl>
          </a:graphicData>
        </a:graphic>
      </p:graphicFrame>
      <p:sp>
        <p:nvSpPr>
          <p:cNvPr id="40" name="ZoneTexte 39">
            <a:extLst>
              <a:ext uri="{FF2B5EF4-FFF2-40B4-BE49-F238E27FC236}">
                <a16:creationId xmlns:a16="http://schemas.microsoft.com/office/drawing/2014/main" id="{4A30C228-82AC-4375-875C-C7B9F6F62736}"/>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Analyse par Phase</a:t>
            </a:r>
          </a:p>
        </p:txBody>
      </p:sp>
      <p:sp>
        <p:nvSpPr>
          <p:cNvPr id="2" name="Espace réservé du texte 15">
            <a:extLst>
              <a:ext uri="{FF2B5EF4-FFF2-40B4-BE49-F238E27FC236}">
                <a16:creationId xmlns:a16="http://schemas.microsoft.com/office/drawing/2014/main" id="{9E028761-F609-13D6-9C03-5BA096987C51}"/>
              </a:ext>
            </a:extLst>
          </p:cNvPr>
          <p:cNvSpPr txBox="1">
            <a:spLocks/>
          </p:cNvSpPr>
          <p:nvPr/>
        </p:nvSpPr>
        <p:spPr>
          <a:xfrm>
            <a:off x="110074" y="2442230"/>
            <a:ext cx="1612936" cy="4153873"/>
          </a:xfrm>
          <a:prstGeom prst="rect">
            <a:avLst/>
          </a:prstGeom>
          <a:solidFill>
            <a:schemeClr val="bg1">
              <a:lumMod val="95000"/>
            </a:schemeClr>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COLLECTE</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pic>
        <p:nvPicPr>
          <p:cNvPr id="3" name="Graphique 2" descr="Seau et pelle avec un remplissage uni">
            <a:extLst>
              <a:ext uri="{FF2B5EF4-FFF2-40B4-BE49-F238E27FC236}">
                <a16:creationId xmlns:a16="http://schemas.microsoft.com/office/drawing/2014/main" id="{A0ABA114-9D2F-E528-7316-2FB795F02CF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9342" y="1439051"/>
            <a:ext cx="914400" cy="914400"/>
          </a:xfrm>
          <a:prstGeom prst="rect">
            <a:avLst/>
          </a:prstGeom>
        </p:spPr>
      </p:pic>
      <p:sp>
        <p:nvSpPr>
          <p:cNvPr id="5" name="ZoneTexte 4">
            <a:extLst>
              <a:ext uri="{FF2B5EF4-FFF2-40B4-BE49-F238E27FC236}">
                <a16:creationId xmlns:a16="http://schemas.microsoft.com/office/drawing/2014/main" id="{6931FB39-EC25-60C1-13BC-C7402E5ED677}"/>
              </a:ext>
            </a:extLst>
          </p:cNvPr>
          <p:cNvSpPr txBox="1"/>
          <p:nvPr/>
        </p:nvSpPr>
        <p:spPr>
          <a:xfrm>
            <a:off x="108678" y="3370922"/>
            <a:ext cx="1617123" cy="2862322"/>
          </a:xfrm>
          <a:prstGeom prst="rect">
            <a:avLst/>
          </a:prstGeom>
          <a:noFill/>
        </p:spPr>
        <p:txBody>
          <a:bodyPr wrap="square">
            <a:spAutoFit/>
          </a:bodyPr>
          <a:lstStyle/>
          <a:p>
            <a:pPr marL="0" indent="0" algn="ctr">
              <a:buNone/>
            </a:pPr>
            <a:r>
              <a:rPr lang="fr-FR" sz="1200" b="1" i="1"/>
              <a:t>Les membres ont une vague idée de ce que serait le changement. </a:t>
            </a: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cs typeface="Calibri"/>
            </a:endParaRPr>
          </a:p>
          <a:p>
            <a:pPr marL="0" indent="0" algn="ctr">
              <a:buNone/>
            </a:pPr>
            <a:endParaRPr lang="fr-FR" sz="1200" b="1" i="1">
              <a:solidFill>
                <a:srgbClr val="ED7D31"/>
              </a:solidFill>
            </a:endParaRPr>
          </a:p>
          <a:p>
            <a:pPr marL="0" indent="0" algn="ctr">
              <a:buNone/>
            </a:pPr>
            <a:r>
              <a:rPr lang="fr-FR" sz="1200" b="1" i="1">
                <a:solidFill>
                  <a:srgbClr val="ED7D31"/>
                </a:solidFill>
              </a:rPr>
              <a:t>Il y a de la crainte de ne pas être impliqués dès le départ ou face à la charge d’implication. </a:t>
            </a:r>
          </a:p>
        </p:txBody>
      </p:sp>
      <p:pic>
        <p:nvPicPr>
          <p:cNvPr id="6" name="Graphique 5" descr="Personne avec une idée contour">
            <a:extLst>
              <a:ext uri="{FF2B5EF4-FFF2-40B4-BE49-F238E27FC236}">
                <a16:creationId xmlns:a16="http://schemas.microsoft.com/office/drawing/2014/main" id="{CF8C1CC9-8819-125F-C60C-B59F0459694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5890" y="4707731"/>
            <a:ext cx="532925" cy="532925"/>
          </a:xfrm>
          <a:prstGeom prst="rect">
            <a:avLst/>
          </a:prstGeom>
        </p:spPr>
      </p:pic>
      <p:pic>
        <p:nvPicPr>
          <p:cNvPr id="7" name="Graphique 6" descr="Carte avec repère contour">
            <a:extLst>
              <a:ext uri="{FF2B5EF4-FFF2-40B4-BE49-F238E27FC236}">
                <a16:creationId xmlns:a16="http://schemas.microsoft.com/office/drawing/2014/main" id="{4F392D85-733B-AA04-78C5-D7C2AE4ECB5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0634" y="2836745"/>
            <a:ext cx="439703" cy="439703"/>
          </a:xfrm>
          <a:prstGeom prst="rect">
            <a:avLst/>
          </a:prstGeom>
        </p:spPr>
      </p:pic>
    </p:spTree>
    <p:extLst>
      <p:ext uri="{BB962C8B-B14F-4D97-AF65-F5344CB8AC3E}">
        <p14:creationId xmlns:p14="http://schemas.microsoft.com/office/powerpoint/2010/main" val="3581912903"/>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au 4">
            <a:extLst>
              <a:ext uri="{FF2B5EF4-FFF2-40B4-BE49-F238E27FC236}">
                <a16:creationId xmlns:a16="http://schemas.microsoft.com/office/drawing/2014/main" id="{A8F8DE2D-7674-7A56-3C01-21E8951667EA}"/>
              </a:ext>
            </a:extLst>
          </p:cNvPr>
          <p:cNvGraphicFramePr>
            <a:graphicFrameLocks noGrp="1"/>
          </p:cNvGraphicFramePr>
          <p:nvPr>
            <p:extLst>
              <p:ext uri="{D42A27DB-BD31-4B8C-83A1-F6EECF244321}">
                <p14:modId xmlns:p14="http://schemas.microsoft.com/office/powerpoint/2010/main" val="1201319220"/>
              </p:ext>
            </p:extLst>
          </p:nvPr>
        </p:nvGraphicFramePr>
        <p:xfrm>
          <a:off x="2543031" y="2718236"/>
          <a:ext cx="8824053" cy="2700713"/>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souhaitent passer à l’action ou au moins à la pratique, et ne se satisfont plus de la collecte de leurs besoins ou d’exemples.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ne se sentent pas encore à l’aise pour pratiquer le changement dans un environnement incertain (risque de résistance au changement, de rejet…) et préfèrent un contexte tel que la Communauté pour commencer.</a:t>
                      </a:r>
                    </a:p>
                  </a:txBody>
                  <a:tcPr/>
                </a:tc>
                <a:tc>
                  <a:txBody>
                    <a:bodyPr/>
                    <a:lstStyle/>
                    <a:p>
                      <a:pPr marL="285750" indent="-285750">
                        <a:buFont typeface="Arial" panose="020B0604020202020204" pitchFamily="34" charset="0"/>
                        <a:buChar char="•"/>
                      </a:pPr>
                      <a:r>
                        <a:rPr lang="fr-FR" sz="1200"/>
                        <a:t>Permettre aux membres de pratiquer dans un environnement maîtrisé, et avec peu de risques extérieurs. Cet environnement est la Communauté.</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Créer progressivement des réflexes et des routines qui pourront être transposés par la suite dans la vie « hors communauté »</a:t>
                      </a:r>
                    </a:p>
                  </a:txBody>
                  <a:tcPr/>
                </a:tc>
                <a:tc>
                  <a:txBody>
                    <a:bodyPr/>
                    <a:lstStyle/>
                    <a:p>
                      <a:pPr marL="171450" indent="-171450">
                        <a:buFont typeface="Arial" panose="020B0604020202020204" pitchFamily="34" charset="0"/>
                        <a:buChar char="•"/>
                      </a:pPr>
                      <a:r>
                        <a:rPr lang="fr-FR" sz="1200"/>
                        <a:t>Les membres se sentent prêts à appliquer dans un contexte plus complexe que la Communauté, des scénarios fictifs ou des tutoriels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ont une première compréhension pratique qui les invite à se poser des questions plus riches et détaillées, en rapport avec l’application réelle du changement</a:t>
                      </a:r>
                    </a:p>
                  </a:txBody>
                  <a:tcPr/>
                </a:tc>
                <a:extLst>
                  <a:ext uri="{0D108BD9-81ED-4DB2-BD59-A6C34878D82A}">
                    <a16:rowId xmlns:a16="http://schemas.microsoft.com/office/drawing/2014/main" val="2775041851"/>
                  </a:ext>
                </a:extLst>
              </a:tr>
            </a:tbl>
          </a:graphicData>
        </a:graphic>
      </p:graphicFrame>
      <p:sp>
        <p:nvSpPr>
          <p:cNvPr id="6" name="ZoneTexte 5">
            <a:extLst>
              <a:ext uri="{FF2B5EF4-FFF2-40B4-BE49-F238E27FC236}">
                <a16:creationId xmlns:a16="http://schemas.microsoft.com/office/drawing/2014/main" id="{3B000C84-3902-8EF9-5F47-E6DAF353728F}"/>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Analyse par Phase</a:t>
            </a:r>
          </a:p>
        </p:txBody>
      </p:sp>
      <p:sp>
        <p:nvSpPr>
          <p:cNvPr id="2" name="Espace réservé du texte 15">
            <a:extLst>
              <a:ext uri="{FF2B5EF4-FFF2-40B4-BE49-F238E27FC236}">
                <a16:creationId xmlns:a16="http://schemas.microsoft.com/office/drawing/2014/main" id="{584A2323-7A13-7BA4-FCC3-61512FC12FE3}"/>
              </a:ext>
            </a:extLst>
          </p:cNvPr>
          <p:cNvSpPr txBox="1">
            <a:spLocks/>
          </p:cNvSpPr>
          <p:nvPr/>
        </p:nvSpPr>
        <p:spPr>
          <a:xfrm>
            <a:off x="177829" y="2300204"/>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INITIATION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pic>
        <p:nvPicPr>
          <p:cNvPr id="3" name="Graphique 2" descr="Tubes à essai avec un remplissage uni">
            <a:extLst>
              <a:ext uri="{FF2B5EF4-FFF2-40B4-BE49-F238E27FC236}">
                <a16:creationId xmlns:a16="http://schemas.microsoft.com/office/drawing/2014/main" id="{4517A7AB-BF56-A8E9-AB0D-51399545A4D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3907" y="1297025"/>
            <a:ext cx="914400" cy="914400"/>
          </a:xfrm>
          <a:prstGeom prst="rect">
            <a:avLst/>
          </a:prstGeom>
        </p:spPr>
      </p:pic>
      <p:sp>
        <p:nvSpPr>
          <p:cNvPr id="4" name="ZoneTexte 3">
            <a:extLst>
              <a:ext uri="{FF2B5EF4-FFF2-40B4-BE49-F238E27FC236}">
                <a16:creationId xmlns:a16="http://schemas.microsoft.com/office/drawing/2014/main" id="{C9DDFC0B-7474-5355-2849-F95AD6472554}"/>
              </a:ext>
            </a:extLst>
          </p:cNvPr>
          <p:cNvSpPr txBox="1"/>
          <p:nvPr/>
        </p:nvSpPr>
        <p:spPr>
          <a:xfrm>
            <a:off x="181665" y="3216228"/>
            <a:ext cx="1612936"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idée plus claire de ce que seraient les résultats du changement.</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une différence entre les ambitions, et l’état de pratique réel (qui est quasi nul) .</a:t>
            </a:r>
          </a:p>
        </p:txBody>
      </p:sp>
      <p:pic>
        <p:nvPicPr>
          <p:cNvPr id="5" name="Graphique 4" descr="Personne avec une idée contour">
            <a:extLst>
              <a:ext uri="{FF2B5EF4-FFF2-40B4-BE49-F238E27FC236}">
                <a16:creationId xmlns:a16="http://schemas.microsoft.com/office/drawing/2014/main" id="{AB2346BA-C31B-823A-DF01-3E3FEB040DF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3709" y="4581839"/>
            <a:ext cx="532925" cy="532925"/>
          </a:xfrm>
          <a:prstGeom prst="rect">
            <a:avLst/>
          </a:prstGeom>
        </p:spPr>
      </p:pic>
      <p:pic>
        <p:nvPicPr>
          <p:cNvPr id="7" name="Graphique 6" descr="Carte avec repère contour">
            <a:extLst>
              <a:ext uri="{FF2B5EF4-FFF2-40B4-BE49-F238E27FC236}">
                <a16:creationId xmlns:a16="http://schemas.microsoft.com/office/drawing/2014/main" id="{E81CC6A1-4C0F-6718-475D-63615012714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6551" y="2686634"/>
            <a:ext cx="439703" cy="439703"/>
          </a:xfrm>
          <a:prstGeom prst="rect">
            <a:avLst/>
          </a:prstGeom>
        </p:spPr>
      </p:pic>
    </p:spTree>
    <p:extLst>
      <p:ext uri="{BB962C8B-B14F-4D97-AF65-F5344CB8AC3E}">
        <p14:creationId xmlns:p14="http://schemas.microsoft.com/office/powerpoint/2010/main" val="2038846724"/>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au 4">
            <a:extLst>
              <a:ext uri="{FF2B5EF4-FFF2-40B4-BE49-F238E27FC236}">
                <a16:creationId xmlns:a16="http://schemas.microsoft.com/office/drawing/2014/main" id="{326BF74B-1C18-EF68-58D0-528B6ED2DDEB}"/>
              </a:ext>
            </a:extLst>
          </p:cNvPr>
          <p:cNvGraphicFramePr>
            <a:graphicFrameLocks noGrp="1"/>
          </p:cNvGraphicFramePr>
          <p:nvPr>
            <p:extLst>
              <p:ext uri="{D42A27DB-BD31-4B8C-83A1-F6EECF244321}">
                <p14:modId xmlns:p14="http://schemas.microsoft.com/office/powerpoint/2010/main" val="2627449987"/>
              </p:ext>
            </p:extLst>
          </p:nvPr>
        </p:nvGraphicFramePr>
        <p:xfrm>
          <a:off x="2543031" y="2718236"/>
          <a:ext cx="8824053" cy="2700713"/>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vivent les difficultés réelles du changement</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questions auxquelles les membres font face sont beaucoup plus difficiles et amènent à des réponses beaucoup moins génériques que précédemment</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peuvent quitter plus facilement la Communauté dans cette phase</a:t>
                      </a:r>
                    </a:p>
                  </a:txBody>
                  <a:tcPr/>
                </a:tc>
                <a:tc>
                  <a:txBody>
                    <a:bodyPr/>
                    <a:lstStyle/>
                    <a:p>
                      <a:pPr marL="285750" indent="-285750">
                        <a:buFont typeface="Arial" panose="020B0604020202020204" pitchFamily="34" charset="0"/>
                        <a:buChar char="•"/>
                      </a:pPr>
                      <a:r>
                        <a:rPr lang="fr-FR" sz="1200"/>
                        <a:t>Accompagner l’expérimentation du changement en dehors de la Communauté</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Créer ou renforcer la solidarité et le soutien mutuel face à la complexité du changement</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Faire face aux difficultés et tenir l’endurance et la patience sur le changement</a:t>
                      </a:r>
                    </a:p>
                  </a:txBody>
                  <a:tcPr/>
                </a:tc>
                <a:tc>
                  <a:txBody>
                    <a:bodyPr/>
                    <a:lstStyle/>
                    <a:p>
                      <a:pPr marL="171450" indent="-171450">
                        <a:buFont typeface="Arial" panose="020B0604020202020204" pitchFamily="34" charset="0"/>
                        <a:buChar char="•"/>
                      </a:pPr>
                      <a:r>
                        <a:rPr lang="fr-FR" sz="1200"/>
                        <a:t>Les membres réussissent à porter les changements découverts, évalués et pratiqués dans les phases précédentes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ont moins de difficultés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semblent avoir accumulé suffisamment d’expérience dans le changement pour l’enregistrer dans un format utile</a:t>
                      </a:r>
                    </a:p>
                  </a:txBody>
                  <a:tcPr/>
                </a:tc>
                <a:extLst>
                  <a:ext uri="{0D108BD9-81ED-4DB2-BD59-A6C34878D82A}">
                    <a16:rowId xmlns:a16="http://schemas.microsoft.com/office/drawing/2014/main" val="2775041851"/>
                  </a:ext>
                </a:extLst>
              </a:tr>
            </a:tbl>
          </a:graphicData>
        </a:graphic>
      </p:graphicFrame>
      <p:sp>
        <p:nvSpPr>
          <p:cNvPr id="6" name="ZoneTexte 5">
            <a:extLst>
              <a:ext uri="{FF2B5EF4-FFF2-40B4-BE49-F238E27FC236}">
                <a16:creationId xmlns:a16="http://schemas.microsoft.com/office/drawing/2014/main" id="{66305601-24DD-0667-F6D7-AEDC624A5FFA}"/>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Analyse par Phase</a:t>
            </a:r>
          </a:p>
        </p:txBody>
      </p:sp>
      <p:sp>
        <p:nvSpPr>
          <p:cNvPr id="2" name="Espace réservé du texte 15">
            <a:extLst>
              <a:ext uri="{FF2B5EF4-FFF2-40B4-BE49-F238E27FC236}">
                <a16:creationId xmlns:a16="http://schemas.microsoft.com/office/drawing/2014/main" id="{A56599C9-0EE3-2DC3-CE29-0003D934AE93}"/>
              </a:ext>
            </a:extLst>
          </p:cNvPr>
          <p:cNvSpPr txBox="1">
            <a:spLocks/>
          </p:cNvSpPr>
          <p:nvPr/>
        </p:nvSpPr>
        <p:spPr>
          <a:xfrm>
            <a:off x="114199" y="2479409"/>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CHOC DE LA RÉALITÉ</a:t>
            </a:r>
          </a:p>
          <a:p>
            <a:pPr marL="0" indent="0" algn="ctr">
              <a:buFont typeface="Arial" panose="020B0604020202020204" pitchFamily="34" charset="0"/>
              <a:buNone/>
            </a:pPr>
            <a:endParaRPr lang="fr-FR" sz="1400" b="1" i="1"/>
          </a:p>
          <a:p>
            <a:pPr marL="0" indent="0" algn="ctr">
              <a:buFont typeface="Arial" panose="020B0604020202020204" pitchFamily="34" charset="0"/>
              <a:buNone/>
            </a:pPr>
            <a:endParaRPr lang="fr-FR" sz="1400" b="1" i="1">
              <a:solidFill>
                <a:srgbClr val="ED7D31"/>
              </a:solidFill>
            </a:endParaRPr>
          </a:p>
        </p:txBody>
      </p:sp>
      <p:pic>
        <p:nvPicPr>
          <p:cNvPr id="3" name="Graphique 2" descr="Explosion avec un remplissage uni">
            <a:extLst>
              <a:ext uri="{FF2B5EF4-FFF2-40B4-BE49-F238E27FC236}">
                <a16:creationId xmlns:a16="http://schemas.microsoft.com/office/drawing/2014/main" id="{8BFA891D-6450-58E8-26E8-C77B147A285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3118" y="1476231"/>
            <a:ext cx="914400" cy="914400"/>
          </a:xfrm>
          <a:prstGeom prst="rect">
            <a:avLst/>
          </a:prstGeom>
        </p:spPr>
      </p:pic>
      <p:sp>
        <p:nvSpPr>
          <p:cNvPr id="4" name="ZoneTexte 3">
            <a:extLst>
              <a:ext uri="{FF2B5EF4-FFF2-40B4-BE49-F238E27FC236}">
                <a16:creationId xmlns:a16="http://schemas.microsoft.com/office/drawing/2014/main" id="{01DDA94D-70D9-2903-44FB-CB404A782387}"/>
              </a:ext>
            </a:extLst>
          </p:cNvPr>
          <p:cNvSpPr txBox="1"/>
          <p:nvPr/>
        </p:nvSpPr>
        <p:spPr>
          <a:xfrm>
            <a:off x="84416" y="3395434"/>
            <a:ext cx="1612937"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1ère idée de ce qu’est le changement appliqué en-dehors de la vie de la communauté.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maintenant la découverte des résistances, freins et obstacles à franchir.</a:t>
            </a:r>
          </a:p>
        </p:txBody>
      </p:sp>
      <p:pic>
        <p:nvPicPr>
          <p:cNvPr id="5" name="Graphique 4" descr="Personne avec une idée contour">
            <a:extLst>
              <a:ext uri="{FF2B5EF4-FFF2-40B4-BE49-F238E27FC236}">
                <a16:creationId xmlns:a16="http://schemas.microsoft.com/office/drawing/2014/main" id="{76C52BE5-1F32-93B2-26A7-FF3A2558FAF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4547" y="4746413"/>
            <a:ext cx="532925" cy="532925"/>
          </a:xfrm>
          <a:prstGeom prst="rect">
            <a:avLst/>
          </a:prstGeom>
        </p:spPr>
      </p:pic>
      <p:pic>
        <p:nvPicPr>
          <p:cNvPr id="7" name="Graphique 6" descr="Carte avec repère contour">
            <a:extLst>
              <a:ext uri="{FF2B5EF4-FFF2-40B4-BE49-F238E27FC236}">
                <a16:creationId xmlns:a16="http://schemas.microsoft.com/office/drawing/2014/main" id="{8A8A9183-5711-E84B-83F2-81CFA670D58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8676" y="2865839"/>
            <a:ext cx="439703" cy="439703"/>
          </a:xfrm>
          <a:prstGeom prst="rect">
            <a:avLst/>
          </a:prstGeom>
        </p:spPr>
      </p:pic>
    </p:spTree>
    <p:extLst>
      <p:ext uri="{BB962C8B-B14F-4D97-AF65-F5344CB8AC3E}">
        <p14:creationId xmlns:p14="http://schemas.microsoft.com/office/powerpoint/2010/main" val="3035765802"/>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au 4">
            <a:extLst>
              <a:ext uri="{FF2B5EF4-FFF2-40B4-BE49-F238E27FC236}">
                <a16:creationId xmlns:a16="http://schemas.microsoft.com/office/drawing/2014/main" id="{7FBF11DC-C586-7C64-C747-535B1CF1482B}"/>
              </a:ext>
            </a:extLst>
          </p:cNvPr>
          <p:cNvGraphicFramePr>
            <a:graphicFrameLocks noGrp="1"/>
          </p:cNvGraphicFramePr>
          <p:nvPr>
            <p:extLst>
              <p:ext uri="{D42A27DB-BD31-4B8C-83A1-F6EECF244321}">
                <p14:modId xmlns:p14="http://schemas.microsoft.com/office/powerpoint/2010/main" val="1661803548"/>
              </p:ext>
            </p:extLst>
          </p:nvPr>
        </p:nvGraphicFramePr>
        <p:xfrm>
          <a:off x="2543031" y="2718236"/>
          <a:ext cx="8824053" cy="2608771"/>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ont développé leurs propres bonnes pratiques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ont du recul sur les changements qu’ils ont pratiqué</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sont moins dans un vécu de difficulté et plus dans la satisfaction des changements</a:t>
                      </a:r>
                    </a:p>
                  </a:txBody>
                  <a:tcPr/>
                </a:tc>
                <a:tc>
                  <a:txBody>
                    <a:bodyPr/>
                    <a:lstStyle/>
                    <a:p>
                      <a:pPr marL="285750" indent="-285750">
                        <a:buFont typeface="Arial" panose="020B0604020202020204" pitchFamily="34" charset="0"/>
                        <a:buChar char="•"/>
                      </a:pPr>
                      <a:r>
                        <a:rPr lang="fr-FR" sz="1200"/>
                        <a:t>Capitaliser l’expérience que les membres ont développé</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Mettre en avant / valoriser les réussites et apprentissages</a:t>
                      </a:r>
                    </a:p>
                    <a:p>
                      <a:pPr marL="0" indent="0">
                        <a:buFont typeface="Arial" panose="020B0604020202020204" pitchFamily="34" charset="0"/>
                        <a:buNone/>
                      </a:pPr>
                      <a:endParaRPr lang="fr-FR" sz="1200"/>
                    </a:p>
                    <a:p>
                      <a:pPr marL="285750" indent="-285750">
                        <a:buFont typeface="Arial" panose="020B0604020202020204" pitchFamily="34" charset="0"/>
                        <a:buChar char="•"/>
                      </a:pPr>
                      <a:r>
                        <a:rPr lang="fr-FR" sz="1200"/>
                        <a:t>Faire le point et définir les bonnes pratiques locales</a:t>
                      </a:r>
                    </a:p>
                    <a:p>
                      <a:pPr marL="285750" indent="-285750">
                        <a:buFont typeface="Arial" panose="020B0604020202020204" pitchFamily="34" charset="0"/>
                        <a:buChar char="•"/>
                      </a:pPr>
                      <a:endParaRPr lang="fr-FR" sz="1200"/>
                    </a:p>
                  </a:txBody>
                  <a:tcPr/>
                </a:tc>
                <a:tc>
                  <a:txBody>
                    <a:bodyPr/>
                    <a:lstStyle/>
                    <a:p>
                      <a:pPr marL="171450" indent="-171450">
                        <a:buFont typeface="Arial" panose="020B0604020202020204" pitchFamily="34" charset="0"/>
                        <a:buChar char="•"/>
                      </a:pPr>
                      <a:r>
                        <a:rPr lang="fr-FR" sz="1200"/>
                        <a:t>Les membres sont satisfaits de la capitalisation </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se sont approprié le changement suffisamment pour vouloir l’étendre</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se sentent capables d’assister d’autres parties de l’entreprise sur le changement</a:t>
                      </a:r>
                    </a:p>
                  </a:txBody>
                  <a:tcPr/>
                </a:tc>
                <a:extLst>
                  <a:ext uri="{0D108BD9-81ED-4DB2-BD59-A6C34878D82A}">
                    <a16:rowId xmlns:a16="http://schemas.microsoft.com/office/drawing/2014/main" val="2775041851"/>
                  </a:ext>
                </a:extLst>
              </a:tr>
            </a:tbl>
          </a:graphicData>
        </a:graphic>
      </p:graphicFrame>
      <p:sp>
        <p:nvSpPr>
          <p:cNvPr id="6" name="ZoneTexte 5">
            <a:extLst>
              <a:ext uri="{FF2B5EF4-FFF2-40B4-BE49-F238E27FC236}">
                <a16:creationId xmlns:a16="http://schemas.microsoft.com/office/drawing/2014/main" id="{9E3BD047-5E0E-0859-7D15-CD92BFA48678}"/>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Analyse par Phase</a:t>
            </a:r>
          </a:p>
        </p:txBody>
      </p:sp>
      <p:sp>
        <p:nvSpPr>
          <p:cNvPr id="2" name="Espace réservé du texte 15">
            <a:extLst>
              <a:ext uri="{FF2B5EF4-FFF2-40B4-BE49-F238E27FC236}">
                <a16:creationId xmlns:a16="http://schemas.microsoft.com/office/drawing/2014/main" id="{0A43C036-C1CC-D907-707E-E5FA7008EADA}"/>
              </a:ext>
            </a:extLst>
          </p:cNvPr>
          <p:cNvSpPr txBox="1">
            <a:spLocks/>
          </p:cNvSpPr>
          <p:nvPr/>
        </p:nvSpPr>
        <p:spPr>
          <a:xfrm>
            <a:off x="120701" y="2534170"/>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CONFIRMATION DE RÉUSSITES</a:t>
            </a:r>
          </a:p>
          <a:p>
            <a:pPr marL="0" indent="0" algn="ctr">
              <a:buFont typeface="Arial" panose="020B0604020202020204" pitchFamily="34" charset="0"/>
              <a:buNone/>
            </a:pPr>
            <a:endParaRPr lang="fr-FR" sz="1400" b="1" i="1">
              <a:solidFill>
                <a:srgbClr val="ED7D31"/>
              </a:solidFill>
            </a:endParaRPr>
          </a:p>
        </p:txBody>
      </p:sp>
      <p:pic>
        <p:nvPicPr>
          <p:cNvPr id="3" name="Graphique 2" descr="Trophée avec un remplissage uni">
            <a:extLst>
              <a:ext uri="{FF2B5EF4-FFF2-40B4-BE49-F238E27FC236}">
                <a16:creationId xmlns:a16="http://schemas.microsoft.com/office/drawing/2014/main" id="{980754CB-3002-D5BE-BD74-638B5B97C4B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2230" y="1530993"/>
            <a:ext cx="914400" cy="914400"/>
          </a:xfrm>
          <a:prstGeom prst="rect">
            <a:avLst/>
          </a:prstGeom>
        </p:spPr>
      </p:pic>
      <p:sp>
        <p:nvSpPr>
          <p:cNvPr id="4" name="ZoneTexte 3">
            <a:extLst>
              <a:ext uri="{FF2B5EF4-FFF2-40B4-BE49-F238E27FC236}">
                <a16:creationId xmlns:a16="http://schemas.microsoft.com/office/drawing/2014/main" id="{5A71B601-2D74-A37A-358F-E3ADB28FE551}"/>
              </a:ext>
            </a:extLst>
          </p:cNvPr>
          <p:cNvSpPr txBox="1"/>
          <p:nvPr/>
        </p:nvSpPr>
        <p:spPr>
          <a:xfrm>
            <a:off x="120003" y="3467150"/>
            <a:ext cx="1612936" cy="2677656"/>
          </a:xfrm>
          <a:prstGeom prst="rect">
            <a:avLst/>
          </a:prstGeom>
          <a:noFill/>
        </p:spPr>
        <p:txBody>
          <a:bodyPr wrap="square">
            <a:spAutoFit/>
          </a:bodyPr>
          <a:lstStyle/>
          <a:p>
            <a:pPr marL="0" indent="0" algn="ctr">
              <a:buFont typeface="Arial" panose="020B0604020202020204" pitchFamily="34" charset="0"/>
              <a:buNone/>
            </a:pPr>
            <a:r>
              <a:rPr lang="fr-FR" sz="1200" b="1" i="1"/>
              <a:t>Les membres ont mieux compris comment surmonter les défis.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Les réussites récentes doivent maintenant surmonter le défi du temps et des aléas.</a:t>
            </a:r>
          </a:p>
        </p:txBody>
      </p:sp>
      <p:pic>
        <p:nvPicPr>
          <p:cNvPr id="5" name="Graphique 4" descr="Personne avec une idée contour">
            <a:extLst>
              <a:ext uri="{FF2B5EF4-FFF2-40B4-BE49-F238E27FC236}">
                <a16:creationId xmlns:a16="http://schemas.microsoft.com/office/drawing/2014/main" id="{760ABF26-EBD5-E30A-1575-CFFAA77BB2C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3999" y="4815806"/>
            <a:ext cx="532925" cy="532925"/>
          </a:xfrm>
          <a:prstGeom prst="rect">
            <a:avLst/>
          </a:prstGeom>
        </p:spPr>
      </p:pic>
      <p:pic>
        <p:nvPicPr>
          <p:cNvPr id="7" name="Graphique 6" descr="Carte avec repère contour">
            <a:extLst>
              <a:ext uri="{FF2B5EF4-FFF2-40B4-BE49-F238E27FC236}">
                <a16:creationId xmlns:a16="http://schemas.microsoft.com/office/drawing/2014/main" id="{6E7EFDD1-8808-B475-A4D4-2ADFC7995C7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1893" y="2928688"/>
            <a:ext cx="439703" cy="439703"/>
          </a:xfrm>
          <a:prstGeom prst="rect">
            <a:avLst/>
          </a:prstGeom>
        </p:spPr>
      </p:pic>
    </p:spTree>
    <p:extLst>
      <p:ext uri="{BB962C8B-B14F-4D97-AF65-F5344CB8AC3E}">
        <p14:creationId xmlns:p14="http://schemas.microsoft.com/office/powerpoint/2010/main" val="4073863722"/>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au 4">
            <a:extLst>
              <a:ext uri="{FF2B5EF4-FFF2-40B4-BE49-F238E27FC236}">
                <a16:creationId xmlns:a16="http://schemas.microsoft.com/office/drawing/2014/main" id="{A91872FC-674C-3110-0524-22E6A5B93E65}"/>
              </a:ext>
            </a:extLst>
          </p:cNvPr>
          <p:cNvGraphicFramePr>
            <a:graphicFrameLocks noGrp="1"/>
          </p:cNvGraphicFramePr>
          <p:nvPr>
            <p:extLst>
              <p:ext uri="{D42A27DB-BD31-4B8C-83A1-F6EECF244321}">
                <p14:modId xmlns:p14="http://schemas.microsoft.com/office/powerpoint/2010/main" val="659572351"/>
              </p:ext>
            </p:extLst>
          </p:nvPr>
        </p:nvGraphicFramePr>
        <p:xfrm>
          <a:off x="2543031" y="2718236"/>
          <a:ext cx="8824053" cy="2700713"/>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souhaitent porter le changement ailleurs dans l’entreprise</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sont naturellement promoteurs du changement</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trouveraient dommage de ne pas faire profiter tout ce qu’ils ont capitalisé</a:t>
                      </a:r>
                    </a:p>
                  </a:txBody>
                  <a:tcPr/>
                </a:tc>
                <a:tc>
                  <a:txBody>
                    <a:bodyPr/>
                    <a:lstStyle/>
                    <a:p>
                      <a:pPr marL="285750" indent="-285750">
                        <a:buFont typeface="Arial" panose="020B0604020202020204" pitchFamily="34" charset="0"/>
                        <a:buChar char="•"/>
                      </a:pPr>
                      <a:r>
                        <a:rPr lang="fr-FR" sz="1200"/>
                        <a:t>Générer une offre de services par la Communauté </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Mettre en valeur la Communauté et son utilité au-delà de ses membres</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Pouvoir former des non-membres grâce à la Communauté</a:t>
                      </a:r>
                    </a:p>
                  </a:txBody>
                  <a:tcPr/>
                </a:tc>
                <a:tc>
                  <a:txBody>
                    <a:bodyPr/>
                    <a:lstStyle/>
                    <a:p>
                      <a:pPr marL="171450" indent="-171450">
                        <a:buFont typeface="Arial" panose="020B0604020202020204" pitchFamily="34" charset="0"/>
                        <a:buChar char="•"/>
                      </a:pPr>
                      <a:r>
                        <a:rPr lang="fr-FR" sz="1200"/>
                        <a:t>Les membres ont atteint une limite en termes de sphère d’influence</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ne considèrent plus le sujet initial changement comme des changements mais comme des évidences qu’on devrait officialiser</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veulent pérenniser ce qui a été apporté, au-delà de leurs interventions</a:t>
                      </a:r>
                    </a:p>
                  </a:txBody>
                  <a:tcPr/>
                </a:tc>
                <a:extLst>
                  <a:ext uri="{0D108BD9-81ED-4DB2-BD59-A6C34878D82A}">
                    <a16:rowId xmlns:a16="http://schemas.microsoft.com/office/drawing/2014/main" val="2775041851"/>
                  </a:ext>
                </a:extLst>
              </a:tr>
            </a:tbl>
          </a:graphicData>
        </a:graphic>
      </p:graphicFrame>
      <p:sp>
        <p:nvSpPr>
          <p:cNvPr id="6" name="ZoneTexte 5">
            <a:extLst>
              <a:ext uri="{FF2B5EF4-FFF2-40B4-BE49-F238E27FC236}">
                <a16:creationId xmlns:a16="http://schemas.microsoft.com/office/drawing/2014/main" id="{3A75A489-4F9C-D3B3-F6E9-A43F4230EC62}"/>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Analyse par Phase</a:t>
            </a:r>
          </a:p>
        </p:txBody>
      </p:sp>
      <p:sp>
        <p:nvSpPr>
          <p:cNvPr id="2" name="Espace réservé du texte 15">
            <a:extLst>
              <a:ext uri="{FF2B5EF4-FFF2-40B4-BE49-F238E27FC236}">
                <a16:creationId xmlns:a16="http://schemas.microsoft.com/office/drawing/2014/main" id="{0E212A0D-19A2-2E2B-F9E4-CC3AF53F6492}"/>
              </a:ext>
            </a:extLst>
          </p:cNvPr>
          <p:cNvSpPr txBox="1">
            <a:spLocks/>
          </p:cNvSpPr>
          <p:nvPr/>
        </p:nvSpPr>
        <p:spPr>
          <a:xfrm>
            <a:off x="136080" y="2539889"/>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EXPOSITION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pic>
        <p:nvPicPr>
          <p:cNvPr id="3" name="Graphique 2" descr="Assiette couverte avec un remplissage uni">
            <a:extLst>
              <a:ext uri="{FF2B5EF4-FFF2-40B4-BE49-F238E27FC236}">
                <a16:creationId xmlns:a16="http://schemas.microsoft.com/office/drawing/2014/main" id="{440DA258-5BAF-3CD3-329D-36D38AEBC33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4650" y="1536712"/>
            <a:ext cx="914400" cy="914400"/>
          </a:xfrm>
          <a:prstGeom prst="rect">
            <a:avLst/>
          </a:prstGeom>
        </p:spPr>
      </p:pic>
      <p:sp>
        <p:nvSpPr>
          <p:cNvPr id="4" name="ZoneTexte 3">
            <a:extLst>
              <a:ext uri="{FF2B5EF4-FFF2-40B4-BE49-F238E27FC236}">
                <a16:creationId xmlns:a16="http://schemas.microsoft.com/office/drawing/2014/main" id="{A22D4538-C3B5-5B14-2ED0-F1B065FDE6D2}"/>
              </a:ext>
            </a:extLst>
          </p:cNvPr>
          <p:cNvSpPr txBox="1"/>
          <p:nvPr/>
        </p:nvSpPr>
        <p:spPr>
          <a:xfrm>
            <a:off x="138871" y="3484628"/>
            <a:ext cx="1612936" cy="3046988"/>
          </a:xfrm>
          <a:prstGeom prst="rect">
            <a:avLst/>
          </a:prstGeom>
          <a:noFill/>
        </p:spPr>
        <p:txBody>
          <a:bodyPr wrap="square" lIns="91440" tIns="45720" rIns="91440" bIns="45720" anchor="t">
            <a:spAutoFit/>
          </a:bodyPr>
          <a:lstStyle/>
          <a:p>
            <a:pPr algn="ctr"/>
            <a:r>
              <a:rPr lang="fr-FR" sz="1200" b="1" i="1"/>
              <a:t>Les membres ont une idée de l’effet du changement au sein de leur propre communauté.</a:t>
            </a:r>
            <a:endParaRPr lang="fr-FR" sz="1200" b="1" i="1">
              <a:cs typeface="Calibri"/>
            </a:endParaRP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r>
              <a:rPr lang="fr-FR" sz="1200" b="1" i="1">
                <a:solidFill>
                  <a:srgbClr val="ED7D31"/>
                </a:solidFill>
              </a:rPr>
              <a:t>Il y a maintenant les opportunités d’apporter ces impacts positifs , au-delà du périmètre initial.</a:t>
            </a:r>
            <a:endParaRPr lang="fr-FR" sz="1200" b="1" i="1">
              <a:solidFill>
                <a:srgbClr val="000000"/>
              </a:solidFill>
              <a:cs typeface="Calibri" panose="020F0502020204030204"/>
            </a:endParaRPr>
          </a:p>
        </p:txBody>
      </p:sp>
      <p:pic>
        <p:nvPicPr>
          <p:cNvPr id="5" name="Graphique 4" descr="Personne avec une idée contour">
            <a:extLst>
              <a:ext uri="{FF2B5EF4-FFF2-40B4-BE49-F238E27FC236}">
                <a16:creationId xmlns:a16="http://schemas.microsoft.com/office/drawing/2014/main" id="{9315871D-1EBB-023A-61A6-8CB4D9D6562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0687" y="4840695"/>
            <a:ext cx="532925" cy="532925"/>
          </a:xfrm>
          <a:prstGeom prst="rect">
            <a:avLst/>
          </a:prstGeom>
        </p:spPr>
      </p:pic>
      <p:pic>
        <p:nvPicPr>
          <p:cNvPr id="7" name="Graphique 6" descr="Carte avec repère contour">
            <a:extLst>
              <a:ext uri="{FF2B5EF4-FFF2-40B4-BE49-F238E27FC236}">
                <a16:creationId xmlns:a16="http://schemas.microsoft.com/office/drawing/2014/main" id="{209EB1B9-0B78-B97D-1881-89749643B18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2796" y="2934406"/>
            <a:ext cx="439703" cy="439703"/>
          </a:xfrm>
          <a:prstGeom prst="rect">
            <a:avLst/>
          </a:prstGeom>
        </p:spPr>
      </p:pic>
    </p:spTree>
    <p:extLst>
      <p:ext uri="{BB962C8B-B14F-4D97-AF65-F5344CB8AC3E}">
        <p14:creationId xmlns:p14="http://schemas.microsoft.com/office/powerpoint/2010/main" val="1885556716"/>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au 4">
            <a:extLst>
              <a:ext uri="{FF2B5EF4-FFF2-40B4-BE49-F238E27FC236}">
                <a16:creationId xmlns:a16="http://schemas.microsoft.com/office/drawing/2014/main" id="{D4132207-3610-69F6-3B80-8BD7C86FE728}"/>
              </a:ext>
            </a:extLst>
          </p:cNvPr>
          <p:cNvGraphicFramePr>
            <a:graphicFrameLocks noGrp="1"/>
          </p:cNvGraphicFramePr>
          <p:nvPr>
            <p:extLst>
              <p:ext uri="{D42A27DB-BD31-4B8C-83A1-F6EECF244321}">
                <p14:modId xmlns:p14="http://schemas.microsoft.com/office/powerpoint/2010/main" val="2662657299"/>
              </p:ext>
            </p:extLst>
          </p:nvPr>
        </p:nvGraphicFramePr>
        <p:xfrm>
          <a:off x="2543031" y="2718236"/>
          <a:ext cx="8824053" cy="2608771"/>
        </p:xfrm>
        <a:graphic>
          <a:graphicData uri="http://schemas.openxmlformats.org/drawingml/2006/table">
            <a:tbl>
              <a:tblPr firstRow="1" bandRow="1">
                <a:tableStyleId>{5C22544A-7EE6-4342-B048-85BDC9FD1C3A}</a:tableStyleId>
              </a:tblPr>
              <a:tblGrid>
                <a:gridCol w="2941351">
                  <a:extLst>
                    <a:ext uri="{9D8B030D-6E8A-4147-A177-3AD203B41FA5}">
                      <a16:colId xmlns:a16="http://schemas.microsoft.com/office/drawing/2014/main" val="3596307724"/>
                    </a:ext>
                  </a:extLst>
                </a:gridCol>
                <a:gridCol w="2941351">
                  <a:extLst>
                    <a:ext uri="{9D8B030D-6E8A-4147-A177-3AD203B41FA5}">
                      <a16:colId xmlns:a16="http://schemas.microsoft.com/office/drawing/2014/main" val="1730773329"/>
                    </a:ext>
                  </a:extLst>
                </a:gridCol>
                <a:gridCol w="2941351">
                  <a:extLst>
                    <a:ext uri="{9D8B030D-6E8A-4147-A177-3AD203B41FA5}">
                      <a16:colId xmlns:a16="http://schemas.microsoft.com/office/drawing/2014/main" val="703060996"/>
                    </a:ext>
                  </a:extLst>
                </a:gridCol>
              </a:tblGrid>
              <a:tr h="597593">
                <a:tc>
                  <a:txBody>
                    <a:bodyPr/>
                    <a:lstStyle/>
                    <a:p>
                      <a:pPr algn="ctr"/>
                      <a:r>
                        <a:rPr lang="fr-FR" sz="1400"/>
                        <a:t>Signes que les membres sont dans cette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Objectifs de cette phase</a:t>
                      </a:r>
                    </a:p>
                  </a:txBody>
                  <a:tcPr/>
                </a:tc>
                <a:tc>
                  <a:txBody>
                    <a:bodyPr/>
                    <a:lstStyle/>
                    <a:p>
                      <a:pPr algn="ctr"/>
                      <a:r>
                        <a:rPr lang="fr-FR" sz="1400"/>
                        <a:t>Signes que les membres sortent de cette phase</a:t>
                      </a:r>
                    </a:p>
                  </a:txBody>
                  <a:tcPr/>
                </a:tc>
                <a:extLst>
                  <a:ext uri="{0D108BD9-81ED-4DB2-BD59-A6C34878D82A}">
                    <a16:rowId xmlns:a16="http://schemas.microsoft.com/office/drawing/2014/main" val="275140735"/>
                  </a:ext>
                </a:extLst>
              </a:tr>
              <a:tr h="2011178">
                <a:tc>
                  <a:txBody>
                    <a:bodyPr/>
                    <a:lstStyle/>
                    <a:p>
                      <a:pPr marL="171450" indent="-171450">
                        <a:buFont typeface="Arial" panose="020B0604020202020204" pitchFamily="34" charset="0"/>
                        <a:buChar char="•"/>
                      </a:pPr>
                      <a:r>
                        <a:rPr lang="fr-FR" sz="1200"/>
                        <a:t>Les membres veulent officialiser les sujets de changement comme faisant partie de leurs fonctions quotidiennes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souhaitent donner une régularité « systématique » au sujet du changement, par exemple en l’intégrant dès l’arrivée dans l’entreprise</a:t>
                      </a:r>
                    </a:p>
                  </a:txBody>
                  <a:tcPr/>
                </a:tc>
                <a:tc>
                  <a:txBody>
                    <a:bodyPr/>
                    <a:lstStyle/>
                    <a:p>
                      <a:pPr marL="285750" indent="-285750">
                        <a:buFont typeface="Arial" panose="020B0604020202020204" pitchFamily="34" charset="0"/>
                        <a:buChar char="•"/>
                      </a:pPr>
                      <a:r>
                        <a:rPr lang="fr-FR" sz="1200"/>
                        <a:t>Officialiser les sujets des changements pour qu’ils ne soient plus l’effet d’un engagement des membres ou d’une conduite, mais par défaut</a:t>
                      </a:r>
                    </a:p>
                    <a:p>
                      <a:pPr marL="285750" indent="-285750">
                        <a:buFont typeface="Arial" panose="020B0604020202020204" pitchFamily="34" charset="0"/>
                        <a:buChar char="•"/>
                      </a:pPr>
                      <a:endParaRPr lang="fr-FR" sz="1200"/>
                    </a:p>
                    <a:p>
                      <a:pPr marL="285750" indent="-285750">
                        <a:buFont typeface="Arial" panose="020B0604020202020204" pitchFamily="34" charset="0"/>
                        <a:buChar char="•"/>
                      </a:pPr>
                      <a:r>
                        <a:rPr lang="fr-FR" sz="1200"/>
                        <a:t>Intervenir sur les processus durables de l’entreprise (fiches de poste, entretien d’embauche, </a:t>
                      </a:r>
                      <a:r>
                        <a:rPr lang="fr-FR" sz="1200" err="1"/>
                        <a:t>onboarding</a:t>
                      </a:r>
                      <a:r>
                        <a:rPr lang="fr-FR" sz="1200"/>
                        <a:t>, formations obligatoires, …)</a:t>
                      </a:r>
                    </a:p>
                  </a:txBody>
                  <a:tcPr/>
                </a:tc>
                <a:tc>
                  <a:txBody>
                    <a:bodyPr/>
                    <a:lstStyle/>
                    <a:p>
                      <a:pPr marL="171450" indent="-171450">
                        <a:buFont typeface="Arial" panose="020B0604020202020204" pitchFamily="34" charset="0"/>
                        <a:buChar char="•"/>
                      </a:pPr>
                      <a:r>
                        <a:rPr lang="fr-FR" sz="1200"/>
                        <a:t>Les changements sont officialisés</a:t>
                      </a:r>
                    </a:p>
                    <a:p>
                      <a:pPr marL="171450" indent="-171450">
                        <a:buFont typeface="Arial" panose="020B0604020202020204" pitchFamily="34" charset="0"/>
                        <a:buChar char="•"/>
                      </a:pPr>
                      <a:endParaRPr lang="fr-FR" sz="1200"/>
                    </a:p>
                    <a:p>
                      <a:pPr marL="171450" indent="-171450">
                        <a:buFont typeface="Arial" panose="020B0604020202020204" pitchFamily="34" charset="0"/>
                        <a:buChar char="•"/>
                      </a:pPr>
                      <a:r>
                        <a:rPr lang="fr-FR" sz="1200"/>
                        <a:t>Les membres ont l’impression d’avoir tout fait pour officialisé le changement</a:t>
                      </a:r>
                    </a:p>
                  </a:txBody>
                  <a:tcPr/>
                </a:tc>
                <a:extLst>
                  <a:ext uri="{0D108BD9-81ED-4DB2-BD59-A6C34878D82A}">
                    <a16:rowId xmlns:a16="http://schemas.microsoft.com/office/drawing/2014/main" val="2775041851"/>
                  </a:ext>
                </a:extLst>
              </a:tr>
            </a:tbl>
          </a:graphicData>
        </a:graphic>
      </p:graphicFrame>
      <p:sp>
        <p:nvSpPr>
          <p:cNvPr id="6" name="ZoneTexte 5">
            <a:extLst>
              <a:ext uri="{FF2B5EF4-FFF2-40B4-BE49-F238E27FC236}">
                <a16:creationId xmlns:a16="http://schemas.microsoft.com/office/drawing/2014/main" id="{6826F61C-F041-2D48-D238-C4EB4B531059}"/>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#OSC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Analyse par Phase</a:t>
            </a:r>
          </a:p>
        </p:txBody>
      </p:sp>
      <p:sp>
        <p:nvSpPr>
          <p:cNvPr id="2" name="Espace réservé du texte 15">
            <a:extLst>
              <a:ext uri="{FF2B5EF4-FFF2-40B4-BE49-F238E27FC236}">
                <a16:creationId xmlns:a16="http://schemas.microsoft.com/office/drawing/2014/main" id="{343ED542-C959-9EF6-481E-B93B946B53E3}"/>
              </a:ext>
            </a:extLst>
          </p:cNvPr>
          <p:cNvSpPr txBox="1">
            <a:spLocks/>
          </p:cNvSpPr>
          <p:nvPr/>
        </p:nvSpPr>
        <p:spPr>
          <a:xfrm>
            <a:off x="168517" y="2504378"/>
            <a:ext cx="1612936" cy="415387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1400" b="1" i="1">
                <a:solidFill>
                  <a:srgbClr val="0683AA"/>
                </a:solidFill>
              </a:rPr>
              <a:t>FORTIFICATION</a:t>
            </a: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a:p>
            <a:pPr marL="0" indent="0" algn="ctr">
              <a:buFont typeface="Arial" panose="020B0604020202020204" pitchFamily="34" charset="0"/>
              <a:buNone/>
            </a:pPr>
            <a:endParaRPr lang="fr-FR" sz="1400" b="1" i="1">
              <a:solidFill>
                <a:srgbClr val="ED7D31"/>
              </a:solidFill>
            </a:endParaRPr>
          </a:p>
        </p:txBody>
      </p:sp>
      <p:pic>
        <p:nvPicPr>
          <p:cNvPr id="3" name="Graphique 2" descr="Scène de château avec un remplissage uni">
            <a:extLst>
              <a:ext uri="{FF2B5EF4-FFF2-40B4-BE49-F238E27FC236}">
                <a16:creationId xmlns:a16="http://schemas.microsoft.com/office/drawing/2014/main" id="{9F32A39B-4419-9A5C-E9A3-7B44B137394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4826" y="1501201"/>
            <a:ext cx="914400" cy="914400"/>
          </a:xfrm>
          <a:prstGeom prst="rect">
            <a:avLst/>
          </a:prstGeom>
        </p:spPr>
      </p:pic>
      <p:sp>
        <p:nvSpPr>
          <p:cNvPr id="4" name="ZoneTexte 3">
            <a:extLst>
              <a:ext uri="{FF2B5EF4-FFF2-40B4-BE49-F238E27FC236}">
                <a16:creationId xmlns:a16="http://schemas.microsoft.com/office/drawing/2014/main" id="{8C45248F-7A1F-900F-F491-C12D975F7B21}"/>
              </a:ext>
            </a:extLst>
          </p:cNvPr>
          <p:cNvSpPr txBox="1"/>
          <p:nvPr/>
        </p:nvSpPr>
        <p:spPr>
          <a:xfrm>
            <a:off x="171308" y="3449117"/>
            <a:ext cx="1612936" cy="3231654"/>
          </a:xfrm>
          <a:prstGeom prst="rect">
            <a:avLst/>
          </a:prstGeom>
          <a:noFill/>
        </p:spPr>
        <p:txBody>
          <a:bodyPr wrap="square">
            <a:spAutoFit/>
          </a:bodyPr>
          <a:lstStyle/>
          <a:p>
            <a:pPr marL="0" indent="0" algn="ctr">
              <a:buFont typeface="Arial" panose="020B0604020202020204" pitchFamily="34" charset="0"/>
              <a:buNone/>
            </a:pPr>
            <a:r>
              <a:rPr lang="fr-FR" sz="1200" b="1" i="1"/>
              <a:t>Les membres ont une idée de comment s’impliquer dans ce changement. </a:t>
            </a:r>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sym typeface="Wingdings" panose="05000000000000000000" pitchFamily="2" charset="2"/>
            </a:endParaRPr>
          </a:p>
          <a:p>
            <a:pPr marL="0" indent="0" algn="ctr">
              <a:buFont typeface="Arial" panose="020B0604020202020204" pitchFamily="34" charset="0"/>
              <a:buNone/>
            </a:pPr>
            <a:endParaRPr lang="fr-FR" sz="1200" b="1" i="1">
              <a:solidFill>
                <a:srgbClr val="ED7D31"/>
              </a:solidFill>
            </a:endParaRPr>
          </a:p>
          <a:p>
            <a:pPr marL="0" indent="0" algn="ctr">
              <a:buFont typeface="Arial" panose="020B0604020202020204" pitchFamily="34" charset="0"/>
              <a:buNone/>
            </a:pPr>
            <a:r>
              <a:rPr lang="fr-FR" sz="1200" b="1" i="1">
                <a:solidFill>
                  <a:srgbClr val="ED7D31"/>
                </a:solidFill>
              </a:rPr>
              <a:t>Il y a peut-être conflit de priorités avec les autres engagements, en dehors de la vie de la communauté. Il est temps de systématiser le changement.</a:t>
            </a:r>
          </a:p>
        </p:txBody>
      </p:sp>
      <p:pic>
        <p:nvPicPr>
          <p:cNvPr id="5" name="Graphique 4" descr="Personne avec une idée contour">
            <a:extLst>
              <a:ext uri="{FF2B5EF4-FFF2-40B4-BE49-F238E27FC236}">
                <a16:creationId xmlns:a16="http://schemas.microsoft.com/office/drawing/2014/main" id="{D07935E5-3550-7DED-8FF0-343B52FE093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1065" y="4792449"/>
            <a:ext cx="532925" cy="532925"/>
          </a:xfrm>
          <a:prstGeom prst="rect">
            <a:avLst/>
          </a:prstGeom>
        </p:spPr>
      </p:pic>
      <p:pic>
        <p:nvPicPr>
          <p:cNvPr id="7" name="Graphique 6" descr="Carte avec repère contour">
            <a:extLst>
              <a:ext uri="{FF2B5EF4-FFF2-40B4-BE49-F238E27FC236}">
                <a16:creationId xmlns:a16="http://schemas.microsoft.com/office/drawing/2014/main" id="{40B16222-E890-C8D0-B409-2CD443506D3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1988" y="2898895"/>
            <a:ext cx="439703" cy="439703"/>
          </a:xfrm>
          <a:prstGeom prst="rect">
            <a:avLst/>
          </a:prstGeom>
        </p:spPr>
      </p:pic>
    </p:spTree>
    <p:extLst>
      <p:ext uri="{BB962C8B-B14F-4D97-AF65-F5344CB8AC3E}">
        <p14:creationId xmlns:p14="http://schemas.microsoft.com/office/powerpoint/2010/main" val="619016746"/>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7AFBAB5-8CDC-EF94-64F2-D7957CDC9F8A}"/>
              </a:ext>
            </a:extLst>
          </p:cNvPr>
          <p:cNvSpPr>
            <a:spLocks noGrp="1"/>
          </p:cNvSpPr>
          <p:nvPr>
            <p:ph idx="1"/>
          </p:nvPr>
        </p:nvSpPr>
        <p:spPr>
          <a:xfrm>
            <a:off x="838200" y="1677880"/>
            <a:ext cx="5057775" cy="4499083"/>
          </a:xfrm>
        </p:spPr>
        <p:txBody>
          <a:bodyPr>
            <a:normAutofit lnSpcReduction="10000"/>
          </a:bodyPr>
          <a:lstStyle/>
          <a:p>
            <a:r>
              <a:rPr lang="fr-FR" sz="1400" dirty="0"/>
              <a:t>Le </a:t>
            </a:r>
            <a:r>
              <a:rPr lang="fr-FR" sz="1400" b="1" i="1" dirty="0">
                <a:solidFill>
                  <a:srgbClr val="ED7D31"/>
                </a:solidFill>
              </a:rPr>
              <a:t>Change </a:t>
            </a:r>
            <a:r>
              <a:rPr lang="fr-FR" sz="1400" b="1" i="1" dirty="0">
                <a:solidFill>
                  <a:srgbClr val="0683AA"/>
                </a:solidFill>
              </a:rPr>
              <a:t>Community </a:t>
            </a:r>
            <a:r>
              <a:rPr lang="fr-FR" sz="1400" b="1" i="1" dirty="0"/>
              <a:t>Cycle </a:t>
            </a:r>
            <a:r>
              <a:rPr lang="fr-FR" sz="1400" dirty="0"/>
              <a:t>est un modèle, il représente UNE façon d’établir des parcours d’activités communautaires et des niveaux de maturité. Il se base sur des </a:t>
            </a:r>
            <a:r>
              <a:rPr lang="fr-FR" sz="1400" b="1" dirty="0"/>
              <a:t>hypothèses</a:t>
            </a:r>
            <a:r>
              <a:rPr lang="fr-FR" sz="1400" dirty="0"/>
              <a:t> concernant les prérequis de phases d’activités les unes par rapport aux autre</a:t>
            </a:r>
          </a:p>
          <a:p>
            <a:endParaRPr lang="fr-FR" sz="1400" dirty="0"/>
          </a:p>
          <a:p>
            <a:r>
              <a:rPr lang="fr-FR" sz="1400" dirty="0"/>
              <a:t>Dans certains cas, même s’il est rare que l’étape 6 (Exposition) et 1 (Inspiration) soient inversées dans le temps, il est possible que des phases proches dans le CCC aient besoin d’être abordées dans un ordre différent.</a:t>
            </a:r>
          </a:p>
          <a:p>
            <a:endParaRPr lang="fr-FR" sz="1400" dirty="0"/>
          </a:p>
          <a:p>
            <a:r>
              <a:rPr lang="fr-FR" sz="1400" dirty="0"/>
              <a:t>Cette partie traite des cas de phases « inversées » proches, par exemple 1 avec 2 (Inspiration avec Collecte), 2 avec 3, 3 avec 4, etc.</a:t>
            </a:r>
          </a:p>
          <a:p>
            <a:endParaRPr lang="fr-FR" sz="1400" dirty="0"/>
          </a:p>
          <a:p>
            <a:r>
              <a:rPr lang="fr-FR" sz="1400" dirty="0"/>
              <a:t>Nous </a:t>
            </a:r>
            <a:r>
              <a:rPr lang="fr-FR" sz="1400" b="1" dirty="0"/>
              <a:t>considérons ces cas comme RARES </a:t>
            </a:r>
            <a:r>
              <a:rPr lang="fr-FR" sz="1400" dirty="0"/>
              <a:t>et souhaitons toutefois prendre du recul sur le modèle afin de l’ouvrir pour des personnes plus expérimentées ou des contextes plus spécifiques.</a:t>
            </a:r>
          </a:p>
        </p:txBody>
      </p:sp>
      <p:sp>
        <p:nvSpPr>
          <p:cNvPr id="4" name="ZoneTexte 3">
            <a:extLst>
              <a:ext uri="{FF2B5EF4-FFF2-40B4-BE49-F238E27FC236}">
                <a16:creationId xmlns:a16="http://schemas.microsoft.com/office/drawing/2014/main" id="{8FE145DF-40F0-0B51-9796-D64EF77D7D90}"/>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#OSG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Pourquoi des inversions de phase ?</a:t>
            </a:r>
          </a:p>
        </p:txBody>
      </p:sp>
      <p:sp>
        <p:nvSpPr>
          <p:cNvPr id="14" name="Espace réservé du texte 15">
            <a:extLst>
              <a:ext uri="{FF2B5EF4-FFF2-40B4-BE49-F238E27FC236}">
                <a16:creationId xmlns:a16="http://schemas.microsoft.com/office/drawing/2014/main" id="{F5307F6F-703F-3697-EA2A-13A461C0A3B6}"/>
              </a:ext>
            </a:extLst>
          </p:cNvPr>
          <p:cNvSpPr txBox="1">
            <a:spLocks/>
          </p:cNvSpPr>
          <p:nvPr/>
        </p:nvSpPr>
        <p:spPr>
          <a:xfrm>
            <a:off x="6162675" y="2422284"/>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dirty="0">
                <a:solidFill>
                  <a:schemeClr val="bg1">
                    <a:lumMod val="50000"/>
                  </a:schemeClr>
                </a:solidFill>
              </a:rPr>
              <a:t>INSPIRATION</a:t>
            </a:r>
          </a:p>
          <a:p>
            <a:pPr marL="0" indent="0" algn="ctr">
              <a:buFont typeface="Arial" panose="020B0604020202020204" pitchFamily="34" charset="0"/>
              <a:buNone/>
            </a:pPr>
            <a:endParaRPr lang="fr-FR" sz="700" b="1" i="1" dirty="0">
              <a:solidFill>
                <a:schemeClr val="bg1">
                  <a:lumMod val="50000"/>
                </a:schemeClr>
              </a:solidFill>
            </a:endParaRPr>
          </a:p>
        </p:txBody>
      </p:sp>
      <p:sp>
        <p:nvSpPr>
          <p:cNvPr id="15" name="Espace réservé du texte 15">
            <a:extLst>
              <a:ext uri="{FF2B5EF4-FFF2-40B4-BE49-F238E27FC236}">
                <a16:creationId xmlns:a16="http://schemas.microsoft.com/office/drawing/2014/main" id="{1D1E4E26-D8D9-3E61-D126-F0AE09F3C4D2}"/>
              </a:ext>
            </a:extLst>
          </p:cNvPr>
          <p:cNvSpPr txBox="1">
            <a:spLocks/>
          </p:cNvSpPr>
          <p:nvPr/>
        </p:nvSpPr>
        <p:spPr>
          <a:xfrm>
            <a:off x="7012443" y="2422284"/>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COLLECTE</a:t>
            </a:r>
          </a:p>
          <a:p>
            <a:pPr marL="0" indent="0" algn="ctr">
              <a:buFont typeface="Arial" panose="020B0604020202020204" pitchFamily="34" charset="0"/>
              <a:buNone/>
            </a:pPr>
            <a:endParaRPr lang="fr-FR" sz="700" b="1" i="1">
              <a:solidFill>
                <a:srgbClr val="ED7D31"/>
              </a:solidFill>
            </a:endParaRPr>
          </a:p>
        </p:txBody>
      </p:sp>
      <p:sp>
        <p:nvSpPr>
          <p:cNvPr id="16" name="Espace réservé du texte 15">
            <a:extLst>
              <a:ext uri="{FF2B5EF4-FFF2-40B4-BE49-F238E27FC236}">
                <a16:creationId xmlns:a16="http://schemas.microsoft.com/office/drawing/2014/main" id="{6F29376F-4DFB-31EC-8029-E4BEC5F74B7D}"/>
              </a:ext>
            </a:extLst>
          </p:cNvPr>
          <p:cNvSpPr txBox="1">
            <a:spLocks/>
          </p:cNvSpPr>
          <p:nvPr/>
        </p:nvSpPr>
        <p:spPr>
          <a:xfrm>
            <a:off x="7862210" y="2422284"/>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INITIATION</a:t>
            </a:r>
          </a:p>
          <a:p>
            <a:pPr marL="0" indent="0" algn="ctr">
              <a:buFont typeface="Arial" panose="020B0604020202020204" pitchFamily="34" charset="0"/>
              <a:buNone/>
            </a:pPr>
            <a:endParaRPr lang="fr-FR" sz="700" b="1" i="1">
              <a:solidFill>
                <a:srgbClr val="ED7D31"/>
              </a:solidFill>
            </a:endParaRPr>
          </a:p>
        </p:txBody>
      </p:sp>
      <p:sp>
        <p:nvSpPr>
          <p:cNvPr id="17" name="Espace réservé du texte 15">
            <a:extLst>
              <a:ext uri="{FF2B5EF4-FFF2-40B4-BE49-F238E27FC236}">
                <a16:creationId xmlns:a16="http://schemas.microsoft.com/office/drawing/2014/main" id="{36C3E8A4-C475-C7F7-99B9-2364119E4449}"/>
              </a:ext>
            </a:extLst>
          </p:cNvPr>
          <p:cNvSpPr txBox="1">
            <a:spLocks/>
          </p:cNvSpPr>
          <p:nvPr/>
        </p:nvSpPr>
        <p:spPr>
          <a:xfrm>
            <a:off x="8711978" y="2422284"/>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CHOC DE LA RÉALITÉ</a:t>
            </a:r>
          </a:p>
          <a:p>
            <a:pPr marL="0" indent="0" algn="ctr">
              <a:buFont typeface="Arial" panose="020B0604020202020204" pitchFamily="34" charset="0"/>
              <a:buNone/>
            </a:pPr>
            <a:endParaRPr lang="fr-FR" sz="700" b="1" i="1">
              <a:solidFill>
                <a:schemeClr val="bg1">
                  <a:lumMod val="50000"/>
                </a:schemeClr>
              </a:solidFill>
            </a:endParaRPr>
          </a:p>
        </p:txBody>
      </p:sp>
      <p:sp>
        <p:nvSpPr>
          <p:cNvPr id="18" name="Espace réservé du texte 15">
            <a:extLst>
              <a:ext uri="{FF2B5EF4-FFF2-40B4-BE49-F238E27FC236}">
                <a16:creationId xmlns:a16="http://schemas.microsoft.com/office/drawing/2014/main" id="{CE50A3A5-5DF0-0D95-67EC-2AF0D5E06867}"/>
              </a:ext>
            </a:extLst>
          </p:cNvPr>
          <p:cNvSpPr txBox="1">
            <a:spLocks/>
          </p:cNvSpPr>
          <p:nvPr/>
        </p:nvSpPr>
        <p:spPr>
          <a:xfrm>
            <a:off x="9561745" y="2422284"/>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CONFIRMATION DE RÉUSSITES</a:t>
            </a:r>
          </a:p>
        </p:txBody>
      </p:sp>
      <p:sp>
        <p:nvSpPr>
          <p:cNvPr id="19" name="Espace réservé du texte 15">
            <a:extLst>
              <a:ext uri="{FF2B5EF4-FFF2-40B4-BE49-F238E27FC236}">
                <a16:creationId xmlns:a16="http://schemas.microsoft.com/office/drawing/2014/main" id="{D8849E01-B62D-D501-B439-E4A94CCE6895}"/>
              </a:ext>
            </a:extLst>
          </p:cNvPr>
          <p:cNvSpPr txBox="1">
            <a:spLocks/>
          </p:cNvSpPr>
          <p:nvPr/>
        </p:nvSpPr>
        <p:spPr>
          <a:xfrm>
            <a:off x="10411513" y="2422284"/>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EXPOSITION</a:t>
            </a:r>
          </a:p>
        </p:txBody>
      </p:sp>
      <p:sp>
        <p:nvSpPr>
          <p:cNvPr id="20" name="Espace réservé du texte 15">
            <a:extLst>
              <a:ext uri="{FF2B5EF4-FFF2-40B4-BE49-F238E27FC236}">
                <a16:creationId xmlns:a16="http://schemas.microsoft.com/office/drawing/2014/main" id="{96FE334B-045E-1EAF-D50E-548D3E2A4412}"/>
              </a:ext>
            </a:extLst>
          </p:cNvPr>
          <p:cNvSpPr txBox="1">
            <a:spLocks/>
          </p:cNvSpPr>
          <p:nvPr/>
        </p:nvSpPr>
        <p:spPr>
          <a:xfrm>
            <a:off x="11260939" y="2422284"/>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FORTIFICATION</a:t>
            </a:r>
          </a:p>
          <a:p>
            <a:pPr marL="0" indent="0" algn="ctr">
              <a:buFont typeface="Arial" panose="020B0604020202020204" pitchFamily="34" charset="0"/>
              <a:buNone/>
            </a:pPr>
            <a:endParaRPr lang="fr-FR" sz="700" b="1" i="1">
              <a:solidFill>
                <a:schemeClr val="bg1">
                  <a:lumMod val="50000"/>
                </a:schemeClr>
              </a:solidFill>
            </a:endParaRPr>
          </a:p>
        </p:txBody>
      </p:sp>
      <p:pic>
        <p:nvPicPr>
          <p:cNvPr id="7" name="Graphique 6" descr="Ampoule avec un remplissage uni">
            <a:extLst>
              <a:ext uri="{FF2B5EF4-FFF2-40B4-BE49-F238E27FC236}">
                <a16:creationId xmlns:a16="http://schemas.microsoft.com/office/drawing/2014/main" id="{2B3C797D-2528-B76F-4AA9-1B566D84615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33479" y="1931696"/>
            <a:ext cx="447172" cy="447173"/>
          </a:xfrm>
          <a:prstGeom prst="rect">
            <a:avLst/>
          </a:prstGeom>
        </p:spPr>
      </p:pic>
      <p:pic>
        <p:nvPicPr>
          <p:cNvPr id="8" name="Graphique 7" descr="Seau et pelle avec un remplissage uni">
            <a:extLst>
              <a:ext uri="{FF2B5EF4-FFF2-40B4-BE49-F238E27FC236}">
                <a16:creationId xmlns:a16="http://schemas.microsoft.com/office/drawing/2014/main" id="{27510572-EE85-C6DF-D36D-61D2B9C2B94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83246" y="1931696"/>
            <a:ext cx="447172" cy="447173"/>
          </a:xfrm>
          <a:prstGeom prst="rect">
            <a:avLst/>
          </a:prstGeom>
        </p:spPr>
      </p:pic>
      <p:pic>
        <p:nvPicPr>
          <p:cNvPr id="9" name="Graphique 8" descr="Tubes à essai avec un remplissage uni">
            <a:extLst>
              <a:ext uri="{FF2B5EF4-FFF2-40B4-BE49-F238E27FC236}">
                <a16:creationId xmlns:a16="http://schemas.microsoft.com/office/drawing/2014/main" id="{F11F779B-A81B-1565-3EEE-C355E9B4D13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31567" y="1931696"/>
            <a:ext cx="447172" cy="447173"/>
          </a:xfrm>
          <a:prstGeom prst="rect">
            <a:avLst/>
          </a:prstGeom>
        </p:spPr>
      </p:pic>
      <p:pic>
        <p:nvPicPr>
          <p:cNvPr id="10" name="Graphique 9" descr="Explosion avec un remplissage uni">
            <a:extLst>
              <a:ext uri="{FF2B5EF4-FFF2-40B4-BE49-F238E27FC236}">
                <a16:creationId xmlns:a16="http://schemas.microsoft.com/office/drawing/2014/main" id="{B37545AB-B8FE-EB35-F0FA-141DF955263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882611" y="1931696"/>
            <a:ext cx="447172" cy="447173"/>
          </a:xfrm>
          <a:prstGeom prst="rect">
            <a:avLst/>
          </a:prstGeom>
        </p:spPr>
      </p:pic>
      <p:pic>
        <p:nvPicPr>
          <p:cNvPr id="11" name="Graphique 10" descr="Trophée avec un remplissage uni">
            <a:extLst>
              <a:ext uri="{FF2B5EF4-FFF2-40B4-BE49-F238E27FC236}">
                <a16:creationId xmlns:a16="http://schemas.microsoft.com/office/drawing/2014/main" id="{73E1223E-F9D6-CC63-AAFF-D77E9626BB0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733655" y="1931696"/>
            <a:ext cx="447172" cy="447173"/>
          </a:xfrm>
          <a:prstGeom prst="rect">
            <a:avLst/>
          </a:prstGeom>
        </p:spPr>
      </p:pic>
      <p:pic>
        <p:nvPicPr>
          <p:cNvPr id="12" name="Graphique 11" descr="Assiette couverte avec un remplissage uni">
            <a:extLst>
              <a:ext uri="{FF2B5EF4-FFF2-40B4-BE49-F238E27FC236}">
                <a16:creationId xmlns:a16="http://schemas.microsoft.com/office/drawing/2014/main" id="{EFDB2001-107D-2304-5396-1732165E299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581975" y="1931696"/>
            <a:ext cx="447172" cy="447173"/>
          </a:xfrm>
          <a:prstGeom prst="rect">
            <a:avLst/>
          </a:prstGeom>
        </p:spPr>
      </p:pic>
      <p:pic>
        <p:nvPicPr>
          <p:cNvPr id="13" name="Graphique 12" descr="Scène de château avec un remplissage uni">
            <a:extLst>
              <a:ext uri="{FF2B5EF4-FFF2-40B4-BE49-F238E27FC236}">
                <a16:creationId xmlns:a16="http://schemas.microsoft.com/office/drawing/2014/main" id="{46DDDBBD-9A50-C788-7726-6F8B7125F26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430296" y="1931696"/>
            <a:ext cx="447172" cy="447173"/>
          </a:xfrm>
          <a:prstGeom prst="rect">
            <a:avLst/>
          </a:prstGeom>
        </p:spPr>
      </p:pic>
      <p:pic>
        <p:nvPicPr>
          <p:cNvPr id="22" name="Graphique 21" descr="Flèche : pivoter à gauche avec un remplissage uni">
            <a:extLst>
              <a:ext uri="{FF2B5EF4-FFF2-40B4-BE49-F238E27FC236}">
                <a16:creationId xmlns:a16="http://schemas.microsoft.com/office/drawing/2014/main" id="{502F63C6-283A-C356-21AF-48344F5F3E1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277228">
            <a:off x="7304433" y="1431265"/>
            <a:ext cx="682119" cy="682119"/>
          </a:xfrm>
          <a:prstGeom prst="rect">
            <a:avLst/>
          </a:prstGeom>
        </p:spPr>
      </p:pic>
      <p:pic>
        <p:nvPicPr>
          <p:cNvPr id="23" name="Graphique 22" descr="Flèche : pivoter à gauche avec un remplissage uni">
            <a:extLst>
              <a:ext uri="{FF2B5EF4-FFF2-40B4-BE49-F238E27FC236}">
                <a16:creationId xmlns:a16="http://schemas.microsoft.com/office/drawing/2014/main" id="{D7C596FB-41CA-9102-4824-58AE1EE1D846}"/>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9700082" flipV="1">
            <a:off x="7684934" y="1434087"/>
            <a:ext cx="682119" cy="645228"/>
          </a:xfrm>
          <a:prstGeom prst="rect">
            <a:avLst/>
          </a:prstGeom>
        </p:spPr>
      </p:pic>
    </p:spTree>
    <p:extLst>
      <p:ext uri="{BB962C8B-B14F-4D97-AF65-F5344CB8AC3E}">
        <p14:creationId xmlns:p14="http://schemas.microsoft.com/office/powerpoint/2010/main" val="309604141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7AFBAB5-8CDC-EF94-64F2-D7957CDC9F8A}"/>
              </a:ext>
            </a:extLst>
          </p:cNvPr>
          <p:cNvSpPr>
            <a:spLocks noGrp="1"/>
          </p:cNvSpPr>
          <p:nvPr>
            <p:ph idx="1"/>
          </p:nvPr>
        </p:nvSpPr>
        <p:spPr>
          <a:xfrm>
            <a:off x="390525" y="2355388"/>
            <a:ext cx="3714750" cy="4351338"/>
          </a:xfrm>
          <a:solidFill>
            <a:schemeClr val="accent1"/>
          </a:solidFill>
        </p:spPr>
        <p:txBody>
          <a:bodyPr>
            <a:normAutofit/>
          </a:bodyPr>
          <a:lstStyle/>
          <a:p>
            <a:pPr marL="0" indent="0" algn="ctr">
              <a:buNone/>
            </a:pPr>
            <a:r>
              <a:rPr lang="fr-FR" sz="1800" b="1" dirty="0"/>
              <a:t>Dans quels cas cela peut-il arriver ?</a:t>
            </a:r>
          </a:p>
        </p:txBody>
      </p:sp>
      <p:sp>
        <p:nvSpPr>
          <p:cNvPr id="4" name="ZoneTexte 3">
            <a:extLst>
              <a:ext uri="{FF2B5EF4-FFF2-40B4-BE49-F238E27FC236}">
                <a16:creationId xmlns:a16="http://schemas.microsoft.com/office/drawing/2014/main" id="{8FE145DF-40F0-0B51-9796-D64EF77D7D90}"/>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#OSG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Inversion Inspiration </a:t>
            </a:r>
            <a:r>
              <a:rPr lang="fr-FR" sz="2400" b="1" i="1" dirty="0">
                <a:sym typeface="Wingdings" panose="05000000000000000000" pitchFamily="2" charset="2"/>
              </a:rPr>
              <a:t> Collecte</a:t>
            </a:r>
            <a:endParaRPr lang="fr-FR" sz="2400" b="1" i="1" dirty="0"/>
          </a:p>
        </p:txBody>
      </p:sp>
      <p:sp>
        <p:nvSpPr>
          <p:cNvPr id="2" name="Espace réservé du contenu 2">
            <a:extLst>
              <a:ext uri="{FF2B5EF4-FFF2-40B4-BE49-F238E27FC236}">
                <a16:creationId xmlns:a16="http://schemas.microsoft.com/office/drawing/2014/main" id="{E29165CC-BEE2-C587-DD82-6531D99D035B}"/>
              </a:ext>
            </a:extLst>
          </p:cNvPr>
          <p:cNvSpPr txBox="1">
            <a:spLocks/>
          </p:cNvSpPr>
          <p:nvPr/>
        </p:nvSpPr>
        <p:spPr>
          <a:xfrm>
            <a:off x="4205287" y="2355388"/>
            <a:ext cx="3714750" cy="4351338"/>
          </a:xfrm>
          <a:prstGeom prst="rect">
            <a:avLst/>
          </a:prstGeom>
          <a:solidFill>
            <a:schemeClr val="bg1">
              <a:lumMod val="8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800" b="1" dirty="0"/>
              <a:t>Que peut-il se passer si on n’opère pas l’inversion ?</a:t>
            </a:r>
          </a:p>
        </p:txBody>
      </p:sp>
      <p:sp>
        <p:nvSpPr>
          <p:cNvPr id="5" name="Espace réservé du contenu 2">
            <a:extLst>
              <a:ext uri="{FF2B5EF4-FFF2-40B4-BE49-F238E27FC236}">
                <a16:creationId xmlns:a16="http://schemas.microsoft.com/office/drawing/2014/main" id="{C495255B-9037-AFED-6595-3B63B89A5C32}"/>
              </a:ext>
            </a:extLst>
          </p:cNvPr>
          <p:cNvSpPr txBox="1">
            <a:spLocks/>
          </p:cNvSpPr>
          <p:nvPr/>
        </p:nvSpPr>
        <p:spPr>
          <a:xfrm>
            <a:off x="8181975" y="2355388"/>
            <a:ext cx="3714750" cy="4351338"/>
          </a:xfrm>
          <a:prstGeom prst="rect">
            <a:avLst/>
          </a:prstGeom>
          <a:solidFill>
            <a:srgbClr val="ED7D3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800" b="1" dirty="0"/>
              <a:t>Que peut-on faire ?</a:t>
            </a:r>
          </a:p>
        </p:txBody>
      </p:sp>
      <p:sp>
        <p:nvSpPr>
          <p:cNvPr id="6" name="Espace réservé du texte 15">
            <a:extLst>
              <a:ext uri="{FF2B5EF4-FFF2-40B4-BE49-F238E27FC236}">
                <a16:creationId xmlns:a16="http://schemas.microsoft.com/office/drawing/2014/main" id="{06D41F41-5B34-2AA8-BBE3-77F3FA5CE579}"/>
              </a:ext>
            </a:extLst>
          </p:cNvPr>
          <p:cNvSpPr txBox="1">
            <a:spLocks/>
          </p:cNvSpPr>
          <p:nvPr/>
        </p:nvSpPr>
        <p:spPr>
          <a:xfrm>
            <a:off x="2667176" y="1959046"/>
            <a:ext cx="788780" cy="242359"/>
          </a:xfrm>
          <a:prstGeom prst="rect">
            <a:avLst/>
          </a:prstGeom>
          <a:solidFill>
            <a:schemeClr val="bg1">
              <a:lumMod val="95000"/>
            </a:schemeClr>
          </a:solidFill>
        </p:spPr>
        <p:txBody>
          <a:bodyPr vert="horz" lIns="91440" tIns="45720" rIns="91440" bIns="45720" rtlCol="0">
            <a:noAutofit/>
          </a:bodyPr>
          <a:lstStyle>
            <a:defPPr>
              <a:defRPr lang="fr-FR"/>
            </a:defPPr>
            <a:lvl1pPr indent="0" algn="ctr">
              <a:lnSpc>
                <a:spcPct val="90000"/>
              </a:lnSpc>
              <a:spcBef>
                <a:spcPts val="1000"/>
              </a:spcBef>
              <a:buFont typeface="Arial" panose="020B0604020202020204" pitchFamily="34" charset="0"/>
              <a:buNone/>
              <a:defRPr sz="700" b="1" i="1">
                <a:solidFill>
                  <a:srgbClr val="0683AA"/>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dirty="0"/>
              <a:t>INSPIRATION</a:t>
            </a:r>
          </a:p>
          <a:p>
            <a:endParaRPr lang="fr-FR" dirty="0"/>
          </a:p>
        </p:txBody>
      </p:sp>
      <p:sp>
        <p:nvSpPr>
          <p:cNvPr id="7" name="Espace réservé du texte 15">
            <a:extLst>
              <a:ext uri="{FF2B5EF4-FFF2-40B4-BE49-F238E27FC236}">
                <a16:creationId xmlns:a16="http://schemas.microsoft.com/office/drawing/2014/main" id="{AE7CAD2B-C51C-CA30-BDF8-B37660069D02}"/>
              </a:ext>
            </a:extLst>
          </p:cNvPr>
          <p:cNvSpPr txBox="1">
            <a:spLocks/>
          </p:cNvSpPr>
          <p:nvPr/>
        </p:nvSpPr>
        <p:spPr>
          <a:xfrm>
            <a:off x="3516944"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COLLECTE</a:t>
            </a:r>
          </a:p>
          <a:p>
            <a:pPr marL="0" indent="0" algn="ctr">
              <a:buFont typeface="Arial" panose="020B0604020202020204" pitchFamily="34" charset="0"/>
              <a:buNone/>
            </a:pPr>
            <a:endParaRPr lang="fr-FR" sz="700" b="1" i="1">
              <a:solidFill>
                <a:srgbClr val="ED7D31"/>
              </a:solidFill>
            </a:endParaRPr>
          </a:p>
        </p:txBody>
      </p:sp>
      <p:sp>
        <p:nvSpPr>
          <p:cNvPr id="8" name="Espace réservé du texte 15">
            <a:extLst>
              <a:ext uri="{FF2B5EF4-FFF2-40B4-BE49-F238E27FC236}">
                <a16:creationId xmlns:a16="http://schemas.microsoft.com/office/drawing/2014/main" id="{574D2FE8-D154-7AB9-EA3C-595060F6C3A1}"/>
              </a:ext>
            </a:extLst>
          </p:cNvPr>
          <p:cNvSpPr txBox="1">
            <a:spLocks/>
          </p:cNvSpPr>
          <p:nvPr/>
        </p:nvSpPr>
        <p:spPr>
          <a:xfrm>
            <a:off x="4366711"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INITIATION</a:t>
            </a:r>
          </a:p>
          <a:p>
            <a:pPr marL="0" indent="0" algn="ctr">
              <a:buFont typeface="Arial" panose="020B0604020202020204" pitchFamily="34" charset="0"/>
              <a:buNone/>
            </a:pPr>
            <a:endParaRPr lang="fr-FR" sz="700" b="1" i="1">
              <a:solidFill>
                <a:srgbClr val="ED7D31"/>
              </a:solidFill>
            </a:endParaRPr>
          </a:p>
        </p:txBody>
      </p:sp>
      <p:sp>
        <p:nvSpPr>
          <p:cNvPr id="9" name="Espace réservé du texte 15">
            <a:extLst>
              <a:ext uri="{FF2B5EF4-FFF2-40B4-BE49-F238E27FC236}">
                <a16:creationId xmlns:a16="http://schemas.microsoft.com/office/drawing/2014/main" id="{2639D125-A001-E995-F563-F180B1AA5300}"/>
              </a:ext>
            </a:extLst>
          </p:cNvPr>
          <p:cNvSpPr txBox="1">
            <a:spLocks/>
          </p:cNvSpPr>
          <p:nvPr/>
        </p:nvSpPr>
        <p:spPr>
          <a:xfrm>
            <a:off x="5216479"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CHOC DE LA RÉALITÉ</a:t>
            </a:r>
          </a:p>
          <a:p>
            <a:pPr marL="0" indent="0" algn="ctr">
              <a:buFont typeface="Arial" panose="020B0604020202020204" pitchFamily="34" charset="0"/>
              <a:buNone/>
            </a:pPr>
            <a:endParaRPr lang="fr-FR" sz="700" b="1" i="1">
              <a:solidFill>
                <a:schemeClr val="bg1">
                  <a:lumMod val="50000"/>
                </a:schemeClr>
              </a:solidFill>
            </a:endParaRPr>
          </a:p>
        </p:txBody>
      </p:sp>
      <p:sp>
        <p:nvSpPr>
          <p:cNvPr id="10" name="Espace réservé du texte 15">
            <a:extLst>
              <a:ext uri="{FF2B5EF4-FFF2-40B4-BE49-F238E27FC236}">
                <a16:creationId xmlns:a16="http://schemas.microsoft.com/office/drawing/2014/main" id="{11EA6E91-E4C3-D7C3-51E4-30C17BF4B0B8}"/>
              </a:ext>
            </a:extLst>
          </p:cNvPr>
          <p:cNvSpPr txBox="1">
            <a:spLocks/>
          </p:cNvSpPr>
          <p:nvPr/>
        </p:nvSpPr>
        <p:spPr>
          <a:xfrm>
            <a:off x="6066246"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CONFIRMATION DE RÉUSSITES</a:t>
            </a:r>
          </a:p>
        </p:txBody>
      </p:sp>
      <p:sp>
        <p:nvSpPr>
          <p:cNvPr id="11" name="Espace réservé du texte 15">
            <a:extLst>
              <a:ext uri="{FF2B5EF4-FFF2-40B4-BE49-F238E27FC236}">
                <a16:creationId xmlns:a16="http://schemas.microsoft.com/office/drawing/2014/main" id="{292087BE-5ABD-6690-35FC-76053B9B3A33}"/>
              </a:ext>
            </a:extLst>
          </p:cNvPr>
          <p:cNvSpPr txBox="1">
            <a:spLocks/>
          </p:cNvSpPr>
          <p:nvPr/>
        </p:nvSpPr>
        <p:spPr>
          <a:xfrm>
            <a:off x="6916014"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EXPOSITION</a:t>
            </a:r>
          </a:p>
        </p:txBody>
      </p:sp>
      <p:sp>
        <p:nvSpPr>
          <p:cNvPr id="12" name="Espace réservé du texte 15">
            <a:extLst>
              <a:ext uri="{FF2B5EF4-FFF2-40B4-BE49-F238E27FC236}">
                <a16:creationId xmlns:a16="http://schemas.microsoft.com/office/drawing/2014/main" id="{65E7E1F8-C9BA-3E04-1935-BE0ACAE63DC8}"/>
              </a:ext>
            </a:extLst>
          </p:cNvPr>
          <p:cNvSpPr txBox="1">
            <a:spLocks/>
          </p:cNvSpPr>
          <p:nvPr/>
        </p:nvSpPr>
        <p:spPr>
          <a:xfrm>
            <a:off x="7765440"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FORTIFICATION</a:t>
            </a:r>
          </a:p>
          <a:p>
            <a:pPr marL="0" indent="0" algn="ctr">
              <a:buFont typeface="Arial" panose="020B0604020202020204" pitchFamily="34" charset="0"/>
              <a:buNone/>
            </a:pPr>
            <a:endParaRPr lang="fr-FR" sz="700" b="1" i="1">
              <a:solidFill>
                <a:schemeClr val="bg1">
                  <a:lumMod val="50000"/>
                </a:schemeClr>
              </a:solidFill>
            </a:endParaRPr>
          </a:p>
        </p:txBody>
      </p:sp>
      <p:pic>
        <p:nvPicPr>
          <p:cNvPr id="13" name="Graphique 12" descr="Ampoule avec un remplissage uni">
            <a:extLst>
              <a:ext uri="{FF2B5EF4-FFF2-40B4-BE49-F238E27FC236}">
                <a16:creationId xmlns:a16="http://schemas.microsoft.com/office/drawing/2014/main" id="{E977F3EE-2C86-D0A7-A334-2017D89EF33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37980" y="1468458"/>
            <a:ext cx="447172" cy="447173"/>
          </a:xfrm>
          <a:prstGeom prst="rect">
            <a:avLst/>
          </a:prstGeom>
        </p:spPr>
      </p:pic>
      <p:pic>
        <p:nvPicPr>
          <p:cNvPr id="14" name="Graphique 13" descr="Seau et pelle avec un remplissage uni">
            <a:extLst>
              <a:ext uri="{FF2B5EF4-FFF2-40B4-BE49-F238E27FC236}">
                <a16:creationId xmlns:a16="http://schemas.microsoft.com/office/drawing/2014/main" id="{DE7B9F99-6E97-800F-98C7-F4100B085EE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87747" y="1468458"/>
            <a:ext cx="447172" cy="447173"/>
          </a:xfrm>
          <a:prstGeom prst="rect">
            <a:avLst/>
          </a:prstGeom>
        </p:spPr>
      </p:pic>
      <p:pic>
        <p:nvPicPr>
          <p:cNvPr id="15" name="Graphique 14" descr="Tubes à essai avec un remplissage uni">
            <a:extLst>
              <a:ext uri="{FF2B5EF4-FFF2-40B4-BE49-F238E27FC236}">
                <a16:creationId xmlns:a16="http://schemas.microsoft.com/office/drawing/2014/main" id="{F003097A-7255-A03D-35D8-50DC293B5B7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36068" y="1468458"/>
            <a:ext cx="447172" cy="447173"/>
          </a:xfrm>
          <a:prstGeom prst="rect">
            <a:avLst/>
          </a:prstGeom>
        </p:spPr>
      </p:pic>
      <p:pic>
        <p:nvPicPr>
          <p:cNvPr id="16" name="Graphique 15" descr="Explosion avec un remplissage uni">
            <a:extLst>
              <a:ext uri="{FF2B5EF4-FFF2-40B4-BE49-F238E27FC236}">
                <a16:creationId xmlns:a16="http://schemas.microsoft.com/office/drawing/2014/main" id="{11E350AE-C742-70D6-81DE-61CCA084A57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387112" y="1468458"/>
            <a:ext cx="447172" cy="447173"/>
          </a:xfrm>
          <a:prstGeom prst="rect">
            <a:avLst/>
          </a:prstGeom>
        </p:spPr>
      </p:pic>
      <p:pic>
        <p:nvPicPr>
          <p:cNvPr id="17" name="Graphique 16" descr="Trophée avec un remplissage uni">
            <a:extLst>
              <a:ext uri="{FF2B5EF4-FFF2-40B4-BE49-F238E27FC236}">
                <a16:creationId xmlns:a16="http://schemas.microsoft.com/office/drawing/2014/main" id="{2FDCA2EC-12AA-68B9-E8ED-9124C116462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238156" y="1468458"/>
            <a:ext cx="447172" cy="447173"/>
          </a:xfrm>
          <a:prstGeom prst="rect">
            <a:avLst/>
          </a:prstGeom>
        </p:spPr>
      </p:pic>
      <p:pic>
        <p:nvPicPr>
          <p:cNvPr id="18" name="Graphique 17" descr="Assiette couverte avec un remplissage uni">
            <a:extLst>
              <a:ext uri="{FF2B5EF4-FFF2-40B4-BE49-F238E27FC236}">
                <a16:creationId xmlns:a16="http://schemas.microsoft.com/office/drawing/2014/main" id="{77A107F2-8A64-D7CD-6AB2-AF58657BCA6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086476" y="1468458"/>
            <a:ext cx="447172" cy="447173"/>
          </a:xfrm>
          <a:prstGeom prst="rect">
            <a:avLst/>
          </a:prstGeom>
        </p:spPr>
      </p:pic>
      <p:pic>
        <p:nvPicPr>
          <p:cNvPr id="19" name="Graphique 18" descr="Scène de château avec un remplissage uni">
            <a:extLst>
              <a:ext uri="{FF2B5EF4-FFF2-40B4-BE49-F238E27FC236}">
                <a16:creationId xmlns:a16="http://schemas.microsoft.com/office/drawing/2014/main" id="{66AC0276-F073-CA6D-9D8D-75651E22023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934797" y="1468458"/>
            <a:ext cx="447172" cy="447173"/>
          </a:xfrm>
          <a:prstGeom prst="rect">
            <a:avLst/>
          </a:prstGeom>
        </p:spPr>
      </p:pic>
      <p:pic>
        <p:nvPicPr>
          <p:cNvPr id="20" name="Graphique 19" descr="Flèche : pivoter à gauche avec un remplissage uni">
            <a:extLst>
              <a:ext uri="{FF2B5EF4-FFF2-40B4-BE49-F238E27FC236}">
                <a16:creationId xmlns:a16="http://schemas.microsoft.com/office/drawing/2014/main" id="{19276E6A-5FC0-AF90-8725-75561EEB72B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277228">
            <a:off x="2985415" y="917346"/>
            <a:ext cx="682119" cy="682119"/>
          </a:xfrm>
          <a:prstGeom prst="rect">
            <a:avLst/>
          </a:prstGeom>
        </p:spPr>
      </p:pic>
      <p:pic>
        <p:nvPicPr>
          <p:cNvPr id="21" name="Graphique 20" descr="Flèche : pivoter à gauche avec un remplissage uni">
            <a:extLst>
              <a:ext uri="{FF2B5EF4-FFF2-40B4-BE49-F238E27FC236}">
                <a16:creationId xmlns:a16="http://schemas.microsoft.com/office/drawing/2014/main" id="{4FD139EB-5C95-B412-819A-1B6BF62AE03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9700082" flipV="1">
            <a:off x="3365916" y="920168"/>
            <a:ext cx="682119" cy="645228"/>
          </a:xfrm>
          <a:prstGeom prst="rect">
            <a:avLst/>
          </a:prstGeom>
        </p:spPr>
      </p:pic>
    </p:spTree>
    <p:extLst>
      <p:ext uri="{BB962C8B-B14F-4D97-AF65-F5344CB8AC3E}">
        <p14:creationId xmlns:p14="http://schemas.microsoft.com/office/powerpoint/2010/main" val="376579781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7AFBAB5-8CDC-EF94-64F2-D7957CDC9F8A}"/>
              </a:ext>
            </a:extLst>
          </p:cNvPr>
          <p:cNvSpPr>
            <a:spLocks noGrp="1"/>
          </p:cNvSpPr>
          <p:nvPr>
            <p:ph idx="1"/>
          </p:nvPr>
        </p:nvSpPr>
        <p:spPr>
          <a:xfrm>
            <a:off x="390525" y="2355388"/>
            <a:ext cx="3714750" cy="4351338"/>
          </a:xfrm>
          <a:solidFill>
            <a:schemeClr val="accent1"/>
          </a:solidFill>
        </p:spPr>
        <p:txBody>
          <a:bodyPr>
            <a:normAutofit/>
          </a:bodyPr>
          <a:lstStyle/>
          <a:p>
            <a:pPr marL="0" indent="0" algn="ctr">
              <a:buNone/>
            </a:pPr>
            <a:r>
              <a:rPr lang="fr-FR" sz="1800" b="1" dirty="0"/>
              <a:t>Dans quels cas cela peut-il arriver ?</a:t>
            </a:r>
          </a:p>
        </p:txBody>
      </p:sp>
      <p:sp>
        <p:nvSpPr>
          <p:cNvPr id="4" name="ZoneTexte 3">
            <a:extLst>
              <a:ext uri="{FF2B5EF4-FFF2-40B4-BE49-F238E27FC236}">
                <a16:creationId xmlns:a16="http://schemas.microsoft.com/office/drawing/2014/main" id="{8FE145DF-40F0-0B51-9796-D64EF77D7D90}"/>
              </a:ext>
            </a:extLst>
          </p:cNvPr>
          <p:cNvSpPr txBox="1"/>
          <p:nvPr/>
        </p:nvSpPr>
        <p:spPr>
          <a:xfrm>
            <a:off x="0" y="1"/>
            <a:ext cx="12192000" cy="954107"/>
          </a:xfrm>
          <a:prstGeom prst="rect">
            <a:avLst/>
          </a:prstGeom>
          <a:noFill/>
        </p:spPr>
        <p:txBody>
          <a:bodyPr wrap="square" rtlCol="0">
            <a:spAutoFit/>
          </a:bodyPr>
          <a:lstStyle/>
          <a:p>
            <a:pPr algn="ctr"/>
            <a:r>
              <a:rPr lang="fr-FR" sz="3200" b="1" i="1" dirty="0">
                <a:solidFill>
                  <a:srgbClr val="0683AA"/>
                </a:solidFill>
              </a:rPr>
              <a:t>#OSG </a:t>
            </a:r>
            <a:r>
              <a:rPr lang="fr-FR" sz="3200" b="1" i="1" dirty="0">
                <a:solidFill>
                  <a:srgbClr val="ED7D31"/>
                </a:solidFill>
              </a:rPr>
              <a:t>Change </a:t>
            </a:r>
            <a:r>
              <a:rPr lang="fr-FR" sz="3200" b="1" i="1" dirty="0">
                <a:solidFill>
                  <a:srgbClr val="0683AA"/>
                </a:solidFill>
              </a:rPr>
              <a:t>Community </a:t>
            </a:r>
            <a:r>
              <a:rPr lang="fr-FR" sz="3200" b="1" i="1" dirty="0"/>
              <a:t>Cycle</a:t>
            </a:r>
          </a:p>
          <a:p>
            <a:pPr algn="ctr"/>
            <a:r>
              <a:rPr lang="fr-FR" sz="2400" b="1" i="1" dirty="0"/>
              <a:t>Inversion Inspiration </a:t>
            </a:r>
            <a:r>
              <a:rPr lang="fr-FR" sz="2400" b="1" i="1" dirty="0">
                <a:sym typeface="Wingdings" panose="05000000000000000000" pitchFamily="2" charset="2"/>
              </a:rPr>
              <a:t> Collecte</a:t>
            </a:r>
            <a:endParaRPr lang="fr-FR" sz="2400" b="1" i="1" dirty="0"/>
          </a:p>
        </p:txBody>
      </p:sp>
      <p:sp>
        <p:nvSpPr>
          <p:cNvPr id="2" name="Espace réservé du contenu 2">
            <a:extLst>
              <a:ext uri="{FF2B5EF4-FFF2-40B4-BE49-F238E27FC236}">
                <a16:creationId xmlns:a16="http://schemas.microsoft.com/office/drawing/2014/main" id="{E29165CC-BEE2-C587-DD82-6531D99D035B}"/>
              </a:ext>
            </a:extLst>
          </p:cNvPr>
          <p:cNvSpPr txBox="1">
            <a:spLocks/>
          </p:cNvSpPr>
          <p:nvPr/>
        </p:nvSpPr>
        <p:spPr>
          <a:xfrm>
            <a:off x="4205287" y="2355388"/>
            <a:ext cx="3714750" cy="4351338"/>
          </a:xfrm>
          <a:prstGeom prst="rect">
            <a:avLst/>
          </a:prstGeom>
          <a:solidFill>
            <a:schemeClr val="bg1">
              <a:lumMod val="8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800" b="1" dirty="0"/>
              <a:t>Que peut-il se passer si on n’opère pas l’inversion ?</a:t>
            </a:r>
          </a:p>
        </p:txBody>
      </p:sp>
      <p:sp>
        <p:nvSpPr>
          <p:cNvPr id="5" name="Espace réservé du contenu 2">
            <a:extLst>
              <a:ext uri="{FF2B5EF4-FFF2-40B4-BE49-F238E27FC236}">
                <a16:creationId xmlns:a16="http://schemas.microsoft.com/office/drawing/2014/main" id="{C495255B-9037-AFED-6595-3B63B89A5C32}"/>
              </a:ext>
            </a:extLst>
          </p:cNvPr>
          <p:cNvSpPr txBox="1">
            <a:spLocks/>
          </p:cNvSpPr>
          <p:nvPr/>
        </p:nvSpPr>
        <p:spPr>
          <a:xfrm>
            <a:off x="8181975" y="2355388"/>
            <a:ext cx="3714750" cy="4351338"/>
          </a:xfrm>
          <a:prstGeom prst="rect">
            <a:avLst/>
          </a:prstGeom>
          <a:solidFill>
            <a:srgbClr val="ED7D3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800" b="1" dirty="0"/>
              <a:t>Que peut-on faire ?</a:t>
            </a:r>
          </a:p>
        </p:txBody>
      </p:sp>
      <p:sp>
        <p:nvSpPr>
          <p:cNvPr id="6" name="Espace réservé du texte 15">
            <a:extLst>
              <a:ext uri="{FF2B5EF4-FFF2-40B4-BE49-F238E27FC236}">
                <a16:creationId xmlns:a16="http://schemas.microsoft.com/office/drawing/2014/main" id="{06D41F41-5B34-2AA8-BBE3-77F3FA5CE579}"/>
              </a:ext>
            </a:extLst>
          </p:cNvPr>
          <p:cNvSpPr txBox="1">
            <a:spLocks/>
          </p:cNvSpPr>
          <p:nvPr/>
        </p:nvSpPr>
        <p:spPr>
          <a:xfrm>
            <a:off x="2667176"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dirty="0">
                <a:solidFill>
                  <a:schemeClr val="bg1">
                    <a:lumMod val="50000"/>
                  </a:schemeClr>
                </a:solidFill>
              </a:rPr>
              <a:t>INSPIRATION</a:t>
            </a:r>
          </a:p>
          <a:p>
            <a:pPr marL="0" indent="0" algn="ctr">
              <a:buFont typeface="Arial" panose="020B0604020202020204" pitchFamily="34" charset="0"/>
              <a:buNone/>
            </a:pPr>
            <a:endParaRPr lang="fr-FR" sz="700" b="1" i="1" dirty="0">
              <a:solidFill>
                <a:schemeClr val="bg1">
                  <a:lumMod val="50000"/>
                </a:schemeClr>
              </a:solidFill>
            </a:endParaRPr>
          </a:p>
        </p:txBody>
      </p:sp>
      <p:sp>
        <p:nvSpPr>
          <p:cNvPr id="7" name="Espace réservé du texte 15">
            <a:extLst>
              <a:ext uri="{FF2B5EF4-FFF2-40B4-BE49-F238E27FC236}">
                <a16:creationId xmlns:a16="http://schemas.microsoft.com/office/drawing/2014/main" id="{AE7CAD2B-C51C-CA30-BDF8-B37660069D02}"/>
              </a:ext>
            </a:extLst>
          </p:cNvPr>
          <p:cNvSpPr txBox="1">
            <a:spLocks/>
          </p:cNvSpPr>
          <p:nvPr/>
        </p:nvSpPr>
        <p:spPr>
          <a:xfrm>
            <a:off x="3516944"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COLLECTE</a:t>
            </a:r>
          </a:p>
          <a:p>
            <a:pPr marL="0" indent="0" algn="ctr">
              <a:buFont typeface="Arial" panose="020B0604020202020204" pitchFamily="34" charset="0"/>
              <a:buNone/>
            </a:pPr>
            <a:endParaRPr lang="fr-FR" sz="700" b="1" i="1">
              <a:solidFill>
                <a:srgbClr val="ED7D31"/>
              </a:solidFill>
            </a:endParaRPr>
          </a:p>
        </p:txBody>
      </p:sp>
      <p:sp>
        <p:nvSpPr>
          <p:cNvPr id="8" name="Espace réservé du texte 15">
            <a:extLst>
              <a:ext uri="{FF2B5EF4-FFF2-40B4-BE49-F238E27FC236}">
                <a16:creationId xmlns:a16="http://schemas.microsoft.com/office/drawing/2014/main" id="{574D2FE8-D154-7AB9-EA3C-595060F6C3A1}"/>
              </a:ext>
            </a:extLst>
          </p:cNvPr>
          <p:cNvSpPr txBox="1">
            <a:spLocks/>
          </p:cNvSpPr>
          <p:nvPr/>
        </p:nvSpPr>
        <p:spPr>
          <a:xfrm>
            <a:off x="4366711"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rgbClr val="0683AA"/>
                </a:solidFill>
              </a:rPr>
              <a:t>INITIATION</a:t>
            </a:r>
          </a:p>
          <a:p>
            <a:pPr marL="0" indent="0" algn="ctr">
              <a:buFont typeface="Arial" panose="020B0604020202020204" pitchFamily="34" charset="0"/>
              <a:buNone/>
            </a:pPr>
            <a:endParaRPr lang="fr-FR" sz="700" b="1" i="1">
              <a:solidFill>
                <a:srgbClr val="ED7D31"/>
              </a:solidFill>
            </a:endParaRPr>
          </a:p>
        </p:txBody>
      </p:sp>
      <p:sp>
        <p:nvSpPr>
          <p:cNvPr id="9" name="Espace réservé du texte 15">
            <a:extLst>
              <a:ext uri="{FF2B5EF4-FFF2-40B4-BE49-F238E27FC236}">
                <a16:creationId xmlns:a16="http://schemas.microsoft.com/office/drawing/2014/main" id="{2639D125-A001-E995-F563-F180B1AA5300}"/>
              </a:ext>
            </a:extLst>
          </p:cNvPr>
          <p:cNvSpPr txBox="1">
            <a:spLocks/>
          </p:cNvSpPr>
          <p:nvPr/>
        </p:nvSpPr>
        <p:spPr>
          <a:xfrm>
            <a:off x="5216479"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CHOC DE LA RÉALITÉ</a:t>
            </a:r>
          </a:p>
          <a:p>
            <a:pPr marL="0" indent="0" algn="ctr">
              <a:buFont typeface="Arial" panose="020B0604020202020204" pitchFamily="34" charset="0"/>
              <a:buNone/>
            </a:pPr>
            <a:endParaRPr lang="fr-FR" sz="700" b="1" i="1">
              <a:solidFill>
                <a:schemeClr val="bg1">
                  <a:lumMod val="50000"/>
                </a:schemeClr>
              </a:solidFill>
            </a:endParaRPr>
          </a:p>
        </p:txBody>
      </p:sp>
      <p:sp>
        <p:nvSpPr>
          <p:cNvPr id="10" name="Espace réservé du texte 15">
            <a:extLst>
              <a:ext uri="{FF2B5EF4-FFF2-40B4-BE49-F238E27FC236}">
                <a16:creationId xmlns:a16="http://schemas.microsoft.com/office/drawing/2014/main" id="{11EA6E91-E4C3-D7C3-51E4-30C17BF4B0B8}"/>
              </a:ext>
            </a:extLst>
          </p:cNvPr>
          <p:cNvSpPr txBox="1">
            <a:spLocks/>
          </p:cNvSpPr>
          <p:nvPr/>
        </p:nvSpPr>
        <p:spPr>
          <a:xfrm>
            <a:off x="6066246"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CONFIRMATION DE RÉUSSITES</a:t>
            </a:r>
          </a:p>
        </p:txBody>
      </p:sp>
      <p:sp>
        <p:nvSpPr>
          <p:cNvPr id="11" name="Espace réservé du texte 15">
            <a:extLst>
              <a:ext uri="{FF2B5EF4-FFF2-40B4-BE49-F238E27FC236}">
                <a16:creationId xmlns:a16="http://schemas.microsoft.com/office/drawing/2014/main" id="{292087BE-5ABD-6690-35FC-76053B9B3A33}"/>
              </a:ext>
            </a:extLst>
          </p:cNvPr>
          <p:cNvSpPr txBox="1">
            <a:spLocks/>
          </p:cNvSpPr>
          <p:nvPr/>
        </p:nvSpPr>
        <p:spPr>
          <a:xfrm>
            <a:off x="6916014"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EXPOSITION</a:t>
            </a:r>
          </a:p>
        </p:txBody>
      </p:sp>
      <p:sp>
        <p:nvSpPr>
          <p:cNvPr id="12" name="Espace réservé du texte 15">
            <a:extLst>
              <a:ext uri="{FF2B5EF4-FFF2-40B4-BE49-F238E27FC236}">
                <a16:creationId xmlns:a16="http://schemas.microsoft.com/office/drawing/2014/main" id="{65E7E1F8-C9BA-3E04-1935-BE0ACAE63DC8}"/>
              </a:ext>
            </a:extLst>
          </p:cNvPr>
          <p:cNvSpPr txBox="1">
            <a:spLocks/>
          </p:cNvSpPr>
          <p:nvPr/>
        </p:nvSpPr>
        <p:spPr>
          <a:xfrm>
            <a:off x="7765440" y="1959046"/>
            <a:ext cx="788780" cy="24235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700" b="1" i="1">
                <a:solidFill>
                  <a:schemeClr val="bg1">
                    <a:lumMod val="50000"/>
                  </a:schemeClr>
                </a:solidFill>
              </a:rPr>
              <a:t>FORTIFICATION</a:t>
            </a:r>
          </a:p>
          <a:p>
            <a:pPr marL="0" indent="0" algn="ctr">
              <a:buFont typeface="Arial" panose="020B0604020202020204" pitchFamily="34" charset="0"/>
              <a:buNone/>
            </a:pPr>
            <a:endParaRPr lang="fr-FR" sz="700" b="1" i="1">
              <a:solidFill>
                <a:schemeClr val="bg1">
                  <a:lumMod val="50000"/>
                </a:schemeClr>
              </a:solidFill>
            </a:endParaRPr>
          </a:p>
        </p:txBody>
      </p:sp>
      <p:pic>
        <p:nvPicPr>
          <p:cNvPr id="13" name="Graphique 12" descr="Ampoule avec un remplissage uni">
            <a:extLst>
              <a:ext uri="{FF2B5EF4-FFF2-40B4-BE49-F238E27FC236}">
                <a16:creationId xmlns:a16="http://schemas.microsoft.com/office/drawing/2014/main" id="{E977F3EE-2C86-D0A7-A334-2017D89EF33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37980" y="1468458"/>
            <a:ext cx="447172" cy="447173"/>
          </a:xfrm>
          <a:prstGeom prst="rect">
            <a:avLst/>
          </a:prstGeom>
        </p:spPr>
      </p:pic>
      <p:pic>
        <p:nvPicPr>
          <p:cNvPr id="14" name="Graphique 13" descr="Seau et pelle avec un remplissage uni">
            <a:extLst>
              <a:ext uri="{FF2B5EF4-FFF2-40B4-BE49-F238E27FC236}">
                <a16:creationId xmlns:a16="http://schemas.microsoft.com/office/drawing/2014/main" id="{DE7B9F99-6E97-800F-98C7-F4100B085EE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87747" y="1468458"/>
            <a:ext cx="447172" cy="447173"/>
          </a:xfrm>
          <a:prstGeom prst="rect">
            <a:avLst/>
          </a:prstGeom>
        </p:spPr>
      </p:pic>
      <p:pic>
        <p:nvPicPr>
          <p:cNvPr id="15" name="Graphique 14" descr="Tubes à essai avec un remplissage uni">
            <a:extLst>
              <a:ext uri="{FF2B5EF4-FFF2-40B4-BE49-F238E27FC236}">
                <a16:creationId xmlns:a16="http://schemas.microsoft.com/office/drawing/2014/main" id="{F003097A-7255-A03D-35D8-50DC293B5B7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36068" y="1468458"/>
            <a:ext cx="447172" cy="447173"/>
          </a:xfrm>
          <a:prstGeom prst="rect">
            <a:avLst/>
          </a:prstGeom>
        </p:spPr>
      </p:pic>
      <p:pic>
        <p:nvPicPr>
          <p:cNvPr id="16" name="Graphique 15" descr="Explosion avec un remplissage uni">
            <a:extLst>
              <a:ext uri="{FF2B5EF4-FFF2-40B4-BE49-F238E27FC236}">
                <a16:creationId xmlns:a16="http://schemas.microsoft.com/office/drawing/2014/main" id="{11E350AE-C742-70D6-81DE-61CCA084A57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387112" y="1468458"/>
            <a:ext cx="447172" cy="447173"/>
          </a:xfrm>
          <a:prstGeom prst="rect">
            <a:avLst/>
          </a:prstGeom>
        </p:spPr>
      </p:pic>
      <p:pic>
        <p:nvPicPr>
          <p:cNvPr id="17" name="Graphique 16" descr="Trophée avec un remplissage uni">
            <a:extLst>
              <a:ext uri="{FF2B5EF4-FFF2-40B4-BE49-F238E27FC236}">
                <a16:creationId xmlns:a16="http://schemas.microsoft.com/office/drawing/2014/main" id="{2FDCA2EC-12AA-68B9-E8ED-9124C116462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238156" y="1468458"/>
            <a:ext cx="447172" cy="447173"/>
          </a:xfrm>
          <a:prstGeom prst="rect">
            <a:avLst/>
          </a:prstGeom>
        </p:spPr>
      </p:pic>
      <p:pic>
        <p:nvPicPr>
          <p:cNvPr id="18" name="Graphique 17" descr="Assiette couverte avec un remplissage uni">
            <a:extLst>
              <a:ext uri="{FF2B5EF4-FFF2-40B4-BE49-F238E27FC236}">
                <a16:creationId xmlns:a16="http://schemas.microsoft.com/office/drawing/2014/main" id="{77A107F2-8A64-D7CD-6AB2-AF58657BCA6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086476" y="1468458"/>
            <a:ext cx="447172" cy="447173"/>
          </a:xfrm>
          <a:prstGeom prst="rect">
            <a:avLst/>
          </a:prstGeom>
        </p:spPr>
      </p:pic>
      <p:pic>
        <p:nvPicPr>
          <p:cNvPr id="19" name="Graphique 18" descr="Scène de château avec un remplissage uni">
            <a:extLst>
              <a:ext uri="{FF2B5EF4-FFF2-40B4-BE49-F238E27FC236}">
                <a16:creationId xmlns:a16="http://schemas.microsoft.com/office/drawing/2014/main" id="{66AC0276-F073-CA6D-9D8D-75651E22023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934797" y="1468458"/>
            <a:ext cx="447172" cy="447173"/>
          </a:xfrm>
          <a:prstGeom prst="rect">
            <a:avLst/>
          </a:prstGeom>
        </p:spPr>
      </p:pic>
      <p:pic>
        <p:nvPicPr>
          <p:cNvPr id="20" name="Graphique 19" descr="Flèche : pivoter à gauche avec un remplissage uni">
            <a:extLst>
              <a:ext uri="{FF2B5EF4-FFF2-40B4-BE49-F238E27FC236}">
                <a16:creationId xmlns:a16="http://schemas.microsoft.com/office/drawing/2014/main" id="{19276E6A-5FC0-AF90-8725-75561EEB72B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277228">
            <a:off x="3808934" y="968027"/>
            <a:ext cx="682119" cy="682119"/>
          </a:xfrm>
          <a:prstGeom prst="rect">
            <a:avLst/>
          </a:prstGeom>
        </p:spPr>
      </p:pic>
      <p:pic>
        <p:nvPicPr>
          <p:cNvPr id="21" name="Graphique 20" descr="Flèche : pivoter à gauche avec un remplissage uni">
            <a:extLst>
              <a:ext uri="{FF2B5EF4-FFF2-40B4-BE49-F238E27FC236}">
                <a16:creationId xmlns:a16="http://schemas.microsoft.com/office/drawing/2014/main" id="{4FD139EB-5C95-B412-819A-1B6BF62AE03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9700082" flipV="1">
            <a:off x="4189435" y="970849"/>
            <a:ext cx="682119" cy="645228"/>
          </a:xfrm>
          <a:prstGeom prst="rect">
            <a:avLst/>
          </a:prstGeom>
        </p:spPr>
      </p:pic>
    </p:spTree>
    <p:extLst>
      <p:ext uri="{BB962C8B-B14F-4D97-AF65-F5344CB8AC3E}">
        <p14:creationId xmlns:p14="http://schemas.microsoft.com/office/powerpoint/2010/main" val="1812196524"/>
      </p:ext>
    </p:extLst>
  </p:cSld>
  <p:clrMapOvr>
    <a:masterClrMapping/>
  </p:clrMapOvr>
</p:sld>
</file>

<file path=ppt/theme/theme1.xml><?xml version="1.0" encoding="utf-8"?>
<a:theme xmlns:a="http://schemas.openxmlformats.org/drawingml/2006/main" name="Thème Office">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2523</TotalTime>
  <Words>20690</Words>
  <Application>Microsoft Office PowerPoint</Application>
  <PresentationFormat>Grand écran</PresentationFormat>
  <Paragraphs>3258</Paragraphs>
  <Slides>140</Slides>
  <Notes>6</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140</vt:i4>
      </vt:variant>
    </vt:vector>
  </HeadingPairs>
  <TitlesOfParts>
    <vt:vector size="145" baseType="lpstr">
      <vt:lpstr>Arial</vt:lpstr>
      <vt:lpstr>Calibri</vt:lpstr>
      <vt:lpstr>Calibri Light</vt:lpstr>
      <vt:lpstr>Wingdings</vt:lpstr>
      <vt:lpstr>Thème Office</vt:lpstr>
      <vt:lpstr>Présentation PowerPoint</vt:lpstr>
      <vt:lpstr>Ce document est un contenu #OpenSeriousCommunity #OSC</vt:lpstr>
      <vt:lpstr>Présentation PowerPoint</vt:lpstr>
      <vt:lpstr>Présentation PowerPoint</vt:lpstr>
      <vt:lpstr>Présentation PowerPoint</vt:lpstr>
      <vt:lpstr>Présentation PowerPoint</vt:lpstr>
      <vt:lpstr>Versions de ce document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Variante CCC-groups : Plusieurs sujets à la fois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CCC-Indicators : précautions d’usage</vt:lpstr>
      <vt:lpstr>Indicateur monophase et multiphases</vt:lpstr>
      <vt:lpstr>Exemples d’indicateurs Monophase CCC</vt:lpstr>
      <vt:lpstr>Liste des indicateurs multiphases proposés CCC-Indicators</vt:lpstr>
      <vt:lpstr>Indicateur :  En-cours de sujets</vt:lpstr>
      <vt:lpstr>Indicateur :  En-cours de sujets</vt:lpstr>
      <vt:lpstr>Indicateur :  Niveau moyen des objectifs</vt:lpstr>
      <vt:lpstr>Indicateur :  Niveau moyen des objectifs</vt:lpstr>
      <vt:lpstr>Indicateur :  Proportion de sujets pour lesquels la communauté a fixé un but</vt:lpstr>
      <vt:lpstr>Indicateur :  Proportion de sujets pour lesquels la communauté a fixé un but</vt:lpstr>
      <vt:lpstr>Indicateur :  Proportion de sujets qui ont atteint leurs objectifs de phase</vt:lpstr>
      <vt:lpstr>Indicateur :  Proportion de sujets qui ont atteint leurs objectifs de phase</vt:lpstr>
      <vt:lpstr>Indicateur :  Niveau moyen de maturité des sujets</vt:lpstr>
      <vt:lpstr>Indicateur :  Niveau moyen de maturité des sujets</vt:lpstr>
      <vt:lpstr>Indicateur :  Niveau moyen des membres sur un sujet donné</vt:lpstr>
      <vt:lpstr>Indicateur  :  Niveau moyen des membres sur un sujet donné</vt:lpstr>
      <vt:lpstr>Indicateur :  Indice d’heterogéneïté des niveaux des membres sur un sujet donné</vt:lpstr>
      <vt:lpstr>Indicateur :  Indice d’heterogéneïté des niveaux des membres sur un sujet donné</vt:lpstr>
      <vt:lpstr>Indicateur :  Proportions d’activités par phase (sur base d’historique)</vt:lpstr>
      <vt:lpstr>Indicateur :  Proportions d’activités par phase (sur base d’historique)</vt:lpstr>
      <vt:lpstr>CCC-Indicators : aller plus loin avec les indicateurs</vt:lpstr>
      <vt:lpstr>CCC-Indicators :  Placer ses indicateurs sur l’Indicators Map</vt:lpstr>
      <vt:lpstr>CCC-Indicators :  Placer ses indicateurs sur l’Indicators Map</vt:lpstr>
      <vt:lpstr>CCC-Indicators :  Exemples de format de résultats</vt:lpstr>
      <vt:lpstr>CCC-Indicators  Prendre les engagements sur la mesure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lastModifiedBy>Alexandre Quach</cp:lastModifiedBy>
  <cp:revision>2</cp:revision>
  <dcterms:created xsi:type="dcterms:W3CDTF">2021-02-02T23:16:24Z</dcterms:created>
  <dcterms:modified xsi:type="dcterms:W3CDTF">2022-09-28T13:17:01Z</dcterms:modified>
</cp:coreProperties>
</file>