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382" r:id="rId2"/>
    <p:sldId id="384" r:id="rId3"/>
    <p:sldId id="381" r:id="rId4"/>
    <p:sldId id="371" r:id="rId5"/>
    <p:sldId id="388" r:id="rId6"/>
    <p:sldId id="413" r:id="rId7"/>
    <p:sldId id="415" r:id="rId8"/>
    <p:sldId id="414" r:id="rId9"/>
    <p:sldId id="416" r:id="rId10"/>
    <p:sldId id="417" r:id="rId11"/>
    <p:sldId id="423" r:id="rId12"/>
    <p:sldId id="420" r:id="rId13"/>
    <p:sldId id="422" r:id="rId14"/>
    <p:sldId id="424" r:id="rId15"/>
    <p:sldId id="421" r:id="rId16"/>
    <p:sldId id="385" r:id="rId17"/>
    <p:sldId id="387" r:id="rId18"/>
    <p:sldId id="395" r:id="rId19"/>
    <p:sldId id="426" r:id="rId20"/>
    <p:sldId id="396" r:id="rId21"/>
    <p:sldId id="430" r:id="rId22"/>
    <p:sldId id="428" r:id="rId23"/>
    <p:sldId id="429" r:id="rId24"/>
    <p:sldId id="389" r:id="rId25"/>
    <p:sldId id="397" r:id="rId26"/>
    <p:sldId id="401" r:id="rId27"/>
    <p:sldId id="425" r:id="rId28"/>
    <p:sldId id="390" r:id="rId29"/>
    <p:sldId id="398" r:id="rId30"/>
    <p:sldId id="393" r:id="rId31"/>
    <p:sldId id="394" r:id="rId32"/>
    <p:sldId id="427" r:id="rId33"/>
    <p:sldId id="386" r:id="rId34"/>
    <p:sldId id="372" r:id="rId35"/>
    <p:sldId id="383" r:id="rId36"/>
    <p:sldId id="403" r:id="rId37"/>
    <p:sldId id="373" r:id="rId38"/>
    <p:sldId id="378" r:id="rId39"/>
    <p:sldId id="379" r:id="rId40"/>
    <p:sldId id="400" r:id="rId41"/>
    <p:sldId id="412" r:id="rId42"/>
    <p:sldId id="375" r:id="rId43"/>
    <p:sldId id="399" r:id="rId44"/>
    <p:sldId id="408" r:id="rId45"/>
    <p:sldId id="409" r:id="rId46"/>
    <p:sldId id="410" r:id="rId47"/>
    <p:sldId id="411" r:id="rId48"/>
    <p:sldId id="418" r:id="rId49"/>
    <p:sldId id="377" r:id="rId50"/>
    <p:sldId id="392" r:id="rId51"/>
    <p:sldId id="402" r:id="rId52"/>
    <p:sldId id="370" r:id="rId53"/>
    <p:sldId id="368" r:id="rId5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destination des participants" id="{88EBDC8A-7D55-4ECA-857C-27B3F18071D5}">
          <p14:sldIdLst>
            <p14:sldId id="382"/>
            <p14:sldId id="384"/>
            <p14:sldId id="381"/>
            <p14:sldId id="371"/>
            <p14:sldId id="388"/>
            <p14:sldId id="413"/>
            <p14:sldId id="415"/>
            <p14:sldId id="414"/>
            <p14:sldId id="416"/>
          </p14:sldIdLst>
        </p14:section>
        <p14:section name="Debriefing du jeu" id="{AB6BDACA-0AC3-4886-BE34-1680A4A5F6CB}">
          <p14:sldIdLst>
            <p14:sldId id="417"/>
            <p14:sldId id="423"/>
            <p14:sldId id="420"/>
            <p14:sldId id="422"/>
            <p14:sldId id="424"/>
            <p14:sldId id="421"/>
          </p14:sldIdLst>
        </p14:section>
        <p14:section name="Matériel de jeu" id="{C0EEE836-DDF3-4A0F-9484-BFF724A5706D}">
          <p14:sldIdLst>
            <p14:sldId id="385"/>
            <p14:sldId id="387"/>
            <p14:sldId id="395"/>
            <p14:sldId id="426"/>
            <p14:sldId id="396"/>
            <p14:sldId id="430"/>
            <p14:sldId id="428"/>
            <p14:sldId id="429"/>
            <p14:sldId id="389"/>
            <p14:sldId id="397"/>
            <p14:sldId id="401"/>
            <p14:sldId id="425"/>
            <p14:sldId id="390"/>
            <p14:sldId id="398"/>
            <p14:sldId id="393"/>
            <p14:sldId id="394"/>
            <p14:sldId id="427"/>
          </p14:sldIdLst>
        </p14:section>
        <p14:section name="Annexes" id="{BEC88F3D-4208-4217-8EC3-C81C6A01B5D7}">
          <p14:sldIdLst>
            <p14:sldId id="386"/>
            <p14:sldId id="372"/>
            <p14:sldId id="383"/>
            <p14:sldId id="403"/>
            <p14:sldId id="373"/>
            <p14:sldId id="378"/>
            <p14:sldId id="379"/>
            <p14:sldId id="400"/>
            <p14:sldId id="412"/>
            <p14:sldId id="375"/>
            <p14:sldId id="399"/>
            <p14:sldId id="408"/>
            <p14:sldId id="409"/>
            <p14:sldId id="410"/>
            <p14:sldId id="411"/>
            <p14:sldId id="418"/>
            <p14:sldId id="377"/>
            <p14:sldId id="392"/>
            <p14:sldId id="402"/>
            <p14:sldId id="370"/>
            <p14:sldId id="3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0683AA"/>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F28905-36BC-42DB-A9ED-06CA6FF8BCA0}" v="15" dt="2023-11-23T17:52:32.34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46" autoAdjust="0"/>
    <p:restoredTop sz="94660"/>
  </p:normalViewPr>
  <p:slideViewPr>
    <p:cSldViewPr snapToGrid="0">
      <p:cViewPr varScale="1">
        <p:scale>
          <a:sx n="102" d="100"/>
          <a:sy n="102" d="100"/>
        </p:scale>
        <p:origin x="100" y="124"/>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CFF28905-36BC-42DB-A9ED-06CA6FF8BCA0}"/>
    <pc:docChg chg="custSel addSld delSld modSld sldOrd modSection">
      <pc:chgData name="Alexandre Quach" userId="7bb690c8a6e028e4" providerId="LiveId" clId="{CFF28905-36BC-42DB-A9ED-06CA6FF8BCA0}" dt="2023-11-23T17:57:01.459" v="3345" actId="313"/>
      <pc:docMkLst>
        <pc:docMk/>
      </pc:docMkLst>
      <pc:sldChg chg="modSp mod">
        <pc:chgData name="Alexandre Quach" userId="7bb690c8a6e028e4" providerId="LiveId" clId="{CFF28905-36BC-42DB-A9ED-06CA6FF8BCA0}" dt="2023-11-23T17:57:01.459" v="3345" actId="313"/>
        <pc:sldMkLst>
          <pc:docMk/>
          <pc:sldMk cId="2545377066" sldId="377"/>
        </pc:sldMkLst>
        <pc:graphicFrameChg chg="modGraphic">
          <ac:chgData name="Alexandre Quach" userId="7bb690c8a6e028e4" providerId="LiveId" clId="{CFF28905-36BC-42DB-A9ED-06CA6FF8BCA0}" dt="2023-11-23T17:57:01.459" v="3345" actId="313"/>
          <ac:graphicFrameMkLst>
            <pc:docMk/>
            <pc:sldMk cId="2545377066" sldId="377"/>
            <ac:graphicFrameMk id="47" creationId="{E532220D-FB7A-4D58-94AD-62D5519F5AAE}"/>
          </ac:graphicFrameMkLst>
        </pc:graphicFrameChg>
      </pc:sldChg>
      <pc:sldChg chg="modSp mod">
        <pc:chgData name="Alexandre Quach" userId="7bb690c8a6e028e4" providerId="LiveId" clId="{CFF28905-36BC-42DB-A9ED-06CA6FF8BCA0}" dt="2023-11-23T17:56:40.186" v="3263" actId="20577"/>
        <pc:sldMkLst>
          <pc:docMk/>
          <pc:sldMk cId="2152990317" sldId="382"/>
        </pc:sldMkLst>
        <pc:spChg chg="mod">
          <ac:chgData name="Alexandre Quach" userId="7bb690c8a6e028e4" providerId="LiveId" clId="{CFF28905-36BC-42DB-A9ED-06CA6FF8BCA0}" dt="2023-11-23T17:56:40.186" v="3263" actId="20577"/>
          <ac:spMkLst>
            <pc:docMk/>
            <pc:sldMk cId="2152990317" sldId="382"/>
            <ac:spMk id="66" creationId="{065A1710-095B-4220-88EC-52590635CCBC}"/>
          </ac:spMkLst>
        </pc:spChg>
      </pc:sldChg>
      <pc:sldChg chg="addSp delSp modSp add mod">
        <pc:chgData name="Alexandre Quach" userId="7bb690c8a6e028e4" providerId="LiveId" clId="{CFF28905-36BC-42DB-A9ED-06CA6FF8BCA0}" dt="2023-11-23T17:50:31.853" v="2867" actId="478"/>
        <pc:sldMkLst>
          <pc:docMk/>
          <pc:sldMk cId="4194199235" sldId="428"/>
        </pc:sldMkLst>
        <pc:spChg chg="add del mod">
          <ac:chgData name="Alexandre Quach" userId="7bb690c8a6e028e4" providerId="LiveId" clId="{CFF28905-36BC-42DB-A9ED-06CA6FF8BCA0}" dt="2023-11-23T17:31:08.920" v="550" actId="931"/>
          <ac:spMkLst>
            <pc:docMk/>
            <pc:sldMk cId="4194199235" sldId="428"/>
            <ac:spMk id="6" creationId="{5616ACAA-F2A0-8938-D105-C0FC32084417}"/>
          </ac:spMkLst>
        </pc:spChg>
        <pc:spChg chg="add del mod">
          <ac:chgData name="Alexandre Quach" userId="7bb690c8a6e028e4" providerId="LiveId" clId="{CFF28905-36BC-42DB-A9ED-06CA6FF8BCA0}" dt="2023-11-23T17:34:15.188" v="710" actId="931"/>
          <ac:spMkLst>
            <pc:docMk/>
            <pc:sldMk cId="4194199235" sldId="428"/>
            <ac:spMk id="9" creationId="{CFC0D9BC-7577-C5A3-5AA8-821F12FBDC13}"/>
          </ac:spMkLst>
        </pc:spChg>
        <pc:spChg chg="mod">
          <ac:chgData name="Alexandre Quach" userId="7bb690c8a6e028e4" providerId="LiveId" clId="{CFF28905-36BC-42DB-A9ED-06CA6FF8BCA0}" dt="2023-11-23T17:34:41.401" v="767" actId="20577"/>
          <ac:spMkLst>
            <pc:docMk/>
            <pc:sldMk cId="4194199235" sldId="428"/>
            <ac:spMk id="10" creationId="{4AE0DEC9-A3F5-4BBC-292D-6B127CACE243}"/>
          </ac:spMkLst>
        </pc:spChg>
        <pc:spChg chg="mod">
          <ac:chgData name="Alexandre Quach" userId="7bb690c8a6e028e4" providerId="LiveId" clId="{CFF28905-36BC-42DB-A9ED-06CA6FF8BCA0}" dt="2023-11-23T17:34:44.026" v="773" actId="20577"/>
          <ac:spMkLst>
            <pc:docMk/>
            <pc:sldMk cId="4194199235" sldId="428"/>
            <ac:spMk id="11" creationId="{0EB3268E-3001-09BC-A629-E2E3AF1459D5}"/>
          </ac:spMkLst>
        </pc:spChg>
        <pc:spChg chg="mod">
          <ac:chgData name="Alexandre Quach" userId="7bb690c8a6e028e4" providerId="LiveId" clId="{CFF28905-36BC-42DB-A9ED-06CA6FF8BCA0}" dt="2023-11-23T17:40:22.169" v="1390" actId="20577"/>
          <ac:spMkLst>
            <pc:docMk/>
            <pc:sldMk cId="4194199235" sldId="428"/>
            <ac:spMk id="12" creationId="{4624F2A5-B8B8-8759-4CAD-B0338F109F2F}"/>
          </ac:spMkLst>
        </pc:spChg>
        <pc:spChg chg="mod">
          <ac:chgData name="Alexandre Quach" userId="7bb690c8a6e028e4" providerId="LiveId" clId="{CFF28905-36BC-42DB-A9ED-06CA6FF8BCA0}" dt="2023-11-23T17:41:58.605" v="1573" actId="20577"/>
          <ac:spMkLst>
            <pc:docMk/>
            <pc:sldMk cId="4194199235" sldId="428"/>
            <ac:spMk id="13" creationId="{94B52743-BF4D-A1A9-710C-05B2B56BF036}"/>
          </ac:spMkLst>
        </pc:spChg>
        <pc:spChg chg="mod">
          <ac:chgData name="Alexandre Quach" userId="7bb690c8a6e028e4" providerId="LiveId" clId="{CFF28905-36BC-42DB-A9ED-06CA6FF8BCA0}" dt="2023-11-23T17:43:36.294" v="1797" actId="20577"/>
          <ac:spMkLst>
            <pc:docMk/>
            <pc:sldMk cId="4194199235" sldId="428"/>
            <ac:spMk id="14" creationId="{4DEB2AA7-1073-2A8D-C397-5B5C4B984573}"/>
          </ac:spMkLst>
        </pc:spChg>
        <pc:spChg chg="mod">
          <ac:chgData name="Alexandre Quach" userId="7bb690c8a6e028e4" providerId="LiveId" clId="{CFF28905-36BC-42DB-A9ED-06CA6FF8BCA0}" dt="2023-11-23T17:48:08.816" v="2548" actId="20577"/>
          <ac:spMkLst>
            <pc:docMk/>
            <pc:sldMk cId="4194199235" sldId="428"/>
            <ac:spMk id="15" creationId="{FD638005-982D-03C4-25D5-3E84A5546F0A}"/>
          </ac:spMkLst>
        </pc:spChg>
        <pc:spChg chg="add del mod">
          <ac:chgData name="Alexandre Quach" userId="7bb690c8a6e028e4" providerId="LiveId" clId="{CFF28905-36BC-42DB-A9ED-06CA6FF8BCA0}" dt="2023-11-23T17:40:45.904" v="1391" actId="931"/>
          <ac:spMkLst>
            <pc:docMk/>
            <pc:sldMk cId="4194199235" sldId="428"/>
            <ac:spMk id="19" creationId="{B99DBB95-855B-2965-09E0-B026D8785CC9}"/>
          </ac:spMkLst>
        </pc:spChg>
        <pc:spChg chg="add del mod">
          <ac:chgData name="Alexandre Quach" userId="7bb690c8a6e028e4" providerId="LiveId" clId="{CFF28905-36BC-42DB-A9ED-06CA6FF8BCA0}" dt="2023-11-23T17:42:20.838" v="1574" actId="931"/>
          <ac:spMkLst>
            <pc:docMk/>
            <pc:sldMk cId="4194199235" sldId="428"/>
            <ac:spMk id="21" creationId="{848F2CE2-CC5F-4C75-C02E-F1649E161511}"/>
          </ac:spMkLst>
        </pc:spChg>
        <pc:spChg chg="add del mod">
          <ac:chgData name="Alexandre Quach" userId="7bb690c8a6e028e4" providerId="LiveId" clId="{CFF28905-36BC-42DB-A9ED-06CA6FF8BCA0}" dt="2023-11-23T17:50:31.853" v="2867" actId="478"/>
          <ac:spMkLst>
            <pc:docMk/>
            <pc:sldMk cId="4194199235" sldId="428"/>
            <ac:spMk id="28" creationId="{09C525B8-3FC5-0789-2F1D-63EDD9A67329}"/>
          </ac:spMkLst>
        </pc:spChg>
        <pc:spChg chg="del">
          <ac:chgData name="Alexandre Quach" userId="7bb690c8a6e028e4" providerId="LiveId" clId="{CFF28905-36BC-42DB-A9ED-06CA6FF8BCA0}" dt="2023-11-23T17:43:56.444" v="1798" actId="931"/>
          <ac:spMkLst>
            <pc:docMk/>
            <pc:sldMk cId="4194199235" sldId="428"/>
            <ac:spMk id="30" creationId="{545A4CBE-B39D-D073-50D3-3E6937602CF0}"/>
          </ac:spMkLst>
        </pc:spChg>
        <pc:spChg chg="del">
          <ac:chgData name="Alexandre Quach" userId="7bb690c8a6e028e4" providerId="LiveId" clId="{CFF28905-36BC-42DB-A9ED-06CA6FF8BCA0}" dt="2023-11-23T17:48:46.372" v="2549" actId="931"/>
          <ac:spMkLst>
            <pc:docMk/>
            <pc:sldMk cId="4194199235" sldId="428"/>
            <ac:spMk id="31" creationId="{C495CE6F-A47E-0A63-FFE4-5258A3CA4650}"/>
          </ac:spMkLst>
        </pc:spChg>
        <pc:spChg chg="add del mod">
          <ac:chgData name="Alexandre Quach" userId="7bb690c8a6e028e4" providerId="LiveId" clId="{CFF28905-36BC-42DB-A9ED-06CA6FF8BCA0}" dt="2023-11-23T17:46:45.293" v="2203" actId="478"/>
          <ac:spMkLst>
            <pc:docMk/>
            <pc:sldMk cId="4194199235" sldId="428"/>
            <ac:spMk id="37" creationId="{A17E7CE2-1DBA-2B37-5101-494D86F5EE76}"/>
          </ac:spMkLst>
        </pc:spChg>
        <pc:spChg chg="add del mod">
          <ac:chgData name="Alexandre Quach" userId="7bb690c8a6e028e4" providerId="LiveId" clId="{CFF28905-36BC-42DB-A9ED-06CA6FF8BCA0}" dt="2023-11-23T17:48:49.729" v="2552" actId="478"/>
          <ac:spMkLst>
            <pc:docMk/>
            <pc:sldMk cId="4194199235" sldId="428"/>
            <ac:spMk id="40" creationId="{0D7BA432-D36C-DA29-8BBE-C23C661737AF}"/>
          </ac:spMkLst>
        </pc:spChg>
        <pc:picChg chg="del">
          <ac:chgData name="Alexandre Quach" userId="7bb690c8a6e028e4" providerId="LiveId" clId="{CFF28905-36BC-42DB-A9ED-06CA6FF8BCA0}" dt="2023-11-23T17:23:44.802" v="1" actId="478"/>
          <ac:picMkLst>
            <pc:docMk/>
            <pc:sldMk cId="4194199235" sldId="428"/>
            <ac:picMk id="3" creationId="{EE64B21F-15E7-D56D-F411-54B8BE46B3AA}"/>
          </ac:picMkLst>
        </pc:picChg>
        <pc:picChg chg="del">
          <ac:chgData name="Alexandre Quach" userId="7bb690c8a6e028e4" providerId="LiveId" clId="{CFF28905-36BC-42DB-A9ED-06CA6FF8BCA0}" dt="2023-11-23T17:23:45.991" v="3" actId="478"/>
          <ac:picMkLst>
            <pc:docMk/>
            <pc:sldMk cId="4194199235" sldId="428"/>
            <ac:picMk id="4" creationId="{461EAD43-754D-0AB7-616C-EDF92756CF5C}"/>
          </ac:picMkLst>
        </pc:picChg>
        <pc:picChg chg="del">
          <ac:chgData name="Alexandre Quach" userId="7bb690c8a6e028e4" providerId="LiveId" clId="{CFF28905-36BC-42DB-A9ED-06CA6FF8BCA0}" dt="2023-11-23T17:23:45.201" v="2" actId="478"/>
          <ac:picMkLst>
            <pc:docMk/>
            <pc:sldMk cId="4194199235" sldId="428"/>
            <ac:picMk id="5" creationId="{52521ED2-5097-808B-01C5-6F2F250EA36F}"/>
          </ac:picMkLst>
        </pc:picChg>
        <pc:picChg chg="del">
          <ac:chgData name="Alexandre Quach" userId="7bb690c8a6e028e4" providerId="LiveId" clId="{CFF28905-36BC-42DB-A9ED-06CA6FF8BCA0}" dt="2023-11-23T17:23:46.563" v="4" actId="478"/>
          <ac:picMkLst>
            <pc:docMk/>
            <pc:sldMk cId="4194199235" sldId="428"/>
            <ac:picMk id="8" creationId="{A0DC07B3-B160-357E-9B4C-0B6FF78828F9}"/>
          </ac:picMkLst>
        </pc:picChg>
        <pc:picChg chg="add mod">
          <ac:chgData name="Alexandre Quach" userId="7bb690c8a6e028e4" providerId="LiveId" clId="{CFF28905-36BC-42DB-A9ED-06CA6FF8BCA0}" dt="2023-11-23T17:31:10.502" v="552" actId="962"/>
          <ac:picMkLst>
            <pc:docMk/>
            <pc:sldMk cId="4194199235" sldId="428"/>
            <ac:picMk id="23" creationId="{78FB3BE9-9229-C6D1-6FC5-F383D08A3597}"/>
          </ac:picMkLst>
        </pc:picChg>
        <pc:picChg chg="add mod">
          <ac:chgData name="Alexandre Quach" userId="7bb690c8a6e028e4" providerId="LiveId" clId="{CFF28905-36BC-42DB-A9ED-06CA6FF8BCA0}" dt="2023-11-23T17:34:15.188" v="710" actId="931"/>
          <ac:picMkLst>
            <pc:docMk/>
            <pc:sldMk cId="4194199235" sldId="428"/>
            <ac:picMk id="25" creationId="{B0F51D3A-517B-14BC-EB96-CDD68EDA38A3}"/>
          </ac:picMkLst>
        </pc:picChg>
        <pc:picChg chg="add mod">
          <ac:chgData name="Alexandre Quach" userId="7bb690c8a6e028e4" providerId="LiveId" clId="{CFF28905-36BC-42DB-A9ED-06CA6FF8BCA0}" dt="2023-11-23T17:40:46.775" v="1393" actId="962"/>
          <ac:picMkLst>
            <pc:docMk/>
            <pc:sldMk cId="4194199235" sldId="428"/>
            <ac:picMk id="27" creationId="{F6C2269B-E86C-990E-7506-E9C3D56AFEB9}"/>
          </ac:picMkLst>
        </pc:picChg>
        <pc:picChg chg="add mod">
          <ac:chgData name="Alexandre Quach" userId="7bb690c8a6e028e4" providerId="LiveId" clId="{CFF28905-36BC-42DB-A9ED-06CA6FF8BCA0}" dt="2023-11-23T17:42:21.534" v="1576" actId="962"/>
          <ac:picMkLst>
            <pc:docMk/>
            <pc:sldMk cId="4194199235" sldId="428"/>
            <ac:picMk id="34" creationId="{53150228-E931-B230-E314-E6FF7B2B7D8B}"/>
          </ac:picMkLst>
        </pc:picChg>
        <pc:picChg chg="add mod">
          <ac:chgData name="Alexandre Quach" userId="7bb690c8a6e028e4" providerId="LiveId" clId="{CFF28905-36BC-42DB-A9ED-06CA6FF8BCA0}" dt="2023-11-23T17:43:57.305" v="1799" actId="27614"/>
          <ac:picMkLst>
            <pc:docMk/>
            <pc:sldMk cId="4194199235" sldId="428"/>
            <ac:picMk id="36" creationId="{C39480D6-EE3A-AD27-A91D-95834BEB0B91}"/>
          </ac:picMkLst>
        </pc:picChg>
        <pc:picChg chg="add mod">
          <ac:chgData name="Alexandre Quach" userId="7bb690c8a6e028e4" providerId="LiveId" clId="{CFF28905-36BC-42DB-A9ED-06CA6FF8BCA0}" dt="2023-11-23T17:48:46.965" v="2551" actId="962"/>
          <ac:picMkLst>
            <pc:docMk/>
            <pc:sldMk cId="4194199235" sldId="428"/>
            <ac:picMk id="39" creationId="{B852D254-607A-278C-A033-0D70A0E65DB2}"/>
          </ac:picMkLst>
        </pc:picChg>
      </pc:sldChg>
      <pc:sldChg chg="addSp delSp modSp add mod ord">
        <pc:chgData name="Alexandre Quach" userId="7bb690c8a6e028e4" providerId="LiveId" clId="{CFF28905-36BC-42DB-A9ED-06CA6FF8BCA0}" dt="2023-11-23T17:52:24.162" v="3261" actId="478"/>
        <pc:sldMkLst>
          <pc:docMk/>
          <pc:sldMk cId="20913864" sldId="429"/>
        </pc:sldMkLst>
        <pc:spChg chg="mod">
          <ac:chgData name="Alexandre Quach" userId="7bb690c8a6e028e4" providerId="LiveId" clId="{CFF28905-36BC-42DB-A9ED-06CA6FF8BCA0}" dt="2023-11-23T17:38:17.414" v="1173" actId="313"/>
          <ac:spMkLst>
            <pc:docMk/>
            <pc:sldMk cId="20913864" sldId="429"/>
            <ac:spMk id="2" creationId="{2DF57264-BFC1-77D9-1939-119CE7BD2DF7}"/>
          </ac:spMkLst>
        </pc:spChg>
        <pc:spChg chg="mod">
          <ac:chgData name="Alexandre Quach" userId="7bb690c8a6e028e4" providerId="LiveId" clId="{CFF28905-36BC-42DB-A9ED-06CA6FF8BCA0}" dt="2023-11-23T17:46:29.090" v="2202" actId="20577"/>
          <ac:spMkLst>
            <pc:docMk/>
            <pc:sldMk cId="20913864" sldId="429"/>
            <ac:spMk id="3" creationId="{52B5DF38-989F-A7EA-3E94-83DA400AF497}"/>
          </ac:spMkLst>
        </pc:spChg>
        <pc:spChg chg="mod">
          <ac:chgData name="Alexandre Quach" userId="7bb690c8a6e028e4" providerId="LiveId" clId="{CFF28905-36BC-42DB-A9ED-06CA6FF8BCA0}" dt="2023-11-23T17:49:58.502" v="2862" actId="20577"/>
          <ac:spMkLst>
            <pc:docMk/>
            <pc:sldMk cId="20913864" sldId="429"/>
            <ac:spMk id="4" creationId="{A5DF4695-27BE-BAAD-F32C-877B12A6D5DD}"/>
          </ac:spMkLst>
        </pc:spChg>
        <pc:spChg chg="mod">
          <ac:chgData name="Alexandre Quach" userId="7bb690c8a6e028e4" providerId="LiveId" clId="{CFF28905-36BC-42DB-A9ED-06CA6FF8BCA0}" dt="2023-11-23T17:52:04.850" v="3258" actId="20577"/>
          <ac:spMkLst>
            <pc:docMk/>
            <pc:sldMk cId="20913864" sldId="429"/>
            <ac:spMk id="5" creationId="{C7386CB0-66CA-1F43-C9A3-F6F3885DCFE8}"/>
          </ac:spMkLst>
        </pc:spChg>
        <pc:spChg chg="add del mod">
          <ac:chgData name="Alexandre Quach" userId="7bb690c8a6e028e4" providerId="LiveId" clId="{CFF28905-36BC-42DB-A9ED-06CA6FF8BCA0}" dt="2023-11-23T17:38:45.458" v="1174" actId="931"/>
          <ac:spMkLst>
            <pc:docMk/>
            <pc:sldMk cId="20913864" sldId="429"/>
            <ac:spMk id="12" creationId="{48F5DF71-B74E-0295-FA62-739BFF8CBBAF}"/>
          </ac:spMkLst>
        </pc:spChg>
        <pc:spChg chg="add del mod">
          <ac:chgData name="Alexandre Quach" userId="7bb690c8a6e028e4" providerId="LiveId" clId="{CFF28905-36BC-42DB-A9ED-06CA6FF8BCA0}" dt="2023-11-23T17:45:45.358" v="2066" actId="931"/>
          <ac:spMkLst>
            <pc:docMk/>
            <pc:sldMk cId="20913864" sldId="429"/>
            <ac:spMk id="18" creationId="{788E17A7-2080-706A-BD8F-1BE3D6EFF968}"/>
          </ac:spMkLst>
        </pc:spChg>
        <pc:spChg chg="add del mod">
          <ac:chgData name="Alexandre Quach" userId="7bb690c8a6e028e4" providerId="LiveId" clId="{CFF28905-36BC-42DB-A9ED-06CA6FF8BCA0}" dt="2023-11-23T17:50:12.612" v="2863" actId="931"/>
          <ac:spMkLst>
            <pc:docMk/>
            <pc:sldMk cId="20913864" sldId="429"/>
            <ac:spMk id="22" creationId="{2DADA2F5-8C32-BB27-FDB2-9D8488F6F169}"/>
          </ac:spMkLst>
        </pc:spChg>
        <pc:spChg chg="add del mod">
          <ac:chgData name="Alexandre Quach" userId="7bb690c8a6e028e4" providerId="LiveId" clId="{CFF28905-36BC-42DB-A9ED-06CA6FF8BCA0}" dt="2023-11-23T17:52:21.802" v="3259" actId="931"/>
          <ac:spMkLst>
            <pc:docMk/>
            <pc:sldMk cId="20913864" sldId="429"/>
            <ac:spMk id="25" creationId="{82C41925-ACCE-BC52-A885-AA5B4D196746}"/>
          </ac:spMkLst>
        </pc:spChg>
        <pc:spChg chg="add del mod">
          <ac:chgData name="Alexandre Quach" userId="7bb690c8a6e028e4" providerId="LiveId" clId="{CFF28905-36BC-42DB-A9ED-06CA6FF8BCA0}" dt="2023-11-23T17:50:15.598" v="2866" actId="478"/>
          <ac:spMkLst>
            <pc:docMk/>
            <pc:sldMk cId="20913864" sldId="429"/>
            <ac:spMk id="32" creationId="{9F201505-61EA-7016-5286-A8C8176C312E}"/>
          </ac:spMkLst>
        </pc:spChg>
        <pc:spChg chg="add del mod">
          <ac:chgData name="Alexandre Quach" userId="7bb690c8a6e028e4" providerId="LiveId" clId="{CFF28905-36BC-42DB-A9ED-06CA6FF8BCA0}" dt="2023-11-23T17:52:24.162" v="3261" actId="478"/>
          <ac:spMkLst>
            <pc:docMk/>
            <pc:sldMk cId="20913864" sldId="429"/>
            <ac:spMk id="35" creationId="{4976DD50-EF0D-98CC-6386-C73DBF5B7483}"/>
          </ac:spMkLst>
        </pc:spChg>
        <pc:picChg chg="del">
          <ac:chgData name="Alexandre Quach" userId="7bb690c8a6e028e4" providerId="LiveId" clId="{CFF28905-36BC-42DB-A9ED-06CA6FF8BCA0}" dt="2023-11-23T17:36:05.912" v="780" actId="478"/>
          <ac:picMkLst>
            <pc:docMk/>
            <pc:sldMk cId="20913864" sldId="429"/>
            <ac:picMk id="11" creationId="{21DEA801-407D-7F86-391D-0C27905E462C}"/>
          </ac:picMkLst>
        </pc:picChg>
        <pc:picChg chg="del">
          <ac:chgData name="Alexandre Quach" userId="7bb690c8a6e028e4" providerId="LiveId" clId="{CFF28905-36BC-42DB-A9ED-06CA6FF8BCA0}" dt="2023-11-23T17:36:03.872" v="777" actId="478"/>
          <ac:picMkLst>
            <pc:docMk/>
            <pc:sldMk cId="20913864" sldId="429"/>
            <ac:picMk id="19" creationId="{775CE131-A513-705C-8E4A-DC1D7A9047E4}"/>
          </ac:picMkLst>
        </pc:picChg>
        <pc:picChg chg="del">
          <ac:chgData name="Alexandre Quach" userId="7bb690c8a6e028e4" providerId="LiveId" clId="{CFF28905-36BC-42DB-A9ED-06CA6FF8BCA0}" dt="2023-11-23T17:36:04.479" v="778" actId="478"/>
          <ac:picMkLst>
            <pc:docMk/>
            <pc:sldMk cId="20913864" sldId="429"/>
            <ac:picMk id="21" creationId="{AC7FBBBE-4A0F-F5A5-9FD2-0AFACC945252}"/>
          </ac:picMkLst>
        </pc:picChg>
        <pc:picChg chg="del">
          <ac:chgData name="Alexandre Quach" userId="7bb690c8a6e028e4" providerId="LiveId" clId="{CFF28905-36BC-42DB-A9ED-06CA6FF8BCA0}" dt="2023-11-23T17:36:05.199" v="779" actId="478"/>
          <ac:picMkLst>
            <pc:docMk/>
            <pc:sldMk cId="20913864" sldId="429"/>
            <ac:picMk id="23" creationId="{738FF894-0A25-E970-73A9-529F1CBF08F5}"/>
          </ac:picMkLst>
        </pc:picChg>
        <pc:picChg chg="add mod">
          <ac:chgData name="Alexandre Quach" userId="7bb690c8a6e028e4" providerId="LiveId" clId="{CFF28905-36BC-42DB-A9ED-06CA6FF8BCA0}" dt="2023-11-23T17:38:46.055" v="1176" actId="962"/>
          <ac:picMkLst>
            <pc:docMk/>
            <pc:sldMk cId="20913864" sldId="429"/>
            <ac:picMk id="27" creationId="{BBF14DAC-2D77-23B9-08B2-A68952AB91B1}"/>
          </ac:picMkLst>
        </pc:picChg>
        <pc:picChg chg="add mod">
          <ac:chgData name="Alexandre Quach" userId="7bb690c8a6e028e4" providerId="LiveId" clId="{CFF28905-36BC-42DB-A9ED-06CA6FF8BCA0}" dt="2023-11-23T17:45:45.973" v="2068" actId="962"/>
          <ac:picMkLst>
            <pc:docMk/>
            <pc:sldMk cId="20913864" sldId="429"/>
            <ac:picMk id="29" creationId="{D7AE6E5A-57C7-57A6-9966-6468793B2482}"/>
          </ac:picMkLst>
        </pc:picChg>
        <pc:picChg chg="add mod">
          <ac:chgData name="Alexandre Quach" userId="7bb690c8a6e028e4" providerId="LiveId" clId="{CFF28905-36BC-42DB-A9ED-06CA6FF8BCA0}" dt="2023-11-23T17:50:13.141" v="2865" actId="962"/>
          <ac:picMkLst>
            <pc:docMk/>
            <pc:sldMk cId="20913864" sldId="429"/>
            <ac:picMk id="31" creationId="{E3ADF079-19C9-3A57-E3A4-EE533B1A4F9D}"/>
          </ac:picMkLst>
        </pc:picChg>
        <pc:picChg chg="add mod">
          <ac:chgData name="Alexandre Quach" userId="7bb690c8a6e028e4" providerId="LiveId" clId="{CFF28905-36BC-42DB-A9ED-06CA6FF8BCA0}" dt="2023-11-23T17:52:22.401" v="3260" actId="27614"/>
          <ac:picMkLst>
            <pc:docMk/>
            <pc:sldMk cId="20913864" sldId="429"/>
            <ac:picMk id="34" creationId="{6F61811D-2E74-F329-E94A-E11E2B3901A3}"/>
          </ac:picMkLst>
        </pc:picChg>
      </pc:sldChg>
      <pc:sldChg chg="modSp add mod">
        <pc:chgData name="Alexandre Quach" userId="7bb690c8a6e028e4" providerId="LiveId" clId="{CFF28905-36BC-42DB-A9ED-06CA6FF8BCA0}" dt="2023-11-23T17:37:21.378" v="880" actId="20577"/>
        <pc:sldMkLst>
          <pc:docMk/>
          <pc:sldMk cId="2910379271" sldId="430"/>
        </pc:sldMkLst>
        <pc:spChg chg="mod">
          <ac:chgData name="Alexandre Quach" userId="7bb690c8a6e028e4" providerId="LiveId" clId="{CFF28905-36BC-42DB-A9ED-06CA6FF8BCA0}" dt="2023-11-23T17:37:16.066" v="879" actId="313"/>
          <ac:spMkLst>
            <pc:docMk/>
            <pc:sldMk cId="2910379271" sldId="430"/>
            <ac:spMk id="9" creationId="{5C6F2FF8-FEA8-9E29-FA23-1FDC3C7CDB38}"/>
          </ac:spMkLst>
        </pc:spChg>
        <pc:spChg chg="mod">
          <ac:chgData name="Alexandre Quach" userId="7bb690c8a6e028e4" providerId="LiveId" clId="{CFF28905-36BC-42DB-A9ED-06CA6FF8BCA0}" dt="2023-11-23T17:37:21.378" v="880" actId="20577"/>
          <ac:spMkLst>
            <pc:docMk/>
            <pc:sldMk cId="2910379271" sldId="430"/>
            <ac:spMk id="10" creationId="{84FDF0EF-A697-52A0-EED8-3F0E53E030AB}"/>
          </ac:spMkLst>
        </pc:spChg>
      </pc:sldChg>
      <pc:sldChg chg="new del">
        <pc:chgData name="Alexandre Quach" userId="7bb690c8a6e028e4" providerId="LiveId" clId="{CFF28905-36BC-42DB-A9ED-06CA6FF8BCA0}" dt="2023-11-23T17:36:56.586" v="847" actId="47"/>
        <pc:sldMkLst>
          <pc:docMk/>
          <pc:sldMk cId="3242275115" sldId="43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dgm:spPr/>
      <dgm:t>
        <a:bodyPr/>
        <a:lstStyle/>
        <a:p>
          <a:r>
            <a:rPr lang="fr-FR" b="1" dirty="0"/>
            <a:t>NIV 1 CURIEUX(-SE) :</a:t>
          </a:r>
          <a:r>
            <a:rPr lang="fr-FR" dirty="0"/>
            <a:t> Pitch, matériel de promotion, images de promotion</a:t>
          </a:r>
        </a:p>
      </dgm:t>
    </dgm:pt>
    <dgm:pt modelId="{067E9044-C40B-4316-93EA-A92A4ECAE950}" type="parTrans" cxnId="{2E7949A9-4916-4EDB-9D8B-A976E6C2DA37}">
      <dgm:prSet/>
      <dgm:spPr/>
      <dgm:t>
        <a:bodyPr/>
        <a:lstStyle/>
        <a:p>
          <a:endParaRPr lang="fr-FR"/>
        </a:p>
      </dgm:t>
    </dgm:pt>
    <dgm:pt modelId="{3B1EB9FD-9A37-4CCA-ACA1-0D64039F17D9}" type="sibTrans" cxnId="{2E7949A9-4916-4EDB-9D8B-A976E6C2DA37}">
      <dgm:prSet/>
      <dgm:spPr/>
      <dgm:t>
        <a:bodyPr/>
        <a:lstStyle/>
        <a:p>
          <a:endParaRPr lang="fr-FR"/>
        </a:p>
      </dgm:t>
    </dgm:pt>
    <dgm:pt modelId="{91700F07-B7D9-4750-8436-3D09AA34A2D4}">
      <dgm:prSet phldrT="[Texte]"/>
      <dgm:spPr/>
      <dgm:t>
        <a:bodyPr/>
        <a:lstStyle/>
        <a:p>
          <a:r>
            <a:rPr lang="fr-FR" b="1" dirty="0"/>
            <a:t>NIV 2 JOUEUR(-SE) :</a:t>
          </a:r>
          <a:r>
            <a:rPr lang="fr-FR" dirty="0"/>
            <a:t> Règles du jeu, contenu du jeu (cartes, plateau, diapositives), FAQ, exemple</a:t>
          </a:r>
        </a:p>
      </dgm:t>
    </dgm:pt>
    <dgm:pt modelId="{1A2AEEAE-80AD-4998-84BD-BD0584C3B2FB}" type="parTrans" cxnId="{D4DD1649-6605-4868-AC8E-1F81674F8965}">
      <dgm:prSet/>
      <dgm:spPr/>
      <dgm:t>
        <a:bodyPr/>
        <a:lstStyle/>
        <a:p>
          <a:endParaRPr lang="fr-FR"/>
        </a:p>
      </dgm:t>
    </dgm:pt>
    <dgm:pt modelId="{7D2D50D2-70AB-4462-B689-202CA487E9D0}" type="sibTrans" cxnId="{D4DD1649-6605-4868-AC8E-1F81674F8965}">
      <dgm:prSet/>
      <dgm:spPr/>
      <dgm:t>
        <a:bodyPr/>
        <a:lstStyle/>
        <a:p>
          <a:endParaRPr lang="fr-FR"/>
        </a:p>
      </dgm:t>
    </dgm:pt>
    <dgm:pt modelId="{2A800630-C82C-4D2E-9CA2-07AF9907F8E2}">
      <dgm:prSet phldrT="[Texte]"/>
      <dgm:spPr/>
      <dgm:t>
        <a:bodyPr/>
        <a:lstStyle/>
        <a:p>
          <a:r>
            <a:rPr lang="fr-FR" b="1" dirty="0"/>
            <a:t>NIV 3 ECLAIREUR(-SE) :</a:t>
          </a:r>
          <a:r>
            <a:rPr lang="fr-FR" dirty="0"/>
            <a:t> Objectifs pédagogiques, opérationnels, problèmes adressés, cas d’usage, sujets non couverts, avec quoi compléter, public idéal, </a:t>
          </a:r>
          <a:r>
            <a:rPr lang="fr-FR" dirty="0" err="1"/>
            <a:t>pré-requis</a:t>
          </a:r>
          <a:endParaRPr lang="fr-FR" dirty="0"/>
        </a:p>
      </dgm:t>
    </dgm:pt>
    <dgm:pt modelId="{315E4E1A-7793-43B2-B248-1D90BDD5E85C}" type="parTrans" cxnId="{CCB16BD5-DA92-4776-ABA4-C60160D40F02}">
      <dgm:prSet/>
      <dgm:spPr/>
      <dgm:t>
        <a:bodyPr/>
        <a:lstStyle/>
        <a:p>
          <a:endParaRPr lang="fr-FR"/>
        </a:p>
      </dgm:t>
    </dgm:pt>
    <dgm:pt modelId="{28B6BE6B-2E0F-4F2B-A73A-43933C3EE117}" type="sibTrans" cxnId="{CCB16BD5-DA92-4776-ABA4-C60160D40F02}">
      <dgm:prSet/>
      <dgm:spPr/>
      <dgm:t>
        <a:bodyPr/>
        <a:lstStyle/>
        <a:p>
          <a:endParaRPr lang="fr-FR"/>
        </a:p>
      </dgm:t>
    </dgm:pt>
    <dgm:pt modelId="{E072D5FA-D96C-4052-A44E-A0EEC6E6F48E}">
      <dgm:prSet phldrT="[Texte]"/>
      <dgm:spPr/>
      <dgm:t>
        <a:bodyPr/>
        <a:lstStyle/>
        <a:p>
          <a:r>
            <a:rPr lang="fr-FR" b="1" dirty="0"/>
            <a:t>NIV 4 CO-ANIMATEUR(-TRICE) :</a:t>
          </a:r>
          <a:r>
            <a:rPr lang="fr-FR" dirty="0"/>
            <a:t> Répartition </a:t>
          </a:r>
          <a:r>
            <a:rPr lang="fr-FR" dirty="0" err="1"/>
            <a:t>co-animation</a:t>
          </a:r>
          <a:r>
            <a:rPr lang="fr-FR" dirty="0"/>
            <a:t> / animation, durée suggérée de session</a:t>
          </a:r>
        </a:p>
      </dgm:t>
    </dgm:pt>
    <dgm:pt modelId="{988D2C16-6723-4508-B712-EF96CCD17340}" type="parTrans" cxnId="{8C23C0C8-F4A5-459B-9777-1CDE8A858084}">
      <dgm:prSet/>
      <dgm:spPr/>
      <dgm:t>
        <a:bodyPr/>
        <a:lstStyle/>
        <a:p>
          <a:endParaRPr lang="fr-FR"/>
        </a:p>
      </dgm:t>
    </dgm:pt>
    <dgm:pt modelId="{65005B8E-A5AA-4912-9FEC-526B058FE77D}" type="sibTrans" cxnId="{8C23C0C8-F4A5-459B-9777-1CDE8A858084}">
      <dgm:prSet/>
      <dgm:spPr/>
      <dgm:t>
        <a:bodyPr/>
        <a:lstStyle/>
        <a:p>
          <a:endParaRPr lang="fr-FR"/>
        </a:p>
      </dgm:t>
    </dgm:pt>
    <dgm:pt modelId="{B0470A51-11AD-4E90-9EDD-C42BB5F7EF4E}">
      <dgm:prSet phldrT="[Texte]"/>
      <dgm:spPr/>
      <dgm:t>
        <a:bodyPr/>
        <a:lstStyle/>
        <a:p>
          <a:r>
            <a:rPr lang="fr-FR" b="1" dirty="0"/>
            <a:t>NIV 5 ANIMATEUR(-TRICE) </a:t>
          </a:r>
          <a:r>
            <a:rPr lang="fr-FR" dirty="0"/>
            <a:t>: Astuce d’animations, Questions de Debriefing spécifiques</a:t>
          </a:r>
        </a:p>
      </dgm:t>
    </dgm:pt>
    <dgm:pt modelId="{C20588E9-F66D-49AE-9430-D2C06C6BC1D0}" type="parTrans" cxnId="{8D52ADD1-250A-4291-9E60-C4203DCACC57}">
      <dgm:prSet/>
      <dgm:spPr/>
      <dgm:t>
        <a:bodyPr/>
        <a:lstStyle/>
        <a:p>
          <a:endParaRPr lang="fr-FR"/>
        </a:p>
      </dgm:t>
    </dgm:pt>
    <dgm:pt modelId="{8D8D18C2-88CB-4854-9149-68F790556F74}" type="sibTrans" cxnId="{8D52ADD1-250A-4291-9E60-C4203DCACC57}">
      <dgm:prSet/>
      <dgm:spPr/>
      <dgm:t>
        <a:bodyPr/>
        <a:lstStyle/>
        <a:p>
          <a:endParaRPr lang="fr-FR"/>
        </a:p>
      </dgm:t>
    </dgm:pt>
    <dgm:pt modelId="{0B29FC3C-8A8D-499A-83D6-9B8EA78FF2C6}">
      <dgm:prSet phldrT="[Texte]"/>
      <dgm:spPr/>
      <dgm:t>
        <a:bodyPr/>
        <a:lstStyle/>
        <a:p>
          <a:r>
            <a:rPr lang="fr-FR" b="1" dirty="0"/>
            <a:t>NIV 6 CRÉATEUR(-SE) :</a:t>
          </a:r>
          <a:r>
            <a:rPr lang="fr-FR" dirty="0"/>
            <a:t> Idées de variantes ou d’extension, Droits de réutilisation, historique des versions</a:t>
          </a:r>
        </a:p>
      </dgm:t>
    </dgm:pt>
    <dgm:pt modelId="{CC34ED61-8FCF-4467-8F2D-771A90B5E7EC}" type="parTrans" cxnId="{BC9C495B-D6A0-4B39-A0E1-CDCC6A01BFA9}">
      <dgm:prSet/>
      <dgm:spPr/>
      <dgm:t>
        <a:bodyPr/>
        <a:lstStyle/>
        <a:p>
          <a:endParaRPr lang="fr-FR"/>
        </a:p>
      </dgm:t>
    </dgm:pt>
    <dgm:pt modelId="{FAAADA48-87D4-47EA-A6C7-4020CBE3BA33}" type="sibTrans" cxnId="{BC9C495B-D6A0-4B39-A0E1-CDCC6A01BFA9}">
      <dgm:prSet/>
      <dgm:spPr/>
      <dgm:t>
        <a:bodyPr/>
        <a:lstStyle/>
        <a:p>
          <a:endParaRPr lang="fr-FR"/>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1"/>
      <dgm:spPr>
        <a:solidFill>
          <a:schemeClr val="bg1">
            <a:lumMod val="85000"/>
          </a:schemeClr>
        </a:solidFill>
        <a:ln>
          <a:noFill/>
        </a:ln>
      </dgm:spPr>
    </dgm:pt>
    <dgm:pt modelId="{A8F73CF3-5C35-4D3F-9BFA-3C60D3E39869}" type="pres">
      <dgm:prSet presAssocID="{D319E433-0934-4606-AB7D-2BC75F8DFA0D}" presName="ParentText" presStyleLbl="revTx" presStyleIdx="0" presStyleCnt="6">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1"/>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1"/>
      <dgm:spPr>
        <a:solidFill>
          <a:schemeClr val="bg1">
            <a:lumMod val="85000"/>
          </a:schemeClr>
        </a:solidFill>
        <a:ln>
          <a:noFill/>
        </a:ln>
      </dgm:spPr>
    </dgm:pt>
    <dgm:pt modelId="{D4C0ABF8-7168-4E17-9AEE-0A90D7D7B2D9}" type="pres">
      <dgm:prSet presAssocID="{91700F07-B7D9-4750-8436-3D09AA34A2D4}" presName="ParentText" presStyleLbl="revTx" presStyleIdx="1" presStyleCnt="6">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1"/>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1"/>
      <dgm:spPr>
        <a:solidFill>
          <a:srgbClr val="ED7D31"/>
        </a:solidFill>
        <a:ln>
          <a:noFill/>
        </a:ln>
      </dgm:spPr>
    </dgm:pt>
    <dgm:pt modelId="{6937B817-1A63-4D95-94E9-FD03A7BC1B40}" type="pres">
      <dgm:prSet presAssocID="{2A800630-C82C-4D2E-9CA2-07AF9907F8E2}" presName="ParentText" presStyleLbl="revTx" presStyleIdx="2" presStyleCnt="6">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1"/>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1"/>
      <dgm:spPr>
        <a:solidFill>
          <a:srgbClr val="ED7D31"/>
        </a:solidFill>
        <a:ln>
          <a:noFill/>
        </a:ln>
      </dgm:spPr>
    </dgm:pt>
    <dgm:pt modelId="{E1915B3A-8748-4A22-80A3-00E2828C973E}" type="pres">
      <dgm:prSet presAssocID="{E072D5FA-D96C-4052-A44E-A0EEC6E6F48E}" presName="ParentText" presStyleLbl="revTx" presStyleIdx="3" presStyleCnt="6">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1"/>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1"/>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6">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1"/>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1"/>
      <dgm:spPr>
        <a:solidFill>
          <a:srgbClr val="3494BA"/>
        </a:solidFill>
        <a:ln>
          <a:noFill/>
        </a:ln>
      </dgm:spPr>
    </dgm:pt>
    <dgm:pt modelId="{EE26FCBE-40C7-4DE0-9CD7-9F29486EDACB}" type="pres">
      <dgm:prSet presAssocID="{0B29FC3C-8A8D-499A-83D6-9B8EA78FF2C6}" presName="ParentText" presStyleLbl="revTx" presStyleIdx="5" presStyleCnt="6">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315170" y="1907562"/>
          <a:ext cx="935190" cy="1556135"/>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159063" y="2372512"/>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fr-FR" sz="1000" b="1" kern="1200" dirty="0"/>
            <a:t>NIV 1 CURIEUX(-SE) :</a:t>
          </a:r>
          <a:r>
            <a:rPr lang="fr-FR" sz="1000" kern="1200" dirty="0"/>
            <a:t> Pitch, matériel de promotion, images de promotion</a:t>
          </a:r>
        </a:p>
      </dsp:txBody>
      <dsp:txXfrm>
        <a:off x="159063" y="2372512"/>
        <a:ext cx="1404888" cy="1231466"/>
      </dsp:txXfrm>
    </dsp:sp>
    <dsp:sp modelId="{073E1243-807D-44B9-A19F-D853AB77EB56}">
      <dsp:nvSpPr>
        <dsp:cNvPr id="0" name=""/>
        <dsp:cNvSpPr/>
      </dsp:nvSpPr>
      <dsp:spPr>
        <a:xfrm>
          <a:off x="1298878" y="1792998"/>
          <a:ext cx="265073" cy="26507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2035027" y="1481982"/>
          <a:ext cx="935190" cy="1556135"/>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1878921" y="1946931"/>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fr-FR" sz="1000" b="1" kern="1200" dirty="0"/>
            <a:t>NIV 2 JOUEUR(-SE) :</a:t>
          </a:r>
          <a:r>
            <a:rPr lang="fr-FR" sz="1000" kern="1200" dirty="0"/>
            <a:t> Règles du jeu, contenu du jeu (cartes, plateau, diapositives), FAQ, exemple</a:t>
          </a:r>
        </a:p>
      </dsp:txBody>
      <dsp:txXfrm>
        <a:off x="1878921" y="1946931"/>
        <a:ext cx="1404888" cy="1231466"/>
      </dsp:txXfrm>
    </dsp:sp>
    <dsp:sp modelId="{40B3F6C3-47F2-4E3A-B536-E6827E5B6D3D}">
      <dsp:nvSpPr>
        <dsp:cNvPr id="0" name=""/>
        <dsp:cNvSpPr/>
      </dsp:nvSpPr>
      <dsp:spPr>
        <a:xfrm>
          <a:off x="3018736" y="1367417"/>
          <a:ext cx="265073" cy="265073"/>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3754885" y="1056401"/>
          <a:ext cx="935190" cy="155613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3598778" y="1521351"/>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fr-FR" sz="1000" b="1" kern="1200" dirty="0"/>
            <a:t>NIV 3 ECLAIREUR(-SE) :</a:t>
          </a:r>
          <a:r>
            <a:rPr lang="fr-FR" sz="1000" kern="1200" dirty="0"/>
            <a:t> Objectifs pédagogiques, opérationnels, problèmes adressés, cas d’usage, sujets non couverts, avec quoi compléter, public idéal, </a:t>
          </a:r>
          <a:r>
            <a:rPr lang="fr-FR" sz="1000" kern="1200" dirty="0" err="1"/>
            <a:t>pré-requis</a:t>
          </a:r>
          <a:endParaRPr lang="fr-FR" sz="1000" kern="1200" dirty="0"/>
        </a:p>
      </dsp:txBody>
      <dsp:txXfrm>
        <a:off x="3598778" y="1521351"/>
        <a:ext cx="1404888" cy="1231466"/>
      </dsp:txXfrm>
    </dsp:sp>
    <dsp:sp modelId="{CEC1A658-099E-49E5-BC89-D956E9F29B72}">
      <dsp:nvSpPr>
        <dsp:cNvPr id="0" name=""/>
        <dsp:cNvSpPr/>
      </dsp:nvSpPr>
      <dsp:spPr>
        <a:xfrm>
          <a:off x="4738593" y="941837"/>
          <a:ext cx="265073" cy="265073"/>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5474742" y="630821"/>
          <a:ext cx="935190" cy="155613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5318636" y="1095770"/>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fr-FR" sz="1000" b="1" kern="1200" dirty="0"/>
            <a:t>NIV 4 CO-ANIMATEUR(-TRICE) :</a:t>
          </a:r>
          <a:r>
            <a:rPr lang="fr-FR" sz="1000" kern="1200" dirty="0"/>
            <a:t> Répartition </a:t>
          </a:r>
          <a:r>
            <a:rPr lang="fr-FR" sz="1000" kern="1200" dirty="0" err="1"/>
            <a:t>co-animation</a:t>
          </a:r>
          <a:r>
            <a:rPr lang="fr-FR" sz="1000" kern="1200" dirty="0"/>
            <a:t> / animation, durée suggérée de session</a:t>
          </a:r>
        </a:p>
      </dsp:txBody>
      <dsp:txXfrm>
        <a:off x="5318636" y="1095770"/>
        <a:ext cx="1404888" cy="1231466"/>
      </dsp:txXfrm>
    </dsp:sp>
    <dsp:sp modelId="{B4FFB1F2-72D2-443E-96C5-38A27895A5A5}">
      <dsp:nvSpPr>
        <dsp:cNvPr id="0" name=""/>
        <dsp:cNvSpPr/>
      </dsp:nvSpPr>
      <dsp:spPr>
        <a:xfrm>
          <a:off x="6458451" y="516256"/>
          <a:ext cx="265073" cy="265073"/>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7194600" y="205240"/>
          <a:ext cx="935190" cy="155613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7038493" y="670190"/>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fr-FR" sz="1000" b="1" kern="1200" dirty="0"/>
            <a:t>NIV 5 ANIMATEUR(-TRICE) </a:t>
          </a:r>
          <a:r>
            <a:rPr lang="fr-FR" sz="1000" kern="1200" dirty="0"/>
            <a:t>: Astuce d’animations, Questions de Debriefing spécifiques</a:t>
          </a:r>
        </a:p>
      </dsp:txBody>
      <dsp:txXfrm>
        <a:off x="7038493" y="670190"/>
        <a:ext cx="1404888" cy="1231466"/>
      </dsp:txXfrm>
    </dsp:sp>
    <dsp:sp modelId="{B61612F3-149C-445E-B77C-8D7D7291AAB9}">
      <dsp:nvSpPr>
        <dsp:cNvPr id="0" name=""/>
        <dsp:cNvSpPr/>
      </dsp:nvSpPr>
      <dsp:spPr>
        <a:xfrm>
          <a:off x="8178308" y="90676"/>
          <a:ext cx="265073" cy="265073"/>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8914457" y="-220339"/>
          <a:ext cx="935190" cy="1556135"/>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8758351" y="244609"/>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fr-FR" sz="1000" b="1" kern="1200" dirty="0"/>
            <a:t>NIV 6 CRÉATEUR(-SE) :</a:t>
          </a:r>
          <a:r>
            <a:rPr lang="fr-FR" sz="1000" kern="1200" dirty="0"/>
            <a:t> Idées de variantes ou d’extension, Droits de réutilisation, historique des versions</a:t>
          </a:r>
        </a:p>
      </dsp:txBody>
      <dsp:txXfrm>
        <a:off x="8758351" y="244609"/>
        <a:ext cx="1404888" cy="1231466"/>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241865E-A5E6-E59B-E7B4-3D8787EA79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31BD9ECF-9A58-9FF8-9519-F4BFAD6E3B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AE2AD8-E064-4634-994D-C63627C59CB0}" type="datetimeFigureOut">
              <a:rPr lang="fr-FR" smtClean="0"/>
              <a:t>23/11/2023</a:t>
            </a:fld>
            <a:endParaRPr lang="fr-FR"/>
          </a:p>
        </p:txBody>
      </p:sp>
      <p:sp>
        <p:nvSpPr>
          <p:cNvPr id="4" name="Espace réservé du pied de page 3">
            <a:extLst>
              <a:ext uri="{FF2B5EF4-FFF2-40B4-BE49-F238E27FC236}">
                <a16:creationId xmlns:a16="http://schemas.microsoft.com/office/drawing/2014/main" id="{56B23F81-2BBB-7E30-D5EF-473CBB65B9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83F7D537-754D-85A6-236F-EE4634A1A2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4702230-6C28-4CF0-945C-0AA0D3AF2F3E}" type="slidenum">
              <a:rPr lang="fr-FR" smtClean="0"/>
              <a:t>‹N›</a:t>
            </a:fld>
            <a:endParaRPr lang="fr-FR"/>
          </a:p>
        </p:txBody>
      </p:sp>
    </p:spTree>
    <p:extLst>
      <p:ext uri="{BB962C8B-B14F-4D97-AF65-F5344CB8AC3E}">
        <p14:creationId xmlns:p14="http://schemas.microsoft.com/office/powerpoint/2010/main" val="12035364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23/11/2023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18</a:t>
            </a:fld>
            <a:endParaRPr lang="fr-FR"/>
          </a:p>
        </p:txBody>
      </p:sp>
    </p:spTree>
    <p:extLst>
      <p:ext uri="{BB962C8B-B14F-4D97-AF65-F5344CB8AC3E}">
        <p14:creationId xmlns:p14="http://schemas.microsoft.com/office/powerpoint/2010/main" val="2973751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25</a:t>
            </a:fld>
            <a:endParaRPr lang="fr-FR"/>
          </a:p>
        </p:txBody>
      </p:sp>
    </p:spTree>
    <p:extLst>
      <p:ext uri="{BB962C8B-B14F-4D97-AF65-F5344CB8AC3E}">
        <p14:creationId xmlns:p14="http://schemas.microsoft.com/office/powerpoint/2010/main" val="4218112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preuves collectives">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1C5623FF-08C8-D3A4-25AC-E9BE9BB520B8}"/>
              </a:ext>
            </a:extLst>
          </p:cNvPr>
          <p:cNvGraphicFramePr>
            <a:graphicFrameLocks noGrp="1"/>
          </p:cNvGraphicFramePr>
          <p:nvPr userDrawn="1">
            <p:extLst>
              <p:ext uri="{D42A27DB-BD31-4B8C-83A1-F6EECF244321}">
                <p14:modId xmlns:p14="http://schemas.microsoft.com/office/powerpoint/2010/main" val="3245051148"/>
              </p:ext>
            </p:extLst>
          </p:nvPr>
        </p:nvGraphicFramePr>
        <p:xfrm>
          <a:off x="0" y="0"/>
          <a:ext cx="12192000" cy="6858000"/>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465594546"/>
                    </a:ext>
                  </a:extLst>
                </a:gridCol>
                <a:gridCol w="3048000">
                  <a:extLst>
                    <a:ext uri="{9D8B030D-6E8A-4147-A177-3AD203B41FA5}">
                      <a16:colId xmlns:a16="http://schemas.microsoft.com/office/drawing/2014/main" val="844568728"/>
                    </a:ext>
                  </a:extLst>
                </a:gridCol>
                <a:gridCol w="3048000">
                  <a:extLst>
                    <a:ext uri="{9D8B030D-6E8A-4147-A177-3AD203B41FA5}">
                      <a16:colId xmlns:a16="http://schemas.microsoft.com/office/drawing/2014/main" val="2216349016"/>
                    </a:ext>
                  </a:extLst>
                </a:gridCol>
                <a:gridCol w="3048000">
                  <a:extLst>
                    <a:ext uri="{9D8B030D-6E8A-4147-A177-3AD203B41FA5}">
                      <a16:colId xmlns:a16="http://schemas.microsoft.com/office/drawing/2014/main" val="1641310446"/>
                    </a:ext>
                  </a:extLst>
                </a:gridCol>
              </a:tblGrid>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32240512"/>
                  </a:ext>
                </a:extLst>
              </a:tr>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786314030"/>
                  </a:ext>
                </a:extLst>
              </a:tr>
            </a:tbl>
          </a:graphicData>
        </a:graphic>
      </p:graphicFrame>
      <p:sp>
        <p:nvSpPr>
          <p:cNvPr id="7" name="Rectangle 6">
            <a:extLst>
              <a:ext uri="{FF2B5EF4-FFF2-40B4-BE49-F238E27FC236}">
                <a16:creationId xmlns:a16="http://schemas.microsoft.com/office/drawing/2014/main" id="{6DF5B10C-9855-B083-3233-894FEC27F750}"/>
              </a:ext>
            </a:extLst>
          </p:cNvPr>
          <p:cNvSpPr/>
          <p:nvPr userDrawn="1"/>
        </p:nvSpPr>
        <p:spPr>
          <a:xfrm>
            <a:off x="108065"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8" name="Rectangle 7">
            <a:extLst>
              <a:ext uri="{FF2B5EF4-FFF2-40B4-BE49-F238E27FC236}">
                <a16:creationId xmlns:a16="http://schemas.microsoft.com/office/drawing/2014/main" id="{41DA70BB-7B11-4A94-59A2-709F326F7BC9}"/>
              </a:ext>
            </a:extLst>
          </p:cNvPr>
          <p:cNvSpPr/>
          <p:nvPr userDrawn="1"/>
        </p:nvSpPr>
        <p:spPr>
          <a:xfrm>
            <a:off x="3133898"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9" name="Rectangle 8">
            <a:extLst>
              <a:ext uri="{FF2B5EF4-FFF2-40B4-BE49-F238E27FC236}">
                <a16:creationId xmlns:a16="http://schemas.microsoft.com/office/drawing/2014/main" id="{50A97E39-90FD-F425-308B-E6B815F429A7}"/>
              </a:ext>
            </a:extLst>
          </p:cNvPr>
          <p:cNvSpPr/>
          <p:nvPr userDrawn="1"/>
        </p:nvSpPr>
        <p:spPr>
          <a:xfrm>
            <a:off x="6223464"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10" name="Rectangle 9">
            <a:extLst>
              <a:ext uri="{FF2B5EF4-FFF2-40B4-BE49-F238E27FC236}">
                <a16:creationId xmlns:a16="http://schemas.microsoft.com/office/drawing/2014/main" id="{8BD5B240-6D6E-1EC2-3C81-5F111A010CF9}"/>
              </a:ext>
            </a:extLst>
          </p:cNvPr>
          <p:cNvSpPr/>
          <p:nvPr userDrawn="1"/>
        </p:nvSpPr>
        <p:spPr>
          <a:xfrm>
            <a:off x="9249295"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11" name="Rectangle 10">
            <a:extLst>
              <a:ext uri="{FF2B5EF4-FFF2-40B4-BE49-F238E27FC236}">
                <a16:creationId xmlns:a16="http://schemas.microsoft.com/office/drawing/2014/main" id="{39D06E73-3A31-657D-1179-F97B9119C7A5}"/>
              </a:ext>
            </a:extLst>
          </p:cNvPr>
          <p:cNvSpPr/>
          <p:nvPr userDrawn="1"/>
        </p:nvSpPr>
        <p:spPr>
          <a:xfrm>
            <a:off x="108065"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12" name="Rectangle 11">
            <a:extLst>
              <a:ext uri="{FF2B5EF4-FFF2-40B4-BE49-F238E27FC236}">
                <a16:creationId xmlns:a16="http://schemas.microsoft.com/office/drawing/2014/main" id="{6168E3EF-C85F-DA1A-6E96-20C45E5B40F2}"/>
              </a:ext>
            </a:extLst>
          </p:cNvPr>
          <p:cNvSpPr/>
          <p:nvPr userDrawn="1"/>
        </p:nvSpPr>
        <p:spPr>
          <a:xfrm>
            <a:off x="3133898"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13" name="Rectangle 12">
            <a:extLst>
              <a:ext uri="{FF2B5EF4-FFF2-40B4-BE49-F238E27FC236}">
                <a16:creationId xmlns:a16="http://schemas.microsoft.com/office/drawing/2014/main" id="{70547D0B-756F-851A-330F-6A9A5743B21A}"/>
              </a:ext>
            </a:extLst>
          </p:cNvPr>
          <p:cNvSpPr/>
          <p:nvPr userDrawn="1"/>
        </p:nvSpPr>
        <p:spPr>
          <a:xfrm>
            <a:off x="6223464" y="3549534"/>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14" name="Rectangle 13">
            <a:extLst>
              <a:ext uri="{FF2B5EF4-FFF2-40B4-BE49-F238E27FC236}">
                <a16:creationId xmlns:a16="http://schemas.microsoft.com/office/drawing/2014/main" id="{9C95F4CC-B885-D03E-F3C6-FA3A2F1629AD}"/>
              </a:ext>
            </a:extLst>
          </p:cNvPr>
          <p:cNvSpPr/>
          <p:nvPr userDrawn="1"/>
        </p:nvSpPr>
        <p:spPr>
          <a:xfrm>
            <a:off x="9249295" y="3549533"/>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collective</a:t>
            </a:r>
          </a:p>
          <a:p>
            <a:pPr algn="ctr"/>
            <a:r>
              <a:rPr lang="fr-FR" sz="1400" b="1" i="1" dirty="0">
                <a:solidFill>
                  <a:schemeClr val="tx1"/>
                </a:solidFill>
              </a:rPr>
              <a:t>Handi Situations</a:t>
            </a:r>
          </a:p>
        </p:txBody>
      </p:sp>
      <p:sp>
        <p:nvSpPr>
          <p:cNvPr id="3" name="Espace réservé du texte 2">
            <a:extLst>
              <a:ext uri="{FF2B5EF4-FFF2-40B4-BE49-F238E27FC236}">
                <a16:creationId xmlns:a16="http://schemas.microsoft.com/office/drawing/2014/main" id="{AA780151-BC98-5180-1B86-F3CB7D026AC3}"/>
              </a:ext>
            </a:extLst>
          </p:cNvPr>
          <p:cNvSpPr>
            <a:spLocks noGrp="1"/>
          </p:cNvSpPr>
          <p:nvPr>
            <p:ph type="body" sz="quarter" idx="10"/>
          </p:nvPr>
        </p:nvSpPr>
        <p:spPr>
          <a:xfrm>
            <a:off x="108065" y="1664142"/>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15" name="Espace réservé du texte 2">
            <a:extLst>
              <a:ext uri="{FF2B5EF4-FFF2-40B4-BE49-F238E27FC236}">
                <a16:creationId xmlns:a16="http://schemas.microsoft.com/office/drawing/2014/main" id="{C4A4ADD8-2242-4737-5740-CC5132C0EEB1}"/>
              </a:ext>
            </a:extLst>
          </p:cNvPr>
          <p:cNvSpPr>
            <a:spLocks noGrp="1"/>
          </p:cNvSpPr>
          <p:nvPr>
            <p:ph type="body" sz="quarter" idx="11"/>
          </p:nvPr>
        </p:nvSpPr>
        <p:spPr>
          <a:xfrm>
            <a:off x="3133896" y="1664141"/>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16" name="Espace réservé du texte 2">
            <a:extLst>
              <a:ext uri="{FF2B5EF4-FFF2-40B4-BE49-F238E27FC236}">
                <a16:creationId xmlns:a16="http://schemas.microsoft.com/office/drawing/2014/main" id="{95EFE1AE-AD6F-C9A7-75E3-52C43DAE8205}"/>
              </a:ext>
            </a:extLst>
          </p:cNvPr>
          <p:cNvSpPr>
            <a:spLocks noGrp="1"/>
          </p:cNvSpPr>
          <p:nvPr>
            <p:ph type="body" sz="quarter" idx="12"/>
          </p:nvPr>
        </p:nvSpPr>
        <p:spPr>
          <a:xfrm>
            <a:off x="6222829" y="1645920"/>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17" name="Espace réservé du texte 2">
            <a:extLst>
              <a:ext uri="{FF2B5EF4-FFF2-40B4-BE49-F238E27FC236}">
                <a16:creationId xmlns:a16="http://schemas.microsoft.com/office/drawing/2014/main" id="{FCC2F6E9-152A-1F50-8356-D3D7F1F5F369}"/>
              </a:ext>
            </a:extLst>
          </p:cNvPr>
          <p:cNvSpPr>
            <a:spLocks noGrp="1"/>
          </p:cNvSpPr>
          <p:nvPr>
            <p:ph type="body" sz="quarter" idx="13"/>
          </p:nvPr>
        </p:nvSpPr>
        <p:spPr>
          <a:xfrm>
            <a:off x="9248660" y="1645919"/>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18" name="Espace réservé du texte 2">
            <a:extLst>
              <a:ext uri="{FF2B5EF4-FFF2-40B4-BE49-F238E27FC236}">
                <a16:creationId xmlns:a16="http://schemas.microsoft.com/office/drawing/2014/main" id="{13BDDB9D-8DE7-B08C-45D4-0F907AA77A8A}"/>
              </a:ext>
            </a:extLst>
          </p:cNvPr>
          <p:cNvSpPr>
            <a:spLocks noGrp="1"/>
          </p:cNvSpPr>
          <p:nvPr>
            <p:ph type="body" sz="quarter" idx="14"/>
          </p:nvPr>
        </p:nvSpPr>
        <p:spPr>
          <a:xfrm>
            <a:off x="108065" y="5111046"/>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19" name="Espace réservé du texte 2">
            <a:extLst>
              <a:ext uri="{FF2B5EF4-FFF2-40B4-BE49-F238E27FC236}">
                <a16:creationId xmlns:a16="http://schemas.microsoft.com/office/drawing/2014/main" id="{AFFB732D-5F0A-99E3-1C4D-B4B1BDC9655F}"/>
              </a:ext>
            </a:extLst>
          </p:cNvPr>
          <p:cNvSpPr>
            <a:spLocks noGrp="1"/>
          </p:cNvSpPr>
          <p:nvPr>
            <p:ph type="body" sz="quarter" idx="15"/>
          </p:nvPr>
        </p:nvSpPr>
        <p:spPr>
          <a:xfrm>
            <a:off x="3133896" y="5111046"/>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20" name="Espace réservé du texte 2">
            <a:extLst>
              <a:ext uri="{FF2B5EF4-FFF2-40B4-BE49-F238E27FC236}">
                <a16:creationId xmlns:a16="http://schemas.microsoft.com/office/drawing/2014/main" id="{6C1EE131-2E1B-C0B6-5726-112D65DFA009}"/>
              </a:ext>
            </a:extLst>
          </p:cNvPr>
          <p:cNvSpPr>
            <a:spLocks noGrp="1"/>
          </p:cNvSpPr>
          <p:nvPr>
            <p:ph type="body" sz="quarter" idx="16"/>
          </p:nvPr>
        </p:nvSpPr>
        <p:spPr>
          <a:xfrm>
            <a:off x="6222829" y="5111046"/>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21" name="Espace réservé du texte 2">
            <a:extLst>
              <a:ext uri="{FF2B5EF4-FFF2-40B4-BE49-F238E27FC236}">
                <a16:creationId xmlns:a16="http://schemas.microsoft.com/office/drawing/2014/main" id="{3DC68C54-C0E2-0785-8353-044CE39F022D}"/>
              </a:ext>
            </a:extLst>
          </p:cNvPr>
          <p:cNvSpPr>
            <a:spLocks noGrp="1"/>
          </p:cNvSpPr>
          <p:nvPr>
            <p:ph type="body" sz="quarter" idx="17"/>
          </p:nvPr>
        </p:nvSpPr>
        <p:spPr>
          <a:xfrm>
            <a:off x="9248660" y="5111046"/>
            <a:ext cx="2835275" cy="1644321"/>
          </a:xfrm>
        </p:spPr>
        <p:txBody>
          <a:bodyPr>
            <a:normAutofit/>
          </a:bodyPr>
          <a:lstStyle>
            <a:lvl1pPr marL="0" indent="0" algn="ctr">
              <a:buNone/>
              <a:defRPr sz="1800"/>
            </a:lvl1pPr>
          </a:lstStyle>
          <a:p>
            <a:pPr lvl="0"/>
            <a:r>
              <a:rPr lang="fr-FR" dirty="0"/>
              <a:t>Cliquez pour modifier les styles du texte du masque</a:t>
            </a:r>
          </a:p>
        </p:txBody>
      </p:sp>
      <p:pic>
        <p:nvPicPr>
          <p:cNvPr id="22" name="Image 21">
            <a:extLst>
              <a:ext uri="{FF2B5EF4-FFF2-40B4-BE49-F238E27FC236}">
                <a16:creationId xmlns:a16="http://schemas.microsoft.com/office/drawing/2014/main" id="{7123D6FE-9AFC-D46F-8549-83E2F1E6A1B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92814" y="140633"/>
            <a:ext cx="230113" cy="222059"/>
          </a:xfrm>
          <a:prstGeom prst="rect">
            <a:avLst/>
          </a:prstGeom>
        </p:spPr>
      </p:pic>
      <p:pic>
        <p:nvPicPr>
          <p:cNvPr id="23" name="Image 22">
            <a:extLst>
              <a:ext uri="{FF2B5EF4-FFF2-40B4-BE49-F238E27FC236}">
                <a16:creationId xmlns:a16="http://schemas.microsoft.com/office/drawing/2014/main" id="{10A92BBD-BEDC-CE48-8333-4CD8E88EE4B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61266" y="3591712"/>
            <a:ext cx="230113" cy="222059"/>
          </a:xfrm>
          <a:prstGeom prst="rect">
            <a:avLst/>
          </a:prstGeom>
        </p:spPr>
      </p:pic>
      <p:pic>
        <p:nvPicPr>
          <p:cNvPr id="24" name="Image 23">
            <a:extLst>
              <a:ext uri="{FF2B5EF4-FFF2-40B4-BE49-F238E27FC236}">
                <a16:creationId xmlns:a16="http://schemas.microsoft.com/office/drawing/2014/main" id="{E097FA34-FC03-2127-4031-A403C90CFFF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262" y="140633"/>
            <a:ext cx="230113" cy="222059"/>
          </a:xfrm>
          <a:prstGeom prst="rect">
            <a:avLst/>
          </a:prstGeom>
        </p:spPr>
      </p:pic>
      <p:pic>
        <p:nvPicPr>
          <p:cNvPr id="25" name="Image 24">
            <a:extLst>
              <a:ext uri="{FF2B5EF4-FFF2-40B4-BE49-F238E27FC236}">
                <a16:creationId xmlns:a16="http://schemas.microsoft.com/office/drawing/2014/main" id="{F0E175C9-605E-3972-45E1-4B5099BE2B2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673714" y="3591712"/>
            <a:ext cx="230113" cy="222059"/>
          </a:xfrm>
          <a:prstGeom prst="rect">
            <a:avLst/>
          </a:prstGeom>
        </p:spPr>
      </p:pic>
      <p:pic>
        <p:nvPicPr>
          <p:cNvPr id="26" name="Image 25">
            <a:extLst>
              <a:ext uri="{FF2B5EF4-FFF2-40B4-BE49-F238E27FC236}">
                <a16:creationId xmlns:a16="http://schemas.microsoft.com/office/drawing/2014/main" id="{C610DCC7-5B9E-4BB6-D928-716C0720627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23669" y="140633"/>
            <a:ext cx="230113" cy="222059"/>
          </a:xfrm>
          <a:prstGeom prst="rect">
            <a:avLst/>
          </a:prstGeom>
        </p:spPr>
      </p:pic>
      <p:pic>
        <p:nvPicPr>
          <p:cNvPr id="27" name="Image 26">
            <a:extLst>
              <a:ext uri="{FF2B5EF4-FFF2-40B4-BE49-F238E27FC236}">
                <a16:creationId xmlns:a16="http://schemas.microsoft.com/office/drawing/2014/main" id="{FFE6132D-C6E8-C3B7-2741-6D24B9153C3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92121" y="3591712"/>
            <a:ext cx="230113" cy="222059"/>
          </a:xfrm>
          <a:prstGeom prst="rect">
            <a:avLst/>
          </a:prstGeom>
        </p:spPr>
      </p:pic>
      <p:pic>
        <p:nvPicPr>
          <p:cNvPr id="28" name="Image 27">
            <a:extLst>
              <a:ext uri="{FF2B5EF4-FFF2-40B4-BE49-F238E27FC236}">
                <a16:creationId xmlns:a16="http://schemas.microsoft.com/office/drawing/2014/main" id="{B33868E3-C53F-36F7-E6F8-CD97EDC5E0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31844" y="140633"/>
            <a:ext cx="230113" cy="222059"/>
          </a:xfrm>
          <a:prstGeom prst="rect">
            <a:avLst/>
          </a:prstGeom>
        </p:spPr>
      </p:pic>
      <p:pic>
        <p:nvPicPr>
          <p:cNvPr id="29" name="Image 28">
            <a:extLst>
              <a:ext uri="{FF2B5EF4-FFF2-40B4-BE49-F238E27FC236}">
                <a16:creationId xmlns:a16="http://schemas.microsoft.com/office/drawing/2014/main" id="{764B39E3-A93E-27F0-567C-52927DF4B76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00296" y="3591712"/>
            <a:ext cx="230113" cy="222059"/>
          </a:xfrm>
          <a:prstGeom prst="rect">
            <a:avLst/>
          </a:prstGeom>
        </p:spPr>
      </p:pic>
      <p:sp>
        <p:nvSpPr>
          <p:cNvPr id="2" name="Espace réservé de l'image en ligne 14">
            <a:extLst>
              <a:ext uri="{FF2B5EF4-FFF2-40B4-BE49-F238E27FC236}">
                <a16:creationId xmlns:a16="http://schemas.microsoft.com/office/drawing/2014/main" id="{8C79BFEF-2FA6-E0D9-EE5E-42E7E0DA6EE8}"/>
              </a:ext>
            </a:extLst>
          </p:cNvPr>
          <p:cNvSpPr>
            <a:spLocks noGrp="1"/>
          </p:cNvSpPr>
          <p:nvPr>
            <p:ph type="clipArt" sz="quarter" idx="26"/>
          </p:nvPr>
        </p:nvSpPr>
        <p:spPr>
          <a:xfrm>
            <a:off x="302605" y="594548"/>
            <a:ext cx="2444750" cy="1048506"/>
          </a:xfrm>
        </p:spPr>
        <p:txBody>
          <a:bodyPr>
            <a:normAutofit/>
          </a:bodyPr>
          <a:lstStyle>
            <a:lvl1pPr marL="0" indent="0" algn="ctr">
              <a:buNone/>
              <a:defRPr sz="1200"/>
            </a:lvl1pPr>
          </a:lstStyle>
          <a:p>
            <a:endParaRPr lang="fr-FR"/>
          </a:p>
        </p:txBody>
      </p:sp>
      <p:sp>
        <p:nvSpPr>
          <p:cNvPr id="36" name="Espace réservé de l'image en ligne 14">
            <a:extLst>
              <a:ext uri="{FF2B5EF4-FFF2-40B4-BE49-F238E27FC236}">
                <a16:creationId xmlns:a16="http://schemas.microsoft.com/office/drawing/2014/main" id="{9BDF30F5-BF65-5992-528E-22B28C726B72}"/>
              </a:ext>
            </a:extLst>
          </p:cNvPr>
          <p:cNvSpPr>
            <a:spLocks noGrp="1"/>
          </p:cNvSpPr>
          <p:nvPr>
            <p:ph type="clipArt" sz="quarter" idx="27"/>
          </p:nvPr>
        </p:nvSpPr>
        <p:spPr>
          <a:xfrm>
            <a:off x="3329247" y="594548"/>
            <a:ext cx="2444750" cy="1048506"/>
          </a:xfrm>
        </p:spPr>
        <p:txBody>
          <a:bodyPr>
            <a:normAutofit/>
          </a:bodyPr>
          <a:lstStyle>
            <a:lvl1pPr marL="0" indent="0" algn="ctr">
              <a:buNone/>
              <a:defRPr sz="1200"/>
            </a:lvl1pPr>
          </a:lstStyle>
          <a:p>
            <a:endParaRPr lang="fr-FR"/>
          </a:p>
        </p:txBody>
      </p:sp>
      <p:sp>
        <p:nvSpPr>
          <p:cNvPr id="37" name="Espace réservé de l'image en ligne 14">
            <a:extLst>
              <a:ext uri="{FF2B5EF4-FFF2-40B4-BE49-F238E27FC236}">
                <a16:creationId xmlns:a16="http://schemas.microsoft.com/office/drawing/2014/main" id="{206FC6D3-D388-9DBA-7363-6AFF571DF52D}"/>
              </a:ext>
            </a:extLst>
          </p:cNvPr>
          <p:cNvSpPr>
            <a:spLocks noGrp="1"/>
          </p:cNvSpPr>
          <p:nvPr>
            <p:ph type="clipArt" sz="quarter" idx="28"/>
          </p:nvPr>
        </p:nvSpPr>
        <p:spPr>
          <a:xfrm>
            <a:off x="6418003" y="586222"/>
            <a:ext cx="2444750" cy="1048506"/>
          </a:xfrm>
        </p:spPr>
        <p:txBody>
          <a:bodyPr>
            <a:normAutofit/>
          </a:bodyPr>
          <a:lstStyle>
            <a:lvl1pPr marL="0" indent="0" algn="ctr">
              <a:buNone/>
              <a:defRPr sz="1200"/>
            </a:lvl1pPr>
          </a:lstStyle>
          <a:p>
            <a:endParaRPr lang="fr-FR"/>
          </a:p>
        </p:txBody>
      </p:sp>
      <p:sp>
        <p:nvSpPr>
          <p:cNvPr id="38" name="Espace réservé de l'image en ligne 14">
            <a:extLst>
              <a:ext uri="{FF2B5EF4-FFF2-40B4-BE49-F238E27FC236}">
                <a16:creationId xmlns:a16="http://schemas.microsoft.com/office/drawing/2014/main" id="{707B6353-A52A-B212-7639-FC4D510CC19C}"/>
              </a:ext>
            </a:extLst>
          </p:cNvPr>
          <p:cNvSpPr>
            <a:spLocks noGrp="1"/>
          </p:cNvSpPr>
          <p:nvPr>
            <p:ph type="clipArt" sz="quarter" idx="29"/>
          </p:nvPr>
        </p:nvSpPr>
        <p:spPr>
          <a:xfrm>
            <a:off x="9443836" y="576324"/>
            <a:ext cx="2444750" cy="1048506"/>
          </a:xfrm>
        </p:spPr>
        <p:txBody>
          <a:bodyPr>
            <a:normAutofit/>
          </a:bodyPr>
          <a:lstStyle>
            <a:lvl1pPr marL="0" indent="0" algn="ctr">
              <a:buNone/>
              <a:defRPr sz="1200"/>
            </a:lvl1pPr>
          </a:lstStyle>
          <a:p>
            <a:endParaRPr lang="fr-FR"/>
          </a:p>
        </p:txBody>
      </p:sp>
      <p:sp>
        <p:nvSpPr>
          <p:cNvPr id="39" name="Espace réservé de l'image en ligne 14">
            <a:extLst>
              <a:ext uri="{FF2B5EF4-FFF2-40B4-BE49-F238E27FC236}">
                <a16:creationId xmlns:a16="http://schemas.microsoft.com/office/drawing/2014/main" id="{1C2D4401-62B5-23CC-695F-8B30B060ACAA}"/>
              </a:ext>
            </a:extLst>
          </p:cNvPr>
          <p:cNvSpPr>
            <a:spLocks noGrp="1"/>
          </p:cNvSpPr>
          <p:nvPr>
            <p:ph type="clipArt" sz="quarter" idx="30"/>
          </p:nvPr>
        </p:nvSpPr>
        <p:spPr>
          <a:xfrm>
            <a:off x="302605" y="4044315"/>
            <a:ext cx="2444750" cy="1048506"/>
          </a:xfrm>
        </p:spPr>
        <p:txBody>
          <a:bodyPr>
            <a:normAutofit/>
          </a:bodyPr>
          <a:lstStyle>
            <a:lvl1pPr marL="0" indent="0" algn="ctr">
              <a:buNone/>
              <a:defRPr sz="1200"/>
            </a:lvl1pPr>
          </a:lstStyle>
          <a:p>
            <a:endParaRPr lang="fr-FR"/>
          </a:p>
        </p:txBody>
      </p:sp>
      <p:sp>
        <p:nvSpPr>
          <p:cNvPr id="40" name="Espace réservé de l'image en ligne 14">
            <a:extLst>
              <a:ext uri="{FF2B5EF4-FFF2-40B4-BE49-F238E27FC236}">
                <a16:creationId xmlns:a16="http://schemas.microsoft.com/office/drawing/2014/main" id="{8BCB1B89-FEC2-F4EC-2714-FB30A2A07D36}"/>
              </a:ext>
            </a:extLst>
          </p:cNvPr>
          <p:cNvSpPr>
            <a:spLocks noGrp="1"/>
          </p:cNvSpPr>
          <p:nvPr>
            <p:ph type="clipArt" sz="quarter" idx="31"/>
          </p:nvPr>
        </p:nvSpPr>
        <p:spPr>
          <a:xfrm>
            <a:off x="3329247" y="4044315"/>
            <a:ext cx="2444750" cy="1048506"/>
          </a:xfrm>
        </p:spPr>
        <p:txBody>
          <a:bodyPr>
            <a:normAutofit/>
          </a:bodyPr>
          <a:lstStyle>
            <a:lvl1pPr marL="0" indent="0" algn="ctr">
              <a:buNone/>
              <a:defRPr sz="1200"/>
            </a:lvl1pPr>
          </a:lstStyle>
          <a:p>
            <a:endParaRPr lang="fr-FR"/>
          </a:p>
        </p:txBody>
      </p:sp>
      <p:sp>
        <p:nvSpPr>
          <p:cNvPr id="41" name="Espace réservé de l'image en ligne 14">
            <a:extLst>
              <a:ext uri="{FF2B5EF4-FFF2-40B4-BE49-F238E27FC236}">
                <a16:creationId xmlns:a16="http://schemas.microsoft.com/office/drawing/2014/main" id="{0799B0E2-4D32-C07D-D37E-EB3A92950D06}"/>
              </a:ext>
            </a:extLst>
          </p:cNvPr>
          <p:cNvSpPr>
            <a:spLocks noGrp="1"/>
          </p:cNvSpPr>
          <p:nvPr>
            <p:ph type="clipArt" sz="quarter" idx="32"/>
          </p:nvPr>
        </p:nvSpPr>
        <p:spPr>
          <a:xfrm>
            <a:off x="6418003" y="4035989"/>
            <a:ext cx="2444750" cy="1048506"/>
          </a:xfrm>
        </p:spPr>
        <p:txBody>
          <a:bodyPr>
            <a:normAutofit/>
          </a:bodyPr>
          <a:lstStyle>
            <a:lvl1pPr marL="0" indent="0" algn="ctr">
              <a:buNone/>
              <a:defRPr sz="1200"/>
            </a:lvl1pPr>
          </a:lstStyle>
          <a:p>
            <a:endParaRPr lang="fr-FR"/>
          </a:p>
        </p:txBody>
      </p:sp>
      <p:sp>
        <p:nvSpPr>
          <p:cNvPr id="42" name="Espace réservé de l'image en ligne 14">
            <a:extLst>
              <a:ext uri="{FF2B5EF4-FFF2-40B4-BE49-F238E27FC236}">
                <a16:creationId xmlns:a16="http://schemas.microsoft.com/office/drawing/2014/main" id="{853B46AA-08CE-86A9-8EAA-E8B802039A35}"/>
              </a:ext>
            </a:extLst>
          </p:cNvPr>
          <p:cNvSpPr>
            <a:spLocks noGrp="1"/>
          </p:cNvSpPr>
          <p:nvPr>
            <p:ph type="clipArt" sz="quarter" idx="33"/>
          </p:nvPr>
        </p:nvSpPr>
        <p:spPr>
          <a:xfrm>
            <a:off x="9443836" y="4026091"/>
            <a:ext cx="2444750" cy="1048506"/>
          </a:xfrm>
        </p:spPr>
        <p:txBody>
          <a:bodyPr>
            <a:normAutofit/>
          </a:bodyPr>
          <a:lstStyle>
            <a:lvl1pPr marL="0" indent="0" algn="ctr">
              <a:buNone/>
              <a:defRPr sz="1200"/>
            </a:lvl1pPr>
          </a:lstStyle>
          <a:p>
            <a:endParaRPr lang="fr-FR"/>
          </a:p>
        </p:txBody>
      </p:sp>
    </p:spTree>
    <p:extLst>
      <p:ext uri="{BB962C8B-B14F-4D97-AF65-F5344CB8AC3E}">
        <p14:creationId xmlns:p14="http://schemas.microsoft.com/office/powerpoint/2010/main" val="502314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preuves individuelles">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1C5623FF-08C8-D3A4-25AC-E9BE9BB520B8}"/>
              </a:ext>
            </a:extLst>
          </p:cNvPr>
          <p:cNvGraphicFramePr>
            <a:graphicFrameLocks noGrp="1"/>
          </p:cNvGraphicFramePr>
          <p:nvPr userDrawn="1">
            <p:extLst>
              <p:ext uri="{D42A27DB-BD31-4B8C-83A1-F6EECF244321}">
                <p14:modId xmlns:p14="http://schemas.microsoft.com/office/powerpoint/2010/main" val="3245051148"/>
              </p:ext>
            </p:extLst>
          </p:nvPr>
        </p:nvGraphicFramePr>
        <p:xfrm>
          <a:off x="0" y="0"/>
          <a:ext cx="12192000" cy="6858000"/>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465594546"/>
                    </a:ext>
                  </a:extLst>
                </a:gridCol>
                <a:gridCol w="3048000">
                  <a:extLst>
                    <a:ext uri="{9D8B030D-6E8A-4147-A177-3AD203B41FA5}">
                      <a16:colId xmlns:a16="http://schemas.microsoft.com/office/drawing/2014/main" val="844568728"/>
                    </a:ext>
                  </a:extLst>
                </a:gridCol>
                <a:gridCol w="3048000">
                  <a:extLst>
                    <a:ext uri="{9D8B030D-6E8A-4147-A177-3AD203B41FA5}">
                      <a16:colId xmlns:a16="http://schemas.microsoft.com/office/drawing/2014/main" val="2216349016"/>
                    </a:ext>
                  </a:extLst>
                </a:gridCol>
                <a:gridCol w="3048000">
                  <a:extLst>
                    <a:ext uri="{9D8B030D-6E8A-4147-A177-3AD203B41FA5}">
                      <a16:colId xmlns:a16="http://schemas.microsoft.com/office/drawing/2014/main" val="1641310446"/>
                    </a:ext>
                  </a:extLst>
                </a:gridCol>
              </a:tblGrid>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32240512"/>
                  </a:ext>
                </a:extLst>
              </a:tr>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786314030"/>
                  </a:ext>
                </a:extLst>
              </a:tr>
            </a:tbl>
          </a:graphicData>
        </a:graphic>
      </p:graphicFrame>
      <p:sp>
        <p:nvSpPr>
          <p:cNvPr id="7" name="Rectangle 6">
            <a:extLst>
              <a:ext uri="{FF2B5EF4-FFF2-40B4-BE49-F238E27FC236}">
                <a16:creationId xmlns:a16="http://schemas.microsoft.com/office/drawing/2014/main" id="{6DF5B10C-9855-B083-3233-894FEC27F750}"/>
              </a:ext>
            </a:extLst>
          </p:cNvPr>
          <p:cNvSpPr/>
          <p:nvPr userDrawn="1"/>
        </p:nvSpPr>
        <p:spPr>
          <a:xfrm>
            <a:off x="108065"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sp>
        <p:nvSpPr>
          <p:cNvPr id="8" name="Rectangle 7">
            <a:extLst>
              <a:ext uri="{FF2B5EF4-FFF2-40B4-BE49-F238E27FC236}">
                <a16:creationId xmlns:a16="http://schemas.microsoft.com/office/drawing/2014/main" id="{41DA70BB-7B11-4A94-59A2-709F326F7BC9}"/>
              </a:ext>
            </a:extLst>
          </p:cNvPr>
          <p:cNvSpPr/>
          <p:nvPr userDrawn="1"/>
        </p:nvSpPr>
        <p:spPr>
          <a:xfrm>
            <a:off x="3133898"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sp>
        <p:nvSpPr>
          <p:cNvPr id="9" name="Rectangle 8">
            <a:extLst>
              <a:ext uri="{FF2B5EF4-FFF2-40B4-BE49-F238E27FC236}">
                <a16:creationId xmlns:a16="http://schemas.microsoft.com/office/drawing/2014/main" id="{50A97E39-90FD-F425-308B-E6B815F429A7}"/>
              </a:ext>
            </a:extLst>
          </p:cNvPr>
          <p:cNvSpPr/>
          <p:nvPr userDrawn="1"/>
        </p:nvSpPr>
        <p:spPr>
          <a:xfrm>
            <a:off x="6223464" y="91439"/>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sp>
        <p:nvSpPr>
          <p:cNvPr id="10" name="Rectangle 9">
            <a:extLst>
              <a:ext uri="{FF2B5EF4-FFF2-40B4-BE49-F238E27FC236}">
                <a16:creationId xmlns:a16="http://schemas.microsoft.com/office/drawing/2014/main" id="{8BD5B240-6D6E-1EC2-3C81-5F111A010CF9}"/>
              </a:ext>
            </a:extLst>
          </p:cNvPr>
          <p:cNvSpPr/>
          <p:nvPr userDrawn="1"/>
        </p:nvSpPr>
        <p:spPr>
          <a:xfrm>
            <a:off x="9249295"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sp>
        <p:nvSpPr>
          <p:cNvPr id="11" name="Rectangle 10">
            <a:extLst>
              <a:ext uri="{FF2B5EF4-FFF2-40B4-BE49-F238E27FC236}">
                <a16:creationId xmlns:a16="http://schemas.microsoft.com/office/drawing/2014/main" id="{39D06E73-3A31-657D-1179-F97B9119C7A5}"/>
              </a:ext>
            </a:extLst>
          </p:cNvPr>
          <p:cNvSpPr/>
          <p:nvPr userDrawn="1"/>
        </p:nvSpPr>
        <p:spPr>
          <a:xfrm>
            <a:off x="108065"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sp>
        <p:nvSpPr>
          <p:cNvPr id="12" name="Rectangle 11">
            <a:extLst>
              <a:ext uri="{FF2B5EF4-FFF2-40B4-BE49-F238E27FC236}">
                <a16:creationId xmlns:a16="http://schemas.microsoft.com/office/drawing/2014/main" id="{6168E3EF-C85F-DA1A-6E96-20C45E5B40F2}"/>
              </a:ext>
            </a:extLst>
          </p:cNvPr>
          <p:cNvSpPr/>
          <p:nvPr userDrawn="1"/>
        </p:nvSpPr>
        <p:spPr>
          <a:xfrm>
            <a:off x="3133898"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sp>
        <p:nvSpPr>
          <p:cNvPr id="13" name="Rectangle 12">
            <a:extLst>
              <a:ext uri="{FF2B5EF4-FFF2-40B4-BE49-F238E27FC236}">
                <a16:creationId xmlns:a16="http://schemas.microsoft.com/office/drawing/2014/main" id="{70547D0B-756F-851A-330F-6A9A5743B21A}"/>
              </a:ext>
            </a:extLst>
          </p:cNvPr>
          <p:cNvSpPr/>
          <p:nvPr userDrawn="1"/>
        </p:nvSpPr>
        <p:spPr>
          <a:xfrm>
            <a:off x="6223464" y="3549534"/>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sp>
        <p:nvSpPr>
          <p:cNvPr id="14" name="Rectangle 13">
            <a:extLst>
              <a:ext uri="{FF2B5EF4-FFF2-40B4-BE49-F238E27FC236}">
                <a16:creationId xmlns:a16="http://schemas.microsoft.com/office/drawing/2014/main" id="{9C95F4CC-B885-D03E-F3C6-FA3A2F1629AD}"/>
              </a:ext>
            </a:extLst>
          </p:cNvPr>
          <p:cNvSpPr/>
          <p:nvPr userDrawn="1"/>
        </p:nvSpPr>
        <p:spPr>
          <a:xfrm>
            <a:off x="9249295" y="3549533"/>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Epreuve individuelle</a:t>
            </a:r>
          </a:p>
          <a:p>
            <a:pPr algn="ctr"/>
            <a:r>
              <a:rPr lang="fr-FR" sz="1400" b="1" i="1" dirty="0">
                <a:solidFill>
                  <a:schemeClr val="tx1"/>
                </a:solidFill>
              </a:rPr>
              <a:t>Handi Situations</a:t>
            </a:r>
          </a:p>
        </p:txBody>
      </p:sp>
      <p:pic>
        <p:nvPicPr>
          <p:cNvPr id="22" name="Image 21">
            <a:extLst>
              <a:ext uri="{FF2B5EF4-FFF2-40B4-BE49-F238E27FC236}">
                <a16:creationId xmlns:a16="http://schemas.microsoft.com/office/drawing/2014/main" id="{7123D6FE-9AFC-D46F-8549-83E2F1E6A1B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92814" y="140633"/>
            <a:ext cx="230113" cy="222059"/>
          </a:xfrm>
          <a:prstGeom prst="rect">
            <a:avLst/>
          </a:prstGeom>
        </p:spPr>
      </p:pic>
      <p:pic>
        <p:nvPicPr>
          <p:cNvPr id="23" name="Image 22">
            <a:extLst>
              <a:ext uri="{FF2B5EF4-FFF2-40B4-BE49-F238E27FC236}">
                <a16:creationId xmlns:a16="http://schemas.microsoft.com/office/drawing/2014/main" id="{10A92BBD-BEDC-CE48-8333-4CD8E88EE4B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61266" y="3591712"/>
            <a:ext cx="230113" cy="222059"/>
          </a:xfrm>
          <a:prstGeom prst="rect">
            <a:avLst/>
          </a:prstGeom>
        </p:spPr>
      </p:pic>
      <p:pic>
        <p:nvPicPr>
          <p:cNvPr id="24" name="Image 23">
            <a:extLst>
              <a:ext uri="{FF2B5EF4-FFF2-40B4-BE49-F238E27FC236}">
                <a16:creationId xmlns:a16="http://schemas.microsoft.com/office/drawing/2014/main" id="{E097FA34-FC03-2127-4031-A403C90CFFF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262" y="140633"/>
            <a:ext cx="230113" cy="222059"/>
          </a:xfrm>
          <a:prstGeom prst="rect">
            <a:avLst/>
          </a:prstGeom>
        </p:spPr>
      </p:pic>
      <p:pic>
        <p:nvPicPr>
          <p:cNvPr id="25" name="Image 24">
            <a:extLst>
              <a:ext uri="{FF2B5EF4-FFF2-40B4-BE49-F238E27FC236}">
                <a16:creationId xmlns:a16="http://schemas.microsoft.com/office/drawing/2014/main" id="{F0E175C9-605E-3972-45E1-4B5099BE2B2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673714" y="3591712"/>
            <a:ext cx="230113" cy="222059"/>
          </a:xfrm>
          <a:prstGeom prst="rect">
            <a:avLst/>
          </a:prstGeom>
        </p:spPr>
      </p:pic>
      <p:pic>
        <p:nvPicPr>
          <p:cNvPr id="26" name="Image 25">
            <a:extLst>
              <a:ext uri="{FF2B5EF4-FFF2-40B4-BE49-F238E27FC236}">
                <a16:creationId xmlns:a16="http://schemas.microsoft.com/office/drawing/2014/main" id="{C610DCC7-5B9E-4BB6-D928-716C0720627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23669" y="140633"/>
            <a:ext cx="230113" cy="222059"/>
          </a:xfrm>
          <a:prstGeom prst="rect">
            <a:avLst/>
          </a:prstGeom>
        </p:spPr>
      </p:pic>
      <p:pic>
        <p:nvPicPr>
          <p:cNvPr id="27" name="Image 26">
            <a:extLst>
              <a:ext uri="{FF2B5EF4-FFF2-40B4-BE49-F238E27FC236}">
                <a16:creationId xmlns:a16="http://schemas.microsoft.com/office/drawing/2014/main" id="{FFE6132D-C6E8-C3B7-2741-6D24B9153C3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92121" y="3591712"/>
            <a:ext cx="230113" cy="222059"/>
          </a:xfrm>
          <a:prstGeom prst="rect">
            <a:avLst/>
          </a:prstGeom>
        </p:spPr>
      </p:pic>
      <p:pic>
        <p:nvPicPr>
          <p:cNvPr id="28" name="Image 27">
            <a:extLst>
              <a:ext uri="{FF2B5EF4-FFF2-40B4-BE49-F238E27FC236}">
                <a16:creationId xmlns:a16="http://schemas.microsoft.com/office/drawing/2014/main" id="{B33868E3-C53F-36F7-E6F8-CD97EDC5E0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31844" y="140633"/>
            <a:ext cx="230113" cy="222059"/>
          </a:xfrm>
          <a:prstGeom prst="rect">
            <a:avLst/>
          </a:prstGeom>
        </p:spPr>
      </p:pic>
      <p:pic>
        <p:nvPicPr>
          <p:cNvPr id="29" name="Image 28">
            <a:extLst>
              <a:ext uri="{FF2B5EF4-FFF2-40B4-BE49-F238E27FC236}">
                <a16:creationId xmlns:a16="http://schemas.microsoft.com/office/drawing/2014/main" id="{764B39E3-A93E-27F0-567C-52927DF4B76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00296" y="3591712"/>
            <a:ext cx="230113" cy="222059"/>
          </a:xfrm>
          <a:prstGeom prst="rect">
            <a:avLst/>
          </a:prstGeom>
        </p:spPr>
      </p:pic>
      <p:sp>
        <p:nvSpPr>
          <p:cNvPr id="2" name="Espace réservé du texte 2">
            <a:extLst>
              <a:ext uri="{FF2B5EF4-FFF2-40B4-BE49-F238E27FC236}">
                <a16:creationId xmlns:a16="http://schemas.microsoft.com/office/drawing/2014/main" id="{C27CC599-A37A-316B-033A-5CB67810B47E}"/>
              </a:ext>
            </a:extLst>
          </p:cNvPr>
          <p:cNvSpPr>
            <a:spLocks noGrp="1"/>
          </p:cNvSpPr>
          <p:nvPr>
            <p:ph type="body" sz="quarter" idx="14"/>
          </p:nvPr>
        </p:nvSpPr>
        <p:spPr>
          <a:xfrm>
            <a:off x="108065" y="5111046"/>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4" name="Espace réservé du texte 2">
            <a:extLst>
              <a:ext uri="{FF2B5EF4-FFF2-40B4-BE49-F238E27FC236}">
                <a16:creationId xmlns:a16="http://schemas.microsoft.com/office/drawing/2014/main" id="{2019F46D-9919-88E7-3936-D5723BD1ADD3}"/>
              </a:ext>
            </a:extLst>
          </p:cNvPr>
          <p:cNvSpPr>
            <a:spLocks noGrp="1"/>
          </p:cNvSpPr>
          <p:nvPr>
            <p:ph type="body" sz="quarter" idx="15"/>
          </p:nvPr>
        </p:nvSpPr>
        <p:spPr>
          <a:xfrm>
            <a:off x="3133896" y="5111046"/>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5" name="Espace réservé du texte 2">
            <a:extLst>
              <a:ext uri="{FF2B5EF4-FFF2-40B4-BE49-F238E27FC236}">
                <a16:creationId xmlns:a16="http://schemas.microsoft.com/office/drawing/2014/main" id="{073C2C92-6A28-1182-A864-C006DF76F10B}"/>
              </a:ext>
            </a:extLst>
          </p:cNvPr>
          <p:cNvSpPr>
            <a:spLocks noGrp="1"/>
          </p:cNvSpPr>
          <p:nvPr>
            <p:ph type="body" sz="quarter" idx="16"/>
          </p:nvPr>
        </p:nvSpPr>
        <p:spPr>
          <a:xfrm>
            <a:off x="6222829" y="5111046"/>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30" name="Espace réservé du texte 2">
            <a:extLst>
              <a:ext uri="{FF2B5EF4-FFF2-40B4-BE49-F238E27FC236}">
                <a16:creationId xmlns:a16="http://schemas.microsoft.com/office/drawing/2014/main" id="{C304EA35-9521-B39C-D147-F88BEACE6520}"/>
              </a:ext>
            </a:extLst>
          </p:cNvPr>
          <p:cNvSpPr>
            <a:spLocks noGrp="1"/>
          </p:cNvSpPr>
          <p:nvPr>
            <p:ph type="body" sz="quarter" idx="17"/>
          </p:nvPr>
        </p:nvSpPr>
        <p:spPr>
          <a:xfrm>
            <a:off x="9248660" y="5111046"/>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35" name="Espace réservé du texte 2">
            <a:extLst>
              <a:ext uri="{FF2B5EF4-FFF2-40B4-BE49-F238E27FC236}">
                <a16:creationId xmlns:a16="http://schemas.microsoft.com/office/drawing/2014/main" id="{CFFDA49F-0C26-8C5D-B817-C192ACEAF044}"/>
              </a:ext>
            </a:extLst>
          </p:cNvPr>
          <p:cNvSpPr>
            <a:spLocks noGrp="1"/>
          </p:cNvSpPr>
          <p:nvPr>
            <p:ph type="body" sz="quarter" idx="10"/>
          </p:nvPr>
        </p:nvSpPr>
        <p:spPr>
          <a:xfrm>
            <a:off x="108065" y="1664142"/>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36" name="Espace réservé du texte 2">
            <a:extLst>
              <a:ext uri="{FF2B5EF4-FFF2-40B4-BE49-F238E27FC236}">
                <a16:creationId xmlns:a16="http://schemas.microsoft.com/office/drawing/2014/main" id="{E6798A04-2608-2AEA-E97E-CE5247F59388}"/>
              </a:ext>
            </a:extLst>
          </p:cNvPr>
          <p:cNvSpPr>
            <a:spLocks noGrp="1"/>
          </p:cNvSpPr>
          <p:nvPr>
            <p:ph type="body" sz="quarter" idx="11"/>
          </p:nvPr>
        </p:nvSpPr>
        <p:spPr>
          <a:xfrm>
            <a:off x="3133896" y="1664141"/>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37" name="Espace réservé du texte 2">
            <a:extLst>
              <a:ext uri="{FF2B5EF4-FFF2-40B4-BE49-F238E27FC236}">
                <a16:creationId xmlns:a16="http://schemas.microsoft.com/office/drawing/2014/main" id="{EE8478E5-3CD6-AF2F-4FAE-853BFD8AE688}"/>
              </a:ext>
            </a:extLst>
          </p:cNvPr>
          <p:cNvSpPr>
            <a:spLocks noGrp="1"/>
          </p:cNvSpPr>
          <p:nvPr>
            <p:ph type="body" sz="quarter" idx="12"/>
          </p:nvPr>
        </p:nvSpPr>
        <p:spPr>
          <a:xfrm>
            <a:off x="6222829" y="1645920"/>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38" name="Espace réservé du texte 2">
            <a:extLst>
              <a:ext uri="{FF2B5EF4-FFF2-40B4-BE49-F238E27FC236}">
                <a16:creationId xmlns:a16="http://schemas.microsoft.com/office/drawing/2014/main" id="{453B6B1A-1143-458E-A430-2A8CE92A2981}"/>
              </a:ext>
            </a:extLst>
          </p:cNvPr>
          <p:cNvSpPr>
            <a:spLocks noGrp="1"/>
          </p:cNvSpPr>
          <p:nvPr>
            <p:ph type="body" sz="quarter" idx="13"/>
          </p:nvPr>
        </p:nvSpPr>
        <p:spPr>
          <a:xfrm>
            <a:off x="9248660" y="1645919"/>
            <a:ext cx="2835275" cy="1644321"/>
          </a:xfrm>
        </p:spPr>
        <p:txBody>
          <a:bodyPr>
            <a:normAutofit/>
          </a:bodyPr>
          <a:lstStyle>
            <a:lvl1pPr marL="0" indent="0" algn="ctr">
              <a:buNone/>
              <a:defRPr sz="1800"/>
            </a:lvl1pPr>
          </a:lstStyle>
          <a:p>
            <a:pPr lvl="0"/>
            <a:r>
              <a:rPr lang="fr-FR" dirty="0"/>
              <a:t>Cliquez pour modifier les styles du texte du masque</a:t>
            </a:r>
          </a:p>
        </p:txBody>
      </p:sp>
      <p:sp>
        <p:nvSpPr>
          <p:cNvPr id="15" name="Espace réservé de l'image en ligne 14">
            <a:extLst>
              <a:ext uri="{FF2B5EF4-FFF2-40B4-BE49-F238E27FC236}">
                <a16:creationId xmlns:a16="http://schemas.microsoft.com/office/drawing/2014/main" id="{815C49FB-5750-756F-4FF4-5046AD38604E}"/>
              </a:ext>
            </a:extLst>
          </p:cNvPr>
          <p:cNvSpPr>
            <a:spLocks noGrp="1"/>
          </p:cNvSpPr>
          <p:nvPr>
            <p:ph type="clipArt" sz="quarter" idx="26"/>
          </p:nvPr>
        </p:nvSpPr>
        <p:spPr>
          <a:xfrm>
            <a:off x="302605" y="594548"/>
            <a:ext cx="2444750" cy="1048506"/>
          </a:xfrm>
        </p:spPr>
        <p:txBody>
          <a:bodyPr>
            <a:normAutofit/>
          </a:bodyPr>
          <a:lstStyle>
            <a:lvl1pPr marL="0" indent="0" algn="ctr">
              <a:buNone/>
              <a:defRPr sz="1200"/>
            </a:lvl1pPr>
          </a:lstStyle>
          <a:p>
            <a:endParaRPr lang="fr-FR"/>
          </a:p>
        </p:txBody>
      </p:sp>
      <p:sp>
        <p:nvSpPr>
          <p:cNvPr id="16" name="Espace réservé de l'image en ligne 14">
            <a:extLst>
              <a:ext uri="{FF2B5EF4-FFF2-40B4-BE49-F238E27FC236}">
                <a16:creationId xmlns:a16="http://schemas.microsoft.com/office/drawing/2014/main" id="{B2592EC8-6075-51B7-D989-607CAE935FD3}"/>
              </a:ext>
            </a:extLst>
          </p:cNvPr>
          <p:cNvSpPr>
            <a:spLocks noGrp="1"/>
          </p:cNvSpPr>
          <p:nvPr>
            <p:ph type="clipArt" sz="quarter" idx="27"/>
          </p:nvPr>
        </p:nvSpPr>
        <p:spPr>
          <a:xfrm>
            <a:off x="3329247" y="594548"/>
            <a:ext cx="2444750" cy="1048506"/>
          </a:xfrm>
        </p:spPr>
        <p:txBody>
          <a:bodyPr>
            <a:normAutofit/>
          </a:bodyPr>
          <a:lstStyle>
            <a:lvl1pPr marL="0" indent="0" algn="ctr">
              <a:buNone/>
              <a:defRPr sz="1200"/>
            </a:lvl1pPr>
          </a:lstStyle>
          <a:p>
            <a:endParaRPr lang="fr-FR"/>
          </a:p>
        </p:txBody>
      </p:sp>
      <p:sp>
        <p:nvSpPr>
          <p:cNvPr id="17" name="Espace réservé de l'image en ligne 14">
            <a:extLst>
              <a:ext uri="{FF2B5EF4-FFF2-40B4-BE49-F238E27FC236}">
                <a16:creationId xmlns:a16="http://schemas.microsoft.com/office/drawing/2014/main" id="{46A06844-C52C-152C-958A-3681F006CB58}"/>
              </a:ext>
            </a:extLst>
          </p:cNvPr>
          <p:cNvSpPr>
            <a:spLocks noGrp="1"/>
          </p:cNvSpPr>
          <p:nvPr>
            <p:ph type="clipArt" sz="quarter" idx="28"/>
          </p:nvPr>
        </p:nvSpPr>
        <p:spPr>
          <a:xfrm>
            <a:off x="6418003" y="586222"/>
            <a:ext cx="2444750" cy="1048506"/>
          </a:xfrm>
        </p:spPr>
        <p:txBody>
          <a:bodyPr>
            <a:normAutofit/>
          </a:bodyPr>
          <a:lstStyle>
            <a:lvl1pPr marL="0" indent="0" algn="ctr">
              <a:buNone/>
              <a:defRPr sz="1200"/>
            </a:lvl1pPr>
          </a:lstStyle>
          <a:p>
            <a:endParaRPr lang="fr-FR"/>
          </a:p>
        </p:txBody>
      </p:sp>
      <p:sp>
        <p:nvSpPr>
          <p:cNvPr id="18" name="Espace réservé de l'image en ligne 14">
            <a:extLst>
              <a:ext uri="{FF2B5EF4-FFF2-40B4-BE49-F238E27FC236}">
                <a16:creationId xmlns:a16="http://schemas.microsoft.com/office/drawing/2014/main" id="{E5977096-7F46-2D2B-4C8D-1A329DD5B41B}"/>
              </a:ext>
            </a:extLst>
          </p:cNvPr>
          <p:cNvSpPr>
            <a:spLocks noGrp="1"/>
          </p:cNvSpPr>
          <p:nvPr>
            <p:ph type="clipArt" sz="quarter" idx="29"/>
          </p:nvPr>
        </p:nvSpPr>
        <p:spPr>
          <a:xfrm>
            <a:off x="9443836" y="576324"/>
            <a:ext cx="2444750" cy="1048506"/>
          </a:xfrm>
        </p:spPr>
        <p:txBody>
          <a:bodyPr>
            <a:normAutofit/>
          </a:bodyPr>
          <a:lstStyle>
            <a:lvl1pPr marL="0" indent="0" algn="ctr">
              <a:buNone/>
              <a:defRPr sz="1200"/>
            </a:lvl1pPr>
          </a:lstStyle>
          <a:p>
            <a:endParaRPr lang="fr-FR"/>
          </a:p>
        </p:txBody>
      </p:sp>
      <p:sp>
        <p:nvSpPr>
          <p:cNvPr id="19" name="Espace réservé de l'image en ligne 14">
            <a:extLst>
              <a:ext uri="{FF2B5EF4-FFF2-40B4-BE49-F238E27FC236}">
                <a16:creationId xmlns:a16="http://schemas.microsoft.com/office/drawing/2014/main" id="{4735816E-61D3-864D-3EA3-58ED0F9D45BA}"/>
              </a:ext>
            </a:extLst>
          </p:cNvPr>
          <p:cNvSpPr>
            <a:spLocks noGrp="1"/>
          </p:cNvSpPr>
          <p:nvPr>
            <p:ph type="clipArt" sz="quarter" idx="30"/>
          </p:nvPr>
        </p:nvSpPr>
        <p:spPr>
          <a:xfrm>
            <a:off x="302605" y="4044315"/>
            <a:ext cx="2444750" cy="1048506"/>
          </a:xfrm>
        </p:spPr>
        <p:txBody>
          <a:bodyPr>
            <a:normAutofit/>
          </a:bodyPr>
          <a:lstStyle>
            <a:lvl1pPr marL="0" indent="0" algn="ctr">
              <a:buNone/>
              <a:defRPr sz="1200"/>
            </a:lvl1pPr>
          </a:lstStyle>
          <a:p>
            <a:endParaRPr lang="fr-FR"/>
          </a:p>
        </p:txBody>
      </p:sp>
      <p:sp>
        <p:nvSpPr>
          <p:cNvPr id="20" name="Espace réservé de l'image en ligne 14">
            <a:extLst>
              <a:ext uri="{FF2B5EF4-FFF2-40B4-BE49-F238E27FC236}">
                <a16:creationId xmlns:a16="http://schemas.microsoft.com/office/drawing/2014/main" id="{BD92E8F4-2DDC-1D5E-6923-40D5381D4058}"/>
              </a:ext>
            </a:extLst>
          </p:cNvPr>
          <p:cNvSpPr>
            <a:spLocks noGrp="1"/>
          </p:cNvSpPr>
          <p:nvPr>
            <p:ph type="clipArt" sz="quarter" idx="31"/>
          </p:nvPr>
        </p:nvSpPr>
        <p:spPr>
          <a:xfrm>
            <a:off x="3329247" y="4044315"/>
            <a:ext cx="2444750" cy="1048506"/>
          </a:xfrm>
        </p:spPr>
        <p:txBody>
          <a:bodyPr>
            <a:normAutofit/>
          </a:bodyPr>
          <a:lstStyle>
            <a:lvl1pPr marL="0" indent="0" algn="ctr">
              <a:buNone/>
              <a:defRPr sz="1200"/>
            </a:lvl1pPr>
          </a:lstStyle>
          <a:p>
            <a:endParaRPr lang="fr-FR"/>
          </a:p>
        </p:txBody>
      </p:sp>
      <p:sp>
        <p:nvSpPr>
          <p:cNvPr id="21" name="Espace réservé de l'image en ligne 14">
            <a:extLst>
              <a:ext uri="{FF2B5EF4-FFF2-40B4-BE49-F238E27FC236}">
                <a16:creationId xmlns:a16="http://schemas.microsoft.com/office/drawing/2014/main" id="{6AF143AD-EEDE-9C2B-C5AC-692EBB35C262}"/>
              </a:ext>
            </a:extLst>
          </p:cNvPr>
          <p:cNvSpPr>
            <a:spLocks noGrp="1"/>
          </p:cNvSpPr>
          <p:nvPr>
            <p:ph type="clipArt" sz="quarter" idx="32"/>
          </p:nvPr>
        </p:nvSpPr>
        <p:spPr>
          <a:xfrm>
            <a:off x="6418003" y="4035989"/>
            <a:ext cx="2444750" cy="1048506"/>
          </a:xfrm>
        </p:spPr>
        <p:txBody>
          <a:bodyPr>
            <a:normAutofit/>
          </a:bodyPr>
          <a:lstStyle>
            <a:lvl1pPr marL="0" indent="0" algn="ctr">
              <a:buNone/>
              <a:defRPr sz="1200"/>
            </a:lvl1pPr>
          </a:lstStyle>
          <a:p>
            <a:endParaRPr lang="fr-FR"/>
          </a:p>
        </p:txBody>
      </p:sp>
      <p:sp>
        <p:nvSpPr>
          <p:cNvPr id="43" name="Espace réservé de l'image en ligne 14">
            <a:extLst>
              <a:ext uri="{FF2B5EF4-FFF2-40B4-BE49-F238E27FC236}">
                <a16:creationId xmlns:a16="http://schemas.microsoft.com/office/drawing/2014/main" id="{A785CB7A-B957-0FA3-4034-E62A8534F237}"/>
              </a:ext>
            </a:extLst>
          </p:cNvPr>
          <p:cNvSpPr>
            <a:spLocks noGrp="1"/>
          </p:cNvSpPr>
          <p:nvPr>
            <p:ph type="clipArt" sz="quarter" idx="33"/>
          </p:nvPr>
        </p:nvSpPr>
        <p:spPr>
          <a:xfrm>
            <a:off x="9443836" y="4026091"/>
            <a:ext cx="2444750" cy="1048506"/>
          </a:xfrm>
        </p:spPr>
        <p:txBody>
          <a:bodyPr>
            <a:normAutofit/>
          </a:bodyPr>
          <a:lstStyle>
            <a:lvl1pPr marL="0" indent="0" algn="ctr">
              <a:buNone/>
              <a:defRPr sz="1200"/>
            </a:lvl1pPr>
          </a:lstStyle>
          <a:p>
            <a:endParaRPr lang="fr-FR"/>
          </a:p>
        </p:txBody>
      </p:sp>
    </p:spTree>
    <p:extLst>
      <p:ext uri="{BB962C8B-B14F-4D97-AF65-F5344CB8AC3E}">
        <p14:creationId xmlns:p14="http://schemas.microsoft.com/office/powerpoint/2010/main" val="4096183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andicap">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1C5623FF-08C8-D3A4-25AC-E9BE9BB520B8}"/>
              </a:ext>
            </a:extLst>
          </p:cNvPr>
          <p:cNvGraphicFramePr>
            <a:graphicFrameLocks noGrp="1"/>
          </p:cNvGraphicFramePr>
          <p:nvPr userDrawn="1">
            <p:extLst>
              <p:ext uri="{D42A27DB-BD31-4B8C-83A1-F6EECF244321}">
                <p14:modId xmlns:p14="http://schemas.microsoft.com/office/powerpoint/2010/main" val="1206297195"/>
              </p:ext>
            </p:extLst>
          </p:nvPr>
        </p:nvGraphicFramePr>
        <p:xfrm>
          <a:off x="0" y="0"/>
          <a:ext cx="12192000" cy="6858000"/>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465594546"/>
                    </a:ext>
                  </a:extLst>
                </a:gridCol>
                <a:gridCol w="3048000">
                  <a:extLst>
                    <a:ext uri="{9D8B030D-6E8A-4147-A177-3AD203B41FA5}">
                      <a16:colId xmlns:a16="http://schemas.microsoft.com/office/drawing/2014/main" val="844568728"/>
                    </a:ext>
                  </a:extLst>
                </a:gridCol>
                <a:gridCol w="3048000">
                  <a:extLst>
                    <a:ext uri="{9D8B030D-6E8A-4147-A177-3AD203B41FA5}">
                      <a16:colId xmlns:a16="http://schemas.microsoft.com/office/drawing/2014/main" val="2216349016"/>
                    </a:ext>
                  </a:extLst>
                </a:gridCol>
                <a:gridCol w="3048000">
                  <a:extLst>
                    <a:ext uri="{9D8B030D-6E8A-4147-A177-3AD203B41FA5}">
                      <a16:colId xmlns:a16="http://schemas.microsoft.com/office/drawing/2014/main" val="1641310446"/>
                    </a:ext>
                  </a:extLst>
                </a:gridCol>
              </a:tblGrid>
              <a:tr h="3429000">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32240512"/>
                  </a:ext>
                </a:extLst>
              </a:tr>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786314030"/>
                  </a:ext>
                </a:extLst>
              </a:tr>
            </a:tbl>
          </a:graphicData>
        </a:graphic>
      </p:graphicFrame>
      <p:sp>
        <p:nvSpPr>
          <p:cNvPr id="7" name="Rectangle 6">
            <a:extLst>
              <a:ext uri="{FF2B5EF4-FFF2-40B4-BE49-F238E27FC236}">
                <a16:creationId xmlns:a16="http://schemas.microsoft.com/office/drawing/2014/main" id="{6DF5B10C-9855-B083-3233-894FEC27F750}"/>
              </a:ext>
            </a:extLst>
          </p:cNvPr>
          <p:cNvSpPr/>
          <p:nvPr userDrawn="1"/>
        </p:nvSpPr>
        <p:spPr>
          <a:xfrm>
            <a:off x="108065"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8" name="Rectangle 7">
            <a:extLst>
              <a:ext uri="{FF2B5EF4-FFF2-40B4-BE49-F238E27FC236}">
                <a16:creationId xmlns:a16="http://schemas.microsoft.com/office/drawing/2014/main" id="{41DA70BB-7B11-4A94-59A2-709F326F7BC9}"/>
              </a:ext>
            </a:extLst>
          </p:cNvPr>
          <p:cNvSpPr/>
          <p:nvPr userDrawn="1"/>
        </p:nvSpPr>
        <p:spPr>
          <a:xfrm>
            <a:off x="3133898"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9" name="Rectangle 8">
            <a:extLst>
              <a:ext uri="{FF2B5EF4-FFF2-40B4-BE49-F238E27FC236}">
                <a16:creationId xmlns:a16="http://schemas.microsoft.com/office/drawing/2014/main" id="{50A97E39-90FD-F425-308B-E6B815F429A7}"/>
              </a:ext>
            </a:extLst>
          </p:cNvPr>
          <p:cNvSpPr/>
          <p:nvPr userDrawn="1"/>
        </p:nvSpPr>
        <p:spPr>
          <a:xfrm>
            <a:off x="6223464" y="91439"/>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10" name="Rectangle 9">
            <a:extLst>
              <a:ext uri="{FF2B5EF4-FFF2-40B4-BE49-F238E27FC236}">
                <a16:creationId xmlns:a16="http://schemas.microsoft.com/office/drawing/2014/main" id="{8BD5B240-6D6E-1EC2-3C81-5F111A010CF9}"/>
              </a:ext>
            </a:extLst>
          </p:cNvPr>
          <p:cNvSpPr/>
          <p:nvPr userDrawn="1"/>
        </p:nvSpPr>
        <p:spPr>
          <a:xfrm>
            <a:off x="9249295"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11" name="Rectangle 10">
            <a:extLst>
              <a:ext uri="{FF2B5EF4-FFF2-40B4-BE49-F238E27FC236}">
                <a16:creationId xmlns:a16="http://schemas.microsoft.com/office/drawing/2014/main" id="{39D06E73-3A31-657D-1179-F97B9119C7A5}"/>
              </a:ext>
            </a:extLst>
          </p:cNvPr>
          <p:cNvSpPr/>
          <p:nvPr userDrawn="1"/>
        </p:nvSpPr>
        <p:spPr>
          <a:xfrm>
            <a:off x="108065"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 </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12" name="Rectangle 11">
            <a:extLst>
              <a:ext uri="{FF2B5EF4-FFF2-40B4-BE49-F238E27FC236}">
                <a16:creationId xmlns:a16="http://schemas.microsoft.com/office/drawing/2014/main" id="{6168E3EF-C85F-DA1A-6E96-20C45E5B40F2}"/>
              </a:ext>
            </a:extLst>
          </p:cNvPr>
          <p:cNvSpPr/>
          <p:nvPr userDrawn="1"/>
        </p:nvSpPr>
        <p:spPr>
          <a:xfrm>
            <a:off x="3133898"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 </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13" name="Rectangle 12">
            <a:extLst>
              <a:ext uri="{FF2B5EF4-FFF2-40B4-BE49-F238E27FC236}">
                <a16:creationId xmlns:a16="http://schemas.microsoft.com/office/drawing/2014/main" id="{70547D0B-756F-851A-330F-6A9A5743B21A}"/>
              </a:ext>
            </a:extLst>
          </p:cNvPr>
          <p:cNvSpPr/>
          <p:nvPr userDrawn="1"/>
        </p:nvSpPr>
        <p:spPr>
          <a:xfrm>
            <a:off x="6223464" y="3549534"/>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 </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14" name="Rectangle 13">
            <a:extLst>
              <a:ext uri="{FF2B5EF4-FFF2-40B4-BE49-F238E27FC236}">
                <a16:creationId xmlns:a16="http://schemas.microsoft.com/office/drawing/2014/main" id="{9C95F4CC-B885-D03E-F3C6-FA3A2F1629AD}"/>
              </a:ext>
            </a:extLst>
          </p:cNvPr>
          <p:cNvSpPr/>
          <p:nvPr userDrawn="1"/>
        </p:nvSpPr>
        <p:spPr>
          <a:xfrm>
            <a:off x="9249295" y="3549533"/>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b="1" dirty="0">
                <a:solidFill>
                  <a:schemeClr val="tx1"/>
                </a:solidFill>
              </a:rPr>
              <a:t>Situation </a:t>
            </a:r>
          </a:p>
          <a:p>
            <a:pPr algn="ctr"/>
            <a:r>
              <a:rPr lang="fr-FR" sz="1400" b="1" i="1" dirty="0">
                <a:solidFill>
                  <a:schemeClr val="tx1"/>
                </a:solidFill>
              </a:rPr>
              <a:t>Handi Situations</a:t>
            </a:r>
          </a:p>
          <a:p>
            <a:pPr algn="ctr"/>
            <a:endParaRPr lang="fr-FR" sz="1400" b="1" i="1" dirty="0">
              <a:solidFill>
                <a:schemeClr val="tx1"/>
              </a:solidFill>
            </a:endParaRPr>
          </a:p>
          <a:p>
            <a:pPr algn="ctr"/>
            <a:endParaRPr lang="fr-FR" sz="1400" b="1" i="1" dirty="0">
              <a:solidFill>
                <a:schemeClr val="tx1"/>
              </a:solidFill>
            </a:endParaRPr>
          </a:p>
          <a:p>
            <a:pPr algn="ctr"/>
            <a:endParaRPr lang="fr-FR" sz="1400" b="1" i="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endParaRPr lang="fr-FR" sz="1400" b="1" dirty="0">
              <a:solidFill>
                <a:schemeClr val="tx1"/>
              </a:solidFill>
            </a:endParaRPr>
          </a:p>
          <a:p>
            <a:pPr algn="ctr"/>
            <a:r>
              <a:rPr lang="fr-FR" sz="1400" b="1" dirty="0">
                <a:solidFill>
                  <a:srgbClr val="ED7D31"/>
                </a:solidFill>
              </a:rPr>
              <a:t>Simulation</a:t>
            </a:r>
            <a:r>
              <a:rPr lang="fr-FR" sz="1400" b="1" dirty="0">
                <a:solidFill>
                  <a:schemeClr val="tx1"/>
                </a:solidFill>
              </a:rPr>
              <a:t> </a:t>
            </a:r>
          </a:p>
        </p:txBody>
      </p:sp>
      <p:sp>
        <p:nvSpPr>
          <p:cNvPr id="3" name="Espace réservé du texte 2">
            <a:extLst>
              <a:ext uri="{FF2B5EF4-FFF2-40B4-BE49-F238E27FC236}">
                <a16:creationId xmlns:a16="http://schemas.microsoft.com/office/drawing/2014/main" id="{AA780151-BC98-5180-1B86-F3CB7D026AC3}"/>
              </a:ext>
            </a:extLst>
          </p:cNvPr>
          <p:cNvSpPr>
            <a:spLocks noGrp="1"/>
          </p:cNvSpPr>
          <p:nvPr>
            <p:ph type="body" sz="quarter" idx="10"/>
          </p:nvPr>
        </p:nvSpPr>
        <p:spPr>
          <a:xfrm>
            <a:off x="108065" y="1404851"/>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15" name="Espace réservé du texte 2">
            <a:extLst>
              <a:ext uri="{FF2B5EF4-FFF2-40B4-BE49-F238E27FC236}">
                <a16:creationId xmlns:a16="http://schemas.microsoft.com/office/drawing/2014/main" id="{C4A4ADD8-2242-4737-5740-CC5132C0EEB1}"/>
              </a:ext>
            </a:extLst>
          </p:cNvPr>
          <p:cNvSpPr>
            <a:spLocks noGrp="1"/>
          </p:cNvSpPr>
          <p:nvPr>
            <p:ph type="body" sz="quarter" idx="11"/>
          </p:nvPr>
        </p:nvSpPr>
        <p:spPr>
          <a:xfrm>
            <a:off x="3133896" y="1404851"/>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16" name="Espace réservé du texte 2">
            <a:extLst>
              <a:ext uri="{FF2B5EF4-FFF2-40B4-BE49-F238E27FC236}">
                <a16:creationId xmlns:a16="http://schemas.microsoft.com/office/drawing/2014/main" id="{95EFE1AE-AD6F-C9A7-75E3-52C43DAE8205}"/>
              </a:ext>
            </a:extLst>
          </p:cNvPr>
          <p:cNvSpPr>
            <a:spLocks noGrp="1"/>
          </p:cNvSpPr>
          <p:nvPr>
            <p:ph type="body" sz="quarter" idx="12"/>
          </p:nvPr>
        </p:nvSpPr>
        <p:spPr>
          <a:xfrm>
            <a:off x="6222829" y="1404851"/>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17" name="Espace réservé du texte 2">
            <a:extLst>
              <a:ext uri="{FF2B5EF4-FFF2-40B4-BE49-F238E27FC236}">
                <a16:creationId xmlns:a16="http://schemas.microsoft.com/office/drawing/2014/main" id="{FCC2F6E9-152A-1F50-8356-D3D7F1F5F369}"/>
              </a:ext>
            </a:extLst>
          </p:cNvPr>
          <p:cNvSpPr>
            <a:spLocks noGrp="1"/>
          </p:cNvSpPr>
          <p:nvPr>
            <p:ph type="body" sz="quarter" idx="13"/>
          </p:nvPr>
        </p:nvSpPr>
        <p:spPr>
          <a:xfrm>
            <a:off x="9248660" y="1404851"/>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2" name="Espace réservé du texte 2">
            <a:extLst>
              <a:ext uri="{FF2B5EF4-FFF2-40B4-BE49-F238E27FC236}">
                <a16:creationId xmlns:a16="http://schemas.microsoft.com/office/drawing/2014/main" id="{BDA20F21-494C-5A0F-AEF8-2E1FC9BF4E56}"/>
              </a:ext>
            </a:extLst>
          </p:cNvPr>
          <p:cNvSpPr>
            <a:spLocks noGrp="1"/>
          </p:cNvSpPr>
          <p:nvPr>
            <p:ph type="body" sz="quarter" idx="18"/>
          </p:nvPr>
        </p:nvSpPr>
        <p:spPr>
          <a:xfrm>
            <a:off x="107430" y="2585258"/>
            <a:ext cx="2835275" cy="723205"/>
          </a:xfrm>
        </p:spPr>
        <p:txBody>
          <a:bodyPr>
            <a:normAutofit/>
          </a:bodyPr>
          <a:lstStyle>
            <a:lvl1pPr marL="0" indent="0" algn="ctr">
              <a:buNone/>
              <a:defRPr sz="1200"/>
            </a:lvl1pPr>
          </a:lstStyle>
          <a:p>
            <a:pPr lvl="0"/>
            <a:r>
              <a:rPr lang="fr-FR" dirty="0"/>
              <a:t>Cliquez pour modifier les styles du texte du masque</a:t>
            </a:r>
          </a:p>
        </p:txBody>
      </p:sp>
      <p:sp>
        <p:nvSpPr>
          <p:cNvPr id="4" name="Espace réservé du texte 2">
            <a:extLst>
              <a:ext uri="{FF2B5EF4-FFF2-40B4-BE49-F238E27FC236}">
                <a16:creationId xmlns:a16="http://schemas.microsoft.com/office/drawing/2014/main" id="{6CBE2662-7732-55CB-023A-77B25D364CD2}"/>
              </a:ext>
            </a:extLst>
          </p:cNvPr>
          <p:cNvSpPr>
            <a:spLocks noGrp="1"/>
          </p:cNvSpPr>
          <p:nvPr>
            <p:ph type="body" sz="quarter" idx="19"/>
          </p:nvPr>
        </p:nvSpPr>
        <p:spPr>
          <a:xfrm>
            <a:off x="3133263" y="2585258"/>
            <a:ext cx="2835275" cy="723205"/>
          </a:xfrm>
        </p:spPr>
        <p:txBody>
          <a:bodyPr>
            <a:normAutofit/>
          </a:bodyPr>
          <a:lstStyle>
            <a:lvl1pPr marL="0" indent="0" algn="ctr">
              <a:buNone/>
              <a:defRPr sz="1200"/>
            </a:lvl1pPr>
          </a:lstStyle>
          <a:p>
            <a:pPr lvl="0"/>
            <a:r>
              <a:rPr lang="fr-FR" dirty="0"/>
              <a:t>Cliquez pour modifier les styles du texte du masque</a:t>
            </a:r>
          </a:p>
        </p:txBody>
      </p:sp>
      <p:sp>
        <p:nvSpPr>
          <p:cNvPr id="5" name="Espace réservé du texte 2">
            <a:extLst>
              <a:ext uri="{FF2B5EF4-FFF2-40B4-BE49-F238E27FC236}">
                <a16:creationId xmlns:a16="http://schemas.microsoft.com/office/drawing/2014/main" id="{0AF62DD9-FFE0-C106-99B7-F79CC972994B}"/>
              </a:ext>
            </a:extLst>
          </p:cNvPr>
          <p:cNvSpPr>
            <a:spLocks noGrp="1"/>
          </p:cNvSpPr>
          <p:nvPr>
            <p:ph type="body" sz="quarter" idx="20"/>
          </p:nvPr>
        </p:nvSpPr>
        <p:spPr>
          <a:xfrm>
            <a:off x="6222828" y="2568551"/>
            <a:ext cx="2835275" cy="723205"/>
          </a:xfrm>
        </p:spPr>
        <p:txBody>
          <a:bodyPr>
            <a:normAutofit/>
          </a:bodyPr>
          <a:lstStyle>
            <a:lvl1pPr marL="0" indent="0" algn="ctr">
              <a:buNone/>
              <a:defRPr sz="1200"/>
            </a:lvl1pPr>
          </a:lstStyle>
          <a:p>
            <a:pPr lvl="0"/>
            <a:r>
              <a:rPr lang="fr-FR" dirty="0"/>
              <a:t>Cliquez pour modifier les styles du texte du masque</a:t>
            </a:r>
          </a:p>
        </p:txBody>
      </p:sp>
      <p:sp>
        <p:nvSpPr>
          <p:cNvPr id="22" name="Espace réservé du texte 2">
            <a:extLst>
              <a:ext uri="{FF2B5EF4-FFF2-40B4-BE49-F238E27FC236}">
                <a16:creationId xmlns:a16="http://schemas.microsoft.com/office/drawing/2014/main" id="{DFB880BF-33DD-2D4B-0760-4F6EA98A2C15}"/>
              </a:ext>
            </a:extLst>
          </p:cNvPr>
          <p:cNvSpPr>
            <a:spLocks noGrp="1"/>
          </p:cNvSpPr>
          <p:nvPr>
            <p:ph type="body" sz="quarter" idx="21"/>
          </p:nvPr>
        </p:nvSpPr>
        <p:spPr>
          <a:xfrm>
            <a:off x="9248660" y="2585258"/>
            <a:ext cx="2835275" cy="723205"/>
          </a:xfrm>
        </p:spPr>
        <p:txBody>
          <a:bodyPr>
            <a:normAutofit/>
          </a:bodyPr>
          <a:lstStyle>
            <a:lvl1pPr marL="0" indent="0" algn="ctr">
              <a:buNone/>
              <a:defRPr sz="1200"/>
            </a:lvl1pPr>
          </a:lstStyle>
          <a:p>
            <a:pPr lvl="0"/>
            <a:r>
              <a:rPr lang="fr-FR" dirty="0"/>
              <a:t>Cliquez pour modifier les styles du texte du masque</a:t>
            </a:r>
          </a:p>
        </p:txBody>
      </p:sp>
      <p:sp>
        <p:nvSpPr>
          <p:cNvPr id="23" name="Espace réservé du texte 2">
            <a:extLst>
              <a:ext uri="{FF2B5EF4-FFF2-40B4-BE49-F238E27FC236}">
                <a16:creationId xmlns:a16="http://schemas.microsoft.com/office/drawing/2014/main" id="{30C26423-04A6-873F-1D6E-E264701ED094}"/>
              </a:ext>
            </a:extLst>
          </p:cNvPr>
          <p:cNvSpPr>
            <a:spLocks noGrp="1"/>
          </p:cNvSpPr>
          <p:nvPr>
            <p:ph type="body" sz="quarter" idx="22"/>
          </p:nvPr>
        </p:nvSpPr>
        <p:spPr>
          <a:xfrm>
            <a:off x="9248660" y="6035273"/>
            <a:ext cx="2835275" cy="723205"/>
          </a:xfrm>
        </p:spPr>
        <p:txBody>
          <a:bodyPr>
            <a:normAutofit/>
          </a:bodyPr>
          <a:lstStyle>
            <a:lvl1pPr marL="0" indent="0" algn="ctr">
              <a:buNone/>
              <a:defRPr sz="1200"/>
            </a:lvl1pPr>
          </a:lstStyle>
          <a:p>
            <a:pPr lvl="0"/>
            <a:r>
              <a:rPr lang="fr-FR" dirty="0"/>
              <a:t>Cliquez pour modifier les styles du texte du masque</a:t>
            </a:r>
          </a:p>
        </p:txBody>
      </p:sp>
      <p:sp>
        <p:nvSpPr>
          <p:cNvPr id="24" name="Espace réservé du texte 2">
            <a:extLst>
              <a:ext uri="{FF2B5EF4-FFF2-40B4-BE49-F238E27FC236}">
                <a16:creationId xmlns:a16="http://schemas.microsoft.com/office/drawing/2014/main" id="{45385990-6730-4AC3-40A7-F1CE266FC0E5}"/>
              </a:ext>
            </a:extLst>
          </p:cNvPr>
          <p:cNvSpPr>
            <a:spLocks noGrp="1"/>
          </p:cNvSpPr>
          <p:nvPr>
            <p:ph type="body" sz="quarter" idx="23"/>
          </p:nvPr>
        </p:nvSpPr>
        <p:spPr>
          <a:xfrm>
            <a:off x="6222828" y="6035272"/>
            <a:ext cx="2835275" cy="723205"/>
          </a:xfrm>
        </p:spPr>
        <p:txBody>
          <a:bodyPr>
            <a:normAutofit/>
          </a:bodyPr>
          <a:lstStyle>
            <a:lvl1pPr marL="0" indent="0" algn="ctr">
              <a:buNone/>
              <a:defRPr sz="1200"/>
            </a:lvl1pPr>
          </a:lstStyle>
          <a:p>
            <a:pPr lvl="0"/>
            <a:r>
              <a:rPr lang="fr-FR" dirty="0"/>
              <a:t>Cliquez pour modifier les styles du texte du masque</a:t>
            </a:r>
          </a:p>
        </p:txBody>
      </p:sp>
      <p:sp>
        <p:nvSpPr>
          <p:cNvPr id="25" name="Espace réservé du texte 2">
            <a:extLst>
              <a:ext uri="{FF2B5EF4-FFF2-40B4-BE49-F238E27FC236}">
                <a16:creationId xmlns:a16="http://schemas.microsoft.com/office/drawing/2014/main" id="{3EEE3923-2BFD-BFFE-E994-C166728302EF}"/>
              </a:ext>
            </a:extLst>
          </p:cNvPr>
          <p:cNvSpPr>
            <a:spLocks noGrp="1"/>
          </p:cNvSpPr>
          <p:nvPr>
            <p:ph type="body" sz="quarter" idx="24"/>
          </p:nvPr>
        </p:nvSpPr>
        <p:spPr>
          <a:xfrm>
            <a:off x="3133263" y="6033759"/>
            <a:ext cx="2835275" cy="723205"/>
          </a:xfrm>
        </p:spPr>
        <p:txBody>
          <a:bodyPr>
            <a:normAutofit/>
          </a:bodyPr>
          <a:lstStyle>
            <a:lvl1pPr marL="0" indent="0" algn="ctr">
              <a:buNone/>
              <a:defRPr sz="1200"/>
            </a:lvl1pPr>
          </a:lstStyle>
          <a:p>
            <a:pPr lvl="0"/>
            <a:r>
              <a:rPr lang="fr-FR" dirty="0"/>
              <a:t>Cliquez pour modifier les styles du texte du masque</a:t>
            </a:r>
          </a:p>
        </p:txBody>
      </p:sp>
      <p:sp>
        <p:nvSpPr>
          <p:cNvPr id="26" name="Espace réservé du texte 2">
            <a:extLst>
              <a:ext uri="{FF2B5EF4-FFF2-40B4-BE49-F238E27FC236}">
                <a16:creationId xmlns:a16="http://schemas.microsoft.com/office/drawing/2014/main" id="{014300D6-D90E-61D0-B98A-6156EF6D764C}"/>
              </a:ext>
            </a:extLst>
          </p:cNvPr>
          <p:cNvSpPr>
            <a:spLocks noGrp="1"/>
          </p:cNvSpPr>
          <p:nvPr>
            <p:ph type="body" sz="quarter" idx="25"/>
          </p:nvPr>
        </p:nvSpPr>
        <p:spPr>
          <a:xfrm>
            <a:off x="106797" y="6033758"/>
            <a:ext cx="2835275" cy="723205"/>
          </a:xfrm>
        </p:spPr>
        <p:txBody>
          <a:bodyPr>
            <a:normAutofit/>
          </a:bodyPr>
          <a:lstStyle>
            <a:lvl1pPr marL="0" indent="0" algn="ctr">
              <a:buNone/>
              <a:defRPr sz="1200"/>
            </a:lvl1pPr>
          </a:lstStyle>
          <a:p>
            <a:pPr lvl="0"/>
            <a:r>
              <a:rPr lang="fr-FR" dirty="0"/>
              <a:t>Cliquez pour modifier les styles du texte du masque</a:t>
            </a:r>
          </a:p>
        </p:txBody>
      </p:sp>
      <p:pic>
        <p:nvPicPr>
          <p:cNvPr id="55" name="Image 54">
            <a:extLst>
              <a:ext uri="{FF2B5EF4-FFF2-40B4-BE49-F238E27FC236}">
                <a16:creationId xmlns:a16="http://schemas.microsoft.com/office/drawing/2014/main" id="{2B631582-F88E-9542-A3FC-11BB7744123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92814" y="140633"/>
            <a:ext cx="230113" cy="222059"/>
          </a:xfrm>
          <a:prstGeom prst="rect">
            <a:avLst/>
          </a:prstGeom>
        </p:spPr>
      </p:pic>
      <p:pic>
        <p:nvPicPr>
          <p:cNvPr id="56" name="Image 55">
            <a:extLst>
              <a:ext uri="{FF2B5EF4-FFF2-40B4-BE49-F238E27FC236}">
                <a16:creationId xmlns:a16="http://schemas.microsoft.com/office/drawing/2014/main" id="{F28C7498-35BE-B43C-5A9B-AD161C0AFA9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61266" y="3591712"/>
            <a:ext cx="230113" cy="222059"/>
          </a:xfrm>
          <a:prstGeom prst="rect">
            <a:avLst/>
          </a:prstGeom>
        </p:spPr>
      </p:pic>
      <p:pic>
        <p:nvPicPr>
          <p:cNvPr id="57" name="Image 56">
            <a:extLst>
              <a:ext uri="{FF2B5EF4-FFF2-40B4-BE49-F238E27FC236}">
                <a16:creationId xmlns:a16="http://schemas.microsoft.com/office/drawing/2014/main" id="{6AED140C-B050-089E-76EE-CB2B4483858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262" y="140633"/>
            <a:ext cx="230113" cy="222059"/>
          </a:xfrm>
          <a:prstGeom prst="rect">
            <a:avLst/>
          </a:prstGeom>
        </p:spPr>
      </p:pic>
      <p:pic>
        <p:nvPicPr>
          <p:cNvPr id="58" name="Image 57">
            <a:extLst>
              <a:ext uri="{FF2B5EF4-FFF2-40B4-BE49-F238E27FC236}">
                <a16:creationId xmlns:a16="http://schemas.microsoft.com/office/drawing/2014/main" id="{F461A5E0-12CD-3C6D-CD69-250AE9F647F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673714" y="3591712"/>
            <a:ext cx="230113" cy="222059"/>
          </a:xfrm>
          <a:prstGeom prst="rect">
            <a:avLst/>
          </a:prstGeom>
        </p:spPr>
      </p:pic>
      <p:pic>
        <p:nvPicPr>
          <p:cNvPr id="59" name="Image 58">
            <a:extLst>
              <a:ext uri="{FF2B5EF4-FFF2-40B4-BE49-F238E27FC236}">
                <a16:creationId xmlns:a16="http://schemas.microsoft.com/office/drawing/2014/main" id="{0C572F08-C5E3-F93C-B2DE-5F9F93619A7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23669" y="140633"/>
            <a:ext cx="230113" cy="222059"/>
          </a:xfrm>
          <a:prstGeom prst="rect">
            <a:avLst/>
          </a:prstGeom>
        </p:spPr>
      </p:pic>
      <p:pic>
        <p:nvPicPr>
          <p:cNvPr id="60" name="Image 59">
            <a:extLst>
              <a:ext uri="{FF2B5EF4-FFF2-40B4-BE49-F238E27FC236}">
                <a16:creationId xmlns:a16="http://schemas.microsoft.com/office/drawing/2014/main" id="{6F048C3B-0E1A-7776-ADB7-91709071EEE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92121" y="3591712"/>
            <a:ext cx="230113" cy="222059"/>
          </a:xfrm>
          <a:prstGeom prst="rect">
            <a:avLst/>
          </a:prstGeom>
        </p:spPr>
      </p:pic>
      <p:pic>
        <p:nvPicPr>
          <p:cNvPr id="61" name="Image 60">
            <a:extLst>
              <a:ext uri="{FF2B5EF4-FFF2-40B4-BE49-F238E27FC236}">
                <a16:creationId xmlns:a16="http://schemas.microsoft.com/office/drawing/2014/main" id="{92C0F44F-BECF-EDFA-52CD-AAEF9426085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31844" y="140633"/>
            <a:ext cx="230113" cy="222059"/>
          </a:xfrm>
          <a:prstGeom prst="rect">
            <a:avLst/>
          </a:prstGeom>
        </p:spPr>
      </p:pic>
      <p:pic>
        <p:nvPicPr>
          <p:cNvPr id="62" name="Image 61">
            <a:extLst>
              <a:ext uri="{FF2B5EF4-FFF2-40B4-BE49-F238E27FC236}">
                <a16:creationId xmlns:a16="http://schemas.microsoft.com/office/drawing/2014/main" id="{7BBE2F39-4399-DE10-A937-7B8222287DA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00296" y="3591712"/>
            <a:ext cx="230113" cy="222059"/>
          </a:xfrm>
          <a:prstGeom prst="rect">
            <a:avLst/>
          </a:prstGeom>
        </p:spPr>
      </p:pic>
      <p:sp>
        <p:nvSpPr>
          <p:cNvPr id="27" name="Espace réservé du texte 2">
            <a:extLst>
              <a:ext uri="{FF2B5EF4-FFF2-40B4-BE49-F238E27FC236}">
                <a16:creationId xmlns:a16="http://schemas.microsoft.com/office/drawing/2014/main" id="{9631E710-8CE9-72C6-278E-FF7D338B1A86}"/>
              </a:ext>
            </a:extLst>
          </p:cNvPr>
          <p:cNvSpPr>
            <a:spLocks noGrp="1"/>
          </p:cNvSpPr>
          <p:nvPr>
            <p:ph type="body" sz="quarter" idx="26"/>
          </p:nvPr>
        </p:nvSpPr>
        <p:spPr>
          <a:xfrm>
            <a:off x="87652" y="4852930"/>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28" name="Espace réservé du texte 2">
            <a:extLst>
              <a:ext uri="{FF2B5EF4-FFF2-40B4-BE49-F238E27FC236}">
                <a16:creationId xmlns:a16="http://schemas.microsoft.com/office/drawing/2014/main" id="{5358D768-1EDD-7573-A3EC-9CF6A58F9FB0}"/>
              </a:ext>
            </a:extLst>
          </p:cNvPr>
          <p:cNvSpPr>
            <a:spLocks noGrp="1"/>
          </p:cNvSpPr>
          <p:nvPr>
            <p:ph type="body" sz="quarter" idx="27"/>
          </p:nvPr>
        </p:nvSpPr>
        <p:spPr>
          <a:xfrm>
            <a:off x="3113483" y="4852930"/>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29" name="Espace réservé du texte 2">
            <a:extLst>
              <a:ext uri="{FF2B5EF4-FFF2-40B4-BE49-F238E27FC236}">
                <a16:creationId xmlns:a16="http://schemas.microsoft.com/office/drawing/2014/main" id="{2D046C19-2790-7ED8-3BB9-98C366BB1EFB}"/>
              </a:ext>
            </a:extLst>
          </p:cNvPr>
          <p:cNvSpPr>
            <a:spLocks noGrp="1"/>
          </p:cNvSpPr>
          <p:nvPr>
            <p:ph type="body" sz="quarter" idx="28"/>
          </p:nvPr>
        </p:nvSpPr>
        <p:spPr>
          <a:xfrm>
            <a:off x="6202416" y="4852930"/>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30" name="Espace réservé du texte 2">
            <a:extLst>
              <a:ext uri="{FF2B5EF4-FFF2-40B4-BE49-F238E27FC236}">
                <a16:creationId xmlns:a16="http://schemas.microsoft.com/office/drawing/2014/main" id="{9CB2B34D-D2E2-D398-0A97-3F1E637528F2}"/>
              </a:ext>
            </a:extLst>
          </p:cNvPr>
          <p:cNvSpPr>
            <a:spLocks noGrp="1"/>
          </p:cNvSpPr>
          <p:nvPr>
            <p:ph type="body" sz="quarter" idx="29"/>
          </p:nvPr>
        </p:nvSpPr>
        <p:spPr>
          <a:xfrm>
            <a:off x="9228247" y="4852930"/>
            <a:ext cx="2835275" cy="862821"/>
          </a:xfrm>
        </p:spPr>
        <p:txBody>
          <a:bodyPr>
            <a:normAutofit/>
          </a:bodyPr>
          <a:lstStyle>
            <a:lvl1pPr marL="0" indent="0" algn="ctr">
              <a:buNone/>
              <a:defRPr sz="1200"/>
            </a:lvl1pPr>
          </a:lstStyle>
          <a:p>
            <a:pPr lvl="0"/>
            <a:r>
              <a:rPr lang="fr-FR" dirty="0"/>
              <a:t>Cliquez pour modifier les styles du texte du masque</a:t>
            </a:r>
          </a:p>
        </p:txBody>
      </p:sp>
      <p:sp>
        <p:nvSpPr>
          <p:cNvPr id="32" name="Espace réservé de l'image en ligne 31">
            <a:extLst>
              <a:ext uri="{FF2B5EF4-FFF2-40B4-BE49-F238E27FC236}">
                <a16:creationId xmlns:a16="http://schemas.microsoft.com/office/drawing/2014/main" id="{59E62CF7-ACDB-4D3F-0C42-927E8552087E}"/>
              </a:ext>
            </a:extLst>
          </p:cNvPr>
          <p:cNvSpPr>
            <a:spLocks noGrp="1"/>
          </p:cNvSpPr>
          <p:nvPr>
            <p:ph type="clipArt" sz="quarter" idx="30"/>
          </p:nvPr>
        </p:nvSpPr>
        <p:spPr>
          <a:xfrm>
            <a:off x="395626" y="541338"/>
            <a:ext cx="2219325" cy="863600"/>
          </a:xfrm>
        </p:spPr>
        <p:txBody>
          <a:bodyPr>
            <a:normAutofit/>
          </a:bodyPr>
          <a:lstStyle>
            <a:lvl1pPr marL="0" indent="0" algn="ctr">
              <a:buNone/>
              <a:defRPr sz="1100"/>
            </a:lvl1pPr>
          </a:lstStyle>
          <a:p>
            <a:endParaRPr lang="fr-FR" dirty="0"/>
          </a:p>
        </p:txBody>
      </p:sp>
      <p:sp>
        <p:nvSpPr>
          <p:cNvPr id="33" name="Espace réservé de l'image en ligne 31">
            <a:extLst>
              <a:ext uri="{FF2B5EF4-FFF2-40B4-BE49-F238E27FC236}">
                <a16:creationId xmlns:a16="http://schemas.microsoft.com/office/drawing/2014/main" id="{8E5BF2C9-7A7B-61C8-12EE-998D65CB46C0}"/>
              </a:ext>
            </a:extLst>
          </p:cNvPr>
          <p:cNvSpPr>
            <a:spLocks noGrp="1"/>
          </p:cNvSpPr>
          <p:nvPr>
            <p:ph type="clipArt" sz="quarter" idx="31"/>
          </p:nvPr>
        </p:nvSpPr>
        <p:spPr>
          <a:xfrm>
            <a:off x="3454389" y="541338"/>
            <a:ext cx="2219325" cy="863600"/>
          </a:xfrm>
        </p:spPr>
        <p:txBody>
          <a:bodyPr>
            <a:normAutofit/>
          </a:bodyPr>
          <a:lstStyle>
            <a:lvl1pPr marL="0" indent="0" algn="ctr">
              <a:buNone/>
              <a:defRPr sz="1100"/>
            </a:lvl1pPr>
          </a:lstStyle>
          <a:p>
            <a:endParaRPr lang="fr-FR"/>
          </a:p>
        </p:txBody>
      </p:sp>
      <p:sp>
        <p:nvSpPr>
          <p:cNvPr id="34" name="Espace réservé de l'image en ligne 31">
            <a:extLst>
              <a:ext uri="{FF2B5EF4-FFF2-40B4-BE49-F238E27FC236}">
                <a16:creationId xmlns:a16="http://schemas.microsoft.com/office/drawing/2014/main" id="{CCCA06BA-0E0F-D765-C038-431037752B7F}"/>
              </a:ext>
            </a:extLst>
          </p:cNvPr>
          <p:cNvSpPr>
            <a:spLocks noGrp="1"/>
          </p:cNvSpPr>
          <p:nvPr>
            <p:ph type="clipArt" sz="quarter" idx="32"/>
          </p:nvPr>
        </p:nvSpPr>
        <p:spPr>
          <a:xfrm>
            <a:off x="6530802" y="541338"/>
            <a:ext cx="2219325" cy="863600"/>
          </a:xfrm>
        </p:spPr>
        <p:txBody>
          <a:bodyPr>
            <a:normAutofit/>
          </a:bodyPr>
          <a:lstStyle>
            <a:lvl1pPr marL="0" indent="0" algn="ctr">
              <a:buNone/>
              <a:defRPr sz="1100"/>
            </a:lvl1pPr>
          </a:lstStyle>
          <a:p>
            <a:endParaRPr lang="fr-FR"/>
          </a:p>
        </p:txBody>
      </p:sp>
      <p:sp>
        <p:nvSpPr>
          <p:cNvPr id="35" name="Espace réservé de l'image en ligne 31">
            <a:extLst>
              <a:ext uri="{FF2B5EF4-FFF2-40B4-BE49-F238E27FC236}">
                <a16:creationId xmlns:a16="http://schemas.microsoft.com/office/drawing/2014/main" id="{1FCFEFE8-CF93-05E0-610D-6F526102E96B}"/>
              </a:ext>
            </a:extLst>
          </p:cNvPr>
          <p:cNvSpPr>
            <a:spLocks noGrp="1"/>
          </p:cNvSpPr>
          <p:nvPr>
            <p:ph type="clipArt" sz="quarter" idx="33"/>
          </p:nvPr>
        </p:nvSpPr>
        <p:spPr>
          <a:xfrm>
            <a:off x="9556634" y="541338"/>
            <a:ext cx="2219325" cy="863600"/>
          </a:xfrm>
        </p:spPr>
        <p:txBody>
          <a:bodyPr>
            <a:normAutofit/>
          </a:bodyPr>
          <a:lstStyle>
            <a:lvl1pPr marL="0" indent="0" algn="ctr">
              <a:buNone/>
              <a:defRPr sz="1100"/>
            </a:lvl1pPr>
          </a:lstStyle>
          <a:p>
            <a:endParaRPr lang="fr-FR"/>
          </a:p>
        </p:txBody>
      </p:sp>
      <p:sp>
        <p:nvSpPr>
          <p:cNvPr id="36" name="Espace réservé de l'image en ligne 31">
            <a:extLst>
              <a:ext uri="{FF2B5EF4-FFF2-40B4-BE49-F238E27FC236}">
                <a16:creationId xmlns:a16="http://schemas.microsoft.com/office/drawing/2014/main" id="{DD0A2B97-2E5C-D372-2ACA-C0F3877C1D2A}"/>
              </a:ext>
            </a:extLst>
          </p:cNvPr>
          <p:cNvSpPr>
            <a:spLocks noGrp="1"/>
          </p:cNvSpPr>
          <p:nvPr>
            <p:ph type="clipArt" sz="quarter" idx="34"/>
          </p:nvPr>
        </p:nvSpPr>
        <p:spPr>
          <a:xfrm>
            <a:off x="420690" y="3990196"/>
            <a:ext cx="2219325" cy="863600"/>
          </a:xfrm>
        </p:spPr>
        <p:txBody>
          <a:bodyPr>
            <a:normAutofit/>
          </a:bodyPr>
          <a:lstStyle>
            <a:lvl1pPr marL="0" indent="0" algn="ctr">
              <a:buNone/>
              <a:defRPr sz="900"/>
            </a:lvl1pPr>
          </a:lstStyle>
          <a:p>
            <a:endParaRPr lang="fr-FR"/>
          </a:p>
        </p:txBody>
      </p:sp>
      <p:sp>
        <p:nvSpPr>
          <p:cNvPr id="37" name="Espace réservé de l'image en ligne 31">
            <a:extLst>
              <a:ext uri="{FF2B5EF4-FFF2-40B4-BE49-F238E27FC236}">
                <a16:creationId xmlns:a16="http://schemas.microsoft.com/office/drawing/2014/main" id="{89D7A655-4E76-7F07-8745-79B998EA5F12}"/>
              </a:ext>
            </a:extLst>
          </p:cNvPr>
          <p:cNvSpPr>
            <a:spLocks noGrp="1"/>
          </p:cNvSpPr>
          <p:nvPr>
            <p:ph type="clipArt" sz="quarter" idx="35"/>
          </p:nvPr>
        </p:nvSpPr>
        <p:spPr>
          <a:xfrm>
            <a:off x="3479453" y="3990196"/>
            <a:ext cx="2219325" cy="863600"/>
          </a:xfrm>
        </p:spPr>
        <p:txBody>
          <a:bodyPr>
            <a:normAutofit/>
          </a:bodyPr>
          <a:lstStyle>
            <a:lvl1pPr marL="0" indent="0" algn="ctr">
              <a:buNone/>
              <a:defRPr sz="900"/>
            </a:lvl1pPr>
          </a:lstStyle>
          <a:p>
            <a:endParaRPr lang="fr-FR"/>
          </a:p>
        </p:txBody>
      </p:sp>
      <p:sp>
        <p:nvSpPr>
          <p:cNvPr id="38" name="Espace réservé de l'image en ligne 31">
            <a:extLst>
              <a:ext uri="{FF2B5EF4-FFF2-40B4-BE49-F238E27FC236}">
                <a16:creationId xmlns:a16="http://schemas.microsoft.com/office/drawing/2014/main" id="{1E7F51A5-6346-3308-DF5C-7B7E119EC0CD}"/>
              </a:ext>
            </a:extLst>
          </p:cNvPr>
          <p:cNvSpPr>
            <a:spLocks noGrp="1"/>
          </p:cNvSpPr>
          <p:nvPr>
            <p:ph type="clipArt" sz="quarter" idx="36"/>
          </p:nvPr>
        </p:nvSpPr>
        <p:spPr>
          <a:xfrm>
            <a:off x="6555866" y="3990196"/>
            <a:ext cx="2219325" cy="863600"/>
          </a:xfrm>
        </p:spPr>
        <p:txBody>
          <a:bodyPr>
            <a:normAutofit/>
          </a:bodyPr>
          <a:lstStyle>
            <a:lvl1pPr marL="0" indent="0" algn="ctr">
              <a:buNone/>
              <a:defRPr sz="900"/>
            </a:lvl1pPr>
          </a:lstStyle>
          <a:p>
            <a:endParaRPr lang="fr-FR"/>
          </a:p>
        </p:txBody>
      </p:sp>
      <p:sp>
        <p:nvSpPr>
          <p:cNvPr id="39" name="Espace réservé de l'image en ligne 31">
            <a:extLst>
              <a:ext uri="{FF2B5EF4-FFF2-40B4-BE49-F238E27FC236}">
                <a16:creationId xmlns:a16="http://schemas.microsoft.com/office/drawing/2014/main" id="{C2F89978-8C79-0B08-F163-89089FB2110C}"/>
              </a:ext>
            </a:extLst>
          </p:cNvPr>
          <p:cNvSpPr>
            <a:spLocks noGrp="1"/>
          </p:cNvSpPr>
          <p:nvPr>
            <p:ph type="clipArt" sz="quarter" idx="37"/>
          </p:nvPr>
        </p:nvSpPr>
        <p:spPr>
          <a:xfrm>
            <a:off x="9581698" y="3990196"/>
            <a:ext cx="2219325" cy="863600"/>
          </a:xfrm>
        </p:spPr>
        <p:txBody>
          <a:bodyPr>
            <a:normAutofit/>
          </a:bodyPr>
          <a:lstStyle>
            <a:lvl1pPr marL="0" indent="0" algn="ctr">
              <a:buNone/>
              <a:defRPr sz="900"/>
            </a:lvl1pPr>
          </a:lstStyle>
          <a:p>
            <a:endParaRPr lang="fr-FR"/>
          </a:p>
        </p:txBody>
      </p:sp>
    </p:spTree>
    <p:extLst>
      <p:ext uri="{BB962C8B-B14F-4D97-AF65-F5344CB8AC3E}">
        <p14:creationId xmlns:p14="http://schemas.microsoft.com/office/powerpoint/2010/main" val="2657185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gles du jeu">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1C5623FF-08C8-D3A4-25AC-E9BE9BB520B8}"/>
              </a:ext>
            </a:extLst>
          </p:cNvPr>
          <p:cNvGraphicFramePr>
            <a:graphicFrameLocks noGrp="1"/>
          </p:cNvGraphicFramePr>
          <p:nvPr userDrawn="1">
            <p:extLst>
              <p:ext uri="{D42A27DB-BD31-4B8C-83A1-F6EECF244321}">
                <p14:modId xmlns:p14="http://schemas.microsoft.com/office/powerpoint/2010/main" val="1636568108"/>
              </p:ext>
            </p:extLst>
          </p:nvPr>
        </p:nvGraphicFramePr>
        <p:xfrm>
          <a:off x="0" y="0"/>
          <a:ext cx="12192000" cy="6858000"/>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465594546"/>
                    </a:ext>
                  </a:extLst>
                </a:gridCol>
                <a:gridCol w="3048000">
                  <a:extLst>
                    <a:ext uri="{9D8B030D-6E8A-4147-A177-3AD203B41FA5}">
                      <a16:colId xmlns:a16="http://schemas.microsoft.com/office/drawing/2014/main" val="844568728"/>
                    </a:ext>
                  </a:extLst>
                </a:gridCol>
                <a:gridCol w="3048000">
                  <a:extLst>
                    <a:ext uri="{9D8B030D-6E8A-4147-A177-3AD203B41FA5}">
                      <a16:colId xmlns:a16="http://schemas.microsoft.com/office/drawing/2014/main" val="2216349016"/>
                    </a:ext>
                  </a:extLst>
                </a:gridCol>
                <a:gridCol w="3048000">
                  <a:extLst>
                    <a:ext uri="{9D8B030D-6E8A-4147-A177-3AD203B41FA5}">
                      <a16:colId xmlns:a16="http://schemas.microsoft.com/office/drawing/2014/main" val="1641310446"/>
                    </a:ext>
                  </a:extLst>
                </a:gridCol>
              </a:tblGrid>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32240512"/>
                  </a:ext>
                </a:extLst>
              </a:tr>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786314030"/>
                  </a:ext>
                </a:extLst>
              </a:tr>
            </a:tbl>
          </a:graphicData>
        </a:graphic>
      </p:graphicFrame>
      <p:sp>
        <p:nvSpPr>
          <p:cNvPr id="7" name="Rectangle 6">
            <a:extLst>
              <a:ext uri="{FF2B5EF4-FFF2-40B4-BE49-F238E27FC236}">
                <a16:creationId xmlns:a16="http://schemas.microsoft.com/office/drawing/2014/main" id="{6DF5B10C-9855-B083-3233-894FEC27F750}"/>
              </a:ext>
            </a:extLst>
          </p:cNvPr>
          <p:cNvSpPr/>
          <p:nvPr userDrawn="1"/>
        </p:nvSpPr>
        <p:spPr>
          <a:xfrm>
            <a:off x="108065"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8" name="Rectangle 7">
            <a:extLst>
              <a:ext uri="{FF2B5EF4-FFF2-40B4-BE49-F238E27FC236}">
                <a16:creationId xmlns:a16="http://schemas.microsoft.com/office/drawing/2014/main" id="{41DA70BB-7B11-4A94-59A2-709F326F7BC9}"/>
              </a:ext>
            </a:extLst>
          </p:cNvPr>
          <p:cNvSpPr/>
          <p:nvPr userDrawn="1"/>
        </p:nvSpPr>
        <p:spPr>
          <a:xfrm>
            <a:off x="3133898"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9" name="Rectangle 8">
            <a:extLst>
              <a:ext uri="{FF2B5EF4-FFF2-40B4-BE49-F238E27FC236}">
                <a16:creationId xmlns:a16="http://schemas.microsoft.com/office/drawing/2014/main" id="{50A97E39-90FD-F425-308B-E6B815F429A7}"/>
              </a:ext>
            </a:extLst>
          </p:cNvPr>
          <p:cNvSpPr/>
          <p:nvPr userDrawn="1"/>
        </p:nvSpPr>
        <p:spPr>
          <a:xfrm>
            <a:off x="6223464" y="91439"/>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10" name="Rectangle 9">
            <a:extLst>
              <a:ext uri="{FF2B5EF4-FFF2-40B4-BE49-F238E27FC236}">
                <a16:creationId xmlns:a16="http://schemas.microsoft.com/office/drawing/2014/main" id="{8BD5B240-6D6E-1EC2-3C81-5F111A010CF9}"/>
              </a:ext>
            </a:extLst>
          </p:cNvPr>
          <p:cNvSpPr/>
          <p:nvPr userDrawn="1"/>
        </p:nvSpPr>
        <p:spPr>
          <a:xfrm>
            <a:off x="9249295"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11" name="Rectangle 10">
            <a:extLst>
              <a:ext uri="{FF2B5EF4-FFF2-40B4-BE49-F238E27FC236}">
                <a16:creationId xmlns:a16="http://schemas.microsoft.com/office/drawing/2014/main" id="{39D06E73-3A31-657D-1179-F97B9119C7A5}"/>
              </a:ext>
            </a:extLst>
          </p:cNvPr>
          <p:cNvSpPr/>
          <p:nvPr userDrawn="1"/>
        </p:nvSpPr>
        <p:spPr>
          <a:xfrm>
            <a:off x="108065"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12" name="Rectangle 11">
            <a:extLst>
              <a:ext uri="{FF2B5EF4-FFF2-40B4-BE49-F238E27FC236}">
                <a16:creationId xmlns:a16="http://schemas.microsoft.com/office/drawing/2014/main" id="{6168E3EF-C85F-DA1A-6E96-20C45E5B40F2}"/>
              </a:ext>
            </a:extLst>
          </p:cNvPr>
          <p:cNvSpPr/>
          <p:nvPr userDrawn="1"/>
        </p:nvSpPr>
        <p:spPr>
          <a:xfrm>
            <a:off x="3133898"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13" name="Rectangle 12">
            <a:extLst>
              <a:ext uri="{FF2B5EF4-FFF2-40B4-BE49-F238E27FC236}">
                <a16:creationId xmlns:a16="http://schemas.microsoft.com/office/drawing/2014/main" id="{70547D0B-756F-851A-330F-6A9A5743B21A}"/>
              </a:ext>
            </a:extLst>
          </p:cNvPr>
          <p:cNvSpPr/>
          <p:nvPr userDrawn="1"/>
        </p:nvSpPr>
        <p:spPr>
          <a:xfrm>
            <a:off x="6223464" y="3549534"/>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14" name="Rectangle 13">
            <a:extLst>
              <a:ext uri="{FF2B5EF4-FFF2-40B4-BE49-F238E27FC236}">
                <a16:creationId xmlns:a16="http://schemas.microsoft.com/office/drawing/2014/main" id="{9C95F4CC-B885-D03E-F3C6-FA3A2F1629AD}"/>
              </a:ext>
            </a:extLst>
          </p:cNvPr>
          <p:cNvSpPr/>
          <p:nvPr userDrawn="1"/>
        </p:nvSpPr>
        <p:spPr>
          <a:xfrm>
            <a:off x="9249295" y="3549533"/>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Règles du jeu</a:t>
            </a:r>
          </a:p>
          <a:p>
            <a:pPr algn="ctr"/>
            <a:r>
              <a:rPr lang="fr-FR" b="1" i="1" dirty="0">
                <a:solidFill>
                  <a:schemeClr val="tx1"/>
                </a:solidFill>
              </a:rPr>
              <a:t>Handi Situations</a:t>
            </a:r>
          </a:p>
        </p:txBody>
      </p:sp>
      <p:sp>
        <p:nvSpPr>
          <p:cNvPr id="3" name="Espace réservé du texte 2">
            <a:extLst>
              <a:ext uri="{FF2B5EF4-FFF2-40B4-BE49-F238E27FC236}">
                <a16:creationId xmlns:a16="http://schemas.microsoft.com/office/drawing/2014/main" id="{AA780151-BC98-5180-1B86-F3CB7D026AC3}"/>
              </a:ext>
            </a:extLst>
          </p:cNvPr>
          <p:cNvSpPr>
            <a:spLocks noGrp="1"/>
          </p:cNvSpPr>
          <p:nvPr>
            <p:ph type="body" sz="quarter" idx="10"/>
          </p:nvPr>
        </p:nvSpPr>
        <p:spPr>
          <a:xfrm>
            <a:off x="108065" y="834151"/>
            <a:ext cx="2835275" cy="2474312"/>
          </a:xfrm>
        </p:spPr>
        <p:txBody>
          <a:bodyPr>
            <a:normAutofit/>
          </a:bodyPr>
          <a:lstStyle>
            <a:lvl1pPr marL="0" indent="0" algn="ctr">
              <a:buNone/>
              <a:defRPr sz="1800"/>
            </a:lvl1pPr>
          </a:lstStyle>
          <a:p>
            <a:pPr lvl="0"/>
            <a:r>
              <a:rPr lang="fr-FR" dirty="0"/>
              <a:t>Cliquez pour modifier les styles du texte du masque</a:t>
            </a:r>
          </a:p>
        </p:txBody>
      </p:sp>
      <p:sp>
        <p:nvSpPr>
          <p:cNvPr id="15" name="Espace réservé du texte 2">
            <a:extLst>
              <a:ext uri="{FF2B5EF4-FFF2-40B4-BE49-F238E27FC236}">
                <a16:creationId xmlns:a16="http://schemas.microsoft.com/office/drawing/2014/main" id="{C4A4ADD8-2242-4737-5740-CC5132C0EEB1}"/>
              </a:ext>
            </a:extLst>
          </p:cNvPr>
          <p:cNvSpPr>
            <a:spLocks noGrp="1"/>
          </p:cNvSpPr>
          <p:nvPr>
            <p:ph type="body" sz="quarter" idx="11"/>
          </p:nvPr>
        </p:nvSpPr>
        <p:spPr>
          <a:xfrm>
            <a:off x="3133896" y="834150"/>
            <a:ext cx="2835275" cy="2474312"/>
          </a:xfrm>
        </p:spPr>
        <p:txBody>
          <a:bodyPr>
            <a:normAutofit/>
          </a:bodyPr>
          <a:lstStyle>
            <a:lvl1pPr marL="0" indent="0" algn="ctr">
              <a:buNone/>
              <a:defRPr sz="1800"/>
            </a:lvl1pPr>
          </a:lstStyle>
          <a:p>
            <a:pPr lvl="0"/>
            <a:r>
              <a:rPr lang="fr-FR" dirty="0"/>
              <a:t>Cliquez pour modifier les styles du texte du masque</a:t>
            </a:r>
          </a:p>
        </p:txBody>
      </p:sp>
      <p:sp>
        <p:nvSpPr>
          <p:cNvPr id="16" name="Espace réservé du texte 2">
            <a:extLst>
              <a:ext uri="{FF2B5EF4-FFF2-40B4-BE49-F238E27FC236}">
                <a16:creationId xmlns:a16="http://schemas.microsoft.com/office/drawing/2014/main" id="{95EFE1AE-AD6F-C9A7-75E3-52C43DAE8205}"/>
              </a:ext>
            </a:extLst>
          </p:cNvPr>
          <p:cNvSpPr>
            <a:spLocks noGrp="1"/>
          </p:cNvSpPr>
          <p:nvPr>
            <p:ph type="body" sz="quarter" idx="12"/>
          </p:nvPr>
        </p:nvSpPr>
        <p:spPr>
          <a:xfrm>
            <a:off x="6222829" y="815929"/>
            <a:ext cx="2835275" cy="2474312"/>
          </a:xfrm>
        </p:spPr>
        <p:txBody>
          <a:bodyPr>
            <a:normAutofit/>
          </a:bodyPr>
          <a:lstStyle>
            <a:lvl1pPr marL="0" indent="0" algn="ctr">
              <a:buNone/>
              <a:defRPr sz="1800"/>
            </a:lvl1pPr>
          </a:lstStyle>
          <a:p>
            <a:pPr lvl="0"/>
            <a:r>
              <a:rPr lang="fr-FR" dirty="0"/>
              <a:t>Cliquez pour modifier les styles du texte du masque</a:t>
            </a:r>
          </a:p>
        </p:txBody>
      </p:sp>
      <p:sp>
        <p:nvSpPr>
          <p:cNvPr id="17" name="Espace réservé du texte 2">
            <a:extLst>
              <a:ext uri="{FF2B5EF4-FFF2-40B4-BE49-F238E27FC236}">
                <a16:creationId xmlns:a16="http://schemas.microsoft.com/office/drawing/2014/main" id="{FCC2F6E9-152A-1F50-8356-D3D7F1F5F369}"/>
              </a:ext>
            </a:extLst>
          </p:cNvPr>
          <p:cNvSpPr>
            <a:spLocks noGrp="1"/>
          </p:cNvSpPr>
          <p:nvPr>
            <p:ph type="body" sz="quarter" idx="13"/>
          </p:nvPr>
        </p:nvSpPr>
        <p:spPr>
          <a:xfrm>
            <a:off x="9248660" y="815928"/>
            <a:ext cx="2835275" cy="2474312"/>
          </a:xfrm>
        </p:spPr>
        <p:txBody>
          <a:bodyPr>
            <a:normAutofit/>
          </a:bodyPr>
          <a:lstStyle>
            <a:lvl1pPr marL="0" indent="0" algn="ctr">
              <a:buNone/>
              <a:defRPr sz="1800"/>
            </a:lvl1pPr>
          </a:lstStyle>
          <a:p>
            <a:pPr lvl="0"/>
            <a:r>
              <a:rPr lang="fr-FR" dirty="0"/>
              <a:t>Cliquez pour modifier les styles du texte du masque</a:t>
            </a:r>
          </a:p>
        </p:txBody>
      </p:sp>
      <p:sp>
        <p:nvSpPr>
          <p:cNvPr id="18" name="Espace réservé du texte 2">
            <a:extLst>
              <a:ext uri="{FF2B5EF4-FFF2-40B4-BE49-F238E27FC236}">
                <a16:creationId xmlns:a16="http://schemas.microsoft.com/office/drawing/2014/main" id="{13BDDB9D-8DE7-B08C-45D4-0F907AA77A8A}"/>
              </a:ext>
            </a:extLst>
          </p:cNvPr>
          <p:cNvSpPr>
            <a:spLocks noGrp="1"/>
          </p:cNvSpPr>
          <p:nvPr>
            <p:ph type="body" sz="quarter" idx="14"/>
          </p:nvPr>
        </p:nvSpPr>
        <p:spPr>
          <a:xfrm>
            <a:off x="108065" y="4282652"/>
            <a:ext cx="2835275" cy="2474312"/>
          </a:xfrm>
        </p:spPr>
        <p:txBody>
          <a:bodyPr>
            <a:normAutofit/>
          </a:bodyPr>
          <a:lstStyle>
            <a:lvl1pPr marL="0" indent="0" algn="ctr">
              <a:buNone/>
              <a:defRPr sz="1800"/>
            </a:lvl1pPr>
          </a:lstStyle>
          <a:p>
            <a:pPr lvl="0"/>
            <a:r>
              <a:rPr lang="fr-FR" dirty="0"/>
              <a:t>Cliquez pour modifier les styles du texte du masque</a:t>
            </a:r>
          </a:p>
        </p:txBody>
      </p:sp>
      <p:sp>
        <p:nvSpPr>
          <p:cNvPr id="19" name="Espace réservé du texte 2">
            <a:extLst>
              <a:ext uri="{FF2B5EF4-FFF2-40B4-BE49-F238E27FC236}">
                <a16:creationId xmlns:a16="http://schemas.microsoft.com/office/drawing/2014/main" id="{AFFB732D-5F0A-99E3-1C4D-B4B1BDC9655F}"/>
              </a:ext>
            </a:extLst>
          </p:cNvPr>
          <p:cNvSpPr>
            <a:spLocks noGrp="1"/>
          </p:cNvSpPr>
          <p:nvPr>
            <p:ph type="body" sz="quarter" idx="15"/>
          </p:nvPr>
        </p:nvSpPr>
        <p:spPr>
          <a:xfrm>
            <a:off x="3133896" y="4282651"/>
            <a:ext cx="2835275" cy="2474312"/>
          </a:xfrm>
        </p:spPr>
        <p:txBody>
          <a:bodyPr>
            <a:normAutofit/>
          </a:bodyPr>
          <a:lstStyle>
            <a:lvl1pPr marL="0" indent="0" algn="ctr">
              <a:buNone/>
              <a:defRPr sz="1800"/>
            </a:lvl1pPr>
          </a:lstStyle>
          <a:p>
            <a:pPr lvl="0"/>
            <a:r>
              <a:rPr lang="fr-FR" dirty="0"/>
              <a:t>Cliquez pour modifier les styles du texte du masque</a:t>
            </a:r>
          </a:p>
        </p:txBody>
      </p:sp>
      <p:sp>
        <p:nvSpPr>
          <p:cNvPr id="20" name="Espace réservé du texte 2">
            <a:extLst>
              <a:ext uri="{FF2B5EF4-FFF2-40B4-BE49-F238E27FC236}">
                <a16:creationId xmlns:a16="http://schemas.microsoft.com/office/drawing/2014/main" id="{6C1EE131-2E1B-C0B6-5726-112D65DFA009}"/>
              </a:ext>
            </a:extLst>
          </p:cNvPr>
          <p:cNvSpPr>
            <a:spLocks noGrp="1"/>
          </p:cNvSpPr>
          <p:nvPr>
            <p:ph type="body" sz="quarter" idx="16"/>
          </p:nvPr>
        </p:nvSpPr>
        <p:spPr>
          <a:xfrm>
            <a:off x="6222829" y="4264430"/>
            <a:ext cx="2835275" cy="2474312"/>
          </a:xfrm>
        </p:spPr>
        <p:txBody>
          <a:bodyPr>
            <a:normAutofit/>
          </a:bodyPr>
          <a:lstStyle>
            <a:lvl1pPr marL="0" indent="0" algn="ctr">
              <a:buNone/>
              <a:defRPr sz="1800"/>
            </a:lvl1pPr>
          </a:lstStyle>
          <a:p>
            <a:pPr lvl="0"/>
            <a:r>
              <a:rPr lang="fr-FR" dirty="0"/>
              <a:t>Cliquez pour modifier les styles du texte du masque</a:t>
            </a:r>
          </a:p>
        </p:txBody>
      </p:sp>
      <p:sp>
        <p:nvSpPr>
          <p:cNvPr id="21" name="Espace réservé du texte 2">
            <a:extLst>
              <a:ext uri="{FF2B5EF4-FFF2-40B4-BE49-F238E27FC236}">
                <a16:creationId xmlns:a16="http://schemas.microsoft.com/office/drawing/2014/main" id="{3DC68C54-C0E2-0785-8353-044CE39F022D}"/>
              </a:ext>
            </a:extLst>
          </p:cNvPr>
          <p:cNvSpPr>
            <a:spLocks noGrp="1"/>
          </p:cNvSpPr>
          <p:nvPr>
            <p:ph type="body" sz="quarter" idx="17"/>
          </p:nvPr>
        </p:nvSpPr>
        <p:spPr>
          <a:xfrm>
            <a:off x="9248660" y="4264429"/>
            <a:ext cx="2835275" cy="2474312"/>
          </a:xfrm>
        </p:spPr>
        <p:txBody>
          <a:bodyPr>
            <a:normAutofit/>
          </a:bodyPr>
          <a:lstStyle>
            <a:lvl1pPr marL="0" indent="0" algn="ctr">
              <a:buNone/>
              <a:defRPr sz="1800"/>
            </a:lvl1pPr>
          </a:lstStyle>
          <a:p>
            <a:pPr lvl="0"/>
            <a:r>
              <a:rPr lang="fr-FR" dirty="0"/>
              <a:t>Cliquez pour modifier les styles du texte du masque</a:t>
            </a:r>
          </a:p>
        </p:txBody>
      </p:sp>
      <p:pic>
        <p:nvPicPr>
          <p:cNvPr id="2" name="Image 1">
            <a:extLst>
              <a:ext uri="{FF2B5EF4-FFF2-40B4-BE49-F238E27FC236}">
                <a16:creationId xmlns:a16="http://schemas.microsoft.com/office/drawing/2014/main" id="{E3B595DF-67C6-CCA7-C9AB-A1D26D2FDA9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92814" y="140633"/>
            <a:ext cx="230113" cy="222059"/>
          </a:xfrm>
          <a:prstGeom prst="rect">
            <a:avLst/>
          </a:prstGeom>
        </p:spPr>
      </p:pic>
      <p:pic>
        <p:nvPicPr>
          <p:cNvPr id="4" name="Image 3">
            <a:extLst>
              <a:ext uri="{FF2B5EF4-FFF2-40B4-BE49-F238E27FC236}">
                <a16:creationId xmlns:a16="http://schemas.microsoft.com/office/drawing/2014/main" id="{2B494F88-BB18-9B9E-5DCA-D1549EA421D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61266" y="3591712"/>
            <a:ext cx="230113" cy="222059"/>
          </a:xfrm>
          <a:prstGeom prst="rect">
            <a:avLst/>
          </a:prstGeom>
        </p:spPr>
      </p:pic>
      <p:pic>
        <p:nvPicPr>
          <p:cNvPr id="5" name="Image 4">
            <a:extLst>
              <a:ext uri="{FF2B5EF4-FFF2-40B4-BE49-F238E27FC236}">
                <a16:creationId xmlns:a16="http://schemas.microsoft.com/office/drawing/2014/main" id="{98AE4448-A33F-70BF-6018-62DC06E0A96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262" y="140633"/>
            <a:ext cx="230113" cy="222059"/>
          </a:xfrm>
          <a:prstGeom prst="rect">
            <a:avLst/>
          </a:prstGeom>
        </p:spPr>
      </p:pic>
      <p:pic>
        <p:nvPicPr>
          <p:cNvPr id="22" name="Image 21">
            <a:extLst>
              <a:ext uri="{FF2B5EF4-FFF2-40B4-BE49-F238E27FC236}">
                <a16:creationId xmlns:a16="http://schemas.microsoft.com/office/drawing/2014/main" id="{05DEC68B-FC4E-CC38-F197-4C89D156E8E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673714" y="3591712"/>
            <a:ext cx="230113" cy="222059"/>
          </a:xfrm>
          <a:prstGeom prst="rect">
            <a:avLst/>
          </a:prstGeom>
        </p:spPr>
      </p:pic>
      <p:pic>
        <p:nvPicPr>
          <p:cNvPr id="23" name="Image 22">
            <a:extLst>
              <a:ext uri="{FF2B5EF4-FFF2-40B4-BE49-F238E27FC236}">
                <a16:creationId xmlns:a16="http://schemas.microsoft.com/office/drawing/2014/main" id="{66AA17D3-DD07-7148-4093-243009F1EB7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23669" y="140633"/>
            <a:ext cx="230113" cy="222059"/>
          </a:xfrm>
          <a:prstGeom prst="rect">
            <a:avLst/>
          </a:prstGeom>
        </p:spPr>
      </p:pic>
      <p:pic>
        <p:nvPicPr>
          <p:cNvPr id="24" name="Image 23">
            <a:extLst>
              <a:ext uri="{FF2B5EF4-FFF2-40B4-BE49-F238E27FC236}">
                <a16:creationId xmlns:a16="http://schemas.microsoft.com/office/drawing/2014/main" id="{68401675-1FCB-2DF6-5A59-7711798886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92121" y="3591712"/>
            <a:ext cx="230113" cy="222059"/>
          </a:xfrm>
          <a:prstGeom prst="rect">
            <a:avLst/>
          </a:prstGeom>
        </p:spPr>
      </p:pic>
      <p:pic>
        <p:nvPicPr>
          <p:cNvPr id="25" name="Image 24">
            <a:extLst>
              <a:ext uri="{FF2B5EF4-FFF2-40B4-BE49-F238E27FC236}">
                <a16:creationId xmlns:a16="http://schemas.microsoft.com/office/drawing/2014/main" id="{CC59A70C-8FC5-473C-0CD6-0585274FFB2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31844" y="140633"/>
            <a:ext cx="230113" cy="222059"/>
          </a:xfrm>
          <a:prstGeom prst="rect">
            <a:avLst/>
          </a:prstGeom>
        </p:spPr>
      </p:pic>
      <p:pic>
        <p:nvPicPr>
          <p:cNvPr id="26" name="Image 25">
            <a:extLst>
              <a:ext uri="{FF2B5EF4-FFF2-40B4-BE49-F238E27FC236}">
                <a16:creationId xmlns:a16="http://schemas.microsoft.com/office/drawing/2014/main" id="{2D18A1A4-E8A7-44F6-D36D-AD3E2D03EAC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00296" y="3591712"/>
            <a:ext cx="230113" cy="222059"/>
          </a:xfrm>
          <a:prstGeom prst="rect">
            <a:avLst/>
          </a:prstGeom>
        </p:spPr>
      </p:pic>
    </p:spTree>
    <p:extLst>
      <p:ext uri="{BB962C8B-B14F-4D97-AF65-F5344CB8AC3E}">
        <p14:creationId xmlns:p14="http://schemas.microsoft.com/office/powerpoint/2010/main" val="2057347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briefing">
    <p:spTree>
      <p:nvGrpSpPr>
        <p:cNvPr id="1" name=""/>
        <p:cNvGrpSpPr/>
        <p:nvPr/>
      </p:nvGrpSpPr>
      <p:grpSpPr>
        <a:xfrm>
          <a:off x="0" y="0"/>
          <a:ext cx="0" cy="0"/>
          <a:chOff x="0" y="0"/>
          <a:chExt cx="0" cy="0"/>
        </a:xfrm>
      </p:grpSpPr>
      <p:graphicFrame>
        <p:nvGraphicFramePr>
          <p:cNvPr id="6" name="Tableau 6">
            <a:extLst>
              <a:ext uri="{FF2B5EF4-FFF2-40B4-BE49-F238E27FC236}">
                <a16:creationId xmlns:a16="http://schemas.microsoft.com/office/drawing/2014/main" id="{1C5623FF-08C8-D3A4-25AC-E9BE9BB520B8}"/>
              </a:ext>
            </a:extLst>
          </p:cNvPr>
          <p:cNvGraphicFramePr>
            <a:graphicFrameLocks noGrp="1"/>
          </p:cNvGraphicFramePr>
          <p:nvPr userDrawn="1">
            <p:extLst>
              <p:ext uri="{D42A27DB-BD31-4B8C-83A1-F6EECF244321}">
                <p14:modId xmlns:p14="http://schemas.microsoft.com/office/powerpoint/2010/main" val="1585705540"/>
              </p:ext>
            </p:extLst>
          </p:nvPr>
        </p:nvGraphicFramePr>
        <p:xfrm>
          <a:off x="0" y="0"/>
          <a:ext cx="12192000" cy="6858000"/>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465594546"/>
                    </a:ext>
                  </a:extLst>
                </a:gridCol>
                <a:gridCol w="3048000">
                  <a:extLst>
                    <a:ext uri="{9D8B030D-6E8A-4147-A177-3AD203B41FA5}">
                      <a16:colId xmlns:a16="http://schemas.microsoft.com/office/drawing/2014/main" val="844568728"/>
                    </a:ext>
                  </a:extLst>
                </a:gridCol>
                <a:gridCol w="3048000">
                  <a:extLst>
                    <a:ext uri="{9D8B030D-6E8A-4147-A177-3AD203B41FA5}">
                      <a16:colId xmlns:a16="http://schemas.microsoft.com/office/drawing/2014/main" val="2216349016"/>
                    </a:ext>
                  </a:extLst>
                </a:gridCol>
                <a:gridCol w="3048000">
                  <a:extLst>
                    <a:ext uri="{9D8B030D-6E8A-4147-A177-3AD203B41FA5}">
                      <a16:colId xmlns:a16="http://schemas.microsoft.com/office/drawing/2014/main" val="1641310446"/>
                    </a:ext>
                  </a:extLst>
                </a:gridCol>
              </a:tblGrid>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32240512"/>
                  </a:ext>
                </a:extLst>
              </a:tr>
              <a:tr h="3429000">
                <a:tc>
                  <a:txBody>
                    <a:bodyPr/>
                    <a:lstStyle/>
                    <a:p>
                      <a:endParaRPr lang="fr-FR">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fr-FR"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786314030"/>
                  </a:ext>
                </a:extLst>
              </a:tr>
            </a:tbl>
          </a:graphicData>
        </a:graphic>
      </p:graphicFrame>
      <p:sp>
        <p:nvSpPr>
          <p:cNvPr id="7" name="Rectangle 6">
            <a:extLst>
              <a:ext uri="{FF2B5EF4-FFF2-40B4-BE49-F238E27FC236}">
                <a16:creationId xmlns:a16="http://schemas.microsoft.com/office/drawing/2014/main" id="{6DF5B10C-9855-B083-3233-894FEC27F750}"/>
              </a:ext>
            </a:extLst>
          </p:cNvPr>
          <p:cNvSpPr/>
          <p:nvPr userDrawn="1"/>
        </p:nvSpPr>
        <p:spPr>
          <a:xfrm>
            <a:off x="108065"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800" b="1" dirty="0">
                <a:solidFill>
                  <a:schemeClr val="tx1"/>
                </a:solidFill>
              </a:rPr>
              <a:t>Debriefing </a:t>
            </a:r>
          </a:p>
          <a:p>
            <a:pPr algn="ctr"/>
            <a:r>
              <a:rPr lang="fr-FR" sz="1800" b="1" i="1" dirty="0">
                <a:solidFill>
                  <a:schemeClr val="tx1"/>
                </a:solidFill>
              </a:rPr>
              <a:t>Handi Situations</a:t>
            </a:r>
          </a:p>
        </p:txBody>
      </p:sp>
      <p:sp>
        <p:nvSpPr>
          <p:cNvPr id="8" name="Rectangle 7">
            <a:extLst>
              <a:ext uri="{FF2B5EF4-FFF2-40B4-BE49-F238E27FC236}">
                <a16:creationId xmlns:a16="http://schemas.microsoft.com/office/drawing/2014/main" id="{41DA70BB-7B11-4A94-59A2-709F326F7BC9}"/>
              </a:ext>
            </a:extLst>
          </p:cNvPr>
          <p:cNvSpPr/>
          <p:nvPr userDrawn="1"/>
        </p:nvSpPr>
        <p:spPr>
          <a:xfrm>
            <a:off x="3133898" y="91440"/>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Debriefing </a:t>
            </a:r>
          </a:p>
          <a:p>
            <a:pPr algn="ctr"/>
            <a:r>
              <a:rPr lang="fr-FR" sz="1800" b="1" i="1" dirty="0">
                <a:solidFill>
                  <a:schemeClr val="tx1"/>
                </a:solidFill>
              </a:rPr>
              <a:t>Handi Situations</a:t>
            </a:r>
          </a:p>
        </p:txBody>
      </p:sp>
      <p:sp>
        <p:nvSpPr>
          <p:cNvPr id="9" name="Rectangle 8">
            <a:extLst>
              <a:ext uri="{FF2B5EF4-FFF2-40B4-BE49-F238E27FC236}">
                <a16:creationId xmlns:a16="http://schemas.microsoft.com/office/drawing/2014/main" id="{50A97E39-90FD-F425-308B-E6B815F429A7}"/>
              </a:ext>
            </a:extLst>
          </p:cNvPr>
          <p:cNvSpPr/>
          <p:nvPr userDrawn="1"/>
        </p:nvSpPr>
        <p:spPr>
          <a:xfrm>
            <a:off x="6223464" y="91439"/>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Debriefing </a:t>
            </a:r>
          </a:p>
          <a:p>
            <a:pPr algn="ctr"/>
            <a:r>
              <a:rPr lang="fr-FR" sz="1800" b="1" i="1" dirty="0">
                <a:solidFill>
                  <a:schemeClr val="tx1"/>
                </a:solidFill>
              </a:rPr>
              <a:t>Handi Situations</a:t>
            </a:r>
          </a:p>
        </p:txBody>
      </p:sp>
      <p:sp>
        <p:nvSpPr>
          <p:cNvPr id="10" name="Rectangle 9">
            <a:extLst>
              <a:ext uri="{FF2B5EF4-FFF2-40B4-BE49-F238E27FC236}">
                <a16:creationId xmlns:a16="http://schemas.microsoft.com/office/drawing/2014/main" id="{8BD5B240-6D6E-1EC2-3C81-5F111A010CF9}"/>
              </a:ext>
            </a:extLst>
          </p:cNvPr>
          <p:cNvSpPr/>
          <p:nvPr userDrawn="1"/>
        </p:nvSpPr>
        <p:spPr>
          <a:xfrm>
            <a:off x="9249295" y="91438"/>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Debriefing </a:t>
            </a:r>
          </a:p>
          <a:p>
            <a:pPr algn="ctr"/>
            <a:r>
              <a:rPr lang="fr-FR" sz="1800" b="1" i="1" dirty="0">
                <a:solidFill>
                  <a:schemeClr val="tx1"/>
                </a:solidFill>
              </a:rPr>
              <a:t>Handi Situations</a:t>
            </a:r>
          </a:p>
        </p:txBody>
      </p:sp>
      <p:sp>
        <p:nvSpPr>
          <p:cNvPr id="11" name="Rectangle 10">
            <a:extLst>
              <a:ext uri="{FF2B5EF4-FFF2-40B4-BE49-F238E27FC236}">
                <a16:creationId xmlns:a16="http://schemas.microsoft.com/office/drawing/2014/main" id="{39D06E73-3A31-657D-1179-F97B9119C7A5}"/>
              </a:ext>
            </a:extLst>
          </p:cNvPr>
          <p:cNvSpPr/>
          <p:nvPr userDrawn="1"/>
        </p:nvSpPr>
        <p:spPr>
          <a:xfrm>
            <a:off x="108065"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Debriefing </a:t>
            </a:r>
          </a:p>
          <a:p>
            <a:pPr algn="ctr"/>
            <a:r>
              <a:rPr lang="fr-FR" sz="1800" b="1" i="1" dirty="0">
                <a:solidFill>
                  <a:schemeClr val="tx1"/>
                </a:solidFill>
              </a:rPr>
              <a:t>Handi Situations</a:t>
            </a:r>
          </a:p>
        </p:txBody>
      </p:sp>
      <p:sp>
        <p:nvSpPr>
          <p:cNvPr id="12" name="Rectangle 11">
            <a:extLst>
              <a:ext uri="{FF2B5EF4-FFF2-40B4-BE49-F238E27FC236}">
                <a16:creationId xmlns:a16="http://schemas.microsoft.com/office/drawing/2014/main" id="{6168E3EF-C85F-DA1A-6E96-20C45E5B40F2}"/>
              </a:ext>
            </a:extLst>
          </p:cNvPr>
          <p:cNvSpPr/>
          <p:nvPr userDrawn="1"/>
        </p:nvSpPr>
        <p:spPr>
          <a:xfrm>
            <a:off x="3133898" y="3549535"/>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Debriefing </a:t>
            </a:r>
          </a:p>
          <a:p>
            <a:pPr algn="ctr"/>
            <a:r>
              <a:rPr lang="fr-FR" sz="1800" b="1" i="1" dirty="0">
                <a:solidFill>
                  <a:schemeClr val="tx1"/>
                </a:solidFill>
              </a:rPr>
              <a:t>Handi Situations</a:t>
            </a:r>
          </a:p>
        </p:txBody>
      </p:sp>
      <p:sp>
        <p:nvSpPr>
          <p:cNvPr id="13" name="Rectangle 12">
            <a:extLst>
              <a:ext uri="{FF2B5EF4-FFF2-40B4-BE49-F238E27FC236}">
                <a16:creationId xmlns:a16="http://schemas.microsoft.com/office/drawing/2014/main" id="{70547D0B-756F-851A-330F-6A9A5743B21A}"/>
              </a:ext>
            </a:extLst>
          </p:cNvPr>
          <p:cNvSpPr/>
          <p:nvPr userDrawn="1"/>
        </p:nvSpPr>
        <p:spPr>
          <a:xfrm>
            <a:off x="6223464" y="3549534"/>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Debriefing </a:t>
            </a:r>
          </a:p>
          <a:p>
            <a:pPr algn="ctr"/>
            <a:r>
              <a:rPr lang="fr-FR" sz="1800" b="1" i="1" dirty="0">
                <a:solidFill>
                  <a:schemeClr val="tx1"/>
                </a:solidFill>
              </a:rPr>
              <a:t>Handi Situations</a:t>
            </a:r>
          </a:p>
        </p:txBody>
      </p:sp>
      <p:sp>
        <p:nvSpPr>
          <p:cNvPr id="14" name="Rectangle 13">
            <a:extLst>
              <a:ext uri="{FF2B5EF4-FFF2-40B4-BE49-F238E27FC236}">
                <a16:creationId xmlns:a16="http://schemas.microsoft.com/office/drawing/2014/main" id="{9C95F4CC-B885-D03E-F3C6-FA3A2F1629AD}"/>
              </a:ext>
            </a:extLst>
          </p:cNvPr>
          <p:cNvSpPr/>
          <p:nvPr userDrawn="1"/>
        </p:nvSpPr>
        <p:spPr>
          <a:xfrm>
            <a:off x="9249295" y="3549533"/>
            <a:ext cx="2834640" cy="3217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dirty="0">
                <a:solidFill>
                  <a:schemeClr val="tx1"/>
                </a:solidFill>
              </a:rPr>
              <a:t>Debriefing </a:t>
            </a:r>
          </a:p>
          <a:p>
            <a:pPr algn="ctr"/>
            <a:r>
              <a:rPr lang="fr-FR" sz="1800" b="1" i="1" dirty="0">
                <a:solidFill>
                  <a:schemeClr val="tx1"/>
                </a:solidFill>
              </a:rPr>
              <a:t>Handi Situations</a:t>
            </a:r>
          </a:p>
        </p:txBody>
      </p:sp>
      <p:sp>
        <p:nvSpPr>
          <p:cNvPr id="3" name="Espace réservé du texte 2">
            <a:extLst>
              <a:ext uri="{FF2B5EF4-FFF2-40B4-BE49-F238E27FC236}">
                <a16:creationId xmlns:a16="http://schemas.microsoft.com/office/drawing/2014/main" id="{AA780151-BC98-5180-1B86-F3CB7D026AC3}"/>
              </a:ext>
            </a:extLst>
          </p:cNvPr>
          <p:cNvSpPr>
            <a:spLocks noGrp="1"/>
          </p:cNvSpPr>
          <p:nvPr>
            <p:ph type="body" sz="quarter" idx="10"/>
          </p:nvPr>
        </p:nvSpPr>
        <p:spPr>
          <a:xfrm>
            <a:off x="108065" y="1025343"/>
            <a:ext cx="2835275" cy="2283120"/>
          </a:xfrm>
        </p:spPr>
        <p:txBody>
          <a:bodyPr>
            <a:normAutofit/>
          </a:bodyPr>
          <a:lstStyle>
            <a:lvl1pPr marL="0" indent="0" algn="ctr">
              <a:buNone/>
              <a:defRPr sz="1800"/>
            </a:lvl1pPr>
          </a:lstStyle>
          <a:p>
            <a:pPr lvl="0"/>
            <a:r>
              <a:rPr lang="fr-FR" dirty="0"/>
              <a:t>Cliquez pour modifier les styles du texte du masque</a:t>
            </a:r>
          </a:p>
        </p:txBody>
      </p:sp>
      <p:sp>
        <p:nvSpPr>
          <p:cNvPr id="15" name="Espace réservé du texte 2">
            <a:extLst>
              <a:ext uri="{FF2B5EF4-FFF2-40B4-BE49-F238E27FC236}">
                <a16:creationId xmlns:a16="http://schemas.microsoft.com/office/drawing/2014/main" id="{C4A4ADD8-2242-4737-5740-CC5132C0EEB1}"/>
              </a:ext>
            </a:extLst>
          </p:cNvPr>
          <p:cNvSpPr>
            <a:spLocks noGrp="1"/>
          </p:cNvSpPr>
          <p:nvPr>
            <p:ph type="body" sz="quarter" idx="11"/>
          </p:nvPr>
        </p:nvSpPr>
        <p:spPr>
          <a:xfrm>
            <a:off x="3133896" y="1025342"/>
            <a:ext cx="2835275" cy="2283120"/>
          </a:xfrm>
        </p:spPr>
        <p:txBody>
          <a:bodyPr>
            <a:normAutofit/>
          </a:bodyPr>
          <a:lstStyle>
            <a:lvl1pPr marL="0" indent="0" algn="ctr">
              <a:buNone/>
              <a:defRPr sz="1800"/>
            </a:lvl1pPr>
          </a:lstStyle>
          <a:p>
            <a:pPr lvl="0"/>
            <a:r>
              <a:rPr lang="fr-FR" dirty="0"/>
              <a:t>Cliquez pour modifier les styles du texte du masque</a:t>
            </a:r>
          </a:p>
        </p:txBody>
      </p:sp>
      <p:sp>
        <p:nvSpPr>
          <p:cNvPr id="16" name="Espace réservé du texte 2">
            <a:extLst>
              <a:ext uri="{FF2B5EF4-FFF2-40B4-BE49-F238E27FC236}">
                <a16:creationId xmlns:a16="http://schemas.microsoft.com/office/drawing/2014/main" id="{95EFE1AE-AD6F-C9A7-75E3-52C43DAE8205}"/>
              </a:ext>
            </a:extLst>
          </p:cNvPr>
          <p:cNvSpPr>
            <a:spLocks noGrp="1"/>
          </p:cNvSpPr>
          <p:nvPr>
            <p:ph type="body" sz="quarter" idx="12"/>
          </p:nvPr>
        </p:nvSpPr>
        <p:spPr>
          <a:xfrm>
            <a:off x="6222829" y="1007121"/>
            <a:ext cx="2835275" cy="2283120"/>
          </a:xfrm>
        </p:spPr>
        <p:txBody>
          <a:bodyPr>
            <a:normAutofit/>
          </a:bodyPr>
          <a:lstStyle>
            <a:lvl1pPr marL="0" indent="0" algn="ctr">
              <a:buNone/>
              <a:defRPr sz="1800"/>
            </a:lvl1pPr>
          </a:lstStyle>
          <a:p>
            <a:pPr lvl="0"/>
            <a:r>
              <a:rPr lang="fr-FR" dirty="0"/>
              <a:t>Cliquez pour modifier les styles du texte du masque</a:t>
            </a:r>
          </a:p>
        </p:txBody>
      </p:sp>
      <p:sp>
        <p:nvSpPr>
          <p:cNvPr id="17" name="Espace réservé du texte 2">
            <a:extLst>
              <a:ext uri="{FF2B5EF4-FFF2-40B4-BE49-F238E27FC236}">
                <a16:creationId xmlns:a16="http://schemas.microsoft.com/office/drawing/2014/main" id="{FCC2F6E9-152A-1F50-8356-D3D7F1F5F369}"/>
              </a:ext>
            </a:extLst>
          </p:cNvPr>
          <p:cNvSpPr>
            <a:spLocks noGrp="1"/>
          </p:cNvSpPr>
          <p:nvPr>
            <p:ph type="body" sz="quarter" idx="13"/>
          </p:nvPr>
        </p:nvSpPr>
        <p:spPr>
          <a:xfrm>
            <a:off x="9248660" y="1007120"/>
            <a:ext cx="2835275" cy="2283120"/>
          </a:xfrm>
        </p:spPr>
        <p:txBody>
          <a:bodyPr>
            <a:normAutofit/>
          </a:bodyPr>
          <a:lstStyle>
            <a:lvl1pPr marL="0" indent="0" algn="ctr">
              <a:buNone/>
              <a:defRPr sz="1800"/>
            </a:lvl1pPr>
          </a:lstStyle>
          <a:p>
            <a:pPr lvl="0"/>
            <a:r>
              <a:rPr lang="fr-FR" dirty="0"/>
              <a:t>Cliquez pour modifier les styles du texte du masque</a:t>
            </a:r>
          </a:p>
        </p:txBody>
      </p:sp>
      <p:sp>
        <p:nvSpPr>
          <p:cNvPr id="18" name="Espace réservé du texte 2">
            <a:extLst>
              <a:ext uri="{FF2B5EF4-FFF2-40B4-BE49-F238E27FC236}">
                <a16:creationId xmlns:a16="http://schemas.microsoft.com/office/drawing/2014/main" id="{13BDDB9D-8DE7-B08C-45D4-0F907AA77A8A}"/>
              </a:ext>
            </a:extLst>
          </p:cNvPr>
          <p:cNvSpPr>
            <a:spLocks noGrp="1"/>
          </p:cNvSpPr>
          <p:nvPr>
            <p:ph type="body" sz="quarter" idx="14"/>
          </p:nvPr>
        </p:nvSpPr>
        <p:spPr>
          <a:xfrm>
            <a:off x="108065" y="4473844"/>
            <a:ext cx="2835275" cy="2283120"/>
          </a:xfrm>
        </p:spPr>
        <p:txBody>
          <a:bodyPr>
            <a:normAutofit/>
          </a:bodyPr>
          <a:lstStyle>
            <a:lvl1pPr marL="0" indent="0" algn="ctr">
              <a:buNone/>
              <a:defRPr sz="1800"/>
            </a:lvl1pPr>
          </a:lstStyle>
          <a:p>
            <a:pPr lvl="0"/>
            <a:r>
              <a:rPr lang="fr-FR" dirty="0"/>
              <a:t>Cliquez pour modifier les styles du texte du masque</a:t>
            </a:r>
          </a:p>
        </p:txBody>
      </p:sp>
      <p:sp>
        <p:nvSpPr>
          <p:cNvPr id="19" name="Espace réservé du texte 2">
            <a:extLst>
              <a:ext uri="{FF2B5EF4-FFF2-40B4-BE49-F238E27FC236}">
                <a16:creationId xmlns:a16="http://schemas.microsoft.com/office/drawing/2014/main" id="{AFFB732D-5F0A-99E3-1C4D-B4B1BDC9655F}"/>
              </a:ext>
            </a:extLst>
          </p:cNvPr>
          <p:cNvSpPr>
            <a:spLocks noGrp="1"/>
          </p:cNvSpPr>
          <p:nvPr>
            <p:ph type="body" sz="quarter" idx="15"/>
          </p:nvPr>
        </p:nvSpPr>
        <p:spPr>
          <a:xfrm>
            <a:off x="3133896" y="4473843"/>
            <a:ext cx="2835275" cy="2283120"/>
          </a:xfrm>
        </p:spPr>
        <p:txBody>
          <a:bodyPr>
            <a:normAutofit/>
          </a:bodyPr>
          <a:lstStyle>
            <a:lvl1pPr marL="0" indent="0" algn="ctr">
              <a:buNone/>
              <a:defRPr sz="1800"/>
            </a:lvl1pPr>
          </a:lstStyle>
          <a:p>
            <a:pPr lvl="0"/>
            <a:r>
              <a:rPr lang="fr-FR" dirty="0"/>
              <a:t>Cliquez pour modifier les styles du texte du masque</a:t>
            </a:r>
          </a:p>
        </p:txBody>
      </p:sp>
      <p:sp>
        <p:nvSpPr>
          <p:cNvPr id="20" name="Espace réservé du texte 2">
            <a:extLst>
              <a:ext uri="{FF2B5EF4-FFF2-40B4-BE49-F238E27FC236}">
                <a16:creationId xmlns:a16="http://schemas.microsoft.com/office/drawing/2014/main" id="{6C1EE131-2E1B-C0B6-5726-112D65DFA009}"/>
              </a:ext>
            </a:extLst>
          </p:cNvPr>
          <p:cNvSpPr>
            <a:spLocks noGrp="1"/>
          </p:cNvSpPr>
          <p:nvPr>
            <p:ph type="body" sz="quarter" idx="16"/>
          </p:nvPr>
        </p:nvSpPr>
        <p:spPr>
          <a:xfrm>
            <a:off x="6222829" y="4455622"/>
            <a:ext cx="2835275" cy="2283120"/>
          </a:xfrm>
        </p:spPr>
        <p:txBody>
          <a:bodyPr>
            <a:normAutofit/>
          </a:bodyPr>
          <a:lstStyle>
            <a:lvl1pPr marL="0" indent="0" algn="ctr">
              <a:buNone/>
              <a:defRPr sz="1800"/>
            </a:lvl1pPr>
          </a:lstStyle>
          <a:p>
            <a:pPr lvl="0"/>
            <a:r>
              <a:rPr lang="fr-FR" dirty="0"/>
              <a:t>Cliquez pour modifier les styles du texte du masque</a:t>
            </a:r>
          </a:p>
        </p:txBody>
      </p:sp>
      <p:sp>
        <p:nvSpPr>
          <p:cNvPr id="21" name="Espace réservé du texte 2">
            <a:extLst>
              <a:ext uri="{FF2B5EF4-FFF2-40B4-BE49-F238E27FC236}">
                <a16:creationId xmlns:a16="http://schemas.microsoft.com/office/drawing/2014/main" id="{3DC68C54-C0E2-0785-8353-044CE39F022D}"/>
              </a:ext>
            </a:extLst>
          </p:cNvPr>
          <p:cNvSpPr>
            <a:spLocks noGrp="1"/>
          </p:cNvSpPr>
          <p:nvPr>
            <p:ph type="body" sz="quarter" idx="17"/>
          </p:nvPr>
        </p:nvSpPr>
        <p:spPr>
          <a:xfrm>
            <a:off x="9248660" y="4455621"/>
            <a:ext cx="2835275" cy="2283120"/>
          </a:xfrm>
        </p:spPr>
        <p:txBody>
          <a:bodyPr>
            <a:normAutofit/>
          </a:bodyPr>
          <a:lstStyle>
            <a:lvl1pPr marL="0" indent="0" algn="ctr">
              <a:buNone/>
              <a:defRPr sz="1800"/>
            </a:lvl1pPr>
          </a:lstStyle>
          <a:p>
            <a:pPr lvl="0"/>
            <a:r>
              <a:rPr lang="fr-FR" dirty="0"/>
              <a:t>Cliquez pour modifier les styles du texte du masque</a:t>
            </a:r>
          </a:p>
        </p:txBody>
      </p:sp>
      <p:pic>
        <p:nvPicPr>
          <p:cNvPr id="2" name="Image 1">
            <a:extLst>
              <a:ext uri="{FF2B5EF4-FFF2-40B4-BE49-F238E27FC236}">
                <a16:creationId xmlns:a16="http://schemas.microsoft.com/office/drawing/2014/main" id="{C71F99BA-02E5-BF38-34B4-041F6EEE01D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92814" y="140633"/>
            <a:ext cx="230113" cy="222059"/>
          </a:xfrm>
          <a:prstGeom prst="rect">
            <a:avLst/>
          </a:prstGeom>
        </p:spPr>
      </p:pic>
      <p:pic>
        <p:nvPicPr>
          <p:cNvPr id="4" name="Image 3">
            <a:extLst>
              <a:ext uri="{FF2B5EF4-FFF2-40B4-BE49-F238E27FC236}">
                <a16:creationId xmlns:a16="http://schemas.microsoft.com/office/drawing/2014/main" id="{2CE2EC46-4425-D810-64E4-22A27468BF2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61266" y="3591712"/>
            <a:ext cx="230113" cy="222059"/>
          </a:xfrm>
          <a:prstGeom prst="rect">
            <a:avLst/>
          </a:prstGeom>
        </p:spPr>
      </p:pic>
      <p:pic>
        <p:nvPicPr>
          <p:cNvPr id="5" name="Image 4">
            <a:extLst>
              <a:ext uri="{FF2B5EF4-FFF2-40B4-BE49-F238E27FC236}">
                <a16:creationId xmlns:a16="http://schemas.microsoft.com/office/drawing/2014/main" id="{A5A8F33A-BC34-DF17-2802-61AEC171D61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262" y="140633"/>
            <a:ext cx="230113" cy="222059"/>
          </a:xfrm>
          <a:prstGeom prst="rect">
            <a:avLst/>
          </a:prstGeom>
        </p:spPr>
      </p:pic>
      <p:pic>
        <p:nvPicPr>
          <p:cNvPr id="22" name="Image 21">
            <a:extLst>
              <a:ext uri="{FF2B5EF4-FFF2-40B4-BE49-F238E27FC236}">
                <a16:creationId xmlns:a16="http://schemas.microsoft.com/office/drawing/2014/main" id="{43562A8F-0E2D-5C37-0424-0F56DFC7501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673714" y="3591712"/>
            <a:ext cx="230113" cy="222059"/>
          </a:xfrm>
          <a:prstGeom prst="rect">
            <a:avLst/>
          </a:prstGeom>
        </p:spPr>
      </p:pic>
      <p:pic>
        <p:nvPicPr>
          <p:cNvPr id="23" name="Image 22">
            <a:extLst>
              <a:ext uri="{FF2B5EF4-FFF2-40B4-BE49-F238E27FC236}">
                <a16:creationId xmlns:a16="http://schemas.microsoft.com/office/drawing/2014/main" id="{DD41234F-8FC4-A9E6-BBAC-444F3B5AE76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23669" y="140633"/>
            <a:ext cx="230113" cy="222059"/>
          </a:xfrm>
          <a:prstGeom prst="rect">
            <a:avLst/>
          </a:prstGeom>
        </p:spPr>
      </p:pic>
      <p:pic>
        <p:nvPicPr>
          <p:cNvPr id="24" name="Image 23">
            <a:extLst>
              <a:ext uri="{FF2B5EF4-FFF2-40B4-BE49-F238E27FC236}">
                <a16:creationId xmlns:a16="http://schemas.microsoft.com/office/drawing/2014/main" id="{48A10B05-C71F-1629-BAA7-FAD660FB348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92121" y="3591712"/>
            <a:ext cx="230113" cy="222059"/>
          </a:xfrm>
          <a:prstGeom prst="rect">
            <a:avLst/>
          </a:prstGeom>
        </p:spPr>
      </p:pic>
      <p:pic>
        <p:nvPicPr>
          <p:cNvPr id="25" name="Image 24">
            <a:extLst>
              <a:ext uri="{FF2B5EF4-FFF2-40B4-BE49-F238E27FC236}">
                <a16:creationId xmlns:a16="http://schemas.microsoft.com/office/drawing/2014/main" id="{20BDFD59-9AD6-F006-DCEC-0CAAFE73DAA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31844" y="140633"/>
            <a:ext cx="230113" cy="222059"/>
          </a:xfrm>
          <a:prstGeom prst="rect">
            <a:avLst/>
          </a:prstGeom>
        </p:spPr>
      </p:pic>
      <p:pic>
        <p:nvPicPr>
          <p:cNvPr id="26" name="Image 25">
            <a:extLst>
              <a:ext uri="{FF2B5EF4-FFF2-40B4-BE49-F238E27FC236}">
                <a16:creationId xmlns:a16="http://schemas.microsoft.com/office/drawing/2014/main" id="{D2EC473E-2C8C-B204-3E81-E1BF9EE53AB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800296" y="3591712"/>
            <a:ext cx="230113" cy="222059"/>
          </a:xfrm>
          <a:prstGeom prst="rect">
            <a:avLst/>
          </a:prstGeom>
        </p:spPr>
      </p:pic>
    </p:spTree>
    <p:extLst>
      <p:ext uri="{BB962C8B-B14F-4D97-AF65-F5344CB8AC3E}">
        <p14:creationId xmlns:p14="http://schemas.microsoft.com/office/powerpoint/2010/main" val="474658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23/11/2023</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63" r:id="rId9"/>
    <p:sldLayoutId id="2147483667" r:id="rId10"/>
    <p:sldLayoutId id="2147483664" r:id="rId11"/>
    <p:sldLayoutId id="2147483665" r:id="rId12"/>
    <p:sldLayoutId id="2147483666" r:id="rId13"/>
    <p:sldLayoutId id="2147483655" r:id="rId14"/>
    <p:sldLayoutId id="2147483656" r:id="rId15"/>
    <p:sldLayoutId id="2147483657" r:id="rId16"/>
    <p:sldLayoutId id="2147483658" r:id="rId17"/>
    <p:sldLayoutId id="2147483659"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wp.umpi.edu/instructional-design/in-person/" TargetMode="External"/><Relationship Id="rId7" Type="http://schemas.openxmlformats.org/officeDocument/2006/relationships/hyperlink" Target="https://pxhere.com/en/photo/1145871" TargetMode="External"/><Relationship Id="rId2" Type="http://schemas.openxmlformats.org/officeDocument/2006/relationships/image" Target="../media/image8.jpeg"/><Relationship Id="rId1" Type="http://schemas.openxmlformats.org/officeDocument/2006/relationships/slideLayout" Target="../slideLayouts/slideLayout3.xml"/><Relationship Id="rId6" Type="http://schemas.openxmlformats.org/officeDocument/2006/relationships/image" Target="../media/image10.jpeg"/><Relationship Id="rId11" Type="http://schemas.openxmlformats.org/officeDocument/2006/relationships/image" Target="../media/image14.svg"/><Relationship Id="rId5" Type="http://schemas.openxmlformats.org/officeDocument/2006/relationships/hyperlink" Target="https://www.flickr.com/photos/carbonnyc/8456219474/" TargetMode="External"/><Relationship Id="rId10" Type="http://schemas.openxmlformats.org/officeDocument/2006/relationships/image" Target="../media/image13.png"/><Relationship Id="rId4" Type="http://schemas.openxmlformats.org/officeDocument/2006/relationships/image" Target="../media/image9.jpe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2.sv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18" Type="http://schemas.openxmlformats.org/officeDocument/2006/relationships/image" Target="../media/image36.png"/><Relationship Id="rId3" Type="http://schemas.openxmlformats.org/officeDocument/2006/relationships/image" Target="../media/image21.svg"/><Relationship Id="rId21" Type="http://schemas.openxmlformats.org/officeDocument/2006/relationships/image" Target="../media/image39.sv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svg"/><Relationship Id="rId25" Type="http://schemas.openxmlformats.org/officeDocument/2006/relationships/image" Target="../media/image43.svg"/><Relationship Id="rId2" Type="http://schemas.openxmlformats.org/officeDocument/2006/relationships/image" Target="../media/image20.png"/><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24" Type="http://schemas.openxmlformats.org/officeDocument/2006/relationships/image" Target="../media/image42.png"/><Relationship Id="rId5" Type="http://schemas.openxmlformats.org/officeDocument/2006/relationships/image" Target="../media/image23.png"/><Relationship Id="rId15" Type="http://schemas.openxmlformats.org/officeDocument/2006/relationships/image" Target="../media/image33.svg"/><Relationship Id="rId23" Type="http://schemas.openxmlformats.org/officeDocument/2006/relationships/image" Target="../media/image41.svg"/><Relationship Id="rId10" Type="http://schemas.openxmlformats.org/officeDocument/2006/relationships/image" Target="../media/image28.png"/><Relationship Id="rId19" Type="http://schemas.openxmlformats.org/officeDocument/2006/relationships/image" Target="../media/image37.sv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sv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51.sv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4.png"/><Relationship Id="rId3" Type="http://schemas.openxmlformats.org/officeDocument/2006/relationships/image" Target="../media/image54.svg"/><Relationship Id="rId7" Type="http://schemas.openxmlformats.org/officeDocument/2006/relationships/image" Target="../media/image58.svg"/><Relationship Id="rId12" Type="http://schemas.openxmlformats.org/officeDocument/2006/relationships/image" Target="../media/image63.svg"/><Relationship Id="rId2" Type="http://schemas.openxmlformats.org/officeDocument/2006/relationships/image" Target="../media/image53.png"/><Relationship Id="rId16" Type="http://schemas.openxmlformats.org/officeDocument/2006/relationships/image" Target="../media/image66.sv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5" Type="http://schemas.openxmlformats.org/officeDocument/2006/relationships/image" Target="../media/image65.png"/><Relationship Id="rId10" Type="http://schemas.openxmlformats.org/officeDocument/2006/relationships/image" Target="../media/image61.svg"/><Relationship Id="rId4" Type="http://schemas.openxmlformats.org/officeDocument/2006/relationships/image" Target="../media/image55.png"/><Relationship Id="rId9" Type="http://schemas.openxmlformats.org/officeDocument/2006/relationships/image" Target="../media/image60.png"/><Relationship Id="rId14" Type="http://schemas.microsoft.com/office/2007/relationships/hdphoto" Target="../media/hdphoto1.wdp"/></Relationships>
</file>

<file path=ppt/slides/_rels/slide13.xml.rels><?xml version="1.0" encoding="UTF-8" standalone="yes"?>
<Relationships xmlns="http://schemas.openxmlformats.org/package/2006/relationships"><Relationship Id="rId13" Type="http://schemas.openxmlformats.org/officeDocument/2006/relationships/image" Target="../media/image70.svg"/><Relationship Id="rId18" Type="http://schemas.openxmlformats.org/officeDocument/2006/relationships/image" Target="../media/image75.svg"/><Relationship Id="rId26" Type="http://schemas.openxmlformats.org/officeDocument/2006/relationships/image" Target="../media/image76.png"/><Relationship Id="rId3" Type="http://schemas.openxmlformats.org/officeDocument/2006/relationships/image" Target="../media/image54.svg"/><Relationship Id="rId21" Type="http://schemas.openxmlformats.org/officeDocument/2006/relationships/image" Target="../media/image61.svg"/><Relationship Id="rId34" Type="http://schemas.openxmlformats.org/officeDocument/2006/relationships/image" Target="../media/image82.svg"/><Relationship Id="rId7" Type="http://schemas.openxmlformats.org/officeDocument/2006/relationships/image" Target="../media/image58.sv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66.svg"/><Relationship Id="rId33" Type="http://schemas.openxmlformats.org/officeDocument/2006/relationships/image" Target="../media/image81.png"/><Relationship Id="rId2" Type="http://schemas.openxmlformats.org/officeDocument/2006/relationships/image" Target="../media/image53.png"/><Relationship Id="rId16" Type="http://schemas.openxmlformats.org/officeDocument/2006/relationships/image" Target="../media/image73.svg"/><Relationship Id="rId20" Type="http://schemas.openxmlformats.org/officeDocument/2006/relationships/image" Target="../media/image6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3.svg"/><Relationship Id="rId24" Type="http://schemas.openxmlformats.org/officeDocument/2006/relationships/image" Target="../media/image65.png"/><Relationship Id="rId32" Type="http://schemas.openxmlformats.org/officeDocument/2006/relationships/image" Target="../media/image21.svg"/><Relationship Id="rId5" Type="http://schemas.openxmlformats.org/officeDocument/2006/relationships/image" Target="../media/image56.png"/><Relationship Id="rId15" Type="http://schemas.openxmlformats.org/officeDocument/2006/relationships/image" Target="../media/image72.png"/><Relationship Id="rId23" Type="http://schemas.microsoft.com/office/2007/relationships/hdphoto" Target="../media/hdphoto1.wdp"/><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59.svg"/><Relationship Id="rId31" Type="http://schemas.openxmlformats.org/officeDocument/2006/relationships/image" Target="../media/image20.png"/><Relationship Id="rId4" Type="http://schemas.openxmlformats.org/officeDocument/2006/relationships/image" Target="../media/image55.png"/><Relationship Id="rId9" Type="http://schemas.openxmlformats.org/officeDocument/2006/relationships/image" Target="../media/image68.svg"/><Relationship Id="rId14" Type="http://schemas.openxmlformats.org/officeDocument/2006/relationships/image" Target="../media/image71.png"/><Relationship Id="rId22" Type="http://schemas.openxmlformats.org/officeDocument/2006/relationships/image" Target="../media/image64.png"/><Relationship Id="rId27" Type="http://schemas.openxmlformats.org/officeDocument/2006/relationships/image" Target="../media/image77.svg"/><Relationship Id="rId30" Type="http://schemas.openxmlformats.org/officeDocument/2006/relationships/image" Target="../media/image80.png"/><Relationship Id="rId35" Type="http://schemas.openxmlformats.org/officeDocument/2006/relationships/image" Target="../media/image83.png"/><Relationship Id="rId8"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hyperlink" Target="https://mdph.departement06.fr/actualites/actualites-7349/differents-types-de-handicaps-5781.html?cHash=48c088f2e3d06e45482e5c3a4380b313" TargetMode="External"/><Relationship Id="rId2" Type="http://schemas.openxmlformats.org/officeDocument/2006/relationships/hyperlink" Target="https://travail-emploi.gouv.fr/IMG/pdf/donnes_chiffrees_par_handicap.pdf" TargetMode="External"/><Relationship Id="rId1" Type="http://schemas.openxmlformats.org/officeDocument/2006/relationships/slideLayout" Target="../slideLayouts/slideLayout4.xml"/><Relationship Id="rId6" Type="http://schemas.openxmlformats.org/officeDocument/2006/relationships/hyperlink" Target="https://www.ophq.gouv.qc.ca/publications/cyberbulletins-de-loffice/express-o/volume-13-numero-4-ete-2019/mieux-comprendre/personne-handicapee-ou-personne-en-situation-de-handicap-y-a-t-il-une-difference.html" TargetMode="External"/><Relationship Id="rId5" Type="http://schemas.openxmlformats.org/officeDocument/2006/relationships/hyperlink" Target="https://www.ccah.fr/CCAH/Accueil/Formation" TargetMode="External"/><Relationship Id="rId4" Type="http://schemas.openxmlformats.org/officeDocument/2006/relationships/hyperlink" Target="https://handicap.paris.fr/comprendre-le-handicap/"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pexels.com/photo/people-walking-at-the-street-1000754/" TargetMode="External"/><Relationship Id="rId13" Type="http://schemas.openxmlformats.org/officeDocument/2006/relationships/image" Target="../media/image91.jpeg"/><Relationship Id="rId3" Type="http://schemas.openxmlformats.org/officeDocument/2006/relationships/image" Target="../media/image86.jpeg"/><Relationship Id="rId7" Type="http://schemas.openxmlformats.org/officeDocument/2006/relationships/image" Target="../media/image88.jpeg"/><Relationship Id="rId12" Type="http://schemas.openxmlformats.org/officeDocument/2006/relationships/hyperlink" Target="http://www.unkilodiricette.com/2019/09/vintense-ice-00-alcool-100-gout.html" TargetMode="External"/><Relationship Id="rId17" Type="http://schemas.openxmlformats.org/officeDocument/2006/relationships/image" Target="../media/image93.jpeg"/><Relationship Id="rId2" Type="http://schemas.openxmlformats.org/officeDocument/2006/relationships/notesSlide" Target="../notesSlides/notesSlide1.xml"/><Relationship Id="rId16" Type="http://schemas.openxmlformats.org/officeDocument/2006/relationships/hyperlink" Target="https://pxhere.com/en/photo/1569711" TargetMode="External"/><Relationship Id="rId1" Type="http://schemas.openxmlformats.org/officeDocument/2006/relationships/slideLayout" Target="../slideLayouts/slideLayout9.xml"/><Relationship Id="rId6" Type="http://schemas.openxmlformats.org/officeDocument/2006/relationships/hyperlink" Target="https://ggwash.org/view/73249/so-you-want-to-see-the-country-by-train" TargetMode="External"/><Relationship Id="rId11" Type="http://schemas.openxmlformats.org/officeDocument/2006/relationships/image" Target="../media/image90.jpeg"/><Relationship Id="rId5" Type="http://schemas.openxmlformats.org/officeDocument/2006/relationships/image" Target="../media/image87.jpeg"/><Relationship Id="rId15" Type="http://schemas.openxmlformats.org/officeDocument/2006/relationships/image" Target="../media/image92.jpeg"/><Relationship Id="rId10" Type="http://schemas.openxmlformats.org/officeDocument/2006/relationships/hyperlink" Target="https://www.publicdomainpictures.net/en/view-image.php?image=272454&amp;picture=watching-videos-online" TargetMode="External"/><Relationship Id="rId4" Type="http://schemas.openxmlformats.org/officeDocument/2006/relationships/hyperlink" Target="https://www.ingridscience.ca/node/328" TargetMode="External"/><Relationship Id="rId9" Type="http://schemas.openxmlformats.org/officeDocument/2006/relationships/image" Target="../media/image89.jpeg"/><Relationship Id="rId14" Type="http://schemas.openxmlformats.org/officeDocument/2006/relationships/hyperlink" Target="https://thestoryreadingapeblog.com/2021/04/19/how-to-introduce-yourself-as-an-author-and-build-a-strong-author-brand-by-mike-bohdan/"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www.flickr.com/photos/mariaeklind/32545146336" TargetMode="External"/><Relationship Id="rId3" Type="http://schemas.openxmlformats.org/officeDocument/2006/relationships/image" Target="../media/image95.jpeg"/><Relationship Id="rId7" Type="http://schemas.openxmlformats.org/officeDocument/2006/relationships/image" Target="../media/image97.jpeg"/><Relationship Id="rId2" Type="http://schemas.openxmlformats.org/officeDocument/2006/relationships/image" Target="../media/image94.jpeg"/><Relationship Id="rId1" Type="http://schemas.openxmlformats.org/officeDocument/2006/relationships/slideLayout" Target="../slideLayouts/slideLayout9.xml"/><Relationship Id="rId6" Type="http://schemas.openxmlformats.org/officeDocument/2006/relationships/hyperlink" Target="https://commons.wikimedia.org/wiki/File:Timoci_Matanavu_looking_right_and_passing_the_ball.jpg" TargetMode="External"/><Relationship Id="rId5" Type="http://schemas.openxmlformats.org/officeDocument/2006/relationships/image" Target="../media/image96.jpeg"/><Relationship Id="rId4" Type="http://schemas.openxmlformats.org/officeDocument/2006/relationships/hyperlink" Target="https://pixabay.com/fr/%C3%A9change-d-id%C3%A9es-d%C3%A9bat-discussion-222788/"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flickr.com/photos/decorativeconcrete/41148951122" TargetMode="External"/><Relationship Id="rId3" Type="http://schemas.openxmlformats.org/officeDocument/2006/relationships/hyperlink" Target="https://pxhere.com/en/photo/1434971" TargetMode="External"/><Relationship Id="rId7" Type="http://schemas.openxmlformats.org/officeDocument/2006/relationships/image" Target="../media/image101.jpeg"/><Relationship Id="rId2" Type="http://schemas.openxmlformats.org/officeDocument/2006/relationships/image" Target="../media/image98.jpeg"/><Relationship Id="rId1" Type="http://schemas.openxmlformats.org/officeDocument/2006/relationships/slideLayout" Target="../slideLayouts/slideLayout10.xml"/><Relationship Id="rId6" Type="http://schemas.openxmlformats.org/officeDocument/2006/relationships/hyperlink" Target="https://commons.wikimedia.org/wiki/File:Toilettes_mg_3870b.jpg" TargetMode="External"/><Relationship Id="rId5" Type="http://schemas.openxmlformats.org/officeDocument/2006/relationships/image" Target="../media/image100.jpeg"/><Relationship Id="rId4" Type="http://schemas.openxmlformats.org/officeDocument/2006/relationships/image" Target="../media/image9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05.jpeg"/><Relationship Id="rId3" Type="http://schemas.openxmlformats.org/officeDocument/2006/relationships/hyperlink" Target="https://technofaq.org/posts/2018/12/the-fun-history-of-mobile-gaming-in-india/" TargetMode="External"/><Relationship Id="rId7" Type="http://schemas.openxmlformats.org/officeDocument/2006/relationships/hyperlink" Target="https://pxhere.com/en/photo/1562199" TargetMode="External"/><Relationship Id="rId12" Type="http://schemas.openxmlformats.org/officeDocument/2006/relationships/hyperlink" Target="https://www.publicdomainpictures.net/view-image.php?image=288521&amp;picture=spraaksgewijs-zoeken" TargetMode="External"/><Relationship Id="rId2" Type="http://schemas.openxmlformats.org/officeDocument/2006/relationships/image" Target="../media/image102.jpeg"/><Relationship Id="rId1" Type="http://schemas.openxmlformats.org/officeDocument/2006/relationships/slideLayout" Target="../slideLayouts/slideLayout10.xml"/><Relationship Id="rId6" Type="http://schemas.openxmlformats.org/officeDocument/2006/relationships/image" Target="../media/image104.jpeg"/><Relationship Id="rId11" Type="http://schemas.openxmlformats.org/officeDocument/2006/relationships/image" Target="../media/image107.jpeg"/><Relationship Id="rId5" Type="http://schemas.openxmlformats.org/officeDocument/2006/relationships/hyperlink" Target="https://www.flickr.com/photos/myglesias/3966117054" TargetMode="External"/><Relationship Id="rId10" Type="http://schemas.openxmlformats.org/officeDocument/2006/relationships/hyperlink" Target="https://www.ag.ndsu.edu/accs/tasks/connecting-your-computer-cables" TargetMode="External"/><Relationship Id="rId4" Type="http://schemas.openxmlformats.org/officeDocument/2006/relationships/image" Target="../media/image103.jpeg"/><Relationship Id="rId9" Type="http://schemas.openxmlformats.org/officeDocument/2006/relationships/image" Target="../media/image106.png"/></Relationships>
</file>

<file path=ppt/slides/_rels/slide23.xml.rels><?xml version="1.0" encoding="UTF-8" standalone="yes"?>
<Relationships xmlns="http://schemas.openxmlformats.org/package/2006/relationships"><Relationship Id="rId8" Type="http://schemas.openxmlformats.org/officeDocument/2006/relationships/image" Target="../media/image111.jpeg"/><Relationship Id="rId3" Type="http://schemas.openxmlformats.org/officeDocument/2006/relationships/hyperlink" Target="https://www.pexels.com/photo/people-on-a-video-call-4226256/" TargetMode="External"/><Relationship Id="rId7" Type="http://schemas.openxmlformats.org/officeDocument/2006/relationships/hyperlink" Target="https://chess.stackexchange.com/questions/19097/correctness-of-the-lichess-training-solutionpuzzle63063" TargetMode="External"/><Relationship Id="rId2" Type="http://schemas.openxmlformats.org/officeDocument/2006/relationships/image" Target="../media/image108.jpeg"/><Relationship Id="rId1" Type="http://schemas.openxmlformats.org/officeDocument/2006/relationships/slideLayout" Target="../slideLayouts/slideLayout9.xml"/><Relationship Id="rId6" Type="http://schemas.openxmlformats.org/officeDocument/2006/relationships/image" Target="../media/image110.png"/><Relationship Id="rId5" Type="http://schemas.openxmlformats.org/officeDocument/2006/relationships/hyperlink" Target="https://pixabay.com/en/talk-telephone-communication-phone-845619/" TargetMode="External"/><Relationship Id="rId4" Type="http://schemas.openxmlformats.org/officeDocument/2006/relationships/image" Target="../media/image109.jpeg"/><Relationship Id="rId9" Type="http://schemas.openxmlformats.org/officeDocument/2006/relationships/hyperlink" Target="https://technofaq.org/posts/2016/12/elderly-parents-how-can-technology-assist-them-cheaply-and-efficiently/"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aliem.com/2016/07/extensor-tendon-injuries-hand/" TargetMode="External"/><Relationship Id="rId13" Type="http://schemas.openxmlformats.org/officeDocument/2006/relationships/image" Target="../media/image118.jpeg"/><Relationship Id="rId18" Type="http://schemas.openxmlformats.org/officeDocument/2006/relationships/hyperlink" Target="https://stileex.xyz/langue-la-plus-apprise-au-monde/" TargetMode="External"/><Relationship Id="rId3" Type="http://schemas.openxmlformats.org/officeDocument/2006/relationships/image" Target="../media/image113.jpeg"/><Relationship Id="rId7" Type="http://schemas.openxmlformats.org/officeDocument/2006/relationships/image" Target="../media/image115.jpeg"/><Relationship Id="rId12" Type="http://schemas.openxmlformats.org/officeDocument/2006/relationships/hyperlink" Target="https://pixabay.com/fr/lunettes-verres-cass%C3%A9s-vue-bris%C3%A9es-366446/" TargetMode="External"/><Relationship Id="rId17" Type="http://schemas.openxmlformats.org/officeDocument/2006/relationships/image" Target="../media/image120.jpeg"/><Relationship Id="rId2" Type="http://schemas.openxmlformats.org/officeDocument/2006/relationships/notesSlide" Target="../notesSlides/notesSlide2.xml"/><Relationship Id="rId16" Type="http://schemas.openxmlformats.org/officeDocument/2006/relationships/hyperlink" Target="https://stileex.xyz/cancer-de-la-langue/" TargetMode="External"/><Relationship Id="rId1" Type="http://schemas.openxmlformats.org/officeDocument/2006/relationships/slideLayout" Target="../slideLayouts/slideLayout11.xml"/><Relationship Id="rId6" Type="http://schemas.openxmlformats.org/officeDocument/2006/relationships/hyperlink" Target="https://www.jeuxvideoinfoparents.fr/lunettes-anti-lumiere-bleue-pourquoi/" TargetMode="External"/><Relationship Id="rId11" Type="http://schemas.openxmlformats.org/officeDocument/2006/relationships/image" Target="../media/image117.jpeg"/><Relationship Id="rId5" Type="http://schemas.openxmlformats.org/officeDocument/2006/relationships/image" Target="../media/image114.jpeg"/><Relationship Id="rId15" Type="http://schemas.openxmlformats.org/officeDocument/2006/relationships/image" Target="../media/image119.jpeg"/><Relationship Id="rId10" Type="http://schemas.openxmlformats.org/officeDocument/2006/relationships/hyperlink" Target="https://pxhere.com/en/photo/1555291" TargetMode="External"/><Relationship Id="rId4" Type="http://schemas.openxmlformats.org/officeDocument/2006/relationships/hyperlink" Target="https://www.nurse24.it/infermiere/attualita-infermieri/otite-curata-con-l-omeopatia-bimbo-in-rianimazione.html" TargetMode="External"/><Relationship Id="rId9" Type="http://schemas.openxmlformats.org/officeDocument/2006/relationships/image" Target="../media/image116.jpeg"/><Relationship Id="rId14" Type="http://schemas.openxmlformats.org/officeDocument/2006/relationships/hyperlink" Target="https://www.wallpaperflare.com/search?wallpaper=headache"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125.jpeg"/><Relationship Id="rId13" Type="http://schemas.openxmlformats.org/officeDocument/2006/relationships/image" Target="../media/image128.jpeg"/><Relationship Id="rId3" Type="http://schemas.openxmlformats.org/officeDocument/2006/relationships/image" Target="../media/image122.jpeg"/><Relationship Id="rId7" Type="http://schemas.openxmlformats.org/officeDocument/2006/relationships/hyperlink" Target="https://www.psychoactif.org/forum/t27952-p1-Des-nano-drones-contre-cancer-poumon.html" TargetMode="External"/><Relationship Id="rId12" Type="http://schemas.openxmlformats.org/officeDocument/2006/relationships/hyperlink" Target="https://svgsilh.com/image/1618260.html" TargetMode="External"/><Relationship Id="rId2" Type="http://schemas.openxmlformats.org/officeDocument/2006/relationships/image" Target="../media/image121.jpeg"/><Relationship Id="rId16" Type="http://schemas.openxmlformats.org/officeDocument/2006/relationships/hyperlink" Target="https://foto.wuestenigel.com/sore-throat-a-woman-hands-touching-her-neck/" TargetMode="External"/><Relationship Id="rId1" Type="http://schemas.openxmlformats.org/officeDocument/2006/relationships/slideLayout" Target="../slideLayouts/slideLayout11.xml"/><Relationship Id="rId6" Type="http://schemas.openxmlformats.org/officeDocument/2006/relationships/image" Target="../media/image124.jpeg"/><Relationship Id="rId11" Type="http://schemas.openxmlformats.org/officeDocument/2006/relationships/image" Target="../media/image127.svg"/><Relationship Id="rId5" Type="http://schemas.openxmlformats.org/officeDocument/2006/relationships/hyperlink" Target="https://medicaljournals.se/jrm/content/html/10.2340/16501977-2788" TargetMode="External"/><Relationship Id="rId15" Type="http://schemas.openxmlformats.org/officeDocument/2006/relationships/image" Target="../media/image129.jpeg"/><Relationship Id="rId10" Type="http://schemas.openxmlformats.org/officeDocument/2006/relationships/image" Target="../media/image126.png"/><Relationship Id="rId4" Type="http://schemas.openxmlformats.org/officeDocument/2006/relationships/image" Target="../media/image123.png"/><Relationship Id="rId9" Type="http://schemas.openxmlformats.org/officeDocument/2006/relationships/hyperlink" Target="https://www.flickr.com/photos/12560758@N07/27272928648" TargetMode="External"/><Relationship Id="rId14" Type="http://schemas.openxmlformats.org/officeDocument/2006/relationships/hyperlink" Target="https://njarakty91.blogspot.com/2016/10/tutorial-to-add-emotions-to-blogger.htm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pictofigo.com/freehand-image-search/Weak" TargetMode="External"/><Relationship Id="rId2" Type="http://schemas.openxmlformats.org/officeDocument/2006/relationships/image" Target="../media/image130.png"/><Relationship Id="rId1" Type="http://schemas.openxmlformats.org/officeDocument/2006/relationships/slideLayout" Target="../slideLayouts/slideLayout11.xml"/><Relationship Id="rId5" Type="http://schemas.openxmlformats.org/officeDocument/2006/relationships/hyperlink" Target="https://loonylabs.org/2015/01/09/forgetting-memory/" TargetMode="External"/><Relationship Id="rId4" Type="http://schemas.openxmlformats.org/officeDocument/2006/relationships/image" Target="../media/image131.jpeg"/></Relationships>
</file>

<file path=ppt/slides/_rels/slide2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82.svg"/><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82.svg"/><Relationship Id="rId4" Type="http://schemas.openxmlformats.org/officeDocument/2006/relationships/image" Target="../media/image81.png"/></Relationships>
</file>

<file path=ppt/slides/_rels/slide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82.svg"/><Relationship Id="rId4" Type="http://schemas.openxmlformats.org/officeDocument/2006/relationships/image" Target="../media/image81.png"/></Relationships>
</file>

<file path=ppt/slides/_rels/slide37.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68.svg"/><Relationship Id="rId7" Type="http://schemas.openxmlformats.org/officeDocument/2006/relationships/image" Target="../media/image70.svg"/><Relationship Id="rId12" Type="http://schemas.openxmlformats.org/officeDocument/2006/relationships/image" Target="../media/image75.svg"/><Relationship Id="rId2" Type="http://schemas.openxmlformats.org/officeDocument/2006/relationships/image" Target="../media/image67.png"/><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3.svg"/><Relationship Id="rId10" Type="http://schemas.openxmlformats.org/officeDocument/2006/relationships/image" Target="../media/image73.svg"/><Relationship Id="rId4" Type="http://schemas.openxmlformats.org/officeDocument/2006/relationships/image" Target="../media/image62.png"/><Relationship Id="rId9" Type="http://schemas.openxmlformats.org/officeDocument/2006/relationships/image" Target="../media/image72.png"/></Relationships>
</file>

<file path=ppt/slides/_rels/slide38.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68.svg"/><Relationship Id="rId7" Type="http://schemas.openxmlformats.org/officeDocument/2006/relationships/image" Target="../media/image70.svg"/><Relationship Id="rId12" Type="http://schemas.openxmlformats.org/officeDocument/2006/relationships/image" Target="../media/image75.svg"/><Relationship Id="rId2" Type="http://schemas.openxmlformats.org/officeDocument/2006/relationships/image" Target="../media/image67.png"/><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3.svg"/><Relationship Id="rId10" Type="http://schemas.openxmlformats.org/officeDocument/2006/relationships/image" Target="../media/image73.svg"/><Relationship Id="rId4" Type="http://schemas.openxmlformats.org/officeDocument/2006/relationships/image" Target="../media/image62.png"/><Relationship Id="rId9" Type="http://schemas.openxmlformats.org/officeDocument/2006/relationships/image" Target="../media/image72.png"/></Relationships>
</file>

<file path=ppt/slides/_rels/slide39.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hyperlink" Target="https://chat.whatsapp.com/EUZg2qoHAWHDLAeeMa3l73" TargetMode="External"/><Relationship Id="rId3" Type="http://schemas.openxmlformats.org/officeDocument/2006/relationships/image" Target="../media/image68.svg"/><Relationship Id="rId7" Type="http://schemas.openxmlformats.org/officeDocument/2006/relationships/image" Target="../media/image70.svg"/><Relationship Id="rId12" Type="http://schemas.openxmlformats.org/officeDocument/2006/relationships/image" Target="../media/image75.svg"/><Relationship Id="rId2" Type="http://schemas.openxmlformats.org/officeDocument/2006/relationships/image" Target="../media/image67.png"/><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3.svg"/><Relationship Id="rId10" Type="http://schemas.openxmlformats.org/officeDocument/2006/relationships/image" Target="../media/image73.svg"/><Relationship Id="rId4" Type="http://schemas.openxmlformats.org/officeDocument/2006/relationships/image" Target="../media/image62.png"/><Relationship Id="rId9" Type="http://schemas.openxmlformats.org/officeDocument/2006/relationships/image" Target="../media/image72.png"/></Relationships>
</file>

<file path=ppt/slides/_rels/slide40.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hyperlink" Target="https://travail-emploi.gouv.fr/IMG/pdf/donnes_chiffrees_par_handicap.pdf" TargetMode="External"/><Relationship Id="rId3" Type="http://schemas.openxmlformats.org/officeDocument/2006/relationships/image" Target="../media/image68.svg"/><Relationship Id="rId7" Type="http://schemas.openxmlformats.org/officeDocument/2006/relationships/image" Target="../media/image70.svg"/><Relationship Id="rId12" Type="http://schemas.openxmlformats.org/officeDocument/2006/relationships/image" Target="../media/image75.svg"/><Relationship Id="rId17" Type="http://schemas.openxmlformats.org/officeDocument/2006/relationships/hyperlink" Target="https://www.ophq.gouv.qc.ca/publications/cyberbulletins-de-loffice/express-o/volume-13-numero-4-ete-2019/mieux-comprendre/personne-handicapee-ou-personne-en-situation-de-handicap-y-a-t-il-une-difference.html" TargetMode="External"/><Relationship Id="rId2" Type="http://schemas.openxmlformats.org/officeDocument/2006/relationships/image" Target="../media/image67.png"/><Relationship Id="rId16" Type="http://schemas.openxmlformats.org/officeDocument/2006/relationships/hyperlink" Target="https://www.ccah.fr/CCAH/Accueil/Formation" TargetMode="External"/><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3.svg"/><Relationship Id="rId15" Type="http://schemas.openxmlformats.org/officeDocument/2006/relationships/hyperlink" Target="https://handicap.paris.fr/comprendre-le-handicap/" TargetMode="External"/><Relationship Id="rId10" Type="http://schemas.openxmlformats.org/officeDocument/2006/relationships/image" Target="../media/image73.svg"/><Relationship Id="rId4" Type="http://schemas.openxmlformats.org/officeDocument/2006/relationships/image" Target="../media/image62.png"/><Relationship Id="rId9" Type="http://schemas.openxmlformats.org/officeDocument/2006/relationships/image" Target="../media/image72.png"/><Relationship Id="rId14" Type="http://schemas.openxmlformats.org/officeDocument/2006/relationships/hyperlink" Target="https://mdph.departement06.fr/actualites/actualites-7349/differents-types-de-handicaps-5781.html?cHash=48c088f2e3d06e45482e5c3a4380b313" TargetMode="External"/></Relationships>
</file>

<file path=ppt/slides/_rels/slide41.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hyperlink" Target="https://chat.whatsapp.com/EUZg2qoHAWHDLAeeMa3l73" TargetMode="External"/><Relationship Id="rId18" Type="http://schemas.openxmlformats.org/officeDocument/2006/relationships/image" Target="../media/image141.png"/><Relationship Id="rId3" Type="http://schemas.openxmlformats.org/officeDocument/2006/relationships/image" Target="../media/image68.svg"/><Relationship Id="rId7" Type="http://schemas.openxmlformats.org/officeDocument/2006/relationships/image" Target="../media/image70.svg"/><Relationship Id="rId12" Type="http://schemas.openxmlformats.org/officeDocument/2006/relationships/image" Target="../media/image75.svg"/><Relationship Id="rId17" Type="http://schemas.openxmlformats.org/officeDocument/2006/relationships/image" Target="../media/image140.jpeg"/><Relationship Id="rId2" Type="http://schemas.openxmlformats.org/officeDocument/2006/relationships/image" Target="../media/image67.png"/><Relationship Id="rId16" Type="http://schemas.openxmlformats.org/officeDocument/2006/relationships/image" Target="../media/image139.jpeg"/><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3.svg"/><Relationship Id="rId15" Type="http://schemas.openxmlformats.org/officeDocument/2006/relationships/hyperlink" Target="https://www.linkedin.com/in/alexandrequach/" TargetMode="External"/><Relationship Id="rId10" Type="http://schemas.openxmlformats.org/officeDocument/2006/relationships/image" Target="../media/image73.svg"/><Relationship Id="rId19" Type="http://schemas.openxmlformats.org/officeDocument/2006/relationships/hyperlink" Target="https://freepngimg.com/png/77176-logo-whatsapp-computer-icons-free-transparent-image-hd" TargetMode="External"/><Relationship Id="rId4" Type="http://schemas.openxmlformats.org/officeDocument/2006/relationships/image" Target="../media/image62.png"/><Relationship Id="rId9" Type="http://schemas.openxmlformats.org/officeDocument/2006/relationships/image" Target="../media/image72.png"/><Relationship Id="rId14" Type="http://schemas.openxmlformats.org/officeDocument/2006/relationships/hyperlink" Target="https://www.linkedin.com/in/eparizel/" TargetMode="External"/></Relationships>
</file>

<file path=ppt/slides/_rels/slide42.xml.rels><?xml version="1.0" encoding="UTF-8" standalone="yes"?>
<Relationships xmlns="http://schemas.openxmlformats.org/package/2006/relationships"><Relationship Id="rId8" Type="http://schemas.openxmlformats.org/officeDocument/2006/relationships/image" Target="../media/image142.png"/><Relationship Id="rId13" Type="http://schemas.microsoft.com/office/2007/relationships/hdphoto" Target="../media/hdphoto1.wdp"/><Relationship Id="rId18" Type="http://schemas.openxmlformats.org/officeDocument/2006/relationships/image" Target="../media/image58.svg"/><Relationship Id="rId3" Type="http://schemas.openxmlformats.org/officeDocument/2006/relationships/image" Target="../media/image59.svg"/><Relationship Id="rId7" Type="http://schemas.openxmlformats.org/officeDocument/2006/relationships/image" Target="../media/image63.svg"/><Relationship Id="rId12" Type="http://schemas.openxmlformats.org/officeDocument/2006/relationships/image" Target="../media/image64.png"/><Relationship Id="rId17" Type="http://schemas.openxmlformats.org/officeDocument/2006/relationships/image" Target="../media/image56.png"/><Relationship Id="rId2" Type="http://schemas.openxmlformats.org/officeDocument/2006/relationships/image" Target="../media/image57.png"/><Relationship Id="rId16" Type="http://schemas.openxmlformats.org/officeDocument/2006/relationships/image" Target="../media/image55.png"/><Relationship Id="rId1" Type="http://schemas.openxmlformats.org/officeDocument/2006/relationships/slideLayout" Target="../slideLayouts/slideLayout4.xml"/><Relationship Id="rId6" Type="http://schemas.openxmlformats.org/officeDocument/2006/relationships/image" Target="../media/image62.png"/><Relationship Id="rId11" Type="http://schemas.openxmlformats.org/officeDocument/2006/relationships/image" Target="../media/image66.svg"/><Relationship Id="rId5" Type="http://schemas.openxmlformats.org/officeDocument/2006/relationships/image" Target="../media/image61.svg"/><Relationship Id="rId15" Type="http://schemas.openxmlformats.org/officeDocument/2006/relationships/image" Target="../media/image54.svg"/><Relationship Id="rId10" Type="http://schemas.openxmlformats.org/officeDocument/2006/relationships/image" Target="../media/image65.png"/><Relationship Id="rId4" Type="http://schemas.openxmlformats.org/officeDocument/2006/relationships/image" Target="../media/image60.png"/><Relationship Id="rId9" Type="http://schemas.microsoft.com/office/2007/relationships/hdphoto" Target="../media/hdphoto2.wdp"/><Relationship Id="rId14" Type="http://schemas.openxmlformats.org/officeDocument/2006/relationships/image" Target="../media/image53.png"/></Relationships>
</file>

<file path=ppt/slides/_rels/slide43.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image" Target="../media/image57.png"/><Relationship Id="rId1" Type="http://schemas.openxmlformats.org/officeDocument/2006/relationships/slideLayout" Target="../slideLayouts/slideLayout4.xml"/><Relationship Id="rId6" Type="http://schemas.openxmlformats.org/officeDocument/2006/relationships/image" Target="../media/image62.png"/><Relationship Id="rId11" Type="http://schemas.openxmlformats.org/officeDocument/2006/relationships/image" Target="../media/image66.svg"/><Relationship Id="rId5" Type="http://schemas.openxmlformats.org/officeDocument/2006/relationships/image" Target="../media/image61.svg"/><Relationship Id="rId10" Type="http://schemas.openxmlformats.org/officeDocument/2006/relationships/image" Target="../media/image65.png"/><Relationship Id="rId4" Type="http://schemas.openxmlformats.org/officeDocument/2006/relationships/image" Target="../media/image60.png"/><Relationship Id="rId9" Type="http://schemas.microsoft.com/office/2007/relationships/hdphoto" Target="../media/hdphoto2.wdp"/></Relationships>
</file>

<file path=ppt/slides/_rels/slide44.xml.rels><?xml version="1.0" encoding="UTF-8" standalone="yes"?>
<Relationships xmlns="http://schemas.openxmlformats.org/package/2006/relationships"><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image" Target="../media/image57.png"/><Relationship Id="rId5" Type="http://schemas.openxmlformats.org/officeDocument/2006/relationships/image" Target="../media/image143.png"/><Relationship Id="rId4" Type="http://schemas.openxmlformats.org/officeDocument/2006/relationships/image" Target="../media/image55.png"/></Relationships>
</file>

<file path=ppt/slides/_rels/slide4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47.svg"/><Relationship Id="rId3" Type="http://schemas.openxmlformats.org/officeDocument/2006/relationships/image" Target="../media/image54.svg"/><Relationship Id="rId7" Type="http://schemas.openxmlformats.org/officeDocument/2006/relationships/image" Target="../media/image58.svg"/><Relationship Id="rId12" Type="http://schemas.openxmlformats.org/officeDocument/2006/relationships/image" Target="../media/image146.png"/><Relationship Id="rId17" Type="http://schemas.openxmlformats.org/officeDocument/2006/relationships/image" Target="../media/image151.svg"/><Relationship Id="rId2" Type="http://schemas.openxmlformats.org/officeDocument/2006/relationships/image" Target="../media/image53.png"/><Relationship Id="rId16" Type="http://schemas.openxmlformats.org/officeDocument/2006/relationships/image" Target="../media/image150.png"/><Relationship Id="rId1" Type="http://schemas.openxmlformats.org/officeDocument/2006/relationships/slideLayout" Target="../slideLayouts/slideLayout4.xml"/><Relationship Id="rId6" Type="http://schemas.openxmlformats.org/officeDocument/2006/relationships/image" Target="../media/image57.png"/><Relationship Id="rId11" Type="http://schemas.openxmlformats.org/officeDocument/2006/relationships/image" Target="../media/image145.svg"/><Relationship Id="rId5" Type="http://schemas.openxmlformats.org/officeDocument/2006/relationships/image" Target="../media/image143.png"/><Relationship Id="rId15" Type="http://schemas.openxmlformats.org/officeDocument/2006/relationships/image" Target="../media/image149.svg"/><Relationship Id="rId10" Type="http://schemas.openxmlformats.org/officeDocument/2006/relationships/image" Target="../media/image144.png"/><Relationship Id="rId4" Type="http://schemas.openxmlformats.org/officeDocument/2006/relationships/image" Target="../media/image55.png"/><Relationship Id="rId9" Type="http://schemas.openxmlformats.org/officeDocument/2006/relationships/image" Target="../media/image21.svg"/><Relationship Id="rId14" Type="http://schemas.openxmlformats.org/officeDocument/2006/relationships/image" Target="../media/image148.png"/></Relationships>
</file>

<file path=ppt/slides/_rels/slide46.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svg"/><Relationship Id="rId18" Type="http://schemas.openxmlformats.org/officeDocument/2006/relationships/image" Target="../media/image161.svg"/><Relationship Id="rId3" Type="http://schemas.openxmlformats.org/officeDocument/2006/relationships/image" Target="../media/image54.svg"/><Relationship Id="rId7" Type="http://schemas.openxmlformats.org/officeDocument/2006/relationships/image" Target="../media/image58.svg"/><Relationship Id="rId12" Type="http://schemas.openxmlformats.org/officeDocument/2006/relationships/image" Target="../media/image156.png"/><Relationship Id="rId17" Type="http://schemas.openxmlformats.org/officeDocument/2006/relationships/image" Target="../media/image160.png"/><Relationship Id="rId2" Type="http://schemas.openxmlformats.org/officeDocument/2006/relationships/image" Target="../media/image53.png"/><Relationship Id="rId16" Type="http://schemas.openxmlformats.org/officeDocument/2006/relationships/image" Target="../media/image71.png"/><Relationship Id="rId1" Type="http://schemas.openxmlformats.org/officeDocument/2006/relationships/slideLayout" Target="../slideLayouts/slideLayout4.xml"/><Relationship Id="rId6" Type="http://schemas.openxmlformats.org/officeDocument/2006/relationships/image" Target="../media/image57.png"/><Relationship Id="rId11" Type="http://schemas.openxmlformats.org/officeDocument/2006/relationships/image" Target="../media/image155.svg"/><Relationship Id="rId5" Type="http://schemas.openxmlformats.org/officeDocument/2006/relationships/image" Target="../media/image143.png"/><Relationship Id="rId15" Type="http://schemas.openxmlformats.org/officeDocument/2006/relationships/image" Target="../media/image159.svg"/><Relationship Id="rId10" Type="http://schemas.openxmlformats.org/officeDocument/2006/relationships/image" Target="../media/image154.png"/><Relationship Id="rId4" Type="http://schemas.openxmlformats.org/officeDocument/2006/relationships/image" Target="../media/image55.png"/><Relationship Id="rId9" Type="http://schemas.openxmlformats.org/officeDocument/2006/relationships/image" Target="../media/image153.svg"/><Relationship Id="rId14" Type="http://schemas.openxmlformats.org/officeDocument/2006/relationships/image" Target="../media/image158.png"/></Relationships>
</file>

<file path=ppt/slides/_rels/slide47.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image" Target="../media/image57.png"/><Relationship Id="rId11" Type="http://schemas.openxmlformats.org/officeDocument/2006/relationships/image" Target="../media/image165.svg"/><Relationship Id="rId5" Type="http://schemas.openxmlformats.org/officeDocument/2006/relationships/image" Target="../media/image143.png"/><Relationship Id="rId10" Type="http://schemas.openxmlformats.org/officeDocument/2006/relationships/image" Target="../media/image164.png"/><Relationship Id="rId4" Type="http://schemas.openxmlformats.org/officeDocument/2006/relationships/image" Target="../media/image55.png"/><Relationship Id="rId9" Type="http://schemas.openxmlformats.org/officeDocument/2006/relationships/image" Target="../media/image163.svg"/></Relationships>
</file>

<file path=ppt/slides/_rels/slide48.xml.rels><?xml version="1.0" encoding="UTF-8" standalone="yes"?>
<Relationships xmlns="http://schemas.openxmlformats.org/package/2006/relationships"><Relationship Id="rId13" Type="http://schemas.openxmlformats.org/officeDocument/2006/relationships/image" Target="../media/image70.svg"/><Relationship Id="rId18" Type="http://schemas.openxmlformats.org/officeDocument/2006/relationships/image" Target="../media/image75.svg"/><Relationship Id="rId26" Type="http://schemas.openxmlformats.org/officeDocument/2006/relationships/hyperlink" Target="https://openseriousgames.org/manifeste/" TargetMode="External"/><Relationship Id="rId39" Type="http://schemas.openxmlformats.org/officeDocument/2006/relationships/image" Target="../media/image143.png"/><Relationship Id="rId21" Type="http://schemas.openxmlformats.org/officeDocument/2006/relationships/image" Target="../media/image61.svg"/><Relationship Id="rId34" Type="http://schemas.openxmlformats.org/officeDocument/2006/relationships/image" Target="../media/image79.svg"/><Relationship Id="rId7" Type="http://schemas.openxmlformats.org/officeDocument/2006/relationships/image" Target="../media/image58.sv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66.svg"/><Relationship Id="rId33" Type="http://schemas.openxmlformats.org/officeDocument/2006/relationships/image" Target="../media/image78.png"/><Relationship Id="rId38" Type="http://schemas.openxmlformats.org/officeDocument/2006/relationships/hyperlink" Target="https://openseriousgames.org/liste-des-openseriousgame/publier-votre-openseriousgame-ou-votre-propre-version-dun-openseriousgame-existant/" TargetMode="External"/><Relationship Id="rId2" Type="http://schemas.openxmlformats.org/officeDocument/2006/relationships/image" Target="../media/image53.png"/><Relationship Id="rId16" Type="http://schemas.openxmlformats.org/officeDocument/2006/relationships/image" Target="../media/image73.svg"/><Relationship Id="rId20" Type="http://schemas.openxmlformats.org/officeDocument/2006/relationships/image" Target="../media/image60.png"/><Relationship Id="rId29" Type="http://schemas.openxmlformats.org/officeDocument/2006/relationships/image" Target="../media/image168.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3.svg"/><Relationship Id="rId24" Type="http://schemas.openxmlformats.org/officeDocument/2006/relationships/image" Target="../media/image65.png"/><Relationship Id="rId32" Type="http://schemas.openxmlformats.org/officeDocument/2006/relationships/image" Target="../media/image77.svg"/><Relationship Id="rId37" Type="http://schemas.openxmlformats.org/officeDocument/2006/relationships/hyperlink" Target="https://openseriousgames.org/la-methode-de-transmission-osg/la-methode-osg-roles/" TargetMode="External"/><Relationship Id="rId5" Type="http://schemas.openxmlformats.org/officeDocument/2006/relationships/image" Target="../media/image56.png"/><Relationship Id="rId15" Type="http://schemas.openxmlformats.org/officeDocument/2006/relationships/image" Target="../media/image72.png"/><Relationship Id="rId23" Type="http://schemas.microsoft.com/office/2007/relationships/hdphoto" Target="../media/hdphoto1.wdp"/><Relationship Id="rId28" Type="http://schemas.openxmlformats.org/officeDocument/2006/relationships/image" Target="../media/image167.svg"/><Relationship Id="rId36" Type="http://schemas.openxmlformats.org/officeDocument/2006/relationships/hyperlink" Target="https://chat.whatsapp.com/EUZg2qoHAWHDLAeeMa3l73" TargetMode="External"/><Relationship Id="rId10" Type="http://schemas.openxmlformats.org/officeDocument/2006/relationships/image" Target="../media/image62.png"/><Relationship Id="rId19" Type="http://schemas.openxmlformats.org/officeDocument/2006/relationships/image" Target="../media/image59.svg"/><Relationship Id="rId31" Type="http://schemas.openxmlformats.org/officeDocument/2006/relationships/image" Target="../media/image76.png"/><Relationship Id="rId4" Type="http://schemas.openxmlformats.org/officeDocument/2006/relationships/image" Target="../media/image55.png"/><Relationship Id="rId9" Type="http://schemas.openxmlformats.org/officeDocument/2006/relationships/image" Target="../media/image68.svg"/><Relationship Id="rId14" Type="http://schemas.openxmlformats.org/officeDocument/2006/relationships/image" Target="../media/image71.png"/><Relationship Id="rId22" Type="http://schemas.openxmlformats.org/officeDocument/2006/relationships/image" Target="../media/image64.png"/><Relationship Id="rId27" Type="http://schemas.openxmlformats.org/officeDocument/2006/relationships/image" Target="../media/image166.png"/><Relationship Id="rId30" Type="http://schemas.openxmlformats.org/officeDocument/2006/relationships/image" Target="../media/image169.svg"/><Relationship Id="rId35" Type="http://schemas.openxmlformats.org/officeDocument/2006/relationships/image" Target="../media/image80.png"/><Relationship Id="rId8" Type="http://schemas.openxmlformats.org/officeDocument/2006/relationships/image" Target="../media/image67.png"/><Relationship Id="rId3" Type="http://schemas.openxmlformats.org/officeDocument/2006/relationships/image" Target="../media/image54.svg"/></Relationships>
</file>

<file path=ppt/slides/_rels/slide49.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slideLayout" Target="../slideLayouts/slideLayout4.xml"/><Relationship Id="rId6" Type="http://schemas.openxmlformats.org/officeDocument/2006/relationships/image" Target="../media/image80.png"/><Relationship Id="rId5" Type="http://schemas.openxmlformats.org/officeDocument/2006/relationships/image" Target="../media/image79.svg"/><Relationship Id="rId4" Type="http://schemas.openxmlformats.org/officeDocument/2006/relationships/image" Target="../media/image78.png"/></Relationships>
</file>

<file path=ppt/slides/_rels/slide50.xml.rels><?xml version="1.0" encoding="UTF-8" standalone="yes"?>
<Relationships xmlns="http://schemas.openxmlformats.org/package/2006/relationships"><Relationship Id="rId8" Type="http://schemas.openxmlformats.org/officeDocument/2006/relationships/hyperlink" Target="https://www.linkedin.com/in/eparizel/" TargetMode="External"/><Relationship Id="rId3" Type="http://schemas.openxmlformats.org/officeDocument/2006/relationships/image" Target="../media/image77.svg"/><Relationship Id="rId7" Type="http://schemas.openxmlformats.org/officeDocument/2006/relationships/image" Target="../media/image170.jpeg"/><Relationship Id="rId2" Type="http://schemas.openxmlformats.org/officeDocument/2006/relationships/image" Target="../media/image76.png"/><Relationship Id="rId1" Type="http://schemas.openxmlformats.org/officeDocument/2006/relationships/slideLayout" Target="../slideLayouts/slideLayout4.xml"/><Relationship Id="rId6" Type="http://schemas.openxmlformats.org/officeDocument/2006/relationships/image" Target="../media/image80.png"/><Relationship Id="rId5" Type="http://schemas.openxmlformats.org/officeDocument/2006/relationships/image" Target="../media/image79.svg"/><Relationship Id="rId10" Type="http://schemas.openxmlformats.org/officeDocument/2006/relationships/image" Target="../media/image171.jpeg"/><Relationship Id="rId4" Type="http://schemas.openxmlformats.org/officeDocument/2006/relationships/image" Target="../media/image78.png"/><Relationship Id="rId9" Type="http://schemas.openxmlformats.org/officeDocument/2006/relationships/hyperlink" Target="https://www.linkedin.com/in/alexandrequach/"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www.linkedin.com/in/eparizel/" TargetMode="External"/><Relationship Id="rId3" Type="http://schemas.openxmlformats.org/officeDocument/2006/relationships/image" Target="../media/image77.svg"/><Relationship Id="rId7" Type="http://schemas.openxmlformats.org/officeDocument/2006/relationships/image" Target="../media/image170.jpeg"/><Relationship Id="rId2" Type="http://schemas.openxmlformats.org/officeDocument/2006/relationships/image" Target="../media/image76.png"/><Relationship Id="rId1" Type="http://schemas.openxmlformats.org/officeDocument/2006/relationships/slideLayout" Target="../slideLayouts/slideLayout4.xml"/><Relationship Id="rId6" Type="http://schemas.openxmlformats.org/officeDocument/2006/relationships/image" Target="../media/image80.png"/><Relationship Id="rId5" Type="http://schemas.openxmlformats.org/officeDocument/2006/relationships/image" Target="../media/image79.svg"/><Relationship Id="rId10" Type="http://schemas.openxmlformats.org/officeDocument/2006/relationships/image" Target="../media/image171.jpeg"/><Relationship Id="rId4" Type="http://schemas.openxmlformats.org/officeDocument/2006/relationships/image" Target="../media/image78.png"/><Relationship Id="rId9" Type="http://schemas.openxmlformats.org/officeDocument/2006/relationships/hyperlink" Target="https://www.linkedin.com/in/alexandrequach/" TargetMode="External"/></Relationships>
</file>

<file path=ppt/slides/_rels/slide52.xml.rels><?xml version="1.0" encoding="UTF-8" standalone="yes"?>
<Relationships xmlns="http://schemas.openxmlformats.org/package/2006/relationships"><Relationship Id="rId13" Type="http://schemas.openxmlformats.org/officeDocument/2006/relationships/image" Target="../media/image12.svg"/><Relationship Id="rId18" Type="http://schemas.openxmlformats.org/officeDocument/2006/relationships/image" Target="../media/image62.png"/><Relationship Id="rId26" Type="http://schemas.openxmlformats.org/officeDocument/2006/relationships/image" Target="../media/image55.png"/><Relationship Id="rId39" Type="http://schemas.openxmlformats.org/officeDocument/2006/relationships/image" Target="../media/image72.png"/><Relationship Id="rId21" Type="http://schemas.microsoft.com/office/2007/relationships/hdphoto" Target="../media/hdphoto2.wdp"/><Relationship Id="rId34" Type="http://schemas.openxmlformats.org/officeDocument/2006/relationships/image" Target="../media/image67.png"/><Relationship Id="rId42" Type="http://schemas.openxmlformats.org/officeDocument/2006/relationships/image" Target="../media/image75.svg"/><Relationship Id="rId7" Type="http://schemas.openxmlformats.org/officeDocument/2006/relationships/image" Target="../media/image20.png"/><Relationship Id="rId2" Type="http://schemas.openxmlformats.org/officeDocument/2006/relationships/diagramData" Target="../diagrams/data1.xml"/><Relationship Id="rId16" Type="http://schemas.openxmlformats.org/officeDocument/2006/relationships/image" Target="../media/image60.png"/><Relationship Id="rId20" Type="http://schemas.openxmlformats.org/officeDocument/2006/relationships/image" Target="../media/image142.png"/><Relationship Id="rId29" Type="http://schemas.openxmlformats.org/officeDocument/2006/relationships/image" Target="../media/image76.png"/><Relationship Id="rId41" Type="http://schemas.openxmlformats.org/officeDocument/2006/relationships/image" Target="../media/image74.png"/><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37.png"/><Relationship Id="rId24" Type="http://schemas.openxmlformats.org/officeDocument/2006/relationships/image" Target="../media/image53.png"/><Relationship Id="rId32" Type="http://schemas.openxmlformats.org/officeDocument/2006/relationships/image" Target="../media/image79.svg"/><Relationship Id="rId37" Type="http://schemas.openxmlformats.org/officeDocument/2006/relationships/image" Target="../media/image70.svg"/><Relationship Id="rId40" Type="http://schemas.openxmlformats.org/officeDocument/2006/relationships/image" Target="../media/image73.svg"/><Relationship Id="rId5" Type="http://schemas.openxmlformats.org/officeDocument/2006/relationships/diagramColors" Target="../diagrams/colors1.xml"/><Relationship Id="rId15" Type="http://schemas.openxmlformats.org/officeDocument/2006/relationships/image" Target="../media/image59.svg"/><Relationship Id="rId23" Type="http://schemas.openxmlformats.org/officeDocument/2006/relationships/image" Target="../media/image66.svg"/><Relationship Id="rId28" Type="http://schemas.openxmlformats.org/officeDocument/2006/relationships/image" Target="../media/image58.svg"/><Relationship Id="rId36" Type="http://schemas.openxmlformats.org/officeDocument/2006/relationships/image" Target="../media/image69.png"/><Relationship Id="rId10" Type="http://schemas.openxmlformats.org/officeDocument/2006/relationships/image" Target="../media/image82.svg"/><Relationship Id="rId19" Type="http://schemas.openxmlformats.org/officeDocument/2006/relationships/image" Target="../media/image63.svg"/><Relationship Id="rId31" Type="http://schemas.openxmlformats.org/officeDocument/2006/relationships/image" Target="../media/image78.png"/><Relationship Id="rId4" Type="http://schemas.openxmlformats.org/officeDocument/2006/relationships/diagramQuickStyle" Target="../diagrams/quickStyle1.xml"/><Relationship Id="rId9" Type="http://schemas.openxmlformats.org/officeDocument/2006/relationships/image" Target="../media/image81.png"/><Relationship Id="rId14" Type="http://schemas.openxmlformats.org/officeDocument/2006/relationships/image" Target="../media/image57.png"/><Relationship Id="rId22" Type="http://schemas.openxmlformats.org/officeDocument/2006/relationships/image" Target="../media/image65.png"/><Relationship Id="rId27" Type="http://schemas.openxmlformats.org/officeDocument/2006/relationships/image" Target="../media/image143.png"/><Relationship Id="rId30" Type="http://schemas.openxmlformats.org/officeDocument/2006/relationships/image" Target="../media/image77.svg"/><Relationship Id="rId35" Type="http://schemas.openxmlformats.org/officeDocument/2006/relationships/image" Target="../media/image68.svg"/><Relationship Id="rId8" Type="http://schemas.openxmlformats.org/officeDocument/2006/relationships/image" Target="../media/image21.svg"/><Relationship Id="rId3" Type="http://schemas.openxmlformats.org/officeDocument/2006/relationships/diagramLayout" Target="../diagrams/layout1.xml"/><Relationship Id="rId12" Type="http://schemas.openxmlformats.org/officeDocument/2006/relationships/image" Target="../media/image11.png"/><Relationship Id="rId17" Type="http://schemas.openxmlformats.org/officeDocument/2006/relationships/image" Target="../media/image61.svg"/><Relationship Id="rId25" Type="http://schemas.openxmlformats.org/officeDocument/2006/relationships/image" Target="../media/image54.svg"/><Relationship Id="rId33" Type="http://schemas.openxmlformats.org/officeDocument/2006/relationships/image" Target="../media/image172.png"/><Relationship Id="rId38" Type="http://schemas.openxmlformats.org/officeDocument/2006/relationships/image" Target="../media/image138.png"/></Relationships>
</file>

<file path=ppt/slides/_rels/slide53.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941986"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dirty="0"/>
              <a:t>Version 1.1 – Emeline PARIZEL, Alexandre QUACH</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886267" y="6430439"/>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006302" y="5387295"/>
            <a:ext cx="890885" cy="859442"/>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2423545" y="1520785"/>
            <a:ext cx="6469267" cy="3816429"/>
          </a:xfrm>
          <a:prstGeom prst="rect">
            <a:avLst/>
          </a:prstGeom>
          <a:noFill/>
        </p:spPr>
        <p:txBody>
          <a:bodyPr wrap="square" rtlCol="0">
            <a:spAutoFit/>
          </a:bodyPr>
          <a:lstStyle/>
          <a:p>
            <a:r>
              <a:rPr lang="fr-FR" sz="8000" i="1" dirty="0">
                <a:solidFill>
                  <a:srgbClr val="ED7D31"/>
                </a:solidFill>
              </a:rPr>
              <a:t>Handi situations</a:t>
            </a:r>
          </a:p>
          <a:p>
            <a:endParaRPr lang="fr-FR" dirty="0"/>
          </a:p>
          <a:p>
            <a:r>
              <a:rPr lang="fr-FR" sz="3200" b="1" i="1" dirty="0">
                <a:solidFill>
                  <a:srgbClr val="0683AA"/>
                </a:solidFill>
              </a:rPr>
              <a:t>Se sensibiliser aux situations de handicap en 10 situations</a:t>
            </a:r>
          </a:p>
        </p:txBody>
      </p:sp>
      <p:grpSp>
        <p:nvGrpSpPr>
          <p:cNvPr id="13" name="Groupe 12">
            <a:extLst>
              <a:ext uri="{FF2B5EF4-FFF2-40B4-BE49-F238E27FC236}">
                <a16:creationId xmlns:a16="http://schemas.microsoft.com/office/drawing/2014/main" id="{8B758B38-D361-6E56-78B4-FC3D0E4E650D}"/>
              </a:ext>
            </a:extLst>
          </p:cNvPr>
          <p:cNvGrpSpPr/>
          <p:nvPr/>
        </p:nvGrpSpPr>
        <p:grpSpPr>
          <a:xfrm>
            <a:off x="7384911" y="551427"/>
            <a:ext cx="4093547" cy="3746241"/>
            <a:chOff x="6716520" y="300537"/>
            <a:chExt cx="5055341" cy="4626434"/>
          </a:xfrm>
        </p:grpSpPr>
        <p:pic>
          <p:nvPicPr>
            <p:cNvPr id="7" name="Image 6" descr="Une image contenant texte&#10;&#10;Description générée automatiquement">
              <a:extLst>
                <a:ext uri="{FF2B5EF4-FFF2-40B4-BE49-F238E27FC236}">
                  <a16:creationId xmlns:a16="http://schemas.microsoft.com/office/drawing/2014/main" id="{F52F47F5-1492-3F1D-F237-30DB14A23DD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092334" y="300537"/>
              <a:ext cx="2594821" cy="2622706"/>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8FAB8287-AE7E-D532-3885-EF8E63CC086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20135538">
              <a:off x="6716520" y="1437949"/>
              <a:ext cx="2964383" cy="3155569"/>
            </a:xfrm>
            <a:prstGeom prst="rect">
              <a:avLst/>
            </a:prstGeom>
          </p:spPr>
        </p:pic>
        <p:pic>
          <p:nvPicPr>
            <p:cNvPr id="12" name="Image 11">
              <a:extLst>
                <a:ext uri="{FF2B5EF4-FFF2-40B4-BE49-F238E27FC236}">
                  <a16:creationId xmlns:a16="http://schemas.microsoft.com/office/drawing/2014/main" id="{310169DE-38B2-589D-FD72-DB12EFC9C124}"/>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810960">
              <a:off x="8577963" y="1640086"/>
              <a:ext cx="3193898" cy="3286885"/>
            </a:xfrm>
            <a:prstGeom prst="rect">
              <a:avLst/>
            </a:prstGeom>
          </p:spPr>
        </p:pic>
      </p:grpSp>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037250" y="554567"/>
            <a:ext cx="2636511" cy="2544234"/>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464598" y="1370853"/>
            <a:ext cx="7572652" cy="646331"/>
          </a:xfrm>
          <a:prstGeom prst="rect">
            <a:avLst/>
          </a:prstGeom>
          <a:noFill/>
        </p:spPr>
        <p:txBody>
          <a:bodyPr wrap="square" rtlCol="0">
            <a:spAutoFit/>
          </a:bodyPr>
          <a:lstStyle/>
          <a:p>
            <a:pPr algn="ctr"/>
            <a:r>
              <a:rPr lang="fr-FR" sz="3600" b="1" i="1" dirty="0">
                <a:solidFill>
                  <a:srgbClr val="0683AA"/>
                </a:solidFill>
              </a:rPr>
              <a:t>La session que vous allez vivre est un</a:t>
            </a:r>
          </a:p>
        </p:txBody>
      </p:sp>
      <p:sp>
        <p:nvSpPr>
          <p:cNvPr id="2" name="ZoneTexte 1">
            <a:extLst>
              <a:ext uri="{FF2B5EF4-FFF2-40B4-BE49-F238E27FC236}">
                <a16:creationId xmlns:a16="http://schemas.microsoft.com/office/drawing/2014/main" id="{F0EF9C5D-E7C7-FEEE-AB2A-CE5FCC6BB8D4}"/>
              </a:ext>
            </a:extLst>
          </p:cNvPr>
          <p:cNvSpPr txBox="1"/>
          <p:nvPr/>
        </p:nvSpPr>
        <p:spPr>
          <a:xfrm>
            <a:off x="832898" y="3429000"/>
            <a:ext cx="8895302" cy="1754326"/>
          </a:xfrm>
          <a:prstGeom prst="rect">
            <a:avLst/>
          </a:prstGeom>
          <a:noFill/>
        </p:spPr>
        <p:txBody>
          <a:bodyPr wrap="square" rtlCol="0">
            <a:spAutoFit/>
          </a:bodyPr>
          <a:lstStyle/>
          <a:p>
            <a:pPr algn="ctr"/>
            <a:r>
              <a:rPr lang="fr-FR" sz="3600" b="1" i="1" dirty="0"/>
              <a:t>Tout a été préparé pour que </a:t>
            </a:r>
            <a:r>
              <a:rPr lang="fr-FR" sz="3600" b="1" i="1" dirty="0">
                <a:solidFill>
                  <a:srgbClr val="ED7D31"/>
                </a:solidFill>
              </a:rPr>
              <a:t>VOUS SOYEZ CAPABLES DE L’ANIMER ET LE TRANSMETTRE </a:t>
            </a:r>
            <a:r>
              <a:rPr lang="fr-FR" sz="3600" b="1" i="1" dirty="0"/>
              <a:t>après cette session</a:t>
            </a:r>
          </a:p>
        </p:txBody>
      </p:sp>
    </p:spTree>
    <p:extLst>
      <p:ext uri="{BB962C8B-B14F-4D97-AF65-F5344CB8AC3E}">
        <p14:creationId xmlns:p14="http://schemas.microsoft.com/office/powerpoint/2010/main" val="2675068137"/>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5757909" cy="1325563"/>
          </a:xfrm>
        </p:spPr>
        <p:txBody>
          <a:bodyPr>
            <a:normAutofit/>
          </a:bodyPr>
          <a:lstStyle/>
          <a:p>
            <a:r>
              <a:rPr lang="fr-FR" dirty="0"/>
              <a:t>Pour qui et pourquoi </a:t>
            </a:r>
            <a:r>
              <a:rPr lang="fr-FR" b="1" dirty="0">
                <a:solidFill>
                  <a:srgbClr val="ED7D31"/>
                </a:solidFill>
              </a:rPr>
              <a:t>Handi Situations</a:t>
            </a:r>
            <a:r>
              <a:rPr lang="fr-FR" dirty="0"/>
              <a:t> été créé</a:t>
            </a:r>
          </a:p>
        </p:txBody>
      </p:sp>
      <p:pic>
        <p:nvPicPr>
          <p:cNvPr id="12" name="Espace réservé pour une image  11" descr="Une image contenant personne&#10;&#10;Description générée automatiquement">
            <a:extLst>
              <a:ext uri="{FF2B5EF4-FFF2-40B4-BE49-F238E27FC236}">
                <a16:creationId xmlns:a16="http://schemas.microsoft.com/office/drawing/2014/main" id="{6ABE9AE0-3BA6-8FC2-21DB-5E4C56CCDE1C}"/>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a:fillRect/>
          </a:stretch>
        </p:blipFill>
        <p:spPr/>
      </p:pic>
      <p:pic>
        <p:nvPicPr>
          <p:cNvPr id="15" name="Espace réservé pour une image  14">
            <a:extLst>
              <a:ext uri="{FF2B5EF4-FFF2-40B4-BE49-F238E27FC236}">
                <a16:creationId xmlns:a16="http://schemas.microsoft.com/office/drawing/2014/main" id="{BC8CCEB1-4452-AFAA-3727-46E22E04DD56}"/>
              </a:ext>
            </a:extLst>
          </p:cNvPr>
          <p:cNvPicPr>
            <a:picLocks noGrp="1" noChangeAspect="1"/>
          </p:cNvPicPr>
          <p:nvPr>
            <p:ph type="pic" sz="quarter" idx="14"/>
          </p:nvPr>
        </p:nvPicPr>
        <p:blipFill>
          <a:blip r:embed="rId4" cstate="print">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a:fillRect/>
          </a:stretch>
        </p:blipFill>
        <p:spPr/>
      </p:pic>
      <p:pic>
        <p:nvPicPr>
          <p:cNvPr id="21" name="Espace réservé pour une image  20" descr="Une image contenant personne, foule&#10;&#10;Description générée automatiquement">
            <a:extLst>
              <a:ext uri="{FF2B5EF4-FFF2-40B4-BE49-F238E27FC236}">
                <a16:creationId xmlns:a16="http://schemas.microsoft.com/office/drawing/2014/main" id="{E077318B-262A-731B-4FE8-E57E6047A121}"/>
              </a:ext>
            </a:extLst>
          </p:cNvPr>
          <p:cNvPicPr>
            <a:picLocks noGrp="1" noChangeAspect="1"/>
          </p:cNvPicPr>
          <p:nvPr>
            <p:ph type="pic" sz="quarter" idx="15"/>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1031875"/>
          </a:xfrm>
        </p:spPr>
        <p:txBody>
          <a:bodyPr/>
          <a:lstStyle/>
          <a:p>
            <a:r>
              <a:rPr lang="fr-FR" dirty="0"/>
              <a:t>Faire découvrir des situations de handicap courantes</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031875"/>
          </a:xfrm>
        </p:spPr>
        <p:txBody>
          <a:bodyPr/>
          <a:lstStyle/>
          <a:p>
            <a:r>
              <a:rPr lang="fr-FR" dirty="0"/>
              <a:t>Faire que les participants se sentent plus concernés directement par ces situations</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35885" y="5461000"/>
            <a:ext cx="3402012" cy="1031875"/>
          </a:xfrm>
        </p:spPr>
        <p:txBody>
          <a:bodyPr/>
          <a:lstStyle/>
          <a:p>
            <a:r>
              <a:rPr lang="fr-FR" dirty="0"/>
              <a:t>Donner un moyen le plus accessible et grande échelle possible pour découvrir le sujet, et inviter à se renseigner au-delà.</a:t>
            </a:r>
          </a:p>
        </p:txBody>
      </p:sp>
      <p:pic>
        <p:nvPicPr>
          <p:cNvPr id="4" name="Graphique 3" descr="Homme avec un remplissage uni">
            <a:extLst>
              <a:ext uri="{FF2B5EF4-FFF2-40B4-BE49-F238E27FC236}">
                <a16:creationId xmlns:a16="http://schemas.microsoft.com/office/drawing/2014/main" id="{64A36C4C-D4B7-4279-953B-9930E54F0B11}"/>
              </a:ext>
            </a:extLst>
          </p:cNvPr>
          <p:cNvPicPr>
            <a:picLocks noChangeAspect="1"/>
          </p:cNvPicPr>
          <p:nvPr/>
        </p:nvPicPr>
        <p:blipFill rotWithShape="1">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t="759" b="1"/>
          <a:stretch/>
        </p:blipFill>
        <p:spPr>
          <a:xfrm>
            <a:off x="10929622" y="694941"/>
            <a:ext cx="848356" cy="841919"/>
          </a:xfrm>
          <a:prstGeom prst="rect">
            <a:avLst/>
          </a:prstGeom>
        </p:spPr>
      </p:pic>
      <p:sp>
        <p:nvSpPr>
          <p:cNvPr id="5" name="Bulle narrative : ronde 4">
            <a:extLst>
              <a:ext uri="{FF2B5EF4-FFF2-40B4-BE49-F238E27FC236}">
                <a16:creationId xmlns:a16="http://schemas.microsoft.com/office/drawing/2014/main" id="{9B8DB8F1-89C6-441B-99AE-E4A1D33D057D}"/>
              </a:ext>
            </a:extLst>
          </p:cNvPr>
          <p:cNvSpPr/>
          <p:nvPr/>
        </p:nvSpPr>
        <p:spPr>
          <a:xfrm>
            <a:off x="9234684" y="365125"/>
            <a:ext cx="1422360" cy="932108"/>
          </a:xfrm>
          <a:prstGeom prst="wedgeEllipseCallout">
            <a:avLst>
              <a:gd name="adj1" fmla="val 85896"/>
              <a:gd name="adj2" fmla="val 53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Ce que nous cherchons à atteindre avec ce jeu</a:t>
            </a:r>
          </a:p>
        </p:txBody>
      </p:sp>
      <p:grpSp>
        <p:nvGrpSpPr>
          <p:cNvPr id="25" name="Groupe 24">
            <a:extLst>
              <a:ext uri="{FF2B5EF4-FFF2-40B4-BE49-F238E27FC236}">
                <a16:creationId xmlns:a16="http://schemas.microsoft.com/office/drawing/2014/main" id="{0705632B-4A52-75FF-0B40-2E95C7989D1F}"/>
              </a:ext>
            </a:extLst>
          </p:cNvPr>
          <p:cNvGrpSpPr/>
          <p:nvPr/>
        </p:nvGrpSpPr>
        <p:grpSpPr>
          <a:xfrm>
            <a:off x="1407074" y="2873586"/>
            <a:ext cx="2280084" cy="1908317"/>
            <a:chOff x="1510681" y="3033384"/>
            <a:chExt cx="2280084" cy="1908317"/>
          </a:xfrm>
        </p:grpSpPr>
        <p:pic>
          <p:nvPicPr>
            <p:cNvPr id="23" name="Graphique 22" descr="Bulle de discussion avec un remplissage uni">
              <a:extLst>
                <a:ext uri="{FF2B5EF4-FFF2-40B4-BE49-F238E27FC236}">
                  <a16:creationId xmlns:a16="http://schemas.microsoft.com/office/drawing/2014/main" id="{DE5AD04B-AAFD-C48C-3657-8F40FC40EB29}"/>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510681" y="3033384"/>
              <a:ext cx="2280084" cy="1908317"/>
            </a:xfrm>
            <a:prstGeom prst="rect">
              <a:avLst/>
            </a:prstGeom>
          </p:spPr>
        </p:pic>
        <p:sp>
          <p:nvSpPr>
            <p:cNvPr id="24" name="Rectangle 23">
              <a:extLst>
                <a:ext uri="{FF2B5EF4-FFF2-40B4-BE49-F238E27FC236}">
                  <a16:creationId xmlns:a16="http://schemas.microsoft.com/office/drawing/2014/main" id="{638B2E9B-230F-6361-7871-C0FE40EA1867}"/>
                </a:ext>
              </a:extLst>
            </p:cNvPr>
            <p:cNvSpPr/>
            <p:nvPr/>
          </p:nvSpPr>
          <p:spPr>
            <a:xfrm>
              <a:off x="1864311" y="3429001"/>
              <a:ext cx="1553591" cy="8411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ED7D31"/>
                  </a:solidFill>
                </a:rPr>
                <a:t>Les situations de handicap, c’est donc ça !</a:t>
              </a:r>
            </a:p>
          </p:txBody>
        </p:sp>
      </p:grpSp>
      <p:grpSp>
        <p:nvGrpSpPr>
          <p:cNvPr id="26" name="Groupe 25">
            <a:extLst>
              <a:ext uri="{FF2B5EF4-FFF2-40B4-BE49-F238E27FC236}">
                <a16:creationId xmlns:a16="http://schemas.microsoft.com/office/drawing/2014/main" id="{03CD2731-639C-409B-09B6-D6006F1F60E4}"/>
              </a:ext>
            </a:extLst>
          </p:cNvPr>
          <p:cNvGrpSpPr/>
          <p:nvPr/>
        </p:nvGrpSpPr>
        <p:grpSpPr>
          <a:xfrm flipH="1">
            <a:off x="5320648" y="2444931"/>
            <a:ext cx="2202309" cy="1908317"/>
            <a:chOff x="1510681" y="3033384"/>
            <a:chExt cx="2280084" cy="1908317"/>
          </a:xfrm>
        </p:grpSpPr>
        <p:pic>
          <p:nvPicPr>
            <p:cNvPr id="27" name="Graphique 26" descr="Bulle de discussion avec un remplissage uni">
              <a:extLst>
                <a:ext uri="{FF2B5EF4-FFF2-40B4-BE49-F238E27FC236}">
                  <a16:creationId xmlns:a16="http://schemas.microsoft.com/office/drawing/2014/main" id="{9D276E8C-CC23-5F9A-068A-64FC293BBBAC}"/>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510681" y="3033384"/>
              <a:ext cx="2280084" cy="1908317"/>
            </a:xfrm>
            <a:prstGeom prst="rect">
              <a:avLst/>
            </a:prstGeom>
          </p:spPr>
        </p:pic>
        <p:sp>
          <p:nvSpPr>
            <p:cNvPr id="28" name="Rectangle 27">
              <a:extLst>
                <a:ext uri="{FF2B5EF4-FFF2-40B4-BE49-F238E27FC236}">
                  <a16:creationId xmlns:a16="http://schemas.microsoft.com/office/drawing/2014/main" id="{9D29931F-555D-376F-64DB-714DDC698A47}"/>
                </a:ext>
              </a:extLst>
            </p:cNvPr>
            <p:cNvSpPr/>
            <p:nvPr/>
          </p:nvSpPr>
          <p:spPr>
            <a:xfrm>
              <a:off x="1864311" y="3429001"/>
              <a:ext cx="1553591" cy="8411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0683AA"/>
                  </a:solidFill>
                </a:rPr>
                <a:t>Donc moi aussi ça me concerne</a:t>
              </a:r>
            </a:p>
          </p:txBody>
        </p:sp>
      </p:grpSp>
      <p:grpSp>
        <p:nvGrpSpPr>
          <p:cNvPr id="29" name="Groupe 28">
            <a:extLst>
              <a:ext uri="{FF2B5EF4-FFF2-40B4-BE49-F238E27FC236}">
                <a16:creationId xmlns:a16="http://schemas.microsoft.com/office/drawing/2014/main" id="{2EECE676-8BE2-076D-841D-6473FFB22BA3}"/>
              </a:ext>
            </a:extLst>
          </p:cNvPr>
          <p:cNvGrpSpPr/>
          <p:nvPr/>
        </p:nvGrpSpPr>
        <p:grpSpPr>
          <a:xfrm flipH="1">
            <a:off x="8535418" y="2544772"/>
            <a:ext cx="2202309" cy="1908317"/>
            <a:chOff x="1510681" y="3033384"/>
            <a:chExt cx="2280084" cy="1908317"/>
          </a:xfrm>
        </p:grpSpPr>
        <p:pic>
          <p:nvPicPr>
            <p:cNvPr id="30" name="Graphique 29" descr="Bulle de discussion avec un remplissage uni">
              <a:extLst>
                <a:ext uri="{FF2B5EF4-FFF2-40B4-BE49-F238E27FC236}">
                  <a16:creationId xmlns:a16="http://schemas.microsoft.com/office/drawing/2014/main" id="{FC1F8536-55BF-1D0B-9AB3-73DBD02AA59E}"/>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510681" y="3033384"/>
              <a:ext cx="2280084" cy="1908317"/>
            </a:xfrm>
            <a:prstGeom prst="rect">
              <a:avLst/>
            </a:prstGeom>
          </p:spPr>
        </p:pic>
        <p:sp>
          <p:nvSpPr>
            <p:cNvPr id="31" name="Rectangle 30">
              <a:extLst>
                <a:ext uri="{FF2B5EF4-FFF2-40B4-BE49-F238E27FC236}">
                  <a16:creationId xmlns:a16="http://schemas.microsoft.com/office/drawing/2014/main" id="{9BC71620-CAA3-C29B-7024-4BF447534EE0}"/>
                </a:ext>
              </a:extLst>
            </p:cNvPr>
            <p:cNvSpPr/>
            <p:nvPr/>
          </p:nvSpPr>
          <p:spPr>
            <a:xfrm>
              <a:off x="1864311" y="3429001"/>
              <a:ext cx="1553591" cy="8411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tx1"/>
                  </a:solidFill>
                </a:rPr>
                <a:t>A nous tous d’en apprendre plus !</a:t>
              </a:r>
            </a:p>
          </p:txBody>
        </p:sp>
      </p:grpSp>
    </p:spTree>
    <p:extLst>
      <p:ext uri="{BB962C8B-B14F-4D97-AF65-F5344CB8AC3E}">
        <p14:creationId xmlns:p14="http://schemas.microsoft.com/office/powerpoint/2010/main" val="217305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lstStyle/>
          <a:p>
            <a:r>
              <a:rPr lang="fr-FR" b="1" dirty="0">
                <a:solidFill>
                  <a:srgbClr val="ED7D31"/>
                </a:solidFill>
              </a:rPr>
              <a:t>Handi Situations </a:t>
            </a:r>
            <a:r>
              <a:rPr lang="fr-FR" dirty="0"/>
              <a:t>en bref</a:t>
            </a:r>
          </a:p>
        </p:txBody>
      </p:sp>
      <p:pic>
        <p:nvPicPr>
          <p:cNvPr id="6" name="Espace réservé pour une image  5" descr="Une image contenant texte&#10;&#10;Description générée automatiquement">
            <a:extLst>
              <a:ext uri="{FF2B5EF4-FFF2-40B4-BE49-F238E27FC236}">
                <a16:creationId xmlns:a16="http://schemas.microsoft.com/office/drawing/2014/main" id="{11F2CED2-B5A5-470E-F129-8E971B5652D9}"/>
              </a:ext>
            </a:extLst>
          </p:cNvPr>
          <p:cNvPicPr>
            <a:picLocks noGrp="1" noChangeAspect="1"/>
          </p:cNvPicPr>
          <p:nvPr>
            <p:ph type="pic" sz="quarter" idx="14"/>
          </p:nvPr>
        </p:nvPicPr>
        <p:blipFill rotWithShape="1">
          <a:blip r:embed="rId2" cstate="print">
            <a:extLst>
              <a:ext uri="{28A0092B-C50C-407E-A947-70E740481C1C}">
                <a14:useLocalDpi xmlns:a14="http://schemas.microsoft.com/office/drawing/2010/main"/>
              </a:ext>
            </a:extLst>
          </a:blip>
          <a:srcRect t="-1172"/>
          <a:stretch/>
        </p:blipFill>
        <p:spPr>
          <a:xfrm>
            <a:off x="4634144" y="1690688"/>
            <a:ext cx="3162544" cy="328186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1031875"/>
          </a:xfrm>
        </p:spPr>
        <p:txBody>
          <a:bodyPr/>
          <a:lstStyle/>
          <a:p>
            <a:r>
              <a:rPr lang="fr-FR" dirty="0"/>
              <a:t>Sur différents tours de jeu, les joueurs piochent des mini épreuves à réaliser.</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031875"/>
          </a:xfrm>
        </p:spPr>
        <p:txBody>
          <a:bodyPr/>
          <a:lstStyle/>
          <a:p>
            <a:r>
              <a:rPr lang="fr-FR" dirty="0"/>
              <a:t>A chaque tour, chaque joueur pioche une situation de handicap à simuler pendant la réalisation de l’épreuve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35885" y="5461000"/>
            <a:ext cx="3402012" cy="1031875"/>
          </a:xfrm>
        </p:spPr>
        <p:txBody>
          <a:bodyPr/>
          <a:lstStyle/>
          <a:p>
            <a:r>
              <a:rPr lang="fr-FR" dirty="0"/>
              <a:t>A la fin des tours de jeu, les joueurs débriefent entre eux de leurs vécus, apprentissages et idées sur les situations de handicap</a:t>
            </a:r>
          </a:p>
        </p:txBody>
      </p:sp>
      <p:pic>
        <p:nvPicPr>
          <p:cNvPr id="4" name="Graphique 3" descr="Homme avec un remplissage uni">
            <a:extLst>
              <a:ext uri="{FF2B5EF4-FFF2-40B4-BE49-F238E27FC236}">
                <a16:creationId xmlns:a16="http://schemas.microsoft.com/office/drawing/2014/main" id="{64A36C4C-D4B7-4279-953B-9930E54F0B11}"/>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759" b="1"/>
          <a:stretch/>
        </p:blipFill>
        <p:spPr>
          <a:xfrm>
            <a:off x="10929622" y="694941"/>
            <a:ext cx="848356" cy="841919"/>
          </a:xfrm>
          <a:prstGeom prst="rect">
            <a:avLst/>
          </a:prstGeom>
        </p:spPr>
      </p:pic>
      <p:sp>
        <p:nvSpPr>
          <p:cNvPr id="5" name="Bulle narrative : ronde 4">
            <a:extLst>
              <a:ext uri="{FF2B5EF4-FFF2-40B4-BE49-F238E27FC236}">
                <a16:creationId xmlns:a16="http://schemas.microsoft.com/office/drawing/2014/main" id="{9B8DB8F1-89C6-441B-99AE-E4A1D33D057D}"/>
              </a:ext>
            </a:extLst>
          </p:cNvPr>
          <p:cNvSpPr/>
          <p:nvPr/>
        </p:nvSpPr>
        <p:spPr>
          <a:xfrm>
            <a:off x="9234684" y="365125"/>
            <a:ext cx="1422360" cy="932108"/>
          </a:xfrm>
          <a:prstGeom prst="wedgeEllipseCallout">
            <a:avLst>
              <a:gd name="adj1" fmla="val 85896"/>
              <a:gd name="adj2" fmla="val 53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En bref, comment se passe le jeu ?</a:t>
            </a:r>
          </a:p>
        </p:txBody>
      </p:sp>
      <p:grpSp>
        <p:nvGrpSpPr>
          <p:cNvPr id="16" name="Groupe 15">
            <a:extLst>
              <a:ext uri="{FF2B5EF4-FFF2-40B4-BE49-F238E27FC236}">
                <a16:creationId xmlns:a16="http://schemas.microsoft.com/office/drawing/2014/main" id="{D9E7F8FF-BEC5-5FC0-AB73-DEAEE14CB160}"/>
              </a:ext>
            </a:extLst>
          </p:cNvPr>
          <p:cNvGrpSpPr/>
          <p:nvPr/>
        </p:nvGrpSpPr>
        <p:grpSpPr>
          <a:xfrm>
            <a:off x="838198" y="1953226"/>
            <a:ext cx="3007064" cy="3087387"/>
            <a:chOff x="4583929" y="1832729"/>
            <a:chExt cx="3896744" cy="4000832"/>
          </a:xfrm>
        </p:grpSpPr>
        <p:pic>
          <p:nvPicPr>
            <p:cNvPr id="13" name="Image 12">
              <a:extLst>
                <a:ext uri="{FF2B5EF4-FFF2-40B4-BE49-F238E27FC236}">
                  <a16:creationId xmlns:a16="http://schemas.microsoft.com/office/drawing/2014/main" id="{82494DEE-F34E-BFE3-9CEA-D123952B29C2}"/>
                </a:ext>
              </a:extLst>
            </p:cNvPr>
            <p:cNvPicPr>
              <a:picLocks noChangeAspect="1"/>
            </p:cNvPicPr>
            <p:nvPr/>
          </p:nvPicPr>
          <p:blipFill>
            <a:blip r:embed="rId5"/>
            <a:stretch>
              <a:fillRect/>
            </a:stretch>
          </p:blipFill>
          <p:spPr>
            <a:xfrm rot="1055508">
              <a:off x="5185023" y="1832729"/>
              <a:ext cx="3295650" cy="3676650"/>
            </a:xfrm>
            <a:prstGeom prst="rect">
              <a:avLst/>
            </a:prstGeom>
          </p:spPr>
        </p:pic>
        <p:pic>
          <p:nvPicPr>
            <p:cNvPr id="14" name="Image 13">
              <a:extLst>
                <a:ext uri="{FF2B5EF4-FFF2-40B4-BE49-F238E27FC236}">
                  <a16:creationId xmlns:a16="http://schemas.microsoft.com/office/drawing/2014/main" id="{DBDE9E93-EDDA-5DE8-561F-A48A9B55953E}"/>
                </a:ext>
              </a:extLst>
            </p:cNvPr>
            <p:cNvPicPr>
              <a:picLocks noChangeAspect="1"/>
            </p:cNvPicPr>
            <p:nvPr/>
          </p:nvPicPr>
          <p:blipFill>
            <a:blip r:embed="rId6"/>
            <a:stretch>
              <a:fillRect/>
            </a:stretch>
          </p:blipFill>
          <p:spPr>
            <a:xfrm rot="439889">
              <a:off x="4827741" y="1968299"/>
              <a:ext cx="3228975" cy="3667125"/>
            </a:xfrm>
            <a:prstGeom prst="rect">
              <a:avLst/>
            </a:prstGeom>
          </p:spPr>
        </p:pic>
        <p:pic>
          <p:nvPicPr>
            <p:cNvPr id="15" name="Image 14">
              <a:extLst>
                <a:ext uri="{FF2B5EF4-FFF2-40B4-BE49-F238E27FC236}">
                  <a16:creationId xmlns:a16="http://schemas.microsoft.com/office/drawing/2014/main" id="{11597A12-5C4C-896D-0EB5-45B75959C7A0}"/>
                </a:ext>
              </a:extLst>
            </p:cNvPr>
            <p:cNvPicPr>
              <a:picLocks noChangeAspect="1"/>
            </p:cNvPicPr>
            <p:nvPr/>
          </p:nvPicPr>
          <p:blipFill>
            <a:blip r:embed="rId7"/>
            <a:stretch>
              <a:fillRect/>
            </a:stretch>
          </p:blipFill>
          <p:spPr>
            <a:xfrm>
              <a:off x="4583929" y="2204536"/>
              <a:ext cx="3219450" cy="3629025"/>
            </a:xfrm>
            <a:prstGeom prst="rect">
              <a:avLst/>
            </a:prstGeom>
          </p:spPr>
        </p:pic>
      </p:grpSp>
      <p:pic>
        <p:nvPicPr>
          <p:cNvPr id="17" name="Espace réservé pour une image  16" descr="Une image contenant texte&#10;&#10;Description générée automatiquement">
            <a:extLst>
              <a:ext uri="{FF2B5EF4-FFF2-40B4-BE49-F238E27FC236}">
                <a16:creationId xmlns:a16="http://schemas.microsoft.com/office/drawing/2014/main" id="{3CB49A24-5DBB-1028-183A-DB1D3D75A5A1}"/>
              </a:ext>
            </a:extLst>
          </p:cNvPr>
          <p:cNvPicPr>
            <a:picLocks noGrp="1" noChangeAspect="1"/>
          </p:cNvPicPr>
          <p:nvPr>
            <p:ph type="pic" sz="quarter" idx="15"/>
          </p:nvPr>
        </p:nvPicPr>
        <p:blipFill>
          <a:blip r:embed="rId8" cstate="print">
            <a:extLst>
              <a:ext uri="{28A0092B-C50C-407E-A947-70E740481C1C}">
                <a14:useLocalDpi xmlns:a14="http://schemas.microsoft.com/office/drawing/2010/main"/>
              </a:ext>
            </a:extLst>
          </a:blip>
          <a:srcRect/>
          <a:stretch>
            <a:fillRect/>
          </a:stretch>
        </p:blipFill>
        <p:spPr>
          <a:xfrm rot="20739768">
            <a:off x="8742620" y="1735110"/>
            <a:ext cx="2358104" cy="2340596"/>
          </a:xfrm>
          <a:prstGeom prst="rect">
            <a:avLst/>
          </a:prstGeom>
        </p:spPr>
      </p:pic>
      <p:grpSp>
        <p:nvGrpSpPr>
          <p:cNvPr id="23" name="Groupe 22">
            <a:extLst>
              <a:ext uri="{FF2B5EF4-FFF2-40B4-BE49-F238E27FC236}">
                <a16:creationId xmlns:a16="http://schemas.microsoft.com/office/drawing/2014/main" id="{54C0958A-660B-5698-AD9D-32636B3AE305}"/>
              </a:ext>
            </a:extLst>
          </p:cNvPr>
          <p:cNvGrpSpPr/>
          <p:nvPr/>
        </p:nvGrpSpPr>
        <p:grpSpPr>
          <a:xfrm>
            <a:off x="9820716" y="3959561"/>
            <a:ext cx="1259255" cy="1359965"/>
            <a:chOff x="9279179" y="3425737"/>
            <a:chExt cx="1769876" cy="1911424"/>
          </a:xfrm>
        </p:grpSpPr>
        <p:pic>
          <p:nvPicPr>
            <p:cNvPr id="18" name="Graphique 17" descr="Personne confuse avec un remplissage uni">
              <a:extLst>
                <a:ext uri="{FF2B5EF4-FFF2-40B4-BE49-F238E27FC236}">
                  <a16:creationId xmlns:a16="http://schemas.microsoft.com/office/drawing/2014/main" id="{F2CA7063-8113-E6AF-162B-4AC651179F56}"/>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79179" y="3637909"/>
              <a:ext cx="784023" cy="784022"/>
            </a:xfrm>
            <a:prstGeom prst="rect">
              <a:avLst/>
            </a:prstGeom>
          </p:spPr>
        </p:pic>
        <p:pic>
          <p:nvPicPr>
            <p:cNvPr id="19" name="Graphique 18" descr="Personne confuse avec un remplissage uni">
              <a:extLst>
                <a:ext uri="{FF2B5EF4-FFF2-40B4-BE49-F238E27FC236}">
                  <a16:creationId xmlns:a16="http://schemas.microsoft.com/office/drawing/2014/main" id="{AD5E9D0E-E72A-D559-C3E1-981C74E5AAB8}"/>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79179" y="4438553"/>
              <a:ext cx="784023" cy="784022"/>
            </a:xfrm>
            <a:prstGeom prst="rect">
              <a:avLst/>
            </a:prstGeom>
          </p:spPr>
        </p:pic>
        <p:pic>
          <p:nvPicPr>
            <p:cNvPr id="20" name="Graphique 19" descr="Personne confuse avec un remplissage uni">
              <a:extLst>
                <a:ext uri="{FF2B5EF4-FFF2-40B4-BE49-F238E27FC236}">
                  <a16:creationId xmlns:a16="http://schemas.microsoft.com/office/drawing/2014/main" id="{2B2E8B68-6611-904A-B162-469DD8A2947F}"/>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861374" y="4553139"/>
              <a:ext cx="784023" cy="784022"/>
            </a:xfrm>
            <a:prstGeom prst="rect">
              <a:avLst/>
            </a:prstGeom>
          </p:spPr>
        </p:pic>
        <p:pic>
          <p:nvPicPr>
            <p:cNvPr id="21" name="Graphique 20" descr="Personne confuse avec un remplissage uni">
              <a:extLst>
                <a:ext uri="{FF2B5EF4-FFF2-40B4-BE49-F238E27FC236}">
                  <a16:creationId xmlns:a16="http://schemas.microsoft.com/office/drawing/2014/main" id="{2501F880-C12A-9E14-0C65-C8AFF38A2339}"/>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265032" y="3989438"/>
              <a:ext cx="784023" cy="784022"/>
            </a:xfrm>
            <a:prstGeom prst="rect">
              <a:avLst/>
            </a:prstGeom>
          </p:spPr>
        </p:pic>
        <p:pic>
          <p:nvPicPr>
            <p:cNvPr id="22" name="Graphique 21" descr="Personne confuse avec un remplissage uni">
              <a:extLst>
                <a:ext uri="{FF2B5EF4-FFF2-40B4-BE49-F238E27FC236}">
                  <a16:creationId xmlns:a16="http://schemas.microsoft.com/office/drawing/2014/main" id="{E53A20E7-AFDD-1307-809A-D0C41CD3C067}"/>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861373" y="3425737"/>
              <a:ext cx="784023" cy="784022"/>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A32D9F-A910-4E61-57F2-23CE1DEDE349}"/>
              </a:ext>
            </a:extLst>
          </p:cNvPr>
          <p:cNvSpPr>
            <a:spLocks noGrp="1"/>
          </p:cNvSpPr>
          <p:nvPr>
            <p:ph type="title"/>
          </p:nvPr>
        </p:nvSpPr>
        <p:spPr/>
        <p:txBody>
          <a:bodyPr/>
          <a:lstStyle/>
          <a:p>
            <a:r>
              <a:rPr lang="fr-FR" dirty="0"/>
              <a:t>Déroulement du jeu</a:t>
            </a:r>
          </a:p>
        </p:txBody>
      </p:sp>
      <p:sp>
        <p:nvSpPr>
          <p:cNvPr id="3" name="Espace réservé du contenu 2">
            <a:extLst>
              <a:ext uri="{FF2B5EF4-FFF2-40B4-BE49-F238E27FC236}">
                <a16:creationId xmlns:a16="http://schemas.microsoft.com/office/drawing/2014/main" id="{7E79113C-35DF-37AD-F0F5-3D39874E6140}"/>
              </a:ext>
            </a:extLst>
          </p:cNvPr>
          <p:cNvSpPr>
            <a:spLocks noGrp="1"/>
          </p:cNvSpPr>
          <p:nvPr>
            <p:ph idx="1"/>
          </p:nvPr>
        </p:nvSpPr>
        <p:spPr>
          <a:xfrm>
            <a:off x="827771" y="1858167"/>
            <a:ext cx="3440665" cy="4351338"/>
          </a:xfrm>
        </p:spPr>
        <p:txBody>
          <a:bodyPr>
            <a:normAutofit/>
          </a:bodyPr>
          <a:lstStyle/>
          <a:p>
            <a:pPr marL="0" indent="0">
              <a:buNone/>
            </a:pPr>
            <a:r>
              <a:rPr lang="fr-FR" sz="1800" dirty="0"/>
              <a:t>Vous allez découvrir</a:t>
            </a:r>
            <a:r>
              <a:rPr lang="fr-FR" sz="1800" b="1" dirty="0">
                <a:solidFill>
                  <a:srgbClr val="0683AA"/>
                </a:solidFill>
              </a:rPr>
              <a:t> </a:t>
            </a:r>
            <a:r>
              <a:rPr lang="fr-FR" sz="1800" b="1" dirty="0">
                <a:solidFill>
                  <a:srgbClr val="ED7D31"/>
                </a:solidFill>
              </a:rPr>
              <a:t>10 situations de handicap </a:t>
            </a:r>
            <a:r>
              <a:rPr lang="fr-FR" sz="1800" dirty="0"/>
              <a:t>en les simulant vous-même ou bien en les voyant simulées par vos co-équipiers.</a:t>
            </a:r>
          </a:p>
          <a:p>
            <a:pPr marL="0" indent="0">
              <a:buNone/>
            </a:pPr>
            <a:endParaRPr lang="fr-FR" sz="1800" b="1" dirty="0">
              <a:solidFill>
                <a:srgbClr val="ED7D31"/>
              </a:solidFill>
            </a:endParaRPr>
          </a:p>
          <a:p>
            <a:pPr marL="0" indent="0">
              <a:buNone/>
            </a:pPr>
            <a:r>
              <a:rPr lang="fr-FR" sz="1800" b="1" dirty="0">
                <a:solidFill>
                  <a:srgbClr val="ED7D31"/>
                </a:solidFill>
              </a:rPr>
              <a:t>4 tours</a:t>
            </a:r>
            <a:r>
              <a:rPr lang="fr-FR" sz="1800" dirty="0"/>
              <a:t> de </a:t>
            </a:r>
            <a:r>
              <a:rPr lang="fr-FR" sz="1800" dirty="0">
                <a:solidFill>
                  <a:srgbClr val="0683AA"/>
                </a:solidFill>
              </a:rPr>
              <a:t>10 min max chacun</a:t>
            </a:r>
          </a:p>
          <a:p>
            <a:pPr marL="914400" lvl="1" indent="-457200">
              <a:buAutoNum type="arabicPeriod"/>
            </a:pPr>
            <a:r>
              <a:rPr lang="fr-FR" sz="1800" dirty="0"/>
              <a:t>À 4 joueurs</a:t>
            </a:r>
          </a:p>
          <a:p>
            <a:pPr marL="914400" lvl="1" indent="-457200">
              <a:buAutoNum type="arabicPeriod"/>
            </a:pPr>
            <a:r>
              <a:rPr lang="fr-FR" sz="1800" dirty="0"/>
              <a:t>À 3 joueurs </a:t>
            </a:r>
          </a:p>
          <a:p>
            <a:pPr marL="914400" lvl="1" indent="-457200">
              <a:buAutoNum type="arabicPeriod"/>
            </a:pPr>
            <a:r>
              <a:rPr lang="fr-FR" sz="1800" dirty="0"/>
              <a:t>En binôme</a:t>
            </a:r>
          </a:p>
          <a:p>
            <a:pPr marL="914400" lvl="1" indent="-457200">
              <a:buAutoNum type="arabicPeriod"/>
            </a:pPr>
            <a:r>
              <a:rPr lang="fr-FR" sz="1800" dirty="0"/>
              <a:t>Tout(e) seul(e)</a:t>
            </a:r>
          </a:p>
        </p:txBody>
      </p:sp>
      <p:grpSp>
        <p:nvGrpSpPr>
          <p:cNvPr id="4" name="Groupe 3">
            <a:extLst>
              <a:ext uri="{FF2B5EF4-FFF2-40B4-BE49-F238E27FC236}">
                <a16:creationId xmlns:a16="http://schemas.microsoft.com/office/drawing/2014/main" id="{393E9B3C-598C-117F-19E5-1CAB62EB09C7}"/>
              </a:ext>
            </a:extLst>
          </p:cNvPr>
          <p:cNvGrpSpPr/>
          <p:nvPr/>
        </p:nvGrpSpPr>
        <p:grpSpPr>
          <a:xfrm>
            <a:off x="4976339" y="2441721"/>
            <a:ext cx="1273952" cy="1500334"/>
            <a:chOff x="9279179" y="3637909"/>
            <a:chExt cx="1359064" cy="1600571"/>
          </a:xfrm>
        </p:grpSpPr>
        <p:pic>
          <p:nvPicPr>
            <p:cNvPr id="5" name="Graphique 4" descr="Personne confuse avec un remplissage uni">
              <a:extLst>
                <a:ext uri="{FF2B5EF4-FFF2-40B4-BE49-F238E27FC236}">
                  <a16:creationId xmlns:a16="http://schemas.microsoft.com/office/drawing/2014/main" id="{CC304B92-3D55-678D-2AC2-F40AE9396AC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279179" y="3637909"/>
              <a:ext cx="784023" cy="784022"/>
            </a:xfrm>
            <a:prstGeom prst="rect">
              <a:avLst/>
            </a:prstGeom>
          </p:spPr>
        </p:pic>
        <p:pic>
          <p:nvPicPr>
            <p:cNvPr id="6" name="Graphique 5" descr="Personne confuse avec un remplissage uni">
              <a:extLst>
                <a:ext uri="{FF2B5EF4-FFF2-40B4-BE49-F238E27FC236}">
                  <a16:creationId xmlns:a16="http://schemas.microsoft.com/office/drawing/2014/main" id="{6976FAC5-DD96-5C23-96F7-7E40FAEEEDB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279179" y="4438553"/>
              <a:ext cx="784023" cy="784022"/>
            </a:xfrm>
            <a:prstGeom prst="rect">
              <a:avLst/>
            </a:prstGeom>
          </p:spPr>
        </p:pic>
        <p:pic>
          <p:nvPicPr>
            <p:cNvPr id="7" name="Graphique 6" descr="Personne confuse avec un remplissage uni">
              <a:extLst>
                <a:ext uri="{FF2B5EF4-FFF2-40B4-BE49-F238E27FC236}">
                  <a16:creationId xmlns:a16="http://schemas.microsoft.com/office/drawing/2014/main" id="{ABF203A9-0518-8705-0055-FF0FE7DE128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96062" y="4454458"/>
              <a:ext cx="784023" cy="784022"/>
            </a:xfrm>
            <a:prstGeom prst="rect">
              <a:avLst/>
            </a:prstGeom>
          </p:spPr>
        </p:pic>
        <p:pic>
          <p:nvPicPr>
            <p:cNvPr id="8" name="Graphique 7" descr="Personne confuse avec un remplissage uni">
              <a:extLst>
                <a:ext uri="{FF2B5EF4-FFF2-40B4-BE49-F238E27FC236}">
                  <a16:creationId xmlns:a16="http://schemas.microsoft.com/office/drawing/2014/main" id="{8905C691-1FD5-B2CD-F696-9CEE10B297C2}"/>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54220" y="3637909"/>
              <a:ext cx="784023" cy="784022"/>
            </a:xfrm>
            <a:prstGeom prst="rect">
              <a:avLst/>
            </a:prstGeom>
          </p:spPr>
        </p:pic>
      </p:grpSp>
      <p:grpSp>
        <p:nvGrpSpPr>
          <p:cNvPr id="9" name="Groupe 8">
            <a:extLst>
              <a:ext uri="{FF2B5EF4-FFF2-40B4-BE49-F238E27FC236}">
                <a16:creationId xmlns:a16="http://schemas.microsoft.com/office/drawing/2014/main" id="{D3A45CBF-B9E3-5AE3-1505-66920E301AA8}"/>
              </a:ext>
            </a:extLst>
          </p:cNvPr>
          <p:cNvGrpSpPr/>
          <p:nvPr/>
        </p:nvGrpSpPr>
        <p:grpSpPr>
          <a:xfrm>
            <a:off x="7061785" y="2476027"/>
            <a:ext cx="1219435" cy="1451119"/>
            <a:chOff x="9279179" y="3690410"/>
            <a:chExt cx="1300906" cy="1548070"/>
          </a:xfrm>
        </p:grpSpPr>
        <p:pic>
          <p:nvPicPr>
            <p:cNvPr id="10" name="Graphique 9" descr="Personne confuse avec un remplissage uni">
              <a:extLst>
                <a:ext uri="{FF2B5EF4-FFF2-40B4-BE49-F238E27FC236}">
                  <a16:creationId xmlns:a16="http://schemas.microsoft.com/office/drawing/2014/main" id="{83FCB770-8E02-EAD5-CB9D-995BB348F8A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279179" y="4438553"/>
              <a:ext cx="784023" cy="784022"/>
            </a:xfrm>
            <a:prstGeom prst="rect">
              <a:avLst/>
            </a:prstGeom>
          </p:spPr>
        </p:pic>
        <p:pic>
          <p:nvPicPr>
            <p:cNvPr id="11" name="Graphique 10" descr="Personne confuse avec un remplissage uni">
              <a:extLst>
                <a:ext uri="{FF2B5EF4-FFF2-40B4-BE49-F238E27FC236}">
                  <a16:creationId xmlns:a16="http://schemas.microsoft.com/office/drawing/2014/main" id="{D3702070-906A-596A-13D2-335320A1FEA2}"/>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96062" y="4454458"/>
              <a:ext cx="784023" cy="784022"/>
            </a:xfrm>
            <a:prstGeom prst="rect">
              <a:avLst/>
            </a:prstGeom>
          </p:spPr>
        </p:pic>
        <p:pic>
          <p:nvPicPr>
            <p:cNvPr id="12" name="Graphique 11" descr="Personne confuse avec un remplissage uni">
              <a:extLst>
                <a:ext uri="{FF2B5EF4-FFF2-40B4-BE49-F238E27FC236}">
                  <a16:creationId xmlns:a16="http://schemas.microsoft.com/office/drawing/2014/main" id="{3FE2F4CF-5108-54A6-A6D2-85A13D7A00B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53067" y="3690410"/>
              <a:ext cx="784023" cy="784021"/>
            </a:xfrm>
            <a:prstGeom prst="rect">
              <a:avLst/>
            </a:prstGeom>
          </p:spPr>
        </p:pic>
      </p:grpSp>
      <p:grpSp>
        <p:nvGrpSpPr>
          <p:cNvPr id="13" name="Groupe 12">
            <a:extLst>
              <a:ext uri="{FF2B5EF4-FFF2-40B4-BE49-F238E27FC236}">
                <a16:creationId xmlns:a16="http://schemas.microsoft.com/office/drawing/2014/main" id="{1B9BFB6D-9101-E976-6445-D0C29C151359}"/>
              </a:ext>
            </a:extLst>
          </p:cNvPr>
          <p:cNvGrpSpPr/>
          <p:nvPr/>
        </p:nvGrpSpPr>
        <p:grpSpPr>
          <a:xfrm>
            <a:off x="8907517" y="2903006"/>
            <a:ext cx="1219435" cy="749830"/>
            <a:chOff x="9279179" y="4438553"/>
            <a:chExt cx="1300906" cy="799927"/>
          </a:xfrm>
        </p:grpSpPr>
        <p:pic>
          <p:nvPicPr>
            <p:cNvPr id="14" name="Graphique 13" descr="Personne confuse avec un remplissage uni">
              <a:extLst>
                <a:ext uri="{FF2B5EF4-FFF2-40B4-BE49-F238E27FC236}">
                  <a16:creationId xmlns:a16="http://schemas.microsoft.com/office/drawing/2014/main" id="{F812F942-706D-6B77-AE89-7AE1D7007C5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279179" y="4438553"/>
              <a:ext cx="784023" cy="784022"/>
            </a:xfrm>
            <a:prstGeom prst="rect">
              <a:avLst/>
            </a:prstGeom>
          </p:spPr>
        </p:pic>
        <p:pic>
          <p:nvPicPr>
            <p:cNvPr id="15" name="Graphique 14" descr="Personne confuse avec un remplissage uni">
              <a:extLst>
                <a:ext uri="{FF2B5EF4-FFF2-40B4-BE49-F238E27FC236}">
                  <a16:creationId xmlns:a16="http://schemas.microsoft.com/office/drawing/2014/main" id="{6C6609EA-5F9A-2520-6952-8668DC508CE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96062" y="4454458"/>
              <a:ext cx="784023" cy="784022"/>
            </a:xfrm>
            <a:prstGeom prst="rect">
              <a:avLst/>
            </a:prstGeom>
          </p:spPr>
        </p:pic>
      </p:grpSp>
      <p:pic>
        <p:nvPicPr>
          <p:cNvPr id="16" name="Graphique 15" descr="Personne confuse avec un remplissage uni">
            <a:extLst>
              <a:ext uri="{FF2B5EF4-FFF2-40B4-BE49-F238E27FC236}">
                <a16:creationId xmlns:a16="http://schemas.microsoft.com/office/drawing/2014/main" id="{165FF955-909A-380C-C3F2-DC04B48266F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38446" y="2988890"/>
            <a:ext cx="734922" cy="734920"/>
          </a:xfrm>
          <a:prstGeom prst="rect">
            <a:avLst/>
          </a:prstGeom>
        </p:spPr>
      </p:pic>
      <p:sp>
        <p:nvSpPr>
          <p:cNvPr id="19" name="ZoneTexte 18">
            <a:extLst>
              <a:ext uri="{FF2B5EF4-FFF2-40B4-BE49-F238E27FC236}">
                <a16:creationId xmlns:a16="http://schemas.microsoft.com/office/drawing/2014/main" id="{6536199A-454B-FC09-9C20-F37E6467ECA2}"/>
              </a:ext>
            </a:extLst>
          </p:cNvPr>
          <p:cNvSpPr txBox="1"/>
          <p:nvPr/>
        </p:nvSpPr>
        <p:spPr>
          <a:xfrm>
            <a:off x="4927543" y="4097178"/>
            <a:ext cx="1344731" cy="923330"/>
          </a:xfrm>
          <a:prstGeom prst="rect">
            <a:avLst/>
          </a:prstGeom>
          <a:noFill/>
        </p:spPr>
        <p:txBody>
          <a:bodyPr wrap="square">
            <a:spAutoFit/>
          </a:bodyPr>
          <a:lstStyle/>
          <a:p>
            <a:pPr algn="ctr"/>
            <a:r>
              <a:rPr lang="fr-FR" dirty="0"/>
              <a:t>1</a:t>
            </a:r>
            <a:r>
              <a:rPr lang="fr-FR" baseline="30000" dirty="0"/>
              <a:t>er</a:t>
            </a:r>
            <a:r>
              <a:rPr lang="fr-FR" dirty="0"/>
              <a:t> tour,</a:t>
            </a:r>
          </a:p>
          <a:p>
            <a:pPr algn="ctr"/>
            <a:r>
              <a:rPr lang="fr-FR" dirty="0"/>
              <a:t>4 joueurs</a:t>
            </a:r>
          </a:p>
          <a:p>
            <a:pPr algn="ctr"/>
            <a:r>
              <a:rPr lang="fr-FR" dirty="0"/>
              <a:t>4 situations</a:t>
            </a:r>
          </a:p>
        </p:txBody>
      </p:sp>
      <p:sp>
        <p:nvSpPr>
          <p:cNvPr id="20" name="ZoneTexte 19">
            <a:extLst>
              <a:ext uri="{FF2B5EF4-FFF2-40B4-BE49-F238E27FC236}">
                <a16:creationId xmlns:a16="http://schemas.microsoft.com/office/drawing/2014/main" id="{EFC38623-F528-3EE8-0CBC-C894D13B4050}"/>
              </a:ext>
            </a:extLst>
          </p:cNvPr>
          <p:cNvSpPr txBox="1"/>
          <p:nvPr/>
        </p:nvSpPr>
        <p:spPr>
          <a:xfrm>
            <a:off x="6873932" y="4097178"/>
            <a:ext cx="1344731" cy="923330"/>
          </a:xfrm>
          <a:prstGeom prst="rect">
            <a:avLst/>
          </a:prstGeom>
          <a:noFill/>
        </p:spPr>
        <p:txBody>
          <a:bodyPr wrap="square">
            <a:spAutoFit/>
          </a:bodyPr>
          <a:lstStyle/>
          <a:p>
            <a:pPr algn="ctr"/>
            <a:r>
              <a:rPr lang="fr-FR" dirty="0"/>
              <a:t>2</a:t>
            </a:r>
            <a:r>
              <a:rPr lang="fr-FR" baseline="30000" dirty="0"/>
              <a:t>e</a:t>
            </a:r>
            <a:r>
              <a:rPr lang="fr-FR" dirty="0"/>
              <a:t> tour,</a:t>
            </a:r>
          </a:p>
          <a:p>
            <a:pPr algn="ctr"/>
            <a:r>
              <a:rPr lang="fr-FR" dirty="0"/>
              <a:t>3 joueurs</a:t>
            </a:r>
          </a:p>
          <a:p>
            <a:pPr algn="ctr"/>
            <a:r>
              <a:rPr lang="fr-FR" dirty="0"/>
              <a:t>3 situations</a:t>
            </a:r>
          </a:p>
        </p:txBody>
      </p:sp>
      <p:sp>
        <p:nvSpPr>
          <p:cNvPr id="21" name="ZoneTexte 20">
            <a:extLst>
              <a:ext uri="{FF2B5EF4-FFF2-40B4-BE49-F238E27FC236}">
                <a16:creationId xmlns:a16="http://schemas.microsoft.com/office/drawing/2014/main" id="{9D0D0C3D-270E-E591-61AB-8897CDDCF661}"/>
              </a:ext>
            </a:extLst>
          </p:cNvPr>
          <p:cNvSpPr txBox="1"/>
          <p:nvPr/>
        </p:nvSpPr>
        <p:spPr>
          <a:xfrm>
            <a:off x="8782221" y="4111521"/>
            <a:ext cx="1344731" cy="923330"/>
          </a:xfrm>
          <a:prstGeom prst="rect">
            <a:avLst/>
          </a:prstGeom>
          <a:noFill/>
        </p:spPr>
        <p:txBody>
          <a:bodyPr wrap="square">
            <a:spAutoFit/>
          </a:bodyPr>
          <a:lstStyle/>
          <a:p>
            <a:pPr algn="ctr"/>
            <a:r>
              <a:rPr lang="fr-FR" dirty="0"/>
              <a:t>3</a:t>
            </a:r>
            <a:r>
              <a:rPr lang="fr-FR" baseline="30000" dirty="0"/>
              <a:t>e</a:t>
            </a:r>
            <a:r>
              <a:rPr lang="fr-FR" dirty="0"/>
              <a:t> tour,</a:t>
            </a:r>
          </a:p>
          <a:p>
            <a:pPr algn="ctr"/>
            <a:r>
              <a:rPr lang="fr-FR" dirty="0"/>
              <a:t>2 joueurs</a:t>
            </a:r>
          </a:p>
          <a:p>
            <a:pPr algn="ctr"/>
            <a:r>
              <a:rPr lang="fr-FR" dirty="0"/>
              <a:t>2 situations</a:t>
            </a:r>
          </a:p>
        </p:txBody>
      </p:sp>
      <p:sp>
        <p:nvSpPr>
          <p:cNvPr id="22" name="ZoneTexte 21">
            <a:extLst>
              <a:ext uri="{FF2B5EF4-FFF2-40B4-BE49-F238E27FC236}">
                <a16:creationId xmlns:a16="http://schemas.microsoft.com/office/drawing/2014/main" id="{98BD93EA-436D-B086-938B-9761FC49C381}"/>
              </a:ext>
            </a:extLst>
          </p:cNvPr>
          <p:cNvSpPr txBox="1"/>
          <p:nvPr/>
        </p:nvSpPr>
        <p:spPr>
          <a:xfrm>
            <a:off x="10633541" y="4097178"/>
            <a:ext cx="1344731" cy="923330"/>
          </a:xfrm>
          <a:prstGeom prst="rect">
            <a:avLst/>
          </a:prstGeom>
          <a:noFill/>
        </p:spPr>
        <p:txBody>
          <a:bodyPr wrap="square">
            <a:spAutoFit/>
          </a:bodyPr>
          <a:lstStyle/>
          <a:p>
            <a:pPr algn="ctr"/>
            <a:r>
              <a:rPr lang="fr-FR" dirty="0"/>
              <a:t>4</a:t>
            </a:r>
            <a:r>
              <a:rPr lang="fr-FR" baseline="30000" dirty="0"/>
              <a:t>e</a:t>
            </a:r>
            <a:r>
              <a:rPr lang="fr-FR" dirty="0"/>
              <a:t> tour,</a:t>
            </a:r>
          </a:p>
          <a:p>
            <a:pPr algn="ctr"/>
            <a:r>
              <a:rPr lang="fr-FR" dirty="0"/>
              <a:t>1 joueur</a:t>
            </a:r>
          </a:p>
          <a:p>
            <a:pPr algn="ctr"/>
            <a:r>
              <a:rPr lang="fr-FR" dirty="0"/>
              <a:t>1 situation</a:t>
            </a:r>
          </a:p>
        </p:txBody>
      </p:sp>
    </p:spTree>
    <p:extLst>
      <p:ext uri="{BB962C8B-B14F-4D97-AF65-F5344CB8AC3E}">
        <p14:creationId xmlns:p14="http://schemas.microsoft.com/office/powerpoint/2010/main" val="2500518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A32D9F-A910-4E61-57F2-23CE1DEDE349}"/>
              </a:ext>
            </a:extLst>
          </p:cNvPr>
          <p:cNvSpPr>
            <a:spLocks noGrp="1"/>
          </p:cNvSpPr>
          <p:nvPr>
            <p:ph type="title"/>
          </p:nvPr>
        </p:nvSpPr>
        <p:spPr>
          <a:xfrm>
            <a:off x="838200" y="365126"/>
            <a:ext cx="10515600" cy="926594"/>
          </a:xfrm>
        </p:spPr>
        <p:txBody>
          <a:bodyPr>
            <a:normAutofit fontScale="90000"/>
          </a:bodyPr>
          <a:lstStyle/>
          <a:p>
            <a:r>
              <a:rPr lang="fr-FR" sz="3200" dirty="0"/>
              <a:t>Déroulement de chaque tour</a:t>
            </a:r>
            <a:br>
              <a:rPr lang="fr-FR" sz="3200" dirty="0"/>
            </a:br>
            <a:r>
              <a:rPr lang="fr-FR" sz="3200" dirty="0"/>
              <a:t>10’ max par tour</a:t>
            </a:r>
          </a:p>
        </p:txBody>
      </p:sp>
      <p:grpSp>
        <p:nvGrpSpPr>
          <p:cNvPr id="3" name="Groupe 2">
            <a:extLst>
              <a:ext uri="{FF2B5EF4-FFF2-40B4-BE49-F238E27FC236}">
                <a16:creationId xmlns:a16="http://schemas.microsoft.com/office/drawing/2014/main" id="{380D7F16-8F7D-0FC1-AF65-AFDF6E4B398E}"/>
              </a:ext>
            </a:extLst>
          </p:cNvPr>
          <p:cNvGrpSpPr/>
          <p:nvPr/>
        </p:nvGrpSpPr>
        <p:grpSpPr>
          <a:xfrm>
            <a:off x="4494390" y="4666807"/>
            <a:ext cx="1082691" cy="1143973"/>
            <a:chOff x="9279179" y="3662483"/>
            <a:chExt cx="1503568" cy="1588673"/>
          </a:xfrm>
        </p:grpSpPr>
        <p:pic>
          <p:nvPicPr>
            <p:cNvPr id="5" name="Graphique 4" descr="Personne confuse avec un remplissage uni">
              <a:extLst>
                <a:ext uri="{FF2B5EF4-FFF2-40B4-BE49-F238E27FC236}">
                  <a16:creationId xmlns:a16="http://schemas.microsoft.com/office/drawing/2014/main" id="{E5C1EF6C-2C9A-D874-C322-9E89B954BD8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12721" y="3662483"/>
              <a:ext cx="784023" cy="784022"/>
            </a:xfrm>
            <a:prstGeom prst="rect">
              <a:avLst/>
            </a:prstGeom>
          </p:spPr>
        </p:pic>
        <p:pic>
          <p:nvPicPr>
            <p:cNvPr id="7" name="Graphique 6" descr="Personne confuse avec un remplissage uni">
              <a:extLst>
                <a:ext uri="{FF2B5EF4-FFF2-40B4-BE49-F238E27FC236}">
                  <a16:creationId xmlns:a16="http://schemas.microsoft.com/office/drawing/2014/main" id="{B2A31B36-5ACF-B370-4FEE-06F7007425B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279179" y="4438553"/>
              <a:ext cx="784023" cy="784022"/>
            </a:xfrm>
            <a:prstGeom prst="rect">
              <a:avLst/>
            </a:prstGeom>
          </p:spPr>
        </p:pic>
        <p:pic>
          <p:nvPicPr>
            <p:cNvPr id="8" name="Graphique 7" descr="Personne confuse avec un remplissage uni">
              <a:extLst>
                <a:ext uri="{FF2B5EF4-FFF2-40B4-BE49-F238E27FC236}">
                  <a16:creationId xmlns:a16="http://schemas.microsoft.com/office/drawing/2014/main" id="{D9B99557-3A43-73FB-B777-B9B759329D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998724" y="4467134"/>
              <a:ext cx="784023" cy="784022"/>
            </a:xfrm>
            <a:prstGeom prst="rect">
              <a:avLst/>
            </a:prstGeom>
          </p:spPr>
        </p:pic>
      </p:grpSp>
      <p:pic>
        <p:nvPicPr>
          <p:cNvPr id="10" name="Image 9">
            <a:extLst>
              <a:ext uri="{FF2B5EF4-FFF2-40B4-BE49-F238E27FC236}">
                <a16:creationId xmlns:a16="http://schemas.microsoft.com/office/drawing/2014/main" id="{C69C8357-D621-6841-2D6F-0F131491CE2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53963" y="4495430"/>
            <a:ext cx="1414084" cy="1593982"/>
          </a:xfrm>
          <a:prstGeom prst="rect">
            <a:avLst/>
          </a:prstGeom>
        </p:spPr>
      </p:pic>
      <p:pic>
        <p:nvPicPr>
          <p:cNvPr id="12" name="Image 11">
            <a:extLst>
              <a:ext uri="{FF2B5EF4-FFF2-40B4-BE49-F238E27FC236}">
                <a16:creationId xmlns:a16="http://schemas.microsoft.com/office/drawing/2014/main" id="{55D41458-DBBE-E586-B358-6C2BD30BCB8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091973" y="4371286"/>
            <a:ext cx="497180" cy="561332"/>
          </a:xfrm>
          <a:prstGeom prst="rect">
            <a:avLst/>
          </a:prstGeom>
        </p:spPr>
      </p:pic>
      <p:pic>
        <p:nvPicPr>
          <p:cNvPr id="13" name="Image 12">
            <a:extLst>
              <a:ext uri="{FF2B5EF4-FFF2-40B4-BE49-F238E27FC236}">
                <a16:creationId xmlns:a16="http://schemas.microsoft.com/office/drawing/2014/main" id="{CBDC4961-A8A0-58BC-1EAD-1048344F5276}"/>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1278916">
            <a:off x="4141013" y="5132774"/>
            <a:ext cx="496061" cy="561332"/>
          </a:xfrm>
          <a:prstGeom prst="rect">
            <a:avLst/>
          </a:prstGeom>
        </p:spPr>
      </p:pic>
      <p:pic>
        <p:nvPicPr>
          <p:cNvPr id="14" name="Image 13">
            <a:extLst>
              <a:ext uri="{FF2B5EF4-FFF2-40B4-BE49-F238E27FC236}">
                <a16:creationId xmlns:a16="http://schemas.microsoft.com/office/drawing/2014/main" id="{2221C145-50F8-9003-A86E-F008C651C581}"/>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443922" y="5110866"/>
            <a:ext cx="488808" cy="561332"/>
          </a:xfrm>
          <a:prstGeom prst="rect">
            <a:avLst/>
          </a:prstGeom>
        </p:spPr>
      </p:pic>
      <p:sp>
        <p:nvSpPr>
          <p:cNvPr id="16" name="ZoneTexte 15">
            <a:extLst>
              <a:ext uri="{FF2B5EF4-FFF2-40B4-BE49-F238E27FC236}">
                <a16:creationId xmlns:a16="http://schemas.microsoft.com/office/drawing/2014/main" id="{A017D091-9E7C-3B4E-5795-73D3F534BCC1}"/>
              </a:ext>
            </a:extLst>
          </p:cNvPr>
          <p:cNvSpPr txBox="1"/>
          <p:nvPr/>
        </p:nvSpPr>
        <p:spPr>
          <a:xfrm>
            <a:off x="156418" y="2551837"/>
            <a:ext cx="1270708" cy="1754326"/>
          </a:xfrm>
          <a:prstGeom prst="rect">
            <a:avLst/>
          </a:prstGeom>
          <a:noFill/>
        </p:spPr>
        <p:txBody>
          <a:bodyPr wrap="square">
            <a:spAutoFit/>
          </a:bodyPr>
          <a:lstStyle/>
          <a:p>
            <a:pPr algn="ctr"/>
            <a:r>
              <a:rPr lang="fr-FR" sz="1800" dirty="0"/>
              <a:t>Composer une équipe (elles changent à chaque tour)</a:t>
            </a:r>
          </a:p>
        </p:txBody>
      </p:sp>
      <p:grpSp>
        <p:nvGrpSpPr>
          <p:cNvPr id="17" name="Groupe 16">
            <a:extLst>
              <a:ext uri="{FF2B5EF4-FFF2-40B4-BE49-F238E27FC236}">
                <a16:creationId xmlns:a16="http://schemas.microsoft.com/office/drawing/2014/main" id="{65A071B6-66EA-BEE4-DAD9-8FB7D372629B}"/>
              </a:ext>
            </a:extLst>
          </p:cNvPr>
          <p:cNvGrpSpPr/>
          <p:nvPr/>
        </p:nvGrpSpPr>
        <p:grpSpPr>
          <a:xfrm>
            <a:off x="134050" y="4583162"/>
            <a:ext cx="1372533" cy="1424259"/>
            <a:chOff x="9097151" y="3248230"/>
            <a:chExt cx="1906081" cy="1977916"/>
          </a:xfrm>
        </p:grpSpPr>
        <p:pic>
          <p:nvPicPr>
            <p:cNvPr id="18" name="Graphique 17" descr="Personne confuse avec un remplissage uni">
              <a:extLst>
                <a:ext uri="{FF2B5EF4-FFF2-40B4-BE49-F238E27FC236}">
                  <a16:creationId xmlns:a16="http://schemas.microsoft.com/office/drawing/2014/main" id="{4C05F47C-5443-C1C7-441A-CF334BA1F2E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71190" y="3248230"/>
              <a:ext cx="784023" cy="784022"/>
            </a:xfrm>
            <a:prstGeom prst="rect">
              <a:avLst/>
            </a:prstGeom>
          </p:spPr>
        </p:pic>
        <p:pic>
          <p:nvPicPr>
            <p:cNvPr id="19" name="Graphique 18" descr="Personne confuse avec un remplissage uni">
              <a:extLst>
                <a:ext uri="{FF2B5EF4-FFF2-40B4-BE49-F238E27FC236}">
                  <a16:creationId xmlns:a16="http://schemas.microsoft.com/office/drawing/2014/main" id="{FF591859-B084-535F-3F9A-677CB0E612F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097151" y="4442124"/>
              <a:ext cx="784023" cy="784022"/>
            </a:xfrm>
            <a:prstGeom prst="rect">
              <a:avLst/>
            </a:prstGeom>
          </p:spPr>
        </p:pic>
        <p:pic>
          <p:nvPicPr>
            <p:cNvPr id="20" name="Graphique 19" descr="Personne confuse avec un remplissage uni">
              <a:extLst>
                <a:ext uri="{FF2B5EF4-FFF2-40B4-BE49-F238E27FC236}">
                  <a16:creationId xmlns:a16="http://schemas.microsoft.com/office/drawing/2014/main" id="{4030A583-64E2-118C-4334-972281D5300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19209" y="4431441"/>
              <a:ext cx="784023" cy="784021"/>
            </a:xfrm>
            <a:prstGeom prst="rect">
              <a:avLst/>
            </a:prstGeom>
          </p:spPr>
        </p:pic>
      </p:grpSp>
      <p:sp>
        <p:nvSpPr>
          <p:cNvPr id="22" name="ZoneTexte 21">
            <a:extLst>
              <a:ext uri="{FF2B5EF4-FFF2-40B4-BE49-F238E27FC236}">
                <a16:creationId xmlns:a16="http://schemas.microsoft.com/office/drawing/2014/main" id="{258C6338-D277-60B0-34A6-6B2EAB89C99C}"/>
              </a:ext>
            </a:extLst>
          </p:cNvPr>
          <p:cNvSpPr txBox="1"/>
          <p:nvPr/>
        </p:nvSpPr>
        <p:spPr>
          <a:xfrm>
            <a:off x="1978735" y="2551837"/>
            <a:ext cx="1758516" cy="1754326"/>
          </a:xfrm>
          <a:prstGeom prst="rect">
            <a:avLst/>
          </a:prstGeom>
          <a:noFill/>
        </p:spPr>
        <p:txBody>
          <a:bodyPr wrap="square">
            <a:spAutoFit/>
          </a:bodyPr>
          <a:lstStyle/>
          <a:p>
            <a:pPr algn="ctr"/>
            <a:r>
              <a:rPr lang="fr-FR" sz="1800" dirty="0"/>
              <a:t>Piocher une épreuve collective (tours à plusieurs) ou individuel (dernier tour)</a:t>
            </a:r>
          </a:p>
        </p:txBody>
      </p:sp>
      <p:sp>
        <p:nvSpPr>
          <p:cNvPr id="23" name="Flèche : droite 22">
            <a:extLst>
              <a:ext uri="{FF2B5EF4-FFF2-40B4-BE49-F238E27FC236}">
                <a16:creationId xmlns:a16="http://schemas.microsoft.com/office/drawing/2014/main" id="{41C357CE-5F74-B670-C29B-1FA6B6477D6E}"/>
              </a:ext>
            </a:extLst>
          </p:cNvPr>
          <p:cNvSpPr/>
          <p:nvPr/>
        </p:nvSpPr>
        <p:spPr>
          <a:xfrm>
            <a:off x="1438395" y="2933313"/>
            <a:ext cx="497180" cy="6341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Flèche : droite 23">
            <a:extLst>
              <a:ext uri="{FF2B5EF4-FFF2-40B4-BE49-F238E27FC236}">
                <a16:creationId xmlns:a16="http://schemas.microsoft.com/office/drawing/2014/main" id="{E8CB041E-31C1-3AFD-87A1-33140C8680D4}"/>
              </a:ext>
            </a:extLst>
          </p:cNvPr>
          <p:cNvSpPr/>
          <p:nvPr/>
        </p:nvSpPr>
        <p:spPr>
          <a:xfrm>
            <a:off x="3753001" y="2933313"/>
            <a:ext cx="497180" cy="6341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5CF3F901-7AB0-4ABA-15B9-B7AD75A23785}"/>
              </a:ext>
            </a:extLst>
          </p:cNvPr>
          <p:cNvSpPr txBox="1"/>
          <p:nvPr/>
        </p:nvSpPr>
        <p:spPr>
          <a:xfrm>
            <a:off x="4288860" y="2551837"/>
            <a:ext cx="1306470" cy="1200329"/>
          </a:xfrm>
          <a:prstGeom prst="rect">
            <a:avLst/>
          </a:prstGeom>
          <a:noFill/>
        </p:spPr>
        <p:txBody>
          <a:bodyPr wrap="square">
            <a:spAutoFit/>
          </a:bodyPr>
          <a:lstStyle/>
          <a:p>
            <a:pPr algn="ctr"/>
            <a:r>
              <a:rPr lang="fr-FR" sz="1800" dirty="0"/>
              <a:t>Piocher une situation de handicap chacun</a:t>
            </a:r>
          </a:p>
        </p:txBody>
      </p:sp>
      <p:sp>
        <p:nvSpPr>
          <p:cNvPr id="27" name="Flèche : droite 26">
            <a:extLst>
              <a:ext uri="{FF2B5EF4-FFF2-40B4-BE49-F238E27FC236}">
                <a16:creationId xmlns:a16="http://schemas.microsoft.com/office/drawing/2014/main" id="{A321B1D8-A242-A75D-CF8D-849734E2786A}"/>
              </a:ext>
            </a:extLst>
          </p:cNvPr>
          <p:cNvSpPr/>
          <p:nvPr/>
        </p:nvSpPr>
        <p:spPr>
          <a:xfrm>
            <a:off x="5661223" y="2933313"/>
            <a:ext cx="497180" cy="6341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2AAC3F25-824B-7377-E823-EAA2BBA511FF}"/>
              </a:ext>
            </a:extLst>
          </p:cNvPr>
          <p:cNvSpPr txBox="1"/>
          <p:nvPr/>
        </p:nvSpPr>
        <p:spPr>
          <a:xfrm>
            <a:off x="6146939" y="2551837"/>
            <a:ext cx="1639986" cy="1754326"/>
          </a:xfrm>
          <a:prstGeom prst="rect">
            <a:avLst/>
          </a:prstGeom>
          <a:noFill/>
        </p:spPr>
        <p:txBody>
          <a:bodyPr wrap="square">
            <a:spAutoFit/>
          </a:bodyPr>
          <a:lstStyle/>
          <a:p>
            <a:pPr algn="ctr"/>
            <a:r>
              <a:rPr lang="fr-FR" sz="1800" dirty="0"/>
              <a:t>Vivre l’épreuve en </a:t>
            </a:r>
            <a:r>
              <a:rPr lang="fr-FR" b="1" dirty="0">
                <a:solidFill>
                  <a:srgbClr val="ED7D31"/>
                </a:solidFill>
              </a:rPr>
              <a:t>10</a:t>
            </a:r>
            <a:r>
              <a:rPr lang="fr-FR" sz="1800" b="1" dirty="0">
                <a:solidFill>
                  <a:srgbClr val="ED7D31"/>
                </a:solidFill>
              </a:rPr>
              <a:t> minutes max </a:t>
            </a:r>
            <a:r>
              <a:rPr lang="fr-FR" sz="1800" dirty="0"/>
              <a:t>(tours collectifs) </a:t>
            </a:r>
            <a:r>
              <a:rPr lang="fr-FR" sz="1800" b="1" dirty="0">
                <a:solidFill>
                  <a:srgbClr val="ED7D31"/>
                </a:solidFill>
              </a:rPr>
              <a:t>et 3 </a:t>
            </a:r>
            <a:r>
              <a:rPr lang="fr-FR" sz="1800" dirty="0"/>
              <a:t>pour le tour individuel</a:t>
            </a:r>
          </a:p>
        </p:txBody>
      </p:sp>
      <p:pic>
        <p:nvPicPr>
          <p:cNvPr id="31" name="Graphique 30" descr="Chronomètre contour">
            <a:extLst>
              <a:ext uri="{FF2B5EF4-FFF2-40B4-BE49-F238E27FC236}">
                <a16:creationId xmlns:a16="http://schemas.microsoft.com/office/drawing/2014/main" id="{B1B55709-0029-EDFF-57BF-7A11F387255F}"/>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559885" y="4593519"/>
            <a:ext cx="914400" cy="914400"/>
          </a:xfrm>
          <a:prstGeom prst="rect">
            <a:avLst/>
          </a:prstGeom>
        </p:spPr>
      </p:pic>
      <p:sp>
        <p:nvSpPr>
          <p:cNvPr id="32" name="ZoneTexte 31">
            <a:extLst>
              <a:ext uri="{FF2B5EF4-FFF2-40B4-BE49-F238E27FC236}">
                <a16:creationId xmlns:a16="http://schemas.microsoft.com/office/drawing/2014/main" id="{974EDEDD-1A5B-AABA-A976-B8C4CE346486}"/>
              </a:ext>
            </a:extLst>
          </p:cNvPr>
          <p:cNvSpPr txBox="1"/>
          <p:nvPr/>
        </p:nvSpPr>
        <p:spPr>
          <a:xfrm>
            <a:off x="6732396" y="5454260"/>
            <a:ext cx="569378" cy="369332"/>
          </a:xfrm>
          <a:prstGeom prst="rect">
            <a:avLst/>
          </a:prstGeom>
          <a:noFill/>
        </p:spPr>
        <p:txBody>
          <a:bodyPr wrap="square">
            <a:spAutoFit/>
          </a:bodyPr>
          <a:lstStyle/>
          <a:p>
            <a:pPr algn="ctr"/>
            <a:r>
              <a:rPr lang="fr-FR" b="1" dirty="0">
                <a:solidFill>
                  <a:srgbClr val="ED7D31"/>
                </a:solidFill>
              </a:rPr>
              <a:t>10</a:t>
            </a:r>
            <a:r>
              <a:rPr lang="fr-FR" sz="1800" b="1" dirty="0">
                <a:solidFill>
                  <a:srgbClr val="ED7D31"/>
                </a:solidFill>
              </a:rPr>
              <a:t>‘</a:t>
            </a:r>
          </a:p>
        </p:txBody>
      </p:sp>
      <p:sp>
        <p:nvSpPr>
          <p:cNvPr id="33" name="Flèche : droite 32">
            <a:extLst>
              <a:ext uri="{FF2B5EF4-FFF2-40B4-BE49-F238E27FC236}">
                <a16:creationId xmlns:a16="http://schemas.microsoft.com/office/drawing/2014/main" id="{ED70F9D3-DDB3-2F24-4056-5BD659434E14}"/>
              </a:ext>
            </a:extLst>
          </p:cNvPr>
          <p:cNvSpPr/>
          <p:nvPr/>
        </p:nvSpPr>
        <p:spPr>
          <a:xfrm>
            <a:off x="7824557" y="2933313"/>
            <a:ext cx="497180" cy="6341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a:extLst>
              <a:ext uri="{FF2B5EF4-FFF2-40B4-BE49-F238E27FC236}">
                <a16:creationId xmlns:a16="http://schemas.microsoft.com/office/drawing/2014/main" id="{816CFA88-137A-CD3F-DB6B-13C0F881A5F5}"/>
              </a:ext>
            </a:extLst>
          </p:cNvPr>
          <p:cNvSpPr txBox="1"/>
          <p:nvPr/>
        </p:nvSpPr>
        <p:spPr>
          <a:xfrm>
            <a:off x="8338534" y="2551837"/>
            <a:ext cx="1474120" cy="1477328"/>
          </a:xfrm>
          <a:prstGeom prst="rect">
            <a:avLst/>
          </a:prstGeom>
          <a:noFill/>
        </p:spPr>
        <p:txBody>
          <a:bodyPr wrap="square">
            <a:spAutoFit/>
          </a:bodyPr>
          <a:lstStyle/>
          <a:p>
            <a:pPr algn="ctr"/>
            <a:r>
              <a:rPr lang="fr-FR" sz="1800" dirty="0"/>
              <a:t>Revenir dans la salle et rapporter les cartes dans les pioches</a:t>
            </a:r>
          </a:p>
        </p:txBody>
      </p:sp>
      <p:sp>
        <p:nvSpPr>
          <p:cNvPr id="36" name="Flèche : droite 35">
            <a:extLst>
              <a:ext uri="{FF2B5EF4-FFF2-40B4-BE49-F238E27FC236}">
                <a16:creationId xmlns:a16="http://schemas.microsoft.com/office/drawing/2014/main" id="{33D616C8-9105-F6DA-FB49-AEAFBBBF8EDD}"/>
              </a:ext>
            </a:extLst>
          </p:cNvPr>
          <p:cNvSpPr/>
          <p:nvPr/>
        </p:nvSpPr>
        <p:spPr>
          <a:xfrm>
            <a:off x="9872131" y="2933313"/>
            <a:ext cx="497180" cy="6341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a:extLst>
              <a:ext uri="{FF2B5EF4-FFF2-40B4-BE49-F238E27FC236}">
                <a16:creationId xmlns:a16="http://schemas.microsoft.com/office/drawing/2014/main" id="{E34CB6B0-374B-12A4-0387-C49F1F604790}"/>
              </a:ext>
            </a:extLst>
          </p:cNvPr>
          <p:cNvSpPr txBox="1"/>
          <p:nvPr/>
        </p:nvSpPr>
        <p:spPr>
          <a:xfrm>
            <a:off x="10364265" y="2551837"/>
            <a:ext cx="1827735" cy="2031325"/>
          </a:xfrm>
          <a:prstGeom prst="rect">
            <a:avLst/>
          </a:prstGeom>
          <a:noFill/>
        </p:spPr>
        <p:txBody>
          <a:bodyPr wrap="square">
            <a:spAutoFit/>
          </a:bodyPr>
          <a:lstStyle/>
          <a:p>
            <a:pPr algn="ctr"/>
            <a:r>
              <a:rPr lang="fr-FR" sz="1800" dirty="0"/>
              <a:t>En attendant le prochain tour, s’il vous reste du temps, discuter entre vous des difficultés / facilités</a:t>
            </a:r>
          </a:p>
        </p:txBody>
      </p:sp>
      <p:grpSp>
        <p:nvGrpSpPr>
          <p:cNvPr id="39" name="Groupe 38">
            <a:extLst>
              <a:ext uri="{FF2B5EF4-FFF2-40B4-BE49-F238E27FC236}">
                <a16:creationId xmlns:a16="http://schemas.microsoft.com/office/drawing/2014/main" id="{99D632D0-AB70-CC82-7CD5-EC9347417C6E}"/>
              </a:ext>
            </a:extLst>
          </p:cNvPr>
          <p:cNvGrpSpPr/>
          <p:nvPr/>
        </p:nvGrpSpPr>
        <p:grpSpPr>
          <a:xfrm>
            <a:off x="10591865" y="4569310"/>
            <a:ext cx="1372533" cy="1424259"/>
            <a:chOff x="9097151" y="3248230"/>
            <a:chExt cx="1906081" cy="1977916"/>
          </a:xfrm>
        </p:grpSpPr>
        <p:pic>
          <p:nvPicPr>
            <p:cNvPr id="40" name="Graphique 39" descr="Personne confuse avec un remplissage uni">
              <a:extLst>
                <a:ext uri="{FF2B5EF4-FFF2-40B4-BE49-F238E27FC236}">
                  <a16:creationId xmlns:a16="http://schemas.microsoft.com/office/drawing/2014/main" id="{E56C27CE-B038-8445-49DF-AEDE1D4E298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71190" y="3248230"/>
              <a:ext cx="784023" cy="784022"/>
            </a:xfrm>
            <a:prstGeom prst="rect">
              <a:avLst/>
            </a:prstGeom>
          </p:spPr>
        </p:pic>
        <p:pic>
          <p:nvPicPr>
            <p:cNvPr id="41" name="Graphique 40" descr="Personne confuse avec un remplissage uni">
              <a:extLst>
                <a:ext uri="{FF2B5EF4-FFF2-40B4-BE49-F238E27FC236}">
                  <a16:creationId xmlns:a16="http://schemas.microsoft.com/office/drawing/2014/main" id="{B567E9A8-1B93-8CDB-55E9-003582EBF18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097151" y="4442124"/>
              <a:ext cx="784023" cy="784022"/>
            </a:xfrm>
            <a:prstGeom prst="rect">
              <a:avLst/>
            </a:prstGeom>
          </p:spPr>
        </p:pic>
        <p:pic>
          <p:nvPicPr>
            <p:cNvPr id="42" name="Graphique 41" descr="Personne confuse avec un remplissage uni">
              <a:extLst>
                <a:ext uri="{FF2B5EF4-FFF2-40B4-BE49-F238E27FC236}">
                  <a16:creationId xmlns:a16="http://schemas.microsoft.com/office/drawing/2014/main" id="{AAF70E36-35EF-8385-8CB9-5AFC562B6CD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19209" y="4431441"/>
              <a:ext cx="784023" cy="784021"/>
            </a:xfrm>
            <a:prstGeom prst="rect">
              <a:avLst/>
            </a:prstGeom>
          </p:spPr>
        </p:pic>
      </p:grpSp>
      <p:pic>
        <p:nvPicPr>
          <p:cNvPr id="44" name="Graphique 43" descr="Chat avec un remplissage uni">
            <a:extLst>
              <a:ext uri="{FF2B5EF4-FFF2-40B4-BE49-F238E27FC236}">
                <a16:creationId xmlns:a16="http://schemas.microsoft.com/office/drawing/2014/main" id="{FDBF9966-08C3-3363-A6F1-BC030FBE958D}"/>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730195" y="4768440"/>
            <a:ext cx="914400" cy="914400"/>
          </a:xfrm>
          <a:prstGeom prst="rect">
            <a:avLst/>
          </a:prstGeom>
        </p:spPr>
      </p:pic>
      <p:pic>
        <p:nvPicPr>
          <p:cNvPr id="45" name="Image 44">
            <a:extLst>
              <a:ext uri="{FF2B5EF4-FFF2-40B4-BE49-F238E27FC236}">
                <a16:creationId xmlns:a16="http://schemas.microsoft.com/office/drawing/2014/main" id="{520AC43C-D05F-E29C-C3FC-DEFC4DA3B3B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371417" y="4731089"/>
            <a:ext cx="497180" cy="561332"/>
          </a:xfrm>
          <a:prstGeom prst="rect">
            <a:avLst/>
          </a:prstGeom>
        </p:spPr>
      </p:pic>
      <p:pic>
        <p:nvPicPr>
          <p:cNvPr id="47" name="Image 46">
            <a:extLst>
              <a:ext uri="{FF2B5EF4-FFF2-40B4-BE49-F238E27FC236}">
                <a16:creationId xmlns:a16="http://schemas.microsoft.com/office/drawing/2014/main" id="{74F0F54D-C11F-97BD-7ABD-D95AD99F7F4E}"/>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253237" y="4549533"/>
            <a:ext cx="488808" cy="561332"/>
          </a:xfrm>
          <a:prstGeom prst="rect">
            <a:avLst/>
          </a:prstGeom>
        </p:spPr>
      </p:pic>
      <p:pic>
        <p:nvPicPr>
          <p:cNvPr id="49" name="Image 48">
            <a:extLst>
              <a:ext uri="{FF2B5EF4-FFF2-40B4-BE49-F238E27FC236}">
                <a16:creationId xmlns:a16="http://schemas.microsoft.com/office/drawing/2014/main" id="{66043C13-A32C-8F71-4E74-26973A1CDBE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421588" y="5234988"/>
            <a:ext cx="496061" cy="561332"/>
          </a:xfrm>
          <a:prstGeom prst="rect">
            <a:avLst/>
          </a:prstGeom>
        </p:spPr>
      </p:pic>
      <p:sp>
        <p:nvSpPr>
          <p:cNvPr id="50" name="Rectangle 49">
            <a:extLst>
              <a:ext uri="{FF2B5EF4-FFF2-40B4-BE49-F238E27FC236}">
                <a16:creationId xmlns:a16="http://schemas.microsoft.com/office/drawing/2014/main" id="{8628FC1F-B2EF-A02A-E57D-A0B54AF426C1}"/>
              </a:ext>
            </a:extLst>
          </p:cNvPr>
          <p:cNvSpPr/>
          <p:nvPr/>
        </p:nvSpPr>
        <p:spPr>
          <a:xfrm>
            <a:off x="8599431" y="5695225"/>
            <a:ext cx="538034"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A999932E-3181-2F81-F852-4995969D6C3B}"/>
              </a:ext>
            </a:extLst>
          </p:cNvPr>
          <p:cNvSpPr/>
          <p:nvPr/>
        </p:nvSpPr>
        <p:spPr>
          <a:xfrm>
            <a:off x="8599431" y="5755233"/>
            <a:ext cx="538034"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35B9686B-611E-0A65-A8F2-55A74B873AF7}"/>
              </a:ext>
            </a:extLst>
          </p:cNvPr>
          <p:cNvSpPr/>
          <p:nvPr/>
        </p:nvSpPr>
        <p:spPr>
          <a:xfrm>
            <a:off x="8599431" y="5816773"/>
            <a:ext cx="538034"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DB255DEA-82D7-3664-B3BD-1804AF9C1DAC}"/>
              </a:ext>
            </a:extLst>
          </p:cNvPr>
          <p:cNvSpPr/>
          <p:nvPr/>
        </p:nvSpPr>
        <p:spPr>
          <a:xfrm>
            <a:off x="8599431" y="5876781"/>
            <a:ext cx="538034"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7" name="Graphique 56" descr="Retour avec un remplissage uni">
            <a:extLst>
              <a:ext uri="{FF2B5EF4-FFF2-40B4-BE49-F238E27FC236}">
                <a16:creationId xmlns:a16="http://schemas.microsoft.com/office/drawing/2014/main" id="{578B321C-3CC4-C6A1-CBB8-FB632CE331FC}"/>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7472" t="17496" r="8378" b="18148"/>
          <a:stretch/>
        </p:blipFill>
        <p:spPr>
          <a:xfrm rot="3812001">
            <a:off x="8587213" y="5193472"/>
            <a:ext cx="372657" cy="284999"/>
          </a:xfrm>
          <a:prstGeom prst="rect">
            <a:avLst/>
          </a:prstGeom>
        </p:spPr>
      </p:pic>
      <p:pic>
        <p:nvPicPr>
          <p:cNvPr id="58" name="Graphique 57" descr="Retour avec un remplissage uni">
            <a:extLst>
              <a:ext uri="{FF2B5EF4-FFF2-40B4-BE49-F238E27FC236}">
                <a16:creationId xmlns:a16="http://schemas.microsoft.com/office/drawing/2014/main" id="{29CB1D31-87BD-E806-1BAA-3ECFB97018D4}"/>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7472" t="17496" r="8378" b="18148"/>
          <a:stretch/>
        </p:blipFill>
        <p:spPr>
          <a:xfrm rot="7608907" flipV="1">
            <a:off x="9119195" y="5314378"/>
            <a:ext cx="372657" cy="334147"/>
          </a:xfrm>
          <a:prstGeom prst="rect">
            <a:avLst/>
          </a:prstGeom>
        </p:spPr>
      </p:pic>
      <p:pic>
        <p:nvPicPr>
          <p:cNvPr id="59" name="Graphique 58" descr="Retour avec un remplissage uni">
            <a:extLst>
              <a:ext uri="{FF2B5EF4-FFF2-40B4-BE49-F238E27FC236}">
                <a16:creationId xmlns:a16="http://schemas.microsoft.com/office/drawing/2014/main" id="{61DF0979-9C00-5486-F6DC-39DC9319D480}"/>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7472" t="17496" r="8378" b="18148"/>
          <a:stretch/>
        </p:blipFill>
        <p:spPr>
          <a:xfrm rot="7156826" flipV="1">
            <a:off x="8973866" y="5008162"/>
            <a:ext cx="372657" cy="334147"/>
          </a:xfrm>
          <a:prstGeom prst="rect">
            <a:avLst/>
          </a:prstGeom>
        </p:spPr>
      </p:pic>
      <p:pic>
        <p:nvPicPr>
          <p:cNvPr id="61" name="Graphique 60" descr="Badge 6 avec un remplissage uni">
            <a:extLst>
              <a:ext uri="{FF2B5EF4-FFF2-40B4-BE49-F238E27FC236}">
                <a16:creationId xmlns:a16="http://schemas.microsoft.com/office/drawing/2014/main" id="{1C9CE4D9-FBE2-A197-4F22-4CC800362E4D}"/>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815624" y="1635664"/>
            <a:ext cx="914400" cy="914400"/>
          </a:xfrm>
          <a:prstGeom prst="rect">
            <a:avLst/>
          </a:prstGeom>
        </p:spPr>
      </p:pic>
      <p:pic>
        <p:nvPicPr>
          <p:cNvPr id="63" name="Graphique 62" descr="Badge 5 avec un remplissage uni">
            <a:extLst>
              <a:ext uri="{FF2B5EF4-FFF2-40B4-BE49-F238E27FC236}">
                <a16:creationId xmlns:a16="http://schemas.microsoft.com/office/drawing/2014/main" id="{4E9FBC30-FA3C-3B81-4D77-A7371B3038BF}"/>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650134" y="1635664"/>
            <a:ext cx="914400" cy="914400"/>
          </a:xfrm>
          <a:prstGeom prst="rect">
            <a:avLst/>
          </a:prstGeom>
        </p:spPr>
      </p:pic>
      <p:pic>
        <p:nvPicPr>
          <p:cNvPr id="65" name="Graphique 64" descr="Badge 4 avec un remplissage uni">
            <a:extLst>
              <a:ext uri="{FF2B5EF4-FFF2-40B4-BE49-F238E27FC236}">
                <a16:creationId xmlns:a16="http://schemas.microsoft.com/office/drawing/2014/main" id="{80D90F09-C623-164F-B1A7-362A5ED0A29A}"/>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6497714" y="1635664"/>
            <a:ext cx="914400" cy="914400"/>
          </a:xfrm>
          <a:prstGeom prst="rect">
            <a:avLst/>
          </a:prstGeom>
        </p:spPr>
      </p:pic>
      <p:pic>
        <p:nvPicPr>
          <p:cNvPr id="67" name="Graphique 66" descr="Badge 3 avec un remplissage uni">
            <a:extLst>
              <a:ext uri="{FF2B5EF4-FFF2-40B4-BE49-F238E27FC236}">
                <a16:creationId xmlns:a16="http://schemas.microsoft.com/office/drawing/2014/main" id="{82894415-C54B-FA8E-C357-0511961F2F29}"/>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548803" y="1635664"/>
            <a:ext cx="914400" cy="914400"/>
          </a:xfrm>
          <a:prstGeom prst="rect">
            <a:avLst/>
          </a:prstGeom>
        </p:spPr>
      </p:pic>
      <p:pic>
        <p:nvPicPr>
          <p:cNvPr id="69" name="Graphique 68" descr="Badge avec un remplissage uni">
            <a:extLst>
              <a:ext uri="{FF2B5EF4-FFF2-40B4-BE49-F238E27FC236}">
                <a16:creationId xmlns:a16="http://schemas.microsoft.com/office/drawing/2014/main" id="{E9A7086A-90A1-30DA-276F-0B7E5E7C88C6}"/>
              </a:ext>
            </a:extLst>
          </p:cNvPr>
          <p:cNvPicPr>
            <a:picLocks noChangeAspect="1"/>
          </p:cNvPicPr>
          <p:nvPr/>
        </p:nvPicPr>
        <p:blipFill>
          <a:blip r:embed="rId22">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2459862" y="1635664"/>
            <a:ext cx="914400" cy="914400"/>
          </a:xfrm>
          <a:prstGeom prst="rect">
            <a:avLst/>
          </a:prstGeom>
        </p:spPr>
      </p:pic>
      <p:pic>
        <p:nvPicPr>
          <p:cNvPr id="71" name="Graphique 70" descr="Badge 1 avec un remplissage uni">
            <a:extLst>
              <a:ext uri="{FF2B5EF4-FFF2-40B4-BE49-F238E27FC236}">
                <a16:creationId xmlns:a16="http://schemas.microsoft.com/office/drawing/2014/main" id="{B8E17FDB-F53B-0E2B-E4F9-4AC3147B7A57}"/>
              </a:ext>
            </a:extLst>
          </p:cNvPr>
          <p:cNvPicPr>
            <a:picLocks noChangeAspect="1"/>
          </p:cNvPicPr>
          <p:nvPr/>
        </p:nvPicPr>
        <p:blipFill>
          <a:blip r:embed="rId24">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370921" y="1635664"/>
            <a:ext cx="914400" cy="914400"/>
          </a:xfrm>
          <a:prstGeom prst="rect">
            <a:avLst/>
          </a:prstGeom>
        </p:spPr>
      </p:pic>
    </p:spTree>
    <p:extLst>
      <p:ext uri="{BB962C8B-B14F-4D97-AF65-F5344CB8AC3E}">
        <p14:creationId xmlns:p14="http://schemas.microsoft.com/office/powerpoint/2010/main" val="894593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A06FD81F-6DEB-2671-046F-A8962658C057}"/>
              </a:ext>
            </a:extLst>
          </p:cNvPr>
          <p:cNvPicPr>
            <a:picLocks noChangeAspect="1"/>
          </p:cNvPicPr>
          <p:nvPr/>
        </p:nvPicPr>
        <p:blipFill>
          <a:blip r:embed="rId2"/>
          <a:stretch>
            <a:fillRect/>
          </a:stretch>
        </p:blipFill>
        <p:spPr>
          <a:xfrm rot="1055508">
            <a:off x="5185023" y="1832729"/>
            <a:ext cx="3295650" cy="3676650"/>
          </a:xfrm>
          <a:prstGeom prst="rect">
            <a:avLst/>
          </a:prstGeom>
        </p:spPr>
      </p:pic>
      <p:sp>
        <p:nvSpPr>
          <p:cNvPr id="2" name="Titre 1">
            <a:extLst>
              <a:ext uri="{FF2B5EF4-FFF2-40B4-BE49-F238E27FC236}">
                <a16:creationId xmlns:a16="http://schemas.microsoft.com/office/drawing/2014/main" id="{CC23C76D-81DB-D0F5-68D9-07C65A9E75D6}"/>
              </a:ext>
            </a:extLst>
          </p:cNvPr>
          <p:cNvSpPr>
            <a:spLocks noGrp="1"/>
          </p:cNvSpPr>
          <p:nvPr>
            <p:ph type="title"/>
          </p:nvPr>
        </p:nvSpPr>
        <p:spPr/>
        <p:txBody>
          <a:bodyPr/>
          <a:lstStyle/>
          <a:p>
            <a:r>
              <a:rPr lang="fr-FR" dirty="0"/>
              <a:t>Les cartes épreuves </a:t>
            </a:r>
          </a:p>
        </p:txBody>
      </p:sp>
      <p:pic>
        <p:nvPicPr>
          <p:cNvPr id="5" name="Image 4">
            <a:extLst>
              <a:ext uri="{FF2B5EF4-FFF2-40B4-BE49-F238E27FC236}">
                <a16:creationId xmlns:a16="http://schemas.microsoft.com/office/drawing/2014/main" id="{A1502025-92F5-96C2-6A98-60FD5B68A9C0}"/>
              </a:ext>
            </a:extLst>
          </p:cNvPr>
          <p:cNvPicPr>
            <a:picLocks noChangeAspect="1"/>
          </p:cNvPicPr>
          <p:nvPr/>
        </p:nvPicPr>
        <p:blipFill>
          <a:blip r:embed="rId3"/>
          <a:stretch>
            <a:fillRect/>
          </a:stretch>
        </p:blipFill>
        <p:spPr>
          <a:xfrm rot="439889">
            <a:off x="4827741" y="1968299"/>
            <a:ext cx="3228975" cy="3667125"/>
          </a:xfrm>
          <a:prstGeom prst="rect">
            <a:avLst/>
          </a:prstGeom>
        </p:spPr>
      </p:pic>
      <p:pic>
        <p:nvPicPr>
          <p:cNvPr id="9" name="Image 8">
            <a:extLst>
              <a:ext uri="{FF2B5EF4-FFF2-40B4-BE49-F238E27FC236}">
                <a16:creationId xmlns:a16="http://schemas.microsoft.com/office/drawing/2014/main" id="{73D03B04-C75B-91B5-BF91-70E91A9ED0F5}"/>
              </a:ext>
            </a:extLst>
          </p:cNvPr>
          <p:cNvPicPr>
            <a:picLocks noChangeAspect="1"/>
          </p:cNvPicPr>
          <p:nvPr/>
        </p:nvPicPr>
        <p:blipFill>
          <a:blip r:embed="rId4"/>
          <a:stretch>
            <a:fillRect/>
          </a:stretch>
        </p:blipFill>
        <p:spPr>
          <a:xfrm>
            <a:off x="4583929" y="2204536"/>
            <a:ext cx="3219450" cy="3629025"/>
          </a:xfrm>
          <a:prstGeom prst="rect">
            <a:avLst/>
          </a:prstGeom>
        </p:spPr>
      </p:pic>
      <p:cxnSp>
        <p:nvCxnSpPr>
          <p:cNvPr id="10" name="Connecteur droit avec flèche 9">
            <a:extLst>
              <a:ext uri="{FF2B5EF4-FFF2-40B4-BE49-F238E27FC236}">
                <a16:creationId xmlns:a16="http://schemas.microsoft.com/office/drawing/2014/main" id="{8CEC551B-C90A-3AD1-C74C-10C2DECFD5FD}"/>
              </a:ext>
            </a:extLst>
          </p:cNvPr>
          <p:cNvCxnSpPr>
            <a:cxnSpLocks/>
          </p:cNvCxnSpPr>
          <p:nvPr/>
        </p:nvCxnSpPr>
        <p:spPr>
          <a:xfrm flipV="1">
            <a:off x="3303012" y="2476870"/>
            <a:ext cx="2183388" cy="95213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393278A1-9B95-FB5C-5B55-FECA59E6E677}"/>
              </a:ext>
            </a:extLst>
          </p:cNvPr>
          <p:cNvSpPr txBox="1"/>
          <p:nvPr/>
        </p:nvSpPr>
        <p:spPr>
          <a:xfrm>
            <a:off x="694827" y="3109363"/>
            <a:ext cx="2567238" cy="1384995"/>
          </a:xfrm>
          <a:prstGeom prst="rect">
            <a:avLst/>
          </a:prstGeom>
          <a:noFill/>
        </p:spPr>
        <p:txBody>
          <a:bodyPr wrap="square" rtlCol="0">
            <a:spAutoFit/>
          </a:bodyPr>
          <a:lstStyle/>
          <a:p>
            <a:r>
              <a:rPr lang="fr-FR" sz="1400" dirty="0"/>
              <a:t>Vous aurez des cartes épreuves qui peuvent être ou bien collectives (vous devez réussir ce but à plusieurs) ou bien individuelles (vous devez réussir ce but individuellement)</a:t>
            </a:r>
          </a:p>
        </p:txBody>
      </p:sp>
      <p:cxnSp>
        <p:nvCxnSpPr>
          <p:cNvPr id="6" name="Connecteur droit avec flèche 5">
            <a:extLst>
              <a:ext uri="{FF2B5EF4-FFF2-40B4-BE49-F238E27FC236}">
                <a16:creationId xmlns:a16="http://schemas.microsoft.com/office/drawing/2014/main" id="{FE64EA06-1A62-B59F-2C04-5CEF82BDAE02}"/>
              </a:ext>
            </a:extLst>
          </p:cNvPr>
          <p:cNvCxnSpPr>
            <a:cxnSpLocks/>
          </p:cNvCxnSpPr>
          <p:nvPr/>
        </p:nvCxnSpPr>
        <p:spPr>
          <a:xfrm flipH="1">
            <a:off x="7526662" y="4758431"/>
            <a:ext cx="1821524" cy="8877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4E9C32D3-30EC-9A0E-56B8-5421BFAD7E3C}"/>
              </a:ext>
            </a:extLst>
          </p:cNvPr>
          <p:cNvSpPr txBox="1"/>
          <p:nvPr/>
        </p:nvSpPr>
        <p:spPr>
          <a:xfrm>
            <a:off x="9339941" y="4245704"/>
            <a:ext cx="2567238" cy="523220"/>
          </a:xfrm>
          <a:prstGeom prst="rect">
            <a:avLst/>
          </a:prstGeom>
          <a:noFill/>
        </p:spPr>
        <p:txBody>
          <a:bodyPr wrap="square" rtlCol="0">
            <a:spAutoFit/>
          </a:bodyPr>
          <a:lstStyle/>
          <a:p>
            <a:r>
              <a:rPr lang="fr-FR" sz="1400" dirty="0"/>
              <a:t>Chaque carte épreuve contient une petite description </a:t>
            </a:r>
          </a:p>
        </p:txBody>
      </p:sp>
    </p:spTree>
    <p:extLst>
      <p:ext uri="{BB962C8B-B14F-4D97-AF65-F5344CB8AC3E}">
        <p14:creationId xmlns:p14="http://schemas.microsoft.com/office/powerpoint/2010/main" val="3061521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B04C8054-C566-18E6-0085-E87998E9CB61}"/>
              </a:ext>
            </a:extLst>
          </p:cNvPr>
          <p:cNvPicPr>
            <a:picLocks noChangeAspect="1"/>
          </p:cNvPicPr>
          <p:nvPr/>
        </p:nvPicPr>
        <p:blipFill>
          <a:blip r:embed="rId2"/>
          <a:stretch>
            <a:fillRect/>
          </a:stretch>
        </p:blipFill>
        <p:spPr>
          <a:xfrm rot="803424">
            <a:off x="4718374" y="1988827"/>
            <a:ext cx="3264898" cy="3686175"/>
          </a:xfrm>
          <a:prstGeom prst="rect">
            <a:avLst/>
          </a:prstGeom>
        </p:spPr>
      </p:pic>
      <p:pic>
        <p:nvPicPr>
          <p:cNvPr id="9" name="Image 8">
            <a:extLst>
              <a:ext uri="{FF2B5EF4-FFF2-40B4-BE49-F238E27FC236}">
                <a16:creationId xmlns:a16="http://schemas.microsoft.com/office/drawing/2014/main" id="{7327FC9D-1FE0-ED48-09CD-4DC4FA3945AC}"/>
              </a:ext>
            </a:extLst>
          </p:cNvPr>
          <p:cNvPicPr>
            <a:picLocks noChangeAspect="1"/>
          </p:cNvPicPr>
          <p:nvPr/>
        </p:nvPicPr>
        <p:blipFill>
          <a:blip r:embed="rId3"/>
          <a:stretch>
            <a:fillRect/>
          </a:stretch>
        </p:blipFill>
        <p:spPr>
          <a:xfrm rot="429115">
            <a:off x="4552714" y="2107401"/>
            <a:ext cx="3257550" cy="3686175"/>
          </a:xfrm>
          <a:prstGeom prst="rect">
            <a:avLst/>
          </a:prstGeom>
        </p:spPr>
      </p:pic>
      <p:sp>
        <p:nvSpPr>
          <p:cNvPr id="2" name="Titre 1">
            <a:extLst>
              <a:ext uri="{FF2B5EF4-FFF2-40B4-BE49-F238E27FC236}">
                <a16:creationId xmlns:a16="http://schemas.microsoft.com/office/drawing/2014/main" id="{CC23C76D-81DB-D0F5-68D9-07C65A9E75D6}"/>
              </a:ext>
            </a:extLst>
          </p:cNvPr>
          <p:cNvSpPr>
            <a:spLocks noGrp="1"/>
          </p:cNvSpPr>
          <p:nvPr>
            <p:ph type="title"/>
          </p:nvPr>
        </p:nvSpPr>
        <p:spPr/>
        <p:txBody>
          <a:bodyPr/>
          <a:lstStyle/>
          <a:p>
            <a:r>
              <a:rPr lang="fr-FR" dirty="0"/>
              <a:t>Les cartes « Situation de handicap »</a:t>
            </a:r>
          </a:p>
        </p:txBody>
      </p:sp>
      <p:pic>
        <p:nvPicPr>
          <p:cNvPr id="5" name="Image 4">
            <a:extLst>
              <a:ext uri="{FF2B5EF4-FFF2-40B4-BE49-F238E27FC236}">
                <a16:creationId xmlns:a16="http://schemas.microsoft.com/office/drawing/2014/main" id="{54168238-3C87-2A49-429C-2162DD1D452B}"/>
              </a:ext>
            </a:extLst>
          </p:cNvPr>
          <p:cNvPicPr>
            <a:picLocks noChangeAspect="1"/>
          </p:cNvPicPr>
          <p:nvPr/>
        </p:nvPicPr>
        <p:blipFill>
          <a:blip r:embed="rId4"/>
          <a:stretch>
            <a:fillRect/>
          </a:stretch>
        </p:blipFill>
        <p:spPr>
          <a:xfrm>
            <a:off x="4286852" y="2239157"/>
            <a:ext cx="3209925" cy="3686175"/>
          </a:xfrm>
          <a:prstGeom prst="rect">
            <a:avLst/>
          </a:prstGeom>
        </p:spPr>
      </p:pic>
      <p:cxnSp>
        <p:nvCxnSpPr>
          <p:cNvPr id="11" name="Connecteur droit avec flèche 10">
            <a:extLst>
              <a:ext uri="{FF2B5EF4-FFF2-40B4-BE49-F238E27FC236}">
                <a16:creationId xmlns:a16="http://schemas.microsoft.com/office/drawing/2014/main" id="{8A9DF98F-5F0A-6C7C-F524-24AFA38B441B}"/>
              </a:ext>
            </a:extLst>
          </p:cNvPr>
          <p:cNvCxnSpPr>
            <a:cxnSpLocks/>
          </p:cNvCxnSpPr>
          <p:nvPr/>
        </p:nvCxnSpPr>
        <p:spPr>
          <a:xfrm>
            <a:off x="3124940" y="3222594"/>
            <a:ext cx="1613598" cy="949835"/>
          </a:xfrm>
          <a:prstGeom prst="straightConnector1">
            <a:avLst/>
          </a:prstGeom>
          <a:ln w="57150">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A462101D-8CF0-0348-7169-6365F1729B40}"/>
              </a:ext>
            </a:extLst>
          </p:cNvPr>
          <p:cNvCxnSpPr>
            <a:cxnSpLocks/>
          </p:cNvCxnSpPr>
          <p:nvPr/>
        </p:nvCxnSpPr>
        <p:spPr>
          <a:xfrm flipH="1">
            <a:off x="6649375" y="4811422"/>
            <a:ext cx="2414726" cy="586201"/>
          </a:xfrm>
          <a:prstGeom prst="straightConnector1">
            <a:avLst/>
          </a:prstGeom>
          <a:ln w="57150">
            <a:solidFill>
              <a:srgbClr val="ED7D31"/>
            </a:solidFill>
            <a:tailEnd type="triangle"/>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222C49A0-E7F0-B87B-7364-90EA2A46BD66}"/>
              </a:ext>
            </a:extLst>
          </p:cNvPr>
          <p:cNvSpPr txBox="1"/>
          <p:nvPr/>
        </p:nvSpPr>
        <p:spPr>
          <a:xfrm>
            <a:off x="838200" y="2423604"/>
            <a:ext cx="2197963" cy="1169551"/>
          </a:xfrm>
          <a:prstGeom prst="rect">
            <a:avLst/>
          </a:prstGeom>
          <a:noFill/>
        </p:spPr>
        <p:txBody>
          <a:bodyPr wrap="square" rtlCol="0">
            <a:spAutoFit/>
          </a:bodyPr>
          <a:lstStyle/>
          <a:p>
            <a:r>
              <a:rPr lang="fr-FR" sz="1400" dirty="0"/>
              <a:t>Chaque carte de situation de handicap contient un </a:t>
            </a:r>
            <a:r>
              <a:rPr lang="fr-FR" sz="1400" b="1" dirty="0">
                <a:solidFill>
                  <a:srgbClr val="ED7D31"/>
                </a:solidFill>
              </a:rPr>
              <a:t>SCENARIO </a:t>
            </a:r>
            <a:r>
              <a:rPr lang="fr-FR" sz="1400" dirty="0"/>
              <a:t>qui raconte comment cette situation de handicap vous est arrivée. </a:t>
            </a:r>
          </a:p>
        </p:txBody>
      </p:sp>
      <p:sp>
        <p:nvSpPr>
          <p:cNvPr id="4" name="ZoneTexte 3">
            <a:extLst>
              <a:ext uri="{FF2B5EF4-FFF2-40B4-BE49-F238E27FC236}">
                <a16:creationId xmlns:a16="http://schemas.microsoft.com/office/drawing/2014/main" id="{DAA48178-6D45-0250-B22E-A6112F2A4BEF}"/>
              </a:ext>
            </a:extLst>
          </p:cNvPr>
          <p:cNvSpPr txBox="1"/>
          <p:nvPr/>
        </p:nvSpPr>
        <p:spPr>
          <a:xfrm>
            <a:off x="9064101" y="4519746"/>
            <a:ext cx="2799345" cy="1815882"/>
          </a:xfrm>
          <a:prstGeom prst="rect">
            <a:avLst/>
          </a:prstGeom>
          <a:noFill/>
        </p:spPr>
        <p:txBody>
          <a:bodyPr wrap="square" rtlCol="0">
            <a:spAutoFit/>
          </a:bodyPr>
          <a:lstStyle/>
          <a:p>
            <a:r>
              <a:rPr lang="fr-FR" sz="1400" dirty="0"/>
              <a:t>Pour chaque carte, vous devrez jouer une </a:t>
            </a:r>
            <a:r>
              <a:rPr lang="fr-FR" sz="1400" b="1" dirty="0">
                <a:solidFill>
                  <a:srgbClr val="ED7D31"/>
                </a:solidFill>
              </a:rPr>
              <a:t>SIMULATION</a:t>
            </a:r>
            <a:r>
              <a:rPr lang="fr-FR" sz="1400" dirty="0"/>
              <a:t>, c’est-à-dire simuler la situation de handicap pendant le tour. Si la simulation concerne aussi les autres joueurs (ex: ils n’ont pas le droit de vous parler ou juste de chuchoter), prévenez les aussi.</a:t>
            </a:r>
          </a:p>
        </p:txBody>
      </p:sp>
    </p:spTree>
    <p:extLst>
      <p:ext uri="{BB962C8B-B14F-4D97-AF65-F5344CB8AC3E}">
        <p14:creationId xmlns:p14="http://schemas.microsoft.com/office/powerpoint/2010/main" val="1662249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23C76D-81DB-D0F5-68D9-07C65A9E75D6}"/>
              </a:ext>
            </a:extLst>
          </p:cNvPr>
          <p:cNvSpPr>
            <a:spLocks noGrp="1"/>
          </p:cNvSpPr>
          <p:nvPr>
            <p:ph type="title"/>
          </p:nvPr>
        </p:nvSpPr>
        <p:spPr/>
        <p:txBody>
          <a:bodyPr/>
          <a:lstStyle/>
          <a:p>
            <a:r>
              <a:rPr lang="fr-FR" dirty="0"/>
              <a:t>Dernières recommandations et points sur le jeu et la façon de jouer</a:t>
            </a:r>
          </a:p>
        </p:txBody>
      </p:sp>
      <p:sp>
        <p:nvSpPr>
          <p:cNvPr id="3" name="Espace réservé du contenu 2">
            <a:extLst>
              <a:ext uri="{FF2B5EF4-FFF2-40B4-BE49-F238E27FC236}">
                <a16:creationId xmlns:a16="http://schemas.microsoft.com/office/drawing/2014/main" id="{3FDB294B-B9F9-4E17-D14C-23399168C697}"/>
              </a:ext>
            </a:extLst>
          </p:cNvPr>
          <p:cNvSpPr>
            <a:spLocks noGrp="1"/>
          </p:cNvSpPr>
          <p:nvPr>
            <p:ph idx="1"/>
          </p:nvPr>
        </p:nvSpPr>
        <p:spPr>
          <a:xfrm>
            <a:off x="5970325" y="2054225"/>
            <a:ext cx="3821375" cy="4351338"/>
          </a:xfrm>
        </p:spPr>
        <p:txBody>
          <a:bodyPr>
            <a:normAutofit/>
          </a:bodyPr>
          <a:lstStyle/>
          <a:p>
            <a:r>
              <a:rPr lang="fr-FR" sz="2000" dirty="0"/>
              <a:t>Ne faites rien de dangereux</a:t>
            </a:r>
          </a:p>
          <a:p>
            <a:endParaRPr lang="fr-FR" sz="2000" dirty="0"/>
          </a:p>
          <a:p>
            <a:endParaRPr lang="fr-FR" sz="2000" dirty="0"/>
          </a:p>
          <a:p>
            <a:r>
              <a:rPr lang="fr-FR" sz="2000" dirty="0"/>
              <a:t>Droit d’arrêter la simulation pour relire les cartes</a:t>
            </a:r>
          </a:p>
          <a:p>
            <a:endParaRPr lang="fr-FR" sz="2000" dirty="0"/>
          </a:p>
          <a:p>
            <a:endParaRPr lang="fr-FR" sz="2000" dirty="0"/>
          </a:p>
          <a:p>
            <a:r>
              <a:rPr lang="fr-FR" sz="2000" dirty="0"/>
              <a:t>Droit de rire pendant le jeu ? Oui, c’est le plaisir du jeu, ce n’est pas de la dérision</a:t>
            </a:r>
          </a:p>
        </p:txBody>
      </p:sp>
      <p:pic>
        <p:nvPicPr>
          <p:cNvPr id="5" name="Image 4">
            <a:extLst>
              <a:ext uri="{FF2B5EF4-FFF2-40B4-BE49-F238E27FC236}">
                <a16:creationId xmlns:a16="http://schemas.microsoft.com/office/drawing/2014/main" id="{B1F0D657-189D-BF7B-0C4E-C3F7AFC61946}"/>
              </a:ext>
            </a:extLst>
          </p:cNvPr>
          <p:cNvPicPr>
            <a:picLocks noChangeAspect="1"/>
          </p:cNvPicPr>
          <p:nvPr/>
        </p:nvPicPr>
        <p:blipFill>
          <a:blip r:embed="rId2"/>
          <a:stretch>
            <a:fillRect/>
          </a:stretch>
        </p:blipFill>
        <p:spPr>
          <a:xfrm>
            <a:off x="1747837" y="2376487"/>
            <a:ext cx="3019425" cy="3381375"/>
          </a:xfrm>
          <a:prstGeom prst="rect">
            <a:avLst/>
          </a:prstGeom>
        </p:spPr>
      </p:pic>
      <p:pic>
        <p:nvPicPr>
          <p:cNvPr id="9" name="Graphique 8" descr="Balance de la justice avec un remplissage uni">
            <a:extLst>
              <a:ext uri="{FF2B5EF4-FFF2-40B4-BE49-F238E27FC236}">
                <a16:creationId xmlns:a16="http://schemas.microsoft.com/office/drawing/2014/main" id="{12203EC6-B9E7-0875-5507-CFE02B48C29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62173" y="3314700"/>
            <a:ext cx="2143125" cy="2143125"/>
          </a:xfrm>
          <a:prstGeom prst="rect">
            <a:avLst/>
          </a:prstGeom>
        </p:spPr>
      </p:pic>
    </p:spTree>
    <p:extLst>
      <p:ext uri="{BB962C8B-B14F-4D97-AF65-F5344CB8AC3E}">
        <p14:creationId xmlns:p14="http://schemas.microsoft.com/office/powerpoint/2010/main" val="69166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E4A5B8-6AF4-CC32-1AE2-50097249674E}"/>
              </a:ext>
            </a:extLst>
          </p:cNvPr>
          <p:cNvSpPr>
            <a:spLocks noGrp="1"/>
          </p:cNvSpPr>
          <p:nvPr>
            <p:ph type="title"/>
          </p:nvPr>
        </p:nvSpPr>
        <p:spPr/>
        <p:txBody>
          <a:bodyPr/>
          <a:lstStyle/>
          <a:p>
            <a:r>
              <a:rPr lang="fr-FR" dirty="0"/>
              <a:t>Comment se passe le Debriefing ?</a:t>
            </a:r>
          </a:p>
        </p:txBody>
      </p:sp>
      <p:sp>
        <p:nvSpPr>
          <p:cNvPr id="3" name="Espace réservé du contenu 2">
            <a:extLst>
              <a:ext uri="{FF2B5EF4-FFF2-40B4-BE49-F238E27FC236}">
                <a16:creationId xmlns:a16="http://schemas.microsoft.com/office/drawing/2014/main" id="{B9FD4FD8-C2B0-1B6F-43DF-E5F0BECCEDB7}"/>
              </a:ext>
            </a:extLst>
          </p:cNvPr>
          <p:cNvSpPr>
            <a:spLocks noGrp="1"/>
          </p:cNvSpPr>
          <p:nvPr>
            <p:ph idx="1"/>
          </p:nvPr>
        </p:nvSpPr>
        <p:spPr>
          <a:xfrm>
            <a:off x="838200" y="1825625"/>
            <a:ext cx="3840332" cy="4351338"/>
          </a:xfrm>
        </p:spPr>
        <p:txBody>
          <a:bodyPr>
            <a:normAutofit/>
          </a:bodyPr>
          <a:lstStyle/>
          <a:p>
            <a:r>
              <a:rPr lang="fr-FR" sz="1800" dirty="0"/>
              <a:t>Vous allez maintenant débriefer de l’expérience que vous venez de vivre</a:t>
            </a:r>
          </a:p>
          <a:p>
            <a:endParaRPr lang="fr-FR" sz="1800" dirty="0"/>
          </a:p>
          <a:p>
            <a:r>
              <a:rPr lang="fr-FR" sz="1800" dirty="0"/>
              <a:t>Il n’est pas prévu que les animateurs soient experts du handicap, le debriefing reposera donc sur votre intelligence collective lorsqu’il s’agit du fond de ce jeu</a:t>
            </a:r>
          </a:p>
          <a:p>
            <a:endParaRPr lang="fr-FR" sz="1800" dirty="0"/>
          </a:p>
          <a:p>
            <a:r>
              <a:rPr lang="fr-FR" sz="1800" dirty="0"/>
              <a:t>Une deuxième partie du Debriefing pourra avoir lieu tous ensemble avec les plus motivés sur la forme (retours sur l’animation, la forme du jeu, envie de transmettre, prochaines étapes)</a:t>
            </a:r>
          </a:p>
        </p:txBody>
      </p:sp>
      <p:grpSp>
        <p:nvGrpSpPr>
          <p:cNvPr id="11" name="Groupe 10">
            <a:extLst>
              <a:ext uri="{FF2B5EF4-FFF2-40B4-BE49-F238E27FC236}">
                <a16:creationId xmlns:a16="http://schemas.microsoft.com/office/drawing/2014/main" id="{F70F03FD-9E63-B876-736C-AD7FA4FDC997}"/>
              </a:ext>
            </a:extLst>
          </p:cNvPr>
          <p:cNvGrpSpPr/>
          <p:nvPr/>
        </p:nvGrpSpPr>
        <p:grpSpPr>
          <a:xfrm>
            <a:off x="6277285" y="2069988"/>
            <a:ext cx="3647950" cy="3891840"/>
            <a:chOff x="6703413" y="2529486"/>
            <a:chExt cx="1867531" cy="1992388"/>
          </a:xfrm>
        </p:grpSpPr>
        <p:pic>
          <p:nvPicPr>
            <p:cNvPr id="4" name="Graphique 3" descr="Personne confuse avec un remplissage uni">
              <a:extLst>
                <a:ext uri="{FF2B5EF4-FFF2-40B4-BE49-F238E27FC236}">
                  <a16:creationId xmlns:a16="http://schemas.microsoft.com/office/drawing/2014/main" id="{96479427-CE4A-6518-CC6D-E5519246A2A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03413" y="2741658"/>
              <a:ext cx="784023" cy="784022"/>
            </a:xfrm>
            <a:prstGeom prst="rect">
              <a:avLst/>
            </a:prstGeom>
          </p:spPr>
        </p:pic>
        <p:pic>
          <p:nvPicPr>
            <p:cNvPr id="5" name="Graphique 4" descr="Personne confuse avec un remplissage uni">
              <a:extLst>
                <a:ext uri="{FF2B5EF4-FFF2-40B4-BE49-F238E27FC236}">
                  <a16:creationId xmlns:a16="http://schemas.microsoft.com/office/drawing/2014/main" id="{7EB26B68-DD2A-4752-171B-156CB88EBFD2}"/>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03413" y="3542302"/>
              <a:ext cx="784023" cy="784022"/>
            </a:xfrm>
            <a:prstGeom prst="rect">
              <a:avLst/>
            </a:prstGeom>
          </p:spPr>
        </p:pic>
        <p:pic>
          <p:nvPicPr>
            <p:cNvPr id="6" name="Graphique 5" descr="Personne confuse avec un remplissage uni">
              <a:extLst>
                <a:ext uri="{FF2B5EF4-FFF2-40B4-BE49-F238E27FC236}">
                  <a16:creationId xmlns:a16="http://schemas.microsoft.com/office/drawing/2014/main" id="{DC329114-9DB5-9D6A-EFCF-A8DD5568B0F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84465" y="3737852"/>
              <a:ext cx="784023" cy="784022"/>
            </a:xfrm>
            <a:prstGeom prst="rect">
              <a:avLst/>
            </a:prstGeom>
          </p:spPr>
        </p:pic>
        <p:pic>
          <p:nvPicPr>
            <p:cNvPr id="7" name="Graphique 6" descr="Personne confuse avec un remplissage uni">
              <a:extLst>
                <a:ext uri="{FF2B5EF4-FFF2-40B4-BE49-F238E27FC236}">
                  <a16:creationId xmlns:a16="http://schemas.microsoft.com/office/drawing/2014/main" id="{FC693C53-F542-1F0D-026E-869115BBF04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786921" y="3019950"/>
              <a:ext cx="784023" cy="784022"/>
            </a:xfrm>
            <a:prstGeom prst="rect">
              <a:avLst/>
            </a:prstGeom>
          </p:spPr>
        </p:pic>
        <p:pic>
          <p:nvPicPr>
            <p:cNvPr id="8" name="Graphique 7" descr="Personne confuse avec un remplissage uni">
              <a:extLst>
                <a:ext uri="{FF2B5EF4-FFF2-40B4-BE49-F238E27FC236}">
                  <a16:creationId xmlns:a16="http://schemas.microsoft.com/office/drawing/2014/main" id="{B92A1ABD-BCD3-819A-A1F7-81C28335906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285607" y="2529486"/>
              <a:ext cx="784023" cy="784022"/>
            </a:xfrm>
            <a:prstGeom prst="rect">
              <a:avLst/>
            </a:prstGeom>
          </p:spPr>
        </p:pic>
        <p:pic>
          <p:nvPicPr>
            <p:cNvPr id="10" name="Graphique 9" descr="Ampoule et engrenage avec un remplissage uni">
              <a:extLst>
                <a:ext uri="{FF2B5EF4-FFF2-40B4-BE49-F238E27FC236}">
                  <a16:creationId xmlns:a16="http://schemas.microsoft.com/office/drawing/2014/main" id="{02DA6B2B-1D49-673B-0C07-305A1799997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99928" y="2979016"/>
              <a:ext cx="914400" cy="914400"/>
            </a:xfrm>
            <a:prstGeom prst="rect">
              <a:avLst/>
            </a:prstGeom>
          </p:spPr>
        </p:pic>
      </p:grpSp>
    </p:spTree>
    <p:extLst>
      <p:ext uri="{BB962C8B-B14F-4D97-AF65-F5344CB8AC3E}">
        <p14:creationId xmlns:p14="http://schemas.microsoft.com/office/powerpoint/2010/main" val="3885170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D8F616-D534-54F1-C8E2-E6E53B912D14}"/>
              </a:ext>
            </a:extLst>
          </p:cNvPr>
          <p:cNvSpPr>
            <a:spLocks noGrp="1"/>
          </p:cNvSpPr>
          <p:nvPr>
            <p:ph type="title"/>
          </p:nvPr>
        </p:nvSpPr>
        <p:spPr/>
        <p:txBody>
          <a:bodyPr/>
          <a:lstStyle/>
          <a:p>
            <a:r>
              <a:rPr lang="fr-FR" dirty="0"/>
              <a:t>Debriefing</a:t>
            </a:r>
          </a:p>
        </p:txBody>
      </p:sp>
      <p:sp>
        <p:nvSpPr>
          <p:cNvPr id="3" name="Espace réservé du contenu 2">
            <a:extLst>
              <a:ext uri="{FF2B5EF4-FFF2-40B4-BE49-F238E27FC236}">
                <a16:creationId xmlns:a16="http://schemas.microsoft.com/office/drawing/2014/main" id="{475EFA0A-5A4D-183E-74FD-DB169255E818}"/>
              </a:ext>
            </a:extLst>
          </p:cNvPr>
          <p:cNvSpPr>
            <a:spLocks noGrp="1"/>
          </p:cNvSpPr>
          <p:nvPr>
            <p:ph idx="1"/>
          </p:nvPr>
        </p:nvSpPr>
        <p:spPr>
          <a:xfrm>
            <a:off x="4279036" y="1825624"/>
            <a:ext cx="4810957" cy="4351338"/>
          </a:xfrm>
        </p:spPr>
        <p:txBody>
          <a:bodyPr>
            <a:normAutofit/>
          </a:bodyPr>
          <a:lstStyle/>
          <a:p>
            <a:pPr marL="0" indent="0">
              <a:buNone/>
            </a:pPr>
            <a:r>
              <a:rPr lang="fr-FR" sz="2400" dirty="0"/>
              <a:t>Mettez vous en petit groupe de 5-6 max</a:t>
            </a:r>
          </a:p>
          <a:p>
            <a:pPr marL="0" indent="0">
              <a:buNone/>
            </a:pPr>
            <a:endParaRPr lang="fr-FR" sz="2400" dirty="0"/>
          </a:p>
          <a:p>
            <a:pPr marL="0" indent="0">
              <a:buNone/>
            </a:pPr>
            <a:endParaRPr lang="fr-FR" sz="2400" dirty="0"/>
          </a:p>
          <a:p>
            <a:pPr marL="0" indent="0">
              <a:buNone/>
            </a:pPr>
            <a:endParaRPr lang="fr-FR" sz="2400" dirty="0"/>
          </a:p>
          <a:p>
            <a:pPr marL="0" indent="0">
              <a:buNone/>
            </a:pPr>
            <a:endParaRPr lang="fr-FR" sz="2400" dirty="0"/>
          </a:p>
          <a:p>
            <a:pPr marL="0" indent="0">
              <a:buNone/>
            </a:pPr>
            <a:r>
              <a:rPr lang="fr-FR" sz="2400" dirty="0"/>
              <a:t>Piochez quelques cartes de Debriefing par groupe (max 3/groupe), posez vous les questions les uns aux autres dans le groupe.</a:t>
            </a:r>
          </a:p>
        </p:txBody>
      </p:sp>
      <p:pic>
        <p:nvPicPr>
          <p:cNvPr id="5" name="Image 4">
            <a:extLst>
              <a:ext uri="{FF2B5EF4-FFF2-40B4-BE49-F238E27FC236}">
                <a16:creationId xmlns:a16="http://schemas.microsoft.com/office/drawing/2014/main" id="{00316F85-9274-11F9-5500-04C4B423876B}"/>
              </a:ext>
            </a:extLst>
          </p:cNvPr>
          <p:cNvPicPr>
            <a:picLocks noChangeAspect="1"/>
          </p:cNvPicPr>
          <p:nvPr/>
        </p:nvPicPr>
        <p:blipFill>
          <a:blip r:embed="rId2"/>
          <a:stretch>
            <a:fillRect/>
          </a:stretch>
        </p:blipFill>
        <p:spPr>
          <a:xfrm rot="20464733">
            <a:off x="1052790" y="2110304"/>
            <a:ext cx="2163346" cy="2445521"/>
          </a:xfrm>
          <a:prstGeom prst="rect">
            <a:avLst/>
          </a:prstGeom>
        </p:spPr>
      </p:pic>
      <p:pic>
        <p:nvPicPr>
          <p:cNvPr id="8" name="Graphique 7" descr="Personne confuse avec un remplissage uni">
            <a:extLst>
              <a:ext uri="{FF2B5EF4-FFF2-40B4-BE49-F238E27FC236}">
                <a16:creationId xmlns:a16="http://schemas.microsoft.com/office/drawing/2014/main" id="{0972825B-A4BA-3D12-4FDE-19140977998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13805" y="2599615"/>
            <a:ext cx="784023" cy="784022"/>
          </a:xfrm>
          <a:prstGeom prst="rect">
            <a:avLst/>
          </a:prstGeom>
        </p:spPr>
      </p:pic>
      <p:pic>
        <p:nvPicPr>
          <p:cNvPr id="13" name="Graphique 12" descr="Personne confuse avec un remplissage uni">
            <a:extLst>
              <a:ext uri="{FF2B5EF4-FFF2-40B4-BE49-F238E27FC236}">
                <a16:creationId xmlns:a16="http://schemas.microsoft.com/office/drawing/2014/main" id="{DBC1E08A-AB24-8A64-A24D-680B23108A0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13805" y="3400259"/>
            <a:ext cx="784023" cy="784022"/>
          </a:xfrm>
          <a:prstGeom prst="rect">
            <a:avLst/>
          </a:prstGeom>
        </p:spPr>
      </p:pic>
      <p:pic>
        <p:nvPicPr>
          <p:cNvPr id="18" name="Graphique 17" descr="Personne confuse avec un remplissage uni">
            <a:extLst>
              <a:ext uri="{FF2B5EF4-FFF2-40B4-BE49-F238E27FC236}">
                <a16:creationId xmlns:a16="http://schemas.microsoft.com/office/drawing/2014/main" id="{48DB52FB-2B59-D628-1F1D-512C9B9BAB2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6000" y="3514845"/>
            <a:ext cx="784023" cy="784022"/>
          </a:xfrm>
          <a:prstGeom prst="rect">
            <a:avLst/>
          </a:prstGeom>
        </p:spPr>
      </p:pic>
      <p:pic>
        <p:nvPicPr>
          <p:cNvPr id="23" name="Graphique 22" descr="Personne confuse avec un remplissage uni">
            <a:extLst>
              <a:ext uri="{FF2B5EF4-FFF2-40B4-BE49-F238E27FC236}">
                <a16:creationId xmlns:a16="http://schemas.microsoft.com/office/drawing/2014/main" id="{C158D178-0FA8-A441-BF9A-551A1DB8046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499658" y="2951144"/>
            <a:ext cx="784023" cy="784022"/>
          </a:xfrm>
          <a:prstGeom prst="rect">
            <a:avLst/>
          </a:prstGeom>
        </p:spPr>
      </p:pic>
      <p:pic>
        <p:nvPicPr>
          <p:cNvPr id="28" name="Graphique 27" descr="Personne confuse avec un remplissage uni">
            <a:extLst>
              <a:ext uri="{FF2B5EF4-FFF2-40B4-BE49-F238E27FC236}">
                <a16:creationId xmlns:a16="http://schemas.microsoft.com/office/drawing/2014/main" id="{C0F36CA1-AF77-A402-B7DD-54977411583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5999" y="2387443"/>
            <a:ext cx="784023" cy="784022"/>
          </a:xfrm>
          <a:prstGeom prst="rect">
            <a:avLst/>
          </a:prstGeom>
        </p:spPr>
      </p:pic>
    </p:spTree>
    <p:extLst>
      <p:ext uri="{BB962C8B-B14F-4D97-AF65-F5344CB8AC3E}">
        <p14:creationId xmlns:p14="http://schemas.microsoft.com/office/powerpoint/2010/main" val="3675633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49F907C0-4FAA-C722-C49A-FE3B783A93D4}"/>
              </a:ext>
            </a:extLst>
          </p:cNvPr>
          <p:cNvSpPr>
            <a:spLocks noGrp="1"/>
          </p:cNvSpPr>
          <p:nvPr>
            <p:ph type="title"/>
          </p:nvPr>
        </p:nvSpPr>
        <p:spPr/>
        <p:txBody>
          <a:bodyPr/>
          <a:lstStyle/>
          <a:p>
            <a:r>
              <a:rPr lang="fr-FR" dirty="0"/>
              <a:t>(Facultatif) Debriefing général en grand groupe</a:t>
            </a:r>
          </a:p>
        </p:txBody>
      </p:sp>
      <p:sp>
        <p:nvSpPr>
          <p:cNvPr id="11" name="Espace réservé du contenu 10">
            <a:extLst>
              <a:ext uri="{FF2B5EF4-FFF2-40B4-BE49-F238E27FC236}">
                <a16:creationId xmlns:a16="http://schemas.microsoft.com/office/drawing/2014/main" id="{7780F191-B2C6-4565-2425-4BDAEF7905DB}"/>
              </a:ext>
            </a:extLst>
          </p:cNvPr>
          <p:cNvSpPr>
            <a:spLocks noGrp="1"/>
          </p:cNvSpPr>
          <p:nvPr>
            <p:ph idx="1"/>
          </p:nvPr>
        </p:nvSpPr>
        <p:spPr>
          <a:xfrm>
            <a:off x="1292651" y="2470027"/>
            <a:ext cx="4931081" cy="3660897"/>
          </a:xfrm>
        </p:spPr>
        <p:txBody>
          <a:bodyPr>
            <a:normAutofit/>
          </a:bodyPr>
          <a:lstStyle/>
          <a:p>
            <a:pPr marL="0" indent="0">
              <a:buNone/>
            </a:pPr>
            <a:r>
              <a:rPr lang="fr-FR" dirty="0"/>
              <a:t>Comment pourrions-nous </a:t>
            </a:r>
            <a:r>
              <a:rPr lang="fr-FR" b="1" dirty="0">
                <a:solidFill>
                  <a:srgbClr val="ED7D31"/>
                </a:solidFill>
              </a:rPr>
              <a:t>nous améliorer </a:t>
            </a:r>
            <a:r>
              <a:rPr lang="fr-FR" dirty="0"/>
              <a:t>en dans nos rôles d’animateur / animatrice et de </a:t>
            </a:r>
            <a:r>
              <a:rPr lang="fr-FR" dirty="0" err="1"/>
              <a:t>co</a:t>
            </a:r>
            <a:r>
              <a:rPr lang="fr-FR" dirty="0"/>
              <a:t>-animateur / </a:t>
            </a:r>
            <a:r>
              <a:rPr lang="fr-FR" dirty="0" err="1"/>
              <a:t>co</a:t>
            </a:r>
            <a:r>
              <a:rPr lang="fr-FR" dirty="0"/>
              <a:t>-animatrice ?</a:t>
            </a:r>
          </a:p>
          <a:p>
            <a:pPr marL="0" indent="0">
              <a:buNone/>
            </a:pPr>
            <a:endParaRPr lang="fr-FR" dirty="0"/>
          </a:p>
          <a:p>
            <a:pPr marL="0" indent="0">
              <a:buNone/>
            </a:pPr>
            <a:r>
              <a:rPr lang="fr-FR" dirty="0"/>
              <a:t>Quels sont vos autres retours sur l’animation ?</a:t>
            </a:r>
          </a:p>
        </p:txBody>
      </p:sp>
      <p:grpSp>
        <p:nvGrpSpPr>
          <p:cNvPr id="12" name="Groupe 11">
            <a:extLst>
              <a:ext uri="{FF2B5EF4-FFF2-40B4-BE49-F238E27FC236}">
                <a16:creationId xmlns:a16="http://schemas.microsoft.com/office/drawing/2014/main" id="{7B587D29-3ABC-E9D9-BC68-4C9FFF5990D6}"/>
              </a:ext>
            </a:extLst>
          </p:cNvPr>
          <p:cNvGrpSpPr/>
          <p:nvPr/>
        </p:nvGrpSpPr>
        <p:grpSpPr>
          <a:xfrm>
            <a:off x="9436554" y="2237956"/>
            <a:ext cx="721271" cy="781037"/>
            <a:chOff x="7560150" y="2879049"/>
            <a:chExt cx="982042" cy="1063416"/>
          </a:xfrm>
          <a:solidFill>
            <a:srgbClr val="ED7D31"/>
          </a:solidFill>
        </p:grpSpPr>
        <p:grpSp>
          <p:nvGrpSpPr>
            <p:cNvPr id="13" name="Groupe 12">
              <a:extLst>
                <a:ext uri="{FF2B5EF4-FFF2-40B4-BE49-F238E27FC236}">
                  <a16:creationId xmlns:a16="http://schemas.microsoft.com/office/drawing/2014/main" id="{6244AEF0-0D19-FCCA-CA94-DD690617690A}"/>
                </a:ext>
              </a:extLst>
            </p:cNvPr>
            <p:cNvGrpSpPr/>
            <p:nvPr/>
          </p:nvGrpSpPr>
          <p:grpSpPr>
            <a:xfrm>
              <a:off x="7798849" y="2879049"/>
              <a:ext cx="743343" cy="1063416"/>
              <a:chOff x="6391015" y="3260296"/>
              <a:chExt cx="743343" cy="1063416"/>
            </a:xfrm>
            <a:grpFill/>
          </p:grpSpPr>
          <p:grpSp>
            <p:nvGrpSpPr>
              <p:cNvPr id="15" name="Groupe 14">
                <a:extLst>
                  <a:ext uri="{FF2B5EF4-FFF2-40B4-BE49-F238E27FC236}">
                    <a16:creationId xmlns:a16="http://schemas.microsoft.com/office/drawing/2014/main" id="{BA6A5FB3-5AAB-F39D-273D-96A8ECC1C4A9}"/>
                  </a:ext>
                </a:extLst>
              </p:cNvPr>
              <p:cNvGrpSpPr/>
              <p:nvPr/>
            </p:nvGrpSpPr>
            <p:grpSpPr>
              <a:xfrm>
                <a:off x="6391015" y="3260296"/>
                <a:ext cx="743343" cy="1063416"/>
                <a:chOff x="6298348" y="3168316"/>
                <a:chExt cx="867130" cy="1240504"/>
              </a:xfrm>
              <a:grpFill/>
            </p:grpSpPr>
            <p:pic>
              <p:nvPicPr>
                <p:cNvPr id="17" name="Graphique 16" descr="Enseignant avec un remplissage uni">
                  <a:extLst>
                    <a:ext uri="{FF2B5EF4-FFF2-40B4-BE49-F238E27FC236}">
                      <a16:creationId xmlns:a16="http://schemas.microsoft.com/office/drawing/2014/main" id="{5E209A7E-F7EB-6D5D-1F45-C8E601ADD84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18" name="Graphique 17" descr="Personne confuse avec un remplissage uni">
                  <a:extLst>
                    <a:ext uri="{FF2B5EF4-FFF2-40B4-BE49-F238E27FC236}">
                      <a16:creationId xmlns:a16="http://schemas.microsoft.com/office/drawing/2014/main" id="{3713690E-759B-F4CC-BD61-A4B9B6C3501B}"/>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19" name="Rectangle : coins arrondis 18">
                  <a:extLst>
                    <a:ext uri="{FF2B5EF4-FFF2-40B4-BE49-F238E27FC236}">
                      <a16:creationId xmlns:a16="http://schemas.microsoft.com/office/drawing/2014/main" id="{7DE55B5A-452A-90EB-8F72-76A541ED4E1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6" name="Image 15">
                <a:extLst>
                  <a:ext uri="{FF2B5EF4-FFF2-40B4-BE49-F238E27FC236}">
                    <a16:creationId xmlns:a16="http://schemas.microsoft.com/office/drawing/2014/main" id="{F883ED55-D6D5-5495-88ED-486E5D16468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14" name="Graphique 13" descr="Presse-papiers mixte avec un remplissage uni">
              <a:extLst>
                <a:ext uri="{FF2B5EF4-FFF2-40B4-BE49-F238E27FC236}">
                  <a16:creationId xmlns:a16="http://schemas.microsoft.com/office/drawing/2014/main" id="{213B1D68-350A-F439-E110-3F75AB163CA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grpSp>
        <p:nvGrpSpPr>
          <p:cNvPr id="30" name="Groupe 29">
            <a:extLst>
              <a:ext uri="{FF2B5EF4-FFF2-40B4-BE49-F238E27FC236}">
                <a16:creationId xmlns:a16="http://schemas.microsoft.com/office/drawing/2014/main" id="{3BBFA5DE-37BA-C516-22A7-CFE8A51F4E22}"/>
              </a:ext>
            </a:extLst>
          </p:cNvPr>
          <p:cNvGrpSpPr/>
          <p:nvPr/>
        </p:nvGrpSpPr>
        <p:grpSpPr>
          <a:xfrm>
            <a:off x="7235010" y="2296663"/>
            <a:ext cx="601806" cy="648730"/>
            <a:chOff x="6060465" y="3463636"/>
            <a:chExt cx="819385" cy="883274"/>
          </a:xfrm>
          <a:solidFill>
            <a:srgbClr val="ED7D31"/>
          </a:solidFill>
        </p:grpSpPr>
        <p:pic>
          <p:nvPicPr>
            <p:cNvPr id="31" name="Graphique 30" descr="Presse-papiers mixte avec un remplissage uni">
              <a:extLst>
                <a:ext uri="{FF2B5EF4-FFF2-40B4-BE49-F238E27FC236}">
                  <a16:creationId xmlns:a16="http://schemas.microsoft.com/office/drawing/2014/main" id="{7FC6B81F-130D-AE25-EB90-70611E8F954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rot="20207580">
              <a:off x="6060465" y="3580343"/>
              <a:ext cx="314429" cy="314429"/>
            </a:xfrm>
            <a:prstGeom prst="rect">
              <a:avLst/>
            </a:prstGeom>
          </p:spPr>
        </p:pic>
        <p:grpSp>
          <p:nvGrpSpPr>
            <p:cNvPr id="32" name="Groupe 31">
              <a:extLst>
                <a:ext uri="{FF2B5EF4-FFF2-40B4-BE49-F238E27FC236}">
                  <a16:creationId xmlns:a16="http://schemas.microsoft.com/office/drawing/2014/main" id="{EB7B95AC-8F76-DE9E-E862-0A35DF33A21B}"/>
                </a:ext>
              </a:extLst>
            </p:cNvPr>
            <p:cNvGrpSpPr/>
            <p:nvPr/>
          </p:nvGrpSpPr>
          <p:grpSpPr>
            <a:xfrm>
              <a:off x="6132133" y="3463636"/>
              <a:ext cx="612923" cy="883274"/>
              <a:chOff x="6132133" y="3463636"/>
              <a:chExt cx="612923" cy="883274"/>
            </a:xfrm>
            <a:grpFill/>
          </p:grpSpPr>
          <p:pic>
            <p:nvPicPr>
              <p:cNvPr id="35" name="Graphique 34" descr="Centre d’appels avec un remplissage uni">
                <a:extLst>
                  <a:ext uri="{FF2B5EF4-FFF2-40B4-BE49-F238E27FC236}">
                    <a16:creationId xmlns:a16="http://schemas.microsoft.com/office/drawing/2014/main" id="{BD63C7F0-0562-E294-6515-C35472065F10}"/>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b="44092"/>
              <a:stretch/>
            </p:blipFill>
            <p:spPr>
              <a:xfrm>
                <a:off x="6322855" y="3463636"/>
                <a:ext cx="422201" cy="236042"/>
              </a:xfrm>
              <a:prstGeom prst="rect">
                <a:avLst/>
              </a:prstGeom>
            </p:spPr>
          </p:pic>
          <p:grpSp>
            <p:nvGrpSpPr>
              <p:cNvPr id="36" name="Groupe 35">
                <a:extLst>
                  <a:ext uri="{FF2B5EF4-FFF2-40B4-BE49-F238E27FC236}">
                    <a16:creationId xmlns:a16="http://schemas.microsoft.com/office/drawing/2014/main" id="{6855DCD6-F7E5-044E-5416-B768C75DB695}"/>
                  </a:ext>
                </a:extLst>
              </p:cNvPr>
              <p:cNvGrpSpPr/>
              <p:nvPr/>
            </p:nvGrpSpPr>
            <p:grpSpPr>
              <a:xfrm flipH="1">
                <a:off x="6132133" y="3682042"/>
                <a:ext cx="611857" cy="664868"/>
                <a:chOff x="5018285" y="4055721"/>
                <a:chExt cx="696982" cy="731970"/>
              </a:xfrm>
              <a:grpFill/>
            </p:grpSpPr>
            <p:pic>
              <p:nvPicPr>
                <p:cNvPr id="37" name="Graphique 36" descr="Personne confuse avec un remplissage uni">
                  <a:extLst>
                    <a:ext uri="{FF2B5EF4-FFF2-40B4-BE49-F238E27FC236}">
                      <a16:creationId xmlns:a16="http://schemas.microsoft.com/office/drawing/2014/main" id="{0F6F8A09-AE12-0EDF-D233-470A3C8CC65D}"/>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30440" t="19951" r="-1"/>
                <a:stretch/>
              </p:blipFill>
              <p:spPr>
                <a:xfrm>
                  <a:off x="5079207" y="4055721"/>
                  <a:ext cx="636060" cy="731970"/>
                </a:xfrm>
                <a:prstGeom prst="rect">
                  <a:avLst/>
                </a:prstGeom>
              </p:spPr>
            </p:pic>
            <p:sp>
              <p:nvSpPr>
                <p:cNvPr id="38" name="Rectangle : coins arrondis 37">
                  <a:extLst>
                    <a:ext uri="{FF2B5EF4-FFF2-40B4-BE49-F238E27FC236}">
                      <a16:creationId xmlns:a16="http://schemas.microsoft.com/office/drawing/2014/main" id="{6DE03B6C-9E5A-BEA8-A01A-77842F0D28A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33" name="Image 32">
              <a:extLst>
                <a:ext uri="{FF2B5EF4-FFF2-40B4-BE49-F238E27FC236}">
                  <a16:creationId xmlns:a16="http://schemas.microsoft.com/office/drawing/2014/main" id="{295A93AC-9D1B-F922-720C-C39D73CF71D9}"/>
                </a:ext>
              </a:extLst>
            </p:cNvPr>
            <p:cNvPicPr>
              <a:picLocks noChangeAspect="1"/>
            </p:cNvPicPr>
            <p:nvPr/>
          </p:nvPicPr>
          <p:blipFill>
            <a:blip r:embed="rId13" cstate="print">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tretch>
              <a:fillRect/>
            </a:stretch>
          </p:blipFill>
          <p:spPr>
            <a:xfrm>
              <a:off x="6474915" y="3741133"/>
              <a:ext cx="109675" cy="109475"/>
            </a:xfrm>
            <a:prstGeom prst="rect">
              <a:avLst/>
            </a:prstGeom>
            <a:grpFill/>
          </p:spPr>
        </p:pic>
        <p:pic>
          <p:nvPicPr>
            <p:cNvPr id="34" name="Graphique 33" descr="Chronomètre avec un remplissage uni">
              <a:extLst>
                <a:ext uri="{FF2B5EF4-FFF2-40B4-BE49-F238E27FC236}">
                  <a16:creationId xmlns:a16="http://schemas.microsoft.com/office/drawing/2014/main" id="{75432139-BEF6-D02D-A4F5-6C1F6A7C85DF}"/>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714271" y="3602551"/>
              <a:ext cx="165579" cy="165579"/>
            </a:xfrm>
            <a:prstGeom prst="rect">
              <a:avLst/>
            </a:prstGeom>
          </p:spPr>
        </p:pic>
      </p:grpSp>
      <p:sp>
        <p:nvSpPr>
          <p:cNvPr id="39" name="Rectangle 38">
            <a:extLst>
              <a:ext uri="{FF2B5EF4-FFF2-40B4-BE49-F238E27FC236}">
                <a16:creationId xmlns:a16="http://schemas.microsoft.com/office/drawing/2014/main" id="{43A98B3B-B393-DF0F-7A32-1BDF5F12FDD1}"/>
              </a:ext>
            </a:extLst>
          </p:cNvPr>
          <p:cNvSpPr/>
          <p:nvPr/>
        </p:nvSpPr>
        <p:spPr>
          <a:xfrm>
            <a:off x="8975426" y="2855971"/>
            <a:ext cx="1654134" cy="9451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Niv 5. Lead Animateur, Animatrice</a:t>
            </a:r>
            <a:endParaRPr lang="fr-FR" dirty="0">
              <a:solidFill>
                <a:schemeClr val="tx1"/>
              </a:solidFill>
            </a:endParaRPr>
          </a:p>
        </p:txBody>
      </p:sp>
      <p:sp>
        <p:nvSpPr>
          <p:cNvPr id="40" name="Rectangle 39">
            <a:extLst>
              <a:ext uri="{FF2B5EF4-FFF2-40B4-BE49-F238E27FC236}">
                <a16:creationId xmlns:a16="http://schemas.microsoft.com/office/drawing/2014/main" id="{077E9E32-490A-2C81-76D3-F9C7C8E734E7}"/>
              </a:ext>
            </a:extLst>
          </p:cNvPr>
          <p:cNvSpPr/>
          <p:nvPr/>
        </p:nvSpPr>
        <p:spPr>
          <a:xfrm>
            <a:off x="6813459" y="2855971"/>
            <a:ext cx="1654134" cy="9451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Niv 4. Co-animateur, Co-animatrice</a:t>
            </a:r>
            <a:endParaRPr lang="fr-FR" dirty="0">
              <a:solidFill>
                <a:schemeClr val="tx1"/>
              </a:solidFill>
            </a:endParaRPr>
          </a:p>
        </p:txBody>
      </p:sp>
    </p:spTree>
    <p:extLst>
      <p:ext uri="{BB962C8B-B14F-4D97-AF65-F5344CB8AC3E}">
        <p14:creationId xmlns:p14="http://schemas.microsoft.com/office/powerpoint/2010/main" val="3286301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49F907C0-4FAA-C722-C49A-FE3B783A93D4}"/>
              </a:ext>
            </a:extLst>
          </p:cNvPr>
          <p:cNvSpPr>
            <a:spLocks noGrp="1"/>
          </p:cNvSpPr>
          <p:nvPr>
            <p:ph type="title"/>
          </p:nvPr>
        </p:nvSpPr>
        <p:spPr/>
        <p:txBody>
          <a:bodyPr/>
          <a:lstStyle/>
          <a:p>
            <a:r>
              <a:rPr lang="fr-FR" dirty="0"/>
              <a:t>(Facultatif) Debriefing général en grand groupe</a:t>
            </a:r>
          </a:p>
        </p:txBody>
      </p:sp>
      <p:sp>
        <p:nvSpPr>
          <p:cNvPr id="11" name="Espace réservé du contenu 10">
            <a:extLst>
              <a:ext uri="{FF2B5EF4-FFF2-40B4-BE49-F238E27FC236}">
                <a16:creationId xmlns:a16="http://schemas.microsoft.com/office/drawing/2014/main" id="{7780F191-B2C6-4565-2425-4BDAEF7905DB}"/>
              </a:ext>
            </a:extLst>
          </p:cNvPr>
          <p:cNvSpPr>
            <a:spLocks noGrp="1"/>
          </p:cNvSpPr>
          <p:nvPr>
            <p:ph idx="1"/>
          </p:nvPr>
        </p:nvSpPr>
        <p:spPr>
          <a:xfrm>
            <a:off x="848783" y="2362688"/>
            <a:ext cx="3121100" cy="3546325"/>
          </a:xfrm>
        </p:spPr>
        <p:txBody>
          <a:bodyPr>
            <a:normAutofit/>
          </a:bodyPr>
          <a:lstStyle/>
          <a:p>
            <a:pPr marL="0" indent="0">
              <a:buNone/>
            </a:pPr>
            <a:r>
              <a:rPr lang="fr-FR" dirty="0"/>
              <a:t>Qui parmi vous est motivé(e) à </a:t>
            </a:r>
            <a:r>
              <a:rPr lang="fr-FR" b="1" dirty="0">
                <a:solidFill>
                  <a:srgbClr val="ED7D31"/>
                </a:solidFill>
              </a:rPr>
              <a:t>monter en niveau </a:t>
            </a:r>
            <a:r>
              <a:rPr lang="fr-FR" dirty="0"/>
              <a:t>sur Handi Situations ? </a:t>
            </a:r>
          </a:p>
          <a:p>
            <a:pPr marL="0" indent="0">
              <a:buNone/>
            </a:pPr>
            <a:r>
              <a:rPr lang="fr-FR" dirty="0"/>
              <a:t>Et à </a:t>
            </a:r>
            <a:r>
              <a:rPr lang="fr-FR" b="1" dirty="0">
                <a:solidFill>
                  <a:srgbClr val="ED7D31"/>
                </a:solidFill>
              </a:rPr>
              <a:t>quel niveau cible </a:t>
            </a:r>
            <a:r>
              <a:rPr lang="fr-FR" dirty="0"/>
              <a:t>?  </a:t>
            </a:r>
          </a:p>
          <a:p>
            <a:pPr marL="0" indent="0">
              <a:buNone/>
            </a:pPr>
            <a:r>
              <a:rPr lang="fr-FR" dirty="0"/>
              <a:t>(Nous vous y aiderons !)</a:t>
            </a:r>
          </a:p>
        </p:txBody>
      </p:sp>
      <p:grpSp>
        <p:nvGrpSpPr>
          <p:cNvPr id="12" name="Groupe 11">
            <a:extLst>
              <a:ext uri="{FF2B5EF4-FFF2-40B4-BE49-F238E27FC236}">
                <a16:creationId xmlns:a16="http://schemas.microsoft.com/office/drawing/2014/main" id="{7B587D29-3ABC-E9D9-BC68-4C9FFF5990D6}"/>
              </a:ext>
            </a:extLst>
          </p:cNvPr>
          <p:cNvGrpSpPr/>
          <p:nvPr/>
        </p:nvGrpSpPr>
        <p:grpSpPr>
          <a:xfrm>
            <a:off x="9054814" y="2007136"/>
            <a:ext cx="721271" cy="781037"/>
            <a:chOff x="7560150" y="2879049"/>
            <a:chExt cx="982042" cy="1063416"/>
          </a:xfrm>
          <a:solidFill>
            <a:srgbClr val="ED7D31"/>
          </a:solidFill>
        </p:grpSpPr>
        <p:grpSp>
          <p:nvGrpSpPr>
            <p:cNvPr id="13" name="Groupe 12">
              <a:extLst>
                <a:ext uri="{FF2B5EF4-FFF2-40B4-BE49-F238E27FC236}">
                  <a16:creationId xmlns:a16="http://schemas.microsoft.com/office/drawing/2014/main" id="{6244AEF0-0D19-FCCA-CA94-DD690617690A}"/>
                </a:ext>
              </a:extLst>
            </p:cNvPr>
            <p:cNvGrpSpPr/>
            <p:nvPr/>
          </p:nvGrpSpPr>
          <p:grpSpPr>
            <a:xfrm>
              <a:off x="7798849" y="2879049"/>
              <a:ext cx="743343" cy="1063416"/>
              <a:chOff x="6391015" y="3260296"/>
              <a:chExt cx="743343" cy="1063416"/>
            </a:xfrm>
            <a:grpFill/>
          </p:grpSpPr>
          <p:grpSp>
            <p:nvGrpSpPr>
              <p:cNvPr id="15" name="Groupe 14">
                <a:extLst>
                  <a:ext uri="{FF2B5EF4-FFF2-40B4-BE49-F238E27FC236}">
                    <a16:creationId xmlns:a16="http://schemas.microsoft.com/office/drawing/2014/main" id="{BA6A5FB3-5AAB-F39D-273D-96A8ECC1C4A9}"/>
                  </a:ext>
                </a:extLst>
              </p:cNvPr>
              <p:cNvGrpSpPr/>
              <p:nvPr/>
            </p:nvGrpSpPr>
            <p:grpSpPr>
              <a:xfrm>
                <a:off x="6391015" y="3260296"/>
                <a:ext cx="743343" cy="1063416"/>
                <a:chOff x="6298348" y="3168316"/>
                <a:chExt cx="867130" cy="1240504"/>
              </a:xfrm>
              <a:grpFill/>
            </p:grpSpPr>
            <p:pic>
              <p:nvPicPr>
                <p:cNvPr id="17" name="Graphique 16" descr="Enseignant avec un remplissage uni">
                  <a:extLst>
                    <a:ext uri="{FF2B5EF4-FFF2-40B4-BE49-F238E27FC236}">
                      <a16:creationId xmlns:a16="http://schemas.microsoft.com/office/drawing/2014/main" id="{5E209A7E-F7EB-6D5D-1F45-C8E601ADD84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18" name="Graphique 17" descr="Personne confuse avec un remplissage uni">
                  <a:extLst>
                    <a:ext uri="{FF2B5EF4-FFF2-40B4-BE49-F238E27FC236}">
                      <a16:creationId xmlns:a16="http://schemas.microsoft.com/office/drawing/2014/main" id="{3713690E-759B-F4CC-BD61-A4B9B6C3501B}"/>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19" name="Rectangle : coins arrondis 18">
                  <a:extLst>
                    <a:ext uri="{FF2B5EF4-FFF2-40B4-BE49-F238E27FC236}">
                      <a16:creationId xmlns:a16="http://schemas.microsoft.com/office/drawing/2014/main" id="{7DE55B5A-452A-90EB-8F72-76A541ED4E1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6" name="Image 15">
                <a:extLst>
                  <a:ext uri="{FF2B5EF4-FFF2-40B4-BE49-F238E27FC236}">
                    <a16:creationId xmlns:a16="http://schemas.microsoft.com/office/drawing/2014/main" id="{F883ED55-D6D5-5495-88ED-486E5D16468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14" name="Graphique 13" descr="Presse-papiers mixte avec un remplissage uni">
              <a:extLst>
                <a:ext uri="{FF2B5EF4-FFF2-40B4-BE49-F238E27FC236}">
                  <a16:creationId xmlns:a16="http://schemas.microsoft.com/office/drawing/2014/main" id="{213B1D68-350A-F439-E110-3F75AB163CA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grpSp>
        <p:nvGrpSpPr>
          <p:cNvPr id="20" name="Groupe 19">
            <a:extLst>
              <a:ext uri="{FF2B5EF4-FFF2-40B4-BE49-F238E27FC236}">
                <a16:creationId xmlns:a16="http://schemas.microsoft.com/office/drawing/2014/main" id="{418C75E5-A273-8D2F-C59D-18F8068BAD01}"/>
              </a:ext>
            </a:extLst>
          </p:cNvPr>
          <p:cNvGrpSpPr/>
          <p:nvPr/>
        </p:nvGrpSpPr>
        <p:grpSpPr>
          <a:xfrm>
            <a:off x="6303934" y="4108863"/>
            <a:ext cx="774022" cy="755427"/>
            <a:chOff x="4763560" y="3762738"/>
            <a:chExt cx="978178" cy="925014"/>
          </a:xfrm>
        </p:grpSpPr>
        <p:grpSp>
          <p:nvGrpSpPr>
            <p:cNvPr id="21" name="Groupe 20">
              <a:extLst>
                <a:ext uri="{FF2B5EF4-FFF2-40B4-BE49-F238E27FC236}">
                  <a16:creationId xmlns:a16="http://schemas.microsoft.com/office/drawing/2014/main" id="{1D1C95E7-C609-E9D5-F394-0BAFB12B9074}"/>
                </a:ext>
              </a:extLst>
            </p:cNvPr>
            <p:cNvGrpSpPr/>
            <p:nvPr/>
          </p:nvGrpSpPr>
          <p:grpSpPr>
            <a:xfrm flipH="1">
              <a:off x="4766064" y="3762738"/>
              <a:ext cx="975674" cy="925014"/>
              <a:chOff x="4716415" y="3792004"/>
              <a:chExt cx="1009529" cy="925014"/>
            </a:xfrm>
          </p:grpSpPr>
          <p:pic>
            <p:nvPicPr>
              <p:cNvPr id="24" name="Graphique 23" descr="Mégaphone1 avec un remplissage uni">
                <a:extLst>
                  <a:ext uri="{FF2B5EF4-FFF2-40B4-BE49-F238E27FC236}">
                    <a16:creationId xmlns:a16="http://schemas.microsoft.com/office/drawing/2014/main" id="{D83C6433-2E6D-6405-84BB-074F94F42E89}"/>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4716415" y="3792004"/>
                <a:ext cx="384826" cy="398002"/>
              </a:xfrm>
              <a:prstGeom prst="rect">
                <a:avLst/>
              </a:prstGeom>
            </p:spPr>
          </p:pic>
          <p:grpSp>
            <p:nvGrpSpPr>
              <p:cNvPr id="25" name="Groupe 24">
                <a:extLst>
                  <a:ext uri="{FF2B5EF4-FFF2-40B4-BE49-F238E27FC236}">
                    <a16:creationId xmlns:a16="http://schemas.microsoft.com/office/drawing/2014/main" id="{B9FE05C4-F5DB-6C53-D974-FE436C2A3AD3}"/>
                  </a:ext>
                </a:extLst>
              </p:cNvPr>
              <p:cNvGrpSpPr/>
              <p:nvPr/>
            </p:nvGrpSpPr>
            <p:grpSpPr>
              <a:xfrm>
                <a:off x="5048496" y="3886444"/>
                <a:ext cx="633086" cy="830574"/>
                <a:chOff x="5018285" y="3873291"/>
                <a:chExt cx="696980" cy="914400"/>
              </a:xfrm>
            </p:grpSpPr>
            <p:pic>
              <p:nvPicPr>
                <p:cNvPr id="28" name="Graphique 27" descr="Personne confuse avec un remplissage uni">
                  <a:extLst>
                    <a:ext uri="{FF2B5EF4-FFF2-40B4-BE49-F238E27FC236}">
                      <a16:creationId xmlns:a16="http://schemas.microsoft.com/office/drawing/2014/main" id="{D00F2395-8FE0-BBCC-E569-F34A46FCAE2A}"/>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30440" r="-1"/>
                <a:stretch/>
              </p:blipFill>
              <p:spPr>
                <a:xfrm>
                  <a:off x="5079206" y="3873291"/>
                  <a:ext cx="636059" cy="914400"/>
                </a:xfrm>
                <a:prstGeom prst="rect">
                  <a:avLst/>
                </a:prstGeom>
              </p:spPr>
            </p:pic>
            <p:sp>
              <p:nvSpPr>
                <p:cNvPr id="29" name="Rectangle : coins arrondis 28">
                  <a:extLst>
                    <a:ext uri="{FF2B5EF4-FFF2-40B4-BE49-F238E27FC236}">
                      <a16:creationId xmlns:a16="http://schemas.microsoft.com/office/drawing/2014/main" id="{65484E30-9701-B2BA-F9BB-E70618EFE4C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Graphique 25" descr="Balance de la justice avec un remplissage uni">
                <a:extLst>
                  <a:ext uri="{FF2B5EF4-FFF2-40B4-BE49-F238E27FC236}">
                    <a16:creationId xmlns:a16="http://schemas.microsoft.com/office/drawing/2014/main" id="{877270BF-9EAF-2726-A2B0-E18D6AE5744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5374349" y="3867945"/>
                <a:ext cx="351595" cy="351595"/>
              </a:xfrm>
              <a:prstGeom prst="rect">
                <a:avLst/>
              </a:prstGeom>
            </p:spPr>
          </p:pic>
          <p:pic>
            <p:nvPicPr>
              <p:cNvPr id="27" name="Image 26">
                <a:extLst>
                  <a:ext uri="{FF2B5EF4-FFF2-40B4-BE49-F238E27FC236}">
                    <a16:creationId xmlns:a16="http://schemas.microsoft.com/office/drawing/2014/main" id="{360E3ABD-7780-E612-9B85-B21FA993282D}"/>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22" name="Graphique 21" descr="Balance de la justice avec un remplissage uni">
              <a:extLst>
                <a:ext uri="{FF2B5EF4-FFF2-40B4-BE49-F238E27FC236}">
                  <a16:creationId xmlns:a16="http://schemas.microsoft.com/office/drawing/2014/main" id="{E40F90FB-C572-A3FA-BFAA-870640396EF5}"/>
                </a:ext>
              </a:extLst>
            </p:cNvPr>
            <p:cNvPicPr>
              <a:picLocks noChangeAspect="1"/>
            </p:cNvPicPr>
            <p:nvPr/>
          </p:nvPicPr>
          <p:blipFill rotWithShape="1">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rcRect l="7711" t="16230" r="55712" b="32471"/>
            <a:stretch/>
          </p:blipFill>
          <p:spPr>
            <a:xfrm flipH="1">
              <a:off x="4955380" y="3895743"/>
              <a:ext cx="124289" cy="180364"/>
            </a:xfrm>
            <a:prstGeom prst="rect">
              <a:avLst/>
            </a:prstGeom>
          </p:spPr>
        </p:pic>
        <p:pic>
          <p:nvPicPr>
            <p:cNvPr id="23" name="Graphique 22" descr="Balance de la justice avec un remplissage uni">
              <a:extLst>
                <a:ext uri="{FF2B5EF4-FFF2-40B4-BE49-F238E27FC236}">
                  <a16:creationId xmlns:a16="http://schemas.microsoft.com/office/drawing/2014/main" id="{5EFFA5A9-6FD9-E75D-9634-B3CD5F49AA89}"/>
                </a:ext>
              </a:extLst>
            </p:cNvPr>
            <p:cNvPicPr>
              <a:picLocks noChangeAspect="1"/>
            </p:cNvPicPr>
            <p:nvPr/>
          </p:nvPicPr>
          <p:blipFill rotWithShape="1">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rcRect l="58383" t="16186" b="30375"/>
            <a:stretch/>
          </p:blipFill>
          <p:spPr>
            <a:xfrm flipH="1">
              <a:off x="4763560" y="3895742"/>
              <a:ext cx="141416" cy="187889"/>
            </a:xfrm>
            <a:prstGeom prst="rect">
              <a:avLst/>
            </a:prstGeom>
          </p:spPr>
        </p:pic>
      </p:grpSp>
      <p:grpSp>
        <p:nvGrpSpPr>
          <p:cNvPr id="30" name="Groupe 29">
            <a:extLst>
              <a:ext uri="{FF2B5EF4-FFF2-40B4-BE49-F238E27FC236}">
                <a16:creationId xmlns:a16="http://schemas.microsoft.com/office/drawing/2014/main" id="{3BBFA5DE-37BA-C516-22A7-CFE8A51F4E22}"/>
              </a:ext>
            </a:extLst>
          </p:cNvPr>
          <p:cNvGrpSpPr/>
          <p:nvPr/>
        </p:nvGrpSpPr>
        <p:grpSpPr>
          <a:xfrm>
            <a:off x="7676125" y="2982118"/>
            <a:ext cx="601806" cy="648730"/>
            <a:chOff x="6060465" y="3463636"/>
            <a:chExt cx="819385" cy="883274"/>
          </a:xfrm>
          <a:solidFill>
            <a:srgbClr val="ED7D31"/>
          </a:solidFill>
        </p:grpSpPr>
        <p:pic>
          <p:nvPicPr>
            <p:cNvPr id="31" name="Graphique 30" descr="Presse-papiers mixte avec un remplissage uni">
              <a:extLst>
                <a:ext uri="{FF2B5EF4-FFF2-40B4-BE49-F238E27FC236}">
                  <a16:creationId xmlns:a16="http://schemas.microsoft.com/office/drawing/2014/main" id="{7FC6B81F-130D-AE25-EB90-70611E8F954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20207580">
              <a:off x="6060465" y="3580343"/>
              <a:ext cx="314429" cy="314429"/>
            </a:xfrm>
            <a:prstGeom prst="rect">
              <a:avLst/>
            </a:prstGeom>
          </p:spPr>
        </p:pic>
        <p:grpSp>
          <p:nvGrpSpPr>
            <p:cNvPr id="32" name="Groupe 31">
              <a:extLst>
                <a:ext uri="{FF2B5EF4-FFF2-40B4-BE49-F238E27FC236}">
                  <a16:creationId xmlns:a16="http://schemas.microsoft.com/office/drawing/2014/main" id="{EB7B95AC-8F76-DE9E-E862-0A35DF33A21B}"/>
                </a:ext>
              </a:extLst>
            </p:cNvPr>
            <p:cNvGrpSpPr/>
            <p:nvPr/>
          </p:nvGrpSpPr>
          <p:grpSpPr>
            <a:xfrm>
              <a:off x="6132133" y="3463636"/>
              <a:ext cx="612923" cy="883274"/>
              <a:chOff x="6132133" y="3463636"/>
              <a:chExt cx="612923" cy="883274"/>
            </a:xfrm>
            <a:grpFill/>
          </p:grpSpPr>
          <p:pic>
            <p:nvPicPr>
              <p:cNvPr id="35" name="Graphique 34" descr="Centre d’appels avec un remplissage uni">
                <a:extLst>
                  <a:ext uri="{FF2B5EF4-FFF2-40B4-BE49-F238E27FC236}">
                    <a16:creationId xmlns:a16="http://schemas.microsoft.com/office/drawing/2014/main" id="{BD63C7F0-0562-E294-6515-C35472065F10}"/>
                  </a:ext>
                </a:extLst>
              </p:cNvPr>
              <p:cNvPicPr>
                <a:picLocks noChangeAspect="1"/>
              </p:cNvPicPr>
              <p:nvPr/>
            </p:nvPicPr>
            <p:blipFill rotWithShape="1">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rcRect b="44092"/>
              <a:stretch/>
            </p:blipFill>
            <p:spPr>
              <a:xfrm>
                <a:off x="6322855" y="3463636"/>
                <a:ext cx="422201" cy="236042"/>
              </a:xfrm>
              <a:prstGeom prst="rect">
                <a:avLst/>
              </a:prstGeom>
            </p:spPr>
          </p:pic>
          <p:grpSp>
            <p:nvGrpSpPr>
              <p:cNvPr id="36" name="Groupe 35">
                <a:extLst>
                  <a:ext uri="{FF2B5EF4-FFF2-40B4-BE49-F238E27FC236}">
                    <a16:creationId xmlns:a16="http://schemas.microsoft.com/office/drawing/2014/main" id="{6855DCD6-F7E5-044E-5416-B768C75DB695}"/>
                  </a:ext>
                </a:extLst>
              </p:cNvPr>
              <p:cNvGrpSpPr/>
              <p:nvPr/>
            </p:nvGrpSpPr>
            <p:grpSpPr>
              <a:xfrm flipH="1">
                <a:off x="6132133" y="3682042"/>
                <a:ext cx="611857" cy="664868"/>
                <a:chOff x="5018285" y="4055721"/>
                <a:chExt cx="696982" cy="731970"/>
              </a:xfrm>
              <a:grpFill/>
            </p:grpSpPr>
            <p:pic>
              <p:nvPicPr>
                <p:cNvPr id="37" name="Graphique 36" descr="Personne confuse avec un remplissage uni">
                  <a:extLst>
                    <a:ext uri="{FF2B5EF4-FFF2-40B4-BE49-F238E27FC236}">
                      <a16:creationId xmlns:a16="http://schemas.microsoft.com/office/drawing/2014/main" id="{0F6F8A09-AE12-0EDF-D233-470A3C8CC65D}"/>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30440" t="19951" r="-1"/>
                <a:stretch/>
              </p:blipFill>
              <p:spPr>
                <a:xfrm>
                  <a:off x="5079207" y="4055721"/>
                  <a:ext cx="636060" cy="731970"/>
                </a:xfrm>
                <a:prstGeom prst="rect">
                  <a:avLst/>
                </a:prstGeom>
              </p:spPr>
            </p:pic>
            <p:sp>
              <p:nvSpPr>
                <p:cNvPr id="38" name="Rectangle : coins arrondis 37">
                  <a:extLst>
                    <a:ext uri="{FF2B5EF4-FFF2-40B4-BE49-F238E27FC236}">
                      <a16:creationId xmlns:a16="http://schemas.microsoft.com/office/drawing/2014/main" id="{6DE03B6C-9E5A-BEA8-A01A-77842F0D28A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33" name="Image 32">
              <a:extLst>
                <a:ext uri="{FF2B5EF4-FFF2-40B4-BE49-F238E27FC236}">
                  <a16:creationId xmlns:a16="http://schemas.microsoft.com/office/drawing/2014/main" id="{295A93AC-9D1B-F922-720C-C39D73CF71D9}"/>
                </a:ext>
              </a:extLst>
            </p:cNvPr>
            <p:cNvPicPr>
              <a:picLocks noChangeAspect="1"/>
            </p:cNvPicPr>
            <p:nvPr/>
          </p:nvPicPr>
          <p:blipFill>
            <a:blip r:embed="rId22" cstate="print">
              <a:extLst>
                <a:ext uri="{BEBA8EAE-BF5A-486C-A8C5-ECC9F3942E4B}">
                  <a14:imgProps xmlns:a14="http://schemas.microsoft.com/office/drawing/2010/main">
                    <a14:imgLayer r:embed="rId23">
                      <a14:imgEffect>
                        <a14:brightnessContrast bright="100000"/>
                      </a14:imgEffect>
                    </a14:imgLayer>
                  </a14:imgProps>
                </a:ext>
                <a:ext uri="{28A0092B-C50C-407E-A947-70E740481C1C}">
                  <a14:useLocalDpi xmlns:a14="http://schemas.microsoft.com/office/drawing/2010/main"/>
                </a:ext>
              </a:extLst>
            </a:blip>
            <a:stretch>
              <a:fillRect/>
            </a:stretch>
          </p:blipFill>
          <p:spPr>
            <a:xfrm>
              <a:off x="6474915" y="3741133"/>
              <a:ext cx="109675" cy="109475"/>
            </a:xfrm>
            <a:prstGeom prst="rect">
              <a:avLst/>
            </a:prstGeom>
            <a:grpFill/>
          </p:spPr>
        </p:pic>
        <p:pic>
          <p:nvPicPr>
            <p:cNvPr id="34" name="Graphique 33" descr="Chronomètre avec un remplissage uni">
              <a:extLst>
                <a:ext uri="{FF2B5EF4-FFF2-40B4-BE49-F238E27FC236}">
                  <a16:creationId xmlns:a16="http://schemas.microsoft.com/office/drawing/2014/main" id="{75432139-BEF6-D02D-A4F5-6C1F6A7C85DF}"/>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6714271" y="3602551"/>
              <a:ext cx="165579" cy="165579"/>
            </a:xfrm>
            <a:prstGeom prst="rect">
              <a:avLst/>
            </a:prstGeom>
          </p:spPr>
        </p:pic>
      </p:grpSp>
      <p:sp>
        <p:nvSpPr>
          <p:cNvPr id="39" name="Rectangle 38">
            <a:extLst>
              <a:ext uri="{FF2B5EF4-FFF2-40B4-BE49-F238E27FC236}">
                <a16:creationId xmlns:a16="http://schemas.microsoft.com/office/drawing/2014/main" id="{43A98B3B-B393-DF0F-7A32-1BDF5F12FDD1}"/>
              </a:ext>
            </a:extLst>
          </p:cNvPr>
          <p:cNvSpPr/>
          <p:nvPr/>
        </p:nvSpPr>
        <p:spPr>
          <a:xfrm>
            <a:off x="8593685" y="2625151"/>
            <a:ext cx="1832351" cy="992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solidFill>
              </a:rPr>
              <a:t>5. Lead Animateur, Animatrice</a:t>
            </a:r>
          </a:p>
          <a:p>
            <a:pPr algn="ctr"/>
            <a:r>
              <a:rPr lang="fr-FR" sz="1000" dirty="0">
                <a:solidFill>
                  <a:schemeClr val="tx1"/>
                </a:solidFill>
              </a:rPr>
              <a:t>« Je me sens capable de mener l’animation de Handi Situations »</a:t>
            </a:r>
          </a:p>
        </p:txBody>
      </p:sp>
      <p:sp>
        <p:nvSpPr>
          <p:cNvPr id="40" name="Rectangle 39">
            <a:extLst>
              <a:ext uri="{FF2B5EF4-FFF2-40B4-BE49-F238E27FC236}">
                <a16:creationId xmlns:a16="http://schemas.microsoft.com/office/drawing/2014/main" id="{077E9E32-490A-2C81-76D3-F9C7C8E734E7}"/>
              </a:ext>
            </a:extLst>
          </p:cNvPr>
          <p:cNvSpPr/>
          <p:nvPr/>
        </p:nvSpPr>
        <p:spPr>
          <a:xfrm>
            <a:off x="7176371" y="3598487"/>
            <a:ext cx="1832351" cy="1110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solidFill>
              </a:rPr>
              <a:t>4. Co-animateur, Co-animatrice</a:t>
            </a:r>
          </a:p>
          <a:p>
            <a:pPr algn="ctr"/>
            <a:r>
              <a:rPr lang="fr-FR" sz="1000" dirty="0">
                <a:solidFill>
                  <a:schemeClr val="tx1"/>
                </a:solidFill>
              </a:rPr>
              <a:t>« Je veux tester la </a:t>
            </a:r>
            <a:r>
              <a:rPr lang="fr-FR" sz="1000" dirty="0" err="1">
                <a:solidFill>
                  <a:schemeClr val="tx1"/>
                </a:solidFill>
              </a:rPr>
              <a:t>co-animation</a:t>
            </a:r>
            <a:r>
              <a:rPr lang="fr-FR" sz="1000" dirty="0">
                <a:solidFill>
                  <a:schemeClr val="tx1"/>
                </a:solidFill>
              </a:rPr>
              <a:t> de Handi Situations avec quelqu’un qui mènera l’animation»</a:t>
            </a:r>
          </a:p>
        </p:txBody>
      </p:sp>
      <p:sp>
        <p:nvSpPr>
          <p:cNvPr id="41" name="Rectangle 40">
            <a:extLst>
              <a:ext uri="{FF2B5EF4-FFF2-40B4-BE49-F238E27FC236}">
                <a16:creationId xmlns:a16="http://schemas.microsoft.com/office/drawing/2014/main" id="{354232C6-D08A-39D3-705A-BC75B7676A1D}"/>
              </a:ext>
            </a:extLst>
          </p:cNvPr>
          <p:cNvSpPr/>
          <p:nvPr/>
        </p:nvSpPr>
        <p:spPr>
          <a:xfrm>
            <a:off x="5847425" y="4693074"/>
            <a:ext cx="1823978" cy="8881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solidFill>
              </a:rPr>
              <a:t>3. Eclaireur, Eclaireuse</a:t>
            </a:r>
          </a:p>
          <a:p>
            <a:pPr algn="ctr"/>
            <a:r>
              <a:rPr lang="fr-FR" sz="1000" dirty="0">
                <a:solidFill>
                  <a:schemeClr val="tx1"/>
                </a:solidFill>
              </a:rPr>
              <a:t>« Je veux organiser une nouvelle session de Handi Situations, avec des animateurs »</a:t>
            </a:r>
          </a:p>
        </p:txBody>
      </p:sp>
      <p:grpSp>
        <p:nvGrpSpPr>
          <p:cNvPr id="42" name="Groupe 41">
            <a:extLst>
              <a:ext uri="{FF2B5EF4-FFF2-40B4-BE49-F238E27FC236}">
                <a16:creationId xmlns:a16="http://schemas.microsoft.com/office/drawing/2014/main" id="{51BF952E-9081-1A9B-9D2E-983A73C3F0A7}"/>
              </a:ext>
            </a:extLst>
          </p:cNvPr>
          <p:cNvGrpSpPr/>
          <p:nvPr/>
        </p:nvGrpSpPr>
        <p:grpSpPr>
          <a:xfrm>
            <a:off x="10247820" y="1021003"/>
            <a:ext cx="897423" cy="865662"/>
            <a:chOff x="8930936" y="2408583"/>
            <a:chExt cx="1216113" cy="1173074"/>
          </a:xfrm>
          <a:solidFill>
            <a:schemeClr val="accent1"/>
          </a:solidFill>
        </p:grpSpPr>
        <p:grpSp>
          <p:nvGrpSpPr>
            <p:cNvPr id="43" name="Groupe 42">
              <a:extLst>
                <a:ext uri="{FF2B5EF4-FFF2-40B4-BE49-F238E27FC236}">
                  <a16:creationId xmlns:a16="http://schemas.microsoft.com/office/drawing/2014/main" id="{60621C9A-0103-6024-B4B2-7CA5027D9E31}"/>
                </a:ext>
              </a:extLst>
            </p:cNvPr>
            <p:cNvGrpSpPr/>
            <p:nvPr/>
          </p:nvGrpSpPr>
          <p:grpSpPr>
            <a:xfrm>
              <a:off x="8930936" y="2408583"/>
              <a:ext cx="1216113" cy="1173074"/>
              <a:chOff x="8930936" y="2401291"/>
              <a:chExt cx="1216113" cy="1173074"/>
            </a:xfrm>
            <a:grpFill/>
          </p:grpSpPr>
          <p:pic>
            <p:nvPicPr>
              <p:cNvPr id="47" name="Graphique 46" descr="Plan avec un remplissage uni">
                <a:extLst>
                  <a:ext uri="{FF2B5EF4-FFF2-40B4-BE49-F238E27FC236}">
                    <a16:creationId xmlns:a16="http://schemas.microsoft.com/office/drawing/2014/main" id="{2834399A-0264-7BD6-9FBB-7735EC7CD8B4}"/>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8930936" y="2401291"/>
                <a:ext cx="590762" cy="590762"/>
              </a:xfrm>
              <a:prstGeom prst="rect">
                <a:avLst/>
              </a:prstGeom>
            </p:spPr>
          </p:pic>
          <p:grpSp>
            <p:nvGrpSpPr>
              <p:cNvPr id="48" name="Groupe 47">
                <a:extLst>
                  <a:ext uri="{FF2B5EF4-FFF2-40B4-BE49-F238E27FC236}">
                    <a16:creationId xmlns:a16="http://schemas.microsoft.com/office/drawing/2014/main" id="{1CE0C873-A161-65DE-CD92-5564214E85F8}"/>
                  </a:ext>
                </a:extLst>
              </p:cNvPr>
              <p:cNvGrpSpPr/>
              <p:nvPr/>
            </p:nvGrpSpPr>
            <p:grpSpPr>
              <a:xfrm>
                <a:off x="9450069" y="2659965"/>
                <a:ext cx="696980" cy="914400"/>
                <a:chOff x="5018285" y="3873291"/>
                <a:chExt cx="696980" cy="914400"/>
              </a:xfrm>
              <a:grpFill/>
            </p:grpSpPr>
            <p:pic>
              <p:nvPicPr>
                <p:cNvPr id="49" name="Graphique 48" descr="Personne confuse avec un remplissage uni">
                  <a:extLst>
                    <a:ext uri="{FF2B5EF4-FFF2-40B4-BE49-F238E27FC236}">
                      <a16:creationId xmlns:a16="http://schemas.microsoft.com/office/drawing/2014/main" id="{A3A597DA-0763-ABA7-EED8-A7CE4C5AC3D5}"/>
                    </a:ext>
                  </a:extLst>
                </p:cNvPr>
                <p:cNvPicPr>
                  <a:picLocks noChangeAspect="1"/>
                </p:cNvPicPr>
                <p:nvPr/>
              </p:nvPicPr>
              <p:blipFill rotWithShape="1">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rcRect l="30440" r="-1"/>
                <a:stretch/>
              </p:blipFill>
              <p:spPr>
                <a:xfrm>
                  <a:off x="5079206" y="3873291"/>
                  <a:ext cx="636059" cy="914400"/>
                </a:xfrm>
                <a:prstGeom prst="rect">
                  <a:avLst/>
                </a:prstGeom>
              </p:spPr>
            </p:pic>
            <p:sp>
              <p:nvSpPr>
                <p:cNvPr id="50" name="Rectangle : coins arrondis 49">
                  <a:extLst>
                    <a:ext uri="{FF2B5EF4-FFF2-40B4-BE49-F238E27FC236}">
                      <a16:creationId xmlns:a16="http://schemas.microsoft.com/office/drawing/2014/main" id="{38E8BF7A-B494-A652-43C5-4B8DE48B7AB9}"/>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44" name="Groupe 43">
              <a:extLst>
                <a:ext uri="{FF2B5EF4-FFF2-40B4-BE49-F238E27FC236}">
                  <a16:creationId xmlns:a16="http://schemas.microsoft.com/office/drawing/2014/main" id="{FA37739B-8DEF-1677-7624-B18AED6303C3}"/>
                </a:ext>
              </a:extLst>
            </p:cNvPr>
            <p:cNvGrpSpPr/>
            <p:nvPr/>
          </p:nvGrpSpPr>
          <p:grpSpPr>
            <a:xfrm>
              <a:off x="9237852" y="2714693"/>
              <a:ext cx="199881" cy="170748"/>
              <a:chOff x="8303417" y="2625343"/>
              <a:chExt cx="199881" cy="170748"/>
            </a:xfrm>
            <a:grpFill/>
          </p:grpSpPr>
          <p:sp>
            <p:nvSpPr>
              <p:cNvPr id="45" name="Rectangle 44">
                <a:extLst>
                  <a:ext uri="{FF2B5EF4-FFF2-40B4-BE49-F238E27FC236}">
                    <a16:creationId xmlns:a16="http://schemas.microsoft.com/office/drawing/2014/main" id="{C759F34E-1EA2-B2A6-28EE-B7D72F8E24D2}"/>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Image 45">
                <a:extLst>
                  <a:ext uri="{FF2B5EF4-FFF2-40B4-BE49-F238E27FC236}">
                    <a16:creationId xmlns:a16="http://schemas.microsoft.com/office/drawing/2014/main" id="{5D3C81AC-9E76-4051-E438-1D24386FED89}"/>
                  </a:ext>
                </a:extLst>
              </p:cNvPr>
              <p:cNvPicPr>
                <a:picLocks noChangeAspect="1"/>
              </p:cNvPicPr>
              <p:nvPr/>
            </p:nvPicPr>
            <p:blipFill>
              <a:blip r:embed="rId30" cstate="print">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sp>
        <p:nvSpPr>
          <p:cNvPr id="51" name="Rectangle 50">
            <a:extLst>
              <a:ext uri="{FF2B5EF4-FFF2-40B4-BE49-F238E27FC236}">
                <a16:creationId xmlns:a16="http://schemas.microsoft.com/office/drawing/2014/main" id="{91B59D5F-8E34-3D8C-1257-B34A48E2423F}"/>
              </a:ext>
            </a:extLst>
          </p:cNvPr>
          <p:cNvSpPr/>
          <p:nvPr/>
        </p:nvSpPr>
        <p:spPr>
          <a:xfrm>
            <a:off x="10109071" y="1707112"/>
            <a:ext cx="1602967" cy="919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t>6. Créateur, Créatrice</a:t>
            </a:r>
          </a:p>
          <a:p>
            <a:pPr algn="ctr"/>
            <a:r>
              <a:rPr lang="fr-FR" sz="1000" dirty="0"/>
              <a:t>« J’ai envie d’enrichir le jeu ou de créer une variante, pour l’animer ensuite »</a:t>
            </a:r>
          </a:p>
        </p:txBody>
      </p:sp>
      <p:sp>
        <p:nvSpPr>
          <p:cNvPr id="52" name="Rectangle 51">
            <a:extLst>
              <a:ext uri="{FF2B5EF4-FFF2-40B4-BE49-F238E27FC236}">
                <a16:creationId xmlns:a16="http://schemas.microsoft.com/office/drawing/2014/main" id="{983E1A14-0B0B-9886-40F4-E29F0CAB553C}"/>
              </a:ext>
            </a:extLst>
          </p:cNvPr>
          <p:cNvSpPr/>
          <p:nvPr/>
        </p:nvSpPr>
        <p:spPr>
          <a:xfrm>
            <a:off x="4320649" y="5550103"/>
            <a:ext cx="1823978" cy="8881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solidFill>
              </a:rPr>
              <a:t>Niveau 2. Joueurs</a:t>
            </a:r>
          </a:p>
          <a:p>
            <a:pPr algn="ctr"/>
            <a:r>
              <a:rPr lang="fr-FR" sz="1000" dirty="0">
                <a:solidFill>
                  <a:schemeClr val="tx1"/>
                </a:solidFill>
              </a:rPr>
              <a:t>« Nous venons de jouer »</a:t>
            </a:r>
          </a:p>
        </p:txBody>
      </p:sp>
      <p:grpSp>
        <p:nvGrpSpPr>
          <p:cNvPr id="2" name="Groupe 1">
            <a:extLst>
              <a:ext uri="{FF2B5EF4-FFF2-40B4-BE49-F238E27FC236}">
                <a16:creationId xmlns:a16="http://schemas.microsoft.com/office/drawing/2014/main" id="{F6F4E9B9-31C0-4857-6A22-4C2309C20D2D}"/>
              </a:ext>
            </a:extLst>
          </p:cNvPr>
          <p:cNvGrpSpPr/>
          <p:nvPr/>
        </p:nvGrpSpPr>
        <p:grpSpPr>
          <a:xfrm>
            <a:off x="4252619" y="5041412"/>
            <a:ext cx="610436" cy="539833"/>
            <a:chOff x="3239584" y="4265153"/>
            <a:chExt cx="944022" cy="834837"/>
          </a:xfrm>
        </p:grpSpPr>
        <p:grpSp>
          <p:nvGrpSpPr>
            <p:cNvPr id="3" name="Groupe 2">
              <a:extLst>
                <a:ext uri="{FF2B5EF4-FFF2-40B4-BE49-F238E27FC236}">
                  <a16:creationId xmlns:a16="http://schemas.microsoft.com/office/drawing/2014/main" id="{86C14C3C-2C83-2A16-E1B9-4FAF7FF497A1}"/>
                </a:ext>
              </a:extLst>
            </p:cNvPr>
            <p:cNvGrpSpPr/>
            <p:nvPr/>
          </p:nvGrpSpPr>
          <p:grpSpPr>
            <a:xfrm>
              <a:off x="3239584" y="4265153"/>
              <a:ext cx="944022" cy="834837"/>
              <a:chOff x="3239584" y="4265153"/>
              <a:chExt cx="944022" cy="834837"/>
            </a:xfrm>
          </p:grpSpPr>
          <p:pic>
            <p:nvPicPr>
              <p:cNvPr id="5" name="Graphique 4" descr="Personne confuse avec un remplissage uni">
                <a:extLst>
                  <a:ext uri="{FF2B5EF4-FFF2-40B4-BE49-F238E27FC236}">
                    <a16:creationId xmlns:a16="http://schemas.microsoft.com/office/drawing/2014/main" id="{846E9377-E8C9-3CD4-E655-CF1325228778}"/>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39584" y="4281195"/>
                <a:ext cx="818795" cy="818795"/>
              </a:xfrm>
              <a:prstGeom prst="rect">
                <a:avLst/>
              </a:prstGeom>
            </p:spPr>
          </p:pic>
          <p:pic>
            <p:nvPicPr>
              <p:cNvPr id="6" name="Graphique 5" descr="Calendrier journalier avec un remplissage uni">
                <a:extLst>
                  <a:ext uri="{FF2B5EF4-FFF2-40B4-BE49-F238E27FC236}">
                    <a16:creationId xmlns:a16="http://schemas.microsoft.com/office/drawing/2014/main" id="{73B393BA-6E40-6134-CD75-E5CEF56070E8}"/>
                  </a:ext>
                </a:extLst>
              </p:cNvPr>
              <p:cNvPicPr>
                <a:picLocks noChangeAspect="1"/>
              </p:cNvPicPr>
              <p:nvPr/>
            </p:nvPicPr>
            <p:blipFill>
              <a:blip r:embed="rId33"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826152" y="4265153"/>
                <a:ext cx="357454" cy="357454"/>
              </a:xfrm>
              <a:prstGeom prst="rect">
                <a:avLst/>
              </a:prstGeom>
            </p:spPr>
          </p:pic>
        </p:grpSp>
        <p:pic>
          <p:nvPicPr>
            <p:cNvPr id="4" name="Image 3">
              <a:extLst>
                <a:ext uri="{FF2B5EF4-FFF2-40B4-BE49-F238E27FC236}">
                  <a16:creationId xmlns:a16="http://schemas.microsoft.com/office/drawing/2014/main" id="{28EE7340-B3A6-EA2B-64AE-622CCC35149F}"/>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grpSp>
        <p:nvGrpSpPr>
          <p:cNvPr id="7" name="Groupe 6">
            <a:extLst>
              <a:ext uri="{FF2B5EF4-FFF2-40B4-BE49-F238E27FC236}">
                <a16:creationId xmlns:a16="http://schemas.microsoft.com/office/drawing/2014/main" id="{12941E0C-472E-0AC8-9B83-15C03D2E3AB9}"/>
              </a:ext>
            </a:extLst>
          </p:cNvPr>
          <p:cNvGrpSpPr/>
          <p:nvPr/>
        </p:nvGrpSpPr>
        <p:grpSpPr>
          <a:xfrm>
            <a:off x="4486556" y="5041413"/>
            <a:ext cx="610436" cy="539833"/>
            <a:chOff x="3239584" y="4265153"/>
            <a:chExt cx="944022" cy="834837"/>
          </a:xfrm>
        </p:grpSpPr>
        <p:grpSp>
          <p:nvGrpSpPr>
            <p:cNvPr id="8" name="Groupe 7">
              <a:extLst>
                <a:ext uri="{FF2B5EF4-FFF2-40B4-BE49-F238E27FC236}">
                  <a16:creationId xmlns:a16="http://schemas.microsoft.com/office/drawing/2014/main" id="{7031296C-C9A3-99BA-3BC0-A598C358D077}"/>
                </a:ext>
              </a:extLst>
            </p:cNvPr>
            <p:cNvGrpSpPr/>
            <p:nvPr/>
          </p:nvGrpSpPr>
          <p:grpSpPr>
            <a:xfrm>
              <a:off x="3239584" y="4265153"/>
              <a:ext cx="944022" cy="834837"/>
              <a:chOff x="3239584" y="4265153"/>
              <a:chExt cx="944022" cy="834837"/>
            </a:xfrm>
          </p:grpSpPr>
          <p:pic>
            <p:nvPicPr>
              <p:cNvPr id="53" name="Graphique 52" descr="Personne confuse avec un remplissage uni">
                <a:extLst>
                  <a:ext uri="{FF2B5EF4-FFF2-40B4-BE49-F238E27FC236}">
                    <a16:creationId xmlns:a16="http://schemas.microsoft.com/office/drawing/2014/main" id="{0624062F-D03B-3F7F-AF67-40ECE009FDCE}"/>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39584" y="4281195"/>
                <a:ext cx="818795" cy="818795"/>
              </a:xfrm>
              <a:prstGeom prst="rect">
                <a:avLst/>
              </a:prstGeom>
            </p:spPr>
          </p:pic>
          <p:pic>
            <p:nvPicPr>
              <p:cNvPr id="54" name="Graphique 53" descr="Calendrier journalier avec un remplissage uni">
                <a:extLst>
                  <a:ext uri="{FF2B5EF4-FFF2-40B4-BE49-F238E27FC236}">
                    <a16:creationId xmlns:a16="http://schemas.microsoft.com/office/drawing/2014/main" id="{F9EBE044-DB52-14CB-3015-7563D5ED0FCD}"/>
                  </a:ext>
                </a:extLst>
              </p:cNvPr>
              <p:cNvPicPr>
                <a:picLocks noChangeAspect="1"/>
              </p:cNvPicPr>
              <p:nvPr/>
            </p:nvPicPr>
            <p:blipFill>
              <a:blip r:embed="rId33"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826152" y="4265153"/>
                <a:ext cx="357454" cy="357454"/>
              </a:xfrm>
              <a:prstGeom prst="rect">
                <a:avLst/>
              </a:prstGeom>
            </p:spPr>
          </p:pic>
        </p:grpSp>
        <p:pic>
          <p:nvPicPr>
            <p:cNvPr id="9" name="Image 8">
              <a:extLst>
                <a:ext uri="{FF2B5EF4-FFF2-40B4-BE49-F238E27FC236}">
                  <a16:creationId xmlns:a16="http://schemas.microsoft.com/office/drawing/2014/main" id="{853CB25E-7444-6308-0264-4CE9CAF701EF}"/>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grpSp>
        <p:nvGrpSpPr>
          <p:cNvPr id="55" name="Groupe 54">
            <a:extLst>
              <a:ext uri="{FF2B5EF4-FFF2-40B4-BE49-F238E27FC236}">
                <a16:creationId xmlns:a16="http://schemas.microsoft.com/office/drawing/2014/main" id="{4226E535-640A-97CA-D02D-1C24F314A1A1}"/>
              </a:ext>
            </a:extLst>
          </p:cNvPr>
          <p:cNvGrpSpPr/>
          <p:nvPr/>
        </p:nvGrpSpPr>
        <p:grpSpPr>
          <a:xfrm>
            <a:off x="4644691" y="5041412"/>
            <a:ext cx="610436" cy="539833"/>
            <a:chOff x="3239584" y="4265153"/>
            <a:chExt cx="944022" cy="834837"/>
          </a:xfrm>
        </p:grpSpPr>
        <p:grpSp>
          <p:nvGrpSpPr>
            <p:cNvPr id="56" name="Groupe 55">
              <a:extLst>
                <a:ext uri="{FF2B5EF4-FFF2-40B4-BE49-F238E27FC236}">
                  <a16:creationId xmlns:a16="http://schemas.microsoft.com/office/drawing/2014/main" id="{6A3675CF-FBB2-7C4B-E2AD-2E8C484DAC42}"/>
                </a:ext>
              </a:extLst>
            </p:cNvPr>
            <p:cNvGrpSpPr/>
            <p:nvPr/>
          </p:nvGrpSpPr>
          <p:grpSpPr>
            <a:xfrm>
              <a:off x="3239584" y="4265153"/>
              <a:ext cx="944022" cy="834837"/>
              <a:chOff x="3239584" y="4265153"/>
              <a:chExt cx="944022" cy="834837"/>
            </a:xfrm>
          </p:grpSpPr>
          <p:pic>
            <p:nvPicPr>
              <p:cNvPr id="58" name="Graphique 57" descr="Personne confuse avec un remplissage uni">
                <a:extLst>
                  <a:ext uri="{FF2B5EF4-FFF2-40B4-BE49-F238E27FC236}">
                    <a16:creationId xmlns:a16="http://schemas.microsoft.com/office/drawing/2014/main" id="{69CF4CC1-794D-3CD4-0125-5E4A9A5207E8}"/>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39584" y="4281195"/>
                <a:ext cx="818795" cy="818795"/>
              </a:xfrm>
              <a:prstGeom prst="rect">
                <a:avLst/>
              </a:prstGeom>
            </p:spPr>
          </p:pic>
          <p:pic>
            <p:nvPicPr>
              <p:cNvPr id="59" name="Graphique 58" descr="Calendrier journalier avec un remplissage uni">
                <a:extLst>
                  <a:ext uri="{FF2B5EF4-FFF2-40B4-BE49-F238E27FC236}">
                    <a16:creationId xmlns:a16="http://schemas.microsoft.com/office/drawing/2014/main" id="{22FE6923-3799-0FAD-F9A0-FCD94880C42B}"/>
                  </a:ext>
                </a:extLst>
              </p:cNvPr>
              <p:cNvPicPr>
                <a:picLocks noChangeAspect="1"/>
              </p:cNvPicPr>
              <p:nvPr/>
            </p:nvPicPr>
            <p:blipFill>
              <a:blip r:embed="rId33"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826152" y="4265153"/>
                <a:ext cx="357454" cy="357454"/>
              </a:xfrm>
              <a:prstGeom prst="rect">
                <a:avLst/>
              </a:prstGeom>
            </p:spPr>
          </p:pic>
        </p:grpSp>
        <p:pic>
          <p:nvPicPr>
            <p:cNvPr id="57" name="Image 56">
              <a:extLst>
                <a:ext uri="{FF2B5EF4-FFF2-40B4-BE49-F238E27FC236}">
                  <a16:creationId xmlns:a16="http://schemas.microsoft.com/office/drawing/2014/main" id="{AE7C72D3-C849-B826-FB4D-F40569DB80EB}"/>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grpSp>
        <p:nvGrpSpPr>
          <p:cNvPr id="60" name="Groupe 59">
            <a:extLst>
              <a:ext uri="{FF2B5EF4-FFF2-40B4-BE49-F238E27FC236}">
                <a16:creationId xmlns:a16="http://schemas.microsoft.com/office/drawing/2014/main" id="{C49D89A0-B04D-D9CE-C95B-036255ED549B}"/>
              </a:ext>
            </a:extLst>
          </p:cNvPr>
          <p:cNvGrpSpPr/>
          <p:nvPr/>
        </p:nvGrpSpPr>
        <p:grpSpPr>
          <a:xfrm>
            <a:off x="4856155" y="5041412"/>
            <a:ext cx="610436" cy="539833"/>
            <a:chOff x="3239584" y="4265153"/>
            <a:chExt cx="944022" cy="834837"/>
          </a:xfrm>
        </p:grpSpPr>
        <p:grpSp>
          <p:nvGrpSpPr>
            <p:cNvPr id="61" name="Groupe 60">
              <a:extLst>
                <a:ext uri="{FF2B5EF4-FFF2-40B4-BE49-F238E27FC236}">
                  <a16:creationId xmlns:a16="http://schemas.microsoft.com/office/drawing/2014/main" id="{7F972E46-A848-E79A-5E80-FEDB11018EA7}"/>
                </a:ext>
              </a:extLst>
            </p:cNvPr>
            <p:cNvGrpSpPr/>
            <p:nvPr/>
          </p:nvGrpSpPr>
          <p:grpSpPr>
            <a:xfrm>
              <a:off x="3239584" y="4265153"/>
              <a:ext cx="944022" cy="834837"/>
              <a:chOff x="3239584" y="4265153"/>
              <a:chExt cx="944022" cy="834837"/>
            </a:xfrm>
          </p:grpSpPr>
          <p:pic>
            <p:nvPicPr>
              <p:cNvPr id="63" name="Graphique 62" descr="Personne confuse avec un remplissage uni">
                <a:extLst>
                  <a:ext uri="{FF2B5EF4-FFF2-40B4-BE49-F238E27FC236}">
                    <a16:creationId xmlns:a16="http://schemas.microsoft.com/office/drawing/2014/main" id="{111E32F9-30E3-F4F2-9AFA-F1D6A9CAF76E}"/>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39584" y="4281195"/>
                <a:ext cx="818795" cy="818795"/>
              </a:xfrm>
              <a:prstGeom prst="rect">
                <a:avLst/>
              </a:prstGeom>
            </p:spPr>
          </p:pic>
          <p:pic>
            <p:nvPicPr>
              <p:cNvPr id="64" name="Graphique 63" descr="Calendrier journalier avec un remplissage uni">
                <a:extLst>
                  <a:ext uri="{FF2B5EF4-FFF2-40B4-BE49-F238E27FC236}">
                    <a16:creationId xmlns:a16="http://schemas.microsoft.com/office/drawing/2014/main" id="{6741CF92-4F12-DDFB-35E9-08B706792557}"/>
                  </a:ext>
                </a:extLst>
              </p:cNvPr>
              <p:cNvPicPr>
                <a:picLocks noChangeAspect="1"/>
              </p:cNvPicPr>
              <p:nvPr/>
            </p:nvPicPr>
            <p:blipFill>
              <a:blip r:embed="rId33"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826152" y="4265153"/>
                <a:ext cx="357454" cy="357454"/>
              </a:xfrm>
              <a:prstGeom prst="rect">
                <a:avLst/>
              </a:prstGeom>
            </p:spPr>
          </p:pic>
        </p:grpSp>
        <p:pic>
          <p:nvPicPr>
            <p:cNvPr id="62" name="Image 61">
              <a:extLst>
                <a:ext uri="{FF2B5EF4-FFF2-40B4-BE49-F238E27FC236}">
                  <a16:creationId xmlns:a16="http://schemas.microsoft.com/office/drawing/2014/main" id="{9DD2F629-89FC-8397-361F-94A834D52819}"/>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grpSp>
        <p:nvGrpSpPr>
          <p:cNvPr id="65" name="Groupe 64">
            <a:extLst>
              <a:ext uri="{FF2B5EF4-FFF2-40B4-BE49-F238E27FC236}">
                <a16:creationId xmlns:a16="http://schemas.microsoft.com/office/drawing/2014/main" id="{E1291569-9028-7DA3-C0BA-965BA09A17CD}"/>
              </a:ext>
            </a:extLst>
          </p:cNvPr>
          <p:cNvGrpSpPr/>
          <p:nvPr/>
        </p:nvGrpSpPr>
        <p:grpSpPr>
          <a:xfrm>
            <a:off x="5035229" y="5041412"/>
            <a:ext cx="610436" cy="539833"/>
            <a:chOff x="3239584" y="4265153"/>
            <a:chExt cx="944022" cy="834837"/>
          </a:xfrm>
        </p:grpSpPr>
        <p:grpSp>
          <p:nvGrpSpPr>
            <p:cNvPr id="66" name="Groupe 65">
              <a:extLst>
                <a:ext uri="{FF2B5EF4-FFF2-40B4-BE49-F238E27FC236}">
                  <a16:creationId xmlns:a16="http://schemas.microsoft.com/office/drawing/2014/main" id="{8B46713B-7884-C9BB-AFAA-D4B6BB90C162}"/>
                </a:ext>
              </a:extLst>
            </p:cNvPr>
            <p:cNvGrpSpPr/>
            <p:nvPr/>
          </p:nvGrpSpPr>
          <p:grpSpPr>
            <a:xfrm>
              <a:off x="3239584" y="4265153"/>
              <a:ext cx="944022" cy="834837"/>
              <a:chOff x="3239584" y="4265153"/>
              <a:chExt cx="944022" cy="834837"/>
            </a:xfrm>
          </p:grpSpPr>
          <p:pic>
            <p:nvPicPr>
              <p:cNvPr id="68" name="Graphique 67" descr="Personne confuse avec un remplissage uni">
                <a:extLst>
                  <a:ext uri="{FF2B5EF4-FFF2-40B4-BE49-F238E27FC236}">
                    <a16:creationId xmlns:a16="http://schemas.microsoft.com/office/drawing/2014/main" id="{754E85FE-B515-63AF-0B70-7D8BF321B8FD}"/>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39584" y="4281195"/>
                <a:ext cx="818795" cy="818795"/>
              </a:xfrm>
              <a:prstGeom prst="rect">
                <a:avLst/>
              </a:prstGeom>
            </p:spPr>
          </p:pic>
          <p:pic>
            <p:nvPicPr>
              <p:cNvPr id="69" name="Graphique 68" descr="Calendrier journalier avec un remplissage uni">
                <a:extLst>
                  <a:ext uri="{FF2B5EF4-FFF2-40B4-BE49-F238E27FC236}">
                    <a16:creationId xmlns:a16="http://schemas.microsoft.com/office/drawing/2014/main" id="{9723B344-2132-579C-970B-E3137707C9B1}"/>
                  </a:ext>
                </a:extLst>
              </p:cNvPr>
              <p:cNvPicPr>
                <a:picLocks noChangeAspect="1"/>
              </p:cNvPicPr>
              <p:nvPr/>
            </p:nvPicPr>
            <p:blipFill>
              <a:blip r:embed="rId33"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826152" y="4265153"/>
                <a:ext cx="357454" cy="357454"/>
              </a:xfrm>
              <a:prstGeom prst="rect">
                <a:avLst/>
              </a:prstGeom>
            </p:spPr>
          </p:pic>
        </p:grpSp>
        <p:pic>
          <p:nvPicPr>
            <p:cNvPr id="67" name="Image 66">
              <a:extLst>
                <a:ext uri="{FF2B5EF4-FFF2-40B4-BE49-F238E27FC236}">
                  <a16:creationId xmlns:a16="http://schemas.microsoft.com/office/drawing/2014/main" id="{881031AC-AC0C-CD61-60F6-A42C063695E4}"/>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spTree>
    <p:extLst>
      <p:ext uri="{BB962C8B-B14F-4D97-AF65-F5344CB8AC3E}">
        <p14:creationId xmlns:p14="http://schemas.microsoft.com/office/powerpoint/2010/main" val="2893150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721600" cy="1325563"/>
          </a:xfrm>
        </p:spPr>
        <p:txBody>
          <a:bodyPr anchor="t">
            <a:noAutofit/>
          </a:bodyPr>
          <a:lstStyle/>
          <a:p>
            <a:r>
              <a:rPr lang="fr-FR" sz="3200" dirty="0"/>
              <a:t>Niveau 3 : Ressources supplémentaires</a:t>
            </a:r>
          </a:p>
        </p:txBody>
      </p:sp>
      <p:graphicFrame>
        <p:nvGraphicFramePr>
          <p:cNvPr id="3" name="Tableau 3">
            <a:extLst>
              <a:ext uri="{FF2B5EF4-FFF2-40B4-BE49-F238E27FC236}">
                <a16:creationId xmlns:a16="http://schemas.microsoft.com/office/drawing/2014/main" id="{18526129-8ACE-0DD0-6BA4-29873EDEB56A}"/>
              </a:ext>
            </a:extLst>
          </p:cNvPr>
          <p:cNvGraphicFramePr>
            <a:graphicFrameLocks noGrp="1"/>
          </p:cNvGraphicFramePr>
          <p:nvPr>
            <p:extLst>
              <p:ext uri="{D42A27DB-BD31-4B8C-83A1-F6EECF244321}">
                <p14:modId xmlns:p14="http://schemas.microsoft.com/office/powerpoint/2010/main" val="1522140659"/>
              </p:ext>
            </p:extLst>
          </p:nvPr>
        </p:nvGraphicFramePr>
        <p:xfrm>
          <a:off x="838200" y="2999776"/>
          <a:ext cx="10619756" cy="3509835"/>
        </p:xfrm>
        <a:graphic>
          <a:graphicData uri="http://schemas.openxmlformats.org/drawingml/2006/table">
            <a:tbl>
              <a:tblPr firstRow="1" bandRow="1">
                <a:tableStyleId>{5C22544A-7EE6-4342-B048-85BDC9FD1C3A}</a:tableStyleId>
              </a:tblPr>
              <a:tblGrid>
                <a:gridCol w="2450180">
                  <a:extLst>
                    <a:ext uri="{9D8B030D-6E8A-4147-A177-3AD203B41FA5}">
                      <a16:colId xmlns:a16="http://schemas.microsoft.com/office/drawing/2014/main" val="3876736984"/>
                    </a:ext>
                  </a:extLst>
                </a:gridCol>
                <a:gridCol w="2450180">
                  <a:extLst>
                    <a:ext uri="{9D8B030D-6E8A-4147-A177-3AD203B41FA5}">
                      <a16:colId xmlns:a16="http://schemas.microsoft.com/office/drawing/2014/main" val="3397622097"/>
                    </a:ext>
                  </a:extLst>
                </a:gridCol>
                <a:gridCol w="5719396">
                  <a:extLst>
                    <a:ext uri="{9D8B030D-6E8A-4147-A177-3AD203B41FA5}">
                      <a16:colId xmlns:a16="http://schemas.microsoft.com/office/drawing/2014/main" val="2343136639"/>
                    </a:ext>
                  </a:extLst>
                </a:gridCol>
              </a:tblGrid>
              <a:tr h="473367">
                <a:tc>
                  <a:txBody>
                    <a:bodyPr/>
                    <a:lstStyle/>
                    <a:p>
                      <a:r>
                        <a:rPr lang="fr-FR" sz="1050" dirty="0"/>
                        <a:t>Titre</a:t>
                      </a:r>
                    </a:p>
                  </a:txBody>
                  <a:tcPr/>
                </a:tc>
                <a:tc>
                  <a:txBody>
                    <a:bodyPr/>
                    <a:lstStyle/>
                    <a:p>
                      <a:pPr marL="0" algn="l" defTabSz="914400" rtl="0" eaLnBrk="1" latinLnBrk="0" hangingPunct="1"/>
                      <a:r>
                        <a:rPr lang="fr-FR" sz="1050" b="1" kern="1200" dirty="0">
                          <a:solidFill>
                            <a:schemeClr val="lt1"/>
                          </a:solidFill>
                          <a:latin typeface="+mn-lt"/>
                          <a:ea typeface="+mn-ea"/>
                          <a:cs typeface="+mn-cs"/>
                        </a:rPr>
                        <a:t>Source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b="1" kern="1200" noProof="0" dirty="0">
                          <a:solidFill>
                            <a:schemeClr val="lt1"/>
                          </a:solidFill>
                          <a:latin typeface="+mn-lt"/>
                          <a:ea typeface="+mn-ea"/>
                          <a:cs typeface="+mn-cs"/>
                        </a:rPr>
                        <a:t>Lien</a:t>
                      </a:r>
                    </a:p>
                  </a:txBody>
                  <a:tcPr/>
                </a:tc>
                <a:extLst>
                  <a:ext uri="{0D108BD9-81ED-4DB2-BD59-A6C34878D82A}">
                    <a16:rowId xmlns:a16="http://schemas.microsoft.com/office/drawing/2014/main" val="57630848"/>
                  </a:ext>
                </a:extLst>
              </a:tr>
              <a:tr h="473367">
                <a:tc>
                  <a:txBody>
                    <a:bodyPr/>
                    <a:lstStyle/>
                    <a:p>
                      <a:r>
                        <a:rPr lang="fr-FR" sz="1050" dirty="0"/>
                        <a:t>Données chiffrées par handicap</a:t>
                      </a:r>
                    </a:p>
                  </a:txBody>
                  <a:tcPr/>
                </a:tc>
                <a:tc>
                  <a:txBody>
                    <a:bodyPr/>
                    <a:lstStyle/>
                    <a:p>
                      <a:r>
                        <a:rPr lang="fr-FR" sz="1050" dirty="0"/>
                        <a:t>Ministère du travail, du plein emploi et de l’Insertion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1" u="none" strike="noStrike" kern="1200" cap="none" spc="0" normalizeH="0" baseline="0" noProof="0" dirty="0">
                          <a:ln>
                            <a:noFill/>
                          </a:ln>
                          <a:solidFill>
                            <a:prstClr val="black"/>
                          </a:solidFill>
                          <a:effectLst/>
                          <a:uLnTx/>
                          <a:uFillTx/>
                          <a:latin typeface="+mn-lt"/>
                          <a:ea typeface="+mn-ea"/>
                          <a:cs typeface="+mn-cs"/>
                          <a:hlinkClick r:id="rId2"/>
                        </a:rPr>
                        <a:t>https://travail-emploi.gouv.fr/IMG/pdf/donnes_chiffrees_par_handicap.pdf</a:t>
                      </a:r>
                      <a:endParaRPr kumimoji="0" lang="fr-FR" sz="105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326775514"/>
                  </a:ext>
                </a:extLst>
              </a:tr>
              <a:tr h="473367">
                <a:tc>
                  <a:txBody>
                    <a:bodyPr/>
                    <a:lstStyle/>
                    <a:p>
                      <a:r>
                        <a:rPr lang="fr-FR" sz="1050" dirty="0"/>
                        <a:t>Les Différents types de handicap</a:t>
                      </a:r>
                    </a:p>
                  </a:txBody>
                  <a:tcPr/>
                </a:tc>
                <a:tc>
                  <a:txBody>
                    <a:bodyPr/>
                    <a:lstStyle/>
                    <a:p>
                      <a:r>
                        <a:rPr lang="fr-FR" sz="1050" dirty="0"/>
                        <a:t>Maison départementale (Alpes Maritimes) des personnes handicapées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1" u="none" strike="noStrike" kern="1200" cap="none" spc="0" normalizeH="0" baseline="0" noProof="0" dirty="0">
                          <a:ln>
                            <a:noFill/>
                          </a:ln>
                          <a:solidFill>
                            <a:prstClr val="black"/>
                          </a:solidFill>
                          <a:effectLst/>
                          <a:uLnTx/>
                          <a:uFillTx/>
                          <a:latin typeface="+mn-lt"/>
                          <a:ea typeface="+mn-ea"/>
                          <a:cs typeface="+mn-cs"/>
                          <a:hlinkClick r:id="rId3"/>
                        </a:rPr>
                        <a:t>https://mdph.departement06.fr/actualites/actualites-7349/differents-types-de-handicaps-5781.html?cHash=48c088f2e3d06e45482e5c3a4380b313</a:t>
                      </a:r>
                      <a:endParaRPr kumimoji="0" lang="fr-FR" sz="105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276951036"/>
                  </a:ext>
                </a:extLst>
              </a:tr>
              <a:tr h="473367">
                <a:tc>
                  <a:txBody>
                    <a:bodyPr/>
                    <a:lstStyle/>
                    <a:p>
                      <a:r>
                        <a:rPr lang="fr-FR" sz="1050" dirty="0"/>
                        <a:t>Comprendre le Handicap</a:t>
                      </a:r>
                    </a:p>
                  </a:txBody>
                  <a:tcPr/>
                </a:tc>
                <a:tc>
                  <a:txBody>
                    <a:bodyPr/>
                    <a:lstStyle/>
                    <a:p>
                      <a:r>
                        <a:rPr lang="fr-FR" sz="1050" dirty="0"/>
                        <a:t>Maison départementale (Paris) des Personnes handicapées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1" u="none" strike="noStrike" kern="1200" cap="none" spc="0" normalizeH="0" baseline="0" noProof="0" dirty="0">
                          <a:ln>
                            <a:noFill/>
                          </a:ln>
                          <a:solidFill>
                            <a:prstClr val="black"/>
                          </a:solidFill>
                          <a:effectLst/>
                          <a:uLnTx/>
                          <a:uFillTx/>
                          <a:latin typeface="+mn-lt"/>
                          <a:ea typeface="+mn-ea"/>
                          <a:cs typeface="+mn-cs"/>
                          <a:hlinkClick r:id="rId4"/>
                        </a:rPr>
                        <a:t>https://handicap.paris.fr/comprendre-le-handicap/</a:t>
                      </a:r>
                      <a:endParaRPr kumimoji="0" lang="fr-FR" sz="105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422966240"/>
                  </a:ext>
                </a:extLst>
              </a:tr>
              <a:tr h="473367">
                <a:tc>
                  <a:txBody>
                    <a:bodyPr/>
                    <a:lstStyle/>
                    <a:p>
                      <a:r>
                        <a:rPr lang="fr-FR" sz="1050" dirty="0"/>
                        <a:t>Les formations du CCAH</a:t>
                      </a:r>
                    </a:p>
                  </a:txBody>
                  <a:tcPr/>
                </a:tc>
                <a:tc>
                  <a:txBody>
                    <a:bodyPr/>
                    <a:lstStyle/>
                    <a:p>
                      <a:r>
                        <a:rPr lang="fr-FR" sz="1050" dirty="0"/>
                        <a:t>Comité national Coordination Action Handicap (CCAH)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1" u="none" strike="noStrike" kern="1200" cap="none" spc="0" normalizeH="0" baseline="0" noProof="0" dirty="0">
                          <a:ln>
                            <a:noFill/>
                          </a:ln>
                          <a:solidFill>
                            <a:prstClr val="black"/>
                          </a:solidFill>
                          <a:effectLst/>
                          <a:uLnTx/>
                          <a:uFillTx/>
                          <a:latin typeface="+mn-lt"/>
                          <a:ea typeface="+mn-ea"/>
                          <a:cs typeface="+mn-cs"/>
                          <a:hlinkClick r:id="rId5"/>
                        </a:rPr>
                        <a:t>https://www.ccah.fr/CCAH/Accueil/Formation</a:t>
                      </a:r>
                      <a:endParaRPr kumimoji="0" lang="fr-FR" sz="105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145690058"/>
                  </a:ext>
                </a:extLst>
              </a:tr>
              <a:tr h="473367">
                <a:tc>
                  <a:txBody>
                    <a:bodyPr/>
                    <a:lstStyle/>
                    <a:p>
                      <a:r>
                        <a:rPr lang="fr-FR" sz="1050" dirty="0"/>
                        <a:t>Différences entre « personne en situation de handicap » et « personne handicapée »</a:t>
                      </a:r>
                    </a:p>
                  </a:txBody>
                  <a:tcPr/>
                </a:tc>
                <a:tc>
                  <a:txBody>
                    <a:bodyPr/>
                    <a:lstStyle/>
                    <a:p>
                      <a:r>
                        <a:rPr lang="fr-FR" sz="1050" dirty="0"/>
                        <a:t>Office des personnes handicapées du Québec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1" u="none" strike="noStrike" kern="1200" cap="none" spc="0" normalizeH="0" baseline="0" noProof="0" dirty="0">
                          <a:ln>
                            <a:noFill/>
                          </a:ln>
                          <a:solidFill>
                            <a:prstClr val="black"/>
                          </a:solidFill>
                          <a:effectLst/>
                          <a:uLnTx/>
                          <a:uFillTx/>
                          <a:latin typeface="+mn-lt"/>
                          <a:ea typeface="+mn-ea"/>
                          <a:cs typeface="+mn-cs"/>
                          <a:hlinkClick r:id="rId6"/>
                        </a:rPr>
                        <a:t>https://www.ophq.gouv.qc.ca/publications/cyberbulletins-de-loffice/express-o/volume-13-numero-4-ete-2019/mieux-comprendre/personne-handicapee-ou-personne-en-situation-de-handicap-y-a-t-il-une-difference.html</a:t>
                      </a:r>
                      <a:endParaRPr kumimoji="0" lang="fr-FR" sz="105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7418551"/>
                  </a:ext>
                </a:extLst>
              </a:tr>
              <a:tr h="473367">
                <a:tc>
                  <a:txBody>
                    <a:bodyPr/>
                    <a:lstStyle/>
                    <a:p>
                      <a:endParaRPr lang="fr-FR" sz="1050" dirty="0"/>
                    </a:p>
                  </a:txBody>
                  <a:tcPr/>
                </a:tc>
                <a:tc>
                  <a:txBody>
                    <a:bodyPr/>
                    <a:lstStyle/>
                    <a:p>
                      <a:endParaRPr lang="fr-FR"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104825905"/>
                  </a:ext>
                </a:extLst>
              </a:tr>
            </a:tbl>
          </a:graphicData>
        </a:graphic>
      </p:graphicFrame>
      <p:sp>
        <p:nvSpPr>
          <p:cNvPr id="4" name="Flèche : gauche 3">
            <a:extLst>
              <a:ext uri="{FF2B5EF4-FFF2-40B4-BE49-F238E27FC236}">
                <a16:creationId xmlns:a16="http://schemas.microsoft.com/office/drawing/2014/main" id="{A226FAB9-93F7-908F-4E9C-145FF618073F}"/>
              </a:ext>
            </a:extLst>
          </p:cNvPr>
          <p:cNvSpPr/>
          <p:nvPr/>
        </p:nvSpPr>
        <p:spPr>
          <a:xfrm rot="20800752">
            <a:off x="3748466" y="811610"/>
            <a:ext cx="8217902" cy="2690302"/>
          </a:xfrm>
          <a:prstGeom prst="leftArrow">
            <a:avLst>
              <a:gd name="adj1" fmla="val 69971"/>
              <a:gd name="adj2" fmla="val 50000"/>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a:solidFill>
                  <a:schemeClr val="tx1"/>
                </a:solidFill>
              </a:rPr>
              <a:t>A RETROUVER DANS LES RESSOURCES DU JEU !</a:t>
            </a:r>
          </a:p>
        </p:txBody>
      </p:sp>
    </p:spTree>
    <p:extLst>
      <p:ext uri="{BB962C8B-B14F-4D97-AF65-F5344CB8AC3E}">
        <p14:creationId xmlns:p14="http://schemas.microsoft.com/office/powerpoint/2010/main" val="4292887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1629D6-D22D-0B2B-5D2A-89DB29CA4230}"/>
              </a:ext>
            </a:extLst>
          </p:cNvPr>
          <p:cNvSpPr>
            <a:spLocks noGrp="1"/>
          </p:cNvSpPr>
          <p:nvPr>
            <p:ph type="ctrTitle"/>
          </p:nvPr>
        </p:nvSpPr>
        <p:spPr/>
        <p:txBody>
          <a:bodyPr/>
          <a:lstStyle/>
          <a:p>
            <a:r>
              <a:rPr lang="fr-FR" dirty="0"/>
              <a:t>Merci beaucoup</a:t>
            </a:r>
          </a:p>
        </p:txBody>
      </p:sp>
      <p:pic>
        <p:nvPicPr>
          <p:cNvPr id="5" name="Image 4">
            <a:extLst>
              <a:ext uri="{FF2B5EF4-FFF2-40B4-BE49-F238E27FC236}">
                <a16:creationId xmlns:a16="http://schemas.microsoft.com/office/drawing/2014/main" id="{F6DD6C37-296B-E605-9F41-7F0BD3FF667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515500" y="4996461"/>
            <a:ext cx="892537" cy="861298"/>
          </a:xfrm>
          <a:prstGeom prst="rect">
            <a:avLst/>
          </a:prstGeom>
        </p:spPr>
      </p:pic>
      <p:sp>
        <p:nvSpPr>
          <p:cNvPr id="6" name="ZoneTexte 5">
            <a:extLst>
              <a:ext uri="{FF2B5EF4-FFF2-40B4-BE49-F238E27FC236}">
                <a16:creationId xmlns:a16="http://schemas.microsoft.com/office/drawing/2014/main" id="{7AECD506-F027-E943-496C-DD8A3D414F27}"/>
              </a:ext>
            </a:extLst>
          </p:cNvPr>
          <p:cNvSpPr txBox="1"/>
          <p:nvPr/>
        </p:nvSpPr>
        <p:spPr>
          <a:xfrm>
            <a:off x="1988598" y="5891367"/>
            <a:ext cx="7572652" cy="646331"/>
          </a:xfrm>
          <a:prstGeom prst="rect">
            <a:avLst/>
          </a:prstGeom>
          <a:noFill/>
        </p:spPr>
        <p:txBody>
          <a:bodyPr wrap="square" rtlCol="0">
            <a:spAutoFit/>
          </a:bodyPr>
          <a:lstStyle/>
          <a:p>
            <a:pPr algn="ctr"/>
            <a:r>
              <a:rPr lang="fr-FR" sz="3600" b="1" i="1" dirty="0">
                <a:solidFill>
                  <a:srgbClr val="0683AA"/>
                </a:solidFill>
              </a:rPr>
              <a:t>A vous de jouer, à vous de transmettre</a:t>
            </a:r>
          </a:p>
        </p:txBody>
      </p:sp>
    </p:spTree>
    <p:extLst>
      <p:ext uri="{BB962C8B-B14F-4D97-AF65-F5344CB8AC3E}">
        <p14:creationId xmlns:p14="http://schemas.microsoft.com/office/powerpoint/2010/main" val="869061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p:txBody>
          <a:bodyPr/>
          <a:lstStyle/>
          <a:p>
            <a:r>
              <a:rPr lang="fr-FR" dirty="0"/>
              <a:t>Matériel de jeu</a:t>
            </a:r>
          </a:p>
        </p:txBody>
      </p:sp>
      <p:sp>
        <p:nvSpPr>
          <p:cNvPr id="10" name="Sous-titre 9">
            <a:extLst>
              <a:ext uri="{FF2B5EF4-FFF2-40B4-BE49-F238E27FC236}">
                <a16:creationId xmlns:a16="http://schemas.microsoft.com/office/drawing/2014/main" id="{84FDF0EF-A697-52A0-EED8-3F0E53E030AB}"/>
              </a:ext>
            </a:extLst>
          </p:cNvPr>
          <p:cNvSpPr>
            <a:spLocks noGrp="1"/>
          </p:cNvSpPr>
          <p:nvPr>
            <p:ph type="subTitle" idx="1"/>
          </p:nvPr>
        </p:nvSpPr>
        <p:spPr/>
        <p:txBody>
          <a:bodyPr/>
          <a:lstStyle/>
          <a:p>
            <a:r>
              <a:rPr lang="fr-FR" dirty="0"/>
              <a:t>Insérez dans cette section le matériel de jeu</a:t>
            </a:r>
          </a:p>
        </p:txBody>
      </p:sp>
    </p:spTree>
    <p:extLst>
      <p:ext uri="{BB962C8B-B14F-4D97-AF65-F5344CB8AC3E}">
        <p14:creationId xmlns:p14="http://schemas.microsoft.com/office/powerpoint/2010/main" val="304713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A32D9F-A910-4E61-57F2-23CE1DEDE349}"/>
              </a:ext>
            </a:extLst>
          </p:cNvPr>
          <p:cNvSpPr>
            <a:spLocks noGrp="1"/>
          </p:cNvSpPr>
          <p:nvPr>
            <p:ph type="title"/>
          </p:nvPr>
        </p:nvSpPr>
        <p:spPr/>
        <p:txBody>
          <a:bodyPr/>
          <a:lstStyle/>
          <a:p>
            <a:r>
              <a:rPr lang="fr-FR" dirty="0"/>
              <a:t>Cartes épreuves collectives (premiers tours) et épreuves individuelles (dernier tours)</a:t>
            </a:r>
          </a:p>
        </p:txBody>
      </p:sp>
      <p:sp>
        <p:nvSpPr>
          <p:cNvPr id="3" name="Espace réservé du contenu 2">
            <a:extLst>
              <a:ext uri="{FF2B5EF4-FFF2-40B4-BE49-F238E27FC236}">
                <a16:creationId xmlns:a16="http://schemas.microsoft.com/office/drawing/2014/main" id="{7E79113C-35DF-37AD-F0F5-3D39874E6140}"/>
              </a:ext>
            </a:extLst>
          </p:cNvPr>
          <p:cNvSpPr>
            <a:spLocks noGrp="1"/>
          </p:cNvSpPr>
          <p:nvPr>
            <p:ph idx="1"/>
          </p:nvPr>
        </p:nvSpPr>
        <p:spPr>
          <a:xfrm>
            <a:off x="5877017" y="1825625"/>
            <a:ext cx="5476782" cy="4851400"/>
          </a:xfrm>
        </p:spPr>
        <p:txBody>
          <a:bodyPr>
            <a:normAutofit fontScale="92500" lnSpcReduction="20000"/>
          </a:bodyPr>
          <a:lstStyle/>
          <a:p>
            <a:pPr marL="0" indent="0">
              <a:buNone/>
            </a:pPr>
            <a:r>
              <a:rPr lang="fr-FR" sz="1400" dirty="0"/>
              <a:t>Découpez et faites deux pioches, une pioche de cartes épreuves collectives et une pioche de cartes épreuves individuelles</a:t>
            </a:r>
          </a:p>
          <a:p>
            <a:pPr marL="0" indent="0">
              <a:buNone/>
            </a:pPr>
            <a:endParaRPr lang="fr-FR" sz="1400" dirty="0"/>
          </a:p>
          <a:p>
            <a:pPr marL="0" indent="0">
              <a:buNone/>
            </a:pPr>
            <a:r>
              <a:rPr lang="fr-FR" sz="1400" dirty="0"/>
              <a:t>Conseils pour créer une carte épreuve</a:t>
            </a:r>
          </a:p>
          <a:p>
            <a:r>
              <a:rPr lang="fr-FR" sz="1400" dirty="0"/>
              <a:t>Essayez d’imaginer des épreuves similaires à des situations de la vie courante (exemple : se verser un verre d’eau) sans pour autant correspondre à 100%</a:t>
            </a:r>
          </a:p>
          <a:p>
            <a:r>
              <a:rPr lang="fr-FR" sz="1400" dirty="0"/>
              <a:t>Idéalement, les épreuves font que les joueurs se rendent compte que des moments simples et anodins du quotidien peuvent être rendu très difficiles par des situations de handicap.</a:t>
            </a:r>
          </a:p>
          <a:p>
            <a:r>
              <a:rPr lang="fr-FR" sz="1400" dirty="0"/>
              <a:t>Ne créez pas de situation dangereuse (exemple : traverser la rue rapidement), qui risque de ridiculiser ou de braquer la timidité (exemple : chanter en pleine rue) ou qui peut créer un malaise entre joueurs (exemple : faire une grande embrassade)</a:t>
            </a:r>
          </a:p>
          <a:p>
            <a:r>
              <a:rPr lang="fr-FR" sz="1400" dirty="0"/>
              <a:t>Essayez de trouver une épreuve qui serait de base assez courte à terminer (quelques minutes) et simple sans aucune situation de handicap</a:t>
            </a:r>
          </a:p>
          <a:p>
            <a:r>
              <a:rPr lang="fr-FR" sz="1400" dirty="0"/>
              <a:t>Posez vous bien la question sur si l’épreuve doit être collective (nécessite souvent une action sur l’autre ou en collaboration avec l’autre), ou individuelle (peut se faire seul)</a:t>
            </a:r>
          </a:p>
          <a:p>
            <a:r>
              <a:rPr lang="fr-FR" sz="1400" dirty="0"/>
              <a:t>Pour les cartes épreuves collectives, formulez les de manière à ce qu’elles soit jouables à 2, 3 ou 4 joueurs</a:t>
            </a:r>
          </a:p>
          <a:p>
            <a:r>
              <a:rPr lang="fr-FR" sz="1400" dirty="0"/>
              <a:t>Pour créer de nouvelles cartes, ajoutez une slide et choisissez la bonne disposition </a:t>
            </a:r>
          </a:p>
          <a:p>
            <a:endParaRPr lang="fr-FR" sz="1400" dirty="0"/>
          </a:p>
        </p:txBody>
      </p:sp>
      <p:pic>
        <p:nvPicPr>
          <p:cNvPr id="6" name="Image 5">
            <a:extLst>
              <a:ext uri="{FF2B5EF4-FFF2-40B4-BE49-F238E27FC236}">
                <a16:creationId xmlns:a16="http://schemas.microsoft.com/office/drawing/2014/main" id="{71051788-3733-2D3E-1C1E-5749F752ADE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77172" y="1601911"/>
            <a:ext cx="4378079" cy="4505542"/>
          </a:xfrm>
          <a:prstGeom prst="rect">
            <a:avLst/>
          </a:prstGeom>
        </p:spPr>
      </p:pic>
    </p:spTree>
    <p:extLst>
      <p:ext uri="{BB962C8B-B14F-4D97-AF65-F5344CB8AC3E}">
        <p14:creationId xmlns:p14="http://schemas.microsoft.com/office/powerpoint/2010/main" val="1276400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4B33E48-E09A-978A-D689-D659D7235EB8}"/>
              </a:ext>
            </a:extLst>
          </p:cNvPr>
          <p:cNvSpPr>
            <a:spLocks noGrp="1"/>
          </p:cNvSpPr>
          <p:nvPr>
            <p:ph type="body" sz="quarter" idx="10"/>
          </p:nvPr>
        </p:nvSpPr>
        <p:spPr/>
        <p:txBody>
          <a:bodyPr>
            <a:normAutofit/>
          </a:bodyPr>
          <a:lstStyle/>
          <a:p>
            <a:r>
              <a:rPr lang="fr-FR" sz="1200" b="1" dirty="0"/>
              <a:t>Petites manipulations</a:t>
            </a:r>
          </a:p>
          <a:p>
            <a:r>
              <a:rPr lang="fr-FR" sz="1200" dirty="0"/>
              <a:t>Vous devez plier 3 avions en papier chacun, mais en équipe : une première moitié du pliage doit être faite par un joueur et l’autre moitié doit être faite par un autre.</a:t>
            </a:r>
          </a:p>
        </p:txBody>
      </p:sp>
      <p:sp>
        <p:nvSpPr>
          <p:cNvPr id="3" name="Espace réservé du texte 2">
            <a:extLst>
              <a:ext uri="{FF2B5EF4-FFF2-40B4-BE49-F238E27FC236}">
                <a16:creationId xmlns:a16="http://schemas.microsoft.com/office/drawing/2014/main" id="{B28BA760-1AE1-4A61-50D9-7A824E2D024E}"/>
              </a:ext>
            </a:extLst>
          </p:cNvPr>
          <p:cNvSpPr>
            <a:spLocks noGrp="1"/>
          </p:cNvSpPr>
          <p:nvPr>
            <p:ph type="body" sz="quarter" idx="11"/>
          </p:nvPr>
        </p:nvSpPr>
        <p:spPr/>
        <p:txBody>
          <a:bodyPr>
            <a:normAutofit fontScale="92500" lnSpcReduction="10000"/>
          </a:bodyPr>
          <a:lstStyle/>
          <a:p>
            <a:r>
              <a:rPr lang="fr-FR" sz="1200" b="1" dirty="0"/>
              <a:t>Sites de réservation</a:t>
            </a:r>
          </a:p>
          <a:p>
            <a:r>
              <a:rPr lang="fr-FR" sz="1200" dirty="0"/>
              <a:t>Pensez à une autre ville du pays où vous aimeriez aller en vacances, l’un de vous doit chercher des horaires de train pour dans 30 jours, un autre des hôtels, (si vous êtes 3) un autre des activités, (si vous êtes 4) un autre comment manger. </a:t>
            </a:r>
          </a:p>
          <a:p>
            <a:r>
              <a:rPr lang="fr-FR" sz="1200" dirty="0"/>
              <a:t>Présentez vous les uns les autres vos résultats de recherches.</a:t>
            </a:r>
          </a:p>
        </p:txBody>
      </p:sp>
      <p:sp>
        <p:nvSpPr>
          <p:cNvPr id="12" name="Espace réservé du texte 11">
            <a:extLst>
              <a:ext uri="{FF2B5EF4-FFF2-40B4-BE49-F238E27FC236}">
                <a16:creationId xmlns:a16="http://schemas.microsoft.com/office/drawing/2014/main" id="{204CFE55-D40E-0F45-04AC-A69E94ECEDC5}"/>
              </a:ext>
            </a:extLst>
          </p:cNvPr>
          <p:cNvSpPr>
            <a:spLocks noGrp="1"/>
          </p:cNvSpPr>
          <p:nvPr>
            <p:ph type="body" sz="quarter" idx="12"/>
          </p:nvPr>
        </p:nvSpPr>
        <p:spPr/>
        <p:txBody>
          <a:bodyPr>
            <a:normAutofit fontScale="92500" lnSpcReduction="20000"/>
          </a:bodyPr>
          <a:lstStyle/>
          <a:p>
            <a:r>
              <a:rPr lang="fr-FR" sz="1200" b="1" dirty="0"/>
              <a:t>Panneaux et indications</a:t>
            </a:r>
          </a:p>
          <a:p>
            <a:r>
              <a:rPr lang="fr-FR" sz="1200" dirty="0"/>
              <a:t>Sortez de l’immeuble. Revenez à l’endroit du jeu en comptant le nombre d’indications à lire (panneaux, indications, fléchage, …) sur le chemin de la salle, en lisant aux autres ces indications si possible (répartissez vous les panneaux, ce n’est pas toujours le/la même qui doit lire).</a:t>
            </a:r>
          </a:p>
          <a:p>
            <a:r>
              <a:rPr lang="fr-FR" sz="1200" dirty="0"/>
              <a:t>Si vous êtes trop proches de la sortie, tentez un aller retour qui vous fait au moins 3 minutes de marche.</a:t>
            </a:r>
          </a:p>
        </p:txBody>
      </p:sp>
      <p:sp>
        <p:nvSpPr>
          <p:cNvPr id="4" name="Espace réservé du texte 3">
            <a:extLst>
              <a:ext uri="{FF2B5EF4-FFF2-40B4-BE49-F238E27FC236}">
                <a16:creationId xmlns:a16="http://schemas.microsoft.com/office/drawing/2014/main" id="{3B6D5C8F-D7B7-FEDC-8F88-7502970E78D7}"/>
              </a:ext>
            </a:extLst>
          </p:cNvPr>
          <p:cNvSpPr>
            <a:spLocks noGrp="1"/>
          </p:cNvSpPr>
          <p:nvPr>
            <p:ph type="body" sz="quarter" idx="13"/>
          </p:nvPr>
        </p:nvSpPr>
        <p:spPr/>
        <p:txBody>
          <a:bodyPr>
            <a:normAutofit/>
          </a:bodyPr>
          <a:lstStyle/>
          <a:p>
            <a:r>
              <a:rPr lang="fr-FR" sz="1100" b="1" dirty="0"/>
              <a:t>Restitution Vidéo</a:t>
            </a:r>
          </a:p>
          <a:p>
            <a:r>
              <a:rPr lang="fr-FR" sz="1100" dirty="0"/>
              <a:t>Chaque co-équipier propose un sujet à un autre de manière à ce que chacun en ait un. </a:t>
            </a:r>
          </a:p>
          <a:p>
            <a:r>
              <a:rPr lang="fr-FR" sz="1100" dirty="0"/>
              <a:t>Chacun doit alors chercher une vidéo courte sur Internet à propos de ce sujet, la regarder brièvement (moins de 2 minutes) puis expliquer le contenu aux autres.</a:t>
            </a:r>
          </a:p>
        </p:txBody>
      </p:sp>
      <p:sp>
        <p:nvSpPr>
          <p:cNvPr id="5" name="Espace réservé du texte 4">
            <a:extLst>
              <a:ext uri="{FF2B5EF4-FFF2-40B4-BE49-F238E27FC236}">
                <a16:creationId xmlns:a16="http://schemas.microsoft.com/office/drawing/2014/main" id="{237B6BF0-4F2C-BCFE-CD85-B1CD83DEA682}"/>
              </a:ext>
            </a:extLst>
          </p:cNvPr>
          <p:cNvSpPr>
            <a:spLocks noGrp="1"/>
          </p:cNvSpPr>
          <p:nvPr>
            <p:ph type="body" sz="quarter" idx="14"/>
          </p:nvPr>
        </p:nvSpPr>
        <p:spPr/>
        <p:txBody>
          <a:bodyPr>
            <a:normAutofit fontScale="92500"/>
          </a:bodyPr>
          <a:lstStyle/>
          <a:p>
            <a:r>
              <a:rPr lang="fr-FR" sz="1200" b="1" dirty="0"/>
              <a:t>Un verre ensemble</a:t>
            </a:r>
          </a:p>
          <a:p>
            <a:r>
              <a:rPr lang="fr-FR" sz="1200" dirty="0"/>
              <a:t>Servez chacun un verre d’eau à un(e) co-équipier(e), qui devra tenir son verre en l’air pendant que vous le servez. </a:t>
            </a:r>
          </a:p>
          <a:p>
            <a:r>
              <a:rPr lang="fr-FR" sz="1200" dirty="0"/>
              <a:t>Quand tout le monde est servi, trinquez tous ensemble deux fois : d’abord chaque verre avec chaque verre, puis tous les verres ensemble. Lavez et rangez les verres.</a:t>
            </a:r>
          </a:p>
        </p:txBody>
      </p:sp>
      <p:sp>
        <p:nvSpPr>
          <p:cNvPr id="6" name="Espace réservé du texte 5">
            <a:extLst>
              <a:ext uri="{FF2B5EF4-FFF2-40B4-BE49-F238E27FC236}">
                <a16:creationId xmlns:a16="http://schemas.microsoft.com/office/drawing/2014/main" id="{C6E4E6D4-F17A-A2FA-BF03-4F19E8FCE03A}"/>
              </a:ext>
            </a:extLst>
          </p:cNvPr>
          <p:cNvSpPr>
            <a:spLocks noGrp="1"/>
          </p:cNvSpPr>
          <p:nvPr>
            <p:ph type="body" sz="quarter" idx="15"/>
          </p:nvPr>
        </p:nvSpPr>
        <p:spPr/>
        <p:txBody>
          <a:bodyPr>
            <a:normAutofit lnSpcReduction="10000"/>
          </a:bodyPr>
          <a:lstStyle/>
          <a:p>
            <a:r>
              <a:rPr lang="fr-FR" sz="1200" b="1" dirty="0"/>
              <a:t>Rencontrer quelqu’un</a:t>
            </a:r>
          </a:p>
          <a:p>
            <a:r>
              <a:rPr lang="fr-FR" sz="1200" dirty="0"/>
              <a:t>Faites les présentations mutuelles (par exemple un tour de table), et décrivez à chacun votre quotidien avec les moyens qui vous sont accessibles. </a:t>
            </a:r>
          </a:p>
          <a:p>
            <a:r>
              <a:rPr lang="fr-FR" sz="1200" dirty="0"/>
              <a:t>Une fois que chacun a fait les présentations, demandez à chacun de restituer ce qu’il/elle ou a retenu.</a:t>
            </a:r>
          </a:p>
        </p:txBody>
      </p:sp>
      <p:sp>
        <p:nvSpPr>
          <p:cNvPr id="7" name="Espace réservé du texte 6">
            <a:extLst>
              <a:ext uri="{FF2B5EF4-FFF2-40B4-BE49-F238E27FC236}">
                <a16:creationId xmlns:a16="http://schemas.microsoft.com/office/drawing/2014/main" id="{1F31AC59-11EF-36F3-1F2A-CD184ED029B4}"/>
              </a:ext>
            </a:extLst>
          </p:cNvPr>
          <p:cNvSpPr>
            <a:spLocks noGrp="1"/>
          </p:cNvSpPr>
          <p:nvPr>
            <p:ph type="body" sz="quarter" idx="16"/>
          </p:nvPr>
        </p:nvSpPr>
        <p:spPr/>
        <p:txBody>
          <a:bodyPr>
            <a:normAutofit lnSpcReduction="10000"/>
          </a:bodyPr>
          <a:lstStyle/>
          <a:p>
            <a:r>
              <a:rPr lang="fr-FR" sz="1200" b="1" dirty="0"/>
              <a:t>Planifier un week-end</a:t>
            </a:r>
          </a:p>
          <a:p>
            <a:r>
              <a:rPr lang="fr-FR" sz="1200" dirty="0"/>
              <a:t>Le week-end prochain, votre équipe part pour des vacances (proches) au bord de mer avec quelques visites locales. </a:t>
            </a:r>
          </a:p>
          <a:p>
            <a:r>
              <a:rPr lang="fr-FR" sz="1200" dirty="0"/>
              <a:t>Faites la liste de toutes les précautions, dispositions et contraintes dont vous aurez besoin pour la route, l’organisation sur place et les activités.</a:t>
            </a:r>
          </a:p>
        </p:txBody>
      </p:sp>
      <p:sp>
        <p:nvSpPr>
          <p:cNvPr id="8" name="Espace réservé du texte 7">
            <a:extLst>
              <a:ext uri="{FF2B5EF4-FFF2-40B4-BE49-F238E27FC236}">
                <a16:creationId xmlns:a16="http://schemas.microsoft.com/office/drawing/2014/main" id="{D58E25AA-603B-F026-AF96-FA52C8757409}"/>
              </a:ext>
            </a:extLst>
          </p:cNvPr>
          <p:cNvSpPr>
            <a:spLocks noGrp="1"/>
          </p:cNvSpPr>
          <p:nvPr>
            <p:ph type="body" sz="quarter" idx="17"/>
          </p:nvPr>
        </p:nvSpPr>
        <p:spPr/>
        <p:txBody>
          <a:bodyPr>
            <a:normAutofit fontScale="92500"/>
          </a:bodyPr>
          <a:lstStyle/>
          <a:p>
            <a:r>
              <a:rPr lang="fr-FR" sz="1200" b="1" dirty="0"/>
              <a:t>Alerte Incendie</a:t>
            </a:r>
          </a:p>
          <a:p>
            <a:r>
              <a:rPr lang="fr-FR" sz="1200" dirty="0"/>
              <a:t>Sortez de la salle où vous êtes et trouvez les deux extincteurs les plus proches, descendez ou montez tous ensemble d’un étage, trouvez deux extincteurs et remontez tous ensemble. </a:t>
            </a:r>
          </a:p>
          <a:p>
            <a:r>
              <a:rPr lang="fr-FR" sz="1200" dirty="0"/>
              <a:t>Tous ensemble : il doit y avoir moins de 3 secondes entre chaque personne lorsqu’on passe une porte.</a:t>
            </a:r>
          </a:p>
        </p:txBody>
      </p:sp>
      <p:pic>
        <p:nvPicPr>
          <p:cNvPr id="37" name="Espace réservé pour une image  36" descr="Une image contenant texte, stationnaire, boîte, enveloppe&#10;&#10;Description générée automatiquement">
            <a:extLst>
              <a:ext uri="{FF2B5EF4-FFF2-40B4-BE49-F238E27FC236}">
                <a16:creationId xmlns:a16="http://schemas.microsoft.com/office/drawing/2014/main" id="{465589F6-235E-4F4A-6B67-E5531AC3083F}"/>
              </a:ext>
            </a:extLst>
          </p:cNvPr>
          <p:cNvPicPr>
            <a:picLocks noGrp="1" noChangeAspect="1"/>
          </p:cNvPicPr>
          <p:nvPr>
            <p:ph type="clipArt" sz="quarter" idx="26"/>
          </p:nvPr>
        </p:nvPicPr>
        <p:blipFill>
          <a:blip r:embed="rId3" cstate="print">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589949" y="595313"/>
            <a:ext cx="1871277" cy="1047750"/>
          </a:xfrm>
        </p:spPr>
      </p:pic>
      <p:pic>
        <p:nvPicPr>
          <p:cNvPr id="27" name="Espace réservé pour une image  26" descr="Une image contenant texte, journal, reçu&#10;&#10;Description générée automatiquement">
            <a:extLst>
              <a:ext uri="{FF2B5EF4-FFF2-40B4-BE49-F238E27FC236}">
                <a16:creationId xmlns:a16="http://schemas.microsoft.com/office/drawing/2014/main" id="{01F33E32-50F8-AA9B-E88F-21D03AD1BB63}"/>
              </a:ext>
            </a:extLst>
          </p:cNvPr>
          <p:cNvPicPr>
            <a:picLocks noGrp="1" noChangeAspect="1"/>
          </p:cNvPicPr>
          <p:nvPr>
            <p:ph type="clipArt" sz="quarter" idx="27"/>
          </p:nvPr>
        </p:nvPicPr>
        <p:blipFill>
          <a:blip r:embed="rId5" cstate="print">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3620030" y="595313"/>
            <a:ext cx="1862666" cy="1047750"/>
          </a:xfrm>
        </p:spPr>
      </p:pic>
      <p:pic>
        <p:nvPicPr>
          <p:cNvPr id="30" name="Espace réservé pour une image  29" descr="Une image contenant extérieur, trottoir, rue, passage&#10;&#10;Description générée automatiquement">
            <a:extLst>
              <a:ext uri="{FF2B5EF4-FFF2-40B4-BE49-F238E27FC236}">
                <a16:creationId xmlns:a16="http://schemas.microsoft.com/office/drawing/2014/main" id="{ED9161CA-B1DE-65E1-7CF5-F88CA3854959}"/>
              </a:ext>
            </a:extLst>
          </p:cNvPr>
          <p:cNvPicPr>
            <a:picLocks noGrp="1" noChangeAspect="1"/>
          </p:cNvPicPr>
          <p:nvPr>
            <p:ph type="clipArt" sz="quarter" idx="28"/>
          </p:nvPr>
        </p:nvPicPr>
        <p:blipFill>
          <a:blip r:embed="rId7" cstate="print">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6853635" y="585788"/>
            <a:ext cx="1574005" cy="1049337"/>
          </a:xfrm>
        </p:spPr>
      </p:pic>
      <p:pic>
        <p:nvPicPr>
          <p:cNvPr id="35" name="Espace réservé pour une image  34" descr="Une image contenant texte, carte de visite&#10;&#10;Description générée automatiquement">
            <a:extLst>
              <a:ext uri="{FF2B5EF4-FFF2-40B4-BE49-F238E27FC236}">
                <a16:creationId xmlns:a16="http://schemas.microsoft.com/office/drawing/2014/main" id="{92E0369D-4FD6-98DE-382E-726B03A15EE2}"/>
              </a:ext>
            </a:extLst>
          </p:cNvPr>
          <p:cNvPicPr>
            <a:picLocks noGrp="1" noChangeAspect="1"/>
          </p:cNvPicPr>
          <p:nvPr>
            <p:ph type="clipArt" sz="quarter" idx="29"/>
          </p:nvPr>
        </p:nvPicPr>
        <p:blipFill rotWithShape="1">
          <a:blip r:embed="rId9" cstate="print">
            <a:extLst>
              <a:ext uri="{28A0092B-C50C-407E-A947-70E740481C1C}">
                <a14:useLocalDpi xmlns:a14="http://schemas.microsoft.com/office/drawing/2010/main"/>
              </a:ext>
              <a:ext uri="{837473B0-CC2E-450A-ABE3-18F120FF3D39}">
                <a1611:picAttrSrcUrl xmlns:a1611="http://schemas.microsoft.com/office/drawing/2016/11/main" r:id="rId10"/>
              </a:ext>
            </a:extLst>
          </a:blip>
          <a:srcRect/>
          <a:stretch/>
        </p:blipFill>
        <p:spPr>
          <a:xfrm>
            <a:off x="9892106" y="571633"/>
            <a:ext cx="1709945" cy="1056061"/>
          </a:xfrm>
        </p:spPr>
      </p:pic>
      <p:pic>
        <p:nvPicPr>
          <p:cNvPr id="14" name="Espace réservé de l'image en ligne 13" descr="Une image contenant éléments, différent, ensemble, repas&#10;&#10;Description générée automatiquement">
            <a:extLst>
              <a:ext uri="{FF2B5EF4-FFF2-40B4-BE49-F238E27FC236}">
                <a16:creationId xmlns:a16="http://schemas.microsoft.com/office/drawing/2014/main" id="{59164B7D-DC72-8BB6-7CF5-F78158CB2C02}"/>
              </a:ext>
            </a:extLst>
          </p:cNvPr>
          <p:cNvPicPr>
            <a:picLocks noGrp="1" noChangeAspect="1"/>
          </p:cNvPicPr>
          <p:nvPr>
            <p:ph type="clipArt" sz="quarter" idx="30"/>
          </p:nvPr>
        </p:nvPicPr>
        <p:blipFill>
          <a:blip r:embed="rId11" cstate="print">
            <a:extLst>
              <a:ext uri="{28A0092B-C50C-407E-A947-70E740481C1C}">
                <a14:useLocalDpi xmlns:a14="http://schemas.microsoft.com/office/drawing/2010/main"/>
              </a:ext>
              <a:ext uri="{837473B0-CC2E-450A-ABE3-18F120FF3D39}">
                <a1611:picAttrSrcUrl xmlns:a1611="http://schemas.microsoft.com/office/drawing/2016/11/main" r:id="rId12"/>
              </a:ext>
            </a:extLst>
          </a:blip>
          <a:stretch>
            <a:fillRect/>
          </a:stretch>
        </p:blipFill>
        <p:spPr>
          <a:xfrm>
            <a:off x="527731" y="4044950"/>
            <a:ext cx="1995714" cy="1047750"/>
          </a:xfrm>
        </p:spPr>
      </p:pic>
      <p:pic>
        <p:nvPicPr>
          <p:cNvPr id="13" name="Espace réservé de l'image en ligne 12" descr="Une image contenant flèche&#10;&#10;Description générée automatiquement">
            <a:extLst>
              <a:ext uri="{FF2B5EF4-FFF2-40B4-BE49-F238E27FC236}">
                <a16:creationId xmlns:a16="http://schemas.microsoft.com/office/drawing/2014/main" id="{971EC752-4C98-2467-A9D8-61643AE00ABC}"/>
              </a:ext>
            </a:extLst>
          </p:cNvPr>
          <p:cNvPicPr>
            <a:picLocks noGrp="1" noChangeAspect="1"/>
          </p:cNvPicPr>
          <p:nvPr>
            <p:ph type="clipArt" sz="quarter" idx="31"/>
          </p:nvPr>
        </p:nvPicPr>
        <p:blipFill>
          <a:blip r:embed="rId13" cstate="screen">
            <a:extLst>
              <a:ext uri="{28A0092B-C50C-407E-A947-70E740481C1C}">
                <a14:useLocalDpi xmlns:a14="http://schemas.microsoft.com/office/drawing/2010/main"/>
              </a:ext>
              <a:ext uri="{837473B0-CC2E-450A-ABE3-18F120FF3D39}">
                <a1611:picAttrSrcUrl xmlns:a1611="http://schemas.microsoft.com/office/drawing/2016/11/main" r:id="rId14"/>
              </a:ext>
            </a:extLst>
          </a:blip>
          <a:stretch>
            <a:fillRect/>
          </a:stretch>
        </p:blipFill>
        <p:spPr>
          <a:xfrm>
            <a:off x="3503613" y="4044950"/>
            <a:ext cx="2095500" cy="1047750"/>
          </a:xfrm>
        </p:spPr>
      </p:pic>
      <p:pic>
        <p:nvPicPr>
          <p:cNvPr id="17" name="Espace réservé de l'image en ligne 16" descr="Une image contenant texte, clipart&#10;&#10;Description générée automatiquement">
            <a:extLst>
              <a:ext uri="{FF2B5EF4-FFF2-40B4-BE49-F238E27FC236}">
                <a16:creationId xmlns:a16="http://schemas.microsoft.com/office/drawing/2014/main" id="{5AFC4343-7CB7-8DCE-EC84-F8F0BDCB4399}"/>
              </a:ext>
            </a:extLst>
          </p:cNvPr>
          <p:cNvPicPr>
            <a:picLocks noGrp="1" noChangeAspect="1"/>
          </p:cNvPicPr>
          <p:nvPr>
            <p:ph type="clipArt" sz="quarter" idx="32"/>
          </p:nvPr>
        </p:nvPicPr>
        <p:blipFill>
          <a:blip r:embed="rId15" cstate="print">
            <a:extLst>
              <a:ext uri="{28A0092B-C50C-407E-A947-70E740481C1C}">
                <a14:useLocalDpi xmlns:a14="http://schemas.microsoft.com/office/drawing/2010/main"/>
              </a:ext>
              <a:ext uri="{837473B0-CC2E-450A-ABE3-18F120FF3D39}">
                <a1611:picAttrSrcUrl xmlns:a1611="http://schemas.microsoft.com/office/drawing/2016/11/main" r:id="rId16"/>
              </a:ext>
            </a:extLst>
          </a:blip>
          <a:stretch>
            <a:fillRect/>
          </a:stretch>
        </p:blipFill>
        <p:spPr>
          <a:xfrm>
            <a:off x="6737041" y="4035425"/>
            <a:ext cx="1807193" cy="1049338"/>
          </a:xfrm>
        </p:spPr>
      </p:pic>
      <p:pic>
        <p:nvPicPr>
          <p:cNvPr id="10" name="Espace réservé de l'image en ligne 9" descr="Extincteur et bobine de tuyau dans le couloir d’un hôtel">
            <a:extLst>
              <a:ext uri="{FF2B5EF4-FFF2-40B4-BE49-F238E27FC236}">
                <a16:creationId xmlns:a16="http://schemas.microsoft.com/office/drawing/2014/main" id="{90F16F99-95E5-BC7B-3C36-B61177B52D68}"/>
              </a:ext>
            </a:extLst>
          </p:cNvPr>
          <p:cNvPicPr>
            <a:picLocks noGrp="1" noChangeAspect="1"/>
          </p:cNvPicPr>
          <p:nvPr>
            <p:ph type="clipArt" sz="quarter" idx="33"/>
          </p:nvPr>
        </p:nvPicPr>
        <p:blipFill>
          <a:blip r:embed="rId17" cstate="print">
            <a:extLst>
              <a:ext uri="{28A0092B-C50C-407E-A947-70E740481C1C}">
                <a14:useLocalDpi xmlns:a14="http://schemas.microsoft.com/office/drawing/2010/main"/>
              </a:ext>
            </a:extLst>
          </a:blip>
          <a:stretch>
            <a:fillRect/>
          </a:stretch>
        </p:blipFill>
        <p:spPr>
          <a:xfrm>
            <a:off x="9879217" y="4025900"/>
            <a:ext cx="1574391" cy="1049338"/>
          </a:xfrm>
        </p:spPr>
      </p:pic>
    </p:spTree>
    <p:extLst>
      <p:ext uri="{BB962C8B-B14F-4D97-AF65-F5344CB8AC3E}">
        <p14:creationId xmlns:p14="http://schemas.microsoft.com/office/powerpoint/2010/main" val="3065675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DF57264-BFC1-77D9-1939-119CE7BD2DF7}"/>
              </a:ext>
            </a:extLst>
          </p:cNvPr>
          <p:cNvSpPr>
            <a:spLocks noGrp="1"/>
          </p:cNvSpPr>
          <p:nvPr>
            <p:ph type="body" sz="quarter" idx="10"/>
          </p:nvPr>
        </p:nvSpPr>
        <p:spPr/>
        <p:txBody>
          <a:bodyPr>
            <a:normAutofit/>
          </a:bodyPr>
          <a:lstStyle/>
          <a:p>
            <a:r>
              <a:rPr lang="fr-FR" sz="1200" b="1" dirty="0"/>
              <a:t>Déplacer des objets</a:t>
            </a:r>
          </a:p>
          <a:p>
            <a:r>
              <a:rPr lang="fr-FR" sz="1200" dirty="0"/>
              <a:t>Trouvez plusieurs chaises (1 membre d’équipe) et déplacez les à l’autre bout de la pièce (sans qu’elles touchent le sol), puis à un autre bout, puis ramenez les à l’endroit initial. Tout le monde doit contribuer, quitte à prendre une chaise à plusieurs.</a:t>
            </a:r>
          </a:p>
        </p:txBody>
      </p:sp>
      <p:sp>
        <p:nvSpPr>
          <p:cNvPr id="3" name="Espace réservé du texte 2">
            <a:extLst>
              <a:ext uri="{FF2B5EF4-FFF2-40B4-BE49-F238E27FC236}">
                <a16:creationId xmlns:a16="http://schemas.microsoft.com/office/drawing/2014/main" id="{52B5DF38-989F-A7EA-3E94-83DA400AF497}"/>
              </a:ext>
            </a:extLst>
          </p:cNvPr>
          <p:cNvSpPr>
            <a:spLocks noGrp="1"/>
          </p:cNvSpPr>
          <p:nvPr>
            <p:ph type="body" sz="quarter" idx="11"/>
          </p:nvPr>
        </p:nvSpPr>
        <p:spPr/>
        <p:txBody>
          <a:bodyPr>
            <a:normAutofit/>
          </a:bodyPr>
          <a:lstStyle/>
          <a:p>
            <a:r>
              <a:rPr lang="fr-FR" sz="1200" b="1" dirty="0"/>
              <a:t>Débattre</a:t>
            </a:r>
          </a:p>
          <a:p>
            <a:r>
              <a:rPr lang="fr-FR" sz="1200" dirty="0"/>
              <a:t>Pensez chacun à une personne importante célèbre (sans le dire aux autres). Vous devez construire un monument dans la ville pour cette personne. Commencez le débat : chacun doit essayer de convaincre les autres que la personne importante est la plus appropriée pour le monument.</a:t>
            </a:r>
          </a:p>
        </p:txBody>
      </p:sp>
      <p:sp>
        <p:nvSpPr>
          <p:cNvPr id="4" name="Espace réservé du texte 3">
            <a:extLst>
              <a:ext uri="{FF2B5EF4-FFF2-40B4-BE49-F238E27FC236}">
                <a16:creationId xmlns:a16="http://schemas.microsoft.com/office/drawing/2014/main" id="{A5DF4695-27BE-BAAD-F32C-877B12A6D5DD}"/>
              </a:ext>
            </a:extLst>
          </p:cNvPr>
          <p:cNvSpPr>
            <a:spLocks noGrp="1"/>
          </p:cNvSpPr>
          <p:nvPr>
            <p:ph type="body" sz="quarter" idx="12"/>
          </p:nvPr>
        </p:nvSpPr>
        <p:spPr/>
        <p:txBody>
          <a:bodyPr>
            <a:normAutofit fontScale="92500"/>
          </a:bodyPr>
          <a:lstStyle/>
          <a:p>
            <a:r>
              <a:rPr lang="fr-FR" sz="1200" b="1" dirty="0"/>
              <a:t>Mini Sport</a:t>
            </a:r>
          </a:p>
          <a:p>
            <a:r>
              <a:rPr lang="fr-FR" sz="1200" dirty="0"/>
              <a:t>Commencez à 1m l’un de l’autre. Passez vous un objet léger et non dangereux en vous le lançant à l’un l’autre, en boucle. A chaque fois que vous dépassez 10 passes consécutives, reculez d’un pas chacun. Si vous le faites tomber ou n’arrivez pas à le réceptionner, recommencez depuis la position initiale. Essayez d’atteindre le plus haut score possible</a:t>
            </a:r>
          </a:p>
        </p:txBody>
      </p:sp>
      <p:sp>
        <p:nvSpPr>
          <p:cNvPr id="5" name="Espace réservé du texte 4">
            <a:extLst>
              <a:ext uri="{FF2B5EF4-FFF2-40B4-BE49-F238E27FC236}">
                <a16:creationId xmlns:a16="http://schemas.microsoft.com/office/drawing/2014/main" id="{C7386CB0-66CA-1F43-C9A3-F6F3885DCFE8}"/>
              </a:ext>
            </a:extLst>
          </p:cNvPr>
          <p:cNvSpPr>
            <a:spLocks noGrp="1"/>
          </p:cNvSpPr>
          <p:nvPr>
            <p:ph type="body" sz="quarter" idx="13"/>
          </p:nvPr>
        </p:nvSpPr>
        <p:spPr/>
        <p:txBody>
          <a:bodyPr>
            <a:normAutofit fontScale="92500"/>
          </a:bodyPr>
          <a:lstStyle/>
          <a:p>
            <a:r>
              <a:rPr lang="fr-FR" sz="1200" b="1" dirty="0"/>
              <a:t>Cuisiner</a:t>
            </a:r>
          </a:p>
          <a:p>
            <a:r>
              <a:rPr lang="fr-FR" sz="1200" dirty="0"/>
              <a:t>Réfléchissez vite chacun à un plat ou un dessert que vous avez l’habitude de cuisiner. Expliquez aux autres (en ajoutant des gestes, mimes) comment vous faites depuis la préparation des ingrédients jusqu’à la cuisson. Vous pouvez prendre des objets accessibles (stylos, etc.) pour simuler des outils (couteau, …). A eux de deviner le nom du plat.</a:t>
            </a:r>
          </a:p>
        </p:txBody>
      </p:sp>
      <p:sp>
        <p:nvSpPr>
          <p:cNvPr id="6" name="Espace réservé du texte 5">
            <a:extLst>
              <a:ext uri="{FF2B5EF4-FFF2-40B4-BE49-F238E27FC236}">
                <a16:creationId xmlns:a16="http://schemas.microsoft.com/office/drawing/2014/main" id="{4EF03EB8-ADBF-76F4-A7BD-5A1FB02A2A42}"/>
              </a:ext>
            </a:extLst>
          </p:cNvPr>
          <p:cNvSpPr>
            <a:spLocks noGrp="1"/>
          </p:cNvSpPr>
          <p:nvPr>
            <p:ph type="body" sz="quarter" idx="14"/>
          </p:nvPr>
        </p:nvSpPr>
        <p:spPr/>
        <p:txBody>
          <a:bodyPr/>
          <a:lstStyle/>
          <a:p>
            <a:endParaRPr lang="fr-FR"/>
          </a:p>
        </p:txBody>
      </p:sp>
      <p:sp>
        <p:nvSpPr>
          <p:cNvPr id="7" name="Espace réservé du texte 6">
            <a:extLst>
              <a:ext uri="{FF2B5EF4-FFF2-40B4-BE49-F238E27FC236}">
                <a16:creationId xmlns:a16="http://schemas.microsoft.com/office/drawing/2014/main" id="{B4EE59EE-90CF-875D-7EB8-AA9FDA1061A4}"/>
              </a:ext>
            </a:extLst>
          </p:cNvPr>
          <p:cNvSpPr>
            <a:spLocks noGrp="1"/>
          </p:cNvSpPr>
          <p:nvPr>
            <p:ph type="body" sz="quarter" idx="15"/>
          </p:nvPr>
        </p:nvSpPr>
        <p:spPr/>
        <p:txBody>
          <a:bodyPr/>
          <a:lstStyle/>
          <a:p>
            <a:endParaRPr lang="fr-FR"/>
          </a:p>
        </p:txBody>
      </p:sp>
      <p:sp>
        <p:nvSpPr>
          <p:cNvPr id="8" name="Espace réservé du texte 7">
            <a:extLst>
              <a:ext uri="{FF2B5EF4-FFF2-40B4-BE49-F238E27FC236}">
                <a16:creationId xmlns:a16="http://schemas.microsoft.com/office/drawing/2014/main" id="{29FBB0DB-C05C-B397-A611-A49173715F22}"/>
              </a:ext>
            </a:extLst>
          </p:cNvPr>
          <p:cNvSpPr>
            <a:spLocks noGrp="1"/>
          </p:cNvSpPr>
          <p:nvPr>
            <p:ph type="body" sz="quarter" idx="16"/>
          </p:nvPr>
        </p:nvSpPr>
        <p:spPr/>
        <p:txBody>
          <a:bodyPr/>
          <a:lstStyle/>
          <a:p>
            <a:endParaRPr lang="fr-FR"/>
          </a:p>
        </p:txBody>
      </p:sp>
      <p:sp>
        <p:nvSpPr>
          <p:cNvPr id="9" name="Espace réservé du texte 8">
            <a:extLst>
              <a:ext uri="{FF2B5EF4-FFF2-40B4-BE49-F238E27FC236}">
                <a16:creationId xmlns:a16="http://schemas.microsoft.com/office/drawing/2014/main" id="{DD3F8B1A-0AF3-6DBF-D5D8-5B56DB887FA8}"/>
              </a:ext>
            </a:extLst>
          </p:cNvPr>
          <p:cNvSpPr>
            <a:spLocks noGrp="1"/>
          </p:cNvSpPr>
          <p:nvPr>
            <p:ph type="body" sz="quarter" idx="17"/>
          </p:nvPr>
        </p:nvSpPr>
        <p:spPr/>
        <p:txBody>
          <a:bodyPr/>
          <a:lstStyle/>
          <a:p>
            <a:endParaRPr lang="fr-FR"/>
          </a:p>
        </p:txBody>
      </p:sp>
      <p:pic>
        <p:nvPicPr>
          <p:cNvPr id="19" name="Espace réservé de l'image en ligne 18" descr="Chaises de bureau et table">
            <a:extLst>
              <a:ext uri="{FF2B5EF4-FFF2-40B4-BE49-F238E27FC236}">
                <a16:creationId xmlns:a16="http://schemas.microsoft.com/office/drawing/2014/main" id="{775CE131-A513-705C-8E4A-DC1D7A9047E4}"/>
              </a:ext>
            </a:extLst>
          </p:cNvPr>
          <p:cNvPicPr>
            <a:picLocks noGrp="1" noChangeAspect="1"/>
          </p:cNvPicPr>
          <p:nvPr>
            <p:ph type="clipArt" sz="quarter" idx="26"/>
          </p:nvPr>
        </p:nvPicPr>
        <p:blipFill>
          <a:blip r:embed="rId2" cstate="print">
            <a:extLst>
              <a:ext uri="{28A0092B-C50C-407E-A947-70E740481C1C}">
                <a14:useLocalDpi xmlns:a14="http://schemas.microsoft.com/office/drawing/2010/main"/>
              </a:ext>
            </a:extLst>
          </a:blip>
          <a:stretch>
            <a:fillRect/>
          </a:stretch>
        </p:blipFill>
        <p:spPr>
          <a:xfrm>
            <a:off x="678807" y="595313"/>
            <a:ext cx="1693561" cy="1047750"/>
          </a:xfrm>
        </p:spPr>
      </p:pic>
      <p:pic>
        <p:nvPicPr>
          <p:cNvPr id="21" name="Espace réservé de l'image en ligne 20">
            <a:extLst>
              <a:ext uri="{FF2B5EF4-FFF2-40B4-BE49-F238E27FC236}">
                <a16:creationId xmlns:a16="http://schemas.microsoft.com/office/drawing/2014/main" id="{AC7FBBBE-4A0F-F5A5-9FD2-0AFACC945252}"/>
              </a:ext>
            </a:extLst>
          </p:cNvPr>
          <p:cNvPicPr>
            <a:picLocks noGrp="1" noChangeAspect="1"/>
          </p:cNvPicPr>
          <p:nvPr>
            <p:ph type="clipArt" sz="quarter" idx="27"/>
          </p:nvPr>
        </p:nvPicPr>
        <p:blipFill>
          <a:blip r:embed="rId3" cstate="print">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3809593" y="595313"/>
            <a:ext cx="1483539" cy="1047750"/>
          </a:xfrm>
        </p:spPr>
      </p:pic>
      <p:pic>
        <p:nvPicPr>
          <p:cNvPr id="23" name="Espace réservé de l'image en ligne 22" descr="Une image contenant herbe, extérieur, football, champ&#10;&#10;Description générée automatiquement">
            <a:extLst>
              <a:ext uri="{FF2B5EF4-FFF2-40B4-BE49-F238E27FC236}">
                <a16:creationId xmlns:a16="http://schemas.microsoft.com/office/drawing/2014/main" id="{738FF894-0A25-E970-73A9-529F1CBF08F5}"/>
              </a:ext>
            </a:extLst>
          </p:cNvPr>
          <p:cNvPicPr>
            <a:picLocks noGrp="1" noChangeAspect="1"/>
          </p:cNvPicPr>
          <p:nvPr>
            <p:ph type="clipArt" sz="quarter" idx="28"/>
          </p:nvPr>
        </p:nvPicPr>
        <p:blipFill>
          <a:blip r:embed="rId5" cstate="print">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6853635" y="585788"/>
            <a:ext cx="1574005" cy="1049337"/>
          </a:xfrm>
        </p:spPr>
      </p:pic>
      <p:pic>
        <p:nvPicPr>
          <p:cNvPr id="11" name="Espace réservé de l'image en ligne 10" descr="Une image contenant personne, intérieur, alimentation, plat&#10;&#10;Description générée automatiquement">
            <a:extLst>
              <a:ext uri="{FF2B5EF4-FFF2-40B4-BE49-F238E27FC236}">
                <a16:creationId xmlns:a16="http://schemas.microsoft.com/office/drawing/2014/main" id="{21DEA801-407D-7F86-391D-0C27905E462C}"/>
              </a:ext>
            </a:extLst>
          </p:cNvPr>
          <p:cNvPicPr>
            <a:picLocks noGrp="1" noChangeAspect="1"/>
          </p:cNvPicPr>
          <p:nvPr>
            <p:ph type="clipArt" sz="quarter" idx="29"/>
          </p:nvPr>
        </p:nvPicPr>
        <p:blipFill>
          <a:blip r:embed="rId7" cstate="print">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9908641" y="576263"/>
            <a:ext cx="1515544" cy="1049337"/>
          </a:xfrm>
        </p:spPr>
      </p:pic>
      <p:sp>
        <p:nvSpPr>
          <p:cNvPr id="14" name="Espace réservé de l'image en ligne 13">
            <a:extLst>
              <a:ext uri="{FF2B5EF4-FFF2-40B4-BE49-F238E27FC236}">
                <a16:creationId xmlns:a16="http://schemas.microsoft.com/office/drawing/2014/main" id="{5776E695-BADF-5B9D-08A7-EEA2B51EE7C1}"/>
              </a:ext>
            </a:extLst>
          </p:cNvPr>
          <p:cNvSpPr>
            <a:spLocks noGrp="1"/>
          </p:cNvSpPr>
          <p:nvPr>
            <p:ph type="clipArt" sz="quarter" idx="30"/>
          </p:nvPr>
        </p:nvSpPr>
        <p:spPr/>
        <p:txBody>
          <a:bodyPr/>
          <a:lstStyle/>
          <a:p>
            <a:endParaRPr lang="en-US"/>
          </a:p>
        </p:txBody>
      </p:sp>
      <p:sp>
        <p:nvSpPr>
          <p:cNvPr id="15" name="Espace réservé de l'image en ligne 14">
            <a:extLst>
              <a:ext uri="{FF2B5EF4-FFF2-40B4-BE49-F238E27FC236}">
                <a16:creationId xmlns:a16="http://schemas.microsoft.com/office/drawing/2014/main" id="{DD8C6775-0070-E0F6-2A07-715F92C5D03A}"/>
              </a:ext>
            </a:extLst>
          </p:cNvPr>
          <p:cNvSpPr>
            <a:spLocks noGrp="1"/>
          </p:cNvSpPr>
          <p:nvPr>
            <p:ph type="clipArt" sz="quarter" idx="31"/>
          </p:nvPr>
        </p:nvSpPr>
        <p:spPr/>
        <p:txBody>
          <a:bodyPr/>
          <a:lstStyle/>
          <a:p>
            <a:endParaRPr lang="en-US"/>
          </a:p>
        </p:txBody>
      </p:sp>
      <p:sp>
        <p:nvSpPr>
          <p:cNvPr id="16" name="Espace réservé de l'image en ligne 15">
            <a:extLst>
              <a:ext uri="{FF2B5EF4-FFF2-40B4-BE49-F238E27FC236}">
                <a16:creationId xmlns:a16="http://schemas.microsoft.com/office/drawing/2014/main" id="{F18C924A-5CBD-5B4E-FF89-E36750E17085}"/>
              </a:ext>
            </a:extLst>
          </p:cNvPr>
          <p:cNvSpPr>
            <a:spLocks noGrp="1"/>
          </p:cNvSpPr>
          <p:nvPr>
            <p:ph type="clipArt" sz="quarter" idx="32"/>
          </p:nvPr>
        </p:nvSpPr>
        <p:spPr/>
        <p:txBody>
          <a:bodyPr/>
          <a:lstStyle/>
          <a:p>
            <a:endParaRPr lang="en-US"/>
          </a:p>
        </p:txBody>
      </p:sp>
      <p:sp>
        <p:nvSpPr>
          <p:cNvPr id="17" name="Espace réservé de l'image en ligne 16">
            <a:extLst>
              <a:ext uri="{FF2B5EF4-FFF2-40B4-BE49-F238E27FC236}">
                <a16:creationId xmlns:a16="http://schemas.microsoft.com/office/drawing/2014/main" id="{E8811B77-0362-FABD-2CBD-0A36F1A77E7F}"/>
              </a:ext>
            </a:extLst>
          </p:cNvPr>
          <p:cNvSpPr>
            <a:spLocks noGrp="1"/>
          </p:cNvSpPr>
          <p:nvPr>
            <p:ph type="clipArt" sz="quarter" idx="33"/>
          </p:nvPr>
        </p:nvSpPr>
        <p:spPr/>
        <p:txBody>
          <a:bodyPr/>
          <a:lstStyle/>
          <a:p>
            <a:endParaRPr lang="en-US"/>
          </a:p>
        </p:txBody>
      </p:sp>
    </p:spTree>
    <p:extLst>
      <p:ext uri="{BB962C8B-B14F-4D97-AF65-F5344CB8AC3E}">
        <p14:creationId xmlns:p14="http://schemas.microsoft.com/office/powerpoint/2010/main" val="2606106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13">
            <a:extLst>
              <a:ext uri="{FF2B5EF4-FFF2-40B4-BE49-F238E27FC236}">
                <a16:creationId xmlns:a16="http://schemas.microsoft.com/office/drawing/2014/main" id="{4DEB2AA7-1073-2A8D-C397-5B5C4B984573}"/>
              </a:ext>
            </a:extLst>
          </p:cNvPr>
          <p:cNvSpPr>
            <a:spLocks noGrp="1"/>
          </p:cNvSpPr>
          <p:nvPr>
            <p:ph type="body" sz="quarter" idx="14"/>
          </p:nvPr>
        </p:nvSpPr>
        <p:spPr/>
        <p:txBody>
          <a:bodyPr/>
          <a:lstStyle/>
          <a:p>
            <a:endParaRPr lang="fr-FR"/>
          </a:p>
        </p:txBody>
      </p:sp>
      <p:sp>
        <p:nvSpPr>
          <p:cNvPr id="15" name="Espace réservé du texte 14">
            <a:extLst>
              <a:ext uri="{FF2B5EF4-FFF2-40B4-BE49-F238E27FC236}">
                <a16:creationId xmlns:a16="http://schemas.microsoft.com/office/drawing/2014/main" id="{FD638005-982D-03C4-25D5-3E84A5546F0A}"/>
              </a:ext>
            </a:extLst>
          </p:cNvPr>
          <p:cNvSpPr>
            <a:spLocks noGrp="1"/>
          </p:cNvSpPr>
          <p:nvPr>
            <p:ph type="body" sz="quarter" idx="15"/>
          </p:nvPr>
        </p:nvSpPr>
        <p:spPr/>
        <p:txBody>
          <a:bodyPr/>
          <a:lstStyle/>
          <a:p>
            <a:endParaRPr lang="fr-FR"/>
          </a:p>
        </p:txBody>
      </p:sp>
      <p:sp>
        <p:nvSpPr>
          <p:cNvPr id="16" name="Espace réservé du texte 15">
            <a:extLst>
              <a:ext uri="{FF2B5EF4-FFF2-40B4-BE49-F238E27FC236}">
                <a16:creationId xmlns:a16="http://schemas.microsoft.com/office/drawing/2014/main" id="{5070D804-87A6-4466-49AE-49DAF7E9C64F}"/>
              </a:ext>
            </a:extLst>
          </p:cNvPr>
          <p:cNvSpPr>
            <a:spLocks noGrp="1"/>
          </p:cNvSpPr>
          <p:nvPr>
            <p:ph type="body" sz="quarter" idx="16"/>
          </p:nvPr>
        </p:nvSpPr>
        <p:spPr/>
        <p:txBody>
          <a:bodyPr/>
          <a:lstStyle/>
          <a:p>
            <a:endParaRPr lang="fr-FR"/>
          </a:p>
        </p:txBody>
      </p:sp>
      <p:sp>
        <p:nvSpPr>
          <p:cNvPr id="17" name="Espace réservé du texte 16">
            <a:extLst>
              <a:ext uri="{FF2B5EF4-FFF2-40B4-BE49-F238E27FC236}">
                <a16:creationId xmlns:a16="http://schemas.microsoft.com/office/drawing/2014/main" id="{6601EE2A-9FA2-FA39-DB3B-B400D2B64FB7}"/>
              </a:ext>
            </a:extLst>
          </p:cNvPr>
          <p:cNvSpPr>
            <a:spLocks noGrp="1"/>
          </p:cNvSpPr>
          <p:nvPr>
            <p:ph type="body" sz="quarter" idx="17"/>
          </p:nvPr>
        </p:nvSpPr>
        <p:spPr/>
        <p:txBody>
          <a:bodyPr/>
          <a:lstStyle/>
          <a:p>
            <a:endParaRPr lang="fr-FR"/>
          </a:p>
        </p:txBody>
      </p:sp>
      <p:sp>
        <p:nvSpPr>
          <p:cNvPr id="10" name="Espace réservé du texte 9">
            <a:extLst>
              <a:ext uri="{FF2B5EF4-FFF2-40B4-BE49-F238E27FC236}">
                <a16:creationId xmlns:a16="http://schemas.microsoft.com/office/drawing/2014/main" id="{4AE0DEC9-A3F5-4BBC-292D-6B127CACE243}"/>
              </a:ext>
            </a:extLst>
          </p:cNvPr>
          <p:cNvSpPr>
            <a:spLocks noGrp="1"/>
          </p:cNvSpPr>
          <p:nvPr>
            <p:ph type="body" sz="quarter" idx="10"/>
          </p:nvPr>
        </p:nvSpPr>
        <p:spPr/>
        <p:txBody>
          <a:bodyPr>
            <a:normAutofit/>
          </a:bodyPr>
          <a:lstStyle/>
          <a:p>
            <a:r>
              <a:rPr lang="fr-FR" sz="1200" b="1" dirty="0"/>
              <a:t>Un verre d’eau</a:t>
            </a:r>
          </a:p>
          <a:p>
            <a:r>
              <a:rPr lang="fr-FR" sz="1200" dirty="0"/>
              <a:t>Vous devez vous verser vous-même un verre d’eau, le boire, laver ensuite le récipient, le ranger.</a:t>
            </a:r>
          </a:p>
          <a:p>
            <a:endParaRPr lang="fr-FR" sz="1200" dirty="0"/>
          </a:p>
        </p:txBody>
      </p:sp>
      <p:sp>
        <p:nvSpPr>
          <p:cNvPr id="11" name="Espace réservé du texte 10">
            <a:extLst>
              <a:ext uri="{FF2B5EF4-FFF2-40B4-BE49-F238E27FC236}">
                <a16:creationId xmlns:a16="http://schemas.microsoft.com/office/drawing/2014/main" id="{0EB3268E-3001-09BC-A629-E2E3AF1459D5}"/>
              </a:ext>
            </a:extLst>
          </p:cNvPr>
          <p:cNvSpPr>
            <a:spLocks noGrp="1"/>
          </p:cNvSpPr>
          <p:nvPr>
            <p:ph type="body" sz="quarter" idx="11"/>
          </p:nvPr>
        </p:nvSpPr>
        <p:spPr/>
        <p:txBody>
          <a:bodyPr>
            <a:normAutofit/>
          </a:bodyPr>
          <a:lstStyle/>
          <a:p>
            <a:r>
              <a:rPr lang="fr-FR" sz="1200" b="1" dirty="0"/>
              <a:t>S’habiller</a:t>
            </a:r>
          </a:p>
          <a:p>
            <a:r>
              <a:rPr lang="fr-FR" sz="1200" dirty="0"/>
              <a:t>Mettez votre manteau / veste / pardessus et enlevez le 3 fois de suite. Enlevez et remettez vos chaussures 2 fois de suite.</a:t>
            </a:r>
          </a:p>
          <a:p>
            <a:r>
              <a:rPr lang="fr-FR" sz="1200" dirty="0"/>
              <a:t> Changez le sens dans lequel vous avez mis votre ceinture, puis rechangez le pour la remettre dans le sens initial.</a:t>
            </a:r>
          </a:p>
          <a:p>
            <a:endParaRPr lang="fr-FR" sz="1200" dirty="0"/>
          </a:p>
        </p:txBody>
      </p:sp>
      <p:sp>
        <p:nvSpPr>
          <p:cNvPr id="12" name="Espace réservé du texte 11">
            <a:extLst>
              <a:ext uri="{FF2B5EF4-FFF2-40B4-BE49-F238E27FC236}">
                <a16:creationId xmlns:a16="http://schemas.microsoft.com/office/drawing/2014/main" id="{4624F2A5-B8B8-8759-4CAD-B0338F109F2F}"/>
              </a:ext>
            </a:extLst>
          </p:cNvPr>
          <p:cNvSpPr>
            <a:spLocks noGrp="1"/>
          </p:cNvSpPr>
          <p:nvPr>
            <p:ph type="body" sz="quarter" idx="12"/>
          </p:nvPr>
        </p:nvSpPr>
        <p:spPr/>
        <p:txBody>
          <a:bodyPr>
            <a:normAutofit/>
          </a:bodyPr>
          <a:lstStyle/>
          <a:p>
            <a:r>
              <a:rPr lang="fr-FR" sz="1200" b="1" dirty="0"/>
              <a:t>Se rendre aux toilettes</a:t>
            </a:r>
          </a:p>
          <a:p>
            <a:r>
              <a:rPr lang="fr-FR" sz="1200" dirty="0"/>
              <a:t>Allez vous laver les mains aux toilettes et revenez dans la salle</a:t>
            </a:r>
          </a:p>
        </p:txBody>
      </p:sp>
      <p:sp>
        <p:nvSpPr>
          <p:cNvPr id="13" name="Espace réservé du texte 12">
            <a:extLst>
              <a:ext uri="{FF2B5EF4-FFF2-40B4-BE49-F238E27FC236}">
                <a16:creationId xmlns:a16="http://schemas.microsoft.com/office/drawing/2014/main" id="{94B52743-BF4D-A1A9-710C-05B2B56BF036}"/>
              </a:ext>
            </a:extLst>
          </p:cNvPr>
          <p:cNvSpPr>
            <a:spLocks noGrp="1"/>
          </p:cNvSpPr>
          <p:nvPr>
            <p:ph type="body" sz="quarter" idx="13"/>
          </p:nvPr>
        </p:nvSpPr>
        <p:spPr/>
        <p:txBody>
          <a:bodyPr>
            <a:normAutofit/>
          </a:bodyPr>
          <a:lstStyle/>
          <a:p>
            <a:r>
              <a:rPr lang="fr-FR" sz="1200" b="1" dirty="0"/>
              <a:t>Un objet par terre</a:t>
            </a:r>
          </a:p>
          <a:p>
            <a:r>
              <a:rPr lang="fr-FR" sz="1200" dirty="0"/>
              <a:t>Posez un objet par terre et ramassez le. </a:t>
            </a:r>
          </a:p>
        </p:txBody>
      </p:sp>
      <p:pic>
        <p:nvPicPr>
          <p:cNvPr id="3" name="Espace réservé de l'image en ligne 2" descr="Une image contenant conteneur, verre, eau, périphérique&#10;&#10;Description générée automatiquement">
            <a:extLst>
              <a:ext uri="{FF2B5EF4-FFF2-40B4-BE49-F238E27FC236}">
                <a16:creationId xmlns:a16="http://schemas.microsoft.com/office/drawing/2014/main" id="{EE64B21F-15E7-D56D-F411-54B8BE46B3AA}"/>
              </a:ext>
            </a:extLst>
          </p:cNvPr>
          <p:cNvPicPr>
            <a:picLocks noGrp="1" noChangeAspect="1"/>
          </p:cNvPicPr>
          <p:nvPr>
            <p:ph type="clipArt" sz="quarter" idx="26"/>
          </p:nvPr>
        </p:nvPicPr>
        <p:blipFill>
          <a:blip r:embed="rId2" cstate="print">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88255" y="595313"/>
            <a:ext cx="1474665" cy="1047750"/>
          </a:xfrm>
        </p:spPr>
      </p:pic>
      <p:pic>
        <p:nvPicPr>
          <p:cNvPr id="5" name="Espace réservé de l'image en ligne 4" descr="Tenue formelle suspendue dans un garde-robe intégré, avec des sac et des lunettes">
            <a:extLst>
              <a:ext uri="{FF2B5EF4-FFF2-40B4-BE49-F238E27FC236}">
                <a16:creationId xmlns:a16="http://schemas.microsoft.com/office/drawing/2014/main" id="{52521ED2-5097-808B-01C5-6F2F250EA36F}"/>
              </a:ext>
            </a:extLst>
          </p:cNvPr>
          <p:cNvPicPr>
            <a:picLocks noGrp="1" noChangeAspect="1"/>
          </p:cNvPicPr>
          <p:nvPr>
            <p:ph type="clipArt" sz="quarter" idx="27"/>
          </p:nvPr>
        </p:nvPicPr>
        <p:blipFill>
          <a:blip r:embed="rId4" cstate="print">
            <a:extLst>
              <a:ext uri="{28A0092B-C50C-407E-A947-70E740481C1C}">
                <a14:useLocalDpi xmlns:a14="http://schemas.microsoft.com/office/drawing/2010/main"/>
              </a:ext>
            </a:extLst>
          </a:blip>
          <a:stretch>
            <a:fillRect/>
          </a:stretch>
        </p:blipFill>
        <p:spPr>
          <a:xfrm>
            <a:off x="3975120" y="595313"/>
            <a:ext cx="1152486" cy="1047750"/>
          </a:xfrm>
        </p:spPr>
      </p:pic>
      <p:pic>
        <p:nvPicPr>
          <p:cNvPr id="4" name="Espace réservé de l'image en ligne 3" descr="Une image contenant intérieur, mur, toilette, salle de bain&#10;&#10;Description générée automatiquement">
            <a:extLst>
              <a:ext uri="{FF2B5EF4-FFF2-40B4-BE49-F238E27FC236}">
                <a16:creationId xmlns:a16="http://schemas.microsoft.com/office/drawing/2014/main" id="{461EAD43-754D-0AB7-616C-EDF92756CF5C}"/>
              </a:ext>
            </a:extLst>
          </p:cNvPr>
          <p:cNvPicPr>
            <a:picLocks noGrp="1" noChangeAspect="1"/>
          </p:cNvPicPr>
          <p:nvPr>
            <p:ph type="clipArt" sz="quarter" idx="28"/>
          </p:nvPr>
        </p:nvPicPr>
        <p:blipFill>
          <a:blip r:embed="rId5" cstate="print">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6854250" y="585788"/>
            <a:ext cx="1572776" cy="1049337"/>
          </a:xfrm>
        </p:spPr>
      </p:pic>
      <p:pic>
        <p:nvPicPr>
          <p:cNvPr id="8" name="Espace réservé de l'image en ligne 7" descr="Une image contenant plancher, bâtiment, en bois&#10;&#10;Description générée automatiquement">
            <a:extLst>
              <a:ext uri="{FF2B5EF4-FFF2-40B4-BE49-F238E27FC236}">
                <a16:creationId xmlns:a16="http://schemas.microsoft.com/office/drawing/2014/main" id="{A0DC07B3-B160-357E-9B4C-0B6FF78828F9}"/>
              </a:ext>
            </a:extLst>
          </p:cNvPr>
          <p:cNvPicPr>
            <a:picLocks noGrp="1" noChangeAspect="1"/>
          </p:cNvPicPr>
          <p:nvPr>
            <p:ph type="clipArt" sz="quarter" idx="29"/>
          </p:nvPr>
        </p:nvPicPr>
        <p:blipFill>
          <a:blip r:embed="rId7" cstate="print">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9966855" y="576263"/>
            <a:ext cx="1399116" cy="1049337"/>
          </a:xfrm>
        </p:spPr>
      </p:pic>
      <p:sp>
        <p:nvSpPr>
          <p:cNvPr id="30" name="Espace réservé de l'image en ligne 29">
            <a:extLst>
              <a:ext uri="{FF2B5EF4-FFF2-40B4-BE49-F238E27FC236}">
                <a16:creationId xmlns:a16="http://schemas.microsoft.com/office/drawing/2014/main" id="{545A4CBE-B39D-D073-50D3-3E6937602CF0}"/>
              </a:ext>
            </a:extLst>
          </p:cNvPr>
          <p:cNvSpPr>
            <a:spLocks noGrp="1"/>
          </p:cNvSpPr>
          <p:nvPr>
            <p:ph type="clipArt" sz="quarter" idx="30"/>
          </p:nvPr>
        </p:nvSpPr>
        <p:spPr/>
        <p:txBody>
          <a:bodyPr/>
          <a:lstStyle/>
          <a:p>
            <a:endParaRPr lang="en-US"/>
          </a:p>
        </p:txBody>
      </p:sp>
      <p:sp>
        <p:nvSpPr>
          <p:cNvPr id="31" name="Espace réservé de l'image en ligne 30">
            <a:extLst>
              <a:ext uri="{FF2B5EF4-FFF2-40B4-BE49-F238E27FC236}">
                <a16:creationId xmlns:a16="http://schemas.microsoft.com/office/drawing/2014/main" id="{C495CE6F-A47E-0A63-FFE4-5258A3CA4650}"/>
              </a:ext>
            </a:extLst>
          </p:cNvPr>
          <p:cNvSpPr>
            <a:spLocks noGrp="1"/>
          </p:cNvSpPr>
          <p:nvPr>
            <p:ph type="clipArt" sz="quarter" idx="31"/>
          </p:nvPr>
        </p:nvSpPr>
        <p:spPr/>
        <p:txBody>
          <a:bodyPr/>
          <a:lstStyle/>
          <a:p>
            <a:endParaRPr lang="en-US"/>
          </a:p>
        </p:txBody>
      </p:sp>
      <p:sp>
        <p:nvSpPr>
          <p:cNvPr id="32" name="Espace réservé de l'image en ligne 31">
            <a:extLst>
              <a:ext uri="{FF2B5EF4-FFF2-40B4-BE49-F238E27FC236}">
                <a16:creationId xmlns:a16="http://schemas.microsoft.com/office/drawing/2014/main" id="{28C476B8-28B0-B913-74E3-991478E23044}"/>
              </a:ext>
            </a:extLst>
          </p:cNvPr>
          <p:cNvSpPr>
            <a:spLocks noGrp="1"/>
          </p:cNvSpPr>
          <p:nvPr>
            <p:ph type="clipArt" sz="quarter" idx="32"/>
          </p:nvPr>
        </p:nvSpPr>
        <p:spPr/>
        <p:txBody>
          <a:bodyPr/>
          <a:lstStyle/>
          <a:p>
            <a:endParaRPr lang="en-US"/>
          </a:p>
        </p:txBody>
      </p:sp>
      <p:sp>
        <p:nvSpPr>
          <p:cNvPr id="33" name="Espace réservé de l'image en ligne 32">
            <a:extLst>
              <a:ext uri="{FF2B5EF4-FFF2-40B4-BE49-F238E27FC236}">
                <a16:creationId xmlns:a16="http://schemas.microsoft.com/office/drawing/2014/main" id="{B2622E24-4C15-A09C-85E9-E7BD45FE6A20}"/>
              </a:ext>
            </a:extLst>
          </p:cNvPr>
          <p:cNvSpPr>
            <a:spLocks noGrp="1"/>
          </p:cNvSpPr>
          <p:nvPr>
            <p:ph type="clipArt" sz="quarter" idx="33"/>
          </p:nvPr>
        </p:nvSpPr>
        <p:spPr/>
        <p:txBody>
          <a:bodyPr/>
          <a:lstStyle/>
          <a:p>
            <a:endParaRPr lang="en-US"/>
          </a:p>
        </p:txBody>
      </p:sp>
    </p:spTree>
    <p:extLst>
      <p:ext uri="{BB962C8B-B14F-4D97-AF65-F5344CB8AC3E}">
        <p14:creationId xmlns:p14="http://schemas.microsoft.com/office/powerpoint/2010/main" val="2429080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p:txBody>
          <a:bodyPr/>
          <a:lstStyle/>
          <a:p>
            <a:r>
              <a:rPr lang="fr-FR" dirty="0"/>
              <a:t>Extension « Usages numériques »</a:t>
            </a:r>
          </a:p>
        </p:txBody>
      </p:sp>
      <p:sp>
        <p:nvSpPr>
          <p:cNvPr id="10" name="Sous-titre 9">
            <a:extLst>
              <a:ext uri="{FF2B5EF4-FFF2-40B4-BE49-F238E27FC236}">
                <a16:creationId xmlns:a16="http://schemas.microsoft.com/office/drawing/2014/main" id="{84FDF0EF-A697-52A0-EED8-3F0E53E030AB}"/>
              </a:ext>
            </a:extLst>
          </p:cNvPr>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2910379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13">
            <a:extLst>
              <a:ext uri="{FF2B5EF4-FFF2-40B4-BE49-F238E27FC236}">
                <a16:creationId xmlns:a16="http://schemas.microsoft.com/office/drawing/2014/main" id="{4DEB2AA7-1073-2A8D-C397-5B5C4B984573}"/>
              </a:ext>
            </a:extLst>
          </p:cNvPr>
          <p:cNvSpPr>
            <a:spLocks noGrp="1"/>
          </p:cNvSpPr>
          <p:nvPr>
            <p:ph type="body" sz="quarter" idx="14"/>
          </p:nvPr>
        </p:nvSpPr>
        <p:spPr/>
        <p:txBody>
          <a:bodyPr>
            <a:normAutofit/>
          </a:bodyPr>
          <a:lstStyle/>
          <a:p>
            <a:r>
              <a:rPr lang="fr-FR" sz="1200" b="1" dirty="0"/>
              <a:t>Usage numérique : Mini-jeux</a:t>
            </a:r>
          </a:p>
          <a:p>
            <a:r>
              <a:rPr lang="fr-FR" sz="1200" dirty="0"/>
              <a:t>Depuis votre smartphone, téléchargez les 2 jeux les plus populaires d’une catégorie de votre choix, et jouez-y au moins 1 minute30 chacun.</a:t>
            </a:r>
          </a:p>
          <a:p>
            <a:endParaRPr lang="fr-FR" sz="1800" dirty="0"/>
          </a:p>
        </p:txBody>
      </p:sp>
      <p:sp>
        <p:nvSpPr>
          <p:cNvPr id="15" name="Espace réservé du texte 14">
            <a:extLst>
              <a:ext uri="{FF2B5EF4-FFF2-40B4-BE49-F238E27FC236}">
                <a16:creationId xmlns:a16="http://schemas.microsoft.com/office/drawing/2014/main" id="{FD638005-982D-03C4-25D5-3E84A5546F0A}"/>
              </a:ext>
            </a:extLst>
          </p:cNvPr>
          <p:cNvSpPr>
            <a:spLocks noGrp="1"/>
          </p:cNvSpPr>
          <p:nvPr>
            <p:ph type="body" sz="quarter" idx="15"/>
          </p:nvPr>
        </p:nvSpPr>
        <p:spPr/>
        <p:txBody>
          <a:bodyPr>
            <a:normAutofit/>
          </a:bodyPr>
          <a:lstStyle/>
          <a:p>
            <a:r>
              <a:rPr lang="fr-FR" sz="1200" b="1" dirty="0"/>
              <a:t>Usage numérique : Consultation dans les transports bondés</a:t>
            </a:r>
          </a:p>
          <a:p>
            <a:r>
              <a:rPr lang="fr-FR" sz="1200" dirty="0"/>
              <a:t>Collez-vous à un mur ou mieux, allez dans un coin de la salle (face au coin de la salle). Mettez une main sur le mur comme pour vous tenir, et utiliser la main restante pour envoyer un message signalant votre retard.</a:t>
            </a:r>
          </a:p>
          <a:p>
            <a:endParaRPr lang="fr-FR" dirty="0"/>
          </a:p>
          <a:p>
            <a:endParaRPr lang="fr-FR" sz="1200" dirty="0"/>
          </a:p>
        </p:txBody>
      </p:sp>
      <p:sp>
        <p:nvSpPr>
          <p:cNvPr id="16" name="Espace réservé du texte 15">
            <a:extLst>
              <a:ext uri="{FF2B5EF4-FFF2-40B4-BE49-F238E27FC236}">
                <a16:creationId xmlns:a16="http://schemas.microsoft.com/office/drawing/2014/main" id="{5070D804-87A6-4466-49AE-49DAF7E9C64F}"/>
              </a:ext>
            </a:extLst>
          </p:cNvPr>
          <p:cNvSpPr>
            <a:spLocks noGrp="1"/>
          </p:cNvSpPr>
          <p:nvPr>
            <p:ph type="body" sz="quarter" idx="16"/>
          </p:nvPr>
        </p:nvSpPr>
        <p:spPr/>
        <p:txBody>
          <a:bodyPr/>
          <a:lstStyle/>
          <a:p>
            <a:endParaRPr lang="fr-FR"/>
          </a:p>
        </p:txBody>
      </p:sp>
      <p:sp>
        <p:nvSpPr>
          <p:cNvPr id="17" name="Espace réservé du texte 16">
            <a:extLst>
              <a:ext uri="{FF2B5EF4-FFF2-40B4-BE49-F238E27FC236}">
                <a16:creationId xmlns:a16="http://schemas.microsoft.com/office/drawing/2014/main" id="{6601EE2A-9FA2-FA39-DB3B-B400D2B64FB7}"/>
              </a:ext>
            </a:extLst>
          </p:cNvPr>
          <p:cNvSpPr>
            <a:spLocks noGrp="1"/>
          </p:cNvSpPr>
          <p:nvPr>
            <p:ph type="body" sz="quarter" idx="17"/>
          </p:nvPr>
        </p:nvSpPr>
        <p:spPr/>
        <p:txBody>
          <a:bodyPr/>
          <a:lstStyle/>
          <a:p>
            <a:endParaRPr lang="fr-FR"/>
          </a:p>
        </p:txBody>
      </p:sp>
      <p:sp>
        <p:nvSpPr>
          <p:cNvPr id="10" name="Espace réservé du texte 9">
            <a:extLst>
              <a:ext uri="{FF2B5EF4-FFF2-40B4-BE49-F238E27FC236}">
                <a16:creationId xmlns:a16="http://schemas.microsoft.com/office/drawing/2014/main" id="{4AE0DEC9-A3F5-4BBC-292D-6B127CACE243}"/>
              </a:ext>
            </a:extLst>
          </p:cNvPr>
          <p:cNvSpPr>
            <a:spLocks noGrp="1"/>
          </p:cNvSpPr>
          <p:nvPr>
            <p:ph type="body" sz="quarter" idx="10"/>
          </p:nvPr>
        </p:nvSpPr>
        <p:spPr/>
        <p:txBody>
          <a:bodyPr>
            <a:normAutofit/>
          </a:bodyPr>
          <a:lstStyle/>
          <a:p>
            <a:r>
              <a:rPr lang="fr-FR" sz="1200" b="1" dirty="0"/>
              <a:t>Usage numérique : Site et Messages</a:t>
            </a:r>
          </a:p>
          <a:p>
            <a:r>
              <a:rPr lang="fr-FR" sz="1200" dirty="0"/>
              <a:t>Depuis votre smartphone, ouvrez la page web de votre organisation (entreprise, institution, etc.) et écrivez un message à vous-même à propos de cette page (doit contenir au moins l’équivalent de 500 caractères).</a:t>
            </a:r>
          </a:p>
          <a:p>
            <a:endParaRPr lang="fr-FR" sz="1200" dirty="0"/>
          </a:p>
        </p:txBody>
      </p:sp>
      <p:sp>
        <p:nvSpPr>
          <p:cNvPr id="11" name="Espace réservé du texte 10">
            <a:extLst>
              <a:ext uri="{FF2B5EF4-FFF2-40B4-BE49-F238E27FC236}">
                <a16:creationId xmlns:a16="http://schemas.microsoft.com/office/drawing/2014/main" id="{0EB3268E-3001-09BC-A629-E2E3AF1459D5}"/>
              </a:ext>
            </a:extLst>
          </p:cNvPr>
          <p:cNvSpPr>
            <a:spLocks noGrp="1"/>
          </p:cNvSpPr>
          <p:nvPr>
            <p:ph type="body" sz="quarter" idx="11"/>
          </p:nvPr>
        </p:nvSpPr>
        <p:spPr/>
        <p:txBody>
          <a:bodyPr>
            <a:normAutofit/>
          </a:bodyPr>
          <a:lstStyle/>
          <a:p>
            <a:r>
              <a:rPr lang="fr-FR" sz="1200" b="1" dirty="0"/>
              <a:t>Usage numérique : Selfie</a:t>
            </a:r>
          </a:p>
          <a:p>
            <a:r>
              <a:rPr lang="fr-FR" sz="1200" dirty="0"/>
              <a:t>Prenez au moins 5 selfies avec des personnes différentes, des emplacements différents et dans des postures différentes.</a:t>
            </a:r>
          </a:p>
          <a:p>
            <a:endParaRPr lang="fr-FR" sz="1200" dirty="0"/>
          </a:p>
        </p:txBody>
      </p:sp>
      <p:sp>
        <p:nvSpPr>
          <p:cNvPr id="12" name="Espace réservé du texte 11">
            <a:extLst>
              <a:ext uri="{FF2B5EF4-FFF2-40B4-BE49-F238E27FC236}">
                <a16:creationId xmlns:a16="http://schemas.microsoft.com/office/drawing/2014/main" id="{4624F2A5-B8B8-8759-4CAD-B0338F109F2F}"/>
              </a:ext>
            </a:extLst>
          </p:cNvPr>
          <p:cNvSpPr>
            <a:spLocks noGrp="1"/>
          </p:cNvSpPr>
          <p:nvPr>
            <p:ph type="body" sz="quarter" idx="12"/>
          </p:nvPr>
        </p:nvSpPr>
        <p:spPr/>
        <p:txBody>
          <a:bodyPr>
            <a:normAutofit/>
          </a:bodyPr>
          <a:lstStyle/>
          <a:p>
            <a:r>
              <a:rPr lang="fr-FR" sz="1200" b="1" dirty="0"/>
              <a:t>Usage numérique : Tout débrancher et rebrancher</a:t>
            </a:r>
          </a:p>
          <a:p>
            <a:r>
              <a:rPr lang="fr-FR" sz="1200" dirty="0"/>
              <a:t>Avec un ordinateur, débranchez tous les câbles et rebranchez-les comme à l’état initial quelques minutes plus tard.</a:t>
            </a:r>
          </a:p>
          <a:p>
            <a:endParaRPr lang="fr-FR" sz="1200" dirty="0"/>
          </a:p>
        </p:txBody>
      </p:sp>
      <p:sp>
        <p:nvSpPr>
          <p:cNvPr id="13" name="Espace réservé du texte 12">
            <a:extLst>
              <a:ext uri="{FF2B5EF4-FFF2-40B4-BE49-F238E27FC236}">
                <a16:creationId xmlns:a16="http://schemas.microsoft.com/office/drawing/2014/main" id="{94B52743-BF4D-A1A9-710C-05B2B56BF036}"/>
              </a:ext>
            </a:extLst>
          </p:cNvPr>
          <p:cNvSpPr>
            <a:spLocks noGrp="1"/>
          </p:cNvSpPr>
          <p:nvPr>
            <p:ph type="body" sz="quarter" idx="13"/>
          </p:nvPr>
        </p:nvSpPr>
        <p:spPr/>
        <p:txBody>
          <a:bodyPr>
            <a:normAutofit/>
          </a:bodyPr>
          <a:lstStyle/>
          <a:p>
            <a:r>
              <a:rPr lang="fr-FR" sz="1200" b="1" dirty="0"/>
              <a:t>Usage numérique : Retrouver une information</a:t>
            </a:r>
          </a:p>
          <a:p>
            <a:r>
              <a:rPr lang="fr-FR" sz="1200" dirty="0"/>
              <a:t>Tentez de retrouver la slide qui contient cette carte dans le jeu #OpenSeriousGame de Handi Situations (sur openseriousgames.org).</a:t>
            </a:r>
          </a:p>
          <a:p>
            <a:endParaRPr lang="fr-FR" sz="1200" dirty="0"/>
          </a:p>
        </p:txBody>
      </p:sp>
      <p:pic>
        <p:nvPicPr>
          <p:cNvPr id="36" name="Segnaposto immagine online 35" descr="Immagine che contiene persona, Cellulare, gadget, tenere&#10;&#10;Descrizione generata automaticamente">
            <a:extLst>
              <a:ext uri="{FF2B5EF4-FFF2-40B4-BE49-F238E27FC236}">
                <a16:creationId xmlns:a16="http://schemas.microsoft.com/office/drawing/2014/main" id="{C39480D6-EE3A-AD27-A91D-95834BEB0B91}"/>
              </a:ext>
            </a:extLst>
          </p:cNvPr>
          <p:cNvPicPr>
            <a:picLocks noGrp="1" noChangeAspect="1"/>
          </p:cNvPicPr>
          <p:nvPr>
            <p:ph type="clipArt" sz="quarter" idx="30"/>
          </p:nvPr>
        </p:nvPicPr>
        <p:blipFill>
          <a:blip r:embed="rId2" cstate="print">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594568" y="4044950"/>
            <a:ext cx="1862039" cy="1047750"/>
          </a:xfrm>
        </p:spPr>
      </p:pic>
      <p:pic>
        <p:nvPicPr>
          <p:cNvPr id="39" name="Segnaposto immagine online 38" descr="Immagine che contiene vestiti, persona, donna, uomo&#10;&#10;Descrizione generata automaticamente">
            <a:extLst>
              <a:ext uri="{FF2B5EF4-FFF2-40B4-BE49-F238E27FC236}">
                <a16:creationId xmlns:a16="http://schemas.microsoft.com/office/drawing/2014/main" id="{B852D254-607A-278C-A033-0D70A0E65DB2}"/>
              </a:ext>
            </a:extLst>
          </p:cNvPr>
          <p:cNvPicPr>
            <a:picLocks noGrp="1" noChangeAspect="1"/>
          </p:cNvPicPr>
          <p:nvPr>
            <p:ph type="clipArt" sz="quarter" idx="31"/>
          </p:nvPr>
        </p:nvPicPr>
        <p:blipFill>
          <a:blip r:embed="rId4" cstate="print">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852863" y="4044950"/>
            <a:ext cx="1397000" cy="1047750"/>
          </a:xfrm>
        </p:spPr>
      </p:pic>
      <p:sp>
        <p:nvSpPr>
          <p:cNvPr id="32" name="Espace réservé de l'image en ligne 31">
            <a:extLst>
              <a:ext uri="{FF2B5EF4-FFF2-40B4-BE49-F238E27FC236}">
                <a16:creationId xmlns:a16="http://schemas.microsoft.com/office/drawing/2014/main" id="{28C476B8-28B0-B913-74E3-991478E23044}"/>
              </a:ext>
            </a:extLst>
          </p:cNvPr>
          <p:cNvSpPr>
            <a:spLocks noGrp="1"/>
          </p:cNvSpPr>
          <p:nvPr>
            <p:ph type="clipArt" sz="quarter" idx="32"/>
          </p:nvPr>
        </p:nvSpPr>
        <p:spPr/>
        <p:txBody>
          <a:bodyPr/>
          <a:lstStyle/>
          <a:p>
            <a:endParaRPr lang="en-US"/>
          </a:p>
        </p:txBody>
      </p:sp>
      <p:sp>
        <p:nvSpPr>
          <p:cNvPr id="33" name="Espace réservé de l'image en ligne 32">
            <a:extLst>
              <a:ext uri="{FF2B5EF4-FFF2-40B4-BE49-F238E27FC236}">
                <a16:creationId xmlns:a16="http://schemas.microsoft.com/office/drawing/2014/main" id="{B2622E24-4C15-A09C-85E9-E7BD45FE6A20}"/>
              </a:ext>
            </a:extLst>
          </p:cNvPr>
          <p:cNvSpPr>
            <a:spLocks noGrp="1"/>
          </p:cNvSpPr>
          <p:nvPr>
            <p:ph type="clipArt" sz="quarter" idx="33"/>
          </p:nvPr>
        </p:nvSpPr>
        <p:spPr/>
        <p:txBody>
          <a:bodyPr/>
          <a:lstStyle/>
          <a:p>
            <a:endParaRPr lang="en-US"/>
          </a:p>
        </p:txBody>
      </p:sp>
      <p:pic>
        <p:nvPicPr>
          <p:cNvPr id="23" name="Segnaposto immagine online 22" descr="Immagine che contiene vestiti, persona, Viso umano, jeans&#10;&#10;Descrizione generata automaticamente">
            <a:extLst>
              <a:ext uri="{FF2B5EF4-FFF2-40B4-BE49-F238E27FC236}">
                <a16:creationId xmlns:a16="http://schemas.microsoft.com/office/drawing/2014/main" id="{78FB3BE9-9229-C6D1-6FC5-F383D08A3597}"/>
              </a:ext>
            </a:extLst>
          </p:cNvPr>
          <p:cNvPicPr>
            <a:picLocks noGrp="1" noChangeAspect="1"/>
          </p:cNvPicPr>
          <p:nvPr>
            <p:ph type="clipArt" sz="quarter" idx="26"/>
          </p:nvPr>
        </p:nvPicPr>
        <p:blipFill>
          <a:blip r:embed="rId6" cstate="print">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611720" y="595313"/>
            <a:ext cx="1827736" cy="1047750"/>
          </a:xfrm>
        </p:spPr>
      </p:pic>
      <p:pic>
        <p:nvPicPr>
          <p:cNvPr id="25" name="Segnaposto immagine online 24" descr="Donne che scattano un selfie">
            <a:extLst>
              <a:ext uri="{FF2B5EF4-FFF2-40B4-BE49-F238E27FC236}">
                <a16:creationId xmlns:a16="http://schemas.microsoft.com/office/drawing/2014/main" id="{B0F51D3A-517B-14BC-EB96-CDD68EDA38A3}"/>
              </a:ext>
            </a:extLst>
          </p:cNvPr>
          <p:cNvPicPr>
            <a:picLocks noGrp="1" noChangeAspect="1"/>
          </p:cNvPicPr>
          <p:nvPr>
            <p:ph type="clipArt" sz="quarter" idx="27"/>
          </p:nvPr>
        </p:nvPicPr>
        <p:blipFill>
          <a:blip r:embed="rId8" cstate="print">
            <a:extLst>
              <a:ext uri="{28A0092B-C50C-407E-A947-70E740481C1C}">
                <a14:useLocalDpi xmlns:a14="http://schemas.microsoft.com/office/drawing/2010/main"/>
              </a:ext>
            </a:extLst>
          </a:blip>
          <a:stretch>
            <a:fillRect/>
          </a:stretch>
        </p:blipFill>
        <p:spPr>
          <a:xfrm>
            <a:off x="3765550" y="595313"/>
            <a:ext cx="1571625" cy="1047750"/>
          </a:xfrm>
        </p:spPr>
      </p:pic>
      <p:pic>
        <p:nvPicPr>
          <p:cNvPr id="27" name="Segnaposto immagine online 26" descr="Immagine che contiene elettronica&#10;&#10;Descrizione generata automaticamente">
            <a:extLst>
              <a:ext uri="{FF2B5EF4-FFF2-40B4-BE49-F238E27FC236}">
                <a16:creationId xmlns:a16="http://schemas.microsoft.com/office/drawing/2014/main" id="{F6C2269B-E86C-990E-7506-E9C3D56AFEB9}"/>
              </a:ext>
            </a:extLst>
          </p:cNvPr>
          <p:cNvPicPr>
            <a:picLocks noGrp="1" noChangeAspect="1"/>
          </p:cNvPicPr>
          <p:nvPr>
            <p:ph type="clipArt" sz="quarter" idx="28"/>
          </p:nvPr>
        </p:nvPicPr>
        <p:blipFill>
          <a:blip r:embed="rId9" cstate="print">
            <a:extLst>
              <a:ext uri="{28A0092B-C50C-407E-A947-70E740481C1C}">
                <a14:useLocalDpi xmlns:a14="http://schemas.microsoft.com/office/drawing/2010/main"/>
              </a:ext>
              <a:ext uri="{837473B0-CC2E-450A-ABE3-18F120FF3D39}">
                <a1611:picAttrSrcUrl xmlns:a1611="http://schemas.microsoft.com/office/drawing/2016/11/main" r:id="rId10"/>
              </a:ext>
            </a:extLst>
          </a:blip>
          <a:stretch>
            <a:fillRect/>
          </a:stretch>
        </p:blipFill>
        <p:spPr>
          <a:xfrm>
            <a:off x="6418263" y="845022"/>
            <a:ext cx="2444750" cy="530868"/>
          </a:xfrm>
        </p:spPr>
      </p:pic>
      <p:pic>
        <p:nvPicPr>
          <p:cNvPr id="34" name="Segnaposto immagine online 33" descr="Immagine che contiene schermata, design&#10;&#10;Descrizione generata automaticamente">
            <a:extLst>
              <a:ext uri="{FF2B5EF4-FFF2-40B4-BE49-F238E27FC236}">
                <a16:creationId xmlns:a16="http://schemas.microsoft.com/office/drawing/2014/main" id="{53150228-E931-B230-E314-E6FF7B2B7D8B}"/>
              </a:ext>
            </a:extLst>
          </p:cNvPr>
          <p:cNvPicPr>
            <a:picLocks noGrp="1" noChangeAspect="1"/>
          </p:cNvPicPr>
          <p:nvPr>
            <p:ph type="clipArt" sz="quarter" idx="29"/>
          </p:nvPr>
        </p:nvPicPr>
        <p:blipFill>
          <a:blip r:embed="rId11" cstate="print">
            <a:extLst>
              <a:ext uri="{28A0092B-C50C-407E-A947-70E740481C1C}">
                <a14:useLocalDpi xmlns:a14="http://schemas.microsoft.com/office/drawing/2010/main"/>
              </a:ext>
              <a:ext uri="{837473B0-CC2E-450A-ABE3-18F120FF3D39}">
                <a1611:picAttrSrcUrl xmlns:a1611="http://schemas.microsoft.com/office/drawing/2016/11/main" r:id="rId12"/>
              </a:ext>
            </a:extLst>
          </a:blip>
          <a:stretch>
            <a:fillRect/>
          </a:stretch>
        </p:blipFill>
        <p:spPr>
          <a:xfrm>
            <a:off x="9838670" y="576263"/>
            <a:ext cx="1655486" cy="1049337"/>
          </a:xfrm>
        </p:spPr>
      </p:pic>
    </p:spTree>
    <p:extLst>
      <p:ext uri="{BB962C8B-B14F-4D97-AF65-F5344CB8AC3E}">
        <p14:creationId xmlns:p14="http://schemas.microsoft.com/office/powerpoint/2010/main" val="4194199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DF57264-BFC1-77D9-1939-119CE7BD2DF7}"/>
              </a:ext>
            </a:extLst>
          </p:cNvPr>
          <p:cNvSpPr>
            <a:spLocks noGrp="1"/>
          </p:cNvSpPr>
          <p:nvPr>
            <p:ph type="body" sz="quarter" idx="10"/>
          </p:nvPr>
        </p:nvSpPr>
        <p:spPr/>
        <p:txBody>
          <a:bodyPr>
            <a:normAutofit/>
          </a:bodyPr>
          <a:lstStyle/>
          <a:p>
            <a:r>
              <a:rPr lang="fr-FR" sz="1200" b="1" dirty="0"/>
              <a:t>Usage numérique : appel vidéo </a:t>
            </a:r>
          </a:p>
          <a:p>
            <a:r>
              <a:rPr lang="fr-FR" sz="1200" dirty="0"/>
              <a:t>Séparez votre groupe en au moins 2 et tentez d’effectuer un appel vidéo pour décider ensemble de la question suivante : « Qui devra s’occuper de l’animation des 10 prochaines réunions en appel vidéo »</a:t>
            </a:r>
          </a:p>
        </p:txBody>
      </p:sp>
      <p:sp>
        <p:nvSpPr>
          <p:cNvPr id="3" name="Espace réservé du texte 2">
            <a:extLst>
              <a:ext uri="{FF2B5EF4-FFF2-40B4-BE49-F238E27FC236}">
                <a16:creationId xmlns:a16="http://schemas.microsoft.com/office/drawing/2014/main" id="{52B5DF38-989F-A7EA-3E94-83DA400AF497}"/>
              </a:ext>
            </a:extLst>
          </p:cNvPr>
          <p:cNvSpPr>
            <a:spLocks noGrp="1"/>
          </p:cNvSpPr>
          <p:nvPr>
            <p:ph type="body" sz="quarter" idx="11"/>
          </p:nvPr>
        </p:nvSpPr>
        <p:spPr/>
        <p:txBody>
          <a:bodyPr>
            <a:normAutofit/>
          </a:bodyPr>
          <a:lstStyle/>
          <a:p>
            <a:r>
              <a:rPr lang="fr-FR" sz="1200" b="1" dirty="0"/>
              <a:t>Usage numérique : Appel descriptif </a:t>
            </a:r>
          </a:p>
          <a:p>
            <a:r>
              <a:rPr lang="fr-FR" sz="1200" dirty="0"/>
              <a:t>Sortez de la salle et appelez vos co-équipiers (restés dans la salle) en leur décrivant ce que vous voyez autour de vous. Ils doivent tenter de reproduire en dessin (sur leur téléphone) ce que vous leur décrivez. Décrivez leur 3 gestes de secours à faire (ils le testent sur un objet).</a:t>
            </a:r>
          </a:p>
        </p:txBody>
      </p:sp>
      <p:sp>
        <p:nvSpPr>
          <p:cNvPr id="4" name="Espace réservé du texte 3">
            <a:extLst>
              <a:ext uri="{FF2B5EF4-FFF2-40B4-BE49-F238E27FC236}">
                <a16:creationId xmlns:a16="http://schemas.microsoft.com/office/drawing/2014/main" id="{A5DF4695-27BE-BAAD-F32C-877B12A6D5DD}"/>
              </a:ext>
            </a:extLst>
          </p:cNvPr>
          <p:cNvSpPr>
            <a:spLocks noGrp="1"/>
          </p:cNvSpPr>
          <p:nvPr>
            <p:ph type="body" sz="quarter" idx="12"/>
          </p:nvPr>
        </p:nvSpPr>
        <p:spPr/>
        <p:txBody>
          <a:bodyPr>
            <a:normAutofit/>
          </a:bodyPr>
          <a:lstStyle/>
          <a:p>
            <a:r>
              <a:rPr lang="fr-FR" sz="1200" b="1" dirty="0"/>
              <a:t>Usage numérique : Jouer aux échecs à 2</a:t>
            </a:r>
          </a:p>
          <a:p>
            <a:r>
              <a:rPr lang="fr-FR" sz="1200" dirty="0"/>
              <a:t>Rendez-vous à 2 sous-groupes sur lichess.org pour démarrer une partie d’échecs en ligne. Séparez les 2 sous-groupes à chaque extrémité de la salle. Tentez de gagner le plus vite possible</a:t>
            </a:r>
          </a:p>
        </p:txBody>
      </p:sp>
      <p:sp>
        <p:nvSpPr>
          <p:cNvPr id="5" name="Espace réservé du texte 4">
            <a:extLst>
              <a:ext uri="{FF2B5EF4-FFF2-40B4-BE49-F238E27FC236}">
                <a16:creationId xmlns:a16="http://schemas.microsoft.com/office/drawing/2014/main" id="{C7386CB0-66CA-1F43-C9A3-F6F3885DCFE8}"/>
              </a:ext>
            </a:extLst>
          </p:cNvPr>
          <p:cNvSpPr>
            <a:spLocks noGrp="1"/>
          </p:cNvSpPr>
          <p:nvPr>
            <p:ph type="body" sz="quarter" idx="13"/>
          </p:nvPr>
        </p:nvSpPr>
        <p:spPr/>
        <p:txBody>
          <a:bodyPr>
            <a:normAutofit lnSpcReduction="10000"/>
          </a:bodyPr>
          <a:lstStyle/>
          <a:p>
            <a:r>
              <a:rPr lang="fr-FR" sz="1200" b="1" dirty="0"/>
              <a:t>Usage numérique : Ouvrir 5 sites pour personnes âgées </a:t>
            </a:r>
          </a:p>
          <a:p>
            <a:r>
              <a:rPr lang="fr-FR" sz="1200" dirty="0"/>
              <a:t>En parallèle et dos à dos, chaque membre du groupe ouvre un site web pour personnes âgée (sur un ordinateur, smartphone, etc.) de son choix. Vous devez faire deviner le site et la page aux autres sans vous regarder ni décrire le nom du site.</a:t>
            </a:r>
          </a:p>
        </p:txBody>
      </p:sp>
      <p:sp>
        <p:nvSpPr>
          <p:cNvPr id="6" name="Espace réservé du texte 5">
            <a:extLst>
              <a:ext uri="{FF2B5EF4-FFF2-40B4-BE49-F238E27FC236}">
                <a16:creationId xmlns:a16="http://schemas.microsoft.com/office/drawing/2014/main" id="{4EF03EB8-ADBF-76F4-A7BD-5A1FB02A2A42}"/>
              </a:ext>
            </a:extLst>
          </p:cNvPr>
          <p:cNvSpPr>
            <a:spLocks noGrp="1"/>
          </p:cNvSpPr>
          <p:nvPr>
            <p:ph type="body" sz="quarter" idx="14"/>
          </p:nvPr>
        </p:nvSpPr>
        <p:spPr/>
        <p:txBody>
          <a:bodyPr/>
          <a:lstStyle/>
          <a:p>
            <a:endParaRPr lang="fr-FR"/>
          </a:p>
        </p:txBody>
      </p:sp>
      <p:sp>
        <p:nvSpPr>
          <p:cNvPr id="7" name="Espace réservé du texte 6">
            <a:extLst>
              <a:ext uri="{FF2B5EF4-FFF2-40B4-BE49-F238E27FC236}">
                <a16:creationId xmlns:a16="http://schemas.microsoft.com/office/drawing/2014/main" id="{B4EE59EE-90CF-875D-7EB8-AA9FDA1061A4}"/>
              </a:ext>
            </a:extLst>
          </p:cNvPr>
          <p:cNvSpPr>
            <a:spLocks noGrp="1"/>
          </p:cNvSpPr>
          <p:nvPr>
            <p:ph type="body" sz="quarter" idx="15"/>
          </p:nvPr>
        </p:nvSpPr>
        <p:spPr/>
        <p:txBody>
          <a:bodyPr/>
          <a:lstStyle/>
          <a:p>
            <a:endParaRPr lang="fr-FR"/>
          </a:p>
        </p:txBody>
      </p:sp>
      <p:sp>
        <p:nvSpPr>
          <p:cNvPr id="8" name="Espace réservé du texte 7">
            <a:extLst>
              <a:ext uri="{FF2B5EF4-FFF2-40B4-BE49-F238E27FC236}">
                <a16:creationId xmlns:a16="http://schemas.microsoft.com/office/drawing/2014/main" id="{29FBB0DB-C05C-B397-A611-A49173715F22}"/>
              </a:ext>
            </a:extLst>
          </p:cNvPr>
          <p:cNvSpPr>
            <a:spLocks noGrp="1"/>
          </p:cNvSpPr>
          <p:nvPr>
            <p:ph type="body" sz="quarter" idx="16"/>
          </p:nvPr>
        </p:nvSpPr>
        <p:spPr/>
        <p:txBody>
          <a:bodyPr/>
          <a:lstStyle/>
          <a:p>
            <a:endParaRPr lang="fr-FR"/>
          </a:p>
        </p:txBody>
      </p:sp>
      <p:sp>
        <p:nvSpPr>
          <p:cNvPr id="9" name="Espace réservé du texte 8">
            <a:extLst>
              <a:ext uri="{FF2B5EF4-FFF2-40B4-BE49-F238E27FC236}">
                <a16:creationId xmlns:a16="http://schemas.microsoft.com/office/drawing/2014/main" id="{DD3F8B1A-0AF3-6DBF-D5D8-5B56DB887FA8}"/>
              </a:ext>
            </a:extLst>
          </p:cNvPr>
          <p:cNvSpPr>
            <a:spLocks noGrp="1"/>
          </p:cNvSpPr>
          <p:nvPr>
            <p:ph type="body" sz="quarter" idx="17"/>
          </p:nvPr>
        </p:nvSpPr>
        <p:spPr/>
        <p:txBody>
          <a:bodyPr/>
          <a:lstStyle/>
          <a:p>
            <a:endParaRPr lang="fr-FR"/>
          </a:p>
        </p:txBody>
      </p:sp>
      <p:sp>
        <p:nvSpPr>
          <p:cNvPr id="14" name="Espace réservé de l'image en ligne 13">
            <a:extLst>
              <a:ext uri="{FF2B5EF4-FFF2-40B4-BE49-F238E27FC236}">
                <a16:creationId xmlns:a16="http://schemas.microsoft.com/office/drawing/2014/main" id="{5776E695-BADF-5B9D-08A7-EEA2B51EE7C1}"/>
              </a:ext>
            </a:extLst>
          </p:cNvPr>
          <p:cNvSpPr>
            <a:spLocks noGrp="1"/>
          </p:cNvSpPr>
          <p:nvPr>
            <p:ph type="clipArt" sz="quarter" idx="30"/>
          </p:nvPr>
        </p:nvSpPr>
        <p:spPr/>
        <p:txBody>
          <a:bodyPr/>
          <a:lstStyle/>
          <a:p>
            <a:endParaRPr lang="en-US"/>
          </a:p>
        </p:txBody>
      </p:sp>
      <p:sp>
        <p:nvSpPr>
          <p:cNvPr id="15" name="Espace réservé de l'image en ligne 14">
            <a:extLst>
              <a:ext uri="{FF2B5EF4-FFF2-40B4-BE49-F238E27FC236}">
                <a16:creationId xmlns:a16="http://schemas.microsoft.com/office/drawing/2014/main" id="{DD8C6775-0070-E0F6-2A07-715F92C5D03A}"/>
              </a:ext>
            </a:extLst>
          </p:cNvPr>
          <p:cNvSpPr>
            <a:spLocks noGrp="1"/>
          </p:cNvSpPr>
          <p:nvPr>
            <p:ph type="clipArt" sz="quarter" idx="31"/>
          </p:nvPr>
        </p:nvSpPr>
        <p:spPr/>
        <p:txBody>
          <a:bodyPr/>
          <a:lstStyle/>
          <a:p>
            <a:endParaRPr lang="en-US"/>
          </a:p>
        </p:txBody>
      </p:sp>
      <p:sp>
        <p:nvSpPr>
          <p:cNvPr id="16" name="Espace réservé de l'image en ligne 15">
            <a:extLst>
              <a:ext uri="{FF2B5EF4-FFF2-40B4-BE49-F238E27FC236}">
                <a16:creationId xmlns:a16="http://schemas.microsoft.com/office/drawing/2014/main" id="{F18C924A-5CBD-5B4E-FF89-E36750E17085}"/>
              </a:ext>
            </a:extLst>
          </p:cNvPr>
          <p:cNvSpPr>
            <a:spLocks noGrp="1"/>
          </p:cNvSpPr>
          <p:nvPr>
            <p:ph type="clipArt" sz="quarter" idx="32"/>
          </p:nvPr>
        </p:nvSpPr>
        <p:spPr/>
        <p:txBody>
          <a:bodyPr/>
          <a:lstStyle/>
          <a:p>
            <a:endParaRPr lang="en-US"/>
          </a:p>
        </p:txBody>
      </p:sp>
      <p:sp>
        <p:nvSpPr>
          <p:cNvPr id="17" name="Espace réservé de l'image en ligne 16">
            <a:extLst>
              <a:ext uri="{FF2B5EF4-FFF2-40B4-BE49-F238E27FC236}">
                <a16:creationId xmlns:a16="http://schemas.microsoft.com/office/drawing/2014/main" id="{E8811B77-0362-FABD-2CBD-0A36F1A77E7F}"/>
              </a:ext>
            </a:extLst>
          </p:cNvPr>
          <p:cNvSpPr>
            <a:spLocks noGrp="1"/>
          </p:cNvSpPr>
          <p:nvPr>
            <p:ph type="clipArt" sz="quarter" idx="33"/>
          </p:nvPr>
        </p:nvSpPr>
        <p:spPr/>
        <p:txBody>
          <a:bodyPr/>
          <a:lstStyle/>
          <a:p>
            <a:endParaRPr lang="en-US"/>
          </a:p>
        </p:txBody>
      </p:sp>
      <p:pic>
        <p:nvPicPr>
          <p:cNvPr id="27" name="Segnaposto immagine online 26" descr="Immagine che contiene persona, interno, Cellulare, gadget&#10;&#10;Descrizione generata automaticamente">
            <a:extLst>
              <a:ext uri="{FF2B5EF4-FFF2-40B4-BE49-F238E27FC236}">
                <a16:creationId xmlns:a16="http://schemas.microsoft.com/office/drawing/2014/main" id="{BBF14DAC-2D77-23B9-08B2-A68952AB91B1}"/>
              </a:ext>
            </a:extLst>
          </p:cNvPr>
          <p:cNvPicPr>
            <a:picLocks noGrp="1" noChangeAspect="1"/>
          </p:cNvPicPr>
          <p:nvPr>
            <p:ph type="clipArt" sz="quarter" idx="26"/>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38989" y="595313"/>
            <a:ext cx="1573198" cy="1047750"/>
          </a:xfrm>
        </p:spPr>
      </p:pic>
      <p:pic>
        <p:nvPicPr>
          <p:cNvPr id="29" name="Segnaposto immagine online 28" descr="Immagine che contiene persona, vestiti, aria aperta, erba&#10;&#10;Descrizione generata automaticamente">
            <a:extLst>
              <a:ext uri="{FF2B5EF4-FFF2-40B4-BE49-F238E27FC236}">
                <a16:creationId xmlns:a16="http://schemas.microsoft.com/office/drawing/2014/main" id="{D7AE6E5A-57C7-57A6-9966-6468793B2482}"/>
              </a:ext>
            </a:extLst>
          </p:cNvPr>
          <p:cNvPicPr>
            <a:picLocks noGrp="1" noChangeAspect="1"/>
          </p:cNvPicPr>
          <p:nvPr>
            <p:ph type="clipArt" sz="quarter" idx="27"/>
          </p:nvPr>
        </p:nvPicPr>
        <p:blipFill>
          <a:blip r:embed="rId4" cstate="print">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758114" y="595313"/>
            <a:ext cx="1586498" cy="1047750"/>
          </a:xfrm>
        </p:spPr>
      </p:pic>
      <p:pic>
        <p:nvPicPr>
          <p:cNvPr id="31" name="Segnaposto immagine online 30" descr="Immagine che contiene schermata, testo, scacchi, pezzo degli scacchi&#10;&#10;Descrizione generata automaticamente">
            <a:extLst>
              <a:ext uri="{FF2B5EF4-FFF2-40B4-BE49-F238E27FC236}">
                <a16:creationId xmlns:a16="http://schemas.microsoft.com/office/drawing/2014/main" id="{E3ADF079-19C9-3A57-E3A4-EE533B1A4F9D}"/>
              </a:ext>
            </a:extLst>
          </p:cNvPr>
          <p:cNvPicPr>
            <a:picLocks noGrp="1" noChangeAspect="1"/>
          </p:cNvPicPr>
          <p:nvPr>
            <p:ph type="clipArt" sz="quarter" idx="28"/>
          </p:nvPr>
        </p:nvPicPr>
        <p:blipFill>
          <a:blip r:embed="rId6" cstate="print">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7345512" y="585788"/>
            <a:ext cx="590252" cy="1049337"/>
          </a:xfrm>
        </p:spPr>
      </p:pic>
      <p:pic>
        <p:nvPicPr>
          <p:cNvPr id="34" name="Segnaposto immagine online 33" descr="Immagine che contiene persona, vestiti, uomo, Viso umano&#10;&#10;Descrizione generata automaticamente">
            <a:extLst>
              <a:ext uri="{FF2B5EF4-FFF2-40B4-BE49-F238E27FC236}">
                <a16:creationId xmlns:a16="http://schemas.microsoft.com/office/drawing/2014/main" id="{6F61811D-2E74-F329-E94A-E11E2B3901A3}"/>
              </a:ext>
            </a:extLst>
          </p:cNvPr>
          <p:cNvPicPr>
            <a:picLocks noGrp="1" noChangeAspect="1"/>
          </p:cNvPicPr>
          <p:nvPr>
            <p:ph type="clipArt" sz="quarter" idx="29"/>
          </p:nvPr>
        </p:nvPicPr>
        <p:blipFill>
          <a:blip r:embed="rId8" cstate="print">
            <a:extLst>
              <a:ext uri="{28A0092B-C50C-407E-A947-70E740481C1C}">
                <a14:useLocalDpi xmlns:a14="http://schemas.microsoft.com/office/drawing/2010/main"/>
              </a:ext>
              <a:ext uri="{837473B0-CC2E-450A-ABE3-18F120FF3D39}">
                <a1611:picAttrSrcUrl xmlns:a1611="http://schemas.microsoft.com/office/drawing/2016/11/main" r:id="rId9"/>
              </a:ext>
            </a:extLst>
          </a:blip>
          <a:stretch>
            <a:fillRect/>
          </a:stretch>
        </p:blipFill>
        <p:spPr>
          <a:xfrm>
            <a:off x="9879410" y="576263"/>
            <a:ext cx="1574005" cy="1049337"/>
          </a:xfrm>
        </p:spPr>
      </p:pic>
    </p:spTree>
    <p:extLst>
      <p:ext uri="{BB962C8B-B14F-4D97-AF65-F5344CB8AC3E}">
        <p14:creationId xmlns:p14="http://schemas.microsoft.com/office/powerpoint/2010/main" val="20913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A32D9F-A910-4E61-57F2-23CE1DEDE349}"/>
              </a:ext>
            </a:extLst>
          </p:cNvPr>
          <p:cNvSpPr>
            <a:spLocks noGrp="1"/>
          </p:cNvSpPr>
          <p:nvPr>
            <p:ph type="title"/>
          </p:nvPr>
        </p:nvSpPr>
        <p:spPr/>
        <p:txBody>
          <a:bodyPr/>
          <a:lstStyle/>
          <a:p>
            <a:r>
              <a:rPr lang="fr-FR" dirty="0"/>
              <a:t>Cartes Handicap</a:t>
            </a:r>
          </a:p>
        </p:txBody>
      </p:sp>
      <p:sp>
        <p:nvSpPr>
          <p:cNvPr id="3" name="Espace réservé du contenu 2">
            <a:extLst>
              <a:ext uri="{FF2B5EF4-FFF2-40B4-BE49-F238E27FC236}">
                <a16:creationId xmlns:a16="http://schemas.microsoft.com/office/drawing/2014/main" id="{7E79113C-35DF-37AD-F0F5-3D39874E6140}"/>
              </a:ext>
            </a:extLst>
          </p:cNvPr>
          <p:cNvSpPr>
            <a:spLocks noGrp="1"/>
          </p:cNvSpPr>
          <p:nvPr>
            <p:ph idx="1"/>
          </p:nvPr>
        </p:nvSpPr>
        <p:spPr>
          <a:xfrm>
            <a:off x="5921406" y="1825625"/>
            <a:ext cx="5432394" cy="4351338"/>
          </a:xfrm>
        </p:spPr>
        <p:txBody>
          <a:bodyPr>
            <a:normAutofit fontScale="85000" lnSpcReduction="20000"/>
          </a:bodyPr>
          <a:lstStyle/>
          <a:p>
            <a:pPr marL="0" indent="0">
              <a:buNone/>
            </a:pPr>
            <a:r>
              <a:rPr lang="fr-FR" sz="1600" dirty="0"/>
              <a:t>Découpez et faites une pioche des cartes de situation de handicap. </a:t>
            </a:r>
          </a:p>
          <a:p>
            <a:pPr marL="0" indent="0">
              <a:buNone/>
            </a:pPr>
            <a:endParaRPr lang="fr-FR" sz="1600" dirty="0"/>
          </a:p>
          <a:p>
            <a:pPr marL="0" indent="0">
              <a:buNone/>
            </a:pPr>
            <a:r>
              <a:rPr lang="fr-FR" sz="1600" dirty="0"/>
              <a:t>Vous pouvez avoir plusieurs fois la même carte dans un même jeu, même dans une même équipe, mais ce n’est pas idéal.</a:t>
            </a:r>
          </a:p>
          <a:p>
            <a:pPr marL="0" indent="0">
              <a:buNone/>
            </a:pPr>
            <a:endParaRPr lang="fr-FR" sz="1600" dirty="0"/>
          </a:p>
          <a:p>
            <a:pPr marL="0" indent="0">
              <a:buNone/>
            </a:pPr>
            <a:endParaRPr lang="fr-FR" sz="1600" dirty="0"/>
          </a:p>
          <a:p>
            <a:pPr marL="0" indent="0">
              <a:buNone/>
            </a:pPr>
            <a:r>
              <a:rPr lang="fr-FR" sz="1600" dirty="0"/>
              <a:t>Conseils pour créer une carte situation de handicap</a:t>
            </a:r>
          </a:p>
          <a:p>
            <a:r>
              <a:rPr lang="fr-FR" sz="1600" dirty="0"/>
              <a:t>Trouver une simulation plutôt réaliste qui peut correspondre à des situations de handicap courants sans avoir à être exactement être conforme.</a:t>
            </a:r>
          </a:p>
          <a:p>
            <a:r>
              <a:rPr lang="fr-FR" sz="1600" dirty="0"/>
              <a:t>Trouver une simulation qui n’est ni dangereuse à effectuer (exemple : sauter les yeux fermés), ni physiquement douloureuse (exemple: marcher sur ses genoux) ou salissante (exemple: ramper par terre)</a:t>
            </a:r>
          </a:p>
          <a:p>
            <a:r>
              <a:rPr lang="fr-FR" sz="1600" dirty="0"/>
              <a:t>Certaines personnes sont plus facilement inspirées par créer le narratif avant la simulation, d’autres imaginent plus facilement la simulation avant le narratif. Ne vous forcez pas à inventer l’un avant l’autre, faites ce qui vous inspire le plus facilement.</a:t>
            </a:r>
          </a:p>
          <a:p>
            <a:r>
              <a:rPr lang="fr-FR" sz="1600" dirty="0"/>
              <a:t>Pour créer de nouvelles cartes, ajoutez une slide et choisissez la bonne disposition </a:t>
            </a:r>
          </a:p>
        </p:txBody>
      </p:sp>
      <p:pic>
        <p:nvPicPr>
          <p:cNvPr id="5" name="Image 4" descr="Une image contenant texte&#10;&#10;Description générée automatiquement">
            <a:extLst>
              <a:ext uri="{FF2B5EF4-FFF2-40B4-BE49-F238E27FC236}">
                <a16:creationId xmlns:a16="http://schemas.microsoft.com/office/drawing/2014/main" id="{6492E34C-93C1-0AA0-3792-B8B72517CA3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452207" y="1690688"/>
            <a:ext cx="4081589" cy="4344828"/>
          </a:xfrm>
          <a:prstGeom prst="rect">
            <a:avLst/>
          </a:prstGeom>
        </p:spPr>
      </p:pic>
    </p:spTree>
    <p:extLst>
      <p:ext uri="{BB962C8B-B14F-4D97-AF65-F5344CB8AC3E}">
        <p14:creationId xmlns:p14="http://schemas.microsoft.com/office/powerpoint/2010/main" val="2215155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67996E8-0121-225F-044D-44E36155173E}"/>
              </a:ext>
            </a:extLst>
          </p:cNvPr>
          <p:cNvSpPr>
            <a:spLocks noGrp="1"/>
          </p:cNvSpPr>
          <p:nvPr>
            <p:ph type="body" sz="quarter" idx="10"/>
          </p:nvPr>
        </p:nvSpPr>
        <p:spPr/>
        <p:txBody>
          <a:bodyPr>
            <a:normAutofit fontScale="92500"/>
          </a:bodyPr>
          <a:lstStyle/>
          <a:p>
            <a:r>
              <a:rPr lang="fr-FR" dirty="0"/>
              <a:t>Double otite aigue : Vous venez de souffrir récemment d’une double otite. Vous n’avez plus aucune douleur, mais vos capacités auditives ont beaucoup été affectées (elles reviendront dans quelques semaine)</a:t>
            </a:r>
          </a:p>
        </p:txBody>
      </p:sp>
      <p:sp>
        <p:nvSpPr>
          <p:cNvPr id="3" name="Espace réservé du texte 2">
            <a:extLst>
              <a:ext uri="{FF2B5EF4-FFF2-40B4-BE49-F238E27FC236}">
                <a16:creationId xmlns:a16="http://schemas.microsoft.com/office/drawing/2014/main" id="{85975661-580E-D3AA-6CCF-3A8114A53B27}"/>
              </a:ext>
            </a:extLst>
          </p:cNvPr>
          <p:cNvSpPr>
            <a:spLocks noGrp="1"/>
          </p:cNvSpPr>
          <p:nvPr>
            <p:ph type="body" sz="quarter" idx="11"/>
          </p:nvPr>
        </p:nvSpPr>
        <p:spPr/>
        <p:txBody>
          <a:bodyPr>
            <a:normAutofit fontScale="92500"/>
          </a:bodyPr>
          <a:lstStyle/>
          <a:p>
            <a:r>
              <a:rPr lang="fr-FR" dirty="0"/>
              <a:t>Votre exposition récente aux écrans, à la lumière très forte, aux flashs, vous a beaucoup asséché les yeux dernièrement et les a beaucoup fatigués. Vous êtes intolérant à la luminosité forte pendant quelques semaines.</a:t>
            </a:r>
          </a:p>
        </p:txBody>
      </p:sp>
      <p:sp>
        <p:nvSpPr>
          <p:cNvPr id="4" name="Espace réservé du texte 3">
            <a:extLst>
              <a:ext uri="{FF2B5EF4-FFF2-40B4-BE49-F238E27FC236}">
                <a16:creationId xmlns:a16="http://schemas.microsoft.com/office/drawing/2014/main" id="{540A49CA-C71A-A3D8-7613-F3F54A497EA3}"/>
              </a:ext>
            </a:extLst>
          </p:cNvPr>
          <p:cNvSpPr>
            <a:spLocks noGrp="1"/>
          </p:cNvSpPr>
          <p:nvPr>
            <p:ph type="body" sz="quarter" idx="12"/>
          </p:nvPr>
        </p:nvSpPr>
        <p:spPr/>
        <p:txBody>
          <a:bodyPr/>
          <a:lstStyle/>
          <a:p>
            <a:r>
              <a:rPr lang="fr-FR" dirty="0"/>
              <a:t>Vous avez fait une mauvaise chute dans votre séance sportive du dimanche. Votre avant bras est immobilisé jusqu’aux doigts</a:t>
            </a:r>
          </a:p>
        </p:txBody>
      </p:sp>
      <p:sp>
        <p:nvSpPr>
          <p:cNvPr id="5" name="Espace réservé du texte 4">
            <a:extLst>
              <a:ext uri="{FF2B5EF4-FFF2-40B4-BE49-F238E27FC236}">
                <a16:creationId xmlns:a16="http://schemas.microsoft.com/office/drawing/2014/main" id="{1D04A9CA-29EF-3104-AA8E-8A1F91401200}"/>
              </a:ext>
            </a:extLst>
          </p:cNvPr>
          <p:cNvSpPr>
            <a:spLocks noGrp="1"/>
          </p:cNvSpPr>
          <p:nvPr>
            <p:ph type="body" sz="quarter" idx="13"/>
          </p:nvPr>
        </p:nvSpPr>
        <p:spPr/>
        <p:txBody>
          <a:bodyPr>
            <a:normAutofit lnSpcReduction="10000"/>
          </a:bodyPr>
          <a:lstStyle/>
          <a:p>
            <a:r>
              <a:rPr lang="fr-FR" dirty="0"/>
              <a:t>Vous vous êtes blessé aux jambes suite à un accident avec un cycliste en bas de chez vous. Cela vous a beaucoup affaibli et vous ne pouvez pas tenir debout longtemps ou marcher longtemps.</a:t>
            </a:r>
          </a:p>
        </p:txBody>
      </p:sp>
      <p:sp>
        <p:nvSpPr>
          <p:cNvPr id="6" name="Espace réservé du texte 5">
            <a:extLst>
              <a:ext uri="{FF2B5EF4-FFF2-40B4-BE49-F238E27FC236}">
                <a16:creationId xmlns:a16="http://schemas.microsoft.com/office/drawing/2014/main" id="{D9B681AB-E3F5-2868-BAEB-3B8F1313D017}"/>
              </a:ext>
            </a:extLst>
          </p:cNvPr>
          <p:cNvSpPr>
            <a:spLocks noGrp="1"/>
          </p:cNvSpPr>
          <p:nvPr>
            <p:ph type="body" sz="quarter" idx="18"/>
          </p:nvPr>
        </p:nvSpPr>
        <p:spPr/>
        <p:txBody>
          <a:bodyPr>
            <a:normAutofit fontScale="85000" lnSpcReduction="10000"/>
          </a:bodyPr>
          <a:lstStyle/>
          <a:p>
            <a:r>
              <a:rPr lang="fr-FR" dirty="0"/>
              <a:t>Faites comme si vous n’entendiez absolument rien. Si c’est trop difficile, bouchez vous les oreilles avec les mains. Vos co-équipiers ne peuvent pas vous parler avec leurs voix ou des sons. Si vous avez de quoi boucher vos oreilles, utilisez le.</a:t>
            </a:r>
          </a:p>
        </p:txBody>
      </p:sp>
      <p:sp>
        <p:nvSpPr>
          <p:cNvPr id="7" name="Espace réservé du texte 6">
            <a:extLst>
              <a:ext uri="{FF2B5EF4-FFF2-40B4-BE49-F238E27FC236}">
                <a16:creationId xmlns:a16="http://schemas.microsoft.com/office/drawing/2014/main" id="{90A4FA48-7034-621C-2846-83097669812E}"/>
              </a:ext>
            </a:extLst>
          </p:cNvPr>
          <p:cNvSpPr>
            <a:spLocks noGrp="1"/>
          </p:cNvSpPr>
          <p:nvPr>
            <p:ph type="body" sz="quarter" idx="19"/>
          </p:nvPr>
        </p:nvSpPr>
        <p:spPr/>
        <p:txBody>
          <a:bodyPr>
            <a:normAutofit fontScale="92500" lnSpcReduction="20000"/>
          </a:bodyPr>
          <a:lstStyle/>
          <a:p>
            <a:r>
              <a:rPr lang="fr-FR" dirty="0"/>
              <a:t>Fermez presque les yeux (relâchez vos paupières), de manière à les garder « semi-ouverts », avec la plus petite visibilité possible sans avoir les yeux totalement fermés non plus.</a:t>
            </a:r>
          </a:p>
        </p:txBody>
      </p:sp>
      <p:sp>
        <p:nvSpPr>
          <p:cNvPr id="8" name="Espace réservé du texte 7">
            <a:extLst>
              <a:ext uri="{FF2B5EF4-FFF2-40B4-BE49-F238E27FC236}">
                <a16:creationId xmlns:a16="http://schemas.microsoft.com/office/drawing/2014/main" id="{A621AE55-56EC-02DC-D4D7-3DF9A9307EDF}"/>
              </a:ext>
            </a:extLst>
          </p:cNvPr>
          <p:cNvSpPr>
            <a:spLocks noGrp="1"/>
          </p:cNvSpPr>
          <p:nvPr>
            <p:ph type="body" sz="quarter" idx="20"/>
          </p:nvPr>
        </p:nvSpPr>
        <p:spPr>
          <a:xfrm>
            <a:off x="6222828" y="2494625"/>
            <a:ext cx="2835275" cy="797131"/>
          </a:xfrm>
        </p:spPr>
        <p:txBody>
          <a:bodyPr>
            <a:normAutofit fontScale="85000" lnSpcReduction="20000"/>
          </a:bodyPr>
          <a:lstStyle/>
          <a:p>
            <a:r>
              <a:rPr lang="fr-FR" dirty="0"/>
              <a:t>Vous n’avez pas le droit d’utiliser un de vos avant-bras (du coude à la main) au choix, que vous pouvez garder simplement relâché. Vous pouvez bouger le coude mais l’avant bras doit rester relâché (pas le droit de le plier par une contraction).</a:t>
            </a:r>
          </a:p>
        </p:txBody>
      </p:sp>
      <p:sp>
        <p:nvSpPr>
          <p:cNvPr id="9" name="Espace réservé du texte 8">
            <a:extLst>
              <a:ext uri="{FF2B5EF4-FFF2-40B4-BE49-F238E27FC236}">
                <a16:creationId xmlns:a16="http://schemas.microsoft.com/office/drawing/2014/main" id="{E79FC049-D428-0B52-1C80-BC103EDA5C5A}"/>
              </a:ext>
            </a:extLst>
          </p:cNvPr>
          <p:cNvSpPr>
            <a:spLocks noGrp="1"/>
          </p:cNvSpPr>
          <p:nvPr>
            <p:ph type="body" sz="quarter" idx="21"/>
          </p:nvPr>
        </p:nvSpPr>
        <p:spPr/>
        <p:txBody>
          <a:bodyPr>
            <a:normAutofit fontScale="92500" lnSpcReduction="20000"/>
          </a:bodyPr>
          <a:lstStyle/>
          <a:p>
            <a:r>
              <a:rPr lang="fr-FR" dirty="0"/>
              <a:t>Vous devez vous asseoir toutes les 30 secondes pour au moins 20 secondes (ou faire 30 pas maximum si vous marchez). Si vous ne pouvez pas vous asseoir, vous devez vous appuyer contre un mur ou sur quelqu’un</a:t>
            </a:r>
          </a:p>
        </p:txBody>
      </p:sp>
      <p:sp>
        <p:nvSpPr>
          <p:cNvPr id="26" name="Espace réservé du texte 25">
            <a:extLst>
              <a:ext uri="{FF2B5EF4-FFF2-40B4-BE49-F238E27FC236}">
                <a16:creationId xmlns:a16="http://schemas.microsoft.com/office/drawing/2014/main" id="{E44443E1-8988-05D7-BD87-160BB1455BAC}"/>
              </a:ext>
            </a:extLst>
          </p:cNvPr>
          <p:cNvSpPr>
            <a:spLocks noGrp="1"/>
          </p:cNvSpPr>
          <p:nvPr>
            <p:ph type="body" sz="quarter" idx="22"/>
          </p:nvPr>
        </p:nvSpPr>
        <p:spPr/>
        <p:txBody>
          <a:bodyPr>
            <a:normAutofit fontScale="92500"/>
          </a:bodyPr>
          <a:lstStyle/>
          <a:p>
            <a:r>
              <a:rPr lang="fr-FR" dirty="0"/>
              <a:t>Dans votre communication, vous n’avez pas le droit d’utiliser des mots/termes abstraits (ni de les comprendre), vous ne pouvez que décrire les gestes et les sensations physiques</a:t>
            </a:r>
          </a:p>
        </p:txBody>
      </p:sp>
      <p:sp>
        <p:nvSpPr>
          <p:cNvPr id="27" name="Espace réservé du texte 26">
            <a:extLst>
              <a:ext uri="{FF2B5EF4-FFF2-40B4-BE49-F238E27FC236}">
                <a16:creationId xmlns:a16="http://schemas.microsoft.com/office/drawing/2014/main" id="{3101CCBD-E51A-079A-5D26-4B0C4DCDA0C0}"/>
              </a:ext>
            </a:extLst>
          </p:cNvPr>
          <p:cNvSpPr>
            <a:spLocks noGrp="1"/>
          </p:cNvSpPr>
          <p:nvPr>
            <p:ph type="body" sz="quarter" idx="23"/>
          </p:nvPr>
        </p:nvSpPr>
        <p:spPr/>
        <p:txBody>
          <a:bodyPr>
            <a:normAutofit lnSpcReduction="10000"/>
          </a:bodyPr>
          <a:lstStyle/>
          <a:p>
            <a:r>
              <a:rPr lang="fr-FR" dirty="0"/>
              <a:t>Interdiction de contracter la langue pour parler. Vous devez la maintenir au maximum relâchée si vous essayez des parler</a:t>
            </a:r>
          </a:p>
        </p:txBody>
      </p:sp>
      <p:sp>
        <p:nvSpPr>
          <p:cNvPr id="28" name="Espace réservé du texte 27">
            <a:extLst>
              <a:ext uri="{FF2B5EF4-FFF2-40B4-BE49-F238E27FC236}">
                <a16:creationId xmlns:a16="http://schemas.microsoft.com/office/drawing/2014/main" id="{64858360-E935-F517-F478-13C8CBFCF7AE}"/>
              </a:ext>
            </a:extLst>
          </p:cNvPr>
          <p:cNvSpPr>
            <a:spLocks noGrp="1"/>
          </p:cNvSpPr>
          <p:nvPr>
            <p:ph type="body" sz="quarter" idx="24"/>
          </p:nvPr>
        </p:nvSpPr>
        <p:spPr/>
        <p:txBody>
          <a:bodyPr>
            <a:normAutofit fontScale="85000" lnSpcReduction="10000"/>
          </a:bodyPr>
          <a:lstStyle/>
          <a:p>
            <a:r>
              <a:rPr lang="fr-FR" dirty="0"/>
              <a:t>Arrêtez toutes vos phrases à la moitié (passez à la phrase suivante), ou n’utilisez que des phrases très courtes (4 mots max). Demandez à ce que les autres ne vous parlent qu’avec des premières moitiés de phrase ou des phrases très courtes.</a:t>
            </a:r>
          </a:p>
        </p:txBody>
      </p:sp>
      <p:sp>
        <p:nvSpPr>
          <p:cNvPr id="29" name="Espace réservé du texte 28">
            <a:extLst>
              <a:ext uri="{FF2B5EF4-FFF2-40B4-BE49-F238E27FC236}">
                <a16:creationId xmlns:a16="http://schemas.microsoft.com/office/drawing/2014/main" id="{B4136FC8-C824-D682-12D3-342961FCE897}"/>
              </a:ext>
            </a:extLst>
          </p:cNvPr>
          <p:cNvSpPr>
            <a:spLocks noGrp="1"/>
          </p:cNvSpPr>
          <p:nvPr>
            <p:ph type="body" sz="quarter" idx="25"/>
          </p:nvPr>
        </p:nvSpPr>
        <p:spPr/>
        <p:txBody>
          <a:bodyPr/>
          <a:lstStyle/>
          <a:p>
            <a:r>
              <a:rPr lang="fr-FR" dirty="0"/>
              <a:t>Enlevez vos lunettes, pas le droit de les utiliser pendant ce tour.</a:t>
            </a:r>
          </a:p>
        </p:txBody>
      </p:sp>
      <p:sp>
        <p:nvSpPr>
          <p:cNvPr id="30" name="Espace réservé du texte 29">
            <a:extLst>
              <a:ext uri="{FF2B5EF4-FFF2-40B4-BE49-F238E27FC236}">
                <a16:creationId xmlns:a16="http://schemas.microsoft.com/office/drawing/2014/main" id="{5D8DFB0A-E1AC-6DEE-E47C-64ED7D0F44DE}"/>
              </a:ext>
            </a:extLst>
          </p:cNvPr>
          <p:cNvSpPr>
            <a:spLocks noGrp="1"/>
          </p:cNvSpPr>
          <p:nvPr>
            <p:ph type="body" sz="quarter" idx="26"/>
          </p:nvPr>
        </p:nvSpPr>
        <p:spPr/>
        <p:txBody>
          <a:bodyPr>
            <a:normAutofit fontScale="92500" lnSpcReduction="20000"/>
          </a:bodyPr>
          <a:lstStyle/>
          <a:p>
            <a:r>
              <a:rPr lang="fr-FR" i="1" dirty="0"/>
              <a:t>(Ne peut se jouer qu’avec des joueurs ayant des lunettes, échangez votre carte si ce n’est pas le cas) </a:t>
            </a:r>
            <a:r>
              <a:rPr lang="fr-FR" dirty="0"/>
              <a:t>Vous avez cassé vos lunettes et n’en avez pas de rechange. Tous les opticiens qui vous sont habituellement accessible sont exceptionnellement fermés.</a:t>
            </a:r>
          </a:p>
        </p:txBody>
      </p:sp>
      <p:sp>
        <p:nvSpPr>
          <p:cNvPr id="31" name="Espace réservé du texte 30">
            <a:extLst>
              <a:ext uri="{FF2B5EF4-FFF2-40B4-BE49-F238E27FC236}">
                <a16:creationId xmlns:a16="http://schemas.microsoft.com/office/drawing/2014/main" id="{F7D8E59E-301F-D140-73DB-FDF68946301F}"/>
              </a:ext>
            </a:extLst>
          </p:cNvPr>
          <p:cNvSpPr>
            <a:spLocks noGrp="1"/>
          </p:cNvSpPr>
          <p:nvPr>
            <p:ph type="body" sz="quarter" idx="27"/>
          </p:nvPr>
        </p:nvSpPr>
        <p:spPr/>
        <p:txBody>
          <a:bodyPr>
            <a:normAutofit fontScale="85000" lnSpcReduction="10000"/>
          </a:bodyPr>
          <a:lstStyle/>
          <a:p>
            <a:r>
              <a:rPr lang="fr-FR" dirty="0"/>
              <a:t>Vous venez de passer plusieurs semaines à mal dormir à cause de diverses raisons (voisinage, stress, etc.). Vous êtes extrêmement fatigué(e) et avez un temps d’attention très limité, ce qui touche aussi vos capacités de réflexion, d’expression et d’écoute orale / écrite.</a:t>
            </a:r>
          </a:p>
        </p:txBody>
      </p:sp>
      <p:sp>
        <p:nvSpPr>
          <p:cNvPr id="32" name="Espace réservé du texte 31">
            <a:extLst>
              <a:ext uri="{FF2B5EF4-FFF2-40B4-BE49-F238E27FC236}">
                <a16:creationId xmlns:a16="http://schemas.microsoft.com/office/drawing/2014/main" id="{9B20067F-E4CD-E5D9-0880-DF9170F1A398}"/>
              </a:ext>
            </a:extLst>
          </p:cNvPr>
          <p:cNvSpPr>
            <a:spLocks noGrp="1"/>
          </p:cNvSpPr>
          <p:nvPr>
            <p:ph type="body" sz="quarter" idx="28"/>
          </p:nvPr>
        </p:nvSpPr>
        <p:spPr/>
        <p:txBody>
          <a:bodyPr/>
          <a:lstStyle/>
          <a:p>
            <a:r>
              <a:rPr lang="fr-FR" dirty="0"/>
              <a:t>Vous vous êtes coupé la langue par accident en trébuchant. Elle va revenir en état mais vous en avez pour quelques semaines d’immobilisation.</a:t>
            </a:r>
          </a:p>
        </p:txBody>
      </p:sp>
      <p:sp>
        <p:nvSpPr>
          <p:cNvPr id="33" name="Espace réservé du texte 32">
            <a:extLst>
              <a:ext uri="{FF2B5EF4-FFF2-40B4-BE49-F238E27FC236}">
                <a16:creationId xmlns:a16="http://schemas.microsoft.com/office/drawing/2014/main" id="{01CDF2DC-DE2D-5795-C077-F760826945D5}"/>
              </a:ext>
            </a:extLst>
          </p:cNvPr>
          <p:cNvSpPr>
            <a:spLocks noGrp="1"/>
          </p:cNvSpPr>
          <p:nvPr>
            <p:ph type="body" sz="quarter" idx="29"/>
          </p:nvPr>
        </p:nvSpPr>
        <p:spPr/>
        <p:txBody>
          <a:bodyPr>
            <a:normAutofit fontScale="85000" lnSpcReduction="10000"/>
          </a:bodyPr>
          <a:lstStyle/>
          <a:p>
            <a:r>
              <a:rPr lang="fr-FR" dirty="0"/>
              <a:t>Vous venez d’apprendre la langue française et ne connaissez aucunement les termes abstraits, concepts, etc. Vous ne connaissez que le vocabulaire basique des sensations (goûts, couleur, chaleur, etc.), des positions (en haut, en bas, vite, lent) et des objets physiques</a:t>
            </a:r>
          </a:p>
        </p:txBody>
      </p:sp>
      <p:pic>
        <p:nvPicPr>
          <p:cNvPr id="43" name="Espace réservé de l'image en ligne 42" descr="Une image contenant personne, mur, intérieur, garçon&#10;&#10;Description générée automatiquement">
            <a:extLst>
              <a:ext uri="{FF2B5EF4-FFF2-40B4-BE49-F238E27FC236}">
                <a16:creationId xmlns:a16="http://schemas.microsoft.com/office/drawing/2014/main" id="{ADE916ED-69DB-6F45-AC98-D02DB3BBA9A6}"/>
              </a:ext>
            </a:extLst>
          </p:cNvPr>
          <p:cNvPicPr>
            <a:picLocks noGrp="1" noChangeAspect="1"/>
          </p:cNvPicPr>
          <p:nvPr>
            <p:ph type="clipArt" sz="quarter" idx="30"/>
          </p:nvPr>
        </p:nvPicPr>
        <p:blipFill>
          <a:blip r:embed="rId3" cstate="print">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854929" y="541338"/>
            <a:ext cx="1300043" cy="863600"/>
          </a:xfrm>
        </p:spPr>
      </p:pic>
      <p:pic>
        <p:nvPicPr>
          <p:cNvPr id="46" name="Espace réservé de l'image en ligne 45" descr="Une image contenant personne, homme, intérieur, table&#10;&#10;Description générée automatiquement">
            <a:extLst>
              <a:ext uri="{FF2B5EF4-FFF2-40B4-BE49-F238E27FC236}">
                <a16:creationId xmlns:a16="http://schemas.microsoft.com/office/drawing/2014/main" id="{5DE75F7F-7DF5-5D40-7C5F-FB62B0E73C10}"/>
              </a:ext>
            </a:extLst>
          </p:cNvPr>
          <p:cNvPicPr>
            <a:picLocks noGrp="1" noChangeAspect="1"/>
          </p:cNvPicPr>
          <p:nvPr>
            <p:ph type="clipArt" sz="quarter" idx="31"/>
          </p:nvPr>
        </p:nvPicPr>
        <p:blipFill>
          <a:blip r:embed="rId5" cstate="print">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3916686" y="541338"/>
            <a:ext cx="1294752" cy="863600"/>
          </a:xfrm>
        </p:spPr>
      </p:pic>
      <p:pic>
        <p:nvPicPr>
          <p:cNvPr id="49" name="Espace réservé de l'image en ligne 48" descr="Une image contenant bandeau, accessoire&#10;&#10;Description générée automatiquement">
            <a:extLst>
              <a:ext uri="{FF2B5EF4-FFF2-40B4-BE49-F238E27FC236}">
                <a16:creationId xmlns:a16="http://schemas.microsoft.com/office/drawing/2014/main" id="{24F4C93B-5E25-7804-1ABD-0B2EF2CC7777}"/>
              </a:ext>
            </a:extLst>
          </p:cNvPr>
          <p:cNvPicPr>
            <a:picLocks noGrp="1" noChangeAspect="1"/>
          </p:cNvPicPr>
          <p:nvPr>
            <p:ph type="clipArt" sz="quarter" idx="32"/>
          </p:nvPr>
        </p:nvPicPr>
        <p:blipFill>
          <a:blip r:embed="rId7" cstate="print">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6992439" y="541338"/>
            <a:ext cx="1296397" cy="863600"/>
          </a:xfrm>
        </p:spPr>
      </p:pic>
      <p:pic>
        <p:nvPicPr>
          <p:cNvPr id="52" name="Espace réservé de l'image en ligne 51" descr="Une image contenant personne, homme, terrain, extérieur&#10;&#10;Description générée automatiquement">
            <a:extLst>
              <a:ext uri="{FF2B5EF4-FFF2-40B4-BE49-F238E27FC236}">
                <a16:creationId xmlns:a16="http://schemas.microsoft.com/office/drawing/2014/main" id="{7ACF8C4C-A2F2-728B-3A17-0D900DF8E26E}"/>
              </a:ext>
            </a:extLst>
          </p:cNvPr>
          <p:cNvPicPr>
            <a:picLocks noGrp="1" noChangeAspect="1"/>
          </p:cNvPicPr>
          <p:nvPr>
            <p:ph type="clipArt" sz="quarter" idx="33"/>
          </p:nvPr>
        </p:nvPicPr>
        <p:blipFill>
          <a:blip r:embed="rId9" cstate="print">
            <a:extLst>
              <a:ext uri="{28A0092B-C50C-407E-A947-70E740481C1C}">
                <a14:useLocalDpi xmlns:a14="http://schemas.microsoft.com/office/drawing/2010/main"/>
              </a:ext>
              <a:ext uri="{837473B0-CC2E-450A-ABE3-18F120FF3D39}">
                <a1611:picAttrSrcUrl xmlns:a1611="http://schemas.microsoft.com/office/drawing/2016/11/main" r:id="rId10"/>
              </a:ext>
            </a:extLst>
          </a:blip>
          <a:stretch>
            <a:fillRect/>
          </a:stretch>
        </p:blipFill>
        <p:spPr>
          <a:xfrm>
            <a:off x="10019279" y="541338"/>
            <a:ext cx="1294267" cy="863600"/>
          </a:xfrm>
        </p:spPr>
      </p:pic>
      <p:pic>
        <p:nvPicPr>
          <p:cNvPr id="11" name="Espace réservé de l'image en ligne 10" descr="Une image contenant terrain, extérieur, pose, pierre&#10;&#10;Description générée automatiquement">
            <a:extLst>
              <a:ext uri="{FF2B5EF4-FFF2-40B4-BE49-F238E27FC236}">
                <a16:creationId xmlns:a16="http://schemas.microsoft.com/office/drawing/2014/main" id="{23CDFF68-24D6-79DC-9AFF-3262F3506AE0}"/>
              </a:ext>
            </a:extLst>
          </p:cNvPr>
          <p:cNvPicPr>
            <a:picLocks noGrp="1" noChangeAspect="1"/>
          </p:cNvPicPr>
          <p:nvPr>
            <p:ph type="clipArt" sz="quarter" idx="34"/>
          </p:nvPr>
        </p:nvPicPr>
        <p:blipFill>
          <a:blip r:embed="rId11" cstate="print">
            <a:extLst>
              <a:ext uri="{28A0092B-C50C-407E-A947-70E740481C1C}">
                <a14:useLocalDpi xmlns:a14="http://schemas.microsoft.com/office/drawing/2010/main"/>
              </a:ext>
              <a:ext uri="{837473B0-CC2E-450A-ABE3-18F120FF3D39}">
                <a1611:picAttrSrcUrl xmlns:a1611="http://schemas.microsoft.com/office/drawing/2016/11/main" r:id="rId12"/>
              </a:ext>
            </a:extLst>
          </a:blip>
          <a:stretch>
            <a:fillRect/>
          </a:stretch>
        </p:blipFill>
        <p:spPr>
          <a:xfrm>
            <a:off x="954617" y="3990975"/>
            <a:ext cx="1151466" cy="863600"/>
          </a:xfrm>
        </p:spPr>
      </p:pic>
      <p:pic>
        <p:nvPicPr>
          <p:cNvPr id="13" name="Espace réservé de l'image en ligne 12" descr="Une image contenant personne, sombre, cheveux&#10;&#10;Description générée automatiquement">
            <a:extLst>
              <a:ext uri="{FF2B5EF4-FFF2-40B4-BE49-F238E27FC236}">
                <a16:creationId xmlns:a16="http://schemas.microsoft.com/office/drawing/2014/main" id="{DDB5A56B-9D24-F970-19B6-CB38BCEDD36F}"/>
              </a:ext>
            </a:extLst>
          </p:cNvPr>
          <p:cNvPicPr>
            <a:picLocks noGrp="1" noChangeAspect="1"/>
          </p:cNvPicPr>
          <p:nvPr>
            <p:ph type="clipArt" sz="quarter" idx="35"/>
          </p:nvPr>
        </p:nvPicPr>
        <p:blipFill>
          <a:blip r:embed="rId13" cstate="print">
            <a:extLst>
              <a:ext uri="{28A0092B-C50C-407E-A947-70E740481C1C}">
                <a14:useLocalDpi xmlns:a14="http://schemas.microsoft.com/office/drawing/2010/main"/>
              </a:ext>
              <a:ext uri="{837473B0-CC2E-450A-ABE3-18F120FF3D39}">
                <a1611:picAttrSrcUrl xmlns:a1611="http://schemas.microsoft.com/office/drawing/2016/11/main" r:id="rId14"/>
              </a:ext>
            </a:extLst>
          </a:blip>
          <a:stretch>
            <a:fillRect/>
          </a:stretch>
        </p:blipFill>
        <p:spPr>
          <a:xfrm>
            <a:off x="3941317" y="3990975"/>
            <a:ext cx="1296290" cy="863600"/>
          </a:xfrm>
        </p:spPr>
      </p:pic>
      <p:pic>
        <p:nvPicPr>
          <p:cNvPr id="15" name="Espace réservé de l'image en ligne 14" descr="Une image contenant personne, brosse à dents, fermer, cosmétique&#10;&#10;Description générée automatiquement">
            <a:extLst>
              <a:ext uri="{FF2B5EF4-FFF2-40B4-BE49-F238E27FC236}">
                <a16:creationId xmlns:a16="http://schemas.microsoft.com/office/drawing/2014/main" id="{60720F21-939D-23F3-3892-8AC26B1BA5AD}"/>
              </a:ext>
            </a:extLst>
          </p:cNvPr>
          <p:cNvPicPr>
            <a:picLocks noGrp="1" noChangeAspect="1"/>
          </p:cNvPicPr>
          <p:nvPr>
            <p:ph type="clipArt" sz="quarter" idx="36"/>
          </p:nvPr>
        </p:nvPicPr>
        <p:blipFill>
          <a:blip r:embed="rId15" cstate="print">
            <a:extLst>
              <a:ext uri="{28A0092B-C50C-407E-A947-70E740481C1C}">
                <a14:useLocalDpi xmlns:a14="http://schemas.microsoft.com/office/drawing/2010/main"/>
              </a:ext>
              <a:ext uri="{837473B0-CC2E-450A-ABE3-18F120FF3D39}">
                <a1611:picAttrSrcUrl xmlns:a1611="http://schemas.microsoft.com/office/drawing/2016/11/main" r:id="rId16"/>
              </a:ext>
            </a:extLst>
          </a:blip>
          <a:stretch>
            <a:fillRect/>
          </a:stretch>
        </p:blipFill>
        <p:spPr>
          <a:xfrm>
            <a:off x="7017324" y="3990975"/>
            <a:ext cx="1297427" cy="863600"/>
          </a:xfrm>
        </p:spPr>
      </p:pic>
      <p:pic>
        <p:nvPicPr>
          <p:cNvPr id="20" name="Espace réservé de l'image en ligne 19">
            <a:extLst>
              <a:ext uri="{FF2B5EF4-FFF2-40B4-BE49-F238E27FC236}">
                <a16:creationId xmlns:a16="http://schemas.microsoft.com/office/drawing/2014/main" id="{A7D50A4C-4E91-98E7-C8D2-3A761B18B0DF}"/>
              </a:ext>
            </a:extLst>
          </p:cNvPr>
          <p:cNvPicPr>
            <a:picLocks noGrp="1" noChangeAspect="1"/>
          </p:cNvPicPr>
          <p:nvPr>
            <p:ph type="clipArt" sz="quarter" idx="37"/>
          </p:nvPr>
        </p:nvPicPr>
        <p:blipFill>
          <a:blip r:embed="rId17" cstate="print">
            <a:extLst>
              <a:ext uri="{28A0092B-C50C-407E-A947-70E740481C1C}">
                <a14:useLocalDpi xmlns:a14="http://schemas.microsoft.com/office/drawing/2010/main"/>
              </a:ext>
              <a:ext uri="{837473B0-CC2E-450A-ABE3-18F120FF3D39}">
                <a1611:picAttrSrcUrl xmlns:a1611="http://schemas.microsoft.com/office/drawing/2016/11/main" r:id="rId18"/>
              </a:ext>
            </a:extLst>
          </a:blip>
          <a:stretch>
            <a:fillRect/>
          </a:stretch>
        </p:blipFill>
        <p:spPr>
          <a:xfrm>
            <a:off x="10043921" y="3990975"/>
            <a:ext cx="1295783" cy="863600"/>
          </a:xfrm>
        </p:spPr>
      </p:pic>
    </p:spTree>
    <p:extLst>
      <p:ext uri="{BB962C8B-B14F-4D97-AF65-F5344CB8AC3E}">
        <p14:creationId xmlns:p14="http://schemas.microsoft.com/office/powerpoint/2010/main" val="109158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E9496C9-EB27-8940-8C41-8C12A5308A63}"/>
              </a:ext>
            </a:extLst>
          </p:cNvPr>
          <p:cNvSpPr>
            <a:spLocks noGrp="1"/>
          </p:cNvSpPr>
          <p:nvPr>
            <p:ph type="body" sz="quarter" idx="10"/>
          </p:nvPr>
        </p:nvSpPr>
        <p:spPr/>
        <p:txBody>
          <a:bodyPr>
            <a:normAutofit fontScale="92500"/>
          </a:bodyPr>
          <a:lstStyle/>
          <a:p>
            <a:r>
              <a:rPr lang="fr-FR" dirty="0"/>
              <a:t>Chat qui casse tout : Vous avez chez vous un chat qui saute sur toutes les surfaces accessibles et qui renverse les objets. Parfois vous l’avez avec vous dehors. Vous prenez l’habitude de tout mettre en hauteur.</a:t>
            </a:r>
          </a:p>
        </p:txBody>
      </p:sp>
      <p:sp>
        <p:nvSpPr>
          <p:cNvPr id="3" name="Espace réservé du texte 2">
            <a:extLst>
              <a:ext uri="{FF2B5EF4-FFF2-40B4-BE49-F238E27FC236}">
                <a16:creationId xmlns:a16="http://schemas.microsoft.com/office/drawing/2014/main" id="{CF3CC2C2-C4C6-3250-D2ED-F5E3E8A97CF7}"/>
              </a:ext>
            </a:extLst>
          </p:cNvPr>
          <p:cNvSpPr>
            <a:spLocks noGrp="1"/>
          </p:cNvSpPr>
          <p:nvPr>
            <p:ph type="body" sz="quarter" idx="11"/>
          </p:nvPr>
        </p:nvSpPr>
        <p:spPr/>
        <p:txBody>
          <a:bodyPr>
            <a:normAutofit fontScale="92500" lnSpcReduction="20000"/>
          </a:bodyPr>
          <a:lstStyle/>
          <a:p>
            <a:r>
              <a:rPr lang="fr-FR" dirty="0"/>
              <a:t>Vous avez été à un concert très intense et avez perdu un de vos bouchons d’oreille en cours de route. Vous étiez vraiment très proche des enceintes principales. Votre audition du côté gauche est momentanément très endommagée.</a:t>
            </a:r>
          </a:p>
        </p:txBody>
      </p:sp>
      <p:sp>
        <p:nvSpPr>
          <p:cNvPr id="4" name="Espace réservé du texte 3">
            <a:extLst>
              <a:ext uri="{FF2B5EF4-FFF2-40B4-BE49-F238E27FC236}">
                <a16:creationId xmlns:a16="http://schemas.microsoft.com/office/drawing/2014/main" id="{DBB9B9B5-43CA-1DB7-040D-B81F39E15BF1}"/>
              </a:ext>
            </a:extLst>
          </p:cNvPr>
          <p:cNvSpPr>
            <a:spLocks noGrp="1"/>
          </p:cNvSpPr>
          <p:nvPr>
            <p:ph type="body" sz="quarter" idx="12"/>
          </p:nvPr>
        </p:nvSpPr>
        <p:spPr/>
        <p:txBody>
          <a:bodyPr>
            <a:normAutofit lnSpcReduction="10000"/>
          </a:bodyPr>
          <a:lstStyle/>
          <a:p>
            <a:r>
              <a:rPr lang="fr-FR" dirty="0"/>
              <a:t>Une mauvaise chute vous a fait vous réceptionner sur les poignets, et vous ne pouvez rien saisir, rien tenir, rien serrer ni appuyer ou tirer avec vos doigts aujourd’hui.</a:t>
            </a:r>
          </a:p>
        </p:txBody>
      </p:sp>
      <p:sp>
        <p:nvSpPr>
          <p:cNvPr id="5" name="Espace réservé du texte 4">
            <a:extLst>
              <a:ext uri="{FF2B5EF4-FFF2-40B4-BE49-F238E27FC236}">
                <a16:creationId xmlns:a16="http://schemas.microsoft.com/office/drawing/2014/main" id="{D5A87444-BA7B-663A-D937-D933D6FB812E}"/>
              </a:ext>
            </a:extLst>
          </p:cNvPr>
          <p:cNvSpPr>
            <a:spLocks noGrp="1"/>
          </p:cNvSpPr>
          <p:nvPr>
            <p:ph type="body" sz="quarter" idx="13"/>
          </p:nvPr>
        </p:nvSpPr>
        <p:spPr/>
        <p:txBody>
          <a:bodyPr>
            <a:normAutofit fontScale="92500" lnSpcReduction="20000"/>
          </a:bodyPr>
          <a:lstStyle/>
          <a:p>
            <a:r>
              <a:rPr lang="fr-FR" dirty="0"/>
              <a:t>Un rhume, combiné à une bronchite, combiné à une fatigue générale, et un petit accident qui vous a compressé le thorax, vous ont beaucoup réduit les capacités respiratoires. Vous pouvez faire des actions simples, mais parler est difficile.</a:t>
            </a:r>
          </a:p>
        </p:txBody>
      </p:sp>
      <p:sp>
        <p:nvSpPr>
          <p:cNvPr id="6" name="Espace réservé du texte 5">
            <a:extLst>
              <a:ext uri="{FF2B5EF4-FFF2-40B4-BE49-F238E27FC236}">
                <a16:creationId xmlns:a16="http://schemas.microsoft.com/office/drawing/2014/main" id="{5CB3E639-CAEC-B8BD-1BF1-F926D38D1EA0}"/>
              </a:ext>
            </a:extLst>
          </p:cNvPr>
          <p:cNvSpPr>
            <a:spLocks noGrp="1"/>
          </p:cNvSpPr>
          <p:nvPr>
            <p:ph type="body" sz="quarter" idx="18"/>
          </p:nvPr>
        </p:nvSpPr>
        <p:spPr/>
        <p:txBody>
          <a:bodyPr>
            <a:normAutofit fontScale="92500"/>
          </a:bodyPr>
          <a:lstStyle/>
          <a:p>
            <a:r>
              <a:rPr lang="fr-FR" dirty="0"/>
              <a:t>Vous ne manipulez et ne posez que des objets en hauteur au dessus de votre tête. Tout ce que vous posez, rangez, doit être sur un endroit au dessus de votre tête au moins. </a:t>
            </a:r>
          </a:p>
        </p:txBody>
      </p:sp>
      <p:sp>
        <p:nvSpPr>
          <p:cNvPr id="7" name="Espace réservé du texte 6">
            <a:extLst>
              <a:ext uri="{FF2B5EF4-FFF2-40B4-BE49-F238E27FC236}">
                <a16:creationId xmlns:a16="http://schemas.microsoft.com/office/drawing/2014/main" id="{FBFBD844-0988-3F34-7FE3-9F655D7C031D}"/>
              </a:ext>
            </a:extLst>
          </p:cNvPr>
          <p:cNvSpPr>
            <a:spLocks noGrp="1"/>
          </p:cNvSpPr>
          <p:nvPr>
            <p:ph type="body" sz="quarter" idx="19"/>
          </p:nvPr>
        </p:nvSpPr>
        <p:spPr/>
        <p:txBody>
          <a:bodyPr>
            <a:normAutofit fontScale="92500" lnSpcReduction="20000"/>
          </a:bodyPr>
          <a:lstStyle/>
          <a:p>
            <a:r>
              <a:rPr lang="fr-FR" dirty="0"/>
              <a:t>Bouchez vous l’oreille gauche (avec votre main) autant que vous pouvez. Si quelqu’un s’adresse à vous ou si vous devez écouter un son, vous devez orienter votre oreille droite vers la direction.</a:t>
            </a:r>
          </a:p>
        </p:txBody>
      </p:sp>
      <p:sp>
        <p:nvSpPr>
          <p:cNvPr id="8" name="Espace réservé du texte 7">
            <a:extLst>
              <a:ext uri="{FF2B5EF4-FFF2-40B4-BE49-F238E27FC236}">
                <a16:creationId xmlns:a16="http://schemas.microsoft.com/office/drawing/2014/main" id="{BC443D1E-1ADD-6B49-F387-E1F2D776BA23}"/>
              </a:ext>
            </a:extLst>
          </p:cNvPr>
          <p:cNvSpPr>
            <a:spLocks noGrp="1"/>
          </p:cNvSpPr>
          <p:nvPr>
            <p:ph type="body" sz="quarter" idx="20"/>
          </p:nvPr>
        </p:nvSpPr>
        <p:spPr/>
        <p:txBody>
          <a:bodyPr>
            <a:normAutofit fontScale="92500" lnSpcReduction="20000"/>
          </a:bodyPr>
          <a:lstStyle/>
          <a:p>
            <a:r>
              <a:rPr lang="fr-FR" dirty="0"/>
              <a:t>Vous n’avez plus l’usage de vos mains, vous pouvez encore utiliser vos avant-bras et vos bras, mais rien au niveau des doigts et des poignets. Pour vous aider, vous pouvez garder les poings fermés.</a:t>
            </a:r>
          </a:p>
        </p:txBody>
      </p:sp>
      <p:sp>
        <p:nvSpPr>
          <p:cNvPr id="9" name="Espace réservé du texte 8">
            <a:extLst>
              <a:ext uri="{FF2B5EF4-FFF2-40B4-BE49-F238E27FC236}">
                <a16:creationId xmlns:a16="http://schemas.microsoft.com/office/drawing/2014/main" id="{F489346B-0A4C-9874-AB45-5B8B7ED93A0C}"/>
              </a:ext>
            </a:extLst>
          </p:cNvPr>
          <p:cNvSpPr>
            <a:spLocks noGrp="1"/>
          </p:cNvSpPr>
          <p:nvPr>
            <p:ph type="body" sz="quarter" idx="21"/>
          </p:nvPr>
        </p:nvSpPr>
        <p:spPr/>
        <p:txBody>
          <a:bodyPr>
            <a:normAutofit fontScale="92500" lnSpcReduction="20000"/>
          </a:bodyPr>
          <a:lstStyle/>
          <a:p>
            <a:r>
              <a:rPr lang="fr-FR" dirty="0"/>
              <a:t>Prenez une inspiration entre chaque mot. Si ce sont des courts, vous pouvez en dire deux. Exemple : C’est le </a:t>
            </a:r>
            <a:r>
              <a:rPr lang="fr-FR" dirty="0">
                <a:solidFill>
                  <a:schemeClr val="bg1">
                    <a:lumMod val="50000"/>
                  </a:schemeClr>
                </a:solidFill>
              </a:rPr>
              <a:t>*inspiration* </a:t>
            </a:r>
            <a:r>
              <a:rPr lang="fr-FR" dirty="0"/>
              <a:t>moment de </a:t>
            </a:r>
            <a:r>
              <a:rPr lang="fr-FR" dirty="0">
                <a:solidFill>
                  <a:schemeClr val="bg1">
                    <a:lumMod val="50000"/>
                  </a:schemeClr>
                </a:solidFill>
              </a:rPr>
              <a:t>*inspiration* </a:t>
            </a:r>
            <a:r>
              <a:rPr lang="fr-FR" dirty="0"/>
              <a:t>commencer </a:t>
            </a:r>
            <a:r>
              <a:rPr lang="fr-FR" dirty="0">
                <a:solidFill>
                  <a:schemeClr val="bg1">
                    <a:lumMod val="50000"/>
                  </a:schemeClr>
                </a:solidFill>
              </a:rPr>
              <a:t>*inspiration* </a:t>
            </a:r>
            <a:r>
              <a:rPr lang="fr-FR" dirty="0"/>
              <a:t>l’épreuve</a:t>
            </a:r>
          </a:p>
        </p:txBody>
      </p:sp>
      <p:sp>
        <p:nvSpPr>
          <p:cNvPr id="10" name="Espace réservé du texte 9">
            <a:extLst>
              <a:ext uri="{FF2B5EF4-FFF2-40B4-BE49-F238E27FC236}">
                <a16:creationId xmlns:a16="http://schemas.microsoft.com/office/drawing/2014/main" id="{83D2E3BC-C253-F62B-D0A2-470A46305E29}"/>
              </a:ext>
            </a:extLst>
          </p:cNvPr>
          <p:cNvSpPr>
            <a:spLocks noGrp="1"/>
          </p:cNvSpPr>
          <p:nvPr>
            <p:ph type="body" sz="quarter" idx="22"/>
          </p:nvPr>
        </p:nvSpPr>
        <p:spPr/>
        <p:txBody>
          <a:bodyPr/>
          <a:lstStyle/>
          <a:p>
            <a:r>
              <a:rPr lang="fr-FR" dirty="0"/>
              <a:t>Vous ne pouvez pas parler ou utiliser de sons utilisant vos cordes vocales</a:t>
            </a:r>
          </a:p>
        </p:txBody>
      </p:sp>
      <p:sp>
        <p:nvSpPr>
          <p:cNvPr id="11" name="Espace réservé du texte 10">
            <a:extLst>
              <a:ext uri="{FF2B5EF4-FFF2-40B4-BE49-F238E27FC236}">
                <a16:creationId xmlns:a16="http://schemas.microsoft.com/office/drawing/2014/main" id="{7FC383BC-AFDB-7375-3C44-5371768796CF}"/>
              </a:ext>
            </a:extLst>
          </p:cNvPr>
          <p:cNvSpPr>
            <a:spLocks noGrp="1"/>
          </p:cNvSpPr>
          <p:nvPr>
            <p:ph type="body" sz="quarter" idx="23"/>
          </p:nvPr>
        </p:nvSpPr>
        <p:spPr/>
        <p:txBody>
          <a:bodyPr>
            <a:normAutofit fontScale="92500" lnSpcReduction="20000"/>
          </a:bodyPr>
          <a:lstStyle/>
          <a:p>
            <a:r>
              <a:rPr lang="fr-FR" dirty="0"/>
              <a:t>A chacune des émotions que vous vivez, faites comme si elle était très intense (une petite satisfaction devient un grand bonheur, une petite colère devient une fureur, une petite peur devient un effroi)</a:t>
            </a:r>
          </a:p>
        </p:txBody>
      </p:sp>
      <p:sp>
        <p:nvSpPr>
          <p:cNvPr id="12" name="Espace réservé du texte 11">
            <a:extLst>
              <a:ext uri="{FF2B5EF4-FFF2-40B4-BE49-F238E27FC236}">
                <a16:creationId xmlns:a16="http://schemas.microsoft.com/office/drawing/2014/main" id="{7713E044-36A7-18E1-5954-E5CC9776B75E}"/>
              </a:ext>
            </a:extLst>
          </p:cNvPr>
          <p:cNvSpPr>
            <a:spLocks noGrp="1"/>
          </p:cNvSpPr>
          <p:nvPr>
            <p:ph type="body" sz="quarter" idx="24"/>
          </p:nvPr>
        </p:nvSpPr>
        <p:spPr/>
        <p:txBody>
          <a:bodyPr>
            <a:normAutofit lnSpcReduction="10000"/>
          </a:bodyPr>
          <a:lstStyle/>
          <a:p>
            <a:r>
              <a:rPr lang="fr-FR" dirty="0"/>
              <a:t>Vous devez aller aux toilettes (ou faire comme si vous y alliez, sortez de la salle 30 secondes max) toutes les 2 minutes (donc 3 fois max dans le tour)</a:t>
            </a:r>
          </a:p>
        </p:txBody>
      </p:sp>
      <p:sp>
        <p:nvSpPr>
          <p:cNvPr id="13" name="Espace réservé du texte 12">
            <a:extLst>
              <a:ext uri="{FF2B5EF4-FFF2-40B4-BE49-F238E27FC236}">
                <a16:creationId xmlns:a16="http://schemas.microsoft.com/office/drawing/2014/main" id="{C7745E5F-769F-A1F7-6D2C-46B30A08C11C}"/>
              </a:ext>
            </a:extLst>
          </p:cNvPr>
          <p:cNvSpPr>
            <a:spLocks noGrp="1"/>
          </p:cNvSpPr>
          <p:nvPr>
            <p:ph type="body" sz="quarter" idx="25"/>
          </p:nvPr>
        </p:nvSpPr>
        <p:spPr/>
        <p:txBody>
          <a:bodyPr>
            <a:normAutofit fontScale="92500" lnSpcReduction="20000"/>
          </a:bodyPr>
          <a:lstStyle/>
          <a:p>
            <a:r>
              <a:rPr lang="fr-FR" dirty="0"/>
              <a:t>Vous ne pouvez ouvrir les yeux que 1 à 2 secondes (toutes les 2 minutes, donc 4 fois max dans le tour). Vous pouvez garder les yeux ouverts dans une pièce sombre (équivalent de volet fermés)</a:t>
            </a:r>
          </a:p>
        </p:txBody>
      </p:sp>
      <p:sp>
        <p:nvSpPr>
          <p:cNvPr id="14" name="Espace réservé du texte 13">
            <a:extLst>
              <a:ext uri="{FF2B5EF4-FFF2-40B4-BE49-F238E27FC236}">
                <a16:creationId xmlns:a16="http://schemas.microsoft.com/office/drawing/2014/main" id="{EFB11A6F-E221-CBA2-0200-1E465816AC6E}"/>
              </a:ext>
            </a:extLst>
          </p:cNvPr>
          <p:cNvSpPr>
            <a:spLocks noGrp="1"/>
          </p:cNvSpPr>
          <p:nvPr>
            <p:ph type="body" sz="quarter" idx="26"/>
          </p:nvPr>
        </p:nvSpPr>
        <p:spPr/>
        <p:txBody>
          <a:bodyPr>
            <a:normAutofit fontScale="92500" lnSpcReduction="20000"/>
          </a:bodyPr>
          <a:lstStyle/>
          <a:p>
            <a:r>
              <a:rPr lang="fr-FR" dirty="0"/>
              <a:t>Suite à des migraines, des yeux secs, puis une conjonctivite récente, et de la fatigue visuelle, vous avez un mal de crâne à chaque fois que vous ouvrez les yeux longtemps à cause de la lumière. Et vous avez oublié vos lunettes de soleil aujourd’hui !</a:t>
            </a:r>
          </a:p>
        </p:txBody>
      </p:sp>
      <p:sp>
        <p:nvSpPr>
          <p:cNvPr id="15" name="Espace réservé du texte 14">
            <a:extLst>
              <a:ext uri="{FF2B5EF4-FFF2-40B4-BE49-F238E27FC236}">
                <a16:creationId xmlns:a16="http://schemas.microsoft.com/office/drawing/2014/main" id="{CD94863A-2855-C838-95D7-52F29C1418E7}"/>
              </a:ext>
            </a:extLst>
          </p:cNvPr>
          <p:cNvSpPr>
            <a:spLocks noGrp="1"/>
          </p:cNvSpPr>
          <p:nvPr>
            <p:ph type="body" sz="quarter" idx="27"/>
          </p:nvPr>
        </p:nvSpPr>
        <p:spPr/>
        <p:txBody>
          <a:bodyPr>
            <a:normAutofit fontScale="92500"/>
          </a:bodyPr>
          <a:lstStyle/>
          <a:p>
            <a:r>
              <a:rPr lang="fr-FR" dirty="0"/>
              <a:t>Suite à une infection urinaire et rénale, vous avez du prendre l’habitude de boire beaucoup d’eau et très souvent. Vous devez donc sortir assez souvent pour aller aux toilettes car vous ne pouvez pas vous retenir.</a:t>
            </a:r>
          </a:p>
        </p:txBody>
      </p:sp>
      <p:sp>
        <p:nvSpPr>
          <p:cNvPr id="16" name="Espace réservé du texte 15">
            <a:extLst>
              <a:ext uri="{FF2B5EF4-FFF2-40B4-BE49-F238E27FC236}">
                <a16:creationId xmlns:a16="http://schemas.microsoft.com/office/drawing/2014/main" id="{4DC7B48A-CFE1-F626-8F7A-873C92C0915D}"/>
              </a:ext>
            </a:extLst>
          </p:cNvPr>
          <p:cNvSpPr>
            <a:spLocks noGrp="1"/>
          </p:cNvSpPr>
          <p:nvPr>
            <p:ph type="body" sz="quarter" idx="28"/>
          </p:nvPr>
        </p:nvSpPr>
        <p:spPr/>
        <p:txBody>
          <a:bodyPr/>
          <a:lstStyle/>
          <a:p>
            <a:r>
              <a:rPr lang="fr-FR" dirty="0"/>
              <a:t>Divers événements personnels récents ont fait que vous êtes « à fleur de peau », vous êtes beaucoup plus sensible émotionnellement que d’habitude.  </a:t>
            </a:r>
          </a:p>
        </p:txBody>
      </p:sp>
      <p:sp>
        <p:nvSpPr>
          <p:cNvPr id="17" name="Espace réservé du texte 16">
            <a:extLst>
              <a:ext uri="{FF2B5EF4-FFF2-40B4-BE49-F238E27FC236}">
                <a16:creationId xmlns:a16="http://schemas.microsoft.com/office/drawing/2014/main" id="{1D729106-437C-3964-4966-17EAE65CB414}"/>
              </a:ext>
            </a:extLst>
          </p:cNvPr>
          <p:cNvSpPr>
            <a:spLocks noGrp="1"/>
          </p:cNvSpPr>
          <p:nvPr>
            <p:ph type="body" sz="quarter" idx="29"/>
          </p:nvPr>
        </p:nvSpPr>
        <p:spPr/>
        <p:txBody>
          <a:bodyPr>
            <a:normAutofit lnSpcReduction="10000"/>
          </a:bodyPr>
          <a:lstStyle/>
          <a:p>
            <a:r>
              <a:rPr lang="fr-FR" dirty="0"/>
              <a:t>Un virus vous a causé une laryngite aigue (inflammation de votre larynx, et cette fois ci aussi de vos cordes vocales). Il vous empêche d’utiliser votre voix, qui reviendra dans quelques jours.</a:t>
            </a:r>
          </a:p>
        </p:txBody>
      </p:sp>
      <p:pic>
        <p:nvPicPr>
          <p:cNvPr id="27" name="Espace réservé de l'image en ligne 26" descr="Chat regardant depuis une table">
            <a:extLst>
              <a:ext uri="{FF2B5EF4-FFF2-40B4-BE49-F238E27FC236}">
                <a16:creationId xmlns:a16="http://schemas.microsoft.com/office/drawing/2014/main" id="{186CC2F7-FD30-FBDE-03FF-0DDF034DE9DF}"/>
              </a:ext>
            </a:extLst>
          </p:cNvPr>
          <p:cNvPicPr>
            <a:picLocks noGrp="1" noChangeAspect="1"/>
          </p:cNvPicPr>
          <p:nvPr>
            <p:ph type="clipArt" sz="quarter" idx="30"/>
          </p:nvPr>
        </p:nvPicPr>
        <p:blipFill rotWithShape="1">
          <a:blip r:embed="rId2" cstate="print">
            <a:extLst>
              <a:ext uri="{28A0092B-C50C-407E-A947-70E740481C1C}">
                <a14:useLocalDpi xmlns:a14="http://schemas.microsoft.com/office/drawing/2010/main"/>
              </a:ext>
            </a:extLst>
          </a:blip>
          <a:srcRect/>
          <a:stretch/>
        </p:blipFill>
        <p:spPr>
          <a:xfrm>
            <a:off x="649015" y="541338"/>
            <a:ext cx="1726887" cy="912449"/>
          </a:xfrm>
        </p:spPr>
      </p:pic>
      <p:pic>
        <p:nvPicPr>
          <p:cNvPr id="29" name="Espace réservé de l'image en ligne 28" descr="Des silhouettes vues de dos de personnes assistant à un concert avec un homme aux bras étendus qui regarde en direction des artistes qui sont sous les lumières de la scène">
            <a:extLst>
              <a:ext uri="{FF2B5EF4-FFF2-40B4-BE49-F238E27FC236}">
                <a16:creationId xmlns:a16="http://schemas.microsoft.com/office/drawing/2014/main" id="{75E27436-F803-62AC-F498-D711996307E7}"/>
              </a:ext>
            </a:extLst>
          </p:cNvPr>
          <p:cNvPicPr>
            <a:picLocks noGrp="1" noChangeAspect="1"/>
          </p:cNvPicPr>
          <p:nvPr>
            <p:ph type="clipArt" sz="quarter" idx="31"/>
          </p:nvPr>
        </p:nvPicPr>
        <p:blipFill>
          <a:blip r:embed="rId3" cstate="print">
            <a:extLst>
              <a:ext uri="{28A0092B-C50C-407E-A947-70E740481C1C}">
                <a14:useLocalDpi xmlns:a14="http://schemas.microsoft.com/office/drawing/2010/main"/>
              </a:ext>
            </a:extLst>
          </a:blip>
          <a:stretch>
            <a:fillRect/>
          </a:stretch>
        </p:blipFill>
        <p:spPr>
          <a:xfrm>
            <a:off x="3917006" y="541338"/>
            <a:ext cx="1294112" cy="863600"/>
          </a:xfrm>
        </p:spPr>
      </p:pic>
      <p:pic>
        <p:nvPicPr>
          <p:cNvPr id="31" name="Espace réservé de l'image en ligne 30" descr="Une image contenant personne&#10;&#10;Description générée automatiquement">
            <a:extLst>
              <a:ext uri="{FF2B5EF4-FFF2-40B4-BE49-F238E27FC236}">
                <a16:creationId xmlns:a16="http://schemas.microsoft.com/office/drawing/2014/main" id="{6E83914E-025B-7CA1-731E-3AF8AD21EB6A}"/>
              </a:ext>
            </a:extLst>
          </p:cNvPr>
          <p:cNvPicPr>
            <a:picLocks noGrp="1" noChangeAspect="1"/>
          </p:cNvPicPr>
          <p:nvPr>
            <p:ph type="clipArt" sz="quarter" idx="32"/>
          </p:nvPr>
        </p:nvPicPr>
        <p:blipFill>
          <a:blip r:embed="rId4" cstate="print">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rot="10800000">
            <a:off x="7083006" y="541338"/>
            <a:ext cx="1115262" cy="863600"/>
          </a:xfrm>
        </p:spPr>
      </p:pic>
      <p:pic>
        <p:nvPicPr>
          <p:cNvPr id="19" name="Espace réservé de l'image en ligne 18" descr="Une image contenant texte&#10;&#10;Description générée automatiquement">
            <a:extLst>
              <a:ext uri="{FF2B5EF4-FFF2-40B4-BE49-F238E27FC236}">
                <a16:creationId xmlns:a16="http://schemas.microsoft.com/office/drawing/2014/main" id="{8F130DE3-4295-8919-1FDA-63FA5A799521}"/>
              </a:ext>
            </a:extLst>
          </p:cNvPr>
          <p:cNvPicPr>
            <a:picLocks noGrp="1" noChangeAspect="1"/>
          </p:cNvPicPr>
          <p:nvPr>
            <p:ph type="clipArt" sz="quarter" idx="33"/>
          </p:nvPr>
        </p:nvPicPr>
        <p:blipFill>
          <a:blip r:embed="rId6" cstate="print">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9876534" y="541338"/>
            <a:ext cx="1579756" cy="863600"/>
          </a:xfrm>
        </p:spPr>
      </p:pic>
      <p:pic>
        <p:nvPicPr>
          <p:cNvPr id="28" name="Espace réservé de l'image en ligne 27" descr="Une image contenant fixant, fermer&#10;&#10;Description générée automatiquement">
            <a:extLst>
              <a:ext uri="{FF2B5EF4-FFF2-40B4-BE49-F238E27FC236}">
                <a16:creationId xmlns:a16="http://schemas.microsoft.com/office/drawing/2014/main" id="{2D6362AB-F9DA-0152-9B42-E5065B86771E}"/>
              </a:ext>
            </a:extLst>
          </p:cNvPr>
          <p:cNvPicPr>
            <a:picLocks noGrp="1" noChangeAspect="1"/>
          </p:cNvPicPr>
          <p:nvPr>
            <p:ph type="clipArt" sz="quarter" idx="34"/>
          </p:nvPr>
        </p:nvPicPr>
        <p:blipFill>
          <a:blip r:embed="rId8" cstate="print">
            <a:extLst>
              <a:ext uri="{28A0092B-C50C-407E-A947-70E740481C1C}">
                <a14:useLocalDpi xmlns:a14="http://schemas.microsoft.com/office/drawing/2010/main"/>
              </a:ext>
              <a:ext uri="{837473B0-CC2E-450A-ABE3-18F120FF3D39}">
                <a1611:picAttrSrcUrl xmlns:a1611="http://schemas.microsoft.com/office/drawing/2016/11/main" r:id="rId9"/>
              </a:ext>
            </a:extLst>
          </a:blip>
          <a:stretch>
            <a:fillRect/>
          </a:stretch>
        </p:blipFill>
        <p:spPr>
          <a:xfrm>
            <a:off x="954617" y="3990975"/>
            <a:ext cx="1151466" cy="863600"/>
          </a:xfrm>
        </p:spPr>
      </p:pic>
      <p:pic>
        <p:nvPicPr>
          <p:cNvPr id="33" name="Espace réservé de l'image en ligne 32">
            <a:extLst>
              <a:ext uri="{FF2B5EF4-FFF2-40B4-BE49-F238E27FC236}">
                <a16:creationId xmlns:a16="http://schemas.microsoft.com/office/drawing/2014/main" id="{AE11CF3D-612B-6327-3BBE-4ED120F35571}"/>
              </a:ext>
            </a:extLst>
          </p:cNvPr>
          <p:cNvPicPr>
            <a:picLocks noGrp="1" noChangeAspect="1"/>
          </p:cNvPicPr>
          <p:nvPr>
            <p:ph type="clipArt" sz="quarter" idx="35"/>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 uri="{837473B0-CC2E-450A-ABE3-18F120FF3D39}">
                <a1611:picAttrSrcUrl xmlns:a1611="http://schemas.microsoft.com/office/drawing/2016/11/main" r:id="rId12"/>
              </a:ext>
            </a:extLst>
          </a:blip>
          <a:stretch>
            <a:fillRect/>
          </a:stretch>
        </p:blipFill>
        <p:spPr>
          <a:xfrm>
            <a:off x="3858230" y="3990975"/>
            <a:ext cx="1462465" cy="863600"/>
          </a:xfrm>
        </p:spPr>
      </p:pic>
      <p:pic>
        <p:nvPicPr>
          <p:cNvPr id="35" name="Espace réservé de l'image en ligne 34" descr="Une image contenant carré&#10;&#10;Description générée automatiquement">
            <a:extLst>
              <a:ext uri="{FF2B5EF4-FFF2-40B4-BE49-F238E27FC236}">
                <a16:creationId xmlns:a16="http://schemas.microsoft.com/office/drawing/2014/main" id="{8E44E3B9-94FB-F418-AFCF-7BD4A7CB07C8}"/>
              </a:ext>
            </a:extLst>
          </p:cNvPr>
          <p:cNvPicPr>
            <a:picLocks noGrp="1" noChangeAspect="1"/>
          </p:cNvPicPr>
          <p:nvPr>
            <p:ph type="clipArt" sz="quarter" idx="36"/>
          </p:nvPr>
        </p:nvPicPr>
        <p:blipFill>
          <a:blip r:embed="rId13" cstate="screen">
            <a:extLst>
              <a:ext uri="{28A0092B-C50C-407E-A947-70E740481C1C}">
                <a14:useLocalDpi xmlns:a14="http://schemas.microsoft.com/office/drawing/2010/main"/>
              </a:ext>
              <a:ext uri="{837473B0-CC2E-450A-ABE3-18F120FF3D39}">
                <a1611:picAttrSrcUrl xmlns:a1611="http://schemas.microsoft.com/office/drawing/2016/11/main" r:id="rId14"/>
              </a:ext>
            </a:extLst>
          </a:blip>
          <a:stretch>
            <a:fillRect/>
          </a:stretch>
        </p:blipFill>
        <p:spPr>
          <a:xfrm>
            <a:off x="7014186" y="3990975"/>
            <a:ext cx="1303703" cy="863600"/>
          </a:xfrm>
        </p:spPr>
      </p:pic>
      <p:pic>
        <p:nvPicPr>
          <p:cNvPr id="38" name="Espace réservé de l'image en ligne 37" descr="Une image contenant mur, personne, intérieur&#10;&#10;Description générée automatiquement">
            <a:extLst>
              <a:ext uri="{FF2B5EF4-FFF2-40B4-BE49-F238E27FC236}">
                <a16:creationId xmlns:a16="http://schemas.microsoft.com/office/drawing/2014/main" id="{4C72D354-06F4-E9F0-2102-F393494FFB84}"/>
              </a:ext>
            </a:extLst>
          </p:cNvPr>
          <p:cNvPicPr>
            <a:picLocks noGrp="1" noChangeAspect="1"/>
          </p:cNvPicPr>
          <p:nvPr>
            <p:ph type="clipArt" sz="quarter" idx="37"/>
          </p:nvPr>
        </p:nvPicPr>
        <p:blipFill>
          <a:blip r:embed="rId15" cstate="print">
            <a:extLst>
              <a:ext uri="{28A0092B-C50C-407E-A947-70E740481C1C}">
                <a14:useLocalDpi xmlns:a14="http://schemas.microsoft.com/office/drawing/2010/main"/>
              </a:ext>
              <a:ext uri="{837473B0-CC2E-450A-ABE3-18F120FF3D39}">
                <a1611:picAttrSrcUrl xmlns:a1611="http://schemas.microsoft.com/office/drawing/2016/11/main" r:id="rId16"/>
              </a:ext>
            </a:extLst>
          </a:blip>
          <a:stretch>
            <a:fillRect/>
          </a:stretch>
        </p:blipFill>
        <p:spPr>
          <a:xfrm>
            <a:off x="10044429" y="3990975"/>
            <a:ext cx="1294767" cy="863600"/>
          </a:xfrm>
        </p:spPr>
      </p:pic>
    </p:spTree>
    <p:extLst>
      <p:ext uri="{BB962C8B-B14F-4D97-AF65-F5344CB8AC3E}">
        <p14:creationId xmlns:p14="http://schemas.microsoft.com/office/powerpoint/2010/main" val="4091478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61B479C-AE82-3D1D-AD1A-DFA2676F2FA9}"/>
              </a:ext>
            </a:extLst>
          </p:cNvPr>
          <p:cNvSpPr>
            <a:spLocks noGrp="1"/>
          </p:cNvSpPr>
          <p:nvPr>
            <p:ph type="body" sz="quarter" idx="10"/>
          </p:nvPr>
        </p:nvSpPr>
        <p:spPr/>
        <p:txBody>
          <a:bodyPr>
            <a:normAutofit lnSpcReduction="10000"/>
          </a:bodyPr>
          <a:lstStyle/>
          <a:p>
            <a:r>
              <a:rPr lang="fr-FR" dirty="0"/>
              <a:t>Cela fait plusieurs jours que vous vous dépensez beaucoup physiquement et que vous tirez sur la corde. Vous n’avez pas pris le temps de manger, avez mal dormi, et êtes très faible physiquement.</a:t>
            </a:r>
          </a:p>
        </p:txBody>
      </p:sp>
      <p:sp>
        <p:nvSpPr>
          <p:cNvPr id="3" name="Espace réservé du texte 2">
            <a:extLst>
              <a:ext uri="{FF2B5EF4-FFF2-40B4-BE49-F238E27FC236}">
                <a16:creationId xmlns:a16="http://schemas.microsoft.com/office/drawing/2014/main" id="{2159BF4F-923D-BFCB-A5D7-93722AC399E7}"/>
              </a:ext>
            </a:extLst>
          </p:cNvPr>
          <p:cNvSpPr>
            <a:spLocks noGrp="1"/>
          </p:cNvSpPr>
          <p:nvPr>
            <p:ph type="body" sz="quarter" idx="11"/>
          </p:nvPr>
        </p:nvSpPr>
        <p:spPr/>
        <p:txBody>
          <a:bodyPr>
            <a:normAutofit lnSpcReduction="10000"/>
          </a:bodyPr>
          <a:lstStyle/>
          <a:p>
            <a:r>
              <a:rPr lang="fr-FR" dirty="0"/>
              <a:t>Vous avez beaucoup bu, et cela s’ajoute à votre fatigue, et à vos préoccupations actuelles. Parfois vous déconnectez, et oubliez totalement où vous êtes, ce que vous faites, et le contexte autour de vous.</a:t>
            </a:r>
          </a:p>
        </p:txBody>
      </p:sp>
      <p:sp>
        <p:nvSpPr>
          <p:cNvPr id="4" name="Espace réservé du texte 3">
            <a:extLst>
              <a:ext uri="{FF2B5EF4-FFF2-40B4-BE49-F238E27FC236}">
                <a16:creationId xmlns:a16="http://schemas.microsoft.com/office/drawing/2014/main" id="{5883EC34-232A-0F06-DB4B-A0FA154508A6}"/>
              </a:ext>
            </a:extLst>
          </p:cNvPr>
          <p:cNvSpPr>
            <a:spLocks noGrp="1"/>
          </p:cNvSpPr>
          <p:nvPr>
            <p:ph type="body" sz="quarter" idx="12"/>
          </p:nvPr>
        </p:nvSpPr>
        <p:spPr/>
        <p:txBody>
          <a:bodyPr/>
          <a:lstStyle/>
          <a:p>
            <a:endParaRPr lang="fr-FR"/>
          </a:p>
        </p:txBody>
      </p:sp>
      <p:sp>
        <p:nvSpPr>
          <p:cNvPr id="5" name="Espace réservé du texte 4">
            <a:extLst>
              <a:ext uri="{FF2B5EF4-FFF2-40B4-BE49-F238E27FC236}">
                <a16:creationId xmlns:a16="http://schemas.microsoft.com/office/drawing/2014/main" id="{995C3342-F877-1DED-85FB-374F9F3E6573}"/>
              </a:ext>
            </a:extLst>
          </p:cNvPr>
          <p:cNvSpPr>
            <a:spLocks noGrp="1"/>
          </p:cNvSpPr>
          <p:nvPr>
            <p:ph type="body" sz="quarter" idx="13"/>
          </p:nvPr>
        </p:nvSpPr>
        <p:spPr/>
        <p:txBody>
          <a:bodyPr/>
          <a:lstStyle/>
          <a:p>
            <a:endParaRPr lang="fr-FR"/>
          </a:p>
        </p:txBody>
      </p:sp>
      <p:sp>
        <p:nvSpPr>
          <p:cNvPr id="6" name="Espace réservé du texte 5">
            <a:extLst>
              <a:ext uri="{FF2B5EF4-FFF2-40B4-BE49-F238E27FC236}">
                <a16:creationId xmlns:a16="http://schemas.microsoft.com/office/drawing/2014/main" id="{AE7C029B-EDDF-BC72-8825-4675CD9B8D6B}"/>
              </a:ext>
            </a:extLst>
          </p:cNvPr>
          <p:cNvSpPr>
            <a:spLocks noGrp="1"/>
          </p:cNvSpPr>
          <p:nvPr>
            <p:ph type="body" sz="quarter" idx="18"/>
          </p:nvPr>
        </p:nvSpPr>
        <p:spPr/>
        <p:txBody>
          <a:bodyPr>
            <a:normAutofit fontScale="92500" lnSpcReduction="20000"/>
          </a:bodyPr>
          <a:lstStyle/>
          <a:p>
            <a:r>
              <a:rPr lang="fr-FR" dirty="0"/>
              <a:t>Vous n’avez plus la capacité de soulever des objets (vous pouvez les manipuler si vos poignets/coudes sont posées sur un support ou le sol). Vous devez rester assis et pouvez vous tenir debout qu’au maximum 3 secondes.</a:t>
            </a:r>
          </a:p>
        </p:txBody>
      </p:sp>
      <p:sp>
        <p:nvSpPr>
          <p:cNvPr id="7" name="Espace réservé du texte 6">
            <a:extLst>
              <a:ext uri="{FF2B5EF4-FFF2-40B4-BE49-F238E27FC236}">
                <a16:creationId xmlns:a16="http://schemas.microsoft.com/office/drawing/2014/main" id="{276D5DA5-9A16-2466-5892-5554E5747D65}"/>
              </a:ext>
            </a:extLst>
          </p:cNvPr>
          <p:cNvSpPr>
            <a:spLocks noGrp="1"/>
          </p:cNvSpPr>
          <p:nvPr>
            <p:ph type="body" sz="quarter" idx="19"/>
          </p:nvPr>
        </p:nvSpPr>
        <p:spPr/>
        <p:txBody>
          <a:bodyPr>
            <a:normAutofit fontScale="92500" lnSpcReduction="20000"/>
          </a:bodyPr>
          <a:lstStyle/>
          <a:p>
            <a:r>
              <a:rPr lang="fr-FR" dirty="0"/>
              <a:t>Toutes les 2 minutes, faites comme si vous veniez d’oublier tout ce qui vient de se dire (sauf cette même carte). N’hésitez pas à poser des questions pour comprendre de nouveau ce qui se passe.</a:t>
            </a:r>
          </a:p>
        </p:txBody>
      </p:sp>
      <p:sp>
        <p:nvSpPr>
          <p:cNvPr id="8" name="Espace réservé du texte 7">
            <a:extLst>
              <a:ext uri="{FF2B5EF4-FFF2-40B4-BE49-F238E27FC236}">
                <a16:creationId xmlns:a16="http://schemas.microsoft.com/office/drawing/2014/main" id="{1CAD068D-F0D5-92E9-7348-AD56DC236A0A}"/>
              </a:ext>
            </a:extLst>
          </p:cNvPr>
          <p:cNvSpPr>
            <a:spLocks noGrp="1"/>
          </p:cNvSpPr>
          <p:nvPr>
            <p:ph type="body" sz="quarter" idx="20"/>
          </p:nvPr>
        </p:nvSpPr>
        <p:spPr/>
        <p:txBody>
          <a:bodyPr/>
          <a:lstStyle/>
          <a:p>
            <a:endParaRPr lang="fr-FR"/>
          </a:p>
        </p:txBody>
      </p:sp>
      <p:sp>
        <p:nvSpPr>
          <p:cNvPr id="9" name="Espace réservé du texte 8">
            <a:extLst>
              <a:ext uri="{FF2B5EF4-FFF2-40B4-BE49-F238E27FC236}">
                <a16:creationId xmlns:a16="http://schemas.microsoft.com/office/drawing/2014/main" id="{DD7CBBB6-1A5D-F127-7514-7FDEC501FDB1}"/>
              </a:ext>
            </a:extLst>
          </p:cNvPr>
          <p:cNvSpPr>
            <a:spLocks noGrp="1"/>
          </p:cNvSpPr>
          <p:nvPr>
            <p:ph type="body" sz="quarter" idx="21"/>
          </p:nvPr>
        </p:nvSpPr>
        <p:spPr/>
        <p:txBody>
          <a:bodyPr/>
          <a:lstStyle/>
          <a:p>
            <a:endParaRPr lang="fr-FR"/>
          </a:p>
        </p:txBody>
      </p:sp>
      <p:sp>
        <p:nvSpPr>
          <p:cNvPr id="10" name="Espace réservé du texte 9">
            <a:extLst>
              <a:ext uri="{FF2B5EF4-FFF2-40B4-BE49-F238E27FC236}">
                <a16:creationId xmlns:a16="http://schemas.microsoft.com/office/drawing/2014/main" id="{DBA68B33-297F-62B8-8F2A-4644CB147244}"/>
              </a:ext>
            </a:extLst>
          </p:cNvPr>
          <p:cNvSpPr>
            <a:spLocks noGrp="1"/>
          </p:cNvSpPr>
          <p:nvPr>
            <p:ph type="body" sz="quarter" idx="22"/>
          </p:nvPr>
        </p:nvSpPr>
        <p:spPr/>
        <p:txBody>
          <a:bodyPr/>
          <a:lstStyle/>
          <a:p>
            <a:endParaRPr lang="fr-FR"/>
          </a:p>
        </p:txBody>
      </p:sp>
      <p:sp>
        <p:nvSpPr>
          <p:cNvPr id="11" name="Espace réservé du texte 10">
            <a:extLst>
              <a:ext uri="{FF2B5EF4-FFF2-40B4-BE49-F238E27FC236}">
                <a16:creationId xmlns:a16="http://schemas.microsoft.com/office/drawing/2014/main" id="{DEC62F2D-F9E9-D2B2-9FC0-9B1840CBE2E3}"/>
              </a:ext>
            </a:extLst>
          </p:cNvPr>
          <p:cNvSpPr>
            <a:spLocks noGrp="1"/>
          </p:cNvSpPr>
          <p:nvPr>
            <p:ph type="body" sz="quarter" idx="23"/>
          </p:nvPr>
        </p:nvSpPr>
        <p:spPr/>
        <p:txBody>
          <a:bodyPr/>
          <a:lstStyle/>
          <a:p>
            <a:endParaRPr lang="fr-FR"/>
          </a:p>
        </p:txBody>
      </p:sp>
      <p:sp>
        <p:nvSpPr>
          <p:cNvPr id="12" name="Espace réservé du texte 11">
            <a:extLst>
              <a:ext uri="{FF2B5EF4-FFF2-40B4-BE49-F238E27FC236}">
                <a16:creationId xmlns:a16="http://schemas.microsoft.com/office/drawing/2014/main" id="{039DCBF1-A293-0590-1AD5-8C6EA8C316DF}"/>
              </a:ext>
            </a:extLst>
          </p:cNvPr>
          <p:cNvSpPr>
            <a:spLocks noGrp="1"/>
          </p:cNvSpPr>
          <p:nvPr>
            <p:ph type="body" sz="quarter" idx="24"/>
          </p:nvPr>
        </p:nvSpPr>
        <p:spPr/>
        <p:txBody>
          <a:bodyPr/>
          <a:lstStyle/>
          <a:p>
            <a:endParaRPr lang="fr-FR"/>
          </a:p>
        </p:txBody>
      </p:sp>
      <p:sp>
        <p:nvSpPr>
          <p:cNvPr id="13" name="Espace réservé du texte 12">
            <a:extLst>
              <a:ext uri="{FF2B5EF4-FFF2-40B4-BE49-F238E27FC236}">
                <a16:creationId xmlns:a16="http://schemas.microsoft.com/office/drawing/2014/main" id="{5F8EE20C-484E-0061-8FD4-6BD5BBFE8D19}"/>
              </a:ext>
            </a:extLst>
          </p:cNvPr>
          <p:cNvSpPr>
            <a:spLocks noGrp="1"/>
          </p:cNvSpPr>
          <p:nvPr>
            <p:ph type="body" sz="quarter" idx="25"/>
          </p:nvPr>
        </p:nvSpPr>
        <p:spPr/>
        <p:txBody>
          <a:bodyPr/>
          <a:lstStyle/>
          <a:p>
            <a:endParaRPr lang="fr-FR"/>
          </a:p>
        </p:txBody>
      </p:sp>
      <p:sp>
        <p:nvSpPr>
          <p:cNvPr id="14" name="Espace réservé du texte 13">
            <a:extLst>
              <a:ext uri="{FF2B5EF4-FFF2-40B4-BE49-F238E27FC236}">
                <a16:creationId xmlns:a16="http://schemas.microsoft.com/office/drawing/2014/main" id="{53B035E0-CDB6-2C31-03A6-7EAFC4E270A1}"/>
              </a:ext>
            </a:extLst>
          </p:cNvPr>
          <p:cNvSpPr>
            <a:spLocks noGrp="1"/>
          </p:cNvSpPr>
          <p:nvPr>
            <p:ph type="body" sz="quarter" idx="26"/>
          </p:nvPr>
        </p:nvSpPr>
        <p:spPr/>
        <p:txBody>
          <a:bodyPr/>
          <a:lstStyle/>
          <a:p>
            <a:endParaRPr lang="fr-FR"/>
          </a:p>
        </p:txBody>
      </p:sp>
      <p:sp>
        <p:nvSpPr>
          <p:cNvPr id="15" name="Espace réservé du texte 14">
            <a:extLst>
              <a:ext uri="{FF2B5EF4-FFF2-40B4-BE49-F238E27FC236}">
                <a16:creationId xmlns:a16="http://schemas.microsoft.com/office/drawing/2014/main" id="{52E45D12-BD8F-826F-5009-C2C338B80571}"/>
              </a:ext>
            </a:extLst>
          </p:cNvPr>
          <p:cNvSpPr>
            <a:spLocks noGrp="1"/>
          </p:cNvSpPr>
          <p:nvPr>
            <p:ph type="body" sz="quarter" idx="27"/>
          </p:nvPr>
        </p:nvSpPr>
        <p:spPr/>
        <p:txBody>
          <a:bodyPr/>
          <a:lstStyle/>
          <a:p>
            <a:endParaRPr lang="fr-FR"/>
          </a:p>
        </p:txBody>
      </p:sp>
      <p:sp>
        <p:nvSpPr>
          <p:cNvPr id="16" name="Espace réservé du texte 15">
            <a:extLst>
              <a:ext uri="{FF2B5EF4-FFF2-40B4-BE49-F238E27FC236}">
                <a16:creationId xmlns:a16="http://schemas.microsoft.com/office/drawing/2014/main" id="{94D9CC7F-B6B9-894B-3B92-D0D22342A371}"/>
              </a:ext>
            </a:extLst>
          </p:cNvPr>
          <p:cNvSpPr>
            <a:spLocks noGrp="1"/>
          </p:cNvSpPr>
          <p:nvPr>
            <p:ph type="body" sz="quarter" idx="28"/>
          </p:nvPr>
        </p:nvSpPr>
        <p:spPr/>
        <p:txBody>
          <a:bodyPr/>
          <a:lstStyle/>
          <a:p>
            <a:endParaRPr lang="fr-FR"/>
          </a:p>
        </p:txBody>
      </p:sp>
      <p:sp>
        <p:nvSpPr>
          <p:cNvPr id="17" name="Espace réservé du texte 16">
            <a:extLst>
              <a:ext uri="{FF2B5EF4-FFF2-40B4-BE49-F238E27FC236}">
                <a16:creationId xmlns:a16="http://schemas.microsoft.com/office/drawing/2014/main" id="{5117CA6F-BCED-5125-B947-CA26557A4911}"/>
              </a:ext>
            </a:extLst>
          </p:cNvPr>
          <p:cNvSpPr>
            <a:spLocks noGrp="1"/>
          </p:cNvSpPr>
          <p:nvPr>
            <p:ph type="body" sz="quarter" idx="29"/>
          </p:nvPr>
        </p:nvSpPr>
        <p:spPr/>
        <p:txBody>
          <a:bodyPr/>
          <a:lstStyle/>
          <a:p>
            <a:endParaRPr lang="fr-FR"/>
          </a:p>
        </p:txBody>
      </p:sp>
      <p:pic>
        <p:nvPicPr>
          <p:cNvPr id="27" name="Espace réservé de l'image en ligne 26" descr="Une image contenant texte, clipart&#10;&#10;Description générée automatiquement">
            <a:extLst>
              <a:ext uri="{FF2B5EF4-FFF2-40B4-BE49-F238E27FC236}">
                <a16:creationId xmlns:a16="http://schemas.microsoft.com/office/drawing/2014/main" id="{1B76D22D-1814-7FCD-ABC8-5CA514225AB4}"/>
              </a:ext>
            </a:extLst>
          </p:cNvPr>
          <p:cNvPicPr>
            <a:picLocks noGrp="1" noChangeAspect="1"/>
          </p:cNvPicPr>
          <p:nvPr>
            <p:ph type="clipArt" sz="quarter" idx="30"/>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917468" y="541338"/>
            <a:ext cx="1174965" cy="863600"/>
          </a:xfrm>
        </p:spPr>
      </p:pic>
      <p:pic>
        <p:nvPicPr>
          <p:cNvPr id="30" name="Espace réservé de l'image en ligne 29">
            <a:extLst>
              <a:ext uri="{FF2B5EF4-FFF2-40B4-BE49-F238E27FC236}">
                <a16:creationId xmlns:a16="http://schemas.microsoft.com/office/drawing/2014/main" id="{31E218DA-158F-3931-2B90-5AC460A51EDB}"/>
              </a:ext>
            </a:extLst>
          </p:cNvPr>
          <p:cNvPicPr>
            <a:picLocks noGrp="1" noChangeAspect="1"/>
          </p:cNvPicPr>
          <p:nvPr>
            <p:ph type="clipArt" sz="quarter" idx="31"/>
          </p:nvPr>
        </p:nvPicPr>
        <p:blipFill>
          <a:blip r:embed="rId4" cstate="print">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843927" y="541338"/>
            <a:ext cx="1440271" cy="863600"/>
          </a:xfrm>
        </p:spPr>
      </p:pic>
      <p:sp>
        <p:nvSpPr>
          <p:cNvPr id="20" name="Espace réservé de l'image en ligne 19">
            <a:extLst>
              <a:ext uri="{FF2B5EF4-FFF2-40B4-BE49-F238E27FC236}">
                <a16:creationId xmlns:a16="http://schemas.microsoft.com/office/drawing/2014/main" id="{AF682234-F542-830D-9F51-44AD7A963998}"/>
              </a:ext>
            </a:extLst>
          </p:cNvPr>
          <p:cNvSpPr>
            <a:spLocks noGrp="1"/>
          </p:cNvSpPr>
          <p:nvPr>
            <p:ph type="clipArt" sz="quarter" idx="32"/>
          </p:nvPr>
        </p:nvSpPr>
        <p:spPr/>
        <p:txBody>
          <a:bodyPr/>
          <a:lstStyle/>
          <a:p>
            <a:endParaRPr lang="en-US"/>
          </a:p>
        </p:txBody>
      </p:sp>
      <p:sp>
        <p:nvSpPr>
          <p:cNvPr id="21" name="Espace réservé de l'image en ligne 20">
            <a:extLst>
              <a:ext uri="{FF2B5EF4-FFF2-40B4-BE49-F238E27FC236}">
                <a16:creationId xmlns:a16="http://schemas.microsoft.com/office/drawing/2014/main" id="{7C997B30-FFBB-E2A8-6B70-04A94493C4F1}"/>
              </a:ext>
            </a:extLst>
          </p:cNvPr>
          <p:cNvSpPr>
            <a:spLocks noGrp="1"/>
          </p:cNvSpPr>
          <p:nvPr>
            <p:ph type="clipArt" sz="quarter" idx="33"/>
          </p:nvPr>
        </p:nvSpPr>
        <p:spPr/>
        <p:txBody>
          <a:bodyPr/>
          <a:lstStyle/>
          <a:p>
            <a:endParaRPr lang="en-US"/>
          </a:p>
        </p:txBody>
      </p:sp>
      <p:sp>
        <p:nvSpPr>
          <p:cNvPr id="22" name="Espace réservé de l'image en ligne 21">
            <a:extLst>
              <a:ext uri="{FF2B5EF4-FFF2-40B4-BE49-F238E27FC236}">
                <a16:creationId xmlns:a16="http://schemas.microsoft.com/office/drawing/2014/main" id="{6316828C-C17F-B8BB-AEA2-86A58817657B}"/>
              </a:ext>
            </a:extLst>
          </p:cNvPr>
          <p:cNvSpPr>
            <a:spLocks noGrp="1"/>
          </p:cNvSpPr>
          <p:nvPr>
            <p:ph type="clipArt" sz="quarter" idx="34"/>
          </p:nvPr>
        </p:nvSpPr>
        <p:spPr/>
        <p:txBody>
          <a:bodyPr/>
          <a:lstStyle/>
          <a:p>
            <a:endParaRPr lang="en-US"/>
          </a:p>
        </p:txBody>
      </p:sp>
      <p:sp>
        <p:nvSpPr>
          <p:cNvPr id="23" name="Espace réservé de l'image en ligne 22">
            <a:extLst>
              <a:ext uri="{FF2B5EF4-FFF2-40B4-BE49-F238E27FC236}">
                <a16:creationId xmlns:a16="http://schemas.microsoft.com/office/drawing/2014/main" id="{593D94E9-2DA8-D683-21C7-47EA94A8CD17}"/>
              </a:ext>
            </a:extLst>
          </p:cNvPr>
          <p:cNvSpPr>
            <a:spLocks noGrp="1"/>
          </p:cNvSpPr>
          <p:nvPr>
            <p:ph type="clipArt" sz="quarter" idx="35"/>
          </p:nvPr>
        </p:nvSpPr>
        <p:spPr/>
        <p:txBody>
          <a:bodyPr/>
          <a:lstStyle/>
          <a:p>
            <a:endParaRPr lang="en-US"/>
          </a:p>
        </p:txBody>
      </p:sp>
      <p:sp>
        <p:nvSpPr>
          <p:cNvPr id="24" name="Espace réservé de l'image en ligne 23">
            <a:extLst>
              <a:ext uri="{FF2B5EF4-FFF2-40B4-BE49-F238E27FC236}">
                <a16:creationId xmlns:a16="http://schemas.microsoft.com/office/drawing/2014/main" id="{CC3C46C2-D3DF-4AC9-C2E8-CC67545F8FAC}"/>
              </a:ext>
            </a:extLst>
          </p:cNvPr>
          <p:cNvSpPr>
            <a:spLocks noGrp="1"/>
          </p:cNvSpPr>
          <p:nvPr>
            <p:ph type="clipArt" sz="quarter" idx="36"/>
          </p:nvPr>
        </p:nvSpPr>
        <p:spPr/>
        <p:txBody>
          <a:bodyPr/>
          <a:lstStyle/>
          <a:p>
            <a:endParaRPr lang="en-US"/>
          </a:p>
        </p:txBody>
      </p:sp>
      <p:sp>
        <p:nvSpPr>
          <p:cNvPr id="25" name="Espace réservé de l'image en ligne 24">
            <a:extLst>
              <a:ext uri="{FF2B5EF4-FFF2-40B4-BE49-F238E27FC236}">
                <a16:creationId xmlns:a16="http://schemas.microsoft.com/office/drawing/2014/main" id="{05734370-F732-1899-D78C-0867DE47C71C}"/>
              </a:ext>
            </a:extLst>
          </p:cNvPr>
          <p:cNvSpPr>
            <a:spLocks noGrp="1"/>
          </p:cNvSpPr>
          <p:nvPr>
            <p:ph type="clipArt" sz="quarter" idx="37"/>
          </p:nvPr>
        </p:nvSpPr>
        <p:spPr/>
        <p:txBody>
          <a:bodyPr/>
          <a:lstStyle/>
          <a:p>
            <a:endParaRPr lang="en-US"/>
          </a:p>
        </p:txBody>
      </p:sp>
    </p:spTree>
    <p:extLst>
      <p:ext uri="{BB962C8B-B14F-4D97-AF65-F5344CB8AC3E}">
        <p14:creationId xmlns:p14="http://schemas.microsoft.com/office/powerpoint/2010/main" val="3295286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A32D9F-A910-4E61-57F2-23CE1DEDE349}"/>
              </a:ext>
            </a:extLst>
          </p:cNvPr>
          <p:cNvSpPr>
            <a:spLocks noGrp="1"/>
          </p:cNvSpPr>
          <p:nvPr>
            <p:ph type="title"/>
          </p:nvPr>
        </p:nvSpPr>
        <p:spPr/>
        <p:txBody>
          <a:bodyPr/>
          <a:lstStyle/>
          <a:p>
            <a:r>
              <a:rPr lang="fr-FR" dirty="0"/>
              <a:t>Cartes règles du jeu</a:t>
            </a:r>
          </a:p>
        </p:txBody>
      </p:sp>
      <p:sp>
        <p:nvSpPr>
          <p:cNvPr id="3" name="Espace réservé du contenu 2">
            <a:extLst>
              <a:ext uri="{FF2B5EF4-FFF2-40B4-BE49-F238E27FC236}">
                <a16:creationId xmlns:a16="http://schemas.microsoft.com/office/drawing/2014/main" id="{7E79113C-35DF-37AD-F0F5-3D39874E6140}"/>
              </a:ext>
            </a:extLst>
          </p:cNvPr>
          <p:cNvSpPr>
            <a:spLocks noGrp="1"/>
          </p:cNvSpPr>
          <p:nvPr>
            <p:ph idx="1"/>
          </p:nvPr>
        </p:nvSpPr>
        <p:spPr>
          <a:xfrm>
            <a:off x="5575177" y="1825625"/>
            <a:ext cx="4473606" cy="4351338"/>
          </a:xfrm>
        </p:spPr>
        <p:txBody>
          <a:bodyPr>
            <a:normAutofit fontScale="92500" lnSpcReduction="20000"/>
          </a:bodyPr>
          <a:lstStyle/>
          <a:p>
            <a:r>
              <a:rPr lang="fr-FR" dirty="0"/>
              <a:t>A garder dans les mains des animateurs / animatrices et </a:t>
            </a:r>
            <a:r>
              <a:rPr lang="fr-FR" dirty="0" err="1"/>
              <a:t>co</a:t>
            </a:r>
            <a:r>
              <a:rPr lang="fr-FR" dirty="0"/>
              <a:t>-animateurs / </a:t>
            </a:r>
            <a:r>
              <a:rPr lang="fr-FR" dirty="0" err="1"/>
              <a:t>co</a:t>
            </a:r>
            <a:r>
              <a:rPr lang="fr-FR" dirty="0"/>
              <a:t>-animatrices </a:t>
            </a:r>
          </a:p>
          <a:p>
            <a:endParaRPr lang="fr-FR" dirty="0"/>
          </a:p>
          <a:p>
            <a:r>
              <a:rPr lang="fr-FR" dirty="0"/>
              <a:t>Vous pouvez faire des rappels de temps en temps</a:t>
            </a:r>
          </a:p>
          <a:p>
            <a:endParaRPr lang="fr-FR" dirty="0"/>
          </a:p>
          <a:p>
            <a:r>
              <a:rPr lang="fr-FR" sz="2800" dirty="0"/>
              <a:t>Pour créer de nouvelles cartes, ajoutez une slide et choisissez la bonne disposition </a:t>
            </a:r>
          </a:p>
          <a:p>
            <a:endParaRPr lang="fr-FR" dirty="0"/>
          </a:p>
        </p:txBody>
      </p:sp>
      <p:pic>
        <p:nvPicPr>
          <p:cNvPr id="5" name="Image 4">
            <a:extLst>
              <a:ext uri="{FF2B5EF4-FFF2-40B4-BE49-F238E27FC236}">
                <a16:creationId xmlns:a16="http://schemas.microsoft.com/office/drawing/2014/main" id="{505B33B5-399B-833B-374C-1FE6CC4FF722}"/>
              </a:ext>
            </a:extLst>
          </p:cNvPr>
          <p:cNvPicPr>
            <a:picLocks noChangeAspect="1"/>
          </p:cNvPicPr>
          <p:nvPr/>
        </p:nvPicPr>
        <p:blipFill>
          <a:blip r:embed="rId2"/>
          <a:stretch>
            <a:fillRect/>
          </a:stretch>
        </p:blipFill>
        <p:spPr>
          <a:xfrm rot="1681314">
            <a:off x="1753660" y="1921718"/>
            <a:ext cx="3165136" cy="3584051"/>
          </a:xfrm>
          <a:prstGeom prst="rect">
            <a:avLst/>
          </a:prstGeom>
        </p:spPr>
      </p:pic>
      <p:pic>
        <p:nvPicPr>
          <p:cNvPr id="7" name="Image 6">
            <a:extLst>
              <a:ext uri="{FF2B5EF4-FFF2-40B4-BE49-F238E27FC236}">
                <a16:creationId xmlns:a16="http://schemas.microsoft.com/office/drawing/2014/main" id="{4D092B11-FD4C-55CC-BFC5-624A190CC176}"/>
              </a:ext>
            </a:extLst>
          </p:cNvPr>
          <p:cNvPicPr>
            <a:picLocks noChangeAspect="1"/>
          </p:cNvPicPr>
          <p:nvPr/>
        </p:nvPicPr>
        <p:blipFill>
          <a:blip r:embed="rId3"/>
          <a:stretch>
            <a:fillRect/>
          </a:stretch>
        </p:blipFill>
        <p:spPr>
          <a:xfrm rot="873340">
            <a:off x="1444754" y="1894468"/>
            <a:ext cx="3228975" cy="3638550"/>
          </a:xfrm>
          <a:prstGeom prst="rect">
            <a:avLst/>
          </a:prstGeom>
        </p:spPr>
      </p:pic>
      <p:pic>
        <p:nvPicPr>
          <p:cNvPr id="9" name="Image 8">
            <a:extLst>
              <a:ext uri="{FF2B5EF4-FFF2-40B4-BE49-F238E27FC236}">
                <a16:creationId xmlns:a16="http://schemas.microsoft.com/office/drawing/2014/main" id="{D32F1392-9326-D1AB-9D1D-A5374ED5F5C6}"/>
              </a:ext>
            </a:extLst>
          </p:cNvPr>
          <p:cNvPicPr>
            <a:picLocks noChangeAspect="1"/>
          </p:cNvPicPr>
          <p:nvPr/>
        </p:nvPicPr>
        <p:blipFill>
          <a:blip r:embed="rId4"/>
          <a:stretch>
            <a:fillRect/>
          </a:stretch>
        </p:blipFill>
        <p:spPr>
          <a:xfrm>
            <a:off x="1227523" y="2182019"/>
            <a:ext cx="3238500" cy="3638550"/>
          </a:xfrm>
          <a:prstGeom prst="rect">
            <a:avLst/>
          </a:prstGeom>
        </p:spPr>
      </p:pic>
    </p:spTree>
    <p:extLst>
      <p:ext uri="{BB962C8B-B14F-4D97-AF65-F5344CB8AC3E}">
        <p14:creationId xmlns:p14="http://schemas.microsoft.com/office/powerpoint/2010/main" val="2435203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B574F8BD-88C6-5960-D836-C36D75B2CC98}"/>
              </a:ext>
            </a:extLst>
          </p:cNvPr>
          <p:cNvSpPr>
            <a:spLocks noGrp="1"/>
          </p:cNvSpPr>
          <p:nvPr>
            <p:ph type="body" sz="quarter" idx="10"/>
          </p:nvPr>
        </p:nvSpPr>
        <p:spPr/>
        <p:txBody>
          <a:bodyPr>
            <a:normAutofit/>
          </a:bodyPr>
          <a:lstStyle/>
          <a:p>
            <a:r>
              <a:rPr lang="fr-FR" sz="1200" b="1" dirty="0"/>
              <a:t>Résumé du déroulement global</a:t>
            </a:r>
          </a:p>
          <a:p>
            <a:r>
              <a:rPr lang="fr-FR" sz="1200" dirty="0"/>
              <a:t>4 tours : </a:t>
            </a:r>
          </a:p>
          <a:p>
            <a:r>
              <a:rPr lang="fr-FR" sz="1200" dirty="0"/>
              <a:t>1</a:t>
            </a:r>
            <a:r>
              <a:rPr lang="fr-FR" sz="1200" baseline="30000" dirty="0"/>
              <a:t>er</a:t>
            </a:r>
            <a:r>
              <a:rPr lang="fr-FR" sz="1200" dirty="0"/>
              <a:t> tour à 4 joueurs</a:t>
            </a:r>
          </a:p>
          <a:p>
            <a:r>
              <a:rPr lang="fr-FR" sz="1200" dirty="0"/>
              <a:t>2</a:t>
            </a:r>
            <a:r>
              <a:rPr lang="fr-FR" sz="1200" baseline="30000" dirty="0"/>
              <a:t>e</a:t>
            </a:r>
            <a:r>
              <a:rPr lang="fr-FR" sz="1200" dirty="0"/>
              <a:t> tour à 3 joueurs</a:t>
            </a:r>
          </a:p>
          <a:p>
            <a:r>
              <a:rPr lang="fr-FR" sz="1200" dirty="0"/>
              <a:t>3</a:t>
            </a:r>
            <a:r>
              <a:rPr lang="fr-FR" sz="1200" baseline="30000" dirty="0"/>
              <a:t>e</a:t>
            </a:r>
            <a:r>
              <a:rPr lang="fr-FR" sz="1200" dirty="0"/>
              <a:t> tour à 2 joueurs</a:t>
            </a:r>
          </a:p>
          <a:p>
            <a:r>
              <a:rPr lang="fr-FR" sz="1200" dirty="0"/>
              <a:t>4</a:t>
            </a:r>
            <a:r>
              <a:rPr lang="fr-FR" sz="1200" baseline="30000" dirty="0"/>
              <a:t>e</a:t>
            </a:r>
            <a:r>
              <a:rPr lang="fr-FR" sz="1200" dirty="0"/>
              <a:t> tour seul</a:t>
            </a:r>
          </a:p>
          <a:p>
            <a:r>
              <a:rPr lang="fr-FR" sz="1200" dirty="0"/>
              <a:t>A chaque tour, on pioche un défi et une situation de handicap chacun. On dispose d’un temps limité pour réaliser le défi.</a:t>
            </a:r>
          </a:p>
        </p:txBody>
      </p:sp>
      <p:sp>
        <p:nvSpPr>
          <p:cNvPr id="5" name="Espace réservé du texte 4">
            <a:extLst>
              <a:ext uri="{FF2B5EF4-FFF2-40B4-BE49-F238E27FC236}">
                <a16:creationId xmlns:a16="http://schemas.microsoft.com/office/drawing/2014/main" id="{AFE1867B-FB5F-8381-6445-8A64F3A81CAB}"/>
              </a:ext>
            </a:extLst>
          </p:cNvPr>
          <p:cNvSpPr>
            <a:spLocks noGrp="1"/>
          </p:cNvSpPr>
          <p:nvPr>
            <p:ph type="body" sz="quarter" idx="11"/>
          </p:nvPr>
        </p:nvSpPr>
        <p:spPr/>
        <p:txBody>
          <a:bodyPr>
            <a:normAutofit/>
          </a:bodyPr>
          <a:lstStyle/>
          <a:p>
            <a:r>
              <a:rPr lang="fr-FR" sz="1200" b="1" dirty="0"/>
              <a:t>Difficultés augmentées</a:t>
            </a:r>
          </a:p>
          <a:p>
            <a:r>
              <a:rPr lang="fr-FR" sz="1200" dirty="0"/>
              <a:t>Si vous voulez « corser un peu » voter expérience de Handi Situations, voici plusieurs idées (à décider en amont avec vos co-équipiers)</a:t>
            </a:r>
          </a:p>
          <a:p>
            <a:pPr marL="171450" indent="-171450" algn="l">
              <a:buFont typeface="Arial" panose="020B0604020202020204" pitchFamily="34" charset="0"/>
              <a:buChar char="•"/>
            </a:pPr>
            <a:r>
              <a:rPr lang="fr-FR" sz="1200" dirty="0"/>
              <a:t>Ne pas révéler votre situation de handicap entre co-équipiers, à vous de deviner</a:t>
            </a:r>
          </a:p>
          <a:p>
            <a:pPr marL="171450" indent="-171450" algn="l">
              <a:buFont typeface="Arial" panose="020B0604020202020204" pitchFamily="34" charset="0"/>
              <a:buChar char="•"/>
            </a:pPr>
            <a:r>
              <a:rPr lang="fr-FR" sz="1200" dirty="0"/>
              <a:t>Prendre plusieurs cartes de situations</a:t>
            </a:r>
          </a:p>
          <a:p>
            <a:pPr marL="171450" indent="-171450" algn="l">
              <a:buFont typeface="Arial" panose="020B0604020202020204" pitchFamily="34" charset="0"/>
              <a:buChar char="•"/>
            </a:pPr>
            <a:r>
              <a:rPr lang="fr-FR" sz="1200" dirty="0"/>
              <a:t>Prendre plusieurs cartes de défis pour un même tour</a:t>
            </a:r>
          </a:p>
          <a:p>
            <a:endParaRPr lang="fr-FR" sz="1200" b="1" dirty="0"/>
          </a:p>
        </p:txBody>
      </p:sp>
      <p:sp>
        <p:nvSpPr>
          <p:cNvPr id="6" name="Espace réservé du texte 5">
            <a:extLst>
              <a:ext uri="{FF2B5EF4-FFF2-40B4-BE49-F238E27FC236}">
                <a16:creationId xmlns:a16="http://schemas.microsoft.com/office/drawing/2014/main" id="{ADDDD50F-9EB4-AD43-07A1-442EC1683F49}"/>
              </a:ext>
            </a:extLst>
          </p:cNvPr>
          <p:cNvSpPr>
            <a:spLocks noGrp="1"/>
          </p:cNvSpPr>
          <p:nvPr>
            <p:ph type="body" sz="quarter" idx="12"/>
          </p:nvPr>
        </p:nvSpPr>
        <p:spPr/>
        <p:txBody>
          <a:bodyPr>
            <a:normAutofit fontScale="92500" lnSpcReduction="10000"/>
          </a:bodyPr>
          <a:lstStyle/>
          <a:p>
            <a:r>
              <a:rPr lang="fr-FR" sz="1200" b="1" dirty="0"/>
              <a:t>Avertissement 1</a:t>
            </a:r>
          </a:p>
          <a:p>
            <a:r>
              <a:rPr lang="fr-FR" sz="1200" dirty="0"/>
              <a:t>Ne faites rien de dangereux. </a:t>
            </a:r>
          </a:p>
          <a:p>
            <a:r>
              <a:rPr lang="fr-FR" sz="1200" dirty="0"/>
              <a:t>Handi Situations est un jeu d’abord pour vous sensibiliser, pas pour vous faire risquer votre vie !</a:t>
            </a:r>
          </a:p>
          <a:p>
            <a:r>
              <a:rPr lang="fr-FR" sz="1200" dirty="0"/>
              <a:t>Si vous sentez qu’une situation commence à être à risque pour votre intégrité physique ou psychologique, réduisez votre simulation ou arrêtez là.</a:t>
            </a:r>
          </a:p>
          <a:p>
            <a:r>
              <a:rPr lang="fr-FR" sz="1200" dirty="0"/>
              <a:t> De même, si vous sentez qu’une situation commence à être dangereuse pour un autre joueur, invitez le à réduire ou sortir de sa simulation. Restons vigilants collectivement.</a:t>
            </a:r>
          </a:p>
          <a:p>
            <a:endParaRPr lang="fr-FR" sz="1200" dirty="0"/>
          </a:p>
        </p:txBody>
      </p:sp>
      <p:sp>
        <p:nvSpPr>
          <p:cNvPr id="7" name="Espace réservé du texte 6">
            <a:extLst>
              <a:ext uri="{FF2B5EF4-FFF2-40B4-BE49-F238E27FC236}">
                <a16:creationId xmlns:a16="http://schemas.microsoft.com/office/drawing/2014/main" id="{947CBC77-3FFB-36A4-A13B-FB89BB6B23D6}"/>
              </a:ext>
            </a:extLst>
          </p:cNvPr>
          <p:cNvSpPr>
            <a:spLocks noGrp="1"/>
          </p:cNvSpPr>
          <p:nvPr>
            <p:ph type="body" sz="quarter" idx="13"/>
          </p:nvPr>
        </p:nvSpPr>
        <p:spPr/>
        <p:txBody>
          <a:bodyPr>
            <a:normAutofit/>
          </a:bodyPr>
          <a:lstStyle/>
          <a:p>
            <a:r>
              <a:rPr lang="fr-FR" sz="1200" b="1" dirty="0"/>
              <a:t>Droit de s’arrêter même sans danger ?</a:t>
            </a:r>
            <a:endParaRPr lang="fr-FR" sz="1200" dirty="0"/>
          </a:p>
          <a:p>
            <a:r>
              <a:rPr lang="fr-FR" sz="1200" dirty="0"/>
              <a:t>Vous avez le droit d’arrêter votre simulation pour relire votre carte pour vous-même ou la rappeler à vos co-équipiers.</a:t>
            </a:r>
          </a:p>
          <a:p>
            <a:r>
              <a:rPr lang="fr-FR" sz="1200" dirty="0"/>
              <a:t>Si vous n’arrivez pas à atteindre le but de votre défi, cherchez des solutions qui gardent votre simulation active plutôt que de l’abandonner pour réussir. Le but est également de vous faire vivre les difficultés et les potentiels échecs liés aux situations de handicap.</a:t>
            </a:r>
          </a:p>
          <a:p>
            <a:endParaRPr lang="fr-FR" sz="1200" dirty="0"/>
          </a:p>
          <a:p>
            <a:endParaRPr lang="fr-FR" sz="1200" dirty="0"/>
          </a:p>
        </p:txBody>
      </p:sp>
      <p:sp>
        <p:nvSpPr>
          <p:cNvPr id="8" name="Espace réservé du texte 7">
            <a:extLst>
              <a:ext uri="{FF2B5EF4-FFF2-40B4-BE49-F238E27FC236}">
                <a16:creationId xmlns:a16="http://schemas.microsoft.com/office/drawing/2014/main" id="{9941F617-3AC7-735E-F2B6-48AB519DF31A}"/>
              </a:ext>
            </a:extLst>
          </p:cNvPr>
          <p:cNvSpPr>
            <a:spLocks noGrp="1"/>
          </p:cNvSpPr>
          <p:nvPr>
            <p:ph type="body" sz="quarter" idx="14"/>
          </p:nvPr>
        </p:nvSpPr>
        <p:spPr/>
        <p:txBody>
          <a:bodyPr>
            <a:normAutofit lnSpcReduction="10000"/>
          </a:bodyPr>
          <a:lstStyle/>
          <a:p>
            <a:r>
              <a:rPr lang="fr-FR" sz="1200" b="1" dirty="0"/>
              <a:t>A-t-on le droit d’en rire ?</a:t>
            </a:r>
          </a:p>
          <a:p>
            <a:r>
              <a:rPr lang="fr-FR" sz="1200" dirty="0"/>
              <a:t>Les situations sont faites exprès pour vous mettre en difficulté et le fait de les jouer peut vous faire rire car c’est le plaisir du jeu. Rire en conséquences de ses propres difficultés sur le moment ne signifie pas rire des personnes en situation de handicap.</a:t>
            </a:r>
          </a:p>
          <a:p>
            <a:r>
              <a:rPr lang="fr-FR" sz="1200" dirty="0"/>
              <a:t>Nous ne souhaitons ni culpabiliser les joueurs ni bien sûr inviter à la dérision. Ce moment est d’abord un moment d’apprentissage ludique par la mise en situation.</a:t>
            </a:r>
          </a:p>
        </p:txBody>
      </p:sp>
      <p:sp>
        <p:nvSpPr>
          <p:cNvPr id="9" name="Espace réservé du texte 8">
            <a:extLst>
              <a:ext uri="{FF2B5EF4-FFF2-40B4-BE49-F238E27FC236}">
                <a16:creationId xmlns:a16="http://schemas.microsoft.com/office/drawing/2014/main" id="{FF35BBC1-6501-4790-F9C9-2F27CC935DF0}"/>
              </a:ext>
            </a:extLst>
          </p:cNvPr>
          <p:cNvSpPr>
            <a:spLocks noGrp="1"/>
          </p:cNvSpPr>
          <p:nvPr>
            <p:ph type="body" sz="quarter" idx="15"/>
          </p:nvPr>
        </p:nvSpPr>
        <p:spPr/>
        <p:txBody>
          <a:bodyPr>
            <a:noAutofit/>
          </a:bodyPr>
          <a:lstStyle/>
          <a:p>
            <a:r>
              <a:rPr lang="fr-FR" sz="1200" b="1" dirty="0"/>
              <a:t>Je me sens mal à l’aise de jouer</a:t>
            </a:r>
            <a:endParaRPr lang="fr-FR" sz="1200" dirty="0"/>
          </a:p>
          <a:p>
            <a:r>
              <a:rPr lang="fr-FR" sz="1200" dirty="0"/>
              <a:t>Si vous mettre à simuler une situation vous met dans une certaine forme d’inconfort, et que vous préférez vous mettre dans une position d’observation, c’est possible. </a:t>
            </a:r>
          </a:p>
          <a:p>
            <a:r>
              <a:rPr lang="fr-FR" sz="1200" dirty="0"/>
              <a:t>Demandez à l’animateur une grille d’observation</a:t>
            </a:r>
          </a:p>
          <a:p>
            <a:endParaRPr lang="fr-FR" sz="1200" dirty="0"/>
          </a:p>
        </p:txBody>
      </p:sp>
      <p:sp>
        <p:nvSpPr>
          <p:cNvPr id="10" name="Espace réservé du texte 9">
            <a:extLst>
              <a:ext uri="{FF2B5EF4-FFF2-40B4-BE49-F238E27FC236}">
                <a16:creationId xmlns:a16="http://schemas.microsoft.com/office/drawing/2014/main" id="{7B178EB1-7658-75B6-6755-BB155708BD92}"/>
              </a:ext>
            </a:extLst>
          </p:cNvPr>
          <p:cNvSpPr>
            <a:spLocks noGrp="1"/>
          </p:cNvSpPr>
          <p:nvPr>
            <p:ph type="body" sz="quarter" idx="16"/>
          </p:nvPr>
        </p:nvSpPr>
        <p:spPr/>
        <p:txBody>
          <a:bodyPr>
            <a:normAutofit/>
          </a:bodyPr>
          <a:lstStyle/>
          <a:p>
            <a:r>
              <a:rPr lang="fr-FR" sz="1200" b="1" dirty="0"/>
              <a:t>Que fait-on si on a fini l’épreuve en avance ?</a:t>
            </a:r>
          </a:p>
          <a:p>
            <a:r>
              <a:rPr lang="fr-FR" sz="1200" dirty="0"/>
              <a:t>Vous pouvez revenir à l’endroit où on vous a expliqué le jeu et discuter avec votre équipe de comment vous venez de vivre ce tour (facile, difficile, pourquoi, etc.) en attendant le tour suivant.</a:t>
            </a:r>
          </a:p>
        </p:txBody>
      </p:sp>
      <p:sp>
        <p:nvSpPr>
          <p:cNvPr id="11" name="Espace réservé du texte 10">
            <a:extLst>
              <a:ext uri="{FF2B5EF4-FFF2-40B4-BE49-F238E27FC236}">
                <a16:creationId xmlns:a16="http://schemas.microsoft.com/office/drawing/2014/main" id="{C09B87DF-0ACA-A686-4FE3-90AAD3E20257}"/>
              </a:ext>
            </a:extLst>
          </p:cNvPr>
          <p:cNvSpPr>
            <a:spLocks noGrp="1"/>
          </p:cNvSpPr>
          <p:nvPr>
            <p:ph type="body" sz="quarter" idx="17"/>
          </p:nvPr>
        </p:nvSpPr>
        <p:spPr/>
        <p:txBody>
          <a:bodyPr>
            <a:normAutofit/>
          </a:bodyPr>
          <a:lstStyle/>
          <a:p>
            <a:r>
              <a:rPr lang="fr-FR" sz="1200" b="1" dirty="0"/>
              <a:t>Autres points sur l’état d’esprit du jeu</a:t>
            </a:r>
          </a:p>
          <a:p>
            <a:r>
              <a:rPr lang="fr-FR" sz="1200" dirty="0"/>
              <a:t>Tolérant et ouvert : nous ne sommes ni là pour la dérision, ni pour le jugement ou l’exclusion</a:t>
            </a:r>
          </a:p>
          <a:p>
            <a:r>
              <a:rPr lang="fr-FR" sz="1200" dirty="0"/>
              <a:t>Pour l’apprentissage : nous voulons apprendre</a:t>
            </a:r>
          </a:p>
          <a:p>
            <a:r>
              <a:rPr lang="fr-FR" sz="1200" dirty="0"/>
              <a:t>Amusant : nous comprenons que le jeu est un plaisir, et nous nous autorisons à prendre du plaisir</a:t>
            </a:r>
          </a:p>
          <a:p>
            <a:r>
              <a:rPr lang="fr-FR" sz="1200" dirty="0"/>
              <a:t>Honnêteté : nous sommes honnêtes les uns envers les autres</a:t>
            </a:r>
          </a:p>
        </p:txBody>
      </p:sp>
    </p:spTree>
    <p:extLst>
      <p:ext uri="{BB962C8B-B14F-4D97-AF65-F5344CB8AC3E}">
        <p14:creationId xmlns:p14="http://schemas.microsoft.com/office/powerpoint/2010/main" val="294182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D8F616-D534-54F1-C8E2-E6E53B912D14}"/>
              </a:ext>
            </a:extLst>
          </p:cNvPr>
          <p:cNvSpPr>
            <a:spLocks noGrp="1"/>
          </p:cNvSpPr>
          <p:nvPr>
            <p:ph type="title"/>
          </p:nvPr>
        </p:nvSpPr>
        <p:spPr/>
        <p:txBody>
          <a:bodyPr/>
          <a:lstStyle/>
          <a:p>
            <a:r>
              <a:rPr lang="fr-FR" dirty="0"/>
              <a:t>Cartes de Debriefing</a:t>
            </a:r>
          </a:p>
        </p:txBody>
      </p:sp>
      <p:sp>
        <p:nvSpPr>
          <p:cNvPr id="3" name="Espace réservé du contenu 2">
            <a:extLst>
              <a:ext uri="{FF2B5EF4-FFF2-40B4-BE49-F238E27FC236}">
                <a16:creationId xmlns:a16="http://schemas.microsoft.com/office/drawing/2014/main" id="{475EFA0A-5A4D-183E-74FD-DB169255E818}"/>
              </a:ext>
            </a:extLst>
          </p:cNvPr>
          <p:cNvSpPr>
            <a:spLocks noGrp="1"/>
          </p:cNvSpPr>
          <p:nvPr>
            <p:ph idx="1"/>
          </p:nvPr>
        </p:nvSpPr>
        <p:spPr>
          <a:xfrm>
            <a:off x="4918228" y="1774577"/>
            <a:ext cx="4810957" cy="4351338"/>
          </a:xfrm>
        </p:spPr>
        <p:txBody>
          <a:bodyPr>
            <a:normAutofit fontScale="70000" lnSpcReduction="20000"/>
          </a:bodyPr>
          <a:lstStyle/>
          <a:p>
            <a:r>
              <a:rPr lang="fr-FR" sz="1800" dirty="0"/>
              <a:t>Le Debriefing de Handi Situations est organisé de manière à pouvoir passer à la grande échelle. Il est donc fait en </a:t>
            </a:r>
            <a:r>
              <a:rPr lang="fr-FR" sz="1800" b="1" dirty="0">
                <a:solidFill>
                  <a:srgbClr val="ED7D31"/>
                </a:solidFill>
              </a:rPr>
              <a:t>petits groupes </a:t>
            </a:r>
            <a:r>
              <a:rPr lang="fr-FR" sz="1800" dirty="0"/>
              <a:t>pour que chacun ait plus d’opportunités de s’exprimer avec les autres, plutôt que d’être beaucoup à ne faire qu’écouter (voire qu’entendre) une minorité. </a:t>
            </a:r>
          </a:p>
          <a:p>
            <a:endParaRPr lang="fr-FR" sz="1800" dirty="0"/>
          </a:p>
          <a:p>
            <a:r>
              <a:rPr lang="fr-FR" sz="1800" dirty="0"/>
              <a:t>Le Debriefing de Handi Situations cherche à aider les personnes à se projeter comme actives plutôt que de s’arrêter passivement à écouter des vérités, c’est pour cela qu’il est sous forme de questionnement. </a:t>
            </a:r>
          </a:p>
          <a:p>
            <a:endParaRPr lang="fr-FR" sz="1800" dirty="0"/>
          </a:p>
          <a:p>
            <a:r>
              <a:rPr lang="fr-FR" sz="1800" dirty="0"/>
              <a:t>Le Debriefing de Handi Situations doit pouvoir être effectué par un maximum de personnes, et ne repose donc pas sur une expertise forte des animateurs, mais plutôt sur la pertinence des questions qui sont posées entre participants.</a:t>
            </a:r>
          </a:p>
          <a:p>
            <a:endParaRPr lang="fr-FR" sz="1800" dirty="0"/>
          </a:p>
          <a:p>
            <a:r>
              <a:rPr lang="fr-FR" sz="1800" dirty="0"/>
              <a:t>Pour créer de nouvelles cartes, ajoutez une slide et choisissez la bonne disposition </a:t>
            </a:r>
          </a:p>
          <a:p>
            <a:endParaRPr lang="fr-FR" sz="1800" dirty="0"/>
          </a:p>
          <a:p>
            <a:r>
              <a:rPr lang="fr-FR" sz="1800" dirty="0"/>
              <a:t>Dans les cartes de Debriefing que vous voulez créer, ne cherchez pas à pousser une vérité en particulier, mais à la faire discuter entre joueurs.</a:t>
            </a:r>
          </a:p>
          <a:p>
            <a:endParaRPr lang="fr-FR" sz="1800" dirty="0"/>
          </a:p>
        </p:txBody>
      </p:sp>
      <p:pic>
        <p:nvPicPr>
          <p:cNvPr id="9" name="Image 8" descr="Une image contenant texte&#10;&#10;Description générée automatiquement">
            <a:extLst>
              <a:ext uri="{FF2B5EF4-FFF2-40B4-BE49-F238E27FC236}">
                <a16:creationId xmlns:a16="http://schemas.microsoft.com/office/drawing/2014/main" id="{4C772031-8D24-D964-96DE-689302E50D5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rot="20739768">
            <a:off x="795448" y="1702132"/>
            <a:ext cx="3715648" cy="3755577"/>
          </a:xfrm>
          <a:prstGeom prst="rect">
            <a:avLst/>
          </a:prstGeom>
        </p:spPr>
      </p:pic>
    </p:spTree>
    <p:extLst>
      <p:ext uri="{BB962C8B-B14F-4D97-AF65-F5344CB8AC3E}">
        <p14:creationId xmlns:p14="http://schemas.microsoft.com/office/powerpoint/2010/main" val="771076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5011961E-F20F-146A-CE71-8A2863CC27C5}"/>
              </a:ext>
            </a:extLst>
          </p:cNvPr>
          <p:cNvSpPr>
            <a:spLocks noGrp="1"/>
          </p:cNvSpPr>
          <p:nvPr>
            <p:ph type="body" sz="quarter" idx="10"/>
          </p:nvPr>
        </p:nvSpPr>
        <p:spPr/>
        <p:txBody>
          <a:bodyPr>
            <a:normAutofit/>
          </a:bodyPr>
          <a:lstStyle/>
          <a:p>
            <a:r>
              <a:rPr lang="fr-FR" sz="1400" i="1" dirty="0"/>
              <a:t>« Le Handicap, ça ne touche que les handicapés de naissance ou les accidentés à vie »</a:t>
            </a:r>
          </a:p>
          <a:p>
            <a:r>
              <a:rPr lang="fr-FR" sz="1400" dirty="0"/>
              <a:t>Quel est votre avis sur cette idée ? Est-elle courante selon vous ? Pourquoi ?</a:t>
            </a:r>
          </a:p>
          <a:p>
            <a:r>
              <a:rPr lang="fr-FR" sz="1400" dirty="0"/>
              <a:t>Quelles différences voyez-vous entre les concepts de « situations de handicap » et « personnes handicapées » ?</a:t>
            </a:r>
          </a:p>
        </p:txBody>
      </p:sp>
      <p:sp>
        <p:nvSpPr>
          <p:cNvPr id="5" name="Espace réservé du texte 4">
            <a:extLst>
              <a:ext uri="{FF2B5EF4-FFF2-40B4-BE49-F238E27FC236}">
                <a16:creationId xmlns:a16="http://schemas.microsoft.com/office/drawing/2014/main" id="{63523720-194E-4532-8380-69F6A395B2CE}"/>
              </a:ext>
            </a:extLst>
          </p:cNvPr>
          <p:cNvSpPr>
            <a:spLocks noGrp="1"/>
          </p:cNvSpPr>
          <p:nvPr>
            <p:ph type="body" sz="quarter" idx="11"/>
          </p:nvPr>
        </p:nvSpPr>
        <p:spPr/>
        <p:txBody>
          <a:bodyPr>
            <a:normAutofit/>
          </a:bodyPr>
          <a:lstStyle/>
          <a:p>
            <a:r>
              <a:rPr lang="fr-FR" sz="1400" dirty="0"/>
              <a:t>A vous tous dans ce petit groupe, combien pouvez-vous lister de ressources fiables (sources reconnues) à consulter à propos des situations de handicap ?</a:t>
            </a:r>
          </a:p>
        </p:txBody>
      </p:sp>
      <p:sp>
        <p:nvSpPr>
          <p:cNvPr id="6" name="Espace réservé du texte 5">
            <a:extLst>
              <a:ext uri="{FF2B5EF4-FFF2-40B4-BE49-F238E27FC236}">
                <a16:creationId xmlns:a16="http://schemas.microsoft.com/office/drawing/2014/main" id="{6BB31469-BA7A-29EE-A43F-306DA851CB35}"/>
              </a:ext>
            </a:extLst>
          </p:cNvPr>
          <p:cNvSpPr>
            <a:spLocks noGrp="1"/>
          </p:cNvSpPr>
          <p:nvPr>
            <p:ph type="body" sz="quarter" idx="12"/>
          </p:nvPr>
        </p:nvSpPr>
        <p:spPr/>
        <p:txBody>
          <a:bodyPr>
            <a:normAutofit/>
          </a:bodyPr>
          <a:lstStyle/>
          <a:p>
            <a:r>
              <a:rPr lang="fr-FR" sz="1400" dirty="0"/>
              <a:t>Comment avez-vous vécu les différentes situations ?</a:t>
            </a:r>
          </a:p>
          <a:p>
            <a:r>
              <a:rPr lang="fr-FR" sz="1400" dirty="0"/>
              <a:t> Cela vous-a-t-il fait penser à des situations existantes similaires ou proches ? Si oui lesquelles  ?</a:t>
            </a:r>
          </a:p>
        </p:txBody>
      </p:sp>
      <p:sp>
        <p:nvSpPr>
          <p:cNvPr id="7" name="Espace réservé du texte 6">
            <a:extLst>
              <a:ext uri="{FF2B5EF4-FFF2-40B4-BE49-F238E27FC236}">
                <a16:creationId xmlns:a16="http://schemas.microsoft.com/office/drawing/2014/main" id="{455F74D8-3DBA-A585-4FD4-F26BE5D56644}"/>
              </a:ext>
            </a:extLst>
          </p:cNvPr>
          <p:cNvSpPr>
            <a:spLocks noGrp="1"/>
          </p:cNvSpPr>
          <p:nvPr>
            <p:ph type="body" sz="quarter" idx="13"/>
          </p:nvPr>
        </p:nvSpPr>
        <p:spPr/>
        <p:txBody>
          <a:bodyPr>
            <a:normAutofit/>
          </a:bodyPr>
          <a:lstStyle/>
          <a:p>
            <a:r>
              <a:rPr lang="fr-FR" sz="1400" dirty="0"/>
              <a:t>Les situations que vous avez vécues dans le jeu, vous-même ou dans votre équipe, sont représentées comme temporaires. </a:t>
            </a:r>
          </a:p>
          <a:p>
            <a:r>
              <a:rPr lang="fr-FR" sz="1400" dirty="0"/>
              <a:t>Vous rappellent-elles des situations </a:t>
            </a:r>
            <a:r>
              <a:rPr lang="fr-FR" sz="1400" b="1" dirty="0"/>
              <a:t>permanentes ou durables</a:t>
            </a:r>
            <a:r>
              <a:rPr lang="fr-FR" sz="1400" dirty="0"/>
              <a:t> de handicap ? Lesquelles ? </a:t>
            </a:r>
          </a:p>
          <a:p>
            <a:r>
              <a:rPr lang="fr-FR" sz="1400" dirty="0"/>
              <a:t>Votre vision a-t-elle changé par rapport à ces situations ? Pourquoi ?</a:t>
            </a:r>
          </a:p>
        </p:txBody>
      </p:sp>
      <p:sp>
        <p:nvSpPr>
          <p:cNvPr id="8" name="Espace réservé du texte 7">
            <a:extLst>
              <a:ext uri="{FF2B5EF4-FFF2-40B4-BE49-F238E27FC236}">
                <a16:creationId xmlns:a16="http://schemas.microsoft.com/office/drawing/2014/main" id="{8BACA9A6-DEB8-FB7B-97B7-60B46B786715}"/>
              </a:ext>
            </a:extLst>
          </p:cNvPr>
          <p:cNvSpPr>
            <a:spLocks noGrp="1"/>
          </p:cNvSpPr>
          <p:nvPr>
            <p:ph type="body" sz="quarter" idx="14"/>
          </p:nvPr>
        </p:nvSpPr>
        <p:spPr/>
        <p:txBody>
          <a:bodyPr>
            <a:normAutofit/>
          </a:bodyPr>
          <a:lstStyle/>
          <a:p>
            <a:r>
              <a:rPr lang="fr-FR" sz="1400" dirty="0"/>
              <a:t>Handi Situations est une introduction pour découvrir en surface les questions de situations de handicap.</a:t>
            </a:r>
          </a:p>
          <a:p>
            <a:r>
              <a:rPr lang="fr-FR" sz="1400" dirty="0"/>
              <a:t>Que connaissez-vous du sujet et qui n’a pas été abordé dans le jeu ? Quels sont des sujets annexes intéressants que le format jeu ne peut pas aborder ? Comment apprendre plus sur ces sujets ?</a:t>
            </a:r>
          </a:p>
        </p:txBody>
      </p:sp>
      <p:sp>
        <p:nvSpPr>
          <p:cNvPr id="9" name="Espace réservé du texte 8">
            <a:extLst>
              <a:ext uri="{FF2B5EF4-FFF2-40B4-BE49-F238E27FC236}">
                <a16:creationId xmlns:a16="http://schemas.microsoft.com/office/drawing/2014/main" id="{C7FB1817-21C5-1CD5-0BEA-8CAA98FAF5ED}"/>
              </a:ext>
            </a:extLst>
          </p:cNvPr>
          <p:cNvSpPr>
            <a:spLocks noGrp="1"/>
          </p:cNvSpPr>
          <p:nvPr>
            <p:ph type="body" sz="quarter" idx="15"/>
          </p:nvPr>
        </p:nvSpPr>
        <p:spPr/>
        <p:txBody>
          <a:bodyPr>
            <a:normAutofit/>
          </a:bodyPr>
          <a:lstStyle/>
          <a:p>
            <a:r>
              <a:rPr lang="fr-FR" sz="1400" dirty="0"/>
              <a:t>Les épreuves vous ont-elles rappelé des activités du quotidien ? Si oui lesquelles ? </a:t>
            </a:r>
          </a:p>
          <a:p>
            <a:r>
              <a:rPr lang="fr-FR" sz="1400" dirty="0"/>
              <a:t>Quelles seraient d’autres activités du quotidien affectées significativement par une situation de handicap ?</a:t>
            </a:r>
          </a:p>
          <a:p>
            <a:r>
              <a:rPr lang="fr-FR" sz="1400" dirty="0"/>
              <a:t>Quelles pourraient être des épreuves représentant ces activités ? Faites parler votre créativité</a:t>
            </a:r>
          </a:p>
        </p:txBody>
      </p:sp>
      <p:sp>
        <p:nvSpPr>
          <p:cNvPr id="10" name="Espace réservé du texte 9">
            <a:extLst>
              <a:ext uri="{FF2B5EF4-FFF2-40B4-BE49-F238E27FC236}">
                <a16:creationId xmlns:a16="http://schemas.microsoft.com/office/drawing/2014/main" id="{E532F6D3-7780-E732-3B40-0D566A5E92CF}"/>
              </a:ext>
            </a:extLst>
          </p:cNvPr>
          <p:cNvSpPr>
            <a:spLocks noGrp="1"/>
          </p:cNvSpPr>
          <p:nvPr>
            <p:ph type="body" sz="quarter" idx="16"/>
          </p:nvPr>
        </p:nvSpPr>
        <p:spPr/>
        <p:txBody>
          <a:bodyPr>
            <a:normAutofit/>
          </a:bodyPr>
          <a:lstStyle/>
          <a:p>
            <a:r>
              <a:rPr lang="fr-FR" sz="1400" dirty="0"/>
              <a:t>Une très petite partie des situations de handicap a été simulée dans Handi Situations. </a:t>
            </a:r>
          </a:p>
          <a:p>
            <a:r>
              <a:rPr lang="fr-FR" sz="1400" dirty="0"/>
              <a:t>Quelles autres situations connaissez vous ? Lesquelles pourraient donner lieu à des simulations ?</a:t>
            </a:r>
          </a:p>
          <a:p>
            <a:r>
              <a:rPr lang="fr-FR" sz="1400" dirty="0"/>
              <a:t>Faites parler votre créativité.</a:t>
            </a:r>
          </a:p>
        </p:txBody>
      </p:sp>
      <p:sp>
        <p:nvSpPr>
          <p:cNvPr id="11" name="Espace réservé du texte 10">
            <a:extLst>
              <a:ext uri="{FF2B5EF4-FFF2-40B4-BE49-F238E27FC236}">
                <a16:creationId xmlns:a16="http://schemas.microsoft.com/office/drawing/2014/main" id="{25F68952-7DBD-7C9A-864B-FF9EAFA98B2E}"/>
              </a:ext>
            </a:extLst>
          </p:cNvPr>
          <p:cNvSpPr>
            <a:spLocks noGrp="1"/>
          </p:cNvSpPr>
          <p:nvPr>
            <p:ph type="body" sz="quarter" idx="17"/>
          </p:nvPr>
        </p:nvSpPr>
        <p:spPr/>
        <p:txBody>
          <a:bodyPr>
            <a:normAutofit/>
          </a:bodyPr>
          <a:lstStyle/>
          <a:p>
            <a:r>
              <a:rPr lang="fr-FR" sz="1400" dirty="0"/>
              <a:t>Avez-vous vous-même déjà vécu ou vivez vous des situations de handicap (que vous seriez prêt(e)s à partager avec votre groupe de debriefing) ? </a:t>
            </a:r>
          </a:p>
          <a:p>
            <a:r>
              <a:rPr lang="fr-FR" sz="1400" dirty="0"/>
              <a:t>Quelles variantes ou améliorations proposeriez vous pour rendre le jeu plus instructif ? Plus ludique ?</a:t>
            </a:r>
          </a:p>
        </p:txBody>
      </p:sp>
    </p:spTree>
    <p:extLst>
      <p:ext uri="{BB962C8B-B14F-4D97-AF65-F5344CB8AC3E}">
        <p14:creationId xmlns:p14="http://schemas.microsoft.com/office/powerpoint/2010/main" val="887731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AD4786C-5959-7E9D-03DC-A09B829463BF}"/>
              </a:ext>
            </a:extLst>
          </p:cNvPr>
          <p:cNvSpPr>
            <a:spLocks noGrp="1"/>
          </p:cNvSpPr>
          <p:nvPr>
            <p:ph type="body" sz="quarter" idx="10"/>
          </p:nvPr>
        </p:nvSpPr>
        <p:spPr/>
        <p:txBody>
          <a:bodyPr/>
          <a:lstStyle/>
          <a:p>
            <a:r>
              <a:rPr lang="fr-FR" dirty="0"/>
              <a:t>Toutes les situations de handicap ont-elles affecté toutes les épreuves ?</a:t>
            </a:r>
          </a:p>
          <a:p>
            <a:r>
              <a:rPr lang="fr-FR" dirty="0"/>
              <a:t>Quelles situations ont rendu très difficiles quelles épreuves ?</a:t>
            </a:r>
          </a:p>
        </p:txBody>
      </p:sp>
      <p:sp>
        <p:nvSpPr>
          <p:cNvPr id="3" name="Espace réservé du texte 2">
            <a:extLst>
              <a:ext uri="{FF2B5EF4-FFF2-40B4-BE49-F238E27FC236}">
                <a16:creationId xmlns:a16="http://schemas.microsoft.com/office/drawing/2014/main" id="{100CA5CB-75D7-B693-A815-0B4CAAD7EFF5}"/>
              </a:ext>
            </a:extLst>
          </p:cNvPr>
          <p:cNvSpPr>
            <a:spLocks noGrp="1"/>
          </p:cNvSpPr>
          <p:nvPr>
            <p:ph type="body" sz="quarter" idx="11"/>
          </p:nvPr>
        </p:nvSpPr>
        <p:spPr/>
        <p:txBody>
          <a:bodyPr/>
          <a:lstStyle/>
          <a:p>
            <a:r>
              <a:rPr lang="fr-FR" dirty="0"/>
              <a:t>Quelle situation vous a le plus marqué et pourquoi ? Le moins et pourquoi ? </a:t>
            </a:r>
          </a:p>
          <a:p>
            <a:endParaRPr lang="fr-FR" dirty="0"/>
          </a:p>
          <a:p>
            <a:r>
              <a:rPr lang="fr-FR" dirty="0"/>
              <a:t>Quelle épreuve vous a le plus marqué et pourquoi ? Le moins et pourquoi ?</a:t>
            </a:r>
          </a:p>
        </p:txBody>
      </p:sp>
      <p:sp>
        <p:nvSpPr>
          <p:cNvPr id="4" name="Espace réservé du texte 3">
            <a:extLst>
              <a:ext uri="{FF2B5EF4-FFF2-40B4-BE49-F238E27FC236}">
                <a16:creationId xmlns:a16="http://schemas.microsoft.com/office/drawing/2014/main" id="{6880F73A-8601-4616-A165-4B7A9E6F7733}"/>
              </a:ext>
            </a:extLst>
          </p:cNvPr>
          <p:cNvSpPr>
            <a:spLocks noGrp="1"/>
          </p:cNvSpPr>
          <p:nvPr>
            <p:ph type="body" sz="quarter" idx="12"/>
          </p:nvPr>
        </p:nvSpPr>
        <p:spPr/>
        <p:txBody>
          <a:bodyPr>
            <a:normAutofit lnSpcReduction="10000"/>
          </a:bodyPr>
          <a:lstStyle/>
          <a:p>
            <a:r>
              <a:rPr lang="fr-FR" dirty="0"/>
              <a:t>Toutes les personnes qui ont joué à Handi Situations, animé ou créé des variantes constituent un grand collectif.</a:t>
            </a:r>
          </a:p>
          <a:p>
            <a:r>
              <a:rPr lang="fr-FR" dirty="0"/>
              <a:t>Qui d’autre dans nos connaissances pourrions nous sensibiliser avec ce jeu ?</a:t>
            </a:r>
          </a:p>
        </p:txBody>
      </p:sp>
      <p:sp>
        <p:nvSpPr>
          <p:cNvPr id="5" name="Espace réservé du texte 4">
            <a:extLst>
              <a:ext uri="{FF2B5EF4-FFF2-40B4-BE49-F238E27FC236}">
                <a16:creationId xmlns:a16="http://schemas.microsoft.com/office/drawing/2014/main" id="{76641C6E-3962-BD32-07A0-0E0A86E48348}"/>
              </a:ext>
            </a:extLst>
          </p:cNvPr>
          <p:cNvSpPr>
            <a:spLocks noGrp="1"/>
          </p:cNvSpPr>
          <p:nvPr>
            <p:ph type="body" sz="quarter" idx="13"/>
          </p:nvPr>
        </p:nvSpPr>
        <p:spPr/>
        <p:txBody>
          <a:bodyPr>
            <a:normAutofit lnSpcReduction="10000"/>
          </a:bodyPr>
          <a:lstStyle/>
          <a:p>
            <a:r>
              <a:rPr lang="fr-FR" dirty="0"/>
              <a:t>Imaginez vous animer Handi Situations demain.</a:t>
            </a:r>
          </a:p>
          <a:p>
            <a:r>
              <a:rPr lang="fr-FR" dirty="0"/>
              <a:t>Qu’est-ce qu’il faudrait ajuster dans le jeu ? (Certaines cartes? Le déroulement ? Les temps ?)</a:t>
            </a:r>
          </a:p>
          <a:p>
            <a:r>
              <a:rPr lang="fr-FR" dirty="0"/>
              <a:t>Quel serait votre style d’animation ?</a:t>
            </a:r>
          </a:p>
        </p:txBody>
      </p:sp>
      <p:sp>
        <p:nvSpPr>
          <p:cNvPr id="6" name="Espace réservé du texte 5">
            <a:extLst>
              <a:ext uri="{FF2B5EF4-FFF2-40B4-BE49-F238E27FC236}">
                <a16:creationId xmlns:a16="http://schemas.microsoft.com/office/drawing/2014/main" id="{F28D6878-872B-16BE-05F2-34CE35261956}"/>
              </a:ext>
            </a:extLst>
          </p:cNvPr>
          <p:cNvSpPr>
            <a:spLocks noGrp="1"/>
          </p:cNvSpPr>
          <p:nvPr>
            <p:ph type="body" sz="quarter" idx="14"/>
          </p:nvPr>
        </p:nvSpPr>
        <p:spPr/>
        <p:txBody>
          <a:bodyPr>
            <a:normAutofit fontScale="92500" lnSpcReduction="20000"/>
          </a:bodyPr>
          <a:lstStyle/>
          <a:p>
            <a:r>
              <a:rPr lang="fr-FR" dirty="0"/>
              <a:t>Handi Situations traite assez peu du comportement des autres vis-à-vis de quelqu’un en situation de handicap. (ou en tout cas pas explicitement dans le gameplay). </a:t>
            </a:r>
          </a:p>
          <a:p>
            <a:r>
              <a:rPr lang="fr-FR" dirty="0"/>
              <a:t>Quels autres aspects des situations de handicap ne sont pas abordées ? Comment vous informer sur ces aspects ?</a:t>
            </a:r>
          </a:p>
        </p:txBody>
      </p:sp>
      <p:sp>
        <p:nvSpPr>
          <p:cNvPr id="7" name="Espace réservé du texte 6">
            <a:extLst>
              <a:ext uri="{FF2B5EF4-FFF2-40B4-BE49-F238E27FC236}">
                <a16:creationId xmlns:a16="http://schemas.microsoft.com/office/drawing/2014/main" id="{CB26586D-C3A8-C48A-AF8B-1D954B2D514B}"/>
              </a:ext>
            </a:extLst>
          </p:cNvPr>
          <p:cNvSpPr>
            <a:spLocks noGrp="1"/>
          </p:cNvSpPr>
          <p:nvPr>
            <p:ph type="body" sz="quarter" idx="15"/>
          </p:nvPr>
        </p:nvSpPr>
        <p:spPr/>
        <p:txBody>
          <a:bodyPr>
            <a:normAutofit lnSpcReduction="10000"/>
          </a:bodyPr>
          <a:lstStyle/>
          <a:p>
            <a:r>
              <a:rPr lang="fr-FR" dirty="0"/>
              <a:t>A quels publics feriez-vous jouer Handi Situations ? (Quitte à adapter les cartes ou quelques détails du jeu)</a:t>
            </a:r>
          </a:p>
          <a:p>
            <a:r>
              <a:rPr lang="fr-FR" dirty="0"/>
              <a:t>Pourquoi ?</a:t>
            </a:r>
          </a:p>
          <a:p>
            <a:r>
              <a:rPr lang="fr-FR" dirty="0"/>
              <a:t>Connaissez-vous quelqu’un qui a accès à ce type de publics ?</a:t>
            </a:r>
          </a:p>
        </p:txBody>
      </p:sp>
      <p:sp>
        <p:nvSpPr>
          <p:cNvPr id="8" name="Espace réservé du texte 7">
            <a:extLst>
              <a:ext uri="{FF2B5EF4-FFF2-40B4-BE49-F238E27FC236}">
                <a16:creationId xmlns:a16="http://schemas.microsoft.com/office/drawing/2014/main" id="{5C4916BB-62C3-F4F8-8E05-F8254BE32454}"/>
              </a:ext>
            </a:extLst>
          </p:cNvPr>
          <p:cNvSpPr>
            <a:spLocks noGrp="1"/>
          </p:cNvSpPr>
          <p:nvPr>
            <p:ph type="body" sz="quarter" idx="16"/>
          </p:nvPr>
        </p:nvSpPr>
        <p:spPr/>
        <p:txBody>
          <a:bodyPr/>
          <a:lstStyle/>
          <a:p>
            <a:endParaRPr lang="fr-FR"/>
          </a:p>
        </p:txBody>
      </p:sp>
      <p:sp>
        <p:nvSpPr>
          <p:cNvPr id="9" name="Espace réservé du texte 8">
            <a:extLst>
              <a:ext uri="{FF2B5EF4-FFF2-40B4-BE49-F238E27FC236}">
                <a16:creationId xmlns:a16="http://schemas.microsoft.com/office/drawing/2014/main" id="{D39BA37C-586C-1BED-EBE3-63FA6C590EC1}"/>
              </a:ext>
            </a:extLst>
          </p:cNvPr>
          <p:cNvSpPr>
            <a:spLocks noGrp="1"/>
          </p:cNvSpPr>
          <p:nvPr>
            <p:ph type="body" sz="quarter" idx="17"/>
          </p:nvPr>
        </p:nvSpPr>
        <p:spPr/>
        <p:txBody>
          <a:bodyPr/>
          <a:lstStyle/>
          <a:p>
            <a:endParaRPr lang="fr-FR"/>
          </a:p>
        </p:txBody>
      </p:sp>
    </p:spTree>
    <p:extLst>
      <p:ext uri="{BB962C8B-B14F-4D97-AF65-F5344CB8AC3E}">
        <p14:creationId xmlns:p14="http://schemas.microsoft.com/office/powerpoint/2010/main" val="601067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p:txBody>
          <a:bodyPr/>
          <a:lstStyle/>
          <a:p>
            <a:pPr algn="l"/>
            <a:r>
              <a:rPr lang="fr-FR" dirty="0"/>
              <a:t>Annexes</a:t>
            </a:r>
          </a:p>
        </p:txBody>
      </p:sp>
      <p:pic>
        <p:nvPicPr>
          <p:cNvPr id="2" name="Image 1">
            <a:extLst>
              <a:ext uri="{FF2B5EF4-FFF2-40B4-BE49-F238E27FC236}">
                <a16:creationId xmlns:a16="http://schemas.microsoft.com/office/drawing/2014/main" id="{1113051D-2DD7-7AFF-6882-408E1C359EF1}"/>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551099" y="1366335"/>
            <a:ext cx="6777302" cy="4125329"/>
          </a:xfrm>
          <a:prstGeom prst="rect">
            <a:avLst/>
          </a:prstGeom>
        </p:spPr>
      </p:pic>
    </p:spTree>
    <p:extLst>
      <p:ext uri="{BB962C8B-B14F-4D97-AF65-F5344CB8AC3E}">
        <p14:creationId xmlns:p14="http://schemas.microsoft.com/office/powerpoint/2010/main" val="2029822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008142" cy="1325563"/>
          </a:xfrm>
        </p:spPr>
        <p:txBody>
          <a:bodyPr>
            <a:normAutofit/>
          </a:bodyPr>
          <a:lstStyle/>
          <a:p>
            <a:r>
              <a:rPr lang="fr-FR" dirty="0"/>
              <a:t>Niveau 2 : Déroulement de Handi Situations</a:t>
            </a:r>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sp>
        <p:nvSpPr>
          <p:cNvPr id="17" name="Bulle narrative : ronde 16">
            <a:extLst>
              <a:ext uri="{FF2B5EF4-FFF2-40B4-BE49-F238E27FC236}">
                <a16:creationId xmlns:a16="http://schemas.microsoft.com/office/drawing/2014/main" id="{5DC8DA58-75F4-4305-BB2B-B0BE2336973A}"/>
              </a:ext>
            </a:extLst>
          </p:cNvPr>
          <p:cNvSpPr/>
          <p:nvPr/>
        </p:nvSpPr>
        <p:spPr>
          <a:xfrm>
            <a:off x="9507984" y="198057"/>
            <a:ext cx="1587081" cy="932108"/>
          </a:xfrm>
          <a:prstGeom prst="wedgeEllipseCallout">
            <a:avLst>
              <a:gd name="adj1" fmla="val 70293"/>
              <a:gd name="adj2" fmla="val 6306"/>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comprendre ce qui se passe dans l’atelier</a:t>
            </a:r>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2982150757"/>
              </p:ext>
            </p:extLst>
          </p:nvPr>
        </p:nvGraphicFramePr>
        <p:xfrm>
          <a:off x="217646" y="1603540"/>
          <a:ext cx="10421855" cy="4760862"/>
        </p:xfrm>
        <a:graphic>
          <a:graphicData uri="http://schemas.openxmlformats.org/drawingml/2006/table">
            <a:tbl>
              <a:tblPr firstRow="1" bandRow="1">
                <a:tableStyleId>{5C22544A-7EE6-4342-B048-85BDC9FD1C3A}</a:tableStyleId>
              </a:tblPr>
              <a:tblGrid>
                <a:gridCol w="2250346">
                  <a:extLst>
                    <a:ext uri="{9D8B030D-6E8A-4147-A177-3AD203B41FA5}">
                      <a16:colId xmlns:a16="http://schemas.microsoft.com/office/drawing/2014/main" val="1302591909"/>
                    </a:ext>
                  </a:extLst>
                </a:gridCol>
                <a:gridCol w="6010183">
                  <a:extLst>
                    <a:ext uri="{9D8B030D-6E8A-4147-A177-3AD203B41FA5}">
                      <a16:colId xmlns:a16="http://schemas.microsoft.com/office/drawing/2014/main" val="1572267126"/>
                    </a:ext>
                  </a:extLst>
                </a:gridCol>
                <a:gridCol w="2161326">
                  <a:extLst>
                    <a:ext uri="{9D8B030D-6E8A-4147-A177-3AD203B41FA5}">
                      <a16:colId xmlns:a16="http://schemas.microsoft.com/office/drawing/2014/main" val="4222483745"/>
                    </a:ext>
                  </a:extLst>
                </a:gridCol>
              </a:tblGrid>
              <a:tr h="828942">
                <a:tc>
                  <a:txBody>
                    <a:bodyPr/>
                    <a:lstStyle/>
                    <a:p>
                      <a:r>
                        <a:rPr lang="fr-FR" sz="1200" dirty="0"/>
                        <a:t>Ouverture : </a:t>
                      </a:r>
                    </a:p>
                    <a:p>
                      <a:r>
                        <a:rPr lang="fr-FR" sz="1200" dirty="0"/>
                        <a:t>Accueil, Intro, Icebreaker, …</a:t>
                      </a:r>
                    </a:p>
                    <a:p>
                      <a:r>
                        <a:rPr lang="fr-FR" sz="1200" dirty="0"/>
                        <a:t>15 min</a:t>
                      </a:r>
                    </a:p>
                  </a:txBody>
                  <a:tcPr/>
                </a:tc>
                <a:tc>
                  <a:txBody>
                    <a:bodyPr/>
                    <a:lstStyle/>
                    <a:p>
                      <a:pPr algn="ctr"/>
                      <a:r>
                        <a:rPr lang="fr-FR" sz="1200" dirty="0"/>
                        <a:t>Déroulement</a:t>
                      </a:r>
                    </a:p>
                    <a:p>
                      <a:pPr algn="ctr"/>
                      <a:r>
                        <a:rPr lang="fr-FR" sz="1200" dirty="0"/>
                        <a:t>Règles du jeu, Narratif</a:t>
                      </a:r>
                    </a:p>
                    <a:p>
                      <a:pPr algn="ctr"/>
                      <a:r>
                        <a:rPr lang="fr-FR" sz="1200" dirty="0"/>
                        <a:t>55 min ou 1h</a:t>
                      </a:r>
                    </a:p>
                  </a:txBody>
                  <a:tcPr/>
                </a:tc>
                <a:tc>
                  <a:txBody>
                    <a:bodyPr/>
                    <a:lstStyle/>
                    <a:p>
                      <a:r>
                        <a:rPr lang="fr-FR" sz="1200" dirty="0"/>
                        <a:t>Clôture :</a:t>
                      </a:r>
                    </a:p>
                    <a:p>
                      <a:r>
                        <a:rPr lang="fr-FR" sz="1200" dirty="0"/>
                        <a:t>Debriefing, Remerciements, …</a:t>
                      </a:r>
                    </a:p>
                    <a:p>
                      <a:endParaRPr lang="fr-FR" sz="1200" dirty="0"/>
                    </a:p>
                    <a:p>
                      <a:r>
                        <a:rPr lang="fr-FR" sz="1200" dirty="0"/>
                        <a:t>20 à 30 min</a:t>
                      </a:r>
                    </a:p>
                  </a:txBody>
                  <a:tcPr/>
                </a:tc>
                <a:extLst>
                  <a:ext uri="{0D108BD9-81ED-4DB2-BD59-A6C34878D82A}">
                    <a16:rowId xmlns:a16="http://schemas.microsoft.com/office/drawing/2014/main" val="1724558119"/>
                  </a:ext>
                </a:extLst>
              </a:tr>
              <a:tr h="3521451">
                <a:tc>
                  <a:txBody>
                    <a:bodyPr/>
                    <a:lstStyle/>
                    <a:p>
                      <a:r>
                        <a:rPr lang="fr-FR" sz="1200" dirty="0"/>
                        <a:t>15 min</a:t>
                      </a:r>
                    </a:p>
                    <a:p>
                      <a:pPr marL="342900" indent="-342900">
                        <a:buFont typeface="+mj-lt"/>
                        <a:buAutoNum type="arabicPeriod"/>
                      </a:pPr>
                      <a:r>
                        <a:rPr lang="fr-FR" sz="1200" dirty="0"/>
                        <a:t>Présentation des intentions de Handi-situation (slide 3)</a:t>
                      </a:r>
                    </a:p>
                    <a:p>
                      <a:pPr marL="342900" indent="-342900">
                        <a:buFont typeface="+mj-lt"/>
                        <a:buAutoNum type="arabicPeriod"/>
                      </a:pPr>
                      <a:r>
                        <a:rPr lang="fr-FR" sz="1200" dirty="0"/>
                        <a:t>Présentation du lieu/du contexte d’accueil du jeu (salle, entreprise, organisation)</a:t>
                      </a:r>
                    </a:p>
                    <a:p>
                      <a:pPr marL="342900" indent="-342900">
                        <a:buFont typeface="+mj-lt"/>
                        <a:buAutoNum type="arabicPeriod"/>
                      </a:pPr>
                      <a:r>
                        <a:rPr lang="fr-FR" sz="1200" dirty="0"/>
                        <a:t>Présentation des animateurs du jour</a:t>
                      </a:r>
                    </a:p>
                    <a:p>
                      <a:pPr marL="342900" indent="-342900">
                        <a:buFont typeface="+mj-lt"/>
                        <a:buAutoNum type="arabicPeriod"/>
                      </a:pPr>
                      <a:r>
                        <a:rPr lang="fr-FR" sz="1200" dirty="0"/>
                        <a:t>Rappel : Invitation à transmettre à son tour (principes #OpenSeriousGame) après la session</a:t>
                      </a:r>
                    </a:p>
                    <a:p>
                      <a:pPr marL="342900" indent="-342900">
                        <a:buFont typeface="+mj-lt"/>
                        <a:buAutoNum type="arabicPeriod"/>
                      </a:pPr>
                      <a:r>
                        <a:rPr lang="fr-FR" sz="1200" dirty="0"/>
                        <a:t>Explication de la posture d’animateurs (faire dérouler les règles du jeu) et pas d’experts (répondre aux questions sur le handicap)</a:t>
                      </a:r>
                    </a:p>
                  </a:txBody>
                  <a:tcPr/>
                </a:tc>
                <a:tc>
                  <a:txBody>
                    <a:bodyPr/>
                    <a:lstStyle/>
                    <a:p>
                      <a:r>
                        <a:rPr lang="fr-FR" sz="1200" dirty="0"/>
                        <a:t>10 minutes</a:t>
                      </a:r>
                    </a:p>
                    <a:p>
                      <a:pPr marL="342900" indent="-342900">
                        <a:buFont typeface="+mj-lt"/>
                        <a:buAutoNum type="arabicPeriod"/>
                      </a:pPr>
                      <a:r>
                        <a:rPr lang="fr-FR" sz="1200" dirty="0"/>
                        <a:t>Explication du déroulement général (slide 3 à 8)</a:t>
                      </a:r>
                    </a:p>
                    <a:p>
                      <a:pPr marL="342900" indent="-342900">
                        <a:buFont typeface="+mj-lt"/>
                        <a:buAutoNum type="arabicPeriod"/>
                      </a:pPr>
                      <a:r>
                        <a:rPr lang="fr-FR" sz="1200" dirty="0"/>
                        <a:t>(Facultatif) Montrer comment se passe le lancement d’un tour (ne pas faire la simulation)</a:t>
                      </a:r>
                    </a:p>
                    <a:p>
                      <a:pPr marL="342900" indent="-342900">
                        <a:buFont typeface="+mj-lt"/>
                        <a:buAutoNum type="arabicPeriod"/>
                      </a:pPr>
                      <a:r>
                        <a:rPr lang="fr-FR" sz="1200" dirty="0"/>
                        <a:t>Rappel sur les règles (Slide 9)</a:t>
                      </a:r>
                    </a:p>
                    <a:p>
                      <a:pPr marL="342900" indent="-342900">
                        <a:buFont typeface="+mj-lt"/>
                        <a:buAutoNum type="arabicPeriod"/>
                      </a:pPr>
                      <a:endParaRPr lang="fr-FR" sz="1200" dirty="0"/>
                    </a:p>
                    <a:p>
                      <a:pPr marL="0" indent="0">
                        <a:buFont typeface="+mj-lt"/>
                        <a:buNone/>
                      </a:pPr>
                      <a:r>
                        <a:rPr lang="fr-FR" sz="1200" dirty="0"/>
                        <a:t>5 minutes</a:t>
                      </a:r>
                    </a:p>
                    <a:p>
                      <a:pPr marL="342900" indent="-342900">
                        <a:buFont typeface="+mj-lt"/>
                        <a:buAutoNum type="arabicPeriod"/>
                      </a:pPr>
                      <a:r>
                        <a:rPr lang="fr-FR" sz="1200" dirty="0"/>
                        <a:t>Les participants sont mis en petits groupes</a:t>
                      </a:r>
                    </a:p>
                    <a:p>
                      <a:pPr marL="342900" indent="-342900">
                        <a:buFont typeface="+mj-lt"/>
                        <a:buAutoNum type="arabicPeriod"/>
                      </a:pPr>
                      <a:r>
                        <a:rPr lang="fr-FR" sz="1200" dirty="0"/>
                        <a:t>S’il y a des participants qui ne peuvent pas être 4, ou 3, ou 2, faire deux groupes plus petits, ou bien se joindre à un des groupes, ou bien faire un groupe de 5. </a:t>
                      </a:r>
                    </a:p>
                    <a:p>
                      <a:pPr marL="342900" indent="-342900">
                        <a:buFont typeface="+mj-lt"/>
                        <a:buAutoNum type="arabicPeriod"/>
                      </a:pPr>
                      <a:r>
                        <a:rPr lang="fr-FR" sz="1200" dirty="0"/>
                        <a:t>Les participants peuvent prendre le temps de se donner leurs prénoms à l’intérieur du groupe</a:t>
                      </a:r>
                    </a:p>
                    <a:p>
                      <a:pPr marL="342900" indent="-342900">
                        <a:buFont typeface="+mj-lt"/>
                        <a:buAutoNum type="arabicPeriod"/>
                      </a:pPr>
                      <a:endParaRPr lang="fr-FR" sz="1200" dirty="0"/>
                    </a:p>
                    <a:p>
                      <a:pPr marL="342900" indent="-342900">
                        <a:buFont typeface="+mj-lt"/>
                        <a:buAutoNum type="arabicPeriod"/>
                      </a:pPr>
                      <a:r>
                        <a:rPr lang="fr-FR" sz="1200" dirty="0"/>
                        <a:t>(Facultatif : allonge de 5 minutes) Les participants d’un même groupe font un rapide tour de table en présentant qui ils sont brièvement et pourquoi ils sont là</a:t>
                      </a:r>
                    </a:p>
                    <a:p>
                      <a:pPr marL="342900" indent="-342900">
                        <a:buFont typeface="+mj-lt"/>
                        <a:buAutoNum type="arabicPeriod"/>
                      </a:pPr>
                      <a:endParaRPr lang="fr-FR" sz="1200" dirty="0"/>
                    </a:p>
                    <a:p>
                      <a:pPr marL="0" indent="0">
                        <a:buFont typeface="+mj-lt"/>
                        <a:buNone/>
                      </a:pPr>
                      <a:endParaRPr lang="fr-FR" sz="1200" dirty="0"/>
                    </a:p>
                    <a:p>
                      <a:pPr marL="0" indent="0">
                        <a:buFont typeface="+mj-lt"/>
                        <a:buNone/>
                      </a:pPr>
                      <a:r>
                        <a:rPr lang="fr-FR" sz="1200" dirty="0"/>
                        <a:t>40 minutes de jeu (dérouler les 4 tours)</a:t>
                      </a:r>
                    </a:p>
                    <a:p>
                      <a:pPr marL="228600" indent="-228600">
                        <a:buFont typeface="+mj-lt"/>
                        <a:buAutoNum type="arabicPeriod"/>
                      </a:pPr>
                      <a:r>
                        <a:rPr lang="fr-FR" sz="1200" dirty="0"/>
                        <a:t>3 tours de 10 minutes (tours collectif)</a:t>
                      </a:r>
                    </a:p>
                    <a:p>
                      <a:pPr marL="228600" indent="-228600">
                        <a:buFont typeface="+mj-lt"/>
                        <a:buAutoNum type="arabicPeriod"/>
                      </a:pPr>
                      <a:r>
                        <a:rPr lang="fr-FR" sz="1200" dirty="0"/>
                        <a:t>1 tour de 3 minutes (tour individuel)</a:t>
                      </a:r>
                    </a:p>
                    <a:p>
                      <a:pPr marL="0" indent="0">
                        <a:buFont typeface="+mj-lt"/>
                        <a:buNone/>
                      </a:pPr>
                      <a:r>
                        <a:rPr lang="fr-FR" sz="1200" dirty="0"/>
                        <a:t>+ temps de revenir, de redonner les instructions, etc.</a:t>
                      </a:r>
                    </a:p>
                  </a:txBody>
                  <a:tcPr/>
                </a:tc>
                <a:tc>
                  <a:txBody>
                    <a:bodyPr/>
                    <a:lstStyle/>
                    <a:p>
                      <a:r>
                        <a:rPr lang="fr-FR" sz="1200" dirty="0"/>
                        <a:t>15 min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fr-FR" sz="1200" dirty="0"/>
                        <a:t>Debriefing sous formes de cartes (voir la section Debriefing)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5 min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fr-FR" sz="1200" dirty="0"/>
                        <a:t>Remerciements pour la participation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fr-FR" sz="1200" dirty="0"/>
                        <a:t>Invitation à transmettre à son tour, rappel de la mise à disposition des ressources</a:t>
                      </a:r>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670933" y="3429000"/>
            <a:ext cx="1145220" cy="1015275"/>
          </a:xfrm>
          <a:prstGeom prst="rect">
            <a:avLst/>
          </a:prstGeom>
        </p:spPr>
        <p:txBody>
          <a:bodyPr vert="horz" lIns="91440" tIns="45720" rIns="91440" bIns="45720" rtlCol="0" anchor="t">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1h30min </a:t>
            </a:r>
          </a:p>
          <a:p>
            <a:pPr marL="0" indent="0" algn="ctr">
              <a:buFont typeface="Arial" panose="020B0604020202020204" pitchFamily="34" charset="0"/>
              <a:buNone/>
            </a:pPr>
            <a:r>
              <a:rPr lang="fr-FR" sz="2000" b="1" dirty="0">
                <a:solidFill>
                  <a:srgbClr val="000000"/>
                </a:solidFill>
                <a:cs typeface="Calibri"/>
              </a:rPr>
              <a:t>à</a:t>
            </a:r>
          </a:p>
          <a:p>
            <a:pPr marL="0" indent="0" algn="ctr">
              <a:buFont typeface="Arial" panose="020B0604020202020204" pitchFamily="34" charset="0"/>
              <a:buNone/>
            </a:pPr>
            <a:r>
              <a:rPr lang="fr-FR" sz="2000" b="1" dirty="0">
                <a:solidFill>
                  <a:srgbClr val="000000"/>
                </a:solidFill>
                <a:cs typeface="Calibri"/>
              </a:rPr>
              <a:t>1h45min</a:t>
            </a:r>
          </a:p>
        </p:txBody>
      </p:sp>
    </p:spTree>
    <p:extLst>
      <p:ext uri="{BB962C8B-B14F-4D97-AF65-F5344CB8AC3E}">
        <p14:creationId xmlns:p14="http://schemas.microsoft.com/office/powerpoint/2010/main" val="4289724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008142" cy="1325563"/>
          </a:xfrm>
        </p:spPr>
        <p:txBody>
          <a:bodyPr>
            <a:normAutofit/>
          </a:bodyPr>
          <a:lstStyle/>
          <a:p>
            <a:r>
              <a:rPr lang="fr-FR" dirty="0"/>
              <a:t>Niveau 2 : Détails sur le Debriefing de Handi Situations</a:t>
            </a:r>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sp>
        <p:nvSpPr>
          <p:cNvPr id="17" name="Bulle narrative : ronde 16">
            <a:extLst>
              <a:ext uri="{FF2B5EF4-FFF2-40B4-BE49-F238E27FC236}">
                <a16:creationId xmlns:a16="http://schemas.microsoft.com/office/drawing/2014/main" id="{5DC8DA58-75F4-4305-BB2B-B0BE2336973A}"/>
              </a:ext>
            </a:extLst>
          </p:cNvPr>
          <p:cNvSpPr/>
          <p:nvPr/>
        </p:nvSpPr>
        <p:spPr>
          <a:xfrm>
            <a:off x="9507984" y="198057"/>
            <a:ext cx="1587081" cy="932108"/>
          </a:xfrm>
          <a:prstGeom prst="wedgeEllipseCallout">
            <a:avLst>
              <a:gd name="adj1" fmla="val 70293"/>
              <a:gd name="adj2" fmla="val 6306"/>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t>
            </a:r>
            <a:r>
              <a:rPr lang="fr-FR" sz="1200" dirty="0" err="1">
                <a:solidFill>
                  <a:schemeClr val="tx1"/>
                </a:solidFill>
              </a:rPr>
              <a:t>debriefer</a:t>
            </a:r>
            <a:endParaRPr lang="fr-FR" sz="1200" dirty="0">
              <a:solidFill>
                <a:schemeClr val="tx1"/>
              </a:solidFill>
            </a:endParaRPr>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206440304"/>
              </p:ext>
            </p:extLst>
          </p:nvPr>
        </p:nvGraphicFramePr>
        <p:xfrm>
          <a:off x="217645" y="1603540"/>
          <a:ext cx="10458991" cy="4501985"/>
        </p:xfrm>
        <a:graphic>
          <a:graphicData uri="http://schemas.openxmlformats.org/drawingml/2006/table">
            <a:tbl>
              <a:tblPr firstRow="1" bandRow="1">
                <a:tableStyleId>{5C22544A-7EE6-4342-B048-85BDC9FD1C3A}</a:tableStyleId>
              </a:tblPr>
              <a:tblGrid>
                <a:gridCol w="2166824">
                  <a:extLst>
                    <a:ext uri="{9D8B030D-6E8A-4147-A177-3AD203B41FA5}">
                      <a16:colId xmlns:a16="http://schemas.microsoft.com/office/drawing/2014/main" val="1302591909"/>
                    </a:ext>
                  </a:extLst>
                </a:gridCol>
                <a:gridCol w="8292167">
                  <a:extLst>
                    <a:ext uri="{9D8B030D-6E8A-4147-A177-3AD203B41FA5}">
                      <a16:colId xmlns:a16="http://schemas.microsoft.com/office/drawing/2014/main" val="1572267126"/>
                    </a:ext>
                  </a:extLst>
                </a:gridCol>
              </a:tblGrid>
              <a:tr h="717284">
                <a:tc>
                  <a:txBody>
                    <a:bodyPr/>
                    <a:lstStyle/>
                    <a:p>
                      <a:r>
                        <a:rPr lang="fr-FR" sz="1400" dirty="0"/>
                        <a:t>Ouverture : </a:t>
                      </a:r>
                    </a:p>
                  </a:txBody>
                  <a:tcPr/>
                </a:tc>
                <a:tc>
                  <a:txBody>
                    <a:bodyPr/>
                    <a:lstStyle/>
                    <a:p>
                      <a:pPr algn="ctr"/>
                      <a:r>
                        <a:rPr lang="fr-FR" sz="1400" dirty="0"/>
                        <a:t>Déroulement</a:t>
                      </a:r>
                    </a:p>
                    <a:p>
                      <a:pPr algn="ctr"/>
                      <a:r>
                        <a:rPr lang="fr-FR" sz="1400" dirty="0"/>
                        <a:t>Règles du jeu, Narratif</a:t>
                      </a:r>
                    </a:p>
                  </a:txBody>
                  <a:tcPr/>
                </a:tc>
                <a:extLst>
                  <a:ext uri="{0D108BD9-81ED-4DB2-BD59-A6C34878D82A}">
                    <a16:rowId xmlns:a16="http://schemas.microsoft.com/office/drawing/2014/main" val="1724558119"/>
                  </a:ext>
                </a:extLst>
              </a:tr>
              <a:tr h="3784701">
                <a:tc>
                  <a:txBody>
                    <a:bodyPr/>
                    <a:lstStyle/>
                    <a:p>
                      <a:r>
                        <a:rPr lang="fr-FR" sz="1400" dirty="0"/>
                        <a:t>5 minutes</a:t>
                      </a:r>
                    </a:p>
                    <a:p>
                      <a:r>
                        <a:rPr lang="fr-FR" sz="1400" dirty="0"/>
                        <a:t>Faire composer les groupes par 5 personnes max (s’il y a des restes, ils peuvent débriefer avec animateurs)</a:t>
                      </a:r>
                    </a:p>
                    <a:p>
                      <a:endParaRPr lang="fr-FR" sz="1400" dirty="0"/>
                    </a:p>
                    <a:p>
                      <a:r>
                        <a:rPr lang="fr-FR" sz="1400" dirty="0"/>
                        <a:t>La répartition est aléatoire et faite pour être rapide à composer</a:t>
                      </a:r>
                    </a:p>
                    <a:p>
                      <a:endParaRPr lang="fr-FR" sz="1400" dirty="0"/>
                    </a:p>
                    <a:p>
                      <a:r>
                        <a:rPr lang="fr-FR" sz="1400" dirty="0"/>
                        <a:t>Chaque groupe récupère 2 cartes max de Debriefing.</a:t>
                      </a:r>
                    </a:p>
                  </a:txBody>
                  <a:tcPr/>
                </a:tc>
                <a:tc>
                  <a:txBody>
                    <a:bodyPr/>
                    <a:lstStyle/>
                    <a:p>
                      <a:pPr marL="0" indent="0">
                        <a:buFont typeface="Arial" panose="020B0604020202020204" pitchFamily="34" charset="0"/>
                        <a:buNone/>
                      </a:pPr>
                      <a:r>
                        <a:rPr lang="fr-FR" sz="1400" dirty="0"/>
                        <a:t>15 minutes</a:t>
                      </a:r>
                    </a:p>
                    <a:p>
                      <a:pPr marL="0" indent="0">
                        <a:buFont typeface="Arial" panose="020B0604020202020204" pitchFamily="34" charset="0"/>
                        <a:buNone/>
                      </a:pPr>
                      <a:endParaRPr lang="fr-FR" sz="1400" dirty="0"/>
                    </a:p>
                    <a:p>
                      <a:pPr marL="285750" indent="-285750">
                        <a:buFont typeface="Arial" panose="020B0604020202020204" pitchFamily="34" charset="0"/>
                        <a:buChar char="•"/>
                      </a:pPr>
                      <a:r>
                        <a:rPr lang="fr-FR" sz="1400" dirty="0"/>
                        <a:t>Quand un groupe est composé, il va dans son coin et les joueurs se posent les questions entre eux sans attendre un « Go »</a:t>
                      </a:r>
                    </a:p>
                    <a:p>
                      <a:pPr marL="285750" indent="-285750">
                        <a:buFont typeface="Arial" panose="020B0604020202020204" pitchFamily="34" charset="0"/>
                        <a:buChar char="•"/>
                      </a:pPr>
                      <a:r>
                        <a:rPr lang="fr-FR" sz="1400" dirty="0"/>
                        <a:t>Chaque groupe auto organise la répartition de son temps de parole (il peut être intéressant de le rappeler)</a:t>
                      </a:r>
                    </a:p>
                    <a:p>
                      <a:pPr marL="285750" indent="-285750">
                        <a:buFont typeface="Arial" panose="020B0604020202020204" pitchFamily="34" charset="0"/>
                        <a:buChar char="•"/>
                      </a:pPr>
                      <a:r>
                        <a:rPr lang="fr-FR" sz="1400" dirty="0"/>
                        <a:t>Il n’y a pas de réponse  juste ou fausse, l’important est de partager son avis, peut-être initier une discussion qui pourra continuer plus tard.</a:t>
                      </a:r>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endParaRPr lang="fr-FR" sz="1400" dirty="0"/>
                    </a:p>
                    <a:p>
                      <a:pPr marL="0" indent="0">
                        <a:buFont typeface="Arial" panose="020B0604020202020204" pitchFamily="34" charset="0"/>
                        <a:buNone/>
                      </a:pPr>
                      <a:r>
                        <a:rPr lang="fr-FR" sz="1400" dirty="0"/>
                        <a:t>(Facultatif) 5 à 9 minutes </a:t>
                      </a:r>
                    </a:p>
                    <a:p>
                      <a:pPr marL="0" indent="0">
                        <a:buFont typeface="Arial" panose="020B0604020202020204" pitchFamily="34" charset="0"/>
                        <a:buNone/>
                      </a:pPr>
                      <a:r>
                        <a:rPr lang="fr-FR" sz="1400" dirty="0"/>
                        <a:t>Tous les groupes reviennent en central pour le debriefing centralisé (voir les slides)</a:t>
                      </a:r>
                    </a:p>
                    <a:p>
                      <a:pPr marL="0" indent="0">
                        <a:buFont typeface="Arial" panose="020B0604020202020204" pitchFamily="34" charset="0"/>
                        <a:buNone/>
                      </a:pPr>
                      <a:endParaRPr lang="fr-FR" sz="1400" dirty="0"/>
                    </a:p>
                    <a:p>
                      <a:pPr marL="0" indent="0">
                        <a:buFont typeface="Arial" panose="020B0604020202020204" pitchFamily="34" charset="0"/>
                        <a:buNone/>
                      </a:pPr>
                      <a:r>
                        <a:rPr lang="fr-FR" sz="1400" dirty="0"/>
                        <a:t>1 min</a:t>
                      </a:r>
                    </a:p>
                    <a:p>
                      <a:pPr marL="0" indent="0">
                        <a:buFont typeface="Arial" panose="020B0604020202020204" pitchFamily="34" charset="0"/>
                        <a:buNone/>
                      </a:pPr>
                      <a:r>
                        <a:rPr lang="fr-FR" sz="1400" dirty="0"/>
                        <a:t>Remerciements et indication qu’il y a des ressources</a:t>
                      </a:r>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676636" y="2971801"/>
            <a:ext cx="1080071" cy="148377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chemeClr val="bg1"/>
                </a:solidFill>
                <a:cs typeface="Calibri"/>
              </a:rPr>
              <a:t>Total :</a:t>
            </a:r>
          </a:p>
          <a:p>
            <a:pPr marL="0" indent="0" algn="ctr">
              <a:buFont typeface="Arial" panose="020B0604020202020204" pitchFamily="34" charset="0"/>
              <a:buNone/>
            </a:pPr>
            <a:r>
              <a:rPr lang="fr-FR" sz="2000" b="1" dirty="0">
                <a:solidFill>
                  <a:schemeClr val="bg1"/>
                </a:solidFill>
                <a:cs typeface="Calibri"/>
              </a:rPr>
              <a:t>20 min</a:t>
            </a:r>
          </a:p>
          <a:p>
            <a:pPr marL="0" indent="0" algn="ctr">
              <a:buFont typeface="Arial" panose="020B0604020202020204" pitchFamily="34" charset="0"/>
              <a:buNone/>
            </a:pPr>
            <a:r>
              <a:rPr lang="fr-FR" sz="2000" b="1" dirty="0">
                <a:solidFill>
                  <a:schemeClr val="bg1"/>
                </a:solidFill>
                <a:cs typeface="Calibri"/>
              </a:rPr>
              <a:t>à </a:t>
            </a:r>
          </a:p>
          <a:p>
            <a:pPr marL="0" indent="0" algn="ctr">
              <a:buFont typeface="Arial" panose="020B0604020202020204" pitchFamily="34" charset="0"/>
              <a:buNone/>
            </a:pPr>
            <a:r>
              <a:rPr lang="fr-FR" sz="2000" b="1" dirty="0">
                <a:solidFill>
                  <a:schemeClr val="bg1"/>
                </a:solidFill>
                <a:cs typeface="Calibri"/>
              </a:rPr>
              <a:t>30 min </a:t>
            </a:r>
          </a:p>
        </p:txBody>
      </p:sp>
    </p:spTree>
    <p:extLst>
      <p:ext uri="{BB962C8B-B14F-4D97-AF65-F5344CB8AC3E}">
        <p14:creationId xmlns:p14="http://schemas.microsoft.com/office/powerpoint/2010/main" val="1235997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008142" cy="1325563"/>
          </a:xfrm>
        </p:spPr>
        <p:txBody>
          <a:bodyPr>
            <a:normAutofit/>
          </a:bodyPr>
          <a:lstStyle/>
          <a:p>
            <a:r>
              <a:rPr lang="fr-FR" dirty="0"/>
              <a:t>Niveau 2 : Grille de l’observateur</a:t>
            </a:r>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sp>
        <p:nvSpPr>
          <p:cNvPr id="17" name="Bulle narrative : ronde 16">
            <a:extLst>
              <a:ext uri="{FF2B5EF4-FFF2-40B4-BE49-F238E27FC236}">
                <a16:creationId xmlns:a16="http://schemas.microsoft.com/office/drawing/2014/main" id="{5DC8DA58-75F4-4305-BB2B-B0BE2336973A}"/>
              </a:ext>
            </a:extLst>
          </p:cNvPr>
          <p:cNvSpPr/>
          <p:nvPr/>
        </p:nvSpPr>
        <p:spPr>
          <a:xfrm>
            <a:off x="9001958" y="198057"/>
            <a:ext cx="2093108" cy="932108"/>
          </a:xfrm>
          <a:prstGeom prst="wedgeEllipseCallout">
            <a:avLst>
              <a:gd name="adj1" fmla="val 70293"/>
              <a:gd name="adj2" fmla="val 6306"/>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on ne se sent pas à l’aise pour jouer, on peut se mettre en position d’observateur</a:t>
            </a:r>
          </a:p>
        </p:txBody>
      </p:sp>
      <p:sp>
        <p:nvSpPr>
          <p:cNvPr id="3" name="Flèche : droite 2">
            <a:extLst>
              <a:ext uri="{FF2B5EF4-FFF2-40B4-BE49-F238E27FC236}">
                <a16:creationId xmlns:a16="http://schemas.microsoft.com/office/drawing/2014/main" id="{83C37FCE-E54C-3333-306F-136FA1C47A58}"/>
              </a:ext>
            </a:extLst>
          </p:cNvPr>
          <p:cNvSpPr/>
          <p:nvPr/>
        </p:nvSpPr>
        <p:spPr>
          <a:xfrm>
            <a:off x="217648" y="1061788"/>
            <a:ext cx="11864862" cy="5598155"/>
          </a:xfrm>
          <a:prstGeom prst="rightArrow">
            <a:avLst>
              <a:gd name="adj1" fmla="val 82034"/>
              <a:gd name="adj2" fmla="val 25308"/>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4">
            <a:extLst>
              <a:ext uri="{FF2B5EF4-FFF2-40B4-BE49-F238E27FC236}">
                <a16:creationId xmlns:a16="http://schemas.microsoft.com/office/drawing/2014/main" id="{C7BABE92-BA69-EFF2-2731-3A21EB025A22}"/>
              </a:ext>
            </a:extLst>
          </p:cNvPr>
          <p:cNvGraphicFramePr>
            <a:graphicFrameLocks/>
          </p:cNvGraphicFramePr>
          <p:nvPr>
            <p:extLst>
              <p:ext uri="{D42A27DB-BD31-4B8C-83A1-F6EECF244321}">
                <p14:modId xmlns:p14="http://schemas.microsoft.com/office/powerpoint/2010/main" val="3325912020"/>
              </p:ext>
            </p:extLst>
          </p:nvPr>
        </p:nvGraphicFramePr>
        <p:xfrm>
          <a:off x="217648" y="1711892"/>
          <a:ext cx="10421855" cy="4084320"/>
        </p:xfrm>
        <a:graphic>
          <a:graphicData uri="http://schemas.openxmlformats.org/drawingml/2006/table">
            <a:tbl>
              <a:tblPr firstRow="1" bandRow="1">
                <a:tableStyleId>{5C22544A-7EE6-4342-B048-85BDC9FD1C3A}</a:tableStyleId>
              </a:tblPr>
              <a:tblGrid>
                <a:gridCol w="3999247">
                  <a:extLst>
                    <a:ext uri="{9D8B030D-6E8A-4147-A177-3AD203B41FA5}">
                      <a16:colId xmlns:a16="http://schemas.microsoft.com/office/drawing/2014/main" val="1302591909"/>
                    </a:ext>
                  </a:extLst>
                </a:gridCol>
                <a:gridCol w="4225771">
                  <a:extLst>
                    <a:ext uri="{9D8B030D-6E8A-4147-A177-3AD203B41FA5}">
                      <a16:colId xmlns:a16="http://schemas.microsoft.com/office/drawing/2014/main" val="1572267126"/>
                    </a:ext>
                  </a:extLst>
                </a:gridCol>
                <a:gridCol w="2196837">
                  <a:extLst>
                    <a:ext uri="{9D8B030D-6E8A-4147-A177-3AD203B41FA5}">
                      <a16:colId xmlns:a16="http://schemas.microsoft.com/office/drawing/2014/main" val="4222483745"/>
                    </a:ext>
                  </a:extLst>
                </a:gridCol>
              </a:tblGrid>
              <a:tr h="447202">
                <a:tc>
                  <a:txBody>
                    <a:bodyPr/>
                    <a:lstStyle/>
                    <a:p>
                      <a:r>
                        <a:rPr lang="fr-FR" sz="1400" dirty="0"/>
                        <a:t>Message d’invitation aux observateurs</a:t>
                      </a:r>
                    </a:p>
                  </a:txBody>
                  <a:tcPr/>
                </a:tc>
                <a:tc>
                  <a:txBody>
                    <a:bodyPr/>
                    <a:lstStyle/>
                    <a:p>
                      <a:pPr algn="ctr"/>
                      <a:r>
                        <a:rPr lang="fr-FR" sz="1400" dirty="0"/>
                        <a:t>Grille d’observation</a:t>
                      </a:r>
                    </a:p>
                  </a:txBody>
                  <a:tcPr/>
                </a:tc>
                <a:tc>
                  <a:txBody>
                    <a:bodyPr/>
                    <a:lstStyle/>
                    <a:p>
                      <a:r>
                        <a:rPr lang="fr-FR" sz="1400" dirty="0"/>
                        <a:t>Partager le résultat de ses observations</a:t>
                      </a:r>
                    </a:p>
                  </a:txBody>
                  <a:tcPr/>
                </a:tc>
                <a:extLst>
                  <a:ext uri="{0D108BD9-81ED-4DB2-BD59-A6C34878D82A}">
                    <a16:rowId xmlns:a16="http://schemas.microsoft.com/office/drawing/2014/main" val="1724558119"/>
                  </a:ext>
                </a:extLst>
              </a:tr>
              <a:tr h="3521451">
                <a:tc>
                  <a:txBody>
                    <a:bodyPr/>
                    <a:lstStyle/>
                    <a:p>
                      <a:r>
                        <a:rPr lang="fr-FR" sz="1200" dirty="0"/>
                        <a:t>Il est possible que vous ne soyez pas à l’aise ou en condition de jouer à ce Serious Game. Il n’y a aucun problème à cela, même si nous vous invitons à oser tester, </a:t>
                      </a:r>
                      <a:r>
                        <a:rPr lang="fr-FR" sz="1200" dirty="0" err="1"/>
                        <a:t>expérimter</a:t>
                      </a:r>
                      <a:r>
                        <a:rPr lang="fr-FR" sz="1200" dirty="0"/>
                        <a:t>.</a:t>
                      </a:r>
                    </a:p>
                    <a:p>
                      <a:endParaRPr lang="fr-FR" sz="1200" dirty="0"/>
                    </a:p>
                    <a:p>
                      <a:r>
                        <a:rPr lang="fr-FR" sz="1200" dirty="0"/>
                        <a:t>Vous pouvez tout de même participer en tant qu’observateur, c’est-à-dire que votre participation sera d’observer les autres sur différents points, sans avoir à intervenir vous-même sur les actions de jeu.</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Pour cela :</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200" dirty="0"/>
                        <a:t>Signaler que vous vous positionnez en observateur, et pour quelle phase de jeu vous souhaitez l’être (généralement tout le jeu)</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200" dirty="0"/>
                        <a:t>Vérifiez que les autres joueurs sont à l’aise et d’accord pour être observés</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200" dirty="0"/>
                        <a:t>Vérifiez que sans vous en tant que joueur, le jeu reste jouable (par exemple, s’il y a un nombre minimum de joueurs). Si ce n’est pas le cas, prévenez un animateur.</a:t>
                      </a:r>
                    </a:p>
                    <a:p>
                      <a:endParaRPr lang="fr-FR" sz="1200" dirty="0"/>
                    </a:p>
                  </a:txBody>
                  <a:tcPr/>
                </a:tc>
                <a:tc>
                  <a:txBody>
                    <a:bodyPr/>
                    <a:lstStyle/>
                    <a:p>
                      <a:r>
                        <a:rPr lang="fr-FR" sz="1200" dirty="0"/>
                        <a:t>Voici des exemples d’éléments intéressants à observer pour ce jeu :</a:t>
                      </a:r>
                    </a:p>
                    <a:p>
                      <a:pPr marL="228600" indent="-228600">
                        <a:buFont typeface="+mj-lt"/>
                        <a:buAutoNum type="arabicPeriod"/>
                      </a:pPr>
                      <a:r>
                        <a:rPr lang="fr-FR" sz="1200" dirty="0"/>
                        <a:t>Comment les joueurs font-ils face à la difficulté ?</a:t>
                      </a:r>
                    </a:p>
                    <a:p>
                      <a:pPr marL="228600" indent="-228600">
                        <a:buFont typeface="+mj-lt"/>
                        <a:buAutoNum type="arabicPeriod"/>
                      </a:pPr>
                      <a:r>
                        <a:rPr lang="fr-FR" sz="1200" dirty="0"/>
                        <a:t>S’entraident-ils dans le handicap ?</a:t>
                      </a:r>
                    </a:p>
                    <a:p>
                      <a:pPr marL="228600" indent="-228600">
                        <a:buFont typeface="+mj-lt"/>
                        <a:buAutoNum type="arabicPeriod"/>
                      </a:pPr>
                      <a:r>
                        <a:rPr lang="fr-FR" sz="1200" dirty="0"/>
                        <a:t>Quelles émotions vivent-ils ?</a:t>
                      </a:r>
                    </a:p>
                    <a:p>
                      <a:pPr marL="228600" indent="-228600">
                        <a:buFont typeface="+mj-lt"/>
                        <a:buAutoNum type="arabicPeriod"/>
                      </a:pPr>
                      <a:r>
                        <a:rPr lang="fr-FR" sz="1200" dirty="0"/>
                        <a:t>Qui et comment sont prises les décisions ? Est-ce que les handicaps sont pris en compte pendant les décisions (et pas seulement l’exécution) ?</a:t>
                      </a:r>
                    </a:p>
                    <a:p>
                      <a:pPr marL="228600" indent="-228600">
                        <a:buFont typeface="+mj-lt"/>
                        <a:buAutoNum type="arabicPeriod"/>
                      </a:pPr>
                      <a:r>
                        <a:rPr lang="fr-FR" sz="1200" dirty="0"/>
                        <a:t>Qui aide qui ? Qui est beaucoup aidé ? Qui l’est moins ?</a:t>
                      </a:r>
                    </a:p>
                    <a:p>
                      <a:pPr marL="228600" indent="-228600">
                        <a:buFont typeface="+mj-lt"/>
                        <a:buAutoNum type="arabicPeriod"/>
                      </a:pPr>
                      <a:r>
                        <a:rPr lang="fr-FR" sz="1200" dirty="0"/>
                        <a:t>A quels handicaps est-ce que ces situations font penser ?</a:t>
                      </a:r>
                    </a:p>
                    <a:p>
                      <a:pPr marL="228600" indent="-228600">
                        <a:buFont typeface="+mj-lt"/>
                        <a:buAutoNum type="arabicPeriod"/>
                      </a:pPr>
                      <a:r>
                        <a:rPr lang="fr-FR" sz="1200" dirty="0"/>
                        <a:t>Qui joue le jeu ? </a:t>
                      </a:r>
                    </a:p>
                    <a:p>
                      <a:pPr marL="228600" indent="-228600">
                        <a:buFont typeface="+mj-lt"/>
                        <a:buAutoNum type="arabicPeriod"/>
                      </a:pPr>
                      <a:r>
                        <a:rPr lang="fr-FR" sz="1200" dirty="0"/>
                        <a:t>Quelles sont les limites de l’expérience de jeu</a:t>
                      </a:r>
                    </a:p>
                    <a:p>
                      <a:endParaRPr lang="fr-FR" sz="1200" dirty="0"/>
                    </a:p>
                    <a:p>
                      <a:endParaRPr lang="fr-FR" sz="1200" dirty="0"/>
                    </a:p>
                    <a:p>
                      <a:r>
                        <a:rPr lang="fr-FR" sz="1200" dirty="0"/>
                        <a:t>Vous avez le droit de prendre des notes si les autres joueurs vous confirment qu’ils sont à l’aise avec cela.</a:t>
                      </a:r>
                    </a:p>
                  </a:txBody>
                  <a:tcPr/>
                </a:tc>
                <a:tc>
                  <a:txBody>
                    <a:bodyPr/>
                    <a:lstStyle/>
                    <a:p>
                      <a:r>
                        <a:rPr lang="fr-FR" sz="1200" dirty="0"/>
                        <a:t>Au debriefing ou à la fin de la partie, vous pourrez donner le résultat de vos observations.</a:t>
                      </a:r>
                    </a:p>
                    <a:p>
                      <a:r>
                        <a:rPr lang="fr-FR" sz="1200" dirty="0"/>
                        <a:t> </a:t>
                      </a:r>
                    </a:p>
                    <a:p>
                      <a:r>
                        <a:rPr lang="fr-FR" sz="1200" dirty="0"/>
                        <a:t>Il est préférable de ne pas partager ses observations en cours de partie, pour ne pas interrompre le cours du jeu.</a:t>
                      </a:r>
                    </a:p>
                  </a:txBody>
                  <a:tcPr/>
                </a:tc>
                <a:extLst>
                  <a:ext uri="{0D108BD9-81ED-4DB2-BD59-A6C34878D82A}">
                    <a16:rowId xmlns:a16="http://schemas.microsoft.com/office/drawing/2014/main" val="215570386"/>
                  </a:ext>
                </a:extLst>
              </a:tr>
            </a:tbl>
          </a:graphicData>
        </a:graphic>
      </p:graphicFrame>
    </p:spTree>
    <p:extLst>
      <p:ext uri="{BB962C8B-B14F-4D97-AF65-F5344CB8AC3E}">
        <p14:creationId xmlns:p14="http://schemas.microsoft.com/office/powerpoint/2010/main" val="1113781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581900" cy="1325563"/>
          </a:xfrm>
        </p:spPr>
        <p:txBody>
          <a:bodyPr/>
          <a:lstStyle/>
          <a:p>
            <a:r>
              <a:rPr lang="fr-FR" dirty="0"/>
              <a:t>Niveau 3 : Organisation de Handi Situations</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vérifier que cela correspond bien à mon besoin et mes capacités. </a:t>
            </a:r>
          </a:p>
          <a:p>
            <a:pPr algn="ctr"/>
            <a:endParaRPr lang="fr-FR" sz="1200" dirty="0">
              <a:solidFill>
                <a:schemeClr val="tx1"/>
              </a:solidFill>
            </a:endParaRPr>
          </a:p>
          <a:p>
            <a:pPr algn="ctr"/>
            <a:r>
              <a:rPr lang="fr-FR" sz="1200" dirty="0">
                <a:solidFill>
                  <a:schemeClr val="tx1"/>
                </a:solidFill>
              </a:rPr>
              <a:t>Puis pour organiser facilement la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Avoir découvert des situations de handicap</a:t>
            </a:r>
          </a:p>
          <a:p>
            <a:pPr marL="0" indent="0">
              <a:buFont typeface="Arial" panose="020B0604020202020204" pitchFamily="34" charset="0"/>
              <a:buNone/>
            </a:pPr>
            <a:r>
              <a:rPr lang="fr-FR" sz="1200" dirty="0"/>
              <a:t>Avoir un premier aperçu des difficultés de ces situations à travers un vécu</a:t>
            </a:r>
          </a:p>
          <a:p>
            <a:pPr marL="0" indent="0">
              <a:buFont typeface="Arial" panose="020B0604020202020204" pitchFamily="34" charset="0"/>
              <a:buNone/>
            </a:pPr>
            <a:r>
              <a:rPr lang="fr-FR" sz="1200" dirty="0"/>
              <a:t>Se rendre compte que les situations de handicap sont courantes</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participants ont envie d’aller se renseigner par eux-mêmes sur le sujets des situations de handicap</a:t>
            </a:r>
          </a:p>
          <a:p>
            <a:pPr marL="0" indent="0">
              <a:buFont typeface="Arial" panose="020B0604020202020204" pitchFamily="34" charset="0"/>
              <a:buNone/>
            </a:pPr>
            <a:r>
              <a:rPr lang="fr-FR" sz="1200" dirty="0"/>
              <a:t>Les participants souhaitent être plus actifs sur le sujet des situations de handicap</a:t>
            </a:r>
          </a:p>
          <a:p>
            <a:pPr marL="0" indent="0">
              <a:buFont typeface="Arial" panose="020B0604020202020204" pitchFamily="34" charset="0"/>
              <a:buNone/>
            </a:pPr>
            <a:r>
              <a:rPr lang="fr-FR" sz="1200" dirty="0"/>
              <a:t>Les participants ont envie de sensibiliser leur entourage à ce sujet.</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Jouable de 5 à 50 participants</a:t>
            </a:r>
          </a:p>
          <a:p>
            <a:pPr marL="0" indent="0">
              <a:buNone/>
            </a:pPr>
            <a:r>
              <a:rPr lang="fr-FR" sz="1200" dirty="0"/>
              <a:t>Pas de connaissances particulières à avoir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Le département RSE de l’entreprise XYZ souhaite sensibiliser aux situations de handicap de manière simple, rapide, plus active que des newsletters et moins difficile à mettre en place que des prestataires très spécialisés. </a:t>
            </a:r>
          </a:p>
          <a:p>
            <a:pPr marL="0" indent="0">
              <a:buNone/>
            </a:pPr>
            <a:r>
              <a:rPr lang="fr-FR" sz="1200" dirty="0"/>
              <a:t>Les équipes jouent alors à Handi Situations en « expérience d’appel » avant éventuellement de proposer des parcours plus élaborés aux plus motivés.</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dispositifs à mettre en place pour répondre aux situations de handicap (va dépendre de chaque domaine et chaque produit/service/lieu)</a:t>
            </a:r>
          </a:p>
          <a:p>
            <a:pPr marL="0" indent="0">
              <a:buFont typeface="Arial" panose="020B0604020202020204" pitchFamily="34" charset="0"/>
              <a:buNone/>
            </a:pPr>
            <a:r>
              <a:rPr lang="fr-FR" sz="1200" dirty="0"/>
              <a:t>Les types de handicaps permanents ou longs</a:t>
            </a:r>
          </a:p>
          <a:p>
            <a:pPr marL="0" indent="0">
              <a:buFont typeface="Arial" panose="020B0604020202020204" pitchFamily="34" charset="0"/>
              <a:buNone/>
            </a:pPr>
            <a:r>
              <a:rPr lang="fr-FR" sz="1200" dirty="0"/>
              <a:t>Les chiffres du handicap</a:t>
            </a:r>
          </a:p>
          <a:p>
            <a:pPr marL="0" indent="0">
              <a:buFont typeface="Arial" panose="020B0604020202020204" pitchFamily="34" charset="0"/>
              <a:buNone/>
            </a:pPr>
            <a:r>
              <a:rPr lang="fr-FR" sz="1200" dirty="0"/>
              <a:t>Les questions psychologiques, sociales, économiques, liées au handicap</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1h30 à 1h45 pour le jeu + Debriefing</a:t>
            </a:r>
          </a:p>
          <a:p>
            <a:pPr marL="0" indent="0">
              <a:buFont typeface="Arial" panose="020B0604020202020204" pitchFamily="34" charset="0"/>
              <a:buNone/>
            </a:pPr>
            <a:r>
              <a:rPr lang="fr-FR" sz="1200" dirty="0"/>
              <a:t>Jeu en présentiel</a:t>
            </a:r>
          </a:p>
          <a:p>
            <a:pPr marL="0" indent="0">
              <a:buFont typeface="Arial" panose="020B0604020202020204" pitchFamily="34" charset="0"/>
              <a:buNone/>
            </a:pPr>
            <a:r>
              <a:rPr lang="fr-FR" sz="1200" dirty="0"/>
              <a:t>Matériel nécessaire : Base de jeu à imprimer / découper</a:t>
            </a:r>
          </a:p>
          <a:p>
            <a:pPr marL="0" indent="0">
              <a:buFont typeface="Arial" panose="020B0604020202020204" pitchFamily="34" charset="0"/>
              <a:buNone/>
            </a:pPr>
            <a:r>
              <a:rPr lang="fr-FR" sz="1200" dirty="0"/>
              <a:t>Salles : une seule grande salle suffit, éventuellement avec des tables. La salle ou doit pouvoir séparer les participants en des petits groupes</a:t>
            </a:r>
            <a:endParaRPr lang="fr-FR" sz="1800" dirty="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Jeux, articles, vidéos et autres ressources sur : </a:t>
            </a:r>
          </a:p>
          <a:p>
            <a:pPr>
              <a:buFontTx/>
              <a:buChar char="-"/>
            </a:pPr>
            <a:r>
              <a:rPr lang="fr-FR" sz="1200" dirty="0"/>
              <a:t>Les types de handicaps</a:t>
            </a:r>
          </a:p>
          <a:p>
            <a:pPr>
              <a:buFontTx/>
              <a:buChar char="-"/>
            </a:pPr>
            <a:r>
              <a:rPr lang="fr-FR" sz="1200" dirty="0"/>
              <a:t>Les chiffres du handicap</a:t>
            </a:r>
          </a:p>
          <a:p>
            <a:pPr>
              <a:buFontTx/>
              <a:buChar char="-"/>
            </a:pPr>
            <a:r>
              <a:rPr lang="fr-FR" sz="1200" dirty="0"/>
              <a:t>Les dispositifs pour les situations de handicap</a:t>
            </a:r>
          </a:p>
          <a:p>
            <a:pPr marL="0" indent="0">
              <a:buNone/>
            </a:pPr>
            <a:endParaRPr lang="fr-FR" sz="1200" dirty="0"/>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315398"/>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court (à copier-coller dans les descriptifs)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94604"/>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Handi Situations invite les joueurs à vivre (en simulation) et échanger sur 10 situations différentes de handicaps, afin de questionner sur l’accessibilité et ensuite de débriefer sur ce qui peut se faire à l’échelle individuelle ou collective.</a:t>
            </a:r>
          </a:p>
        </p:txBody>
      </p:sp>
    </p:spTree>
    <p:extLst>
      <p:ext uri="{BB962C8B-B14F-4D97-AF65-F5344CB8AC3E}">
        <p14:creationId xmlns:p14="http://schemas.microsoft.com/office/powerpoint/2010/main" val="471399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860086" cy="1325563"/>
          </a:xfrm>
        </p:spPr>
        <p:txBody>
          <a:bodyPr/>
          <a:lstStyle/>
          <a:p>
            <a:r>
              <a:rPr lang="fr-FR" dirty="0"/>
              <a:t>Niveau 3 : Organisation de Handi Situations</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bien gérer la promotion de la session</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432430" y="1690688"/>
            <a:ext cx="5116114"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long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432430" y="2269894"/>
            <a:ext cx="5116114" cy="4222981"/>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L’expression « situations de handicap » est de plus en plus courante et lisible dans nos médias. Même s’il y a du chemin à faire pour continuer à sensibiliser, de plus en plus de personnes sont au courant qu’il y a des questions d’accessibilité </a:t>
            </a:r>
          </a:p>
          <a:p>
            <a:pPr marL="0" indent="0">
              <a:buNone/>
            </a:pPr>
            <a:r>
              <a:rPr lang="fr-FR" sz="1200" dirty="0"/>
              <a:t>Mais à quel point se </a:t>
            </a:r>
            <a:r>
              <a:rPr lang="fr-FR" sz="1200" dirty="0" err="1"/>
              <a:t>sent-on</a:t>
            </a:r>
            <a:r>
              <a:rPr lang="fr-FR" sz="1200" dirty="0"/>
              <a:t> directement concerné ? A quel point se dit-on que cela peut nous arriver ? Et qu’il ne s’agit pas « des handicapés à vie » d’un côté, et des autres ? </a:t>
            </a:r>
          </a:p>
          <a:p>
            <a:pPr marL="0" indent="0">
              <a:buNone/>
            </a:pPr>
            <a:r>
              <a:rPr lang="fr-FR" sz="1200" dirty="0"/>
              <a:t>L’#OpenSeriousGame Handi Situations invite les joueurs à vivre (en simulation) et échanger sur 10 situations différentes de handicaps, afin de questionner sur l’accessibilité et ensuite de débriefer sur ce qui peut se faire à l’échelle individuelle ou collective. Il se joue en 1h30 de 5 à 50 participants.</a:t>
            </a:r>
          </a:p>
          <a:p>
            <a:pPr marL="0" indent="0">
              <a:buNone/>
            </a:pPr>
            <a:r>
              <a:rPr lang="fr-FR" sz="1200" dirty="0"/>
              <a:t>Et comme notre but est de sensibiliser un maximum de personnes, Handi-situations est gratuit, jouable sans matériel onéreux ou difficile à trouver, Open Source et sans restrictions dans les usages (licence Creative-Commons-Attribution uniquement), téléchargeable sans avoir à partager de quelconques données personnelles.</a:t>
            </a:r>
          </a:p>
          <a:p>
            <a:pPr marL="0" indent="0">
              <a:buNone/>
            </a:pPr>
            <a:r>
              <a:rPr lang="fr-FR" sz="1200" dirty="0"/>
              <a:t>Le jeu est disponible en version papier imprimée à découper (les cartes sont 100% réutilisables entre sessions de jeu) ou en version numérique gratuite, sans impression à effectuer, sans téléchargement, ni aucune donnée personnelle à fournir. </a:t>
            </a:r>
          </a:p>
        </p:txBody>
      </p:sp>
      <p:graphicFrame>
        <p:nvGraphicFramePr>
          <p:cNvPr id="3" name="Tableau 3">
            <a:extLst>
              <a:ext uri="{FF2B5EF4-FFF2-40B4-BE49-F238E27FC236}">
                <a16:creationId xmlns:a16="http://schemas.microsoft.com/office/drawing/2014/main" id="{18526129-8ACE-0DD0-6BA4-29873EDEB56A}"/>
              </a:ext>
            </a:extLst>
          </p:cNvPr>
          <p:cNvGraphicFramePr>
            <a:graphicFrameLocks noGrp="1"/>
          </p:cNvGraphicFramePr>
          <p:nvPr>
            <p:extLst>
              <p:ext uri="{D42A27DB-BD31-4B8C-83A1-F6EECF244321}">
                <p14:modId xmlns:p14="http://schemas.microsoft.com/office/powerpoint/2010/main" val="489282476"/>
              </p:ext>
            </p:extLst>
          </p:nvPr>
        </p:nvGraphicFramePr>
        <p:xfrm>
          <a:off x="5851461" y="1690688"/>
          <a:ext cx="5709328" cy="4690452"/>
        </p:xfrm>
        <a:graphic>
          <a:graphicData uri="http://schemas.openxmlformats.org/drawingml/2006/table">
            <a:tbl>
              <a:tblPr firstRow="1" bandRow="1">
                <a:tableStyleId>{5C22544A-7EE6-4342-B048-85BDC9FD1C3A}</a:tableStyleId>
              </a:tblPr>
              <a:tblGrid>
                <a:gridCol w="1712314">
                  <a:extLst>
                    <a:ext uri="{9D8B030D-6E8A-4147-A177-3AD203B41FA5}">
                      <a16:colId xmlns:a16="http://schemas.microsoft.com/office/drawing/2014/main" val="3876736984"/>
                    </a:ext>
                  </a:extLst>
                </a:gridCol>
                <a:gridCol w="3997014">
                  <a:extLst>
                    <a:ext uri="{9D8B030D-6E8A-4147-A177-3AD203B41FA5}">
                      <a16:colId xmlns:a16="http://schemas.microsoft.com/office/drawing/2014/main" val="2343136639"/>
                    </a:ext>
                  </a:extLst>
                </a:gridCol>
              </a:tblGrid>
              <a:tr h="644582">
                <a:tc gridSpan="2">
                  <a:txBody>
                    <a:bodyPr/>
                    <a:lstStyle/>
                    <a:p>
                      <a:r>
                        <a:rPr lang="fr-FR" dirty="0"/>
                        <a:t>Liens vers le matériel de promotion (à envoyer avant l’événement) / de préparation</a:t>
                      </a:r>
                    </a:p>
                  </a:txBody>
                  <a:tcPr/>
                </a:tc>
                <a:tc hMerge="1">
                  <a:txBody>
                    <a:bodyPr/>
                    <a:lstStyle/>
                    <a:p>
                      <a:endParaRPr lang="fr-FR" dirty="0"/>
                    </a:p>
                  </a:txBody>
                  <a:tcPr/>
                </a:tc>
                <a:extLst>
                  <a:ext uri="{0D108BD9-81ED-4DB2-BD59-A6C34878D82A}">
                    <a16:rowId xmlns:a16="http://schemas.microsoft.com/office/drawing/2014/main" val="147668848"/>
                  </a:ext>
                </a:extLst>
              </a:tr>
              <a:tr h="644582">
                <a:tc>
                  <a:txBody>
                    <a:bodyPr/>
                    <a:lstStyle/>
                    <a:p>
                      <a:r>
                        <a:rPr lang="fr-FR" sz="1200" dirty="0"/>
                        <a:t>Image de promotion / Flyer / Affiche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3326775514"/>
                  </a:ext>
                </a:extLst>
              </a:tr>
              <a:tr h="644582">
                <a:tc>
                  <a:txBody>
                    <a:bodyPr/>
                    <a:lstStyle/>
                    <a:p>
                      <a:r>
                        <a:rPr lang="fr-FR" sz="1200" dirty="0"/>
                        <a:t>Vidéo promotionnelle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4276951036"/>
                  </a:ext>
                </a:extLst>
              </a:tr>
              <a:tr h="644582">
                <a:tc>
                  <a:txBody>
                    <a:bodyPr/>
                    <a:lstStyle/>
                    <a:p>
                      <a:r>
                        <a:rPr lang="fr-FR" sz="1200" dirty="0"/>
                        <a:t>Texte pour les réseaux sociaux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2422966240"/>
                  </a:ext>
                </a:extLst>
              </a:tr>
              <a:tr h="644582">
                <a:tc>
                  <a:txBody>
                    <a:bodyPr/>
                    <a:lstStyle/>
                    <a:p>
                      <a:r>
                        <a:rPr lang="fr-FR" sz="1200" dirty="0"/>
                        <a:t>Texte de relance des participants (ex: « C’est dans X jours, souvenez vous de …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1145690058"/>
                  </a:ext>
                </a:extLst>
              </a:tr>
              <a:tr h="644582">
                <a:tc>
                  <a:txBody>
                    <a:bodyPr/>
                    <a:lstStyle/>
                    <a:p>
                      <a:r>
                        <a:rPr lang="fr-FR" sz="1200" dirty="0"/>
                        <a:t>Autres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mn-lt"/>
                          <a:ea typeface="+mn-ea"/>
                          <a:cs typeface="+mn-cs"/>
                        </a:rPr>
                        <a:t>Insérer ici un lien vers la ressource correspondante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7418551"/>
                  </a:ext>
                </a:extLst>
              </a:tr>
              <a:tr h="644582">
                <a:tc>
                  <a:txBody>
                    <a:bodyPr/>
                    <a:lstStyle/>
                    <a:p>
                      <a:r>
                        <a:rPr lang="fr-FR" sz="1200" dirty="0"/>
                        <a:t>Autres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104825905"/>
                  </a:ext>
                </a:extLst>
              </a:tr>
            </a:tbl>
          </a:graphicData>
        </a:graphic>
      </p:graphicFrame>
    </p:spTree>
    <p:extLst>
      <p:ext uri="{BB962C8B-B14F-4D97-AF65-F5344CB8AC3E}">
        <p14:creationId xmlns:p14="http://schemas.microsoft.com/office/powerpoint/2010/main" val="388217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721600" cy="1325563"/>
          </a:xfrm>
        </p:spPr>
        <p:txBody>
          <a:bodyPr/>
          <a:lstStyle/>
          <a:p>
            <a:r>
              <a:rPr lang="fr-FR" dirty="0"/>
              <a:t>Niveau 3 : Organisation de Handi Situations</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bien communiquer après la session</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432430" y="1690688"/>
            <a:ext cx="5116114"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Message de remerciement pour la participation</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432430" y="2269894"/>
            <a:ext cx="5116114" cy="4222981"/>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Merci d’avoir participé à Handi Situations, nous espérons que vous avez pris plaisir à y jouer autant que nous avons pris plaisir à l’animer. </a:t>
            </a:r>
          </a:p>
          <a:p>
            <a:pPr marL="0" indent="0">
              <a:buNone/>
            </a:pPr>
            <a:r>
              <a:rPr lang="fr-FR" sz="1200" dirty="0"/>
              <a:t>Surtout, nous espérons que l’expérience vous aura donné envie de vous renseigner, voir les choses différemment, et peut-être de transmettre à votre tour !</a:t>
            </a:r>
          </a:p>
          <a:p>
            <a:pPr marL="0" indent="0">
              <a:buNone/>
            </a:pPr>
            <a:r>
              <a:rPr lang="fr-FR" sz="1200" dirty="0"/>
              <a:t>Vous trouverez toutes les ressources du jeu en #OpenSeriousGame dans la pièce jointe ou dans le lien ci-dessous : </a:t>
            </a:r>
          </a:p>
          <a:p>
            <a:pPr marL="0" indent="0">
              <a:buNone/>
            </a:pPr>
            <a:endParaRPr lang="fr-FR" sz="1200" dirty="0"/>
          </a:p>
          <a:p>
            <a:pPr marL="0" indent="0">
              <a:buNone/>
            </a:pPr>
            <a:r>
              <a:rPr lang="fr-FR" sz="1200" dirty="0"/>
              <a:t>Pour rester en contact, organiser une session à votre tour, trouver des personnes avec qui (</a:t>
            </a:r>
            <a:r>
              <a:rPr lang="fr-FR" sz="1200" dirty="0" err="1"/>
              <a:t>co</a:t>
            </a:r>
            <a:r>
              <a:rPr lang="fr-FR" sz="1200" dirty="0"/>
              <a:t>-)animer le jeu ou proposer vos variantes :</a:t>
            </a:r>
          </a:p>
          <a:p>
            <a:pPr marL="0" indent="0">
              <a:buNone/>
            </a:pPr>
            <a:r>
              <a:rPr lang="fr-FR" sz="1200" b="1" dirty="0">
                <a:hlinkClick r:id="rId13"/>
              </a:rPr>
              <a:t>https://chat.whatsapp.com/EUZg2qoHAWHDLAeeMa3l73</a:t>
            </a:r>
            <a:endParaRPr lang="fr-FR" sz="1200" b="1" dirty="0"/>
          </a:p>
          <a:p>
            <a:pPr marL="0" indent="0">
              <a:buNone/>
            </a:pPr>
            <a:endParaRPr lang="fr-FR" sz="1200" dirty="0"/>
          </a:p>
        </p:txBody>
      </p:sp>
      <p:graphicFrame>
        <p:nvGraphicFramePr>
          <p:cNvPr id="3" name="Tableau 3">
            <a:extLst>
              <a:ext uri="{FF2B5EF4-FFF2-40B4-BE49-F238E27FC236}">
                <a16:creationId xmlns:a16="http://schemas.microsoft.com/office/drawing/2014/main" id="{18526129-8ACE-0DD0-6BA4-29873EDEB56A}"/>
              </a:ext>
            </a:extLst>
          </p:cNvPr>
          <p:cNvGraphicFramePr>
            <a:graphicFrameLocks noGrp="1"/>
          </p:cNvGraphicFramePr>
          <p:nvPr>
            <p:extLst>
              <p:ext uri="{D42A27DB-BD31-4B8C-83A1-F6EECF244321}">
                <p14:modId xmlns:p14="http://schemas.microsoft.com/office/powerpoint/2010/main" val="3172014407"/>
              </p:ext>
            </p:extLst>
          </p:nvPr>
        </p:nvGraphicFramePr>
        <p:xfrm>
          <a:off x="5851461" y="1690688"/>
          <a:ext cx="5709328" cy="4690452"/>
        </p:xfrm>
        <a:graphic>
          <a:graphicData uri="http://schemas.openxmlformats.org/drawingml/2006/table">
            <a:tbl>
              <a:tblPr firstRow="1" bandRow="1">
                <a:tableStyleId>{5C22544A-7EE6-4342-B048-85BDC9FD1C3A}</a:tableStyleId>
              </a:tblPr>
              <a:tblGrid>
                <a:gridCol w="1712314">
                  <a:extLst>
                    <a:ext uri="{9D8B030D-6E8A-4147-A177-3AD203B41FA5}">
                      <a16:colId xmlns:a16="http://schemas.microsoft.com/office/drawing/2014/main" val="3876736984"/>
                    </a:ext>
                  </a:extLst>
                </a:gridCol>
                <a:gridCol w="3997014">
                  <a:extLst>
                    <a:ext uri="{9D8B030D-6E8A-4147-A177-3AD203B41FA5}">
                      <a16:colId xmlns:a16="http://schemas.microsoft.com/office/drawing/2014/main" val="2343136639"/>
                    </a:ext>
                  </a:extLst>
                </a:gridCol>
              </a:tblGrid>
              <a:tr h="644582">
                <a:tc gridSpan="2">
                  <a:txBody>
                    <a:bodyPr/>
                    <a:lstStyle/>
                    <a:p>
                      <a:r>
                        <a:rPr lang="fr-FR" dirty="0"/>
                        <a:t>Liens vers le matériel post-événement</a:t>
                      </a:r>
                    </a:p>
                  </a:txBody>
                  <a:tcPr/>
                </a:tc>
                <a:tc hMerge="1">
                  <a:txBody>
                    <a:bodyPr/>
                    <a:lstStyle/>
                    <a:p>
                      <a:endParaRPr lang="fr-FR" dirty="0"/>
                    </a:p>
                  </a:txBody>
                  <a:tcPr/>
                </a:tc>
                <a:extLst>
                  <a:ext uri="{0D108BD9-81ED-4DB2-BD59-A6C34878D82A}">
                    <a16:rowId xmlns:a16="http://schemas.microsoft.com/office/drawing/2014/main" val="147668848"/>
                  </a:ext>
                </a:extLst>
              </a:tr>
              <a:tr h="644582">
                <a:tc>
                  <a:txBody>
                    <a:bodyPr/>
                    <a:lstStyle/>
                    <a:p>
                      <a:r>
                        <a:rPr lang="fr-FR" sz="1200" dirty="0"/>
                        <a:t>Image de remerciement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3326775514"/>
                  </a:ext>
                </a:extLst>
              </a:tr>
              <a:tr h="644582">
                <a:tc>
                  <a:txBody>
                    <a:bodyPr/>
                    <a:lstStyle/>
                    <a:p>
                      <a:r>
                        <a:rPr lang="fr-FR" sz="1200" dirty="0"/>
                        <a:t>Texte « tout prêt » pour publication sur les réseaux sociaux par les participants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4276951036"/>
                  </a:ext>
                </a:extLst>
              </a:tr>
              <a:tr h="644582">
                <a:tc>
                  <a:txBody>
                    <a:bodyPr/>
                    <a:lstStyle/>
                    <a:p>
                      <a:r>
                        <a:rPr lang="fr-FR" sz="1200" dirty="0"/>
                        <a:t>Inscriptions pour sessions particulières sur la transmission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2422966240"/>
                  </a:ext>
                </a:extLst>
              </a:tr>
              <a:tr h="644582">
                <a:tc>
                  <a:txBody>
                    <a:bodyPr/>
                    <a:lstStyle/>
                    <a:p>
                      <a:r>
                        <a:rPr lang="fr-FR" sz="1200" dirty="0"/>
                        <a:t>Autres ressources clés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rPr>
                        <a:t>Insérer ici un lien vers la ressource correspondante</a:t>
                      </a:r>
                    </a:p>
                  </a:txBody>
                  <a:tcPr/>
                </a:tc>
                <a:extLst>
                  <a:ext uri="{0D108BD9-81ED-4DB2-BD59-A6C34878D82A}">
                    <a16:rowId xmlns:a16="http://schemas.microsoft.com/office/drawing/2014/main" val="1145690058"/>
                  </a:ext>
                </a:extLst>
              </a:tr>
              <a:tr h="644582">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mn-lt"/>
                          <a:ea typeface="+mn-ea"/>
                          <a:cs typeface="+mn-cs"/>
                        </a:rPr>
                        <a:t>Insérer ici un lien vers la ressource correspondante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7418551"/>
                  </a:ext>
                </a:extLst>
              </a:tr>
              <a:tr h="644582">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104825905"/>
                  </a:ext>
                </a:extLst>
              </a:tr>
            </a:tbl>
          </a:graphicData>
        </a:graphic>
      </p:graphicFrame>
    </p:spTree>
    <p:extLst>
      <p:ext uri="{BB962C8B-B14F-4D97-AF65-F5344CB8AC3E}">
        <p14:creationId xmlns:p14="http://schemas.microsoft.com/office/powerpoint/2010/main" val="16840123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721600" cy="1325563"/>
          </a:xfrm>
        </p:spPr>
        <p:txBody>
          <a:bodyPr>
            <a:noAutofit/>
          </a:bodyPr>
          <a:lstStyle/>
          <a:p>
            <a:r>
              <a:rPr lang="fr-FR" sz="3200" dirty="0"/>
              <a:t>Niveau 3 : Ressources supplémentaires à partager avec les joueurs après la session de jeu</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aller plus loin après la session</a:t>
            </a:r>
          </a:p>
        </p:txBody>
      </p:sp>
      <p:graphicFrame>
        <p:nvGraphicFramePr>
          <p:cNvPr id="3" name="Tableau 3">
            <a:extLst>
              <a:ext uri="{FF2B5EF4-FFF2-40B4-BE49-F238E27FC236}">
                <a16:creationId xmlns:a16="http://schemas.microsoft.com/office/drawing/2014/main" id="{18526129-8ACE-0DD0-6BA4-29873EDEB56A}"/>
              </a:ext>
            </a:extLst>
          </p:cNvPr>
          <p:cNvGraphicFramePr>
            <a:graphicFrameLocks noGrp="1"/>
          </p:cNvGraphicFramePr>
          <p:nvPr>
            <p:extLst>
              <p:ext uri="{D42A27DB-BD31-4B8C-83A1-F6EECF244321}">
                <p14:modId xmlns:p14="http://schemas.microsoft.com/office/powerpoint/2010/main" val="1504613677"/>
              </p:ext>
            </p:extLst>
          </p:nvPr>
        </p:nvGraphicFramePr>
        <p:xfrm>
          <a:off x="941033" y="1690688"/>
          <a:ext cx="10619756" cy="4512074"/>
        </p:xfrm>
        <a:graphic>
          <a:graphicData uri="http://schemas.openxmlformats.org/drawingml/2006/table">
            <a:tbl>
              <a:tblPr firstRow="1" bandRow="1">
                <a:tableStyleId>{5C22544A-7EE6-4342-B048-85BDC9FD1C3A}</a:tableStyleId>
              </a:tblPr>
              <a:tblGrid>
                <a:gridCol w="2450180">
                  <a:extLst>
                    <a:ext uri="{9D8B030D-6E8A-4147-A177-3AD203B41FA5}">
                      <a16:colId xmlns:a16="http://schemas.microsoft.com/office/drawing/2014/main" val="3876736984"/>
                    </a:ext>
                  </a:extLst>
                </a:gridCol>
                <a:gridCol w="2450180">
                  <a:extLst>
                    <a:ext uri="{9D8B030D-6E8A-4147-A177-3AD203B41FA5}">
                      <a16:colId xmlns:a16="http://schemas.microsoft.com/office/drawing/2014/main" val="3397622097"/>
                    </a:ext>
                  </a:extLst>
                </a:gridCol>
                <a:gridCol w="5719396">
                  <a:extLst>
                    <a:ext uri="{9D8B030D-6E8A-4147-A177-3AD203B41FA5}">
                      <a16:colId xmlns:a16="http://schemas.microsoft.com/office/drawing/2014/main" val="2343136639"/>
                    </a:ext>
                  </a:extLst>
                </a:gridCol>
              </a:tblGrid>
              <a:tr h="644582">
                <a:tc>
                  <a:txBody>
                    <a:bodyPr/>
                    <a:lstStyle/>
                    <a:p>
                      <a:r>
                        <a:rPr lang="fr-FR" sz="1200" dirty="0"/>
                        <a:t>Titre</a:t>
                      </a:r>
                    </a:p>
                  </a:txBody>
                  <a:tcPr/>
                </a:tc>
                <a:tc>
                  <a:txBody>
                    <a:bodyPr/>
                    <a:lstStyle/>
                    <a:p>
                      <a:pPr marL="0" algn="l" defTabSz="914400" rtl="0" eaLnBrk="1" latinLnBrk="0" hangingPunct="1"/>
                      <a:r>
                        <a:rPr lang="fr-FR" sz="1200" b="1" kern="1200" dirty="0">
                          <a:solidFill>
                            <a:schemeClr val="lt1"/>
                          </a:solidFill>
                          <a:latin typeface="+mn-lt"/>
                          <a:ea typeface="+mn-ea"/>
                          <a:cs typeface="+mn-cs"/>
                        </a:rPr>
                        <a:t>Source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noProof="0" dirty="0">
                          <a:solidFill>
                            <a:schemeClr val="lt1"/>
                          </a:solidFill>
                          <a:latin typeface="+mn-lt"/>
                          <a:ea typeface="+mn-ea"/>
                          <a:cs typeface="+mn-cs"/>
                        </a:rPr>
                        <a:t>Lien</a:t>
                      </a:r>
                    </a:p>
                  </a:txBody>
                  <a:tcPr/>
                </a:tc>
                <a:extLst>
                  <a:ext uri="{0D108BD9-81ED-4DB2-BD59-A6C34878D82A}">
                    <a16:rowId xmlns:a16="http://schemas.microsoft.com/office/drawing/2014/main" val="57630848"/>
                  </a:ext>
                </a:extLst>
              </a:tr>
              <a:tr h="644582">
                <a:tc>
                  <a:txBody>
                    <a:bodyPr/>
                    <a:lstStyle/>
                    <a:p>
                      <a:r>
                        <a:rPr lang="fr-FR" sz="1200" dirty="0"/>
                        <a:t>Données chiffrées par handicap</a:t>
                      </a:r>
                    </a:p>
                  </a:txBody>
                  <a:tcPr/>
                </a:tc>
                <a:tc>
                  <a:txBody>
                    <a:bodyPr/>
                    <a:lstStyle/>
                    <a:p>
                      <a:r>
                        <a:rPr lang="fr-FR" sz="1200" dirty="0"/>
                        <a:t>Ministère du travail, du plein emploi et de l’Insertion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mn-lt"/>
                          <a:ea typeface="+mn-ea"/>
                          <a:cs typeface="+mn-cs"/>
                          <a:hlinkClick r:id="rId13"/>
                        </a:rPr>
                        <a:t>https://travail-emploi.gouv.fr/IMG/pdf/donnes_chiffrees_par_handicap.pdf</a:t>
                      </a:r>
                      <a:endParaRPr kumimoji="0" lang="fr-FR" sz="120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326775514"/>
                  </a:ext>
                </a:extLst>
              </a:tr>
              <a:tr h="644582">
                <a:tc>
                  <a:txBody>
                    <a:bodyPr/>
                    <a:lstStyle/>
                    <a:p>
                      <a:r>
                        <a:rPr lang="fr-FR" sz="1200" dirty="0"/>
                        <a:t>Les Différents types de handicap</a:t>
                      </a:r>
                    </a:p>
                  </a:txBody>
                  <a:tcPr/>
                </a:tc>
                <a:tc>
                  <a:txBody>
                    <a:bodyPr/>
                    <a:lstStyle/>
                    <a:p>
                      <a:r>
                        <a:rPr lang="fr-FR" sz="1200" dirty="0"/>
                        <a:t>Maison départementale (Alpes Maritimes) des personnes handicapées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mn-lt"/>
                          <a:ea typeface="+mn-ea"/>
                          <a:cs typeface="+mn-cs"/>
                          <a:hlinkClick r:id="rId14"/>
                        </a:rPr>
                        <a:t>https://mdph.departement06.fr/actualites/actualites-7349/differents-types-de-handicaps-5781.html?cHash=48c088f2e3d06e45482e5c3a4380b313</a:t>
                      </a:r>
                      <a:endParaRPr kumimoji="0" lang="fr-FR" sz="120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276951036"/>
                  </a:ext>
                </a:extLst>
              </a:tr>
              <a:tr h="644582">
                <a:tc>
                  <a:txBody>
                    <a:bodyPr/>
                    <a:lstStyle/>
                    <a:p>
                      <a:r>
                        <a:rPr lang="fr-FR" sz="1200" dirty="0"/>
                        <a:t>Comprendre le Handicap</a:t>
                      </a:r>
                    </a:p>
                  </a:txBody>
                  <a:tcPr/>
                </a:tc>
                <a:tc>
                  <a:txBody>
                    <a:bodyPr/>
                    <a:lstStyle/>
                    <a:p>
                      <a:r>
                        <a:rPr lang="fr-FR" sz="1200" dirty="0"/>
                        <a:t>Maison départemental (Paris) des Personnes handicapées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mn-lt"/>
                          <a:ea typeface="+mn-ea"/>
                          <a:cs typeface="+mn-cs"/>
                          <a:hlinkClick r:id="rId15"/>
                        </a:rPr>
                        <a:t>https://handicap.paris.fr/comprendre-le-handicap/</a:t>
                      </a:r>
                      <a:endParaRPr kumimoji="0" lang="fr-FR" sz="120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422966240"/>
                  </a:ext>
                </a:extLst>
              </a:tr>
              <a:tr h="644582">
                <a:tc>
                  <a:txBody>
                    <a:bodyPr/>
                    <a:lstStyle/>
                    <a:p>
                      <a:r>
                        <a:rPr lang="fr-FR" sz="1200" dirty="0"/>
                        <a:t>Les formations du CCAH</a:t>
                      </a:r>
                    </a:p>
                  </a:txBody>
                  <a:tcPr/>
                </a:tc>
                <a:tc>
                  <a:txBody>
                    <a:bodyPr/>
                    <a:lstStyle/>
                    <a:p>
                      <a:r>
                        <a:rPr lang="fr-FR" sz="1200" dirty="0"/>
                        <a:t>Comité national Coordination Action Handicap (CCAH)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mn-lt"/>
                          <a:ea typeface="+mn-ea"/>
                          <a:cs typeface="+mn-cs"/>
                          <a:hlinkClick r:id="rId16"/>
                        </a:rPr>
                        <a:t>https://www.ccah.fr/CCAH/Accueil/Formation</a:t>
                      </a:r>
                      <a:endParaRPr kumimoji="0" lang="fr-FR" sz="1200" b="0" i="1"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145690058"/>
                  </a:ext>
                </a:extLst>
              </a:tr>
              <a:tr h="644582">
                <a:tc>
                  <a:txBody>
                    <a:bodyPr/>
                    <a:lstStyle/>
                    <a:p>
                      <a:r>
                        <a:rPr lang="fr-FR" sz="1200" dirty="0"/>
                        <a:t>Différences entre « personne en situation de handicap » et « personne handicapée »</a:t>
                      </a:r>
                    </a:p>
                  </a:txBody>
                  <a:tcPr/>
                </a:tc>
                <a:tc>
                  <a:txBody>
                    <a:bodyPr/>
                    <a:lstStyle/>
                    <a:p>
                      <a:r>
                        <a:rPr lang="fr-FR" sz="1200" dirty="0"/>
                        <a:t>Office des personnes handicapées du Québec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dirty="0">
                          <a:ln>
                            <a:noFill/>
                          </a:ln>
                          <a:solidFill>
                            <a:prstClr val="black"/>
                          </a:solidFill>
                          <a:effectLst/>
                          <a:uLnTx/>
                          <a:uFillTx/>
                          <a:latin typeface="+mn-lt"/>
                          <a:ea typeface="+mn-ea"/>
                          <a:cs typeface="+mn-cs"/>
                          <a:hlinkClick r:id="rId17"/>
                        </a:rPr>
                        <a:t>https://www.ophq.gouv.qc.ca/publications/cyberbulletins-de-loffice/express-o/volume-13-numero-4-ete-2019/mieux-comprendre/personne-handicapee-ou-personne-en-situation-de-handicap-y-a-t-il-une-difference.html</a:t>
                      </a: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7418551"/>
                  </a:ext>
                </a:extLst>
              </a:tr>
              <a:tr h="644582">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104825905"/>
                  </a:ext>
                </a:extLst>
              </a:tr>
            </a:tbl>
          </a:graphicData>
        </a:graphic>
      </p:graphicFrame>
    </p:spTree>
    <p:extLst>
      <p:ext uri="{BB962C8B-B14F-4D97-AF65-F5344CB8AC3E}">
        <p14:creationId xmlns:p14="http://schemas.microsoft.com/office/powerpoint/2010/main" val="2772334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721600" cy="1325563"/>
          </a:xfrm>
        </p:spPr>
        <p:txBody>
          <a:bodyPr>
            <a:noAutofit/>
          </a:bodyPr>
          <a:lstStyle/>
          <a:p>
            <a:r>
              <a:rPr lang="fr-FR" sz="3200" dirty="0"/>
              <a:t>Niveau 3 : Coordonnées des personnes ou des groupes clés</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rester en contact et tisser une communauté</a:t>
            </a:r>
          </a:p>
        </p:txBody>
      </p:sp>
      <p:graphicFrame>
        <p:nvGraphicFramePr>
          <p:cNvPr id="3" name="Tableau 3">
            <a:extLst>
              <a:ext uri="{FF2B5EF4-FFF2-40B4-BE49-F238E27FC236}">
                <a16:creationId xmlns:a16="http://schemas.microsoft.com/office/drawing/2014/main" id="{18526129-8ACE-0DD0-6BA4-29873EDEB56A}"/>
              </a:ext>
            </a:extLst>
          </p:cNvPr>
          <p:cNvGraphicFramePr>
            <a:graphicFrameLocks noGrp="1"/>
          </p:cNvGraphicFramePr>
          <p:nvPr>
            <p:extLst>
              <p:ext uri="{D42A27DB-BD31-4B8C-83A1-F6EECF244321}">
                <p14:modId xmlns:p14="http://schemas.microsoft.com/office/powerpoint/2010/main" val="1048387807"/>
              </p:ext>
            </p:extLst>
          </p:nvPr>
        </p:nvGraphicFramePr>
        <p:xfrm>
          <a:off x="941033" y="1690688"/>
          <a:ext cx="10619756" cy="4512074"/>
        </p:xfrm>
        <a:graphic>
          <a:graphicData uri="http://schemas.openxmlformats.org/drawingml/2006/table">
            <a:tbl>
              <a:tblPr firstRow="1" bandRow="1">
                <a:tableStyleId>{5C22544A-7EE6-4342-B048-85BDC9FD1C3A}</a:tableStyleId>
              </a:tblPr>
              <a:tblGrid>
                <a:gridCol w="2450180">
                  <a:extLst>
                    <a:ext uri="{9D8B030D-6E8A-4147-A177-3AD203B41FA5}">
                      <a16:colId xmlns:a16="http://schemas.microsoft.com/office/drawing/2014/main" val="3876736984"/>
                    </a:ext>
                  </a:extLst>
                </a:gridCol>
                <a:gridCol w="2450180">
                  <a:extLst>
                    <a:ext uri="{9D8B030D-6E8A-4147-A177-3AD203B41FA5}">
                      <a16:colId xmlns:a16="http://schemas.microsoft.com/office/drawing/2014/main" val="3397622097"/>
                    </a:ext>
                  </a:extLst>
                </a:gridCol>
                <a:gridCol w="5719396">
                  <a:extLst>
                    <a:ext uri="{9D8B030D-6E8A-4147-A177-3AD203B41FA5}">
                      <a16:colId xmlns:a16="http://schemas.microsoft.com/office/drawing/2014/main" val="2343136639"/>
                    </a:ext>
                  </a:extLst>
                </a:gridCol>
              </a:tblGrid>
              <a:tr h="644582">
                <a:tc>
                  <a:txBody>
                    <a:bodyPr/>
                    <a:lstStyle/>
                    <a:p>
                      <a:r>
                        <a:rPr lang="fr-FR" sz="1200" dirty="0"/>
                        <a:t>Personne ou groupe</a:t>
                      </a:r>
                    </a:p>
                  </a:txBody>
                  <a:tcPr/>
                </a:tc>
                <a:tc>
                  <a:txBody>
                    <a:bodyPr/>
                    <a:lstStyle/>
                    <a:p>
                      <a:pPr marL="0" algn="l" defTabSz="914400" rtl="0" eaLnBrk="1" latinLnBrk="0" hangingPunct="1"/>
                      <a:r>
                        <a:rPr lang="fr-FR" sz="1200" b="1" kern="1200" dirty="0">
                          <a:solidFill>
                            <a:schemeClr val="lt1"/>
                          </a:solidFill>
                          <a:latin typeface="+mn-lt"/>
                          <a:ea typeface="+mn-ea"/>
                          <a:cs typeface="+mn-cs"/>
                        </a:rPr>
                        <a:t>Qui est-elle ou qui est ce groupe par rapport au jeu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noProof="0" dirty="0">
                          <a:solidFill>
                            <a:schemeClr val="lt1"/>
                          </a:solidFill>
                          <a:latin typeface="+mn-lt"/>
                          <a:ea typeface="+mn-ea"/>
                          <a:cs typeface="+mn-cs"/>
                        </a:rPr>
                        <a:t>Coordonnées (au choix de chacun, mail, réseaux sociaux, lien vers une salle de discussion, sites web, …)</a:t>
                      </a:r>
                    </a:p>
                  </a:txBody>
                  <a:tcPr/>
                </a:tc>
                <a:extLst>
                  <a:ext uri="{0D108BD9-81ED-4DB2-BD59-A6C34878D82A}">
                    <a16:rowId xmlns:a16="http://schemas.microsoft.com/office/drawing/2014/main" val="57630848"/>
                  </a:ext>
                </a:extLst>
              </a:tr>
              <a:tr h="644582">
                <a:tc>
                  <a:txBody>
                    <a:bodyPr/>
                    <a:lstStyle/>
                    <a:p>
                      <a:r>
                        <a:rPr lang="fr-FR" sz="1200" dirty="0"/>
                        <a:t>Groupe WhatsApp Handi Situations</a:t>
                      </a:r>
                    </a:p>
                  </a:txBody>
                  <a:tcPr/>
                </a:tc>
                <a:tc>
                  <a:txBody>
                    <a:bodyPr/>
                    <a:lstStyle/>
                    <a:p>
                      <a:r>
                        <a:rPr lang="fr-FR" sz="1200" dirty="0"/>
                        <a:t>Toutes les personnes à l’initiative de la création et des </a:t>
                      </a:r>
                      <a:r>
                        <a:rPr lang="fr-FR" sz="1200"/>
                        <a:t>premières animations</a:t>
                      </a:r>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hlinkClick r:id="rId13"/>
                        </a:rPr>
                        <a:t>https://chat.whatsapp.com/EUZg2qoHAWHDLAeeMa3l73</a:t>
                      </a:r>
                      <a:endParaRPr lang="fr-FR"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326775514"/>
                  </a:ext>
                </a:extLst>
              </a:tr>
              <a:tr h="644582">
                <a:tc>
                  <a:txBody>
                    <a:bodyPr/>
                    <a:lstStyle/>
                    <a:p>
                      <a:r>
                        <a:rPr lang="fr-FR" sz="1200" dirty="0"/>
                        <a:t>Emeline PARIZEL</a:t>
                      </a:r>
                    </a:p>
                  </a:txBody>
                  <a:tcPr/>
                </a:tc>
                <a:tc>
                  <a:txBody>
                    <a:bodyPr/>
                    <a:lstStyle/>
                    <a:p>
                      <a:r>
                        <a:rPr lang="fr-FR" sz="1200" dirty="0" err="1"/>
                        <a:t>Co-créatrice</a:t>
                      </a:r>
                      <a:r>
                        <a:rPr lang="fr-FR" sz="1200" dirty="0"/>
                        <a:t> du jeu</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dirty="0">
                          <a:hlinkClick r:id="rId14"/>
                        </a:rPr>
                        <a:t>https://www.linkedin.com/in/eparizel/</a:t>
                      </a:r>
                      <a:endParaRPr lang="fr-FR"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276951036"/>
                  </a:ext>
                </a:extLst>
              </a:tr>
              <a:tr h="644582">
                <a:tc>
                  <a:txBody>
                    <a:bodyPr/>
                    <a:lstStyle/>
                    <a:p>
                      <a:r>
                        <a:rPr lang="fr-FR" sz="1200" dirty="0"/>
                        <a:t>Alexandre QUACH</a:t>
                      </a:r>
                    </a:p>
                  </a:txBody>
                  <a:tcPr/>
                </a:tc>
                <a:tc>
                  <a:txBody>
                    <a:bodyPr/>
                    <a:lstStyle/>
                    <a:p>
                      <a:r>
                        <a:rPr lang="fr-FR" sz="1200" dirty="0" err="1"/>
                        <a:t>Co-créateur</a:t>
                      </a:r>
                      <a:r>
                        <a:rPr lang="fr-FR" sz="1200" dirty="0"/>
                        <a:t> du jeu</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dirty="0">
                          <a:hlinkClick r:id="rId15"/>
                        </a:rPr>
                        <a:t>https://www.linkedin.com/in/alexandrequach/</a:t>
                      </a:r>
                      <a:endParaRPr lang="fr-FR"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422966240"/>
                  </a:ext>
                </a:extLst>
              </a:tr>
              <a:tr h="644582">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1"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145690058"/>
                  </a:ext>
                </a:extLst>
              </a:tr>
              <a:tr h="644582">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7418551"/>
                  </a:ext>
                </a:extLst>
              </a:tr>
              <a:tr h="644582">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104825905"/>
                  </a:ext>
                </a:extLst>
              </a:tr>
            </a:tbl>
          </a:graphicData>
        </a:graphic>
      </p:graphicFrame>
      <p:pic>
        <p:nvPicPr>
          <p:cNvPr id="4" name="Image 3" descr="Une image contenant personne, extérieur&#10;&#10;Description générée automatiquement">
            <a:extLst>
              <a:ext uri="{FF2B5EF4-FFF2-40B4-BE49-F238E27FC236}">
                <a16:creationId xmlns:a16="http://schemas.microsoft.com/office/drawing/2014/main" id="{1C030307-F5FD-1FA2-E86E-1EDAC81E7420}"/>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358199" y="3045890"/>
            <a:ext cx="529181" cy="529181"/>
          </a:xfrm>
          <a:prstGeom prst="rect">
            <a:avLst/>
          </a:prstGeom>
        </p:spPr>
      </p:pic>
      <p:pic>
        <p:nvPicPr>
          <p:cNvPr id="5" name="Image 4" descr="Une image contenant personne, mur, intérieur, homme&#10;&#10;Description générée automatiquement">
            <a:extLst>
              <a:ext uri="{FF2B5EF4-FFF2-40B4-BE49-F238E27FC236}">
                <a16:creationId xmlns:a16="http://schemas.microsoft.com/office/drawing/2014/main" id="{89475936-00D6-1B06-4B80-78E19B5F234C}"/>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360435" y="3652294"/>
            <a:ext cx="529181" cy="529181"/>
          </a:xfrm>
          <a:prstGeom prst="rect">
            <a:avLst/>
          </a:prstGeom>
        </p:spPr>
      </p:pic>
      <p:pic>
        <p:nvPicPr>
          <p:cNvPr id="21" name="Image 20">
            <a:extLst>
              <a:ext uri="{FF2B5EF4-FFF2-40B4-BE49-F238E27FC236}">
                <a16:creationId xmlns:a16="http://schemas.microsoft.com/office/drawing/2014/main" id="{BC54544E-EB16-1083-571D-920AAAD08257}"/>
              </a:ext>
            </a:extLst>
          </p:cNvPr>
          <p:cNvPicPr>
            <a:picLocks noChangeAspect="1"/>
          </p:cNvPicPr>
          <p:nvPr/>
        </p:nvPicPr>
        <p:blipFill>
          <a:blip r:embed="rId18" cstate="print">
            <a:extLst>
              <a:ext uri="{28A0092B-C50C-407E-A947-70E740481C1C}">
                <a14:useLocalDpi xmlns:a14="http://schemas.microsoft.com/office/drawing/2010/main"/>
              </a:ext>
              <a:ext uri="{837473B0-CC2E-450A-ABE3-18F120FF3D39}">
                <a1611:picAttrSrcUrl xmlns:a1611="http://schemas.microsoft.com/office/drawing/2016/11/main" r:id="rId19"/>
              </a:ext>
            </a:extLst>
          </a:blip>
          <a:stretch>
            <a:fillRect/>
          </a:stretch>
        </p:blipFill>
        <p:spPr>
          <a:xfrm>
            <a:off x="308916" y="2342578"/>
            <a:ext cx="597514" cy="597514"/>
          </a:xfrm>
          <a:prstGeom prst="rect">
            <a:avLst/>
          </a:prstGeom>
        </p:spPr>
      </p:pic>
    </p:spTree>
    <p:extLst>
      <p:ext uri="{BB962C8B-B14F-4D97-AF65-F5344CB8AC3E}">
        <p14:creationId xmlns:p14="http://schemas.microsoft.com/office/powerpoint/2010/main" val="1433387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685062" cy="1325563"/>
          </a:xfrm>
        </p:spPr>
        <p:txBody>
          <a:bodyPr>
            <a:normAutofit fontScale="90000"/>
          </a:bodyPr>
          <a:lstStyle/>
          <a:p>
            <a:r>
              <a:rPr lang="fr-FR" dirty="0"/>
              <a:t>Niveau 4 : Recommandations pour </a:t>
            </a:r>
            <a:r>
              <a:rPr lang="fr-FR" dirty="0" err="1"/>
              <a:t>Co-animation</a:t>
            </a:r>
            <a:r>
              <a:rPr lang="fr-FR" dirty="0"/>
              <a:t> de Handi Situations</a:t>
            </a:r>
          </a:p>
        </p:txBody>
      </p:sp>
      <p:grpSp>
        <p:nvGrpSpPr>
          <p:cNvPr id="18" name="Groupe 17">
            <a:extLst>
              <a:ext uri="{FF2B5EF4-FFF2-40B4-BE49-F238E27FC236}">
                <a16:creationId xmlns:a16="http://schemas.microsoft.com/office/drawing/2014/main" id="{FEA878E7-D150-4A6E-8BD6-C5CD12DC290D}"/>
              </a:ext>
            </a:extLst>
          </p:cNvPr>
          <p:cNvGrpSpPr/>
          <p:nvPr/>
        </p:nvGrpSpPr>
        <p:grpSpPr>
          <a:xfrm>
            <a:off x="11042867" y="436351"/>
            <a:ext cx="997813" cy="1075614"/>
            <a:chOff x="6060465" y="3463636"/>
            <a:chExt cx="819385" cy="883274"/>
          </a:xfrm>
          <a:solidFill>
            <a:srgbClr val="ED7D31"/>
          </a:solidFill>
        </p:grpSpPr>
        <p:pic>
          <p:nvPicPr>
            <p:cNvPr id="19" name="Graphique 18" descr="Presse-papiers mixte avec un remplissage uni">
              <a:extLst>
                <a:ext uri="{FF2B5EF4-FFF2-40B4-BE49-F238E27FC236}">
                  <a16:creationId xmlns:a16="http://schemas.microsoft.com/office/drawing/2014/main" id="{7A307930-3C71-4CB0-B10D-4B31FCB6DB8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20" name="Groupe 19">
              <a:extLst>
                <a:ext uri="{FF2B5EF4-FFF2-40B4-BE49-F238E27FC236}">
                  <a16:creationId xmlns:a16="http://schemas.microsoft.com/office/drawing/2014/main" id="{4891B46A-A77A-4B9E-B37A-385ECFF1CBB7}"/>
                </a:ext>
              </a:extLst>
            </p:cNvPr>
            <p:cNvGrpSpPr/>
            <p:nvPr/>
          </p:nvGrpSpPr>
          <p:grpSpPr>
            <a:xfrm>
              <a:off x="6132133" y="3463636"/>
              <a:ext cx="612923" cy="883274"/>
              <a:chOff x="6132133" y="3463636"/>
              <a:chExt cx="612923" cy="883274"/>
            </a:xfrm>
            <a:grpFill/>
          </p:grpSpPr>
          <p:pic>
            <p:nvPicPr>
              <p:cNvPr id="32" name="Graphique 31" descr="Centre d’appels avec un remplissage uni">
                <a:extLst>
                  <a:ext uri="{FF2B5EF4-FFF2-40B4-BE49-F238E27FC236}">
                    <a16:creationId xmlns:a16="http://schemas.microsoft.com/office/drawing/2014/main" id="{7E93096D-DAFE-431C-832B-7A9B2D0E6B99}"/>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33" name="Groupe 32">
                <a:extLst>
                  <a:ext uri="{FF2B5EF4-FFF2-40B4-BE49-F238E27FC236}">
                    <a16:creationId xmlns:a16="http://schemas.microsoft.com/office/drawing/2014/main" id="{1594F69A-6905-4394-A350-C327DC43E09E}"/>
                  </a:ext>
                </a:extLst>
              </p:cNvPr>
              <p:cNvGrpSpPr/>
              <p:nvPr/>
            </p:nvGrpSpPr>
            <p:grpSpPr>
              <a:xfrm flipH="1">
                <a:off x="6132133" y="3682042"/>
                <a:ext cx="611857" cy="664868"/>
                <a:chOff x="5018285" y="4055721"/>
                <a:chExt cx="696982" cy="731970"/>
              </a:xfrm>
              <a:grpFill/>
            </p:grpSpPr>
            <p:pic>
              <p:nvPicPr>
                <p:cNvPr id="34" name="Graphique 33" descr="Personne confuse avec un remplissage uni">
                  <a:extLst>
                    <a:ext uri="{FF2B5EF4-FFF2-40B4-BE49-F238E27FC236}">
                      <a16:creationId xmlns:a16="http://schemas.microsoft.com/office/drawing/2014/main" id="{8EBCEC49-234C-4615-823D-8998B74A7FA9}"/>
                    </a:ext>
                  </a:extLst>
                </p:cNvPr>
                <p:cNvPicPr>
                  <a:picLocks noChangeAspect="1"/>
                </p:cNvPicPr>
                <p:nvPr/>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35" name="Rectangle : coins arrondis 34">
                  <a:extLst>
                    <a:ext uri="{FF2B5EF4-FFF2-40B4-BE49-F238E27FC236}">
                      <a16:creationId xmlns:a16="http://schemas.microsoft.com/office/drawing/2014/main" id="{E4178915-20AA-4969-B49F-47A5DEBA3014}"/>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1" name="Image 20">
              <a:extLst>
                <a:ext uri="{FF2B5EF4-FFF2-40B4-BE49-F238E27FC236}">
                  <a16:creationId xmlns:a16="http://schemas.microsoft.com/office/drawing/2014/main" id="{8B57994B-DC57-4ADD-A8B2-934385E4E975}"/>
                </a:ext>
              </a:extLst>
            </p:cNvPr>
            <p:cNvPicPr>
              <a:picLocks noChangeAspect="1"/>
            </p:cNvPicPr>
            <p:nvPr/>
          </p:nvPicPr>
          <p:blipFill>
            <a:blip r:embed="rId8" cstate="print">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tretch>
              <a:fillRect/>
            </a:stretch>
          </p:blipFill>
          <p:spPr>
            <a:xfrm>
              <a:off x="6474915" y="3741133"/>
              <a:ext cx="109675" cy="109475"/>
            </a:xfrm>
            <a:prstGeom prst="rect">
              <a:avLst/>
            </a:prstGeom>
            <a:grpFill/>
          </p:spPr>
        </p:pic>
        <p:pic>
          <p:nvPicPr>
            <p:cNvPr id="31" name="Graphique 30" descr="Chronomètre avec un remplissage uni">
              <a:extLst>
                <a:ext uri="{FF2B5EF4-FFF2-40B4-BE49-F238E27FC236}">
                  <a16:creationId xmlns:a16="http://schemas.microsoft.com/office/drawing/2014/main" id="{0F2D1000-C76F-4767-B6B2-0081CA164C5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sp>
        <p:nvSpPr>
          <p:cNvPr id="36" name="Bulle narrative : ronde 35">
            <a:extLst>
              <a:ext uri="{FF2B5EF4-FFF2-40B4-BE49-F238E27FC236}">
                <a16:creationId xmlns:a16="http://schemas.microsoft.com/office/drawing/2014/main" id="{05194C88-BBE8-496F-A2E1-1DBD292A265D}"/>
              </a:ext>
            </a:extLst>
          </p:cNvPr>
          <p:cNvSpPr/>
          <p:nvPr/>
        </p:nvSpPr>
        <p:spPr>
          <a:xfrm>
            <a:off x="8541831" y="44133"/>
            <a:ext cx="2811969" cy="1456415"/>
          </a:xfrm>
          <a:prstGeom prst="wedgeEllipseCallout">
            <a:avLst>
              <a:gd name="adj1" fmla="val 39009"/>
              <a:gd name="adj2" fmla="val 2931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pouvoir se répartir facilement les tâches pendant la session</a:t>
            </a:r>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1606745258"/>
              </p:ext>
            </p:extLst>
          </p:nvPr>
        </p:nvGraphicFramePr>
        <p:xfrm>
          <a:off x="838200" y="2345604"/>
          <a:ext cx="9296376" cy="347748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Co-animateur(-</a:t>
                      </a:r>
                      <a:r>
                        <a:rPr lang="fr-FR" sz="1200" noProof="0" dirty="0" err="1"/>
                        <a:t>trice</a:t>
                      </a:r>
                      <a:r>
                        <a:rPr lang="fr-FR" sz="1200" noProof="0" dirty="0"/>
                        <a:t>)</a:t>
                      </a:r>
                    </a:p>
                  </a:txBody>
                  <a:tcPr>
                    <a:solidFill>
                      <a:srgbClr val="0683AA"/>
                    </a:solidFill>
                  </a:tcPr>
                </a:tc>
                <a:tc>
                  <a:txBody>
                    <a:bodyPr/>
                    <a:lstStyle/>
                    <a:p>
                      <a:pPr algn="ctr"/>
                      <a:r>
                        <a:rPr lang="fr-FR" sz="1200" noProof="0" dirty="0"/>
                        <a:t>Niv 5</a:t>
                      </a:r>
                    </a:p>
                    <a:p>
                      <a:pPr algn="ctr"/>
                      <a:r>
                        <a:rPr lang="fr-FR" sz="1200" noProof="0" dirty="0"/>
                        <a:t>Lead Animateur(-</a:t>
                      </a:r>
                      <a:r>
                        <a:rPr lang="fr-FR" sz="1200" noProof="0" dirty="0" err="1"/>
                        <a:t>trice</a:t>
                      </a:r>
                      <a:r>
                        <a:rPr lang="fr-FR" sz="1200" noProof="0" dirty="0"/>
                        <a:t>)</a:t>
                      </a:r>
                    </a:p>
                  </a:txBody>
                  <a:tcPr>
                    <a:solidFill>
                      <a:srgbClr val="0683AA"/>
                    </a:solidFill>
                  </a:tcPr>
                </a:tc>
                <a:extLst>
                  <a:ext uri="{0D108BD9-81ED-4DB2-BD59-A6C34878D82A}">
                    <a16:rowId xmlns:a16="http://schemas.microsoft.com/office/drawing/2014/main" val="1531808552"/>
                  </a:ext>
                </a:extLst>
              </a:tr>
              <a:tr h="208025">
                <a:tc>
                  <a:txBody>
                    <a:bodyPr/>
                    <a:lstStyle/>
                    <a:p>
                      <a:r>
                        <a:rPr lang="fr-FR" sz="1000" noProof="0" dirty="0"/>
                        <a:t>Intro – Accueil – Ouverture</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3466427935"/>
                  </a:ext>
                </a:extLst>
              </a:tr>
              <a:tr h="208025">
                <a:tc>
                  <a:txBody>
                    <a:bodyPr/>
                    <a:lstStyle/>
                    <a:p>
                      <a:r>
                        <a:rPr lang="fr-FR" sz="1000" noProof="0" dirty="0"/>
                        <a:t>Présentation du lieu d’accueil</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615886325"/>
                  </a:ext>
                </a:extLst>
              </a:tr>
              <a:tr h="208025">
                <a:tc>
                  <a:txBody>
                    <a:bodyPr/>
                    <a:lstStyle/>
                    <a:p>
                      <a:r>
                        <a:rPr lang="fr-FR" sz="1000" noProof="0" dirty="0"/>
                        <a:t>Présentation de soi et invitation à transmettre</a:t>
                      </a:r>
                    </a:p>
                  </a:txBody>
                  <a:tcPr>
                    <a:solidFill>
                      <a:srgbClr val="0683AA"/>
                    </a:solidFill>
                  </a:tcPr>
                </a:tc>
                <a:tc>
                  <a:txBody>
                    <a:bodyPr/>
                    <a:lstStyle/>
                    <a:p>
                      <a:pPr algn="ctr"/>
                      <a:r>
                        <a:rPr lang="fr-FR" sz="1000" noProof="0" dirty="0"/>
                        <a:t>x</a:t>
                      </a:r>
                    </a:p>
                  </a:txBody>
                  <a:tcPr/>
                </a:tc>
                <a:tc>
                  <a:txBody>
                    <a:bodyPr/>
                    <a:lstStyle/>
                    <a:p>
                      <a:pPr algn="ctr"/>
                      <a:r>
                        <a:rPr lang="fr-FR" sz="1000" noProof="0" dirty="0"/>
                        <a:t>x</a:t>
                      </a:r>
                    </a:p>
                  </a:txBody>
                  <a:tcPr/>
                </a:tc>
                <a:extLst>
                  <a:ext uri="{0D108BD9-81ED-4DB2-BD59-A6C34878D82A}">
                    <a16:rowId xmlns:a16="http://schemas.microsoft.com/office/drawing/2014/main" val="3272133688"/>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Présentation de l’objectif de Handi Situations</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Présentation du déroulement de jeu</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1881446753"/>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Présentation de ce qu’il y a dans les cartes épreuves et les cartes situations de handicap</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792998367"/>
                  </a:ext>
                </a:extLst>
              </a:tr>
              <a:tr h="208025">
                <a:tc>
                  <a:txBody>
                    <a:bodyPr/>
                    <a:lstStyle/>
                    <a:p>
                      <a:r>
                        <a:rPr lang="fr-FR" sz="1000" noProof="0" dirty="0"/>
                        <a:t>Rappel des règles du jeu</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1110937315"/>
                  </a:ext>
                </a:extLst>
              </a:tr>
              <a:tr h="208025">
                <a:tc>
                  <a:txBody>
                    <a:bodyPr/>
                    <a:lstStyle/>
                    <a:p>
                      <a:r>
                        <a:rPr lang="fr-FR" sz="1000" noProof="0" dirty="0"/>
                        <a:t>Suivi des différents groupes pendant le tour de jeu</a:t>
                      </a:r>
                    </a:p>
                  </a:txBody>
                  <a:tcPr>
                    <a:solidFill>
                      <a:srgbClr val="0683AA"/>
                    </a:solidFill>
                  </a:tcPr>
                </a:tc>
                <a:tc>
                  <a:txBody>
                    <a:bodyPr/>
                    <a:lstStyle/>
                    <a:p>
                      <a:pPr algn="ctr"/>
                      <a:r>
                        <a:rPr lang="fr-FR" sz="1000" noProof="0" dirty="0"/>
                        <a:t>x</a:t>
                      </a:r>
                    </a:p>
                  </a:txBody>
                  <a:tcPr/>
                </a:tc>
                <a:tc>
                  <a:txBody>
                    <a:bodyPr/>
                    <a:lstStyle/>
                    <a:p>
                      <a:pPr algn="ctr"/>
                      <a:r>
                        <a:rPr lang="fr-FR" sz="1000" noProof="0" dirty="0"/>
                        <a:t>X</a:t>
                      </a:r>
                    </a:p>
                  </a:txBody>
                  <a:tcPr/>
                </a:tc>
                <a:extLst>
                  <a:ext uri="{0D108BD9-81ED-4DB2-BD59-A6C34878D82A}">
                    <a16:rowId xmlns:a16="http://schemas.microsoft.com/office/drawing/2014/main" val="3635335861"/>
                  </a:ext>
                </a:extLst>
              </a:tr>
              <a:tr h="208025">
                <a:tc>
                  <a:txBody>
                    <a:bodyPr/>
                    <a:lstStyle/>
                    <a:p>
                      <a:r>
                        <a:rPr lang="fr-FR" sz="1000" noProof="0" dirty="0"/>
                        <a:t>S’il manque des joueurs, jouer avec les groupes qui en manquent</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808980427"/>
                  </a:ext>
                </a:extLst>
              </a:tr>
              <a:tr h="208025">
                <a:tc>
                  <a:txBody>
                    <a:bodyPr/>
                    <a:lstStyle/>
                    <a:p>
                      <a:r>
                        <a:rPr lang="fr-FR" sz="1000" noProof="0" dirty="0"/>
                        <a:t>Intro du Debriefing</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513039241"/>
                  </a:ext>
                </a:extLst>
              </a:tr>
              <a:tr h="208025">
                <a:tc>
                  <a:txBody>
                    <a:bodyPr/>
                    <a:lstStyle/>
                    <a:p>
                      <a:r>
                        <a:rPr lang="fr-FR" sz="1000" noProof="0" dirty="0"/>
                        <a:t>Fermeture du debriefing</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2937496946"/>
                  </a:ext>
                </a:extLst>
              </a:tr>
              <a:tr h="208025">
                <a:tc>
                  <a:txBody>
                    <a:bodyPr/>
                    <a:lstStyle/>
                    <a:p>
                      <a:r>
                        <a:rPr lang="fr-FR" sz="1000" noProof="0" dirty="0"/>
                        <a:t>Remerciements et fermeture</a:t>
                      </a:r>
                    </a:p>
                  </a:txBody>
                  <a:tcPr>
                    <a:solidFill>
                      <a:srgbClr val="0683AA"/>
                    </a:solidFill>
                  </a:tcPr>
                </a:tc>
                <a:tc>
                  <a:txBody>
                    <a:bodyPr/>
                    <a:lstStyle/>
                    <a:p>
                      <a:pPr algn="ctr"/>
                      <a:r>
                        <a:rPr lang="fr-FR" sz="1000" noProof="0" dirty="0"/>
                        <a:t>x</a:t>
                      </a:r>
                    </a:p>
                  </a:txBody>
                  <a:tcPr/>
                </a:tc>
                <a:tc>
                  <a:txBody>
                    <a:bodyPr/>
                    <a:lstStyle/>
                    <a:p>
                      <a:pPr algn="ctr"/>
                      <a:r>
                        <a:rPr lang="fr-FR" sz="1000" noProof="0" dirty="0"/>
                        <a:t>X</a:t>
                      </a:r>
                    </a:p>
                  </a:txBody>
                  <a:tcPr/>
                </a:tc>
                <a:extLst>
                  <a:ext uri="{0D108BD9-81ED-4DB2-BD59-A6C34878D82A}">
                    <a16:rowId xmlns:a16="http://schemas.microsoft.com/office/drawing/2014/main" val="1752013416"/>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12" cstate="print">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16"/>
                <a:srcRect/>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685062" cy="1325563"/>
          </a:xfrm>
        </p:spPr>
        <p:txBody>
          <a:bodyPr/>
          <a:lstStyle/>
          <a:p>
            <a:r>
              <a:rPr lang="fr-FR" dirty="0"/>
              <a:t>Niveau 4 : Préparer l’animation de Handi Situations</a:t>
            </a:r>
          </a:p>
        </p:txBody>
      </p:sp>
      <p:grpSp>
        <p:nvGrpSpPr>
          <p:cNvPr id="18" name="Groupe 17">
            <a:extLst>
              <a:ext uri="{FF2B5EF4-FFF2-40B4-BE49-F238E27FC236}">
                <a16:creationId xmlns:a16="http://schemas.microsoft.com/office/drawing/2014/main" id="{FEA878E7-D150-4A6E-8BD6-C5CD12DC290D}"/>
              </a:ext>
            </a:extLst>
          </p:cNvPr>
          <p:cNvGrpSpPr/>
          <p:nvPr/>
        </p:nvGrpSpPr>
        <p:grpSpPr>
          <a:xfrm>
            <a:off x="11042867" y="436351"/>
            <a:ext cx="997813" cy="1075614"/>
            <a:chOff x="6060465" y="3463636"/>
            <a:chExt cx="819385" cy="883274"/>
          </a:xfrm>
          <a:solidFill>
            <a:srgbClr val="ED7D31"/>
          </a:solidFill>
        </p:grpSpPr>
        <p:pic>
          <p:nvPicPr>
            <p:cNvPr id="19" name="Graphique 18" descr="Presse-papiers mixte avec un remplissage uni">
              <a:extLst>
                <a:ext uri="{FF2B5EF4-FFF2-40B4-BE49-F238E27FC236}">
                  <a16:creationId xmlns:a16="http://schemas.microsoft.com/office/drawing/2014/main" id="{7A307930-3C71-4CB0-B10D-4B31FCB6DB8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20" name="Groupe 19">
              <a:extLst>
                <a:ext uri="{FF2B5EF4-FFF2-40B4-BE49-F238E27FC236}">
                  <a16:creationId xmlns:a16="http://schemas.microsoft.com/office/drawing/2014/main" id="{4891B46A-A77A-4B9E-B37A-385ECFF1CBB7}"/>
                </a:ext>
              </a:extLst>
            </p:cNvPr>
            <p:cNvGrpSpPr/>
            <p:nvPr/>
          </p:nvGrpSpPr>
          <p:grpSpPr>
            <a:xfrm>
              <a:off x="6132133" y="3463636"/>
              <a:ext cx="612923" cy="883274"/>
              <a:chOff x="6132133" y="3463636"/>
              <a:chExt cx="612923" cy="883274"/>
            </a:xfrm>
            <a:grpFill/>
          </p:grpSpPr>
          <p:pic>
            <p:nvPicPr>
              <p:cNvPr id="32" name="Graphique 31" descr="Centre d’appels avec un remplissage uni">
                <a:extLst>
                  <a:ext uri="{FF2B5EF4-FFF2-40B4-BE49-F238E27FC236}">
                    <a16:creationId xmlns:a16="http://schemas.microsoft.com/office/drawing/2014/main" id="{7E93096D-DAFE-431C-832B-7A9B2D0E6B99}"/>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33" name="Groupe 32">
                <a:extLst>
                  <a:ext uri="{FF2B5EF4-FFF2-40B4-BE49-F238E27FC236}">
                    <a16:creationId xmlns:a16="http://schemas.microsoft.com/office/drawing/2014/main" id="{1594F69A-6905-4394-A350-C327DC43E09E}"/>
                  </a:ext>
                </a:extLst>
              </p:cNvPr>
              <p:cNvGrpSpPr/>
              <p:nvPr/>
            </p:nvGrpSpPr>
            <p:grpSpPr>
              <a:xfrm flipH="1">
                <a:off x="6132133" y="3682042"/>
                <a:ext cx="611857" cy="664868"/>
                <a:chOff x="5018285" y="4055721"/>
                <a:chExt cx="696982" cy="731970"/>
              </a:xfrm>
              <a:grpFill/>
            </p:grpSpPr>
            <p:pic>
              <p:nvPicPr>
                <p:cNvPr id="34" name="Graphique 33" descr="Personne confuse avec un remplissage uni">
                  <a:extLst>
                    <a:ext uri="{FF2B5EF4-FFF2-40B4-BE49-F238E27FC236}">
                      <a16:creationId xmlns:a16="http://schemas.microsoft.com/office/drawing/2014/main" id="{8EBCEC49-234C-4615-823D-8998B74A7FA9}"/>
                    </a:ext>
                  </a:extLst>
                </p:cNvPr>
                <p:cNvPicPr>
                  <a:picLocks noChangeAspect="1"/>
                </p:cNvPicPr>
                <p:nvPr/>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35" name="Rectangle : coins arrondis 34">
                  <a:extLst>
                    <a:ext uri="{FF2B5EF4-FFF2-40B4-BE49-F238E27FC236}">
                      <a16:creationId xmlns:a16="http://schemas.microsoft.com/office/drawing/2014/main" id="{E4178915-20AA-4969-B49F-47A5DEBA3014}"/>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1" name="Image 20">
              <a:extLst>
                <a:ext uri="{FF2B5EF4-FFF2-40B4-BE49-F238E27FC236}">
                  <a16:creationId xmlns:a16="http://schemas.microsoft.com/office/drawing/2014/main" id="{8B57994B-DC57-4ADD-A8B2-934385E4E975}"/>
                </a:ext>
              </a:extLst>
            </p:cNvPr>
            <p:cNvPicPr>
              <a:picLocks noChangeAspect="1"/>
            </p:cNvPicPr>
            <p:nvPr/>
          </p:nvPicPr>
          <p:blipFill>
            <a:blip r:embed="rId8" cstate="print">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tretch>
              <a:fillRect/>
            </a:stretch>
          </p:blipFill>
          <p:spPr>
            <a:xfrm>
              <a:off x="6474915" y="3741133"/>
              <a:ext cx="109675" cy="109475"/>
            </a:xfrm>
            <a:prstGeom prst="rect">
              <a:avLst/>
            </a:prstGeom>
            <a:grpFill/>
          </p:spPr>
        </p:pic>
        <p:pic>
          <p:nvPicPr>
            <p:cNvPr id="31" name="Graphique 30" descr="Chronomètre avec un remplissage uni">
              <a:extLst>
                <a:ext uri="{FF2B5EF4-FFF2-40B4-BE49-F238E27FC236}">
                  <a16:creationId xmlns:a16="http://schemas.microsoft.com/office/drawing/2014/main" id="{0F2D1000-C76F-4767-B6B2-0081CA164C5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sp>
        <p:nvSpPr>
          <p:cNvPr id="36" name="Bulle narrative : ronde 35">
            <a:extLst>
              <a:ext uri="{FF2B5EF4-FFF2-40B4-BE49-F238E27FC236}">
                <a16:creationId xmlns:a16="http://schemas.microsoft.com/office/drawing/2014/main" id="{05194C88-BBE8-496F-A2E1-1DBD292A265D}"/>
              </a:ext>
            </a:extLst>
          </p:cNvPr>
          <p:cNvSpPr/>
          <p:nvPr/>
        </p:nvSpPr>
        <p:spPr>
          <a:xfrm>
            <a:off x="8541831" y="44133"/>
            <a:ext cx="2811969" cy="1456415"/>
          </a:xfrm>
          <a:prstGeom prst="wedgeEllipseCallout">
            <a:avLst>
              <a:gd name="adj1" fmla="val 39009"/>
              <a:gd name="adj2" fmla="val 2931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être prêt le jour du jeu</a:t>
            </a:r>
          </a:p>
        </p:txBody>
      </p:sp>
      <p:graphicFrame>
        <p:nvGraphicFramePr>
          <p:cNvPr id="4" name="Tableau 3">
            <a:extLst>
              <a:ext uri="{FF2B5EF4-FFF2-40B4-BE49-F238E27FC236}">
                <a16:creationId xmlns:a16="http://schemas.microsoft.com/office/drawing/2014/main" id="{FDE86ED1-3551-54E2-041C-3380144BBB71}"/>
              </a:ext>
            </a:extLst>
          </p:cNvPr>
          <p:cNvGraphicFramePr>
            <a:graphicFrameLocks noGrp="1"/>
          </p:cNvGraphicFramePr>
          <p:nvPr>
            <p:extLst>
              <p:ext uri="{D42A27DB-BD31-4B8C-83A1-F6EECF244321}">
                <p14:modId xmlns:p14="http://schemas.microsoft.com/office/powerpoint/2010/main" val="3471186505"/>
              </p:ext>
            </p:extLst>
          </p:nvPr>
        </p:nvGraphicFramePr>
        <p:xfrm>
          <a:off x="623286" y="1582718"/>
          <a:ext cx="10945427" cy="4873428"/>
        </p:xfrm>
        <a:graphic>
          <a:graphicData uri="http://schemas.openxmlformats.org/drawingml/2006/table">
            <a:tbl>
              <a:tblPr firstRow="1" bandRow="1">
                <a:tableStyleId>{5C22544A-7EE6-4342-B048-85BDC9FD1C3A}</a:tableStyleId>
              </a:tblPr>
              <a:tblGrid>
                <a:gridCol w="2481864">
                  <a:extLst>
                    <a:ext uri="{9D8B030D-6E8A-4147-A177-3AD203B41FA5}">
                      <a16:colId xmlns:a16="http://schemas.microsoft.com/office/drawing/2014/main" val="1893304401"/>
                    </a:ext>
                  </a:extLst>
                </a:gridCol>
                <a:gridCol w="3467100">
                  <a:extLst>
                    <a:ext uri="{9D8B030D-6E8A-4147-A177-3AD203B41FA5}">
                      <a16:colId xmlns:a16="http://schemas.microsoft.com/office/drawing/2014/main" val="2684982596"/>
                    </a:ext>
                  </a:extLst>
                </a:gridCol>
                <a:gridCol w="4996463">
                  <a:extLst>
                    <a:ext uri="{9D8B030D-6E8A-4147-A177-3AD203B41FA5}">
                      <a16:colId xmlns:a16="http://schemas.microsoft.com/office/drawing/2014/main" val="124049370"/>
                    </a:ext>
                  </a:extLst>
                </a:gridCol>
              </a:tblGrid>
              <a:tr h="679596">
                <a:tc>
                  <a:txBody>
                    <a:bodyPr/>
                    <a:lstStyle/>
                    <a:p>
                      <a:r>
                        <a:rPr lang="fr-FR" dirty="0"/>
                        <a:t>Action préparatoire</a:t>
                      </a:r>
                    </a:p>
                  </a:txBody>
                  <a:tcPr/>
                </a:tc>
                <a:tc>
                  <a:txBody>
                    <a:bodyPr/>
                    <a:lstStyle/>
                    <a:p>
                      <a:r>
                        <a:rPr lang="fr-FR" dirty="0"/>
                        <a:t>Pourquoi cette action</a:t>
                      </a:r>
                    </a:p>
                  </a:txBody>
                  <a:tcPr/>
                </a:tc>
                <a:tc>
                  <a:txBody>
                    <a:bodyPr/>
                    <a:lstStyle/>
                    <a:p>
                      <a:r>
                        <a:rPr lang="fr-FR" dirty="0"/>
                        <a:t>Recommandations</a:t>
                      </a:r>
                    </a:p>
                  </a:txBody>
                  <a:tcPr/>
                </a:tc>
                <a:extLst>
                  <a:ext uri="{0D108BD9-81ED-4DB2-BD59-A6C34878D82A}">
                    <a16:rowId xmlns:a16="http://schemas.microsoft.com/office/drawing/2014/main" val="3346938663"/>
                  </a:ext>
                </a:extLst>
              </a:tr>
              <a:tr h="679596">
                <a:tc>
                  <a:txBody>
                    <a:bodyPr/>
                    <a:lstStyle/>
                    <a:p>
                      <a:r>
                        <a:rPr lang="fr-FR" sz="1200" dirty="0"/>
                        <a:t>Fixer le nombre de participants</a:t>
                      </a:r>
                    </a:p>
                  </a:txBody>
                  <a:tcPr/>
                </a:tc>
                <a:tc>
                  <a:txBody>
                    <a:bodyPr/>
                    <a:lstStyle/>
                    <a:p>
                      <a:r>
                        <a:rPr lang="fr-FR" sz="1000" dirty="0"/>
                        <a:t>Connaître le nombre de participants permet de savoir combien de cartes vous allez devoir imprimer et découper</a:t>
                      </a:r>
                    </a:p>
                  </a:txBody>
                  <a:tcPr/>
                </a:tc>
                <a:tc>
                  <a:txBody>
                    <a:bodyPr/>
                    <a:lstStyle/>
                    <a:p>
                      <a:endParaRPr lang="fr-FR" sz="1000" dirty="0"/>
                    </a:p>
                  </a:txBody>
                  <a:tcPr/>
                </a:tc>
                <a:extLst>
                  <a:ext uri="{0D108BD9-81ED-4DB2-BD59-A6C34878D82A}">
                    <a16:rowId xmlns:a16="http://schemas.microsoft.com/office/drawing/2014/main" val="3204251405"/>
                  </a:ext>
                </a:extLst>
              </a:tr>
              <a:tr h="679596">
                <a:tc>
                  <a:txBody>
                    <a:bodyPr/>
                    <a:lstStyle/>
                    <a:p>
                      <a:r>
                        <a:rPr lang="fr-FR" sz="1200" dirty="0"/>
                        <a:t>Sélectionner les cartes qui vous conviennent</a:t>
                      </a:r>
                    </a:p>
                  </a:txBody>
                  <a:tcPr/>
                </a:tc>
                <a:tc>
                  <a:txBody>
                    <a:bodyPr/>
                    <a:lstStyle/>
                    <a:p>
                      <a:r>
                        <a:rPr lang="fr-FR" sz="1000" dirty="0"/>
                        <a:t>Selon le contexte dans lequel vous jouez à Handi Situations, vous pourrez considérer certaines cartes comme très pertinentes ou d’autres comme pas pertinentes du tout. </a:t>
                      </a:r>
                    </a:p>
                    <a:p>
                      <a:endParaRPr lang="fr-FR" sz="1000" dirty="0"/>
                    </a:p>
                    <a:p>
                      <a:r>
                        <a:rPr lang="fr-FR" sz="1000" dirty="0"/>
                        <a:t>Identifiez les meilleures cartes pour une bonne expérience de jeu</a:t>
                      </a:r>
                    </a:p>
                  </a:txBody>
                  <a:tcPr/>
                </a:tc>
                <a:tc>
                  <a:txBody>
                    <a:bodyPr/>
                    <a:lstStyle/>
                    <a:p>
                      <a:r>
                        <a:rPr lang="fr-FR" sz="1000" dirty="0"/>
                        <a:t>Ce travail de sélection peut également s’appliquer aux cartes de Debriefing</a:t>
                      </a:r>
                    </a:p>
                  </a:txBody>
                  <a:tcPr/>
                </a:tc>
                <a:extLst>
                  <a:ext uri="{0D108BD9-81ED-4DB2-BD59-A6C34878D82A}">
                    <a16:rowId xmlns:a16="http://schemas.microsoft.com/office/drawing/2014/main" val="2359730049"/>
                  </a:ext>
                </a:extLst>
              </a:tr>
              <a:tr h="679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Imprimer et découper les cartes. Constituer des pioches.</a:t>
                      </a:r>
                    </a:p>
                  </a:txBody>
                  <a:tcPr/>
                </a:tc>
                <a:tc>
                  <a:txBody>
                    <a:bodyPr/>
                    <a:lstStyle/>
                    <a:p>
                      <a:endParaRPr lang="fr-FR" sz="1000" dirty="0"/>
                    </a:p>
                  </a:txBody>
                  <a:tcPr/>
                </a:tc>
                <a:tc>
                  <a:txBody>
                    <a:bodyPr/>
                    <a:lstStyle/>
                    <a:p>
                      <a:r>
                        <a:rPr lang="fr-FR" sz="1000" dirty="0"/>
                        <a:t>Ajuster le nombre de cartes au nombre de participants, il faut </a:t>
                      </a:r>
                    </a:p>
                    <a:p>
                      <a:pPr marL="171450" indent="-171450">
                        <a:buFont typeface="Arial" panose="020B0604020202020204" pitchFamily="34" charset="0"/>
                        <a:buChar char="•"/>
                      </a:pPr>
                      <a:r>
                        <a:rPr lang="fr-FR" sz="1000" dirty="0"/>
                        <a:t>Au moins autant de cartes épreuves individuelles que de participants.</a:t>
                      </a:r>
                    </a:p>
                    <a:p>
                      <a:pPr marL="171450" indent="-171450">
                        <a:buFont typeface="Arial" panose="020B0604020202020204" pitchFamily="34" charset="0"/>
                        <a:buChar char="•"/>
                      </a:pPr>
                      <a:r>
                        <a:rPr lang="fr-FR" sz="1000" dirty="0"/>
                        <a:t>Au moins autant de cartes situations de handicap que de participants </a:t>
                      </a:r>
                    </a:p>
                    <a:p>
                      <a:pPr marL="171450" indent="-171450">
                        <a:buFont typeface="Arial" panose="020B0604020202020204" pitchFamily="34" charset="0"/>
                        <a:buChar char="•"/>
                      </a:pPr>
                      <a:r>
                        <a:rPr lang="fr-FR" sz="1000" dirty="0"/>
                        <a:t>Au moins la moitié du nombre de participants en épreuves collectives</a:t>
                      </a:r>
                    </a:p>
                    <a:p>
                      <a:pPr marL="171450" indent="-171450">
                        <a:buFont typeface="Arial" panose="020B0604020202020204" pitchFamily="34" charset="0"/>
                        <a:buChar char="•"/>
                      </a:pPr>
                      <a:endParaRPr lang="fr-FR" sz="1000" dirty="0"/>
                    </a:p>
                    <a:p>
                      <a:pPr marL="0" indent="0">
                        <a:buFont typeface="Arial" panose="020B0604020202020204" pitchFamily="34" charset="0"/>
                        <a:buNone/>
                      </a:pPr>
                      <a:r>
                        <a:rPr lang="fr-FR" sz="1000" dirty="0"/>
                        <a:t>Ne pas hésiter à imprimer en double, cela n’est pas très gênant pour l’expérience de jeu</a:t>
                      </a:r>
                    </a:p>
                  </a:txBody>
                  <a:tcPr/>
                </a:tc>
                <a:extLst>
                  <a:ext uri="{0D108BD9-81ED-4DB2-BD59-A6C34878D82A}">
                    <a16:rowId xmlns:a16="http://schemas.microsoft.com/office/drawing/2014/main" val="1677279387"/>
                  </a:ext>
                </a:extLst>
              </a:tr>
              <a:tr h="679596">
                <a:tc>
                  <a:txBody>
                    <a:bodyPr/>
                    <a:lstStyle/>
                    <a:p>
                      <a:r>
                        <a:rPr lang="fr-FR" sz="1200" dirty="0"/>
                        <a:t>(Facultatif) Relire ensemble le déroulement, se faire une animation « à blanc » (sans joueurs)</a:t>
                      </a:r>
                    </a:p>
                  </a:txBody>
                  <a:tcPr/>
                </a:tc>
                <a:tc>
                  <a:txBody>
                    <a:bodyPr/>
                    <a:lstStyle/>
                    <a:p>
                      <a:endParaRPr lang="fr-FR" sz="1000" dirty="0"/>
                    </a:p>
                  </a:txBody>
                  <a:tcPr/>
                </a:tc>
                <a:tc>
                  <a:txBody>
                    <a:bodyPr/>
                    <a:lstStyle/>
                    <a:p>
                      <a:r>
                        <a:rPr lang="fr-FR" sz="1000" dirty="0"/>
                        <a:t>L’essentiel est dans les 10 premières slides</a:t>
                      </a:r>
                    </a:p>
                  </a:txBody>
                  <a:tcPr/>
                </a:tc>
                <a:extLst>
                  <a:ext uri="{0D108BD9-81ED-4DB2-BD59-A6C34878D82A}">
                    <a16:rowId xmlns:a16="http://schemas.microsoft.com/office/drawing/2014/main" val="2081077688"/>
                  </a:ext>
                </a:extLst>
              </a:tr>
              <a:tr h="679596">
                <a:tc>
                  <a:txBody>
                    <a:bodyPr/>
                    <a:lstStyle/>
                    <a:p>
                      <a:r>
                        <a:rPr lang="fr-FR" sz="1200" dirty="0"/>
                        <a:t>Faire le point sur les actions qui précèdent le jeu (actions de promotion, relance, …) et qui suivent le jeu (envoi des ressources, etc.)</a:t>
                      </a:r>
                    </a:p>
                  </a:txBody>
                  <a:tcPr/>
                </a:tc>
                <a:tc>
                  <a:txBody>
                    <a:bodyPr/>
                    <a:lstStyle/>
                    <a:p>
                      <a:endParaRPr lang="fr-FR" sz="1050" dirty="0"/>
                    </a:p>
                  </a:txBody>
                  <a:tcPr/>
                </a:tc>
                <a:tc>
                  <a:txBody>
                    <a:bodyPr/>
                    <a:lstStyle/>
                    <a:p>
                      <a:r>
                        <a:rPr lang="fr-FR" sz="1050" dirty="0"/>
                        <a:t>Lire ce qu’il y a dans les ressources du jeu si besoin, sentez vous libre d’improviser !</a:t>
                      </a:r>
                    </a:p>
                  </a:txBody>
                  <a:tcPr/>
                </a:tc>
                <a:extLst>
                  <a:ext uri="{0D108BD9-81ED-4DB2-BD59-A6C34878D82A}">
                    <a16:rowId xmlns:a16="http://schemas.microsoft.com/office/drawing/2014/main" val="865275890"/>
                  </a:ext>
                </a:extLst>
              </a:tr>
            </a:tbl>
          </a:graphicData>
        </a:graphic>
      </p:graphicFrame>
    </p:spTree>
    <p:extLst>
      <p:ext uri="{BB962C8B-B14F-4D97-AF65-F5344CB8AC3E}">
        <p14:creationId xmlns:p14="http://schemas.microsoft.com/office/powerpoint/2010/main" val="21677704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fr-FR" dirty="0"/>
              <a:t>Niveau 5 : Animation de Handi Situations</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80" y="62387"/>
            <a:ext cx="2389436" cy="1456415"/>
          </a:xfrm>
          <a:prstGeom prst="wedgeEllipseCallout">
            <a:avLst>
              <a:gd name="adj1" fmla="val 53183"/>
              <a:gd name="adj2" fmla="val 3785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animer facilement l’atelier</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829050"/>
          </a:xfrm>
        </p:spPr>
        <p:txBody>
          <a:bodyPr/>
          <a:lstStyle/>
          <a:p>
            <a:pPr algn="ctr"/>
            <a:r>
              <a:rPr lang="fr-FR" sz="1200" dirty="0"/>
              <a:t>La posture d’animation de ce jeu est beaucoup dans l’explication des règles du déroulement et du bon fonctionnement, vraiment pas en tant qu’experts.</a:t>
            </a:r>
          </a:p>
          <a:p>
            <a:pPr algn="ctr"/>
            <a:r>
              <a:rPr lang="fr-FR" sz="1200" dirty="0"/>
              <a:t>Se positionner en tant qu’experts du handicap durant le jeu  (par exemple, en donnant des réponses et des infos soi-même) peut donner des réticences à passer animateur. </a:t>
            </a:r>
          </a:p>
          <a:p>
            <a:pPr algn="ctr"/>
            <a:r>
              <a:rPr lang="fr-FR" sz="1200" dirty="0"/>
              <a:t>Si vous voulez parler de votre expertise (qui est précieuse), rappelez aux joueurs qu’il n’y en a pas besoin pour animer le jeu.</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829050"/>
          </a:xfrm>
        </p:spPr>
        <p:txBody>
          <a:bodyPr/>
          <a:lstStyle/>
          <a:p>
            <a:pPr marL="285750" indent="-285750">
              <a:buFont typeface="Arial" panose="020B0604020202020204" pitchFamily="34" charset="0"/>
              <a:buChar char="•"/>
            </a:pPr>
            <a:r>
              <a:rPr lang="fr-FR" sz="1200" dirty="0"/>
              <a:t>Laisser vivre les difficultés, surveillez simplement à ce que personne ne se blesse ou s’endommage.</a:t>
            </a:r>
          </a:p>
          <a:p>
            <a:pPr marL="285750" indent="-285750">
              <a:buFont typeface="Arial" panose="020B0604020202020204" pitchFamily="34" charset="0"/>
              <a:buChar char="•"/>
            </a:pPr>
            <a:r>
              <a:rPr lang="fr-FR" sz="1200" dirty="0"/>
              <a:t>Il peut y avoir des résistances ou juste des réticences à simuler un handicap : rappelez que vous voulez justement faire simuler une situation de handicap courante (ou plus courante que les handicaps à vie), qui peut arriver à n’importe qui de manière temporaire. </a:t>
            </a:r>
          </a:p>
          <a:p>
            <a:pPr marL="285750" indent="-285750">
              <a:buFont typeface="Arial" panose="020B0604020202020204" pitchFamily="34" charset="0"/>
              <a:buChar char="•"/>
            </a:pPr>
            <a:r>
              <a:rPr lang="fr-FR" sz="1200" dirty="0"/>
              <a:t>Rappelez aussi l’état d’esprit : le but n’est ni de faire de la dérision, ni culpabiliser si les joueurs rient des situations DE JEU. Le but n’est pas de faire quiconque se sentir mal moralement, mais que chacun aie l’occasion de vivre quelques difficultés.</a:t>
            </a:r>
          </a:p>
          <a:p>
            <a:pPr marL="285750" indent="-285750">
              <a:buFont typeface="Arial" panose="020B0604020202020204" pitchFamily="34" charset="0"/>
              <a:buChar char="•"/>
            </a:pPr>
            <a:r>
              <a:rPr lang="fr-FR" sz="1200" dirty="0"/>
              <a:t>Il peut y avoir de la frustration entre membres d’une même équipe (objectif commun, ralentissement causé par un membre ou son handicap), surveillez ces moments et remettez « l’état d’esprit du jeu, avec l’acceptation qu’on puisse perdre » dans l’idée.</a:t>
            </a:r>
          </a:p>
          <a:p>
            <a:pPr marL="285750" indent="-285750">
              <a:buFont typeface="Arial" panose="020B0604020202020204" pitchFamily="34" charset="0"/>
              <a:buChar char="•"/>
            </a:pPr>
            <a:r>
              <a:rPr lang="fr-FR" sz="1200" dirty="0"/>
              <a:t>Il peut être difficile d’interrompre un tour, faites un rappel à 6 minutes s’il faut pour dire « plus que 2 minutes ». Indiquez en début de session que les tours sont courts.</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829050"/>
          </a:xfrm>
        </p:spPr>
        <p:txBody>
          <a:bodyPr/>
          <a:lstStyle/>
          <a:p>
            <a:r>
              <a:rPr lang="fr-FR" sz="1100" dirty="0"/>
              <a:t>Exemples de questions de Debriefing (si vous voulez faire un debriefing centralisé plutôt que sous formes de cartes avec des petits groupes)</a:t>
            </a:r>
          </a:p>
          <a:p>
            <a:pPr marL="342900" indent="-342900">
              <a:buAutoNum type="arabicPeriod"/>
            </a:pPr>
            <a:r>
              <a:rPr lang="fr-FR" sz="1100" dirty="0"/>
              <a:t>Comment avez-vous vécu l’expérience Handi Situations ?</a:t>
            </a:r>
          </a:p>
          <a:p>
            <a:pPr marL="342900" indent="-342900">
              <a:buAutoNum type="arabicPeriod"/>
            </a:pPr>
            <a:r>
              <a:rPr lang="fr-FR" sz="1100" dirty="0"/>
              <a:t>Qu’est ce que les différentes situations vous évoquent ? Vous rappellent ?</a:t>
            </a:r>
          </a:p>
          <a:p>
            <a:pPr marL="342900" indent="-342900">
              <a:buAutoNum type="arabicPeriod"/>
            </a:pPr>
            <a:r>
              <a:rPr lang="fr-FR" sz="1100" dirty="0"/>
              <a:t>Qu’avez-vous appris ?</a:t>
            </a:r>
          </a:p>
          <a:p>
            <a:pPr marL="342900" indent="-342900">
              <a:buAutoNum type="arabicPeriod"/>
            </a:pPr>
            <a:r>
              <a:rPr lang="fr-FR" sz="1100" dirty="0"/>
              <a:t>Quels comportements allez vous changer ?</a:t>
            </a:r>
          </a:p>
          <a:p>
            <a:pPr marL="342900" indent="-342900">
              <a:buAutoNum type="arabicPeriod"/>
            </a:pPr>
            <a:r>
              <a:rPr lang="fr-FR" sz="1100" dirty="0"/>
              <a:t>Qui mériterait selon vous d’être sensibilisé ?</a:t>
            </a:r>
          </a:p>
          <a:p>
            <a:pPr marL="342900" indent="-342900">
              <a:buAutoNum type="arabicPeriod"/>
            </a:pPr>
            <a:r>
              <a:rPr lang="fr-FR" sz="1100" dirty="0"/>
              <a:t>Quels sont les autres thèmes du handicap, non abordés dans Handi Situations, que vous trouveriez intéressant à aborder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fr-FR" sz="1400" dirty="0"/>
              <a:t>🙋Debriefing</a:t>
            </a:r>
          </a:p>
        </p:txBody>
      </p:sp>
    </p:spTree>
    <p:extLst>
      <p:ext uri="{BB962C8B-B14F-4D97-AF65-F5344CB8AC3E}">
        <p14:creationId xmlns:p14="http://schemas.microsoft.com/office/powerpoint/2010/main" val="20417848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fr-FR" dirty="0"/>
              <a:t>Niveau 5 : Cas particuliers d’animation</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43429"/>
              <a:gd name="adj2" fmla="val 3602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animer facilement l’atelier, même dans les cas difficiles</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917160" y="3646894"/>
            <a:ext cx="2404138" cy="2845981"/>
          </a:xfrm>
        </p:spPr>
        <p:txBody>
          <a:bodyPr/>
          <a:lstStyle/>
          <a:p>
            <a:r>
              <a:rPr lang="fr-FR" sz="1200" dirty="0"/>
              <a:t>Sur un petit nombre de joueurs (&lt; 5), vous pouvez piocher des épreuves en continu (pas besoin de faire des tours) et changer de situations de handicap à chaque épreuve.</a:t>
            </a:r>
          </a:p>
          <a:p>
            <a:r>
              <a:rPr lang="fr-FR" sz="1200" dirty="0"/>
              <a:t>Le Debriefing peut être mené sans faire de petits groupes, mais attention à bien faire que les participants se posent les questions entre et ne se réfèrent pas tout le temps à l’animateur.</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909222" y="3143656"/>
            <a:ext cx="2412076" cy="503237"/>
          </a:xfrm>
          <a:solidFill>
            <a:schemeClr val="accent2"/>
          </a:solidFill>
        </p:spPr>
        <p:txBody>
          <a:bodyPr>
            <a:normAutofit fontScale="85000" lnSpcReduction="20000"/>
          </a:bodyPr>
          <a:lstStyle/>
          <a:p>
            <a:r>
              <a:rPr lang="fr-FR" sz="1400" dirty="0"/>
              <a:t>Comment s’adapter s’il y a très peu de joueurs ? (nombre proche de la limite min)</a:t>
            </a:r>
          </a:p>
        </p:txBody>
      </p:sp>
      <p:sp>
        <p:nvSpPr>
          <p:cNvPr id="9" name="Espace réservé du texte 17">
            <a:extLst>
              <a:ext uri="{FF2B5EF4-FFF2-40B4-BE49-F238E27FC236}">
                <a16:creationId xmlns:a16="http://schemas.microsoft.com/office/drawing/2014/main" id="{5DBD2133-F78E-46EE-2F9B-8284492DEFF8}"/>
              </a:ext>
            </a:extLst>
          </p:cNvPr>
          <p:cNvSpPr txBox="1">
            <a:spLocks/>
          </p:cNvSpPr>
          <p:nvPr/>
        </p:nvSpPr>
        <p:spPr>
          <a:xfrm>
            <a:off x="3669237" y="3646894"/>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Pour absorber les effets de nombre, vous pouvez proposer par défaut qu’à chaque tour il y ait des observateurs dans chaque équipe.</a:t>
            </a:r>
          </a:p>
          <a:p>
            <a:r>
              <a:rPr lang="fr-FR" sz="1200" dirty="0"/>
              <a:t>Imprimez bien sûr plus de cartes.</a:t>
            </a:r>
          </a:p>
          <a:p>
            <a:r>
              <a:rPr lang="fr-FR" sz="1200" dirty="0"/>
              <a:t>Faites des tours plus longs et moins de tours (par exemple, 1 tour à 4joueurs+2 observateurs et 1 tour à 2joueurs+1 observateur)</a:t>
            </a:r>
          </a:p>
          <a:p>
            <a:r>
              <a:rPr lang="fr-FR" sz="1200" dirty="0"/>
              <a:t>Faites persister les équipes (ou les diviser en 2 au mieux) plutôt que refaire des mélanges, car c’est difficile d’interrompre un tour.</a:t>
            </a:r>
          </a:p>
        </p:txBody>
      </p:sp>
      <p:sp>
        <p:nvSpPr>
          <p:cNvPr id="10" name="Espace réservé du texte 2">
            <a:extLst>
              <a:ext uri="{FF2B5EF4-FFF2-40B4-BE49-F238E27FC236}">
                <a16:creationId xmlns:a16="http://schemas.microsoft.com/office/drawing/2014/main" id="{92F68B32-FB86-1BE6-C047-04E5374446F7}"/>
              </a:ext>
            </a:extLst>
          </p:cNvPr>
          <p:cNvSpPr txBox="1">
            <a:spLocks/>
          </p:cNvSpPr>
          <p:nvPr/>
        </p:nvSpPr>
        <p:spPr>
          <a:xfrm>
            <a:off x="3661299" y="3143656"/>
            <a:ext cx="2412076" cy="503237"/>
          </a:xfrm>
          <a:prstGeom prst="rect">
            <a:avLst/>
          </a:prstGeom>
          <a:solidFill>
            <a:schemeClr val="accent2"/>
          </a:solidFill>
        </p:spPr>
        <p:txBody>
          <a:bodyPr vert="horz" lIns="91440" tIns="45720" rIns="91440" bIns="45720" rtlCol="0" anchor="ctr">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Comment s’adapter s’il y a beaucoup de joueurs ? (nombre proche de la limite max)</a:t>
            </a:r>
          </a:p>
        </p:txBody>
      </p:sp>
      <p:sp>
        <p:nvSpPr>
          <p:cNvPr id="11" name="Espace réservé du texte 17">
            <a:extLst>
              <a:ext uri="{FF2B5EF4-FFF2-40B4-BE49-F238E27FC236}">
                <a16:creationId xmlns:a16="http://schemas.microsoft.com/office/drawing/2014/main" id="{459DD294-7DDC-00BE-96E8-AD836ED5A025}"/>
              </a:ext>
            </a:extLst>
          </p:cNvPr>
          <p:cNvSpPr txBox="1">
            <a:spLocks/>
          </p:cNvSpPr>
          <p:nvPr/>
        </p:nvSpPr>
        <p:spPr>
          <a:xfrm>
            <a:off x="6421314" y="3646894"/>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Faites des tours plus longs pur intégrer les possibilités d’expliquer les épreuves ou les situations de handicap, et moins de tour (par exemple, éliminer le tour à 4 joueurs ou le tour solo).</a:t>
            </a:r>
          </a:p>
        </p:txBody>
      </p:sp>
      <p:sp>
        <p:nvSpPr>
          <p:cNvPr id="12" name="Espace réservé du texte 2">
            <a:extLst>
              <a:ext uri="{FF2B5EF4-FFF2-40B4-BE49-F238E27FC236}">
                <a16:creationId xmlns:a16="http://schemas.microsoft.com/office/drawing/2014/main" id="{7D82FFEC-2A8B-207C-DB1B-254B5D7AC06C}"/>
              </a:ext>
            </a:extLst>
          </p:cNvPr>
          <p:cNvSpPr txBox="1">
            <a:spLocks/>
          </p:cNvSpPr>
          <p:nvPr/>
        </p:nvSpPr>
        <p:spPr>
          <a:xfrm>
            <a:off x="6413376" y="3143656"/>
            <a:ext cx="2412076" cy="503237"/>
          </a:xfrm>
          <a:prstGeom prst="rect">
            <a:avLst/>
          </a:prstGeom>
          <a:solidFill>
            <a:schemeClr val="accent2"/>
          </a:solidFill>
        </p:spPr>
        <p:txBody>
          <a:bodyPr vert="horz" lIns="91440" tIns="45720" rIns="91440" bIns="45720" rtlCol="0" anchor="ctr">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Comment s’adapter si des joueurs arrivent à des moments différents ou au compte-gouttes ? </a:t>
            </a:r>
          </a:p>
        </p:txBody>
      </p:sp>
      <p:sp>
        <p:nvSpPr>
          <p:cNvPr id="13" name="Espace réservé du texte 17">
            <a:extLst>
              <a:ext uri="{FF2B5EF4-FFF2-40B4-BE49-F238E27FC236}">
                <a16:creationId xmlns:a16="http://schemas.microsoft.com/office/drawing/2014/main" id="{FED9094B-B3C7-164A-A246-7F4D05ABBAB3}"/>
              </a:ext>
            </a:extLst>
          </p:cNvPr>
          <p:cNvSpPr txBox="1">
            <a:spLocks/>
          </p:cNvSpPr>
          <p:nvPr/>
        </p:nvSpPr>
        <p:spPr>
          <a:xfrm>
            <a:off x="9181329" y="3646893"/>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Changez l’ordre du jeu en « Tour de jeu + Tour Debriefing » en réduisant le nombre de tours. </a:t>
            </a:r>
          </a:p>
          <a:p>
            <a:r>
              <a:rPr lang="fr-FR" sz="1200" dirty="0"/>
              <a:t>Le principe du jeu devient « Faites le jeu et l’épreuve, et ensuite posez vous une question de Debriefing »</a:t>
            </a:r>
          </a:p>
          <a:p>
            <a:r>
              <a:rPr lang="fr-FR" sz="1200" dirty="0"/>
              <a:t>Souvenez vous de bien distribuer les cartes de Debriefing en même temps que les cartes situations de handicap. </a:t>
            </a:r>
          </a:p>
          <a:p>
            <a:r>
              <a:rPr lang="fr-FR" sz="1200" dirty="0"/>
              <a:t>Pour simplifier, gardez le même nombre de joueurs (par exemple 3) et 1 carte de Debriefing par équipe et tour.</a:t>
            </a:r>
          </a:p>
        </p:txBody>
      </p:sp>
      <p:sp>
        <p:nvSpPr>
          <p:cNvPr id="14" name="Espace réservé du texte 2">
            <a:extLst>
              <a:ext uri="{FF2B5EF4-FFF2-40B4-BE49-F238E27FC236}">
                <a16:creationId xmlns:a16="http://schemas.microsoft.com/office/drawing/2014/main" id="{4EFAE2A6-6588-A55C-2B6E-23BEDE366FEE}"/>
              </a:ext>
            </a:extLst>
          </p:cNvPr>
          <p:cNvSpPr txBox="1">
            <a:spLocks/>
          </p:cNvSpPr>
          <p:nvPr/>
        </p:nvSpPr>
        <p:spPr>
          <a:xfrm>
            <a:off x="9173391" y="3143655"/>
            <a:ext cx="2412076" cy="503237"/>
          </a:xfrm>
          <a:prstGeom prst="rect">
            <a:avLst/>
          </a:prstGeom>
          <a:solidFill>
            <a:schemeClr val="accent2"/>
          </a:solidFill>
        </p:spPr>
        <p:txBody>
          <a:bodyPr vert="horz" lIns="91440" tIns="45720" rIns="91440" bIns="45720" rtlCol="0" anchor="ctr">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Si des joueurs partent en cours de jeu (pour une quelconque raison), comment s’adapter avec les joueurs restants ? </a:t>
            </a:r>
          </a:p>
        </p:txBody>
      </p:sp>
      <p:pic>
        <p:nvPicPr>
          <p:cNvPr id="3" name="Graphique 2" descr="Personne confuse avec un remplissage uni">
            <a:extLst>
              <a:ext uri="{FF2B5EF4-FFF2-40B4-BE49-F238E27FC236}">
                <a16:creationId xmlns:a16="http://schemas.microsoft.com/office/drawing/2014/main" id="{EC47456A-44DE-549A-4B87-2459E02969A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17160" y="2568597"/>
            <a:ext cx="575058" cy="575058"/>
          </a:xfrm>
          <a:prstGeom prst="rect">
            <a:avLst/>
          </a:prstGeom>
        </p:spPr>
      </p:pic>
      <p:pic>
        <p:nvPicPr>
          <p:cNvPr id="4" name="Graphique 3" descr="Personne confuse avec un remplissage uni">
            <a:extLst>
              <a:ext uri="{FF2B5EF4-FFF2-40B4-BE49-F238E27FC236}">
                <a16:creationId xmlns:a16="http://schemas.microsoft.com/office/drawing/2014/main" id="{C5B72942-37D4-EBAC-2300-3A0AF299E8F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660780" y="2601625"/>
            <a:ext cx="575058" cy="575058"/>
          </a:xfrm>
          <a:prstGeom prst="rect">
            <a:avLst/>
          </a:prstGeom>
        </p:spPr>
      </p:pic>
      <p:pic>
        <p:nvPicPr>
          <p:cNvPr id="7" name="Graphique 6" descr="Personne confuse avec un remplissage uni">
            <a:extLst>
              <a:ext uri="{FF2B5EF4-FFF2-40B4-BE49-F238E27FC236}">
                <a16:creationId xmlns:a16="http://schemas.microsoft.com/office/drawing/2014/main" id="{E3A4CD3C-10D3-AAB0-9B0C-14871CE5B18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779612" y="2477338"/>
            <a:ext cx="575058" cy="575058"/>
          </a:xfrm>
          <a:prstGeom prst="rect">
            <a:avLst/>
          </a:prstGeom>
        </p:spPr>
      </p:pic>
      <p:pic>
        <p:nvPicPr>
          <p:cNvPr id="8" name="Graphique 7" descr="Personne confuse avec un remplissage uni">
            <a:extLst>
              <a:ext uri="{FF2B5EF4-FFF2-40B4-BE49-F238E27FC236}">
                <a16:creationId xmlns:a16="http://schemas.microsoft.com/office/drawing/2014/main" id="{E1B1AC01-4B66-4CD1-F0A4-01DC6EC39F0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40600" y="2581386"/>
            <a:ext cx="575058" cy="575058"/>
          </a:xfrm>
          <a:prstGeom prst="rect">
            <a:avLst/>
          </a:prstGeom>
        </p:spPr>
      </p:pic>
      <p:pic>
        <p:nvPicPr>
          <p:cNvPr id="15" name="Graphique 14" descr="Personne confuse avec un remplissage uni">
            <a:extLst>
              <a:ext uri="{FF2B5EF4-FFF2-40B4-BE49-F238E27FC236}">
                <a16:creationId xmlns:a16="http://schemas.microsoft.com/office/drawing/2014/main" id="{87C147E1-83A9-4114-7B5A-00CB52F599B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860106" y="2601624"/>
            <a:ext cx="575058" cy="575058"/>
          </a:xfrm>
          <a:prstGeom prst="rect">
            <a:avLst/>
          </a:prstGeom>
        </p:spPr>
      </p:pic>
      <p:pic>
        <p:nvPicPr>
          <p:cNvPr id="16" name="Graphique 15" descr="Personne confuse avec un remplissage uni">
            <a:extLst>
              <a:ext uri="{FF2B5EF4-FFF2-40B4-BE49-F238E27FC236}">
                <a16:creationId xmlns:a16="http://schemas.microsoft.com/office/drawing/2014/main" id="{5E3CBAEF-F399-23CD-DC90-A5D23F5770E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57551" y="2601624"/>
            <a:ext cx="575058" cy="575058"/>
          </a:xfrm>
          <a:prstGeom prst="rect">
            <a:avLst/>
          </a:prstGeom>
        </p:spPr>
      </p:pic>
      <p:pic>
        <p:nvPicPr>
          <p:cNvPr id="17" name="Graphique 16" descr="Personne confuse avec un remplissage uni">
            <a:extLst>
              <a:ext uri="{FF2B5EF4-FFF2-40B4-BE49-F238E27FC236}">
                <a16:creationId xmlns:a16="http://schemas.microsoft.com/office/drawing/2014/main" id="{20D46EB4-BB1B-EB74-3F43-6384AF70C4FA}"/>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075340" y="2570025"/>
            <a:ext cx="575058" cy="575058"/>
          </a:xfrm>
          <a:prstGeom prst="rect">
            <a:avLst/>
          </a:prstGeom>
        </p:spPr>
      </p:pic>
      <p:pic>
        <p:nvPicPr>
          <p:cNvPr id="18" name="Graphique 17" descr="Personne confuse avec un remplissage uni">
            <a:extLst>
              <a:ext uri="{FF2B5EF4-FFF2-40B4-BE49-F238E27FC236}">
                <a16:creationId xmlns:a16="http://schemas.microsoft.com/office/drawing/2014/main" id="{70BBEA47-D4C9-5C19-5E89-5648330C377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075340" y="2445739"/>
            <a:ext cx="575058" cy="575058"/>
          </a:xfrm>
          <a:prstGeom prst="rect">
            <a:avLst/>
          </a:prstGeom>
        </p:spPr>
      </p:pic>
      <p:pic>
        <p:nvPicPr>
          <p:cNvPr id="19" name="Graphique 18" descr="Personne confuse avec un remplissage uni">
            <a:extLst>
              <a:ext uri="{FF2B5EF4-FFF2-40B4-BE49-F238E27FC236}">
                <a16:creationId xmlns:a16="http://schemas.microsoft.com/office/drawing/2014/main" id="{AF70772E-8C14-430D-C61A-B2D84C10303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228129" y="2508937"/>
            <a:ext cx="575058" cy="575058"/>
          </a:xfrm>
          <a:prstGeom prst="rect">
            <a:avLst/>
          </a:prstGeom>
        </p:spPr>
      </p:pic>
      <p:pic>
        <p:nvPicPr>
          <p:cNvPr id="20" name="Graphique 19" descr="Personne confuse avec un remplissage uni">
            <a:extLst>
              <a:ext uri="{FF2B5EF4-FFF2-40B4-BE49-F238E27FC236}">
                <a16:creationId xmlns:a16="http://schemas.microsoft.com/office/drawing/2014/main" id="{5BB490CB-3DAC-5412-68ED-628B9E7F0D6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300424" y="2570025"/>
            <a:ext cx="575058" cy="575058"/>
          </a:xfrm>
          <a:prstGeom prst="rect">
            <a:avLst/>
          </a:prstGeom>
        </p:spPr>
      </p:pic>
      <p:pic>
        <p:nvPicPr>
          <p:cNvPr id="21" name="Graphique 20" descr="Personne confuse avec un remplissage uni">
            <a:extLst>
              <a:ext uri="{FF2B5EF4-FFF2-40B4-BE49-F238E27FC236}">
                <a16:creationId xmlns:a16="http://schemas.microsoft.com/office/drawing/2014/main" id="{0E2A16CC-A592-9277-248C-8C5D69DF7948}"/>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469587" y="2475910"/>
            <a:ext cx="575058" cy="575058"/>
          </a:xfrm>
          <a:prstGeom prst="rect">
            <a:avLst/>
          </a:prstGeom>
        </p:spPr>
      </p:pic>
      <p:pic>
        <p:nvPicPr>
          <p:cNvPr id="31" name="Graphique 30" descr="Personne confuse avec un remplissage uni">
            <a:extLst>
              <a:ext uri="{FF2B5EF4-FFF2-40B4-BE49-F238E27FC236}">
                <a16:creationId xmlns:a16="http://schemas.microsoft.com/office/drawing/2014/main" id="{788A59AC-DDA8-7230-15BC-DBA063D444D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765315" y="2444311"/>
            <a:ext cx="575058" cy="575058"/>
          </a:xfrm>
          <a:prstGeom prst="rect">
            <a:avLst/>
          </a:prstGeom>
        </p:spPr>
      </p:pic>
      <p:pic>
        <p:nvPicPr>
          <p:cNvPr id="32" name="Graphique 31" descr="Personne confuse avec un remplissage uni">
            <a:extLst>
              <a:ext uri="{FF2B5EF4-FFF2-40B4-BE49-F238E27FC236}">
                <a16:creationId xmlns:a16="http://schemas.microsoft.com/office/drawing/2014/main" id="{51ABF49E-AA69-DE1B-30A1-5DDAD1E45DA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918104" y="2507509"/>
            <a:ext cx="575058" cy="575058"/>
          </a:xfrm>
          <a:prstGeom prst="rect">
            <a:avLst/>
          </a:prstGeom>
        </p:spPr>
      </p:pic>
      <p:pic>
        <p:nvPicPr>
          <p:cNvPr id="33" name="Graphique 32" descr="Personne confuse avec un remplissage uni">
            <a:extLst>
              <a:ext uri="{FF2B5EF4-FFF2-40B4-BE49-F238E27FC236}">
                <a16:creationId xmlns:a16="http://schemas.microsoft.com/office/drawing/2014/main" id="{EFC1671D-F1A9-BC9F-E3E3-3E68DDEE495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990399" y="2568597"/>
            <a:ext cx="575058" cy="575058"/>
          </a:xfrm>
          <a:prstGeom prst="rect">
            <a:avLst/>
          </a:prstGeom>
        </p:spPr>
      </p:pic>
      <p:pic>
        <p:nvPicPr>
          <p:cNvPr id="34" name="Graphique 33" descr="Personne confuse avec un remplissage uni">
            <a:extLst>
              <a:ext uri="{FF2B5EF4-FFF2-40B4-BE49-F238E27FC236}">
                <a16:creationId xmlns:a16="http://schemas.microsoft.com/office/drawing/2014/main" id="{CA7E195C-C531-BBC6-2867-31597C2620F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203466" y="2383223"/>
            <a:ext cx="575058" cy="575058"/>
          </a:xfrm>
          <a:prstGeom prst="rect">
            <a:avLst/>
          </a:prstGeom>
        </p:spPr>
      </p:pic>
      <p:pic>
        <p:nvPicPr>
          <p:cNvPr id="35" name="Graphique 34" descr="Personne confuse avec un remplissage uni">
            <a:extLst>
              <a:ext uri="{FF2B5EF4-FFF2-40B4-BE49-F238E27FC236}">
                <a16:creationId xmlns:a16="http://schemas.microsoft.com/office/drawing/2014/main" id="{1E408969-0968-790E-3C2D-D794F9D4246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499194" y="2351624"/>
            <a:ext cx="575058" cy="575058"/>
          </a:xfrm>
          <a:prstGeom prst="rect">
            <a:avLst/>
          </a:prstGeom>
        </p:spPr>
      </p:pic>
      <p:pic>
        <p:nvPicPr>
          <p:cNvPr id="36" name="Graphique 35" descr="Personne confuse avec un remplissage uni">
            <a:extLst>
              <a:ext uri="{FF2B5EF4-FFF2-40B4-BE49-F238E27FC236}">
                <a16:creationId xmlns:a16="http://schemas.microsoft.com/office/drawing/2014/main" id="{73BED8D9-8F7F-2C14-660F-2ED95074608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51983" y="2414822"/>
            <a:ext cx="575058" cy="575058"/>
          </a:xfrm>
          <a:prstGeom prst="rect">
            <a:avLst/>
          </a:prstGeom>
        </p:spPr>
      </p:pic>
      <p:pic>
        <p:nvPicPr>
          <p:cNvPr id="39" name="Graphique 38" descr="Personne confuse avec un remplissage uni">
            <a:extLst>
              <a:ext uri="{FF2B5EF4-FFF2-40B4-BE49-F238E27FC236}">
                <a16:creationId xmlns:a16="http://schemas.microsoft.com/office/drawing/2014/main" id="{6BE17044-C07E-F119-917B-5FA766E6596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724278" y="2475910"/>
            <a:ext cx="575058" cy="575058"/>
          </a:xfrm>
          <a:prstGeom prst="rect">
            <a:avLst/>
          </a:prstGeom>
        </p:spPr>
      </p:pic>
      <p:pic>
        <p:nvPicPr>
          <p:cNvPr id="40" name="Graphique 39" descr="Personne confuse avec un remplissage uni">
            <a:extLst>
              <a:ext uri="{FF2B5EF4-FFF2-40B4-BE49-F238E27FC236}">
                <a16:creationId xmlns:a16="http://schemas.microsoft.com/office/drawing/2014/main" id="{E483A00B-D6A6-7D56-6377-A58EAC5376D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923584" y="2483735"/>
            <a:ext cx="575058" cy="575058"/>
          </a:xfrm>
          <a:prstGeom prst="rect">
            <a:avLst/>
          </a:prstGeom>
        </p:spPr>
      </p:pic>
      <p:pic>
        <p:nvPicPr>
          <p:cNvPr id="41" name="Graphique 40" descr="Personne confuse avec un remplissage uni">
            <a:extLst>
              <a:ext uri="{FF2B5EF4-FFF2-40B4-BE49-F238E27FC236}">
                <a16:creationId xmlns:a16="http://schemas.microsoft.com/office/drawing/2014/main" id="{E7217530-F666-0C61-7FC1-EC691A97242A}"/>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219312" y="2452136"/>
            <a:ext cx="575058" cy="575058"/>
          </a:xfrm>
          <a:prstGeom prst="rect">
            <a:avLst/>
          </a:prstGeom>
        </p:spPr>
      </p:pic>
      <p:pic>
        <p:nvPicPr>
          <p:cNvPr id="42" name="Graphique 41" descr="Personne confuse avec un remplissage uni">
            <a:extLst>
              <a:ext uri="{FF2B5EF4-FFF2-40B4-BE49-F238E27FC236}">
                <a16:creationId xmlns:a16="http://schemas.microsoft.com/office/drawing/2014/main" id="{8CD3BD35-4347-C5DF-EBBA-5DABFACACAA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372101" y="2515334"/>
            <a:ext cx="575058" cy="575058"/>
          </a:xfrm>
          <a:prstGeom prst="rect">
            <a:avLst/>
          </a:prstGeom>
        </p:spPr>
      </p:pic>
      <p:pic>
        <p:nvPicPr>
          <p:cNvPr id="43" name="Graphique 42" descr="Personne confuse avec un remplissage uni">
            <a:extLst>
              <a:ext uri="{FF2B5EF4-FFF2-40B4-BE49-F238E27FC236}">
                <a16:creationId xmlns:a16="http://schemas.microsoft.com/office/drawing/2014/main" id="{EBABB49B-6271-EE0E-3804-FB43A903E61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444396" y="2576422"/>
            <a:ext cx="575058" cy="575058"/>
          </a:xfrm>
          <a:prstGeom prst="rect">
            <a:avLst/>
          </a:prstGeom>
        </p:spPr>
      </p:pic>
      <p:pic>
        <p:nvPicPr>
          <p:cNvPr id="44" name="Graphique 43" descr="Personne confuse avec un remplissage uni">
            <a:extLst>
              <a:ext uri="{FF2B5EF4-FFF2-40B4-BE49-F238E27FC236}">
                <a16:creationId xmlns:a16="http://schemas.microsoft.com/office/drawing/2014/main" id="{D849AE62-153A-5FCD-0091-DAF96CAC2A6D}"/>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717892" y="2495097"/>
            <a:ext cx="575058" cy="575058"/>
          </a:xfrm>
          <a:prstGeom prst="rect">
            <a:avLst/>
          </a:prstGeom>
        </p:spPr>
      </p:pic>
      <p:pic>
        <p:nvPicPr>
          <p:cNvPr id="45" name="Graphique 44" descr="Personne confuse avec un remplissage uni">
            <a:extLst>
              <a:ext uri="{FF2B5EF4-FFF2-40B4-BE49-F238E27FC236}">
                <a16:creationId xmlns:a16="http://schemas.microsoft.com/office/drawing/2014/main" id="{3F22E81E-1579-5F54-83B4-8BDA317A509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013620" y="2463498"/>
            <a:ext cx="575058" cy="575058"/>
          </a:xfrm>
          <a:prstGeom prst="rect">
            <a:avLst/>
          </a:prstGeom>
        </p:spPr>
      </p:pic>
      <p:pic>
        <p:nvPicPr>
          <p:cNvPr id="46" name="Graphique 45" descr="Personne confuse avec un remplissage uni">
            <a:extLst>
              <a:ext uri="{FF2B5EF4-FFF2-40B4-BE49-F238E27FC236}">
                <a16:creationId xmlns:a16="http://schemas.microsoft.com/office/drawing/2014/main" id="{08125095-F560-01E3-61C3-3ECF0370B34D}"/>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166409" y="2526696"/>
            <a:ext cx="575058" cy="575058"/>
          </a:xfrm>
          <a:prstGeom prst="rect">
            <a:avLst/>
          </a:prstGeom>
        </p:spPr>
      </p:pic>
      <p:pic>
        <p:nvPicPr>
          <p:cNvPr id="47" name="Graphique 46" descr="Personne confuse avec un remplissage uni">
            <a:extLst>
              <a:ext uri="{FF2B5EF4-FFF2-40B4-BE49-F238E27FC236}">
                <a16:creationId xmlns:a16="http://schemas.microsoft.com/office/drawing/2014/main" id="{3DEB07EB-2BE7-52B6-8EF9-0169345C815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238704" y="2587784"/>
            <a:ext cx="575058" cy="575058"/>
          </a:xfrm>
          <a:prstGeom prst="rect">
            <a:avLst/>
          </a:prstGeom>
        </p:spPr>
      </p:pic>
      <p:sp>
        <p:nvSpPr>
          <p:cNvPr id="48" name="Flèche : droite 47">
            <a:extLst>
              <a:ext uri="{FF2B5EF4-FFF2-40B4-BE49-F238E27FC236}">
                <a16:creationId xmlns:a16="http://schemas.microsoft.com/office/drawing/2014/main" id="{307D5A4B-80FC-B7DA-6B22-5B838B0C87E6}"/>
              </a:ext>
            </a:extLst>
          </p:cNvPr>
          <p:cNvSpPr/>
          <p:nvPr/>
        </p:nvSpPr>
        <p:spPr>
          <a:xfrm>
            <a:off x="6402068" y="2787587"/>
            <a:ext cx="2423384" cy="2022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0" name="Graphique 49" descr="Personne confuse avec un remplissage uni">
            <a:extLst>
              <a:ext uri="{FF2B5EF4-FFF2-40B4-BE49-F238E27FC236}">
                <a16:creationId xmlns:a16="http://schemas.microsoft.com/office/drawing/2014/main" id="{FBBB0681-6755-B49A-9879-B74DCD47FEA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398985" y="2597336"/>
            <a:ext cx="575058" cy="575058"/>
          </a:xfrm>
          <a:prstGeom prst="rect">
            <a:avLst/>
          </a:prstGeom>
        </p:spPr>
      </p:pic>
      <p:pic>
        <p:nvPicPr>
          <p:cNvPr id="51" name="Graphique 50" descr="Personne confuse avec un remplissage uni">
            <a:extLst>
              <a:ext uri="{FF2B5EF4-FFF2-40B4-BE49-F238E27FC236}">
                <a16:creationId xmlns:a16="http://schemas.microsoft.com/office/drawing/2014/main" id="{08158215-87DC-4BAC-42D6-58F97DA325ED}"/>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627898" y="2480875"/>
            <a:ext cx="575058" cy="575058"/>
          </a:xfrm>
          <a:prstGeom prst="rect">
            <a:avLst/>
          </a:prstGeom>
        </p:spPr>
      </p:pic>
      <p:pic>
        <p:nvPicPr>
          <p:cNvPr id="52" name="Graphique 51" descr="Personne confuse avec un remplissage uni">
            <a:extLst>
              <a:ext uri="{FF2B5EF4-FFF2-40B4-BE49-F238E27FC236}">
                <a16:creationId xmlns:a16="http://schemas.microsoft.com/office/drawing/2014/main" id="{6C1BA350-E625-88D8-6D58-57DA1B26BA3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780687" y="2544073"/>
            <a:ext cx="575058" cy="575058"/>
          </a:xfrm>
          <a:prstGeom prst="rect">
            <a:avLst/>
          </a:prstGeom>
        </p:spPr>
      </p:pic>
      <p:pic>
        <p:nvPicPr>
          <p:cNvPr id="53" name="Graphique 52" descr="Personne confuse avec un remplissage uni">
            <a:extLst>
              <a:ext uri="{FF2B5EF4-FFF2-40B4-BE49-F238E27FC236}">
                <a16:creationId xmlns:a16="http://schemas.microsoft.com/office/drawing/2014/main" id="{7C535362-48E7-3082-851B-5AB3EAA3964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852982" y="2605161"/>
            <a:ext cx="575058" cy="575058"/>
          </a:xfrm>
          <a:prstGeom prst="rect">
            <a:avLst/>
          </a:prstGeom>
        </p:spPr>
      </p:pic>
      <p:pic>
        <p:nvPicPr>
          <p:cNvPr id="54" name="Graphique 53" descr="Personne confuse avec un remplissage uni">
            <a:extLst>
              <a:ext uri="{FF2B5EF4-FFF2-40B4-BE49-F238E27FC236}">
                <a16:creationId xmlns:a16="http://schemas.microsoft.com/office/drawing/2014/main" id="{F226F8EC-A0DC-7B3E-EA2B-1DAE01F14CCD}"/>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422206" y="2492237"/>
            <a:ext cx="575058" cy="575058"/>
          </a:xfrm>
          <a:prstGeom prst="rect">
            <a:avLst/>
          </a:prstGeom>
        </p:spPr>
      </p:pic>
      <p:pic>
        <p:nvPicPr>
          <p:cNvPr id="55" name="Graphique 54" descr="Personne confuse avec un remplissage uni">
            <a:extLst>
              <a:ext uri="{FF2B5EF4-FFF2-40B4-BE49-F238E27FC236}">
                <a16:creationId xmlns:a16="http://schemas.microsoft.com/office/drawing/2014/main" id="{C00EE930-0541-42FC-6740-216EB6C7BE2A}"/>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574995" y="2555435"/>
            <a:ext cx="575058" cy="575058"/>
          </a:xfrm>
          <a:prstGeom prst="rect">
            <a:avLst/>
          </a:prstGeom>
        </p:spPr>
      </p:pic>
      <p:pic>
        <p:nvPicPr>
          <p:cNvPr id="56" name="Graphique 55" descr="Personne confuse avec un remplissage uni">
            <a:extLst>
              <a:ext uri="{FF2B5EF4-FFF2-40B4-BE49-F238E27FC236}">
                <a16:creationId xmlns:a16="http://schemas.microsoft.com/office/drawing/2014/main" id="{4E459D50-9B72-83AD-7807-0C645B97CF1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605007" y="2382698"/>
            <a:ext cx="575058" cy="575058"/>
          </a:xfrm>
          <a:prstGeom prst="rect">
            <a:avLst/>
          </a:prstGeom>
        </p:spPr>
      </p:pic>
      <p:pic>
        <p:nvPicPr>
          <p:cNvPr id="57" name="Graphique 56" descr="Personne confuse avec un remplissage uni">
            <a:extLst>
              <a:ext uri="{FF2B5EF4-FFF2-40B4-BE49-F238E27FC236}">
                <a16:creationId xmlns:a16="http://schemas.microsoft.com/office/drawing/2014/main" id="{5A060EA3-3F3C-342C-09A7-66BCB9F6E743}"/>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601879" y="2555435"/>
            <a:ext cx="575058" cy="575058"/>
          </a:xfrm>
          <a:prstGeom prst="rect">
            <a:avLst/>
          </a:prstGeom>
        </p:spPr>
      </p:pic>
      <p:pic>
        <p:nvPicPr>
          <p:cNvPr id="58" name="Graphique 57" descr="Personne confuse avec un remplissage uni">
            <a:extLst>
              <a:ext uri="{FF2B5EF4-FFF2-40B4-BE49-F238E27FC236}">
                <a16:creationId xmlns:a16="http://schemas.microsoft.com/office/drawing/2014/main" id="{C8C9D70D-37C6-9038-3B8F-7F4ACB340EE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250394" y="2526696"/>
            <a:ext cx="575058" cy="575058"/>
          </a:xfrm>
          <a:prstGeom prst="rect">
            <a:avLst/>
          </a:prstGeom>
        </p:spPr>
      </p:pic>
      <p:pic>
        <p:nvPicPr>
          <p:cNvPr id="60" name="Graphique 59" descr="Horloge avec un remplissage uni">
            <a:extLst>
              <a:ext uri="{FF2B5EF4-FFF2-40B4-BE49-F238E27FC236}">
                <a16:creationId xmlns:a16="http://schemas.microsoft.com/office/drawing/2014/main" id="{58D53E30-77CE-0697-79EA-8C830A37A3E7}"/>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6289643" y="1863416"/>
            <a:ext cx="540658" cy="540658"/>
          </a:xfrm>
          <a:prstGeom prst="rect">
            <a:avLst/>
          </a:prstGeom>
        </p:spPr>
      </p:pic>
      <p:pic>
        <p:nvPicPr>
          <p:cNvPr id="71" name="Graphique 70" descr="Horloge avec un remplissage uni">
            <a:extLst>
              <a:ext uri="{FF2B5EF4-FFF2-40B4-BE49-F238E27FC236}">
                <a16:creationId xmlns:a16="http://schemas.microsoft.com/office/drawing/2014/main" id="{F6E77051-60DC-A585-29F4-77DA07BD3DE2}"/>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087339" y="1935252"/>
            <a:ext cx="540658" cy="540658"/>
          </a:xfrm>
          <a:prstGeom prst="rect">
            <a:avLst/>
          </a:prstGeom>
        </p:spPr>
      </p:pic>
      <p:sp>
        <p:nvSpPr>
          <p:cNvPr id="74" name="Flèche : droite 73">
            <a:extLst>
              <a:ext uri="{FF2B5EF4-FFF2-40B4-BE49-F238E27FC236}">
                <a16:creationId xmlns:a16="http://schemas.microsoft.com/office/drawing/2014/main" id="{3BAF8F74-B073-3313-A851-A591FAD95150}"/>
              </a:ext>
            </a:extLst>
          </p:cNvPr>
          <p:cNvSpPr/>
          <p:nvPr/>
        </p:nvSpPr>
        <p:spPr>
          <a:xfrm>
            <a:off x="9157387" y="2731840"/>
            <a:ext cx="2423384" cy="2022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5" name="Graphique 74" descr="Porte ouverte avec un remplissage uni">
            <a:extLst>
              <a:ext uri="{FF2B5EF4-FFF2-40B4-BE49-F238E27FC236}">
                <a16:creationId xmlns:a16="http://schemas.microsoft.com/office/drawing/2014/main" id="{F834339E-1C25-7F5F-6AEE-DA4F85672113}"/>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003055" y="2425759"/>
            <a:ext cx="633034" cy="633034"/>
          </a:xfrm>
          <a:prstGeom prst="rect">
            <a:avLst/>
          </a:prstGeom>
        </p:spPr>
      </p:pic>
      <p:pic>
        <p:nvPicPr>
          <p:cNvPr id="77" name="Graphique 76" descr="Marcher avec un remplissage uni">
            <a:extLst>
              <a:ext uri="{FF2B5EF4-FFF2-40B4-BE49-F238E27FC236}">
                <a16:creationId xmlns:a16="http://schemas.microsoft.com/office/drawing/2014/main" id="{C474F176-CD2D-701B-7C1F-BD9F27BE8EEA}"/>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9627997" y="2445371"/>
            <a:ext cx="582883" cy="582883"/>
          </a:xfrm>
          <a:prstGeom prst="rect">
            <a:avLst/>
          </a:prstGeom>
        </p:spPr>
      </p:pic>
    </p:spTree>
    <p:extLst>
      <p:ext uri="{BB962C8B-B14F-4D97-AF65-F5344CB8AC3E}">
        <p14:creationId xmlns:p14="http://schemas.microsoft.com/office/powerpoint/2010/main" val="3437345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fr-FR" dirty="0"/>
              <a:t>Niveau 5 : Cas particuliers d’animation</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80" y="62387"/>
            <a:ext cx="2404138" cy="1456415"/>
          </a:xfrm>
          <a:prstGeom prst="wedgeEllipseCallout">
            <a:avLst>
              <a:gd name="adj1" fmla="val 56418"/>
              <a:gd name="adj2" fmla="val 32365"/>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animer facilement l’atelier, même dans les cas difficiles</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3282910"/>
            <a:ext cx="2404138" cy="3209965"/>
          </a:xfrm>
        </p:spPr>
        <p:txBody>
          <a:bodyPr/>
          <a:lstStyle/>
          <a:p>
            <a:r>
              <a:rPr lang="fr-FR" sz="1200" dirty="0"/>
              <a:t>Sélectionnez l’épreuve que vous considérez la plus facile (par exemple, celle des avions en papier).</a:t>
            </a:r>
          </a:p>
          <a:p>
            <a:r>
              <a:rPr lang="fr-FR" sz="1200" dirty="0"/>
              <a:t>Sélectionnez les situations de handicaps les plus faciles à jouer, c’est-à-dire qu’il n’y a pas besoin de grandes compétences d’acteur ou d’actrice pour simuler. Par exemple, celles où on ne peut ouvrir les yeux que quelques secondes, ou bien celles où on ne peut pas parler.</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779672"/>
            <a:ext cx="2412076" cy="503237"/>
          </a:xfrm>
          <a:solidFill>
            <a:schemeClr val="accent2"/>
          </a:solidFill>
        </p:spPr>
        <p:txBody>
          <a:bodyPr>
            <a:normAutofit/>
          </a:bodyPr>
          <a:lstStyle/>
          <a:p>
            <a:r>
              <a:rPr lang="fr-FR" sz="1400" dirty="0"/>
              <a:t>Comment faire si les joueurs n’osent pas se lancer ?</a:t>
            </a:r>
          </a:p>
        </p:txBody>
      </p:sp>
      <p:sp>
        <p:nvSpPr>
          <p:cNvPr id="9" name="Espace réservé du texte 17">
            <a:extLst>
              <a:ext uri="{FF2B5EF4-FFF2-40B4-BE49-F238E27FC236}">
                <a16:creationId xmlns:a16="http://schemas.microsoft.com/office/drawing/2014/main" id="{5DBD2133-F78E-46EE-2F9B-8284492DEFF8}"/>
              </a:ext>
            </a:extLst>
          </p:cNvPr>
          <p:cNvSpPr txBox="1">
            <a:spLocks/>
          </p:cNvSpPr>
          <p:nvPr/>
        </p:nvSpPr>
        <p:spPr>
          <a:xfrm>
            <a:off x="3598215" y="3282909"/>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Le jeu est d’abord un jeu sur la mise en situation, </a:t>
            </a:r>
          </a:p>
          <a:p>
            <a:r>
              <a:rPr lang="fr-FR" sz="1200" dirty="0"/>
              <a:t>La critique sur les animateurs peut venir sur le fait qu’ils ne sont pas des personnes handicapées ou des experts du sujet. Dès le départ, expliquez votre positionnement et insistez sur le fait que ce jeu aborde justement les situations « qui peuvent arriver à tout le monde » et que pour cela, tous sont légitimes. De même, tous les non handicapés sont également légitimes à vouloir faire preuve d’inclusion, à vouloir se renseigner, à vouloir transmettre les apprentissages autour de soi.</a:t>
            </a:r>
          </a:p>
        </p:txBody>
      </p:sp>
      <p:sp>
        <p:nvSpPr>
          <p:cNvPr id="10" name="Espace réservé du texte 2">
            <a:extLst>
              <a:ext uri="{FF2B5EF4-FFF2-40B4-BE49-F238E27FC236}">
                <a16:creationId xmlns:a16="http://schemas.microsoft.com/office/drawing/2014/main" id="{92F68B32-FB86-1BE6-C047-04E5374446F7}"/>
              </a:ext>
            </a:extLst>
          </p:cNvPr>
          <p:cNvSpPr txBox="1">
            <a:spLocks/>
          </p:cNvSpPr>
          <p:nvPr/>
        </p:nvSpPr>
        <p:spPr>
          <a:xfrm>
            <a:off x="3590277" y="2779672"/>
            <a:ext cx="2412076" cy="503237"/>
          </a:xfrm>
          <a:prstGeom prst="rect">
            <a:avLst/>
          </a:prstGeom>
          <a:solidFill>
            <a:schemeClr val="accent2"/>
          </a:solidFill>
        </p:spPr>
        <p:txBody>
          <a:bodyPr vert="horz" lIns="91440" tIns="45720" rIns="91440" bIns="45720" rtlCol="0" anchor="ctr">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Comment gérer les cas de critiques sur la légitimité des animateurs ?</a:t>
            </a:r>
          </a:p>
        </p:txBody>
      </p:sp>
      <p:sp>
        <p:nvSpPr>
          <p:cNvPr id="11" name="Espace réservé du texte 17">
            <a:extLst>
              <a:ext uri="{FF2B5EF4-FFF2-40B4-BE49-F238E27FC236}">
                <a16:creationId xmlns:a16="http://schemas.microsoft.com/office/drawing/2014/main" id="{459DD294-7DDC-00BE-96E8-AD836ED5A025}"/>
              </a:ext>
            </a:extLst>
          </p:cNvPr>
          <p:cNvSpPr txBox="1">
            <a:spLocks/>
          </p:cNvSpPr>
          <p:nvPr/>
        </p:nvSpPr>
        <p:spPr>
          <a:xfrm>
            <a:off x="6350292" y="3282910"/>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Vous pouvez leur proposer un rôle d’observateur (voir feuille dédiée)</a:t>
            </a:r>
          </a:p>
          <a:p>
            <a:r>
              <a:rPr lang="fr-FR" sz="1200" dirty="0"/>
              <a:t>Vous pouvez aussi leur indiquer directement les ressources à consulter</a:t>
            </a:r>
          </a:p>
          <a:p>
            <a:r>
              <a:rPr lang="fr-FR" sz="1200" dirty="0"/>
              <a:t>Pour les personnes qui sont mal à l’aise avec le fait de jouer, mais pas avec le sujet, vous pouvez leur proposer de discuter sur le Debriefing en amont.</a:t>
            </a:r>
          </a:p>
        </p:txBody>
      </p:sp>
      <p:sp>
        <p:nvSpPr>
          <p:cNvPr id="12" name="Espace réservé du texte 2">
            <a:extLst>
              <a:ext uri="{FF2B5EF4-FFF2-40B4-BE49-F238E27FC236}">
                <a16:creationId xmlns:a16="http://schemas.microsoft.com/office/drawing/2014/main" id="{7D82FFEC-2A8B-207C-DB1B-254B5D7AC06C}"/>
              </a:ext>
            </a:extLst>
          </p:cNvPr>
          <p:cNvSpPr txBox="1">
            <a:spLocks/>
          </p:cNvSpPr>
          <p:nvPr/>
        </p:nvSpPr>
        <p:spPr>
          <a:xfrm>
            <a:off x="6342354" y="2779672"/>
            <a:ext cx="2412076" cy="503237"/>
          </a:xfrm>
          <a:prstGeom prst="rect">
            <a:avLst/>
          </a:prstGeom>
          <a:solidFill>
            <a:schemeClr val="accent2"/>
          </a:solidFill>
        </p:spPr>
        <p:txBody>
          <a:bodyPr vert="horz" lIns="91440" tIns="45720" rIns="91440" bIns="45720" rtlCol="0" anchor="ctr">
            <a:normAutofit fontScale="7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Comment faire si certains participants ne souhaitent pas jouer du tout (pour une quelconque raison) ?</a:t>
            </a:r>
          </a:p>
        </p:txBody>
      </p:sp>
      <p:sp>
        <p:nvSpPr>
          <p:cNvPr id="13" name="Espace réservé du texte 17">
            <a:extLst>
              <a:ext uri="{FF2B5EF4-FFF2-40B4-BE49-F238E27FC236}">
                <a16:creationId xmlns:a16="http://schemas.microsoft.com/office/drawing/2014/main" id="{FED9094B-B3C7-164A-A246-7F4D05ABBAB3}"/>
              </a:ext>
            </a:extLst>
          </p:cNvPr>
          <p:cNvSpPr txBox="1">
            <a:spLocks/>
          </p:cNvSpPr>
          <p:nvPr/>
        </p:nvSpPr>
        <p:spPr>
          <a:xfrm>
            <a:off x="9110307" y="3282909"/>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Faites un essai à vide des différentes situations, même chez vous, idéalement entre animateurs.</a:t>
            </a:r>
          </a:p>
          <a:p>
            <a:r>
              <a:rPr lang="fr-FR" sz="1200" dirty="0"/>
              <a:t>Jouez ce jeu d’abord dans un environnement humain que vous connaissez (personnes connues, sensibilité connue à ce sujet, ouverture d’esprit à l’apprentissage ludique).</a:t>
            </a:r>
          </a:p>
          <a:p>
            <a:r>
              <a:rPr lang="fr-FR" sz="1200" dirty="0"/>
              <a:t>L’animation ne sera jamais parfaite, il y a toujours des joueurs plus insatisfaits que les autres, il y a aussi des joueurs qui seront là pour vous soutenir, vous donner des éléments à apprendre, et c’est la répétition qui peut aussi vous former dans le temps.</a:t>
            </a:r>
          </a:p>
        </p:txBody>
      </p:sp>
      <p:sp>
        <p:nvSpPr>
          <p:cNvPr id="14" name="Espace réservé du texte 2">
            <a:extLst>
              <a:ext uri="{FF2B5EF4-FFF2-40B4-BE49-F238E27FC236}">
                <a16:creationId xmlns:a16="http://schemas.microsoft.com/office/drawing/2014/main" id="{4EFAE2A6-6588-A55C-2B6E-23BEDE366FEE}"/>
              </a:ext>
            </a:extLst>
          </p:cNvPr>
          <p:cNvSpPr txBox="1">
            <a:spLocks/>
          </p:cNvSpPr>
          <p:nvPr/>
        </p:nvSpPr>
        <p:spPr>
          <a:xfrm>
            <a:off x="9102369" y="2779671"/>
            <a:ext cx="2412076" cy="503237"/>
          </a:xfrm>
          <a:prstGeom prst="rect">
            <a:avLst/>
          </a:prstGeom>
          <a:solidFill>
            <a:schemeClr val="accent2"/>
          </a:solidFill>
        </p:spPr>
        <p:txBody>
          <a:bodyPr vert="horz" lIns="91440" tIns="45720" rIns="91440" bIns="45720" rtlCol="0" anchor="ctr">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Comment se sentir plus à l’aise pour se présenter en tant qu’animateur de ce jeu ? </a:t>
            </a:r>
          </a:p>
        </p:txBody>
      </p:sp>
      <p:pic>
        <p:nvPicPr>
          <p:cNvPr id="4" name="Graphique 3" descr="Poing serré avec un remplissage uni">
            <a:extLst>
              <a:ext uri="{FF2B5EF4-FFF2-40B4-BE49-F238E27FC236}">
                <a16:creationId xmlns:a16="http://schemas.microsoft.com/office/drawing/2014/main" id="{671745E4-020C-3E2B-B608-6FF09E34A1B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039351" y="1944240"/>
            <a:ext cx="581879" cy="581879"/>
          </a:xfrm>
          <a:prstGeom prst="rect">
            <a:avLst/>
          </a:prstGeom>
        </p:spPr>
      </p:pic>
      <p:pic>
        <p:nvPicPr>
          <p:cNvPr id="6" name="Graphique 5" descr="Visage en colère avec remplissage uni avec un remplissage uni">
            <a:extLst>
              <a:ext uri="{FF2B5EF4-FFF2-40B4-BE49-F238E27FC236}">
                <a16:creationId xmlns:a16="http://schemas.microsoft.com/office/drawing/2014/main" id="{7FBDCF44-8C15-2F2F-4CF8-E07CAC9ECEF8}"/>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445647" y="2185163"/>
            <a:ext cx="581879" cy="581879"/>
          </a:xfrm>
          <a:prstGeom prst="rect">
            <a:avLst/>
          </a:prstGeom>
        </p:spPr>
      </p:pic>
      <p:pic>
        <p:nvPicPr>
          <p:cNvPr id="16" name="Graphique 15" descr="Visage grimaçant et transpirant avec remplissage uni avec un remplissage uni">
            <a:extLst>
              <a:ext uri="{FF2B5EF4-FFF2-40B4-BE49-F238E27FC236}">
                <a16:creationId xmlns:a16="http://schemas.microsoft.com/office/drawing/2014/main" id="{AA781C3F-DFAC-BD77-8112-41C7F217D776}"/>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587038" y="2074441"/>
            <a:ext cx="650135" cy="650135"/>
          </a:xfrm>
          <a:prstGeom prst="rect">
            <a:avLst/>
          </a:prstGeom>
        </p:spPr>
      </p:pic>
      <p:pic>
        <p:nvPicPr>
          <p:cNvPr id="18" name="Graphique 17" descr="Visage confus avec remplissage solide avec un remplissage uni">
            <a:extLst>
              <a:ext uri="{FF2B5EF4-FFF2-40B4-BE49-F238E27FC236}">
                <a16:creationId xmlns:a16="http://schemas.microsoft.com/office/drawing/2014/main" id="{83FE5F7B-5129-E458-B938-C8341D36A208}"/>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236000" y="2145635"/>
            <a:ext cx="633593" cy="633593"/>
          </a:xfrm>
          <a:prstGeom prst="rect">
            <a:avLst/>
          </a:prstGeom>
        </p:spPr>
      </p:pic>
      <p:grpSp>
        <p:nvGrpSpPr>
          <p:cNvPr id="19" name="Groupe 18">
            <a:extLst>
              <a:ext uri="{FF2B5EF4-FFF2-40B4-BE49-F238E27FC236}">
                <a16:creationId xmlns:a16="http://schemas.microsoft.com/office/drawing/2014/main" id="{01C9F016-709D-4BF3-08FD-E74551A3D136}"/>
              </a:ext>
            </a:extLst>
          </p:cNvPr>
          <p:cNvGrpSpPr/>
          <p:nvPr/>
        </p:nvGrpSpPr>
        <p:grpSpPr>
          <a:xfrm>
            <a:off x="9936064" y="1901774"/>
            <a:ext cx="759840" cy="822802"/>
            <a:chOff x="7560150" y="2879049"/>
            <a:chExt cx="982042" cy="1063416"/>
          </a:xfrm>
          <a:solidFill>
            <a:srgbClr val="ED7D31"/>
          </a:solidFill>
        </p:grpSpPr>
        <p:grpSp>
          <p:nvGrpSpPr>
            <p:cNvPr id="20" name="Groupe 19">
              <a:extLst>
                <a:ext uri="{FF2B5EF4-FFF2-40B4-BE49-F238E27FC236}">
                  <a16:creationId xmlns:a16="http://schemas.microsoft.com/office/drawing/2014/main" id="{7C4C5158-5E42-18E1-DD52-13C9E395F9D2}"/>
                </a:ext>
              </a:extLst>
            </p:cNvPr>
            <p:cNvGrpSpPr/>
            <p:nvPr/>
          </p:nvGrpSpPr>
          <p:grpSpPr>
            <a:xfrm>
              <a:off x="7798849" y="2879049"/>
              <a:ext cx="743343" cy="1063416"/>
              <a:chOff x="6391015" y="3260296"/>
              <a:chExt cx="743343" cy="1063416"/>
            </a:xfrm>
            <a:grpFill/>
          </p:grpSpPr>
          <p:grpSp>
            <p:nvGrpSpPr>
              <p:cNvPr id="31" name="Groupe 30">
                <a:extLst>
                  <a:ext uri="{FF2B5EF4-FFF2-40B4-BE49-F238E27FC236}">
                    <a16:creationId xmlns:a16="http://schemas.microsoft.com/office/drawing/2014/main" id="{84E600AB-6936-0A2A-9096-F0EDCA8BDE02}"/>
                  </a:ext>
                </a:extLst>
              </p:cNvPr>
              <p:cNvGrpSpPr/>
              <p:nvPr/>
            </p:nvGrpSpPr>
            <p:grpSpPr>
              <a:xfrm>
                <a:off x="6391015" y="3260296"/>
                <a:ext cx="743343" cy="1063416"/>
                <a:chOff x="6298348" y="3168316"/>
                <a:chExt cx="867130" cy="1240504"/>
              </a:xfrm>
              <a:grpFill/>
            </p:grpSpPr>
            <p:pic>
              <p:nvPicPr>
                <p:cNvPr id="33" name="Graphique 32" descr="Enseignant avec un remplissage uni">
                  <a:extLst>
                    <a:ext uri="{FF2B5EF4-FFF2-40B4-BE49-F238E27FC236}">
                      <a16:creationId xmlns:a16="http://schemas.microsoft.com/office/drawing/2014/main" id="{09E0F0A1-7A8A-63D0-AA75-7ECE14BFD51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34" name="Graphique 33" descr="Personne confuse avec un remplissage uni">
                  <a:extLst>
                    <a:ext uri="{FF2B5EF4-FFF2-40B4-BE49-F238E27FC236}">
                      <a16:creationId xmlns:a16="http://schemas.microsoft.com/office/drawing/2014/main" id="{A075FDA6-7623-EA73-BB16-943C1B9C7223}"/>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35" name="Rectangle : coins arrondis 34">
                  <a:extLst>
                    <a:ext uri="{FF2B5EF4-FFF2-40B4-BE49-F238E27FC236}">
                      <a16:creationId xmlns:a16="http://schemas.microsoft.com/office/drawing/2014/main" id="{B0D4B82D-9E15-1A8A-844D-20FBB37C45FB}"/>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2" name="Image 31">
                <a:extLst>
                  <a:ext uri="{FF2B5EF4-FFF2-40B4-BE49-F238E27FC236}">
                    <a16:creationId xmlns:a16="http://schemas.microsoft.com/office/drawing/2014/main" id="{914EEB62-210F-36F8-FA6D-C8E815578999}"/>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1" name="Graphique 20" descr="Presse-papiers mixte avec un remplissage uni">
              <a:extLst>
                <a:ext uri="{FF2B5EF4-FFF2-40B4-BE49-F238E27FC236}">
                  <a16:creationId xmlns:a16="http://schemas.microsoft.com/office/drawing/2014/main" id="{56A29B8D-D3D0-AFC5-13DA-8FF9C628EF7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pic>
        <p:nvPicPr>
          <p:cNvPr id="39" name="Graphique 38" descr="Signe pouce en haut avec un remplissage uni">
            <a:extLst>
              <a:ext uri="{FF2B5EF4-FFF2-40B4-BE49-F238E27FC236}">
                <a16:creationId xmlns:a16="http://schemas.microsoft.com/office/drawing/2014/main" id="{3217DB3C-F5EE-F44E-5C62-B6EBE003B9A8}"/>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rot="19372495">
            <a:off x="10364922" y="2074441"/>
            <a:ext cx="198173" cy="198173"/>
          </a:xfrm>
          <a:prstGeom prst="rect">
            <a:avLst/>
          </a:prstGeom>
        </p:spPr>
      </p:pic>
    </p:spTree>
    <p:extLst>
      <p:ext uri="{BB962C8B-B14F-4D97-AF65-F5344CB8AC3E}">
        <p14:creationId xmlns:p14="http://schemas.microsoft.com/office/powerpoint/2010/main" val="23389928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fr-FR" dirty="0"/>
              <a:t>Niveau 5 : Cas particuliers d’animation</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404139" cy="1456415"/>
          </a:xfrm>
          <a:prstGeom prst="wedgeEllipseCallout">
            <a:avLst>
              <a:gd name="adj1" fmla="val 56048"/>
              <a:gd name="adj2" fmla="val 3602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animer facilement l’atelier, même dans les cas difficiles</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3282910"/>
            <a:ext cx="2404138" cy="3209965"/>
          </a:xfrm>
        </p:spPr>
        <p:txBody>
          <a:bodyPr/>
          <a:lstStyle/>
          <a:p>
            <a:r>
              <a:rPr lang="fr-FR" sz="1400" dirty="0"/>
              <a:t>Faites moins de tours (quitte à faire un tour plus long) pour commencer le Debriefing plus tôt.</a:t>
            </a:r>
          </a:p>
          <a:p>
            <a:r>
              <a:rPr lang="fr-FR" sz="1400" dirty="0"/>
              <a:t>Soyez transparents avec les joueurs sur le retard et ses conséquences (sortie de la salle, etc.)</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779672"/>
            <a:ext cx="2412076" cy="503237"/>
          </a:xfrm>
          <a:solidFill>
            <a:schemeClr val="accent2"/>
          </a:solidFill>
        </p:spPr>
        <p:txBody>
          <a:bodyPr>
            <a:normAutofit fontScale="85000" lnSpcReduction="10000"/>
          </a:bodyPr>
          <a:lstStyle/>
          <a:p>
            <a:r>
              <a:rPr lang="fr-FR" sz="1400" dirty="0"/>
              <a:t>Quelles sont les recommandations si on a pris du retard ?</a:t>
            </a:r>
          </a:p>
        </p:txBody>
      </p:sp>
      <p:sp>
        <p:nvSpPr>
          <p:cNvPr id="9" name="Espace réservé du texte 17">
            <a:extLst>
              <a:ext uri="{FF2B5EF4-FFF2-40B4-BE49-F238E27FC236}">
                <a16:creationId xmlns:a16="http://schemas.microsoft.com/office/drawing/2014/main" id="{5DBD2133-F78E-46EE-2F9B-8284492DEFF8}"/>
              </a:ext>
            </a:extLst>
          </p:cNvPr>
          <p:cNvSpPr txBox="1">
            <a:spLocks/>
          </p:cNvSpPr>
          <p:nvPr/>
        </p:nvSpPr>
        <p:spPr>
          <a:xfrm>
            <a:off x="3598215" y="3282909"/>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400" dirty="0"/>
          </a:p>
        </p:txBody>
      </p:sp>
      <p:sp>
        <p:nvSpPr>
          <p:cNvPr id="10" name="Espace réservé du texte 2">
            <a:extLst>
              <a:ext uri="{FF2B5EF4-FFF2-40B4-BE49-F238E27FC236}">
                <a16:creationId xmlns:a16="http://schemas.microsoft.com/office/drawing/2014/main" id="{92F68B32-FB86-1BE6-C047-04E5374446F7}"/>
              </a:ext>
            </a:extLst>
          </p:cNvPr>
          <p:cNvSpPr txBox="1">
            <a:spLocks/>
          </p:cNvSpPr>
          <p:nvPr/>
        </p:nvSpPr>
        <p:spPr>
          <a:xfrm>
            <a:off x="3590277" y="2779672"/>
            <a:ext cx="2412076" cy="503237"/>
          </a:xfrm>
          <a:prstGeom prst="rect">
            <a:avLst/>
          </a:prstGeom>
          <a:solidFill>
            <a:schemeClr val="accent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{Autre cas particulier}</a:t>
            </a:r>
          </a:p>
        </p:txBody>
      </p:sp>
      <p:sp>
        <p:nvSpPr>
          <p:cNvPr id="11" name="Espace réservé du texte 17">
            <a:extLst>
              <a:ext uri="{FF2B5EF4-FFF2-40B4-BE49-F238E27FC236}">
                <a16:creationId xmlns:a16="http://schemas.microsoft.com/office/drawing/2014/main" id="{459DD294-7DDC-00BE-96E8-AD836ED5A025}"/>
              </a:ext>
            </a:extLst>
          </p:cNvPr>
          <p:cNvSpPr txBox="1">
            <a:spLocks/>
          </p:cNvSpPr>
          <p:nvPr/>
        </p:nvSpPr>
        <p:spPr>
          <a:xfrm>
            <a:off x="6350292" y="3282910"/>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400" dirty="0"/>
          </a:p>
        </p:txBody>
      </p:sp>
      <p:sp>
        <p:nvSpPr>
          <p:cNvPr id="12" name="Espace réservé du texte 2">
            <a:extLst>
              <a:ext uri="{FF2B5EF4-FFF2-40B4-BE49-F238E27FC236}">
                <a16:creationId xmlns:a16="http://schemas.microsoft.com/office/drawing/2014/main" id="{7D82FFEC-2A8B-207C-DB1B-254B5D7AC06C}"/>
              </a:ext>
            </a:extLst>
          </p:cNvPr>
          <p:cNvSpPr txBox="1">
            <a:spLocks/>
          </p:cNvSpPr>
          <p:nvPr/>
        </p:nvSpPr>
        <p:spPr>
          <a:xfrm>
            <a:off x="6342354" y="2779672"/>
            <a:ext cx="2412076" cy="503237"/>
          </a:xfrm>
          <a:prstGeom prst="rect">
            <a:avLst/>
          </a:prstGeom>
          <a:solidFill>
            <a:schemeClr val="accent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{Autre cas particulier}</a:t>
            </a:r>
          </a:p>
        </p:txBody>
      </p:sp>
      <p:sp>
        <p:nvSpPr>
          <p:cNvPr id="13" name="Espace réservé du texte 17">
            <a:extLst>
              <a:ext uri="{FF2B5EF4-FFF2-40B4-BE49-F238E27FC236}">
                <a16:creationId xmlns:a16="http://schemas.microsoft.com/office/drawing/2014/main" id="{FED9094B-B3C7-164A-A246-7F4D05ABBAB3}"/>
              </a:ext>
            </a:extLst>
          </p:cNvPr>
          <p:cNvSpPr txBox="1">
            <a:spLocks/>
          </p:cNvSpPr>
          <p:nvPr/>
        </p:nvSpPr>
        <p:spPr>
          <a:xfrm>
            <a:off x="9110307" y="3282909"/>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400" dirty="0"/>
          </a:p>
        </p:txBody>
      </p:sp>
      <p:sp>
        <p:nvSpPr>
          <p:cNvPr id="14" name="Espace réservé du texte 2">
            <a:extLst>
              <a:ext uri="{FF2B5EF4-FFF2-40B4-BE49-F238E27FC236}">
                <a16:creationId xmlns:a16="http://schemas.microsoft.com/office/drawing/2014/main" id="{4EFAE2A6-6588-A55C-2B6E-23BEDE366FEE}"/>
              </a:ext>
            </a:extLst>
          </p:cNvPr>
          <p:cNvSpPr txBox="1">
            <a:spLocks/>
          </p:cNvSpPr>
          <p:nvPr/>
        </p:nvSpPr>
        <p:spPr>
          <a:xfrm>
            <a:off x="9102369" y="2779671"/>
            <a:ext cx="2412076" cy="503237"/>
          </a:xfrm>
          <a:prstGeom prst="rect">
            <a:avLst/>
          </a:prstGeom>
          <a:solidFill>
            <a:schemeClr val="accent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{Autre cas particulier}</a:t>
            </a:r>
          </a:p>
        </p:txBody>
      </p:sp>
      <p:pic>
        <p:nvPicPr>
          <p:cNvPr id="5" name="Graphique 4" descr="Sieste avec un remplissage uni">
            <a:extLst>
              <a:ext uri="{FF2B5EF4-FFF2-40B4-BE49-F238E27FC236}">
                <a16:creationId xmlns:a16="http://schemas.microsoft.com/office/drawing/2014/main" id="{A5D5FAD9-BBAB-4A99-0CE2-1CDD46B49E1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723592" y="1736202"/>
            <a:ext cx="914400" cy="914400"/>
          </a:xfrm>
          <a:prstGeom prst="rect">
            <a:avLst/>
          </a:prstGeom>
        </p:spPr>
      </p:pic>
      <p:pic>
        <p:nvPicPr>
          <p:cNvPr id="8" name="Graphique 7" descr="Visage surpris à remplissage uni avec un remplissage uni">
            <a:extLst>
              <a:ext uri="{FF2B5EF4-FFF2-40B4-BE49-F238E27FC236}">
                <a16:creationId xmlns:a16="http://schemas.microsoft.com/office/drawing/2014/main" id="{B02B1314-7F60-09FC-7DC2-2D34D21E054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70751" y="1819758"/>
            <a:ext cx="914400" cy="914400"/>
          </a:xfrm>
          <a:prstGeom prst="rect">
            <a:avLst/>
          </a:prstGeom>
        </p:spPr>
      </p:pic>
    </p:spTree>
    <p:extLst>
      <p:ext uri="{BB962C8B-B14F-4D97-AF65-F5344CB8AC3E}">
        <p14:creationId xmlns:p14="http://schemas.microsoft.com/office/powerpoint/2010/main" val="3459528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 name="Groupe 109">
            <a:extLst>
              <a:ext uri="{FF2B5EF4-FFF2-40B4-BE49-F238E27FC236}">
                <a16:creationId xmlns:a16="http://schemas.microsoft.com/office/drawing/2014/main" id="{E35FD84D-723B-D04C-4580-F3F8F8878997}"/>
              </a:ext>
            </a:extLst>
          </p:cNvPr>
          <p:cNvGrpSpPr/>
          <p:nvPr/>
        </p:nvGrpSpPr>
        <p:grpSpPr>
          <a:xfrm>
            <a:off x="7715288" y="2652931"/>
            <a:ext cx="721271" cy="781037"/>
            <a:chOff x="7560150" y="2879049"/>
            <a:chExt cx="982042" cy="1063416"/>
          </a:xfrm>
          <a:solidFill>
            <a:srgbClr val="ED7D31"/>
          </a:solidFill>
        </p:grpSpPr>
        <p:grpSp>
          <p:nvGrpSpPr>
            <p:cNvPr id="111" name="Groupe 110">
              <a:extLst>
                <a:ext uri="{FF2B5EF4-FFF2-40B4-BE49-F238E27FC236}">
                  <a16:creationId xmlns:a16="http://schemas.microsoft.com/office/drawing/2014/main" id="{B0FD5BB2-FD68-9E6D-0522-6BEC98B66408}"/>
                </a:ext>
              </a:extLst>
            </p:cNvPr>
            <p:cNvGrpSpPr/>
            <p:nvPr/>
          </p:nvGrpSpPr>
          <p:grpSpPr>
            <a:xfrm>
              <a:off x="7798849" y="2879049"/>
              <a:ext cx="743343" cy="1063416"/>
              <a:chOff x="6391015" y="3260296"/>
              <a:chExt cx="743343" cy="1063416"/>
            </a:xfrm>
            <a:grpFill/>
          </p:grpSpPr>
          <p:grpSp>
            <p:nvGrpSpPr>
              <p:cNvPr id="113" name="Groupe 112">
                <a:extLst>
                  <a:ext uri="{FF2B5EF4-FFF2-40B4-BE49-F238E27FC236}">
                    <a16:creationId xmlns:a16="http://schemas.microsoft.com/office/drawing/2014/main" id="{5B9EAF62-4032-ECC0-AEA8-E693565C7CBD}"/>
                  </a:ext>
                </a:extLst>
              </p:cNvPr>
              <p:cNvGrpSpPr/>
              <p:nvPr/>
            </p:nvGrpSpPr>
            <p:grpSpPr>
              <a:xfrm>
                <a:off x="6391015" y="3260296"/>
                <a:ext cx="743343" cy="1063416"/>
                <a:chOff x="6298348" y="3168316"/>
                <a:chExt cx="867130" cy="1240504"/>
              </a:xfrm>
              <a:grpFill/>
            </p:grpSpPr>
            <p:pic>
              <p:nvPicPr>
                <p:cNvPr id="115" name="Graphique 114" descr="Enseignant avec un remplissage uni">
                  <a:extLst>
                    <a:ext uri="{FF2B5EF4-FFF2-40B4-BE49-F238E27FC236}">
                      <a16:creationId xmlns:a16="http://schemas.microsoft.com/office/drawing/2014/main" id="{857C24FB-2D1E-7182-FFB1-50593118BAB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116" name="Graphique 115" descr="Personne confuse avec un remplissage uni">
                  <a:extLst>
                    <a:ext uri="{FF2B5EF4-FFF2-40B4-BE49-F238E27FC236}">
                      <a16:creationId xmlns:a16="http://schemas.microsoft.com/office/drawing/2014/main" id="{2039FE02-CB26-2A37-5344-CA78FF49772A}"/>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117" name="Rectangle : coins arrondis 116">
                  <a:extLst>
                    <a:ext uri="{FF2B5EF4-FFF2-40B4-BE49-F238E27FC236}">
                      <a16:creationId xmlns:a16="http://schemas.microsoft.com/office/drawing/2014/main" id="{99D26B23-1B92-DA21-69BB-9AF357728CD2}"/>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14" name="Image 113">
                <a:extLst>
                  <a:ext uri="{FF2B5EF4-FFF2-40B4-BE49-F238E27FC236}">
                    <a16:creationId xmlns:a16="http://schemas.microsoft.com/office/drawing/2014/main" id="{EC8E0040-AC5B-DFF2-A209-D6E0CBC3C14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112" name="Graphique 111" descr="Presse-papiers mixte avec un remplissage uni">
              <a:extLst>
                <a:ext uri="{FF2B5EF4-FFF2-40B4-BE49-F238E27FC236}">
                  <a16:creationId xmlns:a16="http://schemas.microsoft.com/office/drawing/2014/main" id="{061DE10A-913C-093E-1108-0E75939E619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grpSp>
        <p:nvGrpSpPr>
          <p:cNvPr id="91" name="Groupe 90">
            <a:extLst>
              <a:ext uri="{FF2B5EF4-FFF2-40B4-BE49-F238E27FC236}">
                <a16:creationId xmlns:a16="http://schemas.microsoft.com/office/drawing/2014/main" id="{E5F97B8E-28B9-884A-2962-4401EC0104A6}"/>
              </a:ext>
            </a:extLst>
          </p:cNvPr>
          <p:cNvGrpSpPr/>
          <p:nvPr/>
        </p:nvGrpSpPr>
        <p:grpSpPr>
          <a:xfrm>
            <a:off x="5654918" y="5456676"/>
            <a:ext cx="774022" cy="755427"/>
            <a:chOff x="4763560" y="3762738"/>
            <a:chExt cx="978178" cy="925014"/>
          </a:xfrm>
        </p:grpSpPr>
        <p:grpSp>
          <p:nvGrpSpPr>
            <p:cNvPr id="92" name="Groupe 91">
              <a:extLst>
                <a:ext uri="{FF2B5EF4-FFF2-40B4-BE49-F238E27FC236}">
                  <a16:creationId xmlns:a16="http://schemas.microsoft.com/office/drawing/2014/main" id="{54896FF2-0262-982C-D21F-AC77E75BF61F}"/>
                </a:ext>
              </a:extLst>
            </p:cNvPr>
            <p:cNvGrpSpPr/>
            <p:nvPr/>
          </p:nvGrpSpPr>
          <p:grpSpPr>
            <a:xfrm flipH="1">
              <a:off x="4766064" y="3762738"/>
              <a:ext cx="975674" cy="925014"/>
              <a:chOff x="4716415" y="3792004"/>
              <a:chExt cx="1009529" cy="925014"/>
            </a:xfrm>
          </p:grpSpPr>
          <p:pic>
            <p:nvPicPr>
              <p:cNvPr id="95" name="Graphique 94" descr="Mégaphone1 avec un remplissage uni">
                <a:extLst>
                  <a:ext uri="{FF2B5EF4-FFF2-40B4-BE49-F238E27FC236}">
                    <a16:creationId xmlns:a16="http://schemas.microsoft.com/office/drawing/2014/main" id="{00C8323D-5DC4-7A57-39DA-B64CCCE1AA0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4716415" y="3792004"/>
                <a:ext cx="384826" cy="398002"/>
              </a:xfrm>
              <a:prstGeom prst="rect">
                <a:avLst/>
              </a:prstGeom>
            </p:spPr>
          </p:pic>
          <p:grpSp>
            <p:nvGrpSpPr>
              <p:cNvPr id="96" name="Groupe 95">
                <a:extLst>
                  <a:ext uri="{FF2B5EF4-FFF2-40B4-BE49-F238E27FC236}">
                    <a16:creationId xmlns:a16="http://schemas.microsoft.com/office/drawing/2014/main" id="{8413E155-150D-4943-3CBA-1D561568D0F6}"/>
                  </a:ext>
                </a:extLst>
              </p:cNvPr>
              <p:cNvGrpSpPr/>
              <p:nvPr/>
            </p:nvGrpSpPr>
            <p:grpSpPr>
              <a:xfrm>
                <a:off x="5048496" y="3886444"/>
                <a:ext cx="633086" cy="830574"/>
                <a:chOff x="5018285" y="3873291"/>
                <a:chExt cx="696980" cy="914400"/>
              </a:xfrm>
            </p:grpSpPr>
            <p:pic>
              <p:nvPicPr>
                <p:cNvPr id="99" name="Graphique 98" descr="Personne confuse avec un remplissage uni">
                  <a:extLst>
                    <a:ext uri="{FF2B5EF4-FFF2-40B4-BE49-F238E27FC236}">
                      <a16:creationId xmlns:a16="http://schemas.microsoft.com/office/drawing/2014/main" id="{04550851-7A9E-B883-1D13-177542EA5B7A}"/>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30440" r="-1"/>
                <a:stretch/>
              </p:blipFill>
              <p:spPr>
                <a:xfrm>
                  <a:off x="5079206" y="3873291"/>
                  <a:ext cx="636059" cy="914400"/>
                </a:xfrm>
                <a:prstGeom prst="rect">
                  <a:avLst/>
                </a:prstGeom>
              </p:spPr>
            </p:pic>
            <p:sp>
              <p:nvSpPr>
                <p:cNvPr id="100" name="Rectangle : coins arrondis 99">
                  <a:extLst>
                    <a:ext uri="{FF2B5EF4-FFF2-40B4-BE49-F238E27FC236}">
                      <a16:creationId xmlns:a16="http://schemas.microsoft.com/office/drawing/2014/main" id="{24B99BD8-6879-81C6-0824-0A390DAD7C44}"/>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97" name="Graphique 96" descr="Balance de la justice avec un remplissage uni">
                <a:extLst>
                  <a:ext uri="{FF2B5EF4-FFF2-40B4-BE49-F238E27FC236}">
                    <a16:creationId xmlns:a16="http://schemas.microsoft.com/office/drawing/2014/main" id="{8AF9B217-FCA0-2516-5BF1-8D363D396767}"/>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5374349" y="3867945"/>
                <a:ext cx="351595" cy="351595"/>
              </a:xfrm>
              <a:prstGeom prst="rect">
                <a:avLst/>
              </a:prstGeom>
            </p:spPr>
          </p:pic>
          <p:pic>
            <p:nvPicPr>
              <p:cNvPr id="98" name="Image 97">
                <a:extLst>
                  <a:ext uri="{FF2B5EF4-FFF2-40B4-BE49-F238E27FC236}">
                    <a16:creationId xmlns:a16="http://schemas.microsoft.com/office/drawing/2014/main" id="{547E5BEF-05F8-4C58-CBEA-2C27617093C8}"/>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93" name="Graphique 92" descr="Balance de la justice avec un remplissage uni">
              <a:extLst>
                <a:ext uri="{FF2B5EF4-FFF2-40B4-BE49-F238E27FC236}">
                  <a16:creationId xmlns:a16="http://schemas.microsoft.com/office/drawing/2014/main" id="{5396ECA9-FEBB-0D12-DBA6-D6CA8C41A5F8}"/>
                </a:ext>
              </a:extLst>
            </p:cNvPr>
            <p:cNvPicPr>
              <a:picLocks noChangeAspect="1"/>
            </p:cNvPicPr>
            <p:nvPr/>
          </p:nvPicPr>
          <p:blipFill rotWithShape="1">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rcRect l="7711" t="16230" r="55712" b="32471"/>
            <a:stretch/>
          </p:blipFill>
          <p:spPr>
            <a:xfrm flipH="1">
              <a:off x="4955380" y="3895743"/>
              <a:ext cx="124289" cy="180364"/>
            </a:xfrm>
            <a:prstGeom prst="rect">
              <a:avLst/>
            </a:prstGeom>
          </p:spPr>
        </p:pic>
        <p:pic>
          <p:nvPicPr>
            <p:cNvPr id="94" name="Graphique 93" descr="Balance de la justice avec un remplissage uni">
              <a:extLst>
                <a:ext uri="{FF2B5EF4-FFF2-40B4-BE49-F238E27FC236}">
                  <a16:creationId xmlns:a16="http://schemas.microsoft.com/office/drawing/2014/main" id="{8707FC9B-2503-21B6-1A96-828F21378E5B}"/>
                </a:ext>
              </a:extLst>
            </p:cNvPr>
            <p:cNvPicPr>
              <a:picLocks noChangeAspect="1"/>
            </p:cNvPicPr>
            <p:nvPr/>
          </p:nvPicPr>
          <p:blipFill rotWithShape="1">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rcRect l="58383" t="16186" b="30375"/>
            <a:stretch/>
          </p:blipFill>
          <p:spPr>
            <a:xfrm flipH="1">
              <a:off x="4763560" y="3895742"/>
              <a:ext cx="141416" cy="187889"/>
            </a:xfrm>
            <a:prstGeom prst="rect">
              <a:avLst/>
            </a:prstGeom>
          </p:spPr>
        </p:pic>
      </p:grpSp>
      <p:grpSp>
        <p:nvGrpSpPr>
          <p:cNvPr id="101" name="Groupe 100">
            <a:extLst>
              <a:ext uri="{FF2B5EF4-FFF2-40B4-BE49-F238E27FC236}">
                <a16:creationId xmlns:a16="http://schemas.microsoft.com/office/drawing/2014/main" id="{7C2FDEF2-2262-2D95-F18E-A9E508ED9AC4}"/>
              </a:ext>
            </a:extLst>
          </p:cNvPr>
          <p:cNvGrpSpPr/>
          <p:nvPr/>
        </p:nvGrpSpPr>
        <p:grpSpPr>
          <a:xfrm>
            <a:off x="6846866" y="4204179"/>
            <a:ext cx="601806" cy="648730"/>
            <a:chOff x="6060465" y="3463636"/>
            <a:chExt cx="819385" cy="883274"/>
          </a:xfrm>
          <a:solidFill>
            <a:srgbClr val="ED7D31"/>
          </a:solidFill>
        </p:grpSpPr>
        <p:pic>
          <p:nvPicPr>
            <p:cNvPr id="102" name="Graphique 101" descr="Presse-papiers mixte avec un remplissage uni">
              <a:extLst>
                <a:ext uri="{FF2B5EF4-FFF2-40B4-BE49-F238E27FC236}">
                  <a16:creationId xmlns:a16="http://schemas.microsoft.com/office/drawing/2014/main" id="{21B474AE-A779-3D8D-952A-C97FB9CCAE0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20207580">
              <a:off x="6060465" y="3580343"/>
              <a:ext cx="314429" cy="314429"/>
            </a:xfrm>
            <a:prstGeom prst="rect">
              <a:avLst/>
            </a:prstGeom>
          </p:spPr>
        </p:pic>
        <p:grpSp>
          <p:nvGrpSpPr>
            <p:cNvPr id="103" name="Groupe 102">
              <a:extLst>
                <a:ext uri="{FF2B5EF4-FFF2-40B4-BE49-F238E27FC236}">
                  <a16:creationId xmlns:a16="http://schemas.microsoft.com/office/drawing/2014/main" id="{19E08561-C5AC-D7BA-5290-ABCF87768A31}"/>
                </a:ext>
              </a:extLst>
            </p:cNvPr>
            <p:cNvGrpSpPr/>
            <p:nvPr/>
          </p:nvGrpSpPr>
          <p:grpSpPr>
            <a:xfrm>
              <a:off x="6132133" y="3463636"/>
              <a:ext cx="612923" cy="883274"/>
              <a:chOff x="6132133" y="3463636"/>
              <a:chExt cx="612923" cy="883274"/>
            </a:xfrm>
            <a:grpFill/>
          </p:grpSpPr>
          <p:pic>
            <p:nvPicPr>
              <p:cNvPr id="106" name="Graphique 105" descr="Centre d’appels avec un remplissage uni">
                <a:extLst>
                  <a:ext uri="{FF2B5EF4-FFF2-40B4-BE49-F238E27FC236}">
                    <a16:creationId xmlns:a16="http://schemas.microsoft.com/office/drawing/2014/main" id="{833A9C2F-D336-3C1C-E0D0-C00F5C7492F0}"/>
                  </a:ext>
                </a:extLst>
              </p:cNvPr>
              <p:cNvPicPr>
                <a:picLocks noChangeAspect="1"/>
              </p:cNvPicPr>
              <p:nvPr/>
            </p:nvPicPr>
            <p:blipFill rotWithShape="1">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rcRect b="44092"/>
              <a:stretch/>
            </p:blipFill>
            <p:spPr>
              <a:xfrm>
                <a:off x="6322855" y="3463636"/>
                <a:ext cx="422201" cy="236042"/>
              </a:xfrm>
              <a:prstGeom prst="rect">
                <a:avLst/>
              </a:prstGeom>
            </p:spPr>
          </p:pic>
          <p:grpSp>
            <p:nvGrpSpPr>
              <p:cNvPr id="107" name="Groupe 106">
                <a:extLst>
                  <a:ext uri="{FF2B5EF4-FFF2-40B4-BE49-F238E27FC236}">
                    <a16:creationId xmlns:a16="http://schemas.microsoft.com/office/drawing/2014/main" id="{05F68364-AF8E-8C4D-902E-6423F3BA33F3}"/>
                  </a:ext>
                </a:extLst>
              </p:cNvPr>
              <p:cNvGrpSpPr/>
              <p:nvPr/>
            </p:nvGrpSpPr>
            <p:grpSpPr>
              <a:xfrm flipH="1">
                <a:off x="6132133" y="3682042"/>
                <a:ext cx="611857" cy="664868"/>
                <a:chOff x="5018285" y="4055721"/>
                <a:chExt cx="696982" cy="731970"/>
              </a:xfrm>
              <a:grpFill/>
            </p:grpSpPr>
            <p:pic>
              <p:nvPicPr>
                <p:cNvPr id="108" name="Graphique 107" descr="Personne confuse avec un remplissage uni">
                  <a:extLst>
                    <a:ext uri="{FF2B5EF4-FFF2-40B4-BE49-F238E27FC236}">
                      <a16:creationId xmlns:a16="http://schemas.microsoft.com/office/drawing/2014/main" id="{5480E394-552C-C26C-4D5A-78DD2EFBDBE9}"/>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30440" t="19951" r="-1"/>
                <a:stretch/>
              </p:blipFill>
              <p:spPr>
                <a:xfrm>
                  <a:off x="5079207" y="4055721"/>
                  <a:ext cx="636060" cy="731970"/>
                </a:xfrm>
                <a:prstGeom prst="rect">
                  <a:avLst/>
                </a:prstGeom>
              </p:spPr>
            </p:pic>
            <p:sp>
              <p:nvSpPr>
                <p:cNvPr id="109" name="Rectangle : coins arrondis 108">
                  <a:extLst>
                    <a:ext uri="{FF2B5EF4-FFF2-40B4-BE49-F238E27FC236}">
                      <a16:creationId xmlns:a16="http://schemas.microsoft.com/office/drawing/2014/main" id="{DCB60421-6E9F-1F68-FC80-A7923AD1A27D}"/>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104" name="Image 103">
              <a:extLst>
                <a:ext uri="{FF2B5EF4-FFF2-40B4-BE49-F238E27FC236}">
                  <a16:creationId xmlns:a16="http://schemas.microsoft.com/office/drawing/2014/main" id="{227B821A-254F-C1C6-26D4-913E14A3DB86}"/>
                </a:ext>
              </a:extLst>
            </p:cNvPr>
            <p:cNvPicPr>
              <a:picLocks noChangeAspect="1"/>
            </p:cNvPicPr>
            <p:nvPr/>
          </p:nvPicPr>
          <p:blipFill>
            <a:blip r:embed="rId22" cstate="print">
              <a:extLst>
                <a:ext uri="{BEBA8EAE-BF5A-486C-A8C5-ECC9F3942E4B}">
                  <a14:imgProps xmlns:a14="http://schemas.microsoft.com/office/drawing/2010/main">
                    <a14:imgLayer r:embed="rId23">
                      <a14:imgEffect>
                        <a14:brightnessContrast bright="100000"/>
                      </a14:imgEffect>
                    </a14:imgLayer>
                  </a14:imgProps>
                </a:ext>
                <a:ext uri="{28A0092B-C50C-407E-A947-70E740481C1C}">
                  <a14:useLocalDpi xmlns:a14="http://schemas.microsoft.com/office/drawing/2010/main"/>
                </a:ext>
              </a:extLst>
            </a:blip>
            <a:stretch>
              <a:fillRect/>
            </a:stretch>
          </p:blipFill>
          <p:spPr>
            <a:xfrm>
              <a:off x="6474915" y="3741133"/>
              <a:ext cx="109675" cy="109475"/>
            </a:xfrm>
            <a:prstGeom prst="rect">
              <a:avLst/>
            </a:prstGeom>
            <a:grpFill/>
          </p:spPr>
        </p:pic>
        <p:pic>
          <p:nvPicPr>
            <p:cNvPr id="105" name="Graphique 104" descr="Chronomètre avec un remplissage uni">
              <a:extLst>
                <a:ext uri="{FF2B5EF4-FFF2-40B4-BE49-F238E27FC236}">
                  <a16:creationId xmlns:a16="http://schemas.microsoft.com/office/drawing/2014/main" id="{40903737-EDA4-0857-1AAE-FBC9BD0FBD43}"/>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6714271" y="3602551"/>
              <a:ext cx="165579" cy="165579"/>
            </a:xfrm>
            <a:prstGeom prst="rect">
              <a:avLst/>
            </a:prstGeom>
          </p:spPr>
        </p:pic>
      </p:grpSp>
      <p:sp>
        <p:nvSpPr>
          <p:cNvPr id="9" name="Titre 8">
            <a:extLst>
              <a:ext uri="{FF2B5EF4-FFF2-40B4-BE49-F238E27FC236}">
                <a16:creationId xmlns:a16="http://schemas.microsoft.com/office/drawing/2014/main" id="{4C4AA412-94A2-0381-F70A-1CD0918AAF6D}"/>
              </a:ext>
            </a:extLst>
          </p:cNvPr>
          <p:cNvSpPr>
            <a:spLocks noGrp="1"/>
          </p:cNvSpPr>
          <p:nvPr>
            <p:ph type="title"/>
          </p:nvPr>
        </p:nvSpPr>
        <p:spPr>
          <a:xfrm>
            <a:off x="838200" y="365125"/>
            <a:ext cx="7276196" cy="1325563"/>
          </a:xfrm>
        </p:spPr>
        <p:txBody>
          <a:bodyPr>
            <a:noAutofit/>
          </a:bodyPr>
          <a:lstStyle/>
          <a:p>
            <a:r>
              <a:rPr lang="fr-FR" sz="3200" dirty="0"/>
              <a:t>Niveau 5 : Comment faire avec les joueurs motivés à animer ou organiser Handi Situations à leur tour ?</a:t>
            </a:r>
          </a:p>
        </p:txBody>
      </p:sp>
      <p:sp>
        <p:nvSpPr>
          <p:cNvPr id="11" name="Rectangle 10">
            <a:extLst>
              <a:ext uri="{FF2B5EF4-FFF2-40B4-BE49-F238E27FC236}">
                <a16:creationId xmlns:a16="http://schemas.microsoft.com/office/drawing/2014/main" id="{8BF53561-1DEE-DAC3-CCF3-65E6A791A08B}"/>
              </a:ext>
            </a:extLst>
          </p:cNvPr>
          <p:cNvSpPr/>
          <p:nvPr/>
        </p:nvSpPr>
        <p:spPr>
          <a:xfrm>
            <a:off x="167013" y="2647541"/>
            <a:ext cx="849758" cy="1524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Partager le cadre #OSG </a:t>
            </a:r>
          </a:p>
          <a:p>
            <a:pPr algn="ctr"/>
            <a:r>
              <a:rPr lang="fr-FR" sz="1050" dirty="0"/>
              <a:t>(Manifeste) pour rappel</a:t>
            </a:r>
          </a:p>
        </p:txBody>
      </p:sp>
      <p:sp>
        <p:nvSpPr>
          <p:cNvPr id="12" name="Rectangle 11">
            <a:extLst>
              <a:ext uri="{FF2B5EF4-FFF2-40B4-BE49-F238E27FC236}">
                <a16:creationId xmlns:a16="http://schemas.microsoft.com/office/drawing/2014/main" id="{19670FB6-D098-43F0-C21F-D6C0F60A1C23}"/>
              </a:ext>
            </a:extLst>
          </p:cNvPr>
          <p:cNvSpPr/>
          <p:nvPr/>
        </p:nvSpPr>
        <p:spPr>
          <a:xfrm>
            <a:off x="3982613" y="2924019"/>
            <a:ext cx="1274505" cy="90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Demander par quels rôles de l’#OpenSeriousPath chacun est intéressé</a:t>
            </a:r>
          </a:p>
        </p:txBody>
      </p:sp>
      <p:cxnSp>
        <p:nvCxnSpPr>
          <p:cNvPr id="16" name="Connecteur droit avec flèche 15">
            <a:extLst>
              <a:ext uri="{FF2B5EF4-FFF2-40B4-BE49-F238E27FC236}">
                <a16:creationId xmlns:a16="http://schemas.microsoft.com/office/drawing/2014/main" id="{817283CA-7D1F-3154-EA4E-3C07D9CB1DF0}"/>
              </a:ext>
            </a:extLst>
          </p:cNvPr>
          <p:cNvCxnSpPr>
            <a:cxnSpLocks/>
            <a:stCxn id="11" idx="3"/>
            <a:endCxn id="66" idx="1"/>
          </p:cNvCxnSpPr>
          <p:nvPr/>
        </p:nvCxnSpPr>
        <p:spPr>
          <a:xfrm>
            <a:off x="1016771" y="3409917"/>
            <a:ext cx="1539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B2DC3279-ED13-6994-5596-A84DE5140147}"/>
              </a:ext>
            </a:extLst>
          </p:cNvPr>
          <p:cNvCxnSpPr>
            <a:cxnSpLocks/>
            <a:stCxn id="12" idx="3"/>
            <a:endCxn id="13" idx="1"/>
          </p:cNvCxnSpPr>
          <p:nvPr/>
        </p:nvCxnSpPr>
        <p:spPr>
          <a:xfrm flipV="1">
            <a:off x="5257118" y="2307702"/>
            <a:ext cx="2420025" cy="1068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030308A3-7E6D-46EB-76F0-4DC54A79426C}"/>
              </a:ext>
            </a:extLst>
          </p:cNvPr>
          <p:cNvSpPr txBox="1"/>
          <p:nvPr/>
        </p:nvSpPr>
        <p:spPr>
          <a:xfrm>
            <a:off x="112322" y="4227363"/>
            <a:ext cx="1003761" cy="1015663"/>
          </a:xfrm>
          <a:prstGeom prst="rect">
            <a:avLst/>
          </a:prstGeom>
          <a:noFill/>
        </p:spPr>
        <p:txBody>
          <a:bodyPr wrap="square">
            <a:spAutoFit/>
          </a:bodyPr>
          <a:lstStyle/>
          <a:p>
            <a:r>
              <a:rPr lang="fr-FR" sz="1200" dirty="0">
                <a:hlinkClick r:id="rId26"/>
              </a:rPr>
              <a:t>https://openseriousgames.org/manifeste/</a:t>
            </a:r>
            <a:endParaRPr lang="fr-FR" sz="1200" dirty="0"/>
          </a:p>
          <a:p>
            <a:endParaRPr lang="fr-FR" sz="1200" dirty="0"/>
          </a:p>
        </p:txBody>
      </p:sp>
      <p:sp>
        <p:nvSpPr>
          <p:cNvPr id="35" name="Rectangle 34">
            <a:extLst>
              <a:ext uri="{FF2B5EF4-FFF2-40B4-BE49-F238E27FC236}">
                <a16:creationId xmlns:a16="http://schemas.microsoft.com/office/drawing/2014/main" id="{1F82589F-C95F-47CA-9C0C-CC32A74D1237}"/>
              </a:ext>
            </a:extLst>
          </p:cNvPr>
          <p:cNvSpPr/>
          <p:nvPr/>
        </p:nvSpPr>
        <p:spPr>
          <a:xfrm>
            <a:off x="7254160" y="3270946"/>
            <a:ext cx="1654134" cy="8442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solidFill>
              </a:rPr>
              <a:t>5. Lead Animateur, Animatrice</a:t>
            </a:r>
          </a:p>
          <a:p>
            <a:pPr algn="ctr"/>
            <a:r>
              <a:rPr lang="fr-FR" sz="1000" dirty="0">
                <a:solidFill>
                  <a:schemeClr val="tx1"/>
                </a:solidFill>
              </a:rPr>
              <a:t>« Je me sens capable de mener l’animation de Handi Situations »</a:t>
            </a:r>
          </a:p>
        </p:txBody>
      </p:sp>
      <p:sp>
        <p:nvSpPr>
          <p:cNvPr id="36" name="Rectangle 35">
            <a:extLst>
              <a:ext uri="{FF2B5EF4-FFF2-40B4-BE49-F238E27FC236}">
                <a16:creationId xmlns:a16="http://schemas.microsoft.com/office/drawing/2014/main" id="{C7437221-FF71-E0BC-F787-8D1AD1921DB9}"/>
              </a:ext>
            </a:extLst>
          </p:cNvPr>
          <p:cNvSpPr/>
          <p:nvPr/>
        </p:nvSpPr>
        <p:spPr>
          <a:xfrm>
            <a:off x="6425315" y="4763487"/>
            <a:ext cx="1654134" cy="9451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solidFill>
              </a:rPr>
              <a:t>4. Co-animateur, Co-animatrice</a:t>
            </a:r>
          </a:p>
          <a:p>
            <a:pPr algn="ctr"/>
            <a:r>
              <a:rPr lang="fr-FR" sz="1000" dirty="0">
                <a:solidFill>
                  <a:schemeClr val="tx1"/>
                </a:solidFill>
              </a:rPr>
              <a:t>« Je veux tester la </a:t>
            </a:r>
            <a:r>
              <a:rPr lang="fr-FR" sz="1000" dirty="0" err="1">
                <a:solidFill>
                  <a:schemeClr val="tx1"/>
                </a:solidFill>
              </a:rPr>
              <a:t>co-animation</a:t>
            </a:r>
            <a:r>
              <a:rPr lang="fr-FR" sz="1000" dirty="0">
                <a:solidFill>
                  <a:schemeClr val="tx1"/>
                </a:solidFill>
              </a:rPr>
              <a:t> de Handi Situations avec quelqu’un qui mènera l’animation»</a:t>
            </a:r>
          </a:p>
        </p:txBody>
      </p:sp>
      <p:cxnSp>
        <p:nvCxnSpPr>
          <p:cNvPr id="37" name="Connecteur droit avec flèche 36">
            <a:extLst>
              <a:ext uri="{FF2B5EF4-FFF2-40B4-BE49-F238E27FC236}">
                <a16:creationId xmlns:a16="http://schemas.microsoft.com/office/drawing/2014/main" id="{C0CFD5AC-8245-2BC7-0ABA-560E4F3494D4}"/>
              </a:ext>
            </a:extLst>
          </p:cNvPr>
          <p:cNvCxnSpPr>
            <a:cxnSpLocks/>
            <a:stCxn id="12" idx="3"/>
            <a:endCxn id="35" idx="1"/>
          </p:cNvCxnSpPr>
          <p:nvPr/>
        </p:nvCxnSpPr>
        <p:spPr>
          <a:xfrm>
            <a:off x="5257118" y="3376105"/>
            <a:ext cx="1997042" cy="316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A852FC38-61EB-633E-9CC8-FC3E81175CF0}"/>
              </a:ext>
            </a:extLst>
          </p:cNvPr>
          <p:cNvCxnSpPr>
            <a:cxnSpLocks/>
            <a:stCxn id="12" idx="3"/>
            <a:endCxn id="36" idx="1"/>
          </p:cNvCxnSpPr>
          <p:nvPr/>
        </p:nvCxnSpPr>
        <p:spPr>
          <a:xfrm>
            <a:off x="5257118" y="3376105"/>
            <a:ext cx="1168197" cy="1859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27A26781-885D-2A5D-7D23-A63F94E9AE10}"/>
              </a:ext>
            </a:extLst>
          </p:cNvPr>
          <p:cNvSpPr/>
          <p:nvPr/>
        </p:nvSpPr>
        <p:spPr>
          <a:xfrm>
            <a:off x="5479348" y="6024542"/>
            <a:ext cx="1646575" cy="7558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solidFill>
              </a:rPr>
              <a:t>3. Eclaireur, Eclaireuse</a:t>
            </a:r>
          </a:p>
          <a:p>
            <a:pPr algn="ctr"/>
            <a:r>
              <a:rPr lang="fr-FR" sz="1000" dirty="0">
                <a:solidFill>
                  <a:schemeClr val="tx1"/>
                </a:solidFill>
              </a:rPr>
              <a:t>« Je veux organiser une nouvelle session de Handi Situations, avec des animateurs »</a:t>
            </a:r>
          </a:p>
        </p:txBody>
      </p:sp>
      <p:cxnSp>
        <p:nvCxnSpPr>
          <p:cNvPr id="44" name="Connecteur droit avec flèche 43">
            <a:extLst>
              <a:ext uri="{FF2B5EF4-FFF2-40B4-BE49-F238E27FC236}">
                <a16:creationId xmlns:a16="http://schemas.microsoft.com/office/drawing/2014/main" id="{299EC707-FD54-D74B-0692-D781BA25E89B}"/>
              </a:ext>
            </a:extLst>
          </p:cNvPr>
          <p:cNvCxnSpPr>
            <a:cxnSpLocks/>
            <a:stCxn id="12" idx="3"/>
            <a:endCxn id="43" idx="1"/>
          </p:cNvCxnSpPr>
          <p:nvPr/>
        </p:nvCxnSpPr>
        <p:spPr>
          <a:xfrm>
            <a:off x="5257118" y="3376105"/>
            <a:ext cx="222230" cy="3026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418E83DF-D2CD-0A6C-3D73-72F0FDEDD9DD}"/>
              </a:ext>
            </a:extLst>
          </p:cNvPr>
          <p:cNvSpPr/>
          <p:nvPr/>
        </p:nvSpPr>
        <p:spPr>
          <a:xfrm>
            <a:off x="1170674" y="2647541"/>
            <a:ext cx="1447060" cy="1524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S’il y en a plusieurs motivés en même temps, proposer de créer / rejoindre un groupe de mise en relation (par exemple sur une messagerie instantanée) des motivés à transmettre</a:t>
            </a:r>
          </a:p>
        </p:txBody>
      </p:sp>
      <p:cxnSp>
        <p:nvCxnSpPr>
          <p:cNvPr id="71" name="Connecteur droit avec flèche 70">
            <a:extLst>
              <a:ext uri="{FF2B5EF4-FFF2-40B4-BE49-F238E27FC236}">
                <a16:creationId xmlns:a16="http://schemas.microsoft.com/office/drawing/2014/main" id="{0EBE5632-74DD-BFC7-CAF0-889C9788953B}"/>
              </a:ext>
            </a:extLst>
          </p:cNvPr>
          <p:cNvCxnSpPr>
            <a:cxnSpLocks/>
            <a:stCxn id="66" idx="3"/>
            <a:endCxn id="251" idx="1"/>
          </p:cNvCxnSpPr>
          <p:nvPr/>
        </p:nvCxnSpPr>
        <p:spPr>
          <a:xfrm flipV="1">
            <a:off x="2617734" y="3405612"/>
            <a:ext cx="62117" cy="4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87" name="Groupe 186">
            <a:extLst>
              <a:ext uri="{FF2B5EF4-FFF2-40B4-BE49-F238E27FC236}">
                <a16:creationId xmlns:a16="http://schemas.microsoft.com/office/drawing/2014/main" id="{8BB408E5-EC49-52F6-78CC-261DF90069B7}"/>
              </a:ext>
            </a:extLst>
          </p:cNvPr>
          <p:cNvGrpSpPr/>
          <p:nvPr/>
        </p:nvGrpSpPr>
        <p:grpSpPr>
          <a:xfrm>
            <a:off x="1368692" y="5015476"/>
            <a:ext cx="1092771" cy="1801242"/>
            <a:chOff x="2145452" y="4382810"/>
            <a:chExt cx="1092771" cy="1801242"/>
          </a:xfrm>
        </p:grpSpPr>
        <p:pic>
          <p:nvPicPr>
            <p:cNvPr id="121" name="Graphique 120" descr="Smartphone avec un remplissage uni">
              <a:extLst>
                <a:ext uri="{FF2B5EF4-FFF2-40B4-BE49-F238E27FC236}">
                  <a16:creationId xmlns:a16="http://schemas.microsoft.com/office/drawing/2014/main" id="{51408ED6-3AC9-656B-3935-EBE8B7C5E292}"/>
                </a:ext>
              </a:extLst>
            </p:cNvPr>
            <p:cNvPicPr>
              <a:picLocks noChangeAspect="1"/>
            </p:cNvPicPr>
            <p:nvPr/>
          </p:nvPicPr>
          <p:blipFill rotWithShape="1">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rcRect l="19669" r="19663"/>
            <a:stretch/>
          </p:blipFill>
          <p:spPr>
            <a:xfrm>
              <a:off x="2145452" y="4382810"/>
              <a:ext cx="1092771" cy="1801242"/>
            </a:xfrm>
            <a:prstGeom prst="rect">
              <a:avLst/>
            </a:prstGeom>
          </p:spPr>
        </p:pic>
        <p:pic>
          <p:nvPicPr>
            <p:cNvPr id="119" name="Graphique 118" descr="Chat avec un remplissage uni">
              <a:extLst>
                <a:ext uri="{FF2B5EF4-FFF2-40B4-BE49-F238E27FC236}">
                  <a16:creationId xmlns:a16="http://schemas.microsoft.com/office/drawing/2014/main" id="{1F55ACBC-7C09-0E0A-416C-83D91DAB6E55}"/>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362654" y="4793064"/>
              <a:ext cx="646332" cy="646332"/>
            </a:xfrm>
            <a:prstGeom prst="rect">
              <a:avLst/>
            </a:prstGeom>
          </p:spPr>
        </p:pic>
      </p:grpSp>
      <p:grpSp>
        <p:nvGrpSpPr>
          <p:cNvPr id="122" name="Groupe 121">
            <a:extLst>
              <a:ext uri="{FF2B5EF4-FFF2-40B4-BE49-F238E27FC236}">
                <a16:creationId xmlns:a16="http://schemas.microsoft.com/office/drawing/2014/main" id="{53010203-857C-43CE-0C01-36686CA7B210}"/>
              </a:ext>
            </a:extLst>
          </p:cNvPr>
          <p:cNvGrpSpPr/>
          <p:nvPr/>
        </p:nvGrpSpPr>
        <p:grpSpPr>
          <a:xfrm>
            <a:off x="7853900" y="1251531"/>
            <a:ext cx="897423" cy="865662"/>
            <a:chOff x="8930936" y="2408583"/>
            <a:chExt cx="1216113" cy="1173074"/>
          </a:xfrm>
          <a:solidFill>
            <a:schemeClr val="accent1"/>
          </a:solidFill>
        </p:grpSpPr>
        <p:grpSp>
          <p:nvGrpSpPr>
            <p:cNvPr id="123" name="Groupe 122">
              <a:extLst>
                <a:ext uri="{FF2B5EF4-FFF2-40B4-BE49-F238E27FC236}">
                  <a16:creationId xmlns:a16="http://schemas.microsoft.com/office/drawing/2014/main" id="{23164267-B809-F054-74AF-8C62D90EB800}"/>
                </a:ext>
              </a:extLst>
            </p:cNvPr>
            <p:cNvGrpSpPr/>
            <p:nvPr/>
          </p:nvGrpSpPr>
          <p:grpSpPr>
            <a:xfrm>
              <a:off x="8930936" y="2408583"/>
              <a:ext cx="1216113" cy="1173074"/>
              <a:chOff x="8930936" y="2401291"/>
              <a:chExt cx="1216113" cy="1173074"/>
            </a:xfrm>
            <a:grpFill/>
          </p:grpSpPr>
          <p:pic>
            <p:nvPicPr>
              <p:cNvPr id="127" name="Graphique 126" descr="Plan avec un remplissage uni">
                <a:extLst>
                  <a:ext uri="{FF2B5EF4-FFF2-40B4-BE49-F238E27FC236}">
                    <a16:creationId xmlns:a16="http://schemas.microsoft.com/office/drawing/2014/main" id="{908834DB-F539-C90B-6874-B250C6D4A650}"/>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8930936" y="2401291"/>
                <a:ext cx="590762" cy="590762"/>
              </a:xfrm>
              <a:prstGeom prst="rect">
                <a:avLst/>
              </a:prstGeom>
            </p:spPr>
          </p:pic>
          <p:grpSp>
            <p:nvGrpSpPr>
              <p:cNvPr id="128" name="Groupe 127">
                <a:extLst>
                  <a:ext uri="{FF2B5EF4-FFF2-40B4-BE49-F238E27FC236}">
                    <a16:creationId xmlns:a16="http://schemas.microsoft.com/office/drawing/2014/main" id="{90144BC4-2709-EC7B-15E4-55408772C60C}"/>
                  </a:ext>
                </a:extLst>
              </p:cNvPr>
              <p:cNvGrpSpPr/>
              <p:nvPr/>
            </p:nvGrpSpPr>
            <p:grpSpPr>
              <a:xfrm>
                <a:off x="9450069" y="2659965"/>
                <a:ext cx="696980" cy="914400"/>
                <a:chOff x="5018285" y="3873291"/>
                <a:chExt cx="696980" cy="914400"/>
              </a:xfrm>
              <a:grpFill/>
            </p:grpSpPr>
            <p:pic>
              <p:nvPicPr>
                <p:cNvPr id="129" name="Graphique 128" descr="Personne confuse avec un remplissage uni">
                  <a:extLst>
                    <a:ext uri="{FF2B5EF4-FFF2-40B4-BE49-F238E27FC236}">
                      <a16:creationId xmlns:a16="http://schemas.microsoft.com/office/drawing/2014/main" id="{1BB0BFE6-0BDD-680F-D70E-295219213A20}"/>
                    </a:ext>
                  </a:extLst>
                </p:cNvPr>
                <p:cNvPicPr>
                  <a:picLocks noChangeAspect="1"/>
                </p:cNvPicPr>
                <p:nvPr/>
              </p:nvPicPr>
              <p:blipFill rotWithShape="1">
                <a:blip r:embed="rId33" cstate="screen">
                  <a:extLst>
                    <a:ext uri="{28A0092B-C50C-407E-A947-70E740481C1C}">
                      <a14:useLocalDpi xmlns:a14="http://schemas.microsoft.com/office/drawing/2010/main"/>
                    </a:ext>
                    <a:ext uri="{96DAC541-7B7A-43D3-8B79-37D633B846F1}">
                      <asvg:svgBlip xmlns:asvg="http://schemas.microsoft.com/office/drawing/2016/SVG/main" r:embed="rId34"/>
                    </a:ext>
                  </a:extLst>
                </a:blip>
                <a:srcRect l="30440" r="-1"/>
                <a:stretch/>
              </p:blipFill>
              <p:spPr>
                <a:xfrm>
                  <a:off x="5079206" y="3873291"/>
                  <a:ext cx="636059" cy="914400"/>
                </a:xfrm>
                <a:prstGeom prst="rect">
                  <a:avLst/>
                </a:prstGeom>
              </p:spPr>
            </p:pic>
            <p:sp>
              <p:nvSpPr>
                <p:cNvPr id="130" name="Rectangle : coins arrondis 129">
                  <a:extLst>
                    <a:ext uri="{FF2B5EF4-FFF2-40B4-BE49-F238E27FC236}">
                      <a16:creationId xmlns:a16="http://schemas.microsoft.com/office/drawing/2014/main" id="{3A8B01B4-B725-093F-D551-5EE3F0E160AF}"/>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24" name="Groupe 123">
              <a:extLst>
                <a:ext uri="{FF2B5EF4-FFF2-40B4-BE49-F238E27FC236}">
                  <a16:creationId xmlns:a16="http://schemas.microsoft.com/office/drawing/2014/main" id="{F9676727-79BC-7B19-EC7A-5F068D09EE96}"/>
                </a:ext>
              </a:extLst>
            </p:cNvPr>
            <p:cNvGrpSpPr/>
            <p:nvPr/>
          </p:nvGrpSpPr>
          <p:grpSpPr>
            <a:xfrm>
              <a:off x="9237852" y="2714693"/>
              <a:ext cx="199881" cy="170748"/>
              <a:chOff x="8303417" y="2625343"/>
              <a:chExt cx="199881" cy="170748"/>
            </a:xfrm>
            <a:grpFill/>
          </p:grpSpPr>
          <p:sp>
            <p:nvSpPr>
              <p:cNvPr id="125" name="Rectangle 124">
                <a:extLst>
                  <a:ext uri="{FF2B5EF4-FFF2-40B4-BE49-F238E27FC236}">
                    <a16:creationId xmlns:a16="http://schemas.microsoft.com/office/drawing/2014/main" id="{E0A6BE5E-93CF-C685-4B94-C8C39FDD46A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6" name="Image 125">
                <a:extLst>
                  <a:ext uri="{FF2B5EF4-FFF2-40B4-BE49-F238E27FC236}">
                    <a16:creationId xmlns:a16="http://schemas.microsoft.com/office/drawing/2014/main" id="{871E5593-C460-4686-6164-3455FE993D52}"/>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sp>
        <p:nvSpPr>
          <p:cNvPr id="13" name="Rectangle 12">
            <a:extLst>
              <a:ext uri="{FF2B5EF4-FFF2-40B4-BE49-F238E27FC236}">
                <a16:creationId xmlns:a16="http://schemas.microsoft.com/office/drawing/2014/main" id="{F53F1289-50CC-2DD1-BAFD-CFD532A5635D}"/>
              </a:ext>
            </a:extLst>
          </p:cNvPr>
          <p:cNvSpPr/>
          <p:nvPr/>
        </p:nvSpPr>
        <p:spPr>
          <a:xfrm>
            <a:off x="7677143" y="1916580"/>
            <a:ext cx="1447060" cy="7822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t>6. Créateur, Créatrice</a:t>
            </a:r>
          </a:p>
          <a:p>
            <a:pPr algn="ctr"/>
            <a:r>
              <a:rPr lang="fr-FR" sz="1000" dirty="0"/>
              <a:t>« J’ai envie d’enrichir le jeu ou de créer une variante, pour l’animer ensuite »</a:t>
            </a:r>
          </a:p>
        </p:txBody>
      </p:sp>
      <p:sp>
        <p:nvSpPr>
          <p:cNvPr id="163" name="Rectangle 162">
            <a:extLst>
              <a:ext uri="{FF2B5EF4-FFF2-40B4-BE49-F238E27FC236}">
                <a16:creationId xmlns:a16="http://schemas.microsoft.com/office/drawing/2014/main" id="{337B8D18-A2A3-2C60-AD23-9AAAF6FF8E49}"/>
              </a:ext>
            </a:extLst>
          </p:cNvPr>
          <p:cNvSpPr/>
          <p:nvPr/>
        </p:nvSpPr>
        <p:spPr>
          <a:xfrm>
            <a:off x="7378532" y="6024542"/>
            <a:ext cx="1646575" cy="755807"/>
          </a:xfrm>
          <a:prstGeom prst="rect">
            <a:avLst/>
          </a:prstGeom>
          <a:solidFill>
            <a:schemeClr val="bg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Demander à préciser le lieu/contexte de la session, et de partager des dates possibles</a:t>
            </a:r>
          </a:p>
        </p:txBody>
      </p:sp>
      <p:sp>
        <p:nvSpPr>
          <p:cNvPr id="174" name="Rectangle 173">
            <a:extLst>
              <a:ext uri="{FF2B5EF4-FFF2-40B4-BE49-F238E27FC236}">
                <a16:creationId xmlns:a16="http://schemas.microsoft.com/office/drawing/2014/main" id="{32A37821-0AA2-C945-D22F-3DB036939ABA}"/>
              </a:ext>
            </a:extLst>
          </p:cNvPr>
          <p:cNvSpPr/>
          <p:nvPr/>
        </p:nvSpPr>
        <p:spPr>
          <a:xfrm>
            <a:off x="9495213" y="1703132"/>
            <a:ext cx="1065083" cy="117038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Organiser une session pour présenter comment éditer les sources (à copier) et créer une nouvelle version</a:t>
            </a:r>
          </a:p>
        </p:txBody>
      </p:sp>
      <p:cxnSp>
        <p:nvCxnSpPr>
          <p:cNvPr id="175" name="Connecteur droit avec flèche 174">
            <a:extLst>
              <a:ext uri="{FF2B5EF4-FFF2-40B4-BE49-F238E27FC236}">
                <a16:creationId xmlns:a16="http://schemas.microsoft.com/office/drawing/2014/main" id="{71016612-E572-44AC-629A-FEF1045F8FF0}"/>
              </a:ext>
            </a:extLst>
          </p:cNvPr>
          <p:cNvCxnSpPr>
            <a:cxnSpLocks/>
            <a:stCxn id="43" idx="3"/>
            <a:endCxn id="163" idx="1"/>
          </p:cNvCxnSpPr>
          <p:nvPr/>
        </p:nvCxnSpPr>
        <p:spPr>
          <a:xfrm>
            <a:off x="7125923" y="6402446"/>
            <a:ext cx="252609" cy="0"/>
          </a:xfrm>
          <a:prstGeom prst="straightConnector1">
            <a:avLst/>
          </a:prstGeom>
          <a:ln>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Connecteur droit avec flèche 177">
            <a:extLst>
              <a:ext uri="{FF2B5EF4-FFF2-40B4-BE49-F238E27FC236}">
                <a16:creationId xmlns:a16="http://schemas.microsoft.com/office/drawing/2014/main" id="{ADFD7071-E649-ED4B-9E0F-4164D7C5A40E}"/>
              </a:ext>
            </a:extLst>
          </p:cNvPr>
          <p:cNvCxnSpPr>
            <a:cxnSpLocks/>
            <a:stCxn id="36" idx="3"/>
            <a:endCxn id="268" idx="1"/>
          </p:cNvCxnSpPr>
          <p:nvPr/>
        </p:nvCxnSpPr>
        <p:spPr>
          <a:xfrm flipV="1">
            <a:off x="8079449" y="4921712"/>
            <a:ext cx="884293" cy="314351"/>
          </a:xfrm>
          <a:prstGeom prst="straightConnector1">
            <a:avLst/>
          </a:prstGeom>
          <a:ln>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Connecteur droit avec flèche 180">
            <a:extLst>
              <a:ext uri="{FF2B5EF4-FFF2-40B4-BE49-F238E27FC236}">
                <a16:creationId xmlns:a16="http://schemas.microsoft.com/office/drawing/2014/main" id="{E8E6020F-AD15-8596-75BA-D6895EBB11FA}"/>
              </a:ext>
            </a:extLst>
          </p:cNvPr>
          <p:cNvCxnSpPr>
            <a:cxnSpLocks/>
            <a:stCxn id="35" idx="3"/>
            <a:endCxn id="268" idx="0"/>
          </p:cNvCxnSpPr>
          <p:nvPr/>
        </p:nvCxnSpPr>
        <p:spPr>
          <a:xfrm>
            <a:off x="8908294" y="3693054"/>
            <a:ext cx="878736" cy="850754"/>
          </a:xfrm>
          <a:prstGeom prst="straightConnector1">
            <a:avLst/>
          </a:prstGeom>
          <a:ln>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45CF8E46-8F77-638E-025B-7DE25CC294F7}"/>
              </a:ext>
            </a:extLst>
          </p:cNvPr>
          <p:cNvCxnSpPr>
            <a:cxnSpLocks/>
            <a:stCxn id="13" idx="3"/>
            <a:endCxn id="174" idx="1"/>
          </p:cNvCxnSpPr>
          <p:nvPr/>
        </p:nvCxnSpPr>
        <p:spPr>
          <a:xfrm flipV="1">
            <a:off x="9124203" y="2288327"/>
            <a:ext cx="371010" cy="1937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8" name="ZoneTexte 187">
            <a:extLst>
              <a:ext uri="{FF2B5EF4-FFF2-40B4-BE49-F238E27FC236}">
                <a16:creationId xmlns:a16="http://schemas.microsoft.com/office/drawing/2014/main" id="{3938BC20-6855-2ED2-66C7-DBB0FD01B934}"/>
              </a:ext>
            </a:extLst>
          </p:cNvPr>
          <p:cNvSpPr txBox="1"/>
          <p:nvPr/>
        </p:nvSpPr>
        <p:spPr>
          <a:xfrm>
            <a:off x="1184576" y="4206716"/>
            <a:ext cx="1447060" cy="600164"/>
          </a:xfrm>
          <a:prstGeom prst="rect">
            <a:avLst/>
          </a:prstGeom>
          <a:noFill/>
        </p:spPr>
        <p:txBody>
          <a:bodyPr wrap="square">
            <a:spAutoFit/>
          </a:bodyPr>
          <a:lstStyle/>
          <a:p>
            <a:pPr algn="ctr"/>
            <a:r>
              <a:rPr lang="fr-FR" sz="1100" b="1" dirty="0">
                <a:hlinkClick r:id="rId36"/>
              </a:rPr>
              <a:t>https://chat.whatsapp.com/EUZg2qoHAWHDLAeeMa3l73</a:t>
            </a:r>
            <a:endParaRPr lang="fr-FR" sz="1100" b="1" dirty="0"/>
          </a:p>
        </p:txBody>
      </p:sp>
      <p:sp>
        <p:nvSpPr>
          <p:cNvPr id="190" name="ZoneTexte 189">
            <a:extLst>
              <a:ext uri="{FF2B5EF4-FFF2-40B4-BE49-F238E27FC236}">
                <a16:creationId xmlns:a16="http://schemas.microsoft.com/office/drawing/2014/main" id="{65C1BE85-8624-62E1-4D7D-FB8723A224CF}"/>
              </a:ext>
            </a:extLst>
          </p:cNvPr>
          <p:cNvSpPr txBox="1"/>
          <p:nvPr/>
        </p:nvSpPr>
        <p:spPr>
          <a:xfrm>
            <a:off x="3926114" y="3837695"/>
            <a:ext cx="1315711" cy="1384995"/>
          </a:xfrm>
          <a:prstGeom prst="rect">
            <a:avLst/>
          </a:prstGeom>
          <a:noFill/>
        </p:spPr>
        <p:txBody>
          <a:bodyPr wrap="square">
            <a:spAutoFit/>
          </a:bodyPr>
          <a:lstStyle/>
          <a:p>
            <a:r>
              <a:rPr lang="fr-FR" sz="1200" dirty="0">
                <a:hlinkClick r:id="rId37"/>
              </a:rPr>
              <a:t>https://openseriousgames.org/la-methode-de-transmission-osg/la-methode-osg-roles/</a:t>
            </a:r>
            <a:endParaRPr lang="fr-FR" sz="1200" dirty="0"/>
          </a:p>
          <a:p>
            <a:endParaRPr lang="fr-FR" sz="1200" dirty="0"/>
          </a:p>
        </p:txBody>
      </p:sp>
      <p:sp>
        <p:nvSpPr>
          <p:cNvPr id="192" name="Rectangle 191">
            <a:extLst>
              <a:ext uri="{FF2B5EF4-FFF2-40B4-BE49-F238E27FC236}">
                <a16:creationId xmlns:a16="http://schemas.microsoft.com/office/drawing/2014/main" id="{F8638E2D-BD73-10A1-33E1-81E7CEE723BC}"/>
              </a:ext>
            </a:extLst>
          </p:cNvPr>
          <p:cNvSpPr/>
          <p:nvPr/>
        </p:nvSpPr>
        <p:spPr>
          <a:xfrm>
            <a:off x="9242409" y="6024541"/>
            <a:ext cx="1646575" cy="755807"/>
          </a:xfrm>
          <a:prstGeom prst="rect">
            <a:avLst/>
          </a:prstGeom>
          <a:solidFill>
            <a:schemeClr val="bg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Publier ces possibilités dans le groupe de mise en relation</a:t>
            </a:r>
          </a:p>
        </p:txBody>
      </p:sp>
      <p:cxnSp>
        <p:nvCxnSpPr>
          <p:cNvPr id="193" name="Connecteur droit avec flèche 192">
            <a:extLst>
              <a:ext uri="{FF2B5EF4-FFF2-40B4-BE49-F238E27FC236}">
                <a16:creationId xmlns:a16="http://schemas.microsoft.com/office/drawing/2014/main" id="{24516CEF-BCA9-2E0E-710E-2C5939D411E1}"/>
              </a:ext>
            </a:extLst>
          </p:cNvPr>
          <p:cNvCxnSpPr>
            <a:cxnSpLocks/>
            <a:stCxn id="163" idx="3"/>
            <a:endCxn id="192" idx="1"/>
          </p:cNvCxnSpPr>
          <p:nvPr/>
        </p:nvCxnSpPr>
        <p:spPr>
          <a:xfrm flipV="1">
            <a:off x="9025107" y="6402445"/>
            <a:ext cx="217302" cy="1"/>
          </a:xfrm>
          <a:prstGeom prst="straightConnector1">
            <a:avLst/>
          </a:prstGeom>
          <a:ln>
            <a:solidFill>
              <a:srgbClr val="ED7D31"/>
            </a:solidFill>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0EA47E66-FB1E-8534-521E-22EE1A4E3265}"/>
              </a:ext>
            </a:extLst>
          </p:cNvPr>
          <p:cNvSpPr/>
          <p:nvPr/>
        </p:nvSpPr>
        <p:spPr>
          <a:xfrm>
            <a:off x="10837076" y="1703131"/>
            <a:ext cx="1354924" cy="117038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Inviter à oser publier sa propre version sur ses propres plateformes et/ou aider à publier sur openseriousgames.org</a:t>
            </a:r>
          </a:p>
          <a:p>
            <a:pPr algn="ctr"/>
            <a:endParaRPr lang="fr-FR" sz="1000" dirty="0">
              <a:solidFill>
                <a:schemeClr val="tx1"/>
              </a:solidFill>
            </a:endParaRPr>
          </a:p>
        </p:txBody>
      </p:sp>
      <p:cxnSp>
        <p:nvCxnSpPr>
          <p:cNvPr id="224" name="Connecteur droit avec flèche 223">
            <a:extLst>
              <a:ext uri="{FF2B5EF4-FFF2-40B4-BE49-F238E27FC236}">
                <a16:creationId xmlns:a16="http://schemas.microsoft.com/office/drawing/2014/main" id="{951B2E0E-722F-8927-5B9E-ECEB5365C0D7}"/>
              </a:ext>
            </a:extLst>
          </p:cNvPr>
          <p:cNvCxnSpPr>
            <a:cxnSpLocks/>
            <a:stCxn id="174" idx="3"/>
            <a:endCxn id="223" idx="1"/>
          </p:cNvCxnSpPr>
          <p:nvPr/>
        </p:nvCxnSpPr>
        <p:spPr>
          <a:xfrm flipV="1">
            <a:off x="10560296" y="2288326"/>
            <a:ext cx="276780" cy="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5" name="ZoneTexte 234">
            <a:extLst>
              <a:ext uri="{FF2B5EF4-FFF2-40B4-BE49-F238E27FC236}">
                <a16:creationId xmlns:a16="http://schemas.microsoft.com/office/drawing/2014/main" id="{6E1CF0B3-F89A-C5BE-D44A-15B704B84BC8}"/>
              </a:ext>
            </a:extLst>
          </p:cNvPr>
          <p:cNvSpPr txBox="1"/>
          <p:nvPr/>
        </p:nvSpPr>
        <p:spPr>
          <a:xfrm>
            <a:off x="10837076" y="2847753"/>
            <a:ext cx="1354924" cy="846386"/>
          </a:xfrm>
          <a:prstGeom prst="rect">
            <a:avLst/>
          </a:prstGeom>
          <a:noFill/>
        </p:spPr>
        <p:txBody>
          <a:bodyPr wrap="square">
            <a:spAutoFit/>
          </a:bodyPr>
          <a:lstStyle/>
          <a:p>
            <a:r>
              <a:rPr lang="fr-FR" sz="700" dirty="0">
                <a:solidFill>
                  <a:schemeClr val="tx1"/>
                </a:solidFill>
                <a:hlinkClick r:id="rId38"/>
              </a:rPr>
              <a:t>https://openseriousgames.org/liste-des-openseriousgame/publier-votre-openseriousgame-ou-votre-propre-version-dun-openseriousgame-existant/</a:t>
            </a:r>
            <a:endParaRPr lang="fr-FR" sz="700" dirty="0">
              <a:solidFill>
                <a:schemeClr val="tx1"/>
              </a:solidFill>
            </a:endParaRPr>
          </a:p>
          <a:p>
            <a:endParaRPr lang="fr-FR" sz="700" dirty="0">
              <a:solidFill>
                <a:schemeClr val="tx1"/>
              </a:solidFill>
            </a:endParaRPr>
          </a:p>
        </p:txBody>
      </p:sp>
      <p:sp>
        <p:nvSpPr>
          <p:cNvPr id="251" name="Rectangle 250">
            <a:extLst>
              <a:ext uri="{FF2B5EF4-FFF2-40B4-BE49-F238E27FC236}">
                <a16:creationId xmlns:a16="http://schemas.microsoft.com/office/drawing/2014/main" id="{69C1D274-E02B-C114-5ED7-BAC04CDFE9DE}"/>
              </a:ext>
            </a:extLst>
          </p:cNvPr>
          <p:cNvSpPr/>
          <p:nvPr/>
        </p:nvSpPr>
        <p:spPr>
          <a:xfrm>
            <a:off x="2679851" y="2638931"/>
            <a:ext cx="1167823" cy="1533362"/>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Organiser une session pour présenter les contenus présents dans la doc Handi Situation, et répondre aux questions éventuelles</a:t>
            </a:r>
          </a:p>
        </p:txBody>
      </p:sp>
      <p:cxnSp>
        <p:nvCxnSpPr>
          <p:cNvPr id="259" name="Connecteur droit avec flèche 258">
            <a:extLst>
              <a:ext uri="{FF2B5EF4-FFF2-40B4-BE49-F238E27FC236}">
                <a16:creationId xmlns:a16="http://schemas.microsoft.com/office/drawing/2014/main" id="{A3C8EFCE-CE47-D04D-0C93-0593113BA082}"/>
              </a:ext>
            </a:extLst>
          </p:cNvPr>
          <p:cNvCxnSpPr>
            <a:cxnSpLocks/>
            <a:stCxn id="251" idx="3"/>
            <a:endCxn id="12" idx="1"/>
          </p:cNvCxnSpPr>
          <p:nvPr/>
        </p:nvCxnSpPr>
        <p:spPr>
          <a:xfrm flipV="1">
            <a:off x="3847674" y="3376105"/>
            <a:ext cx="134939" cy="29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8" name="Rectangle 267">
            <a:extLst>
              <a:ext uri="{FF2B5EF4-FFF2-40B4-BE49-F238E27FC236}">
                <a16:creationId xmlns:a16="http://schemas.microsoft.com/office/drawing/2014/main" id="{816980FC-A5DE-7FB7-D985-03F427BA78F5}"/>
              </a:ext>
            </a:extLst>
          </p:cNvPr>
          <p:cNvSpPr/>
          <p:nvPr/>
        </p:nvSpPr>
        <p:spPr>
          <a:xfrm>
            <a:off x="8963742" y="4543808"/>
            <a:ext cx="1646575" cy="755807"/>
          </a:xfrm>
          <a:prstGeom prst="rect">
            <a:avLst/>
          </a:prstGeom>
          <a:solidFill>
            <a:schemeClr val="bg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Créer des binômes qui s’</a:t>
            </a:r>
            <a:r>
              <a:rPr lang="fr-FR" sz="1000" dirty="0" err="1">
                <a:solidFill>
                  <a:schemeClr val="tx1"/>
                </a:solidFill>
              </a:rPr>
              <a:t>auto-organisent</a:t>
            </a:r>
            <a:r>
              <a:rPr lang="fr-FR" sz="1000" dirty="0">
                <a:solidFill>
                  <a:schemeClr val="tx1"/>
                </a:solidFill>
              </a:rPr>
              <a:t> entre eux ensuite</a:t>
            </a:r>
          </a:p>
        </p:txBody>
      </p:sp>
      <p:grpSp>
        <p:nvGrpSpPr>
          <p:cNvPr id="271" name="Groupe 270">
            <a:extLst>
              <a:ext uri="{FF2B5EF4-FFF2-40B4-BE49-F238E27FC236}">
                <a16:creationId xmlns:a16="http://schemas.microsoft.com/office/drawing/2014/main" id="{A7B7325C-FCD1-D9D0-0BEB-638AF2922EDB}"/>
              </a:ext>
            </a:extLst>
          </p:cNvPr>
          <p:cNvGrpSpPr/>
          <p:nvPr/>
        </p:nvGrpSpPr>
        <p:grpSpPr>
          <a:xfrm>
            <a:off x="10996110" y="-102790"/>
            <a:ext cx="1195890" cy="1294984"/>
            <a:chOff x="7560150" y="2879049"/>
            <a:chExt cx="982042" cy="1063416"/>
          </a:xfrm>
          <a:solidFill>
            <a:srgbClr val="ED7D31"/>
          </a:solidFill>
        </p:grpSpPr>
        <p:grpSp>
          <p:nvGrpSpPr>
            <p:cNvPr id="272" name="Groupe 271">
              <a:extLst>
                <a:ext uri="{FF2B5EF4-FFF2-40B4-BE49-F238E27FC236}">
                  <a16:creationId xmlns:a16="http://schemas.microsoft.com/office/drawing/2014/main" id="{960C3D3E-A129-148A-52A5-0357AA5B13EE}"/>
                </a:ext>
              </a:extLst>
            </p:cNvPr>
            <p:cNvGrpSpPr/>
            <p:nvPr/>
          </p:nvGrpSpPr>
          <p:grpSpPr>
            <a:xfrm>
              <a:off x="7798849" y="2879049"/>
              <a:ext cx="743343" cy="1063416"/>
              <a:chOff x="6391015" y="3260296"/>
              <a:chExt cx="743343" cy="1063416"/>
            </a:xfrm>
            <a:grpFill/>
          </p:grpSpPr>
          <p:grpSp>
            <p:nvGrpSpPr>
              <p:cNvPr id="274" name="Groupe 273">
                <a:extLst>
                  <a:ext uri="{FF2B5EF4-FFF2-40B4-BE49-F238E27FC236}">
                    <a16:creationId xmlns:a16="http://schemas.microsoft.com/office/drawing/2014/main" id="{7D76BEB1-A678-C55D-84B0-C11E606A8BAF}"/>
                  </a:ext>
                </a:extLst>
              </p:cNvPr>
              <p:cNvGrpSpPr/>
              <p:nvPr/>
            </p:nvGrpSpPr>
            <p:grpSpPr>
              <a:xfrm>
                <a:off x="6391015" y="3260296"/>
                <a:ext cx="743343" cy="1063416"/>
                <a:chOff x="6298348" y="3168316"/>
                <a:chExt cx="867130" cy="1240504"/>
              </a:xfrm>
              <a:grpFill/>
            </p:grpSpPr>
            <p:pic>
              <p:nvPicPr>
                <p:cNvPr id="276" name="Graphique 275" descr="Enseignant avec un remplissage uni">
                  <a:extLst>
                    <a:ext uri="{FF2B5EF4-FFF2-40B4-BE49-F238E27FC236}">
                      <a16:creationId xmlns:a16="http://schemas.microsoft.com/office/drawing/2014/main" id="{DEA991A9-59DD-E2D6-B451-D4FECB85251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77" name="Graphique 276" descr="Personne confuse avec un remplissage uni">
                  <a:extLst>
                    <a:ext uri="{FF2B5EF4-FFF2-40B4-BE49-F238E27FC236}">
                      <a16:creationId xmlns:a16="http://schemas.microsoft.com/office/drawing/2014/main" id="{13E76396-6A33-1CC2-DE08-975CB75C9026}"/>
                    </a:ext>
                  </a:extLst>
                </p:cNvPr>
                <p:cNvPicPr>
                  <a:picLocks noChangeAspect="1"/>
                </p:cNvPicPr>
                <p:nvPr/>
              </p:nvPicPr>
              <p:blipFill rotWithShape="1">
                <a:blip r:embed="rId4"/>
                <a:srcRect/>
                <a:stretch/>
              </p:blipFill>
              <p:spPr>
                <a:xfrm>
                  <a:off x="6367463" y="3792004"/>
                  <a:ext cx="245268" cy="616816"/>
                </a:xfrm>
                <a:prstGeom prst="rect">
                  <a:avLst/>
                </a:prstGeom>
              </p:spPr>
            </p:pic>
            <p:sp>
              <p:nvSpPr>
                <p:cNvPr id="278" name="Rectangle : coins arrondis 277">
                  <a:extLst>
                    <a:ext uri="{FF2B5EF4-FFF2-40B4-BE49-F238E27FC236}">
                      <a16:creationId xmlns:a16="http://schemas.microsoft.com/office/drawing/2014/main" id="{29A3CA53-950C-91ED-ED47-2C6008D6535C}"/>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75" name="Image 274">
                <a:extLst>
                  <a:ext uri="{FF2B5EF4-FFF2-40B4-BE49-F238E27FC236}">
                    <a16:creationId xmlns:a16="http://schemas.microsoft.com/office/drawing/2014/main" id="{F0E52678-B74C-D597-573B-939AE18973AF}"/>
                  </a:ext>
                </a:extLst>
              </p:cNvPr>
              <p:cNvPicPr>
                <a:picLocks noChangeAspect="1"/>
              </p:cNvPicPr>
              <p:nvPr/>
            </p:nvPicPr>
            <p:blipFill>
              <a:blip r:embed="rId39"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73" name="Graphique 272" descr="Presse-papiers mixte avec un remplissage uni">
              <a:extLst>
                <a:ext uri="{FF2B5EF4-FFF2-40B4-BE49-F238E27FC236}">
                  <a16:creationId xmlns:a16="http://schemas.microsoft.com/office/drawing/2014/main" id="{92CF4AD6-41EB-B223-6F36-74F3B842CFA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07580">
              <a:off x="7560150" y="3329802"/>
              <a:ext cx="314429" cy="314429"/>
            </a:xfrm>
            <a:prstGeom prst="rect">
              <a:avLst/>
            </a:prstGeom>
          </p:spPr>
        </p:pic>
      </p:grpSp>
      <p:sp>
        <p:nvSpPr>
          <p:cNvPr id="279" name="Bulle narrative : ronde 278">
            <a:extLst>
              <a:ext uri="{FF2B5EF4-FFF2-40B4-BE49-F238E27FC236}">
                <a16:creationId xmlns:a16="http://schemas.microsoft.com/office/drawing/2014/main" id="{0408977F-AF56-7BA6-76AF-1643E7D6AC22}"/>
              </a:ext>
            </a:extLst>
          </p:cNvPr>
          <p:cNvSpPr/>
          <p:nvPr/>
        </p:nvSpPr>
        <p:spPr>
          <a:xfrm>
            <a:off x="8481079" y="62388"/>
            <a:ext cx="2404139" cy="1230248"/>
          </a:xfrm>
          <a:prstGeom prst="wedgeEllipseCallout">
            <a:avLst>
              <a:gd name="adj1" fmla="val 63433"/>
              <a:gd name="adj2" fmla="val -2748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aider les joueurs (</a:t>
            </a:r>
            <a:r>
              <a:rPr lang="fr-FR" sz="1200" dirty="0" err="1">
                <a:solidFill>
                  <a:schemeClr val="tx1"/>
                </a:solidFill>
              </a:rPr>
              <a:t>niv</a:t>
            </a:r>
            <a:r>
              <a:rPr lang="fr-FR" sz="1200" dirty="0">
                <a:solidFill>
                  <a:schemeClr val="tx1"/>
                </a:solidFill>
              </a:rPr>
              <a:t> 2) à monter de niveau !</a:t>
            </a:r>
          </a:p>
        </p:txBody>
      </p:sp>
    </p:spTree>
    <p:extLst>
      <p:ext uri="{BB962C8B-B14F-4D97-AF65-F5344CB8AC3E}">
        <p14:creationId xmlns:p14="http://schemas.microsoft.com/office/powerpoint/2010/main" val="8296353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dirty="0"/>
              <a:t>Niveau 6 : Adaptation de Handi Situations</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3125490179"/>
              </p:ext>
            </p:extLst>
          </p:nvPr>
        </p:nvGraphicFramePr>
        <p:xfrm>
          <a:off x="6961023" y="1821540"/>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solidFill>
                            <a:srgbClr val="000000"/>
                          </a:solidFill>
                          <a:cs typeface="Calibri"/>
                        </a:rPr>
                        <a:t>Situations de handicap liées aux handicaps permanents</a:t>
                      </a:r>
                      <a:endParaRPr lang="fr-FR" sz="1100" dirty="0"/>
                    </a:p>
                  </a:txBody>
                  <a:tcPr/>
                </a:tc>
                <a:tc>
                  <a:txBody>
                    <a:bodyPr/>
                    <a:lstStyle/>
                    <a:p>
                      <a:r>
                        <a:rPr lang="fr-FR" sz="1100" dirty="0"/>
                        <a:t>Faites simuler le vécu de différents handicaps permanents (donc avec des scénarios différents). Peut-être un bon enchaînement après une partie avec le jeu de base. Cartes à créer !</a:t>
                      </a:r>
                    </a:p>
                  </a:txBody>
                  <a:tcPr/>
                </a:tc>
                <a:extLst>
                  <a:ext uri="{0D108BD9-81ED-4DB2-BD59-A6C34878D82A}">
                    <a16:rowId xmlns:a16="http://schemas.microsoft.com/office/drawing/2014/main" val="4249539521"/>
                  </a:ext>
                </a:extLst>
              </a:tr>
              <a:tr h="396301">
                <a:tc>
                  <a:txBody>
                    <a:bodyPr/>
                    <a:lstStyle/>
                    <a:p>
                      <a:endParaRPr lang="fr-FR" sz="1100" dirty="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dirty="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dirty="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985107033"/>
              </p:ext>
            </p:extLst>
          </p:nvPr>
        </p:nvGraphicFramePr>
        <p:xfrm>
          <a:off x="362762" y="1821540"/>
          <a:ext cx="6191648" cy="276352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Emeline PARIZEL</a:t>
                      </a:r>
                    </a:p>
                    <a:p>
                      <a:r>
                        <a:rPr lang="fr-FR" sz="1200" dirty="0"/>
                        <a:t>Alexandre QUACH</a:t>
                      </a:r>
                    </a:p>
                  </a:txBody>
                  <a:tcPr/>
                </a:tc>
                <a:tc>
                  <a:txBody>
                    <a:bodyPr/>
                    <a:lstStyle/>
                    <a:p>
                      <a:r>
                        <a:rPr lang="fr-FR" sz="1200" dirty="0"/>
                        <a:t>CC-BY-4.0</a:t>
                      </a:r>
                    </a:p>
                  </a:txBody>
                  <a:tcPr/>
                </a:tc>
                <a:tc>
                  <a:txBody>
                    <a:bodyPr/>
                    <a:lstStyle/>
                    <a:p>
                      <a:r>
                        <a:rPr lang="fr-FR" sz="1200" dirty="0"/>
                        <a:t>Première version du jeu</a:t>
                      </a:r>
                    </a:p>
                  </a:txBody>
                  <a:tcPr/>
                </a:tc>
                <a:extLst>
                  <a:ext uri="{0D108BD9-81ED-4DB2-BD59-A6C34878D82A}">
                    <a16:rowId xmlns:a16="http://schemas.microsoft.com/office/drawing/2014/main" val="2337500579"/>
                  </a:ext>
                </a:extLst>
              </a:tr>
              <a:tr h="370840">
                <a:tc>
                  <a:txBody>
                    <a:bodyPr/>
                    <a:lstStyle/>
                    <a:p>
                      <a:r>
                        <a:rPr lang="fr-FR" sz="1200" dirty="0"/>
                        <a:t>1.1</a:t>
                      </a:r>
                    </a:p>
                  </a:txBody>
                  <a:tcPr/>
                </a:tc>
                <a:tc>
                  <a:txBody>
                    <a:bodyPr/>
                    <a:lstStyle/>
                    <a:p>
                      <a:r>
                        <a:rPr lang="fr-FR" sz="1200" dirty="0"/>
                        <a:t>Alexandre QUACH</a:t>
                      </a:r>
                    </a:p>
                  </a:txBody>
                  <a:tcPr/>
                </a:tc>
                <a:tc>
                  <a:txBody>
                    <a:bodyPr/>
                    <a:lstStyle/>
                    <a:p>
                      <a:r>
                        <a:rPr lang="fr-FR" sz="1200" dirty="0"/>
                        <a:t>CC-BY-4.0</a:t>
                      </a:r>
                    </a:p>
                  </a:txBody>
                  <a:tcPr/>
                </a:tc>
                <a:tc>
                  <a:txBody>
                    <a:bodyPr/>
                    <a:lstStyle/>
                    <a:p>
                      <a:r>
                        <a:rPr lang="fr-FR" sz="1200" dirty="0"/>
                        <a:t>Ajout des situations « </a:t>
                      </a:r>
                      <a:r>
                        <a:rPr lang="fr-FR" sz="1200"/>
                        <a:t>Usages numériques »</a:t>
                      </a:r>
                      <a:endParaRPr lang="fr-FR" sz="1200" dirty="0"/>
                    </a:p>
                  </a:txBody>
                  <a:tcPr/>
                </a:tc>
                <a:extLst>
                  <a:ext uri="{0D108BD9-81ED-4DB2-BD59-A6C34878D82A}">
                    <a16:rowId xmlns:a16="http://schemas.microsoft.com/office/drawing/2014/main" val="3565347869"/>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dirty="0"/>
              <a:t>Niveau 6 : Note des créateurs de Handi-situations</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mieux comprendre le cadre du jeu</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sp>
        <p:nvSpPr>
          <p:cNvPr id="3" name="Espace réservé du contenu 2">
            <a:extLst>
              <a:ext uri="{FF2B5EF4-FFF2-40B4-BE49-F238E27FC236}">
                <a16:creationId xmlns:a16="http://schemas.microsoft.com/office/drawing/2014/main" id="{E79D75D3-1094-0771-DED5-D17C35060F98}"/>
              </a:ext>
            </a:extLst>
          </p:cNvPr>
          <p:cNvSpPr txBox="1">
            <a:spLocks/>
          </p:cNvSpPr>
          <p:nvPr/>
        </p:nvSpPr>
        <p:spPr>
          <a:xfrm>
            <a:off x="3426781" y="1825624"/>
            <a:ext cx="8487052" cy="4592931"/>
          </a:xfrm>
          <a:prstGeom prst="rect">
            <a:avLst/>
          </a:prstGeom>
          <a:noFill/>
        </p:spPr>
        <p:txBody>
          <a:bodyPr vert="horz" lIns="91440" tIns="45720" rIns="91440" bIns="45720" rtlCol="0" anchor="ct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b="0" dirty="0"/>
              <a:t>Handi-situations a été créé suite à diverses discussions sur l’accessibilité dans les produits digitaux (applis, sites web…) et sur le constat que la notion de « situation de handicap » pouvait encore être nouvelle par rapport à celle de « handicapé ».</a:t>
            </a:r>
          </a:p>
          <a:p>
            <a:r>
              <a:rPr lang="fr-FR" sz="1200" b="0" dirty="0"/>
              <a:t>Nous avons décidé de créer ce jeu d’abord en tant que passionnés de Serious Game, sensibles à la question du handicap et à la transmission à grande échelle par le jeu.</a:t>
            </a:r>
          </a:p>
          <a:p>
            <a:r>
              <a:rPr lang="fr-FR" sz="1200" b="0" dirty="0"/>
              <a:t>Nous avons fait notre possible pour rendre ce jeu jouable à la plus grande échelle possible, avec le moins de matériel possible (ce qui peut rendre un peu moins immersif la simulation de handicap, par exemple sans utiliser de casque anti-bruit). Cela permet à beaucoup plus de personnes non équipées d’utiliser le jeu, et réduit aussi l’empreinte écologique de son usage.</a:t>
            </a:r>
          </a:p>
          <a:p>
            <a:r>
              <a:rPr lang="fr-FR" sz="1200" b="0" dirty="0"/>
              <a:t>Selon nous, la question de sensibilité au handicap ne devrait pas être une affaire de personnes qui ont les moyens uniquement, c’est pourquoi nous avons choisi le format </a:t>
            </a:r>
            <a:r>
              <a:rPr lang="fr-FR" sz="1200" b="0" dirty="0" err="1"/>
              <a:t>Print</a:t>
            </a:r>
            <a:r>
              <a:rPr lang="fr-FR" sz="1200" b="0" dirty="0"/>
              <a:t>-and-</a:t>
            </a:r>
            <a:r>
              <a:rPr lang="fr-FR" sz="1200" b="0" dirty="0" err="1"/>
              <a:t>play</a:t>
            </a:r>
            <a:r>
              <a:rPr lang="fr-FR" sz="1200" b="0" dirty="0"/>
              <a:t> (ou bientôt application web gratuite), plutôt qu’une belle boîte de jeu qui serait coûteuse à produire et donc à acquérir. C’est aussi plus écologique de n’avoir aucune boîte. La version de jeu que nous mettons à disposition est gratuite.</a:t>
            </a:r>
          </a:p>
          <a:p>
            <a:r>
              <a:rPr lang="fr-FR" sz="1200" b="0" dirty="0"/>
              <a:t>Nous avons fait notre possible pour que l’animation du jeu </a:t>
            </a:r>
            <a:r>
              <a:rPr lang="fr-FR" sz="1200" dirty="0"/>
              <a:t>nécessite le moins d’expertise possible </a:t>
            </a:r>
            <a:r>
              <a:rPr lang="fr-FR" sz="1200" b="0" dirty="0"/>
              <a:t>pour pouvoir refaire une session à votre tour. </a:t>
            </a:r>
            <a:r>
              <a:rPr lang="fr-FR" sz="1200" dirty="0"/>
              <a:t>Nous même ne détenons pas cette expertise dans le handicap </a:t>
            </a:r>
            <a:r>
              <a:rPr lang="fr-FR" sz="1200" b="0" dirty="0"/>
              <a:t>et nous vous invitons à faire comme nous, c’est-à-dire vous renseigner par vous-même auprès des réseaux de spécialistes en complément du jeu.</a:t>
            </a:r>
          </a:p>
          <a:p>
            <a:r>
              <a:rPr lang="fr-FR" sz="1200" b="0" dirty="0"/>
              <a:t>Nous espérons que vous prendrez plaisir à découvrir ce jeu, mais surtout qu’il vous aidera à mieux comprendre, inclure, et faciliter les situations de handicap au quotidien. </a:t>
            </a:r>
          </a:p>
          <a:p>
            <a:r>
              <a:rPr lang="fr-FR" sz="1200" b="0" dirty="0"/>
              <a:t>Le jeu est #OpenSeriousGame, c’est-à-dire que </a:t>
            </a:r>
            <a:r>
              <a:rPr lang="fr-FR" sz="1200" dirty="0"/>
              <a:t>tous les joueurs sont invités à l’animer</a:t>
            </a:r>
            <a:r>
              <a:rPr lang="fr-FR" sz="1200" b="0" dirty="0"/>
              <a:t>, et que le jeu est en source ouverte, afin que chacun soit libre de créer ses adaptations, traductions, variantes, extensions pour mieux atteindre ses objectifs de sensibilisation.</a:t>
            </a:r>
          </a:p>
          <a:p>
            <a:r>
              <a:rPr lang="fr-FR" sz="1200" b="0" dirty="0"/>
              <a:t>Pour en savoir plus sur les questions de sensibilisation au handicap, nous vous invitons à consulter les ressources indiquées plus haut dans ce document. Handi situations vise à être très accessible et grande échelle, mais ne sera jamais bien sûr aussi complet que la somme des expériences et contenus sur le sujet. Il y a de nombreux autres jeux qui abordent les situations de handicap, que nous vous avons indiqués dans les ressources, et nous n’avons aucun lien commercial ou d’affaires avec les organismes qui les proposent.</a:t>
            </a:r>
          </a:p>
        </p:txBody>
      </p:sp>
      <p:pic>
        <p:nvPicPr>
          <p:cNvPr id="5" name="Image 4" descr="Une image contenant personne, extérieur&#10;&#10;Description générée automatiquement">
            <a:extLst>
              <a:ext uri="{FF2B5EF4-FFF2-40B4-BE49-F238E27FC236}">
                <a16:creationId xmlns:a16="http://schemas.microsoft.com/office/drawing/2014/main" id="{B17771F3-B52D-9D22-956F-104D4A69C60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481828" y="1825624"/>
            <a:ext cx="1478132" cy="1478132"/>
          </a:xfrm>
          <a:prstGeom prst="rect">
            <a:avLst/>
          </a:prstGeom>
        </p:spPr>
      </p:pic>
      <p:sp>
        <p:nvSpPr>
          <p:cNvPr id="6" name="Espace réservé du contenu 2">
            <a:extLst>
              <a:ext uri="{FF2B5EF4-FFF2-40B4-BE49-F238E27FC236}">
                <a16:creationId xmlns:a16="http://schemas.microsoft.com/office/drawing/2014/main" id="{E22D9695-1743-CB0A-383A-4902939F5197}"/>
              </a:ext>
            </a:extLst>
          </p:cNvPr>
          <p:cNvSpPr txBox="1">
            <a:spLocks/>
          </p:cNvSpPr>
          <p:nvPr/>
        </p:nvSpPr>
        <p:spPr>
          <a:xfrm>
            <a:off x="1467769" y="3236287"/>
            <a:ext cx="1478131" cy="868483"/>
          </a:xfrm>
          <a:prstGeom prst="rect">
            <a:avLst/>
          </a:prstGeom>
          <a:no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200" dirty="0"/>
              <a:t>Emeline PARIZEL</a:t>
            </a:r>
          </a:p>
          <a:p>
            <a:pPr algn="ctr"/>
            <a:r>
              <a:rPr lang="fr-FR" sz="1200" b="0" dirty="0">
                <a:hlinkClick r:id="rId8"/>
              </a:rPr>
              <a:t>https://www.linkedin.com/in/eparizel/</a:t>
            </a:r>
            <a:endParaRPr lang="fr-FR" sz="1200" b="0" dirty="0"/>
          </a:p>
        </p:txBody>
      </p:sp>
      <p:sp>
        <p:nvSpPr>
          <p:cNvPr id="7" name="Espace réservé du contenu 2">
            <a:extLst>
              <a:ext uri="{FF2B5EF4-FFF2-40B4-BE49-F238E27FC236}">
                <a16:creationId xmlns:a16="http://schemas.microsoft.com/office/drawing/2014/main" id="{2335B652-2414-6E88-05FA-96D19B34D16C}"/>
              </a:ext>
            </a:extLst>
          </p:cNvPr>
          <p:cNvSpPr txBox="1">
            <a:spLocks/>
          </p:cNvSpPr>
          <p:nvPr/>
        </p:nvSpPr>
        <p:spPr>
          <a:xfrm>
            <a:off x="1481828" y="5650370"/>
            <a:ext cx="1478132" cy="999005"/>
          </a:xfrm>
          <a:prstGeom prst="rect">
            <a:avLst/>
          </a:prstGeom>
          <a:no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200" dirty="0"/>
              <a:t>Alexandre QUACH</a:t>
            </a:r>
          </a:p>
          <a:p>
            <a:pPr algn="ctr"/>
            <a:r>
              <a:rPr lang="fr-FR" sz="1200" b="0" dirty="0">
                <a:hlinkClick r:id="rId9"/>
              </a:rPr>
              <a:t>https://www.linkedin.com/in/alexandrequach/</a:t>
            </a:r>
            <a:endParaRPr lang="fr-FR" sz="1200" b="0" dirty="0"/>
          </a:p>
        </p:txBody>
      </p:sp>
      <p:pic>
        <p:nvPicPr>
          <p:cNvPr id="9" name="Image 8" descr="Une image contenant personne, mur, intérieur, homme&#10;&#10;Description générée automatiquement">
            <a:extLst>
              <a:ext uri="{FF2B5EF4-FFF2-40B4-BE49-F238E27FC236}">
                <a16:creationId xmlns:a16="http://schemas.microsoft.com/office/drawing/2014/main" id="{2A27B910-E9AD-AC61-6428-1A6F3C49A9F7}"/>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481828" y="4269892"/>
            <a:ext cx="1478132" cy="1478132"/>
          </a:xfrm>
          <a:prstGeom prst="rect">
            <a:avLst/>
          </a:prstGeom>
        </p:spPr>
      </p:pic>
    </p:spTree>
    <p:extLst>
      <p:ext uri="{BB962C8B-B14F-4D97-AF65-F5344CB8AC3E}">
        <p14:creationId xmlns:p14="http://schemas.microsoft.com/office/powerpoint/2010/main" val="867407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dirty="0"/>
              <a:t>Niveau 6 : Note des créateurs de Handi-situations</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sp>
        <p:nvSpPr>
          <p:cNvPr id="3" name="Espace réservé du contenu 2">
            <a:extLst>
              <a:ext uri="{FF2B5EF4-FFF2-40B4-BE49-F238E27FC236}">
                <a16:creationId xmlns:a16="http://schemas.microsoft.com/office/drawing/2014/main" id="{E79D75D3-1094-0771-DED5-D17C35060F98}"/>
              </a:ext>
            </a:extLst>
          </p:cNvPr>
          <p:cNvSpPr txBox="1">
            <a:spLocks/>
          </p:cNvSpPr>
          <p:nvPr/>
        </p:nvSpPr>
        <p:spPr>
          <a:xfrm>
            <a:off x="3426780" y="1825624"/>
            <a:ext cx="8331616" cy="4592931"/>
          </a:xfrm>
          <a:prstGeom prst="rect">
            <a:avLst/>
          </a:prstGeom>
          <a:no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dirty="0"/>
              <a:t>Pourquoi avons-nous choisi cet angle et ce gameplay pour aborder la question de « situation de handicap » ?</a:t>
            </a:r>
          </a:p>
          <a:p>
            <a:r>
              <a:rPr lang="fr-FR" sz="1200" b="0" dirty="0"/>
              <a:t>Ayant travaillé (ou travaillant encore) dans le domaine de la conception de produits digitaux (applications, sites web, interfaces…), nous avons pu être sensibilisés dans notre secteur aux questions des situations de handicap, sans pour autant développer une expertise ou une connaissance large au-delà de notre domaine d’application. </a:t>
            </a:r>
          </a:p>
          <a:p>
            <a:r>
              <a:rPr lang="fr-FR" sz="1200" b="0" dirty="0"/>
              <a:t>Nous avons constaté que « les situations de handicap » sont beaucoup plus courantes qu’on ne le pense, et ne touchent pas forcément que des personnes reconnues officiellement à long terme comme des handicapés. </a:t>
            </a:r>
          </a:p>
          <a:p>
            <a:r>
              <a:rPr lang="fr-FR" sz="1200" b="0" dirty="0"/>
              <a:t>Par ailleurs, nous croyons en une capacité collective de solidarité et d’inclusion quant aux difficultés du quotidien, et souhaitons réduire le fossé qui peut se créer entre « les personnes valides » et « les personnes considérées comme handicapées à vie ». </a:t>
            </a:r>
          </a:p>
          <a:p>
            <a:r>
              <a:rPr lang="fr-FR" sz="1200" b="0" dirty="0"/>
              <a:t>Nous avons donc choisi de mettre les joueurs dans des situations qui pourraient vraiment leur arriver, indépendamment de leurs conditions de naissance ou d’accidents de vie lourds (souvent considérés comme très rares).</a:t>
            </a:r>
          </a:p>
          <a:p>
            <a:r>
              <a:rPr lang="fr-FR" sz="1200" b="0" dirty="0"/>
              <a:t>Nous avons souhaité montrer que des situations temporaires beaucoup plus courantes peuvent elles aussi mener à des situations de handicaps (temporaires), et que ces situations sont souvent l’occasion pour chacun de se poser la question sur comment nos environnements sont adaptés à tous les autres.</a:t>
            </a:r>
          </a:p>
          <a:p>
            <a:r>
              <a:rPr lang="fr-FR" sz="1200" b="0" dirty="0"/>
              <a:t>Nous espérons qu’avec Handi Situations, les personnes qui ne sont pas en situation de handicap permanent développeront une meilleure empathie cognitive pour les personnes en situation de handicap, permanent ou temporaire. N’étant pas experts et n’ayant aucunement la volonté de se positionner comme tels, nous espérons que ce jeu poussera à la curiosité active, c’est-à-dire à la consultation de ressources, personnes et événements pouvant mieux renseigner sur le handicap.</a:t>
            </a:r>
          </a:p>
          <a:p>
            <a:r>
              <a:rPr lang="fr-FR" sz="1200" b="0" dirty="0"/>
              <a:t>De la même manière, nous avons choisi un Debriefing participatif décentralisé (les petits groupes se posent des questions entre eux) car nous ne détenons pas nous même les réponses, et pensons que l’intelligence collective (les questions et réponses en chacun des participants) peut apporter des résultats bien meilleurs, ainsi qu’une expérience plus interactive.</a:t>
            </a:r>
          </a:p>
        </p:txBody>
      </p:sp>
      <p:pic>
        <p:nvPicPr>
          <p:cNvPr id="5" name="Image 4" descr="Une image contenant personne, extérieur&#10;&#10;Description générée automatiquement">
            <a:extLst>
              <a:ext uri="{FF2B5EF4-FFF2-40B4-BE49-F238E27FC236}">
                <a16:creationId xmlns:a16="http://schemas.microsoft.com/office/drawing/2014/main" id="{B17771F3-B52D-9D22-956F-104D4A69C60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481828" y="1825624"/>
            <a:ext cx="1478132" cy="1478132"/>
          </a:xfrm>
          <a:prstGeom prst="rect">
            <a:avLst/>
          </a:prstGeom>
        </p:spPr>
      </p:pic>
      <p:sp>
        <p:nvSpPr>
          <p:cNvPr id="6" name="Espace réservé du contenu 2">
            <a:extLst>
              <a:ext uri="{FF2B5EF4-FFF2-40B4-BE49-F238E27FC236}">
                <a16:creationId xmlns:a16="http://schemas.microsoft.com/office/drawing/2014/main" id="{E22D9695-1743-CB0A-383A-4902939F5197}"/>
              </a:ext>
            </a:extLst>
          </p:cNvPr>
          <p:cNvSpPr txBox="1">
            <a:spLocks/>
          </p:cNvSpPr>
          <p:nvPr/>
        </p:nvSpPr>
        <p:spPr>
          <a:xfrm>
            <a:off x="1467769" y="3236287"/>
            <a:ext cx="1478131" cy="868483"/>
          </a:xfrm>
          <a:prstGeom prst="rect">
            <a:avLst/>
          </a:prstGeom>
          <a:no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200" dirty="0"/>
              <a:t>Emeline PARIZEL</a:t>
            </a:r>
          </a:p>
          <a:p>
            <a:pPr algn="ctr"/>
            <a:r>
              <a:rPr lang="fr-FR" sz="1200" b="0" dirty="0">
                <a:hlinkClick r:id="rId8"/>
              </a:rPr>
              <a:t>https://www.linkedin.com/in/eparizel/</a:t>
            </a:r>
            <a:endParaRPr lang="fr-FR" sz="1200" b="0" dirty="0"/>
          </a:p>
        </p:txBody>
      </p:sp>
      <p:sp>
        <p:nvSpPr>
          <p:cNvPr id="7" name="Espace réservé du contenu 2">
            <a:extLst>
              <a:ext uri="{FF2B5EF4-FFF2-40B4-BE49-F238E27FC236}">
                <a16:creationId xmlns:a16="http://schemas.microsoft.com/office/drawing/2014/main" id="{2335B652-2414-6E88-05FA-96D19B34D16C}"/>
              </a:ext>
            </a:extLst>
          </p:cNvPr>
          <p:cNvSpPr txBox="1">
            <a:spLocks/>
          </p:cNvSpPr>
          <p:nvPr/>
        </p:nvSpPr>
        <p:spPr>
          <a:xfrm>
            <a:off x="1481828" y="5650370"/>
            <a:ext cx="1478132" cy="999005"/>
          </a:xfrm>
          <a:prstGeom prst="rect">
            <a:avLst/>
          </a:prstGeom>
          <a:no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200" dirty="0"/>
              <a:t>Alexandre QUACH</a:t>
            </a:r>
          </a:p>
          <a:p>
            <a:pPr algn="ctr"/>
            <a:r>
              <a:rPr lang="fr-FR" sz="1200" b="0" dirty="0">
                <a:hlinkClick r:id="rId9"/>
              </a:rPr>
              <a:t>https://www.linkedin.com/in/alexandrequach/</a:t>
            </a:r>
            <a:endParaRPr lang="fr-FR" sz="1200" b="0" dirty="0"/>
          </a:p>
        </p:txBody>
      </p:sp>
      <p:pic>
        <p:nvPicPr>
          <p:cNvPr id="9" name="Image 8" descr="Une image contenant personne, mur, intérieur, homme&#10;&#10;Description générée automatiquement">
            <a:extLst>
              <a:ext uri="{FF2B5EF4-FFF2-40B4-BE49-F238E27FC236}">
                <a16:creationId xmlns:a16="http://schemas.microsoft.com/office/drawing/2014/main" id="{2A27B910-E9AD-AC61-6428-1A6F3C49A9F7}"/>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481828" y="4269892"/>
            <a:ext cx="1478132" cy="1478132"/>
          </a:xfrm>
          <a:prstGeom prst="rect">
            <a:avLst/>
          </a:prstGeom>
        </p:spPr>
      </p:pic>
    </p:spTree>
    <p:extLst>
      <p:ext uri="{BB962C8B-B14F-4D97-AF65-F5344CB8AC3E}">
        <p14:creationId xmlns:p14="http://schemas.microsoft.com/office/powerpoint/2010/main" val="707928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FCC04F5-0035-4213-B539-19BDA2828358}"/>
              </a:ext>
            </a:extLst>
          </p:cNvPr>
          <p:cNvSpPr>
            <a:spLocks noGrp="1"/>
          </p:cNvSpPr>
          <p:nvPr>
            <p:ph type="title"/>
          </p:nvPr>
        </p:nvSpPr>
        <p:spPr/>
        <p:txBody>
          <a:bodyPr>
            <a:noAutofit/>
          </a:bodyPr>
          <a:lstStyle/>
          <a:p>
            <a:r>
              <a:rPr lang="fr-FR" sz="3200" dirty="0"/>
              <a:t>#OpenSeriousTemplate en résumé</a:t>
            </a:r>
            <a:br>
              <a:rPr lang="fr-FR" sz="3200" dirty="0"/>
            </a:br>
            <a:r>
              <a:rPr lang="fr-FR" sz="2400" dirty="0"/>
              <a:t>Ce qu’il faut ajouter pour rendre votre jeu sérieux transmissible</a:t>
            </a:r>
            <a:endParaRPr lang="fr-FR" sz="3200" dirty="0"/>
          </a:p>
        </p:txBody>
      </p:sp>
      <p:graphicFrame>
        <p:nvGraphicFramePr>
          <p:cNvPr id="8" name="Espace réservé du contenu 3">
            <a:extLst>
              <a:ext uri="{FF2B5EF4-FFF2-40B4-BE49-F238E27FC236}">
                <a16:creationId xmlns:a16="http://schemas.microsoft.com/office/drawing/2014/main" id="{C7F8E246-BE52-4378-9D1F-E38166364638}"/>
              </a:ext>
            </a:extLst>
          </p:cNvPr>
          <p:cNvGraphicFramePr>
            <a:graphicFrameLocks noGrp="1"/>
          </p:cNvGraphicFramePr>
          <p:nvPr>
            <p:ph idx="1"/>
          </p:nvPr>
        </p:nvGraphicFramePr>
        <p:xfrm>
          <a:off x="1185863" y="3643283"/>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9" name="Groupe 18">
            <a:extLst>
              <a:ext uri="{FF2B5EF4-FFF2-40B4-BE49-F238E27FC236}">
                <a16:creationId xmlns:a16="http://schemas.microsoft.com/office/drawing/2014/main" id="{D003AFCA-41A0-48ED-AA5C-4C0CB373ADD2}"/>
              </a:ext>
            </a:extLst>
          </p:cNvPr>
          <p:cNvGrpSpPr/>
          <p:nvPr/>
        </p:nvGrpSpPr>
        <p:grpSpPr>
          <a:xfrm>
            <a:off x="2942178" y="4430936"/>
            <a:ext cx="1149591" cy="1016630"/>
            <a:chOff x="3239584" y="4265153"/>
            <a:chExt cx="944022" cy="834837"/>
          </a:xfrm>
        </p:grpSpPr>
        <p:grpSp>
          <p:nvGrpSpPr>
            <p:cNvPr id="20" name="Groupe 19">
              <a:extLst>
                <a:ext uri="{FF2B5EF4-FFF2-40B4-BE49-F238E27FC236}">
                  <a16:creationId xmlns:a16="http://schemas.microsoft.com/office/drawing/2014/main" id="{45889D94-B8E6-447F-9935-62D2D2B4EF51}"/>
                </a:ext>
              </a:extLst>
            </p:cNvPr>
            <p:cNvGrpSpPr/>
            <p:nvPr/>
          </p:nvGrpSpPr>
          <p:grpSpPr>
            <a:xfrm>
              <a:off x="3239584" y="4265153"/>
              <a:ext cx="944022" cy="834837"/>
              <a:chOff x="3239584" y="4265153"/>
              <a:chExt cx="944022" cy="834837"/>
            </a:xfrm>
          </p:grpSpPr>
          <p:pic>
            <p:nvPicPr>
              <p:cNvPr id="22" name="Graphique 21" descr="Personne confuse avec un remplissage uni">
                <a:extLst>
                  <a:ext uri="{FF2B5EF4-FFF2-40B4-BE49-F238E27FC236}">
                    <a16:creationId xmlns:a16="http://schemas.microsoft.com/office/drawing/2014/main" id="{53EA24DD-ED17-49C0-9C83-683AB0F8187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239584" y="4281195"/>
                <a:ext cx="818795" cy="818795"/>
              </a:xfrm>
              <a:prstGeom prst="rect">
                <a:avLst/>
              </a:prstGeom>
            </p:spPr>
          </p:pic>
          <p:pic>
            <p:nvPicPr>
              <p:cNvPr id="23" name="Graphique 22" descr="Calendrier journalier avec un remplissage uni">
                <a:extLst>
                  <a:ext uri="{FF2B5EF4-FFF2-40B4-BE49-F238E27FC236}">
                    <a16:creationId xmlns:a16="http://schemas.microsoft.com/office/drawing/2014/main" id="{90065313-C8BF-48AB-A493-55CFD0CB3C61}"/>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826152" y="4265153"/>
                <a:ext cx="357454" cy="357454"/>
              </a:xfrm>
              <a:prstGeom prst="rect">
                <a:avLst/>
              </a:prstGeom>
            </p:spPr>
          </p:pic>
        </p:grpSp>
        <p:pic>
          <p:nvPicPr>
            <p:cNvPr id="21" name="Image 20">
              <a:extLst>
                <a:ext uri="{FF2B5EF4-FFF2-40B4-BE49-F238E27FC236}">
                  <a16:creationId xmlns:a16="http://schemas.microsoft.com/office/drawing/2014/main" id="{1EFDF643-32A6-4929-964E-EC63055A4F46}"/>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pic>
        <p:nvPicPr>
          <p:cNvPr id="25" name="Graphique 24" descr="Homme avec un remplissage uni">
            <a:extLst>
              <a:ext uri="{FF2B5EF4-FFF2-40B4-BE49-F238E27FC236}">
                <a16:creationId xmlns:a16="http://schemas.microsoft.com/office/drawing/2014/main" id="{BBE0CBD2-C415-49D7-BB7D-D29B2EDC3452}"/>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t="759" b="1"/>
          <a:stretch/>
        </p:blipFill>
        <p:spPr>
          <a:xfrm>
            <a:off x="1219032" y="5022276"/>
            <a:ext cx="848356" cy="841919"/>
          </a:xfrm>
          <a:prstGeom prst="rect">
            <a:avLst/>
          </a:prstGeom>
        </p:spPr>
      </p:pic>
      <p:grpSp>
        <p:nvGrpSpPr>
          <p:cNvPr id="29" name="Groupe 28">
            <a:extLst>
              <a:ext uri="{FF2B5EF4-FFF2-40B4-BE49-F238E27FC236}">
                <a16:creationId xmlns:a16="http://schemas.microsoft.com/office/drawing/2014/main" id="{72842A3D-4320-4C25-96CE-0075D0255365}"/>
              </a:ext>
            </a:extLst>
          </p:cNvPr>
          <p:cNvGrpSpPr/>
          <p:nvPr/>
        </p:nvGrpSpPr>
        <p:grpSpPr>
          <a:xfrm>
            <a:off x="6524133" y="3455301"/>
            <a:ext cx="997813" cy="1075614"/>
            <a:chOff x="6060465" y="3463636"/>
            <a:chExt cx="819385" cy="883274"/>
          </a:xfrm>
          <a:solidFill>
            <a:srgbClr val="ED7D31"/>
          </a:solidFill>
        </p:grpSpPr>
        <p:pic>
          <p:nvPicPr>
            <p:cNvPr id="30" name="Graphique 29" descr="Presse-papiers mixte avec un remplissage uni">
              <a:extLst>
                <a:ext uri="{FF2B5EF4-FFF2-40B4-BE49-F238E27FC236}">
                  <a16:creationId xmlns:a16="http://schemas.microsoft.com/office/drawing/2014/main" id="{4471588B-AE86-46E3-8E9D-8BB712841640}"/>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rot="20207580">
              <a:off x="6060465" y="3580343"/>
              <a:ext cx="314429" cy="314429"/>
            </a:xfrm>
            <a:prstGeom prst="rect">
              <a:avLst/>
            </a:prstGeom>
          </p:spPr>
        </p:pic>
        <p:grpSp>
          <p:nvGrpSpPr>
            <p:cNvPr id="31" name="Groupe 30">
              <a:extLst>
                <a:ext uri="{FF2B5EF4-FFF2-40B4-BE49-F238E27FC236}">
                  <a16:creationId xmlns:a16="http://schemas.microsoft.com/office/drawing/2014/main" id="{15168F75-3DC7-4AC7-BC45-065440930294}"/>
                </a:ext>
              </a:extLst>
            </p:cNvPr>
            <p:cNvGrpSpPr/>
            <p:nvPr/>
          </p:nvGrpSpPr>
          <p:grpSpPr>
            <a:xfrm>
              <a:off x="6132133" y="3463636"/>
              <a:ext cx="612923" cy="883274"/>
              <a:chOff x="6132133" y="3463636"/>
              <a:chExt cx="612923" cy="883274"/>
            </a:xfrm>
            <a:grpFill/>
          </p:grpSpPr>
          <p:pic>
            <p:nvPicPr>
              <p:cNvPr id="34" name="Graphique 33" descr="Centre d’appels avec un remplissage uni">
                <a:extLst>
                  <a:ext uri="{FF2B5EF4-FFF2-40B4-BE49-F238E27FC236}">
                    <a16:creationId xmlns:a16="http://schemas.microsoft.com/office/drawing/2014/main" id="{41D0035D-9480-433C-B7DF-D75534407280}"/>
                  </a:ext>
                </a:extLst>
              </p:cNvPr>
              <p:cNvPicPr>
                <a:picLocks noChangeAspect="1"/>
              </p:cNvPicPr>
              <p:nvPr/>
            </p:nvPicPr>
            <p:blipFill rotWithShape="1">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rcRect b="44092"/>
              <a:stretch/>
            </p:blipFill>
            <p:spPr>
              <a:xfrm>
                <a:off x="6322855" y="3463636"/>
                <a:ext cx="422201" cy="236042"/>
              </a:xfrm>
              <a:prstGeom prst="rect">
                <a:avLst/>
              </a:prstGeom>
            </p:spPr>
          </p:pic>
          <p:grpSp>
            <p:nvGrpSpPr>
              <p:cNvPr id="35" name="Groupe 34">
                <a:extLst>
                  <a:ext uri="{FF2B5EF4-FFF2-40B4-BE49-F238E27FC236}">
                    <a16:creationId xmlns:a16="http://schemas.microsoft.com/office/drawing/2014/main" id="{C9976CC0-68B8-4D51-ACF9-2696A6965CE3}"/>
                  </a:ext>
                </a:extLst>
              </p:cNvPr>
              <p:cNvGrpSpPr/>
              <p:nvPr/>
            </p:nvGrpSpPr>
            <p:grpSpPr>
              <a:xfrm flipH="1">
                <a:off x="6132133" y="3682042"/>
                <a:ext cx="611857" cy="664868"/>
                <a:chOff x="5018285" y="4055721"/>
                <a:chExt cx="696982" cy="731970"/>
              </a:xfrm>
              <a:grpFill/>
            </p:grpSpPr>
            <p:pic>
              <p:nvPicPr>
                <p:cNvPr id="36" name="Graphique 35" descr="Personne confuse avec un remplissage uni">
                  <a:extLst>
                    <a:ext uri="{FF2B5EF4-FFF2-40B4-BE49-F238E27FC236}">
                      <a16:creationId xmlns:a16="http://schemas.microsoft.com/office/drawing/2014/main" id="{A90D74D9-8098-4F13-894E-874B55D3892B}"/>
                    </a:ext>
                  </a:extLst>
                </p:cNvPr>
                <p:cNvPicPr>
                  <a:picLocks noChangeAspect="1"/>
                </p:cNvPicPr>
                <p:nvPr/>
              </p:nvPicPr>
              <p:blipFill rotWithShape="1">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rcRect l="30440" t="19951" r="-1"/>
                <a:stretch/>
              </p:blipFill>
              <p:spPr>
                <a:xfrm>
                  <a:off x="5079207" y="4055721"/>
                  <a:ext cx="636060" cy="731970"/>
                </a:xfrm>
                <a:prstGeom prst="rect">
                  <a:avLst/>
                </a:prstGeom>
              </p:spPr>
            </p:pic>
            <p:sp>
              <p:nvSpPr>
                <p:cNvPr id="37" name="Rectangle : coins arrondis 36">
                  <a:extLst>
                    <a:ext uri="{FF2B5EF4-FFF2-40B4-BE49-F238E27FC236}">
                      <a16:creationId xmlns:a16="http://schemas.microsoft.com/office/drawing/2014/main" id="{F92C1200-8CAE-4F1F-9D3F-B8E2F9DDF49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32" name="Image 31">
              <a:extLst>
                <a:ext uri="{FF2B5EF4-FFF2-40B4-BE49-F238E27FC236}">
                  <a16:creationId xmlns:a16="http://schemas.microsoft.com/office/drawing/2014/main" id="{C3773B1B-A894-46B1-B2F4-5B50C008B140}"/>
                </a:ext>
              </a:extLst>
            </p:cNvPr>
            <p:cNvPicPr>
              <a:picLocks noChangeAspect="1"/>
            </p:cNvPicPr>
            <p:nvPr/>
          </p:nvPicPr>
          <p:blipFill>
            <a:blip r:embed="rId20" cstate="print">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a:ext>
              </a:extLst>
            </a:blip>
            <a:stretch>
              <a:fillRect/>
            </a:stretch>
          </p:blipFill>
          <p:spPr>
            <a:xfrm>
              <a:off x="6474915" y="3741133"/>
              <a:ext cx="109675" cy="109475"/>
            </a:xfrm>
            <a:prstGeom prst="rect">
              <a:avLst/>
            </a:prstGeom>
            <a:grpFill/>
          </p:spPr>
        </p:pic>
        <p:pic>
          <p:nvPicPr>
            <p:cNvPr id="33" name="Graphique 32" descr="Chronomètre avec un remplissage uni">
              <a:extLst>
                <a:ext uri="{FF2B5EF4-FFF2-40B4-BE49-F238E27FC236}">
                  <a16:creationId xmlns:a16="http://schemas.microsoft.com/office/drawing/2014/main" id="{74F18C08-7700-4B6A-960D-A499CECA0629}"/>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6714271" y="3602551"/>
              <a:ext cx="165579" cy="165579"/>
            </a:xfrm>
            <a:prstGeom prst="rect">
              <a:avLst/>
            </a:prstGeom>
          </p:spPr>
        </p:pic>
      </p:grpSp>
      <p:grpSp>
        <p:nvGrpSpPr>
          <p:cNvPr id="38" name="Groupe 37">
            <a:extLst>
              <a:ext uri="{FF2B5EF4-FFF2-40B4-BE49-F238E27FC236}">
                <a16:creationId xmlns:a16="http://schemas.microsoft.com/office/drawing/2014/main" id="{9AEC592E-E3EF-4D46-B777-BE9012B44145}"/>
              </a:ext>
            </a:extLst>
          </p:cNvPr>
          <p:cNvGrpSpPr/>
          <p:nvPr/>
        </p:nvGrpSpPr>
        <p:grpSpPr>
          <a:xfrm>
            <a:off x="8203583" y="2742997"/>
            <a:ext cx="1195890" cy="1294984"/>
            <a:chOff x="7560150" y="2879049"/>
            <a:chExt cx="982042" cy="1063416"/>
          </a:xfrm>
          <a:solidFill>
            <a:srgbClr val="ED7D31"/>
          </a:solidFill>
        </p:grpSpPr>
        <p:grpSp>
          <p:nvGrpSpPr>
            <p:cNvPr id="39" name="Groupe 38">
              <a:extLst>
                <a:ext uri="{FF2B5EF4-FFF2-40B4-BE49-F238E27FC236}">
                  <a16:creationId xmlns:a16="http://schemas.microsoft.com/office/drawing/2014/main" id="{7408A887-2EE5-43C9-A375-25BE4DC3DCA4}"/>
                </a:ext>
              </a:extLst>
            </p:cNvPr>
            <p:cNvGrpSpPr/>
            <p:nvPr/>
          </p:nvGrpSpPr>
          <p:grpSpPr>
            <a:xfrm>
              <a:off x="7798849" y="2879049"/>
              <a:ext cx="743343" cy="1063416"/>
              <a:chOff x="6391015" y="3260296"/>
              <a:chExt cx="743343" cy="1063416"/>
            </a:xfrm>
            <a:grpFill/>
          </p:grpSpPr>
          <p:grpSp>
            <p:nvGrpSpPr>
              <p:cNvPr id="41" name="Groupe 40">
                <a:extLst>
                  <a:ext uri="{FF2B5EF4-FFF2-40B4-BE49-F238E27FC236}">
                    <a16:creationId xmlns:a16="http://schemas.microsoft.com/office/drawing/2014/main" id="{A8357714-13BE-447A-816B-FB500ED76375}"/>
                  </a:ext>
                </a:extLst>
              </p:cNvPr>
              <p:cNvGrpSpPr/>
              <p:nvPr/>
            </p:nvGrpSpPr>
            <p:grpSpPr>
              <a:xfrm>
                <a:off x="6391015" y="3260296"/>
                <a:ext cx="743343" cy="1063416"/>
                <a:chOff x="6298348" y="3168316"/>
                <a:chExt cx="867130" cy="1240504"/>
              </a:xfrm>
              <a:grpFill/>
            </p:grpSpPr>
            <p:pic>
              <p:nvPicPr>
                <p:cNvPr id="43" name="Graphique 42" descr="Enseignant avec un remplissage uni">
                  <a:extLst>
                    <a:ext uri="{FF2B5EF4-FFF2-40B4-BE49-F238E27FC236}">
                      <a16:creationId xmlns:a16="http://schemas.microsoft.com/office/drawing/2014/main" id="{BC3F129A-B407-4BD3-8997-B81B5D8484CB}"/>
                    </a:ext>
                  </a:extLst>
                </p:cNvPr>
                <p:cNvPicPr>
                  <a:picLocks noChangeAspect="1"/>
                </p:cNvPicPr>
                <p:nvPr/>
              </p:nvPicPr>
              <p:blipFill>
                <a:blip r:embed="rId24">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6298348" y="3168316"/>
                  <a:ext cx="867130" cy="867130"/>
                </a:xfrm>
                <a:prstGeom prst="rect">
                  <a:avLst/>
                </a:prstGeom>
              </p:spPr>
            </p:pic>
            <p:pic>
              <p:nvPicPr>
                <p:cNvPr id="44" name="Graphique 43" descr="Personne confuse avec un remplissage uni">
                  <a:extLst>
                    <a:ext uri="{FF2B5EF4-FFF2-40B4-BE49-F238E27FC236}">
                      <a16:creationId xmlns:a16="http://schemas.microsoft.com/office/drawing/2014/main" id="{D087000C-1ED3-4760-8669-35F096FF54D4}"/>
                    </a:ext>
                  </a:extLst>
                </p:cNvPr>
                <p:cNvPicPr>
                  <a:picLocks noChangeAspect="1"/>
                </p:cNvPicPr>
                <p:nvPr/>
              </p:nvPicPr>
              <p:blipFill rotWithShape="1">
                <a:blip r:embed="rId26"/>
                <a:srcRect/>
                <a:stretch/>
              </p:blipFill>
              <p:spPr>
                <a:xfrm>
                  <a:off x="6367463" y="3792004"/>
                  <a:ext cx="245268" cy="616816"/>
                </a:xfrm>
                <a:prstGeom prst="rect">
                  <a:avLst/>
                </a:prstGeom>
              </p:spPr>
            </p:pic>
            <p:sp>
              <p:nvSpPr>
                <p:cNvPr id="45" name="Rectangle : coins arrondis 44">
                  <a:extLst>
                    <a:ext uri="{FF2B5EF4-FFF2-40B4-BE49-F238E27FC236}">
                      <a16:creationId xmlns:a16="http://schemas.microsoft.com/office/drawing/2014/main" id="{644ED9F8-E27F-418F-BAE3-69CCF1FFEF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 name="Image 41">
                <a:extLst>
                  <a:ext uri="{FF2B5EF4-FFF2-40B4-BE49-F238E27FC236}">
                    <a16:creationId xmlns:a16="http://schemas.microsoft.com/office/drawing/2014/main" id="{4AE105E4-A6BD-498C-935F-6CC1251B41CE}"/>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40" name="Graphique 39" descr="Presse-papiers mixte avec un remplissage uni">
              <a:extLst>
                <a:ext uri="{FF2B5EF4-FFF2-40B4-BE49-F238E27FC236}">
                  <a16:creationId xmlns:a16="http://schemas.microsoft.com/office/drawing/2014/main" id="{09E9AAE5-9937-480C-A0B2-82598E275A59}"/>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rot="20207580">
              <a:off x="7560150" y="3329802"/>
              <a:ext cx="314429" cy="314429"/>
            </a:xfrm>
            <a:prstGeom prst="rect">
              <a:avLst/>
            </a:prstGeom>
          </p:spPr>
        </p:pic>
      </p:grpSp>
      <p:grpSp>
        <p:nvGrpSpPr>
          <p:cNvPr id="46" name="Groupe 45">
            <a:extLst>
              <a:ext uri="{FF2B5EF4-FFF2-40B4-BE49-F238E27FC236}">
                <a16:creationId xmlns:a16="http://schemas.microsoft.com/office/drawing/2014/main" id="{16926ACE-1A52-4D97-B2E4-1E1D82C1790F}"/>
              </a:ext>
            </a:extLst>
          </p:cNvPr>
          <p:cNvGrpSpPr/>
          <p:nvPr/>
        </p:nvGrpSpPr>
        <p:grpSpPr>
          <a:xfrm>
            <a:off x="9872868" y="2170083"/>
            <a:ext cx="1480932" cy="1428520"/>
            <a:chOff x="8930936" y="2408583"/>
            <a:chExt cx="1216113" cy="1173074"/>
          </a:xfrm>
          <a:solidFill>
            <a:schemeClr val="accent1"/>
          </a:solidFill>
        </p:grpSpPr>
        <p:grpSp>
          <p:nvGrpSpPr>
            <p:cNvPr id="47" name="Groupe 46">
              <a:extLst>
                <a:ext uri="{FF2B5EF4-FFF2-40B4-BE49-F238E27FC236}">
                  <a16:creationId xmlns:a16="http://schemas.microsoft.com/office/drawing/2014/main" id="{1465224A-E7F4-4103-ACE3-4EDDB88A5097}"/>
                </a:ext>
              </a:extLst>
            </p:cNvPr>
            <p:cNvGrpSpPr/>
            <p:nvPr/>
          </p:nvGrpSpPr>
          <p:grpSpPr>
            <a:xfrm>
              <a:off x="8930936" y="2408583"/>
              <a:ext cx="1216113" cy="1173074"/>
              <a:chOff x="8930936" y="2401291"/>
              <a:chExt cx="1216113" cy="1173074"/>
            </a:xfrm>
            <a:grpFill/>
          </p:grpSpPr>
          <p:pic>
            <p:nvPicPr>
              <p:cNvPr id="51" name="Graphique 50" descr="Plan avec un remplissage uni">
                <a:extLst>
                  <a:ext uri="{FF2B5EF4-FFF2-40B4-BE49-F238E27FC236}">
                    <a16:creationId xmlns:a16="http://schemas.microsoft.com/office/drawing/2014/main" id="{ADFB5258-1084-4184-9CE3-6BA0474E7765}"/>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8930936" y="2401291"/>
                <a:ext cx="590762" cy="590762"/>
              </a:xfrm>
              <a:prstGeom prst="rect">
                <a:avLst/>
              </a:prstGeom>
            </p:spPr>
          </p:pic>
          <p:grpSp>
            <p:nvGrpSpPr>
              <p:cNvPr id="52" name="Groupe 51">
                <a:extLst>
                  <a:ext uri="{FF2B5EF4-FFF2-40B4-BE49-F238E27FC236}">
                    <a16:creationId xmlns:a16="http://schemas.microsoft.com/office/drawing/2014/main" id="{888D22AB-FB3B-4993-9B81-17E5E32BEB42}"/>
                  </a:ext>
                </a:extLst>
              </p:cNvPr>
              <p:cNvGrpSpPr/>
              <p:nvPr/>
            </p:nvGrpSpPr>
            <p:grpSpPr>
              <a:xfrm>
                <a:off x="9450069" y="2659965"/>
                <a:ext cx="696980" cy="914400"/>
                <a:chOff x="5018285" y="3873291"/>
                <a:chExt cx="696980" cy="914400"/>
              </a:xfrm>
              <a:grpFill/>
            </p:grpSpPr>
            <p:pic>
              <p:nvPicPr>
                <p:cNvPr id="53" name="Graphique 52" descr="Personne confuse avec un remplissage uni">
                  <a:extLst>
                    <a:ext uri="{FF2B5EF4-FFF2-40B4-BE49-F238E27FC236}">
                      <a16:creationId xmlns:a16="http://schemas.microsoft.com/office/drawing/2014/main" id="{5D82E1E1-E631-4F89-8975-E678E29257C5}"/>
                    </a:ext>
                  </a:extLst>
                </p:cNvPr>
                <p:cNvPicPr>
                  <a:picLocks noChangeAspect="1"/>
                </p:cNvPicPr>
                <p:nvPr/>
              </p:nvPicPr>
              <p:blipFill rotWithShape="1">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rcRect l="30440" r="-1"/>
                <a:stretch/>
              </p:blipFill>
              <p:spPr>
                <a:xfrm>
                  <a:off x="5079206" y="3873291"/>
                  <a:ext cx="636059" cy="914400"/>
                </a:xfrm>
                <a:prstGeom prst="rect">
                  <a:avLst/>
                </a:prstGeom>
              </p:spPr>
            </p:pic>
            <p:sp>
              <p:nvSpPr>
                <p:cNvPr id="54" name="Rectangle : coins arrondis 53">
                  <a:extLst>
                    <a:ext uri="{FF2B5EF4-FFF2-40B4-BE49-F238E27FC236}">
                      <a16:creationId xmlns:a16="http://schemas.microsoft.com/office/drawing/2014/main" id="{4DA91A5D-1DE6-4D6D-AB75-7B8E667A271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48" name="Groupe 47">
              <a:extLst>
                <a:ext uri="{FF2B5EF4-FFF2-40B4-BE49-F238E27FC236}">
                  <a16:creationId xmlns:a16="http://schemas.microsoft.com/office/drawing/2014/main" id="{001953E0-4245-4CC3-9D67-E57F12FB5F0F}"/>
                </a:ext>
              </a:extLst>
            </p:cNvPr>
            <p:cNvGrpSpPr/>
            <p:nvPr/>
          </p:nvGrpSpPr>
          <p:grpSpPr>
            <a:xfrm>
              <a:off x="9237852" y="2714693"/>
              <a:ext cx="199881" cy="170748"/>
              <a:chOff x="8303417" y="2625343"/>
              <a:chExt cx="199881" cy="170748"/>
            </a:xfrm>
            <a:grpFill/>
          </p:grpSpPr>
          <p:sp>
            <p:nvSpPr>
              <p:cNvPr id="49" name="Rectangle 48">
                <a:extLst>
                  <a:ext uri="{FF2B5EF4-FFF2-40B4-BE49-F238E27FC236}">
                    <a16:creationId xmlns:a16="http://schemas.microsoft.com/office/drawing/2014/main" id="{8FE3E44B-5161-4A6D-9B5B-B5DACABF6BB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0" name="Image 49">
                <a:extLst>
                  <a:ext uri="{FF2B5EF4-FFF2-40B4-BE49-F238E27FC236}">
                    <a16:creationId xmlns:a16="http://schemas.microsoft.com/office/drawing/2014/main" id="{704B9DFC-0E5A-4387-876E-AF506526BF75}"/>
                  </a:ext>
                </a:extLst>
              </p:cNvPr>
              <p:cNvPicPr>
                <a:picLocks noChangeAspect="1"/>
              </p:cNvPicPr>
              <p:nvPr/>
            </p:nvPicPr>
            <p:blipFill>
              <a:blip r:embed="rId33" cstate="print">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grpSp>
        <p:nvGrpSpPr>
          <p:cNvPr id="55" name="Groupe 54">
            <a:extLst>
              <a:ext uri="{FF2B5EF4-FFF2-40B4-BE49-F238E27FC236}">
                <a16:creationId xmlns:a16="http://schemas.microsoft.com/office/drawing/2014/main" id="{2997636F-401A-4F17-8119-7232276D715C}"/>
              </a:ext>
            </a:extLst>
          </p:cNvPr>
          <p:cNvGrpSpPr/>
          <p:nvPr/>
        </p:nvGrpSpPr>
        <p:grpSpPr>
          <a:xfrm>
            <a:off x="4798012" y="3819116"/>
            <a:ext cx="1191184" cy="1126443"/>
            <a:chOff x="4763560" y="3762738"/>
            <a:chExt cx="978178" cy="925014"/>
          </a:xfrm>
        </p:grpSpPr>
        <p:grpSp>
          <p:nvGrpSpPr>
            <p:cNvPr id="56" name="Groupe 55">
              <a:extLst>
                <a:ext uri="{FF2B5EF4-FFF2-40B4-BE49-F238E27FC236}">
                  <a16:creationId xmlns:a16="http://schemas.microsoft.com/office/drawing/2014/main" id="{C5302A20-4FAE-4D08-BB30-2DB4E4E9ADE3}"/>
                </a:ext>
              </a:extLst>
            </p:cNvPr>
            <p:cNvGrpSpPr/>
            <p:nvPr/>
          </p:nvGrpSpPr>
          <p:grpSpPr>
            <a:xfrm flipH="1">
              <a:off x="4766064" y="3762738"/>
              <a:ext cx="975674" cy="925014"/>
              <a:chOff x="4716415" y="3792004"/>
              <a:chExt cx="1009529" cy="925014"/>
            </a:xfrm>
          </p:grpSpPr>
          <p:pic>
            <p:nvPicPr>
              <p:cNvPr id="59" name="Graphique 58" descr="Mégaphone1 avec un remplissage uni">
                <a:extLst>
                  <a:ext uri="{FF2B5EF4-FFF2-40B4-BE49-F238E27FC236}">
                    <a16:creationId xmlns:a16="http://schemas.microsoft.com/office/drawing/2014/main" id="{BF811029-D43A-46D3-919F-7BDAE290D4F0}"/>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flipH="1">
                <a:off x="4716415" y="3792004"/>
                <a:ext cx="384826" cy="398002"/>
              </a:xfrm>
              <a:prstGeom prst="rect">
                <a:avLst/>
              </a:prstGeom>
            </p:spPr>
          </p:pic>
          <p:grpSp>
            <p:nvGrpSpPr>
              <p:cNvPr id="60" name="Groupe 59">
                <a:extLst>
                  <a:ext uri="{FF2B5EF4-FFF2-40B4-BE49-F238E27FC236}">
                    <a16:creationId xmlns:a16="http://schemas.microsoft.com/office/drawing/2014/main" id="{E33C8F69-897D-4BCA-AC4B-73FBBF9B97AC}"/>
                  </a:ext>
                </a:extLst>
              </p:cNvPr>
              <p:cNvGrpSpPr/>
              <p:nvPr/>
            </p:nvGrpSpPr>
            <p:grpSpPr>
              <a:xfrm>
                <a:off x="5048496" y="3886444"/>
                <a:ext cx="633086" cy="830574"/>
                <a:chOff x="5018285" y="3873291"/>
                <a:chExt cx="696980" cy="914400"/>
              </a:xfrm>
            </p:grpSpPr>
            <p:pic>
              <p:nvPicPr>
                <p:cNvPr id="63" name="Graphique 62" descr="Personne confuse avec un remplissage uni">
                  <a:extLst>
                    <a:ext uri="{FF2B5EF4-FFF2-40B4-BE49-F238E27FC236}">
                      <a16:creationId xmlns:a16="http://schemas.microsoft.com/office/drawing/2014/main" id="{A6E5771F-7BED-45C3-ABDE-A5C068D970B7}"/>
                    </a:ext>
                  </a:extLst>
                </p:cNvPr>
                <p:cNvPicPr>
                  <a:picLocks noChangeAspect="1"/>
                </p:cNvPicPr>
                <p:nvPr/>
              </p:nvPicPr>
              <p:blipFill rotWithShape="1">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rcRect l="30440" r="-1"/>
                <a:stretch/>
              </p:blipFill>
              <p:spPr>
                <a:xfrm>
                  <a:off x="5079206" y="3873291"/>
                  <a:ext cx="636059" cy="914400"/>
                </a:xfrm>
                <a:prstGeom prst="rect">
                  <a:avLst/>
                </a:prstGeom>
              </p:spPr>
            </p:pic>
            <p:sp>
              <p:nvSpPr>
                <p:cNvPr id="64" name="Rectangle : coins arrondis 63">
                  <a:extLst>
                    <a:ext uri="{FF2B5EF4-FFF2-40B4-BE49-F238E27FC236}">
                      <a16:creationId xmlns:a16="http://schemas.microsoft.com/office/drawing/2014/main" id="{4351135D-6327-4D9D-9B61-5356526092DC}"/>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61" name="Graphique 60" descr="Balance de la justice avec un remplissage uni">
                <a:extLst>
                  <a:ext uri="{FF2B5EF4-FFF2-40B4-BE49-F238E27FC236}">
                    <a16:creationId xmlns:a16="http://schemas.microsoft.com/office/drawing/2014/main" id="{9195AA20-2AE9-49AA-BE37-663BEF412A95}"/>
                  </a:ext>
                </a:extLst>
              </p:cNvPr>
              <p:cNvPicPr>
                <a:picLocks noChangeAspect="1"/>
              </p:cNvPicPr>
              <p:nvPr/>
            </p:nvPicPr>
            <p:blipFill>
              <a:blip r:embed="rId36" cstate="screen">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5374349" y="3867945"/>
                <a:ext cx="351595" cy="351595"/>
              </a:xfrm>
              <a:prstGeom prst="rect">
                <a:avLst/>
              </a:prstGeom>
            </p:spPr>
          </p:pic>
          <p:pic>
            <p:nvPicPr>
              <p:cNvPr id="62" name="Image 61">
                <a:extLst>
                  <a:ext uri="{FF2B5EF4-FFF2-40B4-BE49-F238E27FC236}">
                    <a16:creationId xmlns:a16="http://schemas.microsoft.com/office/drawing/2014/main" id="{E1A3438E-4A21-4626-99D2-3B939A9AEF72}"/>
                  </a:ext>
                </a:extLst>
              </p:cNvPr>
              <p:cNvPicPr>
                <a:picLocks noChangeAspect="1"/>
              </p:cNvPicPr>
              <p:nvPr/>
            </p:nvPicPr>
            <p:blipFill>
              <a:blip r:embed="rId38" cstate="print">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57" name="Graphique 56" descr="Balance de la justice avec un remplissage uni">
              <a:extLst>
                <a:ext uri="{FF2B5EF4-FFF2-40B4-BE49-F238E27FC236}">
                  <a16:creationId xmlns:a16="http://schemas.microsoft.com/office/drawing/2014/main" id="{95F08E16-7B52-445B-9087-24B17934E761}"/>
                </a:ext>
              </a:extLst>
            </p:cNvPr>
            <p:cNvPicPr>
              <a:picLocks noChangeAspect="1"/>
            </p:cNvPicPr>
            <p:nvPr/>
          </p:nvPicPr>
          <p:blipFill rotWithShape="1">
            <a:blip r:embed="rId39" cstate="screen">
              <a:extLst>
                <a:ext uri="{28A0092B-C50C-407E-A947-70E740481C1C}">
                  <a14:useLocalDpi xmlns:a14="http://schemas.microsoft.com/office/drawing/2010/main"/>
                </a:ext>
                <a:ext uri="{96DAC541-7B7A-43D3-8B79-37D633B846F1}">
                  <asvg:svgBlip xmlns:asvg="http://schemas.microsoft.com/office/drawing/2016/SVG/main" r:embed="rId40"/>
                </a:ext>
              </a:extLst>
            </a:blip>
            <a:srcRect l="7711" t="16230" r="55712" b="32471"/>
            <a:stretch/>
          </p:blipFill>
          <p:spPr>
            <a:xfrm flipH="1">
              <a:off x="4955380" y="3895743"/>
              <a:ext cx="124289" cy="180364"/>
            </a:xfrm>
            <a:prstGeom prst="rect">
              <a:avLst/>
            </a:prstGeom>
          </p:spPr>
        </p:pic>
        <p:pic>
          <p:nvPicPr>
            <p:cNvPr id="58" name="Graphique 57" descr="Balance de la justice avec un remplissage uni">
              <a:extLst>
                <a:ext uri="{FF2B5EF4-FFF2-40B4-BE49-F238E27FC236}">
                  <a16:creationId xmlns:a16="http://schemas.microsoft.com/office/drawing/2014/main" id="{9B5CAA30-DB6A-4151-A3AA-99D8151A9923}"/>
                </a:ext>
              </a:extLst>
            </p:cNvPr>
            <p:cNvPicPr>
              <a:picLocks noChangeAspect="1"/>
            </p:cNvPicPr>
            <p:nvPr/>
          </p:nvPicPr>
          <p:blipFill rotWithShape="1">
            <a:blip r:embed="rId41" cstate="screen">
              <a:extLst>
                <a:ext uri="{28A0092B-C50C-407E-A947-70E740481C1C}">
                  <a14:useLocalDpi xmlns:a14="http://schemas.microsoft.com/office/drawing/2010/main"/>
                </a:ext>
                <a:ext uri="{96DAC541-7B7A-43D3-8B79-37D633B846F1}">
                  <asvg:svgBlip xmlns:asvg="http://schemas.microsoft.com/office/drawing/2016/SVG/main" r:embed="rId42"/>
                </a:ext>
              </a:extLst>
            </a:blip>
            <a:srcRect l="58383" t="16186" b="30375"/>
            <a:stretch/>
          </p:blipFill>
          <p:spPr>
            <a:xfrm flipH="1">
              <a:off x="4763560" y="3895742"/>
              <a:ext cx="141416" cy="187889"/>
            </a:xfrm>
            <a:prstGeom prst="rect">
              <a:avLst/>
            </a:prstGeom>
          </p:spPr>
        </p:pic>
      </p:grpSp>
      <p:sp>
        <p:nvSpPr>
          <p:cNvPr id="66" name="Bulle narrative : ronde 65">
            <a:extLst>
              <a:ext uri="{FF2B5EF4-FFF2-40B4-BE49-F238E27FC236}">
                <a16:creationId xmlns:a16="http://schemas.microsoft.com/office/drawing/2014/main" id="{27158976-3787-4B18-B6B6-8765A4EE5A72}"/>
              </a:ext>
            </a:extLst>
          </p:cNvPr>
          <p:cNvSpPr/>
          <p:nvPr/>
        </p:nvSpPr>
        <p:spPr>
          <a:xfrm>
            <a:off x="676611" y="3773645"/>
            <a:ext cx="1422360" cy="932108"/>
          </a:xfrm>
          <a:prstGeom prst="wedgeEllipseCallout">
            <a:avLst>
              <a:gd name="adj1" fmla="val 18488"/>
              <a:gd name="adj2" fmla="val 63452"/>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J’ai envie de jouer</a:t>
            </a:r>
          </a:p>
        </p:txBody>
      </p:sp>
      <p:sp>
        <p:nvSpPr>
          <p:cNvPr id="67" name="Bulle narrative : ronde 66">
            <a:extLst>
              <a:ext uri="{FF2B5EF4-FFF2-40B4-BE49-F238E27FC236}">
                <a16:creationId xmlns:a16="http://schemas.microsoft.com/office/drawing/2014/main" id="{0B80E3A4-C8C6-4A8B-9BFA-1C1838053250}"/>
              </a:ext>
            </a:extLst>
          </p:cNvPr>
          <p:cNvSpPr/>
          <p:nvPr/>
        </p:nvSpPr>
        <p:spPr>
          <a:xfrm>
            <a:off x="2419185" y="3352545"/>
            <a:ext cx="1422360" cy="932108"/>
          </a:xfrm>
          <a:prstGeom prst="wedgeEllipseCallout">
            <a:avLst>
              <a:gd name="adj1" fmla="val 18488"/>
              <a:gd name="adj2" fmla="val 63452"/>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Je sais jouer</a:t>
            </a:r>
          </a:p>
        </p:txBody>
      </p:sp>
      <p:sp>
        <p:nvSpPr>
          <p:cNvPr id="68" name="Bulle narrative : ronde 67">
            <a:extLst>
              <a:ext uri="{FF2B5EF4-FFF2-40B4-BE49-F238E27FC236}">
                <a16:creationId xmlns:a16="http://schemas.microsoft.com/office/drawing/2014/main" id="{508F79A3-80D5-4254-A69E-F9DD10A192C3}"/>
              </a:ext>
            </a:extLst>
          </p:cNvPr>
          <p:cNvSpPr/>
          <p:nvPr/>
        </p:nvSpPr>
        <p:spPr>
          <a:xfrm>
            <a:off x="4032531" y="2176459"/>
            <a:ext cx="1875382" cy="1456415"/>
          </a:xfrm>
          <a:prstGeom prst="wedgeEllipseCallout">
            <a:avLst>
              <a:gd name="adj1" fmla="val 18488"/>
              <a:gd name="adj2" fmla="val 6345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Je sais quand, pourquoi, avec qui, et comment utiliser ce jeu pour qu’il soit utile</a:t>
            </a:r>
          </a:p>
        </p:txBody>
      </p:sp>
      <p:sp>
        <p:nvSpPr>
          <p:cNvPr id="69" name="Bulle narrative : ronde 68">
            <a:extLst>
              <a:ext uri="{FF2B5EF4-FFF2-40B4-BE49-F238E27FC236}">
                <a16:creationId xmlns:a16="http://schemas.microsoft.com/office/drawing/2014/main" id="{FE8495B0-4EA3-4402-9860-F244E61B6D4B}"/>
              </a:ext>
            </a:extLst>
          </p:cNvPr>
          <p:cNvSpPr/>
          <p:nvPr/>
        </p:nvSpPr>
        <p:spPr>
          <a:xfrm>
            <a:off x="6434723" y="1548743"/>
            <a:ext cx="2811969" cy="1456415"/>
          </a:xfrm>
          <a:prstGeom prst="wedgeEllipseCallout">
            <a:avLst>
              <a:gd name="adj1" fmla="val 18488"/>
              <a:gd name="adj2" fmla="val 6345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70" name="Bulle narrative : ronde 69">
            <a:extLst>
              <a:ext uri="{FF2B5EF4-FFF2-40B4-BE49-F238E27FC236}">
                <a16:creationId xmlns:a16="http://schemas.microsoft.com/office/drawing/2014/main" id="{A1DC92B2-AEF0-489D-8A43-E813346BEC08}"/>
              </a:ext>
            </a:extLst>
          </p:cNvPr>
          <p:cNvSpPr/>
          <p:nvPr/>
        </p:nvSpPr>
        <p:spPr>
          <a:xfrm>
            <a:off x="6464182" y="1542032"/>
            <a:ext cx="2811969" cy="1456415"/>
          </a:xfrm>
          <a:prstGeom prst="wedgeEllipseCallout">
            <a:avLst>
              <a:gd name="adj1" fmla="val -28553"/>
              <a:gd name="adj2" fmla="val 82958"/>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Nous savons animer et coanimer ce jeu !</a:t>
            </a:r>
          </a:p>
        </p:txBody>
      </p:sp>
      <p:sp>
        <p:nvSpPr>
          <p:cNvPr id="71" name="Bulle narrative : ronde 70">
            <a:extLst>
              <a:ext uri="{FF2B5EF4-FFF2-40B4-BE49-F238E27FC236}">
                <a16:creationId xmlns:a16="http://schemas.microsoft.com/office/drawing/2014/main" id="{D1C21FA3-EC3E-414B-ABBB-773FDA08633C}"/>
              </a:ext>
            </a:extLst>
          </p:cNvPr>
          <p:cNvSpPr/>
          <p:nvPr/>
        </p:nvSpPr>
        <p:spPr>
          <a:xfrm>
            <a:off x="9960746" y="753528"/>
            <a:ext cx="2037511" cy="1456415"/>
          </a:xfrm>
          <a:prstGeom prst="wedgeEllipseCallout">
            <a:avLst>
              <a:gd name="adj1" fmla="val -6332"/>
              <a:gd name="adj2" fmla="val 6650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bg1"/>
                </a:solidFill>
              </a:rPr>
              <a:t>Je m’imagine comment adapter ce jeu</a:t>
            </a:r>
          </a:p>
        </p:txBody>
      </p:sp>
    </p:spTree>
    <p:extLst>
      <p:ext uri="{BB962C8B-B14F-4D97-AF65-F5344CB8AC3E}">
        <p14:creationId xmlns:p14="http://schemas.microsoft.com/office/powerpoint/2010/main" val="3203831156"/>
      </p:ext>
    </p:extLst>
  </p:cSld>
  <p:clrMapOvr>
    <a:masterClrMapping/>
  </p:clrMapOvr>
  <mc:AlternateContent xmlns:mc="http://schemas.openxmlformats.org/markup-compatibility/2006" xmlns:p14="http://schemas.microsoft.com/office/powerpoint/2010/main">
    <mc:Choice Requires="p14">
      <p:transition spd="slow" p14:dur="2000" advTm="141071"/>
    </mc:Choice>
    <mc:Fallback xmlns="">
      <p:transition spd="slow" advTm="141071"/>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09437" y="643466"/>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1988598" y="5891367"/>
            <a:ext cx="7572652" cy="646331"/>
          </a:xfrm>
          <a:prstGeom prst="rect">
            <a:avLst/>
          </a:prstGeom>
          <a:noFill/>
        </p:spPr>
        <p:txBody>
          <a:bodyPr wrap="square" rtlCol="0">
            <a:spAutoFit/>
          </a:bodyPr>
          <a:lstStyle/>
          <a:p>
            <a:pPr algn="ctr"/>
            <a:r>
              <a:rPr lang="fr-FR" sz="3600" b="1" i="1" dirty="0">
                <a:solidFill>
                  <a:srgbClr val="0683AA"/>
                </a:solidFill>
              </a:rPr>
              <a:t>A vous de jouer, à vous de transmettre</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4309</TotalTime>
  <Words>10300</Words>
  <Application>Microsoft Office PowerPoint</Application>
  <PresentationFormat>Widescreen</PresentationFormat>
  <Paragraphs>733</Paragraphs>
  <Slides>53</Slides>
  <Notes>2</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53</vt:i4>
      </vt:variant>
    </vt:vector>
  </HeadingPairs>
  <TitlesOfParts>
    <vt:vector size="58" baseType="lpstr">
      <vt:lpstr>Arial</vt:lpstr>
      <vt:lpstr>Calibri</vt:lpstr>
      <vt:lpstr>Calibri Light</vt:lpstr>
      <vt:lpstr>Rockwell</vt:lpstr>
      <vt:lpstr>Thème Office</vt:lpstr>
      <vt:lpstr>Presentazione standard di PowerPoint</vt:lpstr>
      <vt:lpstr>Presentazione standard di PowerPoint</vt:lpstr>
      <vt:lpstr>Pour qui et pourquoi Handi Situations été créé</vt:lpstr>
      <vt:lpstr>Handi Situations en bref</vt:lpstr>
      <vt:lpstr>Déroulement du jeu</vt:lpstr>
      <vt:lpstr>Déroulement de chaque tour 10’ max par tour</vt:lpstr>
      <vt:lpstr>Les cartes épreuves </vt:lpstr>
      <vt:lpstr>Les cartes « Situation de handicap »</vt:lpstr>
      <vt:lpstr>Dernières recommandations et points sur le jeu et la façon de jouer</vt:lpstr>
      <vt:lpstr>Comment se passe le Debriefing ?</vt:lpstr>
      <vt:lpstr>Debriefing</vt:lpstr>
      <vt:lpstr>(Facultatif) Debriefing général en grand groupe</vt:lpstr>
      <vt:lpstr>(Facultatif) Debriefing général en grand groupe</vt:lpstr>
      <vt:lpstr>Niveau 3 : Ressources supplémentaires</vt:lpstr>
      <vt:lpstr>Merci beaucoup</vt:lpstr>
      <vt:lpstr>Matériel de jeu</vt:lpstr>
      <vt:lpstr>Cartes épreuves collectives (premiers tours) et épreuves individuelles (dernier tours)</vt:lpstr>
      <vt:lpstr>Presentazione standard di PowerPoint</vt:lpstr>
      <vt:lpstr>Presentazione standard di PowerPoint</vt:lpstr>
      <vt:lpstr>Presentazione standard di PowerPoint</vt:lpstr>
      <vt:lpstr>Extension « Usages numériques »</vt:lpstr>
      <vt:lpstr>Presentazione standard di PowerPoint</vt:lpstr>
      <vt:lpstr>Presentazione standard di PowerPoint</vt:lpstr>
      <vt:lpstr>Cartes Handicap</vt:lpstr>
      <vt:lpstr>Presentazione standard di PowerPoint</vt:lpstr>
      <vt:lpstr>Presentazione standard di PowerPoint</vt:lpstr>
      <vt:lpstr>Presentazione standard di PowerPoint</vt:lpstr>
      <vt:lpstr>Cartes règles du jeu</vt:lpstr>
      <vt:lpstr>Presentazione standard di PowerPoint</vt:lpstr>
      <vt:lpstr>Cartes de Debriefing</vt:lpstr>
      <vt:lpstr>Presentazione standard di PowerPoint</vt:lpstr>
      <vt:lpstr>Presentazione standard di PowerPoint</vt:lpstr>
      <vt:lpstr>Annexes</vt:lpstr>
      <vt:lpstr>Niveau 2 : Déroulement de Handi Situations</vt:lpstr>
      <vt:lpstr>Niveau 2 : Détails sur le Debriefing de Handi Situations</vt:lpstr>
      <vt:lpstr>Niveau 2 : Grille de l’observateur</vt:lpstr>
      <vt:lpstr>Niveau 3 : Organisation de Handi Situations</vt:lpstr>
      <vt:lpstr>Niveau 3 : Organisation de Handi Situations</vt:lpstr>
      <vt:lpstr>Niveau 3 : Organisation de Handi Situations</vt:lpstr>
      <vt:lpstr>Niveau 3 : Ressources supplémentaires à partager avec les joueurs après la session de jeu</vt:lpstr>
      <vt:lpstr>Niveau 3 : Coordonnées des personnes ou des groupes clés</vt:lpstr>
      <vt:lpstr>Niveau 4 : Recommandations pour Co-animation de Handi Situations</vt:lpstr>
      <vt:lpstr>Niveau 4 : Préparer l’animation de Handi Situations</vt:lpstr>
      <vt:lpstr>Niveau 5 : Animation de Handi Situations</vt:lpstr>
      <vt:lpstr>Niveau 5 : Cas particuliers d’animation</vt:lpstr>
      <vt:lpstr>Niveau 5 : Cas particuliers d’animation</vt:lpstr>
      <vt:lpstr>Niveau 5 : Cas particuliers d’animation</vt:lpstr>
      <vt:lpstr>Niveau 5 : Comment faire avec les joueurs motivés à animer ou organiser Handi Situations à leur tour ?</vt:lpstr>
      <vt:lpstr>Niveau 6 : Adaptation de Handi Situations</vt:lpstr>
      <vt:lpstr>Niveau 6 : Note des créateurs de Handi-situations</vt:lpstr>
      <vt:lpstr>Niveau 6 : Note des créateurs de Handi-situations</vt:lpstr>
      <vt:lpstr>#OpenSeriousTemplate en résumé Ce qu’il faut ajouter pour rendre votre jeu sérieux transmissible</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228</cp:revision>
  <dcterms:created xsi:type="dcterms:W3CDTF">2021-02-02T23:16:24Z</dcterms:created>
  <dcterms:modified xsi:type="dcterms:W3CDTF">2023-11-23T17:57:03Z</dcterms:modified>
</cp:coreProperties>
</file>