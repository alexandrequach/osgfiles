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9" r:id="rId4"/>
  </p:sldMasterIdLst>
  <p:notesMasterIdLst>
    <p:notesMasterId r:id="rId25"/>
  </p:notesMasterIdLst>
  <p:sldIdLst>
    <p:sldId id="382" r:id="rId5"/>
    <p:sldId id="603" r:id="rId6"/>
    <p:sldId id="371" r:id="rId7"/>
    <p:sldId id="381" r:id="rId8"/>
    <p:sldId id="790" r:id="rId9"/>
    <p:sldId id="794" r:id="rId10"/>
    <p:sldId id="789" r:id="rId11"/>
    <p:sldId id="727" r:id="rId12"/>
    <p:sldId id="791" r:id="rId13"/>
    <p:sldId id="792" r:id="rId14"/>
    <p:sldId id="698" r:id="rId15"/>
    <p:sldId id="788" r:id="rId16"/>
    <p:sldId id="685" r:id="rId17"/>
    <p:sldId id="793" r:id="rId18"/>
    <p:sldId id="424" r:id="rId19"/>
    <p:sldId id="372" r:id="rId20"/>
    <p:sldId id="373" r:id="rId21"/>
    <p:sldId id="375" r:id="rId22"/>
    <p:sldId id="374" r:id="rId23"/>
    <p:sldId id="377" r:id="rId24"/>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7F071B33-7E0C-46CD-8117-437756646AC7}">
          <p14:sldIdLst>
            <p14:sldId id="382"/>
            <p14:sldId id="603"/>
            <p14:sldId id="371"/>
            <p14:sldId id="381"/>
          </p14:sldIdLst>
        </p14:section>
        <p14:section name="Details" id="{FACE2594-529A-43A0-9927-37CDE0C01420}">
          <p14:sldIdLst>
            <p14:sldId id="790"/>
            <p14:sldId id="794"/>
            <p14:sldId id="789"/>
            <p14:sldId id="727"/>
            <p14:sldId id="791"/>
            <p14:sldId id="792"/>
            <p14:sldId id="698"/>
            <p14:sldId id="788"/>
            <p14:sldId id="685"/>
          </p14:sldIdLst>
        </p14:section>
        <p14:section name="Organisation" id="{1B2614D7-7998-4AD0-8ADF-32EEFF9C6B95}">
          <p14:sldIdLst>
            <p14:sldId id="793"/>
            <p14:sldId id="424"/>
            <p14:sldId id="372"/>
            <p14:sldId id="373"/>
            <p14:sldId id="375"/>
            <p14:sldId id="374"/>
            <p14:sldId id="377"/>
          </p14:sldIdLst>
        </p14:section>
      </p14:sectionLst>
    </p:ex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lexandre Quach" initials="AQ" lastIdx="3" clrIdx="0">
    <p:extLst>
      <p:ext uri="{19B8F6BF-5375-455C-9EA6-DF929625EA0E}">
        <p15:presenceInfo xmlns:p15="http://schemas.microsoft.com/office/powerpoint/2012/main" userId="7bb690c8a6e028e4"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EC7B2B"/>
    <a:srgbClr val="3494BA"/>
    <a:srgbClr val="F4B183"/>
    <a:srgbClr val="FF0000"/>
    <a:srgbClr val="A6A6A6"/>
    <a:srgbClr val="FBE5D6"/>
    <a:srgbClr val="E2F0D9"/>
    <a:srgbClr val="A9D18E"/>
    <a:srgbClr val="BFBFBF"/>
    <a:srgbClr val="CDDCE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771" autoAdjust="0"/>
    <p:restoredTop sz="94660"/>
  </p:normalViewPr>
  <p:slideViewPr>
    <p:cSldViewPr snapToGrid="0">
      <p:cViewPr varScale="1">
        <p:scale>
          <a:sx n="104" d="100"/>
          <a:sy n="104" d="100"/>
        </p:scale>
        <p:origin x="228" y="80"/>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commentAuthors" Target="commentAuthor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exandre Quach" userId="03a3b9a4-365b-425e-bba9-a77346403bac" providerId="ADAL" clId="{3652A094-B19B-4EDB-9B4A-DA2232027DA0}"/>
    <pc:docChg chg="modSld">
      <pc:chgData name="Alexandre Quach" userId="03a3b9a4-365b-425e-bba9-a77346403bac" providerId="ADAL" clId="{3652A094-B19B-4EDB-9B4A-DA2232027DA0}" dt="2023-12-05T10:45:23.291" v="2" actId="20577"/>
      <pc:docMkLst>
        <pc:docMk/>
      </pc:docMkLst>
      <pc:sldChg chg="modSp mod">
        <pc:chgData name="Alexandre Quach" userId="03a3b9a4-365b-425e-bba9-a77346403bac" providerId="ADAL" clId="{3652A094-B19B-4EDB-9B4A-DA2232027DA0}" dt="2023-12-05T10:45:20.838" v="1" actId="20577"/>
        <pc:sldMkLst>
          <pc:docMk/>
          <pc:sldMk cId="427037604" sldId="374"/>
        </pc:sldMkLst>
        <pc:spChg chg="mod">
          <ac:chgData name="Alexandre Quach" userId="03a3b9a4-365b-425e-bba9-a77346403bac" providerId="ADAL" clId="{3652A094-B19B-4EDB-9B4A-DA2232027DA0}" dt="2023-12-05T10:45:20.838" v="1" actId="20577"/>
          <ac:spMkLst>
            <pc:docMk/>
            <pc:sldMk cId="427037604" sldId="374"/>
            <ac:spMk id="2" creationId="{D071508F-00B6-48EB-9E05-2CF3767E59FF}"/>
          </ac:spMkLst>
        </pc:spChg>
      </pc:sldChg>
      <pc:sldChg chg="modSp mod">
        <pc:chgData name="Alexandre Quach" userId="03a3b9a4-365b-425e-bba9-a77346403bac" providerId="ADAL" clId="{3652A094-B19B-4EDB-9B4A-DA2232027DA0}" dt="2023-12-05T10:45:23.291" v="2" actId="20577"/>
        <pc:sldMkLst>
          <pc:docMk/>
          <pc:sldMk cId="1470767813" sldId="375"/>
        </pc:sldMkLst>
        <pc:spChg chg="mod">
          <ac:chgData name="Alexandre Quach" userId="03a3b9a4-365b-425e-bba9-a77346403bac" providerId="ADAL" clId="{3652A094-B19B-4EDB-9B4A-DA2232027DA0}" dt="2023-12-05T10:45:23.291" v="2" actId="20577"/>
          <ac:spMkLst>
            <pc:docMk/>
            <pc:sldMk cId="1470767813" sldId="375"/>
            <ac:spMk id="2" creationId="{D071508F-00B6-48EB-9E05-2CF3767E59FF}"/>
          </ac:spMkLst>
        </pc:spChg>
      </pc:sldChg>
      <pc:sldChg chg="modSp mod">
        <pc:chgData name="Alexandre Quach" userId="03a3b9a4-365b-425e-bba9-a77346403bac" providerId="ADAL" clId="{3652A094-B19B-4EDB-9B4A-DA2232027DA0}" dt="2023-12-05T10:45:18.349" v="0" actId="20577"/>
        <pc:sldMkLst>
          <pc:docMk/>
          <pc:sldMk cId="2545377066" sldId="377"/>
        </pc:sldMkLst>
        <pc:spChg chg="mod">
          <ac:chgData name="Alexandre Quach" userId="03a3b9a4-365b-425e-bba9-a77346403bac" providerId="ADAL" clId="{3652A094-B19B-4EDB-9B4A-DA2232027DA0}" dt="2023-12-05T10:45:18.349" v="0" actId="20577"/>
          <ac:spMkLst>
            <pc:docMk/>
            <pc:sldMk cId="2545377066" sldId="377"/>
            <ac:spMk id="2" creationId="{D071508F-00B6-48EB-9E05-2CF3767E59FF}"/>
          </ac:spMkLst>
        </pc:sp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it-IT"/>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radarChart>
        <c:radarStyle val="marker"/>
        <c:varyColors val="0"/>
        <c:ser>
          <c:idx val="0"/>
          <c:order val="0"/>
          <c:tx>
            <c:strRef>
              <c:f>Feuil1!$B$1</c:f>
              <c:strCache>
                <c:ptCount val="1"/>
                <c:pt idx="0">
                  <c:v>Série 1</c:v>
                </c:pt>
              </c:strCache>
            </c:strRef>
          </c:tx>
          <c:spPr>
            <a:ln w="25400" cap="rnd" cmpd="sng" algn="ctr">
              <a:solidFill>
                <a:schemeClr val="accent1"/>
              </a:solidFill>
              <a:prstDash val="sysDot"/>
              <a:round/>
            </a:ln>
            <a:effectLst/>
          </c:spPr>
          <c:marker>
            <c:symbol val="circle"/>
            <c:size val="6"/>
            <c:spPr>
              <a:solidFill>
                <a:schemeClr val="accent1"/>
              </a:solidFill>
              <a:ln>
                <a:noFill/>
              </a:ln>
              <a:effectLst/>
            </c:spPr>
          </c:marker>
          <c:cat>
            <c:strRef>
              <c:f>Feuil1!$A$2:$A$6</c:f>
              <c:strCache>
                <c:ptCount val="5"/>
                <c:pt idx="0">
                  <c:v>🎯 Intention </c:v>
                </c:pt>
                <c:pt idx="1">
                  <c:v>🔥Skills </c:v>
                </c:pt>
                <c:pt idx="2">
                  <c:v>👍 Current position &amp; recognition : </c:v>
                </c:pt>
                <c:pt idx="3">
                  <c:v>⌛Resources and capacity</c:v>
                </c:pt>
                <c:pt idx="4">
                  <c:v>🎖️Achievements </c:v>
                </c:pt>
              </c:strCache>
            </c:strRef>
          </c:cat>
          <c:val>
            <c:numRef>
              <c:f>Feuil1!$B$2:$B$6</c:f>
              <c:numCache>
                <c:formatCode>General</c:formatCode>
                <c:ptCount val="5"/>
                <c:pt idx="0">
                  <c:v>7</c:v>
                </c:pt>
                <c:pt idx="1">
                  <c:v>6</c:v>
                </c:pt>
                <c:pt idx="2">
                  <c:v>5</c:v>
                </c:pt>
                <c:pt idx="3">
                  <c:v>3</c:v>
                </c:pt>
                <c:pt idx="4">
                  <c:v>2</c:v>
                </c:pt>
              </c:numCache>
            </c:numRef>
          </c:val>
          <c:extLst>
            <c:ext xmlns:c16="http://schemas.microsoft.com/office/drawing/2014/chart" uri="{C3380CC4-5D6E-409C-BE32-E72D297353CC}">
              <c16:uniqueId val="{00000000-8458-4D7A-B3F0-9CF28AE602EE}"/>
            </c:ext>
          </c:extLst>
        </c:ser>
        <c:dLbls>
          <c:showLegendKey val="0"/>
          <c:showVal val="0"/>
          <c:showCatName val="0"/>
          <c:showSerName val="0"/>
          <c:showPercent val="0"/>
          <c:showBubbleSize val="0"/>
        </c:dLbls>
        <c:axId val="2043942672"/>
        <c:axId val="2043944336"/>
      </c:radarChart>
      <c:catAx>
        <c:axId val="204394267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2043944336"/>
        <c:crosses val="autoZero"/>
        <c:auto val="1"/>
        <c:lblAlgn val="ctr"/>
        <c:lblOffset val="100"/>
        <c:noMultiLvlLbl val="0"/>
      </c:catAx>
      <c:valAx>
        <c:axId val="204394433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2043942672"/>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it-IT"/>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radarChart>
        <c:radarStyle val="marker"/>
        <c:varyColors val="0"/>
        <c:ser>
          <c:idx val="0"/>
          <c:order val="0"/>
          <c:tx>
            <c:strRef>
              <c:f>Feuil1!$B$1</c:f>
              <c:strCache>
                <c:ptCount val="1"/>
                <c:pt idx="0">
                  <c:v>Série 1</c:v>
                </c:pt>
              </c:strCache>
            </c:strRef>
          </c:tx>
          <c:spPr>
            <a:ln w="25400" cap="rnd" cmpd="sng" algn="ctr">
              <a:solidFill>
                <a:schemeClr val="accent1"/>
              </a:solidFill>
              <a:prstDash val="sysDot"/>
              <a:round/>
            </a:ln>
            <a:effectLst/>
          </c:spPr>
          <c:marker>
            <c:symbol val="circle"/>
            <c:size val="6"/>
            <c:spPr>
              <a:solidFill>
                <a:schemeClr val="accent1"/>
              </a:solidFill>
              <a:ln>
                <a:noFill/>
              </a:ln>
              <a:effectLst/>
            </c:spPr>
          </c:marker>
          <c:cat>
            <c:strRef>
              <c:f>Feuil1!$A$2:$A$6</c:f>
              <c:strCache>
                <c:ptCount val="5"/>
                <c:pt idx="0">
                  <c:v>🎯 Intention </c:v>
                </c:pt>
                <c:pt idx="1">
                  <c:v>🔥Skills </c:v>
                </c:pt>
                <c:pt idx="2">
                  <c:v>👍 Current position &amp; recognition : </c:v>
                </c:pt>
                <c:pt idx="3">
                  <c:v>⌛Resources and capacity</c:v>
                </c:pt>
                <c:pt idx="4">
                  <c:v>🎖️Achievements </c:v>
                </c:pt>
              </c:strCache>
            </c:strRef>
          </c:cat>
          <c:val>
            <c:numRef>
              <c:f>Feuil1!$B$2:$B$6</c:f>
              <c:numCache>
                <c:formatCode>General</c:formatCode>
                <c:ptCount val="5"/>
                <c:pt idx="0">
                  <c:v>7</c:v>
                </c:pt>
                <c:pt idx="1">
                  <c:v>6</c:v>
                </c:pt>
                <c:pt idx="2">
                  <c:v>5</c:v>
                </c:pt>
                <c:pt idx="3">
                  <c:v>3</c:v>
                </c:pt>
                <c:pt idx="4">
                  <c:v>2</c:v>
                </c:pt>
              </c:numCache>
            </c:numRef>
          </c:val>
          <c:extLst>
            <c:ext xmlns:c16="http://schemas.microsoft.com/office/drawing/2014/chart" uri="{C3380CC4-5D6E-409C-BE32-E72D297353CC}">
              <c16:uniqueId val="{00000000-7441-4E91-B09F-30FCB5B705C9}"/>
            </c:ext>
          </c:extLst>
        </c:ser>
        <c:dLbls>
          <c:showLegendKey val="0"/>
          <c:showVal val="0"/>
          <c:showCatName val="0"/>
          <c:showSerName val="0"/>
          <c:showPercent val="0"/>
          <c:showBubbleSize val="0"/>
        </c:dLbls>
        <c:axId val="2043942672"/>
        <c:axId val="2043944336"/>
      </c:radarChart>
      <c:catAx>
        <c:axId val="204394267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n-US"/>
          </a:p>
        </c:txPr>
        <c:crossAx val="2043944336"/>
        <c:crosses val="autoZero"/>
        <c:auto val="1"/>
        <c:lblAlgn val="ctr"/>
        <c:lblOffset val="100"/>
        <c:noMultiLvlLbl val="0"/>
      </c:catAx>
      <c:valAx>
        <c:axId val="204394433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n-US"/>
          </a:p>
        </c:txPr>
        <c:crossAx val="2043942672"/>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100"/>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it-IT"/>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200" b="1" i="0" u="none" strike="noStrike" kern="1200" cap="all" spc="150" baseline="0">
                <a:solidFill>
                  <a:schemeClr val="tx1">
                    <a:lumMod val="50000"/>
                    <a:lumOff val="50000"/>
                  </a:schemeClr>
                </a:solidFill>
                <a:latin typeface="+mn-lt"/>
                <a:ea typeface="+mn-ea"/>
                <a:cs typeface="+mn-cs"/>
              </a:defRPr>
            </a:pPr>
            <a:r>
              <a:rPr lang="en-US"/>
              <a:t>Rick</a:t>
            </a:r>
          </a:p>
        </c:rich>
      </c:tx>
      <c:layout>
        <c:manualLayout>
          <c:xMode val="edge"/>
          <c:yMode val="edge"/>
          <c:x val="0.40587768909076211"/>
          <c:y val="5.4943475894863279E-2"/>
        </c:manualLayout>
      </c:layout>
      <c:overlay val="0"/>
      <c:spPr>
        <a:noFill/>
        <a:ln>
          <a:noFill/>
        </a:ln>
        <a:effectLst/>
      </c:spPr>
      <c:txPr>
        <a:bodyPr rot="0" spcFirstLastPara="1" vertOverflow="ellipsis" vert="horz" wrap="square" anchor="ctr" anchorCtr="1"/>
        <a:lstStyle/>
        <a:p>
          <a:pPr>
            <a:defRPr sz="2200" b="1" i="0" u="none" strike="noStrike" kern="1200" cap="all" spc="150" baseline="0">
              <a:solidFill>
                <a:schemeClr val="tx1">
                  <a:lumMod val="50000"/>
                  <a:lumOff val="50000"/>
                </a:schemeClr>
              </a:solidFill>
              <a:latin typeface="+mn-lt"/>
              <a:ea typeface="+mn-ea"/>
              <a:cs typeface="+mn-cs"/>
            </a:defRPr>
          </a:pPr>
          <a:endParaRPr lang="en-US"/>
        </a:p>
      </c:txPr>
    </c:title>
    <c:autoTitleDeleted val="0"/>
    <c:plotArea>
      <c:layout/>
      <c:radarChart>
        <c:radarStyle val="marker"/>
        <c:varyColors val="0"/>
        <c:ser>
          <c:idx val="0"/>
          <c:order val="0"/>
          <c:tx>
            <c:strRef>
              <c:f>Feuil1!$B$1</c:f>
              <c:strCache>
                <c:ptCount val="1"/>
                <c:pt idx="0">
                  <c:v>Série 1</c:v>
                </c:pt>
              </c:strCache>
            </c:strRef>
          </c:tx>
          <c:spPr>
            <a:ln w="25400" cap="rnd" cmpd="sng" algn="ctr">
              <a:solidFill>
                <a:schemeClr val="accent1"/>
              </a:solidFill>
              <a:prstDash val="sysDot"/>
              <a:round/>
            </a:ln>
            <a:effectLst/>
          </c:spPr>
          <c:marker>
            <c:symbol val="circle"/>
            <c:size val="6"/>
            <c:spPr>
              <a:solidFill>
                <a:schemeClr val="accent1"/>
              </a:solidFill>
              <a:ln>
                <a:noFill/>
              </a:ln>
              <a:effectLst/>
            </c:spPr>
          </c:marker>
          <c:cat>
            <c:strRef>
              <c:f>Feuil1!$A$2:$A$6</c:f>
              <c:strCache>
                <c:ptCount val="5"/>
                <c:pt idx="0">
                  <c:v>🎯 Intention </c:v>
                </c:pt>
                <c:pt idx="1">
                  <c:v>🔥Skills </c:v>
                </c:pt>
                <c:pt idx="2">
                  <c:v>👍 Current position &amp; recognition : </c:v>
                </c:pt>
                <c:pt idx="3">
                  <c:v>⌛Resources and capacity</c:v>
                </c:pt>
                <c:pt idx="4">
                  <c:v>🎖️Achievements </c:v>
                </c:pt>
              </c:strCache>
            </c:strRef>
          </c:cat>
          <c:val>
            <c:numRef>
              <c:f>Feuil1!$B$2:$B$6</c:f>
              <c:numCache>
                <c:formatCode>General</c:formatCode>
                <c:ptCount val="5"/>
                <c:pt idx="0">
                  <c:v>7</c:v>
                </c:pt>
                <c:pt idx="1">
                  <c:v>6</c:v>
                </c:pt>
                <c:pt idx="2">
                  <c:v>5</c:v>
                </c:pt>
                <c:pt idx="3">
                  <c:v>3</c:v>
                </c:pt>
                <c:pt idx="4">
                  <c:v>2</c:v>
                </c:pt>
              </c:numCache>
            </c:numRef>
          </c:val>
          <c:extLst>
            <c:ext xmlns:c16="http://schemas.microsoft.com/office/drawing/2014/chart" uri="{C3380CC4-5D6E-409C-BE32-E72D297353CC}">
              <c16:uniqueId val="{00000000-E4FC-43F5-B05A-1036EBBEF103}"/>
            </c:ext>
          </c:extLst>
        </c:ser>
        <c:dLbls>
          <c:showLegendKey val="0"/>
          <c:showVal val="0"/>
          <c:showCatName val="0"/>
          <c:showSerName val="0"/>
          <c:showPercent val="0"/>
          <c:showBubbleSize val="0"/>
        </c:dLbls>
        <c:axId val="2043942672"/>
        <c:axId val="2043944336"/>
      </c:radarChart>
      <c:catAx>
        <c:axId val="204394267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2043944336"/>
        <c:crosses val="autoZero"/>
        <c:auto val="1"/>
        <c:lblAlgn val="ctr"/>
        <c:lblOffset val="100"/>
        <c:noMultiLvlLbl val="0"/>
      </c:catAx>
      <c:valAx>
        <c:axId val="204394433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2043942672"/>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it-IT"/>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200" b="1" i="0" u="none" strike="noStrike" kern="1200" cap="all" spc="150" baseline="0">
                <a:solidFill>
                  <a:schemeClr val="tx1">
                    <a:lumMod val="50000"/>
                    <a:lumOff val="50000"/>
                  </a:schemeClr>
                </a:solidFill>
                <a:latin typeface="+mn-lt"/>
                <a:ea typeface="+mn-ea"/>
                <a:cs typeface="+mn-cs"/>
              </a:defRPr>
            </a:pPr>
            <a:r>
              <a:rPr lang="en-US"/>
              <a:t>Rick</a:t>
            </a:r>
          </a:p>
        </c:rich>
      </c:tx>
      <c:layout>
        <c:manualLayout>
          <c:xMode val="edge"/>
          <c:yMode val="edge"/>
          <c:x val="0.40587768909076211"/>
          <c:y val="5.4943475894863279E-2"/>
        </c:manualLayout>
      </c:layout>
      <c:overlay val="0"/>
      <c:spPr>
        <a:noFill/>
        <a:ln>
          <a:noFill/>
        </a:ln>
        <a:effectLst/>
      </c:spPr>
      <c:txPr>
        <a:bodyPr rot="0" spcFirstLastPara="1" vertOverflow="ellipsis" vert="horz" wrap="square" anchor="ctr" anchorCtr="1"/>
        <a:lstStyle/>
        <a:p>
          <a:pPr>
            <a:defRPr sz="2200" b="1" i="0" u="none" strike="noStrike" kern="1200" cap="all" spc="150" baseline="0">
              <a:solidFill>
                <a:schemeClr val="tx1">
                  <a:lumMod val="50000"/>
                  <a:lumOff val="50000"/>
                </a:schemeClr>
              </a:solidFill>
              <a:latin typeface="+mn-lt"/>
              <a:ea typeface="+mn-ea"/>
              <a:cs typeface="+mn-cs"/>
            </a:defRPr>
          </a:pPr>
          <a:endParaRPr lang="en-US"/>
        </a:p>
      </c:txPr>
    </c:title>
    <c:autoTitleDeleted val="0"/>
    <c:plotArea>
      <c:layout/>
      <c:radarChart>
        <c:radarStyle val="marker"/>
        <c:varyColors val="0"/>
        <c:ser>
          <c:idx val="0"/>
          <c:order val="0"/>
          <c:tx>
            <c:strRef>
              <c:f>Feuil1!$B$1</c:f>
              <c:strCache>
                <c:ptCount val="1"/>
                <c:pt idx="0">
                  <c:v>Série 1</c:v>
                </c:pt>
              </c:strCache>
            </c:strRef>
          </c:tx>
          <c:spPr>
            <a:ln w="25400" cap="rnd" cmpd="sng" algn="ctr">
              <a:solidFill>
                <a:schemeClr val="accent1"/>
              </a:solidFill>
              <a:prstDash val="sysDot"/>
              <a:round/>
            </a:ln>
            <a:effectLst/>
          </c:spPr>
          <c:marker>
            <c:symbol val="circle"/>
            <c:size val="6"/>
            <c:spPr>
              <a:solidFill>
                <a:schemeClr val="accent1"/>
              </a:solidFill>
              <a:ln>
                <a:noFill/>
              </a:ln>
              <a:effectLst/>
            </c:spPr>
          </c:marker>
          <c:cat>
            <c:strRef>
              <c:f>Feuil1!$A$2:$A$6</c:f>
              <c:strCache>
                <c:ptCount val="5"/>
                <c:pt idx="0">
                  <c:v>🎯 Intention </c:v>
                </c:pt>
                <c:pt idx="1">
                  <c:v>🔥Skills </c:v>
                </c:pt>
                <c:pt idx="2">
                  <c:v>👍 Current position &amp; recognition : </c:v>
                </c:pt>
                <c:pt idx="3">
                  <c:v>⌛Resources and capacity</c:v>
                </c:pt>
                <c:pt idx="4">
                  <c:v>🎖️Achievements </c:v>
                </c:pt>
              </c:strCache>
            </c:strRef>
          </c:cat>
          <c:val>
            <c:numRef>
              <c:f>Feuil1!$B$2:$B$6</c:f>
              <c:numCache>
                <c:formatCode>General</c:formatCode>
                <c:ptCount val="5"/>
                <c:pt idx="0">
                  <c:v>7</c:v>
                </c:pt>
                <c:pt idx="1">
                  <c:v>6</c:v>
                </c:pt>
                <c:pt idx="2">
                  <c:v>5</c:v>
                </c:pt>
                <c:pt idx="3">
                  <c:v>3</c:v>
                </c:pt>
                <c:pt idx="4">
                  <c:v>2</c:v>
                </c:pt>
              </c:numCache>
            </c:numRef>
          </c:val>
          <c:extLst>
            <c:ext xmlns:c16="http://schemas.microsoft.com/office/drawing/2014/chart" uri="{C3380CC4-5D6E-409C-BE32-E72D297353CC}">
              <c16:uniqueId val="{00000000-0F15-4772-B65E-A9FE3725DF64}"/>
            </c:ext>
          </c:extLst>
        </c:ser>
        <c:dLbls>
          <c:showLegendKey val="0"/>
          <c:showVal val="0"/>
          <c:showCatName val="0"/>
          <c:showSerName val="0"/>
          <c:showPercent val="0"/>
          <c:showBubbleSize val="0"/>
        </c:dLbls>
        <c:axId val="2043942672"/>
        <c:axId val="2043944336"/>
      </c:radarChart>
      <c:catAx>
        <c:axId val="204394267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2043944336"/>
        <c:crosses val="autoZero"/>
        <c:auto val="1"/>
        <c:lblAlgn val="ctr"/>
        <c:lblOffset val="100"/>
        <c:noMultiLvlLbl val="0"/>
      </c:catAx>
      <c:valAx>
        <c:axId val="204394433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2043942672"/>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it-IT"/>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200" b="1" i="0" u="none" strike="noStrike" kern="1200" cap="all" spc="150" baseline="0">
                <a:solidFill>
                  <a:schemeClr val="tx1">
                    <a:lumMod val="50000"/>
                    <a:lumOff val="50000"/>
                  </a:schemeClr>
                </a:solidFill>
                <a:latin typeface="+mn-lt"/>
                <a:ea typeface="+mn-ea"/>
                <a:cs typeface="+mn-cs"/>
              </a:defRPr>
            </a:pPr>
            <a:r>
              <a:rPr lang="en-US"/>
              <a:t>Donna</a:t>
            </a:r>
          </a:p>
        </c:rich>
      </c:tx>
      <c:layout>
        <c:manualLayout>
          <c:xMode val="edge"/>
          <c:yMode val="edge"/>
          <c:x val="0.40587768909076211"/>
          <c:y val="5.4943475894863279E-2"/>
        </c:manualLayout>
      </c:layout>
      <c:overlay val="0"/>
      <c:spPr>
        <a:noFill/>
        <a:ln>
          <a:noFill/>
        </a:ln>
        <a:effectLst/>
      </c:spPr>
      <c:txPr>
        <a:bodyPr rot="0" spcFirstLastPara="1" vertOverflow="ellipsis" vert="horz" wrap="square" anchor="ctr" anchorCtr="1"/>
        <a:lstStyle/>
        <a:p>
          <a:pPr>
            <a:defRPr sz="2200" b="1" i="0" u="none" strike="noStrike" kern="1200" cap="all" spc="150" baseline="0">
              <a:solidFill>
                <a:schemeClr val="tx1">
                  <a:lumMod val="50000"/>
                  <a:lumOff val="50000"/>
                </a:schemeClr>
              </a:solidFill>
              <a:latin typeface="+mn-lt"/>
              <a:ea typeface="+mn-ea"/>
              <a:cs typeface="+mn-cs"/>
            </a:defRPr>
          </a:pPr>
          <a:endParaRPr lang="en-US"/>
        </a:p>
      </c:txPr>
    </c:title>
    <c:autoTitleDeleted val="0"/>
    <c:plotArea>
      <c:layout/>
      <c:radarChart>
        <c:radarStyle val="marker"/>
        <c:varyColors val="0"/>
        <c:ser>
          <c:idx val="0"/>
          <c:order val="0"/>
          <c:tx>
            <c:strRef>
              <c:f>Feuil1!$B$1</c:f>
              <c:strCache>
                <c:ptCount val="1"/>
                <c:pt idx="0">
                  <c:v>Série 1</c:v>
                </c:pt>
              </c:strCache>
            </c:strRef>
          </c:tx>
          <c:spPr>
            <a:ln w="25400" cap="rnd" cmpd="sng" algn="ctr">
              <a:solidFill>
                <a:schemeClr val="accent1"/>
              </a:solidFill>
              <a:prstDash val="sysDot"/>
              <a:round/>
            </a:ln>
            <a:effectLst/>
          </c:spPr>
          <c:marker>
            <c:symbol val="circle"/>
            <c:size val="6"/>
            <c:spPr>
              <a:solidFill>
                <a:schemeClr val="accent1"/>
              </a:solidFill>
              <a:ln>
                <a:noFill/>
              </a:ln>
              <a:effectLst/>
            </c:spPr>
          </c:marker>
          <c:cat>
            <c:strRef>
              <c:f>Feuil1!$A$2:$A$6</c:f>
              <c:strCache>
                <c:ptCount val="5"/>
                <c:pt idx="0">
                  <c:v>🎯 Intention </c:v>
                </c:pt>
                <c:pt idx="1">
                  <c:v>🔥Skills </c:v>
                </c:pt>
                <c:pt idx="2">
                  <c:v>👍 Current position &amp; recognition : </c:v>
                </c:pt>
                <c:pt idx="3">
                  <c:v>⌛Resources and capacity</c:v>
                </c:pt>
                <c:pt idx="4">
                  <c:v>🎖️Achievements </c:v>
                </c:pt>
              </c:strCache>
            </c:strRef>
          </c:cat>
          <c:val>
            <c:numRef>
              <c:f>Feuil1!$B$2:$B$6</c:f>
              <c:numCache>
                <c:formatCode>General</c:formatCode>
                <c:ptCount val="5"/>
                <c:pt idx="0">
                  <c:v>7</c:v>
                </c:pt>
                <c:pt idx="1">
                  <c:v>2</c:v>
                </c:pt>
                <c:pt idx="2">
                  <c:v>1</c:v>
                </c:pt>
                <c:pt idx="3">
                  <c:v>6</c:v>
                </c:pt>
                <c:pt idx="4">
                  <c:v>4</c:v>
                </c:pt>
              </c:numCache>
            </c:numRef>
          </c:val>
          <c:extLst>
            <c:ext xmlns:c16="http://schemas.microsoft.com/office/drawing/2014/chart" uri="{C3380CC4-5D6E-409C-BE32-E72D297353CC}">
              <c16:uniqueId val="{00000000-0F15-4772-B65E-A9FE3725DF64}"/>
            </c:ext>
          </c:extLst>
        </c:ser>
        <c:dLbls>
          <c:showLegendKey val="0"/>
          <c:showVal val="0"/>
          <c:showCatName val="0"/>
          <c:showSerName val="0"/>
          <c:showPercent val="0"/>
          <c:showBubbleSize val="0"/>
        </c:dLbls>
        <c:axId val="2043942672"/>
        <c:axId val="2043944336"/>
      </c:radarChart>
      <c:catAx>
        <c:axId val="204394267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2043944336"/>
        <c:crosses val="autoZero"/>
        <c:auto val="1"/>
        <c:lblAlgn val="ctr"/>
        <c:lblOffset val="100"/>
        <c:noMultiLvlLbl val="0"/>
      </c:catAx>
      <c:valAx>
        <c:axId val="204394433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2043942672"/>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18">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styleClr val="auto"/>
    </cs:lnRef>
    <cs:fillRef idx="0">
      <cs:styleClr val="auto"/>
    </cs:fillRef>
    <cs:effectRef idx="0"/>
    <cs:fontRef idx="minor">
      <a:schemeClr val="tx1"/>
    </cs:fontRef>
    <cs:spPr>
      <a:solidFill>
        <a:schemeClr val="phClr">
          <a:alpha val="50196"/>
        </a:schemeClr>
      </a:solidFill>
      <a:ln w="25400">
        <a:solidFill>
          <a:schemeClr val="phClr"/>
        </a:solidFill>
        <a:prstDash val="sysDot"/>
      </a:ln>
    </cs:spPr>
  </cs:dataPoint>
  <cs:dataPoint3D>
    <cs:lnRef idx="0">
      <cs:styleClr val="auto"/>
    </cs:lnRef>
    <cs:fillRef idx="0">
      <cs:styleClr val="auto"/>
    </cs:fillRef>
    <cs:effectRef idx="0"/>
    <cs:fontRef idx="minor">
      <a:schemeClr val="tx1"/>
    </cs:fontRef>
    <cs:spPr>
      <a:solidFill>
        <a:schemeClr val="phClr">
          <a:alpha val="50196"/>
        </a:schemeClr>
      </a:solidFill>
      <a:ln w="25400">
        <a:solidFill>
          <a:schemeClr val="phClr"/>
        </a:solidFill>
        <a:prstDash val="sysDot"/>
      </a:ln>
    </cs:spPr>
  </cs:dataPoint3D>
  <cs:dataPointLine>
    <cs:lnRef idx="0">
      <cs:styleClr val="auto"/>
    </cs:lnRef>
    <cs:fillRef idx="0"/>
    <cs:effectRef idx="0"/>
    <cs:fontRef idx="minor">
      <a:schemeClr val="tx1"/>
    </cs:fontRef>
    <cs:spPr>
      <a:ln w="25400" cap="rnd" cmpd="sng" algn="ctr">
        <a:solidFill>
          <a:schemeClr val="phClr"/>
        </a:solidFill>
        <a:prstDash val="sysDot"/>
        <a:round/>
      </a:ln>
    </cs:spPr>
  </cs:dataPointLine>
  <cs:dataPointMarker>
    <cs:lnRef idx="0">
      <cs:styleClr val="auto"/>
    </cs:lnRef>
    <cs:fillRef idx="0">
      <cs:styleClr val="auto"/>
    </cs:fillRef>
    <cs:effectRef idx="0"/>
    <cs:fontRef idx="minor">
      <a:schemeClr val="tx1"/>
    </cs:fontRef>
    <cs:spPr>
      <a:solidFill>
        <a:schemeClr val="phClr"/>
      </a:solidFill>
    </cs:spPr>
  </cs:dataPointMarker>
  <cs:dataPointMarkerLayout symbol="circle" size="6"/>
  <cs:dataPointWireframe>
    <cs:lnRef idx="0">
      <cs:styleClr val="auto"/>
    </cs:lnRef>
    <cs:fillRef idx="2"/>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35000"/>
            <a:lumOff val="65000"/>
          </a:schemeClr>
        </a:solidFill>
        <a:prstDash val="dash"/>
      </a:ln>
    </cs:spPr>
  </cs:dropLine>
  <cs:errorBar>
    <cs:lnRef idx="0"/>
    <cs:fillRef idx="0"/>
    <cs:effectRef idx="0"/>
    <cs:fontRef idx="minor">
      <a:schemeClr val="dk1"/>
    </cs:fontRef>
    <cs:spPr>
      <a:ln w="9525">
        <a:solidFill>
          <a:schemeClr val="tx1">
            <a:lumMod val="50000"/>
            <a:lumOff val="50000"/>
          </a:schemeClr>
        </a:solidFill>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prstDash val="dash"/>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dk1"/>
    </cs:fontRef>
    <cs:spPr>
      <a:ln w="9525">
        <a:solidFill>
          <a:schemeClr val="tx1">
            <a:lumMod val="35000"/>
            <a:lumOff val="65000"/>
          </a:schemeClr>
        </a:solidFill>
        <a:prstDash val="dash"/>
      </a:ln>
    </cs:spPr>
  </cs:seriesLine>
  <cs:title>
    <cs:lnRef idx="0"/>
    <cs:fillRef idx="0"/>
    <cs:effectRef idx="0"/>
    <cs:fontRef idx="minor">
      <a:schemeClr val="tx1">
        <a:lumMod val="50000"/>
        <a:lumOff val="50000"/>
      </a:schemeClr>
    </cs:fontRef>
    <cs:defRPr sz="2200" b="1" kern="1200" cap="all" spc="150" baseline="0"/>
  </cs:title>
  <cs:trendline>
    <cs:lnRef idx="0">
      <cs:styleClr val="auto"/>
    </cs:lnRef>
    <cs:fillRef idx="2"/>
    <cs:effectRef idx="0"/>
    <cs:fontRef idx="minor">
      <a:schemeClr val="dk1"/>
    </cs:fontRef>
    <cs:spPr>
      <a:ln w="9525"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dk1"/>
    </cs:fontRef>
  </cs:wall>
</cs:chartStyle>
</file>

<file path=ppt/charts/style2.xml><?xml version="1.0" encoding="utf-8"?>
<cs:chartStyle xmlns:cs="http://schemas.microsoft.com/office/drawing/2012/chartStyle" xmlns:a="http://schemas.openxmlformats.org/drawingml/2006/main" id="318">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styleClr val="auto"/>
    </cs:lnRef>
    <cs:fillRef idx="0">
      <cs:styleClr val="auto"/>
    </cs:fillRef>
    <cs:effectRef idx="0"/>
    <cs:fontRef idx="minor">
      <a:schemeClr val="tx1"/>
    </cs:fontRef>
    <cs:spPr>
      <a:solidFill>
        <a:schemeClr val="phClr">
          <a:alpha val="50196"/>
        </a:schemeClr>
      </a:solidFill>
      <a:ln w="25400">
        <a:solidFill>
          <a:schemeClr val="phClr"/>
        </a:solidFill>
        <a:prstDash val="sysDot"/>
      </a:ln>
    </cs:spPr>
  </cs:dataPoint>
  <cs:dataPoint3D>
    <cs:lnRef idx="0">
      <cs:styleClr val="auto"/>
    </cs:lnRef>
    <cs:fillRef idx="0">
      <cs:styleClr val="auto"/>
    </cs:fillRef>
    <cs:effectRef idx="0"/>
    <cs:fontRef idx="minor">
      <a:schemeClr val="tx1"/>
    </cs:fontRef>
    <cs:spPr>
      <a:solidFill>
        <a:schemeClr val="phClr">
          <a:alpha val="50196"/>
        </a:schemeClr>
      </a:solidFill>
      <a:ln w="25400">
        <a:solidFill>
          <a:schemeClr val="phClr"/>
        </a:solidFill>
        <a:prstDash val="sysDot"/>
      </a:ln>
    </cs:spPr>
  </cs:dataPoint3D>
  <cs:dataPointLine>
    <cs:lnRef idx="0">
      <cs:styleClr val="auto"/>
    </cs:lnRef>
    <cs:fillRef idx="0"/>
    <cs:effectRef idx="0"/>
    <cs:fontRef idx="minor">
      <a:schemeClr val="tx1"/>
    </cs:fontRef>
    <cs:spPr>
      <a:ln w="25400" cap="rnd" cmpd="sng" algn="ctr">
        <a:solidFill>
          <a:schemeClr val="phClr"/>
        </a:solidFill>
        <a:prstDash val="sysDot"/>
        <a:round/>
      </a:ln>
    </cs:spPr>
  </cs:dataPointLine>
  <cs:dataPointMarker>
    <cs:lnRef idx="0">
      <cs:styleClr val="auto"/>
    </cs:lnRef>
    <cs:fillRef idx="0">
      <cs:styleClr val="auto"/>
    </cs:fillRef>
    <cs:effectRef idx="0"/>
    <cs:fontRef idx="minor">
      <a:schemeClr val="tx1"/>
    </cs:fontRef>
    <cs:spPr>
      <a:solidFill>
        <a:schemeClr val="phClr"/>
      </a:solidFill>
    </cs:spPr>
  </cs:dataPointMarker>
  <cs:dataPointMarkerLayout symbol="circle" size="6"/>
  <cs:dataPointWireframe>
    <cs:lnRef idx="0">
      <cs:styleClr val="auto"/>
    </cs:lnRef>
    <cs:fillRef idx="2"/>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35000"/>
            <a:lumOff val="65000"/>
          </a:schemeClr>
        </a:solidFill>
        <a:prstDash val="dash"/>
      </a:ln>
    </cs:spPr>
  </cs:dropLine>
  <cs:errorBar>
    <cs:lnRef idx="0"/>
    <cs:fillRef idx="0"/>
    <cs:effectRef idx="0"/>
    <cs:fontRef idx="minor">
      <a:schemeClr val="dk1"/>
    </cs:fontRef>
    <cs:spPr>
      <a:ln w="9525">
        <a:solidFill>
          <a:schemeClr val="tx1">
            <a:lumMod val="50000"/>
            <a:lumOff val="50000"/>
          </a:schemeClr>
        </a:solidFill>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prstDash val="dash"/>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dk1"/>
    </cs:fontRef>
    <cs:spPr>
      <a:ln w="9525">
        <a:solidFill>
          <a:schemeClr val="tx1">
            <a:lumMod val="35000"/>
            <a:lumOff val="65000"/>
          </a:schemeClr>
        </a:solidFill>
        <a:prstDash val="dash"/>
      </a:ln>
    </cs:spPr>
  </cs:seriesLine>
  <cs:title>
    <cs:lnRef idx="0"/>
    <cs:fillRef idx="0"/>
    <cs:effectRef idx="0"/>
    <cs:fontRef idx="minor">
      <a:schemeClr val="tx1">
        <a:lumMod val="50000"/>
        <a:lumOff val="50000"/>
      </a:schemeClr>
    </cs:fontRef>
    <cs:defRPr sz="2200" b="1" kern="1200" cap="all" spc="150" baseline="0"/>
  </cs:title>
  <cs:trendline>
    <cs:lnRef idx="0">
      <cs:styleClr val="auto"/>
    </cs:lnRef>
    <cs:fillRef idx="2"/>
    <cs:effectRef idx="0"/>
    <cs:fontRef idx="minor">
      <a:schemeClr val="dk1"/>
    </cs:fontRef>
    <cs:spPr>
      <a:ln w="9525"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dk1"/>
    </cs:fontRef>
  </cs:wall>
</cs:chartStyle>
</file>

<file path=ppt/charts/style3.xml><?xml version="1.0" encoding="utf-8"?>
<cs:chartStyle xmlns:cs="http://schemas.microsoft.com/office/drawing/2012/chartStyle" xmlns:a="http://schemas.openxmlformats.org/drawingml/2006/main" id="318">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styleClr val="auto"/>
    </cs:lnRef>
    <cs:fillRef idx="0">
      <cs:styleClr val="auto"/>
    </cs:fillRef>
    <cs:effectRef idx="0"/>
    <cs:fontRef idx="minor">
      <a:schemeClr val="tx1"/>
    </cs:fontRef>
    <cs:spPr>
      <a:solidFill>
        <a:schemeClr val="phClr">
          <a:alpha val="50196"/>
        </a:schemeClr>
      </a:solidFill>
      <a:ln w="25400">
        <a:solidFill>
          <a:schemeClr val="phClr"/>
        </a:solidFill>
        <a:prstDash val="sysDot"/>
      </a:ln>
    </cs:spPr>
  </cs:dataPoint>
  <cs:dataPoint3D>
    <cs:lnRef idx="0">
      <cs:styleClr val="auto"/>
    </cs:lnRef>
    <cs:fillRef idx="0">
      <cs:styleClr val="auto"/>
    </cs:fillRef>
    <cs:effectRef idx="0"/>
    <cs:fontRef idx="minor">
      <a:schemeClr val="tx1"/>
    </cs:fontRef>
    <cs:spPr>
      <a:solidFill>
        <a:schemeClr val="phClr">
          <a:alpha val="50196"/>
        </a:schemeClr>
      </a:solidFill>
      <a:ln w="25400">
        <a:solidFill>
          <a:schemeClr val="phClr"/>
        </a:solidFill>
        <a:prstDash val="sysDot"/>
      </a:ln>
    </cs:spPr>
  </cs:dataPoint3D>
  <cs:dataPointLine>
    <cs:lnRef idx="0">
      <cs:styleClr val="auto"/>
    </cs:lnRef>
    <cs:fillRef idx="0"/>
    <cs:effectRef idx="0"/>
    <cs:fontRef idx="minor">
      <a:schemeClr val="tx1"/>
    </cs:fontRef>
    <cs:spPr>
      <a:ln w="25400" cap="rnd" cmpd="sng" algn="ctr">
        <a:solidFill>
          <a:schemeClr val="phClr"/>
        </a:solidFill>
        <a:prstDash val="sysDot"/>
        <a:round/>
      </a:ln>
    </cs:spPr>
  </cs:dataPointLine>
  <cs:dataPointMarker>
    <cs:lnRef idx="0">
      <cs:styleClr val="auto"/>
    </cs:lnRef>
    <cs:fillRef idx="0">
      <cs:styleClr val="auto"/>
    </cs:fillRef>
    <cs:effectRef idx="0"/>
    <cs:fontRef idx="minor">
      <a:schemeClr val="tx1"/>
    </cs:fontRef>
    <cs:spPr>
      <a:solidFill>
        <a:schemeClr val="phClr"/>
      </a:solidFill>
    </cs:spPr>
  </cs:dataPointMarker>
  <cs:dataPointMarkerLayout symbol="circle" size="6"/>
  <cs:dataPointWireframe>
    <cs:lnRef idx="0">
      <cs:styleClr val="auto"/>
    </cs:lnRef>
    <cs:fillRef idx="2"/>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35000"/>
            <a:lumOff val="65000"/>
          </a:schemeClr>
        </a:solidFill>
        <a:prstDash val="dash"/>
      </a:ln>
    </cs:spPr>
  </cs:dropLine>
  <cs:errorBar>
    <cs:lnRef idx="0"/>
    <cs:fillRef idx="0"/>
    <cs:effectRef idx="0"/>
    <cs:fontRef idx="minor">
      <a:schemeClr val="dk1"/>
    </cs:fontRef>
    <cs:spPr>
      <a:ln w="9525">
        <a:solidFill>
          <a:schemeClr val="tx1">
            <a:lumMod val="50000"/>
            <a:lumOff val="50000"/>
          </a:schemeClr>
        </a:solidFill>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prstDash val="dash"/>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dk1"/>
    </cs:fontRef>
    <cs:spPr>
      <a:ln w="9525">
        <a:solidFill>
          <a:schemeClr val="tx1">
            <a:lumMod val="35000"/>
            <a:lumOff val="65000"/>
          </a:schemeClr>
        </a:solidFill>
        <a:prstDash val="dash"/>
      </a:ln>
    </cs:spPr>
  </cs:seriesLine>
  <cs:title>
    <cs:lnRef idx="0"/>
    <cs:fillRef idx="0"/>
    <cs:effectRef idx="0"/>
    <cs:fontRef idx="minor">
      <a:schemeClr val="tx1">
        <a:lumMod val="50000"/>
        <a:lumOff val="50000"/>
      </a:schemeClr>
    </cs:fontRef>
    <cs:defRPr sz="2200" b="1" kern="1200" cap="all" spc="150" baseline="0"/>
  </cs:title>
  <cs:trendline>
    <cs:lnRef idx="0">
      <cs:styleClr val="auto"/>
    </cs:lnRef>
    <cs:fillRef idx="2"/>
    <cs:effectRef idx="0"/>
    <cs:fontRef idx="minor">
      <a:schemeClr val="dk1"/>
    </cs:fontRef>
    <cs:spPr>
      <a:ln w="9525"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dk1"/>
    </cs:fontRef>
  </cs:wall>
</cs:chartStyle>
</file>

<file path=ppt/charts/style4.xml><?xml version="1.0" encoding="utf-8"?>
<cs:chartStyle xmlns:cs="http://schemas.microsoft.com/office/drawing/2012/chartStyle" xmlns:a="http://schemas.openxmlformats.org/drawingml/2006/main" id="318">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styleClr val="auto"/>
    </cs:lnRef>
    <cs:fillRef idx="0">
      <cs:styleClr val="auto"/>
    </cs:fillRef>
    <cs:effectRef idx="0"/>
    <cs:fontRef idx="minor">
      <a:schemeClr val="tx1"/>
    </cs:fontRef>
    <cs:spPr>
      <a:solidFill>
        <a:schemeClr val="phClr">
          <a:alpha val="50196"/>
        </a:schemeClr>
      </a:solidFill>
      <a:ln w="25400">
        <a:solidFill>
          <a:schemeClr val="phClr"/>
        </a:solidFill>
        <a:prstDash val="sysDot"/>
      </a:ln>
    </cs:spPr>
  </cs:dataPoint>
  <cs:dataPoint3D>
    <cs:lnRef idx="0">
      <cs:styleClr val="auto"/>
    </cs:lnRef>
    <cs:fillRef idx="0">
      <cs:styleClr val="auto"/>
    </cs:fillRef>
    <cs:effectRef idx="0"/>
    <cs:fontRef idx="minor">
      <a:schemeClr val="tx1"/>
    </cs:fontRef>
    <cs:spPr>
      <a:solidFill>
        <a:schemeClr val="phClr">
          <a:alpha val="50196"/>
        </a:schemeClr>
      </a:solidFill>
      <a:ln w="25400">
        <a:solidFill>
          <a:schemeClr val="phClr"/>
        </a:solidFill>
        <a:prstDash val="sysDot"/>
      </a:ln>
    </cs:spPr>
  </cs:dataPoint3D>
  <cs:dataPointLine>
    <cs:lnRef idx="0">
      <cs:styleClr val="auto"/>
    </cs:lnRef>
    <cs:fillRef idx="0"/>
    <cs:effectRef idx="0"/>
    <cs:fontRef idx="minor">
      <a:schemeClr val="tx1"/>
    </cs:fontRef>
    <cs:spPr>
      <a:ln w="25400" cap="rnd" cmpd="sng" algn="ctr">
        <a:solidFill>
          <a:schemeClr val="phClr"/>
        </a:solidFill>
        <a:prstDash val="sysDot"/>
        <a:round/>
      </a:ln>
    </cs:spPr>
  </cs:dataPointLine>
  <cs:dataPointMarker>
    <cs:lnRef idx="0">
      <cs:styleClr val="auto"/>
    </cs:lnRef>
    <cs:fillRef idx="0">
      <cs:styleClr val="auto"/>
    </cs:fillRef>
    <cs:effectRef idx="0"/>
    <cs:fontRef idx="minor">
      <a:schemeClr val="tx1"/>
    </cs:fontRef>
    <cs:spPr>
      <a:solidFill>
        <a:schemeClr val="phClr"/>
      </a:solidFill>
    </cs:spPr>
  </cs:dataPointMarker>
  <cs:dataPointMarkerLayout symbol="circle" size="6"/>
  <cs:dataPointWireframe>
    <cs:lnRef idx="0">
      <cs:styleClr val="auto"/>
    </cs:lnRef>
    <cs:fillRef idx="2"/>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35000"/>
            <a:lumOff val="65000"/>
          </a:schemeClr>
        </a:solidFill>
        <a:prstDash val="dash"/>
      </a:ln>
    </cs:spPr>
  </cs:dropLine>
  <cs:errorBar>
    <cs:lnRef idx="0"/>
    <cs:fillRef idx="0"/>
    <cs:effectRef idx="0"/>
    <cs:fontRef idx="minor">
      <a:schemeClr val="dk1"/>
    </cs:fontRef>
    <cs:spPr>
      <a:ln w="9525">
        <a:solidFill>
          <a:schemeClr val="tx1">
            <a:lumMod val="50000"/>
            <a:lumOff val="50000"/>
          </a:schemeClr>
        </a:solidFill>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prstDash val="dash"/>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dk1"/>
    </cs:fontRef>
    <cs:spPr>
      <a:ln w="9525">
        <a:solidFill>
          <a:schemeClr val="tx1">
            <a:lumMod val="35000"/>
            <a:lumOff val="65000"/>
          </a:schemeClr>
        </a:solidFill>
        <a:prstDash val="dash"/>
      </a:ln>
    </cs:spPr>
  </cs:seriesLine>
  <cs:title>
    <cs:lnRef idx="0"/>
    <cs:fillRef idx="0"/>
    <cs:effectRef idx="0"/>
    <cs:fontRef idx="minor">
      <a:schemeClr val="tx1">
        <a:lumMod val="50000"/>
        <a:lumOff val="50000"/>
      </a:schemeClr>
    </cs:fontRef>
    <cs:defRPr sz="2200" b="1" kern="1200" cap="all" spc="150" baseline="0"/>
  </cs:title>
  <cs:trendline>
    <cs:lnRef idx="0">
      <cs:styleClr val="auto"/>
    </cs:lnRef>
    <cs:fillRef idx="2"/>
    <cs:effectRef idx="0"/>
    <cs:fontRef idx="minor">
      <a:schemeClr val="dk1"/>
    </cs:fontRef>
    <cs:spPr>
      <a:ln w="9525"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dk1"/>
    </cs:fontRef>
  </cs:wall>
</cs:chartStyle>
</file>

<file path=ppt/charts/style5.xml><?xml version="1.0" encoding="utf-8"?>
<cs:chartStyle xmlns:cs="http://schemas.microsoft.com/office/drawing/2012/chartStyle" xmlns:a="http://schemas.openxmlformats.org/drawingml/2006/main" id="318">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styleClr val="auto"/>
    </cs:lnRef>
    <cs:fillRef idx="0">
      <cs:styleClr val="auto"/>
    </cs:fillRef>
    <cs:effectRef idx="0"/>
    <cs:fontRef idx="minor">
      <a:schemeClr val="tx1"/>
    </cs:fontRef>
    <cs:spPr>
      <a:solidFill>
        <a:schemeClr val="phClr">
          <a:alpha val="50196"/>
        </a:schemeClr>
      </a:solidFill>
      <a:ln w="25400">
        <a:solidFill>
          <a:schemeClr val="phClr"/>
        </a:solidFill>
        <a:prstDash val="sysDot"/>
      </a:ln>
    </cs:spPr>
  </cs:dataPoint>
  <cs:dataPoint3D>
    <cs:lnRef idx="0">
      <cs:styleClr val="auto"/>
    </cs:lnRef>
    <cs:fillRef idx="0">
      <cs:styleClr val="auto"/>
    </cs:fillRef>
    <cs:effectRef idx="0"/>
    <cs:fontRef idx="minor">
      <a:schemeClr val="tx1"/>
    </cs:fontRef>
    <cs:spPr>
      <a:solidFill>
        <a:schemeClr val="phClr">
          <a:alpha val="50196"/>
        </a:schemeClr>
      </a:solidFill>
      <a:ln w="25400">
        <a:solidFill>
          <a:schemeClr val="phClr"/>
        </a:solidFill>
        <a:prstDash val="sysDot"/>
      </a:ln>
    </cs:spPr>
  </cs:dataPoint3D>
  <cs:dataPointLine>
    <cs:lnRef idx="0">
      <cs:styleClr val="auto"/>
    </cs:lnRef>
    <cs:fillRef idx="0"/>
    <cs:effectRef idx="0"/>
    <cs:fontRef idx="minor">
      <a:schemeClr val="tx1"/>
    </cs:fontRef>
    <cs:spPr>
      <a:ln w="25400" cap="rnd" cmpd="sng" algn="ctr">
        <a:solidFill>
          <a:schemeClr val="phClr"/>
        </a:solidFill>
        <a:prstDash val="sysDot"/>
        <a:round/>
      </a:ln>
    </cs:spPr>
  </cs:dataPointLine>
  <cs:dataPointMarker>
    <cs:lnRef idx="0">
      <cs:styleClr val="auto"/>
    </cs:lnRef>
    <cs:fillRef idx="0">
      <cs:styleClr val="auto"/>
    </cs:fillRef>
    <cs:effectRef idx="0"/>
    <cs:fontRef idx="minor">
      <a:schemeClr val="tx1"/>
    </cs:fontRef>
    <cs:spPr>
      <a:solidFill>
        <a:schemeClr val="phClr"/>
      </a:solidFill>
    </cs:spPr>
  </cs:dataPointMarker>
  <cs:dataPointMarkerLayout symbol="circle" size="6"/>
  <cs:dataPointWireframe>
    <cs:lnRef idx="0">
      <cs:styleClr val="auto"/>
    </cs:lnRef>
    <cs:fillRef idx="2"/>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35000"/>
            <a:lumOff val="65000"/>
          </a:schemeClr>
        </a:solidFill>
        <a:prstDash val="dash"/>
      </a:ln>
    </cs:spPr>
  </cs:dropLine>
  <cs:errorBar>
    <cs:lnRef idx="0"/>
    <cs:fillRef idx="0"/>
    <cs:effectRef idx="0"/>
    <cs:fontRef idx="minor">
      <a:schemeClr val="dk1"/>
    </cs:fontRef>
    <cs:spPr>
      <a:ln w="9525">
        <a:solidFill>
          <a:schemeClr val="tx1">
            <a:lumMod val="50000"/>
            <a:lumOff val="50000"/>
          </a:schemeClr>
        </a:solidFill>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prstDash val="dash"/>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dk1"/>
    </cs:fontRef>
    <cs:spPr>
      <a:ln w="9525">
        <a:solidFill>
          <a:schemeClr val="tx1">
            <a:lumMod val="35000"/>
            <a:lumOff val="65000"/>
          </a:schemeClr>
        </a:solidFill>
        <a:prstDash val="dash"/>
      </a:ln>
    </cs:spPr>
  </cs:seriesLine>
  <cs:title>
    <cs:lnRef idx="0"/>
    <cs:fillRef idx="0"/>
    <cs:effectRef idx="0"/>
    <cs:fontRef idx="minor">
      <a:schemeClr val="tx1">
        <a:lumMod val="50000"/>
        <a:lumOff val="50000"/>
      </a:schemeClr>
    </cs:fontRef>
    <cs:defRPr sz="2200" b="1" kern="1200" cap="all" spc="150" baseline="0"/>
  </cs:title>
  <cs:trendline>
    <cs:lnRef idx="0">
      <cs:styleClr val="auto"/>
    </cs:lnRef>
    <cs:fillRef idx="2"/>
    <cs:effectRef idx="0"/>
    <cs:fontRef idx="minor">
      <a:schemeClr val="dk1"/>
    </cs:fontRef>
    <cs:spPr>
      <a:ln w="9525"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dk1"/>
    </cs:fontRef>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4D226AC-8069-465F-BE35-AC5AC6A5824B}" type="datetimeFigureOut">
              <a:rPr lang="fr-FR" smtClean="0"/>
              <a:t>05/12/2023</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0F5F71A-6683-4344-8A86-B72493AD35FC}" type="slidenum">
              <a:rPr lang="fr-FR" smtClean="0"/>
              <a:t>‹N›</a:t>
            </a:fld>
            <a:endParaRPr lang="fr-FR"/>
          </a:p>
        </p:txBody>
      </p:sp>
    </p:spTree>
    <p:extLst>
      <p:ext uri="{BB962C8B-B14F-4D97-AF65-F5344CB8AC3E}">
        <p14:creationId xmlns:p14="http://schemas.microsoft.com/office/powerpoint/2010/main" val="7284272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B8136-4330-4480-80D9-0F6FD970617C}"/>
              </a:ext>
            </a:extLst>
          </p:cNvPr>
          <p:cNvSpPr>
            <a:spLocks noGrp="1"/>
          </p:cNvSpPr>
          <p:nvPr>
            <p:ph type="ctrTitle"/>
          </p:nvPr>
        </p:nvSpPr>
        <p:spPr>
          <a:xfrm>
            <a:off x="576072" y="1124712"/>
            <a:ext cx="11036808" cy="3172968"/>
          </a:xfrm>
        </p:spPr>
        <p:txBody>
          <a:bodyPr anchor="b">
            <a:normAutofit/>
          </a:bodyPr>
          <a:lstStyle>
            <a:lvl1pPr algn="l">
              <a:defRPr sz="8000"/>
            </a:lvl1pPr>
          </a:lstStyle>
          <a:p>
            <a:r>
              <a:rPr lang="en-US"/>
              <a:t>Click to edit Master title style</a:t>
            </a:r>
          </a:p>
        </p:txBody>
      </p:sp>
      <p:sp>
        <p:nvSpPr>
          <p:cNvPr id="3" name="Subtitle 2">
            <a:extLst>
              <a:ext uri="{FF2B5EF4-FFF2-40B4-BE49-F238E27FC236}">
                <a16:creationId xmlns:a16="http://schemas.microsoft.com/office/drawing/2014/main" id="{566E5739-DD96-45FB-B609-3E3447A52FED}"/>
              </a:ext>
            </a:extLst>
          </p:cNvPr>
          <p:cNvSpPr>
            <a:spLocks noGrp="1"/>
          </p:cNvSpPr>
          <p:nvPr>
            <p:ph type="subTitle" idx="1"/>
          </p:nvPr>
        </p:nvSpPr>
        <p:spPr>
          <a:xfrm>
            <a:off x="576072" y="4727448"/>
            <a:ext cx="11036808" cy="1481328"/>
          </a:xfrm>
        </p:spPr>
        <p:txBody>
          <a:bodyPr>
            <a:normAutofit/>
          </a:bodyPr>
          <a:lstStyle>
            <a:lvl1pPr marL="0" indent="0" algn="l">
              <a:buNone/>
              <a:defRPr sz="2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B9FF558-51F9-42A2-9944-DBE23DA8B224}"/>
              </a:ext>
            </a:extLst>
          </p:cNvPr>
          <p:cNvSpPr>
            <a:spLocks noGrp="1"/>
          </p:cNvSpPr>
          <p:nvPr>
            <p:ph type="dt" sz="half" idx="10"/>
          </p:nvPr>
        </p:nvSpPr>
        <p:spPr>
          <a:xfrm>
            <a:off x="576072" y="6356350"/>
            <a:ext cx="2743200" cy="365125"/>
          </a:xfrm>
        </p:spPr>
        <p:txBody>
          <a:bodyPr/>
          <a:lstStyle/>
          <a:p>
            <a:fld id="{02AC24A9-CCB6-4F8D-B8DB-C2F3692CFA5A}" type="datetimeFigureOut">
              <a:rPr lang="en-US" smtClean="0"/>
              <a:t>12/5/2023</a:t>
            </a:fld>
            <a:endParaRPr lang="en-US"/>
          </a:p>
        </p:txBody>
      </p:sp>
      <p:sp>
        <p:nvSpPr>
          <p:cNvPr id="5" name="Footer Placeholder 4">
            <a:extLst>
              <a:ext uri="{FF2B5EF4-FFF2-40B4-BE49-F238E27FC236}">
                <a16:creationId xmlns:a16="http://schemas.microsoft.com/office/drawing/2014/main" id="{8B8C0E86-A7F7-4BDC-A637-254E5252DED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3D10ADE-E9DA-4E57-BF57-1CCB65219839}"/>
              </a:ext>
            </a:extLst>
          </p:cNvPr>
          <p:cNvSpPr>
            <a:spLocks noGrp="1"/>
          </p:cNvSpPr>
          <p:nvPr>
            <p:ph type="sldNum" sz="quarter" idx="12"/>
          </p:nvPr>
        </p:nvSpPr>
        <p:spPr>
          <a:xfrm>
            <a:off x="8869680" y="6356350"/>
            <a:ext cx="2743200" cy="365125"/>
          </a:xfrm>
        </p:spPr>
        <p:txBody>
          <a:bodyPr/>
          <a:lstStyle/>
          <a:p>
            <a:fld id="{B2DC25EE-239B-4C5F-AAD1-255A7D5F1EE2}" type="slidenum">
              <a:rPr lang="en-US" smtClean="0"/>
              <a:t>‹N›</a:t>
            </a:fld>
            <a:endParaRPr lang="en-US"/>
          </a:p>
        </p:txBody>
      </p:sp>
      <p:sp>
        <p:nvSpPr>
          <p:cNvPr id="8" name="Rectangle 7">
            <a:extLst>
              <a:ext uri="{FF2B5EF4-FFF2-40B4-BE49-F238E27FC236}">
                <a16:creationId xmlns:a16="http://schemas.microsoft.com/office/drawing/2014/main" id="{8D06CE56-3881-4ADA-8CEF-D18B02C242A3}"/>
              </a:ext>
            </a:extLst>
          </p:cNvPr>
          <p:cNvSpPr/>
          <p:nvPr/>
        </p:nvSpPr>
        <p:spPr>
          <a:xfrm rot="5400000">
            <a:off x="857544"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79F3C543-62EC-4433-9C93-A2CD8764E9B4}"/>
              </a:ext>
            </a:extLst>
          </p:cNvPr>
          <p:cNvSpPr/>
          <p:nvPr/>
        </p:nvSpPr>
        <p:spPr>
          <a:xfrm flipV="1">
            <a:off x="578652" y="4501201"/>
            <a:ext cx="1103469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47898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D6FBB9D-1CAA-4D05-AB33-BABDFE17B843}"/>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0" name="Rectangle 9">
            <a:extLst>
              <a:ext uri="{FF2B5EF4-FFF2-40B4-BE49-F238E27FC236}">
                <a16:creationId xmlns:a16="http://schemas.microsoft.com/office/drawing/2014/main" id="{04727B71-B4B6-4823-80A1-68C40B475118}"/>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79A6DB05-9FB5-4B07-8675-74C23D4FD89D}"/>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8D358CF-0758-490A-A084-C46443B9ABE8}"/>
              </a:ext>
            </a:extLst>
          </p:cNvPr>
          <p:cNvSpPr>
            <a:spLocks noGrp="1"/>
          </p:cNvSpPr>
          <p:nvPr>
            <p:ph type="title"/>
          </p:nvPr>
        </p:nvSpPr>
        <p:spPr>
          <a:xfrm>
            <a:off x="1115568" y="548640"/>
            <a:ext cx="10168128" cy="1179576"/>
          </a:xfrm>
        </p:spPr>
        <p:txBody>
          <a:bodyPr>
            <a:normAutofit/>
          </a:bodyPr>
          <a:lstStyle>
            <a:lvl1pPr>
              <a:defRPr sz="4000"/>
            </a:lvl1pPr>
          </a:lstStyle>
          <a:p>
            <a:r>
              <a:rPr lang="en-US"/>
              <a:t>Click to edit Master title style</a:t>
            </a:r>
          </a:p>
        </p:txBody>
      </p:sp>
      <p:sp>
        <p:nvSpPr>
          <p:cNvPr id="3" name="Content Placeholder 2">
            <a:extLst>
              <a:ext uri="{FF2B5EF4-FFF2-40B4-BE49-F238E27FC236}">
                <a16:creationId xmlns:a16="http://schemas.microsoft.com/office/drawing/2014/main" id="{21671183-B3CE-4F45-92FB-98290CA0E2CA}"/>
              </a:ext>
            </a:extLst>
          </p:cNvPr>
          <p:cNvSpPr>
            <a:spLocks noGrp="1"/>
          </p:cNvSpPr>
          <p:nvPr>
            <p:ph idx="1"/>
          </p:nvPr>
        </p:nvSpPr>
        <p:spPr>
          <a:xfrm>
            <a:off x="1115568" y="2478024"/>
            <a:ext cx="10168128" cy="3694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D7DED67-27EC-4D43-A21C-093C1DB04813}"/>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12/5/2023</a:t>
            </a:fld>
            <a:endParaRPr lang="en-US"/>
          </a:p>
        </p:txBody>
      </p:sp>
      <p:sp>
        <p:nvSpPr>
          <p:cNvPr id="5" name="Footer Placeholder 4">
            <a:extLst>
              <a:ext uri="{FF2B5EF4-FFF2-40B4-BE49-F238E27FC236}">
                <a16:creationId xmlns:a16="http://schemas.microsoft.com/office/drawing/2014/main" id="{36747CE3-4890-4BC1-94DB-5D49D02C993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3C5AD3-D79A-4D46-B25B-822FE0252511}"/>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34534279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Title and Content">
    <p:bg>
      <p:bgPr>
        <a:solidFill>
          <a:srgbClr val="EC7B2B"/>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D6FBB9D-1CAA-4D05-AB33-BABDFE17B843}"/>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04727B71-B4B6-4823-80A1-68C40B475118}"/>
              </a:ext>
            </a:extLst>
          </p:cNvPr>
          <p:cNvSpPr/>
          <p:nvPr/>
        </p:nvSpPr>
        <p:spPr>
          <a:xfrm>
            <a:off x="566928" y="0"/>
            <a:ext cx="11155680" cy="2011680"/>
          </a:xfrm>
          <a:prstGeom prst="rect">
            <a:avLst/>
          </a:prstGeom>
          <a:solidFill>
            <a:schemeClr val="bg1"/>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79A6DB05-9FB5-4B07-8675-74C23D4FD89D}"/>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8D358CF-0758-490A-A084-C46443B9ABE8}"/>
              </a:ext>
            </a:extLst>
          </p:cNvPr>
          <p:cNvSpPr>
            <a:spLocks noGrp="1"/>
          </p:cNvSpPr>
          <p:nvPr>
            <p:ph type="title"/>
          </p:nvPr>
        </p:nvSpPr>
        <p:spPr>
          <a:xfrm>
            <a:off x="1115568" y="548640"/>
            <a:ext cx="10168128" cy="1179576"/>
          </a:xfrm>
        </p:spPr>
        <p:txBody>
          <a:bodyPr>
            <a:normAutofit/>
          </a:bodyPr>
          <a:lstStyle>
            <a:lvl1pPr>
              <a:defRPr sz="4000"/>
            </a:lvl1pPr>
          </a:lstStyle>
          <a:p>
            <a:r>
              <a:rPr lang="en-US"/>
              <a:t>Click to edit Master title style</a:t>
            </a:r>
          </a:p>
        </p:txBody>
      </p:sp>
      <p:sp>
        <p:nvSpPr>
          <p:cNvPr id="3" name="Content Placeholder 2">
            <a:extLst>
              <a:ext uri="{FF2B5EF4-FFF2-40B4-BE49-F238E27FC236}">
                <a16:creationId xmlns:a16="http://schemas.microsoft.com/office/drawing/2014/main" id="{21671183-B3CE-4F45-92FB-98290CA0E2CA}"/>
              </a:ext>
            </a:extLst>
          </p:cNvPr>
          <p:cNvSpPr>
            <a:spLocks noGrp="1"/>
          </p:cNvSpPr>
          <p:nvPr>
            <p:ph idx="1"/>
          </p:nvPr>
        </p:nvSpPr>
        <p:spPr>
          <a:xfrm>
            <a:off x="1115568" y="2478024"/>
            <a:ext cx="10168128" cy="3694176"/>
          </a:xfrm>
          <a:solidFill>
            <a:schemeClr val="bg1"/>
          </a:solidFill>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D7DED67-27EC-4D43-A21C-093C1DB04813}"/>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12/5/2023</a:t>
            </a:fld>
            <a:endParaRPr lang="en-US"/>
          </a:p>
        </p:txBody>
      </p:sp>
      <p:sp>
        <p:nvSpPr>
          <p:cNvPr id="5" name="Footer Placeholder 4">
            <a:extLst>
              <a:ext uri="{FF2B5EF4-FFF2-40B4-BE49-F238E27FC236}">
                <a16:creationId xmlns:a16="http://schemas.microsoft.com/office/drawing/2014/main" id="{36747CE3-4890-4BC1-94DB-5D49D02C993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3C5AD3-D79A-4D46-B25B-822FE0252511}"/>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12778484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5AEDC5C-2E87-49C6-AB07-A95E5F39ED8E}"/>
              </a:ext>
            </a:extLst>
          </p:cNvPr>
          <p:cNvSpPr/>
          <p:nvPr/>
        </p:nvSpPr>
        <p:spPr>
          <a:xfrm>
            <a:off x="558210" y="4981421"/>
            <a:ext cx="11134956" cy="822960"/>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A57D88DE-E462-4C8A-BF99-609390DFB781}"/>
              </a:ext>
            </a:extLst>
          </p:cNvPr>
          <p:cNvSpPr/>
          <p:nvPr/>
        </p:nvSpPr>
        <p:spPr>
          <a:xfrm>
            <a:off x="498834" y="5118581"/>
            <a:ext cx="146304"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8E44900-E8BF-4B12-8BCB-41076E2B68C7}"/>
              </a:ext>
            </a:extLst>
          </p:cNvPr>
          <p:cNvSpPr>
            <a:spLocks noGrp="1"/>
          </p:cNvSpPr>
          <p:nvPr>
            <p:ph type="title"/>
          </p:nvPr>
        </p:nvSpPr>
        <p:spPr>
          <a:xfrm>
            <a:off x="557784" y="640080"/>
            <a:ext cx="10890504" cy="4114800"/>
          </a:xfrm>
        </p:spPr>
        <p:txBody>
          <a:bodyPr anchor="b">
            <a:normAutofit/>
          </a:bodyPr>
          <a:lstStyle>
            <a:lvl1pPr>
              <a:defRPr sz="6600"/>
            </a:lvl1pPr>
          </a:lstStyle>
          <a:p>
            <a:r>
              <a:rPr lang="en-US"/>
              <a:t>Click to edit Master title style</a:t>
            </a:r>
          </a:p>
        </p:txBody>
      </p:sp>
      <p:sp>
        <p:nvSpPr>
          <p:cNvPr id="3" name="Text Placeholder 2">
            <a:extLst>
              <a:ext uri="{FF2B5EF4-FFF2-40B4-BE49-F238E27FC236}">
                <a16:creationId xmlns:a16="http://schemas.microsoft.com/office/drawing/2014/main" id="{917741F9-B00F-4463-A257-6B66DABD9B4E}"/>
              </a:ext>
            </a:extLst>
          </p:cNvPr>
          <p:cNvSpPr>
            <a:spLocks noGrp="1"/>
          </p:cNvSpPr>
          <p:nvPr>
            <p:ph type="body" idx="1"/>
          </p:nvPr>
        </p:nvSpPr>
        <p:spPr>
          <a:xfrm>
            <a:off x="841248" y="5102352"/>
            <a:ext cx="10607040" cy="585216"/>
          </a:xfrm>
        </p:spPr>
        <p:txBody>
          <a:bodyPr anchor="ct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48BFA7D-4401-4285-802B-1579165F0D6D}"/>
              </a:ext>
            </a:extLst>
          </p:cNvPr>
          <p:cNvSpPr>
            <a:spLocks noGrp="1"/>
          </p:cNvSpPr>
          <p:nvPr>
            <p:ph type="dt" sz="half" idx="10"/>
          </p:nvPr>
        </p:nvSpPr>
        <p:spPr/>
        <p:txBody>
          <a:bodyPr/>
          <a:lstStyle/>
          <a:p>
            <a:fld id="{02AC24A9-CCB6-4F8D-B8DB-C2F3692CFA5A}" type="datetimeFigureOut">
              <a:rPr lang="en-US" smtClean="0"/>
              <a:t>12/5/2023</a:t>
            </a:fld>
            <a:endParaRPr lang="en-US"/>
          </a:p>
        </p:txBody>
      </p:sp>
      <p:sp>
        <p:nvSpPr>
          <p:cNvPr id="5" name="Footer Placeholder 4">
            <a:extLst>
              <a:ext uri="{FF2B5EF4-FFF2-40B4-BE49-F238E27FC236}">
                <a16:creationId xmlns:a16="http://schemas.microsoft.com/office/drawing/2014/main" id="{49A909C5-AA19-4195-8376-9002D5DF465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3AC3F32-46E0-47C8-8565-5969A475FDB0}"/>
              </a:ext>
            </a:extLst>
          </p:cNvPr>
          <p:cNvSpPr>
            <a:spLocks noGrp="1"/>
          </p:cNvSpPr>
          <p:nvPr>
            <p:ph type="sldNum" sz="quarter" idx="12"/>
          </p:nvPr>
        </p:nvSpPr>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16508519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076262E-36A0-40C6-ADE6-90CD9FB9B9EA}"/>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1" name="Rectangle 10">
            <a:extLst>
              <a:ext uri="{FF2B5EF4-FFF2-40B4-BE49-F238E27FC236}">
                <a16:creationId xmlns:a16="http://schemas.microsoft.com/office/drawing/2014/main" id="{42677A9B-4D1D-4D80-912C-24570140A650}"/>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03DC8C98-510F-48C9-82B2-9E4F760A68DF}"/>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7A078AE-0BC3-48F9-87EC-2DB0CCE7E2AE}"/>
              </a:ext>
            </a:extLst>
          </p:cNvPr>
          <p:cNvSpPr>
            <a:spLocks noGrp="1"/>
          </p:cNvSpPr>
          <p:nvPr>
            <p:ph type="title"/>
          </p:nvPr>
        </p:nvSpPr>
        <p:spPr>
          <a:xfrm>
            <a:off x="1115568" y="548640"/>
            <a:ext cx="10168128" cy="1179576"/>
          </a:xfrm>
        </p:spPr>
        <p:txBody>
          <a:bodyPr>
            <a:normAutofit/>
          </a:bodyPr>
          <a:lstStyle>
            <a:lvl1pPr>
              <a:defRPr sz="4000"/>
            </a:lvl1pPr>
          </a:lstStyle>
          <a:p>
            <a:r>
              <a:rPr lang="en-US"/>
              <a:t>Click to edit Master title style</a:t>
            </a:r>
          </a:p>
        </p:txBody>
      </p:sp>
      <p:sp>
        <p:nvSpPr>
          <p:cNvPr id="3" name="Content Placeholder 2">
            <a:extLst>
              <a:ext uri="{FF2B5EF4-FFF2-40B4-BE49-F238E27FC236}">
                <a16:creationId xmlns:a16="http://schemas.microsoft.com/office/drawing/2014/main" id="{292A20DF-0829-4336-B59F-FF9D7AA9D8B6}"/>
              </a:ext>
            </a:extLst>
          </p:cNvPr>
          <p:cNvSpPr>
            <a:spLocks noGrp="1"/>
          </p:cNvSpPr>
          <p:nvPr>
            <p:ph sz="half" idx="1"/>
          </p:nvPr>
        </p:nvSpPr>
        <p:spPr>
          <a:xfrm>
            <a:off x="1115568" y="2478024"/>
            <a:ext cx="4937760" cy="3694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935D01C-CF67-4DF6-B96C-FFC9D5BF847B}"/>
              </a:ext>
            </a:extLst>
          </p:cNvPr>
          <p:cNvSpPr>
            <a:spLocks noGrp="1"/>
          </p:cNvSpPr>
          <p:nvPr>
            <p:ph sz="half" idx="2"/>
          </p:nvPr>
        </p:nvSpPr>
        <p:spPr>
          <a:xfrm>
            <a:off x="6345936" y="2478024"/>
            <a:ext cx="4937760" cy="3694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9BBD797-6031-4F82-8726-EAB757027FF5}"/>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12/5/2023</a:t>
            </a:fld>
            <a:endParaRPr lang="en-US"/>
          </a:p>
        </p:txBody>
      </p:sp>
      <p:sp>
        <p:nvSpPr>
          <p:cNvPr id="6" name="Footer Placeholder 5">
            <a:extLst>
              <a:ext uri="{FF2B5EF4-FFF2-40B4-BE49-F238E27FC236}">
                <a16:creationId xmlns:a16="http://schemas.microsoft.com/office/drawing/2014/main" id="{76B3F71C-B897-4909-A75E-8716AD49C15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F78BC14-5BB1-405F-A6F3-C07230F085C8}"/>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23425832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1_Two Content">
    <p:bg>
      <p:bgPr>
        <a:solidFill>
          <a:schemeClr val="accent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076262E-36A0-40C6-ADE6-90CD9FB9B9EA}"/>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42677A9B-4D1D-4D80-912C-24570140A650}"/>
              </a:ext>
            </a:extLst>
          </p:cNvPr>
          <p:cNvSpPr/>
          <p:nvPr/>
        </p:nvSpPr>
        <p:spPr>
          <a:xfrm>
            <a:off x="566928" y="0"/>
            <a:ext cx="11155680" cy="2011680"/>
          </a:xfrm>
          <a:prstGeom prst="rect">
            <a:avLst/>
          </a:prstGeom>
          <a:solidFill>
            <a:schemeClr val="bg1"/>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03DC8C98-510F-48C9-82B2-9E4F760A68DF}"/>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7A078AE-0BC3-48F9-87EC-2DB0CCE7E2AE}"/>
              </a:ext>
            </a:extLst>
          </p:cNvPr>
          <p:cNvSpPr>
            <a:spLocks noGrp="1"/>
          </p:cNvSpPr>
          <p:nvPr>
            <p:ph type="title"/>
          </p:nvPr>
        </p:nvSpPr>
        <p:spPr>
          <a:xfrm>
            <a:off x="1115568" y="548640"/>
            <a:ext cx="10168128" cy="1179576"/>
          </a:xfrm>
        </p:spPr>
        <p:txBody>
          <a:bodyPr>
            <a:normAutofit/>
          </a:bodyPr>
          <a:lstStyle>
            <a:lvl1pPr>
              <a:defRPr sz="4000"/>
            </a:lvl1pPr>
          </a:lstStyle>
          <a:p>
            <a:r>
              <a:rPr lang="en-US"/>
              <a:t>Click to edit Master title style</a:t>
            </a:r>
          </a:p>
        </p:txBody>
      </p:sp>
      <p:sp>
        <p:nvSpPr>
          <p:cNvPr id="3" name="Content Placeholder 2">
            <a:extLst>
              <a:ext uri="{FF2B5EF4-FFF2-40B4-BE49-F238E27FC236}">
                <a16:creationId xmlns:a16="http://schemas.microsoft.com/office/drawing/2014/main" id="{292A20DF-0829-4336-B59F-FF9D7AA9D8B6}"/>
              </a:ext>
            </a:extLst>
          </p:cNvPr>
          <p:cNvSpPr>
            <a:spLocks noGrp="1"/>
          </p:cNvSpPr>
          <p:nvPr>
            <p:ph sz="half" idx="1"/>
          </p:nvPr>
        </p:nvSpPr>
        <p:spPr>
          <a:xfrm>
            <a:off x="1115568" y="2478024"/>
            <a:ext cx="4937760" cy="3694176"/>
          </a:xfrm>
          <a:solidFill>
            <a:schemeClr val="bg1"/>
          </a:solidFill>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935D01C-CF67-4DF6-B96C-FFC9D5BF847B}"/>
              </a:ext>
            </a:extLst>
          </p:cNvPr>
          <p:cNvSpPr>
            <a:spLocks noGrp="1"/>
          </p:cNvSpPr>
          <p:nvPr>
            <p:ph sz="half" idx="2"/>
          </p:nvPr>
        </p:nvSpPr>
        <p:spPr>
          <a:xfrm>
            <a:off x="6345936" y="2478024"/>
            <a:ext cx="4937760" cy="3694176"/>
          </a:xfrm>
          <a:solidFill>
            <a:schemeClr val="bg1"/>
          </a:solidFill>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9BBD797-6031-4F82-8726-EAB757027FF5}"/>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12/5/2023</a:t>
            </a:fld>
            <a:endParaRPr lang="en-US"/>
          </a:p>
        </p:txBody>
      </p:sp>
      <p:sp>
        <p:nvSpPr>
          <p:cNvPr id="6" name="Footer Placeholder 5">
            <a:extLst>
              <a:ext uri="{FF2B5EF4-FFF2-40B4-BE49-F238E27FC236}">
                <a16:creationId xmlns:a16="http://schemas.microsoft.com/office/drawing/2014/main" id="{76B3F71C-B897-4909-A75E-8716AD49C15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F78BC14-5BB1-405F-A6F3-C07230F085C8}"/>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34371037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6B671BDE-E45C-41A1-9B98-4A607D703855}"/>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Rectangle 12">
            <a:extLst>
              <a:ext uri="{FF2B5EF4-FFF2-40B4-BE49-F238E27FC236}">
                <a16:creationId xmlns:a16="http://schemas.microsoft.com/office/drawing/2014/main" id="{299500CE-917A-4D03-A7DF-71D8EBBC1537}"/>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Rectangle 14">
            <a:extLst>
              <a:ext uri="{FF2B5EF4-FFF2-40B4-BE49-F238E27FC236}">
                <a16:creationId xmlns:a16="http://schemas.microsoft.com/office/drawing/2014/main" id="{C3D0D377-28B0-417D-886B-9483AF064975}"/>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F8F91F8-0767-40B5-A3AA-72931FC192EA}"/>
              </a:ext>
            </a:extLst>
          </p:cNvPr>
          <p:cNvSpPr>
            <a:spLocks noGrp="1"/>
          </p:cNvSpPr>
          <p:nvPr>
            <p:ph type="title"/>
          </p:nvPr>
        </p:nvSpPr>
        <p:spPr>
          <a:xfrm>
            <a:off x="1115568" y="548640"/>
            <a:ext cx="10168128" cy="1179576"/>
          </a:xfrm>
        </p:spPr>
        <p:txBody>
          <a:bodyPr>
            <a:normAutofit/>
          </a:bodyPr>
          <a:lstStyle>
            <a:lvl1pPr>
              <a:defRPr sz="4000"/>
            </a:lvl1pPr>
          </a:lstStyle>
          <a:p>
            <a:r>
              <a:rPr lang="en-US"/>
              <a:t>Click to edit Master title style</a:t>
            </a:r>
          </a:p>
        </p:txBody>
      </p:sp>
      <p:sp>
        <p:nvSpPr>
          <p:cNvPr id="3" name="Text Placeholder 2">
            <a:extLst>
              <a:ext uri="{FF2B5EF4-FFF2-40B4-BE49-F238E27FC236}">
                <a16:creationId xmlns:a16="http://schemas.microsoft.com/office/drawing/2014/main" id="{AAAE0554-8BEE-4BF6-9519-51B8475D35E1}"/>
              </a:ext>
            </a:extLst>
          </p:cNvPr>
          <p:cNvSpPr>
            <a:spLocks noGrp="1"/>
          </p:cNvSpPr>
          <p:nvPr>
            <p:ph type="body" idx="1"/>
          </p:nvPr>
        </p:nvSpPr>
        <p:spPr>
          <a:xfrm>
            <a:off x="1115568" y="2372650"/>
            <a:ext cx="493776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D4A358D-C930-48E0-B372-06A826B74C47}"/>
              </a:ext>
            </a:extLst>
          </p:cNvPr>
          <p:cNvSpPr>
            <a:spLocks noGrp="1"/>
          </p:cNvSpPr>
          <p:nvPr>
            <p:ph sz="half" idx="2"/>
          </p:nvPr>
        </p:nvSpPr>
        <p:spPr>
          <a:xfrm>
            <a:off x="1115568" y="3203688"/>
            <a:ext cx="4937760" cy="2968512"/>
          </a:xfrm>
        </p:spPr>
        <p:txBody>
          <a:bodyPr/>
          <a:lstStyle>
            <a:lvl1pPr>
              <a:defRPr sz="2400"/>
            </a:lvl1pPr>
            <a:lvl2pPr>
              <a:defRPr sz="2000"/>
            </a:lvl2pPr>
            <a:lvl3pPr>
              <a:defRPr sz="1800"/>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3B6615E-4966-4150-83B6-C47591B36383}"/>
              </a:ext>
            </a:extLst>
          </p:cNvPr>
          <p:cNvSpPr>
            <a:spLocks noGrp="1"/>
          </p:cNvSpPr>
          <p:nvPr>
            <p:ph type="body" sz="quarter" idx="3"/>
          </p:nvPr>
        </p:nvSpPr>
        <p:spPr>
          <a:xfrm>
            <a:off x="6345936" y="2372650"/>
            <a:ext cx="493776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D409F6B-C17B-4B4F-9F35-5068BDC4E2FD}"/>
              </a:ext>
            </a:extLst>
          </p:cNvPr>
          <p:cNvSpPr>
            <a:spLocks noGrp="1"/>
          </p:cNvSpPr>
          <p:nvPr>
            <p:ph sz="quarter" idx="4"/>
          </p:nvPr>
        </p:nvSpPr>
        <p:spPr>
          <a:xfrm>
            <a:off x="6345936" y="3203687"/>
            <a:ext cx="4937760" cy="2968511"/>
          </a:xfrm>
        </p:spPr>
        <p:txBody>
          <a:bodyPr/>
          <a:lstStyle>
            <a:lvl1pPr>
              <a:defRPr sz="2400"/>
            </a:lvl1pPr>
            <a:lvl2pPr>
              <a:defRPr sz="2000"/>
            </a:lvl2pPr>
            <a:lvl3pPr>
              <a:defRPr sz="1800"/>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8BC356D-052B-4A9B-8B2F-6665FD325AB3}"/>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12/5/2023</a:t>
            </a:fld>
            <a:endParaRPr lang="en-US"/>
          </a:p>
        </p:txBody>
      </p:sp>
      <p:sp>
        <p:nvSpPr>
          <p:cNvPr id="8" name="Footer Placeholder 7">
            <a:extLst>
              <a:ext uri="{FF2B5EF4-FFF2-40B4-BE49-F238E27FC236}">
                <a16:creationId xmlns:a16="http://schemas.microsoft.com/office/drawing/2014/main" id="{69C5E5FA-26A9-467C-93E3-8476142D1D4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279E50C-1E40-4B48-871B-E392428D20A3}"/>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13021186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8C0689C4-0DB3-408B-A956-40326B4AE4C4}"/>
              </a:ext>
            </a:extLst>
          </p:cNvPr>
          <p:cNvSpPr/>
          <p:nvPr/>
        </p:nvSpPr>
        <p:spPr>
          <a:xfrm>
            <a:off x="665853" y="1533525"/>
            <a:ext cx="10917063" cy="3790950"/>
          </a:xfrm>
          <a:prstGeom prst="rect">
            <a:avLst/>
          </a:prstGeom>
          <a:ln w="12700">
            <a:solidFill>
              <a:schemeClr val="tx2">
                <a:lumMod val="10000"/>
                <a:lumOff val="90000"/>
              </a:schemeClr>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Rectangle 8">
            <a:extLst>
              <a:ext uri="{FF2B5EF4-FFF2-40B4-BE49-F238E27FC236}">
                <a16:creationId xmlns:a16="http://schemas.microsoft.com/office/drawing/2014/main" id="{56E1D10E-1C30-41BF-8C3B-C460C9B5597B}"/>
              </a:ext>
            </a:extLst>
          </p:cNvPr>
          <p:cNvSpPr/>
          <p:nvPr/>
        </p:nvSpPr>
        <p:spPr>
          <a:xfrm>
            <a:off x="609084" y="2971798"/>
            <a:ext cx="128016" cy="914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779454F2-0EE5-4888-AF4C-82F825E6226E}"/>
              </a:ext>
            </a:extLst>
          </p:cNvPr>
          <p:cNvSpPr>
            <a:spLocks noGrp="1"/>
          </p:cNvSpPr>
          <p:nvPr>
            <p:ph type="title"/>
          </p:nvPr>
        </p:nvSpPr>
        <p:spPr>
          <a:xfrm>
            <a:off x="1078992" y="1938528"/>
            <a:ext cx="10177272" cy="2990088"/>
          </a:xfrm>
        </p:spPr>
        <p:txBody>
          <a:bodyPr>
            <a:normAutofit/>
          </a:bodyPr>
          <a:lstStyle>
            <a:lvl1pPr>
              <a:defRPr sz="5400"/>
            </a:lvl1pPr>
          </a:lstStyle>
          <a:p>
            <a:r>
              <a:rPr lang="en-US"/>
              <a:t>Click to edit Master title style</a:t>
            </a:r>
          </a:p>
        </p:txBody>
      </p:sp>
      <p:sp>
        <p:nvSpPr>
          <p:cNvPr id="3" name="Date Placeholder 2">
            <a:extLst>
              <a:ext uri="{FF2B5EF4-FFF2-40B4-BE49-F238E27FC236}">
                <a16:creationId xmlns:a16="http://schemas.microsoft.com/office/drawing/2014/main" id="{67C91241-A315-4643-91E5-CF2C25CC903A}"/>
              </a:ext>
            </a:extLst>
          </p:cNvPr>
          <p:cNvSpPr>
            <a:spLocks noGrp="1"/>
          </p:cNvSpPr>
          <p:nvPr>
            <p:ph type="dt" sz="half" idx="10"/>
          </p:nvPr>
        </p:nvSpPr>
        <p:spPr/>
        <p:txBody>
          <a:bodyPr/>
          <a:lstStyle/>
          <a:p>
            <a:fld id="{02AC24A9-CCB6-4F8D-B8DB-C2F3692CFA5A}" type="datetimeFigureOut">
              <a:rPr lang="en-US" smtClean="0"/>
              <a:t>12/5/2023</a:t>
            </a:fld>
            <a:endParaRPr lang="en-US"/>
          </a:p>
        </p:txBody>
      </p:sp>
      <p:sp>
        <p:nvSpPr>
          <p:cNvPr id="4" name="Footer Placeholder 3">
            <a:extLst>
              <a:ext uri="{FF2B5EF4-FFF2-40B4-BE49-F238E27FC236}">
                <a16:creationId xmlns:a16="http://schemas.microsoft.com/office/drawing/2014/main" id="{22706D86-5479-487D-94C8-76093D84F37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7739411-CED6-43D4-868D-A65C4161A72B}"/>
              </a:ext>
            </a:extLst>
          </p:cNvPr>
          <p:cNvSpPr>
            <a:spLocks noGrp="1"/>
          </p:cNvSpPr>
          <p:nvPr>
            <p:ph type="sldNum" sz="quarter" idx="12"/>
          </p:nvPr>
        </p:nvSpPr>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26437557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C447E0-1D4D-4EF2-B81B-4B2400EE3EDB}"/>
              </a:ext>
            </a:extLst>
          </p:cNvPr>
          <p:cNvSpPr>
            <a:spLocks noGrp="1"/>
          </p:cNvSpPr>
          <p:nvPr>
            <p:ph type="dt" sz="half" idx="10"/>
          </p:nvPr>
        </p:nvSpPr>
        <p:spPr/>
        <p:txBody>
          <a:bodyPr/>
          <a:lstStyle/>
          <a:p>
            <a:fld id="{02AC24A9-CCB6-4F8D-B8DB-C2F3692CFA5A}" type="datetimeFigureOut">
              <a:rPr lang="en-US" smtClean="0"/>
              <a:t>12/5/2023</a:t>
            </a:fld>
            <a:endParaRPr lang="en-US"/>
          </a:p>
        </p:txBody>
      </p:sp>
      <p:sp>
        <p:nvSpPr>
          <p:cNvPr id="3" name="Footer Placeholder 2">
            <a:extLst>
              <a:ext uri="{FF2B5EF4-FFF2-40B4-BE49-F238E27FC236}">
                <a16:creationId xmlns:a16="http://schemas.microsoft.com/office/drawing/2014/main" id="{C9984CA0-2A78-4600-9F3D-19B09E790FE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8440955-B18E-49D3-AE7B-B331200E34C5}"/>
              </a:ext>
            </a:extLst>
          </p:cNvPr>
          <p:cNvSpPr>
            <a:spLocks noGrp="1"/>
          </p:cNvSpPr>
          <p:nvPr>
            <p:ph type="sldNum" sz="quarter" idx="12"/>
          </p:nvPr>
        </p:nvSpPr>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42327478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FA417FE-CD1A-486F-A4AC-E4000A2FB18E}"/>
              </a:ext>
            </a:extLst>
          </p:cNvPr>
          <p:cNvSpPr/>
          <p:nvPr/>
        </p:nvSpPr>
        <p:spPr>
          <a:xfrm>
            <a:off x="558210" y="1162033"/>
            <a:ext cx="3740740" cy="4643344"/>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1318F0F5-812B-472C-9408-B80F2553F5E0}"/>
              </a:ext>
            </a:extLst>
          </p:cNvPr>
          <p:cNvSpPr/>
          <p:nvPr/>
        </p:nvSpPr>
        <p:spPr>
          <a:xfrm>
            <a:off x="498834" y="1618375"/>
            <a:ext cx="146304" cy="822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7F7751B-CD8F-4F5B-A903-1DCE5D1E8306}"/>
              </a:ext>
            </a:extLst>
          </p:cNvPr>
          <p:cNvSpPr>
            <a:spLocks noGrp="1"/>
          </p:cNvSpPr>
          <p:nvPr>
            <p:ph type="title"/>
          </p:nvPr>
        </p:nvSpPr>
        <p:spPr>
          <a:xfrm>
            <a:off x="868680" y="1709928"/>
            <a:ext cx="3099816" cy="1709928"/>
          </a:xfrm>
        </p:spPr>
        <p:txBody>
          <a:bodyPr tIns="45720" anchor="t">
            <a:normAutofit/>
          </a:bodyPr>
          <a:lstStyle>
            <a:lvl1pPr>
              <a:lnSpc>
                <a:spcPct val="100000"/>
              </a:lnSpc>
              <a:defRPr sz="3400"/>
            </a:lvl1pPr>
          </a:lstStyle>
          <a:p>
            <a:r>
              <a:rPr lang="en-US"/>
              <a:t>Click to edit Master title style</a:t>
            </a:r>
          </a:p>
        </p:txBody>
      </p:sp>
      <p:sp>
        <p:nvSpPr>
          <p:cNvPr id="3" name="Content Placeholder 2">
            <a:extLst>
              <a:ext uri="{FF2B5EF4-FFF2-40B4-BE49-F238E27FC236}">
                <a16:creationId xmlns:a16="http://schemas.microsoft.com/office/drawing/2014/main" id="{EFA55C8A-A0BB-441D-976F-EB56D4382DB6}"/>
              </a:ext>
            </a:extLst>
          </p:cNvPr>
          <p:cNvSpPr>
            <a:spLocks noGrp="1"/>
          </p:cNvSpPr>
          <p:nvPr>
            <p:ph idx="1"/>
          </p:nvPr>
        </p:nvSpPr>
        <p:spPr>
          <a:xfrm>
            <a:off x="4965192" y="1709928"/>
            <a:ext cx="6729984" cy="4096512"/>
          </a:xfrm>
        </p:spPr>
        <p:txBody>
          <a:bodyPr/>
          <a:lstStyle>
            <a:lvl1pPr>
              <a:defRPr sz="2800"/>
            </a:lvl1pPr>
            <a:lvl2pPr>
              <a:defRPr sz="2400"/>
            </a:lvl2pPr>
            <a:lvl3pPr>
              <a:defRPr sz="20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7DE6A51-A2E5-4BFA-B571-9FDFE1BBFB44}"/>
              </a:ext>
            </a:extLst>
          </p:cNvPr>
          <p:cNvSpPr>
            <a:spLocks noGrp="1"/>
          </p:cNvSpPr>
          <p:nvPr>
            <p:ph type="body" sz="half" idx="2"/>
          </p:nvPr>
        </p:nvSpPr>
        <p:spPr>
          <a:xfrm>
            <a:off x="868680" y="3429000"/>
            <a:ext cx="3099816" cy="2066544"/>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D92778A-DD4C-4651-9C53-8B0C44CD8805}"/>
              </a:ext>
            </a:extLst>
          </p:cNvPr>
          <p:cNvSpPr>
            <a:spLocks noGrp="1"/>
          </p:cNvSpPr>
          <p:nvPr>
            <p:ph type="dt" sz="half" idx="10"/>
          </p:nvPr>
        </p:nvSpPr>
        <p:spPr>
          <a:xfrm>
            <a:off x="868680" y="6356350"/>
            <a:ext cx="2743200" cy="365125"/>
          </a:xfrm>
        </p:spPr>
        <p:txBody>
          <a:bodyPr/>
          <a:lstStyle/>
          <a:p>
            <a:fld id="{02AC24A9-CCB6-4F8D-B8DB-C2F3692CFA5A}" type="datetimeFigureOut">
              <a:rPr lang="en-US" smtClean="0"/>
              <a:t>12/5/2023</a:t>
            </a:fld>
            <a:endParaRPr lang="en-US"/>
          </a:p>
        </p:txBody>
      </p:sp>
      <p:sp>
        <p:nvSpPr>
          <p:cNvPr id="6" name="Footer Placeholder 5">
            <a:extLst>
              <a:ext uri="{FF2B5EF4-FFF2-40B4-BE49-F238E27FC236}">
                <a16:creationId xmlns:a16="http://schemas.microsoft.com/office/drawing/2014/main" id="{9D6C7F66-2DFA-4146-BE1A-CE2890FE45E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285D185-B1B6-4D62-81BE-BE82C80ACA6C}"/>
              </a:ext>
            </a:extLst>
          </p:cNvPr>
          <p:cNvSpPr>
            <a:spLocks noGrp="1"/>
          </p:cNvSpPr>
          <p:nvPr>
            <p:ph type="sldNum" sz="quarter" idx="12"/>
          </p:nvPr>
        </p:nvSpPr>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24672197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68B77B5-211C-456E-B79F-306CC3619347}"/>
              </a:ext>
            </a:extLst>
          </p:cNvPr>
          <p:cNvSpPr/>
          <p:nvPr/>
        </p:nvSpPr>
        <p:spPr>
          <a:xfrm>
            <a:off x="558210" y="1162033"/>
            <a:ext cx="3740740" cy="4643344"/>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3B63C338-194D-4F23-ABEC-60A7EA96F302}"/>
              </a:ext>
            </a:extLst>
          </p:cNvPr>
          <p:cNvSpPr/>
          <p:nvPr/>
        </p:nvSpPr>
        <p:spPr>
          <a:xfrm>
            <a:off x="498834" y="1618375"/>
            <a:ext cx="146304" cy="822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0C04DCC-0E3E-4F05-9FAC-9FA6CA4B2BAE}"/>
              </a:ext>
            </a:extLst>
          </p:cNvPr>
          <p:cNvSpPr>
            <a:spLocks noGrp="1"/>
          </p:cNvSpPr>
          <p:nvPr>
            <p:ph type="title"/>
          </p:nvPr>
        </p:nvSpPr>
        <p:spPr>
          <a:xfrm>
            <a:off x="868680" y="1709928"/>
            <a:ext cx="3099816" cy="1709928"/>
          </a:xfrm>
        </p:spPr>
        <p:txBody>
          <a:bodyPr tIns="45720" anchor="t">
            <a:normAutofit/>
          </a:bodyPr>
          <a:lstStyle>
            <a:lvl1pPr>
              <a:lnSpc>
                <a:spcPct val="100000"/>
              </a:lnSpc>
              <a:defRPr sz="3400"/>
            </a:lvl1pPr>
          </a:lstStyle>
          <a:p>
            <a:r>
              <a:rPr lang="en-US"/>
              <a:t>Click to edit Master title style</a:t>
            </a:r>
          </a:p>
        </p:txBody>
      </p:sp>
      <p:sp>
        <p:nvSpPr>
          <p:cNvPr id="3" name="Picture Placeholder 2">
            <a:extLst>
              <a:ext uri="{FF2B5EF4-FFF2-40B4-BE49-F238E27FC236}">
                <a16:creationId xmlns:a16="http://schemas.microsoft.com/office/drawing/2014/main" id="{EBA29649-B19F-499E-8E9A-3577EAC8F031}"/>
              </a:ext>
            </a:extLst>
          </p:cNvPr>
          <p:cNvSpPr>
            <a:spLocks noGrp="1"/>
          </p:cNvSpPr>
          <p:nvPr>
            <p:ph type="pic" idx="1"/>
          </p:nvPr>
        </p:nvSpPr>
        <p:spPr>
          <a:xfrm>
            <a:off x="4965192" y="1161288"/>
            <a:ext cx="6729984" cy="4645152"/>
          </a:xfrm>
        </p:spPr>
        <p:txBody>
          <a:bodyPr>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1BC9EF2E-A8CD-41A1-B11A-0D8842797A98}"/>
              </a:ext>
            </a:extLst>
          </p:cNvPr>
          <p:cNvSpPr>
            <a:spLocks noGrp="1"/>
          </p:cNvSpPr>
          <p:nvPr>
            <p:ph type="body" sz="half" idx="2"/>
          </p:nvPr>
        </p:nvSpPr>
        <p:spPr>
          <a:xfrm>
            <a:off x="868680" y="3438144"/>
            <a:ext cx="3099816" cy="2057400"/>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44257B5-0DE0-401F-9171-E8687A97DBA7}"/>
              </a:ext>
            </a:extLst>
          </p:cNvPr>
          <p:cNvSpPr>
            <a:spLocks noGrp="1"/>
          </p:cNvSpPr>
          <p:nvPr>
            <p:ph type="dt" sz="half" idx="10"/>
          </p:nvPr>
        </p:nvSpPr>
        <p:spPr>
          <a:xfrm>
            <a:off x="868680" y="6356350"/>
            <a:ext cx="2743200" cy="365125"/>
          </a:xfrm>
        </p:spPr>
        <p:txBody>
          <a:bodyPr/>
          <a:lstStyle/>
          <a:p>
            <a:fld id="{02AC24A9-CCB6-4F8D-B8DB-C2F3692CFA5A}" type="datetimeFigureOut">
              <a:rPr lang="en-US" smtClean="0"/>
              <a:t>12/5/2023</a:t>
            </a:fld>
            <a:endParaRPr lang="en-US"/>
          </a:p>
        </p:txBody>
      </p:sp>
      <p:sp>
        <p:nvSpPr>
          <p:cNvPr id="6" name="Footer Placeholder 5">
            <a:extLst>
              <a:ext uri="{FF2B5EF4-FFF2-40B4-BE49-F238E27FC236}">
                <a16:creationId xmlns:a16="http://schemas.microsoft.com/office/drawing/2014/main" id="{788CD9AD-D667-4FD4-AA34-428AA0BCD09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8770FB6-F273-4BA6-8B97-9835AC537871}"/>
              </a:ext>
            </a:extLst>
          </p:cNvPr>
          <p:cNvSpPr>
            <a:spLocks noGrp="1"/>
          </p:cNvSpPr>
          <p:nvPr>
            <p:ph type="sldNum" sz="quarter" idx="12"/>
          </p:nvPr>
        </p:nvSpPr>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77629005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B32C18-E430-4EC7-BD7C-99D86D01223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FC5012F-7119-4D94-9717-3862E1C9384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9ED9A4A-D287-4207-9037-70DB007A1707}"/>
              </a:ext>
            </a:extLst>
          </p:cNvPr>
          <p:cNvSpPr>
            <a:spLocks noGrp="1"/>
          </p:cNvSpPr>
          <p:nvPr>
            <p:ph type="dt" sz="half" idx="10"/>
          </p:nvPr>
        </p:nvSpPr>
        <p:spPr/>
        <p:txBody>
          <a:bodyPr/>
          <a:lstStyle/>
          <a:p>
            <a:fld id="{02AC24A9-CCB6-4F8D-B8DB-C2F3692CFA5A}" type="datetimeFigureOut">
              <a:rPr lang="en-US" smtClean="0"/>
              <a:t>12/5/2023</a:t>
            </a:fld>
            <a:endParaRPr lang="en-US"/>
          </a:p>
        </p:txBody>
      </p:sp>
      <p:sp>
        <p:nvSpPr>
          <p:cNvPr id="5" name="Footer Placeholder 4">
            <a:extLst>
              <a:ext uri="{FF2B5EF4-FFF2-40B4-BE49-F238E27FC236}">
                <a16:creationId xmlns:a16="http://schemas.microsoft.com/office/drawing/2014/main" id="{61ECFCAC-80DB-43BB-B3F1-AC22BACEE36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7679730-3487-4D94-A0DC-C21684963AB3}"/>
              </a:ext>
            </a:extLst>
          </p:cNvPr>
          <p:cNvSpPr>
            <a:spLocks noGrp="1"/>
          </p:cNvSpPr>
          <p:nvPr>
            <p:ph type="sldNum" sz="quarter" idx="12"/>
          </p:nvPr>
        </p:nvSpPr>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41884421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543C89D-929E-4CD1-BCCC-72A14C0335D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ED450EA-A577-4B76-A12F-650BEB20FD8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1D2603B-9ACE-4FA9-805B-9B91EB63DF7D}"/>
              </a:ext>
            </a:extLst>
          </p:cNvPr>
          <p:cNvSpPr>
            <a:spLocks noGrp="1"/>
          </p:cNvSpPr>
          <p:nvPr>
            <p:ph type="dt" sz="half" idx="10"/>
          </p:nvPr>
        </p:nvSpPr>
        <p:spPr/>
        <p:txBody>
          <a:bodyPr/>
          <a:lstStyle/>
          <a:p>
            <a:fld id="{02AC24A9-CCB6-4F8D-B8DB-C2F3692CFA5A}" type="datetimeFigureOut">
              <a:rPr lang="en-US" smtClean="0"/>
              <a:t>12/5/2023</a:t>
            </a:fld>
            <a:endParaRPr lang="en-US"/>
          </a:p>
        </p:txBody>
      </p:sp>
      <p:sp>
        <p:nvSpPr>
          <p:cNvPr id="5" name="Footer Placeholder 4">
            <a:extLst>
              <a:ext uri="{FF2B5EF4-FFF2-40B4-BE49-F238E27FC236}">
                <a16:creationId xmlns:a16="http://schemas.microsoft.com/office/drawing/2014/main" id="{7ECE18AC-D6A9-4A61-885D-68E2B684A4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5197AE4-AA47-4E14-8FFE-171FAE47F49E}"/>
              </a:ext>
            </a:extLst>
          </p:cNvPr>
          <p:cNvSpPr>
            <a:spLocks noGrp="1"/>
          </p:cNvSpPr>
          <p:nvPr>
            <p:ph type="sldNum" sz="quarter" idx="12"/>
          </p:nvPr>
        </p:nvSpPr>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14305578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2_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58228A6-096C-4673-9079-F46A8D2ED92C}"/>
              </a:ext>
            </a:extLst>
          </p:cNvPr>
          <p:cNvSpPr>
            <a:spLocks noGrp="1"/>
          </p:cNvSpPr>
          <p:nvPr>
            <p:ph type="title"/>
          </p:nvPr>
        </p:nvSpPr>
        <p:spPr/>
        <p:txBody>
          <a:bodyPr/>
          <a:lstStyle/>
          <a:p>
            <a:r>
              <a:rPr lang="fr-FR"/>
              <a:t>Modifiez le style du titre</a:t>
            </a:r>
          </a:p>
        </p:txBody>
      </p:sp>
      <p:sp>
        <p:nvSpPr>
          <p:cNvPr id="4" name="Espace réservé de la date 3">
            <a:extLst>
              <a:ext uri="{FF2B5EF4-FFF2-40B4-BE49-F238E27FC236}">
                <a16:creationId xmlns:a16="http://schemas.microsoft.com/office/drawing/2014/main" id="{E0675FF8-2716-458A-87EC-1946B2412C54}"/>
              </a:ext>
            </a:extLst>
          </p:cNvPr>
          <p:cNvSpPr>
            <a:spLocks noGrp="1"/>
          </p:cNvSpPr>
          <p:nvPr>
            <p:ph type="dt" sz="half" idx="10"/>
          </p:nvPr>
        </p:nvSpPr>
        <p:spPr/>
        <p:txBody>
          <a:bodyPr/>
          <a:lstStyle/>
          <a:p>
            <a:fld id="{2E6439E6-DD8C-4C85-9C7B-9357438C85CB}" type="datetimeFigureOut">
              <a:rPr lang="fr-FR" smtClean="0"/>
              <a:t>05/12/2023</a:t>
            </a:fld>
            <a:endParaRPr lang="fr-FR"/>
          </a:p>
        </p:txBody>
      </p:sp>
      <p:sp>
        <p:nvSpPr>
          <p:cNvPr id="5" name="Espace réservé du pied de page 4">
            <a:extLst>
              <a:ext uri="{FF2B5EF4-FFF2-40B4-BE49-F238E27FC236}">
                <a16:creationId xmlns:a16="http://schemas.microsoft.com/office/drawing/2014/main" id="{3DA611A9-68F4-4DA3-B125-40A38CA78832}"/>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D92A5F1A-93D2-4E3F-A68E-9339C42C1AA3}"/>
              </a:ext>
            </a:extLst>
          </p:cNvPr>
          <p:cNvSpPr>
            <a:spLocks noGrp="1"/>
          </p:cNvSpPr>
          <p:nvPr>
            <p:ph type="sldNum" sz="quarter" idx="12"/>
          </p:nvPr>
        </p:nvSpPr>
        <p:spPr/>
        <p:txBody>
          <a:bodyPr/>
          <a:lstStyle/>
          <a:p>
            <a:fld id="{87B4D992-F161-4455-B186-2BFDF7EA604F}" type="slidenum">
              <a:rPr lang="fr-FR" smtClean="0"/>
              <a:t>‹N›</a:t>
            </a:fld>
            <a:endParaRPr lang="fr-FR"/>
          </a:p>
        </p:txBody>
      </p:sp>
      <p:sp>
        <p:nvSpPr>
          <p:cNvPr id="12" name="Espace réservé du texte 11">
            <a:extLst>
              <a:ext uri="{FF2B5EF4-FFF2-40B4-BE49-F238E27FC236}">
                <a16:creationId xmlns:a16="http://schemas.microsoft.com/office/drawing/2014/main" id="{7EF081AE-78A0-4824-86D2-C4B9835730D6}"/>
              </a:ext>
            </a:extLst>
          </p:cNvPr>
          <p:cNvSpPr>
            <a:spLocks noGrp="1"/>
          </p:cNvSpPr>
          <p:nvPr>
            <p:ph type="body" sz="quarter" idx="16"/>
          </p:nvPr>
        </p:nvSpPr>
        <p:spPr>
          <a:xfrm>
            <a:off x="846138" y="2514918"/>
            <a:ext cx="2404138" cy="3520758"/>
          </a:xfrm>
          <a:solidFill>
            <a:schemeClr val="bg1">
              <a:lumMod val="95000"/>
            </a:schemeClr>
          </a:solidFill>
        </p:spPr>
        <p:txBody>
          <a:bodyPr>
            <a:noAutofit/>
          </a:bodyPr>
          <a:lstStyle>
            <a:lvl1pPr marL="0" indent="0">
              <a:buNone/>
              <a:defRPr sz="1600"/>
            </a:lvl1pPr>
            <a:lvl2pPr marL="457200" indent="0">
              <a:buNone/>
              <a:defRPr sz="1400"/>
            </a:lvl2pPr>
            <a:lvl3pPr marL="914400" indent="0">
              <a:buNone/>
              <a:defRPr sz="1200"/>
            </a:lvl3pPr>
            <a:lvl4pPr marL="1371600" indent="0">
              <a:buNone/>
              <a:defRPr sz="1100"/>
            </a:lvl4pPr>
            <a:lvl5pPr marL="1828800" indent="0">
              <a:buNone/>
              <a:defRPr sz="1100"/>
            </a:lvl5p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
        <p:nvSpPr>
          <p:cNvPr id="15" name="Espace réservé du texte 3">
            <a:extLst>
              <a:ext uri="{FF2B5EF4-FFF2-40B4-BE49-F238E27FC236}">
                <a16:creationId xmlns:a16="http://schemas.microsoft.com/office/drawing/2014/main" id="{CABE86F3-7992-43DD-AA70-A9905328F026}"/>
              </a:ext>
            </a:extLst>
          </p:cNvPr>
          <p:cNvSpPr>
            <a:spLocks noGrp="1"/>
          </p:cNvSpPr>
          <p:nvPr>
            <p:ph type="body" idx="1" hasCustomPrompt="1"/>
          </p:nvPr>
        </p:nvSpPr>
        <p:spPr>
          <a:xfrm>
            <a:off x="838200" y="2011680"/>
            <a:ext cx="2412076" cy="503237"/>
          </a:xfrm>
          <a:solidFill>
            <a:srgbClr val="0683AA"/>
          </a:solidFill>
        </p:spPr>
        <p:txBody>
          <a:bodyPr anchor="ctr">
            <a:normAutofit/>
          </a:bodyPr>
          <a:lstStyle>
            <a:lvl1pPr marL="0" indent="0">
              <a:buNone/>
              <a:defRPr b="1"/>
            </a:lvl1pPr>
          </a:lstStyle>
          <a:p>
            <a:r>
              <a:rPr lang="fr-FR" sz="2000" dirty="0"/>
              <a:t>Préparation</a:t>
            </a:r>
          </a:p>
        </p:txBody>
      </p:sp>
      <p:sp>
        <p:nvSpPr>
          <p:cNvPr id="17" name="Espace réservé du texte 11">
            <a:extLst>
              <a:ext uri="{FF2B5EF4-FFF2-40B4-BE49-F238E27FC236}">
                <a16:creationId xmlns:a16="http://schemas.microsoft.com/office/drawing/2014/main" id="{8502E738-5387-4C85-8925-A58B13D5C337}"/>
              </a:ext>
            </a:extLst>
          </p:cNvPr>
          <p:cNvSpPr>
            <a:spLocks noGrp="1"/>
          </p:cNvSpPr>
          <p:nvPr>
            <p:ph type="body" sz="quarter" idx="17"/>
          </p:nvPr>
        </p:nvSpPr>
        <p:spPr>
          <a:xfrm>
            <a:off x="3423084" y="2514600"/>
            <a:ext cx="5247090" cy="3520758"/>
          </a:xfrm>
          <a:solidFill>
            <a:schemeClr val="bg1">
              <a:lumMod val="95000"/>
            </a:schemeClr>
          </a:solidFill>
        </p:spPr>
        <p:txBody>
          <a:bodyPr>
            <a:noAutofit/>
          </a:bodyPr>
          <a:lstStyle>
            <a:lvl1pPr marL="0" indent="0">
              <a:buNone/>
              <a:defRPr sz="1600"/>
            </a:lvl1pPr>
            <a:lvl2pPr marL="457200" indent="0">
              <a:buNone/>
              <a:defRPr sz="1400"/>
            </a:lvl2pPr>
            <a:lvl3pPr marL="914400" indent="0">
              <a:buNone/>
              <a:defRPr sz="1200"/>
            </a:lvl3pPr>
            <a:lvl4pPr marL="1371600" indent="0">
              <a:buNone/>
              <a:defRPr sz="1100"/>
            </a:lvl4pPr>
            <a:lvl5pPr marL="1828800" indent="0">
              <a:buNone/>
              <a:defRPr sz="1100"/>
            </a:lvl5p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
        <p:nvSpPr>
          <p:cNvPr id="18" name="Espace réservé du texte 3">
            <a:extLst>
              <a:ext uri="{FF2B5EF4-FFF2-40B4-BE49-F238E27FC236}">
                <a16:creationId xmlns:a16="http://schemas.microsoft.com/office/drawing/2014/main" id="{F777FCCC-8D02-429C-B656-53DE6BE1F64A}"/>
              </a:ext>
            </a:extLst>
          </p:cNvPr>
          <p:cNvSpPr>
            <a:spLocks noGrp="1"/>
          </p:cNvSpPr>
          <p:nvPr>
            <p:ph type="body" idx="18" hasCustomPrompt="1"/>
          </p:nvPr>
        </p:nvSpPr>
        <p:spPr>
          <a:xfrm>
            <a:off x="3415145" y="2011362"/>
            <a:ext cx="5255029" cy="503237"/>
          </a:xfrm>
          <a:solidFill>
            <a:srgbClr val="ED7D31"/>
          </a:solidFill>
        </p:spPr>
        <p:txBody>
          <a:bodyPr anchor="ctr">
            <a:normAutofit/>
          </a:bodyPr>
          <a:lstStyle>
            <a:lvl1pPr marL="0" indent="0">
              <a:buNone/>
              <a:defRPr b="1"/>
            </a:lvl1pPr>
          </a:lstStyle>
          <a:p>
            <a:r>
              <a:rPr lang="fr-FR" sz="2000" dirty="0"/>
              <a:t>Déroulement</a:t>
            </a:r>
          </a:p>
        </p:txBody>
      </p:sp>
      <p:sp>
        <p:nvSpPr>
          <p:cNvPr id="19" name="Espace réservé du texte 11">
            <a:extLst>
              <a:ext uri="{FF2B5EF4-FFF2-40B4-BE49-F238E27FC236}">
                <a16:creationId xmlns:a16="http://schemas.microsoft.com/office/drawing/2014/main" id="{6314BD1E-5C51-4675-8B2E-5D55A2E60381}"/>
              </a:ext>
            </a:extLst>
          </p:cNvPr>
          <p:cNvSpPr>
            <a:spLocks noGrp="1"/>
          </p:cNvSpPr>
          <p:nvPr>
            <p:ph type="body" sz="quarter" idx="19"/>
          </p:nvPr>
        </p:nvSpPr>
        <p:spPr>
          <a:xfrm>
            <a:off x="8941724" y="2514600"/>
            <a:ext cx="2404138" cy="3520758"/>
          </a:xfrm>
          <a:solidFill>
            <a:schemeClr val="bg1">
              <a:lumMod val="95000"/>
            </a:schemeClr>
          </a:solidFill>
        </p:spPr>
        <p:txBody>
          <a:bodyPr>
            <a:noAutofit/>
          </a:bodyPr>
          <a:lstStyle>
            <a:lvl1pPr marL="0" indent="0">
              <a:buNone/>
              <a:defRPr sz="1600"/>
            </a:lvl1pPr>
            <a:lvl2pPr marL="457200" indent="0">
              <a:buNone/>
              <a:defRPr sz="1400"/>
            </a:lvl2pPr>
            <a:lvl3pPr marL="914400" indent="0">
              <a:buNone/>
              <a:defRPr sz="1200"/>
            </a:lvl3pPr>
            <a:lvl4pPr marL="1371600" indent="0">
              <a:buNone/>
              <a:defRPr sz="1100"/>
            </a:lvl4pPr>
            <a:lvl5pPr marL="1828800" indent="0">
              <a:buNone/>
              <a:defRPr sz="1100"/>
            </a:lvl5p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
        <p:nvSpPr>
          <p:cNvPr id="20" name="Espace réservé du texte 3">
            <a:extLst>
              <a:ext uri="{FF2B5EF4-FFF2-40B4-BE49-F238E27FC236}">
                <a16:creationId xmlns:a16="http://schemas.microsoft.com/office/drawing/2014/main" id="{A0367A33-B32C-4E8B-AF59-2F2F8AF32DE5}"/>
              </a:ext>
            </a:extLst>
          </p:cNvPr>
          <p:cNvSpPr>
            <a:spLocks noGrp="1"/>
          </p:cNvSpPr>
          <p:nvPr>
            <p:ph type="body" idx="20" hasCustomPrompt="1"/>
          </p:nvPr>
        </p:nvSpPr>
        <p:spPr>
          <a:xfrm>
            <a:off x="8933786" y="2011362"/>
            <a:ext cx="2412076" cy="503237"/>
          </a:xfrm>
          <a:solidFill>
            <a:srgbClr val="BFBFBF"/>
          </a:solidFill>
        </p:spPr>
        <p:txBody>
          <a:bodyPr anchor="ctr">
            <a:normAutofit/>
          </a:bodyPr>
          <a:lstStyle>
            <a:lvl1pPr marL="0" indent="0">
              <a:buNone/>
              <a:defRPr b="1"/>
            </a:lvl1pPr>
          </a:lstStyle>
          <a:p>
            <a:r>
              <a:rPr lang="fr-FR" sz="2000" dirty="0"/>
              <a:t>Debriefing</a:t>
            </a:r>
          </a:p>
        </p:txBody>
      </p:sp>
    </p:spTree>
    <p:extLst>
      <p:ext uri="{BB962C8B-B14F-4D97-AF65-F5344CB8AC3E}">
        <p14:creationId xmlns:p14="http://schemas.microsoft.com/office/powerpoint/2010/main" val="372704546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_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58228A6-096C-4673-9079-F46A8D2ED92C}"/>
              </a:ext>
            </a:extLst>
          </p:cNvPr>
          <p:cNvSpPr>
            <a:spLocks noGrp="1"/>
          </p:cNvSpPr>
          <p:nvPr>
            <p:ph type="title"/>
          </p:nvPr>
        </p:nvSpPr>
        <p:spPr/>
        <p:txBody>
          <a:bodyPr/>
          <a:lstStyle/>
          <a:p>
            <a:r>
              <a:rPr lang="fr-FR"/>
              <a:t>Modifiez le style du titre</a:t>
            </a:r>
          </a:p>
        </p:txBody>
      </p:sp>
      <p:sp>
        <p:nvSpPr>
          <p:cNvPr id="4" name="Espace réservé de la date 3">
            <a:extLst>
              <a:ext uri="{FF2B5EF4-FFF2-40B4-BE49-F238E27FC236}">
                <a16:creationId xmlns:a16="http://schemas.microsoft.com/office/drawing/2014/main" id="{E0675FF8-2716-458A-87EC-1946B2412C54}"/>
              </a:ext>
            </a:extLst>
          </p:cNvPr>
          <p:cNvSpPr>
            <a:spLocks noGrp="1"/>
          </p:cNvSpPr>
          <p:nvPr>
            <p:ph type="dt" sz="half" idx="10"/>
          </p:nvPr>
        </p:nvSpPr>
        <p:spPr/>
        <p:txBody>
          <a:bodyPr/>
          <a:lstStyle/>
          <a:p>
            <a:fld id="{2E6439E6-DD8C-4C85-9C7B-9357438C85CB}" type="datetimeFigureOut">
              <a:rPr lang="fr-FR" smtClean="0"/>
              <a:t>05/12/2023</a:t>
            </a:fld>
            <a:endParaRPr lang="fr-FR"/>
          </a:p>
        </p:txBody>
      </p:sp>
      <p:sp>
        <p:nvSpPr>
          <p:cNvPr id="5" name="Espace réservé du pied de page 4">
            <a:extLst>
              <a:ext uri="{FF2B5EF4-FFF2-40B4-BE49-F238E27FC236}">
                <a16:creationId xmlns:a16="http://schemas.microsoft.com/office/drawing/2014/main" id="{3DA611A9-68F4-4DA3-B125-40A38CA78832}"/>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D92A5F1A-93D2-4E3F-A68E-9339C42C1AA3}"/>
              </a:ext>
            </a:extLst>
          </p:cNvPr>
          <p:cNvSpPr>
            <a:spLocks noGrp="1"/>
          </p:cNvSpPr>
          <p:nvPr>
            <p:ph type="sldNum" sz="quarter" idx="12"/>
          </p:nvPr>
        </p:nvSpPr>
        <p:spPr/>
        <p:txBody>
          <a:bodyPr/>
          <a:lstStyle/>
          <a:p>
            <a:fld id="{87B4D992-F161-4455-B186-2BFDF7EA604F}" type="slidenum">
              <a:rPr lang="fr-FR" smtClean="0"/>
              <a:t>‹N›</a:t>
            </a:fld>
            <a:endParaRPr lang="fr-FR"/>
          </a:p>
        </p:txBody>
      </p:sp>
      <p:sp>
        <p:nvSpPr>
          <p:cNvPr id="8" name="Espace réservé pour une image  7">
            <a:extLst>
              <a:ext uri="{FF2B5EF4-FFF2-40B4-BE49-F238E27FC236}">
                <a16:creationId xmlns:a16="http://schemas.microsoft.com/office/drawing/2014/main" id="{2C332C41-73E0-4A68-BA54-2BCF680F9915}"/>
              </a:ext>
            </a:extLst>
          </p:cNvPr>
          <p:cNvSpPr>
            <a:spLocks noGrp="1"/>
          </p:cNvSpPr>
          <p:nvPr>
            <p:ph type="pic" sz="quarter" idx="13"/>
          </p:nvPr>
        </p:nvSpPr>
        <p:spPr>
          <a:xfrm>
            <a:off x="846428" y="1862686"/>
            <a:ext cx="3401376" cy="3357707"/>
          </a:xfrm>
        </p:spPr>
        <p:txBody>
          <a:bodyPr>
            <a:normAutofit/>
          </a:bodyPr>
          <a:lstStyle>
            <a:lvl1pPr marL="0" indent="0" algn="ctr">
              <a:buNone/>
              <a:defRPr sz="1050"/>
            </a:lvl1pPr>
          </a:lstStyle>
          <a:p>
            <a:endParaRPr lang="fr-FR"/>
          </a:p>
        </p:txBody>
      </p:sp>
      <p:sp>
        <p:nvSpPr>
          <p:cNvPr id="9" name="Espace réservé pour une image  7">
            <a:extLst>
              <a:ext uri="{FF2B5EF4-FFF2-40B4-BE49-F238E27FC236}">
                <a16:creationId xmlns:a16="http://schemas.microsoft.com/office/drawing/2014/main" id="{85084207-9D6C-4830-8C9D-C0F790D6CD3D}"/>
              </a:ext>
            </a:extLst>
          </p:cNvPr>
          <p:cNvSpPr>
            <a:spLocks noGrp="1"/>
          </p:cNvSpPr>
          <p:nvPr>
            <p:ph type="pic" sz="quarter" idx="14"/>
          </p:nvPr>
        </p:nvSpPr>
        <p:spPr>
          <a:xfrm>
            <a:off x="4395312" y="1862686"/>
            <a:ext cx="3401376" cy="3357707"/>
          </a:xfrm>
        </p:spPr>
        <p:txBody>
          <a:bodyPr>
            <a:normAutofit/>
          </a:bodyPr>
          <a:lstStyle>
            <a:lvl1pPr marL="0" indent="0" algn="ctr">
              <a:buNone/>
              <a:defRPr sz="1050"/>
            </a:lvl1pPr>
          </a:lstStyle>
          <a:p>
            <a:endParaRPr lang="fr-FR"/>
          </a:p>
        </p:txBody>
      </p:sp>
      <p:sp>
        <p:nvSpPr>
          <p:cNvPr id="10" name="Espace réservé pour une image  7">
            <a:extLst>
              <a:ext uri="{FF2B5EF4-FFF2-40B4-BE49-F238E27FC236}">
                <a16:creationId xmlns:a16="http://schemas.microsoft.com/office/drawing/2014/main" id="{91EDD172-1D93-470D-AC66-32C44E09933C}"/>
              </a:ext>
            </a:extLst>
          </p:cNvPr>
          <p:cNvSpPr>
            <a:spLocks noGrp="1"/>
          </p:cNvSpPr>
          <p:nvPr>
            <p:ph type="pic" sz="quarter" idx="15"/>
          </p:nvPr>
        </p:nvSpPr>
        <p:spPr>
          <a:xfrm>
            <a:off x="7935885" y="1862686"/>
            <a:ext cx="3401376" cy="3357707"/>
          </a:xfrm>
        </p:spPr>
        <p:txBody>
          <a:bodyPr>
            <a:normAutofit/>
          </a:bodyPr>
          <a:lstStyle>
            <a:lvl1pPr marL="0" indent="0" algn="ctr">
              <a:buNone/>
              <a:defRPr sz="1050"/>
            </a:lvl1pPr>
          </a:lstStyle>
          <a:p>
            <a:endParaRPr lang="fr-FR"/>
          </a:p>
        </p:txBody>
      </p:sp>
      <p:sp>
        <p:nvSpPr>
          <p:cNvPr id="12" name="Espace réservé du texte 11">
            <a:extLst>
              <a:ext uri="{FF2B5EF4-FFF2-40B4-BE49-F238E27FC236}">
                <a16:creationId xmlns:a16="http://schemas.microsoft.com/office/drawing/2014/main" id="{7EF081AE-78A0-4824-86D2-C4B9835730D6}"/>
              </a:ext>
            </a:extLst>
          </p:cNvPr>
          <p:cNvSpPr>
            <a:spLocks noGrp="1"/>
          </p:cNvSpPr>
          <p:nvPr>
            <p:ph type="body" sz="quarter" idx="16"/>
          </p:nvPr>
        </p:nvSpPr>
        <p:spPr>
          <a:xfrm>
            <a:off x="846138" y="5461000"/>
            <a:ext cx="3402012" cy="574675"/>
          </a:xfrm>
          <a:solidFill>
            <a:schemeClr val="bg1">
              <a:lumMod val="95000"/>
            </a:schemeClr>
          </a:solidFill>
        </p:spPr>
        <p:txBody>
          <a:bodyPr>
            <a:noAutofit/>
          </a:bodyPr>
          <a:lstStyle>
            <a:lvl1pPr marL="0" indent="0">
              <a:buNone/>
              <a:defRPr sz="1600"/>
            </a:lvl1pPr>
            <a:lvl2pPr marL="457200" indent="0">
              <a:buNone/>
              <a:defRPr sz="1400"/>
            </a:lvl2pPr>
            <a:lvl3pPr marL="914400" indent="0">
              <a:buNone/>
              <a:defRPr sz="1200"/>
            </a:lvl3pPr>
            <a:lvl4pPr marL="1371600" indent="0">
              <a:buNone/>
              <a:defRPr sz="1100"/>
            </a:lvl4pPr>
            <a:lvl5pPr marL="1828800" indent="0">
              <a:buNone/>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3" name="Espace réservé du texte 11">
            <a:extLst>
              <a:ext uri="{FF2B5EF4-FFF2-40B4-BE49-F238E27FC236}">
                <a16:creationId xmlns:a16="http://schemas.microsoft.com/office/drawing/2014/main" id="{6276362D-55B6-4312-B102-04294EA4DDBD}"/>
              </a:ext>
            </a:extLst>
          </p:cNvPr>
          <p:cNvSpPr>
            <a:spLocks noGrp="1"/>
          </p:cNvSpPr>
          <p:nvPr>
            <p:ph type="body" sz="quarter" idx="17"/>
          </p:nvPr>
        </p:nvSpPr>
        <p:spPr>
          <a:xfrm>
            <a:off x="4395312" y="5461000"/>
            <a:ext cx="3402012" cy="574675"/>
          </a:xfrm>
          <a:solidFill>
            <a:schemeClr val="bg1">
              <a:lumMod val="95000"/>
            </a:schemeClr>
          </a:solidFill>
        </p:spPr>
        <p:txBody>
          <a:bodyPr>
            <a:noAutofit/>
          </a:bodyPr>
          <a:lstStyle>
            <a:lvl1pPr marL="0" indent="0">
              <a:buNone/>
              <a:defRPr sz="1600"/>
            </a:lvl1pPr>
            <a:lvl2pPr marL="457200" indent="0">
              <a:buNone/>
              <a:defRPr sz="1400"/>
            </a:lvl2pPr>
            <a:lvl3pPr marL="914400" indent="0">
              <a:buNone/>
              <a:defRPr sz="1200"/>
            </a:lvl3pPr>
            <a:lvl4pPr marL="1371600" indent="0">
              <a:buNone/>
              <a:defRPr sz="1100"/>
            </a:lvl4pPr>
            <a:lvl5pPr marL="1828800" indent="0">
              <a:buNone/>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4" name="Espace réservé du texte 11">
            <a:extLst>
              <a:ext uri="{FF2B5EF4-FFF2-40B4-BE49-F238E27FC236}">
                <a16:creationId xmlns:a16="http://schemas.microsoft.com/office/drawing/2014/main" id="{D9805BDB-0484-42C1-8EE5-F926C263C7DD}"/>
              </a:ext>
            </a:extLst>
          </p:cNvPr>
          <p:cNvSpPr>
            <a:spLocks noGrp="1"/>
          </p:cNvSpPr>
          <p:nvPr>
            <p:ph type="body" sz="quarter" idx="18"/>
          </p:nvPr>
        </p:nvSpPr>
        <p:spPr>
          <a:xfrm>
            <a:off x="7935885" y="5461000"/>
            <a:ext cx="3402012" cy="574675"/>
          </a:xfrm>
          <a:solidFill>
            <a:schemeClr val="bg1">
              <a:lumMod val="95000"/>
            </a:schemeClr>
          </a:solidFill>
        </p:spPr>
        <p:txBody>
          <a:bodyPr>
            <a:noAutofit/>
          </a:bodyPr>
          <a:lstStyle>
            <a:lvl1pPr marL="0" indent="0">
              <a:buNone/>
              <a:defRPr sz="1600"/>
            </a:lvl1pPr>
            <a:lvl2pPr marL="457200" indent="0">
              <a:buNone/>
              <a:defRPr sz="1400"/>
            </a:lvl2pPr>
            <a:lvl3pPr marL="914400" indent="0">
              <a:buNone/>
              <a:defRPr sz="1200"/>
            </a:lvl3pPr>
            <a:lvl4pPr marL="1371600" indent="0">
              <a:buNone/>
              <a:defRPr sz="1100"/>
            </a:lvl4pPr>
            <a:lvl5pPr marL="1828800" indent="0">
              <a:buNone/>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2554588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B325BDE-35A4-4AAD-960B-C1415864ADD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E459C78-0CC4-4552-93DD-49B4194D005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6744A3C-9C54-46A6-B3EF-5B36362423E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2AC24A9-CCB6-4F8D-B8DB-C2F3692CFA5A}" type="datetimeFigureOut">
              <a:rPr lang="en-US" smtClean="0"/>
              <a:t>12/5/2023</a:t>
            </a:fld>
            <a:endParaRPr lang="en-US"/>
          </a:p>
        </p:txBody>
      </p:sp>
      <p:sp>
        <p:nvSpPr>
          <p:cNvPr id="5" name="Footer Placeholder 4">
            <a:extLst>
              <a:ext uri="{FF2B5EF4-FFF2-40B4-BE49-F238E27FC236}">
                <a16:creationId xmlns:a16="http://schemas.microsoft.com/office/drawing/2014/main" id="{07D5A696-7B4B-4181-A961-7D66556D507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3038CB5-8F4A-401D-A3A9-B27DC15B7A8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2DC25EE-239B-4C5F-AAD1-255A7D5F1EE2}" type="slidenum">
              <a:rPr lang="en-US" smtClean="0"/>
              <a:t>‹N›</a:t>
            </a:fld>
            <a:endParaRPr lang="en-US"/>
          </a:p>
        </p:txBody>
      </p:sp>
      <p:pic>
        <p:nvPicPr>
          <p:cNvPr id="7" name="Image 6">
            <a:extLst>
              <a:ext uri="{FF2B5EF4-FFF2-40B4-BE49-F238E27FC236}">
                <a16:creationId xmlns:a16="http://schemas.microsoft.com/office/drawing/2014/main" id="{DD0BBC3B-29A1-B638-E02D-D746A537FC3D}"/>
              </a:ext>
            </a:extLst>
          </p:cNvPr>
          <p:cNvPicPr>
            <a:picLocks noChangeAspect="1"/>
          </p:cNvPicPr>
          <p:nvPr userDrawn="1"/>
        </p:nvPicPr>
        <p:blipFill rotWithShape="1">
          <a:blip r:embed="rId17">
            <a:extLst>
              <a:ext uri="{28A0092B-C50C-407E-A947-70E740481C1C}">
                <a14:useLocalDpi xmlns:a14="http://schemas.microsoft.com/office/drawing/2010/main" val="0"/>
              </a:ext>
            </a:extLst>
          </a:blip>
          <a:srcRect b="18340"/>
          <a:stretch/>
        </p:blipFill>
        <p:spPr>
          <a:xfrm>
            <a:off x="11353800" y="0"/>
            <a:ext cx="809067" cy="365125"/>
          </a:xfrm>
          <a:prstGeom prst="rect">
            <a:avLst/>
          </a:prstGeom>
        </p:spPr>
      </p:pic>
      <p:pic>
        <p:nvPicPr>
          <p:cNvPr id="8" name="Image 7">
            <a:extLst>
              <a:ext uri="{FF2B5EF4-FFF2-40B4-BE49-F238E27FC236}">
                <a16:creationId xmlns:a16="http://schemas.microsoft.com/office/drawing/2014/main" id="{D1722849-1F27-A942-0E6F-97851B859017}"/>
              </a:ext>
            </a:extLst>
          </p:cNvPr>
          <p:cNvPicPr>
            <a:picLocks noChangeAspect="1"/>
          </p:cNvPicPr>
          <p:nvPr userDrawn="1"/>
        </p:nvPicPr>
        <p:blipFill rotWithShape="1">
          <a:blip r:embed="rId17">
            <a:extLst>
              <a:ext uri="{28A0092B-C50C-407E-A947-70E740481C1C}">
                <a14:useLocalDpi xmlns:a14="http://schemas.microsoft.com/office/drawing/2010/main" val="0"/>
              </a:ext>
            </a:extLst>
          </a:blip>
          <a:srcRect b="18340"/>
          <a:stretch/>
        </p:blipFill>
        <p:spPr>
          <a:xfrm>
            <a:off x="11382933" y="6492875"/>
            <a:ext cx="809067" cy="365125"/>
          </a:xfrm>
          <a:prstGeom prst="rect">
            <a:avLst/>
          </a:prstGeom>
        </p:spPr>
      </p:pic>
      <p:pic>
        <p:nvPicPr>
          <p:cNvPr id="9" name="Image 8">
            <a:extLst>
              <a:ext uri="{FF2B5EF4-FFF2-40B4-BE49-F238E27FC236}">
                <a16:creationId xmlns:a16="http://schemas.microsoft.com/office/drawing/2014/main" id="{192E2B26-E79A-8C47-C3C9-EC87F6CDF1C1}"/>
              </a:ext>
            </a:extLst>
          </p:cNvPr>
          <p:cNvPicPr>
            <a:picLocks noChangeAspect="1"/>
          </p:cNvPicPr>
          <p:nvPr userDrawn="1"/>
        </p:nvPicPr>
        <p:blipFill rotWithShape="1">
          <a:blip r:embed="rId17">
            <a:extLst>
              <a:ext uri="{28A0092B-C50C-407E-A947-70E740481C1C}">
                <a14:useLocalDpi xmlns:a14="http://schemas.microsoft.com/office/drawing/2010/main" val="0"/>
              </a:ext>
            </a:extLst>
          </a:blip>
          <a:srcRect b="18340"/>
          <a:stretch/>
        </p:blipFill>
        <p:spPr>
          <a:xfrm>
            <a:off x="0" y="0"/>
            <a:ext cx="809067" cy="365125"/>
          </a:xfrm>
          <a:prstGeom prst="rect">
            <a:avLst/>
          </a:prstGeom>
        </p:spPr>
      </p:pic>
      <p:pic>
        <p:nvPicPr>
          <p:cNvPr id="10" name="Image 9">
            <a:extLst>
              <a:ext uri="{FF2B5EF4-FFF2-40B4-BE49-F238E27FC236}">
                <a16:creationId xmlns:a16="http://schemas.microsoft.com/office/drawing/2014/main" id="{C2E82562-5149-F708-4085-D49F3C38FB59}"/>
              </a:ext>
            </a:extLst>
          </p:cNvPr>
          <p:cNvPicPr>
            <a:picLocks noChangeAspect="1"/>
          </p:cNvPicPr>
          <p:nvPr userDrawn="1"/>
        </p:nvPicPr>
        <p:blipFill rotWithShape="1">
          <a:blip r:embed="rId17">
            <a:extLst>
              <a:ext uri="{28A0092B-C50C-407E-A947-70E740481C1C}">
                <a14:useLocalDpi xmlns:a14="http://schemas.microsoft.com/office/drawing/2010/main" val="0"/>
              </a:ext>
            </a:extLst>
          </a:blip>
          <a:srcRect b="18340"/>
          <a:stretch/>
        </p:blipFill>
        <p:spPr>
          <a:xfrm>
            <a:off x="29133" y="6492875"/>
            <a:ext cx="809067" cy="365125"/>
          </a:xfrm>
          <a:prstGeom prst="rect">
            <a:avLst/>
          </a:prstGeom>
        </p:spPr>
      </p:pic>
    </p:spTree>
    <p:extLst>
      <p:ext uri="{BB962C8B-B14F-4D97-AF65-F5344CB8AC3E}">
        <p14:creationId xmlns:p14="http://schemas.microsoft.com/office/powerpoint/2010/main" val="1904633910"/>
      </p:ext>
    </p:extLst>
  </p:cSld>
  <p:clrMap bg1="lt1" tx1="dk1" bg2="lt2" tx2="dk2" accent1="accent1" accent2="accent2" accent3="accent3" accent4="accent4" accent5="accent5" accent6="accent6" hlink="hlink" folHlink="folHlink"/>
  <p:sldLayoutIdLst>
    <p:sldLayoutId id="2147483714" r:id="rId1"/>
    <p:sldLayoutId id="2147483715" r:id="rId2"/>
    <p:sldLayoutId id="2147483721" r:id="rId3"/>
    <p:sldLayoutId id="2147483716" r:id="rId4"/>
    <p:sldLayoutId id="2147483717" r:id="rId5"/>
    <p:sldLayoutId id="2147483720" r:id="rId6"/>
    <p:sldLayoutId id="2147483718" r:id="rId7"/>
    <p:sldLayoutId id="2147483712" r:id="rId8"/>
    <p:sldLayoutId id="2147483708" r:id="rId9"/>
    <p:sldLayoutId id="2147483709" r:id="rId10"/>
    <p:sldLayoutId id="2147483710" r:id="rId11"/>
    <p:sldLayoutId id="2147483711" r:id="rId12"/>
    <p:sldLayoutId id="2147483713" r:id="rId13"/>
    <p:sldLayoutId id="2147483722" r:id="rId14"/>
    <p:sldLayoutId id="2147483723" r:id="rId15"/>
  </p:sldLayoutIdLst>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1.xml"/><Relationship Id="rId4" Type="http://schemas.openxmlformats.org/officeDocument/2006/relationships/chart" Target="../charts/char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www.openseriousgames.org/OpenSeriousCommunity"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www.flickr.com/photos/30478819@N08/48049144948" TargetMode="External"/><Relationship Id="rId2" Type="http://schemas.openxmlformats.org/officeDocument/2006/relationships/image" Target="../media/image4.jpg"/><Relationship Id="rId1" Type="http://schemas.openxmlformats.org/officeDocument/2006/relationships/slideLayout" Target="../slideLayouts/slideLayout15.xml"/><Relationship Id="rId6" Type="http://schemas.openxmlformats.org/officeDocument/2006/relationships/chart" Target="../charts/chart2.xml"/><Relationship Id="rId5" Type="http://schemas.openxmlformats.org/officeDocument/2006/relationships/image" Target="../media/image6.jpe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hyperlink" Target="https://www.digitalocean.com/community/tutorials/how-to-detect-and-extract-faces-from-an-image-with-opencv-and-python" TargetMode="External"/><Relationship Id="rId7" Type="http://schemas.openxmlformats.org/officeDocument/2006/relationships/hyperlink" Target="https://www.duperrin.com/english/2021/04/27/improving-a-team-s-work-a-story-of-continuous-improvement/" TargetMode="External"/><Relationship Id="rId2" Type="http://schemas.openxmlformats.org/officeDocument/2006/relationships/image" Target="../media/image7.png"/><Relationship Id="rId1" Type="http://schemas.openxmlformats.org/officeDocument/2006/relationships/slideLayout" Target="../slideLayouts/slideLayout15.xml"/><Relationship Id="rId6" Type="http://schemas.openxmlformats.org/officeDocument/2006/relationships/image" Target="../media/image9.jpeg"/><Relationship Id="rId5" Type="http://schemas.openxmlformats.org/officeDocument/2006/relationships/hyperlink" Target="https://www.romancemeetslife.com/2013/07/winning-image-at-job-interviews-how-to.html" TargetMode="External"/><Relationship Id="rId4" Type="http://schemas.openxmlformats.org/officeDocument/2006/relationships/image" Target="../media/image8.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3" Type="http://schemas.openxmlformats.org/officeDocument/2006/relationships/image" Target="../media/image21.svg"/><Relationship Id="rId18" Type="http://schemas.openxmlformats.org/officeDocument/2006/relationships/image" Target="../media/image26.png"/><Relationship Id="rId26" Type="http://schemas.openxmlformats.org/officeDocument/2006/relationships/image" Target="../media/image34.png"/><Relationship Id="rId39" Type="http://schemas.openxmlformats.org/officeDocument/2006/relationships/image" Target="../media/image47.svg"/><Relationship Id="rId21" Type="http://schemas.openxmlformats.org/officeDocument/2006/relationships/image" Target="../media/image29.svg"/><Relationship Id="rId34" Type="http://schemas.openxmlformats.org/officeDocument/2006/relationships/image" Target="../media/image42.png"/><Relationship Id="rId42" Type="http://schemas.openxmlformats.org/officeDocument/2006/relationships/image" Target="../media/image50.png"/><Relationship Id="rId47" Type="http://schemas.openxmlformats.org/officeDocument/2006/relationships/image" Target="../media/image55.svg"/><Relationship Id="rId7" Type="http://schemas.openxmlformats.org/officeDocument/2006/relationships/image" Target="../media/image15.svg"/><Relationship Id="rId2" Type="http://schemas.openxmlformats.org/officeDocument/2006/relationships/image" Target="../media/image10.png"/><Relationship Id="rId16" Type="http://schemas.openxmlformats.org/officeDocument/2006/relationships/image" Target="../media/image24.png"/><Relationship Id="rId29" Type="http://schemas.openxmlformats.org/officeDocument/2006/relationships/image" Target="../media/image37.svg"/><Relationship Id="rId1" Type="http://schemas.openxmlformats.org/officeDocument/2006/relationships/slideLayout" Target="../slideLayouts/slideLayout2.xml"/><Relationship Id="rId6" Type="http://schemas.openxmlformats.org/officeDocument/2006/relationships/image" Target="../media/image14.png"/><Relationship Id="rId11" Type="http://schemas.openxmlformats.org/officeDocument/2006/relationships/image" Target="../media/image19.svg"/><Relationship Id="rId24" Type="http://schemas.openxmlformats.org/officeDocument/2006/relationships/image" Target="../media/image32.png"/><Relationship Id="rId32" Type="http://schemas.openxmlformats.org/officeDocument/2006/relationships/image" Target="../media/image40.png"/><Relationship Id="rId37" Type="http://schemas.openxmlformats.org/officeDocument/2006/relationships/image" Target="../media/image45.svg"/><Relationship Id="rId40" Type="http://schemas.openxmlformats.org/officeDocument/2006/relationships/image" Target="../media/image48.png"/><Relationship Id="rId45" Type="http://schemas.openxmlformats.org/officeDocument/2006/relationships/image" Target="../media/image53.svg"/><Relationship Id="rId5" Type="http://schemas.openxmlformats.org/officeDocument/2006/relationships/image" Target="../media/image13.svg"/><Relationship Id="rId15" Type="http://schemas.openxmlformats.org/officeDocument/2006/relationships/image" Target="../media/image23.svg"/><Relationship Id="rId23" Type="http://schemas.openxmlformats.org/officeDocument/2006/relationships/image" Target="../media/image31.svg"/><Relationship Id="rId28" Type="http://schemas.openxmlformats.org/officeDocument/2006/relationships/image" Target="../media/image36.png"/><Relationship Id="rId36" Type="http://schemas.openxmlformats.org/officeDocument/2006/relationships/image" Target="../media/image44.png"/><Relationship Id="rId10" Type="http://schemas.openxmlformats.org/officeDocument/2006/relationships/image" Target="../media/image18.png"/><Relationship Id="rId19" Type="http://schemas.openxmlformats.org/officeDocument/2006/relationships/image" Target="../media/image27.svg"/><Relationship Id="rId31" Type="http://schemas.openxmlformats.org/officeDocument/2006/relationships/image" Target="../media/image39.svg"/><Relationship Id="rId44" Type="http://schemas.openxmlformats.org/officeDocument/2006/relationships/image" Target="../media/image52.png"/><Relationship Id="rId4" Type="http://schemas.openxmlformats.org/officeDocument/2006/relationships/image" Target="../media/image12.png"/><Relationship Id="rId9" Type="http://schemas.openxmlformats.org/officeDocument/2006/relationships/image" Target="../media/image17.svg"/><Relationship Id="rId14" Type="http://schemas.openxmlformats.org/officeDocument/2006/relationships/image" Target="../media/image22.png"/><Relationship Id="rId22" Type="http://schemas.openxmlformats.org/officeDocument/2006/relationships/image" Target="../media/image30.png"/><Relationship Id="rId27" Type="http://schemas.openxmlformats.org/officeDocument/2006/relationships/image" Target="../media/image35.svg"/><Relationship Id="rId30" Type="http://schemas.openxmlformats.org/officeDocument/2006/relationships/image" Target="../media/image38.png"/><Relationship Id="rId35" Type="http://schemas.openxmlformats.org/officeDocument/2006/relationships/image" Target="../media/image43.svg"/><Relationship Id="rId43" Type="http://schemas.openxmlformats.org/officeDocument/2006/relationships/image" Target="../media/image51.svg"/><Relationship Id="rId8" Type="http://schemas.openxmlformats.org/officeDocument/2006/relationships/image" Target="../media/image16.png"/><Relationship Id="rId3" Type="http://schemas.openxmlformats.org/officeDocument/2006/relationships/image" Target="../media/image11.svg"/><Relationship Id="rId12" Type="http://schemas.openxmlformats.org/officeDocument/2006/relationships/image" Target="../media/image20.png"/><Relationship Id="rId17" Type="http://schemas.openxmlformats.org/officeDocument/2006/relationships/image" Target="../media/image25.svg"/><Relationship Id="rId25" Type="http://schemas.openxmlformats.org/officeDocument/2006/relationships/image" Target="../media/image33.svg"/><Relationship Id="rId33" Type="http://schemas.openxmlformats.org/officeDocument/2006/relationships/image" Target="../media/image41.svg"/><Relationship Id="rId38" Type="http://schemas.openxmlformats.org/officeDocument/2006/relationships/image" Target="../media/image46.png"/><Relationship Id="rId46" Type="http://schemas.openxmlformats.org/officeDocument/2006/relationships/image" Target="../media/image54.png"/><Relationship Id="rId20" Type="http://schemas.openxmlformats.org/officeDocument/2006/relationships/image" Target="../media/image28.png"/><Relationship Id="rId41" Type="http://schemas.openxmlformats.org/officeDocument/2006/relationships/image" Target="../media/image49.sv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image" Target="../media/image58.png"/><Relationship Id="rId13" Type="http://schemas.openxmlformats.org/officeDocument/2006/relationships/image" Target="../media/image63.svg"/><Relationship Id="rId3" Type="http://schemas.openxmlformats.org/officeDocument/2006/relationships/image" Target="../media/image57.svg"/><Relationship Id="rId7" Type="http://schemas.openxmlformats.org/officeDocument/2006/relationships/image" Target="../media/image29.svg"/><Relationship Id="rId12" Type="http://schemas.openxmlformats.org/officeDocument/2006/relationships/image" Target="../media/image62.png"/><Relationship Id="rId2" Type="http://schemas.openxmlformats.org/officeDocument/2006/relationships/image" Target="../media/image56.png"/><Relationship Id="rId1" Type="http://schemas.openxmlformats.org/officeDocument/2006/relationships/slideLayout" Target="../slideLayouts/slideLayout2.xml"/><Relationship Id="rId6" Type="http://schemas.openxmlformats.org/officeDocument/2006/relationships/image" Target="../media/image28.png"/><Relationship Id="rId11" Type="http://schemas.openxmlformats.org/officeDocument/2006/relationships/image" Target="../media/image61.svg"/><Relationship Id="rId5" Type="http://schemas.openxmlformats.org/officeDocument/2006/relationships/image" Target="../media/image31.svg"/><Relationship Id="rId15" Type="http://schemas.openxmlformats.org/officeDocument/2006/relationships/image" Target="../media/image65.svg"/><Relationship Id="rId10" Type="http://schemas.openxmlformats.org/officeDocument/2006/relationships/image" Target="../media/image60.png"/><Relationship Id="rId4" Type="http://schemas.openxmlformats.org/officeDocument/2006/relationships/image" Target="../media/image30.png"/><Relationship Id="rId9" Type="http://schemas.openxmlformats.org/officeDocument/2006/relationships/image" Target="../media/image59.svg"/><Relationship Id="rId14" Type="http://schemas.openxmlformats.org/officeDocument/2006/relationships/image" Target="../media/image64.png"/></Relationships>
</file>

<file path=ppt/slides/_rels/slide1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chart" Target="../charts/chart3.xml"/><Relationship Id="rId1" Type="http://schemas.openxmlformats.org/officeDocument/2006/relationships/slideLayout" Target="../slideLayouts/slideLayout2.xml"/><Relationship Id="rId5" Type="http://schemas.openxmlformats.org/officeDocument/2006/relationships/image" Target="../media/image67.svg"/><Relationship Id="rId4" Type="http://schemas.openxmlformats.org/officeDocument/2006/relationships/image" Target="../media/image66.png"/></Relationships>
</file>

<file path=ppt/slides/_rels/slide1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chart" Target="../charts/chart4.xml"/><Relationship Id="rId1" Type="http://schemas.openxmlformats.org/officeDocument/2006/relationships/slideLayout" Target="../slideLayouts/slideLayout2.xml"/><Relationship Id="rId5" Type="http://schemas.openxmlformats.org/officeDocument/2006/relationships/image" Target="../media/image68.jpeg"/><Relationship Id="rId4" Type="http://schemas.openxmlformats.org/officeDocument/2006/relationships/chart" Target="../charts/char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image" Target="../media/image74.svg"/><Relationship Id="rId3" Type="http://schemas.openxmlformats.org/officeDocument/2006/relationships/image" Target="../media/image69.png"/><Relationship Id="rId7" Type="http://schemas.openxmlformats.org/officeDocument/2006/relationships/image" Target="../media/image73.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72.svg"/><Relationship Id="rId5" Type="http://schemas.openxmlformats.org/officeDocument/2006/relationships/image" Target="../media/image71.png"/><Relationship Id="rId4" Type="http://schemas.openxmlformats.org/officeDocument/2006/relationships/image" Target="../media/image70.sv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8" Type="http://schemas.openxmlformats.org/officeDocument/2006/relationships/image" Target="../media/image81.png"/><Relationship Id="rId13" Type="http://schemas.openxmlformats.org/officeDocument/2006/relationships/image" Target="../media/image85.svg"/><Relationship Id="rId3" Type="http://schemas.openxmlformats.org/officeDocument/2006/relationships/image" Target="../media/image76.svg"/><Relationship Id="rId7" Type="http://schemas.openxmlformats.org/officeDocument/2006/relationships/image" Target="../media/image80.svg"/><Relationship Id="rId12" Type="http://schemas.openxmlformats.org/officeDocument/2006/relationships/image" Target="../media/image84.png"/><Relationship Id="rId2" Type="http://schemas.openxmlformats.org/officeDocument/2006/relationships/image" Target="../media/image75.png"/><Relationship Id="rId16" Type="http://schemas.openxmlformats.org/officeDocument/2006/relationships/image" Target="../media/image88.svg"/><Relationship Id="rId1" Type="http://schemas.openxmlformats.org/officeDocument/2006/relationships/slideLayout" Target="../slideLayouts/slideLayout14.xml"/><Relationship Id="rId6" Type="http://schemas.openxmlformats.org/officeDocument/2006/relationships/image" Target="../media/image79.png"/><Relationship Id="rId11" Type="http://schemas.openxmlformats.org/officeDocument/2006/relationships/image" Target="../media/image83.svg"/><Relationship Id="rId5" Type="http://schemas.openxmlformats.org/officeDocument/2006/relationships/image" Target="../media/image78.svg"/><Relationship Id="rId15" Type="http://schemas.openxmlformats.org/officeDocument/2006/relationships/image" Target="../media/image87.png"/><Relationship Id="rId10" Type="http://schemas.openxmlformats.org/officeDocument/2006/relationships/image" Target="../media/image82.png"/><Relationship Id="rId4" Type="http://schemas.openxmlformats.org/officeDocument/2006/relationships/image" Target="../media/image77.png"/><Relationship Id="rId9" Type="http://schemas.microsoft.com/office/2007/relationships/hdphoto" Target="../media/hdphoto1.wdp"/><Relationship Id="rId14" Type="http://schemas.openxmlformats.org/officeDocument/2006/relationships/image" Target="../media/image86.sv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itre 1">
            <a:extLst>
              <a:ext uri="{FF2B5EF4-FFF2-40B4-BE49-F238E27FC236}">
                <a16:creationId xmlns:a16="http://schemas.microsoft.com/office/drawing/2014/main" id="{065A1710-095B-4220-88EC-52590635CCBC}"/>
              </a:ext>
            </a:extLst>
          </p:cNvPr>
          <p:cNvSpPr txBox="1">
            <a:spLocks/>
          </p:cNvSpPr>
          <p:nvPr/>
        </p:nvSpPr>
        <p:spPr>
          <a:xfrm>
            <a:off x="6250014" y="6275467"/>
            <a:ext cx="5941986" cy="48858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a:spcAft>
                <a:spcPts val="600"/>
              </a:spcAft>
            </a:pPr>
            <a:r>
              <a:rPr lang="en-US" sz="1800" b="1" dirty="0"/>
              <a:t>Version 1 – KOMYU</a:t>
            </a:r>
          </a:p>
        </p:txBody>
      </p:sp>
      <p:pic>
        <p:nvPicPr>
          <p:cNvPr id="36" name="Image 35" descr="Une image contenant texte, clipart&#10;&#10;Description générée automatiquement">
            <a:extLst>
              <a:ext uri="{FF2B5EF4-FFF2-40B4-BE49-F238E27FC236}">
                <a16:creationId xmlns:a16="http://schemas.microsoft.com/office/drawing/2014/main" id="{DA0EF64C-2F24-43C4-BA48-DC2DE5036DD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32912" y="6409469"/>
            <a:ext cx="789196" cy="286130"/>
          </a:xfrm>
          <a:prstGeom prst="rect">
            <a:avLst/>
          </a:prstGeom>
        </p:spPr>
      </p:pic>
      <p:pic>
        <p:nvPicPr>
          <p:cNvPr id="4" name="Image 3">
            <a:extLst>
              <a:ext uri="{FF2B5EF4-FFF2-40B4-BE49-F238E27FC236}">
                <a16:creationId xmlns:a16="http://schemas.microsoft.com/office/drawing/2014/main" id="{4276A8A0-91A7-41C6-8337-580E459AC82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006302" y="5387295"/>
            <a:ext cx="890885" cy="859442"/>
          </a:xfrm>
          <a:prstGeom prst="rect">
            <a:avLst/>
          </a:prstGeom>
        </p:spPr>
      </p:pic>
      <p:sp>
        <p:nvSpPr>
          <p:cNvPr id="3" name="ZoneTexte 2">
            <a:extLst>
              <a:ext uri="{FF2B5EF4-FFF2-40B4-BE49-F238E27FC236}">
                <a16:creationId xmlns:a16="http://schemas.microsoft.com/office/drawing/2014/main" id="{760F2153-A99C-7884-B357-72D68732BCD2}"/>
              </a:ext>
            </a:extLst>
          </p:cNvPr>
          <p:cNvSpPr txBox="1"/>
          <p:nvPr/>
        </p:nvSpPr>
        <p:spPr>
          <a:xfrm>
            <a:off x="1232925" y="668925"/>
            <a:ext cx="5557023" cy="4585871"/>
          </a:xfrm>
          <a:prstGeom prst="rect">
            <a:avLst/>
          </a:prstGeom>
          <a:noFill/>
        </p:spPr>
        <p:txBody>
          <a:bodyPr wrap="square" rtlCol="0">
            <a:spAutoFit/>
          </a:bodyPr>
          <a:lstStyle/>
          <a:p>
            <a:r>
              <a:rPr lang="en-US" sz="6000" b="1" i="1" dirty="0">
                <a:solidFill>
                  <a:srgbClr val="ED7D31"/>
                </a:solidFill>
              </a:rPr>
              <a:t>W9 Community Boosters Checklist</a:t>
            </a:r>
          </a:p>
          <a:p>
            <a:endParaRPr lang="en-US" sz="1200" dirty="0"/>
          </a:p>
          <a:p>
            <a:r>
              <a:rPr lang="en-US" sz="2000" b="1" i="1" dirty="0">
                <a:solidFill>
                  <a:srgbClr val="0683AA"/>
                </a:solidFill>
              </a:rPr>
              <a:t>Training &amp; empowerment cheat sheet for Community boosters</a:t>
            </a:r>
          </a:p>
        </p:txBody>
      </p:sp>
      <p:graphicFrame>
        <p:nvGraphicFramePr>
          <p:cNvPr id="6" name="Espace réservé du contenu 5">
            <a:extLst>
              <a:ext uri="{FF2B5EF4-FFF2-40B4-BE49-F238E27FC236}">
                <a16:creationId xmlns:a16="http://schemas.microsoft.com/office/drawing/2014/main" id="{38514433-9500-8849-DC7E-C467B358856B}"/>
              </a:ext>
            </a:extLst>
          </p:cNvPr>
          <p:cNvGraphicFramePr>
            <a:graphicFrameLocks/>
          </p:cNvGraphicFramePr>
          <p:nvPr>
            <p:extLst>
              <p:ext uri="{D42A27DB-BD31-4B8C-83A1-F6EECF244321}">
                <p14:modId xmlns:p14="http://schemas.microsoft.com/office/powerpoint/2010/main" val="1016702147"/>
              </p:ext>
            </p:extLst>
          </p:nvPr>
        </p:nvGraphicFramePr>
        <p:xfrm>
          <a:off x="7432457" y="668925"/>
          <a:ext cx="4886138" cy="3316173"/>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2152990317"/>
      </p:ext>
    </p:extLst>
  </p:cSld>
  <p:clrMapOvr>
    <a:masterClrMapping/>
  </p:clrMapOvr>
  <mc:AlternateContent xmlns:mc="http://schemas.openxmlformats.org/markup-compatibility/2006" xmlns:p14="http://schemas.microsoft.com/office/powerpoint/2010/main">
    <mc:Choice Requires="p14">
      <p:transition spd="slow" p14:dur="2000" advTm="14392"/>
    </mc:Choice>
    <mc:Fallback xmlns="">
      <p:transition spd="slow" advTm="14392"/>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06A794F-5F08-337C-50F0-FFEFF1446E0F}"/>
              </a:ext>
            </a:extLst>
          </p:cNvPr>
          <p:cNvSpPr>
            <a:spLocks noGrp="1"/>
          </p:cNvSpPr>
          <p:nvPr>
            <p:ph type="title"/>
          </p:nvPr>
        </p:nvSpPr>
        <p:spPr/>
        <p:txBody>
          <a:bodyPr>
            <a:normAutofit fontScale="90000"/>
          </a:bodyPr>
          <a:lstStyle/>
          <a:p>
            <a:r>
              <a:rPr lang="en-US" dirty="0"/>
              <a:t>This document is a #OpenSeriousCommunity #OSC content</a:t>
            </a:r>
          </a:p>
        </p:txBody>
      </p:sp>
      <p:sp>
        <p:nvSpPr>
          <p:cNvPr id="3" name="Espace réservé du contenu 2">
            <a:extLst>
              <a:ext uri="{FF2B5EF4-FFF2-40B4-BE49-F238E27FC236}">
                <a16:creationId xmlns:a16="http://schemas.microsoft.com/office/drawing/2014/main" id="{CB182D3C-1E44-118D-E03C-489E469BD4D1}"/>
              </a:ext>
            </a:extLst>
          </p:cNvPr>
          <p:cNvSpPr>
            <a:spLocks noGrp="1"/>
          </p:cNvSpPr>
          <p:nvPr>
            <p:ph idx="1"/>
          </p:nvPr>
        </p:nvSpPr>
        <p:spPr>
          <a:xfrm>
            <a:off x="838200" y="2447635"/>
            <a:ext cx="6920345" cy="3729327"/>
          </a:xfrm>
        </p:spPr>
        <p:txBody>
          <a:bodyPr>
            <a:normAutofit fontScale="62500" lnSpcReduction="20000"/>
          </a:bodyPr>
          <a:lstStyle/>
          <a:p>
            <a:pPr marL="0" indent="0">
              <a:buNone/>
            </a:pPr>
            <a:r>
              <a:rPr lang="en-US" dirty="0"/>
              <a:t>#OpenSeriousCommunity is a set of resources dedicated to helping to animate, grow, develop communities. 
The communities covered by #OpenSeriousCommunity can be just as much in the domain of the company, as of those of associations, institutions or private. 
The #OpenSeriousCommunity content follows the attributes of #OSG content, that-is-to-say it is open source and structured to promote maximum appropriation of the content for retransmission (further knowledge transfer).
For more information, please visit  </a:t>
            </a:r>
            <a:r>
              <a:rPr lang="en-US" dirty="0">
                <a:hlinkClick r:id="rId2"/>
              </a:rPr>
              <a:t>https://www.openseriousgames.org/OpenSeriousCommunity</a:t>
            </a:r>
            <a:r>
              <a:rPr lang="en-US" dirty="0"/>
              <a:t>
(in French)</a:t>
            </a:r>
          </a:p>
        </p:txBody>
      </p:sp>
      <p:pic>
        <p:nvPicPr>
          <p:cNvPr id="5" name="Image 4">
            <a:extLst>
              <a:ext uri="{FF2B5EF4-FFF2-40B4-BE49-F238E27FC236}">
                <a16:creationId xmlns:a16="http://schemas.microsoft.com/office/drawing/2014/main" id="{F426674B-9CEA-9EBE-9AEA-28D0A38AB56C}"/>
              </a:ext>
            </a:extLst>
          </p:cNvPr>
          <p:cNvPicPr>
            <a:picLocks noChangeAspect="1"/>
          </p:cNvPicPr>
          <p:nvPr/>
        </p:nvPicPr>
        <p:blipFill rotWithShape="1">
          <a:blip r:embed="rId3">
            <a:extLst>
              <a:ext uri="{28A0092B-C50C-407E-A947-70E740481C1C}">
                <a14:useLocalDpi xmlns:a14="http://schemas.microsoft.com/office/drawing/2010/main" val="0"/>
              </a:ext>
            </a:extLst>
          </a:blip>
          <a:srcRect b="18340"/>
          <a:stretch/>
        </p:blipFill>
        <p:spPr>
          <a:xfrm>
            <a:off x="7923952" y="3081254"/>
            <a:ext cx="4027903" cy="1817759"/>
          </a:xfrm>
          <a:prstGeom prst="rect">
            <a:avLst/>
          </a:prstGeom>
        </p:spPr>
      </p:pic>
    </p:spTree>
    <p:extLst>
      <p:ext uri="{BB962C8B-B14F-4D97-AF65-F5344CB8AC3E}">
        <p14:creationId xmlns:p14="http://schemas.microsoft.com/office/powerpoint/2010/main" val="27192903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4FD8270-C5BD-4C95-919E-846BFBD95020}"/>
              </a:ext>
            </a:extLst>
          </p:cNvPr>
          <p:cNvSpPr>
            <a:spLocks noGrp="1"/>
          </p:cNvSpPr>
          <p:nvPr>
            <p:ph type="title"/>
          </p:nvPr>
        </p:nvSpPr>
        <p:spPr>
          <a:xfrm>
            <a:off x="838200" y="365125"/>
            <a:ext cx="7696200" cy="1325563"/>
          </a:xfrm>
        </p:spPr>
        <p:txBody>
          <a:bodyPr>
            <a:normAutofit/>
          </a:bodyPr>
          <a:lstStyle/>
          <a:p>
            <a:r>
              <a:rPr lang="en-US"/>
              <a:t>Community Boosters Checklists in a nutshell</a:t>
            </a:r>
          </a:p>
        </p:txBody>
      </p:sp>
      <p:pic>
        <p:nvPicPr>
          <p:cNvPr id="17" name="Espace réservé pour une image  16">
            <a:extLst>
              <a:ext uri="{FF2B5EF4-FFF2-40B4-BE49-F238E27FC236}">
                <a16:creationId xmlns:a16="http://schemas.microsoft.com/office/drawing/2014/main" id="{BEFA2FC2-AA50-0A2E-BBFA-9A77F8602A68}"/>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15170" r="15170"/>
          <a:stretch>
            <a:fillRect/>
          </a:stretch>
        </p:blipFill>
        <p:spPr/>
      </p:pic>
      <p:pic>
        <p:nvPicPr>
          <p:cNvPr id="15" name="Espace réservé pour une image  14">
            <a:extLst>
              <a:ext uri="{FF2B5EF4-FFF2-40B4-BE49-F238E27FC236}">
                <a16:creationId xmlns:a16="http://schemas.microsoft.com/office/drawing/2014/main" id="{DE805386-C899-191B-D4B6-F04AB219FB63}"/>
              </a:ext>
            </a:extLst>
          </p:cNvPr>
          <p:cNvPicPr>
            <a:picLocks noGrp="1" noChangeAspect="1"/>
          </p:cNvPicPr>
          <p:nvPr>
            <p:ph type="pic" sz="quarter" idx="14"/>
          </p:nvPr>
        </p:nvPicPr>
        <p:blipFill>
          <a:blip r:embed="rId4">
            <a:extLst>
              <a:ext uri="{28A0092B-C50C-407E-A947-70E740481C1C}">
                <a14:useLocalDpi xmlns:a14="http://schemas.microsoft.com/office/drawing/2010/main" val="0"/>
              </a:ext>
            </a:extLst>
          </a:blip>
          <a:srcRect l="18659" r="18659"/>
          <a:stretch>
            <a:fillRect/>
          </a:stretch>
        </p:blipFill>
        <p:spPr/>
      </p:pic>
      <p:sp>
        <p:nvSpPr>
          <p:cNvPr id="9" name="Espace réservé du texte 8">
            <a:extLst>
              <a:ext uri="{FF2B5EF4-FFF2-40B4-BE49-F238E27FC236}">
                <a16:creationId xmlns:a16="http://schemas.microsoft.com/office/drawing/2014/main" id="{CA1044E5-4A38-4A57-BEC6-02CD1F1AFC8B}"/>
              </a:ext>
            </a:extLst>
          </p:cNvPr>
          <p:cNvSpPr>
            <a:spLocks noGrp="1"/>
          </p:cNvSpPr>
          <p:nvPr>
            <p:ph type="body" sz="quarter" idx="16"/>
          </p:nvPr>
        </p:nvSpPr>
        <p:spPr>
          <a:xfrm>
            <a:off x="846138" y="5460999"/>
            <a:ext cx="3402012" cy="1202447"/>
          </a:xfrm>
        </p:spPr>
        <p:txBody>
          <a:bodyPr/>
          <a:lstStyle/>
          <a:p>
            <a:r>
              <a:rPr lang="en-US" dirty="0"/>
              <a:t>Share about the intention behind “checking” Boosters (improve position, plan coaching, find local boosters, …)</a:t>
            </a:r>
          </a:p>
        </p:txBody>
      </p:sp>
      <p:sp>
        <p:nvSpPr>
          <p:cNvPr id="10" name="Espace réservé du texte 9">
            <a:extLst>
              <a:ext uri="{FF2B5EF4-FFF2-40B4-BE49-F238E27FC236}">
                <a16:creationId xmlns:a16="http://schemas.microsoft.com/office/drawing/2014/main" id="{D3A05F0F-47B8-4894-8D48-0C0F4C166E59}"/>
              </a:ext>
            </a:extLst>
          </p:cNvPr>
          <p:cNvSpPr>
            <a:spLocks noGrp="1"/>
          </p:cNvSpPr>
          <p:nvPr>
            <p:ph type="body" sz="quarter" idx="17"/>
          </p:nvPr>
        </p:nvSpPr>
        <p:spPr>
          <a:xfrm>
            <a:off x="4395312" y="5461000"/>
            <a:ext cx="3402012" cy="1202446"/>
          </a:xfrm>
        </p:spPr>
        <p:txBody>
          <a:bodyPr/>
          <a:lstStyle/>
          <a:p>
            <a:r>
              <a:rPr lang="en-US" dirty="0"/>
              <a:t>Together, mark the lists elements as ✔️OK or ⬜not and count points.</a:t>
            </a:r>
          </a:p>
        </p:txBody>
      </p:sp>
      <p:sp>
        <p:nvSpPr>
          <p:cNvPr id="11" name="Espace réservé du texte 10">
            <a:extLst>
              <a:ext uri="{FF2B5EF4-FFF2-40B4-BE49-F238E27FC236}">
                <a16:creationId xmlns:a16="http://schemas.microsoft.com/office/drawing/2014/main" id="{C5D8558B-FF11-4A39-8795-6E2A831F942D}"/>
              </a:ext>
            </a:extLst>
          </p:cNvPr>
          <p:cNvSpPr>
            <a:spLocks noGrp="1"/>
          </p:cNvSpPr>
          <p:nvPr>
            <p:ph type="body" sz="quarter" idx="18"/>
          </p:nvPr>
        </p:nvSpPr>
        <p:spPr/>
        <p:txBody>
          <a:bodyPr/>
          <a:lstStyle/>
          <a:p>
            <a:r>
              <a:rPr lang="en-US" dirty="0"/>
              <a:t>Display global result as a radar and discuss further steps</a:t>
            </a:r>
          </a:p>
        </p:txBody>
      </p:sp>
      <p:graphicFrame>
        <p:nvGraphicFramePr>
          <p:cNvPr id="3" name="Tableau 10">
            <a:extLst>
              <a:ext uri="{FF2B5EF4-FFF2-40B4-BE49-F238E27FC236}">
                <a16:creationId xmlns:a16="http://schemas.microsoft.com/office/drawing/2014/main" id="{74F7291A-7A22-6333-C71D-AB84BACC62B9}"/>
              </a:ext>
            </a:extLst>
          </p:cNvPr>
          <p:cNvGraphicFramePr>
            <a:graphicFrameLocks noGrp="1"/>
          </p:cNvGraphicFramePr>
          <p:nvPr>
            <p:extLst>
              <p:ext uri="{D42A27DB-BD31-4B8C-83A1-F6EECF244321}">
                <p14:modId xmlns:p14="http://schemas.microsoft.com/office/powerpoint/2010/main" val="2242765182"/>
              </p:ext>
            </p:extLst>
          </p:nvPr>
        </p:nvGraphicFramePr>
        <p:xfrm>
          <a:off x="8137470" y="2535334"/>
          <a:ext cx="3788641" cy="2381774"/>
        </p:xfrm>
        <a:graphic>
          <a:graphicData uri="http://schemas.openxmlformats.org/drawingml/2006/table">
            <a:tbl>
              <a:tblPr firstRow="1" bandRow="1">
                <a:tableStyleId>{5C22544A-7EE6-4342-B048-85BDC9FD1C3A}</a:tableStyleId>
              </a:tblPr>
              <a:tblGrid>
                <a:gridCol w="1371283">
                  <a:extLst>
                    <a:ext uri="{9D8B030D-6E8A-4147-A177-3AD203B41FA5}">
                      <a16:colId xmlns:a16="http://schemas.microsoft.com/office/drawing/2014/main" val="1904663190"/>
                    </a:ext>
                  </a:extLst>
                </a:gridCol>
                <a:gridCol w="2417358">
                  <a:extLst>
                    <a:ext uri="{9D8B030D-6E8A-4147-A177-3AD203B41FA5}">
                      <a16:colId xmlns:a16="http://schemas.microsoft.com/office/drawing/2014/main" val="1784215831"/>
                    </a:ext>
                  </a:extLst>
                </a:gridCol>
              </a:tblGrid>
              <a:tr h="968646">
                <a:tc>
                  <a:txBody>
                    <a:bodyPr/>
                    <a:lstStyle/>
                    <a:p>
                      <a:r>
                        <a:rPr lang="en-US" sz="1400" dirty="0"/>
                        <a:t>Candidate or future Community Booster</a:t>
                      </a:r>
                    </a:p>
                  </a:txBody>
                  <a:tcPr/>
                </a:tc>
                <a:tc>
                  <a:txBody>
                    <a:bodyPr/>
                    <a:lstStyle/>
                    <a:p>
                      <a:r>
                        <a:rPr lang="en-US" sz="1400"/>
                        <a:t>Next moves / actions</a:t>
                      </a:r>
                    </a:p>
                  </a:txBody>
                  <a:tcPr/>
                </a:tc>
                <a:extLst>
                  <a:ext uri="{0D108BD9-81ED-4DB2-BD59-A6C34878D82A}">
                    <a16:rowId xmlns:a16="http://schemas.microsoft.com/office/drawing/2014/main" val="2300183022"/>
                  </a:ext>
                </a:extLst>
              </a:tr>
              <a:tr h="1413128">
                <a:tc>
                  <a:txBody>
                    <a:bodyPr/>
                    <a:lstStyle/>
                    <a:p>
                      <a:r>
                        <a:rPr lang="en-US" sz="1200"/>
                        <a:t>Rick</a:t>
                      </a:r>
                    </a:p>
                  </a:txBody>
                  <a:tcPr/>
                </a:tc>
                <a:tc>
                  <a:txBody>
                    <a:bodyPr/>
                    <a:lstStyle/>
                    <a:p>
                      <a:pPr marL="342900" indent="-342900">
                        <a:buFont typeface="+mj-lt"/>
                        <a:buAutoNum type="arabicPeriod"/>
                      </a:pPr>
                      <a:r>
                        <a:rPr lang="en-US" sz="1200" b="1" dirty="0"/>
                        <a:t>🎖️Achievements : </a:t>
                      </a:r>
                      <a:r>
                        <a:rPr lang="en-US" sz="1200" dirty="0"/>
                        <a:t>Identify deeds to perform for the Community</a:t>
                      </a: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lang="en-US" sz="1200" b="1" dirty="0"/>
                        <a:t>⌛Resources and capacity : </a:t>
                      </a:r>
                      <a:r>
                        <a:rPr lang="en-US" sz="1200" dirty="0"/>
                        <a:t>Negotiate with manager for availabilities to ramp-up </a:t>
                      </a:r>
                    </a:p>
                  </a:txBody>
                  <a:tcPr/>
                </a:tc>
                <a:extLst>
                  <a:ext uri="{0D108BD9-81ED-4DB2-BD59-A6C34878D82A}">
                    <a16:rowId xmlns:a16="http://schemas.microsoft.com/office/drawing/2014/main" val="1747710672"/>
                  </a:ext>
                </a:extLst>
              </a:tr>
            </a:tbl>
          </a:graphicData>
        </a:graphic>
      </p:graphicFrame>
      <p:pic>
        <p:nvPicPr>
          <p:cNvPr id="12" name="Image 11">
            <a:extLst>
              <a:ext uri="{FF2B5EF4-FFF2-40B4-BE49-F238E27FC236}">
                <a16:creationId xmlns:a16="http://schemas.microsoft.com/office/drawing/2014/main" id="{5CDD82B8-D927-6604-1113-9DC524EB305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484723" y="3966630"/>
            <a:ext cx="613344" cy="613344"/>
          </a:xfrm>
          <a:prstGeom prst="rect">
            <a:avLst/>
          </a:prstGeom>
        </p:spPr>
      </p:pic>
      <p:graphicFrame>
        <p:nvGraphicFramePr>
          <p:cNvPr id="13" name="Espace réservé du contenu 5">
            <a:extLst>
              <a:ext uri="{FF2B5EF4-FFF2-40B4-BE49-F238E27FC236}">
                <a16:creationId xmlns:a16="http://schemas.microsoft.com/office/drawing/2014/main" id="{42CFA644-1294-9D63-6B91-7C7FCD424FFA}"/>
              </a:ext>
            </a:extLst>
          </p:cNvPr>
          <p:cNvGraphicFramePr>
            <a:graphicFrameLocks/>
          </p:cNvGraphicFramePr>
          <p:nvPr>
            <p:extLst>
              <p:ext uri="{D42A27DB-BD31-4B8C-83A1-F6EECF244321}">
                <p14:modId xmlns:p14="http://schemas.microsoft.com/office/powerpoint/2010/main" val="2445131719"/>
              </p:ext>
            </p:extLst>
          </p:nvPr>
        </p:nvGraphicFramePr>
        <p:xfrm>
          <a:off x="8297694" y="25964"/>
          <a:ext cx="3696399" cy="2509370"/>
        </p:xfrm>
        <a:graphic>
          <a:graphicData uri="http://schemas.openxmlformats.org/drawingml/2006/chart">
            <c:chart xmlns:c="http://schemas.openxmlformats.org/drawingml/2006/chart" xmlns:r="http://schemas.openxmlformats.org/officeDocument/2006/relationships" r:id="rId6"/>
          </a:graphicData>
        </a:graphic>
      </p:graphicFrame>
    </p:spTree>
    <p:extLst>
      <p:ext uri="{BB962C8B-B14F-4D97-AF65-F5344CB8AC3E}">
        <p14:creationId xmlns:p14="http://schemas.microsoft.com/office/powerpoint/2010/main" val="206778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4FD8270-C5BD-4C95-919E-846BFBD95020}"/>
              </a:ext>
            </a:extLst>
          </p:cNvPr>
          <p:cNvSpPr>
            <a:spLocks noGrp="1"/>
          </p:cNvSpPr>
          <p:nvPr>
            <p:ph type="title"/>
          </p:nvPr>
        </p:nvSpPr>
        <p:spPr>
          <a:xfrm>
            <a:off x="838199" y="365125"/>
            <a:ext cx="9813587" cy="1325563"/>
          </a:xfrm>
        </p:spPr>
        <p:txBody>
          <a:bodyPr>
            <a:normAutofit fontScale="90000"/>
          </a:bodyPr>
          <a:lstStyle/>
          <a:p>
            <a:r>
              <a:rPr lang="en-US" dirty="0"/>
              <a:t>For whom and why have Community Boosters Checklists been created</a:t>
            </a:r>
          </a:p>
        </p:txBody>
      </p:sp>
      <p:pic>
        <p:nvPicPr>
          <p:cNvPr id="28" name="Espace réservé pour une image  27" descr="Une image contenant personne, homme, posant&#10;&#10;Description générée automatiquement">
            <a:extLst>
              <a:ext uri="{FF2B5EF4-FFF2-40B4-BE49-F238E27FC236}">
                <a16:creationId xmlns:a16="http://schemas.microsoft.com/office/drawing/2014/main" id="{4F3EFA5E-5186-EEFA-1971-E9AF44B146D7}"/>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19308" r="19308"/>
          <a:stretch>
            <a:fillRect/>
          </a:stretch>
        </p:blipFill>
        <p:spPr/>
      </p:pic>
      <p:pic>
        <p:nvPicPr>
          <p:cNvPr id="17" name="Espace réservé pour une image  16" descr="Une image contenant personne&#10;&#10;Description générée automatiquement">
            <a:extLst>
              <a:ext uri="{FF2B5EF4-FFF2-40B4-BE49-F238E27FC236}">
                <a16:creationId xmlns:a16="http://schemas.microsoft.com/office/drawing/2014/main" id="{5C505688-B4D6-C633-4B10-C558B9C644CB}"/>
              </a:ext>
            </a:extLst>
          </p:cNvPr>
          <p:cNvPicPr>
            <a:picLocks noGrp="1" noChangeAspect="1"/>
          </p:cNvPicPr>
          <p:nvPr>
            <p:ph type="pic" sz="quarter" idx="14"/>
          </p:nvPr>
        </p:nvPicPr>
        <p:blipFill>
          <a:blip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rcRect l="9555" r="9555"/>
          <a:stretch>
            <a:fillRect/>
          </a:stretch>
        </p:blipFill>
        <p:spPr/>
      </p:pic>
      <p:pic>
        <p:nvPicPr>
          <p:cNvPr id="20" name="Espace réservé pour une image  19" descr="Une image contenant texte&#10;&#10;Description générée automatiquement">
            <a:extLst>
              <a:ext uri="{FF2B5EF4-FFF2-40B4-BE49-F238E27FC236}">
                <a16:creationId xmlns:a16="http://schemas.microsoft.com/office/drawing/2014/main" id="{1BA22A8C-A2E0-8092-8CC4-19928976C6E1}"/>
              </a:ext>
            </a:extLst>
          </p:cNvPr>
          <p:cNvPicPr>
            <a:picLocks noGrp="1" noChangeAspect="1"/>
          </p:cNvPicPr>
          <p:nvPr>
            <p:ph type="pic" sz="quarter" idx="15"/>
          </p:nvPr>
        </p:nvPicPr>
        <p:blipFill>
          <a:blip r:embed="rId6">
            <a:extLst>
              <a:ext uri="{28A0092B-C50C-407E-A947-70E740481C1C}">
                <a14:useLocalDpi xmlns:a14="http://schemas.microsoft.com/office/drawing/2010/main" val="0"/>
              </a:ext>
              <a:ext uri="{837473B0-CC2E-450A-ABE3-18F120FF3D39}">
                <a1611:picAttrSrcUrl xmlns:a1611="http://schemas.microsoft.com/office/drawing/2016/11/main" r:id="rId7"/>
              </a:ext>
            </a:extLst>
          </a:blip>
          <a:srcRect l="19573" r="19573"/>
          <a:stretch>
            <a:fillRect/>
          </a:stretch>
        </p:blipFill>
        <p:spPr/>
      </p:pic>
      <p:sp>
        <p:nvSpPr>
          <p:cNvPr id="9" name="Espace réservé du texte 8">
            <a:extLst>
              <a:ext uri="{FF2B5EF4-FFF2-40B4-BE49-F238E27FC236}">
                <a16:creationId xmlns:a16="http://schemas.microsoft.com/office/drawing/2014/main" id="{CA1044E5-4A38-4A57-BEC6-02CD1F1AFC8B}"/>
              </a:ext>
            </a:extLst>
          </p:cNvPr>
          <p:cNvSpPr>
            <a:spLocks noGrp="1"/>
          </p:cNvSpPr>
          <p:nvPr>
            <p:ph type="body" sz="quarter" idx="16"/>
          </p:nvPr>
        </p:nvSpPr>
        <p:spPr>
          <a:xfrm>
            <a:off x="846138" y="5461000"/>
            <a:ext cx="3402012" cy="1182991"/>
          </a:xfrm>
        </p:spPr>
        <p:txBody>
          <a:bodyPr/>
          <a:lstStyle/>
          <a:p>
            <a:r>
              <a:rPr lang="en-US" dirty="0"/>
              <a:t>Managers or Community Leaders looking for relays within the team or the Community, assessing various profiles to pick the best</a:t>
            </a:r>
          </a:p>
        </p:txBody>
      </p:sp>
      <p:sp>
        <p:nvSpPr>
          <p:cNvPr id="10" name="Espace réservé du texte 9">
            <a:extLst>
              <a:ext uri="{FF2B5EF4-FFF2-40B4-BE49-F238E27FC236}">
                <a16:creationId xmlns:a16="http://schemas.microsoft.com/office/drawing/2014/main" id="{D3A05F0F-47B8-4894-8D48-0C0F4C166E59}"/>
              </a:ext>
            </a:extLst>
          </p:cNvPr>
          <p:cNvSpPr>
            <a:spLocks noGrp="1"/>
          </p:cNvSpPr>
          <p:nvPr>
            <p:ph type="body" sz="quarter" idx="17"/>
          </p:nvPr>
        </p:nvSpPr>
        <p:spPr>
          <a:xfrm>
            <a:off x="4395312" y="5461000"/>
            <a:ext cx="3402012" cy="1182991"/>
          </a:xfrm>
        </p:spPr>
        <p:txBody>
          <a:bodyPr/>
          <a:lstStyle/>
          <a:p>
            <a:r>
              <a:rPr lang="en-US" dirty="0"/>
              <a:t>Annual work focused interview for Community leaders or new Managers (assessment as leaders of their own team)</a:t>
            </a:r>
          </a:p>
        </p:txBody>
      </p:sp>
      <p:sp>
        <p:nvSpPr>
          <p:cNvPr id="11" name="Espace réservé du texte 10">
            <a:extLst>
              <a:ext uri="{FF2B5EF4-FFF2-40B4-BE49-F238E27FC236}">
                <a16:creationId xmlns:a16="http://schemas.microsoft.com/office/drawing/2014/main" id="{C5D8558B-FF11-4A39-8795-6E2A831F942D}"/>
              </a:ext>
            </a:extLst>
          </p:cNvPr>
          <p:cNvSpPr>
            <a:spLocks noGrp="1"/>
          </p:cNvSpPr>
          <p:nvPr>
            <p:ph type="body" sz="quarter" idx="18"/>
          </p:nvPr>
        </p:nvSpPr>
        <p:spPr>
          <a:xfrm>
            <a:off x="7935885" y="5461000"/>
            <a:ext cx="3402012" cy="965216"/>
          </a:xfrm>
        </p:spPr>
        <p:txBody>
          <a:bodyPr/>
          <a:lstStyle/>
          <a:p>
            <a:r>
              <a:rPr lang="en-US" dirty="0"/>
              <a:t>Inspiration base for Community leaders looking for continuous self-improvement in their role</a:t>
            </a:r>
          </a:p>
        </p:txBody>
      </p:sp>
    </p:spTree>
    <p:extLst>
      <p:ext uri="{BB962C8B-B14F-4D97-AF65-F5344CB8AC3E}">
        <p14:creationId xmlns:p14="http://schemas.microsoft.com/office/powerpoint/2010/main" val="2173057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93EC3EC-AA45-2DCC-C007-B27A53CACB19}"/>
              </a:ext>
            </a:extLst>
          </p:cNvPr>
          <p:cNvSpPr>
            <a:spLocks noGrp="1"/>
          </p:cNvSpPr>
          <p:nvPr>
            <p:ph type="title"/>
          </p:nvPr>
        </p:nvSpPr>
        <p:spPr/>
        <p:txBody>
          <a:bodyPr>
            <a:normAutofit/>
          </a:bodyPr>
          <a:lstStyle/>
          <a:p>
            <a:r>
              <a:rPr lang="en-US" dirty="0"/>
              <a:t>Why Community Boosters checklists ?</a:t>
            </a:r>
          </a:p>
        </p:txBody>
      </p:sp>
      <p:sp>
        <p:nvSpPr>
          <p:cNvPr id="3" name="Espace réservé du contenu 2">
            <a:extLst>
              <a:ext uri="{FF2B5EF4-FFF2-40B4-BE49-F238E27FC236}">
                <a16:creationId xmlns:a16="http://schemas.microsoft.com/office/drawing/2014/main" id="{7CBDB15F-E256-35AC-DA3A-84CB62AB5683}"/>
              </a:ext>
            </a:extLst>
          </p:cNvPr>
          <p:cNvSpPr>
            <a:spLocks noGrp="1"/>
          </p:cNvSpPr>
          <p:nvPr>
            <p:ph idx="1"/>
          </p:nvPr>
        </p:nvSpPr>
        <p:spPr>
          <a:xfrm>
            <a:off x="1115568" y="2448840"/>
            <a:ext cx="10168128" cy="3694176"/>
          </a:xfrm>
        </p:spPr>
        <p:txBody>
          <a:bodyPr>
            <a:normAutofit/>
          </a:bodyPr>
          <a:lstStyle/>
          <a:p>
            <a:r>
              <a:rPr lang="en-US" sz="2000" dirty="0"/>
              <a:t>Community Boosting (especially in a Corporate Environment) is a complex path. </a:t>
            </a:r>
          </a:p>
          <a:p>
            <a:r>
              <a:rPr lang="en-US" sz="2000" dirty="0"/>
              <a:t>One can find him/herself lost in this complexity or ignore what next steps could be performed to improve performance in the role.</a:t>
            </a:r>
          </a:p>
          <a:p>
            <a:r>
              <a:rPr lang="en-US" sz="2000" dirty="0"/>
              <a:t>Checklists are here to help navigating through this complexity. </a:t>
            </a:r>
          </a:p>
          <a:p>
            <a:r>
              <a:rPr lang="en-US" sz="2000" dirty="0"/>
              <a:t>Even if it will never be enough to summarize every situation and its specificities, these checklists can be a start. </a:t>
            </a:r>
            <a:r>
              <a:rPr lang="en-US" sz="2000" b="1" dirty="0">
                <a:solidFill>
                  <a:srgbClr val="EC7B2B"/>
                </a:solidFill>
              </a:rPr>
              <a:t>Feel free to adapt these lists by adding or removing fields</a:t>
            </a:r>
            <a:r>
              <a:rPr lang="en-US" sz="2000" dirty="0"/>
              <a:t>.</a:t>
            </a:r>
          </a:p>
          <a:p>
            <a:r>
              <a:rPr lang="en-US" sz="2000" dirty="0"/>
              <a:t>Community Boosters checklists are used to assess “full role” boosters. It was not tailored for members with very specific roles within the Community.</a:t>
            </a:r>
          </a:p>
        </p:txBody>
      </p:sp>
    </p:spTree>
    <p:extLst>
      <p:ext uri="{BB962C8B-B14F-4D97-AF65-F5344CB8AC3E}">
        <p14:creationId xmlns:p14="http://schemas.microsoft.com/office/powerpoint/2010/main" val="7252460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93EC3EC-AA45-2DCC-C007-B27A53CACB19}"/>
              </a:ext>
            </a:extLst>
          </p:cNvPr>
          <p:cNvSpPr>
            <a:spLocks noGrp="1"/>
          </p:cNvSpPr>
          <p:nvPr>
            <p:ph type="title"/>
          </p:nvPr>
        </p:nvSpPr>
        <p:spPr/>
        <p:txBody>
          <a:bodyPr>
            <a:normAutofit fontScale="90000"/>
          </a:bodyPr>
          <a:lstStyle/>
          <a:p>
            <a:r>
              <a:rPr lang="en-US" dirty="0"/>
              <a:t>🎯Usual goals when using Community Boosters checklists</a:t>
            </a:r>
          </a:p>
        </p:txBody>
      </p:sp>
      <p:grpSp>
        <p:nvGrpSpPr>
          <p:cNvPr id="4" name="Groupe 3">
            <a:extLst>
              <a:ext uri="{FF2B5EF4-FFF2-40B4-BE49-F238E27FC236}">
                <a16:creationId xmlns:a16="http://schemas.microsoft.com/office/drawing/2014/main" id="{4CE9EFD6-709A-9648-E610-5E5361A68163}"/>
              </a:ext>
            </a:extLst>
          </p:cNvPr>
          <p:cNvGrpSpPr/>
          <p:nvPr/>
        </p:nvGrpSpPr>
        <p:grpSpPr>
          <a:xfrm>
            <a:off x="1050102" y="2341277"/>
            <a:ext cx="1762211" cy="1561627"/>
            <a:chOff x="4121776" y="2119335"/>
            <a:chExt cx="1762211" cy="1561627"/>
          </a:xfrm>
        </p:grpSpPr>
        <p:grpSp>
          <p:nvGrpSpPr>
            <p:cNvPr id="5" name="Groupe 4">
              <a:extLst>
                <a:ext uri="{FF2B5EF4-FFF2-40B4-BE49-F238E27FC236}">
                  <a16:creationId xmlns:a16="http://schemas.microsoft.com/office/drawing/2014/main" id="{783A1942-DC16-56AE-1DB4-956CA19CCBA5}"/>
                </a:ext>
              </a:extLst>
            </p:cNvPr>
            <p:cNvGrpSpPr/>
            <p:nvPr/>
          </p:nvGrpSpPr>
          <p:grpSpPr>
            <a:xfrm>
              <a:off x="4121776" y="3009516"/>
              <a:ext cx="665065" cy="671446"/>
              <a:chOff x="3819183" y="2067074"/>
              <a:chExt cx="665065" cy="671446"/>
            </a:xfrm>
          </p:grpSpPr>
          <p:pic>
            <p:nvPicPr>
              <p:cNvPr id="29" name="Graphique 28" descr="Artist female avec un remplissage uni">
                <a:extLst>
                  <a:ext uri="{FF2B5EF4-FFF2-40B4-BE49-F238E27FC236}">
                    <a16:creationId xmlns:a16="http://schemas.microsoft.com/office/drawing/2014/main" id="{01D77BDC-A39A-377D-9126-1494401677E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147892" y="2161785"/>
                <a:ext cx="320641" cy="320641"/>
              </a:xfrm>
              <a:prstGeom prst="rect">
                <a:avLst/>
              </a:prstGeom>
            </p:spPr>
          </p:pic>
          <p:pic>
            <p:nvPicPr>
              <p:cNvPr id="30" name="Graphique 29" descr="Artist male avec un remplissage uni">
                <a:extLst>
                  <a:ext uri="{FF2B5EF4-FFF2-40B4-BE49-F238E27FC236}">
                    <a16:creationId xmlns:a16="http://schemas.microsoft.com/office/drawing/2014/main" id="{1690CF39-2BB2-D2A6-4545-E6BD6FD6DD05}"/>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882249" y="2115116"/>
                <a:ext cx="320641" cy="320641"/>
              </a:xfrm>
              <a:prstGeom prst="rect">
                <a:avLst/>
              </a:prstGeom>
            </p:spPr>
          </p:pic>
          <p:pic>
            <p:nvPicPr>
              <p:cNvPr id="31" name="Graphique 30" descr="Artist female avec un remplissage uni">
                <a:extLst>
                  <a:ext uri="{FF2B5EF4-FFF2-40B4-BE49-F238E27FC236}">
                    <a16:creationId xmlns:a16="http://schemas.microsoft.com/office/drawing/2014/main" id="{F37F1CA1-A413-C1A3-57C1-F2EF7AA49193}"/>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941754" y="2401590"/>
                <a:ext cx="320641" cy="320641"/>
              </a:xfrm>
              <a:prstGeom prst="rect">
                <a:avLst/>
              </a:prstGeom>
            </p:spPr>
          </p:pic>
          <p:sp>
            <p:nvSpPr>
              <p:cNvPr id="32" name="Ellipse 31">
                <a:extLst>
                  <a:ext uri="{FF2B5EF4-FFF2-40B4-BE49-F238E27FC236}">
                    <a16:creationId xmlns:a16="http://schemas.microsoft.com/office/drawing/2014/main" id="{54F98934-1B1F-E024-D050-5662FFA51B0D}"/>
                  </a:ext>
                </a:extLst>
              </p:cNvPr>
              <p:cNvSpPr/>
              <p:nvPr/>
            </p:nvSpPr>
            <p:spPr>
              <a:xfrm>
                <a:off x="3819183" y="2067074"/>
                <a:ext cx="665065" cy="671446"/>
              </a:xfrm>
              <a:prstGeom prst="ellipse">
                <a:avLst/>
              </a:prstGeom>
              <a:no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grpSp>
          <p:nvGrpSpPr>
            <p:cNvPr id="6" name="Groupe 5">
              <a:extLst>
                <a:ext uri="{FF2B5EF4-FFF2-40B4-BE49-F238E27FC236}">
                  <a16:creationId xmlns:a16="http://schemas.microsoft.com/office/drawing/2014/main" id="{7D38DBDE-51B1-8112-C9C5-2235DCC47175}"/>
                </a:ext>
              </a:extLst>
            </p:cNvPr>
            <p:cNvGrpSpPr/>
            <p:nvPr/>
          </p:nvGrpSpPr>
          <p:grpSpPr>
            <a:xfrm>
              <a:off x="4310513" y="2333709"/>
              <a:ext cx="665065" cy="671446"/>
              <a:chOff x="4509180" y="1610216"/>
              <a:chExt cx="665065" cy="671446"/>
            </a:xfrm>
          </p:grpSpPr>
          <p:pic>
            <p:nvPicPr>
              <p:cNvPr id="25" name="Graphique 24" descr="Astronaut female avec un remplissage uni">
                <a:extLst>
                  <a:ext uri="{FF2B5EF4-FFF2-40B4-BE49-F238E27FC236}">
                    <a16:creationId xmlns:a16="http://schemas.microsoft.com/office/drawing/2014/main" id="{39785C2D-B609-EF4C-F991-2EA04CE0498B}"/>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4570883" y="1872247"/>
                <a:ext cx="320641" cy="320641"/>
              </a:xfrm>
              <a:prstGeom prst="rect">
                <a:avLst/>
              </a:prstGeom>
            </p:spPr>
          </p:pic>
          <p:pic>
            <p:nvPicPr>
              <p:cNvPr id="26" name="Graphique 25" descr="Astronaut male avec un remplissage uni">
                <a:extLst>
                  <a:ext uri="{FF2B5EF4-FFF2-40B4-BE49-F238E27FC236}">
                    <a16:creationId xmlns:a16="http://schemas.microsoft.com/office/drawing/2014/main" id="{D2D404D5-FDC9-49BA-4625-264734399636}"/>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4833553" y="1858219"/>
                <a:ext cx="320641" cy="320641"/>
              </a:xfrm>
              <a:prstGeom prst="rect">
                <a:avLst/>
              </a:prstGeom>
            </p:spPr>
          </p:pic>
          <p:pic>
            <p:nvPicPr>
              <p:cNvPr id="27" name="Graphique 26" descr="Astronaut male avec un remplissage uni">
                <a:extLst>
                  <a:ext uri="{FF2B5EF4-FFF2-40B4-BE49-F238E27FC236}">
                    <a16:creationId xmlns:a16="http://schemas.microsoft.com/office/drawing/2014/main" id="{649208AA-AFD8-3B45-2E5E-F8FD5B548074}"/>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4695276" y="1625298"/>
                <a:ext cx="320641" cy="320641"/>
              </a:xfrm>
              <a:prstGeom prst="rect">
                <a:avLst/>
              </a:prstGeom>
            </p:spPr>
          </p:pic>
          <p:sp>
            <p:nvSpPr>
              <p:cNvPr id="28" name="Ellipse 27">
                <a:extLst>
                  <a:ext uri="{FF2B5EF4-FFF2-40B4-BE49-F238E27FC236}">
                    <a16:creationId xmlns:a16="http://schemas.microsoft.com/office/drawing/2014/main" id="{B447B62A-CB43-C38A-6445-7C3C055EF836}"/>
                  </a:ext>
                </a:extLst>
              </p:cNvPr>
              <p:cNvSpPr/>
              <p:nvPr/>
            </p:nvSpPr>
            <p:spPr>
              <a:xfrm>
                <a:off x="4509180" y="1610216"/>
                <a:ext cx="665065" cy="671446"/>
              </a:xfrm>
              <a:prstGeom prst="ellipse">
                <a:avLst/>
              </a:prstGeom>
              <a:no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grpSp>
          <p:nvGrpSpPr>
            <p:cNvPr id="7" name="Groupe 6">
              <a:extLst>
                <a:ext uri="{FF2B5EF4-FFF2-40B4-BE49-F238E27FC236}">
                  <a16:creationId xmlns:a16="http://schemas.microsoft.com/office/drawing/2014/main" id="{9CFDA6FB-3972-7436-2172-FBEA0F31A909}"/>
                </a:ext>
              </a:extLst>
            </p:cNvPr>
            <p:cNvGrpSpPr/>
            <p:nvPr/>
          </p:nvGrpSpPr>
          <p:grpSpPr>
            <a:xfrm>
              <a:off x="5218922" y="2605995"/>
              <a:ext cx="665065" cy="671446"/>
              <a:chOff x="5333598" y="1554488"/>
              <a:chExt cx="665065" cy="671446"/>
            </a:xfrm>
          </p:grpSpPr>
          <p:pic>
            <p:nvPicPr>
              <p:cNvPr id="21" name="Graphique 20" descr="Femme chef de cuisine avec un remplissage uni">
                <a:extLst>
                  <a:ext uri="{FF2B5EF4-FFF2-40B4-BE49-F238E27FC236}">
                    <a16:creationId xmlns:a16="http://schemas.microsoft.com/office/drawing/2014/main" id="{8E392D88-B8D7-81B5-68D5-867A42887531}"/>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5416864" y="1846285"/>
                <a:ext cx="320641" cy="320641"/>
              </a:xfrm>
              <a:prstGeom prst="rect">
                <a:avLst/>
              </a:prstGeom>
            </p:spPr>
          </p:pic>
          <p:pic>
            <p:nvPicPr>
              <p:cNvPr id="22" name="Graphique 21" descr="Homme chef de cuisine avec un remplissage uni">
                <a:extLst>
                  <a:ext uri="{FF2B5EF4-FFF2-40B4-BE49-F238E27FC236}">
                    <a16:creationId xmlns:a16="http://schemas.microsoft.com/office/drawing/2014/main" id="{B09FF8A5-8BB1-F01B-B9F4-E233A8CE3CF9}"/>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5630204" y="1830128"/>
                <a:ext cx="320641" cy="320641"/>
              </a:xfrm>
              <a:prstGeom prst="rect">
                <a:avLst/>
              </a:prstGeom>
            </p:spPr>
          </p:pic>
          <p:pic>
            <p:nvPicPr>
              <p:cNvPr id="23" name="Graphique 22" descr="Homme chef de cuisine avec un remplissage uni">
                <a:extLst>
                  <a:ext uri="{FF2B5EF4-FFF2-40B4-BE49-F238E27FC236}">
                    <a16:creationId xmlns:a16="http://schemas.microsoft.com/office/drawing/2014/main" id="{2F76D82F-3C12-FAF7-E2A4-53B04F501CE7}"/>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5505811" y="1568094"/>
                <a:ext cx="320641" cy="320641"/>
              </a:xfrm>
              <a:prstGeom prst="rect">
                <a:avLst/>
              </a:prstGeom>
            </p:spPr>
          </p:pic>
          <p:sp>
            <p:nvSpPr>
              <p:cNvPr id="24" name="Ellipse 23">
                <a:extLst>
                  <a:ext uri="{FF2B5EF4-FFF2-40B4-BE49-F238E27FC236}">
                    <a16:creationId xmlns:a16="http://schemas.microsoft.com/office/drawing/2014/main" id="{5F8EBF70-2AD6-6940-2057-9C23EA5050B4}"/>
                  </a:ext>
                </a:extLst>
              </p:cNvPr>
              <p:cNvSpPr/>
              <p:nvPr/>
            </p:nvSpPr>
            <p:spPr>
              <a:xfrm>
                <a:off x="5333598" y="1554488"/>
                <a:ext cx="665065" cy="671446"/>
              </a:xfrm>
              <a:prstGeom prst="ellipse">
                <a:avLst/>
              </a:prstGeom>
              <a:no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grpSp>
          <p:nvGrpSpPr>
            <p:cNvPr id="8" name="Groupe 7">
              <a:extLst>
                <a:ext uri="{FF2B5EF4-FFF2-40B4-BE49-F238E27FC236}">
                  <a16:creationId xmlns:a16="http://schemas.microsoft.com/office/drawing/2014/main" id="{09AA6799-0B17-AC58-EC71-E05ECBD21AD8}"/>
                </a:ext>
              </a:extLst>
            </p:cNvPr>
            <p:cNvGrpSpPr/>
            <p:nvPr/>
          </p:nvGrpSpPr>
          <p:grpSpPr>
            <a:xfrm>
              <a:off x="4767046" y="2945112"/>
              <a:ext cx="313700" cy="316710"/>
              <a:chOff x="1976512" y="2847606"/>
              <a:chExt cx="313700" cy="316710"/>
            </a:xfrm>
          </p:grpSpPr>
          <p:pic>
            <p:nvPicPr>
              <p:cNvPr id="19" name="Graphique 18" descr="Employé de bureau avec un remplissage uni">
                <a:extLst>
                  <a:ext uri="{FF2B5EF4-FFF2-40B4-BE49-F238E27FC236}">
                    <a16:creationId xmlns:a16="http://schemas.microsoft.com/office/drawing/2014/main" id="{1154BAF9-F975-AC00-33EB-3824601FB09A}"/>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1990319" y="2862029"/>
                <a:ext cx="286085" cy="286085"/>
              </a:xfrm>
              <a:prstGeom prst="rect">
                <a:avLst/>
              </a:prstGeom>
            </p:spPr>
          </p:pic>
          <p:sp>
            <p:nvSpPr>
              <p:cNvPr id="20" name="Ellipse 19">
                <a:extLst>
                  <a:ext uri="{FF2B5EF4-FFF2-40B4-BE49-F238E27FC236}">
                    <a16:creationId xmlns:a16="http://schemas.microsoft.com/office/drawing/2014/main" id="{2514848D-1A96-9EBE-C3DB-AD69D8AB7451}"/>
                  </a:ext>
                </a:extLst>
              </p:cNvPr>
              <p:cNvSpPr/>
              <p:nvPr/>
            </p:nvSpPr>
            <p:spPr>
              <a:xfrm>
                <a:off x="1976512" y="2847606"/>
                <a:ext cx="313700" cy="316710"/>
              </a:xfrm>
              <a:prstGeom prst="ellipse">
                <a:avLst/>
              </a:prstGeom>
              <a:no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grpSp>
          <p:nvGrpSpPr>
            <p:cNvPr id="9" name="Groupe 8">
              <a:extLst>
                <a:ext uri="{FF2B5EF4-FFF2-40B4-BE49-F238E27FC236}">
                  <a16:creationId xmlns:a16="http://schemas.microsoft.com/office/drawing/2014/main" id="{A5AF6D6C-05E0-C2F0-0D61-527A799ABA20}"/>
                </a:ext>
              </a:extLst>
            </p:cNvPr>
            <p:cNvGrpSpPr/>
            <p:nvPr/>
          </p:nvGrpSpPr>
          <p:grpSpPr>
            <a:xfrm>
              <a:off x="5016378" y="2119335"/>
              <a:ext cx="501164" cy="505973"/>
              <a:chOff x="2418923" y="2693754"/>
              <a:chExt cx="313700" cy="316710"/>
            </a:xfrm>
          </p:grpSpPr>
          <p:pic>
            <p:nvPicPr>
              <p:cNvPr id="17" name="Graphique 16" descr="Employée de bureau avec un remplissage uni">
                <a:extLst>
                  <a:ext uri="{FF2B5EF4-FFF2-40B4-BE49-F238E27FC236}">
                    <a16:creationId xmlns:a16="http://schemas.microsoft.com/office/drawing/2014/main" id="{E71AE27C-E308-8A7E-0D5A-6F94FEF7A3A6}"/>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2432730" y="2705873"/>
                <a:ext cx="286085" cy="286085"/>
              </a:xfrm>
              <a:prstGeom prst="rect">
                <a:avLst/>
              </a:prstGeom>
            </p:spPr>
          </p:pic>
          <p:sp>
            <p:nvSpPr>
              <p:cNvPr id="18" name="Ellipse 17">
                <a:extLst>
                  <a:ext uri="{FF2B5EF4-FFF2-40B4-BE49-F238E27FC236}">
                    <a16:creationId xmlns:a16="http://schemas.microsoft.com/office/drawing/2014/main" id="{00A3E6DD-5EBF-BD9B-D856-60ED599F40E2}"/>
                  </a:ext>
                </a:extLst>
              </p:cNvPr>
              <p:cNvSpPr/>
              <p:nvPr/>
            </p:nvSpPr>
            <p:spPr>
              <a:xfrm>
                <a:off x="2418923" y="2693754"/>
                <a:ext cx="313700" cy="316710"/>
              </a:xfrm>
              <a:prstGeom prst="ellipse">
                <a:avLst/>
              </a:prstGeom>
              <a:no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cxnSp>
          <p:nvCxnSpPr>
            <p:cNvPr id="10" name="Connecteur droit 9">
              <a:extLst>
                <a:ext uri="{FF2B5EF4-FFF2-40B4-BE49-F238E27FC236}">
                  <a16:creationId xmlns:a16="http://schemas.microsoft.com/office/drawing/2014/main" id="{21E2EBB7-51D6-FE44-8100-75818DE9C865}"/>
                </a:ext>
              </a:extLst>
            </p:cNvPr>
            <p:cNvCxnSpPr>
              <a:cxnSpLocks/>
            </p:cNvCxnSpPr>
            <p:nvPr/>
          </p:nvCxnSpPr>
          <p:spPr>
            <a:xfrm>
              <a:off x="4324399" y="2798391"/>
              <a:ext cx="129910" cy="21112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Connecteur droit 10">
              <a:extLst>
                <a:ext uri="{FF2B5EF4-FFF2-40B4-BE49-F238E27FC236}">
                  <a16:creationId xmlns:a16="http://schemas.microsoft.com/office/drawing/2014/main" id="{89C585B3-23CE-A9E7-E8AA-AAB3B71B831C}"/>
                </a:ext>
              </a:extLst>
            </p:cNvPr>
            <p:cNvCxnSpPr>
              <a:cxnSpLocks/>
            </p:cNvCxnSpPr>
            <p:nvPr/>
          </p:nvCxnSpPr>
          <p:spPr>
            <a:xfrm>
              <a:off x="4975578" y="2669432"/>
              <a:ext cx="289236" cy="13784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Connecteur droit 11">
              <a:extLst>
                <a:ext uri="{FF2B5EF4-FFF2-40B4-BE49-F238E27FC236}">
                  <a16:creationId xmlns:a16="http://schemas.microsoft.com/office/drawing/2014/main" id="{27AAF971-5BF7-0AB4-5C73-3378404A1C39}"/>
                </a:ext>
              </a:extLst>
            </p:cNvPr>
            <p:cNvCxnSpPr>
              <a:cxnSpLocks/>
            </p:cNvCxnSpPr>
            <p:nvPr/>
          </p:nvCxnSpPr>
          <p:spPr>
            <a:xfrm flipV="1">
              <a:off x="5034806" y="2625308"/>
              <a:ext cx="232154" cy="36618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Connecteur droit 12">
              <a:extLst>
                <a:ext uri="{FF2B5EF4-FFF2-40B4-BE49-F238E27FC236}">
                  <a16:creationId xmlns:a16="http://schemas.microsoft.com/office/drawing/2014/main" id="{BD2206A1-4ED1-AFA1-B3F6-5B032401F01B}"/>
                </a:ext>
              </a:extLst>
            </p:cNvPr>
            <p:cNvCxnSpPr>
              <a:cxnSpLocks/>
            </p:cNvCxnSpPr>
            <p:nvPr/>
          </p:nvCxnSpPr>
          <p:spPr>
            <a:xfrm flipV="1">
              <a:off x="4786841" y="3261822"/>
              <a:ext cx="137055" cy="8341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Connecteur droit 13">
              <a:extLst>
                <a:ext uri="{FF2B5EF4-FFF2-40B4-BE49-F238E27FC236}">
                  <a16:creationId xmlns:a16="http://schemas.microsoft.com/office/drawing/2014/main" id="{8E7B26E8-D8A3-BC37-A9BE-BD8165DBD3CE}"/>
                </a:ext>
              </a:extLst>
            </p:cNvPr>
            <p:cNvCxnSpPr>
              <a:cxnSpLocks/>
            </p:cNvCxnSpPr>
            <p:nvPr/>
          </p:nvCxnSpPr>
          <p:spPr>
            <a:xfrm flipH="1" flipV="1">
              <a:off x="5517542" y="2372322"/>
              <a:ext cx="33914" cy="24727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Connecteur droit 14">
              <a:extLst>
                <a:ext uri="{FF2B5EF4-FFF2-40B4-BE49-F238E27FC236}">
                  <a16:creationId xmlns:a16="http://schemas.microsoft.com/office/drawing/2014/main" id="{91281DDF-C7AC-FD7B-22EE-FACCCAE39B05}"/>
                </a:ext>
              </a:extLst>
            </p:cNvPr>
            <p:cNvCxnSpPr>
              <a:cxnSpLocks/>
            </p:cNvCxnSpPr>
            <p:nvPr/>
          </p:nvCxnSpPr>
          <p:spPr>
            <a:xfrm flipH="1">
              <a:off x="4878181" y="2367220"/>
              <a:ext cx="160255" cy="6482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Connecteur droit 15">
              <a:extLst>
                <a:ext uri="{FF2B5EF4-FFF2-40B4-BE49-F238E27FC236}">
                  <a16:creationId xmlns:a16="http://schemas.microsoft.com/office/drawing/2014/main" id="{B504DB60-C72B-C964-CA80-F62F0A376243}"/>
                </a:ext>
              </a:extLst>
            </p:cNvPr>
            <p:cNvCxnSpPr>
              <a:cxnSpLocks/>
            </p:cNvCxnSpPr>
            <p:nvPr/>
          </p:nvCxnSpPr>
          <p:spPr>
            <a:xfrm flipV="1">
              <a:off x="5080746" y="2941718"/>
              <a:ext cx="138176" cy="16174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3" name="Groupe 32">
            <a:extLst>
              <a:ext uri="{FF2B5EF4-FFF2-40B4-BE49-F238E27FC236}">
                <a16:creationId xmlns:a16="http://schemas.microsoft.com/office/drawing/2014/main" id="{7036F83A-18A8-8795-7460-BEB4AD86004D}"/>
              </a:ext>
            </a:extLst>
          </p:cNvPr>
          <p:cNvGrpSpPr/>
          <p:nvPr/>
        </p:nvGrpSpPr>
        <p:grpSpPr>
          <a:xfrm>
            <a:off x="3770209" y="2871505"/>
            <a:ext cx="2103137" cy="627878"/>
            <a:chOff x="7672742" y="3746093"/>
            <a:chExt cx="4082190" cy="1218712"/>
          </a:xfrm>
        </p:grpSpPr>
        <p:pic>
          <p:nvPicPr>
            <p:cNvPr id="34" name="Graphique 33" descr="Groupe avec un remplissage uni">
              <a:extLst>
                <a:ext uri="{FF2B5EF4-FFF2-40B4-BE49-F238E27FC236}">
                  <a16:creationId xmlns:a16="http://schemas.microsoft.com/office/drawing/2014/main" id="{02B70C2D-B02C-9A12-EFB8-1742CF0A0525}"/>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7672742" y="4140638"/>
              <a:ext cx="350710" cy="350710"/>
            </a:xfrm>
            <a:prstGeom prst="rect">
              <a:avLst/>
            </a:prstGeom>
          </p:spPr>
        </p:pic>
        <p:pic>
          <p:nvPicPr>
            <p:cNvPr id="35" name="Graphique 34" descr="Flèches de chevron avec un remplissage uni">
              <a:extLst>
                <a:ext uri="{FF2B5EF4-FFF2-40B4-BE49-F238E27FC236}">
                  <a16:creationId xmlns:a16="http://schemas.microsoft.com/office/drawing/2014/main" id="{08929C80-256C-A726-F3B4-A68C56236B2D}"/>
                </a:ext>
              </a:extLst>
            </p:cNvPr>
            <p:cNvPicPr>
              <a:picLocks noChangeAspect="1"/>
            </p:cNvPicPr>
            <p:nvPr/>
          </p:nvPicPr>
          <p:blipFill>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a:off x="10670214" y="4185794"/>
              <a:ext cx="279194" cy="279194"/>
            </a:xfrm>
            <a:prstGeom prst="rect">
              <a:avLst/>
            </a:prstGeom>
          </p:spPr>
        </p:pic>
        <p:pic>
          <p:nvPicPr>
            <p:cNvPr id="36" name="Graphique 35" descr="Héroïne avec un remplissage uni">
              <a:extLst>
                <a:ext uri="{FF2B5EF4-FFF2-40B4-BE49-F238E27FC236}">
                  <a16:creationId xmlns:a16="http://schemas.microsoft.com/office/drawing/2014/main" id="{AC1E6980-7D25-8B29-3D79-FF80ED16F1DB}"/>
                </a:ext>
              </a:extLst>
            </p:cNvPr>
            <p:cNvPicPr>
              <a:picLocks noChangeAspect="1"/>
            </p:cNvPicPr>
            <p:nvPr/>
          </p:nvPicPr>
          <p:blipFill>
            <a:blip r:embed="rId28">
              <a:extLst>
                <a:ext uri="{28A0092B-C50C-407E-A947-70E740481C1C}">
                  <a14:useLocalDpi xmlns:a14="http://schemas.microsoft.com/office/drawing/2010/main" val="0"/>
                </a:ext>
                <a:ext uri="{96DAC541-7B7A-43D3-8B79-37D633B846F1}">
                  <asvg:svgBlip xmlns:asvg="http://schemas.microsoft.com/office/drawing/2016/SVG/main" r:embed="rId29"/>
                </a:ext>
              </a:extLst>
            </a:blip>
            <a:stretch>
              <a:fillRect/>
            </a:stretch>
          </p:blipFill>
          <p:spPr>
            <a:xfrm>
              <a:off x="10973432" y="4070212"/>
              <a:ext cx="424644" cy="424645"/>
            </a:xfrm>
            <a:prstGeom prst="rect">
              <a:avLst/>
            </a:prstGeom>
          </p:spPr>
        </p:pic>
        <p:pic>
          <p:nvPicPr>
            <p:cNvPr id="37" name="Graphique 36" descr="Flèches de chevron avec un remplissage uni">
              <a:extLst>
                <a:ext uri="{FF2B5EF4-FFF2-40B4-BE49-F238E27FC236}">
                  <a16:creationId xmlns:a16="http://schemas.microsoft.com/office/drawing/2014/main" id="{B0630716-D437-9DCA-8A27-9F1F5811BE04}"/>
                </a:ext>
              </a:extLst>
            </p:cNvPr>
            <p:cNvPicPr>
              <a:picLocks noChangeAspect="1"/>
            </p:cNvPicPr>
            <p:nvPr/>
          </p:nvPicPr>
          <p:blipFill>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a:off x="9753493" y="4160871"/>
              <a:ext cx="279194" cy="279194"/>
            </a:xfrm>
            <a:prstGeom prst="rect">
              <a:avLst/>
            </a:prstGeom>
          </p:spPr>
        </p:pic>
        <p:pic>
          <p:nvPicPr>
            <p:cNvPr id="38" name="Graphique 37" descr="Courir avec un remplissage uni">
              <a:extLst>
                <a:ext uri="{FF2B5EF4-FFF2-40B4-BE49-F238E27FC236}">
                  <a16:creationId xmlns:a16="http://schemas.microsoft.com/office/drawing/2014/main" id="{72169787-838A-CF41-0F2E-45315C0A8E40}"/>
                </a:ext>
              </a:extLst>
            </p:cNvPr>
            <p:cNvPicPr>
              <a:picLocks noChangeAspect="1"/>
            </p:cNvPicPr>
            <p:nvPr/>
          </p:nvPicPr>
          <p:blipFill>
            <a:blip r:embed="rId30">
              <a:extLst>
                <a:ext uri="{28A0092B-C50C-407E-A947-70E740481C1C}">
                  <a14:useLocalDpi xmlns:a14="http://schemas.microsoft.com/office/drawing/2010/main" val="0"/>
                </a:ext>
                <a:ext uri="{96DAC541-7B7A-43D3-8B79-37D633B846F1}">
                  <asvg:svgBlip xmlns:asvg="http://schemas.microsoft.com/office/drawing/2016/SVG/main" r:embed="rId31"/>
                </a:ext>
              </a:extLst>
            </a:blip>
            <a:stretch>
              <a:fillRect/>
            </a:stretch>
          </p:blipFill>
          <p:spPr>
            <a:xfrm>
              <a:off x="9221976" y="4004365"/>
              <a:ext cx="359779" cy="359780"/>
            </a:xfrm>
            <a:prstGeom prst="rect">
              <a:avLst/>
            </a:prstGeom>
          </p:spPr>
        </p:pic>
        <p:pic>
          <p:nvPicPr>
            <p:cNvPr id="39" name="Graphique 38" descr="Patinage avec un remplissage uni">
              <a:extLst>
                <a:ext uri="{FF2B5EF4-FFF2-40B4-BE49-F238E27FC236}">
                  <a16:creationId xmlns:a16="http://schemas.microsoft.com/office/drawing/2014/main" id="{4EEB5BBF-680D-71D6-1BE2-B90A348D59E8}"/>
                </a:ext>
              </a:extLst>
            </p:cNvPr>
            <p:cNvPicPr>
              <a:picLocks noChangeAspect="1"/>
            </p:cNvPicPr>
            <p:nvPr/>
          </p:nvPicPr>
          <p:blipFill>
            <a:blip r:embed="rId32">
              <a:extLst>
                <a:ext uri="{28A0092B-C50C-407E-A947-70E740481C1C}">
                  <a14:useLocalDpi xmlns:a14="http://schemas.microsoft.com/office/drawing/2010/main" val="0"/>
                </a:ext>
                <a:ext uri="{96DAC541-7B7A-43D3-8B79-37D633B846F1}">
                  <asvg:svgBlip xmlns:asvg="http://schemas.microsoft.com/office/drawing/2016/SVG/main" r:embed="rId33"/>
                </a:ext>
              </a:extLst>
            </a:blip>
            <a:stretch>
              <a:fillRect/>
            </a:stretch>
          </p:blipFill>
          <p:spPr>
            <a:xfrm>
              <a:off x="10045702" y="3917987"/>
              <a:ext cx="373471" cy="373472"/>
            </a:xfrm>
            <a:prstGeom prst="rect">
              <a:avLst/>
            </a:prstGeom>
          </p:spPr>
        </p:pic>
        <p:pic>
          <p:nvPicPr>
            <p:cNvPr id="40" name="Graphique 39" descr="Marcher avec un remplissage uni">
              <a:extLst>
                <a:ext uri="{FF2B5EF4-FFF2-40B4-BE49-F238E27FC236}">
                  <a16:creationId xmlns:a16="http://schemas.microsoft.com/office/drawing/2014/main" id="{4313785C-B85A-9104-9B0C-42935FDD068A}"/>
                </a:ext>
              </a:extLst>
            </p:cNvPr>
            <p:cNvPicPr>
              <a:picLocks noChangeAspect="1"/>
            </p:cNvPicPr>
            <p:nvPr/>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a:off x="8421990" y="4085053"/>
              <a:ext cx="289590" cy="289590"/>
            </a:xfrm>
            <a:prstGeom prst="rect">
              <a:avLst/>
            </a:prstGeom>
          </p:spPr>
        </p:pic>
        <p:pic>
          <p:nvPicPr>
            <p:cNvPr id="41" name="Graphique 40" descr="Flèches de chevron avec un remplissage uni">
              <a:extLst>
                <a:ext uri="{FF2B5EF4-FFF2-40B4-BE49-F238E27FC236}">
                  <a16:creationId xmlns:a16="http://schemas.microsoft.com/office/drawing/2014/main" id="{45F7C557-2954-20C4-A388-D6F91669122C}"/>
                </a:ext>
              </a:extLst>
            </p:cNvPr>
            <p:cNvPicPr>
              <a:picLocks noChangeAspect="1"/>
            </p:cNvPicPr>
            <p:nvPr/>
          </p:nvPicPr>
          <p:blipFill>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a:off x="8876432" y="4186872"/>
              <a:ext cx="279194" cy="279194"/>
            </a:xfrm>
            <a:prstGeom prst="rect">
              <a:avLst/>
            </a:prstGeom>
          </p:spPr>
        </p:pic>
        <p:pic>
          <p:nvPicPr>
            <p:cNvPr id="42" name="Graphique 41" descr="Flèches de chevron avec un remplissage uni">
              <a:extLst>
                <a:ext uri="{FF2B5EF4-FFF2-40B4-BE49-F238E27FC236}">
                  <a16:creationId xmlns:a16="http://schemas.microsoft.com/office/drawing/2014/main" id="{1EB020E5-2D70-679A-3E6F-05BC4CC740CC}"/>
                </a:ext>
              </a:extLst>
            </p:cNvPr>
            <p:cNvPicPr>
              <a:picLocks noChangeAspect="1"/>
            </p:cNvPicPr>
            <p:nvPr/>
          </p:nvPicPr>
          <p:blipFill>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a:off x="8097762" y="4174408"/>
              <a:ext cx="282285" cy="282285"/>
            </a:xfrm>
            <a:prstGeom prst="rect">
              <a:avLst/>
            </a:prstGeom>
          </p:spPr>
        </p:pic>
        <p:pic>
          <p:nvPicPr>
            <p:cNvPr id="43" name="Graphique 42" descr="Héros avec un remplissage uni">
              <a:extLst>
                <a:ext uri="{FF2B5EF4-FFF2-40B4-BE49-F238E27FC236}">
                  <a16:creationId xmlns:a16="http://schemas.microsoft.com/office/drawing/2014/main" id="{D1B4B147-DEF5-155D-B0BB-2F969F71BE96}"/>
                </a:ext>
              </a:extLst>
            </p:cNvPr>
            <p:cNvPicPr>
              <a:picLocks noChangeAspect="1"/>
            </p:cNvPicPr>
            <p:nvPr/>
          </p:nvPicPr>
          <p:blipFill>
            <a:blip r:embed="rId36">
              <a:extLst>
                <a:ext uri="{28A0092B-C50C-407E-A947-70E740481C1C}">
                  <a14:useLocalDpi xmlns:a14="http://schemas.microsoft.com/office/drawing/2010/main" val="0"/>
                </a:ext>
                <a:ext uri="{96DAC541-7B7A-43D3-8B79-37D633B846F1}">
                  <asvg:svgBlip xmlns:asvg="http://schemas.microsoft.com/office/drawing/2016/SVG/main" r:embed="rId37"/>
                </a:ext>
              </a:extLst>
            </a:blip>
            <a:stretch>
              <a:fillRect/>
            </a:stretch>
          </p:blipFill>
          <p:spPr>
            <a:xfrm>
              <a:off x="10991352" y="4507605"/>
              <a:ext cx="457200" cy="457200"/>
            </a:xfrm>
            <a:prstGeom prst="rect">
              <a:avLst/>
            </a:prstGeom>
          </p:spPr>
        </p:pic>
        <p:pic>
          <p:nvPicPr>
            <p:cNvPr id="44" name="Graphique 43" descr="Héros avec un remplissage uni">
              <a:extLst>
                <a:ext uri="{FF2B5EF4-FFF2-40B4-BE49-F238E27FC236}">
                  <a16:creationId xmlns:a16="http://schemas.microsoft.com/office/drawing/2014/main" id="{9B01D407-DCD0-E37B-B80C-A1A756E4489C}"/>
                </a:ext>
              </a:extLst>
            </p:cNvPr>
            <p:cNvPicPr>
              <a:picLocks noChangeAspect="1"/>
            </p:cNvPicPr>
            <p:nvPr/>
          </p:nvPicPr>
          <p:blipFill>
            <a:blip r:embed="rId36">
              <a:extLst>
                <a:ext uri="{28A0092B-C50C-407E-A947-70E740481C1C}">
                  <a14:useLocalDpi xmlns:a14="http://schemas.microsoft.com/office/drawing/2010/main" val="0"/>
                </a:ext>
                <a:ext uri="{96DAC541-7B7A-43D3-8B79-37D633B846F1}">
                  <asvg:svgBlip xmlns:asvg="http://schemas.microsoft.com/office/drawing/2016/SVG/main" r:embed="rId37"/>
                </a:ext>
              </a:extLst>
            </a:blip>
            <a:stretch>
              <a:fillRect/>
            </a:stretch>
          </p:blipFill>
          <p:spPr>
            <a:xfrm>
              <a:off x="11294569" y="3746093"/>
              <a:ext cx="457200" cy="457200"/>
            </a:xfrm>
            <a:prstGeom prst="rect">
              <a:avLst/>
            </a:prstGeom>
          </p:spPr>
        </p:pic>
        <p:pic>
          <p:nvPicPr>
            <p:cNvPr id="45" name="Graphique 44" descr="Héroïne avec un remplissage uni">
              <a:extLst>
                <a:ext uri="{FF2B5EF4-FFF2-40B4-BE49-F238E27FC236}">
                  <a16:creationId xmlns:a16="http://schemas.microsoft.com/office/drawing/2014/main" id="{AC50B7DC-D0BD-FCE5-6676-F48D094C433F}"/>
                </a:ext>
              </a:extLst>
            </p:cNvPr>
            <p:cNvPicPr>
              <a:picLocks noChangeAspect="1"/>
            </p:cNvPicPr>
            <p:nvPr/>
          </p:nvPicPr>
          <p:blipFill>
            <a:blip r:embed="rId28">
              <a:extLst>
                <a:ext uri="{28A0092B-C50C-407E-A947-70E740481C1C}">
                  <a14:useLocalDpi xmlns:a14="http://schemas.microsoft.com/office/drawing/2010/main" val="0"/>
                </a:ext>
                <a:ext uri="{96DAC541-7B7A-43D3-8B79-37D633B846F1}">
                  <asvg:svgBlip xmlns:asvg="http://schemas.microsoft.com/office/drawing/2016/SVG/main" r:embed="rId29"/>
                </a:ext>
              </a:extLst>
            </a:blip>
            <a:stretch>
              <a:fillRect/>
            </a:stretch>
          </p:blipFill>
          <p:spPr>
            <a:xfrm>
              <a:off x="11330288" y="4140638"/>
              <a:ext cx="424644" cy="424645"/>
            </a:xfrm>
            <a:prstGeom prst="rect">
              <a:avLst/>
            </a:prstGeom>
          </p:spPr>
        </p:pic>
        <p:pic>
          <p:nvPicPr>
            <p:cNvPr id="46" name="Graphique 45" descr="Patinage avec un remplissage uni">
              <a:extLst>
                <a:ext uri="{FF2B5EF4-FFF2-40B4-BE49-F238E27FC236}">
                  <a16:creationId xmlns:a16="http://schemas.microsoft.com/office/drawing/2014/main" id="{2B84A5A8-9831-1340-9194-EBCF4D944AE0}"/>
                </a:ext>
              </a:extLst>
            </p:cNvPr>
            <p:cNvPicPr>
              <a:picLocks noChangeAspect="1"/>
            </p:cNvPicPr>
            <p:nvPr/>
          </p:nvPicPr>
          <p:blipFill>
            <a:blip r:embed="rId32">
              <a:extLst>
                <a:ext uri="{28A0092B-C50C-407E-A947-70E740481C1C}">
                  <a14:useLocalDpi xmlns:a14="http://schemas.microsoft.com/office/drawing/2010/main" val="0"/>
                </a:ext>
                <a:ext uri="{96DAC541-7B7A-43D3-8B79-37D633B846F1}">
                  <asvg:svgBlip xmlns:asvg="http://schemas.microsoft.com/office/drawing/2016/SVG/main" r:embed="rId33"/>
                </a:ext>
              </a:extLst>
            </a:blip>
            <a:stretch>
              <a:fillRect/>
            </a:stretch>
          </p:blipFill>
          <p:spPr>
            <a:xfrm>
              <a:off x="10306385" y="4056889"/>
              <a:ext cx="373471" cy="373472"/>
            </a:xfrm>
            <a:prstGeom prst="rect">
              <a:avLst/>
            </a:prstGeom>
          </p:spPr>
        </p:pic>
        <p:pic>
          <p:nvPicPr>
            <p:cNvPr id="47" name="Graphique 46" descr="Patinage avec un remplissage uni">
              <a:extLst>
                <a:ext uri="{FF2B5EF4-FFF2-40B4-BE49-F238E27FC236}">
                  <a16:creationId xmlns:a16="http://schemas.microsoft.com/office/drawing/2014/main" id="{EA7C5C27-A640-E6D8-D664-57C773ECF3CA}"/>
                </a:ext>
              </a:extLst>
            </p:cNvPr>
            <p:cNvPicPr>
              <a:picLocks noChangeAspect="1"/>
            </p:cNvPicPr>
            <p:nvPr/>
          </p:nvPicPr>
          <p:blipFill>
            <a:blip r:embed="rId32">
              <a:extLst>
                <a:ext uri="{28A0092B-C50C-407E-A947-70E740481C1C}">
                  <a14:useLocalDpi xmlns:a14="http://schemas.microsoft.com/office/drawing/2010/main" val="0"/>
                </a:ext>
                <a:ext uri="{96DAC541-7B7A-43D3-8B79-37D633B846F1}">
                  <asvg:svgBlip xmlns:asvg="http://schemas.microsoft.com/office/drawing/2016/SVG/main" r:embed="rId33"/>
                </a:ext>
              </a:extLst>
            </a:blip>
            <a:stretch>
              <a:fillRect/>
            </a:stretch>
          </p:blipFill>
          <p:spPr>
            <a:xfrm>
              <a:off x="10013782" y="4240199"/>
              <a:ext cx="373471" cy="373472"/>
            </a:xfrm>
            <a:prstGeom prst="rect">
              <a:avLst/>
            </a:prstGeom>
          </p:spPr>
        </p:pic>
        <p:pic>
          <p:nvPicPr>
            <p:cNvPr id="48" name="Graphique 47" descr="Patinage avec un remplissage uni">
              <a:extLst>
                <a:ext uri="{FF2B5EF4-FFF2-40B4-BE49-F238E27FC236}">
                  <a16:creationId xmlns:a16="http://schemas.microsoft.com/office/drawing/2014/main" id="{371627C2-B820-52D9-D607-B6F999E8F3D8}"/>
                </a:ext>
              </a:extLst>
            </p:cNvPr>
            <p:cNvPicPr>
              <a:picLocks noChangeAspect="1"/>
            </p:cNvPicPr>
            <p:nvPr/>
          </p:nvPicPr>
          <p:blipFill>
            <a:blip r:embed="rId32">
              <a:extLst>
                <a:ext uri="{28A0092B-C50C-407E-A947-70E740481C1C}">
                  <a14:useLocalDpi xmlns:a14="http://schemas.microsoft.com/office/drawing/2010/main" val="0"/>
                </a:ext>
                <a:ext uri="{96DAC541-7B7A-43D3-8B79-37D633B846F1}">
                  <asvg:svgBlip xmlns:asvg="http://schemas.microsoft.com/office/drawing/2016/SVG/main" r:embed="rId33"/>
                </a:ext>
              </a:extLst>
            </a:blip>
            <a:stretch>
              <a:fillRect/>
            </a:stretch>
          </p:blipFill>
          <p:spPr>
            <a:xfrm>
              <a:off x="10254800" y="4423509"/>
              <a:ext cx="373471" cy="373472"/>
            </a:xfrm>
            <a:prstGeom prst="rect">
              <a:avLst/>
            </a:prstGeom>
          </p:spPr>
        </p:pic>
        <p:pic>
          <p:nvPicPr>
            <p:cNvPr id="49" name="Graphique 48" descr="Courir avec un remplissage uni">
              <a:extLst>
                <a:ext uri="{FF2B5EF4-FFF2-40B4-BE49-F238E27FC236}">
                  <a16:creationId xmlns:a16="http://schemas.microsoft.com/office/drawing/2014/main" id="{A520F6FA-ED0D-9E7A-58C3-027ACE28AFB7}"/>
                </a:ext>
              </a:extLst>
            </p:cNvPr>
            <p:cNvPicPr>
              <a:picLocks noChangeAspect="1"/>
            </p:cNvPicPr>
            <p:nvPr/>
          </p:nvPicPr>
          <p:blipFill>
            <a:blip r:embed="rId30">
              <a:extLst>
                <a:ext uri="{28A0092B-C50C-407E-A947-70E740481C1C}">
                  <a14:useLocalDpi xmlns:a14="http://schemas.microsoft.com/office/drawing/2010/main" val="0"/>
                </a:ext>
                <a:ext uri="{96DAC541-7B7A-43D3-8B79-37D633B846F1}">
                  <asvg:svgBlip xmlns:asvg="http://schemas.microsoft.com/office/drawing/2016/SVG/main" r:embed="rId31"/>
                </a:ext>
              </a:extLst>
            </a:blip>
            <a:stretch>
              <a:fillRect/>
            </a:stretch>
          </p:blipFill>
          <p:spPr>
            <a:xfrm>
              <a:off x="9425240" y="4181315"/>
              <a:ext cx="359779" cy="359780"/>
            </a:xfrm>
            <a:prstGeom prst="rect">
              <a:avLst/>
            </a:prstGeom>
          </p:spPr>
        </p:pic>
        <p:pic>
          <p:nvPicPr>
            <p:cNvPr id="50" name="Graphique 49" descr="Courir avec un remplissage uni">
              <a:extLst>
                <a:ext uri="{FF2B5EF4-FFF2-40B4-BE49-F238E27FC236}">
                  <a16:creationId xmlns:a16="http://schemas.microsoft.com/office/drawing/2014/main" id="{FE401AAD-58AC-CD80-E1F4-B1DF8BC87E26}"/>
                </a:ext>
              </a:extLst>
            </p:cNvPr>
            <p:cNvPicPr>
              <a:picLocks noChangeAspect="1"/>
            </p:cNvPicPr>
            <p:nvPr/>
          </p:nvPicPr>
          <p:blipFill>
            <a:blip r:embed="rId30">
              <a:extLst>
                <a:ext uri="{28A0092B-C50C-407E-A947-70E740481C1C}">
                  <a14:useLocalDpi xmlns:a14="http://schemas.microsoft.com/office/drawing/2010/main" val="0"/>
                </a:ext>
                <a:ext uri="{96DAC541-7B7A-43D3-8B79-37D633B846F1}">
                  <asvg:svgBlip xmlns:asvg="http://schemas.microsoft.com/office/drawing/2016/SVG/main" r:embed="rId31"/>
                </a:ext>
              </a:extLst>
            </a:blip>
            <a:stretch>
              <a:fillRect/>
            </a:stretch>
          </p:blipFill>
          <p:spPr>
            <a:xfrm>
              <a:off x="9133356" y="4314967"/>
              <a:ext cx="359779" cy="359780"/>
            </a:xfrm>
            <a:prstGeom prst="rect">
              <a:avLst/>
            </a:prstGeom>
          </p:spPr>
        </p:pic>
        <p:pic>
          <p:nvPicPr>
            <p:cNvPr id="51" name="Graphique 50" descr="Courir avec un remplissage uni">
              <a:extLst>
                <a:ext uri="{FF2B5EF4-FFF2-40B4-BE49-F238E27FC236}">
                  <a16:creationId xmlns:a16="http://schemas.microsoft.com/office/drawing/2014/main" id="{F842BC09-3894-FAAC-E14D-199A807EDBE3}"/>
                </a:ext>
              </a:extLst>
            </p:cNvPr>
            <p:cNvPicPr>
              <a:picLocks noChangeAspect="1"/>
            </p:cNvPicPr>
            <p:nvPr/>
          </p:nvPicPr>
          <p:blipFill>
            <a:blip r:embed="rId30">
              <a:extLst>
                <a:ext uri="{28A0092B-C50C-407E-A947-70E740481C1C}">
                  <a14:useLocalDpi xmlns:a14="http://schemas.microsoft.com/office/drawing/2010/main" val="0"/>
                </a:ext>
                <a:ext uri="{96DAC541-7B7A-43D3-8B79-37D633B846F1}">
                  <asvg:svgBlip xmlns:asvg="http://schemas.microsoft.com/office/drawing/2016/SVG/main" r:embed="rId31"/>
                </a:ext>
              </a:extLst>
            </a:blip>
            <a:stretch>
              <a:fillRect/>
            </a:stretch>
          </p:blipFill>
          <p:spPr>
            <a:xfrm>
              <a:off x="9329523" y="4467681"/>
              <a:ext cx="359779" cy="359780"/>
            </a:xfrm>
            <a:prstGeom prst="rect">
              <a:avLst/>
            </a:prstGeom>
          </p:spPr>
        </p:pic>
        <p:pic>
          <p:nvPicPr>
            <p:cNvPr id="52" name="Graphique 51" descr="Marcher avec un remplissage uni">
              <a:extLst>
                <a:ext uri="{FF2B5EF4-FFF2-40B4-BE49-F238E27FC236}">
                  <a16:creationId xmlns:a16="http://schemas.microsoft.com/office/drawing/2014/main" id="{EE9717B2-810B-3020-D45D-35347495516C}"/>
                </a:ext>
              </a:extLst>
            </p:cNvPr>
            <p:cNvPicPr>
              <a:picLocks noChangeAspect="1"/>
            </p:cNvPicPr>
            <p:nvPr/>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a:off x="8574390" y="4237453"/>
              <a:ext cx="289590" cy="289590"/>
            </a:xfrm>
            <a:prstGeom prst="rect">
              <a:avLst/>
            </a:prstGeom>
          </p:spPr>
        </p:pic>
        <p:pic>
          <p:nvPicPr>
            <p:cNvPr id="53" name="Graphique 52" descr="Marcher avec un remplissage uni">
              <a:extLst>
                <a:ext uri="{FF2B5EF4-FFF2-40B4-BE49-F238E27FC236}">
                  <a16:creationId xmlns:a16="http://schemas.microsoft.com/office/drawing/2014/main" id="{5BD0911A-D1DE-5164-30FD-421B72C6937D}"/>
                </a:ext>
              </a:extLst>
            </p:cNvPr>
            <p:cNvPicPr>
              <a:picLocks noChangeAspect="1"/>
            </p:cNvPicPr>
            <p:nvPr/>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a:off x="8397400" y="4370982"/>
              <a:ext cx="289590" cy="289590"/>
            </a:xfrm>
            <a:prstGeom prst="rect">
              <a:avLst/>
            </a:prstGeom>
          </p:spPr>
        </p:pic>
        <p:pic>
          <p:nvPicPr>
            <p:cNvPr id="54" name="Graphique 53" descr="Marcher avec un remplissage uni">
              <a:extLst>
                <a:ext uri="{FF2B5EF4-FFF2-40B4-BE49-F238E27FC236}">
                  <a16:creationId xmlns:a16="http://schemas.microsoft.com/office/drawing/2014/main" id="{3B443170-01D9-CE7D-0A73-8F68CCE42266}"/>
                </a:ext>
              </a:extLst>
            </p:cNvPr>
            <p:cNvPicPr>
              <a:picLocks noChangeAspect="1"/>
            </p:cNvPicPr>
            <p:nvPr/>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a:off x="8634425" y="3959129"/>
              <a:ext cx="289590" cy="289590"/>
            </a:xfrm>
            <a:prstGeom prst="rect">
              <a:avLst/>
            </a:prstGeom>
          </p:spPr>
        </p:pic>
      </p:grpSp>
      <p:grpSp>
        <p:nvGrpSpPr>
          <p:cNvPr id="57" name="Groupe 56">
            <a:extLst>
              <a:ext uri="{FF2B5EF4-FFF2-40B4-BE49-F238E27FC236}">
                <a16:creationId xmlns:a16="http://schemas.microsoft.com/office/drawing/2014/main" id="{0F3CEAC4-33D2-4512-6240-31746E9D2D94}"/>
              </a:ext>
            </a:extLst>
          </p:cNvPr>
          <p:cNvGrpSpPr/>
          <p:nvPr/>
        </p:nvGrpSpPr>
        <p:grpSpPr>
          <a:xfrm>
            <a:off x="6819523" y="2217468"/>
            <a:ext cx="1642043" cy="1642043"/>
            <a:chOff x="7974777" y="2346492"/>
            <a:chExt cx="1642043" cy="1642043"/>
          </a:xfrm>
        </p:grpSpPr>
        <p:pic>
          <p:nvPicPr>
            <p:cNvPr id="55" name="Graphique 54" descr="Salle de conseil avec un remplissage uni">
              <a:extLst>
                <a:ext uri="{FF2B5EF4-FFF2-40B4-BE49-F238E27FC236}">
                  <a16:creationId xmlns:a16="http://schemas.microsoft.com/office/drawing/2014/main" id="{4DE2FA64-093A-F5FC-D312-F94697E14AEA}"/>
                </a:ext>
              </a:extLst>
            </p:cNvPr>
            <p:cNvPicPr>
              <a:picLocks noChangeAspect="1"/>
            </p:cNvPicPr>
            <p:nvPr/>
          </p:nvPicPr>
          <p:blipFill>
            <a:blip r:embed="rId38">
              <a:extLst>
                <a:ext uri="{28A0092B-C50C-407E-A947-70E740481C1C}">
                  <a14:useLocalDpi xmlns:a14="http://schemas.microsoft.com/office/drawing/2010/main" val="0"/>
                </a:ext>
                <a:ext uri="{96DAC541-7B7A-43D3-8B79-37D633B846F1}">
                  <asvg:svgBlip xmlns:asvg="http://schemas.microsoft.com/office/drawing/2016/SVG/main" r:embed="rId39"/>
                </a:ext>
              </a:extLst>
            </a:blip>
            <a:stretch>
              <a:fillRect/>
            </a:stretch>
          </p:blipFill>
          <p:spPr>
            <a:xfrm>
              <a:off x="7974777" y="2346492"/>
              <a:ext cx="1642043" cy="1642043"/>
            </a:xfrm>
            <a:prstGeom prst="rect">
              <a:avLst/>
            </a:prstGeom>
          </p:spPr>
        </p:pic>
        <p:pic>
          <p:nvPicPr>
            <p:cNvPr id="56" name="Graphique 55" descr="Salle de conseil avec un remplissage uni">
              <a:extLst>
                <a:ext uri="{FF2B5EF4-FFF2-40B4-BE49-F238E27FC236}">
                  <a16:creationId xmlns:a16="http://schemas.microsoft.com/office/drawing/2014/main" id="{41F701DB-A72C-DCE0-7F97-A2D495B23DCD}"/>
                </a:ext>
              </a:extLst>
            </p:cNvPr>
            <p:cNvPicPr>
              <a:picLocks noChangeAspect="1"/>
            </p:cNvPicPr>
            <p:nvPr/>
          </p:nvPicPr>
          <p:blipFill rotWithShape="1">
            <a:blip r:embed="rId40">
              <a:extLst>
                <a:ext uri="{28A0092B-C50C-407E-A947-70E740481C1C}">
                  <a14:useLocalDpi xmlns:a14="http://schemas.microsoft.com/office/drawing/2010/main" val="0"/>
                </a:ext>
                <a:ext uri="{96DAC541-7B7A-43D3-8B79-37D633B846F1}">
                  <asvg:svgBlip xmlns:asvg="http://schemas.microsoft.com/office/drawing/2016/SVG/main" r:embed="rId41"/>
                </a:ext>
              </a:extLst>
            </a:blip>
            <a:srcRect r="49089"/>
            <a:stretch/>
          </p:blipFill>
          <p:spPr>
            <a:xfrm>
              <a:off x="7974778" y="2346492"/>
              <a:ext cx="835988" cy="1642043"/>
            </a:xfrm>
            <a:prstGeom prst="rect">
              <a:avLst/>
            </a:prstGeom>
          </p:spPr>
        </p:pic>
      </p:grpSp>
      <p:sp>
        <p:nvSpPr>
          <p:cNvPr id="58" name="Espace réservé du texte 8">
            <a:extLst>
              <a:ext uri="{FF2B5EF4-FFF2-40B4-BE49-F238E27FC236}">
                <a16:creationId xmlns:a16="http://schemas.microsoft.com/office/drawing/2014/main" id="{66A93558-C91F-E002-D51B-BB770EA0176C}"/>
              </a:ext>
            </a:extLst>
          </p:cNvPr>
          <p:cNvSpPr txBox="1">
            <a:spLocks/>
          </p:cNvSpPr>
          <p:nvPr/>
        </p:nvSpPr>
        <p:spPr>
          <a:xfrm>
            <a:off x="826951" y="4026313"/>
            <a:ext cx="2272361" cy="1111927"/>
          </a:xfrm>
          <a:prstGeom prst="rect">
            <a:avLst/>
          </a:prstGeom>
          <a:solidFill>
            <a:schemeClr val="bg1">
              <a:lumMod val="85000"/>
            </a:schemeClr>
          </a:solidFill>
        </p:spPr>
        <p:txBody>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200" dirty="0"/>
              <a:t>In Communities : assessing who would be the right persons to lead subgroups and how to coach them into the role</a:t>
            </a:r>
          </a:p>
        </p:txBody>
      </p:sp>
      <p:sp>
        <p:nvSpPr>
          <p:cNvPr id="59" name="Espace réservé du texte 8">
            <a:extLst>
              <a:ext uri="{FF2B5EF4-FFF2-40B4-BE49-F238E27FC236}">
                <a16:creationId xmlns:a16="http://schemas.microsoft.com/office/drawing/2014/main" id="{DCEDC4BB-F160-5773-BACC-23D1C52FDE16}"/>
              </a:ext>
            </a:extLst>
          </p:cNvPr>
          <p:cNvSpPr txBox="1">
            <a:spLocks/>
          </p:cNvSpPr>
          <p:nvPr/>
        </p:nvSpPr>
        <p:spPr>
          <a:xfrm>
            <a:off x="6519331" y="4014970"/>
            <a:ext cx="2272361" cy="1111927"/>
          </a:xfrm>
          <a:prstGeom prst="rect">
            <a:avLst/>
          </a:prstGeom>
          <a:solidFill>
            <a:schemeClr val="bg1">
              <a:lumMod val="85000"/>
            </a:schemeClr>
          </a:solidFill>
        </p:spPr>
        <p:txBody>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200" dirty="0"/>
              <a:t>Treating a team as a Community, assessment of a manager legitimacy in his/her role. </a:t>
            </a:r>
          </a:p>
        </p:txBody>
      </p:sp>
      <p:sp>
        <p:nvSpPr>
          <p:cNvPr id="60" name="Espace réservé du texte 8">
            <a:extLst>
              <a:ext uri="{FF2B5EF4-FFF2-40B4-BE49-F238E27FC236}">
                <a16:creationId xmlns:a16="http://schemas.microsoft.com/office/drawing/2014/main" id="{F7C8BD75-2AB7-A4F0-542C-04CA12C862BB}"/>
              </a:ext>
            </a:extLst>
          </p:cNvPr>
          <p:cNvSpPr txBox="1">
            <a:spLocks/>
          </p:cNvSpPr>
          <p:nvPr/>
        </p:nvSpPr>
        <p:spPr>
          <a:xfrm>
            <a:off x="3702095" y="4017858"/>
            <a:ext cx="2272361" cy="1111927"/>
          </a:xfrm>
          <a:prstGeom prst="rect">
            <a:avLst/>
          </a:prstGeom>
          <a:solidFill>
            <a:schemeClr val="bg1">
              <a:lumMod val="85000"/>
            </a:schemeClr>
          </a:solidFill>
        </p:spPr>
        <p:txBody>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200" dirty="0"/>
              <a:t>In Communities : Follow-up sheet for any empowerment program for leaders</a:t>
            </a:r>
          </a:p>
        </p:txBody>
      </p:sp>
      <p:sp>
        <p:nvSpPr>
          <p:cNvPr id="61" name="Espace réservé du texte 8">
            <a:extLst>
              <a:ext uri="{FF2B5EF4-FFF2-40B4-BE49-F238E27FC236}">
                <a16:creationId xmlns:a16="http://schemas.microsoft.com/office/drawing/2014/main" id="{317226DE-14FB-6B3D-E7F0-42ED9A09DF51}"/>
              </a:ext>
            </a:extLst>
          </p:cNvPr>
          <p:cNvSpPr txBox="1">
            <a:spLocks/>
          </p:cNvSpPr>
          <p:nvPr/>
        </p:nvSpPr>
        <p:spPr>
          <a:xfrm>
            <a:off x="9336567" y="4014969"/>
            <a:ext cx="2272361" cy="1111927"/>
          </a:xfrm>
          <a:prstGeom prst="rect">
            <a:avLst/>
          </a:prstGeom>
          <a:solidFill>
            <a:schemeClr val="bg1">
              <a:lumMod val="85000"/>
            </a:schemeClr>
          </a:solidFill>
        </p:spPr>
        <p:txBody>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200" dirty="0"/>
              <a:t>When launching a Community, identifying who would stand out as a leader and how to support them</a:t>
            </a:r>
          </a:p>
        </p:txBody>
      </p:sp>
      <p:grpSp>
        <p:nvGrpSpPr>
          <p:cNvPr id="62" name="Groupe 61">
            <a:extLst>
              <a:ext uri="{FF2B5EF4-FFF2-40B4-BE49-F238E27FC236}">
                <a16:creationId xmlns:a16="http://schemas.microsoft.com/office/drawing/2014/main" id="{0CE19CC9-5A3B-D51F-B9F0-AD4BA6C30D84}"/>
              </a:ext>
            </a:extLst>
          </p:cNvPr>
          <p:cNvGrpSpPr/>
          <p:nvPr/>
        </p:nvGrpSpPr>
        <p:grpSpPr>
          <a:xfrm>
            <a:off x="9861037" y="2363381"/>
            <a:ext cx="1271181" cy="1396396"/>
            <a:chOff x="759851" y="5123712"/>
            <a:chExt cx="814903" cy="895173"/>
          </a:xfrm>
        </p:grpSpPr>
        <p:pic>
          <p:nvPicPr>
            <p:cNvPr id="63" name="Graphique 62" descr="Employé de bureau avec un remplissage uni">
              <a:extLst>
                <a:ext uri="{FF2B5EF4-FFF2-40B4-BE49-F238E27FC236}">
                  <a16:creationId xmlns:a16="http://schemas.microsoft.com/office/drawing/2014/main" id="{834FB00D-241B-1BFE-DC1D-280DAA75F9B5}"/>
                </a:ext>
              </a:extLst>
            </p:cNvPr>
            <p:cNvPicPr>
              <a:picLocks noChangeAspect="1"/>
            </p:cNvPicPr>
            <p:nvPr/>
          </p:nvPicPr>
          <p:blipFill>
            <a:blip r:embed="rId42">
              <a:extLst>
                <a:ext uri="{28A0092B-C50C-407E-A947-70E740481C1C}">
                  <a14:useLocalDpi xmlns:a14="http://schemas.microsoft.com/office/drawing/2010/main" val="0"/>
                </a:ext>
                <a:ext uri="{96DAC541-7B7A-43D3-8B79-37D633B846F1}">
                  <asvg:svgBlip xmlns:asvg="http://schemas.microsoft.com/office/drawing/2016/SVG/main" r:embed="rId43"/>
                </a:ext>
              </a:extLst>
            </a:blip>
            <a:stretch>
              <a:fillRect/>
            </a:stretch>
          </p:blipFill>
          <p:spPr>
            <a:xfrm>
              <a:off x="902893" y="5723339"/>
              <a:ext cx="286085" cy="286085"/>
            </a:xfrm>
            <a:prstGeom prst="rect">
              <a:avLst/>
            </a:prstGeom>
          </p:spPr>
        </p:pic>
        <p:pic>
          <p:nvPicPr>
            <p:cNvPr id="64" name="Graphique 63" descr="Employée de bureau avec un remplissage uni">
              <a:extLst>
                <a:ext uri="{FF2B5EF4-FFF2-40B4-BE49-F238E27FC236}">
                  <a16:creationId xmlns:a16="http://schemas.microsoft.com/office/drawing/2014/main" id="{5CC0A35B-8AEC-D82F-619A-9E44983AE829}"/>
                </a:ext>
              </a:extLst>
            </p:cNvPr>
            <p:cNvPicPr>
              <a:picLocks noChangeAspect="1"/>
            </p:cNvPicPr>
            <p:nvPr/>
          </p:nvPicPr>
          <p:blipFill>
            <a:blip r:embed="rId44">
              <a:extLst>
                <a:ext uri="{28A0092B-C50C-407E-A947-70E740481C1C}">
                  <a14:useLocalDpi xmlns:a14="http://schemas.microsoft.com/office/drawing/2010/main" val="0"/>
                </a:ext>
                <a:ext uri="{96DAC541-7B7A-43D3-8B79-37D633B846F1}">
                  <asvg:svgBlip xmlns:asvg="http://schemas.microsoft.com/office/drawing/2016/SVG/main" r:embed="rId45"/>
                </a:ext>
              </a:extLst>
            </a:blip>
            <a:stretch>
              <a:fillRect/>
            </a:stretch>
          </p:blipFill>
          <p:spPr>
            <a:xfrm>
              <a:off x="1288669" y="5501349"/>
              <a:ext cx="286085" cy="286085"/>
            </a:xfrm>
            <a:prstGeom prst="rect">
              <a:avLst/>
            </a:prstGeom>
          </p:spPr>
        </p:pic>
        <p:pic>
          <p:nvPicPr>
            <p:cNvPr id="65" name="Graphique 64" descr="Employé de bureau avec un remplissage uni">
              <a:extLst>
                <a:ext uri="{FF2B5EF4-FFF2-40B4-BE49-F238E27FC236}">
                  <a16:creationId xmlns:a16="http://schemas.microsoft.com/office/drawing/2014/main" id="{C09F0501-BEAE-F9AE-DF80-7F0C99EFC100}"/>
                </a:ext>
              </a:extLst>
            </p:cNvPr>
            <p:cNvPicPr>
              <a:picLocks noChangeAspect="1"/>
            </p:cNvPicPr>
            <p:nvPr/>
          </p:nvPicPr>
          <p:blipFill>
            <a:blip r:embed="rId42">
              <a:extLst>
                <a:ext uri="{28A0092B-C50C-407E-A947-70E740481C1C}">
                  <a14:useLocalDpi xmlns:a14="http://schemas.microsoft.com/office/drawing/2010/main" val="0"/>
                </a:ext>
                <a:ext uri="{96DAC541-7B7A-43D3-8B79-37D633B846F1}">
                  <asvg:svgBlip xmlns:asvg="http://schemas.microsoft.com/office/drawing/2016/SVG/main" r:embed="rId43"/>
                </a:ext>
              </a:extLst>
            </a:blip>
            <a:stretch>
              <a:fillRect/>
            </a:stretch>
          </p:blipFill>
          <p:spPr>
            <a:xfrm>
              <a:off x="1288669" y="5243502"/>
              <a:ext cx="286085" cy="286085"/>
            </a:xfrm>
            <a:prstGeom prst="rect">
              <a:avLst/>
            </a:prstGeom>
          </p:spPr>
        </p:pic>
        <p:pic>
          <p:nvPicPr>
            <p:cNvPr id="66" name="Graphique 65" descr="Employée de bureau avec un remplissage uni">
              <a:extLst>
                <a:ext uri="{FF2B5EF4-FFF2-40B4-BE49-F238E27FC236}">
                  <a16:creationId xmlns:a16="http://schemas.microsoft.com/office/drawing/2014/main" id="{805C79FB-6462-8628-EDB5-4FB93365783C}"/>
                </a:ext>
              </a:extLst>
            </p:cNvPr>
            <p:cNvPicPr>
              <a:picLocks noChangeAspect="1"/>
            </p:cNvPicPr>
            <p:nvPr/>
          </p:nvPicPr>
          <p:blipFill>
            <a:blip r:embed="rId44">
              <a:extLst>
                <a:ext uri="{28A0092B-C50C-407E-A947-70E740481C1C}">
                  <a14:useLocalDpi xmlns:a14="http://schemas.microsoft.com/office/drawing/2010/main" val="0"/>
                </a:ext>
                <a:ext uri="{96DAC541-7B7A-43D3-8B79-37D633B846F1}">
                  <asvg:svgBlip xmlns:asvg="http://schemas.microsoft.com/office/drawing/2016/SVG/main" r:embed="rId45"/>
                </a:ext>
              </a:extLst>
            </a:blip>
            <a:stretch>
              <a:fillRect/>
            </a:stretch>
          </p:blipFill>
          <p:spPr>
            <a:xfrm>
              <a:off x="1117925" y="5732800"/>
              <a:ext cx="286085" cy="286085"/>
            </a:xfrm>
            <a:prstGeom prst="rect">
              <a:avLst/>
            </a:prstGeom>
          </p:spPr>
        </p:pic>
        <p:pic>
          <p:nvPicPr>
            <p:cNvPr id="67" name="Graphique 66" descr="Employée de bureau avec un remplissage uni">
              <a:extLst>
                <a:ext uri="{FF2B5EF4-FFF2-40B4-BE49-F238E27FC236}">
                  <a16:creationId xmlns:a16="http://schemas.microsoft.com/office/drawing/2014/main" id="{35E28C4E-BD8D-0922-857D-DC00A5E6D631}"/>
                </a:ext>
              </a:extLst>
            </p:cNvPr>
            <p:cNvPicPr>
              <a:picLocks noChangeAspect="1"/>
            </p:cNvPicPr>
            <p:nvPr/>
          </p:nvPicPr>
          <p:blipFill>
            <a:blip r:embed="rId44">
              <a:extLst>
                <a:ext uri="{28A0092B-C50C-407E-A947-70E740481C1C}">
                  <a14:useLocalDpi xmlns:a14="http://schemas.microsoft.com/office/drawing/2010/main" val="0"/>
                </a:ext>
                <a:ext uri="{96DAC541-7B7A-43D3-8B79-37D633B846F1}">
                  <asvg:svgBlip xmlns:asvg="http://schemas.microsoft.com/office/drawing/2016/SVG/main" r:embed="rId45"/>
                </a:ext>
              </a:extLst>
            </a:blip>
            <a:stretch>
              <a:fillRect/>
            </a:stretch>
          </p:blipFill>
          <p:spPr>
            <a:xfrm>
              <a:off x="759851" y="5509329"/>
              <a:ext cx="286085" cy="286085"/>
            </a:xfrm>
            <a:prstGeom prst="rect">
              <a:avLst/>
            </a:prstGeom>
          </p:spPr>
        </p:pic>
        <p:pic>
          <p:nvPicPr>
            <p:cNvPr id="68" name="Graphique 67" descr="Employé de bureau avec un remplissage uni">
              <a:extLst>
                <a:ext uri="{FF2B5EF4-FFF2-40B4-BE49-F238E27FC236}">
                  <a16:creationId xmlns:a16="http://schemas.microsoft.com/office/drawing/2014/main" id="{82F770D7-B217-A32C-1013-6B2ACD498986}"/>
                </a:ext>
              </a:extLst>
            </p:cNvPr>
            <p:cNvPicPr>
              <a:picLocks noChangeAspect="1"/>
            </p:cNvPicPr>
            <p:nvPr/>
          </p:nvPicPr>
          <p:blipFill>
            <a:blip r:embed="rId42">
              <a:extLst>
                <a:ext uri="{28A0092B-C50C-407E-A947-70E740481C1C}">
                  <a14:useLocalDpi xmlns:a14="http://schemas.microsoft.com/office/drawing/2010/main" val="0"/>
                </a:ext>
                <a:ext uri="{96DAC541-7B7A-43D3-8B79-37D633B846F1}">
                  <asvg:svgBlip xmlns:asvg="http://schemas.microsoft.com/office/drawing/2016/SVG/main" r:embed="rId43"/>
                </a:ext>
              </a:extLst>
            </a:blip>
            <a:stretch>
              <a:fillRect/>
            </a:stretch>
          </p:blipFill>
          <p:spPr>
            <a:xfrm>
              <a:off x="804978" y="5243502"/>
              <a:ext cx="286085" cy="286085"/>
            </a:xfrm>
            <a:prstGeom prst="rect">
              <a:avLst/>
            </a:prstGeom>
          </p:spPr>
        </p:pic>
        <p:pic>
          <p:nvPicPr>
            <p:cNvPr id="69" name="Graphique 68" descr="Employée de bureau avec un remplissage uni">
              <a:extLst>
                <a:ext uri="{FF2B5EF4-FFF2-40B4-BE49-F238E27FC236}">
                  <a16:creationId xmlns:a16="http://schemas.microsoft.com/office/drawing/2014/main" id="{17ED08F5-72F5-9BB4-1735-EBF6891DA733}"/>
                </a:ext>
              </a:extLst>
            </p:cNvPr>
            <p:cNvPicPr>
              <a:picLocks noChangeAspect="1"/>
            </p:cNvPicPr>
            <p:nvPr/>
          </p:nvPicPr>
          <p:blipFill>
            <a:blip r:embed="rId44">
              <a:extLst>
                <a:ext uri="{28A0092B-C50C-407E-A947-70E740481C1C}">
                  <a14:useLocalDpi xmlns:a14="http://schemas.microsoft.com/office/drawing/2010/main" val="0"/>
                </a:ext>
                <a:ext uri="{96DAC541-7B7A-43D3-8B79-37D633B846F1}">
                  <asvg:svgBlip xmlns:asvg="http://schemas.microsoft.com/office/drawing/2016/SVG/main" r:embed="rId45"/>
                </a:ext>
              </a:extLst>
            </a:blip>
            <a:stretch>
              <a:fillRect/>
            </a:stretch>
          </p:blipFill>
          <p:spPr>
            <a:xfrm>
              <a:off x="1064184" y="5123712"/>
              <a:ext cx="286085" cy="286085"/>
            </a:xfrm>
            <a:prstGeom prst="rect">
              <a:avLst/>
            </a:prstGeom>
          </p:spPr>
        </p:pic>
        <p:pic>
          <p:nvPicPr>
            <p:cNvPr id="70" name="Graphique 69" descr="Employée de bureau avec un remplissage uni">
              <a:extLst>
                <a:ext uri="{FF2B5EF4-FFF2-40B4-BE49-F238E27FC236}">
                  <a16:creationId xmlns:a16="http://schemas.microsoft.com/office/drawing/2014/main" id="{54410C80-C7B0-E793-9B37-5A5A0E1957B1}"/>
                </a:ext>
              </a:extLst>
            </p:cNvPr>
            <p:cNvPicPr>
              <a:picLocks noChangeAspect="1"/>
            </p:cNvPicPr>
            <p:nvPr/>
          </p:nvPicPr>
          <p:blipFill>
            <a:blip r:embed="rId46">
              <a:extLst>
                <a:ext uri="{28A0092B-C50C-407E-A947-70E740481C1C}">
                  <a14:useLocalDpi xmlns:a14="http://schemas.microsoft.com/office/drawing/2010/main" val="0"/>
                </a:ext>
                <a:ext uri="{96DAC541-7B7A-43D3-8B79-37D633B846F1}">
                  <asvg:svgBlip xmlns:asvg="http://schemas.microsoft.com/office/drawing/2016/SVG/main" r:embed="rId47"/>
                </a:ext>
              </a:extLst>
            </a:blip>
            <a:stretch>
              <a:fillRect/>
            </a:stretch>
          </p:blipFill>
          <p:spPr>
            <a:xfrm>
              <a:off x="974883" y="5370067"/>
              <a:ext cx="407906" cy="407906"/>
            </a:xfrm>
            <a:prstGeom prst="rect">
              <a:avLst/>
            </a:prstGeom>
          </p:spPr>
        </p:pic>
      </p:grpSp>
    </p:spTree>
    <p:extLst>
      <p:ext uri="{BB962C8B-B14F-4D97-AF65-F5344CB8AC3E}">
        <p14:creationId xmlns:p14="http://schemas.microsoft.com/office/powerpoint/2010/main" val="11679020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3A2B1C9-782E-4AA6-BEC7-67CB85EF882E}"/>
              </a:ext>
            </a:extLst>
          </p:cNvPr>
          <p:cNvSpPr>
            <a:spLocks noGrp="1"/>
          </p:cNvSpPr>
          <p:nvPr>
            <p:ph type="title"/>
          </p:nvPr>
        </p:nvSpPr>
        <p:spPr/>
        <p:txBody>
          <a:bodyPr>
            <a:normAutofit fontScale="90000"/>
          </a:bodyPr>
          <a:lstStyle/>
          <a:p>
            <a:r>
              <a:rPr lang="en-US" dirty="0"/>
              <a:t>Community Boosters checklists</a:t>
            </a:r>
            <a:br>
              <a:rPr lang="en-US" dirty="0"/>
            </a:br>
            <a:r>
              <a:rPr lang="en-US" dirty="0"/>
              <a:t>Dimensions of assessment</a:t>
            </a:r>
          </a:p>
        </p:txBody>
      </p:sp>
      <p:sp>
        <p:nvSpPr>
          <p:cNvPr id="3" name="Espace réservé du contenu 2">
            <a:extLst>
              <a:ext uri="{FF2B5EF4-FFF2-40B4-BE49-F238E27FC236}">
                <a16:creationId xmlns:a16="http://schemas.microsoft.com/office/drawing/2014/main" id="{AE341C54-753C-4163-9596-11AD5932A820}"/>
              </a:ext>
            </a:extLst>
          </p:cNvPr>
          <p:cNvSpPr>
            <a:spLocks noGrp="1"/>
          </p:cNvSpPr>
          <p:nvPr>
            <p:ph idx="1"/>
          </p:nvPr>
        </p:nvSpPr>
        <p:spPr>
          <a:xfrm>
            <a:off x="4913812" y="2114467"/>
            <a:ext cx="2088000" cy="4665711"/>
          </a:xfrm>
          <a:solidFill>
            <a:schemeClr val="bg1">
              <a:lumMod val="95000"/>
            </a:schemeClr>
          </a:solidFill>
        </p:spPr>
        <p:txBody>
          <a:bodyPr>
            <a:noAutofit/>
          </a:bodyPr>
          <a:lstStyle/>
          <a:p>
            <a:pPr marL="0" indent="0" algn="ctr">
              <a:buNone/>
            </a:pPr>
            <a:r>
              <a:rPr lang="en-US" sz="1800" b="1" dirty="0"/>
              <a:t>🔥Skills </a:t>
            </a:r>
          </a:p>
          <a:p>
            <a:pPr marL="0" indent="0" algn="ctr">
              <a:buNone/>
            </a:pPr>
            <a:endParaRPr lang="en-US" sz="1800" dirty="0"/>
          </a:p>
          <a:p>
            <a:pPr marL="0" indent="0" algn="ctr">
              <a:buNone/>
            </a:pPr>
            <a:r>
              <a:rPr lang="en-US" sz="1400" dirty="0"/>
              <a:t>Skills (Community Boosters Skills) represent an overall view of the usual skillset of a Community Booster. </a:t>
            </a:r>
          </a:p>
          <a:p>
            <a:pPr marL="0" indent="0" algn="ctr">
              <a:buNone/>
            </a:pPr>
            <a:r>
              <a:rPr lang="en-US" sz="1400" dirty="0"/>
              <a:t>Such skillset is of course “infinite”, and any Booster always has room for improvement. What is assessed in this category should be the “necessary minimum”, not the maximum one can obtain.</a:t>
            </a:r>
            <a:endParaRPr lang="en-US" sz="1200" dirty="0"/>
          </a:p>
        </p:txBody>
      </p:sp>
      <p:sp>
        <p:nvSpPr>
          <p:cNvPr id="4" name="Espace réservé du contenu 2">
            <a:extLst>
              <a:ext uri="{FF2B5EF4-FFF2-40B4-BE49-F238E27FC236}">
                <a16:creationId xmlns:a16="http://schemas.microsoft.com/office/drawing/2014/main" id="{693C2F31-DB38-42BA-8CA5-876C10E2FFBD}"/>
              </a:ext>
            </a:extLst>
          </p:cNvPr>
          <p:cNvSpPr txBox="1">
            <a:spLocks/>
          </p:cNvSpPr>
          <p:nvPr/>
        </p:nvSpPr>
        <p:spPr>
          <a:xfrm>
            <a:off x="7276319" y="2111614"/>
            <a:ext cx="2173708" cy="4665711"/>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800" b="1" dirty="0"/>
              <a:t>👍 Current positioning &amp; recognition</a:t>
            </a:r>
          </a:p>
          <a:p>
            <a:pPr algn="ctr"/>
            <a:endParaRPr lang="en-US" sz="1800" dirty="0"/>
          </a:p>
          <a:p>
            <a:pPr marL="0" indent="0" algn="ctr">
              <a:buNone/>
            </a:pPr>
            <a:r>
              <a:rPr lang="en-US" sz="1400" dirty="0"/>
              <a:t>Current positioning and recognition represent how members and stakeholders consider a Community Booster.</a:t>
            </a:r>
          </a:p>
          <a:p>
            <a:pPr marL="0" indent="0" algn="ctr">
              <a:buNone/>
            </a:pPr>
            <a:r>
              <a:rPr lang="en-US" sz="1400" dirty="0"/>
              <a:t>A highly trusted Community Booster is more likely to engage a Community and its stakeholders, while a lowly trusted booster has limited possibilities.</a:t>
            </a:r>
          </a:p>
        </p:txBody>
      </p:sp>
      <p:sp>
        <p:nvSpPr>
          <p:cNvPr id="5" name="Espace réservé du contenu 2">
            <a:extLst>
              <a:ext uri="{FF2B5EF4-FFF2-40B4-BE49-F238E27FC236}">
                <a16:creationId xmlns:a16="http://schemas.microsoft.com/office/drawing/2014/main" id="{08B0A895-1094-4369-8B6A-0E67FE7DDB59}"/>
              </a:ext>
            </a:extLst>
          </p:cNvPr>
          <p:cNvSpPr txBox="1">
            <a:spLocks/>
          </p:cNvSpPr>
          <p:nvPr/>
        </p:nvSpPr>
        <p:spPr>
          <a:xfrm>
            <a:off x="9724535" y="2111614"/>
            <a:ext cx="2088000" cy="4665710"/>
          </a:xfrm>
          <a:prstGeom prst="rect">
            <a:avLst/>
          </a:prstGeom>
          <a:solidFill>
            <a:schemeClr val="bg1">
              <a:lumMod val="95000"/>
            </a:schemeClr>
          </a:solidFill>
        </p:spPr>
        <p:txBody>
          <a:bodyPr vert="horz" lIns="91440" tIns="45720" rIns="91440" bIns="45720" rtlCol="0">
            <a:normAutofit lnSpcReduction="10000"/>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800" b="1" dirty="0"/>
              <a:t>🎖️Achievements</a:t>
            </a:r>
            <a:endParaRPr lang="en-US" sz="1800" dirty="0"/>
          </a:p>
          <a:p>
            <a:pPr marL="0" indent="0">
              <a:buNone/>
            </a:pPr>
            <a:endParaRPr lang="en-US" sz="1800" dirty="0"/>
          </a:p>
          <a:p>
            <a:pPr marL="0" indent="0" algn="ctr">
              <a:buNone/>
            </a:pPr>
            <a:r>
              <a:rPr lang="en-US" sz="1400" dirty="0"/>
              <a:t>Achievements of a Community Booster here represents his or her achievements that are related to the Community (actions inside and outside the Community, for the Community).</a:t>
            </a:r>
          </a:p>
          <a:p>
            <a:pPr marL="0" indent="0" algn="ctr">
              <a:buNone/>
            </a:pPr>
            <a:r>
              <a:rPr lang="en-US" sz="1400" dirty="0"/>
              <a:t>High achievements brings exemplarity and more respect from members and stakeholders, thus facilitating engagement. </a:t>
            </a:r>
          </a:p>
        </p:txBody>
      </p:sp>
      <p:sp>
        <p:nvSpPr>
          <p:cNvPr id="6" name="Espace réservé du contenu 2">
            <a:extLst>
              <a:ext uri="{FF2B5EF4-FFF2-40B4-BE49-F238E27FC236}">
                <a16:creationId xmlns:a16="http://schemas.microsoft.com/office/drawing/2014/main" id="{02C5E63D-945C-416B-99CE-6F6495932217}"/>
              </a:ext>
            </a:extLst>
          </p:cNvPr>
          <p:cNvSpPr txBox="1">
            <a:spLocks/>
          </p:cNvSpPr>
          <p:nvPr/>
        </p:nvSpPr>
        <p:spPr>
          <a:xfrm>
            <a:off x="2551305" y="2111613"/>
            <a:ext cx="2088000" cy="4665711"/>
          </a:xfrm>
          <a:prstGeom prst="rect">
            <a:avLst/>
          </a:prstGeom>
          <a:solidFill>
            <a:schemeClr val="bg1">
              <a:lumMod val="95000"/>
            </a:schemeClr>
          </a:solidFill>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800" b="1" dirty="0"/>
              <a:t>⌛Resources and capacity</a:t>
            </a:r>
            <a:endParaRPr lang="en-US" sz="1800" dirty="0"/>
          </a:p>
          <a:p>
            <a:pPr marL="0" indent="0" algn="ctr">
              <a:buNone/>
            </a:pPr>
            <a:endParaRPr lang="en-US" sz="1400" dirty="0"/>
          </a:p>
          <a:p>
            <a:pPr marL="0" indent="0" algn="ctr">
              <a:buNone/>
            </a:pPr>
            <a:r>
              <a:rPr lang="en-US" sz="1400" dirty="0"/>
              <a:t>Resources and capacity represent time, support, rights to assume the role of Community Booster. </a:t>
            </a:r>
          </a:p>
          <a:p>
            <a:pPr marL="0" indent="0" algn="ctr">
              <a:buNone/>
            </a:pPr>
            <a:r>
              <a:rPr lang="en-US" sz="1400" dirty="0"/>
              <a:t>While not sufficient by their own, resources and capacity can be the cause of either  Community Booster comfort (if high) or fatigue (if low).</a:t>
            </a:r>
          </a:p>
          <a:p>
            <a:endParaRPr lang="en-US" sz="1800" dirty="0"/>
          </a:p>
          <a:p>
            <a:pPr marL="0" indent="0">
              <a:buNone/>
            </a:pPr>
            <a:endParaRPr lang="en-US" sz="1800" dirty="0"/>
          </a:p>
          <a:p>
            <a:endParaRPr lang="en-US" sz="1800" dirty="0"/>
          </a:p>
        </p:txBody>
      </p:sp>
      <p:sp>
        <p:nvSpPr>
          <p:cNvPr id="7" name="Espace réservé du contenu 2">
            <a:extLst>
              <a:ext uri="{FF2B5EF4-FFF2-40B4-BE49-F238E27FC236}">
                <a16:creationId xmlns:a16="http://schemas.microsoft.com/office/drawing/2014/main" id="{EFA160A8-44AE-41D0-BE55-E79DF99033EA}"/>
              </a:ext>
            </a:extLst>
          </p:cNvPr>
          <p:cNvSpPr txBox="1">
            <a:spLocks/>
          </p:cNvSpPr>
          <p:nvPr/>
        </p:nvSpPr>
        <p:spPr>
          <a:xfrm>
            <a:off x="188798" y="2111614"/>
            <a:ext cx="2088000" cy="4665710"/>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800" b="1" dirty="0"/>
              <a:t>🎯 Intention</a:t>
            </a:r>
          </a:p>
          <a:p>
            <a:pPr marL="0" indent="0" algn="ctr">
              <a:buFont typeface="Arial" panose="020B0604020202020204" pitchFamily="34" charset="0"/>
              <a:buNone/>
            </a:pPr>
            <a:endParaRPr lang="en-US" sz="1800" dirty="0"/>
          </a:p>
          <a:p>
            <a:pPr marL="0" indent="0" algn="ctr">
              <a:buFont typeface="Arial" panose="020B0604020202020204" pitchFamily="34" charset="0"/>
              <a:buNone/>
            </a:pPr>
            <a:r>
              <a:rPr lang="en-US" sz="1400" dirty="0"/>
              <a:t>Intention represents how much one wants to lead or boost a Community.</a:t>
            </a:r>
          </a:p>
          <a:p>
            <a:pPr marL="0" indent="0" algn="ctr">
              <a:buFont typeface="Arial" panose="020B0604020202020204" pitchFamily="34" charset="0"/>
              <a:buNone/>
            </a:pPr>
            <a:r>
              <a:rPr lang="en-US" sz="1400" dirty="0"/>
              <a:t>With high </a:t>
            </a:r>
            <a:r>
              <a:rPr lang="en-US" sz="1400" b="1" dirty="0"/>
              <a:t>intention </a:t>
            </a:r>
            <a:r>
              <a:rPr lang="en-US" sz="1400" dirty="0"/>
              <a:t>to develop oneself as a Community leader comes higher day-to-day motivation, energy and endurance. </a:t>
            </a:r>
          </a:p>
          <a:p>
            <a:pPr marL="0" indent="0" algn="ctr">
              <a:buFont typeface="Arial" panose="020B0604020202020204" pitchFamily="34" charset="0"/>
              <a:buNone/>
            </a:pPr>
            <a:r>
              <a:rPr lang="en-US" sz="1400" dirty="0"/>
              <a:t>Assessing intention helps in knowing mid to long term potential of a Community leader.</a:t>
            </a:r>
          </a:p>
        </p:txBody>
      </p:sp>
    </p:spTree>
    <p:extLst>
      <p:ext uri="{BB962C8B-B14F-4D97-AF65-F5344CB8AC3E}">
        <p14:creationId xmlns:p14="http://schemas.microsoft.com/office/powerpoint/2010/main" val="40043909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3A2B1C9-782E-4AA6-BEC7-67CB85EF882E}"/>
              </a:ext>
            </a:extLst>
          </p:cNvPr>
          <p:cNvSpPr>
            <a:spLocks noGrp="1"/>
          </p:cNvSpPr>
          <p:nvPr>
            <p:ph type="title"/>
          </p:nvPr>
        </p:nvSpPr>
        <p:spPr/>
        <p:txBody>
          <a:bodyPr>
            <a:noAutofit/>
          </a:bodyPr>
          <a:lstStyle/>
          <a:p>
            <a:r>
              <a:rPr lang="en-US" sz="2800" dirty="0"/>
              <a:t>Community Boosters checklists</a:t>
            </a:r>
            <a:br>
              <a:rPr lang="en-US" sz="2800" dirty="0"/>
            </a:br>
            <a:r>
              <a:rPr lang="en-US" sz="2800" dirty="0"/>
              <a:t>Example of grading system (using ✔️YES or ⬜NO)</a:t>
            </a:r>
          </a:p>
        </p:txBody>
      </p:sp>
      <p:sp>
        <p:nvSpPr>
          <p:cNvPr id="3" name="Espace réservé du contenu 2">
            <a:extLst>
              <a:ext uri="{FF2B5EF4-FFF2-40B4-BE49-F238E27FC236}">
                <a16:creationId xmlns:a16="http://schemas.microsoft.com/office/drawing/2014/main" id="{AE341C54-753C-4163-9596-11AD5932A820}"/>
              </a:ext>
            </a:extLst>
          </p:cNvPr>
          <p:cNvSpPr>
            <a:spLocks noGrp="1"/>
          </p:cNvSpPr>
          <p:nvPr>
            <p:ph idx="1"/>
          </p:nvPr>
        </p:nvSpPr>
        <p:spPr>
          <a:xfrm>
            <a:off x="4913812" y="2114467"/>
            <a:ext cx="2088000" cy="4665711"/>
          </a:xfrm>
          <a:solidFill>
            <a:schemeClr val="bg1">
              <a:lumMod val="95000"/>
            </a:schemeClr>
          </a:solidFill>
        </p:spPr>
        <p:txBody>
          <a:bodyPr>
            <a:noAutofit/>
          </a:bodyPr>
          <a:lstStyle/>
          <a:p>
            <a:pPr marL="0" indent="0" algn="ctr">
              <a:buNone/>
            </a:pPr>
            <a:r>
              <a:rPr lang="en-US" sz="900" b="1" dirty="0"/>
              <a:t>🔥Skills (10 pts) : </a:t>
            </a:r>
          </a:p>
          <a:p>
            <a:pPr>
              <a:buFont typeface="Wingdings" panose="05000000000000000000" pitchFamily="2" charset="2"/>
              <a:buChar char="q"/>
            </a:pPr>
            <a:r>
              <a:rPr lang="en-US" sz="900" dirty="0"/>
              <a:t>(2) Member centric Skills (Caring, follow-up progression, bonding, Sense of belonging, Links &amp; Ties, conflict management, leadership)</a:t>
            </a:r>
          </a:p>
          <a:p>
            <a:pPr>
              <a:buFont typeface="Wingdings" panose="05000000000000000000" pitchFamily="2" charset="2"/>
              <a:buChar char="q"/>
            </a:pPr>
            <a:r>
              <a:rPr lang="en-US" sz="900" dirty="0"/>
              <a:t>(2) Partner centric skills : External Sponsors, stakeholders, peer skills (negotiation, diplomacy, …)</a:t>
            </a:r>
          </a:p>
          <a:p>
            <a:pPr>
              <a:buFont typeface="Wingdings" panose="05000000000000000000" pitchFamily="2" charset="2"/>
              <a:buChar char="q"/>
            </a:pPr>
            <a:r>
              <a:rPr lang="en-US" sz="900" dirty="0"/>
              <a:t>(1) Skills related to Community Topic (specific expertise, …)</a:t>
            </a:r>
          </a:p>
          <a:p>
            <a:pPr>
              <a:buFont typeface="Wingdings" panose="05000000000000000000" pitchFamily="2" charset="2"/>
              <a:buChar char="q"/>
            </a:pPr>
            <a:r>
              <a:rPr lang="en-US" sz="900" dirty="0"/>
              <a:t>(1) Moment centric skills (Events management, One-to-one management)</a:t>
            </a:r>
          </a:p>
          <a:p>
            <a:pPr>
              <a:buFont typeface="Wingdings" panose="05000000000000000000" pitchFamily="2" charset="2"/>
              <a:buChar char="q"/>
            </a:pPr>
            <a:r>
              <a:rPr lang="en-US" sz="900" dirty="0"/>
              <a:t>(1) Content Generation skills</a:t>
            </a:r>
          </a:p>
          <a:p>
            <a:pPr>
              <a:buFont typeface="Wingdings" panose="05000000000000000000" pitchFamily="2" charset="2"/>
              <a:buChar char="q"/>
            </a:pPr>
            <a:r>
              <a:rPr lang="en-US" sz="900" dirty="0"/>
              <a:t>(1) Community Structuring (setting up tools, organizing groups, set up rules…)</a:t>
            </a:r>
          </a:p>
          <a:p>
            <a:pPr>
              <a:buFont typeface="Wingdings" panose="05000000000000000000" pitchFamily="2" charset="2"/>
              <a:buChar char="q"/>
            </a:pPr>
            <a:r>
              <a:rPr lang="en-US" sz="900" dirty="0"/>
              <a:t>(2) Community frameworks : Community Canvas, Community Engagement Framework, #OpenSeriousCommunity, #OSG workshops</a:t>
            </a:r>
          </a:p>
        </p:txBody>
      </p:sp>
      <p:sp>
        <p:nvSpPr>
          <p:cNvPr id="4" name="Espace réservé du contenu 2">
            <a:extLst>
              <a:ext uri="{FF2B5EF4-FFF2-40B4-BE49-F238E27FC236}">
                <a16:creationId xmlns:a16="http://schemas.microsoft.com/office/drawing/2014/main" id="{693C2F31-DB38-42BA-8CA5-876C10E2FFBD}"/>
              </a:ext>
            </a:extLst>
          </p:cNvPr>
          <p:cNvSpPr txBox="1">
            <a:spLocks/>
          </p:cNvSpPr>
          <p:nvPr/>
        </p:nvSpPr>
        <p:spPr>
          <a:xfrm>
            <a:off x="7276319" y="2111614"/>
            <a:ext cx="2173708" cy="4665711"/>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900" b="1" dirty="0"/>
              <a:t>👍 Current positioning &amp; recognition (10 pts) : </a:t>
            </a:r>
          </a:p>
          <a:p>
            <a:pPr>
              <a:buFont typeface="Wingdings" panose="05000000000000000000" pitchFamily="2" charset="2"/>
              <a:buChar char="q"/>
            </a:pPr>
            <a:r>
              <a:rPr lang="en-US" sz="900" dirty="0"/>
              <a:t>(1) Declares himself/herself as a future Community Booster</a:t>
            </a:r>
          </a:p>
          <a:p>
            <a:pPr>
              <a:buFont typeface="Wingdings" panose="05000000000000000000" pitchFamily="2" charset="2"/>
              <a:buChar char="q"/>
            </a:pPr>
            <a:r>
              <a:rPr lang="en-US" sz="900" dirty="0"/>
              <a:t>(2) Has shown (to the Community) the intention the lead the Community or part of the Community</a:t>
            </a:r>
          </a:p>
          <a:p>
            <a:pPr>
              <a:buFont typeface="Wingdings" panose="05000000000000000000" pitchFamily="2" charset="2"/>
              <a:buChar char="q"/>
            </a:pPr>
            <a:r>
              <a:rPr lang="en-US" sz="900" dirty="0"/>
              <a:t>(1) Has officialized a title equivalent to Community Booster (that grants decisional power and/or responsibilities) for all or a part of the Community</a:t>
            </a:r>
          </a:p>
          <a:p>
            <a:pPr>
              <a:buFont typeface="Wingdings" panose="05000000000000000000" pitchFamily="2" charset="2"/>
              <a:buChar char="q"/>
            </a:pPr>
            <a:r>
              <a:rPr lang="en-US" sz="900" dirty="0"/>
              <a:t>(2) Is recognized by the majority of the Community as a Community Booster, or at least locally</a:t>
            </a:r>
          </a:p>
          <a:p>
            <a:pPr>
              <a:buFont typeface="Wingdings" panose="05000000000000000000" pitchFamily="2" charset="2"/>
              <a:buChar char="q"/>
            </a:pPr>
            <a:r>
              <a:rPr lang="en-US" sz="900" dirty="0"/>
              <a:t>(1) Is recognized by Community key influential members as a Community Booster</a:t>
            </a:r>
          </a:p>
          <a:p>
            <a:pPr>
              <a:buFont typeface="Wingdings" panose="05000000000000000000" pitchFamily="2" charset="2"/>
              <a:buChar char="q"/>
            </a:pPr>
            <a:r>
              <a:rPr lang="en-US" sz="900" dirty="0"/>
              <a:t>(1) Is recognized outside the Community as a Booster</a:t>
            </a:r>
          </a:p>
          <a:p>
            <a:pPr>
              <a:buFont typeface="Wingdings" panose="05000000000000000000" pitchFamily="2" charset="2"/>
              <a:buChar char="q"/>
            </a:pPr>
            <a:r>
              <a:rPr lang="en-US" sz="900" dirty="0"/>
              <a:t>(2) Community has explicit expectations towards him/her as a Booster </a:t>
            </a:r>
          </a:p>
          <a:p>
            <a:endParaRPr lang="en-US" sz="900" dirty="0"/>
          </a:p>
          <a:p>
            <a:endParaRPr lang="en-US" sz="900" dirty="0"/>
          </a:p>
          <a:p>
            <a:pPr marL="0" indent="0">
              <a:buNone/>
            </a:pPr>
            <a:r>
              <a:rPr lang="en-US" sz="900" dirty="0"/>
              <a:t> </a:t>
            </a:r>
          </a:p>
        </p:txBody>
      </p:sp>
      <p:sp>
        <p:nvSpPr>
          <p:cNvPr id="5" name="Espace réservé du contenu 2">
            <a:extLst>
              <a:ext uri="{FF2B5EF4-FFF2-40B4-BE49-F238E27FC236}">
                <a16:creationId xmlns:a16="http://schemas.microsoft.com/office/drawing/2014/main" id="{08B0A895-1094-4369-8B6A-0E67FE7DDB59}"/>
              </a:ext>
            </a:extLst>
          </p:cNvPr>
          <p:cNvSpPr txBox="1">
            <a:spLocks/>
          </p:cNvSpPr>
          <p:nvPr/>
        </p:nvSpPr>
        <p:spPr>
          <a:xfrm>
            <a:off x="9724535" y="2111614"/>
            <a:ext cx="2088000" cy="4665710"/>
          </a:xfrm>
          <a:prstGeom prst="rect">
            <a:avLst/>
          </a:prstGeom>
          <a:solidFill>
            <a:schemeClr val="bg1">
              <a:lumMod val="95000"/>
            </a:schemeClr>
          </a:solidFill>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900" b="1" dirty="0"/>
              <a:t>🎖️Achievements (10 pts) : </a:t>
            </a:r>
          </a:p>
          <a:p>
            <a:pPr>
              <a:buFont typeface="Wingdings" panose="05000000000000000000" pitchFamily="2" charset="2"/>
              <a:buChar char="q"/>
            </a:pPr>
            <a:r>
              <a:rPr lang="en-US" sz="900" dirty="0"/>
              <a:t>(4) Has accomplished enough valuable actions for Community members</a:t>
            </a:r>
          </a:p>
          <a:p>
            <a:pPr>
              <a:buFont typeface="Wingdings" panose="05000000000000000000" pitchFamily="2" charset="2"/>
              <a:buChar char="q"/>
            </a:pPr>
            <a:r>
              <a:rPr lang="en-US" sz="900" dirty="0"/>
              <a:t>(2) Has accomplished enough promotional and external actions as a Community representative outside the  Community</a:t>
            </a:r>
          </a:p>
          <a:p>
            <a:pPr>
              <a:buFont typeface="Wingdings" panose="05000000000000000000" pitchFamily="2" charset="2"/>
              <a:buChar char="q"/>
            </a:pPr>
            <a:r>
              <a:rPr lang="en-US" sz="900" dirty="0"/>
              <a:t>(3) Has accomplished enough valuable actions for key stakeholders or key influential members of the Community</a:t>
            </a:r>
          </a:p>
          <a:p>
            <a:pPr>
              <a:buFont typeface="Wingdings" panose="05000000000000000000" pitchFamily="2" charset="2"/>
              <a:buChar char="q"/>
            </a:pPr>
            <a:r>
              <a:rPr lang="en-US" sz="900" dirty="0"/>
              <a:t>(1) Has accomplished enough valuable actions for self thanks to the Community (can share about benefits of the Community for self)</a:t>
            </a:r>
          </a:p>
          <a:p>
            <a:endParaRPr lang="en-US" sz="900" dirty="0"/>
          </a:p>
          <a:p>
            <a:pPr marL="0" indent="0">
              <a:buNone/>
            </a:pPr>
            <a:endParaRPr lang="en-US" sz="900" dirty="0"/>
          </a:p>
          <a:p>
            <a:endParaRPr lang="en-US" sz="900" dirty="0"/>
          </a:p>
        </p:txBody>
      </p:sp>
      <p:sp>
        <p:nvSpPr>
          <p:cNvPr id="6" name="Espace réservé du contenu 2">
            <a:extLst>
              <a:ext uri="{FF2B5EF4-FFF2-40B4-BE49-F238E27FC236}">
                <a16:creationId xmlns:a16="http://schemas.microsoft.com/office/drawing/2014/main" id="{02C5E63D-945C-416B-99CE-6F6495932217}"/>
              </a:ext>
            </a:extLst>
          </p:cNvPr>
          <p:cNvSpPr txBox="1">
            <a:spLocks/>
          </p:cNvSpPr>
          <p:nvPr/>
        </p:nvSpPr>
        <p:spPr>
          <a:xfrm>
            <a:off x="2551305" y="2111613"/>
            <a:ext cx="2088000" cy="4665711"/>
          </a:xfrm>
          <a:prstGeom prst="rect">
            <a:avLst/>
          </a:prstGeom>
          <a:solidFill>
            <a:schemeClr val="bg1">
              <a:lumMod val="95000"/>
            </a:schemeClr>
          </a:solidFill>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900" b="1" dirty="0"/>
              <a:t>⌛Resources and capacity (10 pts) :</a:t>
            </a:r>
          </a:p>
          <a:p>
            <a:pPr>
              <a:buFont typeface="Wingdings" panose="05000000000000000000" pitchFamily="2" charset="2"/>
              <a:buChar char="q"/>
            </a:pPr>
            <a:r>
              <a:rPr lang="en-US" sz="900" dirty="0"/>
              <a:t>(2) Has enough means of action to be Community Booster </a:t>
            </a:r>
          </a:p>
          <a:p>
            <a:pPr>
              <a:buFont typeface="Wingdings" panose="05000000000000000000" pitchFamily="2" charset="2"/>
              <a:buChar char="q"/>
            </a:pPr>
            <a:r>
              <a:rPr lang="en-US" sz="900" dirty="0"/>
              <a:t>(2) Has enough availability to be Community Booster</a:t>
            </a:r>
          </a:p>
          <a:p>
            <a:pPr>
              <a:buFont typeface="Wingdings" panose="05000000000000000000" pitchFamily="2" charset="2"/>
              <a:buChar char="q"/>
            </a:pPr>
            <a:r>
              <a:rPr lang="en-US" sz="900" dirty="0"/>
              <a:t>(2) Is allowed to be a Community Booster</a:t>
            </a:r>
          </a:p>
          <a:p>
            <a:pPr>
              <a:buFont typeface="Wingdings" panose="05000000000000000000" pitchFamily="2" charset="2"/>
              <a:buChar char="q"/>
            </a:pPr>
            <a:r>
              <a:rPr lang="en-US" sz="900" dirty="0"/>
              <a:t>(1) Has access to resources  (training, content, …) to become Community Booster</a:t>
            </a:r>
          </a:p>
          <a:p>
            <a:pPr>
              <a:buFont typeface="Wingdings" panose="05000000000000000000" pitchFamily="2" charset="2"/>
              <a:buChar char="q"/>
            </a:pPr>
            <a:r>
              <a:rPr lang="en-US" sz="900" dirty="0"/>
              <a:t>(3) Has access to opportunities (events, negotiations, rights…) to progress into a Community Booster</a:t>
            </a:r>
          </a:p>
          <a:p>
            <a:endParaRPr lang="en-US" sz="900" dirty="0"/>
          </a:p>
          <a:p>
            <a:endParaRPr lang="en-US" sz="900" dirty="0"/>
          </a:p>
          <a:p>
            <a:endParaRPr lang="en-US" sz="900" dirty="0"/>
          </a:p>
          <a:p>
            <a:pPr marL="0" indent="0">
              <a:buNone/>
            </a:pPr>
            <a:endParaRPr lang="en-US" sz="900" dirty="0"/>
          </a:p>
          <a:p>
            <a:endParaRPr lang="en-US" sz="900" dirty="0"/>
          </a:p>
        </p:txBody>
      </p:sp>
      <p:sp>
        <p:nvSpPr>
          <p:cNvPr id="7" name="Espace réservé du contenu 2">
            <a:extLst>
              <a:ext uri="{FF2B5EF4-FFF2-40B4-BE49-F238E27FC236}">
                <a16:creationId xmlns:a16="http://schemas.microsoft.com/office/drawing/2014/main" id="{EFA160A8-44AE-41D0-BE55-E79DF99033EA}"/>
              </a:ext>
            </a:extLst>
          </p:cNvPr>
          <p:cNvSpPr txBox="1">
            <a:spLocks/>
          </p:cNvSpPr>
          <p:nvPr/>
        </p:nvSpPr>
        <p:spPr>
          <a:xfrm>
            <a:off x="188798" y="2111614"/>
            <a:ext cx="2088000" cy="4665710"/>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900" b="1" dirty="0"/>
              <a:t>🎯 Intention (10 pts) : </a:t>
            </a:r>
          </a:p>
          <a:p>
            <a:pPr>
              <a:buFont typeface="Wingdings" panose="05000000000000000000" pitchFamily="2" charset="2"/>
              <a:buChar char="q"/>
            </a:pPr>
            <a:r>
              <a:rPr lang="en-US" sz="900" dirty="0"/>
              <a:t>(2) Loves the Community </a:t>
            </a:r>
          </a:p>
          <a:p>
            <a:pPr>
              <a:buFont typeface="Wingdings" panose="05000000000000000000" pitchFamily="2" charset="2"/>
              <a:buChar char="q"/>
            </a:pPr>
            <a:r>
              <a:rPr lang="en-US" sz="900" dirty="0"/>
              <a:t>(2) Has interest in developing the Community</a:t>
            </a:r>
          </a:p>
          <a:p>
            <a:pPr>
              <a:buFont typeface="Wingdings" panose="05000000000000000000" pitchFamily="2" charset="2"/>
              <a:buChar char="q"/>
            </a:pPr>
            <a:r>
              <a:rPr lang="en-US" sz="900" dirty="0"/>
              <a:t>(2) Likes Community Development</a:t>
            </a:r>
          </a:p>
          <a:p>
            <a:pPr>
              <a:buFont typeface="Wingdings" panose="05000000000000000000" pitchFamily="2" charset="2"/>
              <a:buChar char="q"/>
            </a:pPr>
            <a:r>
              <a:rPr lang="en-US" sz="900" dirty="0"/>
              <a:t>(1) Has his/her own viewpoint about how the Community should evolve</a:t>
            </a:r>
          </a:p>
          <a:p>
            <a:pPr>
              <a:buFont typeface="Wingdings" panose="05000000000000000000" pitchFamily="2" charset="2"/>
              <a:buChar char="q"/>
            </a:pPr>
            <a:r>
              <a:rPr lang="en-US" sz="900" dirty="0"/>
              <a:t>(1) Has intention to self-develop (skills, wisdom, leadership…) through Community Boosting</a:t>
            </a:r>
          </a:p>
          <a:p>
            <a:pPr>
              <a:buFont typeface="Wingdings" panose="05000000000000000000" pitchFamily="2" charset="2"/>
              <a:buChar char="q"/>
            </a:pPr>
            <a:r>
              <a:rPr lang="en-US" sz="900" dirty="0"/>
              <a:t>(1) Makes room in his/her agenda for Community activities</a:t>
            </a:r>
          </a:p>
          <a:p>
            <a:pPr>
              <a:buFont typeface="Wingdings" panose="05000000000000000000" pitchFamily="2" charset="2"/>
              <a:buChar char="q"/>
            </a:pPr>
            <a:r>
              <a:rPr lang="en-US" sz="900" dirty="0"/>
              <a:t>(1) Is an active resource seeker for Community purposes</a:t>
            </a:r>
          </a:p>
          <a:p>
            <a:endParaRPr lang="en-US" sz="900" dirty="0"/>
          </a:p>
          <a:p>
            <a:endParaRPr lang="en-US" sz="900" dirty="0"/>
          </a:p>
          <a:p>
            <a:pPr marL="0" indent="0">
              <a:buNone/>
            </a:pPr>
            <a:r>
              <a:rPr lang="en-US" sz="900" dirty="0"/>
              <a:t> </a:t>
            </a:r>
          </a:p>
        </p:txBody>
      </p:sp>
    </p:spTree>
    <p:extLst>
      <p:ext uri="{BB962C8B-B14F-4D97-AF65-F5344CB8AC3E}">
        <p14:creationId xmlns:p14="http://schemas.microsoft.com/office/powerpoint/2010/main" val="37121088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3A2B1C9-782E-4AA6-BEC7-67CB85EF882E}"/>
              </a:ext>
            </a:extLst>
          </p:cNvPr>
          <p:cNvSpPr>
            <a:spLocks noGrp="1"/>
          </p:cNvSpPr>
          <p:nvPr>
            <p:ph type="title"/>
          </p:nvPr>
        </p:nvSpPr>
        <p:spPr/>
        <p:txBody>
          <a:bodyPr>
            <a:noAutofit/>
          </a:bodyPr>
          <a:lstStyle/>
          <a:p>
            <a:r>
              <a:rPr lang="en-US" sz="2800" dirty="0"/>
              <a:t>Community Boosters checklists</a:t>
            </a:r>
            <a:br>
              <a:rPr lang="en-US" sz="2800" dirty="0"/>
            </a:br>
            <a:r>
              <a:rPr lang="en-US" sz="2800" dirty="0"/>
              <a:t>Example of grading system (using points)</a:t>
            </a:r>
          </a:p>
        </p:txBody>
      </p:sp>
      <p:sp>
        <p:nvSpPr>
          <p:cNvPr id="3" name="Espace réservé du contenu 2">
            <a:extLst>
              <a:ext uri="{FF2B5EF4-FFF2-40B4-BE49-F238E27FC236}">
                <a16:creationId xmlns:a16="http://schemas.microsoft.com/office/drawing/2014/main" id="{AE341C54-753C-4163-9596-11AD5932A820}"/>
              </a:ext>
            </a:extLst>
          </p:cNvPr>
          <p:cNvSpPr>
            <a:spLocks noGrp="1"/>
          </p:cNvSpPr>
          <p:nvPr>
            <p:ph idx="1"/>
          </p:nvPr>
        </p:nvSpPr>
        <p:spPr>
          <a:xfrm>
            <a:off x="4913812" y="2114467"/>
            <a:ext cx="2088000" cy="4665711"/>
          </a:xfrm>
          <a:solidFill>
            <a:schemeClr val="bg1">
              <a:lumMod val="95000"/>
            </a:schemeClr>
          </a:solidFill>
        </p:spPr>
        <p:txBody>
          <a:bodyPr>
            <a:noAutofit/>
          </a:bodyPr>
          <a:lstStyle/>
          <a:p>
            <a:pPr marL="0" indent="0" algn="ctr">
              <a:buNone/>
            </a:pPr>
            <a:r>
              <a:rPr lang="en-US" sz="900" b="1" dirty="0"/>
              <a:t>🔥Skills (10 pts) : </a:t>
            </a:r>
          </a:p>
          <a:p>
            <a:pPr>
              <a:buFont typeface="Wingdings" panose="05000000000000000000" pitchFamily="2" charset="2"/>
              <a:buChar char="Ø"/>
            </a:pPr>
            <a:r>
              <a:rPr lang="en-US" sz="900" dirty="0"/>
              <a:t>Member centric Skills (Caring, follow-up, bonding, Sense of belonging, conflict management, leadership) </a:t>
            </a:r>
            <a:r>
              <a:rPr lang="en-US" sz="900" b="1" dirty="0"/>
              <a:t>…/2</a:t>
            </a:r>
            <a:endParaRPr lang="en-US" sz="900" dirty="0"/>
          </a:p>
          <a:p>
            <a:pPr>
              <a:buFont typeface="Wingdings" panose="05000000000000000000" pitchFamily="2" charset="2"/>
              <a:buChar char="Ø"/>
            </a:pPr>
            <a:r>
              <a:rPr lang="en-US" sz="900" dirty="0"/>
              <a:t>Partner centric skills : External Sponsors, stakeholders, peer skills (negotiation, diplomacy, …) </a:t>
            </a:r>
            <a:r>
              <a:rPr lang="en-US" sz="900" b="1" dirty="0"/>
              <a:t>…/2</a:t>
            </a:r>
            <a:endParaRPr lang="en-US" sz="900" dirty="0"/>
          </a:p>
          <a:p>
            <a:pPr>
              <a:buFont typeface="Wingdings" panose="05000000000000000000" pitchFamily="2" charset="2"/>
              <a:buChar char="Ø"/>
            </a:pPr>
            <a:r>
              <a:rPr lang="en-US" sz="900" dirty="0"/>
              <a:t>Skills related to Community Topic (specific expertise, …) </a:t>
            </a:r>
            <a:r>
              <a:rPr lang="en-US" sz="900" b="1" dirty="0"/>
              <a:t>…/1</a:t>
            </a:r>
            <a:endParaRPr lang="en-US" sz="900" dirty="0"/>
          </a:p>
          <a:p>
            <a:pPr>
              <a:buFont typeface="Wingdings" panose="05000000000000000000" pitchFamily="2" charset="2"/>
              <a:buChar char="Ø"/>
            </a:pPr>
            <a:r>
              <a:rPr lang="en-US" sz="900" dirty="0"/>
              <a:t>Moment centric skills (Events management, One-to-one management) </a:t>
            </a:r>
            <a:r>
              <a:rPr lang="en-US" sz="900" b="1" dirty="0"/>
              <a:t>…/1</a:t>
            </a:r>
            <a:endParaRPr lang="en-US" sz="900" dirty="0"/>
          </a:p>
          <a:p>
            <a:pPr>
              <a:buFont typeface="Wingdings" panose="05000000000000000000" pitchFamily="2" charset="2"/>
              <a:buChar char="Ø"/>
            </a:pPr>
            <a:r>
              <a:rPr lang="en-US" sz="900" dirty="0"/>
              <a:t>Content Generation skills </a:t>
            </a:r>
            <a:r>
              <a:rPr lang="en-US" sz="900" b="1" dirty="0"/>
              <a:t>…/1</a:t>
            </a:r>
          </a:p>
          <a:p>
            <a:pPr>
              <a:buFont typeface="Wingdings" panose="05000000000000000000" pitchFamily="2" charset="2"/>
              <a:buChar char="Ø"/>
            </a:pPr>
            <a:r>
              <a:rPr lang="en-US" sz="900" dirty="0"/>
              <a:t>Community Structuring (setting up tools, organizing groups, set up rules…) </a:t>
            </a:r>
            <a:r>
              <a:rPr lang="en-US" sz="900" b="1" dirty="0"/>
              <a:t>…/1</a:t>
            </a:r>
            <a:endParaRPr lang="en-US" sz="900" dirty="0"/>
          </a:p>
          <a:p>
            <a:pPr>
              <a:buFont typeface="Wingdings" panose="05000000000000000000" pitchFamily="2" charset="2"/>
              <a:buChar char="Ø"/>
            </a:pPr>
            <a:r>
              <a:rPr lang="en-US" sz="900" dirty="0"/>
              <a:t>Community frameworks : Community Canvas, Community Engagement Framework, #OpenSeriousCommunity, #OSG workshops </a:t>
            </a:r>
            <a:r>
              <a:rPr lang="en-US" sz="900" b="1" dirty="0"/>
              <a:t>…/2</a:t>
            </a:r>
            <a:endParaRPr lang="en-US" sz="900" dirty="0"/>
          </a:p>
        </p:txBody>
      </p:sp>
      <p:sp>
        <p:nvSpPr>
          <p:cNvPr id="4" name="Espace réservé du contenu 2">
            <a:extLst>
              <a:ext uri="{FF2B5EF4-FFF2-40B4-BE49-F238E27FC236}">
                <a16:creationId xmlns:a16="http://schemas.microsoft.com/office/drawing/2014/main" id="{693C2F31-DB38-42BA-8CA5-876C10E2FFBD}"/>
              </a:ext>
            </a:extLst>
          </p:cNvPr>
          <p:cNvSpPr txBox="1">
            <a:spLocks/>
          </p:cNvSpPr>
          <p:nvPr/>
        </p:nvSpPr>
        <p:spPr>
          <a:xfrm>
            <a:off x="7276319" y="2111614"/>
            <a:ext cx="2173708" cy="4665711"/>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900" b="1" dirty="0"/>
              <a:t>👍 Current positioning &amp; recognition (10 pts) : </a:t>
            </a:r>
          </a:p>
          <a:p>
            <a:pPr>
              <a:buFont typeface="Wingdings" panose="05000000000000000000" pitchFamily="2" charset="2"/>
              <a:buChar char="q"/>
            </a:pPr>
            <a:r>
              <a:rPr lang="en-US" sz="900" dirty="0"/>
              <a:t>Declares himself/herself as a future Community Booster </a:t>
            </a:r>
            <a:r>
              <a:rPr lang="en-US" sz="900" b="1" dirty="0"/>
              <a:t>…/1</a:t>
            </a:r>
            <a:endParaRPr lang="en-US" sz="900" dirty="0"/>
          </a:p>
          <a:p>
            <a:pPr>
              <a:buFont typeface="Wingdings" panose="05000000000000000000" pitchFamily="2" charset="2"/>
              <a:buChar char="q"/>
            </a:pPr>
            <a:r>
              <a:rPr lang="en-US" sz="900" dirty="0"/>
              <a:t>Has shown (to the Community) the intention the lead the Community or part of the Community </a:t>
            </a:r>
            <a:r>
              <a:rPr lang="en-US" sz="900" b="1" dirty="0"/>
              <a:t>…/2</a:t>
            </a:r>
            <a:endParaRPr lang="en-US" sz="900" dirty="0"/>
          </a:p>
          <a:p>
            <a:pPr>
              <a:buFont typeface="Wingdings" panose="05000000000000000000" pitchFamily="2" charset="2"/>
              <a:buChar char="q"/>
            </a:pPr>
            <a:r>
              <a:rPr lang="en-US" sz="900" dirty="0"/>
              <a:t>Has officialized a title equivalent to Community Booster (that grants decisional power and/or responsibilities) for all or a part of the Community  </a:t>
            </a:r>
            <a:r>
              <a:rPr lang="en-US" sz="900" b="1" dirty="0"/>
              <a:t>…/1</a:t>
            </a:r>
            <a:endParaRPr lang="en-US" sz="900" dirty="0"/>
          </a:p>
          <a:p>
            <a:pPr>
              <a:buFont typeface="Wingdings" panose="05000000000000000000" pitchFamily="2" charset="2"/>
              <a:buChar char="q"/>
            </a:pPr>
            <a:r>
              <a:rPr lang="en-US" sz="900" dirty="0"/>
              <a:t>Is recognized by the majority of the Community as a Community Booster, or at least locally  </a:t>
            </a:r>
            <a:r>
              <a:rPr lang="en-US" sz="900" b="1" dirty="0"/>
              <a:t>…/1</a:t>
            </a:r>
            <a:endParaRPr lang="en-US" sz="900" dirty="0"/>
          </a:p>
          <a:p>
            <a:pPr>
              <a:buFont typeface="Wingdings" panose="05000000000000000000" pitchFamily="2" charset="2"/>
              <a:buChar char="q"/>
            </a:pPr>
            <a:r>
              <a:rPr lang="en-US" sz="900" dirty="0"/>
              <a:t>Is recognized by Community key influential members as a Community Booster  </a:t>
            </a:r>
            <a:r>
              <a:rPr lang="en-US" sz="900" b="1" dirty="0"/>
              <a:t>…/1</a:t>
            </a:r>
            <a:endParaRPr lang="en-US" sz="900" dirty="0"/>
          </a:p>
          <a:p>
            <a:pPr>
              <a:buFont typeface="Wingdings" panose="05000000000000000000" pitchFamily="2" charset="2"/>
              <a:buChar char="q"/>
            </a:pPr>
            <a:r>
              <a:rPr lang="en-US" sz="900" dirty="0"/>
              <a:t>Is recognized outside the Community as a Booster  </a:t>
            </a:r>
            <a:r>
              <a:rPr lang="en-US" sz="900" b="1" dirty="0"/>
              <a:t>…/1</a:t>
            </a:r>
            <a:endParaRPr lang="en-US" sz="900" dirty="0"/>
          </a:p>
          <a:p>
            <a:pPr>
              <a:buFont typeface="Wingdings" panose="05000000000000000000" pitchFamily="2" charset="2"/>
              <a:buChar char="q"/>
            </a:pPr>
            <a:r>
              <a:rPr lang="en-US" sz="900" dirty="0"/>
              <a:t>Community has explicit expectations towards him/her as a Booster  </a:t>
            </a:r>
            <a:r>
              <a:rPr lang="en-US" sz="900" b="1" dirty="0"/>
              <a:t>…/2</a:t>
            </a:r>
            <a:endParaRPr lang="en-US" sz="900" dirty="0"/>
          </a:p>
          <a:p>
            <a:endParaRPr lang="en-US" sz="900" dirty="0"/>
          </a:p>
          <a:p>
            <a:endParaRPr lang="en-US" sz="900" dirty="0"/>
          </a:p>
          <a:p>
            <a:pPr marL="0" indent="0">
              <a:buNone/>
            </a:pPr>
            <a:r>
              <a:rPr lang="en-US" sz="900" dirty="0"/>
              <a:t> </a:t>
            </a:r>
          </a:p>
        </p:txBody>
      </p:sp>
      <p:sp>
        <p:nvSpPr>
          <p:cNvPr id="5" name="Espace réservé du contenu 2">
            <a:extLst>
              <a:ext uri="{FF2B5EF4-FFF2-40B4-BE49-F238E27FC236}">
                <a16:creationId xmlns:a16="http://schemas.microsoft.com/office/drawing/2014/main" id="{08B0A895-1094-4369-8B6A-0E67FE7DDB59}"/>
              </a:ext>
            </a:extLst>
          </p:cNvPr>
          <p:cNvSpPr txBox="1">
            <a:spLocks/>
          </p:cNvSpPr>
          <p:nvPr/>
        </p:nvSpPr>
        <p:spPr>
          <a:xfrm>
            <a:off x="9724535" y="2111614"/>
            <a:ext cx="2088000" cy="4665710"/>
          </a:xfrm>
          <a:prstGeom prst="rect">
            <a:avLst/>
          </a:prstGeom>
          <a:solidFill>
            <a:schemeClr val="bg1">
              <a:lumMod val="95000"/>
            </a:schemeClr>
          </a:solidFill>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900" b="1" dirty="0"/>
              <a:t>🎖️Achievements (10 pts) : </a:t>
            </a:r>
          </a:p>
          <a:p>
            <a:pPr>
              <a:buFont typeface="Wingdings" panose="05000000000000000000" pitchFamily="2" charset="2"/>
              <a:buChar char="q"/>
            </a:pPr>
            <a:r>
              <a:rPr lang="en-US" sz="900" dirty="0"/>
              <a:t>Has accomplished enough valuable actions for Community members  </a:t>
            </a:r>
            <a:r>
              <a:rPr lang="en-US" sz="900" b="1" dirty="0"/>
              <a:t>…/4</a:t>
            </a:r>
            <a:endParaRPr lang="en-US" sz="900" dirty="0"/>
          </a:p>
          <a:p>
            <a:pPr>
              <a:buFont typeface="Wingdings" panose="05000000000000000000" pitchFamily="2" charset="2"/>
              <a:buChar char="q"/>
            </a:pPr>
            <a:r>
              <a:rPr lang="en-US" sz="900" dirty="0"/>
              <a:t>Has accomplished enough promotional and external actions as a Community representative outside the  Community  </a:t>
            </a:r>
            <a:r>
              <a:rPr lang="en-US" sz="900" b="1" dirty="0"/>
              <a:t>…/2</a:t>
            </a:r>
            <a:endParaRPr lang="en-US" sz="900" dirty="0"/>
          </a:p>
          <a:p>
            <a:pPr>
              <a:buFont typeface="Wingdings" panose="05000000000000000000" pitchFamily="2" charset="2"/>
              <a:buChar char="q"/>
            </a:pPr>
            <a:r>
              <a:rPr lang="en-US" sz="900" dirty="0"/>
              <a:t>Has accomplished enough valuable actions for key stakeholders or key influential members of the Community  </a:t>
            </a:r>
            <a:r>
              <a:rPr lang="en-US" sz="900" b="1" dirty="0"/>
              <a:t>…/3</a:t>
            </a:r>
            <a:endParaRPr lang="en-US" sz="900" dirty="0"/>
          </a:p>
          <a:p>
            <a:pPr>
              <a:buFont typeface="Wingdings" panose="05000000000000000000" pitchFamily="2" charset="2"/>
              <a:buChar char="q"/>
            </a:pPr>
            <a:r>
              <a:rPr lang="en-US" sz="900" dirty="0"/>
              <a:t>Has accomplished enough valuable actions for self thanks to the Community (can share about benefits of the Community for self)  </a:t>
            </a:r>
            <a:r>
              <a:rPr lang="en-US" sz="900" b="1" dirty="0"/>
              <a:t>…/1</a:t>
            </a:r>
            <a:endParaRPr lang="en-US" sz="900" dirty="0"/>
          </a:p>
          <a:p>
            <a:endParaRPr lang="en-US" sz="900" dirty="0"/>
          </a:p>
          <a:p>
            <a:pPr marL="0" indent="0">
              <a:buNone/>
            </a:pPr>
            <a:endParaRPr lang="en-US" sz="900" dirty="0"/>
          </a:p>
          <a:p>
            <a:endParaRPr lang="en-US" sz="900" dirty="0"/>
          </a:p>
        </p:txBody>
      </p:sp>
      <p:sp>
        <p:nvSpPr>
          <p:cNvPr id="6" name="Espace réservé du contenu 2">
            <a:extLst>
              <a:ext uri="{FF2B5EF4-FFF2-40B4-BE49-F238E27FC236}">
                <a16:creationId xmlns:a16="http://schemas.microsoft.com/office/drawing/2014/main" id="{02C5E63D-945C-416B-99CE-6F6495932217}"/>
              </a:ext>
            </a:extLst>
          </p:cNvPr>
          <p:cNvSpPr txBox="1">
            <a:spLocks/>
          </p:cNvSpPr>
          <p:nvPr/>
        </p:nvSpPr>
        <p:spPr>
          <a:xfrm>
            <a:off x="2551305" y="2111613"/>
            <a:ext cx="2088000" cy="4665711"/>
          </a:xfrm>
          <a:prstGeom prst="rect">
            <a:avLst/>
          </a:prstGeom>
          <a:solidFill>
            <a:schemeClr val="bg1">
              <a:lumMod val="95000"/>
            </a:schemeClr>
          </a:solidFill>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900" b="1" dirty="0"/>
              <a:t>⌛Resources and capacity (10 pts) :</a:t>
            </a:r>
          </a:p>
          <a:p>
            <a:pPr>
              <a:buFont typeface="Wingdings" panose="05000000000000000000" pitchFamily="2" charset="2"/>
              <a:buChar char="q"/>
            </a:pPr>
            <a:r>
              <a:rPr lang="en-US" sz="900" dirty="0"/>
              <a:t>Has enough means of action to be Community Booster  </a:t>
            </a:r>
            <a:r>
              <a:rPr lang="en-US" sz="900" b="1" dirty="0"/>
              <a:t>…/2</a:t>
            </a:r>
            <a:endParaRPr lang="en-US" sz="900" dirty="0"/>
          </a:p>
          <a:p>
            <a:pPr>
              <a:buFont typeface="Wingdings" panose="05000000000000000000" pitchFamily="2" charset="2"/>
              <a:buChar char="q"/>
            </a:pPr>
            <a:r>
              <a:rPr lang="en-US" sz="900" dirty="0"/>
              <a:t>Has enough availability to be Community Booster  </a:t>
            </a:r>
            <a:r>
              <a:rPr lang="en-US" sz="900" b="1" dirty="0"/>
              <a:t>…/2</a:t>
            </a:r>
            <a:endParaRPr lang="en-US" sz="900" dirty="0"/>
          </a:p>
          <a:p>
            <a:pPr>
              <a:buFont typeface="Wingdings" panose="05000000000000000000" pitchFamily="2" charset="2"/>
              <a:buChar char="q"/>
            </a:pPr>
            <a:r>
              <a:rPr lang="en-US" sz="900" dirty="0"/>
              <a:t>Is allowed to be a Community Booster </a:t>
            </a:r>
            <a:r>
              <a:rPr lang="en-US" sz="900" b="1" dirty="0"/>
              <a:t>…/2</a:t>
            </a:r>
            <a:endParaRPr lang="en-US" sz="900" dirty="0"/>
          </a:p>
          <a:p>
            <a:pPr>
              <a:buFont typeface="Wingdings" panose="05000000000000000000" pitchFamily="2" charset="2"/>
              <a:buChar char="q"/>
            </a:pPr>
            <a:r>
              <a:rPr lang="en-US" sz="900" dirty="0"/>
              <a:t>Has access to resources  (training, content, …) to become Community Booster  </a:t>
            </a:r>
            <a:r>
              <a:rPr lang="en-US" sz="900" b="1" dirty="0"/>
              <a:t>…/1</a:t>
            </a:r>
            <a:endParaRPr lang="en-US" sz="900" dirty="0"/>
          </a:p>
          <a:p>
            <a:pPr>
              <a:buFont typeface="Wingdings" panose="05000000000000000000" pitchFamily="2" charset="2"/>
              <a:buChar char="q"/>
            </a:pPr>
            <a:r>
              <a:rPr lang="en-US" sz="900" dirty="0"/>
              <a:t>Has access to opportunities (events, negotiations, rights…) to progress into a Community Booster </a:t>
            </a:r>
            <a:r>
              <a:rPr lang="en-US" sz="900" b="1" dirty="0"/>
              <a:t>…/2</a:t>
            </a:r>
            <a:endParaRPr lang="en-US" sz="900" dirty="0"/>
          </a:p>
          <a:p>
            <a:endParaRPr lang="en-US" sz="900" dirty="0"/>
          </a:p>
          <a:p>
            <a:endParaRPr lang="en-US" sz="900" dirty="0"/>
          </a:p>
          <a:p>
            <a:endParaRPr lang="en-US" sz="900" dirty="0"/>
          </a:p>
          <a:p>
            <a:pPr marL="0" indent="0">
              <a:buNone/>
            </a:pPr>
            <a:endParaRPr lang="en-US" sz="900" dirty="0"/>
          </a:p>
          <a:p>
            <a:endParaRPr lang="en-US" sz="900" dirty="0"/>
          </a:p>
        </p:txBody>
      </p:sp>
      <p:sp>
        <p:nvSpPr>
          <p:cNvPr id="7" name="Espace réservé du contenu 2">
            <a:extLst>
              <a:ext uri="{FF2B5EF4-FFF2-40B4-BE49-F238E27FC236}">
                <a16:creationId xmlns:a16="http://schemas.microsoft.com/office/drawing/2014/main" id="{EFA160A8-44AE-41D0-BE55-E79DF99033EA}"/>
              </a:ext>
            </a:extLst>
          </p:cNvPr>
          <p:cNvSpPr txBox="1">
            <a:spLocks/>
          </p:cNvSpPr>
          <p:nvPr/>
        </p:nvSpPr>
        <p:spPr>
          <a:xfrm>
            <a:off x="188798" y="2111614"/>
            <a:ext cx="2088000" cy="4665710"/>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900" b="1" dirty="0"/>
              <a:t>🎯 Intention (10 pts) : </a:t>
            </a:r>
          </a:p>
          <a:p>
            <a:pPr>
              <a:buFont typeface="Wingdings" panose="05000000000000000000" pitchFamily="2" charset="2"/>
              <a:buChar char="Ø"/>
            </a:pPr>
            <a:r>
              <a:rPr lang="en-US" sz="900" dirty="0"/>
              <a:t>Loves the Community </a:t>
            </a:r>
            <a:r>
              <a:rPr lang="en-US" sz="900" b="1" dirty="0"/>
              <a:t> … /2</a:t>
            </a:r>
          </a:p>
          <a:p>
            <a:pPr>
              <a:buFont typeface="Wingdings" panose="05000000000000000000" pitchFamily="2" charset="2"/>
              <a:buChar char="Ø"/>
            </a:pPr>
            <a:r>
              <a:rPr lang="en-US" sz="900" dirty="0"/>
              <a:t>Has interest in developing the Community </a:t>
            </a:r>
            <a:r>
              <a:rPr lang="en-US" sz="900" b="1" dirty="0"/>
              <a:t>…/2</a:t>
            </a:r>
            <a:endParaRPr lang="en-US" sz="900" dirty="0"/>
          </a:p>
          <a:p>
            <a:pPr>
              <a:buFont typeface="Wingdings" panose="05000000000000000000" pitchFamily="2" charset="2"/>
              <a:buChar char="Ø"/>
            </a:pPr>
            <a:r>
              <a:rPr lang="en-US" sz="900" dirty="0"/>
              <a:t>Likes Community Development </a:t>
            </a:r>
            <a:r>
              <a:rPr lang="en-US" sz="900" b="1" dirty="0"/>
              <a:t>…/2</a:t>
            </a:r>
            <a:endParaRPr lang="en-US" sz="900" dirty="0"/>
          </a:p>
          <a:p>
            <a:pPr>
              <a:buFont typeface="Wingdings" panose="05000000000000000000" pitchFamily="2" charset="2"/>
              <a:buChar char="Ø"/>
            </a:pPr>
            <a:r>
              <a:rPr lang="en-US" sz="900" dirty="0"/>
              <a:t>Has his/her own viewpoint about how the Community should evolve</a:t>
            </a:r>
            <a:r>
              <a:rPr lang="en-US" sz="900" b="1" dirty="0"/>
              <a:t> .../1</a:t>
            </a:r>
            <a:endParaRPr lang="en-US" sz="900" dirty="0"/>
          </a:p>
          <a:p>
            <a:pPr>
              <a:buFont typeface="Wingdings" panose="05000000000000000000" pitchFamily="2" charset="2"/>
              <a:buChar char="Ø"/>
            </a:pPr>
            <a:r>
              <a:rPr lang="en-US" sz="900" dirty="0"/>
              <a:t>Has intention to self-develop (skills, wisdom, leadership…) through Community Boosting </a:t>
            </a:r>
            <a:r>
              <a:rPr lang="en-US" sz="900" b="1" dirty="0"/>
              <a:t>…/1</a:t>
            </a:r>
            <a:endParaRPr lang="en-US" sz="900" dirty="0"/>
          </a:p>
          <a:p>
            <a:pPr>
              <a:buFont typeface="Wingdings" panose="05000000000000000000" pitchFamily="2" charset="2"/>
              <a:buChar char="Ø"/>
            </a:pPr>
            <a:r>
              <a:rPr lang="en-US" sz="900" dirty="0"/>
              <a:t>Makes room in his/her agenda for Community activities </a:t>
            </a:r>
            <a:r>
              <a:rPr lang="en-US" sz="900" b="1" dirty="0"/>
              <a:t>…/1</a:t>
            </a:r>
            <a:endParaRPr lang="en-US" sz="900" dirty="0"/>
          </a:p>
          <a:p>
            <a:pPr>
              <a:buFont typeface="Wingdings" panose="05000000000000000000" pitchFamily="2" charset="2"/>
              <a:buChar char="Ø"/>
            </a:pPr>
            <a:r>
              <a:rPr lang="en-US" sz="900" dirty="0"/>
              <a:t>Is an active resource seeker for Community purposes </a:t>
            </a:r>
            <a:r>
              <a:rPr lang="en-US" sz="900" b="1" dirty="0"/>
              <a:t>.../1</a:t>
            </a:r>
            <a:endParaRPr lang="en-US" sz="900" dirty="0"/>
          </a:p>
          <a:p>
            <a:endParaRPr lang="en-US" sz="900" dirty="0"/>
          </a:p>
          <a:p>
            <a:endParaRPr lang="en-US" sz="900" dirty="0"/>
          </a:p>
          <a:p>
            <a:pPr marL="0" indent="0">
              <a:buNone/>
            </a:pPr>
            <a:r>
              <a:rPr lang="en-US" sz="900" dirty="0"/>
              <a:t> </a:t>
            </a:r>
          </a:p>
        </p:txBody>
      </p:sp>
    </p:spTree>
    <p:extLst>
      <p:ext uri="{BB962C8B-B14F-4D97-AF65-F5344CB8AC3E}">
        <p14:creationId xmlns:p14="http://schemas.microsoft.com/office/powerpoint/2010/main" val="6232017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2769208-2FC6-71D2-066B-4609838E9C56}"/>
              </a:ext>
            </a:extLst>
          </p:cNvPr>
          <p:cNvSpPr>
            <a:spLocks noGrp="1"/>
          </p:cNvSpPr>
          <p:nvPr>
            <p:ph type="title"/>
          </p:nvPr>
        </p:nvSpPr>
        <p:spPr>
          <a:xfrm>
            <a:off x="1086385" y="548640"/>
            <a:ext cx="10168128" cy="1179576"/>
          </a:xfrm>
        </p:spPr>
        <p:txBody>
          <a:bodyPr>
            <a:normAutofit fontScale="90000"/>
          </a:bodyPr>
          <a:lstStyle/>
          <a:p>
            <a:r>
              <a:rPr lang="en-US" sz="4000"/>
              <a:t>Community Boosters checklists</a:t>
            </a:r>
            <a:br>
              <a:rPr lang="en-US" sz="4000"/>
            </a:br>
            <a:r>
              <a:rPr lang="en-US" sz="4000"/>
              <a:t>Tips on assessment</a:t>
            </a:r>
            <a:endParaRPr lang="en-US"/>
          </a:p>
        </p:txBody>
      </p:sp>
      <p:sp>
        <p:nvSpPr>
          <p:cNvPr id="3" name="Espace réservé du contenu 2">
            <a:extLst>
              <a:ext uri="{FF2B5EF4-FFF2-40B4-BE49-F238E27FC236}">
                <a16:creationId xmlns:a16="http://schemas.microsoft.com/office/drawing/2014/main" id="{A8B46B10-BA20-EE7F-1831-CA14DE04D353}"/>
              </a:ext>
            </a:extLst>
          </p:cNvPr>
          <p:cNvSpPr>
            <a:spLocks noGrp="1"/>
          </p:cNvSpPr>
          <p:nvPr>
            <p:ph idx="1"/>
          </p:nvPr>
        </p:nvSpPr>
        <p:spPr>
          <a:xfrm>
            <a:off x="2762655" y="2478024"/>
            <a:ext cx="8491858" cy="3694176"/>
          </a:xfrm>
        </p:spPr>
        <p:txBody>
          <a:bodyPr>
            <a:normAutofit lnSpcReduction="10000"/>
          </a:bodyPr>
          <a:lstStyle/>
          <a:p>
            <a:r>
              <a:rPr lang="en-US" sz="1800" dirty="0"/>
              <a:t>All words can have multiple interpretations, be sure to share about what everyone understands behind a given criterium, especially in case of disagreement of score.</a:t>
            </a:r>
          </a:p>
          <a:p>
            <a:r>
              <a:rPr lang="en-US" sz="1800" dirty="0"/>
              <a:t>Feel free to remove lines that you do not understand or that you consider useless in your context (for example, if there are no use for content generation in your Community, remove the “Content generation skills” line)</a:t>
            </a:r>
          </a:p>
          <a:p>
            <a:r>
              <a:rPr lang="en-US" sz="1800" dirty="0"/>
              <a:t>Change the number of points if necessary, or if you consider a given criterium more important or less important than in the default sheet</a:t>
            </a:r>
          </a:p>
          <a:p>
            <a:r>
              <a:rPr lang="en-US" sz="1800" dirty="0"/>
              <a:t>Add lines and criteria you consider relevant for your situation.</a:t>
            </a:r>
          </a:p>
          <a:p>
            <a:r>
              <a:rPr lang="en-US" sz="1800" dirty="0"/>
              <a:t>A recommended assessment format is given below. These are recommendations, not mandatory paths.</a:t>
            </a:r>
          </a:p>
        </p:txBody>
      </p:sp>
    </p:spTree>
    <p:extLst>
      <p:ext uri="{BB962C8B-B14F-4D97-AF65-F5344CB8AC3E}">
        <p14:creationId xmlns:p14="http://schemas.microsoft.com/office/powerpoint/2010/main" val="29997784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3A2B1C9-782E-4AA6-BEC7-67CB85EF882E}"/>
              </a:ext>
            </a:extLst>
          </p:cNvPr>
          <p:cNvSpPr>
            <a:spLocks noGrp="1"/>
          </p:cNvSpPr>
          <p:nvPr>
            <p:ph type="title"/>
          </p:nvPr>
        </p:nvSpPr>
        <p:spPr/>
        <p:txBody>
          <a:bodyPr>
            <a:normAutofit fontScale="90000"/>
          </a:bodyPr>
          <a:lstStyle/>
          <a:p>
            <a:r>
              <a:rPr lang="en-US" dirty="0"/>
              <a:t>Community Boosters checklist</a:t>
            </a:r>
            <a:br>
              <a:rPr lang="en-US" dirty="0"/>
            </a:br>
            <a:r>
              <a:rPr lang="en-US" dirty="0"/>
              <a:t>Recommended assessment format</a:t>
            </a:r>
          </a:p>
        </p:txBody>
      </p:sp>
      <p:pic>
        <p:nvPicPr>
          <p:cNvPr id="11" name="Graphique 10" descr="Liste contour">
            <a:extLst>
              <a:ext uri="{FF2B5EF4-FFF2-40B4-BE49-F238E27FC236}">
                <a16:creationId xmlns:a16="http://schemas.microsoft.com/office/drawing/2014/main" id="{8D0313AE-7A2F-4357-8117-429DFDC80B8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377832" y="2450279"/>
            <a:ext cx="914400" cy="914400"/>
          </a:xfrm>
          <a:prstGeom prst="rect">
            <a:avLst/>
          </a:prstGeom>
        </p:spPr>
      </p:pic>
      <p:sp>
        <p:nvSpPr>
          <p:cNvPr id="12" name="Espace réservé du contenu 2">
            <a:extLst>
              <a:ext uri="{FF2B5EF4-FFF2-40B4-BE49-F238E27FC236}">
                <a16:creationId xmlns:a16="http://schemas.microsoft.com/office/drawing/2014/main" id="{69C1FEB8-BD67-4BBA-96F5-9602924F0017}"/>
              </a:ext>
            </a:extLst>
          </p:cNvPr>
          <p:cNvSpPr txBox="1">
            <a:spLocks/>
          </p:cNvSpPr>
          <p:nvPr/>
        </p:nvSpPr>
        <p:spPr>
          <a:xfrm>
            <a:off x="6399694" y="3281735"/>
            <a:ext cx="1575689" cy="650985"/>
          </a:xfrm>
          <a:prstGeom prst="rect">
            <a:avLst/>
          </a:prstGeom>
        </p:spPr>
        <p:txBody>
          <a:bodyPr vert="horz" lIns="91440" tIns="45720" rIns="91440" bIns="45720" rtlCol="0">
            <a:no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200"/>
              <a:t>Forms or questions to Community members</a:t>
            </a:r>
          </a:p>
        </p:txBody>
      </p:sp>
      <p:sp>
        <p:nvSpPr>
          <p:cNvPr id="15" name="Espace réservé du contenu 2">
            <a:extLst>
              <a:ext uri="{FF2B5EF4-FFF2-40B4-BE49-F238E27FC236}">
                <a16:creationId xmlns:a16="http://schemas.microsoft.com/office/drawing/2014/main" id="{6717AC66-0B3F-45AF-9ECD-9AC645E6D112}"/>
              </a:ext>
            </a:extLst>
          </p:cNvPr>
          <p:cNvSpPr txBox="1">
            <a:spLocks/>
          </p:cNvSpPr>
          <p:nvPr/>
        </p:nvSpPr>
        <p:spPr>
          <a:xfrm>
            <a:off x="1115568" y="4289817"/>
            <a:ext cx="1417572" cy="722279"/>
          </a:xfrm>
          <a:prstGeom prst="rect">
            <a:avLst/>
          </a:prstGeom>
        </p:spPr>
        <p:txBody>
          <a:bodyPr vert="horz" lIns="91440" tIns="45720" rIns="91440" bIns="45720" rtlCol="0">
            <a:no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200"/>
              <a:t>Community Booster self assessment</a:t>
            </a:r>
          </a:p>
        </p:txBody>
      </p:sp>
      <p:sp>
        <p:nvSpPr>
          <p:cNvPr id="25" name="Espace réservé du contenu 2">
            <a:extLst>
              <a:ext uri="{FF2B5EF4-FFF2-40B4-BE49-F238E27FC236}">
                <a16:creationId xmlns:a16="http://schemas.microsoft.com/office/drawing/2014/main" id="{B0A90E9B-64DA-4D1A-AADF-913DDF946A22}"/>
              </a:ext>
            </a:extLst>
          </p:cNvPr>
          <p:cNvSpPr txBox="1">
            <a:spLocks/>
          </p:cNvSpPr>
          <p:nvPr/>
        </p:nvSpPr>
        <p:spPr>
          <a:xfrm>
            <a:off x="3752265" y="3631158"/>
            <a:ext cx="1704232" cy="1087147"/>
          </a:xfrm>
          <a:prstGeom prst="rect">
            <a:avLst/>
          </a:prstGeom>
        </p:spPr>
        <p:txBody>
          <a:bodyPr vert="horz" lIns="91440" tIns="45720" rIns="91440" bIns="45720" rtlCol="0">
            <a:no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200"/>
              <a:t>Assessment by a third party (peer, manager, key community member…)</a:t>
            </a:r>
          </a:p>
        </p:txBody>
      </p:sp>
      <p:grpSp>
        <p:nvGrpSpPr>
          <p:cNvPr id="30" name="Groupe 29">
            <a:extLst>
              <a:ext uri="{FF2B5EF4-FFF2-40B4-BE49-F238E27FC236}">
                <a16:creationId xmlns:a16="http://schemas.microsoft.com/office/drawing/2014/main" id="{FDAD9A47-48A3-4D1E-9F01-0460E516B11F}"/>
              </a:ext>
            </a:extLst>
          </p:cNvPr>
          <p:cNvGrpSpPr/>
          <p:nvPr/>
        </p:nvGrpSpPr>
        <p:grpSpPr>
          <a:xfrm>
            <a:off x="4066859" y="2608906"/>
            <a:ext cx="1241010" cy="1022250"/>
            <a:chOff x="3127825" y="2183073"/>
            <a:chExt cx="1627943" cy="1340977"/>
          </a:xfrm>
        </p:grpSpPr>
        <p:pic>
          <p:nvPicPr>
            <p:cNvPr id="22" name="Graphique 21" descr="Employée de bureau avec un remplissage uni">
              <a:extLst>
                <a:ext uri="{FF2B5EF4-FFF2-40B4-BE49-F238E27FC236}">
                  <a16:creationId xmlns:a16="http://schemas.microsoft.com/office/drawing/2014/main" id="{4737B812-91BF-4E9A-8D20-F42E6FE5BC3E}"/>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820688" y="2588970"/>
              <a:ext cx="935080" cy="935080"/>
            </a:xfrm>
            <a:prstGeom prst="rect">
              <a:avLst/>
            </a:prstGeom>
          </p:spPr>
        </p:pic>
        <p:pic>
          <p:nvPicPr>
            <p:cNvPr id="24" name="Graphique 23" descr="Employé de bureau avec un remplissage uni">
              <a:extLst>
                <a:ext uri="{FF2B5EF4-FFF2-40B4-BE49-F238E27FC236}">
                  <a16:creationId xmlns:a16="http://schemas.microsoft.com/office/drawing/2014/main" id="{BB94E39D-F16A-45E7-B5D3-8A62132C379C}"/>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127825" y="2599310"/>
              <a:ext cx="914400" cy="914400"/>
            </a:xfrm>
            <a:prstGeom prst="rect">
              <a:avLst/>
            </a:prstGeom>
          </p:spPr>
        </p:pic>
        <p:pic>
          <p:nvPicPr>
            <p:cNvPr id="26" name="Graphique 25" descr="Signe pouce en haut avec un remplissage uni">
              <a:extLst>
                <a:ext uri="{FF2B5EF4-FFF2-40B4-BE49-F238E27FC236}">
                  <a16:creationId xmlns:a16="http://schemas.microsoft.com/office/drawing/2014/main" id="{0B69353A-3182-4215-ADBF-AC9D2E7867C1}"/>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3585025" y="2183073"/>
              <a:ext cx="303546" cy="303546"/>
            </a:xfrm>
            <a:prstGeom prst="rect">
              <a:avLst/>
            </a:prstGeom>
          </p:spPr>
        </p:pic>
        <p:sp>
          <p:nvSpPr>
            <p:cNvPr id="27" name="Bulle narrative : ronde 26">
              <a:extLst>
                <a:ext uri="{FF2B5EF4-FFF2-40B4-BE49-F238E27FC236}">
                  <a16:creationId xmlns:a16="http://schemas.microsoft.com/office/drawing/2014/main" id="{4974A57E-ECA2-49AD-B9B8-F7FECC228BF3}"/>
                </a:ext>
              </a:extLst>
            </p:cNvPr>
            <p:cNvSpPr/>
            <p:nvPr/>
          </p:nvSpPr>
          <p:spPr>
            <a:xfrm>
              <a:off x="3311044" y="2201240"/>
              <a:ext cx="851508" cy="303546"/>
            </a:xfrm>
            <a:prstGeom prst="wedgeEllipseCallout">
              <a:avLst>
                <a:gd name="adj1" fmla="val -12779"/>
                <a:gd name="adj2" fmla="val 130279"/>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1" name="Groupe 30">
            <a:extLst>
              <a:ext uri="{FF2B5EF4-FFF2-40B4-BE49-F238E27FC236}">
                <a16:creationId xmlns:a16="http://schemas.microsoft.com/office/drawing/2014/main" id="{0E194825-49DC-4E6C-825C-09581531236D}"/>
              </a:ext>
            </a:extLst>
          </p:cNvPr>
          <p:cNvGrpSpPr/>
          <p:nvPr/>
        </p:nvGrpSpPr>
        <p:grpSpPr>
          <a:xfrm>
            <a:off x="1115568" y="3135379"/>
            <a:ext cx="1403852" cy="1116516"/>
            <a:chOff x="354463" y="2121441"/>
            <a:chExt cx="1716323" cy="1365030"/>
          </a:xfrm>
        </p:grpSpPr>
        <p:pic>
          <p:nvPicPr>
            <p:cNvPr id="14" name="Graphique 13" descr="Employée de bureau avec un remplissage uni">
              <a:extLst>
                <a:ext uri="{FF2B5EF4-FFF2-40B4-BE49-F238E27FC236}">
                  <a16:creationId xmlns:a16="http://schemas.microsoft.com/office/drawing/2014/main" id="{D58F0F45-D719-49E2-991D-4EE922C5940C}"/>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54463" y="2497737"/>
              <a:ext cx="935080" cy="935080"/>
            </a:xfrm>
            <a:prstGeom prst="rect">
              <a:avLst/>
            </a:prstGeom>
          </p:spPr>
        </p:pic>
        <p:grpSp>
          <p:nvGrpSpPr>
            <p:cNvPr id="21" name="Groupe 20">
              <a:extLst>
                <a:ext uri="{FF2B5EF4-FFF2-40B4-BE49-F238E27FC236}">
                  <a16:creationId xmlns:a16="http://schemas.microsoft.com/office/drawing/2014/main" id="{2CF36F2B-4BA2-467D-9A34-7E9D936B98E7}"/>
                </a:ext>
              </a:extLst>
            </p:cNvPr>
            <p:cNvGrpSpPr/>
            <p:nvPr/>
          </p:nvGrpSpPr>
          <p:grpSpPr>
            <a:xfrm>
              <a:off x="1219278" y="2429808"/>
              <a:ext cx="851508" cy="1056663"/>
              <a:chOff x="1258281" y="2409825"/>
              <a:chExt cx="851508" cy="1056663"/>
            </a:xfrm>
          </p:grpSpPr>
          <p:pic>
            <p:nvPicPr>
              <p:cNvPr id="18" name="Graphique 17" descr="Employée de bureau avec un remplissage uni">
                <a:extLst>
                  <a:ext uri="{FF2B5EF4-FFF2-40B4-BE49-F238E27FC236}">
                    <a16:creationId xmlns:a16="http://schemas.microsoft.com/office/drawing/2014/main" id="{539ACF13-994C-4880-9A8D-DFF9BE8303A8}"/>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l="17128" t="4517" r="14396" b="9066"/>
              <a:stretch/>
            </p:blipFill>
            <p:spPr>
              <a:xfrm flipH="1">
                <a:off x="1377061" y="2518417"/>
                <a:ext cx="610322" cy="790202"/>
              </a:xfrm>
              <a:prstGeom prst="rect">
                <a:avLst/>
              </a:prstGeom>
            </p:spPr>
          </p:pic>
          <p:sp>
            <p:nvSpPr>
              <p:cNvPr id="19" name="Rectangle : coins arrondis 18">
                <a:extLst>
                  <a:ext uri="{FF2B5EF4-FFF2-40B4-BE49-F238E27FC236}">
                    <a16:creationId xmlns:a16="http://schemas.microsoft.com/office/drawing/2014/main" id="{8094FF82-2628-4FE1-A9F2-1BDD6748AB61}"/>
                  </a:ext>
                </a:extLst>
              </p:cNvPr>
              <p:cNvSpPr/>
              <p:nvPr/>
            </p:nvSpPr>
            <p:spPr>
              <a:xfrm>
                <a:off x="1315534" y="2477112"/>
                <a:ext cx="738632" cy="927567"/>
              </a:xfrm>
              <a:prstGeom prst="round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 coins arrondis 19">
                <a:extLst>
                  <a:ext uri="{FF2B5EF4-FFF2-40B4-BE49-F238E27FC236}">
                    <a16:creationId xmlns:a16="http://schemas.microsoft.com/office/drawing/2014/main" id="{39874FA2-AC77-4775-8567-9F1FAFE10F3A}"/>
                  </a:ext>
                </a:extLst>
              </p:cNvPr>
              <p:cNvSpPr/>
              <p:nvPr/>
            </p:nvSpPr>
            <p:spPr>
              <a:xfrm>
                <a:off x="1258281" y="2409825"/>
                <a:ext cx="851508" cy="1056663"/>
              </a:xfrm>
              <a:prstGeom prst="round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8" name="Bulle narrative : ronde 27">
              <a:extLst>
                <a:ext uri="{FF2B5EF4-FFF2-40B4-BE49-F238E27FC236}">
                  <a16:creationId xmlns:a16="http://schemas.microsoft.com/office/drawing/2014/main" id="{B89D5690-1B73-4B38-B016-5C4BB2A4C193}"/>
                </a:ext>
              </a:extLst>
            </p:cNvPr>
            <p:cNvSpPr/>
            <p:nvPr/>
          </p:nvSpPr>
          <p:spPr>
            <a:xfrm>
              <a:off x="689814" y="2126262"/>
              <a:ext cx="851508" cy="303546"/>
            </a:xfrm>
            <a:prstGeom prst="wedgeEllipseCallout">
              <a:avLst>
                <a:gd name="adj1" fmla="val -12779"/>
                <a:gd name="adj2" fmla="val 130279"/>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9" name="Graphique 28" descr="Signe pouce en haut avec un remplissage uni">
              <a:extLst>
                <a:ext uri="{FF2B5EF4-FFF2-40B4-BE49-F238E27FC236}">
                  <a16:creationId xmlns:a16="http://schemas.microsoft.com/office/drawing/2014/main" id="{7EA548E2-1200-4BD7-A81E-880700C7BD2F}"/>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949695" y="2121441"/>
              <a:ext cx="303546" cy="303546"/>
            </a:xfrm>
            <a:prstGeom prst="rect">
              <a:avLst/>
            </a:prstGeom>
          </p:spPr>
        </p:pic>
      </p:grpSp>
      <p:pic>
        <p:nvPicPr>
          <p:cNvPr id="33" name="Graphique 32" descr="Groupe de personnes avec un remplissage uni">
            <a:extLst>
              <a:ext uri="{FF2B5EF4-FFF2-40B4-BE49-F238E27FC236}">
                <a16:creationId xmlns:a16="http://schemas.microsoft.com/office/drawing/2014/main" id="{EF0D2B5F-CFD8-4982-B9EE-5DC19F7190BE}"/>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7292232" y="2769005"/>
            <a:ext cx="497029" cy="497029"/>
          </a:xfrm>
          <a:prstGeom prst="rect">
            <a:avLst/>
          </a:prstGeom>
        </p:spPr>
      </p:pic>
      <p:pic>
        <p:nvPicPr>
          <p:cNvPr id="34" name="Graphique 33" descr="Groupe de personnes avec un remplissage uni">
            <a:extLst>
              <a:ext uri="{FF2B5EF4-FFF2-40B4-BE49-F238E27FC236}">
                <a16:creationId xmlns:a16="http://schemas.microsoft.com/office/drawing/2014/main" id="{18CA1DA9-ED5A-4771-9DC4-5B030C5DC304}"/>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634132" y="2022797"/>
            <a:ext cx="727672" cy="727672"/>
          </a:xfrm>
          <a:prstGeom prst="rect">
            <a:avLst/>
          </a:prstGeom>
        </p:spPr>
      </p:pic>
      <p:pic>
        <p:nvPicPr>
          <p:cNvPr id="36" name="Graphique 35" descr="Compteur bas avec un remplissage uni">
            <a:extLst>
              <a:ext uri="{FF2B5EF4-FFF2-40B4-BE49-F238E27FC236}">
                <a16:creationId xmlns:a16="http://schemas.microsoft.com/office/drawing/2014/main" id="{E94047C1-3188-480F-8213-AF621ECABD8F}"/>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9094850" y="1892618"/>
            <a:ext cx="727672" cy="727672"/>
          </a:xfrm>
          <a:prstGeom prst="rect">
            <a:avLst/>
          </a:prstGeom>
        </p:spPr>
      </p:pic>
      <p:sp>
        <p:nvSpPr>
          <p:cNvPr id="37" name="Espace réservé du contenu 2">
            <a:extLst>
              <a:ext uri="{FF2B5EF4-FFF2-40B4-BE49-F238E27FC236}">
                <a16:creationId xmlns:a16="http://schemas.microsoft.com/office/drawing/2014/main" id="{9D71B2BA-74E8-44C1-9335-F9DEBC8B0815}"/>
              </a:ext>
            </a:extLst>
          </p:cNvPr>
          <p:cNvSpPr txBox="1">
            <a:spLocks/>
          </p:cNvSpPr>
          <p:nvPr/>
        </p:nvSpPr>
        <p:spPr>
          <a:xfrm>
            <a:off x="9197972" y="2695145"/>
            <a:ext cx="1085809" cy="650985"/>
          </a:xfrm>
          <a:prstGeom prst="rect">
            <a:avLst/>
          </a:prstGeom>
        </p:spPr>
        <p:txBody>
          <a:bodyPr vert="horz" lIns="91440" tIns="45720" rIns="91440" bIns="45720" rtlCol="0">
            <a:no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200"/>
              <a:t>Community Data &amp; Community Metrics</a:t>
            </a:r>
          </a:p>
        </p:txBody>
      </p:sp>
      <p:sp>
        <p:nvSpPr>
          <p:cNvPr id="38" name="Flèche : droite 37">
            <a:extLst>
              <a:ext uri="{FF2B5EF4-FFF2-40B4-BE49-F238E27FC236}">
                <a16:creationId xmlns:a16="http://schemas.microsoft.com/office/drawing/2014/main" id="{4341E3D4-8457-4876-8344-54B812D77A32}"/>
              </a:ext>
            </a:extLst>
          </p:cNvPr>
          <p:cNvSpPr/>
          <p:nvPr/>
        </p:nvSpPr>
        <p:spPr>
          <a:xfrm rot="21048134">
            <a:off x="1185725" y="4288370"/>
            <a:ext cx="9305771" cy="407580"/>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Difficulty &amp; cost of assessment</a:t>
            </a:r>
          </a:p>
        </p:txBody>
      </p:sp>
      <p:sp>
        <p:nvSpPr>
          <p:cNvPr id="39" name="Espace réservé du contenu 2">
            <a:extLst>
              <a:ext uri="{FF2B5EF4-FFF2-40B4-BE49-F238E27FC236}">
                <a16:creationId xmlns:a16="http://schemas.microsoft.com/office/drawing/2014/main" id="{3E343651-AF79-4EFD-BC32-CA664FCFF3C2}"/>
              </a:ext>
            </a:extLst>
          </p:cNvPr>
          <p:cNvSpPr>
            <a:spLocks noGrp="1"/>
          </p:cNvSpPr>
          <p:nvPr>
            <p:ph idx="1"/>
          </p:nvPr>
        </p:nvSpPr>
        <p:spPr>
          <a:xfrm>
            <a:off x="1115568" y="5385820"/>
            <a:ext cx="6859815" cy="252000"/>
          </a:xfrm>
          <a:solidFill>
            <a:schemeClr val="bg1">
              <a:lumMod val="95000"/>
            </a:schemeClr>
          </a:solidFill>
        </p:spPr>
        <p:txBody>
          <a:bodyPr>
            <a:noAutofit/>
          </a:bodyPr>
          <a:lstStyle/>
          <a:p>
            <a:pPr marL="0" indent="0" algn="ctr">
              <a:buNone/>
            </a:pPr>
            <a:r>
              <a:rPr lang="en-US" sz="1000" b="1"/>
              <a:t>🔥Skills</a:t>
            </a:r>
            <a:endParaRPr lang="en-US" sz="1000"/>
          </a:p>
        </p:txBody>
      </p:sp>
      <p:sp>
        <p:nvSpPr>
          <p:cNvPr id="40" name="Espace réservé du contenu 2">
            <a:extLst>
              <a:ext uri="{FF2B5EF4-FFF2-40B4-BE49-F238E27FC236}">
                <a16:creationId xmlns:a16="http://schemas.microsoft.com/office/drawing/2014/main" id="{551931D4-4081-4421-ADD5-556D7BB9375A}"/>
              </a:ext>
            </a:extLst>
          </p:cNvPr>
          <p:cNvSpPr txBox="1">
            <a:spLocks/>
          </p:cNvSpPr>
          <p:nvPr/>
        </p:nvSpPr>
        <p:spPr>
          <a:xfrm>
            <a:off x="3556931" y="5047002"/>
            <a:ext cx="7059440" cy="252000"/>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000" b="1"/>
              <a:t>👍 Current positioning &amp; recognition</a:t>
            </a:r>
            <a:endParaRPr lang="en-US" sz="1000"/>
          </a:p>
          <a:p>
            <a:pPr marL="0" indent="0">
              <a:buNone/>
            </a:pPr>
            <a:r>
              <a:rPr lang="en-US" sz="1000"/>
              <a:t> </a:t>
            </a:r>
          </a:p>
        </p:txBody>
      </p:sp>
      <p:sp>
        <p:nvSpPr>
          <p:cNvPr id="41" name="Espace réservé du contenu 2">
            <a:extLst>
              <a:ext uri="{FF2B5EF4-FFF2-40B4-BE49-F238E27FC236}">
                <a16:creationId xmlns:a16="http://schemas.microsoft.com/office/drawing/2014/main" id="{63B00CC9-3B90-4DC9-8C21-B47CC067C559}"/>
              </a:ext>
            </a:extLst>
          </p:cNvPr>
          <p:cNvSpPr txBox="1">
            <a:spLocks/>
          </p:cNvSpPr>
          <p:nvPr/>
        </p:nvSpPr>
        <p:spPr>
          <a:xfrm>
            <a:off x="6675622" y="4708184"/>
            <a:ext cx="3940749" cy="252000"/>
          </a:xfrm>
          <a:prstGeom prst="rect">
            <a:avLst/>
          </a:prstGeom>
          <a:solidFill>
            <a:schemeClr val="bg1">
              <a:lumMod val="95000"/>
            </a:schemeClr>
          </a:solidFill>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000" b="1"/>
              <a:t>🎖️Achievements</a:t>
            </a:r>
          </a:p>
        </p:txBody>
      </p:sp>
      <p:sp>
        <p:nvSpPr>
          <p:cNvPr id="42" name="Espace réservé du contenu 2">
            <a:extLst>
              <a:ext uri="{FF2B5EF4-FFF2-40B4-BE49-F238E27FC236}">
                <a16:creationId xmlns:a16="http://schemas.microsoft.com/office/drawing/2014/main" id="{A7E1F4DF-CEBF-4012-BFA7-A35F2FE58D10}"/>
              </a:ext>
            </a:extLst>
          </p:cNvPr>
          <p:cNvSpPr txBox="1">
            <a:spLocks/>
          </p:cNvSpPr>
          <p:nvPr/>
        </p:nvSpPr>
        <p:spPr>
          <a:xfrm>
            <a:off x="1115568" y="5724638"/>
            <a:ext cx="4340929" cy="252000"/>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000" b="1"/>
              <a:t>⌛Resources and capacity</a:t>
            </a:r>
            <a:endParaRPr lang="en-US" sz="1000"/>
          </a:p>
        </p:txBody>
      </p:sp>
      <p:sp>
        <p:nvSpPr>
          <p:cNvPr id="43" name="Espace réservé du contenu 2">
            <a:extLst>
              <a:ext uri="{FF2B5EF4-FFF2-40B4-BE49-F238E27FC236}">
                <a16:creationId xmlns:a16="http://schemas.microsoft.com/office/drawing/2014/main" id="{1E863954-DEE3-47A7-A2D9-CCD6C9F83D55}"/>
              </a:ext>
            </a:extLst>
          </p:cNvPr>
          <p:cNvSpPr txBox="1">
            <a:spLocks/>
          </p:cNvSpPr>
          <p:nvPr/>
        </p:nvSpPr>
        <p:spPr>
          <a:xfrm>
            <a:off x="1119505" y="6063457"/>
            <a:ext cx="1413635" cy="252000"/>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000" b="1"/>
              <a:t>🎯 Intention </a:t>
            </a:r>
            <a:endParaRPr lang="en-US" sz="1000"/>
          </a:p>
          <a:p>
            <a:pPr marL="0" indent="0">
              <a:buNone/>
            </a:pPr>
            <a:r>
              <a:rPr lang="en-US" sz="1000"/>
              <a:t> </a:t>
            </a:r>
          </a:p>
        </p:txBody>
      </p:sp>
    </p:spTree>
    <p:extLst>
      <p:ext uri="{BB962C8B-B14F-4D97-AF65-F5344CB8AC3E}">
        <p14:creationId xmlns:p14="http://schemas.microsoft.com/office/powerpoint/2010/main" val="13258070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3A2B1C9-782E-4AA6-BEC7-67CB85EF882E}"/>
              </a:ext>
            </a:extLst>
          </p:cNvPr>
          <p:cNvSpPr>
            <a:spLocks noGrp="1"/>
          </p:cNvSpPr>
          <p:nvPr>
            <p:ph type="title"/>
          </p:nvPr>
        </p:nvSpPr>
        <p:spPr/>
        <p:txBody>
          <a:bodyPr>
            <a:normAutofit fontScale="90000"/>
          </a:bodyPr>
          <a:lstStyle/>
          <a:p>
            <a:r>
              <a:rPr lang="en-US" dirty="0"/>
              <a:t>Community Boosters checklist</a:t>
            </a:r>
            <a:br>
              <a:rPr lang="en-US" dirty="0"/>
            </a:br>
            <a:r>
              <a:rPr lang="en-US" dirty="0"/>
              <a:t>Example of result</a:t>
            </a:r>
          </a:p>
        </p:txBody>
      </p:sp>
      <p:sp>
        <p:nvSpPr>
          <p:cNvPr id="3" name="Espace réservé du contenu 2">
            <a:extLst>
              <a:ext uri="{FF2B5EF4-FFF2-40B4-BE49-F238E27FC236}">
                <a16:creationId xmlns:a16="http://schemas.microsoft.com/office/drawing/2014/main" id="{AE341C54-753C-4163-9596-11AD5932A820}"/>
              </a:ext>
            </a:extLst>
          </p:cNvPr>
          <p:cNvSpPr>
            <a:spLocks noGrp="1"/>
          </p:cNvSpPr>
          <p:nvPr>
            <p:ph idx="1"/>
          </p:nvPr>
        </p:nvSpPr>
        <p:spPr>
          <a:xfrm>
            <a:off x="3421538" y="2073943"/>
            <a:ext cx="1523323" cy="4673086"/>
          </a:xfrm>
          <a:solidFill>
            <a:schemeClr val="bg1">
              <a:lumMod val="95000"/>
            </a:schemeClr>
          </a:solidFill>
        </p:spPr>
        <p:txBody>
          <a:bodyPr>
            <a:noAutofit/>
          </a:bodyPr>
          <a:lstStyle/>
          <a:p>
            <a:pPr marL="0" indent="0" algn="ctr">
              <a:buNone/>
            </a:pPr>
            <a:r>
              <a:rPr lang="en-US" sz="700" b="1" dirty="0"/>
              <a:t>🔥Skills (10 pts) : </a:t>
            </a:r>
          </a:p>
          <a:p>
            <a:pPr>
              <a:buFont typeface="Wingdings" panose="05000000000000000000" pitchFamily="2" charset="2"/>
              <a:buChar char="q"/>
            </a:pPr>
            <a:r>
              <a:rPr lang="en-US" sz="700" dirty="0"/>
              <a:t>(2) Member centric Skills (Caring, follow-up progression, bonding, Sense of belonging, Links &amp; Ties, conflict management, leadership)</a:t>
            </a:r>
          </a:p>
          <a:p>
            <a:pPr>
              <a:buFont typeface="Wingdings" panose="05000000000000000000" pitchFamily="2" charset="2"/>
              <a:buChar char="q"/>
            </a:pPr>
            <a:r>
              <a:rPr lang="en-US" sz="700" dirty="0"/>
              <a:t>(2) Partner centric skills : External Sponsors, stakeholders, peer skills (negotiation, diplomacy, …)</a:t>
            </a:r>
          </a:p>
          <a:p>
            <a:pPr>
              <a:buFont typeface="Wingdings" panose="05000000000000000000" pitchFamily="2" charset="2"/>
              <a:buChar char="q"/>
            </a:pPr>
            <a:r>
              <a:rPr lang="en-US" sz="700" dirty="0"/>
              <a:t>(1) Skills related to Community Topic (specific expertise, …)</a:t>
            </a:r>
          </a:p>
          <a:p>
            <a:pPr>
              <a:buFont typeface="Wingdings" panose="05000000000000000000" pitchFamily="2" charset="2"/>
              <a:buChar char="q"/>
            </a:pPr>
            <a:r>
              <a:rPr lang="en-US" sz="700" dirty="0"/>
              <a:t>(1) Moment centric skills (Events management, One-to-one management)</a:t>
            </a:r>
          </a:p>
          <a:p>
            <a:pPr>
              <a:buFont typeface="Wingdings" panose="05000000000000000000" pitchFamily="2" charset="2"/>
              <a:buChar char="q"/>
            </a:pPr>
            <a:r>
              <a:rPr lang="en-US" sz="700" dirty="0"/>
              <a:t>(1) Content Generation skills</a:t>
            </a:r>
          </a:p>
          <a:p>
            <a:pPr>
              <a:buFont typeface="Wingdings" panose="05000000000000000000" pitchFamily="2" charset="2"/>
              <a:buChar char="q"/>
            </a:pPr>
            <a:r>
              <a:rPr lang="en-US" sz="700" dirty="0"/>
              <a:t>(1) Community Structuring (setting up tools, organizing groups, set up rules…)</a:t>
            </a:r>
          </a:p>
          <a:p>
            <a:pPr>
              <a:buFont typeface="Wingdings" panose="05000000000000000000" pitchFamily="2" charset="2"/>
              <a:buChar char="q"/>
            </a:pPr>
            <a:r>
              <a:rPr lang="en-US" sz="700" dirty="0"/>
              <a:t>(2) Community frameworks : Community Canvas, Community Engagement Framework, #OpenSeriousCommunity, #OSG workshops</a:t>
            </a:r>
          </a:p>
        </p:txBody>
      </p:sp>
      <p:sp>
        <p:nvSpPr>
          <p:cNvPr id="4" name="Espace réservé du contenu 2">
            <a:extLst>
              <a:ext uri="{FF2B5EF4-FFF2-40B4-BE49-F238E27FC236}">
                <a16:creationId xmlns:a16="http://schemas.microsoft.com/office/drawing/2014/main" id="{693C2F31-DB38-42BA-8CA5-876C10E2FFBD}"/>
              </a:ext>
            </a:extLst>
          </p:cNvPr>
          <p:cNvSpPr txBox="1">
            <a:spLocks/>
          </p:cNvSpPr>
          <p:nvPr/>
        </p:nvSpPr>
        <p:spPr>
          <a:xfrm>
            <a:off x="5043759" y="2073943"/>
            <a:ext cx="1585852" cy="4673086"/>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700" b="1" dirty="0"/>
              <a:t>👍 Current positioning &amp; recognition (10 pts) : </a:t>
            </a:r>
          </a:p>
          <a:p>
            <a:pPr>
              <a:buFont typeface="Wingdings" panose="05000000000000000000" pitchFamily="2" charset="2"/>
              <a:buChar char="q"/>
            </a:pPr>
            <a:r>
              <a:rPr lang="en-US" sz="700" dirty="0"/>
              <a:t>(1) Declares himself/herself as a future Community Booster</a:t>
            </a:r>
          </a:p>
          <a:p>
            <a:pPr>
              <a:buFont typeface="Wingdings" panose="05000000000000000000" pitchFamily="2" charset="2"/>
              <a:buChar char="q"/>
            </a:pPr>
            <a:r>
              <a:rPr lang="en-US" sz="700" dirty="0"/>
              <a:t>(2) Has shown (to the Community) the intention the lead the Community or part of the Community</a:t>
            </a:r>
          </a:p>
          <a:p>
            <a:pPr>
              <a:buFont typeface="Wingdings" panose="05000000000000000000" pitchFamily="2" charset="2"/>
              <a:buChar char="q"/>
            </a:pPr>
            <a:r>
              <a:rPr lang="en-US" sz="700" dirty="0"/>
              <a:t>(1) Has officialized a title equivalent to Community Booster (that grants decisional power and/or responsibilities) for all or a part of the Community</a:t>
            </a:r>
          </a:p>
          <a:p>
            <a:pPr>
              <a:buFont typeface="Wingdings" panose="05000000000000000000" pitchFamily="2" charset="2"/>
              <a:buChar char="q"/>
            </a:pPr>
            <a:r>
              <a:rPr lang="en-US" sz="700" dirty="0"/>
              <a:t>(2) Is recognized by the majority of the Community as a Community Booster, or at least locally</a:t>
            </a:r>
          </a:p>
          <a:p>
            <a:pPr>
              <a:buFont typeface="Wingdings" panose="05000000000000000000" pitchFamily="2" charset="2"/>
              <a:buChar char="q"/>
            </a:pPr>
            <a:r>
              <a:rPr lang="en-US" sz="700" dirty="0"/>
              <a:t>(1) Is recognized by Community key influential members as a Community Booster</a:t>
            </a:r>
          </a:p>
          <a:p>
            <a:pPr>
              <a:buFont typeface="Wingdings" panose="05000000000000000000" pitchFamily="2" charset="2"/>
              <a:buChar char="q"/>
            </a:pPr>
            <a:r>
              <a:rPr lang="en-US" sz="700" dirty="0"/>
              <a:t>(1) Is recognized outside the Community as a Booster</a:t>
            </a:r>
          </a:p>
          <a:p>
            <a:pPr>
              <a:buFont typeface="Wingdings" panose="05000000000000000000" pitchFamily="2" charset="2"/>
              <a:buChar char="q"/>
            </a:pPr>
            <a:r>
              <a:rPr lang="en-US" sz="700" dirty="0"/>
              <a:t>(2) Community has explicit expectations towards him/her as a Booster </a:t>
            </a:r>
          </a:p>
          <a:p>
            <a:endParaRPr lang="en-US" sz="700" dirty="0"/>
          </a:p>
          <a:p>
            <a:endParaRPr lang="en-US" sz="700" dirty="0"/>
          </a:p>
          <a:p>
            <a:pPr marL="0" indent="0">
              <a:buNone/>
            </a:pPr>
            <a:r>
              <a:rPr lang="en-US" sz="700" dirty="0"/>
              <a:t> </a:t>
            </a:r>
          </a:p>
        </p:txBody>
      </p:sp>
      <p:sp>
        <p:nvSpPr>
          <p:cNvPr id="5" name="Espace réservé du contenu 2">
            <a:extLst>
              <a:ext uri="{FF2B5EF4-FFF2-40B4-BE49-F238E27FC236}">
                <a16:creationId xmlns:a16="http://schemas.microsoft.com/office/drawing/2014/main" id="{08B0A895-1094-4369-8B6A-0E67FE7DDB59}"/>
              </a:ext>
            </a:extLst>
          </p:cNvPr>
          <p:cNvSpPr txBox="1">
            <a:spLocks/>
          </p:cNvSpPr>
          <p:nvPr/>
        </p:nvSpPr>
        <p:spPr>
          <a:xfrm>
            <a:off x="6724439" y="2073943"/>
            <a:ext cx="1523323" cy="4673085"/>
          </a:xfrm>
          <a:prstGeom prst="rect">
            <a:avLst/>
          </a:prstGeom>
          <a:solidFill>
            <a:schemeClr val="bg1">
              <a:lumMod val="95000"/>
            </a:schemeClr>
          </a:solidFill>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700" b="1" dirty="0"/>
              <a:t>🎖️Achievements (10 pts) : </a:t>
            </a:r>
          </a:p>
          <a:p>
            <a:pPr>
              <a:buFont typeface="Wingdings" panose="05000000000000000000" pitchFamily="2" charset="2"/>
              <a:buChar char="q"/>
            </a:pPr>
            <a:r>
              <a:rPr lang="en-US" sz="700" dirty="0"/>
              <a:t>(4) Has accomplished enough valuable actions for Community members</a:t>
            </a:r>
          </a:p>
          <a:p>
            <a:pPr>
              <a:buFont typeface="Wingdings" panose="05000000000000000000" pitchFamily="2" charset="2"/>
              <a:buChar char="q"/>
            </a:pPr>
            <a:r>
              <a:rPr lang="en-US" sz="700" dirty="0"/>
              <a:t>(2) Has accomplished enough promotional and external actions as a Community representative outside the  Community</a:t>
            </a:r>
          </a:p>
          <a:p>
            <a:pPr>
              <a:buFont typeface="Wingdings" panose="05000000000000000000" pitchFamily="2" charset="2"/>
              <a:buChar char="q"/>
            </a:pPr>
            <a:r>
              <a:rPr lang="en-US" sz="700" dirty="0"/>
              <a:t>(3) Has accomplished enough valuable actions for key stakeholders or key influential members of the Community</a:t>
            </a:r>
          </a:p>
          <a:p>
            <a:pPr>
              <a:buFont typeface="Wingdings" panose="05000000000000000000" pitchFamily="2" charset="2"/>
              <a:buChar char="q"/>
            </a:pPr>
            <a:r>
              <a:rPr lang="en-US" sz="700" dirty="0"/>
              <a:t>(1) Has accomplished enough valuable actions for self thanks to the Community</a:t>
            </a:r>
          </a:p>
          <a:p>
            <a:endParaRPr lang="en-US" sz="700" dirty="0"/>
          </a:p>
          <a:p>
            <a:pPr marL="0" indent="0">
              <a:buNone/>
            </a:pPr>
            <a:endParaRPr lang="en-US" sz="700" dirty="0"/>
          </a:p>
          <a:p>
            <a:endParaRPr lang="en-US" sz="700" dirty="0"/>
          </a:p>
        </p:txBody>
      </p:sp>
      <p:sp>
        <p:nvSpPr>
          <p:cNvPr id="6" name="Espace réservé du contenu 2">
            <a:extLst>
              <a:ext uri="{FF2B5EF4-FFF2-40B4-BE49-F238E27FC236}">
                <a16:creationId xmlns:a16="http://schemas.microsoft.com/office/drawing/2014/main" id="{02C5E63D-945C-416B-99CE-6F6495932217}"/>
              </a:ext>
            </a:extLst>
          </p:cNvPr>
          <p:cNvSpPr txBox="1">
            <a:spLocks/>
          </p:cNvSpPr>
          <p:nvPr/>
        </p:nvSpPr>
        <p:spPr>
          <a:xfrm>
            <a:off x="1799318" y="2073944"/>
            <a:ext cx="1523323" cy="4673086"/>
          </a:xfrm>
          <a:prstGeom prst="rect">
            <a:avLst/>
          </a:prstGeom>
          <a:solidFill>
            <a:schemeClr val="bg1">
              <a:lumMod val="95000"/>
            </a:schemeClr>
          </a:solidFill>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700" b="1" dirty="0"/>
              <a:t>⌛Resources and capacity (10 pts) :</a:t>
            </a:r>
          </a:p>
          <a:p>
            <a:pPr>
              <a:buFont typeface="Wingdings" panose="05000000000000000000" pitchFamily="2" charset="2"/>
              <a:buChar char="q"/>
            </a:pPr>
            <a:r>
              <a:rPr lang="en-US" sz="700" dirty="0"/>
              <a:t>(2) Has enough means of action to be Community Booster </a:t>
            </a:r>
          </a:p>
          <a:p>
            <a:pPr>
              <a:buFont typeface="Wingdings" panose="05000000000000000000" pitchFamily="2" charset="2"/>
              <a:buChar char="q"/>
            </a:pPr>
            <a:r>
              <a:rPr lang="en-US" sz="700" dirty="0"/>
              <a:t>(2) Has enough availability to be Community Booster</a:t>
            </a:r>
          </a:p>
          <a:p>
            <a:pPr>
              <a:buFont typeface="Wingdings" panose="05000000000000000000" pitchFamily="2" charset="2"/>
              <a:buChar char="q"/>
            </a:pPr>
            <a:r>
              <a:rPr lang="en-US" sz="700" dirty="0"/>
              <a:t>(2) Is allowed to be a Community Booster</a:t>
            </a:r>
          </a:p>
          <a:p>
            <a:pPr>
              <a:buFont typeface="Wingdings" panose="05000000000000000000" pitchFamily="2" charset="2"/>
              <a:buChar char="q"/>
            </a:pPr>
            <a:r>
              <a:rPr lang="en-US" sz="700" dirty="0"/>
              <a:t>(1) Has access to resources  (training, content, …) to become Community Booster</a:t>
            </a:r>
          </a:p>
          <a:p>
            <a:pPr>
              <a:buFont typeface="Wingdings" panose="05000000000000000000" pitchFamily="2" charset="2"/>
              <a:buChar char="q"/>
            </a:pPr>
            <a:r>
              <a:rPr lang="en-US" sz="700" dirty="0"/>
              <a:t>(3) Has access to opportunities (events, negotiations, rights…) to progress into a Community Booster</a:t>
            </a:r>
          </a:p>
          <a:p>
            <a:endParaRPr lang="en-US" sz="700" dirty="0"/>
          </a:p>
          <a:p>
            <a:endParaRPr lang="en-US" sz="700" dirty="0"/>
          </a:p>
          <a:p>
            <a:endParaRPr lang="en-US" sz="700" dirty="0"/>
          </a:p>
          <a:p>
            <a:pPr marL="0" indent="0">
              <a:buNone/>
            </a:pPr>
            <a:endParaRPr lang="en-US" sz="700" dirty="0"/>
          </a:p>
          <a:p>
            <a:endParaRPr lang="en-US" sz="700" dirty="0"/>
          </a:p>
        </p:txBody>
      </p:sp>
      <p:sp>
        <p:nvSpPr>
          <p:cNvPr id="7" name="Espace réservé du contenu 2">
            <a:extLst>
              <a:ext uri="{FF2B5EF4-FFF2-40B4-BE49-F238E27FC236}">
                <a16:creationId xmlns:a16="http://schemas.microsoft.com/office/drawing/2014/main" id="{EFA160A8-44AE-41D0-BE55-E79DF99033EA}"/>
              </a:ext>
            </a:extLst>
          </p:cNvPr>
          <p:cNvSpPr txBox="1">
            <a:spLocks/>
          </p:cNvSpPr>
          <p:nvPr/>
        </p:nvSpPr>
        <p:spPr>
          <a:xfrm>
            <a:off x="177098" y="2073943"/>
            <a:ext cx="1523323" cy="4673085"/>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700" b="1" dirty="0"/>
              <a:t>🎯 Intention (10 pts) : </a:t>
            </a:r>
          </a:p>
          <a:p>
            <a:pPr>
              <a:buFont typeface="Wingdings" panose="05000000000000000000" pitchFamily="2" charset="2"/>
              <a:buChar char="q"/>
            </a:pPr>
            <a:r>
              <a:rPr lang="en-US" sz="700" dirty="0"/>
              <a:t>(2) Loves the Community </a:t>
            </a:r>
          </a:p>
          <a:p>
            <a:pPr>
              <a:buFont typeface="Wingdings" panose="05000000000000000000" pitchFamily="2" charset="2"/>
              <a:buChar char="q"/>
            </a:pPr>
            <a:r>
              <a:rPr lang="en-US" sz="700" dirty="0"/>
              <a:t>(2) Has interest in developing the Community</a:t>
            </a:r>
          </a:p>
          <a:p>
            <a:pPr>
              <a:buFont typeface="Wingdings" panose="05000000000000000000" pitchFamily="2" charset="2"/>
              <a:buChar char="q"/>
            </a:pPr>
            <a:r>
              <a:rPr lang="en-US" sz="700" dirty="0"/>
              <a:t>(2) Likes Community Development</a:t>
            </a:r>
          </a:p>
          <a:p>
            <a:pPr>
              <a:buFont typeface="Wingdings" panose="05000000000000000000" pitchFamily="2" charset="2"/>
              <a:buChar char="q"/>
            </a:pPr>
            <a:r>
              <a:rPr lang="en-US" sz="700" dirty="0"/>
              <a:t>(1) Has his/her own viewpoint about how the Community should evolve</a:t>
            </a:r>
          </a:p>
          <a:p>
            <a:pPr>
              <a:buFont typeface="Wingdings" panose="05000000000000000000" pitchFamily="2" charset="2"/>
              <a:buChar char="q"/>
            </a:pPr>
            <a:r>
              <a:rPr lang="en-US" sz="700" dirty="0"/>
              <a:t>(1) Has intention to self-develop (skills, wisdom, leadership…) through Community Boosting</a:t>
            </a:r>
          </a:p>
          <a:p>
            <a:pPr>
              <a:buFont typeface="Wingdings" panose="05000000000000000000" pitchFamily="2" charset="2"/>
              <a:buChar char="q"/>
            </a:pPr>
            <a:r>
              <a:rPr lang="en-US" sz="700" dirty="0"/>
              <a:t>(1) Makes room in his/her agenda for Community activities</a:t>
            </a:r>
          </a:p>
          <a:p>
            <a:pPr>
              <a:buFont typeface="Wingdings" panose="05000000000000000000" pitchFamily="2" charset="2"/>
              <a:buChar char="q"/>
            </a:pPr>
            <a:r>
              <a:rPr lang="en-US" sz="700" dirty="0"/>
              <a:t>(1) Is an active resource seeker for Community purposes</a:t>
            </a:r>
          </a:p>
          <a:p>
            <a:endParaRPr lang="en-US" sz="700" dirty="0"/>
          </a:p>
          <a:p>
            <a:endParaRPr lang="en-US" sz="700" dirty="0"/>
          </a:p>
          <a:p>
            <a:pPr marL="0" indent="0">
              <a:buNone/>
            </a:pPr>
            <a:r>
              <a:rPr lang="en-US" sz="700" dirty="0"/>
              <a:t> </a:t>
            </a:r>
          </a:p>
        </p:txBody>
      </p:sp>
      <p:grpSp>
        <p:nvGrpSpPr>
          <p:cNvPr id="10" name="Groupe 9">
            <a:extLst>
              <a:ext uri="{FF2B5EF4-FFF2-40B4-BE49-F238E27FC236}">
                <a16:creationId xmlns:a16="http://schemas.microsoft.com/office/drawing/2014/main" id="{14E8E020-AD66-4907-8653-E8FA263CA83C}"/>
              </a:ext>
            </a:extLst>
          </p:cNvPr>
          <p:cNvGrpSpPr/>
          <p:nvPr/>
        </p:nvGrpSpPr>
        <p:grpSpPr>
          <a:xfrm>
            <a:off x="7947362" y="2529737"/>
            <a:ext cx="4886138" cy="3630438"/>
            <a:chOff x="8679349" y="862178"/>
            <a:chExt cx="4353888" cy="3542725"/>
          </a:xfrm>
        </p:grpSpPr>
        <p:graphicFrame>
          <p:nvGraphicFramePr>
            <p:cNvPr id="8" name="Espace réservé du contenu 5">
              <a:extLst>
                <a:ext uri="{FF2B5EF4-FFF2-40B4-BE49-F238E27FC236}">
                  <a16:creationId xmlns:a16="http://schemas.microsoft.com/office/drawing/2014/main" id="{05C31663-4196-4F40-B0B7-FA255894EE87}"/>
                </a:ext>
              </a:extLst>
            </p:cNvPr>
            <p:cNvGraphicFramePr>
              <a:graphicFrameLocks/>
            </p:cNvGraphicFramePr>
            <p:nvPr>
              <p:extLst>
                <p:ext uri="{D42A27DB-BD31-4B8C-83A1-F6EECF244321}">
                  <p14:modId xmlns:p14="http://schemas.microsoft.com/office/powerpoint/2010/main" val="4014569126"/>
                </p:ext>
              </p:extLst>
            </p:nvPr>
          </p:nvGraphicFramePr>
          <p:xfrm>
            <a:off x="8679349" y="862178"/>
            <a:ext cx="4353888" cy="3236053"/>
          </p:xfrm>
          <a:graphic>
            <a:graphicData uri="http://schemas.openxmlformats.org/drawingml/2006/chart">
              <c:chart xmlns:c="http://schemas.openxmlformats.org/drawingml/2006/chart" xmlns:r="http://schemas.openxmlformats.org/officeDocument/2006/relationships" r:id="rId2"/>
            </a:graphicData>
          </a:graphic>
        </p:graphicFrame>
        <p:pic>
          <p:nvPicPr>
            <p:cNvPr id="9" name="Image 8">
              <a:extLst>
                <a:ext uri="{FF2B5EF4-FFF2-40B4-BE49-F238E27FC236}">
                  <a16:creationId xmlns:a16="http://schemas.microsoft.com/office/drawing/2014/main" id="{2E3B95C6-C724-491E-9265-BD01064F688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97085" y="3791559"/>
              <a:ext cx="613344" cy="613344"/>
            </a:xfrm>
            <a:prstGeom prst="rect">
              <a:avLst/>
            </a:prstGeom>
          </p:spPr>
        </p:pic>
      </p:grpSp>
      <p:pic>
        <p:nvPicPr>
          <p:cNvPr id="12" name="Graphique 11" descr="Coche avec un remplissage uni">
            <a:extLst>
              <a:ext uri="{FF2B5EF4-FFF2-40B4-BE49-F238E27FC236}">
                <a16:creationId xmlns:a16="http://schemas.microsoft.com/office/drawing/2014/main" id="{02550B0D-2CC6-4CF2-A466-3BFE1F6634EA}"/>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77098" y="2224777"/>
            <a:ext cx="291316" cy="291316"/>
          </a:xfrm>
          <a:prstGeom prst="rect">
            <a:avLst/>
          </a:prstGeom>
        </p:spPr>
      </p:pic>
      <p:pic>
        <p:nvPicPr>
          <p:cNvPr id="13" name="Graphique 12" descr="Coche avec un remplissage uni">
            <a:extLst>
              <a:ext uri="{FF2B5EF4-FFF2-40B4-BE49-F238E27FC236}">
                <a16:creationId xmlns:a16="http://schemas.microsoft.com/office/drawing/2014/main" id="{28031E65-826D-495E-8031-DDD6319B19A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77098" y="2509798"/>
            <a:ext cx="291316" cy="291316"/>
          </a:xfrm>
          <a:prstGeom prst="rect">
            <a:avLst/>
          </a:prstGeom>
        </p:spPr>
      </p:pic>
      <p:pic>
        <p:nvPicPr>
          <p:cNvPr id="14" name="Graphique 13" descr="Coche avec un remplissage uni">
            <a:extLst>
              <a:ext uri="{FF2B5EF4-FFF2-40B4-BE49-F238E27FC236}">
                <a16:creationId xmlns:a16="http://schemas.microsoft.com/office/drawing/2014/main" id="{7E43851E-53C4-4CBB-B6B6-213F15B6F13B}"/>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77098" y="2940477"/>
            <a:ext cx="291316" cy="291316"/>
          </a:xfrm>
          <a:prstGeom prst="rect">
            <a:avLst/>
          </a:prstGeom>
        </p:spPr>
      </p:pic>
      <p:pic>
        <p:nvPicPr>
          <p:cNvPr id="16" name="Graphique 15" descr="Coche avec un remplissage uni">
            <a:extLst>
              <a:ext uri="{FF2B5EF4-FFF2-40B4-BE49-F238E27FC236}">
                <a16:creationId xmlns:a16="http://schemas.microsoft.com/office/drawing/2014/main" id="{2C797DD6-E25C-4C1D-9D05-571AB424A74B}"/>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62503" y="3369263"/>
            <a:ext cx="291316" cy="291316"/>
          </a:xfrm>
          <a:prstGeom prst="rect">
            <a:avLst/>
          </a:prstGeom>
        </p:spPr>
      </p:pic>
      <p:pic>
        <p:nvPicPr>
          <p:cNvPr id="17" name="Graphique 16" descr="Coche avec un remplissage uni">
            <a:extLst>
              <a:ext uri="{FF2B5EF4-FFF2-40B4-BE49-F238E27FC236}">
                <a16:creationId xmlns:a16="http://schemas.microsoft.com/office/drawing/2014/main" id="{684450E8-7D5B-40E1-A69C-6862F19C13A8}"/>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801569" y="2370435"/>
            <a:ext cx="291316" cy="291316"/>
          </a:xfrm>
          <a:prstGeom prst="rect">
            <a:avLst/>
          </a:prstGeom>
        </p:spPr>
      </p:pic>
      <p:pic>
        <p:nvPicPr>
          <p:cNvPr id="18" name="Graphique 17" descr="Coche avec un remplissage uni">
            <a:extLst>
              <a:ext uri="{FF2B5EF4-FFF2-40B4-BE49-F238E27FC236}">
                <a16:creationId xmlns:a16="http://schemas.microsoft.com/office/drawing/2014/main" id="{6DC0D10E-F3BD-4E8C-B452-3547469CFF3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795249" y="3542126"/>
            <a:ext cx="291316" cy="291316"/>
          </a:xfrm>
          <a:prstGeom prst="rect">
            <a:avLst/>
          </a:prstGeom>
        </p:spPr>
      </p:pic>
      <p:pic>
        <p:nvPicPr>
          <p:cNvPr id="19" name="Graphique 18" descr="Coche avec un remplissage uni">
            <a:extLst>
              <a:ext uri="{FF2B5EF4-FFF2-40B4-BE49-F238E27FC236}">
                <a16:creationId xmlns:a16="http://schemas.microsoft.com/office/drawing/2014/main" id="{885E3F7B-1015-4E1F-9B0A-C4D4CDF758CE}"/>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417469" y="2240428"/>
            <a:ext cx="291316" cy="291316"/>
          </a:xfrm>
          <a:prstGeom prst="rect">
            <a:avLst/>
          </a:prstGeom>
        </p:spPr>
      </p:pic>
      <p:pic>
        <p:nvPicPr>
          <p:cNvPr id="20" name="Graphique 19" descr="Coche avec un remplissage uni">
            <a:extLst>
              <a:ext uri="{FF2B5EF4-FFF2-40B4-BE49-F238E27FC236}">
                <a16:creationId xmlns:a16="http://schemas.microsoft.com/office/drawing/2014/main" id="{CF0C5992-FD40-4408-95A3-266ADEA76E12}"/>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417469" y="3043956"/>
            <a:ext cx="291316" cy="291316"/>
          </a:xfrm>
          <a:prstGeom prst="rect">
            <a:avLst/>
          </a:prstGeom>
        </p:spPr>
      </p:pic>
      <p:pic>
        <p:nvPicPr>
          <p:cNvPr id="21" name="Graphique 20" descr="Coche avec un remplissage uni">
            <a:extLst>
              <a:ext uri="{FF2B5EF4-FFF2-40B4-BE49-F238E27FC236}">
                <a16:creationId xmlns:a16="http://schemas.microsoft.com/office/drawing/2014/main" id="{F9EBC94D-F563-44EE-B4AC-AB4791765556}"/>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417469" y="3701826"/>
            <a:ext cx="291316" cy="291316"/>
          </a:xfrm>
          <a:prstGeom prst="rect">
            <a:avLst/>
          </a:prstGeom>
        </p:spPr>
      </p:pic>
      <p:pic>
        <p:nvPicPr>
          <p:cNvPr id="22" name="Graphique 21" descr="Coche avec un remplissage uni">
            <a:extLst>
              <a:ext uri="{FF2B5EF4-FFF2-40B4-BE49-F238E27FC236}">
                <a16:creationId xmlns:a16="http://schemas.microsoft.com/office/drawing/2014/main" id="{39437A64-3056-4B7A-81E9-38B3DB21A0BF}"/>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402895" y="5680313"/>
            <a:ext cx="291316" cy="291316"/>
          </a:xfrm>
          <a:prstGeom prst="rect">
            <a:avLst/>
          </a:prstGeom>
        </p:spPr>
      </p:pic>
      <p:pic>
        <p:nvPicPr>
          <p:cNvPr id="23" name="Graphique 22" descr="Coche avec un remplissage uni">
            <a:extLst>
              <a:ext uri="{FF2B5EF4-FFF2-40B4-BE49-F238E27FC236}">
                <a16:creationId xmlns:a16="http://schemas.microsoft.com/office/drawing/2014/main" id="{333ACF8B-DB17-4ABF-BC1F-DFDD8827546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400380" y="5078739"/>
            <a:ext cx="291316" cy="291316"/>
          </a:xfrm>
          <a:prstGeom prst="rect">
            <a:avLst/>
          </a:prstGeom>
        </p:spPr>
      </p:pic>
      <p:pic>
        <p:nvPicPr>
          <p:cNvPr id="24" name="Graphique 23" descr="Coche avec un remplissage uni">
            <a:extLst>
              <a:ext uri="{FF2B5EF4-FFF2-40B4-BE49-F238E27FC236}">
                <a16:creationId xmlns:a16="http://schemas.microsoft.com/office/drawing/2014/main" id="{A2A0FED7-CAAB-4112-A3B1-A26E724B7232}"/>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039689" y="4264827"/>
            <a:ext cx="291316" cy="291316"/>
          </a:xfrm>
          <a:prstGeom prst="rect">
            <a:avLst/>
          </a:prstGeom>
        </p:spPr>
      </p:pic>
      <p:pic>
        <p:nvPicPr>
          <p:cNvPr id="25" name="Graphique 24" descr="Coche avec un remplissage uni">
            <a:extLst>
              <a:ext uri="{FF2B5EF4-FFF2-40B4-BE49-F238E27FC236}">
                <a16:creationId xmlns:a16="http://schemas.microsoft.com/office/drawing/2014/main" id="{BA424056-22CD-458B-8D96-0672A09FAEFE}"/>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039689" y="4838469"/>
            <a:ext cx="291316" cy="291316"/>
          </a:xfrm>
          <a:prstGeom prst="rect">
            <a:avLst/>
          </a:prstGeom>
        </p:spPr>
      </p:pic>
      <p:pic>
        <p:nvPicPr>
          <p:cNvPr id="26" name="Graphique 25" descr="Coche avec un remplissage uni">
            <a:extLst>
              <a:ext uri="{FF2B5EF4-FFF2-40B4-BE49-F238E27FC236}">
                <a16:creationId xmlns:a16="http://schemas.microsoft.com/office/drawing/2014/main" id="{AA34CAC6-C305-4093-8B2A-77816C4A5C7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039689" y="3414264"/>
            <a:ext cx="291316" cy="291316"/>
          </a:xfrm>
          <a:prstGeom prst="rect">
            <a:avLst/>
          </a:prstGeom>
        </p:spPr>
      </p:pic>
      <p:pic>
        <p:nvPicPr>
          <p:cNvPr id="27" name="Graphique 26" descr="Coche avec un remplissage uni">
            <a:extLst>
              <a:ext uri="{FF2B5EF4-FFF2-40B4-BE49-F238E27FC236}">
                <a16:creationId xmlns:a16="http://schemas.microsoft.com/office/drawing/2014/main" id="{6D80951F-0DB6-4445-B858-092D0C70B6F7}"/>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016869" y="2850863"/>
            <a:ext cx="291316" cy="291316"/>
          </a:xfrm>
          <a:prstGeom prst="rect">
            <a:avLst/>
          </a:prstGeom>
        </p:spPr>
      </p:pic>
      <p:pic>
        <p:nvPicPr>
          <p:cNvPr id="28" name="Graphique 27" descr="Coche avec un remplissage uni">
            <a:extLst>
              <a:ext uri="{FF2B5EF4-FFF2-40B4-BE49-F238E27FC236}">
                <a16:creationId xmlns:a16="http://schemas.microsoft.com/office/drawing/2014/main" id="{731A767B-8D0A-4469-B38D-A9EA885BB5C7}"/>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029560" y="5475512"/>
            <a:ext cx="291316" cy="291316"/>
          </a:xfrm>
          <a:prstGeom prst="rect">
            <a:avLst/>
          </a:prstGeom>
        </p:spPr>
      </p:pic>
      <p:pic>
        <p:nvPicPr>
          <p:cNvPr id="29" name="Graphique 28" descr="Coche avec un remplissage uni">
            <a:extLst>
              <a:ext uri="{FF2B5EF4-FFF2-40B4-BE49-F238E27FC236}">
                <a16:creationId xmlns:a16="http://schemas.microsoft.com/office/drawing/2014/main" id="{6617AD79-AFDD-4F16-8440-9F4264840DFE}"/>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718123" y="4167884"/>
            <a:ext cx="291316" cy="291316"/>
          </a:xfrm>
          <a:prstGeom prst="rect">
            <a:avLst/>
          </a:prstGeom>
        </p:spPr>
      </p:pic>
      <p:pic>
        <p:nvPicPr>
          <p:cNvPr id="30" name="Graphique 29" descr="Coche avec un remplissage uni">
            <a:extLst>
              <a:ext uri="{FF2B5EF4-FFF2-40B4-BE49-F238E27FC236}">
                <a16:creationId xmlns:a16="http://schemas.microsoft.com/office/drawing/2014/main" id="{E598EDB8-01CE-4DB3-945C-86ADA25B1CE8}"/>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728509" y="3429000"/>
            <a:ext cx="291316" cy="291316"/>
          </a:xfrm>
          <a:prstGeom prst="rect">
            <a:avLst/>
          </a:prstGeom>
        </p:spPr>
      </p:pic>
    </p:spTree>
    <p:extLst>
      <p:ext uri="{BB962C8B-B14F-4D97-AF65-F5344CB8AC3E}">
        <p14:creationId xmlns:p14="http://schemas.microsoft.com/office/powerpoint/2010/main" val="7897108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A7C0156-9EAC-4E07-AF33-3F52F55877BA}"/>
              </a:ext>
            </a:extLst>
          </p:cNvPr>
          <p:cNvSpPr>
            <a:spLocks noGrp="1"/>
          </p:cNvSpPr>
          <p:nvPr>
            <p:ph type="title"/>
          </p:nvPr>
        </p:nvSpPr>
        <p:spPr/>
        <p:txBody>
          <a:bodyPr>
            <a:normAutofit fontScale="90000"/>
          </a:bodyPr>
          <a:lstStyle/>
          <a:p>
            <a:r>
              <a:rPr lang="en-US" dirty="0"/>
              <a:t>Community Booster checklists</a:t>
            </a:r>
            <a:br>
              <a:rPr lang="en-US" dirty="0"/>
            </a:br>
            <a:r>
              <a:rPr lang="en-US" dirty="0"/>
              <a:t>Using the checklists results</a:t>
            </a:r>
          </a:p>
        </p:txBody>
      </p:sp>
      <p:graphicFrame>
        <p:nvGraphicFramePr>
          <p:cNvPr id="6" name="Espace réservé du contenu 5">
            <a:extLst>
              <a:ext uri="{FF2B5EF4-FFF2-40B4-BE49-F238E27FC236}">
                <a16:creationId xmlns:a16="http://schemas.microsoft.com/office/drawing/2014/main" id="{7A5D399D-9A48-4A6F-B5BD-52BAD977BD28}"/>
              </a:ext>
            </a:extLst>
          </p:cNvPr>
          <p:cNvGraphicFramePr>
            <a:graphicFrameLocks noGrp="1"/>
          </p:cNvGraphicFramePr>
          <p:nvPr>
            <p:ph idx="1"/>
            <p:extLst>
              <p:ext uri="{D42A27DB-BD31-4B8C-83A1-F6EECF244321}">
                <p14:modId xmlns:p14="http://schemas.microsoft.com/office/powerpoint/2010/main" val="508666154"/>
              </p:ext>
            </p:extLst>
          </p:nvPr>
        </p:nvGraphicFramePr>
        <p:xfrm>
          <a:off x="0" y="1988190"/>
          <a:ext cx="4353888" cy="3236053"/>
        </p:xfrm>
        <a:graphic>
          <a:graphicData uri="http://schemas.openxmlformats.org/drawingml/2006/chart">
            <c:chart xmlns:c="http://schemas.openxmlformats.org/drawingml/2006/chart" xmlns:r="http://schemas.openxmlformats.org/officeDocument/2006/relationships" r:id="rId2"/>
          </a:graphicData>
        </a:graphic>
      </p:graphicFrame>
      <p:pic>
        <p:nvPicPr>
          <p:cNvPr id="7" name="Image 6">
            <a:extLst>
              <a:ext uri="{FF2B5EF4-FFF2-40B4-BE49-F238E27FC236}">
                <a16:creationId xmlns:a16="http://schemas.microsoft.com/office/drawing/2014/main" id="{65F8DC5D-A17B-4BA4-9BC1-B83D92C8D83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11549" y="4870873"/>
            <a:ext cx="613344" cy="613344"/>
          </a:xfrm>
          <a:prstGeom prst="rect">
            <a:avLst/>
          </a:prstGeom>
        </p:spPr>
      </p:pic>
      <p:graphicFrame>
        <p:nvGraphicFramePr>
          <p:cNvPr id="8" name="Espace réservé du contenu 5">
            <a:extLst>
              <a:ext uri="{FF2B5EF4-FFF2-40B4-BE49-F238E27FC236}">
                <a16:creationId xmlns:a16="http://schemas.microsoft.com/office/drawing/2014/main" id="{5B22A7DE-B804-4DFD-8161-8042A6E9078A}"/>
              </a:ext>
            </a:extLst>
          </p:cNvPr>
          <p:cNvGraphicFramePr>
            <a:graphicFrameLocks/>
          </p:cNvGraphicFramePr>
          <p:nvPr>
            <p:extLst>
              <p:ext uri="{D42A27DB-BD31-4B8C-83A1-F6EECF244321}">
                <p14:modId xmlns:p14="http://schemas.microsoft.com/office/powerpoint/2010/main" val="2596064589"/>
              </p:ext>
            </p:extLst>
          </p:nvPr>
        </p:nvGraphicFramePr>
        <p:xfrm>
          <a:off x="3782869" y="1988190"/>
          <a:ext cx="4353888" cy="3236053"/>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0" name="Tableau 10">
            <a:extLst>
              <a:ext uri="{FF2B5EF4-FFF2-40B4-BE49-F238E27FC236}">
                <a16:creationId xmlns:a16="http://schemas.microsoft.com/office/drawing/2014/main" id="{FF62A6CA-F812-4B32-B45A-9A54482E6CD7}"/>
              </a:ext>
            </a:extLst>
          </p:cNvPr>
          <p:cNvGraphicFramePr>
            <a:graphicFrameLocks noGrp="1"/>
          </p:cNvGraphicFramePr>
          <p:nvPr>
            <p:extLst>
              <p:ext uri="{D42A27DB-BD31-4B8C-83A1-F6EECF244321}">
                <p14:modId xmlns:p14="http://schemas.microsoft.com/office/powerpoint/2010/main" val="1098227817"/>
              </p:ext>
            </p:extLst>
          </p:nvPr>
        </p:nvGraphicFramePr>
        <p:xfrm>
          <a:off x="8254202" y="2294613"/>
          <a:ext cx="3788641" cy="3794902"/>
        </p:xfrm>
        <a:graphic>
          <a:graphicData uri="http://schemas.openxmlformats.org/drawingml/2006/table">
            <a:tbl>
              <a:tblPr firstRow="1" bandRow="1">
                <a:tableStyleId>{5C22544A-7EE6-4342-B048-85BDC9FD1C3A}</a:tableStyleId>
              </a:tblPr>
              <a:tblGrid>
                <a:gridCol w="1371283">
                  <a:extLst>
                    <a:ext uri="{9D8B030D-6E8A-4147-A177-3AD203B41FA5}">
                      <a16:colId xmlns:a16="http://schemas.microsoft.com/office/drawing/2014/main" val="1904663190"/>
                    </a:ext>
                  </a:extLst>
                </a:gridCol>
                <a:gridCol w="2417358">
                  <a:extLst>
                    <a:ext uri="{9D8B030D-6E8A-4147-A177-3AD203B41FA5}">
                      <a16:colId xmlns:a16="http://schemas.microsoft.com/office/drawing/2014/main" val="1784215831"/>
                    </a:ext>
                  </a:extLst>
                </a:gridCol>
              </a:tblGrid>
              <a:tr h="968646">
                <a:tc>
                  <a:txBody>
                    <a:bodyPr/>
                    <a:lstStyle/>
                    <a:p>
                      <a:r>
                        <a:rPr lang="en-US" sz="1400" dirty="0"/>
                        <a:t>Candidate or future Community Booster</a:t>
                      </a:r>
                    </a:p>
                  </a:txBody>
                  <a:tcPr/>
                </a:tc>
                <a:tc>
                  <a:txBody>
                    <a:bodyPr/>
                    <a:lstStyle/>
                    <a:p>
                      <a:r>
                        <a:rPr lang="en-US" sz="1400"/>
                        <a:t>Next moves / actions</a:t>
                      </a:r>
                    </a:p>
                  </a:txBody>
                  <a:tcPr/>
                </a:tc>
                <a:extLst>
                  <a:ext uri="{0D108BD9-81ED-4DB2-BD59-A6C34878D82A}">
                    <a16:rowId xmlns:a16="http://schemas.microsoft.com/office/drawing/2014/main" val="2300183022"/>
                  </a:ext>
                </a:extLst>
              </a:tr>
              <a:tr h="1413128">
                <a:tc>
                  <a:txBody>
                    <a:bodyPr/>
                    <a:lstStyle/>
                    <a:p>
                      <a:r>
                        <a:rPr lang="en-US" sz="1200"/>
                        <a:t>Rick</a:t>
                      </a:r>
                    </a:p>
                  </a:txBody>
                  <a:tcPr/>
                </a:tc>
                <a:tc>
                  <a:txBody>
                    <a:bodyPr/>
                    <a:lstStyle/>
                    <a:p>
                      <a:pPr marL="342900" indent="-342900">
                        <a:buFont typeface="+mj-lt"/>
                        <a:buAutoNum type="arabicPeriod"/>
                      </a:pPr>
                      <a:r>
                        <a:rPr lang="en-US" sz="1200" b="1"/>
                        <a:t>🎖️Achievements : </a:t>
                      </a:r>
                      <a:r>
                        <a:rPr lang="en-US" sz="1200"/>
                        <a:t>Identify deeds to perform for the Community</a:t>
                      </a: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lang="en-US" sz="1200" b="1"/>
                        <a:t>⌛Resources and capacity : </a:t>
                      </a:r>
                      <a:r>
                        <a:rPr lang="en-US" sz="1200"/>
                        <a:t>Negotiate with manager for availabilities to ramp-up </a:t>
                      </a:r>
                    </a:p>
                  </a:txBody>
                  <a:tcPr/>
                </a:tc>
                <a:extLst>
                  <a:ext uri="{0D108BD9-81ED-4DB2-BD59-A6C34878D82A}">
                    <a16:rowId xmlns:a16="http://schemas.microsoft.com/office/drawing/2014/main" val="1747710672"/>
                  </a:ext>
                </a:extLst>
              </a:tr>
              <a:tr h="1413128">
                <a:tc>
                  <a:txBody>
                    <a:bodyPr/>
                    <a:lstStyle/>
                    <a:p>
                      <a:r>
                        <a:rPr lang="en-US" sz="1200"/>
                        <a:t>Donna</a:t>
                      </a:r>
                    </a:p>
                  </a:txBody>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mj-lt"/>
                        <a:buAutoNum type="arabicPeriod"/>
                        <a:tabLst/>
                        <a:defRPr/>
                      </a:pPr>
                      <a:r>
                        <a:rPr lang="en-US" sz="1200" b="1" dirty="0"/>
                        <a:t>🔥Skills : </a:t>
                      </a:r>
                      <a:r>
                        <a:rPr lang="en-US" sz="1200" dirty="0"/>
                        <a:t>Organize training on Community Canvas</a:t>
                      </a:r>
                    </a:p>
                    <a:p>
                      <a:pPr marL="285750" indent="-285750">
                        <a:buFont typeface="+mj-lt"/>
                        <a:buAutoNum type="arabicPeriod"/>
                      </a:pPr>
                      <a:r>
                        <a:rPr lang="en-US" sz="1200" b="1" dirty="0"/>
                        <a:t>👍 Current position &amp; recognition : </a:t>
                      </a:r>
                      <a:r>
                        <a:rPr lang="en-US" sz="1200" dirty="0"/>
                        <a:t>Officialize her role as a Community Booster trainee</a:t>
                      </a:r>
                    </a:p>
                  </a:txBody>
                  <a:tcPr/>
                </a:tc>
                <a:extLst>
                  <a:ext uri="{0D108BD9-81ED-4DB2-BD59-A6C34878D82A}">
                    <a16:rowId xmlns:a16="http://schemas.microsoft.com/office/drawing/2014/main" val="2845435519"/>
                  </a:ext>
                </a:extLst>
              </a:tr>
            </a:tbl>
          </a:graphicData>
        </a:graphic>
      </p:graphicFrame>
      <p:pic>
        <p:nvPicPr>
          <p:cNvPr id="11" name="Image 10" descr="Une image contenant personne, femme, herbe, extérieur&#10;&#10;Description générée automatiquement">
            <a:extLst>
              <a:ext uri="{FF2B5EF4-FFF2-40B4-BE49-F238E27FC236}">
                <a16:creationId xmlns:a16="http://schemas.microsoft.com/office/drawing/2014/main" id="{8B37624B-7B4E-4F8F-AFB3-114D0E0C337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711864" y="4917571"/>
            <a:ext cx="613344" cy="613344"/>
          </a:xfrm>
          <a:prstGeom prst="rect">
            <a:avLst/>
          </a:prstGeom>
        </p:spPr>
      </p:pic>
      <p:pic>
        <p:nvPicPr>
          <p:cNvPr id="9" name="Image 8">
            <a:extLst>
              <a:ext uri="{FF2B5EF4-FFF2-40B4-BE49-F238E27FC236}">
                <a16:creationId xmlns:a16="http://schemas.microsoft.com/office/drawing/2014/main" id="{740EA120-4C0A-4970-B7F4-0D9B7A9886B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504179" y="3655344"/>
            <a:ext cx="613344" cy="613344"/>
          </a:xfrm>
          <a:prstGeom prst="rect">
            <a:avLst/>
          </a:prstGeom>
        </p:spPr>
      </p:pic>
      <p:pic>
        <p:nvPicPr>
          <p:cNvPr id="12" name="Image 11" descr="Une image contenant personne, femme, herbe, extérieur&#10;&#10;Description générée automatiquement">
            <a:extLst>
              <a:ext uri="{FF2B5EF4-FFF2-40B4-BE49-F238E27FC236}">
                <a16:creationId xmlns:a16="http://schemas.microsoft.com/office/drawing/2014/main" id="{95865948-2C03-42C6-95C7-2DBB28E5CC5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521106" y="5016075"/>
            <a:ext cx="613344" cy="613344"/>
          </a:xfrm>
          <a:prstGeom prst="rect">
            <a:avLst/>
          </a:prstGeom>
        </p:spPr>
      </p:pic>
      <p:sp>
        <p:nvSpPr>
          <p:cNvPr id="13" name="Espace réservé du contenu 2">
            <a:extLst>
              <a:ext uri="{FF2B5EF4-FFF2-40B4-BE49-F238E27FC236}">
                <a16:creationId xmlns:a16="http://schemas.microsoft.com/office/drawing/2014/main" id="{41E7198A-A842-4390-9D82-9E2E9EFB43E6}"/>
              </a:ext>
            </a:extLst>
          </p:cNvPr>
          <p:cNvSpPr txBox="1">
            <a:spLocks/>
          </p:cNvSpPr>
          <p:nvPr/>
        </p:nvSpPr>
        <p:spPr>
          <a:xfrm>
            <a:off x="625812" y="5615568"/>
            <a:ext cx="2769141" cy="1058650"/>
          </a:xfrm>
          <a:prstGeom prst="rect">
            <a:avLst/>
          </a:prstGeom>
        </p:spPr>
        <p:txBody>
          <a:bodyPr vert="horz" lIns="91440" tIns="45720" rIns="91440" bIns="45720" rtlCol="0">
            <a:no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200"/>
              <a:t>Rick is skilled and recognized as a potential leader but has a low availability and has not achieved anything significant for the Community yet. </a:t>
            </a:r>
          </a:p>
        </p:txBody>
      </p:sp>
      <p:sp>
        <p:nvSpPr>
          <p:cNvPr id="14" name="Espace réservé du contenu 2">
            <a:extLst>
              <a:ext uri="{FF2B5EF4-FFF2-40B4-BE49-F238E27FC236}">
                <a16:creationId xmlns:a16="http://schemas.microsoft.com/office/drawing/2014/main" id="{143F1F12-02A7-4CE0-935A-B527B7326EF4}"/>
              </a:ext>
            </a:extLst>
          </p:cNvPr>
          <p:cNvSpPr txBox="1">
            <a:spLocks/>
          </p:cNvSpPr>
          <p:nvPr/>
        </p:nvSpPr>
        <p:spPr>
          <a:xfrm>
            <a:off x="4488050" y="5615568"/>
            <a:ext cx="3060971" cy="1058650"/>
          </a:xfrm>
          <a:prstGeom prst="rect">
            <a:avLst/>
          </a:prstGeom>
        </p:spPr>
        <p:txBody>
          <a:bodyPr vert="horz" lIns="91440" tIns="45720" rIns="91440" bIns="45720" rtlCol="0">
            <a:no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200"/>
              <a:t>Donna is motivated and has already contributed to the Community. She also has time to ramp-up. However, she lacks official recognition for the moment and skills for a future position.</a:t>
            </a:r>
          </a:p>
        </p:txBody>
      </p:sp>
    </p:spTree>
    <p:extLst>
      <p:ext uri="{BB962C8B-B14F-4D97-AF65-F5344CB8AC3E}">
        <p14:creationId xmlns:p14="http://schemas.microsoft.com/office/powerpoint/2010/main" val="31658855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re 8">
            <a:extLst>
              <a:ext uri="{FF2B5EF4-FFF2-40B4-BE49-F238E27FC236}">
                <a16:creationId xmlns:a16="http://schemas.microsoft.com/office/drawing/2014/main" id="{45F34BB8-882F-2977-DF90-3AF514EEBF70}"/>
              </a:ext>
            </a:extLst>
          </p:cNvPr>
          <p:cNvSpPr>
            <a:spLocks noGrp="1"/>
          </p:cNvSpPr>
          <p:nvPr>
            <p:ph type="title"/>
          </p:nvPr>
        </p:nvSpPr>
        <p:spPr/>
        <p:txBody>
          <a:bodyPr>
            <a:normAutofit fontScale="90000"/>
          </a:bodyPr>
          <a:lstStyle/>
          <a:p>
            <a:r>
              <a:rPr lang="en-US" dirty="0"/>
              <a:t>Community Boosters Checklists as a workshop for Subcommunities boosters</a:t>
            </a:r>
          </a:p>
        </p:txBody>
      </p:sp>
      <p:sp>
        <p:nvSpPr>
          <p:cNvPr id="10" name="Espace réservé du contenu 9">
            <a:extLst>
              <a:ext uri="{FF2B5EF4-FFF2-40B4-BE49-F238E27FC236}">
                <a16:creationId xmlns:a16="http://schemas.microsoft.com/office/drawing/2014/main" id="{CA6FB32C-FCD4-AC27-AFA2-C30DF2D7F45B}"/>
              </a:ext>
            </a:extLst>
          </p:cNvPr>
          <p:cNvSpPr>
            <a:spLocks noGrp="1"/>
          </p:cNvSpPr>
          <p:nvPr>
            <p:ph idx="1"/>
          </p:nvPr>
        </p:nvSpPr>
        <p:spPr/>
        <p:txBody>
          <a:bodyPr>
            <a:normAutofit fontScale="70000" lnSpcReduction="20000"/>
          </a:bodyPr>
          <a:lstStyle/>
          <a:p>
            <a:r>
              <a:rPr lang="en-US" sz="2800" dirty="0"/>
              <a:t>There can be various uses of this checklist, only one of them will be described in this document.</a:t>
            </a:r>
          </a:p>
          <a:p>
            <a:endParaRPr lang="en-US" dirty="0"/>
          </a:p>
          <a:p>
            <a:r>
              <a:rPr lang="en-US" dirty="0"/>
              <a:t>The following slides describe how a Community booster, along with sponsors and decision makers, can organize a workshop to assess together </a:t>
            </a:r>
          </a:p>
          <a:p>
            <a:pPr lvl="1"/>
            <a:r>
              <a:rPr lang="en-US" dirty="0"/>
              <a:t>WHO would be the best candidates to become a Subcommunity Booster (Community Booster of a subcommunity).</a:t>
            </a:r>
          </a:p>
          <a:p>
            <a:pPr lvl="1"/>
            <a:r>
              <a:rPr lang="en-US" dirty="0"/>
              <a:t>HOW to help them assume the roles given their assessment</a:t>
            </a:r>
          </a:p>
          <a:p>
            <a:pPr lvl="1"/>
            <a:r>
              <a:rPr lang="en-US" dirty="0"/>
              <a:t>The workshop described here fits the phase 3 of the 5-phase Community Development model in #OpenSeriousCommunity</a:t>
            </a:r>
          </a:p>
          <a:p>
            <a:pPr lvl="1"/>
            <a:r>
              <a:rPr lang="en-US" dirty="0"/>
              <a:t>In the checklist, feel free to adjust the word “Community” and change it to “Subcommunity” if you plan to pick profiles for subcommunities boosters</a:t>
            </a:r>
          </a:p>
          <a:p>
            <a:pPr marL="0" indent="0">
              <a:buNone/>
            </a:pPr>
            <a:endParaRPr lang="en-US" dirty="0"/>
          </a:p>
        </p:txBody>
      </p:sp>
    </p:spTree>
    <p:extLst>
      <p:ext uri="{BB962C8B-B14F-4D97-AF65-F5344CB8AC3E}">
        <p14:creationId xmlns:p14="http://schemas.microsoft.com/office/powerpoint/2010/main" val="21761628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EC45EC8-0CA8-4F50-B79E-7B5F658CF734}"/>
              </a:ext>
            </a:extLst>
          </p:cNvPr>
          <p:cNvSpPr>
            <a:spLocks noGrp="1"/>
          </p:cNvSpPr>
          <p:nvPr>
            <p:ph type="title"/>
          </p:nvPr>
        </p:nvSpPr>
        <p:spPr/>
        <p:txBody>
          <a:bodyPr/>
          <a:lstStyle/>
          <a:p>
            <a:r>
              <a:rPr lang="en-US" dirty="0"/>
              <a:t>This workshop is an </a:t>
            </a:r>
            <a:r>
              <a:rPr lang="en-US" b="1" dirty="0"/>
              <a:t>#</a:t>
            </a:r>
            <a:r>
              <a:rPr lang="en-US" b="1" dirty="0">
                <a:solidFill>
                  <a:srgbClr val="ED7D31"/>
                </a:solidFill>
              </a:rPr>
              <a:t>Open</a:t>
            </a:r>
            <a:r>
              <a:rPr lang="en-US" b="1" dirty="0">
                <a:solidFill>
                  <a:srgbClr val="0683AA"/>
                </a:solidFill>
              </a:rPr>
              <a:t>Serious</a:t>
            </a:r>
            <a:r>
              <a:rPr lang="en-US" b="1" dirty="0">
                <a:solidFill>
                  <a:srgbClr val="ED7D31"/>
                </a:solidFill>
              </a:rPr>
              <a:t>Game</a:t>
            </a:r>
            <a:endParaRPr lang="en-US" dirty="0"/>
          </a:p>
        </p:txBody>
      </p:sp>
      <p:sp>
        <p:nvSpPr>
          <p:cNvPr id="3" name="Espace réservé du contenu 2">
            <a:extLst>
              <a:ext uri="{FF2B5EF4-FFF2-40B4-BE49-F238E27FC236}">
                <a16:creationId xmlns:a16="http://schemas.microsoft.com/office/drawing/2014/main" id="{9121A52E-EB2B-4E34-8070-8BCF5D5ECAFC}"/>
              </a:ext>
            </a:extLst>
          </p:cNvPr>
          <p:cNvSpPr>
            <a:spLocks noGrp="1"/>
          </p:cNvSpPr>
          <p:nvPr>
            <p:ph idx="1"/>
          </p:nvPr>
        </p:nvSpPr>
        <p:spPr>
          <a:xfrm>
            <a:off x="1841874" y="2141537"/>
            <a:ext cx="5438313" cy="4351338"/>
          </a:xfrm>
        </p:spPr>
        <p:txBody>
          <a:bodyPr>
            <a:normAutofit lnSpcReduction="10000"/>
          </a:bodyPr>
          <a:lstStyle/>
          <a:p>
            <a:pPr marL="0" indent="0">
              <a:buNone/>
            </a:pPr>
            <a:r>
              <a:rPr lang="en-US" sz="2400" i="1" dirty="0"/>
              <a:t>It is made so that you can host and share it after discovering it as a participant</a:t>
            </a:r>
          </a:p>
          <a:p>
            <a:pPr marL="0" indent="0">
              <a:buNone/>
            </a:pPr>
            <a:r>
              <a:rPr lang="en-US" sz="2400" i="1" dirty="0"/>
              <a:t>
All the material to promote, animate, adapt, create variants is at your disposal.</a:t>
            </a:r>
          </a:p>
          <a:p>
            <a:pPr marL="0" indent="0">
              <a:buNone/>
            </a:pPr>
            <a:r>
              <a:rPr lang="en-US" sz="2400" i="1" dirty="0"/>
              <a:t>
One day, it will be up to you to transfer knowledge !</a:t>
            </a:r>
          </a:p>
        </p:txBody>
      </p:sp>
      <p:pic>
        <p:nvPicPr>
          <p:cNvPr id="4" name="Image 3">
            <a:extLst>
              <a:ext uri="{FF2B5EF4-FFF2-40B4-BE49-F238E27FC236}">
                <a16:creationId xmlns:a16="http://schemas.microsoft.com/office/drawing/2014/main" id="{04501FF5-50FB-4835-AC38-DE7060AC851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60400" y="2141537"/>
            <a:ext cx="4029321" cy="3887109"/>
          </a:xfrm>
          <a:prstGeom prst="rect">
            <a:avLst/>
          </a:prstGeom>
        </p:spPr>
      </p:pic>
      <p:pic>
        <p:nvPicPr>
          <p:cNvPr id="5" name="Graphique 4" descr="Femme portant un tailleur">
            <a:extLst>
              <a:ext uri="{FF2B5EF4-FFF2-40B4-BE49-F238E27FC236}">
                <a16:creationId xmlns:a16="http://schemas.microsoft.com/office/drawing/2014/main" id="{DA552F60-FAB3-4211-A258-9976D20A0AB9}"/>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b="54187"/>
          <a:stretch/>
        </p:blipFill>
        <p:spPr>
          <a:xfrm flipH="1">
            <a:off x="221942" y="1755495"/>
            <a:ext cx="1388293" cy="1217493"/>
          </a:xfrm>
          <a:prstGeom prst="rect">
            <a:avLst/>
          </a:prstGeom>
        </p:spPr>
      </p:pic>
      <p:pic>
        <p:nvPicPr>
          <p:cNvPr id="7" name="Graphique 6" descr="Globe terrestre : Europe et Afrique avec un remplissage uni">
            <a:extLst>
              <a:ext uri="{FF2B5EF4-FFF2-40B4-BE49-F238E27FC236}">
                <a16:creationId xmlns:a16="http://schemas.microsoft.com/office/drawing/2014/main" id="{BF9A0F6D-29FD-4474-81EC-A8C8D83DF808}"/>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18924" y="5261395"/>
            <a:ext cx="1608546" cy="1608546"/>
          </a:xfrm>
          <a:prstGeom prst="rect">
            <a:avLst/>
          </a:prstGeom>
        </p:spPr>
      </p:pic>
      <p:pic>
        <p:nvPicPr>
          <p:cNvPr id="9" name="Graphique 8" descr="Plan avec un remplissage uni">
            <a:extLst>
              <a:ext uri="{FF2B5EF4-FFF2-40B4-BE49-F238E27FC236}">
                <a16:creationId xmlns:a16="http://schemas.microsoft.com/office/drawing/2014/main" id="{03573D61-78B1-42D7-9CFC-A0D32179E4BF}"/>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346229" y="3719920"/>
            <a:ext cx="1379826" cy="1379826"/>
          </a:xfrm>
          <a:prstGeom prst="rect">
            <a:avLst/>
          </a:prstGeom>
        </p:spPr>
      </p:pic>
    </p:spTree>
    <p:extLst>
      <p:ext uri="{BB962C8B-B14F-4D97-AF65-F5344CB8AC3E}">
        <p14:creationId xmlns:p14="http://schemas.microsoft.com/office/powerpoint/2010/main" val="33571813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4FD8270-C5BD-4C95-919E-846BFBD95020}"/>
              </a:ext>
            </a:extLst>
          </p:cNvPr>
          <p:cNvSpPr>
            <a:spLocks noGrp="1"/>
          </p:cNvSpPr>
          <p:nvPr>
            <p:ph type="title"/>
          </p:nvPr>
        </p:nvSpPr>
        <p:spPr/>
        <p:txBody>
          <a:bodyPr/>
          <a:lstStyle/>
          <a:p>
            <a:r>
              <a:rPr lang="en-US" dirty="0"/>
              <a:t>How Community Boosters Checklists is conducted</a:t>
            </a:r>
          </a:p>
        </p:txBody>
      </p:sp>
      <p:sp>
        <p:nvSpPr>
          <p:cNvPr id="23" name="Flèche : droite 22">
            <a:extLst>
              <a:ext uri="{FF2B5EF4-FFF2-40B4-BE49-F238E27FC236}">
                <a16:creationId xmlns:a16="http://schemas.microsoft.com/office/drawing/2014/main" id="{011DBE07-86F4-4C26-89A1-335718E27CF9}"/>
              </a:ext>
            </a:extLst>
          </p:cNvPr>
          <p:cNvSpPr/>
          <p:nvPr/>
        </p:nvSpPr>
        <p:spPr>
          <a:xfrm>
            <a:off x="217648" y="1061788"/>
            <a:ext cx="11864862" cy="5598155"/>
          </a:xfrm>
          <a:prstGeom prst="rightArrow">
            <a:avLst>
              <a:gd name="adj1" fmla="val 82034"/>
              <a:gd name="adj2" fmla="val 25308"/>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4" name="Tableau 4">
            <a:extLst>
              <a:ext uri="{FF2B5EF4-FFF2-40B4-BE49-F238E27FC236}">
                <a16:creationId xmlns:a16="http://schemas.microsoft.com/office/drawing/2014/main" id="{17FF7068-AC52-408E-AEE7-AF6B0F4F73FA}"/>
              </a:ext>
            </a:extLst>
          </p:cNvPr>
          <p:cNvGraphicFramePr>
            <a:graphicFrameLocks/>
          </p:cNvGraphicFramePr>
          <p:nvPr>
            <p:extLst>
              <p:ext uri="{D42A27DB-BD31-4B8C-83A1-F6EECF244321}">
                <p14:modId xmlns:p14="http://schemas.microsoft.com/office/powerpoint/2010/main" val="2642725588"/>
              </p:ext>
            </p:extLst>
          </p:nvPr>
        </p:nvGraphicFramePr>
        <p:xfrm>
          <a:off x="217646" y="1603540"/>
          <a:ext cx="10421855" cy="5187582"/>
        </p:xfrm>
        <a:graphic>
          <a:graphicData uri="http://schemas.openxmlformats.org/drawingml/2006/table">
            <a:tbl>
              <a:tblPr firstRow="1" bandRow="1">
                <a:tableStyleId>{5C22544A-7EE6-4342-B048-85BDC9FD1C3A}</a:tableStyleId>
              </a:tblPr>
              <a:tblGrid>
                <a:gridCol w="1796089">
                  <a:extLst>
                    <a:ext uri="{9D8B030D-6E8A-4147-A177-3AD203B41FA5}">
                      <a16:colId xmlns:a16="http://schemas.microsoft.com/office/drawing/2014/main" val="1302591909"/>
                    </a:ext>
                  </a:extLst>
                </a:gridCol>
                <a:gridCol w="6873411">
                  <a:extLst>
                    <a:ext uri="{9D8B030D-6E8A-4147-A177-3AD203B41FA5}">
                      <a16:colId xmlns:a16="http://schemas.microsoft.com/office/drawing/2014/main" val="1572267126"/>
                    </a:ext>
                  </a:extLst>
                </a:gridCol>
                <a:gridCol w="1752355">
                  <a:extLst>
                    <a:ext uri="{9D8B030D-6E8A-4147-A177-3AD203B41FA5}">
                      <a16:colId xmlns:a16="http://schemas.microsoft.com/office/drawing/2014/main" val="4222483745"/>
                    </a:ext>
                  </a:extLst>
                </a:gridCol>
              </a:tblGrid>
              <a:tr h="828942">
                <a:tc>
                  <a:txBody>
                    <a:bodyPr/>
                    <a:lstStyle/>
                    <a:p>
                      <a:r>
                        <a:rPr lang="en-US" sz="1400" noProof="0"/>
                        <a:t>Workshop Preparation</a:t>
                      </a:r>
                    </a:p>
                  </a:txBody>
                  <a:tcPr/>
                </a:tc>
                <a:tc>
                  <a:txBody>
                    <a:bodyPr/>
                    <a:lstStyle/>
                    <a:p>
                      <a:pPr algn="ctr"/>
                      <a:r>
                        <a:rPr lang="en-US" sz="1400" noProof="0"/>
                        <a:t>Steps</a:t>
                      </a:r>
                    </a:p>
                    <a:p>
                      <a:pPr algn="ctr"/>
                      <a:r>
                        <a:rPr lang="en-US" sz="1400" noProof="0"/>
                        <a:t>Rules of the Workshop, Narrative</a:t>
                      </a:r>
                    </a:p>
                  </a:txBody>
                  <a:tcPr/>
                </a:tc>
                <a:tc>
                  <a:txBody>
                    <a:bodyPr/>
                    <a:lstStyle/>
                    <a:p>
                      <a:r>
                        <a:rPr lang="en-US" sz="1400" noProof="0"/>
                        <a:t>Closing :</a:t>
                      </a:r>
                    </a:p>
                    <a:p>
                      <a:r>
                        <a:rPr lang="en-US" sz="1400" noProof="0"/>
                        <a:t>Debriefing, Thanking, …</a:t>
                      </a:r>
                    </a:p>
                  </a:txBody>
                  <a:tcPr/>
                </a:tc>
                <a:extLst>
                  <a:ext uri="{0D108BD9-81ED-4DB2-BD59-A6C34878D82A}">
                    <a16:rowId xmlns:a16="http://schemas.microsoft.com/office/drawing/2014/main" val="1724558119"/>
                  </a:ext>
                </a:extLst>
              </a:tr>
              <a:tr h="3521451">
                <a:tc>
                  <a:txBody>
                    <a:bodyPr/>
                    <a:lstStyle/>
                    <a:p>
                      <a:r>
                        <a:rPr lang="en-US" sz="1400" noProof="0" dirty="0"/>
                        <a:t>Adjust the «Community Boosters Checklists » to the specificities of your own context (add, change or remove criteria, change points, etc.)</a:t>
                      </a:r>
                    </a:p>
                    <a:p>
                      <a:endParaRPr lang="en-US" sz="1400" noProof="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400" noProof="0" dirty="0"/>
                        <a:t>List members that would be likely to become subcommunity boosters. (Should be less than 5, ideally 3)</a:t>
                      </a:r>
                    </a:p>
                    <a:p>
                      <a:endParaRPr lang="en-US" sz="1400" noProof="0" dirty="0"/>
                    </a:p>
                    <a:p>
                      <a:endParaRPr lang="en-US" sz="1400" noProof="0" dirty="0"/>
                    </a:p>
                  </a:txBody>
                  <a:tcPr/>
                </a:tc>
                <a:tc>
                  <a:txBody>
                    <a:bodyPr/>
                    <a:lstStyle/>
                    <a:p>
                      <a:r>
                        <a:rPr lang="en-US" sz="1400" noProof="0" dirty="0"/>
                        <a:t>10 min</a:t>
                      </a:r>
                    </a:p>
                    <a:p>
                      <a:r>
                        <a:rPr lang="en-US" sz="1400" b="1" noProof="0" dirty="0"/>
                        <a:t>Part 1 Sharing the list of Candidates</a:t>
                      </a:r>
                    </a:p>
                    <a:p>
                      <a:r>
                        <a:rPr lang="en-US" sz="1400" noProof="0" dirty="0"/>
                        <a:t>(can be performed before the workshop) Present members that would be likely to become subcommunity boosters. Workshop is likely to be more productive if participants know these members. Members do not have to participate, and it is possible)</a:t>
                      </a:r>
                    </a:p>
                    <a:p>
                      <a:endParaRPr lang="en-US" sz="1400" noProof="0" dirty="0"/>
                    </a:p>
                    <a:p>
                      <a:r>
                        <a:rPr lang="en-US" sz="1400" noProof="0" dirty="0"/>
                        <a:t>10 min / candidate</a:t>
                      </a:r>
                    </a:p>
                    <a:p>
                      <a:r>
                        <a:rPr lang="en-US" sz="1400" b="1" noProof="0" dirty="0"/>
                        <a:t>Part 2 Assessing Candidates (one profile at a time)</a:t>
                      </a:r>
                    </a:p>
                    <a:p>
                      <a:r>
                        <a:rPr lang="en-US" sz="1400" b="0" noProof="0" dirty="0"/>
                        <a:t>Starting with one profile, assess a candidate using the Checklist</a:t>
                      </a:r>
                    </a:p>
                    <a:p>
                      <a:endParaRPr lang="en-US" sz="1400" b="0" noProof="0" dirty="0"/>
                    </a:p>
                    <a:p>
                      <a:r>
                        <a:rPr lang="en-US" sz="1400" b="0" noProof="0" dirty="0"/>
                        <a:t>5 min</a:t>
                      </a:r>
                    </a:p>
                    <a:p>
                      <a:r>
                        <a:rPr lang="en-US" sz="1400" b="1" noProof="0" dirty="0"/>
                        <a:t>Part 3 Selecting the top candidates for next steps</a:t>
                      </a:r>
                    </a:p>
                    <a:p>
                      <a:r>
                        <a:rPr lang="en-US" sz="1400" b="0" noProof="0" dirty="0"/>
                        <a:t>Based on points and other information, select the top candidates for next steps (training, coaching, position changing, resource allocation, etc.)</a:t>
                      </a:r>
                    </a:p>
                    <a:p>
                      <a:endParaRPr lang="en-US" sz="1400" b="0" noProof="0" dirty="0"/>
                    </a:p>
                    <a:p>
                      <a:r>
                        <a:rPr lang="en-US" sz="1400" b="0" noProof="0" dirty="0"/>
                        <a:t>10 min</a:t>
                      </a:r>
                    </a:p>
                    <a:p>
                      <a:r>
                        <a:rPr lang="en-US" sz="1400" b="1" noProof="0" dirty="0"/>
                        <a:t>Part 4 Brainstorm on the next steps</a:t>
                      </a:r>
                    </a:p>
                    <a:p>
                      <a:r>
                        <a:rPr lang="en-US" sz="1400" b="0" noProof="0" dirty="0"/>
                        <a:t>For the selected candidates, define the next steps, category by category (intention, resources &amp; capacity, etc.)</a:t>
                      </a:r>
                    </a:p>
                  </a:txBody>
                  <a:tcPr/>
                </a:tc>
                <a:tc>
                  <a:txBody>
                    <a:bodyPr/>
                    <a:lstStyle/>
                    <a:p>
                      <a:r>
                        <a:rPr lang="en-US" sz="1400" noProof="0" dirty="0"/>
                        <a:t>10 minutes</a:t>
                      </a:r>
                    </a:p>
                    <a:p>
                      <a:r>
                        <a:rPr lang="en-US" sz="1400" b="1" noProof="0" dirty="0"/>
                        <a:t>Discussing follow-up of actions</a:t>
                      </a:r>
                    </a:p>
                    <a:p>
                      <a:r>
                        <a:rPr lang="en-US" sz="1400" b="0" noProof="0" dirty="0"/>
                        <a:t>Discuss together how actions of improvement will be performed and followed-up</a:t>
                      </a:r>
                    </a:p>
                  </a:txBody>
                  <a:tcPr/>
                </a:tc>
                <a:extLst>
                  <a:ext uri="{0D108BD9-81ED-4DB2-BD59-A6C34878D82A}">
                    <a16:rowId xmlns:a16="http://schemas.microsoft.com/office/drawing/2014/main" val="215570386"/>
                  </a:ext>
                </a:extLst>
              </a:tr>
            </a:tbl>
          </a:graphicData>
        </a:graphic>
      </p:graphicFrame>
      <p:sp>
        <p:nvSpPr>
          <p:cNvPr id="25" name="Espace réservé du contenu 2">
            <a:extLst>
              <a:ext uri="{FF2B5EF4-FFF2-40B4-BE49-F238E27FC236}">
                <a16:creationId xmlns:a16="http://schemas.microsoft.com/office/drawing/2014/main" id="{767E15B1-5AD7-4AC2-8DA6-38450253D5A6}"/>
              </a:ext>
            </a:extLst>
          </p:cNvPr>
          <p:cNvSpPr txBox="1">
            <a:spLocks/>
          </p:cNvSpPr>
          <p:nvPr/>
        </p:nvSpPr>
        <p:spPr>
          <a:xfrm>
            <a:off x="10829133" y="3440301"/>
            <a:ext cx="1145220" cy="1015275"/>
          </a:xfrm>
          <a:prstGeom prst="rect">
            <a:avLst/>
          </a:prstGeom>
        </p:spPr>
        <p:txBody>
          <a:bodyPr vert="horz" lIns="91440" tIns="45720" rIns="91440" bIns="45720" rtlCol="0" anchor="t">
            <a:normAutofit fontScale="5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2000" b="1" dirty="0">
                <a:solidFill>
                  <a:srgbClr val="000000"/>
                </a:solidFill>
                <a:cs typeface="Calibri"/>
              </a:rPr>
              <a:t>Total :</a:t>
            </a:r>
          </a:p>
          <a:p>
            <a:pPr marL="0" indent="0" algn="ctr">
              <a:buFont typeface="Arial" panose="020B0604020202020204" pitchFamily="34" charset="0"/>
              <a:buNone/>
            </a:pPr>
            <a:r>
              <a:rPr lang="en-US" sz="2000" b="1" dirty="0">
                <a:solidFill>
                  <a:srgbClr val="000000"/>
                </a:solidFill>
                <a:cs typeface="Calibri"/>
              </a:rPr>
              <a:t>55 min (3 candidates)</a:t>
            </a:r>
          </a:p>
          <a:p>
            <a:pPr marL="0" indent="0" algn="ctr">
              <a:buFont typeface="Arial" panose="020B0604020202020204" pitchFamily="34" charset="0"/>
              <a:buNone/>
            </a:pPr>
            <a:r>
              <a:rPr lang="en-US" sz="2000" b="1" dirty="0">
                <a:solidFill>
                  <a:srgbClr val="000000"/>
                </a:solidFill>
                <a:cs typeface="Calibri"/>
              </a:rPr>
              <a:t>1h15 (5 candidates)</a:t>
            </a:r>
          </a:p>
        </p:txBody>
      </p:sp>
    </p:spTree>
    <p:extLst>
      <p:ext uri="{BB962C8B-B14F-4D97-AF65-F5344CB8AC3E}">
        <p14:creationId xmlns:p14="http://schemas.microsoft.com/office/powerpoint/2010/main" val="42897242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071508F-00B6-48EB-9E05-2CF3767E59FF}"/>
              </a:ext>
            </a:extLst>
          </p:cNvPr>
          <p:cNvSpPr>
            <a:spLocks noGrp="1"/>
          </p:cNvSpPr>
          <p:nvPr>
            <p:ph type="title"/>
          </p:nvPr>
        </p:nvSpPr>
        <p:spPr/>
        <p:txBody>
          <a:bodyPr/>
          <a:lstStyle/>
          <a:p>
            <a:r>
              <a:rPr lang="en-US" dirty="0"/>
              <a:t>Organizing Community Boosters Checklists workshop</a:t>
            </a:r>
          </a:p>
        </p:txBody>
      </p:sp>
      <p:sp>
        <p:nvSpPr>
          <p:cNvPr id="20" name="Espace réservé du texte 3">
            <a:extLst>
              <a:ext uri="{FF2B5EF4-FFF2-40B4-BE49-F238E27FC236}">
                <a16:creationId xmlns:a16="http://schemas.microsoft.com/office/drawing/2014/main" id="{33C81F4F-2942-4DCE-8D67-EAE0910C1627}"/>
              </a:ext>
            </a:extLst>
          </p:cNvPr>
          <p:cNvSpPr txBox="1">
            <a:spLocks/>
          </p:cNvSpPr>
          <p:nvPr/>
        </p:nvSpPr>
        <p:spPr>
          <a:xfrm>
            <a:off x="402256" y="1915222"/>
            <a:ext cx="2832018" cy="592712"/>
          </a:xfrm>
          <a:prstGeom prst="rect">
            <a:avLst/>
          </a:prstGeom>
          <a:solidFill>
            <a:srgbClr val="0683AA"/>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8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dirty="0"/>
              <a:t>🎓Educational objectives</a:t>
            </a:r>
          </a:p>
        </p:txBody>
      </p:sp>
      <p:sp>
        <p:nvSpPr>
          <p:cNvPr id="21" name="Espace réservé du contenu 2">
            <a:extLst>
              <a:ext uri="{FF2B5EF4-FFF2-40B4-BE49-F238E27FC236}">
                <a16:creationId xmlns:a16="http://schemas.microsoft.com/office/drawing/2014/main" id="{AEAAF9EE-7A2C-494F-808A-D18DB5D12482}"/>
              </a:ext>
            </a:extLst>
          </p:cNvPr>
          <p:cNvSpPr txBox="1">
            <a:spLocks/>
          </p:cNvSpPr>
          <p:nvPr/>
        </p:nvSpPr>
        <p:spPr>
          <a:xfrm>
            <a:off x="402256" y="2494428"/>
            <a:ext cx="2832018" cy="1690823"/>
          </a:xfrm>
          <a:prstGeom prst="rect">
            <a:avLst/>
          </a:prstGeom>
          <a:solidFill>
            <a:schemeClr val="accent5">
              <a:lumMod val="20000"/>
              <a:lumOff val="80000"/>
            </a:schemeClr>
          </a:solidFill>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200" dirty="0"/>
              <a:t>Getting to know some requirements for a solid foundation for Community Boosters</a:t>
            </a:r>
          </a:p>
          <a:p>
            <a:pPr marL="0" indent="0">
              <a:buFont typeface="Arial" panose="020B0604020202020204" pitchFamily="34" charset="0"/>
              <a:buNone/>
            </a:pPr>
            <a:r>
              <a:rPr lang="en-US" sz="1200" dirty="0"/>
              <a:t>Having explored various aspects of a Community Boosters development</a:t>
            </a:r>
          </a:p>
        </p:txBody>
      </p:sp>
      <p:sp>
        <p:nvSpPr>
          <p:cNvPr id="22" name="Espace réservé du texte 4">
            <a:extLst>
              <a:ext uri="{FF2B5EF4-FFF2-40B4-BE49-F238E27FC236}">
                <a16:creationId xmlns:a16="http://schemas.microsoft.com/office/drawing/2014/main" id="{B2ACD7EC-3C54-45B4-B6FB-85483EE99977}"/>
              </a:ext>
            </a:extLst>
          </p:cNvPr>
          <p:cNvSpPr txBox="1">
            <a:spLocks/>
          </p:cNvSpPr>
          <p:nvPr/>
        </p:nvSpPr>
        <p:spPr>
          <a:xfrm>
            <a:off x="3321056" y="1915222"/>
            <a:ext cx="2845965" cy="592712"/>
          </a:xfrm>
          <a:prstGeom prst="rect">
            <a:avLst/>
          </a:prstGeom>
          <a:solidFill>
            <a:srgbClr val="ED7D31"/>
          </a:solidFill>
        </p:spPr>
        <p:txBody>
          <a:bodyPr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600" b="1" dirty="0"/>
              <a:t>🎯Operational goals</a:t>
            </a:r>
          </a:p>
        </p:txBody>
      </p:sp>
      <p:sp>
        <p:nvSpPr>
          <p:cNvPr id="23" name="Espace réservé du contenu 5">
            <a:extLst>
              <a:ext uri="{FF2B5EF4-FFF2-40B4-BE49-F238E27FC236}">
                <a16:creationId xmlns:a16="http://schemas.microsoft.com/office/drawing/2014/main" id="{4F2EA91F-0720-4EB9-8886-AA180CEFDDC1}"/>
              </a:ext>
            </a:extLst>
          </p:cNvPr>
          <p:cNvSpPr txBox="1">
            <a:spLocks/>
          </p:cNvSpPr>
          <p:nvPr/>
        </p:nvSpPr>
        <p:spPr>
          <a:xfrm>
            <a:off x="3321056" y="2494428"/>
            <a:ext cx="2845965" cy="1690823"/>
          </a:xfrm>
          <a:prstGeom prst="rect">
            <a:avLst/>
          </a:prstGeom>
          <a:solidFill>
            <a:schemeClr val="accent2">
              <a:lumMod val="20000"/>
              <a:lumOff val="80000"/>
            </a:schemeClr>
          </a:solidFill>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200" dirty="0"/>
              <a:t>Identification of next steps for development of Community Boosters or potential Community Boosters</a:t>
            </a:r>
          </a:p>
        </p:txBody>
      </p:sp>
      <p:sp>
        <p:nvSpPr>
          <p:cNvPr id="24" name="Espace réservé du texte 3">
            <a:extLst>
              <a:ext uri="{FF2B5EF4-FFF2-40B4-BE49-F238E27FC236}">
                <a16:creationId xmlns:a16="http://schemas.microsoft.com/office/drawing/2014/main" id="{B15F39E3-9475-467F-93BB-C739C254255D}"/>
              </a:ext>
            </a:extLst>
          </p:cNvPr>
          <p:cNvSpPr txBox="1">
            <a:spLocks/>
          </p:cNvSpPr>
          <p:nvPr/>
        </p:nvSpPr>
        <p:spPr>
          <a:xfrm>
            <a:off x="6253803" y="1915222"/>
            <a:ext cx="2832018" cy="592712"/>
          </a:xfrm>
          <a:prstGeom prst="rect">
            <a:avLst/>
          </a:prstGeom>
          <a:solidFill>
            <a:schemeClr val="bg1">
              <a:lumMod val="75000"/>
            </a:schemeClr>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en-US" sz="1600" dirty="0"/>
              <a:t>🧑‍🤝‍🧑Ideal Audience</a:t>
            </a:r>
          </a:p>
        </p:txBody>
      </p:sp>
      <p:sp>
        <p:nvSpPr>
          <p:cNvPr id="25" name="Espace réservé du contenu 2">
            <a:extLst>
              <a:ext uri="{FF2B5EF4-FFF2-40B4-BE49-F238E27FC236}">
                <a16:creationId xmlns:a16="http://schemas.microsoft.com/office/drawing/2014/main" id="{358E1BF9-5E40-437B-9E38-38063C963CED}"/>
              </a:ext>
            </a:extLst>
          </p:cNvPr>
          <p:cNvSpPr txBox="1">
            <a:spLocks/>
          </p:cNvSpPr>
          <p:nvPr/>
        </p:nvSpPr>
        <p:spPr>
          <a:xfrm>
            <a:off x="6253803" y="2494428"/>
            <a:ext cx="2832018" cy="1690823"/>
          </a:xfrm>
          <a:prstGeom prst="rect">
            <a:avLst/>
          </a:prstGeom>
          <a:solidFill>
            <a:schemeClr val="bg1">
              <a:lumMod val="95000"/>
            </a:schemeClr>
          </a:solidFill>
        </p:spPr>
        <p:txBody>
          <a:bodyPr vert="horz" lIns="91440" tIns="45720" rIns="91440" bIns="45720" rtlCol="0" anchor="t">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200" dirty="0"/>
              <a:t>Best use in Corporate Communities</a:t>
            </a:r>
          </a:p>
          <a:p>
            <a:pPr marL="0" indent="0">
              <a:buNone/>
            </a:pPr>
            <a:r>
              <a:rPr lang="en-US" sz="1200" dirty="0"/>
              <a:t>1 to 5 users</a:t>
            </a:r>
          </a:p>
          <a:p>
            <a:pPr marL="0" indent="0">
              <a:buNone/>
            </a:pPr>
            <a:r>
              <a:rPr lang="en-US" sz="1200" dirty="0"/>
              <a:t>Community leaders or decision makers around the Community</a:t>
            </a:r>
          </a:p>
          <a:p>
            <a:pPr marL="0" indent="0">
              <a:buNone/>
            </a:pPr>
            <a:r>
              <a:rPr lang="en-US" sz="1200" dirty="0"/>
              <a:t>Participants must know what a Community is, for which Communities they want to pick leaders, and be able to help these leaders with actions or decisions.</a:t>
            </a:r>
          </a:p>
        </p:txBody>
      </p:sp>
      <p:sp>
        <p:nvSpPr>
          <p:cNvPr id="26" name="Espace réservé du texte 3">
            <a:extLst>
              <a:ext uri="{FF2B5EF4-FFF2-40B4-BE49-F238E27FC236}">
                <a16:creationId xmlns:a16="http://schemas.microsoft.com/office/drawing/2014/main" id="{5B3449CB-D468-4623-BCD0-57752C3C9DC0}"/>
              </a:ext>
            </a:extLst>
          </p:cNvPr>
          <p:cNvSpPr txBox="1">
            <a:spLocks/>
          </p:cNvSpPr>
          <p:nvPr/>
        </p:nvSpPr>
        <p:spPr>
          <a:xfrm>
            <a:off x="9172603" y="1915222"/>
            <a:ext cx="2832018" cy="592712"/>
          </a:xfrm>
          <a:prstGeom prst="rect">
            <a:avLst/>
          </a:prstGeom>
          <a:solidFill>
            <a:schemeClr val="bg1"/>
          </a:solidFill>
          <a:ln>
            <a:solidFill>
              <a:schemeClr val="tx1"/>
            </a:solid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en-US" sz="1600" dirty="0"/>
              <a:t>🛠️Examples of uses and problems addressed</a:t>
            </a:r>
          </a:p>
        </p:txBody>
      </p:sp>
      <p:sp>
        <p:nvSpPr>
          <p:cNvPr id="27" name="Espace réservé du contenu 2">
            <a:extLst>
              <a:ext uri="{FF2B5EF4-FFF2-40B4-BE49-F238E27FC236}">
                <a16:creationId xmlns:a16="http://schemas.microsoft.com/office/drawing/2014/main" id="{807B6C4A-0B30-40EB-8A67-9150BE6EDE0C}"/>
              </a:ext>
            </a:extLst>
          </p:cNvPr>
          <p:cNvSpPr txBox="1">
            <a:spLocks/>
          </p:cNvSpPr>
          <p:nvPr/>
        </p:nvSpPr>
        <p:spPr>
          <a:xfrm>
            <a:off x="9172603" y="2494428"/>
            <a:ext cx="2832018" cy="1690823"/>
          </a:xfrm>
          <a:prstGeom prst="rect">
            <a:avLst/>
          </a:prstGeom>
          <a:solidFill>
            <a:schemeClr val="bg1"/>
          </a:solidFill>
          <a:ln>
            <a:solidFill>
              <a:schemeClr val="tx1"/>
            </a:solidFill>
          </a:ln>
        </p:spPr>
        <p:txBody>
          <a:bodyPr vert="horz" lIns="91440" tIns="45720" rIns="91440" bIns="45720" rtlCol="0" anchor="t">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200" dirty="0"/>
              <a:t>Community XYZ is a practice community in a corporate environment.  It grew strong for several months, but members are less and less interested in common topics, while more and more interested in subgroups. XYZ leaders decide to use Community Boosters checklists to assess candidates for leaderships of subgroups.</a:t>
            </a:r>
          </a:p>
        </p:txBody>
      </p:sp>
      <p:sp>
        <p:nvSpPr>
          <p:cNvPr id="28" name="Espace réservé du texte 3">
            <a:extLst>
              <a:ext uri="{FF2B5EF4-FFF2-40B4-BE49-F238E27FC236}">
                <a16:creationId xmlns:a16="http://schemas.microsoft.com/office/drawing/2014/main" id="{B390B424-EFD7-4CBA-9402-E7D75B769A03}"/>
              </a:ext>
            </a:extLst>
          </p:cNvPr>
          <p:cNvSpPr txBox="1">
            <a:spLocks/>
          </p:cNvSpPr>
          <p:nvPr/>
        </p:nvSpPr>
        <p:spPr>
          <a:xfrm>
            <a:off x="402256" y="4350067"/>
            <a:ext cx="2832018" cy="592712"/>
          </a:xfrm>
          <a:prstGeom prst="rect">
            <a:avLst/>
          </a:prstGeom>
          <a:solidFill>
            <a:srgbClr val="0683AA"/>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8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dirty="0"/>
              <a:t>Topics not covered in this workshop</a:t>
            </a:r>
          </a:p>
        </p:txBody>
      </p:sp>
      <p:sp>
        <p:nvSpPr>
          <p:cNvPr id="29" name="Espace réservé du contenu 2">
            <a:extLst>
              <a:ext uri="{FF2B5EF4-FFF2-40B4-BE49-F238E27FC236}">
                <a16:creationId xmlns:a16="http://schemas.microsoft.com/office/drawing/2014/main" id="{D7130EBC-B9CE-4EEE-B949-C9025E797D68}"/>
              </a:ext>
            </a:extLst>
          </p:cNvPr>
          <p:cNvSpPr txBox="1">
            <a:spLocks/>
          </p:cNvSpPr>
          <p:nvPr/>
        </p:nvSpPr>
        <p:spPr>
          <a:xfrm>
            <a:off x="402256" y="4929273"/>
            <a:ext cx="2832018" cy="1690823"/>
          </a:xfrm>
          <a:prstGeom prst="rect">
            <a:avLst/>
          </a:prstGeom>
          <a:solidFill>
            <a:schemeClr val="accent5">
              <a:lumMod val="20000"/>
              <a:lumOff val="80000"/>
            </a:schemeClr>
          </a:solidFill>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200" dirty="0"/>
              <a:t>Soft Skills of a Community Booster</a:t>
            </a:r>
          </a:p>
          <a:p>
            <a:pPr marL="0" indent="0">
              <a:buFont typeface="Arial" panose="020B0604020202020204" pitchFamily="34" charset="0"/>
              <a:buNone/>
            </a:pPr>
            <a:r>
              <a:rPr lang="en-US" sz="1200" dirty="0"/>
              <a:t>Evolution of a Community</a:t>
            </a:r>
          </a:p>
        </p:txBody>
      </p:sp>
      <p:sp>
        <p:nvSpPr>
          <p:cNvPr id="30" name="Espace réservé du texte 4">
            <a:extLst>
              <a:ext uri="{FF2B5EF4-FFF2-40B4-BE49-F238E27FC236}">
                <a16:creationId xmlns:a16="http://schemas.microsoft.com/office/drawing/2014/main" id="{F610BC8C-9DED-4B21-A11C-8F147E8E741A}"/>
              </a:ext>
            </a:extLst>
          </p:cNvPr>
          <p:cNvSpPr txBox="1">
            <a:spLocks/>
          </p:cNvSpPr>
          <p:nvPr/>
        </p:nvSpPr>
        <p:spPr>
          <a:xfrm>
            <a:off x="3321056" y="4350067"/>
            <a:ext cx="2845965" cy="592712"/>
          </a:xfrm>
          <a:prstGeom prst="rect">
            <a:avLst/>
          </a:prstGeom>
          <a:solidFill>
            <a:srgbClr val="ED7D31"/>
          </a:solidFill>
        </p:spPr>
        <p:txBody>
          <a:bodyPr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600" b="1" dirty="0"/>
              <a:t>📅Logistics</a:t>
            </a:r>
          </a:p>
        </p:txBody>
      </p:sp>
      <p:sp>
        <p:nvSpPr>
          <p:cNvPr id="31" name="Espace réservé du contenu 5">
            <a:extLst>
              <a:ext uri="{FF2B5EF4-FFF2-40B4-BE49-F238E27FC236}">
                <a16:creationId xmlns:a16="http://schemas.microsoft.com/office/drawing/2014/main" id="{D2E68CD3-30C8-4477-96F6-39CEEE9FC5CD}"/>
              </a:ext>
            </a:extLst>
          </p:cNvPr>
          <p:cNvSpPr txBox="1">
            <a:spLocks/>
          </p:cNvSpPr>
          <p:nvPr/>
        </p:nvSpPr>
        <p:spPr>
          <a:xfrm>
            <a:off x="3321056" y="4929273"/>
            <a:ext cx="2845965" cy="1690823"/>
          </a:xfrm>
          <a:prstGeom prst="rect">
            <a:avLst/>
          </a:prstGeom>
          <a:solidFill>
            <a:schemeClr val="accent2">
              <a:lumMod val="20000"/>
              <a:lumOff val="80000"/>
            </a:schemeClr>
          </a:solidFill>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200" dirty="0"/>
              <a:t>55 min to 1h15 min</a:t>
            </a:r>
          </a:p>
          <a:p>
            <a:pPr marL="0" indent="0">
              <a:buFont typeface="Arial" panose="020B0604020202020204" pitchFamily="34" charset="0"/>
              <a:buNone/>
            </a:pPr>
            <a:r>
              <a:rPr lang="en-US" sz="1200" dirty="0"/>
              <a:t>No special equipment needed</a:t>
            </a:r>
          </a:p>
          <a:p>
            <a:pPr marL="0" indent="0">
              <a:buFont typeface="Arial" panose="020B0604020202020204" pitchFamily="34" charset="0"/>
              <a:buNone/>
            </a:pPr>
            <a:r>
              <a:rPr lang="en-US" sz="1200" dirty="0"/>
              <a:t>Remote or </a:t>
            </a:r>
            <a:r>
              <a:rPr lang="en-US" sz="1200" dirty="0" err="1"/>
              <a:t>Irl</a:t>
            </a:r>
            <a:endParaRPr lang="en-US" sz="1200" dirty="0"/>
          </a:p>
        </p:txBody>
      </p:sp>
      <p:sp>
        <p:nvSpPr>
          <p:cNvPr id="32" name="Espace réservé du texte 3">
            <a:extLst>
              <a:ext uri="{FF2B5EF4-FFF2-40B4-BE49-F238E27FC236}">
                <a16:creationId xmlns:a16="http://schemas.microsoft.com/office/drawing/2014/main" id="{B3CDC92E-C27D-4DF4-9944-2E60887541FB}"/>
              </a:ext>
            </a:extLst>
          </p:cNvPr>
          <p:cNvSpPr txBox="1">
            <a:spLocks/>
          </p:cNvSpPr>
          <p:nvPr/>
        </p:nvSpPr>
        <p:spPr>
          <a:xfrm>
            <a:off x="6253803" y="4350067"/>
            <a:ext cx="2832018" cy="592712"/>
          </a:xfrm>
          <a:prstGeom prst="rect">
            <a:avLst/>
          </a:prstGeom>
          <a:solidFill>
            <a:schemeClr val="bg1">
              <a:lumMod val="75000"/>
            </a:schemeClr>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en-US" sz="1600" dirty="0"/>
              <a:t>💡Ideas of complementary content</a:t>
            </a:r>
          </a:p>
        </p:txBody>
      </p:sp>
      <p:sp>
        <p:nvSpPr>
          <p:cNvPr id="33" name="Espace réservé du contenu 2">
            <a:extLst>
              <a:ext uri="{FF2B5EF4-FFF2-40B4-BE49-F238E27FC236}">
                <a16:creationId xmlns:a16="http://schemas.microsoft.com/office/drawing/2014/main" id="{12DBC631-96B9-49EC-A408-018C730BA38F}"/>
              </a:ext>
            </a:extLst>
          </p:cNvPr>
          <p:cNvSpPr txBox="1">
            <a:spLocks/>
          </p:cNvSpPr>
          <p:nvPr/>
        </p:nvSpPr>
        <p:spPr>
          <a:xfrm>
            <a:off x="6253803" y="4929273"/>
            <a:ext cx="2832018" cy="1690823"/>
          </a:xfrm>
          <a:prstGeom prst="rect">
            <a:avLst/>
          </a:prstGeom>
          <a:solidFill>
            <a:schemeClr val="bg1">
              <a:lumMod val="95000"/>
            </a:schemeClr>
          </a:solidFill>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200" dirty="0"/>
              <a:t>Community Audit</a:t>
            </a:r>
          </a:p>
          <a:p>
            <a:pPr marL="0" indent="0">
              <a:buNone/>
            </a:pPr>
            <a:endParaRPr lang="en-US" sz="1200" dirty="0"/>
          </a:p>
        </p:txBody>
      </p:sp>
      <p:sp>
        <p:nvSpPr>
          <p:cNvPr id="34" name="Espace réservé du texte 3">
            <a:extLst>
              <a:ext uri="{FF2B5EF4-FFF2-40B4-BE49-F238E27FC236}">
                <a16:creationId xmlns:a16="http://schemas.microsoft.com/office/drawing/2014/main" id="{C323340E-60D7-47A6-B24C-8D2DD89D7A16}"/>
              </a:ext>
            </a:extLst>
          </p:cNvPr>
          <p:cNvSpPr txBox="1">
            <a:spLocks/>
          </p:cNvSpPr>
          <p:nvPr/>
        </p:nvSpPr>
        <p:spPr>
          <a:xfrm>
            <a:off x="9172603" y="4350067"/>
            <a:ext cx="2832018" cy="592712"/>
          </a:xfrm>
          <a:prstGeom prst="rect">
            <a:avLst/>
          </a:prstGeom>
          <a:solidFill>
            <a:schemeClr val="bg1"/>
          </a:solidFill>
          <a:ln>
            <a:solidFill>
              <a:schemeClr val="tx1"/>
            </a:solid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en-US" sz="1600" dirty="0"/>
              <a:t>🎤Pitch to copy-paste in invitations</a:t>
            </a:r>
          </a:p>
        </p:txBody>
      </p:sp>
      <p:sp>
        <p:nvSpPr>
          <p:cNvPr id="35" name="Espace réservé du contenu 2">
            <a:extLst>
              <a:ext uri="{FF2B5EF4-FFF2-40B4-BE49-F238E27FC236}">
                <a16:creationId xmlns:a16="http://schemas.microsoft.com/office/drawing/2014/main" id="{67B0F38D-F1AC-4920-A67C-30199D2FB73D}"/>
              </a:ext>
            </a:extLst>
          </p:cNvPr>
          <p:cNvSpPr txBox="1">
            <a:spLocks/>
          </p:cNvSpPr>
          <p:nvPr/>
        </p:nvSpPr>
        <p:spPr>
          <a:xfrm>
            <a:off x="9172603" y="4929273"/>
            <a:ext cx="2832018" cy="1690823"/>
          </a:xfrm>
          <a:prstGeom prst="rect">
            <a:avLst/>
          </a:prstGeom>
          <a:solidFill>
            <a:schemeClr val="bg1"/>
          </a:solidFill>
          <a:ln>
            <a:solidFill>
              <a:schemeClr val="tx1"/>
            </a:solidFill>
          </a:ln>
        </p:spPr>
        <p:txBody>
          <a:bodyPr vert="horz" lIns="91440" tIns="45720" rIns="91440" bIns="45720" rtlCol="0" anchor="t">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200" dirty="0"/>
              <a:t>Community Boosters are people who help a community thrive, and key roles for members engagement.</a:t>
            </a:r>
          </a:p>
          <a:p>
            <a:pPr marL="0" indent="0">
              <a:buNone/>
            </a:pPr>
            <a:r>
              <a:rPr lang="en-US" sz="1200" dirty="0"/>
              <a:t>Community Booster development is a multidimensional endeavor, which can seem very complex or blurry at first sight. </a:t>
            </a:r>
          </a:p>
          <a:p>
            <a:pPr marL="0" indent="0">
              <a:buNone/>
            </a:pPr>
            <a:r>
              <a:rPr lang="en-US" sz="1200" dirty="0"/>
              <a:t>Community Boosters checklists is a workshop to help in designing development path for leaders.</a:t>
            </a:r>
          </a:p>
        </p:txBody>
      </p:sp>
    </p:spTree>
    <p:extLst>
      <p:ext uri="{BB962C8B-B14F-4D97-AF65-F5344CB8AC3E}">
        <p14:creationId xmlns:p14="http://schemas.microsoft.com/office/powerpoint/2010/main" val="4713993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071508F-00B6-48EB-9E05-2CF3767E59FF}"/>
              </a:ext>
            </a:extLst>
          </p:cNvPr>
          <p:cNvSpPr>
            <a:spLocks noGrp="1"/>
          </p:cNvSpPr>
          <p:nvPr>
            <p:ph type="title"/>
          </p:nvPr>
        </p:nvSpPr>
        <p:spPr/>
        <p:txBody>
          <a:bodyPr/>
          <a:lstStyle/>
          <a:p>
            <a:r>
              <a:rPr lang="en-US" dirty="0"/>
              <a:t>Co-hosting of Community Boosters Checklist</a:t>
            </a:r>
          </a:p>
        </p:txBody>
      </p:sp>
      <p:graphicFrame>
        <p:nvGraphicFramePr>
          <p:cNvPr id="43" name="Tableau 9">
            <a:extLst>
              <a:ext uri="{FF2B5EF4-FFF2-40B4-BE49-F238E27FC236}">
                <a16:creationId xmlns:a16="http://schemas.microsoft.com/office/drawing/2014/main" id="{C67131CB-D953-44BF-AB8A-A11E972A5B0B}"/>
              </a:ext>
            </a:extLst>
          </p:cNvPr>
          <p:cNvGraphicFramePr>
            <a:graphicFrameLocks/>
          </p:cNvGraphicFramePr>
          <p:nvPr>
            <p:extLst>
              <p:ext uri="{D42A27DB-BD31-4B8C-83A1-F6EECF244321}">
                <p14:modId xmlns:p14="http://schemas.microsoft.com/office/powerpoint/2010/main" val="1111746571"/>
              </p:ext>
            </p:extLst>
          </p:nvPr>
        </p:nvGraphicFramePr>
        <p:xfrm>
          <a:off x="838200" y="2345604"/>
          <a:ext cx="9296376" cy="2837401"/>
        </p:xfrm>
        <a:graphic>
          <a:graphicData uri="http://schemas.openxmlformats.org/drawingml/2006/table">
            <a:tbl>
              <a:tblPr firstRow="1" firstCol="1" bandRow="1">
                <a:tableStyleId>{5C22544A-7EE6-4342-B048-85BDC9FD1C3A}</a:tableStyleId>
              </a:tblPr>
              <a:tblGrid>
                <a:gridCol w="5079154">
                  <a:extLst>
                    <a:ext uri="{9D8B030D-6E8A-4147-A177-3AD203B41FA5}">
                      <a16:colId xmlns:a16="http://schemas.microsoft.com/office/drawing/2014/main" val="750356738"/>
                    </a:ext>
                  </a:extLst>
                </a:gridCol>
                <a:gridCol w="2108611">
                  <a:extLst>
                    <a:ext uri="{9D8B030D-6E8A-4147-A177-3AD203B41FA5}">
                      <a16:colId xmlns:a16="http://schemas.microsoft.com/office/drawing/2014/main" val="1055331832"/>
                    </a:ext>
                  </a:extLst>
                </a:gridCol>
                <a:gridCol w="2108611">
                  <a:extLst>
                    <a:ext uri="{9D8B030D-6E8A-4147-A177-3AD203B41FA5}">
                      <a16:colId xmlns:a16="http://schemas.microsoft.com/office/drawing/2014/main" val="171301708"/>
                    </a:ext>
                  </a:extLst>
                </a:gridCol>
              </a:tblGrid>
              <a:tr h="428814">
                <a:tc>
                  <a:txBody>
                    <a:bodyPr/>
                    <a:lstStyle/>
                    <a:p>
                      <a:endParaRPr lang="fr-FR" sz="1200" noProof="0" dirty="0"/>
                    </a:p>
                  </a:txBody>
                  <a:tcPr>
                    <a:solidFill>
                      <a:srgbClr val="0683AA"/>
                    </a:solidFill>
                  </a:tcPr>
                </a:tc>
                <a:tc>
                  <a:txBody>
                    <a:bodyPr/>
                    <a:lstStyle/>
                    <a:p>
                      <a:pPr algn="ctr"/>
                      <a:r>
                        <a:rPr lang="fr-FR" sz="1200" noProof="0" dirty="0"/>
                        <a:t>Niv 4 </a:t>
                      </a:r>
                    </a:p>
                    <a:p>
                      <a:pPr algn="ctr"/>
                      <a:r>
                        <a:rPr lang="fr-FR" sz="1200" noProof="0" dirty="0"/>
                        <a:t>Co-host</a:t>
                      </a:r>
                    </a:p>
                  </a:txBody>
                  <a:tcPr>
                    <a:solidFill>
                      <a:srgbClr val="0683AA"/>
                    </a:solidFill>
                  </a:tcPr>
                </a:tc>
                <a:tc>
                  <a:txBody>
                    <a:bodyPr/>
                    <a:lstStyle/>
                    <a:p>
                      <a:pPr algn="ctr"/>
                      <a:r>
                        <a:rPr lang="fr-FR" sz="1200" noProof="0" dirty="0"/>
                        <a:t>Niv 5</a:t>
                      </a:r>
                    </a:p>
                    <a:p>
                      <a:pPr algn="ctr"/>
                      <a:r>
                        <a:rPr lang="fr-FR" sz="1200" noProof="0" dirty="0"/>
                        <a:t>Lead Host</a:t>
                      </a:r>
                    </a:p>
                  </a:txBody>
                  <a:tcPr>
                    <a:solidFill>
                      <a:srgbClr val="0683AA"/>
                    </a:solidFill>
                  </a:tcPr>
                </a:tc>
                <a:extLst>
                  <a:ext uri="{0D108BD9-81ED-4DB2-BD59-A6C34878D82A}">
                    <a16:rowId xmlns:a16="http://schemas.microsoft.com/office/drawing/2014/main" val="1531808552"/>
                  </a:ext>
                </a:extLst>
              </a:tr>
              <a:tr h="208025">
                <a:tc>
                  <a:txBody>
                    <a:bodyPr/>
                    <a:lstStyle/>
                    <a:p>
                      <a:r>
                        <a:rPr lang="en-US" sz="1400" noProof="0" dirty="0"/>
                        <a:t>Intro - Home – Opening – Presenting the goal of the workshop</a:t>
                      </a:r>
                    </a:p>
                  </a:txBody>
                  <a:tcPr>
                    <a:solidFill>
                      <a:srgbClr val="0683AA"/>
                    </a:solidFill>
                  </a:tcPr>
                </a:tc>
                <a:tc>
                  <a:txBody>
                    <a:bodyPr/>
                    <a:lstStyle/>
                    <a:p>
                      <a:pPr algn="ctr"/>
                      <a:endParaRPr lang="en-US" sz="1400" noProof="0" dirty="0"/>
                    </a:p>
                  </a:txBody>
                  <a:tcPr/>
                </a:tc>
                <a:tc>
                  <a:txBody>
                    <a:bodyPr/>
                    <a:lstStyle/>
                    <a:p>
                      <a:pPr algn="ctr"/>
                      <a:r>
                        <a:rPr lang="en-US" sz="1400" noProof="0" dirty="0"/>
                        <a:t>X</a:t>
                      </a:r>
                    </a:p>
                  </a:txBody>
                  <a:tcPr/>
                </a:tc>
                <a:extLst>
                  <a:ext uri="{0D108BD9-81ED-4DB2-BD59-A6C34878D82A}">
                    <a16:rowId xmlns:a16="http://schemas.microsoft.com/office/drawing/2014/main" val="3466427935"/>
                  </a:ext>
                </a:extLst>
              </a:tr>
              <a:tr h="208025">
                <a:tc>
                  <a:txBody>
                    <a:bodyPr/>
                    <a:lstStyle/>
                    <a:p>
                      <a:r>
                        <a:rPr lang="en-US" sz="1400" noProof="0" dirty="0"/>
                        <a:t>(Optional) Presenting #OpenSeriousCommunity</a:t>
                      </a:r>
                    </a:p>
                  </a:txBody>
                  <a:tcPr>
                    <a:solidFill>
                      <a:srgbClr val="0683AA"/>
                    </a:solidFill>
                  </a:tcPr>
                </a:tc>
                <a:tc>
                  <a:txBody>
                    <a:bodyPr/>
                    <a:lstStyle/>
                    <a:p>
                      <a:pPr algn="ctr"/>
                      <a:endParaRPr lang="en-US" sz="1400" noProof="0" dirty="0"/>
                    </a:p>
                  </a:txBody>
                  <a:tcPr/>
                </a:tc>
                <a:tc>
                  <a:txBody>
                    <a:bodyPr/>
                    <a:lstStyle/>
                    <a:p>
                      <a:pPr algn="ctr"/>
                      <a:r>
                        <a:rPr lang="en-US" sz="1400" noProof="0" dirty="0"/>
                        <a:t>X</a:t>
                      </a:r>
                    </a:p>
                  </a:txBody>
                  <a:tcPr/>
                </a:tc>
                <a:extLst>
                  <a:ext uri="{0D108BD9-81ED-4DB2-BD59-A6C34878D82A}">
                    <a16:rowId xmlns:a16="http://schemas.microsoft.com/office/drawing/2014/main" val="615886325"/>
                  </a:ext>
                </a:extLst>
              </a:tr>
              <a:tr h="33804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noProof="0" dirty="0"/>
                        <a:t>Present various candidate profiles</a:t>
                      </a:r>
                    </a:p>
                  </a:txBody>
                  <a:tcPr>
                    <a:solidFill>
                      <a:srgbClr val="0683AA"/>
                    </a:solidFill>
                  </a:tcPr>
                </a:tc>
                <a:tc>
                  <a:txBody>
                    <a:bodyPr/>
                    <a:lstStyle/>
                    <a:p>
                      <a:pPr algn="ctr"/>
                      <a:r>
                        <a:rPr lang="en-US" sz="1400" noProof="0" dirty="0"/>
                        <a:t>X</a:t>
                      </a:r>
                    </a:p>
                  </a:txBody>
                  <a:tcPr/>
                </a:tc>
                <a:tc>
                  <a:txBody>
                    <a:bodyPr/>
                    <a:lstStyle/>
                    <a:p>
                      <a:pPr algn="ctr"/>
                      <a:endParaRPr lang="en-US" sz="1400" noProof="0" dirty="0"/>
                    </a:p>
                  </a:txBody>
                  <a:tcPr/>
                </a:tc>
                <a:extLst>
                  <a:ext uri="{0D108BD9-81ED-4DB2-BD59-A6C34878D82A}">
                    <a16:rowId xmlns:a16="http://schemas.microsoft.com/office/drawing/2014/main" val="1786242576"/>
                  </a:ext>
                </a:extLst>
              </a:tr>
              <a:tr h="20802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noProof="0" dirty="0"/>
                        <a:t>Explain the assessment dimensions</a:t>
                      </a:r>
                    </a:p>
                  </a:txBody>
                  <a:tcPr>
                    <a:solidFill>
                      <a:srgbClr val="0683AA"/>
                    </a:solidFill>
                  </a:tcPr>
                </a:tc>
                <a:tc>
                  <a:txBody>
                    <a:bodyPr/>
                    <a:lstStyle/>
                    <a:p>
                      <a:pPr algn="ctr"/>
                      <a:endParaRPr lang="en-US" sz="1400" noProof="0" dirty="0"/>
                    </a:p>
                  </a:txBody>
                  <a:tcPr/>
                </a:tc>
                <a:tc>
                  <a:txBody>
                    <a:bodyPr/>
                    <a:lstStyle/>
                    <a:p>
                      <a:pPr algn="ctr"/>
                      <a:r>
                        <a:rPr lang="en-US" sz="1400" noProof="0" dirty="0"/>
                        <a:t>X</a:t>
                      </a:r>
                    </a:p>
                  </a:txBody>
                  <a:tcPr/>
                </a:tc>
                <a:extLst>
                  <a:ext uri="{0D108BD9-81ED-4DB2-BD59-A6C34878D82A}">
                    <a16:rowId xmlns:a16="http://schemas.microsoft.com/office/drawing/2014/main" val="1881446753"/>
                  </a:ext>
                </a:extLst>
              </a:tr>
              <a:tr h="208025">
                <a:tc>
                  <a:txBody>
                    <a:bodyPr/>
                    <a:lstStyle/>
                    <a:p>
                      <a:r>
                        <a:rPr lang="en-US" sz="1400" noProof="0" dirty="0"/>
                        <a:t>Lead assessment of each candidate</a:t>
                      </a:r>
                    </a:p>
                  </a:txBody>
                  <a:tcPr>
                    <a:solidFill>
                      <a:srgbClr val="0683AA"/>
                    </a:solidFill>
                  </a:tcPr>
                </a:tc>
                <a:tc>
                  <a:txBody>
                    <a:bodyPr/>
                    <a:lstStyle/>
                    <a:p>
                      <a:pPr algn="ctr"/>
                      <a:r>
                        <a:rPr lang="en-US" sz="1400" noProof="0" dirty="0"/>
                        <a:t>X</a:t>
                      </a:r>
                    </a:p>
                  </a:txBody>
                  <a:tcPr/>
                </a:tc>
                <a:tc>
                  <a:txBody>
                    <a:bodyPr/>
                    <a:lstStyle/>
                    <a:p>
                      <a:pPr algn="ctr"/>
                      <a:r>
                        <a:rPr lang="en-US" sz="1400" noProof="0" dirty="0"/>
                        <a:t>X</a:t>
                      </a:r>
                    </a:p>
                  </a:txBody>
                  <a:tcPr/>
                </a:tc>
                <a:extLst>
                  <a:ext uri="{0D108BD9-81ED-4DB2-BD59-A6C34878D82A}">
                    <a16:rowId xmlns:a16="http://schemas.microsoft.com/office/drawing/2014/main" val="792998367"/>
                  </a:ext>
                </a:extLst>
              </a:tr>
              <a:tr h="208025">
                <a:tc>
                  <a:txBody>
                    <a:bodyPr/>
                    <a:lstStyle/>
                    <a:p>
                      <a:r>
                        <a:rPr lang="en-US" sz="1400" noProof="0" dirty="0"/>
                        <a:t>Prepare the radar</a:t>
                      </a:r>
                    </a:p>
                  </a:txBody>
                  <a:tcPr>
                    <a:solidFill>
                      <a:srgbClr val="0683AA"/>
                    </a:solidFill>
                  </a:tcPr>
                </a:tc>
                <a:tc>
                  <a:txBody>
                    <a:bodyPr/>
                    <a:lstStyle/>
                    <a:p>
                      <a:pPr algn="ctr"/>
                      <a:r>
                        <a:rPr lang="en-US" sz="1400" noProof="0" dirty="0"/>
                        <a:t>X</a:t>
                      </a:r>
                    </a:p>
                  </a:txBody>
                  <a:tcPr/>
                </a:tc>
                <a:tc>
                  <a:txBody>
                    <a:bodyPr/>
                    <a:lstStyle/>
                    <a:p>
                      <a:pPr algn="ctr"/>
                      <a:endParaRPr lang="en-US" sz="1400" noProof="0" dirty="0"/>
                    </a:p>
                  </a:txBody>
                  <a:tcPr/>
                </a:tc>
                <a:extLst>
                  <a:ext uri="{0D108BD9-81ED-4DB2-BD59-A6C34878D82A}">
                    <a16:rowId xmlns:a16="http://schemas.microsoft.com/office/drawing/2014/main" val="1110937315"/>
                  </a:ext>
                </a:extLst>
              </a:tr>
              <a:tr h="20802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noProof="0" dirty="0"/>
                        <a:t>Lead the brainstorming of next steps</a:t>
                      </a:r>
                    </a:p>
                  </a:txBody>
                  <a:tcPr>
                    <a:solidFill>
                      <a:srgbClr val="0683AA"/>
                    </a:solidFill>
                  </a:tcPr>
                </a:tc>
                <a:tc>
                  <a:txBody>
                    <a:bodyPr/>
                    <a:lstStyle/>
                    <a:p>
                      <a:pPr algn="ctr"/>
                      <a:endParaRPr lang="en-US" sz="1400" noProof="0" dirty="0"/>
                    </a:p>
                  </a:txBody>
                  <a:tcPr/>
                </a:tc>
                <a:tc>
                  <a:txBody>
                    <a:bodyPr/>
                    <a:lstStyle/>
                    <a:p>
                      <a:pPr algn="ctr"/>
                      <a:r>
                        <a:rPr lang="en-US" sz="1400" noProof="0" dirty="0"/>
                        <a:t>X</a:t>
                      </a:r>
                    </a:p>
                  </a:txBody>
                  <a:tcPr/>
                </a:tc>
                <a:extLst>
                  <a:ext uri="{0D108BD9-81ED-4DB2-BD59-A6C34878D82A}">
                    <a16:rowId xmlns:a16="http://schemas.microsoft.com/office/drawing/2014/main" val="3635335861"/>
                  </a:ext>
                </a:extLst>
              </a:tr>
            </a:tbl>
          </a:graphicData>
        </a:graphic>
      </p:graphicFrame>
      <p:grpSp>
        <p:nvGrpSpPr>
          <p:cNvPr id="44" name="Groupe 43">
            <a:extLst>
              <a:ext uri="{FF2B5EF4-FFF2-40B4-BE49-F238E27FC236}">
                <a16:creationId xmlns:a16="http://schemas.microsoft.com/office/drawing/2014/main" id="{F8E966ED-5074-4846-A482-68976B957569}"/>
              </a:ext>
            </a:extLst>
          </p:cNvPr>
          <p:cNvGrpSpPr/>
          <p:nvPr/>
        </p:nvGrpSpPr>
        <p:grpSpPr>
          <a:xfrm>
            <a:off x="6644433" y="1716412"/>
            <a:ext cx="601806" cy="648730"/>
            <a:chOff x="6060465" y="3463636"/>
            <a:chExt cx="819385" cy="883274"/>
          </a:xfrm>
          <a:solidFill>
            <a:srgbClr val="ED7D31"/>
          </a:solidFill>
        </p:grpSpPr>
        <p:pic>
          <p:nvPicPr>
            <p:cNvPr id="45" name="Graphique 44" descr="Presse-papiers mixte avec un remplissage uni">
              <a:extLst>
                <a:ext uri="{FF2B5EF4-FFF2-40B4-BE49-F238E27FC236}">
                  <a16:creationId xmlns:a16="http://schemas.microsoft.com/office/drawing/2014/main" id="{1ABAA31F-6624-406E-B678-E09F2023F16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20207580">
              <a:off x="6060465" y="3580343"/>
              <a:ext cx="314429" cy="314429"/>
            </a:xfrm>
            <a:prstGeom prst="rect">
              <a:avLst/>
            </a:prstGeom>
          </p:spPr>
        </p:pic>
        <p:grpSp>
          <p:nvGrpSpPr>
            <p:cNvPr id="46" name="Groupe 45">
              <a:extLst>
                <a:ext uri="{FF2B5EF4-FFF2-40B4-BE49-F238E27FC236}">
                  <a16:creationId xmlns:a16="http://schemas.microsoft.com/office/drawing/2014/main" id="{F9C9270F-ABF8-4536-8959-2839FDA4754E}"/>
                </a:ext>
              </a:extLst>
            </p:cNvPr>
            <p:cNvGrpSpPr/>
            <p:nvPr/>
          </p:nvGrpSpPr>
          <p:grpSpPr>
            <a:xfrm>
              <a:off x="6132133" y="3463636"/>
              <a:ext cx="612923" cy="883274"/>
              <a:chOff x="6132133" y="3463636"/>
              <a:chExt cx="612923" cy="883274"/>
            </a:xfrm>
            <a:grpFill/>
          </p:grpSpPr>
          <p:pic>
            <p:nvPicPr>
              <p:cNvPr id="49" name="Graphique 48" descr="Centre d’appels avec un remplissage uni">
                <a:extLst>
                  <a:ext uri="{FF2B5EF4-FFF2-40B4-BE49-F238E27FC236}">
                    <a16:creationId xmlns:a16="http://schemas.microsoft.com/office/drawing/2014/main" id="{78CFAE08-6861-4F90-B672-DCD6A66512D7}"/>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b="44092"/>
              <a:stretch/>
            </p:blipFill>
            <p:spPr>
              <a:xfrm>
                <a:off x="6322855" y="3463636"/>
                <a:ext cx="422201" cy="236042"/>
              </a:xfrm>
              <a:prstGeom prst="rect">
                <a:avLst/>
              </a:prstGeom>
            </p:spPr>
          </p:pic>
          <p:grpSp>
            <p:nvGrpSpPr>
              <p:cNvPr id="50" name="Groupe 49">
                <a:extLst>
                  <a:ext uri="{FF2B5EF4-FFF2-40B4-BE49-F238E27FC236}">
                    <a16:creationId xmlns:a16="http://schemas.microsoft.com/office/drawing/2014/main" id="{0D1D2987-E2E3-463F-9EAB-05C450EAB8D7}"/>
                  </a:ext>
                </a:extLst>
              </p:cNvPr>
              <p:cNvGrpSpPr/>
              <p:nvPr/>
            </p:nvGrpSpPr>
            <p:grpSpPr>
              <a:xfrm flipH="1">
                <a:off x="6132133" y="3682042"/>
                <a:ext cx="611857" cy="664868"/>
                <a:chOff x="5018285" y="4055721"/>
                <a:chExt cx="696982" cy="731970"/>
              </a:xfrm>
              <a:grpFill/>
            </p:grpSpPr>
            <p:pic>
              <p:nvPicPr>
                <p:cNvPr id="51" name="Graphique 50" descr="Personne confuse avec un remplissage uni">
                  <a:extLst>
                    <a:ext uri="{FF2B5EF4-FFF2-40B4-BE49-F238E27FC236}">
                      <a16:creationId xmlns:a16="http://schemas.microsoft.com/office/drawing/2014/main" id="{6885D23E-B058-4F69-BF00-3095C781D09C}"/>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l="30440" t="19951" r="-1"/>
                <a:stretch/>
              </p:blipFill>
              <p:spPr>
                <a:xfrm>
                  <a:off x="5079207" y="4055721"/>
                  <a:ext cx="636060" cy="731970"/>
                </a:xfrm>
                <a:prstGeom prst="rect">
                  <a:avLst/>
                </a:prstGeom>
              </p:spPr>
            </p:pic>
            <p:sp>
              <p:nvSpPr>
                <p:cNvPr id="52" name="Rectangle : coins arrondis 51">
                  <a:extLst>
                    <a:ext uri="{FF2B5EF4-FFF2-40B4-BE49-F238E27FC236}">
                      <a16:creationId xmlns:a16="http://schemas.microsoft.com/office/drawing/2014/main" id="{AFA07308-E0DC-477A-B4FB-53B7E3D39F67}"/>
                    </a:ext>
                  </a:extLst>
                </p:cNvPr>
                <p:cNvSpPr/>
                <p:nvPr/>
              </p:nvSpPr>
              <p:spPr>
                <a:xfrm rot="3462276">
                  <a:off x="4958575" y="4176566"/>
                  <a:ext cx="184553"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grpSp>
        <p:pic>
          <p:nvPicPr>
            <p:cNvPr id="47" name="Image 46">
              <a:extLst>
                <a:ext uri="{FF2B5EF4-FFF2-40B4-BE49-F238E27FC236}">
                  <a16:creationId xmlns:a16="http://schemas.microsoft.com/office/drawing/2014/main" id="{3BECF24B-9BEB-4124-9667-0AA89FD0069C}"/>
                </a:ext>
              </a:extLst>
            </p:cNvPr>
            <p:cNvPicPr>
              <a:picLocks noChangeAspect="1"/>
            </p:cNvPicPr>
            <p:nvPr/>
          </p:nvPicPr>
          <p:blipFill>
            <a:blip r:embed="rId8">
              <a:extLst>
                <a:ext uri="{BEBA8EAE-BF5A-486C-A8C5-ECC9F3942E4B}">
                  <a14:imgProps xmlns:a14="http://schemas.microsoft.com/office/drawing/2010/main">
                    <a14:imgLayer r:embed="rId9">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6474915" y="3741133"/>
              <a:ext cx="109675" cy="109475"/>
            </a:xfrm>
            <a:prstGeom prst="rect">
              <a:avLst/>
            </a:prstGeom>
            <a:grpFill/>
          </p:spPr>
        </p:pic>
        <p:pic>
          <p:nvPicPr>
            <p:cNvPr id="48" name="Graphique 47" descr="Chronomètre avec un remplissage uni">
              <a:extLst>
                <a:ext uri="{FF2B5EF4-FFF2-40B4-BE49-F238E27FC236}">
                  <a16:creationId xmlns:a16="http://schemas.microsoft.com/office/drawing/2014/main" id="{868082C9-12C9-4394-AD34-984C1BDC0B9E}"/>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6714271" y="3602551"/>
              <a:ext cx="165579" cy="165579"/>
            </a:xfrm>
            <a:prstGeom prst="rect">
              <a:avLst/>
            </a:prstGeom>
          </p:spPr>
        </p:pic>
      </p:grpSp>
      <p:grpSp>
        <p:nvGrpSpPr>
          <p:cNvPr id="53" name="Groupe 52">
            <a:extLst>
              <a:ext uri="{FF2B5EF4-FFF2-40B4-BE49-F238E27FC236}">
                <a16:creationId xmlns:a16="http://schemas.microsoft.com/office/drawing/2014/main" id="{BE74EE7E-6AA8-4048-BFFA-6E746582BBA3}"/>
              </a:ext>
            </a:extLst>
          </p:cNvPr>
          <p:cNvGrpSpPr/>
          <p:nvPr/>
        </p:nvGrpSpPr>
        <p:grpSpPr>
          <a:xfrm>
            <a:off x="8701275" y="1570767"/>
            <a:ext cx="721271" cy="781037"/>
            <a:chOff x="7560150" y="2879049"/>
            <a:chExt cx="982042" cy="1063416"/>
          </a:xfrm>
          <a:solidFill>
            <a:srgbClr val="ED7D31"/>
          </a:solidFill>
        </p:grpSpPr>
        <p:grpSp>
          <p:nvGrpSpPr>
            <p:cNvPr id="54" name="Groupe 53">
              <a:extLst>
                <a:ext uri="{FF2B5EF4-FFF2-40B4-BE49-F238E27FC236}">
                  <a16:creationId xmlns:a16="http://schemas.microsoft.com/office/drawing/2014/main" id="{9B157688-05ED-4BBB-90AC-F7651B8327BE}"/>
                </a:ext>
              </a:extLst>
            </p:cNvPr>
            <p:cNvGrpSpPr/>
            <p:nvPr/>
          </p:nvGrpSpPr>
          <p:grpSpPr>
            <a:xfrm>
              <a:off x="7798849" y="2879049"/>
              <a:ext cx="743343" cy="1063416"/>
              <a:chOff x="6391015" y="3260296"/>
              <a:chExt cx="743343" cy="1063416"/>
            </a:xfrm>
            <a:grpFill/>
          </p:grpSpPr>
          <p:grpSp>
            <p:nvGrpSpPr>
              <p:cNvPr id="56" name="Groupe 55">
                <a:extLst>
                  <a:ext uri="{FF2B5EF4-FFF2-40B4-BE49-F238E27FC236}">
                    <a16:creationId xmlns:a16="http://schemas.microsoft.com/office/drawing/2014/main" id="{CC540D72-7C09-4233-ABAA-240E09EA840C}"/>
                  </a:ext>
                </a:extLst>
              </p:cNvPr>
              <p:cNvGrpSpPr/>
              <p:nvPr/>
            </p:nvGrpSpPr>
            <p:grpSpPr>
              <a:xfrm>
                <a:off x="6391015" y="3260296"/>
                <a:ext cx="743343" cy="1063416"/>
                <a:chOff x="6298348" y="3168316"/>
                <a:chExt cx="867130" cy="1240504"/>
              </a:xfrm>
              <a:grpFill/>
            </p:grpSpPr>
            <p:pic>
              <p:nvPicPr>
                <p:cNvPr id="58" name="Graphique 57" descr="Enseignant avec un remplissage uni">
                  <a:extLst>
                    <a:ext uri="{FF2B5EF4-FFF2-40B4-BE49-F238E27FC236}">
                      <a16:creationId xmlns:a16="http://schemas.microsoft.com/office/drawing/2014/main" id="{1C95EF60-D701-4C44-ABAD-3CF13FDB025A}"/>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298348" y="3168316"/>
                  <a:ext cx="867130" cy="867130"/>
                </a:xfrm>
                <a:prstGeom prst="rect">
                  <a:avLst/>
                </a:prstGeom>
              </p:spPr>
            </p:pic>
            <p:pic>
              <p:nvPicPr>
                <p:cNvPr id="59" name="Graphique 58" descr="Personne confuse avec un remplissage uni">
                  <a:extLst>
                    <a:ext uri="{FF2B5EF4-FFF2-40B4-BE49-F238E27FC236}">
                      <a16:creationId xmlns:a16="http://schemas.microsoft.com/office/drawing/2014/main" id="{0138BCD2-DD33-4BB6-8A92-3EF2E88ACA33}"/>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14"/>
                    </a:ext>
                  </a:extLst>
                </a:blip>
                <a:srcRect l="34664" t="32545" r="38513" b="-1"/>
                <a:stretch/>
              </p:blipFill>
              <p:spPr>
                <a:xfrm>
                  <a:off x="6367463" y="3792004"/>
                  <a:ext cx="245268" cy="616816"/>
                </a:xfrm>
                <a:prstGeom prst="rect">
                  <a:avLst/>
                </a:prstGeom>
              </p:spPr>
            </p:pic>
            <p:sp>
              <p:nvSpPr>
                <p:cNvPr id="60" name="Rectangle : coins arrondis 59">
                  <a:extLst>
                    <a:ext uri="{FF2B5EF4-FFF2-40B4-BE49-F238E27FC236}">
                      <a16:creationId xmlns:a16="http://schemas.microsoft.com/office/drawing/2014/main" id="{52EC895E-24CD-48F5-BE5F-FAC6F2D0A885}"/>
                    </a:ext>
                  </a:extLst>
                </p:cNvPr>
                <p:cNvSpPr/>
                <p:nvPr/>
              </p:nvSpPr>
              <p:spPr>
                <a:xfrm rot="6712184">
                  <a:off x="6254922" y="3844588"/>
                  <a:ext cx="234739"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pic>
            <p:nvPicPr>
              <p:cNvPr id="57" name="Image 56">
                <a:extLst>
                  <a:ext uri="{FF2B5EF4-FFF2-40B4-BE49-F238E27FC236}">
                    <a16:creationId xmlns:a16="http://schemas.microsoft.com/office/drawing/2014/main" id="{5B497419-ED2B-46C0-ADB0-2795E645E15A}"/>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6951983" y="3638955"/>
                <a:ext cx="98432" cy="94958"/>
              </a:xfrm>
              <a:prstGeom prst="rect">
                <a:avLst/>
              </a:prstGeom>
              <a:noFill/>
              <a:ln>
                <a:noFill/>
              </a:ln>
            </p:spPr>
          </p:pic>
        </p:grpSp>
        <p:pic>
          <p:nvPicPr>
            <p:cNvPr id="55" name="Graphique 54" descr="Presse-papiers mixte avec un remplissage uni">
              <a:extLst>
                <a:ext uri="{FF2B5EF4-FFF2-40B4-BE49-F238E27FC236}">
                  <a16:creationId xmlns:a16="http://schemas.microsoft.com/office/drawing/2014/main" id="{103AB455-66F7-4D99-AE97-17F00DDA6F3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rot="20207580">
              <a:off x="7560150" y="3329802"/>
              <a:ext cx="314429" cy="314429"/>
            </a:xfrm>
            <a:prstGeom prst="rect">
              <a:avLst/>
            </a:prstGeom>
          </p:spPr>
        </p:pic>
      </p:grpSp>
    </p:spTree>
    <p:extLst>
      <p:ext uri="{BB962C8B-B14F-4D97-AF65-F5344CB8AC3E}">
        <p14:creationId xmlns:p14="http://schemas.microsoft.com/office/powerpoint/2010/main" val="14707678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071508F-00B6-48EB-9E05-2CF3767E59FF}"/>
              </a:ext>
            </a:extLst>
          </p:cNvPr>
          <p:cNvSpPr>
            <a:spLocks noGrp="1"/>
          </p:cNvSpPr>
          <p:nvPr>
            <p:ph type="title"/>
          </p:nvPr>
        </p:nvSpPr>
        <p:spPr/>
        <p:txBody>
          <a:bodyPr/>
          <a:lstStyle/>
          <a:p>
            <a:r>
              <a:rPr lang="en-US" dirty="0"/>
              <a:t>Hosting Community Boosters Checklists</a:t>
            </a:r>
          </a:p>
        </p:txBody>
      </p:sp>
      <p:sp>
        <p:nvSpPr>
          <p:cNvPr id="37" name="Espace réservé du texte 17">
            <a:extLst>
              <a:ext uri="{FF2B5EF4-FFF2-40B4-BE49-F238E27FC236}">
                <a16:creationId xmlns:a16="http://schemas.microsoft.com/office/drawing/2014/main" id="{84E81D4B-0B47-48DF-9F1A-F05E8F79586D}"/>
              </a:ext>
            </a:extLst>
          </p:cNvPr>
          <p:cNvSpPr>
            <a:spLocks noGrp="1"/>
          </p:cNvSpPr>
          <p:nvPr>
            <p:ph type="body" sz="quarter" idx="16"/>
          </p:nvPr>
        </p:nvSpPr>
        <p:spPr>
          <a:xfrm>
            <a:off x="846138" y="2514918"/>
            <a:ext cx="2404138" cy="3520758"/>
          </a:xfrm>
        </p:spPr>
        <p:txBody>
          <a:bodyPr/>
          <a:lstStyle/>
          <a:p>
            <a:r>
              <a:rPr lang="en-US" sz="1400" dirty="0"/>
              <a:t>When using this workshop, you might be either: </a:t>
            </a:r>
          </a:p>
          <a:p>
            <a:pPr marL="285750" indent="-285750">
              <a:buFontTx/>
              <a:buChar char="-"/>
            </a:pPr>
            <a:r>
              <a:rPr lang="en-US" sz="1400" dirty="0"/>
              <a:t>Decision-maker for Community Leader</a:t>
            </a:r>
          </a:p>
          <a:p>
            <a:pPr marL="285750" indent="-285750">
              <a:buFontTx/>
              <a:buChar char="-"/>
            </a:pPr>
            <a:r>
              <a:rPr lang="en-US" sz="1400" dirty="0"/>
              <a:t>Coach for Community members</a:t>
            </a:r>
          </a:p>
          <a:p>
            <a:r>
              <a:rPr lang="en-US" sz="1400" dirty="0"/>
              <a:t>In all cases, be clear about your position with the participants.</a:t>
            </a:r>
          </a:p>
        </p:txBody>
      </p:sp>
      <p:sp>
        <p:nvSpPr>
          <p:cNvPr id="38" name="Espace réservé du texte 2">
            <a:extLst>
              <a:ext uri="{FF2B5EF4-FFF2-40B4-BE49-F238E27FC236}">
                <a16:creationId xmlns:a16="http://schemas.microsoft.com/office/drawing/2014/main" id="{60664009-F884-41C1-8E16-0895E28E7602}"/>
              </a:ext>
            </a:extLst>
          </p:cNvPr>
          <p:cNvSpPr>
            <a:spLocks noGrp="1"/>
          </p:cNvSpPr>
          <p:nvPr>
            <p:ph type="body" idx="1"/>
          </p:nvPr>
        </p:nvSpPr>
        <p:spPr>
          <a:xfrm>
            <a:off x="838200" y="2011680"/>
            <a:ext cx="2412076" cy="503237"/>
          </a:xfrm>
        </p:spPr>
        <p:txBody>
          <a:bodyPr>
            <a:normAutofit fontScale="92500"/>
          </a:bodyPr>
          <a:lstStyle/>
          <a:p>
            <a:r>
              <a:rPr lang="en-US" sz="1400" dirty="0"/>
              <a:t>⚖️Posture and introduction</a:t>
            </a:r>
          </a:p>
        </p:txBody>
      </p:sp>
      <p:sp>
        <p:nvSpPr>
          <p:cNvPr id="39" name="Espace réservé du texte 18">
            <a:extLst>
              <a:ext uri="{FF2B5EF4-FFF2-40B4-BE49-F238E27FC236}">
                <a16:creationId xmlns:a16="http://schemas.microsoft.com/office/drawing/2014/main" id="{5433BB7F-90C0-406F-936A-62E085E3EA91}"/>
              </a:ext>
            </a:extLst>
          </p:cNvPr>
          <p:cNvSpPr>
            <a:spLocks noGrp="1"/>
          </p:cNvSpPr>
          <p:nvPr>
            <p:ph type="body" sz="quarter" idx="17"/>
          </p:nvPr>
        </p:nvSpPr>
        <p:spPr>
          <a:xfrm>
            <a:off x="3423084" y="2514600"/>
            <a:ext cx="5247090" cy="3520758"/>
          </a:xfrm>
        </p:spPr>
        <p:txBody>
          <a:bodyPr/>
          <a:lstStyle/>
          <a:p>
            <a:r>
              <a:rPr lang="en-US" sz="1400" dirty="0"/>
              <a:t>Make sure to present assessment not as a judgement of a person in general, but an assessment of a given status at a given time. Promote possibilities of continuous improvement, not only in matter of skillset, but also in situational aspects (recognition, resources) and motivation (intention).</a:t>
            </a:r>
          </a:p>
          <a:p>
            <a:r>
              <a:rPr lang="en-US" sz="1400" dirty="0"/>
              <a:t>Community Checklists are better used when transparent for all, candidates included. Candidates can even be invited in the workshop (and should be).</a:t>
            </a:r>
          </a:p>
          <a:p>
            <a:r>
              <a:rPr lang="en-US" sz="1400" dirty="0"/>
              <a:t>Be sure to insist on the fact that any category (intention, …) is rarely sufficient on their own. Someone with great intention but nothing else (no means, no recognition, no skills, …) has a long path, as well as someone with skills only, or someone with achievements only (power member for example).</a:t>
            </a:r>
          </a:p>
        </p:txBody>
      </p:sp>
      <p:sp>
        <p:nvSpPr>
          <p:cNvPr id="40" name="Espace réservé du texte 19">
            <a:extLst>
              <a:ext uri="{FF2B5EF4-FFF2-40B4-BE49-F238E27FC236}">
                <a16:creationId xmlns:a16="http://schemas.microsoft.com/office/drawing/2014/main" id="{991450BB-ABEA-45BB-AF06-87578122D87D}"/>
              </a:ext>
            </a:extLst>
          </p:cNvPr>
          <p:cNvSpPr>
            <a:spLocks noGrp="1"/>
          </p:cNvSpPr>
          <p:nvPr>
            <p:ph type="body" idx="18"/>
          </p:nvPr>
        </p:nvSpPr>
        <p:spPr>
          <a:xfrm>
            <a:off x="3415145" y="2011362"/>
            <a:ext cx="5255029" cy="503237"/>
          </a:xfrm>
        </p:spPr>
        <p:txBody>
          <a:bodyPr>
            <a:normAutofit/>
          </a:bodyPr>
          <a:lstStyle/>
          <a:p>
            <a:r>
              <a:rPr lang="en-US" sz="1400" dirty="0"/>
              <a:t>👨‍🏫Facilitation tips and tricks</a:t>
            </a:r>
          </a:p>
        </p:txBody>
      </p:sp>
      <p:sp>
        <p:nvSpPr>
          <p:cNvPr id="41" name="Espace réservé du texte 20">
            <a:extLst>
              <a:ext uri="{FF2B5EF4-FFF2-40B4-BE49-F238E27FC236}">
                <a16:creationId xmlns:a16="http://schemas.microsoft.com/office/drawing/2014/main" id="{0D81D87E-8900-4B2A-BAFC-61CC0883A5DB}"/>
              </a:ext>
            </a:extLst>
          </p:cNvPr>
          <p:cNvSpPr>
            <a:spLocks noGrp="1"/>
          </p:cNvSpPr>
          <p:nvPr>
            <p:ph type="body" sz="quarter" idx="19"/>
          </p:nvPr>
        </p:nvSpPr>
        <p:spPr>
          <a:xfrm>
            <a:off x="8941724" y="2514600"/>
            <a:ext cx="2404138" cy="3520758"/>
          </a:xfrm>
        </p:spPr>
        <p:txBody>
          <a:bodyPr/>
          <a:lstStyle/>
          <a:p>
            <a:r>
              <a:rPr lang="en-US" sz="1400" dirty="0"/>
              <a:t>No debriefing needed for this workshop</a:t>
            </a:r>
          </a:p>
        </p:txBody>
      </p:sp>
      <p:sp>
        <p:nvSpPr>
          <p:cNvPr id="42" name="Espace réservé du texte 21">
            <a:extLst>
              <a:ext uri="{FF2B5EF4-FFF2-40B4-BE49-F238E27FC236}">
                <a16:creationId xmlns:a16="http://schemas.microsoft.com/office/drawing/2014/main" id="{AC93F99B-AE27-4039-9AD5-B340397F2D02}"/>
              </a:ext>
            </a:extLst>
          </p:cNvPr>
          <p:cNvSpPr>
            <a:spLocks noGrp="1"/>
          </p:cNvSpPr>
          <p:nvPr>
            <p:ph type="body" idx="20"/>
          </p:nvPr>
        </p:nvSpPr>
        <p:spPr>
          <a:xfrm>
            <a:off x="8933786" y="2011362"/>
            <a:ext cx="2412076" cy="503237"/>
          </a:xfrm>
        </p:spPr>
        <p:txBody>
          <a:bodyPr>
            <a:normAutofit/>
          </a:bodyPr>
          <a:lstStyle/>
          <a:p>
            <a:r>
              <a:rPr lang="en-US" sz="1400" dirty="0"/>
              <a:t>🙋Debriefing</a:t>
            </a:r>
          </a:p>
        </p:txBody>
      </p:sp>
    </p:spTree>
    <p:extLst>
      <p:ext uri="{BB962C8B-B14F-4D97-AF65-F5344CB8AC3E}">
        <p14:creationId xmlns:p14="http://schemas.microsoft.com/office/powerpoint/2010/main" val="42703760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071508F-00B6-48EB-9E05-2CF3767E59FF}"/>
              </a:ext>
            </a:extLst>
          </p:cNvPr>
          <p:cNvSpPr>
            <a:spLocks noGrp="1"/>
          </p:cNvSpPr>
          <p:nvPr>
            <p:ph type="title"/>
          </p:nvPr>
        </p:nvSpPr>
        <p:spPr/>
        <p:txBody>
          <a:bodyPr/>
          <a:lstStyle/>
          <a:p>
            <a:r>
              <a:rPr lang="en-US" dirty="0"/>
              <a:t>Adapting Community Boosters Checklists</a:t>
            </a:r>
          </a:p>
        </p:txBody>
      </p:sp>
      <p:graphicFrame>
        <p:nvGraphicFramePr>
          <p:cNvPr id="46" name="Tableau 16">
            <a:extLst>
              <a:ext uri="{FF2B5EF4-FFF2-40B4-BE49-F238E27FC236}">
                <a16:creationId xmlns:a16="http://schemas.microsoft.com/office/drawing/2014/main" id="{A1A89359-9EBD-4BE9-9EE7-2603FE9D0BEF}"/>
              </a:ext>
            </a:extLst>
          </p:cNvPr>
          <p:cNvGraphicFramePr>
            <a:graphicFrameLocks/>
          </p:cNvGraphicFramePr>
          <p:nvPr>
            <p:extLst>
              <p:ext uri="{D42A27DB-BD31-4B8C-83A1-F6EECF244321}">
                <p14:modId xmlns:p14="http://schemas.microsoft.com/office/powerpoint/2010/main" val="844240217"/>
              </p:ext>
            </p:extLst>
          </p:nvPr>
        </p:nvGraphicFramePr>
        <p:xfrm>
          <a:off x="6961023" y="1821540"/>
          <a:ext cx="4740676" cy="2439869"/>
        </p:xfrm>
        <a:graphic>
          <a:graphicData uri="http://schemas.openxmlformats.org/drawingml/2006/table">
            <a:tbl>
              <a:tblPr firstRow="1" bandRow="1">
                <a:tableStyleId>{5C22544A-7EE6-4342-B048-85BDC9FD1C3A}</a:tableStyleId>
              </a:tblPr>
              <a:tblGrid>
                <a:gridCol w="2370338">
                  <a:extLst>
                    <a:ext uri="{9D8B030D-6E8A-4147-A177-3AD203B41FA5}">
                      <a16:colId xmlns:a16="http://schemas.microsoft.com/office/drawing/2014/main" val="4158832131"/>
                    </a:ext>
                  </a:extLst>
                </a:gridCol>
                <a:gridCol w="2370338">
                  <a:extLst>
                    <a:ext uri="{9D8B030D-6E8A-4147-A177-3AD203B41FA5}">
                      <a16:colId xmlns:a16="http://schemas.microsoft.com/office/drawing/2014/main" val="1576795340"/>
                    </a:ext>
                  </a:extLst>
                </a:gridCol>
              </a:tblGrid>
              <a:tr h="397465">
                <a:tc gridSpan="2">
                  <a:txBody>
                    <a:bodyPr/>
                    <a:lstStyle/>
                    <a:p>
                      <a:r>
                        <a:rPr lang="en-US" sz="1200" noProof="0"/>
                        <a:t>Ideas for variations</a:t>
                      </a:r>
                    </a:p>
                  </a:txBody>
                  <a:tcPr/>
                </a:tc>
                <a:tc hMerge="1">
                  <a:txBody>
                    <a:bodyPr/>
                    <a:lstStyle/>
                    <a:p>
                      <a:endParaRPr lang="fr-FR" dirty="0"/>
                    </a:p>
                  </a:txBody>
                  <a:tcPr/>
                </a:tc>
                <a:extLst>
                  <a:ext uri="{0D108BD9-81ED-4DB2-BD59-A6C34878D82A}">
                    <a16:rowId xmlns:a16="http://schemas.microsoft.com/office/drawing/2014/main" val="1636608431"/>
                  </a:ext>
                </a:extLst>
              </a:tr>
              <a:tr h="426541">
                <a:tc>
                  <a:txBody>
                    <a:bodyPr/>
                    <a:lstStyle/>
                    <a:p>
                      <a:pPr marL="0" algn="l" defTabSz="914400" rtl="0" eaLnBrk="1" latinLnBrk="0" hangingPunct="1"/>
                      <a:r>
                        <a:rPr lang="en-US" sz="1200" b="1" kern="1200" noProof="0">
                          <a:solidFill>
                            <a:schemeClr val="lt1"/>
                          </a:solidFill>
                          <a:latin typeface="+mn-lt"/>
                          <a:ea typeface="+mn-ea"/>
                          <a:cs typeface="+mn-cs"/>
                        </a:rPr>
                        <a:t>Title of the variation or extension</a:t>
                      </a:r>
                    </a:p>
                  </a:txBody>
                  <a:tcPr>
                    <a:solidFill>
                      <a:srgbClr val="0683AA"/>
                    </a:solidFill>
                  </a:tcPr>
                </a:tc>
                <a:tc>
                  <a:txBody>
                    <a:bodyPr/>
                    <a:lstStyle/>
                    <a:p>
                      <a:pPr marL="0" algn="l" defTabSz="914400" rtl="0" eaLnBrk="1" latinLnBrk="0" hangingPunct="1"/>
                      <a:r>
                        <a:rPr lang="en-US" sz="1200" b="1" kern="1200" noProof="0">
                          <a:solidFill>
                            <a:schemeClr val="lt1"/>
                          </a:solidFill>
                          <a:latin typeface="+mn-lt"/>
                          <a:ea typeface="+mn-ea"/>
                          <a:cs typeface="+mn-cs"/>
                        </a:rPr>
                        <a:t>Description</a:t>
                      </a:r>
                    </a:p>
                  </a:txBody>
                  <a:tcPr>
                    <a:solidFill>
                      <a:srgbClr val="0683AA"/>
                    </a:solidFill>
                  </a:tcPr>
                </a:tc>
                <a:extLst>
                  <a:ext uri="{0D108BD9-81ED-4DB2-BD59-A6C34878D82A}">
                    <a16:rowId xmlns:a16="http://schemas.microsoft.com/office/drawing/2014/main" val="1323693463"/>
                  </a:ext>
                </a:extLst>
              </a:tr>
              <a:tr h="396301">
                <a:tc>
                  <a:txBody>
                    <a:bodyPr/>
                    <a:lstStyle/>
                    <a:p>
                      <a:endParaRPr lang="en-US" sz="1100" noProof="0" dirty="0"/>
                    </a:p>
                  </a:txBody>
                  <a:tcPr/>
                </a:tc>
                <a:tc>
                  <a:txBody>
                    <a:bodyPr/>
                    <a:lstStyle/>
                    <a:p>
                      <a:endParaRPr lang="en-US" sz="1100" noProof="0" dirty="0"/>
                    </a:p>
                  </a:txBody>
                  <a:tcPr/>
                </a:tc>
                <a:extLst>
                  <a:ext uri="{0D108BD9-81ED-4DB2-BD59-A6C34878D82A}">
                    <a16:rowId xmlns:a16="http://schemas.microsoft.com/office/drawing/2014/main" val="1824107877"/>
                  </a:ext>
                </a:extLst>
              </a:tr>
              <a:tr h="396301">
                <a:tc>
                  <a:txBody>
                    <a:bodyPr/>
                    <a:lstStyle/>
                    <a:p>
                      <a:endParaRPr lang="en-US" sz="1100" noProof="0"/>
                    </a:p>
                  </a:txBody>
                  <a:tcPr/>
                </a:tc>
                <a:tc>
                  <a:txBody>
                    <a:bodyPr/>
                    <a:lstStyle/>
                    <a:p>
                      <a:endParaRPr lang="en-US" sz="1100" noProof="0"/>
                    </a:p>
                  </a:txBody>
                  <a:tcPr/>
                </a:tc>
                <a:extLst>
                  <a:ext uri="{0D108BD9-81ED-4DB2-BD59-A6C34878D82A}">
                    <a16:rowId xmlns:a16="http://schemas.microsoft.com/office/drawing/2014/main" val="1035027814"/>
                  </a:ext>
                </a:extLst>
              </a:tr>
              <a:tr h="396301">
                <a:tc>
                  <a:txBody>
                    <a:bodyPr/>
                    <a:lstStyle/>
                    <a:p>
                      <a:endParaRPr lang="en-US" sz="1100" noProof="0"/>
                    </a:p>
                  </a:txBody>
                  <a:tcPr/>
                </a:tc>
                <a:tc>
                  <a:txBody>
                    <a:bodyPr/>
                    <a:lstStyle/>
                    <a:p>
                      <a:endParaRPr lang="en-US" sz="1100" noProof="0"/>
                    </a:p>
                  </a:txBody>
                  <a:tcPr/>
                </a:tc>
                <a:extLst>
                  <a:ext uri="{0D108BD9-81ED-4DB2-BD59-A6C34878D82A}">
                    <a16:rowId xmlns:a16="http://schemas.microsoft.com/office/drawing/2014/main" val="122548462"/>
                  </a:ext>
                </a:extLst>
              </a:tr>
              <a:tr h="396301">
                <a:tc>
                  <a:txBody>
                    <a:bodyPr/>
                    <a:lstStyle/>
                    <a:p>
                      <a:endParaRPr lang="en-US" sz="1100" noProof="0"/>
                    </a:p>
                  </a:txBody>
                  <a:tcPr/>
                </a:tc>
                <a:tc>
                  <a:txBody>
                    <a:bodyPr/>
                    <a:lstStyle/>
                    <a:p>
                      <a:endParaRPr lang="en-US" sz="1100" noProof="0" dirty="0"/>
                    </a:p>
                  </a:txBody>
                  <a:tcPr/>
                </a:tc>
                <a:extLst>
                  <a:ext uri="{0D108BD9-81ED-4DB2-BD59-A6C34878D82A}">
                    <a16:rowId xmlns:a16="http://schemas.microsoft.com/office/drawing/2014/main" val="3400619796"/>
                  </a:ext>
                </a:extLst>
              </a:tr>
            </a:tbl>
          </a:graphicData>
        </a:graphic>
      </p:graphicFrame>
      <p:graphicFrame>
        <p:nvGraphicFramePr>
          <p:cNvPr id="47" name="Tableau 4">
            <a:extLst>
              <a:ext uri="{FF2B5EF4-FFF2-40B4-BE49-F238E27FC236}">
                <a16:creationId xmlns:a16="http://schemas.microsoft.com/office/drawing/2014/main" id="{E532220D-FB7A-4D58-94AD-62D5519F5AAE}"/>
              </a:ext>
            </a:extLst>
          </p:cNvPr>
          <p:cNvGraphicFramePr>
            <a:graphicFrameLocks/>
          </p:cNvGraphicFramePr>
          <p:nvPr>
            <p:extLst>
              <p:ext uri="{D42A27DB-BD31-4B8C-83A1-F6EECF244321}">
                <p14:modId xmlns:p14="http://schemas.microsoft.com/office/powerpoint/2010/main" val="2987361466"/>
              </p:ext>
            </p:extLst>
          </p:nvPr>
        </p:nvGraphicFramePr>
        <p:xfrm>
          <a:off x="362762" y="1821540"/>
          <a:ext cx="6191648" cy="2763520"/>
        </p:xfrm>
        <a:graphic>
          <a:graphicData uri="http://schemas.openxmlformats.org/drawingml/2006/table">
            <a:tbl>
              <a:tblPr firstRow="1" bandRow="1">
                <a:tableStyleId>{21E4AEA4-8DFA-4A89-87EB-49C32662AFE0}</a:tableStyleId>
              </a:tblPr>
              <a:tblGrid>
                <a:gridCol w="720314">
                  <a:extLst>
                    <a:ext uri="{9D8B030D-6E8A-4147-A177-3AD203B41FA5}">
                      <a16:colId xmlns:a16="http://schemas.microsoft.com/office/drawing/2014/main" val="3807656759"/>
                    </a:ext>
                  </a:extLst>
                </a:gridCol>
                <a:gridCol w="1465571">
                  <a:extLst>
                    <a:ext uri="{9D8B030D-6E8A-4147-A177-3AD203B41FA5}">
                      <a16:colId xmlns:a16="http://schemas.microsoft.com/office/drawing/2014/main" val="2648948851"/>
                    </a:ext>
                  </a:extLst>
                </a:gridCol>
                <a:gridCol w="780479">
                  <a:extLst>
                    <a:ext uri="{9D8B030D-6E8A-4147-A177-3AD203B41FA5}">
                      <a16:colId xmlns:a16="http://schemas.microsoft.com/office/drawing/2014/main" val="285982558"/>
                    </a:ext>
                  </a:extLst>
                </a:gridCol>
                <a:gridCol w="3225284">
                  <a:extLst>
                    <a:ext uri="{9D8B030D-6E8A-4147-A177-3AD203B41FA5}">
                      <a16:colId xmlns:a16="http://schemas.microsoft.com/office/drawing/2014/main" val="1267208164"/>
                    </a:ext>
                  </a:extLst>
                </a:gridCol>
              </a:tblGrid>
              <a:tr h="370840">
                <a:tc gridSpan="4">
                  <a:txBody>
                    <a:bodyPr/>
                    <a:lstStyle/>
                    <a:p>
                      <a:r>
                        <a:rPr lang="en-US" sz="1200" noProof="0"/>
                        <a:t>Version History</a:t>
                      </a:r>
                    </a:p>
                  </a:txBody>
                  <a:tcPr/>
                </a:tc>
                <a:tc hMerge="1">
                  <a:txBody>
                    <a:bodyPr/>
                    <a:lstStyle/>
                    <a:p>
                      <a:endParaRPr lang="fr-FR" sz="1200"/>
                    </a:p>
                  </a:txBody>
                  <a:tcPr/>
                </a:tc>
                <a:tc hMerge="1">
                  <a:txBody>
                    <a:bodyPr/>
                    <a:lstStyle/>
                    <a:p>
                      <a:endParaRPr lang="fr-FR" sz="1200" dirty="0"/>
                    </a:p>
                  </a:txBody>
                  <a:tcPr/>
                </a:tc>
                <a:tc hMerge="1">
                  <a:txBody>
                    <a:bodyPr/>
                    <a:lstStyle/>
                    <a:p>
                      <a:endParaRPr lang="fr-FR" sz="1200" dirty="0"/>
                    </a:p>
                  </a:txBody>
                  <a:tcPr/>
                </a:tc>
                <a:extLst>
                  <a:ext uri="{0D108BD9-81ED-4DB2-BD59-A6C34878D82A}">
                    <a16:rowId xmlns:a16="http://schemas.microsoft.com/office/drawing/2014/main" val="2987021370"/>
                  </a:ext>
                </a:extLst>
              </a:tr>
              <a:tr h="370840">
                <a:tc>
                  <a:txBody>
                    <a:bodyPr/>
                    <a:lstStyle/>
                    <a:p>
                      <a:r>
                        <a:rPr lang="en-US" sz="1200" b="1" kern="1200" noProof="0">
                          <a:solidFill>
                            <a:schemeClr val="lt1"/>
                          </a:solidFill>
                          <a:latin typeface="+mn-lt"/>
                          <a:ea typeface="+mn-ea"/>
                          <a:cs typeface="+mn-cs"/>
                        </a:rPr>
                        <a:t>Version </a:t>
                      </a:r>
                    </a:p>
                  </a:txBody>
                  <a:tcPr>
                    <a:solidFill>
                      <a:srgbClr val="ED7D31"/>
                    </a:solidFill>
                  </a:tcPr>
                </a:tc>
                <a:tc>
                  <a:txBody>
                    <a:bodyPr/>
                    <a:lstStyle/>
                    <a:p>
                      <a:r>
                        <a:rPr lang="en-US" sz="1200" b="1" kern="1200" noProof="0">
                          <a:solidFill>
                            <a:schemeClr val="lt1"/>
                          </a:solidFill>
                          <a:latin typeface="+mn-lt"/>
                          <a:ea typeface="+mn-ea"/>
                          <a:cs typeface="+mn-cs"/>
                        </a:rPr>
                        <a:t>Contributors</a:t>
                      </a:r>
                    </a:p>
                  </a:txBody>
                  <a:tcPr>
                    <a:solidFill>
                      <a:srgbClr val="ED7D31"/>
                    </a:solidFill>
                  </a:tcPr>
                </a:tc>
                <a:tc>
                  <a:txBody>
                    <a:bodyPr/>
                    <a:lstStyle/>
                    <a:p>
                      <a:r>
                        <a:rPr lang="en-US" sz="1200" b="1" kern="1200" noProof="0">
                          <a:solidFill>
                            <a:schemeClr val="lt1"/>
                          </a:solidFill>
                          <a:latin typeface="+mn-lt"/>
                          <a:ea typeface="+mn-ea"/>
                          <a:cs typeface="+mn-cs"/>
                        </a:rPr>
                        <a:t>Licence</a:t>
                      </a:r>
                    </a:p>
                  </a:txBody>
                  <a:tcPr>
                    <a:solidFill>
                      <a:srgbClr val="ED7D31"/>
                    </a:solidFill>
                  </a:tcPr>
                </a:tc>
                <a:tc>
                  <a:txBody>
                    <a:bodyPr/>
                    <a:lstStyle/>
                    <a:p>
                      <a:r>
                        <a:rPr lang="en-US" sz="1200" b="1" kern="1200" noProof="0">
                          <a:solidFill>
                            <a:schemeClr val="lt1"/>
                          </a:solidFill>
                          <a:latin typeface="+mn-lt"/>
                          <a:ea typeface="+mn-ea"/>
                          <a:cs typeface="+mn-cs"/>
                        </a:rPr>
                        <a:t>Comments</a:t>
                      </a:r>
                    </a:p>
                  </a:txBody>
                  <a:tcPr>
                    <a:solidFill>
                      <a:srgbClr val="ED7D31"/>
                    </a:solidFill>
                  </a:tcPr>
                </a:tc>
                <a:extLst>
                  <a:ext uri="{0D108BD9-81ED-4DB2-BD59-A6C34878D82A}">
                    <a16:rowId xmlns:a16="http://schemas.microsoft.com/office/drawing/2014/main" val="748113296"/>
                  </a:ext>
                </a:extLst>
              </a:tr>
              <a:tr h="370840">
                <a:tc>
                  <a:txBody>
                    <a:bodyPr/>
                    <a:lstStyle/>
                    <a:p>
                      <a:r>
                        <a:rPr lang="en-US" sz="1200" noProof="0"/>
                        <a:t>1.0</a:t>
                      </a:r>
                    </a:p>
                  </a:txBody>
                  <a:tcPr/>
                </a:tc>
                <a:tc>
                  <a:txBody>
                    <a:bodyPr/>
                    <a:lstStyle/>
                    <a:p>
                      <a:r>
                        <a:rPr lang="en-US" sz="1200" noProof="0" dirty="0"/>
                        <a:t>Alexandre QUACH &amp; KOMYU </a:t>
                      </a:r>
                      <a:r>
                        <a:rPr lang="en-US" sz="1200" noProof="0"/>
                        <a:t>(www.komyu.fr)</a:t>
                      </a:r>
                      <a:endParaRPr lang="en-US" sz="1200" noProof="0" dirty="0"/>
                    </a:p>
                  </a:txBody>
                  <a:tcPr/>
                </a:tc>
                <a:tc>
                  <a:txBody>
                    <a:bodyPr/>
                    <a:lstStyle/>
                    <a:p>
                      <a:r>
                        <a:rPr lang="en-US" sz="1200" noProof="0" dirty="0"/>
                        <a:t>CC-BY-4.0</a:t>
                      </a:r>
                    </a:p>
                  </a:txBody>
                  <a:tcPr/>
                </a:tc>
                <a:tc>
                  <a:txBody>
                    <a:bodyPr/>
                    <a:lstStyle/>
                    <a:p>
                      <a:r>
                        <a:rPr lang="en-US" sz="1200" noProof="0" dirty="0"/>
                        <a:t>First version </a:t>
                      </a:r>
                    </a:p>
                  </a:txBody>
                  <a:tcPr/>
                </a:tc>
                <a:extLst>
                  <a:ext uri="{0D108BD9-81ED-4DB2-BD59-A6C34878D82A}">
                    <a16:rowId xmlns:a16="http://schemas.microsoft.com/office/drawing/2014/main" val="2337500579"/>
                  </a:ext>
                </a:extLst>
              </a:tr>
              <a:tr h="370840">
                <a:tc>
                  <a:txBody>
                    <a:bodyPr/>
                    <a:lstStyle/>
                    <a:p>
                      <a:endParaRPr lang="en-US" sz="1200" noProof="0"/>
                    </a:p>
                  </a:txBody>
                  <a:tcPr/>
                </a:tc>
                <a:tc>
                  <a:txBody>
                    <a:bodyPr/>
                    <a:lstStyle/>
                    <a:p>
                      <a:endParaRPr lang="en-US" sz="1200" noProof="0"/>
                    </a:p>
                  </a:txBody>
                  <a:tcPr/>
                </a:tc>
                <a:tc>
                  <a:txBody>
                    <a:bodyPr/>
                    <a:lstStyle/>
                    <a:p>
                      <a:endParaRPr lang="en-US" sz="1200" noProof="0"/>
                    </a:p>
                  </a:txBody>
                  <a:tcPr/>
                </a:tc>
                <a:tc>
                  <a:txBody>
                    <a:bodyPr/>
                    <a:lstStyle/>
                    <a:p>
                      <a:endParaRPr lang="en-US" sz="1200" noProof="0" dirty="0"/>
                    </a:p>
                  </a:txBody>
                  <a:tcPr/>
                </a:tc>
                <a:extLst>
                  <a:ext uri="{0D108BD9-81ED-4DB2-BD59-A6C34878D82A}">
                    <a16:rowId xmlns:a16="http://schemas.microsoft.com/office/drawing/2014/main" val="3565347869"/>
                  </a:ext>
                </a:extLst>
              </a:tr>
              <a:tr h="370840">
                <a:tc>
                  <a:txBody>
                    <a:bodyPr/>
                    <a:lstStyle/>
                    <a:p>
                      <a:endParaRPr lang="en-US" sz="1200" noProof="0"/>
                    </a:p>
                  </a:txBody>
                  <a:tcPr/>
                </a:tc>
                <a:tc>
                  <a:txBody>
                    <a:bodyPr/>
                    <a:lstStyle/>
                    <a:p>
                      <a:endParaRPr lang="en-US" sz="1200" noProof="0"/>
                    </a:p>
                  </a:txBody>
                  <a:tcPr/>
                </a:tc>
                <a:tc>
                  <a:txBody>
                    <a:bodyPr/>
                    <a:lstStyle/>
                    <a:p>
                      <a:endParaRPr lang="en-US" sz="1200" noProof="0"/>
                    </a:p>
                  </a:txBody>
                  <a:tcPr/>
                </a:tc>
                <a:tc>
                  <a:txBody>
                    <a:bodyPr/>
                    <a:lstStyle/>
                    <a:p>
                      <a:endParaRPr lang="en-US" sz="1200" noProof="0"/>
                    </a:p>
                  </a:txBody>
                  <a:tcPr/>
                </a:tc>
                <a:extLst>
                  <a:ext uri="{0D108BD9-81ED-4DB2-BD59-A6C34878D82A}">
                    <a16:rowId xmlns:a16="http://schemas.microsoft.com/office/drawing/2014/main" val="26495474"/>
                  </a:ext>
                </a:extLst>
              </a:tr>
              <a:tr h="370840">
                <a:tc>
                  <a:txBody>
                    <a:bodyPr/>
                    <a:lstStyle/>
                    <a:p>
                      <a:endParaRPr lang="en-US" sz="1200" noProof="0"/>
                    </a:p>
                  </a:txBody>
                  <a:tcPr/>
                </a:tc>
                <a:tc>
                  <a:txBody>
                    <a:bodyPr/>
                    <a:lstStyle/>
                    <a:p>
                      <a:endParaRPr lang="en-US" sz="1200" noProof="0"/>
                    </a:p>
                  </a:txBody>
                  <a:tcPr/>
                </a:tc>
                <a:tc>
                  <a:txBody>
                    <a:bodyPr/>
                    <a:lstStyle/>
                    <a:p>
                      <a:endParaRPr lang="en-US" sz="1200" noProof="0"/>
                    </a:p>
                  </a:txBody>
                  <a:tcPr/>
                </a:tc>
                <a:tc>
                  <a:txBody>
                    <a:bodyPr/>
                    <a:lstStyle/>
                    <a:p>
                      <a:endParaRPr lang="en-US" sz="1200" noProof="0" dirty="0"/>
                    </a:p>
                  </a:txBody>
                  <a:tcPr/>
                </a:tc>
                <a:extLst>
                  <a:ext uri="{0D108BD9-81ED-4DB2-BD59-A6C34878D82A}">
                    <a16:rowId xmlns:a16="http://schemas.microsoft.com/office/drawing/2014/main" val="3632454121"/>
                  </a:ext>
                </a:extLst>
              </a:tr>
            </a:tbl>
          </a:graphicData>
        </a:graphic>
      </p:graphicFrame>
    </p:spTree>
    <p:extLst>
      <p:ext uri="{BB962C8B-B14F-4D97-AF65-F5344CB8AC3E}">
        <p14:creationId xmlns:p14="http://schemas.microsoft.com/office/powerpoint/2010/main" val="2545377066"/>
      </p:ext>
    </p:extLst>
  </p:cSld>
  <p:clrMapOvr>
    <a:masterClrMapping/>
  </p:clrMapOvr>
</p:sld>
</file>

<file path=ppt/theme/theme1.xml><?xml version="1.0" encoding="utf-8"?>
<a:theme xmlns:a="http://schemas.openxmlformats.org/drawingml/2006/main" name="AccentBoxVTI">
  <a:themeElements>
    <a:clrScheme name="Personnalisé 2">
      <a:dk1>
        <a:sysClr val="windowText" lastClr="000000"/>
      </a:dk1>
      <a:lt1>
        <a:sysClr val="window" lastClr="FFFFFF"/>
      </a:lt1>
      <a:dk2>
        <a:srgbClr val="44546A"/>
      </a:dk2>
      <a:lt2>
        <a:srgbClr val="E7E6E6"/>
      </a:lt2>
      <a:accent1>
        <a:srgbClr val="3494BA"/>
      </a:accent1>
      <a:accent2>
        <a:srgbClr val="ED7D31"/>
      </a:accent2>
      <a:accent3>
        <a:srgbClr val="A5A5A5"/>
      </a:accent3>
      <a:accent4>
        <a:srgbClr val="F4AD7C"/>
      </a:accent4>
      <a:accent5>
        <a:srgbClr val="69B6D5"/>
      </a:accent5>
      <a:accent6>
        <a:srgbClr val="70AD47"/>
      </a:accent6>
      <a:hlink>
        <a:srgbClr val="0563C1"/>
      </a:hlink>
      <a:folHlink>
        <a:srgbClr val="954F72"/>
      </a:folHlink>
    </a:clrScheme>
    <a:fontScheme name="Avenir">
      <a:majorFont>
        <a:latin typeface="Avenir Next LT Pro"/>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ccentBoxVTI" id="{9F778A78-DC9A-453A-A82D-A75CAD503E15}" vid="{EA961113-7CC4-4569-8A6A-7BC2C1E2F401}"/>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3095EDE67814541926D3AC5F9ACC08F" ma:contentTypeVersion="20" ma:contentTypeDescription="Crée un document." ma:contentTypeScope="" ma:versionID="ab5f056c1685c19dcddb0d1ebb0a02fa">
  <xsd:schema xmlns:xsd="http://www.w3.org/2001/XMLSchema" xmlns:xs="http://www.w3.org/2001/XMLSchema" xmlns:p="http://schemas.microsoft.com/office/2006/metadata/properties" xmlns:ns2="ae28f11b-d4f1-47fe-837d-5da7d4fdfa8d" xmlns:ns3="2e054d75-df43-4e50-a610-0e7b0816d11a" targetNamespace="http://schemas.microsoft.com/office/2006/metadata/properties" ma:root="true" ma:fieldsID="ce125f74d79e439008123c9d5b80009b" ns2:_="" ns3:_="">
    <xsd:import namespace="ae28f11b-d4f1-47fe-837d-5da7d4fdfa8d"/>
    <xsd:import namespace="2e054d75-df43-4e50-a610-0e7b0816d11a"/>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lcf76f155ced4ddcb4097134ff3c332f" minOccurs="0"/>
                <xsd:element ref="ns3:TaxCatchAll" minOccurs="0"/>
                <xsd:element ref="ns2:MediaServiceDateTaken" minOccurs="0"/>
                <xsd:element ref="ns2:MediaServiceLocation" minOccurs="0"/>
                <xsd:element ref="ns2:MediaServiceGenerationTime" minOccurs="0"/>
                <xsd:element ref="ns2:MediaServiceEventHashCode" minOccurs="0"/>
                <xsd:element ref="ns2:MediaServiceOCR" minOccurs="0"/>
                <xsd:element ref="ns2:MediaLengthInSeconds" minOccurs="0"/>
                <xsd:element ref="ns2:MediaServiceObjectDetectorVersions" minOccurs="0"/>
                <xsd:element ref="ns2:Descrip" minOccurs="0"/>
                <xsd:element ref="ns2:TestDescription" minOccurs="0"/>
                <xsd:element ref="ns2:Statu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e28f11b-d4f1-47fe-837d-5da7d4fdfa8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3" nillable="true" ma:taxonomy="true" ma:internalName="lcf76f155ced4ddcb4097134ff3c332f" ma:taxonomyFieldName="MediaServiceImageTags" ma:displayName="Balises d’images" ma:readOnly="false" ma:fieldId="{5cf76f15-5ced-4ddc-b409-7134ff3c332f}" ma:taxonomyMulti="true" ma:sspId="10fb7d0a-9414-48cb-b3b7-290175ae35a9"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Location" ma:index="16" nillable="true" ma:displayName="Location" ma:indexed="true" ma:internalName="MediaServiceLocation" ma:readOnly="true">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MediaLengthInSeconds" ma:index="20" nillable="true" ma:displayName="MediaLengthInSeconds" ma:hidden="true" ma:internalName="MediaLengthInSeconds" ma:readOnly="true">
      <xsd:simpleType>
        <xsd:restriction base="dms:Unknown"/>
      </xsd:simpleType>
    </xsd:element>
    <xsd:element name="MediaServiceObjectDetectorVersions" ma:index="21" nillable="true" ma:displayName="MediaServiceObjectDetectorVersions" ma:hidden="true" ma:indexed="true" ma:internalName="MediaServiceObjectDetectorVersions" ma:readOnly="true">
      <xsd:simpleType>
        <xsd:restriction base="dms:Text"/>
      </xsd:simpleType>
    </xsd:element>
    <xsd:element name="Descrip" ma:index="22" nillable="true" ma:displayName="Descrip" ma:format="Dropdown" ma:internalName="Descrip">
      <xsd:simpleType>
        <xsd:restriction base="dms:Note">
          <xsd:maxLength value="255"/>
        </xsd:restriction>
      </xsd:simpleType>
    </xsd:element>
    <xsd:element name="TestDescription" ma:index="23" nillable="true" ma:displayName="Folder Description" ma:format="Dropdown" ma:internalName="TestDescription">
      <xsd:simpleType>
        <xsd:restriction base="dms:Note">
          <xsd:maxLength value="255"/>
        </xsd:restriction>
      </xsd:simpleType>
    </xsd:element>
    <xsd:element name="Status" ma:index="24" nillable="true" ma:displayName="Status" ma:default="Draft - Brouillon" ma:description="Draft : not usable&#10;Frozen - Usable : Do not modify, make a copy&#10;Evolving - Usable : Modify if you need" ma:format="Dropdown" ma:internalName="Status">
      <xsd:simpleType>
        <xsd:restriction base="dms:Choice">
          <xsd:enumeration value="Draft - Brouillon"/>
          <xsd:enumeration value="Evolving - Usable"/>
          <xsd:enumeration value="Frozen - Usable"/>
        </xsd:restriction>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e054d75-df43-4e50-a610-0e7b0816d11a" elementFormDefault="qualified">
    <xsd:import namespace="http://schemas.microsoft.com/office/2006/documentManagement/types"/>
    <xsd:import namespace="http://schemas.microsoft.com/office/infopath/2007/PartnerControls"/>
    <xsd:element name="SharedWithUsers" ma:index="10" nillable="true" ma:displayName="Partagé avec"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Partagé avec détails" ma:internalName="SharedWithDetails" ma:readOnly="true">
      <xsd:simpleType>
        <xsd:restriction base="dms:Note">
          <xsd:maxLength value="255"/>
        </xsd:restriction>
      </xsd:simpleType>
    </xsd:element>
    <xsd:element name="TaxCatchAll" ma:index="14" nillable="true" ma:displayName="Taxonomy Catch All Column" ma:hidden="true" ma:list="{9dd72b47-dd46-40b1-8755-ebe9ce9f18af}" ma:internalName="TaxCatchAll" ma:showField="CatchAllData" ma:web="2e054d75-df43-4e50-a610-0e7b0816d11a">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ae28f11b-d4f1-47fe-837d-5da7d4fdfa8d">
      <Terms xmlns="http://schemas.microsoft.com/office/infopath/2007/PartnerControls"/>
    </lcf76f155ced4ddcb4097134ff3c332f>
    <TaxCatchAll xmlns="2e054d75-df43-4e50-a610-0e7b0816d11a" xsi:nil="true"/>
    <Status xmlns="ae28f11b-d4f1-47fe-837d-5da7d4fdfa8d">Evolving - Usable</Status>
    <Descrip xmlns="ae28f11b-d4f1-47fe-837d-5da7d4fdfa8d" xsi:nil="true"/>
    <TestDescription xmlns="ae28f11b-d4f1-47fe-837d-5da7d4fdfa8d" xsi:nil="true"/>
  </documentManagement>
</p:properties>
</file>

<file path=customXml/itemProps1.xml><?xml version="1.0" encoding="utf-8"?>
<ds:datastoreItem xmlns:ds="http://schemas.openxmlformats.org/officeDocument/2006/customXml" ds:itemID="{33C161E1-A4D5-4606-9EAD-6299D9977A1E}"/>
</file>

<file path=customXml/itemProps2.xml><?xml version="1.0" encoding="utf-8"?>
<ds:datastoreItem xmlns:ds="http://schemas.openxmlformats.org/officeDocument/2006/customXml" ds:itemID="{4B2EBFFB-04F4-41B9-B8DF-B1DB2A78FF8B}">
  <ds:schemaRefs>
    <ds:schemaRef ds:uri="http://schemas.microsoft.com/sharepoint/v3/contenttype/forms"/>
  </ds:schemaRefs>
</ds:datastoreItem>
</file>

<file path=customXml/itemProps3.xml><?xml version="1.0" encoding="utf-8"?>
<ds:datastoreItem xmlns:ds="http://schemas.openxmlformats.org/officeDocument/2006/customXml" ds:itemID="{4A07C994-5653-479E-859A-D5090D8C70EC}">
  <ds:schemaRefs>
    <ds:schemaRef ds:uri="http://purl.org/dc/dcmitype/"/>
    <ds:schemaRef ds:uri="http://schemas.microsoft.com/office/infopath/2007/PartnerControls"/>
    <ds:schemaRef ds:uri="http://schemas.microsoft.com/office/2006/metadata/properties"/>
    <ds:schemaRef ds:uri="http://www.w3.org/XML/1998/namespace"/>
    <ds:schemaRef ds:uri="http://purl.org/dc/terms/"/>
    <ds:schemaRef ds:uri="http://schemas.openxmlformats.org/package/2006/metadata/core-properties"/>
    <ds:schemaRef ds:uri="http://schemas.microsoft.com/office/2006/documentManagement/types"/>
    <ds:schemaRef ds:uri="2e054d75-df43-4e50-a610-0e7b0816d11a"/>
    <ds:schemaRef ds:uri="ae28f11b-d4f1-47fe-837d-5da7d4fdfa8d"/>
    <ds:schemaRef ds:uri="http://purl.org/dc/elements/1.1/"/>
  </ds:schemaRefs>
</ds:datastoreItem>
</file>

<file path=docProps/app.xml><?xml version="1.0" encoding="utf-8"?>
<Properties xmlns="http://schemas.openxmlformats.org/officeDocument/2006/extended-properties" xmlns:vt="http://schemas.openxmlformats.org/officeDocument/2006/docPropsVTypes">
  <TotalTime>4314</TotalTime>
  <Words>3476</Words>
  <Application>Microsoft Office PowerPoint</Application>
  <PresentationFormat>Widescreen</PresentationFormat>
  <Paragraphs>337</Paragraphs>
  <Slides>20</Slides>
  <Notes>0</Notes>
  <HiddenSlides>0</HiddenSlides>
  <MMClips>0</MMClips>
  <ScaleCrop>false</ScaleCrop>
  <HeadingPairs>
    <vt:vector size="6" baseType="variant">
      <vt:variant>
        <vt:lpstr>Caratteri utilizzati</vt:lpstr>
      </vt:variant>
      <vt:variant>
        <vt:i4>4</vt:i4>
      </vt:variant>
      <vt:variant>
        <vt:lpstr>Tema</vt:lpstr>
      </vt:variant>
      <vt:variant>
        <vt:i4>1</vt:i4>
      </vt:variant>
      <vt:variant>
        <vt:lpstr>Titoli diapositive</vt:lpstr>
      </vt:variant>
      <vt:variant>
        <vt:i4>20</vt:i4>
      </vt:variant>
    </vt:vector>
  </HeadingPairs>
  <TitlesOfParts>
    <vt:vector size="25" baseType="lpstr">
      <vt:lpstr>Arial</vt:lpstr>
      <vt:lpstr>Avenir Next LT Pro</vt:lpstr>
      <vt:lpstr>Calibri</vt:lpstr>
      <vt:lpstr>Wingdings</vt:lpstr>
      <vt:lpstr>AccentBoxVTI</vt:lpstr>
      <vt:lpstr>Presentazione standard di PowerPoint</vt:lpstr>
      <vt:lpstr>This document is a #OpenSeriousCommunity #OSC content</vt:lpstr>
      <vt:lpstr>Community Boosters Checklists in a nutshell</vt:lpstr>
      <vt:lpstr>For whom and why have Community Boosters Checklists been created</vt:lpstr>
      <vt:lpstr>Why Community Boosters checklists ?</vt:lpstr>
      <vt:lpstr>🎯Usual goals when using Community Boosters checklists</vt:lpstr>
      <vt:lpstr>Community Boosters checklists Dimensions of assessment</vt:lpstr>
      <vt:lpstr>Community Boosters checklists Example of grading system (using ✔️YES or ⬜NO)</vt:lpstr>
      <vt:lpstr>Community Boosters checklists Example of grading system (using points)</vt:lpstr>
      <vt:lpstr>Community Boosters checklists Tips on assessment</vt:lpstr>
      <vt:lpstr>Community Boosters checklist Recommended assessment format</vt:lpstr>
      <vt:lpstr>Community Boosters checklist Example of result</vt:lpstr>
      <vt:lpstr>Community Booster checklists Using the checklists results</vt:lpstr>
      <vt:lpstr>Community Boosters Checklists as a workshop for Subcommunities boosters</vt:lpstr>
      <vt:lpstr>This workshop is an #OpenSeriousGame</vt:lpstr>
      <vt:lpstr>How Community Boosters Checklists is conducted</vt:lpstr>
      <vt:lpstr>Organizing Community Boosters Checklists workshop</vt:lpstr>
      <vt:lpstr>Co-hosting of Community Boosters Checklist</vt:lpstr>
      <vt:lpstr>Hosting Community Boosters Checklists</vt:lpstr>
      <vt:lpstr>Adapting Community Boosters Checklists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Intégrer la méthode #OSG dans une communauté</dc:title>
  <dc:creator>Alexandre Quach</dc:creator>
  <cp:lastModifiedBy>Alexandre Quach</cp:lastModifiedBy>
  <cp:revision>4</cp:revision>
  <dcterms:created xsi:type="dcterms:W3CDTF">2020-12-16T10:05:09Z</dcterms:created>
  <dcterms:modified xsi:type="dcterms:W3CDTF">2023-12-05T10:45:27Z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0x01010043095EDE67814541926D3AC5F9ACC08F</vt:lpwstr>
  </property>
  <property fmtid="{D5CDD505-2E9C-101B-9397-08002B2CF9AE}" pid="3" name="MediaServiceImageTags">
    <vt:lpwstr/>
  </property>
</Properties>
</file>