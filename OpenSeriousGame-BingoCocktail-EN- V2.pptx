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handoutMasterIdLst>
    <p:handoutMasterId r:id="rId10"/>
  </p:handoutMasterIdLst>
  <p:sldIdLst>
    <p:sldId id="256" r:id="rId2"/>
    <p:sldId id="260" r:id="rId3"/>
    <p:sldId id="262" r:id="rId4"/>
    <p:sldId id="264" r:id="rId5"/>
    <p:sldId id="265" r:id="rId6"/>
    <p:sldId id="266" r:id="rId7"/>
    <p:sldId id="259" r:id="rId8"/>
  </p:sldIdLst>
  <p:sldSz cx="6858000" cy="9906000" type="A4"/>
  <p:notesSz cx="6858000" cy="9926638"/>
  <p:defaultTextStyle>
    <a:defPPr>
      <a:defRPr lang="en-US"/>
    </a:defPPr>
    <a:lvl1pPr marL="0" algn="l" defTabSz="457133" rtl="0" eaLnBrk="1" latinLnBrk="0" hangingPunct="1">
      <a:defRPr sz="1799" kern="1200">
        <a:solidFill>
          <a:schemeClr val="tx1"/>
        </a:solidFill>
        <a:latin typeface="+mn-lt"/>
        <a:ea typeface="+mn-ea"/>
        <a:cs typeface="+mn-cs"/>
      </a:defRPr>
    </a:lvl1pPr>
    <a:lvl2pPr marL="457133" algn="l" defTabSz="457133" rtl="0" eaLnBrk="1" latinLnBrk="0" hangingPunct="1">
      <a:defRPr sz="1799" kern="1200">
        <a:solidFill>
          <a:schemeClr val="tx1"/>
        </a:solidFill>
        <a:latin typeface="+mn-lt"/>
        <a:ea typeface="+mn-ea"/>
        <a:cs typeface="+mn-cs"/>
      </a:defRPr>
    </a:lvl2pPr>
    <a:lvl3pPr marL="914266" algn="l" defTabSz="457133" rtl="0" eaLnBrk="1" latinLnBrk="0" hangingPunct="1">
      <a:defRPr sz="1799" kern="1200">
        <a:solidFill>
          <a:schemeClr val="tx1"/>
        </a:solidFill>
        <a:latin typeface="+mn-lt"/>
        <a:ea typeface="+mn-ea"/>
        <a:cs typeface="+mn-cs"/>
      </a:defRPr>
    </a:lvl3pPr>
    <a:lvl4pPr marL="1371399" algn="l" defTabSz="457133" rtl="0" eaLnBrk="1" latinLnBrk="0" hangingPunct="1">
      <a:defRPr sz="1799" kern="1200">
        <a:solidFill>
          <a:schemeClr val="tx1"/>
        </a:solidFill>
        <a:latin typeface="+mn-lt"/>
        <a:ea typeface="+mn-ea"/>
        <a:cs typeface="+mn-cs"/>
      </a:defRPr>
    </a:lvl4pPr>
    <a:lvl5pPr marL="1828532" algn="l" defTabSz="457133" rtl="0" eaLnBrk="1" latinLnBrk="0" hangingPunct="1">
      <a:defRPr sz="1799" kern="1200">
        <a:solidFill>
          <a:schemeClr val="tx1"/>
        </a:solidFill>
        <a:latin typeface="+mn-lt"/>
        <a:ea typeface="+mn-ea"/>
        <a:cs typeface="+mn-cs"/>
      </a:defRPr>
    </a:lvl5pPr>
    <a:lvl6pPr marL="2285665" algn="l" defTabSz="457133" rtl="0" eaLnBrk="1" latinLnBrk="0" hangingPunct="1">
      <a:defRPr sz="1799" kern="1200">
        <a:solidFill>
          <a:schemeClr val="tx1"/>
        </a:solidFill>
        <a:latin typeface="+mn-lt"/>
        <a:ea typeface="+mn-ea"/>
        <a:cs typeface="+mn-cs"/>
      </a:defRPr>
    </a:lvl6pPr>
    <a:lvl7pPr marL="2742798" algn="l" defTabSz="457133" rtl="0" eaLnBrk="1" latinLnBrk="0" hangingPunct="1">
      <a:defRPr sz="1799" kern="1200">
        <a:solidFill>
          <a:schemeClr val="tx1"/>
        </a:solidFill>
        <a:latin typeface="+mn-lt"/>
        <a:ea typeface="+mn-ea"/>
        <a:cs typeface="+mn-cs"/>
      </a:defRPr>
    </a:lvl7pPr>
    <a:lvl8pPr marL="3199931" algn="l" defTabSz="457133" rtl="0" eaLnBrk="1" latinLnBrk="0" hangingPunct="1">
      <a:defRPr sz="1799" kern="1200">
        <a:solidFill>
          <a:schemeClr val="tx1"/>
        </a:solidFill>
        <a:latin typeface="+mn-lt"/>
        <a:ea typeface="+mn-ea"/>
        <a:cs typeface="+mn-cs"/>
      </a:defRPr>
    </a:lvl8pPr>
    <a:lvl9pPr marL="3657064" algn="l" defTabSz="457133" rtl="0" eaLnBrk="1" latinLnBrk="0" hangingPunct="1">
      <a:defRPr sz="1799"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C0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FC1AC5-A6E9-4AE9-9B24-4CFFDDD2A05D}" v="1" dt="2023-11-05T17:33:44.88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48" autoAdjust="0"/>
    <p:restoredTop sz="94660"/>
  </p:normalViewPr>
  <p:slideViewPr>
    <p:cSldViewPr snapToGrid="0">
      <p:cViewPr varScale="1">
        <p:scale>
          <a:sx n="73" d="100"/>
          <a:sy n="73" d="100"/>
        </p:scale>
        <p:origin x="3017"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26FC1AC5-A6E9-4AE9-9B24-4CFFDDD2A05D}"/>
    <pc:docChg chg="addSld modSld">
      <pc:chgData name="Alexandre Quach" userId="03a3b9a4-365b-425e-bba9-a77346403bac" providerId="ADAL" clId="{26FC1AC5-A6E9-4AE9-9B24-4CFFDDD2A05D}" dt="2023-11-05T17:34:15.283" v="11" actId="20577"/>
      <pc:docMkLst>
        <pc:docMk/>
      </pc:docMkLst>
      <pc:sldChg chg="modSp mod">
        <pc:chgData name="Alexandre Quach" userId="03a3b9a4-365b-425e-bba9-a77346403bac" providerId="ADAL" clId="{26FC1AC5-A6E9-4AE9-9B24-4CFFDDD2A05D}" dt="2023-11-05T17:34:15.283" v="11" actId="20577"/>
        <pc:sldMkLst>
          <pc:docMk/>
          <pc:sldMk cId="2923768813" sldId="256"/>
        </pc:sldMkLst>
        <pc:graphicFrameChg chg="modGraphic">
          <ac:chgData name="Alexandre Quach" userId="03a3b9a4-365b-425e-bba9-a77346403bac" providerId="ADAL" clId="{26FC1AC5-A6E9-4AE9-9B24-4CFFDDD2A05D}" dt="2023-11-05T17:34:15.283" v="11" actId="20577"/>
          <ac:graphicFrameMkLst>
            <pc:docMk/>
            <pc:sldMk cId="2923768813" sldId="256"/>
            <ac:graphicFrameMk id="7" creationId="{8F54CC7A-2683-4D5C-BC2E-362AA3F06638}"/>
          </ac:graphicFrameMkLst>
        </pc:graphicFrameChg>
      </pc:sldChg>
      <pc:sldChg chg="modSp mod">
        <pc:chgData name="Alexandre Quach" userId="03a3b9a4-365b-425e-bba9-a77346403bac" providerId="ADAL" clId="{26FC1AC5-A6E9-4AE9-9B24-4CFFDDD2A05D}" dt="2023-11-05T17:33:34.187" v="1" actId="20577"/>
        <pc:sldMkLst>
          <pc:docMk/>
          <pc:sldMk cId="2047994815" sldId="259"/>
        </pc:sldMkLst>
        <pc:graphicFrameChg chg="modGraphic">
          <ac:chgData name="Alexandre Quach" userId="03a3b9a4-365b-425e-bba9-a77346403bac" providerId="ADAL" clId="{26FC1AC5-A6E9-4AE9-9B24-4CFFDDD2A05D}" dt="2023-11-05T17:33:34.187" v="1" actId="20577"/>
          <ac:graphicFrameMkLst>
            <pc:docMk/>
            <pc:sldMk cId="2047994815" sldId="259"/>
            <ac:graphicFrameMk id="7" creationId="{8F54CC7A-2683-4D5C-BC2E-362AA3F06638}"/>
          </ac:graphicFrameMkLst>
        </pc:graphicFrameChg>
      </pc:sldChg>
      <pc:sldChg chg="modSp add mod">
        <pc:chgData name="Alexandre Quach" userId="03a3b9a4-365b-425e-bba9-a77346403bac" providerId="ADAL" clId="{26FC1AC5-A6E9-4AE9-9B24-4CFFDDD2A05D}" dt="2023-11-05T17:34:02.559" v="9" actId="20577"/>
        <pc:sldMkLst>
          <pc:docMk/>
          <pc:sldMk cId="2157381077" sldId="266"/>
        </pc:sldMkLst>
        <pc:spChg chg="mod">
          <ac:chgData name="Alexandre Quach" userId="03a3b9a4-365b-425e-bba9-a77346403bac" providerId="ADAL" clId="{26FC1AC5-A6E9-4AE9-9B24-4CFFDDD2A05D}" dt="2023-11-05T17:33:51.922" v="3"/>
          <ac:spMkLst>
            <pc:docMk/>
            <pc:sldMk cId="2157381077" sldId="266"/>
            <ac:spMk id="33" creationId="{DD8D1081-B186-65CF-84AD-3C3276E523B1}"/>
          </ac:spMkLst>
        </pc:spChg>
        <pc:graphicFrameChg chg="modGraphic">
          <ac:chgData name="Alexandre Quach" userId="03a3b9a4-365b-425e-bba9-a77346403bac" providerId="ADAL" clId="{26FC1AC5-A6E9-4AE9-9B24-4CFFDDD2A05D}" dt="2023-11-05T17:34:02.559" v="9" actId="20577"/>
          <ac:graphicFrameMkLst>
            <pc:docMk/>
            <pc:sldMk cId="2157381077" sldId="266"/>
            <ac:graphicFrameMk id="7" creationId="{8F54CC7A-2683-4D5C-BC2E-362AA3F0663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A948C06-F7D7-4872-AC54-D56568C40DBA}"/>
              </a:ext>
            </a:extLst>
          </p:cNvPr>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CA16C201-56D9-42B1-91DB-92380F28681E}"/>
              </a:ext>
            </a:extLst>
          </p:cNvPr>
          <p:cNvSpPr>
            <a:spLocks noGrp="1"/>
          </p:cNvSpPr>
          <p:nvPr>
            <p:ph type="dt" sz="quarter" idx="1"/>
          </p:nvPr>
        </p:nvSpPr>
        <p:spPr>
          <a:xfrm>
            <a:off x="3884613" y="0"/>
            <a:ext cx="2971800" cy="496888"/>
          </a:xfrm>
          <a:prstGeom prst="rect">
            <a:avLst/>
          </a:prstGeom>
        </p:spPr>
        <p:txBody>
          <a:bodyPr vert="horz" lIns="91440" tIns="45720" rIns="91440" bIns="45720" rtlCol="0"/>
          <a:lstStyle>
            <a:lvl1pPr algn="r">
              <a:defRPr sz="1200"/>
            </a:lvl1pPr>
          </a:lstStyle>
          <a:p>
            <a:fld id="{4846E387-58D0-40AA-A111-39025C8DE5A5}" type="datetimeFigureOut">
              <a:rPr lang="fr-FR" smtClean="0"/>
              <a:t>05/11/2023</a:t>
            </a:fld>
            <a:endParaRPr lang="fr-FR"/>
          </a:p>
        </p:txBody>
      </p:sp>
      <p:sp>
        <p:nvSpPr>
          <p:cNvPr id="4" name="Espace réservé du pied de page 3">
            <a:extLst>
              <a:ext uri="{FF2B5EF4-FFF2-40B4-BE49-F238E27FC236}">
                <a16:creationId xmlns:a16="http://schemas.microsoft.com/office/drawing/2014/main" id="{CBF02CFE-A077-47B6-A7C0-3D0CE9751024}"/>
              </a:ext>
            </a:extLst>
          </p:cNvPr>
          <p:cNvSpPr>
            <a:spLocks noGrp="1"/>
          </p:cNvSpPr>
          <p:nvPr>
            <p:ph type="ftr" sz="quarter" idx="2"/>
          </p:nvPr>
        </p:nvSpPr>
        <p:spPr>
          <a:xfrm>
            <a:off x="0" y="9429750"/>
            <a:ext cx="2971800" cy="496888"/>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3E98511-98FD-4F53-85BC-630702199D32}"/>
              </a:ext>
            </a:extLst>
          </p:cNvPr>
          <p:cNvSpPr>
            <a:spLocks noGrp="1"/>
          </p:cNvSpPr>
          <p:nvPr>
            <p:ph type="sldNum" sz="quarter" idx="3"/>
          </p:nvPr>
        </p:nvSpPr>
        <p:spPr>
          <a:xfrm>
            <a:off x="3884613" y="9429750"/>
            <a:ext cx="2971800" cy="496888"/>
          </a:xfrm>
          <a:prstGeom prst="rect">
            <a:avLst/>
          </a:prstGeom>
        </p:spPr>
        <p:txBody>
          <a:bodyPr vert="horz" lIns="91440" tIns="45720" rIns="91440" bIns="45720" rtlCol="0" anchor="b"/>
          <a:lstStyle>
            <a:lvl1pPr algn="r">
              <a:defRPr sz="1200"/>
            </a:lvl1pPr>
          </a:lstStyle>
          <a:p>
            <a:fld id="{0F17C46C-43A9-4CC6-ABA8-CCA27B0BD1B2}" type="slidenum">
              <a:rPr lang="fr-FR" smtClean="0"/>
              <a:t>‹N›</a:t>
            </a:fld>
            <a:endParaRPr lang="fr-FR"/>
          </a:p>
        </p:txBody>
      </p:sp>
    </p:spTree>
    <p:extLst>
      <p:ext uri="{BB962C8B-B14F-4D97-AF65-F5344CB8AC3E}">
        <p14:creationId xmlns:p14="http://schemas.microsoft.com/office/powerpoint/2010/main" val="309294236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96888"/>
          </a:xfrm>
          <a:prstGeom prst="rect">
            <a:avLst/>
          </a:prstGeom>
        </p:spPr>
        <p:txBody>
          <a:bodyPr vert="horz" lIns="91440" tIns="45720" rIns="91440" bIns="45720" rtlCol="0"/>
          <a:lstStyle>
            <a:lvl1pPr algn="r">
              <a:defRPr sz="1200"/>
            </a:lvl1pPr>
          </a:lstStyle>
          <a:p>
            <a:fld id="{BDF20955-6C47-4586-98EC-FFC38E96B8F7}" type="datetimeFigureOut">
              <a:rPr lang="fr-FR" smtClean="0"/>
              <a:t>05/11/2023</a:t>
            </a:fld>
            <a:endParaRPr lang="fr-FR"/>
          </a:p>
        </p:txBody>
      </p:sp>
      <p:sp>
        <p:nvSpPr>
          <p:cNvPr id="4" name="Espace réservé de l'image des diapositives 3"/>
          <p:cNvSpPr>
            <a:spLocks noGrp="1" noRot="1" noChangeAspect="1"/>
          </p:cNvSpPr>
          <p:nvPr>
            <p:ph type="sldImg" idx="2"/>
          </p:nvPr>
        </p:nvSpPr>
        <p:spPr>
          <a:xfrm>
            <a:off x="2270125" y="1241425"/>
            <a:ext cx="2317750"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776788"/>
            <a:ext cx="5486400" cy="3908425"/>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9750"/>
            <a:ext cx="2971800" cy="496888"/>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9429750"/>
            <a:ext cx="2971800" cy="496888"/>
          </a:xfrm>
          <a:prstGeom prst="rect">
            <a:avLst/>
          </a:prstGeom>
        </p:spPr>
        <p:txBody>
          <a:bodyPr vert="horz" lIns="91440" tIns="45720" rIns="91440" bIns="45720" rtlCol="0" anchor="b"/>
          <a:lstStyle>
            <a:lvl1pPr algn="r">
              <a:defRPr sz="1200"/>
            </a:lvl1pPr>
          </a:lstStyle>
          <a:p>
            <a:fld id="{E4A7939E-2C09-4915-8039-A09DC60D8B16}" type="slidenum">
              <a:rPr lang="fr-FR" smtClean="0"/>
              <a:t>‹N›</a:t>
            </a:fld>
            <a:endParaRPr lang="fr-FR"/>
          </a:p>
        </p:txBody>
      </p:sp>
    </p:spTree>
    <p:extLst>
      <p:ext uri="{BB962C8B-B14F-4D97-AF65-F5344CB8AC3E}">
        <p14:creationId xmlns:p14="http://schemas.microsoft.com/office/powerpoint/2010/main" val="826367717"/>
      </p:ext>
    </p:extLst>
  </p:cSld>
  <p:clrMap bg1="lt1" tx1="dk1" bg2="lt2" tx2="dk2" accent1="accent1" accent2="accent2" accent3="accent3" accent4="accent4" accent5="accent5" accent6="accent6" hlink="hlink" folHlink="folHlink"/>
  <p:hf sldNum="0" hdr="0" ftr="0" dt="0"/>
  <p:notesStyle>
    <a:lvl1pPr marL="0" algn="l" defTabSz="914266" rtl="0" eaLnBrk="1" latinLnBrk="0" hangingPunct="1">
      <a:defRPr sz="1200" kern="1200">
        <a:solidFill>
          <a:schemeClr val="tx1"/>
        </a:solidFill>
        <a:latin typeface="+mn-lt"/>
        <a:ea typeface="+mn-ea"/>
        <a:cs typeface="+mn-cs"/>
      </a:defRPr>
    </a:lvl1pPr>
    <a:lvl2pPr marL="457133" algn="l" defTabSz="914266" rtl="0" eaLnBrk="1" latinLnBrk="0" hangingPunct="1">
      <a:defRPr sz="1200" kern="1200">
        <a:solidFill>
          <a:schemeClr val="tx1"/>
        </a:solidFill>
        <a:latin typeface="+mn-lt"/>
        <a:ea typeface="+mn-ea"/>
        <a:cs typeface="+mn-cs"/>
      </a:defRPr>
    </a:lvl2pPr>
    <a:lvl3pPr marL="914266" algn="l" defTabSz="914266" rtl="0" eaLnBrk="1" latinLnBrk="0" hangingPunct="1">
      <a:defRPr sz="1200" kern="1200">
        <a:solidFill>
          <a:schemeClr val="tx1"/>
        </a:solidFill>
        <a:latin typeface="+mn-lt"/>
        <a:ea typeface="+mn-ea"/>
        <a:cs typeface="+mn-cs"/>
      </a:defRPr>
    </a:lvl3pPr>
    <a:lvl4pPr marL="1371399" algn="l" defTabSz="914266" rtl="0" eaLnBrk="1" latinLnBrk="0" hangingPunct="1">
      <a:defRPr sz="1200" kern="1200">
        <a:solidFill>
          <a:schemeClr val="tx1"/>
        </a:solidFill>
        <a:latin typeface="+mn-lt"/>
        <a:ea typeface="+mn-ea"/>
        <a:cs typeface="+mn-cs"/>
      </a:defRPr>
    </a:lvl4pPr>
    <a:lvl5pPr marL="1828532" algn="l" defTabSz="914266" rtl="0" eaLnBrk="1" latinLnBrk="0" hangingPunct="1">
      <a:defRPr sz="1200" kern="1200">
        <a:solidFill>
          <a:schemeClr val="tx1"/>
        </a:solidFill>
        <a:latin typeface="+mn-lt"/>
        <a:ea typeface="+mn-ea"/>
        <a:cs typeface="+mn-cs"/>
      </a:defRPr>
    </a:lvl5pPr>
    <a:lvl6pPr marL="2285665" algn="l" defTabSz="914266" rtl="0" eaLnBrk="1" latinLnBrk="0" hangingPunct="1">
      <a:defRPr sz="1200" kern="1200">
        <a:solidFill>
          <a:schemeClr val="tx1"/>
        </a:solidFill>
        <a:latin typeface="+mn-lt"/>
        <a:ea typeface="+mn-ea"/>
        <a:cs typeface="+mn-cs"/>
      </a:defRPr>
    </a:lvl6pPr>
    <a:lvl7pPr marL="2742798" algn="l" defTabSz="914266" rtl="0" eaLnBrk="1" latinLnBrk="0" hangingPunct="1">
      <a:defRPr sz="1200" kern="1200">
        <a:solidFill>
          <a:schemeClr val="tx1"/>
        </a:solidFill>
        <a:latin typeface="+mn-lt"/>
        <a:ea typeface="+mn-ea"/>
        <a:cs typeface="+mn-cs"/>
      </a:defRPr>
    </a:lvl7pPr>
    <a:lvl8pPr marL="3199931" algn="l" defTabSz="914266" rtl="0" eaLnBrk="1" latinLnBrk="0" hangingPunct="1">
      <a:defRPr sz="1200" kern="1200">
        <a:solidFill>
          <a:schemeClr val="tx1"/>
        </a:solidFill>
        <a:latin typeface="+mn-lt"/>
        <a:ea typeface="+mn-ea"/>
        <a:cs typeface="+mn-cs"/>
      </a:defRPr>
    </a:lvl8pPr>
    <a:lvl9pPr marL="3657064" algn="l" defTabSz="914266"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fr-FR"/>
              <a:t>Modifiez le style du titre</a:t>
            </a:r>
            <a:endParaRPr lang="en-US" dirty="0"/>
          </a:p>
        </p:txBody>
      </p:sp>
      <p:sp>
        <p:nvSpPr>
          <p:cNvPr id="3" name="Subtitle 2"/>
          <p:cNvSpPr>
            <a:spLocks noGrp="1"/>
          </p:cNvSpPr>
          <p:nvPr>
            <p:ph type="subTitle" idx="1"/>
          </p:nvPr>
        </p:nvSpPr>
        <p:spPr>
          <a:xfrm>
            <a:off x="857250" y="5202945"/>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05/11/2023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782992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05/11/2023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4155331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67917" y="2469625"/>
            <a:ext cx="5915025" cy="4120620"/>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467917"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6DCA0D14-03F7-4F0D-A834-CBE5F1B767A5}" type="datetimeFigureOut">
              <a:rPr lang="fr-FR" smtClean="0"/>
              <a:t>05/11/2023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56847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DCA0D14-03F7-4F0D-A834-CBE5F1B767A5}" type="datetimeFigureOut">
              <a:rPr lang="fr-FR" smtClean="0"/>
              <a:t>05/11/2023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82231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72382" y="527405"/>
            <a:ext cx="5915025" cy="1914702"/>
          </a:xfrm>
        </p:spPr>
        <p:txBody>
          <a:bodyPr/>
          <a:lstStyle/>
          <a:p>
            <a:r>
              <a:rPr lang="fr-FR"/>
              <a:t>Modifiez le style du titre</a:t>
            </a:r>
            <a:endParaRPr lang="en-US" dirty="0"/>
          </a:p>
        </p:txBody>
      </p:sp>
      <p:sp>
        <p:nvSpPr>
          <p:cNvPr id="3" name="Text Placeholder 2"/>
          <p:cNvSpPr>
            <a:spLocks noGrp="1"/>
          </p:cNvSpPr>
          <p:nvPr>
            <p:ph type="body" idx="1"/>
          </p:nvPr>
        </p:nvSpPr>
        <p:spPr>
          <a:xfrm>
            <a:off x="472382"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4" name="Content Placeholder 3"/>
          <p:cNvSpPr>
            <a:spLocks noGrp="1"/>
          </p:cNvSpPr>
          <p:nvPr>
            <p:ph sz="half" idx="2"/>
          </p:nvPr>
        </p:nvSpPr>
        <p:spPr>
          <a:xfrm>
            <a:off x="472382" y="3618442"/>
            <a:ext cx="2901255" cy="532218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471864"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6" name="Content Placeholder 5"/>
          <p:cNvSpPr>
            <a:spLocks noGrp="1"/>
          </p:cNvSpPr>
          <p:nvPr>
            <p:ph sz="quarter" idx="4"/>
          </p:nvPr>
        </p:nvSpPr>
        <p:spPr>
          <a:xfrm>
            <a:off x="3471864" y="3618442"/>
            <a:ext cx="2915543" cy="532218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DCA0D14-03F7-4F0D-A834-CBE5F1B767A5}" type="datetimeFigureOut">
              <a:rPr lang="fr-FR" smtClean="0"/>
              <a:t>05/11/2023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588794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DCA0D14-03F7-4F0D-A834-CBE5F1B767A5}" type="datetimeFigureOut">
              <a:rPr lang="fr-FR" smtClean="0"/>
              <a:t>05/11/2023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3040291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CA0D14-03F7-4F0D-A834-CBE5F1B767A5}" type="datetimeFigureOut">
              <a:rPr lang="fr-FR" smtClean="0"/>
              <a:t>05/11/2023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724696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2915544"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72381" y="2971801"/>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6DCA0D14-03F7-4F0D-A834-CBE5F1B767A5}" type="datetimeFigureOut">
              <a:rPr lang="fr-FR" smtClean="0"/>
              <a:t>05/11/2023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567920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2915544"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472381" y="2971801"/>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6DCA0D14-03F7-4F0D-A834-CBE5F1B767A5}" type="datetimeFigureOut">
              <a:rPr lang="fr-FR" smtClean="0"/>
              <a:t>05/11/2023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10440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05/11/2023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323624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4"/>
            <a:ext cx="1478756" cy="839487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471488" y="527404"/>
            <a:ext cx="4350544" cy="839487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05/11/2023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070201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471488" y="9181398"/>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6DCA0D14-03F7-4F0D-A834-CBE5F1B767A5}" type="datetimeFigureOut">
              <a:rPr lang="fr-FR" smtClean="0"/>
              <a:t>05/11/2023</a:t>
            </a:fld>
            <a:endParaRPr lang="fr-FR"/>
          </a:p>
        </p:txBody>
      </p:sp>
      <p:sp>
        <p:nvSpPr>
          <p:cNvPr id="5" name="Footer Placeholder 4"/>
          <p:cNvSpPr>
            <a:spLocks noGrp="1"/>
          </p:cNvSpPr>
          <p:nvPr>
            <p:ph type="ftr" sz="quarter" idx="3"/>
          </p:nvPr>
        </p:nvSpPr>
        <p:spPr>
          <a:xfrm>
            <a:off x="2271713" y="9181398"/>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43463" y="9181398"/>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7285C76-BE70-4258-8668-C07A75A9D8EB}" type="slidenum">
              <a:rPr lang="fr-FR" smtClean="0"/>
              <a:t>‹N›</a:t>
            </a:fld>
            <a:endParaRPr lang="fr-FR"/>
          </a:p>
        </p:txBody>
      </p:sp>
    </p:spTree>
    <p:extLst>
      <p:ext uri="{BB962C8B-B14F-4D97-AF65-F5344CB8AC3E}">
        <p14:creationId xmlns:p14="http://schemas.microsoft.com/office/powerpoint/2010/main" val="4289679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openxmlformats.org/officeDocument/2006/relationships/hyperlink" Target="https://www.komyu.io/"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hyperlink" Target="https://www.komyu.io/" TargetMode="External"/><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s://www.komyu.io/" TargetMode="External"/><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www.komyu.io/" TargetMode="External"/><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www.komyu.io/" TargetMode="External"/><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hyperlink" Target="https://www.komyu.io/"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creativecommons.org/licenses/by/3.0/" TargetMode="Externa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hyperlink" Target="https://www.komyu.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ésultat de recherche d'images pour &quot;crowd clipart&quot;">
            <a:extLst>
              <a:ext uri="{FF2B5EF4-FFF2-40B4-BE49-F238E27FC236}">
                <a16:creationId xmlns:a16="http://schemas.microsoft.com/office/drawing/2014/main" id="{1DAEDE93-1B49-4670-AF38-541EE5AD539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7411" b="89869" l="8111" r="90000">
                        <a14:foregroundMark x1="27444" y1="11069" x2="45000" y2="9099"/>
                        <a14:foregroundMark x1="45000" y1="9099" x2="62333" y2="9475"/>
                        <a14:foregroundMark x1="62333" y1="9475" x2="65444" y2="8068"/>
                        <a14:foregroundMark x1="57111" y1="7692" x2="50111" y2="7411"/>
                        <a14:foregroundMark x1="65000" y1="56473" x2="67111" y2="71951"/>
                        <a14:foregroundMark x1="67111" y1="71951" x2="64556" y2="77955"/>
                        <a14:foregroundMark x1="89556" y1="43621" x2="88667" y2="30300"/>
                        <a14:foregroundMark x1="13000" y1="30300" x2="8111" y2="41745"/>
                      </a14:backgroundRemoval>
                    </a14:imgEffect>
                  </a14:imgLayer>
                </a14:imgProps>
              </a:ext>
              <a:ext uri="{28A0092B-C50C-407E-A947-70E740481C1C}">
                <a14:useLocalDpi xmlns:a14="http://schemas.microsoft.com/office/drawing/2010/main" val="0"/>
              </a:ext>
            </a:extLst>
          </a:blip>
          <a:srcRect b="7738"/>
          <a:stretch/>
        </p:blipFill>
        <p:spPr bwMode="auto">
          <a:xfrm>
            <a:off x="665146" y="5705727"/>
            <a:ext cx="2163713" cy="236456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430726634"/>
              </p:ext>
            </p:extLst>
          </p:nvPr>
        </p:nvGraphicFramePr>
        <p:xfrm>
          <a:off x="0" y="1"/>
          <a:ext cx="6858000" cy="85344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800" b="1" dirty="0">
                          <a:solidFill>
                            <a:schemeClr val="tx1"/>
                          </a:solidFill>
                        </a:rPr>
                        <a:t>BINGO COCKTAIL V2</a:t>
                      </a:r>
                      <a:endParaRPr lang="fr-FR" sz="24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en-US" sz="1100" b="1" dirty="0">
                          <a:solidFill>
                            <a:schemeClr val="tx1"/>
                          </a:solidFill>
                        </a:rPr>
                        <a:t>A pretext for discussion and getting to know others. 10-20 minutes. Can be played during a buffet. Unlimited number of people.</a:t>
                      </a:r>
                    </a:p>
                  </a:txBody>
                  <a:tcPr>
                    <a:solidFill>
                      <a:srgbClr val="10C0D2"/>
                    </a:solidFill>
                  </a:tcPr>
                </a:tc>
                <a:extLst>
                  <a:ext uri="{0D108BD9-81ED-4DB2-BD59-A6C34878D82A}">
                    <a16:rowId xmlns:a16="http://schemas.microsoft.com/office/drawing/2014/main" val="2564243360"/>
                  </a:ext>
                </a:extLst>
              </a:tr>
            </a:tbl>
          </a:graphicData>
        </a:graphic>
      </p:graphicFrame>
      <p:sp>
        <p:nvSpPr>
          <p:cNvPr id="39" name="Rectangle 38">
            <a:extLst>
              <a:ext uri="{FF2B5EF4-FFF2-40B4-BE49-F238E27FC236}">
                <a16:creationId xmlns:a16="http://schemas.microsoft.com/office/drawing/2014/main" id="{DB0B1A80-DBE8-46EB-BC9C-C0D83311BB74}"/>
              </a:ext>
            </a:extLst>
          </p:cNvPr>
          <p:cNvSpPr/>
          <p:nvPr/>
        </p:nvSpPr>
        <p:spPr>
          <a:xfrm>
            <a:off x="377128" y="2082473"/>
            <a:ext cx="1286160" cy="1424815"/>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Bahnschrift" panose="020B0502040204020203" pitchFamily="34" charset="0"/>
              </a:rPr>
              <a:t>Someone who lives in a town next to yours</a:t>
            </a:r>
            <a:endParaRPr lang="fr-FR" sz="1100" dirty="0">
              <a:solidFill>
                <a:schemeClr val="tx1"/>
              </a:solidFill>
              <a:latin typeface="Bahnschrift" panose="020B0502040204020203" pitchFamily="34" charset="0"/>
            </a:endParaRPr>
          </a:p>
        </p:txBody>
      </p:sp>
      <p:pic>
        <p:nvPicPr>
          <p:cNvPr id="6" name="Image 5">
            <a:extLst>
              <a:ext uri="{FF2B5EF4-FFF2-40B4-BE49-F238E27FC236}">
                <a16:creationId xmlns:a16="http://schemas.microsoft.com/office/drawing/2014/main" id="{86518A2E-7076-4325-9286-B402D6150F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7295" y="6497221"/>
            <a:ext cx="2224753" cy="2224753"/>
          </a:xfrm>
          <a:prstGeom prst="rect">
            <a:avLst/>
          </a:prstGeom>
        </p:spPr>
      </p:pic>
      <p:sp>
        <p:nvSpPr>
          <p:cNvPr id="9" name="ZoneTexte 8">
            <a:extLst>
              <a:ext uri="{FF2B5EF4-FFF2-40B4-BE49-F238E27FC236}">
                <a16:creationId xmlns:a16="http://schemas.microsoft.com/office/drawing/2014/main" id="{F9AF822E-0EFE-4935-8CA0-0752F3ED5011}"/>
              </a:ext>
            </a:extLst>
          </p:cNvPr>
          <p:cNvSpPr txBox="1"/>
          <p:nvPr/>
        </p:nvSpPr>
        <p:spPr>
          <a:xfrm>
            <a:off x="4099176" y="4920897"/>
            <a:ext cx="2683514" cy="1323439"/>
          </a:xfrm>
          <a:prstGeom prst="rect">
            <a:avLst/>
          </a:prstGeom>
          <a:noFill/>
        </p:spPr>
        <p:txBody>
          <a:bodyPr wrap="square" rtlCol="0">
            <a:spAutoFit/>
          </a:bodyPr>
          <a:lstStyle/>
          <a:p>
            <a:pPr algn="ctr"/>
            <a:r>
              <a:rPr lang="en-US" sz="1600" dirty="0"/>
              <a:t>Distribute these sheets to your participants, let people meet by looking to check boxes. The first winners receive a mini-prize</a:t>
            </a:r>
            <a:endParaRPr lang="fr-FR" sz="1600" dirty="0"/>
          </a:p>
        </p:txBody>
      </p:sp>
      <p:sp>
        <p:nvSpPr>
          <p:cNvPr id="48" name="Forme libre : forme 47">
            <a:extLst>
              <a:ext uri="{FF2B5EF4-FFF2-40B4-BE49-F238E27FC236}">
                <a16:creationId xmlns:a16="http://schemas.microsoft.com/office/drawing/2014/main" id="{B6D38EA9-D119-41A3-9CA7-7A7134B94B9D}"/>
              </a:ext>
            </a:extLst>
          </p:cNvPr>
          <p:cNvSpPr/>
          <p:nvPr/>
        </p:nvSpPr>
        <p:spPr>
          <a:xfrm>
            <a:off x="21036" y="3507288"/>
            <a:ext cx="1215445" cy="3036408"/>
          </a:xfrm>
          <a:custGeom>
            <a:avLst/>
            <a:gdLst>
              <a:gd name="connsiteX0" fmla="*/ 1215445 w 1215445"/>
              <a:gd name="connsiteY0" fmla="*/ 0 h 3036408"/>
              <a:gd name="connsiteX1" fmla="*/ 764508 w 1215445"/>
              <a:gd name="connsiteY1" fmla="*/ 300625 h 3036408"/>
              <a:gd name="connsiteX2" fmla="*/ 1152815 w 1215445"/>
              <a:gd name="connsiteY2" fmla="*/ 701458 h 3036408"/>
              <a:gd name="connsiteX3" fmla="*/ 513988 w 1215445"/>
              <a:gd name="connsiteY3" fmla="*/ 1415441 h 3036408"/>
              <a:gd name="connsiteX4" fmla="*/ 488936 w 1215445"/>
              <a:gd name="connsiteY4" fmla="*/ 2204581 h 3036408"/>
              <a:gd name="connsiteX5" fmla="*/ 25473 w 1215445"/>
              <a:gd name="connsiteY5" fmla="*/ 2430049 h 3036408"/>
              <a:gd name="connsiteX6" fmla="*/ 100629 w 1215445"/>
              <a:gd name="connsiteY6" fmla="*/ 3031299 h 3036408"/>
              <a:gd name="connsiteX7" fmla="*/ 438832 w 1215445"/>
              <a:gd name="connsiteY7" fmla="*/ 2718148 h 3036408"/>
              <a:gd name="connsiteX8" fmla="*/ 626722 w 1215445"/>
              <a:gd name="connsiteY8" fmla="*/ 2693096 h 3036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5445" h="3036408">
                <a:moveTo>
                  <a:pt x="1215445" y="0"/>
                </a:moveTo>
                <a:cubicBezTo>
                  <a:pt x="995195" y="91857"/>
                  <a:pt x="774946" y="183715"/>
                  <a:pt x="764508" y="300625"/>
                </a:cubicBezTo>
                <a:cubicBezTo>
                  <a:pt x="754070" y="417535"/>
                  <a:pt x="1194568" y="515655"/>
                  <a:pt x="1152815" y="701458"/>
                </a:cubicBezTo>
                <a:cubicBezTo>
                  <a:pt x="1111062" y="887261"/>
                  <a:pt x="624634" y="1164921"/>
                  <a:pt x="513988" y="1415441"/>
                </a:cubicBezTo>
                <a:cubicBezTo>
                  <a:pt x="403341" y="1665962"/>
                  <a:pt x="570355" y="2035480"/>
                  <a:pt x="488936" y="2204581"/>
                </a:cubicBezTo>
                <a:cubicBezTo>
                  <a:pt x="407517" y="2373682"/>
                  <a:pt x="90191" y="2292263"/>
                  <a:pt x="25473" y="2430049"/>
                </a:cubicBezTo>
                <a:cubicBezTo>
                  <a:pt x="-39245" y="2567835"/>
                  <a:pt x="31736" y="2983283"/>
                  <a:pt x="100629" y="3031299"/>
                </a:cubicBezTo>
                <a:cubicBezTo>
                  <a:pt x="169522" y="3079315"/>
                  <a:pt x="351150" y="2774515"/>
                  <a:pt x="438832" y="2718148"/>
                </a:cubicBezTo>
                <a:cubicBezTo>
                  <a:pt x="526514" y="2661781"/>
                  <a:pt x="576618" y="2677438"/>
                  <a:pt x="626722" y="2693096"/>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ZoneTexte 50">
            <a:extLst>
              <a:ext uri="{FF2B5EF4-FFF2-40B4-BE49-F238E27FC236}">
                <a16:creationId xmlns:a16="http://schemas.microsoft.com/office/drawing/2014/main" id="{E0B9D200-56D6-44B5-86A2-FE8419CD4EFC}"/>
              </a:ext>
            </a:extLst>
          </p:cNvPr>
          <p:cNvSpPr txBox="1"/>
          <p:nvPr/>
        </p:nvSpPr>
        <p:spPr>
          <a:xfrm>
            <a:off x="3985283" y="3005535"/>
            <a:ext cx="2683514" cy="430887"/>
          </a:xfrm>
          <a:prstGeom prst="rect">
            <a:avLst/>
          </a:prstGeom>
          <a:solidFill>
            <a:srgbClr val="FFC000"/>
          </a:solidFill>
          <a:ln>
            <a:noFill/>
          </a:ln>
        </p:spPr>
        <p:txBody>
          <a:bodyPr wrap="square" rtlCol="0">
            <a:spAutoFit/>
          </a:bodyPr>
          <a:lstStyle/>
          <a:p>
            <a:pPr algn="ctr"/>
            <a:r>
              <a:rPr lang="en-US" sz="1100" dirty="0"/>
              <a:t>To invite you to discover and/or </a:t>
            </a:r>
            <a:r>
              <a:rPr lang="en-US" sz="1100"/>
              <a:t>discuss within your </a:t>
            </a:r>
            <a:r>
              <a:rPr lang="en-US" sz="1100" dirty="0"/>
              <a:t>collective</a:t>
            </a:r>
            <a:endParaRPr lang="fr-FR" sz="1100" dirty="0"/>
          </a:p>
        </p:txBody>
      </p:sp>
      <p:sp>
        <p:nvSpPr>
          <p:cNvPr id="52" name="Forme libre : forme 51">
            <a:extLst>
              <a:ext uri="{FF2B5EF4-FFF2-40B4-BE49-F238E27FC236}">
                <a16:creationId xmlns:a16="http://schemas.microsoft.com/office/drawing/2014/main" id="{6B472212-3304-4482-8A36-7CEDDA0EAFAD}"/>
              </a:ext>
            </a:extLst>
          </p:cNvPr>
          <p:cNvSpPr/>
          <p:nvPr/>
        </p:nvSpPr>
        <p:spPr>
          <a:xfrm>
            <a:off x="2096382" y="3507288"/>
            <a:ext cx="1149180" cy="3348733"/>
          </a:xfrm>
          <a:custGeom>
            <a:avLst/>
            <a:gdLst>
              <a:gd name="connsiteX0" fmla="*/ 1064712 w 1149180"/>
              <a:gd name="connsiteY0" fmla="*/ 0 h 3348733"/>
              <a:gd name="connsiteX1" fmla="*/ 1052186 w 1149180"/>
              <a:gd name="connsiteY1" fmla="*/ 964504 h 3348733"/>
              <a:gd name="connsiteX2" fmla="*/ 87682 w 1149180"/>
              <a:gd name="connsiteY2" fmla="*/ 1440493 h 3348733"/>
              <a:gd name="connsiteX3" fmla="*/ 438411 w 1149180"/>
              <a:gd name="connsiteY3" fmla="*/ 2254685 h 3348733"/>
              <a:gd name="connsiteX4" fmla="*/ 400833 w 1149180"/>
              <a:gd name="connsiteY4" fmla="*/ 3244241 h 3348733"/>
              <a:gd name="connsiteX5" fmla="*/ 0 w 1149180"/>
              <a:gd name="connsiteY5" fmla="*/ 3319397 h 3348733"/>
              <a:gd name="connsiteX6" fmla="*/ 0 w 1149180"/>
              <a:gd name="connsiteY6" fmla="*/ 3319397 h 3348733"/>
              <a:gd name="connsiteX7" fmla="*/ 0 w 1149180"/>
              <a:gd name="connsiteY7" fmla="*/ 3319397 h 334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180" h="3348733">
                <a:moveTo>
                  <a:pt x="1064712" y="0"/>
                </a:moveTo>
                <a:cubicBezTo>
                  <a:pt x="1139868" y="362211"/>
                  <a:pt x="1215024" y="724422"/>
                  <a:pt x="1052186" y="964504"/>
                </a:cubicBezTo>
                <a:cubicBezTo>
                  <a:pt x="889348" y="1204586"/>
                  <a:pt x="189978" y="1225463"/>
                  <a:pt x="87682" y="1440493"/>
                </a:cubicBezTo>
                <a:cubicBezTo>
                  <a:pt x="-14614" y="1655523"/>
                  <a:pt x="386219" y="1954060"/>
                  <a:pt x="438411" y="2254685"/>
                </a:cubicBezTo>
                <a:cubicBezTo>
                  <a:pt x="490603" y="2555310"/>
                  <a:pt x="473901" y="3066789"/>
                  <a:pt x="400833" y="3244241"/>
                </a:cubicBezTo>
                <a:cubicBezTo>
                  <a:pt x="327765" y="3421693"/>
                  <a:pt x="0" y="3319397"/>
                  <a:pt x="0" y="3319397"/>
                </a:cubicBezTo>
                <a:lnTo>
                  <a:pt x="0" y="3319397"/>
                </a:lnTo>
                <a:lnTo>
                  <a:pt x="0" y="3319397"/>
                </a:lnTo>
              </a:path>
            </a:pathLst>
          </a:custGeom>
          <a:noFill/>
          <a:ln>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ZoneTexte 54">
            <a:extLst>
              <a:ext uri="{FF2B5EF4-FFF2-40B4-BE49-F238E27FC236}">
                <a16:creationId xmlns:a16="http://schemas.microsoft.com/office/drawing/2014/main" id="{A02D5966-B4D3-42FA-9A7D-8DC2C40BE8C6}"/>
              </a:ext>
            </a:extLst>
          </p:cNvPr>
          <p:cNvSpPr txBox="1"/>
          <p:nvPr/>
        </p:nvSpPr>
        <p:spPr>
          <a:xfrm>
            <a:off x="1478071" y="8905898"/>
            <a:ext cx="5304619" cy="584775"/>
          </a:xfrm>
          <a:prstGeom prst="rect">
            <a:avLst/>
          </a:prstGeom>
          <a:noFill/>
        </p:spPr>
        <p:txBody>
          <a:bodyPr wrap="square" rtlCol="0">
            <a:spAutoFit/>
          </a:bodyPr>
          <a:lstStyle/>
          <a:p>
            <a:pPr algn="r"/>
            <a:r>
              <a:rPr lang="en-US" sz="1600" dirty="0"/>
              <a:t>Ideal during free moments: 
Breaks, cocktails, etc. or in "free flow" during an event day</a:t>
            </a:r>
            <a:endParaRPr lang="fr-FR" sz="1600" dirty="0"/>
          </a:p>
        </p:txBody>
      </p:sp>
      <p:sp>
        <p:nvSpPr>
          <p:cNvPr id="2" name="Rectangle 38">
            <a:extLst>
              <a:ext uri="{FF2B5EF4-FFF2-40B4-BE49-F238E27FC236}">
                <a16:creationId xmlns:a16="http://schemas.microsoft.com/office/drawing/2014/main" id="{E75BF6D3-162A-D4F7-9E9C-B09F1D87EBEC}"/>
              </a:ext>
            </a:extLst>
          </p:cNvPr>
          <p:cNvSpPr/>
          <p:nvPr/>
        </p:nvSpPr>
        <p:spPr>
          <a:xfrm>
            <a:off x="2339856" y="2077856"/>
            <a:ext cx="1286160" cy="1424815"/>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Bahnschrift" panose="020B0502040204020203" pitchFamily="34" charset="0"/>
              </a:rPr>
              <a:t>Someone who got his high school diploma no more than 2 years apart from you.</a:t>
            </a:r>
            <a:endParaRPr lang="fr-FR" sz="1100" dirty="0">
              <a:solidFill>
                <a:schemeClr val="tx1"/>
              </a:solidFill>
              <a:latin typeface="Bahnschrift" panose="020B0502040204020203" pitchFamily="34" charset="0"/>
            </a:endParaRPr>
          </a:p>
        </p:txBody>
      </p:sp>
      <p:pic>
        <p:nvPicPr>
          <p:cNvPr id="4" name="Immagine 3" descr="Immagine che contiene schermata, testo, linea, diagramma&#10;&#10;Descrizione generata automaticamente">
            <a:extLst>
              <a:ext uri="{FF2B5EF4-FFF2-40B4-BE49-F238E27FC236}">
                <a16:creationId xmlns:a16="http://schemas.microsoft.com/office/drawing/2014/main" id="{9DB546FE-7711-CE6C-548F-7D1327B986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15901" y="1339175"/>
            <a:ext cx="1025032" cy="1482436"/>
          </a:xfrm>
          <a:prstGeom prst="rect">
            <a:avLst/>
          </a:prstGeom>
        </p:spPr>
      </p:pic>
      <p:pic>
        <p:nvPicPr>
          <p:cNvPr id="3" name="Image 12" descr="Une image contenant texte, clipart&#10;&#10;Description générée automatiquement">
            <a:extLst>
              <a:ext uri="{FF2B5EF4-FFF2-40B4-BE49-F238E27FC236}">
                <a16:creationId xmlns:a16="http://schemas.microsoft.com/office/drawing/2014/main" id="{DAE43F1C-1C9C-74E1-D147-B3FA0BD8BA2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9223" y="9698173"/>
            <a:ext cx="428905" cy="155503"/>
          </a:xfrm>
          <a:prstGeom prst="rect">
            <a:avLst/>
          </a:prstGeom>
        </p:spPr>
      </p:pic>
      <p:pic>
        <p:nvPicPr>
          <p:cNvPr id="5" name="Image 14" descr="Une image contenant texte, clipart&#10;&#10;Description générée automatiquement">
            <a:hlinkClick r:id="rId7"/>
            <a:extLst>
              <a:ext uri="{FF2B5EF4-FFF2-40B4-BE49-F238E27FC236}">
                <a16:creationId xmlns:a16="http://schemas.microsoft.com/office/drawing/2014/main" id="{5285CB29-4F75-3C0C-B614-AA974923751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69329" y="9386161"/>
            <a:ext cx="628694" cy="260149"/>
          </a:xfrm>
          <a:prstGeom prst="rect">
            <a:avLst/>
          </a:prstGeom>
        </p:spPr>
      </p:pic>
      <p:pic>
        <p:nvPicPr>
          <p:cNvPr id="8" name="Picture 2">
            <a:extLst>
              <a:ext uri="{FF2B5EF4-FFF2-40B4-BE49-F238E27FC236}">
                <a16:creationId xmlns:a16="http://schemas.microsoft.com/office/drawing/2014/main" id="{1DB00FB9-3D69-2B78-6BDE-26820CAFB21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9266" t="17394" r="25946" b="25394"/>
          <a:stretch/>
        </p:blipFill>
        <p:spPr bwMode="auto">
          <a:xfrm>
            <a:off x="84689"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768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914807446"/>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PERSONAL SIMILARITIES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55" name="ZoneTexte 54">
            <a:extLst>
              <a:ext uri="{FF2B5EF4-FFF2-40B4-BE49-F238E27FC236}">
                <a16:creationId xmlns:a16="http://schemas.microsoft.com/office/drawing/2014/main" id="{A02D5966-B4D3-42FA-9A7D-8DC2C40BE8C6}"/>
              </a:ext>
            </a:extLst>
          </p:cNvPr>
          <p:cNvSpPr txBox="1"/>
          <p:nvPr/>
        </p:nvSpPr>
        <p:spPr>
          <a:xfrm>
            <a:off x="111092" y="8009976"/>
            <a:ext cx="5304619" cy="1569660"/>
          </a:xfrm>
          <a:prstGeom prst="rect">
            <a:avLst/>
          </a:prstGeom>
          <a:noFill/>
        </p:spPr>
        <p:txBody>
          <a:bodyPr wrap="square" rtlCol="0">
            <a:spAutoFit/>
          </a:bodyPr>
          <a:lstStyle/>
          <a:p>
            <a:pPr algn="ctr"/>
            <a:r>
              <a:rPr lang="en-US" sz="1600" dirty="0"/>
              <a:t>Draw a line when you have filled all 3 boxes in the same row, column or diagonal
The first 3 people to fill in 2 rows, columns or diagonals win:
1st prize: { Fill in your first prize here}
2nd prize: { Fill in your second prize here}
3rd prize: { Fill in your third prize here}</a:t>
            </a:r>
          </a:p>
        </p:txBody>
      </p:sp>
      <p:sp>
        <p:nvSpPr>
          <p:cNvPr id="3" name="ZoneTexte 54">
            <a:extLst>
              <a:ext uri="{FF2B5EF4-FFF2-40B4-BE49-F238E27FC236}">
                <a16:creationId xmlns:a16="http://schemas.microsoft.com/office/drawing/2014/main" id="{E3567928-C879-1707-08F1-BE340A23B6B6}"/>
              </a:ext>
            </a:extLst>
          </p:cNvPr>
          <p:cNvSpPr txBox="1"/>
          <p:nvPr/>
        </p:nvSpPr>
        <p:spPr>
          <a:xfrm>
            <a:off x="267983" y="937213"/>
            <a:ext cx="4451674" cy="1323439"/>
          </a:xfrm>
          <a:prstGeom prst="rect">
            <a:avLst/>
          </a:prstGeom>
          <a:noFill/>
        </p:spPr>
        <p:txBody>
          <a:bodyPr wrap="square" rtlCol="0">
            <a:spAutoFit/>
          </a:bodyPr>
          <a:lstStyle/>
          <a:p>
            <a:pPr algn="ctr"/>
            <a:r>
              <a:rPr lang="en-US" sz="1600" dirty="0"/>
              <a:t>This is the bingo sheet of (write down your name) ……………………………………………</a:t>
            </a:r>
          </a:p>
          <a:p>
            <a:pPr algn="ctr"/>
            <a:endParaRPr lang="en-US" sz="1600" dirty="0"/>
          </a:p>
          <a:p>
            <a:r>
              <a:rPr lang="en-US" sz="1600" dirty="0"/>
              <a:t>Mark the boxes with the first name of the person you find.</a:t>
            </a:r>
          </a:p>
        </p:txBody>
      </p:sp>
      <p:sp>
        <p:nvSpPr>
          <p:cNvPr id="4" name="Rettangolo 3">
            <a:extLst>
              <a:ext uri="{FF2B5EF4-FFF2-40B4-BE49-F238E27FC236}">
                <a16:creationId xmlns:a16="http://schemas.microsoft.com/office/drawing/2014/main" id="{ED5A47A5-9AC1-A2E6-B4F7-22C3CCF82220}"/>
              </a:ext>
            </a:extLst>
          </p:cNvPr>
          <p:cNvSpPr/>
          <p:nvPr/>
        </p:nvSpPr>
        <p:spPr>
          <a:xfrm>
            <a:off x="1134654"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lives less than 1km from your home
.................................</a:t>
            </a:r>
          </a:p>
        </p:txBody>
      </p:sp>
      <p:sp>
        <p:nvSpPr>
          <p:cNvPr id="5" name="Rettangolo 4">
            <a:extLst>
              <a:ext uri="{FF2B5EF4-FFF2-40B4-BE49-F238E27FC236}">
                <a16:creationId xmlns:a16="http://schemas.microsoft.com/office/drawing/2014/main" id="{39A2D396-4DDC-2265-7916-FF22EC9D9EC0}"/>
              </a:ext>
            </a:extLst>
          </p:cNvPr>
          <p:cNvSpPr/>
          <p:nvPr/>
        </p:nvSpPr>
        <p:spPr>
          <a:xfrm>
            <a:off x="2820290"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the same eye color as you
.................................</a:t>
            </a:r>
            <a:endParaRPr lang="en-US" sz="1200" dirty="0"/>
          </a:p>
        </p:txBody>
      </p:sp>
      <p:sp>
        <p:nvSpPr>
          <p:cNvPr id="8" name="Rettangolo 7">
            <a:extLst>
              <a:ext uri="{FF2B5EF4-FFF2-40B4-BE49-F238E27FC236}">
                <a16:creationId xmlns:a16="http://schemas.microsoft.com/office/drawing/2014/main" id="{C58D17F7-7A24-BB8B-91F5-03EB4BA2A145}"/>
              </a:ext>
            </a:extLst>
          </p:cNvPr>
          <p:cNvSpPr/>
          <p:nvPr/>
        </p:nvSpPr>
        <p:spPr>
          <a:xfrm>
            <a:off x="4505926"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whose last holiday was in the same country as your last holiday
.................................</a:t>
            </a:r>
            <a:endParaRPr lang="en-US" sz="1200" dirty="0"/>
          </a:p>
        </p:txBody>
      </p:sp>
      <p:sp>
        <p:nvSpPr>
          <p:cNvPr id="10" name="Rettangolo 9">
            <a:extLst>
              <a:ext uri="{FF2B5EF4-FFF2-40B4-BE49-F238E27FC236}">
                <a16:creationId xmlns:a16="http://schemas.microsoft.com/office/drawing/2014/main" id="{B6730ECE-0078-6AB1-6887-FB7E65C1DA59}"/>
              </a:ext>
            </a:extLst>
          </p:cNvPr>
          <p:cNvSpPr/>
          <p:nvPr/>
        </p:nvSpPr>
        <p:spPr>
          <a:xfrm>
            <a:off x="1134654"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is fluent in 2 same foreign languages that you also speak
.................................</a:t>
            </a:r>
            <a:endParaRPr lang="en-US" sz="1200" dirty="0"/>
          </a:p>
        </p:txBody>
      </p:sp>
      <p:sp>
        <p:nvSpPr>
          <p:cNvPr id="11" name="Rettangolo 10">
            <a:extLst>
              <a:ext uri="{FF2B5EF4-FFF2-40B4-BE49-F238E27FC236}">
                <a16:creationId xmlns:a16="http://schemas.microsoft.com/office/drawing/2014/main" id="{249FC274-2561-A605-3512-14F27FF09516}"/>
              </a:ext>
            </a:extLst>
          </p:cNvPr>
          <p:cNvSpPr/>
          <p:nvPr/>
        </p:nvSpPr>
        <p:spPr>
          <a:xfrm>
            <a:off x="2820290"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passed his high-school diploma at 2 years of maximum apart from you
.................................</a:t>
            </a:r>
            <a:endParaRPr lang="en-US" sz="1200" dirty="0"/>
          </a:p>
        </p:txBody>
      </p:sp>
      <p:sp>
        <p:nvSpPr>
          <p:cNvPr id="12" name="Rettangolo 11">
            <a:extLst>
              <a:ext uri="{FF2B5EF4-FFF2-40B4-BE49-F238E27FC236}">
                <a16:creationId xmlns:a16="http://schemas.microsoft.com/office/drawing/2014/main" id="{4234E132-CE65-7C41-1D42-5DC45A845402}"/>
              </a:ext>
            </a:extLst>
          </p:cNvPr>
          <p:cNvSpPr/>
          <p:nvPr/>
        </p:nvSpPr>
        <p:spPr>
          <a:xfrm>
            <a:off x="4505926"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at least 1 company in common with you in their curriculum
(excluding current)
.................................</a:t>
            </a:r>
            <a:endParaRPr lang="en-US" sz="1200" dirty="0"/>
          </a:p>
        </p:txBody>
      </p:sp>
      <p:sp>
        <p:nvSpPr>
          <p:cNvPr id="13" name="Rettangolo 12">
            <a:extLst>
              <a:ext uri="{FF2B5EF4-FFF2-40B4-BE49-F238E27FC236}">
                <a16:creationId xmlns:a16="http://schemas.microsoft.com/office/drawing/2014/main" id="{1A959866-D781-7253-FA8D-D0CE04D7CA23}"/>
              </a:ext>
            </a:extLst>
          </p:cNvPr>
          <p:cNvSpPr/>
          <p:nvPr/>
        </p:nvSpPr>
        <p:spPr>
          <a:xfrm>
            <a:off x="1134654"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with whom you have a height gap of 1cm max
.................................</a:t>
            </a:r>
            <a:endParaRPr lang="en-US" sz="1200" dirty="0"/>
          </a:p>
        </p:txBody>
      </p:sp>
      <p:sp>
        <p:nvSpPr>
          <p:cNvPr id="14" name="Rettangolo 13">
            <a:extLst>
              <a:ext uri="{FF2B5EF4-FFF2-40B4-BE49-F238E27FC236}">
                <a16:creationId xmlns:a16="http://schemas.microsoft.com/office/drawing/2014/main" id="{02DCFC43-28DD-9E73-CD02-4E636C18B6D4}"/>
              </a:ext>
            </a:extLst>
          </p:cNvPr>
          <p:cNvSpPr/>
          <p:nvPr/>
        </p:nvSpPr>
        <p:spPr>
          <a:xfrm>
            <a:off x="2820290"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practices the same sport or hobby as you
.................................</a:t>
            </a:r>
            <a:endParaRPr lang="en-US" sz="1200" dirty="0"/>
          </a:p>
        </p:txBody>
      </p:sp>
      <p:sp>
        <p:nvSpPr>
          <p:cNvPr id="15" name="Rettangolo 14">
            <a:extLst>
              <a:ext uri="{FF2B5EF4-FFF2-40B4-BE49-F238E27FC236}">
                <a16:creationId xmlns:a16="http://schemas.microsoft.com/office/drawing/2014/main" id="{83F161A2-E718-9A6E-CCA5-A3B8024932B6}"/>
              </a:ext>
            </a:extLst>
          </p:cNvPr>
          <p:cNvSpPr/>
          <p:nvPr/>
        </p:nvSpPr>
        <p:spPr>
          <a:xfrm>
            <a:off x="4505926"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done the same studies (same curriculum, same theme) as you did
.................................</a:t>
            </a:r>
            <a:endParaRPr lang="en-US" sz="1200" dirty="0"/>
          </a:p>
        </p:txBody>
      </p:sp>
      <p:sp>
        <p:nvSpPr>
          <p:cNvPr id="16" name="Rettangolo 15">
            <a:extLst>
              <a:ext uri="{FF2B5EF4-FFF2-40B4-BE49-F238E27FC236}">
                <a16:creationId xmlns:a16="http://schemas.microsoft.com/office/drawing/2014/main" id="{8A1CABBD-B849-B24A-2494-470E128B9E6E}"/>
              </a:ext>
            </a:extLst>
          </p:cNvPr>
          <p:cNvSpPr/>
          <p:nvPr/>
        </p:nvSpPr>
        <p:spPr>
          <a:xfrm>
            <a:off x="5149272" y="860124"/>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Example
A person who lives less than 1km from your home
..................................</a:t>
            </a:r>
            <a:endParaRPr lang="en-US" dirty="0">
              <a:solidFill>
                <a:schemeClr val="tx1"/>
              </a:solidFill>
            </a:endParaRPr>
          </a:p>
        </p:txBody>
      </p:sp>
      <p:sp>
        <p:nvSpPr>
          <p:cNvPr id="17" name="CasellaDiTesto 16">
            <a:extLst>
              <a:ext uri="{FF2B5EF4-FFF2-40B4-BE49-F238E27FC236}">
                <a16:creationId xmlns:a16="http://schemas.microsoft.com/office/drawing/2014/main" id="{F4574E63-4A3B-ED87-D53E-15308FF34129}"/>
              </a:ext>
            </a:extLst>
          </p:cNvPr>
          <p:cNvSpPr txBox="1"/>
          <p:nvPr/>
        </p:nvSpPr>
        <p:spPr>
          <a:xfrm flipH="1">
            <a:off x="5335016" y="1671097"/>
            <a:ext cx="1274618" cy="369204"/>
          </a:xfrm>
          <a:prstGeom prst="rect">
            <a:avLst/>
          </a:prstGeom>
          <a:noFill/>
        </p:spPr>
        <p:txBody>
          <a:bodyPr wrap="square" rtlCol="0">
            <a:spAutoFit/>
          </a:bodyPr>
          <a:lstStyle/>
          <a:p>
            <a:r>
              <a:rPr lang="en-US" dirty="0">
                <a:latin typeface="Bradley Hand ITC" panose="03070402050302030203" pitchFamily="66" charset="0"/>
              </a:rPr>
              <a:t>Jacques</a:t>
            </a:r>
          </a:p>
        </p:txBody>
      </p:sp>
      <p:grpSp>
        <p:nvGrpSpPr>
          <p:cNvPr id="27" name="Gruppo 26">
            <a:extLst>
              <a:ext uri="{FF2B5EF4-FFF2-40B4-BE49-F238E27FC236}">
                <a16:creationId xmlns:a16="http://schemas.microsoft.com/office/drawing/2014/main" id="{C79B1EE0-95EB-441F-C982-D14DE1083056}"/>
              </a:ext>
            </a:extLst>
          </p:cNvPr>
          <p:cNvGrpSpPr/>
          <p:nvPr/>
        </p:nvGrpSpPr>
        <p:grpSpPr>
          <a:xfrm flipH="1" flipV="1">
            <a:off x="5575682" y="8127150"/>
            <a:ext cx="991122" cy="918726"/>
            <a:chOff x="1287054" y="2655429"/>
            <a:chExt cx="4830617" cy="4950694"/>
          </a:xfrm>
        </p:grpSpPr>
        <p:sp>
          <p:nvSpPr>
            <p:cNvPr id="18" name="Rettangolo 17">
              <a:extLst>
                <a:ext uri="{FF2B5EF4-FFF2-40B4-BE49-F238E27FC236}">
                  <a16:creationId xmlns:a16="http://schemas.microsoft.com/office/drawing/2014/main" id="{7A725329-A257-95FE-6B58-24034FD7F0B9}"/>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ttangolo 18">
              <a:extLst>
                <a:ext uri="{FF2B5EF4-FFF2-40B4-BE49-F238E27FC236}">
                  <a16:creationId xmlns:a16="http://schemas.microsoft.com/office/drawing/2014/main" id="{FF6FF6DB-9318-3D47-7BDB-E56B169F5C0B}"/>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ttangolo 19">
              <a:extLst>
                <a:ext uri="{FF2B5EF4-FFF2-40B4-BE49-F238E27FC236}">
                  <a16:creationId xmlns:a16="http://schemas.microsoft.com/office/drawing/2014/main" id="{DB45163D-C888-206E-B46C-0BFB96C996D5}"/>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ttangolo 20">
              <a:extLst>
                <a:ext uri="{FF2B5EF4-FFF2-40B4-BE49-F238E27FC236}">
                  <a16:creationId xmlns:a16="http://schemas.microsoft.com/office/drawing/2014/main" id="{819B2E41-5143-7C3C-5A85-24A5D7FF0A9C}"/>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ttangolo 21">
              <a:extLst>
                <a:ext uri="{FF2B5EF4-FFF2-40B4-BE49-F238E27FC236}">
                  <a16:creationId xmlns:a16="http://schemas.microsoft.com/office/drawing/2014/main" id="{48918525-68A3-85EB-4CE2-A29184B1A803}"/>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ttangolo 22">
              <a:extLst>
                <a:ext uri="{FF2B5EF4-FFF2-40B4-BE49-F238E27FC236}">
                  <a16:creationId xmlns:a16="http://schemas.microsoft.com/office/drawing/2014/main" id="{10EDC537-7930-8BC6-17F2-5F422D4D9FD0}"/>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ttangolo 23">
              <a:extLst>
                <a:ext uri="{FF2B5EF4-FFF2-40B4-BE49-F238E27FC236}">
                  <a16:creationId xmlns:a16="http://schemas.microsoft.com/office/drawing/2014/main" id="{4B721F53-4E79-E4E0-5E99-ED10C7C26D36}"/>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ttangolo 24">
              <a:extLst>
                <a:ext uri="{FF2B5EF4-FFF2-40B4-BE49-F238E27FC236}">
                  <a16:creationId xmlns:a16="http://schemas.microsoft.com/office/drawing/2014/main" id="{4F022446-577D-7739-03AD-E2BFA30086D1}"/>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ttangolo 25">
              <a:extLst>
                <a:ext uri="{FF2B5EF4-FFF2-40B4-BE49-F238E27FC236}">
                  <a16:creationId xmlns:a16="http://schemas.microsoft.com/office/drawing/2014/main" id="{A8C3586B-6FE2-2FB5-4AC5-514A59D7FBD9}"/>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31" name="Connettore diritto 30">
            <a:extLst>
              <a:ext uri="{FF2B5EF4-FFF2-40B4-BE49-F238E27FC236}">
                <a16:creationId xmlns:a16="http://schemas.microsoft.com/office/drawing/2014/main" id="{4A74901D-0DC2-5197-6D20-D27D4AE2F19A}"/>
              </a:ext>
            </a:extLst>
          </p:cNvPr>
          <p:cNvCxnSpPr>
            <a:cxnSpLocks/>
          </p:cNvCxnSpPr>
          <p:nvPr/>
        </p:nvCxnSpPr>
        <p:spPr>
          <a:xfrm>
            <a:off x="5725392" y="8073677"/>
            <a:ext cx="0" cy="9721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C3BD9566-B867-9945-3E08-8B268E226EB0}"/>
              </a:ext>
            </a:extLst>
          </p:cNvPr>
          <p:cNvCxnSpPr>
            <a:cxnSpLocks/>
          </p:cNvCxnSpPr>
          <p:nvPr/>
        </p:nvCxnSpPr>
        <p:spPr>
          <a:xfrm>
            <a:off x="5575682" y="8127150"/>
            <a:ext cx="1037552" cy="918726"/>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2" name="Image 12" descr="Une image contenant texte, clipart&#10;&#10;Description générée automatiquement">
            <a:extLst>
              <a:ext uri="{FF2B5EF4-FFF2-40B4-BE49-F238E27FC236}">
                <a16:creationId xmlns:a16="http://schemas.microsoft.com/office/drawing/2014/main" id="{778F037E-36E0-FD99-EFDD-A1F6AB32512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0847" y="9698173"/>
            <a:ext cx="428905" cy="155503"/>
          </a:xfrm>
          <a:prstGeom prst="rect">
            <a:avLst/>
          </a:prstGeom>
        </p:spPr>
      </p:pic>
      <p:pic>
        <p:nvPicPr>
          <p:cNvPr id="6" name="Image 14" descr="Une image contenant texte, clipart&#10;&#10;Description générée automatiquement">
            <a:hlinkClick r:id="rId3"/>
            <a:extLst>
              <a:ext uri="{FF2B5EF4-FFF2-40B4-BE49-F238E27FC236}">
                <a16:creationId xmlns:a16="http://schemas.microsoft.com/office/drawing/2014/main" id="{861522AB-8F82-6358-1CD9-2D63ED4E3D9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0953" y="9386161"/>
            <a:ext cx="628694" cy="260149"/>
          </a:xfrm>
          <a:prstGeom prst="rect">
            <a:avLst/>
          </a:prstGeom>
        </p:spPr>
      </p:pic>
      <p:pic>
        <p:nvPicPr>
          <p:cNvPr id="9" name="Picture 2">
            <a:extLst>
              <a:ext uri="{FF2B5EF4-FFF2-40B4-BE49-F238E27FC236}">
                <a16:creationId xmlns:a16="http://schemas.microsoft.com/office/drawing/2014/main" id="{0C6AA734-3511-01A4-9E7E-B30FFB15F11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266" t="17394" r="25946" b="25394"/>
          <a:stretch/>
        </p:blipFill>
        <p:spPr bwMode="auto">
          <a:xfrm>
            <a:off x="6036313"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690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4109090644"/>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PERSONAL SIMILARITIES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4" name="Rettangolo 3">
            <a:extLst>
              <a:ext uri="{FF2B5EF4-FFF2-40B4-BE49-F238E27FC236}">
                <a16:creationId xmlns:a16="http://schemas.microsoft.com/office/drawing/2014/main" id="{ED5A47A5-9AC1-A2E6-B4F7-22C3CCF82220}"/>
              </a:ext>
            </a:extLst>
          </p:cNvPr>
          <p:cNvSpPr/>
          <p:nvPr/>
        </p:nvSpPr>
        <p:spPr>
          <a:xfrm>
            <a:off x="1134654"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wears socks of the same color as you 
..................................</a:t>
            </a:r>
          </a:p>
        </p:txBody>
      </p:sp>
      <p:sp>
        <p:nvSpPr>
          <p:cNvPr id="5" name="Rettangolo 4">
            <a:extLst>
              <a:ext uri="{FF2B5EF4-FFF2-40B4-BE49-F238E27FC236}">
                <a16:creationId xmlns:a16="http://schemas.microsoft.com/office/drawing/2014/main" id="{39A2D396-4DDC-2265-7916-FF22EC9D9EC0}"/>
              </a:ext>
            </a:extLst>
          </p:cNvPr>
          <p:cNvSpPr/>
          <p:nvPr/>
        </p:nvSpPr>
        <p:spPr>
          <a:xfrm>
            <a:off x="2820290"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takes the same time to go to work (5 minutes difference max)
..................................</a:t>
            </a:r>
            <a:endParaRPr lang="en-US" sz="1200" dirty="0"/>
          </a:p>
        </p:txBody>
      </p:sp>
      <p:sp>
        <p:nvSpPr>
          <p:cNvPr id="8" name="Rettangolo 7">
            <a:extLst>
              <a:ext uri="{FF2B5EF4-FFF2-40B4-BE49-F238E27FC236}">
                <a16:creationId xmlns:a16="http://schemas.microsoft.com/office/drawing/2014/main" id="{C58D17F7-7A24-BB8B-91F5-03EB4BA2A145}"/>
              </a:ext>
            </a:extLst>
          </p:cNvPr>
          <p:cNvSpPr/>
          <p:nvPr/>
        </p:nvSpPr>
        <p:spPr>
          <a:xfrm>
            <a:off x="4505926"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had the same position as you in the past (not necessarily at the same time) ..................................</a:t>
            </a:r>
            <a:endParaRPr lang="en-US" sz="1200" dirty="0"/>
          </a:p>
        </p:txBody>
      </p:sp>
      <p:sp>
        <p:nvSpPr>
          <p:cNvPr id="10" name="Rettangolo 9">
            <a:extLst>
              <a:ext uri="{FF2B5EF4-FFF2-40B4-BE49-F238E27FC236}">
                <a16:creationId xmlns:a16="http://schemas.microsoft.com/office/drawing/2014/main" id="{B6730ECE-0078-6AB1-6887-FB7E65C1DA59}"/>
              </a:ext>
            </a:extLst>
          </p:cNvPr>
          <p:cNvSpPr/>
          <p:nvPr/>
        </p:nvSpPr>
        <p:spPr>
          <a:xfrm>
            <a:off x="1134654"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as many children as you do (zero is also possible)
..................................</a:t>
            </a:r>
            <a:endParaRPr lang="en-US" sz="1200" dirty="0"/>
          </a:p>
        </p:txBody>
      </p:sp>
      <p:sp>
        <p:nvSpPr>
          <p:cNvPr id="11" name="Rettangolo 10">
            <a:extLst>
              <a:ext uri="{FF2B5EF4-FFF2-40B4-BE49-F238E27FC236}">
                <a16:creationId xmlns:a16="http://schemas.microsoft.com/office/drawing/2014/main" id="{249FC274-2561-A605-3512-14F27FF09516}"/>
              </a:ext>
            </a:extLst>
          </p:cNvPr>
          <p:cNvSpPr/>
          <p:nvPr/>
        </p:nvSpPr>
        <p:spPr>
          <a:xfrm>
            <a:off x="2820290"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whose favorite series/movie is the same as yours
..................................</a:t>
            </a:r>
            <a:endParaRPr lang="en-US" sz="1200" dirty="0"/>
          </a:p>
        </p:txBody>
      </p:sp>
      <p:sp>
        <p:nvSpPr>
          <p:cNvPr id="12" name="Rettangolo 11">
            <a:extLst>
              <a:ext uri="{FF2B5EF4-FFF2-40B4-BE49-F238E27FC236}">
                <a16:creationId xmlns:a16="http://schemas.microsoft.com/office/drawing/2014/main" id="{4234E132-CE65-7C41-1D42-5DC45A845402}"/>
              </a:ext>
            </a:extLst>
          </p:cNvPr>
          <p:cNvSpPr/>
          <p:nvPr/>
        </p:nvSpPr>
        <p:spPr>
          <a:xfrm>
            <a:off x="4505926"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a car of the same brand as yours ..................................</a:t>
            </a:r>
            <a:endParaRPr lang="en-US" sz="1200" dirty="0"/>
          </a:p>
        </p:txBody>
      </p:sp>
      <p:sp>
        <p:nvSpPr>
          <p:cNvPr id="13" name="Rettangolo 12">
            <a:extLst>
              <a:ext uri="{FF2B5EF4-FFF2-40B4-BE49-F238E27FC236}">
                <a16:creationId xmlns:a16="http://schemas.microsoft.com/office/drawing/2014/main" id="{1A959866-D781-7253-FA8D-D0CE04D7CA23}"/>
              </a:ext>
            </a:extLst>
          </p:cNvPr>
          <p:cNvSpPr/>
          <p:nvPr/>
        </p:nvSpPr>
        <p:spPr>
          <a:xfrm>
            <a:off x="1134654"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was born less than 5km from where you were born ...............................</a:t>
            </a:r>
            <a:endParaRPr lang="en-US" sz="1200" dirty="0"/>
          </a:p>
        </p:txBody>
      </p:sp>
      <p:sp>
        <p:nvSpPr>
          <p:cNvPr id="14" name="Rettangolo 13">
            <a:extLst>
              <a:ext uri="{FF2B5EF4-FFF2-40B4-BE49-F238E27FC236}">
                <a16:creationId xmlns:a16="http://schemas.microsoft.com/office/drawing/2014/main" id="{02DCFC43-28DD-9E73-CD02-4E636C18B6D4}"/>
              </a:ext>
            </a:extLst>
          </p:cNvPr>
          <p:cNvSpPr/>
          <p:nvPr/>
        </p:nvSpPr>
        <p:spPr>
          <a:xfrm>
            <a:off x="2820290"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the same haircut as you (roughly)
................................</a:t>
            </a:r>
            <a:endParaRPr lang="en-US" sz="1200" dirty="0"/>
          </a:p>
        </p:txBody>
      </p:sp>
      <p:sp>
        <p:nvSpPr>
          <p:cNvPr id="15" name="Rettangolo 14">
            <a:extLst>
              <a:ext uri="{FF2B5EF4-FFF2-40B4-BE49-F238E27FC236}">
                <a16:creationId xmlns:a16="http://schemas.microsoft.com/office/drawing/2014/main" id="{83F161A2-E718-9A6E-CCA5-A3B8024932B6}"/>
              </a:ext>
            </a:extLst>
          </p:cNvPr>
          <p:cNvSpPr/>
          <p:nvPr/>
        </p:nvSpPr>
        <p:spPr>
          <a:xfrm>
            <a:off x="4505926"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whose first name begins with the same letter as yours
...............................</a:t>
            </a:r>
            <a:endParaRPr lang="en-US" sz="1200" dirty="0"/>
          </a:p>
        </p:txBody>
      </p:sp>
      <p:sp>
        <p:nvSpPr>
          <p:cNvPr id="28" name="ZoneTexte 54">
            <a:extLst>
              <a:ext uri="{FF2B5EF4-FFF2-40B4-BE49-F238E27FC236}">
                <a16:creationId xmlns:a16="http://schemas.microsoft.com/office/drawing/2014/main" id="{14668DDD-308E-3C47-325A-92A171E99B6A}"/>
              </a:ext>
            </a:extLst>
          </p:cNvPr>
          <p:cNvSpPr txBox="1"/>
          <p:nvPr/>
        </p:nvSpPr>
        <p:spPr>
          <a:xfrm>
            <a:off x="267983" y="937213"/>
            <a:ext cx="4451674" cy="1323439"/>
          </a:xfrm>
          <a:prstGeom prst="rect">
            <a:avLst/>
          </a:prstGeom>
          <a:noFill/>
        </p:spPr>
        <p:txBody>
          <a:bodyPr wrap="square" rtlCol="0">
            <a:spAutoFit/>
          </a:bodyPr>
          <a:lstStyle/>
          <a:p>
            <a:pPr algn="ctr"/>
            <a:r>
              <a:rPr lang="en-US" sz="1600" dirty="0"/>
              <a:t>This is the bingo sheet of (write down your name) ……………………………………………</a:t>
            </a:r>
          </a:p>
          <a:p>
            <a:pPr algn="ctr"/>
            <a:endParaRPr lang="en-US" sz="1600" dirty="0"/>
          </a:p>
          <a:p>
            <a:r>
              <a:rPr lang="en-US" sz="1600" dirty="0"/>
              <a:t>Mark the boxes with the first name of the person you find.</a:t>
            </a:r>
          </a:p>
        </p:txBody>
      </p:sp>
      <p:sp>
        <p:nvSpPr>
          <p:cNvPr id="29" name="Rettangolo 28">
            <a:extLst>
              <a:ext uri="{FF2B5EF4-FFF2-40B4-BE49-F238E27FC236}">
                <a16:creationId xmlns:a16="http://schemas.microsoft.com/office/drawing/2014/main" id="{7C0F7A9F-F727-63D0-29EF-D2E878747017}"/>
              </a:ext>
            </a:extLst>
          </p:cNvPr>
          <p:cNvSpPr/>
          <p:nvPr/>
        </p:nvSpPr>
        <p:spPr>
          <a:xfrm>
            <a:off x="5149272" y="860124"/>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Example
A person who lives less than 1km from your home
..................................</a:t>
            </a:r>
            <a:endParaRPr lang="en-US" dirty="0">
              <a:solidFill>
                <a:schemeClr val="tx1"/>
              </a:solidFill>
            </a:endParaRPr>
          </a:p>
        </p:txBody>
      </p:sp>
      <p:sp>
        <p:nvSpPr>
          <p:cNvPr id="30" name="CasellaDiTesto 29">
            <a:extLst>
              <a:ext uri="{FF2B5EF4-FFF2-40B4-BE49-F238E27FC236}">
                <a16:creationId xmlns:a16="http://schemas.microsoft.com/office/drawing/2014/main" id="{3BC32A9C-7BF2-F916-CDA1-7293D49B34F5}"/>
              </a:ext>
            </a:extLst>
          </p:cNvPr>
          <p:cNvSpPr txBox="1"/>
          <p:nvPr/>
        </p:nvSpPr>
        <p:spPr>
          <a:xfrm flipH="1">
            <a:off x="5335016" y="1671097"/>
            <a:ext cx="1274618" cy="369204"/>
          </a:xfrm>
          <a:prstGeom prst="rect">
            <a:avLst/>
          </a:prstGeom>
          <a:noFill/>
        </p:spPr>
        <p:txBody>
          <a:bodyPr wrap="square" rtlCol="0">
            <a:spAutoFit/>
          </a:bodyPr>
          <a:lstStyle/>
          <a:p>
            <a:r>
              <a:rPr lang="en-US" dirty="0">
                <a:latin typeface="Bradley Hand ITC" panose="03070402050302030203" pitchFamily="66" charset="0"/>
              </a:rPr>
              <a:t>Jacques</a:t>
            </a:r>
          </a:p>
        </p:txBody>
      </p:sp>
      <p:sp>
        <p:nvSpPr>
          <p:cNvPr id="33" name="ZoneTexte 54">
            <a:extLst>
              <a:ext uri="{FF2B5EF4-FFF2-40B4-BE49-F238E27FC236}">
                <a16:creationId xmlns:a16="http://schemas.microsoft.com/office/drawing/2014/main" id="{DD8D1081-B186-65CF-84AD-3C3276E523B1}"/>
              </a:ext>
            </a:extLst>
          </p:cNvPr>
          <p:cNvSpPr txBox="1"/>
          <p:nvPr/>
        </p:nvSpPr>
        <p:spPr>
          <a:xfrm>
            <a:off x="111092" y="8009976"/>
            <a:ext cx="5304619" cy="1569660"/>
          </a:xfrm>
          <a:prstGeom prst="rect">
            <a:avLst/>
          </a:prstGeom>
          <a:noFill/>
        </p:spPr>
        <p:txBody>
          <a:bodyPr wrap="square" rtlCol="0">
            <a:spAutoFit/>
          </a:bodyPr>
          <a:lstStyle/>
          <a:p>
            <a:pPr algn="ctr"/>
            <a:r>
              <a:rPr lang="en-US" sz="1600" dirty="0"/>
              <a:t>Draw a line when you have filled all 3 boxes in the same row, column or diagonal
The first 3 people to fill in 2 rows, columns or diagonals win:
1st prize: { Fill in your first prize here}
2nd prize: { Fill in your second prize here}
3rd prize: { Fill in your third prize here}</a:t>
            </a:r>
          </a:p>
        </p:txBody>
      </p:sp>
      <p:grpSp>
        <p:nvGrpSpPr>
          <p:cNvPr id="34" name="Gruppo 33">
            <a:extLst>
              <a:ext uri="{FF2B5EF4-FFF2-40B4-BE49-F238E27FC236}">
                <a16:creationId xmlns:a16="http://schemas.microsoft.com/office/drawing/2014/main" id="{3B0DFFF2-36D4-4D79-2F83-D3BD5EBDF6A0}"/>
              </a:ext>
            </a:extLst>
          </p:cNvPr>
          <p:cNvGrpSpPr/>
          <p:nvPr/>
        </p:nvGrpSpPr>
        <p:grpSpPr>
          <a:xfrm flipH="1" flipV="1">
            <a:off x="5575682" y="8127150"/>
            <a:ext cx="991122" cy="918726"/>
            <a:chOff x="1287054" y="2655429"/>
            <a:chExt cx="4830617" cy="4950694"/>
          </a:xfrm>
        </p:grpSpPr>
        <p:sp>
          <p:nvSpPr>
            <p:cNvPr id="35" name="Rettangolo 34">
              <a:extLst>
                <a:ext uri="{FF2B5EF4-FFF2-40B4-BE49-F238E27FC236}">
                  <a16:creationId xmlns:a16="http://schemas.microsoft.com/office/drawing/2014/main" id="{8C477D3B-0BA3-6122-3EF1-94574E46823E}"/>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ttangolo 35">
              <a:extLst>
                <a:ext uri="{FF2B5EF4-FFF2-40B4-BE49-F238E27FC236}">
                  <a16:creationId xmlns:a16="http://schemas.microsoft.com/office/drawing/2014/main" id="{61C8AAFB-7FC1-7194-C08D-BBBC316FA1E8}"/>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ttangolo 36">
              <a:extLst>
                <a:ext uri="{FF2B5EF4-FFF2-40B4-BE49-F238E27FC236}">
                  <a16:creationId xmlns:a16="http://schemas.microsoft.com/office/drawing/2014/main" id="{9074E791-8A18-CD7C-96A8-7611BC03616A}"/>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ttangolo 37">
              <a:extLst>
                <a:ext uri="{FF2B5EF4-FFF2-40B4-BE49-F238E27FC236}">
                  <a16:creationId xmlns:a16="http://schemas.microsoft.com/office/drawing/2014/main" id="{F1894D50-ACCF-19B9-8798-E5532BBB46A7}"/>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ttangolo 38">
              <a:extLst>
                <a:ext uri="{FF2B5EF4-FFF2-40B4-BE49-F238E27FC236}">
                  <a16:creationId xmlns:a16="http://schemas.microsoft.com/office/drawing/2014/main" id="{F6E3A8A2-EA54-AB02-D53E-60B460DC3F76}"/>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ttangolo 39">
              <a:extLst>
                <a:ext uri="{FF2B5EF4-FFF2-40B4-BE49-F238E27FC236}">
                  <a16:creationId xmlns:a16="http://schemas.microsoft.com/office/drawing/2014/main" id="{040CCE15-3CE4-E6EE-15CE-E758ACA50CAA}"/>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ttangolo 40">
              <a:extLst>
                <a:ext uri="{FF2B5EF4-FFF2-40B4-BE49-F238E27FC236}">
                  <a16:creationId xmlns:a16="http://schemas.microsoft.com/office/drawing/2014/main" id="{3D6E1E45-E56C-1A73-8DB2-476E324C3E5F}"/>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ttangolo 41">
              <a:extLst>
                <a:ext uri="{FF2B5EF4-FFF2-40B4-BE49-F238E27FC236}">
                  <a16:creationId xmlns:a16="http://schemas.microsoft.com/office/drawing/2014/main" id="{221CBCA8-CD21-0ECF-67E6-86699E6E30A8}"/>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ttangolo 42">
              <a:extLst>
                <a:ext uri="{FF2B5EF4-FFF2-40B4-BE49-F238E27FC236}">
                  <a16:creationId xmlns:a16="http://schemas.microsoft.com/office/drawing/2014/main" id="{6CEEC480-9D06-15D6-B3A5-D569E5005444}"/>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4" name="Connettore diritto 43">
            <a:extLst>
              <a:ext uri="{FF2B5EF4-FFF2-40B4-BE49-F238E27FC236}">
                <a16:creationId xmlns:a16="http://schemas.microsoft.com/office/drawing/2014/main" id="{AD63E0EF-01B3-ECAD-3B23-9D44DBB319F2}"/>
              </a:ext>
            </a:extLst>
          </p:cNvPr>
          <p:cNvCxnSpPr>
            <a:cxnSpLocks/>
          </p:cNvCxnSpPr>
          <p:nvPr/>
        </p:nvCxnSpPr>
        <p:spPr>
          <a:xfrm>
            <a:off x="5725392" y="8073677"/>
            <a:ext cx="0" cy="9721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Connettore diritto 44">
            <a:extLst>
              <a:ext uri="{FF2B5EF4-FFF2-40B4-BE49-F238E27FC236}">
                <a16:creationId xmlns:a16="http://schemas.microsoft.com/office/drawing/2014/main" id="{A0D4E6D9-64A3-D158-E514-E350FB395AF1}"/>
              </a:ext>
            </a:extLst>
          </p:cNvPr>
          <p:cNvCxnSpPr>
            <a:cxnSpLocks/>
          </p:cNvCxnSpPr>
          <p:nvPr/>
        </p:nvCxnSpPr>
        <p:spPr>
          <a:xfrm>
            <a:off x="5575682" y="8127150"/>
            <a:ext cx="1037552" cy="918726"/>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46" name="Image 12" descr="Une image contenant texte, clipart&#10;&#10;Description générée automatiquement">
            <a:extLst>
              <a:ext uri="{FF2B5EF4-FFF2-40B4-BE49-F238E27FC236}">
                <a16:creationId xmlns:a16="http://schemas.microsoft.com/office/drawing/2014/main" id="{D9CCACFF-3468-F6EB-D408-3B24800A73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0847" y="9698173"/>
            <a:ext cx="428905" cy="155503"/>
          </a:xfrm>
          <a:prstGeom prst="rect">
            <a:avLst/>
          </a:prstGeom>
        </p:spPr>
      </p:pic>
      <p:pic>
        <p:nvPicPr>
          <p:cNvPr id="47" name="Image 14" descr="Une image contenant texte, clipart&#10;&#10;Description générée automatiquement">
            <a:hlinkClick r:id="rId3"/>
            <a:extLst>
              <a:ext uri="{FF2B5EF4-FFF2-40B4-BE49-F238E27FC236}">
                <a16:creationId xmlns:a16="http://schemas.microsoft.com/office/drawing/2014/main" id="{7D4F1560-5DFF-0C39-C2DB-97415B6EB4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0953" y="9386161"/>
            <a:ext cx="628694" cy="260149"/>
          </a:xfrm>
          <a:prstGeom prst="rect">
            <a:avLst/>
          </a:prstGeom>
        </p:spPr>
      </p:pic>
      <p:pic>
        <p:nvPicPr>
          <p:cNvPr id="48" name="Picture 2">
            <a:extLst>
              <a:ext uri="{FF2B5EF4-FFF2-40B4-BE49-F238E27FC236}">
                <a16:creationId xmlns:a16="http://schemas.microsoft.com/office/drawing/2014/main" id="{803FCEE8-4E84-F361-694D-29AE8BC5266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266" t="17394" r="25946" b="25394"/>
          <a:stretch/>
        </p:blipFill>
        <p:spPr bwMode="auto">
          <a:xfrm>
            <a:off x="6036313"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168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661475517"/>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PROFESSIONAL SIMILARITIES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4" name="Rettangolo 3">
            <a:extLst>
              <a:ext uri="{FF2B5EF4-FFF2-40B4-BE49-F238E27FC236}">
                <a16:creationId xmlns:a16="http://schemas.microsoft.com/office/drawing/2014/main" id="{ED5A47A5-9AC1-A2E6-B4F7-22C3CCF82220}"/>
              </a:ext>
            </a:extLst>
          </p:cNvPr>
          <p:cNvSpPr/>
          <p:nvPr/>
        </p:nvSpPr>
        <p:spPr>
          <a:xfrm>
            <a:off x="1134654"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at least one same professional certification as yours
.................................</a:t>
            </a:r>
          </a:p>
        </p:txBody>
      </p:sp>
      <p:sp>
        <p:nvSpPr>
          <p:cNvPr id="5" name="Rettangolo 4">
            <a:extLst>
              <a:ext uri="{FF2B5EF4-FFF2-40B4-BE49-F238E27FC236}">
                <a16:creationId xmlns:a16="http://schemas.microsoft.com/office/drawing/2014/main" id="{39A2D396-4DDC-2265-7916-FF22EC9D9EC0}"/>
              </a:ext>
            </a:extLst>
          </p:cNvPr>
          <p:cNvSpPr/>
          <p:nvPr/>
        </p:nvSpPr>
        <p:spPr>
          <a:xfrm>
            <a:off x="2820290"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works in the same technology field as yours 
.................................</a:t>
            </a:r>
            <a:endParaRPr lang="en-US" sz="1200" dirty="0"/>
          </a:p>
        </p:txBody>
      </p:sp>
      <p:sp>
        <p:nvSpPr>
          <p:cNvPr id="8" name="Rettangolo 7">
            <a:extLst>
              <a:ext uri="{FF2B5EF4-FFF2-40B4-BE49-F238E27FC236}">
                <a16:creationId xmlns:a16="http://schemas.microsoft.com/office/drawing/2014/main" id="{C58D17F7-7A24-BB8B-91F5-03EB4BA2A145}"/>
              </a:ext>
            </a:extLst>
          </p:cNvPr>
          <p:cNvSpPr/>
          <p:nvPr/>
        </p:nvSpPr>
        <p:spPr>
          <a:xfrm>
            <a:off x="4505926"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arrives at the office at the same time as you (5 minutes difference max) .................................</a:t>
            </a:r>
            <a:endParaRPr lang="en-US" sz="1200" dirty="0"/>
          </a:p>
        </p:txBody>
      </p:sp>
      <p:sp>
        <p:nvSpPr>
          <p:cNvPr id="10" name="Rettangolo 9">
            <a:extLst>
              <a:ext uri="{FF2B5EF4-FFF2-40B4-BE49-F238E27FC236}">
                <a16:creationId xmlns:a16="http://schemas.microsoft.com/office/drawing/2014/main" id="{B6730ECE-0078-6AB1-6887-FB7E65C1DA59}"/>
              </a:ext>
            </a:extLst>
          </p:cNvPr>
          <p:cNvSpPr/>
          <p:nvPr/>
        </p:nvSpPr>
        <p:spPr>
          <a:xfrm>
            <a:off x="1134654"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had a manager in common with you but not as a same time
.................................</a:t>
            </a:r>
            <a:endParaRPr lang="en-US" sz="1200" dirty="0"/>
          </a:p>
        </p:txBody>
      </p:sp>
      <p:sp>
        <p:nvSpPr>
          <p:cNvPr id="11" name="Rettangolo 10">
            <a:extLst>
              <a:ext uri="{FF2B5EF4-FFF2-40B4-BE49-F238E27FC236}">
                <a16:creationId xmlns:a16="http://schemas.microsoft.com/office/drawing/2014/main" id="{249FC274-2561-A605-3512-14F27FF09516}"/>
              </a:ext>
            </a:extLst>
          </p:cNvPr>
          <p:cNvSpPr/>
          <p:nvPr/>
        </p:nvSpPr>
        <p:spPr>
          <a:xfrm>
            <a:off x="2820290"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studies the same professional topics as you (during personal time)
.................................</a:t>
            </a:r>
            <a:endParaRPr lang="en-US" sz="1200" dirty="0"/>
          </a:p>
        </p:txBody>
      </p:sp>
      <p:sp>
        <p:nvSpPr>
          <p:cNvPr id="12" name="Rettangolo 11">
            <a:extLst>
              <a:ext uri="{FF2B5EF4-FFF2-40B4-BE49-F238E27FC236}">
                <a16:creationId xmlns:a16="http://schemas.microsoft.com/office/drawing/2014/main" id="{4234E132-CE65-7C41-1D42-5DC45A845402}"/>
              </a:ext>
            </a:extLst>
          </p:cNvPr>
          <p:cNvSpPr/>
          <p:nvPr/>
        </p:nvSpPr>
        <p:spPr>
          <a:xfrm>
            <a:off x="4505926"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whose team is the same size as yours (1 person different max) .................................</a:t>
            </a:r>
            <a:endParaRPr lang="en-US" sz="1200" dirty="0"/>
          </a:p>
        </p:txBody>
      </p:sp>
      <p:sp>
        <p:nvSpPr>
          <p:cNvPr id="13" name="Rettangolo 12">
            <a:extLst>
              <a:ext uri="{FF2B5EF4-FFF2-40B4-BE49-F238E27FC236}">
                <a16:creationId xmlns:a16="http://schemas.microsoft.com/office/drawing/2014/main" id="{1A959866-D781-7253-FA8D-D0CE04D7CA23}"/>
              </a:ext>
            </a:extLst>
          </p:cNvPr>
          <p:cNvSpPr/>
          <p:nvPr/>
        </p:nvSpPr>
        <p:spPr>
          <a:xfrm>
            <a:off x="1134654"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roughly has the same number of years of experience in the company as you (1 year difference max) ...............................</a:t>
            </a:r>
            <a:endParaRPr lang="en-US" sz="1200" dirty="0"/>
          </a:p>
        </p:txBody>
      </p:sp>
      <p:sp>
        <p:nvSpPr>
          <p:cNvPr id="14" name="Rettangolo 13">
            <a:extLst>
              <a:ext uri="{FF2B5EF4-FFF2-40B4-BE49-F238E27FC236}">
                <a16:creationId xmlns:a16="http://schemas.microsoft.com/office/drawing/2014/main" id="{02DCFC43-28DD-9E73-CD02-4E636C18B6D4}"/>
              </a:ext>
            </a:extLst>
          </p:cNvPr>
          <p:cNvSpPr/>
          <p:nvPr/>
        </p:nvSpPr>
        <p:spPr>
          <a:xfrm>
            <a:off x="2820290"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roughly has the same number of years of professional experience as you (2 years difference max) ...............................</a:t>
            </a:r>
            <a:endParaRPr lang="en-US" sz="1200" dirty="0"/>
          </a:p>
        </p:txBody>
      </p:sp>
      <p:sp>
        <p:nvSpPr>
          <p:cNvPr id="15" name="Rettangolo 14">
            <a:extLst>
              <a:ext uri="{FF2B5EF4-FFF2-40B4-BE49-F238E27FC236}">
                <a16:creationId xmlns:a16="http://schemas.microsoft.com/office/drawing/2014/main" id="{83F161A2-E718-9A6E-CCA5-A3B8024932B6}"/>
              </a:ext>
            </a:extLst>
          </p:cNvPr>
          <p:cNvSpPr/>
          <p:nvPr/>
        </p:nvSpPr>
        <p:spPr>
          <a:xfrm>
            <a:off x="4505926"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works with at least 4 people in common with you 
...............................</a:t>
            </a:r>
            <a:endParaRPr lang="en-US" sz="1200" dirty="0"/>
          </a:p>
        </p:txBody>
      </p:sp>
      <p:sp>
        <p:nvSpPr>
          <p:cNvPr id="28" name="ZoneTexte 54">
            <a:extLst>
              <a:ext uri="{FF2B5EF4-FFF2-40B4-BE49-F238E27FC236}">
                <a16:creationId xmlns:a16="http://schemas.microsoft.com/office/drawing/2014/main" id="{14668DDD-308E-3C47-325A-92A171E99B6A}"/>
              </a:ext>
            </a:extLst>
          </p:cNvPr>
          <p:cNvSpPr txBox="1"/>
          <p:nvPr/>
        </p:nvSpPr>
        <p:spPr>
          <a:xfrm>
            <a:off x="267983" y="937213"/>
            <a:ext cx="4451674" cy="1323439"/>
          </a:xfrm>
          <a:prstGeom prst="rect">
            <a:avLst/>
          </a:prstGeom>
          <a:noFill/>
        </p:spPr>
        <p:txBody>
          <a:bodyPr wrap="square" rtlCol="0">
            <a:spAutoFit/>
          </a:bodyPr>
          <a:lstStyle/>
          <a:p>
            <a:pPr algn="ctr"/>
            <a:r>
              <a:rPr lang="en-US" sz="1600" dirty="0"/>
              <a:t>This is the bingo sheet of (write down your name) ……………………………………………</a:t>
            </a:r>
          </a:p>
          <a:p>
            <a:pPr algn="ctr"/>
            <a:endParaRPr lang="en-US" sz="1600" dirty="0"/>
          </a:p>
          <a:p>
            <a:r>
              <a:rPr lang="en-US" sz="1600" dirty="0"/>
              <a:t>Mark the boxes with the first name of the person you find.</a:t>
            </a:r>
          </a:p>
        </p:txBody>
      </p:sp>
      <p:sp>
        <p:nvSpPr>
          <p:cNvPr id="29" name="Rettangolo 28">
            <a:extLst>
              <a:ext uri="{FF2B5EF4-FFF2-40B4-BE49-F238E27FC236}">
                <a16:creationId xmlns:a16="http://schemas.microsoft.com/office/drawing/2014/main" id="{7C0F7A9F-F727-63D0-29EF-D2E878747017}"/>
              </a:ext>
            </a:extLst>
          </p:cNvPr>
          <p:cNvSpPr/>
          <p:nvPr/>
        </p:nvSpPr>
        <p:spPr>
          <a:xfrm>
            <a:off x="5149272" y="860124"/>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Example
A person who lives less than 1km from your home
..................................</a:t>
            </a:r>
            <a:endParaRPr lang="en-US" dirty="0">
              <a:solidFill>
                <a:schemeClr val="tx1"/>
              </a:solidFill>
            </a:endParaRPr>
          </a:p>
        </p:txBody>
      </p:sp>
      <p:sp>
        <p:nvSpPr>
          <p:cNvPr id="30" name="CasellaDiTesto 29">
            <a:extLst>
              <a:ext uri="{FF2B5EF4-FFF2-40B4-BE49-F238E27FC236}">
                <a16:creationId xmlns:a16="http://schemas.microsoft.com/office/drawing/2014/main" id="{3BC32A9C-7BF2-F916-CDA1-7293D49B34F5}"/>
              </a:ext>
            </a:extLst>
          </p:cNvPr>
          <p:cNvSpPr txBox="1"/>
          <p:nvPr/>
        </p:nvSpPr>
        <p:spPr>
          <a:xfrm flipH="1">
            <a:off x="5335016" y="1671097"/>
            <a:ext cx="1274618" cy="369204"/>
          </a:xfrm>
          <a:prstGeom prst="rect">
            <a:avLst/>
          </a:prstGeom>
          <a:noFill/>
        </p:spPr>
        <p:txBody>
          <a:bodyPr wrap="square" rtlCol="0">
            <a:spAutoFit/>
          </a:bodyPr>
          <a:lstStyle/>
          <a:p>
            <a:r>
              <a:rPr lang="en-US" dirty="0">
                <a:latin typeface="Bradley Hand ITC" panose="03070402050302030203" pitchFamily="66" charset="0"/>
              </a:rPr>
              <a:t>Jacques</a:t>
            </a:r>
          </a:p>
        </p:txBody>
      </p:sp>
      <p:sp>
        <p:nvSpPr>
          <p:cNvPr id="33" name="ZoneTexte 54">
            <a:extLst>
              <a:ext uri="{FF2B5EF4-FFF2-40B4-BE49-F238E27FC236}">
                <a16:creationId xmlns:a16="http://schemas.microsoft.com/office/drawing/2014/main" id="{DD8D1081-B186-65CF-84AD-3C3276E523B1}"/>
              </a:ext>
            </a:extLst>
          </p:cNvPr>
          <p:cNvSpPr txBox="1"/>
          <p:nvPr/>
        </p:nvSpPr>
        <p:spPr>
          <a:xfrm>
            <a:off x="111092" y="8009976"/>
            <a:ext cx="5304619" cy="1569660"/>
          </a:xfrm>
          <a:prstGeom prst="rect">
            <a:avLst/>
          </a:prstGeom>
          <a:noFill/>
        </p:spPr>
        <p:txBody>
          <a:bodyPr wrap="square" rtlCol="0">
            <a:spAutoFit/>
          </a:bodyPr>
          <a:lstStyle/>
          <a:p>
            <a:pPr algn="ctr"/>
            <a:r>
              <a:rPr lang="en-US" sz="1600" dirty="0"/>
              <a:t>Draw a line when you have filled all 3 boxes in the same row, column or diagonal
The first 3 people to fill in 2 rows, columns or diagonals win:
1st prize: { Fill in your first prize here}
2nd prize: { Fill in your second prize here}
3rd prize: { Fill in your third prize here}</a:t>
            </a:r>
          </a:p>
        </p:txBody>
      </p:sp>
      <p:grpSp>
        <p:nvGrpSpPr>
          <p:cNvPr id="34" name="Gruppo 33">
            <a:extLst>
              <a:ext uri="{FF2B5EF4-FFF2-40B4-BE49-F238E27FC236}">
                <a16:creationId xmlns:a16="http://schemas.microsoft.com/office/drawing/2014/main" id="{3B0DFFF2-36D4-4D79-2F83-D3BD5EBDF6A0}"/>
              </a:ext>
            </a:extLst>
          </p:cNvPr>
          <p:cNvGrpSpPr/>
          <p:nvPr/>
        </p:nvGrpSpPr>
        <p:grpSpPr>
          <a:xfrm flipH="1" flipV="1">
            <a:off x="5575682" y="8127150"/>
            <a:ext cx="991122" cy="918726"/>
            <a:chOff x="1287054" y="2655429"/>
            <a:chExt cx="4830617" cy="4950694"/>
          </a:xfrm>
        </p:grpSpPr>
        <p:sp>
          <p:nvSpPr>
            <p:cNvPr id="35" name="Rettangolo 34">
              <a:extLst>
                <a:ext uri="{FF2B5EF4-FFF2-40B4-BE49-F238E27FC236}">
                  <a16:creationId xmlns:a16="http://schemas.microsoft.com/office/drawing/2014/main" id="{8C477D3B-0BA3-6122-3EF1-94574E46823E}"/>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ttangolo 35">
              <a:extLst>
                <a:ext uri="{FF2B5EF4-FFF2-40B4-BE49-F238E27FC236}">
                  <a16:creationId xmlns:a16="http://schemas.microsoft.com/office/drawing/2014/main" id="{61C8AAFB-7FC1-7194-C08D-BBBC316FA1E8}"/>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ttangolo 36">
              <a:extLst>
                <a:ext uri="{FF2B5EF4-FFF2-40B4-BE49-F238E27FC236}">
                  <a16:creationId xmlns:a16="http://schemas.microsoft.com/office/drawing/2014/main" id="{9074E791-8A18-CD7C-96A8-7611BC03616A}"/>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ttangolo 37">
              <a:extLst>
                <a:ext uri="{FF2B5EF4-FFF2-40B4-BE49-F238E27FC236}">
                  <a16:creationId xmlns:a16="http://schemas.microsoft.com/office/drawing/2014/main" id="{F1894D50-ACCF-19B9-8798-E5532BBB46A7}"/>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ttangolo 38">
              <a:extLst>
                <a:ext uri="{FF2B5EF4-FFF2-40B4-BE49-F238E27FC236}">
                  <a16:creationId xmlns:a16="http://schemas.microsoft.com/office/drawing/2014/main" id="{F6E3A8A2-EA54-AB02-D53E-60B460DC3F76}"/>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ttangolo 39">
              <a:extLst>
                <a:ext uri="{FF2B5EF4-FFF2-40B4-BE49-F238E27FC236}">
                  <a16:creationId xmlns:a16="http://schemas.microsoft.com/office/drawing/2014/main" id="{040CCE15-3CE4-E6EE-15CE-E758ACA50CAA}"/>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ttangolo 40">
              <a:extLst>
                <a:ext uri="{FF2B5EF4-FFF2-40B4-BE49-F238E27FC236}">
                  <a16:creationId xmlns:a16="http://schemas.microsoft.com/office/drawing/2014/main" id="{3D6E1E45-E56C-1A73-8DB2-476E324C3E5F}"/>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ttangolo 41">
              <a:extLst>
                <a:ext uri="{FF2B5EF4-FFF2-40B4-BE49-F238E27FC236}">
                  <a16:creationId xmlns:a16="http://schemas.microsoft.com/office/drawing/2014/main" id="{221CBCA8-CD21-0ECF-67E6-86699E6E30A8}"/>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ttangolo 42">
              <a:extLst>
                <a:ext uri="{FF2B5EF4-FFF2-40B4-BE49-F238E27FC236}">
                  <a16:creationId xmlns:a16="http://schemas.microsoft.com/office/drawing/2014/main" id="{6CEEC480-9D06-15D6-B3A5-D569E5005444}"/>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4" name="Connettore diritto 43">
            <a:extLst>
              <a:ext uri="{FF2B5EF4-FFF2-40B4-BE49-F238E27FC236}">
                <a16:creationId xmlns:a16="http://schemas.microsoft.com/office/drawing/2014/main" id="{AD63E0EF-01B3-ECAD-3B23-9D44DBB319F2}"/>
              </a:ext>
            </a:extLst>
          </p:cNvPr>
          <p:cNvCxnSpPr>
            <a:cxnSpLocks/>
          </p:cNvCxnSpPr>
          <p:nvPr/>
        </p:nvCxnSpPr>
        <p:spPr>
          <a:xfrm>
            <a:off x="5725392" y="8073677"/>
            <a:ext cx="0" cy="9721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Connettore diritto 44">
            <a:extLst>
              <a:ext uri="{FF2B5EF4-FFF2-40B4-BE49-F238E27FC236}">
                <a16:creationId xmlns:a16="http://schemas.microsoft.com/office/drawing/2014/main" id="{A0D4E6D9-64A3-D158-E514-E350FB395AF1}"/>
              </a:ext>
            </a:extLst>
          </p:cNvPr>
          <p:cNvCxnSpPr>
            <a:cxnSpLocks/>
          </p:cNvCxnSpPr>
          <p:nvPr/>
        </p:nvCxnSpPr>
        <p:spPr>
          <a:xfrm>
            <a:off x="5575682" y="8127150"/>
            <a:ext cx="1037552" cy="918726"/>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46" name="Image 12" descr="Une image contenant texte, clipart&#10;&#10;Description générée automatiquement">
            <a:extLst>
              <a:ext uri="{FF2B5EF4-FFF2-40B4-BE49-F238E27FC236}">
                <a16:creationId xmlns:a16="http://schemas.microsoft.com/office/drawing/2014/main" id="{D9CCACFF-3468-F6EB-D408-3B24800A73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0847" y="9698173"/>
            <a:ext cx="428905" cy="155503"/>
          </a:xfrm>
          <a:prstGeom prst="rect">
            <a:avLst/>
          </a:prstGeom>
        </p:spPr>
      </p:pic>
      <p:pic>
        <p:nvPicPr>
          <p:cNvPr id="47" name="Image 14" descr="Une image contenant texte, clipart&#10;&#10;Description générée automatiquement">
            <a:hlinkClick r:id="rId3"/>
            <a:extLst>
              <a:ext uri="{FF2B5EF4-FFF2-40B4-BE49-F238E27FC236}">
                <a16:creationId xmlns:a16="http://schemas.microsoft.com/office/drawing/2014/main" id="{7D4F1560-5DFF-0C39-C2DB-97415B6EB4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0953" y="9386161"/>
            <a:ext cx="628694" cy="260149"/>
          </a:xfrm>
          <a:prstGeom prst="rect">
            <a:avLst/>
          </a:prstGeom>
        </p:spPr>
      </p:pic>
      <p:pic>
        <p:nvPicPr>
          <p:cNvPr id="48" name="Picture 2">
            <a:extLst>
              <a:ext uri="{FF2B5EF4-FFF2-40B4-BE49-F238E27FC236}">
                <a16:creationId xmlns:a16="http://schemas.microsoft.com/office/drawing/2014/main" id="{803FCEE8-4E84-F361-694D-29AE8BC5266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266" t="17394" r="25946" b="25394"/>
          <a:stretch/>
        </p:blipFill>
        <p:spPr bwMode="auto">
          <a:xfrm>
            <a:off x="6036313"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309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974989543"/>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EVENT CHARACTERISTICS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28" name="ZoneTexte 54">
            <a:extLst>
              <a:ext uri="{FF2B5EF4-FFF2-40B4-BE49-F238E27FC236}">
                <a16:creationId xmlns:a16="http://schemas.microsoft.com/office/drawing/2014/main" id="{14668DDD-308E-3C47-325A-92A171E99B6A}"/>
              </a:ext>
            </a:extLst>
          </p:cNvPr>
          <p:cNvSpPr txBox="1"/>
          <p:nvPr/>
        </p:nvSpPr>
        <p:spPr>
          <a:xfrm>
            <a:off x="267983" y="937213"/>
            <a:ext cx="4451674" cy="1323439"/>
          </a:xfrm>
          <a:prstGeom prst="rect">
            <a:avLst/>
          </a:prstGeom>
          <a:noFill/>
        </p:spPr>
        <p:txBody>
          <a:bodyPr wrap="square" rtlCol="0">
            <a:spAutoFit/>
          </a:bodyPr>
          <a:lstStyle/>
          <a:p>
            <a:pPr algn="ctr"/>
            <a:r>
              <a:rPr lang="en-US" sz="1600" dirty="0"/>
              <a:t>This is the bingo sheet of (write down your name) ……………………………………………</a:t>
            </a:r>
          </a:p>
          <a:p>
            <a:pPr algn="ctr"/>
            <a:endParaRPr lang="en-US" sz="1600" dirty="0"/>
          </a:p>
          <a:p>
            <a:r>
              <a:rPr lang="en-US" sz="1600" dirty="0"/>
              <a:t>Mark the boxes with the first name of the person you find.</a:t>
            </a:r>
          </a:p>
        </p:txBody>
      </p:sp>
      <p:sp>
        <p:nvSpPr>
          <p:cNvPr id="29" name="Rettangolo 28">
            <a:extLst>
              <a:ext uri="{FF2B5EF4-FFF2-40B4-BE49-F238E27FC236}">
                <a16:creationId xmlns:a16="http://schemas.microsoft.com/office/drawing/2014/main" id="{7C0F7A9F-F727-63D0-29EF-D2E878747017}"/>
              </a:ext>
            </a:extLst>
          </p:cNvPr>
          <p:cNvSpPr/>
          <p:nvPr/>
        </p:nvSpPr>
        <p:spPr>
          <a:xfrm>
            <a:off x="5149272" y="860124"/>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Example
A person who lives less than 1km from your home
..................................</a:t>
            </a:r>
            <a:endParaRPr lang="en-US" dirty="0">
              <a:solidFill>
                <a:schemeClr val="tx1"/>
              </a:solidFill>
            </a:endParaRPr>
          </a:p>
        </p:txBody>
      </p:sp>
      <p:sp>
        <p:nvSpPr>
          <p:cNvPr id="30" name="CasellaDiTesto 29">
            <a:extLst>
              <a:ext uri="{FF2B5EF4-FFF2-40B4-BE49-F238E27FC236}">
                <a16:creationId xmlns:a16="http://schemas.microsoft.com/office/drawing/2014/main" id="{3BC32A9C-7BF2-F916-CDA1-7293D49B34F5}"/>
              </a:ext>
            </a:extLst>
          </p:cNvPr>
          <p:cNvSpPr txBox="1"/>
          <p:nvPr/>
        </p:nvSpPr>
        <p:spPr>
          <a:xfrm flipH="1">
            <a:off x="5335016" y="1671097"/>
            <a:ext cx="1274618" cy="369204"/>
          </a:xfrm>
          <a:prstGeom prst="rect">
            <a:avLst/>
          </a:prstGeom>
          <a:noFill/>
        </p:spPr>
        <p:txBody>
          <a:bodyPr wrap="square" rtlCol="0">
            <a:spAutoFit/>
          </a:bodyPr>
          <a:lstStyle/>
          <a:p>
            <a:r>
              <a:rPr lang="en-US" dirty="0">
                <a:latin typeface="Bradley Hand ITC" panose="03070402050302030203" pitchFamily="66" charset="0"/>
              </a:rPr>
              <a:t>Jacques</a:t>
            </a:r>
          </a:p>
        </p:txBody>
      </p:sp>
      <p:sp>
        <p:nvSpPr>
          <p:cNvPr id="33" name="ZoneTexte 54">
            <a:extLst>
              <a:ext uri="{FF2B5EF4-FFF2-40B4-BE49-F238E27FC236}">
                <a16:creationId xmlns:a16="http://schemas.microsoft.com/office/drawing/2014/main" id="{DD8D1081-B186-65CF-84AD-3C3276E523B1}"/>
              </a:ext>
            </a:extLst>
          </p:cNvPr>
          <p:cNvSpPr txBox="1"/>
          <p:nvPr/>
        </p:nvSpPr>
        <p:spPr>
          <a:xfrm>
            <a:off x="111092" y="8009976"/>
            <a:ext cx="5304619" cy="1569660"/>
          </a:xfrm>
          <a:prstGeom prst="rect">
            <a:avLst/>
          </a:prstGeom>
          <a:noFill/>
        </p:spPr>
        <p:txBody>
          <a:bodyPr wrap="square" rtlCol="0">
            <a:spAutoFit/>
          </a:bodyPr>
          <a:lstStyle/>
          <a:p>
            <a:pPr algn="ctr"/>
            <a:r>
              <a:rPr lang="en-US" sz="1600" dirty="0"/>
              <a:t>Draw a line when you have filled all 3 boxes in the same row, column or diagonal
The first 3 people to fill in 2 rows, columns or diagonals win:
1st prize: { Fill in your first prize here}
2nd prize: { Fill in your second prize here}
3rd prize: { Fill in your third prize here}</a:t>
            </a:r>
          </a:p>
        </p:txBody>
      </p:sp>
      <p:grpSp>
        <p:nvGrpSpPr>
          <p:cNvPr id="34" name="Gruppo 33">
            <a:extLst>
              <a:ext uri="{FF2B5EF4-FFF2-40B4-BE49-F238E27FC236}">
                <a16:creationId xmlns:a16="http://schemas.microsoft.com/office/drawing/2014/main" id="{3B0DFFF2-36D4-4D79-2F83-D3BD5EBDF6A0}"/>
              </a:ext>
            </a:extLst>
          </p:cNvPr>
          <p:cNvGrpSpPr/>
          <p:nvPr/>
        </p:nvGrpSpPr>
        <p:grpSpPr>
          <a:xfrm flipH="1" flipV="1">
            <a:off x="5575682" y="8127150"/>
            <a:ext cx="991122" cy="918726"/>
            <a:chOff x="1287054" y="2655429"/>
            <a:chExt cx="4830617" cy="4950694"/>
          </a:xfrm>
        </p:grpSpPr>
        <p:sp>
          <p:nvSpPr>
            <p:cNvPr id="35" name="Rettangolo 34">
              <a:extLst>
                <a:ext uri="{FF2B5EF4-FFF2-40B4-BE49-F238E27FC236}">
                  <a16:creationId xmlns:a16="http://schemas.microsoft.com/office/drawing/2014/main" id="{8C477D3B-0BA3-6122-3EF1-94574E46823E}"/>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ttangolo 35">
              <a:extLst>
                <a:ext uri="{FF2B5EF4-FFF2-40B4-BE49-F238E27FC236}">
                  <a16:creationId xmlns:a16="http://schemas.microsoft.com/office/drawing/2014/main" id="{61C8AAFB-7FC1-7194-C08D-BBBC316FA1E8}"/>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ttangolo 36">
              <a:extLst>
                <a:ext uri="{FF2B5EF4-FFF2-40B4-BE49-F238E27FC236}">
                  <a16:creationId xmlns:a16="http://schemas.microsoft.com/office/drawing/2014/main" id="{9074E791-8A18-CD7C-96A8-7611BC03616A}"/>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ttangolo 37">
              <a:extLst>
                <a:ext uri="{FF2B5EF4-FFF2-40B4-BE49-F238E27FC236}">
                  <a16:creationId xmlns:a16="http://schemas.microsoft.com/office/drawing/2014/main" id="{F1894D50-ACCF-19B9-8798-E5532BBB46A7}"/>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ttangolo 38">
              <a:extLst>
                <a:ext uri="{FF2B5EF4-FFF2-40B4-BE49-F238E27FC236}">
                  <a16:creationId xmlns:a16="http://schemas.microsoft.com/office/drawing/2014/main" id="{F6E3A8A2-EA54-AB02-D53E-60B460DC3F76}"/>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ttangolo 39">
              <a:extLst>
                <a:ext uri="{FF2B5EF4-FFF2-40B4-BE49-F238E27FC236}">
                  <a16:creationId xmlns:a16="http://schemas.microsoft.com/office/drawing/2014/main" id="{040CCE15-3CE4-E6EE-15CE-E758ACA50CAA}"/>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ttangolo 40">
              <a:extLst>
                <a:ext uri="{FF2B5EF4-FFF2-40B4-BE49-F238E27FC236}">
                  <a16:creationId xmlns:a16="http://schemas.microsoft.com/office/drawing/2014/main" id="{3D6E1E45-E56C-1A73-8DB2-476E324C3E5F}"/>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ttangolo 41">
              <a:extLst>
                <a:ext uri="{FF2B5EF4-FFF2-40B4-BE49-F238E27FC236}">
                  <a16:creationId xmlns:a16="http://schemas.microsoft.com/office/drawing/2014/main" id="{221CBCA8-CD21-0ECF-67E6-86699E6E30A8}"/>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ttangolo 42">
              <a:extLst>
                <a:ext uri="{FF2B5EF4-FFF2-40B4-BE49-F238E27FC236}">
                  <a16:creationId xmlns:a16="http://schemas.microsoft.com/office/drawing/2014/main" id="{6CEEC480-9D06-15D6-B3A5-D569E5005444}"/>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4" name="Connettore diritto 43">
            <a:extLst>
              <a:ext uri="{FF2B5EF4-FFF2-40B4-BE49-F238E27FC236}">
                <a16:creationId xmlns:a16="http://schemas.microsoft.com/office/drawing/2014/main" id="{AD63E0EF-01B3-ECAD-3B23-9D44DBB319F2}"/>
              </a:ext>
            </a:extLst>
          </p:cNvPr>
          <p:cNvCxnSpPr>
            <a:cxnSpLocks/>
          </p:cNvCxnSpPr>
          <p:nvPr/>
        </p:nvCxnSpPr>
        <p:spPr>
          <a:xfrm>
            <a:off x="5725392" y="8073677"/>
            <a:ext cx="0" cy="9721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Connettore diritto 44">
            <a:extLst>
              <a:ext uri="{FF2B5EF4-FFF2-40B4-BE49-F238E27FC236}">
                <a16:creationId xmlns:a16="http://schemas.microsoft.com/office/drawing/2014/main" id="{A0D4E6D9-64A3-D158-E514-E350FB395AF1}"/>
              </a:ext>
            </a:extLst>
          </p:cNvPr>
          <p:cNvCxnSpPr>
            <a:cxnSpLocks/>
          </p:cNvCxnSpPr>
          <p:nvPr/>
        </p:nvCxnSpPr>
        <p:spPr>
          <a:xfrm>
            <a:off x="5575682" y="8127150"/>
            <a:ext cx="1037552" cy="918726"/>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46" name="Image 12" descr="Une image contenant texte, clipart&#10;&#10;Description générée automatiquement">
            <a:extLst>
              <a:ext uri="{FF2B5EF4-FFF2-40B4-BE49-F238E27FC236}">
                <a16:creationId xmlns:a16="http://schemas.microsoft.com/office/drawing/2014/main" id="{D9CCACFF-3468-F6EB-D408-3B24800A73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0847" y="9698173"/>
            <a:ext cx="428905" cy="155503"/>
          </a:xfrm>
          <a:prstGeom prst="rect">
            <a:avLst/>
          </a:prstGeom>
        </p:spPr>
      </p:pic>
      <p:pic>
        <p:nvPicPr>
          <p:cNvPr id="47" name="Image 14" descr="Une image contenant texte, clipart&#10;&#10;Description générée automatiquement">
            <a:hlinkClick r:id="rId3"/>
            <a:extLst>
              <a:ext uri="{FF2B5EF4-FFF2-40B4-BE49-F238E27FC236}">
                <a16:creationId xmlns:a16="http://schemas.microsoft.com/office/drawing/2014/main" id="{7D4F1560-5DFF-0C39-C2DB-97415B6EB4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0953" y="9386161"/>
            <a:ext cx="628694" cy="260149"/>
          </a:xfrm>
          <a:prstGeom prst="rect">
            <a:avLst/>
          </a:prstGeom>
        </p:spPr>
      </p:pic>
      <p:pic>
        <p:nvPicPr>
          <p:cNvPr id="48" name="Picture 2">
            <a:extLst>
              <a:ext uri="{FF2B5EF4-FFF2-40B4-BE49-F238E27FC236}">
                <a16:creationId xmlns:a16="http://schemas.microsoft.com/office/drawing/2014/main" id="{803FCEE8-4E84-F361-694D-29AE8BC5266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266" t="17394" r="25946" b="25394"/>
          <a:stretch/>
        </p:blipFill>
        <p:spPr bwMode="auto">
          <a:xfrm>
            <a:off x="6036313"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C6DEA22D-2A95-BA1D-D2CC-7AF326805263}"/>
              </a:ext>
            </a:extLst>
          </p:cNvPr>
          <p:cNvSpPr/>
          <p:nvPr/>
        </p:nvSpPr>
        <p:spPr>
          <a:xfrm>
            <a:off x="1134654"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first person to arrive at today's event
..................................</a:t>
            </a:r>
          </a:p>
        </p:txBody>
      </p:sp>
      <p:sp>
        <p:nvSpPr>
          <p:cNvPr id="3" name="Rettangolo 2">
            <a:extLst>
              <a:ext uri="{FF2B5EF4-FFF2-40B4-BE49-F238E27FC236}">
                <a16:creationId xmlns:a16="http://schemas.microsoft.com/office/drawing/2014/main" id="{18E02526-1D86-7984-F8DF-0B172FA9374F}"/>
              </a:ext>
            </a:extLst>
          </p:cNvPr>
          <p:cNvSpPr/>
          <p:nvPr/>
        </p:nvSpPr>
        <p:spPr>
          <a:xfrm>
            <a:off x="2820290"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Someone who can give you at least 10 first names of other participants (being right in the names) ..................................</a:t>
            </a:r>
            <a:endParaRPr lang="en-US" sz="1200" dirty="0"/>
          </a:p>
        </p:txBody>
      </p:sp>
      <p:sp>
        <p:nvSpPr>
          <p:cNvPr id="6" name="Rettangolo 5">
            <a:extLst>
              <a:ext uri="{FF2B5EF4-FFF2-40B4-BE49-F238E27FC236}">
                <a16:creationId xmlns:a16="http://schemas.microsoft.com/office/drawing/2014/main" id="{1FB5B990-2937-F3FD-B846-6A6670F96B79}"/>
              </a:ext>
            </a:extLst>
          </p:cNvPr>
          <p:cNvSpPr/>
          <p:nvPr/>
        </p:nvSpPr>
        <p:spPr>
          <a:xfrm>
            <a:off x="4505926"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Someone who is recognized for their mastery in the theme of the event ..................................</a:t>
            </a:r>
            <a:endParaRPr lang="en-US" sz="1200" dirty="0"/>
          </a:p>
        </p:txBody>
      </p:sp>
      <p:sp>
        <p:nvSpPr>
          <p:cNvPr id="9" name="Rettangolo 8">
            <a:extLst>
              <a:ext uri="{FF2B5EF4-FFF2-40B4-BE49-F238E27FC236}">
                <a16:creationId xmlns:a16="http://schemas.microsoft.com/office/drawing/2014/main" id="{1FD52092-415C-C830-7CE8-848CA11B7E22}"/>
              </a:ext>
            </a:extLst>
          </p:cNvPr>
          <p:cNvSpPr/>
          <p:nvPr/>
        </p:nvSpPr>
        <p:spPr>
          <a:xfrm>
            <a:off x="1134654"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you meet for the first time today
..................................</a:t>
            </a:r>
            <a:endParaRPr lang="en-US" sz="1200" dirty="0"/>
          </a:p>
        </p:txBody>
      </p:sp>
      <p:sp>
        <p:nvSpPr>
          <p:cNvPr id="16" name="Rettangolo 15">
            <a:extLst>
              <a:ext uri="{FF2B5EF4-FFF2-40B4-BE49-F238E27FC236}">
                <a16:creationId xmlns:a16="http://schemas.microsoft.com/office/drawing/2014/main" id="{54D87E43-A31D-150F-16E0-299BCB99E163}"/>
              </a:ext>
            </a:extLst>
          </p:cNvPr>
          <p:cNvSpPr/>
          <p:nvPr/>
        </p:nvSpPr>
        <p:spPr>
          <a:xfrm>
            <a:off x="2820290"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Someone who introduced you to 2 other people (in detail, at least a few minutes per person)
..................................</a:t>
            </a:r>
            <a:endParaRPr lang="en-US" sz="1200" dirty="0"/>
          </a:p>
        </p:txBody>
      </p:sp>
      <p:sp>
        <p:nvSpPr>
          <p:cNvPr id="17" name="Rettangolo 16">
            <a:extLst>
              <a:ext uri="{FF2B5EF4-FFF2-40B4-BE49-F238E27FC236}">
                <a16:creationId xmlns:a16="http://schemas.microsoft.com/office/drawing/2014/main" id="{7010CBD1-0D2B-AF14-875E-3D3771BFA0A5}"/>
              </a:ext>
            </a:extLst>
          </p:cNvPr>
          <p:cNvSpPr/>
          <p:nvPr/>
        </p:nvSpPr>
        <p:spPr>
          <a:xfrm>
            <a:off x="4505926"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Someone who poured themselves the same first drink as you, and the same second
..................................</a:t>
            </a:r>
            <a:endParaRPr lang="en-US" sz="1200" dirty="0"/>
          </a:p>
        </p:txBody>
      </p:sp>
      <p:sp>
        <p:nvSpPr>
          <p:cNvPr id="18" name="Rettangolo 17">
            <a:extLst>
              <a:ext uri="{FF2B5EF4-FFF2-40B4-BE49-F238E27FC236}">
                <a16:creationId xmlns:a16="http://schemas.microsoft.com/office/drawing/2014/main" id="{BD383B99-FCD0-2FA3-05CE-D92C185EF1F9}"/>
              </a:ext>
            </a:extLst>
          </p:cNvPr>
          <p:cNvSpPr/>
          <p:nvPr/>
        </p:nvSpPr>
        <p:spPr>
          <a:xfrm>
            <a:off x="1134654"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does a sports activity at least 4 hours a week
..................................</a:t>
            </a:r>
            <a:endParaRPr lang="en-US" sz="1200" dirty="0"/>
          </a:p>
        </p:txBody>
      </p:sp>
      <p:sp>
        <p:nvSpPr>
          <p:cNvPr id="19" name="Rettangolo 18">
            <a:extLst>
              <a:ext uri="{FF2B5EF4-FFF2-40B4-BE49-F238E27FC236}">
                <a16:creationId xmlns:a16="http://schemas.microsoft.com/office/drawing/2014/main" id="{146BB6CA-AB39-91E6-9955-04383E98A596}"/>
              </a:ext>
            </a:extLst>
          </p:cNvPr>
          <p:cNvSpPr/>
          <p:nvPr/>
        </p:nvSpPr>
        <p:spPr>
          <a:xfrm>
            <a:off x="2820290"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born at least 300 km from here.
..................................</a:t>
            </a:r>
            <a:endParaRPr lang="en-US" sz="1200" dirty="0"/>
          </a:p>
        </p:txBody>
      </p:sp>
      <p:sp>
        <p:nvSpPr>
          <p:cNvPr id="20" name="Rettangolo 19">
            <a:extLst>
              <a:ext uri="{FF2B5EF4-FFF2-40B4-BE49-F238E27FC236}">
                <a16:creationId xmlns:a16="http://schemas.microsoft.com/office/drawing/2014/main" id="{75E2196F-CD17-05DA-9868-D5B4C2305036}"/>
              </a:ext>
            </a:extLst>
          </p:cNvPr>
          <p:cNvSpPr/>
          <p:nvPr/>
        </p:nvSpPr>
        <p:spPr>
          <a:xfrm>
            <a:off x="4505926"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youngest person in the group 
..................................</a:t>
            </a:r>
            <a:endParaRPr lang="en-US" sz="1200" dirty="0"/>
          </a:p>
        </p:txBody>
      </p:sp>
    </p:spTree>
    <p:extLst>
      <p:ext uri="{BB962C8B-B14F-4D97-AF65-F5344CB8AC3E}">
        <p14:creationId xmlns:p14="http://schemas.microsoft.com/office/powerpoint/2010/main" val="3381309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28339915"/>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PROFESSIONAL POINTS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4" name="Rettangolo 3">
            <a:extLst>
              <a:ext uri="{FF2B5EF4-FFF2-40B4-BE49-F238E27FC236}">
                <a16:creationId xmlns:a16="http://schemas.microsoft.com/office/drawing/2014/main" id="{ED5A47A5-9AC1-A2E6-B4F7-22C3CCF82220}"/>
              </a:ext>
            </a:extLst>
          </p:cNvPr>
          <p:cNvSpPr/>
          <p:nvPr/>
        </p:nvSpPr>
        <p:spPr>
          <a:xfrm>
            <a:off x="657071" y="2274911"/>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has at least one same professional certification as yours
.................................</a:t>
            </a:r>
          </a:p>
        </p:txBody>
      </p:sp>
      <p:sp>
        <p:nvSpPr>
          <p:cNvPr id="5" name="Rettangolo 4">
            <a:extLst>
              <a:ext uri="{FF2B5EF4-FFF2-40B4-BE49-F238E27FC236}">
                <a16:creationId xmlns:a16="http://schemas.microsoft.com/office/drawing/2014/main" id="{39A2D396-4DDC-2265-7916-FF22EC9D9EC0}"/>
              </a:ext>
            </a:extLst>
          </p:cNvPr>
          <p:cNvSpPr/>
          <p:nvPr/>
        </p:nvSpPr>
        <p:spPr>
          <a:xfrm>
            <a:off x="2114353" y="2274911"/>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works in the same technology field as yours 
.................................</a:t>
            </a:r>
            <a:endParaRPr lang="en-US" sz="1050" dirty="0"/>
          </a:p>
        </p:txBody>
      </p:sp>
      <p:sp>
        <p:nvSpPr>
          <p:cNvPr id="8" name="Rettangolo 7">
            <a:extLst>
              <a:ext uri="{FF2B5EF4-FFF2-40B4-BE49-F238E27FC236}">
                <a16:creationId xmlns:a16="http://schemas.microsoft.com/office/drawing/2014/main" id="{C58D17F7-7A24-BB8B-91F5-03EB4BA2A145}"/>
              </a:ext>
            </a:extLst>
          </p:cNvPr>
          <p:cNvSpPr/>
          <p:nvPr/>
        </p:nvSpPr>
        <p:spPr>
          <a:xfrm>
            <a:off x="3571634" y="2274911"/>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arrives at the office at the same time as you (5 minutes difference max) .................................</a:t>
            </a:r>
            <a:endParaRPr lang="en-US" sz="1050" dirty="0"/>
          </a:p>
        </p:txBody>
      </p:sp>
      <p:sp>
        <p:nvSpPr>
          <p:cNvPr id="10" name="Rettangolo 9">
            <a:extLst>
              <a:ext uri="{FF2B5EF4-FFF2-40B4-BE49-F238E27FC236}">
                <a16:creationId xmlns:a16="http://schemas.microsoft.com/office/drawing/2014/main" id="{B6730ECE-0078-6AB1-6887-FB7E65C1DA59}"/>
              </a:ext>
            </a:extLst>
          </p:cNvPr>
          <p:cNvSpPr/>
          <p:nvPr/>
        </p:nvSpPr>
        <p:spPr>
          <a:xfrm>
            <a:off x="657071" y="3780105"/>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had a manager / senior manager / director in common with you but not as a same time
.................................</a:t>
            </a:r>
            <a:endParaRPr lang="en-US" sz="1050" dirty="0"/>
          </a:p>
        </p:txBody>
      </p:sp>
      <p:sp>
        <p:nvSpPr>
          <p:cNvPr id="11" name="Rettangolo 10">
            <a:extLst>
              <a:ext uri="{FF2B5EF4-FFF2-40B4-BE49-F238E27FC236}">
                <a16:creationId xmlns:a16="http://schemas.microsoft.com/office/drawing/2014/main" id="{249FC274-2561-A605-3512-14F27FF09516}"/>
              </a:ext>
            </a:extLst>
          </p:cNvPr>
          <p:cNvSpPr/>
          <p:nvPr/>
        </p:nvSpPr>
        <p:spPr>
          <a:xfrm>
            <a:off x="2114353" y="3780105"/>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studies the same professional topics as you (during personal time)
.................................</a:t>
            </a:r>
            <a:endParaRPr lang="en-US" sz="1050" dirty="0"/>
          </a:p>
        </p:txBody>
      </p:sp>
      <p:sp>
        <p:nvSpPr>
          <p:cNvPr id="12" name="Rettangolo 11">
            <a:extLst>
              <a:ext uri="{FF2B5EF4-FFF2-40B4-BE49-F238E27FC236}">
                <a16:creationId xmlns:a16="http://schemas.microsoft.com/office/drawing/2014/main" id="{4234E132-CE65-7C41-1D42-5DC45A845402}"/>
              </a:ext>
            </a:extLst>
          </p:cNvPr>
          <p:cNvSpPr/>
          <p:nvPr/>
        </p:nvSpPr>
        <p:spPr>
          <a:xfrm>
            <a:off x="3571634" y="3780105"/>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whose team is the same size as yours (1 person different max) .................................</a:t>
            </a:r>
            <a:endParaRPr lang="en-US" sz="1050" dirty="0"/>
          </a:p>
        </p:txBody>
      </p:sp>
      <p:sp>
        <p:nvSpPr>
          <p:cNvPr id="13" name="Rettangolo 12">
            <a:extLst>
              <a:ext uri="{FF2B5EF4-FFF2-40B4-BE49-F238E27FC236}">
                <a16:creationId xmlns:a16="http://schemas.microsoft.com/office/drawing/2014/main" id="{1A959866-D781-7253-FA8D-D0CE04D7CA23}"/>
              </a:ext>
            </a:extLst>
          </p:cNvPr>
          <p:cNvSpPr/>
          <p:nvPr/>
        </p:nvSpPr>
        <p:spPr>
          <a:xfrm>
            <a:off x="657071" y="5285299"/>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roughly has the same number of years of experience in the company as you (1 year difference max) ...............................</a:t>
            </a:r>
            <a:endParaRPr lang="en-US" sz="1050" dirty="0"/>
          </a:p>
        </p:txBody>
      </p:sp>
      <p:sp>
        <p:nvSpPr>
          <p:cNvPr id="14" name="Rettangolo 13">
            <a:extLst>
              <a:ext uri="{FF2B5EF4-FFF2-40B4-BE49-F238E27FC236}">
                <a16:creationId xmlns:a16="http://schemas.microsoft.com/office/drawing/2014/main" id="{02DCFC43-28DD-9E73-CD02-4E636C18B6D4}"/>
              </a:ext>
            </a:extLst>
          </p:cNvPr>
          <p:cNvSpPr/>
          <p:nvPr/>
        </p:nvSpPr>
        <p:spPr>
          <a:xfrm>
            <a:off x="2114353" y="5285299"/>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roughly has the same number of years of professional experience as you (2 years diff max) ...............................</a:t>
            </a:r>
            <a:endParaRPr lang="en-US" sz="1050" dirty="0"/>
          </a:p>
        </p:txBody>
      </p:sp>
      <p:sp>
        <p:nvSpPr>
          <p:cNvPr id="15" name="Rettangolo 14">
            <a:extLst>
              <a:ext uri="{FF2B5EF4-FFF2-40B4-BE49-F238E27FC236}">
                <a16:creationId xmlns:a16="http://schemas.microsoft.com/office/drawing/2014/main" id="{83F161A2-E718-9A6E-CCA5-A3B8024932B6}"/>
              </a:ext>
            </a:extLst>
          </p:cNvPr>
          <p:cNvSpPr/>
          <p:nvPr/>
        </p:nvSpPr>
        <p:spPr>
          <a:xfrm>
            <a:off x="3571634" y="5285299"/>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works with at least 3 people in common with you 
...............................</a:t>
            </a:r>
            <a:endParaRPr lang="en-US" sz="1050" dirty="0"/>
          </a:p>
        </p:txBody>
      </p:sp>
      <p:sp>
        <p:nvSpPr>
          <p:cNvPr id="28" name="ZoneTexte 54">
            <a:extLst>
              <a:ext uri="{FF2B5EF4-FFF2-40B4-BE49-F238E27FC236}">
                <a16:creationId xmlns:a16="http://schemas.microsoft.com/office/drawing/2014/main" id="{14668DDD-308E-3C47-325A-92A171E99B6A}"/>
              </a:ext>
            </a:extLst>
          </p:cNvPr>
          <p:cNvSpPr txBox="1"/>
          <p:nvPr/>
        </p:nvSpPr>
        <p:spPr>
          <a:xfrm>
            <a:off x="267983" y="708970"/>
            <a:ext cx="4451674" cy="1569660"/>
          </a:xfrm>
          <a:prstGeom prst="rect">
            <a:avLst/>
          </a:prstGeom>
          <a:noFill/>
        </p:spPr>
        <p:txBody>
          <a:bodyPr wrap="square" rtlCol="0">
            <a:spAutoFit/>
          </a:bodyPr>
          <a:lstStyle/>
          <a:p>
            <a:pPr algn="ctr"/>
            <a:r>
              <a:rPr lang="en-US" sz="1600" dirty="0"/>
              <a:t>This is the bingo sheet of </a:t>
            </a:r>
          </a:p>
          <a:p>
            <a:pPr algn="ctr"/>
            <a:r>
              <a:rPr lang="en-US" sz="1600" dirty="0"/>
              <a:t>(write down your name below)</a:t>
            </a:r>
          </a:p>
          <a:p>
            <a:pPr algn="ctr"/>
            <a:r>
              <a:rPr lang="en-US" sz="1600" dirty="0"/>
              <a:t> ……………………………………………</a:t>
            </a:r>
          </a:p>
          <a:p>
            <a:r>
              <a:rPr lang="en-US" sz="1600" dirty="0"/>
              <a:t>Mark the boxes with the first name of the person you find (today in the event) that match the conditions.</a:t>
            </a:r>
          </a:p>
        </p:txBody>
      </p:sp>
      <p:sp>
        <p:nvSpPr>
          <p:cNvPr id="29" name="Rettangolo 28">
            <a:extLst>
              <a:ext uri="{FF2B5EF4-FFF2-40B4-BE49-F238E27FC236}">
                <a16:creationId xmlns:a16="http://schemas.microsoft.com/office/drawing/2014/main" id="{7C0F7A9F-F727-63D0-29EF-D2E878747017}"/>
              </a:ext>
            </a:extLst>
          </p:cNvPr>
          <p:cNvSpPr/>
          <p:nvPr/>
        </p:nvSpPr>
        <p:spPr>
          <a:xfrm>
            <a:off x="5149272" y="63188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Example
A person who lives less than 1km from your home
..................................</a:t>
            </a:r>
            <a:endParaRPr lang="en-US" dirty="0">
              <a:solidFill>
                <a:schemeClr val="tx1"/>
              </a:solidFill>
            </a:endParaRPr>
          </a:p>
        </p:txBody>
      </p:sp>
      <p:sp>
        <p:nvSpPr>
          <p:cNvPr id="30" name="CasellaDiTesto 29">
            <a:extLst>
              <a:ext uri="{FF2B5EF4-FFF2-40B4-BE49-F238E27FC236}">
                <a16:creationId xmlns:a16="http://schemas.microsoft.com/office/drawing/2014/main" id="{3BC32A9C-7BF2-F916-CDA1-7293D49B34F5}"/>
              </a:ext>
            </a:extLst>
          </p:cNvPr>
          <p:cNvSpPr txBox="1"/>
          <p:nvPr/>
        </p:nvSpPr>
        <p:spPr>
          <a:xfrm flipH="1">
            <a:off x="5335016" y="1442854"/>
            <a:ext cx="1274618" cy="369204"/>
          </a:xfrm>
          <a:prstGeom prst="rect">
            <a:avLst/>
          </a:prstGeom>
          <a:noFill/>
        </p:spPr>
        <p:txBody>
          <a:bodyPr wrap="square" rtlCol="0">
            <a:spAutoFit/>
          </a:bodyPr>
          <a:lstStyle/>
          <a:p>
            <a:r>
              <a:rPr lang="en-US" dirty="0">
                <a:latin typeface="Bradley Hand ITC" panose="03070402050302030203" pitchFamily="66" charset="0"/>
              </a:rPr>
              <a:t>Jacques</a:t>
            </a:r>
          </a:p>
        </p:txBody>
      </p:sp>
      <p:sp>
        <p:nvSpPr>
          <p:cNvPr id="33" name="ZoneTexte 54">
            <a:extLst>
              <a:ext uri="{FF2B5EF4-FFF2-40B4-BE49-F238E27FC236}">
                <a16:creationId xmlns:a16="http://schemas.microsoft.com/office/drawing/2014/main" id="{DD8D1081-B186-65CF-84AD-3C3276E523B1}"/>
              </a:ext>
            </a:extLst>
          </p:cNvPr>
          <p:cNvSpPr txBox="1"/>
          <p:nvPr/>
        </p:nvSpPr>
        <p:spPr>
          <a:xfrm>
            <a:off x="111092" y="8009976"/>
            <a:ext cx="5304619" cy="1323439"/>
          </a:xfrm>
          <a:prstGeom prst="rect">
            <a:avLst/>
          </a:prstGeom>
          <a:noFill/>
        </p:spPr>
        <p:txBody>
          <a:bodyPr wrap="square" rtlCol="0">
            <a:spAutoFit/>
          </a:bodyPr>
          <a:lstStyle/>
          <a:p>
            <a:pPr algn="ctr"/>
            <a:r>
              <a:rPr lang="en-US" sz="1600" dirty="0"/>
              <a:t>Draw a line when you have filled all 4 boxes in the same row, column or diagonal.
 1st prize: { Fill in your first prize here}
2nd prize: { Fill in your second prize here}
3rd prize: { Fill in your third prize here}</a:t>
            </a:r>
          </a:p>
        </p:txBody>
      </p:sp>
      <p:pic>
        <p:nvPicPr>
          <p:cNvPr id="46" name="Image 12" descr="Une image contenant texte, clipart&#10;&#10;Description générée automatiquement">
            <a:extLst>
              <a:ext uri="{FF2B5EF4-FFF2-40B4-BE49-F238E27FC236}">
                <a16:creationId xmlns:a16="http://schemas.microsoft.com/office/drawing/2014/main" id="{D9CCACFF-3468-F6EB-D408-3B24800A73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0847" y="9698173"/>
            <a:ext cx="428905" cy="155503"/>
          </a:xfrm>
          <a:prstGeom prst="rect">
            <a:avLst/>
          </a:prstGeom>
        </p:spPr>
      </p:pic>
      <p:pic>
        <p:nvPicPr>
          <p:cNvPr id="48" name="Picture 2">
            <a:extLst>
              <a:ext uri="{FF2B5EF4-FFF2-40B4-BE49-F238E27FC236}">
                <a16:creationId xmlns:a16="http://schemas.microsoft.com/office/drawing/2014/main" id="{803FCEE8-4E84-F361-694D-29AE8BC5266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266" t="17394" r="25946" b="25394"/>
          <a:stretch/>
        </p:blipFill>
        <p:spPr bwMode="auto">
          <a:xfrm>
            <a:off x="6036313" y="9645849"/>
            <a:ext cx="249126" cy="260150"/>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uppo 21">
            <a:extLst>
              <a:ext uri="{FF2B5EF4-FFF2-40B4-BE49-F238E27FC236}">
                <a16:creationId xmlns:a16="http://schemas.microsoft.com/office/drawing/2014/main" id="{DF91D092-B94A-08A9-BC4B-D0D028042EAD}"/>
              </a:ext>
            </a:extLst>
          </p:cNvPr>
          <p:cNvGrpSpPr/>
          <p:nvPr/>
        </p:nvGrpSpPr>
        <p:grpSpPr>
          <a:xfrm>
            <a:off x="5573752" y="8073674"/>
            <a:ext cx="1187579" cy="1617658"/>
            <a:chOff x="5573752" y="8073677"/>
            <a:chExt cx="1425877" cy="1942255"/>
          </a:xfrm>
        </p:grpSpPr>
        <p:sp>
          <p:nvSpPr>
            <p:cNvPr id="35" name="Rettangolo 34">
              <a:extLst>
                <a:ext uri="{FF2B5EF4-FFF2-40B4-BE49-F238E27FC236}">
                  <a16:creationId xmlns:a16="http://schemas.microsoft.com/office/drawing/2014/main" id="{8C477D3B-0BA3-6122-3EF1-94574E46823E}"/>
                </a:ext>
              </a:extLst>
            </p:cNvPr>
            <p:cNvSpPr/>
            <p:nvPr/>
          </p:nvSpPr>
          <p:spPr>
            <a:xfrm flipH="1" flipV="1">
              <a:off x="6267383" y="8773344"/>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ttangolo 35">
              <a:extLst>
                <a:ext uri="{FF2B5EF4-FFF2-40B4-BE49-F238E27FC236}">
                  <a16:creationId xmlns:a16="http://schemas.microsoft.com/office/drawing/2014/main" id="{61C8AAFB-7FC1-7194-C08D-BBBC316FA1E8}"/>
                </a:ext>
              </a:extLst>
            </p:cNvPr>
            <p:cNvSpPr/>
            <p:nvPr/>
          </p:nvSpPr>
          <p:spPr>
            <a:xfrm flipH="1" flipV="1">
              <a:off x="5921532" y="8773344"/>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ttangolo 36">
              <a:extLst>
                <a:ext uri="{FF2B5EF4-FFF2-40B4-BE49-F238E27FC236}">
                  <a16:creationId xmlns:a16="http://schemas.microsoft.com/office/drawing/2014/main" id="{9074E791-8A18-CD7C-96A8-7611BC03616A}"/>
                </a:ext>
              </a:extLst>
            </p:cNvPr>
            <p:cNvSpPr/>
            <p:nvPr/>
          </p:nvSpPr>
          <p:spPr>
            <a:xfrm flipH="1" flipV="1">
              <a:off x="5575682" y="8773344"/>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ttangolo 37">
              <a:extLst>
                <a:ext uri="{FF2B5EF4-FFF2-40B4-BE49-F238E27FC236}">
                  <a16:creationId xmlns:a16="http://schemas.microsoft.com/office/drawing/2014/main" id="{F1894D50-ACCF-19B9-8798-E5532BBB46A7}"/>
                </a:ext>
              </a:extLst>
            </p:cNvPr>
            <p:cNvSpPr/>
            <p:nvPr/>
          </p:nvSpPr>
          <p:spPr>
            <a:xfrm flipH="1" flipV="1">
              <a:off x="6267383" y="8450247"/>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ttangolo 38">
              <a:extLst>
                <a:ext uri="{FF2B5EF4-FFF2-40B4-BE49-F238E27FC236}">
                  <a16:creationId xmlns:a16="http://schemas.microsoft.com/office/drawing/2014/main" id="{F6E3A8A2-EA54-AB02-D53E-60B460DC3F76}"/>
                </a:ext>
              </a:extLst>
            </p:cNvPr>
            <p:cNvSpPr/>
            <p:nvPr/>
          </p:nvSpPr>
          <p:spPr>
            <a:xfrm flipH="1" flipV="1">
              <a:off x="5921532" y="8450247"/>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ttangolo 39">
              <a:extLst>
                <a:ext uri="{FF2B5EF4-FFF2-40B4-BE49-F238E27FC236}">
                  <a16:creationId xmlns:a16="http://schemas.microsoft.com/office/drawing/2014/main" id="{040CCE15-3CE4-E6EE-15CE-E758ACA50CAA}"/>
                </a:ext>
              </a:extLst>
            </p:cNvPr>
            <p:cNvSpPr/>
            <p:nvPr/>
          </p:nvSpPr>
          <p:spPr>
            <a:xfrm flipH="1" flipV="1">
              <a:off x="5575682" y="8450247"/>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ttangolo 40">
              <a:extLst>
                <a:ext uri="{FF2B5EF4-FFF2-40B4-BE49-F238E27FC236}">
                  <a16:creationId xmlns:a16="http://schemas.microsoft.com/office/drawing/2014/main" id="{3D6E1E45-E56C-1A73-8DB2-476E324C3E5F}"/>
                </a:ext>
              </a:extLst>
            </p:cNvPr>
            <p:cNvSpPr/>
            <p:nvPr/>
          </p:nvSpPr>
          <p:spPr>
            <a:xfrm flipH="1" flipV="1">
              <a:off x="6267383" y="8127150"/>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ttangolo 41">
              <a:extLst>
                <a:ext uri="{FF2B5EF4-FFF2-40B4-BE49-F238E27FC236}">
                  <a16:creationId xmlns:a16="http://schemas.microsoft.com/office/drawing/2014/main" id="{221CBCA8-CD21-0ECF-67E6-86699E6E30A8}"/>
                </a:ext>
              </a:extLst>
            </p:cNvPr>
            <p:cNvSpPr/>
            <p:nvPr/>
          </p:nvSpPr>
          <p:spPr>
            <a:xfrm flipH="1" flipV="1">
              <a:off x="5921532" y="8127150"/>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ttangolo 42">
              <a:extLst>
                <a:ext uri="{FF2B5EF4-FFF2-40B4-BE49-F238E27FC236}">
                  <a16:creationId xmlns:a16="http://schemas.microsoft.com/office/drawing/2014/main" id="{6CEEC480-9D06-15D6-B3A5-D569E5005444}"/>
                </a:ext>
              </a:extLst>
            </p:cNvPr>
            <p:cNvSpPr/>
            <p:nvPr/>
          </p:nvSpPr>
          <p:spPr>
            <a:xfrm flipH="1" flipV="1">
              <a:off x="5575682" y="8127150"/>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4" name="Connettore diritto 43">
              <a:extLst>
                <a:ext uri="{FF2B5EF4-FFF2-40B4-BE49-F238E27FC236}">
                  <a16:creationId xmlns:a16="http://schemas.microsoft.com/office/drawing/2014/main" id="{AD63E0EF-01B3-ECAD-3B23-9D44DBB319F2}"/>
                </a:ext>
              </a:extLst>
            </p:cNvPr>
            <p:cNvCxnSpPr>
              <a:cxnSpLocks/>
              <a:endCxn id="9" idx="0"/>
            </p:cNvCxnSpPr>
            <p:nvPr/>
          </p:nvCxnSpPr>
          <p:spPr>
            <a:xfrm flipH="1">
              <a:off x="5723462" y="8073677"/>
              <a:ext cx="1930" cy="1295296"/>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Connettore diritto 44">
              <a:extLst>
                <a:ext uri="{FF2B5EF4-FFF2-40B4-BE49-F238E27FC236}">
                  <a16:creationId xmlns:a16="http://schemas.microsoft.com/office/drawing/2014/main" id="{A0D4E6D9-64A3-D158-E514-E350FB395AF1}"/>
                </a:ext>
              </a:extLst>
            </p:cNvPr>
            <p:cNvCxnSpPr>
              <a:cxnSpLocks/>
            </p:cNvCxnSpPr>
            <p:nvPr/>
          </p:nvCxnSpPr>
          <p:spPr>
            <a:xfrm>
              <a:off x="5575682" y="8127150"/>
              <a:ext cx="1345303" cy="1191232"/>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47" name="Image 14" descr="Une image contenant texte, clipart&#10;&#10;Description générée automatiquement">
              <a:hlinkClick r:id="rId4"/>
              <a:extLst>
                <a:ext uri="{FF2B5EF4-FFF2-40B4-BE49-F238E27FC236}">
                  <a16:creationId xmlns:a16="http://schemas.microsoft.com/office/drawing/2014/main" id="{7D4F1560-5DFF-0C39-C2DB-97415B6EB4E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580101" y="9428541"/>
              <a:ext cx="1419528" cy="587391"/>
            </a:xfrm>
            <a:prstGeom prst="rect">
              <a:avLst/>
            </a:prstGeom>
          </p:spPr>
        </p:pic>
        <p:sp>
          <p:nvSpPr>
            <p:cNvPr id="3" name="Rettangolo 2">
              <a:extLst>
                <a:ext uri="{FF2B5EF4-FFF2-40B4-BE49-F238E27FC236}">
                  <a16:creationId xmlns:a16="http://schemas.microsoft.com/office/drawing/2014/main" id="{77271444-18D9-98A7-98F1-1DA36FA8EADE}"/>
                </a:ext>
              </a:extLst>
            </p:cNvPr>
            <p:cNvSpPr/>
            <p:nvPr/>
          </p:nvSpPr>
          <p:spPr>
            <a:xfrm flipH="1" flipV="1">
              <a:off x="6265453" y="9096441"/>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ttangolo 5">
              <a:extLst>
                <a:ext uri="{FF2B5EF4-FFF2-40B4-BE49-F238E27FC236}">
                  <a16:creationId xmlns:a16="http://schemas.microsoft.com/office/drawing/2014/main" id="{D1C5B6EB-C917-F193-E197-731AEBA1BDE9}"/>
                </a:ext>
              </a:extLst>
            </p:cNvPr>
            <p:cNvSpPr/>
            <p:nvPr/>
          </p:nvSpPr>
          <p:spPr>
            <a:xfrm flipH="1" flipV="1">
              <a:off x="5919602" y="9096441"/>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ttangolo 8">
              <a:extLst>
                <a:ext uri="{FF2B5EF4-FFF2-40B4-BE49-F238E27FC236}">
                  <a16:creationId xmlns:a16="http://schemas.microsoft.com/office/drawing/2014/main" id="{757AE835-014C-1011-61ED-D1B07308370A}"/>
                </a:ext>
              </a:extLst>
            </p:cNvPr>
            <p:cNvSpPr/>
            <p:nvPr/>
          </p:nvSpPr>
          <p:spPr>
            <a:xfrm flipH="1" flipV="1">
              <a:off x="5573752" y="9096441"/>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ttangolo 15">
              <a:extLst>
                <a:ext uri="{FF2B5EF4-FFF2-40B4-BE49-F238E27FC236}">
                  <a16:creationId xmlns:a16="http://schemas.microsoft.com/office/drawing/2014/main" id="{CE247FE6-96A5-07A7-196E-4CB8BAF955C9}"/>
                </a:ext>
              </a:extLst>
            </p:cNvPr>
            <p:cNvSpPr/>
            <p:nvPr/>
          </p:nvSpPr>
          <p:spPr>
            <a:xfrm flipH="1" flipV="1">
              <a:off x="6623494" y="8773344"/>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ttangolo 16">
              <a:extLst>
                <a:ext uri="{FF2B5EF4-FFF2-40B4-BE49-F238E27FC236}">
                  <a16:creationId xmlns:a16="http://schemas.microsoft.com/office/drawing/2014/main" id="{F4E0ECB2-B706-C1F9-4CD2-2DE66EFA4C3B}"/>
                </a:ext>
              </a:extLst>
            </p:cNvPr>
            <p:cNvSpPr/>
            <p:nvPr/>
          </p:nvSpPr>
          <p:spPr>
            <a:xfrm flipH="1" flipV="1">
              <a:off x="6623494" y="8450247"/>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ttangolo 17">
              <a:extLst>
                <a:ext uri="{FF2B5EF4-FFF2-40B4-BE49-F238E27FC236}">
                  <a16:creationId xmlns:a16="http://schemas.microsoft.com/office/drawing/2014/main" id="{A8B3A45C-F055-5565-8682-A0DD8AAD8E3B}"/>
                </a:ext>
              </a:extLst>
            </p:cNvPr>
            <p:cNvSpPr/>
            <p:nvPr/>
          </p:nvSpPr>
          <p:spPr>
            <a:xfrm flipH="1" flipV="1">
              <a:off x="6623494" y="8127150"/>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ttangolo 18">
              <a:extLst>
                <a:ext uri="{FF2B5EF4-FFF2-40B4-BE49-F238E27FC236}">
                  <a16:creationId xmlns:a16="http://schemas.microsoft.com/office/drawing/2014/main" id="{944080FD-7540-5627-D3FA-7F54F27A6E4A}"/>
                </a:ext>
              </a:extLst>
            </p:cNvPr>
            <p:cNvSpPr/>
            <p:nvPr/>
          </p:nvSpPr>
          <p:spPr>
            <a:xfrm flipH="1" flipV="1">
              <a:off x="6621564" y="9096441"/>
              <a:ext cx="299421" cy="2725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Rettangolo 22">
            <a:extLst>
              <a:ext uri="{FF2B5EF4-FFF2-40B4-BE49-F238E27FC236}">
                <a16:creationId xmlns:a16="http://schemas.microsoft.com/office/drawing/2014/main" id="{260AA139-20EE-850C-4683-5665E598522A}"/>
              </a:ext>
            </a:extLst>
          </p:cNvPr>
          <p:cNvSpPr/>
          <p:nvPr/>
        </p:nvSpPr>
        <p:spPr>
          <a:xfrm>
            <a:off x="5028915" y="2274911"/>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could mentor you in a topic you are currently learning .................................</a:t>
            </a:r>
            <a:endParaRPr lang="en-US" sz="1050" dirty="0"/>
          </a:p>
        </p:txBody>
      </p:sp>
      <p:sp>
        <p:nvSpPr>
          <p:cNvPr id="24" name="Rettangolo 23">
            <a:extLst>
              <a:ext uri="{FF2B5EF4-FFF2-40B4-BE49-F238E27FC236}">
                <a16:creationId xmlns:a16="http://schemas.microsoft.com/office/drawing/2014/main" id="{175145C8-C8AE-4B63-3BCB-E8BD4DA27E83}"/>
              </a:ext>
            </a:extLst>
          </p:cNvPr>
          <p:cNvSpPr/>
          <p:nvPr/>
        </p:nvSpPr>
        <p:spPr>
          <a:xfrm>
            <a:off x="5028915" y="3780105"/>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has the entered in his / her job the same month as you did (not necessarily the same year)</a:t>
            </a:r>
          </a:p>
          <a:p>
            <a:pPr algn="ctr"/>
            <a:r>
              <a:rPr lang="en-US" sz="1050" dirty="0">
                <a:solidFill>
                  <a:schemeClr val="tx1"/>
                </a:solidFill>
              </a:rPr>
              <a:t>.................................</a:t>
            </a:r>
            <a:endParaRPr lang="en-US" sz="1050" dirty="0"/>
          </a:p>
        </p:txBody>
      </p:sp>
      <p:sp>
        <p:nvSpPr>
          <p:cNvPr id="25" name="Rettangolo 24">
            <a:extLst>
              <a:ext uri="{FF2B5EF4-FFF2-40B4-BE49-F238E27FC236}">
                <a16:creationId xmlns:a16="http://schemas.microsoft.com/office/drawing/2014/main" id="{3FE050E6-C2B3-DA03-54A5-6DF118AEFA54}"/>
              </a:ext>
            </a:extLst>
          </p:cNvPr>
          <p:cNvSpPr/>
          <p:nvPr/>
        </p:nvSpPr>
        <p:spPr>
          <a:xfrm>
            <a:off x="5028915" y="5285299"/>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you would hire in your team if it had the budget (justify why)</a:t>
            </a:r>
          </a:p>
          <a:p>
            <a:pPr algn="ctr"/>
            <a:r>
              <a:rPr lang="en-US" sz="1050" dirty="0">
                <a:solidFill>
                  <a:schemeClr val="tx1"/>
                </a:solidFill>
              </a:rPr>
              <a:t>
...............................</a:t>
            </a:r>
            <a:endParaRPr lang="en-US" sz="1050" dirty="0"/>
          </a:p>
        </p:txBody>
      </p:sp>
      <p:sp>
        <p:nvSpPr>
          <p:cNvPr id="26" name="Rettangolo 25">
            <a:extLst>
              <a:ext uri="{FF2B5EF4-FFF2-40B4-BE49-F238E27FC236}">
                <a16:creationId xmlns:a16="http://schemas.microsoft.com/office/drawing/2014/main" id="{294A1312-B8DF-5CAC-E58E-3E846ADE1E16}"/>
              </a:ext>
            </a:extLst>
          </p:cNvPr>
          <p:cNvSpPr/>
          <p:nvPr/>
        </p:nvSpPr>
        <p:spPr>
          <a:xfrm>
            <a:off x="657071" y="6698021"/>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with whom you share a common professional objective </a:t>
            </a:r>
          </a:p>
          <a:p>
            <a:pPr algn="ctr"/>
            <a:r>
              <a:rPr lang="en-US" sz="1050" dirty="0">
                <a:solidFill>
                  <a:schemeClr val="tx1"/>
                </a:solidFill>
              </a:rPr>
              <a:t>...............................</a:t>
            </a:r>
            <a:endParaRPr lang="en-US" sz="1050" dirty="0"/>
          </a:p>
        </p:txBody>
      </p:sp>
      <p:sp>
        <p:nvSpPr>
          <p:cNvPr id="27" name="Rettangolo 26">
            <a:extLst>
              <a:ext uri="{FF2B5EF4-FFF2-40B4-BE49-F238E27FC236}">
                <a16:creationId xmlns:a16="http://schemas.microsoft.com/office/drawing/2014/main" id="{E2221CDB-74DF-A0C1-C72B-B834AD2B1569}"/>
              </a:ext>
            </a:extLst>
          </p:cNvPr>
          <p:cNvSpPr/>
          <p:nvPr/>
        </p:nvSpPr>
        <p:spPr>
          <a:xfrm>
            <a:off x="2114353" y="6698021"/>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knows at least 10 person in common with you</a:t>
            </a:r>
          </a:p>
          <a:p>
            <a:pPr algn="ctr"/>
            <a:r>
              <a:rPr lang="en-US" sz="1050" dirty="0">
                <a:solidFill>
                  <a:schemeClr val="tx1"/>
                </a:solidFill>
              </a:rPr>
              <a:t>...............................</a:t>
            </a:r>
            <a:endParaRPr lang="en-US" sz="1050" dirty="0"/>
          </a:p>
        </p:txBody>
      </p:sp>
      <p:sp>
        <p:nvSpPr>
          <p:cNvPr id="31" name="Rettangolo 30">
            <a:extLst>
              <a:ext uri="{FF2B5EF4-FFF2-40B4-BE49-F238E27FC236}">
                <a16:creationId xmlns:a16="http://schemas.microsoft.com/office/drawing/2014/main" id="{7841DDBA-3E5E-8BD7-DE46-9CBF4B55CE8C}"/>
              </a:ext>
            </a:extLst>
          </p:cNvPr>
          <p:cNvSpPr/>
          <p:nvPr/>
        </p:nvSpPr>
        <p:spPr>
          <a:xfrm>
            <a:off x="3571634" y="6698021"/>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you would associate to if you were to host a meetup or be a speaker 
...............................</a:t>
            </a:r>
            <a:endParaRPr lang="en-US" sz="1050" dirty="0"/>
          </a:p>
        </p:txBody>
      </p:sp>
      <p:sp>
        <p:nvSpPr>
          <p:cNvPr id="32" name="Rettangolo 31">
            <a:extLst>
              <a:ext uri="{FF2B5EF4-FFF2-40B4-BE49-F238E27FC236}">
                <a16:creationId xmlns:a16="http://schemas.microsoft.com/office/drawing/2014/main" id="{B1EA0F81-3E7E-6675-9B2C-FCE6195AEA25}"/>
              </a:ext>
            </a:extLst>
          </p:cNvPr>
          <p:cNvSpPr/>
          <p:nvPr/>
        </p:nvSpPr>
        <p:spPr>
          <a:xfrm>
            <a:off x="5028915" y="6698021"/>
            <a:ext cx="1261647" cy="126963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 person who you could mentor in a topic he or she is currently learning 
...............................</a:t>
            </a:r>
            <a:endParaRPr lang="en-US" sz="1050" dirty="0"/>
          </a:p>
        </p:txBody>
      </p:sp>
    </p:spTree>
    <p:extLst>
      <p:ext uri="{BB962C8B-B14F-4D97-AF65-F5344CB8AC3E}">
        <p14:creationId xmlns:p14="http://schemas.microsoft.com/office/powerpoint/2010/main" val="2157381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2915797973"/>
              </p:ext>
            </p:extLst>
          </p:nvPr>
        </p:nvGraphicFramePr>
        <p:xfrm>
          <a:off x="21036" y="14180"/>
          <a:ext cx="6836964" cy="7728204"/>
        </p:xfrm>
        <a:graphic>
          <a:graphicData uri="http://schemas.openxmlformats.org/drawingml/2006/table">
            <a:tbl>
              <a:tblPr>
                <a:tableStyleId>{5C22544A-7EE6-4342-B048-85BDC9FD1C3A}</a:tableStyleId>
              </a:tblPr>
              <a:tblGrid>
                <a:gridCol w="3445178">
                  <a:extLst>
                    <a:ext uri="{9D8B030D-6E8A-4147-A177-3AD203B41FA5}">
                      <a16:colId xmlns:a16="http://schemas.microsoft.com/office/drawing/2014/main" val="1612185270"/>
                    </a:ext>
                  </a:extLst>
                </a:gridCol>
                <a:gridCol w="3391786">
                  <a:extLst>
                    <a:ext uri="{9D8B030D-6E8A-4147-A177-3AD203B41FA5}">
                      <a16:colId xmlns:a16="http://schemas.microsoft.com/office/drawing/2014/main" val="1787628615"/>
                    </a:ext>
                  </a:extLst>
                </a:gridCol>
              </a:tblGrid>
              <a:tr h="311889">
                <a:tc gridSpan="2">
                  <a:txBody>
                    <a:bodyPr/>
                    <a:lstStyle/>
                    <a:p>
                      <a:pPr lvl="1" algn="ctr"/>
                      <a:r>
                        <a:rPr lang="en-US" sz="2000" b="1" noProof="0" dirty="0">
                          <a:solidFill>
                            <a:schemeClr val="tx1"/>
                          </a:solidFill>
                        </a:rPr>
                        <a:t>BINGO COCKTAIL</a:t>
                      </a:r>
                    </a:p>
                    <a:p>
                      <a:pPr lvl="1" algn="ctr"/>
                      <a:r>
                        <a:rPr lang="en-US" sz="2000" b="1" noProof="0" dirty="0">
                          <a:solidFill>
                            <a:schemeClr val="tx1"/>
                          </a:solidFill>
                        </a:rPr>
                        <a:t>Facilitator's Guide #OpenSeriousGame</a:t>
                      </a:r>
                    </a:p>
                  </a:txBody>
                  <a:tcPr/>
                </a:tc>
                <a:tc hMerge="1">
                  <a:txBody>
                    <a:bodyPr/>
                    <a:lstStyle/>
                    <a:p>
                      <a:pPr marL="228600" indent="-228600">
                        <a:buAutoNum type="arabicPeriod"/>
                      </a:pPr>
                      <a:endParaRPr lang="fr-FR" sz="1000" dirty="0">
                        <a:solidFill>
                          <a:schemeClr val="tx1"/>
                        </a:solidFill>
                      </a:endParaRPr>
                    </a:p>
                  </a:txBody>
                  <a:tcPr/>
                </a:tc>
                <a:extLst>
                  <a:ext uri="{0D108BD9-81ED-4DB2-BD59-A6C34878D82A}">
                    <a16:rowId xmlns:a16="http://schemas.microsoft.com/office/drawing/2014/main" val="3094241753"/>
                  </a:ext>
                </a:extLst>
              </a:tr>
              <a:tr h="945802">
                <a:tc>
                  <a:txBody>
                    <a:bodyPr/>
                    <a:lstStyle/>
                    <a:p>
                      <a:r>
                        <a:rPr lang="en-US" sz="2000" b="1" noProof="0" dirty="0">
                          <a:solidFill>
                            <a:schemeClr val="tx1"/>
                          </a:solidFill>
                        </a:rPr>
                        <a:t>Objective</a:t>
                      </a:r>
                      <a:endParaRPr lang="en-US" sz="1000" b="0" noProof="0" dirty="0">
                        <a:solidFill>
                          <a:schemeClr val="tx1"/>
                        </a:solidFill>
                      </a:endParaRPr>
                    </a:p>
                    <a:p>
                      <a:pPr marL="0" indent="0">
                        <a:buFont typeface="+mj-lt"/>
                        <a:buNone/>
                      </a:pPr>
                      <a:endParaRPr lang="en-US" sz="1000" b="0" noProof="0" dirty="0">
                        <a:solidFill>
                          <a:schemeClr val="tx1"/>
                        </a:solidFill>
                      </a:endParaRPr>
                    </a:p>
                    <a:p>
                      <a:pPr marL="0" indent="0">
                        <a:buFont typeface="+mj-lt"/>
                        <a:buNone/>
                      </a:pPr>
                      <a:r>
                        <a:rPr lang="en-US" sz="1000" b="0" noProof="0" dirty="0">
                          <a:solidFill>
                            <a:schemeClr val="tx1"/>
                          </a:solidFill>
                        </a:rPr>
                        <a:t>Team building game</a:t>
                      </a:r>
                    </a:p>
                    <a:p>
                      <a:pPr marL="0" indent="0">
                        <a:buFont typeface="+mj-lt"/>
                        <a:buNone/>
                      </a:pPr>
                      <a:r>
                        <a:rPr lang="en-US" sz="1000" b="0" noProof="0" dirty="0">
                          <a:solidFill>
                            <a:schemeClr val="tx1"/>
                          </a:solidFill>
                        </a:rPr>
                        <a:t>
The objective of this mini-game is to start the discussion between the members of a collective, giving a pretext to meet and get to know each other.</a:t>
                      </a:r>
                    </a:p>
                    <a:p>
                      <a:pPr marL="0" indent="0">
                        <a:buFont typeface="+mj-lt"/>
                        <a:buNone/>
                      </a:pPr>
                      <a:r>
                        <a:rPr lang="en-US" sz="1000" b="0" noProof="0" dirty="0">
                          <a:solidFill>
                            <a:schemeClr val="tx1"/>
                          </a:solidFill>
                        </a:rPr>
                        <a:t>
Everyone is free to play or not, free to share details or not.</a:t>
                      </a:r>
                    </a:p>
                    <a:p>
                      <a:pPr marL="0" indent="0">
                        <a:buFont typeface="+mj-lt"/>
                        <a:buNone/>
                      </a:pPr>
                      <a:endParaRPr lang="en-US" sz="1000" b="0" noProof="0" dirty="0">
                        <a:solidFill>
                          <a:schemeClr val="tx1"/>
                        </a:solidFill>
                      </a:endParaRPr>
                    </a:p>
                  </a:txBody>
                  <a:tcPr/>
                </a:tc>
                <a:tc>
                  <a:txBody>
                    <a:bodyPr/>
                    <a:lstStyle/>
                    <a:p>
                      <a:r>
                        <a:rPr lang="en-US" sz="2000" b="1" noProof="0" dirty="0">
                          <a:solidFill>
                            <a:schemeClr val="tx1"/>
                          </a:solidFill>
                        </a:rPr>
                        <a:t>Audience and ideal context</a:t>
                      </a:r>
                      <a:endParaRPr lang="en-US" sz="1000" b="1" noProof="0" dirty="0">
                        <a:solidFill>
                          <a:schemeClr val="tx1"/>
                        </a:solidFill>
                      </a:endParaRPr>
                    </a:p>
                    <a:p>
                      <a:r>
                        <a:rPr lang="en-US" sz="1000" b="0" noProof="0" dirty="0">
                          <a:solidFill>
                            <a:schemeClr val="tx1"/>
                          </a:solidFill>
                        </a:rPr>
                        <a:t>This presentation mini-game fits well to moments of break for a large collective (&gt;30 people) whose members do not all know each other, or do not have the opportunity to interact daily.
Example: 
- Members of the same multi-team program
- Members of the same department
- Participants in the same meetup</a:t>
                      </a:r>
                    </a:p>
                    <a:p>
                      <a:r>
                        <a:rPr lang="en-US" sz="1000" b="0" noProof="0" dirty="0">
                          <a:solidFill>
                            <a:schemeClr val="tx1"/>
                          </a:solidFill>
                        </a:rPr>
                        <a:t>
Context of use: 
- Can be used in gamification of a cocktail moment
- Can be used in "free to play" over a day of corporate event
- As part of a more serious event, to create an informal link</a:t>
                      </a:r>
                      <a:endParaRPr lang="en-US" sz="1050" noProof="0" dirty="0">
                        <a:solidFill>
                          <a:schemeClr val="tx1"/>
                        </a:solidFill>
                      </a:endParaRPr>
                    </a:p>
                  </a:txBody>
                  <a:tcPr/>
                </a:tc>
                <a:extLst>
                  <a:ext uri="{0D108BD9-81ED-4DB2-BD59-A6C34878D82A}">
                    <a16:rowId xmlns:a16="http://schemas.microsoft.com/office/drawing/2014/main" val="3829604468"/>
                  </a:ext>
                </a:extLst>
              </a:tr>
              <a:tr h="869173">
                <a:tc>
                  <a:txBody>
                    <a:bodyPr/>
                    <a:lstStyle/>
                    <a:p>
                      <a:r>
                        <a:rPr lang="en-US" sz="2000" b="1" noProof="0" dirty="0">
                          <a:solidFill>
                            <a:schemeClr val="tx1"/>
                          </a:solidFill>
                        </a:rPr>
                        <a:t>Beforehand</a:t>
                      </a:r>
                    </a:p>
                    <a:p>
                      <a:endParaRPr lang="en-US" sz="2000" b="1" noProof="0" dirty="0">
                        <a:solidFill>
                          <a:schemeClr val="tx1"/>
                        </a:solidFill>
                      </a:endParaRPr>
                    </a:p>
                    <a:p>
                      <a:pPr marL="228600" indent="-228600">
                        <a:buAutoNum type="arabicPeriod"/>
                      </a:pPr>
                      <a:r>
                        <a:rPr lang="en-US" sz="1050" noProof="0" dirty="0">
                          <a:solidFill>
                            <a:schemeClr val="tx1"/>
                          </a:solidFill>
                        </a:rPr>
                        <a:t>Review the cocktail bingo tables and adjust the boxes if necessary. You can mix professional and personal questions, create your own boxes, etc. 
(Optional) Prepare gifts for when participants have successfully completed a line. Examples: Chocolate, books, concert ticket, etc. Find whatever fits the theme of your event
Fill in the prices in the sheets before printing. You can print sheets of multiple templates if you want.
Print the sheets (A4 or A5)</a:t>
                      </a:r>
                    </a:p>
                    <a:p>
                      <a:pPr marL="0" indent="0">
                        <a:buNone/>
                      </a:pPr>
                      <a:r>
                        <a:rPr lang="en-US" sz="1050" noProof="0" dirty="0">
                          <a:solidFill>
                            <a:schemeClr val="tx1"/>
                          </a:solidFill>
                        </a:rPr>
                        <a:t>. </a:t>
                      </a:r>
                    </a:p>
                  </a:txBody>
                  <a:tcPr/>
                </a:tc>
                <a:tc>
                  <a:txBody>
                    <a:bodyPr/>
                    <a:lstStyle/>
                    <a:p>
                      <a:r>
                        <a:rPr lang="en-US" sz="2000" b="1" noProof="0" dirty="0">
                          <a:solidFill>
                            <a:schemeClr val="tx1"/>
                          </a:solidFill>
                        </a:rPr>
                        <a:t>Animation and tips</a:t>
                      </a:r>
                    </a:p>
                    <a:p>
                      <a:endParaRPr lang="en-US" sz="2000" b="1" noProof="0" dirty="0">
                        <a:solidFill>
                          <a:schemeClr val="tx1"/>
                        </a:solidFill>
                      </a:endParaRPr>
                    </a:p>
                    <a:p>
                      <a:r>
                        <a:rPr lang="en-US" sz="1050" noProof="0" dirty="0">
                          <a:solidFill>
                            <a:schemeClr val="tx1"/>
                          </a:solidFill>
                        </a:rPr>
                        <a:t>Hand out bingos with a pen at the beginning of the event
</a:t>
                      </a:r>
                    </a:p>
                    <a:p>
                      <a:r>
                        <a:rPr lang="en-US" sz="1050" noProof="0" dirty="0">
                          <a:solidFill>
                            <a:schemeClr val="tx1"/>
                          </a:solidFill>
                        </a:rPr>
                        <a:t>Tip: You can distribute different sheets
(Optional) You can remove the reward part and leave the game free or add a rule of limited time.</a:t>
                      </a:r>
                    </a:p>
                    <a:p>
                      <a:endParaRPr lang="en-US" sz="1400" noProof="0" dirty="0"/>
                    </a:p>
                  </a:txBody>
                  <a:tcPr/>
                </a:tc>
                <a:extLst>
                  <a:ext uri="{0D108BD9-81ED-4DB2-BD59-A6C34878D82A}">
                    <a16:rowId xmlns:a16="http://schemas.microsoft.com/office/drawing/2014/main" val="2644249841"/>
                  </a:ext>
                </a:extLst>
              </a:tr>
              <a:tr h="450118">
                <a:tc gridSpan="2">
                  <a:txBody>
                    <a:bodyPr/>
                    <a:lstStyle/>
                    <a:p>
                      <a:pPr lvl="1" algn="ctr"/>
                      <a:r>
                        <a:rPr lang="en-US" sz="2000" b="1" noProof="0" dirty="0">
                          <a:solidFill>
                            <a:schemeClr val="tx1"/>
                          </a:solidFill>
                        </a:rPr>
                        <a:t>#OpenSeriousGame Creator's Guide</a:t>
                      </a:r>
                    </a:p>
                  </a:txBody>
                  <a:tcPr/>
                </a:tc>
                <a:tc hMerge="1">
                  <a: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fr-FR" sz="1000" b="0" dirty="0">
                        <a:solidFill>
                          <a:schemeClr val="tx1"/>
                        </a:solidFill>
                      </a:endParaRPr>
                    </a:p>
                  </a:txBody>
                  <a:tcPr/>
                </a:tc>
                <a:extLst>
                  <a:ext uri="{0D108BD9-81ED-4DB2-BD59-A6C34878D82A}">
                    <a16:rowId xmlns:a16="http://schemas.microsoft.com/office/drawing/2014/main" val="931526861"/>
                  </a:ext>
                </a:extLst>
              </a:tr>
              <a:tr h="869173">
                <a:tc>
                  <a:txBody>
                    <a:bodyPr/>
                    <a:lstStyle/>
                    <a:p>
                      <a:r>
                        <a:rPr lang="en-US" sz="2000" b="1" noProof="0" dirty="0">
                          <a:solidFill>
                            <a:schemeClr val="tx1"/>
                          </a:solidFill>
                        </a:rPr>
                        <a:t>Principles used in this game</a:t>
                      </a:r>
                    </a:p>
                    <a:p>
                      <a:r>
                        <a:rPr lang="en-US" sz="1000" noProof="0" dirty="0">
                          <a:solidFill>
                            <a:schemeClr val="tx1"/>
                          </a:solidFill>
                        </a:rPr>
                        <a:t>"Gamified" meeting (pretext game)
Trying to fill the sheet break the ice</a:t>
                      </a:r>
                      <a:endParaRPr lang="en-US" sz="1050" noProof="0" dirty="0">
                        <a:solidFill>
                          <a:schemeClr val="tx1"/>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b="1" noProof="0" dirty="0">
                          <a:solidFill>
                            <a:schemeClr val="tx1"/>
                          </a:solidFill>
                        </a:rPr>
                        <a:t>Game variants</a:t>
                      </a:r>
                      <a:endParaRPr lang="en-US" sz="1000" b="0" noProof="0" dirty="0">
                        <a:solidFill>
                          <a:schemeClr val="tx1"/>
                        </a:solidFill>
                      </a:endParaRPr>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sz="1000" b="0" noProof="0" dirty="0">
                        <a:solidFill>
                          <a:schemeClr val="tx1"/>
                        </a:solidFill>
                      </a:endParaRP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sz="1000" b="0" noProof="0" dirty="0">
                          <a:solidFill>
                            <a:schemeClr val="tx1"/>
                          </a:solidFill>
                        </a:rPr>
                        <a:t>See the different sheets….</a:t>
                      </a:r>
                    </a:p>
                  </a:txBody>
                  <a:tcPr/>
                </a:tc>
                <a:extLst>
                  <a:ext uri="{0D108BD9-81ED-4DB2-BD59-A6C34878D82A}">
                    <a16:rowId xmlns:a16="http://schemas.microsoft.com/office/drawing/2014/main" val="1522474307"/>
                  </a:ext>
                </a:extLst>
              </a:tr>
              <a:tr h="869173">
                <a:tc>
                  <a:txBody>
                    <a:bodyPr/>
                    <a:lstStyle/>
                    <a:p>
                      <a:r>
                        <a:rPr lang="en-US" sz="2000" b="1" noProof="0" dirty="0">
                          <a:solidFill>
                            <a:schemeClr val="tx1"/>
                          </a:solidFill>
                        </a:rPr>
                        <a:t>Version creator</a:t>
                      </a:r>
                    </a:p>
                    <a:p>
                      <a:endParaRPr lang="en-US" sz="1050" b="0" noProof="0" dirty="0">
                        <a:solidFill>
                          <a:schemeClr val="tx1"/>
                        </a:solidFill>
                      </a:endParaRPr>
                    </a:p>
                    <a:p>
                      <a:r>
                        <a:rPr lang="en-US" sz="1000" b="0" noProof="0" dirty="0">
                          <a:solidFill>
                            <a:schemeClr val="tx1"/>
                          </a:solidFill>
                        </a:rPr>
                        <a:t>Alexandre QUACH, KOMYU</a:t>
                      </a:r>
                      <a:endParaRPr lang="en-US" sz="1800" b="0" noProof="0" dirty="0">
                        <a:solidFill>
                          <a:schemeClr val="tx1"/>
                        </a:solidFill>
                      </a:endParaRPr>
                    </a:p>
                  </a:txBody>
                  <a:tcPr/>
                </a:tc>
                <a:tc>
                  <a:txBody>
                    <a:bodyPr/>
                    <a:lstStyle/>
                    <a:p>
                      <a:r>
                        <a:rPr lang="en-US" sz="2000" b="1" noProof="0" dirty="0">
                          <a:solidFill>
                            <a:schemeClr val="tx1"/>
                          </a:solidFill>
                        </a:rPr>
                        <a:t>Reuse License</a:t>
                      </a:r>
                      <a:endParaRPr lang="en-US" sz="1000" b="0" noProof="0" dirty="0">
                        <a:solidFill>
                          <a:schemeClr val="tx1"/>
                        </a:solidFill>
                      </a:endParaRPr>
                    </a:p>
                    <a:p>
                      <a:pPr marL="0" indent="0">
                        <a:buFont typeface="+mj-lt"/>
                        <a:buNone/>
                      </a:pPr>
                      <a:r>
                        <a:rPr lang="en-US" sz="1000" b="0" noProof="0" dirty="0">
                          <a:solidFill>
                            <a:schemeClr val="tx1"/>
                          </a:solidFill>
                        </a:rPr>
                        <a:t>Creative Commons Attribution 3.0</a:t>
                      </a:r>
                    </a:p>
                    <a:p>
                      <a:pPr marL="0" indent="0">
                        <a:buNone/>
                      </a:pPr>
                      <a:r>
                        <a:rPr lang="en-US" sz="1000" noProof="0" dirty="0">
                          <a:hlinkClick r:id="rId2"/>
                        </a:rPr>
                        <a:t>https://creativecommons.org/licenses/by/3.0/</a:t>
                      </a:r>
                      <a:endParaRPr lang="en-US" sz="1000" noProof="0" dirty="0">
                        <a:solidFill>
                          <a:schemeClr val="tx1"/>
                        </a:solidFill>
                      </a:endParaRPr>
                    </a:p>
                  </a:txBody>
                  <a:tcPr/>
                </a:tc>
                <a:extLst>
                  <a:ext uri="{0D108BD9-81ED-4DB2-BD59-A6C34878D82A}">
                    <a16:rowId xmlns:a16="http://schemas.microsoft.com/office/drawing/2014/main" val="1656103360"/>
                  </a:ext>
                </a:extLst>
              </a:tr>
            </a:tbl>
          </a:graphicData>
        </a:graphic>
      </p:graphicFrame>
      <p:pic>
        <p:nvPicPr>
          <p:cNvPr id="2" name="Image 12" descr="Une image contenant texte, clipart&#10;&#10;Description générée automatiquement">
            <a:extLst>
              <a:ext uri="{FF2B5EF4-FFF2-40B4-BE49-F238E27FC236}">
                <a16:creationId xmlns:a16="http://schemas.microsoft.com/office/drawing/2014/main" id="{4B613E8A-D887-4681-D888-8B027714385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7539" y="9497895"/>
            <a:ext cx="614777" cy="222893"/>
          </a:xfrm>
          <a:prstGeom prst="rect">
            <a:avLst/>
          </a:prstGeom>
        </p:spPr>
      </p:pic>
      <p:pic>
        <p:nvPicPr>
          <p:cNvPr id="3" name="Image 14" descr="Une image contenant texte, clipart&#10;&#10;Description générée automatiquement">
            <a:hlinkClick r:id="rId4"/>
            <a:extLst>
              <a:ext uri="{FF2B5EF4-FFF2-40B4-BE49-F238E27FC236}">
                <a16:creationId xmlns:a16="http://schemas.microsoft.com/office/drawing/2014/main" id="{05A1E24A-D63A-F462-DE65-F70B7E9C8E1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37539" y="8920197"/>
            <a:ext cx="901148" cy="372889"/>
          </a:xfrm>
          <a:prstGeom prst="rect">
            <a:avLst/>
          </a:prstGeom>
        </p:spPr>
      </p:pic>
      <p:pic>
        <p:nvPicPr>
          <p:cNvPr id="1026" name="Picture 2">
            <a:extLst>
              <a:ext uri="{FF2B5EF4-FFF2-40B4-BE49-F238E27FC236}">
                <a16:creationId xmlns:a16="http://schemas.microsoft.com/office/drawing/2014/main" id="{FDC4DE4A-50F4-C61A-1A97-6C32B211A8F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266" t="17394" r="25946" b="25394"/>
          <a:stretch/>
        </p:blipFill>
        <p:spPr bwMode="auto">
          <a:xfrm>
            <a:off x="934695" y="9387713"/>
            <a:ext cx="357088" cy="372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994815"/>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3320</TotalTime>
  <Words>1919</Words>
  <Application>Microsoft Office PowerPoint</Application>
  <PresentationFormat>A4 (21x29,7 cm)</PresentationFormat>
  <Paragraphs>134</Paragraphs>
  <Slides>7</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7</vt:i4>
      </vt:variant>
    </vt:vector>
  </HeadingPairs>
  <TitlesOfParts>
    <vt:vector size="13" baseType="lpstr">
      <vt:lpstr>Arial</vt:lpstr>
      <vt:lpstr>Bahnschrift</vt:lpstr>
      <vt:lpstr>Bradley Hand ITC</vt:lpstr>
      <vt:lpstr>Calibri</vt:lpstr>
      <vt:lpstr>Calibri Light</vt:lpstr>
      <vt:lpstr>Thème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85</cp:revision>
  <cp:lastPrinted>2019-08-29T08:55:25Z</cp:lastPrinted>
  <dcterms:created xsi:type="dcterms:W3CDTF">2019-08-28T08:39:22Z</dcterms:created>
  <dcterms:modified xsi:type="dcterms:W3CDTF">2023-11-05T17:34:17Z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8ed5431-0ab7-4c1b-98f4-d4e50f674d02_Enabled">
    <vt:lpwstr>True</vt:lpwstr>
  </property>
  <property fmtid="{D5CDD505-2E9C-101B-9397-08002B2CF9AE}" pid="3" name="MSIP_Label_48ed5431-0ab7-4c1b-98f4-d4e50f674d02_SiteId">
    <vt:lpwstr>614f9c25-bffa-42c7-86d8-964101f55fa2</vt:lpwstr>
  </property>
  <property fmtid="{D5CDD505-2E9C-101B-9397-08002B2CF9AE}" pid="4" name="MSIP_Label_48ed5431-0ab7-4c1b-98f4-d4e50f674d02_Owner">
    <vt:lpwstr>alexandre.quach@externe.bnpparibas.com</vt:lpwstr>
  </property>
  <property fmtid="{D5CDD505-2E9C-101B-9397-08002B2CF9AE}" pid="5" name="MSIP_Label_48ed5431-0ab7-4c1b-98f4-d4e50f674d02_SetDate">
    <vt:lpwstr>2019-12-11T09:48:24.1221894Z</vt:lpwstr>
  </property>
  <property fmtid="{D5CDD505-2E9C-101B-9397-08002B2CF9AE}" pid="6" name="MSIP_Label_48ed5431-0ab7-4c1b-98f4-d4e50f674d02_Name">
    <vt:lpwstr>Public</vt:lpwstr>
  </property>
  <property fmtid="{D5CDD505-2E9C-101B-9397-08002B2CF9AE}" pid="7" name="MSIP_Label_48ed5431-0ab7-4c1b-98f4-d4e50f674d02_Application">
    <vt:lpwstr>Microsoft Azure Information Protection</vt:lpwstr>
  </property>
  <property fmtid="{D5CDD505-2E9C-101B-9397-08002B2CF9AE}" pid="8" name="MSIP_Label_48ed5431-0ab7-4c1b-98f4-d4e50f674d02_ActionId">
    <vt:lpwstr>e2fd7773-faf9-42d4-a1e1-dddf6cbe8fae</vt:lpwstr>
  </property>
  <property fmtid="{D5CDD505-2E9C-101B-9397-08002B2CF9AE}" pid="9" name="MSIP_Label_48ed5431-0ab7-4c1b-98f4-d4e50f674d02_Extended_MSFT_Method">
    <vt:lpwstr>Manual</vt:lpwstr>
  </property>
  <property fmtid="{D5CDD505-2E9C-101B-9397-08002B2CF9AE}" pid="10" name="Sensitivity">
    <vt:lpwstr>Public</vt:lpwstr>
  </property>
</Properties>
</file>