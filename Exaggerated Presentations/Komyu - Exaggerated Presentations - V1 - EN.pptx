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handoutMasterIdLst>
    <p:handoutMasterId r:id="rId7"/>
  </p:handoutMasterIdLst>
  <p:sldIdLst>
    <p:sldId id="256" r:id="rId2"/>
    <p:sldId id="258" r:id="rId3"/>
    <p:sldId id="259" r:id="rId4"/>
    <p:sldId id="260" r:id="rId5"/>
  </p:sldIdLst>
  <p:sldSz cx="6858000" cy="9906000" type="A4"/>
  <p:notesSz cx="6858000" cy="9926638"/>
  <p:defaultTextStyle>
    <a:defPPr>
      <a:defRPr lang="en-US"/>
    </a:defPPr>
    <a:lvl1pPr marL="0" algn="l" defTabSz="457133" rtl="0" eaLnBrk="1" latinLnBrk="0" hangingPunct="1">
      <a:defRPr sz="1799" kern="1200">
        <a:solidFill>
          <a:schemeClr val="tx1"/>
        </a:solidFill>
        <a:latin typeface="+mn-lt"/>
        <a:ea typeface="+mn-ea"/>
        <a:cs typeface="+mn-cs"/>
      </a:defRPr>
    </a:lvl1pPr>
    <a:lvl2pPr marL="457133" algn="l" defTabSz="457133" rtl="0" eaLnBrk="1" latinLnBrk="0" hangingPunct="1">
      <a:defRPr sz="1799" kern="1200">
        <a:solidFill>
          <a:schemeClr val="tx1"/>
        </a:solidFill>
        <a:latin typeface="+mn-lt"/>
        <a:ea typeface="+mn-ea"/>
        <a:cs typeface="+mn-cs"/>
      </a:defRPr>
    </a:lvl2pPr>
    <a:lvl3pPr marL="914266" algn="l" defTabSz="457133" rtl="0" eaLnBrk="1" latinLnBrk="0" hangingPunct="1">
      <a:defRPr sz="1799" kern="1200">
        <a:solidFill>
          <a:schemeClr val="tx1"/>
        </a:solidFill>
        <a:latin typeface="+mn-lt"/>
        <a:ea typeface="+mn-ea"/>
        <a:cs typeface="+mn-cs"/>
      </a:defRPr>
    </a:lvl3pPr>
    <a:lvl4pPr marL="1371399" algn="l" defTabSz="457133" rtl="0" eaLnBrk="1" latinLnBrk="0" hangingPunct="1">
      <a:defRPr sz="1799" kern="1200">
        <a:solidFill>
          <a:schemeClr val="tx1"/>
        </a:solidFill>
        <a:latin typeface="+mn-lt"/>
        <a:ea typeface="+mn-ea"/>
        <a:cs typeface="+mn-cs"/>
      </a:defRPr>
    </a:lvl4pPr>
    <a:lvl5pPr marL="1828532" algn="l" defTabSz="457133" rtl="0" eaLnBrk="1" latinLnBrk="0" hangingPunct="1">
      <a:defRPr sz="1799" kern="1200">
        <a:solidFill>
          <a:schemeClr val="tx1"/>
        </a:solidFill>
        <a:latin typeface="+mn-lt"/>
        <a:ea typeface="+mn-ea"/>
        <a:cs typeface="+mn-cs"/>
      </a:defRPr>
    </a:lvl5pPr>
    <a:lvl6pPr marL="2285665" algn="l" defTabSz="457133" rtl="0" eaLnBrk="1" latinLnBrk="0" hangingPunct="1">
      <a:defRPr sz="1799" kern="1200">
        <a:solidFill>
          <a:schemeClr val="tx1"/>
        </a:solidFill>
        <a:latin typeface="+mn-lt"/>
        <a:ea typeface="+mn-ea"/>
        <a:cs typeface="+mn-cs"/>
      </a:defRPr>
    </a:lvl6pPr>
    <a:lvl7pPr marL="2742798" algn="l" defTabSz="457133" rtl="0" eaLnBrk="1" latinLnBrk="0" hangingPunct="1">
      <a:defRPr sz="1799" kern="1200">
        <a:solidFill>
          <a:schemeClr val="tx1"/>
        </a:solidFill>
        <a:latin typeface="+mn-lt"/>
        <a:ea typeface="+mn-ea"/>
        <a:cs typeface="+mn-cs"/>
      </a:defRPr>
    </a:lvl7pPr>
    <a:lvl8pPr marL="3199931" algn="l" defTabSz="457133" rtl="0" eaLnBrk="1" latinLnBrk="0" hangingPunct="1">
      <a:defRPr sz="1799" kern="1200">
        <a:solidFill>
          <a:schemeClr val="tx1"/>
        </a:solidFill>
        <a:latin typeface="+mn-lt"/>
        <a:ea typeface="+mn-ea"/>
        <a:cs typeface="+mn-cs"/>
      </a:defRPr>
    </a:lvl8pPr>
    <a:lvl9pPr marL="3657064" algn="l" defTabSz="457133" rtl="0" eaLnBrk="1" latinLnBrk="0" hangingPunct="1">
      <a:defRPr sz="1799"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Style moyen 2 - Accentuation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Style moyen 2 - Accentuation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25" autoAdjust="0"/>
    <p:restoredTop sz="94660"/>
  </p:normalViewPr>
  <p:slideViewPr>
    <p:cSldViewPr snapToGrid="0">
      <p:cViewPr varScale="1">
        <p:scale>
          <a:sx n="77" d="100"/>
          <a:sy n="77" d="100"/>
        </p:scale>
        <p:origin x="266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handoutMaster" Target="handoutMasters/handout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0A948C06-F7D7-4872-AC54-D56568C40DBA}"/>
              </a:ext>
            </a:extLst>
          </p:cNvPr>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CA16C201-56D9-42B1-91DB-92380F28681E}"/>
              </a:ext>
            </a:extLst>
          </p:cNvPr>
          <p:cNvSpPr>
            <a:spLocks noGrp="1"/>
          </p:cNvSpPr>
          <p:nvPr>
            <p:ph type="dt" sz="quarter" idx="1"/>
          </p:nvPr>
        </p:nvSpPr>
        <p:spPr>
          <a:xfrm>
            <a:off x="3884613" y="0"/>
            <a:ext cx="2971800" cy="496888"/>
          </a:xfrm>
          <a:prstGeom prst="rect">
            <a:avLst/>
          </a:prstGeom>
        </p:spPr>
        <p:txBody>
          <a:bodyPr vert="horz" lIns="91440" tIns="45720" rIns="91440" bIns="45720" rtlCol="0"/>
          <a:lstStyle>
            <a:lvl1pPr algn="r">
              <a:defRPr sz="1200"/>
            </a:lvl1pPr>
          </a:lstStyle>
          <a:p>
            <a:fld id="{4846E387-58D0-40AA-A111-39025C8DE5A5}" type="datetimeFigureOut">
              <a:rPr lang="fr-FR" smtClean="0"/>
              <a:t>16/10/2023</a:t>
            </a:fld>
            <a:endParaRPr lang="fr-FR"/>
          </a:p>
        </p:txBody>
      </p:sp>
      <p:sp>
        <p:nvSpPr>
          <p:cNvPr id="4" name="Espace réservé du pied de page 3">
            <a:extLst>
              <a:ext uri="{FF2B5EF4-FFF2-40B4-BE49-F238E27FC236}">
                <a16:creationId xmlns:a16="http://schemas.microsoft.com/office/drawing/2014/main" id="{CBF02CFE-A077-47B6-A7C0-3D0CE9751024}"/>
              </a:ext>
            </a:extLst>
          </p:cNvPr>
          <p:cNvSpPr>
            <a:spLocks noGrp="1"/>
          </p:cNvSpPr>
          <p:nvPr>
            <p:ph type="ftr" sz="quarter" idx="2"/>
          </p:nvPr>
        </p:nvSpPr>
        <p:spPr>
          <a:xfrm>
            <a:off x="0" y="9429750"/>
            <a:ext cx="2971800" cy="496888"/>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D3E98511-98FD-4F53-85BC-630702199D32}"/>
              </a:ext>
            </a:extLst>
          </p:cNvPr>
          <p:cNvSpPr>
            <a:spLocks noGrp="1"/>
          </p:cNvSpPr>
          <p:nvPr>
            <p:ph type="sldNum" sz="quarter" idx="3"/>
          </p:nvPr>
        </p:nvSpPr>
        <p:spPr>
          <a:xfrm>
            <a:off x="3884613" y="9429750"/>
            <a:ext cx="2971800" cy="496888"/>
          </a:xfrm>
          <a:prstGeom prst="rect">
            <a:avLst/>
          </a:prstGeom>
        </p:spPr>
        <p:txBody>
          <a:bodyPr vert="horz" lIns="91440" tIns="45720" rIns="91440" bIns="45720" rtlCol="0" anchor="b"/>
          <a:lstStyle>
            <a:lvl1pPr algn="r">
              <a:defRPr sz="1200"/>
            </a:lvl1pPr>
          </a:lstStyle>
          <a:p>
            <a:fld id="{0F17C46C-43A9-4CC6-ABA8-CCA27B0BD1B2}" type="slidenum">
              <a:rPr lang="fr-FR" smtClean="0"/>
              <a:t>‹N›</a:t>
            </a:fld>
            <a:endParaRPr lang="fr-FR"/>
          </a:p>
        </p:txBody>
      </p:sp>
    </p:spTree>
    <p:extLst>
      <p:ext uri="{BB962C8B-B14F-4D97-AF65-F5344CB8AC3E}">
        <p14:creationId xmlns:p14="http://schemas.microsoft.com/office/powerpoint/2010/main" val="3092942365"/>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96888"/>
          </a:xfrm>
          <a:prstGeom prst="rect">
            <a:avLst/>
          </a:prstGeom>
        </p:spPr>
        <p:txBody>
          <a:bodyPr vert="horz" lIns="91440" tIns="45720" rIns="91440" bIns="45720" rtlCol="0"/>
          <a:lstStyle>
            <a:lvl1pPr algn="r">
              <a:defRPr sz="1200"/>
            </a:lvl1pPr>
          </a:lstStyle>
          <a:p>
            <a:fld id="{BDF20955-6C47-4586-98EC-FFC38E96B8F7}" type="datetimeFigureOut">
              <a:rPr lang="fr-FR" smtClean="0"/>
              <a:t>16/10/2023</a:t>
            </a:fld>
            <a:endParaRPr lang="fr-FR"/>
          </a:p>
        </p:txBody>
      </p:sp>
      <p:sp>
        <p:nvSpPr>
          <p:cNvPr id="4" name="Espace réservé de l'image des diapositives 3"/>
          <p:cNvSpPr>
            <a:spLocks noGrp="1" noRot="1" noChangeAspect="1"/>
          </p:cNvSpPr>
          <p:nvPr>
            <p:ph type="sldImg" idx="2"/>
          </p:nvPr>
        </p:nvSpPr>
        <p:spPr>
          <a:xfrm>
            <a:off x="2270125" y="1241425"/>
            <a:ext cx="2317750" cy="334962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776788"/>
            <a:ext cx="5486400" cy="3908425"/>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429750"/>
            <a:ext cx="2971800" cy="496888"/>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9429750"/>
            <a:ext cx="2971800" cy="496888"/>
          </a:xfrm>
          <a:prstGeom prst="rect">
            <a:avLst/>
          </a:prstGeom>
        </p:spPr>
        <p:txBody>
          <a:bodyPr vert="horz" lIns="91440" tIns="45720" rIns="91440" bIns="45720" rtlCol="0" anchor="b"/>
          <a:lstStyle>
            <a:lvl1pPr algn="r">
              <a:defRPr sz="1200"/>
            </a:lvl1pPr>
          </a:lstStyle>
          <a:p>
            <a:fld id="{E4A7939E-2C09-4915-8039-A09DC60D8B16}" type="slidenum">
              <a:rPr lang="fr-FR" smtClean="0"/>
              <a:t>‹N›</a:t>
            </a:fld>
            <a:endParaRPr lang="fr-FR"/>
          </a:p>
        </p:txBody>
      </p:sp>
    </p:spTree>
    <p:extLst>
      <p:ext uri="{BB962C8B-B14F-4D97-AF65-F5344CB8AC3E}">
        <p14:creationId xmlns:p14="http://schemas.microsoft.com/office/powerpoint/2010/main" val="826367717"/>
      </p:ext>
    </p:extLst>
  </p:cSld>
  <p:clrMap bg1="lt1" tx1="dk1" bg2="lt2" tx2="dk2" accent1="accent1" accent2="accent2" accent3="accent3" accent4="accent4" accent5="accent5" accent6="accent6" hlink="hlink" folHlink="folHlink"/>
  <p:hf sldNum="0" hdr="0" ftr="0" dt="0"/>
  <p:notesStyle>
    <a:lvl1pPr marL="0" algn="l" defTabSz="914266" rtl="0" eaLnBrk="1" latinLnBrk="0" hangingPunct="1">
      <a:defRPr sz="1200" kern="1200">
        <a:solidFill>
          <a:schemeClr val="tx1"/>
        </a:solidFill>
        <a:latin typeface="+mn-lt"/>
        <a:ea typeface="+mn-ea"/>
        <a:cs typeface="+mn-cs"/>
      </a:defRPr>
    </a:lvl1pPr>
    <a:lvl2pPr marL="457133" algn="l" defTabSz="914266" rtl="0" eaLnBrk="1" latinLnBrk="0" hangingPunct="1">
      <a:defRPr sz="1200" kern="1200">
        <a:solidFill>
          <a:schemeClr val="tx1"/>
        </a:solidFill>
        <a:latin typeface="+mn-lt"/>
        <a:ea typeface="+mn-ea"/>
        <a:cs typeface="+mn-cs"/>
      </a:defRPr>
    </a:lvl2pPr>
    <a:lvl3pPr marL="914266" algn="l" defTabSz="914266" rtl="0" eaLnBrk="1" latinLnBrk="0" hangingPunct="1">
      <a:defRPr sz="1200" kern="1200">
        <a:solidFill>
          <a:schemeClr val="tx1"/>
        </a:solidFill>
        <a:latin typeface="+mn-lt"/>
        <a:ea typeface="+mn-ea"/>
        <a:cs typeface="+mn-cs"/>
      </a:defRPr>
    </a:lvl3pPr>
    <a:lvl4pPr marL="1371399" algn="l" defTabSz="914266" rtl="0" eaLnBrk="1" latinLnBrk="0" hangingPunct="1">
      <a:defRPr sz="1200" kern="1200">
        <a:solidFill>
          <a:schemeClr val="tx1"/>
        </a:solidFill>
        <a:latin typeface="+mn-lt"/>
        <a:ea typeface="+mn-ea"/>
        <a:cs typeface="+mn-cs"/>
      </a:defRPr>
    </a:lvl4pPr>
    <a:lvl5pPr marL="1828532" algn="l" defTabSz="914266" rtl="0" eaLnBrk="1" latinLnBrk="0" hangingPunct="1">
      <a:defRPr sz="1200" kern="1200">
        <a:solidFill>
          <a:schemeClr val="tx1"/>
        </a:solidFill>
        <a:latin typeface="+mn-lt"/>
        <a:ea typeface="+mn-ea"/>
        <a:cs typeface="+mn-cs"/>
      </a:defRPr>
    </a:lvl5pPr>
    <a:lvl6pPr marL="2285665" algn="l" defTabSz="914266" rtl="0" eaLnBrk="1" latinLnBrk="0" hangingPunct="1">
      <a:defRPr sz="1200" kern="1200">
        <a:solidFill>
          <a:schemeClr val="tx1"/>
        </a:solidFill>
        <a:latin typeface="+mn-lt"/>
        <a:ea typeface="+mn-ea"/>
        <a:cs typeface="+mn-cs"/>
      </a:defRPr>
    </a:lvl6pPr>
    <a:lvl7pPr marL="2742798" algn="l" defTabSz="914266" rtl="0" eaLnBrk="1" latinLnBrk="0" hangingPunct="1">
      <a:defRPr sz="1200" kern="1200">
        <a:solidFill>
          <a:schemeClr val="tx1"/>
        </a:solidFill>
        <a:latin typeface="+mn-lt"/>
        <a:ea typeface="+mn-ea"/>
        <a:cs typeface="+mn-cs"/>
      </a:defRPr>
    </a:lvl7pPr>
    <a:lvl8pPr marL="3199931" algn="l" defTabSz="914266" rtl="0" eaLnBrk="1" latinLnBrk="0" hangingPunct="1">
      <a:defRPr sz="1200" kern="1200">
        <a:solidFill>
          <a:schemeClr val="tx1"/>
        </a:solidFill>
        <a:latin typeface="+mn-lt"/>
        <a:ea typeface="+mn-ea"/>
        <a:cs typeface="+mn-cs"/>
      </a:defRPr>
    </a:lvl8pPr>
    <a:lvl9pPr marL="3657064" algn="l" defTabSz="914266"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fr-FR"/>
              <a:t>Modifiez le style du titre</a:t>
            </a:r>
            <a:endParaRPr lang="en-US" dirty="0"/>
          </a:p>
        </p:txBody>
      </p:sp>
      <p:sp>
        <p:nvSpPr>
          <p:cNvPr id="3" name="Subtitle 2"/>
          <p:cNvSpPr>
            <a:spLocks noGrp="1"/>
          </p:cNvSpPr>
          <p:nvPr>
            <p:ph type="subTitle" idx="1"/>
          </p:nvPr>
        </p:nvSpPr>
        <p:spPr>
          <a:xfrm>
            <a:off x="857250" y="5202945"/>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7829920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4155331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467917" y="2469625"/>
            <a:ext cx="5915025" cy="4120620"/>
          </a:xfrm>
        </p:spPr>
        <p:txBody>
          <a:bodyPr anchor="b"/>
          <a:lstStyle>
            <a:lvl1pPr>
              <a:defRPr sz="4500"/>
            </a:lvl1pPr>
          </a:lstStyle>
          <a:p>
            <a:r>
              <a:rPr lang="fr-FR"/>
              <a:t>Modifiez le style du titre</a:t>
            </a:r>
            <a:endParaRPr lang="en-US" dirty="0"/>
          </a:p>
        </p:txBody>
      </p:sp>
      <p:sp>
        <p:nvSpPr>
          <p:cNvPr id="3" name="Text Placeholder 2"/>
          <p:cNvSpPr>
            <a:spLocks noGrp="1"/>
          </p:cNvSpPr>
          <p:nvPr>
            <p:ph type="body" idx="1"/>
          </p:nvPr>
        </p:nvSpPr>
        <p:spPr>
          <a:xfrm>
            <a:off x="467917"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Modifier les styles du texte du masque</a:t>
            </a:r>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56847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6DCA0D14-03F7-4F0D-A834-CBE5F1B767A5}" type="datetimeFigureOut">
              <a:rPr lang="fr-FR" smtClean="0"/>
              <a:t>16/10/2023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822310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72382" y="527405"/>
            <a:ext cx="5915025" cy="1914702"/>
          </a:xfrm>
        </p:spPr>
        <p:txBody>
          <a:bodyPr/>
          <a:lstStyle/>
          <a:p>
            <a:r>
              <a:rPr lang="fr-FR"/>
              <a:t>Modifiez le style du titre</a:t>
            </a:r>
            <a:endParaRPr lang="en-US" dirty="0"/>
          </a:p>
        </p:txBody>
      </p:sp>
      <p:sp>
        <p:nvSpPr>
          <p:cNvPr id="3" name="Text Placeholder 2"/>
          <p:cNvSpPr>
            <a:spLocks noGrp="1"/>
          </p:cNvSpPr>
          <p:nvPr>
            <p:ph type="body" idx="1"/>
          </p:nvPr>
        </p:nvSpPr>
        <p:spPr>
          <a:xfrm>
            <a:off x="472382"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4" name="Content Placeholder 3"/>
          <p:cNvSpPr>
            <a:spLocks noGrp="1"/>
          </p:cNvSpPr>
          <p:nvPr>
            <p:ph sz="half" idx="2"/>
          </p:nvPr>
        </p:nvSpPr>
        <p:spPr>
          <a:xfrm>
            <a:off x="472382" y="3618442"/>
            <a:ext cx="2901255" cy="532218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3471864"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Modifier les styles du texte du masque</a:t>
            </a:r>
          </a:p>
        </p:txBody>
      </p:sp>
      <p:sp>
        <p:nvSpPr>
          <p:cNvPr id="6" name="Content Placeholder 5"/>
          <p:cNvSpPr>
            <a:spLocks noGrp="1"/>
          </p:cNvSpPr>
          <p:nvPr>
            <p:ph sz="quarter" idx="4"/>
          </p:nvPr>
        </p:nvSpPr>
        <p:spPr>
          <a:xfrm>
            <a:off x="3471864" y="3618442"/>
            <a:ext cx="2915543" cy="5322183"/>
          </a:xfrm>
        </p:spPr>
        <p:txBody>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6DCA0D14-03F7-4F0D-A834-CBE5F1B767A5}" type="datetimeFigureOut">
              <a:rPr lang="fr-FR" smtClean="0"/>
              <a:t>16/10/2023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5887947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6DCA0D14-03F7-4F0D-A834-CBE5F1B767A5}" type="datetimeFigureOut">
              <a:rPr lang="fr-FR" smtClean="0"/>
              <a:t>16/10/2023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30402912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CA0D14-03F7-4F0D-A834-CBE5F1B767A5}" type="datetimeFigureOut">
              <a:rPr lang="fr-FR" smtClean="0"/>
              <a:t>16/10/2023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7246967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Content Placeholder 2"/>
          <p:cNvSpPr>
            <a:spLocks noGrp="1"/>
          </p:cNvSpPr>
          <p:nvPr>
            <p:ph idx="1"/>
          </p:nvPr>
        </p:nvSpPr>
        <p:spPr>
          <a:xfrm>
            <a:off x="2915544"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472381" y="2971801"/>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6DCA0D14-03F7-4F0D-A834-CBE5F1B767A5}" type="datetimeFigureOut">
              <a:rPr lang="fr-FR" smtClean="0"/>
              <a:t>16/10/2023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5679203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fr-FR"/>
              <a:t>Modifiez le style du titre</a:t>
            </a:r>
            <a:endParaRPr lang="en-US" dirty="0"/>
          </a:p>
        </p:txBody>
      </p:sp>
      <p:sp>
        <p:nvSpPr>
          <p:cNvPr id="3" name="Picture Placeholder 2"/>
          <p:cNvSpPr>
            <a:spLocks noGrp="1" noChangeAspect="1"/>
          </p:cNvSpPr>
          <p:nvPr>
            <p:ph type="pic" idx="1"/>
          </p:nvPr>
        </p:nvSpPr>
        <p:spPr>
          <a:xfrm>
            <a:off x="2915544"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fr-FR"/>
              <a:t>Cliquez sur l'icône pour ajouter une image</a:t>
            </a:r>
            <a:endParaRPr lang="en-US" dirty="0"/>
          </a:p>
        </p:txBody>
      </p:sp>
      <p:sp>
        <p:nvSpPr>
          <p:cNvPr id="4" name="Text Placeholder 3"/>
          <p:cNvSpPr>
            <a:spLocks noGrp="1"/>
          </p:cNvSpPr>
          <p:nvPr>
            <p:ph type="body" sz="half" idx="2"/>
          </p:nvPr>
        </p:nvSpPr>
        <p:spPr>
          <a:xfrm>
            <a:off x="472381" y="2971801"/>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Modifier les styles du texte du masque</a:t>
            </a:r>
          </a:p>
        </p:txBody>
      </p:sp>
      <p:sp>
        <p:nvSpPr>
          <p:cNvPr id="5" name="Date Placeholder 4"/>
          <p:cNvSpPr>
            <a:spLocks noGrp="1"/>
          </p:cNvSpPr>
          <p:nvPr>
            <p:ph type="dt" sz="half" idx="10"/>
          </p:nvPr>
        </p:nvSpPr>
        <p:spPr/>
        <p:txBody>
          <a:bodyPr/>
          <a:lstStyle/>
          <a:p>
            <a:fld id="{6DCA0D14-03F7-4F0D-A834-CBE5F1B767A5}" type="datetimeFigureOut">
              <a:rPr lang="fr-FR" smtClean="0"/>
              <a:t>16/10/2023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210440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323624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4"/>
            <a:ext cx="1478756" cy="8394877"/>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471488" y="527404"/>
            <a:ext cx="4350544" cy="8394877"/>
          </a:xfrm>
        </p:spPr>
        <p:txBody>
          <a:bodyPr vert="eaVert"/>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6DCA0D14-03F7-4F0D-A834-CBE5F1B767A5}" type="datetimeFigureOut">
              <a:rPr lang="fr-FR" smtClean="0"/>
              <a:t>16/10/2023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97285C76-BE70-4258-8668-C07A75A9D8EB}" type="slidenum">
              <a:rPr lang="fr-FR" smtClean="0"/>
              <a:t>‹N›</a:t>
            </a:fld>
            <a:endParaRPr lang="fr-FR"/>
          </a:p>
        </p:txBody>
      </p:sp>
    </p:spTree>
    <p:extLst>
      <p:ext uri="{BB962C8B-B14F-4D97-AF65-F5344CB8AC3E}">
        <p14:creationId xmlns:p14="http://schemas.microsoft.com/office/powerpoint/2010/main" val="1070201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471488" y="9181398"/>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6DCA0D14-03F7-4F0D-A834-CBE5F1B767A5}" type="datetimeFigureOut">
              <a:rPr lang="fr-FR" smtClean="0"/>
              <a:t>16/10/2023</a:t>
            </a:fld>
            <a:endParaRPr lang="fr-FR"/>
          </a:p>
        </p:txBody>
      </p:sp>
      <p:sp>
        <p:nvSpPr>
          <p:cNvPr id="5" name="Footer Placeholder 4"/>
          <p:cNvSpPr>
            <a:spLocks noGrp="1"/>
          </p:cNvSpPr>
          <p:nvPr>
            <p:ph type="ftr" sz="quarter" idx="3"/>
          </p:nvPr>
        </p:nvSpPr>
        <p:spPr>
          <a:xfrm>
            <a:off x="2271713" y="9181398"/>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4843463" y="9181398"/>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97285C76-BE70-4258-8668-C07A75A9D8EB}" type="slidenum">
              <a:rPr lang="fr-FR" smtClean="0"/>
              <a:t>‹N›</a:t>
            </a:fld>
            <a:endParaRPr lang="fr-FR"/>
          </a:p>
        </p:txBody>
      </p:sp>
    </p:spTree>
    <p:extLst>
      <p:ext uri="{BB962C8B-B14F-4D97-AF65-F5344CB8AC3E}">
        <p14:creationId xmlns:p14="http://schemas.microsoft.com/office/powerpoint/2010/main" val="42896795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learning.net/product/free-illustrated-character-sample-pack-03/"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hyperlink" Target="https://www.komyu.io/"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3.png"/><Relationship Id="rId3" Type="http://schemas.openxmlformats.org/officeDocument/2006/relationships/hyperlink" Target="http://www.pngall.com/paper-sheet-png/download/2439" TargetMode="External"/><Relationship Id="rId7" Type="http://schemas.openxmlformats.org/officeDocument/2006/relationships/image" Target="../media/image8.svg"/><Relationship Id="rId12" Type="http://schemas.openxmlformats.org/officeDocument/2006/relationships/hyperlink" Target="https://www.komyu.io/" TargetMode="External"/><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komyu.io/"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creativecommons.org/licenses/by/3.0/fr/" TargetMode="External"/><Relationship Id="rId2" Type="http://schemas.openxmlformats.org/officeDocument/2006/relationships/hyperlink" Target="https://www.linkedin.com/in/romuald-senathirajah-1b994297/"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hyperlink" Target="https://www.komyu.i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Image 23">
            <a:extLst>
              <a:ext uri="{FF2B5EF4-FFF2-40B4-BE49-F238E27FC236}">
                <a16:creationId xmlns:a16="http://schemas.microsoft.com/office/drawing/2014/main" id="{B83CDE9D-AE7A-4C77-8E56-975BC6EC7C3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4651" t="53499" r="39621" b="23261"/>
          <a:stretch/>
        </p:blipFill>
        <p:spPr>
          <a:xfrm>
            <a:off x="671196" y="6538202"/>
            <a:ext cx="946052" cy="1397901"/>
          </a:xfrm>
          <a:prstGeom prst="rect">
            <a:avLst/>
          </a:prstGeom>
        </p:spPr>
      </p:pic>
      <p:pic>
        <p:nvPicPr>
          <p:cNvPr id="6" name="Image 5">
            <a:extLst>
              <a:ext uri="{FF2B5EF4-FFF2-40B4-BE49-F238E27FC236}">
                <a16:creationId xmlns:a16="http://schemas.microsoft.com/office/drawing/2014/main" id="{B99A25BC-4C9F-42E5-862B-BE40C7FA83A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4651" t="53499" r="39621" b="23261"/>
          <a:stretch/>
        </p:blipFill>
        <p:spPr>
          <a:xfrm>
            <a:off x="728076" y="3376439"/>
            <a:ext cx="946052" cy="1397901"/>
          </a:xfrm>
          <a:prstGeom prst="rect">
            <a:avLst/>
          </a:prstGeom>
        </p:spPr>
      </p:pic>
      <p:pic>
        <p:nvPicPr>
          <p:cNvPr id="21" name="Image 20">
            <a:extLst>
              <a:ext uri="{FF2B5EF4-FFF2-40B4-BE49-F238E27FC236}">
                <a16:creationId xmlns:a16="http://schemas.microsoft.com/office/drawing/2014/main" id="{CBD5AC4A-9176-40C9-8EC3-5FDDE0A54A0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4651" t="53499" r="39621" b="23261"/>
          <a:stretch/>
        </p:blipFill>
        <p:spPr>
          <a:xfrm>
            <a:off x="4050514" y="3376439"/>
            <a:ext cx="946052" cy="1397901"/>
          </a:xfrm>
          <a:prstGeom prst="rect">
            <a:avLst/>
          </a:prstGeom>
        </p:spPr>
      </p:pic>
      <p:pic>
        <p:nvPicPr>
          <p:cNvPr id="20" name="Image 19">
            <a:extLst>
              <a:ext uri="{FF2B5EF4-FFF2-40B4-BE49-F238E27FC236}">
                <a16:creationId xmlns:a16="http://schemas.microsoft.com/office/drawing/2014/main" id="{F8786B42-C18F-4184-9E78-48C8D356ED67}"/>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1731" t="-856" r="42541" b="77616"/>
          <a:stretch/>
        </p:blipFill>
        <p:spPr>
          <a:xfrm>
            <a:off x="5176171" y="3272854"/>
            <a:ext cx="1011480" cy="1494578"/>
          </a:xfrm>
          <a:prstGeom prst="rect">
            <a:avLst/>
          </a:prstGeom>
        </p:spPr>
      </p:pic>
      <p:pic>
        <p:nvPicPr>
          <p:cNvPr id="22" name="Image 21">
            <a:extLst>
              <a:ext uri="{FF2B5EF4-FFF2-40B4-BE49-F238E27FC236}">
                <a16:creationId xmlns:a16="http://schemas.microsoft.com/office/drawing/2014/main" id="{504A56EA-1423-487F-91BB-90B83BB2AD58}"/>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4651" t="53499" r="39621" b="23261"/>
          <a:stretch/>
        </p:blipFill>
        <p:spPr>
          <a:xfrm>
            <a:off x="4010154" y="6548342"/>
            <a:ext cx="946052" cy="1397901"/>
          </a:xfrm>
          <a:prstGeom prst="rect">
            <a:avLst/>
          </a:prstGeom>
        </p:spPr>
      </p:pic>
      <p:pic>
        <p:nvPicPr>
          <p:cNvPr id="23" name="Image 22">
            <a:extLst>
              <a:ext uri="{FF2B5EF4-FFF2-40B4-BE49-F238E27FC236}">
                <a16:creationId xmlns:a16="http://schemas.microsoft.com/office/drawing/2014/main" id="{39FB887D-8D1D-45B8-852F-5D85593A45E6}"/>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1731" t="-856" r="42541" b="77616"/>
          <a:stretch/>
        </p:blipFill>
        <p:spPr>
          <a:xfrm>
            <a:off x="5135811" y="6444757"/>
            <a:ext cx="1011480" cy="1494578"/>
          </a:xfrm>
          <a:prstGeom prst="rect">
            <a:avLst/>
          </a:prstGeom>
        </p:spPr>
      </p:pic>
      <p:pic>
        <p:nvPicPr>
          <p:cNvPr id="25" name="Image 24">
            <a:extLst>
              <a:ext uri="{FF2B5EF4-FFF2-40B4-BE49-F238E27FC236}">
                <a16:creationId xmlns:a16="http://schemas.microsoft.com/office/drawing/2014/main" id="{1C93EA7F-7352-4EB4-9B3A-D8CE36EE4C5E}"/>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1731" t="-856" r="42541" b="77616"/>
          <a:stretch/>
        </p:blipFill>
        <p:spPr>
          <a:xfrm>
            <a:off x="1796853" y="6434617"/>
            <a:ext cx="1011480" cy="1494578"/>
          </a:xfrm>
          <a:prstGeom prst="rect">
            <a:avLst/>
          </a:prstGeom>
        </p:spPr>
      </p:pic>
      <p:pic>
        <p:nvPicPr>
          <p:cNvPr id="19" name="Image 18">
            <a:extLst>
              <a:ext uri="{FF2B5EF4-FFF2-40B4-BE49-F238E27FC236}">
                <a16:creationId xmlns:a16="http://schemas.microsoft.com/office/drawing/2014/main" id="{67C6FCE6-3913-475F-AB92-429F2C105FEB}"/>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1731" t="-856" r="42541" b="77616"/>
          <a:stretch/>
        </p:blipFill>
        <p:spPr>
          <a:xfrm>
            <a:off x="1911781" y="3289693"/>
            <a:ext cx="1011480" cy="1494578"/>
          </a:xfrm>
          <a:prstGeom prst="rect">
            <a:avLst/>
          </a:prstGeom>
        </p:spPr>
      </p:pic>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251385062"/>
              </p:ext>
            </p:extLst>
          </p:nvPr>
        </p:nvGraphicFramePr>
        <p:xfrm>
          <a:off x="21036" y="1"/>
          <a:ext cx="6836964" cy="2575560"/>
        </p:xfrm>
        <a:graphic>
          <a:graphicData uri="http://schemas.openxmlformats.org/drawingml/2006/table">
            <a:tbl>
              <a:tblPr>
                <a:tableStyleId>{5C22544A-7EE6-4342-B048-85BDC9FD1C3A}</a:tableStyleId>
              </a:tblPr>
              <a:tblGrid>
                <a:gridCol w="3416824">
                  <a:extLst>
                    <a:ext uri="{9D8B030D-6E8A-4147-A177-3AD203B41FA5}">
                      <a16:colId xmlns:a16="http://schemas.microsoft.com/office/drawing/2014/main" val="1612185270"/>
                    </a:ext>
                  </a:extLst>
                </a:gridCol>
                <a:gridCol w="3420140">
                  <a:extLst>
                    <a:ext uri="{9D8B030D-6E8A-4147-A177-3AD203B41FA5}">
                      <a16:colId xmlns:a16="http://schemas.microsoft.com/office/drawing/2014/main" val="1787628615"/>
                    </a:ext>
                  </a:extLst>
                </a:gridCol>
              </a:tblGrid>
              <a:tr h="446566">
                <a:tc gridSpan="2">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en-US" sz="2800" b="1" noProof="0" dirty="0">
                          <a:solidFill>
                            <a:schemeClr val="tx1"/>
                          </a:solidFill>
                        </a:rPr>
                        <a:t>Icebreaker, Exaggerated presentations</a:t>
                      </a:r>
                    </a:p>
                    <a:p>
                      <a:pPr marL="342900" marR="0" lvl="1" indent="0" algn="ctr" defTabSz="685800" rtl="0" eaLnBrk="1" fontAlgn="auto" latinLnBrk="0" hangingPunct="1">
                        <a:lnSpc>
                          <a:spcPct val="100000"/>
                        </a:lnSpc>
                        <a:spcBef>
                          <a:spcPts val="0"/>
                        </a:spcBef>
                        <a:spcAft>
                          <a:spcPts val="0"/>
                        </a:spcAft>
                        <a:buClrTx/>
                        <a:buSzTx/>
                        <a:buFontTx/>
                        <a:buNone/>
                        <a:tabLst/>
                        <a:defRPr/>
                      </a:pPr>
                      <a:r>
                        <a:rPr lang="en-US" sz="1100" b="1" noProof="0" dirty="0">
                          <a:solidFill>
                            <a:schemeClr val="tx1"/>
                          </a:solidFill>
                        </a:rPr>
                        <a:t>Get to know each other, discover new people!</a:t>
                      </a:r>
                      <a:endParaRPr lang="en-US" sz="1800" b="1" noProof="0" dirty="0">
                        <a:solidFill>
                          <a:schemeClr val="tx1"/>
                        </a:solidFill>
                      </a:endParaRPr>
                    </a:p>
                  </a:txBody>
                  <a:tcPr/>
                </a:tc>
                <a:tc hMerge="1">
                  <a:txBody>
                    <a:bodyPr/>
                    <a:lstStyle/>
                    <a:p>
                      <a:pPr marL="228600" indent="-228600">
                        <a:buAutoNum type="arabicPeriod"/>
                      </a:pPr>
                      <a:endParaRPr lang="fr-FR" sz="1000" dirty="0">
                        <a:solidFill>
                          <a:schemeClr val="tx1"/>
                        </a:solidFill>
                      </a:endParaRPr>
                    </a:p>
                  </a:txBody>
                  <a:tcPr/>
                </a:tc>
                <a:extLst>
                  <a:ext uri="{0D108BD9-81ED-4DB2-BD59-A6C34878D82A}">
                    <a16:rowId xmlns:a16="http://schemas.microsoft.com/office/drawing/2014/main" val="2564243360"/>
                  </a:ext>
                </a:extLst>
              </a:tr>
              <a:tr h="1259062">
                <a:tc>
                  <a:txBody>
                    <a:bodyPr/>
                    <a:lstStyle/>
                    <a:p>
                      <a:r>
                        <a:rPr lang="en-US" sz="1800" b="1" noProof="0" dirty="0">
                          <a:solidFill>
                            <a:schemeClr val="tx1"/>
                          </a:solidFill>
                        </a:rPr>
                        <a:t>#ExaggeratedPresentations</a:t>
                      </a:r>
                    </a:p>
                    <a:p>
                      <a:r>
                        <a:rPr lang="en-US" sz="1050" b="1" noProof="0" dirty="0">
                          <a:solidFill>
                            <a:schemeClr val="tx1"/>
                          </a:solidFill>
                        </a:rPr>
                        <a:t>#OpenSeriousGame</a:t>
                      </a:r>
                      <a:endParaRPr lang="en-US" sz="1050" noProof="0" dirty="0">
                        <a:solidFill>
                          <a:schemeClr val="tx1"/>
                        </a:solidFill>
                      </a:endParaRPr>
                    </a:p>
                    <a:p>
                      <a:pPr lvl="1"/>
                      <a:endParaRPr lang="en-US" sz="1000" noProof="0" dirty="0">
                        <a:solidFill>
                          <a:schemeClr val="tx1"/>
                        </a:solidFill>
                      </a:endParaRPr>
                    </a:p>
                    <a:p>
                      <a:pPr lvl="1"/>
                      <a:r>
                        <a:rPr lang="en-US" sz="1100" noProof="0" dirty="0">
                          <a:solidFill>
                            <a:schemeClr val="tx1"/>
                          </a:solidFill>
                        </a:rPr>
                        <a:t>The objective of this workshop is for you to get to know each other in a fun and non-intrusive way.
Presenting the other in an exaggerated way makes the exercise a little less formal, and the people met more memorable.</a:t>
                      </a:r>
                    </a:p>
                  </a:txBody>
                  <a:tcPr/>
                </a:tc>
                <a:tc>
                  <a:txBody>
                    <a:bodyPr/>
                    <a:lstStyle/>
                    <a:p>
                      <a:r>
                        <a:rPr lang="en-US" sz="1800" b="1" noProof="0" dirty="0">
                          <a:solidFill>
                            <a:schemeClr val="tx1"/>
                          </a:solidFill>
                        </a:rPr>
                        <a:t>Instructions</a:t>
                      </a:r>
                    </a:p>
                    <a:p>
                      <a:pPr marL="228600" indent="-228600">
                        <a:buAutoNum type="arabicPeriod"/>
                      </a:pPr>
                      <a:r>
                        <a:rPr lang="en-US" sz="1000" noProof="0" dirty="0">
                          <a:solidFill>
                            <a:schemeClr val="tx1"/>
                          </a:solidFill>
                        </a:rPr>
                        <a:t>Form pairs: Get together with someone you don't know.  (Timebox: .... Minutes )
Each introduces himself to the other, remember !! (Timebox: ... minutes each)
Then the two of you go meet another group (that you don't know).
Present your buddy to them in a POSITIVELY EXAGGERATED way! (see below).
After doing the exaggerated presentations, you are free to return to the "realistic" presentations.</a:t>
                      </a:r>
                    </a:p>
                  </a:txBody>
                  <a:tcPr/>
                </a:tc>
                <a:extLst>
                  <a:ext uri="{0D108BD9-81ED-4DB2-BD59-A6C34878D82A}">
                    <a16:rowId xmlns:a16="http://schemas.microsoft.com/office/drawing/2014/main" val="3829604468"/>
                  </a:ext>
                </a:extLst>
              </a:tr>
            </a:tbl>
          </a:graphicData>
        </a:graphic>
      </p:graphicFrame>
      <p:pic>
        <p:nvPicPr>
          <p:cNvPr id="1034" name="Picture 10" descr="RÃ©sultat de recherche d'images pour &quot;target icon png&quot;">
            <a:extLst>
              <a:ext uri="{FF2B5EF4-FFF2-40B4-BE49-F238E27FC236}">
                <a16:creationId xmlns:a16="http://schemas.microsoft.com/office/drawing/2014/main" id="{18144AE3-437E-4A12-B419-D1678A7546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731" y="1272493"/>
            <a:ext cx="335375" cy="3353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5" name="Tableau 64">
            <a:extLst>
              <a:ext uri="{FF2B5EF4-FFF2-40B4-BE49-F238E27FC236}">
                <a16:creationId xmlns:a16="http://schemas.microsoft.com/office/drawing/2014/main" id="{6F4E2D01-23EE-44EB-9710-A51ACD61922A}"/>
              </a:ext>
            </a:extLst>
          </p:cNvPr>
          <p:cNvGraphicFramePr>
            <a:graphicFrameLocks noGrp="1"/>
          </p:cNvGraphicFramePr>
          <p:nvPr>
            <p:extLst>
              <p:ext uri="{D42A27DB-BD31-4B8C-83A1-F6EECF244321}">
                <p14:modId xmlns:p14="http://schemas.microsoft.com/office/powerpoint/2010/main" val="2010326816"/>
              </p:ext>
            </p:extLst>
          </p:nvPr>
        </p:nvGraphicFramePr>
        <p:xfrm>
          <a:off x="0" y="8067573"/>
          <a:ext cx="6836964" cy="1843870"/>
        </p:xfrm>
        <a:graphic>
          <a:graphicData uri="http://schemas.openxmlformats.org/drawingml/2006/table">
            <a:tbl>
              <a:tblPr>
                <a:tableStyleId>{5C22544A-7EE6-4342-B048-85BDC9FD1C3A}</a:tableStyleId>
              </a:tblPr>
              <a:tblGrid>
                <a:gridCol w="3416824">
                  <a:extLst>
                    <a:ext uri="{9D8B030D-6E8A-4147-A177-3AD203B41FA5}">
                      <a16:colId xmlns:a16="http://schemas.microsoft.com/office/drawing/2014/main" val="1612185270"/>
                    </a:ext>
                  </a:extLst>
                </a:gridCol>
                <a:gridCol w="3420140">
                  <a:extLst>
                    <a:ext uri="{9D8B030D-6E8A-4147-A177-3AD203B41FA5}">
                      <a16:colId xmlns:a16="http://schemas.microsoft.com/office/drawing/2014/main" val="1787628615"/>
                    </a:ext>
                  </a:extLst>
                </a:gridCol>
              </a:tblGrid>
              <a:tr h="1843870">
                <a:tc>
                  <a:txBody>
                    <a:bodyPr/>
                    <a:lstStyle/>
                    <a:p>
                      <a:r>
                        <a:rPr lang="en-US" sz="1800" b="1" noProof="0" dirty="0">
                          <a:solidFill>
                            <a:schemeClr val="tx1"/>
                          </a:solidFill>
                        </a:rPr>
                        <a:t>Tips for introducing yourself</a:t>
                      </a:r>
                    </a:p>
                    <a:p>
                      <a:endParaRPr lang="en-US" sz="1000" b="1" noProof="0" dirty="0">
                        <a:solidFill>
                          <a:schemeClr val="tx1"/>
                        </a:solidFill>
                      </a:endParaRPr>
                    </a:p>
                    <a:p>
                      <a:pPr marL="228600" indent="-228600">
                        <a:buFont typeface="+mj-lt"/>
                        <a:buAutoNum type="arabicPeriod"/>
                      </a:pPr>
                      <a:r>
                        <a:rPr lang="en-US" sz="1000" b="0" noProof="0" dirty="0">
                          <a:solidFill>
                            <a:schemeClr val="tx1"/>
                          </a:solidFill>
                        </a:rPr>
                        <a:t>Don't force yourself to introduce yourself in a particular order or say things you're not comfortable with.
You can also present details of professional life ("I work in... "), personal ("I like... "), or even the moment ("I just arrived... »)
Feel free to talk about the past, present, wishes ("I would like"), tastes, future, etc.</a:t>
                      </a:r>
                      <a:endParaRPr lang="en-US" sz="1050" b="0" noProof="0" dirty="0">
                        <a:solidFill>
                          <a:schemeClr val="tx1"/>
                        </a:solidFill>
                      </a:endParaRPr>
                    </a:p>
                  </a:txBody>
                  <a:tcPr/>
                </a:tc>
                <a:tc>
                  <a:txBody>
                    <a:bodyPr/>
                    <a:lstStyle/>
                    <a:p>
                      <a:r>
                        <a:rPr lang="en-US" sz="1800" b="1" noProof="0" dirty="0">
                          <a:solidFill>
                            <a:schemeClr val="tx1"/>
                          </a:solidFill>
                        </a:rPr>
                        <a:t>Tips for presenting the other by exaggerating positively</a:t>
                      </a:r>
                    </a:p>
                    <a:p>
                      <a:endParaRPr lang="en-US" sz="1800" b="1" noProof="0" dirty="0">
                        <a:solidFill>
                          <a:schemeClr val="tx1"/>
                        </a:solidFill>
                      </a:endParaRPr>
                    </a:p>
                    <a:p>
                      <a:pPr marL="228600" indent="-228600">
                        <a:buAutoNum type="arabicPeriod"/>
                      </a:pPr>
                      <a:r>
                        <a:rPr lang="en-US" sz="1000" b="0" noProof="0" dirty="0">
                          <a:solidFill>
                            <a:schemeClr val="tx1"/>
                          </a:solidFill>
                        </a:rPr>
                        <a:t>Listen and memorize at least 2-3 details!
Imagine the extreme version of these details: "What if the person had dedicated his life to this detail, then..." »
Turn these details into very exaggerated and unrealistic compliments, enough to make it funny without getting </a:t>
                      </a:r>
                      <a:r>
                        <a:rPr lang="en-US" sz="1000" b="0" noProof="0" dirty="0" err="1">
                          <a:solidFill>
                            <a:schemeClr val="tx1"/>
                          </a:solidFill>
                        </a:rPr>
                        <a:t>embarassing</a:t>
                      </a:r>
                      <a:r>
                        <a:rPr lang="en-US" sz="1000" b="0" noProof="0" dirty="0">
                          <a:solidFill>
                            <a:schemeClr val="tx1"/>
                          </a:solidFill>
                        </a:rPr>
                        <a:t>.</a:t>
                      </a:r>
                      <a:endParaRPr lang="en-US" sz="400" b="0" noProof="0" dirty="0">
                        <a:solidFill>
                          <a:schemeClr val="tx1"/>
                        </a:solidFill>
                      </a:endParaRPr>
                    </a:p>
                  </a:txBody>
                  <a:tcPr/>
                </a:tc>
                <a:extLst>
                  <a:ext uri="{0D108BD9-81ED-4DB2-BD59-A6C34878D82A}">
                    <a16:rowId xmlns:a16="http://schemas.microsoft.com/office/drawing/2014/main" val="3829604468"/>
                  </a:ext>
                </a:extLst>
              </a:tr>
            </a:tbl>
          </a:graphicData>
        </a:graphic>
      </p:graphicFrame>
      <p:sp>
        <p:nvSpPr>
          <p:cNvPr id="2" name="Bulle narrative : ronde 1">
            <a:extLst>
              <a:ext uri="{FF2B5EF4-FFF2-40B4-BE49-F238E27FC236}">
                <a16:creationId xmlns:a16="http://schemas.microsoft.com/office/drawing/2014/main" id="{B59BDEF7-CF01-4E08-9AFB-246F8FF3FB45}"/>
              </a:ext>
            </a:extLst>
          </p:cNvPr>
          <p:cNvSpPr/>
          <p:nvPr/>
        </p:nvSpPr>
        <p:spPr>
          <a:xfrm>
            <a:off x="254892" y="2988272"/>
            <a:ext cx="3067983" cy="617292"/>
          </a:xfrm>
          <a:prstGeom prst="wedgeEllipseCallout">
            <a:avLst>
              <a:gd name="adj1" fmla="val -19095"/>
              <a:gd name="adj2" fmla="val 75723"/>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I'm Alice, I regularly swim, I have a dog and I work in digital marketing.</a:t>
            </a:r>
            <a:endParaRPr lang="fr-FR" sz="1100" dirty="0">
              <a:solidFill>
                <a:schemeClr val="tx1"/>
              </a:solidFill>
            </a:endParaRPr>
          </a:p>
        </p:txBody>
      </p:sp>
      <p:sp>
        <p:nvSpPr>
          <p:cNvPr id="3" name="Bulle narrative : rectangle à coins arrondis 2">
            <a:extLst>
              <a:ext uri="{FF2B5EF4-FFF2-40B4-BE49-F238E27FC236}">
                <a16:creationId xmlns:a16="http://schemas.microsoft.com/office/drawing/2014/main" id="{3771A55F-A671-410D-9AEA-AC201628BB86}"/>
              </a:ext>
            </a:extLst>
          </p:cNvPr>
          <p:cNvSpPr/>
          <p:nvPr/>
        </p:nvSpPr>
        <p:spPr>
          <a:xfrm>
            <a:off x="4050514" y="2932135"/>
            <a:ext cx="2591134" cy="557548"/>
          </a:xfrm>
          <a:prstGeom prst="wedgeRoundRectCallout">
            <a:avLst>
              <a:gd name="adj1" fmla="val 13942"/>
              <a:gd name="adj2" fmla="val 78031"/>
              <a:gd name="adj3" fmla="val 16667"/>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I'm Bob, I work in cybersecurity, I just came back from a trip to Greece, I love cooking.</a:t>
            </a:r>
            <a:endParaRPr lang="fr-FR" sz="1000" dirty="0">
              <a:solidFill>
                <a:schemeClr val="tx1"/>
              </a:solidFill>
            </a:endParaRPr>
          </a:p>
        </p:txBody>
      </p:sp>
      <p:sp>
        <p:nvSpPr>
          <p:cNvPr id="4" name="Rectangle 3">
            <a:extLst>
              <a:ext uri="{FF2B5EF4-FFF2-40B4-BE49-F238E27FC236}">
                <a16:creationId xmlns:a16="http://schemas.microsoft.com/office/drawing/2014/main" id="{DF943E18-9CBF-42EF-8190-3784D0861211}"/>
              </a:ext>
            </a:extLst>
          </p:cNvPr>
          <p:cNvSpPr/>
          <p:nvPr/>
        </p:nvSpPr>
        <p:spPr>
          <a:xfrm>
            <a:off x="155120" y="2673532"/>
            <a:ext cx="3200401" cy="21107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AAC39CEA-3A35-4C7D-8D24-C2A7865BD1C5}"/>
              </a:ext>
            </a:extLst>
          </p:cNvPr>
          <p:cNvSpPr/>
          <p:nvPr/>
        </p:nvSpPr>
        <p:spPr>
          <a:xfrm>
            <a:off x="3502481" y="2673532"/>
            <a:ext cx="3208563" cy="21107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E1AAC927-E5C0-45D8-9534-4187D25F510F}"/>
              </a:ext>
            </a:extLst>
          </p:cNvPr>
          <p:cNvSpPr/>
          <p:nvPr/>
        </p:nvSpPr>
        <p:spPr>
          <a:xfrm>
            <a:off x="155120" y="4912718"/>
            <a:ext cx="6555924" cy="80868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a:extLst>
              <a:ext uri="{FF2B5EF4-FFF2-40B4-BE49-F238E27FC236}">
                <a16:creationId xmlns:a16="http://schemas.microsoft.com/office/drawing/2014/main" id="{60688AC1-B983-470C-9636-1EF4C59CD075}"/>
              </a:ext>
            </a:extLst>
          </p:cNvPr>
          <p:cNvSpPr/>
          <p:nvPr/>
        </p:nvSpPr>
        <p:spPr>
          <a:xfrm>
            <a:off x="3502481" y="5843141"/>
            <a:ext cx="3208563" cy="21107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Bulle narrative : rectangle à coins arrondis 10">
            <a:extLst>
              <a:ext uri="{FF2B5EF4-FFF2-40B4-BE49-F238E27FC236}">
                <a16:creationId xmlns:a16="http://schemas.microsoft.com/office/drawing/2014/main" id="{015D0227-A44E-4565-874E-F5A56C15C814}"/>
              </a:ext>
            </a:extLst>
          </p:cNvPr>
          <p:cNvSpPr/>
          <p:nvPr/>
        </p:nvSpPr>
        <p:spPr>
          <a:xfrm>
            <a:off x="3825408" y="6191768"/>
            <a:ext cx="2831283" cy="490703"/>
          </a:xfrm>
          <a:prstGeom prst="wedgeRoundRectCallout">
            <a:avLst>
              <a:gd name="adj1" fmla="val 15184"/>
              <a:gd name="adj2" fmla="val 74729"/>
              <a:gd name="adj3" fmla="val 16667"/>
            </a:avLst>
          </a:prstGeom>
          <a:solidFill>
            <a:srgbClr val="FFFF0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rPr>
              <a:t>I present Alice, swimming champion, breeder of 101 Dalmatian dogs and former co-founder of Snapchat.</a:t>
            </a:r>
            <a:endParaRPr lang="fr-FR" sz="1050" dirty="0">
              <a:solidFill>
                <a:schemeClr val="tx1"/>
              </a:solidFill>
            </a:endParaRPr>
          </a:p>
        </p:txBody>
      </p:sp>
      <p:sp>
        <p:nvSpPr>
          <p:cNvPr id="12" name="Rectangle 11">
            <a:extLst>
              <a:ext uri="{FF2B5EF4-FFF2-40B4-BE49-F238E27FC236}">
                <a16:creationId xmlns:a16="http://schemas.microsoft.com/office/drawing/2014/main" id="{EA65C012-5779-4AD5-88F7-E79EF1202E81}"/>
              </a:ext>
            </a:extLst>
          </p:cNvPr>
          <p:cNvSpPr/>
          <p:nvPr/>
        </p:nvSpPr>
        <p:spPr>
          <a:xfrm>
            <a:off x="141299" y="5844373"/>
            <a:ext cx="2781961" cy="2028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A presents B in a positively exaggerated way</a:t>
            </a:r>
            <a:endParaRPr lang="fr-FR" sz="1000" dirty="0">
              <a:solidFill>
                <a:schemeClr val="tx1"/>
              </a:solidFill>
            </a:endParaRPr>
          </a:p>
        </p:txBody>
      </p:sp>
      <p:sp>
        <p:nvSpPr>
          <p:cNvPr id="13" name="Rectangle 12">
            <a:extLst>
              <a:ext uri="{FF2B5EF4-FFF2-40B4-BE49-F238E27FC236}">
                <a16:creationId xmlns:a16="http://schemas.microsoft.com/office/drawing/2014/main" id="{5780052D-FF21-4352-A720-4F47EA9F944D}"/>
              </a:ext>
            </a:extLst>
          </p:cNvPr>
          <p:cNvSpPr/>
          <p:nvPr/>
        </p:nvSpPr>
        <p:spPr>
          <a:xfrm>
            <a:off x="3502481" y="2673533"/>
            <a:ext cx="1877783" cy="195958"/>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US" sz="1000" dirty="0"/>
              <a:t>2: Classic presentation of B</a:t>
            </a:r>
            <a:endParaRPr lang="fr-FR" sz="1000" dirty="0"/>
          </a:p>
        </p:txBody>
      </p:sp>
      <p:sp>
        <p:nvSpPr>
          <p:cNvPr id="14" name="Rectangle 13">
            <a:extLst>
              <a:ext uri="{FF2B5EF4-FFF2-40B4-BE49-F238E27FC236}">
                <a16:creationId xmlns:a16="http://schemas.microsoft.com/office/drawing/2014/main" id="{3794C4B9-D5FE-48C3-894F-185DB302FEE7}"/>
              </a:ext>
            </a:extLst>
          </p:cNvPr>
          <p:cNvSpPr/>
          <p:nvPr/>
        </p:nvSpPr>
        <p:spPr>
          <a:xfrm>
            <a:off x="155120" y="2667682"/>
            <a:ext cx="1885951" cy="22261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US" sz="1000" dirty="0"/>
              <a:t>1: Classic presentation of A</a:t>
            </a:r>
            <a:endParaRPr lang="fr-FR" sz="1000" dirty="0"/>
          </a:p>
        </p:txBody>
      </p:sp>
      <p:sp>
        <p:nvSpPr>
          <p:cNvPr id="15" name="Rectangle 14">
            <a:extLst>
              <a:ext uri="{FF2B5EF4-FFF2-40B4-BE49-F238E27FC236}">
                <a16:creationId xmlns:a16="http://schemas.microsoft.com/office/drawing/2014/main" id="{007CB563-4032-460D-A4F7-FA54389EBE95}"/>
              </a:ext>
            </a:extLst>
          </p:cNvPr>
          <p:cNvSpPr/>
          <p:nvPr/>
        </p:nvSpPr>
        <p:spPr>
          <a:xfrm>
            <a:off x="3502481" y="5843142"/>
            <a:ext cx="2922812" cy="201042"/>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US" sz="1000" dirty="0"/>
              <a:t>B presents A in a positively exaggerated way</a:t>
            </a:r>
            <a:endParaRPr lang="fr-FR" sz="1000" dirty="0"/>
          </a:p>
        </p:txBody>
      </p:sp>
      <p:sp>
        <p:nvSpPr>
          <p:cNvPr id="26" name="Bulle narrative : ronde 25">
            <a:extLst>
              <a:ext uri="{FF2B5EF4-FFF2-40B4-BE49-F238E27FC236}">
                <a16:creationId xmlns:a16="http://schemas.microsoft.com/office/drawing/2014/main" id="{FD790C86-4FC7-4A45-969C-F86BCA9D79BC}"/>
              </a:ext>
            </a:extLst>
          </p:cNvPr>
          <p:cNvSpPr/>
          <p:nvPr/>
        </p:nvSpPr>
        <p:spPr>
          <a:xfrm>
            <a:off x="201309" y="6160943"/>
            <a:ext cx="3067983" cy="617292"/>
          </a:xfrm>
          <a:prstGeom prst="wedgeEllipseCallout">
            <a:avLst>
              <a:gd name="adj1" fmla="val -19095"/>
              <a:gd name="adj2" fmla="val 75723"/>
            </a:avLst>
          </a:prstGeom>
          <a:solidFill>
            <a:schemeClr val="accent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Meet Bob, a former MI-6 agent, archaeologist-adventurer and Michelin-starred chef in Paris.</a:t>
            </a:r>
            <a:endParaRPr lang="fr-FR" sz="1100" dirty="0">
              <a:solidFill>
                <a:schemeClr val="tx1"/>
              </a:solidFill>
            </a:endParaRPr>
          </a:p>
        </p:txBody>
      </p:sp>
      <p:pic>
        <p:nvPicPr>
          <p:cNvPr id="27" name="Image 26">
            <a:extLst>
              <a:ext uri="{FF2B5EF4-FFF2-40B4-BE49-F238E27FC236}">
                <a16:creationId xmlns:a16="http://schemas.microsoft.com/office/drawing/2014/main" id="{3AABC3B3-6B00-4778-A806-A6BFAFB50166}"/>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4651" t="53499" r="39621" b="23261"/>
          <a:stretch/>
        </p:blipFill>
        <p:spPr>
          <a:xfrm>
            <a:off x="1422609" y="5090128"/>
            <a:ext cx="415259" cy="613593"/>
          </a:xfrm>
          <a:prstGeom prst="rect">
            <a:avLst/>
          </a:prstGeom>
        </p:spPr>
      </p:pic>
      <p:sp>
        <p:nvSpPr>
          <p:cNvPr id="28" name="Rectangle 27">
            <a:extLst>
              <a:ext uri="{FF2B5EF4-FFF2-40B4-BE49-F238E27FC236}">
                <a16:creationId xmlns:a16="http://schemas.microsoft.com/office/drawing/2014/main" id="{02DE9631-24BB-4B18-BFAF-3446C9F84A37}"/>
              </a:ext>
            </a:extLst>
          </p:cNvPr>
          <p:cNvSpPr/>
          <p:nvPr/>
        </p:nvSpPr>
        <p:spPr>
          <a:xfrm>
            <a:off x="141299" y="5843141"/>
            <a:ext cx="3200401" cy="211073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9" name="Image 28">
            <a:extLst>
              <a:ext uri="{FF2B5EF4-FFF2-40B4-BE49-F238E27FC236}">
                <a16:creationId xmlns:a16="http://schemas.microsoft.com/office/drawing/2014/main" id="{71CF18F3-4C44-4210-AB76-570AE44584C7}"/>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41731" t="-856" r="42541" b="77616"/>
          <a:stretch/>
        </p:blipFill>
        <p:spPr>
          <a:xfrm flipH="1">
            <a:off x="1817157" y="5079383"/>
            <a:ext cx="485436" cy="635085"/>
          </a:xfrm>
          <a:prstGeom prst="rect">
            <a:avLst/>
          </a:prstGeom>
        </p:spPr>
      </p:pic>
      <p:sp>
        <p:nvSpPr>
          <p:cNvPr id="30" name="Rectangle 29">
            <a:extLst>
              <a:ext uri="{FF2B5EF4-FFF2-40B4-BE49-F238E27FC236}">
                <a16:creationId xmlns:a16="http://schemas.microsoft.com/office/drawing/2014/main" id="{64425133-C70B-491E-BA95-9B6CB05DD854}"/>
              </a:ext>
            </a:extLst>
          </p:cNvPr>
          <p:cNvSpPr/>
          <p:nvPr/>
        </p:nvSpPr>
        <p:spPr>
          <a:xfrm>
            <a:off x="151641" y="4912716"/>
            <a:ext cx="4289730" cy="20901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000" dirty="0">
                <a:solidFill>
                  <a:schemeClr val="tx1"/>
                </a:solidFill>
              </a:rPr>
              <a:t>A and B will meet another pair C and D who also just met </a:t>
            </a:r>
            <a:endParaRPr lang="fr-FR" sz="1000" dirty="0">
              <a:solidFill>
                <a:schemeClr val="tx1"/>
              </a:solidFill>
            </a:endParaRPr>
          </a:p>
        </p:txBody>
      </p:sp>
      <p:pic>
        <p:nvPicPr>
          <p:cNvPr id="31" name="Image 30">
            <a:extLst>
              <a:ext uri="{FF2B5EF4-FFF2-40B4-BE49-F238E27FC236}">
                <a16:creationId xmlns:a16="http://schemas.microsoft.com/office/drawing/2014/main" id="{96E5B87A-6148-48A6-BD57-BC1DED0CFF6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62689" t="3134" r="21583" b="73626"/>
          <a:stretch/>
        </p:blipFill>
        <p:spPr>
          <a:xfrm>
            <a:off x="3866988" y="5140845"/>
            <a:ext cx="391155" cy="577977"/>
          </a:xfrm>
          <a:prstGeom prst="rect">
            <a:avLst/>
          </a:prstGeom>
        </p:spPr>
      </p:pic>
      <p:pic>
        <p:nvPicPr>
          <p:cNvPr id="32" name="Image 31">
            <a:extLst>
              <a:ext uri="{FF2B5EF4-FFF2-40B4-BE49-F238E27FC236}">
                <a16:creationId xmlns:a16="http://schemas.microsoft.com/office/drawing/2014/main" id="{6D8A0F79-B4DA-4F12-9BEC-7861E95772CB}"/>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0482" t="-84" r="63790" b="76844"/>
          <a:stretch/>
        </p:blipFill>
        <p:spPr>
          <a:xfrm>
            <a:off x="4329763" y="5117580"/>
            <a:ext cx="391155" cy="577977"/>
          </a:xfrm>
          <a:prstGeom prst="rect">
            <a:avLst/>
          </a:prstGeom>
        </p:spPr>
      </p:pic>
      <p:sp>
        <p:nvSpPr>
          <p:cNvPr id="17" name="Flèche : droite 16">
            <a:extLst>
              <a:ext uri="{FF2B5EF4-FFF2-40B4-BE49-F238E27FC236}">
                <a16:creationId xmlns:a16="http://schemas.microsoft.com/office/drawing/2014/main" id="{292DE6D7-279E-406D-A39F-E3154E8931D4}"/>
              </a:ext>
            </a:extLst>
          </p:cNvPr>
          <p:cNvSpPr/>
          <p:nvPr/>
        </p:nvSpPr>
        <p:spPr>
          <a:xfrm>
            <a:off x="2302593" y="5306786"/>
            <a:ext cx="505740" cy="32119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4" name="Flèche : droite 33">
            <a:extLst>
              <a:ext uri="{FF2B5EF4-FFF2-40B4-BE49-F238E27FC236}">
                <a16:creationId xmlns:a16="http://schemas.microsoft.com/office/drawing/2014/main" id="{1D9481F9-65EF-49A9-A418-CA9F75E0FD14}"/>
              </a:ext>
            </a:extLst>
          </p:cNvPr>
          <p:cNvSpPr/>
          <p:nvPr/>
        </p:nvSpPr>
        <p:spPr>
          <a:xfrm flipH="1">
            <a:off x="3439518" y="5329540"/>
            <a:ext cx="441530" cy="28041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14" descr="Une image contenant texte, clipart&#10;&#10;Description générée automatiquement">
            <a:hlinkClick r:id="rId5"/>
            <a:extLst>
              <a:ext uri="{FF2B5EF4-FFF2-40B4-BE49-F238E27FC236}">
                <a16:creationId xmlns:a16="http://schemas.microsoft.com/office/drawing/2014/main" id="{BE299F68-973F-C3FE-B729-181787831DD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5889909" y="5378208"/>
            <a:ext cx="702332" cy="290620"/>
          </a:xfrm>
          <a:prstGeom prst="rect">
            <a:avLst/>
          </a:prstGeom>
        </p:spPr>
      </p:pic>
    </p:spTree>
    <p:extLst>
      <p:ext uri="{BB962C8B-B14F-4D97-AF65-F5344CB8AC3E}">
        <p14:creationId xmlns:p14="http://schemas.microsoft.com/office/powerpoint/2010/main" val="2923768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1176591156"/>
              </p:ext>
            </p:extLst>
          </p:nvPr>
        </p:nvGraphicFramePr>
        <p:xfrm>
          <a:off x="21036" y="14180"/>
          <a:ext cx="6836964" cy="6949440"/>
        </p:xfrm>
        <a:graphic>
          <a:graphicData uri="http://schemas.openxmlformats.org/drawingml/2006/table">
            <a:tbl>
              <a:tblPr>
                <a:tableStyleId>{5C22544A-7EE6-4342-B048-85BDC9FD1C3A}</a:tableStyleId>
              </a:tblPr>
              <a:tblGrid>
                <a:gridCol w="3395559">
                  <a:extLst>
                    <a:ext uri="{9D8B030D-6E8A-4147-A177-3AD203B41FA5}">
                      <a16:colId xmlns:a16="http://schemas.microsoft.com/office/drawing/2014/main" val="1612185270"/>
                    </a:ext>
                  </a:extLst>
                </a:gridCol>
                <a:gridCol w="3441405">
                  <a:extLst>
                    <a:ext uri="{9D8B030D-6E8A-4147-A177-3AD203B41FA5}">
                      <a16:colId xmlns:a16="http://schemas.microsoft.com/office/drawing/2014/main" val="1787628615"/>
                    </a:ext>
                  </a:extLst>
                </a:gridCol>
              </a:tblGrid>
              <a:tr h="311889">
                <a:tc gridSpan="2">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en-US" sz="2400" b="1" noProof="0" dirty="0">
                          <a:solidFill>
                            <a:schemeClr val="tx1"/>
                          </a:solidFill>
                        </a:rPr>
                        <a:t>Organizer’s guide #OpenSeriousGame</a:t>
                      </a:r>
                      <a:endParaRPr lang="en-US" sz="2400" noProof="0" dirty="0">
                        <a:solidFill>
                          <a:schemeClr val="tx1"/>
                        </a:solidFill>
                      </a:endParaRPr>
                    </a:p>
                  </a:txBody>
                  <a:tcPr/>
                </a:tc>
                <a:tc hMerge="1">
                  <a:txBody>
                    <a:bodyPr/>
                    <a:lstStyle/>
                    <a:p>
                      <a:pPr marL="228600" indent="-228600">
                        <a:buAutoNum type="arabicPeriod"/>
                      </a:pPr>
                      <a:endParaRPr lang="fr-FR" sz="1000" dirty="0">
                        <a:solidFill>
                          <a:schemeClr val="tx1"/>
                        </a:solidFill>
                      </a:endParaRPr>
                    </a:p>
                  </a:txBody>
                  <a:tcPr/>
                </a:tc>
                <a:extLst>
                  <a:ext uri="{0D108BD9-81ED-4DB2-BD59-A6C34878D82A}">
                    <a16:rowId xmlns:a16="http://schemas.microsoft.com/office/drawing/2014/main" val="3094241753"/>
                  </a:ext>
                </a:extLst>
              </a:tr>
              <a:tr h="945802">
                <a:tc>
                  <a:txBody>
                    <a:bodyPr/>
                    <a:lstStyle/>
                    <a:p>
                      <a:r>
                        <a:rPr lang="en-US" sz="2000" b="1" noProof="0" dirty="0">
                          <a:solidFill>
                            <a:schemeClr val="tx1"/>
                          </a:solidFill>
                        </a:rPr>
                        <a:t>Necessary equipment</a:t>
                      </a:r>
                      <a:endParaRPr lang="en-US" sz="1100" b="0" noProof="0" dirty="0">
                        <a:solidFill>
                          <a:schemeClr val="tx1"/>
                        </a:solidFill>
                      </a:endParaRPr>
                    </a:p>
                    <a:p>
                      <a:endParaRPr lang="en-US" sz="1050" noProof="0" dirty="0">
                        <a:solidFill>
                          <a:schemeClr val="tx1"/>
                        </a:solidFill>
                      </a:endParaRPr>
                    </a:p>
                    <a:p>
                      <a:endParaRPr lang="en-US" sz="1050" noProof="0" dirty="0">
                        <a:solidFill>
                          <a:schemeClr val="tx1"/>
                        </a:solidFill>
                      </a:endParaRPr>
                    </a:p>
                    <a:p>
                      <a:endParaRPr lang="en-US" sz="1050" noProof="0" dirty="0">
                        <a:solidFill>
                          <a:schemeClr val="tx1"/>
                        </a:solidFill>
                      </a:endParaRPr>
                    </a:p>
                    <a:p>
                      <a:endParaRPr lang="en-US" sz="1050" noProof="0" dirty="0">
                        <a:solidFill>
                          <a:schemeClr val="tx1"/>
                        </a:solidFill>
                      </a:endParaRPr>
                    </a:p>
                    <a:p>
                      <a:endParaRPr lang="en-US" sz="1050" noProof="0" dirty="0">
                        <a:solidFill>
                          <a:schemeClr val="tx1"/>
                        </a:solidFill>
                      </a:endParaRPr>
                    </a:p>
                    <a:p>
                      <a:endParaRPr lang="en-US" sz="1050" noProof="0" dirty="0">
                        <a:solidFill>
                          <a:schemeClr val="tx1"/>
                        </a:solidFill>
                      </a:endParaRPr>
                    </a:p>
                    <a:p>
                      <a:r>
                        <a:rPr lang="en-US" sz="1050" noProof="0" dirty="0">
                          <a:solidFill>
                            <a:schemeClr val="tx1"/>
                          </a:solidFill>
                        </a:rPr>
                        <a:t>No special equipment needed.</a:t>
                      </a:r>
                    </a:p>
                    <a:p>
                      <a:r>
                        <a:rPr lang="en-US" sz="1050" noProof="0" dirty="0">
                          <a:solidFill>
                            <a:schemeClr val="tx1"/>
                          </a:solidFill>
                        </a:rPr>
                        <a:t>
Recommendation: 
printing game sheets to distribute (if necessary)
A Gong / tool to interrupt the participants, while they are all speaking, to move from one phase to another</a:t>
                      </a:r>
                    </a:p>
                    <a:p>
                      <a:pPr marL="171450" indent="-171450">
                        <a:buFontTx/>
                        <a:buChar char="-"/>
                      </a:pPr>
                      <a:endParaRPr lang="en-US" sz="1050" noProof="0" dirty="0">
                        <a:solidFill>
                          <a:schemeClr val="tx1"/>
                        </a:solidFill>
                      </a:endParaRPr>
                    </a:p>
                    <a:p>
                      <a:pPr marL="171450" indent="-171450">
                        <a:buFontTx/>
                        <a:buChar char="-"/>
                      </a:pPr>
                      <a:endParaRPr lang="en-US" sz="1050" noProof="0" dirty="0">
                        <a:solidFill>
                          <a:schemeClr val="tx1"/>
                        </a:solidFill>
                      </a:endParaRPr>
                    </a:p>
                    <a:p>
                      <a:endParaRPr lang="en-US" sz="1050" noProof="0" dirty="0">
                        <a:solidFill>
                          <a:schemeClr val="tx1"/>
                        </a:solidFill>
                      </a:endParaRPr>
                    </a:p>
                  </a:txBody>
                  <a:tcPr/>
                </a:tc>
                <a:tc>
                  <a:txBody>
                    <a:bodyPr/>
                    <a:lstStyle/>
                    <a:p>
                      <a:r>
                        <a:rPr lang="en-US" sz="2000" b="1" noProof="0" dirty="0">
                          <a:solidFill>
                            <a:schemeClr val="tx1"/>
                          </a:solidFill>
                        </a:rPr>
                        <a:t>Ideal audience</a:t>
                      </a:r>
                      <a:endParaRPr lang="en-US" sz="1100" b="0" noProof="0" dirty="0">
                        <a:solidFill>
                          <a:schemeClr val="tx1"/>
                        </a:solidFill>
                      </a:endParaRPr>
                    </a:p>
                    <a:p>
                      <a:endParaRPr lang="en-US" sz="1100" b="0" noProof="0" dirty="0">
                        <a:solidFill>
                          <a:schemeClr val="tx1"/>
                        </a:solidFill>
                      </a:endParaRPr>
                    </a:p>
                    <a:p>
                      <a:endParaRPr lang="en-US" sz="1100" b="0" noProof="0" dirty="0">
                        <a:solidFill>
                          <a:schemeClr val="tx1"/>
                        </a:solidFill>
                      </a:endParaRPr>
                    </a:p>
                    <a:p>
                      <a:endParaRPr lang="en-US" sz="1100" b="0" noProof="0" dirty="0">
                        <a:solidFill>
                          <a:schemeClr val="tx1"/>
                        </a:solidFill>
                      </a:endParaRPr>
                    </a:p>
                    <a:p>
                      <a:endParaRPr lang="en-US" sz="1100" b="0" noProof="0" dirty="0">
                        <a:solidFill>
                          <a:schemeClr val="tx1"/>
                        </a:solidFill>
                      </a:endParaRPr>
                    </a:p>
                    <a:p>
                      <a:r>
                        <a:rPr lang="en-US" sz="1100" b="0" noProof="0" dirty="0">
                          <a:solidFill>
                            <a:schemeClr val="tx1"/>
                          </a:solidFill>
                        </a:rPr>
                        <a:t>Group size: 4 min, no max.
No prerequisites</a:t>
                      </a:r>
                    </a:p>
                    <a:p>
                      <a:pPr marL="171450" indent="-171450">
                        <a:buFont typeface="Arial" panose="020B0604020202020204" pitchFamily="34" charset="0"/>
                        <a:buChar char="•"/>
                      </a:pPr>
                      <a:endParaRPr lang="en-US" sz="1050" b="0" noProof="0" dirty="0">
                        <a:solidFill>
                          <a:schemeClr val="tx1"/>
                        </a:solidFill>
                      </a:endParaRPr>
                    </a:p>
                    <a:p>
                      <a:pPr marL="0" indent="0">
                        <a:buFont typeface="Arial" panose="020B0604020202020204" pitchFamily="34" charset="0"/>
                        <a:buNone/>
                      </a:pPr>
                      <a:r>
                        <a:rPr lang="en-US" sz="1050" b="0" noProof="0" dirty="0">
                          <a:solidFill>
                            <a:schemeClr val="tx1"/>
                          </a:solidFill>
                        </a:rPr>
                        <a:t>This game can be played on audiences such as: </a:t>
                      </a:r>
                    </a:p>
                    <a:p>
                      <a:pPr marL="171450" indent="-171450">
                        <a:buFont typeface="Arial" panose="020B0604020202020204" pitchFamily="34" charset="0"/>
                        <a:buChar char="•"/>
                      </a:pPr>
                      <a:r>
                        <a:rPr lang="en-US" sz="1050" b="0" noProof="0" dirty="0">
                          <a:solidFill>
                            <a:schemeClr val="tx1"/>
                          </a:solidFill>
                        </a:rPr>
                        <a:t>Teams that know each other professionally but not personally
Members of the same program who do not know each other professionally or personally
Members of a collective (association, group, family, ...) who do not all know each other
Members of a conference / meetup who arrive in dribs and drabs, waiting for the actual start of the event</a:t>
                      </a:r>
                      <a:endParaRPr lang="en-US" sz="1000" b="0" noProof="0" dirty="0">
                        <a:solidFill>
                          <a:schemeClr val="tx1"/>
                        </a:solidFill>
                      </a:endParaRPr>
                    </a:p>
                  </a:txBody>
                  <a:tcPr/>
                </a:tc>
                <a:extLst>
                  <a:ext uri="{0D108BD9-81ED-4DB2-BD59-A6C34878D82A}">
                    <a16:rowId xmlns:a16="http://schemas.microsoft.com/office/drawing/2014/main" val="3829604468"/>
                  </a:ext>
                </a:extLst>
              </a:tr>
              <a:tr h="869173">
                <a:tc>
                  <a:txBody>
                    <a:bodyPr/>
                    <a:lstStyle/>
                    <a:p>
                      <a:r>
                        <a:rPr lang="en-US" sz="2000" b="1" noProof="0" dirty="0">
                          <a:solidFill>
                            <a:schemeClr val="tx1"/>
                          </a:solidFill>
                        </a:rPr>
                        <a:t>Game pitch</a:t>
                      </a:r>
                    </a:p>
                    <a:p>
                      <a:r>
                        <a:rPr lang="en-US" sz="1100" b="1" noProof="0" dirty="0">
                          <a:solidFill>
                            <a:schemeClr val="tx1"/>
                          </a:solidFill>
                        </a:rPr>
                        <a:t>To be copied in invitations</a:t>
                      </a:r>
                    </a:p>
                    <a:p>
                      <a:endParaRPr lang="en-US" sz="1100" b="1" noProof="0" dirty="0">
                        <a:solidFill>
                          <a:schemeClr val="tx1"/>
                        </a:solidFill>
                      </a:endParaRPr>
                    </a:p>
                    <a:p>
                      <a:endParaRPr lang="en-US" sz="1100" b="1" noProof="0" dirty="0">
                        <a:solidFill>
                          <a:schemeClr val="tx1"/>
                        </a:solidFill>
                      </a:endParaRPr>
                    </a:p>
                    <a:p>
                      <a:endParaRPr lang="en-US" sz="1100" b="1" noProof="0" dirty="0">
                        <a:solidFill>
                          <a:schemeClr val="tx1"/>
                        </a:solidFill>
                      </a:endParaRPr>
                    </a:p>
                    <a:p>
                      <a:endParaRPr lang="en-US" sz="1100" b="1" noProof="0" dirty="0">
                        <a:solidFill>
                          <a:schemeClr val="tx1"/>
                        </a:solidFill>
                      </a:endParaRPr>
                    </a:p>
                    <a:p>
                      <a:endParaRPr lang="en-US" sz="1100" b="1" noProof="0" dirty="0">
                        <a:solidFill>
                          <a:schemeClr val="tx1"/>
                        </a:solidFill>
                      </a:endParaRPr>
                    </a:p>
                    <a:p>
                      <a:endParaRPr lang="en-US" sz="1100" noProof="0" dirty="0">
                        <a:solidFill>
                          <a:schemeClr val="tx1"/>
                        </a:solidFill>
                      </a:endParaRPr>
                    </a:p>
                    <a:p>
                      <a:pPr lvl="1"/>
                      <a:endParaRPr lang="en-US" sz="1050" noProof="0" dirty="0">
                        <a:solidFill>
                          <a:schemeClr val="tx1"/>
                        </a:solidFill>
                      </a:endParaRPr>
                    </a:p>
                    <a:p>
                      <a:pPr lvl="1"/>
                      <a:r>
                        <a:rPr lang="en-US" sz="1050" noProof="0" dirty="0">
                          <a:solidFill>
                            <a:schemeClr val="tx1"/>
                          </a:solidFill>
                        </a:rPr>
                        <a:t>You are all from the same group, you are moving in the same direction, but sometimes without really knowing each other. </a:t>
                      </a:r>
                    </a:p>
                    <a:p>
                      <a:pPr lvl="1"/>
                      <a:r>
                        <a:rPr lang="en-US" sz="1050" noProof="0" dirty="0">
                          <a:solidFill>
                            <a:schemeClr val="tx1"/>
                          </a:solidFill>
                        </a:rPr>
                        <a:t>
It's more enjoyable to discover your human environment, and it's even more so when it's done in a way that is both respectful and funny!</a:t>
                      </a:r>
                    </a:p>
                    <a:p>
                      <a:pPr lvl="1"/>
                      <a:r>
                        <a:rPr lang="en-US" sz="1050" noProof="0" dirty="0">
                          <a:solidFill>
                            <a:schemeClr val="tx1"/>
                          </a:solidFill>
                        </a:rPr>
                        <a:t>
In this short team-building session (20 minutes max), you will discover each other with a small presentation exercise in small groups.</a:t>
                      </a:r>
                    </a:p>
                  </a:txBody>
                  <a:tcPr/>
                </a:tc>
                <a:tc>
                  <a:txBody>
                    <a:bodyPr/>
                    <a:lstStyle/>
                    <a:p>
                      <a:r>
                        <a:rPr lang="en-US" sz="2000" b="1" noProof="0" dirty="0">
                          <a:solidFill>
                            <a:schemeClr val="tx1"/>
                          </a:solidFill>
                        </a:rPr>
                        <a:t>Operational objective</a:t>
                      </a:r>
                      <a:endParaRPr lang="en-US" sz="1100" b="1" noProof="0" dirty="0">
                        <a:solidFill>
                          <a:schemeClr val="tx1"/>
                        </a:solidFill>
                      </a:endParaRPr>
                    </a:p>
                    <a:p>
                      <a:endParaRPr lang="en-US" sz="1100" b="1" noProof="0" dirty="0">
                        <a:solidFill>
                          <a:schemeClr val="tx1"/>
                        </a:solidFill>
                      </a:endParaRPr>
                    </a:p>
                    <a:p>
                      <a:endParaRPr lang="en-US" sz="1100" b="1" noProof="0" dirty="0">
                        <a:solidFill>
                          <a:schemeClr val="tx1"/>
                        </a:solidFill>
                      </a:endParaRPr>
                    </a:p>
                    <a:p>
                      <a:endParaRPr lang="en-US" sz="1100" b="1" noProof="0" dirty="0">
                        <a:solidFill>
                          <a:schemeClr val="tx1"/>
                        </a:solidFill>
                      </a:endParaRPr>
                    </a:p>
                    <a:p>
                      <a:endParaRPr lang="en-US" sz="1100" b="1" noProof="0" dirty="0">
                        <a:solidFill>
                          <a:schemeClr val="tx1"/>
                        </a:solidFill>
                      </a:endParaRPr>
                    </a:p>
                    <a:p>
                      <a:endParaRPr lang="en-US" sz="1100" b="1" noProof="0" dirty="0">
                        <a:solidFill>
                          <a:schemeClr val="tx1"/>
                        </a:solidFill>
                      </a:endParaRPr>
                    </a:p>
                    <a:p>
                      <a:endParaRPr lang="en-US" sz="1100" noProof="0" dirty="0">
                        <a:solidFill>
                          <a:schemeClr val="tx1"/>
                        </a:solidFill>
                      </a:endParaRPr>
                    </a:p>
                    <a:p>
                      <a:endParaRPr lang="en-US" sz="1100" noProof="0" dirty="0">
                        <a:solidFill>
                          <a:schemeClr val="tx1"/>
                        </a:solidFill>
                      </a:endParaRPr>
                    </a:p>
                    <a:p>
                      <a:pPr lvl="1"/>
                      <a:endParaRPr lang="en-US" sz="1050" noProof="0" dirty="0">
                        <a:solidFill>
                          <a:schemeClr val="tx1"/>
                        </a:solidFill>
                      </a:endParaRPr>
                    </a:p>
                    <a:p>
                      <a:pPr lvl="1"/>
                      <a:r>
                        <a:rPr lang="en-US" sz="1050" noProof="0" dirty="0">
                          <a:solidFill>
                            <a:schemeClr val="tx1"/>
                          </a:solidFill>
                        </a:rPr>
                        <a:t>The objective of this workshop is to invite members of a group that do not know each other (or little) to get to know each other in a fun and interactive way.</a:t>
                      </a:r>
                    </a:p>
                    <a:p>
                      <a:pPr lvl="1"/>
                      <a:r>
                        <a:rPr lang="en-US" sz="1050" noProof="0" dirty="0">
                          <a:solidFill>
                            <a:schemeClr val="tx1"/>
                          </a:solidFill>
                        </a:rPr>
                        <a:t>
This workshop creates a sense of familiarity without intrusion (everyone reveals what is appropriate for them to reveal).</a:t>
                      </a:r>
                    </a:p>
                    <a:p>
                      <a:pPr lvl="1"/>
                      <a:r>
                        <a:rPr lang="en-US" sz="1050" noProof="0" dirty="0">
                          <a:solidFill>
                            <a:schemeClr val="tx1"/>
                          </a:solidFill>
                        </a:rPr>
                        <a:t>
It can be used to decompartmentalize historically divided groups into affinity subgroups. It also makes it possible to forge links beyond (professional) habits.</a:t>
                      </a:r>
                      <a:endParaRPr lang="en-US" sz="1400" noProof="0" dirty="0"/>
                    </a:p>
                  </a:txBody>
                  <a:tcPr/>
                </a:tc>
                <a:extLst>
                  <a:ext uri="{0D108BD9-81ED-4DB2-BD59-A6C34878D82A}">
                    <a16:rowId xmlns:a16="http://schemas.microsoft.com/office/drawing/2014/main" val="2644249841"/>
                  </a:ext>
                </a:extLst>
              </a:tr>
            </a:tbl>
          </a:graphicData>
        </a:graphic>
      </p:graphicFrame>
      <p:pic>
        <p:nvPicPr>
          <p:cNvPr id="3" name="Image 2">
            <a:extLst>
              <a:ext uri="{FF2B5EF4-FFF2-40B4-BE49-F238E27FC236}">
                <a16:creationId xmlns:a16="http://schemas.microsoft.com/office/drawing/2014/main" id="{643B72A5-D25B-4E09-B319-5EF47FF6EE54}"/>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26021" y="849085"/>
            <a:ext cx="971550" cy="971550"/>
          </a:xfrm>
          <a:prstGeom prst="rect">
            <a:avLst/>
          </a:prstGeom>
        </p:spPr>
      </p:pic>
      <p:pic>
        <p:nvPicPr>
          <p:cNvPr id="6" name="Graphique 5" descr="Imprimante">
            <a:extLst>
              <a:ext uri="{FF2B5EF4-FFF2-40B4-BE49-F238E27FC236}">
                <a16:creationId xmlns:a16="http://schemas.microsoft.com/office/drawing/2014/main" id="{26C108D2-3E9F-4F82-A3E9-18EBB5E3A88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0679" y="1052512"/>
            <a:ext cx="282348" cy="282348"/>
          </a:xfrm>
          <a:prstGeom prst="rect">
            <a:avLst/>
          </a:prstGeom>
        </p:spPr>
      </p:pic>
      <p:pic>
        <p:nvPicPr>
          <p:cNvPr id="9" name="Graphique 8" descr="Groupe de personnes">
            <a:extLst>
              <a:ext uri="{FF2B5EF4-FFF2-40B4-BE49-F238E27FC236}">
                <a16:creationId xmlns:a16="http://schemas.microsoft.com/office/drawing/2014/main" id="{F87E1E93-6897-4125-80DF-01CAFE63F12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455074" y="708590"/>
            <a:ext cx="576943" cy="576943"/>
          </a:xfrm>
          <a:prstGeom prst="rect">
            <a:avLst/>
          </a:prstGeom>
        </p:spPr>
      </p:pic>
      <p:pic>
        <p:nvPicPr>
          <p:cNvPr id="13" name="Graphique 12" descr="Connecté">
            <a:extLst>
              <a:ext uri="{FF2B5EF4-FFF2-40B4-BE49-F238E27FC236}">
                <a16:creationId xmlns:a16="http://schemas.microsoft.com/office/drawing/2014/main" id="{594CD649-38BA-4C0C-B45B-E8CF7229C65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574817" y="3415211"/>
            <a:ext cx="914400" cy="914400"/>
          </a:xfrm>
          <a:prstGeom prst="rect">
            <a:avLst/>
          </a:prstGeom>
        </p:spPr>
      </p:pic>
      <p:pic>
        <p:nvPicPr>
          <p:cNvPr id="15" name="Graphique 14" descr="Gong">
            <a:extLst>
              <a:ext uri="{FF2B5EF4-FFF2-40B4-BE49-F238E27FC236}">
                <a16:creationId xmlns:a16="http://schemas.microsoft.com/office/drawing/2014/main" id="{DB1688B7-FFCB-4173-B97E-AFC9A8E2EC0D}"/>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268640" y="997062"/>
            <a:ext cx="576943" cy="576943"/>
          </a:xfrm>
          <a:prstGeom prst="rect">
            <a:avLst/>
          </a:prstGeom>
        </p:spPr>
      </p:pic>
      <p:pic>
        <p:nvPicPr>
          <p:cNvPr id="2" name="Image 14" descr="Une image contenant texte, clipart&#10;&#10;Description générée automatiquement">
            <a:hlinkClick r:id="rId12"/>
            <a:extLst>
              <a:ext uri="{FF2B5EF4-FFF2-40B4-BE49-F238E27FC236}">
                <a16:creationId xmlns:a16="http://schemas.microsoft.com/office/drawing/2014/main" id="{C61BC7E9-4B94-8098-83F5-6114E6BFD333}"/>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5042186" y="9170323"/>
            <a:ext cx="1743619" cy="721497"/>
          </a:xfrm>
          <a:prstGeom prst="rect">
            <a:avLst/>
          </a:prstGeom>
        </p:spPr>
      </p:pic>
    </p:spTree>
    <p:extLst>
      <p:ext uri="{BB962C8B-B14F-4D97-AF65-F5344CB8AC3E}">
        <p14:creationId xmlns:p14="http://schemas.microsoft.com/office/powerpoint/2010/main" val="496148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3584260327"/>
              </p:ext>
            </p:extLst>
          </p:nvPr>
        </p:nvGraphicFramePr>
        <p:xfrm>
          <a:off x="21036" y="14180"/>
          <a:ext cx="6836964" cy="7178040"/>
        </p:xfrm>
        <a:graphic>
          <a:graphicData uri="http://schemas.openxmlformats.org/drawingml/2006/table">
            <a:tbl>
              <a:tblPr>
                <a:tableStyleId>{5C22544A-7EE6-4342-B048-85BDC9FD1C3A}</a:tableStyleId>
              </a:tblPr>
              <a:tblGrid>
                <a:gridCol w="3445178">
                  <a:extLst>
                    <a:ext uri="{9D8B030D-6E8A-4147-A177-3AD203B41FA5}">
                      <a16:colId xmlns:a16="http://schemas.microsoft.com/office/drawing/2014/main" val="1612185270"/>
                    </a:ext>
                  </a:extLst>
                </a:gridCol>
                <a:gridCol w="3391786">
                  <a:extLst>
                    <a:ext uri="{9D8B030D-6E8A-4147-A177-3AD203B41FA5}">
                      <a16:colId xmlns:a16="http://schemas.microsoft.com/office/drawing/2014/main" val="1787628615"/>
                    </a:ext>
                  </a:extLst>
                </a:gridCol>
              </a:tblGrid>
              <a:tr h="311889">
                <a:tc gridSpan="2">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en-US" sz="2400" b="1" noProof="0" dirty="0">
                          <a:solidFill>
                            <a:schemeClr val="tx1"/>
                          </a:solidFill>
                        </a:rPr>
                        <a:t>#OpenSeriousGame Facilitator's Guide</a:t>
                      </a:r>
                      <a:endParaRPr lang="en-US" sz="2400" noProof="0" dirty="0">
                        <a:solidFill>
                          <a:schemeClr val="tx1"/>
                        </a:solidFill>
                      </a:endParaRPr>
                    </a:p>
                  </a:txBody>
                  <a:tcPr/>
                </a:tc>
                <a:tc hMerge="1">
                  <a:txBody>
                    <a:bodyPr/>
                    <a:lstStyle/>
                    <a:p>
                      <a:pPr marL="228600" indent="-228600">
                        <a:buAutoNum type="arabicPeriod"/>
                      </a:pPr>
                      <a:endParaRPr lang="fr-FR" sz="1000" dirty="0">
                        <a:solidFill>
                          <a:schemeClr val="tx1"/>
                        </a:solidFill>
                      </a:endParaRPr>
                    </a:p>
                  </a:txBody>
                  <a:tcPr/>
                </a:tc>
                <a:extLst>
                  <a:ext uri="{0D108BD9-81ED-4DB2-BD59-A6C34878D82A}">
                    <a16:rowId xmlns:a16="http://schemas.microsoft.com/office/drawing/2014/main" val="3094241753"/>
                  </a:ext>
                </a:extLst>
              </a:tr>
              <a:tr h="945802">
                <a:tc>
                  <a:txBody>
                    <a:bodyPr/>
                    <a:lstStyle/>
                    <a:p>
                      <a:r>
                        <a:rPr lang="en-US" sz="2000" b="1" noProof="0" dirty="0">
                          <a:solidFill>
                            <a:schemeClr val="tx1"/>
                          </a:solidFill>
                        </a:rPr>
                        <a:t>Event</a:t>
                      </a:r>
                    </a:p>
                    <a:p>
                      <a:endParaRPr lang="en-US" sz="2000" b="1" noProof="0" dirty="0">
                        <a:solidFill>
                          <a:schemeClr val="tx1"/>
                        </a:solidFill>
                      </a:endParaRPr>
                    </a:p>
                    <a:p>
                      <a:pPr marL="228600" indent="-228600">
                        <a:buAutoNum type="arabicPeriod"/>
                      </a:pPr>
                      <a:r>
                        <a:rPr lang="en-US" sz="1050" noProof="0" dirty="0">
                          <a:solidFill>
                            <a:schemeClr val="tx1"/>
                          </a:solidFill>
                        </a:rPr>
                        <a:t>Participants pair up. 
Each member of the pair presents himself to the other at the level of openness (pro / personal) which is comfortable for him.
Each pair goes with other pairs (as much as possible, unknown). 
Each then presents the other person in an exaggerated way. 
Each group is now formed, it can take a group selfie</a:t>
                      </a:r>
                      <a:endParaRPr lang="en-US" sz="500" noProof="0" dirty="0">
                        <a:solidFill>
                          <a:schemeClr val="tx1"/>
                        </a:solidFill>
                      </a:endParaRPr>
                    </a:p>
                  </a:txBody>
                  <a:tcPr/>
                </a:tc>
                <a:tc>
                  <a:txBody>
                    <a:bodyPr/>
                    <a:lstStyle/>
                    <a:p>
                      <a:r>
                        <a:rPr lang="en-US" sz="2000" b="1" noProof="0" dirty="0" err="1">
                          <a:solidFill>
                            <a:schemeClr val="tx1"/>
                          </a:solidFill>
                        </a:rPr>
                        <a:t>Règles</a:t>
                      </a:r>
                      <a:r>
                        <a:rPr lang="en-US" sz="2000" b="1" noProof="0" dirty="0">
                          <a:solidFill>
                            <a:schemeClr val="tx1"/>
                          </a:solidFill>
                        </a:rPr>
                        <a:t> </a:t>
                      </a:r>
                    </a:p>
                    <a:p>
                      <a:endParaRPr lang="en-US" sz="2000" b="1" noProof="0" dirty="0">
                        <a:solidFill>
                          <a:schemeClr val="tx1"/>
                        </a:solidFill>
                      </a:endParaRPr>
                    </a:p>
                    <a:p>
                      <a:endParaRPr lang="en-US" sz="2000" b="1" noProof="0" dirty="0">
                        <a:solidFill>
                          <a:schemeClr val="tx1"/>
                        </a:solidFill>
                      </a:endParaRPr>
                    </a:p>
                    <a:p>
                      <a:pPr marL="228600" indent="-228600">
                        <a:buAutoNum type="arabicPeriod"/>
                      </a:pPr>
                      <a:r>
                        <a:rPr lang="en-US" sz="1050" noProof="0" dirty="0">
                          <a:solidFill>
                            <a:schemeClr val="tx1"/>
                          </a:solidFill>
                        </a:rPr>
                        <a:t>Introduce the principle of play and "positive exaggeration"
Everyone pairs with a person he / she does not know or as much as possible with the person he / she knows the least among the available.
Everyone opens to the level pro / personal which is comfortable for him/her. No one is forced to "expose" more.
If the number of participants is odd, one of the pairs ends up trinomial or one of the people who animates joins the game.
If the number of participants does not allow groupings of 4, we allow groups of 5-6, but no more. 
Exaggeration must be POSITIVE (do not insult people)
Participants must accept (and therefore be aware) that they will be overly presented to each other.</a:t>
                      </a:r>
                    </a:p>
                  </a:txBody>
                  <a:tcPr/>
                </a:tc>
                <a:extLst>
                  <a:ext uri="{0D108BD9-81ED-4DB2-BD59-A6C34878D82A}">
                    <a16:rowId xmlns:a16="http://schemas.microsoft.com/office/drawing/2014/main" val="3829604468"/>
                  </a:ext>
                </a:extLst>
              </a:tr>
              <a:tr h="869173">
                <a:tc>
                  <a:txBody>
                    <a:bodyPr/>
                    <a:lstStyle/>
                    <a:p>
                      <a:r>
                        <a:rPr lang="en-US" sz="2000" b="1" noProof="0" dirty="0">
                          <a:solidFill>
                            <a:schemeClr val="tx1"/>
                          </a:solidFill>
                        </a:rPr>
                        <a:t>Beforehand</a:t>
                      </a:r>
                    </a:p>
                    <a:p>
                      <a:endParaRPr lang="en-US" sz="2000" b="1" noProof="0" dirty="0">
                        <a:solidFill>
                          <a:schemeClr val="tx1"/>
                        </a:solidFill>
                      </a:endParaRPr>
                    </a:p>
                    <a:p>
                      <a:pPr marL="228600" indent="-228600">
                        <a:buAutoNum type="arabicPeriod"/>
                      </a:pPr>
                      <a:r>
                        <a:rPr lang="en-US" sz="1050" noProof="0" dirty="0">
                          <a:solidFill>
                            <a:schemeClr val="tx1"/>
                          </a:solidFill>
                        </a:rPr>
                        <a:t>Print game sheets if necessary (this allows you to "distribute instructions")
Make sure you have a gong/tool loud enough to ask all participants (who are speaking at the same time) to move from one phase to the next</a:t>
                      </a:r>
                    </a:p>
                  </a:txBody>
                  <a:tcPr/>
                </a:tc>
                <a:tc>
                  <a:txBody>
                    <a:bodyPr/>
                    <a:lstStyle/>
                    <a:p>
                      <a:r>
                        <a:rPr lang="en-US" sz="2000" b="1" noProof="0" dirty="0">
                          <a:solidFill>
                            <a:schemeClr val="tx1"/>
                          </a:solidFill>
                        </a:rPr>
                        <a:t>Animation tips</a:t>
                      </a:r>
                    </a:p>
                    <a:p>
                      <a:endParaRPr lang="en-US" sz="2000" b="1" noProof="0" dirty="0">
                        <a:solidFill>
                          <a:schemeClr val="tx1"/>
                        </a:solidFill>
                      </a:endParaRPr>
                    </a:p>
                    <a:p>
                      <a:pPr marL="228600" indent="-228600">
                        <a:buAutoNum type="arabicPeriod"/>
                      </a:pPr>
                      <a:r>
                        <a:rPr lang="en-US" sz="1050" noProof="0" dirty="0">
                          <a:solidFill>
                            <a:schemeClr val="tx1"/>
                          </a:solidFill>
                        </a:rPr>
                        <a:t>Invite the less shy of each pair to start
We advocate "making people comfortable" rather than "making presentations even funnier." 
It is important to ensure the benevolence of the presentations and verify the acceptance of the exercise by the participants.
Invite participants to be sensitive to the comfort of their buddies, and that everyone respects the limits of embarrassment of others for a good inclusion. Avoid forcing.
Too bad if the presentations are not very exaggerated, or if the first presentations reveal little. The exercise is already a first step.
Be careful to timebox the "presentation" parts.</a:t>
                      </a:r>
                    </a:p>
                    <a:p>
                      <a:endParaRPr lang="en-US" sz="1400" noProof="0" dirty="0"/>
                    </a:p>
                  </a:txBody>
                  <a:tcPr/>
                </a:tc>
                <a:extLst>
                  <a:ext uri="{0D108BD9-81ED-4DB2-BD59-A6C34878D82A}">
                    <a16:rowId xmlns:a16="http://schemas.microsoft.com/office/drawing/2014/main" val="2644249841"/>
                  </a:ext>
                </a:extLst>
              </a:tr>
            </a:tbl>
          </a:graphicData>
        </a:graphic>
      </p:graphicFrame>
      <p:pic>
        <p:nvPicPr>
          <p:cNvPr id="2" name="Image 14" descr="Une image contenant texte, clipart&#10;&#10;Description générée automatiquement">
            <a:hlinkClick r:id="rId2"/>
            <a:extLst>
              <a:ext uri="{FF2B5EF4-FFF2-40B4-BE49-F238E27FC236}">
                <a16:creationId xmlns:a16="http://schemas.microsoft.com/office/drawing/2014/main" id="{6A1F4585-29F7-661F-68B7-411810B9570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042186" y="9170323"/>
            <a:ext cx="1743619" cy="721497"/>
          </a:xfrm>
          <a:prstGeom prst="rect">
            <a:avLst/>
          </a:prstGeom>
        </p:spPr>
      </p:pic>
    </p:spTree>
    <p:extLst>
      <p:ext uri="{BB962C8B-B14F-4D97-AF65-F5344CB8AC3E}">
        <p14:creationId xmlns:p14="http://schemas.microsoft.com/office/powerpoint/2010/main" val="20479948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au 6">
            <a:extLst>
              <a:ext uri="{FF2B5EF4-FFF2-40B4-BE49-F238E27FC236}">
                <a16:creationId xmlns:a16="http://schemas.microsoft.com/office/drawing/2014/main" id="{8F54CC7A-2683-4D5C-BC2E-362AA3F06638}"/>
              </a:ext>
            </a:extLst>
          </p:cNvPr>
          <p:cNvGraphicFramePr>
            <a:graphicFrameLocks noGrp="1"/>
          </p:cNvGraphicFramePr>
          <p:nvPr>
            <p:extLst>
              <p:ext uri="{D42A27DB-BD31-4B8C-83A1-F6EECF244321}">
                <p14:modId xmlns:p14="http://schemas.microsoft.com/office/powerpoint/2010/main" val="1853012605"/>
              </p:ext>
            </p:extLst>
          </p:nvPr>
        </p:nvGraphicFramePr>
        <p:xfrm>
          <a:off x="21036" y="14180"/>
          <a:ext cx="6836964" cy="3810000"/>
        </p:xfrm>
        <a:graphic>
          <a:graphicData uri="http://schemas.openxmlformats.org/drawingml/2006/table">
            <a:tbl>
              <a:tblPr>
                <a:tableStyleId>{5C22544A-7EE6-4342-B048-85BDC9FD1C3A}</a:tableStyleId>
              </a:tblPr>
              <a:tblGrid>
                <a:gridCol w="3445178">
                  <a:extLst>
                    <a:ext uri="{9D8B030D-6E8A-4147-A177-3AD203B41FA5}">
                      <a16:colId xmlns:a16="http://schemas.microsoft.com/office/drawing/2014/main" val="1612185270"/>
                    </a:ext>
                  </a:extLst>
                </a:gridCol>
                <a:gridCol w="3391786">
                  <a:extLst>
                    <a:ext uri="{9D8B030D-6E8A-4147-A177-3AD203B41FA5}">
                      <a16:colId xmlns:a16="http://schemas.microsoft.com/office/drawing/2014/main" val="1787628615"/>
                    </a:ext>
                  </a:extLst>
                </a:gridCol>
              </a:tblGrid>
              <a:tr h="311889">
                <a:tc gridSpan="2">
                  <a:txBody>
                    <a:bodyPr/>
                    <a:lstStyle/>
                    <a:p>
                      <a:pPr marL="342900" marR="0" lvl="1" indent="0" algn="ctr" defTabSz="685800" rtl="0" eaLnBrk="1" fontAlgn="auto" latinLnBrk="0" hangingPunct="1">
                        <a:lnSpc>
                          <a:spcPct val="100000"/>
                        </a:lnSpc>
                        <a:spcBef>
                          <a:spcPts val="0"/>
                        </a:spcBef>
                        <a:spcAft>
                          <a:spcPts val="0"/>
                        </a:spcAft>
                        <a:buClrTx/>
                        <a:buSzTx/>
                        <a:buFontTx/>
                        <a:buNone/>
                        <a:tabLst/>
                        <a:defRPr/>
                      </a:pPr>
                      <a:r>
                        <a:rPr lang="en-US" sz="2000" b="1" noProof="0" dirty="0">
                          <a:solidFill>
                            <a:schemeClr val="tx1"/>
                          </a:solidFill>
                        </a:rPr>
                        <a:t>#OpenSeriousGame Creator's Guide</a:t>
                      </a:r>
                      <a:endParaRPr lang="en-US" sz="2000" noProof="0" dirty="0">
                        <a:solidFill>
                          <a:schemeClr val="tx1"/>
                        </a:solidFill>
                      </a:endParaRPr>
                    </a:p>
                  </a:txBody>
                  <a:tcPr/>
                </a:tc>
                <a:tc hMerge="1">
                  <a:txBody>
                    <a:bodyPr/>
                    <a:lstStyle/>
                    <a:p>
                      <a:pPr marL="228600" indent="-228600">
                        <a:buAutoNum type="arabicPeriod"/>
                      </a:pPr>
                      <a:endParaRPr lang="fr-FR" sz="1000" dirty="0">
                        <a:solidFill>
                          <a:schemeClr val="tx1"/>
                        </a:solidFill>
                      </a:endParaRPr>
                    </a:p>
                  </a:txBody>
                  <a:tcPr/>
                </a:tc>
                <a:extLst>
                  <a:ext uri="{0D108BD9-81ED-4DB2-BD59-A6C34878D82A}">
                    <a16:rowId xmlns:a16="http://schemas.microsoft.com/office/drawing/2014/main" val="3094241753"/>
                  </a:ext>
                </a:extLst>
              </a:tr>
              <a:tr h="945802">
                <a:tc>
                  <a:txBody>
                    <a:bodyPr/>
                    <a:lstStyle/>
                    <a:p>
                      <a:r>
                        <a:rPr lang="en-US" sz="2000" b="1" noProof="0" dirty="0">
                          <a:solidFill>
                            <a:schemeClr val="tx1"/>
                          </a:solidFill>
                        </a:rPr>
                        <a:t>Principles used in this session</a:t>
                      </a:r>
                      <a:endParaRPr lang="en-US" sz="1050" noProof="0" dirty="0">
                        <a:solidFill>
                          <a:schemeClr val="tx1"/>
                        </a:solidFill>
                      </a:endParaRPr>
                    </a:p>
                    <a:p>
                      <a:pPr marL="228600" indent="-228600">
                        <a:buAutoNum type="arabicPeriod"/>
                      </a:pPr>
                      <a:r>
                        <a:rPr lang="en-US" sz="1050" noProof="0" dirty="0">
                          <a:solidFill>
                            <a:schemeClr val="tx1"/>
                          </a:solidFill>
                        </a:rPr>
                        <a:t>The invitation to introduce the other invites you to listen carefully while he/she introduces himself/herself. It is also a memorization exercise. 
Exaggeration invites humor
Exaggeration helps to remember meetings and facilitates exchanges (no fear of being "presented in an inauthentic way" because it is precisely intended as such).
Exaggerated presentations open up on classic presentations</a:t>
                      </a:r>
                    </a:p>
                    <a:p>
                      <a:pPr marL="228600" indent="-228600">
                        <a:buAutoNum type="arabicPeriod"/>
                      </a:pPr>
                      <a:endParaRPr lang="en-US" sz="500" noProof="0" dirty="0">
                        <a:solidFill>
                          <a:schemeClr val="tx1"/>
                        </a:solidFill>
                      </a:endParaRPr>
                    </a:p>
                  </a:txBody>
                  <a:tcPr/>
                </a:tc>
                <a:tc>
                  <a:txBody>
                    <a:bodyPr/>
                    <a:lstStyle/>
                    <a:p>
                      <a:r>
                        <a:rPr lang="en-US" sz="2000" b="1" noProof="0" dirty="0">
                          <a:solidFill>
                            <a:schemeClr val="tx1"/>
                          </a:solidFill>
                        </a:rPr>
                        <a:t>Variant ideas</a:t>
                      </a:r>
                    </a:p>
                    <a:p>
                      <a:pPr marL="171450" indent="-171450">
                        <a:buFontTx/>
                        <a:buChar char="-"/>
                      </a:pPr>
                      <a:r>
                        <a:rPr lang="en-US" sz="1000" b="0" noProof="0" dirty="0">
                          <a:solidFill>
                            <a:schemeClr val="tx1"/>
                          </a:solidFill>
                        </a:rPr>
                        <a:t>Instead of introducing the others to another pair, one can present one's first meeting in an exaggerated way to the whole group.
Elect the best exaggerated presentation
Note the exaggerated presentation by the person presented
Make larger groups
Presenting yourself directly in an exaggerated way (more difficult!)</a:t>
                      </a:r>
                      <a:endParaRPr lang="en-US" sz="2000" b="1" noProof="0" dirty="0">
                        <a:solidFill>
                          <a:schemeClr val="tx1"/>
                        </a:solidFill>
                      </a:endParaRPr>
                    </a:p>
                    <a:p>
                      <a:pPr marL="0" indent="0">
                        <a:buNone/>
                      </a:pPr>
                      <a:endParaRPr lang="en-US" sz="1050" noProof="0" dirty="0">
                        <a:solidFill>
                          <a:schemeClr val="tx1"/>
                        </a:solidFill>
                      </a:endParaRPr>
                    </a:p>
                  </a:txBody>
                  <a:tcPr/>
                </a:tc>
                <a:extLst>
                  <a:ext uri="{0D108BD9-81ED-4DB2-BD59-A6C34878D82A}">
                    <a16:rowId xmlns:a16="http://schemas.microsoft.com/office/drawing/2014/main" val="3829604468"/>
                  </a:ext>
                </a:extLst>
              </a:tr>
              <a:tr h="869173">
                <a:tc>
                  <a:txBody>
                    <a:bodyPr/>
                    <a:lstStyle/>
                    <a:p>
                      <a:r>
                        <a:rPr lang="en-US" sz="2000" b="1" noProof="0" dirty="0">
                          <a:solidFill>
                            <a:schemeClr val="tx1"/>
                          </a:solidFill>
                        </a:rPr>
                        <a:t>Creators of this version</a:t>
                      </a:r>
                    </a:p>
                    <a:p>
                      <a:r>
                        <a:rPr lang="en-US" sz="2000" b="1" noProof="0" dirty="0">
                          <a:solidFill>
                            <a:schemeClr val="tx1"/>
                          </a:solidFill>
                        </a:rPr>
                        <a:t>V1 </a:t>
                      </a:r>
                      <a:endParaRPr lang="en-US" sz="1050" b="1" noProof="0" dirty="0">
                        <a:solidFill>
                          <a:schemeClr val="tx1"/>
                        </a:solidFill>
                      </a:endParaRPr>
                    </a:p>
                    <a:p>
                      <a:r>
                        <a:rPr lang="en-US" sz="1050" b="0" noProof="0" dirty="0">
                          <a:solidFill>
                            <a:schemeClr val="tx1"/>
                          </a:solidFill>
                          <a:hlinkClick r:id="rId2"/>
                        </a:rPr>
                        <a:t>Romuald SENATHIRAJAH</a:t>
                      </a:r>
                      <a:endParaRPr lang="en-US" sz="1050" b="0" noProof="0" dirty="0">
                        <a:solidFill>
                          <a:schemeClr val="tx1"/>
                        </a:solidFill>
                      </a:endParaRPr>
                    </a:p>
                    <a:p>
                      <a:r>
                        <a:rPr lang="en-US" sz="1050" b="0" noProof="0" dirty="0">
                          <a:solidFill>
                            <a:schemeClr val="tx1"/>
                          </a:solidFill>
                        </a:rPr>
                        <a:t>Alexandre QUACH</a:t>
                      </a:r>
                    </a:p>
                    <a:p>
                      <a:endParaRPr lang="en-US" sz="1050" b="0" noProof="0" dirty="0">
                        <a:solidFill>
                          <a:schemeClr val="tx1"/>
                        </a:solidFill>
                      </a:endParaRPr>
                    </a:p>
                    <a:p>
                      <a:r>
                        <a:rPr lang="en-US" sz="1050" b="0" noProof="0">
                          <a:solidFill>
                            <a:schemeClr val="tx1"/>
                          </a:solidFill>
                        </a:rPr>
                        <a:t>Translation : KOMYU</a:t>
                      </a:r>
                      <a:endParaRPr lang="en-US" sz="2000" b="0" noProof="0" dirty="0">
                        <a:solidFill>
                          <a:schemeClr val="tx1"/>
                        </a:solidFill>
                      </a:endParaRPr>
                    </a:p>
                  </a:txBody>
                  <a:tcPr/>
                </a:tc>
                <a:tc>
                  <a:txBody>
                    <a:bodyPr/>
                    <a:lstStyle/>
                    <a:p>
                      <a:r>
                        <a:rPr lang="en-US" sz="2000" b="1" noProof="0" dirty="0">
                          <a:solidFill>
                            <a:schemeClr val="tx1"/>
                          </a:solidFill>
                        </a:rPr>
                        <a:t>Reuse licenses</a:t>
                      </a:r>
                    </a:p>
                    <a:p>
                      <a:r>
                        <a:rPr lang="en-US" sz="1200" b="0" noProof="0" dirty="0">
                          <a:solidFill>
                            <a:schemeClr val="tx1"/>
                          </a:solidFill>
                        </a:rPr>
                        <a:t>Creative Commons Attribution 3.0</a:t>
                      </a:r>
                    </a:p>
                    <a:p>
                      <a:r>
                        <a:rPr lang="en-US" sz="1200" noProof="0" dirty="0">
                          <a:hlinkClick r:id="rId3"/>
                        </a:rPr>
                        <a:t>https://creativecommons.org/licenses/by/3.0/fr/</a:t>
                      </a:r>
                      <a:endParaRPr lang="en-US" sz="1200" b="0" noProof="0" dirty="0">
                        <a:solidFill>
                          <a:schemeClr val="tx1"/>
                        </a:solidFill>
                      </a:endParaRPr>
                    </a:p>
                    <a:p>
                      <a:pPr marL="228600" indent="-228600">
                        <a:buAutoNum type="arabicPeriod"/>
                      </a:pPr>
                      <a:endParaRPr lang="en-US" sz="1050" noProof="0" dirty="0">
                        <a:solidFill>
                          <a:schemeClr val="tx1"/>
                        </a:solidFill>
                      </a:endParaRPr>
                    </a:p>
                    <a:p>
                      <a:endParaRPr lang="en-US" sz="1400" noProof="0" dirty="0"/>
                    </a:p>
                  </a:txBody>
                  <a:tcPr/>
                </a:tc>
                <a:extLst>
                  <a:ext uri="{0D108BD9-81ED-4DB2-BD59-A6C34878D82A}">
                    <a16:rowId xmlns:a16="http://schemas.microsoft.com/office/drawing/2014/main" val="2644249841"/>
                  </a:ext>
                </a:extLst>
              </a:tr>
            </a:tbl>
          </a:graphicData>
        </a:graphic>
      </p:graphicFrame>
      <p:pic>
        <p:nvPicPr>
          <p:cNvPr id="2" name="Image 14" descr="Une image contenant texte, clipart&#10;&#10;Description générée automatiquement">
            <a:hlinkClick r:id="rId4"/>
            <a:extLst>
              <a:ext uri="{FF2B5EF4-FFF2-40B4-BE49-F238E27FC236}">
                <a16:creationId xmlns:a16="http://schemas.microsoft.com/office/drawing/2014/main" id="{7D4F1560-5DFF-0C39-C2DB-97415B6EB4E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042186" y="9170323"/>
            <a:ext cx="1743619" cy="721497"/>
          </a:xfrm>
          <a:prstGeom prst="rect">
            <a:avLst/>
          </a:prstGeom>
        </p:spPr>
      </p:pic>
    </p:spTree>
    <p:extLst>
      <p:ext uri="{BB962C8B-B14F-4D97-AF65-F5344CB8AC3E}">
        <p14:creationId xmlns:p14="http://schemas.microsoft.com/office/powerpoint/2010/main" val="3532410684"/>
      </p:ext>
    </p:extLst>
  </p:cSld>
  <p:clrMapOvr>
    <a:masterClrMapping/>
  </p:clrMapOvr>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2112</TotalTime>
  <Words>1263</Words>
  <Application>Microsoft Office PowerPoint</Application>
  <PresentationFormat>A4 (21x29,7 cm)</PresentationFormat>
  <Paragraphs>95</Paragraphs>
  <Slides>4</Slides>
  <Notes>0</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4</vt:i4>
      </vt:variant>
    </vt:vector>
  </HeadingPairs>
  <TitlesOfParts>
    <vt:vector size="8" baseType="lpstr">
      <vt:lpstr>Arial</vt:lpstr>
      <vt:lpstr>Calibri</vt:lpstr>
      <vt:lpstr>Calibri Light</vt:lpstr>
      <vt:lpstr>Thème Office</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41</cp:revision>
  <cp:lastPrinted>2019-08-29T08:55:25Z</cp:lastPrinted>
  <dcterms:created xsi:type="dcterms:W3CDTF">2019-08-28T08:39:22Z</dcterms:created>
  <dcterms:modified xsi:type="dcterms:W3CDTF">2023-10-16T20:40:07Z</dcterms:modified>
</cp:coreProperties>
</file>