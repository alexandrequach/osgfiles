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603" r:id="rId3"/>
    <p:sldId id="362" r:id="rId4"/>
    <p:sldId id="363" r:id="rId5"/>
    <p:sldId id="366" r:id="rId6"/>
    <p:sldId id="704" r:id="rId7"/>
    <p:sldId id="260" r:id="rId8"/>
    <p:sldId id="268" r:id="rId9"/>
    <p:sldId id="261" r:id="rId10"/>
    <p:sldId id="320" r:id="rId11"/>
    <p:sldId id="702" r:id="rId12"/>
    <p:sldId id="332" r:id="rId13"/>
    <p:sldId id="271" r:id="rId14"/>
    <p:sldId id="280" r:id="rId15"/>
    <p:sldId id="281" r:id="rId16"/>
    <p:sldId id="284" r:id="rId17"/>
    <p:sldId id="306" r:id="rId18"/>
    <p:sldId id="286" r:id="rId19"/>
    <p:sldId id="686" r:id="rId20"/>
    <p:sldId id="273" r:id="rId21"/>
    <p:sldId id="283" r:id="rId22"/>
    <p:sldId id="305" r:id="rId23"/>
    <p:sldId id="687" r:id="rId24"/>
    <p:sldId id="272" r:id="rId25"/>
    <p:sldId id="651" r:id="rId26"/>
    <p:sldId id="329" r:id="rId27"/>
    <p:sldId id="688" r:id="rId28"/>
    <p:sldId id="274" r:id="rId29"/>
    <p:sldId id="652" r:id="rId30"/>
    <p:sldId id="292" r:id="rId31"/>
    <p:sldId id="327" r:id="rId32"/>
    <p:sldId id="689" r:id="rId33"/>
    <p:sldId id="275" r:id="rId34"/>
    <p:sldId id="695" r:id="rId35"/>
    <p:sldId id="293" r:id="rId36"/>
    <p:sldId id="705" r:id="rId37"/>
    <p:sldId id="690" r:id="rId38"/>
    <p:sldId id="296" r:id="rId39"/>
    <p:sldId id="298" r:id="rId40"/>
    <p:sldId id="653" r:id="rId41"/>
    <p:sldId id="692" r:id="rId42"/>
    <p:sldId id="277" r:id="rId43"/>
    <p:sldId id="674" r:id="rId44"/>
    <p:sldId id="693" r:id="rId45"/>
    <p:sldId id="694" r:id="rId46"/>
    <p:sldId id="357" r:id="rId47"/>
    <p:sldId id="351" r:id="rId48"/>
    <p:sldId id="706" r:id="rId49"/>
    <p:sldId id="333" r:id="rId50"/>
    <p:sldId id="257" r:id="rId51"/>
    <p:sldId id="344" r:id="rId5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1D92E4F-B91B-48A2-ACCF-A53B1F668BFF}">
          <p14:sldIdLst>
            <p14:sldId id="256"/>
            <p14:sldId id="603"/>
            <p14:sldId id="362"/>
            <p14:sldId id="363"/>
            <p14:sldId id="366"/>
          </p14:sldIdLst>
        </p14:section>
        <p14:section name="Déroulement général" id="{89387E86-5D6F-47E9-A3A3-88D08F34FF99}">
          <p14:sldIdLst>
            <p14:sldId id="704"/>
            <p14:sldId id="260"/>
            <p14:sldId id="268"/>
            <p14:sldId id="261"/>
            <p14:sldId id="320"/>
            <p14:sldId id="702"/>
          </p14:sldIdLst>
        </p14:section>
        <p14:section name="Atelier Look &amp; Feel" id="{74604300-3957-4FDA-90AC-E56ED80529B8}">
          <p14:sldIdLst>
            <p14:sldId id="332"/>
            <p14:sldId id="271"/>
            <p14:sldId id="280"/>
            <p14:sldId id="281"/>
            <p14:sldId id="284"/>
            <p14:sldId id="306"/>
            <p14:sldId id="286"/>
            <p14:sldId id="686"/>
          </p14:sldIdLst>
        </p14:section>
        <p14:section name="Atelier Pitch du membre" id="{0D0D8427-1312-4C70-95FA-26D96D8984F7}">
          <p14:sldIdLst>
            <p14:sldId id="273"/>
            <p14:sldId id="283"/>
            <p14:sldId id="305"/>
            <p14:sldId id="687"/>
          </p14:sldIdLst>
        </p14:section>
        <p14:section name="Atelier Histoire d'intégration" id="{9FB58475-1983-4EC6-9CBE-CA8C52CF927D}">
          <p14:sldIdLst>
            <p14:sldId id="272"/>
            <p14:sldId id="651"/>
            <p14:sldId id="329"/>
            <p14:sldId id="688"/>
          </p14:sldIdLst>
        </p14:section>
        <p14:section name="Atelier Flash Actus" id="{59ABD38B-AD1D-41CF-B41C-4A078047E1BE}">
          <p14:sldIdLst>
            <p14:sldId id="274"/>
            <p14:sldId id="652"/>
            <p14:sldId id="292"/>
            <p14:sldId id="327"/>
            <p14:sldId id="689"/>
          </p14:sldIdLst>
        </p14:section>
        <p14:section name="Atelier Apprentissages" id="{9305D897-55EC-4BFA-84DD-ED8237B578C8}">
          <p14:sldIdLst>
            <p14:sldId id="275"/>
            <p14:sldId id="695"/>
            <p14:sldId id="293"/>
            <p14:sldId id="705"/>
            <p14:sldId id="690"/>
          </p14:sldIdLst>
        </p14:section>
        <p14:section name="Atelier Espaces de travail" id="{53E2EDD9-F9B7-4D58-BFEE-4444385E770D}">
          <p14:sldIdLst>
            <p14:sldId id="296"/>
            <p14:sldId id="298"/>
            <p14:sldId id="653"/>
            <p14:sldId id="692"/>
          </p14:sldIdLst>
        </p14:section>
        <p14:section name="Atelier Evenements" id="{58A3B98D-ED53-4755-9208-E86B8B27AC82}">
          <p14:sldIdLst>
            <p14:sldId id="277"/>
            <p14:sldId id="674"/>
            <p14:sldId id="693"/>
            <p14:sldId id="694"/>
          </p14:sldIdLst>
        </p14:section>
        <p14:section name="Annexes" id="{243C35FC-8726-47AA-99D2-613D5EA183FF}">
          <p14:sldIdLst>
            <p14:sldId id="357"/>
            <p14:sldId id="351"/>
            <p14:sldId id="706"/>
            <p14:sldId id="333"/>
            <p14:sldId id="257"/>
            <p14:sldId id="3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3AA"/>
    <a:srgbClr val="ED7D31"/>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377641-EB52-4F4F-977B-A19B69688E7A}" v="1" dt="2022-09-25T09:15:32.90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54EF1E5D-2522-44C2-8784-56D497AD46B7}"/>
    <pc:docChg chg="sldOrd">
      <pc:chgData name="Alexandre Quach" userId="7bb690c8a6e028e4" providerId="LiveId" clId="{54EF1E5D-2522-44C2-8784-56D497AD46B7}" dt="2022-08-09T13:38:57.012" v="0" actId="20578"/>
      <pc:docMkLst>
        <pc:docMk/>
      </pc:docMkLst>
      <pc:sldChg chg="ord">
        <pc:chgData name="Alexandre Quach" userId="7bb690c8a6e028e4" providerId="LiveId" clId="{54EF1E5D-2522-44C2-8784-56D497AD46B7}" dt="2022-08-09T13:38:57.012" v="0" actId="20578"/>
        <pc:sldMkLst>
          <pc:docMk/>
          <pc:sldMk cId="276779200" sldId="261"/>
        </pc:sldMkLst>
      </pc:sldChg>
    </pc:docChg>
  </pc:docChgLst>
  <pc:docChgLst>
    <pc:chgData name="Alexandre Quach" userId="7bb690c8a6e028e4" providerId="LiveId" clId="{99377641-EB52-4F4F-977B-A19B69688E7A}"/>
    <pc:docChg chg="custSel addSld modSld">
      <pc:chgData name="Alexandre Quach" userId="7bb690c8a6e028e4" providerId="LiveId" clId="{99377641-EB52-4F4F-977B-A19B69688E7A}" dt="2022-09-25T09:15:33.076" v="1" actId="27636"/>
      <pc:docMkLst>
        <pc:docMk/>
      </pc:docMkLst>
      <pc:sldChg chg="modSp mod">
        <pc:chgData name="Alexandre Quach" userId="7bb690c8a6e028e4" providerId="LiveId" clId="{99377641-EB52-4F4F-977B-A19B69688E7A}" dt="2022-09-25T09:15:33.076" v="1" actId="27636"/>
        <pc:sldMkLst>
          <pc:docMk/>
          <pc:sldMk cId="3999996337" sldId="344"/>
        </pc:sldMkLst>
        <pc:spChg chg="mod">
          <ac:chgData name="Alexandre Quach" userId="7bb690c8a6e028e4" providerId="LiveId" clId="{99377641-EB52-4F4F-977B-A19B69688E7A}" dt="2022-09-25T09:15:33.076" v="1" actId="27636"/>
          <ac:spMkLst>
            <pc:docMk/>
            <pc:sldMk cId="3999996337" sldId="344"/>
            <ac:spMk id="17" creationId="{BE9D0944-F624-47BC-8375-70A6E8B4D2C3}"/>
          </ac:spMkLst>
        </pc:spChg>
      </pc:sldChg>
      <pc:sldChg chg="add">
        <pc:chgData name="Alexandre Quach" userId="7bb690c8a6e028e4" providerId="LiveId" clId="{99377641-EB52-4F4F-977B-A19B69688E7A}" dt="2022-09-25T09:15:32.899" v="0"/>
        <pc:sldMkLst>
          <pc:docMk/>
          <pc:sldMk cId="2719290333" sldId="603"/>
        </pc:sldMkLst>
      </pc:sldChg>
    </pc:docChg>
  </pc:docChgLst>
  <pc:docChgLst>
    <pc:chgData name="Alexandre Quach" userId="7bb690c8a6e028e4" providerId="LiveId" clId="{98B8BEB4-F277-4688-ACF1-E576CACF63F2}"/>
    <pc:docChg chg="undo custSel addSld delSld modSection">
      <pc:chgData name="Alexandre Quach" userId="7bb690c8a6e028e4" providerId="LiveId" clId="{98B8BEB4-F277-4688-ACF1-E576CACF63F2}" dt="2021-10-29T20:14:38.054" v="2" actId="47"/>
      <pc:docMkLst>
        <pc:docMk/>
      </pc:docMkLst>
      <pc:sldChg chg="add del">
        <pc:chgData name="Alexandre Quach" userId="7bb690c8a6e028e4" providerId="LiveId" clId="{98B8BEB4-F277-4688-ACF1-E576CACF63F2}" dt="2021-10-29T20:14:38.054" v="2" actId="47"/>
        <pc:sldMkLst>
          <pc:docMk/>
          <pc:sldMk cId="3060702704" sldId="7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25/09/2022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9740D21-A946-458E-B881-AA8FCAF40BAF}" type="slidenum">
              <a:rPr lang="fr-FR" smtClean="0"/>
              <a:t>16</a:t>
            </a:fld>
            <a:endParaRPr lang="fr-FR"/>
          </a:p>
        </p:txBody>
      </p:sp>
    </p:spTree>
    <p:extLst>
      <p:ext uri="{BB962C8B-B14F-4D97-AF65-F5344CB8AC3E}">
        <p14:creationId xmlns:p14="http://schemas.microsoft.com/office/powerpoint/2010/main" val="801239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9740D21-A946-458E-B881-AA8FCAF40BAF}" type="slidenum">
              <a:rPr lang="fr-FR" smtClean="0"/>
              <a:t>17</a:t>
            </a:fld>
            <a:endParaRPr lang="fr-FR"/>
          </a:p>
        </p:txBody>
      </p:sp>
    </p:spTree>
    <p:extLst>
      <p:ext uri="{BB962C8B-B14F-4D97-AF65-F5344CB8AC3E}">
        <p14:creationId xmlns:p14="http://schemas.microsoft.com/office/powerpoint/2010/main" val="2395822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9740D21-A946-458E-B881-AA8FCAF40BAF}" type="slidenum">
              <a:rPr lang="fr-FR" smtClean="0"/>
              <a:t>18</a:t>
            </a:fld>
            <a:endParaRPr lang="fr-FR"/>
          </a:p>
        </p:txBody>
      </p:sp>
    </p:spTree>
    <p:extLst>
      <p:ext uri="{BB962C8B-B14F-4D97-AF65-F5344CB8AC3E}">
        <p14:creationId xmlns:p14="http://schemas.microsoft.com/office/powerpoint/2010/main" val="2036969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9740D21-A946-458E-B881-AA8FCAF40BAF}" type="slidenum">
              <a:rPr lang="fr-FR" smtClean="0"/>
              <a:t>44</a:t>
            </a:fld>
            <a:endParaRPr lang="fr-FR"/>
          </a:p>
        </p:txBody>
      </p:sp>
    </p:spTree>
    <p:extLst>
      <p:ext uri="{BB962C8B-B14F-4D97-AF65-F5344CB8AC3E}">
        <p14:creationId xmlns:p14="http://schemas.microsoft.com/office/powerpoint/2010/main" val="1222557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25/09/2022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geobrava.wordpress.com/2015/12/08/global-networked-economy-exploring-the-vast-landscap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geobrava.wordpress.com/2015/12/08/global-networked-economy-exploring-the-vast-landscap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4.png"/><Relationship Id="rId3" Type="http://schemas.openxmlformats.org/officeDocument/2006/relationships/image" Target="../media/image13.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3.svg"/><Relationship Id="rId2" Type="http://schemas.openxmlformats.org/officeDocument/2006/relationships/image" Target="../media/image12.png"/><Relationship Id="rId16"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15.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35.svg"/><Relationship Id="rId4" Type="http://schemas.openxmlformats.org/officeDocument/2006/relationships/image" Target="../media/image14.png"/><Relationship Id="rId9" Type="http://schemas.openxmlformats.org/officeDocument/2006/relationships/image" Target="../media/image25.svg"/><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6.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45.png"/><Relationship Id="rId2" Type="http://schemas.openxmlformats.org/officeDocument/2006/relationships/image" Target="../media/image36.png"/><Relationship Id="rId16" Type="http://schemas.openxmlformats.org/officeDocument/2006/relationships/image" Target="../media/image49.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4.svg"/><Relationship Id="rId5" Type="http://schemas.openxmlformats.org/officeDocument/2006/relationships/image" Target="../media/image39.sv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8.png"/><Relationship Id="rId9" Type="http://schemas.microsoft.com/office/2007/relationships/hdphoto" Target="../media/hdphoto1.wdp"/><Relationship Id="rId14" Type="http://schemas.openxmlformats.org/officeDocument/2006/relationships/image" Target="../media/image47.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hyperlink" Target="https://www.deviantart.com/mexcraziness/art/Voltron-Future-AU-Allura-66596516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2.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54.png"/><Relationship Id="rId4" Type="http://schemas.openxmlformats.org/officeDocument/2006/relationships/image" Target="../media/image53.jpeg"/></Relationships>
</file>

<file path=ppt/slides/_rels/slide1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26" Type="http://schemas.openxmlformats.org/officeDocument/2006/relationships/image" Target="../media/image81.svg"/><Relationship Id="rId21" Type="http://schemas.openxmlformats.org/officeDocument/2006/relationships/image" Target="../media/image76.png"/><Relationship Id="rId34" Type="http://schemas.openxmlformats.org/officeDocument/2006/relationships/image" Target="../media/image89.svg"/><Relationship Id="rId42" Type="http://schemas.openxmlformats.org/officeDocument/2006/relationships/image" Target="../media/image97.svg"/><Relationship Id="rId47" Type="http://schemas.openxmlformats.org/officeDocument/2006/relationships/image" Target="../media/image102.png"/><Relationship Id="rId50" Type="http://schemas.openxmlformats.org/officeDocument/2006/relationships/image" Target="../media/image105.svg"/><Relationship Id="rId55" Type="http://schemas.openxmlformats.org/officeDocument/2006/relationships/image" Target="../media/image110.png"/><Relationship Id="rId63" Type="http://schemas.openxmlformats.org/officeDocument/2006/relationships/image" Target="../media/image118.png"/><Relationship Id="rId68" Type="http://schemas.openxmlformats.org/officeDocument/2006/relationships/image" Target="../media/image123.svg"/><Relationship Id="rId7" Type="http://schemas.openxmlformats.org/officeDocument/2006/relationships/image" Target="../media/image62.png"/><Relationship Id="rId2" Type="http://schemas.openxmlformats.org/officeDocument/2006/relationships/notesSlide" Target="../notesSlides/notesSlide3.xml"/><Relationship Id="rId16" Type="http://schemas.openxmlformats.org/officeDocument/2006/relationships/image" Target="../media/image71.svg"/><Relationship Id="rId29" Type="http://schemas.openxmlformats.org/officeDocument/2006/relationships/image" Target="../media/image84.png"/><Relationship Id="rId11" Type="http://schemas.openxmlformats.org/officeDocument/2006/relationships/image" Target="../media/image66.png"/><Relationship Id="rId24" Type="http://schemas.openxmlformats.org/officeDocument/2006/relationships/image" Target="../media/image79.svg"/><Relationship Id="rId32" Type="http://schemas.openxmlformats.org/officeDocument/2006/relationships/image" Target="../media/image87.svg"/><Relationship Id="rId37" Type="http://schemas.openxmlformats.org/officeDocument/2006/relationships/image" Target="../media/image92.png"/><Relationship Id="rId40" Type="http://schemas.openxmlformats.org/officeDocument/2006/relationships/image" Target="../media/image95.svg"/><Relationship Id="rId45" Type="http://schemas.openxmlformats.org/officeDocument/2006/relationships/image" Target="../media/image100.png"/><Relationship Id="rId53" Type="http://schemas.openxmlformats.org/officeDocument/2006/relationships/image" Target="../media/image108.png"/><Relationship Id="rId58" Type="http://schemas.openxmlformats.org/officeDocument/2006/relationships/image" Target="../media/image113.svg"/><Relationship Id="rId66" Type="http://schemas.openxmlformats.org/officeDocument/2006/relationships/image" Target="../media/image121.svg"/><Relationship Id="rId5" Type="http://schemas.openxmlformats.org/officeDocument/2006/relationships/image" Target="../media/image60.png"/><Relationship Id="rId61" Type="http://schemas.openxmlformats.org/officeDocument/2006/relationships/image" Target="../media/image116.png"/><Relationship Id="rId19" Type="http://schemas.openxmlformats.org/officeDocument/2006/relationships/image" Target="../media/image74.png"/><Relationship Id="rId14" Type="http://schemas.openxmlformats.org/officeDocument/2006/relationships/image" Target="../media/image69.svg"/><Relationship Id="rId22" Type="http://schemas.openxmlformats.org/officeDocument/2006/relationships/image" Target="../media/image77.svg"/><Relationship Id="rId27" Type="http://schemas.openxmlformats.org/officeDocument/2006/relationships/image" Target="../media/image82.png"/><Relationship Id="rId30" Type="http://schemas.openxmlformats.org/officeDocument/2006/relationships/image" Target="../media/image85.svg"/><Relationship Id="rId35" Type="http://schemas.openxmlformats.org/officeDocument/2006/relationships/image" Target="../media/image90.png"/><Relationship Id="rId43" Type="http://schemas.openxmlformats.org/officeDocument/2006/relationships/image" Target="../media/image98.png"/><Relationship Id="rId48" Type="http://schemas.openxmlformats.org/officeDocument/2006/relationships/image" Target="../media/image103.svg"/><Relationship Id="rId56" Type="http://schemas.openxmlformats.org/officeDocument/2006/relationships/image" Target="../media/image111.svg"/><Relationship Id="rId64" Type="http://schemas.openxmlformats.org/officeDocument/2006/relationships/image" Target="../media/image119.svg"/><Relationship Id="rId8" Type="http://schemas.openxmlformats.org/officeDocument/2006/relationships/image" Target="../media/image63.svg"/><Relationship Id="rId51" Type="http://schemas.openxmlformats.org/officeDocument/2006/relationships/image" Target="../media/image106.png"/><Relationship Id="rId3" Type="http://schemas.openxmlformats.org/officeDocument/2006/relationships/image" Target="../media/image58.png"/><Relationship Id="rId12" Type="http://schemas.openxmlformats.org/officeDocument/2006/relationships/image" Target="../media/image67.svg"/><Relationship Id="rId17" Type="http://schemas.openxmlformats.org/officeDocument/2006/relationships/image" Target="../media/image72.png"/><Relationship Id="rId25" Type="http://schemas.openxmlformats.org/officeDocument/2006/relationships/image" Target="../media/image80.png"/><Relationship Id="rId33" Type="http://schemas.openxmlformats.org/officeDocument/2006/relationships/image" Target="../media/image88.png"/><Relationship Id="rId38" Type="http://schemas.openxmlformats.org/officeDocument/2006/relationships/image" Target="../media/image93.svg"/><Relationship Id="rId46" Type="http://schemas.openxmlformats.org/officeDocument/2006/relationships/image" Target="../media/image101.svg"/><Relationship Id="rId59" Type="http://schemas.openxmlformats.org/officeDocument/2006/relationships/image" Target="../media/image114.png"/><Relationship Id="rId67" Type="http://schemas.openxmlformats.org/officeDocument/2006/relationships/image" Target="../media/image122.png"/><Relationship Id="rId20" Type="http://schemas.openxmlformats.org/officeDocument/2006/relationships/image" Target="../media/image75.svg"/><Relationship Id="rId41" Type="http://schemas.openxmlformats.org/officeDocument/2006/relationships/image" Target="../media/image96.png"/><Relationship Id="rId54" Type="http://schemas.openxmlformats.org/officeDocument/2006/relationships/image" Target="../media/image109.svg"/><Relationship Id="rId62" Type="http://schemas.openxmlformats.org/officeDocument/2006/relationships/image" Target="../media/image117.svg"/><Relationship Id="rId1" Type="http://schemas.openxmlformats.org/officeDocument/2006/relationships/slideLayout" Target="../slideLayouts/slideLayout2.xml"/><Relationship Id="rId6" Type="http://schemas.openxmlformats.org/officeDocument/2006/relationships/image" Target="../media/image61.svg"/><Relationship Id="rId15" Type="http://schemas.openxmlformats.org/officeDocument/2006/relationships/image" Target="../media/image70.png"/><Relationship Id="rId23" Type="http://schemas.openxmlformats.org/officeDocument/2006/relationships/image" Target="../media/image78.png"/><Relationship Id="rId28" Type="http://schemas.openxmlformats.org/officeDocument/2006/relationships/image" Target="../media/image83.svg"/><Relationship Id="rId36" Type="http://schemas.openxmlformats.org/officeDocument/2006/relationships/image" Target="../media/image91.svg"/><Relationship Id="rId49" Type="http://schemas.openxmlformats.org/officeDocument/2006/relationships/image" Target="../media/image104.png"/><Relationship Id="rId57" Type="http://schemas.openxmlformats.org/officeDocument/2006/relationships/image" Target="../media/image112.png"/><Relationship Id="rId10" Type="http://schemas.openxmlformats.org/officeDocument/2006/relationships/image" Target="../media/image65.svg"/><Relationship Id="rId31" Type="http://schemas.openxmlformats.org/officeDocument/2006/relationships/image" Target="../media/image86.png"/><Relationship Id="rId44" Type="http://schemas.openxmlformats.org/officeDocument/2006/relationships/image" Target="../media/image99.svg"/><Relationship Id="rId52" Type="http://schemas.openxmlformats.org/officeDocument/2006/relationships/image" Target="../media/image107.svg"/><Relationship Id="rId60" Type="http://schemas.openxmlformats.org/officeDocument/2006/relationships/image" Target="../media/image115.svg"/><Relationship Id="rId65" Type="http://schemas.openxmlformats.org/officeDocument/2006/relationships/image" Target="../media/image120.png"/><Relationship Id="rId4" Type="http://schemas.openxmlformats.org/officeDocument/2006/relationships/image" Target="../media/image59.svg"/><Relationship Id="rId9" Type="http://schemas.openxmlformats.org/officeDocument/2006/relationships/image" Target="../media/image64.png"/><Relationship Id="rId13" Type="http://schemas.openxmlformats.org/officeDocument/2006/relationships/image" Target="../media/image68.png"/><Relationship Id="rId18" Type="http://schemas.openxmlformats.org/officeDocument/2006/relationships/image" Target="../media/image73.svg"/><Relationship Id="rId39" Type="http://schemas.openxmlformats.org/officeDocument/2006/relationships/image" Target="../media/image9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pexels.com/photo/black-woman-professional-woman-1621250/" TargetMode="External"/><Relationship Id="rId7" Type="http://schemas.openxmlformats.org/officeDocument/2006/relationships/hyperlink" Target="https://medium.com/content-curation-official-guide/the-identikit-of-a-professional-content-curator-78b0087fe8fe" TargetMode="External"/><Relationship Id="rId2" Type="http://schemas.openxmlformats.org/officeDocument/2006/relationships/image" Target="../media/image124.jpeg"/><Relationship Id="rId1" Type="http://schemas.openxmlformats.org/officeDocument/2006/relationships/slideLayout" Target="../slideLayouts/slideLayout2.xml"/><Relationship Id="rId6" Type="http://schemas.openxmlformats.org/officeDocument/2006/relationships/image" Target="../media/image126.jpeg"/><Relationship Id="rId5" Type="http://schemas.openxmlformats.org/officeDocument/2006/relationships/hyperlink" Target="https://pxhere.com/de/photo/182659" TargetMode="External"/><Relationship Id="rId4" Type="http://schemas.openxmlformats.org/officeDocument/2006/relationships/image" Target="../media/image12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citizentruth.org/the-morning-show-with-jennifer-aniston-and-steve-carell-tackles-the-metoo-movement/" TargetMode="External"/><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citizentruth.org/the-morning-show-with-jennifer-aniston-and-steve-carell-tackles-the-metoo-movement/" TargetMode="External"/><Relationship Id="rId2" Type="http://schemas.openxmlformats.org/officeDocument/2006/relationships/image" Target="../media/image128.jpe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citizentruth.org/the-morning-show-with-jennifer-aniston-and-steve-carell-tackles-the-metoo-movement/" TargetMode="External"/><Relationship Id="rId2" Type="http://schemas.openxmlformats.org/officeDocument/2006/relationships/image" Target="../media/image128.jpe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image" Target="../media/image129.jpeg"/><Relationship Id="rId1" Type="http://schemas.openxmlformats.org/officeDocument/2006/relationships/slideLayout" Target="../slideLayouts/slideLayout2.xml"/><Relationship Id="rId6" Type="http://schemas.openxmlformats.org/officeDocument/2006/relationships/hyperlink" Target="https://tech-blog.lectra.com/article/783-graphiteam-ou-la-facilitation-graphique-lectra" TargetMode="External"/><Relationship Id="rId5" Type="http://schemas.openxmlformats.org/officeDocument/2006/relationships/image" Target="../media/image131.png"/><Relationship Id="rId4" Type="http://schemas.openxmlformats.org/officeDocument/2006/relationships/hyperlink" Target="https://nosmainsnues.com/facilitation-graphique/facilitation-graphique-prise-de-notes-visuelles.html"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apanaski.blogspot.com/p/sketchnoting-i-rysowanie.html" TargetMode="External"/><Relationship Id="rId2" Type="http://schemas.openxmlformats.org/officeDocument/2006/relationships/image" Target="../media/image132.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flickr.com/photos/daviding/40368698652" TargetMode="External"/><Relationship Id="rId2" Type="http://schemas.openxmlformats.org/officeDocument/2006/relationships/image" Target="../media/image133.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140.jpeg"/><Relationship Id="rId3" Type="http://schemas.openxmlformats.org/officeDocument/2006/relationships/image" Target="../media/image135.jpeg"/><Relationship Id="rId7" Type="http://schemas.openxmlformats.org/officeDocument/2006/relationships/image" Target="../media/image139.png"/><Relationship Id="rId2" Type="http://schemas.openxmlformats.org/officeDocument/2006/relationships/image" Target="../media/image134.jpeg"/><Relationship Id="rId1" Type="http://schemas.openxmlformats.org/officeDocument/2006/relationships/slideLayout" Target="../slideLayouts/slideLayout2.xml"/><Relationship Id="rId6" Type="http://schemas.openxmlformats.org/officeDocument/2006/relationships/image" Target="../media/image138.jpeg"/><Relationship Id="rId5" Type="http://schemas.openxmlformats.org/officeDocument/2006/relationships/image" Target="../media/image137.jpeg"/><Relationship Id="rId4" Type="http://schemas.openxmlformats.org/officeDocument/2006/relationships/image" Target="../media/image136.jpeg"/><Relationship Id="rId9" Type="http://schemas.openxmlformats.org/officeDocument/2006/relationships/image" Target="../media/image141.jpeg"/></Relationships>
</file>

<file path=ppt/slides/_rels/slide39.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bd.deviantart.com/art/Another-Anime-Beach-Background-255752679"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6.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45.png"/><Relationship Id="rId2" Type="http://schemas.openxmlformats.org/officeDocument/2006/relationships/image" Target="../media/image36.png"/><Relationship Id="rId16" Type="http://schemas.openxmlformats.org/officeDocument/2006/relationships/image" Target="../media/image49.sv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4.svg"/><Relationship Id="rId5" Type="http://schemas.openxmlformats.org/officeDocument/2006/relationships/image" Target="../media/image39.sv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8.png"/><Relationship Id="rId9" Type="http://schemas.microsoft.com/office/2007/relationships/hdphoto" Target="../media/hdphoto1.wdp"/><Relationship Id="rId14" Type="http://schemas.openxmlformats.org/officeDocument/2006/relationships/image" Target="../media/image47.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6.svg"/><Relationship Id="rId2" Type="http://schemas.openxmlformats.org/officeDocument/2006/relationships/image" Target="../media/image145.png"/><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148.svg"/><Relationship Id="rId4" Type="http://schemas.openxmlformats.org/officeDocument/2006/relationships/image" Target="../media/image1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941986"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 – Vanessa HELLEBUYCK, </a:t>
            </a:r>
          </a:p>
          <a:p>
            <a:pPr algn="r">
              <a:spcAft>
                <a:spcPts val="600"/>
              </a:spcAft>
            </a:pPr>
            <a:r>
              <a:rPr lang="en-US" sz="1800" b="1" dirty="0"/>
              <a:t>Alexandre QUACH</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2912" y="6409469"/>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9771" y="5180044"/>
            <a:ext cx="890885" cy="859442"/>
          </a:xfrm>
          <a:prstGeom prst="rect">
            <a:avLst/>
          </a:prstGeom>
        </p:spPr>
      </p:pic>
      <p:sp>
        <p:nvSpPr>
          <p:cNvPr id="19" name="Titre 1">
            <a:extLst>
              <a:ext uri="{FF2B5EF4-FFF2-40B4-BE49-F238E27FC236}">
                <a16:creationId xmlns:a16="http://schemas.microsoft.com/office/drawing/2014/main" id="{6BE1AD4D-196D-493D-AB97-B7FD94F6022E}"/>
              </a:ext>
            </a:extLst>
          </p:cNvPr>
          <p:cNvSpPr txBox="1">
            <a:spLocks/>
          </p:cNvSpPr>
          <p:nvPr/>
        </p:nvSpPr>
        <p:spPr>
          <a:xfrm>
            <a:off x="1485553" y="1651205"/>
            <a:ext cx="6668877" cy="17168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8000" b="1" i="1" dirty="0">
                <a:solidFill>
                  <a:srgbClr val="0683AA"/>
                </a:solidFill>
              </a:rPr>
              <a:t>Communauté</a:t>
            </a:r>
            <a:r>
              <a:rPr lang="fr-FR" sz="8000" b="1" i="1" dirty="0">
                <a:solidFill>
                  <a:srgbClr val="000000"/>
                </a:solidFill>
              </a:rPr>
              <a:t> </a:t>
            </a:r>
            <a:r>
              <a:rPr lang="fr-FR" sz="8000" b="1" i="1" dirty="0">
                <a:solidFill>
                  <a:srgbClr val="ED7D31"/>
                </a:solidFill>
              </a:rPr>
              <a:t>2050</a:t>
            </a:r>
          </a:p>
        </p:txBody>
      </p:sp>
      <p:sp>
        <p:nvSpPr>
          <p:cNvPr id="20" name="Titre 1">
            <a:extLst>
              <a:ext uri="{FF2B5EF4-FFF2-40B4-BE49-F238E27FC236}">
                <a16:creationId xmlns:a16="http://schemas.microsoft.com/office/drawing/2014/main" id="{0CEE02ED-35B4-449E-B2FF-0DBA73DA42EB}"/>
              </a:ext>
            </a:extLst>
          </p:cNvPr>
          <p:cNvSpPr txBox="1">
            <a:spLocks/>
          </p:cNvSpPr>
          <p:nvPr/>
        </p:nvSpPr>
        <p:spPr>
          <a:xfrm>
            <a:off x="2817531" y="4533333"/>
            <a:ext cx="4427296" cy="646711"/>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4000" dirty="0">
                <a:solidFill>
                  <a:srgbClr val="000000"/>
                </a:solidFill>
              </a:rPr>
              <a:t>Tisser du lien en </a:t>
            </a:r>
            <a:r>
              <a:rPr lang="fr-FR" sz="4000" dirty="0" err="1">
                <a:solidFill>
                  <a:srgbClr val="000000"/>
                </a:solidFill>
              </a:rPr>
              <a:t>co</a:t>
            </a:r>
            <a:r>
              <a:rPr lang="fr-FR" sz="4000" dirty="0">
                <a:solidFill>
                  <a:srgbClr val="000000"/>
                </a:solidFill>
              </a:rPr>
              <a:t>-imaginant un futur lointain</a:t>
            </a:r>
          </a:p>
        </p:txBody>
      </p:sp>
      <p:pic>
        <p:nvPicPr>
          <p:cNvPr id="3" name="Graphique 2" descr="Artista (femminile) avec un remplissage uni">
            <a:extLst>
              <a:ext uri="{FF2B5EF4-FFF2-40B4-BE49-F238E27FC236}">
                <a16:creationId xmlns:a16="http://schemas.microsoft.com/office/drawing/2014/main" id="{BDC6B726-7FAB-4633-B411-166659E35F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4106" y="3426402"/>
            <a:ext cx="1569146" cy="1569146"/>
          </a:xfrm>
          <a:prstGeom prst="rect">
            <a:avLst/>
          </a:prstGeom>
        </p:spPr>
      </p:pic>
      <p:pic>
        <p:nvPicPr>
          <p:cNvPr id="6" name="Graphique 5" descr="Astronauta (maschile) avec un remplissage uni">
            <a:extLst>
              <a:ext uri="{FF2B5EF4-FFF2-40B4-BE49-F238E27FC236}">
                <a16:creationId xmlns:a16="http://schemas.microsoft.com/office/drawing/2014/main" id="{F06BED59-842A-4F1E-996D-7EBC2780E28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45667" y="2609051"/>
            <a:ext cx="1497806" cy="1497806"/>
          </a:xfrm>
          <a:prstGeom prst="rect">
            <a:avLst/>
          </a:prstGeom>
        </p:spPr>
      </p:pic>
      <p:pic>
        <p:nvPicPr>
          <p:cNvPr id="8" name="Graphique 7" descr="Femme ouvrière du bâtiment avec un remplissage uni">
            <a:extLst>
              <a:ext uri="{FF2B5EF4-FFF2-40B4-BE49-F238E27FC236}">
                <a16:creationId xmlns:a16="http://schemas.microsoft.com/office/drawing/2014/main" id="{B1EF494E-1C7D-4CA6-8F2E-069FD504881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89997" y="3638720"/>
            <a:ext cx="1649568" cy="1649568"/>
          </a:xfrm>
          <a:prstGeom prst="rect">
            <a:avLst/>
          </a:prstGeom>
        </p:spPr>
      </p:pic>
      <p:sp>
        <p:nvSpPr>
          <p:cNvPr id="9" name="Phylactère : pensées 8">
            <a:extLst>
              <a:ext uri="{FF2B5EF4-FFF2-40B4-BE49-F238E27FC236}">
                <a16:creationId xmlns:a16="http://schemas.microsoft.com/office/drawing/2014/main" id="{8B94F9CE-0B05-49E3-8C1D-7F22BEACDFDD}"/>
              </a:ext>
            </a:extLst>
          </p:cNvPr>
          <p:cNvSpPr/>
          <p:nvPr/>
        </p:nvSpPr>
        <p:spPr>
          <a:xfrm>
            <a:off x="1147496" y="106472"/>
            <a:ext cx="7475517" cy="4210742"/>
          </a:xfrm>
          <a:prstGeom prst="cloudCallout">
            <a:avLst>
              <a:gd name="adj1" fmla="val 47396"/>
              <a:gd name="adj2" fmla="val 2823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lstStyle/>
          <a:p>
            <a:r>
              <a:rPr lang="fr-FR" dirty="0"/>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70000" lnSpcReduction="20000"/>
          </a:bodyPr>
          <a:lstStyle/>
          <a:p>
            <a:pPr marL="0" indent="0">
              <a:buNone/>
            </a:pPr>
            <a:r>
              <a:rPr lang="fr-FR" dirty="0"/>
              <a:t>#OpenSeriousCommunity est un ensemble de ressources dédiées à aider à animer, faire vivre, développer des communautés. </a:t>
            </a:r>
          </a:p>
          <a:p>
            <a:pPr marL="0" indent="0">
              <a:buNone/>
            </a:pPr>
            <a:r>
              <a:rPr lang="fr-FR" dirty="0"/>
              <a:t>Les communautés concernées par #OpenSeriousCommunity peuvent être tout autant du domaine de l’entreprise, que de celles des associations, des institutions ou privées. </a:t>
            </a:r>
          </a:p>
          <a:p>
            <a:pPr marL="0" indent="0">
              <a:buNone/>
            </a:pPr>
            <a:r>
              <a:rPr lang="fr-FR" dirty="0"/>
              <a:t>Les contenus #OpenSeriousCommunity suivent les attributs des contenus #OSG, c’est-à-dire qu’ils sont open source, et structurés pour favoriser un maximum l’appropriation du contenu à des fins de retransmission.</a:t>
            </a:r>
          </a:p>
          <a:p>
            <a:pPr marL="0" indent="0">
              <a:buNone/>
            </a:pPr>
            <a:r>
              <a:rPr lang="fr-FR" dirty="0"/>
              <a:t>Pour en savoir plus, rendez-vous sur </a:t>
            </a:r>
            <a:r>
              <a:rPr lang="fr-FR" dirty="0">
                <a:hlinkClick r:id="rId2"/>
              </a:rPr>
              <a:t>https://www.openseriousgames.org/OpenSeriousCommunity</a:t>
            </a:r>
            <a:endParaRPr lang="fr-FR" dirty="0"/>
          </a:p>
          <a:p>
            <a:pPr marL="0" indent="0">
              <a:buNone/>
            </a:pPr>
            <a:endParaRPr lang="fr-FR" dirty="0"/>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6094105" y="802955"/>
            <a:ext cx="4977976" cy="1454051"/>
          </a:xfrm>
        </p:spPr>
        <p:txBody>
          <a:bodyPr>
            <a:normAutofit/>
          </a:bodyPr>
          <a:lstStyle/>
          <a:p>
            <a:r>
              <a:rPr lang="fr-FR" dirty="0">
                <a:solidFill>
                  <a:srgbClr val="000000"/>
                </a:solidFill>
              </a:rPr>
              <a:t>Pitch</a:t>
            </a:r>
          </a:p>
        </p:txBody>
      </p:sp>
      <p:sp>
        <p:nvSpPr>
          <p:cNvPr id="21"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Image 7">
            <a:extLst>
              <a:ext uri="{FF2B5EF4-FFF2-40B4-BE49-F238E27FC236}">
                <a16:creationId xmlns:a16="http://schemas.microsoft.com/office/drawing/2014/main" id="{F1341DC4-C705-4DA1-906B-843028E13BB6}"/>
              </a:ext>
            </a:extLst>
          </p:cNvPr>
          <p:cNvPicPr>
            <a:picLocks noChangeAspect="1"/>
          </p:cNvPicPr>
          <p:nvPr/>
        </p:nvPicPr>
        <p:blipFill rotWithShape="1">
          <a:blip r:embed="rId3">
            <a:alphaModFix/>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2539" r="3927" b="2"/>
          <a:stretch/>
        </p:blipFill>
        <p:spPr>
          <a:xfrm>
            <a:off x="20" y="907231"/>
            <a:ext cx="4838021" cy="5063738"/>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0" indent="0">
              <a:buNone/>
            </a:pPr>
            <a:r>
              <a:rPr lang="fr-FR" sz="1100" dirty="0">
                <a:solidFill>
                  <a:srgbClr val="000000"/>
                </a:solidFill>
                <a:cs typeface="Calibri"/>
              </a:rPr>
              <a:t>« Comment emmener des personnes à imaginer le futur et à se projeter, sans avoir le poids de se projeter de manière trop réaliste ?»</a:t>
            </a:r>
          </a:p>
          <a:p>
            <a:pPr marL="0" indent="0">
              <a:buNone/>
            </a:pPr>
            <a:r>
              <a:rPr lang="fr-FR" sz="1100" dirty="0">
                <a:solidFill>
                  <a:srgbClr val="000000"/>
                </a:solidFill>
                <a:cs typeface="Calibri"/>
              </a:rPr>
              <a:t>Le sentiment d’appartenance dans une communauté passe aussi par l’imaginaire d’un futur commun, mais l’exercice peut parfois être lourd ou difficile. Dans ce cas, une approche ludique et moins engageante peut être une bonne introduction avant des moments plus sérieux.</a:t>
            </a:r>
          </a:p>
          <a:p>
            <a:pPr marL="0" indent="0">
              <a:buNone/>
            </a:pPr>
            <a:r>
              <a:rPr lang="fr-FR" sz="1100" dirty="0">
                <a:solidFill>
                  <a:srgbClr val="000000"/>
                </a:solidFill>
                <a:cs typeface="Calibri"/>
              </a:rPr>
              <a:t>Communauté 2050 est un circuit ludique d’ateliers où une communauté peut jouer à développer une vision lointaine, autour de la thématique « Que et qui sera la communauté en 2050 ? ». </a:t>
            </a:r>
          </a:p>
          <a:p>
            <a:pPr marL="0" indent="0">
              <a:buNone/>
            </a:pPr>
            <a:r>
              <a:rPr lang="fr-FR" sz="1100" dirty="0">
                <a:solidFill>
                  <a:srgbClr val="000000"/>
                </a:solidFill>
                <a:cs typeface="Calibri"/>
              </a:rPr>
              <a:t>Dans ce narratif volontairement lointain et futuriste, les participants en petits groupes imaginent à la fois les futurs lieux, événements, </a:t>
            </a:r>
            <a:r>
              <a:rPr lang="fr-FR" sz="1100" dirty="0" err="1">
                <a:solidFill>
                  <a:srgbClr val="000000"/>
                </a:solidFill>
                <a:cs typeface="Calibri"/>
              </a:rPr>
              <a:t>pitchs</a:t>
            </a:r>
            <a:r>
              <a:rPr lang="fr-FR" sz="1100" dirty="0">
                <a:solidFill>
                  <a:srgbClr val="000000"/>
                </a:solidFill>
                <a:cs typeface="Calibri"/>
              </a:rPr>
              <a:t>, apparences des membres, et bien d’autres aspects ! </a:t>
            </a:r>
          </a:p>
          <a:p>
            <a:pPr marL="0" indent="0">
              <a:buNone/>
            </a:pPr>
            <a:r>
              <a:rPr lang="fr-FR" sz="1100" dirty="0">
                <a:solidFill>
                  <a:srgbClr val="000000"/>
                </a:solidFill>
                <a:cs typeface="Calibri"/>
              </a:rPr>
              <a:t>Cet exercice de team building (échelle 30 à 100 personnes en 2h) s’utilise typiquement en début de séminaire, en passant ensemble un bon moment mi-jeu mi-sérieux, et 100% collectif ! </a:t>
            </a:r>
          </a:p>
          <a:p>
            <a:pPr marL="0" indent="0">
              <a:buNone/>
            </a:pPr>
            <a:endParaRPr lang="fr-FR" sz="1100" dirty="0">
              <a:solidFill>
                <a:srgbClr val="000000"/>
              </a:solidFill>
              <a:cs typeface="Calibri"/>
            </a:endParaRPr>
          </a:p>
        </p:txBody>
      </p:sp>
    </p:spTree>
    <p:extLst>
      <p:ext uri="{BB962C8B-B14F-4D97-AF65-F5344CB8AC3E}">
        <p14:creationId xmlns:p14="http://schemas.microsoft.com/office/powerpoint/2010/main" val="2854473053"/>
      </p:ext>
    </p:extLst>
  </p:cSld>
  <p:clrMapOvr>
    <a:masterClrMapping/>
  </p:clrMapOvr>
  <mc:AlternateContent xmlns:mc="http://schemas.openxmlformats.org/markup-compatibility/2006">
    <mc:Choice xmlns:p14="http://schemas.microsoft.com/office/powerpoint/2010/main" Requires="p14">
      <p:transition spd="slow" p14:dur="2000" advTm="68033"/>
    </mc:Choice>
    <mc:Fallback>
      <p:transition spd="slow" advTm="6803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341282"/>
            <a:ext cx="2832018" cy="823912"/>
          </a:xfrm>
          <a:solidFill>
            <a:srgbClr val="0683AA"/>
          </a:solidFill>
        </p:spPr>
        <p:txBody>
          <a:bodyPr anchor="ctr">
            <a:normAutofit/>
          </a:bodyPr>
          <a:lstStyle/>
          <a:p>
            <a:r>
              <a:rPr lang="fr-FR" sz="2000" dirty="0"/>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165194"/>
            <a:ext cx="2832018" cy="2350363"/>
          </a:xfrm>
          <a:solidFill>
            <a:schemeClr val="accent5">
              <a:lumMod val="20000"/>
              <a:lumOff val="80000"/>
            </a:schemeClr>
          </a:solidFill>
        </p:spPr>
        <p:txBody>
          <a:bodyPr>
            <a:normAutofit/>
          </a:bodyPr>
          <a:lstStyle/>
          <a:p>
            <a:pPr>
              <a:buFontTx/>
              <a:buChar char="-"/>
            </a:pPr>
            <a:r>
              <a:rPr lang="fr-FR" sz="1200" dirty="0"/>
              <a:t>Avoir exercé sa créativité sous contrainte de temps </a:t>
            </a:r>
          </a:p>
          <a:p>
            <a:pPr>
              <a:buFontTx/>
              <a:buChar char="-"/>
            </a:pPr>
            <a:r>
              <a:rPr lang="fr-FR" sz="1200" dirty="0"/>
              <a:t>Confronter et combiner sa vision du futur lointain avec celle des autres membres</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341282"/>
            <a:ext cx="2845965" cy="823912"/>
          </a:xfrm>
          <a:solidFill>
            <a:srgbClr val="ED7D31"/>
          </a:solidFill>
        </p:spPr>
        <p:txBody>
          <a:bodyPr anchor="ctr">
            <a:normAutofit/>
          </a:bodyPr>
          <a:lstStyle/>
          <a:p>
            <a:r>
              <a:rPr lang="fr-FR" sz="2000" dirty="0"/>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165194"/>
            <a:ext cx="2845965" cy="2350363"/>
          </a:xfrm>
          <a:solidFill>
            <a:schemeClr val="accent2">
              <a:lumMod val="20000"/>
              <a:lumOff val="80000"/>
            </a:schemeClr>
          </a:solidFill>
        </p:spPr>
        <p:txBody>
          <a:bodyPr>
            <a:normAutofit/>
          </a:bodyPr>
          <a:lstStyle/>
          <a:p>
            <a:pPr>
              <a:buFontTx/>
              <a:buChar char="-"/>
            </a:pPr>
            <a:r>
              <a:rPr lang="fr-FR" sz="1200" dirty="0"/>
              <a:t>Développer le sentiment d'appartenance </a:t>
            </a:r>
          </a:p>
          <a:p>
            <a:pPr>
              <a:buFontTx/>
              <a:buChar char="-"/>
            </a:pPr>
            <a:r>
              <a:rPr lang="fr-FR" sz="1200" dirty="0"/>
              <a:t>Tisser du lien dans un collectif </a:t>
            </a:r>
          </a:p>
          <a:p>
            <a:pPr>
              <a:buFontTx/>
              <a:buChar char="-"/>
            </a:pPr>
            <a:r>
              <a:rPr lang="fr-FR" sz="1200" dirty="0"/>
              <a:t>Partager la vision du futur lointain par les participants, et indirectement la vision de la communauté</a:t>
            </a:r>
          </a:p>
          <a:p>
            <a:pPr>
              <a:buFontTx/>
              <a:buChar char="-"/>
            </a:pPr>
            <a:endParaRPr lang="fr-FR" sz="1200" dirty="0"/>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341282"/>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165194"/>
            <a:ext cx="2832018" cy="235036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Communauté / département / entreprises de 30 à 100 personnes</a:t>
            </a:r>
          </a:p>
          <a:p>
            <a:pPr>
              <a:buFontTx/>
              <a:buChar char="-"/>
            </a:pPr>
            <a:r>
              <a:rPr lang="fr-FR" sz="1200" dirty="0"/>
              <a:t>Nous supposons dans ce jeu que les équipes (de 3 à 10) sont déjà constituées. </a:t>
            </a:r>
          </a:p>
          <a:p>
            <a:pPr marL="0" indent="0">
              <a:buNone/>
            </a:pPr>
            <a:endParaRPr lang="fr-FR" sz="1200" dirty="0"/>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341282"/>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Exemples d’usages et problèmes adressés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165194"/>
            <a:ext cx="2832018" cy="235036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Un cabinet de conseil souhaite se renouveler ou bien cocréer une direction à se donner pour le futur</a:t>
            </a:r>
          </a:p>
          <a:p>
            <a:pPr>
              <a:buFontTx/>
              <a:buChar char="-"/>
            </a:pPr>
            <a:endParaRPr lang="fr-FR" sz="1200" dirty="0"/>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41537" y="3661531"/>
            <a:ext cx="3753555" cy="8239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Sujets non couverts</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41537" y="4485443"/>
            <a:ext cx="3753555" cy="2163932"/>
          </a:xfrm>
          <a:prstGeom prst="rect">
            <a:avLst/>
          </a:prstGeom>
          <a:solidFill>
            <a:schemeClr val="accent5">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Projection dans le temps proche (court ou moyen terme)</a:t>
            </a:r>
          </a:p>
          <a:p>
            <a:pPr>
              <a:buFontTx/>
              <a:buChar char="-"/>
            </a:pPr>
            <a:r>
              <a:rPr lang="fr-FR" sz="1200" dirty="0"/>
              <a:t>Plan de réalisation des projections</a:t>
            </a:r>
          </a:p>
          <a:p>
            <a:pPr>
              <a:buFontTx/>
              <a:buChar char="-"/>
            </a:pPr>
            <a:r>
              <a:rPr lang="fr-FR" sz="1200" dirty="0"/>
              <a:t>Connaissance mutuelle directe entre </a:t>
            </a:r>
            <a:r>
              <a:rPr lang="fr-FR" sz="1200"/>
              <a:t>les membres</a:t>
            </a:r>
            <a:endParaRPr lang="fr-FR" sz="1200" dirty="0"/>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81874" y="3661531"/>
            <a:ext cx="3865481" cy="823912"/>
          </a:xfrm>
          <a:prstGeom prst="rect">
            <a:avLst/>
          </a:prstGeom>
          <a:solidFill>
            <a:srgbClr val="ED7D31"/>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Avec quoi compléter ?</a:t>
            </a:r>
            <a:endParaRPr lang="fr-FR" sz="2000" dirty="0"/>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81874" y="4485443"/>
            <a:ext cx="3865481"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Nous recommandons d’accompagner ce jeu (peu de temps plus tard) par des sessions d’idéation appliquée (par exemple, projection sur la prochaine année ou les 3 prochaines années).</a:t>
            </a:r>
          </a:p>
          <a:p>
            <a:pPr marL="0" indent="0">
              <a:buFont typeface="Arial" panose="020B0604020202020204" pitchFamily="34" charset="0"/>
              <a:buNone/>
            </a:pPr>
            <a:endParaRPr lang="fr-FR" sz="1200" dirty="0"/>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34137" y="3661531"/>
            <a:ext cx="3440612" cy="823912"/>
          </a:xfrm>
          <a:prstGeom prst="rect">
            <a:avLst/>
          </a:prstGeom>
          <a:solidFill>
            <a:schemeClr val="bg1">
              <a:lumMod val="75000"/>
            </a:schemeClr>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Ce qu’on suppose des utilisateurs au-delà de la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34137" y="4485443"/>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Ce jeu ne cherche pas à être 100% réaliste et donne plutôt un cadre à l’imaginaire. </a:t>
            </a:r>
          </a:p>
          <a:p>
            <a:pPr marL="0" indent="0">
              <a:buNone/>
            </a:pPr>
            <a:r>
              <a:rPr lang="fr-FR" sz="1200" dirty="0"/>
              <a:t>L’époque visée est choisie suffisamment lointaine (2050) pour qu’il y ait de la liberté à cocréer.</a:t>
            </a:r>
          </a:p>
          <a:p>
            <a:pPr marL="0" indent="0">
              <a:buNone/>
            </a:pPr>
            <a:r>
              <a:rPr lang="fr-FR" sz="1200" dirty="0"/>
              <a:t>Nous supposons que les participants ont conscience qu’il s’agit d’un jeu qui vise d’abord à échanger et tisser du lien, pas d’une prédiction exacte de 2050. </a:t>
            </a:r>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dirty="0"/>
              <a:t>Historique des modifications et licences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2213877341"/>
              </p:ext>
            </p:extLst>
          </p:nvPr>
        </p:nvGraphicFramePr>
        <p:xfrm>
          <a:off x="478172" y="1532010"/>
          <a:ext cx="11409028" cy="1854200"/>
        </p:xfrm>
        <a:graphic>
          <a:graphicData uri="http://schemas.openxmlformats.org/drawingml/2006/table">
            <a:tbl>
              <a:tblPr firstRow="1" bandRow="1">
                <a:tableStyleId>{21E4AEA4-8DFA-4A89-87EB-49C32662AFE0}</a:tableStyleId>
              </a:tblPr>
              <a:tblGrid>
                <a:gridCol w="2852257">
                  <a:extLst>
                    <a:ext uri="{9D8B030D-6E8A-4147-A177-3AD203B41FA5}">
                      <a16:colId xmlns:a16="http://schemas.microsoft.com/office/drawing/2014/main" val="3807656759"/>
                    </a:ext>
                  </a:extLst>
                </a:gridCol>
                <a:gridCol w="2852257">
                  <a:extLst>
                    <a:ext uri="{9D8B030D-6E8A-4147-A177-3AD203B41FA5}">
                      <a16:colId xmlns:a16="http://schemas.microsoft.com/office/drawing/2014/main" val="2648948851"/>
                    </a:ext>
                  </a:extLst>
                </a:gridCol>
                <a:gridCol w="2852257">
                  <a:extLst>
                    <a:ext uri="{9D8B030D-6E8A-4147-A177-3AD203B41FA5}">
                      <a16:colId xmlns:a16="http://schemas.microsoft.com/office/drawing/2014/main" val="285982558"/>
                    </a:ext>
                  </a:extLst>
                </a:gridCol>
                <a:gridCol w="285225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dirty="0"/>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sz="1200" dirty="0"/>
                        <a:t>1</a:t>
                      </a:r>
                    </a:p>
                  </a:txBody>
                  <a:tcPr/>
                </a:tc>
                <a:tc>
                  <a:txBody>
                    <a:bodyPr/>
                    <a:lstStyle/>
                    <a:p>
                      <a:r>
                        <a:rPr lang="fr-FR" sz="1200" dirty="0"/>
                        <a:t>Alexandre QUACH, Vanessa HELLEBUYCK</a:t>
                      </a:r>
                    </a:p>
                  </a:txBody>
                  <a:tcPr/>
                </a:tc>
                <a:tc>
                  <a:txBody>
                    <a:bodyPr/>
                    <a:lstStyle/>
                    <a:p>
                      <a:r>
                        <a:rPr lang="fr-FR" sz="1200" dirty="0"/>
                        <a:t>CC-BY 3.0</a:t>
                      </a:r>
                    </a:p>
                  </a:txBody>
                  <a:tcPr/>
                </a:tc>
                <a:tc>
                  <a:txBody>
                    <a:bodyPr/>
                    <a:lstStyle/>
                    <a:p>
                      <a:endParaRPr lang="fr-FR" sz="1200" dirty="0"/>
                    </a:p>
                  </a:txBody>
                  <a:tcPr/>
                </a:tc>
                <a:extLst>
                  <a:ext uri="{0D108BD9-81ED-4DB2-BD59-A6C34878D82A}">
                    <a16:rowId xmlns:a16="http://schemas.microsoft.com/office/drawing/2014/main" val="2337500579"/>
                  </a:ext>
                </a:extLst>
              </a:tr>
              <a:tr h="370840">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565347869"/>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6094105" y="802955"/>
            <a:ext cx="4977976" cy="1454051"/>
          </a:xfrm>
        </p:spPr>
        <p:txBody>
          <a:bodyPr>
            <a:normAutofit/>
          </a:bodyPr>
          <a:lstStyle/>
          <a:p>
            <a:r>
              <a:rPr lang="fr-FR" dirty="0">
                <a:solidFill>
                  <a:srgbClr val="000000"/>
                </a:solidFill>
              </a:rPr>
              <a:t>Intro aux joueurs</a:t>
            </a:r>
          </a:p>
        </p:txBody>
      </p:sp>
      <p:sp>
        <p:nvSpPr>
          <p:cNvPr id="21"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Image 7">
            <a:extLst>
              <a:ext uri="{FF2B5EF4-FFF2-40B4-BE49-F238E27FC236}">
                <a16:creationId xmlns:a16="http://schemas.microsoft.com/office/drawing/2014/main" id="{F1341DC4-C705-4DA1-906B-843028E13BB6}"/>
              </a:ext>
            </a:extLst>
          </p:cNvPr>
          <p:cNvPicPr>
            <a:picLocks noChangeAspect="1"/>
          </p:cNvPicPr>
          <p:nvPr/>
        </p:nvPicPr>
        <p:blipFill rotWithShape="1">
          <a:blip r:embed="rId3">
            <a:alphaModFix/>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2539" r="3927" b="2"/>
          <a:stretch/>
        </p:blipFill>
        <p:spPr>
          <a:xfrm>
            <a:off x="20" y="907231"/>
            <a:ext cx="4838021" cy="5063738"/>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0" indent="0">
              <a:buNone/>
            </a:pPr>
            <a:r>
              <a:rPr lang="fr-FR" sz="2000" dirty="0">
                <a:solidFill>
                  <a:srgbClr val="000000"/>
                </a:solidFill>
                <a:cs typeface="Calibri"/>
              </a:rPr>
              <a:t>« Nous sommes en 2050 et la communauté {Remplir ici le nom de votre communauté} perdure et se développe !</a:t>
            </a:r>
          </a:p>
          <a:p>
            <a:pPr marL="0" indent="0">
              <a:buNone/>
            </a:pPr>
            <a:endParaRPr lang="fr-FR" sz="2000" dirty="0">
              <a:solidFill>
                <a:srgbClr val="000000"/>
              </a:solidFill>
              <a:cs typeface="Calibri"/>
            </a:endParaRPr>
          </a:p>
          <a:p>
            <a:pPr marL="0" indent="0">
              <a:buNone/>
            </a:pPr>
            <a:r>
              <a:rPr lang="fr-FR" sz="2000" dirty="0">
                <a:solidFill>
                  <a:srgbClr val="000000"/>
                </a:solidFill>
                <a:cs typeface="Calibri"/>
              </a:rPr>
              <a:t>Vous, les membres 2050, avez été dépêchés pour concevoir la vie communautaire de l’année à venir. </a:t>
            </a:r>
          </a:p>
          <a:p>
            <a:pPr marL="0" indent="0">
              <a:buNone/>
            </a:pPr>
            <a:endParaRPr lang="fr-FR" sz="2000" dirty="0">
              <a:solidFill>
                <a:srgbClr val="000000"/>
              </a:solidFill>
              <a:cs typeface="Calibri"/>
            </a:endParaRPr>
          </a:p>
          <a:p>
            <a:pPr marL="0" indent="0">
              <a:buNone/>
            </a:pPr>
            <a:r>
              <a:rPr lang="fr-FR" sz="2000" dirty="0">
                <a:solidFill>
                  <a:srgbClr val="000000"/>
                </a:solidFill>
                <a:cs typeface="Calibri"/>
              </a:rPr>
              <a:t>Il faudra faire preuve de créativité, de travail d’équipe, d’imagination pour livrer cette vision du futur : vous avez 2h ! »</a:t>
            </a:r>
          </a:p>
        </p:txBody>
      </p:sp>
    </p:spTree>
    <p:extLst>
      <p:ext uri="{BB962C8B-B14F-4D97-AF65-F5344CB8AC3E}">
        <p14:creationId xmlns:p14="http://schemas.microsoft.com/office/powerpoint/2010/main" val="1398347022"/>
      </p:ext>
    </p:extLst>
  </p:cSld>
  <p:clrMapOvr>
    <a:masterClrMapping/>
  </p:clrMapOvr>
  <mc:AlternateContent xmlns:mc="http://schemas.openxmlformats.org/markup-compatibility/2006">
    <mc:Choice xmlns:p14="http://schemas.microsoft.com/office/powerpoint/2010/main" Requires="p14">
      <p:transition spd="slow" p14:dur="2000" advTm="68033"/>
    </mc:Choice>
    <mc:Fallback>
      <p:transition spd="slow" advTm="6803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Flèche : droite 84">
            <a:extLst>
              <a:ext uri="{FF2B5EF4-FFF2-40B4-BE49-F238E27FC236}">
                <a16:creationId xmlns:a16="http://schemas.microsoft.com/office/drawing/2014/main" id="{77C67B02-993F-4D6C-8784-56145A592BB0}"/>
              </a:ext>
            </a:extLst>
          </p:cNvPr>
          <p:cNvSpPr/>
          <p:nvPr/>
        </p:nvSpPr>
        <p:spPr>
          <a:xfrm rot="18665031">
            <a:off x="6329125" y="3000188"/>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Flèche : droite 85">
            <a:extLst>
              <a:ext uri="{FF2B5EF4-FFF2-40B4-BE49-F238E27FC236}">
                <a16:creationId xmlns:a16="http://schemas.microsoft.com/office/drawing/2014/main" id="{9CADCA8B-B142-4A58-A845-B498A90D491A}"/>
              </a:ext>
            </a:extLst>
          </p:cNvPr>
          <p:cNvSpPr/>
          <p:nvPr/>
        </p:nvSpPr>
        <p:spPr>
          <a:xfrm rot="20456318">
            <a:off x="7914961" y="1761492"/>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Flèche : droite 86">
            <a:extLst>
              <a:ext uri="{FF2B5EF4-FFF2-40B4-BE49-F238E27FC236}">
                <a16:creationId xmlns:a16="http://schemas.microsoft.com/office/drawing/2014/main" id="{F186564B-9B8A-4B7F-B16B-5B6997CAB2C4}"/>
              </a:ext>
            </a:extLst>
          </p:cNvPr>
          <p:cNvSpPr/>
          <p:nvPr/>
        </p:nvSpPr>
        <p:spPr>
          <a:xfrm rot="4528215">
            <a:off x="10860911" y="3640512"/>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Flèche : droite 87">
            <a:extLst>
              <a:ext uri="{FF2B5EF4-FFF2-40B4-BE49-F238E27FC236}">
                <a16:creationId xmlns:a16="http://schemas.microsoft.com/office/drawing/2014/main" id="{57CA4001-A75C-4A27-B476-49B25657E94E}"/>
              </a:ext>
            </a:extLst>
          </p:cNvPr>
          <p:cNvSpPr/>
          <p:nvPr/>
        </p:nvSpPr>
        <p:spPr>
          <a:xfrm rot="8266878">
            <a:off x="10294900" y="5496153"/>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Flèche : droite 88">
            <a:extLst>
              <a:ext uri="{FF2B5EF4-FFF2-40B4-BE49-F238E27FC236}">
                <a16:creationId xmlns:a16="http://schemas.microsoft.com/office/drawing/2014/main" id="{34C9742E-599A-42D9-BA91-26CB15A01433}"/>
              </a:ext>
            </a:extLst>
          </p:cNvPr>
          <p:cNvSpPr/>
          <p:nvPr/>
        </p:nvSpPr>
        <p:spPr>
          <a:xfrm rot="11855343">
            <a:off x="8068995" y="5821407"/>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Flèche : droite 89">
            <a:extLst>
              <a:ext uri="{FF2B5EF4-FFF2-40B4-BE49-F238E27FC236}">
                <a16:creationId xmlns:a16="http://schemas.microsoft.com/office/drawing/2014/main" id="{8027960A-D070-4C80-AC96-1B19E0537339}"/>
              </a:ext>
            </a:extLst>
          </p:cNvPr>
          <p:cNvSpPr/>
          <p:nvPr/>
        </p:nvSpPr>
        <p:spPr>
          <a:xfrm rot="13643281">
            <a:off x="6541941" y="4721729"/>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Flèche : droite 90">
            <a:extLst>
              <a:ext uri="{FF2B5EF4-FFF2-40B4-BE49-F238E27FC236}">
                <a16:creationId xmlns:a16="http://schemas.microsoft.com/office/drawing/2014/main" id="{969B8A63-AEF0-459A-8F4F-95CDC42AFDB3}"/>
              </a:ext>
            </a:extLst>
          </p:cNvPr>
          <p:cNvSpPr/>
          <p:nvPr/>
        </p:nvSpPr>
        <p:spPr>
          <a:xfrm rot="2034412">
            <a:off x="9912755" y="2090176"/>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03FA6FB1-977A-45A0-A036-1C55C3CEC2A1}"/>
              </a:ext>
            </a:extLst>
          </p:cNvPr>
          <p:cNvSpPr>
            <a:spLocks noGrp="1"/>
          </p:cNvSpPr>
          <p:nvPr>
            <p:ph type="title"/>
          </p:nvPr>
        </p:nvSpPr>
        <p:spPr>
          <a:xfrm>
            <a:off x="340897" y="303229"/>
            <a:ext cx="10515600" cy="1325563"/>
          </a:xfrm>
        </p:spPr>
        <p:txBody>
          <a:bodyPr/>
          <a:lstStyle/>
          <a:p>
            <a:r>
              <a:rPr lang="fr-FR" dirty="0"/>
              <a:t>Déroulement par tours</a:t>
            </a:r>
          </a:p>
        </p:txBody>
      </p:sp>
      <p:pic>
        <p:nvPicPr>
          <p:cNvPr id="4" name="Graphique 3" descr="Réunion avec un remplissage uni">
            <a:extLst>
              <a:ext uri="{FF2B5EF4-FFF2-40B4-BE49-F238E27FC236}">
                <a16:creationId xmlns:a16="http://schemas.microsoft.com/office/drawing/2014/main" id="{57DF4C01-6F68-46AF-A069-7FD1DBD261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897" y="3614908"/>
            <a:ext cx="914400" cy="914400"/>
          </a:xfrm>
          <a:prstGeom prst="rect">
            <a:avLst/>
          </a:prstGeom>
        </p:spPr>
      </p:pic>
      <p:pic>
        <p:nvPicPr>
          <p:cNvPr id="6" name="Graphique 5" descr="Utilisateur avec un remplissage uni">
            <a:extLst>
              <a:ext uri="{FF2B5EF4-FFF2-40B4-BE49-F238E27FC236}">
                <a16:creationId xmlns:a16="http://schemas.microsoft.com/office/drawing/2014/main" id="{2EF3C94C-CC2A-4C9E-A3D4-C6DD16C5B0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3699" y="4131202"/>
            <a:ext cx="398106" cy="398106"/>
          </a:xfrm>
          <a:prstGeom prst="rect">
            <a:avLst/>
          </a:prstGeom>
        </p:spPr>
      </p:pic>
      <p:pic>
        <p:nvPicPr>
          <p:cNvPr id="7" name="Graphique 6" descr="Utilisateur avec un remplissage uni">
            <a:extLst>
              <a:ext uri="{FF2B5EF4-FFF2-40B4-BE49-F238E27FC236}">
                <a16:creationId xmlns:a16="http://schemas.microsoft.com/office/drawing/2014/main" id="{E3A0F459-F245-4928-A35F-52E182A26F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9044" y="4227619"/>
            <a:ext cx="398106" cy="398106"/>
          </a:xfrm>
          <a:prstGeom prst="rect">
            <a:avLst/>
          </a:prstGeom>
        </p:spPr>
      </p:pic>
      <p:pic>
        <p:nvPicPr>
          <p:cNvPr id="8" name="Graphique 7" descr="Utilisateur avec un remplissage uni">
            <a:extLst>
              <a:ext uri="{FF2B5EF4-FFF2-40B4-BE49-F238E27FC236}">
                <a16:creationId xmlns:a16="http://schemas.microsoft.com/office/drawing/2014/main" id="{3E5D8951-3515-42E8-9DF6-C4CEF5C6886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1620" y="4131202"/>
            <a:ext cx="398106" cy="398106"/>
          </a:xfrm>
          <a:prstGeom prst="rect">
            <a:avLst/>
          </a:prstGeom>
        </p:spPr>
      </p:pic>
      <p:pic>
        <p:nvPicPr>
          <p:cNvPr id="9" name="Graphique 8" descr="Réunion avec un remplissage uni">
            <a:extLst>
              <a:ext uri="{FF2B5EF4-FFF2-40B4-BE49-F238E27FC236}">
                <a16:creationId xmlns:a16="http://schemas.microsoft.com/office/drawing/2014/main" id="{5F295975-0D28-47ED-838F-0715285902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5297" y="4949890"/>
            <a:ext cx="914400" cy="914400"/>
          </a:xfrm>
          <a:prstGeom prst="rect">
            <a:avLst/>
          </a:prstGeom>
        </p:spPr>
      </p:pic>
      <p:pic>
        <p:nvPicPr>
          <p:cNvPr id="10" name="Graphique 9" descr="Utilisateur avec un remplissage uni">
            <a:extLst>
              <a:ext uri="{FF2B5EF4-FFF2-40B4-BE49-F238E27FC236}">
                <a16:creationId xmlns:a16="http://schemas.microsoft.com/office/drawing/2014/main" id="{E50784DA-87FD-459D-BF3E-0F4246D780D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8099" y="5466184"/>
            <a:ext cx="398106" cy="398106"/>
          </a:xfrm>
          <a:prstGeom prst="rect">
            <a:avLst/>
          </a:prstGeom>
        </p:spPr>
      </p:pic>
      <p:pic>
        <p:nvPicPr>
          <p:cNvPr id="11" name="Graphique 10" descr="Utilisateur avec un remplissage uni">
            <a:extLst>
              <a:ext uri="{FF2B5EF4-FFF2-40B4-BE49-F238E27FC236}">
                <a16:creationId xmlns:a16="http://schemas.microsoft.com/office/drawing/2014/main" id="{88444507-2E8C-4D01-8A81-00E251C181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13444" y="5562601"/>
            <a:ext cx="398106" cy="398106"/>
          </a:xfrm>
          <a:prstGeom prst="rect">
            <a:avLst/>
          </a:prstGeom>
        </p:spPr>
      </p:pic>
      <p:pic>
        <p:nvPicPr>
          <p:cNvPr id="12" name="Graphique 11" descr="Utilisateur avec un remplissage uni">
            <a:extLst>
              <a:ext uri="{FF2B5EF4-FFF2-40B4-BE49-F238E27FC236}">
                <a16:creationId xmlns:a16="http://schemas.microsoft.com/office/drawing/2014/main" id="{DE002B13-16FC-4980-9C92-84F510D2E9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26020" y="5466184"/>
            <a:ext cx="398106" cy="398106"/>
          </a:xfrm>
          <a:prstGeom prst="rect">
            <a:avLst/>
          </a:prstGeom>
        </p:spPr>
      </p:pic>
      <p:pic>
        <p:nvPicPr>
          <p:cNvPr id="13" name="Graphique 12" descr="Réunion avec un remplissage uni">
            <a:extLst>
              <a:ext uri="{FF2B5EF4-FFF2-40B4-BE49-F238E27FC236}">
                <a16:creationId xmlns:a16="http://schemas.microsoft.com/office/drawing/2014/main" id="{CC669184-25EC-484D-B4B8-98AF99CA22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7740" y="2213083"/>
            <a:ext cx="914400" cy="914400"/>
          </a:xfrm>
          <a:prstGeom prst="rect">
            <a:avLst/>
          </a:prstGeom>
        </p:spPr>
      </p:pic>
      <p:pic>
        <p:nvPicPr>
          <p:cNvPr id="14" name="Graphique 13" descr="Utilisateur avec un remplissage uni">
            <a:extLst>
              <a:ext uri="{FF2B5EF4-FFF2-40B4-BE49-F238E27FC236}">
                <a16:creationId xmlns:a16="http://schemas.microsoft.com/office/drawing/2014/main" id="{6BF55BA4-E56C-4316-9BE5-529212074D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0542" y="2729377"/>
            <a:ext cx="398106" cy="398106"/>
          </a:xfrm>
          <a:prstGeom prst="rect">
            <a:avLst/>
          </a:prstGeom>
        </p:spPr>
      </p:pic>
      <p:pic>
        <p:nvPicPr>
          <p:cNvPr id="15" name="Graphique 14" descr="Utilisateur avec un remplissage uni">
            <a:extLst>
              <a:ext uri="{FF2B5EF4-FFF2-40B4-BE49-F238E27FC236}">
                <a16:creationId xmlns:a16="http://schemas.microsoft.com/office/drawing/2014/main" id="{C7D2CFA6-4CE0-4CD3-B694-A38053DB24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5887" y="2825794"/>
            <a:ext cx="398106" cy="398106"/>
          </a:xfrm>
          <a:prstGeom prst="rect">
            <a:avLst/>
          </a:prstGeom>
        </p:spPr>
      </p:pic>
      <p:pic>
        <p:nvPicPr>
          <p:cNvPr id="16" name="Graphique 15" descr="Utilisateur avec un remplissage uni">
            <a:extLst>
              <a:ext uri="{FF2B5EF4-FFF2-40B4-BE49-F238E27FC236}">
                <a16:creationId xmlns:a16="http://schemas.microsoft.com/office/drawing/2014/main" id="{A7C92B82-6359-4EB4-B84D-871496427E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48463" y="2729377"/>
            <a:ext cx="398106" cy="398106"/>
          </a:xfrm>
          <a:prstGeom prst="rect">
            <a:avLst/>
          </a:prstGeom>
        </p:spPr>
      </p:pic>
      <p:pic>
        <p:nvPicPr>
          <p:cNvPr id="17" name="Graphique 16" descr="Réunion avec un remplissage uni">
            <a:extLst>
              <a:ext uri="{FF2B5EF4-FFF2-40B4-BE49-F238E27FC236}">
                <a16:creationId xmlns:a16="http://schemas.microsoft.com/office/drawing/2014/main" id="{E889D6F5-5D09-4C48-AF07-0F99640B92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47394" y="1787025"/>
            <a:ext cx="914400" cy="914400"/>
          </a:xfrm>
          <a:prstGeom prst="rect">
            <a:avLst/>
          </a:prstGeom>
        </p:spPr>
      </p:pic>
      <p:pic>
        <p:nvPicPr>
          <p:cNvPr id="18" name="Graphique 17" descr="Utilisateur avec un remplissage uni">
            <a:extLst>
              <a:ext uri="{FF2B5EF4-FFF2-40B4-BE49-F238E27FC236}">
                <a16:creationId xmlns:a16="http://schemas.microsoft.com/office/drawing/2014/main" id="{10B0B3FE-D983-460E-88C6-95C2743FDE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80196" y="2303319"/>
            <a:ext cx="398106" cy="398106"/>
          </a:xfrm>
          <a:prstGeom prst="rect">
            <a:avLst/>
          </a:prstGeom>
        </p:spPr>
      </p:pic>
      <p:pic>
        <p:nvPicPr>
          <p:cNvPr id="19" name="Graphique 18" descr="Utilisateur avec un remplissage uni">
            <a:extLst>
              <a:ext uri="{FF2B5EF4-FFF2-40B4-BE49-F238E27FC236}">
                <a16:creationId xmlns:a16="http://schemas.microsoft.com/office/drawing/2014/main" id="{2AACEF55-A580-4A4A-AC9A-E8A174E701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05541" y="2399736"/>
            <a:ext cx="398106" cy="398106"/>
          </a:xfrm>
          <a:prstGeom prst="rect">
            <a:avLst/>
          </a:prstGeom>
        </p:spPr>
      </p:pic>
      <p:pic>
        <p:nvPicPr>
          <p:cNvPr id="20" name="Graphique 19" descr="Utilisateur avec un remplissage uni">
            <a:extLst>
              <a:ext uri="{FF2B5EF4-FFF2-40B4-BE49-F238E27FC236}">
                <a16:creationId xmlns:a16="http://schemas.microsoft.com/office/drawing/2014/main" id="{AF659243-E32D-471B-9498-BA307A0E5D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8117" y="2303319"/>
            <a:ext cx="398106" cy="398106"/>
          </a:xfrm>
          <a:prstGeom prst="rect">
            <a:avLst/>
          </a:prstGeom>
        </p:spPr>
      </p:pic>
      <p:pic>
        <p:nvPicPr>
          <p:cNvPr id="21" name="Graphique 20" descr="Réunion avec un remplissage uni">
            <a:extLst>
              <a:ext uri="{FF2B5EF4-FFF2-40B4-BE49-F238E27FC236}">
                <a16:creationId xmlns:a16="http://schemas.microsoft.com/office/drawing/2014/main" id="{65E820E1-DCC6-47F8-9431-E337AB434F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14592" y="5206084"/>
            <a:ext cx="914400" cy="914400"/>
          </a:xfrm>
          <a:prstGeom prst="rect">
            <a:avLst/>
          </a:prstGeom>
        </p:spPr>
      </p:pic>
      <p:pic>
        <p:nvPicPr>
          <p:cNvPr id="22" name="Graphique 21" descr="Utilisateur avec un remplissage uni">
            <a:extLst>
              <a:ext uri="{FF2B5EF4-FFF2-40B4-BE49-F238E27FC236}">
                <a16:creationId xmlns:a16="http://schemas.microsoft.com/office/drawing/2014/main" id="{D1159C26-4786-44A7-9963-2A4CC782E1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47394" y="5722378"/>
            <a:ext cx="398106" cy="398106"/>
          </a:xfrm>
          <a:prstGeom prst="rect">
            <a:avLst/>
          </a:prstGeom>
        </p:spPr>
      </p:pic>
      <p:pic>
        <p:nvPicPr>
          <p:cNvPr id="23" name="Graphique 22" descr="Utilisateur avec un remplissage uni">
            <a:extLst>
              <a:ext uri="{FF2B5EF4-FFF2-40B4-BE49-F238E27FC236}">
                <a16:creationId xmlns:a16="http://schemas.microsoft.com/office/drawing/2014/main" id="{88E1570D-B989-45FF-B578-16E3435793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72739" y="5818795"/>
            <a:ext cx="398106" cy="398106"/>
          </a:xfrm>
          <a:prstGeom prst="rect">
            <a:avLst/>
          </a:prstGeom>
        </p:spPr>
      </p:pic>
      <p:pic>
        <p:nvPicPr>
          <p:cNvPr id="24" name="Graphique 23" descr="Utilisateur avec un remplissage uni">
            <a:extLst>
              <a:ext uri="{FF2B5EF4-FFF2-40B4-BE49-F238E27FC236}">
                <a16:creationId xmlns:a16="http://schemas.microsoft.com/office/drawing/2014/main" id="{EFDBC001-9D6E-488E-BC75-53BEBA0F8C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5315" y="5722378"/>
            <a:ext cx="398106" cy="398106"/>
          </a:xfrm>
          <a:prstGeom prst="rect">
            <a:avLst/>
          </a:prstGeom>
        </p:spPr>
      </p:pic>
      <p:pic>
        <p:nvPicPr>
          <p:cNvPr id="25" name="Graphique 24" descr="Réunion avec un remplissage uni">
            <a:extLst>
              <a:ext uri="{FF2B5EF4-FFF2-40B4-BE49-F238E27FC236}">
                <a16:creationId xmlns:a16="http://schemas.microsoft.com/office/drawing/2014/main" id="{3CB22E96-18BF-4651-9CA4-31B6CFE02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38219" y="2611189"/>
            <a:ext cx="914400" cy="914400"/>
          </a:xfrm>
          <a:prstGeom prst="rect">
            <a:avLst/>
          </a:prstGeom>
        </p:spPr>
      </p:pic>
      <p:pic>
        <p:nvPicPr>
          <p:cNvPr id="26" name="Graphique 25" descr="Utilisateur avec un remplissage uni">
            <a:extLst>
              <a:ext uri="{FF2B5EF4-FFF2-40B4-BE49-F238E27FC236}">
                <a16:creationId xmlns:a16="http://schemas.microsoft.com/office/drawing/2014/main" id="{AE6B5B8A-4254-44B3-B5A7-BFB114BFDA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71021" y="3127483"/>
            <a:ext cx="398106" cy="398106"/>
          </a:xfrm>
          <a:prstGeom prst="rect">
            <a:avLst/>
          </a:prstGeom>
        </p:spPr>
      </p:pic>
      <p:pic>
        <p:nvPicPr>
          <p:cNvPr id="27" name="Graphique 26" descr="Utilisateur avec un remplissage uni">
            <a:extLst>
              <a:ext uri="{FF2B5EF4-FFF2-40B4-BE49-F238E27FC236}">
                <a16:creationId xmlns:a16="http://schemas.microsoft.com/office/drawing/2014/main" id="{C1FA643F-2E19-4CC5-B90F-09725553AD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96366" y="3223900"/>
            <a:ext cx="398106" cy="398106"/>
          </a:xfrm>
          <a:prstGeom prst="rect">
            <a:avLst/>
          </a:prstGeom>
        </p:spPr>
      </p:pic>
      <p:pic>
        <p:nvPicPr>
          <p:cNvPr id="28" name="Graphique 27" descr="Utilisateur avec un remplissage uni">
            <a:extLst>
              <a:ext uri="{FF2B5EF4-FFF2-40B4-BE49-F238E27FC236}">
                <a16:creationId xmlns:a16="http://schemas.microsoft.com/office/drawing/2014/main" id="{7C145562-A688-4CA2-B1EA-F75ECB79AE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08942" y="3127483"/>
            <a:ext cx="398106" cy="398106"/>
          </a:xfrm>
          <a:prstGeom prst="rect">
            <a:avLst/>
          </a:prstGeom>
        </p:spPr>
      </p:pic>
      <p:pic>
        <p:nvPicPr>
          <p:cNvPr id="29" name="Graphique 28" descr="Réunion avec un remplissage uni">
            <a:extLst>
              <a:ext uri="{FF2B5EF4-FFF2-40B4-BE49-F238E27FC236}">
                <a16:creationId xmlns:a16="http://schemas.microsoft.com/office/drawing/2014/main" id="{06B989C6-EF4C-4615-B673-49E952B10F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0432" y="4254923"/>
            <a:ext cx="914400" cy="914400"/>
          </a:xfrm>
          <a:prstGeom prst="rect">
            <a:avLst/>
          </a:prstGeom>
        </p:spPr>
      </p:pic>
      <p:pic>
        <p:nvPicPr>
          <p:cNvPr id="30" name="Graphique 29" descr="Utilisateur avec un remplissage uni">
            <a:extLst>
              <a:ext uri="{FF2B5EF4-FFF2-40B4-BE49-F238E27FC236}">
                <a16:creationId xmlns:a16="http://schemas.microsoft.com/office/drawing/2014/main" id="{23821AD9-CAB2-447A-A498-5806FA44B7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23234" y="4771217"/>
            <a:ext cx="398106" cy="398106"/>
          </a:xfrm>
          <a:prstGeom prst="rect">
            <a:avLst/>
          </a:prstGeom>
        </p:spPr>
      </p:pic>
      <p:pic>
        <p:nvPicPr>
          <p:cNvPr id="31" name="Graphique 30" descr="Utilisateur avec un remplissage uni">
            <a:extLst>
              <a:ext uri="{FF2B5EF4-FFF2-40B4-BE49-F238E27FC236}">
                <a16:creationId xmlns:a16="http://schemas.microsoft.com/office/drawing/2014/main" id="{DA6291C2-C240-473A-93E3-4E0DDB6F01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8579" y="4867634"/>
            <a:ext cx="398106" cy="398106"/>
          </a:xfrm>
          <a:prstGeom prst="rect">
            <a:avLst/>
          </a:prstGeom>
        </p:spPr>
      </p:pic>
      <p:pic>
        <p:nvPicPr>
          <p:cNvPr id="32" name="Graphique 31" descr="Utilisateur avec un remplissage uni">
            <a:extLst>
              <a:ext uri="{FF2B5EF4-FFF2-40B4-BE49-F238E27FC236}">
                <a16:creationId xmlns:a16="http://schemas.microsoft.com/office/drawing/2014/main" id="{1422450E-0B46-423F-9A16-082465863D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1155" y="4771217"/>
            <a:ext cx="398106" cy="398106"/>
          </a:xfrm>
          <a:prstGeom prst="rect">
            <a:avLst/>
          </a:prstGeom>
        </p:spPr>
      </p:pic>
      <p:pic>
        <p:nvPicPr>
          <p:cNvPr id="62" name="Graphique 61" descr="Marcher avec un remplissage uni">
            <a:extLst>
              <a:ext uri="{FF2B5EF4-FFF2-40B4-BE49-F238E27FC236}">
                <a16:creationId xmlns:a16="http://schemas.microsoft.com/office/drawing/2014/main" id="{971E7C7B-6B1E-4A04-80FC-A17EF58FA7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26650" y="3015585"/>
            <a:ext cx="496987" cy="496987"/>
          </a:xfrm>
          <a:prstGeom prst="rect">
            <a:avLst/>
          </a:prstGeom>
        </p:spPr>
      </p:pic>
      <p:pic>
        <p:nvPicPr>
          <p:cNvPr id="63" name="Graphique 62" descr="Marcher avec un remplissage uni">
            <a:extLst>
              <a:ext uri="{FF2B5EF4-FFF2-40B4-BE49-F238E27FC236}">
                <a16:creationId xmlns:a16="http://schemas.microsoft.com/office/drawing/2014/main" id="{984EE552-70FA-4AA5-B288-3E879B1AD8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05274" y="2922802"/>
            <a:ext cx="496987" cy="496987"/>
          </a:xfrm>
          <a:prstGeom prst="rect">
            <a:avLst/>
          </a:prstGeom>
        </p:spPr>
      </p:pic>
      <p:pic>
        <p:nvPicPr>
          <p:cNvPr id="64" name="Graphique 63" descr="Marcher avec un remplissage uni">
            <a:extLst>
              <a:ext uri="{FF2B5EF4-FFF2-40B4-BE49-F238E27FC236}">
                <a16:creationId xmlns:a16="http://schemas.microsoft.com/office/drawing/2014/main" id="{EDBD5E89-7DDA-41B5-8E7E-AC2C448D54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04633" y="3024847"/>
            <a:ext cx="496987" cy="496987"/>
          </a:xfrm>
          <a:prstGeom prst="rect">
            <a:avLst/>
          </a:prstGeom>
        </p:spPr>
      </p:pic>
      <p:pic>
        <p:nvPicPr>
          <p:cNvPr id="65" name="Graphique 64" descr="Marcher avec un remplissage uni">
            <a:extLst>
              <a:ext uri="{FF2B5EF4-FFF2-40B4-BE49-F238E27FC236}">
                <a16:creationId xmlns:a16="http://schemas.microsoft.com/office/drawing/2014/main" id="{080168D2-0209-4342-B6E2-FA1D5985A61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92419" y="2080290"/>
            <a:ext cx="496987" cy="496987"/>
          </a:xfrm>
          <a:prstGeom prst="rect">
            <a:avLst/>
          </a:prstGeom>
        </p:spPr>
      </p:pic>
      <p:pic>
        <p:nvPicPr>
          <p:cNvPr id="66" name="Graphique 65" descr="Marcher avec un remplissage uni">
            <a:extLst>
              <a:ext uri="{FF2B5EF4-FFF2-40B4-BE49-F238E27FC236}">
                <a16:creationId xmlns:a16="http://schemas.microsoft.com/office/drawing/2014/main" id="{EE917D94-BAC0-4E32-B9AE-6D722AC2D6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71043" y="1987507"/>
            <a:ext cx="496987" cy="496987"/>
          </a:xfrm>
          <a:prstGeom prst="rect">
            <a:avLst/>
          </a:prstGeom>
        </p:spPr>
      </p:pic>
      <p:pic>
        <p:nvPicPr>
          <p:cNvPr id="67" name="Graphique 66" descr="Marcher avec un remplissage uni">
            <a:extLst>
              <a:ext uri="{FF2B5EF4-FFF2-40B4-BE49-F238E27FC236}">
                <a16:creationId xmlns:a16="http://schemas.microsoft.com/office/drawing/2014/main" id="{F42C4D5E-A4F4-43E3-89D1-4827506155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70402" y="2089552"/>
            <a:ext cx="496987" cy="496987"/>
          </a:xfrm>
          <a:prstGeom prst="rect">
            <a:avLst/>
          </a:prstGeom>
        </p:spPr>
      </p:pic>
      <p:pic>
        <p:nvPicPr>
          <p:cNvPr id="68" name="Graphique 67" descr="Marcher avec un remplissage uni">
            <a:extLst>
              <a:ext uri="{FF2B5EF4-FFF2-40B4-BE49-F238E27FC236}">
                <a16:creationId xmlns:a16="http://schemas.microsoft.com/office/drawing/2014/main" id="{B4A61BEA-0534-44A7-9167-1B8120C7894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45630" y="2591934"/>
            <a:ext cx="496987" cy="496987"/>
          </a:xfrm>
          <a:prstGeom prst="rect">
            <a:avLst/>
          </a:prstGeom>
        </p:spPr>
      </p:pic>
      <p:pic>
        <p:nvPicPr>
          <p:cNvPr id="69" name="Graphique 68" descr="Marcher avec un remplissage uni">
            <a:extLst>
              <a:ext uri="{FF2B5EF4-FFF2-40B4-BE49-F238E27FC236}">
                <a16:creationId xmlns:a16="http://schemas.microsoft.com/office/drawing/2014/main" id="{55D6B0A2-431F-48F0-92AE-9F2CCD0D20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24254" y="2499151"/>
            <a:ext cx="496987" cy="496987"/>
          </a:xfrm>
          <a:prstGeom prst="rect">
            <a:avLst/>
          </a:prstGeom>
        </p:spPr>
      </p:pic>
      <p:pic>
        <p:nvPicPr>
          <p:cNvPr id="70" name="Graphique 69" descr="Marcher avec un remplissage uni">
            <a:extLst>
              <a:ext uri="{FF2B5EF4-FFF2-40B4-BE49-F238E27FC236}">
                <a16:creationId xmlns:a16="http://schemas.microsoft.com/office/drawing/2014/main" id="{59FC80CD-1D17-4849-BC9A-36C7EC429B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23613" y="2601196"/>
            <a:ext cx="496987" cy="496987"/>
          </a:xfrm>
          <a:prstGeom prst="rect">
            <a:avLst/>
          </a:prstGeom>
        </p:spPr>
      </p:pic>
      <p:pic>
        <p:nvPicPr>
          <p:cNvPr id="71" name="Graphique 70" descr="Marcher avec un remplissage uni">
            <a:extLst>
              <a:ext uri="{FF2B5EF4-FFF2-40B4-BE49-F238E27FC236}">
                <a16:creationId xmlns:a16="http://schemas.microsoft.com/office/drawing/2014/main" id="{63533575-8B31-40D3-9BC4-9B72C71D54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027207" y="3778220"/>
            <a:ext cx="469626" cy="496987"/>
          </a:xfrm>
          <a:prstGeom prst="rect">
            <a:avLst/>
          </a:prstGeom>
        </p:spPr>
      </p:pic>
      <p:pic>
        <p:nvPicPr>
          <p:cNvPr id="72" name="Graphique 71" descr="Marcher avec un remplissage uni">
            <a:extLst>
              <a:ext uri="{FF2B5EF4-FFF2-40B4-BE49-F238E27FC236}">
                <a16:creationId xmlns:a16="http://schemas.microsoft.com/office/drawing/2014/main" id="{35A27AE3-0AEB-4B46-A720-2925C606AC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305831" y="3685437"/>
            <a:ext cx="469626" cy="496987"/>
          </a:xfrm>
          <a:prstGeom prst="rect">
            <a:avLst/>
          </a:prstGeom>
        </p:spPr>
      </p:pic>
      <p:pic>
        <p:nvPicPr>
          <p:cNvPr id="73" name="Graphique 72" descr="Marcher avec un remplissage uni">
            <a:extLst>
              <a:ext uri="{FF2B5EF4-FFF2-40B4-BE49-F238E27FC236}">
                <a16:creationId xmlns:a16="http://schemas.microsoft.com/office/drawing/2014/main" id="{51EFC833-E185-4360-B7DB-79DB7CAAA6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505190" y="3787482"/>
            <a:ext cx="469626" cy="496987"/>
          </a:xfrm>
          <a:prstGeom prst="rect">
            <a:avLst/>
          </a:prstGeom>
        </p:spPr>
      </p:pic>
      <p:pic>
        <p:nvPicPr>
          <p:cNvPr id="74" name="Graphique 73" descr="Marcher avec un remplissage uni">
            <a:extLst>
              <a:ext uri="{FF2B5EF4-FFF2-40B4-BE49-F238E27FC236}">
                <a16:creationId xmlns:a16="http://schemas.microsoft.com/office/drawing/2014/main" id="{FE4FCD01-D924-4434-8F7C-BB33E8F24E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9529207" y="5106586"/>
            <a:ext cx="586193" cy="496987"/>
          </a:xfrm>
          <a:prstGeom prst="rect">
            <a:avLst/>
          </a:prstGeom>
        </p:spPr>
      </p:pic>
      <p:pic>
        <p:nvPicPr>
          <p:cNvPr id="75" name="Graphique 74" descr="Marcher avec un remplissage uni">
            <a:extLst>
              <a:ext uri="{FF2B5EF4-FFF2-40B4-BE49-F238E27FC236}">
                <a16:creationId xmlns:a16="http://schemas.microsoft.com/office/drawing/2014/main" id="{2B89FFDA-AE6D-47F9-9DD6-6BAECA5AF0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9807831" y="5013803"/>
            <a:ext cx="586193" cy="496987"/>
          </a:xfrm>
          <a:prstGeom prst="rect">
            <a:avLst/>
          </a:prstGeom>
        </p:spPr>
      </p:pic>
      <p:pic>
        <p:nvPicPr>
          <p:cNvPr id="76" name="Graphique 75" descr="Marcher avec un remplissage uni">
            <a:extLst>
              <a:ext uri="{FF2B5EF4-FFF2-40B4-BE49-F238E27FC236}">
                <a16:creationId xmlns:a16="http://schemas.microsoft.com/office/drawing/2014/main" id="{ED8E0A6B-2D63-4964-A095-A23D109A2FF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007190" y="5115848"/>
            <a:ext cx="586193" cy="496987"/>
          </a:xfrm>
          <a:prstGeom prst="rect">
            <a:avLst/>
          </a:prstGeom>
        </p:spPr>
      </p:pic>
      <p:pic>
        <p:nvPicPr>
          <p:cNvPr id="77" name="Graphique 76" descr="Marcher avec un remplissage uni">
            <a:extLst>
              <a:ext uri="{FF2B5EF4-FFF2-40B4-BE49-F238E27FC236}">
                <a16:creationId xmlns:a16="http://schemas.microsoft.com/office/drawing/2014/main" id="{0386513C-B92C-4125-86EC-121A91A5BFC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7853592" y="5325010"/>
            <a:ext cx="586193" cy="496987"/>
          </a:xfrm>
          <a:prstGeom prst="rect">
            <a:avLst/>
          </a:prstGeom>
        </p:spPr>
      </p:pic>
      <p:pic>
        <p:nvPicPr>
          <p:cNvPr id="78" name="Graphique 77" descr="Marcher avec un remplissage uni">
            <a:extLst>
              <a:ext uri="{FF2B5EF4-FFF2-40B4-BE49-F238E27FC236}">
                <a16:creationId xmlns:a16="http://schemas.microsoft.com/office/drawing/2014/main" id="{CF0FA924-2163-43F4-8DA1-26D1EAC19C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8132216" y="5232227"/>
            <a:ext cx="586193" cy="496987"/>
          </a:xfrm>
          <a:prstGeom prst="rect">
            <a:avLst/>
          </a:prstGeom>
        </p:spPr>
      </p:pic>
      <p:pic>
        <p:nvPicPr>
          <p:cNvPr id="79" name="Graphique 78" descr="Marcher avec un remplissage uni">
            <a:extLst>
              <a:ext uri="{FF2B5EF4-FFF2-40B4-BE49-F238E27FC236}">
                <a16:creationId xmlns:a16="http://schemas.microsoft.com/office/drawing/2014/main" id="{268BFFB2-71FA-4568-AEFE-6540E12956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8331575" y="5334272"/>
            <a:ext cx="586193" cy="496987"/>
          </a:xfrm>
          <a:prstGeom prst="rect">
            <a:avLst/>
          </a:prstGeom>
        </p:spPr>
      </p:pic>
      <p:pic>
        <p:nvPicPr>
          <p:cNvPr id="80" name="Graphique 79" descr="Marcher avec un remplissage uni">
            <a:extLst>
              <a:ext uri="{FF2B5EF4-FFF2-40B4-BE49-F238E27FC236}">
                <a16:creationId xmlns:a16="http://schemas.microsoft.com/office/drawing/2014/main" id="{7148551B-1F8F-411A-9BC4-BE6C6D1424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6476737" y="4431077"/>
            <a:ext cx="586193" cy="496987"/>
          </a:xfrm>
          <a:prstGeom prst="rect">
            <a:avLst/>
          </a:prstGeom>
        </p:spPr>
      </p:pic>
      <p:pic>
        <p:nvPicPr>
          <p:cNvPr id="81" name="Graphique 80" descr="Marcher avec un remplissage uni">
            <a:extLst>
              <a:ext uri="{FF2B5EF4-FFF2-40B4-BE49-F238E27FC236}">
                <a16:creationId xmlns:a16="http://schemas.microsoft.com/office/drawing/2014/main" id="{74D699E6-1990-49CD-A179-88474450949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6755361" y="4338294"/>
            <a:ext cx="586193" cy="496987"/>
          </a:xfrm>
          <a:prstGeom prst="rect">
            <a:avLst/>
          </a:prstGeom>
        </p:spPr>
      </p:pic>
      <p:pic>
        <p:nvPicPr>
          <p:cNvPr id="82" name="Graphique 81" descr="Marcher avec un remplissage uni">
            <a:extLst>
              <a:ext uri="{FF2B5EF4-FFF2-40B4-BE49-F238E27FC236}">
                <a16:creationId xmlns:a16="http://schemas.microsoft.com/office/drawing/2014/main" id="{17D1891A-65CA-47ED-854B-F07EA90C570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6954720" y="4440339"/>
            <a:ext cx="586193" cy="496987"/>
          </a:xfrm>
          <a:prstGeom prst="rect">
            <a:avLst/>
          </a:prstGeom>
        </p:spPr>
      </p:pic>
      <p:sp>
        <p:nvSpPr>
          <p:cNvPr id="83" name="ZoneTexte 82">
            <a:extLst>
              <a:ext uri="{FF2B5EF4-FFF2-40B4-BE49-F238E27FC236}">
                <a16:creationId xmlns:a16="http://schemas.microsoft.com/office/drawing/2014/main" id="{CCFBA042-6CBD-4471-A5A3-177EDC3037CD}"/>
              </a:ext>
            </a:extLst>
          </p:cNvPr>
          <p:cNvSpPr txBox="1"/>
          <p:nvPr/>
        </p:nvSpPr>
        <p:spPr>
          <a:xfrm>
            <a:off x="1981322" y="3491414"/>
            <a:ext cx="1705858" cy="1200329"/>
          </a:xfrm>
          <a:prstGeom prst="rect">
            <a:avLst/>
          </a:prstGeom>
          <a:noFill/>
        </p:spPr>
        <p:txBody>
          <a:bodyPr wrap="square" rtlCol="0">
            <a:spAutoFit/>
          </a:bodyPr>
          <a:lstStyle/>
          <a:p>
            <a:pPr algn="ctr"/>
            <a:r>
              <a:rPr lang="fr-FR" dirty="0"/>
              <a:t>Pendant le tour d’idéation, les participants sont en groupe</a:t>
            </a:r>
          </a:p>
        </p:txBody>
      </p:sp>
      <p:sp>
        <p:nvSpPr>
          <p:cNvPr id="84" name="ZoneTexte 83">
            <a:extLst>
              <a:ext uri="{FF2B5EF4-FFF2-40B4-BE49-F238E27FC236}">
                <a16:creationId xmlns:a16="http://schemas.microsoft.com/office/drawing/2014/main" id="{C280701A-28C3-4B66-8EE9-5724734CD516}"/>
              </a:ext>
            </a:extLst>
          </p:cNvPr>
          <p:cNvSpPr txBox="1"/>
          <p:nvPr/>
        </p:nvSpPr>
        <p:spPr>
          <a:xfrm>
            <a:off x="7952238" y="3317555"/>
            <a:ext cx="1366135" cy="1384995"/>
          </a:xfrm>
          <a:prstGeom prst="rect">
            <a:avLst/>
          </a:prstGeom>
          <a:noFill/>
        </p:spPr>
        <p:txBody>
          <a:bodyPr wrap="square" rtlCol="0">
            <a:spAutoFit/>
          </a:bodyPr>
          <a:lstStyle/>
          <a:p>
            <a:pPr algn="ctr"/>
            <a:r>
              <a:rPr lang="fr-FR" sz="1400" dirty="0"/>
              <a:t>Entre les tours :</a:t>
            </a:r>
          </a:p>
          <a:p>
            <a:pPr algn="ctr"/>
            <a:r>
              <a:rPr lang="fr-FR" sz="1400" dirty="0"/>
              <a:t>Les participants circulent d’un atelier à l’autre (ordre prédéfini) </a:t>
            </a:r>
          </a:p>
        </p:txBody>
      </p:sp>
      <p:sp>
        <p:nvSpPr>
          <p:cNvPr id="3" name="Arc partiel 2">
            <a:extLst>
              <a:ext uri="{FF2B5EF4-FFF2-40B4-BE49-F238E27FC236}">
                <a16:creationId xmlns:a16="http://schemas.microsoft.com/office/drawing/2014/main" id="{700B49BD-E3B0-4EB5-88AD-67A37AA2B1E8}"/>
              </a:ext>
            </a:extLst>
          </p:cNvPr>
          <p:cNvSpPr/>
          <p:nvPr/>
        </p:nvSpPr>
        <p:spPr>
          <a:xfrm>
            <a:off x="6271311" y="4017266"/>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2" name="Arc partiel 91">
            <a:extLst>
              <a:ext uri="{FF2B5EF4-FFF2-40B4-BE49-F238E27FC236}">
                <a16:creationId xmlns:a16="http://schemas.microsoft.com/office/drawing/2014/main" id="{FF41001A-E3ED-400F-891E-E5FD8F175E57}"/>
              </a:ext>
            </a:extLst>
          </p:cNvPr>
          <p:cNvSpPr/>
          <p:nvPr/>
        </p:nvSpPr>
        <p:spPr>
          <a:xfrm>
            <a:off x="6981718" y="2705174"/>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3" name="Arc partiel 92">
            <a:extLst>
              <a:ext uri="{FF2B5EF4-FFF2-40B4-BE49-F238E27FC236}">
                <a16:creationId xmlns:a16="http://schemas.microsoft.com/office/drawing/2014/main" id="{E57C1D17-A9B9-4F3A-8A9E-70793705CC0C}"/>
              </a:ext>
            </a:extLst>
          </p:cNvPr>
          <p:cNvSpPr/>
          <p:nvPr/>
        </p:nvSpPr>
        <p:spPr>
          <a:xfrm>
            <a:off x="8686822" y="1923000"/>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4" name="Arc partiel 93">
            <a:extLst>
              <a:ext uri="{FF2B5EF4-FFF2-40B4-BE49-F238E27FC236}">
                <a16:creationId xmlns:a16="http://schemas.microsoft.com/office/drawing/2014/main" id="{AAF311A8-1EB0-42E0-8B5C-C8759F8E8583}"/>
              </a:ext>
            </a:extLst>
          </p:cNvPr>
          <p:cNvSpPr/>
          <p:nvPr/>
        </p:nvSpPr>
        <p:spPr>
          <a:xfrm>
            <a:off x="10183608" y="2994427"/>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Arc partiel 94">
            <a:extLst>
              <a:ext uri="{FF2B5EF4-FFF2-40B4-BE49-F238E27FC236}">
                <a16:creationId xmlns:a16="http://schemas.microsoft.com/office/drawing/2014/main" id="{E3922BED-6442-4352-9AE5-9DCDE69EE6B0}"/>
              </a:ext>
            </a:extLst>
          </p:cNvPr>
          <p:cNvSpPr/>
          <p:nvPr/>
        </p:nvSpPr>
        <p:spPr>
          <a:xfrm>
            <a:off x="10281346" y="4661674"/>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6" name="Arc partiel 95">
            <a:extLst>
              <a:ext uri="{FF2B5EF4-FFF2-40B4-BE49-F238E27FC236}">
                <a16:creationId xmlns:a16="http://schemas.microsoft.com/office/drawing/2014/main" id="{C6309AE3-C862-4951-9FF7-9A4C10A44DCB}"/>
              </a:ext>
            </a:extLst>
          </p:cNvPr>
          <p:cNvSpPr/>
          <p:nvPr/>
        </p:nvSpPr>
        <p:spPr>
          <a:xfrm>
            <a:off x="8952631" y="5603573"/>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7" name="Arc partiel 96">
            <a:extLst>
              <a:ext uri="{FF2B5EF4-FFF2-40B4-BE49-F238E27FC236}">
                <a16:creationId xmlns:a16="http://schemas.microsoft.com/office/drawing/2014/main" id="{1B9368E3-ACF4-4375-AA93-25EC7CE57776}"/>
              </a:ext>
            </a:extLst>
          </p:cNvPr>
          <p:cNvSpPr/>
          <p:nvPr/>
        </p:nvSpPr>
        <p:spPr>
          <a:xfrm>
            <a:off x="7256672" y="5355079"/>
            <a:ext cx="693470" cy="496987"/>
          </a:xfrm>
          <a:prstGeom prst="pie">
            <a:avLst>
              <a:gd name="adj1" fmla="val 11002020"/>
              <a:gd name="adj2" fmla="val 215777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1814746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81B330-51EC-449F-9D56-9F00AFB03F4D}"/>
              </a:ext>
            </a:extLst>
          </p:cNvPr>
          <p:cNvSpPr>
            <a:spLocks noGrp="1"/>
          </p:cNvSpPr>
          <p:nvPr>
            <p:ph type="title"/>
          </p:nvPr>
        </p:nvSpPr>
        <p:spPr/>
        <p:txBody>
          <a:bodyPr/>
          <a:lstStyle/>
          <a:p>
            <a:r>
              <a:rPr lang="fr-FR"/>
              <a:t>Détails logistiques</a:t>
            </a:r>
          </a:p>
        </p:txBody>
      </p:sp>
      <p:sp>
        <p:nvSpPr>
          <p:cNvPr id="3" name="Espace réservé du contenu 2">
            <a:extLst>
              <a:ext uri="{FF2B5EF4-FFF2-40B4-BE49-F238E27FC236}">
                <a16:creationId xmlns:a16="http://schemas.microsoft.com/office/drawing/2014/main" id="{FCC422FE-ED06-42AE-BCEF-EF783A33D32F}"/>
              </a:ext>
            </a:extLst>
          </p:cNvPr>
          <p:cNvSpPr>
            <a:spLocks noGrp="1"/>
          </p:cNvSpPr>
          <p:nvPr>
            <p:ph idx="1"/>
          </p:nvPr>
        </p:nvSpPr>
        <p:spPr>
          <a:xfrm>
            <a:off x="1016797" y="1602677"/>
            <a:ext cx="9991514" cy="1863515"/>
          </a:xfrm>
        </p:spPr>
        <p:txBody>
          <a:bodyPr>
            <a:normAutofit/>
          </a:bodyPr>
          <a:lstStyle/>
          <a:p>
            <a:r>
              <a:rPr lang="fr-FR" sz="1600" dirty="0"/>
              <a:t>Durée 2h max (préparer sur 1 base 1h30)</a:t>
            </a:r>
          </a:p>
          <a:p>
            <a:r>
              <a:rPr lang="fr-FR" sz="1600" dirty="0"/>
              <a:t>Etapes </a:t>
            </a:r>
          </a:p>
        </p:txBody>
      </p:sp>
      <p:graphicFrame>
        <p:nvGraphicFramePr>
          <p:cNvPr id="4" name="Tableau 4">
            <a:extLst>
              <a:ext uri="{FF2B5EF4-FFF2-40B4-BE49-F238E27FC236}">
                <a16:creationId xmlns:a16="http://schemas.microsoft.com/office/drawing/2014/main" id="{5B78EA02-803F-4EB1-BBD2-70630D153E79}"/>
              </a:ext>
            </a:extLst>
          </p:cNvPr>
          <p:cNvGraphicFramePr>
            <a:graphicFrameLocks noGrp="1"/>
          </p:cNvGraphicFramePr>
          <p:nvPr>
            <p:extLst>
              <p:ext uri="{D42A27DB-BD31-4B8C-83A1-F6EECF244321}">
                <p14:modId xmlns:p14="http://schemas.microsoft.com/office/powerpoint/2010/main" val="2762103902"/>
              </p:ext>
            </p:extLst>
          </p:nvPr>
        </p:nvGraphicFramePr>
        <p:xfrm>
          <a:off x="726015" y="3347384"/>
          <a:ext cx="10282296" cy="2565400"/>
        </p:xfrm>
        <a:graphic>
          <a:graphicData uri="http://schemas.openxmlformats.org/drawingml/2006/table">
            <a:tbl>
              <a:tblPr firstRow="1" firstCol="1" bandRow="1">
                <a:tableStyleId>{5C22544A-7EE6-4342-B048-85BDC9FD1C3A}</a:tableStyleId>
              </a:tblPr>
              <a:tblGrid>
                <a:gridCol w="1285287">
                  <a:extLst>
                    <a:ext uri="{9D8B030D-6E8A-4147-A177-3AD203B41FA5}">
                      <a16:colId xmlns:a16="http://schemas.microsoft.com/office/drawing/2014/main" val="970998074"/>
                    </a:ext>
                  </a:extLst>
                </a:gridCol>
                <a:gridCol w="1285287">
                  <a:extLst>
                    <a:ext uri="{9D8B030D-6E8A-4147-A177-3AD203B41FA5}">
                      <a16:colId xmlns:a16="http://schemas.microsoft.com/office/drawing/2014/main" val="3772730201"/>
                    </a:ext>
                  </a:extLst>
                </a:gridCol>
                <a:gridCol w="1285287">
                  <a:extLst>
                    <a:ext uri="{9D8B030D-6E8A-4147-A177-3AD203B41FA5}">
                      <a16:colId xmlns:a16="http://schemas.microsoft.com/office/drawing/2014/main" val="1203650606"/>
                    </a:ext>
                  </a:extLst>
                </a:gridCol>
                <a:gridCol w="1285287">
                  <a:extLst>
                    <a:ext uri="{9D8B030D-6E8A-4147-A177-3AD203B41FA5}">
                      <a16:colId xmlns:a16="http://schemas.microsoft.com/office/drawing/2014/main" val="1800547101"/>
                    </a:ext>
                  </a:extLst>
                </a:gridCol>
                <a:gridCol w="1285287">
                  <a:extLst>
                    <a:ext uri="{9D8B030D-6E8A-4147-A177-3AD203B41FA5}">
                      <a16:colId xmlns:a16="http://schemas.microsoft.com/office/drawing/2014/main" val="2322429668"/>
                    </a:ext>
                  </a:extLst>
                </a:gridCol>
                <a:gridCol w="1285287">
                  <a:extLst>
                    <a:ext uri="{9D8B030D-6E8A-4147-A177-3AD203B41FA5}">
                      <a16:colId xmlns:a16="http://schemas.microsoft.com/office/drawing/2014/main" val="2795136417"/>
                    </a:ext>
                  </a:extLst>
                </a:gridCol>
                <a:gridCol w="1285287">
                  <a:extLst>
                    <a:ext uri="{9D8B030D-6E8A-4147-A177-3AD203B41FA5}">
                      <a16:colId xmlns:a16="http://schemas.microsoft.com/office/drawing/2014/main" val="3683189080"/>
                    </a:ext>
                  </a:extLst>
                </a:gridCol>
                <a:gridCol w="1285287">
                  <a:extLst>
                    <a:ext uri="{9D8B030D-6E8A-4147-A177-3AD203B41FA5}">
                      <a16:colId xmlns:a16="http://schemas.microsoft.com/office/drawing/2014/main" val="1804344907"/>
                    </a:ext>
                  </a:extLst>
                </a:gridCol>
              </a:tblGrid>
              <a:tr h="370840">
                <a:tc>
                  <a:txBody>
                    <a:bodyPr/>
                    <a:lstStyle/>
                    <a:p>
                      <a:endParaRPr lang="fr-FR" sz="1400"/>
                    </a:p>
                  </a:txBody>
                  <a:tcPr/>
                </a:tc>
                <a:tc>
                  <a:txBody>
                    <a:bodyPr/>
                    <a:lstStyle/>
                    <a:p>
                      <a:r>
                        <a:rPr lang="fr-FR" sz="1400" dirty="0"/>
                        <a:t>Intro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effectLst/>
                          <a:uLnTx/>
                          <a:uFillTx/>
                          <a:latin typeface="Calibri" panose="020F0502020204030204"/>
                          <a:ea typeface="+mn-ea"/>
                          <a:cs typeface="+mn-cs"/>
                        </a:rPr>
                        <a:t>Tour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effectLst/>
                          <a:uLnTx/>
                          <a:uFillTx/>
                          <a:latin typeface="Calibri" panose="020F0502020204030204"/>
                          <a:ea typeface="+mn-ea"/>
                          <a:cs typeface="+mn-cs"/>
                        </a:rPr>
                        <a:t>Circulation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effectLst/>
                          <a:uLnTx/>
                          <a:uFillTx/>
                          <a:latin typeface="+mn-lt"/>
                          <a:ea typeface="+mn-ea"/>
                          <a:cs typeface="+mn-cs"/>
                        </a:rPr>
                        <a:t>Tour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effectLst/>
                          <a:uLnTx/>
                          <a:uFillTx/>
                          <a:latin typeface="+mn-lt"/>
                          <a:ea typeface="+mn-ea"/>
                          <a:cs typeface="+mn-cs"/>
                        </a:rPr>
                        <a:t>Circulation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effectLst/>
                          <a:uLnTx/>
                          <a:uFillTx/>
                          <a:latin typeface="+mn-lt"/>
                          <a:ea typeface="+mn-ea"/>
                          <a:cs typeface="+mn-cs"/>
                        </a:rPr>
                        <a:t>Tour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effectLst/>
                          <a:uLnTx/>
                          <a:uFillTx/>
                          <a:latin typeface="+mn-lt"/>
                          <a:ea typeface="+mn-ea"/>
                          <a:cs typeface="+mn-cs"/>
                        </a:rPr>
                        <a:t>Restitutions</a:t>
                      </a:r>
                    </a:p>
                  </a:txBody>
                  <a:tcPr/>
                </a:tc>
                <a:extLst>
                  <a:ext uri="{0D108BD9-81ED-4DB2-BD59-A6C34878D82A}">
                    <a16:rowId xmlns:a16="http://schemas.microsoft.com/office/drawing/2014/main" val="630918971"/>
                  </a:ext>
                </a:extLst>
              </a:tr>
              <a:tr h="370840">
                <a:tc>
                  <a:txBody>
                    <a:bodyPr/>
                    <a:lstStyle/>
                    <a:p>
                      <a:r>
                        <a:rPr lang="fr-FR" sz="1400" dirty="0"/>
                        <a:t>Combien de temps ? </a:t>
                      </a:r>
                    </a:p>
                    <a:p>
                      <a:r>
                        <a:rPr lang="fr-FR" sz="1400" dirty="0"/>
                        <a:t>Comment ?</a:t>
                      </a:r>
                    </a:p>
                  </a:txBody>
                  <a:tcPr/>
                </a:tc>
                <a:tc>
                  <a:txBody>
                    <a:bodyPr/>
                    <a:lstStyle/>
                    <a:p>
                      <a:r>
                        <a:rPr lang="fr-FR" sz="1100" dirty="0"/>
                        <a:t>10 minutes</a:t>
                      </a:r>
                    </a:p>
                    <a:p>
                      <a:r>
                        <a:rPr lang="fr-FR" sz="1100" dirty="0"/>
                        <a:t>En plénière</a:t>
                      </a:r>
                    </a:p>
                    <a:p>
                      <a:r>
                        <a:rPr lang="fr-FR" sz="1100" dirty="0"/>
                        <a:t>Animé par les lead animateurs</a:t>
                      </a:r>
                    </a:p>
                  </a:txBody>
                  <a:tcPr/>
                </a:tc>
                <a:tc>
                  <a:txBody>
                    <a:bodyPr/>
                    <a:lstStyle/>
                    <a:p>
                      <a:r>
                        <a:rPr lang="fr-FR" sz="1100" dirty="0"/>
                        <a:t>20 minutes</a:t>
                      </a:r>
                    </a:p>
                    <a:p>
                      <a:r>
                        <a:rPr lang="fr-FR" sz="1100" dirty="0"/>
                        <a:t>En petits groupes</a:t>
                      </a:r>
                    </a:p>
                  </a:txBody>
                  <a:tcPr/>
                </a:tc>
                <a:tc>
                  <a:txBody>
                    <a:bodyPr/>
                    <a:lstStyle/>
                    <a:p>
                      <a:r>
                        <a:rPr lang="fr-FR" sz="1100" dirty="0"/>
                        <a:t>5 minutes</a:t>
                      </a:r>
                    </a:p>
                    <a:p>
                      <a:r>
                        <a:rPr lang="fr-FR" sz="1100" dirty="0"/>
                        <a:t>En petits groupes</a:t>
                      </a:r>
                    </a:p>
                  </a:txBody>
                  <a:tcPr/>
                </a:tc>
                <a:tc>
                  <a:txBody>
                    <a:bodyPr/>
                    <a:lstStyle/>
                    <a:p>
                      <a:pPr lvl="0">
                        <a:buNone/>
                      </a:pPr>
                      <a:r>
                        <a:rPr lang="fr-FR" sz="1100" b="0" i="0" u="none" strike="noStrike" noProof="0" dirty="0">
                          <a:latin typeface="Calibri"/>
                        </a:rPr>
                        <a:t>20 minutes</a:t>
                      </a:r>
                    </a:p>
                    <a:p>
                      <a:pPr lvl="0">
                        <a:buNone/>
                      </a:pPr>
                      <a:r>
                        <a:rPr lang="fr-FR" sz="1100" b="0" i="0" u="none" strike="noStrike" noProof="0" dirty="0">
                          <a:latin typeface="Calibri"/>
                        </a:rPr>
                        <a:t>En petits groupes</a:t>
                      </a:r>
                      <a:endParaRPr lang="fr-FR" dirty="0"/>
                    </a:p>
                  </a:txBody>
                  <a:tcPr/>
                </a:tc>
                <a:tc>
                  <a:txBody>
                    <a:bodyPr/>
                    <a:lstStyle/>
                    <a:p>
                      <a:r>
                        <a:rPr lang="fr-FR" sz="1100" dirty="0"/>
                        <a:t>5 minutes</a:t>
                      </a:r>
                    </a:p>
                    <a:p>
                      <a:r>
                        <a:rPr lang="fr-FR" sz="1100" dirty="0"/>
                        <a:t>En petits groupes</a:t>
                      </a:r>
                    </a:p>
                  </a:txBody>
                  <a:tcPr/>
                </a:tc>
                <a:tc>
                  <a:txBody>
                    <a:bodyPr/>
                    <a:lstStyle/>
                    <a:p>
                      <a:pPr lvl="0">
                        <a:buNone/>
                      </a:pPr>
                      <a:r>
                        <a:rPr lang="fr-FR" sz="1100" b="0" i="0" u="none" strike="noStrike" noProof="0" dirty="0">
                          <a:latin typeface="Calibri"/>
                        </a:rPr>
                        <a:t>20 minutes</a:t>
                      </a:r>
                    </a:p>
                    <a:p>
                      <a:pPr lvl="0">
                        <a:buNone/>
                      </a:pPr>
                      <a:r>
                        <a:rPr lang="fr-FR" sz="1100" b="0" i="0" u="none" strike="noStrike" noProof="0" dirty="0">
                          <a:latin typeface="Calibri"/>
                        </a:rPr>
                        <a:t>En petits groupes</a:t>
                      </a:r>
                      <a:endParaRPr lang="fr-FR" dirty="0"/>
                    </a:p>
                  </a:txBody>
                  <a:tcPr/>
                </a:tc>
                <a:tc>
                  <a:txBody>
                    <a:bodyPr/>
                    <a:lstStyle/>
                    <a:p>
                      <a:r>
                        <a:rPr lang="fr-FR" sz="1100" dirty="0"/>
                        <a:t>Temps restant </a:t>
                      </a:r>
                    </a:p>
                    <a:p>
                      <a:r>
                        <a:rPr lang="fr-FR" sz="1100" dirty="0"/>
                        <a:t>En plénière</a:t>
                      </a:r>
                    </a:p>
                    <a:p>
                      <a:r>
                        <a:rPr lang="fr-FR" sz="1100" dirty="0"/>
                        <a:t>Animé par les lead animateurs</a:t>
                      </a:r>
                    </a:p>
                  </a:txBody>
                  <a:tcPr/>
                </a:tc>
                <a:extLst>
                  <a:ext uri="{0D108BD9-81ED-4DB2-BD59-A6C34878D82A}">
                    <a16:rowId xmlns:a16="http://schemas.microsoft.com/office/drawing/2014/main" val="2372697043"/>
                  </a:ext>
                </a:extLst>
              </a:tr>
              <a:tr h="370840">
                <a:tc>
                  <a:txBody>
                    <a:bodyPr/>
                    <a:lstStyle/>
                    <a:p>
                      <a:r>
                        <a:rPr lang="fr-FR" sz="1400" dirty="0"/>
                        <a:t>Que font les participants ?</a:t>
                      </a:r>
                    </a:p>
                  </a:txBody>
                  <a:tcPr/>
                </a:tc>
                <a:tc>
                  <a:txBody>
                    <a:bodyPr/>
                    <a:lstStyle/>
                    <a:p>
                      <a:pPr marL="228600" indent="-228600">
                        <a:buAutoNum type="arabicPeriod"/>
                      </a:pPr>
                      <a:r>
                        <a:rPr lang="fr-FR" sz="1100" dirty="0"/>
                        <a:t>Découverte du déroulement général </a:t>
                      </a:r>
                    </a:p>
                    <a:p>
                      <a:pPr marL="228600" indent="-228600">
                        <a:buAutoNum type="arabicPeriod"/>
                      </a:pPr>
                      <a:r>
                        <a:rPr lang="fr-FR" sz="1100" dirty="0"/>
                        <a:t>Constitution des groupes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Les participants effectuent ce qui est attendu d’eux en atelier</a:t>
                      </a:r>
                    </a:p>
                    <a:p>
                      <a:endParaRPr lang="fr-FR" sz="1100" dirty="0"/>
                    </a:p>
                  </a:txBody>
                  <a:tcPr/>
                </a:tc>
                <a:tc>
                  <a:txBody>
                    <a:bodyPr/>
                    <a:lstStyle/>
                    <a:p>
                      <a:pPr marL="0" indent="0">
                        <a:buFont typeface="Arial" panose="020B0604020202020204" pitchFamily="34" charset="0"/>
                        <a:buNone/>
                      </a:pPr>
                      <a:r>
                        <a:rPr lang="fr-FR" sz="1100" dirty="0"/>
                        <a:t>Circulation vers l’atelier suivant (prédéfini, voir la slide suivante)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Les participants effectuent ce qui est attendu d’eux en atelier</a:t>
                      </a:r>
                    </a:p>
                    <a:p>
                      <a:endParaRPr lang="fr-FR" sz="1100" dirty="0"/>
                    </a:p>
                  </a:txBody>
                  <a:tcPr/>
                </a:tc>
                <a:tc>
                  <a:txBody>
                    <a:bodyPr/>
                    <a:lstStyle/>
                    <a:p>
                      <a:pPr marL="0" indent="0">
                        <a:buFont typeface="Arial" panose="020B0604020202020204" pitchFamily="34" charset="0"/>
                        <a:buNone/>
                      </a:pPr>
                      <a:r>
                        <a:rPr lang="fr-FR" sz="1100" dirty="0"/>
                        <a:t>Circulation vers l’atelier suivant (prédéfini, voir la slide suivante)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Les participants effectuent ce qui est attendu d’eux en atelier</a:t>
                      </a:r>
                    </a:p>
                  </a:txBody>
                  <a:tcPr/>
                </a:tc>
                <a:tc>
                  <a:txBody>
                    <a:bodyPr/>
                    <a:lstStyle/>
                    <a:p>
                      <a:r>
                        <a:rPr lang="fr-FR" sz="1100" dirty="0"/>
                        <a:t>Les groupes se retrouvent et affichent leurs résultats. </a:t>
                      </a:r>
                    </a:p>
                    <a:p>
                      <a:r>
                        <a:rPr lang="fr-FR" sz="1100" dirty="0"/>
                        <a:t>Les groupes qui ont fait des pitch, et flash actus passent sur scène.</a:t>
                      </a:r>
                    </a:p>
                  </a:txBody>
                  <a:tcPr/>
                </a:tc>
                <a:extLst>
                  <a:ext uri="{0D108BD9-81ED-4DB2-BD59-A6C34878D82A}">
                    <a16:rowId xmlns:a16="http://schemas.microsoft.com/office/drawing/2014/main" val="145168779"/>
                  </a:ext>
                </a:extLst>
              </a:tr>
            </a:tbl>
          </a:graphicData>
        </a:graphic>
      </p:graphicFrame>
      <p:grpSp>
        <p:nvGrpSpPr>
          <p:cNvPr id="16" name="Groupe 15">
            <a:extLst>
              <a:ext uri="{FF2B5EF4-FFF2-40B4-BE49-F238E27FC236}">
                <a16:creationId xmlns:a16="http://schemas.microsoft.com/office/drawing/2014/main" id="{6536BEA1-ABF8-4113-A6FF-56C2F1E38F7B}"/>
              </a:ext>
            </a:extLst>
          </p:cNvPr>
          <p:cNvGrpSpPr/>
          <p:nvPr/>
        </p:nvGrpSpPr>
        <p:grpSpPr>
          <a:xfrm>
            <a:off x="3354807" y="2324675"/>
            <a:ext cx="1036027" cy="1010817"/>
            <a:chOff x="3213730" y="3235022"/>
            <a:chExt cx="1036027" cy="1010817"/>
          </a:xfrm>
        </p:grpSpPr>
        <p:pic>
          <p:nvPicPr>
            <p:cNvPr id="6" name="Graphique 5" descr="Réunion avec un remplissage uni">
              <a:extLst>
                <a:ext uri="{FF2B5EF4-FFF2-40B4-BE49-F238E27FC236}">
                  <a16:creationId xmlns:a16="http://schemas.microsoft.com/office/drawing/2014/main" id="{F340BA58-2217-46AC-895D-459D203CEC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80928" y="3235022"/>
              <a:ext cx="914400" cy="914400"/>
            </a:xfrm>
            <a:prstGeom prst="rect">
              <a:avLst/>
            </a:prstGeom>
          </p:spPr>
        </p:pic>
        <p:pic>
          <p:nvPicPr>
            <p:cNvPr id="7" name="Graphique 6" descr="Utilisateur avec un remplissage uni">
              <a:extLst>
                <a:ext uri="{FF2B5EF4-FFF2-40B4-BE49-F238E27FC236}">
                  <a16:creationId xmlns:a16="http://schemas.microsoft.com/office/drawing/2014/main" id="{72D9638E-6EA2-4764-A91F-95868A7080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3730" y="3751316"/>
              <a:ext cx="398106" cy="398106"/>
            </a:xfrm>
            <a:prstGeom prst="rect">
              <a:avLst/>
            </a:prstGeom>
          </p:spPr>
        </p:pic>
        <p:pic>
          <p:nvPicPr>
            <p:cNvPr id="8" name="Graphique 7" descr="Utilisateur avec un remplissage uni">
              <a:extLst>
                <a:ext uri="{FF2B5EF4-FFF2-40B4-BE49-F238E27FC236}">
                  <a16:creationId xmlns:a16="http://schemas.microsoft.com/office/drawing/2014/main" id="{CDE27C58-5C2E-4919-8C56-BC45908605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39075" y="3847733"/>
              <a:ext cx="398106" cy="398106"/>
            </a:xfrm>
            <a:prstGeom prst="rect">
              <a:avLst/>
            </a:prstGeom>
          </p:spPr>
        </p:pic>
        <p:pic>
          <p:nvPicPr>
            <p:cNvPr id="9" name="Graphique 8" descr="Utilisateur avec un remplissage uni">
              <a:extLst>
                <a:ext uri="{FF2B5EF4-FFF2-40B4-BE49-F238E27FC236}">
                  <a16:creationId xmlns:a16="http://schemas.microsoft.com/office/drawing/2014/main" id="{1A64D309-71C8-444D-BEB2-2AF1C2D6C6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51651" y="3751316"/>
              <a:ext cx="398106" cy="398106"/>
            </a:xfrm>
            <a:prstGeom prst="rect">
              <a:avLst/>
            </a:prstGeom>
          </p:spPr>
        </p:pic>
      </p:grpSp>
      <p:grpSp>
        <p:nvGrpSpPr>
          <p:cNvPr id="15" name="Groupe 14">
            <a:extLst>
              <a:ext uri="{FF2B5EF4-FFF2-40B4-BE49-F238E27FC236}">
                <a16:creationId xmlns:a16="http://schemas.microsoft.com/office/drawing/2014/main" id="{3D8C41FE-6299-4C88-9063-8CB89907156B}"/>
              </a:ext>
            </a:extLst>
          </p:cNvPr>
          <p:cNvGrpSpPr/>
          <p:nvPr/>
        </p:nvGrpSpPr>
        <p:grpSpPr>
          <a:xfrm>
            <a:off x="4575421" y="2415204"/>
            <a:ext cx="812359" cy="851530"/>
            <a:chOff x="6076713" y="2272177"/>
            <a:chExt cx="1691648" cy="1773218"/>
          </a:xfrm>
        </p:grpSpPr>
        <p:pic>
          <p:nvPicPr>
            <p:cNvPr id="14" name="Graphique 13" descr="Réunion avec un remplissage uni">
              <a:extLst>
                <a:ext uri="{FF2B5EF4-FFF2-40B4-BE49-F238E27FC236}">
                  <a16:creationId xmlns:a16="http://schemas.microsoft.com/office/drawing/2014/main" id="{42B442A5-DD49-4AFB-A4D3-B900BA73E2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76713" y="3130995"/>
              <a:ext cx="914400" cy="914400"/>
            </a:xfrm>
            <a:prstGeom prst="rect">
              <a:avLst/>
            </a:prstGeom>
          </p:spPr>
        </p:pic>
        <p:sp>
          <p:nvSpPr>
            <p:cNvPr id="5" name="Flèche : droite 4">
              <a:extLst>
                <a:ext uri="{FF2B5EF4-FFF2-40B4-BE49-F238E27FC236}">
                  <a16:creationId xmlns:a16="http://schemas.microsoft.com/office/drawing/2014/main" id="{35E97FD9-4FC6-40E9-B2D4-E4A9B4FDFE0D}"/>
                </a:ext>
              </a:extLst>
            </p:cNvPr>
            <p:cNvSpPr/>
            <p:nvPr/>
          </p:nvSpPr>
          <p:spPr>
            <a:xfrm rot="18665031">
              <a:off x="6329125" y="3000188"/>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Graphique 9" descr="Réunion avec un remplissage uni">
              <a:extLst>
                <a:ext uri="{FF2B5EF4-FFF2-40B4-BE49-F238E27FC236}">
                  <a16:creationId xmlns:a16="http://schemas.microsoft.com/office/drawing/2014/main" id="{C3BEEC54-738A-4CA1-9D47-A95D73273B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3961" y="2272177"/>
              <a:ext cx="914400" cy="914400"/>
            </a:xfrm>
            <a:prstGeom prst="rect">
              <a:avLst/>
            </a:prstGeom>
          </p:spPr>
        </p:pic>
        <p:pic>
          <p:nvPicPr>
            <p:cNvPr id="11" name="Graphique 10" descr="Marcher avec un remplissage uni">
              <a:extLst>
                <a:ext uri="{FF2B5EF4-FFF2-40B4-BE49-F238E27FC236}">
                  <a16:creationId xmlns:a16="http://schemas.microsoft.com/office/drawing/2014/main" id="{14B64911-0DAF-4663-A9B1-EB621AC89B3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26650" y="3015585"/>
              <a:ext cx="496987" cy="496987"/>
            </a:xfrm>
            <a:prstGeom prst="rect">
              <a:avLst/>
            </a:prstGeom>
          </p:spPr>
        </p:pic>
        <p:pic>
          <p:nvPicPr>
            <p:cNvPr id="12" name="Graphique 11" descr="Marcher avec un remplissage uni">
              <a:extLst>
                <a:ext uri="{FF2B5EF4-FFF2-40B4-BE49-F238E27FC236}">
                  <a16:creationId xmlns:a16="http://schemas.microsoft.com/office/drawing/2014/main" id="{A8A89116-8412-4CEB-9767-7DB555B38D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05274" y="2922802"/>
              <a:ext cx="496987" cy="496987"/>
            </a:xfrm>
            <a:prstGeom prst="rect">
              <a:avLst/>
            </a:prstGeom>
          </p:spPr>
        </p:pic>
        <p:pic>
          <p:nvPicPr>
            <p:cNvPr id="13" name="Graphique 12" descr="Marcher avec un remplissage uni">
              <a:extLst>
                <a:ext uri="{FF2B5EF4-FFF2-40B4-BE49-F238E27FC236}">
                  <a16:creationId xmlns:a16="http://schemas.microsoft.com/office/drawing/2014/main" id="{9BA045DD-8F87-48F6-A82B-6D6F89755D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04633" y="3024847"/>
              <a:ext cx="496987" cy="496987"/>
            </a:xfrm>
            <a:prstGeom prst="rect">
              <a:avLst/>
            </a:prstGeom>
          </p:spPr>
        </p:pic>
      </p:grpSp>
      <p:grpSp>
        <p:nvGrpSpPr>
          <p:cNvPr id="17" name="Groupe 16">
            <a:extLst>
              <a:ext uri="{FF2B5EF4-FFF2-40B4-BE49-F238E27FC236}">
                <a16:creationId xmlns:a16="http://schemas.microsoft.com/office/drawing/2014/main" id="{F59C2C49-E706-40CF-BE3C-F286D27F30AA}"/>
              </a:ext>
            </a:extLst>
          </p:cNvPr>
          <p:cNvGrpSpPr/>
          <p:nvPr/>
        </p:nvGrpSpPr>
        <p:grpSpPr>
          <a:xfrm>
            <a:off x="5668777" y="2336567"/>
            <a:ext cx="1036027" cy="1010817"/>
            <a:chOff x="3213730" y="3235022"/>
            <a:chExt cx="1036027" cy="1010817"/>
          </a:xfrm>
        </p:grpSpPr>
        <p:pic>
          <p:nvPicPr>
            <p:cNvPr id="18" name="Graphique 17" descr="Réunion avec un remplissage uni">
              <a:extLst>
                <a:ext uri="{FF2B5EF4-FFF2-40B4-BE49-F238E27FC236}">
                  <a16:creationId xmlns:a16="http://schemas.microsoft.com/office/drawing/2014/main" id="{18B792D0-699B-4B93-BD49-55801603EB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80928" y="3235022"/>
              <a:ext cx="914400" cy="914400"/>
            </a:xfrm>
            <a:prstGeom prst="rect">
              <a:avLst/>
            </a:prstGeom>
          </p:spPr>
        </p:pic>
        <p:pic>
          <p:nvPicPr>
            <p:cNvPr id="19" name="Graphique 18" descr="Utilisateur avec un remplissage uni">
              <a:extLst>
                <a:ext uri="{FF2B5EF4-FFF2-40B4-BE49-F238E27FC236}">
                  <a16:creationId xmlns:a16="http://schemas.microsoft.com/office/drawing/2014/main" id="{B3F44B39-E4D5-42E8-BA9F-61328B2D3A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3730" y="3751316"/>
              <a:ext cx="398106" cy="398106"/>
            </a:xfrm>
            <a:prstGeom prst="rect">
              <a:avLst/>
            </a:prstGeom>
          </p:spPr>
        </p:pic>
        <p:pic>
          <p:nvPicPr>
            <p:cNvPr id="20" name="Graphique 19" descr="Utilisateur avec un remplissage uni">
              <a:extLst>
                <a:ext uri="{FF2B5EF4-FFF2-40B4-BE49-F238E27FC236}">
                  <a16:creationId xmlns:a16="http://schemas.microsoft.com/office/drawing/2014/main" id="{E8228C34-A323-42FE-B10A-5FD51CF7CE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39075" y="3847733"/>
              <a:ext cx="398106" cy="398106"/>
            </a:xfrm>
            <a:prstGeom prst="rect">
              <a:avLst/>
            </a:prstGeom>
          </p:spPr>
        </p:pic>
        <p:pic>
          <p:nvPicPr>
            <p:cNvPr id="21" name="Graphique 20" descr="Utilisateur avec un remplissage uni">
              <a:extLst>
                <a:ext uri="{FF2B5EF4-FFF2-40B4-BE49-F238E27FC236}">
                  <a16:creationId xmlns:a16="http://schemas.microsoft.com/office/drawing/2014/main" id="{5029B37E-CC0B-41EE-9F27-CED6573232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51651" y="3751316"/>
              <a:ext cx="398106" cy="398106"/>
            </a:xfrm>
            <a:prstGeom prst="rect">
              <a:avLst/>
            </a:prstGeom>
          </p:spPr>
        </p:pic>
      </p:grpSp>
      <p:grpSp>
        <p:nvGrpSpPr>
          <p:cNvPr id="22" name="Groupe 21">
            <a:extLst>
              <a:ext uri="{FF2B5EF4-FFF2-40B4-BE49-F238E27FC236}">
                <a16:creationId xmlns:a16="http://schemas.microsoft.com/office/drawing/2014/main" id="{EC696262-2E34-43CE-9EA3-4C0D5A025E1C}"/>
              </a:ext>
            </a:extLst>
          </p:cNvPr>
          <p:cNvGrpSpPr/>
          <p:nvPr/>
        </p:nvGrpSpPr>
        <p:grpSpPr>
          <a:xfrm>
            <a:off x="7026513" y="2483962"/>
            <a:ext cx="812359" cy="851530"/>
            <a:chOff x="6076713" y="2272177"/>
            <a:chExt cx="1691648" cy="1773218"/>
          </a:xfrm>
        </p:grpSpPr>
        <p:pic>
          <p:nvPicPr>
            <p:cNvPr id="23" name="Graphique 22" descr="Réunion avec un remplissage uni">
              <a:extLst>
                <a:ext uri="{FF2B5EF4-FFF2-40B4-BE49-F238E27FC236}">
                  <a16:creationId xmlns:a16="http://schemas.microsoft.com/office/drawing/2014/main" id="{3A62FBB0-7C44-4C3F-9451-EF90282D63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76713" y="3130995"/>
              <a:ext cx="914400" cy="914400"/>
            </a:xfrm>
            <a:prstGeom prst="rect">
              <a:avLst/>
            </a:prstGeom>
          </p:spPr>
        </p:pic>
        <p:sp>
          <p:nvSpPr>
            <p:cNvPr id="24" name="Flèche : droite 23">
              <a:extLst>
                <a:ext uri="{FF2B5EF4-FFF2-40B4-BE49-F238E27FC236}">
                  <a16:creationId xmlns:a16="http://schemas.microsoft.com/office/drawing/2014/main" id="{A045000B-8390-4981-A4D6-EA8708123B90}"/>
                </a:ext>
              </a:extLst>
            </p:cNvPr>
            <p:cNvSpPr/>
            <p:nvPr/>
          </p:nvSpPr>
          <p:spPr>
            <a:xfrm rot="18665031">
              <a:off x="6329125" y="3000188"/>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5" name="Graphique 24" descr="Réunion avec un remplissage uni">
              <a:extLst>
                <a:ext uri="{FF2B5EF4-FFF2-40B4-BE49-F238E27FC236}">
                  <a16:creationId xmlns:a16="http://schemas.microsoft.com/office/drawing/2014/main" id="{45060FBF-9858-4307-9336-81F6F6A822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3961" y="2272177"/>
              <a:ext cx="914400" cy="914400"/>
            </a:xfrm>
            <a:prstGeom prst="rect">
              <a:avLst/>
            </a:prstGeom>
          </p:spPr>
        </p:pic>
        <p:pic>
          <p:nvPicPr>
            <p:cNvPr id="26" name="Graphique 25" descr="Marcher avec un remplissage uni">
              <a:extLst>
                <a:ext uri="{FF2B5EF4-FFF2-40B4-BE49-F238E27FC236}">
                  <a16:creationId xmlns:a16="http://schemas.microsoft.com/office/drawing/2014/main" id="{A00CC716-D922-4606-A35B-AFD08C0E84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26650" y="3015585"/>
              <a:ext cx="496987" cy="496987"/>
            </a:xfrm>
            <a:prstGeom prst="rect">
              <a:avLst/>
            </a:prstGeom>
          </p:spPr>
        </p:pic>
        <p:pic>
          <p:nvPicPr>
            <p:cNvPr id="27" name="Graphique 26" descr="Marcher avec un remplissage uni">
              <a:extLst>
                <a:ext uri="{FF2B5EF4-FFF2-40B4-BE49-F238E27FC236}">
                  <a16:creationId xmlns:a16="http://schemas.microsoft.com/office/drawing/2014/main" id="{94599F57-6D3B-4B76-91C1-6956109CAD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05274" y="2922802"/>
              <a:ext cx="496987" cy="496987"/>
            </a:xfrm>
            <a:prstGeom prst="rect">
              <a:avLst/>
            </a:prstGeom>
          </p:spPr>
        </p:pic>
        <p:pic>
          <p:nvPicPr>
            <p:cNvPr id="28" name="Graphique 27" descr="Marcher avec un remplissage uni">
              <a:extLst>
                <a:ext uri="{FF2B5EF4-FFF2-40B4-BE49-F238E27FC236}">
                  <a16:creationId xmlns:a16="http://schemas.microsoft.com/office/drawing/2014/main" id="{5764A475-4F39-4AC0-8CED-0AB9C16E99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04633" y="3024847"/>
              <a:ext cx="496987" cy="496987"/>
            </a:xfrm>
            <a:prstGeom prst="rect">
              <a:avLst/>
            </a:prstGeom>
          </p:spPr>
        </p:pic>
      </p:grpSp>
      <p:grpSp>
        <p:nvGrpSpPr>
          <p:cNvPr id="36" name="Groupe 35">
            <a:extLst>
              <a:ext uri="{FF2B5EF4-FFF2-40B4-BE49-F238E27FC236}">
                <a16:creationId xmlns:a16="http://schemas.microsoft.com/office/drawing/2014/main" id="{5A1D53DA-3E7D-4648-8D5B-24A972C6DEF7}"/>
              </a:ext>
            </a:extLst>
          </p:cNvPr>
          <p:cNvGrpSpPr/>
          <p:nvPr/>
        </p:nvGrpSpPr>
        <p:grpSpPr>
          <a:xfrm>
            <a:off x="8244399" y="2348906"/>
            <a:ext cx="1036027" cy="1010817"/>
            <a:chOff x="3213730" y="3235022"/>
            <a:chExt cx="1036027" cy="1010817"/>
          </a:xfrm>
        </p:grpSpPr>
        <p:pic>
          <p:nvPicPr>
            <p:cNvPr id="37" name="Graphique 36" descr="Réunion avec un remplissage uni">
              <a:extLst>
                <a:ext uri="{FF2B5EF4-FFF2-40B4-BE49-F238E27FC236}">
                  <a16:creationId xmlns:a16="http://schemas.microsoft.com/office/drawing/2014/main" id="{D5A1D619-F3AF-4AFD-BD3E-C106774CB0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80928" y="3235022"/>
              <a:ext cx="914400" cy="914400"/>
            </a:xfrm>
            <a:prstGeom prst="rect">
              <a:avLst/>
            </a:prstGeom>
          </p:spPr>
        </p:pic>
        <p:pic>
          <p:nvPicPr>
            <p:cNvPr id="38" name="Graphique 37" descr="Utilisateur avec un remplissage uni">
              <a:extLst>
                <a:ext uri="{FF2B5EF4-FFF2-40B4-BE49-F238E27FC236}">
                  <a16:creationId xmlns:a16="http://schemas.microsoft.com/office/drawing/2014/main" id="{2C80D33B-1F72-46FC-ACBA-B8CF51F20F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3730" y="3751316"/>
              <a:ext cx="398106" cy="398106"/>
            </a:xfrm>
            <a:prstGeom prst="rect">
              <a:avLst/>
            </a:prstGeom>
          </p:spPr>
        </p:pic>
        <p:pic>
          <p:nvPicPr>
            <p:cNvPr id="39" name="Graphique 38" descr="Utilisateur avec un remplissage uni">
              <a:extLst>
                <a:ext uri="{FF2B5EF4-FFF2-40B4-BE49-F238E27FC236}">
                  <a16:creationId xmlns:a16="http://schemas.microsoft.com/office/drawing/2014/main" id="{20DEBA97-B5D3-4B2C-9AF5-3C90FFAF9B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39075" y="3847733"/>
              <a:ext cx="398106" cy="398106"/>
            </a:xfrm>
            <a:prstGeom prst="rect">
              <a:avLst/>
            </a:prstGeom>
          </p:spPr>
        </p:pic>
        <p:pic>
          <p:nvPicPr>
            <p:cNvPr id="40" name="Graphique 39" descr="Utilisateur avec un remplissage uni">
              <a:extLst>
                <a:ext uri="{FF2B5EF4-FFF2-40B4-BE49-F238E27FC236}">
                  <a16:creationId xmlns:a16="http://schemas.microsoft.com/office/drawing/2014/main" id="{7013D987-B19D-4FDB-837A-41DC7EA807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51651" y="3751316"/>
              <a:ext cx="398106" cy="398106"/>
            </a:xfrm>
            <a:prstGeom prst="rect">
              <a:avLst/>
            </a:prstGeom>
          </p:spPr>
        </p:pic>
      </p:grpSp>
      <p:pic>
        <p:nvPicPr>
          <p:cNvPr id="42" name="Graphique 41" descr="Enseignant avec un remplissage uni">
            <a:extLst>
              <a:ext uri="{FF2B5EF4-FFF2-40B4-BE49-F238E27FC236}">
                <a16:creationId xmlns:a16="http://schemas.microsoft.com/office/drawing/2014/main" id="{EC21B889-C3AF-44D0-8C16-E43A50177C1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45880" y="2388207"/>
            <a:ext cx="914400" cy="914400"/>
          </a:xfrm>
          <a:prstGeom prst="rect">
            <a:avLst/>
          </a:prstGeom>
        </p:spPr>
      </p:pic>
      <p:pic>
        <p:nvPicPr>
          <p:cNvPr id="35" name="Graphique 34" descr="Enseignant avec un remplissage uni">
            <a:extLst>
              <a:ext uri="{FF2B5EF4-FFF2-40B4-BE49-F238E27FC236}">
                <a16:creationId xmlns:a16="http://schemas.microsoft.com/office/drawing/2014/main" id="{477901A6-75F1-43B6-A24E-3A37B8FCB96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84844" y="2420724"/>
            <a:ext cx="486860" cy="486860"/>
          </a:xfrm>
          <a:prstGeom prst="rect">
            <a:avLst/>
          </a:prstGeom>
        </p:spPr>
      </p:pic>
    </p:spTree>
    <p:extLst>
      <p:ext uri="{BB962C8B-B14F-4D97-AF65-F5344CB8AC3E}">
        <p14:creationId xmlns:p14="http://schemas.microsoft.com/office/powerpoint/2010/main" val="771809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95">
            <a:extLst>
              <a:ext uri="{FF2B5EF4-FFF2-40B4-BE49-F238E27FC236}">
                <a16:creationId xmlns:a16="http://schemas.microsoft.com/office/drawing/2014/main" id="{6F7DA391-439D-4D9B-AA6C-5C0897AC2ADE}"/>
              </a:ext>
            </a:extLst>
          </p:cNvPr>
          <p:cNvSpPr/>
          <p:nvPr/>
        </p:nvSpPr>
        <p:spPr>
          <a:xfrm>
            <a:off x="7333493" y="5771453"/>
            <a:ext cx="1461080"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Format : Un panel d’images</a:t>
            </a:r>
          </a:p>
          <a:p>
            <a:pPr algn="ctr"/>
            <a:endParaRPr lang="fr-FR" sz="1100">
              <a:solidFill>
                <a:schemeClr val="tx1"/>
              </a:solidFill>
            </a:endParaRPr>
          </a:p>
          <a:p>
            <a:pPr algn="ctr"/>
            <a:r>
              <a:rPr lang="fr-FR" sz="1100">
                <a:solidFill>
                  <a:schemeClr val="tx1"/>
                </a:solidFill>
              </a:rPr>
              <a:t>Sujet : Les espaces de travail</a:t>
            </a:r>
          </a:p>
        </p:txBody>
      </p:sp>
      <p:sp>
        <p:nvSpPr>
          <p:cNvPr id="2" name="Titre 1">
            <a:extLst>
              <a:ext uri="{FF2B5EF4-FFF2-40B4-BE49-F238E27FC236}">
                <a16:creationId xmlns:a16="http://schemas.microsoft.com/office/drawing/2014/main" id="{03FA6FB1-977A-45A0-A036-1C55C3CEC2A1}"/>
              </a:ext>
            </a:extLst>
          </p:cNvPr>
          <p:cNvSpPr>
            <a:spLocks noGrp="1"/>
          </p:cNvSpPr>
          <p:nvPr>
            <p:ph type="title"/>
          </p:nvPr>
        </p:nvSpPr>
        <p:spPr>
          <a:xfrm>
            <a:off x="595618" y="152387"/>
            <a:ext cx="9964710" cy="1325563"/>
          </a:xfrm>
        </p:spPr>
        <p:txBody>
          <a:bodyPr/>
          <a:lstStyle/>
          <a:p>
            <a:r>
              <a:rPr lang="fr-FR"/>
              <a:t>Ateliers</a:t>
            </a:r>
          </a:p>
        </p:txBody>
      </p:sp>
      <p:pic>
        <p:nvPicPr>
          <p:cNvPr id="4" name="Graphique 3" descr="Réunion avec un remplissage uni">
            <a:extLst>
              <a:ext uri="{FF2B5EF4-FFF2-40B4-BE49-F238E27FC236}">
                <a16:creationId xmlns:a16="http://schemas.microsoft.com/office/drawing/2014/main" id="{57DF4C01-6F68-46AF-A069-7FD1DBD261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57220" y="3531018"/>
            <a:ext cx="914400" cy="914400"/>
          </a:xfrm>
          <a:prstGeom prst="rect">
            <a:avLst/>
          </a:prstGeom>
        </p:spPr>
      </p:pic>
      <p:pic>
        <p:nvPicPr>
          <p:cNvPr id="6" name="Graphique 5" descr="Utilisateur avec un remplissage uni">
            <a:extLst>
              <a:ext uri="{FF2B5EF4-FFF2-40B4-BE49-F238E27FC236}">
                <a16:creationId xmlns:a16="http://schemas.microsoft.com/office/drawing/2014/main" id="{2EF3C94C-CC2A-4C9E-A3D4-C6DD16C5B0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90022" y="4047312"/>
            <a:ext cx="398106" cy="398106"/>
          </a:xfrm>
          <a:prstGeom prst="rect">
            <a:avLst/>
          </a:prstGeom>
        </p:spPr>
      </p:pic>
      <p:pic>
        <p:nvPicPr>
          <p:cNvPr id="7" name="Graphique 6" descr="Utilisateur avec un remplissage uni">
            <a:extLst>
              <a:ext uri="{FF2B5EF4-FFF2-40B4-BE49-F238E27FC236}">
                <a16:creationId xmlns:a16="http://schemas.microsoft.com/office/drawing/2014/main" id="{E3A0F459-F245-4928-A35F-52E182A26F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15367" y="4143729"/>
            <a:ext cx="398106" cy="398106"/>
          </a:xfrm>
          <a:prstGeom prst="rect">
            <a:avLst/>
          </a:prstGeom>
        </p:spPr>
      </p:pic>
      <p:pic>
        <p:nvPicPr>
          <p:cNvPr id="8" name="Graphique 7" descr="Utilisateur avec un remplissage uni">
            <a:extLst>
              <a:ext uri="{FF2B5EF4-FFF2-40B4-BE49-F238E27FC236}">
                <a16:creationId xmlns:a16="http://schemas.microsoft.com/office/drawing/2014/main" id="{3E5D8951-3515-42E8-9DF6-C4CEF5C6886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27943" y="4047312"/>
            <a:ext cx="398106" cy="398106"/>
          </a:xfrm>
          <a:prstGeom prst="rect">
            <a:avLst/>
          </a:prstGeom>
        </p:spPr>
      </p:pic>
      <p:pic>
        <p:nvPicPr>
          <p:cNvPr id="9" name="Graphique 8" descr="Réunion avec un remplissage uni">
            <a:extLst>
              <a:ext uri="{FF2B5EF4-FFF2-40B4-BE49-F238E27FC236}">
                <a16:creationId xmlns:a16="http://schemas.microsoft.com/office/drawing/2014/main" id="{5F295975-0D28-47ED-838F-0715285902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71620" y="4866000"/>
            <a:ext cx="914400" cy="914400"/>
          </a:xfrm>
          <a:prstGeom prst="rect">
            <a:avLst/>
          </a:prstGeom>
        </p:spPr>
      </p:pic>
      <p:pic>
        <p:nvPicPr>
          <p:cNvPr id="10" name="Graphique 9" descr="Utilisateur avec un remplissage uni">
            <a:extLst>
              <a:ext uri="{FF2B5EF4-FFF2-40B4-BE49-F238E27FC236}">
                <a16:creationId xmlns:a16="http://schemas.microsoft.com/office/drawing/2014/main" id="{E50784DA-87FD-459D-BF3E-0F4246D780D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4422" y="5382294"/>
            <a:ext cx="398106" cy="398106"/>
          </a:xfrm>
          <a:prstGeom prst="rect">
            <a:avLst/>
          </a:prstGeom>
        </p:spPr>
      </p:pic>
      <p:pic>
        <p:nvPicPr>
          <p:cNvPr id="11" name="Graphique 10" descr="Utilisateur avec un remplissage uni">
            <a:extLst>
              <a:ext uri="{FF2B5EF4-FFF2-40B4-BE49-F238E27FC236}">
                <a16:creationId xmlns:a16="http://schemas.microsoft.com/office/drawing/2014/main" id="{88444507-2E8C-4D01-8A81-00E251C181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29767" y="5478711"/>
            <a:ext cx="398106" cy="398106"/>
          </a:xfrm>
          <a:prstGeom prst="rect">
            <a:avLst/>
          </a:prstGeom>
        </p:spPr>
      </p:pic>
      <p:pic>
        <p:nvPicPr>
          <p:cNvPr id="12" name="Graphique 11" descr="Utilisateur avec un remplissage uni">
            <a:extLst>
              <a:ext uri="{FF2B5EF4-FFF2-40B4-BE49-F238E27FC236}">
                <a16:creationId xmlns:a16="http://schemas.microsoft.com/office/drawing/2014/main" id="{DE002B13-16FC-4980-9C92-84F510D2E9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42343" y="5382294"/>
            <a:ext cx="398106" cy="398106"/>
          </a:xfrm>
          <a:prstGeom prst="rect">
            <a:avLst/>
          </a:prstGeom>
        </p:spPr>
      </p:pic>
      <p:pic>
        <p:nvPicPr>
          <p:cNvPr id="13" name="Graphique 12" descr="Réunion avec un remplissage uni">
            <a:extLst>
              <a:ext uri="{FF2B5EF4-FFF2-40B4-BE49-F238E27FC236}">
                <a16:creationId xmlns:a16="http://schemas.microsoft.com/office/drawing/2014/main" id="{CC669184-25EC-484D-B4B8-98AF99CA22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94063" y="2129193"/>
            <a:ext cx="914400" cy="914400"/>
          </a:xfrm>
          <a:prstGeom prst="rect">
            <a:avLst/>
          </a:prstGeom>
        </p:spPr>
      </p:pic>
      <p:pic>
        <p:nvPicPr>
          <p:cNvPr id="14" name="Graphique 13" descr="Utilisateur avec un remplissage uni">
            <a:extLst>
              <a:ext uri="{FF2B5EF4-FFF2-40B4-BE49-F238E27FC236}">
                <a16:creationId xmlns:a16="http://schemas.microsoft.com/office/drawing/2014/main" id="{6BF55BA4-E56C-4316-9BE5-529212074D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6865" y="2645487"/>
            <a:ext cx="398106" cy="398106"/>
          </a:xfrm>
          <a:prstGeom prst="rect">
            <a:avLst/>
          </a:prstGeom>
        </p:spPr>
      </p:pic>
      <p:pic>
        <p:nvPicPr>
          <p:cNvPr id="15" name="Graphique 14" descr="Utilisateur avec un remplissage uni">
            <a:extLst>
              <a:ext uri="{FF2B5EF4-FFF2-40B4-BE49-F238E27FC236}">
                <a16:creationId xmlns:a16="http://schemas.microsoft.com/office/drawing/2014/main" id="{C7D2CFA6-4CE0-4CD3-B694-A38053DB24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52210" y="2741904"/>
            <a:ext cx="398106" cy="398106"/>
          </a:xfrm>
          <a:prstGeom prst="rect">
            <a:avLst/>
          </a:prstGeom>
        </p:spPr>
      </p:pic>
      <p:pic>
        <p:nvPicPr>
          <p:cNvPr id="16" name="Graphique 15" descr="Utilisateur avec un remplissage uni">
            <a:extLst>
              <a:ext uri="{FF2B5EF4-FFF2-40B4-BE49-F238E27FC236}">
                <a16:creationId xmlns:a16="http://schemas.microsoft.com/office/drawing/2014/main" id="{A7C92B82-6359-4EB4-B84D-871496427E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4786" y="2645487"/>
            <a:ext cx="398106" cy="398106"/>
          </a:xfrm>
          <a:prstGeom prst="rect">
            <a:avLst/>
          </a:prstGeom>
        </p:spPr>
      </p:pic>
      <p:pic>
        <p:nvPicPr>
          <p:cNvPr id="17" name="Graphique 16" descr="Réunion avec un remplissage uni">
            <a:extLst>
              <a:ext uri="{FF2B5EF4-FFF2-40B4-BE49-F238E27FC236}">
                <a16:creationId xmlns:a16="http://schemas.microsoft.com/office/drawing/2014/main" id="{E889D6F5-5D09-4C48-AF07-0F99640B92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63717" y="1703135"/>
            <a:ext cx="914400" cy="914400"/>
          </a:xfrm>
          <a:prstGeom prst="rect">
            <a:avLst/>
          </a:prstGeom>
        </p:spPr>
      </p:pic>
      <p:pic>
        <p:nvPicPr>
          <p:cNvPr id="18" name="Graphique 17" descr="Utilisateur avec un remplissage uni">
            <a:extLst>
              <a:ext uri="{FF2B5EF4-FFF2-40B4-BE49-F238E27FC236}">
                <a16:creationId xmlns:a16="http://schemas.microsoft.com/office/drawing/2014/main" id="{10B0B3FE-D983-460E-88C6-95C2743FDE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96519" y="2219429"/>
            <a:ext cx="398106" cy="398106"/>
          </a:xfrm>
          <a:prstGeom prst="rect">
            <a:avLst/>
          </a:prstGeom>
        </p:spPr>
      </p:pic>
      <p:pic>
        <p:nvPicPr>
          <p:cNvPr id="19" name="Graphique 18" descr="Utilisateur avec un remplissage uni">
            <a:extLst>
              <a:ext uri="{FF2B5EF4-FFF2-40B4-BE49-F238E27FC236}">
                <a16:creationId xmlns:a16="http://schemas.microsoft.com/office/drawing/2014/main" id="{2AACEF55-A580-4A4A-AC9A-E8A174E701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21864" y="2315846"/>
            <a:ext cx="398106" cy="398106"/>
          </a:xfrm>
          <a:prstGeom prst="rect">
            <a:avLst/>
          </a:prstGeom>
        </p:spPr>
      </p:pic>
      <p:pic>
        <p:nvPicPr>
          <p:cNvPr id="20" name="Graphique 19" descr="Utilisateur avec un remplissage uni">
            <a:extLst>
              <a:ext uri="{FF2B5EF4-FFF2-40B4-BE49-F238E27FC236}">
                <a16:creationId xmlns:a16="http://schemas.microsoft.com/office/drawing/2014/main" id="{AF659243-E32D-471B-9498-BA307A0E5D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34440" y="2219429"/>
            <a:ext cx="398106" cy="398106"/>
          </a:xfrm>
          <a:prstGeom prst="rect">
            <a:avLst/>
          </a:prstGeom>
        </p:spPr>
      </p:pic>
      <p:pic>
        <p:nvPicPr>
          <p:cNvPr id="21" name="Graphique 20" descr="Réunion avec un remplissage uni">
            <a:extLst>
              <a:ext uri="{FF2B5EF4-FFF2-40B4-BE49-F238E27FC236}">
                <a16:creationId xmlns:a16="http://schemas.microsoft.com/office/drawing/2014/main" id="{65E820E1-DCC6-47F8-9431-E337AB434F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30915" y="5122194"/>
            <a:ext cx="914400" cy="914400"/>
          </a:xfrm>
          <a:prstGeom prst="rect">
            <a:avLst/>
          </a:prstGeom>
        </p:spPr>
      </p:pic>
      <p:pic>
        <p:nvPicPr>
          <p:cNvPr id="22" name="Graphique 21" descr="Utilisateur avec un remplissage uni">
            <a:extLst>
              <a:ext uri="{FF2B5EF4-FFF2-40B4-BE49-F238E27FC236}">
                <a16:creationId xmlns:a16="http://schemas.microsoft.com/office/drawing/2014/main" id="{D1159C26-4786-44A7-9963-2A4CC782E1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63717" y="5638488"/>
            <a:ext cx="398106" cy="398106"/>
          </a:xfrm>
          <a:prstGeom prst="rect">
            <a:avLst/>
          </a:prstGeom>
        </p:spPr>
      </p:pic>
      <p:pic>
        <p:nvPicPr>
          <p:cNvPr id="23" name="Graphique 22" descr="Utilisateur avec un remplissage uni">
            <a:extLst>
              <a:ext uri="{FF2B5EF4-FFF2-40B4-BE49-F238E27FC236}">
                <a16:creationId xmlns:a16="http://schemas.microsoft.com/office/drawing/2014/main" id="{88E1570D-B989-45FF-B578-16E3435793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9062" y="5734905"/>
            <a:ext cx="398106" cy="398106"/>
          </a:xfrm>
          <a:prstGeom prst="rect">
            <a:avLst/>
          </a:prstGeom>
        </p:spPr>
      </p:pic>
      <p:pic>
        <p:nvPicPr>
          <p:cNvPr id="24" name="Graphique 23" descr="Utilisateur avec un remplissage uni">
            <a:extLst>
              <a:ext uri="{FF2B5EF4-FFF2-40B4-BE49-F238E27FC236}">
                <a16:creationId xmlns:a16="http://schemas.microsoft.com/office/drawing/2014/main" id="{EFDBC001-9D6E-488E-BC75-53BEBA0F8C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01638" y="5638488"/>
            <a:ext cx="398106" cy="398106"/>
          </a:xfrm>
          <a:prstGeom prst="rect">
            <a:avLst/>
          </a:prstGeom>
        </p:spPr>
      </p:pic>
      <p:pic>
        <p:nvPicPr>
          <p:cNvPr id="25" name="Graphique 24" descr="Réunion avec un remplissage uni">
            <a:extLst>
              <a:ext uri="{FF2B5EF4-FFF2-40B4-BE49-F238E27FC236}">
                <a16:creationId xmlns:a16="http://schemas.microsoft.com/office/drawing/2014/main" id="{3CB22E96-18BF-4651-9CA4-31B6CFE02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54542" y="2527299"/>
            <a:ext cx="914400" cy="914400"/>
          </a:xfrm>
          <a:prstGeom prst="rect">
            <a:avLst/>
          </a:prstGeom>
        </p:spPr>
      </p:pic>
      <p:pic>
        <p:nvPicPr>
          <p:cNvPr id="26" name="Graphique 25" descr="Utilisateur avec un remplissage uni">
            <a:extLst>
              <a:ext uri="{FF2B5EF4-FFF2-40B4-BE49-F238E27FC236}">
                <a16:creationId xmlns:a16="http://schemas.microsoft.com/office/drawing/2014/main" id="{AE6B5B8A-4254-44B3-B5A7-BFB114BFDA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87344" y="3043593"/>
            <a:ext cx="398106" cy="398106"/>
          </a:xfrm>
          <a:prstGeom prst="rect">
            <a:avLst/>
          </a:prstGeom>
        </p:spPr>
      </p:pic>
      <p:pic>
        <p:nvPicPr>
          <p:cNvPr id="27" name="Graphique 26" descr="Utilisateur avec un remplissage uni">
            <a:extLst>
              <a:ext uri="{FF2B5EF4-FFF2-40B4-BE49-F238E27FC236}">
                <a16:creationId xmlns:a16="http://schemas.microsoft.com/office/drawing/2014/main" id="{C1FA643F-2E19-4CC5-B90F-09725553AD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12689" y="3140010"/>
            <a:ext cx="398106" cy="398106"/>
          </a:xfrm>
          <a:prstGeom prst="rect">
            <a:avLst/>
          </a:prstGeom>
        </p:spPr>
      </p:pic>
      <p:pic>
        <p:nvPicPr>
          <p:cNvPr id="28" name="Graphique 27" descr="Utilisateur avec un remplissage uni">
            <a:extLst>
              <a:ext uri="{FF2B5EF4-FFF2-40B4-BE49-F238E27FC236}">
                <a16:creationId xmlns:a16="http://schemas.microsoft.com/office/drawing/2014/main" id="{7C145562-A688-4CA2-B1EA-F75ECB79AE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25265" y="3043593"/>
            <a:ext cx="398106" cy="398106"/>
          </a:xfrm>
          <a:prstGeom prst="rect">
            <a:avLst/>
          </a:prstGeom>
        </p:spPr>
      </p:pic>
      <p:pic>
        <p:nvPicPr>
          <p:cNvPr id="29" name="Graphique 28" descr="Réunion avec un remplissage uni">
            <a:extLst>
              <a:ext uri="{FF2B5EF4-FFF2-40B4-BE49-F238E27FC236}">
                <a16:creationId xmlns:a16="http://schemas.microsoft.com/office/drawing/2014/main" id="{06B989C6-EF4C-4615-B673-49E952B10F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6755" y="4171033"/>
            <a:ext cx="914400" cy="914400"/>
          </a:xfrm>
          <a:prstGeom prst="rect">
            <a:avLst/>
          </a:prstGeom>
        </p:spPr>
      </p:pic>
      <p:pic>
        <p:nvPicPr>
          <p:cNvPr id="30" name="Graphique 29" descr="Utilisateur avec un remplissage uni">
            <a:extLst>
              <a:ext uri="{FF2B5EF4-FFF2-40B4-BE49-F238E27FC236}">
                <a16:creationId xmlns:a16="http://schemas.microsoft.com/office/drawing/2014/main" id="{23821AD9-CAB2-447A-A498-5806FA44B7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39557" y="4687327"/>
            <a:ext cx="398106" cy="398106"/>
          </a:xfrm>
          <a:prstGeom prst="rect">
            <a:avLst/>
          </a:prstGeom>
        </p:spPr>
      </p:pic>
      <p:pic>
        <p:nvPicPr>
          <p:cNvPr id="31" name="Graphique 30" descr="Utilisateur avec un remplissage uni">
            <a:extLst>
              <a:ext uri="{FF2B5EF4-FFF2-40B4-BE49-F238E27FC236}">
                <a16:creationId xmlns:a16="http://schemas.microsoft.com/office/drawing/2014/main" id="{DA6291C2-C240-473A-93E3-4E0DDB6F01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64902" y="4783744"/>
            <a:ext cx="398106" cy="398106"/>
          </a:xfrm>
          <a:prstGeom prst="rect">
            <a:avLst/>
          </a:prstGeom>
        </p:spPr>
      </p:pic>
      <p:pic>
        <p:nvPicPr>
          <p:cNvPr id="32" name="Graphique 31" descr="Utilisateur avec un remplissage uni">
            <a:extLst>
              <a:ext uri="{FF2B5EF4-FFF2-40B4-BE49-F238E27FC236}">
                <a16:creationId xmlns:a16="http://schemas.microsoft.com/office/drawing/2014/main" id="{1422450E-0B46-423F-9A16-082465863D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77478" y="4687327"/>
            <a:ext cx="398106" cy="398106"/>
          </a:xfrm>
          <a:prstGeom prst="rect">
            <a:avLst/>
          </a:prstGeom>
        </p:spPr>
      </p:pic>
      <p:sp>
        <p:nvSpPr>
          <p:cNvPr id="3" name="Rectangle 2">
            <a:extLst>
              <a:ext uri="{FF2B5EF4-FFF2-40B4-BE49-F238E27FC236}">
                <a16:creationId xmlns:a16="http://schemas.microsoft.com/office/drawing/2014/main" id="{1EF5EA43-C644-4B97-A477-F5396E780C84}"/>
              </a:ext>
            </a:extLst>
          </p:cNvPr>
          <p:cNvSpPr/>
          <p:nvPr/>
        </p:nvSpPr>
        <p:spPr>
          <a:xfrm>
            <a:off x="2740740" y="3531018"/>
            <a:ext cx="1249960" cy="103417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dirty="0">
                <a:solidFill>
                  <a:schemeClr val="tx1"/>
                </a:solidFill>
              </a:rPr>
              <a:t>Format : Dessin avec légendes</a:t>
            </a:r>
          </a:p>
          <a:p>
            <a:pPr algn="ctr"/>
            <a:endParaRPr lang="fr-FR" sz="1100" dirty="0">
              <a:solidFill>
                <a:schemeClr val="tx1"/>
              </a:solidFill>
            </a:endParaRPr>
          </a:p>
          <a:p>
            <a:pPr algn="ctr"/>
            <a:r>
              <a:rPr lang="fr-FR" sz="1100" dirty="0">
                <a:solidFill>
                  <a:schemeClr val="tx1"/>
                </a:solidFill>
              </a:rPr>
              <a:t>Sujet : Le look &amp; </a:t>
            </a:r>
            <a:r>
              <a:rPr lang="fr-FR" sz="1100" dirty="0" err="1">
                <a:solidFill>
                  <a:schemeClr val="tx1"/>
                </a:solidFill>
              </a:rPr>
              <a:t>feel</a:t>
            </a:r>
            <a:r>
              <a:rPr lang="fr-FR" sz="1100" dirty="0">
                <a:solidFill>
                  <a:schemeClr val="tx1"/>
                </a:solidFill>
              </a:rPr>
              <a:t> du membre de la communauté</a:t>
            </a:r>
            <a:endParaRPr lang="fr-FR" sz="1100" dirty="0">
              <a:solidFill>
                <a:schemeClr val="tx1"/>
              </a:solidFill>
              <a:cs typeface="Calibri"/>
            </a:endParaRPr>
          </a:p>
        </p:txBody>
      </p:sp>
      <p:sp>
        <p:nvSpPr>
          <p:cNvPr id="92" name="Rectangle 91">
            <a:extLst>
              <a:ext uri="{FF2B5EF4-FFF2-40B4-BE49-F238E27FC236}">
                <a16:creationId xmlns:a16="http://schemas.microsoft.com/office/drawing/2014/main" id="{3077991A-A4DE-4405-984F-8DE0A9AF5C54}"/>
              </a:ext>
            </a:extLst>
          </p:cNvPr>
          <p:cNvSpPr/>
          <p:nvPr/>
        </p:nvSpPr>
        <p:spPr>
          <a:xfrm>
            <a:off x="3562873" y="1526106"/>
            <a:ext cx="1463045" cy="91572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Format : Pitch en petit groupe</a:t>
            </a:r>
          </a:p>
          <a:p>
            <a:pPr algn="ctr"/>
            <a:endParaRPr lang="fr-FR" sz="1100" dirty="0">
              <a:solidFill>
                <a:schemeClr val="tx1"/>
              </a:solidFill>
            </a:endParaRPr>
          </a:p>
          <a:p>
            <a:pPr algn="ctr"/>
            <a:r>
              <a:rPr lang="fr-FR" sz="1100" dirty="0">
                <a:solidFill>
                  <a:schemeClr val="tx1"/>
                </a:solidFill>
              </a:rPr>
              <a:t>Sujet : Le pitch du membre 2050</a:t>
            </a:r>
          </a:p>
        </p:txBody>
      </p:sp>
      <p:sp>
        <p:nvSpPr>
          <p:cNvPr id="93" name="Rectangle 92">
            <a:extLst>
              <a:ext uri="{FF2B5EF4-FFF2-40B4-BE49-F238E27FC236}">
                <a16:creationId xmlns:a16="http://schemas.microsoft.com/office/drawing/2014/main" id="{A3AA8F76-2CBD-4FA7-BA5B-120010228892}"/>
              </a:ext>
            </a:extLst>
          </p:cNvPr>
          <p:cNvSpPr/>
          <p:nvPr/>
        </p:nvSpPr>
        <p:spPr>
          <a:xfrm>
            <a:off x="3249227" y="5780399"/>
            <a:ext cx="1621596" cy="72900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Format : Flyers</a:t>
            </a:r>
          </a:p>
          <a:p>
            <a:pPr algn="ctr"/>
            <a:endParaRPr lang="fr-FR" sz="1100">
              <a:solidFill>
                <a:schemeClr val="tx1"/>
              </a:solidFill>
            </a:endParaRPr>
          </a:p>
          <a:p>
            <a:pPr algn="ctr"/>
            <a:r>
              <a:rPr lang="fr-FR" sz="1100">
                <a:solidFill>
                  <a:schemeClr val="tx1"/>
                </a:solidFill>
              </a:rPr>
              <a:t>Sujet : Les événements</a:t>
            </a:r>
          </a:p>
        </p:txBody>
      </p:sp>
      <p:sp>
        <p:nvSpPr>
          <p:cNvPr id="37" name="Rectangle 36">
            <a:extLst>
              <a:ext uri="{FF2B5EF4-FFF2-40B4-BE49-F238E27FC236}">
                <a16:creationId xmlns:a16="http://schemas.microsoft.com/office/drawing/2014/main" id="{9E634AE6-3617-41E0-B34C-91B48D6E126F}"/>
              </a:ext>
            </a:extLst>
          </p:cNvPr>
          <p:cNvSpPr/>
          <p:nvPr/>
        </p:nvSpPr>
        <p:spPr>
          <a:xfrm>
            <a:off x="6332739" y="994006"/>
            <a:ext cx="1454605" cy="84989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Format : Storyboard</a:t>
            </a:r>
          </a:p>
          <a:p>
            <a:pPr algn="ctr"/>
            <a:endParaRPr lang="fr-FR" sz="1100">
              <a:solidFill>
                <a:schemeClr val="tx1"/>
              </a:solidFill>
            </a:endParaRPr>
          </a:p>
          <a:p>
            <a:pPr algn="ctr"/>
            <a:r>
              <a:rPr lang="fr-FR" sz="1100">
                <a:solidFill>
                  <a:schemeClr val="tx1"/>
                </a:solidFill>
              </a:rPr>
              <a:t>Sujet : Les histoires de recrutements</a:t>
            </a:r>
          </a:p>
        </p:txBody>
      </p:sp>
      <p:sp>
        <p:nvSpPr>
          <p:cNvPr id="94" name="Rectangle 93">
            <a:extLst>
              <a:ext uri="{FF2B5EF4-FFF2-40B4-BE49-F238E27FC236}">
                <a16:creationId xmlns:a16="http://schemas.microsoft.com/office/drawing/2014/main" id="{9FABC0AB-AA48-4852-826E-88470B6744E4}"/>
              </a:ext>
            </a:extLst>
          </p:cNvPr>
          <p:cNvSpPr/>
          <p:nvPr/>
        </p:nvSpPr>
        <p:spPr>
          <a:xfrm>
            <a:off x="8721600" y="2557610"/>
            <a:ext cx="1579653"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dirty="0">
                <a:solidFill>
                  <a:schemeClr val="tx1"/>
                </a:solidFill>
              </a:rPr>
              <a:t>Format : Scène jouée de Flash News en binôme</a:t>
            </a:r>
          </a:p>
          <a:p>
            <a:pPr algn="ctr"/>
            <a:endParaRPr lang="fr-FR" sz="1100" dirty="0">
              <a:solidFill>
                <a:schemeClr val="tx1"/>
              </a:solidFill>
            </a:endParaRPr>
          </a:p>
          <a:p>
            <a:pPr algn="ctr"/>
            <a:r>
              <a:rPr lang="fr-FR" sz="1100" dirty="0">
                <a:solidFill>
                  <a:schemeClr val="tx1"/>
                </a:solidFill>
              </a:rPr>
              <a:t>Sujet : Flash actualités Communauté</a:t>
            </a:r>
            <a:endParaRPr lang="fr-FR" sz="1100" dirty="0">
              <a:solidFill>
                <a:schemeClr val="tx1"/>
              </a:solidFill>
              <a:cs typeface="Calibri"/>
            </a:endParaRPr>
          </a:p>
        </p:txBody>
      </p:sp>
      <p:sp>
        <p:nvSpPr>
          <p:cNvPr id="95" name="Rectangle 94">
            <a:extLst>
              <a:ext uri="{FF2B5EF4-FFF2-40B4-BE49-F238E27FC236}">
                <a16:creationId xmlns:a16="http://schemas.microsoft.com/office/drawing/2014/main" id="{6F9DDE22-9B01-4B4F-B057-9D492AF52B24}"/>
              </a:ext>
            </a:extLst>
          </p:cNvPr>
          <p:cNvSpPr/>
          <p:nvPr/>
        </p:nvSpPr>
        <p:spPr>
          <a:xfrm>
            <a:off x="8802823" y="4300390"/>
            <a:ext cx="1677627" cy="100089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Format : Poster façon « facilitation graphique »</a:t>
            </a:r>
          </a:p>
          <a:p>
            <a:pPr algn="ctr"/>
            <a:endParaRPr lang="fr-FR" sz="1100">
              <a:solidFill>
                <a:schemeClr val="tx1"/>
              </a:solidFill>
            </a:endParaRPr>
          </a:p>
          <a:p>
            <a:pPr algn="ctr"/>
            <a:r>
              <a:rPr lang="fr-FR" sz="1100">
                <a:solidFill>
                  <a:schemeClr val="tx1"/>
                </a:solidFill>
              </a:rPr>
              <a:t>Sujet : L’apprentissage de demain</a:t>
            </a:r>
          </a:p>
        </p:txBody>
      </p:sp>
      <p:pic>
        <p:nvPicPr>
          <p:cNvPr id="35" name="Graphique 34" descr="Croquis de silhouette avec un remplissage uni">
            <a:extLst>
              <a:ext uri="{FF2B5EF4-FFF2-40B4-BE49-F238E27FC236}">
                <a16:creationId xmlns:a16="http://schemas.microsoft.com/office/drawing/2014/main" id="{E57BED23-4AAD-48BA-88BC-8F8D07C0008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13797" y="3657138"/>
            <a:ext cx="724266" cy="724266"/>
          </a:xfrm>
          <a:prstGeom prst="rect">
            <a:avLst/>
          </a:prstGeom>
        </p:spPr>
      </p:pic>
      <p:pic>
        <p:nvPicPr>
          <p:cNvPr id="38" name="Graphique 37" descr="Calendrier journalier avec un remplissage uni">
            <a:extLst>
              <a:ext uri="{FF2B5EF4-FFF2-40B4-BE49-F238E27FC236}">
                <a16:creationId xmlns:a16="http://schemas.microsoft.com/office/drawing/2014/main" id="{AEF408E2-74F0-49FD-87AA-31EAC4CF18B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557766" y="5621381"/>
            <a:ext cx="861652" cy="861652"/>
          </a:xfrm>
          <a:prstGeom prst="rect">
            <a:avLst/>
          </a:prstGeom>
        </p:spPr>
      </p:pic>
      <p:pic>
        <p:nvPicPr>
          <p:cNvPr id="42" name="Graphique 41" descr="Images avec un remplissage uni">
            <a:extLst>
              <a:ext uri="{FF2B5EF4-FFF2-40B4-BE49-F238E27FC236}">
                <a16:creationId xmlns:a16="http://schemas.microsoft.com/office/drawing/2014/main" id="{891E4772-4F02-436F-AD25-8FF2E26782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21926" y="5837541"/>
            <a:ext cx="762645" cy="762645"/>
          </a:xfrm>
          <a:prstGeom prst="rect">
            <a:avLst/>
          </a:prstGeom>
        </p:spPr>
      </p:pic>
      <p:pic>
        <p:nvPicPr>
          <p:cNvPr id="44" name="Graphique 43" descr="Plan avec un remplissage uni">
            <a:extLst>
              <a:ext uri="{FF2B5EF4-FFF2-40B4-BE49-F238E27FC236}">
                <a16:creationId xmlns:a16="http://schemas.microsoft.com/office/drawing/2014/main" id="{4177696D-657B-48AC-BCE1-E6F1B89931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348595" y="4326544"/>
            <a:ext cx="914400" cy="914400"/>
          </a:xfrm>
          <a:prstGeom prst="rect">
            <a:avLst/>
          </a:prstGeom>
        </p:spPr>
      </p:pic>
      <p:pic>
        <p:nvPicPr>
          <p:cNvPr id="34" name="Graphique 33" descr="Photos Polaroid avec un remplissage uni">
            <a:extLst>
              <a:ext uri="{FF2B5EF4-FFF2-40B4-BE49-F238E27FC236}">
                <a16:creationId xmlns:a16="http://schemas.microsoft.com/office/drawing/2014/main" id="{EC818433-F7AB-4D43-B8E1-1F28ACC2D9A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57150" y="950487"/>
            <a:ext cx="914400" cy="914400"/>
          </a:xfrm>
          <a:prstGeom prst="rect">
            <a:avLst/>
          </a:prstGeom>
        </p:spPr>
      </p:pic>
      <p:pic>
        <p:nvPicPr>
          <p:cNvPr id="43" name="Graphique 42" descr="Employé de bureau avec un remplissage uni">
            <a:extLst>
              <a:ext uri="{FF2B5EF4-FFF2-40B4-BE49-F238E27FC236}">
                <a16:creationId xmlns:a16="http://schemas.microsoft.com/office/drawing/2014/main" id="{7AB8996D-7893-4D60-8841-B244C68D3E9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86382" y="2713952"/>
            <a:ext cx="548420" cy="548420"/>
          </a:xfrm>
          <a:prstGeom prst="rect">
            <a:avLst/>
          </a:prstGeom>
        </p:spPr>
      </p:pic>
      <p:pic>
        <p:nvPicPr>
          <p:cNvPr id="46" name="Graphique 45" descr="Employée de bureau avec un remplissage uni">
            <a:extLst>
              <a:ext uri="{FF2B5EF4-FFF2-40B4-BE49-F238E27FC236}">
                <a16:creationId xmlns:a16="http://schemas.microsoft.com/office/drawing/2014/main" id="{202F301A-35C9-458F-B487-7420282A6D2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034802" y="2713952"/>
            <a:ext cx="548420" cy="548420"/>
          </a:xfrm>
          <a:prstGeom prst="rect">
            <a:avLst/>
          </a:prstGeom>
        </p:spPr>
      </p:pic>
      <p:sp>
        <p:nvSpPr>
          <p:cNvPr id="47" name="Rectangle : coins arrondis 46">
            <a:extLst>
              <a:ext uri="{FF2B5EF4-FFF2-40B4-BE49-F238E27FC236}">
                <a16:creationId xmlns:a16="http://schemas.microsoft.com/office/drawing/2014/main" id="{90DF1AEC-1035-49CF-B27E-558A1FD2A74B}"/>
              </a:ext>
            </a:extLst>
          </p:cNvPr>
          <p:cNvSpPr/>
          <p:nvPr/>
        </p:nvSpPr>
        <p:spPr>
          <a:xfrm>
            <a:off x="10422478" y="2514899"/>
            <a:ext cx="1229386" cy="76983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a:solidFill>
                  <a:schemeClr val="tx1"/>
                </a:solidFill>
              </a:rPr>
              <a:t>NEWS</a:t>
            </a:r>
          </a:p>
        </p:txBody>
      </p:sp>
      <p:sp>
        <p:nvSpPr>
          <p:cNvPr id="48" name="Flèche : droite 47">
            <a:extLst>
              <a:ext uri="{FF2B5EF4-FFF2-40B4-BE49-F238E27FC236}">
                <a16:creationId xmlns:a16="http://schemas.microsoft.com/office/drawing/2014/main" id="{D435DEF2-A14F-4C4D-885A-38CDCB92CB67}"/>
              </a:ext>
            </a:extLst>
          </p:cNvPr>
          <p:cNvSpPr/>
          <p:nvPr/>
        </p:nvSpPr>
        <p:spPr>
          <a:xfrm rot="18665031">
            <a:off x="4332807" y="3155858"/>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Flèche : droite 48">
            <a:extLst>
              <a:ext uri="{FF2B5EF4-FFF2-40B4-BE49-F238E27FC236}">
                <a16:creationId xmlns:a16="http://schemas.microsoft.com/office/drawing/2014/main" id="{69B3016D-62B6-47C1-BB65-D0883FB18BE4}"/>
              </a:ext>
            </a:extLst>
          </p:cNvPr>
          <p:cNvSpPr/>
          <p:nvPr/>
        </p:nvSpPr>
        <p:spPr>
          <a:xfrm rot="20456318">
            <a:off x="5918643" y="1917162"/>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Flèche : droite 49">
            <a:extLst>
              <a:ext uri="{FF2B5EF4-FFF2-40B4-BE49-F238E27FC236}">
                <a16:creationId xmlns:a16="http://schemas.microsoft.com/office/drawing/2014/main" id="{AC8EEDB1-1751-432E-B8A1-644A4DCAE75A}"/>
              </a:ext>
            </a:extLst>
          </p:cNvPr>
          <p:cNvSpPr/>
          <p:nvPr/>
        </p:nvSpPr>
        <p:spPr>
          <a:xfrm rot="4528215">
            <a:off x="8242914" y="3736971"/>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Flèche : droite 50">
            <a:extLst>
              <a:ext uri="{FF2B5EF4-FFF2-40B4-BE49-F238E27FC236}">
                <a16:creationId xmlns:a16="http://schemas.microsoft.com/office/drawing/2014/main" id="{E79B886A-4720-44EE-81B0-C69372C52F4F}"/>
              </a:ext>
            </a:extLst>
          </p:cNvPr>
          <p:cNvSpPr/>
          <p:nvPr/>
        </p:nvSpPr>
        <p:spPr>
          <a:xfrm rot="8266878">
            <a:off x="7978673" y="5241096"/>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Flèche : droite 51">
            <a:extLst>
              <a:ext uri="{FF2B5EF4-FFF2-40B4-BE49-F238E27FC236}">
                <a16:creationId xmlns:a16="http://schemas.microsoft.com/office/drawing/2014/main" id="{74B34538-1244-475D-A1DD-297BE4A5BEC3}"/>
              </a:ext>
            </a:extLst>
          </p:cNvPr>
          <p:cNvSpPr/>
          <p:nvPr/>
        </p:nvSpPr>
        <p:spPr>
          <a:xfrm rot="11855343">
            <a:off x="5966129" y="5499111"/>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Flèche : droite 52">
            <a:extLst>
              <a:ext uri="{FF2B5EF4-FFF2-40B4-BE49-F238E27FC236}">
                <a16:creationId xmlns:a16="http://schemas.microsoft.com/office/drawing/2014/main" id="{C75BB364-C5DB-4CFF-BF99-7D91283D7F46}"/>
              </a:ext>
            </a:extLst>
          </p:cNvPr>
          <p:cNvSpPr/>
          <p:nvPr/>
        </p:nvSpPr>
        <p:spPr>
          <a:xfrm rot="13643281">
            <a:off x="4541925" y="4702379"/>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Flèche : droite 53">
            <a:extLst>
              <a:ext uri="{FF2B5EF4-FFF2-40B4-BE49-F238E27FC236}">
                <a16:creationId xmlns:a16="http://schemas.microsoft.com/office/drawing/2014/main" id="{405F528E-96C3-42DD-B9CE-F26D4757BEC5}"/>
              </a:ext>
            </a:extLst>
          </p:cNvPr>
          <p:cNvSpPr/>
          <p:nvPr/>
        </p:nvSpPr>
        <p:spPr>
          <a:xfrm rot="2034412">
            <a:off x="7916437" y="2245846"/>
            <a:ext cx="512165" cy="4711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6779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F14636-073E-40BC-A43E-550725FA5C49}"/>
              </a:ext>
            </a:extLst>
          </p:cNvPr>
          <p:cNvSpPr>
            <a:spLocks noGrp="1"/>
          </p:cNvSpPr>
          <p:nvPr>
            <p:ph type="title"/>
          </p:nvPr>
        </p:nvSpPr>
        <p:spPr/>
        <p:txBody>
          <a:bodyPr/>
          <a:lstStyle/>
          <a:p>
            <a:r>
              <a:rPr lang="fr-FR"/>
              <a:t>Dans chaque atelier</a:t>
            </a:r>
          </a:p>
        </p:txBody>
      </p:sp>
      <p:sp>
        <p:nvSpPr>
          <p:cNvPr id="4" name="Espace réservé du texte 3">
            <a:extLst>
              <a:ext uri="{FF2B5EF4-FFF2-40B4-BE49-F238E27FC236}">
                <a16:creationId xmlns:a16="http://schemas.microsoft.com/office/drawing/2014/main" id="{844AE7CF-571D-485B-8B39-88384F8F63A4}"/>
              </a:ext>
            </a:extLst>
          </p:cNvPr>
          <p:cNvSpPr>
            <a:spLocks noGrp="1"/>
          </p:cNvSpPr>
          <p:nvPr>
            <p:ph type="body" idx="1"/>
          </p:nvPr>
        </p:nvSpPr>
        <p:spPr/>
        <p:txBody>
          <a:bodyPr/>
          <a:lstStyle/>
          <a:p>
            <a:r>
              <a:rPr lang="fr-FR"/>
              <a:t>Matériel</a:t>
            </a:r>
          </a:p>
        </p:txBody>
      </p:sp>
      <p:sp>
        <p:nvSpPr>
          <p:cNvPr id="3" name="Espace réservé du contenu 2">
            <a:extLst>
              <a:ext uri="{FF2B5EF4-FFF2-40B4-BE49-F238E27FC236}">
                <a16:creationId xmlns:a16="http://schemas.microsoft.com/office/drawing/2014/main" id="{998F1747-8AA0-4C24-B6CF-144BD0D92D6D}"/>
              </a:ext>
            </a:extLst>
          </p:cNvPr>
          <p:cNvSpPr>
            <a:spLocks noGrp="1"/>
          </p:cNvSpPr>
          <p:nvPr>
            <p:ph sz="half" idx="2"/>
          </p:nvPr>
        </p:nvSpPr>
        <p:spPr/>
        <p:txBody>
          <a:bodyPr>
            <a:normAutofit fontScale="85000" lnSpcReduction="10000"/>
          </a:bodyPr>
          <a:lstStyle/>
          <a:p>
            <a:pPr marL="0" indent="0">
              <a:buNone/>
            </a:pPr>
            <a:endParaRPr lang="fr-FR" sz="1800" b="1" i="1" dirty="0"/>
          </a:p>
          <a:p>
            <a:pPr marL="0" indent="0">
              <a:buNone/>
            </a:pPr>
            <a:r>
              <a:rPr lang="fr-FR" sz="1800" b="1" i="1" dirty="0"/>
              <a:t>A minima : </a:t>
            </a:r>
          </a:p>
          <a:p>
            <a:pPr>
              <a:buFont typeface="Wingdings" panose="05000000000000000000" pitchFamily="2" charset="2"/>
              <a:buChar char="q"/>
            </a:pPr>
            <a:r>
              <a:rPr lang="fr-FR" sz="1800" dirty="0"/>
              <a:t>✔️Feuille d’instructions / résumé</a:t>
            </a:r>
          </a:p>
          <a:p>
            <a:pPr>
              <a:buFont typeface="Wingdings" panose="05000000000000000000" pitchFamily="2" charset="2"/>
              <a:buChar char="q"/>
            </a:pPr>
            <a:r>
              <a:rPr lang="fr-FR" sz="1800" dirty="0"/>
              <a:t>🎯Un exemple de résultat</a:t>
            </a:r>
          </a:p>
          <a:p>
            <a:pPr>
              <a:buFont typeface="Wingdings" panose="05000000000000000000" pitchFamily="2" charset="2"/>
              <a:buChar char="q"/>
            </a:pPr>
            <a:r>
              <a:rPr lang="fr-FR" sz="1800" dirty="0"/>
              <a:t>📝Du matériel de base pour pouvoir effectuer l’atelier</a:t>
            </a:r>
          </a:p>
          <a:p>
            <a:pPr>
              <a:buFont typeface="Wingdings" panose="05000000000000000000" pitchFamily="2" charset="2"/>
              <a:buChar char="q"/>
            </a:pPr>
            <a:r>
              <a:rPr lang="fr-FR" sz="1800" dirty="0"/>
              <a:t>📜Le rappel des règles générales</a:t>
            </a:r>
          </a:p>
          <a:p>
            <a:pPr>
              <a:buFont typeface="Wingdings" panose="05000000000000000000" pitchFamily="2" charset="2"/>
              <a:buChar char="q"/>
            </a:pPr>
            <a:r>
              <a:rPr lang="fr-FR" sz="1800" dirty="0"/>
              <a:t>📍L’emplacement du prochain atelier</a:t>
            </a:r>
          </a:p>
          <a:p>
            <a:pPr marL="0" indent="0">
              <a:buNone/>
            </a:pPr>
            <a:endParaRPr lang="fr-FR" sz="1800" dirty="0"/>
          </a:p>
          <a:p>
            <a:pPr marL="0" indent="0">
              <a:buNone/>
            </a:pPr>
            <a:r>
              <a:rPr lang="fr-FR" sz="1800" b="1" i="1" dirty="0"/>
              <a:t>Si possible</a:t>
            </a:r>
          </a:p>
          <a:p>
            <a:pPr>
              <a:buFont typeface="Wingdings" panose="05000000000000000000" pitchFamily="2" charset="2"/>
              <a:buChar char="q"/>
            </a:pPr>
            <a:r>
              <a:rPr lang="fr-FR" sz="1700" dirty="0"/>
              <a:t> </a:t>
            </a:r>
            <a:r>
              <a:rPr lang="fr-FR" sz="500" dirty="0"/>
              <a:t>🎯</a:t>
            </a:r>
            <a:r>
              <a:rPr lang="fr-FR" sz="1000" dirty="0"/>
              <a:t>🎯</a:t>
            </a:r>
            <a:r>
              <a:rPr lang="fr-FR" sz="1500" dirty="0"/>
              <a:t>🎯</a:t>
            </a:r>
            <a:r>
              <a:rPr lang="fr-FR" sz="1800" dirty="0"/>
              <a:t> Des exemples pour les résultats intermédiaires</a:t>
            </a:r>
          </a:p>
          <a:p>
            <a:pPr>
              <a:buFont typeface="Wingdings" panose="05000000000000000000" pitchFamily="2" charset="2"/>
              <a:buChar char="q"/>
            </a:pPr>
            <a:r>
              <a:rPr lang="fr-FR" sz="1800" dirty="0"/>
              <a:t>💡Des propositions / inspirations pour pousser le travail encore plus loin</a:t>
            </a:r>
          </a:p>
        </p:txBody>
      </p:sp>
      <p:sp>
        <p:nvSpPr>
          <p:cNvPr id="5" name="Espace réservé du texte 4">
            <a:extLst>
              <a:ext uri="{FF2B5EF4-FFF2-40B4-BE49-F238E27FC236}">
                <a16:creationId xmlns:a16="http://schemas.microsoft.com/office/drawing/2014/main" id="{3D2F9A03-0237-4A3B-B630-A9BB5DBD88C6}"/>
              </a:ext>
            </a:extLst>
          </p:cNvPr>
          <p:cNvSpPr>
            <a:spLocks noGrp="1"/>
          </p:cNvSpPr>
          <p:nvPr>
            <p:ph type="body" sz="quarter" idx="3"/>
          </p:nvPr>
        </p:nvSpPr>
        <p:spPr/>
        <p:txBody>
          <a:bodyPr/>
          <a:lstStyle/>
          <a:p>
            <a:r>
              <a:rPr lang="fr-FR"/>
              <a:t>Personnes</a:t>
            </a:r>
          </a:p>
        </p:txBody>
      </p:sp>
      <p:sp>
        <p:nvSpPr>
          <p:cNvPr id="6" name="Espace réservé du contenu 5">
            <a:extLst>
              <a:ext uri="{FF2B5EF4-FFF2-40B4-BE49-F238E27FC236}">
                <a16:creationId xmlns:a16="http://schemas.microsoft.com/office/drawing/2014/main" id="{CDE5CB8B-E318-4F48-BC2A-DF5ED0ED7B5F}"/>
              </a:ext>
            </a:extLst>
          </p:cNvPr>
          <p:cNvSpPr>
            <a:spLocks noGrp="1"/>
          </p:cNvSpPr>
          <p:nvPr>
            <p:ph sz="quarter" idx="4"/>
          </p:nvPr>
        </p:nvSpPr>
        <p:spPr>
          <a:xfrm>
            <a:off x="6169024" y="2505075"/>
            <a:ext cx="3960398" cy="3684588"/>
          </a:xfrm>
        </p:spPr>
        <p:txBody>
          <a:bodyPr>
            <a:normAutofit fontScale="85000" lnSpcReduction="10000"/>
          </a:bodyPr>
          <a:lstStyle/>
          <a:p>
            <a:pPr marL="0" indent="0">
              <a:buNone/>
            </a:pPr>
            <a:endParaRPr lang="fr-FR" sz="1800" dirty="0"/>
          </a:p>
          <a:p>
            <a:pPr marL="0" indent="0">
              <a:buNone/>
            </a:pPr>
            <a:r>
              <a:rPr lang="fr-FR" sz="1800" dirty="0"/>
              <a:t>🧍1 joueur qui reste sur les 3 tours</a:t>
            </a:r>
          </a:p>
          <a:p>
            <a:pPr marL="0" indent="0">
              <a:buNone/>
            </a:pPr>
            <a:r>
              <a:rPr lang="fr-FR" sz="1800" dirty="0"/>
              <a:t>🧍🧍🧍🧍🧍🧍🧍🧍🧍 Tous les autres joueurs </a:t>
            </a:r>
          </a:p>
          <a:p>
            <a:pPr marL="0" indent="0">
              <a:buNone/>
            </a:pPr>
            <a:endParaRPr lang="fr-FR" sz="1800" dirty="0"/>
          </a:p>
          <a:p>
            <a:pPr marL="0" indent="0">
              <a:buNone/>
            </a:pPr>
            <a:r>
              <a:rPr lang="fr-FR" sz="1800" dirty="0"/>
              <a:t>🤸1 animateur de passage (rotation entre tous les ateliers) pour les questions / problèmes techniques </a:t>
            </a:r>
          </a:p>
          <a:p>
            <a:pPr marL="0" indent="0">
              <a:buNone/>
            </a:pPr>
            <a:endParaRPr lang="fr-FR" sz="1800" dirty="0"/>
          </a:p>
        </p:txBody>
      </p:sp>
    </p:spTree>
    <p:extLst>
      <p:ext uri="{BB962C8B-B14F-4D97-AF65-F5344CB8AC3E}">
        <p14:creationId xmlns:p14="http://schemas.microsoft.com/office/powerpoint/2010/main" val="1108973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B03208-F58C-4B3C-A42A-3FD8E47CA7A0}"/>
              </a:ext>
            </a:extLst>
          </p:cNvPr>
          <p:cNvSpPr>
            <a:spLocks noGrp="1"/>
          </p:cNvSpPr>
          <p:nvPr>
            <p:ph type="title"/>
          </p:nvPr>
        </p:nvSpPr>
        <p:spPr/>
        <p:txBody>
          <a:bodyPr/>
          <a:lstStyle/>
          <a:p>
            <a:r>
              <a:rPr lang="fr-FR" dirty="0"/>
              <a:t>Conseils et astuces d’animation</a:t>
            </a:r>
          </a:p>
        </p:txBody>
      </p:sp>
      <p:sp>
        <p:nvSpPr>
          <p:cNvPr id="3" name="Espace réservé du contenu 2">
            <a:extLst>
              <a:ext uri="{FF2B5EF4-FFF2-40B4-BE49-F238E27FC236}">
                <a16:creationId xmlns:a16="http://schemas.microsoft.com/office/drawing/2014/main" id="{6E5D55BD-2CC0-482E-A8EE-66D05B9257BC}"/>
              </a:ext>
            </a:extLst>
          </p:cNvPr>
          <p:cNvSpPr>
            <a:spLocks noGrp="1"/>
          </p:cNvSpPr>
          <p:nvPr>
            <p:ph idx="1"/>
          </p:nvPr>
        </p:nvSpPr>
        <p:spPr/>
        <p:txBody>
          <a:bodyPr>
            <a:normAutofit/>
          </a:bodyPr>
          <a:lstStyle/>
          <a:p>
            <a:pPr>
              <a:buFontTx/>
              <a:buChar char="-"/>
            </a:pPr>
            <a:r>
              <a:rPr lang="fr-FR" sz="1800" b="1" dirty="0" err="1"/>
              <a:t>Co-animation</a:t>
            </a:r>
            <a:r>
              <a:rPr lang="fr-FR" sz="1800" b="1" dirty="0"/>
              <a:t> : </a:t>
            </a:r>
            <a:r>
              <a:rPr lang="fr-FR" sz="1800" dirty="0"/>
              <a:t>Pour chaque atelier, prévoir 1 personne </a:t>
            </a:r>
            <a:r>
              <a:rPr lang="fr-FR" sz="1800" dirty="0" err="1"/>
              <a:t>co</a:t>
            </a:r>
            <a:r>
              <a:rPr lang="fr-FR" sz="1800" dirty="0"/>
              <a:t>-animatrice qui reste tout le long de l’atelier (sur les 3 tours). Cette personne peut ou bien prendre le rôle de </a:t>
            </a:r>
            <a:r>
              <a:rPr lang="fr-FR" sz="1800" dirty="0" err="1"/>
              <a:t>co</a:t>
            </a:r>
            <a:r>
              <a:rPr lang="fr-FR" sz="1800" dirty="0"/>
              <a:t>-animateur (expliquer le fonctionnement de l’atelier) ou bien être juste un joueur expérimenté qui peut conseiller. </a:t>
            </a:r>
          </a:p>
          <a:p>
            <a:pPr>
              <a:buFontTx/>
              <a:buChar char="-"/>
            </a:pPr>
            <a:r>
              <a:rPr lang="fr-FR" sz="1800" b="1" dirty="0"/>
              <a:t>Communication </a:t>
            </a:r>
            <a:r>
              <a:rPr lang="fr-FR" sz="1800" dirty="0"/>
              <a:t>: Il y a de grandes chances que les ateliers se déroulent dans de salles différentes où il est difficile de communiquer instantanément à tous les participants (par exemple, la fin d’un tour). Constituez un groupe de messagerie instantanée en amont. </a:t>
            </a:r>
          </a:p>
          <a:p>
            <a:pPr>
              <a:buFontTx/>
              <a:buChar char="-"/>
            </a:pPr>
            <a:r>
              <a:rPr lang="fr-FR" sz="1800" b="1" dirty="0"/>
              <a:t>Circulation : </a:t>
            </a:r>
            <a:r>
              <a:rPr lang="fr-FR" sz="1800" dirty="0"/>
              <a:t>En tant que Lead animateur, vous circulez entre les ateliers et garantissez que chaque groupe joue de manière fluide. A vous de décider aussi s’il faut allonger le temps d’un tour (le temps de circulation peut jouer).</a:t>
            </a:r>
          </a:p>
          <a:p>
            <a:pPr>
              <a:buFontTx/>
              <a:buChar char="-"/>
            </a:pPr>
            <a:r>
              <a:rPr lang="fr-FR" sz="1800" b="1" dirty="0"/>
              <a:t>Confidentialité </a:t>
            </a:r>
            <a:r>
              <a:rPr lang="fr-FR" sz="1800" dirty="0"/>
              <a:t>: Si besoin, précisez à vos participants le niveau de confidentialité des résultats de production</a:t>
            </a:r>
          </a:p>
          <a:p>
            <a:pPr>
              <a:buFontTx/>
              <a:buChar char="-"/>
            </a:pPr>
            <a:r>
              <a:rPr lang="fr-FR" sz="1800" b="1" dirty="0"/>
              <a:t>Rythme </a:t>
            </a:r>
            <a:r>
              <a:rPr lang="fr-FR" sz="1800" dirty="0"/>
              <a:t>: La montre donne la cadence et met juste assez de stress pour prendre des décisions et oser. Allongez si besoin de quelques minutes les durées des tours mais ne retirez pas la limite de temps.</a:t>
            </a:r>
          </a:p>
        </p:txBody>
      </p:sp>
      <p:grpSp>
        <p:nvGrpSpPr>
          <p:cNvPr id="4" name="Groupe 3">
            <a:extLst>
              <a:ext uri="{FF2B5EF4-FFF2-40B4-BE49-F238E27FC236}">
                <a16:creationId xmlns:a16="http://schemas.microsoft.com/office/drawing/2014/main" id="{CF0828F8-5C96-46D4-B13B-04B1CAB3673B}"/>
              </a:ext>
            </a:extLst>
          </p:cNvPr>
          <p:cNvGrpSpPr/>
          <p:nvPr/>
        </p:nvGrpSpPr>
        <p:grpSpPr>
          <a:xfrm>
            <a:off x="8127191" y="441721"/>
            <a:ext cx="1019681" cy="1099187"/>
            <a:chOff x="6060465" y="3463636"/>
            <a:chExt cx="819385" cy="883274"/>
          </a:xfrm>
          <a:solidFill>
            <a:srgbClr val="ED7D31"/>
          </a:solidFill>
        </p:grpSpPr>
        <p:pic>
          <p:nvPicPr>
            <p:cNvPr id="5" name="Graphique 4" descr="Presse-papiers mixte avec un remplissage uni">
              <a:extLst>
                <a:ext uri="{FF2B5EF4-FFF2-40B4-BE49-F238E27FC236}">
                  <a16:creationId xmlns:a16="http://schemas.microsoft.com/office/drawing/2014/main" id="{E7028A80-D559-4EFA-B6FB-418C1574C9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6" name="Groupe 5">
              <a:extLst>
                <a:ext uri="{FF2B5EF4-FFF2-40B4-BE49-F238E27FC236}">
                  <a16:creationId xmlns:a16="http://schemas.microsoft.com/office/drawing/2014/main" id="{B94D3E94-9C14-4704-B77E-89E88404EE7A}"/>
                </a:ext>
              </a:extLst>
            </p:cNvPr>
            <p:cNvGrpSpPr/>
            <p:nvPr/>
          </p:nvGrpSpPr>
          <p:grpSpPr>
            <a:xfrm>
              <a:off x="6132133" y="3463636"/>
              <a:ext cx="612923" cy="883274"/>
              <a:chOff x="6132133" y="3463636"/>
              <a:chExt cx="612923" cy="883274"/>
            </a:xfrm>
            <a:grpFill/>
          </p:grpSpPr>
          <p:pic>
            <p:nvPicPr>
              <p:cNvPr id="9" name="Graphique 8" descr="Centre d’appels avec un remplissage uni">
                <a:extLst>
                  <a:ext uri="{FF2B5EF4-FFF2-40B4-BE49-F238E27FC236}">
                    <a16:creationId xmlns:a16="http://schemas.microsoft.com/office/drawing/2014/main" id="{A5A9F6A1-95EF-4803-B0F0-90A40F483CA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10" name="Groupe 9">
                <a:extLst>
                  <a:ext uri="{FF2B5EF4-FFF2-40B4-BE49-F238E27FC236}">
                    <a16:creationId xmlns:a16="http://schemas.microsoft.com/office/drawing/2014/main" id="{6EF52463-981D-433C-96D8-342FE23F0939}"/>
                  </a:ext>
                </a:extLst>
              </p:cNvPr>
              <p:cNvGrpSpPr/>
              <p:nvPr/>
            </p:nvGrpSpPr>
            <p:grpSpPr>
              <a:xfrm flipH="1">
                <a:off x="6132133" y="3682042"/>
                <a:ext cx="611857" cy="664868"/>
                <a:chOff x="5018285" y="4055721"/>
                <a:chExt cx="696982" cy="731970"/>
              </a:xfrm>
              <a:grpFill/>
            </p:grpSpPr>
            <p:pic>
              <p:nvPicPr>
                <p:cNvPr id="11" name="Graphique 10" descr="Personne confuse avec un remplissage uni">
                  <a:extLst>
                    <a:ext uri="{FF2B5EF4-FFF2-40B4-BE49-F238E27FC236}">
                      <a16:creationId xmlns:a16="http://schemas.microsoft.com/office/drawing/2014/main" id="{A9D4B7FC-02EE-4C92-B209-20C611AAA3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12" name="Rectangle : coins arrondis 11">
                  <a:extLst>
                    <a:ext uri="{FF2B5EF4-FFF2-40B4-BE49-F238E27FC236}">
                      <a16:creationId xmlns:a16="http://schemas.microsoft.com/office/drawing/2014/main" id="{F36A4B3C-4185-493B-A507-E0AFF1AA2EFA}"/>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7" name="Image 6">
              <a:extLst>
                <a:ext uri="{FF2B5EF4-FFF2-40B4-BE49-F238E27FC236}">
                  <a16:creationId xmlns:a16="http://schemas.microsoft.com/office/drawing/2014/main" id="{E954121D-7E9D-4B7D-A172-DC30FCCF05B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8" name="Graphique 7" descr="Chronomètre avec un remplissage uni">
              <a:extLst>
                <a:ext uri="{FF2B5EF4-FFF2-40B4-BE49-F238E27FC236}">
                  <a16:creationId xmlns:a16="http://schemas.microsoft.com/office/drawing/2014/main" id="{02999A9B-140A-4609-BD65-DFA7E0768B4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13" name="Groupe 12">
            <a:extLst>
              <a:ext uri="{FF2B5EF4-FFF2-40B4-BE49-F238E27FC236}">
                <a16:creationId xmlns:a16="http://schemas.microsoft.com/office/drawing/2014/main" id="{B1539B13-3B70-43BF-8D11-14F42DD30D39}"/>
              </a:ext>
            </a:extLst>
          </p:cNvPr>
          <p:cNvGrpSpPr/>
          <p:nvPr/>
        </p:nvGrpSpPr>
        <p:grpSpPr>
          <a:xfrm>
            <a:off x="9216471" y="54078"/>
            <a:ext cx="1418978" cy="1536558"/>
            <a:chOff x="7560150" y="2879049"/>
            <a:chExt cx="982042" cy="1063416"/>
          </a:xfrm>
          <a:solidFill>
            <a:srgbClr val="ED7D31"/>
          </a:solidFill>
        </p:grpSpPr>
        <p:grpSp>
          <p:nvGrpSpPr>
            <p:cNvPr id="14" name="Groupe 13">
              <a:extLst>
                <a:ext uri="{FF2B5EF4-FFF2-40B4-BE49-F238E27FC236}">
                  <a16:creationId xmlns:a16="http://schemas.microsoft.com/office/drawing/2014/main" id="{756BAF7B-B6BC-4FB5-A7EC-CAE0B47DA7AC}"/>
                </a:ext>
              </a:extLst>
            </p:cNvPr>
            <p:cNvGrpSpPr/>
            <p:nvPr/>
          </p:nvGrpSpPr>
          <p:grpSpPr>
            <a:xfrm>
              <a:off x="7798849" y="2879049"/>
              <a:ext cx="743343" cy="1063416"/>
              <a:chOff x="6391015" y="3260296"/>
              <a:chExt cx="743343" cy="1063416"/>
            </a:xfrm>
            <a:grpFill/>
          </p:grpSpPr>
          <p:grpSp>
            <p:nvGrpSpPr>
              <p:cNvPr id="16" name="Groupe 15">
                <a:extLst>
                  <a:ext uri="{FF2B5EF4-FFF2-40B4-BE49-F238E27FC236}">
                    <a16:creationId xmlns:a16="http://schemas.microsoft.com/office/drawing/2014/main" id="{AA13F5A3-1B75-4B9B-A55E-4C6AC46173F5}"/>
                  </a:ext>
                </a:extLst>
              </p:cNvPr>
              <p:cNvGrpSpPr/>
              <p:nvPr/>
            </p:nvGrpSpPr>
            <p:grpSpPr>
              <a:xfrm>
                <a:off x="6391015" y="3260296"/>
                <a:ext cx="743343" cy="1063416"/>
                <a:chOff x="6298348" y="3168316"/>
                <a:chExt cx="867130" cy="1240504"/>
              </a:xfrm>
              <a:grpFill/>
            </p:grpSpPr>
            <p:pic>
              <p:nvPicPr>
                <p:cNvPr id="18" name="Graphique 17" descr="Enseignant avec un remplissage uni">
                  <a:extLst>
                    <a:ext uri="{FF2B5EF4-FFF2-40B4-BE49-F238E27FC236}">
                      <a16:creationId xmlns:a16="http://schemas.microsoft.com/office/drawing/2014/main" id="{FFBFACCA-E6E7-43BE-92C4-30560184A45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19" name="Graphique 18" descr="Personne confuse avec un remplissage uni">
                  <a:extLst>
                    <a:ext uri="{FF2B5EF4-FFF2-40B4-BE49-F238E27FC236}">
                      <a16:creationId xmlns:a16="http://schemas.microsoft.com/office/drawing/2014/main" id="{E6632867-B0AF-4BC0-A9B5-BE68A3E463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20" name="Rectangle : coins arrondis 19">
                  <a:extLst>
                    <a:ext uri="{FF2B5EF4-FFF2-40B4-BE49-F238E27FC236}">
                      <a16:creationId xmlns:a16="http://schemas.microsoft.com/office/drawing/2014/main" id="{2CFC8DB0-7C99-42BE-9A93-81024F626829}"/>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7" name="Image 16">
                <a:extLst>
                  <a:ext uri="{FF2B5EF4-FFF2-40B4-BE49-F238E27FC236}">
                    <a16:creationId xmlns:a16="http://schemas.microsoft.com/office/drawing/2014/main" id="{C985F34B-6FAA-4667-B33E-76DBC8C929B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5" name="Graphique 14" descr="Presse-papiers mixte avec un remplissage uni">
              <a:extLst>
                <a:ext uri="{FF2B5EF4-FFF2-40B4-BE49-F238E27FC236}">
                  <a16:creationId xmlns:a16="http://schemas.microsoft.com/office/drawing/2014/main" id="{C4527E6D-DC95-4372-B215-2828C982BB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3800559966"/>
      </p:ext>
    </p:extLst>
  </p:cSld>
  <p:clrMapOvr>
    <a:masterClrMapping/>
  </p:clrMapOvr>
  <mc:AlternateContent xmlns:mc="http://schemas.openxmlformats.org/markup-compatibility/2006" xmlns:p14="http://schemas.microsoft.com/office/powerpoint/2010/main">
    <mc:Choice Requires="p14">
      <p:transition spd="slow" p14:dur="2000" advTm="35535"/>
    </mc:Choice>
    <mc:Fallback xmlns="">
      <p:transition spd="slow" advTm="3553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Calibri" panose="020F0502020204030204"/>
              <a:ea typeface="+mn-ea"/>
              <a:cs typeface="+mn-cs"/>
            </a:endParaRPr>
          </a:p>
        </p:txBody>
      </p:sp>
      <p:sp>
        <p:nvSpPr>
          <p:cNvPr id="25" name="Arc 2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000000"/>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B13C3912-E33F-47F1-ABAF-D0E337E9DC51}"/>
              </a:ext>
            </a:extLst>
          </p:cNvPr>
          <p:cNvSpPr>
            <a:spLocks noGrp="1"/>
          </p:cNvSpPr>
          <p:nvPr>
            <p:ph type="title"/>
          </p:nvPr>
        </p:nvSpPr>
        <p:spPr>
          <a:xfrm>
            <a:off x="2769476" y="1939159"/>
            <a:ext cx="8913752" cy="2366511"/>
          </a:xfrm>
        </p:spPr>
        <p:txBody>
          <a:bodyPr vert="horz" lIns="91440" tIns="45720" rIns="91440" bIns="45720" rtlCol="0" anchor="b">
            <a:normAutofit/>
          </a:bodyPr>
          <a:lstStyle/>
          <a:p>
            <a:pPr algn="r"/>
            <a:r>
              <a:rPr lang="fr-FR" sz="4800" dirty="0"/>
              <a:t>Ateliers</a:t>
            </a:r>
            <a:endParaRPr lang="fr-FR" sz="4800" kern="1200" dirty="0">
              <a:solidFill>
                <a:schemeClr val="tx1"/>
              </a:solidFill>
              <a:latin typeface="+mj-lt"/>
              <a:ea typeface="+mj-ea"/>
              <a:cs typeface="+mj-cs"/>
            </a:endParaRPr>
          </a:p>
        </p:txBody>
      </p:sp>
      <p:sp>
        <p:nvSpPr>
          <p:cNvPr id="30" name="Espace réservé du texte 4">
            <a:extLst>
              <a:ext uri="{FF2B5EF4-FFF2-40B4-BE49-F238E27FC236}">
                <a16:creationId xmlns:a16="http://schemas.microsoft.com/office/drawing/2014/main" id="{3B1CF090-2813-4A0B-AFC3-2E921F6141D0}"/>
              </a:ext>
            </a:extLst>
          </p:cNvPr>
          <p:cNvSpPr>
            <a:spLocks noGrp="1"/>
          </p:cNvSpPr>
          <p:nvPr>
            <p:ph type="body" idx="1"/>
          </p:nvPr>
        </p:nvSpPr>
        <p:spPr>
          <a:xfrm>
            <a:off x="4038600" y="4782320"/>
            <a:ext cx="7644627" cy="1329443"/>
          </a:xfrm>
        </p:spPr>
        <p:txBody>
          <a:bodyPr vert="horz" lIns="91440" tIns="45720" rIns="91440" bIns="45720" rtlCol="0">
            <a:normAutofit/>
          </a:bodyPr>
          <a:lstStyle/>
          <a:p>
            <a:pPr algn="r"/>
            <a:r>
              <a:rPr lang="fr-FR" kern="1200" dirty="0">
                <a:solidFill>
                  <a:schemeClr val="tx1"/>
                </a:solidFill>
                <a:latin typeface="+mn-lt"/>
                <a:ea typeface="+mn-ea"/>
                <a:cs typeface="+mn-cs"/>
              </a:rPr>
              <a:t>Pages prêtes à remplir</a:t>
            </a:r>
          </a:p>
        </p:txBody>
      </p:sp>
    </p:spTree>
    <p:extLst>
      <p:ext uri="{BB962C8B-B14F-4D97-AF65-F5344CB8AC3E}">
        <p14:creationId xmlns:p14="http://schemas.microsoft.com/office/powerpoint/2010/main" val="1626911169"/>
      </p:ext>
    </p:extLst>
  </p:cSld>
  <p:clrMapOvr>
    <a:masterClrMapping/>
  </p:clrMapOvr>
  <mc:AlternateContent xmlns:mc="http://schemas.openxmlformats.org/markup-compatibility/2006" xmlns:p14="http://schemas.microsoft.com/office/powerpoint/2010/main">
    <mc:Choice Requires="p14">
      <p:transition spd="slow" p14:dur="2000" advTm="5151"/>
    </mc:Choice>
    <mc:Fallback xmlns="">
      <p:transition spd="slow" advTm="515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dirty="0">
                <a:cs typeface="Calibri Light"/>
              </a:rPr>
              <a:t>ATELIER LOOK &amp; FEEL DES MEMBRES 2050</a:t>
            </a:r>
            <a:br>
              <a:rPr lang="en-US" sz="4000" dirty="0">
                <a:cs typeface="Calibri Light"/>
              </a:rPr>
            </a:br>
            <a:r>
              <a:rPr lang="en-US" sz="4000" dirty="0" err="1">
                <a:cs typeface="Calibri Light"/>
              </a:rPr>
              <a:t>Feuille</a:t>
            </a:r>
            <a:r>
              <a:rPr lang="en-US" sz="4000" dirty="0">
                <a:cs typeface="Calibri Light"/>
              </a:rPr>
              <a:t> </a:t>
            </a:r>
            <a:r>
              <a:rPr lang="en-US" sz="4000" dirty="0" err="1">
                <a:cs typeface="Calibri Light"/>
              </a:rPr>
              <a:t>d’instructions</a:t>
            </a:r>
            <a:r>
              <a:rPr lang="en-US" sz="4000" dirty="0">
                <a:cs typeface="Calibri Light"/>
              </a:rPr>
              <a:t> - Résumé</a:t>
            </a:r>
            <a:endParaRPr lang="en-US" sz="4000" dirty="0"/>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1139737151"/>
              </p:ext>
            </p:extLst>
          </p:nvPr>
        </p:nvGraphicFramePr>
        <p:xfrm>
          <a:off x="523784" y="1509204"/>
          <a:ext cx="11141476" cy="5195508"/>
        </p:xfrm>
        <a:graphic>
          <a:graphicData uri="http://schemas.openxmlformats.org/drawingml/2006/table">
            <a:tbl>
              <a:tblPr bandRow="1">
                <a:tableStyleId>{5C22544A-7EE6-4342-B048-85BDC9FD1C3A}</a:tableStyleId>
              </a:tblPr>
              <a:tblGrid>
                <a:gridCol w="1856913">
                  <a:extLst>
                    <a:ext uri="{9D8B030D-6E8A-4147-A177-3AD203B41FA5}">
                      <a16:colId xmlns:a16="http://schemas.microsoft.com/office/drawing/2014/main" val="416040190"/>
                    </a:ext>
                  </a:extLst>
                </a:gridCol>
                <a:gridCol w="1856913">
                  <a:extLst>
                    <a:ext uri="{9D8B030D-6E8A-4147-A177-3AD203B41FA5}">
                      <a16:colId xmlns:a16="http://schemas.microsoft.com/office/drawing/2014/main" val="2019038073"/>
                    </a:ext>
                  </a:extLst>
                </a:gridCol>
                <a:gridCol w="1856913">
                  <a:extLst>
                    <a:ext uri="{9D8B030D-6E8A-4147-A177-3AD203B41FA5}">
                      <a16:colId xmlns:a16="http://schemas.microsoft.com/office/drawing/2014/main" val="102799537"/>
                    </a:ext>
                  </a:extLst>
                </a:gridCol>
                <a:gridCol w="5570737">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p>
                    <a:p>
                      <a:pPr lvl="0">
                        <a:buNone/>
                      </a:pPr>
                      <a:r>
                        <a:rPr lang="fr-FR" sz="1400" b="0" i="0" u="none" strike="noStrike" noProof="0" dirty="0">
                          <a:latin typeface="Calibri"/>
                        </a:rPr>
                        <a:t>Le shooting photos du magazine « Meilleurs MEMBRES 2050 » va bientôt avoir lieu. A cette occasion, une grande maison de confection vous promet de créer les costumes de membre que vous imaginerez. </a:t>
                      </a:r>
                    </a:p>
                    <a:p>
                      <a:pPr lvl="0">
                        <a:buNone/>
                      </a:pPr>
                      <a:endParaRPr lang="fr-FR" sz="1400" b="0" i="0" u="none" strike="noStrike" noProof="0" dirty="0">
                        <a:latin typeface="Calibri"/>
                      </a:endParaRPr>
                    </a:p>
                    <a:p>
                      <a:pPr lvl="0">
                        <a:buNone/>
                      </a:pPr>
                      <a:r>
                        <a:rPr lang="fr-FR" sz="1400" b="0" i="0" u="none" strike="noStrike" noProof="0" dirty="0">
                          <a:latin typeface="Calibri"/>
                        </a:rPr>
                        <a:t>Vous êtes nommés comme stylistes pour créer les prochaines tenues des MEMBRES 2050 à partager dans le magazine, et devez fournir des premières esquisses.</a:t>
                      </a:r>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a:t>
                      </a:r>
                    </a:p>
                  </a:txBody>
                  <a:tcPr/>
                </a:tc>
                <a:extLst>
                  <a:ext uri="{0D108BD9-81ED-4DB2-BD59-A6C34878D82A}">
                    <a16:rowId xmlns:a16="http://schemas.microsoft.com/office/drawing/2014/main" val="3856860579"/>
                  </a:ext>
                </a:extLst>
              </a:tr>
              <a:tr h="1698594">
                <a:tc gridSpan="3">
                  <a:txBody>
                    <a:bodyPr/>
                    <a:lstStyle/>
                    <a:p>
                      <a:r>
                        <a:rPr lang="fr-FR" sz="1400" b="1" noProof="0" dirty="0"/>
                        <a:t>Instructions :</a:t>
                      </a:r>
                      <a:r>
                        <a:rPr lang="fr-FR" sz="1400" noProof="0" dirty="0"/>
                        <a:t> </a:t>
                      </a:r>
                    </a:p>
                    <a:p>
                      <a:endParaRPr lang="fr-FR" sz="1400" noProof="0" dirty="0"/>
                    </a:p>
                    <a:p>
                      <a:r>
                        <a:rPr lang="fr-FR" sz="1400" b="0" i="0" u="none" strike="noStrike" noProof="0" dirty="0">
                          <a:latin typeface="Calibri"/>
                        </a:rPr>
                        <a:t>Dessiner les tenues pour le jour J avec un descriptif des matériaux/spécificités/technologies la constituant. </a:t>
                      </a:r>
                    </a:p>
                    <a:p>
                      <a:endParaRPr lang="fr-FR" sz="1400" b="0" i="0" u="none" strike="noStrike" noProof="0" dirty="0">
                        <a:latin typeface="Calibri"/>
                      </a:endParaRPr>
                    </a:p>
                    <a:p>
                      <a:r>
                        <a:rPr lang="fr-FR" sz="1400" b="0" i="0" u="none" strike="noStrike" noProof="0" dirty="0">
                          <a:latin typeface="Calibri"/>
                        </a:rPr>
                        <a:t>Vous pouvez vous aider des feuilles de support pour dessiner par-dessus.</a:t>
                      </a:r>
                      <a:endParaRPr lang="fr-FR" sz="1400" noProof="0" dirty="0"/>
                    </a:p>
                    <a:p>
                      <a:endParaRPr lang="fr-FR" sz="1400" noProof="0" dirty="0"/>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dirty="0"/>
                        <a:t>A atteindre pour le Tour 1 </a:t>
                      </a:r>
                      <a:r>
                        <a:rPr lang="fr-FR" sz="1400" noProof="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dirty="0"/>
                        <a:t>(Minimum)</a:t>
                      </a:r>
                    </a:p>
                    <a:p>
                      <a:r>
                        <a:rPr lang="fr-FR" sz="1400" noProof="0" dirty="0"/>
                        <a:t>1 dessin avec 2 flèches et 2 descriptions qui vont avec</a:t>
                      </a:r>
                    </a:p>
                  </a:txBody>
                  <a:tcPr/>
                </a:tc>
                <a:tc>
                  <a:txBody>
                    <a:bodyPr/>
                    <a:lstStyle/>
                    <a:p>
                      <a:r>
                        <a:rPr lang="fr-FR" sz="1400" b="1" noProof="0" dirty="0"/>
                        <a:t>A atteindre pour le Tour 2 </a:t>
                      </a:r>
                      <a:r>
                        <a:rPr lang="fr-FR" sz="1400" noProof="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dirty="0"/>
                        <a:t>(Minimum)</a:t>
                      </a:r>
                    </a:p>
                    <a:p>
                      <a:r>
                        <a:rPr lang="fr-FR" sz="1400" noProof="0" dirty="0"/>
                        <a:t>1 dessins au total avec 3 descriptions au total</a:t>
                      </a:r>
                    </a:p>
                  </a:txBody>
                  <a:tcPr/>
                </a:tc>
                <a:tc>
                  <a:txBody>
                    <a:bodyPr/>
                    <a:lstStyle/>
                    <a:p>
                      <a:r>
                        <a:rPr lang="fr-FR" sz="1400" b="1" noProof="0" dirty="0"/>
                        <a:t>A atteindre pour le Tour 3 </a:t>
                      </a:r>
                      <a:r>
                        <a:rPr lang="fr-FR" sz="1400" noProof="0" dirty="0"/>
                        <a:t>:</a:t>
                      </a:r>
                    </a:p>
                    <a:p>
                      <a:r>
                        <a:rPr lang="fr-FR" sz="1400" noProof="0" dirty="0"/>
                        <a:t>(Minimum)</a:t>
                      </a:r>
                    </a:p>
                    <a:p>
                      <a:r>
                        <a:rPr lang="fr-FR" sz="1400" noProof="0" dirty="0"/>
                        <a:t>2 dessins au total avec 4 description au total</a:t>
                      </a:r>
                    </a:p>
                  </a:txBody>
                  <a:tcPr/>
                </a:tc>
                <a:tc>
                  <a:txBody>
                    <a:bodyPr/>
                    <a:lstStyle/>
                    <a:p>
                      <a:pPr lvl="0">
                        <a:buNone/>
                      </a:pPr>
                      <a:r>
                        <a:rPr lang="fr-FR" sz="1400" b="1" i="0" u="none" strike="noStrike" noProof="0" dirty="0">
                          <a:latin typeface="Calibri"/>
                        </a:rPr>
                        <a:t>Conseils : </a:t>
                      </a:r>
                    </a:p>
                    <a:p>
                      <a:pPr lvl="0">
                        <a:buNone/>
                      </a:pPr>
                      <a:r>
                        <a:rPr lang="fr-FR" sz="1400" b="0" i="0" u="none" strike="noStrike" noProof="0" dirty="0">
                          <a:latin typeface="Calibri"/>
                        </a:rPr>
                        <a:t>- Privilégiez un dessin simple avec de bonnes descriptions</a:t>
                      </a:r>
                      <a:endParaRPr lang="fr-FR" sz="1400" b="0" dirty="0"/>
                    </a:p>
                    <a:p>
                      <a:pPr lvl="0">
                        <a:buNone/>
                      </a:pPr>
                      <a:r>
                        <a:rPr lang="fr-FR" sz="1400" b="0" dirty="0"/>
                        <a:t>- Si vous manquez de créativité ou d’idées, utilisez la feuille de travail pour lister les divers équipements et usages et trouvez les combinaisons intéressantes à garder pour présenter en légendes.</a:t>
                      </a:r>
                    </a:p>
                    <a:p>
                      <a:pPr lvl="0">
                        <a:buNone/>
                      </a:pPr>
                      <a:r>
                        <a:rPr lang="fr-FR" sz="1400" b="0" dirty="0"/>
                        <a:t>- Présentez les diverses idées aux dessinateurs pour qu'ils puissent juger de la faisabilité.</a:t>
                      </a:r>
                    </a:p>
                  </a:txBody>
                  <a:tcPr/>
                </a:tc>
                <a:extLst>
                  <a:ext uri="{0D108BD9-81ED-4DB2-BD59-A6C34878D82A}">
                    <a16:rowId xmlns:a16="http://schemas.microsoft.com/office/drawing/2014/main" val="2818071240"/>
                  </a:ext>
                </a:extLst>
              </a:tr>
            </a:tbl>
          </a:graphicData>
        </a:graphic>
      </p:graphicFrame>
      <p:pic>
        <p:nvPicPr>
          <p:cNvPr id="4" name="Image 3" descr="Une image contenant habits, chaussures&#10;&#10;Description générée automatiquement">
            <a:extLst>
              <a:ext uri="{FF2B5EF4-FFF2-40B4-BE49-F238E27FC236}">
                <a16:creationId xmlns:a16="http://schemas.microsoft.com/office/drawing/2014/main" id="{F604E9CD-EB26-434D-81B2-7860C624EE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9347" y="2554232"/>
            <a:ext cx="1271721" cy="2205296"/>
          </a:xfrm>
          <a:prstGeom prst="rect">
            <a:avLst/>
          </a:prstGeom>
        </p:spPr>
      </p:pic>
      <p:pic>
        <p:nvPicPr>
          <p:cNvPr id="5" name="Image 4" descr="Une image contenant clipart&#10;&#10;Description générée automatiquement">
            <a:extLst>
              <a:ext uri="{FF2B5EF4-FFF2-40B4-BE49-F238E27FC236}">
                <a16:creationId xmlns:a16="http://schemas.microsoft.com/office/drawing/2014/main" id="{4BAC747B-25CE-4D8E-9514-FA0B8DFA5569}"/>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3761" b="3362"/>
          <a:stretch/>
        </p:blipFill>
        <p:spPr>
          <a:xfrm>
            <a:off x="10365608" y="2481869"/>
            <a:ext cx="995111" cy="2241347"/>
          </a:xfrm>
          <a:prstGeom prst="rect">
            <a:avLst/>
          </a:prstGeom>
        </p:spPr>
      </p:pic>
      <p:sp>
        <p:nvSpPr>
          <p:cNvPr id="12" name="ZoneTexte 11">
            <a:extLst>
              <a:ext uri="{FF2B5EF4-FFF2-40B4-BE49-F238E27FC236}">
                <a16:creationId xmlns:a16="http://schemas.microsoft.com/office/drawing/2014/main" id="{E458E518-8F12-454B-8F84-A20757D5D69D}"/>
              </a:ext>
            </a:extLst>
          </p:cNvPr>
          <p:cNvSpPr txBox="1"/>
          <p:nvPr/>
        </p:nvSpPr>
        <p:spPr>
          <a:xfrm>
            <a:off x="8497051" y="2023903"/>
            <a:ext cx="1084102" cy="1107996"/>
          </a:xfrm>
          <a:prstGeom prst="rect">
            <a:avLst/>
          </a:prstGeom>
          <a:noFill/>
        </p:spPr>
        <p:txBody>
          <a:bodyPr wrap="square" rtlCol="0">
            <a:spAutoFit/>
          </a:bodyPr>
          <a:lstStyle/>
          <a:p>
            <a:r>
              <a:rPr lang="fr-FR" sz="1100" dirty="0"/>
              <a:t>Techno-suite qui peut s’adapter l’habillement du client de 2050</a:t>
            </a:r>
          </a:p>
        </p:txBody>
      </p:sp>
      <p:cxnSp>
        <p:nvCxnSpPr>
          <p:cNvPr id="13" name="Connecteur droit 12">
            <a:extLst>
              <a:ext uri="{FF2B5EF4-FFF2-40B4-BE49-F238E27FC236}">
                <a16:creationId xmlns:a16="http://schemas.microsoft.com/office/drawing/2014/main" id="{C600E355-EB93-4984-9366-1F882C2BDE44}"/>
              </a:ext>
            </a:extLst>
          </p:cNvPr>
          <p:cNvCxnSpPr>
            <a:cxnSpLocks/>
          </p:cNvCxnSpPr>
          <p:nvPr/>
        </p:nvCxnSpPr>
        <p:spPr>
          <a:xfrm flipH="1">
            <a:off x="7627815" y="2554232"/>
            <a:ext cx="765979" cy="4983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C11515D6-8C44-4EE3-8B38-5F391688769D}"/>
              </a:ext>
            </a:extLst>
          </p:cNvPr>
          <p:cNvCxnSpPr>
            <a:cxnSpLocks/>
          </p:cNvCxnSpPr>
          <p:nvPr/>
        </p:nvCxnSpPr>
        <p:spPr>
          <a:xfrm flipH="1" flipV="1">
            <a:off x="7791938" y="3642738"/>
            <a:ext cx="760470" cy="818942"/>
          </a:xfrm>
          <a:prstGeom prst="line">
            <a:avLst/>
          </a:prstGeom>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2A9318D4-0F3B-4B19-BD3E-97D31AEFDB2F}"/>
              </a:ext>
            </a:extLst>
          </p:cNvPr>
          <p:cNvSpPr txBox="1"/>
          <p:nvPr/>
        </p:nvSpPr>
        <p:spPr>
          <a:xfrm>
            <a:off x="8444826" y="3902642"/>
            <a:ext cx="995112" cy="1015663"/>
          </a:xfrm>
          <a:prstGeom prst="rect">
            <a:avLst/>
          </a:prstGeom>
          <a:noFill/>
        </p:spPr>
        <p:txBody>
          <a:bodyPr wrap="square" rtlCol="0">
            <a:spAutoFit/>
          </a:bodyPr>
          <a:lstStyle/>
          <a:p>
            <a:r>
              <a:rPr lang="fr-FR" sz="1200" dirty="0"/>
              <a:t>Suivi biométrique du niveau de stress en réunion</a:t>
            </a:r>
          </a:p>
        </p:txBody>
      </p:sp>
      <p:cxnSp>
        <p:nvCxnSpPr>
          <p:cNvPr id="18" name="Connecteur droit 17">
            <a:extLst>
              <a:ext uri="{FF2B5EF4-FFF2-40B4-BE49-F238E27FC236}">
                <a16:creationId xmlns:a16="http://schemas.microsoft.com/office/drawing/2014/main" id="{DD56825E-FADC-4F93-B242-7A3C2D9B24D7}"/>
              </a:ext>
            </a:extLst>
          </p:cNvPr>
          <p:cNvCxnSpPr>
            <a:cxnSpLocks/>
          </p:cNvCxnSpPr>
          <p:nvPr/>
        </p:nvCxnSpPr>
        <p:spPr>
          <a:xfrm flipV="1">
            <a:off x="10144174" y="3212389"/>
            <a:ext cx="602774" cy="445896"/>
          </a:xfrm>
          <a:prstGeom prst="line">
            <a:avLst/>
          </a:prstGeom>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D9F16083-F674-49E8-A63A-D6C23C31F458}"/>
              </a:ext>
            </a:extLst>
          </p:cNvPr>
          <p:cNvSpPr txBox="1"/>
          <p:nvPr/>
        </p:nvSpPr>
        <p:spPr>
          <a:xfrm>
            <a:off x="9744478" y="3088517"/>
            <a:ext cx="995112" cy="1015663"/>
          </a:xfrm>
          <a:prstGeom prst="rect">
            <a:avLst/>
          </a:prstGeom>
          <a:noFill/>
        </p:spPr>
        <p:txBody>
          <a:bodyPr wrap="square" rtlCol="0">
            <a:spAutoFit/>
          </a:bodyPr>
          <a:lstStyle/>
          <a:p>
            <a:r>
              <a:rPr lang="fr-FR" sz="1200" dirty="0"/>
              <a:t>Chaise dépliable intégrée dans la ceinture</a:t>
            </a:r>
          </a:p>
        </p:txBody>
      </p:sp>
    </p:spTree>
    <p:extLst>
      <p:ext uri="{BB962C8B-B14F-4D97-AF65-F5344CB8AC3E}">
        <p14:creationId xmlns:p14="http://schemas.microsoft.com/office/powerpoint/2010/main" val="3467239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Une image contenant habits, chaussures&#10;&#10;Description générée automatiquement">
            <a:extLst>
              <a:ext uri="{FF2B5EF4-FFF2-40B4-BE49-F238E27FC236}">
                <a16:creationId xmlns:a16="http://schemas.microsoft.com/office/drawing/2014/main" id="{5842003D-C6B8-4EF5-A656-677C94C86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2034" y="2031809"/>
            <a:ext cx="2533372" cy="4393129"/>
          </a:xfrm>
          <a:prstGeom prst="rect">
            <a:avLst/>
          </a:prstGeom>
        </p:spPr>
      </p:pic>
      <p:sp>
        <p:nvSpPr>
          <p:cNvPr id="8" name="ZoneTexte 7">
            <a:extLst>
              <a:ext uri="{FF2B5EF4-FFF2-40B4-BE49-F238E27FC236}">
                <a16:creationId xmlns:a16="http://schemas.microsoft.com/office/drawing/2014/main" id="{FD6B40B3-5E31-4718-8704-32B7086458C3}"/>
              </a:ext>
            </a:extLst>
          </p:cNvPr>
          <p:cNvSpPr txBox="1"/>
          <p:nvPr/>
        </p:nvSpPr>
        <p:spPr>
          <a:xfrm>
            <a:off x="4167328" y="1988707"/>
            <a:ext cx="1084102" cy="1107996"/>
          </a:xfrm>
          <a:prstGeom prst="rect">
            <a:avLst/>
          </a:prstGeom>
          <a:noFill/>
        </p:spPr>
        <p:txBody>
          <a:bodyPr wrap="square" rtlCol="0">
            <a:spAutoFit/>
          </a:bodyPr>
          <a:lstStyle/>
          <a:p>
            <a:r>
              <a:rPr lang="fr-FR" sz="1100" dirty="0"/>
              <a:t>Techno-suite qui peut s’adapter l’habillement du client de 2050</a:t>
            </a:r>
          </a:p>
        </p:txBody>
      </p:sp>
      <p:cxnSp>
        <p:nvCxnSpPr>
          <p:cNvPr id="10" name="Connecteur droit 9">
            <a:extLst>
              <a:ext uri="{FF2B5EF4-FFF2-40B4-BE49-F238E27FC236}">
                <a16:creationId xmlns:a16="http://schemas.microsoft.com/office/drawing/2014/main" id="{601AAF10-3697-4133-B62B-7922593D0DE1}"/>
              </a:ext>
            </a:extLst>
          </p:cNvPr>
          <p:cNvCxnSpPr>
            <a:cxnSpLocks/>
          </p:cNvCxnSpPr>
          <p:nvPr/>
        </p:nvCxnSpPr>
        <p:spPr>
          <a:xfrm flipH="1">
            <a:off x="3266983" y="2519036"/>
            <a:ext cx="797088" cy="6207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FC523C7B-1697-4447-BFFC-6C349D73F993}"/>
              </a:ext>
            </a:extLst>
          </p:cNvPr>
          <p:cNvCxnSpPr>
            <a:cxnSpLocks/>
          </p:cNvCxnSpPr>
          <p:nvPr/>
        </p:nvCxnSpPr>
        <p:spPr>
          <a:xfrm flipH="1" flipV="1">
            <a:off x="3615857" y="3899830"/>
            <a:ext cx="606827" cy="526653"/>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E2AFF772-ACE9-4088-B6D2-76075A726B54}"/>
              </a:ext>
            </a:extLst>
          </p:cNvPr>
          <p:cNvSpPr txBox="1"/>
          <p:nvPr/>
        </p:nvSpPr>
        <p:spPr>
          <a:xfrm>
            <a:off x="4232522" y="3943905"/>
            <a:ext cx="1541903" cy="646331"/>
          </a:xfrm>
          <a:prstGeom prst="rect">
            <a:avLst/>
          </a:prstGeom>
          <a:noFill/>
        </p:spPr>
        <p:txBody>
          <a:bodyPr wrap="square" rtlCol="0">
            <a:spAutoFit/>
          </a:bodyPr>
          <a:lstStyle/>
          <a:p>
            <a:r>
              <a:rPr lang="fr-FR" sz="1200"/>
              <a:t>Suivi biométrique du niveau de stress en réunion</a:t>
            </a:r>
          </a:p>
        </p:txBody>
      </p:sp>
      <p:cxnSp>
        <p:nvCxnSpPr>
          <p:cNvPr id="16" name="Connecteur droit 15">
            <a:extLst>
              <a:ext uri="{FF2B5EF4-FFF2-40B4-BE49-F238E27FC236}">
                <a16:creationId xmlns:a16="http://schemas.microsoft.com/office/drawing/2014/main" id="{3B9B4616-2CE4-4864-8DA9-A684B3BCC6AE}"/>
              </a:ext>
            </a:extLst>
          </p:cNvPr>
          <p:cNvCxnSpPr>
            <a:cxnSpLocks/>
          </p:cNvCxnSpPr>
          <p:nvPr/>
        </p:nvCxnSpPr>
        <p:spPr>
          <a:xfrm flipH="1" flipV="1">
            <a:off x="1606858" y="5149049"/>
            <a:ext cx="727478" cy="834502"/>
          </a:xfrm>
          <a:prstGeom prst="line">
            <a:avLst/>
          </a:prstGeom>
        </p:spPr>
        <p:style>
          <a:lnRef idx="1">
            <a:schemeClr val="accent1"/>
          </a:lnRef>
          <a:fillRef idx="0">
            <a:schemeClr val="accent1"/>
          </a:fillRef>
          <a:effectRef idx="0">
            <a:schemeClr val="accent1"/>
          </a:effectRef>
          <a:fontRef idx="minor">
            <a:schemeClr val="tx1"/>
          </a:fontRef>
        </p:style>
      </p:cxnSp>
      <p:pic>
        <p:nvPicPr>
          <p:cNvPr id="20" name="Image 19" descr="Une image contenant habits, chaussures&#10;&#10;Description générée automatiquement">
            <a:extLst>
              <a:ext uri="{FF2B5EF4-FFF2-40B4-BE49-F238E27FC236}">
                <a16:creationId xmlns:a16="http://schemas.microsoft.com/office/drawing/2014/main" id="{FA1BFBA6-3172-4280-968E-D31E98D7B789}"/>
              </a:ext>
            </a:extLst>
          </p:cNvPr>
          <p:cNvPicPr>
            <a:picLocks noChangeAspect="1"/>
          </p:cNvPicPr>
          <p:nvPr/>
        </p:nvPicPr>
        <p:blipFill rotWithShape="1">
          <a:blip r:embed="rId2">
            <a:extLst>
              <a:ext uri="{28A0092B-C50C-407E-A947-70E740481C1C}">
                <a14:useLocalDpi xmlns:a14="http://schemas.microsoft.com/office/drawing/2010/main" val="0"/>
              </a:ext>
            </a:extLst>
          </a:blip>
          <a:srcRect l="36417" t="9959" r="41103" b="75691"/>
          <a:stretch/>
        </p:blipFill>
        <p:spPr>
          <a:xfrm>
            <a:off x="7937503" y="2482854"/>
            <a:ext cx="1383738" cy="1531625"/>
          </a:xfrm>
          <a:prstGeom prst="rect">
            <a:avLst/>
          </a:prstGeom>
        </p:spPr>
      </p:pic>
      <p:sp>
        <p:nvSpPr>
          <p:cNvPr id="25" name="ZoneTexte 24">
            <a:extLst>
              <a:ext uri="{FF2B5EF4-FFF2-40B4-BE49-F238E27FC236}">
                <a16:creationId xmlns:a16="http://schemas.microsoft.com/office/drawing/2014/main" id="{A0EA28FE-BB32-45EF-B7E3-A4F0CF990E6F}"/>
              </a:ext>
            </a:extLst>
          </p:cNvPr>
          <p:cNvSpPr txBox="1"/>
          <p:nvPr/>
        </p:nvSpPr>
        <p:spPr>
          <a:xfrm>
            <a:off x="766010" y="4502718"/>
            <a:ext cx="1568326" cy="646331"/>
          </a:xfrm>
          <a:prstGeom prst="rect">
            <a:avLst/>
          </a:prstGeom>
          <a:noFill/>
        </p:spPr>
        <p:txBody>
          <a:bodyPr wrap="square" rtlCol="0">
            <a:spAutoFit/>
          </a:bodyPr>
          <a:lstStyle/>
          <a:p>
            <a:r>
              <a:rPr lang="fr-FR" sz="1200"/>
              <a:t>Chaussures éco-responsables à base de maïs</a:t>
            </a:r>
          </a:p>
        </p:txBody>
      </p:sp>
      <p:sp>
        <p:nvSpPr>
          <p:cNvPr id="26" name="Titre 1">
            <a:extLst>
              <a:ext uri="{FF2B5EF4-FFF2-40B4-BE49-F238E27FC236}">
                <a16:creationId xmlns:a16="http://schemas.microsoft.com/office/drawing/2014/main" id="{C38F99E5-6DA7-4FA1-83F1-8B5F0F86BD80}"/>
              </a:ext>
            </a:extLst>
          </p:cNvPr>
          <p:cNvSpPr>
            <a:spLocks noGrp="1"/>
          </p:cNvSpPr>
          <p:nvPr>
            <p:ph type="title"/>
          </p:nvPr>
        </p:nvSpPr>
        <p:spPr>
          <a:xfrm>
            <a:off x="838200" y="365125"/>
            <a:ext cx="10515600" cy="1325563"/>
          </a:xfrm>
        </p:spPr>
        <p:txBody>
          <a:bodyPr>
            <a:normAutofit/>
          </a:bodyPr>
          <a:lstStyle/>
          <a:p>
            <a:r>
              <a:rPr lang="fr-FR" sz="4000" dirty="0">
                <a:cs typeface="Calibri Light"/>
              </a:rPr>
              <a:t>ATELIER LOOK &amp; FEEL DES MEMBRES 2050</a:t>
            </a:r>
            <a:br>
              <a:rPr lang="fr-FR" sz="4000" dirty="0">
                <a:cs typeface="Calibri Light"/>
              </a:rPr>
            </a:br>
            <a:r>
              <a:rPr lang="en-US" sz="4000" dirty="0" err="1">
                <a:cs typeface="Calibri Light"/>
              </a:rPr>
              <a:t>Feuille</a:t>
            </a:r>
            <a:r>
              <a:rPr lang="en-US" sz="4000" dirty="0">
                <a:cs typeface="Calibri Light"/>
              </a:rPr>
              <a:t> </a:t>
            </a:r>
            <a:r>
              <a:rPr lang="en-US" sz="4000" dirty="0" err="1">
                <a:cs typeface="Calibri Light"/>
              </a:rPr>
              <a:t>d’instructions</a:t>
            </a:r>
            <a:r>
              <a:rPr lang="en-US" sz="4000" dirty="0">
                <a:cs typeface="Calibri Light"/>
              </a:rPr>
              <a:t> - </a:t>
            </a:r>
            <a:r>
              <a:rPr lang="fr-FR" sz="4000" dirty="0">
                <a:cs typeface="Calibri Light"/>
              </a:rPr>
              <a:t>Exemple</a:t>
            </a:r>
            <a:endParaRPr lang="fr-FR" sz="4000" dirty="0"/>
          </a:p>
        </p:txBody>
      </p:sp>
      <p:sp>
        <p:nvSpPr>
          <p:cNvPr id="31" name="ZoneTexte 30">
            <a:extLst>
              <a:ext uri="{FF2B5EF4-FFF2-40B4-BE49-F238E27FC236}">
                <a16:creationId xmlns:a16="http://schemas.microsoft.com/office/drawing/2014/main" id="{C5AEC090-B1FB-4A69-8665-A75624BA55CB}"/>
              </a:ext>
            </a:extLst>
          </p:cNvPr>
          <p:cNvSpPr txBox="1"/>
          <p:nvPr/>
        </p:nvSpPr>
        <p:spPr>
          <a:xfrm>
            <a:off x="10079856" y="2542705"/>
            <a:ext cx="1084102" cy="938719"/>
          </a:xfrm>
          <a:prstGeom prst="rect">
            <a:avLst/>
          </a:prstGeom>
          <a:noFill/>
        </p:spPr>
        <p:txBody>
          <a:bodyPr wrap="square" rtlCol="0">
            <a:spAutoFit/>
          </a:bodyPr>
          <a:lstStyle/>
          <a:p>
            <a:r>
              <a:rPr lang="fr-FR" sz="1100"/>
              <a:t>Implant rétine réalité augmentée pour visualiser les situations</a:t>
            </a:r>
          </a:p>
        </p:txBody>
      </p:sp>
      <p:sp>
        <p:nvSpPr>
          <p:cNvPr id="32" name="ZoneTexte 31">
            <a:extLst>
              <a:ext uri="{FF2B5EF4-FFF2-40B4-BE49-F238E27FC236}">
                <a16:creationId xmlns:a16="http://schemas.microsoft.com/office/drawing/2014/main" id="{179C4B08-57B2-49A7-8723-0E570CB898D7}"/>
              </a:ext>
            </a:extLst>
          </p:cNvPr>
          <p:cNvSpPr txBox="1"/>
          <p:nvPr/>
        </p:nvSpPr>
        <p:spPr>
          <a:xfrm>
            <a:off x="6577878" y="3438165"/>
            <a:ext cx="1383739" cy="461665"/>
          </a:xfrm>
          <a:prstGeom prst="rect">
            <a:avLst/>
          </a:prstGeom>
          <a:noFill/>
        </p:spPr>
        <p:txBody>
          <a:bodyPr wrap="square" rtlCol="0">
            <a:spAutoFit/>
          </a:bodyPr>
          <a:lstStyle/>
          <a:p>
            <a:r>
              <a:rPr lang="fr-FR" sz="1200"/>
              <a:t>Col  roulé « Anticovid 49 »</a:t>
            </a:r>
          </a:p>
        </p:txBody>
      </p:sp>
      <p:cxnSp>
        <p:nvCxnSpPr>
          <p:cNvPr id="33" name="Connecteur droit 32">
            <a:extLst>
              <a:ext uri="{FF2B5EF4-FFF2-40B4-BE49-F238E27FC236}">
                <a16:creationId xmlns:a16="http://schemas.microsoft.com/office/drawing/2014/main" id="{4AC7F6C8-9528-4C7B-9414-DF4363ABD05C}"/>
              </a:ext>
            </a:extLst>
          </p:cNvPr>
          <p:cNvCxnSpPr>
            <a:cxnSpLocks/>
            <a:stCxn id="31" idx="1"/>
          </p:cNvCxnSpPr>
          <p:nvPr/>
        </p:nvCxnSpPr>
        <p:spPr>
          <a:xfrm flipH="1">
            <a:off x="8869482" y="3012065"/>
            <a:ext cx="1210374" cy="236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19C83A36-BDE6-4C69-99F1-8B01933B0011}"/>
              </a:ext>
            </a:extLst>
          </p:cNvPr>
          <p:cNvCxnSpPr>
            <a:cxnSpLocks/>
          </p:cNvCxnSpPr>
          <p:nvPr/>
        </p:nvCxnSpPr>
        <p:spPr>
          <a:xfrm flipH="1" flipV="1">
            <a:off x="7672612" y="3758424"/>
            <a:ext cx="894339" cy="14140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2288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5">
            <a:extLst>
              <a:ext uri="{FF2B5EF4-FFF2-40B4-BE49-F238E27FC236}">
                <a16:creationId xmlns:a16="http://schemas.microsoft.com/office/drawing/2014/main" id="{7D3D617B-8E88-47D9-9A9B-1DD92C2C5BAC}"/>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7920877" y="887784"/>
            <a:ext cx="3437965" cy="5485840"/>
          </a:xfrm>
          <a:prstGeom prst="rect">
            <a:avLst/>
          </a:prstGeom>
        </p:spPr>
      </p:pic>
      <p:sp>
        <p:nvSpPr>
          <p:cNvPr id="26" name="Titre 1">
            <a:extLst>
              <a:ext uri="{FF2B5EF4-FFF2-40B4-BE49-F238E27FC236}">
                <a16:creationId xmlns:a16="http://schemas.microsoft.com/office/drawing/2014/main" id="{C38F99E5-6DA7-4FA1-83F1-8B5F0F86BD80}"/>
              </a:ext>
            </a:extLst>
          </p:cNvPr>
          <p:cNvSpPr>
            <a:spLocks noGrp="1"/>
          </p:cNvSpPr>
          <p:nvPr>
            <p:ph type="title"/>
          </p:nvPr>
        </p:nvSpPr>
        <p:spPr>
          <a:xfrm>
            <a:off x="1056443" y="0"/>
            <a:ext cx="9459156" cy="506027"/>
          </a:xfrm>
        </p:spPr>
        <p:txBody>
          <a:bodyPr>
            <a:normAutofit fontScale="90000"/>
          </a:bodyPr>
          <a:lstStyle/>
          <a:p>
            <a:r>
              <a:rPr lang="fr-FR" sz="1800" dirty="0">
                <a:cs typeface="Calibri Light"/>
              </a:rPr>
              <a:t>ATELIER LOOK &amp; FEEL DES MEMBRES 2050</a:t>
            </a:r>
            <a:br>
              <a:rPr lang="fr-FR" sz="1800" dirty="0">
                <a:cs typeface="Calibri Light"/>
              </a:rPr>
            </a:br>
            <a:r>
              <a:rPr lang="fr-FR" sz="1800" dirty="0">
                <a:cs typeface="Calibri Light"/>
              </a:rPr>
              <a:t>Feuille de support (dessinez par-dessus)</a:t>
            </a:r>
            <a:endParaRPr lang="fr-FR" sz="1800" dirty="0"/>
          </a:p>
        </p:txBody>
      </p:sp>
      <p:pic>
        <p:nvPicPr>
          <p:cNvPr id="3" name="Image 2" descr="Une image contenant dessin au trait&#10;&#10;Description générée automatiquement">
            <a:extLst>
              <a:ext uri="{FF2B5EF4-FFF2-40B4-BE49-F238E27FC236}">
                <a16:creationId xmlns:a16="http://schemas.microsoft.com/office/drawing/2014/main" id="{2F8FE690-1813-4FAE-AD60-415414B5742C}"/>
              </a:ext>
            </a:extLst>
          </p:cNvPr>
          <p:cNvPicPr>
            <a:picLocks noChangeAspect="1"/>
          </p:cNvPicPr>
          <p:nvPr/>
        </p:nvPicPr>
        <p:blipFill rotWithShape="1">
          <a:blip r:embed="rId4">
            <a:alphaModFix amt="70000"/>
            <a:extLst>
              <a:ext uri="{28A0092B-C50C-407E-A947-70E740481C1C}">
                <a14:useLocalDpi xmlns:a14="http://schemas.microsoft.com/office/drawing/2010/main" val="0"/>
              </a:ext>
            </a:extLst>
          </a:blip>
          <a:srcRect r="49731"/>
          <a:stretch/>
        </p:blipFill>
        <p:spPr>
          <a:xfrm>
            <a:off x="538841" y="819540"/>
            <a:ext cx="3160981" cy="5959608"/>
          </a:xfrm>
          <a:prstGeom prst="rect">
            <a:avLst/>
          </a:prstGeom>
        </p:spPr>
      </p:pic>
      <p:pic>
        <p:nvPicPr>
          <p:cNvPr id="5" name="Image 4" descr="Une image contenant dessin au trait&#10;&#10;Description générée automatiquement">
            <a:extLst>
              <a:ext uri="{FF2B5EF4-FFF2-40B4-BE49-F238E27FC236}">
                <a16:creationId xmlns:a16="http://schemas.microsoft.com/office/drawing/2014/main" id="{3BCE8814-CC43-4596-9CBD-53860222909F}"/>
              </a:ext>
            </a:extLst>
          </p:cNvPr>
          <p:cNvPicPr>
            <a:picLocks noChangeAspect="1"/>
          </p:cNvPicPr>
          <p:nvPr/>
        </p:nvPicPr>
        <p:blipFill>
          <a:blip r:embed="rId5">
            <a:alphaModFix amt="85000"/>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4168544" y="920751"/>
            <a:ext cx="3429718" cy="6009852"/>
          </a:xfrm>
          <a:prstGeom prst="rect">
            <a:avLst/>
          </a:prstGeom>
        </p:spPr>
      </p:pic>
    </p:spTree>
    <p:extLst>
      <p:ext uri="{BB962C8B-B14F-4D97-AF65-F5344CB8AC3E}">
        <p14:creationId xmlns:p14="http://schemas.microsoft.com/office/powerpoint/2010/main" val="890410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re 1">
            <a:extLst>
              <a:ext uri="{FF2B5EF4-FFF2-40B4-BE49-F238E27FC236}">
                <a16:creationId xmlns:a16="http://schemas.microsoft.com/office/drawing/2014/main" id="{C38F99E5-6DA7-4FA1-83F1-8B5F0F86BD80}"/>
              </a:ext>
            </a:extLst>
          </p:cNvPr>
          <p:cNvSpPr>
            <a:spLocks noGrp="1"/>
          </p:cNvSpPr>
          <p:nvPr>
            <p:ph type="title"/>
          </p:nvPr>
        </p:nvSpPr>
        <p:spPr>
          <a:xfrm>
            <a:off x="1970842" y="0"/>
            <a:ext cx="8544757" cy="506027"/>
          </a:xfrm>
        </p:spPr>
        <p:txBody>
          <a:bodyPr>
            <a:normAutofit fontScale="90000"/>
          </a:bodyPr>
          <a:lstStyle/>
          <a:p>
            <a:r>
              <a:rPr lang="fr-FR" sz="1800" dirty="0">
                <a:cs typeface="Calibri Light"/>
              </a:rPr>
              <a:t>ATELIER LOOK &amp; FEEL DES MEMBRES 2050</a:t>
            </a:r>
            <a:br>
              <a:rPr lang="fr-FR" sz="1800" dirty="0">
                <a:cs typeface="Calibri Light"/>
              </a:rPr>
            </a:br>
            <a:r>
              <a:rPr lang="fr-FR" sz="1800" dirty="0">
                <a:cs typeface="Calibri Light"/>
              </a:rPr>
              <a:t>Feuille de support</a:t>
            </a:r>
            <a:endParaRPr lang="fr-FR" sz="1800" dirty="0"/>
          </a:p>
        </p:txBody>
      </p:sp>
      <p:pic>
        <p:nvPicPr>
          <p:cNvPr id="9" name="Image 8" descr="Une image contenant texte&#10;&#10;Description générée automatiquement">
            <a:extLst>
              <a:ext uri="{FF2B5EF4-FFF2-40B4-BE49-F238E27FC236}">
                <a16:creationId xmlns:a16="http://schemas.microsoft.com/office/drawing/2014/main" id="{6FD00AF6-703A-4607-AEA5-87B15B09BD75}"/>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56837" t="34869" r="29777" b="37763"/>
          <a:stretch/>
        </p:blipFill>
        <p:spPr>
          <a:xfrm>
            <a:off x="6976281" y="886573"/>
            <a:ext cx="3480481" cy="5334499"/>
          </a:xfrm>
          <a:prstGeom prst="rect">
            <a:avLst/>
          </a:prstGeom>
        </p:spPr>
      </p:pic>
      <p:pic>
        <p:nvPicPr>
          <p:cNvPr id="2" name="Image 1" descr="Une image contenant texte&#10;&#10;Description générée automatiquement">
            <a:extLst>
              <a:ext uri="{FF2B5EF4-FFF2-40B4-BE49-F238E27FC236}">
                <a16:creationId xmlns:a16="http://schemas.microsoft.com/office/drawing/2014/main" id="{7ED1C99E-F7CC-48B5-8239-411013D48F6F}"/>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29515" t="6947" r="57099" b="65685"/>
          <a:stretch/>
        </p:blipFill>
        <p:spPr>
          <a:xfrm>
            <a:off x="1676829" y="1041605"/>
            <a:ext cx="3581334" cy="5485779"/>
          </a:xfrm>
          <a:prstGeom prst="rect">
            <a:avLst/>
          </a:prstGeom>
        </p:spPr>
      </p:pic>
    </p:spTree>
    <p:extLst>
      <p:ext uri="{BB962C8B-B14F-4D97-AF65-F5344CB8AC3E}">
        <p14:creationId xmlns:p14="http://schemas.microsoft.com/office/powerpoint/2010/main" val="2605160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re 1">
            <a:extLst>
              <a:ext uri="{FF2B5EF4-FFF2-40B4-BE49-F238E27FC236}">
                <a16:creationId xmlns:a16="http://schemas.microsoft.com/office/drawing/2014/main" id="{C38F99E5-6DA7-4FA1-83F1-8B5F0F86BD80}"/>
              </a:ext>
            </a:extLst>
          </p:cNvPr>
          <p:cNvSpPr>
            <a:spLocks noGrp="1"/>
          </p:cNvSpPr>
          <p:nvPr>
            <p:ph type="title"/>
          </p:nvPr>
        </p:nvSpPr>
        <p:spPr>
          <a:xfrm>
            <a:off x="1189608" y="0"/>
            <a:ext cx="9325991" cy="506027"/>
          </a:xfrm>
        </p:spPr>
        <p:txBody>
          <a:bodyPr>
            <a:normAutofit fontScale="90000"/>
          </a:bodyPr>
          <a:lstStyle/>
          <a:p>
            <a:r>
              <a:rPr lang="fr-FR" sz="1800" dirty="0">
                <a:cs typeface="Calibri Light"/>
              </a:rPr>
              <a:t>ATELIER LOOK &amp; FEEL DES MEMBRES 2050</a:t>
            </a:r>
            <a:br>
              <a:rPr lang="fr-FR" sz="1800" dirty="0">
                <a:cs typeface="Calibri Light"/>
              </a:rPr>
            </a:br>
            <a:r>
              <a:rPr lang="fr-FR" sz="1800" dirty="0">
                <a:cs typeface="Calibri Light"/>
              </a:rPr>
              <a:t>Feuille de support</a:t>
            </a:r>
            <a:endParaRPr lang="fr-FR" sz="3200" dirty="0">
              <a:solidFill>
                <a:srgbClr val="FF0000"/>
              </a:solidFill>
            </a:endParaRPr>
          </a:p>
        </p:txBody>
      </p:sp>
      <p:pic>
        <p:nvPicPr>
          <p:cNvPr id="4" name="Image 3" descr="Une image contenant carte, dessin au trait&#10;&#10;Description générée automatiquement">
            <a:extLst>
              <a:ext uri="{FF2B5EF4-FFF2-40B4-BE49-F238E27FC236}">
                <a16:creationId xmlns:a16="http://schemas.microsoft.com/office/drawing/2014/main" id="{326022AE-7B44-4BA8-88AD-37D6A2DA0C89}"/>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l="69597" t="11376" r="2453"/>
          <a:stretch/>
        </p:blipFill>
        <p:spPr>
          <a:xfrm>
            <a:off x="7262031" y="1183941"/>
            <a:ext cx="3144118" cy="4950530"/>
          </a:xfrm>
          <a:prstGeom prst="rect">
            <a:avLst/>
          </a:prstGeom>
        </p:spPr>
      </p:pic>
      <p:pic>
        <p:nvPicPr>
          <p:cNvPr id="8" name="Image 7" descr="Une image contenant carte, dessin au trait&#10;&#10;Description générée automatiquement">
            <a:extLst>
              <a:ext uri="{FF2B5EF4-FFF2-40B4-BE49-F238E27FC236}">
                <a16:creationId xmlns:a16="http://schemas.microsoft.com/office/drawing/2014/main" id="{300E608D-994A-4AE4-B2E8-6A6B26242785}"/>
              </a:ext>
            </a:extLst>
          </p:cNvPr>
          <p:cNvPicPr>
            <a:picLocks noChangeAspect="1"/>
          </p:cNvPicPr>
          <p:nvPr/>
        </p:nvPicPr>
        <p:blipFill rotWithShape="1">
          <a:blip r:embed="rId4">
            <a:alphaModFix amt="35000"/>
            <a:extLst>
              <a:ext uri="{BEBA8EAE-BF5A-486C-A8C5-ECC9F3942E4B}">
                <a14:imgProps xmlns:a14="http://schemas.microsoft.com/office/drawing/2010/main">
                  <a14:imgLayer r:embed="rId5">
                    <a14:imgEffect>
                      <a14:backgroundRemoval t="5249" b="93094" l="1646" r="34568">
                        <a14:foregroundMark x1="19753" y1="5249" x2="16735" y2="64088"/>
                        <a14:foregroundMark x1="16735" y1="64088" x2="14403" y2="71823"/>
                        <a14:foregroundMark x1="19204" y1="6906" x2="13855" y2="76519"/>
                        <a14:foregroundMark x1="13855" y1="76519" x2="13169" y2="80387"/>
                        <a14:foregroundMark x1="27984" y1="34530" x2="33333" y2="14917"/>
                        <a14:foregroundMark x1="31687" y1="14088" x2="21262" y2="36464"/>
                        <a14:foregroundMark x1="33059" y1="16022" x2="23731" y2="38122"/>
                        <a14:foregroundMark x1="34019" y1="16575" x2="22085" y2="44751"/>
                        <a14:foregroundMark x1="34568" y1="14641" x2="33059" y2="25967"/>
                        <a14:foregroundMark x1="31139" y1="12707" x2="21125" y2="36464"/>
                        <a14:foregroundMark x1="29767" y1="13812" x2="18107" y2="27624"/>
                        <a14:foregroundMark x1="18107" y1="27624" x2="17970" y2="27624"/>
                        <a14:foregroundMark x1="22085" y1="18232" x2="24691" y2="25967"/>
                        <a14:foregroundMark x1="18930" y1="6354" x2="18244" y2="34530"/>
                        <a14:foregroundMark x1="16049" y1="15470" x2="13169" y2="57182"/>
                        <a14:foregroundMark x1="11248" y1="24862" x2="2881" y2="78729"/>
                        <a14:foregroundMark x1="17970" y1="11602" x2="11523" y2="60497"/>
                        <a14:foregroundMark x1="10014" y1="20442" x2="5761" y2="56630"/>
                        <a14:foregroundMark x1="5624" y1="17680" x2="4801" y2="59669"/>
                        <a14:foregroundMark x1="3978" y1="11878" x2="2195" y2="58840"/>
                        <a14:foregroundMark x1="1783" y1="9669" x2="17558" y2="38398"/>
                        <a14:foregroundMark x1="17558" y1="38398" x2="17558" y2="38674"/>
                        <a14:foregroundMark x1="5898" y1="14641" x2="18519" y2="39779"/>
                        <a14:foregroundMark x1="18519" y1="39779" x2="18519" y2="39779"/>
                        <a14:foregroundMark x1="15226" y1="22376" x2="10151" y2="40608"/>
                        <a14:foregroundMark x1="18381" y1="42265" x2="5624" y2="93094"/>
                        <a14:foregroundMark x1="5624" y1="93094" x2="5487" y2="93094"/>
                        <a14:foregroundMark x1="8779" y1="59116" x2="8368" y2="77624"/>
                        <a14:foregroundMark x1="20165" y1="51105" x2="11660" y2="91989"/>
                        <a14:foregroundMark x1="20302" y1="52762" x2="14952" y2="87569"/>
                        <a14:foregroundMark x1="21125" y1="27072" x2="33745" y2="13812"/>
                        <a14:foregroundMark x1="28395" y1="28729" x2="10837" y2="79834"/>
                      </a14:backgroundRemoval>
                    </a14:imgEffect>
                  </a14:imgLayer>
                </a14:imgProps>
              </a:ext>
              <a:ext uri="{28A0092B-C50C-407E-A947-70E740481C1C}">
                <a14:useLocalDpi xmlns:a14="http://schemas.microsoft.com/office/drawing/2010/main" val="0"/>
              </a:ext>
            </a:extLst>
          </a:blip>
          <a:srcRect l="171" t="802" r="63945" b="7277"/>
          <a:stretch/>
        </p:blipFill>
        <p:spPr>
          <a:xfrm>
            <a:off x="1381860" y="1278384"/>
            <a:ext cx="4122459" cy="5190249"/>
          </a:xfrm>
          <a:prstGeom prst="rect">
            <a:avLst/>
          </a:prstGeom>
        </p:spPr>
      </p:pic>
    </p:spTree>
    <p:extLst>
      <p:ext uri="{BB962C8B-B14F-4D97-AF65-F5344CB8AC3E}">
        <p14:creationId xmlns:p14="http://schemas.microsoft.com/office/powerpoint/2010/main" val="4245285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re 1">
            <a:extLst>
              <a:ext uri="{FF2B5EF4-FFF2-40B4-BE49-F238E27FC236}">
                <a16:creationId xmlns:a16="http://schemas.microsoft.com/office/drawing/2014/main" id="{C38F99E5-6DA7-4FA1-83F1-8B5F0F86BD80}"/>
              </a:ext>
            </a:extLst>
          </p:cNvPr>
          <p:cNvSpPr>
            <a:spLocks noGrp="1"/>
          </p:cNvSpPr>
          <p:nvPr>
            <p:ph type="title"/>
          </p:nvPr>
        </p:nvSpPr>
        <p:spPr>
          <a:xfrm>
            <a:off x="1519064" y="0"/>
            <a:ext cx="8996536" cy="506027"/>
          </a:xfrm>
        </p:spPr>
        <p:txBody>
          <a:bodyPr>
            <a:normAutofit fontScale="90000"/>
          </a:bodyPr>
          <a:lstStyle/>
          <a:p>
            <a:r>
              <a:rPr lang="fr-FR" sz="1800" dirty="0">
                <a:cs typeface="Calibri Light"/>
              </a:rPr>
              <a:t>ATELIER LOOK &amp; FEEL DES MEMBRES 2050</a:t>
            </a:r>
            <a:br>
              <a:rPr lang="fr-FR" sz="1800" dirty="0">
                <a:cs typeface="Calibri Light"/>
              </a:rPr>
            </a:br>
            <a:r>
              <a:rPr lang="fr-FR" sz="1800" dirty="0">
                <a:cs typeface="Calibri Light"/>
              </a:rPr>
              <a:t>Feuille de travail – Brainstorming d’équipements, vêtements, …</a:t>
            </a:r>
            <a:endParaRPr lang="fr-FR" sz="1800" dirty="0"/>
          </a:p>
        </p:txBody>
      </p:sp>
      <p:pic>
        <p:nvPicPr>
          <p:cNvPr id="3" name="Graphique 2" descr="Jupe avec un remplissage uni">
            <a:extLst>
              <a:ext uri="{FF2B5EF4-FFF2-40B4-BE49-F238E27FC236}">
                <a16:creationId xmlns:a16="http://schemas.microsoft.com/office/drawing/2014/main" id="{6E0C84A4-28E4-4E75-AC73-D02114C747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78899" y="1533024"/>
            <a:ext cx="914400" cy="914400"/>
          </a:xfrm>
          <a:prstGeom prst="rect">
            <a:avLst/>
          </a:prstGeom>
        </p:spPr>
      </p:pic>
      <p:pic>
        <p:nvPicPr>
          <p:cNvPr id="6" name="Graphique 5" descr="Robe avec un remplissage uni">
            <a:extLst>
              <a:ext uri="{FF2B5EF4-FFF2-40B4-BE49-F238E27FC236}">
                <a16:creationId xmlns:a16="http://schemas.microsoft.com/office/drawing/2014/main" id="{378E028F-14CA-45AC-A269-4720B624C8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53012" y="2584322"/>
            <a:ext cx="914400" cy="914400"/>
          </a:xfrm>
          <a:prstGeom prst="rect">
            <a:avLst/>
          </a:prstGeom>
        </p:spPr>
      </p:pic>
      <p:pic>
        <p:nvPicPr>
          <p:cNvPr id="10" name="Graphique 9" descr="Cravate avec un remplissage uni">
            <a:extLst>
              <a:ext uri="{FF2B5EF4-FFF2-40B4-BE49-F238E27FC236}">
                <a16:creationId xmlns:a16="http://schemas.microsoft.com/office/drawing/2014/main" id="{77177F5B-20F0-4018-8A03-89661C614E7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1908" y="2307220"/>
            <a:ext cx="914400" cy="914400"/>
          </a:xfrm>
          <a:prstGeom prst="rect">
            <a:avLst/>
          </a:prstGeom>
        </p:spPr>
      </p:pic>
      <p:pic>
        <p:nvPicPr>
          <p:cNvPr id="12" name="Graphique 11" descr="Costume avec un remplissage uni">
            <a:extLst>
              <a:ext uri="{FF2B5EF4-FFF2-40B4-BE49-F238E27FC236}">
                <a16:creationId xmlns:a16="http://schemas.microsoft.com/office/drawing/2014/main" id="{BAB7A279-002C-4A15-BFA0-FFFB06A23A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86704" y="3328307"/>
            <a:ext cx="914400" cy="914400"/>
          </a:xfrm>
          <a:prstGeom prst="rect">
            <a:avLst/>
          </a:prstGeom>
        </p:spPr>
      </p:pic>
      <p:pic>
        <p:nvPicPr>
          <p:cNvPr id="14" name="Graphique 13" descr="Chaussure avec un remplissage uni">
            <a:extLst>
              <a:ext uri="{FF2B5EF4-FFF2-40B4-BE49-F238E27FC236}">
                <a16:creationId xmlns:a16="http://schemas.microsoft.com/office/drawing/2014/main" id="{D6EBB482-9102-43B1-A665-C219161E9AC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952616" y="2421490"/>
            <a:ext cx="914400" cy="914400"/>
          </a:xfrm>
          <a:prstGeom prst="rect">
            <a:avLst/>
          </a:prstGeom>
        </p:spPr>
      </p:pic>
      <p:pic>
        <p:nvPicPr>
          <p:cNvPr id="16" name="Graphique 15" descr="Chemise avec un remplissage uni">
            <a:extLst>
              <a:ext uri="{FF2B5EF4-FFF2-40B4-BE49-F238E27FC236}">
                <a16:creationId xmlns:a16="http://schemas.microsoft.com/office/drawing/2014/main" id="{4E41DEE2-EA1C-4239-A1D4-441DFF70E58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27173" y="1437569"/>
            <a:ext cx="914400" cy="914400"/>
          </a:xfrm>
          <a:prstGeom prst="rect">
            <a:avLst/>
          </a:prstGeom>
        </p:spPr>
      </p:pic>
      <p:pic>
        <p:nvPicPr>
          <p:cNvPr id="18" name="Graphique 17" descr="Chaussette avec un remplissage uni">
            <a:extLst>
              <a:ext uri="{FF2B5EF4-FFF2-40B4-BE49-F238E27FC236}">
                <a16:creationId xmlns:a16="http://schemas.microsoft.com/office/drawing/2014/main" id="{F1FB442B-B755-4136-BDE8-FB35D11F5CF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595812" y="4349394"/>
            <a:ext cx="914400" cy="914400"/>
          </a:xfrm>
          <a:prstGeom prst="rect">
            <a:avLst/>
          </a:prstGeom>
        </p:spPr>
      </p:pic>
      <p:pic>
        <p:nvPicPr>
          <p:cNvPr id="20" name="Graphique 19" descr="Pantalon avec un remplissage uni">
            <a:extLst>
              <a:ext uri="{FF2B5EF4-FFF2-40B4-BE49-F238E27FC236}">
                <a16:creationId xmlns:a16="http://schemas.microsoft.com/office/drawing/2014/main" id="{1F37E314-728A-4BAA-9E5C-70FDFD7A85E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650081" y="4622123"/>
            <a:ext cx="914400" cy="914400"/>
          </a:xfrm>
          <a:prstGeom prst="rect">
            <a:avLst/>
          </a:prstGeom>
        </p:spPr>
      </p:pic>
      <p:pic>
        <p:nvPicPr>
          <p:cNvPr id="22" name="Graphique 21" descr="Chemise à manches longues avec un remplissage uni">
            <a:extLst>
              <a:ext uri="{FF2B5EF4-FFF2-40B4-BE49-F238E27FC236}">
                <a16:creationId xmlns:a16="http://schemas.microsoft.com/office/drawing/2014/main" id="{C913517B-CE9F-475F-A108-1973ABE6455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370341" y="3328307"/>
            <a:ext cx="914400" cy="914400"/>
          </a:xfrm>
          <a:prstGeom prst="rect">
            <a:avLst/>
          </a:prstGeom>
        </p:spPr>
      </p:pic>
      <p:pic>
        <p:nvPicPr>
          <p:cNvPr id="24" name="Graphique 23" descr="Bonnet d'hiver avec un remplissage uni">
            <a:extLst>
              <a:ext uri="{FF2B5EF4-FFF2-40B4-BE49-F238E27FC236}">
                <a16:creationId xmlns:a16="http://schemas.microsoft.com/office/drawing/2014/main" id="{74A358F0-14FA-4A31-9827-45F256D32F0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338014" y="3580427"/>
            <a:ext cx="914400" cy="914400"/>
          </a:xfrm>
          <a:prstGeom prst="rect">
            <a:avLst/>
          </a:prstGeom>
        </p:spPr>
      </p:pic>
      <p:pic>
        <p:nvPicPr>
          <p:cNvPr id="27" name="Graphique 26" descr="Lederhosen avec un remplissage uni">
            <a:extLst>
              <a:ext uri="{FF2B5EF4-FFF2-40B4-BE49-F238E27FC236}">
                <a16:creationId xmlns:a16="http://schemas.microsoft.com/office/drawing/2014/main" id="{D4777A0C-7AEB-4D23-BAA8-A2218199963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414848" y="4389459"/>
            <a:ext cx="914400" cy="914400"/>
          </a:xfrm>
          <a:prstGeom prst="rect">
            <a:avLst/>
          </a:prstGeom>
        </p:spPr>
      </p:pic>
      <p:pic>
        <p:nvPicPr>
          <p:cNvPr id="29" name="Graphique 28" descr="Chemise formelle avec un remplissage uni">
            <a:extLst>
              <a:ext uri="{FF2B5EF4-FFF2-40B4-BE49-F238E27FC236}">
                <a16:creationId xmlns:a16="http://schemas.microsoft.com/office/drawing/2014/main" id="{CCE4FA5B-C7AB-4731-B5D9-20C7DDA8C27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644811" y="1887815"/>
            <a:ext cx="914400" cy="914400"/>
          </a:xfrm>
          <a:prstGeom prst="rect">
            <a:avLst/>
          </a:prstGeom>
        </p:spPr>
      </p:pic>
      <p:pic>
        <p:nvPicPr>
          <p:cNvPr id="31" name="Graphique 30" descr="Casquette de baseball avec un remplissage uni">
            <a:extLst>
              <a:ext uri="{FF2B5EF4-FFF2-40B4-BE49-F238E27FC236}">
                <a16:creationId xmlns:a16="http://schemas.microsoft.com/office/drawing/2014/main" id="{7CC99BE3-034D-410D-980C-0295A79590F3}"/>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155633" y="2644787"/>
            <a:ext cx="914400" cy="914400"/>
          </a:xfrm>
          <a:prstGeom prst="rect">
            <a:avLst/>
          </a:prstGeom>
        </p:spPr>
      </p:pic>
      <p:pic>
        <p:nvPicPr>
          <p:cNvPr id="33" name="Graphique 32" descr="Montre avec un remplissage uni">
            <a:extLst>
              <a:ext uri="{FF2B5EF4-FFF2-40B4-BE49-F238E27FC236}">
                <a16:creationId xmlns:a16="http://schemas.microsoft.com/office/drawing/2014/main" id="{3A0BABD9-D523-4657-8482-FAACF780560C}"/>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4365693" y="3528486"/>
            <a:ext cx="914400" cy="914400"/>
          </a:xfrm>
          <a:prstGeom prst="rect">
            <a:avLst/>
          </a:prstGeom>
        </p:spPr>
      </p:pic>
      <p:pic>
        <p:nvPicPr>
          <p:cNvPr id="35" name="Graphique 34" descr="Sac à main avec un remplissage uni">
            <a:extLst>
              <a:ext uri="{FF2B5EF4-FFF2-40B4-BE49-F238E27FC236}">
                <a16:creationId xmlns:a16="http://schemas.microsoft.com/office/drawing/2014/main" id="{80328DB2-6B36-4752-9142-C5108F8F6A56}"/>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425570" y="3263247"/>
            <a:ext cx="914400" cy="914400"/>
          </a:xfrm>
          <a:prstGeom prst="rect">
            <a:avLst/>
          </a:prstGeom>
        </p:spPr>
      </p:pic>
      <p:pic>
        <p:nvPicPr>
          <p:cNvPr id="37" name="Graphique 36" descr="Sac à dos avec un remplissage uni">
            <a:extLst>
              <a:ext uri="{FF2B5EF4-FFF2-40B4-BE49-F238E27FC236}">
                <a16:creationId xmlns:a16="http://schemas.microsoft.com/office/drawing/2014/main" id="{354E00BD-AF2C-49E8-B4ED-49449875D0E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204470" y="4532212"/>
            <a:ext cx="914400" cy="914400"/>
          </a:xfrm>
          <a:prstGeom prst="rect">
            <a:avLst/>
          </a:prstGeom>
        </p:spPr>
      </p:pic>
      <p:pic>
        <p:nvPicPr>
          <p:cNvPr id="39" name="Graphique 38" descr="Porte-documents avec un remplissage uni">
            <a:extLst>
              <a:ext uri="{FF2B5EF4-FFF2-40B4-BE49-F238E27FC236}">
                <a16:creationId xmlns:a16="http://schemas.microsoft.com/office/drawing/2014/main" id="{1043A5BA-2D93-4DA0-A867-54924A8A6C9A}"/>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04664" y="2316626"/>
            <a:ext cx="914400" cy="914400"/>
          </a:xfrm>
          <a:prstGeom prst="rect">
            <a:avLst/>
          </a:prstGeom>
        </p:spPr>
      </p:pic>
      <p:pic>
        <p:nvPicPr>
          <p:cNvPr id="41" name="Graphique 40" descr="Portefeuille avec un remplissage uni">
            <a:extLst>
              <a:ext uri="{FF2B5EF4-FFF2-40B4-BE49-F238E27FC236}">
                <a16:creationId xmlns:a16="http://schemas.microsoft.com/office/drawing/2014/main" id="{965D0881-7713-485D-9FBF-C0FE7ED068C8}"/>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670388" y="4251555"/>
            <a:ext cx="914400" cy="914400"/>
          </a:xfrm>
          <a:prstGeom prst="rect">
            <a:avLst/>
          </a:prstGeom>
        </p:spPr>
      </p:pic>
      <p:pic>
        <p:nvPicPr>
          <p:cNvPr id="43" name="Graphique 42" descr="Graines avec un remplissage uni">
            <a:extLst>
              <a:ext uri="{FF2B5EF4-FFF2-40B4-BE49-F238E27FC236}">
                <a16:creationId xmlns:a16="http://schemas.microsoft.com/office/drawing/2014/main" id="{5D9B6945-97F2-49C3-8006-92A74838061A}"/>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4612833" y="1970213"/>
            <a:ext cx="914400" cy="914400"/>
          </a:xfrm>
          <a:prstGeom prst="rect">
            <a:avLst/>
          </a:prstGeom>
        </p:spPr>
      </p:pic>
      <p:pic>
        <p:nvPicPr>
          <p:cNvPr id="45" name="Graphique 44" descr="Quadrirotor avec un remplissage uni">
            <a:extLst>
              <a:ext uri="{FF2B5EF4-FFF2-40B4-BE49-F238E27FC236}">
                <a16:creationId xmlns:a16="http://schemas.microsoft.com/office/drawing/2014/main" id="{FC7ED613-8FD2-4441-AB30-F5AA2E3B3A8C}"/>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5106478" y="2886342"/>
            <a:ext cx="914400" cy="914400"/>
          </a:xfrm>
          <a:prstGeom prst="rect">
            <a:avLst/>
          </a:prstGeom>
        </p:spPr>
      </p:pic>
      <p:pic>
        <p:nvPicPr>
          <p:cNvPr id="47" name="Graphique 46" descr="Robot avec un remplissage uni">
            <a:extLst>
              <a:ext uri="{FF2B5EF4-FFF2-40B4-BE49-F238E27FC236}">
                <a16:creationId xmlns:a16="http://schemas.microsoft.com/office/drawing/2014/main" id="{B53DD1BE-F7EF-47A8-8B8E-EDBED30D8322}"/>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1091522" y="1430615"/>
            <a:ext cx="914400" cy="914400"/>
          </a:xfrm>
          <a:prstGeom prst="rect">
            <a:avLst/>
          </a:prstGeom>
        </p:spPr>
      </p:pic>
      <p:pic>
        <p:nvPicPr>
          <p:cNvPr id="49" name="Graphique 48" descr="Lumières allumées avec un remplissage uni">
            <a:extLst>
              <a:ext uri="{FF2B5EF4-FFF2-40B4-BE49-F238E27FC236}">
                <a16:creationId xmlns:a16="http://schemas.microsoft.com/office/drawing/2014/main" id="{59FD95AC-3783-4FED-BFC3-778302D303AD}"/>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948354" y="980369"/>
            <a:ext cx="914400" cy="914400"/>
          </a:xfrm>
          <a:prstGeom prst="rect">
            <a:avLst/>
          </a:prstGeom>
        </p:spPr>
      </p:pic>
      <p:pic>
        <p:nvPicPr>
          <p:cNvPr id="50" name="Graphique 49" descr="Lumières allumées avec un remplissage uni">
            <a:extLst>
              <a:ext uri="{FF2B5EF4-FFF2-40B4-BE49-F238E27FC236}">
                <a16:creationId xmlns:a16="http://schemas.microsoft.com/office/drawing/2014/main" id="{B95CBCAC-D6C8-449A-BDDE-21AC158EA4D3}"/>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948354" y="3146176"/>
            <a:ext cx="914400" cy="914400"/>
          </a:xfrm>
          <a:prstGeom prst="rect">
            <a:avLst/>
          </a:prstGeom>
        </p:spPr>
      </p:pic>
      <p:pic>
        <p:nvPicPr>
          <p:cNvPr id="51" name="Graphique 50" descr="Lumières allumées avec un remplissage uni">
            <a:extLst>
              <a:ext uri="{FF2B5EF4-FFF2-40B4-BE49-F238E27FC236}">
                <a16:creationId xmlns:a16="http://schemas.microsoft.com/office/drawing/2014/main" id="{95A02F16-CBD8-47A4-83DF-9505A97C1B38}"/>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948354" y="5176134"/>
            <a:ext cx="914400" cy="914400"/>
          </a:xfrm>
          <a:prstGeom prst="rect">
            <a:avLst/>
          </a:prstGeom>
        </p:spPr>
      </p:pic>
      <p:sp>
        <p:nvSpPr>
          <p:cNvPr id="52" name="ZoneTexte 51">
            <a:extLst>
              <a:ext uri="{FF2B5EF4-FFF2-40B4-BE49-F238E27FC236}">
                <a16:creationId xmlns:a16="http://schemas.microsoft.com/office/drawing/2014/main" id="{FFFA68B3-D2BA-46F0-9343-498D29C0ED6D}"/>
              </a:ext>
            </a:extLst>
          </p:cNvPr>
          <p:cNvSpPr txBox="1"/>
          <p:nvPr/>
        </p:nvSpPr>
        <p:spPr>
          <a:xfrm>
            <a:off x="7960407" y="609257"/>
            <a:ext cx="3586579" cy="276999"/>
          </a:xfrm>
          <a:prstGeom prst="rect">
            <a:avLst/>
          </a:prstGeom>
          <a:noFill/>
        </p:spPr>
        <p:txBody>
          <a:bodyPr wrap="square" rtlCol="0">
            <a:spAutoFit/>
          </a:bodyPr>
          <a:lstStyle/>
          <a:p>
            <a:r>
              <a:rPr lang="fr-FR" sz="1200"/>
              <a:t>Idées d’objets / équipements, </a:t>
            </a:r>
            <a:r>
              <a:rPr lang="fr-FR" sz="1200" err="1"/>
              <a:t>etc</a:t>
            </a:r>
            <a:endParaRPr lang="fr-FR" sz="1200"/>
          </a:p>
        </p:txBody>
      </p:sp>
      <p:sp>
        <p:nvSpPr>
          <p:cNvPr id="53" name="ZoneTexte 52">
            <a:extLst>
              <a:ext uri="{FF2B5EF4-FFF2-40B4-BE49-F238E27FC236}">
                <a16:creationId xmlns:a16="http://schemas.microsoft.com/office/drawing/2014/main" id="{D9FE1C2E-4B02-4536-9172-1DC74E2A043C}"/>
              </a:ext>
            </a:extLst>
          </p:cNvPr>
          <p:cNvSpPr txBox="1"/>
          <p:nvPr/>
        </p:nvSpPr>
        <p:spPr>
          <a:xfrm>
            <a:off x="7960407" y="2773826"/>
            <a:ext cx="3586579" cy="276999"/>
          </a:xfrm>
          <a:prstGeom prst="rect">
            <a:avLst/>
          </a:prstGeom>
          <a:noFill/>
        </p:spPr>
        <p:txBody>
          <a:bodyPr wrap="square" rtlCol="0">
            <a:spAutoFit/>
          </a:bodyPr>
          <a:lstStyle/>
          <a:p>
            <a:r>
              <a:rPr lang="fr-FR" sz="1200"/>
              <a:t>Idées de fonctions, d’usages, de services rendus, </a:t>
            </a:r>
            <a:r>
              <a:rPr lang="fr-FR" sz="1200" err="1"/>
              <a:t>etc</a:t>
            </a:r>
            <a:endParaRPr lang="fr-FR" sz="1200"/>
          </a:p>
        </p:txBody>
      </p:sp>
      <p:sp>
        <p:nvSpPr>
          <p:cNvPr id="54" name="ZoneTexte 53">
            <a:extLst>
              <a:ext uri="{FF2B5EF4-FFF2-40B4-BE49-F238E27FC236}">
                <a16:creationId xmlns:a16="http://schemas.microsoft.com/office/drawing/2014/main" id="{E100BC72-C725-4D50-9829-ED1FF82F7BA4}"/>
              </a:ext>
            </a:extLst>
          </p:cNvPr>
          <p:cNvSpPr txBox="1"/>
          <p:nvPr/>
        </p:nvSpPr>
        <p:spPr>
          <a:xfrm>
            <a:off x="7960407" y="4986795"/>
            <a:ext cx="3586579" cy="276999"/>
          </a:xfrm>
          <a:prstGeom prst="rect">
            <a:avLst/>
          </a:prstGeom>
          <a:noFill/>
        </p:spPr>
        <p:txBody>
          <a:bodyPr wrap="square" rtlCol="0">
            <a:spAutoFit/>
          </a:bodyPr>
          <a:lstStyle/>
          <a:p>
            <a:r>
              <a:rPr lang="fr-FR" sz="1200"/>
              <a:t>Idées de caractéristiques, de textures, </a:t>
            </a:r>
            <a:r>
              <a:rPr lang="fr-FR" sz="1200" err="1"/>
              <a:t>etc</a:t>
            </a:r>
            <a:endParaRPr lang="fr-FR" sz="1200"/>
          </a:p>
        </p:txBody>
      </p:sp>
      <p:pic>
        <p:nvPicPr>
          <p:cNvPr id="56" name="Graphique 55" descr="Panneaux solaires avec un remplissage uni">
            <a:extLst>
              <a:ext uri="{FF2B5EF4-FFF2-40B4-BE49-F238E27FC236}">
                <a16:creationId xmlns:a16="http://schemas.microsoft.com/office/drawing/2014/main" id="{8F9D31B4-F4CE-4115-BEBC-992F75962634}"/>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208550" y="1455007"/>
            <a:ext cx="914400" cy="914400"/>
          </a:xfrm>
          <a:prstGeom prst="rect">
            <a:avLst/>
          </a:prstGeom>
        </p:spPr>
      </p:pic>
      <p:pic>
        <p:nvPicPr>
          <p:cNvPr id="58" name="Graphique 57" descr="Durabilité avec un remplissage uni">
            <a:extLst>
              <a:ext uri="{FF2B5EF4-FFF2-40B4-BE49-F238E27FC236}">
                <a16:creationId xmlns:a16="http://schemas.microsoft.com/office/drawing/2014/main" id="{A92F7C69-A81F-4DA3-BBBF-7C7053C2B941}"/>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2005922" y="669701"/>
            <a:ext cx="914400" cy="914400"/>
          </a:xfrm>
          <a:prstGeom prst="rect">
            <a:avLst/>
          </a:prstGeom>
        </p:spPr>
      </p:pic>
      <p:pic>
        <p:nvPicPr>
          <p:cNvPr id="60" name="Graphique 59" descr="Énergie renouvelable avec un remplissage uni">
            <a:extLst>
              <a:ext uri="{FF2B5EF4-FFF2-40B4-BE49-F238E27FC236}">
                <a16:creationId xmlns:a16="http://schemas.microsoft.com/office/drawing/2014/main" id="{F95CF910-A8F5-42F7-89E4-D18E93CB059F}"/>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5199822" y="4389459"/>
            <a:ext cx="914400" cy="914400"/>
          </a:xfrm>
          <a:prstGeom prst="rect">
            <a:avLst/>
          </a:prstGeom>
        </p:spPr>
      </p:pic>
      <p:pic>
        <p:nvPicPr>
          <p:cNvPr id="62" name="Graphique 61" descr="Atome avec un remplissage uni">
            <a:extLst>
              <a:ext uri="{FF2B5EF4-FFF2-40B4-BE49-F238E27FC236}">
                <a16:creationId xmlns:a16="http://schemas.microsoft.com/office/drawing/2014/main" id="{196DC942-53D1-48FE-A98C-238AA7DF6AF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2809215" y="5683275"/>
            <a:ext cx="914400" cy="914400"/>
          </a:xfrm>
          <a:prstGeom prst="rect">
            <a:avLst/>
          </a:prstGeom>
        </p:spPr>
      </p:pic>
      <p:pic>
        <p:nvPicPr>
          <p:cNvPr id="64" name="Graphique 63" descr="Radioactif avec un remplissage uni">
            <a:extLst>
              <a:ext uri="{FF2B5EF4-FFF2-40B4-BE49-F238E27FC236}">
                <a16:creationId xmlns:a16="http://schemas.microsoft.com/office/drawing/2014/main" id="{E4FB0638-E2EA-44D5-9BA1-ECF71C6D8617}"/>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4039489" y="944103"/>
            <a:ext cx="914400" cy="914400"/>
          </a:xfrm>
          <a:prstGeom prst="rect">
            <a:avLst/>
          </a:prstGeom>
        </p:spPr>
      </p:pic>
      <p:pic>
        <p:nvPicPr>
          <p:cNvPr id="66" name="Graphique 65" descr="Centrale électrique avec un remplissage uni">
            <a:extLst>
              <a:ext uri="{FF2B5EF4-FFF2-40B4-BE49-F238E27FC236}">
                <a16:creationId xmlns:a16="http://schemas.microsoft.com/office/drawing/2014/main" id="{794B07EB-8403-41B9-BDE5-51B645BABBF9}"/>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1743904" y="5536523"/>
            <a:ext cx="914400" cy="914400"/>
          </a:xfrm>
          <a:prstGeom prst="rect">
            <a:avLst/>
          </a:prstGeom>
        </p:spPr>
      </p:pic>
      <p:pic>
        <p:nvPicPr>
          <p:cNvPr id="68" name="Graphique 67" descr="Interdiction de fumer avec un remplissage uni">
            <a:extLst>
              <a:ext uri="{FF2B5EF4-FFF2-40B4-BE49-F238E27FC236}">
                <a16:creationId xmlns:a16="http://schemas.microsoft.com/office/drawing/2014/main" id="{A5501D56-91E4-4E0A-B3E9-463FD5C655F7}"/>
              </a:ext>
            </a:extLst>
          </p:cNvPr>
          <p:cNvPicPr>
            <a:picLocks noChangeAspect="1"/>
          </p:cNvPicPr>
          <p:nvPr/>
        </p:nvPicPr>
        <p:blipFill>
          <a:blip r:embed="rId59">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829504" y="5125294"/>
            <a:ext cx="914400" cy="914400"/>
          </a:xfrm>
          <a:prstGeom prst="rect">
            <a:avLst/>
          </a:prstGeom>
        </p:spPr>
      </p:pic>
      <p:pic>
        <p:nvPicPr>
          <p:cNvPr id="70" name="Graphique 69" descr="Klebepflaster avec un remplissage uni">
            <a:extLst>
              <a:ext uri="{FF2B5EF4-FFF2-40B4-BE49-F238E27FC236}">
                <a16:creationId xmlns:a16="http://schemas.microsoft.com/office/drawing/2014/main" id="{1A2ED9EA-10C4-4D63-ADE2-4FC1D91253F4}"/>
              </a:ext>
            </a:extLst>
          </p:cNvPr>
          <p:cNvPicPr>
            <a:picLocks noChangeAspect="1"/>
          </p:cNvPicPr>
          <p:nvPr/>
        </p:nvPicPr>
        <p:blipFill>
          <a:blip r:embed="rId61">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4722374" y="5263715"/>
            <a:ext cx="914400" cy="914400"/>
          </a:xfrm>
          <a:prstGeom prst="rect">
            <a:avLst/>
          </a:prstGeom>
        </p:spPr>
      </p:pic>
      <p:pic>
        <p:nvPicPr>
          <p:cNvPr id="72" name="Graphique 71" descr="Flugzeug avec un remplissage uni">
            <a:extLst>
              <a:ext uri="{FF2B5EF4-FFF2-40B4-BE49-F238E27FC236}">
                <a16:creationId xmlns:a16="http://schemas.microsoft.com/office/drawing/2014/main" id="{50DB6BA8-0C87-4D33-AE13-F347219C6A92}"/>
              </a:ext>
            </a:extLst>
          </p:cNvPr>
          <p:cNvPicPr>
            <a:picLocks noChangeAspect="1"/>
          </p:cNvPicPr>
          <p:nvPr/>
        </p:nvPicPr>
        <p:blipFill>
          <a:blip r:embed="rId63">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5106478" y="840781"/>
            <a:ext cx="914400" cy="914400"/>
          </a:xfrm>
          <a:prstGeom prst="rect">
            <a:avLst/>
          </a:prstGeom>
        </p:spPr>
      </p:pic>
      <p:pic>
        <p:nvPicPr>
          <p:cNvPr id="74" name="Graphique 73" descr="Vaso de precipitado avec un remplissage uni">
            <a:extLst>
              <a:ext uri="{FF2B5EF4-FFF2-40B4-BE49-F238E27FC236}">
                <a16:creationId xmlns:a16="http://schemas.microsoft.com/office/drawing/2014/main" id="{79C0300C-B804-4D78-840B-7093B7322D8E}"/>
              </a:ext>
            </a:extLst>
          </p:cNvPr>
          <p:cNvPicPr>
            <a:picLocks noChangeAspect="1"/>
          </p:cNvPicPr>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484676" y="1739830"/>
            <a:ext cx="914400" cy="914400"/>
          </a:xfrm>
          <a:prstGeom prst="rect">
            <a:avLst/>
          </a:prstGeom>
        </p:spPr>
      </p:pic>
      <p:pic>
        <p:nvPicPr>
          <p:cNvPr id="76" name="Graphique 75" descr="Appareil photo avec un remplissage uni">
            <a:extLst>
              <a:ext uri="{FF2B5EF4-FFF2-40B4-BE49-F238E27FC236}">
                <a16:creationId xmlns:a16="http://schemas.microsoft.com/office/drawing/2014/main" id="{E73178CB-DC9B-4947-91DA-82264DCB314E}"/>
              </a:ext>
            </a:extLst>
          </p:cNvPr>
          <p:cNvPicPr>
            <a:picLocks noChangeAspect="1"/>
          </p:cNvPicPr>
          <p:nvPr/>
        </p:nvPicPr>
        <p:blipFill>
          <a:blip r:embed="rId67">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3723615" y="5676931"/>
            <a:ext cx="914400" cy="914400"/>
          </a:xfrm>
          <a:prstGeom prst="rect">
            <a:avLst/>
          </a:prstGeom>
        </p:spPr>
      </p:pic>
    </p:spTree>
    <p:extLst>
      <p:ext uri="{BB962C8B-B14F-4D97-AF65-F5344CB8AC3E}">
        <p14:creationId xmlns:p14="http://schemas.microsoft.com/office/powerpoint/2010/main" val="286715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dirty="0"/>
              <a:t>Atelier Look &amp; </a:t>
            </a:r>
            <a:r>
              <a:rPr lang="fr-FR" dirty="0" err="1"/>
              <a:t>Feel</a:t>
            </a:r>
            <a:r>
              <a:rPr lang="fr-FR" dirty="0"/>
              <a:t>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a:lstStyle/>
          <a:p>
            <a:r>
              <a:rPr lang="fr-FR" dirty="0"/>
              <a:t>Feuilles d’instructions (à consulter en binôme)</a:t>
            </a:r>
          </a:p>
          <a:p>
            <a:r>
              <a:rPr lang="fr-FR" dirty="0"/>
              <a:t>Feuilles de support (3 pour chaque groupe + 3 au cas où)</a:t>
            </a:r>
          </a:p>
          <a:p>
            <a:r>
              <a:rPr lang="fr-FR" dirty="0"/>
              <a:t>Feutres, crayons de couleur (assez pour un groupe de 10)  </a:t>
            </a:r>
          </a:p>
          <a:p>
            <a:endParaRPr lang="fr-FR" dirty="0"/>
          </a:p>
        </p:txBody>
      </p:sp>
    </p:spTree>
    <p:extLst>
      <p:ext uri="{BB962C8B-B14F-4D97-AF65-F5344CB8AC3E}">
        <p14:creationId xmlns:p14="http://schemas.microsoft.com/office/powerpoint/2010/main" val="1819972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a:xfrm>
            <a:off x="836722" y="285226"/>
            <a:ext cx="10515600" cy="1325563"/>
          </a:xfrm>
        </p:spPr>
        <p:txBody>
          <a:bodyPr>
            <a:normAutofit/>
          </a:bodyPr>
          <a:lstStyle/>
          <a:p>
            <a:r>
              <a:rPr lang="en-US" sz="3200" dirty="0">
                <a:ea typeface="+mj-lt"/>
                <a:cs typeface="+mj-lt"/>
              </a:rPr>
              <a:t>ATELIER LE PITCH EN CHAINE DU MEMBRE 2050</a:t>
            </a:r>
            <a:br>
              <a:rPr lang="en-US" sz="3200" dirty="0">
                <a:ea typeface="+mj-lt"/>
                <a:cs typeface="+mj-lt"/>
              </a:rPr>
            </a:br>
            <a:r>
              <a:rPr lang="en-US" sz="3200" dirty="0">
                <a:ea typeface="+mj-lt"/>
                <a:cs typeface="+mj-lt"/>
              </a:rPr>
              <a:t>Résumé</a:t>
            </a:r>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766327850"/>
              </p:ext>
            </p:extLst>
          </p:nvPr>
        </p:nvGraphicFramePr>
        <p:xfrm>
          <a:off x="523784" y="1509204"/>
          <a:ext cx="11141476" cy="5195508"/>
        </p:xfrm>
        <a:graphic>
          <a:graphicData uri="http://schemas.openxmlformats.org/drawingml/2006/table">
            <a:tbl>
              <a:tblPr bandRow="1">
                <a:tableStyleId>{5C22544A-7EE6-4342-B048-85BDC9FD1C3A}</a:tableStyleId>
              </a:tblPr>
              <a:tblGrid>
                <a:gridCol w="1856913">
                  <a:extLst>
                    <a:ext uri="{9D8B030D-6E8A-4147-A177-3AD203B41FA5}">
                      <a16:colId xmlns:a16="http://schemas.microsoft.com/office/drawing/2014/main" val="416040190"/>
                    </a:ext>
                  </a:extLst>
                </a:gridCol>
                <a:gridCol w="1856913">
                  <a:extLst>
                    <a:ext uri="{9D8B030D-6E8A-4147-A177-3AD203B41FA5}">
                      <a16:colId xmlns:a16="http://schemas.microsoft.com/office/drawing/2014/main" val="2019038073"/>
                    </a:ext>
                  </a:extLst>
                </a:gridCol>
                <a:gridCol w="1856913">
                  <a:extLst>
                    <a:ext uri="{9D8B030D-6E8A-4147-A177-3AD203B41FA5}">
                      <a16:colId xmlns:a16="http://schemas.microsoft.com/office/drawing/2014/main" val="102799537"/>
                    </a:ext>
                  </a:extLst>
                </a:gridCol>
                <a:gridCol w="5570737">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p>
                    <a:p>
                      <a:pPr lvl="0">
                        <a:buNone/>
                      </a:pPr>
                      <a:r>
                        <a:rPr lang="fr-FR" sz="1400" b="0" i="0" u="none" strike="noStrike" noProof="0" dirty="0">
                          <a:latin typeface="Calibri"/>
                        </a:rPr>
                        <a:t>Vous êtes au service communication et devez préparer les nouveaux messages promotionnels de la communauté. </a:t>
                      </a:r>
                    </a:p>
                    <a:p>
                      <a:pPr lvl="0">
                        <a:buNone/>
                      </a:pPr>
                      <a:endParaRPr lang="fr-FR" sz="1400" b="0" i="0" u="none" strike="noStrike" noProof="0" dirty="0">
                        <a:latin typeface="Calibri"/>
                      </a:endParaRPr>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a:t>
                      </a:r>
                    </a:p>
                  </a:txBody>
                  <a:tcPr/>
                </a:tc>
                <a:extLst>
                  <a:ext uri="{0D108BD9-81ED-4DB2-BD59-A6C34878D82A}">
                    <a16:rowId xmlns:a16="http://schemas.microsoft.com/office/drawing/2014/main" val="3856860579"/>
                  </a:ext>
                </a:extLst>
              </a:tr>
              <a:tr h="1698594">
                <a:tc gridSpan="3">
                  <a:txBody>
                    <a:bodyPr/>
                    <a:lstStyle/>
                    <a:p>
                      <a:r>
                        <a:rPr lang="fr-FR" sz="1400" b="1" noProof="0" dirty="0"/>
                        <a:t>Instructions :</a:t>
                      </a:r>
                      <a:r>
                        <a:rPr lang="fr-FR" sz="1400" noProof="0" dirty="0"/>
                        <a:t> </a:t>
                      </a:r>
                    </a:p>
                    <a:p>
                      <a:r>
                        <a:rPr lang="fr-FR" sz="1400" b="0" i="0" u="none" strike="noStrike" noProof="0" dirty="0">
                          <a:latin typeface="Calibri"/>
                        </a:rPr>
                        <a:t>Chaque équipe va devoir motiver un profil particulier (voir ci-dessous). </a:t>
                      </a:r>
                    </a:p>
                    <a:p>
                      <a:r>
                        <a:rPr lang="fr-FR" sz="1400" noProof="0" dirty="0"/>
                        <a:t>Elaborez un pitch de 2 minutes maximum. Prenez le temps de l’écrire ET de le répéter / mémoriser.</a:t>
                      </a:r>
                    </a:p>
                    <a:p>
                      <a:r>
                        <a:rPr lang="fr-FR" sz="1400" noProof="0" dirty="0"/>
                        <a:t> A la restitution, vous ferez en équipe le pitch sur scène. </a:t>
                      </a:r>
                      <a:r>
                        <a:rPr lang="fr-FR" sz="1400" b="1" noProof="0" dirty="0"/>
                        <a:t>(1 phrase par personne max.). </a:t>
                      </a:r>
                      <a:r>
                        <a:rPr lang="fr-FR" sz="1400" b="0" noProof="0" dirty="0"/>
                        <a:t>Si vous avez plus de phrases que de membres, assurez qu’aucun membre n’ait 2 phrases à la suite et que tous ont un nombre de phrases à peu près égal.</a:t>
                      </a:r>
                      <a:endParaRPr lang="fr-FR" sz="1400" b="1" noProof="0" dirty="0"/>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dirty="0"/>
                        <a:t>A atteindre pour le Tour 1 </a:t>
                      </a:r>
                      <a:r>
                        <a:rPr lang="fr-FR" sz="1400" noProof="0" dirty="0"/>
                        <a:t>:</a:t>
                      </a:r>
                    </a:p>
                    <a:p>
                      <a:r>
                        <a:rPr lang="fr-FR" sz="1400" noProof="0" dirty="0"/>
                        <a:t>Ecrire et Tourner les phrases pour le pitch aux futurs membres de la communauté</a:t>
                      </a:r>
                    </a:p>
                  </a:txBody>
                  <a:tcPr/>
                </a:tc>
                <a:tc>
                  <a:txBody>
                    <a:bodyPr/>
                    <a:lstStyle/>
                    <a:p>
                      <a:r>
                        <a:rPr lang="fr-FR" sz="1400" b="1" noProof="0" dirty="0"/>
                        <a:t>A atteindre pour le Tour 2 </a:t>
                      </a:r>
                      <a:r>
                        <a:rPr lang="fr-FR" sz="1400" noProof="0" dirty="0"/>
                        <a:t>:</a:t>
                      </a:r>
                    </a:p>
                    <a:p>
                      <a:r>
                        <a:rPr lang="fr-FR" sz="1400" noProof="0" dirty="0"/>
                        <a:t>Ecrire et tourner les phrases  pour le pitch aux partenaires</a:t>
                      </a:r>
                    </a:p>
                  </a:txBody>
                  <a:tcPr/>
                </a:tc>
                <a:tc>
                  <a:txBody>
                    <a:bodyPr/>
                    <a:lstStyle/>
                    <a:p>
                      <a:r>
                        <a:rPr lang="fr-FR" sz="1400" b="1" noProof="0" dirty="0"/>
                        <a:t>A atteindre pour le Tour 3 </a:t>
                      </a:r>
                      <a:r>
                        <a:rPr lang="fr-FR" sz="1400" noProof="0" dirty="0"/>
                        <a:t>:</a:t>
                      </a:r>
                    </a:p>
                    <a:p>
                      <a:pPr marL="0" marR="0" lvl="0" indent="0" algn="l" rtl="0" eaLnBrk="1" fontAlgn="auto" latinLnBrk="0" hangingPunct="1">
                        <a:lnSpc>
                          <a:spcPct val="100000"/>
                        </a:lnSpc>
                        <a:spcBef>
                          <a:spcPts val="0"/>
                        </a:spcBef>
                        <a:spcAft>
                          <a:spcPts val="0"/>
                        </a:spcAft>
                        <a:buClrTx/>
                        <a:buSzTx/>
                        <a:buFontTx/>
                        <a:buNone/>
                      </a:pPr>
                      <a:r>
                        <a:rPr lang="fr-FR" sz="1400" noProof="0" dirty="0"/>
                        <a:t>Ecrire et tourner les phrases  pour le pitch pour les anciens membres</a:t>
                      </a:r>
                    </a:p>
                    <a:p>
                      <a:endParaRPr lang="fr-FR" sz="1400" noProof="0" dirty="0"/>
                    </a:p>
                  </a:txBody>
                  <a:tcPr/>
                </a:tc>
                <a:tc>
                  <a:txBody>
                    <a:bodyPr/>
                    <a:lstStyle/>
                    <a:p>
                      <a:pPr lvl="0">
                        <a:buNone/>
                      </a:pPr>
                      <a:r>
                        <a:rPr lang="fr-FR" sz="1400" b="1" i="0" u="none" strike="noStrike" noProof="0" dirty="0">
                          <a:latin typeface="Calibri"/>
                        </a:rPr>
                        <a:t>Conseils : </a:t>
                      </a:r>
                    </a:p>
                    <a:p>
                      <a:pPr lvl="0">
                        <a:buNone/>
                      </a:pPr>
                      <a:r>
                        <a:rPr lang="fr-FR" sz="1400" b="0" i="0" u="none" strike="noStrike" noProof="0" dirty="0">
                          <a:latin typeface="Calibri"/>
                        </a:rPr>
                        <a:t>- Commencez par écrire le pitch et testez le timing</a:t>
                      </a:r>
                    </a:p>
                    <a:p>
                      <a:pPr lvl="0">
                        <a:buNone/>
                      </a:pPr>
                      <a:r>
                        <a:rPr lang="fr-FR" sz="1400" b="0" i="0" u="none" strike="noStrike" noProof="0" dirty="0">
                          <a:latin typeface="Calibri"/>
                        </a:rPr>
                        <a:t>- Déterminez un ordre de passage avec un nombre de phrases à prononcer par orateur.</a:t>
                      </a:r>
                      <a:endParaRPr lang="fr-FR" dirty="0"/>
                    </a:p>
                    <a:p>
                      <a:pPr lvl="0">
                        <a:buNone/>
                      </a:pPr>
                      <a:r>
                        <a:rPr lang="fr-FR" sz="1400" b="0" i="0" u="none" strike="noStrike" noProof="0" dirty="0">
                          <a:latin typeface="Calibri"/>
                        </a:rPr>
                        <a:t>- Entraînez-vous bien à </a:t>
                      </a:r>
                      <a:r>
                        <a:rPr lang="fr-FR" sz="1400" b="0" i="0" u="none" strike="noStrike" noProof="0" dirty="0" err="1">
                          <a:latin typeface="Calibri"/>
                        </a:rPr>
                        <a:t>pitcher</a:t>
                      </a:r>
                      <a:r>
                        <a:rPr lang="fr-FR" sz="1400" b="0" i="0" u="none" strike="noStrike" noProof="0" dirty="0">
                          <a:latin typeface="Calibri"/>
                        </a:rPr>
                        <a:t> votre discours en direct.</a:t>
                      </a:r>
                    </a:p>
                    <a:p>
                      <a:pPr lvl="0">
                        <a:buNone/>
                      </a:pPr>
                      <a:r>
                        <a:rPr lang="fr-FR" sz="1400" b="0" i="0" u="none" strike="noStrike" noProof="0" dirty="0"/>
                        <a:t>- Vous pouvez filmer la scène avec un portable si vous souhaitez en garder le souvenir</a:t>
                      </a:r>
                      <a:endParaRPr lang="fr-FR" b="0" dirty="0"/>
                    </a:p>
                  </a:txBody>
                  <a:tcPr/>
                </a:tc>
                <a:extLst>
                  <a:ext uri="{0D108BD9-81ED-4DB2-BD59-A6C34878D82A}">
                    <a16:rowId xmlns:a16="http://schemas.microsoft.com/office/drawing/2014/main" val="2818071240"/>
                  </a:ext>
                </a:extLst>
              </a:tr>
            </a:tbl>
          </a:graphicData>
        </a:graphic>
      </p:graphicFrame>
      <p:pic>
        <p:nvPicPr>
          <p:cNvPr id="5" name="Image 4" descr="Une image contenant personne, intérieur, garçon, jeune&#10;&#10;Description générée automatiquement">
            <a:extLst>
              <a:ext uri="{FF2B5EF4-FFF2-40B4-BE49-F238E27FC236}">
                <a16:creationId xmlns:a16="http://schemas.microsoft.com/office/drawing/2014/main" id="{5C49988C-7496-41E4-AF58-F62664343030}"/>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22383"/>
          <a:stretch/>
        </p:blipFill>
        <p:spPr>
          <a:xfrm>
            <a:off x="9605328" y="2701401"/>
            <a:ext cx="1406128" cy="1455197"/>
          </a:xfrm>
          <a:prstGeom prst="rect">
            <a:avLst/>
          </a:prstGeom>
        </p:spPr>
      </p:pic>
      <p:pic>
        <p:nvPicPr>
          <p:cNvPr id="8" name="Image 7" descr="Une image contenant personne, homme, complet, intérieur&#10;&#10;Description générée automatiquement">
            <a:extLst>
              <a:ext uri="{FF2B5EF4-FFF2-40B4-BE49-F238E27FC236}">
                <a16:creationId xmlns:a16="http://schemas.microsoft.com/office/drawing/2014/main" id="{00B4F8D5-A312-4842-AF98-97A5F1F227F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104676" y="2701401"/>
            <a:ext cx="1455198" cy="1455198"/>
          </a:xfrm>
          <a:prstGeom prst="rect">
            <a:avLst/>
          </a:prstGeom>
        </p:spPr>
      </p:pic>
      <p:pic>
        <p:nvPicPr>
          <p:cNvPr id="10" name="Image 9" descr="Une image contenant homme, personne, vieux&#10;&#10;Description générée automatiquement">
            <a:extLst>
              <a:ext uri="{FF2B5EF4-FFF2-40B4-BE49-F238E27FC236}">
                <a16:creationId xmlns:a16="http://schemas.microsoft.com/office/drawing/2014/main" id="{30943B4F-4C5A-40FB-87A8-D63484823ED6}"/>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092971" y="2701401"/>
            <a:ext cx="966251" cy="1455197"/>
          </a:xfrm>
          <a:prstGeom prst="rect">
            <a:avLst/>
          </a:prstGeom>
        </p:spPr>
      </p:pic>
      <p:sp>
        <p:nvSpPr>
          <p:cNvPr id="12" name="Bulle narrative : ronde 11">
            <a:extLst>
              <a:ext uri="{FF2B5EF4-FFF2-40B4-BE49-F238E27FC236}">
                <a16:creationId xmlns:a16="http://schemas.microsoft.com/office/drawing/2014/main" id="{76524046-68F8-4096-947D-256FB79E52BA}"/>
              </a:ext>
            </a:extLst>
          </p:cNvPr>
          <p:cNvSpPr/>
          <p:nvPr/>
        </p:nvSpPr>
        <p:spPr>
          <a:xfrm>
            <a:off x="6241002" y="2050742"/>
            <a:ext cx="1818220" cy="650659"/>
          </a:xfrm>
          <a:prstGeom prst="wedgeEllipseCallout">
            <a:avLst>
              <a:gd name="adj1" fmla="val 20181"/>
              <a:gd name="adj2" fmla="val 625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Phrase 1</a:t>
            </a:r>
          </a:p>
        </p:txBody>
      </p:sp>
      <p:sp>
        <p:nvSpPr>
          <p:cNvPr id="13" name="Bulle narrative : ronde 12">
            <a:extLst>
              <a:ext uri="{FF2B5EF4-FFF2-40B4-BE49-F238E27FC236}">
                <a16:creationId xmlns:a16="http://schemas.microsoft.com/office/drawing/2014/main" id="{20EEF0B6-8687-4489-8A9D-0302983F9CC3}"/>
              </a:ext>
            </a:extLst>
          </p:cNvPr>
          <p:cNvSpPr/>
          <p:nvPr/>
        </p:nvSpPr>
        <p:spPr>
          <a:xfrm>
            <a:off x="8104676" y="2013058"/>
            <a:ext cx="1818220" cy="650659"/>
          </a:xfrm>
          <a:prstGeom prst="wedgeEllipseCallout">
            <a:avLst>
              <a:gd name="adj1" fmla="val -10091"/>
              <a:gd name="adj2" fmla="val 7887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Phrase 2</a:t>
            </a:r>
          </a:p>
        </p:txBody>
      </p:sp>
      <p:sp>
        <p:nvSpPr>
          <p:cNvPr id="14" name="Bulle narrative : ronde 13">
            <a:extLst>
              <a:ext uri="{FF2B5EF4-FFF2-40B4-BE49-F238E27FC236}">
                <a16:creationId xmlns:a16="http://schemas.microsoft.com/office/drawing/2014/main" id="{DB700353-27C8-4EDD-8B09-B0BBAC68418D}"/>
              </a:ext>
            </a:extLst>
          </p:cNvPr>
          <p:cNvSpPr/>
          <p:nvPr/>
        </p:nvSpPr>
        <p:spPr>
          <a:xfrm>
            <a:off x="9605328" y="4116511"/>
            <a:ext cx="1818220" cy="650659"/>
          </a:xfrm>
          <a:prstGeom prst="wedgeEllipseCallout">
            <a:avLst>
              <a:gd name="adj1" fmla="val -2279"/>
              <a:gd name="adj2" fmla="val -13397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Phrase 3</a:t>
            </a:r>
          </a:p>
        </p:txBody>
      </p:sp>
    </p:spTree>
    <p:extLst>
      <p:ext uri="{BB962C8B-B14F-4D97-AF65-F5344CB8AC3E}">
        <p14:creationId xmlns:p14="http://schemas.microsoft.com/office/powerpoint/2010/main" val="1016035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a:xfrm>
            <a:off x="836722" y="285226"/>
            <a:ext cx="10515600" cy="1325563"/>
          </a:xfrm>
        </p:spPr>
        <p:txBody>
          <a:bodyPr>
            <a:normAutofit fontScale="90000"/>
          </a:bodyPr>
          <a:lstStyle/>
          <a:p>
            <a:r>
              <a:rPr lang="fr-FR" sz="3200" dirty="0">
                <a:ea typeface="+mj-lt"/>
                <a:cs typeface="+mj-lt"/>
              </a:rPr>
              <a:t>ATELIER LE PITCH DU MEMBRE 2050</a:t>
            </a:r>
            <a:br>
              <a:rPr lang="fr-FR" sz="3200" dirty="0">
                <a:ea typeface="+mj-lt"/>
                <a:cs typeface="+mj-lt"/>
              </a:rPr>
            </a:br>
            <a:r>
              <a:rPr lang="fr-FR" sz="3200" dirty="0">
                <a:ea typeface="+mj-lt"/>
                <a:cs typeface="+mj-lt"/>
              </a:rPr>
              <a:t>Exemple : faire son pitch progressivement en commençant simple et en ajoutant des détails</a:t>
            </a:r>
          </a:p>
        </p:txBody>
      </p:sp>
      <p:sp>
        <p:nvSpPr>
          <p:cNvPr id="3" name="Rectangle 2">
            <a:extLst>
              <a:ext uri="{FF2B5EF4-FFF2-40B4-BE49-F238E27FC236}">
                <a16:creationId xmlns:a16="http://schemas.microsoft.com/office/drawing/2014/main" id="{CA30A13C-1E26-423A-A16C-A4DA037A8D1E}"/>
              </a:ext>
            </a:extLst>
          </p:cNvPr>
          <p:cNvSpPr/>
          <p:nvPr/>
        </p:nvSpPr>
        <p:spPr>
          <a:xfrm>
            <a:off x="210389" y="266706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Phrase d’accroche</a:t>
            </a:r>
          </a:p>
        </p:txBody>
      </p:sp>
      <p:sp>
        <p:nvSpPr>
          <p:cNvPr id="5" name="Rectangle 4">
            <a:extLst>
              <a:ext uri="{FF2B5EF4-FFF2-40B4-BE49-F238E27FC236}">
                <a16:creationId xmlns:a16="http://schemas.microsoft.com/office/drawing/2014/main" id="{632E3F28-6FB5-4735-A557-55E84A331548}"/>
              </a:ext>
            </a:extLst>
          </p:cNvPr>
          <p:cNvSpPr/>
          <p:nvPr/>
        </p:nvSpPr>
        <p:spPr>
          <a:xfrm>
            <a:off x="203729" y="3236520"/>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problème</a:t>
            </a:r>
          </a:p>
        </p:txBody>
      </p:sp>
      <p:sp>
        <p:nvSpPr>
          <p:cNvPr id="10" name="Rectangle 9">
            <a:extLst>
              <a:ext uri="{FF2B5EF4-FFF2-40B4-BE49-F238E27FC236}">
                <a16:creationId xmlns:a16="http://schemas.microsoft.com/office/drawing/2014/main" id="{6041067A-DC80-4071-974E-D938DB1CFACB}"/>
              </a:ext>
            </a:extLst>
          </p:cNvPr>
          <p:cNvSpPr/>
          <p:nvPr/>
        </p:nvSpPr>
        <p:spPr>
          <a:xfrm>
            <a:off x="203729" y="4450345"/>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Identité</a:t>
            </a:r>
          </a:p>
        </p:txBody>
      </p:sp>
      <p:sp>
        <p:nvSpPr>
          <p:cNvPr id="11" name="Rectangle 10">
            <a:extLst>
              <a:ext uri="{FF2B5EF4-FFF2-40B4-BE49-F238E27FC236}">
                <a16:creationId xmlns:a16="http://schemas.microsoft.com/office/drawing/2014/main" id="{87BA70D1-F1FD-46DA-B972-4C5B77E9FB74}"/>
              </a:ext>
            </a:extLst>
          </p:cNvPr>
          <p:cNvSpPr/>
          <p:nvPr/>
        </p:nvSpPr>
        <p:spPr>
          <a:xfrm>
            <a:off x="203729" y="4986076"/>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de soi</a:t>
            </a:r>
          </a:p>
        </p:txBody>
      </p:sp>
      <p:sp>
        <p:nvSpPr>
          <p:cNvPr id="15" name="Rectangle 14">
            <a:extLst>
              <a:ext uri="{FF2B5EF4-FFF2-40B4-BE49-F238E27FC236}">
                <a16:creationId xmlns:a16="http://schemas.microsoft.com/office/drawing/2014/main" id="{C42CF4A9-789A-46B2-A520-049C8756E7BC}"/>
              </a:ext>
            </a:extLst>
          </p:cNvPr>
          <p:cNvSpPr/>
          <p:nvPr/>
        </p:nvSpPr>
        <p:spPr>
          <a:xfrm>
            <a:off x="203729" y="5651481"/>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Invitation à l’action</a:t>
            </a:r>
          </a:p>
        </p:txBody>
      </p:sp>
      <p:sp>
        <p:nvSpPr>
          <p:cNvPr id="16" name="ZoneTexte 15">
            <a:extLst>
              <a:ext uri="{FF2B5EF4-FFF2-40B4-BE49-F238E27FC236}">
                <a16:creationId xmlns:a16="http://schemas.microsoft.com/office/drawing/2014/main" id="{362B2FF2-0CE3-45F8-8F3A-DCB4D5FEC601}"/>
              </a:ext>
            </a:extLst>
          </p:cNvPr>
          <p:cNvSpPr txBox="1"/>
          <p:nvPr/>
        </p:nvSpPr>
        <p:spPr>
          <a:xfrm>
            <a:off x="252197" y="1651618"/>
            <a:ext cx="1300113" cy="646331"/>
          </a:xfrm>
          <a:prstGeom prst="rect">
            <a:avLst/>
          </a:prstGeom>
          <a:noFill/>
        </p:spPr>
        <p:txBody>
          <a:bodyPr wrap="square" rtlCol="0">
            <a:spAutoFit/>
          </a:bodyPr>
          <a:lstStyle/>
          <a:p>
            <a:r>
              <a:rPr lang="en-US"/>
              <a:t>Pitch V1 </a:t>
            </a:r>
            <a:r>
              <a:rPr lang="en-US" err="1"/>
              <a:t>en</a:t>
            </a:r>
            <a:r>
              <a:rPr lang="en-US"/>
              <a:t> 6 parties</a:t>
            </a:r>
          </a:p>
        </p:txBody>
      </p:sp>
      <p:sp>
        <p:nvSpPr>
          <p:cNvPr id="17" name="Rectangle 16">
            <a:extLst>
              <a:ext uri="{FF2B5EF4-FFF2-40B4-BE49-F238E27FC236}">
                <a16:creationId xmlns:a16="http://schemas.microsoft.com/office/drawing/2014/main" id="{845587A8-E4B5-445A-8688-FB04C0388DA5}"/>
              </a:ext>
            </a:extLst>
          </p:cNvPr>
          <p:cNvSpPr/>
          <p:nvPr/>
        </p:nvSpPr>
        <p:spPr>
          <a:xfrm>
            <a:off x="4847032" y="2391314"/>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Phrase d’accroche</a:t>
            </a:r>
          </a:p>
        </p:txBody>
      </p:sp>
      <p:sp>
        <p:nvSpPr>
          <p:cNvPr id="19" name="Rectangle 18">
            <a:extLst>
              <a:ext uri="{FF2B5EF4-FFF2-40B4-BE49-F238E27FC236}">
                <a16:creationId xmlns:a16="http://schemas.microsoft.com/office/drawing/2014/main" id="{E3FB5939-66CE-4CE7-9DFF-6A8E2B725C1F}"/>
              </a:ext>
            </a:extLst>
          </p:cNvPr>
          <p:cNvSpPr/>
          <p:nvPr/>
        </p:nvSpPr>
        <p:spPr>
          <a:xfrm>
            <a:off x="4847032" y="2905614"/>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problème</a:t>
            </a:r>
          </a:p>
        </p:txBody>
      </p:sp>
      <p:sp>
        <p:nvSpPr>
          <p:cNvPr id="20" name="Rectangle 19">
            <a:extLst>
              <a:ext uri="{FF2B5EF4-FFF2-40B4-BE49-F238E27FC236}">
                <a16:creationId xmlns:a16="http://schemas.microsoft.com/office/drawing/2014/main" id="{87CD971F-1E47-4EC5-A982-65FCAC93D5A3}"/>
              </a:ext>
            </a:extLst>
          </p:cNvPr>
          <p:cNvSpPr/>
          <p:nvPr/>
        </p:nvSpPr>
        <p:spPr>
          <a:xfrm>
            <a:off x="4847032" y="3387423"/>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idéal</a:t>
            </a:r>
          </a:p>
        </p:txBody>
      </p:sp>
      <p:sp>
        <p:nvSpPr>
          <p:cNvPr id="21" name="Rectangle 20">
            <a:extLst>
              <a:ext uri="{FF2B5EF4-FFF2-40B4-BE49-F238E27FC236}">
                <a16:creationId xmlns:a16="http://schemas.microsoft.com/office/drawing/2014/main" id="{95AD50B2-3C03-4EC5-B505-409CCA95DF0B}"/>
              </a:ext>
            </a:extLst>
          </p:cNvPr>
          <p:cNvSpPr/>
          <p:nvPr/>
        </p:nvSpPr>
        <p:spPr>
          <a:xfrm>
            <a:off x="4847032" y="3788060"/>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Emphase de l’idéal</a:t>
            </a:r>
          </a:p>
        </p:txBody>
      </p:sp>
      <p:sp>
        <p:nvSpPr>
          <p:cNvPr id="24" name="Rectangle 23">
            <a:extLst>
              <a:ext uri="{FF2B5EF4-FFF2-40B4-BE49-F238E27FC236}">
                <a16:creationId xmlns:a16="http://schemas.microsoft.com/office/drawing/2014/main" id="{6E77A85A-2A26-43EE-8D03-3E70C836AC88}"/>
              </a:ext>
            </a:extLst>
          </p:cNvPr>
          <p:cNvSpPr/>
          <p:nvPr/>
        </p:nvSpPr>
        <p:spPr>
          <a:xfrm>
            <a:off x="4847032" y="4680840"/>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Identité</a:t>
            </a:r>
          </a:p>
        </p:txBody>
      </p:sp>
      <p:sp>
        <p:nvSpPr>
          <p:cNvPr id="25" name="Rectangle 24">
            <a:extLst>
              <a:ext uri="{FF2B5EF4-FFF2-40B4-BE49-F238E27FC236}">
                <a16:creationId xmlns:a16="http://schemas.microsoft.com/office/drawing/2014/main" id="{FEEFA81E-D523-43E4-B659-96DA3234A46E}"/>
              </a:ext>
            </a:extLst>
          </p:cNvPr>
          <p:cNvSpPr/>
          <p:nvPr/>
        </p:nvSpPr>
        <p:spPr>
          <a:xfrm>
            <a:off x="4847032" y="5123339"/>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de soi</a:t>
            </a:r>
          </a:p>
        </p:txBody>
      </p:sp>
      <p:sp>
        <p:nvSpPr>
          <p:cNvPr id="26" name="Rectangle 25">
            <a:extLst>
              <a:ext uri="{FF2B5EF4-FFF2-40B4-BE49-F238E27FC236}">
                <a16:creationId xmlns:a16="http://schemas.microsoft.com/office/drawing/2014/main" id="{F10F21A8-8012-4888-8CC9-5F009E6233EF}"/>
              </a:ext>
            </a:extLst>
          </p:cNvPr>
          <p:cNvSpPr/>
          <p:nvPr/>
        </p:nvSpPr>
        <p:spPr>
          <a:xfrm>
            <a:off x="4847032" y="5479910"/>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Facteur de crédibilité 1</a:t>
            </a:r>
          </a:p>
        </p:txBody>
      </p:sp>
      <p:sp>
        <p:nvSpPr>
          <p:cNvPr id="29" name="Rectangle 28">
            <a:extLst>
              <a:ext uri="{FF2B5EF4-FFF2-40B4-BE49-F238E27FC236}">
                <a16:creationId xmlns:a16="http://schemas.microsoft.com/office/drawing/2014/main" id="{4C3442D3-49CA-43DF-8017-A2D0899C742A}"/>
              </a:ext>
            </a:extLst>
          </p:cNvPr>
          <p:cNvSpPr/>
          <p:nvPr/>
        </p:nvSpPr>
        <p:spPr>
          <a:xfrm>
            <a:off x="4847032" y="6442845"/>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Invitation à l’action</a:t>
            </a:r>
          </a:p>
        </p:txBody>
      </p:sp>
      <p:sp>
        <p:nvSpPr>
          <p:cNvPr id="30" name="ZoneTexte 29">
            <a:extLst>
              <a:ext uri="{FF2B5EF4-FFF2-40B4-BE49-F238E27FC236}">
                <a16:creationId xmlns:a16="http://schemas.microsoft.com/office/drawing/2014/main" id="{FC0CBA6B-9382-443C-8010-EDBAEFE6EF66}"/>
              </a:ext>
            </a:extLst>
          </p:cNvPr>
          <p:cNvSpPr txBox="1"/>
          <p:nvPr/>
        </p:nvSpPr>
        <p:spPr>
          <a:xfrm>
            <a:off x="5103204" y="1680491"/>
            <a:ext cx="1292341" cy="646331"/>
          </a:xfrm>
          <a:prstGeom prst="rect">
            <a:avLst/>
          </a:prstGeom>
          <a:noFill/>
        </p:spPr>
        <p:txBody>
          <a:bodyPr wrap="none" rtlCol="0">
            <a:spAutoFit/>
          </a:bodyPr>
          <a:lstStyle/>
          <a:p>
            <a:r>
              <a:rPr lang="en-US"/>
              <a:t>Pitch V2 </a:t>
            </a:r>
          </a:p>
          <a:p>
            <a:r>
              <a:rPr lang="en-US" err="1"/>
              <a:t>en</a:t>
            </a:r>
            <a:r>
              <a:rPr lang="en-US"/>
              <a:t> 8 parties</a:t>
            </a:r>
          </a:p>
        </p:txBody>
      </p:sp>
      <p:sp>
        <p:nvSpPr>
          <p:cNvPr id="31" name="Rectangle 30">
            <a:extLst>
              <a:ext uri="{FF2B5EF4-FFF2-40B4-BE49-F238E27FC236}">
                <a16:creationId xmlns:a16="http://schemas.microsoft.com/office/drawing/2014/main" id="{88B6BF8F-02FE-4BBE-A9EE-2F14CDF4F112}"/>
              </a:ext>
            </a:extLst>
          </p:cNvPr>
          <p:cNvSpPr/>
          <p:nvPr/>
        </p:nvSpPr>
        <p:spPr>
          <a:xfrm>
            <a:off x="9881659" y="1994675"/>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Phrase d’accroche</a:t>
            </a:r>
          </a:p>
        </p:txBody>
      </p:sp>
      <p:sp>
        <p:nvSpPr>
          <p:cNvPr id="32" name="Rectangle 31">
            <a:extLst>
              <a:ext uri="{FF2B5EF4-FFF2-40B4-BE49-F238E27FC236}">
                <a16:creationId xmlns:a16="http://schemas.microsoft.com/office/drawing/2014/main" id="{3AC95EAE-E7F5-4C8C-8508-5F6EC174E837}"/>
              </a:ext>
            </a:extLst>
          </p:cNvPr>
          <p:cNvSpPr/>
          <p:nvPr/>
        </p:nvSpPr>
        <p:spPr>
          <a:xfrm>
            <a:off x="9881659" y="2347922"/>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Généralité</a:t>
            </a:r>
          </a:p>
        </p:txBody>
      </p:sp>
      <p:sp>
        <p:nvSpPr>
          <p:cNvPr id="33" name="Rectangle 32">
            <a:extLst>
              <a:ext uri="{FF2B5EF4-FFF2-40B4-BE49-F238E27FC236}">
                <a16:creationId xmlns:a16="http://schemas.microsoft.com/office/drawing/2014/main" id="{A5A75B70-0851-4CC2-8B02-4D1A8D133FE9}"/>
              </a:ext>
            </a:extLst>
          </p:cNvPr>
          <p:cNvSpPr/>
          <p:nvPr/>
        </p:nvSpPr>
        <p:spPr>
          <a:xfrm>
            <a:off x="9881659" y="272834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problème</a:t>
            </a:r>
          </a:p>
        </p:txBody>
      </p:sp>
      <p:sp>
        <p:nvSpPr>
          <p:cNvPr id="34" name="Rectangle 33">
            <a:extLst>
              <a:ext uri="{FF2B5EF4-FFF2-40B4-BE49-F238E27FC236}">
                <a16:creationId xmlns:a16="http://schemas.microsoft.com/office/drawing/2014/main" id="{3F8C4114-E53F-42A9-BC2C-CC5133707F52}"/>
              </a:ext>
            </a:extLst>
          </p:cNvPr>
          <p:cNvSpPr/>
          <p:nvPr/>
        </p:nvSpPr>
        <p:spPr>
          <a:xfrm>
            <a:off x="9881659" y="3095308"/>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idéal</a:t>
            </a:r>
          </a:p>
        </p:txBody>
      </p:sp>
      <p:sp>
        <p:nvSpPr>
          <p:cNvPr id="35" name="Rectangle 34">
            <a:extLst>
              <a:ext uri="{FF2B5EF4-FFF2-40B4-BE49-F238E27FC236}">
                <a16:creationId xmlns:a16="http://schemas.microsoft.com/office/drawing/2014/main" id="{82FE25ED-A10F-4F3C-B76A-BBC7E4F03515}"/>
              </a:ext>
            </a:extLst>
          </p:cNvPr>
          <p:cNvSpPr/>
          <p:nvPr/>
        </p:nvSpPr>
        <p:spPr>
          <a:xfrm>
            <a:off x="9881659" y="3475733"/>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Emphase de l’idéal</a:t>
            </a:r>
          </a:p>
        </p:txBody>
      </p:sp>
      <p:sp>
        <p:nvSpPr>
          <p:cNvPr id="36" name="Rectangle 35">
            <a:extLst>
              <a:ext uri="{FF2B5EF4-FFF2-40B4-BE49-F238E27FC236}">
                <a16:creationId xmlns:a16="http://schemas.microsoft.com/office/drawing/2014/main" id="{D6D038C8-1D9C-4FCB-85BB-1E6ECF7B4E22}"/>
              </a:ext>
            </a:extLst>
          </p:cNvPr>
          <p:cNvSpPr/>
          <p:nvPr/>
        </p:nvSpPr>
        <p:spPr>
          <a:xfrm>
            <a:off x="9881659" y="3856157"/>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Limites des solutions existantes</a:t>
            </a:r>
          </a:p>
        </p:txBody>
      </p:sp>
      <p:sp>
        <p:nvSpPr>
          <p:cNvPr id="37" name="Rectangle 36">
            <a:extLst>
              <a:ext uri="{FF2B5EF4-FFF2-40B4-BE49-F238E27FC236}">
                <a16:creationId xmlns:a16="http://schemas.microsoft.com/office/drawing/2014/main" id="{7F776113-E1F7-4B67-9803-F9F3523DDF18}"/>
              </a:ext>
            </a:extLst>
          </p:cNvPr>
          <p:cNvSpPr/>
          <p:nvPr/>
        </p:nvSpPr>
        <p:spPr>
          <a:xfrm>
            <a:off x="9881659" y="4223119"/>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Histoire</a:t>
            </a:r>
          </a:p>
        </p:txBody>
      </p:sp>
      <p:sp>
        <p:nvSpPr>
          <p:cNvPr id="38" name="Rectangle 37">
            <a:extLst>
              <a:ext uri="{FF2B5EF4-FFF2-40B4-BE49-F238E27FC236}">
                <a16:creationId xmlns:a16="http://schemas.microsoft.com/office/drawing/2014/main" id="{BE388316-3697-4D8D-9AB0-D7E9D1758EFB}"/>
              </a:ext>
            </a:extLst>
          </p:cNvPr>
          <p:cNvSpPr/>
          <p:nvPr/>
        </p:nvSpPr>
        <p:spPr>
          <a:xfrm>
            <a:off x="9881659" y="4603543"/>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Identité</a:t>
            </a:r>
          </a:p>
        </p:txBody>
      </p:sp>
      <p:sp>
        <p:nvSpPr>
          <p:cNvPr id="39" name="Rectangle 38">
            <a:extLst>
              <a:ext uri="{FF2B5EF4-FFF2-40B4-BE49-F238E27FC236}">
                <a16:creationId xmlns:a16="http://schemas.microsoft.com/office/drawing/2014/main" id="{5D922838-0152-4C90-8BDE-D8906E0C826C}"/>
              </a:ext>
            </a:extLst>
          </p:cNvPr>
          <p:cNvSpPr/>
          <p:nvPr/>
        </p:nvSpPr>
        <p:spPr>
          <a:xfrm>
            <a:off x="9881659" y="4983968"/>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de soi</a:t>
            </a:r>
          </a:p>
        </p:txBody>
      </p:sp>
      <p:sp>
        <p:nvSpPr>
          <p:cNvPr id="40" name="Rectangle 39">
            <a:extLst>
              <a:ext uri="{FF2B5EF4-FFF2-40B4-BE49-F238E27FC236}">
                <a16:creationId xmlns:a16="http://schemas.microsoft.com/office/drawing/2014/main" id="{978A1EEF-1983-469B-963A-23D302742CB7}"/>
              </a:ext>
            </a:extLst>
          </p:cNvPr>
          <p:cNvSpPr/>
          <p:nvPr/>
        </p:nvSpPr>
        <p:spPr>
          <a:xfrm>
            <a:off x="9881659" y="5364393"/>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Facteur de crédibilité 1</a:t>
            </a:r>
          </a:p>
        </p:txBody>
      </p:sp>
      <p:sp>
        <p:nvSpPr>
          <p:cNvPr id="41" name="Rectangle 40">
            <a:extLst>
              <a:ext uri="{FF2B5EF4-FFF2-40B4-BE49-F238E27FC236}">
                <a16:creationId xmlns:a16="http://schemas.microsoft.com/office/drawing/2014/main" id="{ECF32B3A-5DE9-426A-BB85-0E7BF5876AD1}"/>
              </a:ext>
            </a:extLst>
          </p:cNvPr>
          <p:cNvSpPr/>
          <p:nvPr/>
        </p:nvSpPr>
        <p:spPr>
          <a:xfrm>
            <a:off x="9881659" y="5744817"/>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Facteur de crédibilité 2</a:t>
            </a:r>
          </a:p>
        </p:txBody>
      </p:sp>
      <p:sp>
        <p:nvSpPr>
          <p:cNvPr id="42" name="Rectangle 41">
            <a:extLst>
              <a:ext uri="{FF2B5EF4-FFF2-40B4-BE49-F238E27FC236}">
                <a16:creationId xmlns:a16="http://schemas.microsoft.com/office/drawing/2014/main" id="{382E9800-2C3A-4273-9A29-19596EDC895F}"/>
              </a:ext>
            </a:extLst>
          </p:cNvPr>
          <p:cNvSpPr/>
          <p:nvPr/>
        </p:nvSpPr>
        <p:spPr>
          <a:xfrm>
            <a:off x="9881659" y="6104453"/>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Rappel de l’identité</a:t>
            </a:r>
          </a:p>
        </p:txBody>
      </p:sp>
      <p:sp>
        <p:nvSpPr>
          <p:cNvPr id="43" name="Rectangle 42">
            <a:extLst>
              <a:ext uri="{FF2B5EF4-FFF2-40B4-BE49-F238E27FC236}">
                <a16:creationId xmlns:a16="http://schemas.microsoft.com/office/drawing/2014/main" id="{7DA3804F-B749-4E99-8C45-CF06CB3D38FE}"/>
              </a:ext>
            </a:extLst>
          </p:cNvPr>
          <p:cNvSpPr/>
          <p:nvPr/>
        </p:nvSpPr>
        <p:spPr>
          <a:xfrm>
            <a:off x="9881659" y="6442845"/>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Invitation à l’action</a:t>
            </a:r>
          </a:p>
        </p:txBody>
      </p:sp>
      <p:sp>
        <p:nvSpPr>
          <p:cNvPr id="44" name="ZoneTexte 43">
            <a:extLst>
              <a:ext uri="{FF2B5EF4-FFF2-40B4-BE49-F238E27FC236}">
                <a16:creationId xmlns:a16="http://schemas.microsoft.com/office/drawing/2014/main" id="{6E98264D-0128-4EAB-A60B-AC016E9F88E7}"/>
              </a:ext>
            </a:extLst>
          </p:cNvPr>
          <p:cNvSpPr txBox="1"/>
          <p:nvPr/>
        </p:nvSpPr>
        <p:spPr>
          <a:xfrm>
            <a:off x="9618758" y="1367461"/>
            <a:ext cx="1946455" cy="646331"/>
          </a:xfrm>
          <a:prstGeom prst="rect">
            <a:avLst/>
          </a:prstGeom>
          <a:noFill/>
        </p:spPr>
        <p:txBody>
          <a:bodyPr wrap="square" rtlCol="0">
            <a:spAutoFit/>
          </a:bodyPr>
          <a:lstStyle/>
          <a:p>
            <a:r>
              <a:rPr lang="en-US"/>
              <a:t>Pitch V3</a:t>
            </a:r>
          </a:p>
          <a:p>
            <a:r>
              <a:rPr lang="en-US" err="1"/>
              <a:t>en</a:t>
            </a:r>
            <a:r>
              <a:rPr lang="en-US"/>
              <a:t> 13 parties</a:t>
            </a:r>
          </a:p>
        </p:txBody>
      </p:sp>
      <p:sp>
        <p:nvSpPr>
          <p:cNvPr id="45" name="Rectangle 44">
            <a:extLst>
              <a:ext uri="{FF2B5EF4-FFF2-40B4-BE49-F238E27FC236}">
                <a16:creationId xmlns:a16="http://schemas.microsoft.com/office/drawing/2014/main" id="{B119AF77-373A-44A8-8BCB-2DB36CE591C1}"/>
              </a:ext>
            </a:extLst>
          </p:cNvPr>
          <p:cNvSpPr/>
          <p:nvPr/>
        </p:nvSpPr>
        <p:spPr>
          <a:xfrm>
            <a:off x="203729" y="3838502"/>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idéal</a:t>
            </a:r>
          </a:p>
        </p:txBody>
      </p:sp>
      <p:sp>
        <p:nvSpPr>
          <p:cNvPr id="46" name="Rectangle 45">
            <a:extLst>
              <a:ext uri="{FF2B5EF4-FFF2-40B4-BE49-F238E27FC236}">
                <a16:creationId xmlns:a16="http://schemas.microsoft.com/office/drawing/2014/main" id="{B8B02E4B-3C3B-404D-80BA-44DB091A7C0E}"/>
              </a:ext>
            </a:extLst>
          </p:cNvPr>
          <p:cNvSpPr/>
          <p:nvPr/>
        </p:nvSpPr>
        <p:spPr>
          <a:xfrm>
            <a:off x="1215474" y="2696165"/>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10 milliards : c’est le nombre d’humains actifs sur le </a:t>
            </a:r>
            <a:r>
              <a:rPr lang="fr-FR" sz="900" err="1">
                <a:solidFill>
                  <a:schemeClr val="tx1"/>
                </a:solidFill>
              </a:rPr>
              <a:t>Metaverse</a:t>
            </a:r>
            <a:endParaRPr lang="fr-FR" sz="900">
              <a:solidFill>
                <a:schemeClr val="tx1"/>
              </a:solidFill>
            </a:endParaRPr>
          </a:p>
        </p:txBody>
      </p:sp>
      <p:sp>
        <p:nvSpPr>
          <p:cNvPr id="48" name="Rectangle 47">
            <a:extLst>
              <a:ext uri="{FF2B5EF4-FFF2-40B4-BE49-F238E27FC236}">
                <a16:creationId xmlns:a16="http://schemas.microsoft.com/office/drawing/2014/main" id="{B33596F1-2EDD-4989-BAB5-7C671ADC5922}"/>
              </a:ext>
            </a:extLst>
          </p:cNvPr>
          <p:cNvSpPr/>
          <p:nvPr/>
        </p:nvSpPr>
        <p:spPr>
          <a:xfrm>
            <a:off x="1215474" y="3236520"/>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900">
                <a:solidFill>
                  <a:schemeClr val="tx1"/>
                </a:solidFill>
                <a:cs typeface="Calibri"/>
              </a:rPr>
              <a:t>Mais il est très difficile de savoir par où commencer, et la migration vers le </a:t>
            </a:r>
            <a:r>
              <a:rPr lang="fr-FR" sz="900" err="1">
                <a:solidFill>
                  <a:schemeClr val="tx1"/>
                </a:solidFill>
                <a:cs typeface="Calibri"/>
              </a:rPr>
              <a:t>Metaverse</a:t>
            </a:r>
            <a:r>
              <a:rPr lang="fr-FR" sz="900">
                <a:solidFill>
                  <a:schemeClr val="tx1"/>
                </a:solidFill>
                <a:cs typeface="Calibri"/>
              </a:rPr>
              <a:t> peut s’arrêter très vite.</a:t>
            </a:r>
          </a:p>
        </p:txBody>
      </p:sp>
      <p:sp>
        <p:nvSpPr>
          <p:cNvPr id="53" name="Rectangle 52">
            <a:extLst>
              <a:ext uri="{FF2B5EF4-FFF2-40B4-BE49-F238E27FC236}">
                <a16:creationId xmlns:a16="http://schemas.microsoft.com/office/drawing/2014/main" id="{B908F7DB-2F12-4404-B318-237B5154C34F}"/>
              </a:ext>
            </a:extLst>
          </p:cNvPr>
          <p:cNvSpPr/>
          <p:nvPr/>
        </p:nvSpPr>
        <p:spPr>
          <a:xfrm>
            <a:off x="1215474" y="4465562"/>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Nous sommes </a:t>
            </a:r>
            <a:r>
              <a:rPr lang="fr-FR" sz="900" err="1">
                <a:solidFill>
                  <a:schemeClr val="tx1"/>
                </a:solidFill>
              </a:rPr>
              <a:t>Metaverse</a:t>
            </a:r>
            <a:r>
              <a:rPr lang="fr-FR" sz="900">
                <a:solidFill>
                  <a:schemeClr val="tx1"/>
                </a:solidFill>
              </a:rPr>
              <a:t> Consulting</a:t>
            </a:r>
          </a:p>
        </p:txBody>
      </p:sp>
      <p:sp>
        <p:nvSpPr>
          <p:cNvPr id="54" name="Rectangle 53">
            <a:extLst>
              <a:ext uri="{FF2B5EF4-FFF2-40B4-BE49-F238E27FC236}">
                <a16:creationId xmlns:a16="http://schemas.microsoft.com/office/drawing/2014/main" id="{0F72374F-31E6-4810-99D4-9A78EF4F9EBF}"/>
              </a:ext>
            </a:extLst>
          </p:cNvPr>
          <p:cNvSpPr/>
          <p:nvPr/>
        </p:nvSpPr>
        <p:spPr>
          <a:xfrm>
            <a:off x="1215474" y="4986075"/>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La première agence française à se dédier au </a:t>
            </a:r>
            <a:r>
              <a:rPr lang="fr-FR" sz="900" err="1">
                <a:solidFill>
                  <a:schemeClr val="tx1"/>
                </a:solidFill>
              </a:rPr>
              <a:t>Metaverse</a:t>
            </a:r>
            <a:endParaRPr lang="fr-FR" sz="900">
              <a:solidFill>
                <a:schemeClr val="tx1"/>
              </a:solidFill>
            </a:endParaRPr>
          </a:p>
        </p:txBody>
      </p:sp>
      <p:sp>
        <p:nvSpPr>
          <p:cNvPr id="58" name="Rectangle 57">
            <a:extLst>
              <a:ext uri="{FF2B5EF4-FFF2-40B4-BE49-F238E27FC236}">
                <a16:creationId xmlns:a16="http://schemas.microsoft.com/office/drawing/2014/main" id="{DCCC6C15-8287-40A8-883E-6E8D9C07BE15}"/>
              </a:ext>
            </a:extLst>
          </p:cNvPr>
          <p:cNvSpPr/>
          <p:nvPr/>
        </p:nvSpPr>
        <p:spPr>
          <a:xfrm>
            <a:off x="1215474" y="5664406"/>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Contactez nous au salon des réalités virtuelles 2050.</a:t>
            </a:r>
          </a:p>
        </p:txBody>
      </p:sp>
      <p:sp>
        <p:nvSpPr>
          <p:cNvPr id="59" name="Rectangle 58">
            <a:extLst>
              <a:ext uri="{FF2B5EF4-FFF2-40B4-BE49-F238E27FC236}">
                <a16:creationId xmlns:a16="http://schemas.microsoft.com/office/drawing/2014/main" id="{493F5127-C61B-4A69-84E6-7A2C20E84EB0}"/>
              </a:ext>
            </a:extLst>
          </p:cNvPr>
          <p:cNvSpPr/>
          <p:nvPr/>
        </p:nvSpPr>
        <p:spPr>
          <a:xfrm>
            <a:off x="5863849" y="2391314"/>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10 milliards : c’est le nombre d’humains actifs sur le </a:t>
            </a:r>
            <a:r>
              <a:rPr lang="fr-FR" sz="900" err="1">
                <a:solidFill>
                  <a:schemeClr val="tx1"/>
                </a:solidFill>
              </a:rPr>
              <a:t>Metaverse</a:t>
            </a:r>
            <a:endParaRPr lang="fr-FR" sz="900">
              <a:solidFill>
                <a:schemeClr val="tx1"/>
              </a:solidFill>
            </a:endParaRPr>
          </a:p>
        </p:txBody>
      </p:sp>
      <p:sp>
        <p:nvSpPr>
          <p:cNvPr id="61" name="Rectangle 60">
            <a:extLst>
              <a:ext uri="{FF2B5EF4-FFF2-40B4-BE49-F238E27FC236}">
                <a16:creationId xmlns:a16="http://schemas.microsoft.com/office/drawing/2014/main" id="{07CF12CB-46CB-4B3D-A4C9-8823A517AEBE}"/>
              </a:ext>
            </a:extLst>
          </p:cNvPr>
          <p:cNvSpPr/>
          <p:nvPr/>
        </p:nvSpPr>
        <p:spPr>
          <a:xfrm>
            <a:off x="5863849" y="2913463"/>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900">
                <a:solidFill>
                  <a:schemeClr val="tx1"/>
                </a:solidFill>
                <a:cs typeface="Calibri"/>
              </a:rPr>
              <a:t>Mais il est très difficile de savoir par où commencer, et la migration vers le </a:t>
            </a:r>
            <a:r>
              <a:rPr lang="fr-FR" sz="900" err="1">
                <a:solidFill>
                  <a:schemeClr val="tx1"/>
                </a:solidFill>
                <a:cs typeface="Calibri"/>
              </a:rPr>
              <a:t>Metaverse</a:t>
            </a:r>
            <a:r>
              <a:rPr lang="fr-FR" sz="900">
                <a:solidFill>
                  <a:schemeClr val="tx1"/>
                </a:solidFill>
                <a:cs typeface="Calibri"/>
              </a:rPr>
              <a:t> peut s’arrêter très vite.</a:t>
            </a:r>
          </a:p>
        </p:txBody>
      </p:sp>
      <p:sp>
        <p:nvSpPr>
          <p:cNvPr id="63" name="Rectangle 62">
            <a:extLst>
              <a:ext uri="{FF2B5EF4-FFF2-40B4-BE49-F238E27FC236}">
                <a16:creationId xmlns:a16="http://schemas.microsoft.com/office/drawing/2014/main" id="{A899F83B-E67E-4B00-A11A-9E201CE6B6A3}"/>
              </a:ext>
            </a:extLst>
          </p:cNvPr>
          <p:cNvSpPr/>
          <p:nvPr/>
        </p:nvSpPr>
        <p:spPr>
          <a:xfrm>
            <a:off x="5863849" y="3805031"/>
            <a:ext cx="3292506" cy="317603"/>
          </a:xfrm>
          <a:prstGeom prst="rect">
            <a:avLst/>
          </a:prstGeom>
          <a:solidFill>
            <a:schemeClr val="accent6">
              <a:lumMod val="40000"/>
              <a:lumOff val="60000"/>
            </a:schemeClr>
          </a:solidFill>
          <a:ln>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Et s’il existait une solution pour vous lancer massivement dans le </a:t>
            </a:r>
            <a:r>
              <a:rPr lang="fr-FR" sz="900" err="1">
                <a:solidFill>
                  <a:schemeClr val="tx1"/>
                </a:solidFill>
              </a:rPr>
              <a:t>Metaverse</a:t>
            </a:r>
            <a:r>
              <a:rPr lang="fr-FR" sz="900">
                <a:solidFill>
                  <a:schemeClr val="tx1"/>
                </a:solidFill>
              </a:rPr>
              <a:t> ?</a:t>
            </a:r>
          </a:p>
        </p:txBody>
      </p:sp>
      <p:sp>
        <p:nvSpPr>
          <p:cNvPr id="66" name="Rectangle 65">
            <a:extLst>
              <a:ext uri="{FF2B5EF4-FFF2-40B4-BE49-F238E27FC236}">
                <a16:creationId xmlns:a16="http://schemas.microsoft.com/office/drawing/2014/main" id="{1EEFC450-49C4-4ED6-B573-98CB2041EBEC}"/>
              </a:ext>
            </a:extLst>
          </p:cNvPr>
          <p:cNvSpPr/>
          <p:nvPr/>
        </p:nvSpPr>
        <p:spPr>
          <a:xfrm>
            <a:off x="5863849" y="4693908"/>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Nous sommes </a:t>
            </a:r>
            <a:r>
              <a:rPr lang="fr-FR" sz="900" err="1">
                <a:solidFill>
                  <a:schemeClr val="tx1"/>
                </a:solidFill>
              </a:rPr>
              <a:t>Metaverse</a:t>
            </a:r>
            <a:r>
              <a:rPr lang="fr-FR" sz="900">
                <a:solidFill>
                  <a:schemeClr val="tx1"/>
                </a:solidFill>
              </a:rPr>
              <a:t> Consulting</a:t>
            </a:r>
          </a:p>
        </p:txBody>
      </p:sp>
      <p:sp>
        <p:nvSpPr>
          <p:cNvPr id="67" name="Rectangle 66">
            <a:extLst>
              <a:ext uri="{FF2B5EF4-FFF2-40B4-BE49-F238E27FC236}">
                <a16:creationId xmlns:a16="http://schemas.microsoft.com/office/drawing/2014/main" id="{4E3E8C76-AA0A-433F-B0AC-0142893D6DFD}"/>
              </a:ext>
            </a:extLst>
          </p:cNvPr>
          <p:cNvSpPr/>
          <p:nvPr/>
        </p:nvSpPr>
        <p:spPr>
          <a:xfrm>
            <a:off x="5863849" y="5123621"/>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La première agence française à se dédier au </a:t>
            </a:r>
            <a:r>
              <a:rPr lang="fr-FR" sz="900" err="1">
                <a:solidFill>
                  <a:schemeClr val="tx1"/>
                </a:solidFill>
              </a:rPr>
              <a:t>Metaverse</a:t>
            </a:r>
            <a:endParaRPr lang="fr-FR" sz="900">
              <a:solidFill>
                <a:schemeClr val="tx1"/>
              </a:solidFill>
            </a:endParaRPr>
          </a:p>
        </p:txBody>
      </p:sp>
      <p:sp>
        <p:nvSpPr>
          <p:cNvPr id="68" name="Rectangle 67">
            <a:extLst>
              <a:ext uri="{FF2B5EF4-FFF2-40B4-BE49-F238E27FC236}">
                <a16:creationId xmlns:a16="http://schemas.microsoft.com/office/drawing/2014/main" id="{BE297EF2-DCE3-4507-AC7D-255ED1598A88}"/>
              </a:ext>
            </a:extLst>
          </p:cNvPr>
          <p:cNvSpPr/>
          <p:nvPr/>
        </p:nvSpPr>
        <p:spPr>
          <a:xfrm>
            <a:off x="5863849" y="5479909"/>
            <a:ext cx="3292506" cy="317603"/>
          </a:xfrm>
          <a:prstGeom prst="rect">
            <a:avLst/>
          </a:prstGeom>
          <a:solidFill>
            <a:schemeClr val="accent6">
              <a:lumMod val="40000"/>
              <a:lumOff val="60000"/>
            </a:schemeClr>
          </a:solidFill>
          <a:ln>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Nous avons accompli plus de 500 missions de transformation vers le </a:t>
            </a:r>
            <a:r>
              <a:rPr lang="fr-FR" sz="900" err="1">
                <a:solidFill>
                  <a:schemeClr val="tx1"/>
                </a:solidFill>
              </a:rPr>
              <a:t>Metaverse</a:t>
            </a:r>
            <a:endParaRPr lang="fr-FR" sz="900">
              <a:solidFill>
                <a:schemeClr val="tx1"/>
              </a:solidFill>
            </a:endParaRPr>
          </a:p>
        </p:txBody>
      </p:sp>
      <p:sp>
        <p:nvSpPr>
          <p:cNvPr id="71" name="Rectangle 70">
            <a:extLst>
              <a:ext uri="{FF2B5EF4-FFF2-40B4-BE49-F238E27FC236}">
                <a16:creationId xmlns:a16="http://schemas.microsoft.com/office/drawing/2014/main" id="{F07A3E11-9378-4214-A160-1BF36C36E928}"/>
              </a:ext>
            </a:extLst>
          </p:cNvPr>
          <p:cNvSpPr/>
          <p:nvPr/>
        </p:nvSpPr>
        <p:spPr>
          <a:xfrm>
            <a:off x="5863849" y="6442844"/>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Contactez nous au salon des réalités virtuelles 2050.</a:t>
            </a:r>
          </a:p>
        </p:txBody>
      </p:sp>
      <p:sp>
        <p:nvSpPr>
          <p:cNvPr id="72" name="Rectangle 71">
            <a:extLst>
              <a:ext uri="{FF2B5EF4-FFF2-40B4-BE49-F238E27FC236}">
                <a16:creationId xmlns:a16="http://schemas.microsoft.com/office/drawing/2014/main" id="{A715BB6E-2D14-4CAA-B396-2283A101BFBF}"/>
              </a:ext>
            </a:extLst>
          </p:cNvPr>
          <p:cNvSpPr/>
          <p:nvPr/>
        </p:nvSpPr>
        <p:spPr>
          <a:xfrm>
            <a:off x="5863849" y="3408758"/>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900">
                <a:solidFill>
                  <a:schemeClr val="tx1"/>
                </a:solidFill>
                <a:cs typeface="Calibri"/>
              </a:rPr>
              <a:t>La clé est de pouvoir y migrer sans avoir la sensation d’y migrer, de manière fluide, enthousiaste et cohérente.</a:t>
            </a:r>
            <a:endParaRPr lang="fr-FR">
              <a:solidFill>
                <a:schemeClr val="tx1"/>
              </a:solidFill>
            </a:endParaRPr>
          </a:p>
        </p:txBody>
      </p:sp>
      <p:sp>
        <p:nvSpPr>
          <p:cNvPr id="73" name="Rectangle 72">
            <a:extLst>
              <a:ext uri="{FF2B5EF4-FFF2-40B4-BE49-F238E27FC236}">
                <a16:creationId xmlns:a16="http://schemas.microsoft.com/office/drawing/2014/main" id="{D1D50BF8-8E7C-4085-A75F-E010B56FD512}"/>
              </a:ext>
            </a:extLst>
          </p:cNvPr>
          <p:cNvSpPr/>
          <p:nvPr/>
        </p:nvSpPr>
        <p:spPr>
          <a:xfrm>
            <a:off x="1215474" y="3838501"/>
            <a:ext cx="3292506" cy="3176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fr-FR" sz="900">
                <a:solidFill>
                  <a:schemeClr val="tx1"/>
                </a:solidFill>
                <a:cs typeface="Calibri"/>
              </a:rPr>
              <a:t>La clé est de pouvoir y migrer sans avoir la sensation d’y migrer, de manière fluide, enthousiaste et cohérente.</a:t>
            </a:r>
            <a:endParaRPr lang="fr-FR">
              <a:solidFill>
                <a:schemeClr val="tx1"/>
              </a:solidFill>
            </a:endParaRPr>
          </a:p>
        </p:txBody>
      </p:sp>
      <p:sp>
        <p:nvSpPr>
          <p:cNvPr id="74" name="Rectangle 73">
            <a:extLst>
              <a:ext uri="{FF2B5EF4-FFF2-40B4-BE49-F238E27FC236}">
                <a16:creationId xmlns:a16="http://schemas.microsoft.com/office/drawing/2014/main" id="{EA6F84B2-9560-453F-9234-FE68725F0158}"/>
              </a:ext>
            </a:extLst>
          </p:cNvPr>
          <p:cNvSpPr/>
          <p:nvPr/>
        </p:nvSpPr>
        <p:spPr>
          <a:xfrm>
            <a:off x="4380954" y="1148883"/>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900">
              <a:solidFill>
                <a:schemeClr val="tx1"/>
              </a:solidFill>
            </a:endParaRPr>
          </a:p>
        </p:txBody>
      </p:sp>
    </p:spTree>
    <p:extLst>
      <p:ext uri="{BB962C8B-B14F-4D97-AF65-F5344CB8AC3E}">
        <p14:creationId xmlns:p14="http://schemas.microsoft.com/office/powerpoint/2010/main" val="2233051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a:xfrm>
            <a:off x="836722" y="285226"/>
            <a:ext cx="10515600" cy="1325563"/>
          </a:xfrm>
        </p:spPr>
        <p:txBody>
          <a:bodyPr>
            <a:normAutofit/>
          </a:bodyPr>
          <a:lstStyle/>
          <a:p>
            <a:r>
              <a:rPr lang="fr-FR" sz="4000" dirty="0">
                <a:ea typeface="+mj-lt"/>
                <a:cs typeface="+mj-lt"/>
              </a:rPr>
              <a:t>ATELIER LE PITCH DU MEMBRE 2050</a:t>
            </a:r>
            <a:br>
              <a:rPr lang="fr-FR" sz="4000" dirty="0">
                <a:ea typeface="+mj-lt"/>
                <a:cs typeface="+mj-lt"/>
              </a:rPr>
            </a:br>
            <a:r>
              <a:rPr lang="fr-FR" sz="4000" dirty="0">
                <a:ea typeface="+mj-lt"/>
                <a:cs typeface="+mj-lt"/>
              </a:rPr>
              <a:t>Exemple de structures de pitch</a:t>
            </a:r>
          </a:p>
        </p:txBody>
      </p:sp>
      <p:sp>
        <p:nvSpPr>
          <p:cNvPr id="3" name="Rectangle 2">
            <a:extLst>
              <a:ext uri="{FF2B5EF4-FFF2-40B4-BE49-F238E27FC236}">
                <a16:creationId xmlns:a16="http://schemas.microsoft.com/office/drawing/2014/main" id="{751ADE80-1815-41A9-81D1-FF8FFF0F3515}"/>
              </a:ext>
            </a:extLst>
          </p:cNvPr>
          <p:cNvSpPr/>
          <p:nvPr/>
        </p:nvSpPr>
        <p:spPr>
          <a:xfrm>
            <a:off x="210389" y="266706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Phrase d’accroche</a:t>
            </a:r>
          </a:p>
        </p:txBody>
      </p:sp>
      <p:sp>
        <p:nvSpPr>
          <p:cNvPr id="4" name="Rectangle 3">
            <a:extLst>
              <a:ext uri="{FF2B5EF4-FFF2-40B4-BE49-F238E27FC236}">
                <a16:creationId xmlns:a16="http://schemas.microsoft.com/office/drawing/2014/main" id="{9B342ED7-52D8-4667-BBCF-3804BF96CA15}"/>
              </a:ext>
            </a:extLst>
          </p:cNvPr>
          <p:cNvSpPr/>
          <p:nvPr/>
        </p:nvSpPr>
        <p:spPr>
          <a:xfrm>
            <a:off x="203729" y="3236520"/>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problème</a:t>
            </a:r>
          </a:p>
        </p:txBody>
      </p:sp>
      <p:sp>
        <p:nvSpPr>
          <p:cNvPr id="5" name="Rectangle 4">
            <a:extLst>
              <a:ext uri="{FF2B5EF4-FFF2-40B4-BE49-F238E27FC236}">
                <a16:creationId xmlns:a16="http://schemas.microsoft.com/office/drawing/2014/main" id="{2E617AB2-5221-42A5-BBA8-FDC35CAB107E}"/>
              </a:ext>
            </a:extLst>
          </p:cNvPr>
          <p:cNvSpPr/>
          <p:nvPr/>
        </p:nvSpPr>
        <p:spPr>
          <a:xfrm>
            <a:off x="203729" y="4450345"/>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Identité</a:t>
            </a:r>
          </a:p>
        </p:txBody>
      </p:sp>
      <p:sp>
        <p:nvSpPr>
          <p:cNvPr id="6" name="Rectangle 5">
            <a:extLst>
              <a:ext uri="{FF2B5EF4-FFF2-40B4-BE49-F238E27FC236}">
                <a16:creationId xmlns:a16="http://schemas.microsoft.com/office/drawing/2014/main" id="{6A9EA706-DB7D-4BE2-988C-FC1F3DB21C19}"/>
              </a:ext>
            </a:extLst>
          </p:cNvPr>
          <p:cNvSpPr/>
          <p:nvPr/>
        </p:nvSpPr>
        <p:spPr>
          <a:xfrm>
            <a:off x="203729" y="4986076"/>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de soi</a:t>
            </a:r>
          </a:p>
        </p:txBody>
      </p:sp>
      <p:sp>
        <p:nvSpPr>
          <p:cNvPr id="7" name="Rectangle 6">
            <a:extLst>
              <a:ext uri="{FF2B5EF4-FFF2-40B4-BE49-F238E27FC236}">
                <a16:creationId xmlns:a16="http://schemas.microsoft.com/office/drawing/2014/main" id="{3DED00DA-F1A7-4948-AE19-50F561A09299}"/>
              </a:ext>
            </a:extLst>
          </p:cNvPr>
          <p:cNvSpPr/>
          <p:nvPr/>
        </p:nvSpPr>
        <p:spPr>
          <a:xfrm>
            <a:off x="203729" y="5651481"/>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Invitation à l’action</a:t>
            </a:r>
          </a:p>
        </p:txBody>
      </p:sp>
      <p:sp>
        <p:nvSpPr>
          <p:cNvPr id="8" name="Rectangle 7">
            <a:extLst>
              <a:ext uri="{FF2B5EF4-FFF2-40B4-BE49-F238E27FC236}">
                <a16:creationId xmlns:a16="http://schemas.microsoft.com/office/drawing/2014/main" id="{88438E8E-6974-4614-8863-16D0E941D6AD}"/>
              </a:ext>
            </a:extLst>
          </p:cNvPr>
          <p:cNvSpPr/>
          <p:nvPr/>
        </p:nvSpPr>
        <p:spPr>
          <a:xfrm>
            <a:off x="203729" y="3838502"/>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idéal</a:t>
            </a:r>
          </a:p>
        </p:txBody>
      </p:sp>
      <p:sp>
        <p:nvSpPr>
          <p:cNvPr id="9" name="Rectangle 8">
            <a:extLst>
              <a:ext uri="{FF2B5EF4-FFF2-40B4-BE49-F238E27FC236}">
                <a16:creationId xmlns:a16="http://schemas.microsoft.com/office/drawing/2014/main" id="{B6F5FDBE-EF2C-474C-8C61-508133A3239F}"/>
              </a:ext>
            </a:extLst>
          </p:cNvPr>
          <p:cNvSpPr/>
          <p:nvPr/>
        </p:nvSpPr>
        <p:spPr>
          <a:xfrm>
            <a:off x="3979766" y="1985961"/>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Phrase d’accroche</a:t>
            </a:r>
          </a:p>
        </p:txBody>
      </p:sp>
      <p:sp>
        <p:nvSpPr>
          <p:cNvPr id="10" name="Rectangle 9">
            <a:extLst>
              <a:ext uri="{FF2B5EF4-FFF2-40B4-BE49-F238E27FC236}">
                <a16:creationId xmlns:a16="http://schemas.microsoft.com/office/drawing/2014/main" id="{BB839409-807C-427D-94EA-86CF02FA4C40}"/>
              </a:ext>
            </a:extLst>
          </p:cNvPr>
          <p:cNvSpPr/>
          <p:nvPr/>
        </p:nvSpPr>
        <p:spPr>
          <a:xfrm>
            <a:off x="3979766" y="2500261"/>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problème</a:t>
            </a:r>
          </a:p>
        </p:txBody>
      </p:sp>
      <p:sp>
        <p:nvSpPr>
          <p:cNvPr id="11" name="Rectangle 10">
            <a:extLst>
              <a:ext uri="{FF2B5EF4-FFF2-40B4-BE49-F238E27FC236}">
                <a16:creationId xmlns:a16="http://schemas.microsoft.com/office/drawing/2014/main" id="{E9425284-3908-4067-9D86-F6C0DAEB3634}"/>
              </a:ext>
            </a:extLst>
          </p:cNvPr>
          <p:cNvSpPr/>
          <p:nvPr/>
        </p:nvSpPr>
        <p:spPr>
          <a:xfrm>
            <a:off x="3979766" y="2982070"/>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idéal</a:t>
            </a:r>
          </a:p>
        </p:txBody>
      </p:sp>
      <p:sp>
        <p:nvSpPr>
          <p:cNvPr id="12" name="Rectangle 11">
            <a:extLst>
              <a:ext uri="{FF2B5EF4-FFF2-40B4-BE49-F238E27FC236}">
                <a16:creationId xmlns:a16="http://schemas.microsoft.com/office/drawing/2014/main" id="{3442CEC9-ABF8-48CD-9E1D-A3B1E388DA83}"/>
              </a:ext>
            </a:extLst>
          </p:cNvPr>
          <p:cNvSpPr/>
          <p:nvPr/>
        </p:nvSpPr>
        <p:spPr>
          <a:xfrm>
            <a:off x="3979766" y="3382707"/>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Emphase de l’idéal</a:t>
            </a:r>
          </a:p>
        </p:txBody>
      </p:sp>
      <p:sp>
        <p:nvSpPr>
          <p:cNvPr id="13" name="Rectangle 12">
            <a:extLst>
              <a:ext uri="{FF2B5EF4-FFF2-40B4-BE49-F238E27FC236}">
                <a16:creationId xmlns:a16="http://schemas.microsoft.com/office/drawing/2014/main" id="{08BE590E-B850-4D0D-B420-04D72D8EFDFB}"/>
              </a:ext>
            </a:extLst>
          </p:cNvPr>
          <p:cNvSpPr/>
          <p:nvPr/>
        </p:nvSpPr>
        <p:spPr>
          <a:xfrm>
            <a:off x="3979766" y="427548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Identité</a:t>
            </a:r>
          </a:p>
        </p:txBody>
      </p:sp>
      <p:sp>
        <p:nvSpPr>
          <p:cNvPr id="14" name="Rectangle 13">
            <a:extLst>
              <a:ext uri="{FF2B5EF4-FFF2-40B4-BE49-F238E27FC236}">
                <a16:creationId xmlns:a16="http://schemas.microsoft.com/office/drawing/2014/main" id="{195572AD-60A1-43FF-B725-C53B3D935A8F}"/>
              </a:ext>
            </a:extLst>
          </p:cNvPr>
          <p:cNvSpPr/>
          <p:nvPr/>
        </p:nvSpPr>
        <p:spPr>
          <a:xfrm>
            <a:off x="3979766" y="4717986"/>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de soi</a:t>
            </a:r>
          </a:p>
        </p:txBody>
      </p:sp>
      <p:sp>
        <p:nvSpPr>
          <p:cNvPr id="15" name="Rectangle 14">
            <a:extLst>
              <a:ext uri="{FF2B5EF4-FFF2-40B4-BE49-F238E27FC236}">
                <a16:creationId xmlns:a16="http://schemas.microsoft.com/office/drawing/2014/main" id="{D80123EF-2C33-4060-89BE-949CE8307870}"/>
              </a:ext>
            </a:extLst>
          </p:cNvPr>
          <p:cNvSpPr/>
          <p:nvPr/>
        </p:nvSpPr>
        <p:spPr>
          <a:xfrm>
            <a:off x="3979766" y="5074557"/>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Facteur de crédibilité 1</a:t>
            </a:r>
          </a:p>
        </p:txBody>
      </p:sp>
      <p:sp>
        <p:nvSpPr>
          <p:cNvPr id="16" name="Rectangle 15">
            <a:extLst>
              <a:ext uri="{FF2B5EF4-FFF2-40B4-BE49-F238E27FC236}">
                <a16:creationId xmlns:a16="http://schemas.microsoft.com/office/drawing/2014/main" id="{6343A20D-B361-4062-A25C-6E24517F31AA}"/>
              </a:ext>
            </a:extLst>
          </p:cNvPr>
          <p:cNvSpPr/>
          <p:nvPr/>
        </p:nvSpPr>
        <p:spPr>
          <a:xfrm>
            <a:off x="3979766" y="6037492"/>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Invitation à l’action</a:t>
            </a:r>
          </a:p>
        </p:txBody>
      </p:sp>
      <p:sp>
        <p:nvSpPr>
          <p:cNvPr id="17" name="Rectangle 16">
            <a:extLst>
              <a:ext uri="{FF2B5EF4-FFF2-40B4-BE49-F238E27FC236}">
                <a16:creationId xmlns:a16="http://schemas.microsoft.com/office/drawing/2014/main" id="{25F3E1F1-0BE7-43A9-864B-759CF93BB5C3}"/>
              </a:ext>
            </a:extLst>
          </p:cNvPr>
          <p:cNvSpPr/>
          <p:nvPr/>
        </p:nvSpPr>
        <p:spPr>
          <a:xfrm>
            <a:off x="7515531" y="1827159"/>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Phrase d’accroche</a:t>
            </a:r>
          </a:p>
        </p:txBody>
      </p:sp>
      <p:sp>
        <p:nvSpPr>
          <p:cNvPr id="18" name="Rectangle 17">
            <a:extLst>
              <a:ext uri="{FF2B5EF4-FFF2-40B4-BE49-F238E27FC236}">
                <a16:creationId xmlns:a16="http://schemas.microsoft.com/office/drawing/2014/main" id="{C8B3E826-0B9A-4860-882E-BADBF985B9B3}"/>
              </a:ext>
            </a:extLst>
          </p:cNvPr>
          <p:cNvSpPr/>
          <p:nvPr/>
        </p:nvSpPr>
        <p:spPr>
          <a:xfrm>
            <a:off x="7515531" y="2180406"/>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Généralité</a:t>
            </a:r>
          </a:p>
        </p:txBody>
      </p:sp>
      <p:sp>
        <p:nvSpPr>
          <p:cNvPr id="19" name="Rectangle 18">
            <a:extLst>
              <a:ext uri="{FF2B5EF4-FFF2-40B4-BE49-F238E27FC236}">
                <a16:creationId xmlns:a16="http://schemas.microsoft.com/office/drawing/2014/main" id="{306FDB92-33FB-4839-B708-5D169E82013C}"/>
              </a:ext>
            </a:extLst>
          </p:cNvPr>
          <p:cNvSpPr/>
          <p:nvPr/>
        </p:nvSpPr>
        <p:spPr>
          <a:xfrm>
            <a:off x="7515531" y="2560831"/>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problème</a:t>
            </a:r>
          </a:p>
        </p:txBody>
      </p:sp>
      <p:sp>
        <p:nvSpPr>
          <p:cNvPr id="20" name="Rectangle 19">
            <a:extLst>
              <a:ext uri="{FF2B5EF4-FFF2-40B4-BE49-F238E27FC236}">
                <a16:creationId xmlns:a16="http://schemas.microsoft.com/office/drawing/2014/main" id="{60F76393-6916-4B15-9567-83AE21D54D1E}"/>
              </a:ext>
            </a:extLst>
          </p:cNvPr>
          <p:cNvSpPr/>
          <p:nvPr/>
        </p:nvSpPr>
        <p:spPr>
          <a:xfrm>
            <a:off x="7515531" y="2927792"/>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d’un idéal</a:t>
            </a:r>
          </a:p>
        </p:txBody>
      </p:sp>
      <p:sp>
        <p:nvSpPr>
          <p:cNvPr id="21" name="Rectangle 20">
            <a:extLst>
              <a:ext uri="{FF2B5EF4-FFF2-40B4-BE49-F238E27FC236}">
                <a16:creationId xmlns:a16="http://schemas.microsoft.com/office/drawing/2014/main" id="{340C618F-54DD-4FA8-A71D-BD352AE02293}"/>
              </a:ext>
            </a:extLst>
          </p:cNvPr>
          <p:cNvSpPr/>
          <p:nvPr/>
        </p:nvSpPr>
        <p:spPr>
          <a:xfrm>
            <a:off x="7515531" y="330821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Emphase de l’idéal</a:t>
            </a:r>
          </a:p>
        </p:txBody>
      </p:sp>
      <p:sp>
        <p:nvSpPr>
          <p:cNvPr id="22" name="Rectangle 21">
            <a:extLst>
              <a:ext uri="{FF2B5EF4-FFF2-40B4-BE49-F238E27FC236}">
                <a16:creationId xmlns:a16="http://schemas.microsoft.com/office/drawing/2014/main" id="{A575EB7F-35DA-47E5-9382-8579CC8716FC}"/>
              </a:ext>
            </a:extLst>
          </p:cNvPr>
          <p:cNvSpPr/>
          <p:nvPr/>
        </p:nvSpPr>
        <p:spPr>
          <a:xfrm>
            <a:off x="7515531" y="3688641"/>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Limites des solutions existantes</a:t>
            </a:r>
          </a:p>
        </p:txBody>
      </p:sp>
      <p:sp>
        <p:nvSpPr>
          <p:cNvPr id="23" name="Rectangle 22">
            <a:extLst>
              <a:ext uri="{FF2B5EF4-FFF2-40B4-BE49-F238E27FC236}">
                <a16:creationId xmlns:a16="http://schemas.microsoft.com/office/drawing/2014/main" id="{4AC93F9A-B6DA-485A-8364-614F89D89D41}"/>
              </a:ext>
            </a:extLst>
          </p:cNvPr>
          <p:cNvSpPr/>
          <p:nvPr/>
        </p:nvSpPr>
        <p:spPr>
          <a:xfrm>
            <a:off x="7515531" y="4055603"/>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Histoire</a:t>
            </a:r>
          </a:p>
        </p:txBody>
      </p:sp>
      <p:sp>
        <p:nvSpPr>
          <p:cNvPr id="24" name="Rectangle 23">
            <a:extLst>
              <a:ext uri="{FF2B5EF4-FFF2-40B4-BE49-F238E27FC236}">
                <a16:creationId xmlns:a16="http://schemas.microsoft.com/office/drawing/2014/main" id="{B8F008F5-1DE3-4564-B1D3-EB9E08A6012D}"/>
              </a:ext>
            </a:extLst>
          </p:cNvPr>
          <p:cNvSpPr/>
          <p:nvPr/>
        </p:nvSpPr>
        <p:spPr>
          <a:xfrm>
            <a:off x="7515531" y="443602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Identité</a:t>
            </a:r>
          </a:p>
        </p:txBody>
      </p:sp>
      <p:sp>
        <p:nvSpPr>
          <p:cNvPr id="25" name="Rectangle 24">
            <a:extLst>
              <a:ext uri="{FF2B5EF4-FFF2-40B4-BE49-F238E27FC236}">
                <a16:creationId xmlns:a16="http://schemas.microsoft.com/office/drawing/2014/main" id="{884DD074-97C6-4AF3-B1E3-182725A5BE5B}"/>
              </a:ext>
            </a:extLst>
          </p:cNvPr>
          <p:cNvSpPr/>
          <p:nvPr/>
        </p:nvSpPr>
        <p:spPr>
          <a:xfrm>
            <a:off x="7515531" y="4816452"/>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Mise en avant de soi</a:t>
            </a:r>
          </a:p>
        </p:txBody>
      </p:sp>
      <p:sp>
        <p:nvSpPr>
          <p:cNvPr id="26" name="Rectangle 25">
            <a:extLst>
              <a:ext uri="{FF2B5EF4-FFF2-40B4-BE49-F238E27FC236}">
                <a16:creationId xmlns:a16="http://schemas.microsoft.com/office/drawing/2014/main" id="{B754DA26-0FB0-4670-819A-976803B24BA8}"/>
              </a:ext>
            </a:extLst>
          </p:cNvPr>
          <p:cNvSpPr/>
          <p:nvPr/>
        </p:nvSpPr>
        <p:spPr>
          <a:xfrm>
            <a:off x="7515531" y="5196877"/>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Facteur de crédibilité 1</a:t>
            </a:r>
          </a:p>
        </p:txBody>
      </p:sp>
      <p:sp>
        <p:nvSpPr>
          <p:cNvPr id="27" name="Rectangle 26">
            <a:extLst>
              <a:ext uri="{FF2B5EF4-FFF2-40B4-BE49-F238E27FC236}">
                <a16:creationId xmlns:a16="http://schemas.microsoft.com/office/drawing/2014/main" id="{3BCFA146-F895-40F7-A01F-E6C5A6869A05}"/>
              </a:ext>
            </a:extLst>
          </p:cNvPr>
          <p:cNvSpPr/>
          <p:nvPr/>
        </p:nvSpPr>
        <p:spPr>
          <a:xfrm>
            <a:off x="7515531" y="5577301"/>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Facteur de crédibilité 2</a:t>
            </a:r>
          </a:p>
        </p:txBody>
      </p:sp>
      <p:sp>
        <p:nvSpPr>
          <p:cNvPr id="28" name="Rectangle 27">
            <a:extLst>
              <a:ext uri="{FF2B5EF4-FFF2-40B4-BE49-F238E27FC236}">
                <a16:creationId xmlns:a16="http://schemas.microsoft.com/office/drawing/2014/main" id="{2AAEE341-A1C3-470C-9F72-DC98B8BE1245}"/>
              </a:ext>
            </a:extLst>
          </p:cNvPr>
          <p:cNvSpPr/>
          <p:nvPr/>
        </p:nvSpPr>
        <p:spPr>
          <a:xfrm>
            <a:off x="7515531" y="5936937"/>
            <a:ext cx="932156" cy="317603"/>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Rappel de l’identité</a:t>
            </a:r>
          </a:p>
        </p:txBody>
      </p:sp>
      <p:sp>
        <p:nvSpPr>
          <p:cNvPr id="29" name="Rectangle 28">
            <a:extLst>
              <a:ext uri="{FF2B5EF4-FFF2-40B4-BE49-F238E27FC236}">
                <a16:creationId xmlns:a16="http://schemas.microsoft.com/office/drawing/2014/main" id="{FBC18956-F2F0-4EB0-A26C-D69C6D272074}"/>
              </a:ext>
            </a:extLst>
          </p:cNvPr>
          <p:cNvSpPr/>
          <p:nvPr/>
        </p:nvSpPr>
        <p:spPr>
          <a:xfrm>
            <a:off x="7515531" y="6275329"/>
            <a:ext cx="932156" cy="31760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fr-FR" sz="900">
                <a:solidFill>
                  <a:schemeClr val="tx1"/>
                </a:solidFill>
              </a:rPr>
              <a:t>Invitation à l’action</a:t>
            </a:r>
          </a:p>
        </p:txBody>
      </p:sp>
    </p:spTree>
    <p:extLst>
      <p:ext uri="{BB962C8B-B14F-4D97-AF65-F5344CB8AC3E}">
        <p14:creationId xmlns:p14="http://schemas.microsoft.com/office/powerpoint/2010/main" val="765093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a:t>Atelier Pitch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a:lstStyle/>
          <a:p>
            <a:r>
              <a:rPr lang="fr-FR" dirty="0"/>
              <a:t>Feuilles d’instructions * 5 (à consulter en binôme)</a:t>
            </a:r>
          </a:p>
          <a:p>
            <a:r>
              <a:rPr lang="fr-FR" dirty="0"/>
              <a:t>Post-</a:t>
            </a:r>
            <a:r>
              <a:rPr lang="fr-FR" dirty="0" err="1"/>
              <a:t>its</a:t>
            </a:r>
            <a:r>
              <a:rPr lang="fr-FR" dirty="0"/>
              <a:t> moyens – Assez pour 3 groupes (6 paquets)</a:t>
            </a:r>
          </a:p>
          <a:p>
            <a:r>
              <a:rPr lang="fr-FR" dirty="0"/>
              <a:t>Feutres noirs</a:t>
            </a:r>
          </a:p>
        </p:txBody>
      </p:sp>
    </p:spTree>
    <p:extLst>
      <p:ext uri="{BB962C8B-B14F-4D97-AF65-F5344CB8AC3E}">
        <p14:creationId xmlns:p14="http://schemas.microsoft.com/office/powerpoint/2010/main" val="2936719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dirty="0">
                <a:cs typeface="Calibri Light"/>
              </a:rPr>
              <a:t>ATELIER : HISTOIRE D’INTEGRATION</a:t>
            </a:r>
            <a:endParaRPr lang="en-US" sz="4000" dirty="0"/>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616986543"/>
              </p:ext>
            </p:extLst>
          </p:nvPr>
        </p:nvGraphicFramePr>
        <p:xfrm>
          <a:off x="525262" y="1305017"/>
          <a:ext cx="11141476" cy="5408868"/>
        </p:xfrm>
        <a:graphic>
          <a:graphicData uri="http://schemas.openxmlformats.org/drawingml/2006/table">
            <a:tbl>
              <a:tblPr bandRow="1">
                <a:tableStyleId>{5C22544A-7EE6-4342-B048-85BDC9FD1C3A}</a:tableStyleId>
              </a:tblPr>
              <a:tblGrid>
                <a:gridCol w="1856913">
                  <a:extLst>
                    <a:ext uri="{9D8B030D-6E8A-4147-A177-3AD203B41FA5}">
                      <a16:colId xmlns:a16="http://schemas.microsoft.com/office/drawing/2014/main" val="416040190"/>
                    </a:ext>
                  </a:extLst>
                </a:gridCol>
                <a:gridCol w="1856913">
                  <a:extLst>
                    <a:ext uri="{9D8B030D-6E8A-4147-A177-3AD203B41FA5}">
                      <a16:colId xmlns:a16="http://schemas.microsoft.com/office/drawing/2014/main" val="2019038073"/>
                    </a:ext>
                  </a:extLst>
                </a:gridCol>
                <a:gridCol w="1856913">
                  <a:extLst>
                    <a:ext uri="{9D8B030D-6E8A-4147-A177-3AD203B41FA5}">
                      <a16:colId xmlns:a16="http://schemas.microsoft.com/office/drawing/2014/main" val="102799537"/>
                    </a:ext>
                  </a:extLst>
                </a:gridCol>
                <a:gridCol w="5570737">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r>
                        <a:rPr lang="fr-FR" sz="1400" b="0" i="0" u="none" strike="noStrike" noProof="0" dirty="0">
                          <a:latin typeface="Calibri"/>
                        </a:rPr>
                        <a:t>Vous allez tourner un film à propos de plusieurs histoires clés et marquantes dans le « recrutement » dans la communauté. </a:t>
                      </a:r>
                    </a:p>
                    <a:p>
                      <a:pPr lvl="0">
                        <a:buNone/>
                      </a:pPr>
                      <a:endParaRPr lang="fr-FR" sz="1400" b="0" i="0" u="none" strike="noStrike" noProof="0" dirty="0">
                        <a:latin typeface="Calibri"/>
                      </a:endParaRPr>
                    </a:p>
                    <a:p>
                      <a:pPr lvl="0">
                        <a:buNone/>
                      </a:pPr>
                      <a:r>
                        <a:rPr lang="fr-FR" sz="1400" b="0" i="0" u="none" strike="noStrike" noProof="0" dirty="0">
                          <a:latin typeface="Calibri"/>
                        </a:rPr>
                        <a:t>Vous avez été nommés scénaristes et metteurs en scène pour raconter et décrire des vécus à propos de l’intégration des membres.</a:t>
                      </a:r>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 :</a:t>
                      </a:r>
                    </a:p>
                    <a:p>
                      <a:r>
                        <a:rPr lang="fr-FR" sz="1400" b="0" noProof="0"/>
                        <a:t>Storyboard de cinéma</a:t>
                      </a:r>
                    </a:p>
                  </a:txBody>
                  <a:tcPr/>
                </a:tc>
                <a:extLst>
                  <a:ext uri="{0D108BD9-81ED-4DB2-BD59-A6C34878D82A}">
                    <a16:rowId xmlns:a16="http://schemas.microsoft.com/office/drawing/2014/main" val="3856860579"/>
                  </a:ext>
                </a:extLst>
              </a:tr>
              <a:tr h="1698594">
                <a:tc gridSpan="3">
                  <a:txBody>
                    <a:bodyPr/>
                    <a:lstStyle/>
                    <a:p>
                      <a:r>
                        <a:rPr lang="fr-FR" sz="1400" b="1" noProof="0" dirty="0"/>
                        <a:t>Instructions :</a:t>
                      </a:r>
                      <a:r>
                        <a:rPr lang="fr-FR" sz="1400" noProof="0" dirty="0"/>
                        <a:t> Réalisez vos storyboards pour préparer l'équipe de tournage.</a:t>
                      </a:r>
                    </a:p>
                    <a:p>
                      <a:pPr lvl="0">
                        <a:buNone/>
                      </a:pPr>
                      <a:r>
                        <a:rPr lang="fr-FR" sz="1400" noProof="0" dirty="0"/>
                        <a:t>Chaque groupe devra finir sa propre histoire, en créant au moins 6 cases qui racontent les moments clés des histoires ci-dessous. </a:t>
                      </a:r>
                    </a:p>
                    <a:p>
                      <a:pPr lvl="0">
                        <a:buNone/>
                      </a:pPr>
                      <a:r>
                        <a:rPr lang="fr-FR" sz="1400" noProof="0" dirty="0"/>
                        <a:t>Les histoires peuvent être dépendantes ou non les unes des autres.</a:t>
                      </a:r>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dirty="0"/>
                        <a:t>A atteindre pour le Tour 1 </a:t>
                      </a:r>
                      <a:r>
                        <a:rPr lang="fr-FR" sz="1400" noProof="0" dirty="0"/>
                        <a:t>:</a:t>
                      </a:r>
                    </a:p>
                    <a:p>
                      <a:r>
                        <a:rPr lang="fr-FR" sz="1400" noProof="0" dirty="0"/>
                        <a:t>Histoire de Junior, un membre qui a intégré la communauté en 2049. </a:t>
                      </a:r>
                    </a:p>
                    <a:p>
                      <a:endParaRPr lang="fr-FR" sz="1400" noProof="0" dirty="0"/>
                    </a:p>
                  </a:txBody>
                  <a:tcPr/>
                </a:tc>
                <a:tc>
                  <a:txBody>
                    <a:bodyPr/>
                    <a:lstStyle/>
                    <a:p>
                      <a:r>
                        <a:rPr lang="fr-FR" sz="1400" b="1" noProof="0" dirty="0"/>
                        <a:t>A atteindre pour le Tour 2 </a:t>
                      </a:r>
                      <a:r>
                        <a:rPr lang="fr-FR" sz="1400" noProof="0" dirty="0"/>
                        <a:t>:</a:t>
                      </a:r>
                    </a:p>
                    <a:p>
                      <a:r>
                        <a:rPr lang="fr-FR" sz="1400" noProof="0" dirty="0"/>
                        <a:t>Histoire de </a:t>
                      </a:r>
                      <a:r>
                        <a:rPr lang="fr-FR" sz="1400" noProof="0" dirty="0" err="1"/>
                        <a:t>Seniorita</a:t>
                      </a:r>
                      <a:r>
                        <a:rPr lang="fr-FR" sz="1400" noProof="0" dirty="0"/>
                        <a:t>, une membre expérimentée (depuis 5 ans) qui a aidé à intégrer des nouveaux membres dans la communauté</a:t>
                      </a:r>
                    </a:p>
                  </a:txBody>
                  <a:tcPr/>
                </a:tc>
                <a:tc>
                  <a:txBody>
                    <a:bodyPr/>
                    <a:lstStyle/>
                    <a:p>
                      <a:r>
                        <a:rPr lang="fr-FR" sz="1400" b="1" noProof="0" dirty="0"/>
                        <a:t>A atteindre pour le Tour 3 </a:t>
                      </a:r>
                      <a:r>
                        <a:rPr lang="fr-FR" sz="1400" noProof="0" dirty="0"/>
                        <a:t>:</a:t>
                      </a:r>
                    </a:p>
                    <a:p>
                      <a:r>
                        <a:rPr lang="fr-FR" sz="1400" noProof="0" dirty="0"/>
                        <a:t>Histoires  de l’équipe </a:t>
                      </a:r>
                      <a:r>
                        <a:rPr lang="fr-FR" sz="1400" noProof="0" dirty="0" err="1"/>
                        <a:t>Recrutor</a:t>
                      </a:r>
                      <a:r>
                        <a:rPr lang="fr-FR" sz="1400" noProof="0" dirty="0"/>
                        <a:t>, une équipe clé dans l’</a:t>
                      </a:r>
                      <a:r>
                        <a:rPr lang="fr-FR" sz="1400" noProof="0" dirty="0" err="1"/>
                        <a:t>onboarding</a:t>
                      </a:r>
                      <a:r>
                        <a:rPr lang="fr-FR" sz="1400" noProof="0" dirty="0"/>
                        <a:t> dans la communauté, dont on découvrira visions et méthodes.</a:t>
                      </a:r>
                    </a:p>
                  </a:txBody>
                  <a:tcPr/>
                </a:tc>
                <a:tc>
                  <a:txBody>
                    <a:bodyPr/>
                    <a:lstStyle/>
                    <a:p>
                      <a:pPr lvl="0">
                        <a:buNone/>
                      </a:pPr>
                      <a:r>
                        <a:rPr lang="fr-FR" sz="1400" b="1" i="0" u="none" strike="noStrike" noProof="0" dirty="0">
                          <a:latin typeface="Calibri"/>
                        </a:rPr>
                        <a:t>Conseils : </a:t>
                      </a:r>
                    </a:p>
                    <a:p>
                      <a:pPr lvl="0">
                        <a:buNone/>
                      </a:pPr>
                      <a:r>
                        <a:rPr lang="fr-FR" sz="1400" b="0" i="0" u="none" strike="noStrike" noProof="0" dirty="0">
                          <a:latin typeface="Calibri"/>
                        </a:rPr>
                        <a:t>- Trouvez 6 étapes dans votre histoire</a:t>
                      </a:r>
                    </a:p>
                    <a:p>
                      <a:pPr lvl="0">
                        <a:buNone/>
                      </a:pPr>
                      <a:r>
                        <a:rPr lang="fr-FR" sz="1400" b="0" i="0" u="none" strike="noStrike" noProof="0" dirty="0">
                          <a:latin typeface="Calibri"/>
                        </a:rPr>
                        <a:t>- Ecrivez le texte de chaque case avant de faire les dessins correspondants</a:t>
                      </a:r>
                      <a:endParaRPr lang="fr-FR" dirty="0"/>
                    </a:p>
                    <a:p>
                      <a:pPr lvl="0">
                        <a:buNone/>
                      </a:pPr>
                      <a:r>
                        <a:rPr lang="fr-FR" sz="1400" b="0" i="0" u="none" strike="noStrike" noProof="0" dirty="0">
                          <a:latin typeface="Calibri"/>
                        </a:rPr>
                        <a:t>- Les dessins ne doivent pas forcément être aboutis, ils servent surtout à la compréhension du texte par le biais d'une rapide mise en scène. </a:t>
                      </a:r>
                    </a:p>
                  </a:txBody>
                  <a:tcPr/>
                </a:tc>
                <a:extLst>
                  <a:ext uri="{0D108BD9-81ED-4DB2-BD59-A6C34878D82A}">
                    <a16:rowId xmlns:a16="http://schemas.microsoft.com/office/drawing/2014/main" val="2818071240"/>
                  </a:ext>
                </a:extLst>
              </a:tr>
            </a:tbl>
          </a:graphicData>
        </a:graphic>
      </p:graphicFrame>
      <p:pic>
        <p:nvPicPr>
          <p:cNvPr id="5" name="Image 49">
            <a:extLst>
              <a:ext uri="{FF2B5EF4-FFF2-40B4-BE49-F238E27FC236}">
                <a16:creationId xmlns:a16="http://schemas.microsoft.com/office/drawing/2014/main" id="{34ACA127-33AB-4DF7-AB58-77F99C785F4C}"/>
              </a:ext>
            </a:extLst>
          </p:cNvPr>
          <p:cNvPicPr>
            <a:picLocks noChangeAspect="1"/>
          </p:cNvPicPr>
          <p:nvPr/>
        </p:nvPicPr>
        <p:blipFill rotWithShape="1">
          <a:blip r:embed="rId2"/>
          <a:srcRect t="7693" b="31082"/>
          <a:stretch/>
        </p:blipFill>
        <p:spPr>
          <a:xfrm>
            <a:off x="6175341" y="1848236"/>
            <a:ext cx="5418101" cy="2572843"/>
          </a:xfrm>
          <a:prstGeom prst="rect">
            <a:avLst/>
          </a:prstGeom>
        </p:spPr>
      </p:pic>
    </p:spTree>
    <p:extLst>
      <p:ext uri="{BB962C8B-B14F-4D97-AF65-F5344CB8AC3E}">
        <p14:creationId xmlns:p14="http://schemas.microsoft.com/office/powerpoint/2010/main" val="2681250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5D718B5-4ABC-482A-8AAB-ABC226F5D1CC}"/>
              </a:ext>
            </a:extLst>
          </p:cNvPr>
          <p:cNvSpPr>
            <a:spLocks noGrp="1"/>
          </p:cNvSpPr>
          <p:nvPr>
            <p:ph type="title"/>
          </p:nvPr>
        </p:nvSpPr>
        <p:spPr/>
        <p:txBody>
          <a:bodyPr/>
          <a:lstStyle/>
          <a:p>
            <a:r>
              <a:rPr lang="fr-FR"/>
              <a:t>ATELIER : HISTOIRE DE RECRUTEMENTS</a:t>
            </a:r>
            <a:br>
              <a:rPr lang="fr-FR"/>
            </a:br>
            <a:r>
              <a:rPr lang="fr-FR"/>
              <a:t>Exemple de format</a:t>
            </a:r>
          </a:p>
        </p:txBody>
      </p:sp>
      <p:pic>
        <p:nvPicPr>
          <p:cNvPr id="4" name="Image 49">
            <a:extLst>
              <a:ext uri="{FF2B5EF4-FFF2-40B4-BE49-F238E27FC236}">
                <a16:creationId xmlns:a16="http://schemas.microsoft.com/office/drawing/2014/main" id="{56AC6E2B-6DF0-4E06-A06D-908F47F8F51B}"/>
              </a:ext>
            </a:extLst>
          </p:cNvPr>
          <p:cNvPicPr>
            <a:picLocks noChangeAspect="1"/>
          </p:cNvPicPr>
          <p:nvPr/>
        </p:nvPicPr>
        <p:blipFill rotWithShape="1">
          <a:blip r:embed="rId2"/>
          <a:srcRect t="7204" b="30441"/>
          <a:stretch/>
        </p:blipFill>
        <p:spPr>
          <a:xfrm>
            <a:off x="1106352" y="1819922"/>
            <a:ext cx="9979296" cy="4842769"/>
          </a:xfrm>
          <a:prstGeom prst="rect">
            <a:avLst/>
          </a:prstGeom>
        </p:spPr>
      </p:pic>
    </p:spTree>
    <p:extLst>
      <p:ext uri="{BB962C8B-B14F-4D97-AF65-F5344CB8AC3E}">
        <p14:creationId xmlns:p14="http://schemas.microsoft.com/office/powerpoint/2010/main" val="2351403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E27637-6FB9-42E4-8B0D-876A78C0CB95}"/>
              </a:ext>
            </a:extLst>
          </p:cNvPr>
          <p:cNvSpPr>
            <a:spLocks noGrp="1"/>
          </p:cNvSpPr>
          <p:nvPr>
            <p:ph type="title"/>
          </p:nvPr>
        </p:nvSpPr>
        <p:spPr>
          <a:xfrm>
            <a:off x="0" y="21176"/>
            <a:ext cx="10515600" cy="800945"/>
          </a:xfrm>
        </p:spPr>
        <p:txBody>
          <a:bodyPr>
            <a:noAutofit/>
          </a:bodyPr>
          <a:lstStyle/>
          <a:p>
            <a:r>
              <a:rPr lang="en-US" sz="2400" dirty="0">
                <a:ea typeface="+mj-lt"/>
                <a:cs typeface="+mj-lt"/>
              </a:rPr>
              <a:t>ATELIER : HISTOIRE DE RECRUTEMENTS</a:t>
            </a:r>
            <a:br>
              <a:rPr lang="en-US" sz="2400" dirty="0">
                <a:ea typeface="+mj-lt"/>
                <a:cs typeface="+mj-lt"/>
              </a:rPr>
            </a:br>
            <a:r>
              <a:rPr lang="en-US" sz="2400" dirty="0">
                <a:ea typeface="+mj-lt"/>
                <a:cs typeface="+mj-lt"/>
              </a:rPr>
              <a:t>Slide de support</a:t>
            </a:r>
            <a:endParaRPr lang="fr-FR" sz="2400" dirty="0"/>
          </a:p>
        </p:txBody>
      </p:sp>
      <p:sp>
        <p:nvSpPr>
          <p:cNvPr id="3" name="Rectangle 2">
            <a:extLst>
              <a:ext uri="{FF2B5EF4-FFF2-40B4-BE49-F238E27FC236}">
                <a16:creationId xmlns:a16="http://schemas.microsoft.com/office/drawing/2014/main" id="{44A43565-2FFB-472F-8151-E40FC67E3938}"/>
              </a:ext>
            </a:extLst>
          </p:cNvPr>
          <p:cNvSpPr/>
          <p:nvPr/>
        </p:nvSpPr>
        <p:spPr>
          <a:xfrm>
            <a:off x="914399" y="990002"/>
            <a:ext cx="3254929" cy="203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91AE545-94D7-44C2-9EDF-E4B1ED437E49}"/>
              </a:ext>
            </a:extLst>
          </p:cNvPr>
          <p:cNvSpPr/>
          <p:nvPr/>
        </p:nvSpPr>
        <p:spPr>
          <a:xfrm>
            <a:off x="4462943" y="990002"/>
            <a:ext cx="3254929" cy="203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07D4782-4736-4353-9987-2D93F0CED27E}"/>
              </a:ext>
            </a:extLst>
          </p:cNvPr>
          <p:cNvSpPr/>
          <p:nvPr/>
        </p:nvSpPr>
        <p:spPr>
          <a:xfrm>
            <a:off x="8023370" y="990002"/>
            <a:ext cx="3254929" cy="203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3311CDEC-9EE1-4A53-B1A8-D410476F6F06}"/>
              </a:ext>
            </a:extLst>
          </p:cNvPr>
          <p:cNvSpPr/>
          <p:nvPr/>
        </p:nvSpPr>
        <p:spPr>
          <a:xfrm>
            <a:off x="914399" y="3988965"/>
            <a:ext cx="3254929" cy="203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6836BE3-511F-4D29-99EE-EA3BB100E992}"/>
              </a:ext>
            </a:extLst>
          </p:cNvPr>
          <p:cNvSpPr/>
          <p:nvPr/>
        </p:nvSpPr>
        <p:spPr>
          <a:xfrm>
            <a:off x="4462943" y="3988965"/>
            <a:ext cx="3254929" cy="203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75F9D2F2-516B-43F6-A3BE-B36A937124EA}"/>
              </a:ext>
            </a:extLst>
          </p:cNvPr>
          <p:cNvSpPr/>
          <p:nvPr/>
        </p:nvSpPr>
        <p:spPr>
          <a:xfrm>
            <a:off x="8023370" y="3988965"/>
            <a:ext cx="3254929" cy="20385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72856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a:t>Atelier histoire de recrutements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vert="horz" lIns="91440" tIns="45720" rIns="91440" bIns="45720" rtlCol="0" anchor="t">
            <a:normAutofit/>
          </a:bodyPr>
          <a:lstStyle/>
          <a:p>
            <a:r>
              <a:rPr lang="fr-FR" dirty="0"/>
              <a:t>Feuilles d’instructions * 5 (à consulter en binôme)</a:t>
            </a:r>
          </a:p>
          <a:p>
            <a:r>
              <a:rPr lang="fr-FR" dirty="0"/>
              <a:t>Feuille de support (</a:t>
            </a:r>
            <a:r>
              <a:rPr lang="fr-FR" dirty="0" err="1"/>
              <a:t>canvas</a:t>
            </a:r>
            <a:r>
              <a:rPr lang="fr-FR" dirty="0"/>
              <a:t> vide) * 12 (3 par groupe)</a:t>
            </a:r>
          </a:p>
          <a:p>
            <a:r>
              <a:rPr lang="fr-FR" dirty="0"/>
              <a:t>Crayons à papier / Feutres</a:t>
            </a:r>
          </a:p>
        </p:txBody>
      </p:sp>
    </p:spTree>
    <p:extLst>
      <p:ext uri="{BB962C8B-B14F-4D97-AF65-F5344CB8AC3E}">
        <p14:creationId xmlns:p14="http://schemas.microsoft.com/office/powerpoint/2010/main" val="2652290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a:ea typeface="+mj-lt"/>
                <a:cs typeface="+mj-lt"/>
              </a:rPr>
              <a:t>ATELIER FLASH ACTUS 2050</a:t>
            </a:r>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2286198224"/>
              </p:ext>
            </p:extLst>
          </p:nvPr>
        </p:nvGraphicFramePr>
        <p:xfrm>
          <a:off x="519625" y="1279652"/>
          <a:ext cx="11463538" cy="5165028"/>
        </p:xfrm>
        <a:graphic>
          <a:graphicData uri="http://schemas.openxmlformats.org/drawingml/2006/table">
            <a:tbl>
              <a:tblPr bandRow="1">
                <a:tableStyleId>{5C22544A-7EE6-4342-B048-85BDC9FD1C3A}</a:tableStyleId>
              </a:tblPr>
              <a:tblGrid>
                <a:gridCol w="1910590">
                  <a:extLst>
                    <a:ext uri="{9D8B030D-6E8A-4147-A177-3AD203B41FA5}">
                      <a16:colId xmlns:a16="http://schemas.microsoft.com/office/drawing/2014/main" val="416040190"/>
                    </a:ext>
                  </a:extLst>
                </a:gridCol>
                <a:gridCol w="1910590">
                  <a:extLst>
                    <a:ext uri="{9D8B030D-6E8A-4147-A177-3AD203B41FA5}">
                      <a16:colId xmlns:a16="http://schemas.microsoft.com/office/drawing/2014/main" val="2019038073"/>
                    </a:ext>
                  </a:extLst>
                </a:gridCol>
                <a:gridCol w="1910590">
                  <a:extLst>
                    <a:ext uri="{9D8B030D-6E8A-4147-A177-3AD203B41FA5}">
                      <a16:colId xmlns:a16="http://schemas.microsoft.com/office/drawing/2014/main" val="102799537"/>
                    </a:ext>
                  </a:extLst>
                </a:gridCol>
                <a:gridCol w="5731768">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p>
                    <a:p>
                      <a:pPr lvl="0">
                        <a:buNone/>
                      </a:pPr>
                      <a:r>
                        <a:rPr lang="fr-FR" sz="1400" b="0" i="0" u="none" strike="noStrike" noProof="0" dirty="0">
                          <a:latin typeface="Calibri"/>
                        </a:rPr>
                        <a:t>Vous faites partie de l’équipe Communication interne de la communauté, et préparez le bilan des actualités. Vos 3 équipes de journalistes ont 3 présentateurs. </a:t>
                      </a:r>
                    </a:p>
                    <a:p>
                      <a:pPr lvl="0">
                        <a:buNone/>
                      </a:pPr>
                      <a:endParaRPr lang="fr-FR" sz="1400" b="0" i="0" u="none" strike="noStrike" noProof="0" dirty="0">
                        <a:latin typeface="Calibri"/>
                      </a:endParaRPr>
                    </a:p>
                    <a:p>
                      <a:pPr lvl="0">
                        <a:buNone/>
                      </a:pPr>
                      <a:r>
                        <a:rPr lang="fr-FR" sz="1400" b="0" i="0" u="none" strike="noStrike" noProof="0" dirty="0">
                          <a:latin typeface="Calibri"/>
                        </a:rPr>
                        <a:t>Vous allez être en direct en binôme, pour présenter les dernières actus du mois autour de la communauté. </a:t>
                      </a:r>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a:t>
                      </a:r>
                    </a:p>
                  </a:txBody>
                  <a:tcPr/>
                </a:tc>
                <a:extLst>
                  <a:ext uri="{0D108BD9-81ED-4DB2-BD59-A6C34878D82A}">
                    <a16:rowId xmlns:a16="http://schemas.microsoft.com/office/drawing/2014/main" val="3856860579"/>
                  </a:ext>
                </a:extLst>
              </a:tr>
              <a:tr h="1698594">
                <a:tc gridSpan="3">
                  <a:txBody>
                    <a:bodyPr/>
                    <a:lstStyle/>
                    <a:p>
                      <a:r>
                        <a:rPr lang="fr-FR" sz="1400" b="1" noProof="0" dirty="0"/>
                        <a:t>Instructions :</a:t>
                      </a:r>
                      <a:r>
                        <a:rPr lang="fr-FR" sz="1400" noProof="0" dirty="0"/>
                        <a:t> </a:t>
                      </a:r>
                    </a:p>
                    <a:p>
                      <a:pPr lvl="0">
                        <a:buNone/>
                      </a:pPr>
                      <a:r>
                        <a:rPr lang="fr-FR" sz="1400" noProof="0" dirty="0"/>
                        <a:t>Ecrivez des fiches cartonnées de flash actus. Attention, rendez bien l’information visible.</a:t>
                      </a:r>
                    </a:p>
                    <a:p>
                      <a:pPr lvl="0">
                        <a:buNone/>
                      </a:pPr>
                      <a:r>
                        <a:rPr lang="fr-FR" sz="1400" noProof="0" dirty="0"/>
                        <a:t>Déterminez un(e) présentateur(-</a:t>
                      </a:r>
                      <a:r>
                        <a:rPr lang="fr-FR" sz="1400" noProof="0" dirty="0" err="1"/>
                        <a:t>trice</a:t>
                      </a:r>
                      <a:r>
                        <a:rPr lang="fr-FR" sz="1400" noProof="0" dirty="0"/>
                        <a:t>) à chaque tour</a:t>
                      </a:r>
                    </a:p>
                    <a:p>
                      <a:pPr lvl="0">
                        <a:buNone/>
                      </a:pPr>
                      <a:r>
                        <a:rPr lang="fr-FR" sz="1400" noProof="0" dirty="0"/>
                        <a:t>Présentez les informations en trinôme de manière à avoir 2-4 minutes de flash à jouer en direct à la fin.</a:t>
                      </a:r>
                    </a:p>
                    <a:p>
                      <a:endParaRPr lang="fr-FR" sz="1400" noProof="0" dirty="0"/>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dirty="0"/>
                        <a:t>A atteindre pour le Tour 1 </a:t>
                      </a:r>
                      <a:r>
                        <a:rPr lang="fr-FR" sz="1400" noProof="0" dirty="0"/>
                        <a:t>:</a:t>
                      </a:r>
                    </a:p>
                    <a:p>
                      <a:pPr lvl="0">
                        <a:buNone/>
                      </a:pPr>
                      <a:r>
                        <a:rPr lang="fr-FR" sz="1400" noProof="0" dirty="0"/>
                        <a:t>Ecrivez 5 news (minimum) au total. </a:t>
                      </a:r>
                    </a:p>
                    <a:p>
                      <a:pPr lvl="0">
                        <a:buNone/>
                      </a:pPr>
                      <a:r>
                        <a:rPr lang="fr-FR" sz="1400" noProof="0" dirty="0"/>
                        <a:t>Identifiez une personne qui </a:t>
                      </a:r>
                      <a:r>
                        <a:rPr lang="fr-FR" sz="1400" noProof="0" dirty="0" err="1"/>
                        <a:t>co</a:t>
                      </a:r>
                      <a:r>
                        <a:rPr lang="fr-FR" sz="1400" noProof="0" dirty="0"/>
                        <a:t>-présentera pendant la restitution</a:t>
                      </a:r>
                    </a:p>
                  </a:txBody>
                  <a:tcPr/>
                </a:tc>
                <a:tc>
                  <a:txBody>
                    <a:bodyPr/>
                    <a:lstStyle/>
                    <a:p>
                      <a:r>
                        <a:rPr lang="fr-FR" sz="1400" b="1" noProof="0" dirty="0"/>
                        <a:t>A atteindre pour le Tour 2 </a:t>
                      </a:r>
                      <a:r>
                        <a:rPr lang="fr-FR" sz="1400" noProof="0" dirty="0"/>
                        <a:t>:</a:t>
                      </a:r>
                    </a:p>
                    <a:p>
                      <a:pPr lvl="0">
                        <a:buNone/>
                      </a:pPr>
                      <a:r>
                        <a:rPr lang="fr-FR" sz="1400" noProof="0" dirty="0"/>
                        <a:t>Ecrivez 5 news (minimum) au total. </a:t>
                      </a:r>
                    </a:p>
                    <a:p>
                      <a:pPr lvl="0">
                        <a:buNone/>
                      </a:pPr>
                      <a:r>
                        <a:rPr lang="fr-FR" sz="1400" noProof="0" dirty="0"/>
                        <a:t>Identifiez une personne qui </a:t>
                      </a:r>
                      <a:r>
                        <a:rPr lang="fr-FR" sz="1400" noProof="0" dirty="0" err="1"/>
                        <a:t>co</a:t>
                      </a:r>
                      <a:r>
                        <a:rPr lang="fr-FR" sz="1400" noProof="0" dirty="0"/>
                        <a:t>-présentera pendant la restitution</a:t>
                      </a:r>
                    </a:p>
                  </a:txBody>
                  <a:tcPr/>
                </a:tc>
                <a:tc>
                  <a:txBody>
                    <a:bodyPr/>
                    <a:lstStyle/>
                    <a:p>
                      <a:r>
                        <a:rPr lang="fr-FR" sz="1400" b="1" noProof="0" dirty="0"/>
                        <a:t>A atteindre pour le Tour 3 </a:t>
                      </a:r>
                      <a:r>
                        <a:rPr lang="fr-FR" sz="1400" noProof="0" dirty="0"/>
                        <a:t>:</a:t>
                      </a:r>
                    </a:p>
                    <a:p>
                      <a:pPr lvl="0">
                        <a:buNone/>
                      </a:pPr>
                      <a:r>
                        <a:rPr lang="fr-FR" sz="1400" noProof="0" dirty="0"/>
                        <a:t>Ecrivez 5 news (minimum) au total. </a:t>
                      </a:r>
                    </a:p>
                    <a:p>
                      <a:pPr lvl="0">
                        <a:buNone/>
                      </a:pPr>
                      <a:r>
                        <a:rPr lang="fr-FR" sz="1400" noProof="0" dirty="0"/>
                        <a:t>Identifiez une personne qui </a:t>
                      </a:r>
                      <a:r>
                        <a:rPr lang="fr-FR" sz="1400" noProof="0" dirty="0" err="1"/>
                        <a:t>co</a:t>
                      </a:r>
                      <a:r>
                        <a:rPr lang="fr-FR" sz="1400" noProof="0" dirty="0"/>
                        <a:t>-présentera pendant la restitution</a:t>
                      </a:r>
                    </a:p>
                  </a:txBody>
                  <a:tcPr/>
                </a:tc>
                <a:tc>
                  <a:txBody>
                    <a:bodyPr/>
                    <a:lstStyle/>
                    <a:p>
                      <a:pPr lvl="0">
                        <a:buNone/>
                      </a:pPr>
                      <a:r>
                        <a:rPr lang="fr-FR" sz="1400" b="1" i="0" u="none" strike="noStrike" noProof="0" dirty="0">
                          <a:latin typeface="Calibri"/>
                        </a:rPr>
                        <a:t>Conseils : </a:t>
                      </a:r>
                    </a:p>
                    <a:p>
                      <a:pPr marL="171450" lvl="0" indent="-171450">
                        <a:buFontTx/>
                        <a:buChar char="-"/>
                      </a:pPr>
                      <a:r>
                        <a:rPr lang="fr-FR" sz="1200" b="0" i="0" u="none" strike="noStrike" noProof="0" dirty="0">
                          <a:latin typeface="Calibri"/>
                        </a:rPr>
                        <a:t>Répartissez précisément les rôles et les actus à diffuser entre les 2 journalistes</a:t>
                      </a:r>
                    </a:p>
                    <a:p>
                      <a:pPr marL="171450" lvl="0" indent="-171450">
                        <a:buFontTx/>
                        <a:buChar char="-"/>
                      </a:pPr>
                      <a:r>
                        <a:rPr lang="fr-FR" sz="1200" b="0" i="0" u="none" strike="noStrike" noProof="0" dirty="0">
                          <a:latin typeface="Calibri"/>
                        </a:rPr>
                        <a:t>Faites un casting pour la/les personnes qui </a:t>
                      </a:r>
                      <a:r>
                        <a:rPr lang="fr-FR" sz="1200" b="0" i="0" u="none" strike="noStrike" noProof="0" dirty="0" err="1">
                          <a:latin typeface="Calibri"/>
                        </a:rPr>
                        <a:t>pitchera</a:t>
                      </a:r>
                      <a:r>
                        <a:rPr lang="fr-FR" sz="1200" b="0" i="0" u="none" strike="noStrike" noProof="0" dirty="0">
                          <a:latin typeface="Calibri"/>
                        </a:rPr>
                        <a:t>/ont la version finale</a:t>
                      </a:r>
                      <a:endParaRPr lang="en-US" sz="1200" b="0" i="0" u="none" strike="noStrike" noProof="0" dirty="0">
                        <a:latin typeface="+mn-lt"/>
                      </a:endParaRPr>
                    </a:p>
                    <a:p>
                      <a:pPr marL="171450" lvl="0" indent="-171450">
                        <a:buFontTx/>
                        <a:buChar char="-"/>
                      </a:pPr>
                      <a:r>
                        <a:rPr lang="fr-FR" sz="1200" b="0" i="0" u="none" strike="noStrike" noProof="0" dirty="0">
                          <a:latin typeface="Calibri"/>
                        </a:rPr>
                        <a:t>Les présentateurs peuvent faire partie de l’écriture</a:t>
                      </a:r>
                    </a:p>
                    <a:p>
                      <a:pPr marL="171450" lvl="0" indent="-171450">
                        <a:buFontTx/>
                        <a:buChar char="-"/>
                      </a:pPr>
                      <a:r>
                        <a:rPr lang="fr-FR" sz="1200" b="0" i="0" u="none" strike="noStrike" noProof="0" dirty="0">
                          <a:latin typeface="Calibri"/>
                        </a:rPr>
                        <a:t>Ecriture : Sentez vous libres de</a:t>
                      </a:r>
                      <a:r>
                        <a:rPr lang="fr-FR" sz="1200" b="0" i="0" u="none" strike="noStrike" baseline="0" noProof="0" dirty="0">
                          <a:latin typeface="Calibri"/>
                        </a:rPr>
                        <a:t> nouvelles osées ou drôles. </a:t>
                      </a:r>
                      <a:endParaRPr lang="fr-FR" sz="1200" b="0" i="0" u="none" strike="noStrike" noProof="0" dirty="0">
                        <a:latin typeface="Calibri"/>
                      </a:endParaRPr>
                    </a:p>
                    <a:p>
                      <a:pPr marL="171450" lvl="0" indent="-171450">
                        <a:buFontTx/>
                        <a:buChar char="-"/>
                      </a:pPr>
                      <a:r>
                        <a:rPr lang="fr-FR" sz="1200" b="0" i="0" u="none" strike="noStrike" noProof="0" dirty="0">
                          <a:latin typeface="Calibri"/>
                        </a:rPr>
                        <a:t>Présentateurs : Parlez de manière dynamique et articulez</a:t>
                      </a:r>
                    </a:p>
                    <a:p>
                      <a:pPr marL="171450" lvl="0" indent="-171450">
                        <a:buFontTx/>
                        <a:buChar char="-"/>
                      </a:pPr>
                      <a:r>
                        <a:rPr lang="fr-FR" sz="1200" b="0" i="0" u="none" strike="noStrike" noProof="0" dirty="0">
                          <a:latin typeface="Calibri"/>
                        </a:rPr>
                        <a:t>Présentateurs : Réagissez aux news de l’autre</a:t>
                      </a:r>
                    </a:p>
                    <a:p>
                      <a:pPr marL="171450" lvl="0" indent="-171450">
                        <a:buFontTx/>
                        <a:buChar char="-"/>
                      </a:pPr>
                      <a:r>
                        <a:rPr lang="fr-FR" sz="1200" b="0" i="0" u="none" strike="noStrike" noProof="0" dirty="0">
                          <a:latin typeface="Calibri"/>
                        </a:rPr>
                        <a:t>Surprise : vous pouvez cacher au binôme de présentateurs certaines phrases afin qu'ils les découvrent par surprise au moment de jouer les flash news</a:t>
                      </a:r>
                    </a:p>
                  </a:txBody>
                  <a:tcPr/>
                </a:tc>
                <a:extLst>
                  <a:ext uri="{0D108BD9-81ED-4DB2-BD59-A6C34878D82A}">
                    <a16:rowId xmlns:a16="http://schemas.microsoft.com/office/drawing/2014/main" val="2818071240"/>
                  </a:ext>
                </a:extLst>
              </a:tr>
            </a:tbl>
          </a:graphicData>
        </a:graphic>
      </p:graphicFrame>
      <p:pic>
        <p:nvPicPr>
          <p:cNvPr id="5" name="Image 4" descr="Une image contenant texte&#10;&#10;Description générée automatiquement">
            <a:extLst>
              <a:ext uri="{FF2B5EF4-FFF2-40B4-BE49-F238E27FC236}">
                <a16:creationId xmlns:a16="http://schemas.microsoft.com/office/drawing/2014/main" id="{C4108FCC-B499-448C-A5C3-B3229CA9494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667" r="26191" b="39683"/>
          <a:stretch/>
        </p:blipFill>
        <p:spPr>
          <a:xfrm>
            <a:off x="7025178" y="1588066"/>
            <a:ext cx="3758936" cy="2445883"/>
          </a:xfrm>
          <a:prstGeom prst="rect">
            <a:avLst/>
          </a:prstGeom>
        </p:spPr>
      </p:pic>
    </p:spTree>
    <p:extLst>
      <p:ext uri="{BB962C8B-B14F-4D97-AF65-F5344CB8AC3E}">
        <p14:creationId xmlns:p14="http://schemas.microsoft.com/office/powerpoint/2010/main" val="3604450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0AD31-7A4C-4F7A-BEFB-ED5D2DCC5B23}"/>
              </a:ext>
            </a:extLst>
          </p:cNvPr>
          <p:cNvSpPr>
            <a:spLocks noGrp="1"/>
          </p:cNvSpPr>
          <p:nvPr>
            <p:ph type="title"/>
          </p:nvPr>
        </p:nvSpPr>
        <p:spPr/>
        <p:txBody>
          <a:bodyPr/>
          <a:lstStyle/>
          <a:p>
            <a:r>
              <a:rPr lang="fr-FR"/>
              <a:t>Atelier FLASH ACTUS : </a:t>
            </a:r>
            <a:br>
              <a:rPr lang="fr-FR"/>
            </a:br>
            <a:r>
              <a:rPr lang="fr-FR"/>
              <a:t>Générer des fiches de news</a:t>
            </a:r>
          </a:p>
        </p:txBody>
      </p:sp>
      <p:sp>
        <p:nvSpPr>
          <p:cNvPr id="3" name="Espace réservé du contenu 2">
            <a:extLst>
              <a:ext uri="{FF2B5EF4-FFF2-40B4-BE49-F238E27FC236}">
                <a16:creationId xmlns:a16="http://schemas.microsoft.com/office/drawing/2014/main" id="{AD27D8DA-349A-47F5-B2A4-680158B66D27}"/>
              </a:ext>
            </a:extLst>
          </p:cNvPr>
          <p:cNvSpPr>
            <a:spLocks noGrp="1"/>
          </p:cNvSpPr>
          <p:nvPr>
            <p:ph idx="1"/>
          </p:nvPr>
        </p:nvSpPr>
        <p:spPr>
          <a:xfrm>
            <a:off x="348343" y="1825625"/>
            <a:ext cx="3323771" cy="4459061"/>
          </a:xfrm>
        </p:spPr>
        <p:txBody>
          <a:bodyPr>
            <a:normAutofit lnSpcReduction="10000"/>
          </a:bodyPr>
          <a:lstStyle/>
          <a:p>
            <a:r>
              <a:rPr lang="fr-FR" sz="2000"/>
              <a:t>Un thème</a:t>
            </a:r>
          </a:p>
          <a:p>
            <a:r>
              <a:rPr lang="fr-FR" sz="2000"/>
              <a:t>3 phrases max</a:t>
            </a:r>
          </a:p>
          <a:p>
            <a:r>
              <a:rPr lang="fr-FR" sz="2000"/>
              <a:t>Ecrire en majuscule pour la lisibilité</a:t>
            </a:r>
          </a:p>
          <a:p>
            <a:r>
              <a:rPr lang="fr-FR" sz="2000"/>
              <a:t>Distinguez les phrases l’une de l’autre</a:t>
            </a:r>
          </a:p>
          <a:p>
            <a:endParaRPr lang="fr-FR" sz="2000"/>
          </a:p>
          <a:p>
            <a:pPr marL="0" indent="0">
              <a:buNone/>
            </a:pPr>
            <a:endParaRPr lang="fr-FR" sz="2000"/>
          </a:p>
          <a:p>
            <a:pPr marL="0" indent="0">
              <a:buNone/>
            </a:pPr>
            <a:r>
              <a:rPr lang="fr-FR" sz="2000"/>
              <a:t>Recommandations :</a:t>
            </a:r>
          </a:p>
          <a:p>
            <a:r>
              <a:rPr lang="fr-FR" sz="2000"/>
              <a:t>Des histoires courtes, concises, avec 1 seul point saillant et 1 chute drôle si possible.</a:t>
            </a:r>
          </a:p>
        </p:txBody>
      </p:sp>
      <p:sp>
        <p:nvSpPr>
          <p:cNvPr id="4" name="Rectangle 3">
            <a:extLst>
              <a:ext uri="{FF2B5EF4-FFF2-40B4-BE49-F238E27FC236}">
                <a16:creationId xmlns:a16="http://schemas.microsoft.com/office/drawing/2014/main" id="{235C970B-6220-4ADC-8D68-02D32E3C0D67}"/>
              </a:ext>
            </a:extLst>
          </p:cNvPr>
          <p:cNvSpPr/>
          <p:nvPr/>
        </p:nvSpPr>
        <p:spPr>
          <a:xfrm>
            <a:off x="4209143" y="1825625"/>
            <a:ext cx="4136571" cy="22238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a:t>FAIT DIVERS</a:t>
            </a:r>
          </a:p>
          <a:p>
            <a:pPr algn="ctr"/>
            <a:endParaRPr lang="fr-FR" sz="1400"/>
          </a:p>
          <a:p>
            <a:pPr algn="ctr"/>
            <a:r>
              <a:rPr lang="fr-FR" sz="1400"/>
              <a:t>UN HOMME A ÉTÉ RETROUVÉ EN TRAIN DE PRÉPARER DES SLIDES PENDANT SON SOMMEIL. </a:t>
            </a:r>
          </a:p>
          <a:p>
            <a:pPr algn="ctr"/>
            <a:endParaRPr lang="fr-FR" sz="1400"/>
          </a:p>
          <a:p>
            <a:pPr algn="ctr"/>
            <a:r>
              <a:rPr lang="fr-FR" sz="1400"/>
              <a:t>UN GROUPE D’ÉTUDE A DÉCIDÉ D’EXPÉRIMENTER AVEC LUI DES NEW WAYS OF WORKING QUI LAISSERAIENT LA JOURNÉE LIBRE.</a:t>
            </a:r>
          </a:p>
        </p:txBody>
      </p:sp>
      <p:sp>
        <p:nvSpPr>
          <p:cNvPr id="5" name="Rectangle 4">
            <a:extLst>
              <a:ext uri="{FF2B5EF4-FFF2-40B4-BE49-F238E27FC236}">
                <a16:creationId xmlns:a16="http://schemas.microsoft.com/office/drawing/2014/main" id="{E9E21A0E-9ED0-48F5-AC22-98ED3054F2FB}"/>
              </a:ext>
            </a:extLst>
          </p:cNvPr>
          <p:cNvSpPr/>
          <p:nvPr/>
        </p:nvSpPr>
        <p:spPr>
          <a:xfrm>
            <a:off x="7431314" y="4184423"/>
            <a:ext cx="4136571" cy="222386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200">
                <a:solidFill>
                  <a:schemeClr val="tx1"/>
                </a:solidFill>
              </a:rPr>
              <a:t>ACTUS ECONOMIQUES</a:t>
            </a:r>
          </a:p>
          <a:p>
            <a:pPr algn="ctr"/>
            <a:endParaRPr lang="fr-FR" sz="1200">
              <a:solidFill>
                <a:schemeClr val="tx1"/>
              </a:solidFill>
            </a:endParaRPr>
          </a:p>
          <a:p>
            <a:pPr algn="ctr"/>
            <a:r>
              <a:rPr lang="fr-FR" sz="1200">
                <a:solidFill>
                  <a:schemeClr val="tx1"/>
                </a:solidFill>
              </a:rPr>
              <a:t>LA SOCIETE METAVERSE CONSULTING BAT DES RECORDS DE CROISSANCE. </a:t>
            </a:r>
          </a:p>
          <a:p>
            <a:pPr algn="ctr"/>
            <a:endParaRPr lang="fr-FR" sz="1200">
              <a:solidFill>
                <a:schemeClr val="tx1"/>
              </a:solidFill>
            </a:endParaRPr>
          </a:p>
          <a:p>
            <a:pPr algn="ctr"/>
            <a:r>
              <a:rPr lang="fr-FR" sz="1200">
                <a:solidFill>
                  <a:schemeClr val="tx1"/>
                </a:solidFill>
              </a:rPr>
              <a:t>IL Y A MAINTENANT EGALEMENT DU CONSEIL EN LIGNE POUR ORGANISER DES GROUPES DE RENCONTRE HORS LIGNE.</a:t>
            </a:r>
          </a:p>
          <a:p>
            <a:pPr algn="ctr"/>
            <a:endParaRPr lang="fr-FR" sz="1200">
              <a:solidFill>
                <a:schemeClr val="tx1"/>
              </a:solidFill>
            </a:endParaRPr>
          </a:p>
          <a:p>
            <a:pPr algn="ctr"/>
            <a:r>
              <a:rPr lang="fr-FR" sz="1200">
                <a:solidFill>
                  <a:schemeClr val="tx1"/>
                </a:solidFill>
              </a:rPr>
              <a:t> OUI </a:t>
            </a:r>
            <a:r>
              <a:rPr lang="fr-FR" sz="1200" err="1">
                <a:solidFill>
                  <a:schemeClr val="tx1"/>
                </a:solidFill>
              </a:rPr>
              <a:t>OUI</a:t>
            </a:r>
            <a:r>
              <a:rPr lang="fr-FR" sz="1200">
                <a:solidFill>
                  <a:schemeClr val="tx1"/>
                </a:solidFill>
              </a:rPr>
              <a:t> CELA EXISTE.</a:t>
            </a:r>
          </a:p>
        </p:txBody>
      </p:sp>
    </p:spTree>
    <p:extLst>
      <p:ext uri="{BB962C8B-B14F-4D97-AF65-F5344CB8AC3E}">
        <p14:creationId xmlns:p14="http://schemas.microsoft.com/office/powerpoint/2010/main" val="1410428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a:xfrm>
            <a:off x="836722" y="285226"/>
            <a:ext cx="10515600" cy="1325563"/>
          </a:xfrm>
        </p:spPr>
        <p:txBody>
          <a:bodyPr>
            <a:normAutofit/>
          </a:bodyPr>
          <a:lstStyle/>
          <a:p>
            <a:r>
              <a:rPr lang="en-US" sz="4000">
                <a:ea typeface="+mj-lt"/>
                <a:cs typeface="+mj-lt"/>
              </a:rPr>
              <a:t>ATELIER FLASH ACTUS  - Déroulement</a:t>
            </a:r>
            <a:endParaRPr lang="en-US" sz="4000">
              <a:solidFill>
                <a:schemeClr val="accent6"/>
              </a:solidFill>
              <a:ea typeface="+mj-lt"/>
              <a:cs typeface="+mj-lt"/>
            </a:endParaRPr>
          </a:p>
        </p:txBody>
      </p:sp>
      <p:pic>
        <p:nvPicPr>
          <p:cNvPr id="7" name="Image 6" descr="Une image contenant texte&#10;&#10;Description générée automatiquement">
            <a:extLst>
              <a:ext uri="{FF2B5EF4-FFF2-40B4-BE49-F238E27FC236}">
                <a16:creationId xmlns:a16="http://schemas.microsoft.com/office/drawing/2014/main" id="{D3689C41-5188-43DC-8DC2-23F2033D875E}"/>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667" r="26191" b="39683"/>
          <a:stretch/>
        </p:blipFill>
        <p:spPr>
          <a:xfrm>
            <a:off x="5878548" y="4171431"/>
            <a:ext cx="3758936" cy="2445883"/>
          </a:xfrm>
          <a:prstGeom prst="rect">
            <a:avLst/>
          </a:prstGeom>
        </p:spPr>
      </p:pic>
      <p:sp>
        <p:nvSpPr>
          <p:cNvPr id="8" name="ZoneTexte 7">
            <a:extLst>
              <a:ext uri="{FF2B5EF4-FFF2-40B4-BE49-F238E27FC236}">
                <a16:creationId xmlns:a16="http://schemas.microsoft.com/office/drawing/2014/main" id="{9CC3F907-B526-4C16-BEBF-673B6F8DD24E}"/>
              </a:ext>
            </a:extLst>
          </p:cNvPr>
          <p:cNvSpPr txBox="1"/>
          <p:nvPr/>
        </p:nvSpPr>
        <p:spPr>
          <a:xfrm>
            <a:off x="5646056" y="6617314"/>
            <a:ext cx="4180114" cy="230832"/>
          </a:xfrm>
          <a:prstGeom prst="rect">
            <a:avLst/>
          </a:prstGeom>
          <a:noFill/>
        </p:spPr>
        <p:txBody>
          <a:bodyPr wrap="square" rtlCol="0">
            <a:spAutoFit/>
          </a:bodyPr>
          <a:lstStyle/>
          <a:p>
            <a:r>
              <a:rPr lang="fr-FR" sz="900">
                <a:hlinkClick r:id="rId3" tooltip="https://citizentruth.org/the-morning-show-with-jennifer-aniston-and-steve-carell-tackles-the-metoo-movement/"/>
              </a:rPr>
              <a:t>Cette photo</a:t>
            </a:r>
            <a:r>
              <a:rPr lang="fr-FR" sz="900"/>
              <a:t> par Auteur inconnu est soumise à la licence </a:t>
            </a:r>
            <a:r>
              <a:rPr lang="fr-FR" sz="900">
                <a:hlinkClick r:id="rId4" tooltip="https://creativecommons.org/licenses/by-nd/3.0/"/>
              </a:rPr>
              <a:t>CC BY-ND</a:t>
            </a:r>
            <a:endParaRPr lang="fr-FR" sz="900"/>
          </a:p>
        </p:txBody>
      </p:sp>
      <p:sp>
        <p:nvSpPr>
          <p:cNvPr id="10" name="Espace réservé du contenu 2">
            <a:extLst>
              <a:ext uri="{FF2B5EF4-FFF2-40B4-BE49-F238E27FC236}">
                <a16:creationId xmlns:a16="http://schemas.microsoft.com/office/drawing/2014/main" id="{F00949AF-0001-4B6D-9FDF-F4BB77EE7A8C}"/>
              </a:ext>
            </a:extLst>
          </p:cNvPr>
          <p:cNvSpPr>
            <a:spLocks noGrp="1"/>
          </p:cNvSpPr>
          <p:nvPr>
            <p:ph idx="1"/>
          </p:nvPr>
        </p:nvSpPr>
        <p:spPr>
          <a:xfrm>
            <a:off x="348343" y="1825625"/>
            <a:ext cx="3323771" cy="4459061"/>
          </a:xfrm>
        </p:spPr>
        <p:txBody>
          <a:bodyPr vert="horz" lIns="91440" tIns="45720" rIns="91440" bIns="45720" rtlCol="0" anchor="t">
            <a:normAutofit/>
          </a:bodyPr>
          <a:lstStyle/>
          <a:p>
            <a:r>
              <a:rPr lang="fr-FR" sz="2000" dirty="0"/>
              <a:t>Chacun son tour, 1 des 3 animateurs va lire une news qui est dans ses fiches et peut ajouter une remarque</a:t>
            </a:r>
            <a:endParaRPr lang="fr-FR" sz="2000" dirty="0">
              <a:cs typeface="Calibri"/>
            </a:endParaRPr>
          </a:p>
          <a:p>
            <a:r>
              <a:rPr lang="fr-FR" sz="2000" dirty="0"/>
              <a:t>Les autres animateurs ont le droit de rebondir avec UNE phrase, une remarque courante. </a:t>
            </a:r>
            <a:endParaRPr lang="fr-FR" sz="2000" dirty="0">
              <a:cs typeface="Calibri" panose="020F0502020204030204"/>
            </a:endParaRPr>
          </a:p>
          <a:p>
            <a:r>
              <a:rPr lang="fr-FR" sz="2000" dirty="0"/>
              <a:t>Ensuite, c’est au tour d’un(e) autre</a:t>
            </a:r>
            <a:endParaRPr lang="fr-FR" sz="2000" dirty="0">
              <a:cs typeface="Calibri" panose="020F0502020204030204"/>
            </a:endParaRPr>
          </a:p>
          <a:p>
            <a:r>
              <a:rPr lang="fr-FR" sz="2000" dirty="0"/>
              <a:t>Si possible, filmer la scène pour avoir des souvenirs. Dans ce cas, penser à bien regarder la caméra</a:t>
            </a:r>
            <a:endParaRPr lang="fr-FR" sz="2000" dirty="0">
              <a:cs typeface="Calibri"/>
            </a:endParaRPr>
          </a:p>
        </p:txBody>
      </p:sp>
      <p:sp>
        <p:nvSpPr>
          <p:cNvPr id="6" name="Bulle narrative : ronde 5">
            <a:extLst>
              <a:ext uri="{FF2B5EF4-FFF2-40B4-BE49-F238E27FC236}">
                <a16:creationId xmlns:a16="http://schemas.microsoft.com/office/drawing/2014/main" id="{2D936389-4A3C-42FE-968C-6CA15AE3C79C}"/>
              </a:ext>
            </a:extLst>
          </p:cNvPr>
          <p:cNvSpPr/>
          <p:nvPr/>
        </p:nvSpPr>
        <p:spPr>
          <a:xfrm>
            <a:off x="3672114" y="1307057"/>
            <a:ext cx="4368397" cy="1842543"/>
          </a:xfrm>
          <a:prstGeom prst="wedgeEllipseCallout">
            <a:avLst>
              <a:gd name="adj1" fmla="val 18414"/>
              <a:gd name="adj2" fmla="val 118964"/>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FAIT DIVERS</a:t>
            </a:r>
          </a:p>
          <a:p>
            <a:pPr algn="ctr"/>
            <a:endParaRPr lang="fr-FR">
              <a:solidFill>
                <a:schemeClr val="tx1"/>
              </a:solidFill>
            </a:endParaRPr>
          </a:p>
          <a:p>
            <a:pPr algn="ctr"/>
            <a:r>
              <a:rPr lang="fr-FR">
                <a:solidFill>
                  <a:schemeClr val="tx1"/>
                </a:solidFill>
              </a:rPr>
              <a:t>UN HOMME A ÉTÉ RETROUVÉ EN TRAIN DE PRÉPARER DES SLIDES …</a:t>
            </a:r>
          </a:p>
          <a:p>
            <a:pPr algn="ctr"/>
            <a:endParaRPr lang="fr-FR">
              <a:solidFill>
                <a:schemeClr val="tx1"/>
              </a:solidFill>
            </a:endParaRPr>
          </a:p>
        </p:txBody>
      </p:sp>
      <p:sp>
        <p:nvSpPr>
          <p:cNvPr id="11" name="Bulle narrative : ronde 10">
            <a:extLst>
              <a:ext uri="{FF2B5EF4-FFF2-40B4-BE49-F238E27FC236}">
                <a16:creationId xmlns:a16="http://schemas.microsoft.com/office/drawing/2014/main" id="{309F1D4B-6491-4FB9-A51C-1511B3DF6E0B}"/>
              </a:ext>
            </a:extLst>
          </p:cNvPr>
          <p:cNvSpPr/>
          <p:nvPr/>
        </p:nvSpPr>
        <p:spPr>
          <a:xfrm>
            <a:off x="8040511" y="2120979"/>
            <a:ext cx="3599946" cy="1436914"/>
          </a:xfrm>
          <a:prstGeom prst="wedgeEllipseCallout">
            <a:avLst>
              <a:gd name="adj1" fmla="val -38364"/>
              <a:gd name="adj2" fmla="val 116982"/>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DÉCIDEMMENT, ON EN APPRENDRA TOUS LES JOURS ET TOUTES LES NUITS !</a:t>
            </a:r>
          </a:p>
        </p:txBody>
      </p:sp>
      <p:sp>
        <p:nvSpPr>
          <p:cNvPr id="12" name="Bulle narrative : ronde 11">
            <a:extLst>
              <a:ext uri="{FF2B5EF4-FFF2-40B4-BE49-F238E27FC236}">
                <a16:creationId xmlns:a16="http://schemas.microsoft.com/office/drawing/2014/main" id="{D7FCB56A-883D-4B12-A371-A65677675F50}"/>
              </a:ext>
            </a:extLst>
          </p:cNvPr>
          <p:cNvSpPr/>
          <p:nvPr/>
        </p:nvSpPr>
        <p:spPr>
          <a:xfrm>
            <a:off x="9637484" y="3557893"/>
            <a:ext cx="2554516" cy="2445882"/>
          </a:xfrm>
          <a:prstGeom prst="wedgeEllipseCallout">
            <a:avLst>
              <a:gd name="adj1" fmla="val -82897"/>
              <a:gd name="adj2" fmla="val -567"/>
            </a:avLst>
          </a:prstGeom>
          <a:solidFill>
            <a:schemeClr val="bg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PASSONS MAINTENANT AUX ACTUS ECONOMIQUES…</a:t>
            </a:r>
          </a:p>
        </p:txBody>
      </p:sp>
    </p:spTree>
    <p:extLst>
      <p:ext uri="{BB962C8B-B14F-4D97-AF65-F5344CB8AC3E}">
        <p14:creationId xmlns:p14="http://schemas.microsoft.com/office/powerpoint/2010/main" val="4183891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9ADA3-48E4-4A6E-8E12-9EC8ED7B44D4}"/>
              </a:ext>
            </a:extLst>
          </p:cNvPr>
          <p:cNvSpPr>
            <a:spLocks noGrp="1"/>
          </p:cNvSpPr>
          <p:nvPr>
            <p:ph type="title"/>
          </p:nvPr>
        </p:nvSpPr>
        <p:spPr>
          <a:xfrm>
            <a:off x="648929" y="629266"/>
            <a:ext cx="3505495" cy="1622321"/>
          </a:xfrm>
        </p:spPr>
        <p:txBody>
          <a:bodyPr>
            <a:normAutofit/>
          </a:bodyPr>
          <a:lstStyle/>
          <a:p>
            <a:r>
              <a:rPr lang="fr-FR" sz="3700"/>
              <a:t>Se préparer en tant que présentateur</a:t>
            </a:r>
          </a:p>
        </p:txBody>
      </p:sp>
      <p:sp>
        <p:nvSpPr>
          <p:cNvPr id="3" name="Espace réservé du contenu 2">
            <a:extLst>
              <a:ext uri="{FF2B5EF4-FFF2-40B4-BE49-F238E27FC236}">
                <a16:creationId xmlns:a16="http://schemas.microsoft.com/office/drawing/2014/main" id="{325134B2-2CD8-4185-8438-755C48AD24BC}"/>
              </a:ext>
            </a:extLst>
          </p:cNvPr>
          <p:cNvSpPr>
            <a:spLocks noGrp="1"/>
          </p:cNvSpPr>
          <p:nvPr>
            <p:ph idx="1"/>
          </p:nvPr>
        </p:nvSpPr>
        <p:spPr>
          <a:xfrm>
            <a:off x="648931" y="2438400"/>
            <a:ext cx="3505494" cy="3785419"/>
          </a:xfrm>
        </p:spPr>
        <p:txBody>
          <a:bodyPr vert="horz" lIns="91440" tIns="45720" rIns="91440" bIns="45720" rtlCol="0" anchor="t">
            <a:normAutofit/>
          </a:bodyPr>
          <a:lstStyle/>
          <a:p>
            <a:r>
              <a:rPr lang="fr-FR" sz="1900"/>
              <a:t>C’est à vous de décider dans quel ordre vous classez vos fiches</a:t>
            </a:r>
            <a:endParaRPr lang="fr-FR" sz="1900">
              <a:cs typeface="Calibri"/>
            </a:endParaRPr>
          </a:p>
          <a:p>
            <a:r>
              <a:rPr lang="fr-FR" sz="1900"/>
              <a:t>Sur le moment, sentez-vous libres d’ajouter une remarque. </a:t>
            </a:r>
            <a:endParaRPr lang="fr-FR" sz="1900">
              <a:cs typeface="Calibri"/>
            </a:endParaRPr>
          </a:p>
          <a:p>
            <a:r>
              <a:rPr lang="fr-FR" sz="1900"/>
              <a:t>Répétez ensemble, souvenez-vous de regarder la caméra </a:t>
            </a:r>
            <a:endParaRPr lang="fr-FR" sz="1900">
              <a:cs typeface="Calibri"/>
            </a:endParaRPr>
          </a:p>
        </p:txBody>
      </p:sp>
      <p:pic>
        <p:nvPicPr>
          <p:cNvPr id="4" name="Image 3" descr="Une image contenant texte&#10;&#10;Description générée automatiquement">
            <a:extLst>
              <a:ext uri="{FF2B5EF4-FFF2-40B4-BE49-F238E27FC236}">
                <a16:creationId xmlns:a16="http://schemas.microsoft.com/office/drawing/2014/main" id="{95094BA7-947D-41B0-9BA7-D03FB924369D}"/>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667" r="26191" b="39683"/>
          <a:stretch/>
        </p:blipFill>
        <p:spPr>
          <a:xfrm>
            <a:off x="5405862" y="1469017"/>
            <a:ext cx="6019331" cy="3916720"/>
          </a:xfrm>
          <a:prstGeom prst="rect">
            <a:avLst/>
          </a:prstGeom>
          <a:effectLst/>
        </p:spPr>
      </p:pic>
      <p:sp>
        <p:nvSpPr>
          <p:cNvPr id="5" name="ZoneTexte 4">
            <a:extLst>
              <a:ext uri="{FF2B5EF4-FFF2-40B4-BE49-F238E27FC236}">
                <a16:creationId xmlns:a16="http://schemas.microsoft.com/office/drawing/2014/main" id="{6331403F-2941-4DF5-B4CE-DC2A917C829E}"/>
              </a:ext>
            </a:extLst>
          </p:cNvPr>
          <p:cNvSpPr txBox="1"/>
          <p:nvPr/>
        </p:nvSpPr>
        <p:spPr>
          <a:xfrm>
            <a:off x="8823199" y="5185682"/>
            <a:ext cx="2601994" cy="200055"/>
          </a:xfrm>
          <a:prstGeom prst="rect">
            <a:avLst/>
          </a:prstGeom>
          <a:solidFill>
            <a:srgbClr val="000000"/>
          </a:solidFill>
        </p:spPr>
        <p:txBody>
          <a:bodyPr wrap="none" rtlCol="0">
            <a:spAutoFit/>
          </a:bodyPr>
          <a:lstStyle/>
          <a:p>
            <a:pPr algn="r">
              <a:spcAft>
                <a:spcPts val="600"/>
              </a:spcAft>
            </a:pPr>
            <a:r>
              <a:rPr lang="fr-FR" sz="700">
                <a:solidFill>
                  <a:srgbClr val="FFFFFF"/>
                </a:solidFill>
                <a:hlinkClick r:id="rId3" tooltip="https://citizentruth.org/the-morning-show-with-jennifer-aniston-and-steve-carell-tackles-the-metoo-movement/">
                  <a:extLst>
                    <a:ext uri="{A12FA001-AC4F-418D-AE19-62706E023703}">
                      <ahyp:hlinkClr xmlns:ahyp="http://schemas.microsoft.com/office/drawing/2018/hyperlinkcolor" val="tx"/>
                    </a:ext>
                  </a:extLst>
                </a:hlinkClick>
              </a:rPr>
              <a:t>Cette photo</a:t>
            </a:r>
            <a:r>
              <a:rPr lang="fr-FR" sz="700">
                <a:solidFill>
                  <a:srgbClr val="FFFFFF"/>
                </a:solidFill>
              </a:rPr>
              <a:t> par Auteur inconnu est soumise à la licence </a:t>
            </a:r>
            <a:r>
              <a:rPr lang="fr-FR" sz="700">
                <a:solidFill>
                  <a:srgbClr val="FFFFFF"/>
                </a:solidFill>
                <a:hlinkClick r:id="rId4" tooltip="https://creativecommons.org/licenses/by-nd/3.0/">
                  <a:extLst>
                    <a:ext uri="{A12FA001-AC4F-418D-AE19-62706E023703}">
                      <ahyp:hlinkClr xmlns:ahyp="http://schemas.microsoft.com/office/drawing/2018/hyperlinkcolor" val="tx"/>
                    </a:ext>
                  </a:extLst>
                </a:hlinkClick>
              </a:rPr>
              <a:t>CC BY-ND</a:t>
            </a:r>
            <a:endParaRPr lang="fr-FR" sz="700">
              <a:solidFill>
                <a:srgbClr val="FFFFFF"/>
              </a:solidFill>
            </a:endParaRPr>
          </a:p>
        </p:txBody>
      </p:sp>
    </p:spTree>
    <p:extLst>
      <p:ext uri="{BB962C8B-B14F-4D97-AF65-F5344CB8AC3E}">
        <p14:creationId xmlns:p14="http://schemas.microsoft.com/office/powerpoint/2010/main" val="597547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dirty="0"/>
              <a:t>Atelier Flash actus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a:lstStyle/>
          <a:p>
            <a:r>
              <a:rPr lang="fr-FR" dirty="0"/>
              <a:t>Feuilles d’instructions * 5 (à consulter en binôme)</a:t>
            </a:r>
          </a:p>
          <a:p>
            <a:r>
              <a:rPr lang="fr-FR" dirty="0"/>
              <a:t>Feuilles Cartonnées A5 ou A6 (15 par groupe, incluant les brouillons)</a:t>
            </a:r>
          </a:p>
          <a:p>
            <a:r>
              <a:rPr lang="fr-FR" dirty="0"/>
              <a:t>Feutres</a:t>
            </a:r>
          </a:p>
          <a:p>
            <a:endParaRPr lang="fr-FR" dirty="0"/>
          </a:p>
        </p:txBody>
      </p:sp>
    </p:spTree>
    <p:extLst>
      <p:ext uri="{BB962C8B-B14F-4D97-AF65-F5344CB8AC3E}">
        <p14:creationId xmlns:p14="http://schemas.microsoft.com/office/powerpoint/2010/main" val="1736839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a:ea typeface="+mj-lt"/>
                <a:cs typeface="+mj-lt"/>
              </a:rPr>
              <a:t>ATELIER APPRENTISSAGE 2050</a:t>
            </a:r>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3524197876"/>
              </p:ext>
            </p:extLst>
          </p:nvPr>
        </p:nvGraphicFramePr>
        <p:xfrm>
          <a:off x="523784" y="1509204"/>
          <a:ext cx="11141476" cy="5408868"/>
        </p:xfrm>
        <a:graphic>
          <a:graphicData uri="http://schemas.openxmlformats.org/drawingml/2006/table">
            <a:tbl>
              <a:tblPr bandRow="1">
                <a:tableStyleId>{5C22544A-7EE6-4342-B048-85BDC9FD1C3A}</a:tableStyleId>
              </a:tblPr>
              <a:tblGrid>
                <a:gridCol w="1856913">
                  <a:extLst>
                    <a:ext uri="{9D8B030D-6E8A-4147-A177-3AD203B41FA5}">
                      <a16:colId xmlns:a16="http://schemas.microsoft.com/office/drawing/2014/main" val="416040190"/>
                    </a:ext>
                  </a:extLst>
                </a:gridCol>
                <a:gridCol w="1856913">
                  <a:extLst>
                    <a:ext uri="{9D8B030D-6E8A-4147-A177-3AD203B41FA5}">
                      <a16:colId xmlns:a16="http://schemas.microsoft.com/office/drawing/2014/main" val="2019038073"/>
                    </a:ext>
                  </a:extLst>
                </a:gridCol>
                <a:gridCol w="1856913">
                  <a:extLst>
                    <a:ext uri="{9D8B030D-6E8A-4147-A177-3AD203B41FA5}">
                      <a16:colId xmlns:a16="http://schemas.microsoft.com/office/drawing/2014/main" val="102799537"/>
                    </a:ext>
                  </a:extLst>
                </a:gridCol>
                <a:gridCol w="5570737">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p>
                    <a:p>
                      <a:pPr lvl="0">
                        <a:buNone/>
                      </a:pPr>
                      <a:r>
                        <a:rPr lang="fr-FR" sz="1400" b="0" i="0" u="none" strike="noStrike" noProof="0" dirty="0">
                          <a:latin typeface="Calibri"/>
                        </a:rPr>
                        <a:t>Vous devez faire le point sur l’expérience apprenante dans la communauté.</a:t>
                      </a:r>
                    </a:p>
                    <a:p>
                      <a:pPr lvl="0">
                        <a:buNone/>
                      </a:pPr>
                      <a:r>
                        <a:rPr lang="fr-FR" sz="1400" b="0" i="0" u="none" strike="noStrike" noProof="0" dirty="0">
                          <a:latin typeface="Calibri"/>
                        </a:rPr>
                        <a:t>A vous de réaliser la fresque d'apprentissage représentant les dernières formations dispensées dans la communauté.</a:t>
                      </a:r>
                      <a:endParaRPr lang="fr-FR" dirty="0"/>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a:t>
                      </a:r>
                    </a:p>
                  </a:txBody>
                  <a:tcPr/>
                </a:tc>
                <a:extLst>
                  <a:ext uri="{0D108BD9-81ED-4DB2-BD59-A6C34878D82A}">
                    <a16:rowId xmlns:a16="http://schemas.microsoft.com/office/drawing/2014/main" val="3856860579"/>
                  </a:ext>
                </a:extLst>
              </a:tr>
              <a:tr h="1698594">
                <a:tc gridSpan="3">
                  <a:txBody>
                    <a:bodyPr/>
                    <a:lstStyle/>
                    <a:p>
                      <a:r>
                        <a:rPr lang="fr-FR" sz="1400" b="1" noProof="0"/>
                        <a:t>Instructions :</a:t>
                      </a:r>
                      <a:r>
                        <a:rPr lang="fr-FR" sz="1400" noProof="0"/>
                        <a:t> </a:t>
                      </a:r>
                      <a:r>
                        <a:rPr lang="fr-FR" sz="1400" b="0" i="0" u="none" strike="noStrike" noProof="0">
                          <a:latin typeface="Calibri"/>
                        </a:rPr>
                        <a:t>Dessiner une fresque collectivement, façon facilitation graphique</a:t>
                      </a:r>
                      <a:endParaRPr lang="fr-FR" sz="1400" noProof="0"/>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a:t>A atteindre pour le Tour 1 </a:t>
                      </a:r>
                      <a:r>
                        <a:rPr lang="fr-FR" sz="1400" noProof="0"/>
                        <a:t>:</a:t>
                      </a:r>
                    </a:p>
                    <a:p>
                      <a:pPr lvl="0">
                        <a:buNone/>
                      </a:pPr>
                      <a:r>
                        <a:rPr lang="fr-FR" sz="1400" noProof="0"/>
                        <a:t>3 posters</a:t>
                      </a:r>
                    </a:p>
                    <a:p>
                      <a:pPr lvl="0">
                        <a:buNone/>
                      </a:pPr>
                      <a:r>
                        <a:rPr lang="fr-FR" sz="1400" noProof="0"/>
                        <a:t>1/3 de chaque feuille est remplie</a:t>
                      </a:r>
                    </a:p>
                  </a:txBody>
                  <a:tcPr/>
                </a:tc>
                <a:tc>
                  <a:txBody>
                    <a:bodyPr/>
                    <a:lstStyle/>
                    <a:p>
                      <a:r>
                        <a:rPr lang="fr-FR" sz="1400" b="1" noProof="0"/>
                        <a:t>A atteindre pour le Tour 2 </a:t>
                      </a:r>
                      <a:r>
                        <a:rPr lang="fr-FR" sz="1400" noProof="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a:t>3 posters</a:t>
                      </a:r>
                    </a:p>
                    <a:p>
                      <a:pPr lvl="0">
                        <a:buNone/>
                      </a:pPr>
                      <a:r>
                        <a:rPr lang="fr-FR" sz="1400" noProof="0"/>
                        <a:t>2/3 de chaque feuille remplie</a:t>
                      </a:r>
                    </a:p>
                  </a:txBody>
                  <a:tcPr/>
                </a:tc>
                <a:tc>
                  <a:txBody>
                    <a:bodyPr/>
                    <a:lstStyle/>
                    <a:p>
                      <a:r>
                        <a:rPr lang="fr-FR" sz="1400" b="1" noProof="0"/>
                        <a:t>A atteindre pour le Tour 3 </a:t>
                      </a:r>
                      <a:r>
                        <a:rPr lang="fr-FR" sz="1400" noProof="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noProof="0"/>
                        <a:t>3 posters</a:t>
                      </a:r>
                    </a:p>
                    <a:p>
                      <a:pPr lvl="0">
                        <a:buNone/>
                      </a:pPr>
                      <a:r>
                        <a:rPr lang="fr-FR" sz="1400" noProof="0"/>
                        <a:t>Chaque feuille est entièrement remplie</a:t>
                      </a:r>
                    </a:p>
                  </a:txBody>
                  <a:tcPr/>
                </a:tc>
                <a:tc>
                  <a:txBody>
                    <a:bodyPr/>
                    <a:lstStyle/>
                    <a:p>
                      <a:pPr lvl="0">
                        <a:buNone/>
                      </a:pPr>
                      <a:r>
                        <a:rPr lang="fr-FR" sz="1400" b="1" i="0" u="none" strike="noStrike" noProof="0" dirty="0">
                          <a:latin typeface="Calibri"/>
                        </a:rPr>
                        <a:t>Conseils : </a:t>
                      </a:r>
                    </a:p>
                    <a:p>
                      <a:pPr lvl="0">
                        <a:buNone/>
                      </a:pPr>
                      <a:r>
                        <a:rPr lang="fr-FR" sz="1400" b="0" i="0" u="none" strike="noStrike" noProof="0" dirty="0">
                          <a:latin typeface="Calibri"/>
                        </a:rPr>
                        <a:t>- Ne partez pas sur des dessins trop réalistes, des dessins de type "doodle" conviendront très bien</a:t>
                      </a:r>
                      <a:endParaRPr lang="fr-FR" sz="1400" b="0" dirty="0"/>
                    </a:p>
                    <a:p>
                      <a:pPr lvl="0">
                        <a:buNone/>
                      </a:pPr>
                      <a:r>
                        <a:rPr lang="fr-FR" sz="1400" b="0" dirty="0"/>
                        <a:t>- Faites attention à la place disponible sur la feuille par rapports aux dessins à exprimer</a:t>
                      </a:r>
                    </a:p>
                    <a:p>
                      <a:pPr lvl="0">
                        <a:buNone/>
                      </a:pPr>
                      <a:r>
                        <a:rPr lang="fr-FR" sz="1400" b="0" dirty="0"/>
                        <a:t>- Soignez vos titres en utilisant des encadrements et des typographies différents</a:t>
                      </a:r>
                    </a:p>
                    <a:p>
                      <a:pPr lvl="0">
                        <a:buNone/>
                      </a:pPr>
                      <a:r>
                        <a:rPr lang="fr-FR" sz="1400" b="0" dirty="0"/>
                        <a:t>- Définissez un ordre de lecture, en faisant un fléchage par exemple, ou en numérotant</a:t>
                      </a:r>
                    </a:p>
                  </a:txBody>
                  <a:tcPr/>
                </a:tc>
                <a:extLst>
                  <a:ext uri="{0D108BD9-81ED-4DB2-BD59-A6C34878D82A}">
                    <a16:rowId xmlns:a16="http://schemas.microsoft.com/office/drawing/2014/main" val="2818071240"/>
                  </a:ext>
                </a:extLst>
              </a:tr>
            </a:tbl>
          </a:graphicData>
        </a:graphic>
      </p:graphicFrame>
      <p:pic>
        <p:nvPicPr>
          <p:cNvPr id="8" name="Image 7">
            <a:extLst>
              <a:ext uri="{FF2B5EF4-FFF2-40B4-BE49-F238E27FC236}">
                <a16:creationId xmlns:a16="http://schemas.microsoft.com/office/drawing/2014/main" id="{BBB71267-6BFC-463E-A70B-BABAC144D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861" y="1900442"/>
            <a:ext cx="3860306" cy="2727950"/>
          </a:xfrm>
          <a:prstGeom prst="rect">
            <a:avLst/>
          </a:prstGeom>
        </p:spPr>
      </p:pic>
    </p:spTree>
    <p:extLst>
      <p:ext uri="{BB962C8B-B14F-4D97-AF65-F5344CB8AC3E}">
        <p14:creationId xmlns:p14="http://schemas.microsoft.com/office/powerpoint/2010/main" val="458706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a:ea typeface="+mj-lt"/>
                <a:cs typeface="+mj-lt"/>
              </a:rPr>
              <a:t>ATELIER APPRENTISSAGE 2050</a:t>
            </a:r>
            <a:br>
              <a:rPr lang="en-US" sz="4000">
                <a:ea typeface="+mj-lt"/>
                <a:cs typeface="+mj-lt"/>
              </a:rPr>
            </a:br>
            <a:r>
              <a:rPr lang="en-US" sz="4000" err="1">
                <a:ea typeface="+mj-lt"/>
                <a:cs typeface="+mj-lt"/>
              </a:rPr>
              <a:t>Exemple</a:t>
            </a:r>
            <a:r>
              <a:rPr lang="en-US" sz="4000">
                <a:ea typeface="+mj-lt"/>
                <a:cs typeface="+mj-lt"/>
              </a:rPr>
              <a:t> de </a:t>
            </a:r>
            <a:r>
              <a:rPr lang="en-US" sz="4000" err="1">
                <a:ea typeface="+mj-lt"/>
                <a:cs typeface="+mj-lt"/>
              </a:rPr>
              <a:t>résultat</a:t>
            </a:r>
            <a:endParaRPr lang="en-US" sz="4000">
              <a:ea typeface="+mj-lt"/>
              <a:cs typeface="+mj-lt"/>
            </a:endParaRPr>
          </a:p>
        </p:txBody>
      </p:sp>
      <p:grpSp>
        <p:nvGrpSpPr>
          <p:cNvPr id="4" name="Groupe 3">
            <a:extLst>
              <a:ext uri="{FF2B5EF4-FFF2-40B4-BE49-F238E27FC236}">
                <a16:creationId xmlns:a16="http://schemas.microsoft.com/office/drawing/2014/main" id="{11BA83C8-8252-41A5-A176-636B08F12113}"/>
              </a:ext>
            </a:extLst>
          </p:cNvPr>
          <p:cNvGrpSpPr/>
          <p:nvPr/>
        </p:nvGrpSpPr>
        <p:grpSpPr>
          <a:xfrm>
            <a:off x="1819086" y="1871948"/>
            <a:ext cx="2011374" cy="1325563"/>
            <a:chOff x="265705" y="1598291"/>
            <a:chExt cx="4139317" cy="2727949"/>
          </a:xfrm>
        </p:grpSpPr>
        <p:sp>
          <p:nvSpPr>
            <p:cNvPr id="3" name="Rectangle 2">
              <a:extLst>
                <a:ext uri="{FF2B5EF4-FFF2-40B4-BE49-F238E27FC236}">
                  <a16:creationId xmlns:a16="http://schemas.microsoft.com/office/drawing/2014/main" id="{723B0B6E-7EFA-4FD8-87D0-62228C98D9D8}"/>
                </a:ext>
              </a:extLst>
            </p:cNvPr>
            <p:cNvSpPr/>
            <p:nvPr/>
          </p:nvSpPr>
          <p:spPr>
            <a:xfrm>
              <a:off x="265705" y="1598291"/>
              <a:ext cx="4139317" cy="272794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BBB71267-6BFC-463E-A70B-BABAC144DB1B}"/>
                </a:ext>
              </a:extLst>
            </p:cNvPr>
            <p:cNvPicPr>
              <a:picLocks noChangeAspect="1"/>
            </p:cNvPicPr>
            <p:nvPr/>
          </p:nvPicPr>
          <p:blipFill rotWithShape="1">
            <a:blip r:embed="rId2">
              <a:extLst>
                <a:ext uri="{28A0092B-C50C-407E-A947-70E740481C1C}">
                  <a14:useLocalDpi xmlns:a14="http://schemas.microsoft.com/office/drawing/2010/main" val="0"/>
                </a:ext>
              </a:extLst>
            </a:blip>
            <a:srcRect b="71438"/>
            <a:stretch/>
          </p:blipFill>
          <p:spPr>
            <a:xfrm>
              <a:off x="368399" y="1616192"/>
              <a:ext cx="3860305" cy="779149"/>
            </a:xfrm>
            <a:prstGeom prst="rect">
              <a:avLst/>
            </a:prstGeom>
          </p:spPr>
        </p:pic>
      </p:grpSp>
      <p:grpSp>
        <p:nvGrpSpPr>
          <p:cNvPr id="20" name="Groupe 19">
            <a:extLst>
              <a:ext uri="{FF2B5EF4-FFF2-40B4-BE49-F238E27FC236}">
                <a16:creationId xmlns:a16="http://schemas.microsoft.com/office/drawing/2014/main" id="{B23DE34D-5CEC-44DD-AE31-715AD6D8D72F}"/>
              </a:ext>
            </a:extLst>
          </p:cNvPr>
          <p:cNvGrpSpPr/>
          <p:nvPr/>
        </p:nvGrpSpPr>
        <p:grpSpPr>
          <a:xfrm>
            <a:off x="8458298" y="1871948"/>
            <a:ext cx="2011374" cy="1325563"/>
            <a:chOff x="7154615" y="1948148"/>
            <a:chExt cx="2895503" cy="1908234"/>
          </a:xfrm>
        </p:grpSpPr>
        <p:sp>
          <p:nvSpPr>
            <p:cNvPr id="14" name="Rectangle 13">
              <a:extLst>
                <a:ext uri="{FF2B5EF4-FFF2-40B4-BE49-F238E27FC236}">
                  <a16:creationId xmlns:a16="http://schemas.microsoft.com/office/drawing/2014/main" id="{6D75DCB3-3038-4DD8-AA20-BE8F0CE2FC46}"/>
                </a:ext>
              </a:extLst>
            </p:cNvPr>
            <p:cNvSpPr/>
            <p:nvPr/>
          </p:nvSpPr>
          <p:spPr>
            <a:xfrm>
              <a:off x="7154615" y="1948148"/>
              <a:ext cx="2895503" cy="19082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descr="Une image contenant carte&#10;&#10;Description générée automatiquement">
              <a:extLst>
                <a:ext uri="{FF2B5EF4-FFF2-40B4-BE49-F238E27FC236}">
                  <a16:creationId xmlns:a16="http://schemas.microsoft.com/office/drawing/2014/main" id="{7E6420DA-BC47-4024-823D-4CCBE5DF72E5}"/>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26864" b="51228"/>
            <a:stretch/>
          </p:blipFill>
          <p:spPr>
            <a:xfrm>
              <a:off x="7165774" y="1960670"/>
              <a:ext cx="1908423" cy="899827"/>
            </a:xfrm>
            <a:prstGeom prst="rect">
              <a:avLst/>
            </a:prstGeom>
          </p:spPr>
        </p:pic>
      </p:grpSp>
      <p:grpSp>
        <p:nvGrpSpPr>
          <p:cNvPr id="19" name="Groupe 18">
            <a:extLst>
              <a:ext uri="{FF2B5EF4-FFF2-40B4-BE49-F238E27FC236}">
                <a16:creationId xmlns:a16="http://schemas.microsoft.com/office/drawing/2014/main" id="{B050D479-F817-4D6D-ABFD-35200BE8C05A}"/>
              </a:ext>
            </a:extLst>
          </p:cNvPr>
          <p:cNvGrpSpPr/>
          <p:nvPr/>
        </p:nvGrpSpPr>
        <p:grpSpPr>
          <a:xfrm>
            <a:off x="5085240" y="1871948"/>
            <a:ext cx="2011374" cy="1325563"/>
            <a:chOff x="3781557" y="1948148"/>
            <a:chExt cx="2895503" cy="1908234"/>
          </a:xfrm>
        </p:grpSpPr>
        <p:sp>
          <p:nvSpPr>
            <p:cNvPr id="13" name="Rectangle 12">
              <a:extLst>
                <a:ext uri="{FF2B5EF4-FFF2-40B4-BE49-F238E27FC236}">
                  <a16:creationId xmlns:a16="http://schemas.microsoft.com/office/drawing/2014/main" id="{A2EE816D-3EC0-45EE-AC84-93C165DA93FD}"/>
                </a:ext>
              </a:extLst>
            </p:cNvPr>
            <p:cNvSpPr/>
            <p:nvPr/>
          </p:nvSpPr>
          <p:spPr>
            <a:xfrm>
              <a:off x="3781557" y="1948148"/>
              <a:ext cx="2895503" cy="19082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descr="Une image contenant texte, tableau blanc&#10;&#10;Description générée automatiquement">
              <a:extLst>
                <a:ext uri="{FF2B5EF4-FFF2-40B4-BE49-F238E27FC236}">
                  <a16:creationId xmlns:a16="http://schemas.microsoft.com/office/drawing/2014/main" id="{A0449404-8797-40F8-9B3E-FDED8F9DD667}"/>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43041" b="47062"/>
            <a:stretch/>
          </p:blipFill>
          <p:spPr>
            <a:xfrm>
              <a:off x="3813643" y="2410582"/>
              <a:ext cx="1558458" cy="639476"/>
            </a:xfrm>
            <a:prstGeom prst="rect">
              <a:avLst/>
            </a:prstGeom>
          </p:spPr>
        </p:pic>
      </p:grpSp>
      <p:grpSp>
        <p:nvGrpSpPr>
          <p:cNvPr id="21" name="Groupe 20">
            <a:extLst>
              <a:ext uri="{FF2B5EF4-FFF2-40B4-BE49-F238E27FC236}">
                <a16:creationId xmlns:a16="http://schemas.microsoft.com/office/drawing/2014/main" id="{3E1AF416-AAB1-44C7-B2CC-F245A15120F4}"/>
              </a:ext>
            </a:extLst>
          </p:cNvPr>
          <p:cNvGrpSpPr/>
          <p:nvPr/>
        </p:nvGrpSpPr>
        <p:grpSpPr>
          <a:xfrm>
            <a:off x="1806386" y="3548348"/>
            <a:ext cx="2011374" cy="1325563"/>
            <a:chOff x="265705" y="1598291"/>
            <a:chExt cx="4139317" cy="2727949"/>
          </a:xfrm>
        </p:grpSpPr>
        <p:sp>
          <p:nvSpPr>
            <p:cNvPr id="22" name="Rectangle 21">
              <a:extLst>
                <a:ext uri="{FF2B5EF4-FFF2-40B4-BE49-F238E27FC236}">
                  <a16:creationId xmlns:a16="http://schemas.microsoft.com/office/drawing/2014/main" id="{A57ABA27-5EBF-483D-AB03-414E3C93CEE3}"/>
                </a:ext>
              </a:extLst>
            </p:cNvPr>
            <p:cNvSpPr/>
            <p:nvPr/>
          </p:nvSpPr>
          <p:spPr>
            <a:xfrm>
              <a:off x="265705" y="1598291"/>
              <a:ext cx="4139317" cy="272794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3" name="Image 22">
              <a:extLst>
                <a:ext uri="{FF2B5EF4-FFF2-40B4-BE49-F238E27FC236}">
                  <a16:creationId xmlns:a16="http://schemas.microsoft.com/office/drawing/2014/main" id="{B160D7B5-6179-450A-AA46-AE8C1F93BB0B}"/>
                </a:ext>
              </a:extLst>
            </p:cNvPr>
            <p:cNvPicPr>
              <a:picLocks noChangeAspect="1"/>
            </p:cNvPicPr>
            <p:nvPr/>
          </p:nvPicPr>
          <p:blipFill rotWithShape="1">
            <a:blip r:embed="rId2">
              <a:extLst>
                <a:ext uri="{28A0092B-C50C-407E-A947-70E740481C1C}">
                  <a14:useLocalDpi xmlns:a14="http://schemas.microsoft.com/office/drawing/2010/main" val="0"/>
                </a:ext>
              </a:extLst>
            </a:blip>
            <a:srcRect b="71438"/>
            <a:stretch/>
          </p:blipFill>
          <p:spPr>
            <a:xfrm>
              <a:off x="368399" y="1616192"/>
              <a:ext cx="3860305" cy="779149"/>
            </a:xfrm>
            <a:prstGeom prst="rect">
              <a:avLst/>
            </a:prstGeom>
          </p:spPr>
        </p:pic>
      </p:grpSp>
      <p:grpSp>
        <p:nvGrpSpPr>
          <p:cNvPr id="24" name="Groupe 23">
            <a:extLst>
              <a:ext uri="{FF2B5EF4-FFF2-40B4-BE49-F238E27FC236}">
                <a16:creationId xmlns:a16="http://schemas.microsoft.com/office/drawing/2014/main" id="{5E8D456D-E41B-4CAB-8213-2F37BDBA7E86}"/>
              </a:ext>
            </a:extLst>
          </p:cNvPr>
          <p:cNvGrpSpPr/>
          <p:nvPr/>
        </p:nvGrpSpPr>
        <p:grpSpPr>
          <a:xfrm>
            <a:off x="8445598" y="3548348"/>
            <a:ext cx="2011374" cy="1325563"/>
            <a:chOff x="7154615" y="1948148"/>
            <a:chExt cx="2895503" cy="1908234"/>
          </a:xfrm>
        </p:grpSpPr>
        <p:sp>
          <p:nvSpPr>
            <p:cNvPr id="25" name="Rectangle 24">
              <a:extLst>
                <a:ext uri="{FF2B5EF4-FFF2-40B4-BE49-F238E27FC236}">
                  <a16:creationId xmlns:a16="http://schemas.microsoft.com/office/drawing/2014/main" id="{F07FE983-C5A1-4520-A89C-C695062B3931}"/>
                </a:ext>
              </a:extLst>
            </p:cNvPr>
            <p:cNvSpPr/>
            <p:nvPr/>
          </p:nvSpPr>
          <p:spPr>
            <a:xfrm>
              <a:off x="7154615" y="1948148"/>
              <a:ext cx="2895503" cy="19082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Image 25" descr="Une image contenant carte&#10;&#10;Description générée automatiquement">
              <a:extLst>
                <a:ext uri="{FF2B5EF4-FFF2-40B4-BE49-F238E27FC236}">
                  <a16:creationId xmlns:a16="http://schemas.microsoft.com/office/drawing/2014/main" id="{A5CE9C86-E2A7-4D5D-8ED3-31A4E5F43EDD}"/>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593" b="51228"/>
            <a:stretch/>
          </p:blipFill>
          <p:spPr>
            <a:xfrm>
              <a:off x="7165775" y="1960669"/>
              <a:ext cx="2593952" cy="899827"/>
            </a:xfrm>
            <a:prstGeom prst="rect">
              <a:avLst/>
            </a:prstGeom>
          </p:spPr>
        </p:pic>
      </p:grpSp>
      <p:grpSp>
        <p:nvGrpSpPr>
          <p:cNvPr id="27" name="Groupe 26">
            <a:extLst>
              <a:ext uri="{FF2B5EF4-FFF2-40B4-BE49-F238E27FC236}">
                <a16:creationId xmlns:a16="http://schemas.microsoft.com/office/drawing/2014/main" id="{9EDEC71B-AAD2-40F2-B313-7825CEF752CE}"/>
              </a:ext>
            </a:extLst>
          </p:cNvPr>
          <p:cNvGrpSpPr/>
          <p:nvPr/>
        </p:nvGrpSpPr>
        <p:grpSpPr>
          <a:xfrm>
            <a:off x="5072540" y="3548348"/>
            <a:ext cx="2011374" cy="1325563"/>
            <a:chOff x="3781557" y="1948148"/>
            <a:chExt cx="2895503" cy="1908234"/>
          </a:xfrm>
        </p:grpSpPr>
        <p:sp>
          <p:nvSpPr>
            <p:cNvPr id="28" name="Rectangle 27">
              <a:extLst>
                <a:ext uri="{FF2B5EF4-FFF2-40B4-BE49-F238E27FC236}">
                  <a16:creationId xmlns:a16="http://schemas.microsoft.com/office/drawing/2014/main" id="{2E9AA30B-507B-4A36-BFE2-F509E0C2DE24}"/>
                </a:ext>
              </a:extLst>
            </p:cNvPr>
            <p:cNvSpPr/>
            <p:nvPr/>
          </p:nvSpPr>
          <p:spPr>
            <a:xfrm>
              <a:off x="3781557" y="1948148"/>
              <a:ext cx="2895503" cy="19082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Image 28" descr="Une image contenant texte, tableau blanc&#10;&#10;Description générée automatiquement">
              <a:extLst>
                <a:ext uri="{FF2B5EF4-FFF2-40B4-BE49-F238E27FC236}">
                  <a16:creationId xmlns:a16="http://schemas.microsoft.com/office/drawing/2014/main" id="{71AF915E-21EC-4960-A1E5-7644A406511F}"/>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 t="-1080" r="205" b="47062"/>
            <a:stretch/>
          </p:blipFill>
          <p:spPr>
            <a:xfrm>
              <a:off x="3831924" y="2356809"/>
              <a:ext cx="2730530" cy="652514"/>
            </a:xfrm>
            <a:prstGeom prst="rect">
              <a:avLst/>
            </a:prstGeom>
          </p:spPr>
        </p:pic>
      </p:grpSp>
      <p:grpSp>
        <p:nvGrpSpPr>
          <p:cNvPr id="30" name="Groupe 29">
            <a:extLst>
              <a:ext uri="{FF2B5EF4-FFF2-40B4-BE49-F238E27FC236}">
                <a16:creationId xmlns:a16="http://schemas.microsoft.com/office/drawing/2014/main" id="{CB727518-1E36-4AB7-8A07-BB681295F17C}"/>
              </a:ext>
            </a:extLst>
          </p:cNvPr>
          <p:cNvGrpSpPr/>
          <p:nvPr/>
        </p:nvGrpSpPr>
        <p:grpSpPr>
          <a:xfrm>
            <a:off x="1819086" y="5406008"/>
            <a:ext cx="2011374" cy="1325563"/>
            <a:chOff x="265705" y="1598291"/>
            <a:chExt cx="4139317" cy="2727949"/>
          </a:xfrm>
        </p:grpSpPr>
        <p:sp>
          <p:nvSpPr>
            <p:cNvPr id="31" name="Rectangle 30">
              <a:extLst>
                <a:ext uri="{FF2B5EF4-FFF2-40B4-BE49-F238E27FC236}">
                  <a16:creationId xmlns:a16="http://schemas.microsoft.com/office/drawing/2014/main" id="{7184A79B-7642-48B0-8C35-56BA161DC766}"/>
                </a:ext>
              </a:extLst>
            </p:cNvPr>
            <p:cNvSpPr/>
            <p:nvPr/>
          </p:nvSpPr>
          <p:spPr>
            <a:xfrm>
              <a:off x="265705" y="1598291"/>
              <a:ext cx="4139317" cy="272794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Image 31">
              <a:extLst>
                <a:ext uri="{FF2B5EF4-FFF2-40B4-BE49-F238E27FC236}">
                  <a16:creationId xmlns:a16="http://schemas.microsoft.com/office/drawing/2014/main" id="{EE4661EE-5AEA-4FAB-8211-F8A29FB8E7FB}"/>
                </a:ext>
              </a:extLst>
            </p:cNvPr>
            <p:cNvPicPr>
              <a:picLocks noChangeAspect="1"/>
            </p:cNvPicPr>
            <p:nvPr/>
          </p:nvPicPr>
          <p:blipFill rotWithShape="1">
            <a:blip r:embed="rId2">
              <a:extLst>
                <a:ext uri="{28A0092B-C50C-407E-A947-70E740481C1C}">
                  <a14:useLocalDpi xmlns:a14="http://schemas.microsoft.com/office/drawing/2010/main" val="0"/>
                </a:ext>
              </a:extLst>
            </a:blip>
            <a:srcRect t="1" b="654"/>
            <a:stretch/>
          </p:blipFill>
          <p:spPr>
            <a:xfrm>
              <a:off x="368399" y="1616189"/>
              <a:ext cx="3860306" cy="2710049"/>
            </a:xfrm>
            <a:prstGeom prst="rect">
              <a:avLst/>
            </a:prstGeom>
          </p:spPr>
        </p:pic>
      </p:grpSp>
      <p:grpSp>
        <p:nvGrpSpPr>
          <p:cNvPr id="33" name="Groupe 32">
            <a:extLst>
              <a:ext uri="{FF2B5EF4-FFF2-40B4-BE49-F238E27FC236}">
                <a16:creationId xmlns:a16="http://schemas.microsoft.com/office/drawing/2014/main" id="{2D8D9D7B-2AE4-4254-BCC6-B1F5A1642811}"/>
              </a:ext>
            </a:extLst>
          </p:cNvPr>
          <p:cNvGrpSpPr/>
          <p:nvPr/>
        </p:nvGrpSpPr>
        <p:grpSpPr>
          <a:xfrm>
            <a:off x="8458298" y="5406008"/>
            <a:ext cx="2011374" cy="1325563"/>
            <a:chOff x="7154615" y="1948148"/>
            <a:chExt cx="2895503" cy="1908234"/>
          </a:xfrm>
        </p:grpSpPr>
        <p:sp>
          <p:nvSpPr>
            <p:cNvPr id="34" name="Rectangle 33">
              <a:extLst>
                <a:ext uri="{FF2B5EF4-FFF2-40B4-BE49-F238E27FC236}">
                  <a16:creationId xmlns:a16="http://schemas.microsoft.com/office/drawing/2014/main" id="{2D61E2BB-01E5-483F-8E0A-A8B248C0B4C5}"/>
                </a:ext>
              </a:extLst>
            </p:cNvPr>
            <p:cNvSpPr/>
            <p:nvPr/>
          </p:nvSpPr>
          <p:spPr>
            <a:xfrm>
              <a:off x="7154615" y="1948148"/>
              <a:ext cx="2895503" cy="19082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descr="Une image contenant carte&#10;&#10;Description générée automatiquement">
              <a:extLst>
                <a:ext uri="{FF2B5EF4-FFF2-40B4-BE49-F238E27FC236}">
                  <a16:creationId xmlns:a16="http://schemas.microsoft.com/office/drawing/2014/main" id="{4720CB32-FF3C-4A52-BB35-B1D0347561C6}"/>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2444" b="-486"/>
            <a:stretch/>
          </p:blipFill>
          <p:spPr>
            <a:xfrm>
              <a:off x="7165775" y="1960669"/>
              <a:ext cx="2673218" cy="1853944"/>
            </a:xfrm>
            <a:prstGeom prst="rect">
              <a:avLst/>
            </a:prstGeom>
          </p:spPr>
        </p:pic>
      </p:grpSp>
      <p:grpSp>
        <p:nvGrpSpPr>
          <p:cNvPr id="36" name="Groupe 35">
            <a:extLst>
              <a:ext uri="{FF2B5EF4-FFF2-40B4-BE49-F238E27FC236}">
                <a16:creationId xmlns:a16="http://schemas.microsoft.com/office/drawing/2014/main" id="{194BC582-D498-4C7C-9F02-E36854FAF1EF}"/>
              </a:ext>
            </a:extLst>
          </p:cNvPr>
          <p:cNvGrpSpPr/>
          <p:nvPr/>
        </p:nvGrpSpPr>
        <p:grpSpPr>
          <a:xfrm>
            <a:off x="5085240" y="5376993"/>
            <a:ext cx="2011374" cy="1325563"/>
            <a:chOff x="3781557" y="1948148"/>
            <a:chExt cx="2895503" cy="1908234"/>
          </a:xfrm>
        </p:grpSpPr>
        <p:sp>
          <p:nvSpPr>
            <p:cNvPr id="37" name="Rectangle 36">
              <a:extLst>
                <a:ext uri="{FF2B5EF4-FFF2-40B4-BE49-F238E27FC236}">
                  <a16:creationId xmlns:a16="http://schemas.microsoft.com/office/drawing/2014/main" id="{16B3EED4-BF38-433C-A527-3EB13F2CA2EB}"/>
                </a:ext>
              </a:extLst>
            </p:cNvPr>
            <p:cNvSpPr/>
            <p:nvPr/>
          </p:nvSpPr>
          <p:spPr>
            <a:xfrm>
              <a:off x="3781557" y="1948148"/>
              <a:ext cx="2895503" cy="19082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descr="Une image contenant texte, tableau blanc&#10;&#10;Description générée automatiquement">
              <a:extLst>
                <a:ext uri="{FF2B5EF4-FFF2-40B4-BE49-F238E27FC236}">
                  <a16:creationId xmlns:a16="http://schemas.microsoft.com/office/drawing/2014/main" id="{2136118B-05E6-4AA6-8ED9-242D42656DB0}"/>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3985" b="-1597"/>
            <a:stretch/>
          </p:blipFill>
          <p:spPr>
            <a:xfrm>
              <a:off x="3813643" y="2236057"/>
              <a:ext cx="2845134" cy="1227251"/>
            </a:xfrm>
            <a:prstGeom prst="rect">
              <a:avLst/>
            </a:prstGeom>
          </p:spPr>
        </p:pic>
      </p:grpSp>
      <p:sp>
        <p:nvSpPr>
          <p:cNvPr id="39" name="ZoneTexte 38">
            <a:extLst>
              <a:ext uri="{FF2B5EF4-FFF2-40B4-BE49-F238E27FC236}">
                <a16:creationId xmlns:a16="http://schemas.microsoft.com/office/drawing/2014/main" id="{0FEBA59A-0950-4FE0-8C45-09714B8B066E}"/>
              </a:ext>
            </a:extLst>
          </p:cNvPr>
          <p:cNvSpPr txBox="1"/>
          <p:nvPr/>
        </p:nvSpPr>
        <p:spPr>
          <a:xfrm>
            <a:off x="270956" y="2193180"/>
            <a:ext cx="1383071" cy="369332"/>
          </a:xfrm>
          <a:prstGeom prst="rect">
            <a:avLst/>
          </a:prstGeom>
          <a:noFill/>
        </p:spPr>
        <p:txBody>
          <a:bodyPr wrap="none" rtlCol="0">
            <a:spAutoFit/>
          </a:bodyPr>
          <a:lstStyle/>
          <a:p>
            <a:r>
              <a:rPr lang="fr-FR"/>
              <a:t>Fin du tour 1</a:t>
            </a:r>
          </a:p>
        </p:txBody>
      </p:sp>
      <p:sp>
        <p:nvSpPr>
          <p:cNvPr id="40" name="ZoneTexte 39">
            <a:extLst>
              <a:ext uri="{FF2B5EF4-FFF2-40B4-BE49-F238E27FC236}">
                <a16:creationId xmlns:a16="http://schemas.microsoft.com/office/drawing/2014/main" id="{4EB06AD9-842A-4F67-AC02-BB58866441E3}"/>
              </a:ext>
            </a:extLst>
          </p:cNvPr>
          <p:cNvSpPr txBox="1"/>
          <p:nvPr/>
        </p:nvSpPr>
        <p:spPr>
          <a:xfrm>
            <a:off x="218432" y="3997449"/>
            <a:ext cx="1383071" cy="369332"/>
          </a:xfrm>
          <a:prstGeom prst="rect">
            <a:avLst/>
          </a:prstGeom>
          <a:noFill/>
        </p:spPr>
        <p:txBody>
          <a:bodyPr wrap="none" rtlCol="0">
            <a:spAutoFit/>
          </a:bodyPr>
          <a:lstStyle/>
          <a:p>
            <a:r>
              <a:rPr lang="fr-FR"/>
              <a:t>Fin du tour 2</a:t>
            </a:r>
          </a:p>
        </p:txBody>
      </p:sp>
      <p:sp>
        <p:nvSpPr>
          <p:cNvPr id="41" name="ZoneTexte 40">
            <a:extLst>
              <a:ext uri="{FF2B5EF4-FFF2-40B4-BE49-F238E27FC236}">
                <a16:creationId xmlns:a16="http://schemas.microsoft.com/office/drawing/2014/main" id="{3B06002A-C79B-4D9E-98BC-8D5D00920D92}"/>
              </a:ext>
            </a:extLst>
          </p:cNvPr>
          <p:cNvSpPr txBox="1"/>
          <p:nvPr/>
        </p:nvSpPr>
        <p:spPr>
          <a:xfrm>
            <a:off x="213839" y="5818581"/>
            <a:ext cx="1383071" cy="369332"/>
          </a:xfrm>
          <a:prstGeom prst="rect">
            <a:avLst/>
          </a:prstGeom>
          <a:noFill/>
        </p:spPr>
        <p:txBody>
          <a:bodyPr wrap="none" rtlCol="0">
            <a:spAutoFit/>
          </a:bodyPr>
          <a:lstStyle/>
          <a:p>
            <a:r>
              <a:rPr lang="fr-FR"/>
              <a:t>Fin du tour 3</a:t>
            </a:r>
          </a:p>
        </p:txBody>
      </p:sp>
    </p:spTree>
    <p:extLst>
      <p:ext uri="{BB962C8B-B14F-4D97-AF65-F5344CB8AC3E}">
        <p14:creationId xmlns:p14="http://schemas.microsoft.com/office/powerpoint/2010/main" val="2976823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a:xfrm>
            <a:off x="838200" y="-53222"/>
            <a:ext cx="10515600" cy="1285979"/>
          </a:xfrm>
        </p:spPr>
        <p:txBody>
          <a:bodyPr>
            <a:normAutofit/>
          </a:bodyPr>
          <a:lstStyle/>
          <a:p>
            <a:r>
              <a:rPr lang="en-US" sz="4000" dirty="0">
                <a:ea typeface="+mj-lt"/>
                <a:cs typeface="+mj-lt"/>
              </a:rPr>
              <a:t>ATELIER APPRENTISSAGE 2050  -</a:t>
            </a:r>
            <a:br>
              <a:rPr lang="en-US" sz="4000" dirty="0">
                <a:ea typeface="+mj-lt"/>
                <a:cs typeface="+mj-lt"/>
              </a:rPr>
            </a:br>
            <a:r>
              <a:rPr lang="en-US" sz="4000" dirty="0" err="1">
                <a:ea typeface="+mj-lt"/>
                <a:cs typeface="+mj-lt"/>
              </a:rPr>
              <a:t>Exemple</a:t>
            </a:r>
            <a:endParaRPr lang="en-US" sz="4000" dirty="0">
              <a:ea typeface="+mj-lt"/>
              <a:cs typeface="+mj-lt"/>
            </a:endParaRPr>
          </a:p>
        </p:txBody>
      </p:sp>
      <p:pic>
        <p:nvPicPr>
          <p:cNvPr id="6" name="Image 5" descr="Une image contenant texte, tableau blanc&#10;&#10;Description générée automatiquement">
            <a:extLst>
              <a:ext uri="{FF2B5EF4-FFF2-40B4-BE49-F238E27FC236}">
                <a16:creationId xmlns:a16="http://schemas.microsoft.com/office/drawing/2014/main" id="{FC1FE8BC-A920-44B9-9EBD-9BB1BA7408F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217437" y="956817"/>
            <a:ext cx="7737620" cy="5406662"/>
          </a:xfrm>
          <a:prstGeom prst="rect">
            <a:avLst/>
          </a:prstGeom>
        </p:spPr>
      </p:pic>
      <p:sp>
        <p:nvSpPr>
          <p:cNvPr id="7" name="ZoneTexte 6">
            <a:extLst>
              <a:ext uri="{FF2B5EF4-FFF2-40B4-BE49-F238E27FC236}">
                <a16:creationId xmlns:a16="http://schemas.microsoft.com/office/drawing/2014/main" id="{6D5BC0AC-1E69-480E-8381-B3902C4CBE7C}"/>
              </a:ext>
            </a:extLst>
          </p:cNvPr>
          <p:cNvSpPr txBox="1"/>
          <p:nvPr/>
        </p:nvSpPr>
        <p:spPr>
          <a:xfrm>
            <a:off x="4118478" y="6363479"/>
            <a:ext cx="4185768" cy="230832"/>
          </a:xfrm>
          <a:prstGeom prst="rect">
            <a:avLst/>
          </a:prstGeom>
          <a:noFill/>
        </p:spPr>
        <p:txBody>
          <a:bodyPr wrap="square" rtlCol="0">
            <a:spAutoFit/>
          </a:bodyPr>
          <a:lstStyle/>
          <a:p>
            <a:r>
              <a:rPr lang="fr-FR" sz="900" dirty="0">
                <a:hlinkClick r:id="rId3" tooltip="https://apanaski.blogspot.com/p/sketchnoting-i-rysowanie.html"/>
              </a:rPr>
              <a:t>Cette photo</a:t>
            </a:r>
            <a:r>
              <a:rPr lang="fr-FR" sz="900" dirty="0"/>
              <a:t> par Auteur inconnu est soumise à la licence </a:t>
            </a:r>
            <a:r>
              <a:rPr lang="fr-FR" sz="900" dirty="0">
                <a:hlinkClick r:id="rId4" tooltip="https://creativecommons.org/licenses/by-sa/3.0/"/>
              </a:rPr>
              <a:t>CC BY-SA</a:t>
            </a:r>
            <a:endParaRPr lang="fr-FR" sz="900" dirty="0"/>
          </a:p>
        </p:txBody>
      </p:sp>
    </p:spTree>
    <p:extLst>
      <p:ext uri="{BB962C8B-B14F-4D97-AF65-F5344CB8AC3E}">
        <p14:creationId xmlns:p14="http://schemas.microsoft.com/office/powerpoint/2010/main" val="3291322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texte&#10;&#10;Description générée automatiquement">
            <a:extLst>
              <a:ext uri="{FF2B5EF4-FFF2-40B4-BE49-F238E27FC236}">
                <a16:creationId xmlns:a16="http://schemas.microsoft.com/office/drawing/2014/main" id="{094497F9-6518-4799-8FF3-F0254AFA334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710199" y="368559"/>
            <a:ext cx="6120882" cy="6120882"/>
          </a:xfrm>
          <a:prstGeom prst="rect">
            <a:avLst/>
          </a:prstGeom>
        </p:spPr>
      </p:pic>
      <p:sp>
        <p:nvSpPr>
          <p:cNvPr id="5" name="ZoneTexte 4">
            <a:extLst>
              <a:ext uri="{FF2B5EF4-FFF2-40B4-BE49-F238E27FC236}">
                <a16:creationId xmlns:a16="http://schemas.microsoft.com/office/drawing/2014/main" id="{446926D5-C84C-4FC6-ADA8-D486704F3679}"/>
              </a:ext>
            </a:extLst>
          </p:cNvPr>
          <p:cNvSpPr txBox="1"/>
          <p:nvPr/>
        </p:nvSpPr>
        <p:spPr>
          <a:xfrm>
            <a:off x="5710213" y="6514251"/>
            <a:ext cx="6120867" cy="230832"/>
          </a:xfrm>
          <a:prstGeom prst="rect">
            <a:avLst/>
          </a:prstGeom>
          <a:noFill/>
        </p:spPr>
        <p:txBody>
          <a:bodyPr wrap="square" rtlCol="0">
            <a:spAutoFit/>
          </a:bodyPr>
          <a:lstStyle/>
          <a:p>
            <a:r>
              <a:rPr lang="fr-FR" sz="900">
                <a:hlinkClick r:id="rId3" tooltip="https://www.flickr.com/photos/daviding/40368698652"/>
              </a:rPr>
              <a:t>Cette photo</a:t>
            </a:r>
            <a:r>
              <a:rPr lang="fr-FR" sz="900"/>
              <a:t> par Auteur inconnu est soumise à la licence </a:t>
            </a:r>
            <a:r>
              <a:rPr lang="fr-FR" sz="900">
                <a:hlinkClick r:id="rId4" tooltip="https://creativecommons.org/licenses/by-nc-sa/3.0/"/>
              </a:rPr>
              <a:t>CC BY-SA-NC</a:t>
            </a:r>
            <a:endParaRPr lang="fr-FR" sz="900"/>
          </a:p>
        </p:txBody>
      </p:sp>
      <p:sp>
        <p:nvSpPr>
          <p:cNvPr id="6" name="Titre 1">
            <a:extLst>
              <a:ext uri="{FF2B5EF4-FFF2-40B4-BE49-F238E27FC236}">
                <a16:creationId xmlns:a16="http://schemas.microsoft.com/office/drawing/2014/main" id="{CF409848-3BCC-4CE9-8A26-1BA845FEF900}"/>
              </a:ext>
            </a:extLst>
          </p:cNvPr>
          <p:cNvSpPr>
            <a:spLocks noGrp="1"/>
          </p:cNvSpPr>
          <p:nvPr>
            <p:ph type="title"/>
          </p:nvPr>
        </p:nvSpPr>
        <p:spPr>
          <a:xfrm>
            <a:off x="838200" y="-53222"/>
            <a:ext cx="4069702" cy="3664169"/>
          </a:xfrm>
        </p:spPr>
        <p:txBody>
          <a:bodyPr>
            <a:normAutofit/>
          </a:bodyPr>
          <a:lstStyle/>
          <a:p>
            <a:r>
              <a:rPr lang="en-US" sz="4000" dirty="0">
                <a:ea typeface="+mj-lt"/>
                <a:cs typeface="+mj-lt"/>
              </a:rPr>
              <a:t>ATELIER APPRENTISSAGE 2050  -</a:t>
            </a:r>
            <a:br>
              <a:rPr lang="en-US" sz="4000" dirty="0">
                <a:ea typeface="+mj-lt"/>
                <a:cs typeface="+mj-lt"/>
              </a:rPr>
            </a:br>
            <a:r>
              <a:rPr lang="en-US" sz="4000" dirty="0" err="1">
                <a:ea typeface="+mj-lt"/>
                <a:cs typeface="+mj-lt"/>
              </a:rPr>
              <a:t>Exemple</a:t>
            </a:r>
            <a:endParaRPr lang="en-US" sz="4000" dirty="0">
              <a:ea typeface="+mj-lt"/>
              <a:cs typeface="+mj-lt"/>
            </a:endParaRPr>
          </a:p>
        </p:txBody>
      </p:sp>
    </p:spTree>
    <p:extLst>
      <p:ext uri="{BB962C8B-B14F-4D97-AF65-F5344CB8AC3E}">
        <p14:creationId xmlns:p14="http://schemas.microsoft.com/office/powerpoint/2010/main" val="1715274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a:t>Atelier Apprentissage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a:lstStyle/>
          <a:p>
            <a:r>
              <a:rPr lang="fr-FR"/>
              <a:t>Feuilles d’instructions * 5 (à consulter en binôme)</a:t>
            </a:r>
          </a:p>
          <a:p>
            <a:r>
              <a:rPr lang="fr-FR"/>
              <a:t>Post-it géants : 12 (3 pour résultats final, 9 pour brouillons et essais par groupe)</a:t>
            </a:r>
          </a:p>
          <a:p>
            <a:r>
              <a:rPr lang="fr-FR"/>
              <a:t>Feutres marqueurs épais + plusieurs couleurs : assez pour 10 personnes</a:t>
            </a:r>
          </a:p>
          <a:p>
            <a:endParaRPr lang="fr-FR"/>
          </a:p>
        </p:txBody>
      </p:sp>
    </p:spTree>
    <p:extLst>
      <p:ext uri="{BB962C8B-B14F-4D97-AF65-F5344CB8AC3E}">
        <p14:creationId xmlns:p14="http://schemas.microsoft.com/office/powerpoint/2010/main" val="329962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dirty="0">
                <a:ea typeface="+mj-lt"/>
                <a:cs typeface="+mj-lt"/>
              </a:rPr>
              <a:t>ATELIER ESPACES DE VIE 2050</a:t>
            </a:r>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798496851"/>
              </p:ext>
            </p:extLst>
          </p:nvPr>
        </p:nvGraphicFramePr>
        <p:xfrm>
          <a:off x="523784" y="1509204"/>
          <a:ext cx="11141476" cy="5095782"/>
        </p:xfrm>
        <a:graphic>
          <a:graphicData uri="http://schemas.openxmlformats.org/drawingml/2006/table">
            <a:tbl>
              <a:tblPr bandRow="1">
                <a:tableStyleId>{5C22544A-7EE6-4342-B048-85BDC9FD1C3A}</a:tableStyleId>
              </a:tblPr>
              <a:tblGrid>
                <a:gridCol w="1856913">
                  <a:extLst>
                    <a:ext uri="{9D8B030D-6E8A-4147-A177-3AD203B41FA5}">
                      <a16:colId xmlns:a16="http://schemas.microsoft.com/office/drawing/2014/main" val="416040190"/>
                    </a:ext>
                  </a:extLst>
                </a:gridCol>
                <a:gridCol w="1856913">
                  <a:extLst>
                    <a:ext uri="{9D8B030D-6E8A-4147-A177-3AD203B41FA5}">
                      <a16:colId xmlns:a16="http://schemas.microsoft.com/office/drawing/2014/main" val="2019038073"/>
                    </a:ext>
                  </a:extLst>
                </a:gridCol>
                <a:gridCol w="1856913">
                  <a:extLst>
                    <a:ext uri="{9D8B030D-6E8A-4147-A177-3AD203B41FA5}">
                      <a16:colId xmlns:a16="http://schemas.microsoft.com/office/drawing/2014/main" val="102799537"/>
                    </a:ext>
                  </a:extLst>
                </a:gridCol>
                <a:gridCol w="5570737">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p>
                    <a:p>
                      <a:pPr lvl="0">
                        <a:buNone/>
                      </a:pPr>
                      <a:r>
                        <a:rPr lang="fr-FR" sz="1400" b="0" i="0" u="none" strike="noStrike" noProof="0" dirty="0">
                          <a:latin typeface="Calibri"/>
                        </a:rPr>
                        <a:t>Vous êtes en charge de sélectionner les fournitures et ameublements pour refaire entièrement les espaces de vie de la communauté pour 2051.</a:t>
                      </a:r>
                    </a:p>
                    <a:p>
                      <a:pPr lvl="0">
                        <a:buNone/>
                      </a:pPr>
                      <a:endParaRPr lang="fr-FR" sz="1400" b="0" i="0" u="none" strike="noStrike" noProof="0" dirty="0">
                        <a:latin typeface="Calibri"/>
                      </a:endParaRPr>
                    </a:p>
                    <a:p>
                      <a:pPr lvl="0">
                        <a:buNone/>
                      </a:pPr>
                      <a:r>
                        <a:rPr lang="fr-FR" sz="1400" b="0" i="0" u="none" strike="noStrike" noProof="0" dirty="0">
                          <a:latin typeface="Calibri"/>
                        </a:rPr>
                        <a:t>A vous de présenter diverses propositions au comité.</a:t>
                      </a:r>
                      <a:endParaRPr lang="fr-FR" dirty="0"/>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a:t>
                      </a:r>
                    </a:p>
                  </a:txBody>
                  <a:tcPr/>
                </a:tc>
                <a:extLst>
                  <a:ext uri="{0D108BD9-81ED-4DB2-BD59-A6C34878D82A}">
                    <a16:rowId xmlns:a16="http://schemas.microsoft.com/office/drawing/2014/main" val="3856860579"/>
                  </a:ext>
                </a:extLst>
              </a:tr>
              <a:tr h="1698594">
                <a:tc gridSpan="3">
                  <a:txBody>
                    <a:bodyPr/>
                    <a:lstStyle/>
                    <a:p>
                      <a:r>
                        <a:rPr lang="fr-FR" sz="1400" b="1" noProof="0" dirty="0"/>
                        <a:t>Instructions :</a:t>
                      </a:r>
                      <a:endParaRPr lang="fr-FR" sz="1400" noProof="0" dirty="0"/>
                    </a:p>
                    <a:p>
                      <a:pPr lvl="0">
                        <a:buNone/>
                      </a:pPr>
                      <a:r>
                        <a:rPr lang="fr-FR" sz="1400" b="0" noProof="0" dirty="0"/>
                        <a:t>Dessinez les espaces de travail et de vie de la communauté.</a:t>
                      </a:r>
                    </a:p>
                    <a:p>
                      <a:pPr lvl="0">
                        <a:buNone/>
                      </a:pPr>
                      <a:endParaRPr lang="fr-FR" sz="1400" b="0" noProof="0" dirty="0"/>
                    </a:p>
                    <a:p>
                      <a:pPr lvl="0">
                        <a:buNone/>
                      </a:pPr>
                      <a:r>
                        <a:rPr lang="fr-FR" sz="1400" b="0" noProof="0" dirty="0"/>
                        <a:t>Restitution : Affichez votre travail à la restitution.</a:t>
                      </a:r>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dirty="0"/>
                        <a:t>A atteindre pour le Tour 1 </a:t>
                      </a:r>
                      <a:r>
                        <a:rPr lang="fr-FR" sz="1400" noProof="0" dirty="0"/>
                        <a:t>:</a:t>
                      </a:r>
                    </a:p>
                    <a:p>
                      <a:pPr lvl="0">
                        <a:buNone/>
                      </a:pPr>
                      <a:r>
                        <a:rPr lang="fr-FR" sz="1400" noProof="0" dirty="0"/>
                        <a:t>Minimum 3 images avec descriptifs</a:t>
                      </a:r>
                    </a:p>
                  </a:txBody>
                  <a:tcPr/>
                </a:tc>
                <a:tc>
                  <a:txBody>
                    <a:bodyPr/>
                    <a:lstStyle/>
                    <a:p>
                      <a:r>
                        <a:rPr lang="fr-FR" sz="1400" b="1" noProof="0" dirty="0"/>
                        <a:t>A atteindre pour le Tour 2 </a:t>
                      </a:r>
                      <a:r>
                        <a:rPr lang="fr-FR" sz="1400" noProof="0" dirty="0"/>
                        <a:t>:</a:t>
                      </a:r>
                    </a:p>
                    <a:p>
                      <a:pPr lvl="0">
                        <a:buNone/>
                      </a:pPr>
                      <a:r>
                        <a:rPr lang="fr-FR" sz="1400" noProof="0" dirty="0"/>
                        <a:t>Minimum 3 images avec descriptifs</a:t>
                      </a:r>
                    </a:p>
                  </a:txBody>
                  <a:tcPr/>
                </a:tc>
                <a:tc>
                  <a:txBody>
                    <a:bodyPr/>
                    <a:lstStyle/>
                    <a:p>
                      <a:r>
                        <a:rPr lang="fr-FR" sz="1400" b="1" noProof="0" dirty="0"/>
                        <a:t>A atteindre pour le Tour 3 </a:t>
                      </a:r>
                      <a:r>
                        <a:rPr lang="fr-FR" sz="1400" noProof="0" dirty="0"/>
                        <a:t>:</a:t>
                      </a:r>
                    </a:p>
                    <a:p>
                      <a:r>
                        <a:rPr lang="fr-FR" sz="1400" noProof="0" dirty="0"/>
                        <a:t>Minimum 3 images avec descriptifs</a:t>
                      </a:r>
                    </a:p>
                  </a:txBody>
                  <a:tcPr/>
                </a:tc>
                <a:tc>
                  <a:txBody>
                    <a:bodyPr/>
                    <a:lstStyle/>
                    <a:p>
                      <a:pPr lvl="0">
                        <a:buNone/>
                      </a:pPr>
                      <a:r>
                        <a:rPr lang="fr-FR" sz="1400" b="1" i="0" u="none" strike="noStrike" noProof="0" dirty="0">
                          <a:latin typeface="Calibri"/>
                        </a:rPr>
                        <a:t>Conseils : </a:t>
                      </a:r>
                    </a:p>
                    <a:p>
                      <a:pPr marL="285750" lvl="0" indent="-285750">
                        <a:buFontTx/>
                        <a:buChar char="-"/>
                      </a:pPr>
                      <a:r>
                        <a:rPr lang="fr-FR" sz="1400" b="0" i="0" u="none" strike="noStrike" noProof="0" dirty="0">
                          <a:latin typeface="Calibri"/>
                        </a:rPr>
                        <a:t>N'hésitez pas à changer les couleurs ou ambiances des photos pour que le tout soit cohérent</a:t>
                      </a:r>
                    </a:p>
                    <a:p>
                      <a:pPr marL="285750" lvl="0" indent="-285750">
                        <a:buFontTx/>
                        <a:buChar char="-"/>
                      </a:pPr>
                      <a:r>
                        <a:rPr lang="fr-FR" sz="1400" b="0" i="0" u="none" strike="noStrike" noProof="0" dirty="0">
                          <a:latin typeface="Calibri"/>
                        </a:rPr>
                        <a:t>Vous pouvez choisir également le style « Annonce immobilière » pour le descriptif</a:t>
                      </a:r>
                      <a:endParaRPr lang="fr-FR" sz="1400" b="0" dirty="0"/>
                    </a:p>
                    <a:p>
                      <a:pPr lvl="0">
                        <a:buNone/>
                      </a:pPr>
                      <a:endParaRPr lang="fr-FR" sz="1400" b="0" i="0" u="none" strike="noStrike" noProof="0" dirty="0">
                        <a:latin typeface="Calibri"/>
                      </a:endParaRPr>
                    </a:p>
                  </a:txBody>
                  <a:tcPr/>
                </a:tc>
                <a:extLst>
                  <a:ext uri="{0D108BD9-81ED-4DB2-BD59-A6C34878D82A}">
                    <a16:rowId xmlns:a16="http://schemas.microsoft.com/office/drawing/2014/main" val="2818071240"/>
                  </a:ext>
                </a:extLst>
              </a:tr>
            </a:tbl>
          </a:graphicData>
        </a:graphic>
      </p:graphicFrame>
      <p:pic>
        <p:nvPicPr>
          <p:cNvPr id="9" name="Image 8" descr="Une image contenant texte, dôme&#10;&#10;Description générée automatiquement">
            <a:extLst>
              <a:ext uri="{FF2B5EF4-FFF2-40B4-BE49-F238E27FC236}">
                <a16:creationId xmlns:a16="http://schemas.microsoft.com/office/drawing/2014/main" id="{23ACD115-7217-4F13-952A-9C5821EAB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0138" y="1853784"/>
            <a:ext cx="1277075" cy="838940"/>
          </a:xfrm>
          <a:prstGeom prst="rect">
            <a:avLst/>
          </a:prstGeom>
        </p:spPr>
      </p:pic>
      <p:pic>
        <p:nvPicPr>
          <p:cNvPr id="13" name="Image 12">
            <a:extLst>
              <a:ext uri="{FF2B5EF4-FFF2-40B4-BE49-F238E27FC236}">
                <a16:creationId xmlns:a16="http://schemas.microsoft.com/office/drawing/2014/main" id="{742FE0EE-867D-44FF-8E19-71F0B014E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6867" y="1853784"/>
            <a:ext cx="1429027" cy="826594"/>
          </a:xfrm>
          <a:prstGeom prst="rect">
            <a:avLst/>
          </a:prstGeom>
        </p:spPr>
      </p:pic>
      <p:pic>
        <p:nvPicPr>
          <p:cNvPr id="15" name="Image 14" descr="Une image contenant table, fauteuil, table de salle à manger&#10;&#10;Description générée automatiquement">
            <a:extLst>
              <a:ext uri="{FF2B5EF4-FFF2-40B4-BE49-F238E27FC236}">
                <a16:creationId xmlns:a16="http://schemas.microsoft.com/office/drawing/2014/main" id="{A976B148-BFD3-4B9C-9AFE-3834A1B661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9373" y="1853784"/>
            <a:ext cx="1523249" cy="853019"/>
          </a:xfrm>
          <a:prstGeom prst="rect">
            <a:avLst/>
          </a:prstGeom>
        </p:spPr>
      </p:pic>
      <p:pic>
        <p:nvPicPr>
          <p:cNvPr id="17" name="Image 16">
            <a:extLst>
              <a:ext uri="{FF2B5EF4-FFF2-40B4-BE49-F238E27FC236}">
                <a16:creationId xmlns:a16="http://schemas.microsoft.com/office/drawing/2014/main" id="{DFB46687-A05F-4EE9-96FF-6B86BF0F9E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40599" y="2792913"/>
            <a:ext cx="1855295" cy="1031544"/>
          </a:xfrm>
          <a:prstGeom prst="rect">
            <a:avLst/>
          </a:prstGeom>
        </p:spPr>
      </p:pic>
      <p:pic>
        <p:nvPicPr>
          <p:cNvPr id="19" name="Image 18" descr="Une image contenant ciel, extérieur, tour, passage&#10;&#10;Description générée automatiquement">
            <a:extLst>
              <a:ext uri="{FF2B5EF4-FFF2-40B4-BE49-F238E27FC236}">
                <a16:creationId xmlns:a16="http://schemas.microsoft.com/office/drawing/2014/main" id="{B94AC74D-4408-491A-8591-58D9198CD6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90138" y="2768404"/>
            <a:ext cx="1635249" cy="1080561"/>
          </a:xfrm>
          <a:prstGeom prst="rect">
            <a:avLst/>
          </a:prstGeom>
        </p:spPr>
      </p:pic>
      <p:pic>
        <p:nvPicPr>
          <p:cNvPr id="21" name="Image 20" descr="Une image contenant extérieur, route, bordure&#10;&#10;Description générée automatiquement">
            <a:extLst>
              <a:ext uri="{FF2B5EF4-FFF2-40B4-BE49-F238E27FC236}">
                <a16:creationId xmlns:a16="http://schemas.microsoft.com/office/drawing/2014/main" id="{90DDBDC3-DA12-457D-811B-E85F9E2A1D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40724" y="2781572"/>
            <a:ext cx="1405631" cy="1054223"/>
          </a:xfrm>
          <a:prstGeom prst="rect">
            <a:avLst/>
          </a:prstGeom>
        </p:spPr>
      </p:pic>
      <p:pic>
        <p:nvPicPr>
          <p:cNvPr id="23" name="Image 22" descr="Une image contenant homme, personne, debout&#10;&#10;Description générée automatiquement">
            <a:extLst>
              <a:ext uri="{FF2B5EF4-FFF2-40B4-BE49-F238E27FC236}">
                <a16:creationId xmlns:a16="http://schemas.microsoft.com/office/drawing/2014/main" id="{CE055DBD-3FC5-4ED4-A0E6-DAF4317E3F0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84353" y="3910564"/>
            <a:ext cx="1405631" cy="938962"/>
          </a:xfrm>
          <a:prstGeom prst="rect">
            <a:avLst/>
          </a:prstGeom>
        </p:spPr>
      </p:pic>
      <p:pic>
        <p:nvPicPr>
          <p:cNvPr id="25" name="Image 24" descr="Une image contenant texte, extérieur, terrain, ciel&#10;&#10;Description générée automatiquement">
            <a:extLst>
              <a:ext uri="{FF2B5EF4-FFF2-40B4-BE49-F238E27FC236}">
                <a16:creationId xmlns:a16="http://schemas.microsoft.com/office/drawing/2014/main" id="{8202A383-A427-4ED7-B0D3-169E2E3A102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87052" y="3910564"/>
            <a:ext cx="1635250" cy="919374"/>
          </a:xfrm>
          <a:prstGeom prst="rect">
            <a:avLst/>
          </a:prstGeom>
        </p:spPr>
      </p:pic>
    </p:spTree>
    <p:extLst>
      <p:ext uri="{BB962C8B-B14F-4D97-AF65-F5344CB8AC3E}">
        <p14:creationId xmlns:p14="http://schemas.microsoft.com/office/powerpoint/2010/main" val="3942834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extérieur, route, bordure&#10;&#10;Description générée automatiquement">
            <a:extLst>
              <a:ext uri="{FF2B5EF4-FFF2-40B4-BE49-F238E27FC236}">
                <a16:creationId xmlns:a16="http://schemas.microsoft.com/office/drawing/2014/main" id="{1355A388-9A41-4428-A98C-A214E52EAD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24" y="1284949"/>
            <a:ext cx="7387976" cy="5540981"/>
          </a:xfrm>
          <a:prstGeom prst="rect">
            <a:avLst/>
          </a:prstGeom>
        </p:spPr>
      </p:pic>
      <p:sp>
        <p:nvSpPr>
          <p:cNvPr id="2" name="Titre 1">
            <a:extLst>
              <a:ext uri="{FF2B5EF4-FFF2-40B4-BE49-F238E27FC236}">
                <a16:creationId xmlns:a16="http://schemas.microsoft.com/office/drawing/2014/main" id="{B3451CE4-DA76-4A53-AAB9-09C9869748ED}"/>
              </a:ext>
            </a:extLst>
          </p:cNvPr>
          <p:cNvSpPr>
            <a:spLocks noGrp="1"/>
          </p:cNvSpPr>
          <p:nvPr>
            <p:ph type="title"/>
          </p:nvPr>
        </p:nvSpPr>
        <p:spPr>
          <a:xfrm>
            <a:off x="838200" y="365125"/>
            <a:ext cx="10515600" cy="811533"/>
          </a:xfrm>
        </p:spPr>
        <p:txBody>
          <a:bodyPr>
            <a:normAutofit fontScale="90000"/>
          </a:bodyPr>
          <a:lstStyle/>
          <a:p>
            <a:r>
              <a:rPr lang="en-US" sz="4400">
                <a:ea typeface="+mj-lt"/>
                <a:cs typeface="+mj-lt"/>
              </a:rPr>
              <a:t>ATELIER ESPACES DE TRAVAIL 2050  </a:t>
            </a:r>
            <a:br>
              <a:rPr lang="en-US" sz="4400">
                <a:ea typeface="+mj-lt"/>
                <a:cs typeface="+mj-lt"/>
              </a:rPr>
            </a:br>
            <a:r>
              <a:rPr lang="en-US" sz="4400">
                <a:ea typeface="+mj-lt"/>
                <a:cs typeface="+mj-lt"/>
              </a:rPr>
              <a:t>- </a:t>
            </a:r>
            <a:r>
              <a:rPr lang="en-US" err="1">
                <a:ea typeface="+mj-lt"/>
                <a:cs typeface="+mj-lt"/>
              </a:rPr>
              <a:t>Exemple</a:t>
            </a:r>
            <a:r>
              <a:rPr lang="en-US" sz="4400">
                <a:ea typeface="+mj-lt"/>
                <a:cs typeface="+mj-lt"/>
              </a:rPr>
              <a:t> de </a:t>
            </a:r>
            <a:r>
              <a:rPr lang="en-US" sz="4400" err="1">
                <a:ea typeface="+mj-lt"/>
                <a:cs typeface="+mj-lt"/>
              </a:rPr>
              <a:t>résultats</a:t>
            </a:r>
            <a:endParaRPr lang="fr-FR"/>
          </a:p>
        </p:txBody>
      </p:sp>
      <p:sp>
        <p:nvSpPr>
          <p:cNvPr id="5" name="Espace réservé du contenu 4">
            <a:extLst>
              <a:ext uri="{FF2B5EF4-FFF2-40B4-BE49-F238E27FC236}">
                <a16:creationId xmlns:a16="http://schemas.microsoft.com/office/drawing/2014/main" id="{3279E8ED-D65C-4B30-A23E-00491E3998AA}"/>
              </a:ext>
            </a:extLst>
          </p:cNvPr>
          <p:cNvSpPr>
            <a:spLocks noGrp="1"/>
          </p:cNvSpPr>
          <p:nvPr>
            <p:ph idx="1"/>
          </p:nvPr>
        </p:nvSpPr>
        <p:spPr>
          <a:xfrm>
            <a:off x="7772400" y="1284949"/>
            <a:ext cx="3581400" cy="4892014"/>
          </a:xfrm>
        </p:spPr>
        <p:txBody>
          <a:bodyPr vert="horz" lIns="91440" tIns="45720" rIns="91440" bIns="45720" rtlCol="0" anchor="t">
            <a:normAutofit/>
          </a:bodyPr>
          <a:lstStyle/>
          <a:p>
            <a:r>
              <a:rPr lang="fr-FR" sz="2000"/>
              <a:t>Bureaux mobiles PIGEOT 2070</a:t>
            </a:r>
          </a:p>
          <a:p>
            <a:r>
              <a:rPr lang="fr-FR" sz="2000"/>
              <a:t>100 véhicules disponibles région parisienne. 5 places par véhicule. Air conditionné...</a:t>
            </a:r>
            <a:endParaRPr lang="fr-FR" sz="2000">
              <a:cs typeface="Calibri"/>
            </a:endParaRPr>
          </a:p>
          <a:p>
            <a:endParaRPr lang="fr-FR" sz="2000"/>
          </a:p>
          <a:p>
            <a:r>
              <a:rPr lang="fr-FR" sz="2000"/>
              <a:t>3 raisons pour lesquelles nous l’avons sélectionné :</a:t>
            </a:r>
          </a:p>
          <a:p>
            <a:pPr marL="800100" lvl="1" indent="-342900">
              <a:buFont typeface="+mj-lt"/>
              <a:buAutoNum type="arabicPeriod"/>
            </a:pPr>
            <a:r>
              <a:rPr lang="fr-FR" sz="1600"/>
              <a:t>Idéal pour faire passer des entretiens sur le chemin du retour</a:t>
            </a:r>
          </a:p>
          <a:p>
            <a:pPr marL="800100" lvl="1" indent="-342900">
              <a:buFont typeface="+mj-lt"/>
              <a:buAutoNum type="arabicPeriod"/>
            </a:pPr>
            <a:r>
              <a:rPr lang="fr-FR" sz="1600"/>
              <a:t>Le confort des sièges</a:t>
            </a:r>
          </a:p>
          <a:p>
            <a:pPr marL="800100" lvl="1" indent="-342900">
              <a:buFont typeface="+mj-lt"/>
              <a:buAutoNum type="arabicPeriod"/>
            </a:pPr>
            <a:r>
              <a:rPr lang="fr-FR" sz="1600"/>
              <a:t>Possibilité de passer en mode « sieste mobile » (vitres teintées opaques, insonorisation, module couchettes)</a:t>
            </a:r>
          </a:p>
          <a:p>
            <a:pPr lvl="1"/>
            <a:endParaRPr lang="fr-FR" sz="1800"/>
          </a:p>
        </p:txBody>
      </p:sp>
    </p:spTree>
    <p:extLst>
      <p:ext uri="{BB962C8B-B14F-4D97-AF65-F5344CB8AC3E}">
        <p14:creationId xmlns:p14="http://schemas.microsoft.com/office/powerpoint/2010/main" val="2394667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451CE4-DA76-4A53-AAB9-09C9869748ED}"/>
              </a:ext>
            </a:extLst>
          </p:cNvPr>
          <p:cNvSpPr>
            <a:spLocks noGrp="1"/>
          </p:cNvSpPr>
          <p:nvPr>
            <p:ph type="title"/>
          </p:nvPr>
        </p:nvSpPr>
        <p:spPr>
          <a:xfrm>
            <a:off x="838200" y="365125"/>
            <a:ext cx="10515600" cy="811533"/>
          </a:xfrm>
        </p:spPr>
        <p:txBody>
          <a:bodyPr>
            <a:normAutofit fontScale="90000"/>
          </a:bodyPr>
          <a:lstStyle/>
          <a:p>
            <a:r>
              <a:rPr lang="en-US" sz="4400">
                <a:ea typeface="+mj-lt"/>
                <a:cs typeface="+mj-lt"/>
              </a:rPr>
              <a:t>ATELIER ESPACES DE TRAVAIL 2050  </a:t>
            </a:r>
            <a:br>
              <a:rPr lang="en-US" sz="4400">
                <a:ea typeface="+mj-lt"/>
                <a:cs typeface="+mj-lt"/>
              </a:rPr>
            </a:br>
            <a:r>
              <a:rPr lang="en-US" sz="4400">
                <a:ea typeface="+mj-lt"/>
                <a:cs typeface="+mj-lt"/>
              </a:rPr>
              <a:t>- </a:t>
            </a:r>
            <a:r>
              <a:rPr lang="en-US" sz="4400" err="1">
                <a:ea typeface="+mj-lt"/>
                <a:cs typeface="+mj-lt"/>
              </a:rPr>
              <a:t>Résultats</a:t>
            </a:r>
            <a:r>
              <a:rPr lang="en-US" sz="4400">
                <a:ea typeface="+mj-lt"/>
                <a:cs typeface="+mj-lt"/>
              </a:rPr>
              <a:t> </a:t>
            </a:r>
            <a:r>
              <a:rPr lang="en-US" sz="4400" err="1">
                <a:ea typeface="+mj-lt"/>
                <a:cs typeface="+mj-lt"/>
              </a:rPr>
              <a:t>attendus</a:t>
            </a:r>
            <a:endParaRPr lang="fr-FR"/>
          </a:p>
        </p:txBody>
      </p:sp>
      <p:sp>
        <p:nvSpPr>
          <p:cNvPr id="5" name="Espace réservé du contenu 4">
            <a:extLst>
              <a:ext uri="{FF2B5EF4-FFF2-40B4-BE49-F238E27FC236}">
                <a16:creationId xmlns:a16="http://schemas.microsoft.com/office/drawing/2014/main" id="{3279E8ED-D65C-4B30-A23E-00491E3998AA}"/>
              </a:ext>
            </a:extLst>
          </p:cNvPr>
          <p:cNvSpPr>
            <a:spLocks noGrp="1"/>
          </p:cNvSpPr>
          <p:nvPr>
            <p:ph idx="1"/>
          </p:nvPr>
        </p:nvSpPr>
        <p:spPr>
          <a:xfrm>
            <a:off x="7772400" y="1284949"/>
            <a:ext cx="3581400" cy="4892014"/>
          </a:xfrm>
        </p:spPr>
        <p:txBody>
          <a:bodyPr vert="horz" lIns="91440" tIns="45720" rIns="91440" bIns="45720" rtlCol="0" anchor="t">
            <a:normAutofit/>
          </a:bodyPr>
          <a:lstStyle/>
          <a:p>
            <a:r>
              <a:rPr lang="fr-FR" sz="2000"/>
              <a:t>Titre de l’espace de travail</a:t>
            </a:r>
          </a:p>
          <a:p>
            <a:r>
              <a:rPr lang="fr-FR" sz="2000"/>
              <a:t>Descriptif ou caractéristique clé</a:t>
            </a:r>
            <a:endParaRPr lang="fr-FR" sz="2000">
              <a:cs typeface="Calibri"/>
            </a:endParaRPr>
          </a:p>
          <a:p>
            <a:endParaRPr lang="fr-FR" sz="2000"/>
          </a:p>
          <a:p>
            <a:r>
              <a:rPr lang="fr-FR" sz="2000"/>
              <a:t>3 raisons </a:t>
            </a:r>
            <a:r>
              <a:rPr lang="fr-FR" sz="2000">
                <a:ea typeface="+mn-lt"/>
                <a:cs typeface="+mn-lt"/>
              </a:rPr>
              <a:t>pour lesquelles</a:t>
            </a:r>
            <a:r>
              <a:rPr lang="fr-FR" sz="2000"/>
              <a:t> nous l’avons sélectionné :</a:t>
            </a:r>
            <a:endParaRPr lang="fr-FR" sz="2000">
              <a:cs typeface="Calibri"/>
            </a:endParaRPr>
          </a:p>
          <a:p>
            <a:pPr marL="800100" lvl="1" indent="-342900">
              <a:buFont typeface="+mj-lt"/>
              <a:buAutoNum type="arabicPeriod"/>
            </a:pPr>
            <a:endParaRPr lang="fr-FR" sz="1800"/>
          </a:p>
          <a:p>
            <a:pPr marL="800100" lvl="1" indent="-342900">
              <a:buFont typeface="+mj-lt"/>
              <a:buAutoNum type="arabicPeriod"/>
            </a:pPr>
            <a:endParaRPr lang="fr-FR" sz="1800"/>
          </a:p>
          <a:p>
            <a:pPr marL="0" indent="0">
              <a:buNone/>
            </a:pPr>
            <a:endParaRPr lang="fr-FR" sz="2200"/>
          </a:p>
          <a:p>
            <a:pPr marL="0" indent="0">
              <a:buNone/>
            </a:pPr>
            <a:endParaRPr lang="fr-FR" sz="2200"/>
          </a:p>
          <a:p>
            <a:pPr marL="0" indent="0">
              <a:buNone/>
            </a:pPr>
            <a:r>
              <a:rPr lang="fr-FR" sz="2200"/>
              <a:t>Format final : Slides, à imprimer ou non selon matériel à disposition</a:t>
            </a:r>
            <a:endParaRPr lang="fr-FR" sz="2200">
              <a:cs typeface="Calibri"/>
            </a:endParaRPr>
          </a:p>
        </p:txBody>
      </p:sp>
      <p:sp>
        <p:nvSpPr>
          <p:cNvPr id="3" name="Rectangle 2">
            <a:extLst>
              <a:ext uri="{FF2B5EF4-FFF2-40B4-BE49-F238E27FC236}">
                <a16:creationId xmlns:a16="http://schemas.microsoft.com/office/drawing/2014/main" id="{E0A547DE-9FE7-4717-8592-FB5DF3D451AD}"/>
              </a:ext>
            </a:extLst>
          </p:cNvPr>
          <p:cNvSpPr/>
          <p:nvPr/>
        </p:nvSpPr>
        <p:spPr>
          <a:xfrm>
            <a:off x="0" y="1435100"/>
            <a:ext cx="7505700" cy="5245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Image</a:t>
            </a:r>
          </a:p>
        </p:txBody>
      </p:sp>
    </p:spTree>
    <p:extLst>
      <p:ext uri="{BB962C8B-B14F-4D97-AF65-F5344CB8AC3E}">
        <p14:creationId xmlns:p14="http://schemas.microsoft.com/office/powerpoint/2010/main" val="3058034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a:t>Atelier Espaces de travail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a:normAutofit/>
          </a:bodyPr>
          <a:lstStyle/>
          <a:p>
            <a:r>
              <a:rPr lang="fr-FR" dirty="0"/>
              <a:t>Feuilles d’instructions * 5 (à consulter en binôme)</a:t>
            </a:r>
          </a:p>
          <a:p>
            <a:r>
              <a:rPr lang="fr-FR" dirty="0"/>
              <a:t>Feuilles pour prendre des notes et stylos</a:t>
            </a:r>
          </a:p>
          <a:p>
            <a:r>
              <a:rPr lang="fr-FR" dirty="0"/>
              <a:t>Feuilles pour les résultats</a:t>
            </a:r>
          </a:p>
          <a:p>
            <a:r>
              <a:rPr lang="fr-FR" dirty="0"/>
              <a:t>Feutres de couleur</a:t>
            </a:r>
          </a:p>
        </p:txBody>
      </p:sp>
    </p:spTree>
    <p:extLst>
      <p:ext uri="{BB962C8B-B14F-4D97-AF65-F5344CB8AC3E}">
        <p14:creationId xmlns:p14="http://schemas.microsoft.com/office/powerpoint/2010/main" val="15913278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C88E5-34E8-4632-BA33-84FD2CC76ADB}"/>
              </a:ext>
            </a:extLst>
          </p:cNvPr>
          <p:cNvSpPr>
            <a:spLocks noGrp="1"/>
          </p:cNvSpPr>
          <p:nvPr>
            <p:ph type="title"/>
          </p:nvPr>
        </p:nvSpPr>
        <p:spPr/>
        <p:txBody>
          <a:bodyPr>
            <a:normAutofit/>
          </a:bodyPr>
          <a:lstStyle/>
          <a:p>
            <a:r>
              <a:rPr lang="en-US" sz="4000" dirty="0">
                <a:ea typeface="+mj-lt"/>
                <a:cs typeface="+mj-lt"/>
              </a:rPr>
              <a:t>ATELIER EVENEMENTS 2050</a:t>
            </a:r>
            <a:br>
              <a:rPr lang="en-US" sz="4000" dirty="0">
                <a:ea typeface="+mj-lt"/>
                <a:cs typeface="+mj-lt"/>
              </a:rPr>
            </a:br>
            <a:r>
              <a:rPr lang="en-US" sz="4000" dirty="0">
                <a:ea typeface="+mj-lt"/>
                <a:cs typeface="+mj-lt"/>
              </a:rPr>
              <a:t>FEUILLE D’INSTRUCTIONS</a:t>
            </a:r>
          </a:p>
        </p:txBody>
      </p:sp>
      <p:graphicFrame>
        <p:nvGraphicFramePr>
          <p:cNvPr id="6" name="Tableau 6">
            <a:extLst>
              <a:ext uri="{FF2B5EF4-FFF2-40B4-BE49-F238E27FC236}">
                <a16:creationId xmlns:a16="http://schemas.microsoft.com/office/drawing/2014/main" id="{E3125654-8622-4AA8-A27B-26E4306EF08F}"/>
              </a:ext>
            </a:extLst>
          </p:cNvPr>
          <p:cNvGraphicFramePr>
            <a:graphicFrameLocks noGrp="1"/>
          </p:cNvGraphicFramePr>
          <p:nvPr>
            <p:extLst>
              <p:ext uri="{D42A27DB-BD31-4B8C-83A1-F6EECF244321}">
                <p14:modId xmlns:p14="http://schemas.microsoft.com/office/powerpoint/2010/main" val="3111727693"/>
              </p:ext>
            </p:extLst>
          </p:nvPr>
        </p:nvGraphicFramePr>
        <p:xfrm>
          <a:off x="523784" y="1509204"/>
          <a:ext cx="11141476" cy="5195508"/>
        </p:xfrm>
        <a:graphic>
          <a:graphicData uri="http://schemas.openxmlformats.org/drawingml/2006/table">
            <a:tbl>
              <a:tblPr bandRow="1">
                <a:tableStyleId>{5C22544A-7EE6-4342-B048-85BDC9FD1C3A}</a:tableStyleId>
              </a:tblPr>
              <a:tblGrid>
                <a:gridCol w="1856913">
                  <a:extLst>
                    <a:ext uri="{9D8B030D-6E8A-4147-A177-3AD203B41FA5}">
                      <a16:colId xmlns:a16="http://schemas.microsoft.com/office/drawing/2014/main" val="416040190"/>
                    </a:ext>
                  </a:extLst>
                </a:gridCol>
                <a:gridCol w="1856913">
                  <a:extLst>
                    <a:ext uri="{9D8B030D-6E8A-4147-A177-3AD203B41FA5}">
                      <a16:colId xmlns:a16="http://schemas.microsoft.com/office/drawing/2014/main" val="2019038073"/>
                    </a:ext>
                  </a:extLst>
                </a:gridCol>
                <a:gridCol w="1856913">
                  <a:extLst>
                    <a:ext uri="{9D8B030D-6E8A-4147-A177-3AD203B41FA5}">
                      <a16:colId xmlns:a16="http://schemas.microsoft.com/office/drawing/2014/main" val="102799537"/>
                    </a:ext>
                  </a:extLst>
                </a:gridCol>
                <a:gridCol w="5570737">
                  <a:extLst>
                    <a:ext uri="{9D8B030D-6E8A-4147-A177-3AD203B41FA5}">
                      <a16:colId xmlns:a16="http://schemas.microsoft.com/office/drawing/2014/main" val="1310349206"/>
                    </a:ext>
                  </a:extLst>
                </a:gridCol>
              </a:tblGrid>
              <a:tr h="1698594">
                <a:tc gridSpan="3">
                  <a:txBody>
                    <a:bodyPr/>
                    <a:lstStyle/>
                    <a:p>
                      <a:pPr lvl="0">
                        <a:buNone/>
                      </a:pPr>
                      <a:r>
                        <a:rPr lang="fr-FR" sz="1400" b="1" i="0" u="none" strike="noStrike" noProof="0" dirty="0">
                          <a:latin typeface="Calibri"/>
                        </a:rPr>
                        <a:t>Contexte : </a:t>
                      </a:r>
                    </a:p>
                    <a:p>
                      <a:pPr lvl="0">
                        <a:buNone/>
                      </a:pPr>
                      <a:r>
                        <a:rPr lang="fr-FR" sz="1400" b="0" i="0" u="none" strike="noStrike" noProof="0" dirty="0">
                          <a:latin typeface="Calibri"/>
                        </a:rPr>
                        <a:t>Vous êtes l'équipe « Evénementiel » de la communauté en 2050, c'est le moment de faire les visuels des séminaires phares! </a:t>
                      </a:r>
                    </a:p>
                  </a:txBody>
                  <a:tcPr/>
                </a:tc>
                <a:tc hMerge="1">
                  <a:txBody>
                    <a:bodyPr/>
                    <a:lstStyle/>
                    <a:p>
                      <a:endParaRPr lang="en-US"/>
                    </a:p>
                  </a:txBody>
                  <a:tcPr/>
                </a:tc>
                <a:tc hMerge="1">
                  <a:txBody>
                    <a:bodyPr/>
                    <a:lstStyle/>
                    <a:p>
                      <a:endParaRPr lang="en-US"/>
                    </a:p>
                  </a:txBody>
                  <a:tcPr/>
                </a:tc>
                <a:tc rowSpan="2">
                  <a:txBody>
                    <a:bodyPr/>
                    <a:lstStyle/>
                    <a:p>
                      <a:r>
                        <a:rPr lang="fr-FR" sz="1400" b="1" noProof="0"/>
                        <a:t>Exemple de résultat attendu</a:t>
                      </a:r>
                    </a:p>
                  </a:txBody>
                  <a:tcPr/>
                </a:tc>
                <a:extLst>
                  <a:ext uri="{0D108BD9-81ED-4DB2-BD59-A6C34878D82A}">
                    <a16:rowId xmlns:a16="http://schemas.microsoft.com/office/drawing/2014/main" val="3856860579"/>
                  </a:ext>
                </a:extLst>
              </a:tr>
              <a:tr h="1698594">
                <a:tc gridSpan="3">
                  <a:txBody>
                    <a:bodyPr/>
                    <a:lstStyle/>
                    <a:p>
                      <a:r>
                        <a:rPr lang="fr-FR" sz="1400" b="1" noProof="0" dirty="0"/>
                        <a:t>Instructions :</a:t>
                      </a:r>
                    </a:p>
                    <a:p>
                      <a:r>
                        <a:rPr lang="fr-FR" sz="1400" b="0" noProof="0" dirty="0"/>
                        <a:t>Vous devez dessiner les flyers des différents séminaires de la communauté. </a:t>
                      </a:r>
                    </a:p>
                    <a:p>
                      <a:r>
                        <a:rPr lang="fr-FR" sz="1400" b="0" noProof="0" dirty="0"/>
                        <a:t>Ces flyers doivent a minima indiquer  le lieu du rendez-vous, virtuel et/ou physique, et le thème global de la soirée.</a:t>
                      </a:r>
                      <a:endParaRPr lang="fr-FR" b="0" dirty="0"/>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90407809"/>
                  </a:ext>
                </a:extLst>
              </a:tr>
              <a:tr h="1698594">
                <a:tc>
                  <a:txBody>
                    <a:bodyPr/>
                    <a:lstStyle/>
                    <a:p>
                      <a:r>
                        <a:rPr lang="fr-FR" sz="1400" b="1" noProof="0" dirty="0"/>
                        <a:t>A atteindre pour le Tour 1 </a:t>
                      </a:r>
                      <a:r>
                        <a:rPr lang="fr-FR" sz="1400" noProof="0" dirty="0"/>
                        <a:t>:</a:t>
                      </a:r>
                    </a:p>
                    <a:p>
                      <a:pPr lvl="0">
                        <a:buNone/>
                      </a:pPr>
                      <a:r>
                        <a:rPr lang="fr-FR" sz="1400" noProof="0" dirty="0"/>
                        <a:t>- Faire au moins 3 flyers pour le séminaire d’hiver (exemple : 1 flyer par sous-groupes de 3 ou 4 personnes)</a:t>
                      </a:r>
                    </a:p>
                  </a:txBody>
                  <a:tcPr/>
                </a:tc>
                <a:tc>
                  <a:txBody>
                    <a:bodyPr/>
                    <a:lstStyle/>
                    <a:p>
                      <a:r>
                        <a:rPr lang="fr-FR" sz="1400" b="1" noProof="0"/>
                        <a:t>A atteindre pour le Tour 2 </a:t>
                      </a:r>
                      <a:r>
                        <a:rPr lang="fr-FR" sz="1400" noProof="0"/>
                        <a:t>:</a:t>
                      </a:r>
                    </a:p>
                    <a:p>
                      <a:pPr lvl="0">
                        <a:buNone/>
                      </a:pPr>
                      <a:r>
                        <a:rPr lang="fr-FR" sz="1400" noProof="0"/>
                        <a:t>- Faire au moins 3 flyers pour le séminaire de printemps</a:t>
                      </a:r>
                    </a:p>
                  </a:txBody>
                  <a:tcPr/>
                </a:tc>
                <a:tc>
                  <a:txBody>
                    <a:bodyPr/>
                    <a:lstStyle/>
                    <a:p>
                      <a:r>
                        <a:rPr lang="fr-FR" sz="1400" b="1" noProof="0"/>
                        <a:t>A atteindre pour le Tour 3 </a:t>
                      </a:r>
                      <a:r>
                        <a:rPr lang="fr-FR" sz="1400" noProof="0"/>
                        <a:t>:</a:t>
                      </a:r>
                    </a:p>
                    <a:p>
                      <a:pPr lvl="0">
                        <a:buNone/>
                      </a:pPr>
                      <a:r>
                        <a:rPr lang="fr-FR" sz="1400" noProof="0"/>
                        <a:t>- Faire au moins 3 flyers pour le séminaire d’été</a:t>
                      </a:r>
                    </a:p>
                  </a:txBody>
                  <a:tcPr/>
                </a:tc>
                <a:tc>
                  <a:txBody>
                    <a:bodyPr/>
                    <a:lstStyle/>
                    <a:p>
                      <a:pPr lvl="0">
                        <a:buNone/>
                      </a:pPr>
                      <a:r>
                        <a:rPr lang="fr-FR" sz="1400" b="1" i="0" u="none" strike="noStrike" noProof="0" dirty="0">
                          <a:latin typeface="Calibri"/>
                        </a:rPr>
                        <a:t>Conseils : </a:t>
                      </a:r>
                    </a:p>
                    <a:p>
                      <a:pPr marL="285750" lvl="0" indent="-285750">
                        <a:buFontTx/>
                        <a:buChar char="-"/>
                      </a:pPr>
                      <a:r>
                        <a:rPr lang="fr-FR" sz="1400" b="0" i="0" u="none" strike="noStrike" noProof="0" dirty="0">
                          <a:latin typeface="Calibri"/>
                        </a:rPr>
                        <a:t>Agissez vite, prenez des risques, le temps est court.</a:t>
                      </a:r>
                    </a:p>
                    <a:p>
                      <a:pPr marL="285750" lvl="0" indent="-285750">
                        <a:buFontTx/>
                        <a:buChar char="-"/>
                      </a:pPr>
                      <a:r>
                        <a:rPr lang="fr-FR" sz="1400" b="0" i="0" u="none" strike="noStrike" noProof="0" dirty="0">
                          <a:latin typeface="Calibri"/>
                        </a:rPr>
                        <a:t>Vous avez plusieurs cartons à disposition si vous êtes mécontents de vos productions (plusieurs essais possibles si c’est raisonnable dans le temps imparti)</a:t>
                      </a:r>
                    </a:p>
                    <a:p>
                      <a:pPr marL="0" lvl="0" indent="0">
                        <a:buFontTx/>
                        <a:buNone/>
                      </a:pPr>
                      <a:endParaRPr lang="fr-FR" sz="1400" b="0" i="0" u="none" strike="noStrike" noProof="0" dirty="0">
                        <a:latin typeface="Calibri"/>
                      </a:endParaRPr>
                    </a:p>
                  </a:txBody>
                  <a:tcPr/>
                </a:tc>
                <a:extLst>
                  <a:ext uri="{0D108BD9-81ED-4DB2-BD59-A6C34878D82A}">
                    <a16:rowId xmlns:a16="http://schemas.microsoft.com/office/drawing/2014/main" val="2818071240"/>
                  </a:ext>
                </a:extLst>
              </a:tr>
            </a:tbl>
          </a:graphicData>
        </a:graphic>
      </p:graphicFrame>
      <p:pic>
        <p:nvPicPr>
          <p:cNvPr id="5" name="Image 4" descr="Une image contenant carte&#10;&#10;Description générée automatiquement">
            <a:extLst>
              <a:ext uri="{FF2B5EF4-FFF2-40B4-BE49-F238E27FC236}">
                <a16:creationId xmlns:a16="http://schemas.microsoft.com/office/drawing/2014/main" id="{492788E8-AEF3-49FC-97AE-DB94E8BAA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0360" y="1941807"/>
            <a:ext cx="2374900" cy="1320049"/>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F82496D9-F1C6-4090-B220-5B648A713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3522" y="1941807"/>
            <a:ext cx="1783109" cy="2756496"/>
          </a:xfrm>
          <a:prstGeom prst="rect">
            <a:avLst/>
          </a:prstGeom>
        </p:spPr>
      </p:pic>
    </p:spTree>
    <p:extLst>
      <p:ext uri="{BB962C8B-B14F-4D97-AF65-F5344CB8AC3E}">
        <p14:creationId xmlns:p14="http://schemas.microsoft.com/office/powerpoint/2010/main" val="3002131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carte&#10;&#10;Description générée automatiquement">
            <a:extLst>
              <a:ext uri="{FF2B5EF4-FFF2-40B4-BE49-F238E27FC236}">
                <a16:creationId xmlns:a16="http://schemas.microsoft.com/office/drawing/2014/main" id="{367C6A12-EA52-4652-A851-68CEFCD19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403" y="2225444"/>
            <a:ext cx="6660248" cy="3701988"/>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66ED2469-9B6D-4788-9E37-CEA8051F36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1260" y="1027906"/>
            <a:ext cx="3603337" cy="5570375"/>
          </a:xfrm>
          <a:prstGeom prst="rect">
            <a:avLst/>
          </a:prstGeom>
        </p:spPr>
      </p:pic>
      <p:sp>
        <p:nvSpPr>
          <p:cNvPr id="6" name="Titre 1">
            <a:extLst>
              <a:ext uri="{FF2B5EF4-FFF2-40B4-BE49-F238E27FC236}">
                <a16:creationId xmlns:a16="http://schemas.microsoft.com/office/drawing/2014/main" id="{1EA3C21C-EC2D-47EF-B5CC-EC9611F48F46}"/>
              </a:ext>
            </a:extLst>
          </p:cNvPr>
          <p:cNvSpPr>
            <a:spLocks noGrp="1"/>
          </p:cNvSpPr>
          <p:nvPr>
            <p:ph type="title"/>
          </p:nvPr>
        </p:nvSpPr>
        <p:spPr>
          <a:xfrm>
            <a:off x="838200" y="365125"/>
            <a:ext cx="10515600" cy="1325563"/>
          </a:xfrm>
        </p:spPr>
        <p:txBody>
          <a:bodyPr>
            <a:normAutofit/>
          </a:bodyPr>
          <a:lstStyle/>
          <a:p>
            <a:r>
              <a:rPr lang="en-US" sz="4000" dirty="0">
                <a:ea typeface="+mj-lt"/>
                <a:cs typeface="+mj-lt"/>
              </a:rPr>
              <a:t>ATELIER EVENEMENTS 2050</a:t>
            </a:r>
            <a:br>
              <a:rPr lang="en-US" sz="4000" dirty="0">
                <a:ea typeface="+mj-lt"/>
                <a:cs typeface="+mj-lt"/>
              </a:rPr>
            </a:br>
            <a:r>
              <a:rPr lang="en-US" sz="4000" dirty="0">
                <a:ea typeface="+mj-lt"/>
                <a:cs typeface="+mj-lt"/>
              </a:rPr>
              <a:t>EXEMPLES</a:t>
            </a:r>
          </a:p>
        </p:txBody>
      </p:sp>
    </p:spTree>
    <p:extLst>
      <p:ext uri="{BB962C8B-B14F-4D97-AF65-F5344CB8AC3E}">
        <p14:creationId xmlns:p14="http://schemas.microsoft.com/office/powerpoint/2010/main" val="1818188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nature, rive&#10;&#10;Description générée automatiquement">
            <a:extLst>
              <a:ext uri="{FF2B5EF4-FFF2-40B4-BE49-F238E27FC236}">
                <a16:creationId xmlns:a16="http://schemas.microsoft.com/office/drawing/2014/main" id="{13044C38-8BC5-4800-A3F2-5244524752A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1021" y="0"/>
            <a:ext cx="11653421" cy="6858000"/>
          </a:xfrm>
          <a:prstGeom prst="rect">
            <a:avLst/>
          </a:prstGeom>
        </p:spPr>
      </p:pic>
      <p:sp>
        <p:nvSpPr>
          <p:cNvPr id="7" name="ZoneTexte 6">
            <a:extLst>
              <a:ext uri="{FF2B5EF4-FFF2-40B4-BE49-F238E27FC236}">
                <a16:creationId xmlns:a16="http://schemas.microsoft.com/office/drawing/2014/main" id="{F4C1DBAB-7074-4785-A871-79F0808FC6BC}"/>
              </a:ext>
            </a:extLst>
          </p:cNvPr>
          <p:cNvSpPr txBox="1"/>
          <p:nvPr/>
        </p:nvSpPr>
        <p:spPr>
          <a:xfrm>
            <a:off x="490193" y="647756"/>
            <a:ext cx="9608281" cy="2790871"/>
          </a:xfrm>
          <a:prstGeom prst="rect">
            <a:avLst/>
          </a:prstGeom>
          <a:noFill/>
        </p:spPr>
        <p:txBody>
          <a:bodyPr wrap="square" rtlCol="0">
            <a:spAutoFit/>
          </a:bodyPr>
          <a:lstStyle/>
          <a:p>
            <a:r>
              <a:rPr lang="fr-FR" sz="8800" b="1">
                <a:solidFill>
                  <a:srgbClr val="4472C4"/>
                </a:solidFill>
                <a:latin typeface="Ink Free" panose="03080402000500000000" pitchFamily="66" charset="0"/>
              </a:rPr>
              <a:t>NOM DE L’ÉVÉNEMENT</a:t>
            </a:r>
          </a:p>
        </p:txBody>
      </p:sp>
      <p:sp>
        <p:nvSpPr>
          <p:cNvPr id="9" name="ZoneTexte 8">
            <a:extLst>
              <a:ext uri="{FF2B5EF4-FFF2-40B4-BE49-F238E27FC236}">
                <a16:creationId xmlns:a16="http://schemas.microsoft.com/office/drawing/2014/main" id="{07E80AD4-BBF0-40F4-A201-7D276AD82D41}"/>
              </a:ext>
            </a:extLst>
          </p:cNvPr>
          <p:cNvSpPr txBox="1"/>
          <p:nvPr/>
        </p:nvSpPr>
        <p:spPr>
          <a:xfrm>
            <a:off x="4722828" y="0"/>
            <a:ext cx="2545238" cy="400110"/>
          </a:xfrm>
          <a:prstGeom prst="rect">
            <a:avLst/>
          </a:prstGeom>
          <a:solidFill>
            <a:schemeClr val="bg1"/>
          </a:solidFill>
        </p:spPr>
        <p:txBody>
          <a:bodyPr wrap="square" rtlCol="0">
            <a:spAutoFit/>
          </a:bodyPr>
          <a:lstStyle/>
          <a:p>
            <a:pPr algn="ctr"/>
            <a:r>
              <a:rPr lang="fr-FR" sz="2000" b="1"/>
              <a:t>Exemple</a:t>
            </a:r>
          </a:p>
        </p:txBody>
      </p:sp>
      <p:sp>
        <p:nvSpPr>
          <p:cNvPr id="10" name="ZoneTexte 9">
            <a:extLst>
              <a:ext uri="{FF2B5EF4-FFF2-40B4-BE49-F238E27FC236}">
                <a16:creationId xmlns:a16="http://schemas.microsoft.com/office/drawing/2014/main" id="{9F321F2C-32EB-4902-BF51-4D8ED5095760}"/>
              </a:ext>
            </a:extLst>
          </p:cNvPr>
          <p:cNvSpPr txBox="1"/>
          <p:nvPr/>
        </p:nvSpPr>
        <p:spPr>
          <a:xfrm>
            <a:off x="7786703" y="3964834"/>
            <a:ext cx="3403077" cy="1877437"/>
          </a:xfrm>
          <a:prstGeom prst="rect">
            <a:avLst/>
          </a:prstGeom>
          <a:noFill/>
        </p:spPr>
        <p:txBody>
          <a:bodyPr wrap="square" rtlCol="0">
            <a:spAutoFit/>
          </a:bodyPr>
          <a:lstStyle/>
          <a:p>
            <a:r>
              <a:rPr lang="fr-FR" sz="4400" b="1">
                <a:solidFill>
                  <a:srgbClr val="2F5496"/>
                </a:solidFill>
                <a:latin typeface="Ink Free" panose="03080402000500000000" pitchFamily="66" charset="0"/>
                <a:cs typeface="TH SarabunPSK"/>
              </a:rPr>
              <a:t>Description</a:t>
            </a:r>
          </a:p>
          <a:p>
            <a:endParaRPr lang="fr-FR">
              <a:solidFill>
                <a:srgbClr val="2F5496"/>
              </a:solidFill>
              <a:latin typeface="Ink Free" panose="03080402000500000000" pitchFamily="66" charset="0"/>
              <a:cs typeface="TH SarabunPSK"/>
            </a:endParaRPr>
          </a:p>
          <a:p>
            <a:r>
              <a:rPr lang="fr-FR">
                <a:solidFill>
                  <a:srgbClr val="2F5496"/>
                </a:solidFill>
                <a:latin typeface="Ink Free" panose="03080402000500000000" pitchFamily="66" charset="0"/>
                <a:cs typeface="TH SarabunPSK"/>
              </a:rPr>
              <a:t>Donnez ici des détail sur votre événement. Quelles seront les animations, qui sera présent, …</a:t>
            </a:r>
            <a:endParaRPr lang="fr-FR" sz="1600">
              <a:solidFill>
                <a:srgbClr val="2F5496"/>
              </a:solidFill>
              <a:latin typeface="Ink Free" panose="03080402000500000000" pitchFamily="66" charset="0"/>
              <a:cs typeface="TH SarabunPSK"/>
            </a:endParaRPr>
          </a:p>
        </p:txBody>
      </p:sp>
      <p:sp>
        <p:nvSpPr>
          <p:cNvPr id="12" name="ZoneTexte 11">
            <a:extLst>
              <a:ext uri="{FF2B5EF4-FFF2-40B4-BE49-F238E27FC236}">
                <a16:creationId xmlns:a16="http://schemas.microsoft.com/office/drawing/2014/main" id="{4A6732E3-7429-4EE8-80FA-D3C12C3E5ECF}"/>
              </a:ext>
            </a:extLst>
          </p:cNvPr>
          <p:cNvSpPr txBox="1"/>
          <p:nvPr/>
        </p:nvSpPr>
        <p:spPr>
          <a:xfrm>
            <a:off x="1319751" y="3671088"/>
            <a:ext cx="3403077" cy="769441"/>
          </a:xfrm>
          <a:prstGeom prst="rect">
            <a:avLst/>
          </a:prstGeom>
          <a:noFill/>
        </p:spPr>
        <p:txBody>
          <a:bodyPr wrap="square" rtlCol="0">
            <a:spAutoFit/>
          </a:bodyPr>
          <a:lstStyle/>
          <a:p>
            <a:r>
              <a:rPr lang="fr-FR" sz="4400" b="1">
                <a:solidFill>
                  <a:srgbClr val="2F5496"/>
                </a:solidFill>
                <a:latin typeface="Ink Free" panose="03080402000500000000" pitchFamily="66" charset="0"/>
                <a:cs typeface="TH SarabunPSK"/>
              </a:rPr>
              <a:t>Date, Lieu</a:t>
            </a:r>
          </a:p>
        </p:txBody>
      </p:sp>
      <p:sp>
        <p:nvSpPr>
          <p:cNvPr id="13" name="ZoneTexte 12">
            <a:extLst>
              <a:ext uri="{FF2B5EF4-FFF2-40B4-BE49-F238E27FC236}">
                <a16:creationId xmlns:a16="http://schemas.microsoft.com/office/drawing/2014/main" id="{54976783-6097-43C5-A9DA-7ABC384A596A}"/>
              </a:ext>
            </a:extLst>
          </p:cNvPr>
          <p:cNvSpPr txBox="1"/>
          <p:nvPr/>
        </p:nvSpPr>
        <p:spPr>
          <a:xfrm>
            <a:off x="1594747" y="6088559"/>
            <a:ext cx="10595729" cy="769441"/>
          </a:xfrm>
          <a:prstGeom prst="rect">
            <a:avLst/>
          </a:prstGeom>
          <a:solidFill>
            <a:srgbClr val="0070C0">
              <a:alpha val="32157"/>
            </a:srgbClr>
          </a:solidFill>
        </p:spPr>
        <p:txBody>
          <a:bodyPr wrap="square" rtlCol="0">
            <a:spAutoFit/>
          </a:bodyPr>
          <a:lstStyle/>
          <a:p>
            <a:r>
              <a:rPr lang="fr-FR" sz="4400" b="1" i="1">
                <a:solidFill>
                  <a:schemeClr val="bg1"/>
                </a:solidFill>
                <a:latin typeface="Ink Free"/>
              </a:rPr>
              <a:t>Slogan ou </a:t>
            </a:r>
            <a:r>
              <a:rPr lang="fr-FR" sz="4400" b="1" i="1" err="1">
                <a:solidFill>
                  <a:schemeClr val="bg1"/>
                </a:solidFill>
                <a:latin typeface="Ink Free"/>
              </a:rPr>
              <a:t>Catchline</a:t>
            </a:r>
            <a:r>
              <a:rPr lang="fr-FR" sz="4400" b="1" i="1">
                <a:solidFill>
                  <a:schemeClr val="bg1"/>
                </a:solidFill>
                <a:latin typeface="Ink Free"/>
              </a:rPr>
              <a:t> de l’événement</a:t>
            </a:r>
          </a:p>
        </p:txBody>
      </p:sp>
    </p:spTree>
    <p:extLst>
      <p:ext uri="{BB962C8B-B14F-4D97-AF65-F5344CB8AC3E}">
        <p14:creationId xmlns:p14="http://schemas.microsoft.com/office/powerpoint/2010/main" val="3757553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F383B-BBA4-4E09-9229-85F2549FEB2D}"/>
              </a:ext>
            </a:extLst>
          </p:cNvPr>
          <p:cNvSpPr>
            <a:spLocks noGrp="1"/>
          </p:cNvSpPr>
          <p:nvPr>
            <p:ph type="title"/>
          </p:nvPr>
        </p:nvSpPr>
        <p:spPr/>
        <p:txBody>
          <a:bodyPr/>
          <a:lstStyle/>
          <a:p>
            <a:r>
              <a:rPr lang="fr-FR"/>
              <a:t>Atelier Evénements – Matériel nécessaire</a:t>
            </a:r>
          </a:p>
        </p:txBody>
      </p:sp>
      <p:sp>
        <p:nvSpPr>
          <p:cNvPr id="3" name="Espace réservé du contenu 2">
            <a:extLst>
              <a:ext uri="{FF2B5EF4-FFF2-40B4-BE49-F238E27FC236}">
                <a16:creationId xmlns:a16="http://schemas.microsoft.com/office/drawing/2014/main" id="{A9C63AE1-F169-49A1-B29F-B83365BCA5F3}"/>
              </a:ext>
            </a:extLst>
          </p:cNvPr>
          <p:cNvSpPr>
            <a:spLocks noGrp="1"/>
          </p:cNvSpPr>
          <p:nvPr>
            <p:ph idx="1"/>
          </p:nvPr>
        </p:nvSpPr>
        <p:spPr/>
        <p:txBody>
          <a:bodyPr/>
          <a:lstStyle/>
          <a:p>
            <a:r>
              <a:rPr lang="fr-FR"/>
              <a:t>Feuilles d’instructions * 5 (à consulter en binôme)</a:t>
            </a:r>
          </a:p>
          <a:p>
            <a:r>
              <a:rPr lang="fr-FR"/>
              <a:t>20 Fiches cartonnées A5</a:t>
            </a:r>
          </a:p>
          <a:p>
            <a:r>
              <a:rPr lang="fr-FR"/>
              <a:t>Feutres de couleur </a:t>
            </a:r>
          </a:p>
          <a:p>
            <a:endParaRPr lang="fr-FR"/>
          </a:p>
        </p:txBody>
      </p:sp>
    </p:spTree>
    <p:extLst>
      <p:ext uri="{BB962C8B-B14F-4D97-AF65-F5344CB8AC3E}">
        <p14:creationId xmlns:p14="http://schemas.microsoft.com/office/powerpoint/2010/main" val="10765427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Calibri" panose="020F0502020204030204"/>
              <a:ea typeface="+mn-ea"/>
              <a:cs typeface="+mn-cs"/>
            </a:endParaRPr>
          </a:p>
        </p:txBody>
      </p:sp>
      <p:sp>
        <p:nvSpPr>
          <p:cNvPr id="25" name="Arc 2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000000"/>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B13C3912-E33F-47F1-ABAF-D0E337E9DC51}"/>
              </a:ext>
            </a:extLst>
          </p:cNvPr>
          <p:cNvSpPr>
            <a:spLocks noGrp="1"/>
          </p:cNvSpPr>
          <p:nvPr>
            <p:ph type="title"/>
          </p:nvPr>
        </p:nvSpPr>
        <p:spPr>
          <a:xfrm>
            <a:off x="3835153" y="1939158"/>
            <a:ext cx="7848074" cy="2810109"/>
          </a:xfrm>
        </p:spPr>
        <p:txBody>
          <a:bodyPr vert="horz" lIns="91440" tIns="45720" rIns="91440" bIns="45720" rtlCol="0" anchor="b">
            <a:normAutofit/>
          </a:bodyPr>
          <a:lstStyle/>
          <a:p>
            <a:pPr algn="r"/>
            <a:r>
              <a:rPr lang="fr-FR" sz="4000" dirty="0"/>
              <a:t>Contenus pour </a:t>
            </a:r>
            <a:br>
              <a:rPr lang="fr-FR" sz="4000" dirty="0"/>
            </a:br>
            <a:r>
              <a:rPr lang="fr-FR" sz="4000" dirty="0"/>
              <a:t>Co-animateur(-</a:t>
            </a:r>
            <a:r>
              <a:rPr lang="fr-FR" sz="4000" dirty="0" err="1"/>
              <a:t>trice</a:t>
            </a:r>
            <a:r>
              <a:rPr lang="fr-FR" sz="4000" dirty="0"/>
              <a:t>) </a:t>
            </a:r>
            <a:br>
              <a:rPr lang="fr-FR" sz="4000" dirty="0"/>
            </a:br>
            <a:r>
              <a:rPr lang="fr-FR" sz="4000" dirty="0"/>
              <a:t>et Lead animateur(-</a:t>
            </a:r>
            <a:r>
              <a:rPr lang="fr-FR" sz="4000" dirty="0" err="1"/>
              <a:t>trices</a:t>
            </a:r>
            <a:r>
              <a:rPr lang="fr-FR" sz="4000" dirty="0"/>
              <a:t>)</a:t>
            </a:r>
            <a:endParaRPr lang="fr-FR" sz="4000" kern="1200" dirty="0">
              <a:solidFill>
                <a:schemeClr val="tx1"/>
              </a:solidFill>
              <a:latin typeface="+mj-lt"/>
              <a:ea typeface="+mj-ea"/>
              <a:cs typeface="+mj-cs"/>
            </a:endParaRPr>
          </a:p>
        </p:txBody>
      </p:sp>
      <p:grpSp>
        <p:nvGrpSpPr>
          <p:cNvPr id="8" name="Groupe 7">
            <a:extLst>
              <a:ext uri="{FF2B5EF4-FFF2-40B4-BE49-F238E27FC236}">
                <a16:creationId xmlns:a16="http://schemas.microsoft.com/office/drawing/2014/main" id="{451E4819-3E7E-45DD-A8A6-58B92C2C2459}"/>
              </a:ext>
            </a:extLst>
          </p:cNvPr>
          <p:cNvGrpSpPr/>
          <p:nvPr/>
        </p:nvGrpSpPr>
        <p:grpSpPr>
          <a:xfrm>
            <a:off x="5366236" y="975019"/>
            <a:ext cx="2086653" cy="2249353"/>
            <a:chOff x="6060465" y="3463636"/>
            <a:chExt cx="819385" cy="883274"/>
          </a:xfrm>
          <a:solidFill>
            <a:srgbClr val="ED7D31"/>
          </a:solidFill>
        </p:grpSpPr>
        <p:pic>
          <p:nvPicPr>
            <p:cNvPr id="9" name="Graphique 8" descr="Presse-papiers mixte avec un remplissage uni">
              <a:extLst>
                <a:ext uri="{FF2B5EF4-FFF2-40B4-BE49-F238E27FC236}">
                  <a16:creationId xmlns:a16="http://schemas.microsoft.com/office/drawing/2014/main" id="{16CF705C-E6D9-479D-9C63-43CF2FDD43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10" name="Groupe 9">
              <a:extLst>
                <a:ext uri="{FF2B5EF4-FFF2-40B4-BE49-F238E27FC236}">
                  <a16:creationId xmlns:a16="http://schemas.microsoft.com/office/drawing/2014/main" id="{FBAF27A1-608C-47B0-B9F8-25F494544664}"/>
                </a:ext>
              </a:extLst>
            </p:cNvPr>
            <p:cNvGrpSpPr/>
            <p:nvPr/>
          </p:nvGrpSpPr>
          <p:grpSpPr>
            <a:xfrm>
              <a:off x="6132133" y="3463636"/>
              <a:ext cx="612923" cy="883274"/>
              <a:chOff x="6132133" y="3463636"/>
              <a:chExt cx="612923" cy="883274"/>
            </a:xfrm>
            <a:grpFill/>
          </p:grpSpPr>
          <p:pic>
            <p:nvPicPr>
              <p:cNvPr id="13" name="Graphique 12" descr="Centre d’appels avec un remplissage uni">
                <a:extLst>
                  <a:ext uri="{FF2B5EF4-FFF2-40B4-BE49-F238E27FC236}">
                    <a16:creationId xmlns:a16="http://schemas.microsoft.com/office/drawing/2014/main" id="{D9BF1053-6A92-4DCC-9B6E-B42C88FC599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14" name="Groupe 13">
                <a:extLst>
                  <a:ext uri="{FF2B5EF4-FFF2-40B4-BE49-F238E27FC236}">
                    <a16:creationId xmlns:a16="http://schemas.microsoft.com/office/drawing/2014/main" id="{D1FF69CB-7F59-4DAF-9973-6C157FB1333A}"/>
                  </a:ext>
                </a:extLst>
              </p:cNvPr>
              <p:cNvGrpSpPr/>
              <p:nvPr/>
            </p:nvGrpSpPr>
            <p:grpSpPr>
              <a:xfrm flipH="1">
                <a:off x="6132133" y="3682042"/>
                <a:ext cx="611857" cy="664868"/>
                <a:chOff x="5018285" y="4055721"/>
                <a:chExt cx="696982" cy="731970"/>
              </a:xfrm>
              <a:grpFill/>
            </p:grpSpPr>
            <p:pic>
              <p:nvPicPr>
                <p:cNvPr id="15" name="Graphique 14" descr="Personne confuse avec un remplissage uni">
                  <a:extLst>
                    <a:ext uri="{FF2B5EF4-FFF2-40B4-BE49-F238E27FC236}">
                      <a16:creationId xmlns:a16="http://schemas.microsoft.com/office/drawing/2014/main" id="{34086CF4-7423-446C-B5D9-3A18B353534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16" name="Rectangle : coins arrondis 15">
                  <a:extLst>
                    <a:ext uri="{FF2B5EF4-FFF2-40B4-BE49-F238E27FC236}">
                      <a16:creationId xmlns:a16="http://schemas.microsoft.com/office/drawing/2014/main" id="{7AADE3CD-5B81-4D3D-953C-2EB671F2FD1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11" name="Image 10">
              <a:extLst>
                <a:ext uri="{FF2B5EF4-FFF2-40B4-BE49-F238E27FC236}">
                  <a16:creationId xmlns:a16="http://schemas.microsoft.com/office/drawing/2014/main" id="{32C960EE-84EC-4ECA-9F13-1D74A49BB4DA}"/>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12" name="Graphique 11" descr="Chronomètre avec un remplissage uni">
              <a:extLst>
                <a:ext uri="{FF2B5EF4-FFF2-40B4-BE49-F238E27FC236}">
                  <a16:creationId xmlns:a16="http://schemas.microsoft.com/office/drawing/2014/main" id="{0A64FF27-6E69-4933-B767-E740812DB41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18" name="Groupe 17">
            <a:extLst>
              <a:ext uri="{FF2B5EF4-FFF2-40B4-BE49-F238E27FC236}">
                <a16:creationId xmlns:a16="http://schemas.microsoft.com/office/drawing/2014/main" id="{BC4D8773-55C5-4969-B9C3-7227BD7DA341}"/>
              </a:ext>
            </a:extLst>
          </p:cNvPr>
          <p:cNvGrpSpPr/>
          <p:nvPr/>
        </p:nvGrpSpPr>
        <p:grpSpPr>
          <a:xfrm>
            <a:off x="7439568" y="151536"/>
            <a:ext cx="2779749" cy="3010085"/>
            <a:chOff x="7560150" y="2879049"/>
            <a:chExt cx="982042" cy="1063416"/>
          </a:xfrm>
          <a:solidFill>
            <a:srgbClr val="ED7D31"/>
          </a:solidFill>
        </p:grpSpPr>
        <p:grpSp>
          <p:nvGrpSpPr>
            <p:cNvPr id="20" name="Groupe 19">
              <a:extLst>
                <a:ext uri="{FF2B5EF4-FFF2-40B4-BE49-F238E27FC236}">
                  <a16:creationId xmlns:a16="http://schemas.microsoft.com/office/drawing/2014/main" id="{9B9AE8CD-1134-44D8-A99D-7CB3EE4EE0F3}"/>
                </a:ext>
              </a:extLst>
            </p:cNvPr>
            <p:cNvGrpSpPr/>
            <p:nvPr/>
          </p:nvGrpSpPr>
          <p:grpSpPr>
            <a:xfrm>
              <a:off x="7798849" y="2879049"/>
              <a:ext cx="743343" cy="1063416"/>
              <a:chOff x="6391015" y="3260296"/>
              <a:chExt cx="743343" cy="1063416"/>
            </a:xfrm>
            <a:grpFill/>
          </p:grpSpPr>
          <p:grpSp>
            <p:nvGrpSpPr>
              <p:cNvPr id="24" name="Groupe 23">
                <a:extLst>
                  <a:ext uri="{FF2B5EF4-FFF2-40B4-BE49-F238E27FC236}">
                    <a16:creationId xmlns:a16="http://schemas.microsoft.com/office/drawing/2014/main" id="{959D86F2-5F73-4004-ACB4-41A62485B396}"/>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BD4CE698-9743-4B82-A424-F88D0C12A31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77365103-2943-4F1D-ACEF-82F11481B5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20C27079-E1E5-4D26-9B01-591A3CCEF8D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97BCF01B-BA63-485B-B041-14A40316479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2" name="Graphique 21" descr="Presse-papiers mixte avec un remplissage uni">
              <a:extLst>
                <a:ext uri="{FF2B5EF4-FFF2-40B4-BE49-F238E27FC236}">
                  <a16:creationId xmlns:a16="http://schemas.microsoft.com/office/drawing/2014/main" id="{043B74BD-27D5-400F-9BC5-07DDA0FE66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sp>
        <p:nvSpPr>
          <p:cNvPr id="30" name="Espace réservé du texte 4">
            <a:extLst>
              <a:ext uri="{FF2B5EF4-FFF2-40B4-BE49-F238E27FC236}">
                <a16:creationId xmlns:a16="http://schemas.microsoft.com/office/drawing/2014/main" id="{3B1CF090-2813-4A0B-AFC3-2E921F6141D0}"/>
              </a:ext>
            </a:extLst>
          </p:cNvPr>
          <p:cNvSpPr>
            <a:spLocks noGrp="1"/>
          </p:cNvSpPr>
          <p:nvPr>
            <p:ph type="body" idx="1"/>
          </p:nvPr>
        </p:nvSpPr>
        <p:spPr>
          <a:xfrm>
            <a:off x="4038600" y="4782320"/>
            <a:ext cx="7644627" cy="1329443"/>
          </a:xfrm>
        </p:spPr>
        <p:txBody>
          <a:bodyPr vert="horz" lIns="91440" tIns="45720" rIns="91440" bIns="45720" rtlCol="0">
            <a:normAutofit/>
          </a:bodyPr>
          <a:lstStyle/>
          <a:p>
            <a:pPr algn="r"/>
            <a:r>
              <a:rPr lang="fr-FR" kern="1200" dirty="0">
                <a:solidFill>
                  <a:schemeClr val="tx1"/>
                </a:solidFill>
                <a:latin typeface="+mn-lt"/>
                <a:ea typeface="+mn-ea"/>
                <a:cs typeface="+mn-cs"/>
              </a:rPr>
              <a:t>Eléments </a:t>
            </a:r>
            <a:r>
              <a:rPr lang="fr-FR" dirty="0">
                <a:solidFill>
                  <a:schemeClr val="tx1"/>
                </a:solidFill>
              </a:rPr>
              <a:t>pour coanimer ou animer votre #OpenSeriousGame</a:t>
            </a:r>
            <a:endParaRPr lang="fr-FR" kern="1200" dirty="0">
              <a:solidFill>
                <a:schemeClr val="tx1"/>
              </a:solidFill>
              <a:latin typeface="+mn-lt"/>
              <a:ea typeface="+mn-ea"/>
              <a:cs typeface="+mn-cs"/>
            </a:endParaRPr>
          </a:p>
        </p:txBody>
      </p:sp>
      <p:sp>
        <p:nvSpPr>
          <p:cNvPr id="31" name="ZoneTexte 30">
            <a:extLst>
              <a:ext uri="{FF2B5EF4-FFF2-40B4-BE49-F238E27FC236}">
                <a16:creationId xmlns:a16="http://schemas.microsoft.com/office/drawing/2014/main" id="{3D17E821-90B2-4B17-9210-1D492D907720}"/>
              </a:ext>
            </a:extLst>
          </p:cNvPr>
          <p:cNvSpPr txBox="1"/>
          <p:nvPr/>
        </p:nvSpPr>
        <p:spPr>
          <a:xfrm>
            <a:off x="2458241" y="2392848"/>
            <a:ext cx="1421301" cy="1077218"/>
          </a:xfrm>
          <a:prstGeom prst="rect">
            <a:avLst/>
          </a:prstGeom>
          <a:noFill/>
        </p:spPr>
        <p:txBody>
          <a:bodyPr wrap="square">
            <a:spAutoFit/>
          </a:bodyPr>
          <a:lstStyle/>
          <a:p>
            <a:pPr algn="ctr"/>
            <a:r>
              <a:rPr lang="fr-FR" sz="3200" dirty="0"/>
              <a:t>Niv 4-5</a:t>
            </a:r>
            <a:br>
              <a:rPr lang="fr-FR" sz="3200" dirty="0"/>
            </a:br>
            <a:r>
              <a:rPr lang="fr-FR" sz="3200" dirty="0"/>
              <a:t>#OSG</a:t>
            </a:r>
          </a:p>
        </p:txBody>
      </p:sp>
    </p:spTree>
    <p:extLst>
      <p:ext uri="{BB962C8B-B14F-4D97-AF65-F5344CB8AC3E}">
        <p14:creationId xmlns:p14="http://schemas.microsoft.com/office/powerpoint/2010/main" val="764197397"/>
      </p:ext>
    </p:extLst>
  </p:cSld>
  <p:clrMapOvr>
    <a:masterClrMapping/>
  </p:clrMapOvr>
  <mc:AlternateContent xmlns:mc="http://schemas.openxmlformats.org/markup-compatibility/2006" xmlns:p14="http://schemas.microsoft.com/office/powerpoint/2010/main">
    <mc:Choice Requires="p14">
      <p:transition spd="slow" p14:dur="2000" advTm="17287"/>
    </mc:Choice>
    <mc:Fallback xmlns="">
      <p:transition spd="slow" advTm="1728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6043D0-9ED6-4303-8B4E-D7E1301DD127}"/>
              </a:ext>
            </a:extLst>
          </p:cNvPr>
          <p:cNvSpPr>
            <a:spLocks noGrp="1"/>
          </p:cNvSpPr>
          <p:nvPr>
            <p:ph type="title"/>
          </p:nvPr>
        </p:nvSpPr>
        <p:spPr/>
        <p:txBody>
          <a:bodyPr/>
          <a:lstStyle/>
          <a:p>
            <a:r>
              <a:rPr lang="fr-FR" dirty="0"/>
              <a:t>Questions de Debriefing spécifiques</a:t>
            </a:r>
          </a:p>
        </p:txBody>
      </p:sp>
      <p:sp>
        <p:nvSpPr>
          <p:cNvPr id="3" name="Espace réservé du contenu 2">
            <a:extLst>
              <a:ext uri="{FF2B5EF4-FFF2-40B4-BE49-F238E27FC236}">
                <a16:creationId xmlns:a16="http://schemas.microsoft.com/office/drawing/2014/main" id="{E4E70F61-9E1E-415E-B79B-8C028D3BA0C3}"/>
              </a:ext>
            </a:extLst>
          </p:cNvPr>
          <p:cNvSpPr>
            <a:spLocks noGrp="1"/>
          </p:cNvSpPr>
          <p:nvPr>
            <p:ph idx="1"/>
          </p:nvPr>
        </p:nvSpPr>
        <p:spPr/>
        <p:txBody>
          <a:bodyPr/>
          <a:lstStyle/>
          <a:p>
            <a:r>
              <a:rPr lang="fr-FR" dirty="0"/>
              <a:t>Comment avez-vous vécu l’expérience ? </a:t>
            </a:r>
          </a:p>
          <a:p>
            <a:r>
              <a:rPr lang="fr-FR" dirty="0"/>
              <a:t>Que cela vous inspire-t-il pour la communauté aujourd’hui ?</a:t>
            </a:r>
          </a:p>
          <a:p>
            <a:r>
              <a:rPr lang="fr-FR" dirty="0"/>
              <a:t>Qu’est-ce que ce jeu vous dit sur les visions du futur ?  </a:t>
            </a:r>
          </a:p>
          <a:p>
            <a:r>
              <a:rPr lang="fr-FR" dirty="0"/>
              <a:t>Que trouvez vous d’important dans ce jeu ? </a:t>
            </a:r>
          </a:p>
        </p:txBody>
      </p:sp>
    </p:spTree>
    <p:extLst>
      <p:ext uri="{BB962C8B-B14F-4D97-AF65-F5344CB8AC3E}">
        <p14:creationId xmlns:p14="http://schemas.microsoft.com/office/powerpoint/2010/main" val="1680687491"/>
      </p:ext>
    </p:extLst>
  </p:cSld>
  <p:clrMapOvr>
    <a:masterClrMapping/>
  </p:clrMapOvr>
  <mc:AlternateContent xmlns:mc="http://schemas.openxmlformats.org/markup-compatibility/2006" xmlns:p14="http://schemas.microsoft.com/office/powerpoint/2010/main">
    <mc:Choice Requires="p14">
      <p:transition spd="slow" p14:dur="2000" advTm="26216"/>
    </mc:Choice>
    <mc:Fallback xmlns="">
      <p:transition spd="slow" advTm="26216"/>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6043D0-9ED6-4303-8B4E-D7E1301DD127}"/>
              </a:ext>
            </a:extLst>
          </p:cNvPr>
          <p:cNvSpPr>
            <a:spLocks noGrp="1"/>
          </p:cNvSpPr>
          <p:nvPr>
            <p:ph type="title"/>
          </p:nvPr>
        </p:nvSpPr>
        <p:spPr/>
        <p:txBody>
          <a:bodyPr/>
          <a:lstStyle/>
          <a:p>
            <a:r>
              <a:rPr lang="fr-FR" dirty="0"/>
              <a:t>Préparation de l’atelier : astuces et conseils</a:t>
            </a:r>
          </a:p>
        </p:txBody>
      </p:sp>
      <p:sp>
        <p:nvSpPr>
          <p:cNvPr id="3" name="Espace réservé du contenu 2">
            <a:extLst>
              <a:ext uri="{FF2B5EF4-FFF2-40B4-BE49-F238E27FC236}">
                <a16:creationId xmlns:a16="http://schemas.microsoft.com/office/drawing/2014/main" id="{E4E70F61-9E1E-415E-B79B-8C028D3BA0C3}"/>
              </a:ext>
            </a:extLst>
          </p:cNvPr>
          <p:cNvSpPr>
            <a:spLocks noGrp="1"/>
          </p:cNvSpPr>
          <p:nvPr>
            <p:ph idx="1"/>
          </p:nvPr>
        </p:nvSpPr>
        <p:spPr/>
        <p:txBody>
          <a:bodyPr/>
          <a:lstStyle/>
          <a:p>
            <a:r>
              <a:rPr lang="fr-FR" dirty="0"/>
              <a:t>Il est conseillé de voir le déroulement de chaque atelier avec les </a:t>
            </a:r>
            <a:r>
              <a:rPr lang="fr-FR" dirty="0" err="1"/>
              <a:t>co</a:t>
            </a:r>
            <a:r>
              <a:rPr lang="fr-FR" dirty="0"/>
              <a:t>-animateurs en amont de l’événement</a:t>
            </a:r>
          </a:p>
          <a:p>
            <a:r>
              <a:rPr lang="fr-FR" dirty="0"/>
              <a:t>Si possible, venez avec des groupes déjà formés à ce jeu</a:t>
            </a:r>
          </a:p>
        </p:txBody>
      </p:sp>
    </p:spTree>
    <p:extLst>
      <p:ext uri="{BB962C8B-B14F-4D97-AF65-F5344CB8AC3E}">
        <p14:creationId xmlns:p14="http://schemas.microsoft.com/office/powerpoint/2010/main" val="2858451522"/>
      </p:ext>
    </p:extLst>
  </p:cSld>
  <p:clrMapOvr>
    <a:masterClrMapping/>
  </p:clrMapOvr>
  <mc:AlternateContent xmlns:mc="http://schemas.openxmlformats.org/markup-compatibility/2006" xmlns:p14="http://schemas.microsoft.com/office/powerpoint/2010/main">
    <mc:Choice Requires="p14">
      <p:transition spd="slow" p14:dur="2000" advTm="26216"/>
    </mc:Choice>
    <mc:Fallback xmlns="">
      <p:transition spd="slow" advTm="26216"/>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FFFFF"/>
              </a:solidFill>
              <a:effectLst/>
              <a:uLnTx/>
              <a:uFillTx/>
              <a:latin typeface="Calibri" panose="020F0502020204030204"/>
              <a:ea typeface="+mn-ea"/>
              <a:cs typeface="+mn-cs"/>
            </a:endParaRPr>
          </a:p>
        </p:txBody>
      </p:sp>
      <p:sp>
        <p:nvSpPr>
          <p:cNvPr id="25" name="Arc 2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000000"/>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B13C3912-E33F-47F1-ABAF-D0E337E9DC51}"/>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fr-FR" dirty="0"/>
              <a:t>Annexes pour </a:t>
            </a:r>
            <a:br>
              <a:rPr lang="fr-FR" dirty="0"/>
            </a:br>
            <a:r>
              <a:rPr lang="fr-FR" dirty="0"/>
              <a:t>créateur(-</a:t>
            </a:r>
            <a:r>
              <a:rPr lang="fr-FR" dirty="0" err="1"/>
              <a:t>trice</a:t>
            </a:r>
            <a:r>
              <a:rPr lang="fr-FR" dirty="0"/>
              <a:t>)s</a:t>
            </a:r>
            <a:endParaRPr lang="fr-FR" kern="1200" dirty="0">
              <a:solidFill>
                <a:schemeClr val="tx1"/>
              </a:solidFill>
              <a:latin typeface="+mj-lt"/>
              <a:ea typeface="+mj-ea"/>
              <a:cs typeface="+mj-cs"/>
            </a:endParaRPr>
          </a:p>
        </p:txBody>
      </p:sp>
      <p:sp>
        <p:nvSpPr>
          <p:cNvPr id="5" name="Espace réservé du texte 4">
            <a:extLst>
              <a:ext uri="{FF2B5EF4-FFF2-40B4-BE49-F238E27FC236}">
                <a16:creationId xmlns:a16="http://schemas.microsoft.com/office/drawing/2014/main" id="{ED57A40E-2424-48AE-BE7E-7363A8EFEC54}"/>
              </a:ext>
            </a:extLst>
          </p:cNvPr>
          <p:cNvSpPr>
            <a:spLocks noGrp="1"/>
          </p:cNvSpPr>
          <p:nvPr>
            <p:ph type="body" idx="1"/>
          </p:nvPr>
        </p:nvSpPr>
        <p:spPr>
          <a:xfrm>
            <a:off x="4038600" y="4782320"/>
            <a:ext cx="7644627" cy="1329443"/>
          </a:xfrm>
        </p:spPr>
        <p:txBody>
          <a:bodyPr vert="horz" lIns="91440" tIns="45720" rIns="91440" bIns="45720" rtlCol="0">
            <a:normAutofit/>
          </a:bodyPr>
          <a:lstStyle/>
          <a:p>
            <a:pPr algn="r"/>
            <a:r>
              <a:rPr lang="fr-FR" kern="1200" dirty="0">
                <a:solidFill>
                  <a:schemeClr val="tx1"/>
                </a:solidFill>
                <a:latin typeface="+mn-lt"/>
                <a:ea typeface="+mn-ea"/>
                <a:cs typeface="+mn-cs"/>
              </a:rPr>
              <a:t>Eléments </a:t>
            </a:r>
            <a:r>
              <a:rPr lang="fr-FR" dirty="0">
                <a:solidFill>
                  <a:schemeClr val="tx1"/>
                </a:solidFill>
              </a:rPr>
              <a:t>pour créer des variantes ou des extensions de votre #OpenSeriousGame</a:t>
            </a:r>
            <a:endParaRPr lang="fr-FR" kern="1200" dirty="0">
              <a:solidFill>
                <a:schemeClr val="tx1"/>
              </a:solidFill>
              <a:latin typeface="+mn-lt"/>
              <a:ea typeface="+mn-ea"/>
              <a:cs typeface="+mn-cs"/>
            </a:endParaRPr>
          </a:p>
        </p:txBody>
      </p:sp>
      <p:grpSp>
        <p:nvGrpSpPr>
          <p:cNvPr id="9" name="Groupe 8">
            <a:extLst>
              <a:ext uri="{FF2B5EF4-FFF2-40B4-BE49-F238E27FC236}">
                <a16:creationId xmlns:a16="http://schemas.microsoft.com/office/drawing/2014/main" id="{2B8A72E4-0D62-406A-B43A-8C43574B8FE7}"/>
              </a:ext>
            </a:extLst>
          </p:cNvPr>
          <p:cNvGrpSpPr/>
          <p:nvPr/>
        </p:nvGrpSpPr>
        <p:grpSpPr>
          <a:xfrm>
            <a:off x="6918469" y="336757"/>
            <a:ext cx="2946290" cy="2842019"/>
            <a:chOff x="8930936" y="2408583"/>
            <a:chExt cx="1216113" cy="1173074"/>
          </a:xfrm>
          <a:solidFill>
            <a:schemeClr val="accent1"/>
          </a:solidFill>
        </p:grpSpPr>
        <p:grpSp>
          <p:nvGrpSpPr>
            <p:cNvPr id="10" name="Groupe 9">
              <a:extLst>
                <a:ext uri="{FF2B5EF4-FFF2-40B4-BE49-F238E27FC236}">
                  <a16:creationId xmlns:a16="http://schemas.microsoft.com/office/drawing/2014/main" id="{94A91807-4843-4C84-8570-D545CF1D0BBD}"/>
                </a:ext>
              </a:extLst>
            </p:cNvPr>
            <p:cNvGrpSpPr/>
            <p:nvPr/>
          </p:nvGrpSpPr>
          <p:grpSpPr>
            <a:xfrm>
              <a:off x="8930936" y="2408583"/>
              <a:ext cx="1216113" cy="1173074"/>
              <a:chOff x="8930936" y="2401291"/>
              <a:chExt cx="1216113" cy="1173074"/>
            </a:xfrm>
            <a:grpFill/>
          </p:grpSpPr>
          <p:pic>
            <p:nvPicPr>
              <p:cNvPr id="14" name="Graphique 13" descr="Plan avec un remplissage uni">
                <a:extLst>
                  <a:ext uri="{FF2B5EF4-FFF2-40B4-BE49-F238E27FC236}">
                    <a16:creationId xmlns:a16="http://schemas.microsoft.com/office/drawing/2014/main" id="{E4E2E1FE-FFB3-4663-B182-5C7611B2489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15" name="Groupe 14">
                <a:extLst>
                  <a:ext uri="{FF2B5EF4-FFF2-40B4-BE49-F238E27FC236}">
                    <a16:creationId xmlns:a16="http://schemas.microsoft.com/office/drawing/2014/main" id="{0842011A-B253-430A-9489-4F84B2B5CFE3}"/>
                  </a:ext>
                </a:extLst>
              </p:cNvPr>
              <p:cNvGrpSpPr/>
              <p:nvPr/>
            </p:nvGrpSpPr>
            <p:grpSpPr>
              <a:xfrm>
                <a:off x="9450069" y="2659965"/>
                <a:ext cx="696980" cy="914400"/>
                <a:chOff x="5018285" y="3873291"/>
                <a:chExt cx="696980" cy="914400"/>
              </a:xfrm>
              <a:grpFill/>
            </p:grpSpPr>
            <p:pic>
              <p:nvPicPr>
                <p:cNvPr id="16" name="Graphique 15" descr="Personne confuse avec un remplissage uni">
                  <a:extLst>
                    <a:ext uri="{FF2B5EF4-FFF2-40B4-BE49-F238E27FC236}">
                      <a16:creationId xmlns:a16="http://schemas.microsoft.com/office/drawing/2014/main" id="{098A3537-0CC4-44FA-B229-0A9FD658A9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5EEF5EB3-316F-4570-8B66-17C87961689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1" name="Groupe 10">
              <a:extLst>
                <a:ext uri="{FF2B5EF4-FFF2-40B4-BE49-F238E27FC236}">
                  <a16:creationId xmlns:a16="http://schemas.microsoft.com/office/drawing/2014/main" id="{EBF05239-3EE1-4555-A519-B612F1DC9196}"/>
                </a:ext>
              </a:extLst>
            </p:cNvPr>
            <p:cNvGrpSpPr/>
            <p:nvPr/>
          </p:nvGrpSpPr>
          <p:grpSpPr>
            <a:xfrm>
              <a:off x="9237852" y="2714693"/>
              <a:ext cx="199881" cy="170748"/>
              <a:chOff x="8303417" y="2625343"/>
              <a:chExt cx="199881" cy="170748"/>
            </a:xfrm>
            <a:grpFill/>
          </p:grpSpPr>
          <p:sp>
            <p:nvSpPr>
              <p:cNvPr id="12" name="Rectangle 11">
                <a:extLst>
                  <a:ext uri="{FF2B5EF4-FFF2-40B4-BE49-F238E27FC236}">
                    <a16:creationId xmlns:a16="http://schemas.microsoft.com/office/drawing/2014/main" id="{F6A0FAEC-B9F3-457C-8CC0-2DC92858DFAC}"/>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849EB6C6-0EB3-4728-9813-1495372402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sp>
        <p:nvSpPr>
          <p:cNvPr id="20" name="ZoneTexte 19">
            <a:extLst>
              <a:ext uri="{FF2B5EF4-FFF2-40B4-BE49-F238E27FC236}">
                <a16:creationId xmlns:a16="http://schemas.microsoft.com/office/drawing/2014/main" id="{8BD070CB-FB44-431C-89E0-BE0474BCFBFB}"/>
              </a:ext>
            </a:extLst>
          </p:cNvPr>
          <p:cNvSpPr txBox="1"/>
          <p:nvPr/>
        </p:nvSpPr>
        <p:spPr>
          <a:xfrm>
            <a:off x="2458241" y="2392848"/>
            <a:ext cx="1421301" cy="1323439"/>
          </a:xfrm>
          <a:prstGeom prst="rect">
            <a:avLst/>
          </a:prstGeom>
          <a:noFill/>
        </p:spPr>
        <p:txBody>
          <a:bodyPr wrap="square">
            <a:spAutoFit/>
          </a:bodyPr>
          <a:lstStyle/>
          <a:p>
            <a:pPr algn="ctr"/>
            <a:r>
              <a:rPr lang="fr-FR" sz="4000" dirty="0"/>
              <a:t>Niv 6</a:t>
            </a:r>
            <a:br>
              <a:rPr lang="fr-FR" sz="4000" dirty="0"/>
            </a:br>
            <a:r>
              <a:rPr lang="fr-FR" sz="4000" dirty="0"/>
              <a:t>#OSG</a:t>
            </a:r>
          </a:p>
        </p:txBody>
      </p:sp>
    </p:spTree>
    <p:extLst>
      <p:ext uri="{BB962C8B-B14F-4D97-AF65-F5344CB8AC3E}">
        <p14:creationId xmlns:p14="http://schemas.microsoft.com/office/powerpoint/2010/main" val="1600511205"/>
      </p:ext>
    </p:extLst>
  </p:cSld>
  <p:clrMapOvr>
    <a:masterClrMapping/>
  </p:clrMapOvr>
  <mc:AlternateContent xmlns:mc="http://schemas.openxmlformats.org/markup-compatibility/2006" xmlns:p14="http://schemas.microsoft.com/office/powerpoint/2010/main">
    <mc:Choice Requires="p14">
      <p:transition spd="slow" p14:dur="2000" advTm="21399"/>
    </mc:Choice>
    <mc:Fallback xmlns="">
      <p:transition spd="slow" advTm="21399"/>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E22978-1A14-44A9-9B7F-B7C7DDE43B92}"/>
              </a:ext>
            </a:extLst>
          </p:cNvPr>
          <p:cNvSpPr>
            <a:spLocks noGrp="1"/>
          </p:cNvSpPr>
          <p:nvPr>
            <p:ph type="title"/>
          </p:nvPr>
        </p:nvSpPr>
        <p:spPr/>
        <p:txBody>
          <a:bodyPr/>
          <a:lstStyle/>
          <a:p>
            <a:r>
              <a:rPr lang="fr-FR" dirty="0"/>
              <a:t>Choix de conceptions</a:t>
            </a:r>
          </a:p>
        </p:txBody>
      </p:sp>
      <p:sp>
        <p:nvSpPr>
          <p:cNvPr id="3" name="Espace réservé du contenu 2">
            <a:extLst>
              <a:ext uri="{FF2B5EF4-FFF2-40B4-BE49-F238E27FC236}">
                <a16:creationId xmlns:a16="http://schemas.microsoft.com/office/drawing/2014/main" id="{7037EC18-533F-4128-AABC-BF8E161787AE}"/>
              </a:ext>
            </a:extLst>
          </p:cNvPr>
          <p:cNvSpPr>
            <a:spLocks noGrp="1"/>
          </p:cNvSpPr>
          <p:nvPr>
            <p:ph idx="1"/>
          </p:nvPr>
        </p:nvSpPr>
        <p:spPr/>
        <p:txBody>
          <a:bodyPr vert="horz" lIns="91440" tIns="45720" rIns="91440" bIns="45720" rtlCol="0" anchor="t">
            <a:normAutofit/>
          </a:bodyPr>
          <a:lstStyle/>
          <a:p>
            <a:pPr marL="0" indent="0">
              <a:buNone/>
            </a:pPr>
            <a:r>
              <a:rPr lang="fr-FR" sz="1800" dirty="0"/>
              <a:t>🚶‍♂️Fonctionnement en « Circuit Design » : </a:t>
            </a:r>
          </a:p>
          <a:p>
            <a:pPr marL="457200" lvl="1" indent="0">
              <a:buNone/>
            </a:pPr>
            <a:r>
              <a:rPr lang="fr-FR" sz="1600" b="1" dirty="0"/>
              <a:t>🤝Créer du lien pendant l’exercice : </a:t>
            </a:r>
            <a:r>
              <a:rPr lang="fr-FR" sz="1600" dirty="0"/>
              <a:t>Les participants sont en petit groupes de 5 à 10</a:t>
            </a:r>
            <a:endParaRPr lang="fr-FR" sz="1600" dirty="0">
              <a:cs typeface="Calibri"/>
            </a:endParaRPr>
          </a:p>
          <a:p>
            <a:pPr marL="457200" lvl="1" indent="0">
              <a:buNone/>
            </a:pPr>
            <a:r>
              <a:rPr lang="fr-FR" sz="1600" b="1" dirty="0"/>
              <a:t>⏱️Rythmer l’activité et arriver à des résultats progressivement : </a:t>
            </a:r>
            <a:r>
              <a:rPr lang="fr-FR" sz="1600" dirty="0"/>
              <a:t>L’exercice se passe en plusieurs tours </a:t>
            </a:r>
            <a:endParaRPr lang="fr-FR" sz="1600" dirty="0">
              <a:cs typeface="Calibri"/>
            </a:endParaRPr>
          </a:p>
          <a:p>
            <a:pPr marL="457200" lvl="1" indent="0">
              <a:buNone/>
            </a:pPr>
            <a:r>
              <a:rPr lang="fr-FR" sz="1600" b="1" dirty="0"/>
              <a:t>📩Obtenir des résultats poussés :</a:t>
            </a:r>
            <a:r>
              <a:rPr lang="fr-FR" sz="1600" dirty="0"/>
              <a:t> Chaque petit groupe travaille sur un atelier particulier : Les outils du membre de la communauté de demain, son look &amp; </a:t>
            </a:r>
            <a:r>
              <a:rPr lang="fr-FR" sz="1600" dirty="0" err="1"/>
              <a:t>feel</a:t>
            </a:r>
            <a:r>
              <a:rPr lang="fr-FR" sz="1600" dirty="0"/>
              <a:t>, ses méthodes de travail…. Chaque atelier à un format particulier cible bien défini avec des exemples.</a:t>
            </a:r>
            <a:endParaRPr lang="fr-FR" sz="1600" dirty="0">
              <a:cs typeface="Calibri"/>
            </a:endParaRPr>
          </a:p>
          <a:p>
            <a:pPr marL="457200" lvl="1" indent="0">
              <a:buNone/>
            </a:pPr>
            <a:r>
              <a:rPr lang="fr-FR" sz="1600" b="1" dirty="0">
                <a:cs typeface="Calibri"/>
              </a:rPr>
              <a:t>👋Pour développer de nouveaux liens</a:t>
            </a:r>
            <a:r>
              <a:rPr lang="fr-FR" sz="1600" dirty="0">
                <a:cs typeface="Calibri"/>
              </a:rPr>
              <a:t> : (Suggestion)Les équipes sont composées pour maximiser les nouvelles rencontres</a:t>
            </a:r>
          </a:p>
          <a:p>
            <a:pPr marL="457200" lvl="1" indent="0">
              <a:buNone/>
            </a:pPr>
            <a:endParaRPr lang="fr-FR" sz="1600" dirty="0">
              <a:cs typeface="Calibri"/>
            </a:endParaRPr>
          </a:p>
          <a:p>
            <a:pPr marL="0" indent="0">
              <a:buNone/>
            </a:pPr>
            <a:r>
              <a:rPr lang="fr-FR" sz="1800" b="1" dirty="0"/>
              <a:t>🔥Pour motiver et libérer la créativité rapidement :</a:t>
            </a:r>
            <a:r>
              <a:rPr lang="fr-FR" sz="1800" dirty="0"/>
              <a:t> Scénario Immersif, les participants incarnent des membres de la communauté en 2050. L’introduction leur est faite façon « Escape Game » (on s’adresse à eux directement en tant que personnages)</a:t>
            </a:r>
            <a:endParaRPr lang="fr-FR" sz="1800" dirty="0">
              <a:cs typeface="Calibri"/>
            </a:endParaRPr>
          </a:p>
        </p:txBody>
      </p:sp>
    </p:spTree>
    <p:extLst>
      <p:ext uri="{BB962C8B-B14F-4D97-AF65-F5344CB8AC3E}">
        <p14:creationId xmlns:p14="http://schemas.microsoft.com/office/powerpoint/2010/main" val="30494961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65C5BCB-A7A1-4D9C-9EB9-78847528543D}"/>
              </a:ext>
            </a:extLst>
          </p:cNvPr>
          <p:cNvSpPr>
            <a:spLocks noGrp="1"/>
          </p:cNvSpPr>
          <p:nvPr>
            <p:ph type="title"/>
          </p:nvPr>
        </p:nvSpPr>
        <p:spPr/>
        <p:txBody>
          <a:bodyPr/>
          <a:lstStyle/>
          <a:p>
            <a:r>
              <a:rPr lang="fr-FR" dirty="0"/>
              <a:t>Idées de variantes et d’améliorations</a:t>
            </a:r>
          </a:p>
        </p:txBody>
      </p:sp>
      <p:graphicFrame>
        <p:nvGraphicFramePr>
          <p:cNvPr id="16" name="Tableau 16">
            <a:extLst>
              <a:ext uri="{FF2B5EF4-FFF2-40B4-BE49-F238E27FC236}">
                <a16:creationId xmlns:a16="http://schemas.microsoft.com/office/drawing/2014/main" id="{AA3D42E8-3A86-4A8A-B71A-266744B66033}"/>
              </a:ext>
            </a:extLst>
          </p:cNvPr>
          <p:cNvGraphicFramePr>
            <a:graphicFrameLocks noGrp="1"/>
          </p:cNvGraphicFramePr>
          <p:nvPr>
            <p:ph idx="1"/>
            <p:extLst>
              <p:ext uri="{D42A27DB-BD31-4B8C-83A1-F6EECF244321}">
                <p14:modId xmlns:p14="http://schemas.microsoft.com/office/powerpoint/2010/main" val="1322174108"/>
              </p:ext>
            </p:extLst>
          </p:nvPr>
        </p:nvGraphicFramePr>
        <p:xfrm>
          <a:off x="838203" y="2677881"/>
          <a:ext cx="10515597" cy="34848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158832131"/>
                    </a:ext>
                  </a:extLst>
                </a:gridCol>
                <a:gridCol w="3505199">
                  <a:extLst>
                    <a:ext uri="{9D8B030D-6E8A-4147-A177-3AD203B41FA5}">
                      <a16:colId xmlns:a16="http://schemas.microsoft.com/office/drawing/2014/main" val="1576795340"/>
                    </a:ext>
                  </a:extLst>
                </a:gridCol>
                <a:gridCol w="3505199">
                  <a:extLst>
                    <a:ext uri="{9D8B030D-6E8A-4147-A177-3AD203B41FA5}">
                      <a16:colId xmlns:a16="http://schemas.microsoft.com/office/drawing/2014/main" val="2136509393"/>
                    </a:ext>
                  </a:extLst>
                </a:gridCol>
              </a:tblGrid>
              <a:tr h="370840">
                <a:tc>
                  <a:txBody>
                    <a:bodyPr/>
                    <a:lstStyle/>
                    <a:p>
                      <a:r>
                        <a:rPr lang="fr-FR" dirty="0"/>
                        <a:t>Type : Variante / Extension</a:t>
                      </a:r>
                    </a:p>
                  </a:txBody>
                  <a:tcPr/>
                </a:tc>
                <a:tc>
                  <a:txBody>
                    <a:bodyPr/>
                    <a:lstStyle/>
                    <a:p>
                      <a:r>
                        <a:rPr lang="fr-FR" dirty="0"/>
                        <a:t>Description</a:t>
                      </a:r>
                    </a:p>
                  </a:txBody>
                  <a:tcPr/>
                </a:tc>
                <a:tc>
                  <a:txBody>
                    <a:bodyPr/>
                    <a:lstStyle/>
                    <a:p>
                      <a:r>
                        <a:rPr lang="fr-FR" dirty="0"/>
                        <a:t>But </a:t>
                      </a:r>
                    </a:p>
                  </a:txBody>
                  <a:tcPr/>
                </a:tc>
                <a:extLst>
                  <a:ext uri="{0D108BD9-81ED-4DB2-BD59-A6C34878D82A}">
                    <a16:rowId xmlns:a16="http://schemas.microsoft.com/office/drawing/2014/main" val="1323693463"/>
                  </a:ext>
                </a:extLst>
              </a:tr>
              <a:tr h="370840">
                <a:tc>
                  <a:txBody>
                    <a:bodyPr/>
                    <a:lstStyle/>
                    <a:p>
                      <a:r>
                        <a:rPr lang="fr-FR" sz="1200" dirty="0">
                          <a:solidFill>
                            <a:srgbClr val="000000"/>
                          </a:solidFill>
                          <a:cs typeface="Calibri"/>
                        </a:rPr>
                        <a:t>Variante des mini-groupes</a:t>
                      </a:r>
                      <a:endParaRPr lang="fr-FR" sz="1200" dirty="0"/>
                    </a:p>
                  </a:txBody>
                  <a:tcPr/>
                </a:tc>
                <a:tc>
                  <a:txBody>
                    <a:bodyPr/>
                    <a:lstStyle/>
                    <a:p>
                      <a:r>
                        <a:rPr lang="fr-FR" sz="1200" dirty="0"/>
                        <a:t>Faire circuler uniquement la moitié de chaque groupe</a:t>
                      </a:r>
                    </a:p>
                  </a:txBody>
                  <a:tcPr/>
                </a:tc>
                <a:tc>
                  <a:txBody>
                    <a:bodyPr/>
                    <a:lstStyle/>
                    <a:p>
                      <a:r>
                        <a:rPr lang="fr-FR" sz="1200" dirty="0"/>
                        <a:t>Permettre aux membres des groupes de rencontrer des personnes différentes pendant le jeu</a:t>
                      </a:r>
                    </a:p>
                  </a:txBody>
                  <a:tcPr/>
                </a:tc>
                <a:extLst>
                  <a:ext uri="{0D108BD9-81ED-4DB2-BD59-A6C34878D82A}">
                    <a16:rowId xmlns:a16="http://schemas.microsoft.com/office/drawing/2014/main" val="4249539521"/>
                  </a:ext>
                </a:extLst>
              </a:tr>
              <a:tr h="370840">
                <a:tc>
                  <a:txBody>
                    <a:bodyPr/>
                    <a:lstStyle/>
                    <a:p>
                      <a:r>
                        <a:rPr lang="fr-FR" sz="1200" dirty="0"/>
                        <a:t>Variante multimédia</a:t>
                      </a:r>
                    </a:p>
                  </a:txBody>
                  <a:tcPr/>
                </a:tc>
                <a:tc>
                  <a:txBody>
                    <a:bodyPr/>
                    <a:lstStyle/>
                    <a:p>
                      <a:r>
                        <a:rPr lang="fr-FR" sz="1200" dirty="0"/>
                        <a:t>Filmez le pitch</a:t>
                      </a:r>
                    </a:p>
                    <a:p>
                      <a:r>
                        <a:rPr lang="fr-FR" sz="1200" dirty="0"/>
                        <a:t>Faites les espaces de travail sous forme 3D ou présentation</a:t>
                      </a:r>
                    </a:p>
                    <a:p>
                      <a:r>
                        <a:rPr lang="fr-FR" sz="1200" dirty="0"/>
                        <a:t>Filmez les flash news</a:t>
                      </a:r>
                    </a:p>
                    <a:p>
                      <a:r>
                        <a:rPr lang="fr-FR" sz="1200" dirty="0"/>
                        <a:t>Faites les flyers sous format numérique</a:t>
                      </a:r>
                    </a:p>
                  </a:txBody>
                  <a:tcPr/>
                </a:tc>
                <a:tc>
                  <a:txBody>
                    <a:bodyPr/>
                    <a:lstStyle/>
                    <a:p>
                      <a:r>
                        <a:rPr lang="fr-FR" sz="1200" dirty="0"/>
                        <a:t>Ajouter une dimension multimédia aux productions (attention, peut allonger le temps des ateliers)</a:t>
                      </a:r>
                    </a:p>
                  </a:txBody>
                  <a:tcPr/>
                </a:tc>
                <a:extLst>
                  <a:ext uri="{0D108BD9-81ED-4DB2-BD59-A6C34878D82A}">
                    <a16:rowId xmlns:a16="http://schemas.microsoft.com/office/drawing/2014/main" val="1824107877"/>
                  </a:ext>
                </a:extLst>
              </a:tr>
              <a:tr h="370840">
                <a:tc>
                  <a:txBody>
                    <a:bodyPr/>
                    <a:lstStyle/>
                    <a:p>
                      <a:r>
                        <a:rPr lang="fr-FR" sz="1200" dirty="0"/>
                        <a:t>Variante  « passé »</a:t>
                      </a:r>
                    </a:p>
                  </a:txBody>
                  <a:tcPr/>
                </a:tc>
                <a:tc>
                  <a:txBody>
                    <a:bodyPr/>
                    <a:lstStyle/>
                    <a:p>
                      <a:r>
                        <a:rPr lang="fr-FR" sz="1200" dirty="0"/>
                        <a:t>Les participants ne doivent plus raconter l’année 2050, mais l’année 2030  </a:t>
                      </a:r>
                    </a:p>
                  </a:txBody>
                  <a:tcPr/>
                </a:tc>
                <a:tc>
                  <a:txBody>
                    <a:bodyPr/>
                    <a:lstStyle/>
                    <a:p>
                      <a:r>
                        <a:rPr lang="fr-FR" sz="1200" dirty="0"/>
                        <a:t>Se projeter plus proche </a:t>
                      </a:r>
                    </a:p>
                  </a:txBody>
                  <a:tcPr/>
                </a:tc>
                <a:extLst>
                  <a:ext uri="{0D108BD9-81ED-4DB2-BD59-A6C34878D82A}">
                    <a16:rowId xmlns:a16="http://schemas.microsoft.com/office/drawing/2014/main" val="1035027814"/>
                  </a:ext>
                </a:extLst>
              </a:tr>
              <a:tr h="370840">
                <a:tc>
                  <a:txBody>
                    <a:bodyPr/>
                    <a:lstStyle/>
                    <a:p>
                      <a:r>
                        <a:rPr lang="fr-FR" sz="1200" dirty="0"/>
                        <a:t>Variante circulante</a:t>
                      </a:r>
                    </a:p>
                  </a:txBody>
                  <a:tcPr/>
                </a:tc>
                <a:tc>
                  <a:txBody>
                    <a:bodyPr/>
                    <a:lstStyle/>
                    <a:p>
                      <a:r>
                        <a:rPr lang="fr-FR" sz="1200" dirty="0"/>
                        <a:t>Les ateliers sont toutes des salles ouvertes et chacun peut circuler librement entre les ateliers. </a:t>
                      </a:r>
                    </a:p>
                    <a:p>
                      <a:r>
                        <a:rPr lang="fr-FR" sz="1200" dirty="0"/>
                        <a:t>Retirer la notion de tour. Les objectifs sont les 3 tours cumulés</a:t>
                      </a:r>
                    </a:p>
                  </a:txBody>
                  <a:tcPr/>
                </a:tc>
                <a:tc>
                  <a:txBody>
                    <a:bodyPr/>
                    <a:lstStyle/>
                    <a:p>
                      <a:r>
                        <a:rPr lang="fr-FR" sz="1200" dirty="0"/>
                        <a:t>Donner plus de liberté et de naturel à l’événement</a:t>
                      </a:r>
                    </a:p>
                  </a:txBody>
                  <a:tcPr/>
                </a:tc>
                <a:extLst>
                  <a:ext uri="{0D108BD9-81ED-4DB2-BD59-A6C34878D82A}">
                    <a16:rowId xmlns:a16="http://schemas.microsoft.com/office/drawing/2014/main" val="122548462"/>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400619796"/>
                  </a:ext>
                </a:extLst>
              </a:tr>
            </a:tbl>
          </a:graphicData>
        </a:graphic>
      </p:graphicFrame>
      <p:sp>
        <p:nvSpPr>
          <p:cNvPr id="17" name="Espace réservé du contenu 2">
            <a:extLst>
              <a:ext uri="{FF2B5EF4-FFF2-40B4-BE49-F238E27FC236}">
                <a16:creationId xmlns:a16="http://schemas.microsoft.com/office/drawing/2014/main" id="{BE9D0944-F624-47BC-8375-70A6E8B4D2C3}"/>
              </a:ext>
            </a:extLst>
          </p:cNvPr>
          <p:cNvSpPr txBox="1">
            <a:spLocks/>
          </p:cNvSpPr>
          <p:nvPr/>
        </p:nvSpPr>
        <p:spPr>
          <a:xfrm>
            <a:off x="838200" y="1392078"/>
            <a:ext cx="5607515" cy="1173570"/>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Un #OpenSeriousGame reste vivant, il est juste laissé en pause à un instant donné. Vous pouvez, en tant que créateur(-</a:t>
            </a:r>
            <a:r>
              <a:rPr lang="fr-FR" sz="1400" dirty="0" err="1">
                <a:solidFill>
                  <a:srgbClr val="000000"/>
                </a:solidFill>
                <a:cs typeface="Calibri"/>
              </a:rPr>
              <a:t>trice</a:t>
            </a:r>
            <a:r>
              <a:rPr lang="fr-FR" sz="1400" dirty="0">
                <a:solidFill>
                  <a:srgbClr val="000000"/>
                </a:solidFill>
                <a:cs typeface="Calibri"/>
              </a:rPr>
              <a:t>), intégrer différentes idées de variantes que vous auriez identifiées pendant votre production.</a:t>
            </a:r>
          </a:p>
          <a:p>
            <a:pPr marL="0" indent="0">
              <a:buFont typeface="Arial" panose="020B0604020202020204" pitchFamily="34" charset="0"/>
              <a:buNone/>
            </a:pPr>
            <a:r>
              <a:rPr lang="fr-FR" sz="1400" dirty="0">
                <a:solidFill>
                  <a:srgbClr val="000000"/>
                </a:solidFill>
                <a:cs typeface="Calibri"/>
              </a:rPr>
              <a:t>Ce tableau est une inspiration pour continuer l’amélioration, l’adaptation de ce jeu, dans la philosophie #OpenSeriousGame</a:t>
            </a:r>
          </a:p>
        </p:txBody>
      </p:sp>
    </p:spTree>
    <p:extLst>
      <p:ext uri="{BB962C8B-B14F-4D97-AF65-F5344CB8AC3E}">
        <p14:creationId xmlns:p14="http://schemas.microsoft.com/office/powerpoint/2010/main" val="3999996337"/>
      </p:ext>
    </p:extLst>
  </p:cSld>
  <p:clrMapOvr>
    <a:masterClrMapping/>
  </p:clrMapOvr>
  <mc:AlternateContent xmlns:mc="http://schemas.openxmlformats.org/markup-compatibility/2006" xmlns:p14="http://schemas.microsoft.com/office/powerpoint/2010/main">
    <mc:Choice Requires="p14">
      <p:transition spd="slow" p14:dur="2000" advTm="59127"/>
    </mc:Choice>
    <mc:Fallback xmlns="">
      <p:transition spd="slow" advTm="59127"/>
    </mc:Fallback>
  </mc:AlternateContent>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3010</TotalTime>
  <Words>4403</Words>
  <Application>Microsoft Office PowerPoint</Application>
  <PresentationFormat>Grand écran</PresentationFormat>
  <Paragraphs>532</Paragraphs>
  <Slides>51</Slides>
  <Notes>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51</vt:i4>
      </vt:variant>
    </vt:vector>
  </HeadingPairs>
  <TitlesOfParts>
    <vt:vector size="58" baseType="lpstr">
      <vt:lpstr>Arial</vt:lpstr>
      <vt:lpstr>Calibri</vt:lpstr>
      <vt:lpstr>Calibri Light</vt:lpstr>
      <vt:lpstr>Ink Free</vt:lpstr>
      <vt:lpstr>Rockwell</vt:lpstr>
      <vt:lpstr>Wingdings</vt:lpstr>
      <vt:lpstr>Thème Office</vt:lpstr>
      <vt:lpstr>Présentation PowerPoint</vt:lpstr>
      <vt:lpstr>Ce document est un contenu #OpenSeriousCommunity #OSC</vt:lpstr>
      <vt:lpstr>Pitch</vt:lpstr>
      <vt:lpstr>Présentation PowerPoint</vt:lpstr>
      <vt:lpstr>Historique des modifications et licences</vt:lpstr>
      <vt:lpstr>Intro aux joueurs</vt:lpstr>
      <vt:lpstr>Déroulement par tours</vt:lpstr>
      <vt:lpstr>Détails logistiques</vt:lpstr>
      <vt:lpstr>Ateliers</vt:lpstr>
      <vt:lpstr>Dans chaque atelier</vt:lpstr>
      <vt:lpstr>Conseils et astuces d’animation</vt:lpstr>
      <vt:lpstr>Ateliers</vt:lpstr>
      <vt:lpstr>ATELIER LOOK &amp; FEEL DES MEMBRES 2050 Feuille d’instructions - Résumé</vt:lpstr>
      <vt:lpstr>ATELIER LOOK &amp; FEEL DES MEMBRES 2050 Feuille d’instructions - Exemple</vt:lpstr>
      <vt:lpstr>ATELIER LOOK &amp; FEEL DES MEMBRES 2050 Feuille de support (dessinez par-dessus)</vt:lpstr>
      <vt:lpstr>ATELIER LOOK &amp; FEEL DES MEMBRES 2050 Feuille de support</vt:lpstr>
      <vt:lpstr>ATELIER LOOK &amp; FEEL DES MEMBRES 2050 Feuille de support</vt:lpstr>
      <vt:lpstr>ATELIER LOOK &amp; FEEL DES MEMBRES 2050 Feuille de travail – Brainstorming d’équipements, vêtements, …</vt:lpstr>
      <vt:lpstr>Atelier Look &amp; Feel : Matériel nécessaire</vt:lpstr>
      <vt:lpstr>ATELIER LE PITCH EN CHAINE DU MEMBRE 2050 Résumé</vt:lpstr>
      <vt:lpstr>ATELIER LE PITCH DU MEMBRE 2050 Exemple : faire son pitch progressivement en commençant simple et en ajoutant des détails</vt:lpstr>
      <vt:lpstr>ATELIER LE PITCH DU MEMBRE 2050 Exemple de structures de pitch</vt:lpstr>
      <vt:lpstr>Atelier Pitch – Matériel nécessaire</vt:lpstr>
      <vt:lpstr>ATELIER : HISTOIRE D’INTEGRATION</vt:lpstr>
      <vt:lpstr>ATELIER : HISTOIRE DE RECRUTEMENTS Exemple de format</vt:lpstr>
      <vt:lpstr>ATELIER : HISTOIRE DE RECRUTEMENTS Slide de support</vt:lpstr>
      <vt:lpstr>Atelier histoire de recrutements  – Matériel nécessaire</vt:lpstr>
      <vt:lpstr>ATELIER FLASH ACTUS 2050</vt:lpstr>
      <vt:lpstr>Atelier FLASH ACTUS :  Générer des fiches de news</vt:lpstr>
      <vt:lpstr>ATELIER FLASH ACTUS  - Déroulement</vt:lpstr>
      <vt:lpstr>Se préparer en tant que présentateur</vt:lpstr>
      <vt:lpstr>Atelier Flash actus – Matériel nécessaire</vt:lpstr>
      <vt:lpstr>ATELIER APPRENTISSAGE 2050</vt:lpstr>
      <vt:lpstr>ATELIER APPRENTISSAGE 2050 Exemple de résultat</vt:lpstr>
      <vt:lpstr>ATELIER APPRENTISSAGE 2050  - Exemple</vt:lpstr>
      <vt:lpstr>ATELIER APPRENTISSAGE 2050  - Exemple</vt:lpstr>
      <vt:lpstr>Atelier Apprentissage – Matériel nécessaire</vt:lpstr>
      <vt:lpstr>ATELIER ESPACES DE VIE 2050</vt:lpstr>
      <vt:lpstr>ATELIER ESPACES DE TRAVAIL 2050   - Exemple de résultats</vt:lpstr>
      <vt:lpstr>ATELIER ESPACES DE TRAVAIL 2050   - Résultats attendus</vt:lpstr>
      <vt:lpstr>Atelier Espaces de travail – Matériel nécessaire</vt:lpstr>
      <vt:lpstr>ATELIER EVENEMENTS 2050 FEUILLE D’INSTRUCTIONS</vt:lpstr>
      <vt:lpstr>ATELIER EVENEMENTS 2050 EXEMPLES</vt:lpstr>
      <vt:lpstr>Présentation PowerPoint</vt:lpstr>
      <vt:lpstr>Atelier Evénements – Matériel nécessaire</vt:lpstr>
      <vt:lpstr>Contenus pour  Co-animateur(-trice)  et Lead animateur(-trices)</vt:lpstr>
      <vt:lpstr>Questions de Debriefing spécifiques</vt:lpstr>
      <vt:lpstr>Préparation de l’atelier : astuces et conseils</vt:lpstr>
      <vt:lpstr>Annexes pour  créateur(-trice)s</vt:lpstr>
      <vt:lpstr>Choix de conceptions</vt:lpstr>
      <vt:lpstr>Idées de variantes et d’améliorations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229</cp:revision>
  <dcterms:created xsi:type="dcterms:W3CDTF">2021-02-02T23:16:24Z</dcterms:created>
  <dcterms:modified xsi:type="dcterms:W3CDTF">2022-09-25T09:15:42Z</dcterms:modified>
</cp:coreProperties>
</file>