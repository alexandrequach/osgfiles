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8"/>
  </p:notesMasterIdLst>
  <p:sldIdLst>
    <p:sldId id="256" r:id="rId2"/>
    <p:sldId id="420" r:id="rId3"/>
    <p:sldId id="371" r:id="rId4"/>
    <p:sldId id="389" r:id="rId5"/>
    <p:sldId id="417" r:id="rId6"/>
    <p:sldId id="390" r:id="rId7"/>
    <p:sldId id="419" r:id="rId8"/>
    <p:sldId id="372" r:id="rId9"/>
    <p:sldId id="373" r:id="rId10"/>
    <p:sldId id="375" r:id="rId11"/>
    <p:sldId id="374" r:id="rId12"/>
    <p:sldId id="377" r:id="rId13"/>
    <p:sldId id="368" r:id="rId14"/>
    <p:sldId id="379" r:id="rId15"/>
    <p:sldId id="378" r:id="rId16"/>
    <p:sldId id="380" r:id="rId17"/>
    <p:sldId id="382" r:id="rId18"/>
    <p:sldId id="381" r:id="rId19"/>
    <p:sldId id="383" r:id="rId20"/>
    <p:sldId id="384" r:id="rId21"/>
    <p:sldId id="385" r:id="rId22"/>
    <p:sldId id="386" r:id="rId23"/>
    <p:sldId id="393" r:id="rId24"/>
    <p:sldId id="394" r:id="rId25"/>
    <p:sldId id="395" r:id="rId26"/>
    <p:sldId id="396" r:id="rId2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zione predefinita" id="{545267F8-4483-4991-8B73-48C51FB44E2F}">
          <p14:sldIdLst>
            <p14:sldId id="256"/>
            <p14:sldId id="420"/>
          </p14:sldIdLst>
        </p14:section>
        <p14:section name="Intro Robusteam" id="{438732A8-AFF7-4DC6-A026-6586C0434A2B}">
          <p14:sldIdLst>
            <p14:sldId id="371"/>
            <p14:sldId id="389"/>
            <p14:sldId id="417"/>
            <p14:sldId id="390"/>
            <p14:sldId id="419"/>
            <p14:sldId id="372"/>
            <p14:sldId id="373"/>
            <p14:sldId id="375"/>
            <p14:sldId id="374"/>
            <p14:sldId id="377"/>
            <p14:sldId id="368"/>
          </p14:sldIdLst>
        </p14:section>
        <p14:section name="Cartes de base ROBUSTEAM" id="{9D1C3E16-2DDE-4FA7-AD11-D70542C815FC}">
          <p14:sldIdLst>
            <p14:sldId id="379"/>
            <p14:sldId id="378"/>
            <p14:sldId id="380"/>
            <p14:sldId id="382"/>
            <p14:sldId id="381"/>
            <p14:sldId id="383"/>
            <p14:sldId id="384"/>
            <p14:sldId id="385"/>
            <p14:sldId id="386"/>
          </p14:sldIdLst>
        </p14:section>
        <p14:section name="Cartes Crises" id="{06B70ED9-9BA9-474E-9E2F-23D41675A198}">
          <p14:sldIdLst>
            <p14:sldId id="393"/>
            <p14:sldId id="394"/>
            <p14:sldId id="395"/>
            <p14:sldId id="39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0683AA"/>
    <a:srgbClr val="BFBFBF"/>
    <a:srgbClr val="9DC3E6"/>
    <a:srgbClr val="A9D18E"/>
    <a:srgbClr val="8FAADC"/>
    <a:srgbClr val="FFFFFF"/>
    <a:srgbClr val="A5A5A5"/>
    <a:srgbClr val="FF66FF"/>
    <a:srgbClr val="C0C0C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C312F1-653F-48B5-BD34-BA990BFDB21A}" v="1" dt="2022-12-06T08:32:33.610"/>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3B4B98B0-60AC-42C2-AFA5-B58CD77FA1E5}" styleName="Style léger 1 - Accentuation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658" autoAdjust="0"/>
    <p:restoredTop sz="94660"/>
  </p:normalViewPr>
  <p:slideViewPr>
    <p:cSldViewPr snapToGrid="0">
      <p:cViewPr varScale="1">
        <p:scale>
          <a:sx n="105" d="100"/>
          <a:sy n="105" d="100"/>
        </p:scale>
        <p:origin x="1080"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andre Quach" userId="03a3b9a4-365b-425e-bba9-a77346403bac" providerId="ADAL" clId="{B9C312F1-653F-48B5-BD34-BA990BFDB21A}"/>
    <pc:docChg chg="undo custSel addSld delSld modSld sldOrd addSection modSection">
      <pc:chgData name="Alexandre Quach" userId="03a3b9a4-365b-425e-bba9-a77346403bac" providerId="ADAL" clId="{B9C312F1-653F-48B5-BD34-BA990BFDB21A}" dt="2022-12-06T12:54:00.907" v="4850" actId="20577"/>
      <pc:docMkLst>
        <pc:docMk/>
      </pc:docMkLst>
      <pc:sldChg chg="addSp delSp modSp mod">
        <pc:chgData name="Alexandre Quach" userId="03a3b9a4-365b-425e-bba9-a77346403bac" providerId="ADAL" clId="{B9C312F1-653F-48B5-BD34-BA990BFDB21A}" dt="2022-12-06T08:32:36.125" v="29" actId="1076"/>
        <pc:sldMkLst>
          <pc:docMk/>
          <pc:sldMk cId="2842409871" sldId="256"/>
        </pc:sldMkLst>
        <pc:spChg chg="mod">
          <ac:chgData name="Alexandre Quach" userId="03a3b9a4-365b-425e-bba9-a77346403bac" providerId="ADAL" clId="{B9C312F1-653F-48B5-BD34-BA990BFDB21A}" dt="2022-12-06T08:32:32.653" v="27" actId="1076"/>
          <ac:spMkLst>
            <pc:docMk/>
            <pc:sldMk cId="2842409871" sldId="256"/>
            <ac:spMk id="23" creationId="{F319DE10-B979-4F85-8672-0A77FE2DA78F}"/>
          </ac:spMkLst>
        </pc:spChg>
        <pc:spChg chg="del">
          <ac:chgData name="Alexandre Quach" userId="03a3b9a4-365b-425e-bba9-a77346403bac" providerId="ADAL" clId="{B9C312F1-653F-48B5-BD34-BA990BFDB21A}" dt="2022-12-06T08:32:18.401" v="0" actId="478"/>
          <ac:spMkLst>
            <pc:docMk/>
            <pc:sldMk cId="2842409871" sldId="256"/>
            <ac:spMk id="66" creationId="{065A1710-095B-4220-88EC-52590635CCBC}"/>
          </ac:spMkLst>
        </pc:spChg>
        <pc:picChg chg="mod">
          <ac:chgData name="Alexandre Quach" userId="03a3b9a4-365b-425e-bba9-a77346403bac" providerId="ADAL" clId="{B9C312F1-653F-48B5-BD34-BA990BFDB21A}" dt="2022-12-06T08:32:20.666" v="1" actId="1076"/>
          <ac:picMkLst>
            <pc:docMk/>
            <pc:sldMk cId="2842409871" sldId="256"/>
            <ac:picMk id="4" creationId="{4276A8A0-91A7-41C6-8337-580E459AC82D}"/>
          </ac:picMkLst>
        </pc:picChg>
        <pc:picChg chg="add mod">
          <ac:chgData name="Alexandre Quach" userId="03a3b9a4-365b-425e-bba9-a77346403bac" providerId="ADAL" clId="{B9C312F1-653F-48B5-BD34-BA990BFDB21A}" dt="2022-12-06T08:32:36.125" v="29" actId="1076"/>
          <ac:picMkLst>
            <pc:docMk/>
            <pc:sldMk cId="2842409871" sldId="256"/>
            <ac:picMk id="5" creationId="{4C639913-7D20-7AED-3A27-448E5792C4BC}"/>
          </ac:picMkLst>
        </pc:picChg>
      </pc:sldChg>
      <pc:sldChg chg="modSp mod">
        <pc:chgData name="Alexandre Quach" userId="03a3b9a4-365b-425e-bba9-a77346403bac" providerId="ADAL" clId="{B9C312F1-653F-48B5-BD34-BA990BFDB21A}" dt="2022-12-06T08:36:04.764" v="601" actId="20577"/>
        <pc:sldMkLst>
          <pc:docMk/>
          <pc:sldMk cId="471399303" sldId="373"/>
        </pc:sldMkLst>
        <pc:spChg chg="mod">
          <ac:chgData name="Alexandre Quach" userId="03a3b9a4-365b-425e-bba9-a77346403bac" providerId="ADAL" clId="{B9C312F1-653F-48B5-BD34-BA990BFDB21A}" dt="2022-12-06T08:36:04.764" v="601" actId="20577"/>
          <ac:spMkLst>
            <pc:docMk/>
            <pc:sldMk cId="471399303" sldId="373"/>
            <ac:spMk id="35" creationId="{67B0F38D-F1AC-4920-A67C-30199D2FB73D}"/>
          </ac:spMkLst>
        </pc:spChg>
      </pc:sldChg>
      <pc:sldChg chg="modSp mod">
        <pc:chgData name="Alexandre Quach" userId="03a3b9a4-365b-425e-bba9-a77346403bac" providerId="ADAL" clId="{B9C312F1-653F-48B5-BD34-BA990BFDB21A}" dt="2022-12-06T09:02:19.419" v="1490" actId="20577"/>
        <pc:sldMkLst>
          <pc:docMk/>
          <pc:sldMk cId="427037604" sldId="374"/>
        </pc:sldMkLst>
        <pc:spChg chg="mod">
          <ac:chgData name="Alexandre Quach" userId="03a3b9a4-365b-425e-bba9-a77346403bac" providerId="ADAL" clId="{B9C312F1-653F-48B5-BD34-BA990BFDB21A}" dt="2022-12-06T09:02:19.419" v="1490" actId="20577"/>
          <ac:spMkLst>
            <pc:docMk/>
            <pc:sldMk cId="427037604" sldId="374"/>
            <ac:spMk id="39" creationId="{5433BB7F-90C0-406F-936A-62E085E3EA91}"/>
          </ac:spMkLst>
        </pc:spChg>
      </pc:sldChg>
      <pc:sldChg chg="modSp mod">
        <pc:chgData name="Alexandre Quach" userId="03a3b9a4-365b-425e-bba9-a77346403bac" providerId="ADAL" clId="{B9C312F1-653F-48B5-BD34-BA990BFDB21A}" dt="2022-12-06T08:35:40.688" v="505" actId="20577"/>
        <pc:sldMkLst>
          <pc:docMk/>
          <pc:sldMk cId="2545377066" sldId="377"/>
        </pc:sldMkLst>
        <pc:graphicFrameChg chg="modGraphic">
          <ac:chgData name="Alexandre Quach" userId="03a3b9a4-365b-425e-bba9-a77346403bac" providerId="ADAL" clId="{B9C312F1-653F-48B5-BD34-BA990BFDB21A}" dt="2022-12-06T08:35:40.688" v="505" actId="20577"/>
          <ac:graphicFrameMkLst>
            <pc:docMk/>
            <pc:sldMk cId="2545377066" sldId="377"/>
            <ac:graphicFrameMk id="47" creationId="{E532220D-FB7A-4D58-94AD-62D5519F5AAE}"/>
          </ac:graphicFrameMkLst>
        </pc:graphicFrameChg>
      </pc:sldChg>
      <pc:sldChg chg="ord">
        <pc:chgData name="Alexandre Quach" userId="03a3b9a4-365b-425e-bba9-a77346403bac" providerId="ADAL" clId="{B9C312F1-653F-48B5-BD34-BA990BFDB21A}" dt="2022-12-06T09:01:11.295" v="1465"/>
        <pc:sldMkLst>
          <pc:docMk/>
          <pc:sldMk cId="2189190254" sldId="378"/>
        </pc:sldMkLst>
      </pc:sldChg>
      <pc:sldChg chg="ord">
        <pc:chgData name="Alexandre Quach" userId="03a3b9a4-365b-425e-bba9-a77346403bac" providerId="ADAL" clId="{B9C312F1-653F-48B5-BD34-BA990BFDB21A}" dt="2022-12-06T09:01:11.295" v="1465"/>
        <pc:sldMkLst>
          <pc:docMk/>
          <pc:sldMk cId="4029630171" sldId="379"/>
        </pc:sldMkLst>
      </pc:sldChg>
      <pc:sldChg chg="ord">
        <pc:chgData name="Alexandre Quach" userId="03a3b9a4-365b-425e-bba9-a77346403bac" providerId="ADAL" clId="{B9C312F1-653F-48B5-BD34-BA990BFDB21A}" dt="2022-12-06T09:01:11.295" v="1465"/>
        <pc:sldMkLst>
          <pc:docMk/>
          <pc:sldMk cId="1696496275" sldId="380"/>
        </pc:sldMkLst>
      </pc:sldChg>
      <pc:sldChg chg="ord">
        <pc:chgData name="Alexandre Quach" userId="03a3b9a4-365b-425e-bba9-a77346403bac" providerId="ADAL" clId="{B9C312F1-653F-48B5-BD34-BA990BFDB21A}" dt="2022-12-06T09:01:11.295" v="1465"/>
        <pc:sldMkLst>
          <pc:docMk/>
          <pc:sldMk cId="1776845578" sldId="381"/>
        </pc:sldMkLst>
      </pc:sldChg>
      <pc:sldChg chg="ord">
        <pc:chgData name="Alexandre Quach" userId="03a3b9a4-365b-425e-bba9-a77346403bac" providerId="ADAL" clId="{B9C312F1-653F-48B5-BD34-BA990BFDB21A}" dt="2022-12-06T09:01:11.295" v="1465"/>
        <pc:sldMkLst>
          <pc:docMk/>
          <pc:sldMk cId="2711920483" sldId="382"/>
        </pc:sldMkLst>
      </pc:sldChg>
      <pc:sldChg chg="ord">
        <pc:chgData name="Alexandre Quach" userId="03a3b9a4-365b-425e-bba9-a77346403bac" providerId="ADAL" clId="{B9C312F1-653F-48B5-BD34-BA990BFDB21A}" dt="2022-12-06T09:01:11.295" v="1465"/>
        <pc:sldMkLst>
          <pc:docMk/>
          <pc:sldMk cId="3423386031" sldId="383"/>
        </pc:sldMkLst>
      </pc:sldChg>
      <pc:sldChg chg="ord">
        <pc:chgData name="Alexandre Quach" userId="03a3b9a4-365b-425e-bba9-a77346403bac" providerId="ADAL" clId="{B9C312F1-653F-48B5-BD34-BA990BFDB21A}" dt="2022-12-06T09:01:11.295" v="1465"/>
        <pc:sldMkLst>
          <pc:docMk/>
          <pc:sldMk cId="1518801406" sldId="384"/>
        </pc:sldMkLst>
      </pc:sldChg>
      <pc:sldChg chg="ord">
        <pc:chgData name="Alexandre Quach" userId="03a3b9a4-365b-425e-bba9-a77346403bac" providerId="ADAL" clId="{B9C312F1-653F-48B5-BD34-BA990BFDB21A}" dt="2022-12-06T09:01:11.295" v="1465"/>
        <pc:sldMkLst>
          <pc:docMk/>
          <pc:sldMk cId="1886993082" sldId="385"/>
        </pc:sldMkLst>
      </pc:sldChg>
      <pc:sldChg chg="ord">
        <pc:chgData name="Alexandre Quach" userId="03a3b9a4-365b-425e-bba9-a77346403bac" providerId="ADAL" clId="{B9C312F1-653F-48B5-BD34-BA990BFDB21A}" dt="2022-12-06T09:01:11.295" v="1465"/>
        <pc:sldMkLst>
          <pc:docMk/>
          <pc:sldMk cId="2411064837" sldId="386"/>
        </pc:sldMkLst>
      </pc:sldChg>
      <pc:sldChg chg="del">
        <pc:chgData name="Alexandre Quach" userId="03a3b9a4-365b-425e-bba9-a77346403bac" providerId="ADAL" clId="{B9C312F1-653F-48B5-BD34-BA990BFDB21A}" dt="2022-12-06T08:35:17.422" v="440" actId="47"/>
        <pc:sldMkLst>
          <pc:docMk/>
          <pc:sldMk cId="2503506348" sldId="391"/>
        </pc:sldMkLst>
      </pc:sldChg>
      <pc:sldChg chg="del">
        <pc:chgData name="Alexandre Quach" userId="03a3b9a4-365b-425e-bba9-a77346403bac" providerId="ADAL" clId="{B9C312F1-653F-48B5-BD34-BA990BFDB21A}" dt="2022-12-06T08:35:17.422" v="440" actId="47"/>
        <pc:sldMkLst>
          <pc:docMk/>
          <pc:sldMk cId="3115738215" sldId="392"/>
        </pc:sldMkLst>
      </pc:sldChg>
      <pc:sldChg chg="modSp mod">
        <pc:chgData name="Alexandre Quach" userId="03a3b9a4-365b-425e-bba9-a77346403bac" providerId="ADAL" clId="{B9C312F1-653F-48B5-BD34-BA990BFDB21A}" dt="2022-12-06T12:54:00.907" v="4850" actId="20577"/>
        <pc:sldMkLst>
          <pc:docMk/>
          <pc:sldMk cId="1143862087" sldId="394"/>
        </pc:sldMkLst>
        <pc:spChg chg="mod">
          <ac:chgData name="Alexandre Quach" userId="03a3b9a4-365b-425e-bba9-a77346403bac" providerId="ADAL" clId="{B9C312F1-653F-48B5-BD34-BA990BFDB21A}" dt="2022-12-06T08:55:20.711" v="1108" actId="20577"/>
          <ac:spMkLst>
            <pc:docMk/>
            <pc:sldMk cId="1143862087" sldId="394"/>
            <ac:spMk id="13" creationId="{1A8A0B64-28A3-451D-88AD-2FE3F232CA92}"/>
          </ac:spMkLst>
        </pc:spChg>
        <pc:spChg chg="mod">
          <ac:chgData name="Alexandre Quach" userId="03a3b9a4-365b-425e-bba9-a77346403bac" providerId="ADAL" clId="{B9C312F1-653F-48B5-BD34-BA990BFDB21A}" dt="2022-12-06T12:54:00.907" v="4850" actId="20577"/>
          <ac:spMkLst>
            <pc:docMk/>
            <pc:sldMk cId="1143862087" sldId="394"/>
            <ac:spMk id="14" creationId="{6EDFFA14-CBB6-436F-97A0-F7990FD2031E}"/>
          </ac:spMkLst>
        </pc:spChg>
        <pc:spChg chg="mod">
          <ac:chgData name="Alexandre Quach" userId="03a3b9a4-365b-425e-bba9-a77346403bac" providerId="ADAL" clId="{B9C312F1-653F-48B5-BD34-BA990BFDB21A}" dt="2022-12-06T08:55:27.029" v="1110" actId="207"/>
          <ac:spMkLst>
            <pc:docMk/>
            <pc:sldMk cId="1143862087" sldId="394"/>
            <ac:spMk id="15" creationId="{59B373C1-AD7D-4ED3-A3C0-3C2690C1E85C}"/>
          </ac:spMkLst>
        </pc:spChg>
        <pc:spChg chg="mod">
          <ac:chgData name="Alexandre Quach" userId="03a3b9a4-365b-425e-bba9-a77346403bac" providerId="ADAL" clId="{B9C312F1-653F-48B5-BD34-BA990BFDB21A}" dt="2022-12-06T12:33:05.567" v="3404" actId="20577"/>
          <ac:spMkLst>
            <pc:docMk/>
            <pc:sldMk cId="1143862087" sldId="394"/>
            <ac:spMk id="16" creationId="{B52B5573-B46C-44EC-81FA-8008A7190B0A}"/>
          </ac:spMkLst>
        </pc:spChg>
        <pc:spChg chg="mod">
          <ac:chgData name="Alexandre Quach" userId="03a3b9a4-365b-425e-bba9-a77346403bac" providerId="ADAL" clId="{B9C312F1-653F-48B5-BD34-BA990BFDB21A}" dt="2022-12-06T08:56:05.197" v="1224" actId="207"/>
          <ac:spMkLst>
            <pc:docMk/>
            <pc:sldMk cId="1143862087" sldId="394"/>
            <ac:spMk id="17" creationId="{97BCF458-4F56-423F-84B5-222D89501A16}"/>
          </ac:spMkLst>
        </pc:spChg>
        <pc:spChg chg="mod">
          <ac:chgData name="Alexandre Quach" userId="03a3b9a4-365b-425e-bba9-a77346403bac" providerId="ADAL" clId="{B9C312F1-653F-48B5-BD34-BA990BFDB21A}" dt="2022-12-06T12:28:10.171" v="3116" actId="113"/>
          <ac:spMkLst>
            <pc:docMk/>
            <pc:sldMk cId="1143862087" sldId="394"/>
            <ac:spMk id="18" creationId="{6AF2BE40-00F5-4F1C-AFB4-5ADB536AD2A8}"/>
          </ac:spMkLst>
        </pc:spChg>
        <pc:spChg chg="mod">
          <ac:chgData name="Alexandre Quach" userId="03a3b9a4-365b-425e-bba9-a77346403bac" providerId="ADAL" clId="{B9C312F1-653F-48B5-BD34-BA990BFDB21A}" dt="2022-12-06T09:00:54.776" v="1462" actId="20577"/>
          <ac:spMkLst>
            <pc:docMk/>
            <pc:sldMk cId="1143862087" sldId="394"/>
            <ac:spMk id="19" creationId="{5FD90B4E-40BD-4190-AB6F-0D3AE21BC089}"/>
          </ac:spMkLst>
        </pc:spChg>
        <pc:spChg chg="mod">
          <ac:chgData name="Alexandre Quach" userId="03a3b9a4-365b-425e-bba9-a77346403bac" providerId="ADAL" clId="{B9C312F1-653F-48B5-BD34-BA990BFDB21A}" dt="2022-12-06T12:11:19.751" v="2210" actId="207"/>
          <ac:spMkLst>
            <pc:docMk/>
            <pc:sldMk cId="1143862087" sldId="394"/>
            <ac:spMk id="20" creationId="{A40854DF-D32C-428D-9CAF-BCBC0ACA609C}"/>
          </ac:spMkLst>
        </pc:spChg>
      </pc:sldChg>
      <pc:sldChg chg="modSp mod">
        <pc:chgData name="Alexandre Quach" userId="03a3b9a4-365b-425e-bba9-a77346403bac" providerId="ADAL" clId="{B9C312F1-653F-48B5-BD34-BA990BFDB21A}" dt="2022-12-06T12:27:46.048" v="3113"/>
        <pc:sldMkLst>
          <pc:docMk/>
          <pc:sldMk cId="1339583231" sldId="395"/>
        </pc:sldMkLst>
        <pc:spChg chg="mod">
          <ac:chgData name="Alexandre Quach" userId="03a3b9a4-365b-425e-bba9-a77346403bac" providerId="ADAL" clId="{B9C312F1-653F-48B5-BD34-BA990BFDB21A}" dt="2022-12-06T12:27:46.048" v="3113"/>
          <ac:spMkLst>
            <pc:docMk/>
            <pc:sldMk cId="1339583231" sldId="395"/>
            <ac:spMk id="6" creationId="{B07F917C-6D08-44B9-BA42-EF76436E1D65}"/>
          </ac:spMkLst>
        </pc:spChg>
        <pc:spChg chg="mod">
          <ac:chgData name="Alexandre Quach" userId="03a3b9a4-365b-425e-bba9-a77346403bac" providerId="ADAL" clId="{B9C312F1-653F-48B5-BD34-BA990BFDB21A}" dt="2022-12-06T12:27:44.851" v="3112"/>
          <ac:spMkLst>
            <pc:docMk/>
            <pc:sldMk cId="1339583231" sldId="395"/>
            <ac:spMk id="8" creationId="{0BF2A74D-8A5A-4D18-BD52-6A1AEBB19CCC}"/>
          </ac:spMkLst>
        </pc:spChg>
        <pc:spChg chg="mod">
          <ac:chgData name="Alexandre Quach" userId="03a3b9a4-365b-425e-bba9-a77346403bac" providerId="ADAL" clId="{B9C312F1-653F-48B5-BD34-BA990BFDB21A}" dt="2022-12-06T12:27:38.816" v="3110"/>
          <ac:spMkLst>
            <pc:docMk/>
            <pc:sldMk cId="1339583231" sldId="395"/>
            <ac:spMk id="10" creationId="{EC22A7CD-3806-45E2-8635-5B01154756FA}"/>
          </ac:spMkLst>
        </pc:spChg>
        <pc:spChg chg="mod">
          <ac:chgData name="Alexandre Quach" userId="03a3b9a4-365b-425e-bba9-a77346403bac" providerId="ADAL" clId="{B9C312F1-653F-48B5-BD34-BA990BFDB21A}" dt="2022-12-06T12:27:43.218" v="3111"/>
          <ac:spMkLst>
            <pc:docMk/>
            <pc:sldMk cId="1339583231" sldId="395"/>
            <ac:spMk id="12" creationId="{121E530D-41D3-48EA-B146-FD145EDE3EDF}"/>
          </ac:spMkLst>
        </pc:spChg>
      </pc:sldChg>
      <pc:sldChg chg="modSp mod">
        <pc:chgData name="Alexandre Quach" userId="03a3b9a4-365b-425e-bba9-a77346403bac" providerId="ADAL" clId="{B9C312F1-653F-48B5-BD34-BA990BFDB21A}" dt="2022-12-06T12:53:44.284" v="4840" actId="20577"/>
        <pc:sldMkLst>
          <pc:docMk/>
          <pc:sldMk cId="2789802214" sldId="396"/>
        </pc:sldMkLst>
        <pc:spChg chg="mod">
          <ac:chgData name="Alexandre Quach" userId="03a3b9a4-365b-425e-bba9-a77346403bac" providerId="ADAL" clId="{B9C312F1-653F-48B5-BD34-BA990BFDB21A}" dt="2022-12-06T12:20:58.423" v="2479" actId="113"/>
          <ac:spMkLst>
            <pc:docMk/>
            <pc:sldMk cId="2789802214" sldId="396"/>
            <ac:spMk id="13" creationId="{1A8A0B64-28A3-451D-88AD-2FE3F232CA92}"/>
          </ac:spMkLst>
        </pc:spChg>
        <pc:spChg chg="mod">
          <ac:chgData name="Alexandre Quach" userId="03a3b9a4-365b-425e-bba9-a77346403bac" providerId="ADAL" clId="{B9C312F1-653F-48B5-BD34-BA990BFDB21A}" dt="2022-12-06T12:53:44.284" v="4840" actId="20577"/>
          <ac:spMkLst>
            <pc:docMk/>
            <pc:sldMk cId="2789802214" sldId="396"/>
            <ac:spMk id="14" creationId="{6EDFFA14-CBB6-436F-97A0-F7990FD2031E}"/>
          </ac:spMkLst>
        </pc:spChg>
        <pc:spChg chg="mod">
          <ac:chgData name="Alexandre Quach" userId="03a3b9a4-365b-425e-bba9-a77346403bac" providerId="ADAL" clId="{B9C312F1-653F-48B5-BD34-BA990BFDB21A}" dt="2022-12-06T12:23:40.342" v="2815" actId="20577"/>
          <ac:spMkLst>
            <pc:docMk/>
            <pc:sldMk cId="2789802214" sldId="396"/>
            <ac:spMk id="15" creationId="{59B373C1-AD7D-4ED3-A3C0-3C2690C1E85C}"/>
          </ac:spMkLst>
        </pc:spChg>
        <pc:spChg chg="mod">
          <ac:chgData name="Alexandre Quach" userId="03a3b9a4-365b-425e-bba9-a77346403bac" providerId="ADAL" clId="{B9C312F1-653F-48B5-BD34-BA990BFDB21A}" dt="2022-12-06T12:40:39.047" v="4211" actId="20577"/>
          <ac:spMkLst>
            <pc:docMk/>
            <pc:sldMk cId="2789802214" sldId="396"/>
            <ac:spMk id="16" creationId="{B52B5573-B46C-44EC-81FA-8008A7190B0A}"/>
          </ac:spMkLst>
        </pc:spChg>
        <pc:spChg chg="mod">
          <ac:chgData name="Alexandre Quach" userId="03a3b9a4-365b-425e-bba9-a77346403bac" providerId="ADAL" clId="{B9C312F1-653F-48B5-BD34-BA990BFDB21A}" dt="2022-12-06T12:35:46.912" v="3842" actId="20577"/>
          <ac:spMkLst>
            <pc:docMk/>
            <pc:sldMk cId="2789802214" sldId="396"/>
            <ac:spMk id="17" creationId="{97BCF458-4F56-423F-84B5-222D89501A16}"/>
          </ac:spMkLst>
        </pc:spChg>
        <pc:spChg chg="mod">
          <ac:chgData name="Alexandre Quach" userId="03a3b9a4-365b-425e-bba9-a77346403bac" providerId="ADAL" clId="{B9C312F1-653F-48B5-BD34-BA990BFDB21A}" dt="2022-12-06T12:27:26.489" v="3108"/>
          <ac:spMkLst>
            <pc:docMk/>
            <pc:sldMk cId="2789802214" sldId="396"/>
            <ac:spMk id="18" creationId="{6AF2BE40-00F5-4F1C-AFB4-5ADB536AD2A8}"/>
          </ac:spMkLst>
        </pc:spChg>
        <pc:spChg chg="mod">
          <ac:chgData name="Alexandre Quach" userId="03a3b9a4-365b-425e-bba9-a77346403bac" providerId="ADAL" clId="{B9C312F1-653F-48B5-BD34-BA990BFDB21A}" dt="2022-12-06T12:32:36.042" v="3392"/>
          <ac:spMkLst>
            <pc:docMk/>
            <pc:sldMk cId="2789802214" sldId="396"/>
            <ac:spMk id="19" creationId="{5FD90B4E-40BD-4190-AB6F-0D3AE21BC089}"/>
          </ac:spMkLst>
        </pc:spChg>
        <pc:spChg chg="mod">
          <ac:chgData name="Alexandre Quach" userId="03a3b9a4-365b-425e-bba9-a77346403bac" providerId="ADAL" clId="{B9C312F1-653F-48B5-BD34-BA990BFDB21A}" dt="2022-12-06T12:50:13.950" v="4497" actId="207"/>
          <ac:spMkLst>
            <pc:docMk/>
            <pc:sldMk cId="2789802214" sldId="396"/>
            <ac:spMk id="20" creationId="{A40854DF-D32C-428D-9CAF-BCBC0ACA609C}"/>
          </ac:spMkLst>
        </pc:spChg>
      </pc:sldChg>
      <pc:sldChg chg="del">
        <pc:chgData name="Alexandre Quach" userId="03a3b9a4-365b-425e-bba9-a77346403bac" providerId="ADAL" clId="{B9C312F1-653F-48B5-BD34-BA990BFDB21A}" dt="2022-12-06T08:49:18.223" v="818" actId="47"/>
        <pc:sldMkLst>
          <pc:docMk/>
          <pc:sldMk cId="4006138852" sldId="397"/>
        </pc:sldMkLst>
      </pc:sldChg>
      <pc:sldChg chg="del">
        <pc:chgData name="Alexandre Quach" userId="03a3b9a4-365b-425e-bba9-a77346403bac" providerId="ADAL" clId="{B9C312F1-653F-48B5-BD34-BA990BFDB21A}" dt="2022-12-06T08:49:18.223" v="818" actId="47"/>
        <pc:sldMkLst>
          <pc:docMk/>
          <pc:sldMk cId="4270942767" sldId="398"/>
        </pc:sldMkLst>
      </pc:sldChg>
      <pc:sldChg chg="del">
        <pc:chgData name="Alexandre Quach" userId="03a3b9a4-365b-425e-bba9-a77346403bac" providerId="ADAL" clId="{B9C312F1-653F-48B5-BD34-BA990BFDB21A}" dt="2022-12-06T08:35:17.422" v="440" actId="47"/>
        <pc:sldMkLst>
          <pc:docMk/>
          <pc:sldMk cId="3392867401" sldId="399"/>
        </pc:sldMkLst>
      </pc:sldChg>
      <pc:sldChg chg="del">
        <pc:chgData name="Alexandre Quach" userId="03a3b9a4-365b-425e-bba9-a77346403bac" providerId="ADAL" clId="{B9C312F1-653F-48B5-BD34-BA990BFDB21A}" dt="2022-12-06T08:35:17.422" v="440" actId="47"/>
        <pc:sldMkLst>
          <pc:docMk/>
          <pc:sldMk cId="1095634158" sldId="400"/>
        </pc:sldMkLst>
      </pc:sldChg>
      <pc:sldChg chg="del">
        <pc:chgData name="Alexandre Quach" userId="03a3b9a4-365b-425e-bba9-a77346403bac" providerId="ADAL" clId="{B9C312F1-653F-48B5-BD34-BA990BFDB21A}" dt="2022-12-06T08:35:17.422" v="440" actId="47"/>
        <pc:sldMkLst>
          <pc:docMk/>
          <pc:sldMk cId="1533628618" sldId="401"/>
        </pc:sldMkLst>
      </pc:sldChg>
      <pc:sldChg chg="del">
        <pc:chgData name="Alexandre Quach" userId="03a3b9a4-365b-425e-bba9-a77346403bac" providerId="ADAL" clId="{B9C312F1-653F-48B5-BD34-BA990BFDB21A}" dt="2022-12-06T08:35:17.422" v="440" actId="47"/>
        <pc:sldMkLst>
          <pc:docMk/>
          <pc:sldMk cId="4107395247" sldId="402"/>
        </pc:sldMkLst>
      </pc:sldChg>
      <pc:sldChg chg="del">
        <pc:chgData name="Alexandre Quach" userId="03a3b9a4-365b-425e-bba9-a77346403bac" providerId="ADAL" clId="{B9C312F1-653F-48B5-BD34-BA990BFDB21A}" dt="2022-12-06T08:35:17.422" v="440" actId="47"/>
        <pc:sldMkLst>
          <pc:docMk/>
          <pc:sldMk cId="1421830784" sldId="403"/>
        </pc:sldMkLst>
      </pc:sldChg>
      <pc:sldChg chg="del">
        <pc:chgData name="Alexandre Quach" userId="03a3b9a4-365b-425e-bba9-a77346403bac" providerId="ADAL" clId="{B9C312F1-653F-48B5-BD34-BA990BFDB21A}" dt="2022-12-06T08:35:17.422" v="440" actId="47"/>
        <pc:sldMkLst>
          <pc:docMk/>
          <pc:sldMk cId="4087957576" sldId="404"/>
        </pc:sldMkLst>
      </pc:sldChg>
      <pc:sldChg chg="del">
        <pc:chgData name="Alexandre Quach" userId="03a3b9a4-365b-425e-bba9-a77346403bac" providerId="ADAL" clId="{B9C312F1-653F-48B5-BD34-BA990BFDB21A}" dt="2022-12-06T08:35:17.422" v="440" actId="47"/>
        <pc:sldMkLst>
          <pc:docMk/>
          <pc:sldMk cId="180409960" sldId="405"/>
        </pc:sldMkLst>
      </pc:sldChg>
      <pc:sldChg chg="del">
        <pc:chgData name="Alexandre Quach" userId="03a3b9a4-365b-425e-bba9-a77346403bac" providerId="ADAL" clId="{B9C312F1-653F-48B5-BD34-BA990BFDB21A}" dt="2022-12-06T08:35:17.422" v="440" actId="47"/>
        <pc:sldMkLst>
          <pc:docMk/>
          <pc:sldMk cId="789523912" sldId="406"/>
        </pc:sldMkLst>
      </pc:sldChg>
      <pc:sldChg chg="del">
        <pc:chgData name="Alexandre Quach" userId="03a3b9a4-365b-425e-bba9-a77346403bac" providerId="ADAL" clId="{B9C312F1-653F-48B5-BD34-BA990BFDB21A}" dt="2022-12-06T08:35:17.422" v="440" actId="47"/>
        <pc:sldMkLst>
          <pc:docMk/>
          <pc:sldMk cId="2688393381" sldId="407"/>
        </pc:sldMkLst>
      </pc:sldChg>
      <pc:sldChg chg="del">
        <pc:chgData name="Alexandre Quach" userId="03a3b9a4-365b-425e-bba9-a77346403bac" providerId="ADAL" clId="{B9C312F1-653F-48B5-BD34-BA990BFDB21A}" dt="2022-12-06T08:35:17.422" v="440" actId="47"/>
        <pc:sldMkLst>
          <pc:docMk/>
          <pc:sldMk cId="2771059866" sldId="408"/>
        </pc:sldMkLst>
      </pc:sldChg>
      <pc:sldChg chg="del">
        <pc:chgData name="Alexandre Quach" userId="03a3b9a4-365b-425e-bba9-a77346403bac" providerId="ADAL" clId="{B9C312F1-653F-48B5-BD34-BA990BFDB21A}" dt="2022-12-06T08:35:17.422" v="440" actId="47"/>
        <pc:sldMkLst>
          <pc:docMk/>
          <pc:sldMk cId="952613818" sldId="409"/>
        </pc:sldMkLst>
      </pc:sldChg>
      <pc:sldChg chg="del">
        <pc:chgData name="Alexandre Quach" userId="03a3b9a4-365b-425e-bba9-a77346403bac" providerId="ADAL" clId="{B9C312F1-653F-48B5-BD34-BA990BFDB21A}" dt="2022-12-06T08:35:17.422" v="440" actId="47"/>
        <pc:sldMkLst>
          <pc:docMk/>
          <pc:sldMk cId="464627729" sldId="410"/>
        </pc:sldMkLst>
      </pc:sldChg>
      <pc:sldChg chg="del">
        <pc:chgData name="Alexandre Quach" userId="03a3b9a4-365b-425e-bba9-a77346403bac" providerId="ADAL" clId="{B9C312F1-653F-48B5-BD34-BA990BFDB21A}" dt="2022-12-06T08:35:17.422" v="440" actId="47"/>
        <pc:sldMkLst>
          <pc:docMk/>
          <pc:sldMk cId="3528426439" sldId="411"/>
        </pc:sldMkLst>
      </pc:sldChg>
      <pc:sldChg chg="del">
        <pc:chgData name="Alexandre Quach" userId="03a3b9a4-365b-425e-bba9-a77346403bac" providerId="ADAL" clId="{B9C312F1-653F-48B5-BD34-BA990BFDB21A}" dt="2022-12-06T08:35:17.422" v="440" actId="47"/>
        <pc:sldMkLst>
          <pc:docMk/>
          <pc:sldMk cId="516637264" sldId="412"/>
        </pc:sldMkLst>
      </pc:sldChg>
      <pc:sldChg chg="del">
        <pc:chgData name="Alexandre Quach" userId="03a3b9a4-365b-425e-bba9-a77346403bac" providerId="ADAL" clId="{B9C312F1-653F-48B5-BD34-BA990BFDB21A}" dt="2022-12-06T08:35:17.422" v="440" actId="47"/>
        <pc:sldMkLst>
          <pc:docMk/>
          <pc:sldMk cId="3893239142" sldId="413"/>
        </pc:sldMkLst>
      </pc:sldChg>
      <pc:sldChg chg="del">
        <pc:chgData name="Alexandre Quach" userId="03a3b9a4-365b-425e-bba9-a77346403bac" providerId="ADAL" clId="{B9C312F1-653F-48B5-BD34-BA990BFDB21A}" dt="2022-12-06T08:35:17.422" v="440" actId="47"/>
        <pc:sldMkLst>
          <pc:docMk/>
          <pc:sldMk cId="2043777226" sldId="414"/>
        </pc:sldMkLst>
      </pc:sldChg>
      <pc:sldChg chg="del">
        <pc:chgData name="Alexandre Quach" userId="03a3b9a4-365b-425e-bba9-a77346403bac" providerId="ADAL" clId="{B9C312F1-653F-48B5-BD34-BA990BFDB21A}" dt="2022-12-06T08:49:02.847" v="817" actId="47"/>
        <pc:sldMkLst>
          <pc:docMk/>
          <pc:sldMk cId="2994520579" sldId="415"/>
        </pc:sldMkLst>
      </pc:sldChg>
      <pc:sldChg chg="modSp del mod">
        <pc:chgData name="Alexandre Quach" userId="03a3b9a4-365b-425e-bba9-a77346403bac" providerId="ADAL" clId="{B9C312F1-653F-48B5-BD34-BA990BFDB21A}" dt="2022-12-06T08:49:01.793" v="816" actId="47"/>
        <pc:sldMkLst>
          <pc:docMk/>
          <pc:sldMk cId="2321249390" sldId="416"/>
        </pc:sldMkLst>
        <pc:spChg chg="mod">
          <ac:chgData name="Alexandre Quach" userId="03a3b9a4-365b-425e-bba9-a77346403bac" providerId="ADAL" clId="{B9C312F1-653F-48B5-BD34-BA990BFDB21A}" dt="2022-12-06T08:48:54.175" v="815" actId="20577"/>
          <ac:spMkLst>
            <pc:docMk/>
            <pc:sldMk cId="2321249390" sldId="416"/>
            <ac:spMk id="13" creationId="{1A8A0B64-28A3-451D-88AD-2FE3F232CA92}"/>
          </ac:spMkLst>
        </pc:spChg>
      </pc:sldChg>
      <pc:sldChg chg="modSp new mod">
        <pc:chgData name="Alexandre Quach" userId="03a3b9a4-365b-425e-bba9-a77346403bac" providerId="ADAL" clId="{B9C312F1-653F-48B5-BD34-BA990BFDB21A}" dt="2022-12-06T08:34:15.879" v="431"/>
        <pc:sldMkLst>
          <pc:docMk/>
          <pc:sldMk cId="704639741" sldId="420"/>
        </pc:sldMkLst>
        <pc:spChg chg="mod">
          <ac:chgData name="Alexandre Quach" userId="03a3b9a4-365b-425e-bba9-a77346403bac" providerId="ADAL" clId="{B9C312F1-653F-48B5-BD34-BA990BFDB21A}" dt="2022-12-06T08:32:51.182" v="52" actId="20577"/>
          <ac:spMkLst>
            <pc:docMk/>
            <pc:sldMk cId="704639741" sldId="420"/>
            <ac:spMk id="2" creationId="{7B0D236A-C513-EC14-7B8B-E7F9E4CBF3FC}"/>
          </ac:spMkLst>
        </pc:spChg>
        <pc:spChg chg="mod">
          <ac:chgData name="Alexandre Quach" userId="03a3b9a4-365b-425e-bba9-a77346403bac" providerId="ADAL" clId="{B9C312F1-653F-48B5-BD34-BA990BFDB21A}" dt="2022-12-06T08:34:15.879" v="431"/>
          <ac:spMkLst>
            <pc:docMk/>
            <pc:sldMk cId="704639741" sldId="420"/>
            <ac:spMk id="3" creationId="{0B4575DD-BD76-74AC-E961-A39068EC52D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C2DC682-A0FA-4050-8373-3D0B6B41B593}" type="datetimeFigureOut">
              <a:rPr lang="fr-FR" smtClean="0"/>
              <a:t>06/12/2022</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8381247-AF34-4F93-ACB2-EAAC5B47D7E6}" type="slidenum">
              <a:rPr lang="fr-FR" smtClean="0"/>
              <a:t>‹N›</a:t>
            </a:fld>
            <a:endParaRPr lang="fr-FR"/>
          </a:p>
        </p:txBody>
      </p:sp>
    </p:spTree>
    <p:extLst>
      <p:ext uri="{BB962C8B-B14F-4D97-AF65-F5344CB8AC3E}">
        <p14:creationId xmlns:p14="http://schemas.microsoft.com/office/powerpoint/2010/main" val="407215721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FR" dirty="0"/>
          </a:p>
        </p:txBody>
      </p:sp>
      <p:sp>
        <p:nvSpPr>
          <p:cNvPr id="4" name="Espace réservé du numéro de diapositive 3"/>
          <p:cNvSpPr>
            <a:spLocks noGrp="1"/>
          </p:cNvSpPr>
          <p:nvPr>
            <p:ph type="sldNum" sz="quarter" idx="5"/>
          </p:nvPr>
        </p:nvSpPr>
        <p:spPr/>
        <p:txBody>
          <a:bodyPr/>
          <a:lstStyle/>
          <a:p>
            <a:fld id="{E8381247-AF34-4F93-ACB2-EAAC5B47D7E6}" type="slidenum">
              <a:rPr lang="fr-FR" smtClean="0"/>
              <a:t>26</a:t>
            </a:fld>
            <a:endParaRPr lang="fr-FR"/>
          </a:p>
        </p:txBody>
      </p:sp>
    </p:spTree>
    <p:extLst>
      <p:ext uri="{BB962C8B-B14F-4D97-AF65-F5344CB8AC3E}">
        <p14:creationId xmlns:p14="http://schemas.microsoft.com/office/powerpoint/2010/main" val="24829516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4685310-3C18-492D-A7A8-CC91C275C663}"/>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D3D25BEB-22F5-4A93-BA87-2B343EB2417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3620E8B8-2550-49F0-BC3A-2E9212F48318}"/>
              </a:ext>
            </a:extLst>
          </p:cNvPr>
          <p:cNvSpPr>
            <a:spLocks noGrp="1"/>
          </p:cNvSpPr>
          <p:nvPr>
            <p:ph type="dt" sz="half" idx="10"/>
          </p:nvPr>
        </p:nvSpPr>
        <p:spPr/>
        <p:txBody>
          <a:bodyPr/>
          <a:lstStyle/>
          <a:p>
            <a:fld id="{2E6439E6-DD8C-4C85-9C7B-9357438C85CB}" type="datetimeFigureOut">
              <a:rPr lang="fr-FR" smtClean="0"/>
              <a:t>06/12/2022</a:t>
            </a:fld>
            <a:endParaRPr lang="fr-FR"/>
          </a:p>
        </p:txBody>
      </p:sp>
      <p:sp>
        <p:nvSpPr>
          <p:cNvPr id="5" name="Espace réservé du pied de page 4">
            <a:extLst>
              <a:ext uri="{FF2B5EF4-FFF2-40B4-BE49-F238E27FC236}">
                <a16:creationId xmlns:a16="http://schemas.microsoft.com/office/drawing/2014/main" id="{742B22F5-7CE5-418E-BA73-7D740CD7FAB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E58BF29-CC9C-42AE-8CE7-BDEAD7D775B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7748865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F845003-365C-485F-BF7C-4D3DB52CFDF6}"/>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06/12/2022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9623874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06/12/2022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
        <p:nvSpPr>
          <p:cNvPr id="8" name="Espace réservé pour une image  7">
            <a:extLst>
              <a:ext uri="{FF2B5EF4-FFF2-40B4-BE49-F238E27FC236}">
                <a16:creationId xmlns:a16="http://schemas.microsoft.com/office/drawing/2014/main" id="{2C332C41-73E0-4A68-BA54-2BCF680F9915}"/>
              </a:ext>
            </a:extLst>
          </p:cNvPr>
          <p:cNvSpPr>
            <a:spLocks noGrp="1"/>
          </p:cNvSpPr>
          <p:nvPr>
            <p:ph type="pic" sz="quarter" idx="13"/>
          </p:nvPr>
        </p:nvSpPr>
        <p:spPr>
          <a:xfrm>
            <a:off x="846428" y="1862686"/>
            <a:ext cx="3401376" cy="3357707"/>
          </a:xfrm>
        </p:spPr>
        <p:txBody>
          <a:bodyPr/>
          <a:lstStyle/>
          <a:p>
            <a:endParaRPr lang="fr-FR"/>
          </a:p>
        </p:txBody>
      </p:sp>
      <p:sp>
        <p:nvSpPr>
          <p:cNvPr id="9" name="Espace réservé pour une image  7">
            <a:extLst>
              <a:ext uri="{FF2B5EF4-FFF2-40B4-BE49-F238E27FC236}">
                <a16:creationId xmlns:a16="http://schemas.microsoft.com/office/drawing/2014/main" id="{85084207-9D6C-4830-8C9D-C0F790D6CD3D}"/>
              </a:ext>
            </a:extLst>
          </p:cNvPr>
          <p:cNvSpPr>
            <a:spLocks noGrp="1"/>
          </p:cNvSpPr>
          <p:nvPr>
            <p:ph type="pic" sz="quarter" idx="14"/>
          </p:nvPr>
        </p:nvSpPr>
        <p:spPr>
          <a:xfrm>
            <a:off x="4395312" y="1862686"/>
            <a:ext cx="3401376" cy="3357707"/>
          </a:xfrm>
        </p:spPr>
        <p:txBody>
          <a:bodyPr/>
          <a:lstStyle/>
          <a:p>
            <a:endParaRPr lang="fr-FR"/>
          </a:p>
        </p:txBody>
      </p:sp>
      <p:sp>
        <p:nvSpPr>
          <p:cNvPr id="10" name="Espace réservé pour une image  7">
            <a:extLst>
              <a:ext uri="{FF2B5EF4-FFF2-40B4-BE49-F238E27FC236}">
                <a16:creationId xmlns:a16="http://schemas.microsoft.com/office/drawing/2014/main" id="{91EDD172-1D93-470D-AC66-32C44E09933C}"/>
              </a:ext>
            </a:extLst>
          </p:cNvPr>
          <p:cNvSpPr>
            <a:spLocks noGrp="1"/>
          </p:cNvSpPr>
          <p:nvPr>
            <p:ph type="pic" sz="quarter" idx="15"/>
          </p:nvPr>
        </p:nvSpPr>
        <p:spPr>
          <a:xfrm>
            <a:off x="7935885" y="1862686"/>
            <a:ext cx="3401376" cy="3357707"/>
          </a:xfrm>
        </p:spPr>
        <p:txBody>
          <a:bodyPr/>
          <a:lstStyle/>
          <a:p>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3" name="Espace réservé du texte 11">
            <a:extLst>
              <a:ext uri="{FF2B5EF4-FFF2-40B4-BE49-F238E27FC236}">
                <a16:creationId xmlns:a16="http://schemas.microsoft.com/office/drawing/2014/main" id="{6276362D-55B6-4312-B102-04294EA4DDBD}"/>
              </a:ext>
            </a:extLst>
          </p:cNvPr>
          <p:cNvSpPr>
            <a:spLocks noGrp="1"/>
          </p:cNvSpPr>
          <p:nvPr>
            <p:ph type="body" sz="quarter" idx="17"/>
          </p:nvPr>
        </p:nvSpPr>
        <p:spPr>
          <a:xfrm>
            <a:off x="4395312"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14" name="Espace réservé du texte 11">
            <a:extLst>
              <a:ext uri="{FF2B5EF4-FFF2-40B4-BE49-F238E27FC236}">
                <a16:creationId xmlns:a16="http://schemas.microsoft.com/office/drawing/2014/main" id="{D9805BDB-0484-42C1-8EE5-F926C263C7DD}"/>
              </a:ext>
            </a:extLst>
          </p:cNvPr>
          <p:cNvSpPr>
            <a:spLocks noGrp="1"/>
          </p:cNvSpPr>
          <p:nvPr>
            <p:ph type="body" sz="quarter" idx="18"/>
          </p:nvPr>
        </p:nvSpPr>
        <p:spPr>
          <a:xfrm>
            <a:off x="7935885" y="5461000"/>
            <a:ext cx="3402012" cy="574675"/>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Tree>
    <p:extLst>
      <p:ext uri="{BB962C8B-B14F-4D97-AF65-F5344CB8AC3E}">
        <p14:creationId xmlns:p14="http://schemas.microsoft.com/office/powerpoint/2010/main" val="25571706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58228A6-096C-4673-9079-F46A8D2ED92C}"/>
              </a:ext>
            </a:extLst>
          </p:cNvPr>
          <p:cNvSpPr>
            <a:spLocks noGrp="1"/>
          </p:cNvSpPr>
          <p:nvPr>
            <p:ph type="title"/>
          </p:nvPr>
        </p:nvSpPr>
        <p:spPr/>
        <p:txBody>
          <a:bodyPr/>
          <a:lstStyle/>
          <a:p>
            <a:r>
              <a:rPr lang="fr-FR"/>
              <a:t>Modifiez le style du titre</a:t>
            </a:r>
          </a:p>
        </p:txBody>
      </p:sp>
      <p:sp>
        <p:nvSpPr>
          <p:cNvPr id="4" name="Espace réservé de la date 3">
            <a:extLst>
              <a:ext uri="{FF2B5EF4-FFF2-40B4-BE49-F238E27FC236}">
                <a16:creationId xmlns:a16="http://schemas.microsoft.com/office/drawing/2014/main" id="{E0675FF8-2716-458A-87EC-1946B2412C54}"/>
              </a:ext>
            </a:extLst>
          </p:cNvPr>
          <p:cNvSpPr>
            <a:spLocks noGrp="1"/>
          </p:cNvSpPr>
          <p:nvPr>
            <p:ph type="dt" sz="half" idx="10"/>
          </p:nvPr>
        </p:nvSpPr>
        <p:spPr/>
        <p:txBody>
          <a:bodyPr/>
          <a:lstStyle/>
          <a:p>
            <a:fld id="{2E6439E6-DD8C-4C85-9C7B-9357438C85CB}" type="datetimeFigureOut">
              <a:rPr lang="fr-FR" smtClean="0"/>
              <a:t>06/12/2022</a:t>
            </a:fld>
            <a:endParaRPr lang="fr-FR"/>
          </a:p>
        </p:txBody>
      </p:sp>
      <p:sp>
        <p:nvSpPr>
          <p:cNvPr id="5" name="Espace réservé du pied de page 4">
            <a:extLst>
              <a:ext uri="{FF2B5EF4-FFF2-40B4-BE49-F238E27FC236}">
                <a16:creationId xmlns:a16="http://schemas.microsoft.com/office/drawing/2014/main" id="{3DA611A9-68F4-4DA3-B125-40A38CA78832}"/>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92A5F1A-93D2-4E3F-A68E-9339C42C1AA3}"/>
              </a:ext>
            </a:extLst>
          </p:cNvPr>
          <p:cNvSpPr>
            <a:spLocks noGrp="1"/>
          </p:cNvSpPr>
          <p:nvPr>
            <p:ph type="sldNum" sz="quarter" idx="12"/>
          </p:nvPr>
        </p:nvSpPr>
        <p:spPr/>
        <p:txBody>
          <a:bodyPr/>
          <a:lstStyle/>
          <a:p>
            <a:fld id="{87B4D992-F161-4455-B186-2BFDF7EA604F}" type="slidenum">
              <a:rPr lang="fr-FR" smtClean="0"/>
              <a:t>‹N›</a:t>
            </a:fld>
            <a:endParaRPr lang="fr-FR"/>
          </a:p>
        </p:txBody>
      </p:sp>
      <p:sp>
        <p:nvSpPr>
          <p:cNvPr id="12" name="Espace réservé du texte 11">
            <a:extLst>
              <a:ext uri="{FF2B5EF4-FFF2-40B4-BE49-F238E27FC236}">
                <a16:creationId xmlns:a16="http://schemas.microsoft.com/office/drawing/2014/main" id="{7EF081AE-78A0-4824-86D2-C4B9835730D6}"/>
              </a:ext>
            </a:extLst>
          </p:cNvPr>
          <p:cNvSpPr>
            <a:spLocks noGrp="1"/>
          </p:cNvSpPr>
          <p:nvPr>
            <p:ph type="body" sz="quarter" idx="16"/>
          </p:nvPr>
        </p:nvSpPr>
        <p:spPr>
          <a:xfrm>
            <a:off x="846138" y="2514918"/>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5" name="Espace réservé du texte 3">
            <a:extLst>
              <a:ext uri="{FF2B5EF4-FFF2-40B4-BE49-F238E27FC236}">
                <a16:creationId xmlns:a16="http://schemas.microsoft.com/office/drawing/2014/main" id="{CABE86F3-7992-43DD-AA70-A9905328F026}"/>
              </a:ext>
            </a:extLst>
          </p:cNvPr>
          <p:cNvSpPr>
            <a:spLocks noGrp="1"/>
          </p:cNvSpPr>
          <p:nvPr>
            <p:ph type="body" idx="1" hasCustomPrompt="1"/>
          </p:nvPr>
        </p:nvSpPr>
        <p:spPr>
          <a:xfrm>
            <a:off x="838200" y="2011680"/>
            <a:ext cx="2412076" cy="503237"/>
          </a:xfrm>
          <a:solidFill>
            <a:srgbClr val="0683AA"/>
          </a:solidFill>
        </p:spPr>
        <p:txBody>
          <a:bodyPr anchor="ctr">
            <a:normAutofit/>
          </a:bodyPr>
          <a:lstStyle>
            <a:lvl1pPr marL="0" indent="0">
              <a:buNone/>
              <a:defRPr b="1"/>
            </a:lvl1pPr>
          </a:lstStyle>
          <a:p>
            <a:r>
              <a:rPr lang="fr-FR" sz="2000" dirty="0"/>
              <a:t>Préparation</a:t>
            </a:r>
          </a:p>
        </p:txBody>
      </p:sp>
      <p:sp>
        <p:nvSpPr>
          <p:cNvPr id="17" name="Espace réservé du texte 11">
            <a:extLst>
              <a:ext uri="{FF2B5EF4-FFF2-40B4-BE49-F238E27FC236}">
                <a16:creationId xmlns:a16="http://schemas.microsoft.com/office/drawing/2014/main" id="{8502E738-5387-4C85-8925-A58B13D5C337}"/>
              </a:ext>
            </a:extLst>
          </p:cNvPr>
          <p:cNvSpPr>
            <a:spLocks noGrp="1"/>
          </p:cNvSpPr>
          <p:nvPr>
            <p:ph type="body" sz="quarter" idx="17"/>
          </p:nvPr>
        </p:nvSpPr>
        <p:spPr>
          <a:xfrm>
            <a:off x="3423084" y="2514600"/>
            <a:ext cx="5247090"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18" name="Espace réservé du texte 3">
            <a:extLst>
              <a:ext uri="{FF2B5EF4-FFF2-40B4-BE49-F238E27FC236}">
                <a16:creationId xmlns:a16="http://schemas.microsoft.com/office/drawing/2014/main" id="{F777FCCC-8D02-429C-B656-53DE6BE1F64A}"/>
              </a:ext>
            </a:extLst>
          </p:cNvPr>
          <p:cNvSpPr>
            <a:spLocks noGrp="1"/>
          </p:cNvSpPr>
          <p:nvPr>
            <p:ph type="body" idx="18" hasCustomPrompt="1"/>
          </p:nvPr>
        </p:nvSpPr>
        <p:spPr>
          <a:xfrm>
            <a:off x="3415145" y="2011362"/>
            <a:ext cx="5255029" cy="503237"/>
          </a:xfrm>
          <a:solidFill>
            <a:srgbClr val="ED7D31"/>
          </a:solidFill>
        </p:spPr>
        <p:txBody>
          <a:bodyPr anchor="ctr">
            <a:normAutofit/>
          </a:bodyPr>
          <a:lstStyle>
            <a:lvl1pPr marL="0" indent="0">
              <a:buNone/>
              <a:defRPr b="1"/>
            </a:lvl1pPr>
          </a:lstStyle>
          <a:p>
            <a:r>
              <a:rPr lang="fr-FR" sz="2000" dirty="0"/>
              <a:t>Déroulement</a:t>
            </a:r>
          </a:p>
        </p:txBody>
      </p:sp>
      <p:sp>
        <p:nvSpPr>
          <p:cNvPr id="19" name="Espace réservé du texte 11">
            <a:extLst>
              <a:ext uri="{FF2B5EF4-FFF2-40B4-BE49-F238E27FC236}">
                <a16:creationId xmlns:a16="http://schemas.microsoft.com/office/drawing/2014/main" id="{6314BD1E-5C51-4675-8B2E-5D55A2E60381}"/>
              </a:ext>
            </a:extLst>
          </p:cNvPr>
          <p:cNvSpPr>
            <a:spLocks noGrp="1"/>
          </p:cNvSpPr>
          <p:nvPr>
            <p:ph type="body" sz="quarter" idx="19"/>
          </p:nvPr>
        </p:nvSpPr>
        <p:spPr>
          <a:xfrm>
            <a:off x="8941724" y="2514600"/>
            <a:ext cx="2404138" cy="3520758"/>
          </a:xfrm>
          <a:solidFill>
            <a:schemeClr val="bg1">
              <a:lumMod val="95000"/>
            </a:schemeClr>
          </a:solidFill>
        </p:spPr>
        <p:txBody>
          <a:bodyPr>
            <a:noAutofit/>
          </a:bodyPr>
          <a:lstStyle>
            <a:lvl1pPr marL="0" indent="0">
              <a:buNone/>
              <a:defRPr sz="1600"/>
            </a:lvl1pPr>
            <a:lvl2pPr marL="457200" indent="0">
              <a:buNone/>
              <a:defRPr sz="1400"/>
            </a:lvl2pPr>
            <a:lvl3pPr marL="914400" indent="0">
              <a:buNone/>
              <a:defRPr sz="1200"/>
            </a:lvl3pPr>
            <a:lvl4pPr marL="1371600" indent="0">
              <a:buNone/>
              <a:defRPr sz="1100"/>
            </a:lvl4pPr>
            <a:lvl5pPr marL="1828800" indent="0">
              <a:buNone/>
              <a:defRPr sz="1100"/>
            </a:lvl5p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20" name="Espace réservé du texte 3">
            <a:extLst>
              <a:ext uri="{FF2B5EF4-FFF2-40B4-BE49-F238E27FC236}">
                <a16:creationId xmlns:a16="http://schemas.microsoft.com/office/drawing/2014/main" id="{A0367A33-B32C-4E8B-AF59-2F2F8AF32DE5}"/>
              </a:ext>
            </a:extLst>
          </p:cNvPr>
          <p:cNvSpPr>
            <a:spLocks noGrp="1"/>
          </p:cNvSpPr>
          <p:nvPr>
            <p:ph type="body" idx="20" hasCustomPrompt="1"/>
          </p:nvPr>
        </p:nvSpPr>
        <p:spPr>
          <a:xfrm>
            <a:off x="8933786" y="2011362"/>
            <a:ext cx="2412076" cy="503237"/>
          </a:xfrm>
          <a:solidFill>
            <a:srgbClr val="BFBFBF"/>
          </a:solidFill>
        </p:spPr>
        <p:txBody>
          <a:bodyPr anchor="ctr">
            <a:normAutofit/>
          </a:bodyPr>
          <a:lstStyle>
            <a:lvl1pPr marL="0" indent="0">
              <a:buNone/>
              <a:defRPr b="1"/>
            </a:lvl1pPr>
          </a:lstStyle>
          <a:p>
            <a:r>
              <a:rPr lang="fr-FR" sz="2000" dirty="0"/>
              <a:t>Debriefing</a:t>
            </a:r>
          </a:p>
        </p:txBody>
      </p:sp>
    </p:spTree>
    <p:extLst>
      <p:ext uri="{BB962C8B-B14F-4D97-AF65-F5344CB8AC3E}">
        <p14:creationId xmlns:p14="http://schemas.microsoft.com/office/powerpoint/2010/main" val="14858745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3FF019E-C250-4721-A2DD-B0BC0B0593E9}"/>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98356EF-D241-4C79-9805-7BBBA6930FA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0A3F2E1-6410-450F-A2F1-20A06E33EF41}"/>
              </a:ext>
            </a:extLst>
          </p:cNvPr>
          <p:cNvSpPr>
            <a:spLocks noGrp="1"/>
          </p:cNvSpPr>
          <p:nvPr>
            <p:ph type="dt" sz="half" idx="10"/>
          </p:nvPr>
        </p:nvSpPr>
        <p:spPr/>
        <p:txBody>
          <a:bodyPr/>
          <a:lstStyle/>
          <a:p>
            <a:fld id="{2E6439E6-DD8C-4C85-9C7B-9357438C85CB}" type="datetimeFigureOut">
              <a:rPr lang="fr-FR" smtClean="0"/>
              <a:t>06/12/2022</a:t>
            </a:fld>
            <a:endParaRPr lang="fr-FR"/>
          </a:p>
        </p:txBody>
      </p:sp>
      <p:sp>
        <p:nvSpPr>
          <p:cNvPr id="5" name="Espace réservé du pied de page 4">
            <a:extLst>
              <a:ext uri="{FF2B5EF4-FFF2-40B4-BE49-F238E27FC236}">
                <a16:creationId xmlns:a16="http://schemas.microsoft.com/office/drawing/2014/main" id="{4E458F88-CC4C-44D1-8A3D-708CD81D24C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68F6612-ED10-435C-9F69-798332FB1C9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1799514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56D998D-00F1-43B6-A0CC-3F259159249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EED72D67-0BE8-40AF-A5EB-8C9EC67AA3FD}"/>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814C9918-64C1-4C20-8DC2-068DB8B1EF7B}"/>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9E81EC0D-F0AB-4959-92E6-E708FD97B8DD}"/>
              </a:ext>
            </a:extLst>
          </p:cNvPr>
          <p:cNvSpPr>
            <a:spLocks noGrp="1"/>
          </p:cNvSpPr>
          <p:nvPr>
            <p:ph type="dt" sz="half" idx="10"/>
          </p:nvPr>
        </p:nvSpPr>
        <p:spPr/>
        <p:txBody>
          <a:bodyPr/>
          <a:lstStyle/>
          <a:p>
            <a:fld id="{2E6439E6-DD8C-4C85-9C7B-9357438C85CB}" type="datetimeFigureOut">
              <a:rPr lang="fr-FR" smtClean="0"/>
              <a:t>06/12/2022</a:t>
            </a:fld>
            <a:endParaRPr lang="fr-FR"/>
          </a:p>
        </p:txBody>
      </p:sp>
      <p:sp>
        <p:nvSpPr>
          <p:cNvPr id="6" name="Espace réservé du pied de page 5">
            <a:extLst>
              <a:ext uri="{FF2B5EF4-FFF2-40B4-BE49-F238E27FC236}">
                <a16:creationId xmlns:a16="http://schemas.microsoft.com/office/drawing/2014/main" id="{FF06FDF8-5496-4A36-8B6D-DAEB8545D5DF}"/>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6332FEF2-9FF5-4D55-B5D5-65C4ED3574D2}"/>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6995005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170A7C6-049A-4700-95E5-79A2884B5332}"/>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A59723CF-0BEA-407F-B1FB-13CCEFE386F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1C1E08F6-C285-46DA-9C04-A9964B357457}"/>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506465F0-C6B8-466D-9229-5FE9A60A107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B7C7CCEE-23DA-484E-B06E-8F59DEB43A88}"/>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AAADD7D6-40D2-404E-9827-38A49F4DE456}"/>
              </a:ext>
            </a:extLst>
          </p:cNvPr>
          <p:cNvSpPr>
            <a:spLocks noGrp="1"/>
          </p:cNvSpPr>
          <p:nvPr>
            <p:ph type="dt" sz="half" idx="10"/>
          </p:nvPr>
        </p:nvSpPr>
        <p:spPr/>
        <p:txBody>
          <a:bodyPr/>
          <a:lstStyle/>
          <a:p>
            <a:fld id="{2E6439E6-DD8C-4C85-9C7B-9357438C85CB}" type="datetimeFigureOut">
              <a:rPr lang="fr-FR" smtClean="0"/>
              <a:t>06/12/2022</a:t>
            </a:fld>
            <a:endParaRPr lang="fr-FR"/>
          </a:p>
        </p:txBody>
      </p:sp>
      <p:sp>
        <p:nvSpPr>
          <p:cNvPr id="8" name="Espace réservé du pied de page 7">
            <a:extLst>
              <a:ext uri="{FF2B5EF4-FFF2-40B4-BE49-F238E27FC236}">
                <a16:creationId xmlns:a16="http://schemas.microsoft.com/office/drawing/2014/main" id="{43E4C597-FE12-4177-B73A-2E0477E1121B}"/>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2FE31893-7592-4F7C-B754-E02850F8D62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997732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3160D01-16EA-42AC-A2F8-D4A8EBE8E96D}"/>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4CE87F8B-F0DD-4B62-8BB3-1B2A6690475B}"/>
              </a:ext>
            </a:extLst>
          </p:cNvPr>
          <p:cNvSpPr>
            <a:spLocks noGrp="1"/>
          </p:cNvSpPr>
          <p:nvPr>
            <p:ph type="dt" sz="half" idx="10"/>
          </p:nvPr>
        </p:nvSpPr>
        <p:spPr/>
        <p:txBody>
          <a:bodyPr/>
          <a:lstStyle/>
          <a:p>
            <a:fld id="{2E6439E6-DD8C-4C85-9C7B-9357438C85CB}" type="datetimeFigureOut">
              <a:rPr lang="fr-FR" smtClean="0"/>
              <a:t>06/12/2022</a:t>
            </a:fld>
            <a:endParaRPr lang="fr-FR"/>
          </a:p>
        </p:txBody>
      </p:sp>
      <p:sp>
        <p:nvSpPr>
          <p:cNvPr id="4" name="Espace réservé du pied de page 3">
            <a:extLst>
              <a:ext uri="{FF2B5EF4-FFF2-40B4-BE49-F238E27FC236}">
                <a16:creationId xmlns:a16="http://schemas.microsoft.com/office/drawing/2014/main" id="{768A5997-972B-4E19-B70C-167B6EE65262}"/>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64A7C1DE-0436-4509-8C57-39C1E2FD084F}"/>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069599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F98BF9B8-C33F-455E-9D2E-E9133AF04E3C}"/>
              </a:ext>
            </a:extLst>
          </p:cNvPr>
          <p:cNvSpPr>
            <a:spLocks noGrp="1"/>
          </p:cNvSpPr>
          <p:nvPr>
            <p:ph type="dt" sz="half" idx="10"/>
          </p:nvPr>
        </p:nvSpPr>
        <p:spPr/>
        <p:txBody>
          <a:bodyPr/>
          <a:lstStyle/>
          <a:p>
            <a:fld id="{2E6439E6-DD8C-4C85-9C7B-9357438C85CB}" type="datetimeFigureOut">
              <a:rPr lang="fr-FR" smtClean="0"/>
              <a:t>06/12/2022</a:t>
            </a:fld>
            <a:endParaRPr lang="fr-FR"/>
          </a:p>
        </p:txBody>
      </p:sp>
      <p:sp>
        <p:nvSpPr>
          <p:cNvPr id="3" name="Espace réservé du pied de page 2">
            <a:extLst>
              <a:ext uri="{FF2B5EF4-FFF2-40B4-BE49-F238E27FC236}">
                <a16:creationId xmlns:a16="http://schemas.microsoft.com/office/drawing/2014/main" id="{EDA78FEB-C0D0-467D-94FE-A6F44C9B45F5}"/>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7D0FEB0A-B50E-45FC-A24C-D14D5C95E306}"/>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448301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73E685-751E-429E-8B10-DF14A672248B}"/>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7BF45ACF-D6C9-42C2-B41A-DA9D0C212C4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F68E6850-4938-476B-8DD5-2A355B8D93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B705D50-6C65-4188-A94C-B764F1FF8EEB}"/>
              </a:ext>
            </a:extLst>
          </p:cNvPr>
          <p:cNvSpPr>
            <a:spLocks noGrp="1"/>
          </p:cNvSpPr>
          <p:nvPr>
            <p:ph type="dt" sz="half" idx="10"/>
          </p:nvPr>
        </p:nvSpPr>
        <p:spPr/>
        <p:txBody>
          <a:bodyPr/>
          <a:lstStyle/>
          <a:p>
            <a:fld id="{2E6439E6-DD8C-4C85-9C7B-9357438C85CB}" type="datetimeFigureOut">
              <a:rPr lang="fr-FR" smtClean="0"/>
              <a:t>06/12/2022</a:t>
            </a:fld>
            <a:endParaRPr lang="fr-FR"/>
          </a:p>
        </p:txBody>
      </p:sp>
      <p:sp>
        <p:nvSpPr>
          <p:cNvPr id="6" name="Espace réservé du pied de page 5">
            <a:extLst>
              <a:ext uri="{FF2B5EF4-FFF2-40B4-BE49-F238E27FC236}">
                <a16:creationId xmlns:a16="http://schemas.microsoft.com/office/drawing/2014/main" id="{B35E966F-8E2C-48A7-A6B6-AC046E0CF519}"/>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39931A66-2C00-462D-8DF2-AA240519C488}"/>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3423181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F9E27D2-0953-455D-BC92-219F2619F07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499E603D-DC5A-4E30-A56B-2FB234D5E22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1B31F3DE-195F-4A79-8ECE-9CBDADF5F4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8F8DD4A6-48C4-4B9C-9143-3A3BFA6D0360}"/>
              </a:ext>
            </a:extLst>
          </p:cNvPr>
          <p:cNvSpPr>
            <a:spLocks noGrp="1"/>
          </p:cNvSpPr>
          <p:nvPr>
            <p:ph type="dt" sz="half" idx="10"/>
          </p:nvPr>
        </p:nvSpPr>
        <p:spPr/>
        <p:txBody>
          <a:bodyPr/>
          <a:lstStyle/>
          <a:p>
            <a:fld id="{2E6439E6-DD8C-4C85-9C7B-9357438C85CB}" type="datetimeFigureOut">
              <a:rPr lang="fr-FR" smtClean="0"/>
              <a:t>06/12/2022</a:t>
            </a:fld>
            <a:endParaRPr lang="fr-FR"/>
          </a:p>
        </p:txBody>
      </p:sp>
      <p:sp>
        <p:nvSpPr>
          <p:cNvPr id="6" name="Espace réservé du pied de page 5">
            <a:extLst>
              <a:ext uri="{FF2B5EF4-FFF2-40B4-BE49-F238E27FC236}">
                <a16:creationId xmlns:a16="http://schemas.microsoft.com/office/drawing/2014/main" id="{D9C4B816-33FB-4FDE-9AF2-FD91B87FCA4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55BADCF-7AC6-46F6-BAC8-F7C9840EDA29}"/>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1762815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09A756C-D9A0-4999-A8F0-2EBF827851BD}"/>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D1422066-4595-4332-9DCD-73EC2894A694}"/>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9936B61B-E570-467C-9304-E4798B7A0E34}"/>
              </a:ext>
            </a:extLst>
          </p:cNvPr>
          <p:cNvSpPr>
            <a:spLocks noGrp="1"/>
          </p:cNvSpPr>
          <p:nvPr>
            <p:ph type="dt" sz="half" idx="10"/>
          </p:nvPr>
        </p:nvSpPr>
        <p:spPr/>
        <p:txBody>
          <a:bodyPr/>
          <a:lstStyle/>
          <a:p>
            <a:fld id="{2E6439E6-DD8C-4C85-9C7B-9357438C85CB}" type="datetimeFigureOut">
              <a:rPr lang="fr-FR" smtClean="0"/>
              <a:t>06/12/2022</a:t>
            </a:fld>
            <a:endParaRPr lang="fr-FR"/>
          </a:p>
        </p:txBody>
      </p:sp>
      <p:sp>
        <p:nvSpPr>
          <p:cNvPr id="5" name="Espace réservé du pied de page 4">
            <a:extLst>
              <a:ext uri="{FF2B5EF4-FFF2-40B4-BE49-F238E27FC236}">
                <a16:creationId xmlns:a16="http://schemas.microsoft.com/office/drawing/2014/main" id="{EDA5D1A7-CDBF-4979-8E1C-84D5E8EFC83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6948957-746B-40ED-8ABA-E0201B1233DE}"/>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37173621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E45C13EF-18EF-4672-A8FF-D5432E626857}"/>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B24C6866-383E-4101-8F39-0B78CFD92099}"/>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8F1EC447-C55E-4FE3-AD43-3BEA82AA44F1}"/>
              </a:ext>
            </a:extLst>
          </p:cNvPr>
          <p:cNvSpPr>
            <a:spLocks noGrp="1"/>
          </p:cNvSpPr>
          <p:nvPr>
            <p:ph type="dt" sz="half" idx="10"/>
          </p:nvPr>
        </p:nvSpPr>
        <p:spPr/>
        <p:txBody>
          <a:bodyPr/>
          <a:lstStyle/>
          <a:p>
            <a:fld id="{2E6439E6-DD8C-4C85-9C7B-9357438C85CB}" type="datetimeFigureOut">
              <a:rPr lang="fr-FR" smtClean="0"/>
              <a:t>06/12/2022</a:t>
            </a:fld>
            <a:endParaRPr lang="fr-FR"/>
          </a:p>
        </p:txBody>
      </p:sp>
      <p:sp>
        <p:nvSpPr>
          <p:cNvPr id="5" name="Espace réservé du pied de page 4">
            <a:extLst>
              <a:ext uri="{FF2B5EF4-FFF2-40B4-BE49-F238E27FC236}">
                <a16:creationId xmlns:a16="http://schemas.microsoft.com/office/drawing/2014/main" id="{A59AC999-7ADC-444F-843C-C059B4BEC17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401E9F14-4E0C-4E96-8DD7-EAF9BD7E7348}"/>
              </a:ext>
            </a:extLst>
          </p:cNvPr>
          <p:cNvSpPr>
            <a:spLocks noGrp="1"/>
          </p:cNvSpPr>
          <p:nvPr>
            <p:ph type="sldNum" sz="quarter" idx="12"/>
          </p:nvPr>
        </p:nvSpPr>
        <p:spPr/>
        <p:txBody>
          <a:bodyPr/>
          <a:lstStyle/>
          <a:p>
            <a:fld id="{87B4D992-F161-4455-B186-2BFDF7EA604F}" type="slidenum">
              <a:rPr lang="fr-FR" smtClean="0"/>
              <a:t>‹N›</a:t>
            </a:fld>
            <a:endParaRPr lang="fr-FR"/>
          </a:p>
        </p:txBody>
      </p:sp>
    </p:spTree>
    <p:extLst>
      <p:ext uri="{BB962C8B-B14F-4D97-AF65-F5344CB8AC3E}">
        <p14:creationId xmlns:p14="http://schemas.microsoft.com/office/powerpoint/2010/main" val="2388393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CF5B21E6-212A-425C-89EA-040DE145E0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AD2EEFE4-89B8-4AF1-BA3D-A59A97C10E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0AD8632-AF3B-4F7C-A2DA-A4F0278E203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6439E6-DD8C-4C85-9C7B-9357438C85CB}" type="datetimeFigureOut">
              <a:rPr lang="fr-FR" smtClean="0"/>
              <a:t>06/12/2022</a:t>
            </a:fld>
            <a:endParaRPr lang="fr-FR"/>
          </a:p>
        </p:txBody>
      </p:sp>
      <p:sp>
        <p:nvSpPr>
          <p:cNvPr id="5" name="Espace réservé du pied de page 4">
            <a:extLst>
              <a:ext uri="{FF2B5EF4-FFF2-40B4-BE49-F238E27FC236}">
                <a16:creationId xmlns:a16="http://schemas.microsoft.com/office/drawing/2014/main" id="{A9719DEF-3A99-45A4-8595-267FAE0A202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7B1FB13C-4CB2-4D44-B791-DE40B8A9752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B4D992-F161-4455-B186-2BFDF7EA604F}" type="slidenum">
              <a:rPr lang="fr-FR" smtClean="0"/>
              <a:t>‹N›</a:t>
            </a:fld>
            <a:endParaRPr lang="fr-FR"/>
          </a:p>
        </p:txBody>
      </p:sp>
    </p:spTree>
    <p:extLst>
      <p:ext uri="{BB962C8B-B14F-4D97-AF65-F5344CB8AC3E}">
        <p14:creationId xmlns:p14="http://schemas.microsoft.com/office/powerpoint/2010/main" val="24690714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62"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7" Type="http://schemas.openxmlformats.org/officeDocument/2006/relationships/hyperlink" Target="https://www.pngall.com/christmas-ornament-png/download/58715" TargetMode="External"/><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hyperlink" Target="https://openseriousgames.org/robusteam/"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publicdomainpictures.net/en/view-image.php?image=174629&amp;picture=hand-with-thumb-up-and-down" TargetMode="External"/><Relationship Id="rId2" Type="http://schemas.openxmlformats.org/officeDocument/2006/relationships/image" Target="../media/image6.jpeg"/><Relationship Id="rId1" Type="http://schemas.openxmlformats.org/officeDocument/2006/relationships/slideLayout" Target="../slideLayouts/slideLayout3.xml"/><Relationship Id="rId6" Type="http://schemas.openxmlformats.org/officeDocument/2006/relationships/image" Target="../media/image1.png"/><Relationship Id="rId5" Type="http://schemas.openxmlformats.org/officeDocument/2006/relationships/hyperlink" Target="https://www.getmespark.com/five-ways-not-to-brainstorm/" TargetMode="External"/><Relationship Id="rId4" Type="http://schemas.openxmlformats.org/officeDocument/2006/relationships/image" Target="../media/image7.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Layout" Target="../slideLayouts/slideLayout4.xml"/><Relationship Id="rId5" Type="http://schemas.openxmlformats.org/officeDocument/2006/relationships/image" Target="../media/image11.sv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image" Target="../media/image12.png"/><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sv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8.svg"/><Relationship Id="rId7" Type="http://schemas.openxmlformats.org/officeDocument/2006/relationships/image" Target="../media/image22.svg"/><Relationship Id="rId12" Type="http://schemas.openxmlformats.org/officeDocument/2006/relationships/image" Target="../media/image26.svg"/><Relationship Id="rId2" Type="http://schemas.openxmlformats.org/officeDocument/2006/relationships/image" Target="../media/image17.png"/><Relationship Id="rId1" Type="http://schemas.openxmlformats.org/officeDocument/2006/relationships/slideLayout" Target="../slideLayouts/slideLayout4.xml"/><Relationship Id="rId6" Type="http://schemas.openxmlformats.org/officeDocument/2006/relationships/image" Target="../media/image21.png"/><Relationship Id="rId11" Type="http://schemas.openxmlformats.org/officeDocument/2006/relationships/image" Target="../media/image25.png"/><Relationship Id="rId5" Type="http://schemas.openxmlformats.org/officeDocument/2006/relationships/image" Target="../media/image20.svg"/><Relationship Id="rId10" Type="http://schemas.openxmlformats.org/officeDocument/2006/relationships/image" Target="../media/image24.svg"/><Relationship Id="rId4" Type="http://schemas.openxmlformats.org/officeDocument/2006/relationships/image" Target="../media/image19.png"/><Relationship Id="rId9" Type="http://schemas.openxmlformats.org/officeDocument/2006/relationships/image" Target="../media/image23.png"/></Relationships>
</file>

<file path=ppt/slides/_rels/slide10.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5.svg"/><Relationship Id="rId3" Type="http://schemas.openxmlformats.org/officeDocument/2006/relationships/image" Target="../media/image28.svg"/><Relationship Id="rId7" Type="http://schemas.openxmlformats.org/officeDocument/2006/relationships/image" Target="../media/image20.svg"/><Relationship Id="rId12" Type="http://schemas.openxmlformats.org/officeDocument/2006/relationships/image" Target="../media/image34.png"/><Relationship Id="rId2" Type="http://schemas.openxmlformats.org/officeDocument/2006/relationships/image" Target="../media/image27.png"/><Relationship Id="rId16" Type="http://schemas.openxmlformats.org/officeDocument/2006/relationships/image" Target="../media/image37.svg"/><Relationship Id="rId1" Type="http://schemas.openxmlformats.org/officeDocument/2006/relationships/slideLayout" Target="../slideLayouts/slideLayout4.xml"/><Relationship Id="rId6" Type="http://schemas.openxmlformats.org/officeDocument/2006/relationships/image" Target="../media/image19.png"/><Relationship Id="rId11" Type="http://schemas.openxmlformats.org/officeDocument/2006/relationships/image" Target="../media/image33.svg"/><Relationship Id="rId5" Type="http://schemas.openxmlformats.org/officeDocument/2006/relationships/image" Target="../media/image30.svg"/><Relationship Id="rId15" Type="http://schemas.openxmlformats.org/officeDocument/2006/relationships/image" Target="../media/image16.png"/><Relationship Id="rId10" Type="http://schemas.openxmlformats.org/officeDocument/2006/relationships/image" Target="../media/image32.png"/><Relationship Id="rId4" Type="http://schemas.openxmlformats.org/officeDocument/2006/relationships/image" Target="../media/image29.png"/><Relationship Id="rId9" Type="http://schemas.microsoft.com/office/2007/relationships/hdphoto" Target="../media/hdphoto1.wdp"/><Relationship Id="rId14" Type="http://schemas.openxmlformats.org/officeDocument/2006/relationships/image" Target="../media/image36.svg"/></Relationships>
</file>

<file path=ppt/slides/_rels/slide11.xml.rels><?xml version="1.0" encoding="UTF-8" standalone="yes"?>
<Relationships xmlns="http://schemas.openxmlformats.org/package/2006/relationships"><Relationship Id="rId8" Type="http://schemas.openxmlformats.org/officeDocument/2006/relationships/image" Target="../media/image37.svg"/><Relationship Id="rId3" Type="http://schemas.openxmlformats.org/officeDocument/2006/relationships/image" Target="../media/image35.svg"/><Relationship Id="rId7" Type="http://schemas.openxmlformats.org/officeDocument/2006/relationships/image" Target="../media/image27.png"/><Relationship Id="rId2" Type="http://schemas.openxmlformats.org/officeDocument/2006/relationships/image" Target="../media/image34.png"/><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36.sv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39.svg"/><Relationship Id="rId2" Type="http://schemas.openxmlformats.org/officeDocument/2006/relationships/image" Target="../media/image38.png"/><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41.svg"/><Relationship Id="rId4" Type="http://schemas.openxmlformats.org/officeDocument/2006/relationships/image" Target="../media/image40.png"/></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2" name="Groupe 1">
            <a:extLst>
              <a:ext uri="{FF2B5EF4-FFF2-40B4-BE49-F238E27FC236}">
                <a16:creationId xmlns:a16="http://schemas.microsoft.com/office/drawing/2014/main" id="{D660D87E-BFC4-4635-94BF-ED379F1C6502}"/>
              </a:ext>
            </a:extLst>
          </p:cNvPr>
          <p:cNvGrpSpPr/>
          <p:nvPr/>
        </p:nvGrpSpPr>
        <p:grpSpPr>
          <a:xfrm>
            <a:off x="10476832" y="587163"/>
            <a:ext cx="1473431" cy="1977501"/>
            <a:chOff x="1080117" y="170895"/>
            <a:chExt cx="2361459" cy="3169328"/>
          </a:xfrm>
        </p:grpSpPr>
        <p:sp>
          <p:nvSpPr>
            <p:cNvPr id="35" name="Rectangle 34">
              <a:extLst>
                <a:ext uri="{FF2B5EF4-FFF2-40B4-BE49-F238E27FC236}">
                  <a16:creationId xmlns:a16="http://schemas.microsoft.com/office/drawing/2014/main" id="{B7E5167E-3B17-475E-A5D6-5EF5AAF4CA08}"/>
                </a:ext>
              </a:extLst>
            </p:cNvPr>
            <p:cNvSpPr/>
            <p:nvPr/>
          </p:nvSpPr>
          <p:spPr>
            <a:xfrm>
              <a:off x="1080117" y="170895"/>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MEMBRE</a:t>
              </a:r>
              <a:endParaRPr lang="en-US" sz="2400" b="1" dirty="0">
                <a:solidFill>
                  <a:schemeClr val="bg1"/>
                </a:solidFill>
              </a:endParaRPr>
            </a:p>
          </p:txBody>
        </p:sp>
        <p:sp>
          <p:nvSpPr>
            <p:cNvPr id="37" name="Rectangle 36">
              <a:extLst>
                <a:ext uri="{FF2B5EF4-FFF2-40B4-BE49-F238E27FC236}">
                  <a16:creationId xmlns:a16="http://schemas.microsoft.com/office/drawing/2014/main" id="{212B3656-58FE-4EAF-B310-EDDB93AA9301}"/>
                </a:ext>
              </a:extLst>
            </p:cNvPr>
            <p:cNvSpPr/>
            <p:nvPr/>
          </p:nvSpPr>
          <p:spPr>
            <a:xfrm>
              <a:off x="130131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a:solidFill>
                    <a:srgbClr val="ED7D31"/>
                  </a:solidFill>
                </a:rPr>
                <a:t>MEMBRE</a:t>
              </a:r>
            </a:p>
            <a:p>
              <a:pPr algn="ctr"/>
              <a:endParaRPr lang="fr-FR" sz="1600" b="1" dirty="0">
                <a:solidFill>
                  <a:srgbClr val="0683AA"/>
                </a:solidFill>
              </a:endParaRPr>
            </a:p>
            <a:p>
              <a:pPr algn="ctr"/>
              <a:r>
                <a:rPr lang="fr-FR" sz="1600" b="1" dirty="0">
                  <a:solidFill>
                    <a:srgbClr val="ED7D31"/>
                  </a:solidFill>
                </a:rPr>
                <a:t>……………..</a:t>
              </a:r>
            </a:p>
            <a:p>
              <a:pPr algn="ctr"/>
              <a:endParaRPr lang="fr-FR" sz="1600" b="1" dirty="0">
                <a:solidFill>
                  <a:srgbClr val="ED7D31"/>
                </a:solidFill>
              </a:endParaRPr>
            </a:p>
            <a:p>
              <a:pPr algn="ctr"/>
              <a:r>
                <a:rPr lang="fr-FR" sz="1000" dirty="0">
                  <a:solidFill>
                    <a:srgbClr val="ED7D31"/>
                  </a:solidFill>
                </a:rPr>
                <a:t>Renseignez sur cette carte le prénom d’un(e) membre réel(-le) de l’équipe.  </a:t>
              </a:r>
            </a:p>
          </p:txBody>
        </p:sp>
        <p:pic>
          <p:nvPicPr>
            <p:cNvPr id="38" name="Image 37">
              <a:extLst>
                <a:ext uri="{FF2B5EF4-FFF2-40B4-BE49-F238E27FC236}">
                  <a16:creationId xmlns:a16="http://schemas.microsoft.com/office/drawing/2014/main" id="{CE02080B-6193-4AF8-9E85-06BC488205E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grpSp>
      <p:sp>
        <p:nvSpPr>
          <p:cNvPr id="76" name="Freeform 5">
            <a:extLst>
              <a:ext uri="{FF2B5EF4-FFF2-40B4-BE49-F238E27FC236}">
                <a16:creationId xmlns:a16="http://schemas.microsoft.com/office/drawing/2014/main" id="{07322A9E-F1EC-405E-8971-BA906EFFCC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29674" y="1290909"/>
            <a:ext cx="9702800" cy="5573512"/>
          </a:xfrm>
          <a:custGeom>
            <a:avLst/>
            <a:gdLst>
              <a:gd name="T0" fmla="*/ 1752 w 2038"/>
              <a:gd name="T1" fmla="*/ 1169 h 1169"/>
              <a:gd name="T2" fmla="*/ 1487 w 2038"/>
              <a:gd name="T3" fmla="*/ 334 h 1169"/>
              <a:gd name="T4" fmla="*/ 860 w 2038"/>
              <a:gd name="T5" fmla="*/ 22 h 1169"/>
              <a:gd name="T6" fmla="*/ 199 w 2038"/>
              <a:gd name="T7" fmla="*/ 318 h 1169"/>
              <a:gd name="T8" fmla="*/ 399 w 2038"/>
              <a:gd name="T9" fmla="*/ 1165 h 1169"/>
            </a:gdLst>
            <a:ahLst/>
            <a:cxnLst>
              <a:cxn ang="0">
                <a:pos x="T0" y="T1"/>
              </a:cxn>
              <a:cxn ang="0">
                <a:pos x="T2" y="T3"/>
              </a:cxn>
              <a:cxn ang="0">
                <a:pos x="T4" y="T5"/>
              </a:cxn>
              <a:cxn ang="0">
                <a:pos x="T6" y="T7"/>
              </a:cxn>
              <a:cxn ang="0">
                <a:pos x="T8" y="T9"/>
              </a:cxn>
            </a:cxnLst>
            <a:rect l="0" t="0" r="r" b="b"/>
            <a:pathLst>
              <a:path w="2038" h="1169">
                <a:moveTo>
                  <a:pt x="1752" y="1169"/>
                </a:moveTo>
                <a:cubicBezTo>
                  <a:pt x="2038" y="928"/>
                  <a:pt x="1673" y="513"/>
                  <a:pt x="1487" y="334"/>
                </a:cubicBezTo>
                <a:cubicBezTo>
                  <a:pt x="1316" y="170"/>
                  <a:pt x="1099" y="43"/>
                  <a:pt x="860" y="22"/>
                </a:cubicBezTo>
                <a:cubicBezTo>
                  <a:pt x="621" y="0"/>
                  <a:pt x="341" y="128"/>
                  <a:pt x="199" y="318"/>
                </a:cubicBezTo>
                <a:cubicBezTo>
                  <a:pt x="0" y="586"/>
                  <a:pt x="184" y="965"/>
                  <a:pt x="399" y="1165"/>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8" name="Freeform 6">
            <a:extLst>
              <a:ext uri="{FF2B5EF4-FFF2-40B4-BE49-F238E27FC236}">
                <a16:creationId xmlns:a16="http://schemas.microsoft.com/office/drawing/2014/main" id="{A5704422-1118-4FD1-95AD-29A064EB80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670451" y="2010741"/>
            <a:ext cx="7373938" cy="4848892"/>
          </a:xfrm>
          <a:custGeom>
            <a:avLst/>
            <a:gdLst>
              <a:gd name="T0" fmla="*/ 1025 w 1549"/>
              <a:gd name="T1" fmla="*/ 1016 h 1017"/>
              <a:gd name="T2" fmla="*/ 1443 w 1549"/>
              <a:gd name="T3" fmla="*/ 592 h 1017"/>
              <a:gd name="T4" fmla="*/ 782 w 1549"/>
              <a:gd name="T5" fmla="*/ 53 h 1017"/>
              <a:gd name="T6" fmla="*/ 150 w 1549"/>
              <a:gd name="T7" fmla="*/ 329 h 1017"/>
              <a:gd name="T8" fmla="*/ 477 w 1549"/>
              <a:gd name="T9" fmla="*/ 1017 h 1017"/>
            </a:gdLst>
            <a:ahLst/>
            <a:cxnLst>
              <a:cxn ang="0">
                <a:pos x="T0" y="T1"/>
              </a:cxn>
              <a:cxn ang="0">
                <a:pos x="T2" y="T3"/>
              </a:cxn>
              <a:cxn ang="0">
                <a:pos x="T4" y="T5"/>
              </a:cxn>
              <a:cxn ang="0">
                <a:pos x="T6" y="T7"/>
              </a:cxn>
              <a:cxn ang="0">
                <a:pos x="T8" y="T9"/>
              </a:cxn>
            </a:cxnLst>
            <a:rect l="0" t="0" r="r" b="b"/>
            <a:pathLst>
              <a:path w="1549" h="1017">
                <a:moveTo>
                  <a:pt x="1025" y="1016"/>
                </a:moveTo>
                <a:cubicBezTo>
                  <a:pt x="1223" y="971"/>
                  <a:pt x="1549" y="857"/>
                  <a:pt x="1443" y="592"/>
                </a:cubicBezTo>
                <a:cubicBezTo>
                  <a:pt x="1344" y="344"/>
                  <a:pt x="1041" y="111"/>
                  <a:pt x="782" y="53"/>
                </a:cubicBezTo>
                <a:cubicBezTo>
                  <a:pt x="545" y="0"/>
                  <a:pt x="275" y="117"/>
                  <a:pt x="150" y="329"/>
                </a:cubicBezTo>
                <a:cubicBezTo>
                  <a:pt x="0" y="584"/>
                  <a:pt x="243" y="911"/>
                  <a:pt x="477" y="1017"/>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0" name="Freeform 7">
            <a:extLst>
              <a:ext uri="{FF2B5EF4-FFF2-40B4-BE49-F238E27FC236}">
                <a16:creationId xmlns:a16="http://schemas.microsoft.com/office/drawing/2014/main" id="{A88B2AAA-B805-498E-A9E6-98B8858554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251351" y="1780905"/>
            <a:ext cx="8035925" cy="5083516"/>
          </a:xfrm>
          <a:custGeom>
            <a:avLst/>
            <a:gdLst>
              <a:gd name="T0" fmla="*/ 1302 w 1688"/>
              <a:gd name="T1" fmla="*/ 1066 h 1066"/>
              <a:gd name="T2" fmla="*/ 1613 w 1688"/>
              <a:gd name="T3" fmla="*/ 850 h 1066"/>
              <a:gd name="T4" fmla="*/ 1517 w 1688"/>
              <a:gd name="T5" fmla="*/ 471 h 1066"/>
              <a:gd name="T6" fmla="*/ 798 w 1688"/>
              <a:gd name="T7" fmla="*/ 28 h 1066"/>
              <a:gd name="T8" fmla="*/ 181 w 1688"/>
              <a:gd name="T9" fmla="*/ 333 h 1066"/>
              <a:gd name="T10" fmla="*/ 420 w 1688"/>
              <a:gd name="T11" fmla="*/ 1066 h 1066"/>
            </a:gdLst>
            <a:ahLst/>
            <a:cxnLst>
              <a:cxn ang="0">
                <a:pos x="T0" y="T1"/>
              </a:cxn>
              <a:cxn ang="0">
                <a:pos x="T2" y="T3"/>
              </a:cxn>
              <a:cxn ang="0">
                <a:pos x="T4" y="T5"/>
              </a:cxn>
              <a:cxn ang="0">
                <a:pos x="T6" y="T7"/>
              </a:cxn>
              <a:cxn ang="0">
                <a:pos x="T8" y="T9"/>
              </a:cxn>
              <a:cxn ang="0">
                <a:pos x="T10" y="T11"/>
              </a:cxn>
            </a:cxnLst>
            <a:rect l="0" t="0" r="r" b="b"/>
            <a:pathLst>
              <a:path w="1688" h="1066">
                <a:moveTo>
                  <a:pt x="1302" y="1066"/>
                </a:moveTo>
                <a:cubicBezTo>
                  <a:pt x="1416" y="1024"/>
                  <a:pt x="1551" y="962"/>
                  <a:pt x="1613" y="850"/>
                </a:cubicBezTo>
                <a:cubicBezTo>
                  <a:pt x="1688" y="715"/>
                  <a:pt x="1606" y="575"/>
                  <a:pt x="1517" y="471"/>
                </a:cubicBezTo>
                <a:cubicBezTo>
                  <a:pt x="1336" y="258"/>
                  <a:pt x="1084" y="62"/>
                  <a:pt x="798" y="28"/>
                </a:cubicBezTo>
                <a:cubicBezTo>
                  <a:pt x="559" y="0"/>
                  <a:pt x="317" y="138"/>
                  <a:pt x="181" y="333"/>
                </a:cubicBezTo>
                <a:cubicBezTo>
                  <a:pt x="0" y="592"/>
                  <a:pt x="191" y="907"/>
                  <a:pt x="420" y="1066"/>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2" name="Freeform 8">
            <a:extLst>
              <a:ext uri="{FF2B5EF4-FFF2-40B4-BE49-F238E27FC236}">
                <a16:creationId xmlns:a16="http://schemas.microsoft.com/office/drawing/2014/main" id="{9B8051E0-19D7-43E1-BFD9-E6DBFEB3A3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542347"/>
            <a:ext cx="10334625" cy="6322075"/>
          </a:xfrm>
          <a:custGeom>
            <a:avLst/>
            <a:gdLst>
              <a:gd name="T0" fmla="*/ 1873 w 2171"/>
              <a:gd name="T1" fmla="*/ 1326 h 1326"/>
              <a:gd name="T2" fmla="*/ 1609 w 2171"/>
              <a:gd name="T3" fmla="*/ 473 h 1326"/>
              <a:gd name="T4" fmla="*/ 880 w 2171"/>
              <a:gd name="T5" fmla="*/ 63 h 1326"/>
              <a:gd name="T6" fmla="*/ 0 w 2171"/>
              <a:gd name="T7" fmla="*/ 423 h 1326"/>
            </a:gdLst>
            <a:ahLst/>
            <a:cxnLst>
              <a:cxn ang="0">
                <a:pos x="T0" y="T1"/>
              </a:cxn>
              <a:cxn ang="0">
                <a:pos x="T2" y="T3"/>
              </a:cxn>
              <a:cxn ang="0">
                <a:pos x="T4" y="T5"/>
              </a:cxn>
              <a:cxn ang="0">
                <a:pos x="T6" y="T7"/>
              </a:cxn>
            </a:cxnLst>
            <a:rect l="0" t="0" r="r" b="b"/>
            <a:pathLst>
              <a:path w="2171" h="1326">
                <a:moveTo>
                  <a:pt x="1873" y="1326"/>
                </a:moveTo>
                <a:cubicBezTo>
                  <a:pt x="2171" y="1045"/>
                  <a:pt x="1825" y="678"/>
                  <a:pt x="1609" y="473"/>
                </a:cubicBezTo>
                <a:cubicBezTo>
                  <a:pt x="1406" y="281"/>
                  <a:pt x="1159" y="116"/>
                  <a:pt x="880" y="63"/>
                </a:cubicBezTo>
                <a:cubicBezTo>
                  <a:pt x="545" y="0"/>
                  <a:pt x="214" y="161"/>
                  <a:pt x="0" y="423"/>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4" name="Freeform 9">
            <a:extLst>
              <a:ext uri="{FF2B5EF4-FFF2-40B4-BE49-F238E27FC236}">
                <a16:creationId xmlns:a16="http://schemas.microsoft.com/office/drawing/2014/main" id="{4EDB2B02-86A2-46F5-A4BE-B7D9B10411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701" y="6178751"/>
            <a:ext cx="504825" cy="681527"/>
          </a:xfrm>
          <a:custGeom>
            <a:avLst/>
            <a:gdLst>
              <a:gd name="T0" fmla="*/ 0 w 106"/>
              <a:gd name="T1" fmla="*/ 0 h 143"/>
              <a:gd name="T2" fmla="*/ 106 w 106"/>
              <a:gd name="T3" fmla="*/ 143 h 143"/>
            </a:gdLst>
            <a:ahLst/>
            <a:cxnLst>
              <a:cxn ang="0">
                <a:pos x="T0" y="T1"/>
              </a:cxn>
              <a:cxn ang="0">
                <a:pos x="T2" y="T3"/>
              </a:cxn>
            </a:cxnLst>
            <a:rect l="0" t="0" r="r" b="b"/>
            <a:pathLst>
              <a:path w="106" h="143">
                <a:moveTo>
                  <a:pt x="0" y="0"/>
                </a:moveTo>
                <a:cubicBezTo>
                  <a:pt x="35" y="54"/>
                  <a:pt x="70" y="101"/>
                  <a:pt x="106" y="143"/>
                </a:cubicBezTo>
              </a:path>
            </a:pathLst>
          </a:custGeom>
          <a:noFill/>
          <a:ln w="4763"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6" name="Freeform 10">
            <a:extLst>
              <a:ext uri="{FF2B5EF4-FFF2-40B4-BE49-F238E27FC236}">
                <a16:creationId xmlns:a16="http://schemas.microsoft.com/office/drawing/2014/main" id="{43954639-FB5D-41F4-9560-6F6DFE7784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59376"/>
            <a:ext cx="11091863" cy="6923796"/>
          </a:xfrm>
          <a:custGeom>
            <a:avLst/>
            <a:gdLst>
              <a:gd name="T0" fmla="*/ 2046 w 2330"/>
              <a:gd name="T1" fmla="*/ 1452 h 1452"/>
              <a:gd name="T2" fmla="*/ 1813 w 2330"/>
              <a:gd name="T3" fmla="*/ 601 h 1452"/>
              <a:gd name="T4" fmla="*/ 956 w 2330"/>
              <a:gd name="T5" fmla="*/ 97 h 1452"/>
              <a:gd name="T6" fmla="*/ 0 w 2330"/>
              <a:gd name="T7" fmla="*/ 366 h 1452"/>
            </a:gdLst>
            <a:ahLst/>
            <a:cxnLst>
              <a:cxn ang="0">
                <a:pos x="T0" y="T1"/>
              </a:cxn>
              <a:cxn ang="0">
                <a:pos x="T2" y="T3"/>
              </a:cxn>
              <a:cxn ang="0">
                <a:pos x="T4" y="T5"/>
              </a:cxn>
              <a:cxn ang="0">
                <a:pos x="T6" y="T7"/>
              </a:cxn>
            </a:cxnLst>
            <a:rect l="0" t="0" r="r" b="b"/>
            <a:pathLst>
              <a:path w="2330" h="1452">
                <a:moveTo>
                  <a:pt x="2046" y="1452"/>
                </a:moveTo>
                <a:cubicBezTo>
                  <a:pt x="2330" y="1153"/>
                  <a:pt x="2049" y="821"/>
                  <a:pt x="1813" y="601"/>
                </a:cubicBezTo>
                <a:cubicBezTo>
                  <a:pt x="1569" y="375"/>
                  <a:pt x="1282" y="179"/>
                  <a:pt x="956" y="97"/>
                </a:cubicBezTo>
                <a:cubicBezTo>
                  <a:pt x="572" y="0"/>
                  <a:pt x="292" y="101"/>
                  <a:pt x="0" y="366"/>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5" name="Freeform 12">
            <a:extLst>
              <a:ext uri="{FF2B5EF4-FFF2-40B4-BE49-F238E27FC236}">
                <a16:creationId xmlns:a16="http://schemas.microsoft.com/office/drawing/2014/main" id="{E898931C-0323-41FA-A036-20F818B1FF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1916"/>
            <a:ext cx="1057275" cy="614491"/>
          </a:xfrm>
          <a:custGeom>
            <a:avLst/>
            <a:gdLst>
              <a:gd name="T0" fmla="*/ 222 w 222"/>
              <a:gd name="T1" fmla="*/ 0 h 129"/>
              <a:gd name="T2" fmla="*/ 0 w 222"/>
              <a:gd name="T3" fmla="*/ 129 h 129"/>
            </a:gdLst>
            <a:ahLst/>
            <a:cxnLst>
              <a:cxn ang="0">
                <a:pos x="T0" y="T1"/>
              </a:cxn>
              <a:cxn ang="0">
                <a:pos x="T2" y="T3"/>
              </a:cxn>
            </a:cxnLst>
            <a:rect l="0" t="0" r="r" b="b"/>
            <a:pathLst>
              <a:path w="222" h="129">
                <a:moveTo>
                  <a:pt x="222" y="0"/>
                </a:moveTo>
                <a:cubicBezTo>
                  <a:pt x="152" y="35"/>
                  <a:pt x="76" y="78"/>
                  <a:pt x="0" y="129"/>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7" name="Freeform 14">
            <a:extLst>
              <a:ext uri="{FF2B5EF4-FFF2-40B4-BE49-F238E27FC236}">
                <a16:creationId xmlns:a16="http://schemas.microsoft.com/office/drawing/2014/main" id="{89AFE9DD-0792-4B98-B4EB-97ACA17E6A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701" y="-6705"/>
            <a:ext cx="595313" cy="352734"/>
          </a:xfrm>
          <a:custGeom>
            <a:avLst/>
            <a:gdLst>
              <a:gd name="T0" fmla="*/ 125 w 125"/>
              <a:gd name="T1" fmla="*/ 0 h 74"/>
              <a:gd name="T2" fmla="*/ 0 w 125"/>
              <a:gd name="T3" fmla="*/ 74 h 74"/>
            </a:gdLst>
            <a:ahLst/>
            <a:cxnLst>
              <a:cxn ang="0">
                <a:pos x="T0" y="T1"/>
              </a:cxn>
              <a:cxn ang="0">
                <a:pos x="T2" y="T3"/>
              </a:cxn>
            </a:cxnLst>
            <a:rect l="0" t="0" r="r" b="b"/>
            <a:pathLst>
              <a:path w="125" h="74">
                <a:moveTo>
                  <a:pt x="125" y="0"/>
                </a:moveTo>
                <a:cubicBezTo>
                  <a:pt x="85" y="22"/>
                  <a:pt x="43" y="47"/>
                  <a:pt x="0" y="74"/>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9" name="Freeform 16">
            <a:extLst>
              <a:ext uri="{FF2B5EF4-FFF2-40B4-BE49-F238E27FC236}">
                <a16:creationId xmlns:a16="http://schemas.microsoft.com/office/drawing/2014/main" id="{3981F5C4-9AE1-404E-AF44-A4E6DB374F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61" y="-1916"/>
            <a:ext cx="357188" cy="213875"/>
          </a:xfrm>
          <a:custGeom>
            <a:avLst/>
            <a:gdLst>
              <a:gd name="T0" fmla="*/ 75 w 75"/>
              <a:gd name="T1" fmla="*/ 0 h 45"/>
              <a:gd name="T2" fmla="*/ 0 w 75"/>
              <a:gd name="T3" fmla="*/ 45 h 45"/>
            </a:gdLst>
            <a:ahLst/>
            <a:cxnLst>
              <a:cxn ang="0">
                <a:pos x="T0" y="T1"/>
              </a:cxn>
              <a:cxn ang="0">
                <a:pos x="T2" y="T3"/>
              </a:cxn>
            </a:cxnLst>
            <a:rect l="0" t="0" r="r" b="b"/>
            <a:pathLst>
              <a:path w="75" h="45">
                <a:moveTo>
                  <a:pt x="75" y="0"/>
                </a:moveTo>
                <a:cubicBezTo>
                  <a:pt x="50" y="14"/>
                  <a:pt x="25" y="29"/>
                  <a:pt x="0" y="45"/>
                </a:cubicBezTo>
              </a:path>
            </a:pathLst>
          </a:custGeom>
          <a:noFill/>
          <a:ln w="12700" cap="flat">
            <a:solidFill>
              <a:schemeClr val="tx1">
                <a:alpha val="20000"/>
              </a:schemeClr>
            </a:solidFill>
            <a:prstDash val="dashDot"/>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1" name="Freeform 11">
            <a:extLst>
              <a:ext uri="{FF2B5EF4-FFF2-40B4-BE49-F238E27FC236}">
                <a16:creationId xmlns:a16="http://schemas.microsoft.com/office/drawing/2014/main" id="{763C1781-8726-4FAC-8C45-FF40376BE4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5426601" y="-1916"/>
            <a:ext cx="5788025" cy="6847184"/>
          </a:xfrm>
          <a:custGeom>
            <a:avLst/>
            <a:gdLst>
              <a:gd name="T0" fmla="*/ 1094 w 1216"/>
              <a:gd name="T1" fmla="*/ 1436 h 1436"/>
              <a:gd name="T2" fmla="*/ 709 w 1216"/>
              <a:gd name="T3" fmla="*/ 551 h 1436"/>
              <a:gd name="T4" fmla="*/ 0 w 1216"/>
              <a:gd name="T5" fmla="*/ 0 h 1436"/>
            </a:gdLst>
            <a:ahLst/>
            <a:cxnLst>
              <a:cxn ang="0">
                <a:pos x="T0" y="T1"/>
              </a:cxn>
              <a:cxn ang="0">
                <a:pos x="T2" y="T3"/>
              </a:cxn>
              <a:cxn ang="0">
                <a:pos x="T4" y="T5"/>
              </a:cxn>
            </a:cxnLst>
            <a:rect l="0" t="0" r="r" b="b"/>
            <a:pathLst>
              <a:path w="1216" h="1436">
                <a:moveTo>
                  <a:pt x="1094" y="1436"/>
                </a:moveTo>
                <a:cubicBezTo>
                  <a:pt x="1216" y="1114"/>
                  <a:pt x="904" y="770"/>
                  <a:pt x="709" y="551"/>
                </a:cubicBezTo>
                <a:cubicBezTo>
                  <a:pt x="509" y="327"/>
                  <a:pt x="274" y="127"/>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3" name="Freeform 21">
            <a:extLst>
              <a:ext uri="{FF2B5EF4-FFF2-40B4-BE49-F238E27FC236}">
                <a16:creationId xmlns:a16="http://schemas.microsoft.com/office/drawing/2014/main" id="{301491B5-56C7-43DC-A3D9-861EECCA05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9235014" y="2872"/>
            <a:ext cx="2951163" cy="2555325"/>
          </a:xfrm>
          <a:custGeom>
            <a:avLst/>
            <a:gdLst>
              <a:gd name="T0" fmla="*/ 620 w 620"/>
              <a:gd name="T1" fmla="*/ 536 h 536"/>
              <a:gd name="T2" fmla="*/ 0 w 620"/>
              <a:gd name="T3" fmla="*/ 0 h 536"/>
            </a:gdLst>
            <a:ahLst/>
            <a:cxnLst>
              <a:cxn ang="0">
                <a:pos x="T0" y="T1"/>
              </a:cxn>
              <a:cxn ang="0">
                <a:pos x="T2" y="T3"/>
              </a:cxn>
            </a:cxnLst>
            <a:rect l="0" t="0" r="r" b="b"/>
            <a:pathLst>
              <a:path w="620" h="536">
                <a:moveTo>
                  <a:pt x="620" y="536"/>
                </a:moveTo>
                <a:cubicBezTo>
                  <a:pt x="404" y="314"/>
                  <a:pt x="196" y="138"/>
                  <a:pt x="0" y="0"/>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5" name="Freeform 22">
            <a:extLst>
              <a:ext uri="{FF2B5EF4-FFF2-40B4-BE49-F238E27FC236}">
                <a16:creationId xmlns:a16="http://schemas.microsoft.com/office/drawing/2014/main" id="{237E2353-22DF-46E0-A200-FB30F8F394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0020826" y="-1916"/>
            <a:ext cx="2165350" cy="1358265"/>
          </a:xfrm>
          <a:custGeom>
            <a:avLst/>
            <a:gdLst>
              <a:gd name="T0" fmla="*/ 0 w 455"/>
              <a:gd name="T1" fmla="*/ 0 h 285"/>
              <a:gd name="T2" fmla="*/ 455 w 455"/>
              <a:gd name="T3" fmla="*/ 285 h 285"/>
            </a:gdLst>
            <a:ahLst/>
            <a:cxnLst>
              <a:cxn ang="0">
                <a:pos x="T0" y="T1"/>
              </a:cxn>
              <a:cxn ang="0">
                <a:pos x="T2" y="T3"/>
              </a:cxn>
            </a:cxnLst>
            <a:rect l="0" t="0" r="r" b="b"/>
            <a:pathLst>
              <a:path w="455" h="285">
                <a:moveTo>
                  <a:pt x="0" y="0"/>
                </a:moveTo>
                <a:cubicBezTo>
                  <a:pt x="153" y="85"/>
                  <a:pt x="308" y="180"/>
                  <a:pt x="455" y="285"/>
                </a:cubicBezTo>
              </a:path>
            </a:pathLst>
          </a:custGeom>
          <a:noFill/>
          <a:ln w="9525" cap="flat">
            <a:solidFill>
              <a:schemeClr val="tx1">
                <a:alpha val="20000"/>
              </a:schemeClr>
            </a:solidFill>
            <a:prstDash val="dash"/>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7" name="Freeform 23">
            <a:extLst>
              <a:ext uri="{FF2B5EF4-FFF2-40B4-BE49-F238E27FC236}">
                <a16:creationId xmlns:a16="http://schemas.microsoft.com/office/drawing/2014/main" id="{DD6138DB-057B-45F7-A5F4-E7BFDA20D0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11290826" y="-1916"/>
            <a:ext cx="895350" cy="534687"/>
          </a:xfrm>
          <a:custGeom>
            <a:avLst/>
            <a:gdLst>
              <a:gd name="T0" fmla="*/ 0 w 188"/>
              <a:gd name="T1" fmla="*/ 0 h 112"/>
              <a:gd name="T2" fmla="*/ 188 w 188"/>
              <a:gd name="T3" fmla="*/ 112 h 112"/>
            </a:gdLst>
            <a:ahLst/>
            <a:cxnLst>
              <a:cxn ang="0">
                <a:pos x="T0" y="T1"/>
              </a:cxn>
              <a:cxn ang="0">
                <a:pos x="T2" y="T3"/>
              </a:cxn>
            </a:cxnLst>
            <a:rect l="0" t="0" r="r" b="b"/>
            <a:pathLst>
              <a:path w="188" h="112">
                <a:moveTo>
                  <a:pt x="0" y="0"/>
                </a:moveTo>
                <a:cubicBezTo>
                  <a:pt x="63" y="36"/>
                  <a:pt x="126" y="73"/>
                  <a:pt x="188" y="112"/>
                </a:cubicBezTo>
              </a:path>
            </a:pathLst>
          </a:custGeom>
          <a:noFill/>
          <a:ln w="9525" cap="flat">
            <a:solidFill>
              <a:schemeClr val="tx1">
                <a:alpha val="20000"/>
              </a:schemeClr>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9" name="Freeform: Shape 88">
            <a:extLst>
              <a:ext uri="{FF2B5EF4-FFF2-40B4-BE49-F238E27FC236}">
                <a16:creationId xmlns:a16="http://schemas.microsoft.com/office/drawing/2014/main" id="{79A54AB1-B64F-4843-BFAB-81CB74E66B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931529">
            <a:off x="752078" y="2218040"/>
            <a:ext cx="4418757" cy="4259609"/>
          </a:xfrm>
          <a:custGeom>
            <a:avLst/>
            <a:gdLst>
              <a:gd name="connsiteX0" fmla="*/ 404107 w 4507111"/>
              <a:gd name="connsiteY0" fmla="*/ 0 h 4344781"/>
              <a:gd name="connsiteX1" fmla="*/ 371857 w 4507111"/>
              <a:gd name="connsiteY1" fmla="*/ 117359 h 4344781"/>
              <a:gd name="connsiteX2" fmla="*/ 307833 w 4507111"/>
              <a:gd name="connsiteY2" fmla="*/ 632970 h 4344781"/>
              <a:gd name="connsiteX3" fmla="*/ 3569418 w 4507111"/>
              <a:gd name="connsiteY3" fmla="*/ 4141149 h 4344781"/>
              <a:gd name="connsiteX4" fmla="*/ 4440861 w 4507111"/>
              <a:gd name="connsiteY4" fmla="*/ 4332480 h 4344781"/>
              <a:gd name="connsiteX5" fmla="*/ 4507111 w 4507111"/>
              <a:gd name="connsiteY5" fmla="*/ 4341752 h 4344781"/>
              <a:gd name="connsiteX6" fmla="*/ 4296045 w 4507111"/>
              <a:gd name="connsiteY6" fmla="*/ 4344781 h 4344781"/>
              <a:gd name="connsiteX7" fmla="*/ 3749565 w 4507111"/>
              <a:gd name="connsiteY7" fmla="*/ 4321853 h 4344781"/>
              <a:gd name="connsiteX8" fmla="*/ 36764 w 4507111"/>
              <a:gd name="connsiteY8" fmla="*/ 1629794 h 4344781"/>
              <a:gd name="connsiteX9" fmla="*/ 300069 w 4507111"/>
              <a:gd name="connsiteY9" fmla="*/ 144750 h 43447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07111" h="4344781">
                <a:moveTo>
                  <a:pt x="404107" y="0"/>
                </a:moveTo>
                <a:lnTo>
                  <a:pt x="371857" y="117359"/>
                </a:lnTo>
                <a:cubicBezTo>
                  <a:pt x="333827" y="278567"/>
                  <a:pt x="311875" y="450459"/>
                  <a:pt x="307833" y="632970"/>
                </a:cubicBezTo>
                <a:cubicBezTo>
                  <a:pt x="264711" y="2579752"/>
                  <a:pt x="2253987" y="3769243"/>
                  <a:pt x="3569418" y="4141149"/>
                </a:cubicBezTo>
                <a:cubicBezTo>
                  <a:pt x="3816061" y="4210881"/>
                  <a:pt x="4114807" y="4279754"/>
                  <a:pt x="4440861" y="4332480"/>
                </a:cubicBezTo>
                <a:lnTo>
                  <a:pt x="4507111" y="4341752"/>
                </a:lnTo>
                <a:lnTo>
                  <a:pt x="4296045" y="4344781"/>
                </a:lnTo>
                <a:cubicBezTo>
                  <a:pt x="4097363" y="4343711"/>
                  <a:pt x="3912623" y="4335104"/>
                  <a:pt x="3749565" y="4321853"/>
                </a:cubicBezTo>
                <a:cubicBezTo>
                  <a:pt x="2445102" y="4215850"/>
                  <a:pt x="356405" y="3466499"/>
                  <a:pt x="36764" y="1629794"/>
                </a:cubicBezTo>
                <a:cubicBezTo>
                  <a:pt x="-63123" y="1055823"/>
                  <a:pt x="45741" y="555869"/>
                  <a:pt x="300069" y="144750"/>
                </a:cubicBezTo>
                <a:close/>
              </a:path>
            </a:pathLst>
          </a:custGeom>
          <a:solidFill>
            <a:schemeClr val="tx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Rockwell" panose="02060603020205020403"/>
              <a:ea typeface="+mn-ea"/>
              <a:cs typeface="+mn-cs"/>
            </a:endParaRPr>
          </a:p>
        </p:txBody>
      </p:sp>
      <p:pic>
        <p:nvPicPr>
          <p:cNvPr id="36" name="Image 35" descr="Une image contenant texte, clipart&#10;&#10;Description générée automatiquement">
            <a:extLst>
              <a:ext uri="{FF2B5EF4-FFF2-40B4-BE49-F238E27FC236}">
                <a16:creationId xmlns:a16="http://schemas.microsoft.com/office/drawing/2014/main" id="{DA0EF64C-2F24-43C4-BA48-DC2DE5036D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73178" y="6435226"/>
            <a:ext cx="789196" cy="286130"/>
          </a:xfrm>
          <a:prstGeom prst="rect">
            <a:avLst/>
          </a:prstGeom>
        </p:spPr>
      </p:pic>
      <p:pic>
        <p:nvPicPr>
          <p:cNvPr id="4" name="Image 3">
            <a:extLst>
              <a:ext uri="{FF2B5EF4-FFF2-40B4-BE49-F238E27FC236}">
                <a16:creationId xmlns:a16="http://schemas.microsoft.com/office/drawing/2014/main" id="{4276A8A0-91A7-41C6-8337-580E459AC8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141744" y="6025530"/>
            <a:ext cx="890885" cy="859442"/>
          </a:xfrm>
          <a:prstGeom prst="rect">
            <a:avLst/>
          </a:prstGeom>
        </p:spPr>
      </p:pic>
      <p:pic>
        <p:nvPicPr>
          <p:cNvPr id="3" name="Graphique 2" descr="Groupe avec un remplissage uni">
            <a:extLst>
              <a:ext uri="{FF2B5EF4-FFF2-40B4-BE49-F238E27FC236}">
                <a16:creationId xmlns:a16="http://schemas.microsoft.com/office/drawing/2014/main" id="{BC2FC342-F118-433D-B01C-D26BB684E886}"/>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33392" y="6178751"/>
            <a:ext cx="587075" cy="587075"/>
          </a:xfrm>
          <a:prstGeom prst="rect">
            <a:avLst/>
          </a:prstGeom>
        </p:spPr>
      </p:pic>
      <p:sp>
        <p:nvSpPr>
          <p:cNvPr id="23" name="ZoneTexte 22">
            <a:extLst>
              <a:ext uri="{FF2B5EF4-FFF2-40B4-BE49-F238E27FC236}">
                <a16:creationId xmlns:a16="http://schemas.microsoft.com/office/drawing/2014/main" id="{F319DE10-B979-4F85-8672-0A77FE2DA78F}"/>
              </a:ext>
            </a:extLst>
          </p:cNvPr>
          <p:cNvSpPr txBox="1"/>
          <p:nvPr/>
        </p:nvSpPr>
        <p:spPr>
          <a:xfrm>
            <a:off x="2141451" y="2026515"/>
            <a:ext cx="8958031" cy="3231654"/>
          </a:xfrm>
          <a:prstGeom prst="rect">
            <a:avLst/>
          </a:prstGeom>
          <a:noFill/>
        </p:spPr>
        <p:txBody>
          <a:bodyPr wrap="square">
            <a:spAutoFit/>
          </a:bodyPr>
          <a:lstStyle/>
          <a:p>
            <a:r>
              <a:rPr lang="fr-FR" sz="9600" b="1" i="1" dirty="0"/>
              <a:t>💪</a:t>
            </a:r>
            <a:r>
              <a:rPr lang="fr-FR" sz="9600" b="1" i="1" dirty="0">
                <a:solidFill>
                  <a:srgbClr val="0683AA"/>
                </a:solidFill>
              </a:rPr>
              <a:t>ROBUS</a:t>
            </a:r>
            <a:r>
              <a:rPr lang="fr-FR" sz="9600" b="1" i="1" dirty="0">
                <a:solidFill>
                  <a:srgbClr val="ED7D31"/>
                </a:solidFill>
              </a:rPr>
              <a:t>TEAM</a:t>
            </a:r>
          </a:p>
          <a:p>
            <a:r>
              <a:rPr lang="fr-FR" sz="3600" b="1" i="1" dirty="0"/>
              <a:t>Votre </a:t>
            </a:r>
            <a:r>
              <a:rPr lang="fr-FR" sz="3600" b="1" i="1" dirty="0">
                <a:solidFill>
                  <a:srgbClr val="ED7D31"/>
                </a:solidFill>
              </a:rPr>
              <a:t>équipe</a:t>
            </a:r>
            <a:r>
              <a:rPr lang="fr-FR" sz="3600" b="1" i="1" dirty="0"/>
              <a:t> surmontera-t-elle ses </a:t>
            </a:r>
            <a:r>
              <a:rPr lang="fr-FR" sz="3600" b="1" i="1" dirty="0">
                <a:solidFill>
                  <a:srgbClr val="ED7D31"/>
                </a:solidFill>
              </a:rPr>
              <a:t>crises </a:t>
            </a:r>
            <a:r>
              <a:rPr lang="fr-FR" sz="3600" b="1" i="1" dirty="0"/>
              <a:t>?</a:t>
            </a:r>
          </a:p>
          <a:p>
            <a:endParaRPr lang="fr-FR" sz="3600" b="1" i="1" dirty="0"/>
          </a:p>
          <a:p>
            <a:r>
              <a:rPr lang="fr-FR" sz="3600" b="1" i="1" dirty="0"/>
              <a:t>Edition spéciales fêtes</a:t>
            </a:r>
          </a:p>
        </p:txBody>
      </p:sp>
      <p:sp>
        <p:nvSpPr>
          <p:cNvPr id="21" name="Titre 1">
            <a:extLst>
              <a:ext uri="{FF2B5EF4-FFF2-40B4-BE49-F238E27FC236}">
                <a16:creationId xmlns:a16="http://schemas.microsoft.com/office/drawing/2014/main" id="{CAD88658-0636-48A8-9ED5-29CFA0875FE4}"/>
              </a:ext>
            </a:extLst>
          </p:cNvPr>
          <p:cNvSpPr txBox="1">
            <a:spLocks/>
          </p:cNvSpPr>
          <p:nvPr/>
        </p:nvSpPr>
        <p:spPr>
          <a:xfrm>
            <a:off x="6620467" y="6204617"/>
            <a:ext cx="1649828" cy="48858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gn="l">
              <a:spcAft>
                <a:spcPts val="600"/>
              </a:spcAft>
            </a:pPr>
            <a:r>
              <a:rPr lang="fr-FR" sz="1400" b="1" dirty="0"/>
              <a:t>5 à 12 joueurs d’un même équipe </a:t>
            </a:r>
          </a:p>
        </p:txBody>
      </p:sp>
      <p:grpSp>
        <p:nvGrpSpPr>
          <p:cNvPr id="26" name="Groupe 25">
            <a:extLst>
              <a:ext uri="{FF2B5EF4-FFF2-40B4-BE49-F238E27FC236}">
                <a16:creationId xmlns:a16="http://schemas.microsoft.com/office/drawing/2014/main" id="{AA15D47E-1C1C-4275-BBBE-3D6C71DA75BE}"/>
              </a:ext>
            </a:extLst>
          </p:cNvPr>
          <p:cNvGrpSpPr/>
          <p:nvPr/>
        </p:nvGrpSpPr>
        <p:grpSpPr>
          <a:xfrm rot="1121012">
            <a:off x="8404465" y="503136"/>
            <a:ext cx="2384191" cy="2057794"/>
            <a:chOff x="4211355" y="1848098"/>
            <a:chExt cx="3632349" cy="3135079"/>
          </a:xfrm>
        </p:grpSpPr>
        <p:sp>
          <p:nvSpPr>
            <p:cNvPr id="27" name="Rectangle 26">
              <a:extLst>
                <a:ext uri="{FF2B5EF4-FFF2-40B4-BE49-F238E27FC236}">
                  <a16:creationId xmlns:a16="http://schemas.microsoft.com/office/drawing/2014/main" id="{34050D05-4EC1-472E-B592-96AC6BCE4809}"/>
                </a:ext>
              </a:extLst>
            </p:cNvPr>
            <p:cNvSpPr/>
            <p:nvPr/>
          </p:nvSpPr>
          <p:spPr>
            <a:xfrm>
              <a:off x="4211355" y="1848098"/>
              <a:ext cx="2097536" cy="2815116"/>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600" b="1" dirty="0">
                  <a:solidFill>
                    <a:schemeClr val="bg1"/>
                  </a:solidFill>
                </a:rPr>
                <a:t>CRISE</a:t>
              </a:r>
            </a:p>
            <a:p>
              <a:pPr algn="ctr"/>
              <a:r>
                <a:rPr lang="fr-FR" sz="1600" b="1" dirty="0">
                  <a:solidFill>
                    <a:schemeClr val="bg1"/>
                  </a:solidFill>
                </a:rPr>
                <a:t>🔥🔥</a:t>
              </a:r>
              <a:endParaRPr lang="en-US" sz="1600" b="1" dirty="0">
                <a:solidFill>
                  <a:schemeClr val="bg1"/>
                </a:solidFill>
              </a:endParaRPr>
            </a:p>
          </p:txBody>
        </p:sp>
        <p:grpSp>
          <p:nvGrpSpPr>
            <p:cNvPr id="28" name="Groupe 27">
              <a:extLst>
                <a:ext uri="{FF2B5EF4-FFF2-40B4-BE49-F238E27FC236}">
                  <a16:creationId xmlns:a16="http://schemas.microsoft.com/office/drawing/2014/main" id="{D0F9EF9D-4DED-4CEF-9D58-AA1A6F0C60AB}"/>
                </a:ext>
              </a:extLst>
            </p:cNvPr>
            <p:cNvGrpSpPr/>
            <p:nvPr/>
          </p:nvGrpSpPr>
          <p:grpSpPr>
            <a:xfrm>
              <a:off x="5778740" y="2211776"/>
              <a:ext cx="2064964" cy="2771401"/>
              <a:chOff x="6240524" y="2017450"/>
              <a:chExt cx="2361459" cy="3169328"/>
            </a:xfrm>
          </p:grpSpPr>
          <p:sp>
            <p:nvSpPr>
              <p:cNvPr id="29" name="Rectangle 28">
                <a:extLst>
                  <a:ext uri="{FF2B5EF4-FFF2-40B4-BE49-F238E27FC236}">
                    <a16:creationId xmlns:a16="http://schemas.microsoft.com/office/drawing/2014/main" id="{1A660177-9F20-4052-8BBE-BF40BC6F4EC8}"/>
                  </a:ext>
                </a:extLst>
              </p:cNvPr>
              <p:cNvSpPr/>
              <p:nvPr/>
            </p:nvSpPr>
            <p:spPr>
              <a:xfrm>
                <a:off x="6240524" y="2017450"/>
                <a:ext cx="2361459" cy="3169328"/>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dirty="0">
                  <a:solidFill>
                    <a:schemeClr val="bg1"/>
                  </a:solidFill>
                </a:endParaRPr>
              </a:p>
            </p:txBody>
          </p:sp>
          <p:sp>
            <p:nvSpPr>
              <p:cNvPr id="30" name="Rectangle 29">
                <a:extLst>
                  <a:ext uri="{FF2B5EF4-FFF2-40B4-BE49-F238E27FC236}">
                    <a16:creationId xmlns:a16="http://schemas.microsoft.com/office/drawing/2014/main" id="{46F72E8A-6E26-4630-AB80-767D0009B1A9}"/>
                  </a:ext>
                </a:extLst>
              </p:cNvPr>
              <p:cNvSpPr/>
              <p:nvPr/>
            </p:nvSpPr>
            <p:spPr>
              <a:xfrm>
                <a:off x="6446927" y="2192784"/>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1100" b="1" dirty="0">
                    <a:solidFill>
                      <a:srgbClr val="FF0000"/>
                    </a:solidFill>
                  </a:rPr>
                  <a:t>CRISE</a:t>
                </a:r>
              </a:p>
              <a:p>
                <a:pPr algn="ctr"/>
                <a:r>
                  <a:rPr lang="fr-FR" sz="1100" b="1" dirty="0">
                    <a:solidFill>
                      <a:srgbClr val="FF0000"/>
                    </a:solidFill>
                  </a:rPr>
                  <a:t>🔥 🔥 </a:t>
                </a:r>
              </a:p>
              <a:p>
                <a:pPr algn="ctr"/>
                <a:endParaRPr lang="fr-FR" sz="1100" b="1" dirty="0">
                  <a:solidFill>
                    <a:srgbClr val="FF0000"/>
                  </a:solidFill>
                </a:endParaRPr>
              </a:p>
              <a:p>
                <a:pPr algn="ctr"/>
                <a:r>
                  <a:rPr lang="fr-FR" sz="700" dirty="0">
                    <a:solidFill>
                      <a:srgbClr val="FF0000"/>
                    </a:solidFill>
                  </a:rPr>
                  <a:t>En pleine visioconférence d’équipe, vous assistez à un malaise de </a:t>
                </a:r>
                <a:r>
                  <a:rPr lang="fr-FR" sz="700" b="1" dirty="0">
                    <a:solidFill>
                      <a:srgbClr val="ED7D31"/>
                    </a:solidFill>
                  </a:rPr>
                  <a:t>{MEMBRE} </a:t>
                </a:r>
                <a:r>
                  <a:rPr lang="fr-FR" sz="700" dirty="0">
                    <a:solidFill>
                      <a:srgbClr val="FF0000"/>
                    </a:solidFill>
                  </a:rPr>
                  <a:t>en direct, qui s’évanouit. A votre connaissance, il/elle est seul(e) chez lui/elle aujourd’hui.</a:t>
                </a:r>
              </a:p>
              <a:p>
                <a:pPr algn="ctr"/>
                <a:r>
                  <a:rPr lang="fr-FR" sz="700" dirty="0">
                    <a:solidFill>
                      <a:srgbClr val="FF0000"/>
                    </a:solidFill>
                  </a:rPr>
                  <a:t>Qu’allez-vous faire ?</a:t>
                </a:r>
              </a:p>
            </p:txBody>
          </p:sp>
          <p:pic>
            <p:nvPicPr>
              <p:cNvPr id="31" name="Image 30">
                <a:extLst>
                  <a:ext uri="{FF2B5EF4-FFF2-40B4-BE49-F238E27FC236}">
                    <a16:creationId xmlns:a16="http://schemas.microsoft.com/office/drawing/2014/main" id="{A5C0150B-0D27-4B0B-B827-C086168295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60752" y="4713878"/>
                <a:ext cx="285360" cy="275372"/>
              </a:xfrm>
              <a:prstGeom prst="rect">
                <a:avLst/>
              </a:prstGeom>
            </p:spPr>
          </p:pic>
        </p:grpSp>
      </p:grpSp>
      <p:grpSp>
        <p:nvGrpSpPr>
          <p:cNvPr id="32" name="Groupe 31">
            <a:extLst>
              <a:ext uri="{FF2B5EF4-FFF2-40B4-BE49-F238E27FC236}">
                <a16:creationId xmlns:a16="http://schemas.microsoft.com/office/drawing/2014/main" id="{66733D15-7845-4066-AB11-1FDF2548FCD3}"/>
              </a:ext>
            </a:extLst>
          </p:cNvPr>
          <p:cNvGrpSpPr/>
          <p:nvPr/>
        </p:nvGrpSpPr>
        <p:grpSpPr>
          <a:xfrm rot="20653958">
            <a:off x="7517612" y="661081"/>
            <a:ext cx="1184252" cy="1589392"/>
            <a:chOff x="1080117" y="170895"/>
            <a:chExt cx="2361459" cy="3169328"/>
          </a:xfrm>
        </p:grpSpPr>
        <p:sp>
          <p:nvSpPr>
            <p:cNvPr id="33" name="Rectangle 32">
              <a:extLst>
                <a:ext uri="{FF2B5EF4-FFF2-40B4-BE49-F238E27FC236}">
                  <a16:creationId xmlns:a16="http://schemas.microsoft.com/office/drawing/2014/main" id="{46EFF732-9CBE-4538-A579-28DAFF41D424}"/>
                </a:ext>
              </a:extLst>
            </p:cNvPr>
            <p:cNvSpPr/>
            <p:nvPr/>
          </p:nvSpPr>
          <p:spPr>
            <a:xfrm>
              <a:off x="1080117" y="170895"/>
              <a:ext cx="2361459" cy="3169328"/>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endParaRPr lang="en-US" sz="2400" b="1" dirty="0">
                <a:solidFill>
                  <a:schemeClr val="bg1"/>
                </a:solidFill>
              </a:endParaRPr>
            </a:p>
            <a:p>
              <a:pPr algn="ctr"/>
              <a:r>
                <a:rPr lang="en-US" sz="2400" b="1" dirty="0">
                  <a:solidFill>
                    <a:schemeClr val="bg1"/>
                  </a:solidFill>
                </a:rPr>
                <a:t>RÔLES</a:t>
              </a:r>
            </a:p>
            <a:p>
              <a:pPr algn="ctr"/>
              <a:r>
                <a:rPr lang="fr-FR" sz="2400" b="1" dirty="0">
                  <a:solidFill>
                    <a:schemeClr val="bg1"/>
                  </a:solidFill>
                </a:rPr>
                <a:t>💪</a:t>
              </a:r>
              <a:endParaRPr lang="en-US" sz="2400" b="1" dirty="0">
                <a:solidFill>
                  <a:schemeClr val="bg1"/>
                </a:solidFill>
              </a:endParaRPr>
            </a:p>
          </p:txBody>
        </p:sp>
        <p:sp>
          <p:nvSpPr>
            <p:cNvPr id="34" name="Rectangle 33">
              <a:extLst>
                <a:ext uri="{FF2B5EF4-FFF2-40B4-BE49-F238E27FC236}">
                  <a16:creationId xmlns:a16="http://schemas.microsoft.com/office/drawing/2014/main" id="{34EA8ADE-141A-4C82-BE13-D49ADFBE9E28}"/>
                </a:ext>
              </a:extLst>
            </p:cNvPr>
            <p:cNvSpPr/>
            <p:nvPr/>
          </p:nvSpPr>
          <p:spPr>
            <a:xfrm>
              <a:off x="1301319" y="346229"/>
              <a:ext cx="1944210" cy="27964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0" dirty="0">
                  <a:solidFill>
                    <a:srgbClr val="0683AA"/>
                  </a:solidFill>
                </a:rPr>
                <a:t>💪 </a:t>
              </a:r>
            </a:p>
            <a:p>
              <a:pPr algn="ctr"/>
              <a:r>
                <a:rPr lang="fr-FR" sz="1100" b="1" dirty="0">
                  <a:solidFill>
                    <a:srgbClr val="0683AA"/>
                  </a:solidFill>
                </a:rPr>
                <a:t>ROBUSTEAM</a:t>
              </a:r>
            </a:p>
            <a:p>
              <a:pPr algn="ctr"/>
              <a:endParaRPr lang="fr-FR" sz="1100" b="1" dirty="0">
                <a:solidFill>
                  <a:srgbClr val="0683AA"/>
                </a:solidFill>
              </a:endParaRPr>
            </a:p>
            <a:p>
              <a:pPr algn="ctr"/>
              <a:r>
                <a:rPr lang="fr-FR" sz="700" dirty="0">
                  <a:solidFill>
                    <a:srgbClr val="0683AA"/>
                  </a:solidFill>
                </a:rPr>
                <a:t>Trouvez ensemble une solution à la </a:t>
              </a:r>
              <a:r>
                <a:rPr lang="fr-FR" sz="700" b="1" dirty="0">
                  <a:solidFill>
                    <a:srgbClr val="FF0000"/>
                  </a:solidFill>
                </a:rPr>
                <a:t>CRISE</a:t>
              </a:r>
              <a:r>
                <a:rPr lang="fr-FR" sz="700" dirty="0">
                  <a:solidFill>
                    <a:srgbClr val="0683AA"/>
                  </a:solidFill>
                </a:rPr>
                <a:t>, et exposez cette solution à ⚖️</a:t>
              </a:r>
              <a:r>
                <a:rPr lang="fr-FR" sz="700" b="1" dirty="0">
                  <a:solidFill>
                    <a:srgbClr val="0683AA"/>
                  </a:solidFill>
                </a:rPr>
                <a:t>DESTIN</a:t>
              </a:r>
              <a:r>
                <a:rPr lang="fr-FR" sz="700" dirty="0">
                  <a:solidFill>
                    <a:srgbClr val="0683AA"/>
                  </a:solidFill>
                </a:rPr>
                <a:t>.</a:t>
              </a:r>
              <a:r>
                <a:rPr lang="fr-FR" sz="700" b="0" dirty="0">
                  <a:solidFill>
                    <a:srgbClr val="0683AA"/>
                  </a:solidFill>
                </a:rPr>
                <a:t>  </a:t>
              </a:r>
              <a:endParaRPr lang="fr-FR" sz="700" dirty="0">
                <a:solidFill>
                  <a:srgbClr val="0683AA"/>
                </a:solidFill>
              </a:endParaRPr>
            </a:p>
          </p:txBody>
        </p:sp>
      </p:grpSp>
      <p:pic>
        <p:nvPicPr>
          <p:cNvPr id="5" name="Immagine 4" descr="Immagine che contiene porcellana&#10;&#10;Descrizione generata automaticamente">
            <a:extLst>
              <a:ext uri="{FF2B5EF4-FFF2-40B4-BE49-F238E27FC236}">
                <a16:creationId xmlns:a16="http://schemas.microsoft.com/office/drawing/2014/main" id="{4C639913-7D20-7AED-3A27-448E5792C4BC}"/>
              </a:ext>
            </a:extLst>
          </p:cNvPr>
          <p:cNvPicPr>
            <a:picLocks noChangeAspect="1"/>
          </p:cNvPicPr>
          <p:nvPr/>
        </p:nvPicPr>
        <p:blipFill>
          <a:blip r:embed="rId6" cstate="print">
            <a:extLst>
              <a:ext uri="{28A0092B-C50C-407E-A947-70E740481C1C}">
                <a14:useLocalDpi xmlns:a14="http://schemas.microsoft.com/office/drawing/2010/main" val="0"/>
              </a:ext>
              <a:ext uri="{837473B0-CC2E-450A-ABE3-18F120FF3D39}">
                <a1611:picAttrSrcUrl xmlns:a1611="http://schemas.microsoft.com/office/drawing/2016/11/main" r:id="rId7"/>
              </a:ext>
            </a:extLst>
          </a:blip>
          <a:stretch>
            <a:fillRect/>
          </a:stretch>
        </p:blipFill>
        <p:spPr>
          <a:xfrm>
            <a:off x="2185415" y="5078042"/>
            <a:ext cx="3694854" cy="1237611"/>
          </a:xfrm>
          <a:prstGeom prst="rect">
            <a:avLst/>
          </a:prstGeom>
        </p:spPr>
      </p:pic>
    </p:spTree>
    <p:extLst>
      <p:ext uri="{BB962C8B-B14F-4D97-AF65-F5344CB8AC3E}">
        <p14:creationId xmlns:p14="http://schemas.microsoft.com/office/powerpoint/2010/main" val="2842409871"/>
      </p:ext>
    </p:extLst>
  </p:cSld>
  <p:clrMapOvr>
    <a:masterClrMapping/>
  </p:clrMapOvr>
  <mc:AlternateContent xmlns:mc="http://schemas.openxmlformats.org/markup-compatibility/2006" xmlns:p14="http://schemas.microsoft.com/office/powerpoint/2010/main">
    <mc:Choice Requires="p14">
      <p:transition spd="slow" p14:dur="2000" advTm="14392"/>
    </mc:Choice>
    <mc:Fallback xmlns="">
      <p:transition spd="slow" advTm="14392"/>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B0D236A-C513-EC14-7B8B-E7F9E4CBF3FC}"/>
              </a:ext>
            </a:extLst>
          </p:cNvPr>
          <p:cNvSpPr>
            <a:spLocks noGrp="1"/>
          </p:cNvSpPr>
          <p:nvPr>
            <p:ph type="title"/>
          </p:nvPr>
        </p:nvSpPr>
        <p:spPr/>
        <p:txBody>
          <a:bodyPr/>
          <a:lstStyle/>
          <a:p>
            <a:r>
              <a:rPr lang="fr-FR" dirty="0"/>
              <a:t>Edition spéciale fêtes</a:t>
            </a:r>
          </a:p>
        </p:txBody>
      </p:sp>
      <p:sp>
        <p:nvSpPr>
          <p:cNvPr id="3" name="Segnaposto contenuto 2">
            <a:extLst>
              <a:ext uri="{FF2B5EF4-FFF2-40B4-BE49-F238E27FC236}">
                <a16:creationId xmlns:a16="http://schemas.microsoft.com/office/drawing/2014/main" id="{0B4575DD-BD76-74AC-E961-A39068EC52D9}"/>
              </a:ext>
            </a:extLst>
          </p:cNvPr>
          <p:cNvSpPr>
            <a:spLocks noGrp="1"/>
          </p:cNvSpPr>
          <p:nvPr>
            <p:ph idx="1"/>
          </p:nvPr>
        </p:nvSpPr>
        <p:spPr/>
        <p:txBody>
          <a:bodyPr/>
          <a:lstStyle/>
          <a:p>
            <a:r>
              <a:rPr lang="fr-FR" dirty="0"/>
              <a:t>Cette édition spéciale de </a:t>
            </a:r>
            <a:r>
              <a:rPr lang="fr-FR" sz="2800" b="1" i="1" dirty="0"/>
              <a:t>💪 </a:t>
            </a:r>
            <a:r>
              <a:rPr lang="fr-FR" dirty="0" err="1"/>
              <a:t>Robusteam</a:t>
            </a:r>
            <a:r>
              <a:rPr lang="fr-FR" dirty="0"/>
              <a:t> n’est pas une version classique du jeu original, elle a été créée spécifiquement avec des scénarios concernant les fêtes de fin d’année et constitue une extension du jeu original.</a:t>
            </a:r>
          </a:p>
          <a:p>
            <a:endParaRPr lang="fr-FR" dirty="0"/>
          </a:p>
          <a:p>
            <a:r>
              <a:rPr lang="fr-FR" dirty="0"/>
              <a:t>Pour retrouver la dernière version de base du jeu </a:t>
            </a:r>
            <a:r>
              <a:rPr lang="fr-FR" sz="2800" b="1" i="1" dirty="0"/>
              <a:t>💪 </a:t>
            </a:r>
            <a:r>
              <a:rPr lang="fr-FR" dirty="0" err="1"/>
              <a:t>Robusteam</a:t>
            </a:r>
            <a:r>
              <a:rPr lang="fr-FR" dirty="0"/>
              <a:t>, rendez-vous sur </a:t>
            </a:r>
            <a:r>
              <a:rPr lang="en-US" dirty="0">
                <a:hlinkClick r:id="rId2"/>
              </a:rPr>
              <a:t>💪ROBUSTEAM - </a:t>
            </a:r>
            <a:r>
              <a:rPr lang="en-US" dirty="0" err="1">
                <a:hlinkClick r:id="rId2"/>
              </a:rPr>
              <a:t>OpenSeriousGame</a:t>
            </a:r>
            <a:r>
              <a:rPr lang="en-US" dirty="0">
                <a:hlinkClick r:id="rId2"/>
              </a:rPr>
              <a:t> (openseriousgames.org)</a:t>
            </a:r>
            <a:endParaRPr lang="fr-FR" dirty="0"/>
          </a:p>
        </p:txBody>
      </p:sp>
    </p:spTree>
    <p:extLst>
      <p:ext uri="{BB962C8B-B14F-4D97-AF65-F5344CB8AC3E}">
        <p14:creationId xmlns:p14="http://schemas.microsoft.com/office/powerpoint/2010/main" val="7046397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p:txBody>
          <a:bodyPr/>
          <a:lstStyle/>
          <a:p>
            <a:r>
              <a:rPr lang="fr-FR" dirty="0"/>
              <a:t>Niveau 1 : </a:t>
            </a:r>
            <a:r>
              <a:rPr lang="fr-FR" sz="4400" b="0" dirty="0"/>
              <a:t>💪ROBUSTEAM</a:t>
            </a:r>
            <a:r>
              <a:rPr lang="fr-FR" dirty="0"/>
              <a:t> en bref</a:t>
            </a:r>
          </a:p>
        </p:txBody>
      </p:sp>
      <p:pic>
        <p:nvPicPr>
          <p:cNvPr id="5" name="Espace réservé pour une image  4">
            <a:extLst>
              <a:ext uri="{FF2B5EF4-FFF2-40B4-BE49-F238E27FC236}">
                <a16:creationId xmlns:a16="http://schemas.microsoft.com/office/drawing/2014/main" id="{B24CA9A8-5526-4BE8-9123-C95DB4FF075D}"/>
              </a:ext>
            </a:extLst>
          </p:cNvPr>
          <p:cNvPicPr>
            <a:picLocks noGrp="1" noChangeAspect="1"/>
          </p:cNvPicPr>
          <p:nvPr>
            <p:ph type="pic" sz="quarter" idx="14"/>
          </p:nvPr>
        </p:nvPicPr>
        <p:blipFill>
          <a:blip r:embed="rId2" cstate="email">
            <a:extLst>
              <a:ext uri="{28A0092B-C50C-407E-A947-70E740481C1C}">
                <a14:useLocalDpi xmlns:a14="http://schemas.microsoft.com/office/drawing/2010/main"/>
              </a:ext>
              <a:ext uri="{837473B0-CC2E-450A-ABE3-18F120FF3D39}">
                <a1611:picAttrSrcUrl xmlns:a1611="http://schemas.microsoft.com/office/drawing/2016/11/main" r:id="rId3"/>
              </a:ext>
            </a:extLst>
          </a:blip>
          <a:srcRect/>
          <a:stretch>
            <a:fillRect/>
          </a:stretch>
        </p:blipFill>
        <p:spPr>
          <a:xfrm>
            <a:off x="7954954" y="1896990"/>
            <a:ext cx="3401376" cy="3357707"/>
          </a:xfrm>
        </p:spPr>
      </p:pic>
      <p:pic>
        <p:nvPicPr>
          <p:cNvPr id="4" name="Espace réservé pour une image  3" descr="Une image contenant jouet, poupée, automate&#10;&#10;Description générée automatiquement">
            <a:extLst>
              <a:ext uri="{FF2B5EF4-FFF2-40B4-BE49-F238E27FC236}">
                <a16:creationId xmlns:a16="http://schemas.microsoft.com/office/drawing/2014/main" id="{4ECA7A31-BACF-4CA0-BFFB-100307B30932}"/>
              </a:ext>
            </a:extLst>
          </p:cNvPr>
          <p:cNvPicPr>
            <a:picLocks noGrp="1" noChangeAspect="1"/>
          </p:cNvPicPr>
          <p:nvPr>
            <p:ph type="pic" sz="quarter" idx="15"/>
          </p:nvPr>
        </p:nvPicPr>
        <p:blipFill>
          <a:blip r:embed="rId4" cstate="email">
            <a:extLst>
              <a:ext uri="{28A0092B-C50C-407E-A947-70E740481C1C}">
                <a14:useLocalDpi xmlns:a14="http://schemas.microsoft.com/office/drawing/2010/main"/>
              </a:ext>
              <a:ext uri="{837473B0-CC2E-450A-ABE3-18F120FF3D39}">
                <a1611:picAttrSrcUrl xmlns:a1611="http://schemas.microsoft.com/office/drawing/2016/11/main" r:id="rId5"/>
              </a:ext>
            </a:extLst>
          </a:blip>
          <a:srcRect/>
          <a:stretch>
            <a:fillRect/>
          </a:stretch>
        </p:blipFill>
        <p:spPr>
          <a:xfrm>
            <a:off x="4352925" y="1897063"/>
            <a:ext cx="3402013" cy="3357562"/>
          </a:xfrm>
        </p:spPr>
      </p:pic>
      <p:sp>
        <p:nvSpPr>
          <p:cNvPr id="9" name="Espace réservé du texte 8">
            <a:extLst>
              <a:ext uri="{FF2B5EF4-FFF2-40B4-BE49-F238E27FC236}">
                <a16:creationId xmlns:a16="http://schemas.microsoft.com/office/drawing/2014/main" id="{CA1044E5-4A38-4A57-BEC6-02CD1F1AFC8B}"/>
              </a:ext>
            </a:extLst>
          </p:cNvPr>
          <p:cNvSpPr>
            <a:spLocks noGrp="1"/>
          </p:cNvSpPr>
          <p:nvPr>
            <p:ph type="body" sz="quarter" idx="16"/>
          </p:nvPr>
        </p:nvSpPr>
        <p:spPr/>
        <p:txBody>
          <a:bodyPr/>
          <a:lstStyle/>
          <a:p>
            <a:r>
              <a:rPr lang="fr-FR" sz="1200" dirty="0"/>
              <a:t>Les joueurs piochent des cartes qui racontent une situation de difficulté</a:t>
            </a:r>
          </a:p>
        </p:txBody>
      </p:sp>
      <p:sp>
        <p:nvSpPr>
          <p:cNvPr id="10" name="Espace réservé du texte 9">
            <a:extLst>
              <a:ext uri="{FF2B5EF4-FFF2-40B4-BE49-F238E27FC236}">
                <a16:creationId xmlns:a16="http://schemas.microsoft.com/office/drawing/2014/main" id="{D3A05F0F-47B8-4894-8D48-0C0F4C166E59}"/>
              </a:ext>
            </a:extLst>
          </p:cNvPr>
          <p:cNvSpPr>
            <a:spLocks noGrp="1"/>
          </p:cNvSpPr>
          <p:nvPr>
            <p:ph type="body" sz="quarter" idx="17"/>
          </p:nvPr>
        </p:nvSpPr>
        <p:spPr/>
        <p:txBody>
          <a:bodyPr/>
          <a:lstStyle/>
          <a:p>
            <a:r>
              <a:rPr lang="fr-FR" sz="1200" dirty="0"/>
              <a:t>En temps limité, une moitié de l’équipe (tirée au hasard) doit répondre à la situation et présenter la solution à l’autre moitié de l’équipe</a:t>
            </a:r>
          </a:p>
        </p:txBody>
      </p:sp>
      <p:sp>
        <p:nvSpPr>
          <p:cNvPr id="11" name="Espace réservé du texte 10">
            <a:extLst>
              <a:ext uri="{FF2B5EF4-FFF2-40B4-BE49-F238E27FC236}">
                <a16:creationId xmlns:a16="http://schemas.microsoft.com/office/drawing/2014/main" id="{C5D8558B-FF11-4A39-8795-6E2A831F942D}"/>
              </a:ext>
            </a:extLst>
          </p:cNvPr>
          <p:cNvSpPr>
            <a:spLocks noGrp="1"/>
          </p:cNvSpPr>
          <p:nvPr>
            <p:ph type="body" sz="quarter" idx="18"/>
          </p:nvPr>
        </p:nvSpPr>
        <p:spPr/>
        <p:txBody>
          <a:bodyPr/>
          <a:lstStyle/>
          <a:p>
            <a:r>
              <a:rPr lang="fr-FR" sz="1200" dirty="0"/>
              <a:t>L’autre moitié vote si oui ou non la solution proposée est convaincante. S’il y a majorité, les joueurs marquent un point.</a:t>
            </a:r>
          </a:p>
        </p:txBody>
      </p:sp>
      <p:grpSp>
        <p:nvGrpSpPr>
          <p:cNvPr id="15" name="Groupe 14">
            <a:extLst>
              <a:ext uri="{FF2B5EF4-FFF2-40B4-BE49-F238E27FC236}">
                <a16:creationId xmlns:a16="http://schemas.microsoft.com/office/drawing/2014/main" id="{7F008D2A-B535-42D4-AE75-28EA75D4218D}"/>
              </a:ext>
            </a:extLst>
          </p:cNvPr>
          <p:cNvGrpSpPr/>
          <p:nvPr/>
        </p:nvGrpSpPr>
        <p:grpSpPr>
          <a:xfrm>
            <a:off x="1514662" y="2190143"/>
            <a:ext cx="2064964" cy="2771401"/>
            <a:chOff x="6240524" y="2017450"/>
            <a:chExt cx="2361459" cy="3169328"/>
          </a:xfrm>
        </p:grpSpPr>
        <p:sp>
          <p:nvSpPr>
            <p:cNvPr id="16" name="Rectangle 15">
              <a:extLst>
                <a:ext uri="{FF2B5EF4-FFF2-40B4-BE49-F238E27FC236}">
                  <a16:creationId xmlns:a16="http://schemas.microsoft.com/office/drawing/2014/main" id="{2CFF2B28-BACD-43F6-918E-BCC384F118FD}"/>
                </a:ext>
              </a:extLst>
            </p:cNvPr>
            <p:cNvSpPr/>
            <p:nvPr/>
          </p:nvSpPr>
          <p:spPr>
            <a:xfrm>
              <a:off x="6240524" y="2017450"/>
              <a:ext cx="2361459" cy="3169328"/>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7" name="Rectangle 16">
              <a:extLst>
                <a:ext uri="{FF2B5EF4-FFF2-40B4-BE49-F238E27FC236}">
                  <a16:creationId xmlns:a16="http://schemas.microsoft.com/office/drawing/2014/main" id="{C2A4B19B-F0DF-4646-86E3-01009306D2AB}"/>
                </a:ext>
              </a:extLst>
            </p:cNvPr>
            <p:cNvSpPr/>
            <p:nvPr/>
          </p:nvSpPr>
          <p:spPr>
            <a:xfrm>
              <a:off x="6446927" y="2192784"/>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000" b="1" dirty="0">
                  <a:solidFill>
                    <a:srgbClr val="FF0000"/>
                  </a:solidFill>
                </a:rPr>
                <a:t>CRISE</a:t>
              </a:r>
            </a:p>
            <a:p>
              <a:pPr algn="ctr"/>
              <a:r>
                <a:rPr lang="fr-FR" sz="2000" b="1" dirty="0">
                  <a:solidFill>
                    <a:srgbClr val="FF0000"/>
                  </a:solidFill>
                </a:rPr>
                <a:t>🔥 🔥 </a:t>
              </a:r>
            </a:p>
            <a:p>
              <a:pPr algn="ctr"/>
              <a:endParaRPr lang="fr-FR" sz="2000" b="1" dirty="0">
                <a:solidFill>
                  <a:srgbClr val="FF0000"/>
                </a:solidFill>
              </a:endParaRPr>
            </a:p>
            <a:p>
              <a:pPr algn="ctr"/>
              <a:r>
                <a:rPr lang="fr-FR" sz="1100" dirty="0">
                  <a:solidFill>
                    <a:srgbClr val="FF0000"/>
                  </a:solidFill>
                </a:rPr>
                <a:t>En pleine visioconférence d’équipe, vous assistez à un malaise de </a:t>
              </a:r>
              <a:r>
                <a:rPr lang="fr-FR" sz="1100" b="1" dirty="0">
                  <a:solidFill>
                    <a:srgbClr val="ED7D31"/>
                  </a:solidFill>
                </a:rPr>
                <a:t>{MEMBRE} </a:t>
              </a:r>
              <a:r>
                <a:rPr lang="fr-FR" sz="1100" dirty="0">
                  <a:solidFill>
                    <a:srgbClr val="FF0000"/>
                  </a:solidFill>
                </a:rPr>
                <a:t>en direct, qui s’évanouit. A votre connaissance, il/elle est seul(e) chez lui/elle aujourd’hui.</a:t>
              </a:r>
            </a:p>
            <a:p>
              <a:pPr algn="ctr"/>
              <a:r>
                <a:rPr lang="fr-FR" sz="1100" dirty="0">
                  <a:solidFill>
                    <a:srgbClr val="FF0000"/>
                  </a:solidFill>
                </a:rPr>
                <a:t>Qu’allez-vous faire ?</a:t>
              </a:r>
            </a:p>
          </p:txBody>
        </p:sp>
        <p:pic>
          <p:nvPicPr>
            <p:cNvPr id="18" name="Image 17">
              <a:extLst>
                <a:ext uri="{FF2B5EF4-FFF2-40B4-BE49-F238E27FC236}">
                  <a16:creationId xmlns:a16="http://schemas.microsoft.com/office/drawing/2014/main" id="{4ADA6774-38AF-4E17-B120-F2C3356440F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60752" y="4713878"/>
              <a:ext cx="285360" cy="275372"/>
            </a:xfrm>
            <a:prstGeom prst="rect">
              <a:avLst/>
            </a:prstGeom>
          </p:spPr>
        </p:pic>
      </p:grpSp>
    </p:spTree>
    <p:extLst>
      <p:ext uri="{BB962C8B-B14F-4D97-AF65-F5344CB8AC3E}">
        <p14:creationId xmlns:p14="http://schemas.microsoft.com/office/powerpoint/2010/main" val="206778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B32EE7-F3E3-4CC6-B739-FDCD7529653F}"/>
              </a:ext>
            </a:extLst>
          </p:cNvPr>
          <p:cNvSpPr>
            <a:spLocks noGrp="1"/>
          </p:cNvSpPr>
          <p:nvPr>
            <p:ph type="title"/>
          </p:nvPr>
        </p:nvSpPr>
        <p:spPr/>
        <p:txBody>
          <a:bodyPr/>
          <a:lstStyle/>
          <a:p>
            <a:r>
              <a:rPr lang="en-US" b="1" dirty="0"/>
              <a:t>PRÉPARATION DU JEU</a:t>
            </a:r>
          </a:p>
        </p:txBody>
      </p:sp>
      <p:grpSp>
        <p:nvGrpSpPr>
          <p:cNvPr id="35" name="Groupe 34">
            <a:extLst>
              <a:ext uri="{FF2B5EF4-FFF2-40B4-BE49-F238E27FC236}">
                <a16:creationId xmlns:a16="http://schemas.microsoft.com/office/drawing/2014/main" id="{786A93F5-E0C4-46A1-8362-40D0FE3862A3}"/>
              </a:ext>
            </a:extLst>
          </p:cNvPr>
          <p:cNvGrpSpPr/>
          <p:nvPr/>
        </p:nvGrpSpPr>
        <p:grpSpPr>
          <a:xfrm rot="20565582">
            <a:off x="1201497" y="1690688"/>
            <a:ext cx="1014206" cy="1361171"/>
            <a:chOff x="3240719" y="1666878"/>
            <a:chExt cx="1180729" cy="1584663"/>
          </a:xfrm>
        </p:grpSpPr>
        <p:grpSp>
          <p:nvGrpSpPr>
            <p:cNvPr id="22" name="Groupe 21">
              <a:extLst>
                <a:ext uri="{FF2B5EF4-FFF2-40B4-BE49-F238E27FC236}">
                  <a16:creationId xmlns:a16="http://schemas.microsoft.com/office/drawing/2014/main" id="{47094CB5-5A09-4E21-867C-D2B2A9662B93}"/>
                </a:ext>
              </a:extLst>
            </p:cNvPr>
            <p:cNvGrpSpPr/>
            <p:nvPr/>
          </p:nvGrpSpPr>
          <p:grpSpPr>
            <a:xfrm>
              <a:off x="3240719" y="1666878"/>
              <a:ext cx="1180729" cy="1584663"/>
              <a:chOff x="3640213" y="1580574"/>
              <a:chExt cx="2361459" cy="3169328"/>
            </a:xfrm>
          </p:grpSpPr>
          <p:sp>
            <p:nvSpPr>
              <p:cNvPr id="20" name="Rectangle 19">
                <a:extLst>
                  <a:ext uri="{FF2B5EF4-FFF2-40B4-BE49-F238E27FC236}">
                    <a16:creationId xmlns:a16="http://schemas.microsoft.com/office/drawing/2014/main" id="{3C8CFAE9-79A0-4489-B899-24C435578EAA}"/>
                  </a:ext>
                </a:extLst>
              </p:cNvPr>
              <p:cNvSpPr/>
              <p:nvPr/>
            </p:nvSpPr>
            <p:spPr>
              <a:xfrm>
                <a:off x="3640213" y="1580574"/>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rPr>
                  <a:t>MEMBRE</a:t>
                </a:r>
                <a:endParaRPr lang="en-US" sz="1400" b="1" dirty="0">
                  <a:solidFill>
                    <a:schemeClr val="bg1"/>
                  </a:solidFill>
                </a:endParaRPr>
              </a:p>
            </p:txBody>
          </p:sp>
          <p:sp>
            <p:nvSpPr>
              <p:cNvPr id="21" name="Rectangle 20">
                <a:extLst>
                  <a:ext uri="{FF2B5EF4-FFF2-40B4-BE49-F238E27FC236}">
                    <a16:creationId xmlns:a16="http://schemas.microsoft.com/office/drawing/2014/main" id="{11BDFFFA-E043-43AB-A1B4-AD99750B33DF}"/>
                  </a:ext>
                </a:extLst>
              </p:cNvPr>
              <p:cNvSpPr/>
              <p:nvPr/>
            </p:nvSpPr>
            <p:spPr>
              <a:xfrm>
                <a:off x="3861415" y="1755908"/>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dirty="0">
                    <a:solidFill>
                      <a:srgbClr val="ED7D31"/>
                    </a:solidFill>
                  </a:rPr>
                  <a:t>MEMBRE</a:t>
                </a:r>
              </a:p>
              <a:p>
                <a:pPr algn="ctr"/>
                <a:endParaRPr lang="fr-FR" sz="1050" b="1" dirty="0">
                  <a:solidFill>
                    <a:srgbClr val="0683AA"/>
                  </a:solidFill>
                </a:endParaRPr>
              </a:p>
              <a:p>
                <a:pPr algn="ctr"/>
                <a:r>
                  <a:rPr lang="fr-FR" sz="1050" b="1" dirty="0">
                    <a:solidFill>
                      <a:srgbClr val="ED7D31"/>
                    </a:solidFill>
                  </a:rPr>
                  <a:t>……………..</a:t>
                </a:r>
              </a:p>
              <a:p>
                <a:pPr algn="ctr"/>
                <a:endParaRPr lang="fr-FR" sz="1050" b="1" dirty="0">
                  <a:solidFill>
                    <a:srgbClr val="ED7D31"/>
                  </a:solidFill>
                </a:endParaRPr>
              </a:p>
              <a:p>
                <a:pPr algn="ctr"/>
                <a:r>
                  <a:rPr lang="fr-FR" sz="600" dirty="0">
                    <a:solidFill>
                      <a:srgbClr val="ED7D31"/>
                    </a:solidFill>
                  </a:rPr>
                  <a:t>Renseignez sur cette carte le prénom d’un(e) membre réel(-le) de l’équipe.  </a:t>
                </a:r>
              </a:p>
            </p:txBody>
          </p:sp>
        </p:grpSp>
        <p:sp>
          <p:nvSpPr>
            <p:cNvPr id="24" name="ZoneTexte 23">
              <a:extLst>
                <a:ext uri="{FF2B5EF4-FFF2-40B4-BE49-F238E27FC236}">
                  <a16:creationId xmlns:a16="http://schemas.microsoft.com/office/drawing/2014/main" id="{BADE88A4-D3E8-4FD8-93ED-7C84E59F8670}"/>
                </a:ext>
              </a:extLst>
            </p:cNvPr>
            <p:cNvSpPr txBox="1"/>
            <p:nvPr/>
          </p:nvSpPr>
          <p:spPr>
            <a:xfrm>
              <a:off x="3522040" y="2083900"/>
              <a:ext cx="618086" cy="465804"/>
            </a:xfrm>
            <a:prstGeom prst="rect">
              <a:avLst/>
            </a:prstGeom>
            <a:noFill/>
          </p:spPr>
          <p:txBody>
            <a:bodyPr wrap="none" rtlCol="0">
              <a:spAutoFit/>
            </a:bodyPr>
            <a:lstStyle/>
            <a:p>
              <a:r>
                <a:rPr lang="en-US" sz="2000" dirty="0">
                  <a:latin typeface="Freestyle Script" panose="030804020302050B0404" pitchFamily="66" charset="0"/>
                </a:rPr>
                <a:t>Katia</a:t>
              </a:r>
            </a:p>
          </p:txBody>
        </p:sp>
      </p:grpSp>
      <p:grpSp>
        <p:nvGrpSpPr>
          <p:cNvPr id="29" name="Groupe 28">
            <a:extLst>
              <a:ext uri="{FF2B5EF4-FFF2-40B4-BE49-F238E27FC236}">
                <a16:creationId xmlns:a16="http://schemas.microsoft.com/office/drawing/2014/main" id="{93C72B96-32BF-49D1-9AB0-6FD79ADD2EC3}"/>
              </a:ext>
            </a:extLst>
          </p:cNvPr>
          <p:cNvGrpSpPr/>
          <p:nvPr/>
        </p:nvGrpSpPr>
        <p:grpSpPr>
          <a:xfrm rot="1276052">
            <a:off x="1823717" y="1690993"/>
            <a:ext cx="1014206" cy="1361171"/>
            <a:chOff x="3889528" y="2025776"/>
            <a:chExt cx="1180729" cy="1584663"/>
          </a:xfrm>
        </p:grpSpPr>
        <p:grpSp>
          <p:nvGrpSpPr>
            <p:cNvPr id="25" name="Groupe 24">
              <a:extLst>
                <a:ext uri="{FF2B5EF4-FFF2-40B4-BE49-F238E27FC236}">
                  <a16:creationId xmlns:a16="http://schemas.microsoft.com/office/drawing/2014/main" id="{B64CC1A2-BA4F-4E40-91DF-AC4EEA5F1147}"/>
                </a:ext>
              </a:extLst>
            </p:cNvPr>
            <p:cNvGrpSpPr/>
            <p:nvPr/>
          </p:nvGrpSpPr>
          <p:grpSpPr>
            <a:xfrm>
              <a:off x="3889528" y="2025776"/>
              <a:ext cx="1180729" cy="1584663"/>
              <a:chOff x="3640213" y="1580574"/>
              <a:chExt cx="2361459" cy="3169328"/>
            </a:xfrm>
          </p:grpSpPr>
          <p:sp>
            <p:nvSpPr>
              <p:cNvPr id="26" name="Rectangle 25">
                <a:extLst>
                  <a:ext uri="{FF2B5EF4-FFF2-40B4-BE49-F238E27FC236}">
                    <a16:creationId xmlns:a16="http://schemas.microsoft.com/office/drawing/2014/main" id="{CB14E84F-3324-498B-AF18-833EBC942135}"/>
                  </a:ext>
                </a:extLst>
              </p:cNvPr>
              <p:cNvSpPr/>
              <p:nvPr/>
            </p:nvSpPr>
            <p:spPr>
              <a:xfrm>
                <a:off x="3640213" y="1580574"/>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rPr>
                  <a:t>MEMBRE</a:t>
                </a:r>
                <a:endParaRPr lang="en-US" sz="1400" b="1" dirty="0">
                  <a:solidFill>
                    <a:schemeClr val="bg1"/>
                  </a:solidFill>
                </a:endParaRPr>
              </a:p>
            </p:txBody>
          </p:sp>
          <p:sp>
            <p:nvSpPr>
              <p:cNvPr id="27" name="Rectangle 26">
                <a:extLst>
                  <a:ext uri="{FF2B5EF4-FFF2-40B4-BE49-F238E27FC236}">
                    <a16:creationId xmlns:a16="http://schemas.microsoft.com/office/drawing/2014/main" id="{4AF6AAA2-3130-42B5-ABBE-5ED586EBE506}"/>
                  </a:ext>
                </a:extLst>
              </p:cNvPr>
              <p:cNvSpPr/>
              <p:nvPr/>
            </p:nvSpPr>
            <p:spPr>
              <a:xfrm>
                <a:off x="3861415" y="1755908"/>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dirty="0">
                    <a:solidFill>
                      <a:srgbClr val="ED7D31"/>
                    </a:solidFill>
                  </a:rPr>
                  <a:t>MEMBRE</a:t>
                </a:r>
              </a:p>
              <a:p>
                <a:pPr algn="ctr"/>
                <a:endParaRPr lang="fr-FR" sz="1050" b="1" dirty="0">
                  <a:solidFill>
                    <a:srgbClr val="0683AA"/>
                  </a:solidFill>
                </a:endParaRPr>
              </a:p>
              <a:p>
                <a:pPr algn="ctr"/>
                <a:r>
                  <a:rPr lang="fr-FR" sz="1050" b="1" dirty="0">
                    <a:solidFill>
                      <a:srgbClr val="ED7D31"/>
                    </a:solidFill>
                  </a:rPr>
                  <a:t>……………..</a:t>
                </a:r>
              </a:p>
              <a:p>
                <a:pPr algn="ctr"/>
                <a:endParaRPr lang="fr-FR" sz="1050" b="1" dirty="0">
                  <a:solidFill>
                    <a:srgbClr val="ED7D31"/>
                  </a:solidFill>
                </a:endParaRPr>
              </a:p>
              <a:p>
                <a:pPr algn="ctr"/>
                <a:r>
                  <a:rPr lang="fr-FR" sz="600" dirty="0">
                    <a:solidFill>
                      <a:srgbClr val="ED7D31"/>
                    </a:solidFill>
                  </a:rPr>
                  <a:t>Renseignez sur cette carte le prénom d’un(e) membre réel(-le) de l’équipe.  </a:t>
                </a:r>
              </a:p>
            </p:txBody>
          </p:sp>
        </p:grpSp>
        <p:sp>
          <p:nvSpPr>
            <p:cNvPr id="28" name="ZoneTexte 27">
              <a:extLst>
                <a:ext uri="{FF2B5EF4-FFF2-40B4-BE49-F238E27FC236}">
                  <a16:creationId xmlns:a16="http://schemas.microsoft.com/office/drawing/2014/main" id="{EF0EBFA4-82BA-450A-BBA2-913D16FFB3FB}"/>
                </a:ext>
              </a:extLst>
            </p:cNvPr>
            <p:cNvSpPr txBox="1"/>
            <p:nvPr/>
          </p:nvSpPr>
          <p:spPr>
            <a:xfrm>
              <a:off x="4147523" y="2442798"/>
              <a:ext cx="664741" cy="465804"/>
            </a:xfrm>
            <a:prstGeom prst="rect">
              <a:avLst/>
            </a:prstGeom>
            <a:noFill/>
          </p:spPr>
          <p:txBody>
            <a:bodyPr wrap="none" rtlCol="0">
              <a:spAutoFit/>
            </a:bodyPr>
            <a:lstStyle/>
            <a:p>
              <a:r>
                <a:rPr lang="en-US" sz="2000" dirty="0">
                  <a:latin typeface="Freestyle Script" panose="030804020302050B0404" pitchFamily="66" charset="0"/>
                </a:rPr>
                <a:t>Bruno</a:t>
              </a:r>
            </a:p>
          </p:txBody>
        </p:sp>
      </p:grpSp>
      <p:grpSp>
        <p:nvGrpSpPr>
          <p:cNvPr id="30" name="Groupe 29">
            <a:extLst>
              <a:ext uri="{FF2B5EF4-FFF2-40B4-BE49-F238E27FC236}">
                <a16:creationId xmlns:a16="http://schemas.microsoft.com/office/drawing/2014/main" id="{2570C5D8-30F7-4367-8865-3883B01D1480}"/>
              </a:ext>
            </a:extLst>
          </p:cNvPr>
          <p:cNvGrpSpPr/>
          <p:nvPr/>
        </p:nvGrpSpPr>
        <p:grpSpPr>
          <a:xfrm rot="2314973">
            <a:off x="2451669" y="1959611"/>
            <a:ext cx="1014206" cy="1361172"/>
            <a:chOff x="3889528" y="2025776"/>
            <a:chExt cx="1180729" cy="1584663"/>
          </a:xfrm>
        </p:grpSpPr>
        <p:grpSp>
          <p:nvGrpSpPr>
            <p:cNvPr id="31" name="Groupe 30">
              <a:extLst>
                <a:ext uri="{FF2B5EF4-FFF2-40B4-BE49-F238E27FC236}">
                  <a16:creationId xmlns:a16="http://schemas.microsoft.com/office/drawing/2014/main" id="{C104F7E9-FB3C-4D45-812F-17BE3FD5D03C}"/>
                </a:ext>
              </a:extLst>
            </p:cNvPr>
            <p:cNvGrpSpPr/>
            <p:nvPr/>
          </p:nvGrpSpPr>
          <p:grpSpPr>
            <a:xfrm>
              <a:off x="3889528" y="2025776"/>
              <a:ext cx="1180729" cy="1584663"/>
              <a:chOff x="3640213" y="1580574"/>
              <a:chExt cx="2361459" cy="3169328"/>
            </a:xfrm>
          </p:grpSpPr>
          <p:sp>
            <p:nvSpPr>
              <p:cNvPr id="33" name="Rectangle 32">
                <a:extLst>
                  <a:ext uri="{FF2B5EF4-FFF2-40B4-BE49-F238E27FC236}">
                    <a16:creationId xmlns:a16="http://schemas.microsoft.com/office/drawing/2014/main" id="{EA832D43-E816-4085-9E11-5AE9668C106E}"/>
                  </a:ext>
                </a:extLst>
              </p:cNvPr>
              <p:cNvSpPr/>
              <p:nvPr/>
            </p:nvSpPr>
            <p:spPr>
              <a:xfrm>
                <a:off x="3640213" y="1580574"/>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chemeClr val="bg1"/>
                    </a:solidFill>
                  </a:rPr>
                  <a:t>MEMBRE</a:t>
                </a:r>
                <a:endParaRPr lang="en-US" sz="1400" b="1" dirty="0">
                  <a:solidFill>
                    <a:schemeClr val="bg1"/>
                  </a:solidFill>
                </a:endParaRPr>
              </a:p>
            </p:txBody>
          </p:sp>
          <p:sp>
            <p:nvSpPr>
              <p:cNvPr id="34" name="Rectangle 33">
                <a:extLst>
                  <a:ext uri="{FF2B5EF4-FFF2-40B4-BE49-F238E27FC236}">
                    <a16:creationId xmlns:a16="http://schemas.microsoft.com/office/drawing/2014/main" id="{D452064C-B7DD-4705-95DD-2CB3DFC089DD}"/>
                  </a:ext>
                </a:extLst>
              </p:cNvPr>
              <p:cNvSpPr/>
              <p:nvPr/>
            </p:nvSpPr>
            <p:spPr>
              <a:xfrm>
                <a:off x="3861415" y="1755908"/>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dirty="0">
                    <a:solidFill>
                      <a:srgbClr val="ED7D31"/>
                    </a:solidFill>
                  </a:rPr>
                  <a:t>MEMBRE</a:t>
                </a:r>
              </a:p>
              <a:p>
                <a:pPr algn="ctr"/>
                <a:endParaRPr lang="fr-FR" sz="1050" b="1" dirty="0">
                  <a:solidFill>
                    <a:srgbClr val="0683AA"/>
                  </a:solidFill>
                </a:endParaRPr>
              </a:p>
              <a:p>
                <a:pPr algn="ctr"/>
                <a:r>
                  <a:rPr lang="fr-FR" sz="1050" b="1" dirty="0">
                    <a:solidFill>
                      <a:srgbClr val="ED7D31"/>
                    </a:solidFill>
                  </a:rPr>
                  <a:t>……………..</a:t>
                </a:r>
              </a:p>
              <a:p>
                <a:pPr algn="ctr"/>
                <a:endParaRPr lang="fr-FR" sz="1050" b="1" dirty="0">
                  <a:solidFill>
                    <a:srgbClr val="ED7D31"/>
                  </a:solidFill>
                </a:endParaRPr>
              </a:p>
              <a:p>
                <a:pPr algn="ctr"/>
                <a:r>
                  <a:rPr lang="fr-FR" sz="600" dirty="0">
                    <a:solidFill>
                      <a:srgbClr val="ED7D31"/>
                    </a:solidFill>
                  </a:rPr>
                  <a:t>Renseignez sur cette carte le prénom d’un(e) membre réel(-le) de l’équipe.  </a:t>
                </a:r>
              </a:p>
            </p:txBody>
          </p:sp>
        </p:grpSp>
        <p:sp>
          <p:nvSpPr>
            <p:cNvPr id="32" name="ZoneTexte 31">
              <a:extLst>
                <a:ext uri="{FF2B5EF4-FFF2-40B4-BE49-F238E27FC236}">
                  <a16:creationId xmlns:a16="http://schemas.microsoft.com/office/drawing/2014/main" id="{076E3B01-207E-4885-9E86-3A2D0B86C4E1}"/>
                </a:ext>
              </a:extLst>
            </p:cNvPr>
            <p:cNvSpPr txBox="1"/>
            <p:nvPr/>
          </p:nvSpPr>
          <p:spPr>
            <a:xfrm>
              <a:off x="4196043" y="2442799"/>
              <a:ext cx="567699" cy="465804"/>
            </a:xfrm>
            <a:prstGeom prst="rect">
              <a:avLst/>
            </a:prstGeom>
            <a:noFill/>
          </p:spPr>
          <p:txBody>
            <a:bodyPr wrap="none" rtlCol="0">
              <a:spAutoFit/>
            </a:bodyPr>
            <a:lstStyle/>
            <a:p>
              <a:r>
                <a:rPr lang="en-US" sz="2000" dirty="0">
                  <a:latin typeface="Freestyle Script" panose="030804020302050B0404" pitchFamily="66" charset="0"/>
                </a:rPr>
                <a:t>Alex</a:t>
              </a:r>
            </a:p>
          </p:txBody>
        </p:sp>
      </p:grpSp>
      <p:sp>
        <p:nvSpPr>
          <p:cNvPr id="36" name="ZoneTexte 35">
            <a:extLst>
              <a:ext uri="{FF2B5EF4-FFF2-40B4-BE49-F238E27FC236}">
                <a16:creationId xmlns:a16="http://schemas.microsoft.com/office/drawing/2014/main" id="{77A8C286-0103-4E75-86B2-02A5BB523BB0}"/>
              </a:ext>
            </a:extLst>
          </p:cNvPr>
          <p:cNvSpPr txBox="1"/>
          <p:nvPr/>
        </p:nvSpPr>
        <p:spPr>
          <a:xfrm>
            <a:off x="838794" y="5355059"/>
            <a:ext cx="2538740" cy="1169551"/>
          </a:xfrm>
          <a:prstGeom prst="rect">
            <a:avLst/>
          </a:prstGeom>
          <a:solidFill>
            <a:schemeClr val="bg1">
              <a:lumMod val="95000"/>
            </a:schemeClr>
          </a:solidFill>
        </p:spPr>
        <p:txBody>
          <a:bodyPr wrap="square" rtlCol="0">
            <a:spAutoFit/>
          </a:bodyPr>
          <a:lstStyle/>
          <a:p>
            <a:pPr algn="ctr"/>
            <a:r>
              <a:rPr lang="fr-FR" sz="1400" dirty="0"/>
              <a:t>1. Renseigner des cartes </a:t>
            </a:r>
            <a:r>
              <a:rPr lang="fr-FR" sz="1400" b="1" dirty="0">
                <a:solidFill>
                  <a:srgbClr val="ED7D31"/>
                </a:solidFill>
              </a:rPr>
              <a:t>MEMBRE</a:t>
            </a:r>
            <a:r>
              <a:rPr lang="fr-FR" sz="1400" dirty="0"/>
              <a:t> avec les prénoms réels, et faire une pile face </a:t>
            </a:r>
            <a:r>
              <a:rPr lang="fr-FR" sz="1400" i="1" dirty="0"/>
              <a:t>visible</a:t>
            </a:r>
            <a:r>
              <a:rPr lang="fr-FR" sz="1400" dirty="0"/>
              <a:t> (autant que de personnes dans l’équipe réelle)</a:t>
            </a:r>
          </a:p>
        </p:txBody>
      </p:sp>
      <p:sp>
        <p:nvSpPr>
          <p:cNvPr id="38" name="Flèche : bas 37">
            <a:extLst>
              <a:ext uri="{FF2B5EF4-FFF2-40B4-BE49-F238E27FC236}">
                <a16:creationId xmlns:a16="http://schemas.microsoft.com/office/drawing/2014/main" id="{2FFFC4A9-3195-4BBF-98F2-C311CCA44501}"/>
              </a:ext>
            </a:extLst>
          </p:cNvPr>
          <p:cNvSpPr/>
          <p:nvPr/>
        </p:nvSpPr>
        <p:spPr>
          <a:xfrm>
            <a:off x="1889098" y="3145261"/>
            <a:ext cx="550052" cy="440403"/>
          </a:xfrm>
          <a:prstGeom prst="down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471AFDAA-FC4F-4961-9328-743A73D6DE2D}"/>
              </a:ext>
            </a:extLst>
          </p:cNvPr>
          <p:cNvSpPr/>
          <p:nvPr/>
        </p:nvSpPr>
        <p:spPr>
          <a:xfrm>
            <a:off x="1511259" y="3656375"/>
            <a:ext cx="985105" cy="1322115"/>
          </a:xfrm>
          <a:prstGeom prst="rect">
            <a:avLst/>
          </a:prstGeom>
          <a:solidFill>
            <a:srgbClr val="ED7D3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bg1"/>
                </a:solidFill>
              </a:rPr>
              <a:t>MEMBRE</a:t>
            </a:r>
            <a:endParaRPr lang="en-US" sz="1200" b="1" dirty="0">
              <a:solidFill>
                <a:schemeClr val="bg1"/>
              </a:solidFill>
            </a:endParaRPr>
          </a:p>
        </p:txBody>
      </p:sp>
      <p:sp>
        <p:nvSpPr>
          <p:cNvPr id="40" name="Rectangle 39">
            <a:extLst>
              <a:ext uri="{FF2B5EF4-FFF2-40B4-BE49-F238E27FC236}">
                <a16:creationId xmlns:a16="http://schemas.microsoft.com/office/drawing/2014/main" id="{EBF1E477-6A9A-4E99-9EF9-1EB3662C2624}"/>
              </a:ext>
            </a:extLst>
          </p:cNvPr>
          <p:cNvSpPr/>
          <p:nvPr/>
        </p:nvSpPr>
        <p:spPr>
          <a:xfrm>
            <a:off x="1562641" y="3698493"/>
            <a:ext cx="985105" cy="1322115"/>
          </a:xfrm>
          <a:prstGeom prst="rect">
            <a:avLst/>
          </a:prstGeom>
          <a:solidFill>
            <a:srgbClr val="ED7D3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bg1"/>
                </a:solidFill>
              </a:rPr>
              <a:t>MEMBRE</a:t>
            </a:r>
            <a:endParaRPr lang="en-US" sz="1200" b="1" dirty="0">
              <a:solidFill>
                <a:schemeClr val="bg1"/>
              </a:solidFill>
            </a:endParaRPr>
          </a:p>
        </p:txBody>
      </p:sp>
      <p:sp>
        <p:nvSpPr>
          <p:cNvPr id="41" name="Rectangle 40">
            <a:extLst>
              <a:ext uri="{FF2B5EF4-FFF2-40B4-BE49-F238E27FC236}">
                <a16:creationId xmlns:a16="http://schemas.microsoft.com/office/drawing/2014/main" id="{B0CB7A4D-3AE5-46A6-9A60-F4E2CDBBAF18}"/>
              </a:ext>
            </a:extLst>
          </p:cNvPr>
          <p:cNvSpPr/>
          <p:nvPr/>
        </p:nvSpPr>
        <p:spPr>
          <a:xfrm>
            <a:off x="1638754" y="3763192"/>
            <a:ext cx="985105" cy="1322115"/>
          </a:xfrm>
          <a:prstGeom prst="rect">
            <a:avLst/>
          </a:prstGeom>
          <a:solidFill>
            <a:srgbClr val="ED7D3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bg1"/>
                </a:solidFill>
              </a:rPr>
              <a:t>MEMBRE</a:t>
            </a:r>
            <a:endParaRPr lang="en-US" sz="1200" b="1" dirty="0">
              <a:solidFill>
                <a:schemeClr val="bg1"/>
              </a:solidFill>
            </a:endParaRPr>
          </a:p>
        </p:txBody>
      </p:sp>
      <p:sp>
        <p:nvSpPr>
          <p:cNvPr id="42" name="Rectangle 41">
            <a:extLst>
              <a:ext uri="{FF2B5EF4-FFF2-40B4-BE49-F238E27FC236}">
                <a16:creationId xmlns:a16="http://schemas.microsoft.com/office/drawing/2014/main" id="{C43ACB17-6886-429D-9EEC-302F532D5827}"/>
              </a:ext>
            </a:extLst>
          </p:cNvPr>
          <p:cNvSpPr/>
          <p:nvPr/>
        </p:nvSpPr>
        <p:spPr>
          <a:xfrm>
            <a:off x="1714867" y="3827204"/>
            <a:ext cx="985105" cy="1322115"/>
          </a:xfrm>
          <a:prstGeom prst="rect">
            <a:avLst/>
          </a:prstGeom>
          <a:solidFill>
            <a:srgbClr val="ED7D3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bg1"/>
                </a:solidFill>
              </a:rPr>
              <a:t>MEMBRE</a:t>
            </a:r>
            <a:endParaRPr lang="en-US" sz="1200" b="1" dirty="0">
              <a:solidFill>
                <a:schemeClr val="bg1"/>
              </a:solidFill>
            </a:endParaRPr>
          </a:p>
        </p:txBody>
      </p:sp>
      <p:sp>
        <p:nvSpPr>
          <p:cNvPr id="43" name="Rectangle 42">
            <a:extLst>
              <a:ext uri="{FF2B5EF4-FFF2-40B4-BE49-F238E27FC236}">
                <a16:creationId xmlns:a16="http://schemas.microsoft.com/office/drawing/2014/main" id="{C4806111-9902-4A5F-ABC6-C777DE25E00F}"/>
              </a:ext>
            </a:extLst>
          </p:cNvPr>
          <p:cNvSpPr/>
          <p:nvPr/>
        </p:nvSpPr>
        <p:spPr>
          <a:xfrm>
            <a:off x="1796519" y="3886245"/>
            <a:ext cx="985105" cy="1322115"/>
          </a:xfrm>
          <a:prstGeom prst="rect">
            <a:avLst/>
          </a:prstGeom>
          <a:solidFill>
            <a:srgbClr val="ED7D3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200" b="1" dirty="0">
                <a:solidFill>
                  <a:schemeClr val="bg1"/>
                </a:solidFill>
              </a:rPr>
              <a:t>MEMBRE</a:t>
            </a:r>
            <a:endParaRPr lang="en-US" sz="1200" b="1" dirty="0">
              <a:solidFill>
                <a:schemeClr val="bg1"/>
              </a:solidFill>
            </a:endParaRPr>
          </a:p>
        </p:txBody>
      </p:sp>
      <p:sp>
        <p:nvSpPr>
          <p:cNvPr id="37" name="ZoneTexte 36">
            <a:extLst>
              <a:ext uri="{FF2B5EF4-FFF2-40B4-BE49-F238E27FC236}">
                <a16:creationId xmlns:a16="http://schemas.microsoft.com/office/drawing/2014/main" id="{81FABDB2-5F36-43A0-A4BA-857C00FB157E}"/>
              </a:ext>
            </a:extLst>
          </p:cNvPr>
          <p:cNvSpPr txBox="1"/>
          <p:nvPr/>
        </p:nvSpPr>
        <p:spPr>
          <a:xfrm>
            <a:off x="4632818" y="5355059"/>
            <a:ext cx="2633635" cy="1169551"/>
          </a:xfrm>
          <a:prstGeom prst="rect">
            <a:avLst/>
          </a:prstGeom>
          <a:solidFill>
            <a:schemeClr val="bg1">
              <a:lumMod val="95000"/>
            </a:schemeClr>
          </a:solidFill>
        </p:spPr>
        <p:txBody>
          <a:bodyPr wrap="square" rtlCol="0">
            <a:spAutoFit/>
          </a:bodyPr>
          <a:lstStyle/>
          <a:p>
            <a:pPr algn="ctr"/>
            <a:r>
              <a:rPr lang="fr-FR" sz="1400" dirty="0"/>
              <a:t>2. Renseigner des cartes </a:t>
            </a:r>
            <a:r>
              <a:rPr lang="fr-FR" sz="1400" b="1" dirty="0"/>
              <a:t>PARTIES PRENANTES</a:t>
            </a:r>
            <a:r>
              <a:rPr lang="fr-FR" sz="1400" dirty="0"/>
              <a:t> (clients, partenaires, hiérarchie, fournisseurs, …) et faire une pile face </a:t>
            </a:r>
            <a:r>
              <a:rPr lang="fr-FR" sz="1400" i="1" dirty="0"/>
              <a:t>visible</a:t>
            </a:r>
            <a:r>
              <a:rPr lang="fr-FR" sz="1400" dirty="0"/>
              <a:t> (autant que vous voulez) </a:t>
            </a:r>
          </a:p>
        </p:txBody>
      </p:sp>
      <p:grpSp>
        <p:nvGrpSpPr>
          <p:cNvPr id="49" name="Groupe 48">
            <a:extLst>
              <a:ext uri="{FF2B5EF4-FFF2-40B4-BE49-F238E27FC236}">
                <a16:creationId xmlns:a16="http://schemas.microsoft.com/office/drawing/2014/main" id="{948EC812-D15A-4F58-BEC9-F5F0D813E2C5}"/>
              </a:ext>
            </a:extLst>
          </p:cNvPr>
          <p:cNvGrpSpPr/>
          <p:nvPr/>
        </p:nvGrpSpPr>
        <p:grpSpPr>
          <a:xfrm rot="20426987">
            <a:off x="4620596" y="1582428"/>
            <a:ext cx="1100152" cy="1476521"/>
            <a:chOff x="6459745" y="2018306"/>
            <a:chExt cx="1114393" cy="1495634"/>
          </a:xfrm>
        </p:grpSpPr>
        <p:grpSp>
          <p:nvGrpSpPr>
            <p:cNvPr id="47" name="Groupe 46">
              <a:extLst>
                <a:ext uri="{FF2B5EF4-FFF2-40B4-BE49-F238E27FC236}">
                  <a16:creationId xmlns:a16="http://schemas.microsoft.com/office/drawing/2014/main" id="{B5C8B264-7866-4B66-8A97-E6FC289BF0CD}"/>
                </a:ext>
              </a:extLst>
            </p:cNvPr>
            <p:cNvGrpSpPr/>
            <p:nvPr/>
          </p:nvGrpSpPr>
          <p:grpSpPr>
            <a:xfrm>
              <a:off x="6459745" y="2018306"/>
              <a:ext cx="1114393" cy="1495634"/>
              <a:chOff x="6063954" y="1259012"/>
              <a:chExt cx="2361459" cy="3169328"/>
            </a:xfrm>
          </p:grpSpPr>
          <p:sp>
            <p:nvSpPr>
              <p:cNvPr id="45" name="Rectangle 44">
                <a:extLst>
                  <a:ext uri="{FF2B5EF4-FFF2-40B4-BE49-F238E27FC236}">
                    <a16:creationId xmlns:a16="http://schemas.microsoft.com/office/drawing/2014/main" id="{D6CF5C0F-5DAD-4F58-847C-9604EE20CCD2}"/>
                  </a:ext>
                </a:extLst>
              </p:cNvPr>
              <p:cNvSpPr/>
              <p:nvPr/>
            </p:nvSpPr>
            <p:spPr>
              <a:xfrm>
                <a:off x="6063954" y="1259012"/>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dirty="0">
                  <a:solidFill>
                    <a:schemeClr val="bg1"/>
                  </a:solidFill>
                </a:endParaRPr>
              </a:p>
            </p:txBody>
          </p:sp>
          <p:sp>
            <p:nvSpPr>
              <p:cNvPr id="46" name="Rectangle 45">
                <a:extLst>
                  <a:ext uri="{FF2B5EF4-FFF2-40B4-BE49-F238E27FC236}">
                    <a16:creationId xmlns:a16="http://schemas.microsoft.com/office/drawing/2014/main" id="{C0A195F6-4AB6-469C-86F1-20F72B0A140F}"/>
                  </a:ext>
                </a:extLst>
              </p:cNvPr>
              <p:cNvSpPr/>
              <p:nvPr/>
            </p:nvSpPr>
            <p:spPr>
              <a:xfrm>
                <a:off x="6285156" y="1434346"/>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900" b="1" dirty="0">
                    <a:solidFill>
                      <a:schemeClr val="tx1"/>
                    </a:solidFill>
                  </a:rPr>
                  <a:t>PARTIE PRENANTE</a:t>
                </a:r>
              </a:p>
              <a:p>
                <a:pPr algn="ctr"/>
                <a:endParaRPr lang="fr-FR" sz="900" b="1" dirty="0">
                  <a:solidFill>
                    <a:schemeClr val="tx1"/>
                  </a:solidFill>
                </a:endParaRPr>
              </a:p>
              <a:p>
                <a:pPr algn="ctr"/>
                <a:r>
                  <a:rPr lang="fr-FR" sz="900" b="1" dirty="0">
                    <a:solidFill>
                      <a:schemeClr val="tx1"/>
                    </a:solidFill>
                  </a:rPr>
                  <a:t>……………..</a:t>
                </a:r>
              </a:p>
              <a:p>
                <a:pPr algn="ctr"/>
                <a:r>
                  <a:rPr lang="fr-FR" sz="400" dirty="0">
                    <a:solidFill>
                      <a:schemeClr val="tx1"/>
                    </a:solidFill>
                  </a:rPr>
                  <a:t>Renseignez sur cette carte le nom d’un(e) partie prenante de l’équipe (client, fournisseur, hiérarchie, partenaire, autre équipe en collaboration fréquente...)</a:t>
                </a:r>
                <a:r>
                  <a:rPr lang="fr-FR" sz="400" b="0" dirty="0">
                    <a:solidFill>
                      <a:schemeClr val="tx1"/>
                    </a:solidFill>
                  </a:rPr>
                  <a:t>  </a:t>
                </a:r>
                <a:endParaRPr lang="fr-FR" sz="400" dirty="0">
                  <a:solidFill>
                    <a:schemeClr val="tx1"/>
                  </a:solidFill>
                </a:endParaRPr>
              </a:p>
            </p:txBody>
          </p:sp>
        </p:grpSp>
        <p:sp>
          <p:nvSpPr>
            <p:cNvPr id="48" name="ZoneTexte 47">
              <a:extLst>
                <a:ext uri="{FF2B5EF4-FFF2-40B4-BE49-F238E27FC236}">
                  <a16:creationId xmlns:a16="http://schemas.microsoft.com/office/drawing/2014/main" id="{0AC85752-7BE3-40EF-813B-BC3799113171}"/>
                </a:ext>
              </a:extLst>
            </p:cNvPr>
            <p:cNvSpPr txBox="1"/>
            <p:nvPr/>
          </p:nvSpPr>
          <p:spPr>
            <a:xfrm>
              <a:off x="6595985" y="2573464"/>
              <a:ext cx="885637" cy="264996"/>
            </a:xfrm>
            <a:prstGeom prst="rect">
              <a:avLst/>
            </a:prstGeom>
            <a:noFill/>
          </p:spPr>
          <p:txBody>
            <a:bodyPr wrap="square" rtlCol="0">
              <a:spAutoFit/>
            </a:bodyPr>
            <a:lstStyle/>
            <a:p>
              <a:r>
                <a:rPr lang="en-US" sz="1100" dirty="0">
                  <a:latin typeface="Freestyle Script" panose="030804020302050B0404" pitchFamily="66" charset="0"/>
                </a:rPr>
                <a:t>Vincent K.(chef)</a:t>
              </a:r>
            </a:p>
          </p:txBody>
        </p:sp>
      </p:grpSp>
      <p:grpSp>
        <p:nvGrpSpPr>
          <p:cNvPr id="50" name="Groupe 49">
            <a:extLst>
              <a:ext uri="{FF2B5EF4-FFF2-40B4-BE49-F238E27FC236}">
                <a16:creationId xmlns:a16="http://schemas.microsoft.com/office/drawing/2014/main" id="{B3633831-300B-4C24-9097-BC8E82C629D6}"/>
              </a:ext>
            </a:extLst>
          </p:cNvPr>
          <p:cNvGrpSpPr/>
          <p:nvPr/>
        </p:nvGrpSpPr>
        <p:grpSpPr>
          <a:xfrm rot="591548">
            <a:off x="5498807" y="1531891"/>
            <a:ext cx="1115705" cy="1476521"/>
            <a:chOff x="6459745" y="2018306"/>
            <a:chExt cx="1130147" cy="1495634"/>
          </a:xfrm>
        </p:grpSpPr>
        <p:grpSp>
          <p:nvGrpSpPr>
            <p:cNvPr id="51" name="Groupe 50">
              <a:extLst>
                <a:ext uri="{FF2B5EF4-FFF2-40B4-BE49-F238E27FC236}">
                  <a16:creationId xmlns:a16="http://schemas.microsoft.com/office/drawing/2014/main" id="{F0AE9058-3C6C-48DA-B64B-8777E07448D6}"/>
                </a:ext>
              </a:extLst>
            </p:cNvPr>
            <p:cNvGrpSpPr/>
            <p:nvPr/>
          </p:nvGrpSpPr>
          <p:grpSpPr>
            <a:xfrm>
              <a:off x="6459745" y="2018306"/>
              <a:ext cx="1114393" cy="1495634"/>
              <a:chOff x="6063954" y="1259012"/>
              <a:chExt cx="2361459" cy="3169328"/>
            </a:xfrm>
          </p:grpSpPr>
          <p:sp>
            <p:nvSpPr>
              <p:cNvPr id="53" name="Rectangle 52">
                <a:extLst>
                  <a:ext uri="{FF2B5EF4-FFF2-40B4-BE49-F238E27FC236}">
                    <a16:creationId xmlns:a16="http://schemas.microsoft.com/office/drawing/2014/main" id="{978C11BF-53A3-481A-9CA0-286E1617F516}"/>
                  </a:ext>
                </a:extLst>
              </p:cNvPr>
              <p:cNvSpPr/>
              <p:nvPr/>
            </p:nvSpPr>
            <p:spPr>
              <a:xfrm>
                <a:off x="6063954" y="1259012"/>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dirty="0">
                  <a:solidFill>
                    <a:schemeClr val="bg1"/>
                  </a:solidFill>
                </a:endParaRPr>
              </a:p>
            </p:txBody>
          </p:sp>
          <p:sp>
            <p:nvSpPr>
              <p:cNvPr id="54" name="Rectangle 53">
                <a:extLst>
                  <a:ext uri="{FF2B5EF4-FFF2-40B4-BE49-F238E27FC236}">
                    <a16:creationId xmlns:a16="http://schemas.microsoft.com/office/drawing/2014/main" id="{76E0A055-017C-489A-B9EA-3F4836B0B28D}"/>
                  </a:ext>
                </a:extLst>
              </p:cNvPr>
              <p:cNvSpPr/>
              <p:nvPr/>
            </p:nvSpPr>
            <p:spPr>
              <a:xfrm>
                <a:off x="6285156" y="1434346"/>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900" b="1" dirty="0">
                    <a:solidFill>
                      <a:schemeClr val="tx1"/>
                    </a:solidFill>
                  </a:rPr>
                  <a:t>PARTIE PRENANTE</a:t>
                </a:r>
              </a:p>
              <a:p>
                <a:pPr algn="ctr"/>
                <a:endParaRPr lang="fr-FR" sz="900" b="1" dirty="0">
                  <a:solidFill>
                    <a:schemeClr val="tx1"/>
                  </a:solidFill>
                </a:endParaRPr>
              </a:p>
              <a:p>
                <a:pPr algn="ctr"/>
                <a:r>
                  <a:rPr lang="fr-FR" sz="900" b="1" dirty="0">
                    <a:solidFill>
                      <a:schemeClr val="tx1"/>
                    </a:solidFill>
                  </a:rPr>
                  <a:t>……………..</a:t>
                </a:r>
              </a:p>
              <a:p>
                <a:pPr algn="ctr"/>
                <a:r>
                  <a:rPr lang="fr-FR" sz="400" dirty="0">
                    <a:solidFill>
                      <a:schemeClr val="tx1"/>
                    </a:solidFill>
                  </a:rPr>
                  <a:t>Renseignez sur cette carte le nom d’un(e) partie prenante de l’équipe (client, fournisseur, hiérarchie, partenaire, autre équipe en collaboration fréquente...)</a:t>
                </a:r>
                <a:r>
                  <a:rPr lang="fr-FR" sz="400" b="0" dirty="0">
                    <a:solidFill>
                      <a:schemeClr val="tx1"/>
                    </a:solidFill>
                  </a:rPr>
                  <a:t>  </a:t>
                </a:r>
                <a:endParaRPr lang="fr-FR" sz="400" dirty="0">
                  <a:solidFill>
                    <a:schemeClr val="tx1"/>
                  </a:solidFill>
                </a:endParaRPr>
              </a:p>
            </p:txBody>
          </p:sp>
        </p:grpSp>
        <p:sp>
          <p:nvSpPr>
            <p:cNvPr id="52" name="ZoneTexte 51">
              <a:extLst>
                <a:ext uri="{FF2B5EF4-FFF2-40B4-BE49-F238E27FC236}">
                  <a16:creationId xmlns:a16="http://schemas.microsoft.com/office/drawing/2014/main" id="{E7CD0F8C-F573-4ECA-96C7-5BA42734CEA4}"/>
                </a:ext>
              </a:extLst>
            </p:cNvPr>
            <p:cNvSpPr txBox="1"/>
            <p:nvPr/>
          </p:nvSpPr>
          <p:spPr>
            <a:xfrm>
              <a:off x="6564962" y="2582346"/>
              <a:ext cx="1024930" cy="261610"/>
            </a:xfrm>
            <a:prstGeom prst="rect">
              <a:avLst/>
            </a:prstGeom>
            <a:noFill/>
          </p:spPr>
          <p:txBody>
            <a:bodyPr wrap="square" rtlCol="0">
              <a:spAutoFit/>
            </a:bodyPr>
            <a:lstStyle/>
            <a:p>
              <a:r>
                <a:rPr lang="fr-FR" sz="1050" dirty="0">
                  <a:latin typeface="Freestyle Script" panose="030804020302050B0404" pitchFamily="66" charset="0"/>
                </a:rPr>
                <a:t>Dominique V. (cliente)</a:t>
              </a:r>
            </a:p>
          </p:txBody>
        </p:sp>
      </p:grpSp>
      <p:grpSp>
        <p:nvGrpSpPr>
          <p:cNvPr id="55" name="Groupe 54">
            <a:extLst>
              <a:ext uri="{FF2B5EF4-FFF2-40B4-BE49-F238E27FC236}">
                <a16:creationId xmlns:a16="http://schemas.microsoft.com/office/drawing/2014/main" id="{BE3721E6-214C-4423-A4EF-2EA98D471EA8}"/>
              </a:ext>
            </a:extLst>
          </p:cNvPr>
          <p:cNvGrpSpPr/>
          <p:nvPr/>
        </p:nvGrpSpPr>
        <p:grpSpPr>
          <a:xfrm rot="1667809">
            <a:off x="6466663" y="1772548"/>
            <a:ext cx="1100152" cy="1476521"/>
            <a:chOff x="6459745" y="2018306"/>
            <a:chExt cx="1114393" cy="1495634"/>
          </a:xfrm>
        </p:grpSpPr>
        <p:grpSp>
          <p:nvGrpSpPr>
            <p:cNvPr id="56" name="Groupe 55">
              <a:extLst>
                <a:ext uri="{FF2B5EF4-FFF2-40B4-BE49-F238E27FC236}">
                  <a16:creationId xmlns:a16="http://schemas.microsoft.com/office/drawing/2014/main" id="{E3B70B70-8221-4B98-9EB4-7B54D2F70172}"/>
                </a:ext>
              </a:extLst>
            </p:cNvPr>
            <p:cNvGrpSpPr/>
            <p:nvPr/>
          </p:nvGrpSpPr>
          <p:grpSpPr>
            <a:xfrm>
              <a:off x="6459745" y="2018306"/>
              <a:ext cx="1114393" cy="1495634"/>
              <a:chOff x="6063954" y="1259012"/>
              <a:chExt cx="2361459" cy="3169328"/>
            </a:xfrm>
          </p:grpSpPr>
          <p:sp>
            <p:nvSpPr>
              <p:cNvPr id="58" name="Rectangle 57">
                <a:extLst>
                  <a:ext uri="{FF2B5EF4-FFF2-40B4-BE49-F238E27FC236}">
                    <a16:creationId xmlns:a16="http://schemas.microsoft.com/office/drawing/2014/main" id="{9496F3A6-31FC-483F-B134-0231151F1845}"/>
                  </a:ext>
                </a:extLst>
              </p:cNvPr>
              <p:cNvSpPr/>
              <p:nvPr/>
            </p:nvSpPr>
            <p:spPr>
              <a:xfrm>
                <a:off x="6063954" y="1259012"/>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dirty="0">
                  <a:solidFill>
                    <a:schemeClr val="bg1"/>
                  </a:solidFill>
                </a:endParaRPr>
              </a:p>
            </p:txBody>
          </p:sp>
          <p:sp>
            <p:nvSpPr>
              <p:cNvPr id="59" name="Rectangle 58">
                <a:extLst>
                  <a:ext uri="{FF2B5EF4-FFF2-40B4-BE49-F238E27FC236}">
                    <a16:creationId xmlns:a16="http://schemas.microsoft.com/office/drawing/2014/main" id="{1002420F-D226-4EDD-9DDB-8E60510FE112}"/>
                  </a:ext>
                </a:extLst>
              </p:cNvPr>
              <p:cNvSpPr/>
              <p:nvPr/>
            </p:nvSpPr>
            <p:spPr>
              <a:xfrm>
                <a:off x="6285156" y="1434346"/>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900" b="1" dirty="0">
                    <a:solidFill>
                      <a:schemeClr val="tx1"/>
                    </a:solidFill>
                  </a:rPr>
                  <a:t>PARTIE PRENANTE</a:t>
                </a:r>
              </a:p>
              <a:p>
                <a:pPr algn="ctr"/>
                <a:endParaRPr lang="fr-FR" sz="900" b="1" dirty="0">
                  <a:solidFill>
                    <a:schemeClr val="tx1"/>
                  </a:solidFill>
                </a:endParaRPr>
              </a:p>
              <a:p>
                <a:pPr algn="ctr"/>
                <a:r>
                  <a:rPr lang="fr-FR" sz="900" b="1" dirty="0">
                    <a:solidFill>
                      <a:schemeClr val="tx1"/>
                    </a:solidFill>
                  </a:rPr>
                  <a:t>……………..</a:t>
                </a:r>
              </a:p>
              <a:p>
                <a:pPr algn="ctr"/>
                <a:r>
                  <a:rPr lang="fr-FR" sz="400" dirty="0">
                    <a:solidFill>
                      <a:schemeClr val="tx1"/>
                    </a:solidFill>
                  </a:rPr>
                  <a:t>Renseignez sur cette carte le nom d’un(e) partie prenante de l’équipe (client, fournisseur, hiérarchie, partenaire, autre équipe en collaboration fréquente...)</a:t>
                </a:r>
                <a:r>
                  <a:rPr lang="fr-FR" sz="400" b="0" dirty="0">
                    <a:solidFill>
                      <a:schemeClr val="tx1"/>
                    </a:solidFill>
                  </a:rPr>
                  <a:t>  </a:t>
                </a:r>
                <a:endParaRPr lang="fr-FR" sz="400" dirty="0">
                  <a:solidFill>
                    <a:schemeClr val="tx1"/>
                  </a:solidFill>
                </a:endParaRPr>
              </a:p>
            </p:txBody>
          </p:sp>
        </p:grpSp>
        <p:sp>
          <p:nvSpPr>
            <p:cNvPr id="57" name="ZoneTexte 56">
              <a:extLst>
                <a:ext uri="{FF2B5EF4-FFF2-40B4-BE49-F238E27FC236}">
                  <a16:creationId xmlns:a16="http://schemas.microsoft.com/office/drawing/2014/main" id="{F4F3FC86-72F6-4700-BA43-D36CC5CFE864}"/>
                </a:ext>
              </a:extLst>
            </p:cNvPr>
            <p:cNvSpPr txBox="1"/>
            <p:nvPr/>
          </p:nvSpPr>
          <p:spPr>
            <a:xfrm>
              <a:off x="6564962" y="2582347"/>
              <a:ext cx="913323" cy="261610"/>
            </a:xfrm>
            <a:prstGeom prst="rect">
              <a:avLst/>
            </a:prstGeom>
            <a:noFill/>
          </p:spPr>
          <p:txBody>
            <a:bodyPr wrap="square" rtlCol="0">
              <a:spAutoFit/>
            </a:bodyPr>
            <a:lstStyle/>
            <a:p>
              <a:pPr algn="ctr"/>
              <a:r>
                <a:rPr lang="fr-FR" sz="1050" dirty="0">
                  <a:latin typeface="Freestyle Script" panose="030804020302050B0404" pitchFamily="66" charset="0"/>
                </a:rPr>
                <a:t>Pierre-Alain E.</a:t>
              </a:r>
            </a:p>
          </p:txBody>
        </p:sp>
      </p:grpSp>
      <p:sp>
        <p:nvSpPr>
          <p:cNvPr id="60" name="Flèche : bas 59">
            <a:extLst>
              <a:ext uri="{FF2B5EF4-FFF2-40B4-BE49-F238E27FC236}">
                <a16:creationId xmlns:a16="http://schemas.microsoft.com/office/drawing/2014/main" id="{5F436F8C-C572-4057-8031-5F995DB25E4D}"/>
              </a:ext>
            </a:extLst>
          </p:cNvPr>
          <p:cNvSpPr/>
          <p:nvPr/>
        </p:nvSpPr>
        <p:spPr>
          <a:xfrm>
            <a:off x="5515558" y="3075028"/>
            <a:ext cx="550052" cy="440403"/>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Rectangle 65">
            <a:extLst>
              <a:ext uri="{FF2B5EF4-FFF2-40B4-BE49-F238E27FC236}">
                <a16:creationId xmlns:a16="http://schemas.microsoft.com/office/drawing/2014/main" id="{A4E1E218-A308-48F0-8CCF-04AD270B21CB}"/>
              </a:ext>
            </a:extLst>
          </p:cNvPr>
          <p:cNvSpPr/>
          <p:nvPr/>
        </p:nvSpPr>
        <p:spPr>
          <a:xfrm>
            <a:off x="5187130" y="3607650"/>
            <a:ext cx="980732" cy="1316246"/>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dirty="0">
                <a:solidFill>
                  <a:schemeClr val="bg1"/>
                </a:solidFill>
              </a:rPr>
              <a:t>PARTIE PRENANTE</a:t>
            </a:r>
            <a:endParaRPr lang="en-US" sz="1100" b="1" dirty="0">
              <a:solidFill>
                <a:schemeClr val="bg1"/>
              </a:solidFill>
            </a:endParaRPr>
          </a:p>
        </p:txBody>
      </p:sp>
      <p:sp>
        <p:nvSpPr>
          <p:cNvPr id="69" name="Rectangle 68">
            <a:extLst>
              <a:ext uri="{FF2B5EF4-FFF2-40B4-BE49-F238E27FC236}">
                <a16:creationId xmlns:a16="http://schemas.microsoft.com/office/drawing/2014/main" id="{6887FE2F-0346-407E-BA9B-1095B889E9D1}"/>
              </a:ext>
            </a:extLst>
          </p:cNvPr>
          <p:cNvSpPr/>
          <p:nvPr/>
        </p:nvSpPr>
        <p:spPr>
          <a:xfrm>
            <a:off x="5238644" y="3660517"/>
            <a:ext cx="980732" cy="1316246"/>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dirty="0">
                <a:solidFill>
                  <a:schemeClr val="bg1"/>
                </a:solidFill>
              </a:rPr>
              <a:t>PARTIE PRENANTE</a:t>
            </a:r>
            <a:endParaRPr lang="en-US" sz="1100" b="1" dirty="0">
              <a:solidFill>
                <a:schemeClr val="bg1"/>
              </a:solidFill>
            </a:endParaRPr>
          </a:p>
        </p:txBody>
      </p:sp>
      <p:sp>
        <p:nvSpPr>
          <p:cNvPr id="70" name="Rectangle 69">
            <a:extLst>
              <a:ext uri="{FF2B5EF4-FFF2-40B4-BE49-F238E27FC236}">
                <a16:creationId xmlns:a16="http://schemas.microsoft.com/office/drawing/2014/main" id="{94A84F28-A4A2-4DB1-B1A1-11F87D21DB56}"/>
              </a:ext>
            </a:extLst>
          </p:cNvPr>
          <p:cNvSpPr/>
          <p:nvPr/>
        </p:nvSpPr>
        <p:spPr>
          <a:xfrm>
            <a:off x="5290158" y="3705111"/>
            <a:ext cx="980732" cy="1316246"/>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dirty="0">
                <a:solidFill>
                  <a:schemeClr val="bg1"/>
                </a:solidFill>
              </a:rPr>
              <a:t>PARTIE PRENANTE</a:t>
            </a:r>
            <a:endParaRPr lang="en-US" sz="1100" b="1" dirty="0">
              <a:solidFill>
                <a:schemeClr val="bg1"/>
              </a:solidFill>
            </a:endParaRPr>
          </a:p>
        </p:txBody>
      </p:sp>
      <p:sp>
        <p:nvSpPr>
          <p:cNvPr id="71" name="Rectangle 70">
            <a:extLst>
              <a:ext uri="{FF2B5EF4-FFF2-40B4-BE49-F238E27FC236}">
                <a16:creationId xmlns:a16="http://schemas.microsoft.com/office/drawing/2014/main" id="{8CE7D88D-4618-4F34-97EA-2A15D8C557AF}"/>
              </a:ext>
            </a:extLst>
          </p:cNvPr>
          <p:cNvSpPr/>
          <p:nvPr/>
        </p:nvSpPr>
        <p:spPr>
          <a:xfrm>
            <a:off x="5341672" y="3764425"/>
            <a:ext cx="980732" cy="1316246"/>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dirty="0">
                <a:solidFill>
                  <a:schemeClr val="bg1"/>
                </a:solidFill>
              </a:rPr>
              <a:t>PARTIE PRENANTE</a:t>
            </a:r>
            <a:endParaRPr lang="en-US" sz="1100" b="1" dirty="0">
              <a:solidFill>
                <a:schemeClr val="bg1"/>
              </a:solidFill>
            </a:endParaRPr>
          </a:p>
        </p:txBody>
      </p:sp>
      <p:sp>
        <p:nvSpPr>
          <p:cNvPr id="72" name="Rectangle 71">
            <a:extLst>
              <a:ext uri="{FF2B5EF4-FFF2-40B4-BE49-F238E27FC236}">
                <a16:creationId xmlns:a16="http://schemas.microsoft.com/office/drawing/2014/main" id="{246EA4AD-6990-4BC9-8FB6-95255F89C7C5}"/>
              </a:ext>
            </a:extLst>
          </p:cNvPr>
          <p:cNvSpPr/>
          <p:nvPr/>
        </p:nvSpPr>
        <p:spPr>
          <a:xfrm>
            <a:off x="5393186" y="3805568"/>
            <a:ext cx="980732" cy="1316246"/>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dirty="0">
                <a:solidFill>
                  <a:schemeClr val="bg1"/>
                </a:solidFill>
              </a:rPr>
              <a:t>PARTIE PRENANTE</a:t>
            </a:r>
            <a:endParaRPr lang="en-US" sz="1100" b="1" dirty="0">
              <a:solidFill>
                <a:schemeClr val="bg1"/>
              </a:solidFill>
            </a:endParaRPr>
          </a:p>
        </p:txBody>
      </p:sp>
      <p:sp>
        <p:nvSpPr>
          <p:cNvPr id="73" name="Rectangle 72">
            <a:extLst>
              <a:ext uri="{FF2B5EF4-FFF2-40B4-BE49-F238E27FC236}">
                <a16:creationId xmlns:a16="http://schemas.microsoft.com/office/drawing/2014/main" id="{CABEFD50-8F33-4C13-91A8-3032EC8A29DF}"/>
              </a:ext>
            </a:extLst>
          </p:cNvPr>
          <p:cNvSpPr/>
          <p:nvPr/>
        </p:nvSpPr>
        <p:spPr>
          <a:xfrm>
            <a:off x="5459270" y="3861144"/>
            <a:ext cx="980732" cy="1316246"/>
          </a:xfrm>
          <a:prstGeom prst="rect">
            <a:avLst/>
          </a:prstGeom>
          <a:solidFill>
            <a:schemeClr val="tx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1" dirty="0">
                <a:solidFill>
                  <a:schemeClr val="bg1"/>
                </a:solidFill>
              </a:rPr>
              <a:t>PARTIE PRENANTE</a:t>
            </a:r>
            <a:endParaRPr lang="en-US" sz="1100" b="1" dirty="0">
              <a:solidFill>
                <a:schemeClr val="bg1"/>
              </a:solidFill>
            </a:endParaRPr>
          </a:p>
        </p:txBody>
      </p:sp>
      <p:sp>
        <p:nvSpPr>
          <p:cNvPr id="74" name="Rectangle 73">
            <a:extLst>
              <a:ext uri="{FF2B5EF4-FFF2-40B4-BE49-F238E27FC236}">
                <a16:creationId xmlns:a16="http://schemas.microsoft.com/office/drawing/2014/main" id="{68B20AB6-A2FB-479C-AF4E-FCE00BBA5F0C}"/>
              </a:ext>
            </a:extLst>
          </p:cNvPr>
          <p:cNvSpPr/>
          <p:nvPr/>
        </p:nvSpPr>
        <p:spPr>
          <a:xfrm>
            <a:off x="9621179" y="3507561"/>
            <a:ext cx="959626" cy="1287919"/>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a:t>
            </a:r>
            <a:endParaRPr lang="en-US" b="1" dirty="0">
              <a:solidFill>
                <a:schemeClr val="bg1"/>
              </a:solidFill>
            </a:endParaRPr>
          </a:p>
          <a:p>
            <a:pPr algn="ctr"/>
            <a:r>
              <a:rPr lang="en-US" b="1" dirty="0">
                <a:solidFill>
                  <a:schemeClr val="bg1"/>
                </a:solidFill>
              </a:rPr>
              <a:t>RÔLES</a:t>
            </a:r>
          </a:p>
          <a:p>
            <a:pPr algn="ctr"/>
            <a:r>
              <a:rPr lang="fr-FR" b="1" dirty="0">
                <a:solidFill>
                  <a:schemeClr val="bg1"/>
                </a:solidFill>
              </a:rPr>
              <a:t>💪</a:t>
            </a:r>
            <a:endParaRPr lang="en-US" b="1" dirty="0">
              <a:solidFill>
                <a:schemeClr val="bg1"/>
              </a:solidFill>
            </a:endParaRPr>
          </a:p>
        </p:txBody>
      </p:sp>
      <p:sp>
        <p:nvSpPr>
          <p:cNvPr id="75" name="Rectangle 74">
            <a:extLst>
              <a:ext uri="{FF2B5EF4-FFF2-40B4-BE49-F238E27FC236}">
                <a16:creationId xmlns:a16="http://schemas.microsoft.com/office/drawing/2014/main" id="{49BC6A1F-4135-444C-AE6B-91AA968EDEAE}"/>
              </a:ext>
            </a:extLst>
          </p:cNvPr>
          <p:cNvSpPr/>
          <p:nvPr/>
        </p:nvSpPr>
        <p:spPr>
          <a:xfrm>
            <a:off x="9708609" y="3587683"/>
            <a:ext cx="959626" cy="1287919"/>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a:t>
            </a:r>
            <a:endParaRPr lang="en-US" b="1" dirty="0">
              <a:solidFill>
                <a:schemeClr val="bg1"/>
              </a:solidFill>
            </a:endParaRPr>
          </a:p>
          <a:p>
            <a:pPr algn="ctr"/>
            <a:r>
              <a:rPr lang="en-US" b="1" dirty="0">
                <a:solidFill>
                  <a:schemeClr val="bg1"/>
                </a:solidFill>
              </a:rPr>
              <a:t>RÔLES</a:t>
            </a:r>
          </a:p>
          <a:p>
            <a:pPr algn="ctr"/>
            <a:r>
              <a:rPr lang="fr-FR" b="1" dirty="0">
                <a:solidFill>
                  <a:schemeClr val="bg1"/>
                </a:solidFill>
              </a:rPr>
              <a:t>💪</a:t>
            </a:r>
            <a:endParaRPr lang="en-US" b="1" dirty="0">
              <a:solidFill>
                <a:schemeClr val="bg1"/>
              </a:solidFill>
            </a:endParaRPr>
          </a:p>
        </p:txBody>
      </p:sp>
      <p:sp>
        <p:nvSpPr>
          <p:cNvPr id="76" name="Rectangle 75">
            <a:extLst>
              <a:ext uri="{FF2B5EF4-FFF2-40B4-BE49-F238E27FC236}">
                <a16:creationId xmlns:a16="http://schemas.microsoft.com/office/drawing/2014/main" id="{28D3A6FA-A4AA-44F1-B39F-8F43BD7DFAD0}"/>
              </a:ext>
            </a:extLst>
          </p:cNvPr>
          <p:cNvSpPr/>
          <p:nvPr/>
        </p:nvSpPr>
        <p:spPr>
          <a:xfrm>
            <a:off x="9782816" y="3661520"/>
            <a:ext cx="959626" cy="1287919"/>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a:t>
            </a:r>
            <a:endParaRPr lang="en-US" b="1" dirty="0">
              <a:solidFill>
                <a:schemeClr val="bg1"/>
              </a:solidFill>
            </a:endParaRPr>
          </a:p>
          <a:p>
            <a:pPr algn="ctr"/>
            <a:r>
              <a:rPr lang="en-US" b="1" dirty="0">
                <a:solidFill>
                  <a:schemeClr val="bg1"/>
                </a:solidFill>
              </a:rPr>
              <a:t>RÔLES</a:t>
            </a:r>
          </a:p>
          <a:p>
            <a:pPr algn="ctr"/>
            <a:r>
              <a:rPr lang="fr-FR" b="1" dirty="0">
                <a:solidFill>
                  <a:schemeClr val="bg1"/>
                </a:solidFill>
              </a:rPr>
              <a:t>💪</a:t>
            </a:r>
            <a:endParaRPr lang="en-US" b="1" dirty="0">
              <a:solidFill>
                <a:schemeClr val="bg1"/>
              </a:solidFill>
            </a:endParaRPr>
          </a:p>
        </p:txBody>
      </p:sp>
      <p:sp>
        <p:nvSpPr>
          <p:cNvPr id="77" name="Rectangle 76">
            <a:extLst>
              <a:ext uri="{FF2B5EF4-FFF2-40B4-BE49-F238E27FC236}">
                <a16:creationId xmlns:a16="http://schemas.microsoft.com/office/drawing/2014/main" id="{ED0B1025-49E1-45E6-BB9C-16C051A29236}"/>
              </a:ext>
            </a:extLst>
          </p:cNvPr>
          <p:cNvSpPr/>
          <p:nvPr/>
        </p:nvSpPr>
        <p:spPr>
          <a:xfrm>
            <a:off x="9857023" y="3758512"/>
            <a:ext cx="959626" cy="1287919"/>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a:t>
            </a:r>
            <a:endParaRPr lang="en-US" b="1" dirty="0">
              <a:solidFill>
                <a:schemeClr val="bg1"/>
              </a:solidFill>
            </a:endParaRPr>
          </a:p>
          <a:p>
            <a:pPr algn="ctr"/>
            <a:r>
              <a:rPr lang="en-US" b="1" dirty="0">
                <a:solidFill>
                  <a:schemeClr val="bg1"/>
                </a:solidFill>
              </a:rPr>
              <a:t>RÔLES</a:t>
            </a:r>
          </a:p>
          <a:p>
            <a:pPr algn="ctr"/>
            <a:r>
              <a:rPr lang="fr-FR" b="1" dirty="0">
                <a:solidFill>
                  <a:schemeClr val="bg1"/>
                </a:solidFill>
              </a:rPr>
              <a:t>💪</a:t>
            </a:r>
            <a:endParaRPr lang="en-US" b="1" dirty="0">
              <a:solidFill>
                <a:schemeClr val="bg1"/>
              </a:solidFill>
            </a:endParaRPr>
          </a:p>
        </p:txBody>
      </p:sp>
      <p:sp>
        <p:nvSpPr>
          <p:cNvPr id="82" name="Rectangle 81">
            <a:extLst>
              <a:ext uri="{FF2B5EF4-FFF2-40B4-BE49-F238E27FC236}">
                <a16:creationId xmlns:a16="http://schemas.microsoft.com/office/drawing/2014/main" id="{A290772D-6052-47B9-975D-DFD539FD11E2}"/>
              </a:ext>
            </a:extLst>
          </p:cNvPr>
          <p:cNvSpPr/>
          <p:nvPr/>
        </p:nvSpPr>
        <p:spPr>
          <a:xfrm>
            <a:off x="9920412" y="3831716"/>
            <a:ext cx="959626" cy="1287919"/>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a:t>
            </a:r>
            <a:endParaRPr lang="en-US" b="1" dirty="0">
              <a:solidFill>
                <a:schemeClr val="bg1"/>
              </a:solidFill>
            </a:endParaRPr>
          </a:p>
          <a:p>
            <a:pPr algn="ctr"/>
            <a:r>
              <a:rPr lang="en-US" b="1" dirty="0">
                <a:solidFill>
                  <a:schemeClr val="bg1"/>
                </a:solidFill>
              </a:rPr>
              <a:t>RÔLES</a:t>
            </a:r>
          </a:p>
          <a:p>
            <a:pPr algn="ctr"/>
            <a:r>
              <a:rPr lang="fr-FR" b="1" dirty="0">
                <a:solidFill>
                  <a:schemeClr val="bg1"/>
                </a:solidFill>
              </a:rPr>
              <a:t>💪</a:t>
            </a:r>
            <a:endParaRPr lang="en-US" b="1" dirty="0">
              <a:solidFill>
                <a:schemeClr val="bg1"/>
              </a:solidFill>
            </a:endParaRPr>
          </a:p>
        </p:txBody>
      </p:sp>
      <p:sp>
        <p:nvSpPr>
          <p:cNvPr id="83" name="Rectangle 82">
            <a:extLst>
              <a:ext uri="{FF2B5EF4-FFF2-40B4-BE49-F238E27FC236}">
                <a16:creationId xmlns:a16="http://schemas.microsoft.com/office/drawing/2014/main" id="{E008B018-30F4-468B-8245-5D39CBCBE97A}"/>
              </a:ext>
            </a:extLst>
          </p:cNvPr>
          <p:cNvSpPr/>
          <p:nvPr/>
        </p:nvSpPr>
        <p:spPr>
          <a:xfrm>
            <a:off x="9983801" y="3889471"/>
            <a:ext cx="959626" cy="1287919"/>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b="1" dirty="0">
                <a:solidFill>
                  <a:schemeClr val="bg1"/>
                </a:solidFill>
              </a:rPr>
              <a:t>⚖️</a:t>
            </a:r>
            <a:endParaRPr lang="en-US" b="1" dirty="0">
              <a:solidFill>
                <a:schemeClr val="bg1"/>
              </a:solidFill>
            </a:endParaRPr>
          </a:p>
          <a:p>
            <a:pPr algn="ctr"/>
            <a:r>
              <a:rPr lang="en-US" b="1" dirty="0">
                <a:solidFill>
                  <a:schemeClr val="bg1"/>
                </a:solidFill>
              </a:rPr>
              <a:t>RÔLES</a:t>
            </a:r>
          </a:p>
          <a:p>
            <a:pPr algn="ctr"/>
            <a:r>
              <a:rPr lang="fr-FR" b="1" dirty="0">
                <a:solidFill>
                  <a:schemeClr val="bg1"/>
                </a:solidFill>
              </a:rPr>
              <a:t>💪</a:t>
            </a:r>
            <a:endParaRPr lang="en-US" b="1" dirty="0">
              <a:solidFill>
                <a:schemeClr val="bg1"/>
              </a:solidFill>
            </a:endParaRPr>
          </a:p>
        </p:txBody>
      </p:sp>
      <p:sp>
        <p:nvSpPr>
          <p:cNvPr id="84" name="ZoneTexte 83">
            <a:extLst>
              <a:ext uri="{FF2B5EF4-FFF2-40B4-BE49-F238E27FC236}">
                <a16:creationId xmlns:a16="http://schemas.microsoft.com/office/drawing/2014/main" id="{9BFDFA05-3831-4908-815A-F5DB2675E36D}"/>
              </a:ext>
            </a:extLst>
          </p:cNvPr>
          <p:cNvSpPr txBox="1"/>
          <p:nvPr/>
        </p:nvSpPr>
        <p:spPr>
          <a:xfrm>
            <a:off x="8859338" y="5355059"/>
            <a:ext cx="3059131" cy="1384995"/>
          </a:xfrm>
          <a:prstGeom prst="rect">
            <a:avLst/>
          </a:prstGeom>
          <a:solidFill>
            <a:schemeClr val="bg1">
              <a:lumMod val="95000"/>
            </a:schemeClr>
          </a:solidFill>
        </p:spPr>
        <p:txBody>
          <a:bodyPr wrap="square" rtlCol="0">
            <a:spAutoFit/>
          </a:bodyPr>
          <a:lstStyle/>
          <a:p>
            <a:pPr algn="ctr"/>
            <a:r>
              <a:rPr lang="fr-FR" sz="1400" dirty="0"/>
              <a:t>3. Faire 2 tas égaux de cartes </a:t>
            </a:r>
            <a:r>
              <a:rPr lang="fr-FR" sz="1400" b="1" dirty="0">
                <a:solidFill>
                  <a:srgbClr val="0683AA"/>
                </a:solidFill>
              </a:rPr>
              <a:t>💪ROBUSTEAM</a:t>
            </a:r>
            <a:r>
              <a:rPr lang="fr-FR" sz="1400" dirty="0"/>
              <a:t> et </a:t>
            </a:r>
            <a:r>
              <a:rPr lang="fr-FR" sz="1400" b="1" dirty="0">
                <a:solidFill>
                  <a:srgbClr val="0683AA"/>
                </a:solidFill>
              </a:rPr>
              <a:t>⚖️DESTIN</a:t>
            </a:r>
            <a:r>
              <a:rPr lang="fr-FR" sz="1400" dirty="0"/>
              <a:t> et faire une pile face </a:t>
            </a:r>
            <a:r>
              <a:rPr lang="fr-FR" sz="1400" i="1" dirty="0"/>
              <a:t>cachée</a:t>
            </a:r>
            <a:r>
              <a:rPr lang="fr-FR" sz="1400" dirty="0"/>
              <a:t>. (Le total de cartes </a:t>
            </a:r>
            <a:r>
              <a:rPr lang="fr-FR" sz="1400" b="1" dirty="0">
                <a:solidFill>
                  <a:srgbClr val="0683AA"/>
                </a:solidFill>
              </a:rPr>
              <a:t>RÔLES</a:t>
            </a:r>
            <a:r>
              <a:rPr lang="fr-FR" sz="1400" dirty="0"/>
              <a:t> doit être le nombre de joueurs. En cas de total impair, ajoutez une carte </a:t>
            </a:r>
            <a:r>
              <a:rPr lang="fr-FR" sz="1400" b="1" dirty="0">
                <a:solidFill>
                  <a:srgbClr val="0683AA"/>
                </a:solidFill>
              </a:rPr>
              <a:t>⚖️DESTIN</a:t>
            </a:r>
            <a:r>
              <a:rPr lang="fr-FR" sz="1400" dirty="0"/>
              <a:t> ) </a:t>
            </a:r>
          </a:p>
        </p:txBody>
      </p:sp>
      <p:grpSp>
        <p:nvGrpSpPr>
          <p:cNvPr id="85" name="Groupe 84">
            <a:extLst>
              <a:ext uri="{FF2B5EF4-FFF2-40B4-BE49-F238E27FC236}">
                <a16:creationId xmlns:a16="http://schemas.microsoft.com/office/drawing/2014/main" id="{5EDF06A5-8D3E-406E-8EBD-AC4BE490B1FB}"/>
              </a:ext>
            </a:extLst>
          </p:cNvPr>
          <p:cNvGrpSpPr/>
          <p:nvPr/>
        </p:nvGrpSpPr>
        <p:grpSpPr>
          <a:xfrm>
            <a:off x="8694120" y="1218721"/>
            <a:ext cx="1184252" cy="1589392"/>
            <a:chOff x="1080117" y="170895"/>
            <a:chExt cx="2361459" cy="3169328"/>
          </a:xfrm>
        </p:grpSpPr>
        <p:sp>
          <p:nvSpPr>
            <p:cNvPr id="86" name="Rectangle 85">
              <a:extLst>
                <a:ext uri="{FF2B5EF4-FFF2-40B4-BE49-F238E27FC236}">
                  <a16:creationId xmlns:a16="http://schemas.microsoft.com/office/drawing/2014/main" id="{A267DA28-4F74-4ABA-B663-84AD33C2D5F4}"/>
                </a:ext>
              </a:extLst>
            </p:cNvPr>
            <p:cNvSpPr/>
            <p:nvPr/>
          </p:nvSpPr>
          <p:spPr>
            <a:xfrm>
              <a:off x="1080117" y="170895"/>
              <a:ext cx="2361459" cy="3169328"/>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endParaRPr lang="en-US" sz="2400" b="1" dirty="0">
                <a:solidFill>
                  <a:schemeClr val="bg1"/>
                </a:solidFill>
              </a:endParaRPr>
            </a:p>
            <a:p>
              <a:pPr algn="ctr"/>
              <a:r>
                <a:rPr lang="en-US" sz="2400" b="1" dirty="0">
                  <a:solidFill>
                    <a:schemeClr val="bg1"/>
                  </a:solidFill>
                </a:rPr>
                <a:t>RÔLES</a:t>
              </a:r>
            </a:p>
            <a:p>
              <a:pPr algn="ctr"/>
              <a:r>
                <a:rPr lang="fr-FR" sz="2400" b="1" dirty="0">
                  <a:solidFill>
                    <a:schemeClr val="bg1"/>
                  </a:solidFill>
                </a:rPr>
                <a:t>💪</a:t>
              </a:r>
              <a:endParaRPr lang="en-US" sz="2400" b="1" dirty="0">
                <a:solidFill>
                  <a:schemeClr val="bg1"/>
                </a:solidFill>
              </a:endParaRPr>
            </a:p>
          </p:txBody>
        </p:sp>
        <p:sp>
          <p:nvSpPr>
            <p:cNvPr id="87" name="Rectangle 86">
              <a:extLst>
                <a:ext uri="{FF2B5EF4-FFF2-40B4-BE49-F238E27FC236}">
                  <a16:creationId xmlns:a16="http://schemas.microsoft.com/office/drawing/2014/main" id="{F7082B36-454A-48D6-8F68-E44FA6193DDD}"/>
                </a:ext>
              </a:extLst>
            </p:cNvPr>
            <p:cNvSpPr/>
            <p:nvPr/>
          </p:nvSpPr>
          <p:spPr>
            <a:xfrm>
              <a:off x="1301319" y="346229"/>
              <a:ext cx="1944210" cy="27964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0" dirty="0">
                  <a:solidFill>
                    <a:srgbClr val="0683AA"/>
                  </a:solidFill>
                </a:rPr>
                <a:t>💪 </a:t>
              </a:r>
            </a:p>
            <a:p>
              <a:pPr algn="ctr"/>
              <a:r>
                <a:rPr lang="fr-FR" sz="1100" b="1" dirty="0">
                  <a:solidFill>
                    <a:srgbClr val="0683AA"/>
                  </a:solidFill>
                </a:rPr>
                <a:t>ROBUSTEAM</a:t>
              </a:r>
            </a:p>
            <a:p>
              <a:pPr algn="ctr"/>
              <a:endParaRPr lang="fr-FR" sz="1100" b="1" dirty="0">
                <a:solidFill>
                  <a:srgbClr val="0683AA"/>
                </a:solidFill>
              </a:endParaRPr>
            </a:p>
            <a:p>
              <a:pPr algn="ctr"/>
              <a:r>
                <a:rPr lang="fr-FR" sz="700" dirty="0">
                  <a:solidFill>
                    <a:srgbClr val="0683AA"/>
                  </a:solidFill>
                </a:rPr>
                <a:t>Trouvez ensemble une solution à la </a:t>
              </a:r>
              <a:r>
                <a:rPr lang="fr-FR" sz="700" b="1" dirty="0">
                  <a:solidFill>
                    <a:srgbClr val="FF0000"/>
                  </a:solidFill>
                </a:rPr>
                <a:t>CRISE</a:t>
              </a:r>
              <a:r>
                <a:rPr lang="fr-FR" sz="700" dirty="0">
                  <a:solidFill>
                    <a:srgbClr val="0683AA"/>
                  </a:solidFill>
                </a:rPr>
                <a:t>, et exposez cette solution à ⚖️</a:t>
              </a:r>
              <a:r>
                <a:rPr lang="fr-FR" sz="700" b="1" dirty="0">
                  <a:solidFill>
                    <a:srgbClr val="0683AA"/>
                  </a:solidFill>
                </a:rPr>
                <a:t>DESTIN</a:t>
              </a:r>
              <a:r>
                <a:rPr lang="fr-FR" sz="700" dirty="0">
                  <a:solidFill>
                    <a:srgbClr val="0683AA"/>
                  </a:solidFill>
                </a:rPr>
                <a:t>.</a:t>
              </a:r>
              <a:r>
                <a:rPr lang="fr-FR" sz="700" b="0" dirty="0">
                  <a:solidFill>
                    <a:srgbClr val="0683AA"/>
                  </a:solidFill>
                </a:rPr>
                <a:t>  </a:t>
              </a:r>
              <a:endParaRPr lang="fr-FR" sz="700" dirty="0">
                <a:solidFill>
                  <a:srgbClr val="0683AA"/>
                </a:solidFill>
              </a:endParaRPr>
            </a:p>
          </p:txBody>
        </p:sp>
      </p:grpSp>
      <p:grpSp>
        <p:nvGrpSpPr>
          <p:cNvPr id="91" name="Groupe 90">
            <a:extLst>
              <a:ext uri="{FF2B5EF4-FFF2-40B4-BE49-F238E27FC236}">
                <a16:creationId xmlns:a16="http://schemas.microsoft.com/office/drawing/2014/main" id="{9DF2D0F0-FD85-4935-8B99-FB7C65A87387}"/>
              </a:ext>
            </a:extLst>
          </p:cNvPr>
          <p:cNvGrpSpPr/>
          <p:nvPr/>
        </p:nvGrpSpPr>
        <p:grpSpPr>
          <a:xfrm>
            <a:off x="8780688" y="1308549"/>
            <a:ext cx="1184252" cy="1589392"/>
            <a:chOff x="1080117" y="170895"/>
            <a:chExt cx="2361459" cy="3169328"/>
          </a:xfrm>
        </p:grpSpPr>
        <p:sp>
          <p:nvSpPr>
            <p:cNvPr id="92" name="Rectangle 91">
              <a:extLst>
                <a:ext uri="{FF2B5EF4-FFF2-40B4-BE49-F238E27FC236}">
                  <a16:creationId xmlns:a16="http://schemas.microsoft.com/office/drawing/2014/main" id="{8269BE53-FD03-4704-8212-9C44E29F6D10}"/>
                </a:ext>
              </a:extLst>
            </p:cNvPr>
            <p:cNvSpPr/>
            <p:nvPr/>
          </p:nvSpPr>
          <p:spPr>
            <a:xfrm>
              <a:off x="1080117" y="170895"/>
              <a:ext cx="2361459" cy="3169328"/>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endParaRPr lang="en-US" sz="2400" b="1" dirty="0">
                <a:solidFill>
                  <a:schemeClr val="bg1"/>
                </a:solidFill>
              </a:endParaRPr>
            </a:p>
            <a:p>
              <a:pPr algn="ctr"/>
              <a:r>
                <a:rPr lang="en-US" sz="2400" b="1" dirty="0">
                  <a:solidFill>
                    <a:schemeClr val="bg1"/>
                  </a:solidFill>
                </a:rPr>
                <a:t>RÔLES</a:t>
              </a:r>
            </a:p>
            <a:p>
              <a:pPr algn="ctr"/>
              <a:r>
                <a:rPr lang="fr-FR" sz="2400" b="1" dirty="0">
                  <a:solidFill>
                    <a:schemeClr val="bg1"/>
                  </a:solidFill>
                </a:rPr>
                <a:t>💪</a:t>
              </a:r>
              <a:endParaRPr lang="en-US" sz="2400" b="1" dirty="0">
                <a:solidFill>
                  <a:schemeClr val="bg1"/>
                </a:solidFill>
              </a:endParaRPr>
            </a:p>
          </p:txBody>
        </p:sp>
        <p:sp>
          <p:nvSpPr>
            <p:cNvPr id="93" name="Rectangle 92">
              <a:extLst>
                <a:ext uri="{FF2B5EF4-FFF2-40B4-BE49-F238E27FC236}">
                  <a16:creationId xmlns:a16="http://schemas.microsoft.com/office/drawing/2014/main" id="{E9B89565-4D8A-4BE6-9E3E-BE9F7E60BBD0}"/>
                </a:ext>
              </a:extLst>
            </p:cNvPr>
            <p:cNvSpPr/>
            <p:nvPr/>
          </p:nvSpPr>
          <p:spPr>
            <a:xfrm>
              <a:off x="1301319" y="346229"/>
              <a:ext cx="1944210" cy="27964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0" dirty="0">
                  <a:solidFill>
                    <a:srgbClr val="0683AA"/>
                  </a:solidFill>
                </a:rPr>
                <a:t>💪 </a:t>
              </a:r>
            </a:p>
            <a:p>
              <a:pPr algn="ctr"/>
              <a:r>
                <a:rPr lang="fr-FR" sz="1100" b="1" dirty="0">
                  <a:solidFill>
                    <a:srgbClr val="0683AA"/>
                  </a:solidFill>
                </a:rPr>
                <a:t>ROBUSTEAM</a:t>
              </a:r>
            </a:p>
            <a:p>
              <a:pPr algn="ctr"/>
              <a:endParaRPr lang="fr-FR" sz="1100" b="1" dirty="0">
                <a:solidFill>
                  <a:srgbClr val="0683AA"/>
                </a:solidFill>
              </a:endParaRPr>
            </a:p>
            <a:p>
              <a:pPr algn="ctr"/>
              <a:r>
                <a:rPr lang="fr-FR" sz="700" dirty="0">
                  <a:solidFill>
                    <a:srgbClr val="0683AA"/>
                  </a:solidFill>
                </a:rPr>
                <a:t>Trouvez ensemble une solution à la </a:t>
              </a:r>
              <a:r>
                <a:rPr lang="fr-FR" sz="700" b="1" dirty="0">
                  <a:solidFill>
                    <a:srgbClr val="FF0000"/>
                  </a:solidFill>
                </a:rPr>
                <a:t>CRISE</a:t>
              </a:r>
              <a:r>
                <a:rPr lang="fr-FR" sz="700" dirty="0">
                  <a:solidFill>
                    <a:srgbClr val="0683AA"/>
                  </a:solidFill>
                </a:rPr>
                <a:t>, et exposez cette solution à ⚖️</a:t>
              </a:r>
              <a:r>
                <a:rPr lang="fr-FR" sz="700" b="1" dirty="0">
                  <a:solidFill>
                    <a:srgbClr val="0683AA"/>
                  </a:solidFill>
                </a:rPr>
                <a:t>DESTIN</a:t>
              </a:r>
              <a:r>
                <a:rPr lang="fr-FR" sz="700" dirty="0">
                  <a:solidFill>
                    <a:srgbClr val="0683AA"/>
                  </a:solidFill>
                </a:rPr>
                <a:t>.</a:t>
              </a:r>
              <a:r>
                <a:rPr lang="fr-FR" sz="700" b="0" dirty="0">
                  <a:solidFill>
                    <a:srgbClr val="0683AA"/>
                  </a:solidFill>
                </a:rPr>
                <a:t>  </a:t>
              </a:r>
              <a:endParaRPr lang="fr-FR" sz="700" dirty="0">
                <a:solidFill>
                  <a:srgbClr val="0683AA"/>
                </a:solidFill>
              </a:endParaRPr>
            </a:p>
          </p:txBody>
        </p:sp>
      </p:grpSp>
      <p:grpSp>
        <p:nvGrpSpPr>
          <p:cNvPr id="94" name="Groupe 93">
            <a:extLst>
              <a:ext uri="{FF2B5EF4-FFF2-40B4-BE49-F238E27FC236}">
                <a16:creationId xmlns:a16="http://schemas.microsoft.com/office/drawing/2014/main" id="{F1AFD441-7C52-45B2-88C5-8B037FFAC162}"/>
              </a:ext>
            </a:extLst>
          </p:cNvPr>
          <p:cNvGrpSpPr/>
          <p:nvPr/>
        </p:nvGrpSpPr>
        <p:grpSpPr>
          <a:xfrm>
            <a:off x="8852756" y="1397770"/>
            <a:ext cx="1184252" cy="1589392"/>
            <a:chOff x="1080117" y="170895"/>
            <a:chExt cx="2361459" cy="3169328"/>
          </a:xfrm>
        </p:grpSpPr>
        <p:sp>
          <p:nvSpPr>
            <p:cNvPr id="95" name="Rectangle 94">
              <a:extLst>
                <a:ext uri="{FF2B5EF4-FFF2-40B4-BE49-F238E27FC236}">
                  <a16:creationId xmlns:a16="http://schemas.microsoft.com/office/drawing/2014/main" id="{C470FB02-6576-4950-9A02-C897DA394992}"/>
                </a:ext>
              </a:extLst>
            </p:cNvPr>
            <p:cNvSpPr/>
            <p:nvPr/>
          </p:nvSpPr>
          <p:spPr>
            <a:xfrm>
              <a:off x="1080117" y="170895"/>
              <a:ext cx="2361459" cy="3169328"/>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bg1"/>
                  </a:solidFill>
                </a:rPr>
                <a:t>⚖️</a:t>
              </a:r>
              <a:endParaRPr lang="en-US" sz="2400" b="1" dirty="0">
                <a:solidFill>
                  <a:schemeClr val="bg1"/>
                </a:solidFill>
              </a:endParaRPr>
            </a:p>
            <a:p>
              <a:pPr algn="ctr"/>
              <a:r>
                <a:rPr lang="en-US" sz="2400" b="1" dirty="0">
                  <a:solidFill>
                    <a:schemeClr val="bg1"/>
                  </a:solidFill>
                </a:rPr>
                <a:t>RÔLES</a:t>
              </a:r>
            </a:p>
            <a:p>
              <a:pPr algn="ctr"/>
              <a:r>
                <a:rPr lang="fr-FR" sz="2400" b="1" dirty="0">
                  <a:solidFill>
                    <a:schemeClr val="bg1"/>
                  </a:solidFill>
                </a:rPr>
                <a:t>💪</a:t>
              </a:r>
              <a:endParaRPr lang="en-US" sz="2400" b="1" dirty="0">
                <a:solidFill>
                  <a:schemeClr val="bg1"/>
                </a:solidFill>
              </a:endParaRPr>
            </a:p>
          </p:txBody>
        </p:sp>
        <p:sp>
          <p:nvSpPr>
            <p:cNvPr id="96" name="Rectangle 95">
              <a:extLst>
                <a:ext uri="{FF2B5EF4-FFF2-40B4-BE49-F238E27FC236}">
                  <a16:creationId xmlns:a16="http://schemas.microsoft.com/office/drawing/2014/main" id="{72C9BF68-C3C1-4BBB-A30E-FFE32ED8E1DE}"/>
                </a:ext>
              </a:extLst>
            </p:cNvPr>
            <p:cNvSpPr/>
            <p:nvPr/>
          </p:nvSpPr>
          <p:spPr>
            <a:xfrm>
              <a:off x="1301319" y="346229"/>
              <a:ext cx="1944210" cy="27964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100" b="0" dirty="0">
                  <a:solidFill>
                    <a:srgbClr val="0683AA"/>
                  </a:solidFill>
                </a:rPr>
                <a:t>💪 </a:t>
              </a:r>
            </a:p>
            <a:p>
              <a:pPr algn="ctr"/>
              <a:r>
                <a:rPr lang="fr-FR" sz="1100" b="1" dirty="0">
                  <a:solidFill>
                    <a:srgbClr val="0683AA"/>
                  </a:solidFill>
                </a:rPr>
                <a:t>ROBUSTEAM</a:t>
              </a:r>
            </a:p>
            <a:p>
              <a:pPr algn="ctr"/>
              <a:endParaRPr lang="fr-FR" sz="1100" b="1" dirty="0">
                <a:solidFill>
                  <a:srgbClr val="0683AA"/>
                </a:solidFill>
              </a:endParaRPr>
            </a:p>
            <a:p>
              <a:pPr algn="ctr"/>
              <a:r>
                <a:rPr lang="fr-FR" sz="700" dirty="0">
                  <a:solidFill>
                    <a:srgbClr val="0683AA"/>
                  </a:solidFill>
                </a:rPr>
                <a:t>Trouvez ensemble une solution à la </a:t>
              </a:r>
              <a:r>
                <a:rPr lang="fr-FR" sz="700" b="1" dirty="0">
                  <a:solidFill>
                    <a:srgbClr val="FF0000"/>
                  </a:solidFill>
                </a:rPr>
                <a:t>CRISE</a:t>
              </a:r>
              <a:r>
                <a:rPr lang="fr-FR" sz="700" dirty="0">
                  <a:solidFill>
                    <a:srgbClr val="0683AA"/>
                  </a:solidFill>
                </a:rPr>
                <a:t>, et exposez cette solution à ⚖️</a:t>
              </a:r>
              <a:r>
                <a:rPr lang="fr-FR" sz="700" b="1" dirty="0">
                  <a:solidFill>
                    <a:srgbClr val="0683AA"/>
                  </a:solidFill>
                </a:rPr>
                <a:t>DESTIN</a:t>
              </a:r>
              <a:r>
                <a:rPr lang="fr-FR" sz="700" dirty="0">
                  <a:solidFill>
                    <a:srgbClr val="0683AA"/>
                  </a:solidFill>
                </a:rPr>
                <a:t>.</a:t>
              </a:r>
              <a:r>
                <a:rPr lang="fr-FR" sz="700" b="0" dirty="0">
                  <a:solidFill>
                    <a:srgbClr val="0683AA"/>
                  </a:solidFill>
                </a:rPr>
                <a:t>  </a:t>
              </a:r>
              <a:endParaRPr lang="fr-FR" sz="700" dirty="0">
                <a:solidFill>
                  <a:srgbClr val="0683AA"/>
                </a:solidFill>
              </a:endParaRPr>
            </a:p>
          </p:txBody>
        </p:sp>
      </p:grpSp>
      <p:grpSp>
        <p:nvGrpSpPr>
          <p:cNvPr id="99" name="Groupe 98">
            <a:extLst>
              <a:ext uri="{FF2B5EF4-FFF2-40B4-BE49-F238E27FC236}">
                <a16:creationId xmlns:a16="http://schemas.microsoft.com/office/drawing/2014/main" id="{D015CCAD-331C-4B34-8C98-403AF46D202B}"/>
              </a:ext>
            </a:extLst>
          </p:cNvPr>
          <p:cNvGrpSpPr/>
          <p:nvPr/>
        </p:nvGrpSpPr>
        <p:grpSpPr>
          <a:xfrm>
            <a:off x="10486770" y="1221653"/>
            <a:ext cx="1184252" cy="1589392"/>
            <a:chOff x="8750424" y="170895"/>
            <a:chExt cx="2361459" cy="3169328"/>
          </a:xfrm>
        </p:grpSpPr>
        <p:sp>
          <p:nvSpPr>
            <p:cNvPr id="97" name="Rectangle 96">
              <a:extLst>
                <a:ext uri="{FF2B5EF4-FFF2-40B4-BE49-F238E27FC236}">
                  <a16:creationId xmlns:a16="http://schemas.microsoft.com/office/drawing/2014/main" id="{B56BA296-41E4-4DD7-8B25-218B4B249019}"/>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a:solidFill>
                    <a:schemeClr val="bg1"/>
                  </a:solidFill>
                </a:rPr>
                <a:t>⚖️</a:t>
              </a:r>
              <a:endParaRPr lang="en-US" sz="2400" b="1" dirty="0">
                <a:solidFill>
                  <a:schemeClr val="bg1"/>
                </a:solidFill>
              </a:endParaRPr>
            </a:p>
            <a:p>
              <a:pPr algn="ctr"/>
              <a:r>
                <a:rPr lang="en-US" sz="2400" b="1" dirty="0">
                  <a:solidFill>
                    <a:schemeClr val="bg1"/>
                  </a:solidFill>
                </a:rPr>
                <a:t>RÔLES</a:t>
              </a:r>
            </a:p>
            <a:p>
              <a:pPr algn="ctr"/>
              <a:r>
                <a:rPr lang="fr-FR" sz="2400" b="1">
                  <a:solidFill>
                    <a:schemeClr val="bg1"/>
                  </a:solidFill>
                </a:rPr>
                <a:t>💪</a:t>
              </a:r>
              <a:endParaRPr lang="en-US" sz="2400" b="1" dirty="0">
                <a:solidFill>
                  <a:schemeClr val="bg1"/>
                </a:solidFill>
              </a:endParaRPr>
            </a:p>
          </p:txBody>
        </p:sp>
        <p:sp>
          <p:nvSpPr>
            <p:cNvPr id="98" name="Rectangle 97">
              <a:extLst>
                <a:ext uri="{FF2B5EF4-FFF2-40B4-BE49-F238E27FC236}">
                  <a16:creationId xmlns:a16="http://schemas.microsoft.com/office/drawing/2014/main" id="{8E030C89-6769-4A4A-95AD-15F38F1D6A39}"/>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dirty="0">
                  <a:solidFill>
                    <a:schemeClr val="bg1"/>
                  </a:solidFill>
                </a:rPr>
                <a:t>⚖️</a:t>
              </a:r>
            </a:p>
            <a:p>
              <a:pPr algn="ctr"/>
              <a:r>
                <a:rPr lang="fr-FR" sz="1100" b="1" dirty="0">
                  <a:solidFill>
                    <a:srgbClr val="0683AA"/>
                  </a:solidFill>
                </a:rPr>
                <a:t>DESTIN</a:t>
              </a:r>
            </a:p>
            <a:p>
              <a:pPr algn="ctr"/>
              <a:endParaRPr lang="fr-FR" sz="1100" b="1" dirty="0">
                <a:solidFill>
                  <a:srgbClr val="0683AA"/>
                </a:solidFill>
              </a:endParaRPr>
            </a:p>
            <a:p>
              <a:pPr algn="ctr"/>
              <a:r>
                <a:rPr lang="fr-FR" sz="700" dirty="0">
                  <a:solidFill>
                    <a:srgbClr val="0683AA"/>
                  </a:solidFill>
                </a:rPr>
                <a:t>Votez </a:t>
              </a:r>
              <a:r>
                <a:rPr lang="fr-FR" sz="700" b="0" dirty="0">
                  <a:solidFill>
                    <a:srgbClr val="0683AA"/>
                  </a:solidFill>
                </a:rPr>
                <a:t>👍 ou 👎 pour la solution proposée par</a:t>
              </a:r>
              <a:r>
                <a:rPr lang="fr-FR" sz="700" b="0" dirty="0"/>
                <a:t> </a:t>
              </a:r>
              <a:r>
                <a:rPr lang="fr-FR" sz="700" b="0" dirty="0">
                  <a:solidFill>
                    <a:srgbClr val="0683AA"/>
                  </a:solidFill>
                </a:rPr>
                <a:t>💪ROBUSTEAM</a:t>
              </a:r>
              <a:r>
                <a:rPr lang="fr-FR" sz="700" dirty="0">
                  <a:solidFill>
                    <a:srgbClr val="0683AA"/>
                  </a:solidFill>
                </a:rPr>
                <a:t>. Expliquez votre vote rapidement.</a:t>
              </a:r>
              <a:r>
                <a:rPr lang="fr-FR" sz="700" b="0" dirty="0">
                  <a:solidFill>
                    <a:srgbClr val="0683AA"/>
                  </a:solidFill>
                </a:rPr>
                <a:t> </a:t>
              </a:r>
              <a:endParaRPr lang="fr-FR" sz="700" dirty="0">
                <a:solidFill>
                  <a:srgbClr val="0683AA"/>
                </a:solidFill>
              </a:endParaRPr>
            </a:p>
          </p:txBody>
        </p:sp>
      </p:grpSp>
      <p:grpSp>
        <p:nvGrpSpPr>
          <p:cNvPr id="100" name="Groupe 99">
            <a:extLst>
              <a:ext uri="{FF2B5EF4-FFF2-40B4-BE49-F238E27FC236}">
                <a16:creationId xmlns:a16="http://schemas.microsoft.com/office/drawing/2014/main" id="{7DAA18C4-FBD1-45A9-B270-4D644657166D}"/>
              </a:ext>
            </a:extLst>
          </p:cNvPr>
          <p:cNvGrpSpPr/>
          <p:nvPr/>
        </p:nvGrpSpPr>
        <p:grpSpPr>
          <a:xfrm>
            <a:off x="10408387" y="1290470"/>
            <a:ext cx="1184252" cy="1589392"/>
            <a:chOff x="8750424" y="170895"/>
            <a:chExt cx="2361459" cy="3169328"/>
          </a:xfrm>
        </p:grpSpPr>
        <p:sp>
          <p:nvSpPr>
            <p:cNvPr id="101" name="Rectangle 100">
              <a:extLst>
                <a:ext uri="{FF2B5EF4-FFF2-40B4-BE49-F238E27FC236}">
                  <a16:creationId xmlns:a16="http://schemas.microsoft.com/office/drawing/2014/main" id="{A11E6302-0FD7-403F-A635-B32F19B9EDB8}"/>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a:solidFill>
                    <a:schemeClr val="bg1"/>
                  </a:solidFill>
                </a:rPr>
                <a:t>⚖️</a:t>
              </a:r>
              <a:endParaRPr lang="en-US" sz="2400" b="1" dirty="0">
                <a:solidFill>
                  <a:schemeClr val="bg1"/>
                </a:solidFill>
              </a:endParaRPr>
            </a:p>
            <a:p>
              <a:pPr algn="ctr"/>
              <a:r>
                <a:rPr lang="en-US" sz="2400" b="1" dirty="0">
                  <a:solidFill>
                    <a:schemeClr val="bg1"/>
                  </a:solidFill>
                </a:rPr>
                <a:t>RÔLES</a:t>
              </a:r>
            </a:p>
            <a:p>
              <a:pPr algn="ctr"/>
              <a:r>
                <a:rPr lang="fr-FR" sz="2400" b="1">
                  <a:solidFill>
                    <a:schemeClr val="bg1"/>
                  </a:solidFill>
                </a:rPr>
                <a:t>💪</a:t>
              </a:r>
              <a:endParaRPr lang="en-US" sz="2400" b="1" dirty="0">
                <a:solidFill>
                  <a:schemeClr val="bg1"/>
                </a:solidFill>
              </a:endParaRPr>
            </a:p>
          </p:txBody>
        </p:sp>
        <p:sp>
          <p:nvSpPr>
            <p:cNvPr id="102" name="Rectangle 101">
              <a:extLst>
                <a:ext uri="{FF2B5EF4-FFF2-40B4-BE49-F238E27FC236}">
                  <a16:creationId xmlns:a16="http://schemas.microsoft.com/office/drawing/2014/main" id="{DD5C7E18-5003-4E68-BAAA-01AC32136C2D}"/>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dirty="0">
                  <a:solidFill>
                    <a:schemeClr val="bg1"/>
                  </a:solidFill>
                </a:rPr>
                <a:t>⚖️</a:t>
              </a:r>
            </a:p>
            <a:p>
              <a:pPr algn="ctr"/>
              <a:r>
                <a:rPr lang="fr-FR" sz="1100" b="1" dirty="0">
                  <a:solidFill>
                    <a:srgbClr val="0683AA"/>
                  </a:solidFill>
                </a:rPr>
                <a:t>DESTIN</a:t>
              </a:r>
            </a:p>
            <a:p>
              <a:pPr algn="ctr"/>
              <a:endParaRPr lang="fr-FR" sz="1100" b="1" dirty="0">
                <a:solidFill>
                  <a:srgbClr val="0683AA"/>
                </a:solidFill>
              </a:endParaRPr>
            </a:p>
            <a:p>
              <a:pPr algn="ctr"/>
              <a:r>
                <a:rPr lang="fr-FR" sz="700" dirty="0">
                  <a:solidFill>
                    <a:srgbClr val="0683AA"/>
                  </a:solidFill>
                </a:rPr>
                <a:t>Votez </a:t>
              </a:r>
              <a:r>
                <a:rPr lang="fr-FR" sz="700" b="0" dirty="0">
                  <a:solidFill>
                    <a:srgbClr val="0683AA"/>
                  </a:solidFill>
                </a:rPr>
                <a:t>👍 ou 👎 pour la solution proposée par</a:t>
              </a:r>
              <a:r>
                <a:rPr lang="fr-FR" sz="700" b="0" dirty="0"/>
                <a:t> </a:t>
              </a:r>
              <a:r>
                <a:rPr lang="fr-FR" sz="700" b="0" dirty="0">
                  <a:solidFill>
                    <a:srgbClr val="0683AA"/>
                  </a:solidFill>
                </a:rPr>
                <a:t>💪ROBUSTEAM</a:t>
              </a:r>
              <a:r>
                <a:rPr lang="fr-FR" sz="700" dirty="0">
                  <a:solidFill>
                    <a:srgbClr val="0683AA"/>
                  </a:solidFill>
                </a:rPr>
                <a:t>. Expliquez votre vote rapidement.</a:t>
              </a:r>
              <a:r>
                <a:rPr lang="fr-FR" sz="700" b="0" dirty="0">
                  <a:solidFill>
                    <a:srgbClr val="0683AA"/>
                  </a:solidFill>
                </a:rPr>
                <a:t> </a:t>
              </a:r>
              <a:endParaRPr lang="fr-FR" sz="700" dirty="0">
                <a:solidFill>
                  <a:srgbClr val="0683AA"/>
                </a:solidFill>
              </a:endParaRPr>
            </a:p>
          </p:txBody>
        </p:sp>
      </p:grpSp>
      <p:grpSp>
        <p:nvGrpSpPr>
          <p:cNvPr id="103" name="Groupe 102">
            <a:extLst>
              <a:ext uri="{FF2B5EF4-FFF2-40B4-BE49-F238E27FC236}">
                <a16:creationId xmlns:a16="http://schemas.microsoft.com/office/drawing/2014/main" id="{2C5BF4C6-D97D-46D1-A066-C59AD05B9624}"/>
              </a:ext>
            </a:extLst>
          </p:cNvPr>
          <p:cNvGrpSpPr/>
          <p:nvPr/>
        </p:nvGrpSpPr>
        <p:grpSpPr>
          <a:xfrm>
            <a:off x="10336836" y="1388917"/>
            <a:ext cx="1184252" cy="1589392"/>
            <a:chOff x="8750424" y="170895"/>
            <a:chExt cx="2361459" cy="3169328"/>
          </a:xfrm>
        </p:grpSpPr>
        <p:sp>
          <p:nvSpPr>
            <p:cNvPr id="104" name="Rectangle 103">
              <a:extLst>
                <a:ext uri="{FF2B5EF4-FFF2-40B4-BE49-F238E27FC236}">
                  <a16:creationId xmlns:a16="http://schemas.microsoft.com/office/drawing/2014/main" id="{AD920750-5141-4B10-BFF9-101065D3CD3D}"/>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a:solidFill>
                    <a:schemeClr val="bg1"/>
                  </a:solidFill>
                </a:rPr>
                <a:t>⚖️</a:t>
              </a:r>
              <a:endParaRPr lang="en-US" sz="2400" b="1" dirty="0">
                <a:solidFill>
                  <a:schemeClr val="bg1"/>
                </a:solidFill>
              </a:endParaRPr>
            </a:p>
            <a:p>
              <a:pPr algn="ctr"/>
              <a:r>
                <a:rPr lang="en-US" sz="2400" b="1" dirty="0">
                  <a:solidFill>
                    <a:schemeClr val="bg1"/>
                  </a:solidFill>
                </a:rPr>
                <a:t>RÔLES</a:t>
              </a:r>
            </a:p>
            <a:p>
              <a:pPr algn="ctr"/>
              <a:r>
                <a:rPr lang="fr-FR" sz="2400" b="1">
                  <a:solidFill>
                    <a:schemeClr val="bg1"/>
                  </a:solidFill>
                </a:rPr>
                <a:t>💪</a:t>
              </a:r>
              <a:endParaRPr lang="en-US" sz="2400" b="1" dirty="0">
                <a:solidFill>
                  <a:schemeClr val="bg1"/>
                </a:solidFill>
              </a:endParaRPr>
            </a:p>
          </p:txBody>
        </p:sp>
        <p:sp>
          <p:nvSpPr>
            <p:cNvPr id="105" name="Rectangle 104">
              <a:extLst>
                <a:ext uri="{FF2B5EF4-FFF2-40B4-BE49-F238E27FC236}">
                  <a16:creationId xmlns:a16="http://schemas.microsoft.com/office/drawing/2014/main" id="{E0208BA8-BBBA-4094-97A8-43B6146AEF01}"/>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dirty="0">
                  <a:solidFill>
                    <a:schemeClr val="bg1"/>
                  </a:solidFill>
                </a:rPr>
                <a:t>⚖️</a:t>
              </a:r>
            </a:p>
            <a:p>
              <a:pPr algn="ctr"/>
              <a:r>
                <a:rPr lang="fr-FR" sz="1100" b="1" dirty="0">
                  <a:solidFill>
                    <a:srgbClr val="0683AA"/>
                  </a:solidFill>
                </a:rPr>
                <a:t>DESTIN</a:t>
              </a:r>
            </a:p>
            <a:p>
              <a:pPr algn="ctr"/>
              <a:endParaRPr lang="fr-FR" sz="1100" b="1" dirty="0">
                <a:solidFill>
                  <a:srgbClr val="0683AA"/>
                </a:solidFill>
              </a:endParaRPr>
            </a:p>
            <a:p>
              <a:pPr algn="ctr"/>
              <a:r>
                <a:rPr lang="fr-FR" sz="700" dirty="0">
                  <a:solidFill>
                    <a:srgbClr val="0683AA"/>
                  </a:solidFill>
                </a:rPr>
                <a:t>Votez </a:t>
              </a:r>
              <a:r>
                <a:rPr lang="fr-FR" sz="700" b="0" dirty="0">
                  <a:solidFill>
                    <a:srgbClr val="0683AA"/>
                  </a:solidFill>
                </a:rPr>
                <a:t>👍 ou 👎 pour la solution proposée par</a:t>
              </a:r>
              <a:r>
                <a:rPr lang="fr-FR" sz="700" b="0" dirty="0"/>
                <a:t> </a:t>
              </a:r>
              <a:r>
                <a:rPr lang="fr-FR" sz="700" b="0" dirty="0">
                  <a:solidFill>
                    <a:srgbClr val="0683AA"/>
                  </a:solidFill>
                </a:rPr>
                <a:t>💪ROBUSTEAM</a:t>
              </a:r>
              <a:r>
                <a:rPr lang="fr-FR" sz="700" dirty="0">
                  <a:solidFill>
                    <a:srgbClr val="0683AA"/>
                  </a:solidFill>
                </a:rPr>
                <a:t>. Expliquez votre vote rapidement.</a:t>
              </a:r>
              <a:r>
                <a:rPr lang="fr-FR" sz="700" b="0" dirty="0">
                  <a:solidFill>
                    <a:srgbClr val="0683AA"/>
                  </a:solidFill>
                </a:rPr>
                <a:t> </a:t>
              </a:r>
              <a:endParaRPr lang="fr-FR" sz="700" dirty="0">
                <a:solidFill>
                  <a:srgbClr val="0683AA"/>
                </a:solidFill>
              </a:endParaRPr>
            </a:p>
          </p:txBody>
        </p:sp>
      </p:grpSp>
      <p:sp>
        <p:nvSpPr>
          <p:cNvPr id="106" name="Flèche : bas 105">
            <a:extLst>
              <a:ext uri="{FF2B5EF4-FFF2-40B4-BE49-F238E27FC236}">
                <a16:creationId xmlns:a16="http://schemas.microsoft.com/office/drawing/2014/main" id="{9E594F78-42F5-4CDE-9ED9-ABC044B17C7E}"/>
              </a:ext>
            </a:extLst>
          </p:cNvPr>
          <p:cNvSpPr/>
          <p:nvPr/>
        </p:nvSpPr>
        <p:spPr>
          <a:xfrm rot="19730618">
            <a:off x="9443340" y="3038715"/>
            <a:ext cx="550052" cy="440403"/>
          </a:xfrm>
          <a:prstGeom prst="downArrow">
            <a:avLst/>
          </a:prstGeom>
          <a:solidFill>
            <a:srgbClr val="0683AA"/>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Flèche : bas 106">
            <a:extLst>
              <a:ext uri="{FF2B5EF4-FFF2-40B4-BE49-F238E27FC236}">
                <a16:creationId xmlns:a16="http://schemas.microsoft.com/office/drawing/2014/main" id="{2CE91EC3-E2CD-4826-99D5-0F70033FD868}"/>
              </a:ext>
            </a:extLst>
          </p:cNvPr>
          <p:cNvSpPr/>
          <p:nvPr/>
        </p:nvSpPr>
        <p:spPr>
          <a:xfrm rot="1483052">
            <a:off x="10351133" y="3055687"/>
            <a:ext cx="550052" cy="440403"/>
          </a:xfrm>
          <a:prstGeom prst="downArrow">
            <a:avLst/>
          </a:prstGeom>
          <a:solidFill>
            <a:srgbClr val="0683AA"/>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378315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B32EE7-F3E3-4CC6-B739-FDCD7529653F}"/>
              </a:ext>
            </a:extLst>
          </p:cNvPr>
          <p:cNvSpPr>
            <a:spLocks noGrp="1"/>
          </p:cNvSpPr>
          <p:nvPr>
            <p:ph type="title"/>
          </p:nvPr>
        </p:nvSpPr>
        <p:spPr/>
        <p:txBody>
          <a:bodyPr/>
          <a:lstStyle/>
          <a:p>
            <a:r>
              <a:rPr lang="en-US" b="1" dirty="0"/>
              <a:t>NIVEAUX DE DIFFICULTÉ</a:t>
            </a:r>
          </a:p>
        </p:txBody>
      </p:sp>
      <p:sp>
        <p:nvSpPr>
          <p:cNvPr id="36" name="ZoneTexte 35">
            <a:extLst>
              <a:ext uri="{FF2B5EF4-FFF2-40B4-BE49-F238E27FC236}">
                <a16:creationId xmlns:a16="http://schemas.microsoft.com/office/drawing/2014/main" id="{77A8C286-0103-4E75-86B2-02A5BB523BB0}"/>
              </a:ext>
            </a:extLst>
          </p:cNvPr>
          <p:cNvSpPr txBox="1"/>
          <p:nvPr/>
        </p:nvSpPr>
        <p:spPr>
          <a:xfrm>
            <a:off x="634608" y="5390570"/>
            <a:ext cx="2880000" cy="1169551"/>
          </a:xfrm>
          <a:prstGeom prst="rect">
            <a:avLst/>
          </a:prstGeom>
          <a:solidFill>
            <a:schemeClr val="bg1">
              <a:lumMod val="95000"/>
            </a:schemeClr>
          </a:solidFill>
        </p:spPr>
        <p:txBody>
          <a:bodyPr wrap="square" rtlCol="0">
            <a:spAutoFit/>
          </a:bodyPr>
          <a:lstStyle/>
          <a:p>
            <a:pPr algn="ctr"/>
            <a:r>
              <a:rPr lang="fr-FR" sz="1400" dirty="0">
                <a:solidFill>
                  <a:srgbClr val="FF0000"/>
                </a:solidFill>
              </a:rPr>
              <a:t>🔥</a:t>
            </a:r>
            <a:r>
              <a:rPr lang="fr-FR" sz="1400" b="1" dirty="0">
                <a:solidFill>
                  <a:srgbClr val="FF0000"/>
                </a:solidFill>
              </a:rPr>
              <a:t> </a:t>
            </a:r>
            <a:r>
              <a:rPr lang="fr-FR" sz="1400" dirty="0"/>
              <a:t> </a:t>
            </a:r>
          </a:p>
          <a:p>
            <a:pPr algn="ctr"/>
            <a:r>
              <a:rPr lang="fr-FR" sz="1400" dirty="0"/>
              <a:t>Vous êtes une équipe débutante à </a:t>
            </a:r>
            <a:r>
              <a:rPr lang="fr-FR" sz="1400" b="1" dirty="0"/>
              <a:t>💪ROBUSTEAM</a:t>
            </a:r>
            <a:r>
              <a:rPr lang="fr-FR" sz="1400" b="0" dirty="0"/>
              <a:t>, ce niveau est idéal pour apprendre à jouer sans prendre trop de risques.</a:t>
            </a:r>
            <a:endParaRPr lang="fr-FR" sz="1400" dirty="0"/>
          </a:p>
        </p:txBody>
      </p:sp>
      <p:sp>
        <p:nvSpPr>
          <p:cNvPr id="37" name="ZoneTexte 36">
            <a:extLst>
              <a:ext uri="{FF2B5EF4-FFF2-40B4-BE49-F238E27FC236}">
                <a16:creationId xmlns:a16="http://schemas.microsoft.com/office/drawing/2014/main" id="{81FABDB2-5F36-43A0-A4BA-857C00FB157E}"/>
              </a:ext>
            </a:extLst>
          </p:cNvPr>
          <p:cNvSpPr txBox="1"/>
          <p:nvPr/>
        </p:nvSpPr>
        <p:spPr>
          <a:xfrm>
            <a:off x="4428632" y="5390570"/>
            <a:ext cx="2880000" cy="1169551"/>
          </a:xfrm>
          <a:prstGeom prst="rect">
            <a:avLst/>
          </a:prstGeom>
          <a:solidFill>
            <a:schemeClr val="bg1">
              <a:lumMod val="95000"/>
            </a:schemeClr>
          </a:solidFill>
        </p:spPr>
        <p:txBody>
          <a:bodyPr wrap="square" rtlCol="0">
            <a:spAutoFit/>
          </a:bodyPr>
          <a:lstStyle/>
          <a:p>
            <a:pPr algn="ctr"/>
            <a:r>
              <a:rPr lang="fr-FR" sz="1400" dirty="0">
                <a:solidFill>
                  <a:srgbClr val="FF0000"/>
                </a:solidFill>
              </a:rPr>
              <a:t>🔥</a:t>
            </a:r>
            <a:endParaRPr lang="fr-FR" sz="1400" dirty="0"/>
          </a:p>
          <a:p>
            <a:pPr algn="ctr"/>
            <a:r>
              <a:rPr lang="fr-FR" sz="1400" dirty="0"/>
              <a:t>Vous avez déjà un peu joué et êtes prêts à affronter le niveau de crises pour lequel </a:t>
            </a:r>
            <a:r>
              <a:rPr lang="fr-FR" sz="1400" b="1" dirty="0"/>
              <a:t>💪ROBUSTEAM</a:t>
            </a:r>
            <a:r>
              <a:rPr lang="fr-FR" sz="1400" b="0" dirty="0"/>
              <a:t> a été créé.</a:t>
            </a:r>
            <a:endParaRPr lang="fr-FR" sz="1400" dirty="0"/>
          </a:p>
        </p:txBody>
      </p:sp>
      <p:sp>
        <p:nvSpPr>
          <p:cNvPr id="84" name="ZoneTexte 83">
            <a:extLst>
              <a:ext uri="{FF2B5EF4-FFF2-40B4-BE49-F238E27FC236}">
                <a16:creationId xmlns:a16="http://schemas.microsoft.com/office/drawing/2014/main" id="{9BFDFA05-3831-4908-815A-F5DB2675E36D}"/>
              </a:ext>
            </a:extLst>
          </p:cNvPr>
          <p:cNvSpPr txBox="1"/>
          <p:nvPr/>
        </p:nvSpPr>
        <p:spPr>
          <a:xfrm>
            <a:off x="8655152" y="5390570"/>
            <a:ext cx="2880000" cy="1384995"/>
          </a:xfrm>
          <a:prstGeom prst="rect">
            <a:avLst/>
          </a:prstGeom>
          <a:solidFill>
            <a:schemeClr val="bg1">
              <a:lumMod val="95000"/>
            </a:schemeClr>
          </a:solidFill>
        </p:spPr>
        <p:txBody>
          <a:bodyPr wrap="square" rtlCol="0">
            <a:spAutoFit/>
          </a:bodyPr>
          <a:lstStyle/>
          <a:p>
            <a:pPr algn="ctr"/>
            <a:r>
              <a:rPr lang="fr-FR" sz="1400" dirty="0">
                <a:solidFill>
                  <a:srgbClr val="FF0000"/>
                </a:solidFill>
              </a:rPr>
              <a:t>🔥🔥🔥</a:t>
            </a:r>
            <a:r>
              <a:rPr lang="fr-FR" sz="1400" b="1" dirty="0">
                <a:solidFill>
                  <a:srgbClr val="FF0000"/>
                </a:solidFill>
              </a:rPr>
              <a:t> </a:t>
            </a:r>
            <a:r>
              <a:rPr lang="fr-FR" sz="1400" dirty="0"/>
              <a:t> </a:t>
            </a:r>
          </a:p>
          <a:p>
            <a:pPr algn="ctr"/>
            <a:r>
              <a:rPr lang="fr-FR" sz="1400" dirty="0"/>
              <a:t>Vous êtes déjà rôdés, solidaires, dotés d’une force morale incroyable. On aurait pu nommer le jeu </a:t>
            </a:r>
            <a:r>
              <a:rPr lang="fr-FR" sz="1400" b="1" dirty="0"/>
              <a:t>💪ROBUSTEAM </a:t>
            </a:r>
            <a:r>
              <a:rPr lang="fr-FR" sz="1400" dirty="0"/>
              <a:t>autrement : par votre nom d’équipe exemplaire.</a:t>
            </a:r>
          </a:p>
        </p:txBody>
      </p:sp>
      <p:sp>
        <p:nvSpPr>
          <p:cNvPr id="80" name="Rectangle 79">
            <a:extLst>
              <a:ext uri="{FF2B5EF4-FFF2-40B4-BE49-F238E27FC236}">
                <a16:creationId xmlns:a16="http://schemas.microsoft.com/office/drawing/2014/main" id="{01729CE5-31C7-49CC-8CF4-DB3A2C070F2B}"/>
              </a:ext>
            </a:extLst>
          </p:cNvPr>
          <p:cNvSpPr/>
          <p:nvPr/>
        </p:nvSpPr>
        <p:spPr>
          <a:xfrm>
            <a:off x="8362321" y="1848098"/>
            <a:ext cx="2097536" cy="2815116"/>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r>
              <a:rPr lang="fr-FR" sz="3600" b="1" dirty="0">
                <a:solidFill>
                  <a:srgbClr val="FF0000"/>
                </a:solidFill>
              </a:rPr>
              <a:t>🔥🔥</a:t>
            </a:r>
            <a:endParaRPr lang="en-US" sz="3600" b="1" dirty="0">
              <a:solidFill>
                <a:schemeClr val="bg1"/>
              </a:solidFill>
            </a:endParaRPr>
          </a:p>
        </p:txBody>
      </p:sp>
      <p:grpSp>
        <p:nvGrpSpPr>
          <p:cNvPr id="3" name="Groupe 2">
            <a:extLst>
              <a:ext uri="{FF2B5EF4-FFF2-40B4-BE49-F238E27FC236}">
                <a16:creationId xmlns:a16="http://schemas.microsoft.com/office/drawing/2014/main" id="{1FD0D91E-5445-43FE-B493-D92F58AB3CD2}"/>
              </a:ext>
            </a:extLst>
          </p:cNvPr>
          <p:cNvGrpSpPr/>
          <p:nvPr/>
        </p:nvGrpSpPr>
        <p:grpSpPr>
          <a:xfrm>
            <a:off x="241861" y="1848098"/>
            <a:ext cx="3580056" cy="3135079"/>
            <a:chOff x="-171310" y="1616185"/>
            <a:chExt cx="4094094" cy="3585224"/>
          </a:xfrm>
        </p:grpSpPr>
        <p:sp>
          <p:nvSpPr>
            <p:cNvPr id="78" name="Rectangle 77">
              <a:extLst>
                <a:ext uri="{FF2B5EF4-FFF2-40B4-BE49-F238E27FC236}">
                  <a16:creationId xmlns:a16="http://schemas.microsoft.com/office/drawing/2014/main" id="{7B343433-A7D8-410F-BCE5-E033FCDA911A}"/>
                </a:ext>
              </a:extLst>
            </p:cNvPr>
            <p:cNvSpPr/>
            <p:nvPr/>
          </p:nvSpPr>
          <p:spPr>
            <a:xfrm>
              <a:off x="-171310" y="1616185"/>
              <a:ext cx="2361459" cy="3169328"/>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bg1"/>
                  </a:solidFill>
                </a:rPr>
                <a:t>CRISE</a:t>
              </a:r>
            </a:p>
            <a:p>
              <a:pPr algn="ctr"/>
              <a:r>
                <a:rPr lang="fr-FR" sz="3200" b="1" dirty="0">
                  <a:solidFill>
                    <a:schemeClr val="bg1"/>
                  </a:solidFill>
                </a:rPr>
                <a:t>🔥</a:t>
              </a:r>
              <a:endParaRPr lang="en-US" sz="3200" b="1" dirty="0">
                <a:solidFill>
                  <a:schemeClr val="bg1"/>
                </a:solidFill>
              </a:endParaRPr>
            </a:p>
          </p:txBody>
        </p:sp>
        <p:sp>
          <p:nvSpPr>
            <p:cNvPr id="88" name="Rectangle 87">
              <a:extLst>
                <a:ext uri="{FF2B5EF4-FFF2-40B4-BE49-F238E27FC236}">
                  <a16:creationId xmlns:a16="http://schemas.microsoft.com/office/drawing/2014/main" id="{BA185F27-5CAD-4CD2-899A-9E7B8DA0B510}"/>
                </a:ext>
              </a:extLst>
            </p:cNvPr>
            <p:cNvSpPr/>
            <p:nvPr/>
          </p:nvSpPr>
          <p:spPr>
            <a:xfrm>
              <a:off x="1561325" y="2032081"/>
              <a:ext cx="2361459" cy="3169328"/>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dirty="0">
                <a:solidFill>
                  <a:schemeClr val="bg1"/>
                </a:solidFill>
              </a:endParaRPr>
            </a:p>
          </p:txBody>
        </p:sp>
        <p:sp>
          <p:nvSpPr>
            <p:cNvPr id="89" name="Rectangle 88">
              <a:extLst>
                <a:ext uri="{FF2B5EF4-FFF2-40B4-BE49-F238E27FC236}">
                  <a16:creationId xmlns:a16="http://schemas.microsoft.com/office/drawing/2014/main" id="{3BC9AE56-2AD9-4703-8AAE-095371545FDC}"/>
                </a:ext>
              </a:extLst>
            </p:cNvPr>
            <p:cNvSpPr/>
            <p:nvPr/>
          </p:nvSpPr>
          <p:spPr>
            <a:xfrm>
              <a:off x="1757374" y="220741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000" b="1" dirty="0">
                  <a:solidFill>
                    <a:srgbClr val="FF0000"/>
                  </a:solidFill>
                </a:rPr>
                <a:t>CRISE</a:t>
              </a:r>
            </a:p>
            <a:p>
              <a:pPr algn="ctr"/>
              <a:r>
                <a:rPr lang="fr-FR" sz="2000" b="1" dirty="0">
                  <a:solidFill>
                    <a:srgbClr val="FF0000"/>
                  </a:solidFill>
                </a:rPr>
                <a:t>🔥</a:t>
              </a:r>
            </a:p>
            <a:p>
              <a:pPr algn="ctr"/>
              <a:endParaRPr lang="fr-FR" sz="2000" b="1" dirty="0">
                <a:solidFill>
                  <a:srgbClr val="FF0000"/>
                </a:solidFill>
              </a:endParaRPr>
            </a:p>
            <a:p>
              <a:pPr algn="ctr"/>
              <a:r>
                <a:rPr lang="fr-FR" sz="1100" b="1" dirty="0">
                  <a:solidFill>
                    <a:srgbClr val="ED7D31"/>
                  </a:solidFill>
                </a:rPr>
                <a:t>{MEMBRE} </a:t>
              </a:r>
              <a:r>
                <a:rPr lang="fr-FR" sz="1100" dirty="0">
                  <a:solidFill>
                    <a:srgbClr val="FF0000"/>
                  </a:solidFill>
                </a:rPr>
                <a:t>a gagné à la loterie et décide de partir pour une année de voyages dans un trimestre maximum.</a:t>
              </a:r>
            </a:p>
            <a:p>
              <a:pPr algn="ctr"/>
              <a:endParaRPr lang="fr-FR" sz="1100" dirty="0">
                <a:solidFill>
                  <a:srgbClr val="FF0000"/>
                </a:solidFill>
              </a:endParaRPr>
            </a:p>
            <a:p>
              <a:pPr algn="ctr"/>
              <a:r>
                <a:rPr lang="fr-FR" sz="1100" dirty="0">
                  <a:solidFill>
                    <a:srgbClr val="FF0000"/>
                  </a:solidFill>
                </a:rPr>
                <a:t>Qu’allez-vous faire ? </a:t>
              </a:r>
            </a:p>
          </p:txBody>
        </p:sp>
        <p:pic>
          <p:nvPicPr>
            <p:cNvPr id="90" name="Image 89">
              <a:extLst>
                <a:ext uri="{FF2B5EF4-FFF2-40B4-BE49-F238E27FC236}">
                  <a16:creationId xmlns:a16="http://schemas.microsoft.com/office/drawing/2014/main" id="{940477D0-E694-4D4B-9508-3FE5AC0B3A2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71199" y="4728509"/>
              <a:ext cx="285360" cy="275373"/>
            </a:xfrm>
            <a:prstGeom prst="rect">
              <a:avLst/>
            </a:prstGeom>
          </p:spPr>
        </p:pic>
      </p:grpSp>
      <p:grpSp>
        <p:nvGrpSpPr>
          <p:cNvPr id="6" name="Groupe 5">
            <a:extLst>
              <a:ext uri="{FF2B5EF4-FFF2-40B4-BE49-F238E27FC236}">
                <a16:creationId xmlns:a16="http://schemas.microsoft.com/office/drawing/2014/main" id="{39ABA58F-D440-484A-BE17-1B44E5C237E4}"/>
              </a:ext>
            </a:extLst>
          </p:cNvPr>
          <p:cNvGrpSpPr/>
          <p:nvPr/>
        </p:nvGrpSpPr>
        <p:grpSpPr>
          <a:xfrm>
            <a:off x="4211355" y="1848098"/>
            <a:ext cx="3632349" cy="3135079"/>
            <a:chOff x="4211355" y="1848098"/>
            <a:chExt cx="3632349" cy="3135079"/>
          </a:xfrm>
        </p:grpSpPr>
        <p:sp>
          <p:nvSpPr>
            <p:cNvPr id="79" name="Rectangle 78">
              <a:extLst>
                <a:ext uri="{FF2B5EF4-FFF2-40B4-BE49-F238E27FC236}">
                  <a16:creationId xmlns:a16="http://schemas.microsoft.com/office/drawing/2014/main" id="{BEEB47F6-548C-4D11-9B4E-CC52727B5533}"/>
                </a:ext>
              </a:extLst>
            </p:cNvPr>
            <p:cNvSpPr/>
            <p:nvPr/>
          </p:nvSpPr>
          <p:spPr>
            <a:xfrm>
              <a:off x="4211355" y="1848098"/>
              <a:ext cx="2097536" cy="2815116"/>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200" b="1" dirty="0">
                  <a:solidFill>
                    <a:schemeClr val="bg1"/>
                  </a:solidFill>
                </a:rPr>
                <a:t>CRISE</a:t>
              </a:r>
            </a:p>
            <a:p>
              <a:pPr algn="ctr"/>
              <a:r>
                <a:rPr lang="fr-FR" sz="3200" b="1" dirty="0">
                  <a:solidFill>
                    <a:schemeClr val="bg1"/>
                  </a:solidFill>
                </a:rPr>
                <a:t>🔥🔥</a:t>
              </a:r>
              <a:endParaRPr lang="en-US" sz="3200" b="1" dirty="0">
                <a:solidFill>
                  <a:schemeClr val="bg1"/>
                </a:solidFill>
              </a:endParaRPr>
            </a:p>
          </p:txBody>
        </p:sp>
        <p:grpSp>
          <p:nvGrpSpPr>
            <p:cNvPr id="4" name="Groupe 3">
              <a:extLst>
                <a:ext uri="{FF2B5EF4-FFF2-40B4-BE49-F238E27FC236}">
                  <a16:creationId xmlns:a16="http://schemas.microsoft.com/office/drawing/2014/main" id="{E854BA20-0684-4EED-AEC8-07165CC4AD5A}"/>
                </a:ext>
              </a:extLst>
            </p:cNvPr>
            <p:cNvGrpSpPr/>
            <p:nvPr/>
          </p:nvGrpSpPr>
          <p:grpSpPr>
            <a:xfrm>
              <a:off x="5778740" y="2211776"/>
              <a:ext cx="2064964" cy="2771401"/>
              <a:chOff x="6240524" y="2017450"/>
              <a:chExt cx="2361459" cy="3169328"/>
            </a:xfrm>
          </p:grpSpPr>
          <p:sp>
            <p:nvSpPr>
              <p:cNvPr id="108" name="Rectangle 107">
                <a:extLst>
                  <a:ext uri="{FF2B5EF4-FFF2-40B4-BE49-F238E27FC236}">
                    <a16:creationId xmlns:a16="http://schemas.microsoft.com/office/drawing/2014/main" id="{68E4D738-501B-4EA8-ACBE-F9F364ACFC3A}"/>
                  </a:ext>
                </a:extLst>
              </p:cNvPr>
              <p:cNvSpPr/>
              <p:nvPr/>
            </p:nvSpPr>
            <p:spPr>
              <a:xfrm>
                <a:off x="6240524" y="2017450"/>
                <a:ext cx="2361459" cy="3169328"/>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9" name="Rectangle 108">
                <a:extLst>
                  <a:ext uri="{FF2B5EF4-FFF2-40B4-BE49-F238E27FC236}">
                    <a16:creationId xmlns:a16="http://schemas.microsoft.com/office/drawing/2014/main" id="{A946C071-2C06-42FB-B621-5BFC4F8BE1D5}"/>
                  </a:ext>
                </a:extLst>
              </p:cNvPr>
              <p:cNvSpPr/>
              <p:nvPr/>
            </p:nvSpPr>
            <p:spPr>
              <a:xfrm>
                <a:off x="6446927" y="2192784"/>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000" b="1" dirty="0">
                    <a:solidFill>
                      <a:srgbClr val="FF0000"/>
                    </a:solidFill>
                  </a:rPr>
                  <a:t>CRISE</a:t>
                </a:r>
              </a:p>
              <a:p>
                <a:pPr algn="ctr"/>
                <a:r>
                  <a:rPr lang="fr-FR" sz="2000" b="1" dirty="0">
                    <a:solidFill>
                      <a:srgbClr val="FF0000"/>
                    </a:solidFill>
                  </a:rPr>
                  <a:t>🔥 🔥 </a:t>
                </a:r>
              </a:p>
              <a:p>
                <a:pPr algn="ctr"/>
                <a:endParaRPr lang="fr-FR" sz="2000" b="1" dirty="0">
                  <a:solidFill>
                    <a:srgbClr val="FF0000"/>
                  </a:solidFill>
                </a:endParaRPr>
              </a:p>
              <a:p>
                <a:pPr algn="ctr"/>
                <a:r>
                  <a:rPr lang="fr-FR" sz="1100" dirty="0">
                    <a:solidFill>
                      <a:srgbClr val="FF0000"/>
                    </a:solidFill>
                  </a:rPr>
                  <a:t>En pleine visioconférence d’équipe, vous assistez à un malaise de </a:t>
                </a:r>
                <a:r>
                  <a:rPr lang="fr-FR" sz="1100" b="1" dirty="0">
                    <a:solidFill>
                      <a:srgbClr val="ED7D31"/>
                    </a:solidFill>
                  </a:rPr>
                  <a:t>{MEMBRE} </a:t>
                </a:r>
                <a:r>
                  <a:rPr lang="fr-FR" sz="1100" dirty="0">
                    <a:solidFill>
                      <a:srgbClr val="FF0000"/>
                    </a:solidFill>
                  </a:rPr>
                  <a:t>en direct, qui s’évanouit. A votre connaissance, il/elle est seul(e) chez lui/elle aujourd’hui.</a:t>
                </a:r>
              </a:p>
              <a:p>
                <a:pPr algn="ctr"/>
                <a:r>
                  <a:rPr lang="fr-FR" sz="1100" dirty="0">
                    <a:solidFill>
                      <a:srgbClr val="FF0000"/>
                    </a:solidFill>
                  </a:rPr>
                  <a:t>Qu’allez-vous faire ?</a:t>
                </a:r>
              </a:p>
            </p:txBody>
          </p:sp>
          <p:pic>
            <p:nvPicPr>
              <p:cNvPr id="110" name="Image 109">
                <a:extLst>
                  <a:ext uri="{FF2B5EF4-FFF2-40B4-BE49-F238E27FC236}">
                    <a16:creationId xmlns:a16="http://schemas.microsoft.com/office/drawing/2014/main" id="{D10BC1FC-A338-4282-8F2C-414E742B57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60752" y="4713878"/>
                <a:ext cx="285360" cy="275372"/>
              </a:xfrm>
              <a:prstGeom prst="rect">
                <a:avLst/>
              </a:prstGeom>
            </p:spPr>
          </p:pic>
        </p:grpSp>
      </p:grpSp>
      <p:grpSp>
        <p:nvGrpSpPr>
          <p:cNvPr id="5" name="Groupe 4">
            <a:extLst>
              <a:ext uri="{FF2B5EF4-FFF2-40B4-BE49-F238E27FC236}">
                <a16:creationId xmlns:a16="http://schemas.microsoft.com/office/drawing/2014/main" id="{170A61FB-A03C-4B6B-BB17-4D9865995599}"/>
              </a:ext>
            </a:extLst>
          </p:cNvPr>
          <p:cNvGrpSpPr/>
          <p:nvPr/>
        </p:nvGrpSpPr>
        <p:grpSpPr>
          <a:xfrm>
            <a:off x="9953703" y="2211625"/>
            <a:ext cx="2064689" cy="2771031"/>
            <a:chOff x="9109427" y="1364813"/>
            <a:chExt cx="2361459" cy="3169328"/>
          </a:xfrm>
        </p:grpSpPr>
        <p:sp>
          <p:nvSpPr>
            <p:cNvPr id="113" name="Rectangle 112">
              <a:extLst>
                <a:ext uri="{FF2B5EF4-FFF2-40B4-BE49-F238E27FC236}">
                  <a16:creationId xmlns:a16="http://schemas.microsoft.com/office/drawing/2014/main" id="{55EC1C6B-DDCC-4068-B5B2-8ABFD33CE51E}"/>
                </a:ext>
              </a:extLst>
            </p:cNvPr>
            <p:cNvSpPr/>
            <p:nvPr/>
          </p:nvSpPr>
          <p:spPr>
            <a:xfrm>
              <a:off x="9109427" y="1364813"/>
              <a:ext cx="2361459" cy="3169328"/>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dirty="0">
                <a:solidFill>
                  <a:schemeClr val="bg1"/>
                </a:solidFill>
              </a:endParaRPr>
            </a:p>
          </p:txBody>
        </p:sp>
        <p:sp>
          <p:nvSpPr>
            <p:cNvPr id="114" name="Rectangle 113">
              <a:extLst>
                <a:ext uri="{FF2B5EF4-FFF2-40B4-BE49-F238E27FC236}">
                  <a16:creationId xmlns:a16="http://schemas.microsoft.com/office/drawing/2014/main" id="{647A18A5-77CB-46BC-8B27-9515D73A2A44}"/>
                </a:ext>
              </a:extLst>
            </p:cNvPr>
            <p:cNvSpPr/>
            <p:nvPr/>
          </p:nvSpPr>
          <p:spPr>
            <a:xfrm>
              <a:off x="9305475" y="1540147"/>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000" b="1" dirty="0">
                  <a:solidFill>
                    <a:srgbClr val="FF0000"/>
                  </a:solidFill>
                </a:rPr>
                <a:t>CRISE</a:t>
              </a:r>
            </a:p>
            <a:p>
              <a:pPr algn="ctr"/>
              <a:r>
                <a:rPr lang="fr-FR" sz="2000" b="1" dirty="0">
                  <a:solidFill>
                    <a:srgbClr val="FF0000"/>
                  </a:solidFill>
                </a:rPr>
                <a:t>🔥🔥🔥</a:t>
              </a:r>
            </a:p>
            <a:p>
              <a:pPr algn="ctr"/>
              <a:endParaRPr lang="fr-FR" sz="2000" b="1" dirty="0">
                <a:solidFill>
                  <a:srgbClr val="FF0000"/>
                </a:solidFill>
              </a:endParaRPr>
            </a:p>
            <a:p>
              <a:pPr algn="ctr"/>
              <a:r>
                <a:rPr lang="fr-FR" sz="1100" b="1" dirty="0">
                  <a:solidFill>
                    <a:schemeClr val="tx1"/>
                  </a:solidFill>
                </a:rPr>
                <a:t>{PARTIE PRENANTE} </a:t>
              </a:r>
              <a:r>
                <a:rPr lang="fr-FR" sz="1100" dirty="0">
                  <a:solidFill>
                    <a:srgbClr val="FF0000"/>
                  </a:solidFill>
                </a:rPr>
                <a:t>est déçu des performances de </a:t>
              </a:r>
              <a:r>
                <a:rPr lang="fr-FR" sz="1100" b="1" dirty="0">
                  <a:solidFill>
                    <a:srgbClr val="ED7D31"/>
                  </a:solidFill>
                </a:rPr>
                <a:t>{MEMBRE} </a:t>
              </a:r>
              <a:r>
                <a:rPr lang="fr-FR" sz="1100" dirty="0">
                  <a:solidFill>
                    <a:srgbClr val="FF0000"/>
                  </a:solidFill>
                </a:rPr>
                <a:t>et en parle à </a:t>
              </a:r>
              <a:r>
                <a:rPr lang="fr-FR" sz="1100" b="1" dirty="0">
                  <a:solidFill>
                    <a:srgbClr val="ED7D31"/>
                  </a:solidFill>
                </a:rPr>
                <a:t>{MEMBRE}</a:t>
              </a:r>
              <a:r>
                <a:rPr lang="fr-FR" sz="1100" dirty="0">
                  <a:solidFill>
                    <a:srgbClr val="FF0000"/>
                  </a:solidFill>
                </a:rPr>
                <a:t> en privé, en demandant de garder confidentiel car il/elle souhaite le/la sortir de l’équipe.</a:t>
              </a:r>
            </a:p>
            <a:p>
              <a:pPr algn="ctr"/>
              <a:r>
                <a:rPr lang="fr-FR" sz="1100" dirty="0">
                  <a:solidFill>
                    <a:srgbClr val="FF0000"/>
                  </a:solidFill>
                </a:rPr>
                <a:t>Qu’allez-vous faire ? </a:t>
              </a:r>
            </a:p>
          </p:txBody>
        </p:sp>
        <p:pic>
          <p:nvPicPr>
            <p:cNvPr id="115" name="Image 114">
              <a:extLst>
                <a:ext uri="{FF2B5EF4-FFF2-40B4-BE49-F238E27FC236}">
                  <a16:creationId xmlns:a16="http://schemas.microsoft.com/office/drawing/2014/main" id="{3E30DCB7-7ED6-4DBA-BF01-40B2A0B766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19300" y="4061241"/>
              <a:ext cx="285360" cy="275372"/>
            </a:xfrm>
            <a:prstGeom prst="rect">
              <a:avLst/>
            </a:prstGeom>
          </p:spPr>
        </p:pic>
      </p:grpSp>
    </p:spTree>
    <p:extLst>
      <p:ext uri="{BB962C8B-B14F-4D97-AF65-F5344CB8AC3E}">
        <p14:creationId xmlns:p14="http://schemas.microsoft.com/office/powerpoint/2010/main" val="4215553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1" name="Graphique 150" descr="Utilisateur avec un remplissage uni">
            <a:extLst>
              <a:ext uri="{FF2B5EF4-FFF2-40B4-BE49-F238E27FC236}">
                <a16:creationId xmlns:a16="http://schemas.microsoft.com/office/drawing/2014/main" id="{3173A4FB-DCAD-42A5-A925-1AFF13B7B8C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20251" y="2514600"/>
            <a:ext cx="914400" cy="914400"/>
          </a:xfrm>
          <a:prstGeom prst="rect">
            <a:avLst/>
          </a:prstGeom>
        </p:spPr>
      </p:pic>
      <p:pic>
        <p:nvPicPr>
          <p:cNvPr id="147" name="Graphique 146" descr="Utilisateur avec un remplissage uni">
            <a:extLst>
              <a:ext uri="{FF2B5EF4-FFF2-40B4-BE49-F238E27FC236}">
                <a16:creationId xmlns:a16="http://schemas.microsoft.com/office/drawing/2014/main" id="{89640760-25E1-438A-9748-CDEF19EA1F8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46820" y="1782682"/>
            <a:ext cx="914400" cy="914400"/>
          </a:xfrm>
          <a:prstGeom prst="rect">
            <a:avLst/>
          </a:prstGeom>
        </p:spPr>
      </p:pic>
      <p:sp>
        <p:nvSpPr>
          <p:cNvPr id="2" name="Titre 1">
            <a:extLst>
              <a:ext uri="{FF2B5EF4-FFF2-40B4-BE49-F238E27FC236}">
                <a16:creationId xmlns:a16="http://schemas.microsoft.com/office/drawing/2014/main" id="{A0B32EE7-F3E3-4CC6-B739-FDCD7529653F}"/>
              </a:ext>
            </a:extLst>
          </p:cNvPr>
          <p:cNvSpPr>
            <a:spLocks noGrp="1"/>
          </p:cNvSpPr>
          <p:nvPr>
            <p:ph type="title"/>
          </p:nvPr>
        </p:nvSpPr>
        <p:spPr>
          <a:xfrm>
            <a:off x="678051" y="461038"/>
            <a:ext cx="10515600" cy="888008"/>
          </a:xfrm>
        </p:spPr>
        <p:txBody>
          <a:bodyPr/>
          <a:lstStyle/>
          <a:p>
            <a:r>
              <a:rPr lang="en-US" b="1" dirty="0"/>
              <a:t>DÉROULEMENT D’UN TOUR</a:t>
            </a:r>
          </a:p>
        </p:txBody>
      </p:sp>
      <p:pic>
        <p:nvPicPr>
          <p:cNvPr id="10" name="Graphique 9" descr="Utilisateur avec un remplissage uni">
            <a:extLst>
              <a:ext uri="{FF2B5EF4-FFF2-40B4-BE49-F238E27FC236}">
                <a16:creationId xmlns:a16="http://schemas.microsoft.com/office/drawing/2014/main" id="{924AD043-292E-4162-9D9B-4C9BD25B196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47877" y="1340851"/>
            <a:ext cx="914400" cy="914400"/>
          </a:xfrm>
          <a:prstGeom prst="rect">
            <a:avLst/>
          </a:prstGeom>
        </p:spPr>
      </p:pic>
      <p:pic>
        <p:nvPicPr>
          <p:cNvPr id="11" name="Graphique 10" descr="Utilisateur avec un remplissage uni">
            <a:extLst>
              <a:ext uri="{FF2B5EF4-FFF2-40B4-BE49-F238E27FC236}">
                <a16:creationId xmlns:a16="http://schemas.microsoft.com/office/drawing/2014/main" id="{BEB5E509-0891-433D-8173-AF994DC04E06}"/>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5810" y="2107895"/>
            <a:ext cx="914400" cy="914400"/>
          </a:xfrm>
          <a:prstGeom prst="rect">
            <a:avLst/>
          </a:prstGeom>
        </p:spPr>
      </p:pic>
      <p:pic>
        <p:nvPicPr>
          <p:cNvPr id="12" name="Graphique 11" descr="Utilisateur avec un remplissage uni">
            <a:extLst>
              <a:ext uri="{FF2B5EF4-FFF2-40B4-BE49-F238E27FC236}">
                <a16:creationId xmlns:a16="http://schemas.microsoft.com/office/drawing/2014/main" id="{18902F96-2DD2-4CB2-BCA2-67F15486F76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47824" y="2143581"/>
            <a:ext cx="914400" cy="914400"/>
          </a:xfrm>
          <a:prstGeom prst="rect">
            <a:avLst/>
          </a:prstGeom>
        </p:spPr>
      </p:pic>
      <p:pic>
        <p:nvPicPr>
          <p:cNvPr id="13" name="Graphique 12" descr="Utilisateur avec un remplissage uni">
            <a:extLst>
              <a:ext uri="{FF2B5EF4-FFF2-40B4-BE49-F238E27FC236}">
                <a16:creationId xmlns:a16="http://schemas.microsoft.com/office/drawing/2014/main" id="{B13369FA-1D30-4B4E-8033-3C5C5D5BC91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764960" y="1313681"/>
            <a:ext cx="914400" cy="914400"/>
          </a:xfrm>
          <a:prstGeom prst="rect">
            <a:avLst/>
          </a:prstGeom>
        </p:spPr>
      </p:pic>
      <p:pic>
        <p:nvPicPr>
          <p:cNvPr id="14" name="Graphique 13" descr="Utilisateur avec un remplissage uni">
            <a:extLst>
              <a:ext uri="{FF2B5EF4-FFF2-40B4-BE49-F238E27FC236}">
                <a16:creationId xmlns:a16="http://schemas.microsoft.com/office/drawing/2014/main" id="{0C276F22-0096-4EA0-AC2B-9CA601E3802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60334" y="1107989"/>
            <a:ext cx="914400" cy="914400"/>
          </a:xfrm>
          <a:prstGeom prst="rect">
            <a:avLst/>
          </a:prstGeom>
        </p:spPr>
      </p:pic>
      <p:pic>
        <p:nvPicPr>
          <p:cNvPr id="15" name="Graphique 14" descr="Utilisateur avec un remplissage uni">
            <a:extLst>
              <a:ext uri="{FF2B5EF4-FFF2-40B4-BE49-F238E27FC236}">
                <a16:creationId xmlns:a16="http://schemas.microsoft.com/office/drawing/2014/main" id="{AF97AAF0-2C8E-4884-AEB1-BE064ED739A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4562" y="3005905"/>
            <a:ext cx="914400" cy="914400"/>
          </a:xfrm>
          <a:prstGeom prst="rect">
            <a:avLst/>
          </a:prstGeom>
        </p:spPr>
      </p:pic>
      <p:pic>
        <p:nvPicPr>
          <p:cNvPr id="16" name="Graphique 15" descr="Utilisateur avec un remplissage uni">
            <a:extLst>
              <a:ext uri="{FF2B5EF4-FFF2-40B4-BE49-F238E27FC236}">
                <a16:creationId xmlns:a16="http://schemas.microsoft.com/office/drawing/2014/main" id="{6E363234-BCBF-4C81-845A-B63375FF1C2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694163" y="3012562"/>
            <a:ext cx="914400" cy="914400"/>
          </a:xfrm>
          <a:prstGeom prst="rect">
            <a:avLst/>
          </a:prstGeom>
        </p:spPr>
      </p:pic>
      <p:pic>
        <p:nvPicPr>
          <p:cNvPr id="17" name="Graphique 16" descr="Utilisateur avec un remplissage uni">
            <a:extLst>
              <a:ext uri="{FF2B5EF4-FFF2-40B4-BE49-F238E27FC236}">
                <a16:creationId xmlns:a16="http://schemas.microsoft.com/office/drawing/2014/main" id="{A99B5732-A1A2-4102-ADAF-D45DC948EE3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5448" y="3631501"/>
            <a:ext cx="914400" cy="914400"/>
          </a:xfrm>
          <a:prstGeom prst="rect">
            <a:avLst/>
          </a:prstGeom>
        </p:spPr>
      </p:pic>
      <p:sp>
        <p:nvSpPr>
          <p:cNvPr id="84" name="ZoneTexte 83">
            <a:extLst>
              <a:ext uri="{FF2B5EF4-FFF2-40B4-BE49-F238E27FC236}">
                <a16:creationId xmlns:a16="http://schemas.microsoft.com/office/drawing/2014/main" id="{9BFDFA05-3831-4908-815A-F5DB2675E36D}"/>
              </a:ext>
            </a:extLst>
          </p:cNvPr>
          <p:cNvSpPr txBox="1"/>
          <p:nvPr/>
        </p:nvSpPr>
        <p:spPr>
          <a:xfrm>
            <a:off x="3097272" y="4675249"/>
            <a:ext cx="2529208" cy="1815882"/>
          </a:xfrm>
          <a:prstGeom prst="rect">
            <a:avLst/>
          </a:prstGeom>
          <a:solidFill>
            <a:schemeClr val="bg1">
              <a:lumMod val="95000"/>
            </a:schemeClr>
          </a:solidFill>
        </p:spPr>
        <p:txBody>
          <a:bodyPr wrap="square" rtlCol="0">
            <a:spAutoFit/>
          </a:bodyPr>
          <a:lstStyle/>
          <a:p>
            <a:pPr algn="ctr"/>
            <a:r>
              <a:rPr lang="fr-FR" sz="1400" dirty="0"/>
              <a:t>2. Les joueurs </a:t>
            </a:r>
            <a:r>
              <a:rPr lang="fr-FR" sz="1400" b="1" dirty="0">
                <a:solidFill>
                  <a:srgbClr val="0683AA"/>
                </a:solidFill>
              </a:rPr>
              <a:t>⚖️DESTIN</a:t>
            </a:r>
            <a:r>
              <a:rPr lang="fr-FR" sz="1400" dirty="0"/>
              <a:t> piochent une carte </a:t>
            </a:r>
            <a:r>
              <a:rPr lang="fr-FR" sz="1400" b="1" dirty="0">
                <a:solidFill>
                  <a:srgbClr val="FF0000"/>
                </a:solidFill>
              </a:rPr>
              <a:t>🔥CRISE🔥 </a:t>
            </a:r>
            <a:r>
              <a:rPr lang="fr-FR" sz="1400" dirty="0"/>
              <a:t>au hasard</a:t>
            </a:r>
            <a:endParaRPr lang="fr-FR" sz="1400" b="1" dirty="0">
              <a:solidFill>
                <a:srgbClr val="FF0000"/>
              </a:solidFill>
            </a:endParaRPr>
          </a:p>
          <a:p>
            <a:pPr algn="ctr"/>
            <a:endParaRPr lang="fr-FR" sz="1400" b="1" dirty="0">
              <a:solidFill>
                <a:srgbClr val="FF0000"/>
              </a:solidFill>
            </a:endParaRPr>
          </a:p>
          <a:p>
            <a:pPr algn="ctr"/>
            <a:r>
              <a:rPr lang="fr-FR" sz="1400" dirty="0"/>
              <a:t>Si requis dans le scénario, ils choisissent (face visible) aussi des cartes </a:t>
            </a:r>
            <a:r>
              <a:rPr lang="fr-FR" sz="1400" b="1" dirty="0">
                <a:solidFill>
                  <a:srgbClr val="ED7D31"/>
                </a:solidFill>
              </a:rPr>
              <a:t>MEMBRE</a:t>
            </a:r>
            <a:r>
              <a:rPr lang="fr-FR" sz="1400" dirty="0"/>
              <a:t> et/ou </a:t>
            </a:r>
            <a:r>
              <a:rPr lang="fr-FR" sz="1400" b="1" dirty="0"/>
              <a:t>PARTIE PRENANTE</a:t>
            </a:r>
            <a:r>
              <a:rPr lang="fr-FR" sz="1400" dirty="0"/>
              <a:t>.</a:t>
            </a:r>
          </a:p>
        </p:txBody>
      </p:sp>
      <p:grpSp>
        <p:nvGrpSpPr>
          <p:cNvPr id="79" name="Groupe 78">
            <a:extLst>
              <a:ext uri="{FF2B5EF4-FFF2-40B4-BE49-F238E27FC236}">
                <a16:creationId xmlns:a16="http://schemas.microsoft.com/office/drawing/2014/main" id="{E3296F0B-E3AE-4ECA-BB68-FF32C69DCD34}"/>
              </a:ext>
            </a:extLst>
          </p:cNvPr>
          <p:cNvGrpSpPr/>
          <p:nvPr/>
        </p:nvGrpSpPr>
        <p:grpSpPr>
          <a:xfrm>
            <a:off x="1717510" y="1754486"/>
            <a:ext cx="365138" cy="490055"/>
            <a:chOff x="8750424" y="170895"/>
            <a:chExt cx="2361459" cy="3169328"/>
          </a:xfrm>
        </p:grpSpPr>
        <p:sp>
          <p:nvSpPr>
            <p:cNvPr id="80" name="Rectangle 79">
              <a:extLst>
                <a:ext uri="{FF2B5EF4-FFF2-40B4-BE49-F238E27FC236}">
                  <a16:creationId xmlns:a16="http://schemas.microsoft.com/office/drawing/2014/main" id="{5F19B679-21B9-4305-93AA-E33513C8D6C1}"/>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81" name="Rectangle 80">
              <a:extLst>
                <a:ext uri="{FF2B5EF4-FFF2-40B4-BE49-F238E27FC236}">
                  <a16:creationId xmlns:a16="http://schemas.microsoft.com/office/drawing/2014/main" id="{DDDDF21F-49DD-4F59-987F-B1BA436865E8}"/>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rgbClr val="0683AA"/>
                  </a:solidFill>
                </a:rPr>
                <a:t>⚖️</a:t>
              </a:r>
              <a:endParaRPr lang="fr-FR" sz="100" b="1" dirty="0">
                <a:solidFill>
                  <a:srgbClr val="0683AA"/>
                </a:solidFill>
              </a:endParaRPr>
            </a:p>
          </p:txBody>
        </p:sp>
      </p:grpSp>
      <p:sp>
        <p:nvSpPr>
          <p:cNvPr id="94" name="ZoneTexte 93">
            <a:extLst>
              <a:ext uri="{FF2B5EF4-FFF2-40B4-BE49-F238E27FC236}">
                <a16:creationId xmlns:a16="http://schemas.microsoft.com/office/drawing/2014/main" id="{7162BCED-CEAE-4F46-8328-82C9150F3817}"/>
              </a:ext>
            </a:extLst>
          </p:cNvPr>
          <p:cNvSpPr txBox="1"/>
          <p:nvPr/>
        </p:nvSpPr>
        <p:spPr>
          <a:xfrm>
            <a:off x="208990" y="4667093"/>
            <a:ext cx="2529207" cy="1815882"/>
          </a:xfrm>
          <a:prstGeom prst="rect">
            <a:avLst/>
          </a:prstGeom>
          <a:solidFill>
            <a:schemeClr val="bg1">
              <a:lumMod val="95000"/>
            </a:schemeClr>
          </a:solidFill>
        </p:spPr>
        <p:txBody>
          <a:bodyPr wrap="square" rtlCol="0">
            <a:spAutoFit/>
          </a:bodyPr>
          <a:lstStyle/>
          <a:p>
            <a:pPr marL="342900" indent="-342900" algn="ctr">
              <a:buAutoNum type="arabicPeriod"/>
            </a:pPr>
            <a:r>
              <a:rPr lang="fr-FR" sz="1400" dirty="0"/>
              <a:t>Après avoir mélangé les cartes </a:t>
            </a:r>
            <a:r>
              <a:rPr lang="fr-FR" sz="1400" b="1" dirty="0">
                <a:solidFill>
                  <a:srgbClr val="0683AA"/>
                </a:solidFill>
              </a:rPr>
              <a:t>RÔLES, </a:t>
            </a:r>
            <a:r>
              <a:rPr lang="fr-FR" sz="1400" dirty="0"/>
              <a:t>chacun en pioche une et découvre son rôle pour ce tour</a:t>
            </a:r>
          </a:p>
          <a:p>
            <a:pPr marL="342900" indent="-342900" algn="ctr">
              <a:buAutoNum type="arabicPeriod"/>
            </a:pPr>
            <a:endParaRPr lang="fr-FR" sz="1400" dirty="0"/>
          </a:p>
          <a:p>
            <a:pPr algn="ctr"/>
            <a:r>
              <a:rPr lang="fr-FR" sz="1400" b="1" dirty="0">
                <a:solidFill>
                  <a:srgbClr val="0683AA"/>
                </a:solidFill>
              </a:rPr>
              <a:t>⚖️DESTIN </a:t>
            </a:r>
            <a:r>
              <a:rPr lang="fr-FR" sz="1400" dirty="0"/>
              <a:t>vous serez maîtres du scénario. </a:t>
            </a:r>
            <a:r>
              <a:rPr lang="fr-FR" sz="1400" b="0" dirty="0">
                <a:solidFill>
                  <a:srgbClr val="0683AA"/>
                </a:solidFill>
              </a:rPr>
              <a:t>💪</a:t>
            </a:r>
            <a:r>
              <a:rPr lang="fr-FR" sz="1400" b="1" dirty="0">
                <a:solidFill>
                  <a:srgbClr val="0683AA"/>
                </a:solidFill>
              </a:rPr>
              <a:t>ROBUSTEAM</a:t>
            </a:r>
            <a:r>
              <a:rPr lang="fr-FR" sz="1400" b="1" dirty="0"/>
              <a:t> </a:t>
            </a:r>
            <a:r>
              <a:rPr lang="fr-FR" sz="1400" dirty="0"/>
              <a:t>à vous de jouer dans ce scénario. </a:t>
            </a:r>
          </a:p>
        </p:txBody>
      </p:sp>
      <p:grpSp>
        <p:nvGrpSpPr>
          <p:cNvPr id="95" name="Groupe 94">
            <a:extLst>
              <a:ext uri="{FF2B5EF4-FFF2-40B4-BE49-F238E27FC236}">
                <a16:creationId xmlns:a16="http://schemas.microsoft.com/office/drawing/2014/main" id="{AD6A3043-9F07-4EE7-B950-743AA096B818}"/>
              </a:ext>
            </a:extLst>
          </p:cNvPr>
          <p:cNvGrpSpPr/>
          <p:nvPr/>
        </p:nvGrpSpPr>
        <p:grpSpPr>
          <a:xfrm>
            <a:off x="1640900" y="3307193"/>
            <a:ext cx="365138" cy="490055"/>
            <a:chOff x="8750424" y="170895"/>
            <a:chExt cx="2361459" cy="3169328"/>
          </a:xfrm>
        </p:grpSpPr>
        <p:sp>
          <p:nvSpPr>
            <p:cNvPr id="96" name="Rectangle 95">
              <a:extLst>
                <a:ext uri="{FF2B5EF4-FFF2-40B4-BE49-F238E27FC236}">
                  <a16:creationId xmlns:a16="http://schemas.microsoft.com/office/drawing/2014/main" id="{9315E7AF-781E-4223-958E-2E1929DD7934}"/>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97" name="Rectangle 96">
              <a:extLst>
                <a:ext uri="{FF2B5EF4-FFF2-40B4-BE49-F238E27FC236}">
                  <a16:creationId xmlns:a16="http://schemas.microsoft.com/office/drawing/2014/main" id="{B9EE9674-EDA5-47DA-88D3-47D4C39747B3}"/>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rgbClr val="0683AA"/>
                  </a:solidFill>
                </a:rPr>
                <a:t>⚖️</a:t>
              </a:r>
              <a:endParaRPr lang="fr-FR" sz="100" b="1" dirty="0">
                <a:solidFill>
                  <a:srgbClr val="0683AA"/>
                </a:solidFill>
              </a:endParaRPr>
            </a:p>
          </p:txBody>
        </p:sp>
      </p:grpSp>
      <p:grpSp>
        <p:nvGrpSpPr>
          <p:cNvPr id="98" name="Groupe 97">
            <a:extLst>
              <a:ext uri="{FF2B5EF4-FFF2-40B4-BE49-F238E27FC236}">
                <a16:creationId xmlns:a16="http://schemas.microsoft.com/office/drawing/2014/main" id="{82E8847A-7F01-4CD1-9110-97B50C5E36E3}"/>
              </a:ext>
            </a:extLst>
          </p:cNvPr>
          <p:cNvGrpSpPr/>
          <p:nvPr/>
        </p:nvGrpSpPr>
        <p:grpSpPr>
          <a:xfrm>
            <a:off x="675058" y="3350787"/>
            <a:ext cx="365138" cy="490055"/>
            <a:chOff x="8750424" y="170895"/>
            <a:chExt cx="2361459" cy="3169328"/>
          </a:xfrm>
        </p:grpSpPr>
        <p:sp>
          <p:nvSpPr>
            <p:cNvPr id="99" name="Rectangle 98">
              <a:extLst>
                <a:ext uri="{FF2B5EF4-FFF2-40B4-BE49-F238E27FC236}">
                  <a16:creationId xmlns:a16="http://schemas.microsoft.com/office/drawing/2014/main" id="{A171DF16-30B1-4787-9E98-76B99048AFD3}"/>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00" name="Rectangle 99">
              <a:extLst>
                <a:ext uri="{FF2B5EF4-FFF2-40B4-BE49-F238E27FC236}">
                  <a16:creationId xmlns:a16="http://schemas.microsoft.com/office/drawing/2014/main" id="{B07A721F-7B6C-4550-B969-0051A9C49639}"/>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rgbClr val="0683AA"/>
                  </a:solidFill>
                </a:rPr>
                <a:t>⚖️</a:t>
              </a:r>
              <a:endParaRPr lang="fr-FR" sz="100" b="1" dirty="0">
                <a:solidFill>
                  <a:srgbClr val="0683AA"/>
                </a:solidFill>
              </a:endParaRPr>
            </a:p>
          </p:txBody>
        </p:sp>
      </p:grpSp>
      <p:grpSp>
        <p:nvGrpSpPr>
          <p:cNvPr id="101" name="Groupe 100">
            <a:extLst>
              <a:ext uri="{FF2B5EF4-FFF2-40B4-BE49-F238E27FC236}">
                <a16:creationId xmlns:a16="http://schemas.microsoft.com/office/drawing/2014/main" id="{161070B4-4FC9-4743-9D20-392943CEB206}"/>
              </a:ext>
            </a:extLst>
          </p:cNvPr>
          <p:cNvGrpSpPr/>
          <p:nvPr/>
        </p:nvGrpSpPr>
        <p:grpSpPr>
          <a:xfrm>
            <a:off x="706812" y="2424236"/>
            <a:ext cx="365138" cy="490055"/>
            <a:chOff x="8750424" y="170895"/>
            <a:chExt cx="2361459" cy="3169328"/>
          </a:xfrm>
        </p:grpSpPr>
        <p:sp>
          <p:nvSpPr>
            <p:cNvPr id="102" name="Rectangle 101">
              <a:extLst>
                <a:ext uri="{FF2B5EF4-FFF2-40B4-BE49-F238E27FC236}">
                  <a16:creationId xmlns:a16="http://schemas.microsoft.com/office/drawing/2014/main" id="{8B7E1245-C51D-4021-AF9F-8B22B3F4B5C6}"/>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03" name="Rectangle 102">
              <a:extLst>
                <a:ext uri="{FF2B5EF4-FFF2-40B4-BE49-F238E27FC236}">
                  <a16:creationId xmlns:a16="http://schemas.microsoft.com/office/drawing/2014/main" id="{F1091DC9-1907-4A2C-9E2F-C0FCDD075A0A}"/>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rgbClr val="0683AA"/>
                  </a:solidFill>
                </a:rPr>
                <a:t>⚖️</a:t>
              </a:r>
              <a:endParaRPr lang="fr-FR" sz="100" b="1" dirty="0">
                <a:solidFill>
                  <a:srgbClr val="0683AA"/>
                </a:solidFill>
              </a:endParaRPr>
            </a:p>
          </p:txBody>
        </p:sp>
      </p:grpSp>
      <p:grpSp>
        <p:nvGrpSpPr>
          <p:cNvPr id="104" name="Groupe 103">
            <a:extLst>
              <a:ext uri="{FF2B5EF4-FFF2-40B4-BE49-F238E27FC236}">
                <a16:creationId xmlns:a16="http://schemas.microsoft.com/office/drawing/2014/main" id="{03058B4D-0263-406A-A81D-72EE70B89133}"/>
              </a:ext>
            </a:extLst>
          </p:cNvPr>
          <p:cNvGrpSpPr/>
          <p:nvPr/>
        </p:nvGrpSpPr>
        <p:grpSpPr>
          <a:xfrm>
            <a:off x="1133608" y="1685415"/>
            <a:ext cx="365138" cy="490055"/>
            <a:chOff x="8750424" y="170895"/>
            <a:chExt cx="2361459" cy="3169328"/>
          </a:xfrm>
        </p:grpSpPr>
        <p:sp>
          <p:nvSpPr>
            <p:cNvPr id="105" name="Rectangle 104">
              <a:extLst>
                <a:ext uri="{FF2B5EF4-FFF2-40B4-BE49-F238E27FC236}">
                  <a16:creationId xmlns:a16="http://schemas.microsoft.com/office/drawing/2014/main" id="{5434CE1F-6063-41BC-A59A-63F0F9830CDA}"/>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06" name="Rectangle 105">
              <a:extLst>
                <a:ext uri="{FF2B5EF4-FFF2-40B4-BE49-F238E27FC236}">
                  <a16:creationId xmlns:a16="http://schemas.microsoft.com/office/drawing/2014/main" id="{CAFC4017-776D-4EB7-9354-5D196370699B}"/>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0" dirty="0">
                  <a:solidFill>
                    <a:srgbClr val="0683AA"/>
                  </a:solidFill>
                </a:rPr>
                <a:t>💪</a:t>
              </a:r>
              <a:endParaRPr lang="fr-FR" sz="100" b="1" dirty="0">
                <a:solidFill>
                  <a:srgbClr val="0683AA"/>
                </a:solidFill>
              </a:endParaRPr>
            </a:p>
          </p:txBody>
        </p:sp>
      </p:grpSp>
      <p:grpSp>
        <p:nvGrpSpPr>
          <p:cNvPr id="107" name="Groupe 106">
            <a:extLst>
              <a:ext uri="{FF2B5EF4-FFF2-40B4-BE49-F238E27FC236}">
                <a16:creationId xmlns:a16="http://schemas.microsoft.com/office/drawing/2014/main" id="{4F40927D-9C54-40C9-ADEC-B0D3C008E5D7}"/>
              </a:ext>
            </a:extLst>
          </p:cNvPr>
          <p:cNvGrpSpPr/>
          <p:nvPr/>
        </p:nvGrpSpPr>
        <p:grpSpPr>
          <a:xfrm>
            <a:off x="697139" y="1760097"/>
            <a:ext cx="365138" cy="490055"/>
            <a:chOff x="8750424" y="170895"/>
            <a:chExt cx="2361459" cy="3169328"/>
          </a:xfrm>
        </p:grpSpPr>
        <p:sp>
          <p:nvSpPr>
            <p:cNvPr id="108" name="Rectangle 107">
              <a:extLst>
                <a:ext uri="{FF2B5EF4-FFF2-40B4-BE49-F238E27FC236}">
                  <a16:creationId xmlns:a16="http://schemas.microsoft.com/office/drawing/2014/main" id="{1D64BB4C-2AA5-4C79-B00D-E44B33E3E744}"/>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09" name="Rectangle 108">
              <a:extLst>
                <a:ext uri="{FF2B5EF4-FFF2-40B4-BE49-F238E27FC236}">
                  <a16:creationId xmlns:a16="http://schemas.microsoft.com/office/drawing/2014/main" id="{1688E7AB-DEE8-479F-997B-C211DA85EC85}"/>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0" dirty="0">
                  <a:solidFill>
                    <a:srgbClr val="0683AA"/>
                  </a:solidFill>
                </a:rPr>
                <a:t>💪</a:t>
              </a:r>
              <a:endParaRPr lang="fr-FR" sz="100" b="1" dirty="0">
                <a:solidFill>
                  <a:srgbClr val="0683AA"/>
                </a:solidFill>
              </a:endParaRPr>
            </a:p>
          </p:txBody>
        </p:sp>
      </p:grpSp>
      <p:grpSp>
        <p:nvGrpSpPr>
          <p:cNvPr id="110" name="Groupe 109">
            <a:extLst>
              <a:ext uri="{FF2B5EF4-FFF2-40B4-BE49-F238E27FC236}">
                <a16:creationId xmlns:a16="http://schemas.microsoft.com/office/drawing/2014/main" id="{25495C05-E3C1-4265-82D1-20B15E51AD2B}"/>
              </a:ext>
            </a:extLst>
          </p:cNvPr>
          <p:cNvGrpSpPr/>
          <p:nvPr/>
        </p:nvGrpSpPr>
        <p:grpSpPr>
          <a:xfrm>
            <a:off x="1697521" y="2475167"/>
            <a:ext cx="365138" cy="490055"/>
            <a:chOff x="8750424" y="170895"/>
            <a:chExt cx="2361459" cy="3169328"/>
          </a:xfrm>
        </p:grpSpPr>
        <p:sp>
          <p:nvSpPr>
            <p:cNvPr id="111" name="Rectangle 110">
              <a:extLst>
                <a:ext uri="{FF2B5EF4-FFF2-40B4-BE49-F238E27FC236}">
                  <a16:creationId xmlns:a16="http://schemas.microsoft.com/office/drawing/2014/main" id="{12EEE902-4BEB-4A68-919B-519E4CD9C15B}"/>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12" name="Rectangle 111">
              <a:extLst>
                <a:ext uri="{FF2B5EF4-FFF2-40B4-BE49-F238E27FC236}">
                  <a16:creationId xmlns:a16="http://schemas.microsoft.com/office/drawing/2014/main" id="{22B1E7E4-9F12-48CC-AA6D-3867782D8DBB}"/>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0" dirty="0">
                  <a:solidFill>
                    <a:srgbClr val="0683AA"/>
                  </a:solidFill>
                </a:rPr>
                <a:t>💪</a:t>
              </a:r>
              <a:endParaRPr lang="fr-FR" sz="100" b="1" dirty="0">
                <a:solidFill>
                  <a:srgbClr val="0683AA"/>
                </a:solidFill>
              </a:endParaRPr>
            </a:p>
          </p:txBody>
        </p:sp>
      </p:grpSp>
      <p:grpSp>
        <p:nvGrpSpPr>
          <p:cNvPr id="113" name="Groupe 112">
            <a:extLst>
              <a:ext uri="{FF2B5EF4-FFF2-40B4-BE49-F238E27FC236}">
                <a16:creationId xmlns:a16="http://schemas.microsoft.com/office/drawing/2014/main" id="{76589CD4-58F5-4A18-BE0E-BE1BF417DF8A}"/>
              </a:ext>
            </a:extLst>
          </p:cNvPr>
          <p:cNvGrpSpPr/>
          <p:nvPr/>
        </p:nvGrpSpPr>
        <p:grpSpPr>
          <a:xfrm>
            <a:off x="887436" y="3990391"/>
            <a:ext cx="365138" cy="490055"/>
            <a:chOff x="8750424" y="170895"/>
            <a:chExt cx="2361459" cy="3169328"/>
          </a:xfrm>
        </p:grpSpPr>
        <p:sp>
          <p:nvSpPr>
            <p:cNvPr id="114" name="Rectangle 113">
              <a:extLst>
                <a:ext uri="{FF2B5EF4-FFF2-40B4-BE49-F238E27FC236}">
                  <a16:creationId xmlns:a16="http://schemas.microsoft.com/office/drawing/2014/main" id="{D9126F1C-4341-4A4D-B042-F7D7CC779E56}"/>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15" name="Rectangle 114">
              <a:extLst>
                <a:ext uri="{FF2B5EF4-FFF2-40B4-BE49-F238E27FC236}">
                  <a16:creationId xmlns:a16="http://schemas.microsoft.com/office/drawing/2014/main" id="{6B7B1A42-2EA6-4758-96FC-AD885924788F}"/>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0" dirty="0">
                  <a:solidFill>
                    <a:srgbClr val="0683AA"/>
                  </a:solidFill>
                </a:rPr>
                <a:t>💪</a:t>
              </a:r>
              <a:endParaRPr lang="fr-FR" sz="100" b="1" dirty="0">
                <a:solidFill>
                  <a:srgbClr val="0683AA"/>
                </a:solidFill>
              </a:endParaRPr>
            </a:p>
          </p:txBody>
        </p:sp>
      </p:grpSp>
      <p:sp>
        <p:nvSpPr>
          <p:cNvPr id="116" name="Rectangle 115">
            <a:extLst>
              <a:ext uri="{FF2B5EF4-FFF2-40B4-BE49-F238E27FC236}">
                <a16:creationId xmlns:a16="http://schemas.microsoft.com/office/drawing/2014/main" id="{9B8A1FE8-A78A-412B-80AF-669B66C8D3A7}"/>
              </a:ext>
            </a:extLst>
          </p:cNvPr>
          <p:cNvSpPr/>
          <p:nvPr/>
        </p:nvSpPr>
        <p:spPr>
          <a:xfrm>
            <a:off x="3010297" y="3458767"/>
            <a:ext cx="673245" cy="903566"/>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bg1"/>
                </a:solidFill>
              </a:rPr>
              <a:t>🔥CRISE🔥</a:t>
            </a:r>
            <a:endParaRPr lang="en-US" sz="800" b="1" dirty="0">
              <a:solidFill>
                <a:schemeClr val="bg1"/>
              </a:solidFill>
            </a:endParaRPr>
          </a:p>
        </p:txBody>
      </p:sp>
      <p:sp>
        <p:nvSpPr>
          <p:cNvPr id="117" name="Rectangle 116">
            <a:extLst>
              <a:ext uri="{FF2B5EF4-FFF2-40B4-BE49-F238E27FC236}">
                <a16:creationId xmlns:a16="http://schemas.microsoft.com/office/drawing/2014/main" id="{01A32F56-95E3-4FF5-BB12-4DDEFDD672C6}"/>
              </a:ext>
            </a:extLst>
          </p:cNvPr>
          <p:cNvSpPr/>
          <p:nvPr/>
        </p:nvSpPr>
        <p:spPr>
          <a:xfrm>
            <a:off x="3051724" y="3502729"/>
            <a:ext cx="673245" cy="903566"/>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bg1"/>
                </a:solidFill>
              </a:rPr>
              <a:t>🔥CRISE🔥</a:t>
            </a:r>
            <a:endParaRPr lang="en-US" sz="800" b="1" dirty="0">
              <a:solidFill>
                <a:schemeClr val="bg1"/>
              </a:solidFill>
            </a:endParaRPr>
          </a:p>
        </p:txBody>
      </p:sp>
      <p:sp>
        <p:nvSpPr>
          <p:cNvPr id="118" name="Rectangle 117">
            <a:extLst>
              <a:ext uri="{FF2B5EF4-FFF2-40B4-BE49-F238E27FC236}">
                <a16:creationId xmlns:a16="http://schemas.microsoft.com/office/drawing/2014/main" id="{36808E55-7214-4341-9D48-4E8AFD6041ED}"/>
              </a:ext>
            </a:extLst>
          </p:cNvPr>
          <p:cNvSpPr/>
          <p:nvPr/>
        </p:nvSpPr>
        <p:spPr>
          <a:xfrm>
            <a:off x="3097272" y="3558827"/>
            <a:ext cx="673245" cy="903566"/>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bg1"/>
                </a:solidFill>
              </a:rPr>
              <a:t>🔥CRISE🔥</a:t>
            </a:r>
            <a:endParaRPr lang="en-US" sz="800" b="1" dirty="0">
              <a:solidFill>
                <a:schemeClr val="bg1"/>
              </a:solidFill>
            </a:endParaRPr>
          </a:p>
        </p:txBody>
      </p:sp>
      <p:sp>
        <p:nvSpPr>
          <p:cNvPr id="119" name="Rectangle 118">
            <a:extLst>
              <a:ext uri="{FF2B5EF4-FFF2-40B4-BE49-F238E27FC236}">
                <a16:creationId xmlns:a16="http://schemas.microsoft.com/office/drawing/2014/main" id="{75DCD56D-3344-47A6-B47F-A963C5440C94}"/>
              </a:ext>
            </a:extLst>
          </p:cNvPr>
          <p:cNvSpPr/>
          <p:nvPr/>
        </p:nvSpPr>
        <p:spPr>
          <a:xfrm>
            <a:off x="3137826" y="3604827"/>
            <a:ext cx="673245" cy="903566"/>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bg1"/>
                </a:solidFill>
              </a:rPr>
              <a:t>🔥CRISE🔥</a:t>
            </a:r>
            <a:endParaRPr lang="en-US" sz="800" b="1" dirty="0">
              <a:solidFill>
                <a:schemeClr val="bg1"/>
              </a:solidFill>
            </a:endParaRPr>
          </a:p>
        </p:txBody>
      </p:sp>
      <p:sp>
        <p:nvSpPr>
          <p:cNvPr id="120" name="Rectangle 119">
            <a:extLst>
              <a:ext uri="{FF2B5EF4-FFF2-40B4-BE49-F238E27FC236}">
                <a16:creationId xmlns:a16="http://schemas.microsoft.com/office/drawing/2014/main" id="{25F11F7F-985F-4F55-AD04-B1A794EEC32C}"/>
              </a:ext>
            </a:extLst>
          </p:cNvPr>
          <p:cNvSpPr/>
          <p:nvPr/>
        </p:nvSpPr>
        <p:spPr>
          <a:xfrm>
            <a:off x="3182086" y="3674305"/>
            <a:ext cx="673245" cy="903566"/>
          </a:xfrm>
          <a:prstGeom prst="rect">
            <a:avLst/>
          </a:prstGeom>
          <a:solidFill>
            <a:srgbClr val="FF000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bg1"/>
                </a:solidFill>
              </a:rPr>
              <a:t>🔥CRISE🔥</a:t>
            </a:r>
            <a:endParaRPr lang="en-US" sz="800" b="1" dirty="0">
              <a:solidFill>
                <a:schemeClr val="bg1"/>
              </a:solidFill>
            </a:endParaRPr>
          </a:p>
        </p:txBody>
      </p:sp>
      <p:sp>
        <p:nvSpPr>
          <p:cNvPr id="122" name="Flèche : bas 121">
            <a:extLst>
              <a:ext uri="{FF2B5EF4-FFF2-40B4-BE49-F238E27FC236}">
                <a16:creationId xmlns:a16="http://schemas.microsoft.com/office/drawing/2014/main" id="{84A8247A-083C-4218-B66B-5BD2704E5491}"/>
              </a:ext>
            </a:extLst>
          </p:cNvPr>
          <p:cNvSpPr/>
          <p:nvPr/>
        </p:nvSpPr>
        <p:spPr>
          <a:xfrm rot="10800000">
            <a:off x="3245096" y="3110443"/>
            <a:ext cx="377595" cy="302324"/>
          </a:xfrm>
          <a:prstGeom prst="downArrow">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123" name="Flèche : bas 122">
            <a:extLst>
              <a:ext uri="{FF2B5EF4-FFF2-40B4-BE49-F238E27FC236}">
                <a16:creationId xmlns:a16="http://schemas.microsoft.com/office/drawing/2014/main" id="{9680EC2D-B7D1-4733-B46D-7589EF385057}"/>
              </a:ext>
            </a:extLst>
          </p:cNvPr>
          <p:cNvSpPr/>
          <p:nvPr/>
        </p:nvSpPr>
        <p:spPr>
          <a:xfrm rot="10800000">
            <a:off x="4086331" y="3131868"/>
            <a:ext cx="377595" cy="302324"/>
          </a:xfrm>
          <a:prstGeom prst="downArrow">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124" name="Flèche : bas 123">
            <a:extLst>
              <a:ext uri="{FF2B5EF4-FFF2-40B4-BE49-F238E27FC236}">
                <a16:creationId xmlns:a16="http://schemas.microsoft.com/office/drawing/2014/main" id="{45DACBA4-F365-4C5E-9987-718176C5859E}"/>
              </a:ext>
            </a:extLst>
          </p:cNvPr>
          <p:cNvSpPr/>
          <p:nvPr/>
        </p:nvSpPr>
        <p:spPr>
          <a:xfrm rot="10800000">
            <a:off x="5061005" y="3131868"/>
            <a:ext cx="377595" cy="302324"/>
          </a:xfrm>
          <a:prstGeom prst="downArrow">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00"/>
          </a:p>
        </p:txBody>
      </p:sp>
      <p:sp>
        <p:nvSpPr>
          <p:cNvPr id="125" name="ZoneTexte 124">
            <a:extLst>
              <a:ext uri="{FF2B5EF4-FFF2-40B4-BE49-F238E27FC236}">
                <a16:creationId xmlns:a16="http://schemas.microsoft.com/office/drawing/2014/main" id="{1F5F0B69-45A2-408F-8717-06A19670A01C}"/>
              </a:ext>
            </a:extLst>
          </p:cNvPr>
          <p:cNvSpPr txBox="1"/>
          <p:nvPr/>
        </p:nvSpPr>
        <p:spPr>
          <a:xfrm>
            <a:off x="6344630" y="4667781"/>
            <a:ext cx="2529208" cy="2031325"/>
          </a:xfrm>
          <a:prstGeom prst="rect">
            <a:avLst/>
          </a:prstGeom>
          <a:solidFill>
            <a:schemeClr val="bg1">
              <a:lumMod val="95000"/>
            </a:schemeClr>
          </a:solidFill>
        </p:spPr>
        <p:txBody>
          <a:bodyPr wrap="square" rtlCol="0">
            <a:spAutoFit/>
          </a:bodyPr>
          <a:lstStyle/>
          <a:p>
            <a:pPr algn="ctr"/>
            <a:r>
              <a:rPr lang="fr-FR" sz="1400" dirty="0"/>
              <a:t>3. Les joueurs </a:t>
            </a:r>
            <a:r>
              <a:rPr lang="fr-FR" sz="1400" b="0" dirty="0">
                <a:solidFill>
                  <a:srgbClr val="0683AA"/>
                </a:solidFill>
              </a:rPr>
              <a:t>💪</a:t>
            </a:r>
            <a:r>
              <a:rPr lang="fr-FR" sz="1400" b="1" dirty="0">
                <a:solidFill>
                  <a:srgbClr val="0683AA"/>
                </a:solidFill>
              </a:rPr>
              <a:t>ROBUSTEAM</a:t>
            </a:r>
          </a:p>
          <a:p>
            <a:pPr algn="ctr"/>
            <a:r>
              <a:rPr lang="fr-FR" sz="1400" dirty="0"/>
              <a:t>ont 4 minutes maximum pour réfléchir  ensemble à une solution à la </a:t>
            </a:r>
            <a:r>
              <a:rPr lang="fr-FR" sz="1400" b="1" dirty="0">
                <a:solidFill>
                  <a:srgbClr val="FF0000"/>
                </a:solidFill>
              </a:rPr>
              <a:t>🔥CRISE🔥</a:t>
            </a:r>
            <a:r>
              <a:rPr lang="fr-FR" sz="1400" dirty="0"/>
              <a:t>. </a:t>
            </a:r>
          </a:p>
          <a:p>
            <a:pPr algn="ctr"/>
            <a:endParaRPr lang="fr-FR" sz="1400" dirty="0"/>
          </a:p>
          <a:p>
            <a:pPr algn="ctr"/>
            <a:r>
              <a:rPr lang="fr-FR" sz="1400" dirty="0"/>
              <a:t>Ils la présentent ensuite</a:t>
            </a:r>
            <a:r>
              <a:rPr lang="fr-FR" sz="1400" b="1" dirty="0">
                <a:solidFill>
                  <a:schemeClr val="bg1"/>
                </a:solidFill>
              </a:rPr>
              <a:t> </a:t>
            </a:r>
            <a:r>
              <a:rPr lang="fr-FR" sz="1400" dirty="0"/>
              <a:t>aux joueurs</a:t>
            </a:r>
            <a:r>
              <a:rPr lang="fr-FR" sz="1400" b="1" dirty="0">
                <a:solidFill>
                  <a:srgbClr val="0683AA"/>
                </a:solidFill>
              </a:rPr>
              <a:t>⚖️DESTIN</a:t>
            </a:r>
            <a:r>
              <a:rPr lang="fr-FR" sz="1400" dirty="0"/>
              <a:t>, qui auront pris les 4 minutes pour discuter des critères de vote.</a:t>
            </a:r>
          </a:p>
        </p:txBody>
      </p:sp>
      <p:pic>
        <p:nvPicPr>
          <p:cNvPr id="126" name="Graphique 125" descr="Utilisateur avec un remplissage uni">
            <a:extLst>
              <a:ext uri="{FF2B5EF4-FFF2-40B4-BE49-F238E27FC236}">
                <a16:creationId xmlns:a16="http://schemas.microsoft.com/office/drawing/2014/main" id="{45FBB70C-D425-428C-AF18-78601B226D4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01018" y="2752110"/>
            <a:ext cx="914400" cy="914400"/>
          </a:xfrm>
          <a:prstGeom prst="rect">
            <a:avLst/>
          </a:prstGeom>
        </p:spPr>
      </p:pic>
      <p:pic>
        <p:nvPicPr>
          <p:cNvPr id="127" name="Graphique 126" descr="Utilisateur avec un remplissage uni">
            <a:extLst>
              <a:ext uri="{FF2B5EF4-FFF2-40B4-BE49-F238E27FC236}">
                <a16:creationId xmlns:a16="http://schemas.microsoft.com/office/drawing/2014/main" id="{D5B081D8-09A9-4344-A885-162D68D6D8E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27496" y="3354553"/>
            <a:ext cx="914400" cy="914400"/>
          </a:xfrm>
          <a:prstGeom prst="rect">
            <a:avLst/>
          </a:prstGeom>
        </p:spPr>
      </p:pic>
      <p:pic>
        <p:nvPicPr>
          <p:cNvPr id="128" name="Graphique 127" descr="Utilisateur avec un remplissage uni">
            <a:extLst>
              <a:ext uri="{FF2B5EF4-FFF2-40B4-BE49-F238E27FC236}">
                <a16:creationId xmlns:a16="http://schemas.microsoft.com/office/drawing/2014/main" id="{77FA673B-3E99-49E3-9622-54641C7D254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329429" y="2422703"/>
            <a:ext cx="914400" cy="914400"/>
          </a:xfrm>
          <a:prstGeom prst="rect">
            <a:avLst/>
          </a:prstGeom>
        </p:spPr>
      </p:pic>
      <p:pic>
        <p:nvPicPr>
          <p:cNvPr id="129" name="Graphique 128" descr="Utilisateur avec un remplissage uni">
            <a:extLst>
              <a:ext uri="{FF2B5EF4-FFF2-40B4-BE49-F238E27FC236}">
                <a16:creationId xmlns:a16="http://schemas.microsoft.com/office/drawing/2014/main" id="{0F7DEEC0-F758-430A-B1E6-21E4F433601A}"/>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529610" y="3546843"/>
            <a:ext cx="914400" cy="914400"/>
          </a:xfrm>
          <a:prstGeom prst="rect">
            <a:avLst/>
          </a:prstGeom>
        </p:spPr>
      </p:pic>
      <p:grpSp>
        <p:nvGrpSpPr>
          <p:cNvPr id="130" name="Groupe 129">
            <a:extLst>
              <a:ext uri="{FF2B5EF4-FFF2-40B4-BE49-F238E27FC236}">
                <a16:creationId xmlns:a16="http://schemas.microsoft.com/office/drawing/2014/main" id="{FC36B6AC-0453-44A5-862E-6F5F7E1A2446}"/>
              </a:ext>
            </a:extLst>
          </p:cNvPr>
          <p:cNvGrpSpPr/>
          <p:nvPr/>
        </p:nvGrpSpPr>
        <p:grpSpPr>
          <a:xfrm>
            <a:off x="7502703" y="3000129"/>
            <a:ext cx="365138" cy="490055"/>
            <a:chOff x="8750424" y="170895"/>
            <a:chExt cx="2361459" cy="3169328"/>
          </a:xfrm>
        </p:grpSpPr>
        <p:sp>
          <p:nvSpPr>
            <p:cNvPr id="131" name="Rectangle 130">
              <a:extLst>
                <a:ext uri="{FF2B5EF4-FFF2-40B4-BE49-F238E27FC236}">
                  <a16:creationId xmlns:a16="http://schemas.microsoft.com/office/drawing/2014/main" id="{6BAEEA9C-F351-4842-8AF3-29DBC30E10D9}"/>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32" name="Rectangle 131">
              <a:extLst>
                <a:ext uri="{FF2B5EF4-FFF2-40B4-BE49-F238E27FC236}">
                  <a16:creationId xmlns:a16="http://schemas.microsoft.com/office/drawing/2014/main" id="{A321F267-2DAF-4423-946D-666EEB15BAFB}"/>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0" dirty="0">
                  <a:solidFill>
                    <a:srgbClr val="0683AA"/>
                  </a:solidFill>
                </a:rPr>
                <a:t>💪</a:t>
              </a:r>
              <a:endParaRPr lang="fr-FR" sz="100" b="1" dirty="0">
                <a:solidFill>
                  <a:srgbClr val="0683AA"/>
                </a:solidFill>
              </a:endParaRPr>
            </a:p>
          </p:txBody>
        </p:sp>
      </p:grpSp>
      <p:grpSp>
        <p:nvGrpSpPr>
          <p:cNvPr id="133" name="Groupe 132">
            <a:extLst>
              <a:ext uri="{FF2B5EF4-FFF2-40B4-BE49-F238E27FC236}">
                <a16:creationId xmlns:a16="http://schemas.microsoft.com/office/drawing/2014/main" id="{9CD30EC0-9298-432F-9BEF-D24C000095E7}"/>
              </a:ext>
            </a:extLst>
          </p:cNvPr>
          <p:cNvGrpSpPr/>
          <p:nvPr/>
        </p:nvGrpSpPr>
        <p:grpSpPr>
          <a:xfrm>
            <a:off x="7050280" y="3171356"/>
            <a:ext cx="365138" cy="490055"/>
            <a:chOff x="8750424" y="170895"/>
            <a:chExt cx="2361459" cy="3169328"/>
          </a:xfrm>
        </p:grpSpPr>
        <p:sp>
          <p:nvSpPr>
            <p:cNvPr id="134" name="Rectangle 133">
              <a:extLst>
                <a:ext uri="{FF2B5EF4-FFF2-40B4-BE49-F238E27FC236}">
                  <a16:creationId xmlns:a16="http://schemas.microsoft.com/office/drawing/2014/main" id="{06B4BD17-EAF5-40F8-AFB4-3051030542B4}"/>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35" name="Rectangle 134">
              <a:extLst>
                <a:ext uri="{FF2B5EF4-FFF2-40B4-BE49-F238E27FC236}">
                  <a16:creationId xmlns:a16="http://schemas.microsoft.com/office/drawing/2014/main" id="{AA1DB1C4-D31B-4DB1-A606-5DDDA316E017}"/>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0" dirty="0">
                  <a:solidFill>
                    <a:srgbClr val="0683AA"/>
                  </a:solidFill>
                </a:rPr>
                <a:t>💪</a:t>
              </a:r>
              <a:endParaRPr lang="fr-FR" sz="100" b="1" dirty="0">
                <a:solidFill>
                  <a:srgbClr val="0683AA"/>
                </a:solidFill>
              </a:endParaRPr>
            </a:p>
          </p:txBody>
        </p:sp>
      </p:grpSp>
      <p:grpSp>
        <p:nvGrpSpPr>
          <p:cNvPr id="136" name="Groupe 135">
            <a:extLst>
              <a:ext uri="{FF2B5EF4-FFF2-40B4-BE49-F238E27FC236}">
                <a16:creationId xmlns:a16="http://schemas.microsoft.com/office/drawing/2014/main" id="{0FA046E4-720C-4E72-AC5C-6EB4E9D5508B}"/>
              </a:ext>
            </a:extLst>
          </p:cNvPr>
          <p:cNvGrpSpPr/>
          <p:nvPr/>
        </p:nvGrpSpPr>
        <p:grpSpPr>
          <a:xfrm>
            <a:off x="7477193" y="3686139"/>
            <a:ext cx="365138" cy="490055"/>
            <a:chOff x="8750424" y="170895"/>
            <a:chExt cx="2361459" cy="3169328"/>
          </a:xfrm>
        </p:grpSpPr>
        <p:sp>
          <p:nvSpPr>
            <p:cNvPr id="137" name="Rectangle 136">
              <a:extLst>
                <a:ext uri="{FF2B5EF4-FFF2-40B4-BE49-F238E27FC236}">
                  <a16:creationId xmlns:a16="http://schemas.microsoft.com/office/drawing/2014/main" id="{0C1F3FB7-2EBE-4D3C-9C11-3832E3CFD2CA}"/>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38" name="Rectangle 137">
              <a:extLst>
                <a:ext uri="{FF2B5EF4-FFF2-40B4-BE49-F238E27FC236}">
                  <a16:creationId xmlns:a16="http://schemas.microsoft.com/office/drawing/2014/main" id="{DF71801B-47A3-429B-B1D4-CA80371CCC4E}"/>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0" dirty="0">
                  <a:solidFill>
                    <a:srgbClr val="0683AA"/>
                  </a:solidFill>
                </a:rPr>
                <a:t>💪</a:t>
              </a:r>
              <a:endParaRPr lang="fr-FR" sz="100" b="1" dirty="0">
                <a:solidFill>
                  <a:srgbClr val="0683AA"/>
                </a:solidFill>
              </a:endParaRPr>
            </a:p>
          </p:txBody>
        </p:sp>
      </p:grpSp>
      <p:grpSp>
        <p:nvGrpSpPr>
          <p:cNvPr id="139" name="Groupe 138">
            <a:extLst>
              <a:ext uri="{FF2B5EF4-FFF2-40B4-BE49-F238E27FC236}">
                <a16:creationId xmlns:a16="http://schemas.microsoft.com/office/drawing/2014/main" id="{A938DAD4-D552-49E0-84DC-FFAA9056DC83}"/>
              </a:ext>
            </a:extLst>
          </p:cNvPr>
          <p:cNvGrpSpPr/>
          <p:nvPr/>
        </p:nvGrpSpPr>
        <p:grpSpPr>
          <a:xfrm>
            <a:off x="7028569" y="3969553"/>
            <a:ext cx="365138" cy="490055"/>
            <a:chOff x="8750424" y="170895"/>
            <a:chExt cx="2361459" cy="3169328"/>
          </a:xfrm>
        </p:grpSpPr>
        <p:sp>
          <p:nvSpPr>
            <p:cNvPr id="140" name="Rectangle 139">
              <a:extLst>
                <a:ext uri="{FF2B5EF4-FFF2-40B4-BE49-F238E27FC236}">
                  <a16:creationId xmlns:a16="http://schemas.microsoft.com/office/drawing/2014/main" id="{1761916E-2E46-4B33-AD14-EDF7B3F2975F}"/>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41" name="Rectangle 140">
              <a:extLst>
                <a:ext uri="{FF2B5EF4-FFF2-40B4-BE49-F238E27FC236}">
                  <a16:creationId xmlns:a16="http://schemas.microsoft.com/office/drawing/2014/main" id="{56181E0E-3112-41DE-B24C-D1DE36D02A53}"/>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0" dirty="0">
                  <a:solidFill>
                    <a:srgbClr val="0683AA"/>
                  </a:solidFill>
                </a:rPr>
                <a:t>💪</a:t>
              </a:r>
              <a:endParaRPr lang="fr-FR" sz="100" b="1" dirty="0">
                <a:solidFill>
                  <a:srgbClr val="0683AA"/>
                </a:solidFill>
              </a:endParaRPr>
            </a:p>
          </p:txBody>
        </p:sp>
      </p:grpSp>
      <p:sp>
        <p:nvSpPr>
          <p:cNvPr id="142" name="ZoneTexte 141">
            <a:extLst>
              <a:ext uri="{FF2B5EF4-FFF2-40B4-BE49-F238E27FC236}">
                <a16:creationId xmlns:a16="http://schemas.microsoft.com/office/drawing/2014/main" id="{EAE0A177-6F84-42BB-90E7-04210BBB04B0}"/>
              </a:ext>
            </a:extLst>
          </p:cNvPr>
          <p:cNvSpPr txBox="1"/>
          <p:nvPr/>
        </p:nvSpPr>
        <p:spPr>
          <a:xfrm>
            <a:off x="9179843" y="4652062"/>
            <a:ext cx="2733991" cy="2031325"/>
          </a:xfrm>
          <a:prstGeom prst="rect">
            <a:avLst/>
          </a:prstGeom>
          <a:solidFill>
            <a:schemeClr val="bg1">
              <a:lumMod val="95000"/>
            </a:schemeClr>
          </a:solidFill>
        </p:spPr>
        <p:txBody>
          <a:bodyPr wrap="square" rtlCol="0">
            <a:spAutoFit/>
          </a:bodyPr>
          <a:lstStyle/>
          <a:p>
            <a:pPr algn="ctr"/>
            <a:r>
              <a:rPr lang="fr-FR" sz="1400" dirty="0"/>
              <a:t>4. Les joueurs </a:t>
            </a:r>
            <a:r>
              <a:rPr lang="fr-FR" sz="1400" b="1" dirty="0">
                <a:solidFill>
                  <a:srgbClr val="0683AA"/>
                </a:solidFill>
              </a:rPr>
              <a:t>⚖️DESTIN </a:t>
            </a:r>
            <a:r>
              <a:rPr lang="fr-FR" sz="1400" dirty="0"/>
              <a:t>votent chacun </a:t>
            </a:r>
            <a:r>
              <a:rPr lang="fr-FR" sz="1400" b="0" dirty="0"/>
              <a:t>👍ou👎 s’ils sont convaincus ou non de la solution et expliquent pourquoi. </a:t>
            </a:r>
          </a:p>
          <a:p>
            <a:pPr algn="ctr"/>
            <a:endParaRPr lang="fr-FR" sz="1400" dirty="0"/>
          </a:p>
          <a:p>
            <a:pPr algn="ctr"/>
            <a:r>
              <a:rPr lang="fr-FR" sz="1400" b="0" dirty="0"/>
              <a:t>Si une majorité (ou égalité) a voté 👍, chaque joueur </a:t>
            </a:r>
            <a:r>
              <a:rPr lang="fr-FR" sz="1400" b="0" dirty="0">
                <a:solidFill>
                  <a:srgbClr val="0683AA"/>
                </a:solidFill>
              </a:rPr>
              <a:t>💪</a:t>
            </a:r>
            <a:r>
              <a:rPr lang="fr-FR" sz="1400" b="1" dirty="0">
                <a:solidFill>
                  <a:srgbClr val="0683AA"/>
                </a:solidFill>
              </a:rPr>
              <a:t>ROBUSTEAM </a:t>
            </a:r>
            <a:r>
              <a:rPr lang="fr-FR" sz="1400" dirty="0"/>
              <a:t>marque un point par</a:t>
            </a:r>
            <a:r>
              <a:rPr lang="fr-FR" sz="1400" b="1" dirty="0">
                <a:solidFill>
                  <a:srgbClr val="FF0000"/>
                </a:solidFill>
              </a:rPr>
              <a:t> 🔥 </a:t>
            </a:r>
            <a:r>
              <a:rPr lang="fr-FR" sz="1400" dirty="0"/>
              <a:t>sur la carte</a:t>
            </a:r>
            <a:r>
              <a:rPr lang="fr-FR" sz="1400" b="1" dirty="0">
                <a:solidFill>
                  <a:srgbClr val="FF0000"/>
                </a:solidFill>
              </a:rPr>
              <a:t> 🔥 CRISE 🔥</a:t>
            </a:r>
            <a:r>
              <a:rPr lang="fr-FR" sz="1400" dirty="0"/>
              <a:t>.</a:t>
            </a:r>
          </a:p>
        </p:txBody>
      </p:sp>
      <p:sp>
        <p:nvSpPr>
          <p:cNvPr id="6" name="Bulle narrative : ronde 5">
            <a:extLst>
              <a:ext uri="{FF2B5EF4-FFF2-40B4-BE49-F238E27FC236}">
                <a16:creationId xmlns:a16="http://schemas.microsoft.com/office/drawing/2014/main" id="{44DCFF08-A5C2-48D5-9FFD-73D456A0B763}"/>
              </a:ext>
            </a:extLst>
          </p:cNvPr>
          <p:cNvSpPr/>
          <p:nvPr/>
        </p:nvSpPr>
        <p:spPr>
          <a:xfrm>
            <a:off x="7564107" y="1744590"/>
            <a:ext cx="1615736" cy="632373"/>
          </a:xfrm>
          <a:prstGeom prst="wedgeEllipseCallout">
            <a:avLst>
              <a:gd name="adj1" fmla="val -29624"/>
              <a:gd name="adj2" fmla="val 76661"/>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a:t>
            </a:r>
          </a:p>
        </p:txBody>
      </p:sp>
      <p:pic>
        <p:nvPicPr>
          <p:cNvPr id="143" name="Graphique 142" descr="Utilisateur avec un remplissage uni">
            <a:extLst>
              <a:ext uri="{FF2B5EF4-FFF2-40B4-BE49-F238E27FC236}">
                <a16:creationId xmlns:a16="http://schemas.microsoft.com/office/drawing/2014/main" id="{029142EA-42CA-41D4-B254-1F3957BC764F}"/>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750720" y="1088004"/>
            <a:ext cx="914400" cy="914400"/>
          </a:xfrm>
          <a:prstGeom prst="rect">
            <a:avLst/>
          </a:prstGeom>
        </p:spPr>
      </p:pic>
      <p:grpSp>
        <p:nvGrpSpPr>
          <p:cNvPr id="144" name="Groupe 143">
            <a:extLst>
              <a:ext uri="{FF2B5EF4-FFF2-40B4-BE49-F238E27FC236}">
                <a16:creationId xmlns:a16="http://schemas.microsoft.com/office/drawing/2014/main" id="{8965AF54-D6BA-45CE-801F-97EE5F8EF766}"/>
              </a:ext>
            </a:extLst>
          </p:cNvPr>
          <p:cNvGrpSpPr/>
          <p:nvPr/>
        </p:nvGrpSpPr>
        <p:grpSpPr>
          <a:xfrm>
            <a:off x="10332741" y="1570647"/>
            <a:ext cx="365138" cy="490055"/>
            <a:chOff x="8750424" y="170895"/>
            <a:chExt cx="2361459" cy="3169328"/>
          </a:xfrm>
        </p:grpSpPr>
        <p:sp>
          <p:nvSpPr>
            <p:cNvPr id="145" name="Rectangle 144">
              <a:extLst>
                <a:ext uri="{FF2B5EF4-FFF2-40B4-BE49-F238E27FC236}">
                  <a16:creationId xmlns:a16="http://schemas.microsoft.com/office/drawing/2014/main" id="{9FEBB78C-91C4-42C0-BB01-8DB16C1E7C7A}"/>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46" name="Rectangle 145">
              <a:extLst>
                <a:ext uri="{FF2B5EF4-FFF2-40B4-BE49-F238E27FC236}">
                  <a16:creationId xmlns:a16="http://schemas.microsoft.com/office/drawing/2014/main" id="{8903366C-2A94-44B2-9914-B589A4D060E1}"/>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rgbClr val="0683AA"/>
                  </a:solidFill>
                </a:rPr>
                <a:t>⚖️</a:t>
              </a:r>
              <a:endParaRPr lang="fr-FR" sz="100" b="1" dirty="0">
                <a:solidFill>
                  <a:srgbClr val="0683AA"/>
                </a:solidFill>
              </a:endParaRPr>
            </a:p>
          </p:txBody>
        </p:sp>
      </p:grpSp>
      <p:grpSp>
        <p:nvGrpSpPr>
          <p:cNvPr id="148" name="Groupe 147">
            <a:extLst>
              <a:ext uri="{FF2B5EF4-FFF2-40B4-BE49-F238E27FC236}">
                <a16:creationId xmlns:a16="http://schemas.microsoft.com/office/drawing/2014/main" id="{B66B7FB9-B493-470D-B40D-F3CEE31312CD}"/>
              </a:ext>
            </a:extLst>
          </p:cNvPr>
          <p:cNvGrpSpPr/>
          <p:nvPr/>
        </p:nvGrpSpPr>
        <p:grpSpPr>
          <a:xfrm>
            <a:off x="10373413" y="2264639"/>
            <a:ext cx="365138" cy="490055"/>
            <a:chOff x="8750424" y="170895"/>
            <a:chExt cx="2361459" cy="3169328"/>
          </a:xfrm>
        </p:grpSpPr>
        <p:sp>
          <p:nvSpPr>
            <p:cNvPr id="149" name="Rectangle 148">
              <a:extLst>
                <a:ext uri="{FF2B5EF4-FFF2-40B4-BE49-F238E27FC236}">
                  <a16:creationId xmlns:a16="http://schemas.microsoft.com/office/drawing/2014/main" id="{9A557BEC-59CA-41F4-A047-1EDBBF970E53}"/>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50" name="Rectangle 149">
              <a:extLst>
                <a:ext uri="{FF2B5EF4-FFF2-40B4-BE49-F238E27FC236}">
                  <a16:creationId xmlns:a16="http://schemas.microsoft.com/office/drawing/2014/main" id="{4B53AD53-53ED-4424-8D67-EEF2D7B6F28F}"/>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rgbClr val="0683AA"/>
                  </a:solidFill>
                </a:rPr>
                <a:t>⚖️</a:t>
              </a:r>
              <a:endParaRPr lang="fr-FR" sz="100" b="1" dirty="0">
                <a:solidFill>
                  <a:srgbClr val="0683AA"/>
                </a:solidFill>
              </a:endParaRPr>
            </a:p>
          </p:txBody>
        </p:sp>
      </p:grpSp>
      <p:grpSp>
        <p:nvGrpSpPr>
          <p:cNvPr id="152" name="Groupe 151">
            <a:extLst>
              <a:ext uri="{FF2B5EF4-FFF2-40B4-BE49-F238E27FC236}">
                <a16:creationId xmlns:a16="http://schemas.microsoft.com/office/drawing/2014/main" id="{74CC0D27-61BC-419C-ACB1-B1062F6C83B5}"/>
              </a:ext>
            </a:extLst>
          </p:cNvPr>
          <p:cNvGrpSpPr/>
          <p:nvPr/>
        </p:nvGrpSpPr>
        <p:grpSpPr>
          <a:xfrm>
            <a:off x="10402272" y="2997243"/>
            <a:ext cx="365138" cy="490055"/>
            <a:chOff x="8750424" y="170895"/>
            <a:chExt cx="2361459" cy="3169328"/>
          </a:xfrm>
        </p:grpSpPr>
        <p:sp>
          <p:nvSpPr>
            <p:cNvPr id="153" name="Rectangle 152">
              <a:extLst>
                <a:ext uri="{FF2B5EF4-FFF2-40B4-BE49-F238E27FC236}">
                  <a16:creationId xmlns:a16="http://schemas.microsoft.com/office/drawing/2014/main" id="{A6A679D0-5BB0-47C6-A2A2-9565AC7EA247}"/>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54" name="Rectangle 153">
              <a:extLst>
                <a:ext uri="{FF2B5EF4-FFF2-40B4-BE49-F238E27FC236}">
                  <a16:creationId xmlns:a16="http://schemas.microsoft.com/office/drawing/2014/main" id="{B4C84200-5E12-49AD-858A-67410107A06F}"/>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rgbClr val="0683AA"/>
                  </a:solidFill>
                </a:rPr>
                <a:t>⚖️</a:t>
              </a:r>
              <a:endParaRPr lang="fr-FR" sz="100" b="1" dirty="0">
                <a:solidFill>
                  <a:srgbClr val="0683AA"/>
                </a:solidFill>
              </a:endParaRPr>
            </a:p>
          </p:txBody>
        </p:sp>
      </p:grpSp>
      <p:pic>
        <p:nvPicPr>
          <p:cNvPr id="155" name="Graphique 154" descr="Utilisateur avec un remplissage uni">
            <a:extLst>
              <a:ext uri="{FF2B5EF4-FFF2-40B4-BE49-F238E27FC236}">
                <a16:creationId xmlns:a16="http://schemas.microsoft.com/office/drawing/2014/main" id="{68A6A51F-F84E-46BA-AE00-6EE90EA7DFD1}"/>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20251" y="3327287"/>
            <a:ext cx="914400" cy="914400"/>
          </a:xfrm>
          <a:prstGeom prst="rect">
            <a:avLst/>
          </a:prstGeom>
        </p:spPr>
      </p:pic>
      <p:grpSp>
        <p:nvGrpSpPr>
          <p:cNvPr id="156" name="Groupe 155">
            <a:extLst>
              <a:ext uri="{FF2B5EF4-FFF2-40B4-BE49-F238E27FC236}">
                <a16:creationId xmlns:a16="http://schemas.microsoft.com/office/drawing/2014/main" id="{61ADF97B-19E1-4D92-835F-980E121D0CB5}"/>
              </a:ext>
            </a:extLst>
          </p:cNvPr>
          <p:cNvGrpSpPr/>
          <p:nvPr/>
        </p:nvGrpSpPr>
        <p:grpSpPr>
          <a:xfrm>
            <a:off x="10402272" y="3809930"/>
            <a:ext cx="365138" cy="490055"/>
            <a:chOff x="8750424" y="170895"/>
            <a:chExt cx="2361459" cy="3169328"/>
          </a:xfrm>
        </p:grpSpPr>
        <p:sp>
          <p:nvSpPr>
            <p:cNvPr id="157" name="Rectangle 156">
              <a:extLst>
                <a:ext uri="{FF2B5EF4-FFF2-40B4-BE49-F238E27FC236}">
                  <a16:creationId xmlns:a16="http://schemas.microsoft.com/office/drawing/2014/main" id="{751BD5A2-D5E8-4054-9849-FC35BD6A1F03}"/>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600" b="1">
                  <a:solidFill>
                    <a:srgbClr val="0683AA"/>
                  </a:solidFill>
                </a:rPr>
                <a:t>⚖️</a:t>
              </a:r>
              <a:endParaRPr lang="en-US" sz="600" b="1" dirty="0">
                <a:solidFill>
                  <a:srgbClr val="0683AA"/>
                </a:solidFill>
              </a:endParaRPr>
            </a:p>
            <a:p>
              <a:pPr algn="ctr"/>
              <a:r>
                <a:rPr lang="en-US" sz="600" b="1" dirty="0">
                  <a:solidFill>
                    <a:srgbClr val="0683AA"/>
                  </a:solidFill>
                </a:rPr>
                <a:t>RÔLES</a:t>
              </a:r>
            </a:p>
            <a:p>
              <a:pPr algn="ctr"/>
              <a:r>
                <a:rPr lang="fr-FR" sz="600" b="1">
                  <a:solidFill>
                    <a:srgbClr val="0683AA"/>
                  </a:solidFill>
                </a:rPr>
                <a:t>💪</a:t>
              </a:r>
              <a:endParaRPr lang="en-US" sz="600" b="1" dirty="0">
                <a:solidFill>
                  <a:srgbClr val="0683AA"/>
                </a:solidFill>
              </a:endParaRPr>
            </a:p>
          </p:txBody>
        </p:sp>
        <p:sp>
          <p:nvSpPr>
            <p:cNvPr id="158" name="Rectangle 157">
              <a:extLst>
                <a:ext uri="{FF2B5EF4-FFF2-40B4-BE49-F238E27FC236}">
                  <a16:creationId xmlns:a16="http://schemas.microsoft.com/office/drawing/2014/main" id="{8EA22F90-1102-4C55-9E55-57CF79D8D918}"/>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400" b="1" dirty="0">
                  <a:solidFill>
                    <a:srgbClr val="0683AA"/>
                  </a:solidFill>
                </a:rPr>
                <a:t>⚖️</a:t>
              </a:r>
              <a:endParaRPr lang="fr-FR" sz="100" b="1" dirty="0">
                <a:solidFill>
                  <a:srgbClr val="0683AA"/>
                </a:solidFill>
              </a:endParaRPr>
            </a:p>
          </p:txBody>
        </p:sp>
      </p:grpSp>
      <p:pic>
        <p:nvPicPr>
          <p:cNvPr id="8" name="Graphique 7" descr="Signe pouce en haut avec un remplissage uni">
            <a:extLst>
              <a:ext uri="{FF2B5EF4-FFF2-40B4-BE49-F238E27FC236}">
                <a16:creationId xmlns:a16="http://schemas.microsoft.com/office/drawing/2014/main" id="{0840909C-5B14-46F6-8B26-A5A5D45E5519}"/>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4951" r="-1"/>
          <a:stretch/>
        </p:blipFill>
        <p:spPr>
          <a:xfrm flipH="1">
            <a:off x="9467588" y="1296764"/>
            <a:ext cx="394586" cy="612098"/>
          </a:xfrm>
          <a:prstGeom prst="rect">
            <a:avLst/>
          </a:prstGeom>
        </p:spPr>
      </p:pic>
      <p:pic>
        <p:nvPicPr>
          <p:cNvPr id="159" name="Graphique 158" descr="Signe pouce en haut avec un remplissage uni">
            <a:extLst>
              <a:ext uri="{FF2B5EF4-FFF2-40B4-BE49-F238E27FC236}">
                <a16:creationId xmlns:a16="http://schemas.microsoft.com/office/drawing/2014/main" id="{404CD2A2-A490-40D1-B35C-822F5B2C3E98}"/>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4951" r="-1"/>
          <a:stretch/>
        </p:blipFill>
        <p:spPr>
          <a:xfrm flipH="1">
            <a:off x="9519383" y="2760365"/>
            <a:ext cx="394586" cy="612098"/>
          </a:xfrm>
          <a:prstGeom prst="rect">
            <a:avLst/>
          </a:prstGeom>
        </p:spPr>
      </p:pic>
      <p:pic>
        <p:nvPicPr>
          <p:cNvPr id="160" name="Graphique 159" descr="Signe pouce en haut avec un remplissage uni">
            <a:extLst>
              <a:ext uri="{FF2B5EF4-FFF2-40B4-BE49-F238E27FC236}">
                <a16:creationId xmlns:a16="http://schemas.microsoft.com/office/drawing/2014/main" id="{9462D686-063E-4302-9A4A-3BEDBF54876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4951" r="-1"/>
          <a:stretch/>
        </p:blipFill>
        <p:spPr>
          <a:xfrm flipH="1" flipV="1">
            <a:off x="9476825" y="2137075"/>
            <a:ext cx="394586" cy="559321"/>
          </a:xfrm>
          <a:prstGeom prst="rect">
            <a:avLst/>
          </a:prstGeom>
        </p:spPr>
      </p:pic>
      <p:pic>
        <p:nvPicPr>
          <p:cNvPr id="161" name="Graphique 160" descr="Signe pouce en haut avec un remplissage uni">
            <a:extLst>
              <a:ext uri="{FF2B5EF4-FFF2-40B4-BE49-F238E27FC236}">
                <a16:creationId xmlns:a16="http://schemas.microsoft.com/office/drawing/2014/main" id="{BCAC1738-0193-4D18-BB49-31C2ECADFB6C}"/>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4951" r="-1"/>
          <a:stretch/>
        </p:blipFill>
        <p:spPr>
          <a:xfrm flipH="1">
            <a:off x="9519383" y="3582589"/>
            <a:ext cx="394586" cy="612098"/>
          </a:xfrm>
          <a:prstGeom prst="rect">
            <a:avLst/>
          </a:prstGeom>
        </p:spPr>
      </p:pic>
      <p:grpSp>
        <p:nvGrpSpPr>
          <p:cNvPr id="9" name="Groupe 8">
            <a:extLst>
              <a:ext uri="{FF2B5EF4-FFF2-40B4-BE49-F238E27FC236}">
                <a16:creationId xmlns:a16="http://schemas.microsoft.com/office/drawing/2014/main" id="{AFECF432-F723-496E-9DA2-33247EC32EF7}"/>
              </a:ext>
            </a:extLst>
          </p:cNvPr>
          <p:cNvGrpSpPr/>
          <p:nvPr/>
        </p:nvGrpSpPr>
        <p:grpSpPr>
          <a:xfrm>
            <a:off x="2980072" y="1784912"/>
            <a:ext cx="875102" cy="1174480"/>
            <a:chOff x="6193655" y="170895"/>
            <a:chExt cx="2361459" cy="3169328"/>
          </a:xfrm>
        </p:grpSpPr>
        <p:sp>
          <p:nvSpPr>
            <p:cNvPr id="162" name="Rectangle 161">
              <a:extLst>
                <a:ext uri="{FF2B5EF4-FFF2-40B4-BE49-F238E27FC236}">
                  <a16:creationId xmlns:a16="http://schemas.microsoft.com/office/drawing/2014/main" id="{FBCD891D-9466-4C14-AEB6-6EF105960311}"/>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100" b="1" dirty="0">
                <a:solidFill>
                  <a:schemeClr val="bg1"/>
                </a:solidFill>
              </a:endParaRPr>
            </a:p>
          </p:txBody>
        </p:sp>
        <p:sp>
          <p:nvSpPr>
            <p:cNvPr id="163" name="Rectangle 162">
              <a:extLst>
                <a:ext uri="{FF2B5EF4-FFF2-40B4-BE49-F238E27FC236}">
                  <a16:creationId xmlns:a16="http://schemas.microsoft.com/office/drawing/2014/main" id="{45D7B89C-CDD0-4653-A58A-E3F417EF09E0}"/>
                </a:ext>
              </a:extLst>
            </p:cNvPr>
            <p:cNvSpPr/>
            <p:nvPr/>
          </p:nvSpPr>
          <p:spPr>
            <a:xfrm>
              <a:off x="6400058"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900" b="1" dirty="0">
                  <a:solidFill>
                    <a:srgbClr val="FF0000"/>
                  </a:solidFill>
                </a:rPr>
                <a:t>CRISE</a:t>
              </a:r>
            </a:p>
            <a:p>
              <a:pPr algn="ctr"/>
              <a:r>
                <a:rPr lang="fr-FR" sz="900" b="1" dirty="0">
                  <a:solidFill>
                    <a:srgbClr val="FF0000"/>
                  </a:solidFill>
                </a:rPr>
                <a:t>🔥 🔥 🔥</a:t>
              </a:r>
            </a:p>
            <a:p>
              <a:pPr algn="ctr"/>
              <a:r>
                <a:rPr lang="fr-FR" sz="400" b="1" dirty="0">
                  <a:solidFill>
                    <a:schemeClr val="tx1"/>
                  </a:solidFill>
                </a:rPr>
                <a:t>{PARTIE PRENANTE} </a:t>
              </a:r>
              <a:r>
                <a:rPr lang="fr-FR" sz="400" dirty="0">
                  <a:solidFill>
                    <a:srgbClr val="FF0000"/>
                  </a:solidFill>
                </a:rPr>
                <a:t>s’est fortement brouillée avec </a:t>
              </a:r>
              <a:r>
                <a:rPr lang="fr-FR" sz="400" b="1" dirty="0">
                  <a:solidFill>
                    <a:srgbClr val="ED7D31"/>
                  </a:solidFill>
                </a:rPr>
                <a:t>{MEMBRE} </a:t>
              </a:r>
              <a:r>
                <a:rPr lang="fr-FR" sz="400" dirty="0">
                  <a:solidFill>
                    <a:srgbClr val="FF0000"/>
                  </a:solidFill>
                </a:rPr>
                <a:t>et souhaite ne plus collaborer avec du tout, quitte à réduire ses relations avec votre équipe.</a:t>
              </a:r>
            </a:p>
            <a:p>
              <a:pPr algn="ctr"/>
              <a:endParaRPr lang="fr-FR" sz="400" dirty="0">
                <a:solidFill>
                  <a:srgbClr val="FF0000"/>
                </a:solidFill>
              </a:endParaRPr>
            </a:p>
            <a:p>
              <a:pPr algn="ctr"/>
              <a:r>
                <a:rPr lang="fr-FR" sz="400" dirty="0">
                  <a:solidFill>
                    <a:srgbClr val="FF0000"/>
                  </a:solidFill>
                </a:rPr>
                <a:t>Qu’allez-vous faire ?</a:t>
              </a:r>
            </a:p>
          </p:txBody>
        </p:sp>
      </p:grpSp>
      <p:grpSp>
        <p:nvGrpSpPr>
          <p:cNvPr id="165" name="Groupe 164">
            <a:extLst>
              <a:ext uri="{FF2B5EF4-FFF2-40B4-BE49-F238E27FC236}">
                <a16:creationId xmlns:a16="http://schemas.microsoft.com/office/drawing/2014/main" id="{48D21410-8403-42F0-ADE4-20A011523F22}"/>
              </a:ext>
            </a:extLst>
          </p:cNvPr>
          <p:cNvGrpSpPr/>
          <p:nvPr/>
        </p:nvGrpSpPr>
        <p:grpSpPr>
          <a:xfrm>
            <a:off x="3935494" y="1791441"/>
            <a:ext cx="875101" cy="1174478"/>
            <a:chOff x="3240719" y="1666878"/>
            <a:chExt cx="1180729" cy="1584663"/>
          </a:xfrm>
        </p:grpSpPr>
        <p:grpSp>
          <p:nvGrpSpPr>
            <p:cNvPr id="166" name="Groupe 165">
              <a:extLst>
                <a:ext uri="{FF2B5EF4-FFF2-40B4-BE49-F238E27FC236}">
                  <a16:creationId xmlns:a16="http://schemas.microsoft.com/office/drawing/2014/main" id="{F9CF3B6A-EEF3-429D-A13D-C9C593B6DDF4}"/>
                </a:ext>
              </a:extLst>
            </p:cNvPr>
            <p:cNvGrpSpPr/>
            <p:nvPr/>
          </p:nvGrpSpPr>
          <p:grpSpPr>
            <a:xfrm>
              <a:off x="3240719" y="1666878"/>
              <a:ext cx="1180729" cy="1584663"/>
              <a:chOff x="3640213" y="1580574"/>
              <a:chExt cx="2361459" cy="3169328"/>
            </a:xfrm>
          </p:grpSpPr>
          <p:sp>
            <p:nvSpPr>
              <p:cNvPr id="168" name="Rectangle 167">
                <a:extLst>
                  <a:ext uri="{FF2B5EF4-FFF2-40B4-BE49-F238E27FC236}">
                    <a16:creationId xmlns:a16="http://schemas.microsoft.com/office/drawing/2014/main" id="{59977F31-6CD0-436A-86E0-F08AE2F4AE4A}"/>
                  </a:ext>
                </a:extLst>
              </p:cNvPr>
              <p:cNvSpPr/>
              <p:nvPr/>
            </p:nvSpPr>
            <p:spPr>
              <a:xfrm>
                <a:off x="3640213" y="1580574"/>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dirty="0">
                    <a:solidFill>
                      <a:schemeClr val="bg1"/>
                    </a:solidFill>
                  </a:rPr>
                  <a:t>MEMBRE</a:t>
                </a:r>
                <a:endParaRPr lang="en-US" sz="1050" b="1" dirty="0">
                  <a:solidFill>
                    <a:schemeClr val="bg1"/>
                  </a:solidFill>
                </a:endParaRPr>
              </a:p>
            </p:txBody>
          </p:sp>
          <p:sp>
            <p:nvSpPr>
              <p:cNvPr id="169" name="Rectangle 168">
                <a:extLst>
                  <a:ext uri="{FF2B5EF4-FFF2-40B4-BE49-F238E27FC236}">
                    <a16:creationId xmlns:a16="http://schemas.microsoft.com/office/drawing/2014/main" id="{5474F938-387C-48D8-B41C-BD00ED3A15FC}"/>
                  </a:ext>
                </a:extLst>
              </p:cNvPr>
              <p:cNvSpPr/>
              <p:nvPr/>
            </p:nvSpPr>
            <p:spPr>
              <a:xfrm>
                <a:off x="3861415" y="1755908"/>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rgbClr val="ED7D31"/>
                    </a:solidFill>
                  </a:rPr>
                  <a:t>MEMBRE</a:t>
                </a:r>
              </a:p>
              <a:p>
                <a:pPr algn="ctr"/>
                <a:endParaRPr lang="fr-FR" sz="800" b="1" dirty="0">
                  <a:solidFill>
                    <a:srgbClr val="0683AA"/>
                  </a:solidFill>
                </a:endParaRPr>
              </a:p>
              <a:p>
                <a:pPr algn="ctr"/>
                <a:r>
                  <a:rPr lang="fr-FR" sz="800" b="1" dirty="0">
                    <a:solidFill>
                      <a:srgbClr val="ED7D31"/>
                    </a:solidFill>
                  </a:rPr>
                  <a:t>……………..</a:t>
                </a:r>
              </a:p>
              <a:p>
                <a:pPr algn="ctr"/>
                <a:endParaRPr lang="fr-FR" sz="800" b="1" dirty="0">
                  <a:solidFill>
                    <a:srgbClr val="ED7D31"/>
                  </a:solidFill>
                </a:endParaRPr>
              </a:p>
              <a:p>
                <a:pPr algn="ctr"/>
                <a:r>
                  <a:rPr lang="fr-FR" sz="300" dirty="0">
                    <a:solidFill>
                      <a:srgbClr val="ED7D31"/>
                    </a:solidFill>
                  </a:rPr>
                  <a:t>Renseignez sur cette carte le prénom d’un(e) membre réel(-le) de l’équipe.  </a:t>
                </a:r>
              </a:p>
            </p:txBody>
          </p:sp>
        </p:grpSp>
        <p:sp>
          <p:nvSpPr>
            <p:cNvPr id="167" name="ZoneTexte 166">
              <a:extLst>
                <a:ext uri="{FF2B5EF4-FFF2-40B4-BE49-F238E27FC236}">
                  <a16:creationId xmlns:a16="http://schemas.microsoft.com/office/drawing/2014/main" id="{4D12EC54-1C82-45DA-B232-AE19AD50881F}"/>
                </a:ext>
              </a:extLst>
            </p:cNvPr>
            <p:cNvSpPr txBox="1"/>
            <p:nvPr/>
          </p:nvSpPr>
          <p:spPr>
            <a:xfrm>
              <a:off x="3522041" y="2083900"/>
              <a:ext cx="663215" cy="476563"/>
            </a:xfrm>
            <a:prstGeom prst="rect">
              <a:avLst/>
            </a:prstGeom>
            <a:noFill/>
          </p:spPr>
          <p:txBody>
            <a:bodyPr wrap="none" rtlCol="0">
              <a:spAutoFit/>
            </a:bodyPr>
            <a:lstStyle/>
            <a:p>
              <a:r>
                <a:rPr lang="en-US" sz="1400" dirty="0">
                  <a:latin typeface="Freestyle Script" panose="030804020302050B0404" pitchFamily="66" charset="0"/>
                </a:rPr>
                <a:t>Katia</a:t>
              </a:r>
            </a:p>
          </p:txBody>
        </p:sp>
      </p:grpSp>
      <p:grpSp>
        <p:nvGrpSpPr>
          <p:cNvPr id="170" name="Groupe 169">
            <a:extLst>
              <a:ext uri="{FF2B5EF4-FFF2-40B4-BE49-F238E27FC236}">
                <a16:creationId xmlns:a16="http://schemas.microsoft.com/office/drawing/2014/main" id="{EFFF0D6B-4CE7-4652-98DF-0AC0A2F337AC}"/>
              </a:ext>
            </a:extLst>
          </p:cNvPr>
          <p:cNvGrpSpPr/>
          <p:nvPr/>
        </p:nvGrpSpPr>
        <p:grpSpPr>
          <a:xfrm>
            <a:off x="4902672" y="1791441"/>
            <a:ext cx="893872" cy="1199671"/>
            <a:chOff x="6459745" y="2018306"/>
            <a:chExt cx="1114393" cy="1495634"/>
          </a:xfrm>
        </p:grpSpPr>
        <p:grpSp>
          <p:nvGrpSpPr>
            <p:cNvPr id="171" name="Groupe 170">
              <a:extLst>
                <a:ext uri="{FF2B5EF4-FFF2-40B4-BE49-F238E27FC236}">
                  <a16:creationId xmlns:a16="http://schemas.microsoft.com/office/drawing/2014/main" id="{A8883A62-C5E8-4218-8A21-B3507049EBBD}"/>
                </a:ext>
              </a:extLst>
            </p:cNvPr>
            <p:cNvGrpSpPr/>
            <p:nvPr/>
          </p:nvGrpSpPr>
          <p:grpSpPr>
            <a:xfrm>
              <a:off x="6459745" y="2018306"/>
              <a:ext cx="1114393" cy="1495634"/>
              <a:chOff x="6063954" y="1259012"/>
              <a:chExt cx="2361459" cy="3169328"/>
            </a:xfrm>
          </p:grpSpPr>
          <p:sp>
            <p:nvSpPr>
              <p:cNvPr id="173" name="Rectangle 172">
                <a:extLst>
                  <a:ext uri="{FF2B5EF4-FFF2-40B4-BE49-F238E27FC236}">
                    <a16:creationId xmlns:a16="http://schemas.microsoft.com/office/drawing/2014/main" id="{D9AEBA16-2555-42EE-AE2C-BEFC3C6D20C3}"/>
                  </a:ext>
                </a:extLst>
              </p:cNvPr>
              <p:cNvSpPr/>
              <p:nvPr/>
            </p:nvSpPr>
            <p:spPr>
              <a:xfrm>
                <a:off x="6063954" y="1259012"/>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bg1"/>
                  </a:solidFill>
                </a:endParaRPr>
              </a:p>
            </p:txBody>
          </p:sp>
          <p:sp>
            <p:nvSpPr>
              <p:cNvPr id="174" name="Rectangle 173">
                <a:extLst>
                  <a:ext uri="{FF2B5EF4-FFF2-40B4-BE49-F238E27FC236}">
                    <a16:creationId xmlns:a16="http://schemas.microsoft.com/office/drawing/2014/main" id="{32F868EF-BEC6-430C-83AD-F8274B6BD6CD}"/>
                  </a:ext>
                </a:extLst>
              </p:cNvPr>
              <p:cNvSpPr/>
              <p:nvPr/>
            </p:nvSpPr>
            <p:spPr>
              <a:xfrm>
                <a:off x="6285156" y="1434346"/>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tx1"/>
                    </a:solidFill>
                  </a:rPr>
                  <a:t>PARTIE PRENANTE</a:t>
                </a:r>
              </a:p>
              <a:p>
                <a:pPr algn="ctr"/>
                <a:endParaRPr lang="fr-FR" sz="800" b="1" dirty="0">
                  <a:solidFill>
                    <a:schemeClr val="tx1"/>
                  </a:solidFill>
                </a:endParaRPr>
              </a:p>
              <a:p>
                <a:pPr algn="ctr"/>
                <a:r>
                  <a:rPr lang="fr-FR" sz="800" b="1" dirty="0">
                    <a:solidFill>
                      <a:schemeClr val="tx1"/>
                    </a:solidFill>
                  </a:rPr>
                  <a:t>……………..</a:t>
                </a:r>
              </a:p>
              <a:p>
                <a:pPr algn="ctr"/>
                <a:r>
                  <a:rPr lang="fr-FR" sz="300" dirty="0">
                    <a:solidFill>
                      <a:schemeClr val="tx1"/>
                    </a:solidFill>
                  </a:rPr>
                  <a:t>Renseignez sur cette carte le nom d’un(e) partie prenante de l’équipe (client, fournisseur, hiérarchie, partenaire, autre équipe en collaboration fréquente...)</a:t>
                </a:r>
                <a:r>
                  <a:rPr lang="fr-FR" sz="300" b="0" dirty="0">
                    <a:solidFill>
                      <a:schemeClr val="tx1"/>
                    </a:solidFill>
                  </a:rPr>
                  <a:t>  </a:t>
                </a:r>
                <a:endParaRPr lang="fr-FR" sz="300" dirty="0">
                  <a:solidFill>
                    <a:schemeClr val="tx1"/>
                  </a:solidFill>
                </a:endParaRPr>
              </a:p>
            </p:txBody>
          </p:sp>
        </p:grpSp>
        <p:sp>
          <p:nvSpPr>
            <p:cNvPr id="172" name="ZoneTexte 171">
              <a:extLst>
                <a:ext uri="{FF2B5EF4-FFF2-40B4-BE49-F238E27FC236}">
                  <a16:creationId xmlns:a16="http://schemas.microsoft.com/office/drawing/2014/main" id="{0C4AEEDD-F7CF-48DB-845A-E92C60AF8D06}"/>
                </a:ext>
              </a:extLst>
            </p:cNvPr>
            <p:cNvSpPr txBox="1"/>
            <p:nvPr/>
          </p:nvSpPr>
          <p:spPr>
            <a:xfrm>
              <a:off x="6564962" y="2582347"/>
              <a:ext cx="913323" cy="306965"/>
            </a:xfrm>
            <a:prstGeom prst="rect">
              <a:avLst/>
            </a:prstGeom>
            <a:noFill/>
          </p:spPr>
          <p:txBody>
            <a:bodyPr wrap="square" rtlCol="0">
              <a:spAutoFit/>
            </a:bodyPr>
            <a:lstStyle/>
            <a:p>
              <a:pPr algn="ctr"/>
              <a:r>
                <a:rPr lang="fr-FR" sz="1000" dirty="0">
                  <a:latin typeface="Freestyle Script" panose="030804020302050B0404" pitchFamily="66" charset="0"/>
                </a:rPr>
                <a:t>Pierre-Alain E.</a:t>
              </a:r>
            </a:p>
          </p:txBody>
        </p:sp>
      </p:grpSp>
      <p:grpSp>
        <p:nvGrpSpPr>
          <p:cNvPr id="121" name="Groupe 120">
            <a:extLst>
              <a:ext uri="{FF2B5EF4-FFF2-40B4-BE49-F238E27FC236}">
                <a16:creationId xmlns:a16="http://schemas.microsoft.com/office/drawing/2014/main" id="{F526D971-7434-43B8-A7E8-3D5F2D2D6C96}"/>
              </a:ext>
            </a:extLst>
          </p:cNvPr>
          <p:cNvGrpSpPr/>
          <p:nvPr/>
        </p:nvGrpSpPr>
        <p:grpSpPr>
          <a:xfrm>
            <a:off x="3946943" y="3469762"/>
            <a:ext cx="753572" cy="1011373"/>
            <a:chOff x="3240719" y="1666878"/>
            <a:chExt cx="1180729" cy="1584663"/>
          </a:xfrm>
        </p:grpSpPr>
        <p:grpSp>
          <p:nvGrpSpPr>
            <p:cNvPr id="164" name="Groupe 163">
              <a:extLst>
                <a:ext uri="{FF2B5EF4-FFF2-40B4-BE49-F238E27FC236}">
                  <a16:creationId xmlns:a16="http://schemas.microsoft.com/office/drawing/2014/main" id="{52CAD904-4F44-4614-AAA5-914ED21CD617}"/>
                </a:ext>
              </a:extLst>
            </p:cNvPr>
            <p:cNvGrpSpPr/>
            <p:nvPr/>
          </p:nvGrpSpPr>
          <p:grpSpPr>
            <a:xfrm>
              <a:off x="3240719" y="1666878"/>
              <a:ext cx="1180729" cy="1584663"/>
              <a:chOff x="3640213" y="1580574"/>
              <a:chExt cx="2361459" cy="3169328"/>
            </a:xfrm>
          </p:grpSpPr>
          <p:sp>
            <p:nvSpPr>
              <p:cNvPr id="176" name="Rectangle 175">
                <a:extLst>
                  <a:ext uri="{FF2B5EF4-FFF2-40B4-BE49-F238E27FC236}">
                    <a16:creationId xmlns:a16="http://schemas.microsoft.com/office/drawing/2014/main" id="{09E68943-688A-41B4-9E21-0DF318698EC7}"/>
                  </a:ext>
                </a:extLst>
              </p:cNvPr>
              <p:cNvSpPr/>
              <p:nvPr/>
            </p:nvSpPr>
            <p:spPr>
              <a:xfrm>
                <a:off x="3640213" y="1580574"/>
                <a:ext cx="2361459" cy="3169328"/>
              </a:xfrm>
              <a:prstGeom prst="rect">
                <a:avLst/>
              </a:prstGeom>
              <a:solidFill>
                <a:srgbClr val="ED7D3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dirty="0">
                    <a:solidFill>
                      <a:schemeClr val="bg1"/>
                    </a:solidFill>
                  </a:rPr>
                  <a:t>MEMBRE</a:t>
                </a:r>
                <a:endParaRPr lang="en-US" sz="1050" b="1" dirty="0">
                  <a:solidFill>
                    <a:schemeClr val="bg1"/>
                  </a:solidFill>
                </a:endParaRPr>
              </a:p>
            </p:txBody>
          </p:sp>
          <p:sp>
            <p:nvSpPr>
              <p:cNvPr id="177" name="Rectangle 176">
                <a:extLst>
                  <a:ext uri="{FF2B5EF4-FFF2-40B4-BE49-F238E27FC236}">
                    <a16:creationId xmlns:a16="http://schemas.microsoft.com/office/drawing/2014/main" id="{D4EF1B77-D7B7-47E5-9DEB-69FDBE146FAD}"/>
                  </a:ext>
                </a:extLst>
              </p:cNvPr>
              <p:cNvSpPr/>
              <p:nvPr/>
            </p:nvSpPr>
            <p:spPr>
              <a:xfrm>
                <a:off x="3861415" y="1755908"/>
                <a:ext cx="1944210" cy="2796466"/>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rgbClr val="ED7D31"/>
                    </a:solidFill>
                  </a:rPr>
                  <a:t>MEMBRE</a:t>
                </a:r>
              </a:p>
              <a:p>
                <a:pPr algn="ctr"/>
                <a:endParaRPr lang="fr-FR" sz="800" b="1" dirty="0">
                  <a:solidFill>
                    <a:srgbClr val="0683AA"/>
                  </a:solidFill>
                </a:endParaRPr>
              </a:p>
              <a:p>
                <a:pPr algn="ctr"/>
                <a:r>
                  <a:rPr lang="fr-FR" sz="800" b="1" dirty="0">
                    <a:solidFill>
                      <a:srgbClr val="ED7D31"/>
                    </a:solidFill>
                  </a:rPr>
                  <a:t>……………..</a:t>
                </a:r>
              </a:p>
              <a:p>
                <a:pPr algn="ctr"/>
                <a:endParaRPr lang="fr-FR" sz="800" b="1" dirty="0">
                  <a:solidFill>
                    <a:srgbClr val="ED7D31"/>
                  </a:solidFill>
                </a:endParaRPr>
              </a:p>
              <a:p>
                <a:pPr algn="ctr"/>
                <a:r>
                  <a:rPr lang="fr-FR" sz="300" dirty="0">
                    <a:solidFill>
                      <a:srgbClr val="ED7D31"/>
                    </a:solidFill>
                  </a:rPr>
                  <a:t>Renseignez sur cette carte le prénom d’un(e) membre réel(-le) de l’équipe.  </a:t>
                </a:r>
              </a:p>
            </p:txBody>
          </p:sp>
        </p:grpSp>
        <p:sp>
          <p:nvSpPr>
            <p:cNvPr id="175" name="ZoneTexte 174">
              <a:extLst>
                <a:ext uri="{FF2B5EF4-FFF2-40B4-BE49-F238E27FC236}">
                  <a16:creationId xmlns:a16="http://schemas.microsoft.com/office/drawing/2014/main" id="{7B2E3915-3C1D-48D5-8F86-F8A3F3D9E3B3}"/>
                </a:ext>
              </a:extLst>
            </p:cNvPr>
            <p:cNvSpPr txBox="1"/>
            <p:nvPr/>
          </p:nvSpPr>
          <p:spPr>
            <a:xfrm>
              <a:off x="3522041" y="2083900"/>
              <a:ext cx="663215" cy="476563"/>
            </a:xfrm>
            <a:prstGeom prst="rect">
              <a:avLst/>
            </a:prstGeom>
            <a:noFill/>
            <a:ln>
              <a:solidFill>
                <a:schemeClr val="bg1"/>
              </a:solidFill>
            </a:ln>
          </p:spPr>
          <p:txBody>
            <a:bodyPr wrap="none" rtlCol="0">
              <a:spAutoFit/>
            </a:bodyPr>
            <a:lstStyle/>
            <a:p>
              <a:r>
                <a:rPr lang="en-US" sz="1400" dirty="0">
                  <a:latin typeface="Freestyle Script" panose="030804020302050B0404" pitchFamily="66" charset="0"/>
                </a:rPr>
                <a:t>Katia</a:t>
              </a:r>
            </a:p>
          </p:txBody>
        </p:sp>
      </p:grpSp>
      <p:grpSp>
        <p:nvGrpSpPr>
          <p:cNvPr id="178" name="Groupe 177">
            <a:extLst>
              <a:ext uri="{FF2B5EF4-FFF2-40B4-BE49-F238E27FC236}">
                <a16:creationId xmlns:a16="http://schemas.microsoft.com/office/drawing/2014/main" id="{AF9458C6-F008-4A91-8846-81883B8E4950}"/>
              </a:ext>
            </a:extLst>
          </p:cNvPr>
          <p:cNvGrpSpPr/>
          <p:nvPr/>
        </p:nvGrpSpPr>
        <p:grpSpPr>
          <a:xfrm>
            <a:off x="3992388" y="3502729"/>
            <a:ext cx="753572" cy="1011373"/>
            <a:chOff x="3240719" y="1666878"/>
            <a:chExt cx="1180729" cy="1584663"/>
          </a:xfrm>
        </p:grpSpPr>
        <p:grpSp>
          <p:nvGrpSpPr>
            <p:cNvPr id="179" name="Groupe 178">
              <a:extLst>
                <a:ext uri="{FF2B5EF4-FFF2-40B4-BE49-F238E27FC236}">
                  <a16:creationId xmlns:a16="http://schemas.microsoft.com/office/drawing/2014/main" id="{BBF6639B-B0F7-43EF-A2E8-153802AF2475}"/>
                </a:ext>
              </a:extLst>
            </p:cNvPr>
            <p:cNvGrpSpPr/>
            <p:nvPr/>
          </p:nvGrpSpPr>
          <p:grpSpPr>
            <a:xfrm>
              <a:off x="3240719" y="1666878"/>
              <a:ext cx="1180729" cy="1584663"/>
              <a:chOff x="3640213" y="1580574"/>
              <a:chExt cx="2361459" cy="3169328"/>
            </a:xfrm>
          </p:grpSpPr>
          <p:sp>
            <p:nvSpPr>
              <p:cNvPr id="181" name="Rectangle 180">
                <a:extLst>
                  <a:ext uri="{FF2B5EF4-FFF2-40B4-BE49-F238E27FC236}">
                    <a16:creationId xmlns:a16="http://schemas.microsoft.com/office/drawing/2014/main" id="{17FC0710-C0C6-4B56-ADE7-E179CADD3882}"/>
                  </a:ext>
                </a:extLst>
              </p:cNvPr>
              <p:cNvSpPr/>
              <p:nvPr/>
            </p:nvSpPr>
            <p:spPr>
              <a:xfrm>
                <a:off x="3640213" y="1580574"/>
                <a:ext cx="2361459" cy="3169328"/>
              </a:xfrm>
              <a:prstGeom prst="rect">
                <a:avLst/>
              </a:prstGeom>
              <a:solidFill>
                <a:srgbClr val="ED7D3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dirty="0">
                    <a:solidFill>
                      <a:schemeClr val="bg1"/>
                    </a:solidFill>
                  </a:rPr>
                  <a:t>MEMBRE</a:t>
                </a:r>
                <a:endParaRPr lang="en-US" sz="1050" b="1" dirty="0">
                  <a:solidFill>
                    <a:schemeClr val="bg1"/>
                  </a:solidFill>
                </a:endParaRPr>
              </a:p>
            </p:txBody>
          </p:sp>
          <p:sp>
            <p:nvSpPr>
              <p:cNvPr id="182" name="Rectangle 181">
                <a:extLst>
                  <a:ext uri="{FF2B5EF4-FFF2-40B4-BE49-F238E27FC236}">
                    <a16:creationId xmlns:a16="http://schemas.microsoft.com/office/drawing/2014/main" id="{787B17E2-6F40-4C59-96DE-C783F59F47CA}"/>
                  </a:ext>
                </a:extLst>
              </p:cNvPr>
              <p:cNvSpPr/>
              <p:nvPr/>
            </p:nvSpPr>
            <p:spPr>
              <a:xfrm>
                <a:off x="3861415" y="1755908"/>
                <a:ext cx="1944210" cy="2796466"/>
              </a:xfrm>
              <a:prstGeom prst="rect">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rgbClr val="ED7D31"/>
                    </a:solidFill>
                  </a:rPr>
                  <a:t>MEMBRE</a:t>
                </a:r>
              </a:p>
              <a:p>
                <a:pPr algn="ctr"/>
                <a:endParaRPr lang="fr-FR" sz="800" b="1" dirty="0">
                  <a:solidFill>
                    <a:srgbClr val="0683AA"/>
                  </a:solidFill>
                </a:endParaRPr>
              </a:p>
              <a:p>
                <a:pPr algn="ctr"/>
                <a:r>
                  <a:rPr lang="fr-FR" sz="800" b="1" dirty="0">
                    <a:solidFill>
                      <a:srgbClr val="ED7D31"/>
                    </a:solidFill>
                  </a:rPr>
                  <a:t>……………..</a:t>
                </a:r>
              </a:p>
              <a:p>
                <a:pPr algn="ctr"/>
                <a:endParaRPr lang="fr-FR" sz="800" b="1" dirty="0">
                  <a:solidFill>
                    <a:srgbClr val="ED7D31"/>
                  </a:solidFill>
                </a:endParaRPr>
              </a:p>
              <a:p>
                <a:pPr algn="ctr"/>
                <a:r>
                  <a:rPr lang="fr-FR" sz="300" dirty="0">
                    <a:solidFill>
                      <a:srgbClr val="ED7D31"/>
                    </a:solidFill>
                  </a:rPr>
                  <a:t>Renseignez sur cette carte le prénom d’un(e) membre réel(-le) de l’équipe.  </a:t>
                </a:r>
              </a:p>
            </p:txBody>
          </p:sp>
        </p:grpSp>
        <p:sp>
          <p:nvSpPr>
            <p:cNvPr id="180" name="ZoneTexte 179">
              <a:extLst>
                <a:ext uri="{FF2B5EF4-FFF2-40B4-BE49-F238E27FC236}">
                  <a16:creationId xmlns:a16="http://schemas.microsoft.com/office/drawing/2014/main" id="{0241BDFF-6201-442D-A029-CA41BA388F3E}"/>
                </a:ext>
              </a:extLst>
            </p:cNvPr>
            <p:cNvSpPr txBox="1"/>
            <p:nvPr/>
          </p:nvSpPr>
          <p:spPr>
            <a:xfrm>
              <a:off x="3522041" y="2083900"/>
              <a:ext cx="663215" cy="476563"/>
            </a:xfrm>
            <a:prstGeom prst="rect">
              <a:avLst/>
            </a:prstGeom>
            <a:noFill/>
            <a:ln w="3175">
              <a:solidFill>
                <a:schemeClr val="bg1"/>
              </a:solidFill>
            </a:ln>
          </p:spPr>
          <p:txBody>
            <a:bodyPr wrap="none" rtlCol="0">
              <a:spAutoFit/>
            </a:bodyPr>
            <a:lstStyle/>
            <a:p>
              <a:r>
                <a:rPr lang="en-US" sz="1400" dirty="0">
                  <a:latin typeface="Freestyle Script" panose="030804020302050B0404" pitchFamily="66" charset="0"/>
                </a:rPr>
                <a:t>Katia</a:t>
              </a:r>
            </a:p>
          </p:txBody>
        </p:sp>
      </p:grpSp>
      <p:grpSp>
        <p:nvGrpSpPr>
          <p:cNvPr id="183" name="Groupe 182">
            <a:extLst>
              <a:ext uri="{FF2B5EF4-FFF2-40B4-BE49-F238E27FC236}">
                <a16:creationId xmlns:a16="http://schemas.microsoft.com/office/drawing/2014/main" id="{E5D555C2-1DE5-48EB-A688-83C9DAFCDDE1}"/>
              </a:ext>
            </a:extLst>
          </p:cNvPr>
          <p:cNvGrpSpPr/>
          <p:nvPr/>
        </p:nvGrpSpPr>
        <p:grpSpPr>
          <a:xfrm>
            <a:off x="4027807" y="3537633"/>
            <a:ext cx="753572" cy="1011373"/>
            <a:chOff x="3240719" y="1666878"/>
            <a:chExt cx="1180729" cy="1584663"/>
          </a:xfrm>
        </p:grpSpPr>
        <p:grpSp>
          <p:nvGrpSpPr>
            <p:cNvPr id="184" name="Groupe 183">
              <a:extLst>
                <a:ext uri="{FF2B5EF4-FFF2-40B4-BE49-F238E27FC236}">
                  <a16:creationId xmlns:a16="http://schemas.microsoft.com/office/drawing/2014/main" id="{BFFF8F67-C255-44BC-AC82-AF35AF371191}"/>
                </a:ext>
              </a:extLst>
            </p:cNvPr>
            <p:cNvGrpSpPr/>
            <p:nvPr/>
          </p:nvGrpSpPr>
          <p:grpSpPr>
            <a:xfrm>
              <a:off x="3240719" y="1666878"/>
              <a:ext cx="1180729" cy="1584663"/>
              <a:chOff x="3640213" y="1580574"/>
              <a:chExt cx="2361459" cy="3169328"/>
            </a:xfrm>
          </p:grpSpPr>
          <p:sp>
            <p:nvSpPr>
              <p:cNvPr id="186" name="Rectangle 185">
                <a:extLst>
                  <a:ext uri="{FF2B5EF4-FFF2-40B4-BE49-F238E27FC236}">
                    <a16:creationId xmlns:a16="http://schemas.microsoft.com/office/drawing/2014/main" id="{78E2A0EE-8549-47E3-87BD-2D55A1272A6E}"/>
                  </a:ext>
                </a:extLst>
              </p:cNvPr>
              <p:cNvSpPr/>
              <p:nvPr/>
            </p:nvSpPr>
            <p:spPr>
              <a:xfrm>
                <a:off x="3640213" y="1580574"/>
                <a:ext cx="2361459" cy="3169328"/>
              </a:xfrm>
              <a:prstGeom prst="rect">
                <a:avLst/>
              </a:prstGeom>
              <a:solidFill>
                <a:srgbClr val="ED7D3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dirty="0">
                    <a:solidFill>
                      <a:schemeClr val="bg1"/>
                    </a:solidFill>
                  </a:rPr>
                  <a:t>MEMBRE</a:t>
                </a:r>
                <a:endParaRPr lang="en-US" sz="1050" b="1" dirty="0">
                  <a:solidFill>
                    <a:schemeClr val="bg1"/>
                  </a:solidFill>
                </a:endParaRPr>
              </a:p>
            </p:txBody>
          </p:sp>
          <p:sp>
            <p:nvSpPr>
              <p:cNvPr id="187" name="Rectangle 186">
                <a:extLst>
                  <a:ext uri="{FF2B5EF4-FFF2-40B4-BE49-F238E27FC236}">
                    <a16:creationId xmlns:a16="http://schemas.microsoft.com/office/drawing/2014/main" id="{B1EBC288-8F87-45F3-B9F4-5B720E3CF32B}"/>
                  </a:ext>
                </a:extLst>
              </p:cNvPr>
              <p:cNvSpPr/>
              <p:nvPr/>
            </p:nvSpPr>
            <p:spPr>
              <a:xfrm>
                <a:off x="3861415" y="1755908"/>
                <a:ext cx="1944210" cy="2796466"/>
              </a:xfrm>
              <a:prstGeom prst="rect">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rgbClr val="ED7D31"/>
                    </a:solidFill>
                  </a:rPr>
                  <a:t>MEMBRE</a:t>
                </a:r>
              </a:p>
              <a:p>
                <a:pPr algn="ctr"/>
                <a:endParaRPr lang="fr-FR" sz="800" b="1" dirty="0">
                  <a:solidFill>
                    <a:srgbClr val="0683AA"/>
                  </a:solidFill>
                </a:endParaRPr>
              </a:p>
              <a:p>
                <a:pPr algn="ctr"/>
                <a:r>
                  <a:rPr lang="fr-FR" sz="800" b="1" dirty="0">
                    <a:solidFill>
                      <a:srgbClr val="ED7D31"/>
                    </a:solidFill>
                  </a:rPr>
                  <a:t>……………..</a:t>
                </a:r>
              </a:p>
              <a:p>
                <a:pPr algn="ctr"/>
                <a:endParaRPr lang="fr-FR" sz="800" b="1" dirty="0">
                  <a:solidFill>
                    <a:srgbClr val="ED7D31"/>
                  </a:solidFill>
                </a:endParaRPr>
              </a:p>
              <a:p>
                <a:pPr algn="ctr"/>
                <a:r>
                  <a:rPr lang="fr-FR" sz="300" dirty="0">
                    <a:solidFill>
                      <a:srgbClr val="ED7D31"/>
                    </a:solidFill>
                  </a:rPr>
                  <a:t>Renseignez sur cette carte le prénom d’un(e) membre réel(-le) de l’équipe.  </a:t>
                </a:r>
              </a:p>
            </p:txBody>
          </p:sp>
        </p:grpSp>
        <p:sp>
          <p:nvSpPr>
            <p:cNvPr id="185" name="ZoneTexte 184">
              <a:extLst>
                <a:ext uri="{FF2B5EF4-FFF2-40B4-BE49-F238E27FC236}">
                  <a16:creationId xmlns:a16="http://schemas.microsoft.com/office/drawing/2014/main" id="{F8E9C939-CF52-4647-9CD3-17EF7CC5AC34}"/>
                </a:ext>
              </a:extLst>
            </p:cNvPr>
            <p:cNvSpPr txBox="1"/>
            <p:nvPr/>
          </p:nvSpPr>
          <p:spPr>
            <a:xfrm>
              <a:off x="3522041" y="2083900"/>
              <a:ext cx="663215" cy="476563"/>
            </a:xfrm>
            <a:prstGeom prst="rect">
              <a:avLst/>
            </a:prstGeom>
            <a:noFill/>
            <a:ln w="3175">
              <a:solidFill>
                <a:schemeClr val="bg1"/>
              </a:solidFill>
            </a:ln>
          </p:spPr>
          <p:txBody>
            <a:bodyPr wrap="none" rtlCol="0">
              <a:spAutoFit/>
            </a:bodyPr>
            <a:lstStyle/>
            <a:p>
              <a:r>
                <a:rPr lang="en-US" sz="1400" dirty="0">
                  <a:latin typeface="Freestyle Script" panose="030804020302050B0404" pitchFamily="66" charset="0"/>
                </a:rPr>
                <a:t>Katia</a:t>
              </a:r>
            </a:p>
          </p:txBody>
        </p:sp>
      </p:grpSp>
      <p:grpSp>
        <p:nvGrpSpPr>
          <p:cNvPr id="188" name="Groupe 187">
            <a:extLst>
              <a:ext uri="{FF2B5EF4-FFF2-40B4-BE49-F238E27FC236}">
                <a16:creationId xmlns:a16="http://schemas.microsoft.com/office/drawing/2014/main" id="{DD957A35-2387-4B6F-927E-875623593E3C}"/>
              </a:ext>
            </a:extLst>
          </p:cNvPr>
          <p:cNvGrpSpPr/>
          <p:nvPr/>
        </p:nvGrpSpPr>
        <p:grpSpPr>
          <a:xfrm>
            <a:off x="4072577" y="3580448"/>
            <a:ext cx="753572" cy="1011373"/>
            <a:chOff x="3240719" y="1666878"/>
            <a:chExt cx="1180729" cy="1584663"/>
          </a:xfrm>
        </p:grpSpPr>
        <p:grpSp>
          <p:nvGrpSpPr>
            <p:cNvPr id="189" name="Groupe 188">
              <a:extLst>
                <a:ext uri="{FF2B5EF4-FFF2-40B4-BE49-F238E27FC236}">
                  <a16:creationId xmlns:a16="http://schemas.microsoft.com/office/drawing/2014/main" id="{4E199F1E-AE30-4C3A-9415-C25BCAA87430}"/>
                </a:ext>
              </a:extLst>
            </p:cNvPr>
            <p:cNvGrpSpPr/>
            <p:nvPr/>
          </p:nvGrpSpPr>
          <p:grpSpPr>
            <a:xfrm>
              <a:off x="3240719" y="1666878"/>
              <a:ext cx="1180729" cy="1584663"/>
              <a:chOff x="3640213" y="1580574"/>
              <a:chExt cx="2361459" cy="3169328"/>
            </a:xfrm>
          </p:grpSpPr>
          <p:sp>
            <p:nvSpPr>
              <p:cNvPr id="191" name="Rectangle 190">
                <a:extLst>
                  <a:ext uri="{FF2B5EF4-FFF2-40B4-BE49-F238E27FC236}">
                    <a16:creationId xmlns:a16="http://schemas.microsoft.com/office/drawing/2014/main" id="{A4951974-1144-4A87-A9D7-8669CE72CF07}"/>
                  </a:ext>
                </a:extLst>
              </p:cNvPr>
              <p:cNvSpPr/>
              <p:nvPr/>
            </p:nvSpPr>
            <p:spPr>
              <a:xfrm>
                <a:off x="3640213" y="1580574"/>
                <a:ext cx="2361459" cy="3169328"/>
              </a:xfrm>
              <a:prstGeom prst="rect">
                <a:avLst/>
              </a:prstGeom>
              <a:solidFill>
                <a:srgbClr val="ED7D3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dirty="0">
                    <a:solidFill>
                      <a:schemeClr val="bg1"/>
                    </a:solidFill>
                  </a:rPr>
                  <a:t>MEMBRE</a:t>
                </a:r>
                <a:endParaRPr lang="en-US" sz="1050" b="1" dirty="0">
                  <a:solidFill>
                    <a:schemeClr val="bg1"/>
                  </a:solidFill>
                </a:endParaRPr>
              </a:p>
            </p:txBody>
          </p:sp>
          <p:sp>
            <p:nvSpPr>
              <p:cNvPr id="192" name="Rectangle 191">
                <a:extLst>
                  <a:ext uri="{FF2B5EF4-FFF2-40B4-BE49-F238E27FC236}">
                    <a16:creationId xmlns:a16="http://schemas.microsoft.com/office/drawing/2014/main" id="{351B8136-174B-43B4-A65C-032FE4B5C7E6}"/>
                  </a:ext>
                </a:extLst>
              </p:cNvPr>
              <p:cNvSpPr/>
              <p:nvPr/>
            </p:nvSpPr>
            <p:spPr>
              <a:xfrm>
                <a:off x="3861415" y="1755908"/>
                <a:ext cx="1944210" cy="2796466"/>
              </a:xfrm>
              <a:prstGeom prst="rect">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rgbClr val="ED7D31"/>
                    </a:solidFill>
                  </a:rPr>
                  <a:t>MEMBRE</a:t>
                </a:r>
              </a:p>
              <a:p>
                <a:pPr algn="ctr"/>
                <a:endParaRPr lang="fr-FR" sz="800" b="1" dirty="0">
                  <a:solidFill>
                    <a:srgbClr val="0683AA"/>
                  </a:solidFill>
                </a:endParaRPr>
              </a:p>
              <a:p>
                <a:pPr algn="ctr"/>
                <a:r>
                  <a:rPr lang="fr-FR" sz="800" b="1" dirty="0">
                    <a:solidFill>
                      <a:srgbClr val="ED7D31"/>
                    </a:solidFill>
                  </a:rPr>
                  <a:t>……………..</a:t>
                </a:r>
              </a:p>
              <a:p>
                <a:pPr algn="ctr"/>
                <a:endParaRPr lang="fr-FR" sz="800" b="1" dirty="0">
                  <a:solidFill>
                    <a:srgbClr val="ED7D31"/>
                  </a:solidFill>
                </a:endParaRPr>
              </a:p>
              <a:p>
                <a:pPr algn="ctr"/>
                <a:r>
                  <a:rPr lang="fr-FR" sz="300" dirty="0">
                    <a:solidFill>
                      <a:srgbClr val="ED7D31"/>
                    </a:solidFill>
                  </a:rPr>
                  <a:t>Renseignez sur cette carte le prénom d’un(e) membre réel(-le) de l’équipe.  </a:t>
                </a:r>
              </a:p>
            </p:txBody>
          </p:sp>
        </p:grpSp>
        <p:sp>
          <p:nvSpPr>
            <p:cNvPr id="190" name="ZoneTexte 189">
              <a:extLst>
                <a:ext uri="{FF2B5EF4-FFF2-40B4-BE49-F238E27FC236}">
                  <a16:creationId xmlns:a16="http://schemas.microsoft.com/office/drawing/2014/main" id="{4606E9B6-2880-4482-8A42-02D95F8B7811}"/>
                </a:ext>
              </a:extLst>
            </p:cNvPr>
            <p:cNvSpPr txBox="1"/>
            <p:nvPr/>
          </p:nvSpPr>
          <p:spPr>
            <a:xfrm>
              <a:off x="3522041" y="2083900"/>
              <a:ext cx="663215" cy="476563"/>
            </a:xfrm>
            <a:prstGeom prst="rect">
              <a:avLst/>
            </a:prstGeom>
            <a:noFill/>
            <a:ln w="3175">
              <a:solidFill>
                <a:schemeClr val="bg1"/>
              </a:solidFill>
            </a:ln>
          </p:spPr>
          <p:txBody>
            <a:bodyPr wrap="none" rtlCol="0">
              <a:spAutoFit/>
            </a:bodyPr>
            <a:lstStyle/>
            <a:p>
              <a:r>
                <a:rPr lang="en-US" sz="1400" dirty="0">
                  <a:latin typeface="Freestyle Script" panose="030804020302050B0404" pitchFamily="66" charset="0"/>
                </a:rPr>
                <a:t>Katia</a:t>
              </a:r>
            </a:p>
          </p:txBody>
        </p:sp>
      </p:grpSp>
      <p:grpSp>
        <p:nvGrpSpPr>
          <p:cNvPr id="193" name="Groupe 192">
            <a:extLst>
              <a:ext uri="{FF2B5EF4-FFF2-40B4-BE49-F238E27FC236}">
                <a16:creationId xmlns:a16="http://schemas.microsoft.com/office/drawing/2014/main" id="{76FDD15C-5FB5-4440-B898-474AD7616544}"/>
              </a:ext>
            </a:extLst>
          </p:cNvPr>
          <p:cNvGrpSpPr/>
          <p:nvPr/>
        </p:nvGrpSpPr>
        <p:grpSpPr>
          <a:xfrm>
            <a:off x="4114974" y="3608344"/>
            <a:ext cx="753572" cy="1011373"/>
            <a:chOff x="3240719" y="1666878"/>
            <a:chExt cx="1180729" cy="1584663"/>
          </a:xfrm>
        </p:grpSpPr>
        <p:grpSp>
          <p:nvGrpSpPr>
            <p:cNvPr id="194" name="Groupe 193">
              <a:extLst>
                <a:ext uri="{FF2B5EF4-FFF2-40B4-BE49-F238E27FC236}">
                  <a16:creationId xmlns:a16="http://schemas.microsoft.com/office/drawing/2014/main" id="{A5756BDA-D843-42D9-974B-66C052FEDD0E}"/>
                </a:ext>
              </a:extLst>
            </p:cNvPr>
            <p:cNvGrpSpPr/>
            <p:nvPr/>
          </p:nvGrpSpPr>
          <p:grpSpPr>
            <a:xfrm>
              <a:off x="3240719" y="1666878"/>
              <a:ext cx="1180729" cy="1584663"/>
              <a:chOff x="3640213" y="1580574"/>
              <a:chExt cx="2361459" cy="3169328"/>
            </a:xfrm>
          </p:grpSpPr>
          <p:sp>
            <p:nvSpPr>
              <p:cNvPr id="196" name="Rectangle 195">
                <a:extLst>
                  <a:ext uri="{FF2B5EF4-FFF2-40B4-BE49-F238E27FC236}">
                    <a16:creationId xmlns:a16="http://schemas.microsoft.com/office/drawing/2014/main" id="{4D21BD5C-A46B-4A1F-B4F0-CACC0AC05178}"/>
                  </a:ext>
                </a:extLst>
              </p:cNvPr>
              <p:cNvSpPr/>
              <p:nvPr/>
            </p:nvSpPr>
            <p:spPr>
              <a:xfrm>
                <a:off x="3640213" y="1580574"/>
                <a:ext cx="2361459" cy="3169328"/>
              </a:xfrm>
              <a:prstGeom prst="rect">
                <a:avLst/>
              </a:prstGeom>
              <a:solidFill>
                <a:srgbClr val="ED7D3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50" b="1" dirty="0">
                    <a:solidFill>
                      <a:schemeClr val="bg1"/>
                    </a:solidFill>
                  </a:rPr>
                  <a:t>MEMBRE</a:t>
                </a:r>
                <a:endParaRPr lang="en-US" sz="1050" b="1" dirty="0">
                  <a:solidFill>
                    <a:schemeClr val="bg1"/>
                  </a:solidFill>
                </a:endParaRPr>
              </a:p>
            </p:txBody>
          </p:sp>
          <p:sp>
            <p:nvSpPr>
              <p:cNvPr id="197" name="Rectangle 196">
                <a:extLst>
                  <a:ext uri="{FF2B5EF4-FFF2-40B4-BE49-F238E27FC236}">
                    <a16:creationId xmlns:a16="http://schemas.microsoft.com/office/drawing/2014/main" id="{B9890599-1D21-4E4A-96EC-896058EE4AC3}"/>
                  </a:ext>
                </a:extLst>
              </p:cNvPr>
              <p:cNvSpPr/>
              <p:nvPr/>
            </p:nvSpPr>
            <p:spPr>
              <a:xfrm>
                <a:off x="3861415" y="1755908"/>
                <a:ext cx="1944210" cy="2796466"/>
              </a:xfrm>
              <a:prstGeom prst="rect">
                <a:avLst/>
              </a:prstGeom>
              <a:solidFill>
                <a:schemeClr val="bg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rgbClr val="ED7D31"/>
                    </a:solidFill>
                  </a:rPr>
                  <a:t>MEMBRE</a:t>
                </a:r>
              </a:p>
              <a:p>
                <a:pPr algn="ctr"/>
                <a:endParaRPr lang="fr-FR" sz="800" b="1" dirty="0">
                  <a:solidFill>
                    <a:srgbClr val="0683AA"/>
                  </a:solidFill>
                </a:endParaRPr>
              </a:p>
              <a:p>
                <a:pPr algn="ctr"/>
                <a:r>
                  <a:rPr lang="fr-FR" sz="800" b="1" dirty="0">
                    <a:solidFill>
                      <a:srgbClr val="ED7D31"/>
                    </a:solidFill>
                  </a:rPr>
                  <a:t>……………..</a:t>
                </a:r>
              </a:p>
              <a:p>
                <a:pPr algn="ctr"/>
                <a:endParaRPr lang="fr-FR" sz="800" b="1" dirty="0">
                  <a:solidFill>
                    <a:srgbClr val="ED7D31"/>
                  </a:solidFill>
                </a:endParaRPr>
              </a:p>
              <a:p>
                <a:pPr algn="ctr"/>
                <a:r>
                  <a:rPr lang="fr-FR" sz="300" dirty="0">
                    <a:solidFill>
                      <a:srgbClr val="ED7D31"/>
                    </a:solidFill>
                  </a:rPr>
                  <a:t>Renseignez sur cette carte le prénom d’un(e) membre réel(-le) de l’équipe.  </a:t>
                </a:r>
              </a:p>
            </p:txBody>
          </p:sp>
        </p:grpSp>
        <p:sp>
          <p:nvSpPr>
            <p:cNvPr id="195" name="ZoneTexte 194">
              <a:extLst>
                <a:ext uri="{FF2B5EF4-FFF2-40B4-BE49-F238E27FC236}">
                  <a16:creationId xmlns:a16="http://schemas.microsoft.com/office/drawing/2014/main" id="{490D5739-46C1-438B-B474-4940AD7F3479}"/>
                </a:ext>
              </a:extLst>
            </p:cNvPr>
            <p:cNvSpPr txBox="1"/>
            <p:nvPr/>
          </p:nvSpPr>
          <p:spPr>
            <a:xfrm>
              <a:off x="3522041" y="2083900"/>
              <a:ext cx="663215" cy="476563"/>
            </a:xfrm>
            <a:prstGeom prst="rect">
              <a:avLst/>
            </a:prstGeom>
            <a:noFill/>
            <a:ln w="3175">
              <a:noFill/>
            </a:ln>
          </p:spPr>
          <p:txBody>
            <a:bodyPr wrap="none" rtlCol="0">
              <a:spAutoFit/>
            </a:bodyPr>
            <a:lstStyle/>
            <a:p>
              <a:r>
                <a:rPr lang="en-US" sz="1400" dirty="0">
                  <a:latin typeface="Freestyle Script" panose="030804020302050B0404" pitchFamily="66" charset="0"/>
                </a:rPr>
                <a:t>Katia</a:t>
              </a:r>
            </a:p>
          </p:txBody>
        </p:sp>
      </p:grpSp>
      <p:grpSp>
        <p:nvGrpSpPr>
          <p:cNvPr id="198" name="Groupe 197">
            <a:extLst>
              <a:ext uri="{FF2B5EF4-FFF2-40B4-BE49-F238E27FC236}">
                <a16:creationId xmlns:a16="http://schemas.microsoft.com/office/drawing/2014/main" id="{EF9252F6-FCBF-4817-8797-45F7AA89A6CC}"/>
              </a:ext>
            </a:extLst>
          </p:cNvPr>
          <p:cNvGrpSpPr/>
          <p:nvPr/>
        </p:nvGrpSpPr>
        <p:grpSpPr>
          <a:xfrm>
            <a:off x="4935578" y="3462435"/>
            <a:ext cx="786758" cy="1055912"/>
            <a:chOff x="6459745" y="2018306"/>
            <a:chExt cx="1114393" cy="1495634"/>
          </a:xfrm>
        </p:grpSpPr>
        <p:grpSp>
          <p:nvGrpSpPr>
            <p:cNvPr id="199" name="Groupe 198">
              <a:extLst>
                <a:ext uri="{FF2B5EF4-FFF2-40B4-BE49-F238E27FC236}">
                  <a16:creationId xmlns:a16="http://schemas.microsoft.com/office/drawing/2014/main" id="{34854CF3-B009-41C8-8698-91B4143447A9}"/>
                </a:ext>
              </a:extLst>
            </p:cNvPr>
            <p:cNvGrpSpPr/>
            <p:nvPr/>
          </p:nvGrpSpPr>
          <p:grpSpPr>
            <a:xfrm>
              <a:off x="6459745" y="2018306"/>
              <a:ext cx="1114393" cy="1495634"/>
              <a:chOff x="6063954" y="1259012"/>
              <a:chExt cx="2361459" cy="3169328"/>
            </a:xfrm>
          </p:grpSpPr>
          <p:sp>
            <p:nvSpPr>
              <p:cNvPr id="201" name="Rectangle 200">
                <a:extLst>
                  <a:ext uri="{FF2B5EF4-FFF2-40B4-BE49-F238E27FC236}">
                    <a16:creationId xmlns:a16="http://schemas.microsoft.com/office/drawing/2014/main" id="{CA062C29-6452-4118-9B6B-9BFCBB601F25}"/>
                  </a:ext>
                </a:extLst>
              </p:cNvPr>
              <p:cNvSpPr/>
              <p:nvPr/>
            </p:nvSpPr>
            <p:spPr>
              <a:xfrm>
                <a:off x="6063954" y="1259012"/>
                <a:ext cx="2361459" cy="3169328"/>
              </a:xfrm>
              <a:prstGeom prst="rect">
                <a:avLst/>
              </a:prstGeom>
              <a:solidFill>
                <a:schemeClr val="tx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bg1"/>
                  </a:solidFill>
                </a:endParaRPr>
              </a:p>
            </p:txBody>
          </p:sp>
          <p:sp>
            <p:nvSpPr>
              <p:cNvPr id="202" name="Rectangle 201">
                <a:extLst>
                  <a:ext uri="{FF2B5EF4-FFF2-40B4-BE49-F238E27FC236}">
                    <a16:creationId xmlns:a16="http://schemas.microsoft.com/office/drawing/2014/main" id="{BF212B56-31AA-444A-B2EC-95DF54ADAB26}"/>
                  </a:ext>
                </a:extLst>
              </p:cNvPr>
              <p:cNvSpPr/>
              <p:nvPr/>
            </p:nvSpPr>
            <p:spPr>
              <a:xfrm>
                <a:off x="6285156" y="1434346"/>
                <a:ext cx="1944210" cy="279646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tx1"/>
                    </a:solidFill>
                  </a:rPr>
                  <a:t>PARTIE PRENANTE</a:t>
                </a:r>
              </a:p>
              <a:p>
                <a:pPr algn="ctr"/>
                <a:endParaRPr lang="fr-FR" sz="800" b="1" dirty="0">
                  <a:solidFill>
                    <a:schemeClr val="tx1"/>
                  </a:solidFill>
                </a:endParaRPr>
              </a:p>
              <a:p>
                <a:pPr algn="ctr"/>
                <a:r>
                  <a:rPr lang="fr-FR" sz="800" b="1" dirty="0">
                    <a:solidFill>
                      <a:schemeClr val="tx1"/>
                    </a:solidFill>
                  </a:rPr>
                  <a:t>……………..</a:t>
                </a:r>
              </a:p>
              <a:p>
                <a:pPr algn="ctr"/>
                <a:r>
                  <a:rPr lang="fr-FR" sz="300" dirty="0">
                    <a:solidFill>
                      <a:schemeClr val="tx1"/>
                    </a:solidFill>
                  </a:rPr>
                  <a:t>Renseignez sur cette carte le nom d’un(e) partie prenante de l’équipe (client, fournisseur, hiérarchie, partenaire, autre équipe en collaboration fréquente...)</a:t>
                </a:r>
                <a:r>
                  <a:rPr lang="fr-FR" sz="300" b="0" dirty="0">
                    <a:solidFill>
                      <a:schemeClr val="tx1"/>
                    </a:solidFill>
                  </a:rPr>
                  <a:t>  </a:t>
                </a:r>
                <a:endParaRPr lang="fr-FR" sz="300" dirty="0">
                  <a:solidFill>
                    <a:schemeClr val="tx1"/>
                  </a:solidFill>
                </a:endParaRPr>
              </a:p>
            </p:txBody>
          </p:sp>
        </p:grpSp>
        <p:sp>
          <p:nvSpPr>
            <p:cNvPr id="200" name="ZoneTexte 199">
              <a:extLst>
                <a:ext uri="{FF2B5EF4-FFF2-40B4-BE49-F238E27FC236}">
                  <a16:creationId xmlns:a16="http://schemas.microsoft.com/office/drawing/2014/main" id="{8C809E6E-60F2-4CD1-9F25-D70866038CDC}"/>
                </a:ext>
              </a:extLst>
            </p:cNvPr>
            <p:cNvSpPr txBox="1"/>
            <p:nvPr/>
          </p:nvSpPr>
          <p:spPr>
            <a:xfrm>
              <a:off x="6564962" y="2582347"/>
              <a:ext cx="913323" cy="348757"/>
            </a:xfrm>
            <a:prstGeom prst="rect">
              <a:avLst/>
            </a:prstGeom>
            <a:noFill/>
            <a:ln w="3175">
              <a:solidFill>
                <a:schemeClr val="tx1"/>
              </a:solidFill>
            </a:ln>
          </p:spPr>
          <p:txBody>
            <a:bodyPr wrap="square" rtlCol="0">
              <a:spAutoFit/>
            </a:bodyPr>
            <a:lstStyle/>
            <a:p>
              <a:pPr algn="ctr"/>
              <a:r>
                <a:rPr lang="fr-FR" sz="1000" dirty="0">
                  <a:latin typeface="Freestyle Script" panose="030804020302050B0404" pitchFamily="66" charset="0"/>
                </a:rPr>
                <a:t>Pierre-Alain </a:t>
              </a:r>
            </a:p>
          </p:txBody>
        </p:sp>
      </p:grpSp>
      <p:grpSp>
        <p:nvGrpSpPr>
          <p:cNvPr id="208" name="Groupe 207">
            <a:extLst>
              <a:ext uri="{FF2B5EF4-FFF2-40B4-BE49-F238E27FC236}">
                <a16:creationId xmlns:a16="http://schemas.microsoft.com/office/drawing/2014/main" id="{3E6A9D38-7A7B-4623-A5DD-96EC1C5A8A9C}"/>
              </a:ext>
            </a:extLst>
          </p:cNvPr>
          <p:cNvGrpSpPr/>
          <p:nvPr/>
        </p:nvGrpSpPr>
        <p:grpSpPr>
          <a:xfrm>
            <a:off x="4963470" y="3479929"/>
            <a:ext cx="786758" cy="1055912"/>
            <a:chOff x="6459745" y="2018306"/>
            <a:chExt cx="1114393" cy="1495634"/>
          </a:xfrm>
        </p:grpSpPr>
        <p:grpSp>
          <p:nvGrpSpPr>
            <p:cNvPr id="209" name="Groupe 208">
              <a:extLst>
                <a:ext uri="{FF2B5EF4-FFF2-40B4-BE49-F238E27FC236}">
                  <a16:creationId xmlns:a16="http://schemas.microsoft.com/office/drawing/2014/main" id="{968B17CC-5FD4-499E-8BC0-FE3C6A0A43DA}"/>
                </a:ext>
              </a:extLst>
            </p:cNvPr>
            <p:cNvGrpSpPr/>
            <p:nvPr/>
          </p:nvGrpSpPr>
          <p:grpSpPr>
            <a:xfrm>
              <a:off x="6459745" y="2018306"/>
              <a:ext cx="1114393" cy="1495634"/>
              <a:chOff x="6063954" y="1259012"/>
              <a:chExt cx="2361459" cy="3169328"/>
            </a:xfrm>
          </p:grpSpPr>
          <p:sp>
            <p:nvSpPr>
              <p:cNvPr id="211" name="Rectangle 210">
                <a:extLst>
                  <a:ext uri="{FF2B5EF4-FFF2-40B4-BE49-F238E27FC236}">
                    <a16:creationId xmlns:a16="http://schemas.microsoft.com/office/drawing/2014/main" id="{9CDDFD63-A38B-468D-8238-95F406B59D65}"/>
                  </a:ext>
                </a:extLst>
              </p:cNvPr>
              <p:cNvSpPr/>
              <p:nvPr/>
            </p:nvSpPr>
            <p:spPr>
              <a:xfrm>
                <a:off x="6063954" y="1259012"/>
                <a:ext cx="2361459" cy="3169328"/>
              </a:xfrm>
              <a:prstGeom prst="rect">
                <a:avLst/>
              </a:prstGeom>
              <a:solidFill>
                <a:schemeClr val="tx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bg1"/>
                  </a:solidFill>
                </a:endParaRPr>
              </a:p>
            </p:txBody>
          </p:sp>
          <p:sp>
            <p:nvSpPr>
              <p:cNvPr id="212" name="Rectangle 211">
                <a:extLst>
                  <a:ext uri="{FF2B5EF4-FFF2-40B4-BE49-F238E27FC236}">
                    <a16:creationId xmlns:a16="http://schemas.microsoft.com/office/drawing/2014/main" id="{DCE26738-B0EE-4D92-B9A9-1173831837AB}"/>
                  </a:ext>
                </a:extLst>
              </p:cNvPr>
              <p:cNvSpPr/>
              <p:nvPr/>
            </p:nvSpPr>
            <p:spPr>
              <a:xfrm>
                <a:off x="6285156" y="1434346"/>
                <a:ext cx="1944210" cy="279646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tx1"/>
                    </a:solidFill>
                  </a:rPr>
                  <a:t>PARTIE PRENANTE</a:t>
                </a:r>
              </a:p>
              <a:p>
                <a:pPr algn="ctr"/>
                <a:endParaRPr lang="fr-FR" sz="800" b="1" dirty="0">
                  <a:solidFill>
                    <a:schemeClr val="tx1"/>
                  </a:solidFill>
                </a:endParaRPr>
              </a:p>
              <a:p>
                <a:pPr algn="ctr"/>
                <a:r>
                  <a:rPr lang="fr-FR" sz="800" b="1" dirty="0">
                    <a:solidFill>
                      <a:schemeClr val="tx1"/>
                    </a:solidFill>
                  </a:rPr>
                  <a:t>……………..</a:t>
                </a:r>
              </a:p>
              <a:p>
                <a:pPr algn="ctr"/>
                <a:r>
                  <a:rPr lang="fr-FR" sz="300" dirty="0">
                    <a:solidFill>
                      <a:schemeClr val="tx1"/>
                    </a:solidFill>
                  </a:rPr>
                  <a:t>Renseignez sur cette carte le nom d’un(e) partie prenante de l’équipe (client, fournisseur, hiérarchie, partenaire, autre équipe en collaboration fréquente...)</a:t>
                </a:r>
                <a:r>
                  <a:rPr lang="fr-FR" sz="300" b="0" dirty="0">
                    <a:solidFill>
                      <a:schemeClr val="tx1"/>
                    </a:solidFill>
                  </a:rPr>
                  <a:t>  </a:t>
                </a:r>
                <a:endParaRPr lang="fr-FR" sz="300" dirty="0">
                  <a:solidFill>
                    <a:schemeClr val="tx1"/>
                  </a:solidFill>
                </a:endParaRPr>
              </a:p>
            </p:txBody>
          </p:sp>
        </p:grpSp>
        <p:sp>
          <p:nvSpPr>
            <p:cNvPr id="210" name="ZoneTexte 209">
              <a:extLst>
                <a:ext uri="{FF2B5EF4-FFF2-40B4-BE49-F238E27FC236}">
                  <a16:creationId xmlns:a16="http://schemas.microsoft.com/office/drawing/2014/main" id="{26A186D4-ABC8-44BB-8E7F-232772323995}"/>
                </a:ext>
              </a:extLst>
            </p:cNvPr>
            <p:cNvSpPr txBox="1"/>
            <p:nvPr/>
          </p:nvSpPr>
          <p:spPr>
            <a:xfrm>
              <a:off x="6564962" y="2582347"/>
              <a:ext cx="913323" cy="348757"/>
            </a:xfrm>
            <a:prstGeom prst="rect">
              <a:avLst/>
            </a:prstGeom>
            <a:noFill/>
            <a:ln w="3175">
              <a:solidFill>
                <a:schemeClr val="tx1"/>
              </a:solidFill>
            </a:ln>
          </p:spPr>
          <p:txBody>
            <a:bodyPr wrap="square" rtlCol="0">
              <a:spAutoFit/>
            </a:bodyPr>
            <a:lstStyle/>
            <a:p>
              <a:pPr algn="ctr"/>
              <a:r>
                <a:rPr lang="fr-FR" sz="1000" dirty="0">
                  <a:latin typeface="Freestyle Script" panose="030804020302050B0404" pitchFamily="66" charset="0"/>
                </a:rPr>
                <a:t>Pierre-Alain </a:t>
              </a:r>
            </a:p>
          </p:txBody>
        </p:sp>
      </p:grpSp>
      <p:grpSp>
        <p:nvGrpSpPr>
          <p:cNvPr id="213" name="Groupe 212">
            <a:extLst>
              <a:ext uri="{FF2B5EF4-FFF2-40B4-BE49-F238E27FC236}">
                <a16:creationId xmlns:a16="http://schemas.microsoft.com/office/drawing/2014/main" id="{A9DA9C79-517E-4A49-B742-05FBA6ED06F6}"/>
              </a:ext>
            </a:extLst>
          </p:cNvPr>
          <p:cNvGrpSpPr/>
          <p:nvPr/>
        </p:nvGrpSpPr>
        <p:grpSpPr>
          <a:xfrm>
            <a:off x="5005697" y="3517967"/>
            <a:ext cx="786758" cy="1055912"/>
            <a:chOff x="6459745" y="2018306"/>
            <a:chExt cx="1114393" cy="1495634"/>
          </a:xfrm>
        </p:grpSpPr>
        <p:grpSp>
          <p:nvGrpSpPr>
            <p:cNvPr id="214" name="Groupe 213">
              <a:extLst>
                <a:ext uri="{FF2B5EF4-FFF2-40B4-BE49-F238E27FC236}">
                  <a16:creationId xmlns:a16="http://schemas.microsoft.com/office/drawing/2014/main" id="{D7FAE9E2-B315-4552-8058-7B44E2CE1EDB}"/>
                </a:ext>
              </a:extLst>
            </p:cNvPr>
            <p:cNvGrpSpPr/>
            <p:nvPr/>
          </p:nvGrpSpPr>
          <p:grpSpPr>
            <a:xfrm>
              <a:off x="6459745" y="2018306"/>
              <a:ext cx="1114393" cy="1495634"/>
              <a:chOff x="6063954" y="1259012"/>
              <a:chExt cx="2361459" cy="3169328"/>
            </a:xfrm>
          </p:grpSpPr>
          <p:sp>
            <p:nvSpPr>
              <p:cNvPr id="216" name="Rectangle 215">
                <a:extLst>
                  <a:ext uri="{FF2B5EF4-FFF2-40B4-BE49-F238E27FC236}">
                    <a16:creationId xmlns:a16="http://schemas.microsoft.com/office/drawing/2014/main" id="{B2FE7538-433A-47B3-A97F-9DA4E49BF63F}"/>
                  </a:ext>
                </a:extLst>
              </p:cNvPr>
              <p:cNvSpPr/>
              <p:nvPr/>
            </p:nvSpPr>
            <p:spPr>
              <a:xfrm>
                <a:off x="6063954" y="1259012"/>
                <a:ext cx="2361459" cy="3169328"/>
              </a:xfrm>
              <a:prstGeom prst="rect">
                <a:avLst/>
              </a:prstGeom>
              <a:solidFill>
                <a:schemeClr val="tx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bg1"/>
                  </a:solidFill>
                </a:endParaRPr>
              </a:p>
            </p:txBody>
          </p:sp>
          <p:sp>
            <p:nvSpPr>
              <p:cNvPr id="217" name="Rectangle 216">
                <a:extLst>
                  <a:ext uri="{FF2B5EF4-FFF2-40B4-BE49-F238E27FC236}">
                    <a16:creationId xmlns:a16="http://schemas.microsoft.com/office/drawing/2014/main" id="{490BF97D-F9A2-4DD5-A0F6-C2321A7D591D}"/>
                  </a:ext>
                </a:extLst>
              </p:cNvPr>
              <p:cNvSpPr/>
              <p:nvPr/>
            </p:nvSpPr>
            <p:spPr>
              <a:xfrm>
                <a:off x="6285156" y="1434346"/>
                <a:ext cx="1944210" cy="279646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tx1"/>
                    </a:solidFill>
                  </a:rPr>
                  <a:t>PARTIE PRENANTE</a:t>
                </a:r>
              </a:p>
              <a:p>
                <a:pPr algn="ctr"/>
                <a:endParaRPr lang="fr-FR" sz="800" b="1" dirty="0">
                  <a:solidFill>
                    <a:schemeClr val="tx1"/>
                  </a:solidFill>
                </a:endParaRPr>
              </a:p>
              <a:p>
                <a:pPr algn="ctr"/>
                <a:r>
                  <a:rPr lang="fr-FR" sz="800" b="1" dirty="0">
                    <a:solidFill>
                      <a:schemeClr val="tx1"/>
                    </a:solidFill>
                  </a:rPr>
                  <a:t>……………..</a:t>
                </a:r>
              </a:p>
              <a:p>
                <a:pPr algn="ctr"/>
                <a:r>
                  <a:rPr lang="fr-FR" sz="300" dirty="0">
                    <a:solidFill>
                      <a:schemeClr val="tx1"/>
                    </a:solidFill>
                  </a:rPr>
                  <a:t>Renseignez sur cette carte le nom d’un(e) partie prenante de l’équipe (client, fournisseur, hiérarchie, partenaire, autre équipe en collaboration fréquente...)</a:t>
                </a:r>
                <a:r>
                  <a:rPr lang="fr-FR" sz="300" b="0" dirty="0">
                    <a:solidFill>
                      <a:schemeClr val="tx1"/>
                    </a:solidFill>
                  </a:rPr>
                  <a:t>  </a:t>
                </a:r>
                <a:endParaRPr lang="fr-FR" sz="300" dirty="0">
                  <a:solidFill>
                    <a:schemeClr val="tx1"/>
                  </a:solidFill>
                </a:endParaRPr>
              </a:p>
            </p:txBody>
          </p:sp>
        </p:grpSp>
        <p:sp>
          <p:nvSpPr>
            <p:cNvPr id="215" name="ZoneTexte 214">
              <a:extLst>
                <a:ext uri="{FF2B5EF4-FFF2-40B4-BE49-F238E27FC236}">
                  <a16:creationId xmlns:a16="http://schemas.microsoft.com/office/drawing/2014/main" id="{B17C0FC1-F034-463F-9D18-677FF051BE99}"/>
                </a:ext>
              </a:extLst>
            </p:cNvPr>
            <p:cNvSpPr txBox="1"/>
            <p:nvPr/>
          </p:nvSpPr>
          <p:spPr>
            <a:xfrm>
              <a:off x="6564962" y="2582347"/>
              <a:ext cx="913323" cy="348757"/>
            </a:xfrm>
            <a:prstGeom prst="rect">
              <a:avLst/>
            </a:prstGeom>
            <a:noFill/>
            <a:ln w="3175">
              <a:solidFill>
                <a:schemeClr val="tx1"/>
              </a:solidFill>
            </a:ln>
          </p:spPr>
          <p:txBody>
            <a:bodyPr wrap="square" rtlCol="0">
              <a:spAutoFit/>
            </a:bodyPr>
            <a:lstStyle/>
            <a:p>
              <a:pPr algn="ctr"/>
              <a:r>
                <a:rPr lang="fr-FR" sz="1000" dirty="0">
                  <a:latin typeface="Freestyle Script" panose="030804020302050B0404" pitchFamily="66" charset="0"/>
                </a:rPr>
                <a:t>Pierre-Alain </a:t>
              </a:r>
            </a:p>
          </p:txBody>
        </p:sp>
      </p:grpSp>
      <p:grpSp>
        <p:nvGrpSpPr>
          <p:cNvPr id="218" name="Groupe 217">
            <a:extLst>
              <a:ext uri="{FF2B5EF4-FFF2-40B4-BE49-F238E27FC236}">
                <a16:creationId xmlns:a16="http://schemas.microsoft.com/office/drawing/2014/main" id="{9CF3CB51-F381-4AE5-BE6D-00C04CA55D1E}"/>
              </a:ext>
            </a:extLst>
          </p:cNvPr>
          <p:cNvGrpSpPr/>
          <p:nvPr/>
        </p:nvGrpSpPr>
        <p:grpSpPr>
          <a:xfrm>
            <a:off x="5048730" y="3553527"/>
            <a:ext cx="786758" cy="1055912"/>
            <a:chOff x="6459745" y="2018306"/>
            <a:chExt cx="1114393" cy="1495634"/>
          </a:xfrm>
        </p:grpSpPr>
        <p:grpSp>
          <p:nvGrpSpPr>
            <p:cNvPr id="219" name="Groupe 218">
              <a:extLst>
                <a:ext uri="{FF2B5EF4-FFF2-40B4-BE49-F238E27FC236}">
                  <a16:creationId xmlns:a16="http://schemas.microsoft.com/office/drawing/2014/main" id="{2EC59909-5D2D-4CC6-A671-D903EE67940E}"/>
                </a:ext>
              </a:extLst>
            </p:cNvPr>
            <p:cNvGrpSpPr/>
            <p:nvPr/>
          </p:nvGrpSpPr>
          <p:grpSpPr>
            <a:xfrm>
              <a:off x="6459745" y="2018306"/>
              <a:ext cx="1114393" cy="1495634"/>
              <a:chOff x="6063954" y="1259012"/>
              <a:chExt cx="2361459" cy="3169328"/>
            </a:xfrm>
          </p:grpSpPr>
          <p:sp>
            <p:nvSpPr>
              <p:cNvPr id="221" name="Rectangle 220">
                <a:extLst>
                  <a:ext uri="{FF2B5EF4-FFF2-40B4-BE49-F238E27FC236}">
                    <a16:creationId xmlns:a16="http://schemas.microsoft.com/office/drawing/2014/main" id="{D88879D7-D261-48CE-A09B-6F1122642C3A}"/>
                  </a:ext>
                </a:extLst>
              </p:cNvPr>
              <p:cNvSpPr/>
              <p:nvPr/>
            </p:nvSpPr>
            <p:spPr>
              <a:xfrm>
                <a:off x="6063954" y="1259012"/>
                <a:ext cx="2361459" cy="3169328"/>
              </a:xfrm>
              <a:prstGeom prst="rect">
                <a:avLst/>
              </a:prstGeom>
              <a:solidFill>
                <a:schemeClr val="tx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bg1"/>
                  </a:solidFill>
                </a:endParaRPr>
              </a:p>
            </p:txBody>
          </p:sp>
          <p:sp>
            <p:nvSpPr>
              <p:cNvPr id="222" name="Rectangle 221">
                <a:extLst>
                  <a:ext uri="{FF2B5EF4-FFF2-40B4-BE49-F238E27FC236}">
                    <a16:creationId xmlns:a16="http://schemas.microsoft.com/office/drawing/2014/main" id="{CD709C4D-B985-49D7-B9AB-74F3565459B5}"/>
                  </a:ext>
                </a:extLst>
              </p:cNvPr>
              <p:cNvSpPr/>
              <p:nvPr/>
            </p:nvSpPr>
            <p:spPr>
              <a:xfrm>
                <a:off x="6285156" y="1434346"/>
                <a:ext cx="1944210" cy="279646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tx1"/>
                    </a:solidFill>
                  </a:rPr>
                  <a:t>PARTIE PRENANTE</a:t>
                </a:r>
              </a:p>
              <a:p>
                <a:pPr algn="ctr"/>
                <a:endParaRPr lang="fr-FR" sz="800" b="1" dirty="0">
                  <a:solidFill>
                    <a:schemeClr val="tx1"/>
                  </a:solidFill>
                </a:endParaRPr>
              </a:p>
              <a:p>
                <a:pPr algn="ctr"/>
                <a:r>
                  <a:rPr lang="fr-FR" sz="800" b="1" dirty="0">
                    <a:solidFill>
                      <a:schemeClr val="tx1"/>
                    </a:solidFill>
                  </a:rPr>
                  <a:t>……………..</a:t>
                </a:r>
              </a:p>
              <a:p>
                <a:pPr algn="ctr"/>
                <a:r>
                  <a:rPr lang="fr-FR" sz="300" dirty="0">
                    <a:solidFill>
                      <a:schemeClr val="tx1"/>
                    </a:solidFill>
                  </a:rPr>
                  <a:t>Renseignez sur cette carte le nom d’un(e) partie prenante de l’équipe (client, fournisseur, hiérarchie, partenaire, autre équipe en collaboration fréquente...)</a:t>
                </a:r>
                <a:r>
                  <a:rPr lang="fr-FR" sz="300" b="0" dirty="0">
                    <a:solidFill>
                      <a:schemeClr val="tx1"/>
                    </a:solidFill>
                  </a:rPr>
                  <a:t>  </a:t>
                </a:r>
                <a:endParaRPr lang="fr-FR" sz="300" dirty="0">
                  <a:solidFill>
                    <a:schemeClr val="tx1"/>
                  </a:solidFill>
                </a:endParaRPr>
              </a:p>
            </p:txBody>
          </p:sp>
        </p:grpSp>
        <p:sp>
          <p:nvSpPr>
            <p:cNvPr id="220" name="ZoneTexte 219">
              <a:extLst>
                <a:ext uri="{FF2B5EF4-FFF2-40B4-BE49-F238E27FC236}">
                  <a16:creationId xmlns:a16="http://schemas.microsoft.com/office/drawing/2014/main" id="{9CA75CDD-6D81-4D2E-AE04-24A12480A4F3}"/>
                </a:ext>
              </a:extLst>
            </p:cNvPr>
            <p:cNvSpPr txBox="1"/>
            <p:nvPr/>
          </p:nvSpPr>
          <p:spPr>
            <a:xfrm>
              <a:off x="6564962" y="2582347"/>
              <a:ext cx="913323" cy="348757"/>
            </a:xfrm>
            <a:prstGeom prst="rect">
              <a:avLst/>
            </a:prstGeom>
            <a:noFill/>
            <a:ln w="3175">
              <a:solidFill>
                <a:schemeClr val="tx1"/>
              </a:solidFill>
            </a:ln>
          </p:spPr>
          <p:txBody>
            <a:bodyPr wrap="square" rtlCol="0">
              <a:spAutoFit/>
            </a:bodyPr>
            <a:lstStyle/>
            <a:p>
              <a:pPr algn="ctr"/>
              <a:r>
                <a:rPr lang="fr-FR" sz="1000" dirty="0">
                  <a:latin typeface="Freestyle Script" panose="030804020302050B0404" pitchFamily="66" charset="0"/>
                </a:rPr>
                <a:t>Pierre-Alain </a:t>
              </a:r>
            </a:p>
          </p:txBody>
        </p:sp>
      </p:grpSp>
      <p:grpSp>
        <p:nvGrpSpPr>
          <p:cNvPr id="223" name="Groupe 222">
            <a:extLst>
              <a:ext uri="{FF2B5EF4-FFF2-40B4-BE49-F238E27FC236}">
                <a16:creationId xmlns:a16="http://schemas.microsoft.com/office/drawing/2014/main" id="{7A4BE73A-BE38-43C3-A4F6-640B5F2DF79B}"/>
              </a:ext>
            </a:extLst>
          </p:cNvPr>
          <p:cNvGrpSpPr/>
          <p:nvPr/>
        </p:nvGrpSpPr>
        <p:grpSpPr>
          <a:xfrm>
            <a:off x="5092474" y="3605981"/>
            <a:ext cx="786758" cy="1055912"/>
            <a:chOff x="6459745" y="2018306"/>
            <a:chExt cx="1114393" cy="1495634"/>
          </a:xfrm>
        </p:grpSpPr>
        <p:grpSp>
          <p:nvGrpSpPr>
            <p:cNvPr id="224" name="Groupe 223">
              <a:extLst>
                <a:ext uri="{FF2B5EF4-FFF2-40B4-BE49-F238E27FC236}">
                  <a16:creationId xmlns:a16="http://schemas.microsoft.com/office/drawing/2014/main" id="{77005A4E-356E-4010-8F65-802E1F60B9E7}"/>
                </a:ext>
              </a:extLst>
            </p:cNvPr>
            <p:cNvGrpSpPr/>
            <p:nvPr/>
          </p:nvGrpSpPr>
          <p:grpSpPr>
            <a:xfrm>
              <a:off x="6459745" y="2018306"/>
              <a:ext cx="1114393" cy="1495634"/>
              <a:chOff x="6063954" y="1259012"/>
              <a:chExt cx="2361459" cy="3169328"/>
            </a:xfrm>
          </p:grpSpPr>
          <p:sp>
            <p:nvSpPr>
              <p:cNvPr id="226" name="Rectangle 225">
                <a:extLst>
                  <a:ext uri="{FF2B5EF4-FFF2-40B4-BE49-F238E27FC236}">
                    <a16:creationId xmlns:a16="http://schemas.microsoft.com/office/drawing/2014/main" id="{7E5EB80C-A6CB-41C0-9F31-BF2DB1C027C8}"/>
                  </a:ext>
                </a:extLst>
              </p:cNvPr>
              <p:cNvSpPr/>
              <p:nvPr/>
            </p:nvSpPr>
            <p:spPr>
              <a:xfrm>
                <a:off x="6063954" y="1259012"/>
                <a:ext cx="2361459" cy="3169328"/>
              </a:xfrm>
              <a:prstGeom prst="rect">
                <a:avLst/>
              </a:prstGeom>
              <a:solidFill>
                <a:schemeClr val="tx1"/>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50" b="1" dirty="0">
                  <a:solidFill>
                    <a:schemeClr val="bg1"/>
                  </a:solidFill>
                </a:endParaRPr>
              </a:p>
            </p:txBody>
          </p:sp>
          <p:sp>
            <p:nvSpPr>
              <p:cNvPr id="227" name="Rectangle 226">
                <a:extLst>
                  <a:ext uri="{FF2B5EF4-FFF2-40B4-BE49-F238E27FC236}">
                    <a16:creationId xmlns:a16="http://schemas.microsoft.com/office/drawing/2014/main" id="{77946769-E7C8-48A9-B65B-0E2AD5AAC707}"/>
                  </a:ext>
                </a:extLst>
              </p:cNvPr>
              <p:cNvSpPr/>
              <p:nvPr/>
            </p:nvSpPr>
            <p:spPr>
              <a:xfrm>
                <a:off x="6285156" y="1434346"/>
                <a:ext cx="1944210" cy="2796466"/>
              </a:xfrm>
              <a:prstGeom prst="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800" b="1" dirty="0">
                    <a:solidFill>
                      <a:schemeClr val="tx1"/>
                    </a:solidFill>
                  </a:rPr>
                  <a:t>PARTIE PRENANTE</a:t>
                </a:r>
              </a:p>
              <a:p>
                <a:pPr algn="ctr"/>
                <a:endParaRPr lang="fr-FR" sz="800" b="1" dirty="0">
                  <a:solidFill>
                    <a:schemeClr val="tx1"/>
                  </a:solidFill>
                </a:endParaRPr>
              </a:p>
              <a:p>
                <a:pPr algn="ctr"/>
                <a:r>
                  <a:rPr lang="fr-FR" sz="800" b="1" dirty="0">
                    <a:solidFill>
                      <a:schemeClr val="tx1"/>
                    </a:solidFill>
                  </a:rPr>
                  <a:t>……………..</a:t>
                </a:r>
              </a:p>
              <a:p>
                <a:pPr algn="ctr"/>
                <a:r>
                  <a:rPr lang="fr-FR" sz="300" dirty="0">
                    <a:solidFill>
                      <a:schemeClr val="tx1"/>
                    </a:solidFill>
                  </a:rPr>
                  <a:t>Renseignez sur cette carte le nom d’un(e) partie prenante de l’équipe (client, fournisseur, hiérarchie, partenaire, autre équipe en collaboration fréquente...)</a:t>
                </a:r>
                <a:r>
                  <a:rPr lang="fr-FR" sz="300" b="0" dirty="0">
                    <a:solidFill>
                      <a:schemeClr val="tx1"/>
                    </a:solidFill>
                  </a:rPr>
                  <a:t>  </a:t>
                </a:r>
                <a:endParaRPr lang="fr-FR" sz="300" dirty="0">
                  <a:solidFill>
                    <a:schemeClr val="tx1"/>
                  </a:solidFill>
                </a:endParaRPr>
              </a:p>
            </p:txBody>
          </p:sp>
        </p:grpSp>
        <p:sp>
          <p:nvSpPr>
            <p:cNvPr id="225" name="ZoneTexte 224">
              <a:extLst>
                <a:ext uri="{FF2B5EF4-FFF2-40B4-BE49-F238E27FC236}">
                  <a16:creationId xmlns:a16="http://schemas.microsoft.com/office/drawing/2014/main" id="{7F0F4394-1544-4A5F-8D2A-2823B9D7CF61}"/>
                </a:ext>
              </a:extLst>
            </p:cNvPr>
            <p:cNvSpPr txBox="1"/>
            <p:nvPr/>
          </p:nvSpPr>
          <p:spPr>
            <a:xfrm>
              <a:off x="6564962" y="2582347"/>
              <a:ext cx="913323" cy="348757"/>
            </a:xfrm>
            <a:prstGeom prst="rect">
              <a:avLst/>
            </a:prstGeom>
            <a:noFill/>
            <a:ln w="3175">
              <a:solidFill>
                <a:schemeClr val="tx1"/>
              </a:solidFill>
            </a:ln>
          </p:spPr>
          <p:txBody>
            <a:bodyPr wrap="square" rtlCol="0">
              <a:spAutoFit/>
            </a:bodyPr>
            <a:lstStyle/>
            <a:p>
              <a:pPr algn="ctr"/>
              <a:r>
                <a:rPr lang="fr-FR" sz="1000" dirty="0">
                  <a:latin typeface="Freestyle Script" panose="030804020302050B0404" pitchFamily="66" charset="0"/>
                </a:rPr>
                <a:t>Pierre-Alain </a:t>
              </a:r>
            </a:p>
          </p:txBody>
        </p:sp>
      </p:grpSp>
    </p:spTree>
    <p:extLst>
      <p:ext uri="{BB962C8B-B14F-4D97-AF65-F5344CB8AC3E}">
        <p14:creationId xmlns:p14="http://schemas.microsoft.com/office/powerpoint/2010/main" val="23122231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0B32EE7-F3E3-4CC6-B739-FDCD7529653F}"/>
              </a:ext>
            </a:extLst>
          </p:cNvPr>
          <p:cNvSpPr>
            <a:spLocks noGrp="1"/>
          </p:cNvSpPr>
          <p:nvPr>
            <p:ph type="title"/>
          </p:nvPr>
        </p:nvSpPr>
        <p:spPr/>
        <p:txBody>
          <a:bodyPr/>
          <a:lstStyle/>
          <a:p>
            <a:r>
              <a:rPr lang="fr-FR" b="1" dirty="0"/>
              <a:t>GRILLE DE SCORE</a:t>
            </a:r>
            <a:br>
              <a:rPr lang="fr-FR" b="1" dirty="0"/>
            </a:br>
            <a:r>
              <a:rPr lang="fr-FR" b="1" dirty="0"/>
              <a:t>Renseignez les points dans les cases</a:t>
            </a:r>
          </a:p>
        </p:txBody>
      </p:sp>
      <p:graphicFrame>
        <p:nvGraphicFramePr>
          <p:cNvPr id="3" name="Tableau 3">
            <a:extLst>
              <a:ext uri="{FF2B5EF4-FFF2-40B4-BE49-F238E27FC236}">
                <a16:creationId xmlns:a16="http://schemas.microsoft.com/office/drawing/2014/main" id="{59466F71-427F-42F8-9EDA-9B2799957984}"/>
              </a:ext>
            </a:extLst>
          </p:cNvPr>
          <p:cNvGraphicFramePr>
            <a:graphicFrameLocks noGrp="1"/>
          </p:cNvGraphicFramePr>
          <p:nvPr>
            <p:extLst>
              <p:ext uri="{D42A27DB-BD31-4B8C-83A1-F6EECF244321}">
                <p14:modId xmlns:p14="http://schemas.microsoft.com/office/powerpoint/2010/main" val="3862263764"/>
              </p:ext>
            </p:extLst>
          </p:nvPr>
        </p:nvGraphicFramePr>
        <p:xfrm>
          <a:off x="204185" y="1690688"/>
          <a:ext cx="11869440" cy="4878783"/>
        </p:xfrm>
        <a:graphic>
          <a:graphicData uri="http://schemas.openxmlformats.org/drawingml/2006/table">
            <a:tbl>
              <a:tblPr firstRow="1" firstCol="1" lastRow="1" bandRow="1">
                <a:tableStyleId>{5C22544A-7EE6-4342-B048-85BDC9FD1C3A}</a:tableStyleId>
              </a:tblPr>
              <a:tblGrid>
                <a:gridCol w="1079040">
                  <a:extLst>
                    <a:ext uri="{9D8B030D-6E8A-4147-A177-3AD203B41FA5}">
                      <a16:colId xmlns:a16="http://schemas.microsoft.com/office/drawing/2014/main" val="3169602503"/>
                    </a:ext>
                  </a:extLst>
                </a:gridCol>
                <a:gridCol w="1079040">
                  <a:extLst>
                    <a:ext uri="{9D8B030D-6E8A-4147-A177-3AD203B41FA5}">
                      <a16:colId xmlns:a16="http://schemas.microsoft.com/office/drawing/2014/main" val="4289770715"/>
                    </a:ext>
                  </a:extLst>
                </a:gridCol>
                <a:gridCol w="1079040">
                  <a:extLst>
                    <a:ext uri="{9D8B030D-6E8A-4147-A177-3AD203B41FA5}">
                      <a16:colId xmlns:a16="http://schemas.microsoft.com/office/drawing/2014/main" val="2466040237"/>
                    </a:ext>
                  </a:extLst>
                </a:gridCol>
                <a:gridCol w="1079040">
                  <a:extLst>
                    <a:ext uri="{9D8B030D-6E8A-4147-A177-3AD203B41FA5}">
                      <a16:colId xmlns:a16="http://schemas.microsoft.com/office/drawing/2014/main" val="1100866873"/>
                    </a:ext>
                  </a:extLst>
                </a:gridCol>
                <a:gridCol w="1079040">
                  <a:extLst>
                    <a:ext uri="{9D8B030D-6E8A-4147-A177-3AD203B41FA5}">
                      <a16:colId xmlns:a16="http://schemas.microsoft.com/office/drawing/2014/main" val="4092072704"/>
                    </a:ext>
                  </a:extLst>
                </a:gridCol>
                <a:gridCol w="1079040">
                  <a:extLst>
                    <a:ext uri="{9D8B030D-6E8A-4147-A177-3AD203B41FA5}">
                      <a16:colId xmlns:a16="http://schemas.microsoft.com/office/drawing/2014/main" val="2723461478"/>
                    </a:ext>
                  </a:extLst>
                </a:gridCol>
                <a:gridCol w="1079040">
                  <a:extLst>
                    <a:ext uri="{9D8B030D-6E8A-4147-A177-3AD203B41FA5}">
                      <a16:colId xmlns:a16="http://schemas.microsoft.com/office/drawing/2014/main" val="3564291959"/>
                    </a:ext>
                  </a:extLst>
                </a:gridCol>
                <a:gridCol w="1079040">
                  <a:extLst>
                    <a:ext uri="{9D8B030D-6E8A-4147-A177-3AD203B41FA5}">
                      <a16:colId xmlns:a16="http://schemas.microsoft.com/office/drawing/2014/main" val="1953514274"/>
                    </a:ext>
                  </a:extLst>
                </a:gridCol>
                <a:gridCol w="1079040">
                  <a:extLst>
                    <a:ext uri="{9D8B030D-6E8A-4147-A177-3AD203B41FA5}">
                      <a16:colId xmlns:a16="http://schemas.microsoft.com/office/drawing/2014/main" val="2317504147"/>
                    </a:ext>
                  </a:extLst>
                </a:gridCol>
                <a:gridCol w="1079040">
                  <a:extLst>
                    <a:ext uri="{9D8B030D-6E8A-4147-A177-3AD203B41FA5}">
                      <a16:colId xmlns:a16="http://schemas.microsoft.com/office/drawing/2014/main" val="2995311112"/>
                    </a:ext>
                  </a:extLst>
                </a:gridCol>
                <a:gridCol w="1079040">
                  <a:extLst>
                    <a:ext uri="{9D8B030D-6E8A-4147-A177-3AD203B41FA5}">
                      <a16:colId xmlns:a16="http://schemas.microsoft.com/office/drawing/2014/main" val="4261541372"/>
                    </a:ext>
                  </a:extLst>
                </a:gridCol>
              </a:tblGrid>
              <a:tr h="1758561">
                <a:tc>
                  <a:txBody>
                    <a:bodyPr/>
                    <a:lstStyle/>
                    <a:p>
                      <a:r>
                        <a:rPr lang="fr-FR" noProof="0" dirty="0"/>
                        <a:t>Ecrire ici le nom du joueur</a:t>
                      </a:r>
                    </a:p>
                    <a:p>
                      <a:r>
                        <a:rPr lang="fr-FR" noProof="0" dirty="0">
                          <a:sym typeface="Wingdings" panose="05000000000000000000" pitchFamily="2" charset="2"/>
                        </a:rPr>
                        <a:t></a:t>
                      </a:r>
                      <a:endParaRPr lang="fr-FR" noProof="0" dirty="0"/>
                    </a:p>
                  </a:txBody>
                  <a:tcPr/>
                </a:tc>
                <a:tc>
                  <a:txBody>
                    <a:bodyPr/>
                    <a:lstStyle/>
                    <a:p>
                      <a:pPr algn="ctr"/>
                      <a:r>
                        <a:rPr lang="fr-FR" noProof="0" dirty="0">
                          <a:solidFill>
                            <a:schemeClr val="bg1"/>
                          </a:solidFill>
                        </a:rPr>
                        <a:t>……..</a:t>
                      </a:r>
                      <a:endParaRPr lang="fr-FR" noProof="0" dirty="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a:t>
                      </a:r>
                      <a:endPar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a:t>
                      </a:r>
                      <a:endPar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a:t>
                      </a:r>
                      <a:endPar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a:t>
                      </a:r>
                      <a:endPar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a:t>
                      </a:r>
                      <a:endPar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a:t>
                      </a:r>
                      <a:endPar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endParaRP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rPr>
                        <a:t>……..</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rPr>
                        <a:t>……..</a:t>
                      </a:r>
                    </a:p>
                  </a:txBody>
                  <a:tcPr anchor="ctr"/>
                </a:tc>
                <a:extLst>
                  <a:ext uri="{0D108BD9-81ED-4DB2-BD59-A6C34878D82A}">
                    <a16:rowId xmlns:a16="http://schemas.microsoft.com/office/drawing/2014/main" val="669568592"/>
                  </a:ext>
                </a:extLst>
              </a:tr>
              <a:tr h="445746">
                <a:tc>
                  <a:txBody>
                    <a:bodyPr/>
                    <a:lstStyle/>
                    <a:p>
                      <a:r>
                        <a:rPr lang="fr-FR" noProof="0" dirty="0"/>
                        <a:t>Crise 1</a:t>
                      </a:r>
                    </a:p>
                  </a:txBody>
                  <a:tcPr/>
                </a:tc>
                <a:tc>
                  <a:txBody>
                    <a:bodyPr/>
                    <a:lstStyle/>
                    <a:p>
                      <a:pPr algn="ctr"/>
                      <a:endParaRPr lang="fr-FR" noProof="0" dirty="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dirty="0"/>
                    </a:p>
                  </a:txBody>
                  <a:tcPr/>
                </a:tc>
                <a:extLst>
                  <a:ext uri="{0D108BD9-81ED-4DB2-BD59-A6C34878D82A}">
                    <a16:rowId xmlns:a16="http://schemas.microsoft.com/office/drawing/2014/main" val="2919557992"/>
                  </a:ext>
                </a:extLst>
              </a:tr>
              <a:tr h="445746">
                <a:tc>
                  <a:txBody>
                    <a:bodyPr/>
                    <a:lstStyle/>
                    <a:p>
                      <a:r>
                        <a:rPr lang="fr-FR" noProof="0" dirty="0"/>
                        <a:t>Crise 2</a:t>
                      </a:r>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dirty="0"/>
                    </a:p>
                  </a:txBody>
                  <a:tcPr/>
                </a:tc>
                <a:extLst>
                  <a:ext uri="{0D108BD9-81ED-4DB2-BD59-A6C34878D82A}">
                    <a16:rowId xmlns:a16="http://schemas.microsoft.com/office/drawing/2014/main" val="797317368"/>
                  </a:ext>
                </a:extLst>
              </a:tr>
              <a:tr h="445746">
                <a:tc>
                  <a:txBody>
                    <a:bodyPr/>
                    <a:lstStyle/>
                    <a:p>
                      <a:r>
                        <a:rPr lang="fr-FR" noProof="0" dirty="0"/>
                        <a:t>Crise 3</a:t>
                      </a:r>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a:p>
                  </a:txBody>
                  <a:tcPr/>
                </a:tc>
                <a:extLst>
                  <a:ext uri="{0D108BD9-81ED-4DB2-BD59-A6C34878D82A}">
                    <a16:rowId xmlns:a16="http://schemas.microsoft.com/office/drawing/2014/main" val="3684247895"/>
                  </a:ext>
                </a:extLst>
              </a:tr>
              <a:tr h="445746">
                <a:tc>
                  <a:txBody>
                    <a:bodyPr/>
                    <a:lstStyle/>
                    <a:p>
                      <a:r>
                        <a:rPr lang="fr-FR" noProof="0" dirty="0"/>
                        <a:t>Crise 4</a:t>
                      </a:r>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dirty="0"/>
                    </a:p>
                  </a:txBody>
                  <a:tcPr/>
                </a:tc>
                <a:extLst>
                  <a:ext uri="{0D108BD9-81ED-4DB2-BD59-A6C34878D82A}">
                    <a16:rowId xmlns:a16="http://schemas.microsoft.com/office/drawing/2014/main" val="18427999"/>
                  </a:ext>
                </a:extLst>
              </a:tr>
              <a:tr h="445746">
                <a:tc>
                  <a:txBody>
                    <a:bodyPr/>
                    <a:lstStyle/>
                    <a:p>
                      <a:r>
                        <a:rPr lang="fr-FR" noProof="0" dirty="0"/>
                        <a:t>Crise 5</a:t>
                      </a:r>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dirty="0"/>
                    </a:p>
                  </a:txBody>
                  <a:tcPr/>
                </a:tc>
                <a:extLst>
                  <a:ext uri="{0D108BD9-81ED-4DB2-BD59-A6C34878D82A}">
                    <a16:rowId xmlns:a16="http://schemas.microsoft.com/office/drawing/2014/main" val="2932680261"/>
                  </a:ext>
                </a:extLst>
              </a:tr>
              <a:tr h="445746">
                <a:tc>
                  <a:txBody>
                    <a:bodyPr/>
                    <a:lstStyle/>
                    <a:p>
                      <a:r>
                        <a:rPr lang="fr-FR" noProof="0" dirty="0"/>
                        <a:t>Crise 6</a:t>
                      </a:r>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a:p>
                  </a:txBody>
                  <a:tcPr/>
                </a:tc>
                <a:tc>
                  <a:txBody>
                    <a:bodyPr/>
                    <a:lstStyle/>
                    <a:p>
                      <a:pPr algn="ctr"/>
                      <a:endParaRPr lang="fr-FR" noProof="0" dirty="0"/>
                    </a:p>
                  </a:txBody>
                  <a:tcPr/>
                </a:tc>
                <a:tc>
                  <a:txBody>
                    <a:bodyPr/>
                    <a:lstStyle/>
                    <a:p>
                      <a:pPr algn="ctr"/>
                      <a:endParaRPr lang="fr-FR" noProof="0" dirty="0"/>
                    </a:p>
                  </a:txBody>
                  <a:tcPr/>
                </a:tc>
                <a:extLst>
                  <a:ext uri="{0D108BD9-81ED-4DB2-BD59-A6C34878D82A}">
                    <a16:rowId xmlns:a16="http://schemas.microsoft.com/office/drawing/2014/main" val="1455446388"/>
                  </a:ext>
                </a:extLst>
              </a:tr>
              <a:tr h="445746">
                <a:tc>
                  <a:txBody>
                    <a:bodyPr/>
                    <a:lstStyle/>
                    <a:p>
                      <a:r>
                        <a:rPr lang="fr-FR" noProof="0" dirty="0"/>
                        <a:t>Total</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noProof="0" dirty="0">
                          <a:solidFill>
                            <a:schemeClr val="bg1"/>
                          </a:solidFill>
                        </a:rPr>
                        <a:t>……..</a:t>
                      </a:r>
                      <a:r>
                        <a:rPr lang="fr-FR" sz="1800" b="1" dirty="0">
                          <a:solidFill>
                            <a:schemeClr val="bg1"/>
                          </a:solidFill>
                        </a:rPr>
                        <a:t> 🔥</a:t>
                      </a:r>
                    </a:p>
                  </a:txBody>
                  <a:tcPr>
                    <a:solidFill>
                      <a:srgbClr val="ED7D31"/>
                    </a:solidFill>
                  </a:tcPr>
                </a:tc>
                <a:tc>
                  <a:txBody>
                    <a:bodyPr/>
                    <a:lstStyle/>
                    <a:p>
                      <a:pPr algn="ct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 🔥</a:t>
                      </a:r>
                      <a:endParaRPr lang="fr-FR" noProof="0" dirty="0"/>
                    </a:p>
                  </a:txBody>
                  <a:tcPr>
                    <a:solidFill>
                      <a:srgbClr val="ED7D31"/>
                    </a:solidFill>
                  </a:tcPr>
                </a:tc>
                <a:tc>
                  <a:txBody>
                    <a:bodyPr/>
                    <a:lstStyle/>
                    <a:p>
                      <a:pPr algn="ct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 🔥</a:t>
                      </a:r>
                      <a:endParaRPr lang="fr-FR" noProof="0" dirty="0"/>
                    </a:p>
                  </a:txBody>
                  <a:tcPr>
                    <a:solidFill>
                      <a:srgbClr val="ED7D31"/>
                    </a:solidFill>
                  </a:tcPr>
                </a:tc>
                <a:tc>
                  <a:txBody>
                    <a:bodyPr/>
                    <a:lstStyle/>
                    <a:p>
                      <a:pPr algn="ct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 🔥</a:t>
                      </a:r>
                      <a:endParaRPr lang="fr-FR" noProof="0" dirty="0"/>
                    </a:p>
                  </a:txBody>
                  <a:tcPr>
                    <a:solidFill>
                      <a:srgbClr val="ED7D31"/>
                    </a:solidFill>
                  </a:tcPr>
                </a:tc>
                <a:tc>
                  <a:txBody>
                    <a:bodyPr/>
                    <a:lstStyle/>
                    <a:p>
                      <a:pPr algn="ct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 🔥</a:t>
                      </a:r>
                      <a:endParaRPr lang="fr-FR" noProof="0" dirty="0"/>
                    </a:p>
                  </a:txBody>
                  <a:tcPr>
                    <a:solidFill>
                      <a:srgbClr val="ED7D31"/>
                    </a:solidFill>
                  </a:tcPr>
                </a:tc>
                <a:tc>
                  <a:txBody>
                    <a:bodyPr/>
                    <a:lstStyle/>
                    <a:p>
                      <a:pPr algn="ct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 🔥</a:t>
                      </a:r>
                      <a:endParaRPr lang="fr-FR" noProof="0" dirty="0"/>
                    </a:p>
                  </a:txBody>
                  <a:tcPr>
                    <a:solidFill>
                      <a:srgbClr val="ED7D31"/>
                    </a:solidFill>
                  </a:tcPr>
                </a:tc>
                <a:tc>
                  <a:txBody>
                    <a:bodyPr/>
                    <a:lstStyle/>
                    <a:p>
                      <a:pPr algn="ctr"/>
                      <a:r>
                        <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rPr>
                        <a:t>…….. 🔥</a:t>
                      </a:r>
                      <a:endParaRPr lang="fr-FR" noProof="0" dirty="0"/>
                    </a:p>
                  </a:txBody>
                  <a:tcPr>
                    <a:solidFill>
                      <a:srgbClr val="ED7D31"/>
                    </a:solidFill>
                  </a:tcPr>
                </a:tc>
                <a:tc>
                  <a:txBody>
                    <a:bodyPr/>
                    <a:lstStyle/>
                    <a:p>
                      <a:pPr algn="ctr"/>
                      <a:r>
                        <a:rPr kumimoji="0" lang="fr-FR" sz="1800" b="1" i="0" u="none" strike="noStrike" kern="1200" cap="none" spc="0" normalizeH="0" baseline="0" noProof="0">
                          <a:ln>
                            <a:noFill/>
                          </a:ln>
                          <a:solidFill>
                            <a:prstClr val="white"/>
                          </a:solidFill>
                          <a:effectLst/>
                          <a:uLnTx/>
                          <a:uFillTx/>
                          <a:latin typeface="Calibri" panose="020F0502020204030204"/>
                          <a:ea typeface="+mn-ea"/>
                          <a:cs typeface="+mn-cs"/>
                        </a:rPr>
                        <a:t>…….. 🔥</a:t>
                      </a:r>
                      <a:endParaRPr lang="fr-FR" noProof="0" dirty="0"/>
                    </a:p>
                  </a:txBody>
                  <a:tcPr>
                    <a:solidFill>
                      <a:srgbClr val="ED7D31"/>
                    </a:solidFill>
                  </a:tcPr>
                </a:tc>
                <a:tc>
                  <a:txBody>
                    <a:bodyPr/>
                    <a:lstStyle/>
                    <a:p>
                      <a:pPr algn="ctr"/>
                      <a:r>
                        <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rPr>
                        <a:t>…….. 🔥</a:t>
                      </a:r>
                      <a:endParaRPr lang="fr-FR" noProof="0" dirty="0"/>
                    </a:p>
                  </a:txBody>
                  <a:tcPr>
                    <a:solidFill>
                      <a:srgbClr val="ED7D31"/>
                    </a:solidFill>
                  </a:tcPr>
                </a:tc>
                <a:tc>
                  <a:txBody>
                    <a:bodyPr/>
                    <a:lstStyle/>
                    <a:p>
                      <a:pPr algn="ctr"/>
                      <a:r>
                        <a:rPr kumimoji="0" lang="fr-FR" sz="1800" b="1" i="0" u="none" strike="noStrike" kern="1200" cap="none" spc="0" normalizeH="0" baseline="0" noProof="0" dirty="0">
                          <a:ln>
                            <a:noFill/>
                          </a:ln>
                          <a:solidFill>
                            <a:prstClr val="white"/>
                          </a:solidFill>
                          <a:effectLst/>
                          <a:uLnTx/>
                          <a:uFillTx/>
                          <a:latin typeface="Calibri" panose="020F0502020204030204"/>
                          <a:ea typeface="+mn-ea"/>
                          <a:cs typeface="+mn-cs"/>
                        </a:rPr>
                        <a:t>…….. 🔥</a:t>
                      </a:r>
                      <a:endParaRPr lang="fr-FR" noProof="0" dirty="0"/>
                    </a:p>
                  </a:txBody>
                  <a:tcPr>
                    <a:solidFill>
                      <a:srgbClr val="ED7D31"/>
                    </a:solidFill>
                  </a:tcPr>
                </a:tc>
                <a:extLst>
                  <a:ext uri="{0D108BD9-81ED-4DB2-BD59-A6C34878D82A}">
                    <a16:rowId xmlns:a16="http://schemas.microsoft.com/office/drawing/2014/main" val="2346143208"/>
                  </a:ext>
                </a:extLst>
              </a:tr>
            </a:tbl>
          </a:graphicData>
        </a:graphic>
      </p:graphicFrame>
    </p:spTree>
    <p:extLst>
      <p:ext uri="{BB962C8B-B14F-4D97-AF65-F5344CB8AC3E}">
        <p14:creationId xmlns:p14="http://schemas.microsoft.com/office/powerpoint/2010/main" val="32110728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4FD8270-C5BD-4C95-919E-846BFBD95020}"/>
              </a:ext>
            </a:extLst>
          </p:cNvPr>
          <p:cNvSpPr>
            <a:spLocks noGrp="1"/>
          </p:cNvSpPr>
          <p:nvPr>
            <p:ph type="title"/>
          </p:nvPr>
        </p:nvSpPr>
        <p:spPr/>
        <p:txBody>
          <a:bodyPr/>
          <a:lstStyle/>
          <a:p>
            <a:r>
              <a:rPr lang="fr-FR" dirty="0"/>
              <a:t>Détail: Déroulement de </a:t>
            </a:r>
            <a:r>
              <a:rPr lang="fr-FR" sz="4400" b="0" dirty="0"/>
              <a:t>💪ROBUSTEAM</a:t>
            </a:r>
            <a:endParaRPr lang="fr-FR" dirty="0"/>
          </a:p>
        </p:txBody>
      </p:sp>
      <p:sp>
        <p:nvSpPr>
          <p:cNvPr id="23" name="Flèche : droite 22">
            <a:extLst>
              <a:ext uri="{FF2B5EF4-FFF2-40B4-BE49-F238E27FC236}">
                <a16:creationId xmlns:a16="http://schemas.microsoft.com/office/drawing/2014/main" id="{011DBE07-86F4-4C26-89A1-335718E27CF9}"/>
              </a:ext>
            </a:extLst>
          </p:cNvPr>
          <p:cNvSpPr/>
          <p:nvPr/>
        </p:nvSpPr>
        <p:spPr>
          <a:xfrm>
            <a:off x="217648" y="1061788"/>
            <a:ext cx="11864862" cy="5598155"/>
          </a:xfrm>
          <a:prstGeom prst="rightArrow">
            <a:avLst>
              <a:gd name="adj1" fmla="val 82034"/>
              <a:gd name="adj2" fmla="val 25308"/>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graphicFrame>
        <p:nvGraphicFramePr>
          <p:cNvPr id="24" name="Tableau 4">
            <a:extLst>
              <a:ext uri="{FF2B5EF4-FFF2-40B4-BE49-F238E27FC236}">
                <a16:creationId xmlns:a16="http://schemas.microsoft.com/office/drawing/2014/main" id="{17FF7068-AC52-408E-AEE7-AF6B0F4F73FA}"/>
              </a:ext>
            </a:extLst>
          </p:cNvPr>
          <p:cNvGraphicFramePr>
            <a:graphicFrameLocks/>
          </p:cNvGraphicFramePr>
          <p:nvPr>
            <p:extLst>
              <p:ext uri="{D42A27DB-BD31-4B8C-83A1-F6EECF244321}">
                <p14:modId xmlns:p14="http://schemas.microsoft.com/office/powerpoint/2010/main" val="1788252046"/>
              </p:ext>
            </p:extLst>
          </p:nvPr>
        </p:nvGraphicFramePr>
        <p:xfrm>
          <a:off x="217646" y="1603540"/>
          <a:ext cx="10421855" cy="5204460"/>
        </p:xfrm>
        <a:graphic>
          <a:graphicData uri="http://schemas.openxmlformats.org/drawingml/2006/table">
            <a:tbl>
              <a:tblPr firstRow="1" bandRow="1">
                <a:tableStyleId>{5C22544A-7EE6-4342-B048-85BDC9FD1C3A}</a:tableStyleId>
              </a:tblPr>
              <a:tblGrid>
                <a:gridCol w="1531255">
                  <a:extLst>
                    <a:ext uri="{9D8B030D-6E8A-4147-A177-3AD203B41FA5}">
                      <a16:colId xmlns:a16="http://schemas.microsoft.com/office/drawing/2014/main" val="1302591909"/>
                    </a:ext>
                  </a:extLst>
                </a:gridCol>
                <a:gridCol w="2672179">
                  <a:extLst>
                    <a:ext uri="{9D8B030D-6E8A-4147-A177-3AD203B41FA5}">
                      <a16:colId xmlns:a16="http://schemas.microsoft.com/office/drawing/2014/main" val="1572267126"/>
                    </a:ext>
                  </a:extLst>
                </a:gridCol>
                <a:gridCol w="4500978">
                  <a:extLst>
                    <a:ext uri="{9D8B030D-6E8A-4147-A177-3AD203B41FA5}">
                      <a16:colId xmlns:a16="http://schemas.microsoft.com/office/drawing/2014/main" val="455740196"/>
                    </a:ext>
                  </a:extLst>
                </a:gridCol>
                <a:gridCol w="1717443">
                  <a:extLst>
                    <a:ext uri="{9D8B030D-6E8A-4147-A177-3AD203B41FA5}">
                      <a16:colId xmlns:a16="http://schemas.microsoft.com/office/drawing/2014/main" val="4222483745"/>
                    </a:ext>
                  </a:extLst>
                </a:gridCol>
              </a:tblGrid>
              <a:tr h="473011">
                <a:tc>
                  <a:txBody>
                    <a:bodyPr/>
                    <a:lstStyle/>
                    <a:p>
                      <a:pPr algn="ctr"/>
                      <a:r>
                        <a:rPr lang="fr-FR" sz="1400" dirty="0"/>
                        <a:t>Ouverture : </a:t>
                      </a:r>
                    </a:p>
                    <a:p>
                      <a:pPr algn="ctr"/>
                      <a:r>
                        <a:rPr lang="fr-FR" sz="1400" dirty="0"/>
                        <a:t>Accueil, Intro, Icebreaker, …</a:t>
                      </a:r>
                    </a:p>
                    <a:p>
                      <a:pPr algn="ctr"/>
                      <a:r>
                        <a:rPr lang="fr-FR" sz="1400" dirty="0"/>
                        <a:t>5 min</a:t>
                      </a:r>
                    </a:p>
                  </a:txBody>
                  <a:tcPr/>
                </a:tc>
                <a:tc gridSpan="2">
                  <a:txBody>
                    <a:bodyPr/>
                    <a:lstStyle/>
                    <a:p>
                      <a:pPr algn="ctr"/>
                      <a:r>
                        <a:rPr lang="fr-FR" sz="1400" dirty="0"/>
                        <a:t>Déroulement</a:t>
                      </a:r>
                    </a:p>
                    <a:p>
                      <a:pPr algn="ctr"/>
                      <a:r>
                        <a:rPr lang="fr-FR" sz="1400" dirty="0"/>
                        <a:t>Règles du jeu, Narratif</a:t>
                      </a:r>
                    </a:p>
                    <a:p>
                      <a:pPr algn="ctr"/>
                      <a:r>
                        <a:rPr lang="fr-FR" sz="1400" dirty="0"/>
                        <a:t>(45 min)</a:t>
                      </a:r>
                    </a:p>
                  </a:txBody>
                  <a:tcPr/>
                </a:tc>
                <a:tc hMerge="1">
                  <a:txBody>
                    <a:bodyPr/>
                    <a:lstStyle/>
                    <a:p>
                      <a:pPr algn="ctr"/>
                      <a:endParaRPr lang="fr-FR" sz="1400" dirty="0"/>
                    </a:p>
                  </a:txBody>
                  <a:tcPr/>
                </a:tc>
                <a:tc>
                  <a:txBody>
                    <a:bodyPr/>
                    <a:lstStyle/>
                    <a:p>
                      <a:pPr algn="ctr"/>
                      <a:r>
                        <a:rPr lang="fr-FR" sz="1400" dirty="0"/>
                        <a:t>Clôture :</a:t>
                      </a:r>
                    </a:p>
                    <a:p>
                      <a:pPr algn="ctr"/>
                      <a:r>
                        <a:rPr lang="fr-FR" sz="1400" dirty="0"/>
                        <a:t>Debriefing, Remerciements, …</a:t>
                      </a:r>
                    </a:p>
                    <a:p>
                      <a:pPr algn="ctr"/>
                      <a:r>
                        <a:rPr lang="fr-FR" sz="1400" dirty="0"/>
                        <a:t>(10 min)</a:t>
                      </a:r>
                    </a:p>
                  </a:txBody>
                  <a:tcPr/>
                </a:tc>
                <a:extLst>
                  <a:ext uri="{0D108BD9-81ED-4DB2-BD59-A6C34878D82A}">
                    <a16:rowId xmlns:a16="http://schemas.microsoft.com/office/drawing/2014/main" val="1724558119"/>
                  </a:ext>
                </a:extLst>
              </a:tr>
              <a:tr h="3521451">
                <a:tc>
                  <a:txBody>
                    <a:bodyPr/>
                    <a:lstStyle/>
                    <a:p>
                      <a:r>
                        <a:rPr lang="fr-FR" sz="1100" b="1" dirty="0"/>
                        <a:t>Introduction du jeu </a:t>
                      </a:r>
                    </a:p>
                    <a:p>
                      <a:endParaRPr lang="fr-FR" sz="1100" b="1" dirty="0"/>
                    </a:p>
                    <a:p>
                      <a:r>
                        <a:rPr lang="fr-FR" sz="1100" dirty="0"/>
                        <a:t>Présentation des objectifs pédagogiques</a:t>
                      </a:r>
                    </a:p>
                    <a:p>
                      <a:endParaRPr lang="fr-FR" sz="1100" dirty="0"/>
                    </a:p>
                    <a:p>
                      <a:r>
                        <a:rPr lang="fr-FR" sz="1100" dirty="0"/>
                        <a:t>Présentation du concept de Créativité Opérationnelle</a:t>
                      </a:r>
                    </a:p>
                  </a:txBody>
                  <a:tcPr>
                    <a:solidFill>
                      <a:schemeClr val="bg1">
                        <a:lumMod val="95000"/>
                      </a:schemeClr>
                    </a:solidFill>
                  </a:tcPr>
                </a:tc>
                <a:tc>
                  <a:txBody>
                    <a:bodyPr/>
                    <a:lstStyle/>
                    <a:p>
                      <a:pPr algn="ctr"/>
                      <a:r>
                        <a:rPr lang="fr-FR" sz="1100" b="1" dirty="0"/>
                        <a:t>Préparation de jeu </a:t>
                      </a:r>
                      <a:r>
                        <a:rPr lang="fr-FR" sz="1100" dirty="0"/>
                        <a:t>(5 min)</a:t>
                      </a:r>
                    </a:p>
                    <a:p>
                      <a:pPr marL="285750" marR="0" lvl="0" indent="-285750" algn="l" defTabSz="914400" rtl="0" eaLnBrk="1" fontAlgn="auto" latinLnBrk="0" hangingPunct="1">
                        <a:lnSpc>
                          <a:spcPct val="100000"/>
                        </a:lnSpc>
                        <a:spcBef>
                          <a:spcPts val="0"/>
                        </a:spcBef>
                        <a:spcAft>
                          <a:spcPts val="0"/>
                        </a:spcAft>
                        <a:buClrTx/>
                        <a:buSzTx/>
                        <a:buFont typeface="+mj-lt"/>
                        <a:buAutoNum type="arabicPeriod"/>
                        <a:tabLst/>
                        <a:defRPr/>
                      </a:pPr>
                      <a:r>
                        <a:rPr lang="fr-FR" sz="1050" dirty="0"/>
                        <a:t>Les joueurs créent sur des cartes « </a:t>
                      </a:r>
                      <a:r>
                        <a:rPr lang="fr-FR" sz="1050" b="1" dirty="0">
                          <a:solidFill>
                            <a:schemeClr val="accent2"/>
                          </a:solidFill>
                        </a:rPr>
                        <a:t>MEMBRES</a:t>
                      </a:r>
                      <a:r>
                        <a:rPr lang="fr-FR" sz="1050" dirty="0"/>
                        <a:t> » qui correspondent aux membres de l’équipe. 1 carte = 1 prénom joueur. Vous pouvez utiliser des post-</a:t>
                      </a:r>
                      <a:r>
                        <a:rPr lang="fr-FR" sz="1050" dirty="0" err="1"/>
                        <a:t>its</a:t>
                      </a:r>
                      <a:r>
                        <a:rPr lang="fr-FR" sz="1050" dirty="0"/>
                        <a:t> ou bien des cartes vides prêtes. </a:t>
                      </a:r>
                    </a:p>
                    <a:p>
                      <a:pPr marL="285750" marR="0" lvl="0" indent="-285750" algn="l" defTabSz="914400" rtl="0" eaLnBrk="1" fontAlgn="auto" latinLnBrk="0" hangingPunct="1">
                        <a:lnSpc>
                          <a:spcPct val="100000"/>
                        </a:lnSpc>
                        <a:spcBef>
                          <a:spcPts val="0"/>
                        </a:spcBef>
                        <a:spcAft>
                          <a:spcPts val="0"/>
                        </a:spcAft>
                        <a:buClrTx/>
                        <a:buSzTx/>
                        <a:buFont typeface="+mj-lt"/>
                        <a:buAutoNum type="arabicPeriod"/>
                        <a:tabLst/>
                        <a:defRPr/>
                      </a:pPr>
                      <a:endParaRPr lang="fr-FR" sz="1050" dirty="0"/>
                    </a:p>
                    <a:p>
                      <a:pPr marL="285750" indent="-285750">
                        <a:buFont typeface="+mj-lt"/>
                        <a:buAutoNum type="arabicPeriod"/>
                      </a:pPr>
                      <a:r>
                        <a:rPr lang="fr-FR" sz="1050" dirty="0"/>
                        <a:t>Les joueurs créent sur des post-</a:t>
                      </a:r>
                      <a:r>
                        <a:rPr lang="fr-FR" sz="1050" dirty="0" err="1"/>
                        <a:t>its</a:t>
                      </a:r>
                      <a:r>
                        <a:rPr lang="fr-FR" sz="1050" dirty="0"/>
                        <a:t> des cartes « </a:t>
                      </a:r>
                      <a:r>
                        <a:rPr lang="fr-FR" sz="1050" b="1" dirty="0"/>
                        <a:t>PARTIES PRENANTES</a:t>
                      </a:r>
                      <a:r>
                        <a:rPr lang="fr-FR" sz="1050" dirty="0"/>
                        <a:t> » qui correspondent aux personnes avec qui l’équipe a l’habitude de travailler (fournisseurs, clients, partenaires, autres équipes, …). 1 carte = 1 personne. </a:t>
                      </a:r>
                    </a:p>
                    <a:p>
                      <a:pPr marL="285750" indent="-285750">
                        <a:buFont typeface="+mj-lt"/>
                        <a:buAutoNum type="arabicPeriod"/>
                      </a:pPr>
                      <a:endParaRPr lang="fr-FR" sz="1050" dirty="0"/>
                    </a:p>
                    <a:p>
                      <a:pPr marL="285750" indent="-285750">
                        <a:buFont typeface="+mj-lt"/>
                        <a:buAutoNum type="arabicPeriod"/>
                      </a:pPr>
                      <a:r>
                        <a:rPr lang="fr-FR" sz="1050" dirty="0"/>
                        <a:t>Faites un paquet de cartes </a:t>
                      </a:r>
                      <a:r>
                        <a:rPr lang="fr-FR" sz="1050" b="1" dirty="0">
                          <a:solidFill>
                            <a:schemeClr val="accent1"/>
                          </a:solidFill>
                        </a:rPr>
                        <a:t>RÔLES</a:t>
                      </a:r>
                      <a:r>
                        <a:rPr lang="fr-FR" sz="1050" dirty="0"/>
                        <a:t> (autant que de joueurs), en ayant autant de rôles ⚖️</a:t>
                      </a:r>
                      <a:r>
                        <a:rPr lang="fr-FR" sz="1050" b="1" dirty="0">
                          <a:solidFill>
                            <a:schemeClr val="accent1"/>
                          </a:solidFill>
                        </a:rPr>
                        <a:t>DESTIN</a:t>
                      </a:r>
                      <a:r>
                        <a:rPr lang="fr-FR" sz="1050" dirty="0"/>
                        <a:t> que de rôles 💪</a:t>
                      </a:r>
                      <a:r>
                        <a:rPr lang="fr-FR" sz="1050" b="1" dirty="0">
                          <a:solidFill>
                            <a:schemeClr val="accent1"/>
                          </a:solidFill>
                        </a:rPr>
                        <a:t>ROBUSTEAM</a:t>
                      </a:r>
                      <a:r>
                        <a:rPr lang="fr-FR" sz="1050" dirty="0"/>
                        <a:t>. Si le nombre de joueurs est impair, utilisez une carte ⚖️</a:t>
                      </a:r>
                      <a:r>
                        <a:rPr lang="fr-FR" sz="1050" b="1" dirty="0">
                          <a:solidFill>
                            <a:schemeClr val="accent1"/>
                          </a:solidFill>
                        </a:rPr>
                        <a:t>DESTIN </a:t>
                      </a:r>
                      <a:r>
                        <a:rPr lang="fr-FR" sz="1050" b="0" dirty="0">
                          <a:solidFill>
                            <a:schemeClr val="tx1"/>
                          </a:solidFill>
                        </a:rPr>
                        <a:t>pour compléter. </a:t>
                      </a:r>
                      <a:endParaRPr lang="fr-FR" sz="1050" b="1" dirty="0">
                        <a:solidFill>
                          <a:schemeClr val="accent1"/>
                        </a:solidFill>
                      </a:endParaRPr>
                    </a:p>
                  </a:txBody>
                  <a:tcPr>
                    <a:solidFill>
                      <a:schemeClr val="bg1">
                        <a:lumMod val="95000"/>
                      </a:schemeClr>
                    </a:solidFill>
                  </a:tcPr>
                </a:tc>
                <a:tc>
                  <a:txBody>
                    <a:bodyPr/>
                    <a:lstStyle/>
                    <a:p>
                      <a:pPr algn="ctr"/>
                      <a:r>
                        <a:rPr lang="fr-FR" sz="1100" b="1" dirty="0"/>
                        <a:t>Déroulement d’un tour (10 min)</a:t>
                      </a:r>
                    </a:p>
                    <a:p>
                      <a:pPr marL="228600" indent="-228600">
                        <a:buFont typeface="+mj-lt"/>
                        <a:buAutoNum type="arabicPeriod"/>
                      </a:pPr>
                      <a:r>
                        <a:rPr lang="fr-FR" sz="1050" b="1" dirty="0"/>
                        <a:t>Distribution des rôles : </a:t>
                      </a:r>
                      <a:r>
                        <a:rPr lang="fr-FR" sz="1050" dirty="0"/>
                        <a:t>Les cartes </a:t>
                      </a:r>
                      <a:r>
                        <a:rPr lang="fr-FR" sz="1050" b="1" dirty="0">
                          <a:solidFill>
                            <a:srgbClr val="0683AA"/>
                          </a:solidFill>
                        </a:rPr>
                        <a:t>RÔLES</a:t>
                      </a:r>
                      <a:r>
                        <a:rPr lang="fr-FR" sz="1050" dirty="0"/>
                        <a:t> sont mélangées et posées sur une pile face cachée. De même, faites une pile </a:t>
                      </a:r>
                      <a:r>
                        <a:rPr lang="fr-FR" sz="1050" b="1" dirty="0">
                          <a:solidFill>
                            <a:srgbClr val="ED7D31"/>
                          </a:solidFill>
                        </a:rPr>
                        <a:t>MEMBRES</a:t>
                      </a:r>
                      <a:r>
                        <a:rPr lang="fr-FR" sz="1050" dirty="0"/>
                        <a:t> et une pile </a:t>
                      </a:r>
                      <a:r>
                        <a:rPr lang="fr-FR" sz="1050" b="1" dirty="0"/>
                        <a:t>PARTIES PRENANTES</a:t>
                      </a:r>
                      <a:r>
                        <a:rPr lang="fr-FR" sz="1050" dirty="0"/>
                        <a:t> (mélangées face cachée). Chaque joueur pioche une carte </a:t>
                      </a:r>
                      <a:r>
                        <a:rPr lang="fr-FR" sz="1050" b="1" dirty="0">
                          <a:solidFill>
                            <a:srgbClr val="0683AA"/>
                          </a:solidFill>
                        </a:rPr>
                        <a:t>RÔLES</a:t>
                      </a:r>
                      <a:r>
                        <a:rPr lang="fr-FR" sz="1050" dirty="0"/>
                        <a:t> et fait donc ou bien partie de 💪</a:t>
                      </a:r>
                      <a:r>
                        <a:rPr lang="fr-FR" sz="1050" b="1" dirty="0">
                          <a:solidFill>
                            <a:srgbClr val="0683AA"/>
                          </a:solidFill>
                        </a:rPr>
                        <a:t>ROBUSTEAM</a:t>
                      </a:r>
                      <a:r>
                        <a:rPr lang="fr-FR" sz="1050" dirty="0"/>
                        <a:t> ou de ⚖️</a:t>
                      </a:r>
                      <a:r>
                        <a:rPr lang="fr-FR" sz="1050" b="1" dirty="0">
                          <a:solidFill>
                            <a:srgbClr val="0683AA"/>
                          </a:solidFill>
                        </a:rPr>
                        <a:t>DESTIN</a:t>
                      </a:r>
                      <a:r>
                        <a:rPr lang="fr-FR" sz="1050" dirty="0"/>
                        <a:t>. </a:t>
                      </a:r>
                    </a:p>
                    <a:p>
                      <a:pPr marL="228600" indent="-228600">
                        <a:buFont typeface="+mj-lt"/>
                        <a:buAutoNum type="arabicPeriod"/>
                      </a:pPr>
                      <a:endParaRPr lang="fr-FR" sz="1050" dirty="0"/>
                    </a:p>
                    <a:p>
                      <a:pPr marL="228600" indent="-228600">
                        <a:buFont typeface="+mj-lt"/>
                        <a:buAutoNum type="arabicPeriod"/>
                      </a:pPr>
                      <a:r>
                        <a:rPr lang="fr-FR" sz="1050" b="1" dirty="0"/>
                        <a:t>Découverte de la crise :</a:t>
                      </a:r>
                      <a:r>
                        <a:rPr lang="fr-FR" sz="1050" dirty="0"/>
                        <a:t> Les joueurs de ⚖️</a:t>
                      </a:r>
                      <a:r>
                        <a:rPr lang="fr-FR" sz="1050" b="1" dirty="0">
                          <a:solidFill>
                            <a:srgbClr val="0683AA"/>
                          </a:solidFill>
                        </a:rPr>
                        <a:t>DESTIN</a:t>
                      </a:r>
                      <a:r>
                        <a:rPr lang="fr-FR" sz="1050" dirty="0"/>
                        <a:t> piochent au hasard une carte 🔥</a:t>
                      </a:r>
                      <a:r>
                        <a:rPr lang="fr-FR" sz="1050" b="1" dirty="0">
                          <a:solidFill>
                            <a:srgbClr val="FF0000"/>
                          </a:solidFill>
                        </a:rPr>
                        <a:t>CRISE🔥</a:t>
                      </a:r>
                      <a:r>
                        <a:rPr lang="fr-FR" sz="1050" dirty="0"/>
                        <a:t>. Si la carte crise  requiert des cartes </a:t>
                      </a:r>
                      <a:r>
                        <a:rPr lang="fr-FR" sz="1050" b="1" dirty="0">
                          <a:solidFill>
                            <a:srgbClr val="ED7D31"/>
                          </a:solidFill>
                        </a:rPr>
                        <a:t>MEMBRES</a:t>
                      </a:r>
                      <a:r>
                        <a:rPr lang="fr-FR" sz="1050" dirty="0"/>
                        <a:t> ou des cartes </a:t>
                      </a:r>
                      <a:r>
                        <a:rPr lang="fr-FR" sz="1050" b="1" dirty="0"/>
                        <a:t>PARTIES, </a:t>
                      </a:r>
                      <a:r>
                        <a:rPr lang="fr-FR" sz="1050" b="0" dirty="0"/>
                        <a:t>choisissez</a:t>
                      </a:r>
                      <a:r>
                        <a:rPr lang="fr-FR" sz="1050" b="1" dirty="0"/>
                        <a:t> </a:t>
                      </a:r>
                      <a:r>
                        <a:rPr lang="fr-FR" sz="1050" b="0" dirty="0"/>
                        <a:t>en autant que demandées. Ils exposent alors la situation de crise aux joueurs 💪</a:t>
                      </a:r>
                      <a:r>
                        <a:rPr lang="fr-FR" sz="1050" b="1" dirty="0">
                          <a:solidFill>
                            <a:srgbClr val="0683AA"/>
                          </a:solidFill>
                        </a:rPr>
                        <a:t>ROBUSTEAM</a:t>
                      </a:r>
                      <a:r>
                        <a:rPr lang="fr-FR" sz="1050" b="0" dirty="0"/>
                        <a:t>.</a:t>
                      </a:r>
                    </a:p>
                    <a:p>
                      <a:pPr marL="228600" indent="-228600">
                        <a:buFont typeface="+mj-lt"/>
                        <a:buAutoNum type="arabicPeriod"/>
                      </a:pPr>
                      <a:endParaRPr lang="fr-FR" sz="1050" b="0" dirty="0"/>
                    </a:p>
                    <a:p>
                      <a:pPr marL="228600" indent="-228600">
                        <a:buFont typeface="+mj-lt"/>
                        <a:buAutoNum type="arabicPeriod"/>
                      </a:pPr>
                      <a:r>
                        <a:rPr lang="fr-FR" sz="1050" b="1" dirty="0"/>
                        <a:t>Brainstorming</a:t>
                      </a:r>
                      <a:r>
                        <a:rPr lang="fr-FR" sz="1050" b="0" dirty="0"/>
                        <a:t> : Les joueurs 💪</a:t>
                      </a:r>
                      <a:r>
                        <a:rPr lang="fr-FR" sz="1050" b="1" kern="1200" dirty="0">
                          <a:solidFill>
                            <a:srgbClr val="0683AA"/>
                          </a:solidFill>
                          <a:latin typeface="+mn-lt"/>
                          <a:ea typeface="+mn-ea"/>
                          <a:cs typeface="+mn-cs"/>
                        </a:rPr>
                        <a:t>ROBUSTEAM</a:t>
                      </a:r>
                      <a:r>
                        <a:rPr lang="fr-FR" sz="1050" b="0" dirty="0"/>
                        <a:t> ont alors </a:t>
                      </a:r>
                      <a:r>
                        <a:rPr lang="fr-FR" sz="1050" b="0" u="sng" dirty="0"/>
                        <a:t>4 minutes maximum</a:t>
                      </a:r>
                      <a:r>
                        <a:rPr lang="fr-FR" sz="1050" b="0" dirty="0"/>
                        <a:t> pour décider ensemble d’une stratégie pour répondre à la CRISE. Ils peuvent imaginer ce qu’ils souhaitent comme interventions de l’ensemble de l’équipe réelle (même ceux qui sont ⚖️</a:t>
                      </a:r>
                      <a:r>
                        <a:rPr lang="fr-FR" sz="1050" b="1" dirty="0">
                          <a:solidFill>
                            <a:srgbClr val="0683AA"/>
                          </a:solidFill>
                        </a:rPr>
                        <a:t>DESTIN</a:t>
                      </a:r>
                      <a:r>
                        <a:rPr lang="fr-FR" sz="1050" b="0" dirty="0"/>
                        <a:t>  à ce tour). </a:t>
                      </a:r>
                      <a:r>
                        <a:rPr lang="fr-FR" sz="1050" b="0" u="sng" dirty="0"/>
                        <a:t>Pas de moyens extraordinaires pour gérer la crise, juste de la créativité</a:t>
                      </a:r>
                      <a:r>
                        <a:rPr lang="fr-FR" sz="1050" b="0" dirty="0"/>
                        <a:t>. A la fin de ces 4 minutes, ils exposent leur solution aux joueurs ⚖️</a:t>
                      </a:r>
                      <a:r>
                        <a:rPr lang="fr-FR" sz="1050" b="1" dirty="0">
                          <a:solidFill>
                            <a:srgbClr val="0683AA"/>
                          </a:solidFill>
                        </a:rPr>
                        <a:t>DESTIN</a:t>
                      </a:r>
                      <a:r>
                        <a:rPr lang="fr-FR" sz="1050" b="0" dirty="0"/>
                        <a:t> .</a:t>
                      </a:r>
                    </a:p>
                    <a:p>
                      <a:pPr marL="228600" indent="-228600">
                        <a:buFont typeface="+mj-lt"/>
                        <a:buAutoNum type="arabicPeriod"/>
                      </a:pPr>
                      <a:endParaRPr lang="fr-FR" sz="1050" b="0" dirty="0"/>
                    </a:p>
                    <a:p>
                      <a:pPr marL="228600" indent="-228600">
                        <a:buFont typeface="+mj-lt"/>
                        <a:buAutoNum type="arabicPeriod"/>
                      </a:pPr>
                      <a:r>
                        <a:rPr lang="fr-FR" sz="1050" b="1" dirty="0"/>
                        <a:t>Vote du destin </a:t>
                      </a:r>
                      <a:r>
                        <a:rPr lang="fr-FR" sz="1050" b="0" dirty="0"/>
                        <a:t>: Les joueurs ⚖️</a:t>
                      </a:r>
                      <a:r>
                        <a:rPr lang="fr-FR" sz="1050" b="1" dirty="0">
                          <a:solidFill>
                            <a:srgbClr val="0683AA"/>
                          </a:solidFill>
                        </a:rPr>
                        <a:t>DESTIN</a:t>
                      </a:r>
                      <a:r>
                        <a:rPr lang="fr-FR" sz="1050" b="0" dirty="0"/>
                        <a:t> votent chacun à pouce levé👍 ou pouce baissé👎 de la validité de la solution présente. Est-elle convaincante ? Ou pas assez ? Ils expliquent chacun le pourquoi de leur vote en une phrase. Si une majorité de joueurs ont un pouce levé, chaque joueur de 💪</a:t>
                      </a:r>
                      <a:r>
                        <a:rPr lang="fr-FR" sz="1050" b="1" kern="1200" dirty="0">
                          <a:solidFill>
                            <a:srgbClr val="0683AA"/>
                          </a:solidFill>
                          <a:latin typeface="+mn-lt"/>
                          <a:ea typeface="+mn-ea"/>
                          <a:cs typeface="+mn-cs"/>
                        </a:rPr>
                        <a:t>ROBUSTEAM</a:t>
                      </a:r>
                      <a:r>
                        <a:rPr lang="fr-FR" sz="1050" b="0" dirty="0"/>
                        <a:t>  marque un point par </a:t>
                      </a:r>
                      <a:r>
                        <a:rPr lang="fr-FR" sz="1050" b="1" dirty="0">
                          <a:solidFill>
                            <a:srgbClr val="FF0000"/>
                          </a:solidFill>
                        </a:rPr>
                        <a:t>🔥 </a:t>
                      </a:r>
                      <a:r>
                        <a:rPr lang="fr-FR" sz="1050" b="0" dirty="0">
                          <a:solidFill>
                            <a:schemeClr val="tx1"/>
                          </a:solidFill>
                        </a:rPr>
                        <a:t>sur la carte</a:t>
                      </a:r>
                      <a:r>
                        <a:rPr lang="fr-FR" sz="1050" b="1" dirty="0">
                          <a:solidFill>
                            <a:srgbClr val="FF0000"/>
                          </a:solidFill>
                        </a:rPr>
                        <a:t> 🔥CRISE🔥</a:t>
                      </a:r>
                      <a:r>
                        <a:rPr lang="fr-FR" sz="1050" b="0" dirty="0"/>
                        <a:t>. </a:t>
                      </a:r>
                    </a:p>
                    <a:p>
                      <a:pPr marL="228600" indent="-228600">
                        <a:buFont typeface="+mj-lt"/>
                        <a:buAutoNum type="arabicPeriod"/>
                      </a:pPr>
                      <a:endParaRPr lang="fr-FR" sz="1050" b="0" dirty="0"/>
                    </a:p>
                    <a:p>
                      <a:pPr marL="228600" indent="-228600">
                        <a:buFont typeface="+mj-lt"/>
                        <a:buAutoNum type="arabicPeriod"/>
                      </a:pPr>
                      <a:r>
                        <a:rPr lang="fr-FR" sz="1050" b="0" dirty="0"/>
                        <a:t>Recommencez un nouveau tour en redistribuant les rôles au hasard et avec une nouvelle crise. Faites 4 ou 5 tours max pour une partie.</a:t>
                      </a:r>
                      <a:endParaRPr lang="fr-FR" sz="1100" dirty="0"/>
                    </a:p>
                  </a:txBody>
                  <a:tcPr>
                    <a:solidFill>
                      <a:schemeClr val="bg1">
                        <a:lumMod val="95000"/>
                      </a:schemeClr>
                    </a:solidFill>
                  </a:tcPr>
                </a:tc>
                <a:tc>
                  <a:txBody>
                    <a:bodyPr/>
                    <a:lstStyle/>
                    <a:p>
                      <a:pPr algn="ctr"/>
                      <a:r>
                        <a:rPr lang="fr-FR" sz="1100" b="1" dirty="0"/>
                        <a:t>Question de Debriefing</a:t>
                      </a:r>
                    </a:p>
                    <a:p>
                      <a:pPr algn="ctr"/>
                      <a:endParaRPr lang="fr-FR" sz="1100" dirty="0"/>
                    </a:p>
                    <a:p>
                      <a:pPr marL="228600" indent="-228600" algn="l">
                        <a:buFont typeface="+mj-lt"/>
                        <a:buAutoNum type="arabicPeriod"/>
                      </a:pPr>
                      <a:r>
                        <a:rPr lang="fr-FR" sz="1100" dirty="0"/>
                        <a:t>Comment avez-vous vécu le jeu ? </a:t>
                      </a:r>
                    </a:p>
                    <a:p>
                      <a:pPr marL="228600" indent="-228600" algn="l">
                        <a:buFont typeface="+mj-lt"/>
                        <a:buAutoNum type="arabicPeriod"/>
                      </a:pPr>
                      <a:r>
                        <a:rPr lang="fr-FR" sz="1100" dirty="0"/>
                        <a:t>Qu’avez-vous appris sur vous-même ? </a:t>
                      </a:r>
                    </a:p>
                    <a:p>
                      <a:pPr marL="228600" indent="-228600" algn="l">
                        <a:buFont typeface="+mj-lt"/>
                        <a:buAutoNum type="arabicPeriod"/>
                      </a:pPr>
                      <a:r>
                        <a:rPr lang="fr-FR" sz="1100" dirty="0"/>
                        <a:t>Quelles crises vous ont paru simples ou difficiles ?</a:t>
                      </a:r>
                    </a:p>
                    <a:p>
                      <a:pPr marL="228600" indent="-228600" algn="l">
                        <a:buFont typeface="+mj-lt"/>
                        <a:buAutoNum type="arabicPeriod"/>
                      </a:pPr>
                      <a:endParaRPr lang="fr-FR" sz="1100" dirty="0"/>
                    </a:p>
                    <a:p>
                      <a:pPr algn="ctr"/>
                      <a:endParaRPr lang="fr-FR" sz="1100" dirty="0"/>
                    </a:p>
                    <a:p>
                      <a:pPr algn="ctr"/>
                      <a:endParaRPr lang="fr-FR" sz="1100" dirty="0"/>
                    </a:p>
                  </a:txBody>
                  <a:tcPr>
                    <a:solidFill>
                      <a:schemeClr val="bg1">
                        <a:lumMod val="95000"/>
                      </a:schemeClr>
                    </a:solidFill>
                  </a:tcPr>
                </a:tc>
                <a:extLst>
                  <a:ext uri="{0D108BD9-81ED-4DB2-BD59-A6C34878D82A}">
                    <a16:rowId xmlns:a16="http://schemas.microsoft.com/office/drawing/2014/main" val="215570386"/>
                  </a:ext>
                </a:extLst>
              </a:tr>
            </a:tbl>
          </a:graphicData>
        </a:graphic>
      </p:graphicFrame>
      <p:sp>
        <p:nvSpPr>
          <p:cNvPr id="25" name="Espace réservé du contenu 2">
            <a:extLst>
              <a:ext uri="{FF2B5EF4-FFF2-40B4-BE49-F238E27FC236}">
                <a16:creationId xmlns:a16="http://schemas.microsoft.com/office/drawing/2014/main" id="{767E15B1-5AD7-4AC2-8DA6-38450253D5A6}"/>
              </a:ext>
            </a:extLst>
          </p:cNvPr>
          <p:cNvSpPr txBox="1">
            <a:spLocks/>
          </p:cNvSpPr>
          <p:nvPr/>
        </p:nvSpPr>
        <p:spPr>
          <a:xfrm>
            <a:off x="10829133" y="3440301"/>
            <a:ext cx="1145220" cy="1015275"/>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r>
              <a:rPr lang="fr-FR" sz="2000" b="1" dirty="0">
                <a:solidFill>
                  <a:srgbClr val="000000"/>
                </a:solidFill>
                <a:cs typeface="Calibri"/>
              </a:rPr>
              <a:t>Total :</a:t>
            </a:r>
          </a:p>
          <a:p>
            <a:pPr marL="0" indent="0" algn="ctr">
              <a:buFont typeface="Arial" panose="020B0604020202020204" pitchFamily="34" charset="0"/>
              <a:buNone/>
            </a:pPr>
            <a:r>
              <a:rPr lang="fr-FR" sz="2000" b="1" dirty="0">
                <a:solidFill>
                  <a:srgbClr val="000000"/>
                </a:solidFill>
                <a:cs typeface="Calibri"/>
              </a:rPr>
              <a:t>1h </a:t>
            </a:r>
          </a:p>
        </p:txBody>
      </p:sp>
      <p:grpSp>
        <p:nvGrpSpPr>
          <p:cNvPr id="18" name="Groupe 17">
            <a:extLst>
              <a:ext uri="{FF2B5EF4-FFF2-40B4-BE49-F238E27FC236}">
                <a16:creationId xmlns:a16="http://schemas.microsoft.com/office/drawing/2014/main" id="{1279F920-5091-45C5-8D88-20DB6AAE903F}"/>
              </a:ext>
            </a:extLst>
          </p:cNvPr>
          <p:cNvGrpSpPr/>
          <p:nvPr/>
        </p:nvGrpSpPr>
        <p:grpSpPr>
          <a:xfrm>
            <a:off x="11042409" y="694872"/>
            <a:ext cx="1149591" cy="1016630"/>
            <a:chOff x="3239584" y="4265153"/>
            <a:chExt cx="944022" cy="834837"/>
          </a:xfrm>
        </p:grpSpPr>
        <p:grpSp>
          <p:nvGrpSpPr>
            <p:cNvPr id="19" name="Groupe 18">
              <a:extLst>
                <a:ext uri="{FF2B5EF4-FFF2-40B4-BE49-F238E27FC236}">
                  <a16:creationId xmlns:a16="http://schemas.microsoft.com/office/drawing/2014/main" id="{9A4B4687-3BE1-4402-88E8-F632A12C6A92}"/>
                </a:ext>
              </a:extLst>
            </p:cNvPr>
            <p:cNvGrpSpPr/>
            <p:nvPr/>
          </p:nvGrpSpPr>
          <p:grpSpPr>
            <a:xfrm>
              <a:off x="3239584" y="4265153"/>
              <a:ext cx="944022" cy="834837"/>
              <a:chOff x="3239584" y="4265153"/>
              <a:chExt cx="944022" cy="834837"/>
            </a:xfrm>
          </p:grpSpPr>
          <p:pic>
            <p:nvPicPr>
              <p:cNvPr id="21" name="Graphique 20" descr="Personne confuse avec un remplissage uni">
                <a:extLst>
                  <a:ext uri="{FF2B5EF4-FFF2-40B4-BE49-F238E27FC236}">
                    <a16:creationId xmlns:a16="http://schemas.microsoft.com/office/drawing/2014/main" id="{54C1086A-F2CE-49B8-AAAB-A12617C3215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239584" y="4281195"/>
                <a:ext cx="818795" cy="818795"/>
              </a:xfrm>
              <a:prstGeom prst="rect">
                <a:avLst/>
              </a:prstGeom>
            </p:spPr>
          </p:pic>
          <p:pic>
            <p:nvPicPr>
              <p:cNvPr id="22" name="Graphique 21" descr="Calendrier journalier avec un remplissage uni">
                <a:extLst>
                  <a:ext uri="{FF2B5EF4-FFF2-40B4-BE49-F238E27FC236}">
                    <a16:creationId xmlns:a16="http://schemas.microsoft.com/office/drawing/2014/main" id="{CD74C65C-CEE1-420A-ACA1-8F375A7C682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826152" y="4265153"/>
                <a:ext cx="357454" cy="357454"/>
              </a:xfrm>
              <a:prstGeom prst="rect">
                <a:avLst/>
              </a:prstGeom>
            </p:spPr>
          </p:pic>
        </p:grpSp>
        <p:pic>
          <p:nvPicPr>
            <p:cNvPr id="20" name="Image 19">
              <a:extLst>
                <a:ext uri="{FF2B5EF4-FFF2-40B4-BE49-F238E27FC236}">
                  <a16:creationId xmlns:a16="http://schemas.microsoft.com/office/drawing/2014/main" id="{3948CC98-0FE4-4CE5-B5A7-526E28DBA04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287011" y="4369569"/>
              <a:ext cx="204094" cy="196889"/>
            </a:xfrm>
            <a:prstGeom prst="rect">
              <a:avLst/>
            </a:prstGeom>
            <a:noFill/>
          </p:spPr>
        </p:pic>
      </p:grpSp>
    </p:spTree>
    <p:extLst>
      <p:ext uri="{BB962C8B-B14F-4D97-AF65-F5344CB8AC3E}">
        <p14:creationId xmlns:p14="http://schemas.microsoft.com/office/powerpoint/2010/main" val="42897242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p:txBody>
          <a:bodyPr/>
          <a:lstStyle/>
          <a:p>
            <a:r>
              <a:rPr lang="fr-FR" dirty="0"/>
              <a:t>Niveau 3 : Organisation de </a:t>
            </a:r>
            <a:r>
              <a:rPr lang="fr-FR" sz="4400" b="0" dirty="0"/>
              <a:t>💪ROBUSTEAM</a:t>
            </a:r>
            <a:endParaRPr lang="fr-FR" dirty="0"/>
          </a:p>
        </p:txBody>
      </p:sp>
      <p:sp>
        <p:nvSpPr>
          <p:cNvPr id="20" name="Espace réservé du texte 3">
            <a:extLst>
              <a:ext uri="{FF2B5EF4-FFF2-40B4-BE49-F238E27FC236}">
                <a16:creationId xmlns:a16="http://schemas.microsoft.com/office/drawing/2014/main" id="{33C81F4F-2942-4DCE-8D67-EAE0910C1627}"/>
              </a:ext>
            </a:extLst>
          </p:cNvPr>
          <p:cNvSpPr txBox="1">
            <a:spLocks/>
          </p:cNvSpPr>
          <p:nvPr/>
        </p:nvSpPr>
        <p:spPr>
          <a:xfrm>
            <a:off x="3253576" y="1880553"/>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dirty="0"/>
              <a:t>🎓Objectifs pédagogiques</a:t>
            </a:r>
          </a:p>
        </p:txBody>
      </p:sp>
      <p:sp>
        <p:nvSpPr>
          <p:cNvPr id="21" name="Espace réservé du contenu 2">
            <a:extLst>
              <a:ext uri="{FF2B5EF4-FFF2-40B4-BE49-F238E27FC236}">
                <a16:creationId xmlns:a16="http://schemas.microsoft.com/office/drawing/2014/main" id="{AEAAF9EE-7A2C-494F-808A-D18DB5D12482}"/>
              </a:ext>
            </a:extLst>
          </p:cNvPr>
          <p:cNvSpPr txBox="1">
            <a:spLocks/>
          </p:cNvSpPr>
          <p:nvPr/>
        </p:nvSpPr>
        <p:spPr>
          <a:xfrm>
            <a:off x="3253576" y="2459759"/>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Ouvrir le sujet sur des situations de crise dans l’équipe</a:t>
            </a:r>
          </a:p>
          <a:p>
            <a:pPr marL="0" indent="0">
              <a:buFont typeface="Arial" panose="020B0604020202020204" pitchFamily="34" charset="0"/>
              <a:buNone/>
            </a:pPr>
            <a:r>
              <a:rPr lang="fr-FR" sz="1200" dirty="0"/>
              <a:t>Entraîner la créativité opérationnelle (capacité à créer un chemin d’action dans une situation) collective de l’équipe</a:t>
            </a:r>
          </a:p>
          <a:p>
            <a:pPr marL="0" indent="0">
              <a:buFont typeface="Arial" panose="020B0604020202020204" pitchFamily="34" charset="0"/>
              <a:buNone/>
            </a:pPr>
            <a:endParaRPr lang="fr-FR" sz="1200" dirty="0"/>
          </a:p>
        </p:txBody>
      </p:sp>
      <p:sp>
        <p:nvSpPr>
          <p:cNvPr id="22" name="Espace réservé du texte 4">
            <a:extLst>
              <a:ext uri="{FF2B5EF4-FFF2-40B4-BE49-F238E27FC236}">
                <a16:creationId xmlns:a16="http://schemas.microsoft.com/office/drawing/2014/main" id="{B2ACD7EC-3C54-45B4-B6FB-85483EE99977}"/>
              </a:ext>
            </a:extLst>
          </p:cNvPr>
          <p:cNvSpPr txBox="1">
            <a:spLocks/>
          </p:cNvSpPr>
          <p:nvPr/>
        </p:nvSpPr>
        <p:spPr>
          <a:xfrm>
            <a:off x="6172376" y="1880553"/>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dirty="0"/>
              <a:t>🎯Objectifs opérationnels</a:t>
            </a:r>
          </a:p>
        </p:txBody>
      </p:sp>
      <p:sp>
        <p:nvSpPr>
          <p:cNvPr id="23" name="Espace réservé du contenu 5">
            <a:extLst>
              <a:ext uri="{FF2B5EF4-FFF2-40B4-BE49-F238E27FC236}">
                <a16:creationId xmlns:a16="http://schemas.microsoft.com/office/drawing/2014/main" id="{4F2EA91F-0720-4EB9-8886-AA180CEFDDC1}"/>
              </a:ext>
            </a:extLst>
          </p:cNvPr>
          <p:cNvSpPr txBox="1">
            <a:spLocks/>
          </p:cNvSpPr>
          <p:nvPr/>
        </p:nvSpPr>
        <p:spPr>
          <a:xfrm>
            <a:off x="6172376" y="2459759"/>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Ouvrir de futures discussions sur la robustesse de l’équipe</a:t>
            </a:r>
          </a:p>
        </p:txBody>
      </p:sp>
      <p:sp>
        <p:nvSpPr>
          <p:cNvPr id="24" name="Espace réservé du texte 3">
            <a:extLst>
              <a:ext uri="{FF2B5EF4-FFF2-40B4-BE49-F238E27FC236}">
                <a16:creationId xmlns:a16="http://schemas.microsoft.com/office/drawing/2014/main" id="{B15F39E3-9475-467F-93BB-C739C254255D}"/>
              </a:ext>
            </a:extLst>
          </p:cNvPr>
          <p:cNvSpPr txBox="1">
            <a:spLocks/>
          </p:cNvSpPr>
          <p:nvPr/>
        </p:nvSpPr>
        <p:spPr>
          <a:xfrm>
            <a:off x="9105123" y="1880553"/>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🧑‍🤝‍🧑Public idéal</a:t>
            </a:r>
          </a:p>
        </p:txBody>
      </p:sp>
      <p:sp>
        <p:nvSpPr>
          <p:cNvPr id="25" name="Espace réservé du contenu 2">
            <a:extLst>
              <a:ext uri="{FF2B5EF4-FFF2-40B4-BE49-F238E27FC236}">
                <a16:creationId xmlns:a16="http://schemas.microsoft.com/office/drawing/2014/main" id="{358E1BF9-5E40-437B-9E38-38063C963CED}"/>
              </a:ext>
            </a:extLst>
          </p:cNvPr>
          <p:cNvSpPr txBox="1">
            <a:spLocks/>
          </p:cNvSpPr>
          <p:nvPr/>
        </p:nvSpPr>
        <p:spPr>
          <a:xfrm>
            <a:off x="9105123" y="2459759"/>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4 à 12 personnes d’une même équipe</a:t>
            </a:r>
          </a:p>
          <a:p>
            <a:pPr marL="0" indent="0">
              <a:buNone/>
            </a:pPr>
            <a:r>
              <a:rPr lang="fr-FR" sz="1200" dirty="0"/>
              <a:t>Les participants doivent faire partie d’une même équipe, d’un même groupe, et avoir déjà de l’expérience ensemble</a:t>
            </a:r>
          </a:p>
        </p:txBody>
      </p:sp>
      <p:sp>
        <p:nvSpPr>
          <p:cNvPr id="26" name="Espace réservé du texte 3">
            <a:extLst>
              <a:ext uri="{FF2B5EF4-FFF2-40B4-BE49-F238E27FC236}">
                <a16:creationId xmlns:a16="http://schemas.microsoft.com/office/drawing/2014/main" id="{5B3449CB-D468-4623-BCD0-57752C3C9DC0}"/>
              </a:ext>
            </a:extLst>
          </p:cNvPr>
          <p:cNvSpPr txBox="1">
            <a:spLocks/>
          </p:cNvSpPr>
          <p:nvPr/>
        </p:nvSpPr>
        <p:spPr>
          <a:xfrm>
            <a:off x="334776" y="1880553"/>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🛠️Exemples d’usages et problèmes adressés</a:t>
            </a:r>
          </a:p>
        </p:txBody>
      </p:sp>
      <p:sp>
        <p:nvSpPr>
          <p:cNvPr id="27" name="Espace réservé du contenu 2">
            <a:extLst>
              <a:ext uri="{FF2B5EF4-FFF2-40B4-BE49-F238E27FC236}">
                <a16:creationId xmlns:a16="http://schemas.microsoft.com/office/drawing/2014/main" id="{807B6C4A-0B30-40EB-8A67-9150BE6EDE0C}"/>
              </a:ext>
            </a:extLst>
          </p:cNvPr>
          <p:cNvSpPr txBox="1">
            <a:spLocks/>
          </p:cNvSpPr>
          <p:nvPr/>
        </p:nvSpPr>
        <p:spPr>
          <a:xfrm>
            <a:off x="334776" y="2459759"/>
            <a:ext cx="2832018" cy="1690823"/>
          </a:xfrm>
          <a:prstGeom prst="rect">
            <a:avLst/>
          </a:prstGeom>
          <a:solidFill>
            <a:schemeClr val="bg1"/>
          </a:solidFill>
          <a:ln>
            <a:solidFill>
              <a:schemeClr val="tx1"/>
            </a:solidFill>
          </a:ln>
        </p:spPr>
        <p:txBody>
          <a:bodyPr vert="horz" lIns="91440" tIns="45720" rIns="91440" bIns="45720" rtlCol="0" anchor="t">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L’équipe XYZ existe depuis maintenant 9 mois et semble déjà rôdée, elle aborde bientôt une nouvelle phase de projet où elle rencontrera des problèmes plus diversifiés que jusque maintenant. Cette période charnière est aussi le moment des premiers départs dans l’équipe.</a:t>
            </a:r>
          </a:p>
          <a:p>
            <a:pPr marL="0" indent="0">
              <a:buNone/>
            </a:pPr>
            <a:r>
              <a:rPr lang="fr-FR" sz="1200" dirty="0"/>
              <a:t>Leur manager décide de les faire jouer à Robusteam pour se préparer de manière ludique et sans danger.</a:t>
            </a:r>
          </a:p>
        </p:txBody>
      </p:sp>
      <p:sp>
        <p:nvSpPr>
          <p:cNvPr id="28" name="Espace réservé du texte 3">
            <a:extLst>
              <a:ext uri="{FF2B5EF4-FFF2-40B4-BE49-F238E27FC236}">
                <a16:creationId xmlns:a16="http://schemas.microsoft.com/office/drawing/2014/main" id="{B390B424-EFD7-4CBA-9402-E7D75B769A03}"/>
              </a:ext>
            </a:extLst>
          </p:cNvPr>
          <p:cNvSpPr txBox="1">
            <a:spLocks/>
          </p:cNvSpPr>
          <p:nvPr/>
        </p:nvSpPr>
        <p:spPr>
          <a:xfrm>
            <a:off x="3253576" y="4315398"/>
            <a:ext cx="2832018" cy="592712"/>
          </a:xfrm>
          <a:prstGeom prst="rect">
            <a:avLst/>
          </a:prstGeom>
          <a:solidFill>
            <a:srgbClr val="0683AA"/>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fr-FR" sz="1600" dirty="0"/>
              <a:t>Sujets non couverts par cet atelier</a:t>
            </a:r>
          </a:p>
        </p:txBody>
      </p:sp>
      <p:sp>
        <p:nvSpPr>
          <p:cNvPr id="29" name="Espace réservé du contenu 2">
            <a:extLst>
              <a:ext uri="{FF2B5EF4-FFF2-40B4-BE49-F238E27FC236}">
                <a16:creationId xmlns:a16="http://schemas.microsoft.com/office/drawing/2014/main" id="{D7130EBC-B9CE-4EEE-B949-C9025E797D68}"/>
              </a:ext>
            </a:extLst>
          </p:cNvPr>
          <p:cNvSpPr txBox="1">
            <a:spLocks/>
          </p:cNvSpPr>
          <p:nvPr/>
        </p:nvSpPr>
        <p:spPr>
          <a:xfrm>
            <a:off x="3253576" y="4894604"/>
            <a:ext cx="2832018" cy="1690823"/>
          </a:xfrm>
          <a:prstGeom prst="rect">
            <a:avLst/>
          </a:prstGeom>
          <a:solidFill>
            <a:schemeClr val="accent5">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Les formations d’équipe</a:t>
            </a:r>
          </a:p>
        </p:txBody>
      </p:sp>
      <p:sp>
        <p:nvSpPr>
          <p:cNvPr id="30" name="Espace réservé du texte 4">
            <a:extLst>
              <a:ext uri="{FF2B5EF4-FFF2-40B4-BE49-F238E27FC236}">
                <a16:creationId xmlns:a16="http://schemas.microsoft.com/office/drawing/2014/main" id="{F610BC8C-9DED-4B21-A11C-8F147E8E741A}"/>
              </a:ext>
            </a:extLst>
          </p:cNvPr>
          <p:cNvSpPr txBox="1">
            <a:spLocks/>
          </p:cNvSpPr>
          <p:nvPr/>
        </p:nvSpPr>
        <p:spPr>
          <a:xfrm>
            <a:off x="6172376" y="4315398"/>
            <a:ext cx="2845965" cy="592712"/>
          </a:xfrm>
          <a:prstGeom prst="rect">
            <a:avLst/>
          </a:prstGeom>
          <a:solidFill>
            <a:srgbClr val="ED7D31"/>
          </a:solidFill>
        </p:spPr>
        <p:txBody>
          <a:bodyPr anchor="ct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600" b="1" dirty="0"/>
              <a:t>📅Logistique</a:t>
            </a:r>
          </a:p>
        </p:txBody>
      </p:sp>
      <p:sp>
        <p:nvSpPr>
          <p:cNvPr id="31" name="Espace réservé du contenu 5">
            <a:extLst>
              <a:ext uri="{FF2B5EF4-FFF2-40B4-BE49-F238E27FC236}">
                <a16:creationId xmlns:a16="http://schemas.microsoft.com/office/drawing/2014/main" id="{D2E68CD3-30C8-4477-96F6-39CEEE9FC5CD}"/>
              </a:ext>
            </a:extLst>
          </p:cNvPr>
          <p:cNvSpPr txBox="1">
            <a:spLocks/>
          </p:cNvSpPr>
          <p:nvPr/>
        </p:nvSpPr>
        <p:spPr>
          <a:xfrm>
            <a:off x="6172376" y="4894604"/>
            <a:ext cx="2845965" cy="1690823"/>
          </a:xfrm>
          <a:prstGeom prst="rect">
            <a:avLst/>
          </a:prstGeom>
          <a:solidFill>
            <a:schemeClr val="accent2">
              <a:lumMod val="20000"/>
              <a:lumOff val="80000"/>
            </a:schemeClr>
          </a:solidFill>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fr-FR" sz="1200" dirty="0"/>
              <a:t>Séance globale de 1h pour Installation + 4 tours + Debriefing</a:t>
            </a:r>
          </a:p>
          <a:p>
            <a:pPr marL="0" indent="0">
              <a:buFont typeface="Arial" panose="020B0604020202020204" pitchFamily="34" charset="0"/>
              <a:buNone/>
            </a:pPr>
            <a:r>
              <a:rPr lang="fr-FR" sz="1200" dirty="0"/>
              <a:t>Cartes en </a:t>
            </a:r>
            <a:r>
              <a:rPr lang="fr-FR" sz="1200" dirty="0" err="1"/>
              <a:t>Print</a:t>
            </a:r>
            <a:r>
              <a:rPr lang="fr-FR" sz="1200" dirty="0"/>
              <a:t> &amp; Play ou utilisables sur des murs virtuels (Klaxoon, Miro, Mural, …)</a:t>
            </a:r>
          </a:p>
        </p:txBody>
      </p:sp>
      <p:sp>
        <p:nvSpPr>
          <p:cNvPr id="32" name="Espace réservé du texte 3">
            <a:extLst>
              <a:ext uri="{FF2B5EF4-FFF2-40B4-BE49-F238E27FC236}">
                <a16:creationId xmlns:a16="http://schemas.microsoft.com/office/drawing/2014/main" id="{B3CDC92E-C27D-4DF4-9944-2E60887541FB}"/>
              </a:ext>
            </a:extLst>
          </p:cNvPr>
          <p:cNvSpPr txBox="1">
            <a:spLocks/>
          </p:cNvSpPr>
          <p:nvPr/>
        </p:nvSpPr>
        <p:spPr>
          <a:xfrm>
            <a:off x="9105123" y="4315398"/>
            <a:ext cx="2832018" cy="592712"/>
          </a:xfrm>
          <a:prstGeom prst="rect">
            <a:avLst/>
          </a:prstGeom>
          <a:solidFill>
            <a:schemeClr val="bg1">
              <a:lumMod val="75000"/>
            </a:schemeClr>
          </a:solidFill>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💡Idées de compléments</a:t>
            </a:r>
          </a:p>
        </p:txBody>
      </p:sp>
      <p:sp>
        <p:nvSpPr>
          <p:cNvPr id="33" name="Espace réservé du contenu 2">
            <a:extLst>
              <a:ext uri="{FF2B5EF4-FFF2-40B4-BE49-F238E27FC236}">
                <a16:creationId xmlns:a16="http://schemas.microsoft.com/office/drawing/2014/main" id="{12DBC631-96B9-49EC-A408-018C730BA38F}"/>
              </a:ext>
            </a:extLst>
          </p:cNvPr>
          <p:cNvSpPr txBox="1">
            <a:spLocks/>
          </p:cNvSpPr>
          <p:nvPr/>
        </p:nvSpPr>
        <p:spPr>
          <a:xfrm>
            <a:off x="9105123" y="4894604"/>
            <a:ext cx="2832018" cy="1690823"/>
          </a:xfrm>
          <a:prstGeom prst="rect">
            <a:avLst/>
          </a:prstGeom>
          <a:solidFill>
            <a:schemeClr val="bg1">
              <a:lumMod val="95000"/>
            </a:schemeClr>
          </a:solidFill>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Atelier pour définir des règles d’équipe</a:t>
            </a:r>
          </a:p>
          <a:p>
            <a:pPr marL="0" indent="0">
              <a:buNone/>
            </a:pPr>
            <a:r>
              <a:rPr lang="fr-FR" sz="1200" dirty="0"/>
              <a:t>Rétrospective agile d’équipe</a:t>
            </a:r>
          </a:p>
        </p:txBody>
      </p:sp>
      <p:sp>
        <p:nvSpPr>
          <p:cNvPr id="34" name="Espace réservé du texte 3">
            <a:extLst>
              <a:ext uri="{FF2B5EF4-FFF2-40B4-BE49-F238E27FC236}">
                <a16:creationId xmlns:a16="http://schemas.microsoft.com/office/drawing/2014/main" id="{C323340E-60D7-47A6-B24C-8D2DD89D7A16}"/>
              </a:ext>
            </a:extLst>
          </p:cNvPr>
          <p:cNvSpPr txBox="1">
            <a:spLocks/>
          </p:cNvSpPr>
          <p:nvPr/>
        </p:nvSpPr>
        <p:spPr>
          <a:xfrm>
            <a:off x="334776" y="4315398"/>
            <a:ext cx="2832018" cy="592712"/>
          </a:xfrm>
          <a:prstGeom prst="rect">
            <a:avLst/>
          </a:prstGeom>
          <a:solidFill>
            <a:schemeClr val="bg1"/>
          </a:solidFill>
          <a:ln>
            <a:solidFill>
              <a:schemeClr val="tx1"/>
            </a:solidFill>
          </a:ln>
        </p:spPr>
        <p:txBody>
          <a:bodyPr vert="horz" lIns="91440" tIns="45720" rIns="91440" bIns="45720" rtlCol="0" anchor="ctr">
            <a:normAutofit/>
          </a:bodyPr>
          <a:lstStyle>
            <a:lvl1pPr marL="0" indent="0" algn="l" defTabSz="914400" rtl="0" eaLnBrk="1" latinLnBrk="0" hangingPunct="1">
              <a:lnSpc>
                <a:spcPct val="90000"/>
              </a:lnSpc>
              <a:spcBef>
                <a:spcPts val="1000"/>
              </a:spcBef>
              <a:buFont typeface="Arial" panose="020B0604020202020204" pitchFamily="34" charset="0"/>
              <a:buNone/>
              <a:defRPr sz="2400" b="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0"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r>
              <a:rPr lang="fr-FR" sz="1600" dirty="0"/>
              <a:t>🎤Pitch à copier-coller dans les invitations</a:t>
            </a:r>
          </a:p>
        </p:txBody>
      </p:sp>
      <p:sp>
        <p:nvSpPr>
          <p:cNvPr id="35" name="Espace réservé du contenu 2">
            <a:extLst>
              <a:ext uri="{FF2B5EF4-FFF2-40B4-BE49-F238E27FC236}">
                <a16:creationId xmlns:a16="http://schemas.microsoft.com/office/drawing/2014/main" id="{67B0F38D-F1AC-4920-A67C-30199D2FB73D}"/>
              </a:ext>
            </a:extLst>
          </p:cNvPr>
          <p:cNvSpPr txBox="1">
            <a:spLocks/>
          </p:cNvSpPr>
          <p:nvPr/>
        </p:nvSpPr>
        <p:spPr>
          <a:xfrm>
            <a:off x="334776" y="4894604"/>
            <a:ext cx="2832018" cy="1690823"/>
          </a:xfrm>
          <a:prstGeom prst="rect">
            <a:avLst/>
          </a:prstGeom>
          <a:solidFill>
            <a:schemeClr val="bg1"/>
          </a:solidFill>
          <a:ln>
            <a:solidFill>
              <a:schemeClr val="tx1"/>
            </a:solidFill>
          </a:ln>
        </p:spPr>
        <p:txBody>
          <a:bodyPr vert="horz" lIns="91440" tIns="45720" rIns="91440" bIns="45720" rtlCol="0" anchor="t">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fr-FR" sz="1200" dirty="0"/>
              <a:t>« L’équipe fonctionne très bien dans les conditions actuelles, mais que se passerait-il en cas de 🚨crise🚨 ? » </a:t>
            </a:r>
          </a:p>
          <a:p>
            <a:pPr marL="0" indent="0">
              <a:buNone/>
            </a:pPr>
            <a:r>
              <a:rPr lang="fr-FR" sz="1200" dirty="0"/>
              <a:t>Robusteam est un mini-suite de simulations de crises à travers lesquelles votre équipe jouera à trouver des solutions en temps limité. Cette édition spéciale fêtes couvre des scénarios liés aux fêtes de fin d’année.</a:t>
            </a:r>
          </a:p>
          <a:p>
            <a:pPr marL="0" indent="0">
              <a:buNone/>
            </a:pPr>
            <a:r>
              <a:rPr lang="fr-FR" sz="1200" dirty="0"/>
              <a:t>Saurez-vous faire preuve de robustesse ?</a:t>
            </a:r>
          </a:p>
          <a:p>
            <a:pPr marL="0" indent="0">
              <a:buNone/>
            </a:pPr>
            <a:endParaRPr lang="fr-FR" sz="1200" dirty="0"/>
          </a:p>
        </p:txBody>
      </p:sp>
      <p:grpSp>
        <p:nvGrpSpPr>
          <p:cNvPr id="36" name="Groupe 35">
            <a:extLst>
              <a:ext uri="{FF2B5EF4-FFF2-40B4-BE49-F238E27FC236}">
                <a16:creationId xmlns:a16="http://schemas.microsoft.com/office/drawing/2014/main" id="{C9ACD80C-1E84-4FDE-96A6-3F4DE0A7734D}"/>
              </a:ext>
            </a:extLst>
          </p:cNvPr>
          <p:cNvGrpSpPr/>
          <p:nvPr/>
        </p:nvGrpSpPr>
        <p:grpSpPr>
          <a:xfrm>
            <a:off x="10879216" y="626812"/>
            <a:ext cx="1191184" cy="1126443"/>
            <a:chOff x="4763560" y="3762738"/>
            <a:chExt cx="978178" cy="925014"/>
          </a:xfrm>
        </p:grpSpPr>
        <p:grpSp>
          <p:nvGrpSpPr>
            <p:cNvPr id="37" name="Groupe 36">
              <a:extLst>
                <a:ext uri="{FF2B5EF4-FFF2-40B4-BE49-F238E27FC236}">
                  <a16:creationId xmlns:a16="http://schemas.microsoft.com/office/drawing/2014/main" id="{6CEBA75A-1E32-4373-B9E3-ED155A039839}"/>
                </a:ext>
              </a:extLst>
            </p:cNvPr>
            <p:cNvGrpSpPr/>
            <p:nvPr/>
          </p:nvGrpSpPr>
          <p:grpSpPr>
            <a:xfrm flipH="1">
              <a:off x="4766064" y="3762738"/>
              <a:ext cx="975674" cy="925014"/>
              <a:chOff x="4716415" y="3792004"/>
              <a:chExt cx="1009529" cy="925014"/>
            </a:xfrm>
          </p:grpSpPr>
          <p:pic>
            <p:nvPicPr>
              <p:cNvPr id="40" name="Graphique 39" descr="Mégaphone1 avec un remplissage uni">
                <a:extLst>
                  <a:ext uri="{FF2B5EF4-FFF2-40B4-BE49-F238E27FC236}">
                    <a16:creationId xmlns:a16="http://schemas.microsoft.com/office/drawing/2014/main" id="{0842FA63-4630-4CED-9FE7-9239A933458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flipH="1">
                <a:off x="4716415" y="3792004"/>
                <a:ext cx="384826" cy="398002"/>
              </a:xfrm>
              <a:prstGeom prst="rect">
                <a:avLst/>
              </a:prstGeom>
            </p:spPr>
          </p:pic>
          <p:grpSp>
            <p:nvGrpSpPr>
              <p:cNvPr id="41" name="Groupe 40">
                <a:extLst>
                  <a:ext uri="{FF2B5EF4-FFF2-40B4-BE49-F238E27FC236}">
                    <a16:creationId xmlns:a16="http://schemas.microsoft.com/office/drawing/2014/main" id="{64A71056-49A1-4CF0-954A-C432C3E65409}"/>
                  </a:ext>
                </a:extLst>
              </p:cNvPr>
              <p:cNvGrpSpPr/>
              <p:nvPr/>
            </p:nvGrpSpPr>
            <p:grpSpPr>
              <a:xfrm>
                <a:off x="5048496" y="3886444"/>
                <a:ext cx="633086" cy="830574"/>
                <a:chOff x="5018285" y="3873291"/>
                <a:chExt cx="696980" cy="914400"/>
              </a:xfrm>
            </p:grpSpPr>
            <p:pic>
              <p:nvPicPr>
                <p:cNvPr id="44" name="Graphique 43" descr="Personne confuse avec un remplissage uni">
                  <a:extLst>
                    <a:ext uri="{FF2B5EF4-FFF2-40B4-BE49-F238E27FC236}">
                      <a16:creationId xmlns:a16="http://schemas.microsoft.com/office/drawing/2014/main" id="{4E09E38C-D150-41D1-A497-D25C26EC670F}"/>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7C11CF48-E866-4ABB-ACEA-4112C0326355}"/>
                    </a:ext>
                  </a:extLst>
                </p:cNvPr>
                <p:cNvSpPr/>
                <p:nvPr/>
              </p:nvSpPr>
              <p:spPr>
                <a:xfrm rot="3462276">
                  <a:off x="4958575" y="4176566"/>
                  <a:ext cx="184553" cy="65134"/>
                </a:xfrm>
                <a:prstGeom prst="roundRect">
                  <a:avLst>
                    <a:gd name="adj" fmla="val 50000"/>
                  </a:avLst>
                </a:prstGeom>
                <a:solidFill>
                  <a:srgbClr val="ED7D31"/>
                </a:solid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42" name="Graphique 41" descr="Balance de la justice avec un remplissage uni">
                <a:extLst>
                  <a:ext uri="{FF2B5EF4-FFF2-40B4-BE49-F238E27FC236}">
                    <a16:creationId xmlns:a16="http://schemas.microsoft.com/office/drawing/2014/main" id="{17A47002-8187-45BB-B897-B72C7B9C9EB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374349" y="3867945"/>
                <a:ext cx="351595" cy="351595"/>
              </a:xfrm>
              <a:prstGeom prst="rect">
                <a:avLst/>
              </a:prstGeom>
            </p:spPr>
          </p:pic>
          <p:pic>
            <p:nvPicPr>
              <p:cNvPr id="43" name="Image 42">
                <a:extLst>
                  <a:ext uri="{FF2B5EF4-FFF2-40B4-BE49-F238E27FC236}">
                    <a16:creationId xmlns:a16="http://schemas.microsoft.com/office/drawing/2014/main" id="{FEDD3CD2-DA6C-4327-A03B-A185BAA82A1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rot="2247862" flipH="1">
                <a:off x="4849188" y="3943969"/>
                <a:ext cx="97515" cy="94073"/>
              </a:xfrm>
              <a:prstGeom prst="rect">
                <a:avLst/>
              </a:prstGeom>
            </p:spPr>
          </p:pic>
        </p:grpSp>
        <p:pic>
          <p:nvPicPr>
            <p:cNvPr id="38" name="Graphique 37" descr="Balance de la justice avec un remplissage uni">
              <a:extLst>
                <a:ext uri="{FF2B5EF4-FFF2-40B4-BE49-F238E27FC236}">
                  <a16:creationId xmlns:a16="http://schemas.microsoft.com/office/drawing/2014/main" id="{C45B5E57-FFAF-4B00-8BFF-6214A25F6AEF}"/>
                </a:ext>
              </a:extLst>
            </p:cNvPr>
            <p:cNvPicPr>
              <a:picLocks noChangeAspect="1"/>
            </p:cNvPicPr>
            <p:nvPr/>
          </p:nvPicPr>
          <p:blipFill rotWithShape="1">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rcRect l="7711" t="16230" r="55712" b="32471"/>
            <a:stretch/>
          </p:blipFill>
          <p:spPr>
            <a:xfrm flipH="1">
              <a:off x="4955380" y="3895743"/>
              <a:ext cx="124289" cy="180364"/>
            </a:xfrm>
            <a:prstGeom prst="rect">
              <a:avLst/>
            </a:prstGeom>
          </p:spPr>
        </p:pic>
        <p:pic>
          <p:nvPicPr>
            <p:cNvPr id="39" name="Graphique 38" descr="Balance de la justice avec un remplissage uni">
              <a:extLst>
                <a:ext uri="{FF2B5EF4-FFF2-40B4-BE49-F238E27FC236}">
                  <a16:creationId xmlns:a16="http://schemas.microsoft.com/office/drawing/2014/main" id="{84276851-4E90-409C-A939-4E6362073574}"/>
                </a:ext>
              </a:extLst>
            </p:cNvPr>
            <p:cNvPicPr>
              <a:picLocks noChangeAspect="1"/>
            </p:cNvPicPr>
            <p:nvPr/>
          </p:nvPicPr>
          <p:blipFill rotWithShape="1">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rcRect l="58383" t="16186" b="30375"/>
            <a:stretch/>
          </p:blipFill>
          <p:spPr>
            <a:xfrm flipH="1">
              <a:off x="4763560" y="3895742"/>
              <a:ext cx="141416" cy="187889"/>
            </a:xfrm>
            <a:prstGeom prst="rect">
              <a:avLst/>
            </a:prstGeom>
          </p:spPr>
        </p:pic>
      </p:grpSp>
    </p:spTree>
    <p:extLst>
      <p:ext uri="{BB962C8B-B14F-4D97-AF65-F5344CB8AC3E}">
        <p14:creationId xmlns:p14="http://schemas.microsoft.com/office/powerpoint/2010/main" val="4713993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p:txBody>
          <a:bodyPr/>
          <a:lstStyle/>
          <a:p>
            <a:r>
              <a:rPr lang="fr-FR" dirty="0"/>
              <a:t>Niveau 4 : </a:t>
            </a:r>
            <a:r>
              <a:rPr lang="fr-FR" dirty="0" err="1"/>
              <a:t>Co-animation</a:t>
            </a:r>
            <a:r>
              <a:rPr lang="fr-FR" dirty="0"/>
              <a:t> de </a:t>
            </a:r>
            <a:r>
              <a:rPr lang="fr-FR" sz="4400" b="0" dirty="0"/>
              <a:t>💪ROBUSTEAM</a:t>
            </a:r>
            <a:endParaRPr lang="fr-FR" dirty="0"/>
          </a:p>
        </p:txBody>
      </p:sp>
      <p:graphicFrame>
        <p:nvGraphicFramePr>
          <p:cNvPr id="43" name="Tableau 9">
            <a:extLst>
              <a:ext uri="{FF2B5EF4-FFF2-40B4-BE49-F238E27FC236}">
                <a16:creationId xmlns:a16="http://schemas.microsoft.com/office/drawing/2014/main" id="{C67131CB-D953-44BF-AB8A-A11E972A5B0B}"/>
              </a:ext>
            </a:extLst>
          </p:cNvPr>
          <p:cNvGraphicFramePr>
            <a:graphicFrameLocks/>
          </p:cNvGraphicFramePr>
          <p:nvPr>
            <p:extLst>
              <p:ext uri="{D42A27DB-BD31-4B8C-83A1-F6EECF244321}">
                <p14:modId xmlns:p14="http://schemas.microsoft.com/office/powerpoint/2010/main" val="3237690804"/>
              </p:ext>
            </p:extLst>
          </p:nvPr>
        </p:nvGraphicFramePr>
        <p:xfrm>
          <a:off x="838200" y="2345604"/>
          <a:ext cx="9296376" cy="2989801"/>
        </p:xfrm>
        <a:graphic>
          <a:graphicData uri="http://schemas.openxmlformats.org/drawingml/2006/table">
            <a:tbl>
              <a:tblPr firstRow="1" firstCol="1" bandRow="1">
                <a:tableStyleId>{5C22544A-7EE6-4342-B048-85BDC9FD1C3A}</a:tableStyleId>
              </a:tblPr>
              <a:tblGrid>
                <a:gridCol w="5079154">
                  <a:extLst>
                    <a:ext uri="{9D8B030D-6E8A-4147-A177-3AD203B41FA5}">
                      <a16:colId xmlns:a16="http://schemas.microsoft.com/office/drawing/2014/main" val="750356738"/>
                    </a:ext>
                  </a:extLst>
                </a:gridCol>
                <a:gridCol w="2108611">
                  <a:extLst>
                    <a:ext uri="{9D8B030D-6E8A-4147-A177-3AD203B41FA5}">
                      <a16:colId xmlns:a16="http://schemas.microsoft.com/office/drawing/2014/main" val="1055331832"/>
                    </a:ext>
                  </a:extLst>
                </a:gridCol>
                <a:gridCol w="2108611">
                  <a:extLst>
                    <a:ext uri="{9D8B030D-6E8A-4147-A177-3AD203B41FA5}">
                      <a16:colId xmlns:a16="http://schemas.microsoft.com/office/drawing/2014/main" val="171301708"/>
                    </a:ext>
                  </a:extLst>
                </a:gridCol>
              </a:tblGrid>
              <a:tr h="428814">
                <a:tc>
                  <a:txBody>
                    <a:bodyPr/>
                    <a:lstStyle/>
                    <a:p>
                      <a:endParaRPr lang="fr-FR" sz="1200" noProof="0" dirty="0"/>
                    </a:p>
                  </a:txBody>
                  <a:tcPr>
                    <a:solidFill>
                      <a:srgbClr val="0683AA"/>
                    </a:solidFill>
                  </a:tcPr>
                </a:tc>
                <a:tc>
                  <a:txBody>
                    <a:bodyPr/>
                    <a:lstStyle/>
                    <a:p>
                      <a:pPr algn="ctr"/>
                      <a:r>
                        <a:rPr lang="fr-FR" sz="1200" noProof="0" dirty="0"/>
                        <a:t>Niv 4 </a:t>
                      </a:r>
                    </a:p>
                    <a:p>
                      <a:pPr algn="ctr"/>
                      <a:r>
                        <a:rPr lang="fr-FR" sz="1200" noProof="0" dirty="0"/>
                        <a:t>Co-animateur(-</a:t>
                      </a:r>
                      <a:r>
                        <a:rPr lang="fr-FR" sz="1200" noProof="0" dirty="0" err="1"/>
                        <a:t>trice</a:t>
                      </a:r>
                      <a:r>
                        <a:rPr lang="fr-FR" sz="1200" noProof="0" dirty="0"/>
                        <a:t>)</a:t>
                      </a:r>
                    </a:p>
                  </a:txBody>
                  <a:tcPr>
                    <a:solidFill>
                      <a:srgbClr val="0683AA"/>
                    </a:solidFill>
                  </a:tcPr>
                </a:tc>
                <a:tc>
                  <a:txBody>
                    <a:bodyPr/>
                    <a:lstStyle/>
                    <a:p>
                      <a:pPr algn="ctr"/>
                      <a:r>
                        <a:rPr lang="fr-FR" sz="1200" noProof="0" dirty="0"/>
                        <a:t>Niv 5</a:t>
                      </a:r>
                    </a:p>
                    <a:p>
                      <a:pPr algn="ctr"/>
                      <a:r>
                        <a:rPr lang="fr-FR" sz="1200" noProof="0" dirty="0"/>
                        <a:t>Lead Animateur(-</a:t>
                      </a:r>
                      <a:r>
                        <a:rPr lang="fr-FR" sz="1200" noProof="0" dirty="0" err="1"/>
                        <a:t>trice</a:t>
                      </a:r>
                      <a:r>
                        <a:rPr lang="fr-FR" sz="1200" noProof="0" dirty="0"/>
                        <a:t>)</a:t>
                      </a:r>
                    </a:p>
                  </a:txBody>
                  <a:tcPr>
                    <a:solidFill>
                      <a:srgbClr val="0683AA"/>
                    </a:solidFill>
                  </a:tcPr>
                </a:tc>
                <a:extLst>
                  <a:ext uri="{0D108BD9-81ED-4DB2-BD59-A6C34878D82A}">
                    <a16:rowId xmlns:a16="http://schemas.microsoft.com/office/drawing/2014/main" val="1531808552"/>
                  </a:ext>
                </a:extLst>
              </a:tr>
              <a:tr h="208025">
                <a:tc>
                  <a:txBody>
                    <a:bodyPr/>
                    <a:lstStyle/>
                    <a:p>
                      <a:r>
                        <a:rPr lang="fr-FR" sz="1000" noProof="0" dirty="0"/>
                        <a:t>Intro – Accueil – Ouverture</a:t>
                      </a:r>
                    </a:p>
                  </a:txBody>
                  <a:tcPr>
                    <a:solidFill>
                      <a:srgbClr val="0683AA"/>
                    </a:solidFill>
                  </a:tcPr>
                </a:tc>
                <a:tc>
                  <a:txBody>
                    <a:bodyPr/>
                    <a:lstStyle/>
                    <a:p>
                      <a:pPr algn="ctr"/>
                      <a:endParaRPr lang="fr-FR" sz="1000" noProof="0" dirty="0"/>
                    </a:p>
                  </a:txBody>
                  <a:tcPr/>
                </a:tc>
                <a:tc>
                  <a:txBody>
                    <a:bodyPr/>
                    <a:lstStyle/>
                    <a:p>
                      <a:pPr algn="ctr"/>
                      <a:r>
                        <a:rPr lang="fr-FR" sz="1000" noProof="0" dirty="0"/>
                        <a:t>X</a:t>
                      </a:r>
                    </a:p>
                  </a:txBody>
                  <a:tcPr/>
                </a:tc>
                <a:extLst>
                  <a:ext uri="{0D108BD9-81ED-4DB2-BD59-A6C34878D82A}">
                    <a16:rowId xmlns:a16="http://schemas.microsoft.com/office/drawing/2014/main" val="3466427935"/>
                  </a:ext>
                </a:extLst>
              </a:tr>
              <a:tr h="3380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noProof="0" dirty="0"/>
                        <a:t>Présentation de l’intérêt (objectifs pédagogiques ou opérationnels du jeu)</a:t>
                      </a:r>
                    </a:p>
                  </a:txBody>
                  <a:tcPr>
                    <a:solidFill>
                      <a:srgbClr val="0683AA"/>
                    </a:solidFill>
                  </a:tcPr>
                </a:tc>
                <a:tc>
                  <a:txBody>
                    <a:bodyPr/>
                    <a:lstStyle/>
                    <a:p>
                      <a:pPr algn="ctr"/>
                      <a:endParaRPr lang="fr-FR" sz="1000" noProof="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noProof="0" dirty="0"/>
                        <a:t>X</a:t>
                      </a:r>
                    </a:p>
                  </a:txBody>
                  <a:tcPr/>
                </a:tc>
                <a:extLst>
                  <a:ext uri="{0D108BD9-81ED-4DB2-BD59-A6C34878D82A}">
                    <a16:rowId xmlns:a16="http://schemas.microsoft.com/office/drawing/2014/main" val="1786242576"/>
                  </a:ext>
                </a:extLst>
              </a:tr>
              <a:tr h="2080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noProof="0" dirty="0"/>
                        <a:t>Montrer un Tour à blanc</a:t>
                      </a:r>
                    </a:p>
                  </a:txBody>
                  <a:tcPr>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fr-FR" sz="1000" noProof="0" dirty="0"/>
                        <a:t>X</a:t>
                      </a:r>
                    </a:p>
                  </a:txBody>
                  <a:tcPr/>
                </a:tc>
                <a:tc>
                  <a:txBody>
                    <a:bodyPr/>
                    <a:lstStyle/>
                    <a:p>
                      <a:pPr algn="ctr"/>
                      <a:endParaRPr lang="fr-FR" sz="1000" noProof="0" dirty="0"/>
                    </a:p>
                  </a:txBody>
                  <a:tcPr/>
                </a:tc>
                <a:extLst>
                  <a:ext uri="{0D108BD9-81ED-4DB2-BD59-A6C34878D82A}">
                    <a16:rowId xmlns:a16="http://schemas.microsoft.com/office/drawing/2014/main" val="1881446753"/>
                  </a:ext>
                </a:extLst>
              </a:tr>
              <a:tr h="2080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noProof="0" dirty="0"/>
                        <a:t>Ajouter des règles pour cadrer le jeu</a:t>
                      </a:r>
                    </a:p>
                  </a:txBody>
                  <a:tcPr>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000" noProof="0" dirty="0"/>
                    </a:p>
                  </a:txBody>
                  <a:tcPr/>
                </a:tc>
                <a:tc>
                  <a:txBody>
                    <a:bodyPr/>
                    <a:lstStyle/>
                    <a:p>
                      <a:pPr algn="ctr"/>
                      <a:r>
                        <a:rPr lang="fr-FR" sz="1000" noProof="0" dirty="0"/>
                        <a:t>X</a:t>
                      </a:r>
                    </a:p>
                  </a:txBody>
                  <a:tcPr/>
                </a:tc>
                <a:extLst>
                  <a:ext uri="{0D108BD9-81ED-4DB2-BD59-A6C34878D82A}">
                    <a16:rowId xmlns:a16="http://schemas.microsoft.com/office/drawing/2014/main" val="2129043609"/>
                  </a:ext>
                </a:extLst>
              </a:tr>
              <a:tr h="20802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000" noProof="0" dirty="0"/>
                        <a:t>Rappeler les règles et l’état d’esprit</a:t>
                      </a:r>
                    </a:p>
                  </a:txBody>
                  <a:tcPr>
                    <a:solidFill>
                      <a:srgbClr val="0683AA"/>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fr-FR" sz="1000" noProof="0" dirty="0"/>
                    </a:p>
                  </a:txBody>
                  <a:tcPr/>
                </a:tc>
                <a:tc>
                  <a:txBody>
                    <a:bodyPr/>
                    <a:lstStyle/>
                    <a:p>
                      <a:pPr algn="ctr"/>
                      <a:r>
                        <a:rPr lang="fr-FR" sz="1000" noProof="0" dirty="0"/>
                        <a:t>X</a:t>
                      </a:r>
                    </a:p>
                  </a:txBody>
                  <a:tcPr/>
                </a:tc>
                <a:extLst>
                  <a:ext uri="{0D108BD9-81ED-4DB2-BD59-A6C34878D82A}">
                    <a16:rowId xmlns:a16="http://schemas.microsoft.com/office/drawing/2014/main" val="499224249"/>
                  </a:ext>
                </a:extLst>
              </a:tr>
              <a:tr h="208025">
                <a:tc>
                  <a:txBody>
                    <a:bodyPr/>
                    <a:lstStyle/>
                    <a:p>
                      <a:r>
                        <a:rPr lang="fr-FR" sz="1000" noProof="0" dirty="0"/>
                        <a:t>Debriefing</a:t>
                      </a:r>
                    </a:p>
                  </a:txBody>
                  <a:tcPr>
                    <a:solidFill>
                      <a:srgbClr val="0683AA"/>
                    </a:solidFill>
                  </a:tcPr>
                </a:tc>
                <a:tc>
                  <a:txBody>
                    <a:bodyPr/>
                    <a:lstStyle/>
                    <a:p>
                      <a:pPr algn="ctr"/>
                      <a:endParaRPr lang="fr-FR" sz="1000" noProof="0" dirty="0"/>
                    </a:p>
                  </a:txBody>
                  <a:tcPr/>
                </a:tc>
                <a:tc>
                  <a:txBody>
                    <a:bodyPr/>
                    <a:lstStyle/>
                    <a:p>
                      <a:pPr algn="ctr"/>
                      <a:r>
                        <a:rPr lang="fr-FR" sz="1000" noProof="0" dirty="0"/>
                        <a:t>X</a:t>
                      </a:r>
                    </a:p>
                  </a:txBody>
                  <a:tcPr/>
                </a:tc>
                <a:extLst>
                  <a:ext uri="{0D108BD9-81ED-4DB2-BD59-A6C34878D82A}">
                    <a16:rowId xmlns:a16="http://schemas.microsoft.com/office/drawing/2014/main" val="2513039241"/>
                  </a:ext>
                </a:extLst>
              </a:tr>
              <a:tr h="208025">
                <a:tc>
                  <a:txBody>
                    <a:bodyPr/>
                    <a:lstStyle/>
                    <a:p>
                      <a:r>
                        <a:rPr lang="fr-FR" sz="1000" noProof="0" dirty="0"/>
                        <a:t>Fermeture</a:t>
                      </a:r>
                    </a:p>
                  </a:txBody>
                  <a:tcPr>
                    <a:solidFill>
                      <a:srgbClr val="0683AA"/>
                    </a:solidFill>
                  </a:tcPr>
                </a:tc>
                <a:tc>
                  <a:txBody>
                    <a:bodyPr/>
                    <a:lstStyle/>
                    <a:p>
                      <a:pPr algn="ctr"/>
                      <a:r>
                        <a:rPr lang="fr-FR" sz="1000" noProof="0" dirty="0"/>
                        <a:t>X</a:t>
                      </a:r>
                    </a:p>
                  </a:txBody>
                  <a:tcPr/>
                </a:tc>
                <a:tc>
                  <a:txBody>
                    <a:bodyPr/>
                    <a:lstStyle/>
                    <a:p>
                      <a:pPr algn="ctr"/>
                      <a:endParaRPr lang="fr-FR" sz="1000" noProof="0" dirty="0"/>
                    </a:p>
                  </a:txBody>
                  <a:tcPr/>
                </a:tc>
                <a:extLst>
                  <a:ext uri="{0D108BD9-81ED-4DB2-BD59-A6C34878D82A}">
                    <a16:rowId xmlns:a16="http://schemas.microsoft.com/office/drawing/2014/main" val="2460667773"/>
                  </a:ext>
                </a:extLst>
              </a:tr>
              <a:tr h="208025">
                <a:tc>
                  <a:txBody>
                    <a:bodyPr/>
                    <a:lstStyle/>
                    <a:p>
                      <a:r>
                        <a:rPr lang="fr-FR" sz="1000" noProof="0" dirty="0"/>
                        <a:t>Facilitation – Gestion du temps</a:t>
                      </a:r>
                    </a:p>
                  </a:txBody>
                  <a:tcPr>
                    <a:solidFill>
                      <a:srgbClr val="0683AA"/>
                    </a:solidFill>
                  </a:tcPr>
                </a:tc>
                <a:tc>
                  <a:txBody>
                    <a:bodyPr/>
                    <a:lstStyle/>
                    <a:p>
                      <a:pPr algn="ctr"/>
                      <a:r>
                        <a:rPr lang="fr-FR" sz="1000" noProof="0" dirty="0"/>
                        <a:t>X</a:t>
                      </a:r>
                    </a:p>
                  </a:txBody>
                  <a:tcPr/>
                </a:tc>
                <a:tc>
                  <a:txBody>
                    <a:bodyPr/>
                    <a:lstStyle/>
                    <a:p>
                      <a:pPr algn="ctr"/>
                      <a:endParaRPr lang="fr-FR" sz="1000" noProof="0" dirty="0"/>
                    </a:p>
                  </a:txBody>
                  <a:tcPr/>
                </a:tc>
                <a:extLst>
                  <a:ext uri="{0D108BD9-81ED-4DB2-BD59-A6C34878D82A}">
                    <a16:rowId xmlns:a16="http://schemas.microsoft.com/office/drawing/2014/main" val="3978756449"/>
                  </a:ext>
                </a:extLst>
              </a:tr>
              <a:tr h="208025">
                <a:tc>
                  <a:txBody>
                    <a:bodyPr/>
                    <a:lstStyle/>
                    <a:p>
                      <a:r>
                        <a:rPr lang="fr-FR" sz="1000" noProof="0" dirty="0"/>
                        <a:t>Facilitation – Prise de notes</a:t>
                      </a:r>
                    </a:p>
                  </a:txBody>
                  <a:tcPr>
                    <a:solidFill>
                      <a:srgbClr val="0683AA"/>
                    </a:solidFill>
                  </a:tcPr>
                </a:tc>
                <a:tc>
                  <a:txBody>
                    <a:bodyPr/>
                    <a:lstStyle/>
                    <a:p>
                      <a:pPr algn="ctr"/>
                      <a:endParaRPr lang="fr-FR" sz="1000" noProof="0" dirty="0"/>
                    </a:p>
                  </a:txBody>
                  <a:tcPr/>
                </a:tc>
                <a:tc>
                  <a:txBody>
                    <a:bodyPr/>
                    <a:lstStyle/>
                    <a:p>
                      <a:pPr algn="ctr"/>
                      <a:endParaRPr lang="fr-FR" sz="1000" noProof="0" dirty="0"/>
                    </a:p>
                  </a:txBody>
                  <a:tcPr/>
                </a:tc>
                <a:extLst>
                  <a:ext uri="{0D108BD9-81ED-4DB2-BD59-A6C34878D82A}">
                    <a16:rowId xmlns:a16="http://schemas.microsoft.com/office/drawing/2014/main" val="2030757097"/>
                  </a:ext>
                </a:extLst>
              </a:tr>
              <a:tr h="208025">
                <a:tc>
                  <a:txBody>
                    <a:bodyPr/>
                    <a:lstStyle/>
                    <a:p>
                      <a:r>
                        <a:rPr lang="fr-FR" sz="1000" noProof="0" dirty="0"/>
                        <a:t>…</a:t>
                      </a:r>
                    </a:p>
                  </a:txBody>
                  <a:tcPr>
                    <a:solidFill>
                      <a:srgbClr val="0683AA"/>
                    </a:solidFill>
                  </a:tcPr>
                </a:tc>
                <a:tc>
                  <a:txBody>
                    <a:bodyPr/>
                    <a:lstStyle/>
                    <a:p>
                      <a:pPr algn="ctr"/>
                      <a:endParaRPr lang="fr-FR" sz="1000" noProof="0" dirty="0"/>
                    </a:p>
                  </a:txBody>
                  <a:tcPr/>
                </a:tc>
                <a:tc>
                  <a:txBody>
                    <a:bodyPr/>
                    <a:lstStyle/>
                    <a:p>
                      <a:pPr algn="ctr"/>
                      <a:endParaRPr lang="fr-FR" sz="1000" noProof="0" dirty="0"/>
                    </a:p>
                  </a:txBody>
                  <a:tcPr/>
                </a:tc>
                <a:extLst>
                  <a:ext uri="{0D108BD9-81ED-4DB2-BD59-A6C34878D82A}">
                    <a16:rowId xmlns:a16="http://schemas.microsoft.com/office/drawing/2014/main" val="1291689408"/>
                  </a:ext>
                </a:extLst>
              </a:tr>
            </a:tbl>
          </a:graphicData>
        </a:graphic>
      </p:graphicFrame>
      <p:grpSp>
        <p:nvGrpSpPr>
          <p:cNvPr id="44" name="Groupe 43">
            <a:extLst>
              <a:ext uri="{FF2B5EF4-FFF2-40B4-BE49-F238E27FC236}">
                <a16:creationId xmlns:a16="http://schemas.microsoft.com/office/drawing/2014/main" id="{F8E966ED-5074-4846-A482-68976B957569}"/>
              </a:ext>
            </a:extLst>
          </p:cNvPr>
          <p:cNvGrpSpPr/>
          <p:nvPr/>
        </p:nvGrpSpPr>
        <p:grpSpPr>
          <a:xfrm>
            <a:off x="6644433" y="1716412"/>
            <a:ext cx="601806" cy="648730"/>
            <a:chOff x="6060465" y="3463636"/>
            <a:chExt cx="819385" cy="883274"/>
          </a:xfrm>
          <a:solidFill>
            <a:srgbClr val="ED7D31"/>
          </a:solidFill>
        </p:grpSpPr>
        <p:pic>
          <p:nvPicPr>
            <p:cNvPr id="45" name="Graphique 44" descr="Presse-papiers mixte avec un remplissage uni">
              <a:extLst>
                <a:ext uri="{FF2B5EF4-FFF2-40B4-BE49-F238E27FC236}">
                  <a16:creationId xmlns:a16="http://schemas.microsoft.com/office/drawing/2014/main" id="{1ABAA31F-6624-406E-B678-E09F2023F16E}"/>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207580">
              <a:off x="6060465" y="3580343"/>
              <a:ext cx="314429" cy="314429"/>
            </a:xfrm>
            <a:prstGeom prst="rect">
              <a:avLst/>
            </a:prstGeom>
          </p:spPr>
        </p:pic>
        <p:grpSp>
          <p:nvGrpSpPr>
            <p:cNvPr id="46" name="Groupe 45">
              <a:extLst>
                <a:ext uri="{FF2B5EF4-FFF2-40B4-BE49-F238E27FC236}">
                  <a16:creationId xmlns:a16="http://schemas.microsoft.com/office/drawing/2014/main" id="{F9C9270F-ABF8-4536-8959-2839FDA4754E}"/>
                </a:ext>
              </a:extLst>
            </p:cNvPr>
            <p:cNvGrpSpPr/>
            <p:nvPr/>
          </p:nvGrpSpPr>
          <p:grpSpPr>
            <a:xfrm>
              <a:off x="6132133" y="3463636"/>
              <a:ext cx="612923" cy="883274"/>
              <a:chOff x="6132133" y="3463636"/>
              <a:chExt cx="612923" cy="883274"/>
            </a:xfrm>
            <a:grpFill/>
          </p:grpSpPr>
          <p:pic>
            <p:nvPicPr>
              <p:cNvPr id="49" name="Graphique 48" descr="Centre d’appels avec un remplissage uni">
                <a:extLst>
                  <a:ext uri="{FF2B5EF4-FFF2-40B4-BE49-F238E27FC236}">
                    <a16:creationId xmlns:a16="http://schemas.microsoft.com/office/drawing/2014/main" id="{78CFAE08-6861-4F90-B672-DCD6A66512D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44092"/>
              <a:stretch/>
            </p:blipFill>
            <p:spPr>
              <a:xfrm>
                <a:off x="6322855" y="3463636"/>
                <a:ext cx="422201" cy="236042"/>
              </a:xfrm>
              <a:prstGeom prst="rect">
                <a:avLst/>
              </a:prstGeom>
            </p:spPr>
          </p:pic>
          <p:grpSp>
            <p:nvGrpSpPr>
              <p:cNvPr id="50" name="Groupe 49">
                <a:extLst>
                  <a:ext uri="{FF2B5EF4-FFF2-40B4-BE49-F238E27FC236}">
                    <a16:creationId xmlns:a16="http://schemas.microsoft.com/office/drawing/2014/main" id="{0D1D2987-E2E3-463F-9EAB-05C450EAB8D7}"/>
                  </a:ext>
                </a:extLst>
              </p:cNvPr>
              <p:cNvGrpSpPr/>
              <p:nvPr/>
            </p:nvGrpSpPr>
            <p:grpSpPr>
              <a:xfrm flipH="1">
                <a:off x="6132133" y="3682042"/>
                <a:ext cx="611857" cy="664868"/>
                <a:chOff x="5018285" y="4055721"/>
                <a:chExt cx="696982" cy="731970"/>
              </a:xfrm>
              <a:grpFill/>
            </p:grpSpPr>
            <p:pic>
              <p:nvPicPr>
                <p:cNvPr id="51" name="Graphique 50" descr="Personne confuse avec un remplissage uni">
                  <a:extLst>
                    <a:ext uri="{FF2B5EF4-FFF2-40B4-BE49-F238E27FC236}">
                      <a16:creationId xmlns:a16="http://schemas.microsoft.com/office/drawing/2014/main" id="{6885D23E-B058-4F69-BF00-3095C781D09C}"/>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30440" t="19951" r="-1"/>
                <a:stretch/>
              </p:blipFill>
              <p:spPr>
                <a:xfrm>
                  <a:off x="5079207" y="4055721"/>
                  <a:ext cx="636060" cy="731970"/>
                </a:xfrm>
                <a:prstGeom prst="rect">
                  <a:avLst/>
                </a:prstGeom>
              </p:spPr>
            </p:pic>
            <p:sp>
              <p:nvSpPr>
                <p:cNvPr id="52" name="Rectangle : coins arrondis 51">
                  <a:extLst>
                    <a:ext uri="{FF2B5EF4-FFF2-40B4-BE49-F238E27FC236}">
                      <a16:creationId xmlns:a16="http://schemas.microsoft.com/office/drawing/2014/main" id="{AFA07308-E0DC-477A-B4FB-53B7E3D39F67}"/>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47" name="Image 46">
              <a:extLst>
                <a:ext uri="{FF2B5EF4-FFF2-40B4-BE49-F238E27FC236}">
                  <a16:creationId xmlns:a16="http://schemas.microsoft.com/office/drawing/2014/main" id="{3BECF24B-9BEB-4124-9667-0AA89FD0069C}"/>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48" name="Graphique 47" descr="Chronomètre avec un remplissage uni">
              <a:extLst>
                <a:ext uri="{FF2B5EF4-FFF2-40B4-BE49-F238E27FC236}">
                  <a16:creationId xmlns:a16="http://schemas.microsoft.com/office/drawing/2014/main" id="{868082C9-12C9-4394-AD34-984C1BDC0B9E}"/>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714271" y="3602551"/>
              <a:ext cx="165579" cy="165579"/>
            </a:xfrm>
            <a:prstGeom prst="rect">
              <a:avLst/>
            </a:prstGeom>
          </p:spPr>
        </p:pic>
      </p:grpSp>
      <p:grpSp>
        <p:nvGrpSpPr>
          <p:cNvPr id="53" name="Groupe 52">
            <a:extLst>
              <a:ext uri="{FF2B5EF4-FFF2-40B4-BE49-F238E27FC236}">
                <a16:creationId xmlns:a16="http://schemas.microsoft.com/office/drawing/2014/main" id="{BE74EE7E-6AA8-4048-BFFA-6E746582BBA3}"/>
              </a:ext>
            </a:extLst>
          </p:cNvPr>
          <p:cNvGrpSpPr/>
          <p:nvPr/>
        </p:nvGrpSpPr>
        <p:grpSpPr>
          <a:xfrm>
            <a:off x="8701275" y="1570767"/>
            <a:ext cx="721271" cy="781037"/>
            <a:chOff x="7560150" y="2879049"/>
            <a:chExt cx="982042" cy="1063416"/>
          </a:xfrm>
          <a:solidFill>
            <a:srgbClr val="ED7D31"/>
          </a:solidFill>
        </p:grpSpPr>
        <p:grpSp>
          <p:nvGrpSpPr>
            <p:cNvPr id="54" name="Groupe 53">
              <a:extLst>
                <a:ext uri="{FF2B5EF4-FFF2-40B4-BE49-F238E27FC236}">
                  <a16:creationId xmlns:a16="http://schemas.microsoft.com/office/drawing/2014/main" id="{9B157688-05ED-4BBB-90AC-F7651B8327BE}"/>
                </a:ext>
              </a:extLst>
            </p:cNvPr>
            <p:cNvGrpSpPr/>
            <p:nvPr/>
          </p:nvGrpSpPr>
          <p:grpSpPr>
            <a:xfrm>
              <a:off x="7798849" y="2879049"/>
              <a:ext cx="743343" cy="1063416"/>
              <a:chOff x="6391015" y="3260296"/>
              <a:chExt cx="743343" cy="1063416"/>
            </a:xfrm>
            <a:grpFill/>
          </p:grpSpPr>
          <p:grpSp>
            <p:nvGrpSpPr>
              <p:cNvPr id="56" name="Groupe 55">
                <a:extLst>
                  <a:ext uri="{FF2B5EF4-FFF2-40B4-BE49-F238E27FC236}">
                    <a16:creationId xmlns:a16="http://schemas.microsoft.com/office/drawing/2014/main" id="{CC540D72-7C09-4233-ABAA-240E09EA840C}"/>
                  </a:ext>
                </a:extLst>
              </p:cNvPr>
              <p:cNvGrpSpPr/>
              <p:nvPr/>
            </p:nvGrpSpPr>
            <p:grpSpPr>
              <a:xfrm>
                <a:off x="6391015" y="3260296"/>
                <a:ext cx="743343" cy="1063416"/>
                <a:chOff x="6298348" y="3168316"/>
                <a:chExt cx="867130" cy="1240504"/>
              </a:xfrm>
              <a:grpFill/>
            </p:grpSpPr>
            <p:pic>
              <p:nvPicPr>
                <p:cNvPr id="58" name="Graphique 57" descr="Enseignant avec un remplissage uni">
                  <a:extLst>
                    <a:ext uri="{FF2B5EF4-FFF2-40B4-BE49-F238E27FC236}">
                      <a16:creationId xmlns:a16="http://schemas.microsoft.com/office/drawing/2014/main" id="{1C95EF60-D701-4C44-ABAD-3CF13FDB025A}"/>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298348" y="3168316"/>
                  <a:ext cx="867130" cy="867130"/>
                </a:xfrm>
                <a:prstGeom prst="rect">
                  <a:avLst/>
                </a:prstGeom>
              </p:spPr>
            </p:pic>
            <p:pic>
              <p:nvPicPr>
                <p:cNvPr id="59" name="Graphique 58" descr="Personne confuse avec un remplissage uni">
                  <a:extLst>
                    <a:ext uri="{FF2B5EF4-FFF2-40B4-BE49-F238E27FC236}">
                      <a16:creationId xmlns:a16="http://schemas.microsoft.com/office/drawing/2014/main" id="{0138BCD2-DD33-4BB6-8A92-3EF2E88ACA33}"/>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14"/>
                    </a:ext>
                  </a:extLst>
                </a:blip>
                <a:srcRect l="34664" t="32545" r="38513" b="-1"/>
                <a:stretch/>
              </p:blipFill>
              <p:spPr>
                <a:xfrm>
                  <a:off x="6367463" y="3792004"/>
                  <a:ext cx="245268" cy="616816"/>
                </a:xfrm>
                <a:prstGeom prst="rect">
                  <a:avLst/>
                </a:prstGeom>
              </p:spPr>
            </p:pic>
            <p:sp>
              <p:nvSpPr>
                <p:cNvPr id="60" name="Rectangle : coins arrondis 59">
                  <a:extLst>
                    <a:ext uri="{FF2B5EF4-FFF2-40B4-BE49-F238E27FC236}">
                      <a16:creationId xmlns:a16="http://schemas.microsoft.com/office/drawing/2014/main" id="{52EC895E-24CD-48F5-BE5F-FAC6F2D0A885}"/>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57" name="Image 56">
                <a:extLst>
                  <a:ext uri="{FF2B5EF4-FFF2-40B4-BE49-F238E27FC236}">
                    <a16:creationId xmlns:a16="http://schemas.microsoft.com/office/drawing/2014/main" id="{5B497419-ED2B-46C0-ADB0-2795E645E15A}"/>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55" name="Graphique 54" descr="Presse-papiers mixte avec un remplissage uni">
              <a:extLst>
                <a:ext uri="{FF2B5EF4-FFF2-40B4-BE49-F238E27FC236}">
                  <a16:creationId xmlns:a16="http://schemas.microsoft.com/office/drawing/2014/main" id="{103AB455-66F7-4D99-AE97-17F00DDA6F3B}"/>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rot="20207580">
              <a:off x="7560150" y="3329802"/>
              <a:ext cx="314429" cy="314429"/>
            </a:xfrm>
            <a:prstGeom prst="rect">
              <a:avLst/>
            </a:prstGeom>
          </p:spPr>
        </p:pic>
      </p:grpSp>
      <p:grpSp>
        <p:nvGrpSpPr>
          <p:cNvPr id="37" name="Groupe 36">
            <a:extLst>
              <a:ext uri="{FF2B5EF4-FFF2-40B4-BE49-F238E27FC236}">
                <a16:creationId xmlns:a16="http://schemas.microsoft.com/office/drawing/2014/main" id="{4F6B6283-E8D1-4AA2-999B-128E435EEA77}"/>
              </a:ext>
            </a:extLst>
          </p:cNvPr>
          <p:cNvGrpSpPr/>
          <p:nvPr/>
        </p:nvGrpSpPr>
        <p:grpSpPr>
          <a:xfrm>
            <a:off x="11042867" y="436351"/>
            <a:ext cx="997813" cy="1075614"/>
            <a:chOff x="6060465" y="3463636"/>
            <a:chExt cx="819385" cy="883274"/>
          </a:xfrm>
          <a:solidFill>
            <a:srgbClr val="ED7D31"/>
          </a:solidFill>
        </p:grpSpPr>
        <p:pic>
          <p:nvPicPr>
            <p:cNvPr id="38" name="Graphique 37" descr="Presse-papiers mixte avec un remplissage uni">
              <a:extLst>
                <a:ext uri="{FF2B5EF4-FFF2-40B4-BE49-F238E27FC236}">
                  <a16:creationId xmlns:a16="http://schemas.microsoft.com/office/drawing/2014/main" id="{591A3FE1-C3E9-4C01-8A86-AEF72A81B022}"/>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rot="20207580">
              <a:off x="6060465" y="3580343"/>
              <a:ext cx="314429" cy="314429"/>
            </a:xfrm>
            <a:prstGeom prst="rect">
              <a:avLst/>
            </a:prstGeom>
          </p:spPr>
        </p:pic>
        <p:grpSp>
          <p:nvGrpSpPr>
            <p:cNvPr id="39" name="Groupe 38">
              <a:extLst>
                <a:ext uri="{FF2B5EF4-FFF2-40B4-BE49-F238E27FC236}">
                  <a16:creationId xmlns:a16="http://schemas.microsoft.com/office/drawing/2014/main" id="{224D028F-E227-4EEF-A3B6-8AC1E08015BE}"/>
                </a:ext>
              </a:extLst>
            </p:cNvPr>
            <p:cNvGrpSpPr/>
            <p:nvPr/>
          </p:nvGrpSpPr>
          <p:grpSpPr>
            <a:xfrm>
              <a:off x="6132133" y="3463636"/>
              <a:ext cx="612923" cy="883274"/>
              <a:chOff x="6132133" y="3463636"/>
              <a:chExt cx="612923" cy="883274"/>
            </a:xfrm>
            <a:grpFill/>
          </p:grpSpPr>
          <p:pic>
            <p:nvPicPr>
              <p:cNvPr id="42" name="Graphique 41" descr="Centre d’appels avec un remplissage uni">
                <a:extLst>
                  <a:ext uri="{FF2B5EF4-FFF2-40B4-BE49-F238E27FC236}">
                    <a16:creationId xmlns:a16="http://schemas.microsoft.com/office/drawing/2014/main" id="{76352421-EEAD-4B0C-A817-F2CA5DF55E72}"/>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b="44092"/>
              <a:stretch/>
            </p:blipFill>
            <p:spPr>
              <a:xfrm>
                <a:off x="6322855" y="3463636"/>
                <a:ext cx="422201" cy="236042"/>
              </a:xfrm>
              <a:prstGeom prst="rect">
                <a:avLst/>
              </a:prstGeom>
            </p:spPr>
          </p:pic>
          <p:grpSp>
            <p:nvGrpSpPr>
              <p:cNvPr id="61" name="Groupe 60">
                <a:extLst>
                  <a:ext uri="{FF2B5EF4-FFF2-40B4-BE49-F238E27FC236}">
                    <a16:creationId xmlns:a16="http://schemas.microsoft.com/office/drawing/2014/main" id="{A986EF49-D389-47C8-BF9D-9AC1E1AE23EA}"/>
                  </a:ext>
                </a:extLst>
              </p:cNvPr>
              <p:cNvGrpSpPr/>
              <p:nvPr/>
            </p:nvGrpSpPr>
            <p:grpSpPr>
              <a:xfrm flipH="1">
                <a:off x="6132133" y="3682042"/>
                <a:ext cx="611857" cy="664868"/>
                <a:chOff x="5018285" y="4055721"/>
                <a:chExt cx="696982" cy="731970"/>
              </a:xfrm>
              <a:grpFill/>
            </p:grpSpPr>
            <p:pic>
              <p:nvPicPr>
                <p:cNvPr id="62" name="Graphique 61" descr="Personne confuse avec un remplissage uni">
                  <a:extLst>
                    <a:ext uri="{FF2B5EF4-FFF2-40B4-BE49-F238E27FC236}">
                      <a16:creationId xmlns:a16="http://schemas.microsoft.com/office/drawing/2014/main" id="{B753610C-AF27-43DE-82F0-9C558653E36F}"/>
                    </a:ext>
                  </a:extLst>
                </p:cNvPr>
                <p:cNvPicPr>
                  <a:picLocks noChangeAspect="1"/>
                </p:cNvPicPr>
                <p:nvPr/>
              </p:nvPicPr>
              <p:blipFill rotWithShape="1">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rcRect l="30440" t="19951" r="-1"/>
                <a:stretch/>
              </p:blipFill>
              <p:spPr>
                <a:xfrm>
                  <a:off x="5079207" y="4055721"/>
                  <a:ext cx="636060" cy="731970"/>
                </a:xfrm>
                <a:prstGeom prst="rect">
                  <a:avLst/>
                </a:prstGeom>
              </p:spPr>
            </p:pic>
            <p:sp>
              <p:nvSpPr>
                <p:cNvPr id="63" name="Rectangle : coins arrondis 62">
                  <a:extLst>
                    <a:ext uri="{FF2B5EF4-FFF2-40B4-BE49-F238E27FC236}">
                      <a16:creationId xmlns:a16="http://schemas.microsoft.com/office/drawing/2014/main" id="{FFCBF727-901F-4FD2-BAF0-49B7B2044011}"/>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pic>
          <p:nvPicPr>
            <p:cNvPr id="40" name="Image 39">
              <a:extLst>
                <a:ext uri="{FF2B5EF4-FFF2-40B4-BE49-F238E27FC236}">
                  <a16:creationId xmlns:a16="http://schemas.microsoft.com/office/drawing/2014/main" id="{E3DBA32F-AD5A-451D-9853-F123B246E902}"/>
                </a:ext>
              </a:extLst>
            </p:cNvPr>
            <p:cNvPicPr>
              <a:picLocks noChangeAspect="1"/>
            </p:cNvPicPr>
            <p:nvPr/>
          </p:nvPicPr>
          <p:blipFill>
            <a:blip r:embed="rId8">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6474915" y="3741133"/>
              <a:ext cx="109675" cy="109475"/>
            </a:xfrm>
            <a:prstGeom prst="rect">
              <a:avLst/>
            </a:prstGeom>
            <a:grpFill/>
          </p:spPr>
        </p:pic>
        <p:pic>
          <p:nvPicPr>
            <p:cNvPr id="41" name="Graphique 40" descr="Chronomètre avec un remplissage uni">
              <a:extLst>
                <a:ext uri="{FF2B5EF4-FFF2-40B4-BE49-F238E27FC236}">
                  <a16:creationId xmlns:a16="http://schemas.microsoft.com/office/drawing/2014/main" id="{0586DAFB-6288-4573-B244-22C8999A3E4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714271" y="3602551"/>
              <a:ext cx="165579" cy="165579"/>
            </a:xfrm>
            <a:prstGeom prst="rect">
              <a:avLst/>
            </a:prstGeom>
          </p:spPr>
        </p:pic>
      </p:grpSp>
    </p:spTree>
    <p:extLst>
      <p:ext uri="{BB962C8B-B14F-4D97-AF65-F5344CB8AC3E}">
        <p14:creationId xmlns:p14="http://schemas.microsoft.com/office/powerpoint/2010/main" val="14707678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p:txBody>
          <a:bodyPr/>
          <a:lstStyle/>
          <a:p>
            <a:r>
              <a:rPr lang="fr-FR" dirty="0"/>
              <a:t>Niveau 5 : Animation de </a:t>
            </a:r>
            <a:r>
              <a:rPr lang="fr-FR" sz="4400" b="0" dirty="0"/>
              <a:t>💪ROBUSTEAM</a:t>
            </a:r>
            <a:endParaRPr lang="fr-FR" dirty="0"/>
          </a:p>
        </p:txBody>
      </p:sp>
      <p:sp>
        <p:nvSpPr>
          <p:cNvPr id="37" name="Espace réservé du texte 17">
            <a:extLst>
              <a:ext uri="{FF2B5EF4-FFF2-40B4-BE49-F238E27FC236}">
                <a16:creationId xmlns:a16="http://schemas.microsoft.com/office/drawing/2014/main" id="{84E81D4B-0B47-48DF-9F1A-F05E8F79586D}"/>
              </a:ext>
            </a:extLst>
          </p:cNvPr>
          <p:cNvSpPr>
            <a:spLocks noGrp="1"/>
          </p:cNvSpPr>
          <p:nvPr>
            <p:ph type="body" sz="quarter" idx="16"/>
          </p:nvPr>
        </p:nvSpPr>
        <p:spPr>
          <a:xfrm>
            <a:off x="817277" y="2100177"/>
            <a:ext cx="2404138" cy="4540637"/>
          </a:xfrm>
        </p:spPr>
        <p:txBody>
          <a:bodyPr/>
          <a:lstStyle/>
          <a:p>
            <a:r>
              <a:rPr lang="fr-FR" sz="1100" dirty="0"/>
              <a:t>Rassurer sur le fait que toutes les crises dans le jeu sont des crises fictives écrites dans le jeu. Toute ressemblance à la réalité de l’équipe ne serait que le fruit du hasard. </a:t>
            </a:r>
          </a:p>
          <a:p>
            <a:endParaRPr lang="fr-FR" sz="1100" dirty="0"/>
          </a:p>
          <a:p>
            <a:r>
              <a:rPr lang="fr-FR" sz="1100" dirty="0"/>
              <a:t>Dans ce jeu, il est important de continuer à croire en l’équipe, même si les joueurs ⚖️ </a:t>
            </a:r>
            <a:r>
              <a:rPr lang="fr-FR" sz="1100" b="1" dirty="0">
                <a:solidFill>
                  <a:srgbClr val="0683AA"/>
                </a:solidFill>
              </a:rPr>
              <a:t>DESTIN </a:t>
            </a:r>
            <a:r>
              <a:rPr lang="fr-FR" sz="1100" dirty="0"/>
              <a:t>peuvent être durs en jugement. On peut utiliser leur sévérité pour souligner qu’ils ont une idée de la qualité des solutions. </a:t>
            </a:r>
          </a:p>
          <a:p>
            <a:endParaRPr lang="fr-FR" sz="1100" dirty="0"/>
          </a:p>
        </p:txBody>
      </p:sp>
      <p:sp>
        <p:nvSpPr>
          <p:cNvPr id="38" name="Espace réservé du texte 2">
            <a:extLst>
              <a:ext uri="{FF2B5EF4-FFF2-40B4-BE49-F238E27FC236}">
                <a16:creationId xmlns:a16="http://schemas.microsoft.com/office/drawing/2014/main" id="{60664009-F884-41C1-8E16-0895E28E7602}"/>
              </a:ext>
            </a:extLst>
          </p:cNvPr>
          <p:cNvSpPr>
            <a:spLocks noGrp="1"/>
          </p:cNvSpPr>
          <p:nvPr>
            <p:ph type="body" idx="1"/>
          </p:nvPr>
        </p:nvSpPr>
        <p:spPr>
          <a:xfrm>
            <a:off x="809339" y="1596940"/>
            <a:ext cx="2412076" cy="503237"/>
          </a:xfrm>
        </p:spPr>
        <p:txBody>
          <a:bodyPr>
            <a:normAutofit/>
          </a:bodyPr>
          <a:lstStyle/>
          <a:p>
            <a:r>
              <a:rPr lang="fr-FR" sz="1400" dirty="0"/>
              <a:t>⚖️Posture et introduction</a:t>
            </a:r>
          </a:p>
        </p:txBody>
      </p:sp>
      <p:sp>
        <p:nvSpPr>
          <p:cNvPr id="39" name="Espace réservé du texte 18">
            <a:extLst>
              <a:ext uri="{FF2B5EF4-FFF2-40B4-BE49-F238E27FC236}">
                <a16:creationId xmlns:a16="http://schemas.microsoft.com/office/drawing/2014/main" id="{5433BB7F-90C0-406F-936A-62E085E3EA91}"/>
              </a:ext>
            </a:extLst>
          </p:cNvPr>
          <p:cNvSpPr>
            <a:spLocks noGrp="1"/>
          </p:cNvSpPr>
          <p:nvPr>
            <p:ph type="body" sz="quarter" idx="17"/>
          </p:nvPr>
        </p:nvSpPr>
        <p:spPr>
          <a:xfrm>
            <a:off x="3386284" y="2099859"/>
            <a:ext cx="3811278" cy="4540637"/>
          </a:xfrm>
        </p:spPr>
        <p:txBody>
          <a:bodyPr/>
          <a:lstStyle/>
          <a:p>
            <a:pPr marL="285750" indent="-285750">
              <a:buFont typeface="Arial" panose="020B0604020202020204" pitchFamily="34" charset="0"/>
              <a:buChar char="•"/>
            </a:pPr>
            <a:r>
              <a:rPr lang="fr-FR" sz="1100" dirty="0"/>
              <a:t>Le jeu est fait pour être rapide, et qu’il y ait beaucoup de tours plutôt que des tours très longs. Limitez la durée des tours, voire réduisez la pour augmenter le stress de gestion de crise.</a:t>
            </a:r>
          </a:p>
          <a:p>
            <a:pPr marL="285750" indent="-285750">
              <a:buFont typeface="Arial" panose="020B0604020202020204" pitchFamily="34" charset="0"/>
              <a:buChar char="•"/>
            </a:pPr>
            <a:r>
              <a:rPr lang="fr-FR" sz="1100" dirty="0"/>
              <a:t>Autant que possible, laisser les joueurs de </a:t>
            </a:r>
            <a:r>
              <a:rPr lang="fr-FR" sz="1100" b="0" dirty="0"/>
              <a:t>💪 </a:t>
            </a:r>
            <a:r>
              <a:rPr lang="fr-FR" sz="1100" b="1" dirty="0">
                <a:solidFill>
                  <a:srgbClr val="0683AA"/>
                </a:solidFill>
              </a:rPr>
              <a:t>ROBUSTEAM</a:t>
            </a:r>
            <a:r>
              <a:rPr lang="fr-FR" sz="1100" dirty="0"/>
              <a:t> trouver des solutions par eux-mêmes, ne pas les aider dans l’imagination. </a:t>
            </a:r>
          </a:p>
          <a:p>
            <a:pPr marL="285750" indent="-285750">
              <a:buFont typeface="Arial" panose="020B0604020202020204" pitchFamily="34" charset="0"/>
              <a:buChar char="•"/>
            </a:pPr>
            <a:r>
              <a:rPr lang="fr-FR" sz="1100" dirty="0"/>
              <a:t>Mettre en avant que les crises sont des situations qui peuvent arriver à n’importe quel moment. </a:t>
            </a:r>
          </a:p>
          <a:p>
            <a:pPr marL="285750" indent="-285750">
              <a:buFont typeface="Arial" panose="020B0604020202020204" pitchFamily="34" charset="0"/>
              <a:buChar char="•"/>
            </a:pPr>
            <a:r>
              <a:rPr lang="fr-FR" sz="1100" dirty="0"/>
              <a:t>Faire garder en tête que la distribution des rôles </a:t>
            </a:r>
            <a:r>
              <a:rPr lang="fr-FR" sz="1100" b="0" dirty="0"/>
              <a:t>💪 </a:t>
            </a:r>
            <a:r>
              <a:rPr lang="fr-FR" sz="1100" b="1" dirty="0">
                <a:solidFill>
                  <a:srgbClr val="0683AA"/>
                </a:solidFill>
              </a:rPr>
              <a:t>ROBUSTEAM </a:t>
            </a:r>
            <a:r>
              <a:rPr lang="fr-FR" sz="1100" dirty="0"/>
              <a:t>et</a:t>
            </a:r>
            <a:r>
              <a:rPr lang="fr-FR" sz="1100" b="1" dirty="0">
                <a:solidFill>
                  <a:srgbClr val="0683AA"/>
                </a:solidFill>
              </a:rPr>
              <a:t> </a:t>
            </a:r>
            <a:r>
              <a:rPr lang="fr-FR" sz="1100" dirty="0"/>
              <a:t>⚖️ </a:t>
            </a:r>
            <a:r>
              <a:rPr lang="fr-FR" sz="1100" b="1" dirty="0">
                <a:solidFill>
                  <a:srgbClr val="0683AA"/>
                </a:solidFill>
              </a:rPr>
              <a:t>DESTIN </a:t>
            </a:r>
            <a:r>
              <a:rPr lang="fr-FR" sz="1100" dirty="0"/>
              <a:t>sont le fruit du hasard de chaque tour.</a:t>
            </a:r>
          </a:p>
          <a:p>
            <a:pPr marL="285750" indent="-285750">
              <a:buFont typeface="Arial" panose="020B0604020202020204" pitchFamily="34" charset="0"/>
              <a:buChar char="•"/>
            </a:pPr>
            <a:r>
              <a:rPr lang="fr-FR" sz="1100" dirty="0"/>
              <a:t>Pendant les </a:t>
            </a:r>
            <a:r>
              <a:rPr lang="fr-FR" sz="1100" u="sng" dirty="0"/>
              <a:t>4 minutes </a:t>
            </a:r>
            <a:r>
              <a:rPr lang="fr-FR" sz="1100" dirty="0"/>
              <a:t>où les joueurs </a:t>
            </a:r>
            <a:r>
              <a:rPr lang="fr-FR" sz="1100" b="0" dirty="0"/>
              <a:t>💪 </a:t>
            </a:r>
            <a:r>
              <a:rPr lang="fr-FR" sz="1100" b="1" dirty="0">
                <a:solidFill>
                  <a:srgbClr val="0683AA"/>
                </a:solidFill>
              </a:rPr>
              <a:t>ROBUSTEAM  </a:t>
            </a:r>
            <a:r>
              <a:rPr lang="fr-FR" sz="1100" dirty="0"/>
              <a:t>se concertent sur une solution, les joueurs ⚖️ </a:t>
            </a:r>
            <a:r>
              <a:rPr lang="fr-FR" sz="1100" b="1" dirty="0">
                <a:solidFill>
                  <a:srgbClr val="0683AA"/>
                </a:solidFill>
              </a:rPr>
              <a:t>DESTIN </a:t>
            </a:r>
            <a:r>
              <a:rPr lang="fr-FR" sz="1100" dirty="0"/>
              <a:t>peuvent discuter des critères de vote</a:t>
            </a:r>
            <a:r>
              <a:rPr lang="fr-FR" sz="1100" b="1" dirty="0">
                <a:solidFill>
                  <a:srgbClr val="0683AA"/>
                </a:solidFill>
              </a:rPr>
              <a:t>.</a:t>
            </a:r>
            <a:endParaRPr lang="fr-FR" sz="1100" dirty="0"/>
          </a:p>
          <a:p>
            <a:pPr marL="285750" indent="-285750">
              <a:buFont typeface="Arial" panose="020B0604020202020204" pitchFamily="34" charset="0"/>
              <a:buChar char="•"/>
            </a:pPr>
            <a:r>
              <a:rPr lang="fr-FR" sz="1100" dirty="0"/>
              <a:t>Si vous souhaitez, filtrez les crises qui s’appliquent à l’équipe en amont de la partie</a:t>
            </a:r>
          </a:p>
          <a:p>
            <a:pPr marL="285750" indent="-285750">
              <a:buFont typeface="Arial" panose="020B0604020202020204" pitchFamily="34" charset="0"/>
              <a:buChar char="•"/>
            </a:pPr>
            <a:r>
              <a:rPr lang="fr-FR" sz="1100" dirty="0"/>
              <a:t>Il est important que la narration des crises soit basée sur le contexte réel, avec les bons </a:t>
            </a:r>
            <a:r>
              <a:rPr lang="fr-FR" sz="1100" b="1" dirty="0">
                <a:solidFill>
                  <a:srgbClr val="ED7D31"/>
                </a:solidFill>
              </a:rPr>
              <a:t>MEMBRES</a:t>
            </a:r>
            <a:r>
              <a:rPr lang="fr-FR" sz="1100" dirty="0"/>
              <a:t> et </a:t>
            </a:r>
            <a:r>
              <a:rPr lang="fr-FR" sz="1100" b="1" dirty="0"/>
              <a:t>PARTIES PRENANTES</a:t>
            </a:r>
          </a:p>
          <a:p>
            <a:pPr marL="285750" indent="-285750">
              <a:buFont typeface="Arial" panose="020B0604020202020204" pitchFamily="34" charset="0"/>
              <a:buChar char="•"/>
            </a:pPr>
            <a:r>
              <a:rPr lang="fr-FR" sz="1100" dirty="0"/>
              <a:t>Pas de moyens extraordinaires signifie : pas le droit d’inventer un budget magique de dernier moment, des soutiens soudains qui n’ont pas de sens, tout doit reposer sur la créativité de l’équipe en l’état.</a:t>
            </a:r>
          </a:p>
          <a:p>
            <a:endParaRPr lang="fr-FR" sz="1100" dirty="0"/>
          </a:p>
        </p:txBody>
      </p:sp>
      <p:sp>
        <p:nvSpPr>
          <p:cNvPr id="40" name="Espace réservé du texte 19">
            <a:extLst>
              <a:ext uri="{FF2B5EF4-FFF2-40B4-BE49-F238E27FC236}">
                <a16:creationId xmlns:a16="http://schemas.microsoft.com/office/drawing/2014/main" id="{991450BB-ABEA-45BB-AF06-87578122D87D}"/>
              </a:ext>
            </a:extLst>
          </p:cNvPr>
          <p:cNvSpPr>
            <a:spLocks noGrp="1"/>
          </p:cNvSpPr>
          <p:nvPr>
            <p:ph type="body" idx="18"/>
          </p:nvPr>
        </p:nvSpPr>
        <p:spPr>
          <a:xfrm>
            <a:off x="3386285" y="1596622"/>
            <a:ext cx="3819216" cy="503237"/>
          </a:xfrm>
        </p:spPr>
        <p:txBody>
          <a:bodyPr>
            <a:normAutofit/>
          </a:bodyPr>
          <a:lstStyle/>
          <a:p>
            <a:r>
              <a:rPr lang="fr-FR" sz="1400" dirty="0"/>
              <a:t>👨‍🏫Astuces et conseils d’animation</a:t>
            </a:r>
          </a:p>
        </p:txBody>
      </p:sp>
      <p:sp>
        <p:nvSpPr>
          <p:cNvPr id="41" name="Espace réservé du texte 20">
            <a:extLst>
              <a:ext uri="{FF2B5EF4-FFF2-40B4-BE49-F238E27FC236}">
                <a16:creationId xmlns:a16="http://schemas.microsoft.com/office/drawing/2014/main" id="{0D81D87E-8900-4B2A-BAFC-61CC0883A5DB}"/>
              </a:ext>
            </a:extLst>
          </p:cNvPr>
          <p:cNvSpPr>
            <a:spLocks noGrp="1"/>
          </p:cNvSpPr>
          <p:nvPr>
            <p:ph type="body" sz="quarter" idx="19"/>
          </p:nvPr>
        </p:nvSpPr>
        <p:spPr>
          <a:xfrm>
            <a:off x="7370371" y="2099859"/>
            <a:ext cx="3946630" cy="4540637"/>
          </a:xfrm>
        </p:spPr>
        <p:txBody>
          <a:bodyPr/>
          <a:lstStyle/>
          <a:p>
            <a:r>
              <a:rPr lang="fr-FR" sz="1100" dirty="0"/>
              <a:t>Si vous souhaitez creuser le Debriefing plus loin que le sujet direct du jeu</a:t>
            </a:r>
          </a:p>
          <a:p>
            <a:r>
              <a:rPr lang="fr-FR" sz="1100" b="0" dirty="0"/>
              <a:t>💪 </a:t>
            </a:r>
            <a:r>
              <a:rPr lang="fr-FR" sz="1100" b="1" dirty="0">
                <a:solidFill>
                  <a:srgbClr val="0683AA"/>
                </a:solidFill>
              </a:rPr>
              <a:t>ROBUSTEAM</a:t>
            </a:r>
            <a:r>
              <a:rPr lang="fr-FR" sz="1100" dirty="0"/>
              <a:t> : </a:t>
            </a:r>
          </a:p>
          <a:p>
            <a:pPr marL="285750" indent="-285750">
              <a:buFont typeface="Arial" panose="020B0604020202020204" pitchFamily="34" charset="0"/>
              <a:buChar char="•"/>
            </a:pPr>
            <a:r>
              <a:rPr lang="fr-FR" sz="1100" dirty="0"/>
              <a:t>Vers qui vous tourniez vous pour des idées ? </a:t>
            </a:r>
          </a:p>
          <a:p>
            <a:pPr marL="285750" indent="-285750">
              <a:buFont typeface="Arial" panose="020B0604020202020204" pitchFamily="34" charset="0"/>
              <a:buChar char="•"/>
            </a:pPr>
            <a:r>
              <a:rPr lang="fr-FR" sz="1100" dirty="0"/>
              <a:t>Qui a beaucoup mené l’établissement de solutions ? Qui était plus en recul ? </a:t>
            </a:r>
          </a:p>
          <a:p>
            <a:pPr marL="285750" indent="-285750">
              <a:buFont typeface="Arial" panose="020B0604020202020204" pitchFamily="34" charset="0"/>
              <a:buChar char="•"/>
            </a:pPr>
            <a:r>
              <a:rPr lang="fr-FR" sz="1100" dirty="0"/>
              <a:t>Comment se passaient les décisions ? Comment avez-vous vécu les décisions ? Que pourriez-vous améliorer ?</a:t>
            </a:r>
          </a:p>
          <a:p>
            <a:pPr marL="285750" indent="-285750">
              <a:buFont typeface="Arial" panose="020B0604020202020204" pitchFamily="34" charset="0"/>
              <a:buChar char="•"/>
            </a:pPr>
            <a:r>
              <a:rPr lang="fr-FR" sz="1100" dirty="0"/>
              <a:t>Avec quels types de crises étiez vous le plus à l’aise ? Le moins ? </a:t>
            </a:r>
          </a:p>
          <a:p>
            <a:pPr marL="285750" indent="-285750">
              <a:buFont typeface="Arial" panose="020B0604020202020204" pitchFamily="34" charset="0"/>
              <a:buChar char="•"/>
            </a:pPr>
            <a:r>
              <a:rPr lang="fr-FR" sz="1100" dirty="0"/>
              <a:t>Proposez vous systématiquement le même type de solutions ? </a:t>
            </a:r>
          </a:p>
          <a:p>
            <a:r>
              <a:rPr lang="fr-FR" sz="1100" dirty="0"/>
              <a:t>⚖️ </a:t>
            </a:r>
            <a:r>
              <a:rPr lang="fr-FR" sz="1100" b="1" dirty="0">
                <a:solidFill>
                  <a:srgbClr val="0683AA"/>
                </a:solidFill>
              </a:rPr>
              <a:t>DESTIN </a:t>
            </a:r>
            <a:endParaRPr lang="fr-FR" sz="1100" dirty="0"/>
          </a:p>
          <a:p>
            <a:pPr marL="171450" indent="-171450">
              <a:buFont typeface="Arial" panose="020B0604020202020204" pitchFamily="34" charset="0"/>
              <a:buChar char="•"/>
            </a:pPr>
            <a:r>
              <a:rPr lang="fr-FR" sz="1100" dirty="0"/>
              <a:t>Quels types de solutions trouvez-vous souvent convaincantes ? Peu convaincantes ?</a:t>
            </a:r>
          </a:p>
          <a:p>
            <a:pPr marL="171450" indent="-171450">
              <a:buFont typeface="Arial" panose="020B0604020202020204" pitchFamily="34" charset="0"/>
              <a:buChar char="•"/>
            </a:pPr>
            <a:r>
              <a:rPr lang="fr-FR" sz="1100" dirty="0"/>
              <a:t>Quels biais pensez vous avoir sur les jugements ? </a:t>
            </a:r>
          </a:p>
          <a:p>
            <a:pPr marL="171450" indent="-171450">
              <a:buFont typeface="Arial" panose="020B0604020202020204" pitchFamily="34" charset="0"/>
              <a:buChar char="•"/>
            </a:pPr>
            <a:r>
              <a:rPr lang="fr-FR" sz="1100" dirty="0"/>
              <a:t>Quelles crises auriez vous bien aimé voir jouées ? Quelles crises auriez vous aimé éviter ? </a:t>
            </a:r>
          </a:p>
          <a:p>
            <a:endParaRPr lang="fr-FR" sz="1100" dirty="0"/>
          </a:p>
        </p:txBody>
      </p:sp>
      <p:sp>
        <p:nvSpPr>
          <p:cNvPr id="42" name="Espace réservé du texte 21">
            <a:extLst>
              <a:ext uri="{FF2B5EF4-FFF2-40B4-BE49-F238E27FC236}">
                <a16:creationId xmlns:a16="http://schemas.microsoft.com/office/drawing/2014/main" id="{AC93F99B-AE27-4039-9AD5-B340397F2D02}"/>
              </a:ext>
            </a:extLst>
          </p:cNvPr>
          <p:cNvSpPr>
            <a:spLocks noGrp="1"/>
          </p:cNvSpPr>
          <p:nvPr>
            <p:ph type="body" idx="20"/>
          </p:nvPr>
        </p:nvSpPr>
        <p:spPr>
          <a:xfrm>
            <a:off x="7362431" y="1596622"/>
            <a:ext cx="3954570" cy="503237"/>
          </a:xfrm>
        </p:spPr>
        <p:txBody>
          <a:bodyPr>
            <a:normAutofit/>
          </a:bodyPr>
          <a:lstStyle/>
          <a:p>
            <a:r>
              <a:rPr lang="fr-FR" sz="1400" dirty="0"/>
              <a:t>🙋Debriefing avancé</a:t>
            </a:r>
          </a:p>
        </p:txBody>
      </p:sp>
      <p:grpSp>
        <p:nvGrpSpPr>
          <p:cNvPr id="18" name="Groupe 17">
            <a:extLst>
              <a:ext uri="{FF2B5EF4-FFF2-40B4-BE49-F238E27FC236}">
                <a16:creationId xmlns:a16="http://schemas.microsoft.com/office/drawing/2014/main" id="{2E8A99D3-881C-473D-8C88-61FF5A709A2C}"/>
              </a:ext>
            </a:extLst>
          </p:cNvPr>
          <p:cNvGrpSpPr/>
          <p:nvPr/>
        </p:nvGrpSpPr>
        <p:grpSpPr>
          <a:xfrm>
            <a:off x="10755855" y="301638"/>
            <a:ext cx="1195890" cy="1294984"/>
            <a:chOff x="7560150" y="2879049"/>
            <a:chExt cx="982042" cy="1063416"/>
          </a:xfrm>
          <a:solidFill>
            <a:srgbClr val="ED7D31"/>
          </a:solidFill>
        </p:grpSpPr>
        <p:grpSp>
          <p:nvGrpSpPr>
            <p:cNvPr id="19" name="Groupe 18">
              <a:extLst>
                <a:ext uri="{FF2B5EF4-FFF2-40B4-BE49-F238E27FC236}">
                  <a16:creationId xmlns:a16="http://schemas.microsoft.com/office/drawing/2014/main" id="{748D07DC-692B-42C2-96E5-A7666CE67E1C}"/>
                </a:ext>
              </a:extLst>
            </p:cNvPr>
            <p:cNvGrpSpPr/>
            <p:nvPr/>
          </p:nvGrpSpPr>
          <p:grpSpPr>
            <a:xfrm>
              <a:off x="7798849" y="2879049"/>
              <a:ext cx="743343" cy="1063416"/>
              <a:chOff x="6391015" y="3260296"/>
              <a:chExt cx="743343" cy="1063416"/>
            </a:xfrm>
            <a:grpFill/>
          </p:grpSpPr>
          <p:grpSp>
            <p:nvGrpSpPr>
              <p:cNvPr id="21" name="Groupe 20">
                <a:extLst>
                  <a:ext uri="{FF2B5EF4-FFF2-40B4-BE49-F238E27FC236}">
                    <a16:creationId xmlns:a16="http://schemas.microsoft.com/office/drawing/2014/main" id="{47509340-076C-43E0-8EBB-E76BFB56AD6F}"/>
                  </a:ext>
                </a:extLst>
              </p:cNvPr>
              <p:cNvGrpSpPr/>
              <p:nvPr/>
            </p:nvGrpSpPr>
            <p:grpSpPr>
              <a:xfrm>
                <a:off x="6391015" y="3260296"/>
                <a:ext cx="743343" cy="1063416"/>
                <a:chOff x="6298348" y="3168316"/>
                <a:chExt cx="867130" cy="1240504"/>
              </a:xfrm>
              <a:grpFill/>
            </p:grpSpPr>
            <p:pic>
              <p:nvPicPr>
                <p:cNvPr id="32" name="Graphique 31" descr="Enseignant avec un remplissage uni">
                  <a:extLst>
                    <a:ext uri="{FF2B5EF4-FFF2-40B4-BE49-F238E27FC236}">
                      <a16:creationId xmlns:a16="http://schemas.microsoft.com/office/drawing/2014/main" id="{DA2003F3-7670-4D04-BEE9-BA1DAFD0F93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6298348" y="3168316"/>
                  <a:ext cx="867130" cy="867130"/>
                </a:xfrm>
                <a:prstGeom prst="rect">
                  <a:avLst/>
                </a:prstGeom>
              </p:spPr>
            </p:pic>
            <p:pic>
              <p:nvPicPr>
                <p:cNvPr id="33" name="Graphique 32" descr="Personne confuse avec un remplissage uni">
                  <a:extLst>
                    <a:ext uri="{FF2B5EF4-FFF2-40B4-BE49-F238E27FC236}">
                      <a16:creationId xmlns:a16="http://schemas.microsoft.com/office/drawing/2014/main" id="{0D8E3AA3-AB9D-494E-A75F-E12F4A6DA117}"/>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4664" t="32545" r="38513" b="-1"/>
                <a:stretch/>
              </p:blipFill>
              <p:spPr>
                <a:xfrm>
                  <a:off x="6367463" y="3792004"/>
                  <a:ext cx="245268" cy="616816"/>
                </a:xfrm>
                <a:prstGeom prst="rect">
                  <a:avLst/>
                </a:prstGeom>
              </p:spPr>
            </p:pic>
            <p:sp>
              <p:nvSpPr>
                <p:cNvPr id="34" name="Rectangle : coins arrondis 33">
                  <a:extLst>
                    <a:ext uri="{FF2B5EF4-FFF2-40B4-BE49-F238E27FC236}">
                      <a16:creationId xmlns:a16="http://schemas.microsoft.com/office/drawing/2014/main" id="{0BEF0C8E-10FD-4D44-B046-0A4F461F76B8}"/>
                    </a:ext>
                  </a:extLst>
                </p:cNvPr>
                <p:cNvSpPr/>
                <p:nvPr/>
              </p:nvSpPr>
              <p:spPr>
                <a:xfrm rot="6712184">
                  <a:off x="6254922" y="3844588"/>
                  <a:ext cx="234739"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pic>
            <p:nvPicPr>
              <p:cNvPr id="31" name="Image 30">
                <a:extLst>
                  <a:ext uri="{FF2B5EF4-FFF2-40B4-BE49-F238E27FC236}">
                    <a16:creationId xmlns:a16="http://schemas.microsoft.com/office/drawing/2014/main" id="{6993DC63-10D8-4821-9351-8E19B82893B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951983" y="3638955"/>
                <a:ext cx="98432" cy="94958"/>
              </a:xfrm>
              <a:prstGeom prst="rect">
                <a:avLst/>
              </a:prstGeom>
              <a:noFill/>
              <a:ln>
                <a:noFill/>
              </a:ln>
            </p:spPr>
          </p:pic>
        </p:grpSp>
        <p:pic>
          <p:nvPicPr>
            <p:cNvPr id="20" name="Graphique 19" descr="Presse-papiers mixte avec un remplissage uni">
              <a:extLst>
                <a:ext uri="{FF2B5EF4-FFF2-40B4-BE49-F238E27FC236}">
                  <a16:creationId xmlns:a16="http://schemas.microsoft.com/office/drawing/2014/main" id="{89F63B45-CE1C-4B01-8377-2137543C05D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rot="20207580">
              <a:off x="7560150" y="3329802"/>
              <a:ext cx="314429" cy="314429"/>
            </a:xfrm>
            <a:prstGeom prst="rect">
              <a:avLst/>
            </a:prstGeom>
          </p:spPr>
        </p:pic>
      </p:grpSp>
    </p:spTree>
    <p:extLst>
      <p:ext uri="{BB962C8B-B14F-4D97-AF65-F5344CB8AC3E}">
        <p14:creationId xmlns:p14="http://schemas.microsoft.com/office/powerpoint/2010/main" val="4270376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071508F-00B6-48EB-9E05-2CF3767E59FF}"/>
              </a:ext>
            </a:extLst>
          </p:cNvPr>
          <p:cNvSpPr>
            <a:spLocks noGrp="1"/>
          </p:cNvSpPr>
          <p:nvPr>
            <p:ph type="title"/>
          </p:nvPr>
        </p:nvSpPr>
        <p:spPr/>
        <p:txBody>
          <a:bodyPr/>
          <a:lstStyle/>
          <a:p>
            <a:r>
              <a:rPr lang="fr-FR" dirty="0"/>
              <a:t>Niveau 6 : Adaptation de </a:t>
            </a:r>
            <a:r>
              <a:rPr lang="fr-FR" sz="4400" b="0" dirty="0"/>
              <a:t>💪ROBUSTEAM</a:t>
            </a:r>
            <a:endParaRPr lang="fr-FR" dirty="0"/>
          </a:p>
        </p:txBody>
      </p:sp>
      <p:grpSp>
        <p:nvGrpSpPr>
          <p:cNvPr id="31" name="Groupe 30">
            <a:extLst>
              <a:ext uri="{FF2B5EF4-FFF2-40B4-BE49-F238E27FC236}">
                <a16:creationId xmlns:a16="http://schemas.microsoft.com/office/drawing/2014/main" id="{566822D7-BE59-42A3-8647-937CD139D65E}"/>
              </a:ext>
            </a:extLst>
          </p:cNvPr>
          <p:cNvGrpSpPr/>
          <p:nvPr/>
        </p:nvGrpSpPr>
        <p:grpSpPr>
          <a:xfrm>
            <a:off x="11294576" y="639192"/>
            <a:ext cx="897423" cy="865662"/>
            <a:chOff x="8930936" y="2408583"/>
            <a:chExt cx="1216113" cy="1173074"/>
          </a:xfrm>
          <a:solidFill>
            <a:schemeClr val="accent1"/>
          </a:solidFill>
        </p:grpSpPr>
        <p:grpSp>
          <p:nvGrpSpPr>
            <p:cNvPr id="32" name="Groupe 31">
              <a:extLst>
                <a:ext uri="{FF2B5EF4-FFF2-40B4-BE49-F238E27FC236}">
                  <a16:creationId xmlns:a16="http://schemas.microsoft.com/office/drawing/2014/main" id="{4BF7144D-D720-41AD-A032-945BC0B8AD4D}"/>
                </a:ext>
              </a:extLst>
            </p:cNvPr>
            <p:cNvGrpSpPr/>
            <p:nvPr/>
          </p:nvGrpSpPr>
          <p:grpSpPr>
            <a:xfrm>
              <a:off x="8930936" y="2408583"/>
              <a:ext cx="1216113" cy="1173074"/>
              <a:chOff x="8930936" y="2401291"/>
              <a:chExt cx="1216113" cy="1173074"/>
            </a:xfrm>
            <a:grpFill/>
          </p:grpSpPr>
          <p:pic>
            <p:nvPicPr>
              <p:cNvPr id="36" name="Graphique 35" descr="Plan avec un remplissage uni">
                <a:extLst>
                  <a:ext uri="{FF2B5EF4-FFF2-40B4-BE49-F238E27FC236}">
                    <a16:creationId xmlns:a16="http://schemas.microsoft.com/office/drawing/2014/main" id="{0A0CE742-A6AF-440B-AB4E-9CF1DD5FD7BC}"/>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930936" y="2401291"/>
                <a:ext cx="590762" cy="590762"/>
              </a:xfrm>
              <a:prstGeom prst="rect">
                <a:avLst/>
              </a:prstGeom>
            </p:spPr>
          </p:pic>
          <p:grpSp>
            <p:nvGrpSpPr>
              <p:cNvPr id="43" name="Groupe 42">
                <a:extLst>
                  <a:ext uri="{FF2B5EF4-FFF2-40B4-BE49-F238E27FC236}">
                    <a16:creationId xmlns:a16="http://schemas.microsoft.com/office/drawing/2014/main" id="{6C4CB50E-D2FA-40F5-B9B4-06C1F2CD0E55}"/>
                  </a:ext>
                </a:extLst>
              </p:cNvPr>
              <p:cNvGrpSpPr/>
              <p:nvPr/>
            </p:nvGrpSpPr>
            <p:grpSpPr>
              <a:xfrm>
                <a:off x="9450069" y="2659965"/>
                <a:ext cx="696980" cy="914400"/>
                <a:chOff x="5018285" y="3873291"/>
                <a:chExt cx="696980" cy="914400"/>
              </a:xfrm>
              <a:grpFill/>
            </p:grpSpPr>
            <p:pic>
              <p:nvPicPr>
                <p:cNvPr id="44" name="Graphique 43" descr="Personne confuse avec un remplissage uni">
                  <a:extLst>
                    <a:ext uri="{FF2B5EF4-FFF2-40B4-BE49-F238E27FC236}">
                      <a16:creationId xmlns:a16="http://schemas.microsoft.com/office/drawing/2014/main" id="{5E118380-AA8D-452E-9AB7-A425ACE12485}"/>
                    </a:ext>
                  </a:extLst>
                </p:cNvPr>
                <p:cNvPicPr>
                  <a:picLocks noChangeAspect="1"/>
                </p:cNvPicPr>
                <p:nvPr/>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30440" r="-1"/>
                <a:stretch/>
              </p:blipFill>
              <p:spPr>
                <a:xfrm>
                  <a:off x="5079206" y="3873291"/>
                  <a:ext cx="636059" cy="914400"/>
                </a:xfrm>
                <a:prstGeom prst="rect">
                  <a:avLst/>
                </a:prstGeom>
              </p:spPr>
            </p:pic>
            <p:sp>
              <p:nvSpPr>
                <p:cNvPr id="45" name="Rectangle : coins arrondis 44">
                  <a:extLst>
                    <a:ext uri="{FF2B5EF4-FFF2-40B4-BE49-F238E27FC236}">
                      <a16:creationId xmlns:a16="http://schemas.microsoft.com/office/drawing/2014/main" id="{453A4135-ED24-47DF-BA0F-F6B8D5F7A266}"/>
                    </a:ext>
                  </a:extLst>
                </p:cNvPr>
                <p:cNvSpPr/>
                <p:nvPr/>
              </p:nvSpPr>
              <p:spPr>
                <a:xfrm rot="3462276">
                  <a:off x="4958575" y="4176566"/>
                  <a:ext cx="184553" cy="65134"/>
                </a:xfrm>
                <a:prstGeom prst="roundRect">
                  <a:avLst>
                    <a:gd name="adj" fmla="val 50000"/>
                  </a:avLst>
                </a:prstGeom>
                <a:grpFill/>
                <a:ln>
                  <a:no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fr-FR"/>
                </a:p>
              </p:txBody>
            </p:sp>
          </p:grpSp>
        </p:grpSp>
        <p:grpSp>
          <p:nvGrpSpPr>
            <p:cNvPr id="33" name="Groupe 32">
              <a:extLst>
                <a:ext uri="{FF2B5EF4-FFF2-40B4-BE49-F238E27FC236}">
                  <a16:creationId xmlns:a16="http://schemas.microsoft.com/office/drawing/2014/main" id="{AEF66C89-62E9-4CCD-882F-428579D24D60}"/>
                </a:ext>
              </a:extLst>
            </p:cNvPr>
            <p:cNvGrpSpPr/>
            <p:nvPr/>
          </p:nvGrpSpPr>
          <p:grpSpPr>
            <a:xfrm>
              <a:off x="9237852" y="2714693"/>
              <a:ext cx="199881" cy="170748"/>
              <a:chOff x="8303417" y="2625343"/>
              <a:chExt cx="199881" cy="170748"/>
            </a:xfrm>
            <a:grpFill/>
          </p:grpSpPr>
          <p:sp>
            <p:nvSpPr>
              <p:cNvPr id="34" name="Rectangle 33">
                <a:extLst>
                  <a:ext uri="{FF2B5EF4-FFF2-40B4-BE49-F238E27FC236}">
                    <a16:creationId xmlns:a16="http://schemas.microsoft.com/office/drawing/2014/main" id="{447F6222-2CAB-46BA-BC98-2D5615370F1D}"/>
                  </a:ext>
                </a:extLst>
              </p:cNvPr>
              <p:cNvSpPr/>
              <p:nvPr/>
            </p:nvSpPr>
            <p:spPr>
              <a:xfrm>
                <a:off x="8303417" y="2625343"/>
                <a:ext cx="199881" cy="1671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pic>
            <p:nvPicPr>
              <p:cNvPr id="35" name="Image 34">
                <a:extLst>
                  <a:ext uri="{FF2B5EF4-FFF2-40B4-BE49-F238E27FC236}">
                    <a16:creationId xmlns:a16="http://schemas.microsoft.com/office/drawing/2014/main" id="{E0C6E3C6-8BF2-4422-911E-758DA1A7C2D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319665" y="2634616"/>
                <a:ext cx="167384" cy="161475"/>
              </a:xfrm>
              <a:prstGeom prst="rect">
                <a:avLst/>
              </a:prstGeom>
              <a:solidFill>
                <a:schemeClr val="bg1"/>
              </a:solidFill>
            </p:spPr>
          </p:pic>
        </p:grpSp>
      </p:grpSp>
      <p:graphicFrame>
        <p:nvGraphicFramePr>
          <p:cNvPr id="46" name="Tableau 16">
            <a:extLst>
              <a:ext uri="{FF2B5EF4-FFF2-40B4-BE49-F238E27FC236}">
                <a16:creationId xmlns:a16="http://schemas.microsoft.com/office/drawing/2014/main" id="{A1A89359-9EBD-4BE9-9EE7-2603FE9D0BEF}"/>
              </a:ext>
            </a:extLst>
          </p:cNvPr>
          <p:cNvGraphicFramePr>
            <a:graphicFrameLocks/>
          </p:cNvGraphicFramePr>
          <p:nvPr>
            <p:extLst>
              <p:ext uri="{D42A27DB-BD31-4B8C-83A1-F6EECF244321}">
                <p14:modId xmlns:p14="http://schemas.microsoft.com/office/powerpoint/2010/main" val="2196145695"/>
              </p:ext>
            </p:extLst>
          </p:nvPr>
        </p:nvGraphicFramePr>
        <p:xfrm>
          <a:off x="6961023" y="1821540"/>
          <a:ext cx="4740676" cy="4453998"/>
        </p:xfrm>
        <a:graphic>
          <a:graphicData uri="http://schemas.openxmlformats.org/drawingml/2006/table">
            <a:tbl>
              <a:tblPr firstRow="1" bandRow="1">
                <a:tableStyleId>{5C22544A-7EE6-4342-B048-85BDC9FD1C3A}</a:tableStyleId>
              </a:tblPr>
              <a:tblGrid>
                <a:gridCol w="2370338">
                  <a:extLst>
                    <a:ext uri="{9D8B030D-6E8A-4147-A177-3AD203B41FA5}">
                      <a16:colId xmlns:a16="http://schemas.microsoft.com/office/drawing/2014/main" val="4158832131"/>
                    </a:ext>
                  </a:extLst>
                </a:gridCol>
                <a:gridCol w="2370338">
                  <a:extLst>
                    <a:ext uri="{9D8B030D-6E8A-4147-A177-3AD203B41FA5}">
                      <a16:colId xmlns:a16="http://schemas.microsoft.com/office/drawing/2014/main" val="1576795340"/>
                    </a:ext>
                  </a:extLst>
                </a:gridCol>
              </a:tblGrid>
              <a:tr h="397465">
                <a:tc gridSpan="2">
                  <a:txBody>
                    <a:bodyPr/>
                    <a:lstStyle/>
                    <a:p>
                      <a:r>
                        <a:rPr lang="fr-FR" sz="1200" dirty="0"/>
                        <a:t>Idées de variantes</a:t>
                      </a:r>
                    </a:p>
                  </a:txBody>
                  <a:tcPr/>
                </a:tc>
                <a:tc hMerge="1">
                  <a:txBody>
                    <a:bodyPr/>
                    <a:lstStyle/>
                    <a:p>
                      <a:endParaRPr lang="fr-FR" dirty="0"/>
                    </a:p>
                  </a:txBody>
                  <a:tcPr/>
                </a:tc>
                <a:extLst>
                  <a:ext uri="{0D108BD9-81ED-4DB2-BD59-A6C34878D82A}">
                    <a16:rowId xmlns:a16="http://schemas.microsoft.com/office/drawing/2014/main" val="1636608431"/>
                  </a:ext>
                </a:extLst>
              </a:tr>
              <a:tr h="426541">
                <a:tc>
                  <a:txBody>
                    <a:bodyPr/>
                    <a:lstStyle/>
                    <a:p>
                      <a:pPr marL="0" algn="l" defTabSz="914400" rtl="0" eaLnBrk="1" latinLnBrk="0" hangingPunct="1"/>
                      <a:r>
                        <a:rPr lang="fr-FR" sz="1200" b="1" kern="1200" dirty="0">
                          <a:solidFill>
                            <a:schemeClr val="lt1"/>
                          </a:solidFill>
                          <a:latin typeface="+mn-lt"/>
                          <a:ea typeface="+mn-ea"/>
                          <a:cs typeface="+mn-cs"/>
                        </a:rPr>
                        <a:t>Titre de la variante ou de l’extension</a:t>
                      </a:r>
                    </a:p>
                  </a:txBody>
                  <a:tcPr>
                    <a:solidFill>
                      <a:srgbClr val="0683AA"/>
                    </a:solidFill>
                  </a:tcPr>
                </a:tc>
                <a:tc>
                  <a:txBody>
                    <a:bodyPr/>
                    <a:lstStyle/>
                    <a:p>
                      <a:pPr marL="0" algn="l" defTabSz="914400" rtl="0" eaLnBrk="1" latinLnBrk="0" hangingPunct="1"/>
                      <a:r>
                        <a:rPr lang="fr-FR" sz="1200" b="1" kern="1200" dirty="0">
                          <a:solidFill>
                            <a:schemeClr val="lt1"/>
                          </a:solidFill>
                          <a:latin typeface="+mn-lt"/>
                          <a:ea typeface="+mn-ea"/>
                          <a:cs typeface="+mn-cs"/>
                        </a:rPr>
                        <a:t>Description</a:t>
                      </a:r>
                    </a:p>
                  </a:txBody>
                  <a:tcPr>
                    <a:solidFill>
                      <a:srgbClr val="0683AA"/>
                    </a:solidFill>
                  </a:tcPr>
                </a:tc>
                <a:extLst>
                  <a:ext uri="{0D108BD9-81ED-4DB2-BD59-A6C34878D82A}">
                    <a16:rowId xmlns:a16="http://schemas.microsoft.com/office/drawing/2014/main" val="1323693463"/>
                  </a:ext>
                </a:extLst>
              </a:tr>
              <a:tr h="1602832">
                <a:tc>
                  <a:txBody>
                    <a:bodyPr/>
                    <a:lstStyle/>
                    <a:p>
                      <a:r>
                        <a:rPr lang="fr-FR" sz="1100" b="1" dirty="0">
                          <a:solidFill>
                            <a:srgbClr val="7030A0"/>
                          </a:solidFill>
                          <a:cs typeface="Calibri"/>
                        </a:rPr>
                        <a:t>OUTILS</a:t>
                      </a:r>
                      <a:endParaRPr lang="fr-FR" sz="1100" b="1" dirty="0">
                        <a:solidFill>
                          <a:srgbClr val="7030A0"/>
                        </a:solidFill>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a:t>Au même titre que les cartes </a:t>
                      </a:r>
                      <a:r>
                        <a:rPr lang="fr-FR" sz="1100" b="1">
                          <a:solidFill>
                            <a:srgbClr val="ED7D31"/>
                          </a:solidFill>
                        </a:rPr>
                        <a:t>MEMBRES</a:t>
                      </a:r>
                      <a:r>
                        <a:rPr lang="fr-FR" sz="1100"/>
                        <a:t> et </a:t>
                      </a:r>
                      <a:r>
                        <a:rPr lang="fr-FR" sz="1100" b="1"/>
                        <a:t>PARTIES PRENANTES, </a:t>
                      </a:r>
                      <a:r>
                        <a:rPr lang="fr-FR" sz="1100"/>
                        <a:t>les cartes </a:t>
                      </a:r>
                      <a:r>
                        <a:rPr lang="fr-FR" sz="1100" b="1">
                          <a:solidFill>
                            <a:srgbClr val="7030A0"/>
                          </a:solidFill>
                          <a:cs typeface="Calibri"/>
                        </a:rPr>
                        <a:t>OUTILS</a:t>
                      </a:r>
                      <a:r>
                        <a:rPr lang="fr-FR" sz="1100"/>
                        <a:t> pourraient représenter des outils utilisés par l’équipe (logiciels, machines, …) sur lesquels diverses crises peuvent avoir lieu : </a:t>
                      </a:r>
                      <a:r>
                        <a:rPr lang="fr-FR" sz="1100" i="1"/>
                        <a:t>Panne, perte d’accès, nouvelles mises à jour déroutantes, perte de données, …</a:t>
                      </a:r>
                      <a:endParaRPr lang="fr-FR" sz="1100" i="1" dirty="0"/>
                    </a:p>
                  </a:txBody>
                  <a:tcPr/>
                </a:tc>
                <a:extLst>
                  <a:ext uri="{0D108BD9-81ED-4DB2-BD59-A6C34878D82A}">
                    <a16:rowId xmlns:a16="http://schemas.microsoft.com/office/drawing/2014/main" val="4249539521"/>
                  </a:ext>
                </a:extLst>
              </a:tr>
              <a:tr h="396301">
                <a:tc>
                  <a:txBody>
                    <a:bodyPr/>
                    <a:lstStyle/>
                    <a:p>
                      <a:r>
                        <a:rPr lang="fr-FR" sz="1100" b="1" dirty="0">
                          <a:solidFill>
                            <a:schemeClr val="accent6"/>
                          </a:solidFill>
                        </a:rPr>
                        <a:t>ÉVÉNEMENTS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100" dirty="0"/>
                        <a:t>Au même titre que les cartes </a:t>
                      </a:r>
                      <a:r>
                        <a:rPr lang="fr-FR" sz="1100" b="1" dirty="0">
                          <a:solidFill>
                            <a:srgbClr val="ED7D31"/>
                          </a:solidFill>
                        </a:rPr>
                        <a:t>MEMBRES</a:t>
                      </a:r>
                      <a:r>
                        <a:rPr lang="fr-FR" sz="1100" dirty="0"/>
                        <a:t> et </a:t>
                      </a:r>
                      <a:r>
                        <a:rPr lang="fr-FR" sz="1100" b="1" dirty="0"/>
                        <a:t>PARTIES PRENANTES, </a:t>
                      </a:r>
                      <a:r>
                        <a:rPr lang="fr-FR" sz="1100" dirty="0"/>
                        <a:t>les cartes </a:t>
                      </a:r>
                      <a:r>
                        <a:rPr lang="fr-FR" sz="1100" b="1" dirty="0">
                          <a:solidFill>
                            <a:schemeClr val="accent6"/>
                          </a:solidFill>
                        </a:rPr>
                        <a:t>ÉVÉNEMENTS</a:t>
                      </a:r>
                      <a:r>
                        <a:rPr lang="fr-FR" sz="1100" dirty="0"/>
                        <a:t> peuvent représenter des événements réguliers de l’équipe (réunions récurrentes, sorties, célébrations, …) sur lesquels diverses crises peuvent avoir lieu : </a:t>
                      </a:r>
                      <a:r>
                        <a:rPr lang="fr-FR" sz="1100" i="1" dirty="0"/>
                        <a:t>malaises, conflits, décalages, accidents, …</a:t>
                      </a:r>
                    </a:p>
                  </a:txBody>
                  <a:tcPr/>
                </a:tc>
                <a:extLst>
                  <a:ext uri="{0D108BD9-81ED-4DB2-BD59-A6C34878D82A}">
                    <a16:rowId xmlns:a16="http://schemas.microsoft.com/office/drawing/2014/main" val="1824107877"/>
                  </a:ext>
                </a:extLst>
              </a:tr>
              <a:tr h="396301">
                <a:tc>
                  <a:txBody>
                    <a:bodyPr/>
                    <a:lstStyle/>
                    <a:p>
                      <a:endParaRPr lang="fr-FR" sz="1100" dirty="0"/>
                    </a:p>
                  </a:txBody>
                  <a:tcPr/>
                </a:tc>
                <a:tc>
                  <a:txBody>
                    <a:bodyPr/>
                    <a:lstStyle/>
                    <a:p>
                      <a:endParaRPr lang="fr-FR" sz="1100" dirty="0"/>
                    </a:p>
                  </a:txBody>
                  <a:tcPr/>
                </a:tc>
                <a:extLst>
                  <a:ext uri="{0D108BD9-81ED-4DB2-BD59-A6C34878D82A}">
                    <a16:rowId xmlns:a16="http://schemas.microsoft.com/office/drawing/2014/main" val="1035027814"/>
                  </a:ext>
                </a:extLst>
              </a:tr>
            </a:tbl>
          </a:graphicData>
        </a:graphic>
      </p:graphicFrame>
      <p:graphicFrame>
        <p:nvGraphicFramePr>
          <p:cNvPr id="47" name="Tableau 4">
            <a:extLst>
              <a:ext uri="{FF2B5EF4-FFF2-40B4-BE49-F238E27FC236}">
                <a16:creationId xmlns:a16="http://schemas.microsoft.com/office/drawing/2014/main" id="{E532220D-FB7A-4D58-94AD-62D5519F5AAE}"/>
              </a:ext>
            </a:extLst>
          </p:cNvPr>
          <p:cNvGraphicFramePr>
            <a:graphicFrameLocks/>
          </p:cNvGraphicFramePr>
          <p:nvPr>
            <p:extLst>
              <p:ext uri="{D42A27DB-BD31-4B8C-83A1-F6EECF244321}">
                <p14:modId xmlns:p14="http://schemas.microsoft.com/office/powerpoint/2010/main" val="723749164"/>
              </p:ext>
            </p:extLst>
          </p:nvPr>
        </p:nvGraphicFramePr>
        <p:xfrm>
          <a:off x="362762" y="1821540"/>
          <a:ext cx="6191648" cy="3119120"/>
        </p:xfrm>
        <a:graphic>
          <a:graphicData uri="http://schemas.openxmlformats.org/drawingml/2006/table">
            <a:tbl>
              <a:tblPr firstRow="1" bandRow="1">
                <a:tableStyleId>{21E4AEA4-8DFA-4A89-87EB-49C32662AFE0}</a:tableStyleId>
              </a:tblPr>
              <a:tblGrid>
                <a:gridCol w="720314">
                  <a:extLst>
                    <a:ext uri="{9D8B030D-6E8A-4147-A177-3AD203B41FA5}">
                      <a16:colId xmlns:a16="http://schemas.microsoft.com/office/drawing/2014/main" val="3807656759"/>
                    </a:ext>
                  </a:extLst>
                </a:gridCol>
                <a:gridCol w="1198485">
                  <a:extLst>
                    <a:ext uri="{9D8B030D-6E8A-4147-A177-3AD203B41FA5}">
                      <a16:colId xmlns:a16="http://schemas.microsoft.com/office/drawing/2014/main" val="2648948851"/>
                    </a:ext>
                  </a:extLst>
                </a:gridCol>
                <a:gridCol w="1047565">
                  <a:extLst>
                    <a:ext uri="{9D8B030D-6E8A-4147-A177-3AD203B41FA5}">
                      <a16:colId xmlns:a16="http://schemas.microsoft.com/office/drawing/2014/main" val="285982558"/>
                    </a:ext>
                  </a:extLst>
                </a:gridCol>
                <a:gridCol w="3225284">
                  <a:extLst>
                    <a:ext uri="{9D8B030D-6E8A-4147-A177-3AD203B41FA5}">
                      <a16:colId xmlns:a16="http://schemas.microsoft.com/office/drawing/2014/main" val="1267208164"/>
                    </a:ext>
                  </a:extLst>
                </a:gridCol>
              </a:tblGrid>
              <a:tr h="370840">
                <a:tc gridSpan="4">
                  <a:txBody>
                    <a:bodyPr/>
                    <a:lstStyle/>
                    <a:p>
                      <a:r>
                        <a:rPr lang="fr-FR" sz="1200" dirty="0"/>
                        <a:t>Historique des versions</a:t>
                      </a:r>
                    </a:p>
                  </a:txBody>
                  <a:tcPr/>
                </a:tc>
                <a:tc hMerge="1">
                  <a:txBody>
                    <a:bodyPr/>
                    <a:lstStyle/>
                    <a:p>
                      <a:endParaRPr lang="fr-FR" sz="1200"/>
                    </a:p>
                  </a:txBody>
                  <a:tcPr/>
                </a:tc>
                <a:tc hMerge="1">
                  <a:txBody>
                    <a:bodyPr/>
                    <a:lstStyle/>
                    <a:p>
                      <a:endParaRPr lang="fr-FR" sz="1200" dirty="0"/>
                    </a:p>
                  </a:txBody>
                  <a:tcPr/>
                </a:tc>
                <a:tc hMerge="1">
                  <a:txBody>
                    <a:bodyPr/>
                    <a:lstStyle/>
                    <a:p>
                      <a:endParaRPr lang="fr-FR" sz="1200" dirty="0"/>
                    </a:p>
                  </a:txBody>
                  <a:tcPr/>
                </a:tc>
                <a:extLst>
                  <a:ext uri="{0D108BD9-81ED-4DB2-BD59-A6C34878D82A}">
                    <a16:rowId xmlns:a16="http://schemas.microsoft.com/office/drawing/2014/main" val="2987021370"/>
                  </a:ext>
                </a:extLst>
              </a:tr>
              <a:tr h="370840">
                <a:tc>
                  <a:txBody>
                    <a:bodyPr/>
                    <a:lstStyle/>
                    <a:p>
                      <a:r>
                        <a:rPr lang="fr-FR" sz="1200" b="1" kern="1200">
                          <a:solidFill>
                            <a:schemeClr val="lt1"/>
                          </a:solidFill>
                          <a:latin typeface="+mn-lt"/>
                          <a:ea typeface="+mn-ea"/>
                          <a:cs typeface="+mn-cs"/>
                        </a:rPr>
                        <a:t>Version </a:t>
                      </a:r>
                    </a:p>
                  </a:txBody>
                  <a:tcPr>
                    <a:solidFill>
                      <a:srgbClr val="ED7D31"/>
                    </a:solidFill>
                  </a:tcPr>
                </a:tc>
                <a:tc>
                  <a:txBody>
                    <a:bodyPr/>
                    <a:lstStyle/>
                    <a:p>
                      <a:r>
                        <a:rPr lang="fr-FR" sz="1200" b="1" kern="1200">
                          <a:solidFill>
                            <a:schemeClr val="lt1"/>
                          </a:solidFill>
                          <a:latin typeface="+mn-lt"/>
                          <a:ea typeface="+mn-ea"/>
                          <a:cs typeface="+mn-cs"/>
                        </a:rPr>
                        <a:t>Contributeurs</a:t>
                      </a:r>
                    </a:p>
                  </a:txBody>
                  <a:tcPr>
                    <a:solidFill>
                      <a:srgbClr val="ED7D31"/>
                    </a:solidFill>
                  </a:tcPr>
                </a:tc>
                <a:tc>
                  <a:txBody>
                    <a:bodyPr/>
                    <a:lstStyle/>
                    <a:p>
                      <a:r>
                        <a:rPr lang="fr-FR" sz="1200" b="1" kern="1200" dirty="0">
                          <a:solidFill>
                            <a:schemeClr val="lt1"/>
                          </a:solidFill>
                          <a:latin typeface="+mn-lt"/>
                          <a:ea typeface="+mn-ea"/>
                          <a:cs typeface="+mn-cs"/>
                        </a:rPr>
                        <a:t>Licence</a:t>
                      </a:r>
                    </a:p>
                  </a:txBody>
                  <a:tcPr>
                    <a:solidFill>
                      <a:srgbClr val="ED7D31"/>
                    </a:solidFill>
                  </a:tcPr>
                </a:tc>
                <a:tc>
                  <a:txBody>
                    <a:bodyPr/>
                    <a:lstStyle/>
                    <a:p>
                      <a:r>
                        <a:rPr lang="fr-FR" sz="1200" b="1" kern="1200" dirty="0">
                          <a:solidFill>
                            <a:schemeClr val="lt1"/>
                          </a:solidFill>
                          <a:latin typeface="+mn-lt"/>
                          <a:ea typeface="+mn-ea"/>
                          <a:cs typeface="+mn-cs"/>
                        </a:rPr>
                        <a:t>Commentaires</a:t>
                      </a:r>
                    </a:p>
                  </a:txBody>
                  <a:tcPr>
                    <a:solidFill>
                      <a:srgbClr val="ED7D31"/>
                    </a:solidFill>
                  </a:tcPr>
                </a:tc>
                <a:extLst>
                  <a:ext uri="{0D108BD9-81ED-4DB2-BD59-A6C34878D82A}">
                    <a16:rowId xmlns:a16="http://schemas.microsoft.com/office/drawing/2014/main" val="748113296"/>
                  </a:ext>
                </a:extLst>
              </a:tr>
              <a:tr h="370840">
                <a:tc>
                  <a:txBody>
                    <a:bodyPr/>
                    <a:lstStyle/>
                    <a:p>
                      <a:r>
                        <a:rPr lang="fr-FR" sz="1200" dirty="0"/>
                        <a:t>1.0</a:t>
                      </a:r>
                    </a:p>
                  </a:txBody>
                  <a:tcPr/>
                </a:tc>
                <a:tc>
                  <a:txBody>
                    <a:bodyPr/>
                    <a:lstStyle/>
                    <a:p>
                      <a:r>
                        <a:rPr lang="fr-FR" sz="1200" dirty="0"/>
                        <a:t>Alexandre QUACH</a:t>
                      </a:r>
                    </a:p>
                  </a:txBody>
                  <a:tcPr/>
                </a:tc>
                <a:tc>
                  <a:txBody>
                    <a:bodyPr/>
                    <a:lstStyle/>
                    <a:p>
                      <a:r>
                        <a:rPr lang="fr-FR" sz="1200" dirty="0"/>
                        <a:t>CC-BY-3.0</a:t>
                      </a:r>
                    </a:p>
                  </a:txBody>
                  <a:tcPr/>
                </a:tc>
                <a:tc>
                  <a:txBody>
                    <a:bodyPr/>
                    <a:lstStyle/>
                    <a:p>
                      <a:r>
                        <a:rPr lang="fr-FR" sz="1200" dirty="0"/>
                        <a:t>Version de départ</a:t>
                      </a:r>
                    </a:p>
                  </a:txBody>
                  <a:tcPr/>
                </a:tc>
                <a:extLst>
                  <a:ext uri="{0D108BD9-81ED-4DB2-BD59-A6C34878D82A}">
                    <a16:rowId xmlns:a16="http://schemas.microsoft.com/office/drawing/2014/main" val="2337500579"/>
                  </a:ext>
                </a:extLst>
              </a:tr>
              <a:tr h="370840">
                <a:tc>
                  <a:txBody>
                    <a:bodyPr/>
                    <a:lstStyle/>
                    <a:p>
                      <a:r>
                        <a:rPr lang="fr-FR" sz="1200" dirty="0"/>
                        <a:t>1.1</a:t>
                      </a:r>
                    </a:p>
                  </a:txBody>
                  <a:tcPr/>
                </a:tc>
                <a:tc>
                  <a:txBody>
                    <a:bodyPr/>
                    <a:lstStyle/>
                    <a:p>
                      <a:r>
                        <a:rPr lang="fr-FR" sz="1200" dirty="0"/>
                        <a:t>Alexandre QUACH</a:t>
                      </a:r>
                    </a:p>
                    <a:p>
                      <a:r>
                        <a:rPr lang="fr-FR" sz="1200"/>
                        <a:t>Michael OLIERIC</a:t>
                      </a:r>
                      <a:endParaRPr lang="fr-FR" sz="1200" dirty="0"/>
                    </a:p>
                    <a:p>
                      <a:r>
                        <a:rPr lang="fr-FR" sz="1200" dirty="0"/>
                        <a:t>Bruno CHASSAGNE</a:t>
                      </a:r>
                    </a:p>
                  </a:txBody>
                  <a:tcPr/>
                </a:tc>
                <a:tc>
                  <a:txBody>
                    <a:bodyPr/>
                    <a:lstStyle/>
                    <a:p>
                      <a:r>
                        <a:rPr lang="fr-FR" sz="1200" dirty="0"/>
                        <a:t>CC-BY-3.0</a:t>
                      </a:r>
                    </a:p>
                  </a:txBody>
                  <a:tcPr/>
                </a:tc>
                <a:tc>
                  <a:txBody>
                    <a:bodyPr/>
                    <a:lstStyle/>
                    <a:p>
                      <a:r>
                        <a:rPr lang="fr-FR" sz="1200" dirty="0"/>
                        <a:t>Ajout des cartes et crises </a:t>
                      </a:r>
                      <a:r>
                        <a:rPr lang="fr-FR" sz="1200" b="1" dirty="0">
                          <a:solidFill>
                            <a:srgbClr val="7030A0"/>
                          </a:solidFill>
                          <a:cs typeface="Calibri"/>
                        </a:rPr>
                        <a:t>OUTILS</a:t>
                      </a:r>
                      <a:r>
                        <a:rPr lang="fr-FR" sz="1200" dirty="0"/>
                        <a:t> et </a:t>
                      </a:r>
                      <a:r>
                        <a:rPr lang="fr-FR" sz="1200" b="1" dirty="0">
                          <a:solidFill>
                            <a:schemeClr val="accent6"/>
                          </a:solidFill>
                        </a:rPr>
                        <a:t>ÉVÉNEMENTS</a:t>
                      </a:r>
                      <a:endParaRPr lang="fr-FR" sz="1200" dirty="0"/>
                    </a:p>
                  </a:txBody>
                  <a:tcPr/>
                </a:tc>
                <a:extLst>
                  <a:ext uri="{0D108BD9-81ED-4DB2-BD59-A6C34878D82A}">
                    <a16:rowId xmlns:a16="http://schemas.microsoft.com/office/drawing/2014/main" val="3565347869"/>
                  </a:ext>
                </a:extLst>
              </a:tr>
              <a:tr h="370840">
                <a:tc>
                  <a:txBody>
                    <a:bodyPr/>
                    <a:lstStyle/>
                    <a:p>
                      <a:r>
                        <a:rPr lang="fr-FR" sz="1200" dirty="0"/>
                        <a:t>1.2</a:t>
                      </a:r>
                    </a:p>
                  </a:txBody>
                  <a:tcPr/>
                </a:tc>
                <a:tc>
                  <a:txBody>
                    <a:bodyPr/>
                    <a:lstStyle/>
                    <a:p>
                      <a:r>
                        <a:rPr lang="fr-FR" sz="1200" dirty="0"/>
                        <a:t>Alexandre QUACH</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FR" sz="1200" dirty="0"/>
                        <a:t>CC-BY-3.0</a:t>
                      </a:r>
                    </a:p>
                    <a:p>
                      <a:endParaRPr lang="fr-FR" sz="1200" dirty="0"/>
                    </a:p>
                  </a:txBody>
                  <a:tcPr/>
                </a:tc>
                <a:tc>
                  <a:txBody>
                    <a:bodyPr/>
                    <a:lstStyle/>
                    <a:p>
                      <a:r>
                        <a:rPr lang="fr-FR" sz="1200" dirty="0"/>
                        <a:t>Améliorations mineures, corrections</a:t>
                      </a:r>
                    </a:p>
                  </a:txBody>
                  <a:tcPr/>
                </a:tc>
                <a:extLst>
                  <a:ext uri="{0D108BD9-81ED-4DB2-BD59-A6C34878D82A}">
                    <a16:rowId xmlns:a16="http://schemas.microsoft.com/office/drawing/2014/main" val="26495474"/>
                  </a:ext>
                </a:extLst>
              </a:tr>
              <a:tr h="370840">
                <a:tc>
                  <a:txBody>
                    <a:bodyPr/>
                    <a:lstStyle/>
                    <a:p>
                      <a:r>
                        <a:rPr lang="fr-FR" sz="1200" dirty="0"/>
                        <a:t>1.2.1</a:t>
                      </a:r>
                    </a:p>
                  </a:txBody>
                  <a:tcPr/>
                </a:tc>
                <a:tc>
                  <a:txBody>
                    <a:bodyPr/>
                    <a:lstStyle/>
                    <a:p>
                      <a:r>
                        <a:rPr lang="fr-FR" sz="1200" dirty="0"/>
                        <a:t>Alexandre QUACH</a:t>
                      </a:r>
                    </a:p>
                  </a:txBody>
                  <a:tcPr/>
                </a:tc>
                <a:tc>
                  <a:txBody>
                    <a:bodyPr/>
                    <a:lstStyle/>
                    <a:p>
                      <a:r>
                        <a:rPr lang="fr-FR" sz="1200" dirty="0"/>
                        <a:t>CC-BY-3.0</a:t>
                      </a:r>
                    </a:p>
                  </a:txBody>
                  <a:tcPr/>
                </a:tc>
                <a:tc>
                  <a:txBody>
                    <a:bodyPr/>
                    <a:lstStyle/>
                    <a:p>
                      <a:r>
                        <a:rPr lang="fr-FR" sz="1200" dirty="0"/>
                        <a:t>Extension - Edition spéciale fêtes</a:t>
                      </a:r>
                    </a:p>
                  </a:txBody>
                  <a:tcPr/>
                </a:tc>
                <a:extLst>
                  <a:ext uri="{0D108BD9-81ED-4DB2-BD59-A6C34878D82A}">
                    <a16:rowId xmlns:a16="http://schemas.microsoft.com/office/drawing/2014/main" val="3632454121"/>
                  </a:ext>
                </a:extLst>
              </a:tr>
            </a:tbl>
          </a:graphicData>
        </a:graphic>
      </p:graphicFrame>
    </p:spTree>
    <p:extLst>
      <p:ext uri="{BB962C8B-B14F-4D97-AF65-F5344CB8AC3E}">
        <p14:creationId xmlns:p14="http://schemas.microsoft.com/office/powerpoint/2010/main" val="25453770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Image 3">
            <a:extLst>
              <a:ext uri="{FF2B5EF4-FFF2-40B4-BE49-F238E27FC236}">
                <a16:creationId xmlns:a16="http://schemas.microsoft.com/office/drawing/2014/main" id="{0BE2FA02-8970-4398-BAE0-CBF3D19A387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09437" y="643466"/>
            <a:ext cx="5773125" cy="5571067"/>
          </a:xfrm>
          <a:prstGeom prst="rect">
            <a:avLst/>
          </a:prstGeom>
        </p:spPr>
      </p:pic>
      <p:sp>
        <p:nvSpPr>
          <p:cNvPr id="5" name="ZoneTexte 4">
            <a:extLst>
              <a:ext uri="{FF2B5EF4-FFF2-40B4-BE49-F238E27FC236}">
                <a16:creationId xmlns:a16="http://schemas.microsoft.com/office/drawing/2014/main" id="{57CDFAEC-DCF0-41F3-BC5D-210D5E342199}"/>
              </a:ext>
            </a:extLst>
          </p:cNvPr>
          <p:cNvSpPr txBox="1"/>
          <p:nvPr/>
        </p:nvSpPr>
        <p:spPr>
          <a:xfrm>
            <a:off x="1988598" y="5891367"/>
            <a:ext cx="7572652" cy="646331"/>
          </a:xfrm>
          <a:prstGeom prst="rect">
            <a:avLst/>
          </a:prstGeom>
          <a:noFill/>
        </p:spPr>
        <p:txBody>
          <a:bodyPr wrap="square" rtlCol="0">
            <a:spAutoFit/>
          </a:bodyPr>
          <a:lstStyle/>
          <a:p>
            <a:pPr algn="ctr"/>
            <a:r>
              <a:rPr lang="fr-FR" sz="3600" b="1" i="1" dirty="0">
                <a:solidFill>
                  <a:srgbClr val="0683AA"/>
                </a:solidFill>
              </a:rPr>
              <a:t>A vous de jouer, à vous de transmettre</a:t>
            </a:r>
          </a:p>
        </p:txBody>
      </p:sp>
    </p:spTree>
    <p:extLst>
      <p:ext uri="{BB962C8B-B14F-4D97-AF65-F5344CB8AC3E}">
        <p14:creationId xmlns:p14="http://schemas.microsoft.com/office/powerpoint/2010/main" val="2150541220"/>
      </p:ext>
    </p:extLst>
  </p:cSld>
  <p:clrMapOvr>
    <a:masterClrMapping/>
  </p:clrMapOvr>
  <mc:AlternateContent xmlns:mc="http://schemas.openxmlformats.org/markup-compatibility/2006" xmlns:p14="http://schemas.microsoft.com/office/powerpoint/2010/main">
    <mc:Choice Requires="p14">
      <p:transition spd="slow" p14:dur="2000" advTm="22592"/>
    </mc:Choice>
    <mc:Fallback xmlns="">
      <p:transition spd="slow" advTm="22592"/>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ous-titre 4">
            <a:extLst>
              <a:ext uri="{FF2B5EF4-FFF2-40B4-BE49-F238E27FC236}">
                <a16:creationId xmlns:a16="http://schemas.microsoft.com/office/drawing/2014/main" id="{C81840B2-81D3-4FDF-B694-BE75518C7882}"/>
              </a:ext>
            </a:extLst>
          </p:cNvPr>
          <p:cNvSpPr>
            <a:spLocks noGrp="1"/>
          </p:cNvSpPr>
          <p:nvPr>
            <p:ph type="subTitle" idx="1"/>
          </p:nvPr>
        </p:nvSpPr>
        <p:spPr/>
        <p:txBody>
          <a:bodyPr>
            <a:normAutofit fontScale="77500" lnSpcReduction="20000"/>
          </a:bodyPr>
          <a:lstStyle/>
          <a:p>
            <a:endParaRPr lang="fr-FR" dirty="0"/>
          </a:p>
          <a:p>
            <a:r>
              <a:rPr lang="fr-FR" dirty="0"/>
              <a:t>Matériel de jeu éditable, inventez vos propres crises !</a:t>
            </a:r>
          </a:p>
          <a:p>
            <a:endParaRPr lang="fr-FR" dirty="0"/>
          </a:p>
          <a:p>
            <a:r>
              <a:rPr lang="fr-FR" dirty="0"/>
              <a:t>Les pages sont mises les unes à la suite des autres </a:t>
            </a:r>
          </a:p>
          <a:p>
            <a:r>
              <a:rPr lang="fr-FR" dirty="0"/>
              <a:t>pour pouvoir imprimer en Recto Verso</a:t>
            </a:r>
          </a:p>
        </p:txBody>
      </p:sp>
      <p:sp>
        <p:nvSpPr>
          <p:cNvPr id="6" name="Titre 1">
            <a:extLst>
              <a:ext uri="{FF2B5EF4-FFF2-40B4-BE49-F238E27FC236}">
                <a16:creationId xmlns:a16="http://schemas.microsoft.com/office/drawing/2014/main" id="{1AADF149-3465-41EC-8DE5-A2B73ADC75D2}"/>
              </a:ext>
            </a:extLst>
          </p:cNvPr>
          <p:cNvSpPr txBox="1">
            <a:spLocks noGrp="1"/>
          </p:cNvSpPr>
          <p:nvPr>
            <p:ph type="ctrTitle"/>
          </p:nvPr>
        </p:nvSpPr>
        <p:spPr>
          <a:xfrm>
            <a:off x="1524000" y="1122363"/>
            <a:ext cx="9144000" cy="2387600"/>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3200" b="0" dirty="0"/>
              <a:t>💪ROBUSTEAM</a:t>
            </a:r>
            <a:br>
              <a:rPr lang="fr-FR" sz="3200" dirty="0"/>
            </a:br>
            <a:r>
              <a:rPr lang="fr-FR" sz="3200" dirty="0"/>
              <a:t>Jeu de base</a:t>
            </a:r>
            <a:br>
              <a:rPr lang="fr-FR" sz="3200" dirty="0"/>
            </a:br>
            <a:r>
              <a:rPr lang="fr-FR" sz="3200" dirty="0"/>
              <a:t>Cartes à imprimer ou à extraire en images</a:t>
            </a:r>
          </a:p>
        </p:txBody>
      </p:sp>
    </p:spTree>
    <p:extLst>
      <p:ext uri="{BB962C8B-B14F-4D97-AF65-F5344CB8AC3E}">
        <p14:creationId xmlns:p14="http://schemas.microsoft.com/office/powerpoint/2010/main" val="40296301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dirty="0">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dirty="0">
                <a:solidFill>
                  <a:schemeClr val="bg1"/>
                </a:solidFill>
              </a:rPr>
              <a:t>💪</a:t>
            </a:r>
            <a:endParaRPr lang="en-US" sz="48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Tree>
    <p:extLst>
      <p:ext uri="{BB962C8B-B14F-4D97-AF65-F5344CB8AC3E}">
        <p14:creationId xmlns:p14="http://schemas.microsoft.com/office/powerpoint/2010/main" val="21891902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dirty="0">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dirty="0">
                <a:solidFill>
                  <a:schemeClr val="bg1"/>
                </a:solidFill>
              </a:rPr>
              <a:t>💪</a:t>
            </a:r>
            <a:endParaRPr lang="en-US" sz="48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dirty="0">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dirty="0">
                <a:solidFill>
                  <a:schemeClr val="bg1"/>
                </a:solidFill>
              </a:rPr>
              <a:t>💪</a:t>
            </a:r>
            <a:endParaRPr lang="en-US" sz="48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2" name="Rectangle 1">
            <a:extLst>
              <a:ext uri="{FF2B5EF4-FFF2-40B4-BE49-F238E27FC236}">
                <a16:creationId xmlns:a16="http://schemas.microsoft.com/office/drawing/2014/main" id="{C5F1EB68-34C6-4752-AF99-DCB418FFD73E}"/>
              </a:ext>
            </a:extLst>
          </p:cNvPr>
          <p:cNvSpPr/>
          <p:nvPr/>
        </p:nvSpPr>
        <p:spPr>
          <a:xfrm>
            <a:off x="1301319"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b="1" dirty="0">
                <a:solidFill>
                  <a:schemeClr val="bg1"/>
                </a:solidFill>
              </a:rPr>
              <a:t>⚖️</a:t>
            </a:r>
          </a:p>
          <a:p>
            <a:pPr algn="ctr"/>
            <a:r>
              <a:rPr lang="fr-FR" sz="2400" b="1" dirty="0">
                <a:solidFill>
                  <a:srgbClr val="0683AA"/>
                </a:solidFill>
              </a:rPr>
              <a:t>DESTIN</a:t>
            </a:r>
          </a:p>
          <a:p>
            <a:pPr algn="ctr"/>
            <a:endParaRPr lang="fr-FR" sz="2400" b="1" dirty="0">
              <a:solidFill>
                <a:srgbClr val="0683AA"/>
              </a:solidFill>
            </a:endParaRPr>
          </a:p>
          <a:p>
            <a:pPr algn="ctr"/>
            <a:r>
              <a:rPr lang="fr-FR" sz="1200" dirty="0">
                <a:solidFill>
                  <a:srgbClr val="0683AA"/>
                </a:solidFill>
              </a:rPr>
              <a:t>Votez </a:t>
            </a:r>
            <a:r>
              <a:rPr lang="fr-FR" sz="1200" b="0" dirty="0">
                <a:solidFill>
                  <a:srgbClr val="0683AA"/>
                </a:solidFill>
              </a:rPr>
              <a:t>👍 ou 👎 pour la solution proposée par</a:t>
            </a:r>
            <a:r>
              <a:rPr lang="fr-FR" sz="1200" b="0" dirty="0"/>
              <a:t> </a:t>
            </a:r>
            <a:r>
              <a:rPr lang="fr-FR" sz="1200" b="1" dirty="0">
                <a:solidFill>
                  <a:srgbClr val="0683AA"/>
                </a:solidFill>
              </a:rPr>
              <a:t>💪ROBUSTEAM</a:t>
            </a:r>
            <a:r>
              <a:rPr lang="fr-FR" sz="1200" dirty="0">
                <a:solidFill>
                  <a:srgbClr val="0683AA"/>
                </a:solidFill>
              </a:rPr>
              <a:t>. Expliquez votre vote rapidement.</a:t>
            </a:r>
            <a:r>
              <a:rPr lang="fr-FR" sz="1200" b="0" dirty="0">
                <a:solidFill>
                  <a:srgbClr val="0683AA"/>
                </a:solidFill>
              </a:rPr>
              <a:t> </a:t>
            </a:r>
            <a:endParaRPr lang="fr-FR" sz="1200" dirty="0">
              <a:solidFill>
                <a:srgbClr val="0683AA"/>
              </a:solidFill>
            </a:endParaRPr>
          </a:p>
        </p:txBody>
      </p:sp>
      <p:sp>
        <p:nvSpPr>
          <p:cNvPr id="13" name="Rectangle 12">
            <a:extLst>
              <a:ext uri="{FF2B5EF4-FFF2-40B4-BE49-F238E27FC236}">
                <a16:creationId xmlns:a16="http://schemas.microsoft.com/office/drawing/2014/main" id="{F06FA9C9-285B-4574-83BA-4B29EEC65262}"/>
              </a:ext>
            </a:extLst>
          </p:cNvPr>
          <p:cNvSpPr/>
          <p:nvPr/>
        </p:nvSpPr>
        <p:spPr>
          <a:xfrm>
            <a:off x="1293920" y="3715305"/>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b="1" dirty="0">
                <a:solidFill>
                  <a:schemeClr val="bg1"/>
                </a:solidFill>
              </a:rPr>
              <a:t>⚖️</a:t>
            </a:r>
          </a:p>
          <a:p>
            <a:pPr algn="ctr"/>
            <a:r>
              <a:rPr lang="fr-FR" sz="2400" b="1" dirty="0">
                <a:solidFill>
                  <a:srgbClr val="0683AA"/>
                </a:solidFill>
              </a:rPr>
              <a:t>DESTIN</a:t>
            </a:r>
          </a:p>
          <a:p>
            <a:pPr algn="ctr"/>
            <a:endParaRPr lang="fr-FR" sz="2400" b="1" dirty="0">
              <a:solidFill>
                <a:srgbClr val="0683AA"/>
              </a:solidFill>
            </a:endParaRPr>
          </a:p>
          <a:p>
            <a:pPr algn="ctr"/>
            <a:r>
              <a:rPr lang="fr-FR" sz="1200" dirty="0">
                <a:solidFill>
                  <a:srgbClr val="0683AA"/>
                </a:solidFill>
              </a:rPr>
              <a:t>Votez </a:t>
            </a:r>
            <a:r>
              <a:rPr lang="fr-FR" sz="1200" b="0" dirty="0">
                <a:solidFill>
                  <a:srgbClr val="0683AA"/>
                </a:solidFill>
              </a:rPr>
              <a:t>👍 ou 👎 pour la solution proposée par</a:t>
            </a:r>
            <a:r>
              <a:rPr lang="fr-FR" sz="1200" b="0" dirty="0"/>
              <a:t> </a:t>
            </a:r>
            <a:r>
              <a:rPr lang="fr-FR" sz="1200" b="1" dirty="0">
                <a:solidFill>
                  <a:srgbClr val="0683AA"/>
                </a:solidFill>
              </a:rPr>
              <a:t>💪ROBUSTEAM</a:t>
            </a:r>
            <a:r>
              <a:rPr lang="fr-FR" sz="1200" dirty="0">
                <a:solidFill>
                  <a:srgbClr val="0683AA"/>
                </a:solidFill>
              </a:rPr>
              <a:t>. Expliquez votre vote rapidement.</a:t>
            </a:r>
            <a:r>
              <a:rPr lang="fr-FR" sz="1200" b="0" dirty="0">
                <a:solidFill>
                  <a:srgbClr val="0683AA"/>
                </a:solidFill>
              </a:rPr>
              <a:t> </a:t>
            </a:r>
            <a:endParaRPr lang="fr-FR" sz="1200" dirty="0">
              <a:solidFill>
                <a:srgbClr val="0683AA"/>
              </a:solidFill>
            </a:endParaRPr>
          </a:p>
        </p:txBody>
      </p:sp>
      <p:sp>
        <p:nvSpPr>
          <p:cNvPr id="14" name="Rectangle 13">
            <a:extLst>
              <a:ext uri="{FF2B5EF4-FFF2-40B4-BE49-F238E27FC236}">
                <a16:creationId xmlns:a16="http://schemas.microsoft.com/office/drawing/2014/main" id="{FF885AA0-882D-4976-A365-03ED4D0F1A84}"/>
              </a:ext>
            </a:extLst>
          </p:cNvPr>
          <p:cNvSpPr/>
          <p:nvPr/>
        </p:nvSpPr>
        <p:spPr>
          <a:xfrm>
            <a:off x="3840333"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b="1" dirty="0">
                <a:solidFill>
                  <a:schemeClr val="bg1"/>
                </a:solidFill>
              </a:rPr>
              <a:t>⚖️</a:t>
            </a:r>
          </a:p>
          <a:p>
            <a:pPr algn="ctr"/>
            <a:r>
              <a:rPr lang="fr-FR" sz="2400" b="1" dirty="0">
                <a:solidFill>
                  <a:srgbClr val="0683AA"/>
                </a:solidFill>
              </a:rPr>
              <a:t>DESTIN</a:t>
            </a:r>
          </a:p>
          <a:p>
            <a:pPr algn="ctr"/>
            <a:endParaRPr lang="fr-FR" sz="2400" b="1" dirty="0">
              <a:solidFill>
                <a:srgbClr val="0683AA"/>
              </a:solidFill>
            </a:endParaRPr>
          </a:p>
          <a:p>
            <a:pPr algn="ctr"/>
            <a:r>
              <a:rPr lang="fr-FR" sz="1200" dirty="0">
                <a:solidFill>
                  <a:srgbClr val="0683AA"/>
                </a:solidFill>
              </a:rPr>
              <a:t>Votez </a:t>
            </a:r>
            <a:r>
              <a:rPr lang="fr-FR" sz="1200" b="0" dirty="0">
                <a:solidFill>
                  <a:srgbClr val="0683AA"/>
                </a:solidFill>
              </a:rPr>
              <a:t>👍 ou 👎 pour la solution proposée par</a:t>
            </a:r>
            <a:r>
              <a:rPr lang="fr-FR" sz="1200" b="0" dirty="0"/>
              <a:t> </a:t>
            </a:r>
            <a:r>
              <a:rPr lang="fr-FR" sz="1200" b="1" dirty="0">
                <a:solidFill>
                  <a:srgbClr val="0683AA"/>
                </a:solidFill>
              </a:rPr>
              <a:t>💪ROBUSTEAM</a:t>
            </a:r>
            <a:r>
              <a:rPr lang="fr-FR" sz="1200" dirty="0">
                <a:solidFill>
                  <a:srgbClr val="0683AA"/>
                </a:solidFill>
              </a:rPr>
              <a:t>. Expliquez votre vote rapidement.</a:t>
            </a:r>
            <a:r>
              <a:rPr lang="fr-FR" sz="1200" b="0" dirty="0">
                <a:solidFill>
                  <a:srgbClr val="0683AA"/>
                </a:solidFill>
              </a:rPr>
              <a:t> </a:t>
            </a:r>
            <a:endParaRPr lang="fr-FR" sz="1200" dirty="0">
              <a:solidFill>
                <a:srgbClr val="0683AA"/>
              </a:solidFill>
            </a:endParaRPr>
          </a:p>
        </p:txBody>
      </p:sp>
      <p:sp>
        <p:nvSpPr>
          <p:cNvPr id="15" name="Rectangle 14">
            <a:extLst>
              <a:ext uri="{FF2B5EF4-FFF2-40B4-BE49-F238E27FC236}">
                <a16:creationId xmlns:a16="http://schemas.microsoft.com/office/drawing/2014/main" id="{18F1A461-CD41-4030-A273-601219A96201}"/>
              </a:ext>
            </a:extLst>
          </p:cNvPr>
          <p:cNvSpPr/>
          <p:nvPr/>
        </p:nvSpPr>
        <p:spPr>
          <a:xfrm>
            <a:off x="3832934" y="3715305"/>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b="1" dirty="0">
                <a:solidFill>
                  <a:schemeClr val="bg1"/>
                </a:solidFill>
              </a:rPr>
              <a:t>⚖️</a:t>
            </a:r>
          </a:p>
          <a:p>
            <a:pPr algn="ctr"/>
            <a:r>
              <a:rPr lang="fr-FR" sz="2400" b="1" dirty="0">
                <a:solidFill>
                  <a:srgbClr val="0683AA"/>
                </a:solidFill>
              </a:rPr>
              <a:t>DESTIN</a:t>
            </a:r>
          </a:p>
          <a:p>
            <a:pPr algn="ctr"/>
            <a:endParaRPr lang="fr-FR" sz="2400" b="1" dirty="0">
              <a:solidFill>
                <a:srgbClr val="0683AA"/>
              </a:solidFill>
            </a:endParaRPr>
          </a:p>
          <a:p>
            <a:pPr algn="ctr"/>
            <a:r>
              <a:rPr lang="fr-FR" sz="1200" dirty="0">
                <a:solidFill>
                  <a:srgbClr val="0683AA"/>
                </a:solidFill>
              </a:rPr>
              <a:t>Votez </a:t>
            </a:r>
            <a:r>
              <a:rPr lang="fr-FR" sz="1200" b="0" dirty="0">
                <a:solidFill>
                  <a:srgbClr val="0683AA"/>
                </a:solidFill>
              </a:rPr>
              <a:t>👍 ou 👎 pour la solution proposée par</a:t>
            </a:r>
            <a:r>
              <a:rPr lang="fr-FR" sz="1200" b="0" dirty="0"/>
              <a:t> </a:t>
            </a:r>
            <a:r>
              <a:rPr lang="fr-FR" sz="1200" b="1" dirty="0">
                <a:solidFill>
                  <a:srgbClr val="0683AA"/>
                </a:solidFill>
              </a:rPr>
              <a:t>💪ROBUSTEAM</a:t>
            </a:r>
            <a:r>
              <a:rPr lang="fr-FR" sz="1200" dirty="0">
                <a:solidFill>
                  <a:srgbClr val="0683AA"/>
                </a:solidFill>
              </a:rPr>
              <a:t>. Expliquez votre vote rapidement.</a:t>
            </a:r>
            <a:r>
              <a:rPr lang="fr-FR" sz="1200" b="0" dirty="0">
                <a:solidFill>
                  <a:srgbClr val="0683AA"/>
                </a:solidFill>
              </a:rPr>
              <a:t> </a:t>
            </a:r>
            <a:endParaRPr lang="fr-FR" sz="1200" dirty="0">
              <a:solidFill>
                <a:srgbClr val="0683AA"/>
              </a:solidFill>
            </a:endParaRPr>
          </a:p>
        </p:txBody>
      </p:sp>
      <p:sp>
        <p:nvSpPr>
          <p:cNvPr id="20" name="Rectangle 19">
            <a:extLst>
              <a:ext uri="{FF2B5EF4-FFF2-40B4-BE49-F238E27FC236}">
                <a16:creationId xmlns:a16="http://schemas.microsoft.com/office/drawing/2014/main" id="{F6043EC3-D386-437C-950C-26CD6C1CF670}"/>
              </a:ext>
            </a:extLst>
          </p:cNvPr>
          <p:cNvSpPr/>
          <p:nvPr/>
        </p:nvSpPr>
        <p:spPr>
          <a:xfrm>
            <a:off x="6407457"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b="1" dirty="0">
                <a:solidFill>
                  <a:schemeClr val="bg1"/>
                </a:solidFill>
              </a:rPr>
              <a:t>⚖️</a:t>
            </a:r>
          </a:p>
          <a:p>
            <a:pPr algn="ctr"/>
            <a:r>
              <a:rPr lang="fr-FR" sz="2400" b="1" dirty="0">
                <a:solidFill>
                  <a:srgbClr val="0683AA"/>
                </a:solidFill>
              </a:rPr>
              <a:t>DESTIN</a:t>
            </a:r>
          </a:p>
          <a:p>
            <a:pPr algn="ctr"/>
            <a:endParaRPr lang="fr-FR" sz="2400" b="1" dirty="0">
              <a:solidFill>
                <a:srgbClr val="0683AA"/>
              </a:solidFill>
            </a:endParaRPr>
          </a:p>
          <a:p>
            <a:pPr algn="ctr"/>
            <a:r>
              <a:rPr lang="fr-FR" sz="1200" dirty="0">
                <a:solidFill>
                  <a:srgbClr val="0683AA"/>
                </a:solidFill>
              </a:rPr>
              <a:t>Votez </a:t>
            </a:r>
            <a:r>
              <a:rPr lang="fr-FR" sz="1200" b="0" dirty="0">
                <a:solidFill>
                  <a:srgbClr val="0683AA"/>
                </a:solidFill>
              </a:rPr>
              <a:t>👍 ou 👎 pour la solution proposée par</a:t>
            </a:r>
            <a:r>
              <a:rPr lang="fr-FR" sz="1200" b="0" dirty="0"/>
              <a:t> </a:t>
            </a:r>
            <a:r>
              <a:rPr lang="fr-FR" sz="1200" b="1" dirty="0">
                <a:solidFill>
                  <a:srgbClr val="0683AA"/>
                </a:solidFill>
              </a:rPr>
              <a:t>💪ROBUSTEAM</a:t>
            </a:r>
            <a:r>
              <a:rPr lang="fr-FR" sz="1200" dirty="0">
                <a:solidFill>
                  <a:srgbClr val="0683AA"/>
                </a:solidFill>
              </a:rPr>
              <a:t>. Expliquez votre vote rapidement.</a:t>
            </a:r>
            <a:r>
              <a:rPr lang="fr-FR" sz="1200" b="0" dirty="0">
                <a:solidFill>
                  <a:srgbClr val="0683AA"/>
                </a:solidFill>
              </a:rPr>
              <a:t> </a:t>
            </a:r>
            <a:endParaRPr lang="fr-FR" sz="1200" dirty="0">
              <a:solidFill>
                <a:srgbClr val="0683AA"/>
              </a:solidFill>
            </a:endParaRPr>
          </a:p>
        </p:txBody>
      </p:sp>
      <p:sp>
        <p:nvSpPr>
          <p:cNvPr id="21" name="Rectangle 20">
            <a:extLst>
              <a:ext uri="{FF2B5EF4-FFF2-40B4-BE49-F238E27FC236}">
                <a16:creationId xmlns:a16="http://schemas.microsoft.com/office/drawing/2014/main" id="{B6843000-9B3C-4669-81D4-100578257DB2}"/>
              </a:ext>
            </a:extLst>
          </p:cNvPr>
          <p:cNvSpPr/>
          <p:nvPr/>
        </p:nvSpPr>
        <p:spPr>
          <a:xfrm>
            <a:off x="6400058" y="3715305"/>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b="1" dirty="0">
                <a:solidFill>
                  <a:schemeClr val="bg1"/>
                </a:solidFill>
              </a:rPr>
              <a:t>⚖️</a:t>
            </a:r>
          </a:p>
          <a:p>
            <a:pPr algn="ctr"/>
            <a:r>
              <a:rPr lang="fr-FR" sz="2400" b="1" dirty="0">
                <a:solidFill>
                  <a:srgbClr val="0683AA"/>
                </a:solidFill>
              </a:rPr>
              <a:t>DESTIN</a:t>
            </a:r>
          </a:p>
          <a:p>
            <a:pPr algn="ctr"/>
            <a:endParaRPr lang="fr-FR" sz="2400" b="1" dirty="0">
              <a:solidFill>
                <a:srgbClr val="0683AA"/>
              </a:solidFill>
            </a:endParaRPr>
          </a:p>
          <a:p>
            <a:pPr algn="ctr"/>
            <a:r>
              <a:rPr lang="fr-FR" sz="1200" dirty="0">
                <a:solidFill>
                  <a:srgbClr val="0683AA"/>
                </a:solidFill>
              </a:rPr>
              <a:t>Votez </a:t>
            </a:r>
            <a:r>
              <a:rPr lang="fr-FR" sz="1200" b="0" dirty="0">
                <a:solidFill>
                  <a:srgbClr val="0683AA"/>
                </a:solidFill>
              </a:rPr>
              <a:t>👍 ou 👎 pour la solution proposée par</a:t>
            </a:r>
            <a:r>
              <a:rPr lang="fr-FR" sz="1200" b="0" dirty="0"/>
              <a:t> </a:t>
            </a:r>
            <a:r>
              <a:rPr lang="fr-FR" sz="1200" b="1" dirty="0">
                <a:solidFill>
                  <a:srgbClr val="0683AA"/>
                </a:solidFill>
              </a:rPr>
              <a:t>💪ROBUSTEAM</a:t>
            </a:r>
            <a:r>
              <a:rPr lang="fr-FR" sz="1200" dirty="0">
                <a:solidFill>
                  <a:srgbClr val="0683AA"/>
                </a:solidFill>
              </a:rPr>
              <a:t>. Expliquez votre vote rapidement.</a:t>
            </a:r>
            <a:r>
              <a:rPr lang="fr-FR" sz="1200" b="0" dirty="0">
                <a:solidFill>
                  <a:srgbClr val="0683AA"/>
                </a:solidFill>
              </a:rPr>
              <a:t> </a:t>
            </a:r>
            <a:endParaRPr lang="fr-FR" sz="1200" dirty="0">
              <a:solidFill>
                <a:srgbClr val="0683AA"/>
              </a:solidFill>
            </a:endParaRPr>
          </a:p>
        </p:txBody>
      </p:sp>
      <p:sp>
        <p:nvSpPr>
          <p:cNvPr id="22" name="Rectangle 21">
            <a:extLst>
              <a:ext uri="{FF2B5EF4-FFF2-40B4-BE49-F238E27FC236}">
                <a16:creationId xmlns:a16="http://schemas.microsoft.com/office/drawing/2014/main" id="{719F6153-A75D-4524-9B6E-2DE75564040E}"/>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b="1" dirty="0">
                <a:solidFill>
                  <a:schemeClr val="bg1"/>
                </a:solidFill>
              </a:rPr>
              <a:t>⚖️</a:t>
            </a:r>
          </a:p>
          <a:p>
            <a:pPr algn="ctr"/>
            <a:r>
              <a:rPr lang="fr-FR" sz="2400" b="1" dirty="0">
                <a:solidFill>
                  <a:srgbClr val="0683AA"/>
                </a:solidFill>
              </a:rPr>
              <a:t>DESTIN</a:t>
            </a:r>
          </a:p>
          <a:p>
            <a:pPr algn="ctr"/>
            <a:endParaRPr lang="fr-FR" sz="2400" b="1" dirty="0">
              <a:solidFill>
                <a:srgbClr val="0683AA"/>
              </a:solidFill>
            </a:endParaRPr>
          </a:p>
          <a:p>
            <a:pPr algn="ctr"/>
            <a:r>
              <a:rPr lang="fr-FR" sz="1200" dirty="0">
                <a:solidFill>
                  <a:srgbClr val="0683AA"/>
                </a:solidFill>
              </a:rPr>
              <a:t>Votez </a:t>
            </a:r>
            <a:r>
              <a:rPr lang="fr-FR" sz="1200" b="0" dirty="0">
                <a:solidFill>
                  <a:srgbClr val="0683AA"/>
                </a:solidFill>
              </a:rPr>
              <a:t>👍 ou 👎 pour la solution proposée par</a:t>
            </a:r>
            <a:r>
              <a:rPr lang="fr-FR" sz="1200" b="0" dirty="0"/>
              <a:t> </a:t>
            </a:r>
            <a:r>
              <a:rPr lang="fr-FR" sz="1200" b="1" dirty="0">
                <a:solidFill>
                  <a:srgbClr val="0683AA"/>
                </a:solidFill>
              </a:rPr>
              <a:t>💪ROBUSTEAM</a:t>
            </a:r>
            <a:r>
              <a:rPr lang="fr-FR" sz="1200" dirty="0">
                <a:solidFill>
                  <a:srgbClr val="0683AA"/>
                </a:solidFill>
              </a:rPr>
              <a:t>. Expliquez votre vote rapidement.</a:t>
            </a:r>
            <a:r>
              <a:rPr lang="fr-FR" sz="1200" b="0" dirty="0">
                <a:solidFill>
                  <a:srgbClr val="0683AA"/>
                </a:solidFill>
              </a:rPr>
              <a:t> </a:t>
            </a:r>
            <a:endParaRPr lang="fr-FR" sz="1200" dirty="0">
              <a:solidFill>
                <a:srgbClr val="0683AA"/>
              </a:solidFill>
            </a:endParaRPr>
          </a:p>
        </p:txBody>
      </p:sp>
      <p:sp>
        <p:nvSpPr>
          <p:cNvPr id="23" name="Rectangle 22">
            <a:extLst>
              <a:ext uri="{FF2B5EF4-FFF2-40B4-BE49-F238E27FC236}">
                <a16:creationId xmlns:a16="http://schemas.microsoft.com/office/drawing/2014/main" id="{C9136D30-9029-429A-AC02-11F44DD9605B}"/>
              </a:ext>
            </a:extLst>
          </p:cNvPr>
          <p:cNvSpPr/>
          <p:nvPr/>
        </p:nvSpPr>
        <p:spPr>
          <a:xfrm>
            <a:off x="8939072" y="3715305"/>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b="1" dirty="0">
                <a:solidFill>
                  <a:schemeClr val="bg1"/>
                </a:solidFill>
              </a:rPr>
              <a:t>⚖️</a:t>
            </a:r>
          </a:p>
          <a:p>
            <a:pPr algn="ctr"/>
            <a:r>
              <a:rPr lang="fr-FR" sz="2400" b="1" dirty="0">
                <a:solidFill>
                  <a:srgbClr val="0683AA"/>
                </a:solidFill>
              </a:rPr>
              <a:t>DESTIN</a:t>
            </a:r>
          </a:p>
          <a:p>
            <a:pPr algn="ctr"/>
            <a:endParaRPr lang="fr-FR" sz="2400" b="1" dirty="0">
              <a:solidFill>
                <a:srgbClr val="0683AA"/>
              </a:solidFill>
            </a:endParaRPr>
          </a:p>
          <a:p>
            <a:pPr algn="ctr"/>
            <a:r>
              <a:rPr lang="fr-FR" sz="1200" dirty="0">
                <a:solidFill>
                  <a:srgbClr val="0683AA"/>
                </a:solidFill>
              </a:rPr>
              <a:t>Votez </a:t>
            </a:r>
            <a:r>
              <a:rPr lang="fr-FR" sz="1200" b="0" dirty="0">
                <a:solidFill>
                  <a:srgbClr val="0683AA"/>
                </a:solidFill>
              </a:rPr>
              <a:t>👍 ou 👎 pour la solution proposée par</a:t>
            </a:r>
            <a:r>
              <a:rPr lang="fr-FR" sz="1200" b="0" dirty="0"/>
              <a:t> </a:t>
            </a:r>
            <a:r>
              <a:rPr lang="fr-FR" sz="1200" b="1" dirty="0">
                <a:solidFill>
                  <a:srgbClr val="0683AA"/>
                </a:solidFill>
              </a:rPr>
              <a:t>💪ROBUSTEAM</a:t>
            </a:r>
            <a:r>
              <a:rPr lang="fr-FR" sz="1200" dirty="0">
                <a:solidFill>
                  <a:srgbClr val="0683AA"/>
                </a:solidFill>
              </a:rPr>
              <a:t>. Expliquez votre vote rapidement.</a:t>
            </a:r>
            <a:r>
              <a:rPr lang="fr-FR" sz="1200" b="0" dirty="0">
                <a:solidFill>
                  <a:srgbClr val="0683AA"/>
                </a:solidFill>
              </a:rPr>
              <a:t> </a:t>
            </a:r>
            <a:endParaRPr lang="fr-FR" sz="1200" dirty="0">
              <a:solidFill>
                <a:srgbClr val="0683AA"/>
              </a:solidFill>
            </a:endParaRPr>
          </a:p>
        </p:txBody>
      </p:sp>
      <p:pic>
        <p:nvPicPr>
          <p:cNvPr id="18" name="Image 17">
            <a:extLst>
              <a:ext uri="{FF2B5EF4-FFF2-40B4-BE49-F238E27FC236}">
                <a16:creationId xmlns:a16="http://schemas.microsoft.com/office/drawing/2014/main" id="{09676DA4-5CCA-40F1-AC14-C6B397A2DB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19" name="Image 18">
            <a:extLst>
              <a:ext uri="{FF2B5EF4-FFF2-40B4-BE49-F238E27FC236}">
                <a16:creationId xmlns:a16="http://schemas.microsoft.com/office/drawing/2014/main" id="{E68C9CB1-C4E5-4151-97F4-CAA52F0021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4" name="Image 23">
            <a:extLst>
              <a:ext uri="{FF2B5EF4-FFF2-40B4-BE49-F238E27FC236}">
                <a16:creationId xmlns:a16="http://schemas.microsoft.com/office/drawing/2014/main" id="{72F33178-F9A8-4B8F-9F4D-4B47E895844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5" name="Image 24">
            <a:extLst>
              <a:ext uri="{FF2B5EF4-FFF2-40B4-BE49-F238E27FC236}">
                <a16:creationId xmlns:a16="http://schemas.microsoft.com/office/drawing/2014/main" id="{2FFB66D6-F33E-4699-AD42-041BB8C382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6" name="Image 25">
            <a:extLst>
              <a:ext uri="{FF2B5EF4-FFF2-40B4-BE49-F238E27FC236}">
                <a16:creationId xmlns:a16="http://schemas.microsoft.com/office/drawing/2014/main" id="{0D94ACE2-7CB8-4CF5-9BB4-6C328628AB8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7" name="Image 26">
            <a:extLst>
              <a:ext uri="{FF2B5EF4-FFF2-40B4-BE49-F238E27FC236}">
                <a16:creationId xmlns:a16="http://schemas.microsoft.com/office/drawing/2014/main" id="{BA214611-E3E9-4BB4-8A3D-0FB4FDF160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8" name="Image 27">
            <a:extLst>
              <a:ext uri="{FF2B5EF4-FFF2-40B4-BE49-F238E27FC236}">
                <a16:creationId xmlns:a16="http://schemas.microsoft.com/office/drawing/2014/main" id="{3031BB90-E13C-48D0-A25A-1307062B84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9" name="Image 28">
            <a:extLst>
              <a:ext uri="{FF2B5EF4-FFF2-40B4-BE49-F238E27FC236}">
                <a16:creationId xmlns:a16="http://schemas.microsoft.com/office/drawing/2014/main" id="{B5F5FF39-5F2F-4E2A-AE60-A0257922BB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169649627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dirty="0">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dirty="0">
                <a:solidFill>
                  <a:schemeClr val="bg1"/>
                </a:solidFill>
              </a:rPr>
              <a:t>💪</a:t>
            </a:r>
            <a:endParaRPr lang="en-US" sz="48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dirty="0">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dirty="0">
                <a:solidFill>
                  <a:schemeClr val="bg1"/>
                </a:solidFill>
              </a:rPr>
              <a:t>💪</a:t>
            </a:r>
            <a:endParaRPr lang="en-US" sz="48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Tree>
    <p:extLst>
      <p:ext uri="{BB962C8B-B14F-4D97-AF65-F5344CB8AC3E}">
        <p14:creationId xmlns:p14="http://schemas.microsoft.com/office/powerpoint/2010/main" val="271192048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dirty="0">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dirty="0">
                <a:solidFill>
                  <a:schemeClr val="bg1"/>
                </a:solidFill>
              </a:rPr>
              <a:t>💪</a:t>
            </a:r>
            <a:endParaRPr lang="en-US" sz="48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dirty="0">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dirty="0">
                <a:solidFill>
                  <a:schemeClr val="bg1"/>
                </a:solidFill>
              </a:rPr>
              <a:t>💪</a:t>
            </a:r>
            <a:endParaRPr lang="en-US" sz="48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4800" b="1">
                <a:solidFill>
                  <a:schemeClr val="bg1"/>
                </a:solidFill>
              </a:rPr>
              <a:t>⚖️</a:t>
            </a:r>
            <a:endParaRPr lang="en-US" sz="4800" b="1" dirty="0">
              <a:solidFill>
                <a:schemeClr val="bg1"/>
              </a:solidFill>
            </a:endParaRPr>
          </a:p>
          <a:p>
            <a:pPr algn="ctr"/>
            <a:r>
              <a:rPr lang="en-US" sz="4800" b="1" dirty="0">
                <a:solidFill>
                  <a:schemeClr val="bg1"/>
                </a:solidFill>
              </a:rPr>
              <a:t>RÔLES</a:t>
            </a:r>
          </a:p>
          <a:p>
            <a:pPr algn="ctr"/>
            <a:r>
              <a:rPr lang="fr-FR" sz="4800" b="1">
                <a:solidFill>
                  <a:schemeClr val="bg1"/>
                </a:solidFill>
              </a:rPr>
              <a:t>💪</a:t>
            </a:r>
            <a:endParaRPr lang="en-US" sz="4800" b="1" dirty="0">
              <a:solidFill>
                <a:schemeClr val="bg1"/>
              </a:solidFill>
            </a:endParaRPr>
          </a:p>
        </p:txBody>
      </p:sp>
      <p:sp>
        <p:nvSpPr>
          <p:cNvPr id="2" name="Rectangle 1">
            <a:extLst>
              <a:ext uri="{FF2B5EF4-FFF2-40B4-BE49-F238E27FC236}">
                <a16:creationId xmlns:a16="http://schemas.microsoft.com/office/drawing/2014/main" id="{C5F1EB68-34C6-4752-AF99-DCB418FFD73E}"/>
              </a:ext>
            </a:extLst>
          </p:cNvPr>
          <p:cNvSpPr/>
          <p:nvPr/>
        </p:nvSpPr>
        <p:spPr>
          <a:xfrm>
            <a:off x="1301319"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0" dirty="0">
                <a:solidFill>
                  <a:srgbClr val="0683AA"/>
                </a:solidFill>
              </a:rPr>
              <a:t>💪 </a:t>
            </a:r>
          </a:p>
          <a:p>
            <a:pPr algn="ctr"/>
            <a:r>
              <a:rPr lang="fr-FR" sz="2400" b="1" dirty="0">
                <a:solidFill>
                  <a:srgbClr val="0683AA"/>
                </a:solidFill>
              </a:rPr>
              <a:t>ROBUSTEAM</a:t>
            </a:r>
          </a:p>
          <a:p>
            <a:pPr algn="ctr"/>
            <a:endParaRPr lang="fr-FR" sz="2400" b="1" dirty="0">
              <a:solidFill>
                <a:srgbClr val="0683AA"/>
              </a:solidFill>
            </a:endParaRPr>
          </a:p>
          <a:p>
            <a:pPr algn="ctr"/>
            <a:r>
              <a:rPr lang="fr-FR" sz="1200" dirty="0">
                <a:solidFill>
                  <a:srgbClr val="0683AA"/>
                </a:solidFill>
              </a:rPr>
              <a:t>Trouvez ensemble une solution à la </a:t>
            </a:r>
            <a:r>
              <a:rPr lang="fr-FR" sz="1200" b="1" dirty="0">
                <a:solidFill>
                  <a:srgbClr val="FF0000"/>
                </a:solidFill>
              </a:rPr>
              <a:t>CRISE</a:t>
            </a:r>
            <a:r>
              <a:rPr lang="fr-FR" sz="1200" dirty="0">
                <a:solidFill>
                  <a:srgbClr val="0683AA"/>
                </a:solidFill>
              </a:rPr>
              <a:t>, et exposez cette solution à ⚖️</a:t>
            </a:r>
            <a:r>
              <a:rPr lang="fr-FR" sz="1200" b="1" dirty="0">
                <a:solidFill>
                  <a:srgbClr val="0683AA"/>
                </a:solidFill>
              </a:rPr>
              <a:t>DESTIN</a:t>
            </a:r>
            <a:r>
              <a:rPr lang="fr-FR" sz="1200" dirty="0">
                <a:solidFill>
                  <a:srgbClr val="0683AA"/>
                </a:solidFill>
              </a:rPr>
              <a:t>.</a:t>
            </a:r>
            <a:r>
              <a:rPr lang="fr-FR" sz="1200" b="0" dirty="0">
                <a:solidFill>
                  <a:srgbClr val="0683AA"/>
                </a:solidFill>
              </a:rPr>
              <a:t>  </a:t>
            </a:r>
            <a:endParaRPr lang="fr-FR" sz="1200" dirty="0">
              <a:solidFill>
                <a:srgbClr val="0683AA"/>
              </a:solidFill>
            </a:endParaRPr>
          </a:p>
        </p:txBody>
      </p:sp>
      <p:sp>
        <p:nvSpPr>
          <p:cNvPr id="13" name="Rectangle 12">
            <a:extLst>
              <a:ext uri="{FF2B5EF4-FFF2-40B4-BE49-F238E27FC236}">
                <a16:creationId xmlns:a16="http://schemas.microsoft.com/office/drawing/2014/main" id="{F06FA9C9-285B-4574-83BA-4B29EEC65262}"/>
              </a:ext>
            </a:extLst>
          </p:cNvPr>
          <p:cNvSpPr/>
          <p:nvPr/>
        </p:nvSpPr>
        <p:spPr>
          <a:xfrm>
            <a:off x="1293920" y="3715305"/>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800" b="0" dirty="0">
                <a:solidFill>
                  <a:srgbClr val="0683AA"/>
                </a:solidFill>
              </a:rPr>
              <a:t>💪 </a:t>
            </a:r>
          </a:p>
          <a:p>
            <a:pPr algn="ctr"/>
            <a:r>
              <a:rPr lang="fr-FR" sz="2400" b="1" dirty="0">
                <a:solidFill>
                  <a:srgbClr val="0683AA"/>
                </a:solidFill>
              </a:rPr>
              <a:t>ROBUSTEAM</a:t>
            </a:r>
          </a:p>
          <a:p>
            <a:pPr algn="ctr"/>
            <a:endParaRPr lang="fr-FR" sz="2400" b="1" dirty="0">
              <a:solidFill>
                <a:srgbClr val="0683AA"/>
              </a:solidFill>
            </a:endParaRPr>
          </a:p>
          <a:p>
            <a:pPr algn="ctr"/>
            <a:r>
              <a:rPr lang="fr-FR" sz="1200" dirty="0">
                <a:solidFill>
                  <a:srgbClr val="0683AA"/>
                </a:solidFill>
              </a:rPr>
              <a:t>Trouvez ensemble une solution à la </a:t>
            </a:r>
            <a:r>
              <a:rPr lang="fr-FR" sz="1200" b="1" dirty="0">
                <a:solidFill>
                  <a:srgbClr val="FF0000"/>
                </a:solidFill>
              </a:rPr>
              <a:t>CRISE</a:t>
            </a:r>
            <a:r>
              <a:rPr lang="fr-FR" sz="1200" dirty="0">
                <a:solidFill>
                  <a:srgbClr val="0683AA"/>
                </a:solidFill>
              </a:rPr>
              <a:t>, et exposez cette solution à ⚖️</a:t>
            </a:r>
            <a:r>
              <a:rPr lang="fr-FR" sz="1200" b="1" dirty="0">
                <a:solidFill>
                  <a:srgbClr val="0683AA"/>
                </a:solidFill>
              </a:rPr>
              <a:t>DESTIN</a:t>
            </a:r>
            <a:r>
              <a:rPr lang="fr-FR" sz="1200" dirty="0">
                <a:solidFill>
                  <a:srgbClr val="0683AA"/>
                </a:solidFill>
              </a:rPr>
              <a:t>.</a:t>
            </a:r>
            <a:r>
              <a:rPr lang="fr-FR" sz="1200" b="0" dirty="0">
                <a:solidFill>
                  <a:srgbClr val="0683AA"/>
                </a:solidFill>
              </a:rPr>
              <a:t> </a:t>
            </a:r>
            <a:endParaRPr lang="fr-FR" sz="1200" dirty="0">
              <a:solidFill>
                <a:srgbClr val="0683AA"/>
              </a:solidFill>
            </a:endParaRPr>
          </a:p>
        </p:txBody>
      </p:sp>
      <p:sp>
        <p:nvSpPr>
          <p:cNvPr id="14" name="Rectangle 13">
            <a:extLst>
              <a:ext uri="{FF2B5EF4-FFF2-40B4-BE49-F238E27FC236}">
                <a16:creationId xmlns:a16="http://schemas.microsoft.com/office/drawing/2014/main" id="{FF885AA0-882D-4976-A365-03ED4D0F1A84}"/>
              </a:ext>
            </a:extLst>
          </p:cNvPr>
          <p:cNvSpPr/>
          <p:nvPr/>
        </p:nvSpPr>
        <p:spPr>
          <a:xfrm>
            <a:off x="3840333"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0" dirty="0">
                <a:solidFill>
                  <a:srgbClr val="0683AA"/>
                </a:solidFill>
              </a:rPr>
              <a:t>💪 </a:t>
            </a:r>
          </a:p>
          <a:p>
            <a:pPr algn="ctr"/>
            <a:r>
              <a:rPr lang="fr-FR" sz="2400" b="1" dirty="0">
                <a:solidFill>
                  <a:srgbClr val="0683AA"/>
                </a:solidFill>
              </a:rPr>
              <a:t>ROBUSTEAM</a:t>
            </a:r>
          </a:p>
          <a:p>
            <a:pPr algn="ctr"/>
            <a:endParaRPr lang="fr-FR" sz="2400" b="1" dirty="0">
              <a:solidFill>
                <a:srgbClr val="0683AA"/>
              </a:solidFill>
            </a:endParaRPr>
          </a:p>
          <a:p>
            <a:pPr algn="ctr"/>
            <a:r>
              <a:rPr lang="fr-FR" sz="1200" dirty="0">
                <a:solidFill>
                  <a:srgbClr val="0683AA"/>
                </a:solidFill>
              </a:rPr>
              <a:t>Trouvez ensemble une solution à la </a:t>
            </a:r>
            <a:r>
              <a:rPr lang="fr-FR" sz="1200" b="1" dirty="0">
                <a:solidFill>
                  <a:srgbClr val="FF0000"/>
                </a:solidFill>
              </a:rPr>
              <a:t>CRISE</a:t>
            </a:r>
            <a:r>
              <a:rPr lang="fr-FR" sz="1200" dirty="0">
                <a:solidFill>
                  <a:srgbClr val="0683AA"/>
                </a:solidFill>
              </a:rPr>
              <a:t>, et exposez cette solution à ⚖️</a:t>
            </a:r>
            <a:r>
              <a:rPr lang="fr-FR" sz="1200" b="1" dirty="0">
                <a:solidFill>
                  <a:srgbClr val="0683AA"/>
                </a:solidFill>
              </a:rPr>
              <a:t>DESTIN</a:t>
            </a:r>
            <a:r>
              <a:rPr lang="fr-FR" sz="1200" dirty="0">
                <a:solidFill>
                  <a:srgbClr val="0683AA"/>
                </a:solidFill>
              </a:rPr>
              <a:t>.</a:t>
            </a:r>
          </a:p>
        </p:txBody>
      </p:sp>
      <p:sp>
        <p:nvSpPr>
          <p:cNvPr id="15" name="Rectangle 14">
            <a:extLst>
              <a:ext uri="{FF2B5EF4-FFF2-40B4-BE49-F238E27FC236}">
                <a16:creationId xmlns:a16="http://schemas.microsoft.com/office/drawing/2014/main" id="{18F1A461-CD41-4030-A273-601219A96201}"/>
              </a:ext>
            </a:extLst>
          </p:cNvPr>
          <p:cNvSpPr/>
          <p:nvPr/>
        </p:nvSpPr>
        <p:spPr>
          <a:xfrm>
            <a:off x="3832934" y="3715305"/>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0" dirty="0">
                <a:solidFill>
                  <a:srgbClr val="0683AA"/>
                </a:solidFill>
              </a:rPr>
              <a:t>💪 </a:t>
            </a:r>
          </a:p>
          <a:p>
            <a:pPr algn="ctr"/>
            <a:r>
              <a:rPr lang="fr-FR" sz="2400" b="1" dirty="0">
                <a:solidFill>
                  <a:srgbClr val="0683AA"/>
                </a:solidFill>
              </a:rPr>
              <a:t>ROBUSTEAM</a:t>
            </a:r>
          </a:p>
          <a:p>
            <a:pPr algn="ctr"/>
            <a:endParaRPr lang="fr-FR" sz="2400" b="1" dirty="0">
              <a:solidFill>
                <a:srgbClr val="0683AA"/>
              </a:solidFill>
            </a:endParaRPr>
          </a:p>
          <a:p>
            <a:pPr algn="ctr"/>
            <a:r>
              <a:rPr lang="fr-FR" sz="1200" dirty="0">
                <a:solidFill>
                  <a:srgbClr val="0683AA"/>
                </a:solidFill>
              </a:rPr>
              <a:t>Trouvez ensemble une solution à la </a:t>
            </a:r>
            <a:r>
              <a:rPr lang="fr-FR" sz="1200" b="1" dirty="0">
                <a:solidFill>
                  <a:srgbClr val="FF0000"/>
                </a:solidFill>
              </a:rPr>
              <a:t>CRISE</a:t>
            </a:r>
            <a:r>
              <a:rPr lang="fr-FR" sz="1200" dirty="0">
                <a:solidFill>
                  <a:srgbClr val="0683AA"/>
                </a:solidFill>
              </a:rPr>
              <a:t>, et exposez cette solution à ⚖️</a:t>
            </a:r>
            <a:r>
              <a:rPr lang="fr-FR" sz="1200" b="1" dirty="0">
                <a:solidFill>
                  <a:srgbClr val="0683AA"/>
                </a:solidFill>
              </a:rPr>
              <a:t>DESTIN</a:t>
            </a:r>
            <a:r>
              <a:rPr lang="fr-FR" sz="1200" dirty="0">
                <a:solidFill>
                  <a:srgbClr val="0683AA"/>
                </a:solidFill>
              </a:rPr>
              <a:t>.</a:t>
            </a:r>
            <a:r>
              <a:rPr lang="fr-FR" sz="1200" b="0" dirty="0">
                <a:solidFill>
                  <a:srgbClr val="0683AA"/>
                </a:solidFill>
              </a:rPr>
              <a:t> </a:t>
            </a:r>
            <a:endParaRPr lang="fr-FR" sz="1200" dirty="0">
              <a:solidFill>
                <a:srgbClr val="0683AA"/>
              </a:solidFill>
            </a:endParaRPr>
          </a:p>
        </p:txBody>
      </p:sp>
      <p:sp>
        <p:nvSpPr>
          <p:cNvPr id="20" name="Rectangle 19">
            <a:extLst>
              <a:ext uri="{FF2B5EF4-FFF2-40B4-BE49-F238E27FC236}">
                <a16:creationId xmlns:a16="http://schemas.microsoft.com/office/drawing/2014/main" id="{F6043EC3-D386-437C-950C-26CD6C1CF670}"/>
              </a:ext>
            </a:extLst>
          </p:cNvPr>
          <p:cNvSpPr/>
          <p:nvPr/>
        </p:nvSpPr>
        <p:spPr>
          <a:xfrm>
            <a:off x="6407457"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0" dirty="0">
                <a:solidFill>
                  <a:srgbClr val="0683AA"/>
                </a:solidFill>
              </a:rPr>
              <a:t>💪 </a:t>
            </a:r>
          </a:p>
          <a:p>
            <a:pPr algn="ctr"/>
            <a:r>
              <a:rPr lang="fr-FR" sz="2400" b="1" dirty="0">
                <a:solidFill>
                  <a:srgbClr val="0683AA"/>
                </a:solidFill>
              </a:rPr>
              <a:t>ROBUSTEAM</a:t>
            </a:r>
          </a:p>
          <a:p>
            <a:pPr algn="ctr"/>
            <a:endParaRPr lang="fr-FR" sz="2400" b="1" dirty="0">
              <a:solidFill>
                <a:srgbClr val="0683AA"/>
              </a:solidFill>
            </a:endParaRPr>
          </a:p>
          <a:p>
            <a:pPr algn="ctr"/>
            <a:r>
              <a:rPr lang="fr-FR" sz="1200" dirty="0">
                <a:solidFill>
                  <a:srgbClr val="0683AA"/>
                </a:solidFill>
              </a:rPr>
              <a:t>Trouvez ensemble une solution à la </a:t>
            </a:r>
            <a:r>
              <a:rPr lang="fr-FR" sz="1200" b="1" dirty="0">
                <a:solidFill>
                  <a:srgbClr val="FF0000"/>
                </a:solidFill>
              </a:rPr>
              <a:t>CRISE</a:t>
            </a:r>
            <a:r>
              <a:rPr lang="fr-FR" sz="1200" dirty="0">
                <a:solidFill>
                  <a:srgbClr val="0683AA"/>
                </a:solidFill>
              </a:rPr>
              <a:t>, et exposez cette solution à ⚖️</a:t>
            </a:r>
            <a:r>
              <a:rPr lang="fr-FR" sz="1200" b="1" dirty="0">
                <a:solidFill>
                  <a:srgbClr val="0683AA"/>
                </a:solidFill>
              </a:rPr>
              <a:t>DESTIN</a:t>
            </a:r>
            <a:r>
              <a:rPr lang="fr-FR" sz="1200" dirty="0">
                <a:solidFill>
                  <a:srgbClr val="0683AA"/>
                </a:solidFill>
              </a:rPr>
              <a:t>.</a:t>
            </a:r>
          </a:p>
        </p:txBody>
      </p:sp>
      <p:sp>
        <p:nvSpPr>
          <p:cNvPr id="21" name="Rectangle 20">
            <a:extLst>
              <a:ext uri="{FF2B5EF4-FFF2-40B4-BE49-F238E27FC236}">
                <a16:creationId xmlns:a16="http://schemas.microsoft.com/office/drawing/2014/main" id="{B6843000-9B3C-4669-81D4-100578257DB2}"/>
              </a:ext>
            </a:extLst>
          </p:cNvPr>
          <p:cNvSpPr/>
          <p:nvPr/>
        </p:nvSpPr>
        <p:spPr>
          <a:xfrm>
            <a:off x="6400058" y="3715305"/>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0" dirty="0">
                <a:solidFill>
                  <a:srgbClr val="0683AA"/>
                </a:solidFill>
              </a:rPr>
              <a:t>💪 </a:t>
            </a:r>
          </a:p>
          <a:p>
            <a:pPr algn="ctr"/>
            <a:r>
              <a:rPr lang="fr-FR" sz="2400" b="1" dirty="0">
                <a:solidFill>
                  <a:srgbClr val="0683AA"/>
                </a:solidFill>
              </a:rPr>
              <a:t>ROBUSTEAM</a:t>
            </a:r>
          </a:p>
          <a:p>
            <a:pPr algn="ctr"/>
            <a:endParaRPr lang="fr-FR" sz="2400" b="1" dirty="0">
              <a:solidFill>
                <a:srgbClr val="0683AA"/>
              </a:solidFill>
            </a:endParaRPr>
          </a:p>
          <a:p>
            <a:pPr algn="ctr"/>
            <a:r>
              <a:rPr lang="fr-FR" sz="1200" dirty="0">
                <a:solidFill>
                  <a:srgbClr val="0683AA"/>
                </a:solidFill>
              </a:rPr>
              <a:t>Trouvez ensemble une solution à la </a:t>
            </a:r>
            <a:r>
              <a:rPr lang="fr-FR" sz="1200" b="1" dirty="0">
                <a:solidFill>
                  <a:srgbClr val="FF0000"/>
                </a:solidFill>
              </a:rPr>
              <a:t>CRISE</a:t>
            </a:r>
            <a:r>
              <a:rPr lang="fr-FR" sz="1200" dirty="0">
                <a:solidFill>
                  <a:srgbClr val="0683AA"/>
                </a:solidFill>
              </a:rPr>
              <a:t>, et exposez cette solution à ⚖️</a:t>
            </a:r>
            <a:r>
              <a:rPr lang="fr-FR" sz="1200" b="1" dirty="0">
                <a:solidFill>
                  <a:srgbClr val="0683AA"/>
                </a:solidFill>
              </a:rPr>
              <a:t>DESTIN</a:t>
            </a:r>
            <a:r>
              <a:rPr lang="fr-FR" sz="1200" dirty="0">
                <a:solidFill>
                  <a:srgbClr val="0683AA"/>
                </a:solidFill>
              </a:rPr>
              <a:t>.</a:t>
            </a:r>
          </a:p>
        </p:txBody>
      </p:sp>
      <p:sp>
        <p:nvSpPr>
          <p:cNvPr id="22" name="Rectangle 21">
            <a:extLst>
              <a:ext uri="{FF2B5EF4-FFF2-40B4-BE49-F238E27FC236}">
                <a16:creationId xmlns:a16="http://schemas.microsoft.com/office/drawing/2014/main" id="{719F6153-A75D-4524-9B6E-2DE75564040E}"/>
              </a:ext>
            </a:extLst>
          </p:cNvPr>
          <p:cNvSpPr/>
          <p:nvPr/>
        </p:nvSpPr>
        <p:spPr>
          <a:xfrm>
            <a:off x="8946471" y="346229"/>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0" dirty="0">
                <a:solidFill>
                  <a:srgbClr val="0683AA"/>
                </a:solidFill>
              </a:rPr>
              <a:t>💪 </a:t>
            </a:r>
          </a:p>
          <a:p>
            <a:pPr algn="ctr"/>
            <a:r>
              <a:rPr lang="fr-FR" sz="2400" b="1" dirty="0">
                <a:solidFill>
                  <a:srgbClr val="0683AA"/>
                </a:solidFill>
              </a:rPr>
              <a:t>ROBUSTEAM</a:t>
            </a:r>
          </a:p>
          <a:p>
            <a:pPr algn="ctr"/>
            <a:endParaRPr lang="fr-FR" sz="2400" b="1" dirty="0">
              <a:solidFill>
                <a:srgbClr val="0683AA"/>
              </a:solidFill>
            </a:endParaRPr>
          </a:p>
          <a:p>
            <a:pPr algn="ctr"/>
            <a:r>
              <a:rPr lang="fr-FR" sz="1200" dirty="0">
                <a:solidFill>
                  <a:srgbClr val="0683AA"/>
                </a:solidFill>
              </a:rPr>
              <a:t>Trouvez ensemble une solution à la </a:t>
            </a:r>
            <a:r>
              <a:rPr lang="fr-FR" sz="1200" b="1" dirty="0">
                <a:solidFill>
                  <a:srgbClr val="FF0000"/>
                </a:solidFill>
              </a:rPr>
              <a:t>CRISE</a:t>
            </a:r>
            <a:r>
              <a:rPr lang="fr-FR" sz="1200" dirty="0">
                <a:solidFill>
                  <a:srgbClr val="0683AA"/>
                </a:solidFill>
              </a:rPr>
              <a:t>, et exposez cette solution à ⚖️</a:t>
            </a:r>
            <a:r>
              <a:rPr lang="fr-FR" sz="1200" b="1" dirty="0">
                <a:solidFill>
                  <a:srgbClr val="0683AA"/>
                </a:solidFill>
              </a:rPr>
              <a:t>DESTIN</a:t>
            </a:r>
            <a:r>
              <a:rPr lang="fr-FR" sz="1200" dirty="0">
                <a:solidFill>
                  <a:srgbClr val="0683AA"/>
                </a:solidFill>
              </a:rPr>
              <a:t>.</a:t>
            </a:r>
          </a:p>
        </p:txBody>
      </p:sp>
      <p:sp>
        <p:nvSpPr>
          <p:cNvPr id="23" name="Rectangle 22">
            <a:extLst>
              <a:ext uri="{FF2B5EF4-FFF2-40B4-BE49-F238E27FC236}">
                <a16:creationId xmlns:a16="http://schemas.microsoft.com/office/drawing/2014/main" id="{C9136D30-9029-429A-AC02-11F44DD9605B}"/>
              </a:ext>
            </a:extLst>
          </p:cNvPr>
          <p:cNvSpPr/>
          <p:nvPr/>
        </p:nvSpPr>
        <p:spPr>
          <a:xfrm>
            <a:off x="8939072" y="3715305"/>
            <a:ext cx="1944210" cy="2796466"/>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0" dirty="0">
                <a:solidFill>
                  <a:srgbClr val="0683AA"/>
                </a:solidFill>
              </a:rPr>
              <a:t>💪 </a:t>
            </a:r>
          </a:p>
          <a:p>
            <a:pPr algn="ctr"/>
            <a:r>
              <a:rPr lang="fr-FR" sz="2400" b="1" dirty="0">
                <a:solidFill>
                  <a:srgbClr val="0683AA"/>
                </a:solidFill>
              </a:rPr>
              <a:t>ROBUSTEAM</a:t>
            </a:r>
          </a:p>
          <a:p>
            <a:pPr algn="ctr"/>
            <a:endParaRPr lang="fr-FR" sz="2400" b="1" dirty="0">
              <a:solidFill>
                <a:srgbClr val="0683AA"/>
              </a:solidFill>
            </a:endParaRPr>
          </a:p>
          <a:p>
            <a:pPr algn="ctr"/>
            <a:r>
              <a:rPr lang="fr-FR" sz="1200" dirty="0">
                <a:solidFill>
                  <a:srgbClr val="0683AA"/>
                </a:solidFill>
              </a:rPr>
              <a:t>Trouvez ensemble une solution à la </a:t>
            </a:r>
            <a:r>
              <a:rPr lang="fr-FR" sz="1200" b="1" dirty="0">
                <a:solidFill>
                  <a:srgbClr val="FF0000"/>
                </a:solidFill>
              </a:rPr>
              <a:t>CRISE</a:t>
            </a:r>
            <a:r>
              <a:rPr lang="fr-FR" sz="1200" dirty="0">
                <a:solidFill>
                  <a:srgbClr val="0683AA"/>
                </a:solidFill>
              </a:rPr>
              <a:t>, et exposez cette solution à ⚖️</a:t>
            </a:r>
            <a:r>
              <a:rPr lang="fr-FR" sz="1200" b="1" dirty="0">
                <a:solidFill>
                  <a:srgbClr val="0683AA"/>
                </a:solidFill>
              </a:rPr>
              <a:t>DESTIN</a:t>
            </a:r>
            <a:r>
              <a:rPr lang="fr-FR" sz="1200" dirty="0">
                <a:solidFill>
                  <a:srgbClr val="0683AA"/>
                </a:solidFill>
              </a:rPr>
              <a:t>.</a:t>
            </a:r>
          </a:p>
        </p:txBody>
      </p:sp>
      <p:pic>
        <p:nvPicPr>
          <p:cNvPr id="18" name="Image 17">
            <a:extLst>
              <a:ext uri="{FF2B5EF4-FFF2-40B4-BE49-F238E27FC236}">
                <a16:creationId xmlns:a16="http://schemas.microsoft.com/office/drawing/2014/main" id="{A030F7FE-29D4-4845-A215-8B23F804C28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19" name="Image 18">
            <a:extLst>
              <a:ext uri="{FF2B5EF4-FFF2-40B4-BE49-F238E27FC236}">
                <a16:creationId xmlns:a16="http://schemas.microsoft.com/office/drawing/2014/main" id="{A03A9D3A-3B0D-481E-9BC6-BAF4484F99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4" name="Image 23">
            <a:extLst>
              <a:ext uri="{FF2B5EF4-FFF2-40B4-BE49-F238E27FC236}">
                <a16:creationId xmlns:a16="http://schemas.microsoft.com/office/drawing/2014/main" id="{F04E4539-EB48-456B-9AC5-E59A2CCD23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5" name="Image 24">
            <a:extLst>
              <a:ext uri="{FF2B5EF4-FFF2-40B4-BE49-F238E27FC236}">
                <a16:creationId xmlns:a16="http://schemas.microsoft.com/office/drawing/2014/main" id="{5DEFA4FD-0CD8-48B5-AFE6-36CFB603835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6" name="Image 25">
            <a:extLst>
              <a:ext uri="{FF2B5EF4-FFF2-40B4-BE49-F238E27FC236}">
                <a16:creationId xmlns:a16="http://schemas.microsoft.com/office/drawing/2014/main" id="{E2BECAF9-00A6-43AA-B087-B4278E0FD7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7" name="Image 26">
            <a:extLst>
              <a:ext uri="{FF2B5EF4-FFF2-40B4-BE49-F238E27FC236}">
                <a16:creationId xmlns:a16="http://schemas.microsoft.com/office/drawing/2014/main" id="{D07DE49B-6D15-4523-BB3D-025F5AD8A7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8" name="Image 27">
            <a:extLst>
              <a:ext uri="{FF2B5EF4-FFF2-40B4-BE49-F238E27FC236}">
                <a16:creationId xmlns:a16="http://schemas.microsoft.com/office/drawing/2014/main" id="{3E36DF20-2DDD-40CA-B214-2178F9277E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9" name="Image 28">
            <a:extLst>
              <a:ext uri="{FF2B5EF4-FFF2-40B4-BE49-F238E27FC236}">
                <a16:creationId xmlns:a16="http://schemas.microsoft.com/office/drawing/2014/main" id="{7A3843C8-FCAD-426B-A9F7-C6364C3E69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17768455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Tree>
    <p:extLst>
      <p:ext uri="{BB962C8B-B14F-4D97-AF65-F5344CB8AC3E}">
        <p14:creationId xmlns:p14="http://schemas.microsoft.com/office/powerpoint/2010/main" val="34233860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ED7D3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MEMBRE</a:t>
            </a:r>
            <a:endParaRPr lang="en-US" sz="3600" b="1" dirty="0">
              <a:solidFill>
                <a:schemeClr val="bg1"/>
              </a:solidFill>
            </a:endParaRPr>
          </a:p>
        </p:txBody>
      </p:sp>
      <p:sp>
        <p:nvSpPr>
          <p:cNvPr id="13" name="Rectangle 12">
            <a:extLst>
              <a:ext uri="{FF2B5EF4-FFF2-40B4-BE49-F238E27FC236}">
                <a16:creationId xmlns:a16="http://schemas.microsoft.com/office/drawing/2014/main" id="{9748BCBA-407A-477B-AF7A-98F4806EDE58}"/>
              </a:ext>
            </a:extLst>
          </p:cNvPr>
          <p:cNvSpPr/>
          <p:nvPr/>
        </p:nvSpPr>
        <p:spPr>
          <a:xfrm>
            <a:off x="130131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rgbClr val="ED7D31"/>
                </a:solidFill>
              </a:rPr>
              <a:t>MEMBRE</a:t>
            </a:r>
          </a:p>
          <a:p>
            <a:pPr algn="ctr"/>
            <a:endParaRPr lang="fr-FR" sz="2400" b="1" dirty="0">
              <a:solidFill>
                <a:srgbClr val="0683AA"/>
              </a:solidFill>
            </a:endParaRPr>
          </a:p>
          <a:p>
            <a:pPr algn="ctr"/>
            <a:r>
              <a:rPr lang="fr-FR" sz="2400" b="1" dirty="0">
                <a:solidFill>
                  <a:srgbClr val="ED7D31"/>
                </a:solidFill>
              </a:rPr>
              <a:t>……………..</a:t>
            </a:r>
          </a:p>
          <a:p>
            <a:pPr algn="ctr"/>
            <a:endParaRPr lang="fr-FR" sz="2400" b="1" dirty="0">
              <a:solidFill>
                <a:srgbClr val="ED7D31"/>
              </a:solidFill>
            </a:endParaRPr>
          </a:p>
          <a:p>
            <a:pPr algn="ctr"/>
            <a:r>
              <a:rPr lang="fr-FR" sz="1200" dirty="0">
                <a:solidFill>
                  <a:srgbClr val="ED7D31"/>
                </a:solidFill>
              </a:rPr>
              <a:t>Renseignez sur cette carte le prénom d’un(e) membre réel(-le) de l’équipe.  </a:t>
            </a:r>
          </a:p>
        </p:txBody>
      </p:sp>
      <p:sp>
        <p:nvSpPr>
          <p:cNvPr id="14" name="Rectangle 13">
            <a:extLst>
              <a:ext uri="{FF2B5EF4-FFF2-40B4-BE49-F238E27FC236}">
                <a16:creationId xmlns:a16="http://schemas.microsoft.com/office/drawing/2014/main" id="{FF539580-5CBB-4244-96D8-5B93CAA99056}"/>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rgbClr val="ED7D31"/>
                </a:solidFill>
              </a:rPr>
              <a:t>MEMBRE</a:t>
            </a:r>
          </a:p>
          <a:p>
            <a:pPr algn="ctr"/>
            <a:endParaRPr lang="fr-FR" sz="2400" b="1" dirty="0">
              <a:solidFill>
                <a:srgbClr val="0683AA"/>
              </a:solidFill>
            </a:endParaRPr>
          </a:p>
          <a:p>
            <a:pPr algn="ctr"/>
            <a:r>
              <a:rPr lang="fr-FR" sz="2400" b="1" dirty="0">
                <a:solidFill>
                  <a:srgbClr val="ED7D31"/>
                </a:solidFill>
              </a:rPr>
              <a:t>……………..</a:t>
            </a:r>
          </a:p>
          <a:p>
            <a:pPr algn="ctr"/>
            <a:endParaRPr lang="fr-FR" sz="2400" b="1" dirty="0">
              <a:solidFill>
                <a:srgbClr val="ED7D31"/>
              </a:solidFill>
            </a:endParaRPr>
          </a:p>
          <a:p>
            <a:pPr algn="ctr"/>
            <a:r>
              <a:rPr lang="fr-FR" sz="1200" dirty="0">
                <a:solidFill>
                  <a:srgbClr val="ED7D31"/>
                </a:solidFill>
              </a:rPr>
              <a:t>Renseignez sur cette carte le prénom d’un(e) membre réel(-le) de l’équipe.  </a:t>
            </a:r>
          </a:p>
        </p:txBody>
      </p:sp>
      <p:sp>
        <p:nvSpPr>
          <p:cNvPr id="15" name="Rectangle 14">
            <a:extLst>
              <a:ext uri="{FF2B5EF4-FFF2-40B4-BE49-F238E27FC236}">
                <a16:creationId xmlns:a16="http://schemas.microsoft.com/office/drawing/2014/main" id="{FF4D6188-64C6-402D-8604-91B76C3D92E7}"/>
              </a:ext>
            </a:extLst>
          </p:cNvPr>
          <p:cNvSpPr/>
          <p:nvPr/>
        </p:nvSpPr>
        <p:spPr>
          <a:xfrm>
            <a:off x="3840333"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rgbClr val="ED7D31"/>
                </a:solidFill>
              </a:rPr>
              <a:t>MEMBRE</a:t>
            </a:r>
          </a:p>
          <a:p>
            <a:pPr algn="ctr"/>
            <a:endParaRPr lang="fr-FR" sz="2400" b="1" dirty="0">
              <a:solidFill>
                <a:srgbClr val="0683AA"/>
              </a:solidFill>
            </a:endParaRPr>
          </a:p>
          <a:p>
            <a:pPr algn="ctr"/>
            <a:r>
              <a:rPr lang="fr-FR" sz="2400" b="1" dirty="0">
                <a:solidFill>
                  <a:srgbClr val="ED7D31"/>
                </a:solidFill>
              </a:rPr>
              <a:t>……………..</a:t>
            </a:r>
          </a:p>
          <a:p>
            <a:pPr algn="ctr"/>
            <a:endParaRPr lang="fr-FR" sz="2400" b="1" dirty="0">
              <a:solidFill>
                <a:srgbClr val="ED7D31"/>
              </a:solidFill>
            </a:endParaRPr>
          </a:p>
          <a:p>
            <a:pPr algn="ctr"/>
            <a:r>
              <a:rPr lang="fr-FR" sz="1200" dirty="0">
                <a:solidFill>
                  <a:srgbClr val="ED7D31"/>
                </a:solidFill>
              </a:rPr>
              <a:t>Renseignez sur cette carte le prénom d’un(e) membre réel(-le) de l’équipe.  </a:t>
            </a:r>
          </a:p>
        </p:txBody>
      </p:sp>
      <p:sp>
        <p:nvSpPr>
          <p:cNvPr id="16" name="Rectangle 15">
            <a:extLst>
              <a:ext uri="{FF2B5EF4-FFF2-40B4-BE49-F238E27FC236}">
                <a16:creationId xmlns:a16="http://schemas.microsoft.com/office/drawing/2014/main" id="{90928F47-B07B-4C12-811B-469DE2664234}"/>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rgbClr val="ED7D31"/>
                </a:solidFill>
              </a:rPr>
              <a:t>MEMBRE</a:t>
            </a:r>
          </a:p>
          <a:p>
            <a:pPr algn="ctr"/>
            <a:endParaRPr lang="fr-FR" sz="2400" b="1" dirty="0">
              <a:solidFill>
                <a:srgbClr val="0683AA"/>
              </a:solidFill>
            </a:endParaRPr>
          </a:p>
          <a:p>
            <a:pPr algn="ctr"/>
            <a:r>
              <a:rPr lang="fr-FR" sz="2400" b="1" dirty="0">
                <a:solidFill>
                  <a:srgbClr val="ED7D31"/>
                </a:solidFill>
              </a:rPr>
              <a:t>……………..</a:t>
            </a:r>
          </a:p>
          <a:p>
            <a:pPr algn="ctr"/>
            <a:endParaRPr lang="fr-FR" sz="2400" b="1" dirty="0">
              <a:solidFill>
                <a:srgbClr val="ED7D31"/>
              </a:solidFill>
            </a:endParaRPr>
          </a:p>
          <a:p>
            <a:pPr algn="ctr"/>
            <a:r>
              <a:rPr lang="fr-FR" sz="1200" dirty="0">
                <a:solidFill>
                  <a:srgbClr val="ED7D31"/>
                </a:solidFill>
              </a:rPr>
              <a:t>Renseignez sur cette carte le prénom d’un(e) membre réel(-le) de l’équipe.  </a:t>
            </a:r>
          </a:p>
        </p:txBody>
      </p:sp>
      <p:sp>
        <p:nvSpPr>
          <p:cNvPr id="17" name="Rectangle 16">
            <a:extLst>
              <a:ext uri="{FF2B5EF4-FFF2-40B4-BE49-F238E27FC236}">
                <a16:creationId xmlns:a16="http://schemas.microsoft.com/office/drawing/2014/main" id="{9BDBC3F6-824F-4395-B8C9-BE044B78EEB6}"/>
              </a:ext>
            </a:extLst>
          </p:cNvPr>
          <p:cNvSpPr/>
          <p:nvPr/>
        </p:nvSpPr>
        <p:spPr>
          <a:xfrm>
            <a:off x="6407457"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rgbClr val="ED7D31"/>
                </a:solidFill>
              </a:rPr>
              <a:t>MEMBRE</a:t>
            </a:r>
          </a:p>
          <a:p>
            <a:pPr algn="ctr"/>
            <a:endParaRPr lang="fr-FR" sz="2400" b="1" dirty="0">
              <a:solidFill>
                <a:srgbClr val="0683AA"/>
              </a:solidFill>
            </a:endParaRPr>
          </a:p>
          <a:p>
            <a:pPr algn="ctr"/>
            <a:r>
              <a:rPr lang="fr-FR" sz="2400" b="1" dirty="0">
                <a:solidFill>
                  <a:srgbClr val="ED7D31"/>
                </a:solidFill>
              </a:rPr>
              <a:t>……………..</a:t>
            </a:r>
          </a:p>
          <a:p>
            <a:pPr algn="ctr"/>
            <a:endParaRPr lang="fr-FR" sz="2400" b="1" dirty="0">
              <a:solidFill>
                <a:srgbClr val="ED7D31"/>
              </a:solidFill>
            </a:endParaRPr>
          </a:p>
          <a:p>
            <a:pPr algn="ctr"/>
            <a:r>
              <a:rPr lang="fr-FR" sz="1200" dirty="0">
                <a:solidFill>
                  <a:srgbClr val="ED7D31"/>
                </a:solidFill>
              </a:rPr>
              <a:t>Renseignez sur cette carte le prénom d’un(e) membre réel(-le) de l’équipe.  </a:t>
            </a:r>
          </a:p>
        </p:txBody>
      </p:sp>
      <p:sp>
        <p:nvSpPr>
          <p:cNvPr id="18" name="Rectangle 17">
            <a:extLst>
              <a:ext uri="{FF2B5EF4-FFF2-40B4-BE49-F238E27FC236}">
                <a16:creationId xmlns:a16="http://schemas.microsoft.com/office/drawing/2014/main" id="{6A06F217-6DE4-48E2-A995-1070977BF118}"/>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rgbClr val="ED7D31"/>
                </a:solidFill>
              </a:rPr>
              <a:t>MEMBRE</a:t>
            </a:r>
          </a:p>
          <a:p>
            <a:pPr algn="ctr"/>
            <a:endParaRPr lang="fr-FR" sz="2400" b="1" dirty="0">
              <a:solidFill>
                <a:srgbClr val="0683AA"/>
              </a:solidFill>
            </a:endParaRPr>
          </a:p>
          <a:p>
            <a:pPr algn="ctr"/>
            <a:r>
              <a:rPr lang="fr-FR" sz="2400" b="1" dirty="0">
                <a:solidFill>
                  <a:srgbClr val="ED7D31"/>
                </a:solidFill>
              </a:rPr>
              <a:t>……………..</a:t>
            </a:r>
          </a:p>
          <a:p>
            <a:pPr algn="ctr"/>
            <a:endParaRPr lang="fr-FR" sz="2400" b="1" dirty="0">
              <a:solidFill>
                <a:srgbClr val="ED7D31"/>
              </a:solidFill>
            </a:endParaRPr>
          </a:p>
          <a:p>
            <a:pPr algn="ctr"/>
            <a:r>
              <a:rPr lang="fr-FR" sz="1200" dirty="0">
                <a:solidFill>
                  <a:srgbClr val="ED7D31"/>
                </a:solidFill>
              </a:rPr>
              <a:t>Renseignez sur cette carte le prénom d’un(e) membre réel(-le) de l’équipe.  </a:t>
            </a:r>
          </a:p>
        </p:txBody>
      </p:sp>
      <p:sp>
        <p:nvSpPr>
          <p:cNvPr id="19" name="Rectangle 18">
            <a:extLst>
              <a:ext uri="{FF2B5EF4-FFF2-40B4-BE49-F238E27FC236}">
                <a16:creationId xmlns:a16="http://schemas.microsoft.com/office/drawing/2014/main" id="{4AD8801F-4405-4E8E-AC66-00DAAA82E8B2}"/>
              </a:ext>
            </a:extLst>
          </p:cNvPr>
          <p:cNvSpPr/>
          <p:nvPr/>
        </p:nvSpPr>
        <p:spPr>
          <a:xfrm>
            <a:off x="894647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rgbClr val="ED7D31"/>
                </a:solidFill>
              </a:rPr>
              <a:t>MEMBRE</a:t>
            </a:r>
          </a:p>
          <a:p>
            <a:pPr algn="ctr"/>
            <a:endParaRPr lang="fr-FR" sz="2400" b="1" dirty="0">
              <a:solidFill>
                <a:srgbClr val="0683AA"/>
              </a:solidFill>
            </a:endParaRPr>
          </a:p>
          <a:p>
            <a:pPr algn="ctr"/>
            <a:r>
              <a:rPr lang="fr-FR" sz="2400" b="1" dirty="0">
                <a:solidFill>
                  <a:srgbClr val="ED7D31"/>
                </a:solidFill>
              </a:rPr>
              <a:t>……………..</a:t>
            </a:r>
          </a:p>
          <a:p>
            <a:pPr algn="ctr"/>
            <a:endParaRPr lang="fr-FR" sz="2400" b="1" dirty="0">
              <a:solidFill>
                <a:srgbClr val="ED7D31"/>
              </a:solidFill>
            </a:endParaRPr>
          </a:p>
          <a:p>
            <a:pPr algn="ctr"/>
            <a:r>
              <a:rPr lang="fr-FR" sz="1200" dirty="0">
                <a:solidFill>
                  <a:srgbClr val="ED7D31"/>
                </a:solidFill>
              </a:rPr>
              <a:t>Renseignez sur cette carte le prénom d’un(e) membre réel(-le) de l’équipe.  </a:t>
            </a:r>
          </a:p>
        </p:txBody>
      </p:sp>
      <p:sp>
        <p:nvSpPr>
          <p:cNvPr id="20" name="Rectangle 19">
            <a:extLst>
              <a:ext uri="{FF2B5EF4-FFF2-40B4-BE49-F238E27FC236}">
                <a16:creationId xmlns:a16="http://schemas.microsoft.com/office/drawing/2014/main" id="{488D8D06-895C-4B1D-9DEA-71ADF5A9FA09}"/>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rgbClr val="ED7D31"/>
                </a:solidFill>
              </a:rPr>
              <a:t>MEMBRE</a:t>
            </a:r>
          </a:p>
          <a:p>
            <a:pPr algn="ctr"/>
            <a:endParaRPr lang="fr-FR" sz="2400" b="1" dirty="0">
              <a:solidFill>
                <a:srgbClr val="0683AA"/>
              </a:solidFill>
            </a:endParaRPr>
          </a:p>
          <a:p>
            <a:pPr algn="ctr"/>
            <a:r>
              <a:rPr lang="fr-FR" sz="2400" b="1" dirty="0">
                <a:solidFill>
                  <a:srgbClr val="ED7D31"/>
                </a:solidFill>
              </a:rPr>
              <a:t>……………..</a:t>
            </a:r>
          </a:p>
          <a:p>
            <a:pPr algn="ctr"/>
            <a:endParaRPr lang="fr-FR" sz="2400" b="1" dirty="0">
              <a:solidFill>
                <a:srgbClr val="ED7D31"/>
              </a:solidFill>
            </a:endParaRPr>
          </a:p>
          <a:p>
            <a:pPr algn="ctr"/>
            <a:r>
              <a:rPr lang="fr-FR" sz="1200" dirty="0">
                <a:solidFill>
                  <a:srgbClr val="ED7D31"/>
                </a:solidFill>
              </a:rPr>
              <a:t>Renseignez sur cette carte le prénom d’un(e) membre réel(-le) de l’équipe.  </a:t>
            </a:r>
          </a:p>
        </p:txBody>
      </p:sp>
      <p:pic>
        <p:nvPicPr>
          <p:cNvPr id="21" name="Image 20">
            <a:extLst>
              <a:ext uri="{FF2B5EF4-FFF2-40B4-BE49-F238E27FC236}">
                <a16:creationId xmlns:a16="http://schemas.microsoft.com/office/drawing/2014/main" id="{5C0BEBF5-D39D-4D37-80AC-3F91F3C92C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2267E608-0021-4D56-B3A9-67A5EBB46B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0A048F29-D62C-485F-8A6B-98761671524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54E204C4-7697-4D78-B355-15F4ED277FE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4084D5C0-AB47-4FA6-90FE-3A8F388DB1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32B0BBB5-8BB6-46E3-9C16-89D065894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0A974C3B-D28A-4338-B789-1253E0AAD94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BB85DEF2-53AB-41F3-9714-7AA6E9EBAB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151880140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PARTIE PRENANTE</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PARTIE PRENANTE</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PARTIE PRENANTE</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PARTIE PRENANTE</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PARTIE PRENANTE</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PARTIE PRENANTE</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PARTIE PRENANTE</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PARTIE PRENANTE</a:t>
            </a:r>
            <a:endParaRPr lang="en-US" sz="3600" b="1" dirty="0">
              <a:solidFill>
                <a:schemeClr val="bg1"/>
              </a:solidFill>
            </a:endParaRPr>
          </a:p>
        </p:txBody>
      </p:sp>
    </p:spTree>
    <p:extLst>
      <p:ext uri="{BB962C8B-B14F-4D97-AF65-F5344CB8AC3E}">
        <p14:creationId xmlns:p14="http://schemas.microsoft.com/office/powerpoint/2010/main" val="18869930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21" name="Rectangle 20">
            <a:extLst>
              <a:ext uri="{FF2B5EF4-FFF2-40B4-BE49-F238E27FC236}">
                <a16:creationId xmlns:a16="http://schemas.microsoft.com/office/drawing/2014/main" id="{6C56BC87-1DC6-4D8F-8A50-0374A550566F}"/>
              </a:ext>
            </a:extLst>
          </p:cNvPr>
          <p:cNvSpPr/>
          <p:nvPr/>
        </p:nvSpPr>
        <p:spPr>
          <a:xfrm>
            <a:off x="130131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1"/>
                </a:solidFill>
              </a:rPr>
              <a:t>PARTIE PRENANTE</a:t>
            </a:r>
          </a:p>
          <a:p>
            <a:pPr algn="ctr"/>
            <a:endParaRPr lang="fr-FR" sz="2400" b="1" dirty="0">
              <a:solidFill>
                <a:schemeClr val="tx1"/>
              </a:solidFill>
            </a:endParaRPr>
          </a:p>
          <a:p>
            <a:pPr algn="ctr"/>
            <a:r>
              <a:rPr lang="fr-FR" sz="2400" b="1" dirty="0">
                <a:solidFill>
                  <a:schemeClr val="tx1"/>
                </a:solidFill>
              </a:rPr>
              <a:t>……………..</a:t>
            </a:r>
          </a:p>
          <a:p>
            <a:pPr algn="ctr"/>
            <a:r>
              <a:rPr lang="fr-FR" sz="1200" dirty="0">
                <a:solidFill>
                  <a:schemeClr val="tx1"/>
                </a:solidFill>
              </a:rPr>
              <a:t>Renseignez sur cette carte le nom d’un(e) partie prenante de l’équipe (client, fournisseur, hiérarchie, partenaire, autre équipe en collaboration fréquente...)</a:t>
            </a:r>
            <a:r>
              <a:rPr lang="fr-FR" sz="1200" b="0" dirty="0">
                <a:solidFill>
                  <a:schemeClr val="tx1"/>
                </a:solidFill>
              </a:rPr>
              <a:t>  </a:t>
            </a:r>
            <a:endParaRPr lang="fr-FR" sz="1200" dirty="0">
              <a:solidFill>
                <a:schemeClr val="tx1"/>
              </a:solidFill>
            </a:endParaRPr>
          </a:p>
        </p:txBody>
      </p:sp>
      <p:sp>
        <p:nvSpPr>
          <p:cNvPr id="22" name="Rectangle 21">
            <a:extLst>
              <a:ext uri="{FF2B5EF4-FFF2-40B4-BE49-F238E27FC236}">
                <a16:creationId xmlns:a16="http://schemas.microsoft.com/office/drawing/2014/main" id="{9F89C087-6D06-4836-90A2-05716CC31839}"/>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1"/>
                </a:solidFill>
              </a:rPr>
              <a:t>PARTIE PRENANTE</a:t>
            </a:r>
          </a:p>
          <a:p>
            <a:pPr algn="ctr"/>
            <a:endParaRPr lang="fr-FR" sz="2400" b="1" dirty="0">
              <a:solidFill>
                <a:schemeClr val="tx1"/>
              </a:solidFill>
            </a:endParaRPr>
          </a:p>
          <a:p>
            <a:pPr algn="ctr"/>
            <a:r>
              <a:rPr lang="fr-FR" sz="2400" b="1" dirty="0">
                <a:solidFill>
                  <a:schemeClr val="tx1"/>
                </a:solidFill>
              </a:rPr>
              <a:t>……………..</a:t>
            </a:r>
          </a:p>
          <a:p>
            <a:pPr algn="ctr"/>
            <a:r>
              <a:rPr lang="fr-FR" sz="1200" dirty="0">
                <a:solidFill>
                  <a:schemeClr val="tx1"/>
                </a:solidFill>
              </a:rPr>
              <a:t>Renseignez sur cette carte le nom d’un(e) partie prenante de l’équipe (client, fournisseur, hiérarchie, partenaire, autre équipe en collaboration fréquente...)</a:t>
            </a:r>
            <a:r>
              <a:rPr lang="fr-FR" sz="1200" b="0" dirty="0">
                <a:solidFill>
                  <a:schemeClr val="tx1"/>
                </a:solidFill>
              </a:rPr>
              <a:t>  </a:t>
            </a:r>
            <a:endParaRPr lang="fr-FR" sz="1200" dirty="0">
              <a:solidFill>
                <a:schemeClr val="tx1"/>
              </a:solidFill>
            </a:endParaRPr>
          </a:p>
        </p:txBody>
      </p:sp>
      <p:sp>
        <p:nvSpPr>
          <p:cNvPr id="23" name="Rectangle 22">
            <a:extLst>
              <a:ext uri="{FF2B5EF4-FFF2-40B4-BE49-F238E27FC236}">
                <a16:creationId xmlns:a16="http://schemas.microsoft.com/office/drawing/2014/main" id="{C7C66249-C32A-440C-BFD9-2AC92B2A2F07}"/>
              </a:ext>
            </a:extLst>
          </p:cNvPr>
          <p:cNvSpPr/>
          <p:nvPr/>
        </p:nvSpPr>
        <p:spPr>
          <a:xfrm>
            <a:off x="3840333"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1"/>
                </a:solidFill>
              </a:rPr>
              <a:t>PARTIE PRENANTE</a:t>
            </a:r>
          </a:p>
          <a:p>
            <a:pPr algn="ctr"/>
            <a:endParaRPr lang="fr-FR" sz="2400" b="1" dirty="0">
              <a:solidFill>
                <a:schemeClr val="tx1"/>
              </a:solidFill>
            </a:endParaRPr>
          </a:p>
          <a:p>
            <a:pPr algn="ctr"/>
            <a:r>
              <a:rPr lang="fr-FR" sz="2400" b="1" dirty="0">
                <a:solidFill>
                  <a:schemeClr val="tx1"/>
                </a:solidFill>
              </a:rPr>
              <a:t>……………..</a:t>
            </a:r>
          </a:p>
          <a:p>
            <a:pPr algn="ctr"/>
            <a:r>
              <a:rPr lang="fr-FR" sz="1200" dirty="0">
                <a:solidFill>
                  <a:schemeClr val="tx1"/>
                </a:solidFill>
              </a:rPr>
              <a:t>Renseignez sur cette carte le nom d’un(e) partie prenante de l’équipe (client, fournisseur, hiérarchie, partenaire, autre équipe en collaboration fréquente...)</a:t>
            </a:r>
            <a:r>
              <a:rPr lang="fr-FR" sz="1200" b="0" dirty="0">
                <a:solidFill>
                  <a:schemeClr val="tx1"/>
                </a:solidFill>
              </a:rPr>
              <a:t>  </a:t>
            </a:r>
            <a:endParaRPr lang="fr-FR" sz="1200" dirty="0">
              <a:solidFill>
                <a:schemeClr val="tx1"/>
              </a:solidFill>
            </a:endParaRPr>
          </a:p>
        </p:txBody>
      </p:sp>
      <p:sp>
        <p:nvSpPr>
          <p:cNvPr id="24" name="Rectangle 23">
            <a:extLst>
              <a:ext uri="{FF2B5EF4-FFF2-40B4-BE49-F238E27FC236}">
                <a16:creationId xmlns:a16="http://schemas.microsoft.com/office/drawing/2014/main" id="{395DAFB4-FC96-4972-BBED-E193FDA17431}"/>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1"/>
                </a:solidFill>
              </a:rPr>
              <a:t>PARTIE PRENANTE</a:t>
            </a:r>
          </a:p>
          <a:p>
            <a:pPr algn="ctr"/>
            <a:endParaRPr lang="fr-FR" sz="2400" b="1" dirty="0">
              <a:solidFill>
                <a:schemeClr val="tx1"/>
              </a:solidFill>
            </a:endParaRPr>
          </a:p>
          <a:p>
            <a:pPr algn="ctr"/>
            <a:r>
              <a:rPr lang="fr-FR" sz="2400" b="1" dirty="0">
                <a:solidFill>
                  <a:schemeClr val="tx1"/>
                </a:solidFill>
              </a:rPr>
              <a:t>……………..</a:t>
            </a:r>
          </a:p>
          <a:p>
            <a:pPr algn="ctr"/>
            <a:r>
              <a:rPr lang="fr-FR" sz="1200" dirty="0">
                <a:solidFill>
                  <a:schemeClr val="tx1"/>
                </a:solidFill>
              </a:rPr>
              <a:t>Renseignez sur cette carte le nom d’un(e) partie prenante de l’équipe (client, fournisseur, hiérarchie, partenaire, autre équipe en collaboration fréquente...)</a:t>
            </a:r>
            <a:r>
              <a:rPr lang="fr-FR" sz="1200" b="0" dirty="0">
                <a:solidFill>
                  <a:schemeClr val="tx1"/>
                </a:solidFill>
              </a:rPr>
              <a:t>  </a:t>
            </a:r>
            <a:endParaRPr lang="fr-FR" sz="1200" dirty="0">
              <a:solidFill>
                <a:schemeClr val="tx1"/>
              </a:solidFill>
            </a:endParaRPr>
          </a:p>
        </p:txBody>
      </p:sp>
      <p:sp>
        <p:nvSpPr>
          <p:cNvPr id="25" name="Rectangle 24">
            <a:extLst>
              <a:ext uri="{FF2B5EF4-FFF2-40B4-BE49-F238E27FC236}">
                <a16:creationId xmlns:a16="http://schemas.microsoft.com/office/drawing/2014/main" id="{EE86D13D-D0BB-4851-9E9A-4F90E36B7CEF}"/>
              </a:ext>
            </a:extLst>
          </p:cNvPr>
          <p:cNvSpPr/>
          <p:nvPr/>
        </p:nvSpPr>
        <p:spPr>
          <a:xfrm>
            <a:off x="6407457"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1"/>
                </a:solidFill>
              </a:rPr>
              <a:t>PARTIE PRENANTE</a:t>
            </a:r>
          </a:p>
          <a:p>
            <a:pPr algn="ctr"/>
            <a:endParaRPr lang="fr-FR" sz="2400" b="1" dirty="0">
              <a:solidFill>
                <a:schemeClr val="tx1"/>
              </a:solidFill>
            </a:endParaRPr>
          </a:p>
          <a:p>
            <a:pPr algn="ctr"/>
            <a:r>
              <a:rPr lang="fr-FR" sz="2400" b="1" dirty="0">
                <a:solidFill>
                  <a:schemeClr val="tx1"/>
                </a:solidFill>
              </a:rPr>
              <a:t>……………..</a:t>
            </a:r>
          </a:p>
          <a:p>
            <a:pPr algn="ctr"/>
            <a:r>
              <a:rPr lang="fr-FR" sz="1200" dirty="0">
                <a:solidFill>
                  <a:schemeClr val="tx1"/>
                </a:solidFill>
              </a:rPr>
              <a:t>Renseignez sur cette carte le nom d’un(e) partie prenante de l’équipe (client, fournisseur, hiérarchie, partenaire, autre équipe en collaboration fréquente...)</a:t>
            </a:r>
            <a:r>
              <a:rPr lang="fr-FR" sz="1200" b="0" dirty="0">
                <a:solidFill>
                  <a:schemeClr val="tx1"/>
                </a:solidFill>
              </a:rPr>
              <a:t>  </a:t>
            </a:r>
            <a:endParaRPr lang="fr-FR" sz="1200" dirty="0">
              <a:solidFill>
                <a:schemeClr val="tx1"/>
              </a:solidFill>
            </a:endParaRPr>
          </a:p>
        </p:txBody>
      </p:sp>
      <p:sp>
        <p:nvSpPr>
          <p:cNvPr id="26" name="Rectangle 25">
            <a:extLst>
              <a:ext uri="{FF2B5EF4-FFF2-40B4-BE49-F238E27FC236}">
                <a16:creationId xmlns:a16="http://schemas.microsoft.com/office/drawing/2014/main" id="{2955E394-4901-4855-AC66-F31BDC2A21A2}"/>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1"/>
                </a:solidFill>
              </a:rPr>
              <a:t>PARTIE PRENANTE</a:t>
            </a:r>
          </a:p>
          <a:p>
            <a:pPr algn="ctr"/>
            <a:endParaRPr lang="fr-FR" sz="2400" b="1" dirty="0">
              <a:solidFill>
                <a:schemeClr val="tx1"/>
              </a:solidFill>
            </a:endParaRPr>
          </a:p>
          <a:p>
            <a:pPr algn="ctr"/>
            <a:r>
              <a:rPr lang="fr-FR" sz="2400" b="1" dirty="0">
                <a:solidFill>
                  <a:schemeClr val="tx1"/>
                </a:solidFill>
              </a:rPr>
              <a:t>……………..</a:t>
            </a:r>
          </a:p>
          <a:p>
            <a:pPr algn="ctr"/>
            <a:r>
              <a:rPr lang="fr-FR" sz="1200" dirty="0">
                <a:solidFill>
                  <a:schemeClr val="tx1"/>
                </a:solidFill>
              </a:rPr>
              <a:t>Renseignez sur cette carte le nom d’un(e) partie prenante de l’équipe (client, fournisseur, hiérarchie, partenaire, autre équipe en collaboration fréquente...)</a:t>
            </a:r>
            <a:r>
              <a:rPr lang="fr-FR" sz="1200" b="0" dirty="0">
                <a:solidFill>
                  <a:schemeClr val="tx1"/>
                </a:solidFill>
              </a:rPr>
              <a:t>  </a:t>
            </a:r>
            <a:endParaRPr lang="fr-FR" sz="1200" dirty="0">
              <a:solidFill>
                <a:schemeClr val="tx1"/>
              </a:solidFill>
            </a:endParaRPr>
          </a:p>
        </p:txBody>
      </p:sp>
      <p:sp>
        <p:nvSpPr>
          <p:cNvPr id="27" name="Rectangle 26">
            <a:extLst>
              <a:ext uri="{FF2B5EF4-FFF2-40B4-BE49-F238E27FC236}">
                <a16:creationId xmlns:a16="http://schemas.microsoft.com/office/drawing/2014/main" id="{2492D662-0B06-43B2-A878-607D47DFE52F}"/>
              </a:ext>
            </a:extLst>
          </p:cNvPr>
          <p:cNvSpPr/>
          <p:nvPr/>
        </p:nvSpPr>
        <p:spPr>
          <a:xfrm>
            <a:off x="894647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1"/>
                </a:solidFill>
              </a:rPr>
              <a:t>PARTIE PRENANTE</a:t>
            </a:r>
          </a:p>
          <a:p>
            <a:pPr algn="ctr"/>
            <a:endParaRPr lang="fr-FR" sz="2400" b="1" dirty="0">
              <a:solidFill>
                <a:schemeClr val="tx1"/>
              </a:solidFill>
            </a:endParaRPr>
          </a:p>
          <a:p>
            <a:pPr algn="ctr"/>
            <a:r>
              <a:rPr lang="fr-FR" sz="2400" b="1" dirty="0">
                <a:solidFill>
                  <a:schemeClr val="tx1"/>
                </a:solidFill>
              </a:rPr>
              <a:t>……………..</a:t>
            </a:r>
          </a:p>
          <a:p>
            <a:pPr algn="ctr"/>
            <a:r>
              <a:rPr lang="fr-FR" sz="1200" dirty="0">
                <a:solidFill>
                  <a:schemeClr val="tx1"/>
                </a:solidFill>
              </a:rPr>
              <a:t>Renseignez sur cette carte le nom d’un(e) partie prenante de l’équipe (client, fournisseur, hiérarchie, partenaire, autre équipe en collaboration fréquente...)</a:t>
            </a:r>
            <a:r>
              <a:rPr lang="fr-FR" sz="1200" b="0" dirty="0">
                <a:solidFill>
                  <a:schemeClr val="tx1"/>
                </a:solidFill>
              </a:rPr>
              <a:t>  </a:t>
            </a:r>
            <a:endParaRPr lang="fr-FR" sz="1200" dirty="0">
              <a:solidFill>
                <a:schemeClr val="tx1"/>
              </a:solidFill>
            </a:endParaRPr>
          </a:p>
        </p:txBody>
      </p:sp>
      <p:sp>
        <p:nvSpPr>
          <p:cNvPr id="28" name="Rectangle 27">
            <a:extLst>
              <a:ext uri="{FF2B5EF4-FFF2-40B4-BE49-F238E27FC236}">
                <a16:creationId xmlns:a16="http://schemas.microsoft.com/office/drawing/2014/main" id="{7B3FCEBB-73B2-4F4E-8837-D8023EB07573}"/>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2400" b="1" dirty="0">
                <a:solidFill>
                  <a:schemeClr val="tx1"/>
                </a:solidFill>
              </a:rPr>
              <a:t>PARTIE PRENANTE</a:t>
            </a:r>
          </a:p>
          <a:p>
            <a:pPr algn="ctr"/>
            <a:endParaRPr lang="fr-FR" sz="2400" b="1" dirty="0">
              <a:solidFill>
                <a:schemeClr val="tx1"/>
              </a:solidFill>
            </a:endParaRPr>
          </a:p>
          <a:p>
            <a:pPr algn="ctr"/>
            <a:r>
              <a:rPr lang="fr-FR" sz="2400" b="1" dirty="0">
                <a:solidFill>
                  <a:schemeClr val="tx1"/>
                </a:solidFill>
              </a:rPr>
              <a:t>……………..</a:t>
            </a:r>
          </a:p>
          <a:p>
            <a:pPr algn="ctr"/>
            <a:r>
              <a:rPr lang="fr-FR" sz="1200" dirty="0">
                <a:solidFill>
                  <a:schemeClr val="tx1"/>
                </a:solidFill>
              </a:rPr>
              <a:t>Renseignez sur cette carte le nom d’un(e) partie prenante de l’équipe (client, fournisseur, hiérarchie, partenaire, autre équipe en collaboration fréquente...)</a:t>
            </a:r>
            <a:r>
              <a:rPr lang="fr-FR" sz="1200" b="0" dirty="0">
                <a:solidFill>
                  <a:schemeClr val="tx1"/>
                </a:solidFill>
              </a:rPr>
              <a:t>  </a:t>
            </a:r>
            <a:endParaRPr lang="fr-FR" sz="1200" dirty="0">
              <a:solidFill>
                <a:schemeClr val="tx1"/>
              </a:solidFill>
            </a:endParaRPr>
          </a:p>
        </p:txBody>
      </p:sp>
    </p:spTree>
    <p:extLst>
      <p:ext uri="{BB962C8B-B14F-4D97-AF65-F5344CB8AC3E}">
        <p14:creationId xmlns:p14="http://schemas.microsoft.com/office/powerpoint/2010/main" val="24110648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Tree>
    <p:extLst>
      <p:ext uri="{BB962C8B-B14F-4D97-AF65-F5344CB8AC3E}">
        <p14:creationId xmlns:p14="http://schemas.microsoft.com/office/powerpoint/2010/main" val="39088319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3" name="Rectangle 12">
            <a:extLst>
              <a:ext uri="{FF2B5EF4-FFF2-40B4-BE49-F238E27FC236}">
                <a16:creationId xmlns:a16="http://schemas.microsoft.com/office/drawing/2014/main" id="{1A8A0B64-28A3-451D-88AD-2FE3F232CA92}"/>
              </a:ext>
            </a:extLst>
          </p:cNvPr>
          <p:cNvSpPr/>
          <p:nvPr/>
        </p:nvSpPr>
        <p:spPr>
          <a:xfrm>
            <a:off x="128874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1200" dirty="0">
              <a:solidFill>
                <a:srgbClr val="FF0000"/>
              </a:solidFill>
            </a:endParaRPr>
          </a:p>
          <a:p>
            <a:pPr algn="ctr"/>
            <a:endParaRPr lang="fr-FR" sz="1200" dirty="0">
              <a:solidFill>
                <a:srgbClr val="FF0000"/>
              </a:solidFill>
            </a:endParaRPr>
          </a:p>
          <a:p>
            <a:pPr algn="ctr"/>
            <a:r>
              <a:rPr lang="fr-FR" sz="1200" dirty="0">
                <a:solidFill>
                  <a:srgbClr val="FF0000"/>
                </a:solidFill>
              </a:rPr>
              <a:t>Cette année, vous avez décidé que votre repas de fin d’année et vos célébrations seront les plus écologiques possibles.</a:t>
            </a:r>
          </a:p>
          <a:p>
            <a:pPr algn="ctr"/>
            <a:endParaRPr lang="fr-FR" sz="1200" dirty="0">
              <a:solidFill>
                <a:srgbClr val="FF0000"/>
              </a:solidFill>
            </a:endParaRPr>
          </a:p>
          <a:p>
            <a:pPr algn="ctr"/>
            <a:r>
              <a:rPr lang="fr-FR" sz="1200" dirty="0">
                <a:solidFill>
                  <a:srgbClr val="FF0000"/>
                </a:solidFill>
              </a:rPr>
              <a:t>Qu’allez-vous faire ? </a:t>
            </a:r>
          </a:p>
        </p:txBody>
      </p:sp>
      <p:sp>
        <p:nvSpPr>
          <p:cNvPr id="14" name="Rectangle 13">
            <a:extLst>
              <a:ext uri="{FF2B5EF4-FFF2-40B4-BE49-F238E27FC236}">
                <a16:creationId xmlns:a16="http://schemas.microsoft.com/office/drawing/2014/main" id="{6EDFFA14-CBB6-436F-97A0-F7990FD2031E}"/>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r>
              <a:rPr lang="fr-FR" sz="1200" dirty="0">
                <a:solidFill>
                  <a:srgbClr val="FF0000"/>
                </a:solidFill>
              </a:rPr>
              <a:t>. En pleine session de « repas d’équipe à distance », </a:t>
            </a:r>
            <a:r>
              <a:rPr lang="fr-FR" sz="1200" b="1" dirty="0">
                <a:solidFill>
                  <a:srgbClr val="ED7D31"/>
                </a:solidFill>
              </a:rPr>
              <a:t>{MEMBRE}  </a:t>
            </a:r>
            <a:r>
              <a:rPr lang="fr-FR" sz="1200" dirty="0">
                <a:solidFill>
                  <a:srgbClr val="FF0000"/>
                </a:solidFill>
              </a:rPr>
              <a:t>s’endort fermement après avoir trop mangé. Vous constatez derrière lui/elle une personne habillée en père Noël qui s’accroche à la fenêtre et appelle à l’aide.</a:t>
            </a:r>
          </a:p>
          <a:p>
            <a:pPr algn="ctr"/>
            <a:r>
              <a:rPr lang="fr-FR" sz="1200" dirty="0">
                <a:solidFill>
                  <a:srgbClr val="FF0000"/>
                </a:solidFill>
              </a:rPr>
              <a:t>Qu’allez-vous faire ? </a:t>
            </a:r>
          </a:p>
        </p:txBody>
      </p:sp>
      <p:sp>
        <p:nvSpPr>
          <p:cNvPr id="15" name="Rectangle 14">
            <a:extLst>
              <a:ext uri="{FF2B5EF4-FFF2-40B4-BE49-F238E27FC236}">
                <a16:creationId xmlns:a16="http://schemas.microsoft.com/office/drawing/2014/main" id="{59B373C1-AD7D-4ED3-A3C0-3C2690C1E85C}"/>
              </a:ext>
            </a:extLst>
          </p:cNvPr>
          <p:cNvSpPr/>
          <p:nvPr/>
        </p:nvSpPr>
        <p:spPr>
          <a:xfrm>
            <a:off x="3832934"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chemeClr val="tx1"/>
                </a:solidFill>
              </a:rPr>
              <a:t>{PARTIE PRENANTE} </a:t>
            </a:r>
            <a:r>
              <a:rPr lang="fr-FR" sz="1200" dirty="0">
                <a:solidFill>
                  <a:srgbClr val="FF0000"/>
                </a:solidFill>
              </a:rPr>
              <a:t>vous demande d’organiser une grande fête de fin d’année pour TOUT le département (2 niveaux au dessus de votre équipe) dans 4 jours.</a:t>
            </a:r>
          </a:p>
          <a:p>
            <a:pPr algn="ctr"/>
            <a:endParaRPr lang="fr-FR" sz="1200" dirty="0">
              <a:solidFill>
                <a:srgbClr val="FF0000"/>
              </a:solidFill>
            </a:endParaRPr>
          </a:p>
          <a:p>
            <a:pPr algn="ctr"/>
            <a:r>
              <a:rPr lang="fr-FR" sz="1200" dirty="0">
                <a:solidFill>
                  <a:srgbClr val="FF0000"/>
                </a:solidFill>
              </a:rPr>
              <a:t>Qu’allez-vous faire ? </a:t>
            </a:r>
          </a:p>
        </p:txBody>
      </p:sp>
      <p:sp>
        <p:nvSpPr>
          <p:cNvPr id="16" name="Rectangle 15">
            <a:extLst>
              <a:ext uri="{FF2B5EF4-FFF2-40B4-BE49-F238E27FC236}">
                <a16:creationId xmlns:a16="http://schemas.microsoft.com/office/drawing/2014/main" id="{B52B5573-B46C-44EC-81FA-8008A7190B0A}"/>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r>
              <a:rPr lang="fr-FR" sz="1200" b="1" dirty="0">
                <a:solidFill>
                  <a:schemeClr val="tx1"/>
                </a:solidFill>
              </a:rPr>
              <a:t>{PARTIE PRENANTE} </a:t>
            </a:r>
            <a:r>
              <a:rPr lang="fr-FR" sz="1200" dirty="0">
                <a:solidFill>
                  <a:srgbClr val="FF0000"/>
                </a:solidFill>
              </a:rPr>
              <a:t>vous a préparé un énorme repas d’équipe où tous les membres sont invités. Cependant, le goût et l’odeur de sa préparation sont vraiment très difficiles pour tous. Il y a aussi une très grande quantité.</a:t>
            </a:r>
          </a:p>
          <a:p>
            <a:pPr algn="ctr"/>
            <a:r>
              <a:rPr lang="fr-FR" sz="1200" dirty="0">
                <a:solidFill>
                  <a:srgbClr val="FF0000"/>
                </a:solidFill>
              </a:rPr>
              <a:t>Qu’allez-vous faire ?</a:t>
            </a:r>
            <a:endParaRPr lang="fr-FR" sz="1200" b="1" dirty="0">
              <a:solidFill>
                <a:srgbClr val="FF0000"/>
              </a:solidFill>
            </a:endParaRPr>
          </a:p>
        </p:txBody>
      </p:sp>
      <p:sp>
        <p:nvSpPr>
          <p:cNvPr id="17" name="Rectangle 16">
            <a:extLst>
              <a:ext uri="{FF2B5EF4-FFF2-40B4-BE49-F238E27FC236}">
                <a16:creationId xmlns:a16="http://schemas.microsoft.com/office/drawing/2014/main" id="{97BCF458-4F56-423F-84B5-222D89501A16}"/>
              </a:ext>
            </a:extLst>
          </p:cNvPr>
          <p:cNvSpPr/>
          <p:nvPr/>
        </p:nvSpPr>
        <p:spPr>
          <a:xfrm>
            <a:off x="6400058"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2400" b="1" dirty="0">
              <a:solidFill>
                <a:srgbClr val="FF0000"/>
              </a:solidFill>
            </a:endParaRPr>
          </a:p>
          <a:p>
            <a:pPr algn="ctr"/>
            <a:r>
              <a:rPr lang="fr-FR" sz="1200" b="1" dirty="0">
                <a:solidFill>
                  <a:srgbClr val="ED7D31"/>
                </a:solidFill>
              </a:rPr>
              <a:t>{MEMBRE} </a:t>
            </a:r>
            <a:r>
              <a:rPr lang="fr-FR" sz="1200" dirty="0">
                <a:solidFill>
                  <a:srgbClr val="FF0000"/>
                </a:solidFill>
              </a:rPr>
              <a:t>n’a pas pu avoir ses billets de train pour pouvoir aller fêter en famille cette année.</a:t>
            </a:r>
          </a:p>
          <a:p>
            <a:pPr algn="ctr"/>
            <a:endParaRPr lang="fr-FR" sz="1200" dirty="0">
              <a:solidFill>
                <a:srgbClr val="FF0000"/>
              </a:solidFill>
            </a:endParaRPr>
          </a:p>
          <a:p>
            <a:pPr algn="ctr"/>
            <a:r>
              <a:rPr lang="fr-FR" sz="1200" dirty="0">
                <a:solidFill>
                  <a:srgbClr val="FF0000"/>
                </a:solidFill>
              </a:rPr>
              <a:t>Qu’allez-vous faire ?</a:t>
            </a:r>
          </a:p>
        </p:txBody>
      </p:sp>
      <p:sp>
        <p:nvSpPr>
          <p:cNvPr id="18" name="Rectangle 17">
            <a:extLst>
              <a:ext uri="{FF2B5EF4-FFF2-40B4-BE49-F238E27FC236}">
                <a16:creationId xmlns:a16="http://schemas.microsoft.com/office/drawing/2014/main" id="{6AF2BE40-00F5-4F1C-AFB4-5ADB536AD2A8}"/>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r>
              <a:rPr lang="fr-FR" sz="1200" dirty="0">
                <a:solidFill>
                  <a:srgbClr val="FF0000"/>
                </a:solidFill>
              </a:rPr>
              <a:t>Vous décidez de faire un cadeau collectif commun à </a:t>
            </a:r>
            <a:r>
              <a:rPr lang="fr-FR" sz="1200" b="1" dirty="0">
                <a:solidFill>
                  <a:schemeClr val="tx1"/>
                </a:solidFill>
              </a:rPr>
              <a:t>{PARTIE PRENANTE}</a:t>
            </a:r>
            <a:r>
              <a:rPr lang="fr-FR" sz="1200" dirty="0">
                <a:solidFill>
                  <a:srgbClr val="FF0000"/>
                </a:solidFill>
              </a:rPr>
              <a:t>, ce cadeau doit être très symbolique de cette personne.</a:t>
            </a:r>
          </a:p>
          <a:p>
            <a:pPr algn="ctr"/>
            <a:r>
              <a:rPr lang="fr-FR" sz="1200" dirty="0">
                <a:solidFill>
                  <a:srgbClr val="FF0000"/>
                </a:solidFill>
              </a:rPr>
              <a:t>  </a:t>
            </a:r>
          </a:p>
          <a:p>
            <a:pPr algn="ctr"/>
            <a:r>
              <a:rPr lang="fr-FR" sz="1200" dirty="0">
                <a:solidFill>
                  <a:srgbClr val="FF0000"/>
                </a:solidFill>
              </a:rPr>
              <a:t>Qu’allez-vous faire ? </a:t>
            </a:r>
          </a:p>
          <a:p>
            <a:pPr algn="ctr"/>
            <a:endParaRPr lang="fr-FR" sz="1200" dirty="0">
              <a:solidFill>
                <a:srgbClr val="FF0000"/>
              </a:solidFill>
            </a:endParaRPr>
          </a:p>
        </p:txBody>
      </p:sp>
      <p:sp>
        <p:nvSpPr>
          <p:cNvPr id="19" name="Rectangle 18">
            <a:extLst>
              <a:ext uri="{FF2B5EF4-FFF2-40B4-BE49-F238E27FC236}">
                <a16:creationId xmlns:a16="http://schemas.microsoft.com/office/drawing/2014/main" id="{5FD90B4E-40BD-4190-AB6F-0D3AE21BC089}"/>
              </a:ext>
            </a:extLst>
          </p:cNvPr>
          <p:cNvSpPr/>
          <p:nvPr/>
        </p:nvSpPr>
        <p:spPr>
          <a:xfrm>
            <a:off x="895904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endParaRPr lang="fr-FR" sz="1200" dirty="0">
              <a:solidFill>
                <a:srgbClr val="FF0000"/>
              </a:solidFill>
            </a:endParaRPr>
          </a:p>
          <a:p>
            <a:pPr algn="ctr"/>
            <a:endParaRPr lang="fr-FR" sz="1200" dirty="0">
              <a:solidFill>
                <a:srgbClr val="FF0000"/>
              </a:solidFill>
            </a:endParaRPr>
          </a:p>
          <a:p>
            <a:pPr algn="ctr"/>
            <a:r>
              <a:rPr lang="fr-FR" sz="1200" dirty="0">
                <a:solidFill>
                  <a:srgbClr val="FF0000"/>
                </a:solidFill>
              </a:rPr>
              <a:t>Vous avez 4h à partir de maintenant pour déguiser 4 membres de l’équipe en 4 personnages différents, puis revenir au bureau.</a:t>
            </a:r>
          </a:p>
          <a:p>
            <a:pPr algn="ctr"/>
            <a:endParaRPr lang="fr-FR" sz="1200" dirty="0">
              <a:solidFill>
                <a:srgbClr val="FF0000"/>
              </a:solidFill>
            </a:endParaRPr>
          </a:p>
          <a:p>
            <a:pPr algn="ctr"/>
            <a:r>
              <a:rPr lang="fr-FR" sz="1200" dirty="0">
                <a:solidFill>
                  <a:srgbClr val="FF0000"/>
                </a:solidFill>
              </a:rPr>
              <a:t>Qu’allez-vous faire ?</a:t>
            </a:r>
          </a:p>
        </p:txBody>
      </p:sp>
      <p:sp>
        <p:nvSpPr>
          <p:cNvPr id="20" name="Rectangle 19">
            <a:extLst>
              <a:ext uri="{FF2B5EF4-FFF2-40B4-BE49-F238E27FC236}">
                <a16:creationId xmlns:a16="http://schemas.microsoft.com/office/drawing/2014/main" id="{A40854DF-D32C-428D-9CAF-BCBC0ACA609C}"/>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r>
              <a:rPr lang="fr-FR" sz="1200" dirty="0">
                <a:solidFill>
                  <a:srgbClr val="FF0000"/>
                </a:solidFill>
              </a:rPr>
              <a:t>Suite à une erreur de votre fournisseur, </a:t>
            </a:r>
            <a:r>
              <a:rPr lang="fr-FR" sz="1200" b="1" dirty="0">
                <a:solidFill>
                  <a:schemeClr val="tx1"/>
                </a:solidFill>
              </a:rPr>
              <a:t>{PARTIE PRENANTE} </a:t>
            </a:r>
            <a:r>
              <a:rPr lang="fr-FR" sz="1200" dirty="0">
                <a:solidFill>
                  <a:srgbClr val="FF0000"/>
                </a:solidFill>
              </a:rPr>
              <a:t>a reçu et ouvert chez elle/lui le mauvais cadeau (une boule puante qui explose à l’ouverture de l’emballage), mais la carte était bien de votre part. </a:t>
            </a:r>
          </a:p>
          <a:p>
            <a:pPr algn="ctr"/>
            <a:r>
              <a:rPr lang="fr-FR" sz="1200" dirty="0">
                <a:solidFill>
                  <a:srgbClr val="FF0000"/>
                </a:solidFill>
              </a:rPr>
              <a:t>Qu’allez-vous faire ?</a:t>
            </a:r>
          </a:p>
          <a:p>
            <a:pPr algn="ctr"/>
            <a:endParaRPr lang="fr-FR" sz="1200" dirty="0">
              <a:solidFill>
                <a:srgbClr val="FF0000"/>
              </a:solidFill>
            </a:endParaRPr>
          </a:p>
        </p:txBody>
      </p:sp>
      <p:pic>
        <p:nvPicPr>
          <p:cNvPr id="21" name="Image 20">
            <a:extLst>
              <a:ext uri="{FF2B5EF4-FFF2-40B4-BE49-F238E27FC236}">
                <a16:creationId xmlns:a16="http://schemas.microsoft.com/office/drawing/2014/main" id="{6B241340-6C02-40DF-8197-FFF66EE394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F015E275-A420-4053-880F-82E64E58F2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A5A63091-6866-48D9-802A-D891C94000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473670AF-0039-4CB2-9CA1-6C2E1A34C56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FBDFEEE9-CEF8-4F69-AB1D-E9E240CF5D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F9B76C52-2496-4CAE-AB94-A71AD5B3F5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F576D668-D56D-4D0B-84AA-23DCA821E0B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29E07024-6384-4174-BE1C-6887C918DC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114386208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3600" b="1" dirty="0">
                <a:solidFill>
                  <a:schemeClr val="bg1"/>
                </a:solidFill>
              </a:rPr>
              <a:t>CRISE</a:t>
            </a:r>
          </a:p>
          <a:p>
            <a:pPr algn="ctr"/>
            <a:r>
              <a:rPr lang="fr-FR" sz="3600" b="1" dirty="0">
                <a:solidFill>
                  <a:schemeClr val="bg1"/>
                </a:solidFill>
              </a:rPr>
              <a:t>🔥🔥🔥</a:t>
            </a:r>
            <a:endParaRPr lang="en-US" sz="3600" b="1" dirty="0">
              <a:solidFill>
                <a:schemeClr val="bg1"/>
              </a:solidFill>
            </a:endParaRPr>
          </a:p>
        </p:txBody>
      </p:sp>
    </p:spTree>
    <p:extLst>
      <p:ext uri="{BB962C8B-B14F-4D97-AF65-F5344CB8AC3E}">
        <p14:creationId xmlns:p14="http://schemas.microsoft.com/office/powerpoint/2010/main" val="13395832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AC2879B-A09D-4A07-9144-6F09A1E41C2C}"/>
              </a:ext>
            </a:extLst>
          </p:cNvPr>
          <p:cNvSpPr/>
          <p:nvPr/>
        </p:nvSpPr>
        <p:spPr>
          <a:xfrm>
            <a:off x="1080117"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6" name="Rectangle 5">
            <a:extLst>
              <a:ext uri="{FF2B5EF4-FFF2-40B4-BE49-F238E27FC236}">
                <a16:creationId xmlns:a16="http://schemas.microsoft.com/office/drawing/2014/main" id="{B07F917C-6D08-44B9-BA42-EF76436E1D65}"/>
              </a:ext>
            </a:extLst>
          </p:cNvPr>
          <p:cNvSpPr/>
          <p:nvPr/>
        </p:nvSpPr>
        <p:spPr>
          <a:xfrm>
            <a:off x="1080117"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7" name="Rectangle 6">
            <a:extLst>
              <a:ext uri="{FF2B5EF4-FFF2-40B4-BE49-F238E27FC236}">
                <a16:creationId xmlns:a16="http://schemas.microsoft.com/office/drawing/2014/main" id="{D420AC2C-57C2-4221-86AD-84F316C0F3FE}"/>
              </a:ext>
            </a:extLst>
          </p:cNvPr>
          <p:cNvSpPr/>
          <p:nvPr/>
        </p:nvSpPr>
        <p:spPr>
          <a:xfrm>
            <a:off x="3636886"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8" name="Rectangle 7">
            <a:extLst>
              <a:ext uri="{FF2B5EF4-FFF2-40B4-BE49-F238E27FC236}">
                <a16:creationId xmlns:a16="http://schemas.microsoft.com/office/drawing/2014/main" id="{0BF2A74D-8A5A-4D18-BD52-6A1AEBB19CCC}"/>
              </a:ext>
            </a:extLst>
          </p:cNvPr>
          <p:cNvSpPr/>
          <p:nvPr/>
        </p:nvSpPr>
        <p:spPr>
          <a:xfrm>
            <a:off x="3636886"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9" name="Rectangle 8">
            <a:extLst>
              <a:ext uri="{FF2B5EF4-FFF2-40B4-BE49-F238E27FC236}">
                <a16:creationId xmlns:a16="http://schemas.microsoft.com/office/drawing/2014/main" id="{BCEF5357-C7C3-4AC9-9595-FAA98621863B}"/>
              </a:ext>
            </a:extLst>
          </p:cNvPr>
          <p:cNvSpPr/>
          <p:nvPr/>
        </p:nvSpPr>
        <p:spPr>
          <a:xfrm>
            <a:off x="6193655"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0" name="Rectangle 9">
            <a:extLst>
              <a:ext uri="{FF2B5EF4-FFF2-40B4-BE49-F238E27FC236}">
                <a16:creationId xmlns:a16="http://schemas.microsoft.com/office/drawing/2014/main" id="{EC22A7CD-3806-45E2-8635-5B01154756FA}"/>
              </a:ext>
            </a:extLst>
          </p:cNvPr>
          <p:cNvSpPr/>
          <p:nvPr/>
        </p:nvSpPr>
        <p:spPr>
          <a:xfrm>
            <a:off x="6193655"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1" name="Rectangle 10">
            <a:extLst>
              <a:ext uri="{FF2B5EF4-FFF2-40B4-BE49-F238E27FC236}">
                <a16:creationId xmlns:a16="http://schemas.microsoft.com/office/drawing/2014/main" id="{22D90CE2-DEFD-47E1-8682-5D6093727099}"/>
              </a:ext>
            </a:extLst>
          </p:cNvPr>
          <p:cNvSpPr/>
          <p:nvPr/>
        </p:nvSpPr>
        <p:spPr>
          <a:xfrm>
            <a:off x="8750424" y="170895"/>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2" name="Rectangle 11">
            <a:extLst>
              <a:ext uri="{FF2B5EF4-FFF2-40B4-BE49-F238E27FC236}">
                <a16:creationId xmlns:a16="http://schemas.microsoft.com/office/drawing/2014/main" id="{121E530D-41D3-48EA-B146-FD145EDE3EDF}"/>
              </a:ext>
            </a:extLst>
          </p:cNvPr>
          <p:cNvSpPr/>
          <p:nvPr/>
        </p:nvSpPr>
        <p:spPr>
          <a:xfrm>
            <a:off x="8750424" y="3517776"/>
            <a:ext cx="2361459" cy="316932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600" b="1" dirty="0">
              <a:solidFill>
                <a:schemeClr val="bg1"/>
              </a:solidFill>
            </a:endParaRPr>
          </a:p>
        </p:txBody>
      </p:sp>
      <p:sp>
        <p:nvSpPr>
          <p:cNvPr id="13" name="Rectangle 12">
            <a:extLst>
              <a:ext uri="{FF2B5EF4-FFF2-40B4-BE49-F238E27FC236}">
                <a16:creationId xmlns:a16="http://schemas.microsoft.com/office/drawing/2014/main" id="{1A8A0B64-28A3-451D-88AD-2FE3F232CA92}"/>
              </a:ext>
            </a:extLst>
          </p:cNvPr>
          <p:cNvSpPr/>
          <p:nvPr/>
        </p:nvSpPr>
        <p:spPr>
          <a:xfrm>
            <a:off x="1288741"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r>
              <a:rPr lang="fr-FR" sz="1200" b="1" dirty="0">
                <a:solidFill>
                  <a:schemeClr val="tx1"/>
                </a:solidFill>
              </a:rPr>
              <a:t>{PARTIE PRENANTE} </a:t>
            </a:r>
            <a:r>
              <a:rPr lang="fr-FR" sz="1200" dirty="0">
                <a:solidFill>
                  <a:srgbClr val="FF0000"/>
                </a:solidFill>
              </a:rPr>
              <a:t>a découvert (le lendemain) qu’il/elle n’était pas invité(e) à votre repas d’équipe, qui comptait pourtant </a:t>
            </a:r>
            <a:r>
              <a:rPr lang="fr-FR" sz="1200" b="1" dirty="0">
                <a:solidFill>
                  <a:schemeClr val="tx1"/>
                </a:solidFill>
              </a:rPr>
              <a:t>{PARTIE PRENANTE}</a:t>
            </a:r>
            <a:r>
              <a:rPr lang="fr-FR" sz="1200" dirty="0">
                <a:solidFill>
                  <a:srgbClr val="FF0000"/>
                </a:solidFill>
              </a:rPr>
              <a:t> et </a:t>
            </a:r>
            <a:r>
              <a:rPr lang="fr-FR" sz="1200" b="1" dirty="0">
                <a:solidFill>
                  <a:schemeClr val="tx1"/>
                </a:solidFill>
              </a:rPr>
              <a:t>{PARTIE PRENANTE}</a:t>
            </a:r>
            <a:r>
              <a:rPr lang="fr-FR" sz="1200" dirty="0">
                <a:solidFill>
                  <a:srgbClr val="FF0000"/>
                </a:solidFill>
              </a:rPr>
              <a:t>. Il/elle le prend comme un affront.</a:t>
            </a:r>
          </a:p>
          <a:p>
            <a:pPr algn="ctr"/>
            <a:r>
              <a:rPr lang="fr-FR" sz="1200" dirty="0">
                <a:solidFill>
                  <a:srgbClr val="FF0000"/>
                </a:solidFill>
              </a:rPr>
              <a:t>Qu’allez-vous faire ? </a:t>
            </a:r>
          </a:p>
        </p:txBody>
      </p:sp>
      <p:sp>
        <p:nvSpPr>
          <p:cNvPr id="14" name="Rectangle 13">
            <a:extLst>
              <a:ext uri="{FF2B5EF4-FFF2-40B4-BE49-F238E27FC236}">
                <a16:creationId xmlns:a16="http://schemas.microsoft.com/office/drawing/2014/main" id="{6EDFFA14-CBB6-436F-97A0-F7990FD2031E}"/>
              </a:ext>
            </a:extLst>
          </p:cNvPr>
          <p:cNvSpPr/>
          <p:nvPr/>
        </p:nvSpPr>
        <p:spPr>
          <a:xfrm>
            <a:off x="1293920"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r>
              <a:rPr lang="fr-FR" sz="1200" b="1" dirty="0">
                <a:solidFill>
                  <a:srgbClr val="ED7D31"/>
                </a:solidFill>
              </a:rPr>
              <a:t>{MEMBRE} </a:t>
            </a:r>
            <a:r>
              <a:rPr lang="fr-FR" sz="1200" dirty="0">
                <a:solidFill>
                  <a:srgbClr val="FF0000"/>
                </a:solidFill>
              </a:rPr>
              <a:t>et </a:t>
            </a:r>
            <a:r>
              <a:rPr lang="fr-FR" sz="1200" b="1" dirty="0">
                <a:solidFill>
                  <a:srgbClr val="ED7D31"/>
                </a:solidFill>
              </a:rPr>
              <a:t>{MEMBRE} </a:t>
            </a:r>
            <a:r>
              <a:rPr lang="fr-FR" sz="1200" dirty="0">
                <a:solidFill>
                  <a:srgbClr val="FF0000"/>
                </a:solidFill>
              </a:rPr>
              <a:t>ont oublié leurs ordinateurs au bureau et sont partis chacun loin pour les fêtes.  Il y a une urgence opérationnelle à régler à propos d’une demande de </a:t>
            </a:r>
            <a:r>
              <a:rPr lang="fr-FR" sz="1200" b="1" dirty="0">
                <a:solidFill>
                  <a:schemeClr val="tx1"/>
                </a:solidFill>
              </a:rPr>
              <a:t>{PARTIE PRENANTE}</a:t>
            </a:r>
            <a:r>
              <a:rPr lang="fr-FR" sz="1200" dirty="0">
                <a:solidFill>
                  <a:srgbClr val="FF0000"/>
                </a:solidFill>
              </a:rPr>
              <a:t>.</a:t>
            </a:r>
          </a:p>
          <a:p>
            <a:pPr algn="ctr"/>
            <a:endParaRPr lang="fr-FR" sz="1200" dirty="0">
              <a:solidFill>
                <a:srgbClr val="FF0000"/>
              </a:solidFill>
            </a:endParaRPr>
          </a:p>
          <a:p>
            <a:pPr algn="ctr"/>
            <a:r>
              <a:rPr lang="fr-FR" sz="1200" dirty="0">
                <a:solidFill>
                  <a:srgbClr val="FF0000"/>
                </a:solidFill>
              </a:rPr>
              <a:t> Qu’allez-vous faire ? </a:t>
            </a:r>
          </a:p>
        </p:txBody>
      </p:sp>
      <p:sp>
        <p:nvSpPr>
          <p:cNvPr id="15" name="Rectangle 14">
            <a:extLst>
              <a:ext uri="{FF2B5EF4-FFF2-40B4-BE49-F238E27FC236}">
                <a16:creationId xmlns:a16="http://schemas.microsoft.com/office/drawing/2014/main" id="{59B373C1-AD7D-4ED3-A3C0-3C2690C1E85C}"/>
              </a:ext>
            </a:extLst>
          </p:cNvPr>
          <p:cNvSpPr/>
          <p:nvPr/>
        </p:nvSpPr>
        <p:spPr>
          <a:xfrm>
            <a:off x="3832934"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r>
              <a:rPr lang="fr-FR" sz="1200" dirty="0">
                <a:solidFill>
                  <a:srgbClr val="FF0000"/>
                </a:solidFill>
              </a:rPr>
              <a:t>Le soir du nouvel an, </a:t>
            </a:r>
            <a:r>
              <a:rPr lang="fr-FR" sz="1200" b="1" dirty="0">
                <a:solidFill>
                  <a:schemeClr val="tx1"/>
                </a:solidFill>
              </a:rPr>
              <a:t>{PARTIE PRENANTE} </a:t>
            </a:r>
            <a:r>
              <a:rPr lang="fr-FR" sz="1200" dirty="0">
                <a:solidFill>
                  <a:srgbClr val="FF0000"/>
                </a:solidFill>
              </a:rPr>
              <a:t>envoie un message à </a:t>
            </a:r>
            <a:r>
              <a:rPr lang="fr-FR" sz="1200" b="1" dirty="0">
                <a:solidFill>
                  <a:srgbClr val="ED7D31"/>
                </a:solidFill>
              </a:rPr>
              <a:t>{MEMBRE} </a:t>
            </a:r>
            <a:r>
              <a:rPr lang="fr-FR" sz="1200" dirty="0">
                <a:solidFill>
                  <a:srgbClr val="FF0000"/>
                </a:solidFill>
              </a:rPr>
              <a:t>et </a:t>
            </a:r>
            <a:r>
              <a:rPr lang="fr-FR" sz="1200" b="1" dirty="0">
                <a:solidFill>
                  <a:srgbClr val="ED7D31"/>
                </a:solidFill>
              </a:rPr>
              <a:t>{MEMBRE} </a:t>
            </a:r>
            <a:r>
              <a:rPr lang="fr-FR" sz="1200" dirty="0">
                <a:solidFill>
                  <a:srgbClr val="FF0000"/>
                </a:solidFill>
              </a:rPr>
              <a:t>pour signaler qu’il/elle est bloqué au bureau, et qu’il y a besoin de quelqu’un pour le débloquer de l’extérieur.</a:t>
            </a:r>
          </a:p>
          <a:p>
            <a:pPr algn="ctr"/>
            <a:r>
              <a:rPr lang="fr-FR" sz="1200" dirty="0">
                <a:solidFill>
                  <a:srgbClr val="FF0000"/>
                </a:solidFill>
              </a:rPr>
              <a:t>  </a:t>
            </a:r>
          </a:p>
          <a:p>
            <a:pPr algn="ctr"/>
            <a:r>
              <a:rPr lang="fr-FR" sz="1200" dirty="0">
                <a:solidFill>
                  <a:srgbClr val="FF0000"/>
                </a:solidFill>
              </a:rPr>
              <a:t>Qu’allez-vous faire ? </a:t>
            </a:r>
          </a:p>
        </p:txBody>
      </p:sp>
      <p:sp>
        <p:nvSpPr>
          <p:cNvPr id="16" name="Rectangle 15">
            <a:extLst>
              <a:ext uri="{FF2B5EF4-FFF2-40B4-BE49-F238E27FC236}">
                <a16:creationId xmlns:a16="http://schemas.microsoft.com/office/drawing/2014/main" id="{B52B5573-B46C-44EC-81FA-8008A7190B0A}"/>
              </a:ext>
            </a:extLst>
          </p:cNvPr>
          <p:cNvSpPr/>
          <p:nvPr/>
        </p:nvSpPr>
        <p:spPr>
          <a:xfrm>
            <a:off x="3832934"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r>
              <a:rPr lang="fr-FR" sz="1200" dirty="0">
                <a:solidFill>
                  <a:srgbClr val="FF0000"/>
                </a:solidFill>
              </a:rPr>
              <a:t>Par erreur, </a:t>
            </a:r>
            <a:r>
              <a:rPr lang="fr-FR" sz="1200" b="1" dirty="0">
                <a:solidFill>
                  <a:srgbClr val="ED7D31"/>
                </a:solidFill>
              </a:rPr>
              <a:t>{MEMBRE}</a:t>
            </a:r>
            <a:r>
              <a:rPr lang="fr-FR" sz="1200" dirty="0">
                <a:solidFill>
                  <a:srgbClr val="FF0000"/>
                </a:solidFill>
              </a:rPr>
              <a:t> a posté des photos arrosées des fêtes de votre équipe sur le canal public de l’entreprise au lieu de la salle privée. Les photos ont fait le tour des réseaux sociaux professionnels et vous recevez un appel de </a:t>
            </a:r>
            <a:r>
              <a:rPr lang="fr-FR" sz="1200" b="1" dirty="0">
                <a:solidFill>
                  <a:schemeClr val="tx1"/>
                </a:solidFill>
              </a:rPr>
              <a:t>{PARTIE PRENANTE}</a:t>
            </a:r>
            <a:r>
              <a:rPr lang="fr-FR" sz="1200" dirty="0">
                <a:solidFill>
                  <a:srgbClr val="FF0000"/>
                </a:solidFill>
              </a:rPr>
              <a:t>.</a:t>
            </a:r>
          </a:p>
          <a:p>
            <a:pPr algn="ctr"/>
            <a:r>
              <a:rPr lang="fr-FR" sz="1200" dirty="0">
                <a:solidFill>
                  <a:srgbClr val="FF0000"/>
                </a:solidFill>
              </a:rPr>
              <a:t>Qu’allez-vous faire ? </a:t>
            </a:r>
          </a:p>
        </p:txBody>
      </p:sp>
      <p:sp>
        <p:nvSpPr>
          <p:cNvPr id="17" name="Rectangle 16">
            <a:extLst>
              <a:ext uri="{FF2B5EF4-FFF2-40B4-BE49-F238E27FC236}">
                <a16:creationId xmlns:a16="http://schemas.microsoft.com/office/drawing/2014/main" id="{97BCF458-4F56-423F-84B5-222D89501A16}"/>
              </a:ext>
            </a:extLst>
          </p:cNvPr>
          <p:cNvSpPr/>
          <p:nvPr/>
        </p:nvSpPr>
        <p:spPr>
          <a:xfrm>
            <a:off x="6400058"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 </a:t>
            </a:r>
          </a:p>
          <a:p>
            <a:pPr algn="ctr"/>
            <a:r>
              <a:rPr lang="fr-FR" sz="1200" dirty="0">
                <a:solidFill>
                  <a:srgbClr val="FF0000"/>
                </a:solidFill>
              </a:rPr>
              <a:t>Vous avez invité tout le département pour une grande célébration. Votre équipe a avancé personnellement le budget. Pendant l’événement, </a:t>
            </a:r>
            <a:r>
              <a:rPr lang="fr-FR" sz="1200" b="1" dirty="0">
                <a:solidFill>
                  <a:schemeClr val="tx1"/>
                </a:solidFill>
              </a:rPr>
              <a:t>{PARTIE PRENANTE}</a:t>
            </a:r>
            <a:r>
              <a:rPr lang="fr-FR" sz="1200" dirty="0">
                <a:solidFill>
                  <a:srgbClr val="FF0000"/>
                </a:solidFill>
              </a:rPr>
              <a:t> vous indique que le budget pour rembourser a été annulé.</a:t>
            </a:r>
          </a:p>
          <a:p>
            <a:pPr algn="ctr"/>
            <a:r>
              <a:rPr lang="fr-FR" sz="1200" dirty="0">
                <a:solidFill>
                  <a:srgbClr val="FF0000"/>
                </a:solidFill>
              </a:rPr>
              <a:t>Qu’allez vous faire ?</a:t>
            </a:r>
          </a:p>
        </p:txBody>
      </p:sp>
      <p:sp>
        <p:nvSpPr>
          <p:cNvPr id="18" name="Rectangle 17">
            <a:extLst>
              <a:ext uri="{FF2B5EF4-FFF2-40B4-BE49-F238E27FC236}">
                <a16:creationId xmlns:a16="http://schemas.microsoft.com/office/drawing/2014/main" id="{6AF2BE40-00F5-4F1C-AFB4-5ADB536AD2A8}"/>
              </a:ext>
            </a:extLst>
          </p:cNvPr>
          <p:cNvSpPr/>
          <p:nvPr/>
        </p:nvSpPr>
        <p:spPr>
          <a:xfrm>
            <a:off x="6400058"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r>
              <a:rPr lang="fr-FR" sz="1200" b="1" dirty="0">
                <a:solidFill>
                  <a:schemeClr val="tx1"/>
                </a:solidFill>
              </a:rPr>
              <a:t>{PARTIE PRENANTE} </a:t>
            </a:r>
            <a:r>
              <a:rPr lang="fr-FR" sz="1200" dirty="0">
                <a:solidFill>
                  <a:srgbClr val="FF0000"/>
                </a:solidFill>
              </a:rPr>
              <a:t>vous indique que vous avez fait un dépassement de budget majeur (l’équivalent d’une demi personne sur un an) et que vous devrez trouver des économies sur le semestre prochain.</a:t>
            </a:r>
          </a:p>
          <a:p>
            <a:pPr algn="ctr"/>
            <a:endParaRPr lang="fr-FR" sz="1200" dirty="0">
              <a:solidFill>
                <a:srgbClr val="FF0000"/>
              </a:solidFill>
            </a:endParaRPr>
          </a:p>
          <a:p>
            <a:pPr algn="ctr"/>
            <a:r>
              <a:rPr lang="fr-FR" sz="1200" dirty="0">
                <a:solidFill>
                  <a:srgbClr val="FF0000"/>
                </a:solidFill>
              </a:rPr>
              <a:t>Qu’allez-vous faire ? </a:t>
            </a:r>
          </a:p>
        </p:txBody>
      </p:sp>
      <p:sp>
        <p:nvSpPr>
          <p:cNvPr id="19" name="Rectangle 18">
            <a:extLst>
              <a:ext uri="{FF2B5EF4-FFF2-40B4-BE49-F238E27FC236}">
                <a16:creationId xmlns:a16="http://schemas.microsoft.com/office/drawing/2014/main" id="{5FD90B4E-40BD-4190-AB6F-0D3AE21BC089}"/>
              </a:ext>
            </a:extLst>
          </p:cNvPr>
          <p:cNvSpPr/>
          <p:nvPr/>
        </p:nvSpPr>
        <p:spPr>
          <a:xfrm>
            <a:off x="8959049" y="346229"/>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r>
              <a:rPr lang="fr-FR" sz="1200" dirty="0">
                <a:solidFill>
                  <a:srgbClr val="FF0000"/>
                </a:solidFill>
              </a:rPr>
              <a:t>Suite à des fêtes trop arrosées, </a:t>
            </a:r>
            <a:r>
              <a:rPr lang="fr-FR" sz="1200" b="1" dirty="0">
                <a:solidFill>
                  <a:srgbClr val="ED7D31"/>
                </a:solidFill>
              </a:rPr>
              <a:t>{MEMBRE} </a:t>
            </a:r>
            <a:r>
              <a:rPr lang="fr-FR" sz="1200" dirty="0">
                <a:solidFill>
                  <a:srgbClr val="FF0000"/>
                </a:solidFill>
              </a:rPr>
              <a:t>et </a:t>
            </a:r>
            <a:r>
              <a:rPr lang="fr-FR" sz="1200" b="1" dirty="0">
                <a:solidFill>
                  <a:srgbClr val="ED7D31"/>
                </a:solidFill>
              </a:rPr>
              <a:t>{MEMBRE} </a:t>
            </a:r>
            <a:r>
              <a:rPr lang="fr-FR" sz="1200" dirty="0">
                <a:solidFill>
                  <a:srgbClr val="FF0000"/>
                </a:solidFill>
              </a:rPr>
              <a:t>doivent s’absenter 3 semaines de plus que prévu.</a:t>
            </a:r>
          </a:p>
          <a:p>
            <a:pPr algn="ctr"/>
            <a:endParaRPr lang="fr-FR" sz="1200" dirty="0">
              <a:solidFill>
                <a:srgbClr val="FF0000"/>
              </a:solidFill>
            </a:endParaRPr>
          </a:p>
          <a:p>
            <a:pPr algn="ctr"/>
            <a:r>
              <a:rPr lang="fr-FR" sz="1200" dirty="0">
                <a:solidFill>
                  <a:srgbClr val="FF0000"/>
                </a:solidFill>
              </a:rPr>
              <a:t>Qu’allez-vous faire ? </a:t>
            </a:r>
          </a:p>
          <a:p>
            <a:pPr algn="ctr"/>
            <a:endParaRPr lang="fr-FR" sz="1200" dirty="0">
              <a:solidFill>
                <a:srgbClr val="FF0000"/>
              </a:solidFill>
            </a:endParaRPr>
          </a:p>
        </p:txBody>
      </p:sp>
      <p:sp>
        <p:nvSpPr>
          <p:cNvPr id="20" name="Rectangle 19">
            <a:extLst>
              <a:ext uri="{FF2B5EF4-FFF2-40B4-BE49-F238E27FC236}">
                <a16:creationId xmlns:a16="http://schemas.microsoft.com/office/drawing/2014/main" id="{A40854DF-D32C-428D-9CAF-BCBC0ACA609C}"/>
              </a:ext>
            </a:extLst>
          </p:cNvPr>
          <p:cNvSpPr/>
          <p:nvPr/>
        </p:nvSpPr>
        <p:spPr>
          <a:xfrm>
            <a:off x="8939072" y="3715305"/>
            <a:ext cx="1944210" cy="279646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fr-FR" sz="2400" b="1" dirty="0">
                <a:solidFill>
                  <a:srgbClr val="FF0000"/>
                </a:solidFill>
              </a:rPr>
              <a:t>CRISE</a:t>
            </a:r>
          </a:p>
          <a:p>
            <a:pPr algn="ctr"/>
            <a:r>
              <a:rPr lang="fr-FR" sz="2400" b="1" dirty="0">
                <a:solidFill>
                  <a:srgbClr val="FF0000"/>
                </a:solidFill>
              </a:rPr>
              <a:t>🔥🔥🔥</a:t>
            </a:r>
          </a:p>
          <a:p>
            <a:pPr algn="ctr"/>
            <a:r>
              <a:rPr lang="fr-FR" sz="1200" dirty="0">
                <a:solidFill>
                  <a:srgbClr val="FF0000"/>
                </a:solidFill>
              </a:rPr>
              <a:t>Pendant le repas de fin d’année, </a:t>
            </a:r>
            <a:r>
              <a:rPr lang="fr-FR" sz="1200" b="1" dirty="0">
                <a:solidFill>
                  <a:srgbClr val="ED7D31"/>
                </a:solidFill>
              </a:rPr>
              <a:t>{MEMBRE}</a:t>
            </a:r>
            <a:r>
              <a:rPr lang="fr-FR" sz="1200" dirty="0">
                <a:solidFill>
                  <a:srgbClr val="FF0000"/>
                </a:solidFill>
              </a:rPr>
              <a:t> a découvert que </a:t>
            </a:r>
            <a:r>
              <a:rPr lang="fr-FR" sz="1200" b="1" dirty="0">
                <a:solidFill>
                  <a:schemeClr val="tx1"/>
                </a:solidFill>
              </a:rPr>
              <a:t>{PARTIE PRENANTE}</a:t>
            </a:r>
            <a:r>
              <a:rPr lang="fr-FR" sz="1200" dirty="0">
                <a:solidFill>
                  <a:schemeClr val="tx1"/>
                </a:solidFill>
              </a:rPr>
              <a:t> </a:t>
            </a:r>
            <a:r>
              <a:rPr lang="fr-FR" sz="1200" dirty="0">
                <a:solidFill>
                  <a:srgbClr val="FF0000"/>
                </a:solidFill>
              </a:rPr>
              <a:t>a emporté dans ses affaires personnelles des bouteilles et autres desserts normalement destinés à tous (a priori).</a:t>
            </a:r>
          </a:p>
          <a:p>
            <a:pPr algn="ctr"/>
            <a:r>
              <a:rPr lang="fr-FR" sz="1200" dirty="0">
                <a:solidFill>
                  <a:srgbClr val="FF0000"/>
                </a:solidFill>
              </a:rPr>
              <a:t> </a:t>
            </a:r>
          </a:p>
          <a:p>
            <a:pPr algn="ctr"/>
            <a:r>
              <a:rPr lang="fr-FR" sz="1200" dirty="0">
                <a:solidFill>
                  <a:srgbClr val="FF0000"/>
                </a:solidFill>
              </a:rPr>
              <a:t>Qu’allez-vous faire ? </a:t>
            </a:r>
          </a:p>
        </p:txBody>
      </p:sp>
      <p:pic>
        <p:nvPicPr>
          <p:cNvPr id="21" name="Image 20">
            <a:extLst>
              <a:ext uri="{FF2B5EF4-FFF2-40B4-BE49-F238E27FC236}">
                <a16:creationId xmlns:a16="http://schemas.microsoft.com/office/drawing/2014/main" id="{485D2092-DC9B-4F0A-9135-7CC51D6245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9223" y="2867323"/>
            <a:ext cx="285360" cy="275372"/>
          </a:xfrm>
          <a:prstGeom prst="rect">
            <a:avLst/>
          </a:prstGeom>
        </p:spPr>
      </p:pic>
      <p:pic>
        <p:nvPicPr>
          <p:cNvPr id="22" name="Image 21">
            <a:extLst>
              <a:ext uri="{FF2B5EF4-FFF2-40B4-BE49-F238E27FC236}">
                <a16:creationId xmlns:a16="http://schemas.microsoft.com/office/drawing/2014/main" id="{DF6778C9-D954-4E3B-938C-3B0EAE914A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6759" y="2867323"/>
            <a:ext cx="285360" cy="275372"/>
          </a:xfrm>
          <a:prstGeom prst="rect">
            <a:avLst/>
          </a:prstGeom>
        </p:spPr>
      </p:pic>
      <p:pic>
        <p:nvPicPr>
          <p:cNvPr id="23" name="Image 22">
            <a:extLst>
              <a:ext uri="{FF2B5EF4-FFF2-40B4-BE49-F238E27FC236}">
                <a16:creationId xmlns:a16="http://schemas.microsoft.com/office/drawing/2014/main" id="{87682A96-F374-40AB-8A02-41E05EB346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13883" y="2867323"/>
            <a:ext cx="285360" cy="275372"/>
          </a:xfrm>
          <a:prstGeom prst="rect">
            <a:avLst/>
          </a:prstGeom>
        </p:spPr>
      </p:pic>
      <p:pic>
        <p:nvPicPr>
          <p:cNvPr id="24" name="Image 23">
            <a:extLst>
              <a:ext uri="{FF2B5EF4-FFF2-40B4-BE49-F238E27FC236}">
                <a16:creationId xmlns:a16="http://schemas.microsoft.com/office/drawing/2014/main" id="{17A4236E-413F-430B-BE14-96A0C5B97EA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79531" y="2867323"/>
            <a:ext cx="285360" cy="275372"/>
          </a:xfrm>
          <a:prstGeom prst="rect">
            <a:avLst/>
          </a:prstGeom>
        </p:spPr>
      </p:pic>
      <p:pic>
        <p:nvPicPr>
          <p:cNvPr id="25" name="Image 24">
            <a:extLst>
              <a:ext uri="{FF2B5EF4-FFF2-40B4-BE49-F238E27FC236}">
                <a16:creationId xmlns:a16="http://schemas.microsoft.com/office/drawing/2014/main" id="{4AE7C40D-2E8A-481C-BEB0-B271238DA13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09223" y="6236399"/>
            <a:ext cx="285360" cy="275372"/>
          </a:xfrm>
          <a:prstGeom prst="rect">
            <a:avLst/>
          </a:prstGeom>
        </p:spPr>
      </p:pic>
      <p:pic>
        <p:nvPicPr>
          <p:cNvPr id="26" name="Image 25">
            <a:extLst>
              <a:ext uri="{FF2B5EF4-FFF2-40B4-BE49-F238E27FC236}">
                <a16:creationId xmlns:a16="http://schemas.microsoft.com/office/drawing/2014/main" id="{D2599FA8-AF49-4A97-BF15-6B2D4B8584E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446759" y="6236399"/>
            <a:ext cx="285360" cy="275372"/>
          </a:xfrm>
          <a:prstGeom prst="rect">
            <a:avLst/>
          </a:prstGeom>
        </p:spPr>
      </p:pic>
      <p:pic>
        <p:nvPicPr>
          <p:cNvPr id="27" name="Image 26">
            <a:extLst>
              <a:ext uri="{FF2B5EF4-FFF2-40B4-BE49-F238E27FC236}">
                <a16:creationId xmlns:a16="http://schemas.microsoft.com/office/drawing/2014/main" id="{8DB3CF9D-2240-41CC-A1AB-65165AC287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13883" y="6236399"/>
            <a:ext cx="285360" cy="275372"/>
          </a:xfrm>
          <a:prstGeom prst="rect">
            <a:avLst/>
          </a:prstGeom>
        </p:spPr>
      </p:pic>
      <p:pic>
        <p:nvPicPr>
          <p:cNvPr id="28" name="Image 27">
            <a:extLst>
              <a:ext uri="{FF2B5EF4-FFF2-40B4-BE49-F238E27FC236}">
                <a16:creationId xmlns:a16="http://schemas.microsoft.com/office/drawing/2014/main" id="{544B21DC-0541-4981-8B9C-1F65058182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79531" y="6236399"/>
            <a:ext cx="285360" cy="275372"/>
          </a:xfrm>
          <a:prstGeom prst="rect">
            <a:avLst/>
          </a:prstGeom>
        </p:spPr>
      </p:pic>
    </p:spTree>
    <p:extLst>
      <p:ext uri="{BB962C8B-B14F-4D97-AF65-F5344CB8AC3E}">
        <p14:creationId xmlns:p14="http://schemas.microsoft.com/office/powerpoint/2010/main" val="2789802214"/>
      </p:ext>
    </p:extLst>
  </p:cSld>
  <p:clrMapOvr>
    <a:masterClrMapping/>
  </p:clrMapOvr>
</p:sld>
</file>

<file path=ppt/theme/theme1.xml><?xml version="1.0" encoding="utf-8"?>
<a:theme xmlns:a="http://schemas.openxmlformats.org/drawingml/2006/main" name="Thème Office">
  <a:themeElements>
    <a:clrScheme name="Personnalisé 2">
      <a:dk1>
        <a:sysClr val="windowText" lastClr="000000"/>
      </a:dk1>
      <a:lt1>
        <a:sysClr val="window" lastClr="FFFFFF"/>
      </a:lt1>
      <a:dk2>
        <a:srgbClr val="44546A"/>
      </a:dk2>
      <a:lt2>
        <a:srgbClr val="E7E6E6"/>
      </a:lt2>
      <a:accent1>
        <a:srgbClr val="3494BA"/>
      </a:accent1>
      <a:accent2>
        <a:srgbClr val="ED7D31"/>
      </a:accent2>
      <a:accent3>
        <a:srgbClr val="A5A5A5"/>
      </a:accent3>
      <a:accent4>
        <a:srgbClr val="F4AD7C"/>
      </a:accent4>
      <a:accent5>
        <a:srgbClr val="69B6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3120</TotalTime>
  <Words>4581</Words>
  <Application>Microsoft Office PowerPoint</Application>
  <PresentationFormat>Widescreen</PresentationFormat>
  <Paragraphs>888</Paragraphs>
  <Slides>26</Slides>
  <Notes>1</Notes>
  <HiddenSlides>0</HiddenSlides>
  <MMClips>0</MMClips>
  <ScaleCrop>false</ScaleCrop>
  <HeadingPairs>
    <vt:vector size="6" baseType="variant">
      <vt:variant>
        <vt:lpstr>Caratteri utilizzati</vt:lpstr>
      </vt:variant>
      <vt:variant>
        <vt:i4>6</vt:i4>
      </vt:variant>
      <vt:variant>
        <vt:lpstr>Tema</vt:lpstr>
      </vt:variant>
      <vt:variant>
        <vt:i4>1</vt:i4>
      </vt:variant>
      <vt:variant>
        <vt:lpstr>Titoli diapositive</vt:lpstr>
      </vt:variant>
      <vt:variant>
        <vt:i4>26</vt:i4>
      </vt:variant>
    </vt:vector>
  </HeadingPairs>
  <TitlesOfParts>
    <vt:vector size="33" baseType="lpstr">
      <vt:lpstr>Arial</vt:lpstr>
      <vt:lpstr>Calibri</vt:lpstr>
      <vt:lpstr>Calibri Light</vt:lpstr>
      <vt:lpstr>Freestyle Script</vt:lpstr>
      <vt:lpstr>Rockwell</vt:lpstr>
      <vt:lpstr>Wingdings</vt:lpstr>
      <vt:lpstr>Thème Office</vt:lpstr>
      <vt:lpstr>Presentazione standard di PowerPoint</vt:lpstr>
      <vt:lpstr>Edition spéciale fêtes</vt:lpstr>
      <vt:lpstr>Niveau 1 : 💪ROBUSTEAM en bref</vt:lpstr>
      <vt:lpstr>PRÉPARATION DU JEU</vt:lpstr>
      <vt:lpstr>NIVEAUX DE DIFFICULTÉ</vt:lpstr>
      <vt:lpstr>DÉROULEMENT D’UN TOUR</vt:lpstr>
      <vt:lpstr>GRILLE DE SCORE Renseignez les points dans les cases</vt:lpstr>
      <vt:lpstr>Détail: Déroulement de 💪ROBUSTEAM</vt:lpstr>
      <vt:lpstr>Niveau 3 : Organisation de 💪ROBUSTEAM</vt:lpstr>
      <vt:lpstr>Niveau 4 : Co-animation de 💪ROBUSTEAM</vt:lpstr>
      <vt:lpstr>Niveau 5 : Animation de 💪ROBUSTEAM</vt:lpstr>
      <vt:lpstr>Niveau 6 : Adaptation de 💪ROBUSTEAM</vt:lpstr>
      <vt:lpstr>Presentazione standard di PowerPoint</vt:lpstr>
      <vt:lpstr>💪ROBUSTEAM Jeu de base Cartes à imprimer ou à extraire en images</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Présentation PowerPoint</dc:title>
  <dc:creator>Alexandre Quach</dc:creator>
  <cp:lastModifiedBy>Alexandre Quach</cp:lastModifiedBy>
  <cp:revision>246</cp:revision>
  <dcterms:created xsi:type="dcterms:W3CDTF">2021-02-02T23:16:24Z</dcterms:created>
  <dcterms:modified xsi:type="dcterms:W3CDTF">2022-12-06T12:54:05Z</dcterms:modified>
</cp:coreProperties>
</file>