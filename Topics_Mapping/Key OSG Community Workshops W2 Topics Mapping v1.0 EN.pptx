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8"/>
  </p:notesMasterIdLst>
  <p:sldIdLst>
    <p:sldId id="629" r:id="rId2"/>
    <p:sldId id="631" r:id="rId3"/>
    <p:sldId id="638" r:id="rId4"/>
    <p:sldId id="639" r:id="rId5"/>
    <p:sldId id="637" r:id="rId6"/>
    <p:sldId id="366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e Quach" initials="AQ" lastIdx="3" clrIdx="0">
    <p:extLst>
      <p:ext uri="{19B8F6BF-5375-455C-9EA6-DF929625EA0E}">
        <p15:presenceInfo xmlns:p15="http://schemas.microsoft.com/office/powerpoint/2012/main" userId="7bb690c8a6e028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B2B"/>
    <a:srgbClr val="F4B183"/>
    <a:srgbClr val="3494BA"/>
    <a:srgbClr val="FF0000"/>
    <a:srgbClr val="A6A6A6"/>
    <a:srgbClr val="FBE5D6"/>
    <a:srgbClr val="E2F0D9"/>
    <a:srgbClr val="A9D18E"/>
    <a:srgbClr val="BFBFBF"/>
    <a:srgbClr val="CDD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9FFABB-1926-464C-921C-2D0F6B6FC8DA}" v="21" dt="2022-03-04T08:25:26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226AC-8069-465F-BE35-AC5AC6A5824B}" type="datetimeFigureOut">
              <a:rPr lang="fr-FR" smtClean="0"/>
              <a:t>07/04/2022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5F71A-6683-4344-8A86-B72493AD35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4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EC7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4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8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0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5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9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4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1" r:id="rId3"/>
    <p:sldLayoutId id="2147483716" r:id="rId4"/>
    <p:sldLayoutId id="2147483717" r:id="rId5"/>
    <p:sldLayoutId id="2147483720" r:id="rId6"/>
    <p:sldLayoutId id="2147483718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71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Dot-vot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35EF47E-B86E-4B3A-8928-F5F2830BE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6600" dirty="0"/>
              <a:t>W2</a:t>
            </a:r>
            <a:br>
              <a:rPr lang="fr-FR" sz="6600" dirty="0"/>
            </a:br>
            <a:r>
              <a:rPr lang="fr-FR" sz="6600" dirty="0"/>
              <a:t>#OSG Community Topics Mapping Workshop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ABE99CBA-8491-42DB-A730-F3730B4580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Select the best topics for the Community and prepare specific course of action for each one</a:t>
            </a:r>
          </a:p>
        </p:txBody>
      </p:sp>
    </p:spTree>
    <p:extLst>
      <p:ext uri="{BB962C8B-B14F-4D97-AF65-F5344CB8AC3E}">
        <p14:creationId xmlns:p14="http://schemas.microsoft.com/office/powerpoint/2010/main" val="99396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Topics Mapping Workshop</a:t>
            </a:r>
            <a:br>
              <a:rPr lang="fr-FR" dirty="0"/>
            </a:br>
            <a:r>
              <a:rPr lang="fr-FR" dirty="0"/>
              <a:t>Example of workshop </a:t>
            </a:r>
            <a:r>
              <a:rPr lang="fr-FR" dirty="0" err="1"/>
              <a:t>results</a:t>
            </a:r>
            <a:endParaRPr lang="fr-FR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D1CB4DF2-326C-4349-B9F0-B16604715F3C}"/>
              </a:ext>
            </a:extLst>
          </p:cNvPr>
          <p:cNvGrpSpPr/>
          <p:nvPr/>
        </p:nvGrpSpPr>
        <p:grpSpPr>
          <a:xfrm>
            <a:off x="813733" y="2199512"/>
            <a:ext cx="4823785" cy="4552942"/>
            <a:chOff x="5168375" y="2191123"/>
            <a:chExt cx="2943894" cy="2778602"/>
          </a:xfrm>
        </p:grpSpPr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FB3ABFE6-6AB3-482D-BA25-6E48750D8310}"/>
                </a:ext>
              </a:extLst>
            </p:cNvPr>
            <p:cNvSpPr/>
            <p:nvPr/>
          </p:nvSpPr>
          <p:spPr>
            <a:xfrm>
              <a:off x="5785368" y="2191123"/>
              <a:ext cx="1709909" cy="1709909"/>
            </a:xfrm>
            <a:custGeom>
              <a:avLst/>
              <a:gdLst>
                <a:gd name="connsiteX0" fmla="*/ 0 w 1709909"/>
                <a:gd name="connsiteY0" fmla="*/ 854955 h 1709909"/>
                <a:gd name="connsiteX1" fmla="*/ 854955 w 1709909"/>
                <a:gd name="connsiteY1" fmla="*/ 0 h 1709909"/>
                <a:gd name="connsiteX2" fmla="*/ 1709910 w 1709909"/>
                <a:gd name="connsiteY2" fmla="*/ 854955 h 1709909"/>
                <a:gd name="connsiteX3" fmla="*/ 854955 w 1709909"/>
                <a:gd name="connsiteY3" fmla="*/ 1709910 h 1709909"/>
                <a:gd name="connsiteX4" fmla="*/ 0 w 1709909"/>
                <a:gd name="connsiteY4" fmla="*/ 854955 h 170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9909" h="1709909">
                  <a:moveTo>
                    <a:pt x="0" y="854955"/>
                  </a:moveTo>
                  <a:cubicBezTo>
                    <a:pt x="0" y="382776"/>
                    <a:pt x="382776" y="0"/>
                    <a:pt x="854955" y="0"/>
                  </a:cubicBezTo>
                  <a:cubicBezTo>
                    <a:pt x="1327134" y="0"/>
                    <a:pt x="1709910" y="382776"/>
                    <a:pt x="1709910" y="854955"/>
                  </a:cubicBezTo>
                  <a:cubicBezTo>
                    <a:pt x="1709910" y="1327134"/>
                    <a:pt x="1327134" y="1709910"/>
                    <a:pt x="854955" y="1709910"/>
                  </a:cubicBezTo>
                  <a:cubicBezTo>
                    <a:pt x="382776" y="1709910"/>
                    <a:pt x="0" y="1327134"/>
                    <a:pt x="0" y="8549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227988" tIns="299234" rIns="227988" bIns="641216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300" b="1" kern="1200" dirty="0"/>
                <a:t>💗LIKED : </a:t>
              </a:r>
              <a:r>
                <a:rPr lang="en-US" sz="1300" kern="1200" noProof="0" dirty="0"/>
                <a:t>The topics we like the most</a:t>
              </a:r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5B777F07-12C3-4390-937F-CA7542F89CB4}"/>
                </a:ext>
              </a:extLst>
            </p:cNvPr>
            <p:cNvSpPr/>
            <p:nvPr/>
          </p:nvSpPr>
          <p:spPr>
            <a:xfrm>
              <a:off x="6402360" y="3259816"/>
              <a:ext cx="1709909" cy="1709909"/>
            </a:xfrm>
            <a:custGeom>
              <a:avLst/>
              <a:gdLst>
                <a:gd name="connsiteX0" fmla="*/ 0 w 1709909"/>
                <a:gd name="connsiteY0" fmla="*/ 854955 h 1709909"/>
                <a:gd name="connsiteX1" fmla="*/ 854955 w 1709909"/>
                <a:gd name="connsiteY1" fmla="*/ 0 h 1709909"/>
                <a:gd name="connsiteX2" fmla="*/ 1709910 w 1709909"/>
                <a:gd name="connsiteY2" fmla="*/ 854955 h 1709909"/>
                <a:gd name="connsiteX3" fmla="*/ 854955 w 1709909"/>
                <a:gd name="connsiteY3" fmla="*/ 1709910 h 1709909"/>
                <a:gd name="connsiteX4" fmla="*/ 0 w 1709909"/>
                <a:gd name="connsiteY4" fmla="*/ 854955 h 170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9909" h="1709909">
                  <a:moveTo>
                    <a:pt x="0" y="854955"/>
                  </a:moveTo>
                  <a:cubicBezTo>
                    <a:pt x="0" y="382776"/>
                    <a:pt x="382776" y="0"/>
                    <a:pt x="854955" y="0"/>
                  </a:cubicBezTo>
                  <a:cubicBezTo>
                    <a:pt x="1327134" y="0"/>
                    <a:pt x="1709910" y="382776"/>
                    <a:pt x="1709910" y="854955"/>
                  </a:cubicBezTo>
                  <a:cubicBezTo>
                    <a:pt x="1709910" y="1327134"/>
                    <a:pt x="1327134" y="1709910"/>
                    <a:pt x="854955" y="1709910"/>
                  </a:cubicBezTo>
                  <a:cubicBezTo>
                    <a:pt x="382776" y="1709910"/>
                    <a:pt x="0" y="1327134"/>
                    <a:pt x="0" y="8549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522947" tIns="441727" rIns="161017" bIns="327732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300" b="1" kern="1200" noProof="0" dirty="0"/>
                <a:t>🏠VALUABLE : </a:t>
              </a:r>
              <a:r>
                <a:rPr lang="en-US" sz="1300" kern="1200" noProof="0" dirty="0"/>
                <a:t>The topics with the most business impact</a:t>
              </a:r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F74BB88-676A-4D43-8C37-51BA26052D46}"/>
                </a:ext>
              </a:extLst>
            </p:cNvPr>
            <p:cNvSpPr/>
            <p:nvPr/>
          </p:nvSpPr>
          <p:spPr>
            <a:xfrm>
              <a:off x="5168375" y="3259816"/>
              <a:ext cx="1709909" cy="1709909"/>
            </a:xfrm>
            <a:custGeom>
              <a:avLst/>
              <a:gdLst>
                <a:gd name="connsiteX0" fmla="*/ 0 w 1709909"/>
                <a:gd name="connsiteY0" fmla="*/ 854955 h 1709909"/>
                <a:gd name="connsiteX1" fmla="*/ 854955 w 1709909"/>
                <a:gd name="connsiteY1" fmla="*/ 0 h 1709909"/>
                <a:gd name="connsiteX2" fmla="*/ 1709910 w 1709909"/>
                <a:gd name="connsiteY2" fmla="*/ 854955 h 1709909"/>
                <a:gd name="connsiteX3" fmla="*/ 854955 w 1709909"/>
                <a:gd name="connsiteY3" fmla="*/ 1709910 h 1709909"/>
                <a:gd name="connsiteX4" fmla="*/ 0 w 1709909"/>
                <a:gd name="connsiteY4" fmla="*/ 854955 h 170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9909" h="1709909">
                  <a:moveTo>
                    <a:pt x="0" y="854955"/>
                  </a:moveTo>
                  <a:cubicBezTo>
                    <a:pt x="0" y="382776"/>
                    <a:pt x="382776" y="0"/>
                    <a:pt x="854955" y="0"/>
                  </a:cubicBezTo>
                  <a:cubicBezTo>
                    <a:pt x="1327134" y="0"/>
                    <a:pt x="1709910" y="382776"/>
                    <a:pt x="1709910" y="854955"/>
                  </a:cubicBezTo>
                  <a:cubicBezTo>
                    <a:pt x="1709910" y="1327134"/>
                    <a:pt x="1327134" y="1709910"/>
                    <a:pt x="854955" y="1709910"/>
                  </a:cubicBezTo>
                  <a:cubicBezTo>
                    <a:pt x="382776" y="1709910"/>
                    <a:pt x="0" y="1327134"/>
                    <a:pt x="0" y="8549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161017" tIns="441727" rIns="522947" bIns="327732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300" b="1" kern="1200" noProof="0" dirty="0"/>
                <a:t>🛠️SKILLED : </a:t>
              </a:r>
              <a:r>
                <a:rPr lang="en-US" sz="1300" kern="1200" noProof="0" dirty="0"/>
                <a:t>The topics in which we are the most skilled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71A2ED0-BC5E-40C8-BA70-A120A29242E4}"/>
              </a:ext>
            </a:extLst>
          </p:cNvPr>
          <p:cNvSpPr/>
          <p:nvPr/>
        </p:nvSpPr>
        <p:spPr>
          <a:xfrm>
            <a:off x="2723237" y="2435363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TOPIC G</a:t>
            </a:r>
            <a:r>
              <a:rPr lang="fr-FR" sz="1200" b="1" kern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1200" b="1" kern="1200" dirty="0">
                <a:solidFill>
                  <a:schemeClr val="tx1"/>
                </a:solidFill>
              </a:rPr>
              <a:t>💗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A03265-FE63-4865-AE8F-FD80998F4B64}"/>
              </a:ext>
            </a:extLst>
          </p:cNvPr>
          <p:cNvSpPr/>
          <p:nvPr/>
        </p:nvSpPr>
        <p:spPr>
          <a:xfrm>
            <a:off x="1856637" y="3814848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TOPIC B</a:t>
            </a:r>
            <a:r>
              <a:rPr lang="fr-FR" sz="1200" b="1" kern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1200" b="1" kern="1200" dirty="0">
                <a:solidFill>
                  <a:schemeClr val="tx1"/>
                </a:solidFill>
              </a:rPr>
              <a:t>💗</a:t>
            </a:r>
            <a:r>
              <a:rPr lang="en-US" sz="1200" b="1" kern="1200" noProof="0" dirty="0">
                <a:solidFill>
                  <a:schemeClr val="tx1"/>
                </a:solidFill>
              </a:rPr>
              <a:t> 🛠️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EDA168-01BF-4781-89B6-40B99B35964B}"/>
              </a:ext>
            </a:extLst>
          </p:cNvPr>
          <p:cNvSpPr/>
          <p:nvPr/>
        </p:nvSpPr>
        <p:spPr>
          <a:xfrm>
            <a:off x="4843143" y="5698776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TOPIC F</a:t>
            </a:r>
            <a:r>
              <a:rPr lang="en-US" sz="1200" b="1" kern="1200" noProof="0">
                <a:solidFill>
                  <a:schemeClr val="tx1"/>
                </a:solidFill>
              </a:rPr>
              <a:t> 🏠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8D4CE3-369C-4309-9BB8-1FEB797E901D}"/>
              </a:ext>
            </a:extLst>
          </p:cNvPr>
          <p:cNvSpPr/>
          <p:nvPr/>
        </p:nvSpPr>
        <p:spPr>
          <a:xfrm>
            <a:off x="2749551" y="4399656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TOPIC A</a:t>
            </a:r>
            <a:r>
              <a:rPr lang="fr-FR" sz="1200" b="1" kern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900" b="1" kern="1200" dirty="0">
                <a:solidFill>
                  <a:schemeClr val="tx1"/>
                </a:solidFill>
              </a:rPr>
              <a:t>💗</a:t>
            </a:r>
            <a:r>
              <a:rPr lang="en-US" sz="900" b="1" kern="1200" noProof="0" dirty="0">
                <a:solidFill>
                  <a:schemeClr val="tx1"/>
                </a:solidFill>
              </a:rPr>
              <a:t> 🏠 🛠️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826899-2030-4C2E-8DF4-238530F452EB}"/>
              </a:ext>
            </a:extLst>
          </p:cNvPr>
          <p:cNvSpPr/>
          <p:nvPr/>
        </p:nvSpPr>
        <p:spPr>
          <a:xfrm>
            <a:off x="2749553" y="5489556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TOPIC C</a:t>
            </a:r>
            <a:r>
              <a:rPr lang="en-US" sz="1200" b="1" kern="1200" noProof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200" b="1" kern="1200" noProof="0">
                <a:solidFill>
                  <a:schemeClr val="tx1"/>
                </a:solidFill>
              </a:rPr>
              <a:t>🛠️ 🏠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E523F1-3AD8-48C7-95E1-9206A4AA01CB}"/>
              </a:ext>
            </a:extLst>
          </p:cNvPr>
          <p:cNvSpPr/>
          <p:nvPr/>
        </p:nvSpPr>
        <p:spPr>
          <a:xfrm>
            <a:off x="3468642" y="2394959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TOPIC H</a:t>
            </a:r>
            <a:r>
              <a:rPr lang="fr-FR" sz="1200" b="1" kern="120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1200" b="1" kern="1200">
                <a:solidFill>
                  <a:schemeClr val="tx1"/>
                </a:solidFill>
              </a:rPr>
              <a:t>💗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97DBE5-A48E-43F7-BBDC-6F43EE96DE0B}"/>
              </a:ext>
            </a:extLst>
          </p:cNvPr>
          <p:cNvSpPr/>
          <p:nvPr/>
        </p:nvSpPr>
        <p:spPr>
          <a:xfrm>
            <a:off x="3981820" y="3910239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TOPIC D</a:t>
            </a:r>
            <a:r>
              <a:rPr lang="fr-FR" sz="1200" b="1" kern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1200" b="1" kern="1200" dirty="0">
                <a:solidFill>
                  <a:schemeClr val="tx1"/>
                </a:solidFill>
              </a:rPr>
              <a:t>💗</a:t>
            </a:r>
            <a:r>
              <a:rPr lang="en-US" sz="1200" b="1" kern="1200" noProof="0" dirty="0">
                <a:solidFill>
                  <a:schemeClr val="tx1"/>
                </a:solidFill>
              </a:rPr>
              <a:t> 🏠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15BF2B-6D5A-47BB-B3D9-D376B2B4AAA8}"/>
              </a:ext>
            </a:extLst>
          </p:cNvPr>
          <p:cNvSpPr/>
          <p:nvPr/>
        </p:nvSpPr>
        <p:spPr>
          <a:xfrm>
            <a:off x="1994649" y="5761733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TOPIC E</a:t>
            </a:r>
            <a:r>
              <a:rPr lang="en-US" sz="1200" b="1" kern="1200" noProof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200" b="1" kern="1200" noProof="0">
                <a:solidFill>
                  <a:schemeClr val="tx1"/>
                </a:solidFill>
              </a:rPr>
              <a:t>🛠️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6037F1-6449-497D-BDBE-E7A7E9AD874E}"/>
              </a:ext>
            </a:extLst>
          </p:cNvPr>
          <p:cNvSpPr/>
          <p:nvPr/>
        </p:nvSpPr>
        <p:spPr>
          <a:xfrm>
            <a:off x="165382" y="6218285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TOPIC I</a:t>
            </a:r>
          </a:p>
        </p:txBody>
      </p:sp>
      <p:graphicFrame>
        <p:nvGraphicFramePr>
          <p:cNvPr id="21" name="Tableau 21">
            <a:extLst>
              <a:ext uri="{FF2B5EF4-FFF2-40B4-BE49-F238E27FC236}">
                <a16:creationId xmlns:a16="http://schemas.microsoft.com/office/drawing/2014/main" id="{CF799C34-26E8-4625-ACB9-EAC342172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844800"/>
              </p:ext>
            </p:extLst>
          </p:nvPr>
        </p:nvGraphicFramePr>
        <p:xfrm>
          <a:off x="6648506" y="2198355"/>
          <a:ext cx="5172180" cy="4001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534">
                  <a:extLst>
                    <a:ext uri="{9D8B030D-6E8A-4147-A177-3AD203B41FA5}">
                      <a16:colId xmlns:a16="http://schemas.microsoft.com/office/drawing/2014/main" val="1621250613"/>
                    </a:ext>
                  </a:extLst>
                </a:gridCol>
                <a:gridCol w="3926646">
                  <a:extLst>
                    <a:ext uri="{9D8B030D-6E8A-4147-A177-3AD203B41FA5}">
                      <a16:colId xmlns:a16="http://schemas.microsoft.com/office/drawing/2014/main" val="1010987500"/>
                    </a:ext>
                  </a:extLst>
                </a:gridCol>
              </a:tblGrid>
              <a:tr h="343509">
                <a:tc>
                  <a:txBody>
                    <a:bodyPr/>
                    <a:lstStyle/>
                    <a:p>
                      <a:r>
                        <a:rPr lang="en-US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787873"/>
                  </a:ext>
                </a:extLst>
              </a:tr>
              <a:tr h="561559">
                <a:tc>
                  <a:txBody>
                    <a:bodyPr/>
                    <a:lstStyle/>
                    <a:p>
                      <a:r>
                        <a:rPr lang="en-US" sz="1100"/>
                        <a:t>Topic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/>
                        <a:t>Share about an article or watch a video together for next session on May 22</a:t>
                      </a:r>
                      <a:r>
                        <a:rPr lang="en-US" sz="1100" baseline="30000" dirty="0"/>
                        <a:t>nd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/>
                        <a:t>Organize an meetup with other people for June 15</a:t>
                      </a:r>
                      <a:r>
                        <a:rPr lang="en-US" sz="1100" baseline="30000" dirty="0"/>
                        <a:t>th</a:t>
                      </a:r>
                      <a:r>
                        <a:rPr lang="en-US" sz="11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554520"/>
                  </a:ext>
                </a:extLst>
              </a:tr>
              <a:tr h="561559">
                <a:tc>
                  <a:txBody>
                    <a:bodyPr/>
                    <a:lstStyle/>
                    <a:p>
                      <a:r>
                        <a:rPr lang="en-US" sz="1100"/>
                        <a:t>Topic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/>
                        <a:t>Create a chat room with Alice, Bob, Charlie, Dick (who voted for this 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309538"/>
                  </a:ext>
                </a:extLst>
              </a:tr>
              <a:tr h="561559">
                <a:tc>
                  <a:txBody>
                    <a:bodyPr/>
                    <a:lstStyle/>
                    <a:p>
                      <a:r>
                        <a:rPr lang="en-US" sz="1100"/>
                        <a:t>Topic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/>
                        <a:t>Organize a brainstorm on a likeable activity or format on this topic.  If no result or too difficult to organize, leave the topic away for the moment.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349907"/>
                  </a:ext>
                </a:extLst>
              </a:tr>
              <a:tr h="561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Topic D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/>
                        <a:t>Find external guests to share about the topic for a presentation in 2 months.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/>
                        <a:t>Find interesting content and tutorials and share in the Community Wall.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766926"/>
                  </a:ext>
                </a:extLst>
              </a:tr>
              <a:tr h="561559">
                <a:tc>
                  <a:txBody>
                    <a:bodyPr/>
                    <a:lstStyle/>
                    <a:p>
                      <a:r>
                        <a:rPr lang="en-US" sz="1100"/>
                        <a:t>Topics  E, F, G,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Leave it away for the moment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44852"/>
                  </a:ext>
                </a:extLst>
              </a:tr>
              <a:tr h="561559">
                <a:tc>
                  <a:txBody>
                    <a:bodyPr/>
                    <a:lstStyle/>
                    <a:p>
                      <a:r>
                        <a:rPr lang="en-US" sz="1100"/>
                        <a:t>Topic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Officially out of scope of the Community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91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30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12311"/>
          </a:xfrm>
        </p:spPr>
        <p:txBody>
          <a:bodyPr>
            <a:noAutofit/>
          </a:bodyPr>
          <a:lstStyle/>
          <a:p>
            <a:r>
              <a:rPr lang="en-US" sz="2800" dirty="0"/>
              <a:t>Topics mapping Workshop</a:t>
            </a:r>
            <a:br>
              <a:rPr lang="en-US" sz="2800" dirty="0"/>
            </a:br>
            <a:r>
              <a:rPr lang="en-US" sz="2800" dirty="0" err="1"/>
              <a:t>Workshop</a:t>
            </a:r>
            <a:r>
              <a:rPr lang="en-US" sz="2800" dirty="0"/>
              <a:t> step by step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24AC220-AEB7-4C0B-A1F1-FAACDF7DF234}"/>
              </a:ext>
            </a:extLst>
          </p:cNvPr>
          <p:cNvSpPr txBox="1"/>
          <p:nvPr/>
        </p:nvSpPr>
        <p:spPr>
          <a:xfrm>
            <a:off x="11496252" y="6815480"/>
            <a:ext cx="2513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Only after a certain date, event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DAED6B0E-FB0E-401A-937B-75839BD83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194665"/>
              </p:ext>
            </p:extLst>
          </p:nvPr>
        </p:nvGraphicFramePr>
        <p:xfrm>
          <a:off x="136734" y="1702049"/>
          <a:ext cx="10630966" cy="4754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9401">
                  <a:extLst>
                    <a:ext uri="{9D8B030D-6E8A-4147-A177-3AD203B41FA5}">
                      <a16:colId xmlns:a16="http://schemas.microsoft.com/office/drawing/2014/main" val="3637095222"/>
                    </a:ext>
                  </a:extLst>
                </a:gridCol>
                <a:gridCol w="1345054">
                  <a:extLst>
                    <a:ext uri="{9D8B030D-6E8A-4147-A177-3AD203B41FA5}">
                      <a16:colId xmlns:a16="http://schemas.microsoft.com/office/drawing/2014/main" val="1997714430"/>
                    </a:ext>
                  </a:extLst>
                </a:gridCol>
                <a:gridCol w="1384418">
                  <a:extLst>
                    <a:ext uri="{9D8B030D-6E8A-4147-A177-3AD203B41FA5}">
                      <a16:colId xmlns:a16="http://schemas.microsoft.com/office/drawing/2014/main" val="3341757670"/>
                    </a:ext>
                  </a:extLst>
                </a:gridCol>
                <a:gridCol w="1555335">
                  <a:extLst>
                    <a:ext uri="{9D8B030D-6E8A-4147-A177-3AD203B41FA5}">
                      <a16:colId xmlns:a16="http://schemas.microsoft.com/office/drawing/2014/main" val="3035350526"/>
                    </a:ext>
                  </a:extLst>
                </a:gridCol>
                <a:gridCol w="1281869">
                  <a:extLst>
                    <a:ext uri="{9D8B030D-6E8A-4147-A177-3AD203B41FA5}">
                      <a16:colId xmlns:a16="http://schemas.microsoft.com/office/drawing/2014/main" val="1419982903"/>
                    </a:ext>
                  </a:extLst>
                </a:gridCol>
                <a:gridCol w="1491539">
                  <a:extLst>
                    <a:ext uri="{9D8B030D-6E8A-4147-A177-3AD203B41FA5}">
                      <a16:colId xmlns:a16="http://schemas.microsoft.com/office/drawing/2014/main" val="242278306"/>
                    </a:ext>
                  </a:extLst>
                </a:gridCol>
                <a:gridCol w="1296675">
                  <a:extLst>
                    <a:ext uri="{9D8B030D-6E8A-4147-A177-3AD203B41FA5}">
                      <a16:colId xmlns:a16="http://schemas.microsoft.com/office/drawing/2014/main" val="2747996475"/>
                    </a:ext>
                  </a:extLst>
                </a:gridCol>
                <a:gridCol w="1296675">
                  <a:extLst>
                    <a:ext uri="{9D8B030D-6E8A-4147-A177-3AD203B41FA5}">
                      <a16:colId xmlns:a16="http://schemas.microsoft.com/office/drawing/2014/main" val="2174399618"/>
                    </a:ext>
                  </a:extLst>
                </a:gridCol>
              </a:tblGrid>
              <a:tr h="594340">
                <a:tc>
                  <a:txBody>
                    <a:bodyPr/>
                    <a:lstStyle/>
                    <a:p>
                      <a:endParaRPr lang="en-US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1</a:t>
                      </a:r>
                    </a:p>
                    <a:p>
                      <a:pPr algn="ctr"/>
                      <a:r>
                        <a:rPr lang="en-US" sz="1400" noProof="0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2</a:t>
                      </a:r>
                    </a:p>
                    <a:p>
                      <a:pPr algn="ctr"/>
                      <a:r>
                        <a:rPr lang="en-US" sz="1400" noProof="0"/>
                        <a:t>Example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3</a:t>
                      </a:r>
                    </a:p>
                    <a:p>
                      <a:pPr algn="ctr"/>
                      <a:r>
                        <a:rPr lang="en-US" sz="1400" noProof="0"/>
                        <a:t>Rules &amp; Mindset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4</a:t>
                      </a:r>
                    </a:p>
                    <a:p>
                      <a:pPr algn="ctr"/>
                      <a:r>
                        <a:rPr lang="en-US" sz="1400" noProof="0"/>
                        <a:t>List 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5</a:t>
                      </a:r>
                    </a:p>
                    <a:p>
                      <a:pPr algn="ctr"/>
                      <a:r>
                        <a:rPr lang="en-US" sz="1400" noProof="0"/>
                        <a:t>Vote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6</a:t>
                      </a:r>
                    </a:p>
                    <a:p>
                      <a:pPr algn="ctr"/>
                      <a:r>
                        <a:rPr lang="en-US" sz="1400" noProof="0"/>
                        <a:t>(Optional)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/>
                        <a:t>Commit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663392"/>
                  </a:ext>
                </a:extLst>
              </a:tr>
              <a:tr h="421012">
                <a:tc>
                  <a:txBody>
                    <a:bodyPr/>
                    <a:lstStyle/>
                    <a:p>
                      <a:r>
                        <a:rPr lang="en-US" sz="1100" noProof="0"/>
                        <a:t>Suggested timebox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noProof="0"/>
                        <a:t>2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10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20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15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051482"/>
                  </a:ext>
                </a:extLst>
              </a:tr>
              <a:tr h="2016509">
                <a:tc>
                  <a:txBody>
                    <a:bodyPr/>
                    <a:lstStyle/>
                    <a:p>
                      <a:r>
                        <a:rPr lang="en-US" sz="1100" noProof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Explain what motivates the workshop : </a:t>
                      </a:r>
                    </a:p>
                    <a:p>
                      <a:endParaRPr lang="en-US" sz="1000" noProof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noProof="0"/>
                        <a:t>Find the topics that really fit the Community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noProof="0"/>
                        <a:t>Consider members tastes, skills and value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noProof="0"/>
                        <a:t>Address the topics according to reality, not wishes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/>
                        <a:t>Show expected results of the workshop (previous slide)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noProof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/>
                        <a:t>Show how it will be used (next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Remind the rules &amp; mindset :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noProof="0"/>
                        <a:t>Rule : Do not confuse topic with format.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noProof="0"/>
                        <a:t>Mindset : Accept that others may have tastes, skills, and perception of value that are different than yours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noProof="0"/>
                        <a:t>Mindset : Community first focuses on topics that interest the most members, other topics can be left to self organization.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noProof="0"/>
                        <a:t>Mindset : Accept to choose and to let go, in order to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 dirty="0"/>
                        <a:t>Everyone lists 1 to 3 topics that they would want to see or share in the Community.</a:t>
                      </a:r>
                    </a:p>
                    <a:p>
                      <a:endParaRPr lang="en-US" sz="1000" noProof="0" dirty="0"/>
                    </a:p>
                    <a:p>
                      <a:r>
                        <a:rPr lang="en-US" sz="1000" noProof="0" dirty="0"/>
                        <a:t>If topics are really close to each other, merge the tickets into one.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 dirty="0"/>
                        <a:t>Dot-vote to identify the top 20% most liked topics. Mark these topics as </a:t>
                      </a:r>
                      <a:r>
                        <a:rPr lang="en-US" sz="1000" b="1" noProof="0" dirty="0">
                          <a:solidFill>
                            <a:srgbClr val="00B050"/>
                          </a:solidFill>
                        </a:rPr>
                        <a:t>LIKED</a:t>
                      </a:r>
                      <a:r>
                        <a:rPr lang="en-US" sz="1000" noProof="0" dirty="0"/>
                        <a:t>.</a:t>
                      </a:r>
                    </a:p>
                    <a:p>
                      <a:endParaRPr lang="en-US" sz="1000" noProof="0" dirty="0"/>
                    </a:p>
                    <a:p>
                      <a:r>
                        <a:rPr lang="en-US" sz="1000" noProof="0" dirty="0"/>
                        <a:t>Dot-vote on the top 20% of topics for which members are most proficient (or can teach others). Mark these topics as </a:t>
                      </a:r>
                      <a:r>
                        <a:rPr lang="en-US" sz="1000" b="1" noProof="0" dirty="0">
                          <a:solidFill>
                            <a:srgbClr val="00B050"/>
                          </a:solidFill>
                        </a:rPr>
                        <a:t>SKILLED</a:t>
                      </a:r>
                      <a:r>
                        <a:rPr lang="en-US" sz="1000" noProof="0" dirty="0"/>
                        <a:t>.</a:t>
                      </a:r>
                    </a:p>
                    <a:p>
                      <a:endParaRPr lang="en-US" sz="1000" noProof="0" dirty="0"/>
                    </a:p>
                    <a:p>
                      <a:r>
                        <a:rPr lang="en-US" sz="1000" noProof="0" dirty="0"/>
                        <a:t>Dot-vote on the top 20% of topics that are considered the most valuable for business. Mark these topics as </a:t>
                      </a:r>
                      <a:r>
                        <a:rPr lang="en-US" sz="1000" b="1" noProof="0" dirty="0">
                          <a:solidFill>
                            <a:srgbClr val="00B050"/>
                          </a:solidFill>
                        </a:rPr>
                        <a:t>VALUABLE</a:t>
                      </a:r>
                      <a:r>
                        <a:rPr lang="en-US" sz="1000" noProof="0" dirty="0"/>
                        <a:t>.</a:t>
                      </a:r>
                    </a:p>
                    <a:p>
                      <a:endParaRPr lang="en-US" sz="1000" noProof="0" dirty="0"/>
                    </a:p>
                    <a:p>
                      <a:r>
                        <a:rPr lang="en-US" sz="1000" noProof="0" dirty="0"/>
                        <a:t>Dot-voting : </a:t>
                      </a:r>
                      <a:r>
                        <a:rPr lang="en-US" sz="1000" noProof="0" dirty="0">
                          <a:hlinkClick r:id="rId2"/>
                        </a:rPr>
                        <a:t>https://en.wikipedia.org/wiki/Dot-voting</a:t>
                      </a:r>
                      <a:endParaRPr lang="en-US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 dirty="0"/>
                        <a:t>(Optional) Display the topics on the Venn Diagram</a:t>
                      </a:r>
                    </a:p>
                    <a:p>
                      <a:endParaRPr lang="en-US" sz="1000" noProof="0" dirty="0"/>
                    </a:p>
                    <a:p>
                      <a:r>
                        <a:rPr lang="en-US" sz="1000" noProof="0" dirty="0"/>
                        <a:t>(Optional) If votes do not lead to interesting results (nothing in common </a:t>
                      </a:r>
                      <a:r>
                        <a:rPr lang="en-US" sz="1000" noProof="0"/>
                        <a:t>zones) : </a:t>
                      </a:r>
                      <a:r>
                        <a:rPr lang="en-US" sz="1000" noProof="0" dirty="0"/>
                        <a:t>Split the Community into consistent groups (for the moment) instead of trying to maintain a fake or low common interest.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 dirty="0"/>
                        <a:t>Starting the topics that are the most marked, decide and commit on actions for next session or time period.</a:t>
                      </a:r>
                    </a:p>
                    <a:p>
                      <a:endParaRPr lang="en-US" sz="1000" noProof="0" dirty="0"/>
                    </a:p>
                    <a:p>
                      <a:r>
                        <a:rPr lang="en-US" sz="1000" noProof="0" dirty="0"/>
                        <a:t>(Optional and recommended)  Members who voted liked for topics are put in charge of following-up the 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26046"/>
                  </a:ext>
                </a:extLst>
              </a:tr>
            </a:tbl>
          </a:graphicData>
        </a:graphic>
      </p:graphicFrame>
      <p:sp>
        <p:nvSpPr>
          <p:cNvPr id="5" name="Triangle isocèle 4">
            <a:extLst>
              <a:ext uri="{FF2B5EF4-FFF2-40B4-BE49-F238E27FC236}">
                <a16:creationId xmlns:a16="http://schemas.microsoft.com/office/drawing/2014/main" id="{B38AFCA8-59D9-487B-9924-9956586873D6}"/>
              </a:ext>
            </a:extLst>
          </p:cNvPr>
          <p:cNvSpPr/>
          <p:nvPr/>
        </p:nvSpPr>
        <p:spPr>
          <a:xfrm rot="5400000">
            <a:off x="8918818" y="3550933"/>
            <a:ext cx="4968238" cy="127047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A407E88-0FE2-4B84-A716-73DB016CEA1E}"/>
              </a:ext>
            </a:extLst>
          </p:cNvPr>
          <p:cNvGrpSpPr/>
          <p:nvPr/>
        </p:nvGrpSpPr>
        <p:grpSpPr>
          <a:xfrm>
            <a:off x="9874986" y="96429"/>
            <a:ext cx="1785428" cy="1519953"/>
            <a:chOff x="4772695" y="2191123"/>
            <a:chExt cx="3339574" cy="2843015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01484EFC-EC45-4A50-BF26-866E4B58802F}"/>
                </a:ext>
              </a:extLst>
            </p:cNvPr>
            <p:cNvGrpSpPr/>
            <p:nvPr/>
          </p:nvGrpSpPr>
          <p:grpSpPr>
            <a:xfrm>
              <a:off x="5168375" y="2191123"/>
              <a:ext cx="2943894" cy="2778602"/>
              <a:chOff x="5168375" y="2191123"/>
              <a:chExt cx="2943894" cy="2778602"/>
            </a:xfrm>
          </p:grpSpPr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72777A15-14FC-4DD9-A43D-1099744940A6}"/>
                  </a:ext>
                </a:extLst>
              </p:cNvPr>
              <p:cNvSpPr/>
              <p:nvPr/>
            </p:nvSpPr>
            <p:spPr>
              <a:xfrm>
                <a:off x="5785368" y="2191123"/>
                <a:ext cx="1709909" cy="1709909"/>
              </a:xfrm>
              <a:custGeom>
                <a:avLst/>
                <a:gdLst>
                  <a:gd name="connsiteX0" fmla="*/ 0 w 1709909"/>
                  <a:gd name="connsiteY0" fmla="*/ 854955 h 1709909"/>
                  <a:gd name="connsiteX1" fmla="*/ 854955 w 1709909"/>
                  <a:gd name="connsiteY1" fmla="*/ 0 h 1709909"/>
                  <a:gd name="connsiteX2" fmla="*/ 1709910 w 1709909"/>
                  <a:gd name="connsiteY2" fmla="*/ 854955 h 1709909"/>
                  <a:gd name="connsiteX3" fmla="*/ 854955 w 1709909"/>
                  <a:gd name="connsiteY3" fmla="*/ 1709910 h 1709909"/>
                  <a:gd name="connsiteX4" fmla="*/ 0 w 1709909"/>
                  <a:gd name="connsiteY4" fmla="*/ 854955 h 170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9909" h="1709909">
                    <a:moveTo>
                      <a:pt x="0" y="854955"/>
                    </a:moveTo>
                    <a:cubicBezTo>
                      <a:pt x="0" y="382776"/>
                      <a:pt x="382776" y="0"/>
                      <a:pt x="854955" y="0"/>
                    </a:cubicBezTo>
                    <a:cubicBezTo>
                      <a:pt x="1327134" y="0"/>
                      <a:pt x="1709910" y="382776"/>
                      <a:pt x="1709910" y="854955"/>
                    </a:cubicBezTo>
                    <a:cubicBezTo>
                      <a:pt x="1709910" y="1327134"/>
                      <a:pt x="1327134" y="1709910"/>
                      <a:pt x="854955" y="1709910"/>
                    </a:cubicBezTo>
                    <a:cubicBezTo>
                      <a:pt x="382776" y="1709910"/>
                      <a:pt x="0" y="1327134"/>
                      <a:pt x="0" y="854955"/>
                    </a:cubicBez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227988" tIns="299234" rIns="227988" bIns="641216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fr-FR" sz="200" b="1" kern="1200"/>
                  <a:t>💗LIKED : </a:t>
                </a:r>
                <a:r>
                  <a:rPr lang="en-US" sz="200" kern="1200" noProof="0"/>
                  <a:t>The topics we like the most</a:t>
                </a:r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4D054BE1-A83D-4AB5-9CCB-8F24F27AF19C}"/>
                  </a:ext>
                </a:extLst>
              </p:cNvPr>
              <p:cNvSpPr/>
              <p:nvPr/>
            </p:nvSpPr>
            <p:spPr>
              <a:xfrm>
                <a:off x="6402360" y="3259816"/>
                <a:ext cx="1709909" cy="1709909"/>
              </a:xfrm>
              <a:custGeom>
                <a:avLst/>
                <a:gdLst>
                  <a:gd name="connsiteX0" fmla="*/ 0 w 1709909"/>
                  <a:gd name="connsiteY0" fmla="*/ 854955 h 1709909"/>
                  <a:gd name="connsiteX1" fmla="*/ 854955 w 1709909"/>
                  <a:gd name="connsiteY1" fmla="*/ 0 h 1709909"/>
                  <a:gd name="connsiteX2" fmla="*/ 1709910 w 1709909"/>
                  <a:gd name="connsiteY2" fmla="*/ 854955 h 1709909"/>
                  <a:gd name="connsiteX3" fmla="*/ 854955 w 1709909"/>
                  <a:gd name="connsiteY3" fmla="*/ 1709910 h 1709909"/>
                  <a:gd name="connsiteX4" fmla="*/ 0 w 1709909"/>
                  <a:gd name="connsiteY4" fmla="*/ 854955 h 170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9909" h="1709909">
                    <a:moveTo>
                      <a:pt x="0" y="854955"/>
                    </a:moveTo>
                    <a:cubicBezTo>
                      <a:pt x="0" y="382776"/>
                      <a:pt x="382776" y="0"/>
                      <a:pt x="854955" y="0"/>
                    </a:cubicBezTo>
                    <a:cubicBezTo>
                      <a:pt x="1327134" y="0"/>
                      <a:pt x="1709910" y="382776"/>
                      <a:pt x="1709910" y="854955"/>
                    </a:cubicBezTo>
                    <a:cubicBezTo>
                      <a:pt x="1709910" y="1327134"/>
                      <a:pt x="1327134" y="1709910"/>
                      <a:pt x="854955" y="1709910"/>
                    </a:cubicBezTo>
                    <a:cubicBezTo>
                      <a:pt x="382776" y="1709910"/>
                      <a:pt x="0" y="1327134"/>
                      <a:pt x="0" y="854955"/>
                    </a:cubicBez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522947" tIns="441727" rIns="161017" bIns="327732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" b="1" kern="1200" noProof="0"/>
                  <a:t>🏠VALUABLE : </a:t>
                </a:r>
                <a:r>
                  <a:rPr lang="en-US" sz="200" kern="1200" noProof="0"/>
                  <a:t>The topics with the most business impact</a:t>
                </a:r>
              </a:p>
            </p:txBody>
          </p:sp>
          <p:sp>
            <p:nvSpPr>
              <p:cNvPr id="20" name="Forme libre : forme 19">
                <a:extLst>
                  <a:ext uri="{FF2B5EF4-FFF2-40B4-BE49-F238E27FC236}">
                    <a16:creationId xmlns:a16="http://schemas.microsoft.com/office/drawing/2014/main" id="{F813E8F5-7867-4998-A4C1-7E6A7E728AA2}"/>
                  </a:ext>
                </a:extLst>
              </p:cNvPr>
              <p:cNvSpPr/>
              <p:nvPr/>
            </p:nvSpPr>
            <p:spPr>
              <a:xfrm>
                <a:off x="5168375" y="3259816"/>
                <a:ext cx="1709909" cy="1709909"/>
              </a:xfrm>
              <a:custGeom>
                <a:avLst/>
                <a:gdLst>
                  <a:gd name="connsiteX0" fmla="*/ 0 w 1709909"/>
                  <a:gd name="connsiteY0" fmla="*/ 854955 h 1709909"/>
                  <a:gd name="connsiteX1" fmla="*/ 854955 w 1709909"/>
                  <a:gd name="connsiteY1" fmla="*/ 0 h 1709909"/>
                  <a:gd name="connsiteX2" fmla="*/ 1709910 w 1709909"/>
                  <a:gd name="connsiteY2" fmla="*/ 854955 h 1709909"/>
                  <a:gd name="connsiteX3" fmla="*/ 854955 w 1709909"/>
                  <a:gd name="connsiteY3" fmla="*/ 1709910 h 1709909"/>
                  <a:gd name="connsiteX4" fmla="*/ 0 w 1709909"/>
                  <a:gd name="connsiteY4" fmla="*/ 854955 h 170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9909" h="1709909">
                    <a:moveTo>
                      <a:pt x="0" y="854955"/>
                    </a:moveTo>
                    <a:cubicBezTo>
                      <a:pt x="0" y="382776"/>
                      <a:pt x="382776" y="0"/>
                      <a:pt x="854955" y="0"/>
                    </a:cubicBezTo>
                    <a:cubicBezTo>
                      <a:pt x="1327134" y="0"/>
                      <a:pt x="1709910" y="382776"/>
                      <a:pt x="1709910" y="854955"/>
                    </a:cubicBezTo>
                    <a:cubicBezTo>
                      <a:pt x="1709910" y="1327134"/>
                      <a:pt x="1327134" y="1709910"/>
                      <a:pt x="854955" y="1709910"/>
                    </a:cubicBezTo>
                    <a:cubicBezTo>
                      <a:pt x="382776" y="1709910"/>
                      <a:pt x="0" y="1327134"/>
                      <a:pt x="0" y="854955"/>
                    </a:cubicBez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161017" tIns="441727" rIns="522947" bIns="327732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" b="1" kern="1200" noProof="0"/>
                  <a:t>🛠️SKILLED : </a:t>
                </a:r>
                <a:r>
                  <a:rPr lang="en-US" sz="200" kern="1200" noProof="0"/>
                  <a:t>The topics in which we are the most skilled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A20D96-ECB9-40DC-95B9-D353ED13AE1F}"/>
                </a:ext>
              </a:extLst>
            </p:cNvPr>
            <p:cNvSpPr/>
            <p:nvPr/>
          </p:nvSpPr>
          <p:spPr>
            <a:xfrm>
              <a:off x="6333721" y="2335060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G</a:t>
              </a:r>
              <a:r>
                <a:rPr lang="fr-FR" sz="100" b="1" kern="1200"/>
                <a:t> </a:t>
              </a:r>
            </a:p>
            <a:p>
              <a:pPr algn="ctr"/>
              <a:r>
                <a:rPr lang="fr-FR" sz="100" b="1" kern="1200"/>
                <a:t>💗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1226B4-3D82-43F3-9E96-5D86007F2222}"/>
                </a:ext>
              </a:extLst>
            </p:cNvPr>
            <p:cNvSpPr/>
            <p:nvPr/>
          </p:nvSpPr>
          <p:spPr>
            <a:xfrm>
              <a:off x="5804846" y="3176942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B</a:t>
              </a:r>
              <a:r>
                <a:rPr lang="fr-FR" sz="100" b="1" kern="1200"/>
                <a:t> </a:t>
              </a:r>
            </a:p>
            <a:p>
              <a:pPr algn="ctr"/>
              <a:r>
                <a:rPr lang="fr-FR" sz="100" b="1" kern="1200"/>
                <a:t>💗</a:t>
              </a:r>
              <a:r>
                <a:rPr lang="en-US" sz="100" b="1" kern="1200" noProof="0"/>
                <a:t> 🛠️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601F33-9777-487D-BBB2-F60E100EDB9C}"/>
                </a:ext>
              </a:extLst>
            </p:cNvPr>
            <p:cNvSpPr/>
            <p:nvPr/>
          </p:nvSpPr>
          <p:spPr>
            <a:xfrm>
              <a:off x="7627472" y="4326679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F</a:t>
              </a:r>
              <a:r>
                <a:rPr lang="en-US" sz="100" b="1" kern="1200" noProof="0"/>
                <a:t> 🏠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4CF5ABB-0DBA-4694-9AD3-5A0630FED2E4}"/>
                </a:ext>
              </a:extLst>
            </p:cNvPr>
            <p:cNvSpPr/>
            <p:nvPr/>
          </p:nvSpPr>
          <p:spPr>
            <a:xfrm>
              <a:off x="6349780" y="3533843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A</a:t>
              </a:r>
              <a:r>
                <a:rPr lang="fr-FR" sz="100" b="1" kern="1200"/>
                <a:t> </a:t>
              </a:r>
            </a:p>
            <a:p>
              <a:pPr algn="ctr"/>
              <a:r>
                <a:rPr lang="fr-FR" sz="100" b="1" kern="1200"/>
                <a:t>💗</a:t>
              </a:r>
              <a:r>
                <a:rPr lang="en-US" sz="100" b="1" kern="1200" noProof="0"/>
                <a:t> 🏠 🛠️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36285C-E9F0-43FA-A8B8-B1FDF3D3AB39}"/>
                </a:ext>
              </a:extLst>
            </p:cNvPr>
            <p:cNvSpPr/>
            <p:nvPr/>
          </p:nvSpPr>
          <p:spPr>
            <a:xfrm>
              <a:off x="6349781" y="4198995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C</a:t>
              </a:r>
              <a:r>
                <a:rPr lang="en-US" sz="100" b="1" kern="1200" noProof="0"/>
                <a:t> </a:t>
              </a:r>
            </a:p>
            <a:p>
              <a:pPr algn="ctr"/>
              <a:r>
                <a:rPr lang="en-US" sz="100" b="1" kern="1200" noProof="0"/>
                <a:t>🛠️ 🏠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7266EF-2EA0-437D-B93A-0ADCC9E871FB}"/>
                </a:ext>
              </a:extLst>
            </p:cNvPr>
            <p:cNvSpPr/>
            <p:nvPr/>
          </p:nvSpPr>
          <p:spPr>
            <a:xfrm>
              <a:off x="6788632" y="2310402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H</a:t>
              </a:r>
              <a:r>
                <a:rPr lang="fr-FR" sz="100" b="1" kern="1200"/>
                <a:t> </a:t>
              </a:r>
            </a:p>
            <a:p>
              <a:pPr algn="ctr"/>
              <a:r>
                <a:rPr lang="fr-FR" sz="100" b="1" kern="1200"/>
                <a:t>💗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E2009A-EE3E-40C1-9E7C-4900A278D1A4}"/>
                </a:ext>
              </a:extLst>
            </p:cNvPr>
            <p:cNvSpPr/>
            <p:nvPr/>
          </p:nvSpPr>
          <p:spPr>
            <a:xfrm>
              <a:off x="7101818" y="3235158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D</a:t>
              </a:r>
              <a:r>
                <a:rPr lang="fr-FR" sz="100" b="1" kern="1200"/>
                <a:t> </a:t>
              </a:r>
            </a:p>
            <a:p>
              <a:pPr algn="ctr"/>
              <a:r>
                <a:rPr lang="fr-FR" sz="100" b="1" kern="1200"/>
                <a:t>💗</a:t>
              </a:r>
              <a:r>
                <a:rPr lang="en-US" sz="100" b="1" kern="1200" noProof="0"/>
                <a:t> 🏠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C602B76-60BA-40BD-B0FD-09D8AFB8E67B}"/>
                </a:ext>
              </a:extLst>
            </p:cNvPr>
            <p:cNvSpPr/>
            <p:nvPr/>
          </p:nvSpPr>
          <p:spPr>
            <a:xfrm>
              <a:off x="5889073" y="4365101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E</a:t>
              </a:r>
              <a:r>
                <a:rPr lang="en-US" sz="100" b="1" kern="1200" noProof="0"/>
                <a:t> </a:t>
              </a:r>
            </a:p>
            <a:p>
              <a:pPr algn="ctr"/>
              <a:r>
                <a:rPr lang="en-US" sz="100" b="1" kern="1200" noProof="0"/>
                <a:t>🛠️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0B95D6-FF68-42C2-8D80-E0DFB6734968}"/>
                </a:ext>
              </a:extLst>
            </p:cNvPr>
            <p:cNvSpPr/>
            <p:nvPr/>
          </p:nvSpPr>
          <p:spPr>
            <a:xfrm>
              <a:off x="4772695" y="4643729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681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6DB46-6E58-4E29-9F7E-AFAF6391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Topics mapping Workshop</a:t>
            </a:r>
            <a:br>
              <a:rPr lang="en-US" sz="4000" dirty="0"/>
            </a:br>
            <a:r>
              <a:rPr lang="en-US" sz="4000" dirty="0" err="1"/>
              <a:t>Workshop</a:t>
            </a:r>
            <a:r>
              <a:rPr lang="en-US" sz="4000" dirty="0"/>
              <a:t> step by step (illustrated)</a:t>
            </a:r>
            <a:endParaRPr lang="fr-FR" dirty="0"/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FEA0308F-BBF3-4FBA-BCE7-F7797146BAFF}"/>
              </a:ext>
            </a:extLst>
          </p:cNvPr>
          <p:cNvGrpSpPr/>
          <p:nvPr/>
        </p:nvGrpSpPr>
        <p:grpSpPr>
          <a:xfrm>
            <a:off x="0" y="1981982"/>
            <a:ext cx="1814043" cy="4876018"/>
            <a:chOff x="424078" y="1973655"/>
            <a:chExt cx="1814043" cy="487601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36960E1-E9F8-4A72-BB1B-5F31C8461639}"/>
                </a:ext>
              </a:extLst>
            </p:cNvPr>
            <p:cNvSpPr/>
            <p:nvPr/>
          </p:nvSpPr>
          <p:spPr>
            <a:xfrm>
              <a:off x="791391" y="404321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G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D256386-E78C-41E2-862C-EF9A089F0241}"/>
                </a:ext>
              </a:extLst>
            </p:cNvPr>
            <p:cNvSpPr/>
            <p:nvPr/>
          </p:nvSpPr>
          <p:spPr>
            <a:xfrm>
              <a:off x="1494304" y="225310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B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C4CB8CC-FE53-4E7D-BDAC-9D0FF7FA6296}"/>
                </a:ext>
              </a:extLst>
            </p:cNvPr>
            <p:cNvSpPr/>
            <p:nvPr/>
          </p:nvSpPr>
          <p:spPr>
            <a:xfrm>
              <a:off x="1483207" y="362384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F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0379FC-DAC2-4066-9FC7-AE4BF8411E0C}"/>
                </a:ext>
              </a:extLst>
            </p:cNvPr>
            <p:cNvSpPr/>
            <p:nvPr/>
          </p:nvSpPr>
          <p:spPr>
            <a:xfrm>
              <a:off x="791392" y="1973655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A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23AB4E-6AC1-4D0C-92AB-D106F7CDBA4A}"/>
                </a:ext>
              </a:extLst>
            </p:cNvPr>
            <p:cNvSpPr/>
            <p:nvPr/>
          </p:nvSpPr>
          <p:spPr>
            <a:xfrm>
              <a:off x="791392" y="268080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C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A37BAA-BA08-4DF8-B754-87519658E573}"/>
                </a:ext>
              </a:extLst>
            </p:cNvPr>
            <p:cNvSpPr/>
            <p:nvPr/>
          </p:nvSpPr>
          <p:spPr>
            <a:xfrm>
              <a:off x="1479950" y="430921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H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F5257C1-0F63-4A6D-877E-C1BD28CFC479}"/>
                </a:ext>
              </a:extLst>
            </p:cNvPr>
            <p:cNvSpPr/>
            <p:nvPr/>
          </p:nvSpPr>
          <p:spPr>
            <a:xfrm>
              <a:off x="1483207" y="293847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D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C8B49A-7E3D-4A15-BEF7-6239A2D5C660}"/>
                </a:ext>
              </a:extLst>
            </p:cNvPr>
            <p:cNvSpPr/>
            <p:nvPr/>
          </p:nvSpPr>
          <p:spPr>
            <a:xfrm>
              <a:off x="791391" y="3351614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E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4CA97D-B7C9-4D9A-95BA-7323DA86C1DB}"/>
                </a:ext>
              </a:extLst>
            </p:cNvPr>
            <p:cNvSpPr/>
            <p:nvPr/>
          </p:nvSpPr>
          <p:spPr>
            <a:xfrm>
              <a:off x="791391" y="4729573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TOPIC I</a:t>
              </a:r>
            </a:p>
          </p:txBody>
        </p:sp>
        <p:sp>
          <p:nvSpPr>
            <p:cNvPr id="31" name="Sous-titre 4">
              <a:extLst>
                <a:ext uri="{FF2B5EF4-FFF2-40B4-BE49-F238E27FC236}">
                  <a16:creationId xmlns:a16="http://schemas.microsoft.com/office/drawing/2014/main" id="{437654E3-6DDD-48B4-A607-E67B56204818}"/>
                </a:ext>
              </a:extLst>
            </p:cNvPr>
            <p:cNvSpPr txBox="1">
              <a:spLocks/>
            </p:cNvSpPr>
            <p:nvPr/>
          </p:nvSpPr>
          <p:spPr>
            <a:xfrm>
              <a:off x="424078" y="5469746"/>
              <a:ext cx="1814043" cy="137992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40000" lnSpcReduction="20000"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400" b="1" noProof="0" dirty="0"/>
                <a:t>LIST TOPICS</a:t>
              </a:r>
            </a:p>
            <a:p>
              <a:pPr marL="0" indent="0">
                <a:buNone/>
              </a:pPr>
              <a:r>
                <a:rPr lang="en-US" sz="2400" noProof="0" dirty="0"/>
                <a:t>Everyone lists 1 to 3 topics that they would want to see or share in the Community.</a:t>
              </a:r>
            </a:p>
            <a:p>
              <a:pPr marL="0" indent="0">
                <a:buNone/>
              </a:pPr>
              <a:r>
                <a:rPr lang="en-US" sz="2400" noProof="0" dirty="0"/>
                <a:t>If topics are close to each other, merge the tickets into one. </a:t>
              </a:r>
            </a:p>
          </p:txBody>
        </p: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44F252A5-6C07-45E6-8E07-AEF781E40A05}"/>
              </a:ext>
            </a:extLst>
          </p:cNvPr>
          <p:cNvGrpSpPr/>
          <p:nvPr/>
        </p:nvGrpSpPr>
        <p:grpSpPr>
          <a:xfrm>
            <a:off x="1962578" y="1981982"/>
            <a:ext cx="1523245" cy="4360945"/>
            <a:chOff x="2769227" y="1973655"/>
            <a:chExt cx="1523245" cy="436094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14F544-F3C1-46E5-833E-5F1A518E260D}"/>
                </a:ext>
              </a:extLst>
            </p:cNvPr>
            <p:cNvSpPr/>
            <p:nvPr/>
          </p:nvSpPr>
          <p:spPr>
            <a:xfrm>
              <a:off x="2873688" y="404321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G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9272D05-3BA4-4316-BEE5-7FB6FD6473E5}"/>
                </a:ext>
              </a:extLst>
            </p:cNvPr>
            <p:cNvSpPr/>
            <p:nvPr/>
          </p:nvSpPr>
          <p:spPr>
            <a:xfrm>
              <a:off x="3576601" y="225310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B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A51E396-85CA-41B2-A277-34954F37723D}"/>
                </a:ext>
              </a:extLst>
            </p:cNvPr>
            <p:cNvSpPr/>
            <p:nvPr/>
          </p:nvSpPr>
          <p:spPr>
            <a:xfrm>
              <a:off x="3565504" y="362384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F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19CE49-5D26-4FDC-9428-1F44FC9E940A}"/>
                </a:ext>
              </a:extLst>
            </p:cNvPr>
            <p:cNvSpPr/>
            <p:nvPr/>
          </p:nvSpPr>
          <p:spPr>
            <a:xfrm>
              <a:off x="2873689" y="1973655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A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800" b="1" kern="1200" dirty="0">
                  <a:solidFill>
                    <a:schemeClr val="tx1"/>
                  </a:solidFill>
                </a:rPr>
                <a:t>💗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95C8A66-9154-4EE8-AEDA-4B4F773C5096}"/>
                </a:ext>
              </a:extLst>
            </p:cNvPr>
            <p:cNvSpPr/>
            <p:nvPr/>
          </p:nvSpPr>
          <p:spPr>
            <a:xfrm>
              <a:off x="2873689" y="268080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C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2220539-4FE2-453C-9E8E-703424F0689D}"/>
                </a:ext>
              </a:extLst>
            </p:cNvPr>
            <p:cNvSpPr/>
            <p:nvPr/>
          </p:nvSpPr>
          <p:spPr>
            <a:xfrm>
              <a:off x="3562247" y="430921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H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4567DF7-8707-4E97-B116-CD55A3327DB3}"/>
                </a:ext>
              </a:extLst>
            </p:cNvPr>
            <p:cNvSpPr/>
            <p:nvPr/>
          </p:nvSpPr>
          <p:spPr>
            <a:xfrm>
              <a:off x="3565504" y="293847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D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292EE6F-31A6-4EC4-B7BD-9EE9C6493E4E}"/>
                </a:ext>
              </a:extLst>
            </p:cNvPr>
            <p:cNvSpPr/>
            <p:nvPr/>
          </p:nvSpPr>
          <p:spPr>
            <a:xfrm>
              <a:off x="2873688" y="3351614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E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20A77FF-6569-472C-B168-5F22C0A03118}"/>
                </a:ext>
              </a:extLst>
            </p:cNvPr>
            <p:cNvSpPr/>
            <p:nvPr/>
          </p:nvSpPr>
          <p:spPr>
            <a:xfrm>
              <a:off x="2873688" y="4729573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TOPIC I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20E592F3-294D-4273-A027-6271EE7D47BD}"/>
                </a:ext>
              </a:extLst>
            </p:cNvPr>
            <p:cNvSpPr txBox="1"/>
            <p:nvPr/>
          </p:nvSpPr>
          <p:spPr>
            <a:xfrm>
              <a:off x="2769227" y="5472826"/>
              <a:ext cx="1523245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000" b="1" kern="1200" dirty="0">
                  <a:solidFill>
                    <a:schemeClr val="tx1"/>
                  </a:solidFill>
                </a:rPr>
                <a:t>LOVE </a:t>
              </a:r>
              <a:r>
                <a:rPr lang="en-US" sz="1000" b="1" noProof="0" dirty="0"/>
                <a:t>VOTE</a:t>
              </a:r>
            </a:p>
            <a:p>
              <a:pPr algn="ctr"/>
              <a:r>
                <a:rPr lang="en-US" sz="1000" dirty="0"/>
                <a:t>Dot</a:t>
              </a:r>
              <a:r>
                <a:rPr lang="en-US" sz="1000" noProof="0" dirty="0"/>
                <a:t>-vote with </a:t>
              </a:r>
              <a:r>
                <a:rPr lang="fr-FR" sz="1000" b="1" kern="1200" dirty="0">
                  <a:solidFill>
                    <a:schemeClr val="tx1"/>
                  </a:solidFill>
                </a:rPr>
                <a:t>💗</a:t>
              </a:r>
              <a:endParaRPr lang="en-US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noProof="0" dirty="0"/>
                <a:t>to identify most liked topics. Mark these topics as </a:t>
              </a:r>
              <a:r>
                <a:rPr lang="en-US" sz="1000" b="1" noProof="0" dirty="0">
                  <a:solidFill>
                    <a:srgbClr val="00B050"/>
                  </a:solidFill>
                </a:rPr>
                <a:t>LIKED</a:t>
              </a:r>
              <a:r>
                <a:rPr lang="en-US" sz="1000" noProof="0" dirty="0"/>
                <a:t>.</a:t>
              </a:r>
            </a:p>
          </p:txBody>
        </p:sp>
      </p:grp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AE98E5EC-9184-4CCC-AF21-07BBF32CF4CA}"/>
              </a:ext>
            </a:extLst>
          </p:cNvPr>
          <p:cNvGrpSpPr/>
          <p:nvPr/>
        </p:nvGrpSpPr>
        <p:grpSpPr>
          <a:xfrm>
            <a:off x="3782545" y="1981982"/>
            <a:ext cx="1734528" cy="4660574"/>
            <a:chOff x="4589194" y="1973655"/>
            <a:chExt cx="1734528" cy="4660574"/>
          </a:xfrm>
        </p:grpSpPr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7EB101C8-104B-4FFF-8764-65F6CDE24A6E}"/>
                </a:ext>
              </a:extLst>
            </p:cNvPr>
            <p:cNvSpPr txBox="1"/>
            <p:nvPr/>
          </p:nvSpPr>
          <p:spPr>
            <a:xfrm>
              <a:off x="4589194" y="5464678"/>
              <a:ext cx="1734528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noProof="0" dirty="0"/>
                <a:t>SKILL VOTE</a:t>
              </a:r>
            </a:p>
            <a:p>
              <a:pPr algn="ctr"/>
              <a:r>
                <a:rPr lang="en-US" sz="1000" noProof="0" dirty="0"/>
                <a:t>Dot-vote with </a:t>
              </a:r>
              <a:r>
                <a:rPr lang="en-US" sz="1000" b="1" kern="1200" noProof="0" dirty="0">
                  <a:solidFill>
                    <a:schemeClr val="tx1"/>
                  </a:solidFill>
                </a:rPr>
                <a:t>🛠️</a:t>
              </a:r>
              <a:endParaRPr lang="en-US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noProof="0" dirty="0"/>
                <a:t> to identify topics in which members are most proficient (or can teach others). Mark these topics as </a:t>
              </a:r>
              <a:r>
                <a:rPr lang="en-US" sz="1000" b="1" noProof="0" dirty="0">
                  <a:solidFill>
                    <a:srgbClr val="00B050"/>
                  </a:solidFill>
                </a:rPr>
                <a:t>SKILLED</a:t>
              </a:r>
              <a:r>
                <a:rPr lang="en-US" sz="1000" noProof="0" dirty="0"/>
                <a:t>.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9DF7DBC-7EC9-44DB-BE2E-90AB40A14B46}"/>
                </a:ext>
              </a:extLst>
            </p:cNvPr>
            <p:cNvSpPr/>
            <p:nvPr/>
          </p:nvSpPr>
          <p:spPr>
            <a:xfrm>
              <a:off x="4799296" y="404321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G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3568133-0C87-4C09-8ECF-C90B5F955893}"/>
                </a:ext>
              </a:extLst>
            </p:cNvPr>
            <p:cNvSpPr/>
            <p:nvPr/>
          </p:nvSpPr>
          <p:spPr>
            <a:xfrm>
              <a:off x="5502209" y="225310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B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🛠️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7A3235B-66CA-4671-8D72-DA2A276D32A5}"/>
                </a:ext>
              </a:extLst>
            </p:cNvPr>
            <p:cNvSpPr/>
            <p:nvPr/>
          </p:nvSpPr>
          <p:spPr>
            <a:xfrm>
              <a:off x="5491112" y="362384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F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981FEFA-08BE-49FA-9E7F-1184DE8521F2}"/>
                </a:ext>
              </a:extLst>
            </p:cNvPr>
            <p:cNvSpPr/>
            <p:nvPr/>
          </p:nvSpPr>
          <p:spPr>
            <a:xfrm>
              <a:off x="4799297" y="1973655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A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800" b="1" kern="1200" dirty="0">
                  <a:solidFill>
                    <a:schemeClr val="tx1"/>
                  </a:solidFill>
                </a:rPr>
                <a:t>💗</a:t>
              </a:r>
              <a:r>
                <a:rPr lang="en-US" sz="800" b="1" kern="1200" noProof="0" dirty="0">
                  <a:solidFill>
                    <a:schemeClr val="tx1"/>
                  </a:solidFill>
                </a:rPr>
                <a:t> 🛠️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54277A1-9ACE-410F-939F-8FB86485E2A1}"/>
                </a:ext>
              </a:extLst>
            </p:cNvPr>
            <p:cNvSpPr/>
            <p:nvPr/>
          </p:nvSpPr>
          <p:spPr>
            <a:xfrm>
              <a:off x="4799297" y="268080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C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🛠️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22E4A60-9580-44C2-850C-3A786D96C458}"/>
                </a:ext>
              </a:extLst>
            </p:cNvPr>
            <p:cNvSpPr/>
            <p:nvPr/>
          </p:nvSpPr>
          <p:spPr>
            <a:xfrm>
              <a:off x="5487855" y="430921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H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78DF9BA-7DFB-44DA-9DB9-8A56A81CDE77}"/>
                </a:ext>
              </a:extLst>
            </p:cNvPr>
            <p:cNvSpPr/>
            <p:nvPr/>
          </p:nvSpPr>
          <p:spPr>
            <a:xfrm>
              <a:off x="5491112" y="293847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D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8017A76-75B2-4DF3-B8ED-0F04B43E70EE}"/>
                </a:ext>
              </a:extLst>
            </p:cNvPr>
            <p:cNvSpPr/>
            <p:nvPr/>
          </p:nvSpPr>
          <p:spPr>
            <a:xfrm>
              <a:off x="4799296" y="3351614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E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🛠️ 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A757028-7F6E-4F20-BBCA-5E1D9B38F1BE}"/>
                </a:ext>
              </a:extLst>
            </p:cNvPr>
            <p:cNvSpPr/>
            <p:nvPr/>
          </p:nvSpPr>
          <p:spPr>
            <a:xfrm>
              <a:off x="4799296" y="4729573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TOPIC I</a:t>
              </a:r>
            </a:p>
          </p:txBody>
        </p:sp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7A930415-453A-44E6-B11E-F341153B3F97}"/>
              </a:ext>
            </a:extLst>
          </p:cNvPr>
          <p:cNvGrpSpPr/>
          <p:nvPr/>
        </p:nvGrpSpPr>
        <p:grpSpPr>
          <a:xfrm>
            <a:off x="5919646" y="1958752"/>
            <a:ext cx="1734528" cy="4683804"/>
            <a:chOff x="6726295" y="1950425"/>
            <a:chExt cx="1734528" cy="468380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0ADDA8-58F1-468E-B292-D1F983FF8804}"/>
                </a:ext>
              </a:extLst>
            </p:cNvPr>
            <p:cNvSpPr/>
            <p:nvPr/>
          </p:nvSpPr>
          <p:spPr>
            <a:xfrm>
              <a:off x="6890646" y="401998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G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32B7038-FDA2-4730-8867-BA0AF073D96C}"/>
                </a:ext>
              </a:extLst>
            </p:cNvPr>
            <p:cNvSpPr/>
            <p:nvPr/>
          </p:nvSpPr>
          <p:spPr>
            <a:xfrm>
              <a:off x="7593559" y="222987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B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🛠️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A50C416-80D1-41E0-9046-F39B32BAD40C}"/>
                </a:ext>
              </a:extLst>
            </p:cNvPr>
            <p:cNvSpPr/>
            <p:nvPr/>
          </p:nvSpPr>
          <p:spPr>
            <a:xfrm>
              <a:off x="7582462" y="360061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F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sz="1100" b="1" kern="1200" noProof="0" dirty="0">
                  <a:solidFill>
                    <a:schemeClr val="tx1"/>
                  </a:solidFill>
                </a:rPr>
                <a:t>🏠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E4179B5-4173-45B0-BF44-1FC99BE6B0D3}"/>
                </a:ext>
              </a:extLst>
            </p:cNvPr>
            <p:cNvSpPr/>
            <p:nvPr/>
          </p:nvSpPr>
          <p:spPr>
            <a:xfrm>
              <a:off x="6890647" y="1950425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A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800" b="1" kern="1200" dirty="0">
                  <a:solidFill>
                    <a:schemeClr val="tx1"/>
                  </a:solidFill>
                </a:rPr>
                <a:t>💗</a:t>
              </a:r>
              <a:r>
                <a:rPr lang="en-US" sz="800" b="1" kern="1200" noProof="0" dirty="0">
                  <a:solidFill>
                    <a:schemeClr val="tx1"/>
                  </a:solidFill>
                </a:rPr>
                <a:t> 🛠️ 🏠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908D120-4690-476A-A02F-16D39A451B5E}"/>
                </a:ext>
              </a:extLst>
            </p:cNvPr>
            <p:cNvSpPr/>
            <p:nvPr/>
          </p:nvSpPr>
          <p:spPr>
            <a:xfrm>
              <a:off x="6890647" y="265757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C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sz="1100" b="1" kern="1200" noProof="0" dirty="0">
                  <a:solidFill>
                    <a:schemeClr val="tx1"/>
                  </a:solidFill>
                </a:rPr>
                <a:t>🛠️ 🏠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85786B8-E811-4E1C-8488-BB908489CE61}"/>
                </a:ext>
              </a:extLst>
            </p:cNvPr>
            <p:cNvSpPr/>
            <p:nvPr/>
          </p:nvSpPr>
          <p:spPr>
            <a:xfrm>
              <a:off x="7579205" y="428598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H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1506279-BB40-4A3E-B342-613257CB2685}"/>
                </a:ext>
              </a:extLst>
            </p:cNvPr>
            <p:cNvSpPr/>
            <p:nvPr/>
          </p:nvSpPr>
          <p:spPr>
            <a:xfrm>
              <a:off x="7582462" y="291524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D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🏠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40D67C5-5B4C-43CD-8CB8-E62BE05DAF02}"/>
                </a:ext>
              </a:extLst>
            </p:cNvPr>
            <p:cNvSpPr/>
            <p:nvPr/>
          </p:nvSpPr>
          <p:spPr>
            <a:xfrm>
              <a:off x="6890646" y="3328384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E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🛠️ 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B5A764B-7715-4712-8D7E-1C2FBC9A55F1}"/>
                </a:ext>
              </a:extLst>
            </p:cNvPr>
            <p:cNvSpPr/>
            <p:nvPr/>
          </p:nvSpPr>
          <p:spPr>
            <a:xfrm>
              <a:off x="6890646" y="4706343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TOPIC I</a:t>
              </a:r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AF91006F-0E56-498B-8133-4EAC7B60CA22}"/>
                </a:ext>
              </a:extLst>
            </p:cNvPr>
            <p:cNvSpPr txBox="1"/>
            <p:nvPr/>
          </p:nvSpPr>
          <p:spPr>
            <a:xfrm>
              <a:off x="6726295" y="5464678"/>
              <a:ext cx="1734528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noProof="0" dirty="0"/>
                <a:t>VALUE VOTE</a:t>
              </a:r>
            </a:p>
            <a:p>
              <a:pPr algn="ctr"/>
              <a:r>
                <a:rPr lang="en-US" sz="1000" noProof="0" dirty="0"/>
                <a:t>Dot-vote on the top 20% of topics that are considered the most valuable for business. Mark these topics as </a:t>
              </a:r>
              <a:r>
                <a:rPr lang="en-US" sz="1000" b="1" noProof="0">
                  <a:solidFill>
                    <a:srgbClr val="00B050"/>
                  </a:solidFill>
                </a:rPr>
                <a:t>VALUABLE</a:t>
              </a:r>
              <a:r>
                <a:rPr lang="en-US" sz="1000" noProof="0"/>
                <a:t>.</a:t>
              </a:r>
              <a:endParaRPr lang="en-US" sz="1000" noProof="0" dirty="0"/>
            </a:p>
          </p:txBody>
        </p:sp>
      </p:grpSp>
      <p:sp>
        <p:nvSpPr>
          <p:cNvPr id="54" name="ZoneTexte 53">
            <a:extLst>
              <a:ext uri="{FF2B5EF4-FFF2-40B4-BE49-F238E27FC236}">
                <a16:creationId xmlns:a16="http://schemas.microsoft.com/office/drawing/2014/main" id="{A5F73FB0-C096-4E00-B4A3-23CB882C2214}"/>
              </a:ext>
            </a:extLst>
          </p:cNvPr>
          <p:cNvSpPr txBox="1"/>
          <p:nvPr/>
        </p:nvSpPr>
        <p:spPr>
          <a:xfrm>
            <a:off x="7763302" y="5456054"/>
            <a:ext cx="206323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noProof="0" dirty="0"/>
              <a:t>DISPLAY ON THE DIAGRAM</a:t>
            </a:r>
          </a:p>
          <a:p>
            <a:pPr algn="ctr"/>
            <a:r>
              <a:rPr lang="en-US" sz="1000" noProof="0" dirty="0"/>
              <a:t>(</a:t>
            </a:r>
            <a:r>
              <a:rPr lang="en-US" sz="1000" noProof="0" dirty="0" err="1"/>
              <a:t>Optiona</a:t>
            </a:r>
            <a:r>
              <a:rPr lang="en-US" sz="1000" dirty="0"/>
              <a:t>l) </a:t>
            </a:r>
            <a:r>
              <a:rPr lang="en-US" sz="1000" noProof="0" dirty="0"/>
              <a:t>Display the topics on the Venn Diagram.  </a:t>
            </a:r>
          </a:p>
          <a:p>
            <a:pPr algn="ctr"/>
            <a:r>
              <a:rPr lang="en-US" sz="1000" noProof="0" dirty="0"/>
              <a:t>If votes do not lead to interesting results (nothing in common zones), split the Community</a:t>
            </a:r>
          </a:p>
        </p:txBody>
      </p:sp>
      <p:pic>
        <p:nvPicPr>
          <p:cNvPr id="60" name="Image 59">
            <a:extLst>
              <a:ext uri="{FF2B5EF4-FFF2-40B4-BE49-F238E27FC236}">
                <a16:creationId xmlns:a16="http://schemas.microsoft.com/office/drawing/2014/main" id="{292DC31A-F61C-416D-AE86-A1B9D3222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896" y="3122827"/>
            <a:ext cx="1814043" cy="1526254"/>
          </a:xfrm>
          <a:prstGeom prst="rect">
            <a:avLst/>
          </a:prstGeom>
        </p:spPr>
      </p:pic>
      <p:sp>
        <p:nvSpPr>
          <p:cNvPr id="61" name="ZoneTexte 60">
            <a:extLst>
              <a:ext uri="{FF2B5EF4-FFF2-40B4-BE49-F238E27FC236}">
                <a16:creationId xmlns:a16="http://schemas.microsoft.com/office/drawing/2014/main" id="{99376FFD-AC52-4A15-B807-25061B9F2D5F}"/>
              </a:ext>
            </a:extLst>
          </p:cNvPr>
          <p:cNvSpPr txBox="1"/>
          <p:nvPr/>
        </p:nvSpPr>
        <p:spPr>
          <a:xfrm>
            <a:off x="10128769" y="5473004"/>
            <a:ext cx="206323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noProof="0" dirty="0"/>
              <a:t>DECIDE ON WHAT TO DO</a:t>
            </a:r>
          </a:p>
          <a:p>
            <a:pPr algn="ctr"/>
            <a:r>
              <a:rPr lang="en-US" sz="1000" noProof="0" dirty="0"/>
              <a:t>Starting the topics that are the most marked, decide and commit on actions for next session or time period.</a:t>
            </a:r>
          </a:p>
        </p:txBody>
      </p:sp>
      <p:graphicFrame>
        <p:nvGraphicFramePr>
          <p:cNvPr id="62" name="Tableau 21">
            <a:extLst>
              <a:ext uri="{FF2B5EF4-FFF2-40B4-BE49-F238E27FC236}">
                <a16:creationId xmlns:a16="http://schemas.microsoft.com/office/drawing/2014/main" id="{5FC90380-9AB0-42F7-BF1A-D63EECF5F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697602"/>
              </p:ext>
            </p:extLst>
          </p:nvPr>
        </p:nvGraphicFramePr>
        <p:xfrm>
          <a:off x="9963650" y="2082966"/>
          <a:ext cx="2091045" cy="2991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637">
                  <a:extLst>
                    <a:ext uri="{9D8B030D-6E8A-4147-A177-3AD203B41FA5}">
                      <a16:colId xmlns:a16="http://schemas.microsoft.com/office/drawing/2014/main" val="1621250613"/>
                    </a:ext>
                  </a:extLst>
                </a:gridCol>
                <a:gridCol w="1507408">
                  <a:extLst>
                    <a:ext uri="{9D8B030D-6E8A-4147-A177-3AD203B41FA5}">
                      <a16:colId xmlns:a16="http://schemas.microsoft.com/office/drawing/2014/main" val="1010987500"/>
                    </a:ext>
                  </a:extLst>
                </a:gridCol>
              </a:tblGrid>
              <a:tr h="276812">
                <a:tc>
                  <a:txBody>
                    <a:bodyPr/>
                    <a:lstStyle/>
                    <a:p>
                      <a:r>
                        <a:rPr lang="en-US" sz="110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787873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r>
                        <a:rPr lang="en-US" sz="500"/>
                        <a:t>Topic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500" dirty="0"/>
                        <a:t>Share about an article or watch a video together for next session on May 22</a:t>
                      </a:r>
                      <a:r>
                        <a:rPr lang="en-US" sz="500" baseline="30000" dirty="0"/>
                        <a:t>nd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500" dirty="0"/>
                        <a:t>Organize an meetup with other people for June 15</a:t>
                      </a:r>
                      <a:r>
                        <a:rPr lang="en-US" sz="500" baseline="30000" dirty="0"/>
                        <a:t>th</a:t>
                      </a:r>
                      <a:r>
                        <a:rPr lang="en-US" sz="5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554520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r>
                        <a:rPr lang="en-US" sz="500"/>
                        <a:t>Topic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500" dirty="0"/>
                        <a:t>Create a chat room with Alice, Bob, Charlie, Dick (who voted for this 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309538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r>
                        <a:rPr lang="en-US" sz="500"/>
                        <a:t>Topic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500" dirty="0"/>
                        <a:t>Organize a brainstorm on a likeable activity or format on this topic.  If no result or too difficult to organize, leave the topic away for the moment.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349907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00"/>
                        <a:t>Topic D</a:t>
                      </a:r>
                      <a:endParaRPr lang="en-US" sz="5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500" dirty="0"/>
                        <a:t>Find external guests to share about the topic for a presentation in 2 months.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500" dirty="0"/>
                        <a:t>Find interesting content and tutorials and share in the Community Wall.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766926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r>
                        <a:rPr lang="en-US" sz="500"/>
                        <a:t>Topics  E, F, G,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/>
                        <a:t>Leave it away for the moment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44852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r>
                        <a:rPr lang="en-US" sz="500"/>
                        <a:t>Topic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/>
                        <a:t>Officially out of scope of the Community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91635"/>
                  </a:ext>
                </a:extLst>
              </a:tr>
            </a:tbl>
          </a:graphicData>
        </a:graphic>
      </p:graphicFrame>
      <p:sp>
        <p:nvSpPr>
          <p:cNvPr id="63" name="Rectangle 62">
            <a:extLst>
              <a:ext uri="{FF2B5EF4-FFF2-40B4-BE49-F238E27FC236}">
                <a16:creationId xmlns:a16="http://schemas.microsoft.com/office/drawing/2014/main" id="{6D62EEE1-3D76-4ED0-A5F8-E815084A6020}"/>
              </a:ext>
            </a:extLst>
          </p:cNvPr>
          <p:cNvSpPr/>
          <p:nvPr/>
        </p:nvSpPr>
        <p:spPr>
          <a:xfrm>
            <a:off x="9984559" y="2362042"/>
            <a:ext cx="464680" cy="41571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TOPIC A</a:t>
            </a:r>
            <a:r>
              <a:rPr lang="fr-FR" sz="700" b="1" kern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300" b="1" kern="1200" dirty="0">
                <a:solidFill>
                  <a:schemeClr val="tx1"/>
                </a:solidFill>
              </a:rPr>
              <a:t>💗</a:t>
            </a:r>
            <a:r>
              <a:rPr lang="en-US" sz="300" b="1" kern="1200" noProof="0" dirty="0">
                <a:solidFill>
                  <a:schemeClr val="tx1"/>
                </a:solidFill>
              </a:rPr>
              <a:t> 🛠️ 🏠</a:t>
            </a:r>
            <a:endParaRPr lang="en-US" sz="3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8C57F72-3F8E-4DD7-BD7A-BC7732F7EE91}"/>
              </a:ext>
            </a:extLst>
          </p:cNvPr>
          <p:cNvSpPr/>
          <p:nvPr/>
        </p:nvSpPr>
        <p:spPr>
          <a:xfrm>
            <a:off x="9985270" y="2833332"/>
            <a:ext cx="463969" cy="42048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TOPIC B</a:t>
            </a:r>
            <a:r>
              <a:rPr lang="fr-FR" sz="700" b="1" kern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700" b="1" kern="1200" dirty="0">
                <a:solidFill>
                  <a:schemeClr val="tx1"/>
                </a:solidFill>
              </a:rPr>
              <a:t>💗</a:t>
            </a:r>
            <a:r>
              <a:rPr lang="en-US" sz="700" b="1" kern="1200" noProof="0" dirty="0">
                <a:solidFill>
                  <a:schemeClr val="tx1"/>
                </a:solidFill>
              </a:rPr>
              <a:t> 🛠️</a:t>
            </a: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D3E2FF9-B135-4137-8A71-9D672A19543E}"/>
              </a:ext>
            </a:extLst>
          </p:cNvPr>
          <p:cNvSpPr/>
          <p:nvPr/>
        </p:nvSpPr>
        <p:spPr>
          <a:xfrm>
            <a:off x="9984559" y="3295614"/>
            <a:ext cx="463969" cy="42048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TOPIC C</a:t>
            </a:r>
            <a:r>
              <a:rPr lang="en-US" sz="700" b="1" kern="1200" noProof="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700" b="1" kern="1200" noProof="0" dirty="0">
                <a:solidFill>
                  <a:schemeClr val="tx1"/>
                </a:solidFill>
              </a:rPr>
              <a:t>🛠️ 🏠 </a:t>
            </a:r>
          </a:p>
          <a:p>
            <a:pPr algn="ctr"/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C9F1333-C9D7-4866-A20D-7026F7AC00C6}"/>
              </a:ext>
            </a:extLst>
          </p:cNvPr>
          <p:cNvSpPr/>
          <p:nvPr/>
        </p:nvSpPr>
        <p:spPr>
          <a:xfrm>
            <a:off x="9984559" y="3737617"/>
            <a:ext cx="463969" cy="42048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TOPIC D</a:t>
            </a:r>
            <a:r>
              <a:rPr lang="fr-FR" sz="700" b="1" kern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700" b="1" kern="1200" dirty="0">
                <a:solidFill>
                  <a:schemeClr val="tx1"/>
                </a:solidFill>
              </a:rPr>
              <a:t>💗</a:t>
            </a:r>
            <a:r>
              <a:rPr lang="en-US" sz="700" b="1" kern="1200" noProof="0" dirty="0">
                <a:solidFill>
                  <a:schemeClr val="tx1"/>
                </a:solidFill>
              </a:rPr>
              <a:t> 🏠</a:t>
            </a:r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746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AD566F-CB0A-4E87-83AB-4E86FF7F6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Topics Mapping Workshop</a:t>
            </a:r>
            <a:br>
              <a:rPr lang="en-US"/>
            </a:br>
            <a:r>
              <a:rPr lang="en-US"/>
              <a:t>Using the results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4D94BA-24D1-43A4-B3F2-C064D233D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7809" y="2080034"/>
            <a:ext cx="3658351" cy="44394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dirty="0"/>
              <a:t>For each zone, decide what will be done for these topics </a:t>
            </a:r>
          </a:p>
          <a:p>
            <a:pPr marL="0" indent="0">
              <a:buNone/>
            </a:pPr>
            <a:r>
              <a:rPr lang="fr-FR" sz="1000" b="1" kern="1200" dirty="0"/>
              <a:t>💗 </a:t>
            </a:r>
            <a:r>
              <a:rPr lang="en-US" sz="1000" b="1" dirty="0">
                <a:solidFill>
                  <a:srgbClr val="00B050"/>
                </a:solidFill>
              </a:rPr>
              <a:t>LIKED, </a:t>
            </a:r>
            <a:r>
              <a:rPr lang="en-US" sz="1000" b="1" kern="1200" noProof="0" dirty="0"/>
              <a:t>🛠️</a:t>
            </a:r>
            <a:r>
              <a:rPr lang="en-US" sz="1000" b="1" dirty="0">
                <a:solidFill>
                  <a:srgbClr val="00B050"/>
                </a:solidFill>
              </a:rPr>
              <a:t>SKILLED, </a:t>
            </a:r>
            <a:r>
              <a:rPr lang="en-US" sz="1000" b="1" kern="1200" noProof="0" dirty="0"/>
              <a:t>🏠 </a:t>
            </a:r>
            <a:r>
              <a:rPr lang="en-US" sz="1000" b="1" dirty="0">
                <a:solidFill>
                  <a:srgbClr val="00B050"/>
                </a:solidFill>
              </a:rPr>
              <a:t>VALUABLE </a:t>
            </a:r>
            <a:r>
              <a:rPr lang="en-US" sz="1000" dirty="0"/>
              <a:t>: Best zone, integrate these topics in the raison d’être of the Community and in recurring activities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fr-FR" sz="1000" b="1" kern="1200" dirty="0"/>
              <a:t>💗 </a:t>
            </a:r>
            <a:r>
              <a:rPr lang="en-US" sz="1000" b="1" dirty="0">
                <a:solidFill>
                  <a:srgbClr val="00B050"/>
                </a:solidFill>
              </a:rPr>
              <a:t>LIKED, </a:t>
            </a:r>
            <a:r>
              <a:rPr lang="en-US" sz="1000" b="1" kern="1200" noProof="0" dirty="0"/>
              <a:t>🛠️</a:t>
            </a:r>
            <a:r>
              <a:rPr lang="en-US" sz="1000" b="1" dirty="0">
                <a:solidFill>
                  <a:srgbClr val="00B050"/>
                </a:solidFill>
              </a:rPr>
              <a:t>SKILLED, </a:t>
            </a:r>
            <a:r>
              <a:rPr lang="en-US" sz="1000" b="1" dirty="0">
                <a:solidFill>
                  <a:srgbClr val="FF0000"/>
                </a:solidFill>
              </a:rPr>
              <a:t>not VALUABLE </a:t>
            </a:r>
            <a:r>
              <a:rPr lang="en-US" sz="1000" dirty="0"/>
              <a:t>: Do not integrate in Community base activities, but introduce members who like the topic to each other to foster link within the Community</a:t>
            </a:r>
          </a:p>
          <a:p>
            <a:pPr marL="0" indent="0">
              <a:buNone/>
            </a:pPr>
            <a:r>
              <a:rPr lang="fr-FR" sz="1000" b="1" kern="1200" dirty="0"/>
              <a:t>💗 </a:t>
            </a:r>
            <a:r>
              <a:rPr lang="en-US" sz="1000" b="1" dirty="0">
                <a:solidFill>
                  <a:srgbClr val="00B050"/>
                </a:solidFill>
              </a:rPr>
              <a:t>LIKED, </a:t>
            </a:r>
            <a:r>
              <a:rPr lang="en-US" sz="1000" b="1" dirty="0">
                <a:solidFill>
                  <a:srgbClr val="FF0000"/>
                </a:solidFill>
              </a:rPr>
              <a:t>not SKILLED</a:t>
            </a:r>
            <a:r>
              <a:rPr lang="en-US" sz="1000" dirty="0"/>
              <a:t>, </a:t>
            </a:r>
            <a:r>
              <a:rPr lang="en-US" sz="1000" b="1" kern="1200" noProof="0" dirty="0"/>
              <a:t>🏠 </a:t>
            </a:r>
            <a:r>
              <a:rPr lang="en-US" sz="1000" b="1" dirty="0">
                <a:solidFill>
                  <a:srgbClr val="00B050"/>
                </a:solidFill>
              </a:rPr>
              <a:t>VALUABLE</a:t>
            </a:r>
            <a:r>
              <a:rPr lang="en-US" sz="1000" dirty="0"/>
              <a:t> : Invite external guests to teach the Community about these topics or get external content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F0000"/>
                </a:solidFill>
              </a:rPr>
              <a:t>Not LIKED</a:t>
            </a:r>
            <a:r>
              <a:rPr lang="en-US" sz="1000" dirty="0"/>
              <a:t>, </a:t>
            </a:r>
            <a:r>
              <a:rPr lang="en-US" sz="1000" b="1" kern="1200" noProof="0" dirty="0"/>
              <a:t>🛠️</a:t>
            </a:r>
            <a:r>
              <a:rPr lang="en-US" sz="1000" b="1" dirty="0">
                <a:solidFill>
                  <a:srgbClr val="00B050"/>
                </a:solidFill>
              </a:rPr>
              <a:t>S</a:t>
            </a:r>
            <a:r>
              <a:rPr lang="en-US" sz="1000" b="1" kern="1200" noProof="0" dirty="0"/>
              <a:t>️</a:t>
            </a:r>
            <a:r>
              <a:rPr lang="en-US" sz="1000" b="1" dirty="0">
                <a:solidFill>
                  <a:srgbClr val="00B050"/>
                </a:solidFill>
              </a:rPr>
              <a:t>KILLED, </a:t>
            </a:r>
            <a:r>
              <a:rPr lang="en-US" sz="1000" b="1" kern="1200" noProof="0" dirty="0"/>
              <a:t>🏠 </a:t>
            </a:r>
            <a:r>
              <a:rPr lang="en-US" sz="1000" b="1" dirty="0">
                <a:solidFill>
                  <a:srgbClr val="00B050"/>
                </a:solidFill>
              </a:rPr>
              <a:t>VALUABLE </a:t>
            </a:r>
            <a:r>
              <a:rPr lang="en-US" sz="1000" dirty="0"/>
              <a:t>: Brainstorm likeable formats about these topics, automate these topics, open these topics from time to time, but not as a recurring activity.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/>
              <a:t>LIKED ONLY, SKILLED ONLY, VALUABLE ONLY</a:t>
            </a:r>
            <a:r>
              <a:rPr lang="en-US" sz="1000" dirty="0"/>
              <a:t>: Leave these topics for the moment. When you are short on “Two points topics”, you can brainstorm to upgrade these one point topics.</a:t>
            </a:r>
          </a:p>
          <a:p>
            <a:pPr marL="0" indent="0">
              <a:buNone/>
            </a:pPr>
            <a:r>
              <a:rPr lang="en-US" sz="1000" b="1" dirty="0"/>
              <a:t>Neither LIKED, nor SKILLED, nor VALUABLE : </a:t>
            </a:r>
            <a:r>
              <a:rPr lang="en-US" sz="1000" dirty="0"/>
              <a:t>Leave these topics out of the Community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63E4A224-3186-4CCD-8059-EBE2AF7E8A8C}"/>
              </a:ext>
            </a:extLst>
          </p:cNvPr>
          <p:cNvGrpSpPr/>
          <p:nvPr/>
        </p:nvGrpSpPr>
        <p:grpSpPr>
          <a:xfrm>
            <a:off x="257663" y="2718033"/>
            <a:ext cx="3838211" cy="3267513"/>
            <a:chOff x="4772695" y="2191122"/>
            <a:chExt cx="3339571" cy="2843016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F531EF-8413-4B40-85EB-D111D96AF65A}"/>
                </a:ext>
              </a:extLst>
            </p:cNvPr>
            <p:cNvGrpSpPr/>
            <p:nvPr/>
          </p:nvGrpSpPr>
          <p:grpSpPr>
            <a:xfrm>
              <a:off x="5168373" y="2191122"/>
              <a:ext cx="2943893" cy="2778601"/>
              <a:chOff x="5168375" y="2191123"/>
              <a:chExt cx="2943894" cy="2778602"/>
            </a:xfrm>
          </p:grpSpPr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F6BEBE48-573F-4ACA-ADC8-61964EAC68AA}"/>
                  </a:ext>
                </a:extLst>
              </p:cNvPr>
              <p:cNvSpPr/>
              <p:nvPr/>
            </p:nvSpPr>
            <p:spPr>
              <a:xfrm>
                <a:off x="5785368" y="2191123"/>
                <a:ext cx="1709909" cy="1709909"/>
              </a:xfrm>
              <a:custGeom>
                <a:avLst/>
                <a:gdLst>
                  <a:gd name="connsiteX0" fmla="*/ 0 w 1709909"/>
                  <a:gd name="connsiteY0" fmla="*/ 854955 h 1709909"/>
                  <a:gd name="connsiteX1" fmla="*/ 854955 w 1709909"/>
                  <a:gd name="connsiteY1" fmla="*/ 0 h 1709909"/>
                  <a:gd name="connsiteX2" fmla="*/ 1709910 w 1709909"/>
                  <a:gd name="connsiteY2" fmla="*/ 854955 h 1709909"/>
                  <a:gd name="connsiteX3" fmla="*/ 854955 w 1709909"/>
                  <a:gd name="connsiteY3" fmla="*/ 1709910 h 1709909"/>
                  <a:gd name="connsiteX4" fmla="*/ 0 w 1709909"/>
                  <a:gd name="connsiteY4" fmla="*/ 854955 h 170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9909" h="1709909">
                    <a:moveTo>
                      <a:pt x="0" y="854955"/>
                    </a:moveTo>
                    <a:cubicBezTo>
                      <a:pt x="0" y="382776"/>
                      <a:pt x="382776" y="0"/>
                      <a:pt x="854955" y="0"/>
                    </a:cubicBezTo>
                    <a:cubicBezTo>
                      <a:pt x="1327134" y="0"/>
                      <a:pt x="1709910" y="382776"/>
                      <a:pt x="1709910" y="854955"/>
                    </a:cubicBezTo>
                    <a:cubicBezTo>
                      <a:pt x="1709910" y="1327134"/>
                      <a:pt x="1327134" y="1709910"/>
                      <a:pt x="854955" y="1709910"/>
                    </a:cubicBezTo>
                    <a:cubicBezTo>
                      <a:pt x="382776" y="1709910"/>
                      <a:pt x="0" y="1327134"/>
                      <a:pt x="0" y="854955"/>
                    </a:cubicBez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227988" tIns="299234" rIns="227988" bIns="641216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fr-FR" sz="800" b="1" kern="1200"/>
                  <a:t>💗LIKED : </a:t>
                </a:r>
                <a:r>
                  <a:rPr lang="en-US" sz="800" kern="1200" noProof="0"/>
                  <a:t>The topics we like the most</a:t>
                </a:r>
              </a:p>
            </p:txBody>
          </p:sp>
          <p:sp>
            <p:nvSpPr>
              <p:cNvPr id="32" name="Forme libre : forme 31">
                <a:extLst>
                  <a:ext uri="{FF2B5EF4-FFF2-40B4-BE49-F238E27FC236}">
                    <a16:creationId xmlns:a16="http://schemas.microsoft.com/office/drawing/2014/main" id="{B5363550-4FB6-4EEA-B3F5-799360A70B05}"/>
                  </a:ext>
                </a:extLst>
              </p:cNvPr>
              <p:cNvSpPr/>
              <p:nvPr/>
            </p:nvSpPr>
            <p:spPr>
              <a:xfrm>
                <a:off x="6402360" y="3259816"/>
                <a:ext cx="1709909" cy="1709909"/>
              </a:xfrm>
              <a:custGeom>
                <a:avLst/>
                <a:gdLst>
                  <a:gd name="connsiteX0" fmla="*/ 0 w 1709909"/>
                  <a:gd name="connsiteY0" fmla="*/ 854955 h 1709909"/>
                  <a:gd name="connsiteX1" fmla="*/ 854955 w 1709909"/>
                  <a:gd name="connsiteY1" fmla="*/ 0 h 1709909"/>
                  <a:gd name="connsiteX2" fmla="*/ 1709910 w 1709909"/>
                  <a:gd name="connsiteY2" fmla="*/ 854955 h 1709909"/>
                  <a:gd name="connsiteX3" fmla="*/ 854955 w 1709909"/>
                  <a:gd name="connsiteY3" fmla="*/ 1709910 h 1709909"/>
                  <a:gd name="connsiteX4" fmla="*/ 0 w 1709909"/>
                  <a:gd name="connsiteY4" fmla="*/ 854955 h 170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9909" h="1709909">
                    <a:moveTo>
                      <a:pt x="0" y="854955"/>
                    </a:moveTo>
                    <a:cubicBezTo>
                      <a:pt x="0" y="382776"/>
                      <a:pt x="382776" y="0"/>
                      <a:pt x="854955" y="0"/>
                    </a:cubicBezTo>
                    <a:cubicBezTo>
                      <a:pt x="1327134" y="0"/>
                      <a:pt x="1709910" y="382776"/>
                      <a:pt x="1709910" y="854955"/>
                    </a:cubicBezTo>
                    <a:cubicBezTo>
                      <a:pt x="1709910" y="1327134"/>
                      <a:pt x="1327134" y="1709910"/>
                      <a:pt x="854955" y="1709910"/>
                    </a:cubicBezTo>
                    <a:cubicBezTo>
                      <a:pt x="382776" y="1709910"/>
                      <a:pt x="0" y="1327134"/>
                      <a:pt x="0" y="854955"/>
                    </a:cubicBez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522947" tIns="441727" rIns="161017" bIns="327732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800" b="1" kern="1200" noProof="0"/>
                  <a:t>🏠VALUABLE : </a:t>
                </a:r>
                <a:r>
                  <a:rPr lang="en-US" sz="800" kern="1200" noProof="0"/>
                  <a:t>The topics with the most business impact</a:t>
                </a:r>
              </a:p>
            </p:txBody>
          </p:sp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65560411-3204-44F2-833C-D5624BF72B54}"/>
                  </a:ext>
                </a:extLst>
              </p:cNvPr>
              <p:cNvSpPr/>
              <p:nvPr/>
            </p:nvSpPr>
            <p:spPr>
              <a:xfrm>
                <a:off x="5168375" y="3259816"/>
                <a:ext cx="1709909" cy="1709909"/>
              </a:xfrm>
              <a:custGeom>
                <a:avLst/>
                <a:gdLst>
                  <a:gd name="connsiteX0" fmla="*/ 0 w 1709909"/>
                  <a:gd name="connsiteY0" fmla="*/ 854955 h 1709909"/>
                  <a:gd name="connsiteX1" fmla="*/ 854955 w 1709909"/>
                  <a:gd name="connsiteY1" fmla="*/ 0 h 1709909"/>
                  <a:gd name="connsiteX2" fmla="*/ 1709910 w 1709909"/>
                  <a:gd name="connsiteY2" fmla="*/ 854955 h 1709909"/>
                  <a:gd name="connsiteX3" fmla="*/ 854955 w 1709909"/>
                  <a:gd name="connsiteY3" fmla="*/ 1709910 h 1709909"/>
                  <a:gd name="connsiteX4" fmla="*/ 0 w 1709909"/>
                  <a:gd name="connsiteY4" fmla="*/ 854955 h 170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9909" h="1709909">
                    <a:moveTo>
                      <a:pt x="0" y="854955"/>
                    </a:moveTo>
                    <a:cubicBezTo>
                      <a:pt x="0" y="382776"/>
                      <a:pt x="382776" y="0"/>
                      <a:pt x="854955" y="0"/>
                    </a:cubicBezTo>
                    <a:cubicBezTo>
                      <a:pt x="1327134" y="0"/>
                      <a:pt x="1709910" y="382776"/>
                      <a:pt x="1709910" y="854955"/>
                    </a:cubicBezTo>
                    <a:cubicBezTo>
                      <a:pt x="1709910" y="1327134"/>
                      <a:pt x="1327134" y="1709910"/>
                      <a:pt x="854955" y="1709910"/>
                    </a:cubicBezTo>
                    <a:cubicBezTo>
                      <a:pt x="382776" y="1709910"/>
                      <a:pt x="0" y="1327134"/>
                      <a:pt x="0" y="854955"/>
                    </a:cubicBez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161017" tIns="441727" rIns="522947" bIns="327732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800" b="1" kern="1200" noProof="0"/>
                  <a:t>🛠️SKILLED : </a:t>
                </a:r>
                <a:r>
                  <a:rPr lang="en-US" sz="800" kern="1200" noProof="0"/>
                  <a:t>The topics in which we are the most skilled</a:t>
                </a: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FACCF08-66DA-4FE1-93F1-E01C6640F058}"/>
                </a:ext>
              </a:extLst>
            </p:cNvPr>
            <p:cNvSpPr/>
            <p:nvPr/>
          </p:nvSpPr>
          <p:spPr>
            <a:xfrm>
              <a:off x="6333718" y="2335059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G</a:t>
              </a:r>
              <a:r>
                <a:rPr lang="fr-FR" sz="700" b="1" kern="120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700" b="1" kern="1200">
                  <a:solidFill>
                    <a:schemeClr val="tx1"/>
                  </a:solidFill>
                </a:rPr>
                <a:t>💗</a:t>
              </a:r>
              <a:endParaRPr lang="en-US" sz="70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EF869DD-017B-4149-8238-C4D02F4FBD68}"/>
                </a:ext>
              </a:extLst>
            </p:cNvPr>
            <p:cNvSpPr/>
            <p:nvPr/>
          </p:nvSpPr>
          <p:spPr>
            <a:xfrm>
              <a:off x="5804844" y="3176941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B</a:t>
              </a:r>
              <a:r>
                <a:rPr lang="fr-FR" sz="700" b="1" kern="120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700" b="1" kern="1200">
                  <a:solidFill>
                    <a:schemeClr val="tx1"/>
                  </a:solidFill>
                </a:rPr>
                <a:t>💗</a:t>
              </a:r>
              <a:r>
                <a:rPr lang="en-US" sz="700" b="1" kern="1200" noProof="0">
                  <a:solidFill>
                    <a:schemeClr val="tx1"/>
                  </a:solidFill>
                </a:rPr>
                <a:t> 🛠️</a:t>
              </a:r>
              <a:endParaRPr lang="en-US" sz="70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7E5FE6D-62B4-4111-9B99-D33EF3D4C2FD}"/>
                </a:ext>
              </a:extLst>
            </p:cNvPr>
            <p:cNvSpPr/>
            <p:nvPr/>
          </p:nvSpPr>
          <p:spPr>
            <a:xfrm>
              <a:off x="7627469" y="4326677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F</a:t>
              </a:r>
              <a:r>
                <a:rPr lang="en-US" sz="700" b="1" kern="1200" noProof="0">
                  <a:solidFill>
                    <a:schemeClr val="tx1"/>
                  </a:solidFill>
                </a:rPr>
                <a:t> 🏠</a:t>
              </a:r>
              <a:endParaRPr lang="en-US" sz="70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E943A62-1832-47BB-93F9-3D7F9E50D089}"/>
                </a:ext>
              </a:extLst>
            </p:cNvPr>
            <p:cNvSpPr/>
            <p:nvPr/>
          </p:nvSpPr>
          <p:spPr>
            <a:xfrm>
              <a:off x="6349778" y="3533841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A</a:t>
              </a:r>
              <a:r>
                <a:rPr lang="fr-FR" sz="700" b="1" kern="120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300" b="1" kern="1200">
                  <a:solidFill>
                    <a:schemeClr val="tx1"/>
                  </a:solidFill>
                </a:rPr>
                <a:t>💗</a:t>
              </a:r>
              <a:r>
                <a:rPr lang="en-US" sz="300" b="1" kern="1200" noProof="0">
                  <a:solidFill>
                    <a:schemeClr val="tx1"/>
                  </a:solidFill>
                </a:rPr>
                <a:t> 🏠 🛠️</a:t>
              </a:r>
              <a:endParaRPr lang="en-US" sz="300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0B59317-2194-45BF-99F5-4795E3D45EF2}"/>
                </a:ext>
              </a:extLst>
            </p:cNvPr>
            <p:cNvSpPr/>
            <p:nvPr/>
          </p:nvSpPr>
          <p:spPr>
            <a:xfrm>
              <a:off x="6349779" y="4198993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C</a:t>
              </a:r>
              <a:r>
                <a:rPr lang="en-US" sz="700" b="1" kern="1200" noProof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sz="700" b="1" kern="1200" noProof="0">
                  <a:solidFill>
                    <a:schemeClr val="tx1"/>
                  </a:solidFill>
                </a:rPr>
                <a:t>🛠️ 🏠</a:t>
              </a:r>
              <a:endParaRPr lang="en-US" sz="70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62A72F-4851-44BD-A668-12D2A4FD164C}"/>
                </a:ext>
              </a:extLst>
            </p:cNvPr>
            <p:cNvSpPr/>
            <p:nvPr/>
          </p:nvSpPr>
          <p:spPr>
            <a:xfrm>
              <a:off x="6788630" y="2310401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H</a:t>
              </a:r>
              <a:r>
                <a:rPr lang="fr-FR" sz="700" b="1" kern="120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700" b="1" kern="1200">
                  <a:solidFill>
                    <a:schemeClr val="tx1"/>
                  </a:solidFill>
                </a:rPr>
                <a:t>💗</a:t>
              </a:r>
              <a:endParaRPr lang="en-US" sz="70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F8D61A4-5795-447D-91F9-1AE4F99EB853}"/>
                </a:ext>
              </a:extLst>
            </p:cNvPr>
            <p:cNvSpPr/>
            <p:nvPr/>
          </p:nvSpPr>
          <p:spPr>
            <a:xfrm>
              <a:off x="7101815" y="3235156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D</a:t>
              </a:r>
              <a:r>
                <a:rPr lang="fr-FR" sz="700" b="1" kern="120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700" b="1" kern="1200">
                  <a:solidFill>
                    <a:schemeClr val="tx1"/>
                  </a:solidFill>
                </a:rPr>
                <a:t>💗</a:t>
              </a:r>
              <a:r>
                <a:rPr lang="en-US" sz="700" b="1" kern="1200" noProof="0">
                  <a:solidFill>
                    <a:schemeClr val="tx1"/>
                  </a:solidFill>
                </a:rPr>
                <a:t> 🏠</a:t>
              </a:r>
              <a:endParaRPr lang="en-US" sz="70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BC465B1-7952-4A14-ABA4-708987C9F4DD}"/>
                </a:ext>
              </a:extLst>
            </p:cNvPr>
            <p:cNvSpPr/>
            <p:nvPr/>
          </p:nvSpPr>
          <p:spPr>
            <a:xfrm>
              <a:off x="5889071" y="4365098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E</a:t>
              </a:r>
              <a:r>
                <a:rPr lang="en-US" sz="700" b="1" kern="1200" noProof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sz="700" b="1" kern="1200" noProof="0">
                  <a:solidFill>
                    <a:schemeClr val="tx1"/>
                  </a:solidFill>
                </a:rPr>
                <a:t>🛠️</a:t>
              </a:r>
              <a:endParaRPr lang="en-US" sz="70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B0D3AA7-17F0-4A56-BB0A-91D4671DBD6E}"/>
                </a:ext>
              </a:extLst>
            </p:cNvPr>
            <p:cNvSpPr/>
            <p:nvPr/>
          </p:nvSpPr>
          <p:spPr>
            <a:xfrm>
              <a:off x="4772695" y="4643729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I</a:t>
              </a:r>
            </a:p>
          </p:txBody>
        </p:sp>
      </p:grpSp>
      <p:sp>
        <p:nvSpPr>
          <p:cNvPr id="34" name="Espace réservé du contenu 2">
            <a:extLst>
              <a:ext uri="{FF2B5EF4-FFF2-40B4-BE49-F238E27FC236}">
                <a16:creationId xmlns:a16="http://schemas.microsoft.com/office/drawing/2014/main" id="{0D421C08-A0BC-49D3-AE43-37C221BC6F58}"/>
              </a:ext>
            </a:extLst>
          </p:cNvPr>
          <p:cNvSpPr txBox="1">
            <a:spLocks/>
          </p:cNvSpPr>
          <p:nvPr/>
        </p:nvSpPr>
        <p:spPr>
          <a:xfrm>
            <a:off x="8161195" y="2154115"/>
            <a:ext cx="3197499" cy="3976382"/>
          </a:xfrm>
          <a:prstGeom prst="rect">
            <a:avLst/>
          </a:prstGeom>
          <a:solidFill>
            <a:srgbClr val="EC7B2B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b="1"/>
              <a:t>What else to do with the results 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✔️ Use it as a base to define Community roadmap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🔍 Use it for search terms in case of content curation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🔲 Use it to define Community scope with non-members (stakeholders, future members, …)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💡  Use it for future brainstorming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📅 Update it regularly (example : once every quarter or every 10 sessions) or when Community members have drastically changed.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079675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25294-60E0-4E12-B866-F2E1DAC2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Version </a:t>
            </a:r>
            <a:r>
              <a:rPr lang="fr-FR" dirty="0" err="1"/>
              <a:t>History</a:t>
            </a:r>
            <a:endParaRPr lang="fr-FR" dirty="0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08BEB17-09DF-461E-9CA2-AC3AEFDC50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9748460"/>
              </p:ext>
            </p:extLst>
          </p:nvPr>
        </p:nvGraphicFramePr>
        <p:xfrm>
          <a:off x="478172" y="1532010"/>
          <a:ext cx="11409028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2257">
                  <a:extLst>
                    <a:ext uri="{9D8B030D-6E8A-4147-A177-3AD203B41FA5}">
                      <a16:colId xmlns:a16="http://schemas.microsoft.com/office/drawing/2014/main" val="3807656759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2648948851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285982558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1267208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Version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Contributeurs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Licence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Commentaires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113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CC-BY 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First 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500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347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54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36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80"/>
    </mc:Choice>
    <mc:Fallback xmlns="">
      <p:transition spd="slow" advTm="19680"/>
    </mc:Fallback>
  </mc:AlternateContent>
</p:sld>
</file>

<file path=ppt/theme/theme1.xml><?xml version="1.0" encoding="utf-8"?>
<a:theme xmlns:a="http://schemas.openxmlformats.org/drawingml/2006/main" name="AccentBoxVTI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3402</TotalTime>
  <Words>1422</Words>
  <Application>Microsoft Office PowerPoint</Application>
  <PresentationFormat>Grand écran</PresentationFormat>
  <Paragraphs>250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Avenir Next LT Pro</vt:lpstr>
      <vt:lpstr>Calibri</vt:lpstr>
      <vt:lpstr>AccentBoxVTI</vt:lpstr>
      <vt:lpstr>W2 #OSG Community Topics Mapping Workshop</vt:lpstr>
      <vt:lpstr>Topics Mapping Workshop Example of workshop results</vt:lpstr>
      <vt:lpstr>Topics mapping Workshop Workshop step by step</vt:lpstr>
      <vt:lpstr>Topics mapping Workshop Workshop step by step (illustrated)</vt:lpstr>
      <vt:lpstr>Topics Mapping Workshop Using the results</vt:lpstr>
      <vt:lpstr>Version History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Intégrer la méthode #OSG dans une communauté</dc:title>
  <dc:creator>Alexandre Quach</dc:creator>
  <cp:lastModifiedBy>Alexandre Quach</cp:lastModifiedBy>
  <cp:revision>3</cp:revision>
  <dcterms:created xsi:type="dcterms:W3CDTF">2020-12-16T10:05:09Z</dcterms:created>
  <dcterms:modified xsi:type="dcterms:W3CDTF">2022-04-07T11:43:00Z</dcterms:modified>
</cp:coreProperties>
</file>