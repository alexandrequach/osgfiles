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Default Extension="svg" ContentType="image/svg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" d="2"/>
          <a:sy n="1" d="2"/>
        </p:scale>
        <p:origin x="0" y="0"/>
      </p:cViewPr>
      <p:guideLst>
        <p:guide pos="3840"/>
        <p:guide pos="2160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B4E790-CE77-500F-82F1-5AE1B029FF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AF285F5-5E87-1624-7236-3FCF807D8EA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D820457-4E0E-4AB6-DB31-08637D10139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D42A8E-A341-8EF9-6450-C4410A379B8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375AD6-233A-C01F-940B-721192422B7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49C953-CBAF-FDA0-F4C6-DFB407D266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E5F1D7D-9F30-528D-7C4F-B9D108E66E6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635ECD2-819C-FC39-C758-666268CECC0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EBBDC2A-329F-4244-62AC-CFD40B625CF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51C996B-ADB1-E235-1A57-AF036F82EC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4F3491D-291E-995C-1FC8-966459B8ED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9698974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569571757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/>
          </a:p>
        </p:txBody>
      </p:sp>
      <p:sp>
        <p:nvSpPr>
          <p:cNvPr id="143060026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22617011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1801435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68765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748058017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15401877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1511551341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237905863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457423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76807049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57487217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798880464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962112662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639063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394608896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793951382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488616350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183554401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39212555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005923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70375776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7084342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138420956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405024828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55832330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211909624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58447497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54145660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40221316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1373601476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2012236730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092388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572057576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784329897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5987271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24586157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95687457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218721704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943605009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076314648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69647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2068939080" name="Espace réservé pour une image  2"/>
          <p:cNvSpPr>
            <a:spLocks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 lang="fr-FR"/>
          </a:p>
        </p:txBody>
      </p:sp>
      <p:sp>
        <p:nvSpPr>
          <p:cNvPr id="457330321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</p:txBody>
      </p:sp>
      <p:sp>
        <p:nvSpPr>
          <p:cNvPr id="1573117776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67016533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889543292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9143141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47777581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2000492532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853741399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40869907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7080289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8111601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77386959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1858234943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1416626054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1538105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/>
          </a:p>
        </p:txBody>
      </p:sp>
      <p:sp>
        <p:nvSpPr>
          <p:cNvPr id="1741263238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Cliquez pour modifier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/>
          </a:p>
        </p:txBody>
      </p:sp>
      <p:sp>
        <p:nvSpPr>
          <p:cNvPr id="812712088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E6439E6-DD8C-4C85-9C7B-9357438C85CB}" type="datetimeFigureOut">
              <a:rPr lang="fr-FR"/>
              <a:t>23/03/2021</a:t>
            </a:fld>
            <a:endParaRPr lang="fr-FR"/>
          </a:p>
        </p:txBody>
      </p:sp>
      <p:sp>
        <p:nvSpPr>
          <p:cNvPr id="1486169852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75048128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87B4D992-F161-4455-B186-2BFDF7EA604F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media1.svg"/><Relationship Id="rId5" Type="http://schemas.openxmlformats.org/officeDocument/2006/relationships/image" Target="../media/image3.png"/><Relationship Id="rId6" Type="http://schemas.openxmlformats.org/officeDocument/2006/relationships/image" Target="../media/media2.svg"/><Relationship Id="rId7" Type="http://schemas.openxmlformats.org/officeDocument/2006/relationships/image" Target="../media/image4.png"/><Relationship Id="rId8" Type="http://schemas.openxmlformats.org/officeDocument/2006/relationships/image" Target="../media/media3.svg"/><Relationship Id="rId9" Type="http://schemas.openxmlformats.org/officeDocument/2006/relationships/image" Target="../media/image5.png"/><Relationship Id="rId10" Type="http://schemas.openxmlformats.org/officeDocument/2006/relationships/image" Target="../media/media4.svg"/><Relationship Id="rId11" Type="http://schemas.openxmlformats.org/officeDocument/2006/relationships/image" Target="../media/image6.png"/><Relationship Id="rId12" Type="http://schemas.openxmlformats.org/officeDocument/2006/relationships/image" Target="../media/media5.svg"/><Relationship Id="rId13" Type="http://schemas.openxmlformats.org/officeDocument/2006/relationships/image" Target="../media/image7.png"/><Relationship Id="rId14" Type="http://schemas.openxmlformats.org/officeDocument/2006/relationships/image" Target="../media/media6.svg"/><Relationship Id="rId15" Type="http://schemas.openxmlformats.org/officeDocument/2006/relationships/image" Target="../media/image8.png"/><Relationship Id="rId16" Type="http://schemas.openxmlformats.org/officeDocument/2006/relationships/image" Target="../media/media7.svg"/><Relationship Id="rId17" Type="http://schemas.openxmlformats.org/officeDocument/2006/relationships/image" Target="../media/image9.png"/><Relationship Id="rId18" Type="http://schemas.openxmlformats.org/officeDocument/2006/relationships/image" Target="../media/media8.svg"/><Relationship Id="rId19" Type="http://schemas.openxmlformats.org/officeDocument/2006/relationships/image" Target="../media/image10.jpg"/><Relationship Id="rId20" Type="http://schemas.openxmlformats.org/officeDocument/2006/relationships/image" Target="../media/image11.jpg"/><Relationship Id="rId21" Type="http://schemas.openxmlformats.org/officeDocument/2006/relationships/image" Target="../media/image12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3.jpg"/><Relationship Id="rId15" Type="http://schemas.openxmlformats.org/officeDocument/2006/relationships/image" Target="../media/image14.jpg"/><Relationship Id="rId16" Type="http://schemas.openxmlformats.org/officeDocument/2006/relationships/image" Target="../media/image15.jpg"/><Relationship Id="rId17" Type="http://schemas.openxmlformats.org/officeDocument/2006/relationships/image" Target="../media/image16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8.jpg"/><Relationship Id="rId15" Type="http://schemas.openxmlformats.org/officeDocument/2006/relationships/image" Target="../media/image19.png"/><Relationship Id="rId16" Type="http://schemas.openxmlformats.org/officeDocument/2006/relationships/image" Target="../media/image20.jpg"/><Relationship Id="rId17" Type="http://schemas.openxmlformats.org/officeDocument/2006/relationships/image" Target="../media/image21.png"/><Relationship Id="rId18" Type="http://schemas.openxmlformats.org/officeDocument/2006/relationships/image" Target="../media/image22.jp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23.jpg"/><Relationship Id="rId15" Type="http://schemas.openxmlformats.org/officeDocument/2006/relationships/image" Target="../media/image24.png"/><Relationship Id="rId16" Type="http://schemas.openxmlformats.org/officeDocument/2006/relationships/image" Target="../media/image25.jpg"/><Relationship Id="rId17" Type="http://schemas.openxmlformats.org/officeDocument/2006/relationships/image" Target="../media/image26.jpg"/><Relationship Id="rId18" Type="http://schemas.openxmlformats.org/officeDocument/2006/relationships/image" Target="../media/image27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jpg"/><Relationship Id="rId12" Type="http://schemas.openxmlformats.org/officeDocument/2006/relationships/image" Target="../media/image11.jpg"/><Relationship Id="rId13" Type="http://schemas.openxmlformats.org/officeDocument/2006/relationships/image" Target="../media/image12.jpg"/><Relationship Id="rId14" Type="http://schemas.openxmlformats.org/officeDocument/2006/relationships/image" Target="../media/image19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Relationship Id="rId17" Type="http://schemas.openxmlformats.org/officeDocument/2006/relationships/image" Target="../media/image30.jpg"/><Relationship Id="rId18" Type="http://schemas.openxmlformats.org/officeDocument/2006/relationships/image" Target="../media/image31.jpg"/><Relationship Id="rId19" Type="http://schemas.openxmlformats.org/officeDocument/2006/relationships/image" Target="../media/image32.png"/><Relationship Id="rId20" Type="http://schemas.openxmlformats.org/officeDocument/2006/relationships/image" Target="../media/image33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34.jp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35.jpg"/><Relationship Id="rId12" Type="http://schemas.openxmlformats.org/officeDocument/2006/relationships/image" Target="../media/image36.jpg"/><Relationship Id="rId13" Type="http://schemas.openxmlformats.org/officeDocument/2006/relationships/image" Target="../media/image30.jpg"/><Relationship Id="rId14" Type="http://schemas.openxmlformats.org/officeDocument/2006/relationships/image" Target="../media/image22.jpg"/><Relationship Id="rId15" Type="http://schemas.openxmlformats.org/officeDocument/2006/relationships/image" Target="../media/image37.png"/><Relationship Id="rId16" Type="http://schemas.openxmlformats.org/officeDocument/2006/relationships/image" Target="../media/image38.jpg"/><Relationship Id="rId17" Type="http://schemas.openxmlformats.org/officeDocument/2006/relationships/image" Target="../media/image28.png"/><Relationship Id="rId18" Type="http://schemas.openxmlformats.org/officeDocument/2006/relationships/image" Target="../media/image29.png"/><Relationship Id="rId19" Type="http://schemas.openxmlformats.org/officeDocument/2006/relationships/image" Target="../media/image39.jpg"/><Relationship Id="rId20" Type="http://schemas.openxmlformats.org/officeDocument/2006/relationships/image" Target="../media/image40.png"/><Relationship Id="rId21" Type="http://schemas.openxmlformats.org/officeDocument/2006/relationships/image" Target="../media/media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7336114" name="Freeform 5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329674" y="1290909"/>
            <a:ext cx="9702800" cy="5573512"/>
          </a:xfrm>
          <a:custGeom>
            <a:avLst/>
            <a:gdLst>
              <a:gd name="T0" fmla="*/ 1752 w 2038"/>
              <a:gd name="T1" fmla="*/ 1169 h 1169"/>
              <a:gd name="T2" fmla="*/ 1487 w 2038"/>
              <a:gd name="T3" fmla="*/ 334 h 1169"/>
              <a:gd name="T4" fmla="*/ 860 w 2038"/>
              <a:gd name="T5" fmla="*/ 22 h 1169"/>
              <a:gd name="T6" fmla="*/ 199 w 2038"/>
              <a:gd name="T7" fmla="*/ 318 h 1169"/>
              <a:gd name="T8" fmla="*/ 399 w 2038"/>
              <a:gd name="T9" fmla="*/ 1165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38" h="1169" fill="norm" stroke="1" extrusionOk="0">
                <a:moveTo>
                  <a:pt x="1752" y="1169"/>
                </a:moveTo>
                <a:cubicBezTo>
                  <a:pt x="2038" y="928"/>
                  <a:pt x="1673" y="513"/>
                  <a:pt x="1487" y="334"/>
                </a:cubicBezTo>
                <a:cubicBezTo>
                  <a:pt x="1316" y="170"/>
                  <a:pt x="1099" y="43"/>
                  <a:pt x="860" y="22"/>
                </a:cubicBezTo>
                <a:cubicBezTo>
                  <a:pt x="621" y="0"/>
                  <a:pt x="341" y="128"/>
                  <a:pt x="199" y="318"/>
                </a:cubicBezTo>
                <a:cubicBezTo>
                  <a:pt x="0" y="586"/>
                  <a:pt x="184" y="965"/>
                  <a:pt x="399" y="116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95940598" name="Freeform 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670451" y="2010741"/>
            <a:ext cx="7373938" cy="4848892"/>
          </a:xfrm>
          <a:custGeom>
            <a:avLst/>
            <a:gdLst>
              <a:gd name="T0" fmla="*/ 1025 w 1549"/>
              <a:gd name="T1" fmla="*/ 1016 h 1017"/>
              <a:gd name="T2" fmla="*/ 1443 w 1549"/>
              <a:gd name="T3" fmla="*/ 592 h 1017"/>
              <a:gd name="T4" fmla="*/ 782 w 1549"/>
              <a:gd name="T5" fmla="*/ 53 h 1017"/>
              <a:gd name="T6" fmla="*/ 150 w 1549"/>
              <a:gd name="T7" fmla="*/ 329 h 1017"/>
              <a:gd name="T8" fmla="*/ 477 w 1549"/>
              <a:gd name="T9" fmla="*/ 1017 h 10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549" h="1017" fill="norm" stroke="1" extrusionOk="0">
                <a:moveTo>
                  <a:pt x="1025" y="1016"/>
                </a:moveTo>
                <a:cubicBezTo>
                  <a:pt x="1223" y="971"/>
                  <a:pt x="1549" y="857"/>
                  <a:pt x="1443" y="592"/>
                </a:cubicBezTo>
                <a:cubicBezTo>
                  <a:pt x="1344" y="344"/>
                  <a:pt x="1041" y="111"/>
                  <a:pt x="782" y="53"/>
                </a:cubicBezTo>
                <a:cubicBezTo>
                  <a:pt x="545" y="0"/>
                  <a:pt x="275" y="117"/>
                  <a:pt x="150" y="329"/>
                </a:cubicBezTo>
                <a:cubicBezTo>
                  <a:pt x="0" y="584"/>
                  <a:pt x="243" y="911"/>
                  <a:pt x="477" y="1017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25566099" name="Freeform 7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251350" y="1780905"/>
            <a:ext cx="8035925" cy="5083516"/>
          </a:xfrm>
          <a:custGeom>
            <a:avLst/>
            <a:gdLst>
              <a:gd name="T0" fmla="*/ 1302 w 1688"/>
              <a:gd name="T1" fmla="*/ 1066 h 1066"/>
              <a:gd name="T2" fmla="*/ 1613 w 1688"/>
              <a:gd name="T3" fmla="*/ 850 h 1066"/>
              <a:gd name="T4" fmla="*/ 1517 w 1688"/>
              <a:gd name="T5" fmla="*/ 471 h 1066"/>
              <a:gd name="T6" fmla="*/ 798 w 1688"/>
              <a:gd name="T7" fmla="*/ 28 h 1066"/>
              <a:gd name="T8" fmla="*/ 181 w 1688"/>
              <a:gd name="T9" fmla="*/ 333 h 1066"/>
              <a:gd name="T10" fmla="*/ 420 w 1688"/>
              <a:gd name="T11" fmla="*/ 1066 h 10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688" h="1066" fill="norm" stroke="1" extrusionOk="0">
                <a:moveTo>
                  <a:pt x="1302" y="1066"/>
                </a:moveTo>
                <a:cubicBezTo>
                  <a:pt x="1416" y="1024"/>
                  <a:pt x="1551" y="962"/>
                  <a:pt x="1613" y="850"/>
                </a:cubicBezTo>
                <a:cubicBezTo>
                  <a:pt x="1688" y="715"/>
                  <a:pt x="1606" y="575"/>
                  <a:pt x="1517" y="471"/>
                </a:cubicBezTo>
                <a:cubicBezTo>
                  <a:pt x="1336" y="258"/>
                  <a:pt x="1084" y="62"/>
                  <a:pt x="798" y="28"/>
                </a:cubicBezTo>
                <a:cubicBezTo>
                  <a:pt x="559" y="0"/>
                  <a:pt x="317" y="138"/>
                  <a:pt x="181" y="333"/>
                </a:cubicBezTo>
                <a:cubicBezTo>
                  <a:pt x="0" y="592"/>
                  <a:pt x="191" y="907"/>
                  <a:pt x="420" y="10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688278879" name="Freeform 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542347"/>
            <a:ext cx="10334625" cy="6322075"/>
          </a:xfrm>
          <a:custGeom>
            <a:avLst/>
            <a:gdLst>
              <a:gd name="T0" fmla="*/ 1873 w 2171"/>
              <a:gd name="T1" fmla="*/ 1326 h 1326"/>
              <a:gd name="T2" fmla="*/ 1609 w 2171"/>
              <a:gd name="T3" fmla="*/ 473 h 1326"/>
              <a:gd name="T4" fmla="*/ 880 w 2171"/>
              <a:gd name="T5" fmla="*/ 63 h 1326"/>
              <a:gd name="T6" fmla="*/ 0 w 2171"/>
              <a:gd name="T7" fmla="*/ 423 h 13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71" h="1326" fill="norm" stroke="1" extrusionOk="0">
                <a:moveTo>
                  <a:pt x="1873" y="1326"/>
                </a:moveTo>
                <a:cubicBezTo>
                  <a:pt x="2171" y="1045"/>
                  <a:pt x="1825" y="678"/>
                  <a:pt x="1609" y="473"/>
                </a:cubicBezTo>
                <a:cubicBezTo>
                  <a:pt x="1406" y="281"/>
                  <a:pt x="1159" y="116"/>
                  <a:pt x="880" y="63"/>
                </a:cubicBezTo>
                <a:cubicBezTo>
                  <a:pt x="545" y="0"/>
                  <a:pt x="214" y="161"/>
                  <a:pt x="0" y="423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06221237" name="Freeform 9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701" y="6178751"/>
            <a:ext cx="504825" cy="681527"/>
          </a:xfrm>
          <a:custGeom>
            <a:avLst/>
            <a:gdLst>
              <a:gd name="T0" fmla="*/ 0 w 106"/>
              <a:gd name="T1" fmla="*/ 0 h 143"/>
              <a:gd name="T2" fmla="*/ 106 w 106"/>
              <a:gd name="T3" fmla="*/ 143 h 143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06" h="143" fill="norm" stroke="1" extrusionOk="0">
                <a:moveTo>
                  <a:pt x="0" y="0"/>
                </a:moveTo>
                <a:cubicBezTo>
                  <a:pt x="35" y="54"/>
                  <a:pt x="70" y="101"/>
                  <a:pt x="106" y="143"/>
                </a:cubicBezTo>
              </a:path>
            </a:pathLst>
          </a:custGeom>
          <a:noFill/>
          <a:ln w="4763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3979784" name="Freeform 10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-59376"/>
            <a:ext cx="11091863" cy="6923796"/>
          </a:xfrm>
          <a:custGeom>
            <a:avLst/>
            <a:gdLst>
              <a:gd name="T0" fmla="*/ 2046 w 2330"/>
              <a:gd name="T1" fmla="*/ 1452 h 1452"/>
              <a:gd name="T2" fmla="*/ 1813 w 2330"/>
              <a:gd name="T3" fmla="*/ 601 h 1452"/>
              <a:gd name="T4" fmla="*/ 956 w 2330"/>
              <a:gd name="T5" fmla="*/ 97 h 1452"/>
              <a:gd name="T6" fmla="*/ 0 w 2330"/>
              <a:gd name="T7" fmla="*/ 366 h 14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330" h="1452" fill="norm" stroke="1" extrusionOk="0">
                <a:moveTo>
                  <a:pt x="2046" y="1452"/>
                </a:moveTo>
                <a:cubicBezTo>
                  <a:pt x="2330" y="1153"/>
                  <a:pt x="2049" y="821"/>
                  <a:pt x="1813" y="601"/>
                </a:cubicBezTo>
                <a:cubicBezTo>
                  <a:pt x="1569" y="375"/>
                  <a:pt x="1282" y="179"/>
                  <a:pt x="956" y="97"/>
                </a:cubicBezTo>
                <a:cubicBezTo>
                  <a:pt x="572" y="0"/>
                  <a:pt x="292" y="101"/>
                  <a:pt x="0" y="366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77595911" name="Freeform 1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-1916"/>
            <a:ext cx="1057275" cy="614491"/>
          </a:xfrm>
          <a:custGeom>
            <a:avLst/>
            <a:gdLst>
              <a:gd name="T0" fmla="*/ 222 w 222"/>
              <a:gd name="T1" fmla="*/ 0 h 129"/>
              <a:gd name="T2" fmla="*/ 0 w 222"/>
              <a:gd name="T3" fmla="*/ 129 h 129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222" h="129" fill="norm" stroke="1" extrusionOk="0">
                <a:moveTo>
                  <a:pt x="222" y="0"/>
                </a:moveTo>
                <a:cubicBezTo>
                  <a:pt x="152" y="35"/>
                  <a:pt x="76" y="78"/>
                  <a:pt x="0" y="129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0323586" name="Freeform 14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3701" y="-6705"/>
            <a:ext cx="595313" cy="352734"/>
          </a:xfrm>
          <a:custGeom>
            <a:avLst/>
            <a:gdLst>
              <a:gd name="T0" fmla="*/ 125 w 125"/>
              <a:gd name="T1" fmla="*/ 0 h 74"/>
              <a:gd name="T2" fmla="*/ 0 w 125"/>
              <a:gd name="T3" fmla="*/ 74 h 74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25" h="74" fill="norm" stroke="1" extrusionOk="0">
                <a:moveTo>
                  <a:pt x="125" y="0"/>
                </a:moveTo>
                <a:cubicBezTo>
                  <a:pt x="85" y="22"/>
                  <a:pt x="43" y="47"/>
                  <a:pt x="0" y="74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569806270" name="Freeform 16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-1061" y="-1916"/>
            <a:ext cx="357188" cy="213875"/>
          </a:xfrm>
          <a:custGeom>
            <a:avLst/>
            <a:gdLst>
              <a:gd name="T0" fmla="*/ 75 w 75"/>
              <a:gd name="T1" fmla="*/ 0 h 45"/>
              <a:gd name="T2" fmla="*/ 0 w 75"/>
              <a:gd name="T3" fmla="*/ 45 h 4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75" h="45" fill="norm" stroke="1" extrusionOk="0">
                <a:moveTo>
                  <a:pt x="75" y="0"/>
                </a:moveTo>
                <a:cubicBezTo>
                  <a:pt x="50" y="14"/>
                  <a:pt x="25" y="29"/>
                  <a:pt x="0" y="45"/>
                </a:cubicBezTo>
              </a:path>
            </a:pathLst>
          </a:custGeom>
          <a:noFill/>
          <a:ln w="12700" cap="flat">
            <a:solidFill>
              <a:schemeClr val="tx1">
                <a:alpha val="20000"/>
              </a:schemeClr>
            </a:solidFill>
            <a:prstDash val="dashDot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744515721" name="Freeform 1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5426601" y="-1916"/>
            <a:ext cx="5788025" cy="6847184"/>
          </a:xfrm>
          <a:custGeom>
            <a:avLst/>
            <a:gdLst>
              <a:gd name="T0" fmla="*/ 1094 w 1216"/>
              <a:gd name="T1" fmla="*/ 1436 h 1436"/>
              <a:gd name="T2" fmla="*/ 709 w 1216"/>
              <a:gd name="T3" fmla="*/ 551 h 1436"/>
              <a:gd name="T4" fmla="*/ 0 w 1216"/>
              <a:gd name="T5" fmla="*/ 0 h 1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216" h="1436" fill="norm" stroke="1" extrusionOk="0">
                <a:moveTo>
                  <a:pt x="1094" y="1436"/>
                </a:moveTo>
                <a:cubicBezTo>
                  <a:pt x="1216" y="1114"/>
                  <a:pt x="904" y="770"/>
                  <a:pt x="709" y="551"/>
                </a:cubicBezTo>
                <a:cubicBezTo>
                  <a:pt x="509" y="327"/>
                  <a:pt x="274" y="127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74683835" name="Freeform 21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9235014" y="2872"/>
            <a:ext cx="2951163" cy="2555325"/>
          </a:xfrm>
          <a:custGeom>
            <a:avLst/>
            <a:gdLst>
              <a:gd name="T0" fmla="*/ 620 w 620"/>
              <a:gd name="T1" fmla="*/ 536 h 536"/>
              <a:gd name="T2" fmla="*/ 0 w 620"/>
              <a:gd name="T3" fmla="*/ 0 h 53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620" h="536" fill="norm" stroke="1" extrusionOk="0">
                <a:moveTo>
                  <a:pt x="620" y="536"/>
                </a:moveTo>
                <a:cubicBezTo>
                  <a:pt x="404" y="314"/>
                  <a:pt x="196" y="138"/>
                  <a:pt x="0" y="0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43698609" name="Freeform 22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0020826" y="-1916"/>
            <a:ext cx="2165350" cy="1358265"/>
          </a:xfrm>
          <a:custGeom>
            <a:avLst/>
            <a:gdLst>
              <a:gd name="T0" fmla="*/ 0 w 455"/>
              <a:gd name="T1" fmla="*/ 0 h 285"/>
              <a:gd name="T2" fmla="*/ 455 w 455"/>
              <a:gd name="T3" fmla="*/ 285 h 285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455" h="285" fill="norm" stroke="1" extrusionOk="0">
                <a:moveTo>
                  <a:pt x="0" y="0"/>
                </a:moveTo>
                <a:cubicBezTo>
                  <a:pt x="153" y="85"/>
                  <a:pt x="308" y="180"/>
                  <a:pt x="455" y="285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dash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319059305" name="Freeform 23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>
            <a:off x="11290826" y="-1916"/>
            <a:ext cx="895350" cy="534687"/>
          </a:xfrm>
          <a:custGeom>
            <a:avLst/>
            <a:gdLst>
              <a:gd name="T0" fmla="*/ 0 w 188"/>
              <a:gd name="T1" fmla="*/ 0 h 112"/>
              <a:gd name="T2" fmla="*/ 188 w 188"/>
              <a:gd name="T3" fmla="*/ 112 h 11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88" h="112" fill="norm" stroke="1" extrusionOk="0">
                <a:moveTo>
                  <a:pt x="0" y="0"/>
                </a:moveTo>
                <a:cubicBezTo>
                  <a:pt x="63" y="36"/>
                  <a:pt x="126" y="73"/>
                  <a:pt x="188" y="112"/>
                </a:cubicBezTo>
              </a:path>
            </a:pathLst>
          </a:custGeom>
          <a:noFill/>
          <a:ln w="9525" cap="flat">
            <a:solidFill>
              <a:schemeClr val="tx1">
                <a:alpha val="20000"/>
              </a:schemeClr>
            </a:solidFill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64756987" name="Freeform: Shape 88"/>
          <p:cNvSpPr>
            <a:spLocks noAdjustHandles="1" noChangeArrowheads="1" noChangeAspect="1" noChangeShapeType="1" noEditPoints="1" noGrp="1" noMove="1" noResize="1" noRot="1" noTextEdit="1"/>
          </p:cNvSpPr>
          <p:nvPr/>
        </p:nvSpPr>
        <p:spPr bwMode="auto">
          <a:xfrm rot="20931529">
            <a:off x="752078" y="2218040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 fill="norm" stroke="1" extrusionOk="0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 b="0" i="0" u="none" strike="noStrike" cap="none" spc="0">
              <a:ln>
                <a:noFill/>
              </a:ln>
              <a:solidFill>
                <a:prstClr val="white"/>
              </a:solidFill>
              <a:latin typeface="Rockwell"/>
              <a:ea typeface="+mn-ea"/>
              <a:cs typeface="+mn-cs"/>
            </a:endParaRPr>
          </a:p>
        </p:txBody>
      </p:sp>
      <p:sp>
        <p:nvSpPr>
          <p:cNvPr id="313659782" name="Titre 1"/>
          <p:cNvSpPr txBox="1"/>
          <p:nvPr/>
        </p:nvSpPr>
        <p:spPr bwMode="auto">
          <a:xfrm>
            <a:off x="1722539" y="1831266"/>
            <a:ext cx="6359950" cy="336571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>
              <a:lnSpc>
                <a:spcPct val="90000"/>
              </a:lnSpc>
              <a:spcBef>
                <a:spcPts val="0"/>
              </a:spcBef>
              <a:buNone/>
              <a:defRPr sz="6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  <a:defRPr/>
            </a:pPr>
            <a:r>
              <a:rPr lang="fr-FR" sz="7200" b="1" i="1">
                <a:solidFill>
                  <a:srgbClr val="0683AA"/>
                </a:solidFill>
              </a:rPr>
              <a:t>S</a:t>
            </a:r>
            <a:r>
              <a:rPr lang="fr-FR" sz="7200" b="1" i="1"/>
              <a:t>erious </a:t>
            </a:r>
            <a:r>
              <a:rPr lang="fr-FR" sz="7200" b="1" i="1">
                <a:solidFill>
                  <a:srgbClr val="ED7D31"/>
                </a:solidFill>
              </a:rPr>
              <a:t>G</a:t>
            </a:r>
            <a:r>
              <a:rPr lang="fr-FR" sz="7200" b="1" i="1"/>
              <a:t>ame </a:t>
            </a:r>
            <a:r>
              <a:rPr lang="fr-FR" sz="7200" b="1" i="1">
                <a:solidFill>
                  <a:srgbClr val="ED7D31"/>
                </a:solidFill>
              </a:rPr>
              <a:t>N</a:t>
            </a:r>
            <a:r>
              <a:rPr lang="fr-FR" sz="7200" b="1" i="1"/>
              <a:t>arrative </a:t>
            </a:r>
            <a:r>
              <a:rPr lang="fr-FR" sz="7200" b="1" i="1">
                <a:solidFill>
                  <a:srgbClr val="0683AA"/>
                </a:solidFill>
              </a:rPr>
              <a:t>C</a:t>
            </a:r>
            <a:r>
              <a:rPr lang="fr-FR" sz="7200" b="1" i="1"/>
              <a:t>anvas</a:t>
            </a:r>
            <a:endParaRPr/>
          </a:p>
          <a:p>
            <a:pPr algn="l">
              <a:spcAft>
                <a:spcPts val="600"/>
              </a:spcAft>
              <a:defRPr/>
            </a:pPr>
            <a:r>
              <a:rPr lang="fr-FR" sz="7200" b="1" i="1"/>
              <a:t>détaillé</a:t>
            </a:r>
            <a:endParaRPr/>
          </a:p>
        </p:txBody>
      </p:sp>
      <p:pic>
        <p:nvPicPr>
          <p:cNvPr id="581354866" name="Image 17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7467611" y="1019935"/>
            <a:ext cx="3835399" cy="213781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02558993" name="Graphique 8" descr="Personne confuse avec un remplissage uni"/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1438457814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48878899" name="Graphique 3" descr="Monde avec un remplissage uni"/>
          <p:cNvPicPr>
            <a:picLocks noChangeAspect="1"/>
          </p:cNvPicPr>
          <p:nvPr/>
        </p:nvPicPr>
        <p:blipFill rotWithShape="1"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913272792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5223288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34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621249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7666316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0052151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1028985451" name="Graphique 6" descr="Connecté avec un remplissage uni"/>
          <p:cNvPicPr>
            <a:picLocks noChangeAspect="1"/>
          </p:cNvPicPr>
          <p:nvPr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606823708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1799097720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967397172" name="Graphique 58" descr="Personne confuse avec un remplissage uni"/>
          <p:cNvPicPr>
            <a:picLocks noChangeAspect="1"/>
          </p:cNvPicPr>
          <p:nvPr/>
        </p:nvPicPr>
        <p:blipFill rotWithShape="1"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233237219" name="Graphique 60" descr="Connecté avec un remplissage uni"/>
          <p:cNvPicPr>
            <a:picLocks noChangeAspect="1"/>
          </p:cNvPicPr>
          <p:nvPr/>
        </p:nvPicPr>
        <p:blipFill rotWithShape="1"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441033562" name="Graphique 62" descr="Monde avec un remplissage uni"/>
          <p:cNvPicPr>
            <a:picLocks noChangeAspect="1"/>
          </p:cNvPicPr>
          <p:nvPr/>
        </p:nvPicPr>
        <p:blipFill rotWithShape="1"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1653102937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304817197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1369733207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878858828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927983979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433847595" name="Image 1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1952276" y="1270230"/>
            <a:ext cx="2188546" cy="1460855"/>
          </a:xfrm>
          <a:prstGeom prst="rect">
            <a:avLst/>
          </a:prstGeom>
        </p:spPr>
      </p:pic>
      <p:pic>
        <p:nvPicPr>
          <p:cNvPr id="324409410" name="Image 2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20"/>
          <a:stretch/>
        </p:blipFill>
        <p:spPr bwMode="auto">
          <a:xfrm>
            <a:off x="230208" y="1487489"/>
            <a:ext cx="1639998" cy="1094698"/>
          </a:xfrm>
          <a:prstGeom prst="rect">
            <a:avLst/>
          </a:prstGeom>
        </p:spPr>
      </p:pic>
      <p:pic>
        <p:nvPicPr>
          <p:cNvPr id="55673292" name="Image 4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21"/>
          <a:stretch/>
        </p:blipFill>
        <p:spPr bwMode="auto">
          <a:xfrm>
            <a:off x="4274272" y="1488186"/>
            <a:ext cx="1639998" cy="1094698"/>
          </a:xfrm>
          <a:prstGeom prst="rect">
            <a:avLst/>
          </a:prstGeom>
        </p:spPr>
      </p:pic>
      <p:sp>
        <p:nvSpPr>
          <p:cNvPr id="1098067883" name="Rectangle 28"/>
          <p:cNvSpPr/>
          <p:nvPr/>
        </p:nvSpPr>
        <p:spPr bwMode="auto">
          <a:xfrm>
            <a:off x="1330677" y="509773"/>
            <a:ext cx="3675321" cy="5676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Contexte de départ : Comptabilité, Commerciaux et IT sont en conflit 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3261015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435634535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89899988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170666643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8700931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7299745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9057916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742538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35516577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32967608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586965704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1734393360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81428763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1953404378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465017048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1959140772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1868644247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1769949488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36008639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2075014499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407677291" name="Image 1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2036024" y="1399752"/>
            <a:ext cx="2188546" cy="1460855"/>
          </a:xfrm>
          <a:prstGeom prst="rect">
            <a:avLst/>
          </a:prstGeom>
        </p:spPr>
      </p:pic>
      <p:pic>
        <p:nvPicPr>
          <p:cNvPr id="1317585477" name="Image 2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313956" y="1767974"/>
            <a:ext cx="1639998" cy="1094698"/>
          </a:xfrm>
          <a:prstGeom prst="rect">
            <a:avLst/>
          </a:prstGeom>
        </p:spPr>
      </p:pic>
      <p:pic>
        <p:nvPicPr>
          <p:cNvPr id="890136149" name="Image 4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408341" y="1768671"/>
            <a:ext cx="1639998" cy="1094698"/>
          </a:xfrm>
          <a:prstGeom prst="rect">
            <a:avLst/>
          </a:prstGeom>
        </p:spPr>
      </p:pic>
      <p:sp>
        <p:nvSpPr>
          <p:cNvPr id="591152297" name="Rectangle 5"/>
          <p:cNvSpPr/>
          <p:nvPr/>
        </p:nvSpPr>
        <p:spPr bwMode="auto">
          <a:xfrm>
            <a:off x="934779" y="542528"/>
            <a:ext cx="3675321" cy="567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Jeu : Vis ma vie !</a:t>
            </a:r>
            <a:endParaRPr/>
          </a:p>
        </p:txBody>
      </p:sp>
      <p:sp>
        <p:nvSpPr>
          <p:cNvPr id="1435666966" name="Flèche : courbe vers la gauche 9"/>
          <p:cNvSpPr/>
          <p:nvPr/>
        </p:nvSpPr>
        <p:spPr bwMode="auto">
          <a:xfrm rot="5400000">
            <a:off x="1514864" y="2309829"/>
            <a:ext cx="686545" cy="1639999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chemeClr val="tx1"/>
              </a:solidFill>
            </a:endParaRPr>
          </a:p>
        </p:txBody>
      </p:sp>
      <p:sp>
        <p:nvSpPr>
          <p:cNvPr id="736679810" name="Flèche : courbe vers la gauche 26"/>
          <p:cNvSpPr/>
          <p:nvPr/>
        </p:nvSpPr>
        <p:spPr bwMode="auto">
          <a:xfrm rot="15884701">
            <a:off x="2973473" y="-455919"/>
            <a:ext cx="686545" cy="3916405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chemeClr val="tx1"/>
              </a:solidFill>
            </a:endParaRPr>
          </a:p>
        </p:txBody>
      </p:sp>
      <p:sp>
        <p:nvSpPr>
          <p:cNvPr id="736158431" name="Flèche : courbe vers la gauche 27"/>
          <p:cNvSpPr/>
          <p:nvPr/>
        </p:nvSpPr>
        <p:spPr bwMode="auto">
          <a:xfrm rot="15884701" flipV="1">
            <a:off x="3807925" y="1615999"/>
            <a:ext cx="686545" cy="1383597"/>
          </a:xfrm>
          <a:prstGeom prst="curvedLeftArrow">
            <a:avLst>
              <a:gd name="adj1" fmla="val 25000"/>
              <a:gd name="adj2" fmla="val 50000"/>
              <a:gd name="adj3" fmla="val 25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95207801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758035122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14485515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2056491843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1095134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2583808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604726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1238442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81583289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1196262990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708046520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1327121908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29273404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1219757227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1979792991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999074453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635018301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600009139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480016135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47469923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1130233799" name="Image 1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2103636" y="475273"/>
            <a:ext cx="996170" cy="664944"/>
          </a:xfrm>
          <a:prstGeom prst="rect">
            <a:avLst/>
          </a:prstGeom>
        </p:spPr>
      </p:pic>
      <p:pic>
        <p:nvPicPr>
          <p:cNvPr id="1999399145" name="Image 2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747807" y="820600"/>
            <a:ext cx="746486" cy="498279"/>
          </a:xfrm>
          <a:prstGeom prst="rect">
            <a:avLst/>
          </a:prstGeom>
        </p:spPr>
      </p:pic>
      <p:pic>
        <p:nvPicPr>
          <p:cNvPr id="1722636117" name="Image 4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190000" y="454177"/>
            <a:ext cx="746486" cy="498279"/>
          </a:xfrm>
          <a:prstGeom prst="rect">
            <a:avLst/>
          </a:prstGeom>
        </p:spPr>
      </p:pic>
      <p:pic>
        <p:nvPicPr>
          <p:cNvPr id="743782960" name="Image 28" descr="Une image contenant personne, homme, aîné&#10;&#10;Description générée automatiquement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3913962" y="1880017"/>
            <a:ext cx="1581309" cy="1054206"/>
          </a:xfrm>
          <a:prstGeom prst="rect">
            <a:avLst/>
          </a:prstGeom>
        </p:spPr>
      </p:pic>
      <p:pic>
        <p:nvPicPr>
          <p:cNvPr id="2140840186" name="Image 29" descr="Une image contenant personne, blanc, posant&#10;&#10;Description générée automatiquement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598678" y="2081699"/>
            <a:ext cx="1112725" cy="1112725"/>
          </a:xfrm>
          <a:prstGeom prst="rect">
            <a:avLst/>
          </a:prstGeom>
        </p:spPr>
      </p:pic>
      <p:pic>
        <p:nvPicPr>
          <p:cNvPr id="1985988347" name="Image 31" descr="Une image contenant arbre, personne, extérieur, homme&#10;&#10;Description générée automatiquement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2037739" y="1978534"/>
            <a:ext cx="1520341" cy="1015568"/>
          </a:xfrm>
          <a:prstGeom prst="rect">
            <a:avLst/>
          </a:prstGeom>
        </p:spPr>
      </p:pic>
      <p:sp>
        <p:nvSpPr>
          <p:cNvPr id="147162983" name="Flèche : bas 10"/>
          <p:cNvSpPr/>
          <p:nvPr/>
        </p:nvSpPr>
        <p:spPr bwMode="auto">
          <a:xfrm>
            <a:off x="997227" y="1353855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2139921162" name="Flèche : bas 33"/>
          <p:cNvSpPr/>
          <p:nvPr/>
        </p:nvSpPr>
        <p:spPr bwMode="auto">
          <a:xfrm>
            <a:off x="2474812" y="1254978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142115892" name="Flèche : bas 34"/>
          <p:cNvSpPr/>
          <p:nvPr/>
        </p:nvSpPr>
        <p:spPr bwMode="auto">
          <a:xfrm>
            <a:off x="4474081" y="1215646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1023015158" name="Image 35" descr="Une image contenant eau, extérieur, plage, nature&#10;&#10;Description générée automatiquement"/>
          <p:cNvPicPr>
            <a:picLocks noChangeAspect="1"/>
          </p:cNvPicPr>
          <p:nvPr/>
        </p:nvPicPr>
        <p:blipFill rotWithShape="1">
          <a:blip r:embed="rId17"/>
          <a:srcRect l="14469" t="0" r="11581" b="-1"/>
          <a:stretch/>
        </p:blipFill>
        <p:spPr bwMode="auto">
          <a:xfrm>
            <a:off x="7298273" y="601560"/>
            <a:ext cx="2855988" cy="2413812"/>
          </a:xfrm>
          <a:prstGeom prst="rect">
            <a:avLst/>
          </a:prstGeom>
        </p:spPr>
      </p:pic>
      <p:sp>
        <p:nvSpPr>
          <p:cNvPr id="393554332" name="Rectangle 36"/>
          <p:cNvSpPr/>
          <p:nvPr/>
        </p:nvSpPr>
        <p:spPr bwMode="auto">
          <a:xfrm>
            <a:off x="7832506" y="2311343"/>
            <a:ext cx="3675321" cy="567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Vous êtes des survivants !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3197234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1748267303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6792675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989348338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0283345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4912008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379572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1275234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00287536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1472307845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244142819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344918059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834847190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535893155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393806092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1707980009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1752251116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2071425772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1357360825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1122942029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1665938242" name="Image 1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2103635" y="475273"/>
            <a:ext cx="2067657" cy="1380162"/>
          </a:xfrm>
          <a:prstGeom prst="rect">
            <a:avLst/>
          </a:prstGeom>
        </p:spPr>
      </p:pic>
      <p:pic>
        <p:nvPicPr>
          <p:cNvPr id="359965049" name="Image 2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747805" y="820600"/>
            <a:ext cx="1549411" cy="1034231"/>
          </a:xfrm>
          <a:prstGeom prst="rect">
            <a:avLst/>
          </a:prstGeom>
        </p:spPr>
      </p:pic>
      <p:pic>
        <p:nvPicPr>
          <p:cNvPr id="1908895130" name="Image 4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189999" y="454177"/>
            <a:ext cx="1549411" cy="1034231"/>
          </a:xfrm>
          <a:prstGeom prst="rect">
            <a:avLst/>
          </a:prstGeom>
        </p:spPr>
      </p:pic>
      <p:sp>
        <p:nvSpPr>
          <p:cNvPr id="1573894343" name="Rectangle 50"/>
          <p:cNvSpPr/>
          <p:nvPr/>
        </p:nvSpPr>
        <p:spPr bwMode="auto">
          <a:xfrm>
            <a:off x="-16034" y="6303780"/>
            <a:ext cx="3675321" cy="5676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/>
              <a:t>Situation </a:t>
            </a:r>
            <a:endParaRPr/>
          </a:p>
        </p:txBody>
      </p:sp>
      <p:pic>
        <p:nvPicPr>
          <p:cNvPr id="1305020889" name="Image 51" descr="Une image contenant intérieur, hall, salle de conférence&#10;&#10;Description générée automatiquement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531490" y="4309919"/>
            <a:ext cx="2913991" cy="19426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3961388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1543137952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7283284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1931118924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7436509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743883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6474498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2413312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1260450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43885272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1264142407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1699860056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74139907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299609146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1946302977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930258778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2013087931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1786736303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1294242318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1941240914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968565975" name="Image 26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2103635" y="475273"/>
            <a:ext cx="2067657" cy="1380162"/>
          </a:xfrm>
          <a:prstGeom prst="rect">
            <a:avLst/>
          </a:prstGeom>
        </p:spPr>
      </p:pic>
      <p:pic>
        <p:nvPicPr>
          <p:cNvPr id="790803921" name="Image 27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251957" y="1165354"/>
            <a:ext cx="1549411" cy="1034231"/>
          </a:xfrm>
          <a:prstGeom prst="rect">
            <a:avLst/>
          </a:prstGeom>
        </p:spPr>
      </p:pic>
      <p:pic>
        <p:nvPicPr>
          <p:cNvPr id="243383443" name="Image 28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532803" y="557007"/>
            <a:ext cx="1549411" cy="1034231"/>
          </a:xfrm>
          <a:prstGeom prst="rect">
            <a:avLst/>
          </a:prstGeom>
        </p:spPr>
      </p:pic>
      <p:pic>
        <p:nvPicPr>
          <p:cNvPr id="1093314802" name="Image 29" descr="Une image contenant ciel, extérieur, nuages&#10;&#10;Description générée automatiquement"/>
          <p:cNvPicPr>
            <a:picLocks noChangeAspect="1"/>
          </p:cNvPicPr>
          <p:nvPr/>
        </p:nvPicPr>
        <p:blipFill rotWithShape="1">
          <a:blip r:embed="rId14"/>
          <a:srcRect l="24155" t="0" r="9108" b="1"/>
          <a:stretch/>
        </p:blipFill>
        <p:spPr bwMode="auto">
          <a:xfrm>
            <a:off x="8668835" y="482379"/>
            <a:ext cx="2855803" cy="2772441"/>
          </a:xfrm>
          <a:prstGeom prst="rect">
            <a:avLst/>
          </a:prstGeom>
        </p:spPr>
      </p:pic>
      <p:pic>
        <p:nvPicPr>
          <p:cNvPr id="1471075774" name="Image 31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2246632" y="2478704"/>
            <a:ext cx="1015567" cy="1015567"/>
          </a:xfrm>
          <a:prstGeom prst="rect">
            <a:avLst/>
          </a:prstGeom>
        </p:spPr>
      </p:pic>
      <p:pic>
        <p:nvPicPr>
          <p:cNvPr id="966651649" name="Image 32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4638777" y="2087408"/>
            <a:ext cx="1015567" cy="1015567"/>
          </a:xfrm>
          <a:prstGeom prst="rect">
            <a:avLst/>
          </a:prstGeom>
        </p:spPr>
      </p:pic>
      <p:pic>
        <p:nvPicPr>
          <p:cNvPr id="1897629939" name="Image 33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504386" y="2488400"/>
            <a:ext cx="1241533" cy="1261240"/>
          </a:xfrm>
          <a:prstGeom prst="rect">
            <a:avLst/>
          </a:prstGeom>
        </p:spPr>
      </p:pic>
      <p:sp>
        <p:nvSpPr>
          <p:cNvPr id="11882893" name="Flèche : bas 34"/>
          <p:cNvSpPr/>
          <p:nvPr/>
        </p:nvSpPr>
        <p:spPr bwMode="auto">
          <a:xfrm>
            <a:off x="1087645" y="2134212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442856883" name="Flèche : bas 35"/>
          <p:cNvSpPr/>
          <p:nvPr/>
        </p:nvSpPr>
        <p:spPr bwMode="auto">
          <a:xfrm>
            <a:off x="2565230" y="2035335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1518970243" name="Flèche : bas 36"/>
          <p:cNvSpPr/>
          <p:nvPr/>
        </p:nvSpPr>
        <p:spPr bwMode="auto">
          <a:xfrm>
            <a:off x="4886000" y="1713728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1489316047" name="Image 2" descr="Une image contenant fumée, nature, montagne&#10;&#10;Description générée automatiquement"/>
          <p:cNvPicPr>
            <a:picLocks noChangeAspect="1"/>
          </p:cNvPicPr>
          <p:nvPr/>
        </p:nvPicPr>
        <p:blipFill rotWithShape="1">
          <a:blip r:embed="rId18"/>
          <a:srcRect l="5108" t="0" r="6298" b="-1"/>
          <a:stretch/>
        </p:blipFill>
        <p:spPr bwMode="auto">
          <a:xfrm>
            <a:off x="701761" y="4602018"/>
            <a:ext cx="2336713" cy="19767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98017931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1401424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6038284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221124090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6994499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565461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4341102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5120982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4112297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1562821771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1616250853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1477375063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04921719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1055825673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1630368302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752683922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603153533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1188663023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1788945436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253869614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1885738253" name="Image 26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2103635" y="475273"/>
            <a:ext cx="2067657" cy="1380162"/>
          </a:xfrm>
          <a:prstGeom prst="rect">
            <a:avLst/>
          </a:prstGeom>
        </p:spPr>
      </p:pic>
      <p:pic>
        <p:nvPicPr>
          <p:cNvPr id="826134200" name="Image 27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251957" y="1165354"/>
            <a:ext cx="1549411" cy="1034231"/>
          </a:xfrm>
          <a:prstGeom prst="rect">
            <a:avLst/>
          </a:prstGeom>
        </p:spPr>
      </p:pic>
      <p:pic>
        <p:nvPicPr>
          <p:cNvPr id="235090602" name="Image 28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532803" y="557007"/>
            <a:ext cx="1549411" cy="1034231"/>
          </a:xfrm>
          <a:prstGeom prst="rect">
            <a:avLst/>
          </a:prstGeom>
        </p:spPr>
      </p:pic>
      <p:pic>
        <p:nvPicPr>
          <p:cNvPr id="1711176880" name="Image 41" descr="Une image contenant personne, mur, téléphone mobile, intérieur&#10;&#10;Description générée automatiquement"/>
          <p:cNvPicPr>
            <a:picLocks noChangeAspect="1"/>
          </p:cNvPicPr>
          <p:nvPr/>
        </p:nvPicPr>
        <p:blipFill rotWithShape="1">
          <a:blip r:embed="rId14"/>
          <a:srcRect l="10028" t="0" r="15852" b="4"/>
          <a:stretch/>
        </p:blipFill>
        <p:spPr bwMode="auto">
          <a:xfrm>
            <a:off x="8896173" y="4495910"/>
            <a:ext cx="1181268" cy="1000040"/>
          </a:xfrm>
          <a:prstGeom prst="rect">
            <a:avLst/>
          </a:prstGeom>
        </p:spPr>
      </p:pic>
      <p:pic>
        <p:nvPicPr>
          <p:cNvPr id="1590535191" name="Image 43" descr="Une image contenant sablier, intérieur, ensemble&#10;&#10;Description générée automatiquement"/>
          <p:cNvPicPr>
            <a:picLocks noChangeAspect="1"/>
          </p:cNvPicPr>
          <p:nvPr/>
        </p:nvPicPr>
        <p:blipFill rotWithShape="1">
          <a:blip r:embed="rId15"/>
          <a:srcRect l="9040" t="0" r="6920" b="-1"/>
          <a:stretch/>
        </p:blipFill>
        <p:spPr bwMode="auto">
          <a:xfrm>
            <a:off x="10357509" y="4505546"/>
            <a:ext cx="1304871" cy="1104680"/>
          </a:xfrm>
          <a:prstGeom prst="rect">
            <a:avLst/>
          </a:prstGeom>
        </p:spPr>
      </p:pic>
      <p:pic>
        <p:nvPicPr>
          <p:cNvPr id="1919119089" name="Image 45" descr="Une image contenant texte, livre, carte de visite&#10;&#10;Description générée automatiquement"/>
          <p:cNvPicPr>
            <a:picLocks noChangeAspect="1"/>
          </p:cNvPicPr>
          <p:nvPr/>
        </p:nvPicPr>
        <p:blipFill rotWithShape="1">
          <a:blip r:embed="rId16"/>
          <a:srcRect l="8773" t="0" r="12378" b="-4"/>
          <a:stretch/>
        </p:blipFill>
        <p:spPr bwMode="auto">
          <a:xfrm>
            <a:off x="8885969" y="5685922"/>
            <a:ext cx="1181264" cy="1000040"/>
          </a:xfrm>
          <a:prstGeom prst="rect">
            <a:avLst/>
          </a:prstGeom>
        </p:spPr>
      </p:pic>
      <p:pic>
        <p:nvPicPr>
          <p:cNvPr id="621749183" name="Image 47" descr="Une image contenant personne, fenêtre, intérieur&#10;&#10;Description générée automatiquement"/>
          <p:cNvPicPr>
            <a:picLocks noChangeAspect="1"/>
          </p:cNvPicPr>
          <p:nvPr/>
        </p:nvPicPr>
        <p:blipFill rotWithShape="1">
          <a:blip r:embed="rId17"/>
          <a:srcRect l="19874" t="0" r="1277" b="-4"/>
          <a:stretch/>
        </p:blipFill>
        <p:spPr bwMode="auto">
          <a:xfrm>
            <a:off x="10418026" y="5685922"/>
            <a:ext cx="1181268" cy="1000040"/>
          </a:xfrm>
          <a:prstGeom prst="rect">
            <a:avLst/>
          </a:prstGeom>
        </p:spPr>
      </p:pic>
      <p:pic>
        <p:nvPicPr>
          <p:cNvPr id="1940760152" name="Image 31" descr="Une image contenant personne, alimentation, groupe, gens&#10;&#10;Description générée automatiquement"/>
          <p:cNvPicPr>
            <a:picLocks noChangeAspect="1"/>
          </p:cNvPicPr>
          <p:nvPr/>
        </p:nvPicPr>
        <p:blipFill rotWithShape="1">
          <a:blip r:embed="rId18"/>
          <a:srcRect l="8208" t="0" r="20330" b="3"/>
          <a:stretch/>
        </p:blipFill>
        <p:spPr bwMode="auto">
          <a:xfrm flipH="1">
            <a:off x="533297" y="4400510"/>
            <a:ext cx="2533749" cy="21353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38691809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1285935673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38813619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2054271908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7002490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9672646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7143337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935942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14187789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688679981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356261733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334694968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91775248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993346966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1587209935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1103369271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728750003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783042587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198454533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2096716538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899454808" name="Image 26" descr="Une image contenant homme, personne, portable, complet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2103635" y="475273"/>
            <a:ext cx="2067657" cy="1380162"/>
          </a:xfrm>
          <a:prstGeom prst="rect">
            <a:avLst/>
          </a:prstGeom>
        </p:spPr>
      </p:pic>
      <p:pic>
        <p:nvPicPr>
          <p:cNvPr id="1386097619" name="Image 27" descr="Une image contenant texte&#10;&#10;Description générée automatiquement"/>
          <p:cNvPicPr>
            <a:picLocks noChangeAspect="1"/>
          </p:cNvPicPr>
          <p:nvPr/>
        </p:nvPicPr>
        <p:blipFill rotWithShape="1">
          <a:blip r:embed="rId12"/>
          <a:stretch/>
        </p:blipFill>
        <p:spPr bwMode="auto">
          <a:xfrm>
            <a:off x="251957" y="1165354"/>
            <a:ext cx="1549411" cy="1034231"/>
          </a:xfrm>
          <a:prstGeom prst="rect">
            <a:avLst/>
          </a:prstGeom>
        </p:spPr>
      </p:pic>
      <p:pic>
        <p:nvPicPr>
          <p:cNvPr id="1340539635" name="Image 28" descr="Une image contenant table, personne, ordinateur, intérieur&#10;&#10;Description générée automatiquement"/>
          <p:cNvPicPr>
            <a:picLocks noChangeAspect="1"/>
          </p:cNvPicPr>
          <p:nvPr/>
        </p:nvPicPr>
        <p:blipFill rotWithShape="1">
          <a:blip r:embed="rId13"/>
          <a:stretch/>
        </p:blipFill>
        <p:spPr bwMode="auto">
          <a:xfrm>
            <a:off x="4532803" y="557007"/>
            <a:ext cx="1549411" cy="1034231"/>
          </a:xfrm>
          <a:prstGeom prst="rect">
            <a:avLst/>
          </a:prstGeom>
        </p:spPr>
      </p:pic>
      <p:pic>
        <p:nvPicPr>
          <p:cNvPr id="542114346" name="Image 29"/>
          <p:cNvPicPr>
            <a:picLocks noChangeAspect="1"/>
          </p:cNvPicPr>
          <p:nvPr/>
        </p:nvPicPr>
        <p:blipFill rotWithShape="1">
          <a:blip r:embed="rId14"/>
          <a:stretch/>
        </p:blipFill>
        <p:spPr bwMode="auto">
          <a:xfrm>
            <a:off x="4753926" y="1703643"/>
            <a:ext cx="1015567" cy="1015567"/>
          </a:xfrm>
          <a:prstGeom prst="rect">
            <a:avLst/>
          </a:prstGeom>
        </p:spPr>
      </p:pic>
      <p:pic>
        <p:nvPicPr>
          <p:cNvPr id="1814461302" name="Image 30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298183" y="2433616"/>
            <a:ext cx="1805452" cy="955385"/>
          </a:xfrm>
          <a:prstGeom prst="rect">
            <a:avLst/>
          </a:prstGeom>
        </p:spPr>
      </p:pic>
      <p:pic>
        <p:nvPicPr>
          <p:cNvPr id="415153402" name="Image 31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2694626" y="1971442"/>
            <a:ext cx="796326" cy="1274122"/>
          </a:xfrm>
          <a:prstGeom prst="rect">
            <a:avLst/>
          </a:prstGeom>
        </p:spPr>
      </p:pic>
      <p:sp>
        <p:nvSpPr>
          <p:cNvPr id="2089963572" name="Flèche : bas 32"/>
          <p:cNvSpPr/>
          <p:nvPr/>
        </p:nvSpPr>
        <p:spPr bwMode="auto">
          <a:xfrm>
            <a:off x="889174" y="2109651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985652794" name="Flèche : bas 33"/>
          <p:cNvSpPr/>
          <p:nvPr/>
        </p:nvSpPr>
        <p:spPr bwMode="auto">
          <a:xfrm>
            <a:off x="2788641" y="1811893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sp>
        <p:nvSpPr>
          <p:cNvPr id="360801506" name="Flèche : bas 34"/>
          <p:cNvSpPr/>
          <p:nvPr/>
        </p:nvSpPr>
        <p:spPr bwMode="auto">
          <a:xfrm>
            <a:off x="5059863" y="1393555"/>
            <a:ext cx="247645" cy="498279"/>
          </a:xfrm>
          <a:prstGeom prst="downArrow">
            <a:avLst>
              <a:gd name="adj1" fmla="val 50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fr-FR"/>
          </a:p>
        </p:txBody>
      </p:sp>
      <p:pic>
        <p:nvPicPr>
          <p:cNvPr id="954122767" name="Image 50" descr="Une image contenant texte, plusieurs&#10;&#10;Description générée automatiquement"/>
          <p:cNvPicPr>
            <a:picLocks noChangeAspect="1"/>
          </p:cNvPicPr>
          <p:nvPr/>
        </p:nvPicPr>
        <p:blipFill rotWithShape="1">
          <a:blip r:embed="rId17"/>
          <a:srcRect l="14008" t="0" r="1" b="1"/>
          <a:stretch/>
        </p:blipFill>
        <p:spPr bwMode="auto">
          <a:xfrm flipH="1">
            <a:off x="73083" y="4676933"/>
            <a:ext cx="2175683" cy="1846964"/>
          </a:xfrm>
          <a:prstGeom prst="rect">
            <a:avLst/>
          </a:prstGeom>
        </p:spPr>
      </p:pic>
      <p:pic>
        <p:nvPicPr>
          <p:cNvPr id="1497559255" name="Image 51" descr="Une image contenant arbre, extérieur, herbe, forêt&#10;&#10;Description générée automatiquement"/>
          <p:cNvPicPr>
            <a:picLocks noChangeAspect="1"/>
          </p:cNvPicPr>
          <p:nvPr/>
        </p:nvPicPr>
        <p:blipFill rotWithShape="1">
          <a:blip r:embed="rId18"/>
          <a:srcRect l="24131" t="0" r="7356" b="-1"/>
          <a:stretch/>
        </p:blipFill>
        <p:spPr bwMode="auto">
          <a:xfrm>
            <a:off x="8060117" y="575363"/>
            <a:ext cx="2793410" cy="2356735"/>
          </a:xfrm>
          <a:prstGeom prst="rect">
            <a:avLst/>
          </a:prstGeom>
        </p:spPr>
      </p:pic>
      <p:pic>
        <p:nvPicPr>
          <p:cNvPr id="1323744889" name="Image 54" descr="Une image contenant pelle, outil&#10;&#10;Description générée automatiquement"/>
          <p:cNvPicPr>
            <a:picLocks noChangeAspect="1"/>
          </p:cNvPicPr>
          <p:nvPr/>
        </p:nvPicPr>
        <p:blipFill rotWithShape="1">
          <a:blip r:embed="rId19"/>
          <a:srcRect l="0" t="13275" r="-4" b="-4"/>
          <a:stretch/>
        </p:blipFill>
        <p:spPr bwMode="auto">
          <a:xfrm>
            <a:off x="9947890" y="4941889"/>
            <a:ext cx="1811274" cy="1537615"/>
          </a:xfrm>
          <a:prstGeom prst="rect">
            <a:avLst/>
          </a:prstGeom>
        </p:spPr>
      </p:pic>
      <p:pic>
        <p:nvPicPr>
          <p:cNvPr id="476720411" name="Image 41" descr="Une image contenant ciel, extérieur, herbe, fumée&#10;&#10;Description générée automatiquement"/>
          <p:cNvPicPr>
            <a:picLocks noChangeAspect="1"/>
          </p:cNvPicPr>
          <p:nvPr/>
        </p:nvPicPr>
        <p:blipFill rotWithShape="1">
          <a:blip r:embed="rId20"/>
          <a:srcRect l="14013" t="0" r="7138" b="-4"/>
          <a:stretch/>
        </p:blipFill>
        <p:spPr bwMode="auto">
          <a:xfrm flipH="1">
            <a:off x="1943568" y="4451595"/>
            <a:ext cx="1641373" cy="13832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9143876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655730312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7719260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1513731381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3957126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4680978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3176707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4361975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57977492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841703562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graphicFrame>
        <p:nvGraphicFramePr>
          <p:cNvPr id="1956348430" name="Tableau 8"/>
          <p:cNvGraphicFramePr>
            <a:graphicFrameLocks xmlns:a="http://schemas.openxmlformats.org/drawingml/2006/main" noGrp="1"/>
          </p:cNvGraphicFramePr>
          <p:nvPr>
            <p:ph idx="1"/>
          </p:nvPr>
        </p:nvGraphicFramePr>
        <p:xfrm rot="0">
          <a:off x="581108" y="184236"/>
          <a:ext cx="5383465" cy="2949828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076693"/>
                <a:gridCol w="1076693"/>
                <a:gridCol w="1076693"/>
                <a:gridCol w="1076693"/>
                <a:gridCol w="1076693"/>
              </a:tblGrid>
              <a:tr h="769812"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/>
                        <a:t>Nom du Personnage joueur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/>
                        <a:t>Caractéristique, traits de caractère, qualités défauts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Identité, Background marquant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Autre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/>
                        <a:t>Attribué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</a:tr>
              <a:tr h="36333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36333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36333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36333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36333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36333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32163245" name="Tableau 8"/>
          <p:cNvGraphicFramePr>
            <a:graphicFrameLocks xmlns:a="http://schemas.openxmlformats.org/drawingml/2006/main"/>
          </p:cNvGraphicFramePr>
          <p:nvPr/>
        </p:nvGraphicFramePr>
        <p:xfrm rot="0">
          <a:off x="6227428" y="184237"/>
          <a:ext cx="5392260" cy="2955089"/>
        </p:xfrm>
        <a:graphic>
          <a:graphicData uri="http://schemas.openxmlformats.org/drawingml/2006/table">
            <a:tbl>
              <a:tblPr firstRow="1" firstCol="0" lastRow="0" lastCol="0" bandRow="0" bandCol="0">
                <a:tableStyleId>{5C22544A-7EE6-4342-B048-85BDC9FD1C3A}</a:tableStyleId>
              </a:tblPr>
              <a:tblGrid>
                <a:gridCol w="1797420"/>
                <a:gridCol w="1797420"/>
                <a:gridCol w="1797420"/>
              </a:tblGrid>
              <a:tr h="58222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Description du monde (Lieux, époques, climats, population…)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Univers de référence (fantastique, SF, steampunk, réel, ...)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/>
                        <a:t>Points communs marquants entre l’univers narratif et le contexte réel 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</a:tr>
              <a:tr h="812986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582228">
                <a:tc>
                  <a:txBody>
                    <a:bodyPr/>
                    <a:p>
                      <a:pPr marL="0" algn="l" rtl="0">
                        <a:defRPr/>
                      </a:pPr>
                      <a:r>
                        <a:rPr lang="fr-FR" sz="100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PNJ clés de l’univers narratif (avec lesquels les PJ peuvent avoir des interactions)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 marL="0" algn="l" rtl="0">
                        <a:defRPr/>
                      </a:pPr>
                      <a:r>
                        <a:rPr lang="fr-FR" sz="100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Moyens courants (technologies, magies, …) de l’univers narratif 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 marL="0" marR="0" lvl="0" indent="0" algn="l" defTabSz="91440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fr-FR" sz="1000" b="1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Différences marquantes entre l’univers narratif et le contexte réel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</a:tr>
              <a:tr h="977648"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38685273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490824693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837303454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1477718203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649149487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423746424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224918864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1231432038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961526285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1098346247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graphicFrame>
        <p:nvGraphicFramePr>
          <p:cNvPr id="257788490" name="Tableau 8"/>
          <p:cNvGraphicFramePr>
            <a:graphicFrameLocks xmlns:a="http://schemas.openxmlformats.org/drawingml/2006/main"/>
          </p:cNvGraphicFramePr>
          <p:nvPr/>
        </p:nvGraphicFramePr>
        <p:xfrm rot="0">
          <a:off x="439190" y="4309919"/>
          <a:ext cx="3103101" cy="2459340"/>
        </p:xfrm>
        <a:graphic>
          <a:graphicData uri="http://schemas.openxmlformats.org/drawingml/2006/table">
            <a:tbl>
              <a:tblPr firstRow="0" firstCol="1" lastRow="0" lastCol="0" bandRow="0" bandCol="0">
                <a:tableStyleId>{5C22544A-7EE6-4342-B048-85BDC9FD1C3A}</a:tableStyleId>
              </a:tblPr>
              <a:tblGrid>
                <a:gridCol w="1551550"/>
                <a:gridCol w="1551550"/>
              </a:tblGrid>
              <a:tr h="51516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Passé : L'avant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51516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Présent : Maintenant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51516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Présent : La problématique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45693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Futurs : le(s) futur(s) souhaités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45693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Futurs : le(s) futur(s) à éviter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0020840" name="Tableau 8"/>
          <p:cNvGraphicFramePr>
            <a:graphicFrameLocks xmlns:a="http://schemas.openxmlformats.org/drawingml/2006/main"/>
          </p:cNvGraphicFramePr>
          <p:nvPr/>
        </p:nvGraphicFramePr>
        <p:xfrm rot="0">
          <a:off x="8715741" y="4313866"/>
          <a:ext cx="3103101" cy="2459340"/>
        </p:xfrm>
        <a:graphic>
          <a:graphicData uri="http://schemas.openxmlformats.org/drawingml/2006/table">
            <a:tbl>
              <a:tblPr firstRow="0" firstCol="1" lastRow="0" lastCol="0" bandRow="0" bandCol="0">
                <a:tableStyleId>{5C22544A-7EE6-4342-B048-85BDC9FD1C3A}</a:tableStyleId>
              </a:tblPr>
              <a:tblGrid>
                <a:gridCol w="1551550"/>
                <a:gridCol w="1551550"/>
              </a:tblGrid>
              <a:tr h="51516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Moyens directs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51516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Moyens indirects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51516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Interdictions directes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45693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Interdictions indirectes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  <a:tr h="456930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000"/>
                        <a:t>Autres conditions</a:t>
                      </a:r>
                      <a:endParaRPr/>
                    </a:p>
                  </a:txBody>
                  <a:tcPr>
                    <a:solidFill>
                      <a:srgbClr val="0683AA"/>
                    </a:solidFill>
                  </a:tcPr>
                </a:tc>
                <a:tc>
                  <a:txBody>
                    <a:bodyPr/>
                    <a:p>
                      <a:pPr>
                        <a:defRPr/>
                      </a:pPr>
                      <a:endParaRPr lang="fr-FR" sz="10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57463673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1051942025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2575991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1549355931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4692628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1713261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771233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4771862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10691758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81421073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595024721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2080684361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75776241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949005337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1838673837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248798702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944161030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782975504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1634134336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748211673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693590819" name="Image 9" descr="Une image contenant texte, intérieur, personne, table&#10;&#10;Description générée automatiquement"/>
          <p:cNvPicPr>
            <a:picLocks noChangeAspect="1"/>
          </p:cNvPicPr>
          <p:nvPr/>
        </p:nvPicPr>
        <p:blipFill rotWithShape="1">
          <a:blip r:embed="rId11"/>
          <a:stretch/>
        </p:blipFill>
        <p:spPr bwMode="auto">
          <a:xfrm>
            <a:off x="1001194" y="959671"/>
            <a:ext cx="3261822" cy="2174548"/>
          </a:xfrm>
          <a:prstGeom prst="rect">
            <a:avLst/>
          </a:prstGeom>
        </p:spPr>
      </p:pic>
      <p:sp>
        <p:nvSpPr>
          <p:cNvPr id="335220872" name="Rectangle 29"/>
          <p:cNvSpPr/>
          <p:nvPr/>
        </p:nvSpPr>
        <p:spPr bwMode="auto">
          <a:xfrm>
            <a:off x="1330677" y="509773"/>
            <a:ext cx="3675321" cy="5676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Défi : Intéresser une classe au latin ! (c’est obligatoire)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8203190" name="Graphique 8" descr="Personne confuse avec un remplissage uni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-73103" y="30183"/>
            <a:ext cx="713302" cy="713302"/>
          </a:xfrm>
          <a:prstGeom prst="rect">
            <a:avLst/>
          </a:prstGeom>
        </p:spPr>
      </p:pic>
      <p:cxnSp>
        <p:nvCxnSpPr>
          <p:cNvPr id="87925077" name="Straight Connector 4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6096000" y="0"/>
            <a:ext cx="0" cy="32004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07750159" name="Graphique 3" descr="Monde avec un remplissage uni"/>
          <p:cNvPicPr>
            <a:picLocks noChangeAspect="1"/>
          </p:cNvPicPr>
          <p:nvPr/>
        </p:nvPicPr>
        <p:blipFill rotWithShape="1">
          <a:blip r:embed="rId4"/>
          <a:srcRect l="10149" t="3175" r="8594" b="9575"/>
          <a:stretch/>
        </p:blipFill>
        <p:spPr bwMode="auto">
          <a:xfrm>
            <a:off x="11619725" y="-47748"/>
            <a:ext cx="563215" cy="604754"/>
          </a:xfrm>
          <a:prstGeom prst="rect">
            <a:avLst/>
          </a:prstGeom>
        </p:spPr>
      </p:pic>
      <p:cxnSp>
        <p:nvCxnSpPr>
          <p:cNvPr id="200154997" name="Straight Connector 43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3621742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7126560" name="Straight Connector 45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>
            <a:off x="8552330" y="3200400"/>
            <a:ext cx="0" cy="3657600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209512" name="Straight Connector 47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3609790" y="3197411"/>
            <a:ext cx="4956048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6635378" name="Straight Connector 49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0" y="3994133"/>
            <a:ext cx="3602735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4746647" name="Straight Connector 51"/>
          <p:cNvCxnSpPr>
            <a:cxnSpLocks noAdjustHandles="1" noChangeArrowheads="1" noChangeAspect="1" noChangeShapeType="1" noEditPoints="1" noGrp="1" noMove="1" noResize="1" noRot="1"/>
          </p:cNvCxnSpPr>
          <p:nvPr/>
        </p:nvCxnSpPr>
        <p:spPr bwMode="auto">
          <a:xfrm flipH="1" flipV="1">
            <a:off x="8534400" y="3994133"/>
            <a:ext cx="3657600" cy="1754"/>
          </a:xfrm>
          <a:prstGeom prst="line">
            <a:avLst/>
          </a:prstGeom>
          <a:ln w="381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3825457" name="Graphique 7" descr="Outils d'exploitation minière avec un remplissage uni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>
            <a:off x="8130596" y="6479504"/>
            <a:ext cx="342284" cy="342284"/>
          </a:xfrm>
          <a:prstGeom prst="rect">
            <a:avLst/>
          </a:prstGeom>
        </p:spPr>
      </p:pic>
      <p:pic>
        <p:nvPicPr>
          <p:cNvPr id="826704903" name="Graphique 6" descr="Connecté avec un remplissage uni"/>
          <p:cNvPicPr>
            <a:picLocks noChangeAspect="1"/>
          </p:cNvPicPr>
          <p:nvPr/>
        </p:nvPicPr>
        <p:blipFill rotWithShape="1">
          <a:blip r:embed="rId6"/>
          <a:srcRect l="15437" t="0" r="17861" b="0"/>
          <a:stretch/>
        </p:blipFill>
        <p:spPr bwMode="auto">
          <a:xfrm>
            <a:off x="-10343" y="3980657"/>
            <a:ext cx="414461" cy="621361"/>
          </a:xfrm>
          <a:prstGeom prst="rect">
            <a:avLst/>
          </a:prstGeom>
        </p:spPr>
      </p:pic>
      <p:sp>
        <p:nvSpPr>
          <p:cNvPr id="337562628" name="ZoneTexte 56"/>
          <p:cNvSpPr txBox="1"/>
          <p:nvPr/>
        </p:nvSpPr>
        <p:spPr bwMode="auto">
          <a:xfrm>
            <a:off x="3708875" y="3254820"/>
            <a:ext cx="476400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Font typeface="Arial"/>
              <a:buNone/>
              <a:defRPr/>
            </a:pPr>
            <a:r>
              <a:rPr lang="fr-FR" sz="1100" b="1"/>
              <a:t>Cas réel à traiter (à partir duquel créer un Serious Game narratif)</a:t>
            </a:r>
            <a:endParaRPr/>
          </a:p>
        </p:txBody>
      </p:sp>
      <p:graphicFrame>
        <p:nvGraphicFramePr>
          <p:cNvPr id="2004200779" name="Tableau 14"/>
          <p:cNvGraphicFramePr>
            <a:graphicFrameLocks xmlns:a="http://schemas.openxmlformats.org/drawingml/2006/main" noGrp="1"/>
          </p:cNvGraphicFramePr>
          <p:nvPr/>
        </p:nvGraphicFramePr>
        <p:xfrm rot="0">
          <a:off x="3714001" y="3801386"/>
          <a:ext cx="4763998" cy="2711816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{5C22544A-7EE6-4342-B048-85BDC9FD1C3A}</a:tableStyleId>
              </a:tblPr>
              <a:tblGrid>
                <a:gridCol w="2381999"/>
                <a:gridCol w="2381999"/>
              </a:tblGrid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Personnes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i="1"/>
                        <a:t>(Identités, traits de caractères, besoins, histoires…)</a:t>
                      </a:r>
                      <a:endParaRPr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Contexte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/>
                        <a:t>(</a:t>
                      </a:r>
                      <a:r>
                        <a:rPr lang="fr-FR" sz="1100" i="1"/>
                        <a:t>Localisation, secteur, technologies…</a:t>
                      </a:r>
                      <a:r>
                        <a:rPr lang="fr-FR" sz="1100"/>
                        <a:t>)</a:t>
                      </a:r>
                      <a:endParaRPr/>
                    </a:p>
                  </a:txBody>
                  <a:tcPr/>
                </a:tc>
              </a:tr>
              <a:tr h="1355908"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Situation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Calibri"/>
                        </a:rPr>
                        <a:t>La situation qui vous invite à créer un Serious Game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defRPr/>
                      </a:pPr>
                      <a:r>
                        <a:rPr lang="fr-FR" sz="1100" b="1"/>
                        <a:t>Champ d’actions possible</a:t>
                      </a:r>
                      <a:endParaRPr/>
                    </a:p>
                    <a:p>
                      <a:pPr lvl="0">
                        <a:buNone/>
                        <a:defRPr/>
                      </a:pPr>
                      <a:r>
                        <a:rPr lang="fr-FR" sz="1100" b="0" i="0" u="none" strike="noStrike">
                          <a:latin typeface="Calibri"/>
                        </a:rPr>
                        <a:t>(</a:t>
                      </a:r>
                      <a:r>
                        <a:rPr lang="fr-FR" sz="1100" b="0" i="1" u="none" strike="noStrike">
                          <a:latin typeface="+mn-lt"/>
                        </a:rPr>
                        <a:t>Les moyens déjà abordés par les personnes jusqu'à présent</a:t>
                      </a:r>
                      <a:r>
                        <a:rPr lang="fr-FR" sz="1100" b="0" i="0" u="none" strike="noStrike">
                          <a:latin typeface="Calibri"/>
                        </a:rPr>
                        <a:t>)</a:t>
                      </a:r>
                      <a:endParaRPr lang="fr-FR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41229630" name="Graphique 58" descr="Personne confuse avec un remplissage uni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>
            <a:off x="3632086" y="3381206"/>
            <a:ext cx="430887" cy="430887"/>
          </a:xfrm>
          <a:prstGeom prst="rect">
            <a:avLst/>
          </a:prstGeom>
        </p:spPr>
      </p:pic>
      <p:pic>
        <p:nvPicPr>
          <p:cNvPr id="1036957090" name="Graphique 60" descr="Connecté avec un remplissage uni"/>
          <p:cNvPicPr>
            <a:picLocks noChangeAspect="1"/>
          </p:cNvPicPr>
          <p:nvPr/>
        </p:nvPicPr>
        <p:blipFill rotWithShape="1">
          <a:blip r:embed="rId8"/>
          <a:srcRect l="15437" t="0" r="17861" b="0"/>
          <a:stretch/>
        </p:blipFill>
        <p:spPr bwMode="auto">
          <a:xfrm>
            <a:off x="3708875" y="6494789"/>
            <a:ext cx="246507" cy="369565"/>
          </a:xfrm>
          <a:prstGeom prst="rect">
            <a:avLst/>
          </a:prstGeom>
        </p:spPr>
      </p:pic>
      <p:pic>
        <p:nvPicPr>
          <p:cNvPr id="1887889180" name="Graphique 62" descr="Monde avec un remplissage uni"/>
          <p:cNvPicPr>
            <a:picLocks noChangeAspect="1"/>
          </p:cNvPicPr>
          <p:nvPr/>
        </p:nvPicPr>
        <p:blipFill rotWithShape="1">
          <a:blip r:embed="rId9"/>
          <a:srcRect l="10149" t="3175" r="8594" b="9575"/>
          <a:stretch/>
        </p:blipFill>
        <p:spPr bwMode="auto">
          <a:xfrm>
            <a:off x="8111100" y="3385711"/>
            <a:ext cx="338233" cy="363179"/>
          </a:xfrm>
          <a:prstGeom prst="rect">
            <a:avLst/>
          </a:prstGeom>
        </p:spPr>
      </p:pic>
      <p:pic>
        <p:nvPicPr>
          <p:cNvPr id="724565198" name="Graphique 64" descr="Outils d'exploitation minière avec un remplissage uni"/>
          <p:cNvPicPr>
            <a:picLocks noChangeAspect="1"/>
          </p:cNvPicPr>
          <p:nvPr/>
        </p:nvPicPr>
        <p:blipFill rotWithShape="1">
          <a:blip r:embed="rId10"/>
          <a:stretch/>
        </p:blipFill>
        <p:spPr bwMode="auto">
          <a:xfrm>
            <a:off x="11818844" y="4052256"/>
            <a:ext cx="373156" cy="373156"/>
          </a:xfrm>
          <a:prstGeom prst="rect">
            <a:avLst/>
          </a:prstGeom>
        </p:spPr>
      </p:pic>
      <p:sp>
        <p:nvSpPr>
          <p:cNvPr id="1763363653" name="ZoneTexte 65"/>
          <p:cNvSpPr txBox="1"/>
          <p:nvPr/>
        </p:nvSpPr>
        <p:spPr bwMode="auto">
          <a:xfrm>
            <a:off x="581110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Personnages </a:t>
            </a:r>
            <a:endParaRPr/>
          </a:p>
        </p:txBody>
      </p:sp>
      <p:sp>
        <p:nvSpPr>
          <p:cNvPr id="1155589465" name="ZoneTexte 66"/>
          <p:cNvSpPr txBox="1"/>
          <p:nvPr/>
        </p:nvSpPr>
        <p:spPr bwMode="auto">
          <a:xfrm>
            <a:off x="405799" y="4008221"/>
            <a:ext cx="2050995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Scénarios</a:t>
            </a:r>
            <a:endParaRPr/>
          </a:p>
        </p:txBody>
      </p:sp>
      <p:sp>
        <p:nvSpPr>
          <p:cNvPr id="1316418726" name="ZoneTexte 67"/>
          <p:cNvSpPr txBox="1"/>
          <p:nvPr/>
        </p:nvSpPr>
        <p:spPr bwMode="auto">
          <a:xfrm>
            <a:off x="9541159" y="-15691"/>
            <a:ext cx="20509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Univers </a:t>
            </a:r>
            <a:endParaRPr/>
          </a:p>
        </p:txBody>
      </p:sp>
      <p:sp>
        <p:nvSpPr>
          <p:cNvPr id="392590136" name="ZoneTexte 68"/>
          <p:cNvSpPr txBox="1"/>
          <p:nvPr/>
        </p:nvSpPr>
        <p:spPr bwMode="auto">
          <a:xfrm>
            <a:off x="8896173" y="4048309"/>
            <a:ext cx="2922672" cy="2616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Font typeface="Arial"/>
              <a:buNone/>
              <a:defRPr/>
            </a:pPr>
            <a:r>
              <a:rPr lang="fr-FR" sz="1100" b="1">
                <a:solidFill>
                  <a:srgbClr val="ED7D31"/>
                </a:solidFill>
              </a:rPr>
              <a:t>Domaine narratif : Champ d’actions possibles</a:t>
            </a:r>
            <a:endParaRPr/>
          </a:p>
        </p:txBody>
      </p:sp>
      <p:pic>
        <p:nvPicPr>
          <p:cNvPr id="1347243467" name="Image 23" descr="Une image contenant plancher&#10;&#10;Description générée automatiquement"/>
          <p:cNvPicPr>
            <a:picLocks noChangeAspect="1"/>
          </p:cNvPicPr>
          <p:nvPr/>
        </p:nvPicPr>
        <p:blipFill rotWithShape="1">
          <a:blip r:embed="rId11"/>
          <a:srcRect l="9451" t="0" r="11352" b="-3"/>
          <a:stretch/>
        </p:blipFill>
        <p:spPr bwMode="auto">
          <a:xfrm>
            <a:off x="6346710" y="237975"/>
            <a:ext cx="3213186" cy="2708259"/>
          </a:xfrm>
          <a:prstGeom prst="rect">
            <a:avLst/>
          </a:prstGeom>
        </p:spPr>
      </p:pic>
      <p:pic>
        <p:nvPicPr>
          <p:cNvPr id="1735736025" name="Image 24" descr="Une image contenant vieux, fermer&#10;&#10;Description générée automatiquement"/>
          <p:cNvPicPr>
            <a:picLocks noChangeAspect="1"/>
          </p:cNvPicPr>
          <p:nvPr/>
        </p:nvPicPr>
        <p:blipFill rotWithShape="1">
          <a:blip r:embed="rId12"/>
          <a:srcRect l="8323" t="0" r="11649" b="-1"/>
          <a:stretch/>
        </p:blipFill>
        <p:spPr bwMode="auto">
          <a:xfrm>
            <a:off x="8896173" y="1039652"/>
            <a:ext cx="2484966" cy="2103728"/>
          </a:xfrm>
          <a:prstGeom prst="rect">
            <a:avLst/>
          </a:prstGeom>
        </p:spPr>
      </p:pic>
      <p:pic>
        <p:nvPicPr>
          <p:cNvPr id="598893602" name="Image 50" descr="Une image contenant texte, plusieurs&#10;&#10;Description générée automatiquement"/>
          <p:cNvPicPr>
            <a:picLocks noChangeAspect="1"/>
          </p:cNvPicPr>
          <p:nvPr/>
        </p:nvPicPr>
        <p:blipFill rotWithShape="1">
          <a:blip r:embed="rId13"/>
          <a:srcRect l="14008" t="0" r="1" b="1"/>
          <a:stretch/>
        </p:blipFill>
        <p:spPr bwMode="auto">
          <a:xfrm flipH="1">
            <a:off x="171775" y="4751543"/>
            <a:ext cx="1615164" cy="1371133"/>
          </a:xfrm>
          <a:prstGeom prst="rect">
            <a:avLst/>
          </a:prstGeom>
        </p:spPr>
      </p:pic>
      <p:pic>
        <p:nvPicPr>
          <p:cNvPr id="1714824983" name="Image 2" descr="Une image contenant fumée, nature, montagne&#10;&#10;Description générée automatiquement"/>
          <p:cNvPicPr>
            <a:picLocks noChangeAspect="1"/>
          </p:cNvPicPr>
          <p:nvPr/>
        </p:nvPicPr>
        <p:blipFill rotWithShape="1">
          <a:blip r:embed="rId14"/>
          <a:srcRect l="5108" t="0" r="6298" b="-1"/>
          <a:stretch/>
        </p:blipFill>
        <p:spPr bwMode="auto">
          <a:xfrm>
            <a:off x="1633159" y="4943002"/>
            <a:ext cx="1621874" cy="1372059"/>
          </a:xfrm>
          <a:prstGeom prst="rect">
            <a:avLst/>
          </a:prstGeom>
        </p:spPr>
      </p:pic>
      <p:pic>
        <p:nvPicPr>
          <p:cNvPr id="1779568333" name="Image 27"/>
          <p:cNvPicPr>
            <a:picLocks noChangeAspect="1"/>
          </p:cNvPicPr>
          <p:nvPr/>
        </p:nvPicPr>
        <p:blipFill rotWithShape="1">
          <a:blip r:embed="rId15"/>
          <a:stretch/>
        </p:blipFill>
        <p:spPr bwMode="auto">
          <a:xfrm>
            <a:off x="4454704" y="1373461"/>
            <a:ext cx="984067" cy="1619031"/>
          </a:xfrm>
          <a:prstGeom prst="rect">
            <a:avLst/>
          </a:prstGeom>
        </p:spPr>
      </p:pic>
      <p:pic>
        <p:nvPicPr>
          <p:cNvPr id="2057656366" name="Image 28"/>
          <p:cNvPicPr>
            <a:picLocks noChangeAspect="1"/>
          </p:cNvPicPr>
          <p:nvPr/>
        </p:nvPicPr>
        <p:blipFill rotWithShape="1">
          <a:blip r:embed="rId16"/>
          <a:stretch/>
        </p:blipFill>
        <p:spPr bwMode="auto">
          <a:xfrm>
            <a:off x="2494716" y="2088128"/>
            <a:ext cx="1395690" cy="966806"/>
          </a:xfrm>
          <a:prstGeom prst="rect">
            <a:avLst/>
          </a:prstGeom>
        </p:spPr>
      </p:pic>
      <p:pic>
        <p:nvPicPr>
          <p:cNvPr id="1028675131" name="Image 30"/>
          <p:cNvPicPr>
            <a:picLocks noChangeAspect="1"/>
          </p:cNvPicPr>
          <p:nvPr/>
        </p:nvPicPr>
        <p:blipFill rotWithShape="1">
          <a:blip r:embed="rId17"/>
          <a:stretch/>
        </p:blipFill>
        <p:spPr bwMode="auto">
          <a:xfrm>
            <a:off x="757465" y="491422"/>
            <a:ext cx="1805452" cy="955385"/>
          </a:xfrm>
          <a:prstGeom prst="rect">
            <a:avLst/>
          </a:prstGeom>
        </p:spPr>
      </p:pic>
      <p:pic>
        <p:nvPicPr>
          <p:cNvPr id="15604861" name="Image 31"/>
          <p:cNvPicPr>
            <a:picLocks noChangeAspect="1"/>
          </p:cNvPicPr>
          <p:nvPr/>
        </p:nvPicPr>
        <p:blipFill rotWithShape="1">
          <a:blip r:embed="rId18"/>
          <a:stretch/>
        </p:blipFill>
        <p:spPr bwMode="auto">
          <a:xfrm>
            <a:off x="3492243" y="196360"/>
            <a:ext cx="796326" cy="1274122"/>
          </a:xfrm>
          <a:prstGeom prst="rect">
            <a:avLst/>
          </a:prstGeom>
        </p:spPr>
      </p:pic>
      <p:pic>
        <p:nvPicPr>
          <p:cNvPr id="1677964891" name="Image 32"/>
          <p:cNvPicPr>
            <a:picLocks noChangeAspect="1"/>
          </p:cNvPicPr>
          <p:nvPr/>
        </p:nvPicPr>
        <p:blipFill rotWithShape="1">
          <a:blip r:embed="rId19"/>
          <a:stretch/>
        </p:blipFill>
        <p:spPr bwMode="auto">
          <a:xfrm>
            <a:off x="324409" y="2648002"/>
            <a:ext cx="1360402" cy="771603"/>
          </a:xfrm>
          <a:prstGeom prst="rect">
            <a:avLst/>
          </a:prstGeom>
        </p:spPr>
      </p:pic>
      <p:pic>
        <p:nvPicPr>
          <p:cNvPr id="534361300" name="Graphique 2" descr="Liste avec un remplissage uni"/>
          <p:cNvPicPr>
            <a:picLocks noChangeAspect="1"/>
          </p:cNvPicPr>
          <p:nvPr/>
        </p:nvPicPr>
        <p:blipFill rotWithShape="1"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/>
        </p:blipFill>
        <p:spPr bwMode="auto">
          <a:xfrm>
            <a:off x="8587980" y="4745352"/>
            <a:ext cx="1550676" cy="1550676"/>
          </a:xfrm>
          <a:prstGeom prst="rect">
            <a:avLst/>
          </a:prstGeom>
        </p:spPr>
      </p:pic>
      <p:sp>
        <p:nvSpPr>
          <p:cNvPr id="1812500588" name="Rectangle 34"/>
          <p:cNvSpPr/>
          <p:nvPr/>
        </p:nvSpPr>
        <p:spPr bwMode="auto">
          <a:xfrm>
            <a:off x="9953796" y="4745352"/>
            <a:ext cx="1550676" cy="567695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r>
              <a:rPr lang="fr-FR">
                <a:solidFill>
                  <a:schemeClr val="tx1"/>
                </a:solidFill>
              </a:rPr>
              <a:t>Latin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">
      <a:majorFont>
        <a:latin typeface="Calibri Light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ONLYOFFICE/9.2.1.43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Alexandre Quach</dc:creator>
  <cp:lastModifiedBy/>
  <cp:revision>2</cp:revision>
  <dcterms:created xsi:type="dcterms:W3CDTF">2021-02-02T23:16:24Z</dcterms:created>
  <dcterms:modified xsi:type="dcterms:W3CDTF">2026-01-23T18:49:29Z</dcterms:modified>
</cp:coreProperties>
</file>