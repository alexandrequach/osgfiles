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5"/>
  </p:notesMasterIdLst>
  <p:sldIdLst>
    <p:sldId id="688" r:id="rId2"/>
    <p:sldId id="696" r:id="rId3"/>
    <p:sldId id="788" r:id="rId4"/>
    <p:sldId id="700" r:id="rId5"/>
    <p:sldId id="760" r:id="rId6"/>
    <p:sldId id="787" r:id="rId7"/>
    <p:sldId id="789" r:id="rId8"/>
    <p:sldId id="701" r:id="rId9"/>
    <p:sldId id="761" r:id="rId10"/>
    <p:sldId id="702" r:id="rId11"/>
    <p:sldId id="762" r:id="rId12"/>
    <p:sldId id="694" r:id="rId13"/>
    <p:sldId id="790" r:id="rId14"/>
  </p:sldIdLst>
  <p:sldSz cx="12192000" cy="6858000"/>
  <p:notesSz cx="7315200" cy="9601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EC7CA27-F212-4F4B-A85A-A066684AC71E}">
          <p14:sldIdLst>
            <p14:sldId id="688"/>
            <p14:sldId id="696"/>
            <p14:sldId id="788"/>
            <p14:sldId id="700"/>
            <p14:sldId id="760"/>
            <p14:sldId id="787"/>
            <p14:sldId id="789"/>
            <p14:sldId id="701"/>
            <p14:sldId id="761"/>
            <p14:sldId id="702"/>
            <p14:sldId id="762"/>
            <p14:sldId id="694"/>
            <p14:sldId id="790"/>
          </p14:sldIdLst>
        </p14:section>
        <p14:section name="Annexes visuel différent" id="{25F88BE9-0B43-42D7-BD26-D966E98AE7E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94BA"/>
    <a:srgbClr val="EC7B2B"/>
    <a:srgbClr val="FFFFB2"/>
    <a:srgbClr val="F4B183"/>
    <a:srgbClr val="FF0000"/>
    <a:srgbClr val="A6A6A6"/>
    <a:srgbClr val="FBE5D6"/>
    <a:srgbClr val="E2F0D9"/>
    <a:srgbClr val="A9D18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EA5DB-72D3-46BA-BCB8-10E88A4AAAE7}" v="5" dt="2022-10-27T16:49:02.913"/>
    <p1510:client id="{F3889250-7A55-43B0-93FA-01E399BFF47C}" v="1" dt="2025-06-08T12:05:48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4D226AC-8069-465F-BE35-AC5AC6A5824B}" type="datetimeFigureOut">
              <a:rPr lang="fr-FR" smtClean="0"/>
              <a:t>08/06/2025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0F5F71A-6683-4344-8A86-B72493AD35FC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663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Struggle</a:t>
            </a:r>
          </a:p>
          <a:p>
            <a:r>
              <a:rPr lang="fr-FR"/>
              <a:t>Exploit </a:t>
            </a:r>
          </a:p>
          <a:p>
            <a:r>
              <a:rPr lang="fr-FR"/>
              <a:t>Let go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733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23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5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5" Type="http://schemas.openxmlformats.org/officeDocument/2006/relationships/image" Target="../media/image4.sv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FB95F5D-47FD-4D58-ACA8-0EEB2010B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W11</a:t>
            </a:r>
            <a:br>
              <a:rPr lang="en-US"/>
            </a:br>
            <a:r>
              <a:rPr lang="en-US"/>
              <a:t>Community Member Crisis Control (CMCC)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00C41CD-CFCD-4A51-B55E-2F068527D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☯️Choose whether to struggle, let go or even exploit issues to your favor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6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EEA22-A8C3-4FD1-9C8C-860C43D1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Members Deceleration Levels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A9C4C7-B9FD-4A17-8848-25F4C7931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74" y="2063110"/>
            <a:ext cx="2641899" cy="45100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Members Deceleration happen when members get less involved, motivated, and engagement levels  drop (see W3). 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Various consequences can happen during deceleration. As a Community Booster it is up to you to manage each case. 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3DDC9CE-371C-4F32-BF67-83562F5D5309}"/>
              </a:ext>
            </a:extLst>
          </p:cNvPr>
          <p:cNvGrpSpPr/>
          <p:nvPr/>
        </p:nvGrpSpPr>
        <p:grpSpPr>
          <a:xfrm>
            <a:off x="3177500" y="2210263"/>
            <a:ext cx="1882478" cy="1998114"/>
            <a:chOff x="910888" y="1667080"/>
            <a:chExt cx="1882478" cy="1998114"/>
          </a:xfrm>
        </p:grpSpPr>
        <p:sp>
          <p:nvSpPr>
            <p:cNvPr id="4" name="Demi-cadre 3">
              <a:extLst>
                <a:ext uri="{FF2B5EF4-FFF2-40B4-BE49-F238E27FC236}">
                  <a16:creationId xmlns:a16="http://schemas.microsoft.com/office/drawing/2014/main" id="{B3D99FA8-C934-4A17-9533-1E187C094527}"/>
                </a:ext>
              </a:extLst>
            </p:cNvPr>
            <p:cNvSpPr/>
            <p:nvPr/>
          </p:nvSpPr>
          <p:spPr>
            <a:xfrm flipH="1">
              <a:off x="1115568" y="25734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9" name="Graphique 8" descr="Tortue avec un remplissage uni">
              <a:extLst>
                <a:ext uri="{FF2B5EF4-FFF2-40B4-BE49-F238E27FC236}">
                  <a16:creationId xmlns:a16="http://schemas.microsoft.com/office/drawing/2014/main" id="{928CA010-95B9-47D8-9477-6F1D70E61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71264" y="1667080"/>
              <a:ext cx="914400" cy="914400"/>
            </a:xfrm>
            <a:prstGeom prst="rect">
              <a:avLst/>
            </a:prstGeom>
          </p:spPr>
        </p:pic>
        <p:sp>
          <p:nvSpPr>
            <p:cNvPr id="17" name="Espace réservé du contenu 2">
              <a:extLst>
                <a:ext uri="{FF2B5EF4-FFF2-40B4-BE49-F238E27FC236}">
                  <a16:creationId xmlns:a16="http://schemas.microsoft.com/office/drawing/2014/main" id="{1453BD7A-0D26-4B74-8044-9EB3C5F21ADC}"/>
                </a:ext>
              </a:extLst>
            </p:cNvPr>
            <p:cNvSpPr txBox="1">
              <a:spLocks/>
            </p:cNvSpPr>
            <p:nvPr/>
          </p:nvSpPr>
          <p:spPr>
            <a:xfrm>
              <a:off x="910888" y="2797373"/>
              <a:ext cx="1677798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/>
                <a:t>Slowdown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I am less engaged than before or than usual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FAFC3D10-68E7-489B-8054-6A287AC1078B}"/>
              </a:ext>
            </a:extLst>
          </p:cNvPr>
          <p:cNvGrpSpPr/>
          <p:nvPr/>
        </p:nvGrpSpPr>
        <p:grpSpPr>
          <a:xfrm>
            <a:off x="5295112" y="2843310"/>
            <a:ext cx="1763851" cy="1967656"/>
            <a:chOff x="2998046" y="2759540"/>
            <a:chExt cx="1763851" cy="1967656"/>
          </a:xfrm>
        </p:grpSpPr>
        <p:sp>
          <p:nvSpPr>
            <p:cNvPr id="5" name="Demi-cadre 4">
              <a:extLst>
                <a:ext uri="{FF2B5EF4-FFF2-40B4-BE49-F238E27FC236}">
                  <a16:creationId xmlns:a16="http://schemas.microsoft.com/office/drawing/2014/main" id="{2C5301D4-7214-48F7-A304-17369E58BE4F}"/>
                </a:ext>
              </a:extLst>
            </p:cNvPr>
            <p:cNvSpPr/>
            <p:nvPr/>
          </p:nvSpPr>
          <p:spPr>
            <a:xfrm flipH="1">
              <a:off x="3084099" y="3522941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11" name="Graphique 10" descr="Stop avec un remplissage uni">
              <a:extLst>
                <a:ext uri="{FF2B5EF4-FFF2-40B4-BE49-F238E27FC236}">
                  <a16:creationId xmlns:a16="http://schemas.microsoft.com/office/drawing/2014/main" id="{EE824A5B-9FF3-49F8-8BF2-1BC509E76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08950" y="2759540"/>
              <a:ext cx="763401" cy="763401"/>
            </a:xfrm>
            <a:prstGeom prst="rect">
              <a:avLst/>
            </a:prstGeom>
          </p:spPr>
        </p:pic>
        <p:sp>
          <p:nvSpPr>
            <p:cNvPr id="18" name="Espace réservé du contenu 2">
              <a:extLst>
                <a:ext uri="{FF2B5EF4-FFF2-40B4-BE49-F238E27FC236}">
                  <a16:creationId xmlns:a16="http://schemas.microsoft.com/office/drawing/2014/main" id="{8F5C2705-DECA-4AAC-B912-19B7021A9B4C}"/>
                </a:ext>
              </a:extLst>
            </p:cNvPr>
            <p:cNvSpPr txBox="1">
              <a:spLocks/>
            </p:cNvSpPr>
            <p:nvPr/>
          </p:nvSpPr>
          <p:spPr>
            <a:xfrm>
              <a:off x="2998046" y="3741490"/>
              <a:ext cx="1528717" cy="9857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/>
                <a:t>Stop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I stopped engaging in Community activities. I am still here to be found.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49188CED-4658-4F23-93FF-B5F08433C796}"/>
              </a:ext>
            </a:extLst>
          </p:cNvPr>
          <p:cNvGrpSpPr/>
          <p:nvPr/>
        </p:nvGrpSpPr>
        <p:grpSpPr>
          <a:xfrm>
            <a:off x="7317349" y="3444976"/>
            <a:ext cx="1677798" cy="1898221"/>
            <a:chOff x="5077555" y="3522017"/>
            <a:chExt cx="1677798" cy="189822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941FB512-B222-49E6-8DB1-5AD938C4C163}"/>
                </a:ext>
              </a:extLst>
            </p:cNvPr>
            <p:cNvSpPr/>
            <p:nvPr/>
          </p:nvSpPr>
          <p:spPr>
            <a:xfrm flipH="1">
              <a:off x="5077555" y="43522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13" name="Graphique 12" descr="Flugzeug avec un remplissage uni">
              <a:extLst>
                <a:ext uri="{FF2B5EF4-FFF2-40B4-BE49-F238E27FC236}">
                  <a16:creationId xmlns:a16="http://schemas.microsoft.com/office/drawing/2014/main" id="{2F23D62E-BA79-4FB4-8839-8A873BB8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61481" y="3522017"/>
              <a:ext cx="763401" cy="763401"/>
            </a:xfrm>
            <a:prstGeom prst="rect">
              <a:avLst/>
            </a:prstGeom>
          </p:spPr>
        </p:pic>
        <p:sp>
          <p:nvSpPr>
            <p:cNvPr id="19" name="Espace réservé du contenu 2">
              <a:extLst>
                <a:ext uri="{FF2B5EF4-FFF2-40B4-BE49-F238E27FC236}">
                  <a16:creationId xmlns:a16="http://schemas.microsoft.com/office/drawing/2014/main" id="{A912CD63-DFF2-48CD-838D-27F56337265D}"/>
                </a:ext>
              </a:extLst>
            </p:cNvPr>
            <p:cNvSpPr txBox="1">
              <a:spLocks/>
            </p:cNvSpPr>
            <p:nvPr/>
          </p:nvSpPr>
          <p:spPr>
            <a:xfrm>
              <a:off x="5464476" y="4552417"/>
              <a:ext cx="1105305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/>
                <a:t>Away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I am currently not here to be found.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5B288F3A-BD13-4110-A44C-7574F8E15247}"/>
              </a:ext>
            </a:extLst>
          </p:cNvPr>
          <p:cNvGrpSpPr/>
          <p:nvPr/>
        </p:nvGrpSpPr>
        <p:grpSpPr>
          <a:xfrm>
            <a:off x="9260864" y="4285602"/>
            <a:ext cx="1745033" cy="2187319"/>
            <a:chOff x="6997524" y="4433949"/>
            <a:chExt cx="1745033" cy="2187319"/>
          </a:xfrm>
        </p:grpSpPr>
        <p:sp>
          <p:nvSpPr>
            <p:cNvPr id="7" name="Demi-cadre 6">
              <a:extLst>
                <a:ext uri="{FF2B5EF4-FFF2-40B4-BE49-F238E27FC236}">
                  <a16:creationId xmlns:a16="http://schemas.microsoft.com/office/drawing/2014/main" id="{C21D129C-3FFE-4FA5-A870-A01E281CD916}"/>
                </a:ext>
              </a:extLst>
            </p:cNvPr>
            <p:cNvSpPr/>
            <p:nvPr/>
          </p:nvSpPr>
          <p:spPr>
            <a:xfrm flipH="1">
              <a:off x="7064759" y="5272902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15" name="Graphique 14" descr="Poing serré avec un remplissage uni">
              <a:extLst>
                <a:ext uri="{FF2B5EF4-FFF2-40B4-BE49-F238E27FC236}">
                  <a16:creationId xmlns:a16="http://schemas.microsoft.com/office/drawing/2014/main" id="{CA74E3A6-3EC0-4ADD-8624-4DD12B42A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46458" y="4433949"/>
              <a:ext cx="914400" cy="914400"/>
            </a:xfrm>
            <a:prstGeom prst="rect">
              <a:avLst/>
            </a:prstGeom>
          </p:spPr>
        </p:pic>
        <p:sp>
          <p:nvSpPr>
            <p:cNvPr id="20" name="Espace réservé du contenu 2">
              <a:extLst>
                <a:ext uri="{FF2B5EF4-FFF2-40B4-BE49-F238E27FC236}">
                  <a16:creationId xmlns:a16="http://schemas.microsoft.com/office/drawing/2014/main" id="{2389C63E-CDDE-4513-9463-165009FFBE5F}"/>
                </a:ext>
              </a:extLst>
            </p:cNvPr>
            <p:cNvSpPr txBox="1">
              <a:spLocks/>
            </p:cNvSpPr>
            <p:nvPr/>
          </p:nvSpPr>
          <p:spPr>
            <a:xfrm>
              <a:off x="6997524" y="5491543"/>
              <a:ext cx="1513554" cy="11297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/>
                <a:t>Against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I am not here to be found and I am against the Community I used to belong to.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991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02CDD-DA15-4D83-A41D-D3CF4989D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strategies for each crisis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042E1-6183-4784-9ADF-DFF1A2B0753F}"/>
              </a:ext>
            </a:extLst>
          </p:cNvPr>
          <p:cNvSpPr/>
          <p:nvPr/>
        </p:nvSpPr>
        <p:spPr>
          <a:xfrm>
            <a:off x="1526961" y="3756323"/>
            <a:ext cx="2201662" cy="898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Struggle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9A633-481C-4CC9-A774-42AD4EFE456B}"/>
              </a:ext>
            </a:extLst>
          </p:cNvPr>
          <p:cNvSpPr/>
          <p:nvPr/>
        </p:nvSpPr>
        <p:spPr>
          <a:xfrm>
            <a:off x="5193439" y="3756323"/>
            <a:ext cx="2201662" cy="89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Accept and use it as an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E5D0F-2112-4E80-A640-43882A73D755}"/>
              </a:ext>
            </a:extLst>
          </p:cNvPr>
          <p:cNvSpPr/>
          <p:nvPr/>
        </p:nvSpPr>
        <p:spPr>
          <a:xfrm>
            <a:off x="8859917" y="3756323"/>
            <a:ext cx="2201662" cy="89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Accept and prevent more damage</a:t>
            </a:r>
          </a:p>
        </p:txBody>
      </p:sp>
      <p:pic>
        <p:nvPicPr>
          <p:cNvPr id="8" name="Graphique 7" descr="Pansement avec un remplissage uni">
            <a:extLst>
              <a:ext uri="{FF2B5EF4-FFF2-40B4-BE49-F238E27FC236}">
                <a16:creationId xmlns:a16="http://schemas.microsoft.com/office/drawing/2014/main" id="{A5FB762C-B289-4C6A-9CB9-179B483D4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7369" y="2088078"/>
            <a:ext cx="1686756" cy="1686756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B068498-77C6-4404-A18D-ECF852FC7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060" y="4866030"/>
            <a:ext cx="2281563" cy="14433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/>
              <a:t>Actions to </a:t>
            </a:r>
            <a:r>
              <a:rPr lang="en-US" sz="1800" b="1">
                <a:solidFill>
                  <a:srgbClr val="3494BA"/>
                </a:solidFill>
              </a:rPr>
              <a:t>counter, reverse or even remove </a:t>
            </a:r>
            <a:r>
              <a:rPr lang="en-US" sz="1800"/>
              <a:t>the negative effects for the Community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DE3793A-7AC7-453C-857A-99E84D486436}"/>
              </a:ext>
            </a:extLst>
          </p:cNvPr>
          <p:cNvSpPr txBox="1">
            <a:spLocks/>
          </p:cNvSpPr>
          <p:nvPr/>
        </p:nvSpPr>
        <p:spPr>
          <a:xfrm>
            <a:off x="5153488" y="4866030"/>
            <a:ext cx="2281563" cy="144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/>
              <a:t>Turn the negative effects into </a:t>
            </a:r>
            <a:r>
              <a:rPr lang="en-US" sz="1800" b="1">
                <a:solidFill>
                  <a:srgbClr val="EC7B2B"/>
                </a:solidFill>
              </a:rPr>
              <a:t>positive effects</a:t>
            </a:r>
            <a:r>
              <a:rPr lang="en-US" sz="1800"/>
              <a:t> for the Community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1D3CA31-EC1D-4599-BF65-7E6F56180E31}"/>
              </a:ext>
            </a:extLst>
          </p:cNvPr>
          <p:cNvSpPr txBox="1">
            <a:spLocks/>
          </p:cNvSpPr>
          <p:nvPr/>
        </p:nvSpPr>
        <p:spPr>
          <a:xfrm>
            <a:off x="8819966" y="4866030"/>
            <a:ext cx="2281563" cy="144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>
                    <a:lumMod val="50000"/>
                  </a:schemeClr>
                </a:solidFill>
              </a:rPr>
              <a:t>Damage control</a:t>
            </a:r>
            <a:r>
              <a:rPr lang="en-US" sz="1800"/>
              <a:t> the negative effects to prevent its expansion in the Community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BBA83E6B-2584-4F90-B0AF-99ED6D3EA7D0}"/>
              </a:ext>
            </a:extLst>
          </p:cNvPr>
          <p:cNvGrpSpPr/>
          <p:nvPr/>
        </p:nvGrpSpPr>
        <p:grpSpPr>
          <a:xfrm>
            <a:off x="5276312" y="2204786"/>
            <a:ext cx="2035913" cy="1551537"/>
            <a:chOff x="5291531" y="2046536"/>
            <a:chExt cx="1965966" cy="1498232"/>
          </a:xfrm>
        </p:grpSpPr>
        <p:pic>
          <p:nvPicPr>
            <p:cNvPr id="13" name="Graphique 12" descr="Badge à suivre avec un remplissage uni">
              <a:extLst>
                <a:ext uri="{FF2B5EF4-FFF2-40B4-BE49-F238E27FC236}">
                  <a16:creationId xmlns:a16="http://schemas.microsoft.com/office/drawing/2014/main" id="{98995E06-F6BF-46F6-8E3B-670C7B0BE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5" name="Graphique 14" descr="Badge à ne plus suivre avec un remplissage uni">
              <a:extLst>
                <a:ext uri="{FF2B5EF4-FFF2-40B4-BE49-F238E27FC236}">
                  <a16:creationId xmlns:a16="http://schemas.microsoft.com/office/drawing/2014/main" id="{6DD41C9E-2F65-4B02-A9CA-1979CEF1B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7" name="Graphique 16" descr="Flèche : pivoter à droite avec un remplissage uni">
              <a:extLst>
                <a:ext uri="{FF2B5EF4-FFF2-40B4-BE49-F238E27FC236}">
                  <a16:creationId xmlns:a16="http://schemas.microsoft.com/office/drawing/2014/main" id="{ACF341E1-2D5C-4125-961B-EE9E5AD41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9" name="Graphique 18" descr="Flèche : pivoter à gauche avec un remplissage uni">
              <a:extLst>
                <a:ext uri="{FF2B5EF4-FFF2-40B4-BE49-F238E27FC236}">
                  <a16:creationId xmlns:a16="http://schemas.microsoft.com/office/drawing/2014/main" id="{8949B334-B6D4-4BAA-8029-62ED5282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89E1CFE9-0C68-4030-9697-FC9F26752953}"/>
              </a:ext>
            </a:extLst>
          </p:cNvPr>
          <p:cNvGrpSpPr/>
          <p:nvPr/>
        </p:nvGrpSpPr>
        <p:grpSpPr>
          <a:xfrm>
            <a:off x="1526961" y="2500411"/>
            <a:ext cx="2174635" cy="1179576"/>
            <a:chOff x="1488206" y="2367601"/>
            <a:chExt cx="2419480" cy="1312386"/>
          </a:xfrm>
        </p:grpSpPr>
        <p:pic>
          <p:nvPicPr>
            <p:cNvPr id="21" name="Graphique 20" descr="Héros avec un remplissage uni">
              <a:extLst>
                <a:ext uri="{FF2B5EF4-FFF2-40B4-BE49-F238E27FC236}">
                  <a16:creationId xmlns:a16="http://schemas.microsoft.com/office/drawing/2014/main" id="{B64AB868-7A08-42CA-94AE-D9D7C386C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22" name="Flèche : gauche 21">
              <a:extLst>
                <a:ext uri="{FF2B5EF4-FFF2-40B4-BE49-F238E27FC236}">
                  <a16:creationId xmlns:a16="http://schemas.microsoft.com/office/drawing/2014/main" id="{8A16C35B-03EC-48A5-86C6-2E21485EED65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45F26408-002F-426D-A2E6-5ADB2AD7A51F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4" name="Graphique 23" descr="Lien avec un remplissage uni">
                <a:extLst>
                  <a:ext uri="{FF2B5EF4-FFF2-40B4-BE49-F238E27FC236}">
                    <a16:creationId xmlns:a16="http://schemas.microsoft.com/office/drawing/2014/main" id="{26A786AE-5927-46A9-A188-C1E7221F1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5" name="Graphique 24" descr="Lien avec un remplissage uni">
                <a:extLst>
                  <a:ext uri="{FF2B5EF4-FFF2-40B4-BE49-F238E27FC236}">
                    <a16:creationId xmlns:a16="http://schemas.microsoft.com/office/drawing/2014/main" id="{5DC58A9B-1ED3-4B6D-88B6-B605FDCF3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27" name="Flèche : gauche 26">
              <a:extLst>
                <a:ext uri="{FF2B5EF4-FFF2-40B4-BE49-F238E27FC236}">
                  <a16:creationId xmlns:a16="http://schemas.microsoft.com/office/drawing/2014/main" id="{6DEC824B-A230-4941-91CD-073DB3669554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0120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048838"/>
              </p:ext>
            </p:extLst>
          </p:nvPr>
        </p:nvGraphicFramePr>
        <p:xfrm>
          <a:off x="298695" y="1954760"/>
          <a:ext cx="11563171" cy="490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36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213503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878678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1958241">
                  <a:extLst>
                    <a:ext uri="{9D8B030D-6E8A-4147-A177-3AD203B41FA5}">
                      <a16:colId xmlns:a16="http://schemas.microsoft.com/office/drawing/2014/main" val="3735039647"/>
                    </a:ext>
                  </a:extLst>
                </a:gridCol>
                <a:gridCol w="2070199">
                  <a:extLst>
                    <a:ext uri="{9D8B030D-6E8A-4147-A177-3AD203B41FA5}">
                      <a16:colId xmlns:a16="http://schemas.microsoft.com/office/drawing/2014/main" val="3424852896"/>
                    </a:ext>
                  </a:extLst>
                </a:gridCol>
                <a:gridCol w="2279914">
                  <a:extLst>
                    <a:ext uri="{9D8B030D-6E8A-4147-A177-3AD203B41FA5}">
                      <a16:colId xmlns:a16="http://schemas.microsoft.com/office/drawing/2014/main" val="2746336243"/>
                    </a:ext>
                  </a:extLst>
                </a:gridCol>
              </a:tblGrid>
              <a:tr h="3208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D1 Slowed-down by circumstances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Unskilled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am new to the current tasks on which I am engaged. That’s why I am slower and less active.”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noProof="0"/>
                        <a:t>Define a training program for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noProof="0"/>
                        <a:t>Recenter activities around strengths and profiles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Create a FAQ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an event to share about difficulties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Prepare a list of necessary skills for future members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Review objectives and lower expectations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35010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D1 Slowed-down by circumstances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Not feeling legitimate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do not feel legitimate enough to perform what is demanded to me. I need more time to develop my legitimacy”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a legitimacy path with small steps with checkpoints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Officialize legitimacy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two-person teams (advanced + novice)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Create event about the Legitimacy path with inputs from members who do not feel legitimate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Introduce to possible mentors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Create a mentorship program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Find someone else for the task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Review objectives and lower expectations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122271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D1 Slowed-down by circumstances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Down-scoped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“My current scope is less important than my previous scope, which is the main reason for slowing down”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Increase scope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a backlog of unassigned tasks and topics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to be a backup to another member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an activity by default in case of unplanned  availability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Measure the satisfaction level of new scope and let go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Review objectives and lower expectations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030970"/>
                  </a:ext>
                </a:extLst>
              </a:tr>
              <a:tr h="7869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D1 Slowed-down by circumstances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Scattered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“Community activities are great ! It is just too much for me to contribute in everything and I ended up doing less in each activity, even if I’m still in all topics”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Reduce scope and invite to focus on one activity at a time. Inform other members of reduced scope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an agenda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Associate focused members to the scattered member in order to set up a team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Measure the level of scatter and collectively decide of a maximum.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backups on scattered member scope (without struggling on scatter level)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Review objectives and lower expectations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476469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D1 Slowed-down by circumstances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Unknown (by oneself) cause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don’t really know why I am less engaged than I used to, but the fact is that I am.”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Inquiry about the reason why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Set up a ritual to measure motivation for all members</a:t>
                      </a:r>
                    </a:p>
                    <a:p>
                      <a:endParaRPr lang="en-US" sz="900" i="0" noProof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Review objectives and lower expectations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97622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A9AD894B-13E1-44FF-98B5-8C3402134EA1}"/>
              </a:ext>
            </a:extLst>
          </p:cNvPr>
          <p:cNvGrpSpPr/>
          <p:nvPr/>
        </p:nvGrpSpPr>
        <p:grpSpPr>
          <a:xfrm>
            <a:off x="9979388" y="0"/>
            <a:ext cx="1882478" cy="1936978"/>
            <a:chOff x="910888" y="1728216"/>
            <a:chExt cx="1882478" cy="1936978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7EF12AA7-6DF1-4B56-AB6F-C6D2EDAB218F}"/>
                </a:ext>
              </a:extLst>
            </p:cNvPr>
            <p:cNvSpPr/>
            <p:nvPr/>
          </p:nvSpPr>
          <p:spPr>
            <a:xfrm flipH="1">
              <a:off x="1115568" y="25734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Tortue avec un remplissage uni">
              <a:extLst>
                <a:ext uri="{FF2B5EF4-FFF2-40B4-BE49-F238E27FC236}">
                  <a16:creationId xmlns:a16="http://schemas.microsoft.com/office/drawing/2014/main" id="{D5F8D966-19B9-4848-BF87-C6A44C440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80508" y="1728216"/>
              <a:ext cx="914400" cy="914400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A0C99D56-C0C1-48E4-A8F8-A697391A8E9B}"/>
                </a:ext>
              </a:extLst>
            </p:cNvPr>
            <p:cNvSpPr txBox="1">
              <a:spLocks/>
            </p:cNvSpPr>
            <p:nvPr/>
          </p:nvSpPr>
          <p:spPr>
            <a:xfrm>
              <a:off x="910888" y="2797373"/>
              <a:ext cx="1677798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Slowdown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5C4A2446-FC13-4314-AC81-52D24CE9B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4983" y="1472808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30762BFF-01F7-4F2B-B22B-BBC651C40FF6}"/>
              </a:ext>
            </a:extLst>
          </p:cNvPr>
          <p:cNvGrpSpPr/>
          <p:nvPr/>
        </p:nvGrpSpPr>
        <p:grpSpPr>
          <a:xfrm>
            <a:off x="8155907" y="1431967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360ED552-F20C-4FC1-B38C-456F1765E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E734EFCA-2B4D-4995-90D5-581C2C692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AD7BFDBD-E184-486B-B581-2AF243894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707E11B9-A8AF-4E85-B640-A42AEE349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8EA8861-EF54-4E09-928D-645F6AB5C082}"/>
              </a:ext>
            </a:extLst>
          </p:cNvPr>
          <p:cNvGrpSpPr/>
          <p:nvPr/>
        </p:nvGrpSpPr>
        <p:grpSpPr>
          <a:xfrm>
            <a:off x="6257589" y="1483839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ADD7E1E5-4E53-43BA-9B9A-9B39C773E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39285227-40D1-4EC1-B18A-E1B995CCDFAE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0BB093ED-D661-47FE-9759-A0DFB8988C07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B521D9DF-01CF-40BD-8F43-9384602BE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527482D3-0A56-44F6-941F-787BC4ADB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EE1826B8-744C-43F4-9204-F6AA60B54A0F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9762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022417"/>
              </p:ext>
            </p:extLst>
          </p:nvPr>
        </p:nvGraphicFramePr>
        <p:xfrm>
          <a:off x="178059" y="2457495"/>
          <a:ext cx="11563171" cy="3895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36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213503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879932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1956987">
                  <a:extLst>
                    <a:ext uri="{9D8B030D-6E8A-4147-A177-3AD203B41FA5}">
                      <a16:colId xmlns:a16="http://schemas.microsoft.com/office/drawing/2014/main" val="3735039647"/>
                    </a:ext>
                  </a:extLst>
                </a:gridCol>
                <a:gridCol w="1931342">
                  <a:extLst>
                    <a:ext uri="{9D8B030D-6E8A-4147-A177-3AD203B41FA5}">
                      <a16:colId xmlns:a16="http://schemas.microsoft.com/office/drawing/2014/main" val="3424852896"/>
                    </a:ext>
                  </a:extLst>
                </a:gridCol>
                <a:gridCol w="2418771">
                  <a:extLst>
                    <a:ext uri="{9D8B030D-6E8A-4147-A177-3AD203B41FA5}">
                      <a16:colId xmlns:a16="http://schemas.microsoft.com/office/drawing/2014/main" val="2746336243"/>
                    </a:ext>
                  </a:extLst>
                </a:gridCol>
              </a:tblGrid>
              <a:tr h="672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Usual Level of deceleration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Deceleration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Description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  <a:p>
                      <a:endParaRPr lang="en-US" sz="11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D2 Slowed-down by own initiative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Focused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“I was doing too many different things in the Community. I still want to contribute and decided to refocus on less topics, and it takes times”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Reprioritize topics with member, clearing out most important from least important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Set up a global reprioritization session to align the whole Community on main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Open call to other members for unattended topics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3924"/>
                  </a:ext>
                </a:extLst>
              </a:tr>
              <a:tr h="645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D2 Slowed-down by own 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Resting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“I invested too much of my time and energy in the Community, and even if I like it, I need to slowdown and take some rest.”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Try to motivate and find out new motivators for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Propose to adjust scope of contribution to the most liked items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Set up a date for a member return review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Acknowledge publicly contribution of member, and officially thank for past contribution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Discuss with member on an estimation process and capacity clarifying process for the Community, so that “forced rest” may less happen.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/>
                        <a:t>Call other members for help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50" i="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i="0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549161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A9AD894B-13E1-44FF-98B5-8C3402134EA1}"/>
              </a:ext>
            </a:extLst>
          </p:cNvPr>
          <p:cNvGrpSpPr/>
          <p:nvPr/>
        </p:nvGrpSpPr>
        <p:grpSpPr>
          <a:xfrm>
            <a:off x="9979388" y="0"/>
            <a:ext cx="1882478" cy="1936978"/>
            <a:chOff x="910888" y="1728216"/>
            <a:chExt cx="1882478" cy="1936978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7EF12AA7-6DF1-4B56-AB6F-C6D2EDAB218F}"/>
                </a:ext>
              </a:extLst>
            </p:cNvPr>
            <p:cNvSpPr/>
            <p:nvPr/>
          </p:nvSpPr>
          <p:spPr>
            <a:xfrm flipH="1">
              <a:off x="1115568" y="25734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Tortue avec un remplissage uni">
              <a:extLst>
                <a:ext uri="{FF2B5EF4-FFF2-40B4-BE49-F238E27FC236}">
                  <a16:creationId xmlns:a16="http://schemas.microsoft.com/office/drawing/2014/main" id="{D5F8D966-19B9-4848-BF87-C6A44C440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80508" y="1728216"/>
              <a:ext cx="914400" cy="914400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A0C99D56-C0C1-48E4-A8F8-A697391A8E9B}"/>
                </a:ext>
              </a:extLst>
            </p:cNvPr>
            <p:cNvSpPr txBox="1">
              <a:spLocks/>
            </p:cNvSpPr>
            <p:nvPr/>
          </p:nvSpPr>
          <p:spPr>
            <a:xfrm>
              <a:off x="910888" y="2797373"/>
              <a:ext cx="1677798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Slowdown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AB2E4B75-2445-47A6-BEE2-3F0D989C0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3394" y="1985657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EA823F61-E5C9-4AE6-8764-3E4D0FA8BA45}"/>
              </a:ext>
            </a:extLst>
          </p:cNvPr>
          <p:cNvGrpSpPr/>
          <p:nvPr/>
        </p:nvGrpSpPr>
        <p:grpSpPr>
          <a:xfrm>
            <a:off x="7994318" y="1944816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A44DDECA-1B73-4F7F-951C-8E099F5ED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486A276B-25EF-419F-83FF-EE350B952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5734E310-833D-47AB-8DEC-699ECCFBE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02321463-2F14-4ADB-8206-8970C6E8B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C0F6D2C-E5FB-469B-B41E-9E34CC4524ED}"/>
              </a:ext>
            </a:extLst>
          </p:cNvPr>
          <p:cNvGrpSpPr/>
          <p:nvPr/>
        </p:nvGrpSpPr>
        <p:grpSpPr>
          <a:xfrm>
            <a:off x="6096000" y="1996688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AF3E09EF-292C-4790-A584-C1E189531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865A1716-940A-421E-8C01-FB78B35BB5C6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1D52E73E-C0E2-4F86-9F94-095440EC8DF6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B42FFEAB-B1CE-460E-BF04-877A3BD43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23DFAA5F-12D8-460C-BC87-2858229A6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4B9B2D32-E5F6-4644-A678-902EABCAA095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064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Decelerated members management</a:t>
            </a:r>
            <a:br>
              <a:rPr lang="en-US"/>
            </a:br>
            <a:endParaRPr lang="en-US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541436"/>
              </p:ext>
            </p:extLst>
          </p:nvPr>
        </p:nvGraphicFramePr>
        <p:xfrm>
          <a:off x="170746" y="2538416"/>
          <a:ext cx="11677473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851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136590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572284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264636">
                  <a:extLst>
                    <a:ext uri="{9D8B030D-6E8A-4147-A177-3AD203B41FA5}">
                      <a16:colId xmlns:a16="http://schemas.microsoft.com/office/drawing/2014/main" val="1778232355"/>
                    </a:ext>
                  </a:extLst>
                </a:gridCol>
                <a:gridCol w="2127454">
                  <a:extLst>
                    <a:ext uri="{9D8B030D-6E8A-4147-A177-3AD203B41FA5}">
                      <a16:colId xmlns:a16="http://schemas.microsoft.com/office/drawing/2014/main" val="1964901737"/>
                    </a:ext>
                  </a:extLst>
                </a:gridCol>
                <a:gridCol w="2319658">
                  <a:extLst>
                    <a:ext uri="{9D8B030D-6E8A-4147-A177-3AD203B41FA5}">
                      <a16:colId xmlns:a16="http://schemas.microsoft.com/office/drawing/2014/main" val="2768230964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Empty-handed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want to contribute to the Community as I did before. I just don’t know what to do right here right now.”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Show Community Roadmap / priorities and propose a topic to handle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Identify what potential contributions can reuse the skill and experience.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Identify what potential contributions can be different to what he did before (a new experience)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to other members to contact the empty-handed member, show them his availability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Use the opportunity to set up a collective backlog of unassigned tasks and topics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Review together the possible tasks and if there is no match, thank publicly the person for the past contribution</a:t>
                      </a:r>
                      <a:endParaRPr lang="en-US" sz="900" i="0" noProof="0"/>
                    </a:p>
                  </a:txBody>
                  <a:tcPr>
                    <a:solidFill>
                      <a:srgbClr val="EC7B2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Review together the possible tasks and if there is no match, thank the person for the contribution.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Mark the person as available for the future and set up a meeting for later.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Reassign scope to other members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noProof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401922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Lost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have lost my marks in the Community (people, habits, activities, …). It’s hard to follow or find opportunities to contribute now so I can’t do anything”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Update the member yourself with last news and topics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to the Community the set up of a news system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an event for the Community of news sync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Introduce the lost member to a buddy who didn’t lose his marks. Buddy can provide a news wrap-up and motivation</a:t>
                      </a:r>
                    </a:p>
                  </a:txBody>
                  <a:tcPr>
                    <a:solidFill>
                      <a:srgbClr val="EC7B2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Reassign scope to other members </a:t>
                      </a:r>
                    </a:p>
                    <a:p>
                      <a:endParaRPr lang="en-US" sz="900" i="0" noProof="0"/>
                    </a:p>
                  </a:txBody>
                  <a:tcPr>
                    <a:solidFill>
                      <a:schemeClr val="bg1">
                        <a:lumMod val="50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11393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DA472EB5-56BC-4FAC-81E5-4A45395BAC22}"/>
              </a:ext>
            </a:extLst>
          </p:cNvPr>
          <p:cNvGrpSpPr/>
          <p:nvPr/>
        </p:nvGrpSpPr>
        <p:grpSpPr>
          <a:xfrm>
            <a:off x="10170421" y="241527"/>
            <a:ext cx="1677798" cy="1793801"/>
            <a:chOff x="3084099" y="2758616"/>
            <a:chExt cx="1677798" cy="179380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391D4A10-0BCD-4B0B-B8E5-7C9682020B3D}"/>
                </a:ext>
              </a:extLst>
            </p:cNvPr>
            <p:cNvSpPr/>
            <p:nvPr/>
          </p:nvSpPr>
          <p:spPr>
            <a:xfrm flipH="1">
              <a:off x="3084099" y="3522941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Stop avec un remplissage uni">
              <a:extLst>
                <a:ext uri="{FF2B5EF4-FFF2-40B4-BE49-F238E27FC236}">
                  <a16:creationId xmlns:a16="http://schemas.microsoft.com/office/drawing/2014/main" id="{FE304AE4-BE56-4474-8D3C-A12264CB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6494" y="2758616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6948FE52-5239-4E3F-B5F3-B21B4464F992}"/>
                </a:ext>
              </a:extLst>
            </p:cNvPr>
            <p:cNvSpPr txBox="1">
              <a:spLocks/>
            </p:cNvSpPr>
            <p:nvPr/>
          </p:nvSpPr>
          <p:spPr>
            <a:xfrm>
              <a:off x="3405565" y="3741490"/>
              <a:ext cx="1121198" cy="810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Stop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A511ECF3-8B24-4616-AEFB-34F0662F3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7846" y="2094136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4F5EDEAA-815F-4AA0-9E4E-0013C8E3206F}"/>
              </a:ext>
            </a:extLst>
          </p:cNvPr>
          <p:cNvGrpSpPr/>
          <p:nvPr/>
        </p:nvGrpSpPr>
        <p:grpSpPr>
          <a:xfrm>
            <a:off x="7968770" y="2053295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FCA7494D-64A6-4052-A99B-9059DA728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2495317D-4336-4586-9B6B-B7715B0B6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258B5B99-DD58-454A-AFCE-76B3E5F79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05348047-5E42-4DE2-A585-797CDD644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9D4E66C-5A76-4514-A953-B8E17446F3BC}"/>
              </a:ext>
            </a:extLst>
          </p:cNvPr>
          <p:cNvGrpSpPr/>
          <p:nvPr/>
        </p:nvGrpSpPr>
        <p:grpSpPr>
          <a:xfrm>
            <a:off x="6070452" y="2105167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BEE2BCD8-B354-434B-AADA-84A53F0FE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16477D70-F735-4AC7-8D37-1890784C8B43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02EA1939-827B-427B-83DB-C7A63C557DB6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E3AE29C9-7335-449A-82C3-FC8094E25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33F56A9C-4768-4AB5-8D44-9C2FBC6D8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3A62CE2F-6CF1-40E0-A946-9A19432BCC5C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16854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Decelerated members management</a:t>
            </a:r>
            <a:br>
              <a:rPr lang="en-US"/>
            </a:br>
            <a:endParaRPr lang="en-US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767113"/>
              </p:ext>
            </p:extLst>
          </p:nvPr>
        </p:nvGraphicFramePr>
        <p:xfrm>
          <a:off x="170746" y="2362988"/>
          <a:ext cx="11677473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851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136590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572284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264636">
                  <a:extLst>
                    <a:ext uri="{9D8B030D-6E8A-4147-A177-3AD203B41FA5}">
                      <a16:colId xmlns:a16="http://schemas.microsoft.com/office/drawing/2014/main" val="1778232355"/>
                    </a:ext>
                  </a:extLst>
                </a:gridCol>
                <a:gridCol w="2127454">
                  <a:extLst>
                    <a:ext uri="{9D8B030D-6E8A-4147-A177-3AD203B41FA5}">
                      <a16:colId xmlns:a16="http://schemas.microsoft.com/office/drawing/2014/main" val="1964901737"/>
                    </a:ext>
                  </a:extLst>
                </a:gridCol>
                <a:gridCol w="2319658">
                  <a:extLst>
                    <a:ext uri="{9D8B030D-6E8A-4147-A177-3AD203B41FA5}">
                      <a16:colId xmlns:a16="http://schemas.microsoft.com/office/drawing/2014/main" val="2768230964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Distracted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like Community activities and goals. I’m just currently busy with other interesting topics right now”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Pitch the Community and its value in competition with the other activities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Help the member self-organize to keep both Community activities and the other interesting topics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Adjust (reduce) member Community activities (scope) to a sustainable contribution for the member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Propose to integrate the other activities as a new stream in the Community (starting with an experience feedback, …)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Set up the member as an official point of contact for other members on these other interesting topics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Create or grow the Community Alumni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Clarify rules of membership and Create or grow the Community “friends” contact list</a:t>
                      </a:r>
                    </a:p>
                  </a:txBody>
                  <a:tcPr>
                    <a:solidFill>
                      <a:srgbClr val="EC7B2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Reassign scope to other members </a:t>
                      </a:r>
                    </a:p>
                  </a:txBody>
                  <a:tcPr>
                    <a:solidFill>
                      <a:schemeClr val="bg1">
                        <a:lumMod val="50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596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Confused after self-recentering (introspection)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was in the Community and now I do not really understand why I am still here, what the Community brings to me, the value of the Community for me.”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1">
                          <a:solidFill>
                            <a:schemeClr val="tx1"/>
                          </a:solidFill>
                        </a:rPr>
                        <a:t>Ask the member about his/her new personal interests and goals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1">
                          <a:solidFill>
                            <a:schemeClr val="tx1"/>
                          </a:solidFill>
                        </a:rPr>
                        <a:t>If the member is more “thinking driven”, help the member project him/herself in the Community (What future person will he/she be ?)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1">
                          <a:solidFill>
                            <a:schemeClr val="tx1"/>
                          </a:solidFill>
                        </a:rPr>
                        <a:t>Propose a new role that matches current personal goals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1">
                          <a:solidFill>
                            <a:schemeClr val="tx1"/>
                          </a:solidFill>
                        </a:rPr>
                        <a:t>If the member is more “action driven”, propose one very small valuable action to perform soon to “start again”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Ask the member to provide his/her freshly “external” viewpoint (with hindsight) on the Community activities.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Organize a meeting between the member with people responsible for the progression paths inside the Community</a:t>
                      </a:r>
                    </a:p>
                  </a:txBody>
                  <a:tcPr>
                    <a:solidFill>
                      <a:srgbClr val="EC7B2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(Optional : Share member feedback with others) and assess if any other members are currently in the same state.</a:t>
                      </a:r>
                    </a:p>
                  </a:txBody>
                  <a:tcPr>
                    <a:solidFill>
                      <a:schemeClr val="bg1">
                        <a:lumMod val="50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07384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DA472EB5-56BC-4FAC-81E5-4A45395BAC22}"/>
              </a:ext>
            </a:extLst>
          </p:cNvPr>
          <p:cNvGrpSpPr/>
          <p:nvPr/>
        </p:nvGrpSpPr>
        <p:grpSpPr>
          <a:xfrm>
            <a:off x="10170421" y="241527"/>
            <a:ext cx="1677798" cy="1793801"/>
            <a:chOff x="3084099" y="2758616"/>
            <a:chExt cx="1677798" cy="179380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391D4A10-0BCD-4B0B-B8E5-7C9682020B3D}"/>
                </a:ext>
              </a:extLst>
            </p:cNvPr>
            <p:cNvSpPr/>
            <p:nvPr/>
          </p:nvSpPr>
          <p:spPr>
            <a:xfrm flipH="1">
              <a:off x="3084099" y="3522941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Stop avec un remplissage uni">
              <a:extLst>
                <a:ext uri="{FF2B5EF4-FFF2-40B4-BE49-F238E27FC236}">
                  <a16:creationId xmlns:a16="http://schemas.microsoft.com/office/drawing/2014/main" id="{FE304AE4-BE56-4474-8D3C-A12264CB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6494" y="2758616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6948FE52-5239-4E3F-B5F3-B21B4464F992}"/>
                </a:ext>
              </a:extLst>
            </p:cNvPr>
            <p:cNvSpPr txBox="1">
              <a:spLocks/>
            </p:cNvSpPr>
            <p:nvPr/>
          </p:nvSpPr>
          <p:spPr>
            <a:xfrm>
              <a:off x="3405565" y="3741490"/>
              <a:ext cx="1121198" cy="810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Stop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A511ECF3-8B24-4616-AEFB-34F0662F3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3394" y="1874938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4F5EDEAA-815F-4AA0-9E4E-0013C8E3206F}"/>
              </a:ext>
            </a:extLst>
          </p:cNvPr>
          <p:cNvGrpSpPr/>
          <p:nvPr/>
        </p:nvGrpSpPr>
        <p:grpSpPr>
          <a:xfrm>
            <a:off x="7994318" y="1834097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FCA7494D-64A6-4052-A99B-9059DA728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2495317D-4336-4586-9B6B-B7715B0B6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258B5B99-DD58-454A-AFCE-76B3E5F79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05348047-5E42-4DE2-A585-797CDD644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9D4E66C-5A76-4514-A953-B8E17446F3BC}"/>
              </a:ext>
            </a:extLst>
          </p:cNvPr>
          <p:cNvGrpSpPr/>
          <p:nvPr/>
        </p:nvGrpSpPr>
        <p:grpSpPr>
          <a:xfrm>
            <a:off x="6096000" y="1885969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BEE2BCD8-B354-434B-AADA-84A53F0FE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16477D70-F735-4AC7-8D37-1890784C8B43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02EA1939-827B-427B-83DB-C7A63C557DB6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E3AE29C9-7335-449A-82C3-FC8094E25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33F56A9C-4768-4AB5-8D44-9C2FBC6D8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3A62CE2F-6CF1-40E0-A946-9A19432BCC5C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09117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489128"/>
              </p:ext>
            </p:extLst>
          </p:nvPr>
        </p:nvGraphicFramePr>
        <p:xfrm>
          <a:off x="170746" y="2766205"/>
          <a:ext cx="116774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851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136590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572284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264636">
                  <a:extLst>
                    <a:ext uri="{9D8B030D-6E8A-4147-A177-3AD203B41FA5}">
                      <a16:colId xmlns:a16="http://schemas.microsoft.com/office/drawing/2014/main" val="1778232355"/>
                    </a:ext>
                  </a:extLst>
                </a:gridCol>
                <a:gridCol w="2127454">
                  <a:extLst>
                    <a:ext uri="{9D8B030D-6E8A-4147-A177-3AD203B41FA5}">
                      <a16:colId xmlns:a16="http://schemas.microsoft.com/office/drawing/2014/main" val="1964901737"/>
                    </a:ext>
                  </a:extLst>
                </a:gridCol>
                <a:gridCol w="2319658">
                  <a:extLst>
                    <a:ext uri="{9D8B030D-6E8A-4147-A177-3AD203B41FA5}">
                      <a16:colId xmlns:a16="http://schemas.microsoft.com/office/drawing/2014/main" val="2768230964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Numbed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share Community values and goals, but now the activities are neither stimulating nor interesting in comparison with before.”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Ask the member what was stimulating before and not anymore now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Find a new way to stimulate member – Reintroduce novelty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Make novelty a habit to prevent numbing effect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Involve members to co-design new formats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900" i="0" noProof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Remove events and activities that are not stimulating anymore for most members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Shorten the Community paths to reduce the number of experienced events below numbing threshold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noProof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83785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D3 Stopped by circumstances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Forgetful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don’t really know if I really am or have been a member, or felt I was one then. Therefore, I do not contribute now”</a:t>
                      </a:r>
                    </a:p>
                  </a:txBody>
                  <a:tcPr>
                    <a:solidFill>
                      <a:srgbClr val="FF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Motivate the “member” about the Community and acknowledge how important his/her contribution was and could still be.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Clarify basic expectations and roles of a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Ask the person if he/she would like to be a member and officialize membership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Redefine the Community identity around remaining members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Clarify onboarding process with members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Clarify membership officializing process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Apologize for the confusion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Check the other “members” if they really feel members 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267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DA472EB5-56BC-4FAC-81E5-4A45395BAC22}"/>
              </a:ext>
            </a:extLst>
          </p:cNvPr>
          <p:cNvGrpSpPr/>
          <p:nvPr/>
        </p:nvGrpSpPr>
        <p:grpSpPr>
          <a:xfrm>
            <a:off x="10170421" y="241527"/>
            <a:ext cx="1677798" cy="1793801"/>
            <a:chOff x="3084099" y="2758616"/>
            <a:chExt cx="1677798" cy="179380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391D4A10-0BCD-4B0B-B8E5-7C9682020B3D}"/>
                </a:ext>
              </a:extLst>
            </p:cNvPr>
            <p:cNvSpPr/>
            <p:nvPr/>
          </p:nvSpPr>
          <p:spPr>
            <a:xfrm flipH="1">
              <a:off x="3084099" y="3522941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Stop avec un remplissage uni">
              <a:extLst>
                <a:ext uri="{FF2B5EF4-FFF2-40B4-BE49-F238E27FC236}">
                  <a16:creationId xmlns:a16="http://schemas.microsoft.com/office/drawing/2014/main" id="{FE304AE4-BE56-4474-8D3C-A12264CB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6494" y="2758616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6948FE52-5239-4E3F-B5F3-B21B4464F992}"/>
                </a:ext>
              </a:extLst>
            </p:cNvPr>
            <p:cNvSpPr txBox="1">
              <a:spLocks/>
            </p:cNvSpPr>
            <p:nvPr/>
          </p:nvSpPr>
          <p:spPr>
            <a:xfrm>
              <a:off x="3405565" y="3741490"/>
              <a:ext cx="1121198" cy="810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Stop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3EE6367D-79A8-4A9C-B861-4E6271F41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3394" y="2185428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9ADEDD7B-8CC9-457B-BBAE-7EE84CEB9371}"/>
              </a:ext>
            </a:extLst>
          </p:cNvPr>
          <p:cNvGrpSpPr/>
          <p:nvPr/>
        </p:nvGrpSpPr>
        <p:grpSpPr>
          <a:xfrm>
            <a:off x="7994318" y="2144587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E0E5A64D-7EB1-454B-BD9C-BEF2F3AD8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4FC3C213-556B-471D-BF01-EFE6A3FB6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70F0C34A-4A34-4C09-8291-1FD06FD22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F175091F-E3A7-4ECA-9001-9E61ACF4A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5BCFA9F-DC80-492A-A27D-808CBB830D54}"/>
              </a:ext>
            </a:extLst>
          </p:cNvPr>
          <p:cNvGrpSpPr/>
          <p:nvPr/>
        </p:nvGrpSpPr>
        <p:grpSpPr>
          <a:xfrm>
            <a:off x="6096000" y="2196459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61CD9034-7D24-4DE2-921A-D80FBCF6F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738AC6FD-E3A0-4B0A-A027-2E4D56AB3488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D9158BBB-5B23-460B-A541-80BBC6FCE73E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D645C7C0-CBBA-4ED2-A9A3-53E61660D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24D46A13-76BC-4232-B23C-17ABBA39E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A2FDDCC6-EDE6-4461-9BD1-797BD0E590EE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05440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850098"/>
              </p:ext>
            </p:extLst>
          </p:nvPr>
        </p:nvGraphicFramePr>
        <p:xfrm>
          <a:off x="170746" y="2103120"/>
          <a:ext cx="11677473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851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136590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2572284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264636">
                  <a:extLst>
                    <a:ext uri="{9D8B030D-6E8A-4147-A177-3AD203B41FA5}">
                      <a16:colId xmlns:a16="http://schemas.microsoft.com/office/drawing/2014/main" val="1778232355"/>
                    </a:ext>
                  </a:extLst>
                </a:gridCol>
                <a:gridCol w="2127454">
                  <a:extLst>
                    <a:ext uri="{9D8B030D-6E8A-4147-A177-3AD203B41FA5}">
                      <a16:colId xmlns:a16="http://schemas.microsoft.com/office/drawing/2014/main" val="1964901737"/>
                    </a:ext>
                  </a:extLst>
                </a:gridCol>
                <a:gridCol w="2319658">
                  <a:extLst>
                    <a:ext uri="{9D8B030D-6E8A-4147-A177-3AD203B41FA5}">
                      <a16:colId xmlns:a16="http://schemas.microsoft.com/office/drawing/2014/main" val="2768230964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  <a:p>
                      <a:endParaRPr lang="en-US" sz="120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  <a:p>
                      <a:endParaRPr lang="en-US" sz="1200" noProof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14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D4 Stopped by own initiative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Pausing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am currently in a pause, but I will contribute in the future. I will come back when I feel better”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Propose a very small action (that is relatively smaller than member previous contributions) to do and keep being in the Community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Discuss the reasons of the pause and if the pause matches another case, act accordingly (see W11)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Organize a last meeting with other members to redistrute functions and create smaller role scopes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Organize a meeting with other members to define a reboarding process (onboarding of non-first-timers)</a:t>
                      </a:r>
                    </a:p>
                    <a:p>
                      <a:endParaRPr lang="en-US" sz="900" i="1" noProof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Officialize pause and wish member a good rest while keeping the door open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Discuss the conditions of the pause (duration, …)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Restructure Community activities with assumption of permanent or longer stop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Ask who among other members need a pause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Adjust contribution engagement to declared engagement level (See W3)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18664"/>
                  </a:ext>
                </a:extLst>
              </a:tr>
              <a:tr h="14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D4 Stopped by own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Veteran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contributed to this great Community a long time ago, and now I think it is the turn for others”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Show that past contributions can still have value and show there is no replacement yet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/>
                        <a:t>Let the Veteran be a godfather/mother of a current advanced member (not a new)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noProof="0">
                          <a:solidFill>
                            <a:schemeClr val="tx1"/>
                          </a:solidFill>
                        </a:rPr>
                        <a:t>Organize a meeting to share veteran’s experience</a:t>
                      </a:r>
                      <a:endParaRPr lang="en-US" sz="900" noProof="1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Create a Hall of Fame or ceremony to integrate members in a Hall of fame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Create or grow the Community Alumni community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Propose a new totally different scope to the veteran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Officially thank the veteran and drop a goodbye party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0" noProof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853769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D4 Stopped by own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0"/>
                        <a:t>Nostalgic / Stuck in the past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noProof="0"/>
                        <a:t>“I liked what the Community used to be, now I can’t find myself in it and decided to stop.”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Ask the member what he/she was considered worthy at the time, and imagine a new activity that includes these elements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i="0" noProof="0"/>
                        <a:t>Ask the member to contribute in recording the Community history and its best moments (storytelling of the past…)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noProof="1">
                          <a:solidFill>
                            <a:schemeClr val="tx1"/>
                          </a:solidFill>
                        </a:rPr>
                        <a:t>Organize a farewell party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i="1" noProof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12718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DA472EB5-56BC-4FAC-81E5-4A45395BAC22}"/>
              </a:ext>
            </a:extLst>
          </p:cNvPr>
          <p:cNvGrpSpPr/>
          <p:nvPr/>
        </p:nvGrpSpPr>
        <p:grpSpPr>
          <a:xfrm>
            <a:off x="10170421" y="241527"/>
            <a:ext cx="1677798" cy="1793801"/>
            <a:chOff x="3084099" y="2758616"/>
            <a:chExt cx="1677798" cy="179380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391D4A10-0BCD-4B0B-B8E5-7C9682020B3D}"/>
                </a:ext>
              </a:extLst>
            </p:cNvPr>
            <p:cNvSpPr/>
            <p:nvPr/>
          </p:nvSpPr>
          <p:spPr>
            <a:xfrm flipH="1">
              <a:off x="3084099" y="3522941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Stop avec un remplissage uni">
              <a:extLst>
                <a:ext uri="{FF2B5EF4-FFF2-40B4-BE49-F238E27FC236}">
                  <a16:creationId xmlns:a16="http://schemas.microsoft.com/office/drawing/2014/main" id="{FE304AE4-BE56-4474-8D3C-A12264CB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6494" y="2758616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6948FE52-5239-4E3F-B5F3-B21B4464F992}"/>
                </a:ext>
              </a:extLst>
            </p:cNvPr>
            <p:cNvSpPr txBox="1">
              <a:spLocks/>
            </p:cNvSpPr>
            <p:nvPr/>
          </p:nvSpPr>
          <p:spPr>
            <a:xfrm>
              <a:off x="3405565" y="3741490"/>
              <a:ext cx="1121198" cy="810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Stop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BC17BA52-6E11-4E78-B5C4-83F27011D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3293" y="1615070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3D9502EC-C4AB-4C3C-B9DE-D69BA331C4B4}"/>
              </a:ext>
            </a:extLst>
          </p:cNvPr>
          <p:cNvGrpSpPr/>
          <p:nvPr/>
        </p:nvGrpSpPr>
        <p:grpSpPr>
          <a:xfrm>
            <a:off x="8074217" y="1574229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B058FBF5-429E-4D75-88AA-3893BF7D8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918F2306-AAB1-4CFF-A521-1AEAEE545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6B44C5DE-BDA2-4767-B5E0-35F48FC48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63122E22-8952-44BB-8FBC-7387A3935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CC3D9D5-AEE0-4190-823A-073FF5547B3B}"/>
              </a:ext>
            </a:extLst>
          </p:cNvPr>
          <p:cNvGrpSpPr/>
          <p:nvPr/>
        </p:nvGrpSpPr>
        <p:grpSpPr>
          <a:xfrm>
            <a:off x="5604206" y="1640313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EE80202A-3364-4844-9F9A-46E128600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D3C0C605-1CFC-4268-80B1-1829D0CA0F4C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7D8D447C-5B30-4DA5-BF0F-D1A51B2D59B4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32FFE2B1-AE00-43AE-ADD0-85F7B3592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89C8F296-1DCE-4E24-89F3-3AE3605A4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35CFF7F3-06F1-403A-BA66-75335789D117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4476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214269"/>
              </p:ext>
            </p:extLst>
          </p:nvPr>
        </p:nvGraphicFramePr>
        <p:xfrm>
          <a:off x="143719" y="2353959"/>
          <a:ext cx="11677475" cy="429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464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204349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168750">
                  <a:extLst>
                    <a:ext uri="{9D8B030D-6E8A-4147-A177-3AD203B41FA5}">
                      <a16:colId xmlns:a16="http://schemas.microsoft.com/office/drawing/2014/main" val="4064031277"/>
                    </a:ext>
                  </a:extLst>
                </a:gridCol>
                <a:gridCol w="2469759">
                  <a:extLst>
                    <a:ext uri="{9D8B030D-6E8A-4147-A177-3AD203B41FA5}">
                      <a16:colId xmlns:a16="http://schemas.microsoft.com/office/drawing/2014/main" val="648907797"/>
                    </a:ext>
                  </a:extLst>
                </a:gridCol>
                <a:gridCol w="2711353">
                  <a:extLst>
                    <a:ext uri="{9D8B030D-6E8A-4147-A177-3AD203B41FA5}">
                      <a16:colId xmlns:a16="http://schemas.microsoft.com/office/drawing/2014/main" val="24466213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302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D5 Away by circumstances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noProof="0"/>
                        <a:t>Spot incompatibility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noProof="0"/>
                        <a:t>In avoidance state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“I globally like the Community, am aligned with its goals, and enjoy its activities. There is one thing / one person that pushed me away from it, and that is …”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Identify the incompatibility point. If it is a person, try to manage the conflict. If it is something else, propose an activity where the incompatibility point does not happen.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If the incompatibility point is a specific person, who did not know his/her effect on the member : propose to discuss with the person to find improvement possibilities.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i="0" noProof="0"/>
                        <a:t>If the identified incompatibility cannot be changed, use it entrance filtering process to avoid future identical issues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i="1" noProof="0"/>
                    </a:p>
                  </a:txBody>
                  <a:tcPr>
                    <a:solidFill>
                      <a:schemeClr val="bg1">
                        <a:lumMod val="8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276713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D5 Away by circumstances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Active Hurt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“The Community did me wrong,  I would be ready to come back only if …”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Enter the negotiation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Enrich the moral charter of the Community with a new point a new use case.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Apologize and thank the member for its past contributions.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Ask remaining members if the identified problem applies to them. 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60326"/>
                  </a:ext>
                </a:extLst>
              </a:tr>
              <a:tr h="217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D5 Away by circumstances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noProof="0"/>
                        <a:t>Misaligned 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“I respect the Community goals, but my own goals are different now”</a:t>
                      </a:r>
                    </a:p>
                  </a:txBody>
                  <a:tcP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Pitch the Community and its value in competition with the other activities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Propose to integrate the other activities as a new stream in the Community (starting with an experience feedback, …)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Set up the member as an official point of contact for other members on these other interesting topics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noProof="1">
                          <a:solidFill>
                            <a:schemeClr val="tx1"/>
                          </a:solidFill>
                        </a:rPr>
                        <a:t>Create or grow the Community “friends” contact list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noProof="1">
                          <a:solidFill>
                            <a:schemeClr val="tx1"/>
                          </a:solidFill>
                        </a:rPr>
                        <a:t>Reclarify a workshop about current members goals and adjust Community accordingly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Reassign scope to other members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i="0" noProof="0"/>
                        <a:t>Express to member that the door is still open if goals change again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66549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161E6F30-6669-48CA-A975-D07CEAD6C9BF}"/>
              </a:ext>
            </a:extLst>
          </p:cNvPr>
          <p:cNvGrpSpPr/>
          <p:nvPr/>
        </p:nvGrpSpPr>
        <p:grpSpPr>
          <a:xfrm>
            <a:off x="10143396" y="189317"/>
            <a:ext cx="1677798" cy="1898221"/>
            <a:chOff x="5077555" y="3522017"/>
            <a:chExt cx="1677798" cy="189822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9A38A74B-5E82-49AA-8EE1-C2D1E4C748BD}"/>
                </a:ext>
              </a:extLst>
            </p:cNvPr>
            <p:cNvSpPr/>
            <p:nvPr/>
          </p:nvSpPr>
          <p:spPr>
            <a:xfrm flipH="1">
              <a:off x="5077555" y="43522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Flugzeug avec un remplissage uni">
              <a:extLst>
                <a:ext uri="{FF2B5EF4-FFF2-40B4-BE49-F238E27FC236}">
                  <a16:creationId xmlns:a16="http://schemas.microsoft.com/office/drawing/2014/main" id="{5844F928-06CB-48C2-9EA2-2611DDA2F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1481" y="3522017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51CF22D3-329F-4779-AA98-64BA21FCF928}"/>
                </a:ext>
              </a:extLst>
            </p:cNvPr>
            <p:cNvSpPr txBox="1">
              <a:spLocks/>
            </p:cNvSpPr>
            <p:nvPr/>
          </p:nvSpPr>
          <p:spPr>
            <a:xfrm>
              <a:off x="5464476" y="4552417"/>
              <a:ext cx="1105305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Away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01E2F502-2D54-4117-B801-2F7FAB8BF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10229" y="1889965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AA56E3D8-4040-4851-8A72-F9B1DF8375BE}"/>
              </a:ext>
            </a:extLst>
          </p:cNvPr>
          <p:cNvGrpSpPr/>
          <p:nvPr/>
        </p:nvGrpSpPr>
        <p:grpSpPr>
          <a:xfrm>
            <a:off x="7861153" y="1849124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A5CE189C-3A97-4F8F-ADAB-4445F4CED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515ADA63-B865-4215-9CAF-E1D11B435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8C611BEE-C450-49CB-B863-3A5D110F6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D5235008-3A94-485B-9AF2-2BD8A8644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2ECB4DE-5FEF-4C0D-BBDD-12D62E2096E7}"/>
              </a:ext>
            </a:extLst>
          </p:cNvPr>
          <p:cNvGrpSpPr/>
          <p:nvPr/>
        </p:nvGrpSpPr>
        <p:grpSpPr>
          <a:xfrm>
            <a:off x="5391142" y="1915208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56A6D7BD-B529-429E-8A3D-EA7990921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78A57AEF-09EA-498F-86A7-80E1081F44B8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3B35CE7C-E3F1-49F1-A254-C332463AD82F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8837D900-3CD4-4B24-B0AC-FAF695CF3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30EB4686-423E-4BAF-B76C-AAF07E1E8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D5AEDC33-C1E6-44E9-AE92-32ECD3EEB73A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96266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5321710"/>
              </p:ext>
            </p:extLst>
          </p:nvPr>
        </p:nvGraphicFramePr>
        <p:xfrm>
          <a:off x="143719" y="2476086"/>
          <a:ext cx="11677475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852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159961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126021">
                  <a:extLst>
                    <a:ext uri="{9D8B030D-6E8A-4147-A177-3AD203B41FA5}">
                      <a16:colId xmlns:a16="http://schemas.microsoft.com/office/drawing/2014/main" val="4064031277"/>
                    </a:ext>
                  </a:extLst>
                </a:gridCol>
                <a:gridCol w="2512464">
                  <a:extLst>
                    <a:ext uri="{9D8B030D-6E8A-4147-A177-3AD203B41FA5}">
                      <a16:colId xmlns:a16="http://schemas.microsoft.com/office/drawing/2014/main" val="648907797"/>
                    </a:ext>
                  </a:extLst>
                </a:gridCol>
                <a:gridCol w="2711377">
                  <a:extLst>
                    <a:ext uri="{9D8B030D-6E8A-4147-A177-3AD203B41FA5}">
                      <a16:colId xmlns:a16="http://schemas.microsoft.com/office/drawing/2014/main" val="24466213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D6 Away by own 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Passive Hurt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“The Community did me wrong, I don’t want anything to do with it anymore”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i="1" noProof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Enrich the moral charter of the Community with a new point a new use case.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Apologize and thank the member for its past contributions.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Ask remaining members if the identified problem applies to them.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864688"/>
                  </a:ext>
                </a:extLst>
              </a:tr>
              <a:tr h="14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venir Next LT Pro"/>
                          <a:ea typeface="+mn-ea"/>
                          <a:cs typeface="+mn-cs"/>
                        </a:rPr>
                        <a:t>D6 Away by own 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venir Next LT Pro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Ghost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*cannot be joined*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Change communication channel and try to reach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If possible, ask ghost member relatives if everything is ok, if the person is fine, and express benevolence.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In your messages, express to the member that it is ok if he/she wants to leave, the Community just needs to know that he/she is well.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Ban the ghost member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i="0" noProof="0"/>
                        <a:t>Establish a mood tracking process or an activity tracking process to identify future possible ghosts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02742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161E6F30-6669-48CA-A975-D07CEAD6C9BF}"/>
              </a:ext>
            </a:extLst>
          </p:cNvPr>
          <p:cNvGrpSpPr/>
          <p:nvPr/>
        </p:nvGrpSpPr>
        <p:grpSpPr>
          <a:xfrm>
            <a:off x="10143396" y="189317"/>
            <a:ext cx="1677798" cy="1898221"/>
            <a:chOff x="5077555" y="3522017"/>
            <a:chExt cx="1677798" cy="1898221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9A38A74B-5E82-49AA-8EE1-C2D1E4C748BD}"/>
                </a:ext>
              </a:extLst>
            </p:cNvPr>
            <p:cNvSpPr/>
            <p:nvPr/>
          </p:nvSpPr>
          <p:spPr>
            <a:xfrm flipH="1">
              <a:off x="5077555" y="4352210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Flugzeug avec un remplissage uni">
              <a:extLst>
                <a:ext uri="{FF2B5EF4-FFF2-40B4-BE49-F238E27FC236}">
                  <a16:creationId xmlns:a16="http://schemas.microsoft.com/office/drawing/2014/main" id="{5844F928-06CB-48C2-9EA2-2611DDA2F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1481" y="3522017"/>
              <a:ext cx="763401" cy="763401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51CF22D3-329F-4779-AA98-64BA21FCF928}"/>
                </a:ext>
              </a:extLst>
            </p:cNvPr>
            <p:cNvSpPr txBox="1">
              <a:spLocks/>
            </p:cNvSpPr>
            <p:nvPr/>
          </p:nvSpPr>
          <p:spPr>
            <a:xfrm>
              <a:off x="5464476" y="4552417"/>
              <a:ext cx="1105305" cy="86782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Away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A2C8486B-EA26-48EA-939D-C52DEC46F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3396" y="2017047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F0A93A6B-4E2A-4CA1-B691-45BB43AF953C}"/>
              </a:ext>
            </a:extLst>
          </p:cNvPr>
          <p:cNvGrpSpPr/>
          <p:nvPr/>
        </p:nvGrpSpPr>
        <p:grpSpPr>
          <a:xfrm>
            <a:off x="7794320" y="1976206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30D1D9F6-D1B6-4983-A66A-BF599E875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104FA3B2-BB53-4BAE-B06A-FE933B663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26DEF8CB-63CD-416A-932E-4C362B232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56263ACE-0812-40EA-93BD-43F8D19B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F77C81F-35FF-43DF-A55A-9E00F2F551F8}"/>
              </a:ext>
            </a:extLst>
          </p:cNvPr>
          <p:cNvGrpSpPr/>
          <p:nvPr/>
        </p:nvGrpSpPr>
        <p:grpSpPr>
          <a:xfrm>
            <a:off x="5324309" y="2042290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79B8D61E-B951-47FB-AF8D-E64A57128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33C9E41D-E353-4A5F-B3C7-B13BFCBD8368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45573ABE-4FE1-497F-836B-34A0D1872EBA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98739282-794A-4D82-A25F-309BD5E74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32F41489-C3D9-4EDF-A23C-7742959D4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3622AF42-0482-4A2C-90F3-EE5C856F9B1F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4634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0C19C-9A33-44B7-A043-45CC5691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Decelerated members management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6409BD-9BCF-461F-9E72-D04B3001F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287324"/>
              </p:ext>
            </p:extLst>
          </p:nvPr>
        </p:nvGraphicFramePr>
        <p:xfrm>
          <a:off x="135332" y="2491978"/>
          <a:ext cx="11677473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42">
                  <a:extLst>
                    <a:ext uri="{9D8B030D-6E8A-4147-A177-3AD203B41FA5}">
                      <a16:colId xmlns:a16="http://schemas.microsoft.com/office/drawing/2014/main" val="195270480"/>
                    </a:ext>
                  </a:extLst>
                </a:gridCol>
                <a:gridCol w="1224792">
                  <a:extLst>
                    <a:ext uri="{9D8B030D-6E8A-4147-A177-3AD203B41FA5}">
                      <a16:colId xmlns:a16="http://schemas.microsoft.com/office/drawing/2014/main" val="194893925"/>
                    </a:ext>
                  </a:extLst>
                </a:gridCol>
                <a:gridCol w="1744910">
                  <a:extLst>
                    <a:ext uri="{9D8B030D-6E8A-4147-A177-3AD203B41FA5}">
                      <a16:colId xmlns:a16="http://schemas.microsoft.com/office/drawing/2014/main" val="1974025191"/>
                    </a:ext>
                  </a:extLst>
                </a:gridCol>
                <a:gridCol w="2320835">
                  <a:extLst>
                    <a:ext uri="{9D8B030D-6E8A-4147-A177-3AD203B41FA5}">
                      <a16:colId xmlns:a16="http://schemas.microsoft.com/office/drawing/2014/main" val="3287847682"/>
                    </a:ext>
                  </a:extLst>
                </a:gridCol>
                <a:gridCol w="2602597">
                  <a:extLst>
                    <a:ext uri="{9D8B030D-6E8A-4147-A177-3AD203B41FA5}">
                      <a16:colId xmlns:a16="http://schemas.microsoft.com/office/drawing/2014/main" val="2890558884"/>
                    </a:ext>
                  </a:extLst>
                </a:gridCol>
                <a:gridCol w="2602597">
                  <a:extLst>
                    <a:ext uri="{9D8B030D-6E8A-4147-A177-3AD203B41FA5}">
                      <a16:colId xmlns:a16="http://schemas.microsoft.com/office/drawing/2014/main" val="1143653536"/>
                    </a:ext>
                  </a:extLst>
                </a:gridCol>
              </a:tblGrid>
              <a:tr h="2684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Usual Level of 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Deceleration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Struggle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Use it as an opportunity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1">
                          <a:solidFill>
                            <a:schemeClr val="bg1"/>
                          </a:solidFill>
                        </a:rPr>
                        <a:t>Accept and prevent more damage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07"/>
                  </a:ext>
                </a:extLst>
              </a:tr>
              <a:tr h="302164">
                <a:tc>
                  <a:txBody>
                    <a:bodyPr/>
                    <a:lstStyle/>
                    <a:p>
                      <a:r>
                        <a:rPr lang="en-US" sz="1050" noProof="0"/>
                        <a:t>D7 Against</a:t>
                      </a:r>
                    </a:p>
                  </a:txBody>
                  <a:tcPr>
                    <a:solidFill>
                      <a:srgbClr val="FF010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/>
                        <a:t>Passive protestor</a:t>
                      </a:r>
                    </a:p>
                  </a:txBody>
                  <a:tcPr>
                    <a:solidFill>
                      <a:srgbClr val="FF010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/>
                        <a:t>“I am now against the Community goals and activities. Yet, I will not take actions. I just don’t want to be related to the Community anymore.”</a:t>
                      </a:r>
                    </a:p>
                  </a:txBody>
                  <a:tcPr>
                    <a:solidFill>
                      <a:srgbClr val="FF0101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i="1" noProof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i="0" noProof="0"/>
                        <a:t>Publicly thank the member for the past contributions and the good relations with the Community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50" i="1" noProof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50" i="1" noProof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01480"/>
                  </a:ext>
                </a:extLst>
              </a:tr>
              <a:tr h="302164">
                <a:tc>
                  <a:txBody>
                    <a:bodyPr/>
                    <a:lstStyle/>
                    <a:p>
                      <a:r>
                        <a:rPr lang="en-US" sz="1050" noProof="0">
                          <a:solidFill>
                            <a:schemeClr val="bg1"/>
                          </a:solidFill>
                        </a:rPr>
                        <a:t>D8 Against by own </a:t>
                      </a: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050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noProof="0">
                          <a:solidFill>
                            <a:schemeClr val="bg1"/>
                          </a:solidFill>
                        </a:rPr>
                        <a:t>Active Protestor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i="1" noProof="0">
                          <a:solidFill>
                            <a:schemeClr val="bg1"/>
                          </a:solidFill>
                        </a:rPr>
                        <a:t>“For various reasons (it did me wrong, I disapprove of its ideals, goals or composition), I am active against the Community”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i="1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noProof="0">
                          <a:solidFill>
                            <a:schemeClr val="tx1"/>
                          </a:solidFill>
                        </a:rPr>
                        <a:t>Propose to the active protestor to lead the other protestor into a continuous improvement committee in which the Community will listen to their claims.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i="0" noProof="0">
                          <a:solidFill>
                            <a:schemeClr val="tx1"/>
                          </a:solidFill>
                        </a:rPr>
                        <a:t>Publicly thank the member for the past contributions and the good relations with the Community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i="0" noProof="0">
                          <a:solidFill>
                            <a:schemeClr val="tx1"/>
                          </a:solidFill>
                        </a:rPr>
                        <a:t>Collect the differences in vision to reinforce the alignment current members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i="0" u="none" noProof="0">
                          <a:solidFill>
                            <a:schemeClr val="tx1"/>
                          </a:solidFill>
                        </a:rPr>
                        <a:t>Explain to current members the vision of the active protestor and let the Community decide which path they prefer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15940"/>
                  </a:ext>
                </a:extLst>
              </a:tr>
            </a:tbl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AB63897A-6C53-4811-ACDD-A1F3E463965C}"/>
              </a:ext>
            </a:extLst>
          </p:cNvPr>
          <p:cNvGrpSpPr/>
          <p:nvPr/>
        </p:nvGrpSpPr>
        <p:grpSpPr>
          <a:xfrm>
            <a:off x="10135007" y="195506"/>
            <a:ext cx="1677798" cy="1885844"/>
            <a:chOff x="7064759" y="4423516"/>
            <a:chExt cx="1677798" cy="1885844"/>
          </a:xfrm>
        </p:grpSpPr>
        <p:sp>
          <p:nvSpPr>
            <p:cNvPr id="6" name="Demi-cadre 5">
              <a:extLst>
                <a:ext uri="{FF2B5EF4-FFF2-40B4-BE49-F238E27FC236}">
                  <a16:creationId xmlns:a16="http://schemas.microsoft.com/office/drawing/2014/main" id="{8AED659E-47F0-4C43-AC9A-69B8ACB97C14}"/>
                </a:ext>
              </a:extLst>
            </p:cNvPr>
            <p:cNvSpPr/>
            <p:nvPr/>
          </p:nvSpPr>
          <p:spPr>
            <a:xfrm flipH="1">
              <a:off x="7064759" y="5272902"/>
              <a:ext cx="1677798" cy="985706"/>
            </a:xfrm>
            <a:prstGeom prst="halfFrame">
              <a:avLst>
                <a:gd name="adj1" fmla="val 20567"/>
                <a:gd name="adj2" fmla="val 2163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7" name="Graphique 6" descr="Poing serré avec un remplissage uni">
              <a:extLst>
                <a:ext uri="{FF2B5EF4-FFF2-40B4-BE49-F238E27FC236}">
                  <a16:creationId xmlns:a16="http://schemas.microsoft.com/office/drawing/2014/main" id="{D53BC54D-DBEC-473A-8017-86022C21F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48685" y="4423516"/>
              <a:ext cx="914400" cy="914400"/>
            </a:xfrm>
            <a:prstGeom prst="rect">
              <a:avLst/>
            </a:prstGeom>
          </p:spPr>
        </p:pic>
        <p:sp>
          <p:nvSpPr>
            <p:cNvPr id="8" name="Espace réservé du contenu 2">
              <a:extLst>
                <a:ext uri="{FF2B5EF4-FFF2-40B4-BE49-F238E27FC236}">
                  <a16:creationId xmlns:a16="http://schemas.microsoft.com/office/drawing/2014/main" id="{5BCB0473-9711-437B-B6C4-4ECF3474F0D4}"/>
                </a:ext>
              </a:extLst>
            </p:cNvPr>
            <p:cNvSpPr txBox="1">
              <a:spLocks/>
            </p:cNvSpPr>
            <p:nvPr/>
          </p:nvSpPr>
          <p:spPr>
            <a:xfrm>
              <a:off x="7405772" y="5491544"/>
              <a:ext cx="1105305" cy="81781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/>
                <a:t>Against</a:t>
              </a:r>
            </a:p>
          </p:txBody>
        </p:sp>
      </p:grpSp>
      <p:pic>
        <p:nvPicPr>
          <p:cNvPr id="9" name="Graphique 8" descr="Pansement avec un remplissage uni">
            <a:extLst>
              <a:ext uri="{FF2B5EF4-FFF2-40B4-BE49-F238E27FC236}">
                <a16:creationId xmlns:a16="http://schemas.microsoft.com/office/drawing/2014/main" id="{A10B5E22-B4E5-46D9-9694-C5837C143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3396" y="2017047"/>
            <a:ext cx="488050" cy="48805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9ED08AF1-3F55-4DE9-9626-9DD5173FD93C}"/>
              </a:ext>
            </a:extLst>
          </p:cNvPr>
          <p:cNvGrpSpPr/>
          <p:nvPr/>
        </p:nvGrpSpPr>
        <p:grpSpPr>
          <a:xfrm>
            <a:off x="7794320" y="1976206"/>
            <a:ext cx="589076" cy="448925"/>
            <a:chOff x="5291531" y="2046536"/>
            <a:chExt cx="1965966" cy="1498232"/>
          </a:xfrm>
        </p:grpSpPr>
        <p:pic>
          <p:nvPicPr>
            <p:cNvPr id="11" name="Graphique 10" descr="Badge à suivre avec un remplissage uni">
              <a:extLst>
                <a:ext uri="{FF2B5EF4-FFF2-40B4-BE49-F238E27FC236}">
                  <a16:creationId xmlns:a16="http://schemas.microsoft.com/office/drawing/2014/main" id="{F5152DB1-7731-4F34-98F9-42840D42C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7132" y="2046536"/>
              <a:ext cx="790365" cy="790365"/>
            </a:xfrm>
            <a:prstGeom prst="rect">
              <a:avLst/>
            </a:prstGeom>
          </p:spPr>
        </p:pic>
        <p:pic>
          <p:nvPicPr>
            <p:cNvPr id="12" name="Graphique 11" descr="Badge à ne plus suivre avec un remplissage uni">
              <a:extLst>
                <a:ext uri="{FF2B5EF4-FFF2-40B4-BE49-F238E27FC236}">
                  <a16:creationId xmlns:a16="http://schemas.microsoft.com/office/drawing/2014/main" id="{F2BD8325-0DF8-455A-A9FB-0048469DF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1531" y="2714999"/>
              <a:ext cx="790365" cy="790365"/>
            </a:xfrm>
            <a:prstGeom prst="rect">
              <a:avLst/>
            </a:prstGeom>
          </p:spPr>
        </p:pic>
        <p:pic>
          <p:nvPicPr>
            <p:cNvPr id="13" name="Graphique 12" descr="Flèche : pivoter à droite avec un remplissage uni">
              <a:extLst>
                <a:ext uri="{FF2B5EF4-FFF2-40B4-BE49-F238E27FC236}">
                  <a16:creationId xmlns:a16="http://schemas.microsoft.com/office/drawing/2014/main" id="{C395CBFD-7D77-4807-B203-E4D06144B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24696" y="2379409"/>
              <a:ext cx="914400" cy="914400"/>
            </a:xfrm>
            <a:prstGeom prst="rect">
              <a:avLst/>
            </a:prstGeom>
          </p:spPr>
        </p:pic>
        <p:pic>
          <p:nvPicPr>
            <p:cNvPr id="14" name="Graphique 13" descr="Flèche : pivoter à gauche avec un remplissage uni">
              <a:extLst>
                <a:ext uri="{FF2B5EF4-FFF2-40B4-BE49-F238E27FC236}">
                  <a16:creationId xmlns:a16="http://schemas.microsoft.com/office/drawing/2014/main" id="{C71A6836-645C-46B9-968D-61C1D5C2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6227289" y="2630368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B5BC8E5-7F01-4E0A-801E-7CB98EF9716A}"/>
              </a:ext>
            </a:extLst>
          </p:cNvPr>
          <p:cNvGrpSpPr/>
          <p:nvPr/>
        </p:nvGrpSpPr>
        <p:grpSpPr>
          <a:xfrm>
            <a:off x="5324309" y="2042290"/>
            <a:ext cx="629213" cy="341301"/>
            <a:chOff x="1488206" y="2367601"/>
            <a:chExt cx="2419480" cy="1312386"/>
          </a:xfrm>
        </p:grpSpPr>
        <p:pic>
          <p:nvPicPr>
            <p:cNvPr id="16" name="Graphique 15" descr="Héros avec un remplissage uni">
              <a:extLst>
                <a:ext uri="{FF2B5EF4-FFF2-40B4-BE49-F238E27FC236}">
                  <a16:creationId xmlns:a16="http://schemas.microsoft.com/office/drawing/2014/main" id="{23B276A0-00E2-4F96-AA78-4B266272B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17737" y="2579156"/>
              <a:ext cx="1100831" cy="1100831"/>
            </a:xfrm>
            <a:prstGeom prst="rect">
              <a:avLst/>
            </a:prstGeom>
          </p:spPr>
        </p:pic>
        <p:sp>
          <p:nvSpPr>
            <p:cNvPr id="17" name="Flèche : gauche 16">
              <a:extLst>
                <a:ext uri="{FF2B5EF4-FFF2-40B4-BE49-F238E27FC236}">
                  <a16:creationId xmlns:a16="http://schemas.microsoft.com/office/drawing/2014/main" id="{40034788-5578-4F06-BAE0-8DD149DD4C75}"/>
                </a:ext>
              </a:extLst>
            </p:cNvPr>
            <p:cNvSpPr/>
            <p:nvPr/>
          </p:nvSpPr>
          <p:spPr>
            <a:xfrm>
              <a:off x="1488206" y="2785521"/>
              <a:ext cx="695690" cy="722199"/>
            </a:xfrm>
            <a:prstGeom prst="leftArrow">
              <a:avLst>
                <a:gd name="adj1" fmla="val 64651"/>
                <a:gd name="adj2" fmla="val 4679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3ACEC04C-FA7E-4192-AB93-CA43248D26B2}"/>
                </a:ext>
              </a:extLst>
            </p:cNvPr>
            <p:cNvGrpSpPr/>
            <p:nvPr/>
          </p:nvGrpSpPr>
          <p:grpSpPr>
            <a:xfrm>
              <a:off x="2109717" y="2900627"/>
              <a:ext cx="722233" cy="494218"/>
              <a:chOff x="2224508" y="2829794"/>
              <a:chExt cx="970603" cy="664175"/>
            </a:xfrm>
          </p:grpSpPr>
          <p:pic>
            <p:nvPicPr>
              <p:cNvPr id="20" name="Graphique 19" descr="Lien avec un remplissage uni">
                <a:extLst>
                  <a:ext uri="{FF2B5EF4-FFF2-40B4-BE49-F238E27FC236}">
                    <a16:creationId xmlns:a16="http://schemas.microsoft.com/office/drawing/2014/main" id="{8292184B-F151-4C2F-950E-0714BD490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224508" y="2832791"/>
                <a:ext cx="661178" cy="661178"/>
              </a:xfrm>
              <a:prstGeom prst="rect">
                <a:avLst/>
              </a:prstGeom>
            </p:spPr>
          </p:pic>
          <p:pic>
            <p:nvPicPr>
              <p:cNvPr id="21" name="Graphique 20" descr="Lien avec un remplissage uni">
                <a:extLst>
                  <a:ext uri="{FF2B5EF4-FFF2-40B4-BE49-F238E27FC236}">
                    <a16:creationId xmlns:a16="http://schemas.microsoft.com/office/drawing/2014/main" id="{71522944-4757-4D4F-83BB-A7E356CC8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8845534">
                <a:off x="2533933" y="2829794"/>
                <a:ext cx="661178" cy="661178"/>
              </a:xfrm>
              <a:prstGeom prst="rect">
                <a:avLst/>
              </a:prstGeom>
            </p:spPr>
          </p:pic>
        </p:grpSp>
        <p:sp>
          <p:nvSpPr>
            <p:cNvPr id="19" name="Flèche : gauche 18">
              <a:extLst>
                <a:ext uri="{FF2B5EF4-FFF2-40B4-BE49-F238E27FC236}">
                  <a16:creationId xmlns:a16="http://schemas.microsoft.com/office/drawing/2014/main" id="{49A69BF8-EB9E-48AF-BD85-750CEA6D4D65}"/>
                </a:ext>
              </a:extLst>
            </p:cNvPr>
            <p:cNvSpPr/>
            <p:nvPr/>
          </p:nvSpPr>
          <p:spPr>
            <a:xfrm flipH="1">
              <a:off x="3220236" y="2367601"/>
              <a:ext cx="687450" cy="640934"/>
            </a:xfrm>
            <a:prstGeom prst="leftArrow">
              <a:avLst>
                <a:gd name="adj1" fmla="val 48875"/>
                <a:gd name="adj2" fmla="val 53631"/>
              </a:avLst>
            </a:prstGeom>
            <a:solidFill>
              <a:srgbClr val="3494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90930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850899CF-B6F1-47DC-BC0B-B2EE1C8D87C8}"/>
              </a:ext>
            </a:extLst>
          </p:cNvPr>
          <p:cNvGrpSpPr/>
          <p:nvPr/>
        </p:nvGrpSpPr>
        <p:grpSpPr>
          <a:xfrm>
            <a:off x="127782" y="2156997"/>
            <a:ext cx="5232581" cy="3472885"/>
            <a:chOff x="127782" y="2156997"/>
            <a:chExt cx="6895426" cy="4576522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3DDC9CE-371C-4F32-BF67-83562F5D5309}"/>
                </a:ext>
              </a:extLst>
            </p:cNvPr>
            <p:cNvGrpSpPr/>
            <p:nvPr/>
          </p:nvGrpSpPr>
          <p:grpSpPr>
            <a:xfrm>
              <a:off x="127782" y="2156997"/>
              <a:ext cx="1882478" cy="1998114"/>
              <a:chOff x="910888" y="1667080"/>
              <a:chExt cx="1882478" cy="1998114"/>
            </a:xfrm>
          </p:grpSpPr>
          <p:sp>
            <p:nvSpPr>
              <p:cNvPr id="4" name="Demi-cadre 3">
                <a:extLst>
                  <a:ext uri="{FF2B5EF4-FFF2-40B4-BE49-F238E27FC236}">
                    <a16:creationId xmlns:a16="http://schemas.microsoft.com/office/drawing/2014/main" id="{B3D99FA8-C934-4A17-9533-1E187C094527}"/>
                  </a:ext>
                </a:extLst>
              </p:cNvPr>
              <p:cNvSpPr/>
              <p:nvPr/>
            </p:nvSpPr>
            <p:spPr>
              <a:xfrm flipH="1">
                <a:off x="1115568" y="2573410"/>
                <a:ext cx="1677798" cy="985706"/>
              </a:xfrm>
              <a:prstGeom prst="halfFrame">
                <a:avLst>
                  <a:gd name="adj1" fmla="val 20567"/>
                  <a:gd name="adj2" fmla="val 21631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>
                  <a:solidFill>
                    <a:schemeClr val="tx1"/>
                  </a:solidFill>
                </a:endParaRPr>
              </a:p>
            </p:txBody>
          </p:sp>
          <p:pic>
            <p:nvPicPr>
              <p:cNvPr id="9" name="Graphique 8" descr="Tortue avec un remplissage uni">
                <a:extLst>
                  <a:ext uri="{FF2B5EF4-FFF2-40B4-BE49-F238E27FC236}">
                    <a16:creationId xmlns:a16="http://schemas.microsoft.com/office/drawing/2014/main" id="{928CA010-95B9-47D8-9477-6F1D70E61A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71264" y="166708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Espace réservé du contenu 2">
                <a:extLst>
                  <a:ext uri="{FF2B5EF4-FFF2-40B4-BE49-F238E27FC236}">
                    <a16:creationId xmlns:a16="http://schemas.microsoft.com/office/drawing/2014/main" id="{1453BD7A-0D26-4B74-8044-9EB3C5F21A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888" y="2797373"/>
                <a:ext cx="1677798" cy="8678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/>
                  <a:t>Slowdown</a:t>
                </a:r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1E6411F-CD77-4907-ACAC-31D68327C679}"/>
                </a:ext>
              </a:extLst>
            </p:cNvPr>
            <p:cNvGrpSpPr/>
            <p:nvPr/>
          </p:nvGrpSpPr>
          <p:grpSpPr>
            <a:xfrm>
              <a:off x="1912717" y="3071397"/>
              <a:ext cx="5110491" cy="3662122"/>
              <a:chOff x="1912717" y="3071397"/>
              <a:chExt cx="5110491" cy="3662122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FAFC3D10-68E7-489B-8054-6A287AC1078B}"/>
                  </a:ext>
                </a:extLst>
              </p:cNvPr>
              <p:cNvGrpSpPr/>
              <p:nvPr/>
            </p:nvGrpSpPr>
            <p:grpSpPr>
              <a:xfrm>
                <a:off x="1912717" y="3071397"/>
                <a:ext cx="1763851" cy="1967656"/>
                <a:chOff x="2998046" y="2759540"/>
                <a:chExt cx="1763851" cy="1967656"/>
              </a:xfrm>
            </p:grpSpPr>
            <p:sp>
              <p:nvSpPr>
                <p:cNvPr id="5" name="Demi-cadre 4">
                  <a:extLst>
                    <a:ext uri="{FF2B5EF4-FFF2-40B4-BE49-F238E27FC236}">
                      <a16:creationId xmlns:a16="http://schemas.microsoft.com/office/drawing/2014/main" id="{2C5301D4-7214-48F7-A304-17369E58BE4F}"/>
                    </a:ext>
                  </a:extLst>
                </p:cNvPr>
                <p:cNvSpPr/>
                <p:nvPr/>
              </p:nvSpPr>
              <p:spPr>
                <a:xfrm flipH="1">
                  <a:off x="3084099" y="3522941"/>
                  <a:ext cx="1677798" cy="985706"/>
                </a:xfrm>
                <a:prstGeom prst="halfFrame">
                  <a:avLst>
                    <a:gd name="adj1" fmla="val 20567"/>
                    <a:gd name="adj2" fmla="val 2163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1" name="Graphique 10" descr="Stop avec un remplissage uni">
                  <a:extLst>
                    <a:ext uri="{FF2B5EF4-FFF2-40B4-BE49-F238E27FC236}">
                      <a16:creationId xmlns:a16="http://schemas.microsoft.com/office/drawing/2014/main" id="{EE824A5B-9FF3-49F8-8BF2-1BC509E76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8950" y="2759540"/>
                  <a:ext cx="763401" cy="763401"/>
                </a:xfrm>
                <a:prstGeom prst="rect">
                  <a:avLst/>
                </a:prstGeom>
              </p:spPr>
            </p:pic>
            <p:sp>
              <p:nvSpPr>
                <p:cNvPr id="18" name="Espace réservé du contenu 2">
                  <a:extLst>
                    <a:ext uri="{FF2B5EF4-FFF2-40B4-BE49-F238E27FC236}">
                      <a16:creationId xmlns:a16="http://schemas.microsoft.com/office/drawing/2014/main" id="{8F5C2705-DECA-4AAC-B912-19B7021A9B4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98046" y="3741490"/>
                  <a:ext cx="1528717" cy="9857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1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/>
                    <a:t>Stop</a:t>
                  </a:r>
                </a:p>
              </p:txBody>
            </p:sp>
          </p:grp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49188CED-4658-4F23-93FF-B5F08433C796}"/>
                  </a:ext>
                </a:extLst>
              </p:cNvPr>
              <p:cNvGrpSpPr/>
              <p:nvPr/>
            </p:nvGrpSpPr>
            <p:grpSpPr>
              <a:xfrm>
                <a:off x="3676568" y="3740425"/>
                <a:ext cx="1677798" cy="1898221"/>
                <a:chOff x="5077555" y="3522017"/>
                <a:chExt cx="1677798" cy="1898221"/>
              </a:xfrm>
            </p:grpSpPr>
            <p:sp>
              <p:nvSpPr>
                <p:cNvPr id="6" name="Demi-cadre 5">
                  <a:extLst>
                    <a:ext uri="{FF2B5EF4-FFF2-40B4-BE49-F238E27FC236}">
                      <a16:creationId xmlns:a16="http://schemas.microsoft.com/office/drawing/2014/main" id="{941FB512-B222-49E6-8DB1-5AD938C4C163}"/>
                    </a:ext>
                  </a:extLst>
                </p:cNvPr>
                <p:cNvSpPr/>
                <p:nvPr/>
              </p:nvSpPr>
              <p:spPr>
                <a:xfrm flipH="1">
                  <a:off x="5077555" y="4352210"/>
                  <a:ext cx="1677798" cy="985706"/>
                </a:xfrm>
                <a:prstGeom prst="halfFrame">
                  <a:avLst>
                    <a:gd name="adj1" fmla="val 20567"/>
                    <a:gd name="adj2" fmla="val 21631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3" name="Graphique 12" descr="Flugzeug avec un remplissage uni">
                  <a:extLst>
                    <a:ext uri="{FF2B5EF4-FFF2-40B4-BE49-F238E27FC236}">
                      <a16:creationId xmlns:a16="http://schemas.microsoft.com/office/drawing/2014/main" id="{2F23D62E-BA79-4FB4-8839-8A873BB89E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61481" y="3522017"/>
                  <a:ext cx="763401" cy="763401"/>
                </a:xfrm>
                <a:prstGeom prst="rect">
                  <a:avLst/>
                </a:prstGeom>
              </p:spPr>
            </p:pic>
            <p:sp>
              <p:nvSpPr>
                <p:cNvPr id="19" name="Espace réservé du contenu 2">
                  <a:extLst>
                    <a:ext uri="{FF2B5EF4-FFF2-40B4-BE49-F238E27FC236}">
                      <a16:creationId xmlns:a16="http://schemas.microsoft.com/office/drawing/2014/main" id="{A912CD63-DFF2-48CD-838D-27F56337265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64476" y="4552417"/>
                  <a:ext cx="1105305" cy="86782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1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/>
                    <a:t>Away</a:t>
                  </a:r>
                </a:p>
              </p:txBody>
            </p: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5B288F3A-BD13-4110-A44C-7574F8E15247}"/>
                  </a:ext>
                </a:extLst>
              </p:cNvPr>
              <p:cNvGrpSpPr/>
              <p:nvPr/>
            </p:nvGrpSpPr>
            <p:grpSpPr>
              <a:xfrm>
                <a:off x="5278175" y="4546200"/>
                <a:ext cx="1745033" cy="2187319"/>
                <a:chOff x="6997524" y="4433949"/>
                <a:chExt cx="1745033" cy="2187319"/>
              </a:xfrm>
            </p:grpSpPr>
            <p:sp>
              <p:nvSpPr>
                <p:cNvPr id="7" name="Demi-cadre 6">
                  <a:extLst>
                    <a:ext uri="{FF2B5EF4-FFF2-40B4-BE49-F238E27FC236}">
                      <a16:creationId xmlns:a16="http://schemas.microsoft.com/office/drawing/2014/main" id="{C21D129C-3FFE-4FA5-A870-A01E281CD916}"/>
                    </a:ext>
                  </a:extLst>
                </p:cNvPr>
                <p:cNvSpPr/>
                <p:nvPr/>
              </p:nvSpPr>
              <p:spPr>
                <a:xfrm flipH="1">
                  <a:off x="7064759" y="5272902"/>
                  <a:ext cx="1677798" cy="985706"/>
                </a:xfrm>
                <a:prstGeom prst="halfFrame">
                  <a:avLst>
                    <a:gd name="adj1" fmla="val 20567"/>
                    <a:gd name="adj2" fmla="val 2163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4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" name="Graphique 14" descr="Poing serré avec un remplissage uni">
                  <a:extLst>
                    <a:ext uri="{FF2B5EF4-FFF2-40B4-BE49-F238E27FC236}">
                      <a16:creationId xmlns:a16="http://schemas.microsoft.com/office/drawing/2014/main" id="{CA74E3A6-3EC0-4ADD-8624-4DD12B42A5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46458" y="443394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0" name="Espace réservé du contenu 2">
                  <a:extLst>
                    <a:ext uri="{FF2B5EF4-FFF2-40B4-BE49-F238E27FC236}">
                      <a16:creationId xmlns:a16="http://schemas.microsoft.com/office/drawing/2014/main" id="{2389C63E-CDDE-4513-9463-165009FFBE5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997524" y="5491543"/>
                  <a:ext cx="1513554" cy="112972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11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1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600" b="1"/>
                    <a:t>Against</a:t>
                  </a:r>
                </a:p>
              </p:txBody>
            </p:sp>
          </p:grp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C9ED5-C8A2-4412-90DB-B7B8C90A4CED}"/>
              </a:ext>
            </a:extLst>
          </p:cNvPr>
          <p:cNvSpPr/>
          <p:nvPr/>
        </p:nvSpPr>
        <p:spPr>
          <a:xfrm>
            <a:off x="9135217" y="2752113"/>
            <a:ext cx="2201662" cy="898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Struggle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7687BB-45E1-4828-A1B8-9305F32D03A4}"/>
              </a:ext>
            </a:extLst>
          </p:cNvPr>
          <p:cNvSpPr/>
          <p:nvPr/>
        </p:nvSpPr>
        <p:spPr>
          <a:xfrm>
            <a:off x="9122796" y="3894963"/>
            <a:ext cx="2201662" cy="89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Accept and use it as an Opportunity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39309A-4C07-4040-B258-26368081E1BD}"/>
              </a:ext>
            </a:extLst>
          </p:cNvPr>
          <p:cNvSpPr/>
          <p:nvPr/>
        </p:nvSpPr>
        <p:spPr>
          <a:xfrm>
            <a:off x="9122796" y="5046194"/>
            <a:ext cx="2201662" cy="89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Accept and prevent more damage</a:t>
            </a:r>
          </a:p>
        </p:txBody>
      </p:sp>
      <p:sp>
        <p:nvSpPr>
          <p:cNvPr id="41" name="Titre 1">
            <a:extLst>
              <a:ext uri="{FF2B5EF4-FFF2-40B4-BE49-F238E27FC236}">
                <a16:creationId xmlns:a16="http://schemas.microsoft.com/office/drawing/2014/main" id="{EC8ADA0D-CD4B-49CB-8D2F-03E491FA1BCC}"/>
              </a:ext>
            </a:extLst>
          </p:cNvPr>
          <p:cNvSpPr txBox="1">
            <a:spLocks/>
          </p:cNvSpPr>
          <p:nvPr/>
        </p:nvSpPr>
        <p:spPr>
          <a:xfrm>
            <a:off x="5838415" y="2846026"/>
            <a:ext cx="2923191" cy="3065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rgbClr val="EC7B2B"/>
                </a:solidFill>
              </a:rPr>
              <a:t>C</a:t>
            </a:r>
            <a:r>
              <a:rPr lang="en-US" sz="3600"/>
              <a:t>ommunity </a:t>
            </a:r>
            <a:r>
              <a:rPr lang="en-US" sz="3600">
                <a:solidFill>
                  <a:srgbClr val="3494BA"/>
                </a:solidFill>
              </a:rPr>
              <a:t>M</a:t>
            </a:r>
            <a:r>
              <a:rPr lang="en-US" sz="3600"/>
              <a:t>ember Crisis </a:t>
            </a:r>
            <a:r>
              <a:rPr lang="en-US" sz="360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3600"/>
              <a:t>ontrol </a:t>
            </a:r>
          </a:p>
          <a:p>
            <a:pPr algn="ctr"/>
            <a:endParaRPr lang="en-US" sz="3600"/>
          </a:p>
          <a:p>
            <a:pPr algn="ctr"/>
            <a:r>
              <a:rPr lang="en-US" sz="3600"/>
              <a:t>(CMCC)</a:t>
            </a:r>
          </a:p>
        </p:txBody>
      </p: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A39A5DD8-1CAA-4709-9FF2-31D688F9B519}"/>
              </a:ext>
            </a:extLst>
          </p:cNvPr>
          <p:cNvSpPr/>
          <p:nvPr/>
        </p:nvSpPr>
        <p:spPr>
          <a:xfrm>
            <a:off x="5318730" y="2174127"/>
            <a:ext cx="457200" cy="4339825"/>
          </a:xfrm>
          <a:prstGeom prst="righ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BBA27EF9-02F0-44C7-949C-71FA28EA08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176" y="2174127"/>
            <a:ext cx="771668" cy="744432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660915B6-6D4D-4180-8272-EF87D447CE5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0004590" y="6094278"/>
            <a:ext cx="1332289" cy="6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8159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2690</Words>
  <Application>Microsoft Office PowerPoint</Application>
  <PresentationFormat>Widescreen</PresentationFormat>
  <Paragraphs>308</Paragraphs>
  <Slides>13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AccentBoxVTI</vt:lpstr>
      <vt:lpstr>W11 Community Member Crisis Control (CMCC)</vt:lpstr>
      <vt:lpstr>Members Deceleration Levels</vt:lpstr>
      <vt:lpstr>3 strategies for each crisis </vt:lpstr>
      <vt:lpstr>Decelerated members management</vt:lpstr>
      <vt:lpstr>Decelerated members management</vt:lpstr>
      <vt:lpstr>Decelerated members management </vt:lpstr>
      <vt:lpstr>Decelerated members management </vt:lpstr>
      <vt:lpstr>Decelerated members management</vt:lpstr>
      <vt:lpstr>Decelerated members management</vt:lpstr>
      <vt:lpstr>Decelerated members management</vt:lpstr>
      <vt:lpstr>Decelerated members management</vt:lpstr>
      <vt:lpstr>Decelerated members management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2</cp:revision>
  <cp:lastPrinted>2025-06-08T12:06:20Z</cp:lastPrinted>
  <dcterms:created xsi:type="dcterms:W3CDTF">2020-12-16T10:05:09Z</dcterms:created>
  <dcterms:modified xsi:type="dcterms:W3CDTF">2025-06-08T12:34:28Z</dcterms:modified>
</cp:coreProperties>
</file>