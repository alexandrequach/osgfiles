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82" r:id="rId5"/>
    <p:sldId id="603" r:id="rId6"/>
    <p:sldId id="1147" r:id="rId7"/>
    <p:sldId id="1162" r:id="rId8"/>
    <p:sldId id="1141" r:id="rId9"/>
    <p:sldId id="1142" r:id="rId10"/>
    <p:sldId id="1143" r:id="rId11"/>
    <p:sldId id="1139" r:id="rId12"/>
    <p:sldId id="1148" r:id="rId13"/>
    <p:sldId id="1128" r:id="rId14"/>
    <p:sldId id="1138" r:id="rId15"/>
    <p:sldId id="1167" r:id="rId16"/>
    <p:sldId id="1130" r:id="rId17"/>
    <p:sldId id="1140" r:id="rId18"/>
    <p:sldId id="1129" r:id="rId19"/>
    <p:sldId id="1127" r:id="rId20"/>
    <p:sldId id="1134" r:id="rId21"/>
    <p:sldId id="1163" r:id="rId22"/>
    <p:sldId id="1131" r:id="rId23"/>
    <p:sldId id="1132" r:id="rId24"/>
    <p:sldId id="1133" r:id="rId25"/>
    <p:sldId id="1135" r:id="rId26"/>
    <p:sldId id="1145" r:id="rId27"/>
    <p:sldId id="1164" r:id="rId28"/>
    <p:sldId id="424" r:id="rId29"/>
    <p:sldId id="371" r:id="rId30"/>
    <p:sldId id="383" r:id="rId31"/>
    <p:sldId id="373" r:id="rId32"/>
    <p:sldId id="374" r:id="rId33"/>
    <p:sldId id="377" r:id="rId34"/>
    <p:sldId id="1153" r:id="rId35"/>
    <p:sldId id="1155" r:id="rId36"/>
    <p:sldId id="1165" r:id="rId37"/>
    <p:sldId id="1149" r:id="rId38"/>
    <p:sldId id="1152" r:id="rId39"/>
    <p:sldId id="1150" r:id="rId40"/>
    <p:sldId id="1154" r:id="rId41"/>
    <p:sldId id="1156" r:id="rId42"/>
    <p:sldId id="1157" r:id="rId43"/>
    <p:sldId id="1158" r:id="rId44"/>
    <p:sldId id="1160" r:id="rId45"/>
    <p:sldId id="1159" r:id="rId46"/>
    <p:sldId id="1161" r:id="rId47"/>
    <p:sldId id="1166" r:id="rId48"/>
    <p:sldId id="1144" r:id="rId49"/>
    <p:sldId id="1146" r:id="rId50"/>
    <p:sldId id="1151" r:id="rId51"/>
    <p:sldId id="1072" r:id="rId5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67C9B1-AC9B-4473-9B9A-FC71A4CDBD38}">
          <p14:sldIdLst>
            <p14:sldId id="382"/>
            <p14:sldId id="603"/>
            <p14:sldId id="1147"/>
          </p14:sldIdLst>
        </p14:section>
        <p14:section name="Présentation du concept Individu vs Consensus" id="{B6049770-41AC-4136-828A-A186C8C0287C}">
          <p14:sldIdLst>
            <p14:sldId id="1162"/>
            <p14:sldId id="1141"/>
            <p14:sldId id="1142"/>
            <p14:sldId id="1143"/>
            <p14:sldId id="1139"/>
            <p14:sldId id="1148"/>
            <p14:sldId id="1128"/>
            <p14:sldId id="1138"/>
            <p14:sldId id="1167"/>
            <p14:sldId id="1130"/>
            <p14:sldId id="1140"/>
            <p14:sldId id="1129"/>
            <p14:sldId id="1127"/>
            <p14:sldId id="1134"/>
          </p14:sldIdLst>
        </p14:section>
        <p14:section name="L'outil IVCD Map" id="{E7D901D5-61B2-4A7F-AFB6-2BA6A236177E}">
          <p14:sldIdLst>
            <p14:sldId id="1163"/>
            <p14:sldId id="1131"/>
            <p14:sldId id="1132"/>
            <p14:sldId id="1133"/>
            <p14:sldId id="1135"/>
            <p14:sldId id="1145"/>
          </p14:sldIdLst>
        </p14:section>
        <p14:section name="Usage en atelier d'équipe" id="{08FE0A6A-69F8-485A-9D1B-24E7CC4BF953}">
          <p14:sldIdLst>
            <p14:sldId id="1164"/>
            <p14:sldId id="424"/>
            <p14:sldId id="371"/>
            <p14:sldId id="383"/>
            <p14:sldId id="373"/>
            <p14:sldId id="374"/>
            <p14:sldId id="377"/>
          </p14:sldIdLst>
        </p14:section>
        <p14:section name="Usage en onboarding" id="{5D8F56BE-D5B8-4901-8922-747AD2CBEE85}">
          <p14:sldIdLst>
            <p14:sldId id="1153"/>
          </p14:sldIdLst>
        </p14:section>
        <p14:section name="Usage entre 2 équipes" id="{816E1AE8-2273-460C-8313-75F723A2FA02}">
          <p14:sldIdLst>
            <p14:sldId id="1155"/>
          </p14:sldIdLst>
        </p14:section>
        <p14:section name="Former à l'IVCD Map" id="{4166D4AE-5225-465F-A237-8AF48A189DD4}">
          <p14:sldIdLst>
            <p14:sldId id="1165"/>
            <p14:sldId id="1149"/>
            <p14:sldId id="1152"/>
            <p14:sldId id="1150"/>
            <p14:sldId id="1154"/>
            <p14:sldId id="1156"/>
            <p14:sldId id="1157"/>
            <p14:sldId id="1158"/>
            <p14:sldId id="1160"/>
            <p14:sldId id="1159"/>
            <p14:sldId id="1161"/>
          </p14:sldIdLst>
        </p14:section>
        <p14:section name="Limites et extensions de l'IVCD Map" id="{81ED65AD-85BF-41DE-9147-2732B8D87371}">
          <p14:sldIdLst>
            <p14:sldId id="1166"/>
            <p14:sldId id="1144"/>
            <p14:sldId id="1146"/>
            <p14:sldId id="1151"/>
            <p14:sldId id="10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7D86A6-17E3-4B7A-AEFA-232B159B2839}" v="2" dt="2022-11-25T14:43:20.10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38B65-2D3A-49FA-3E62-0C7FCC0F7E5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28F205-38E1-C69A-28CD-25A525B78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2F8388F-ADB7-77C4-A97E-D6E668108025}"/>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07A0009D-BB49-EA54-CB15-DF46503FAD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E850C0B-3595-73AF-069A-5D71B245C39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77447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D97E2-23B7-A9BF-2AB5-3C528CAC9A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21AA86-396B-0548-9E5F-002549E8532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28588C-AB4B-2FFC-68F3-9F516A1F33CC}"/>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9A55920F-68DF-D8AF-95C7-D45241BB5B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D86E4E-354A-A92D-B987-FD5CE232F0F0}"/>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37886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9871F-54E2-0360-79A4-03BAB781CDF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0C53531-BA1D-6779-F7BD-AEE614EB7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2F87C2B-21BB-5953-19ED-7DFE7309878B}"/>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C2B192AF-FE32-9B6E-F246-990A92F3E8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692C6E-F680-F7F5-3859-E89A38F0E319}"/>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658630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DEC614-8265-26D7-7578-DECA7873C2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D2BF98A-D215-ED8B-0201-3FE29885096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612E34A-AA54-7B28-DCCD-C41B5058C0C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F64787A-1B04-80C9-CA24-D9AB28D45E8F}"/>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6" name="Espace réservé du pied de page 5">
            <a:extLst>
              <a:ext uri="{FF2B5EF4-FFF2-40B4-BE49-F238E27FC236}">
                <a16:creationId xmlns:a16="http://schemas.microsoft.com/office/drawing/2014/main" id="{65065B29-7E68-B932-5B81-EF31AEB063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D9E31D8-AF8A-838F-D4AA-296C721FA353}"/>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58914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B78237-3A75-4DB1-435C-02B76A916CA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E6C6208-11B4-2E9C-61E1-EFB180D2C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16FA604-C482-53E1-91C8-22C99F84FF5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0CE558E-BE17-1BA3-E272-36BBE50AB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67D208-C490-A00A-3553-9322179EDF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737C2F-B5A2-E396-A26C-B85A1122074C}"/>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8" name="Espace réservé du pied de page 7">
            <a:extLst>
              <a:ext uri="{FF2B5EF4-FFF2-40B4-BE49-F238E27FC236}">
                <a16:creationId xmlns:a16="http://schemas.microsoft.com/office/drawing/2014/main" id="{CE9CB14F-6AF0-B490-5ACB-DE8ACBD19A5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99EB3D2-2AA4-7E4D-FADD-E871034B2AC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6412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E2010-5E88-2F5A-DC40-A9EEE79BF92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B9C6C3F-3201-DEDE-4981-80A32019B39B}"/>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4" name="Espace réservé du pied de page 3">
            <a:extLst>
              <a:ext uri="{FF2B5EF4-FFF2-40B4-BE49-F238E27FC236}">
                <a16:creationId xmlns:a16="http://schemas.microsoft.com/office/drawing/2014/main" id="{F92BFD0A-1444-B35A-EF9B-3390A7E8403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7A55A03-F622-54B5-08BD-1350C3B9D40D}"/>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84318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A06553-E3A3-6D6E-B5D1-D145BDE4D8A8}"/>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3" name="Espace réservé du pied de page 2">
            <a:extLst>
              <a:ext uri="{FF2B5EF4-FFF2-40B4-BE49-F238E27FC236}">
                <a16:creationId xmlns:a16="http://schemas.microsoft.com/office/drawing/2014/main" id="{ACFDC3F7-30E0-8737-6F68-1EABB897F6E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2C8FACD-8539-553E-19F2-BAFED2DB89A9}"/>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1431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395722-2862-B6EC-B8D5-D5092F3605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6025A02-5756-13A4-E9C5-45C1287B6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AC97819-8323-F5AA-A37E-AC1485C97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3C5B-FB1D-0866-A1FD-F422138B84EA}"/>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6" name="Espace réservé du pied de page 5">
            <a:extLst>
              <a:ext uri="{FF2B5EF4-FFF2-40B4-BE49-F238E27FC236}">
                <a16:creationId xmlns:a16="http://schemas.microsoft.com/office/drawing/2014/main" id="{DACAC285-52B0-CF42-8326-7EAF5A60F21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BE2314E-C76D-CD53-EA29-B2E57B7002A0}"/>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20380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2ADFD1-F0EC-423D-A94C-E330AA803D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0D4A2D-8C21-F150-D7AB-2A5B26A92D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C3354B1-798B-FFB5-7714-DBEB6FF83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789048E-2CF6-6FB7-2105-1EE68F3FD595}"/>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6" name="Espace réservé du pied de page 5">
            <a:extLst>
              <a:ext uri="{FF2B5EF4-FFF2-40B4-BE49-F238E27FC236}">
                <a16:creationId xmlns:a16="http://schemas.microsoft.com/office/drawing/2014/main" id="{B0D674D0-690B-6BE6-2140-CF333B463B8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847439-726E-352A-8F22-FD065CA6C98C}"/>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864218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A00E-EAEB-6221-CF10-6CD78E84E0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E75DA0B-8CFE-FBF6-4996-FDFDA4F2670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625449-F3CC-01B8-6BA7-CB105D4E9514}"/>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9B0BFC62-0EC8-D66E-1EA9-ECE17F7867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B04CAA-AD03-5FF6-A3D4-4C7E9581918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14128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8B150E-1054-5301-BA29-4B19BA8BB6D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A20CB11-40A9-D054-E0BB-BD6896D3830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F1F9F97-687F-C7EA-9CC6-3292DAB7661C}"/>
              </a:ext>
            </a:extLst>
          </p:cNvPr>
          <p:cNvSpPr>
            <a:spLocks noGrp="1"/>
          </p:cNvSpPr>
          <p:nvPr>
            <p:ph type="dt" sz="half" idx="10"/>
          </p:nvPr>
        </p:nvSpPr>
        <p:spPr/>
        <p:txBody>
          <a:body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6B305BB2-D05B-7CBB-3C4C-888DABC92F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EF804D-79E6-33CE-4B46-F9799FC5466D}"/>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48221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1429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44767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9896111-9CC3-DE99-95E4-70BA02B71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FF23FA6-DB2D-1F29-ED84-4134AC297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D26846-DB40-F6EC-4B2D-427E41F98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7D323-256B-4A70-8271-50C5354E61C7}" type="datetimeFigureOut">
              <a:rPr lang="fr-FR" smtClean="0"/>
              <a:t>25/11/2022</a:t>
            </a:fld>
            <a:endParaRPr lang="fr-FR"/>
          </a:p>
        </p:txBody>
      </p:sp>
      <p:sp>
        <p:nvSpPr>
          <p:cNvPr id="5" name="Espace réservé du pied de page 4">
            <a:extLst>
              <a:ext uri="{FF2B5EF4-FFF2-40B4-BE49-F238E27FC236}">
                <a16:creationId xmlns:a16="http://schemas.microsoft.com/office/drawing/2014/main" id="{5057A65F-4510-006C-1741-A632345F26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4B89207-9FE0-CA47-D98D-F0809E1D7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499620-F480-4FFE-8B81-8F834AFA4497}" type="slidenum">
              <a:rPr lang="fr-FR" smtClean="0"/>
              <a:t>‹N›</a:t>
            </a:fld>
            <a:endParaRPr lang="fr-FR"/>
          </a:p>
        </p:txBody>
      </p:sp>
    </p:spTree>
    <p:extLst>
      <p:ext uri="{BB962C8B-B14F-4D97-AF65-F5344CB8AC3E}">
        <p14:creationId xmlns:p14="http://schemas.microsoft.com/office/powerpoint/2010/main" val="54458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44.xml"/><Relationship Id="rId13" Type="http://schemas.openxmlformats.org/officeDocument/2006/relationships/image" Target="../media/image7.png"/><Relationship Id="rId18" Type="http://schemas.openxmlformats.org/officeDocument/2006/relationships/image" Target="../media/image12.svg"/><Relationship Id="rId3" Type="http://schemas.openxmlformats.org/officeDocument/2006/relationships/slide" Target="slide18.xml"/><Relationship Id="rId7" Type="http://schemas.openxmlformats.org/officeDocument/2006/relationships/slide" Target="slide34.xml"/><Relationship Id="rId12" Type="http://schemas.openxmlformats.org/officeDocument/2006/relationships/image" Target="../media/image6.svg"/><Relationship Id="rId17" Type="http://schemas.openxmlformats.org/officeDocument/2006/relationships/image" Target="../media/image11.png"/><Relationship Id="rId2" Type="http://schemas.openxmlformats.org/officeDocument/2006/relationships/slide" Target="slide4.xml"/><Relationship Id="rId16" Type="http://schemas.openxmlformats.org/officeDocument/2006/relationships/image" Target="../media/image10.svg"/><Relationship Id="rId1" Type="http://schemas.openxmlformats.org/officeDocument/2006/relationships/slideLayout" Target="../slideLayouts/slideLayout2.xml"/><Relationship Id="rId6" Type="http://schemas.openxmlformats.org/officeDocument/2006/relationships/slide" Target="slide32.xml"/><Relationship Id="rId11" Type="http://schemas.openxmlformats.org/officeDocument/2006/relationships/image" Target="../media/image5.png"/><Relationship Id="rId5" Type="http://schemas.openxmlformats.org/officeDocument/2006/relationships/slide" Target="slide31.xml"/><Relationship Id="rId15" Type="http://schemas.openxmlformats.org/officeDocument/2006/relationships/image" Target="../media/image9.png"/><Relationship Id="rId10" Type="http://schemas.openxmlformats.org/officeDocument/2006/relationships/image" Target="../media/image4.svg"/><Relationship Id="rId4" Type="http://schemas.openxmlformats.org/officeDocument/2006/relationships/slide" Target="slide24.xml"/><Relationship Id="rId9" Type="http://schemas.openxmlformats.org/officeDocument/2006/relationships/image" Target="../media/image3.png"/><Relationship Id="rId14" Type="http://schemas.openxmlformats.org/officeDocument/2006/relationships/image" Target="../media/image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pxhere.com/fr/photo/1448227" TargetMode="External"/><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hyperlink" Target="https://www.pexels.com/fr-fr/photo/activites-affaires-bureau-business-2182969/" TargetMode="External"/><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hyperlink" Target="http://blog.keliweb.it/2015/11/e-mail-marketing-limportanza-della-newsletter-per-curare-il-rapporto-con-i-tuoi-clienti/" TargetMode="Externa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hyperlink" Target="https://www.escr-net.org/news/2015/international-meeting-uruguay-advance-womens-escr-related-land-and-resources" TargetMode="External"/><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19.svg"/><Relationship Id="rId3" Type="http://schemas.openxmlformats.org/officeDocument/2006/relationships/image" Target="../media/image21.svg"/><Relationship Id="rId7" Type="http://schemas.openxmlformats.org/officeDocument/2006/relationships/image" Target="../media/image23.svg"/><Relationship Id="rId12"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4.svg"/><Relationship Id="rId10" Type="http://schemas.openxmlformats.org/officeDocument/2006/relationships/image" Target="../media/image26.png"/><Relationship Id="rId4" Type="http://schemas.openxmlformats.org/officeDocument/2006/relationships/image" Target="../media/image3.png"/><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svg"/><Relationship Id="rId7" Type="http://schemas.openxmlformats.org/officeDocument/2006/relationships/image" Target="../media/image23.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4.svg"/><Relationship Id="rId10" Type="http://schemas.openxmlformats.org/officeDocument/2006/relationships/image" Target="../media/image26.png"/><Relationship Id="rId4" Type="http://schemas.openxmlformats.org/officeDocument/2006/relationships/image" Target="../media/image3.png"/><Relationship Id="rId9" Type="http://schemas.openxmlformats.org/officeDocument/2006/relationships/image" Target="../media/image25.svg"/></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5.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5.svg"/><Relationship Id="rId3" Type="http://schemas.openxmlformats.org/officeDocument/2006/relationships/hyperlink" Target="https://technofaq.org/posts/2018/02/how-to-use-technology-effectively-in-a-classroom/" TargetMode="External"/><Relationship Id="rId7" Type="http://schemas.openxmlformats.org/officeDocument/2006/relationships/image" Target="../media/image21.svg"/><Relationship Id="rId12" Type="http://schemas.openxmlformats.org/officeDocument/2006/relationships/image" Target="../media/image24.png"/><Relationship Id="rId17" Type="http://schemas.openxmlformats.org/officeDocument/2006/relationships/hyperlink" Target="https://www.diggita.it/story.php?title=Come_scrivere_post-it_sul_desktop_di_Windows_10" TargetMode="External"/><Relationship Id="rId2" Type="http://schemas.openxmlformats.org/officeDocument/2006/relationships/image" Target="../media/image42.png"/><Relationship Id="rId16" Type="http://schemas.openxmlformats.org/officeDocument/2006/relationships/image" Target="../media/image45.jpe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3.svg"/><Relationship Id="rId5" Type="http://schemas.openxmlformats.org/officeDocument/2006/relationships/image" Target="../media/image44.svg"/><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image" Target="../media/image43.png"/><Relationship Id="rId9" Type="http://schemas.openxmlformats.org/officeDocument/2006/relationships/image" Target="../media/image4.svg"/><Relationship Id="rId1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60.svg"/><Relationship Id="rId2" Type="http://schemas.openxmlformats.org/officeDocument/2006/relationships/image" Target="../media/image51.png"/><Relationship Id="rId1" Type="http://schemas.openxmlformats.org/officeDocument/2006/relationships/slideLayout" Target="../slideLayouts/slideLayout13.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4.svg"/><Relationship Id="rId10" Type="http://schemas.openxmlformats.org/officeDocument/2006/relationships/image" Target="../media/image58.svg"/><Relationship Id="rId4" Type="http://schemas.openxmlformats.org/officeDocument/2006/relationships/image" Target="../media/image53.png"/><Relationship Id="rId9" Type="http://schemas.openxmlformats.org/officeDocument/2006/relationships/image" Target="../media/image57.png"/></Relationships>
</file>

<file path=ppt/slides/_rels/slide29.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2.svg"/><Relationship Id="rId7"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63.sv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69.sv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5.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1.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 Id="rId9" Type="http://schemas.openxmlformats.org/officeDocument/2006/relationships/image" Target="../media/image7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svg"/><Relationship Id="rId18" Type="http://schemas.openxmlformats.org/officeDocument/2006/relationships/image" Target="../media/image92.png"/><Relationship Id="rId26" Type="http://schemas.openxmlformats.org/officeDocument/2006/relationships/image" Target="../media/image100.png"/><Relationship Id="rId3" Type="http://schemas.openxmlformats.org/officeDocument/2006/relationships/image" Target="../media/image79.svg"/><Relationship Id="rId21" Type="http://schemas.openxmlformats.org/officeDocument/2006/relationships/image" Target="../media/image95.svg"/><Relationship Id="rId7" Type="http://schemas.openxmlformats.org/officeDocument/2006/relationships/image" Target="../media/image83.svg"/><Relationship Id="rId12" Type="http://schemas.openxmlformats.org/officeDocument/2006/relationships/image" Target="../media/image88.png"/><Relationship Id="rId17" Type="http://schemas.openxmlformats.org/officeDocument/2006/relationships/image" Target="../media/image91.svg"/><Relationship Id="rId25" Type="http://schemas.openxmlformats.org/officeDocument/2006/relationships/image" Target="../media/image99.svg"/><Relationship Id="rId2" Type="http://schemas.openxmlformats.org/officeDocument/2006/relationships/image" Target="../media/image78.png"/><Relationship Id="rId16" Type="http://schemas.openxmlformats.org/officeDocument/2006/relationships/image" Target="../media/image90.png"/><Relationship Id="rId20" Type="http://schemas.openxmlformats.org/officeDocument/2006/relationships/image" Target="../media/image94.png"/><Relationship Id="rId29" Type="http://schemas.openxmlformats.org/officeDocument/2006/relationships/image" Target="../media/image103.sv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svg"/><Relationship Id="rId24" Type="http://schemas.openxmlformats.org/officeDocument/2006/relationships/image" Target="../media/image98.png"/><Relationship Id="rId5" Type="http://schemas.openxmlformats.org/officeDocument/2006/relationships/image" Target="../media/image81.svg"/><Relationship Id="rId15" Type="http://schemas.openxmlformats.org/officeDocument/2006/relationships/image" Target="../media/image77.svg"/><Relationship Id="rId23" Type="http://schemas.openxmlformats.org/officeDocument/2006/relationships/image" Target="../media/image97.svg"/><Relationship Id="rId28" Type="http://schemas.openxmlformats.org/officeDocument/2006/relationships/image" Target="../media/image102.png"/><Relationship Id="rId10" Type="http://schemas.openxmlformats.org/officeDocument/2006/relationships/image" Target="../media/image86.png"/><Relationship Id="rId19" Type="http://schemas.openxmlformats.org/officeDocument/2006/relationships/image" Target="../media/image93.svg"/><Relationship Id="rId31" Type="http://schemas.openxmlformats.org/officeDocument/2006/relationships/image" Target="../media/image105.svg"/><Relationship Id="rId4" Type="http://schemas.openxmlformats.org/officeDocument/2006/relationships/image" Target="../media/image80.png"/><Relationship Id="rId9" Type="http://schemas.openxmlformats.org/officeDocument/2006/relationships/image" Target="../media/image85.svg"/><Relationship Id="rId14" Type="http://schemas.openxmlformats.org/officeDocument/2006/relationships/image" Target="../media/image76.png"/><Relationship Id="rId22" Type="http://schemas.openxmlformats.org/officeDocument/2006/relationships/image" Target="../media/image96.png"/><Relationship Id="rId27" Type="http://schemas.openxmlformats.org/officeDocument/2006/relationships/image" Target="../media/image101.svg"/><Relationship Id="rId30" Type="http://schemas.openxmlformats.org/officeDocument/2006/relationships/image" Target="../media/image104.png"/></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4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needpix.com/photo/download/1611770/hexagon-group-block-chain-knowledge-concentration-gear-together-community-intelligence" TargetMode="External"/><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112.svg"/><Relationship Id="rId18" Type="http://schemas.openxmlformats.org/officeDocument/2006/relationships/image" Target="../media/image117.png"/><Relationship Id="rId3" Type="http://schemas.openxmlformats.org/officeDocument/2006/relationships/image" Target="../media/image4.svg"/><Relationship Id="rId7" Type="http://schemas.openxmlformats.org/officeDocument/2006/relationships/image" Target="../media/image23.svg"/><Relationship Id="rId12" Type="http://schemas.openxmlformats.org/officeDocument/2006/relationships/image" Target="../media/image111.png"/><Relationship Id="rId17" Type="http://schemas.openxmlformats.org/officeDocument/2006/relationships/image" Target="../media/image116.svg"/><Relationship Id="rId2" Type="http://schemas.openxmlformats.org/officeDocument/2006/relationships/image" Target="../media/image3.png"/><Relationship Id="rId1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114.svg"/><Relationship Id="rId10" Type="http://schemas.openxmlformats.org/officeDocument/2006/relationships/image" Target="../media/image26.png"/><Relationship Id="rId19" Type="http://schemas.openxmlformats.org/officeDocument/2006/relationships/image" Target="../media/image118.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113.png"/></Relationships>
</file>

<file path=ppt/slides/_rels/slide48.xml.rels><?xml version="1.0" encoding="UTF-8" standalone="yes"?>
<Relationships xmlns="http://schemas.openxmlformats.org/package/2006/relationships"><Relationship Id="rId3" Type="http://schemas.openxmlformats.org/officeDocument/2006/relationships/image" Target="../media/image112.svg"/><Relationship Id="rId7" Type="http://schemas.openxmlformats.org/officeDocument/2006/relationships/image" Target="../media/image116.sv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svg"/><Relationship Id="rId4"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941986"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a:t>Version 1</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9211" y="6430997"/>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600504" y="1916286"/>
            <a:ext cx="5557023" cy="3077766"/>
          </a:xfrm>
          <a:prstGeom prst="rect">
            <a:avLst/>
          </a:prstGeom>
          <a:noFill/>
        </p:spPr>
        <p:txBody>
          <a:bodyPr wrap="square" rtlCol="0">
            <a:spAutoFit/>
          </a:bodyPr>
          <a:lstStyle/>
          <a:p>
            <a:r>
              <a:rPr lang="fr-FR" sz="8000" i="1">
                <a:solidFill>
                  <a:srgbClr val="ED7D31"/>
                </a:solidFill>
              </a:rPr>
              <a:t>IVCD </a:t>
            </a:r>
            <a:r>
              <a:rPr lang="fr-FR" sz="8000" i="1" err="1">
                <a:solidFill>
                  <a:srgbClr val="ED7D31"/>
                </a:solidFill>
              </a:rPr>
              <a:t>Map</a:t>
            </a:r>
            <a:r>
              <a:rPr lang="fr-FR" sz="8000" i="1">
                <a:solidFill>
                  <a:srgbClr val="ED7D31"/>
                </a:solidFill>
              </a:rPr>
              <a:t> </a:t>
            </a:r>
          </a:p>
          <a:p>
            <a:endParaRPr lang="fr-FR"/>
          </a:p>
          <a:p>
            <a:r>
              <a:rPr lang="fr-FR" sz="3200" b="1" i="1">
                <a:solidFill>
                  <a:srgbClr val="0683AA"/>
                </a:solidFill>
              </a:rPr>
              <a:t>Clarifier ensemble ce qui mérite consensus et ce qui mérite autonomie</a:t>
            </a:r>
          </a:p>
        </p:txBody>
      </p:sp>
      <p:grpSp>
        <p:nvGrpSpPr>
          <p:cNvPr id="2" name="Groupe 1">
            <a:extLst>
              <a:ext uri="{FF2B5EF4-FFF2-40B4-BE49-F238E27FC236}">
                <a16:creationId xmlns:a16="http://schemas.microsoft.com/office/drawing/2014/main" id="{5F37BD5B-D7E0-1E96-926F-F93AB9DED53E}"/>
              </a:ext>
            </a:extLst>
          </p:cNvPr>
          <p:cNvGrpSpPr/>
          <p:nvPr/>
        </p:nvGrpSpPr>
        <p:grpSpPr>
          <a:xfrm>
            <a:off x="7501282" y="1878541"/>
            <a:ext cx="3454206" cy="2458287"/>
            <a:chOff x="3333750" y="1690688"/>
            <a:chExt cx="6959600" cy="4953000"/>
          </a:xfrm>
        </p:grpSpPr>
        <p:grpSp>
          <p:nvGrpSpPr>
            <p:cNvPr id="6" name="Groupe 5">
              <a:extLst>
                <a:ext uri="{FF2B5EF4-FFF2-40B4-BE49-F238E27FC236}">
                  <a16:creationId xmlns:a16="http://schemas.microsoft.com/office/drawing/2014/main" id="{47FE0508-1599-FACB-E73A-57125477CB76}"/>
                </a:ext>
              </a:extLst>
            </p:cNvPr>
            <p:cNvGrpSpPr/>
            <p:nvPr/>
          </p:nvGrpSpPr>
          <p:grpSpPr>
            <a:xfrm>
              <a:off x="3333750" y="1690688"/>
              <a:ext cx="6959600" cy="4953000"/>
              <a:chOff x="2425700" y="1690688"/>
              <a:chExt cx="6959600" cy="4953000"/>
            </a:xfrm>
          </p:grpSpPr>
          <p:sp>
            <p:nvSpPr>
              <p:cNvPr id="17" name="Ellipse 16">
                <a:extLst>
                  <a:ext uri="{FF2B5EF4-FFF2-40B4-BE49-F238E27FC236}">
                    <a16:creationId xmlns:a16="http://schemas.microsoft.com/office/drawing/2014/main" id="{4C8233DF-C674-9C0F-AF79-29606B45629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sp>
            <p:nvSpPr>
              <p:cNvPr id="18" name="Ellipse 17">
                <a:extLst>
                  <a:ext uri="{FF2B5EF4-FFF2-40B4-BE49-F238E27FC236}">
                    <a16:creationId xmlns:a16="http://schemas.microsoft.com/office/drawing/2014/main" id="{92D53EE9-70BC-6577-9B7F-BDA55ED74B30}"/>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grpSp>
        <p:sp>
          <p:nvSpPr>
            <p:cNvPr id="10" name="ZoneTexte 9">
              <a:extLst>
                <a:ext uri="{FF2B5EF4-FFF2-40B4-BE49-F238E27FC236}">
                  <a16:creationId xmlns:a16="http://schemas.microsoft.com/office/drawing/2014/main" id="{0177A830-B322-8CF3-6BF5-3D49B7B2E868}"/>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1" name="ZoneTexte 10">
              <a:extLst>
                <a:ext uri="{FF2B5EF4-FFF2-40B4-BE49-F238E27FC236}">
                  <a16:creationId xmlns:a16="http://schemas.microsoft.com/office/drawing/2014/main" id="{060C7594-A753-4B36-C1B4-310F9221DFC5}"/>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2" name="ZoneTexte 11">
              <a:extLst>
                <a:ext uri="{FF2B5EF4-FFF2-40B4-BE49-F238E27FC236}">
                  <a16:creationId xmlns:a16="http://schemas.microsoft.com/office/drawing/2014/main" id="{3AEECAC2-2625-2312-0968-DB95E7706F2B}"/>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500"/>
            </a:p>
          </p:txBody>
        </p:sp>
        <p:sp>
          <p:nvSpPr>
            <p:cNvPr id="13" name="ZoneTexte 12">
              <a:extLst>
                <a:ext uri="{FF2B5EF4-FFF2-40B4-BE49-F238E27FC236}">
                  <a16:creationId xmlns:a16="http://schemas.microsoft.com/office/drawing/2014/main" id="{F5D0C438-6047-C567-09F6-C1E31BEF25F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4" name="ZoneTexte 13">
              <a:extLst>
                <a:ext uri="{FF2B5EF4-FFF2-40B4-BE49-F238E27FC236}">
                  <a16:creationId xmlns:a16="http://schemas.microsoft.com/office/drawing/2014/main" id="{0315FAD2-D840-3FAF-8BB0-D15E24F34D57}"/>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500"/>
            </a:p>
          </p:txBody>
        </p:sp>
        <p:sp>
          <p:nvSpPr>
            <p:cNvPr id="15" name="ZoneTexte 14">
              <a:extLst>
                <a:ext uri="{FF2B5EF4-FFF2-40B4-BE49-F238E27FC236}">
                  <a16:creationId xmlns:a16="http://schemas.microsoft.com/office/drawing/2014/main" id="{60D677C1-F53D-A3C6-0864-E26237FD90E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6" name="ZoneTexte 15">
              <a:extLst>
                <a:ext uri="{FF2B5EF4-FFF2-40B4-BE49-F238E27FC236}">
                  <a16:creationId xmlns:a16="http://schemas.microsoft.com/office/drawing/2014/main" id="{D80F04CE-9A78-A1C1-C94A-CC5AB9BF7465}"/>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500"/>
            </a:p>
          </p:txBody>
        </p:sp>
      </p:grpSp>
      <p:pic>
        <p:nvPicPr>
          <p:cNvPr id="21" name="Graphique 20" descr="Homme portant un sweat à capuche">
            <a:extLst>
              <a:ext uri="{FF2B5EF4-FFF2-40B4-BE49-F238E27FC236}">
                <a16:creationId xmlns:a16="http://schemas.microsoft.com/office/drawing/2014/main" id="{3D1E25EC-DD99-581C-7FC5-7BB8F3DF3E8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124215" y="1410303"/>
            <a:ext cx="426167" cy="586079"/>
          </a:xfrm>
          <a:prstGeom prst="rect">
            <a:avLst/>
          </a:prstGeom>
        </p:spPr>
      </p:pic>
      <p:grpSp>
        <p:nvGrpSpPr>
          <p:cNvPr id="26" name="Groupe 25">
            <a:extLst>
              <a:ext uri="{FF2B5EF4-FFF2-40B4-BE49-F238E27FC236}">
                <a16:creationId xmlns:a16="http://schemas.microsoft.com/office/drawing/2014/main" id="{69D5A67B-430A-0704-3AC1-1870E901EBD2}"/>
              </a:ext>
            </a:extLst>
          </p:cNvPr>
          <p:cNvGrpSpPr/>
          <p:nvPr/>
        </p:nvGrpSpPr>
        <p:grpSpPr>
          <a:xfrm>
            <a:off x="9964678" y="1347998"/>
            <a:ext cx="1981620" cy="595719"/>
            <a:chOff x="13356703" y="1495443"/>
            <a:chExt cx="1981620" cy="595719"/>
          </a:xfrm>
        </p:grpSpPr>
        <p:pic>
          <p:nvPicPr>
            <p:cNvPr id="20" name="Graphique 19" descr="Homme portant un sweat à capuche">
              <a:extLst>
                <a:ext uri="{FF2B5EF4-FFF2-40B4-BE49-F238E27FC236}">
                  <a16:creationId xmlns:a16="http://schemas.microsoft.com/office/drawing/2014/main" id="{397FCB51-AB57-8DB5-BB52-8D857D7B5B3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833291" y="1505083"/>
              <a:ext cx="426167" cy="586079"/>
            </a:xfrm>
            <a:prstGeom prst="rect">
              <a:avLst/>
            </a:prstGeom>
          </p:spPr>
        </p:pic>
        <p:pic>
          <p:nvPicPr>
            <p:cNvPr id="22" name="Graphique 21" descr="Femme avec bras prothétique">
              <a:extLst>
                <a:ext uri="{FF2B5EF4-FFF2-40B4-BE49-F238E27FC236}">
                  <a16:creationId xmlns:a16="http://schemas.microsoft.com/office/drawing/2014/main" id="{BD4FAECE-82B5-66F1-DFF1-82D92CB950C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4271513" y="1495443"/>
              <a:ext cx="530566" cy="568288"/>
            </a:xfrm>
            <a:prstGeom prst="rect">
              <a:avLst/>
            </a:prstGeom>
          </p:spPr>
        </p:pic>
        <p:pic>
          <p:nvPicPr>
            <p:cNvPr id="23" name="Graphique 22" descr="Homme barbu en peignoir">
              <a:extLst>
                <a:ext uri="{FF2B5EF4-FFF2-40B4-BE49-F238E27FC236}">
                  <a16:creationId xmlns:a16="http://schemas.microsoft.com/office/drawing/2014/main" id="{90EDF2F9-183E-349F-4EBD-FE672C5F32B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3356703" y="1495443"/>
              <a:ext cx="464533" cy="595718"/>
            </a:xfrm>
            <a:prstGeom prst="rect">
              <a:avLst/>
            </a:prstGeom>
          </p:spPr>
        </p:pic>
        <p:pic>
          <p:nvPicPr>
            <p:cNvPr id="24" name="Graphique 23" descr="Femme tenant un ordinateur portable">
              <a:extLst>
                <a:ext uri="{FF2B5EF4-FFF2-40B4-BE49-F238E27FC236}">
                  <a16:creationId xmlns:a16="http://schemas.microsoft.com/office/drawing/2014/main" id="{98592A44-3C59-FE4E-8DBB-A12CB6524BD8}"/>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a:bodyPr>
          <a:lstStyle/>
          <a:p>
            <a:r>
              <a:rPr lang="fr-FR"/>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70000" lnSpcReduction="20000"/>
          </a:bodyPr>
          <a:lstStyle/>
          <a:p>
            <a:pPr marL="0" indent="0">
              <a:buNone/>
            </a:pPr>
            <a:r>
              <a:rPr lang="fr-FR"/>
              <a:t>#OpenSeriousCommunity est un ensemble de ressources dédiées à aider à animer, faire vivre, développer des communautés. </a:t>
            </a:r>
          </a:p>
          <a:p>
            <a:pPr marL="0" indent="0">
              <a:buNone/>
            </a:pPr>
            <a:r>
              <a:rPr lang="fr-FR"/>
              <a:t>Les communautés concernées par #OpenSeriousCommunity peuvent être tout autant du domaine de l’entreprise, que de celles des associations, des institutions ou privées. </a:t>
            </a:r>
          </a:p>
          <a:p>
            <a:pPr marL="0" indent="0">
              <a:buNone/>
            </a:pPr>
            <a:r>
              <a:rPr lang="fr-FR"/>
              <a:t>Les contenus #OpenSeriousCommunity suivent les attributs des contenus #OSG, c’est-à-dire qu’ils sont open source, et structurés pour favoriser un maximum l’appropriation du contenu à des fins de retransmission.</a:t>
            </a:r>
          </a:p>
          <a:p>
            <a:pPr marL="0" indent="0">
              <a:buNone/>
            </a:pPr>
            <a:r>
              <a:rPr lang="fr-FR"/>
              <a:t>Pour en savoir plus, rendez-vous sur </a:t>
            </a:r>
            <a:r>
              <a:rPr lang="fr-FR">
                <a:hlinkClick r:id="rId2"/>
              </a:rPr>
              <a:t>https://www.openseriousgames.org/OpenSeriousCommunity</a:t>
            </a:r>
            <a:endParaRPr lang="fr-FR"/>
          </a:p>
          <a:p>
            <a:pPr marL="0" indent="0">
              <a:buNone/>
            </a:pPr>
            <a:endParaRPr lang="fr-F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72B64-6004-41BD-5197-4B9B05FAC173}"/>
              </a:ext>
            </a:extLst>
          </p:cNvPr>
          <p:cNvSpPr>
            <a:spLocks noGrp="1"/>
          </p:cNvSpPr>
          <p:nvPr>
            <p:ph type="title"/>
          </p:nvPr>
        </p:nvSpPr>
        <p:spPr/>
        <p:txBody>
          <a:bodyPr/>
          <a:lstStyle/>
          <a:p>
            <a:r>
              <a:rPr lang="fr-FR"/>
              <a:t>Sommaire de l’IVCD </a:t>
            </a:r>
            <a:r>
              <a:rPr lang="fr-FR" err="1"/>
              <a:t>Map</a:t>
            </a:r>
            <a:endParaRPr lang="fr-FR"/>
          </a:p>
        </p:txBody>
      </p:sp>
      <p:sp>
        <p:nvSpPr>
          <p:cNvPr id="3" name="Espace réservé du contenu 2">
            <a:extLst>
              <a:ext uri="{FF2B5EF4-FFF2-40B4-BE49-F238E27FC236}">
                <a16:creationId xmlns:a16="http://schemas.microsoft.com/office/drawing/2014/main" id="{67134858-B1CC-3826-1C60-AFC05692E5CC}"/>
              </a:ext>
            </a:extLst>
          </p:cNvPr>
          <p:cNvSpPr>
            <a:spLocks noGrp="1"/>
          </p:cNvSpPr>
          <p:nvPr>
            <p:ph idx="1"/>
          </p:nvPr>
        </p:nvSpPr>
        <p:spPr/>
        <p:txBody>
          <a:bodyPr>
            <a:normAutofit/>
          </a:bodyPr>
          <a:lstStyle/>
          <a:p>
            <a:pPr marL="514350" indent="-514350">
              <a:buFont typeface="+mj-lt"/>
              <a:buAutoNum type="arabicPeriod"/>
            </a:pPr>
            <a:r>
              <a:rPr lang="fr-FR" sz="1800">
                <a:hlinkClick r:id="rId2" action="ppaction://hlinksldjump"/>
              </a:rPr>
              <a:t>Présentation du concept « Individu ou Consensus »</a:t>
            </a:r>
            <a:endParaRPr lang="fr-FR" sz="1800"/>
          </a:p>
          <a:p>
            <a:pPr marL="514350" indent="-514350">
              <a:buFont typeface="+mj-lt"/>
              <a:buAutoNum type="arabicPeriod"/>
            </a:pPr>
            <a:r>
              <a:rPr lang="fr-FR" sz="1800">
                <a:hlinkClick r:id="rId3" action="ppaction://hlinksldjump"/>
              </a:rPr>
              <a:t>L’outil IVCD </a:t>
            </a:r>
            <a:r>
              <a:rPr lang="fr-FR" sz="1800" err="1">
                <a:hlinkClick r:id="rId3" action="ppaction://hlinksldjump"/>
              </a:rPr>
              <a:t>Map</a:t>
            </a:r>
            <a:endParaRPr lang="fr-FR" sz="1800"/>
          </a:p>
          <a:p>
            <a:pPr marL="514350" indent="-514350">
              <a:buFont typeface="+mj-lt"/>
              <a:buAutoNum type="arabicPeriod"/>
            </a:pPr>
            <a:r>
              <a:rPr lang="fr-FR" sz="1800">
                <a:hlinkClick r:id="rId4" action="ppaction://hlinksldjump"/>
              </a:rPr>
              <a:t>Usage en atelier d’équipe</a:t>
            </a:r>
            <a:endParaRPr lang="fr-FR" sz="1800"/>
          </a:p>
          <a:p>
            <a:pPr marL="514350" indent="-514350">
              <a:buFont typeface="+mj-lt"/>
              <a:buAutoNum type="arabicPeriod"/>
            </a:pPr>
            <a:r>
              <a:rPr lang="fr-FR" sz="1800">
                <a:hlinkClick r:id="rId5" action="ppaction://hlinksldjump"/>
              </a:rPr>
              <a:t>Usage en </a:t>
            </a:r>
            <a:r>
              <a:rPr lang="fr-FR" sz="1800" err="1">
                <a:hlinkClick r:id="rId5" action="ppaction://hlinksldjump"/>
              </a:rPr>
              <a:t>onboarding</a:t>
            </a:r>
            <a:endParaRPr lang="fr-FR" sz="1800"/>
          </a:p>
          <a:p>
            <a:pPr marL="514350" indent="-514350">
              <a:buFont typeface="+mj-lt"/>
              <a:buAutoNum type="arabicPeriod"/>
            </a:pPr>
            <a:r>
              <a:rPr lang="fr-FR" sz="1800">
                <a:hlinkClick r:id="rId6" action="ppaction://hlinksldjump"/>
              </a:rPr>
              <a:t>Usage entre 2 équipes </a:t>
            </a:r>
            <a:endParaRPr lang="fr-FR" sz="1800"/>
          </a:p>
          <a:p>
            <a:pPr marL="514350" indent="-514350">
              <a:buFont typeface="+mj-lt"/>
              <a:buAutoNum type="arabicPeriod"/>
            </a:pPr>
            <a:r>
              <a:rPr lang="fr-FR" sz="1800">
                <a:hlinkClick r:id="rId7" action="ppaction://hlinksldjump"/>
              </a:rPr>
              <a:t>🎓Former à l’IVCD </a:t>
            </a:r>
            <a:r>
              <a:rPr lang="fr-FR" sz="1800" err="1">
                <a:hlinkClick r:id="rId7" action="ppaction://hlinksldjump"/>
              </a:rPr>
              <a:t>map</a:t>
            </a:r>
            <a:endParaRPr lang="fr-FR" sz="1800"/>
          </a:p>
          <a:p>
            <a:pPr marL="514350" indent="-514350">
              <a:buFont typeface="+mj-lt"/>
              <a:buAutoNum type="arabicPeriod"/>
            </a:pPr>
            <a:r>
              <a:rPr lang="fr-FR" sz="1800">
                <a:hlinkClick r:id="rId8" action="ppaction://hlinksldjump"/>
              </a:rPr>
              <a:t>Limites et extensions de l’IVCD </a:t>
            </a:r>
            <a:r>
              <a:rPr lang="fr-FR" sz="1800" err="1">
                <a:hlinkClick r:id="rId8" action="ppaction://hlinksldjump"/>
              </a:rPr>
              <a:t>Map</a:t>
            </a:r>
            <a:endParaRPr lang="fr-FR" sz="1800"/>
          </a:p>
        </p:txBody>
      </p:sp>
      <p:grpSp>
        <p:nvGrpSpPr>
          <p:cNvPr id="4" name="Groupe 3">
            <a:extLst>
              <a:ext uri="{FF2B5EF4-FFF2-40B4-BE49-F238E27FC236}">
                <a16:creationId xmlns:a16="http://schemas.microsoft.com/office/drawing/2014/main" id="{CCBAF7BE-1A8A-E102-50AB-E7B0CD6E5539}"/>
              </a:ext>
            </a:extLst>
          </p:cNvPr>
          <p:cNvGrpSpPr/>
          <p:nvPr/>
        </p:nvGrpSpPr>
        <p:grpSpPr>
          <a:xfrm>
            <a:off x="7746984" y="2356168"/>
            <a:ext cx="3454206" cy="2458287"/>
            <a:chOff x="3333750" y="1690688"/>
            <a:chExt cx="6959600" cy="4953000"/>
          </a:xfrm>
        </p:grpSpPr>
        <p:grpSp>
          <p:nvGrpSpPr>
            <p:cNvPr id="5" name="Groupe 4">
              <a:extLst>
                <a:ext uri="{FF2B5EF4-FFF2-40B4-BE49-F238E27FC236}">
                  <a16:creationId xmlns:a16="http://schemas.microsoft.com/office/drawing/2014/main" id="{917903CE-FBAB-8F0E-A66E-43EE09C516EE}"/>
                </a:ext>
              </a:extLst>
            </p:cNvPr>
            <p:cNvGrpSpPr/>
            <p:nvPr/>
          </p:nvGrpSpPr>
          <p:grpSpPr>
            <a:xfrm>
              <a:off x="3333750" y="1690688"/>
              <a:ext cx="6959600" cy="4953000"/>
              <a:chOff x="2425700" y="1690688"/>
              <a:chExt cx="6959600" cy="4953000"/>
            </a:xfrm>
          </p:grpSpPr>
          <p:sp>
            <p:nvSpPr>
              <p:cNvPr id="13" name="Ellipse 12">
                <a:extLst>
                  <a:ext uri="{FF2B5EF4-FFF2-40B4-BE49-F238E27FC236}">
                    <a16:creationId xmlns:a16="http://schemas.microsoft.com/office/drawing/2014/main" id="{5EBB43E2-599C-8543-E4E0-717DEF7BB080}"/>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sp>
            <p:nvSpPr>
              <p:cNvPr id="14" name="Ellipse 13">
                <a:extLst>
                  <a:ext uri="{FF2B5EF4-FFF2-40B4-BE49-F238E27FC236}">
                    <a16:creationId xmlns:a16="http://schemas.microsoft.com/office/drawing/2014/main" id="{22DEA610-5F26-D65E-0338-9789FE599957}"/>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grpSp>
        <p:sp>
          <p:nvSpPr>
            <p:cNvPr id="6" name="ZoneTexte 5">
              <a:extLst>
                <a:ext uri="{FF2B5EF4-FFF2-40B4-BE49-F238E27FC236}">
                  <a16:creationId xmlns:a16="http://schemas.microsoft.com/office/drawing/2014/main" id="{AF601C4B-3B0F-0A4A-EDD2-65EA36CB1DBA}"/>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7" name="ZoneTexte 6">
              <a:extLst>
                <a:ext uri="{FF2B5EF4-FFF2-40B4-BE49-F238E27FC236}">
                  <a16:creationId xmlns:a16="http://schemas.microsoft.com/office/drawing/2014/main" id="{55F3DFD2-ED22-13A4-3B56-92EBE079946F}"/>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8" name="ZoneTexte 7">
              <a:extLst>
                <a:ext uri="{FF2B5EF4-FFF2-40B4-BE49-F238E27FC236}">
                  <a16:creationId xmlns:a16="http://schemas.microsoft.com/office/drawing/2014/main" id="{2DDD2D23-98D0-446D-05C0-530F84B22040}"/>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500"/>
            </a:p>
          </p:txBody>
        </p:sp>
        <p:sp>
          <p:nvSpPr>
            <p:cNvPr id="9" name="ZoneTexte 8">
              <a:extLst>
                <a:ext uri="{FF2B5EF4-FFF2-40B4-BE49-F238E27FC236}">
                  <a16:creationId xmlns:a16="http://schemas.microsoft.com/office/drawing/2014/main" id="{E09E5B77-5509-78A4-3DCF-F8763EE94922}"/>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0" name="ZoneTexte 9">
              <a:extLst>
                <a:ext uri="{FF2B5EF4-FFF2-40B4-BE49-F238E27FC236}">
                  <a16:creationId xmlns:a16="http://schemas.microsoft.com/office/drawing/2014/main" id="{563AF448-1219-58FD-321E-07D648217FF5}"/>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500"/>
            </a:p>
          </p:txBody>
        </p:sp>
        <p:sp>
          <p:nvSpPr>
            <p:cNvPr id="11" name="ZoneTexte 10">
              <a:extLst>
                <a:ext uri="{FF2B5EF4-FFF2-40B4-BE49-F238E27FC236}">
                  <a16:creationId xmlns:a16="http://schemas.microsoft.com/office/drawing/2014/main" id="{F88B7385-B235-97D4-26FD-BCA8FB28673A}"/>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2" name="ZoneTexte 11">
              <a:extLst>
                <a:ext uri="{FF2B5EF4-FFF2-40B4-BE49-F238E27FC236}">
                  <a16:creationId xmlns:a16="http://schemas.microsoft.com/office/drawing/2014/main" id="{554374BC-56E3-65FB-5AB4-B7AFFA49472C}"/>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500"/>
            </a:p>
          </p:txBody>
        </p:sp>
      </p:grpSp>
      <p:pic>
        <p:nvPicPr>
          <p:cNvPr id="15" name="Graphique 14" descr="Homme portant un sweat à capuche">
            <a:extLst>
              <a:ext uri="{FF2B5EF4-FFF2-40B4-BE49-F238E27FC236}">
                <a16:creationId xmlns:a16="http://schemas.microsoft.com/office/drawing/2014/main" id="{C5D190C1-8213-7CCB-FB7A-F2FBE49BBCF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369917" y="1887930"/>
            <a:ext cx="426167" cy="586079"/>
          </a:xfrm>
          <a:prstGeom prst="rect">
            <a:avLst/>
          </a:prstGeom>
        </p:spPr>
      </p:pic>
      <p:grpSp>
        <p:nvGrpSpPr>
          <p:cNvPr id="16" name="Groupe 15">
            <a:extLst>
              <a:ext uri="{FF2B5EF4-FFF2-40B4-BE49-F238E27FC236}">
                <a16:creationId xmlns:a16="http://schemas.microsoft.com/office/drawing/2014/main" id="{742BBEA7-B46B-318B-4B88-725CB46DF2B3}"/>
              </a:ext>
            </a:extLst>
          </p:cNvPr>
          <p:cNvGrpSpPr/>
          <p:nvPr/>
        </p:nvGrpSpPr>
        <p:grpSpPr>
          <a:xfrm>
            <a:off x="10210380" y="1825625"/>
            <a:ext cx="1981620" cy="595719"/>
            <a:chOff x="13356703" y="1495443"/>
            <a:chExt cx="1981620" cy="595719"/>
          </a:xfrm>
        </p:grpSpPr>
        <p:pic>
          <p:nvPicPr>
            <p:cNvPr id="17" name="Graphique 16" descr="Homme portant un sweat à capuche">
              <a:extLst>
                <a:ext uri="{FF2B5EF4-FFF2-40B4-BE49-F238E27FC236}">
                  <a16:creationId xmlns:a16="http://schemas.microsoft.com/office/drawing/2014/main" id="{EC195A18-86D6-52FA-22E2-DAB349D4BD5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3833291" y="1505083"/>
              <a:ext cx="426167" cy="586079"/>
            </a:xfrm>
            <a:prstGeom prst="rect">
              <a:avLst/>
            </a:prstGeom>
          </p:spPr>
        </p:pic>
        <p:pic>
          <p:nvPicPr>
            <p:cNvPr id="18" name="Graphique 17" descr="Femme avec bras prothétique">
              <a:extLst>
                <a:ext uri="{FF2B5EF4-FFF2-40B4-BE49-F238E27FC236}">
                  <a16:creationId xmlns:a16="http://schemas.microsoft.com/office/drawing/2014/main" id="{E5B0CDD3-1957-5BBF-0F5E-81486142BE44}"/>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4271513" y="1495443"/>
              <a:ext cx="530566" cy="568288"/>
            </a:xfrm>
            <a:prstGeom prst="rect">
              <a:avLst/>
            </a:prstGeom>
          </p:spPr>
        </p:pic>
        <p:pic>
          <p:nvPicPr>
            <p:cNvPr id="19" name="Graphique 18" descr="Homme barbu en peignoir">
              <a:extLst>
                <a:ext uri="{FF2B5EF4-FFF2-40B4-BE49-F238E27FC236}">
                  <a16:creationId xmlns:a16="http://schemas.microsoft.com/office/drawing/2014/main" id="{39687FB9-96F4-E4D8-412D-63D763AA8EF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3356703" y="1495443"/>
              <a:ext cx="464533" cy="595718"/>
            </a:xfrm>
            <a:prstGeom prst="rect">
              <a:avLst/>
            </a:prstGeom>
          </p:spPr>
        </p:pic>
        <p:pic>
          <p:nvPicPr>
            <p:cNvPr id="20" name="Graphique 19" descr="Femme tenant un ordinateur portable">
              <a:extLst>
                <a:ext uri="{FF2B5EF4-FFF2-40B4-BE49-F238E27FC236}">
                  <a16:creationId xmlns:a16="http://schemas.microsoft.com/office/drawing/2014/main" id="{DDB759E9-B260-FAD5-F9F0-375720678145}"/>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140390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Concept </a:t>
            </a:r>
            <a:br>
              <a:rPr lang="fr-FR"/>
            </a:br>
            <a:r>
              <a:rPr lang="fr-FR" sz="4800"/>
              <a:t>Décision par l’individu vs Consensus</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006873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6"/>
            <a:ext cx="10515600" cy="423440"/>
          </a:xfrm>
        </p:spPr>
        <p:txBody>
          <a:bodyPr>
            <a:normAutofit fontScale="90000"/>
          </a:bodyPr>
          <a:lstStyle/>
          <a:p>
            <a:r>
              <a:rPr lang="fr-FR"/>
              <a:t>Quelques situations courantes</a:t>
            </a:r>
          </a:p>
        </p:txBody>
      </p:sp>
      <p:sp>
        <p:nvSpPr>
          <p:cNvPr id="3" name="Espace réservé du contenu 2">
            <a:extLst>
              <a:ext uri="{FF2B5EF4-FFF2-40B4-BE49-F238E27FC236}">
                <a16:creationId xmlns:a16="http://schemas.microsoft.com/office/drawing/2014/main" id="{B06AB591-91BB-F7C0-8980-2D87A74D9B9A}"/>
              </a:ext>
            </a:extLst>
          </p:cNvPr>
          <p:cNvSpPr>
            <a:spLocks noGrp="1"/>
          </p:cNvSpPr>
          <p:nvPr>
            <p:ph idx="1"/>
          </p:nvPr>
        </p:nvSpPr>
        <p:spPr>
          <a:xfrm>
            <a:off x="4706224" y="1690688"/>
            <a:ext cx="2726422" cy="3191705"/>
          </a:xfrm>
          <a:solidFill>
            <a:schemeClr val="accent2">
              <a:lumMod val="20000"/>
              <a:lumOff val="80000"/>
            </a:schemeClr>
          </a:solidFill>
        </p:spPr>
        <p:txBody>
          <a:bodyPr>
            <a:normAutofit/>
          </a:bodyPr>
          <a:lstStyle/>
          <a:p>
            <a:pPr marL="0" indent="0" algn="ctr">
              <a:buNone/>
            </a:pPr>
            <a:r>
              <a:rPr lang="fr-FR" sz="1600"/>
              <a:t>Vous vous retrouvez  seul devant un sujet nouveau pour vous et pour l’équipe.</a:t>
            </a:r>
          </a:p>
          <a:p>
            <a:pPr marL="0" indent="0" algn="ctr">
              <a:buNone/>
            </a:pPr>
            <a:r>
              <a:rPr lang="fr-FR" sz="1600"/>
              <a:t>Une décision doit être prise pour avancer sur ce sujet. Cette décision peut impacter plusieurs autres personnes, mais ces personnes ont aussi d’autres priorités.</a:t>
            </a:r>
          </a:p>
          <a:p>
            <a:pPr marL="0" indent="0" algn="ctr">
              <a:buNone/>
            </a:pPr>
            <a:endParaRPr lang="fr-FR" sz="1600"/>
          </a:p>
          <a:p>
            <a:pPr marL="0" indent="0" algn="ctr">
              <a:buNone/>
            </a:pPr>
            <a:r>
              <a:rPr lang="fr-FR" sz="1600" b="1"/>
              <a:t>Appelez-vous votre équipe ou allez vous commencer seul </a:t>
            </a:r>
            <a:r>
              <a:rPr lang="fr-FR" sz="1600"/>
              <a:t>?</a:t>
            </a:r>
          </a:p>
        </p:txBody>
      </p:sp>
      <p:pic>
        <p:nvPicPr>
          <p:cNvPr id="4" name="Image 3" descr="Une image contenant personne, table, intérieur, gens&#10;&#10;Description générée automatiquement">
            <a:extLst>
              <a:ext uri="{FF2B5EF4-FFF2-40B4-BE49-F238E27FC236}">
                <a16:creationId xmlns:a16="http://schemas.microsoft.com/office/drawing/2014/main" id="{83FEED9C-41C1-7BDA-918E-6419F570457B}"/>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653346" y="2746739"/>
            <a:ext cx="3701381" cy="2466971"/>
          </a:xfrm>
          <a:prstGeom prst="rect">
            <a:avLst/>
          </a:prstGeom>
        </p:spPr>
      </p:pic>
      <p:pic>
        <p:nvPicPr>
          <p:cNvPr id="6" name="Image 5" descr="Une image contenant texte, personne, portable, homme&#10;&#10;Description générée automatiquement">
            <a:extLst>
              <a:ext uri="{FF2B5EF4-FFF2-40B4-BE49-F238E27FC236}">
                <a16:creationId xmlns:a16="http://schemas.microsoft.com/office/drawing/2014/main" id="{1B41AC13-F492-0568-7248-5AFB6CC55299}"/>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7" name="Flèche : droite 6">
            <a:extLst>
              <a:ext uri="{FF2B5EF4-FFF2-40B4-BE49-F238E27FC236}">
                <a16:creationId xmlns:a16="http://schemas.microsoft.com/office/drawing/2014/main" id="{AD32F072-0E63-C575-D038-DF575AA07919}"/>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EB6D7B3E-28B8-6ED1-C7B3-6755B6692B4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77241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98941"/>
          </a:xfrm>
        </p:spPr>
        <p:txBody>
          <a:bodyPr>
            <a:normAutofit fontScale="90000"/>
          </a:bodyPr>
          <a:lstStyle/>
          <a:p>
            <a:r>
              <a:rPr lang="fr-FR"/>
              <a:t>Quelques situations courantes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fontScale="92500" lnSpcReduction="10000"/>
          </a:bodyPr>
          <a:lstStyle/>
          <a:p>
            <a:pPr marL="0" indent="0" algn="ctr">
              <a:buFont typeface="Arial" panose="020B0604020202020204" pitchFamily="34" charset="0"/>
              <a:buNone/>
            </a:pPr>
            <a:r>
              <a:rPr lang="fr-FR" sz="1600"/>
              <a:t>Vous cherchez à prendre une décision sur un sujet donné, mais ce sujet peut </a:t>
            </a:r>
            <a:r>
              <a:rPr lang="fr-FR" sz="1600" i="1"/>
              <a:t>peut-être</a:t>
            </a:r>
            <a:r>
              <a:rPr lang="fr-FR" sz="1600"/>
              <a:t> toucher d’autres personnes. </a:t>
            </a:r>
          </a:p>
          <a:p>
            <a:pPr marL="0" indent="0" algn="ctr">
              <a:buFont typeface="Arial" panose="020B0604020202020204" pitchFamily="34" charset="0"/>
              <a:buNone/>
            </a:pPr>
            <a:r>
              <a:rPr lang="fr-FR" sz="1600"/>
              <a:t>Dernièrement, il y a aussi eu beaucoup de plaintes sur la hausse du nombre de mails, de sollicitation et de réunions.</a:t>
            </a:r>
          </a:p>
          <a:p>
            <a:pPr marL="0" indent="0" algn="ctr">
              <a:buFont typeface="Arial" panose="020B0604020202020204" pitchFamily="34" charset="0"/>
              <a:buNone/>
            </a:pPr>
            <a:endParaRPr lang="fr-FR" sz="1600"/>
          </a:p>
          <a:p>
            <a:pPr marL="0" indent="0" algn="ctr">
              <a:buFont typeface="Arial" panose="020B0604020202020204" pitchFamily="34" charset="0"/>
              <a:buNone/>
            </a:pPr>
            <a:endParaRPr lang="fr-FR" sz="1600"/>
          </a:p>
          <a:p>
            <a:pPr marL="0" indent="0" algn="ctr">
              <a:buFont typeface="Arial" panose="020B0604020202020204" pitchFamily="34" charset="0"/>
              <a:buNone/>
            </a:pPr>
            <a:r>
              <a:rPr lang="fr-FR" sz="1600" b="1"/>
              <a:t>Comment choisir entre contacter massivement et commencer seul en attendant d’en savoir plus ?</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838200" y="2746739"/>
            <a:ext cx="3700456" cy="2466971"/>
          </a:xfrm>
          <a:prstGeom prst="rect">
            <a:avLst/>
          </a:prstGeom>
        </p:spPr>
      </p:pic>
      <p:pic>
        <p:nvPicPr>
          <p:cNvPr id="13" name="Image 12">
            <a:extLst>
              <a:ext uri="{FF2B5EF4-FFF2-40B4-BE49-F238E27FC236}">
                <a16:creationId xmlns:a16="http://schemas.microsoft.com/office/drawing/2014/main" id="{676BB71C-1921-2294-AA38-ECDA4628ADE3}"/>
              </a:ext>
            </a:extLst>
          </p:cNvPr>
          <p:cNvPicPr>
            <a:picLocks noChangeAspect="1"/>
          </p:cNvPicPr>
          <p:nvPr/>
        </p:nvPicPr>
        <p:blipFill rotWithShape="1">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7653346"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65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intérieur, personne, gens, groupe&#10;&#10;Description générée automatiquement">
            <a:extLst>
              <a:ext uri="{FF2B5EF4-FFF2-40B4-BE49-F238E27FC236}">
                <a16:creationId xmlns:a16="http://schemas.microsoft.com/office/drawing/2014/main" id="{A9D0BDDA-EBF2-6F4D-000E-283F3A55F10A}"/>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7600214" y="2746739"/>
            <a:ext cx="3700456" cy="2466971"/>
          </a:xfrm>
          <a:prstGeom prst="rect">
            <a:avLst/>
          </a:prstGeom>
        </p:spPr>
      </p:pic>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31829"/>
          </a:xfrm>
        </p:spPr>
        <p:txBody>
          <a:bodyPr>
            <a:normAutofit fontScale="90000"/>
          </a:bodyPr>
          <a:lstStyle/>
          <a:p>
            <a:r>
              <a:rPr lang="fr-FR"/>
              <a:t>Quelques situations courantes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lnSpcReduction="10000"/>
          </a:bodyPr>
          <a:lstStyle/>
          <a:p>
            <a:pPr marL="0" indent="0" algn="ctr">
              <a:buFont typeface="Arial" panose="020B0604020202020204" pitchFamily="34" charset="0"/>
              <a:buNone/>
            </a:pPr>
            <a:r>
              <a:rPr lang="fr-FR" sz="1600"/>
              <a:t>Vous avez récemment constaté plusieurs frustrations dans le service, sur le fait « de ne pas être mis dans la boucle ». </a:t>
            </a:r>
          </a:p>
          <a:p>
            <a:pPr marL="0" indent="0" algn="ctr">
              <a:buFont typeface="Arial" panose="020B0604020202020204" pitchFamily="34" charset="0"/>
              <a:buNone/>
            </a:pPr>
            <a:r>
              <a:rPr lang="fr-FR" sz="1600"/>
              <a:t>Vous faites face cependant à une urgence opérationnelle, une difficulté à trouver une disponibilité commune avant un certain temps.</a:t>
            </a:r>
          </a:p>
          <a:p>
            <a:pPr marL="0" indent="0" algn="ctr">
              <a:buFont typeface="Arial" panose="020B0604020202020204" pitchFamily="34" charset="0"/>
              <a:buNone/>
            </a:pPr>
            <a:r>
              <a:rPr lang="fr-FR" sz="1600" b="1"/>
              <a:t>Comment savoir si c’est le bon moment / sujet pour convoquer les personnes, ou bien s’il faut avancer seul ?</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5891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La question derrière ces situations </a:t>
            </a:r>
          </a:p>
        </p:txBody>
      </p:sp>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2015" y="3853491"/>
            <a:ext cx="1233424" cy="1662837"/>
          </a:xfrm>
          <a:prstGeom prst="rect">
            <a:avLst/>
          </a:prstGeom>
        </p:spPr>
      </p:pic>
      <p:sp>
        <p:nvSpPr>
          <p:cNvPr id="12" name="Rectangle 11">
            <a:extLst>
              <a:ext uri="{FF2B5EF4-FFF2-40B4-BE49-F238E27FC236}">
                <a16:creationId xmlns:a16="http://schemas.microsoft.com/office/drawing/2014/main" id="{B6233E0C-9E93-56F6-08CF-52BC032DECC7}"/>
              </a:ext>
            </a:extLst>
          </p:cNvPr>
          <p:cNvSpPr/>
          <p:nvPr/>
        </p:nvSpPr>
        <p:spPr>
          <a:xfrm>
            <a:off x="3042579" y="5052772"/>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AGENT</a:t>
            </a:r>
          </a:p>
        </p:txBody>
      </p:sp>
      <p:grpSp>
        <p:nvGrpSpPr>
          <p:cNvPr id="17" name="Groupe 16">
            <a:extLst>
              <a:ext uri="{FF2B5EF4-FFF2-40B4-BE49-F238E27FC236}">
                <a16:creationId xmlns:a16="http://schemas.microsoft.com/office/drawing/2014/main" id="{5DEF7EE9-942F-AF30-A449-8B4B33F86BDD}"/>
              </a:ext>
            </a:extLst>
          </p:cNvPr>
          <p:cNvGrpSpPr/>
          <p:nvPr/>
        </p:nvGrpSpPr>
        <p:grpSpPr>
          <a:xfrm>
            <a:off x="6253699" y="3853491"/>
            <a:ext cx="3861400" cy="1137958"/>
            <a:chOff x="7608492" y="3090093"/>
            <a:chExt cx="1801932" cy="531031"/>
          </a:xfrm>
        </p:grpSpPr>
        <p:pic>
          <p:nvPicPr>
            <p:cNvPr id="13" name="Graphique 12" descr="Homme portant un sweat à capuche">
              <a:extLst>
                <a:ext uri="{FF2B5EF4-FFF2-40B4-BE49-F238E27FC236}">
                  <a16:creationId xmlns:a16="http://schemas.microsoft.com/office/drawing/2014/main" id="{91DA5048-0FE0-7499-8B9D-BD1A8D2244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41864" y="3098686"/>
              <a:ext cx="387523" cy="522438"/>
            </a:xfrm>
            <a:prstGeom prst="rect">
              <a:avLst/>
            </a:prstGeom>
          </p:spPr>
        </p:pic>
        <p:pic>
          <p:nvPicPr>
            <p:cNvPr id="14" name="Graphique 13" descr="Femme avec bras prothétique">
              <a:extLst>
                <a:ext uri="{FF2B5EF4-FFF2-40B4-BE49-F238E27FC236}">
                  <a16:creationId xmlns:a16="http://schemas.microsoft.com/office/drawing/2014/main" id="{20D362A7-9E61-3B3D-D5A8-DC9B4E82865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40349" y="3090093"/>
              <a:ext cx="482456" cy="506579"/>
            </a:xfrm>
            <a:prstGeom prst="rect">
              <a:avLst/>
            </a:prstGeom>
          </p:spPr>
        </p:pic>
        <p:pic>
          <p:nvPicPr>
            <p:cNvPr id="15" name="Graphique 14" descr="Homme barbu en peignoir">
              <a:extLst>
                <a:ext uri="{FF2B5EF4-FFF2-40B4-BE49-F238E27FC236}">
                  <a16:creationId xmlns:a16="http://schemas.microsoft.com/office/drawing/2014/main" id="{C5E09B40-C0B0-79AF-4397-25215012BBF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608492" y="3090093"/>
              <a:ext cx="422410" cy="531030"/>
            </a:xfrm>
            <a:prstGeom prst="rect">
              <a:avLst/>
            </a:prstGeom>
          </p:spPr>
        </p:pic>
        <p:pic>
          <p:nvPicPr>
            <p:cNvPr id="16" name="Graphique 15" descr="Femme tenant un ordinateur portable">
              <a:extLst>
                <a:ext uri="{FF2B5EF4-FFF2-40B4-BE49-F238E27FC236}">
                  <a16:creationId xmlns:a16="http://schemas.microsoft.com/office/drawing/2014/main" id="{84A508FE-71F4-810F-44C0-028775DB0FD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911843" y="3114544"/>
              <a:ext cx="498581" cy="506579"/>
            </a:xfrm>
            <a:prstGeom prst="rect">
              <a:avLst/>
            </a:prstGeom>
          </p:spPr>
        </p:pic>
      </p:grpSp>
      <p:sp>
        <p:nvSpPr>
          <p:cNvPr id="18" name="Rectangle 17">
            <a:extLst>
              <a:ext uri="{FF2B5EF4-FFF2-40B4-BE49-F238E27FC236}">
                <a16:creationId xmlns:a16="http://schemas.microsoft.com/office/drawing/2014/main" id="{93A57427-7231-F44B-4F72-761CC322EA51}"/>
              </a:ext>
            </a:extLst>
          </p:cNvPr>
          <p:cNvSpPr/>
          <p:nvPr/>
        </p:nvSpPr>
        <p:spPr>
          <a:xfrm>
            <a:off x="7191691" y="5052772"/>
            <a:ext cx="1689226" cy="29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NON-AGENTS</a:t>
            </a:r>
          </a:p>
        </p:txBody>
      </p:sp>
      <p:sp>
        <p:nvSpPr>
          <p:cNvPr id="19" name="Espace réservé du contenu 2">
            <a:extLst>
              <a:ext uri="{FF2B5EF4-FFF2-40B4-BE49-F238E27FC236}">
                <a16:creationId xmlns:a16="http://schemas.microsoft.com/office/drawing/2014/main" id="{80C19397-CAE1-FAD2-ADAB-68A23CB56BA5}"/>
              </a:ext>
            </a:extLst>
          </p:cNvPr>
          <p:cNvSpPr>
            <a:spLocks noGrp="1"/>
          </p:cNvSpPr>
          <p:nvPr>
            <p:ph idx="1"/>
          </p:nvPr>
        </p:nvSpPr>
        <p:spPr>
          <a:xfrm>
            <a:off x="2852015" y="2504930"/>
            <a:ext cx="6515923" cy="971920"/>
          </a:xfrm>
        </p:spPr>
        <p:txBody>
          <a:bodyPr>
            <a:normAutofit/>
          </a:bodyPr>
          <a:lstStyle/>
          <a:p>
            <a:pPr marL="0" indent="0">
              <a:buNone/>
            </a:pPr>
            <a:r>
              <a:rPr lang="fr-FR" sz="1800"/>
              <a:t>Toutes ces situations impliquent un </a:t>
            </a:r>
            <a:r>
              <a:rPr lang="fr-FR" sz="1800" b="1">
                <a:solidFill>
                  <a:schemeClr val="accent2"/>
                </a:solidFill>
              </a:rPr>
              <a:t>AGENT</a:t>
            </a:r>
            <a:r>
              <a:rPr lang="fr-FR" sz="1800"/>
              <a:t> qui peut décider ou non d’agir, et des </a:t>
            </a:r>
            <a:r>
              <a:rPr lang="fr-FR" sz="1800" b="1">
                <a:solidFill>
                  <a:schemeClr val="accent1"/>
                </a:solidFill>
              </a:rPr>
              <a:t>NON-AGENTS</a:t>
            </a:r>
            <a:r>
              <a:rPr lang="fr-FR" sz="1800"/>
              <a:t> (connus ou inconnus) qui pourraient contribuer à décider sur l’action (ou la non action)</a:t>
            </a:r>
            <a:endParaRPr lang="fr-FR" sz="1800" i="1">
              <a:solidFill>
                <a:srgbClr val="3494BA"/>
              </a:solidFill>
            </a:endParaRPr>
          </a:p>
        </p:txBody>
      </p:sp>
    </p:spTree>
    <p:extLst>
      <p:ext uri="{BB962C8B-B14F-4D97-AF65-F5344CB8AC3E}">
        <p14:creationId xmlns:p14="http://schemas.microsoft.com/office/powerpoint/2010/main" val="871575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hylactère : pensées 3">
            <a:extLst>
              <a:ext uri="{FF2B5EF4-FFF2-40B4-BE49-F238E27FC236}">
                <a16:creationId xmlns:a16="http://schemas.microsoft.com/office/drawing/2014/main" id="{C358EAD8-7EEB-380E-D376-51D1F12760E6}"/>
              </a:ext>
            </a:extLst>
          </p:cNvPr>
          <p:cNvSpPr/>
          <p:nvPr/>
        </p:nvSpPr>
        <p:spPr>
          <a:xfrm>
            <a:off x="1820410" y="1690688"/>
            <a:ext cx="9748008" cy="2785282"/>
          </a:xfrm>
          <a:prstGeom prst="cloudCallou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chemeClr val="tx1"/>
                </a:solidFill>
              </a:rPr>
              <a:t>Devrais-je </a:t>
            </a:r>
          </a:p>
          <a:p>
            <a:pPr algn="ctr"/>
            <a:endParaRPr lang="fr-FR" sz="2000">
              <a:solidFill>
                <a:schemeClr val="tx1"/>
              </a:solidFill>
            </a:endParaRPr>
          </a:p>
          <a:p>
            <a:pPr algn="ctr"/>
            <a:endParaRPr lang="fr-FR" sz="2000">
              <a:solidFill>
                <a:schemeClr val="tx1"/>
              </a:solidFill>
            </a:endParaRPr>
          </a:p>
          <a:p>
            <a:pPr algn="ctr"/>
            <a:endParaRPr lang="fr-FR" sz="2000">
              <a:solidFill>
                <a:schemeClr val="tx1"/>
              </a:solidFill>
            </a:endParaRPr>
          </a:p>
          <a:p>
            <a:pPr algn="ctr"/>
            <a:r>
              <a:rPr lang="fr-FR" sz="2000">
                <a:solidFill>
                  <a:schemeClr val="tx1"/>
                </a:solidFill>
              </a:rPr>
              <a:t>AGIR SEUL            ou           ME METTRE D’ACCORD AVANT?</a:t>
            </a:r>
          </a:p>
        </p:txBody>
      </p:sp>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La question derrière ces situations </a:t>
            </a:r>
          </a:p>
        </p:txBody>
      </p:sp>
      <p:sp>
        <p:nvSpPr>
          <p:cNvPr id="5" name="Flèche : double flèche horizontale 4">
            <a:extLst>
              <a:ext uri="{FF2B5EF4-FFF2-40B4-BE49-F238E27FC236}">
                <a16:creationId xmlns:a16="http://schemas.microsoft.com/office/drawing/2014/main" id="{20BFE694-84C6-6FA9-894D-5D754B0E76AC}"/>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6" name="Graphique 5" descr="Homme portant un sweat à capuche">
            <a:extLst>
              <a:ext uri="{FF2B5EF4-FFF2-40B4-BE49-F238E27FC236}">
                <a16:creationId xmlns:a16="http://schemas.microsoft.com/office/drawing/2014/main" id="{5CD5EC60-CE17-5CD2-E11D-43B7DA6CA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67800" y="2672804"/>
            <a:ext cx="387523" cy="522438"/>
          </a:xfrm>
          <a:prstGeom prst="rect">
            <a:avLst/>
          </a:prstGeom>
        </p:spPr>
      </p:pic>
      <p:pic>
        <p:nvPicPr>
          <p:cNvPr id="7" name="Graphique 6" descr="Homme portant un sweat à capuche">
            <a:extLst>
              <a:ext uri="{FF2B5EF4-FFF2-40B4-BE49-F238E27FC236}">
                <a16:creationId xmlns:a16="http://schemas.microsoft.com/office/drawing/2014/main" id="{A5AB35F6-C4DC-CB09-FAAD-C7835F6E8B1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21626" y="2691671"/>
            <a:ext cx="387523" cy="522438"/>
          </a:xfrm>
          <a:prstGeom prst="rect">
            <a:avLst/>
          </a:prstGeom>
        </p:spPr>
      </p:pic>
      <p:pic>
        <p:nvPicPr>
          <p:cNvPr id="8" name="Graphique 7" descr="Femme avec bras prothétique">
            <a:extLst>
              <a:ext uri="{FF2B5EF4-FFF2-40B4-BE49-F238E27FC236}">
                <a16:creationId xmlns:a16="http://schemas.microsoft.com/office/drawing/2014/main" id="{2569BD9B-948E-BABD-671E-F42308EC3FD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66285" y="2664211"/>
            <a:ext cx="482456" cy="506579"/>
          </a:xfrm>
          <a:prstGeom prst="rect">
            <a:avLst/>
          </a:prstGeom>
        </p:spPr>
      </p:pic>
      <p:pic>
        <p:nvPicPr>
          <p:cNvPr id="9" name="Graphique 8" descr="Homme barbu en peignoir">
            <a:extLst>
              <a:ext uri="{FF2B5EF4-FFF2-40B4-BE49-F238E27FC236}">
                <a16:creationId xmlns:a16="http://schemas.microsoft.com/office/drawing/2014/main" id="{2C886C98-7963-FF6C-030E-91FD5ACCA46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34428" y="2664211"/>
            <a:ext cx="422410" cy="531030"/>
          </a:xfrm>
          <a:prstGeom prst="rect">
            <a:avLst/>
          </a:prstGeom>
        </p:spPr>
      </p:pic>
      <p:pic>
        <p:nvPicPr>
          <p:cNvPr id="10" name="Graphique 9" descr="Femme tenant un ordinateur portable">
            <a:extLst>
              <a:ext uri="{FF2B5EF4-FFF2-40B4-BE49-F238E27FC236}">
                <a16:creationId xmlns:a16="http://schemas.microsoft.com/office/drawing/2014/main" id="{16B49B2A-950F-FAE9-38B8-23745B2582E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437779" y="2688662"/>
            <a:ext cx="498581" cy="506579"/>
          </a:xfrm>
          <a:prstGeom prst="rect">
            <a:avLst/>
          </a:prstGeom>
        </p:spPr>
      </p:pic>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414078" y="4893726"/>
            <a:ext cx="1233424" cy="1662837"/>
          </a:xfrm>
          <a:prstGeom prst="rect">
            <a:avLst/>
          </a:prstGeom>
        </p:spPr>
      </p:pic>
    </p:spTree>
    <p:extLst>
      <p:ext uri="{BB962C8B-B14F-4D97-AF65-F5344CB8AC3E}">
        <p14:creationId xmlns:p14="http://schemas.microsoft.com/office/powerpoint/2010/main" val="4097161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fr-FR"/>
              <a:t>Agir vite seul(e) ou bien se mettre d’accord au préalable </a:t>
            </a:r>
          </a:p>
        </p:txBody>
      </p:sp>
      <p:sp>
        <p:nvSpPr>
          <p:cNvPr id="4" name="Flèche : double flèche horizontale 3">
            <a:extLst>
              <a:ext uri="{FF2B5EF4-FFF2-40B4-BE49-F238E27FC236}">
                <a16:creationId xmlns:a16="http://schemas.microsoft.com/office/drawing/2014/main" id="{DD6821DC-E2FD-6E6E-2BD0-8BF40EF7DEB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Espace réservé du contenu 2">
            <a:extLst>
              <a:ext uri="{FF2B5EF4-FFF2-40B4-BE49-F238E27FC236}">
                <a16:creationId xmlns:a16="http://schemas.microsoft.com/office/drawing/2014/main" id="{CB8A9652-91C1-C744-6552-C29B22CA249C}"/>
              </a:ext>
            </a:extLst>
          </p:cNvPr>
          <p:cNvSpPr>
            <a:spLocks noGrp="1"/>
          </p:cNvSpPr>
          <p:nvPr>
            <p:ph idx="1"/>
          </p:nvPr>
        </p:nvSpPr>
        <p:spPr>
          <a:xfrm>
            <a:off x="838198" y="2673455"/>
            <a:ext cx="4003704" cy="2242401"/>
          </a:xfrm>
        </p:spPr>
        <p:txBody>
          <a:bodyPr>
            <a:normAutofit/>
          </a:bodyPr>
          <a:lstStyle/>
          <a:p>
            <a:pPr marL="0" indent="0">
              <a:buNone/>
            </a:pPr>
            <a:r>
              <a:rPr lang="fr-FR" sz="1800"/>
              <a:t>Privilégier l’action et la décision rapide </a:t>
            </a:r>
          </a:p>
          <a:p>
            <a:r>
              <a:rPr lang="fr-FR" sz="1800"/>
              <a:t>Décision par la première personne possible (qui en a l’autorité ou l’opportunité)</a:t>
            </a:r>
          </a:p>
          <a:p>
            <a:r>
              <a:rPr lang="fr-FR" sz="1800"/>
              <a:t>Hypothèse du consensus par défaut </a:t>
            </a:r>
            <a:r>
              <a:rPr lang="fr-FR" sz="1800" i="1">
                <a:solidFill>
                  <a:srgbClr val="3494BA"/>
                </a:solidFill>
              </a:rPr>
              <a:t>(« Dans le doute ils sont d’accord avec moi »)</a:t>
            </a:r>
          </a:p>
        </p:txBody>
      </p:sp>
      <p:sp>
        <p:nvSpPr>
          <p:cNvPr id="6" name="Espace réservé du contenu 2">
            <a:extLst>
              <a:ext uri="{FF2B5EF4-FFF2-40B4-BE49-F238E27FC236}">
                <a16:creationId xmlns:a16="http://schemas.microsoft.com/office/drawing/2014/main" id="{38DA4E6F-91A0-8731-9119-675B6253B1F9}"/>
              </a:ext>
            </a:extLst>
          </p:cNvPr>
          <p:cNvSpPr txBox="1">
            <a:spLocks/>
          </p:cNvSpPr>
          <p:nvPr/>
        </p:nvSpPr>
        <p:spPr>
          <a:xfrm>
            <a:off x="7272471" y="2673455"/>
            <a:ext cx="4081329" cy="2095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Privilégier l’appropriation de la décision</a:t>
            </a:r>
          </a:p>
          <a:p>
            <a:r>
              <a:rPr lang="fr-FR" sz="1800"/>
              <a:t>Décision par le groupe </a:t>
            </a:r>
          </a:p>
          <a:p>
            <a:r>
              <a:rPr lang="fr-FR" sz="1800"/>
              <a:t>Hypothèse du consensus utile </a:t>
            </a:r>
            <a:r>
              <a:rPr lang="fr-FR" sz="1800" i="1">
                <a:solidFill>
                  <a:srgbClr val="3494BA"/>
                </a:solidFill>
              </a:rPr>
              <a:t>(« Prendre le temps de se mettre d’accord est mieux qu’agir vite dans cette situation »)</a:t>
            </a:r>
          </a:p>
          <a:p>
            <a:endParaRPr lang="fr-FR" sz="1800"/>
          </a:p>
        </p:txBody>
      </p:sp>
      <p:sp>
        <p:nvSpPr>
          <p:cNvPr id="7" name="ZoneTexte 6">
            <a:extLst>
              <a:ext uri="{FF2B5EF4-FFF2-40B4-BE49-F238E27FC236}">
                <a16:creationId xmlns:a16="http://schemas.microsoft.com/office/drawing/2014/main" id="{936B2D54-01EB-E713-D2FB-BC81FB7A7761}"/>
              </a:ext>
            </a:extLst>
          </p:cNvPr>
          <p:cNvSpPr txBox="1"/>
          <p:nvPr/>
        </p:nvSpPr>
        <p:spPr>
          <a:xfrm>
            <a:off x="3965284" y="5353071"/>
            <a:ext cx="1703417" cy="1115368"/>
          </a:xfrm>
          <a:prstGeom prst="rect">
            <a:avLst/>
          </a:prstGeom>
          <a:solidFill>
            <a:schemeClr val="bg1">
              <a:lumMod val="85000"/>
            </a:schemeClr>
          </a:solidFill>
        </p:spPr>
        <p:txBody>
          <a:bodyPr wrap="square" anchor="ctr">
            <a:noAutofit/>
          </a:bodyPr>
          <a:lstStyle/>
          <a:p>
            <a:pPr algn="ctr"/>
            <a:r>
              <a:rPr lang="fr-FR" sz="1400"/>
              <a:t>(Possible) </a:t>
            </a:r>
          </a:p>
          <a:p>
            <a:pPr algn="ctr"/>
            <a:r>
              <a:rPr lang="fr-FR" sz="1400"/>
              <a:t>Revue de la décision a posteriori </a:t>
            </a:r>
            <a:endParaRPr lang="fr-FR" sz="1400" i="1">
              <a:solidFill>
                <a:srgbClr val="3494BA"/>
              </a:solidFill>
            </a:endParaRPr>
          </a:p>
          <a:p>
            <a:pPr algn="ctr"/>
            <a:r>
              <a:rPr lang="fr-FR" sz="1400" i="1">
                <a:solidFill>
                  <a:srgbClr val="3494BA"/>
                </a:solidFill>
              </a:rPr>
              <a:t>« Au pire, on en rediscutera »</a:t>
            </a:r>
          </a:p>
        </p:txBody>
      </p:sp>
      <p:sp>
        <p:nvSpPr>
          <p:cNvPr id="8" name="ZoneTexte 7">
            <a:extLst>
              <a:ext uri="{FF2B5EF4-FFF2-40B4-BE49-F238E27FC236}">
                <a16:creationId xmlns:a16="http://schemas.microsoft.com/office/drawing/2014/main" id="{B5EBD2A6-2429-A911-3217-3004ACE8BADA}"/>
              </a:ext>
            </a:extLst>
          </p:cNvPr>
          <p:cNvSpPr txBox="1"/>
          <p:nvPr/>
        </p:nvSpPr>
        <p:spPr>
          <a:xfrm>
            <a:off x="129480" y="5353071"/>
            <a:ext cx="1703417" cy="1115369"/>
          </a:xfrm>
          <a:prstGeom prst="rect">
            <a:avLst/>
          </a:prstGeom>
          <a:solidFill>
            <a:schemeClr val="bg1">
              <a:lumMod val="85000"/>
            </a:schemeClr>
          </a:solidFill>
        </p:spPr>
        <p:txBody>
          <a:bodyPr wrap="square" anchor="ctr">
            <a:noAutofit/>
          </a:bodyPr>
          <a:lstStyle/>
          <a:p>
            <a:pPr algn="ctr"/>
            <a:r>
              <a:rPr lang="fr-FR" sz="1400"/>
              <a:t>Agir </a:t>
            </a:r>
          </a:p>
          <a:p>
            <a:pPr algn="ctr"/>
            <a:r>
              <a:rPr lang="fr-FR" sz="1400" i="1">
                <a:solidFill>
                  <a:srgbClr val="3494BA"/>
                </a:solidFill>
              </a:rPr>
              <a:t>« Il faut le faire et il faut le faire maintenant »</a:t>
            </a:r>
          </a:p>
        </p:txBody>
      </p:sp>
      <p:sp>
        <p:nvSpPr>
          <p:cNvPr id="9" name="ZoneTexte 8">
            <a:extLst>
              <a:ext uri="{FF2B5EF4-FFF2-40B4-BE49-F238E27FC236}">
                <a16:creationId xmlns:a16="http://schemas.microsoft.com/office/drawing/2014/main" id="{CB1F89FE-86EC-969F-A8E9-9589E84A9457}"/>
              </a:ext>
            </a:extLst>
          </p:cNvPr>
          <p:cNvSpPr txBox="1"/>
          <p:nvPr/>
        </p:nvSpPr>
        <p:spPr>
          <a:xfrm>
            <a:off x="2047382" y="5353071"/>
            <a:ext cx="1703417" cy="1115369"/>
          </a:xfrm>
          <a:prstGeom prst="rect">
            <a:avLst/>
          </a:prstGeom>
          <a:solidFill>
            <a:schemeClr val="bg1">
              <a:lumMod val="85000"/>
            </a:schemeClr>
          </a:solidFill>
        </p:spPr>
        <p:txBody>
          <a:bodyPr wrap="square" anchor="ctr">
            <a:noAutofit/>
          </a:bodyPr>
          <a:lstStyle/>
          <a:p>
            <a:pPr algn="ctr"/>
            <a:r>
              <a:rPr lang="fr-FR" sz="1400"/>
              <a:t>(Facultatif)</a:t>
            </a:r>
          </a:p>
          <a:p>
            <a:pPr algn="ctr"/>
            <a:r>
              <a:rPr lang="fr-FR" sz="1400"/>
              <a:t>Informer de l’action au début ou à la fin </a:t>
            </a:r>
            <a:r>
              <a:rPr lang="fr-FR" sz="1400" i="1">
                <a:solidFill>
                  <a:srgbClr val="3494BA"/>
                </a:solidFill>
              </a:rPr>
              <a:t>« Voici l’action que j’ai lancée »</a:t>
            </a:r>
          </a:p>
        </p:txBody>
      </p:sp>
      <p:cxnSp>
        <p:nvCxnSpPr>
          <p:cNvPr id="11" name="Connecteur droit avec flèche 10">
            <a:extLst>
              <a:ext uri="{FF2B5EF4-FFF2-40B4-BE49-F238E27FC236}">
                <a16:creationId xmlns:a16="http://schemas.microsoft.com/office/drawing/2014/main" id="{39B203A4-8A69-CC09-5894-02619BF8D20A}"/>
              </a:ext>
            </a:extLst>
          </p:cNvPr>
          <p:cNvCxnSpPr>
            <a:cxnSpLocks/>
            <a:stCxn id="8" idx="3"/>
            <a:endCxn id="9" idx="1"/>
          </p:cNvCxnSpPr>
          <p:nvPr/>
        </p:nvCxnSpPr>
        <p:spPr>
          <a:xfrm>
            <a:off x="1832897" y="5910756"/>
            <a:ext cx="2144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D62F100-A626-7A08-181F-250E890B8CDF}"/>
              </a:ext>
            </a:extLst>
          </p:cNvPr>
          <p:cNvCxnSpPr>
            <a:cxnSpLocks/>
            <a:stCxn id="9" idx="3"/>
            <a:endCxn id="7" idx="1"/>
          </p:cNvCxnSpPr>
          <p:nvPr/>
        </p:nvCxnSpPr>
        <p:spPr>
          <a:xfrm flipV="1">
            <a:off x="3750799" y="5910755"/>
            <a:ext cx="214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D15BDA7D-963C-23DF-D12F-7E2204567DA3}"/>
              </a:ext>
            </a:extLst>
          </p:cNvPr>
          <p:cNvSpPr txBox="1"/>
          <p:nvPr/>
        </p:nvSpPr>
        <p:spPr>
          <a:xfrm>
            <a:off x="6366438" y="5353071"/>
            <a:ext cx="1703417" cy="1115369"/>
          </a:xfrm>
          <a:prstGeom prst="rect">
            <a:avLst/>
          </a:prstGeom>
          <a:solidFill>
            <a:schemeClr val="bg1">
              <a:lumMod val="85000"/>
            </a:schemeClr>
          </a:solidFill>
        </p:spPr>
        <p:txBody>
          <a:bodyPr wrap="square" anchor="ctr">
            <a:noAutofit/>
          </a:bodyPr>
          <a:lstStyle/>
          <a:p>
            <a:pPr algn="ctr"/>
            <a:r>
              <a:rPr lang="fr-FR" sz="1400"/>
              <a:t>Prendre le temps de poser les termes de la décision </a:t>
            </a:r>
          </a:p>
          <a:p>
            <a:pPr algn="ctr"/>
            <a:r>
              <a:rPr lang="fr-FR" sz="1400" i="1">
                <a:solidFill>
                  <a:srgbClr val="3494BA"/>
                </a:solidFill>
              </a:rPr>
              <a:t>« Mettons les options au clair »</a:t>
            </a:r>
          </a:p>
        </p:txBody>
      </p:sp>
      <p:sp>
        <p:nvSpPr>
          <p:cNvPr id="24" name="ZoneTexte 23">
            <a:extLst>
              <a:ext uri="{FF2B5EF4-FFF2-40B4-BE49-F238E27FC236}">
                <a16:creationId xmlns:a16="http://schemas.microsoft.com/office/drawing/2014/main" id="{542EDB81-C168-13DF-1341-97929ACE70DD}"/>
              </a:ext>
            </a:extLst>
          </p:cNvPr>
          <p:cNvSpPr txBox="1"/>
          <p:nvPr/>
        </p:nvSpPr>
        <p:spPr>
          <a:xfrm>
            <a:off x="8255528" y="5353071"/>
            <a:ext cx="1703417" cy="1115369"/>
          </a:xfrm>
          <a:prstGeom prst="rect">
            <a:avLst/>
          </a:prstGeom>
          <a:solidFill>
            <a:schemeClr val="bg1">
              <a:lumMod val="85000"/>
            </a:schemeClr>
          </a:solidFill>
        </p:spPr>
        <p:txBody>
          <a:bodyPr wrap="square" anchor="ctr">
            <a:noAutofit/>
          </a:bodyPr>
          <a:lstStyle/>
          <a:p>
            <a:pPr algn="ctr"/>
            <a:r>
              <a:rPr lang="fr-FR" sz="1400"/>
              <a:t>Convenir d’un consensus</a:t>
            </a:r>
          </a:p>
          <a:p>
            <a:pPr algn="ctr"/>
            <a:r>
              <a:rPr lang="fr-FR" sz="1400" i="1">
                <a:solidFill>
                  <a:srgbClr val="3494BA"/>
                </a:solidFill>
              </a:rPr>
              <a:t>« Mettons nous d’accord »</a:t>
            </a:r>
          </a:p>
        </p:txBody>
      </p:sp>
      <p:sp>
        <p:nvSpPr>
          <p:cNvPr id="25" name="ZoneTexte 24">
            <a:extLst>
              <a:ext uri="{FF2B5EF4-FFF2-40B4-BE49-F238E27FC236}">
                <a16:creationId xmlns:a16="http://schemas.microsoft.com/office/drawing/2014/main" id="{A0F4137A-DE26-7B0A-C924-EB4DC35103C7}"/>
              </a:ext>
            </a:extLst>
          </p:cNvPr>
          <p:cNvSpPr txBox="1"/>
          <p:nvPr/>
        </p:nvSpPr>
        <p:spPr>
          <a:xfrm>
            <a:off x="10144618" y="5353071"/>
            <a:ext cx="1703417" cy="1115369"/>
          </a:xfrm>
          <a:prstGeom prst="rect">
            <a:avLst/>
          </a:prstGeom>
          <a:solidFill>
            <a:schemeClr val="bg1">
              <a:lumMod val="85000"/>
            </a:schemeClr>
          </a:solidFill>
        </p:spPr>
        <p:txBody>
          <a:bodyPr wrap="square" anchor="ctr">
            <a:noAutofit/>
          </a:bodyPr>
          <a:lstStyle/>
          <a:p>
            <a:pPr algn="ctr"/>
            <a:r>
              <a:rPr lang="fr-FR" sz="1400"/>
              <a:t>Agir et faire assumer collectivement la décision </a:t>
            </a:r>
          </a:p>
          <a:p>
            <a:pPr algn="ctr"/>
            <a:r>
              <a:rPr lang="fr-FR" sz="1400" i="1">
                <a:solidFill>
                  <a:srgbClr val="3494BA"/>
                </a:solidFill>
              </a:rPr>
              <a:t>« C’est la volonté du groupe »</a:t>
            </a:r>
          </a:p>
        </p:txBody>
      </p:sp>
      <p:cxnSp>
        <p:nvCxnSpPr>
          <p:cNvPr id="27" name="Connecteur droit avec flèche 26">
            <a:extLst>
              <a:ext uri="{FF2B5EF4-FFF2-40B4-BE49-F238E27FC236}">
                <a16:creationId xmlns:a16="http://schemas.microsoft.com/office/drawing/2014/main" id="{7E75B66D-55EB-04E4-6E49-42BB0304B109}"/>
              </a:ext>
            </a:extLst>
          </p:cNvPr>
          <p:cNvCxnSpPr>
            <a:cxnSpLocks/>
            <a:stCxn id="23" idx="3"/>
            <a:endCxn id="24" idx="1"/>
          </p:cNvCxnSpPr>
          <p:nvPr/>
        </p:nvCxnSpPr>
        <p:spPr>
          <a:xfrm>
            <a:off x="806985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9C3C992-D315-C4FE-878B-669E177EC428}"/>
              </a:ext>
            </a:extLst>
          </p:cNvPr>
          <p:cNvCxnSpPr>
            <a:cxnSpLocks/>
            <a:stCxn id="24" idx="3"/>
            <a:endCxn id="25" idx="1"/>
          </p:cNvCxnSpPr>
          <p:nvPr/>
        </p:nvCxnSpPr>
        <p:spPr>
          <a:xfrm>
            <a:off x="995894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0EC4E9B8-7798-1E0C-9460-E1B6ACB5FAA0}"/>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50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Les bénéfices de chaque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0" name="Graphique 9" descr="Homme portant un sweat à capuche">
            <a:extLst>
              <a:ext uri="{FF2B5EF4-FFF2-40B4-BE49-F238E27FC236}">
                <a16:creationId xmlns:a16="http://schemas.microsoft.com/office/drawing/2014/main" id="{C087C2B5-DBB1-40D9-A8E6-89282A89DD8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48979" y="4988352"/>
            <a:ext cx="1285875" cy="173355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J’aime la liberté que j’ai et le fait de ne pas avoir à trop demander le droit</a:t>
            </a:r>
          </a:p>
        </p:txBody>
      </p:sp>
      <p:pic>
        <p:nvPicPr>
          <p:cNvPr id="8" name="Graphique 7" descr="Homme portant un sweat à capuche">
            <a:extLst>
              <a:ext uri="{FF2B5EF4-FFF2-40B4-BE49-F238E27FC236}">
                <a16:creationId xmlns:a16="http://schemas.microsoft.com/office/drawing/2014/main" id="{C2DACD54-87D9-AD44-5DA7-C0B23F58A7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2408" y="4934092"/>
            <a:ext cx="1285875" cy="1733550"/>
          </a:xfrm>
          <a:prstGeom prst="rect">
            <a:avLst/>
          </a:prstGeom>
        </p:spPr>
      </p:pic>
      <p:sp>
        <p:nvSpPr>
          <p:cNvPr id="9" name="Bulle narrative : ronde 8">
            <a:extLst>
              <a:ext uri="{FF2B5EF4-FFF2-40B4-BE49-F238E27FC236}">
                <a16:creationId xmlns:a16="http://schemas.microsoft.com/office/drawing/2014/main" id="{D053A504-BB83-E5E1-0035-13B962D825C5}"/>
              </a:ext>
            </a:extLst>
          </p:cNvPr>
          <p:cNvSpPr/>
          <p:nvPr/>
        </p:nvSpPr>
        <p:spPr>
          <a:xfrm>
            <a:off x="8912983" y="2728926"/>
            <a:ext cx="2755300" cy="1911927"/>
          </a:xfrm>
          <a:prstGeom prst="wedgeEllipseCallout">
            <a:avLst>
              <a:gd name="adj1" fmla="val 21146"/>
              <a:gd name="adj2" fmla="val 5678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C’est plus rassurant (et on assumera tous mieux) si on se met d’accord avant</a:t>
            </a:r>
          </a:p>
        </p:txBody>
      </p:sp>
      <p:sp>
        <p:nvSpPr>
          <p:cNvPr id="4" name="Rectangle 3">
            <a:extLst>
              <a:ext uri="{FF2B5EF4-FFF2-40B4-BE49-F238E27FC236}">
                <a16:creationId xmlns:a16="http://schemas.microsoft.com/office/drawing/2014/main" id="{F61A52CF-5DDF-1EE8-75E5-1AAA61431144}"/>
              </a:ext>
            </a:extLst>
          </p:cNvPr>
          <p:cNvSpPr/>
          <p:nvPr/>
        </p:nvSpPr>
        <p:spPr>
          <a:xfrm>
            <a:off x="1165768" y="6193675"/>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AGENT</a:t>
            </a:r>
          </a:p>
        </p:txBody>
      </p:sp>
      <p:sp>
        <p:nvSpPr>
          <p:cNvPr id="5" name="Rectangle 4">
            <a:extLst>
              <a:ext uri="{FF2B5EF4-FFF2-40B4-BE49-F238E27FC236}">
                <a16:creationId xmlns:a16="http://schemas.microsoft.com/office/drawing/2014/main" id="{3E195090-F958-1487-A571-8882B965D4AC}"/>
              </a:ext>
            </a:extLst>
          </p:cNvPr>
          <p:cNvSpPr/>
          <p:nvPr/>
        </p:nvSpPr>
        <p:spPr>
          <a:xfrm>
            <a:off x="10599198" y="6100397"/>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AGENT</a:t>
            </a:r>
          </a:p>
        </p:txBody>
      </p:sp>
    </p:spTree>
    <p:extLst>
      <p:ext uri="{BB962C8B-B14F-4D97-AF65-F5344CB8AC3E}">
        <p14:creationId xmlns:p14="http://schemas.microsoft.com/office/powerpoint/2010/main" val="1739574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Les bénéfices de chaque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6" name="Graphique 15" descr="Femme avec bras prothétique">
            <a:extLst>
              <a:ext uri="{FF2B5EF4-FFF2-40B4-BE49-F238E27FC236}">
                <a16:creationId xmlns:a16="http://schemas.microsoft.com/office/drawing/2014/main" id="{9E72775E-536A-37EC-AE58-A5E13BC1390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65747" y="4988352"/>
            <a:ext cx="1714500" cy="1800225"/>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665747" y="2715992"/>
            <a:ext cx="2291938"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00B050"/>
                </a:solidFill>
              </a:rPr>
              <a:t>On se sent impliqués dans toutes les décisions et donc significatifs</a:t>
            </a:r>
          </a:p>
        </p:txBody>
      </p:sp>
      <p:pic>
        <p:nvPicPr>
          <p:cNvPr id="6" name="Graphique 5" descr="Femme avec bras prothétique">
            <a:extLst>
              <a:ext uri="{FF2B5EF4-FFF2-40B4-BE49-F238E27FC236}">
                <a16:creationId xmlns:a16="http://schemas.microsoft.com/office/drawing/2014/main" id="{6FE6257B-B3BB-3129-FB91-666918305E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0230" y="4907676"/>
            <a:ext cx="1714500" cy="1800225"/>
          </a:xfrm>
          <a:prstGeom prst="rect">
            <a:avLst/>
          </a:prstGeom>
        </p:spPr>
      </p:pic>
      <p:sp>
        <p:nvSpPr>
          <p:cNvPr id="7" name="Bulle narrative : ronde 6">
            <a:extLst>
              <a:ext uri="{FF2B5EF4-FFF2-40B4-BE49-F238E27FC236}">
                <a16:creationId xmlns:a16="http://schemas.microsoft.com/office/drawing/2014/main" id="{F2460A2A-D79A-9161-859D-7FB7F7A8CEE8}"/>
              </a:ext>
            </a:extLst>
          </p:cNvPr>
          <p:cNvSpPr/>
          <p:nvPr/>
        </p:nvSpPr>
        <p:spPr>
          <a:xfrm>
            <a:off x="689572" y="2747562"/>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J’aime quand les gens se débrouillent seuls sans me solliciter </a:t>
            </a:r>
          </a:p>
        </p:txBody>
      </p:sp>
      <p:sp>
        <p:nvSpPr>
          <p:cNvPr id="12" name="Rectangle 11">
            <a:extLst>
              <a:ext uri="{FF2B5EF4-FFF2-40B4-BE49-F238E27FC236}">
                <a16:creationId xmlns:a16="http://schemas.microsoft.com/office/drawing/2014/main" id="{C553C673-3249-7B68-C83A-48653F64A6C9}"/>
              </a:ext>
            </a:extLst>
          </p:cNvPr>
          <p:cNvSpPr/>
          <p:nvPr/>
        </p:nvSpPr>
        <p:spPr>
          <a:xfrm>
            <a:off x="780230" y="6179674"/>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
        <p:nvSpPr>
          <p:cNvPr id="13" name="Rectangle 12">
            <a:extLst>
              <a:ext uri="{FF2B5EF4-FFF2-40B4-BE49-F238E27FC236}">
                <a16:creationId xmlns:a16="http://schemas.microsoft.com/office/drawing/2014/main" id="{E74EF3F7-6364-6D10-DE66-8BB185D0C8A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Tree>
    <p:extLst>
      <p:ext uri="{BB962C8B-B14F-4D97-AF65-F5344CB8AC3E}">
        <p14:creationId xmlns:p14="http://schemas.microsoft.com/office/powerpoint/2010/main" val="3157360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En tant que </a:t>
            </a:r>
            <a:r>
              <a:rPr lang="fr-FR" sz="3600" b="1"/>
              <a:t>Non-Agent</a:t>
            </a:r>
            <a:r>
              <a:rPr lang="fr-FR" sz="3600"/>
              <a:t>, les réactions possibles</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2" name="Graphique 11" descr="Homme barbu en peignoir">
            <a:extLst>
              <a:ext uri="{FF2B5EF4-FFF2-40B4-BE49-F238E27FC236}">
                <a16:creationId xmlns:a16="http://schemas.microsoft.com/office/drawing/2014/main" id="{572FC039-8117-0CFF-2D08-980B1B35374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3654" y="4987003"/>
            <a:ext cx="1333500" cy="167640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Pourquoi est-ce qu’on ne m’a pas mis dans la boucle ? </a:t>
            </a:r>
          </a:p>
        </p:txBody>
      </p:sp>
      <p:pic>
        <p:nvPicPr>
          <p:cNvPr id="4" name="Graphique 3" descr="Homme barbu en peignoir">
            <a:extLst>
              <a:ext uri="{FF2B5EF4-FFF2-40B4-BE49-F238E27FC236}">
                <a16:creationId xmlns:a16="http://schemas.microsoft.com/office/drawing/2014/main" id="{31B60113-522A-7C78-6D14-D56E6A869D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14846" y="4987003"/>
            <a:ext cx="1333500" cy="1676400"/>
          </a:xfrm>
          <a:prstGeom prst="rect">
            <a:avLst/>
          </a:prstGeom>
        </p:spPr>
      </p:pic>
      <p:sp>
        <p:nvSpPr>
          <p:cNvPr id="5" name="Bulle narrative : ronde 4">
            <a:extLst>
              <a:ext uri="{FF2B5EF4-FFF2-40B4-BE49-F238E27FC236}">
                <a16:creationId xmlns:a16="http://schemas.microsoft.com/office/drawing/2014/main" id="{D3072777-5441-F931-C13E-9A1AFF135A19}"/>
              </a:ext>
            </a:extLst>
          </p:cNvPr>
          <p:cNvSpPr/>
          <p:nvPr/>
        </p:nvSpPr>
        <p:spPr>
          <a:xfrm>
            <a:off x="8989509" y="2589463"/>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On nous appelle encore pour des petites choses, est-ce qu’ils ne pourraient pas se débrouiller ?</a:t>
            </a:r>
          </a:p>
        </p:txBody>
      </p:sp>
      <p:sp>
        <p:nvSpPr>
          <p:cNvPr id="6" name="Rectangle 5">
            <a:extLst>
              <a:ext uri="{FF2B5EF4-FFF2-40B4-BE49-F238E27FC236}">
                <a16:creationId xmlns:a16="http://schemas.microsoft.com/office/drawing/2014/main" id="{0287AEEC-A45E-69B8-D0E2-32B3145EBB7B}"/>
              </a:ext>
            </a:extLst>
          </p:cNvPr>
          <p:cNvSpPr/>
          <p:nvPr/>
        </p:nvSpPr>
        <p:spPr>
          <a:xfrm>
            <a:off x="1004795"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
        <p:nvSpPr>
          <p:cNvPr id="7" name="Rectangle 6">
            <a:extLst>
              <a:ext uri="{FF2B5EF4-FFF2-40B4-BE49-F238E27FC236}">
                <a16:creationId xmlns:a16="http://schemas.microsoft.com/office/drawing/2014/main" id="{C75E0C3A-587E-8460-957E-4BC94DDD36C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Tree>
    <p:extLst>
      <p:ext uri="{BB962C8B-B14F-4D97-AF65-F5344CB8AC3E}">
        <p14:creationId xmlns:p14="http://schemas.microsoft.com/office/powerpoint/2010/main" val="351939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En tant qu’</a:t>
            </a:r>
            <a:r>
              <a:rPr lang="fr-FR" sz="3600" b="1"/>
              <a:t>Agent</a:t>
            </a:r>
            <a:r>
              <a:rPr lang="fr-FR" sz="3600"/>
              <a:t>, les difficultés lorsqu’on est « forcé » de choisir une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4" name="Graphique 13" descr="Femme tenant un ordinateur portable">
            <a:extLst>
              <a:ext uri="{FF2B5EF4-FFF2-40B4-BE49-F238E27FC236}">
                <a16:creationId xmlns:a16="http://schemas.microsoft.com/office/drawing/2014/main" id="{669EC203-21D4-D4C4-8778-C8537ADF1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97036" y="4844957"/>
            <a:ext cx="1781175" cy="1809750"/>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202385" y="2715992"/>
            <a:ext cx="2755300"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Pourquoi est-ce qu’il faut encore faire un grand consensus pour une si petite décision ?</a:t>
            </a:r>
          </a:p>
        </p:txBody>
      </p:sp>
      <p:pic>
        <p:nvPicPr>
          <p:cNvPr id="6" name="Graphique 5" descr="Femme tenant un ordinateur portable">
            <a:extLst>
              <a:ext uri="{FF2B5EF4-FFF2-40B4-BE49-F238E27FC236}">
                <a16:creationId xmlns:a16="http://schemas.microsoft.com/office/drawing/2014/main" id="{1A4EE48C-2712-9728-83C2-0850B4FA741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3789" y="4844957"/>
            <a:ext cx="1781175" cy="1809750"/>
          </a:xfrm>
          <a:prstGeom prst="rect">
            <a:avLst/>
          </a:prstGeom>
        </p:spPr>
      </p:pic>
      <p:sp>
        <p:nvSpPr>
          <p:cNvPr id="7" name="Bulle narrative : ronde 6">
            <a:extLst>
              <a:ext uri="{FF2B5EF4-FFF2-40B4-BE49-F238E27FC236}">
                <a16:creationId xmlns:a16="http://schemas.microsoft.com/office/drawing/2014/main" id="{4B2303B7-3AF0-387E-C8E7-BBDE5FA9CDC8}"/>
              </a:ext>
            </a:extLst>
          </p:cNvPr>
          <p:cNvSpPr/>
          <p:nvPr/>
        </p:nvSpPr>
        <p:spPr>
          <a:xfrm>
            <a:off x="893236" y="2648797"/>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Pourquoi dois-je prendre cette décision seul(e) et donc assumer seul(e) ?</a:t>
            </a:r>
          </a:p>
        </p:txBody>
      </p:sp>
      <p:sp>
        <p:nvSpPr>
          <p:cNvPr id="4" name="Rectangle 3">
            <a:extLst>
              <a:ext uri="{FF2B5EF4-FFF2-40B4-BE49-F238E27FC236}">
                <a16:creationId xmlns:a16="http://schemas.microsoft.com/office/drawing/2014/main" id="{DBB132B3-3A3E-7063-E44F-B8C6F831AC5A}"/>
              </a:ext>
            </a:extLst>
          </p:cNvPr>
          <p:cNvSpPr/>
          <p:nvPr/>
        </p:nvSpPr>
        <p:spPr>
          <a:xfrm>
            <a:off x="893236"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
        <p:nvSpPr>
          <p:cNvPr id="5" name="Rectangle 4">
            <a:extLst>
              <a:ext uri="{FF2B5EF4-FFF2-40B4-BE49-F238E27FC236}">
                <a16:creationId xmlns:a16="http://schemas.microsoft.com/office/drawing/2014/main" id="{546DBBA1-DE70-B008-2932-D4D642872572}"/>
              </a:ext>
            </a:extLst>
          </p:cNvPr>
          <p:cNvSpPr/>
          <p:nvPr/>
        </p:nvSpPr>
        <p:spPr>
          <a:xfrm>
            <a:off x="9896955"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Tree>
    <p:extLst>
      <p:ext uri="{BB962C8B-B14F-4D97-AF65-F5344CB8AC3E}">
        <p14:creationId xmlns:p14="http://schemas.microsoft.com/office/powerpoint/2010/main" val="1365931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fr-FR" sz="3600"/>
              <a:t>Agir vite seul(e) ou bien se mettre d’accord au préalable</a:t>
            </a:r>
            <a:br>
              <a:rPr lang="fr-FR" sz="3600"/>
            </a:br>
            <a:r>
              <a:rPr lang="fr-FR" sz="3600"/>
              <a:t>Avantages et Inconvénients </a:t>
            </a:r>
          </a:p>
        </p:txBody>
      </p:sp>
      <p:sp>
        <p:nvSpPr>
          <p:cNvPr id="13" name="ZoneTexte 12">
            <a:extLst>
              <a:ext uri="{FF2B5EF4-FFF2-40B4-BE49-F238E27FC236}">
                <a16:creationId xmlns:a16="http://schemas.microsoft.com/office/drawing/2014/main" id="{BF4C2AA0-135C-B29D-E7FC-D5EA62D8D6DD}"/>
              </a:ext>
            </a:extLst>
          </p:cNvPr>
          <p:cNvSpPr txBox="1"/>
          <p:nvPr/>
        </p:nvSpPr>
        <p:spPr>
          <a:xfrm>
            <a:off x="838200" y="3062363"/>
            <a:ext cx="1703417" cy="839412"/>
          </a:xfrm>
          <a:prstGeom prst="rect">
            <a:avLst/>
          </a:prstGeom>
          <a:solidFill>
            <a:srgbClr val="54FFB3"/>
          </a:solidFill>
        </p:spPr>
        <p:txBody>
          <a:bodyPr wrap="square" anchor="ctr">
            <a:noAutofit/>
          </a:bodyPr>
          <a:lstStyle/>
          <a:p>
            <a:pPr algn="ctr"/>
            <a:r>
              <a:rPr lang="fr-FR" sz="1400"/>
              <a:t>Rapidité du passage à l’action</a:t>
            </a:r>
          </a:p>
        </p:txBody>
      </p:sp>
      <p:sp>
        <p:nvSpPr>
          <p:cNvPr id="14" name="ZoneTexte 13">
            <a:extLst>
              <a:ext uri="{FF2B5EF4-FFF2-40B4-BE49-F238E27FC236}">
                <a16:creationId xmlns:a16="http://schemas.microsoft.com/office/drawing/2014/main" id="{E07A7605-03F0-FA68-F378-3BAC4CC5500A}"/>
              </a:ext>
            </a:extLst>
          </p:cNvPr>
          <p:cNvSpPr txBox="1"/>
          <p:nvPr/>
        </p:nvSpPr>
        <p:spPr>
          <a:xfrm>
            <a:off x="838200" y="3988638"/>
            <a:ext cx="1703417" cy="839412"/>
          </a:xfrm>
          <a:prstGeom prst="rect">
            <a:avLst/>
          </a:prstGeom>
          <a:solidFill>
            <a:srgbClr val="54FFB3"/>
          </a:solidFill>
        </p:spPr>
        <p:txBody>
          <a:bodyPr wrap="square" anchor="ctr">
            <a:noAutofit/>
          </a:bodyPr>
          <a:lstStyle/>
          <a:p>
            <a:pPr algn="ctr"/>
            <a:r>
              <a:rPr lang="fr-FR" sz="1400"/>
              <a:t>Pas de dépendance à la lourdeur du consensus</a:t>
            </a:r>
          </a:p>
        </p:txBody>
      </p:sp>
      <p:sp>
        <p:nvSpPr>
          <p:cNvPr id="15" name="ZoneTexte 14">
            <a:extLst>
              <a:ext uri="{FF2B5EF4-FFF2-40B4-BE49-F238E27FC236}">
                <a16:creationId xmlns:a16="http://schemas.microsoft.com/office/drawing/2014/main" id="{DB592010-ED48-828E-96FF-3C1ED510BDDF}"/>
              </a:ext>
            </a:extLst>
          </p:cNvPr>
          <p:cNvSpPr txBox="1"/>
          <p:nvPr/>
        </p:nvSpPr>
        <p:spPr>
          <a:xfrm>
            <a:off x="838200" y="4914913"/>
            <a:ext cx="1703417" cy="839412"/>
          </a:xfrm>
          <a:prstGeom prst="rect">
            <a:avLst/>
          </a:prstGeom>
          <a:solidFill>
            <a:srgbClr val="54FFB3"/>
          </a:solidFill>
        </p:spPr>
        <p:txBody>
          <a:bodyPr wrap="square" anchor="ctr">
            <a:noAutofit/>
          </a:bodyPr>
          <a:lstStyle/>
          <a:p>
            <a:pPr algn="ctr"/>
            <a:r>
              <a:rPr lang="fr-FR" sz="1400"/>
              <a:t>Plus grande liberté de test et sentiment de liberté</a:t>
            </a:r>
          </a:p>
        </p:txBody>
      </p:sp>
      <p:sp>
        <p:nvSpPr>
          <p:cNvPr id="16" name="ZoneTexte 15">
            <a:extLst>
              <a:ext uri="{FF2B5EF4-FFF2-40B4-BE49-F238E27FC236}">
                <a16:creationId xmlns:a16="http://schemas.microsoft.com/office/drawing/2014/main" id="{0EABDA3B-02D9-A6A6-F5C7-BC0531F2AE27}"/>
              </a:ext>
            </a:extLst>
          </p:cNvPr>
          <p:cNvSpPr txBox="1"/>
          <p:nvPr/>
        </p:nvSpPr>
        <p:spPr>
          <a:xfrm>
            <a:off x="2631374" y="3988638"/>
            <a:ext cx="1703417" cy="839412"/>
          </a:xfrm>
          <a:prstGeom prst="rect">
            <a:avLst/>
          </a:prstGeom>
          <a:solidFill>
            <a:srgbClr val="FF6699"/>
          </a:solidFill>
        </p:spPr>
        <p:txBody>
          <a:bodyPr wrap="square" anchor="ctr">
            <a:noAutofit/>
          </a:bodyPr>
          <a:lstStyle/>
          <a:p>
            <a:pPr algn="ctr"/>
            <a:r>
              <a:rPr lang="fr-FR" sz="1400"/>
              <a:t>Risque de sentiment (non décisionnaires) d’avoir été mis de côté</a:t>
            </a:r>
          </a:p>
        </p:txBody>
      </p:sp>
      <p:sp>
        <p:nvSpPr>
          <p:cNvPr id="17" name="ZoneTexte 16">
            <a:extLst>
              <a:ext uri="{FF2B5EF4-FFF2-40B4-BE49-F238E27FC236}">
                <a16:creationId xmlns:a16="http://schemas.microsoft.com/office/drawing/2014/main" id="{25208408-9D02-4FE4-A2AB-1F0F161A6B73}"/>
              </a:ext>
            </a:extLst>
          </p:cNvPr>
          <p:cNvSpPr txBox="1"/>
          <p:nvPr/>
        </p:nvSpPr>
        <p:spPr>
          <a:xfrm>
            <a:off x="2631374" y="3062363"/>
            <a:ext cx="1703417" cy="839412"/>
          </a:xfrm>
          <a:prstGeom prst="rect">
            <a:avLst/>
          </a:prstGeom>
          <a:solidFill>
            <a:srgbClr val="FF6699"/>
          </a:solidFill>
        </p:spPr>
        <p:txBody>
          <a:bodyPr wrap="square" anchor="ctr">
            <a:noAutofit/>
          </a:bodyPr>
          <a:lstStyle/>
          <a:p>
            <a:pPr algn="ctr"/>
            <a:r>
              <a:rPr lang="fr-FR" sz="1400"/>
              <a:t>Risque de précipitation par empressement</a:t>
            </a:r>
          </a:p>
        </p:txBody>
      </p:sp>
      <p:sp>
        <p:nvSpPr>
          <p:cNvPr id="18" name="ZoneTexte 17">
            <a:extLst>
              <a:ext uri="{FF2B5EF4-FFF2-40B4-BE49-F238E27FC236}">
                <a16:creationId xmlns:a16="http://schemas.microsoft.com/office/drawing/2014/main" id="{A38D82F5-C3B2-DD72-0C7A-1714055AFC97}"/>
              </a:ext>
            </a:extLst>
          </p:cNvPr>
          <p:cNvSpPr txBox="1"/>
          <p:nvPr/>
        </p:nvSpPr>
        <p:spPr>
          <a:xfrm>
            <a:off x="7857211" y="3075408"/>
            <a:ext cx="1703417" cy="839412"/>
          </a:xfrm>
          <a:prstGeom prst="rect">
            <a:avLst/>
          </a:prstGeom>
          <a:solidFill>
            <a:srgbClr val="54FFB3"/>
          </a:solidFill>
        </p:spPr>
        <p:txBody>
          <a:bodyPr wrap="square" anchor="ctr">
            <a:noAutofit/>
          </a:bodyPr>
          <a:lstStyle/>
          <a:p>
            <a:pPr algn="ctr"/>
            <a:r>
              <a:rPr lang="fr-FR" sz="1400"/>
              <a:t>Le temps est pris pour l’accord</a:t>
            </a:r>
          </a:p>
        </p:txBody>
      </p:sp>
      <p:sp>
        <p:nvSpPr>
          <p:cNvPr id="19" name="ZoneTexte 18">
            <a:extLst>
              <a:ext uri="{FF2B5EF4-FFF2-40B4-BE49-F238E27FC236}">
                <a16:creationId xmlns:a16="http://schemas.microsoft.com/office/drawing/2014/main" id="{A86C9820-6089-62CD-3EF5-32543D93E6E7}"/>
              </a:ext>
            </a:extLst>
          </p:cNvPr>
          <p:cNvSpPr txBox="1"/>
          <p:nvPr/>
        </p:nvSpPr>
        <p:spPr>
          <a:xfrm>
            <a:off x="7857211" y="4001683"/>
            <a:ext cx="1703417" cy="839412"/>
          </a:xfrm>
          <a:prstGeom prst="rect">
            <a:avLst/>
          </a:prstGeom>
          <a:solidFill>
            <a:srgbClr val="54FFB3"/>
          </a:solidFill>
        </p:spPr>
        <p:txBody>
          <a:bodyPr wrap="square" anchor="ctr">
            <a:noAutofit/>
          </a:bodyPr>
          <a:lstStyle/>
          <a:p>
            <a:pPr algn="ctr"/>
            <a:r>
              <a:rPr lang="fr-FR" sz="1400"/>
              <a:t>Tout le monde se sent impliqué</a:t>
            </a:r>
          </a:p>
        </p:txBody>
      </p:sp>
      <p:sp>
        <p:nvSpPr>
          <p:cNvPr id="20" name="ZoneTexte 19">
            <a:extLst>
              <a:ext uri="{FF2B5EF4-FFF2-40B4-BE49-F238E27FC236}">
                <a16:creationId xmlns:a16="http://schemas.microsoft.com/office/drawing/2014/main" id="{55CEF45F-476C-E3C0-8879-5409F0C39CA2}"/>
              </a:ext>
            </a:extLst>
          </p:cNvPr>
          <p:cNvSpPr txBox="1"/>
          <p:nvPr/>
        </p:nvSpPr>
        <p:spPr>
          <a:xfrm>
            <a:off x="7857211" y="4927958"/>
            <a:ext cx="1703417" cy="839412"/>
          </a:xfrm>
          <a:prstGeom prst="rect">
            <a:avLst/>
          </a:prstGeom>
          <a:solidFill>
            <a:srgbClr val="54FFB3"/>
          </a:solidFill>
        </p:spPr>
        <p:txBody>
          <a:bodyPr wrap="square" anchor="ctr">
            <a:noAutofit/>
          </a:bodyPr>
          <a:lstStyle/>
          <a:p>
            <a:pPr algn="ctr"/>
            <a:r>
              <a:rPr lang="fr-FR" sz="1400"/>
              <a:t>Moins de risque de désaccord a posteriori</a:t>
            </a:r>
          </a:p>
        </p:txBody>
      </p:sp>
      <p:sp>
        <p:nvSpPr>
          <p:cNvPr id="21" name="ZoneTexte 20">
            <a:extLst>
              <a:ext uri="{FF2B5EF4-FFF2-40B4-BE49-F238E27FC236}">
                <a16:creationId xmlns:a16="http://schemas.microsoft.com/office/drawing/2014/main" id="{229BA47B-F26F-ABD9-918C-CFD96C385F96}"/>
              </a:ext>
            </a:extLst>
          </p:cNvPr>
          <p:cNvSpPr txBox="1"/>
          <p:nvPr/>
        </p:nvSpPr>
        <p:spPr>
          <a:xfrm>
            <a:off x="9650385" y="4001683"/>
            <a:ext cx="1703417" cy="839412"/>
          </a:xfrm>
          <a:prstGeom prst="rect">
            <a:avLst/>
          </a:prstGeom>
          <a:solidFill>
            <a:srgbClr val="FF6699"/>
          </a:solidFill>
        </p:spPr>
        <p:txBody>
          <a:bodyPr wrap="square" anchor="ctr">
            <a:noAutofit/>
          </a:bodyPr>
          <a:lstStyle/>
          <a:p>
            <a:pPr algn="ctr"/>
            <a:r>
              <a:rPr lang="fr-FR" sz="1400"/>
              <a:t>Impliquer certaines personnes peut être lourd, impossible ou bloquant</a:t>
            </a:r>
          </a:p>
        </p:txBody>
      </p:sp>
      <p:sp>
        <p:nvSpPr>
          <p:cNvPr id="22" name="ZoneTexte 21">
            <a:extLst>
              <a:ext uri="{FF2B5EF4-FFF2-40B4-BE49-F238E27FC236}">
                <a16:creationId xmlns:a16="http://schemas.microsoft.com/office/drawing/2014/main" id="{C4833EC7-5228-2157-C573-CD219C396360}"/>
              </a:ext>
            </a:extLst>
          </p:cNvPr>
          <p:cNvSpPr txBox="1"/>
          <p:nvPr/>
        </p:nvSpPr>
        <p:spPr>
          <a:xfrm>
            <a:off x="9650385" y="3075408"/>
            <a:ext cx="1703417" cy="839412"/>
          </a:xfrm>
          <a:prstGeom prst="rect">
            <a:avLst/>
          </a:prstGeom>
          <a:solidFill>
            <a:srgbClr val="FF6699"/>
          </a:solidFill>
        </p:spPr>
        <p:txBody>
          <a:bodyPr wrap="square" anchor="ctr">
            <a:noAutofit/>
          </a:bodyPr>
          <a:lstStyle/>
          <a:p>
            <a:pPr algn="ctr"/>
            <a:r>
              <a:rPr lang="fr-FR" sz="1400"/>
              <a:t>Lenteur du passage à l’action</a:t>
            </a:r>
          </a:p>
        </p:txBody>
      </p:sp>
      <p:sp>
        <p:nvSpPr>
          <p:cNvPr id="26" name="ZoneTexte 25">
            <a:extLst>
              <a:ext uri="{FF2B5EF4-FFF2-40B4-BE49-F238E27FC236}">
                <a16:creationId xmlns:a16="http://schemas.microsoft.com/office/drawing/2014/main" id="{F298A068-E8C4-28A0-43C7-EEBFE73D5AD0}"/>
              </a:ext>
            </a:extLst>
          </p:cNvPr>
          <p:cNvSpPr txBox="1"/>
          <p:nvPr/>
        </p:nvSpPr>
        <p:spPr>
          <a:xfrm>
            <a:off x="2631372" y="4927958"/>
            <a:ext cx="1703417" cy="839412"/>
          </a:xfrm>
          <a:prstGeom prst="rect">
            <a:avLst/>
          </a:prstGeom>
          <a:solidFill>
            <a:srgbClr val="FF6699"/>
          </a:solidFill>
        </p:spPr>
        <p:txBody>
          <a:bodyPr wrap="square" anchor="ctr">
            <a:noAutofit/>
          </a:bodyPr>
          <a:lstStyle/>
          <a:p>
            <a:pPr algn="ctr"/>
            <a:r>
              <a:rPr lang="fr-FR" sz="1400"/>
              <a:t>Risque de désaccord a posteriori, dommageable pour les relations</a:t>
            </a:r>
          </a:p>
        </p:txBody>
      </p:sp>
      <p:sp>
        <p:nvSpPr>
          <p:cNvPr id="29" name="Flèche : double flèche horizontale 28">
            <a:extLst>
              <a:ext uri="{FF2B5EF4-FFF2-40B4-BE49-F238E27FC236}">
                <a16:creationId xmlns:a16="http://schemas.microsoft.com/office/drawing/2014/main" id="{58F5C0C0-CBAD-83EA-8B72-652961B7CEA2}"/>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cxnSp>
        <p:nvCxnSpPr>
          <p:cNvPr id="30" name="Connecteur droit 29">
            <a:extLst>
              <a:ext uri="{FF2B5EF4-FFF2-40B4-BE49-F238E27FC236}">
                <a16:creationId xmlns:a16="http://schemas.microsoft.com/office/drawing/2014/main" id="{7691227C-ABC6-6A04-ACAB-25D4951938CA}"/>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91F21015-9AB8-A231-DCE5-AAA97BCF2361}"/>
              </a:ext>
            </a:extLst>
          </p:cNvPr>
          <p:cNvSpPr txBox="1"/>
          <p:nvPr/>
        </p:nvSpPr>
        <p:spPr>
          <a:xfrm>
            <a:off x="9650385" y="4927958"/>
            <a:ext cx="1703417" cy="839412"/>
          </a:xfrm>
          <a:prstGeom prst="rect">
            <a:avLst/>
          </a:prstGeom>
          <a:solidFill>
            <a:srgbClr val="FF6699"/>
          </a:solidFill>
        </p:spPr>
        <p:txBody>
          <a:bodyPr wrap="square" anchor="ctr">
            <a:noAutofit/>
          </a:bodyPr>
          <a:lstStyle/>
          <a:p>
            <a:pPr algn="ctr"/>
            <a:r>
              <a:rPr lang="fr-FR" sz="1400"/>
              <a:t>L’implication systématique peut retirer un sentiment de liberté</a:t>
            </a:r>
          </a:p>
        </p:txBody>
      </p:sp>
      <p:sp>
        <p:nvSpPr>
          <p:cNvPr id="3" name="ZoneTexte 2">
            <a:extLst>
              <a:ext uri="{FF2B5EF4-FFF2-40B4-BE49-F238E27FC236}">
                <a16:creationId xmlns:a16="http://schemas.microsoft.com/office/drawing/2014/main" id="{6928E2E5-FCF7-ECC4-2A0C-3423ABCB4EE0}"/>
              </a:ext>
            </a:extLst>
          </p:cNvPr>
          <p:cNvSpPr txBox="1"/>
          <p:nvPr/>
        </p:nvSpPr>
        <p:spPr>
          <a:xfrm>
            <a:off x="838199" y="5841188"/>
            <a:ext cx="1703417" cy="839412"/>
          </a:xfrm>
          <a:prstGeom prst="rect">
            <a:avLst/>
          </a:prstGeom>
          <a:solidFill>
            <a:srgbClr val="54FFB3"/>
          </a:solidFill>
        </p:spPr>
        <p:txBody>
          <a:bodyPr wrap="square" anchor="ctr">
            <a:noAutofit/>
          </a:bodyPr>
          <a:lstStyle/>
          <a:p>
            <a:pPr algn="ctr"/>
            <a:r>
              <a:rPr lang="fr-FR" sz="1400"/>
              <a:t>Ouverture à la sérendipité</a:t>
            </a:r>
          </a:p>
        </p:txBody>
      </p:sp>
      <p:sp>
        <p:nvSpPr>
          <p:cNvPr id="4" name="ZoneTexte 3">
            <a:extLst>
              <a:ext uri="{FF2B5EF4-FFF2-40B4-BE49-F238E27FC236}">
                <a16:creationId xmlns:a16="http://schemas.microsoft.com/office/drawing/2014/main" id="{1983D60B-2F3F-56EE-1CDD-D15D6C150F0D}"/>
              </a:ext>
            </a:extLst>
          </p:cNvPr>
          <p:cNvSpPr txBox="1"/>
          <p:nvPr/>
        </p:nvSpPr>
        <p:spPr>
          <a:xfrm>
            <a:off x="7857211" y="5854233"/>
            <a:ext cx="1703417" cy="839412"/>
          </a:xfrm>
          <a:prstGeom prst="rect">
            <a:avLst/>
          </a:prstGeom>
          <a:solidFill>
            <a:srgbClr val="54FFB3"/>
          </a:solidFill>
        </p:spPr>
        <p:txBody>
          <a:bodyPr wrap="square" anchor="ctr">
            <a:noAutofit/>
          </a:bodyPr>
          <a:lstStyle>
            <a:defPPr>
              <a:defRPr lang="fr-FR"/>
            </a:defPPr>
            <a:lvl1pPr algn="ctr">
              <a:defRPr sz="1400"/>
            </a:lvl1pPr>
          </a:lstStyle>
          <a:p>
            <a:r>
              <a:rPr lang="fr-FR"/>
              <a:t>Vision globale</a:t>
            </a:r>
          </a:p>
        </p:txBody>
      </p:sp>
      <p:sp>
        <p:nvSpPr>
          <p:cNvPr id="5" name="ZoneTexte 4">
            <a:extLst>
              <a:ext uri="{FF2B5EF4-FFF2-40B4-BE49-F238E27FC236}">
                <a16:creationId xmlns:a16="http://schemas.microsoft.com/office/drawing/2014/main" id="{C7732859-6447-2936-4A65-18968B782752}"/>
              </a:ext>
            </a:extLst>
          </p:cNvPr>
          <p:cNvSpPr txBox="1"/>
          <p:nvPr/>
        </p:nvSpPr>
        <p:spPr>
          <a:xfrm>
            <a:off x="9650383" y="5854233"/>
            <a:ext cx="1703417" cy="839412"/>
          </a:xfrm>
          <a:prstGeom prst="rect">
            <a:avLst/>
          </a:prstGeom>
          <a:solidFill>
            <a:srgbClr val="FF6699"/>
          </a:solidFill>
        </p:spPr>
        <p:txBody>
          <a:bodyPr wrap="square" anchor="ctr">
            <a:noAutofit/>
          </a:bodyPr>
          <a:lstStyle>
            <a:defPPr>
              <a:defRPr lang="fr-FR"/>
            </a:defPPr>
            <a:lvl1pPr algn="ctr">
              <a:defRPr sz="1400"/>
            </a:lvl1pPr>
          </a:lstStyle>
          <a:p>
            <a:r>
              <a:rPr lang="fr-FR"/>
              <a:t>Fermeture à la </a:t>
            </a:r>
            <a:r>
              <a:rPr lang="fr-FR" err="1"/>
              <a:t>serendipité</a:t>
            </a:r>
            <a:endParaRPr lang="fr-FR"/>
          </a:p>
        </p:txBody>
      </p:sp>
      <p:sp>
        <p:nvSpPr>
          <p:cNvPr id="6" name="ZoneTexte 5">
            <a:extLst>
              <a:ext uri="{FF2B5EF4-FFF2-40B4-BE49-F238E27FC236}">
                <a16:creationId xmlns:a16="http://schemas.microsoft.com/office/drawing/2014/main" id="{8EFFCDE2-5B95-A855-B60A-1475B0350190}"/>
              </a:ext>
            </a:extLst>
          </p:cNvPr>
          <p:cNvSpPr txBox="1"/>
          <p:nvPr/>
        </p:nvSpPr>
        <p:spPr>
          <a:xfrm>
            <a:off x="2631371" y="5841188"/>
            <a:ext cx="1703417" cy="839412"/>
          </a:xfrm>
          <a:prstGeom prst="rect">
            <a:avLst/>
          </a:prstGeom>
          <a:solidFill>
            <a:srgbClr val="FF6699"/>
          </a:solidFill>
        </p:spPr>
        <p:txBody>
          <a:bodyPr wrap="square" anchor="ctr">
            <a:noAutofit/>
          </a:bodyPr>
          <a:lstStyle>
            <a:defPPr>
              <a:defRPr lang="fr-FR"/>
            </a:defPPr>
            <a:lvl1pPr algn="ctr">
              <a:defRPr sz="1400"/>
            </a:lvl1pPr>
          </a:lstStyle>
          <a:p>
            <a:r>
              <a:rPr lang="fr-FR"/>
              <a:t>Manque de vision globale</a:t>
            </a:r>
          </a:p>
        </p:txBody>
      </p:sp>
    </p:spTree>
    <p:extLst>
      <p:ext uri="{BB962C8B-B14F-4D97-AF65-F5344CB8AC3E}">
        <p14:creationId xmlns:p14="http://schemas.microsoft.com/office/powerpoint/2010/main" val="289322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Agir vite seul(e) ou bien se mettre d’accord au préalable</a:t>
            </a:r>
            <a:br>
              <a:rPr lang="fr-FR" sz="3600"/>
            </a:br>
            <a:r>
              <a:rPr lang="fr-FR" sz="3600" b="1">
                <a:solidFill>
                  <a:srgbClr val="ED7D31"/>
                </a:solidFill>
              </a:rPr>
              <a:t>Conditions favorables </a:t>
            </a:r>
            <a:r>
              <a:rPr lang="fr-FR" sz="3600"/>
              <a:t>qui invitent à une modalité ou une autre</a:t>
            </a:r>
          </a:p>
        </p:txBody>
      </p:sp>
      <p:sp>
        <p:nvSpPr>
          <p:cNvPr id="3" name="Flèche : double flèche horizontale 2">
            <a:extLst>
              <a:ext uri="{FF2B5EF4-FFF2-40B4-BE49-F238E27FC236}">
                <a16:creationId xmlns:a16="http://schemas.microsoft.com/office/drawing/2014/main" id="{3E679227-7477-B961-FA5B-F98AFBA933F1}"/>
              </a:ext>
            </a:extLst>
          </p:cNvPr>
          <p:cNvSpPr/>
          <p:nvPr/>
        </p:nvSpPr>
        <p:spPr>
          <a:xfrm>
            <a:off x="838201"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38201" y="2672659"/>
            <a:ext cx="1937945" cy="738478"/>
          </a:xfrm>
          <a:prstGeom prst="rect">
            <a:avLst/>
          </a:prstGeom>
          <a:solidFill>
            <a:srgbClr val="ED7D31"/>
          </a:solidFill>
        </p:spPr>
        <p:txBody>
          <a:bodyPr wrap="square" anchor="ctr">
            <a:noAutofit/>
          </a:bodyPr>
          <a:lstStyle/>
          <a:p>
            <a:pPr algn="ctr"/>
            <a:r>
              <a:rPr lang="fr-FR" sz="1200" b="1"/>
              <a:t>Confiance </a:t>
            </a:r>
            <a:r>
              <a:rPr lang="fr-FR" sz="1200"/>
              <a:t>par défaut en les décisionnaires</a:t>
            </a:r>
          </a:p>
        </p:txBody>
      </p:sp>
      <p:sp>
        <p:nvSpPr>
          <p:cNvPr id="6" name="ZoneTexte 5">
            <a:extLst>
              <a:ext uri="{FF2B5EF4-FFF2-40B4-BE49-F238E27FC236}">
                <a16:creationId xmlns:a16="http://schemas.microsoft.com/office/drawing/2014/main" id="{BA3EAFF4-54DF-2AE8-E8A4-1FBCB3016CB8}"/>
              </a:ext>
            </a:extLst>
          </p:cNvPr>
          <p:cNvSpPr txBox="1"/>
          <p:nvPr/>
        </p:nvSpPr>
        <p:spPr>
          <a:xfrm>
            <a:off x="838201" y="3471419"/>
            <a:ext cx="1937945" cy="738478"/>
          </a:xfrm>
          <a:prstGeom prst="rect">
            <a:avLst/>
          </a:prstGeom>
          <a:solidFill>
            <a:srgbClr val="ED7D31"/>
          </a:solidFill>
        </p:spPr>
        <p:txBody>
          <a:bodyPr wrap="square" anchor="ctr">
            <a:noAutofit/>
          </a:bodyPr>
          <a:lstStyle/>
          <a:p>
            <a:pPr algn="ctr"/>
            <a:r>
              <a:rPr lang="fr-FR" sz="1200"/>
              <a:t>Goût à l’action rapide, au </a:t>
            </a:r>
            <a:r>
              <a:rPr lang="fr-FR" sz="1200" i="1"/>
              <a:t>« </a:t>
            </a:r>
            <a:r>
              <a:rPr lang="fr-FR" sz="1200" b="1" i="1"/>
              <a:t>test and </a:t>
            </a:r>
            <a:r>
              <a:rPr lang="fr-FR" sz="1200" b="1" i="1" err="1"/>
              <a:t>learn</a:t>
            </a:r>
            <a:r>
              <a:rPr lang="fr-FR" sz="1200" b="1" i="1"/>
              <a:t> </a:t>
            </a:r>
            <a:r>
              <a:rPr lang="fr-FR" sz="1200" i="1"/>
              <a:t>»</a:t>
            </a:r>
          </a:p>
        </p:txBody>
      </p:sp>
      <p:sp>
        <p:nvSpPr>
          <p:cNvPr id="7" name="ZoneTexte 6">
            <a:extLst>
              <a:ext uri="{FF2B5EF4-FFF2-40B4-BE49-F238E27FC236}">
                <a16:creationId xmlns:a16="http://schemas.microsoft.com/office/drawing/2014/main" id="{016A1683-613E-CAE5-D522-0CCDD9CC9E97}"/>
              </a:ext>
            </a:extLst>
          </p:cNvPr>
          <p:cNvSpPr txBox="1"/>
          <p:nvPr/>
        </p:nvSpPr>
        <p:spPr>
          <a:xfrm>
            <a:off x="838203" y="4270180"/>
            <a:ext cx="1937945" cy="738478"/>
          </a:xfrm>
          <a:prstGeom prst="rect">
            <a:avLst/>
          </a:prstGeom>
          <a:solidFill>
            <a:srgbClr val="ED7D31"/>
          </a:solidFill>
        </p:spPr>
        <p:txBody>
          <a:bodyPr wrap="square" anchor="ctr">
            <a:noAutofit/>
          </a:bodyPr>
          <a:lstStyle/>
          <a:p>
            <a:pPr algn="ctr"/>
            <a:r>
              <a:rPr lang="fr-FR" sz="1200"/>
              <a:t>Décisionnaires / </a:t>
            </a:r>
            <a:r>
              <a:rPr lang="fr-FR" sz="1200" b="1"/>
              <a:t>Agents très isolés </a:t>
            </a:r>
            <a:r>
              <a:rPr lang="fr-FR" sz="1200"/>
              <a:t>les uns des autres</a:t>
            </a:r>
          </a:p>
        </p:txBody>
      </p:sp>
      <p:sp>
        <p:nvSpPr>
          <p:cNvPr id="8" name="ZoneTexte 7">
            <a:extLst>
              <a:ext uri="{FF2B5EF4-FFF2-40B4-BE49-F238E27FC236}">
                <a16:creationId xmlns:a16="http://schemas.microsoft.com/office/drawing/2014/main" id="{2194D2F2-48B7-85DB-CCE0-73E68AB7890F}"/>
              </a:ext>
            </a:extLst>
          </p:cNvPr>
          <p:cNvSpPr txBox="1"/>
          <p:nvPr/>
        </p:nvSpPr>
        <p:spPr>
          <a:xfrm>
            <a:off x="2878261" y="3471419"/>
            <a:ext cx="1937945" cy="738478"/>
          </a:xfrm>
          <a:prstGeom prst="rect">
            <a:avLst/>
          </a:prstGeom>
          <a:solidFill>
            <a:srgbClr val="ED7D31"/>
          </a:solidFill>
        </p:spPr>
        <p:txBody>
          <a:bodyPr wrap="square" anchor="ctr">
            <a:noAutofit/>
          </a:bodyPr>
          <a:lstStyle/>
          <a:p>
            <a:pPr algn="ctr"/>
            <a:r>
              <a:rPr lang="fr-FR" sz="1200" b="1"/>
              <a:t>Inaction inconfortable </a:t>
            </a:r>
            <a:r>
              <a:rPr lang="fr-FR" sz="1200"/>
              <a:t>pour le décisionnaire mais anodine pour les autres</a:t>
            </a:r>
          </a:p>
        </p:txBody>
      </p:sp>
      <p:sp>
        <p:nvSpPr>
          <p:cNvPr id="9" name="ZoneTexte 8">
            <a:extLst>
              <a:ext uri="{FF2B5EF4-FFF2-40B4-BE49-F238E27FC236}">
                <a16:creationId xmlns:a16="http://schemas.microsoft.com/office/drawing/2014/main" id="{A5DC84E0-86DC-8800-55BB-1DDDC6686F7E}"/>
              </a:ext>
            </a:extLst>
          </p:cNvPr>
          <p:cNvSpPr txBox="1"/>
          <p:nvPr/>
        </p:nvSpPr>
        <p:spPr>
          <a:xfrm>
            <a:off x="2878257" y="4270180"/>
            <a:ext cx="1937945" cy="738478"/>
          </a:xfrm>
          <a:prstGeom prst="rect">
            <a:avLst/>
          </a:prstGeom>
          <a:solidFill>
            <a:srgbClr val="ED7D31"/>
          </a:solidFill>
        </p:spPr>
        <p:txBody>
          <a:bodyPr wrap="square" anchor="ctr">
            <a:noAutofit/>
          </a:bodyPr>
          <a:lstStyle/>
          <a:p>
            <a:pPr algn="ctr"/>
            <a:r>
              <a:rPr lang="fr-FR" sz="1200" b="1"/>
              <a:t>Temps et ressources limitées </a:t>
            </a:r>
            <a:r>
              <a:rPr lang="fr-FR" sz="1200"/>
              <a:t>pour le processus consensus</a:t>
            </a:r>
          </a:p>
        </p:txBody>
      </p:sp>
      <p:sp>
        <p:nvSpPr>
          <p:cNvPr id="10" name="ZoneTexte 9">
            <a:extLst>
              <a:ext uri="{FF2B5EF4-FFF2-40B4-BE49-F238E27FC236}">
                <a16:creationId xmlns:a16="http://schemas.microsoft.com/office/drawing/2014/main" id="{42025413-7728-EB5F-258F-48C914A5D39B}"/>
              </a:ext>
            </a:extLst>
          </p:cNvPr>
          <p:cNvSpPr txBox="1"/>
          <p:nvPr/>
        </p:nvSpPr>
        <p:spPr>
          <a:xfrm>
            <a:off x="7375796" y="2672808"/>
            <a:ext cx="1937945" cy="738478"/>
          </a:xfrm>
          <a:prstGeom prst="rect">
            <a:avLst/>
          </a:prstGeom>
          <a:solidFill>
            <a:srgbClr val="ED7D31"/>
          </a:solidFill>
        </p:spPr>
        <p:txBody>
          <a:bodyPr wrap="square" anchor="ctr">
            <a:noAutofit/>
          </a:bodyPr>
          <a:lstStyle/>
          <a:p>
            <a:pPr algn="ctr"/>
            <a:r>
              <a:rPr lang="fr-FR" sz="1200"/>
              <a:t>Confiance par défaut dans l’utilité du consensus</a:t>
            </a:r>
          </a:p>
        </p:txBody>
      </p:sp>
      <p:sp>
        <p:nvSpPr>
          <p:cNvPr id="11" name="ZoneTexte 10">
            <a:extLst>
              <a:ext uri="{FF2B5EF4-FFF2-40B4-BE49-F238E27FC236}">
                <a16:creationId xmlns:a16="http://schemas.microsoft.com/office/drawing/2014/main" id="{ECDDF813-0307-74CF-4E92-08177371F23F}"/>
              </a:ext>
            </a:extLst>
          </p:cNvPr>
          <p:cNvSpPr txBox="1"/>
          <p:nvPr/>
        </p:nvSpPr>
        <p:spPr>
          <a:xfrm>
            <a:off x="7375796" y="3471569"/>
            <a:ext cx="1937945" cy="738478"/>
          </a:xfrm>
          <a:prstGeom prst="rect">
            <a:avLst/>
          </a:prstGeom>
          <a:solidFill>
            <a:srgbClr val="ED7D31"/>
          </a:solidFill>
        </p:spPr>
        <p:txBody>
          <a:bodyPr wrap="square" anchor="ctr">
            <a:noAutofit/>
          </a:bodyPr>
          <a:lstStyle/>
          <a:p>
            <a:pPr algn="ctr"/>
            <a:r>
              <a:rPr lang="fr-FR" sz="1200"/>
              <a:t>Goût à la réflexion collective, au </a:t>
            </a:r>
            <a:r>
              <a:rPr lang="fr-FR" sz="1200" i="1"/>
              <a:t>« </a:t>
            </a:r>
            <a:r>
              <a:rPr lang="fr-FR" sz="1200" b="1" i="1" err="1"/>
              <a:t>learn</a:t>
            </a:r>
            <a:r>
              <a:rPr lang="fr-FR" sz="1200" b="1" i="1"/>
              <a:t> </a:t>
            </a:r>
            <a:r>
              <a:rPr lang="fr-FR" sz="1200" b="1" i="1" err="1"/>
              <a:t>together</a:t>
            </a:r>
            <a:r>
              <a:rPr lang="fr-FR" sz="1200" b="1" i="1"/>
              <a:t> </a:t>
            </a:r>
            <a:r>
              <a:rPr lang="fr-FR" sz="1200" b="1" i="1" err="1"/>
              <a:t>then</a:t>
            </a:r>
            <a:r>
              <a:rPr lang="fr-FR" sz="1200" b="1" i="1"/>
              <a:t> test </a:t>
            </a:r>
            <a:r>
              <a:rPr lang="fr-FR" sz="1200" i="1"/>
              <a:t>»</a:t>
            </a:r>
          </a:p>
        </p:txBody>
      </p:sp>
      <p:sp>
        <p:nvSpPr>
          <p:cNvPr id="12" name="ZoneTexte 11">
            <a:extLst>
              <a:ext uri="{FF2B5EF4-FFF2-40B4-BE49-F238E27FC236}">
                <a16:creationId xmlns:a16="http://schemas.microsoft.com/office/drawing/2014/main" id="{7FF6F735-1159-1FB6-00D9-8D5A68202190}"/>
              </a:ext>
            </a:extLst>
          </p:cNvPr>
          <p:cNvSpPr txBox="1"/>
          <p:nvPr/>
        </p:nvSpPr>
        <p:spPr>
          <a:xfrm>
            <a:off x="7375798" y="4270329"/>
            <a:ext cx="1937945" cy="738478"/>
          </a:xfrm>
          <a:prstGeom prst="rect">
            <a:avLst/>
          </a:prstGeom>
          <a:solidFill>
            <a:srgbClr val="ED7D31"/>
          </a:solidFill>
        </p:spPr>
        <p:txBody>
          <a:bodyPr wrap="square" anchor="ctr">
            <a:noAutofit/>
          </a:bodyPr>
          <a:lstStyle/>
          <a:p>
            <a:pPr algn="ctr"/>
            <a:r>
              <a:rPr lang="fr-FR" sz="1200"/>
              <a:t>Décisionnaires très proches les uns des autres</a:t>
            </a:r>
          </a:p>
        </p:txBody>
      </p:sp>
      <p:sp>
        <p:nvSpPr>
          <p:cNvPr id="13" name="ZoneTexte 12">
            <a:extLst>
              <a:ext uri="{FF2B5EF4-FFF2-40B4-BE49-F238E27FC236}">
                <a16:creationId xmlns:a16="http://schemas.microsoft.com/office/drawing/2014/main" id="{E6FE15F5-8F75-CC44-BA3D-6EED39B6721B}"/>
              </a:ext>
            </a:extLst>
          </p:cNvPr>
          <p:cNvSpPr txBox="1"/>
          <p:nvPr/>
        </p:nvSpPr>
        <p:spPr>
          <a:xfrm>
            <a:off x="9415856" y="3471569"/>
            <a:ext cx="1937945" cy="738478"/>
          </a:xfrm>
          <a:prstGeom prst="rect">
            <a:avLst/>
          </a:prstGeom>
          <a:solidFill>
            <a:srgbClr val="ED7D31"/>
          </a:solidFill>
        </p:spPr>
        <p:txBody>
          <a:bodyPr wrap="square" anchor="ctr">
            <a:noAutofit/>
          </a:bodyPr>
          <a:lstStyle/>
          <a:p>
            <a:pPr algn="ctr"/>
            <a:r>
              <a:rPr lang="fr-FR" sz="1200"/>
              <a:t>Inaction suffisamment inconfortable pour tous les décisionnaires</a:t>
            </a:r>
          </a:p>
        </p:txBody>
      </p:sp>
      <p:sp>
        <p:nvSpPr>
          <p:cNvPr id="14" name="ZoneTexte 13">
            <a:extLst>
              <a:ext uri="{FF2B5EF4-FFF2-40B4-BE49-F238E27FC236}">
                <a16:creationId xmlns:a16="http://schemas.microsoft.com/office/drawing/2014/main" id="{7077850E-C722-2412-1641-38DC5872D750}"/>
              </a:ext>
            </a:extLst>
          </p:cNvPr>
          <p:cNvSpPr txBox="1"/>
          <p:nvPr/>
        </p:nvSpPr>
        <p:spPr>
          <a:xfrm>
            <a:off x="9415852" y="4277234"/>
            <a:ext cx="1937945" cy="738478"/>
          </a:xfrm>
          <a:prstGeom prst="rect">
            <a:avLst/>
          </a:prstGeom>
          <a:solidFill>
            <a:srgbClr val="ED7D31"/>
          </a:solidFill>
        </p:spPr>
        <p:txBody>
          <a:bodyPr wrap="square" anchor="ctr">
            <a:noAutofit/>
          </a:bodyPr>
          <a:lstStyle/>
          <a:p>
            <a:pPr algn="ctr"/>
            <a:r>
              <a:rPr lang="fr-FR" sz="1200" b="1"/>
              <a:t>Temps et ressources à disposition </a:t>
            </a:r>
            <a:r>
              <a:rPr lang="fr-FR" sz="1200"/>
              <a:t>pour le consensus</a:t>
            </a:r>
          </a:p>
        </p:txBody>
      </p:sp>
      <p:sp>
        <p:nvSpPr>
          <p:cNvPr id="15" name="ZoneTexte 14">
            <a:extLst>
              <a:ext uri="{FF2B5EF4-FFF2-40B4-BE49-F238E27FC236}">
                <a16:creationId xmlns:a16="http://schemas.microsoft.com/office/drawing/2014/main" id="{98944E0A-1D7B-A48B-310E-D70AB464A21B}"/>
              </a:ext>
            </a:extLst>
          </p:cNvPr>
          <p:cNvSpPr txBox="1"/>
          <p:nvPr/>
        </p:nvSpPr>
        <p:spPr>
          <a:xfrm>
            <a:off x="2878260" y="2670175"/>
            <a:ext cx="1937945" cy="738478"/>
          </a:xfrm>
          <a:prstGeom prst="rect">
            <a:avLst/>
          </a:prstGeom>
          <a:solidFill>
            <a:srgbClr val="ED7D31"/>
          </a:solidFill>
        </p:spPr>
        <p:txBody>
          <a:bodyPr wrap="square" anchor="ctr">
            <a:noAutofit/>
          </a:bodyPr>
          <a:lstStyle/>
          <a:p>
            <a:pPr algn="ctr"/>
            <a:r>
              <a:rPr lang="fr-FR" sz="1200"/>
              <a:t>Méfiance en les bénéfices du groupe pour décider</a:t>
            </a:r>
          </a:p>
        </p:txBody>
      </p:sp>
      <p:sp>
        <p:nvSpPr>
          <p:cNvPr id="16" name="ZoneTexte 15">
            <a:extLst>
              <a:ext uri="{FF2B5EF4-FFF2-40B4-BE49-F238E27FC236}">
                <a16:creationId xmlns:a16="http://schemas.microsoft.com/office/drawing/2014/main" id="{1945C62C-450C-EB0C-27A8-89C56E466845}"/>
              </a:ext>
            </a:extLst>
          </p:cNvPr>
          <p:cNvSpPr txBox="1"/>
          <p:nvPr/>
        </p:nvSpPr>
        <p:spPr>
          <a:xfrm>
            <a:off x="9434715" y="2665904"/>
            <a:ext cx="1937945" cy="738478"/>
          </a:xfrm>
          <a:prstGeom prst="rect">
            <a:avLst/>
          </a:prstGeom>
          <a:solidFill>
            <a:srgbClr val="ED7D31"/>
          </a:solidFill>
        </p:spPr>
        <p:txBody>
          <a:bodyPr wrap="square" anchor="ctr">
            <a:noAutofit/>
          </a:bodyPr>
          <a:lstStyle/>
          <a:p>
            <a:pPr algn="ctr"/>
            <a:r>
              <a:rPr lang="fr-FR" sz="1200"/>
              <a:t>Méfiance en la décision prise individuellement</a:t>
            </a:r>
          </a:p>
        </p:txBody>
      </p:sp>
      <p:sp>
        <p:nvSpPr>
          <p:cNvPr id="4" name="ZoneTexte 3">
            <a:extLst>
              <a:ext uri="{FF2B5EF4-FFF2-40B4-BE49-F238E27FC236}">
                <a16:creationId xmlns:a16="http://schemas.microsoft.com/office/drawing/2014/main" id="{0562102C-4F98-ACE1-A075-AE6F14ADAB4F}"/>
              </a:ext>
            </a:extLst>
          </p:cNvPr>
          <p:cNvSpPr txBox="1"/>
          <p:nvPr/>
        </p:nvSpPr>
        <p:spPr>
          <a:xfrm>
            <a:off x="838200" y="5073909"/>
            <a:ext cx="1937945" cy="738478"/>
          </a:xfrm>
          <a:prstGeom prst="rect">
            <a:avLst/>
          </a:prstGeom>
          <a:solidFill>
            <a:srgbClr val="ED7D31"/>
          </a:solidFill>
        </p:spPr>
        <p:txBody>
          <a:bodyPr wrap="square" anchor="ctr">
            <a:noAutofit/>
          </a:bodyPr>
          <a:lstStyle/>
          <a:p>
            <a:pPr algn="ctr"/>
            <a:r>
              <a:rPr lang="fr-FR" sz="1200"/>
              <a:t>En cas d’erreur, le coût de « rattrapage » est faible</a:t>
            </a:r>
          </a:p>
        </p:txBody>
      </p:sp>
      <p:sp>
        <p:nvSpPr>
          <p:cNvPr id="17" name="ZoneTexte 16">
            <a:extLst>
              <a:ext uri="{FF2B5EF4-FFF2-40B4-BE49-F238E27FC236}">
                <a16:creationId xmlns:a16="http://schemas.microsoft.com/office/drawing/2014/main" id="{92F7D8F0-C492-828A-966A-5AF3E203BBA4}"/>
              </a:ext>
            </a:extLst>
          </p:cNvPr>
          <p:cNvSpPr txBox="1"/>
          <p:nvPr/>
        </p:nvSpPr>
        <p:spPr>
          <a:xfrm>
            <a:off x="7375795" y="5082900"/>
            <a:ext cx="1937945" cy="738478"/>
          </a:xfrm>
          <a:prstGeom prst="rect">
            <a:avLst/>
          </a:prstGeom>
          <a:solidFill>
            <a:srgbClr val="ED7D31"/>
          </a:solidFill>
        </p:spPr>
        <p:txBody>
          <a:bodyPr wrap="square" anchor="ctr">
            <a:noAutofit/>
          </a:bodyPr>
          <a:lstStyle/>
          <a:p>
            <a:pPr algn="ctr"/>
            <a:r>
              <a:rPr lang="fr-FR" sz="1200"/>
              <a:t>En cas d’erreur, le coût de « rattrapage » est élevé</a:t>
            </a:r>
          </a:p>
        </p:txBody>
      </p:sp>
      <p:sp>
        <p:nvSpPr>
          <p:cNvPr id="18" name="ZoneTexte 17">
            <a:extLst>
              <a:ext uri="{FF2B5EF4-FFF2-40B4-BE49-F238E27FC236}">
                <a16:creationId xmlns:a16="http://schemas.microsoft.com/office/drawing/2014/main" id="{0E3DDF02-8B50-804C-7E5C-EE793F835009}"/>
              </a:ext>
            </a:extLst>
          </p:cNvPr>
          <p:cNvSpPr txBox="1"/>
          <p:nvPr/>
        </p:nvSpPr>
        <p:spPr>
          <a:xfrm>
            <a:off x="2878261" y="5073908"/>
            <a:ext cx="1937945" cy="738478"/>
          </a:xfrm>
          <a:prstGeom prst="rect">
            <a:avLst/>
          </a:prstGeom>
          <a:solidFill>
            <a:srgbClr val="ED7D31"/>
          </a:solidFill>
        </p:spPr>
        <p:txBody>
          <a:bodyPr wrap="square" anchor="ctr">
            <a:noAutofit/>
          </a:bodyPr>
          <a:lstStyle/>
          <a:p>
            <a:pPr algn="ctr"/>
            <a:r>
              <a:rPr lang="fr-FR" sz="1200"/>
              <a:t>Décisionnaires / agents ont </a:t>
            </a:r>
            <a:r>
              <a:rPr lang="fr-FR" sz="1200" b="1"/>
              <a:t>suffisamment d’information </a:t>
            </a:r>
            <a:r>
              <a:rPr lang="fr-FR" sz="1200"/>
              <a:t>et de compétence pour agir seuls</a:t>
            </a:r>
          </a:p>
        </p:txBody>
      </p:sp>
      <p:sp>
        <p:nvSpPr>
          <p:cNvPr id="19" name="ZoneTexte 18">
            <a:extLst>
              <a:ext uri="{FF2B5EF4-FFF2-40B4-BE49-F238E27FC236}">
                <a16:creationId xmlns:a16="http://schemas.microsoft.com/office/drawing/2014/main" id="{10D6B778-AF30-92FF-6E67-659E627D1E1A}"/>
              </a:ext>
            </a:extLst>
          </p:cNvPr>
          <p:cNvSpPr txBox="1"/>
          <p:nvPr/>
        </p:nvSpPr>
        <p:spPr>
          <a:xfrm>
            <a:off x="9415856" y="5082900"/>
            <a:ext cx="1937945" cy="738478"/>
          </a:xfrm>
          <a:prstGeom prst="rect">
            <a:avLst/>
          </a:prstGeom>
          <a:solidFill>
            <a:srgbClr val="ED7D31"/>
          </a:solidFill>
        </p:spPr>
        <p:txBody>
          <a:bodyPr wrap="square" anchor="ctr">
            <a:noAutofit/>
          </a:bodyPr>
          <a:lstStyle/>
          <a:p>
            <a:pPr algn="ctr"/>
            <a:r>
              <a:rPr lang="fr-FR" sz="1200"/>
              <a:t>Décisionnaires / agents n’ont pas assez d’information et de compétence pour agir seuls</a:t>
            </a:r>
          </a:p>
        </p:txBody>
      </p:sp>
      <p:sp>
        <p:nvSpPr>
          <p:cNvPr id="22" name="ZoneTexte 21">
            <a:extLst>
              <a:ext uri="{FF2B5EF4-FFF2-40B4-BE49-F238E27FC236}">
                <a16:creationId xmlns:a16="http://schemas.microsoft.com/office/drawing/2014/main" id="{CF1A8C74-2A6F-ADC6-0528-FB071A22B20F}"/>
              </a:ext>
            </a:extLst>
          </p:cNvPr>
          <p:cNvSpPr txBox="1"/>
          <p:nvPr/>
        </p:nvSpPr>
        <p:spPr>
          <a:xfrm>
            <a:off x="838200" y="5886752"/>
            <a:ext cx="1937945" cy="738478"/>
          </a:xfrm>
          <a:prstGeom prst="rect">
            <a:avLst/>
          </a:prstGeom>
          <a:solidFill>
            <a:srgbClr val="ED7D31"/>
          </a:solidFill>
        </p:spPr>
        <p:txBody>
          <a:bodyPr wrap="square" anchor="ctr">
            <a:noAutofit/>
          </a:bodyPr>
          <a:lstStyle/>
          <a:p>
            <a:pPr algn="ctr"/>
            <a:r>
              <a:rPr lang="fr-FR" sz="1200"/>
              <a:t>Les autres membres ne sont pas considérés comme ayant l’information / les compétences pour décider</a:t>
            </a:r>
          </a:p>
        </p:txBody>
      </p:sp>
      <p:sp>
        <p:nvSpPr>
          <p:cNvPr id="23" name="ZoneTexte 22">
            <a:extLst>
              <a:ext uri="{FF2B5EF4-FFF2-40B4-BE49-F238E27FC236}">
                <a16:creationId xmlns:a16="http://schemas.microsoft.com/office/drawing/2014/main" id="{AA2516A5-344F-A2AD-17D8-6402879AD614}"/>
              </a:ext>
            </a:extLst>
          </p:cNvPr>
          <p:cNvSpPr txBox="1"/>
          <p:nvPr/>
        </p:nvSpPr>
        <p:spPr>
          <a:xfrm>
            <a:off x="9397503" y="5886752"/>
            <a:ext cx="1937945" cy="738478"/>
          </a:xfrm>
          <a:prstGeom prst="rect">
            <a:avLst/>
          </a:prstGeom>
          <a:solidFill>
            <a:srgbClr val="ED7D31"/>
          </a:solidFill>
        </p:spPr>
        <p:txBody>
          <a:bodyPr wrap="square" anchor="ctr">
            <a:noAutofit/>
          </a:bodyPr>
          <a:lstStyle/>
          <a:p>
            <a:pPr algn="ctr"/>
            <a:r>
              <a:rPr lang="fr-FR" sz="1200"/>
              <a:t>Les non-agents sont  considérés comme ayant l’information / les compétences pour décider</a:t>
            </a:r>
          </a:p>
        </p:txBody>
      </p:sp>
    </p:spTree>
    <p:extLst>
      <p:ext uri="{BB962C8B-B14F-4D97-AF65-F5344CB8AC3E}">
        <p14:creationId xmlns:p14="http://schemas.microsoft.com/office/powerpoint/2010/main" val="75413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Agir vite seul(e) ou bien se mettre d’accord au préalable</a:t>
            </a:r>
            <a:br>
              <a:rPr lang="fr-FR" sz="3600"/>
            </a:br>
            <a:r>
              <a:rPr lang="fr-FR" sz="3600" b="1">
                <a:solidFill>
                  <a:srgbClr val="ED7D31"/>
                </a:solidFill>
              </a:rPr>
              <a:t>Exemples de situations</a:t>
            </a:r>
            <a:endParaRPr lang="fr-FR" sz="3600"/>
          </a:p>
        </p:txBody>
      </p:sp>
      <p:sp>
        <p:nvSpPr>
          <p:cNvPr id="3" name="Flèche : double flèche horizontale 2">
            <a:extLst>
              <a:ext uri="{FF2B5EF4-FFF2-40B4-BE49-F238E27FC236}">
                <a16:creationId xmlns:a16="http://schemas.microsoft.com/office/drawing/2014/main" id="{3E679227-7477-B961-FA5B-F98AFBA933F1}"/>
              </a:ext>
            </a:extLst>
          </p:cNvPr>
          <p:cNvSpPr/>
          <p:nvPr/>
        </p:nvSpPr>
        <p:spPr>
          <a:xfrm>
            <a:off x="838200" y="1969267"/>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38200" y="2951238"/>
            <a:ext cx="2979057" cy="1040191"/>
          </a:xfrm>
          <a:prstGeom prst="rect">
            <a:avLst/>
          </a:prstGeom>
          <a:solidFill>
            <a:schemeClr val="bg1"/>
          </a:solidFill>
          <a:ln>
            <a:solidFill>
              <a:schemeClr val="tx1"/>
            </a:solidFill>
          </a:ln>
        </p:spPr>
        <p:txBody>
          <a:bodyPr wrap="square" anchor="ctr">
            <a:noAutofit/>
          </a:bodyPr>
          <a:lstStyle/>
          <a:p>
            <a:pPr algn="ctr"/>
            <a:r>
              <a:rPr lang="fr-FR" sz="1400"/>
              <a:t>Un(e) agent se retrouve devant une urgence opérationnelle, les autres membres ne sont pas disponibles, il/elle agit vite seul(e)</a:t>
            </a:r>
          </a:p>
        </p:txBody>
      </p:sp>
      <p:sp>
        <p:nvSpPr>
          <p:cNvPr id="4" name="ZoneTexte 3">
            <a:extLst>
              <a:ext uri="{FF2B5EF4-FFF2-40B4-BE49-F238E27FC236}">
                <a16:creationId xmlns:a16="http://schemas.microsoft.com/office/drawing/2014/main" id="{5019A63F-9508-3CDB-EAAA-95EBC1A67B41}"/>
              </a:ext>
            </a:extLst>
          </p:cNvPr>
          <p:cNvSpPr txBox="1"/>
          <p:nvPr/>
        </p:nvSpPr>
        <p:spPr>
          <a:xfrm>
            <a:off x="8374743" y="2965693"/>
            <a:ext cx="2979057" cy="1040191"/>
          </a:xfrm>
          <a:prstGeom prst="rect">
            <a:avLst/>
          </a:prstGeom>
          <a:solidFill>
            <a:schemeClr val="bg1"/>
          </a:solidFill>
          <a:ln>
            <a:solidFill>
              <a:schemeClr val="tx1"/>
            </a:solidFill>
          </a:ln>
        </p:spPr>
        <p:txBody>
          <a:bodyPr wrap="square" anchor="ctr">
            <a:noAutofit/>
          </a:bodyPr>
          <a:lstStyle/>
          <a:p>
            <a:pPr algn="ctr"/>
            <a:r>
              <a:rPr lang="fr-FR" sz="1400"/>
              <a:t>Un agent doit prendre une décision qui peut impacter tous les autres de manière significative, il demande un consensus</a:t>
            </a:r>
          </a:p>
        </p:txBody>
      </p:sp>
      <p:sp>
        <p:nvSpPr>
          <p:cNvPr id="17" name="ZoneTexte 16">
            <a:extLst>
              <a:ext uri="{FF2B5EF4-FFF2-40B4-BE49-F238E27FC236}">
                <a16:creationId xmlns:a16="http://schemas.microsoft.com/office/drawing/2014/main" id="{FBAF39E1-C56D-7585-E647-BB33EC78421B}"/>
              </a:ext>
            </a:extLst>
          </p:cNvPr>
          <p:cNvSpPr txBox="1"/>
          <p:nvPr/>
        </p:nvSpPr>
        <p:spPr>
          <a:xfrm>
            <a:off x="838200" y="4270008"/>
            <a:ext cx="2979057" cy="1040191"/>
          </a:xfrm>
          <a:prstGeom prst="rect">
            <a:avLst/>
          </a:prstGeom>
          <a:solidFill>
            <a:schemeClr val="bg1"/>
          </a:solidFill>
          <a:ln>
            <a:solidFill>
              <a:schemeClr val="tx1"/>
            </a:solidFill>
          </a:ln>
        </p:spPr>
        <p:txBody>
          <a:bodyPr wrap="square" anchor="ctr">
            <a:noAutofit/>
          </a:bodyPr>
          <a:lstStyle/>
          <a:p>
            <a:pPr algn="ctr"/>
            <a:r>
              <a:rPr lang="fr-FR" sz="1400"/>
              <a:t>Un agent doit faire un choix dont les conséquences n’ont quasiment aucun impact sur les non-agents, il/elle agit vite seul(e)</a:t>
            </a:r>
          </a:p>
        </p:txBody>
      </p:sp>
      <p:sp>
        <p:nvSpPr>
          <p:cNvPr id="18" name="ZoneTexte 17">
            <a:extLst>
              <a:ext uri="{FF2B5EF4-FFF2-40B4-BE49-F238E27FC236}">
                <a16:creationId xmlns:a16="http://schemas.microsoft.com/office/drawing/2014/main" id="{D396E7B7-EF90-FADC-1B7E-4CADFEE6E464}"/>
              </a:ext>
            </a:extLst>
          </p:cNvPr>
          <p:cNvSpPr txBox="1"/>
          <p:nvPr/>
        </p:nvSpPr>
        <p:spPr>
          <a:xfrm>
            <a:off x="8374742" y="4258242"/>
            <a:ext cx="2979057" cy="1040191"/>
          </a:xfrm>
          <a:prstGeom prst="rect">
            <a:avLst/>
          </a:prstGeom>
          <a:solidFill>
            <a:schemeClr val="bg1"/>
          </a:solidFill>
          <a:ln>
            <a:solidFill>
              <a:schemeClr val="tx1"/>
            </a:solidFill>
          </a:ln>
        </p:spPr>
        <p:txBody>
          <a:bodyPr wrap="square" anchor="ctr">
            <a:noAutofit/>
          </a:bodyPr>
          <a:lstStyle/>
          <a:p>
            <a:pPr algn="ctr"/>
            <a:r>
              <a:rPr lang="fr-FR" sz="1400"/>
              <a:t>Il faut prendre une décision d’un standard (ex: matériel standard) du collectif, qui sera appliqué pour les membres existants et les nouveaux. On cherche un consensus</a:t>
            </a:r>
          </a:p>
        </p:txBody>
      </p:sp>
    </p:spTree>
    <p:extLst>
      <p:ext uri="{BB962C8B-B14F-4D97-AF65-F5344CB8AC3E}">
        <p14:creationId xmlns:p14="http://schemas.microsoft.com/office/powerpoint/2010/main" val="1423552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Outil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r>
              <a:rPr lang="fr-FR"/>
              <a:t>Comment poser les décisions sur « ce qui doit être autonome » et « ce qui doit être consenti collectivement » ?</a:t>
            </a:r>
          </a:p>
        </p:txBody>
      </p:sp>
    </p:spTree>
    <p:extLst>
      <p:ext uri="{BB962C8B-B14F-4D97-AF65-F5344CB8AC3E}">
        <p14:creationId xmlns:p14="http://schemas.microsoft.com/office/powerpoint/2010/main" val="4165356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lèche : double flèche horizontale 32">
            <a:extLst>
              <a:ext uri="{FF2B5EF4-FFF2-40B4-BE49-F238E27FC236}">
                <a16:creationId xmlns:a16="http://schemas.microsoft.com/office/drawing/2014/main" id="{D2656E19-FEFD-560C-4959-A05B132594E0}"/>
              </a:ext>
            </a:extLst>
          </p:cNvPr>
          <p:cNvSpPr/>
          <p:nvPr/>
        </p:nvSpPr>
        <p:spPr>
          <a:xfrm>
            <a:off x="1885122" y="1209360"/>
            <a:ext cx="10230491" cy="312735"/>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6"/>
            <a:ext cx="10515600" cy="674700"/>
          </a:xfrm>
        </p:spPr>
        <p:txBody>
          <a:bodyPr>
            <a:noAutofit/>
          </a:bodyPr>
          <a:lstStyle/>
          <a:p>
            <a:r>
              <a:rPr lang="fr-FR" sz="3200"/>
              <a:t>Agir vite seul(e) ou bien se mettre d’accord au préalable</a:t>
            </a:r>
            <a:br>
              <a:rPr lang="fr-FR" sz="3200"/>
            </a:br>
            <a:r>
              <a:rPr lang="fr-FR" sz="3200" b="1"/>
              <a:t>Atelier pratique : </a:t>
            </a:r>
            <a:r>
              <a:rPr lang="fr-FR" sz="3200" b="1" err="1"/>
              <a:t>Individual</a:t>
            </a:r>
            <a:r>
              <a:rPr lang="fr-FR" sz="3200" b="1"/>
              <a:t> vs Consensus </a:t>
            </a:r>
            <a:r>
              <a:rPr lang="fr-FR" sz="3200" b="1" err="1"/>
              <a:t>decision</a:t>
            </a:r>
            <a:r>
              <a:rPr lang="fr-FR" sz="3200" b="1"/>
              <a:t> (IVCD) </a:t>
            </a:r>
            <a:r>
              <a:rPr lang="fr-FR" sz="3200" b="1" err="1"/>
              <a:t>map</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Décisions qu’il est préférable et convenu de prendre seul(e)</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241300" y="2200613"/>
            <a:ext cx="1574800" cy="3754874"/>
          </a:xfrm>
          <a:prstGeom prst="rect">
            <a:avLst/>
          </a:prstGeom>
          <a:solidFill>
            <a:schemeClr val="bg1">
              <a:lumMod val="95000"/>
            </a:schemeClr>
          </a:solidFill>
        </p:spPr>
        <p:txBody>
          <a:bodyPr wrap="square">
            <a:spAutoFit/>
          </a:bodyPr>
          <a:lstStyle/>
          <a:p>
            <a:r>
              <a:rPr lang="fr-FR" sz="1400" b="1"/>
              <a:t>L’IVCD </a:t>
            </a:r>
            <a:r>
              <a:rPr lang="fr-FR" sz="1400" b="1" err="1"/>
              <a:t>Map</a:t>
            </a:r>
            <a:r>
              <a:rPr lang="fr-FR" sz="1400" b="1"/>
              <a:t> </a:t>
            </a:r>
            <a:r>
              <a:rPr lang="fr-FR" sz="1400"/>
              <a:t>permet à un collectif de poser et de s’accorder sur les types de décisions pour lesquelles il est préférable de « décider seul », et les types de décisions sur lesquelles demander le consensus, ainsi que la zone grise « à voir au cas par cas »</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080828" y="1690688"/>
            <a:ext cx="1673225" cy="1477328"/>
          </a:xfrm>
          <a:prstGeom prst="rect">
            <a:avLst/>
          </a:prstGeom>
          <a:noFill/>
        </p:spPr>
        <p:txBody>
          <a:bodyPr wrap="square">
            <a:spAutoFit/>
          </a:bodyPr>
          <a:lstStyle/>
          <a:p>
            <a:pPr algn="ctr"/>
            <a:r>
              <a:rPr lang="fr-FR" b="1">
                <a:solidFill>
                  <a:srgbClr val="3494BA"/>
                </a:solidFill>
              </a:rPr>
              <a:t>Décisions qu’il est préférable et convenu de prendre en groupe</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646331"/>
          </a:xfrm>
          <a:prstGeom prst="rect">
            <a:avLst/>
          </a:prstGeom>
          <a:noFill/>
        </p:spPr>
        <p:txBody>
          <a:bodyPr wrap="square">
            <a:spAutoFit/>
          </a:bodyPr>
          <a:lstStyle/>
          <a:p>
            <a:pPr algn="ctr"/>
            <a:r>
              <a:rPr lang="fr-FR" b="1">
                <a:solidFill>
                  <a:schemeClr val="bg1">
                    <a:lumMod val="50000"/>
                  </a:schemeClr>
                </a:solidFill>
              </a:rPr>
              <a:t>Zone grise (cas par cas)</a:t>
            </a:r>
            <a:endParaRPr lang="fr-FR">
              <a:solidFill>
                <a:schemeClr val="bg1">
                  <a:lumMod val="50000"/>
                </a:schemeClr>
              </a:solidFill>
            </a:endParaRPr>
          </a:p>
        </p:txBody>
      </p:sp>
      <p:sp>
        <p:nvSpPr>
          <p:cNvPr id="25" name="ZoneTexte 24">
            <a:extLst>
              <a:ext uri="{FF2B5EF4-FFF2-40B4-BE49-F238E27FC236}">
                <a16:creationId xmlns:a16="http://schemas.microsoft.com/office/drawing/2014/main" id="{0A9CFD64-6428-1E11-D6C1-954C872A3A10}"/>
              </a:ext>
            </a:extLst>
          </p:cNvPr>
          <p:cNvSpPr txBox="1"/>
          <p:nvPr/>
        </p:nvSpPr>
        <p:spPr>
          <a:xfrm>
            <a:off x="10467975" y="4095512"/>
            <a:ext cx="1673225" cy="2031325"/>
          </a:xfrm>
          <a:prstGeom prst="rect">
            <a:avLst/>
          </a:prstGeom>
          <a:solidFill>
            <a:schemeClr val="bg1">
              <a:lumMod val="95000"/>
            </a:schemeClr>
          </a:solidFill>
        </p:spPr>
        <p:txBody>
          <a:bodyPr wrap="square">
            <a:spAutoFit/>
          </a:bodyPr>
          <a:lstStyle/>
          <a:p>
            <a:r>
              <a:rPr lang="fr-FR" sz="1400" b="1"/>
              <a:t>L’IVCD </a:t>
            </a:r>
            <a:r>
              <a:rPr lang="fr-FR" sz="1400" b="1" err="1"/>
              <a:t>Map</a:t>
            </a:r>
            <a:r>
              <a:rPr lang="fr-FR" sz="1400" b="1"/>
              <a:t> </a:t>
            </a:r>
            <a:r>
              <a:rPr lang="fr-FR" sz="1400"/>
              <a:t>pose le cadre des libertés individuelles, celui de la responsabilité collective, et identifie les cas « plus difficile » pour rester vigilant dessus. </a:t>
            </a:r>
          </a:p>
        </p:txBody>
      </p:sp>
      <p:pic>
        <p:nvPicPr>
          <p:cNvPr id="3" name="Graphique 2" descr="Homme portant un sweat à capuche">
            <a:extLst>
              <a:ext uri="{FF2B5EF4-FFF2-40B4-BE49-F238E27FC236}">
                <a16:creationId xmlns:a16="http://schemas.microsoft.com/office/drawing/2014/main" id="{29992573-D4D3-22AC-BD89-FDAF589FB0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5" name="Graphique 4" descr="Homme portant un sweat à capuche">
            <a:extLst>
              <a:ext uri="{FF2B5EF4-FFF2-40B4-BE49-F238E27FC236}">
                <a16:creationId xmlns:a16="http://schemas.microsoft.com/office/drawing/2014/main" id="{55A548BD-6D02-B3CC-1A0B-512D519949F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6" name="Graphique 5" descr="Femme avec bras prothétique">
            <a:extLst>
              <a:ext uri="{FF2B5EF4-FFF2-40B4-BE49-F238E27FC236}">
                <a16:creationId xmlns:a16="http://schemas.microsoft.com/office/drawing/2014/main" id="{9AA71A99-9597-1125-BE17-42328332782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7" name="Graphique 6" descr="Homme barbu en peignoir">
            <a:extLst>
              <a:ext uri="{FF2B5EF4-FFF2-40B4-BE49-F238E27FC236}">
                <a16:creationId xmlns:a16="http://schemas.microsoft.com/office/drawing/2014/main" id="{4AA78B2F-C60A-2A5E-C8DC-20082ED7D4C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8" name="Graphique 7" descr="Femme tenant un ordinateur portable">
            <a:extLst>
              <a:ext uri="{FF2B5EF4-FFF2-40B4-BE49-F238E27FC236}">
                <a16:creationId xmlns:a16="http://schemas.microsoft.com/office/drawing/2014/main" id="{8535F764-A4A9-6DC0-F0E7-A9E0B056097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sp>
        <p:nvSpPr>
          <p:cNvPr id="13" name="ZoneTexte 12">
            <a:extLst>
              <a:ext uri="{FF2B5EF4-FFF2-40B4-BE49-F238E27FC236}">
                <a16:creationId xmlns:a16="http://schemas.microsoft.com/office/drawing/2014/main" id="{EB95BD0F-26FD-F9DC-D9A7-44FD469DA49C}"/>
              </a:ext>
            </a:extLst>
          </p:cNvPr>
          <p:cNvSpPr txBox="1"/>
          <p:nvPr/>
        </p:nvSpPr>
        <p:spPr>
          <a:xfrm>
            <a:off x="4657372" y="3016251"/>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6" name="ZoneTexte 15">
            <a:extLst>
              <a:ext uri="{FF2B5EF4-FFF2-40B4-BE49-F238E27FC236}">
                <a16:creationId xmlns:a16="http://schemas.microsoft.com/office/drawing/2014/main" id="{5A517462-E81E-D3E7-64FE-C55FEB2A88E5}"/>
              </a:ext>
            </a:extLst>
          </p:cNvPr>
          <p:cNvSpPr txBox="1"/>
          <p:nvPr/>
        </p:nvSpPr>
        <p:spPr>
          <a:xfrm>
            <a:off x="4005966" y="3921492"/>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8" name="ZoneTexte 17">
            <a:extLst>
              <a:ext uri="{FF2B5EF4-FFF2-40B4-BE49-F238E27FC236}">
                <a16:creationId xmlns:a16="http://schemas.microsoft.com/office/drawing/2014/main" id="{728CE30C-2902-B868-14FE-C7CDC8A39BBA}"/>
              </a:ext>
            </a:extLst>
          </p:cNvPr>
          <p:cNvSpPr txBox="1"/>
          <p:nvPr/>
        </p:nvSpPr>
        <p:spPr>
          <a:xfrm>
            <a:off x="4453818" y="4913664"/>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4" name="ZoneTexte 23">
            <a:extLst>
              <a:ext uri="{FF2B5EF4-FFF2-40B4-BE49-F238E27FC236}">
                <a16:creationId xmlns:a16="http://schemas.microsoft.com/office/drawing/2014/main" id="{D3AF8B3A-C4F1-F5DD-82D0-E587DBF034C1}"/>
              </a:ext>
            </a:extLst>
          </p:cNvPr>
          <p:cNvSpPr txBox="1"/>
          <p:nvPr/>
        </p:nvSpPr>
        <p:spPr>
          <a:xfrm>
            <a:off x="4840672" y="556932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6" name="ZoneTexte 25">
            <a:extLst>
              <a:ext uri="{FF2B5EF4-FFF2-40B4-BE49-F238E27FC236}">
                <a16:creationId xmlns:a16="http://schemas.microsoft.com/office/drawing/2014/main" id="{5791E1E6-B173-FDD0-88DC-3470E3CA22AF}"/>
              </a:ext>
            </a:extLst>
          </p:cNvPr>
          <p:cNvSpPr txBox="1"/>
          <p:nvPr/>
        </p:nvSpPr>
        <p:spPr>
          <a:xfrm>
            <a:off x="6786274" y="338235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7" name="ZoneTexte 26">
            <a:extLst>
              <a:ext uri="{FF2B5EF4-FFF2-40B4-BE49-F238E27FC236}">
                <a16:creationId xmlns:a16="http://schemas.microsoft.com/office/drawing/2014/main" id="{7B78EF60-43A3-4285-BD70-C05FA2181C1C}"/>
              </a:ext>
            </a:extLst>
          </p:cNvPr>
          <p:cNvSpPr txBox="1"/>
          <p:nvPr/>
        </p:nvSpPr>
        <p:spPr>
          <a:xfrm>
            <a:off x="6104930" y="427380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8" name="ZoneTexte 27">
            <a:extLst>
              <a:ext uri="{FF2B5EF4-FFF2-40B4-BE49-F238E27FC236}">
                <a16:creationId xmlns:a16="http://schemas.microsoft.com/office/drawing/2014/main" id="{DFAEC3B3-58E9-6252-6682-A43923045F7F}"/>
              </a:ext>
            </a:extLst>
          </p:cNvPr>
          <p:cNvSpPr txBox="1"/>
          <p:nvPr/>
        </p:nvSpPr>
        <p:spPr>
          <a:xfrm>
            <a:off x="7149147" y="4524005"/>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9" name="ZoneTexte 28">
            <a:extLst>
              <a:ext uri="{FF2B5EF4-FFF2-40B4-BE49-F238E27FC236}">
                <a16:creationId xmlns:a16="http://schemas.microsoft.com/office/drawing/2014/main" id="{49E7592C-7F9C-0BB4-406E-99899E1F5805}"/>
              </a:ext>
            </a:extLst>
          </p:cNvPr>
          <p:cNvSpPr txBox="1"/>
          <p:nvPr/>
        </p:nvSpPr>
        <p:spPr>
          <a:xfrm>
            <a:off x="6563711" y="5165260"/>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0" name="ZoneTexte 29">
            <a:extLst>
              <a:ext uri="{FF2B5EF4-FFF2-40B4-BE49-F238E27FC236}">
                <a16:creationId xmlns:a16="http://schemas.microsoft.com/office/drawing/2014/main" id="{2DB1D277-4812-5BBE-2AF7-1532C323182D}"/>
              </a:ext>
            </a:extLst>
          </p:cNvPr>
          <p:cNvSpPr txBox="1"/>
          <p:nvPr/>
        </p:nvSpPr>
        <p:spPr>
          <a:xfrm>
            <a:off x="9307120" y="328241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1" name="ZoneTexte 30">
            <a:extLst>
              <a:ext uri="{FF2B5EF4-FFF2-40B4-BE49-F238E27FC236}">
                <a16:creationId xmlns:a16="http://schemas.microsoft.com/office/drawing/2014/main" id="{1708FB86-5B0F-458D-670B-B37EF94BCBDA}"/>
              </a:ext>
            </a:extLst>
          </p:cNvPr>
          <p:cNvSpPr txBox="1"/>
          <p:nvPr/>
        </p:nvSpPr>
        <p:spPr>
          <a:xfrm>
            <a:off x="9495333" y="423196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2" name="ZoneTexte 31">
            <a:extLst>
              <a:ext uri="{FF2B5EF4-FFF2-40B4-BE49-F238E27FC236}">
                <a16:creationId xmlns:a16="http://schemas.microsoft.com/office/drawing/2014/main" id="{8114E5BD-3512-294D-8F94-22F7332BD336}"/>
              </a:ext>
            </a:extLst>
          </p:cNvPr>
          <p:cNvSpPr txBox="1"/>
          <p:nvPr/>
        </p:nvSpPr>
        <p:spPr>
          <a:xfrm>
            <a:off x="8920266" y="4916003"/>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Tree>
    <p:extLst>
      <p:ext uri="{BB962C8B-B14F-4D97-AF65-F5344CB8AC3E}">
        <p14:creationId xmlns:p14="http://schemas.microsoft.com/office/powerpoint/2010/main" val="966071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200"/>
              <a:t>Agir vite seul(e) ou bien se mettre d’accord au préalable</a:t>
            </a:r>
            <a:br>
              <a:rPr lang="fr-FR" sz="3200"/>
            </a:br>
            <a:r>
              <a:rPr lang="fr-FR" sz="3200" b="1"/>
              <a:t>IVCD </a:t>
            </a:r>
            <a:r>
              <a:rPr lang="fr-FR" sz="3200" b="1" err="1"/>
              <a:t>map</a:t>
            </a:r>
            <a:r>
              <a:rPr lang="fr-FR" sz="3200" b="1"/>
              <a:t> – Exemple de résultat</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Décisions qu’il est préférable et convenu de prendre seul</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157560" y="3429000"/>
            <a:ext cx="2339180" cy="2893100"/>
          </a:xfrm>
          <a:prstGeom prst="rect">
            <a:avLst/>
          </a:prstGeom>
          <a:solidFill>
            <a:schemeClr val="bg1"/>
          </a:solidFill>
          <a:ln>
            <a:solidFill>
              <a:schemeClr val="tx1"/>
            </a:solidFill>
          </a:ln>
        </p:spPr>
        <p:txBody>
          <a:bodyPr wrap="square">
            <a:spAutoFit/>
          </a:bodyPr>
          <a:lstStyle/>
          <a:p>
            <a:pPr algn="ctr"/>
            <a:r>
              <a:rPr lang="fr-FR" sz="1400" b="1"/>
              <a:t>Cas d’usage </a:t>
            </a:r>
          </a:p>
          <a:p>
            <a:pPr algn="ctr"/>
            <a:endParaRPr lang="fr-FR" sz="1400"/>
          </a:p>
          <a:p>
            <a:pPr algn="ctr"/>
            <a:r>
              <a:rPr lang="fr-FR" sz="1400"/>
              <a:t>Une Communauté de pratique autour du management souhaite faire le point sur les libertés de ses membres. Elle utilise l’IVCD </a:t>
            </a:r>
            <a:r>
              <a:rPr lang="fr-FR" sz="1400" err="1"/>
              <a:t>map</a:t>
            </a:r>
            <a:r>
              <a:rPr lang="fr-FR" sz="1400"/>
              <a:t> pour poser différents </a:t>
            </a:r>
            <a:r>
              <a:rPr lang="fr-FR" sz="1400">
                <a:highlight>
                  <a:srgbClr val="FFFF00"/>
                </a:highlight>
              </a:rPr>
              <a:t>types de décisions </a:t>
            </a:r>
            <a:r>
              <a:rPr lang="fr-FR" sz="1400"/>
              <a:t>qu’elles considèrent plutôt individuelles, consensuelles ou « au cas par cas » pour leur culture</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477328"/>
          </a:xfrm>
          <a:prstGeom prst="rect">
            <a:avLst/>
          </a:prstGeom>
          <a:noFill/>
        </p:spPr>
        <p:txBody>
          <a:bodyPr wrap="square">
            <a:spAutoFit/>
          </a:bodyPr>
          <a:lstStyle/>
          <a:p>
            <a:pPr algn="ctr"/>
            <a:r>
              <a:rPr lang="fr-FR" b="1">
                <a:solidFill>
                  <a:srgbClr val="3494BA"/>
                </a:solidFill>
              </a:rPr>
              <a:t>Décisions qu’il est préférable et convenu de prendre en groupe</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923330"/>
          </a:xfrm>
          <a:prstGeom prst="rect">
            <a:avLst/>
          </a:prstGeom>
          <a:noFill/>
        </p:spPr>
        <p:txBody>
          <a:bodyPr wrap="square">
            <a:spAutoFit/>
          </a:bodyPr>
          <a:lstStyle/>
          <a:p>
            <a:pPr algn="ctr"/>
            <a:r>
              <a:rPr lang="fr-FR" b="1">
                <a:solidFill>
                  <a:schemeClr val="bg1">
                    <a:lumMod val="50000"/>
                  </a:schemeClr>
                </a:solidFill>
              </a:rPr>
              <a:t>Zone grise (au cas par cas)</a:t>
            </a:r>
            <a:endParaRPr lang="fr-FR">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spAutoFit/>
          </a:bodyPr>
          <a:lstStyle/>
          <a:p>
            <a:pPr algn="ctr"/>
            <a:r>
              <a:rPr lang="fr-FR" sz="1400"/>
              <a:t>Faire entrer un nouveau membre dans la Communauté</a:t>
            </a:r>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spAutoFit/>
          </a:bodyPr>
          <a:lstStyle/>
          <a:p>
            <a:pPr algn="ctr"/>
            <a:r>
              <a:rPr lang="fr-FR" sz="1400"/>
              <a:t>Bannir un membre de la Communauté</a:t>
            </a:r>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spAutoFit/>
          </a:bodyPr>
          <a:lstStyle/>
          <a:p>
            <a:pPr algn="ctr"/>
            <a:r>
              <a:rPr lang="fr-FR" sz="1400"/>
              <a:t>Choisir sa marque d’ordinateur</a:t>
            </a:r>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spAutoFit/>
          </a:bodyPr>
          <a:lstStyle/>
          <a:p>
            <a:pPr algn="ctr"/>
            <a:r>
              <a:rPr lang="fr-FR" sz="1400"/>
              <a:t>Définir les horaires des rendez-vous de la Communauté</a:t>
            </a:r>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spAutoFit/>
          </a:bodyPr>
          <a:lstStyle/>
          <a:p>
            <a:pPr algn="ctr"/>
            <a:r>
              <a:rPr lang="fr-FR" sz="1400"/>
              <a:t> Faire la promotion de la Communauté à une personne de l’extérieur</a:t>
            </a:r>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spAutoFit/>
          </a:bodyPr>
          <a:lstStyle/>
          <a:p>
            <a:pPr algn="ctr"/>
            <a:r>
              <a:rPr lang="fr-FR" sz="1400"/>
              <a:t>Initier le contact avec un autre membre</a:t>
            </a:r>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spAutoFit/>
          </a:bodyPr>
          <a:lstStyle/>
          <a:p>
            <a:pPr algn="ctr"/>
            <a:r>
              <a:rPr lang="fr-FR" sz="1400"/>
              <a:t>Publier un contenu dans la communauté</a:t>
            </a:r>
          </a:p>
        </p:txBody>
      </p:sp>
      <p:grpSp>
        <p:nvGrpSpPr>
          <p:cNvPr id="16" name="Groupe 15">
            <a:extLst>
              <a:ext uri="{FF2B5EF4-FFF2-40B4-BE49-F238E27FC236}">
                <a16:creationId xmlns:a16="http://schemas.microsoft.com/office/drawing/2014/main" id="{901B00A6-F03B-B090-91D2-628E372377F9}"/>
              </a:ext>
            </a:extLst>
          </p:cNvPr>
          <p:cNvGrpSpPr/>
          <p:nvPr/>
        </p:nvGrpSpPr>
        <p:grpSpPr>
          <a:xfrm>
            <a:off x="2625638" y="2891017"/>
            <a:ext cx="9515562" cy="728521"/>
            <a:chOff x="2625638" y="2891017"/>
            <a:chExt cx="9515562" cy="728521"/>
          </a:xfrm>
        </p:grpSpPr>
        <p:pic>
          <p:nvPicPr>
            <p:cNvPr id="11" name="Graphique 10" descr="Homme portant un sweat à capuche">
              <a:extLst>
                <a:ext uri="{FF2B5EF4-FFF2-40B4-BE49-F238E27FC236}">
                  <a16:creationId xmlns:a16="http://schemas.microsoft.com/office/drawing/2014/main" id="{EFD19E20-0AAD-9421-0C07-092E6373CE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2" name="Graphique 11" descr="Homme portant un sweat à capuche">
              <a:extLst>
                <a:ext uri="{FF2B5EF4-FFF2-40B4-BE49-F238E27FC236}">
                  <a16:creationId xmlns:a16="http://schemas.microsoft.com/office/drawing/2014/main" id="{5B871737-D529-BBA9-7D29-CB6575834E1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13" name="Graphique 12" descr="Femme avec bras prothétique">
              <a:extLst>
                <a:ext uri="{FF2B5EF4-FFF2-40B4-BE49-F238E27FC236}">
                  <a16:creationId xmlns:a16="http://schemas.microsoft.com/office/drawing/2014/main" id="{8B2E7D81-FF64-5327-F0BD-57F843FC69E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14" name="Graphique 13" descr="Homme barbu en peignoir">
              <a:extLst>
                <a:ext uri="{FF2B5EF4-FFF2-40B4-BE49-F238E27FC236}">
                  <a16:creationId xmlns:a16="http://schemas.microsoft.com/office/drawing/2014/main" id="{7DE2CF21-5DD6-8652-7C32-0464ABAF4C7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15" name="Graphique 14" descr="Femme tenant un ordinateur portable">
              <a:extLst>
                <a:ext uri="{FF2B5EF4-FFF2-40B4-BE49-F238E27FC236}">
                  <a16:creationId xmlns:a16="http://schemas.microsoft.com/office/drawing/2014/main" id="{B5211F7B-9FEC-7856-28CD-6116F66D265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01362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200"/>
              <a:t>Agir vite seul(e) ou bien se mettre d’accord au préalable</a:t>
            </a:r>
            <a:br>
              <a:rPr lang="fr-FR" sz="3200"/>
            </a:br>
            <a:r>
              <a:rPr lang="fr-FR" sz="3200" b="1"/>
              <a:t>Quand utiliser l’IVCD </a:t>
            </a:r>
            <a:r>
              <a:rPr lang="fr-FR" sz="3200" b="1" err="1"/>
              <a:t>map</a:t>
            </a:r>
            <a:r>
              <a:rPr lang="fr-FR" sz="3200" b="1"/>
              <a:t> dans un collectif ?</a:t>
            </a:r>
            <a:endParaRPr lang="fr-FR" sz="3200"/>
          </a:p>
        </p:txBody>
      </p:sp>
      <p:grpSp>
        <p:nvGrpSpPr>
          <p:cNvPr id="11" name="Groupe 10">
            <a:extLst>
              <a:ext uri="{FF2B5EF4-FFF2-40B4-BE49-F238E27FC236}">
                <a16:creationId xmlns:a16="http://schemas.microsoft.com/office/drawing/2014/main" id="{71FAE3E8-D327-7203-5359-CA2B578D9609}"/>
              </a:ext>
            </a:extLst>
          </p:cNvPr>
          <p:cNvGrpSpPr/>
          <p:nvPr/>
        </p:nvGrpSpPr>
        <p:grpSpPr>
          <a:xfrm>
            <a:off x="4482987" y="2373771"/>
            <a:ext cx="3226026" cy="1614825"/>
            <a:chOff x="2071688" y="1690688"/>
            <a:chExt cx="9894887" cy="4953000"/>
          </a:xfrm>
        </p:grpSpPr>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cxnSp>
        <p:nvCxnSpPr>
          <p:cNvPr id="13" name="Connecteur droit avec flèche 12">
            <a:extLst>
              <a:ext uri="{FF2B5EF4-FFF2-40B4-BE49-F238E27FC236}">
                <a16:creationId xmlns:a16="http://schemas.microsoft.com/office/drawing/2014/main" id="{1BB784D9-C16B-2573-C2BD-9B3942B2A2D4}"/>
              </a:ext>
            </a:extLst>
          </p:cNvPr>
          <p:cNvCxnSpPr>
            <a:cxnSpLocks/>
          </p:cNvCxnSpPr>
          <p:nvPr/>
        </p:nvCxnSpPr>
        <p:spPr>
          <a:xfrm>
            <a:off x="727603" y="4335476"/>
            <a:ext cx="1104888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515C0D44-D18D-DE83-49CC-C4E30452080E}"/>
              </a:ext>
            </a:extLst>
          </p:cNvPr>
          <p:cNvSpPr txBox="1"/>
          <p:nvPr/>
        </p:nvSpPr>
        <p:spPr>
          <a:xfrm>
            <a:off x="88637" y="4528560"/>
            <a:ext cx="2253569" cy="1477328"/>
          </a:xfrm>
          <a:prstGeom prst="rect">
            <a:avLst/>
          </a:prstGeom>
          <a:noFill/>
        </p:spPr>
        <p:txBody>
          <a:bodyPr wrap="square">
            <a:spAutoFit/>
          </a:bodyPr>
          <a:lstStyle/>
          <a:p>
            <a:pPr algn="ctr"/>
            <a:r>
              <a:rPr lang="fr-FR" b="1"/>
              <a:t>A L’ONBOARDING : </a:t>
            </a:r>
          </a:p>
          <a:p>
            <a:pPr algn="ctr"/>
            <a:r>
              <a:rPr lang="fr-FR"/>
              <a:t>Pour aider les nouveaux membres à mieux comprendre leurs libertés. </a:t>
            </a:r>
          </a:p>
        </p:txBody>
      </p:sp>
      <p:sp>
        <p:nvSpPr>
          <p:cNvPr id="15" name="ZoneTexte 14">
            <a:extLst>
              <a:ext uri="{FF2B5EF4-FFF2-40B4-BE49-F238E27FC236}">
                <a16:creationId xmlns:a16="http://schemas.microsoft.com/office/drawing/2014/main" id="{BBAA0F65-3133-213E-8905-124A0C83A54B}"/>
              </a:ext>
            </a:extLst>
          </p:cNvPr>
          <p:cNvSpPr txBox="1"/>
          <p:nvPr/>
        </p:nvSpPr>
        <p:spPr>
          <a:xfrm>
            <a:off x="2853351" y="4514387"/>
            <a:ext cx="3182998" cy="1477328"/>
          </a:xfrm>
          <a:prstGeom prst="rect">
            <a:avLst/>
          </a:prstGeom>
          <a:noFill/>
        </p:spPr>
        <p:txBody>
          <a:bodyPr wrap="square">
            <a:spAutoFit/>
          </a:bodyPr>
          <a:lstStyle/>
          <a:p>
            <a:pPr algn="ctr"/>
            <a:r>
              <a:rPr lang="fr-FR" b="1"/>
              <a:t>QUAND LE COLLECTIF CROÎT  / DECROÎT EN NOMBRE: </a:t>
            </a:r>
          </a:p>
          <a:p>
            <a:pPr algn="ctr"/>
            <a:r>
              <a:rPr lang="fr-FR"/>
              <a:t>Pour ajuster le niveau de liberté au nombre ou aux différentes contraintes</a:t>
            </a:r>
          </a:p>
        </p:txBody>
      </p:sp>
      <p:sp>
        <p:nvSpPr>
          <p:cNvPr id="16" name="ZoneTexte 15">
            <a:extLst>
              <a:ext uri="{FF2B5EF4-FFF2-40B4-BE49-F238E27FC236}">
                <a16:creationId xmlns:a16="http://schemas.microsoft.com/office/drawing/2014/main" id="{DE68BE82-DEAF-451A-0D1C-791920DBA618}"/>
              </a:ext>
            </a:extLst>
          </p:cNvPr>
          <p:cNvSpPr txBox="1"/>
          <p:nvPr/>
        </p:nvSpPr>
        <p:spPr>
          <a:xfrm>
            <a:off x="6317943" y="4487952"/>
            <a:ext cx="2744377" cy="1754326"/>
          </a:xfrm>
          <a:prstGeom prst="rect">
            <a:avLst/>
          </a:prstGeom>
          <a:noFill/>
        </p:spPr>
        <p:txBody>
          <a:bodyPr wrap="square">
            <a:spAutoFit/>
          </a:bodyPr>
          <a:lstStyle/>
          <a:p>
            <a:pPr algn="ctr"/>
            <a:r>
              <a:rPr lang="fr-FR" b="1"/>
              <a:t>EN SESSION D’AMELIORATION CONTINUE : </a:t>
            </a:r>
          </a:p>
          <a:p>
            <a:pPr algn="ctr"/>
            <a:r>
              <a:rPr lang="fr-FR"/>
              <a:t>Pour ajuster le niveau de liberté au vécu réel du collectif</a:t>
            </a:r>
          </a:p>
        </p:txBody>
      </p:sp>
      <p:sp>
        <p:nvSpPr>
          <p:cNvPr id="18" name="ZoneTexte 17">
            <a:extLst>
              <a:ext uri="{FF2B5EF4-FFF2-40B4-BE49-F238E27FC236}">
                <a16:creationId xmlns:a16="http://schemas.microsoft.com/office/drawing/2014/main" id="{3EFF7489-EF98-F8D4-CB97-4B018E415EF9}"/>
              </a:ext>
            </a:extLst>
          </p:cNvPr>
          <p:cNvSpPr txBox="1"/>
          <p:nvPr/>
        </p:nvSpPr>
        <p:spPr>
          <a:xfrm>
            <a:off x="9262375" y="4514387"/>
            <a:ext cx="2744377" cy="1754326"/>
          </a:xfrm>
          <a:prstGeom prst="rect">
            <a:avLst/>
          </a:prstGeom>
          <a:noFill/>
        </p:spPr>
        <p:txBody>
          <a:bodyPr wrap="square">
            <a:spAutoFit/>
          </a:bodyPr>
          <a:lstStyle/>
          <a:p>
            <a:pPr algn="ctr"/>
            <a:r>
              <a:rPr lang="fr-FR" b="1"/>
              <a:t>AUX CHANGEMENTS SIGNIFICATIFS DE GOUVERNANCE : </a:t>
            </a:r>
          </a:p>
          <a:p>
            <a:pPr algn="ctr"/>
            <a:r>
              <a:rPr lang="fr-FR"/>
              <a:t>Pour clarifier comment l’autonomie et les consensus sont ajustés</a:t>
            </a:r>
          </a:p>
        </p:txBody>
      </p:sp>
      <p:grpSp>
        <p:nvGrpSpPr>
          <p:cNvPr id="12" name="Groupe 11">
            <a:extLst>
              <a:ext uri="{FF2B5EF4-FFF2-40B4-BE49-F238E27FC236}">
                <a16:creationId xmlns:a16="http://schemas.microsoft.com/office/drawing/2014/main" id="{B25EEE57-827E-DC36-4994-AB3879BD139D}"/>
              </a:ext>
            </a:extLst>
          </p:cNvPr>
          <p:cNvGrpSpPr/>
          <p:nvPr/>
        </p:nvGrpSpPr>
        <p:grpSpPr>
          <a:xfrm>
            <a:off x="4698573" y="2684336"/>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8F0D7F91-E12A-2F30-2BE9-08F82474C15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4" name="Graphique 23" descr="Homme portant un sweat à capuche">
              <a:extLst>
                <a:ext uri="{FF2B5EF4-FFF2-40B4-BE49-F238E27FC236}">
                  <a16:creationId xmlns:a16="http://schemas.microsoft.com/office/drawing/2014/main" id="{EA4E8823-9D7A-726A-DD63-8A8AAFFBD3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5" name="Graphique 24" descr="Femme avec bras prothétique">
              <a:extLst>
                <a:ext uri="{FF2B5EF4-FFF2-40B4-BE49-F238E27FC236}">
                  <a16:creationId xmlns:a16="http://schemas.microsoft.com/office/drawing/2014/main" id="{21EACB09-33D1-433F-8381-2D2A9FBF3AA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6" name="Graphique 25" descr="Homme barbu en peignoir">
              <a:extLst>
                <a:ext uri="{FF2B5EF4-FFF2-40B4-BE49-F238E27FC236}">
                  <a16:creationId xmlns:a16="http://schemas.microsoft.com/office/drawing/2014/main" id="{AEB5B9DD-E5E6-AC8B-5B03-08B4B5CA617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7" name="Graphique 26" descr="Femme tenant un ordinateur portable">
              <a:extLst>
                <a:ext uri="{FF2B5EF4-FFF2-40B4-BE49-F238E27FC236}">
                  <a16:creationId xmlns:a16="http://schemas.microsoft.com/office/drawing/2014/main" id="{A778C2A2-3C56-508E-1EBE-D26FB4FCCE3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600046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5"/>
            <a:ext cx="10515600" cy="531031"/>
          </a:xfrm>
        </p:spPr>
        <p:txBody>
          <a:bodyPr>
            <a:noAutofit/>
          </a:bodyPr>
          <a:lstStyle/>
          <a:p>
            <a:r>
              <a:rPr lang="fr-FR" sz="2800"/>
              <a:t>Les bénéfices d’un bon usage de l’IVCD </a:t>
            </a:r>
            <a:r>
              <a:rPr lang="fr-FR" sz="2800" err="1"/>
              <a:t>Map</a:t>
            </a:r>
            <a:endParaRPr lang="fr-FR" sz="2800"/>
          </a:p>
        </p:txBody>
      </p:sp>
      <p:sp>
        <p:nvSpPr>
          <p:cNvPr id="45" name="Bulle narrative : ronde 44">
            <a:extLst>
              <a:ext uri="{FF2B5EF4-FFF2-40B4-BE49-F238E27FC236}">
                <a16:creationId xmlns:a16="http://schemas.microsoft.com/office/drawing/2014/main" id="{429C0625-5A70-A19D-D896-3FBE5C60CD63}"/>
              </a:ext>
            </a:extLst>
          </p:cNvPr>
          <p:cNvSpPr/>
          <p:nvPr/>
        </p:nvSpPr>
        <p:spPr>
          <a:xfrm>
            <a:off x="7739827" y="1840126"/>
            <a:ext cx="2291938" cy="869221"/>
          </a:xfrm>
          <a:prstGeom prst="wedgeEllipseCallout">
            <a:avLst>
              <a:gd name="adj1" fmla="val -57985"/>
              <a:gd name="adj2" fmla="val 934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Nous risquons moins d’être court-circuités par surprise </a:t>
            </a:r>
          </a:p>
        </p:txBody>
      </p:sp>
      <p:sp>
        <p:nvSpPr>
          <p:cNvPr id="46" name="Bulle narrative : ronde 45">
            <a:extLst>
              <a:ext uri="{FF2B5EF4-FFF2-40B4-BE49-F238E27FC236}">
                <a16:creationId xmlns:a16="http://schemas.microsoft.com/office/drawing/2014/main" id="{48BE0435-FC61-6943-ADFB-B94F831E40D9}"/>
              </a:ext>
            </a:extLst>
          </p:cNvPr>
          <p:cNvSpPr/>
          <p:nvPr/>
        </p:nvSpPr>
        <p:spPr>
          <a:xfrm>
            <a:off x="2388413" y="1812988"/>
            <a:ext cx="2291938" cy="624333"/>
          </a:xfrm>
          <a:prstGeom prst="wedgeEllipseCallout">
            <a:avLst>
              <a:gd name="adj1" fmla="val 52554"/>
              <a:gd name="adj2" fmla="val 14763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J’ai mieux compris mes libertés</a:t>
            </a:r>
          </a:p>
        </p:txBody>
      </p:sp>
      <p:pic>
        <p:nvPicPr>
          <p:cNvPr id="13" name="Graphique 12" descr="Homme portant un sweat à capuche">
            <a:extLst>
              <a:ext uri="{FF2B5EF4-FFF2-40B4-BE49-F238E27FC236}">
                <a16:creationId xmlns:a16="http://schemas.microsoft.com/office/drawing/2014/main" id="{E8743B59-D16B-C7A9-70C7-9FB2FB62906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58886" y="3122617"/>
            <a:ext cx="387523" cy="522438"/>
          </a:xfrm>
          <a:prstGeom prst="rect">
            <a:avLst/>
          </a:prstGeom>
        </p:spPr>
      </p:pic>
      <p:pic>
        <p:nvPicPr>
          <p:cNvPr id="14" name="Graphique 13" descr="Homme portant un sweat à capuche">
            <a:extLst>
              <a:ext uri="{FF2B5EF4-FFF2-40B4-BE49-F238E27FC236}">
                <a16:creationId xmlns:a16="http://schemas.microsoft.com/office/drawing/2014/main" id="{FE91774D-5EBF-E051-71AE-4A3F62D59B0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7033" y="3118320"/>
            <a:ext cx="387523" cy="522438"/>
          </a:xfrm>
          <a:prstGeom prst="rect">
            <a:avLst/>
          </a:prstGeom>
        </p:spPr>
      </p:pic>
      <p:pic>
        <p:nvPicPr>
          <p:cNvPr id="15" name="Graphique 14" descr="Femme avec bras prothétique">
            <a:extLst>
              <a:ext uri="{FF2B5EF4-FFF2-40B4-BE49-F238E27FC236}">
                <a16:creationId xmlns:a16="http://schemas.microsoft.com/office/drawing/2014/main" id="{B8A256FF-387B-2841-216F-80F2DA7F5EA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57371" y="3114024"/>
            <a:ext cx="482456" cy="506579"/>
          </a:xfrm>
          <a:prstGeom prst="rect">
            <a:avLst/>
          </a:prstGeom>
        </p:spPr>
      </p:pic>
      <p:pic>
        <p:nvPicPr>
          <p:cNvPr id="16" name="Graphique 15" descr="Homme barbu en peignoir">
            <a:extLst>
              <a:ext uri="{FF2B5EF4-FFF2-40B4-BE49-F238E27FC236}">
                <a16:creationId xmlns:a16="http://schemas.microsoft.com/office/drawing/2014/main" id="{928CCE13-AB57-4211-EDD2-55E70F05F4A9}"/>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25514" y="3114024"/>
            <a:ext cx="422410" cy="531030"/>
          </a:xfrm>
          <a:prstGeom prst="rect">
            <a:avLst/>
          </a:prstGeom>
        </p:spPr>
      </p:pic>
      <p:pic>
        <p:nvPicPr>
          <p:cNvPr id="18" name="Graphique 17" descr="Femme tenant un ordinateur portable">
            <a:extLst>
              <a:ext uri="{FF2B5EF4-FFF2-40B4-BE49-F238E27FC236}">
                <a16:creationId xmlns:a16="http://schemas.microsoft.com/office/drawing/2014/main" id="{1E94A96C-D539-545B-DEB9-6AADE3589D4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728865" y="3138475"/>
            <a:ext cx="498581" cy="506579"/>
          </a:xfrm>
          <a:prstGeom prst="rect">
            <a:avLst/>
          </a:prstGeom>
        </p:spPr>
      </p:pic>
      <p:sp>
        <p:nvSpPr>
          <p:cNvPr id="39" name="Bulle narrative : ronde 38">
            <a:extLst>
              <a:ext uri="{FF2B5EF4-FFF2-40B4-BE49-F238E27FC236}">
                <a16:creationId xmlns:a16="http://schemas.microsoft.com/office/drawing/2014/main" id="{955B11C0-7F64-0C36-D500-8B2990A603E8}"/>
              </a:ext>
            </a:extLst>
          </p:cNvPr>
          <p:cNvSpPr/>
          <p:nvPr/>
        </p:nvSpPr>
        <p:spPr>
          <a:xfrm>
            <a:off x="7816828" y="3783928"/>
            <a:ext cx="2291938" cy="869221"/>
          </a:xfrm>
          <a:prstGeom prst="wedgeEllipseCallout">
            <a:avLst>
              <a:gd name="adj1" fmla="val -91293"/>
              <a:gd name="adj2" fmla="val -8120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Il y a moins de risques de travail redondant dans notre collectif.</a:t>
            </a:r>
          </a:p>
        </p:txBody>
      </p:sp>
      <p:sp>
        <p:nvSpPr>
          <p:cNvPr id="47" name="Bulle narrative : ronde 46">
            <a:extLst>
              <a:ext uri="{FF2B5EF4-FFF2-40B4-BE49-F238E27FC236}">
                <a16:creationId xmlns:a16="http://schemas.microsoft.com/office/drawing/2014/main" id="{49B0286A-8128-845F-B5A3-6D41D383D5FE}"/>
              </a:ext>
            </a:extLst>
          </p:cNvPr>
          <p:cNvSpPr/>
          <p:nvPr/>
        </p:nvSpPr>
        <p:spPr>
          <a:xfrm>
            <a:off x="8200359" y="2698621"/>
            <a:ext cx="2134877" cy="1018821"/>
          </a:xfrm>
          <a:prstGeom prst="wedgeEllipseCallout">
            <a:avLst>
              <a:gd name="adj1" fmla="val -59083"/>
              <a:gd name="adj2" fmla="val -881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Quand nous sommes en réunion, c’est plus souvent pour un sujet qui mérite une réunion</a:t>
            </a:r>
          </a:p>
        </p:txBody>
      </p:sp>
      <p:sp>
        <p:nvSpPr>
          <p:cNvPr id="48" name="Bulle narrative : ronde 47">
            <a:extLst>
              <a:ext uri="{FF2B5EF4-FFF2-40B4-BE49-F238E27FC236}">
                <a16:creationId xmlns:a16="http://schemas.microsoft.com/office/drawing/2014/main" id="{97D979A9-EAF3-AC72-432E-B86D9827097A}"/>
              </a:ext>
            </a:extLst>
          </p:cNvPr>
          <p:cNvSpPr/>
          <p:nvPr/>
        </p:nvSpPr>
        <p:spPr>
          <a:xfrm>
            <a:off x="2088325" y="2519624"/>
            <a:ext cx="2291938" cy="956395"/>
          </a:xfrm>
          <a:prstGeom prst="wedgeEllipseCallout">
            <a:avLst>
              <a:gd name="adj1" fmla="val 59142"/>
              <a:gd name="adj2" fmla="val 1496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J’ai moins de craintes de brusquer les autres parce que je ne les aurais pas sollicités</a:t>
            </a:r>
          </a:p>
        </p:txBody>
      </p:sp>
      <p:sp>
        <p:nvSpPr>
          <p:cNvPr id="49" name="Bulle narrative : ronde 48">
            <a:extLst>
              <a:ext uri="{FF2B5EF4-FFF2-40B4-BE49-F238E27FC236}">
                <a16:creationId xmlns:a16="http://schemas.microsoft.com/office/drawing/2014/main" id="{8A7A3486-BB05-71F7-9AC2-58F714EA3D2E}"/>
              </a:ext>
            </a:extLst>
          </p:cNvPr>
          <p:cNvSpPr/>
          <p:nvPr/>
        </p:nvSpPr>
        <p:spPr>
          <a:xfrm>
            <a:off x="2088325" y="3544406"/>
            <a:ext cx="2291938" cy="706715"/>
          </a:xfrm>
          <a:prstGeom prst="wedgeEllipseCallout">
            <a:avLst>
              <a:gd name="adj1" fmla="val 56580"/>
              <a:gd name="adj2" fmla="val -6572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Je me sens plus à l’aise de solliciter les autres quand il faut</a:t>
            </a:r>
          </a:p>
        </p:txBody>
      </p:sp>
      <p:sp>
        <p:nvSpPr>
          <p:cNvPr id="50" name="Bulle narrative : ronde 49">
            <a:extLst>
              <a:ext uri="{FF2B5EF4-FFF2-40B4-BE49-F238E27FC236}">
                <a16:creationId xmlns:a16="http://schemas.microsoft.com/office/drawing/2014/main" id="{309761E4-ABC3-5CE7-BD66-C6B5C22CDE5A}"/>
              </a:ext>
            </a:extLst>
          </p:cNvPr>
          <p:cNvSpPr/>
          <p:nvPr/>
        </p:nvSpPr>
        <p:spPr>
          <a:xfrm>
            <a:off x="2296736" y="4319508"/>
            <a:ext cx="2544058" cy="900477"/>
          </a:xfrm>
          <a:prstGeom prst="wedgeEllipseCallout">
            <a:avLst>
              <a:gd name="adj1" fmla="val 52554"/>
              <a:gd name="adj2" fmla="val -1322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Il y a moins de chances de ralentissement de dernière minute lié à un besoin de consensus</a:t>
            </a:r>
          </a:p>
        </p:txBody>
      </p:sp>
      <p:sp>
        <p:nvSpPr>
          <p:cNvPr id="51" name="Rectangle 50">
            <a:extLst>
              <a:ext uri="{FF2B5EF4-FFF2-40B4-BE49-F238E27FC236}">
                <a16:creationId xmlns:a16="http://schemas.microsoft.com/office/drawing/2014/main" id="{C0273A33-68AE-501F-6823-A02B5978C81E}"/>
              </a:ext>
            </a:extLst>
          </p:cNvPr>
          <p:cNvSpPr/>
          <p:nvPr/>
        </p:nvSpPr>
        <p:spPr>
          <a:xfrm>
            <a:off x="5903182" y="2698621"/>
            <a:ext cx="162095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NON-AGENTS</a:t>
            </a:r>
          </a:p>
        </p:txBody>
      </p:sp>
      <p:sp>
        <p:nvSpPr>
          <p:cNvPr id="52" name="Rectangle 51">
            <a:extLst>
              <a:ext uri="{FF2B5EF4-FFF2-40B4-BE49-F238E27FC236}">
                <a16:creationId xmlns:a16="http://schemas.microsoft.com/office/drawing/2014/main" id="{3508EFF4-8E67-88A4-E9EC-76B481520489}"/>
              </a:ext>
            </a:extLst>
          </p:cNvPr>
          <p:cNvSpPr/>
          <p:nvPr/>
        </p:nvSpPr>
        <p:spPr>
          <a:xfrm>
            <a:off x="4846756" y="2698621"/>
            <a:ext cx="978059"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AGENTS</a:t>
            </a:r>
          </a:p>
        </p:txBody>
      </p:sp>
      <p:sp>
        <p:nvSpPr>
          <p:cNvPr id="53" name="ZoneTexte 52">
            <a:extLst>
              <a:ext uri="{FF2B5EF4-FFF2-40B4-BE49-F238E27FC236}">
                <a16:creationId xmlns:a16="http://schemas.microsoft.com/office/drawing/2014/main" id="{1AE497C5-4B37-DD93-8F91-CF187B5AF51D}"/>
              </a:ext>
            </a:extLst>
          </p:cNvPr>
          <p:cNvSpPr txBox="1"/>
          <p:nvPr/>
        </p:nvSpPr>
        <p:spPr>
          <a:xfrm>
            <a:off x="297101" y="1716695"/>
            <a:ext cx="1703417" cy="839412"/>
          </a:xfrm>
          <a:prstGeom prst="rect">
            <a:avLst/>
          </a:prstGeom>
          <a:solidFill>
            <a:srgbClr val="54FFB3"/>
          </a:solidFill>
        </p:spPr>
        <p:txBody>
          <a:bodyPr wrap="square" anchor="ctr">
            <a:noAutofit/>
          </a:bodyPr>
          <a:lstStyle/>
          <a:p>
            <a:pPr algn="ctr"/>
            <a:r>
              <a:rPr lang="fr-FR" sz="1400"/>
              <a:t>Autonomie plus claire</a:t>
            </a:r>
          </a:p>
        </p:txBody>
      </p:sp>
      <p:sp>
        <p:nvSpPr>
          <p:cNvPr id="54" name="ZoneTexte 53">
            <a:extLst>
              <a:ext uri="{FF2B5EF4-FFF2-40B4-BE49-F238E27FC236}">
                <a16:creationId xmlns:a16="http://schemas.microsoft.com/office/drawing/2014/main" id="{B3D912EA-E901-F0D6-8972-A68E794AD113}"/>
              </a:ext>
            </a:extLst>
          </p:cNvPr>
          <p:cNvSpPr txBox="1"/>
          <p:nvPr/>
        </p:nvSpPr>
        <p:spPr>
          <a:xfrm>
            <a:off x="297101" y="2636607"/>
            <a:ext cx="1703417" cy="839412"/>
          </a:xfrm>
          <a:prstGeom prst="rect">
            <a:avLst/>
          </a:prstGeom>
          <a:solidFill>
            <a:srgbClr val="54FFB3"/>
          </a:solidFill>
        </p:spPr>
        <p:txBody>
          <a:bodyPr wrap="square" anchor="ctr">
            <a:noAutofit/>
          </a:bodyPr>
          <a:lstStyle/>
          <a:p>
            <a:pPr algn="ctr"/>
            <a:r>
              <a:rPr lang="fr-FR" sz="1400"/>
              <a:t>Sécurité psychologique</a:t>
            </a:r>
          </a:p>
        </p:txBody>
      </p:sp>
      <p:sp>
        <p:nvSpPr>
          <p:cNvPr id="55" name="ZoneTexte 54">
            <a:extLst>
              <a:ext uri="{FF2B5EF4-FFF2-40B4-BE49-F238E27FC236}">
                <a16:creationId xmlns:a16="http://schemas.microsoft.com/office/drawing/2014/main" id="{23289301-CA42-7C0E-758C-5B889BCFE6A5}"/>
              </a:ext>
            </a:extLst>
          </p:cNvPr>
          <p:cNvSpPr txBox="1"/>
          <p:nvPr/>
        </p:nvSpPr>
        <p:spPr>
          <a:xfrm>
            <a:off x="291771" y="3544406"/>
            <a:ext cx="1703417" cy="839412"/>
          </a:xfrm>
          <a:prstGeom prst="rect">
            <a:avLst/>
          </a:prstGeom>
          <a:solidFill>
            <a:srgbClr val="54FFB3"/>
          </a:solidFill>
        </p:spPr>
        <p:txBody>
          <a:bodyPr wrap="square" anchor="ctr">
            <a:noAutofit/>
          </a:bodyPr>
          <a:lstStyle/>
          <a:p>
            <a:pPr algn="ctr"/>
            <a:r>
              <a:rPr lang="fr-FR" sz="1400"/>
              <a:t>Rapidité d’action</a:t>
            </a:r>
          </a:p>
        </p:txBody>
      </p:sp>
      <p:sp>
        <p:nvSpPr>
          <p:cNvPr id="56" name="ZoneTexte 55">
            <a:extLst>
              <a:ext uri="{FF2B5EF4-FFF2-40B4-BE49-F238E27FC236}">
                <a16:creationId xmlns:a16="http://schemas.microsoft.com/office/drawing/2014/main" id="{CA3162F4-C447-EEDD-A6F1-4E55E1453B87}"/>
              </a:ext>
            </a:extLst>
          </p:cNvPr>
          <p:cNvSpPr txBox="1"/>
          <p:nvPr/>
        </p:nvSpPr>
        <p:spPr>
          <a:xfrm>
            <a:off x="10415644" y="1869935"/>
            <a:ext cx="1703417" cy="839412"/>
          </a:xfrm>
          <a:prstGeom prst="rect">
            <a:avLst/>
          </a:prstGeom>
          <a:solidFill>
            <a:srgbClr val="54FFB3"/>
          </a:solidFill>
        </p:spPr>
        <p:txBody>
          <a:bodyPr wrap="square" anchor="ctr">
            <a:noAutofit/>
          </a:bodyPr>
          <a:lstStyle/>
          <a:p>
            <a:pPr algn="ctr"/>
            <a:r>
              <a:rPr lang="fr-FR" sz="1400"/>
              <a:t>Meilleures relations et coordination</a:t>
            </a:r>
          </a:p>
        </p:txBody>
      </p:sp>
      <p:sp>
        <p:nvSpPr>
          <p:cNvPr id="57" name="ZoneTexte 56">
            <a:extLst>
              <a:ext uri="{FF2B5EF4-FFF2-40B4-BE49-F238E27FC236}">
                <a16:creationId xmlns:a16="http://schemas.microsoft.com/office/drawing/2014/main" id="{F820C13D-9CC6-E351-B65C-125FFF897154}"/>
              </a:ext>
            </a:extLst>
          </p:cNvPr>
          <p:cNvSpPr txBox="1"/>
          <p:nvPr/>
        </p:nvSpPr>
        <p:spPr>
          <a:xfrm>
            <a:off x="10415644" y="2789847"/>
            <a:ext cx="1703417" cy="839412"/>
          </a:xfrm>
          <a:prstGeom prst="rect">
            <a:avLst/>
          </a:prstGeom>
          <a:solidFill>
            <a:srgbClr val="54FFB3"/>
          </a:solidFill>
        </p:spPr>
        <p:txBody>
          <a:bodyPr wrap="square" anchor="ctr">
            <a:noAutofit/>
          </a:bodyPr>
          <a:lstStyle/>
          <a:p>
            <a:pPr algn="ctr"/>
            <a:r>
              <a:rPr lang="fr-FR" sz="1400"/>
              <a:t>Meilleur usage du temps collectif</a:t>
            </a:r>
          </a:p>
        </p:txBody>
      </p:sp>
      <p:sp>
        <p:nvSpPr>
          <p:cNvPr id="58" name="ZoneTexte 57">
            <a:extLst>
              <a:ext uri="{FF2B5EF4-FFF2-40B4-BE49-F238E27FC236}">
                <a16:creationId xmlns:a16="http://schemas.microsoft.com/office/drawing/2014/main" id="{0066EE7D-767A-4015-5EC1-3BBD9B8B31E3}"/>
              </a:ext>
            </a:extLst>
          </p:cNvPr>
          <p:cNvSpPr txBox="1"/>
          <p:nvPr/>
        </p:nvSpPr>
        <p:spPr>
          <a:xfrm>
            <a:off x="10410314" y="3697646"/>
            <a:ext cx="1703417" cy="839412"/>
          </a:xfrm>
          <a:prstGeom prst="rect">
            <a:avLst/>
          </a:prstGeom>
          <a:solidFill>
            <a:srgbClr val="54FFB3"/>
          </a:solidFill>
        </p:spPr>
        <p:txBody>
          <a:bodyPr wrap="square" anchor="ctr">
            <a:noAutofit/>
          </a:bodyPr>
          <a:lstStyle/>
          <a:p>
            <a:pPr algn="ctr"/>
            <a:r>
              <a:rPr lang="fr-FR" sz="1400"/>
              <a:t>Plus grandes chances de mutualisation du travail</a:t>
            </a:r>
          </a:p>
        </p:txBody>
      </p:sp>
    </p:spTree>
    <p:extLst>
      <p:ext uri="{BB962C8B-B14F-4D97-AF65-F5344CB8AC3E}">
        <p14:creationId xmlns:p14="http://schemas.microsoft.com/office/powerpoint/2010/main" val="35226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1205B-CCF1-CE7F-C901-6CEF2A742138}"/>
              </a:ext>
            </a:extLst>
          </p:cNvPr>
          <p:cNvSpPr>
            <a:spLocks noGrp="1"/>
          </p:cNvSpPr>
          <p:nvPr>
            <p:ph type="title"/>
          </p:nvPr>
        </p:nvSpPr>
        <p:spPr/>
        <p:txBody>
          <a:bodyPr/>
          <a:lstStyle/>
          <a:p>
            <a:r>
              <a:rPr lang="fr-FR"/>
              <a:t>Présenter l’IVCD </a:t>
            </a:r>
            <a:r>
              <a:rPr lang="fr-FR" err="1"/>
              <a:t>Map</a:t>
            </a:r>
            <a:r>
              <a:rPr lang="fr-FR"/>
              <a:t> différemment</a:t>
            </a:r>
          </a:p>
        </p:txBody>
      </p:sp>
      <p:grpSp>
        <p:nvGrpSpPr>
          <p:cNvPr id="4" name="Groupe 3">
            <a:extLst>
              <a:ext uri="{FF2B5EF4-FFF2-40B4-BE49-F238E27FC236}">
                <a16:creationId xmlns:a16="http://schemas.microsoft.com/office/drawing/2014/main" id="{41E97FE5-593F-F93A-1807-1C961BBF1DBE}"/>
              </a:ext>
            </a:extLst>
          </p:cNvPr>
          <p:cNvGrpSpPr/>
          <p:nvPr/>
        </p:nvGrpSpPr>
        <p:grpSpPr>
          <a:xfrm>
            <a:off x="537022" y="3825464"/>
            <a:ext cx="3226026" cy="1614825"/>
            <a:chOff x="2071688" y="1690688"/>
            <a:chExt cx="9894887" cy="4953000"/>
          </a:xfrm>
        </p:grpSpPr>
        <p:grpSp>
          <p:nvGrpSpPr>
            <p:cNvPr id="5" name="Groupe 4">
              <a:extLst>
                <a:ext uri="{FF2B5EF4-FFF2-40B4-BE49-F238E27FC236}">
                  <a16:creationId xmlns:a16="http://schemas.microsoft.com/office/drawing/2014/main" id="{EB1687DC-1F0C-1FA4-11E2-BFADEDC29741}"/>
                </a:ext>
              </a:extLst>
            </p:cNvPr>
            <p:cNvGrpSpPr/>
            <p:nvPr/>
          </p:nvGrpSpPr>
          <p:grpSpPr>
            <a:xfrm>
              <a:off x="3333750" y="1690688"/>
              <a:ext cx="6959600" cy="4953000"/>
              <a:chOff x="2425700" y="1690688"/>
              <a:chExt cx="6959600" cy="4953000"/>
            </a:xfrm>
          </p:grpSpPr>
          <p:sp>
            <p:nvSpPr>
              <p:cNvPr id="16" name="Ellipse 15">
                <a:extLst>
                  <a:ext uri="{FF2B5EF4-FFF2-40B4-BE49-F238E27FC236}">
                    <a16:creationId xmlns:a16="http://schemas.microsoft.com/office/drawing/2014/main" id="{FEDB9602-CB9B-199F-B63E-07DF463D4C5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17" name="Ellipse 16">
                <a:extLst>
                  <a:ext uri="{FF2B5EF4-FFF2-40B4-BE49-F238E27FC236}">
                    <a16:creationId xmlns:a16="http://schemas.microsoft.com/office/drawing/2014/main" id="{6CEB2795-1996-C2D3-156F-3B0F5467F3B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6" name="ZoneTexte 5">
              <a:extLst>
                <a:ext uri="{FF2B5EF4-FFF2-40B4-BE49-F238E27FC236}">
                  <a16:creationId xmlns:a16="http://schemas.microsoft.com/office/drawing/2014/main" id="{28D4488A-5B3D-8244-C22D-36176A1E78F3}"/>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7" name="ZoneTexte 6">
              <a:extLst>
                <a:ext uri="{FF2B5EF4-FFF2-40B4-BE49-F238E27FC236}">
                  <a16:creationId xmlns:a16="http://schemas.microsoft.com/office/drawing/2014/main" id="{B98359B4-5E66-F45D-E33B-184CCC8D8764}"/>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8" name="ZoneTexte 7">
              <a:extLst>
                <a:ext uri="{FF2B5EF4-FFF2-40B4-BE49-F238E27FC236}">
                  <a16:creationId xmlns:a16="http://schemas.microsoft.com/office/drawing/2014/main" id="{C08C9F4F-9470-04BE-2884-5BCC69822827}"/>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9" name="ZoneTexte 8">
              <a:extLst>
                <a:ext uri="{FF2B5EF4-FFF2-40B4-BE49-F238E27FC236}">
                  <a16:creationId xmlns:a16="http://schemas.microsoft.com/office/drawing/2014/main" id="{2CA87D51-B0A6-BACB-D19A-C2E9E61B1BD2}"/>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0" name="ZoneTexte 9">
              <a:extLst>
                <a:ext uri="{FF2B5EF4-FFF2-40B4-BE49-F238E27FC236}">
                  <a16:creationId xmlns:a16="http://schemas.microsoft.com/office/drawing/2014/main" id="{5D75CEF7-9988-15EA-9F7C-122B7ED4D45D}"/>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1" name="ZoneTexte 10">
              <a:extLst>
                <a:ext uri="{FF2B5EF4-FFF2-40B4-BE49-F238E27FC236}">
                  <a16:creationId xmlns:a16="http://schemas.microsoft.com/office/drawing/2014/main" id="{DBA85B43-663A-CF46-28EF-3990A48DDE7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12" name="ZoneTexte 11">
              <a:extLst>
                <a:ext uri="{FF2B5EF4-FFF2-40B4-BE49-F238E27FC236}">
                  <a16:creationId xmlns:a16="http://schemas.microsoft.com/office/drawing/2014/main" id="{2647EE0E-5D1D-719E-8024-AEE508279A33}"/>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3" name="ZoneTexte 12">
              <a:extLst>
                <a:ext uri="{FF2B5EF4-FFF2-40B4-BE49-F238E27FC236}">
                  <a16:creationId xmlns:a16="http://schemas.microsoft.com/office/drawing/2014/main" id="{7676522E-8782-3DD3-8DE0-21C61FEEA679}"/>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14" name="ZoneTexte 13">
              <a:extLst>
                <a:ext uri="{FF2B5EF4-FFF2-40B4-BE49-F238E27FC236}">
                  <a16:creationId xmlns:a16="http://schemas.microsoft.com/office/drawing/2014/main" id="{D8048D04-D16E-408E-1022-EA283B765164}"/>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5" name="ZoneTexte 14">
              <a:extLst>
                <a:ext uri="{FF2B5EF4-FFF2-40B4-BE49-F238E27FC236}">
                  <a16:creationId xmlns:a16="http://schemas.microsoft.com/office/drawing/2014/main" id="{F613D041-4AEF-8A9C-0C18-58B4D72846BF}"/>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sp>
        <p:nvSpPr>
          <p:cNvPr id="18" name="Espace réservé du contenu 2">
            <a:extLst>
              <a:ext uri="{FF2B5EF4-FFF2-40B4-BE49-F238E27FC236}">
                <a16:creationId xmlns:a16="http://schemas.microsoft.com/office/drawing/2014/main" id="{7A0454FB-1561-4C99-C00C-66260E5DFEFB}"/>
              </a:ext>
            </a:extLst>
          </p:cNvPr>
          <p:cNvSpPr>
            <a:spLocks noGrp="1"/>
          </p:cNvSpPr>
          <p:nvPr>
            <p:ph idx="1"/>
          </p:nvPr>
        </p:nvSpPr>
        <p:spPr>
          <a:xfrm>
            <a:off x="964009" y="1751599"/>
            <a:ext cx="8156510" cy="1033655"/>
          </a:xfrm>
        </p:spPr>
        <p:txBody>
          <a:bodyPr>
            <a:normAutofit fontScale="85000" lnSpcReduction="10000"/>
          </a:bodyPr>
          <a:lstStyle/>
          <a:p>
            <a:pPr marL="0" indent="0">
              <a:buNone/>
            </a:pPr>
            <a:r>
              <a:rPr lang="fr-FR" sz="1800"/>
              <a:t>L’IVCD </a:t>
            </a:r>
            <a:r>
              <a:rPr lang="fr-FR" sz="1800" err="1"/>
              <a:t>Map</a:t>
            </a:r>
            <a:r>
              <a:rPr lang="fr-FR" sz="1800"/>
              <a:t> a une présentation visuelle particulière (deux cercles intersectés) qui facilite son usage en atelier. Le contenu peut être présenté différemment selon les préférences de chacun.</a:t>
            </a:r>
          </a:p>
          <a:p>
            <a:pPr marL="0" indent="0">
              <a:buNone/>
            </a:pPr>
            <a:r>
              <a:rPr lang="fr-FR" sz="1800"/>
              <a:t>Il n’y a pas besoin de forcer un format ou l’autre, malgré l’appellation « MAP ». L’important est de trouver un format de présentation efficace de l’information</a:t>
            </a:r>
          </a:p>
        </p:txBody>
      </p:sp>
      <p:grpSp>
        <p:nvGrpSpPr>
          <p:cNvPr id="19" name="Groupe 18">
            <a:extLst>
              <a:ext uri="{FF2B5EF4-FFF2-40B4-BE49-F238E27FC236}">
                <a16:creationId xmlns:a16="http://schemas.microsoft.com/office/drawing/2014/main" id="{7996A599-8869-BED1-5A16-98DAE6DF498D}"/>
              </a:ext>
            </a:extLst>
          </p:cNvPr>
          <p:cNvGrpSpPr/>
          <p:nvPr/>
        </p:nvGrpSpPr>
        <p:grpSpPr>
          <a:xfrm>
            <a:off x="764328" y="4142109"/>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08CD1166-7C92-C938-02CB-FE57FA764CB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1" name="Graphique 20" descr="Homme portant un sweat à capuche">
              <a:extLst>
                <a:ext uri="{FF2B5EF4-FFF2-40B4-BE49-F238E27FC236}">
                  <a16:creationId xmlns:a16="http://schemas.microsoft.com/office/drawing/2014/main" id="{552ED170-A330-28AC-85D2-1B8C014D0BB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2" name="Graphique 21" descr="Femme avec bras prothétique">
              <a:extLst>
                <a:ext uri="{FF2B5EF4-FFF2-40B4-BE49-F238E27FC236}">
                  <a16:creationId xmlns:a16="http://schemas.microsoft.com/office/drawing/2014/main" id="{938D127A-C10A-1BB0-38C2-CC97D49F68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3" name="Graphique 22" descr="Homme barbu en peignoir">
              <a:extLst>
                <a:ext uri="{FF2B5EF4-FFF2-40B4-BE49-F238E27FC236}">
                  <a16:creationId xmlns:a16="http://schemas.microsoft.com/office/drawing/2014/main" id="{C01A241C-F2DB-A65F-F165-334230277A5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4" name="Graphique 23" descr="Femme tenant un ordinateur portable">
              <a:extLst>
                <a:ext uri="{FF2B5EF4-FFF2-40B4-BE49-F238E27FC236}">
                  <a16:creationId xmlns:a16="http://schemas.microsoft.com/office/drawing/2014/main" id="{B8A4D54B-2169-0981-EEA1-1E080D0DB39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graphicFrame>
        <p:nvGraphicFramePr>
          <p:cNvPr id="25" name="Tableau 25">
            <a:extLst>
              <a:ext uri="{FF2B5EF4-FFF2-40B4-BE49-F238E27FC236}">
                <a16:creationId xmlns:a16="http://schemas.microsoft.com/office/drawing/2014/main" id="{CD85EA0D-FDBB-F3A7-EFD9-85549F70A6AD}"/>
              </a:ext>
            </a:extLst>
          </p:cNvPr>
          <p:cNvGraphicFramePr>
            <a:graphicFrameLocks noGrp="1"/>
          </p:cNvGraphicFramePr>
          <p:nvPr>
            <p:extLst>
              <p:ext uri="{D42A27DB-BD31-4B8C-83A1-F6EECF244321}">
                <p14:modId xmlns:p14="http://schemas.microsoft.com/office/powerpoint/2010/main" val="3475419798"/>
              </p:ext>
            </p:extLst>
          </p:nvPr>
        </p:nvGraphicFramePr>
        <p:xfrm>
          <a:off x="4942980" y="3973832"/>
          <a:ext cx="2898552" cy="999280"/>
        </p:xfrm>
        <a:graphic>
          <a:graphicData uri="http://schemas.openxmlformats.org/drawingml/2006/table">
            <a:tbl>
              <a:tblPr firstRow="1" bandRow="1">
                <a:tableStyleId>{5C22544A-7EE6-4342-B048-85BDC9FD1C3A}</a:tableStyleId>
              </a:tblPr>
              <a:tblGrid>
                <a:gridCol w="966184">
                  <a:extLst>
                    <a:ext uri="{9D8B030D-6E8A-4147-A177-3AD203B41FA5}">
                      <a16:colId xmlns:a16="http://schemas.microsoft.com/office/drawing/2014/main" val="202539309"/>
                    </a:ext>
                  </a:extLst>
                </a:gridCol>
                <a:gridCol w="966184">
                  <a:extLst>
                    <a:ext uri="{9D8B030D-6E8A-4147-A177-3AD203B41FA5}">
                      <a16:colId xmlns:a16="http://schemas.microsoft.com/office/drawing/2014/main" val="3873720868"/>
                    </a:ext>
                  </a:extLst>
                </a:gridCol>
                <a:gridCol w="966184">
                  <a:extLst>
                    <a:ext uri="{9D8B030D-6E8A-4147-A177-3AD203B41FA5}">
                      <a16:colId xmlns:a16="http://schemas.microsoft.com/office/drawing/2014/main" val="184706590"/>
                    </a:ext>
                  </a:extLst>
                </a:gridCol>
              </a:tblGrid>
              <a:tr h="338109">
                <a:tc>
                  <a:txBody>
                    <a:bodyPr/>
                    <a:lstStyle/>
                    <a:p>
                      <a:r>
                        <a:rPr lang="fr-FR" sz="1100"/>
                        <a:t>En toute autonomie</a:t>
                      </a:r>
                    </a:p>
                  </a:txBody>
                  <a:tcPr>
                    <a:solidFill>
                      <a:schemeClr val="accent2"/>
                    </a:solidFill>
                  </a:tcPr>
                </a:tc>
                <a:tc>
                  <a:txBody>
                    <a:bodyPr/>
                    <a:lstStyle/>
                    <a:p>
                      <a:r>
                        <a:rPr lang="fr-FR" sz="1100"/>
                        <a:t>Au cas par cas</a:t>
                      </a:r>
                    </a:p>
                  </a:txBody>
                  <a:tcPr>
                    <a:solidFill>
                      <a:schemeClr val="bg1">
                        <a:lumMod val="50000"/>
                      </a:schemeClr>
                    </a:solidFill>
                  </a:tcPr>
                </a:tc>
                <a:tc>
                  <a:txBody>
                    <a:bodyPr/>
                    <a:lstStyle/>
                    <a:p>
                      <a:r>
                        <a:rPr lang="fr-FR" sz="1100"/>
                        <a:t>Décision collective</a:t>
                      </a:r>
                    </a:p>
                  </a:txBody>
                  <a:tcPr/>
                </a:tc>
                <a:extLst>
                  <a:ext uri="{0D108BD9-81ED-4DB2-BD59-A6C34878D82A}">
                    <a16:rowId xmlns:a16="http://schemas.microsoft.com/office/drawing/2014/main" val="311288095"/>
                  </a:ext>
                </a:extLst>
              </a:tr>
              <a:tr h="572560">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accent2">
                        <a:lumMod val="20000"/>
                        <a:lumOff val="80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bg1">
                        <a:lumMod val="85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tc>
                <a:extLst>
                  <a:ext uri="{0D108BD9-81ED-4DB2-BD59-A6C34878D82A}">
                    <a16:rowId xmlns:a16="http://schemas.microsoft.com/office/drawing/2014/main" val="2549662727"/>
                  </a:ext>
                </a:extLst>
              </a:tr>
            </a:tbl>
          </a:graphicData>
        </a:graphic>
      </p:graphicFrame>
      <p:pic>
        <p:nvPicPr>
          <p:cNvPr id="27" name="Graphique 26" descr="Homme portant un sweat à capuche">
            <a:extLst>
              <a:ext uri="{FF2B5EF4-FFF2-40B4-BE49-F238E27FC236}">
                <a16:creationId xmlns:a16="http://schemas.microsoft.com/office/drawing/2014/main" id="{B8FA1924-369F-9A9B-34BC-41A5E37673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67734" y="3705345"/>
            <a:ext cx="125577" cy="172697"/>
          </a:xfrm>
          <a:prstGeom prst="rect">
            <a:avLst/>
          </a:prstGeom>
        </p:spPr>
      </p:pic>
      <p:pic>
        <p:nvPicPr>
          <p:cNvPr id="28" name="Graphique 27" descr="Homme portant un sweat à capuche">
            <a:extLst>
              <a:ext uri="{FF2B5EF4-FFF2-40B4-BE49-F238E27FC236}">
                <a16:creationId xmlns:a16="http://schemas.microsoft.com/office/drawing/2014/main" id="{F8036509-6D81-F81F-5D7E-2405EAFDEB5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1103" y="3710522"/>
            <a:ext cx="125577" cy="172697"/>
          </a:xfrm>
          <a:prstGeom prst="rect">
            <a:avLst/>
          </a:prstGeom>
        </p:spPr>
      </p:pic>
      <p:pic>
        <p:nvPicPr>
          <p:cNvPr id="29" name="Graphique 28" descr="Femme avec bras prothétique">
            <a:extLst>
              <a:ext uri="{FF2B5EF4-FFF2-40B4-BE49-F238E27FC236}">
                <a16:creationId xmlns:a16="http://schemas.microsoft.com/office/drawing/2014/main" id="{B1642C41-2880-B939-1D3F-85DF672D20C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96863" y="3702504"/>
            <a:ext cx="156339" cy="167455"/>
          </a:xfrm>
          <a:prstGeom prst="rect">
            <a:avLst/>
          </a:prstGeom>
        </p:spPr>
      </p:pic>
      <p:pic>
        <p:nvPicPr>
          <p:cNvPr id="30" name="Graphique 29" descr="Homme barbu en peignoir">
            <a:extLst>
              <a:ext uri="{FF2B5EF4-FFF2-40B4-BE49-F238E27FC236}">
                <a16:creationId xmlns:a16="http://schemas.microsoft.com/office/drawing/2014/main" id="{4D290C4C-BCC0-B25C-1FDA-306D2B773D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027300" y="3702504"/>
            <a:ext cx="136882" cy="175537"/>
          </a:xfrm>
          <a:prstGeom prst="rect">
            <a:avLst/>
          </a:prstGeom>
        </p:spPr>
      </p:pic>
      <p:pic>
        <p:nvPicPr>
          <p:cNvPr id="31" name="Graphique 30" descr="Femme tenant un ordinateur portable">
            <a:extLst>
              <a:ext uri="{FF2B5EF4-FFF2-40B4-BE49-F238E27FC236}">
                <a16:creationId xmlns:a16="http://schemas.microsoft.com/office/drawing/2014/main" id="{6837C080-EE82-F75A-6174-9D3DEBEA8A4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449650" y="3710587"/>
            <a:ext cx="161565" cy="167455"/>
          </a:xfrm>
          <a:prstGeom prst="rect">
            <a:avLst/>
          </a:prstGeom>
        </p:spPr>
      </p:pic>
      <p:pic>
        <p:nvPicPr>
          <p:cNvPr id="33" name="Graphique 32" descr="Point d’interrogation avec un remplissage uni">
            <a:extLst>
              <a:ext uri="{FF2B5EF4-FFF2-40B4-BE49-F238E27FC236}">
                <a16:creationId xmlns:a16="http://schemas.microsoft.com/office/drawing/2014/main" id="{A723A30F-3B8C-7108-3A2A-A256872C40F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53488" y="3465007"/>
            <a:ext cx="404952" cy="404952"/>
          </a:xfrm>
          <a:prstGeom prst="rect">
            <a:avLst/>
          </a:prstGeom>
        </p:spPr>
      </p:pic>
      <p:sp>
        <p:nvSpPr>
          <p:cNvPr id="34" name="Espace réservé du contenu 2">
            <a:extLst>
              <a:ext uri="{FF2B5EF4-FFF2-40B4-BE49-F238E27FC236}">
                <a16:creationId xmlns:a16="http://schemas.microsoft.com/office/drawing/2014/main" id="{04F5F7FF-AE23-6384-6AC3-2E569C48D3C1}"/>
              </a:ext>
            </a:extLst>
          </p:cNvPr>
          <p:cNvSpPr txBox="1">
            <a:spLocks/>
          </p:cNvSpPr>
          <p:nvPr/>
        </p:nvSpPr>
        <p:spPr>
          <a:xfrm>
            <a:off x="9529605" y="3196245"/>
            <a:ext cx="2130222" cy="22059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800"/>
              <a:t>En toute autonomie</a:t>
            </a:r>
          </a:p>
          <a:p>
            <a:r>
              <a:rPr lang="fr-FR" sz="800"/>
              <a:t>Lorem Ipsum</a:t>
            </a:r>
          </a:p>
          <a:p>
            <a:r>
              <a:rPr lang="fr-FR" sz="800"/>
              <a:t>Lorem Ipsum</a:t>
            </a:r>
          </a:p>
          <a:p>
            <a:endParaRPr lang="fr-FR" sz="800"/>
          </a:p>
          <a:p>
            <a:pPr marL="0" indent="0">
              <a:buNone/>
            </a:pPr>
            <a:r>
              <a:rPr lang="fr-FR" sz="800"/>
              <a:t>Au cas par cas  </a:t>
            </a:r>
          </a:p>
          <a:p>
            <a:r>
              <a:rPr lang="fr-FR" sz="800"/>
              <a:t>Lorem Ipsum</a:t>
            </a:r>
          </a:p>
          <a:p>
            <a:r>
              <a:rPr lang="fr-FR" sz="800"/>
              <a:t>Lorem Ipsum</a:t>
            </a:r>
          </a:p>
          <a:p>
            <a:pPr marL="0" indent="0">
              <a:buNone/>
            </a:pPr>
            <a:endParaRPr lang="fr-FR" sz="800"/>
          </a:p>
          <a:p>
            <a:pPr marL="0" indent="0">
              <a:buNone/>
            </a:pPr>
            <a:r>
              <a:rPr lang="fr-FR" sz="800"/>
              <a:t>Décision collectives  </a:t>
            </a:r>
          </a:p>
          <a:p>
            <a:r>
              <a:rPr lang="fr-FR" sz="800"/>
              <a:t>Lorem Ipsum</a:t>
            </a:r>
          </a:p>
          <a:p>
            <a:r>
              <a:rPr lang="fr-FR" sz="800"/>
              <a:t>Lorem Ipsum</a:t>
            </a:r>
          </a:p>
          <a:p>
            <a:pPr marL="0" indent="0">
              <a:buFont typeface="Arial" panose="020B0604020202020204" pitchFamily="34" charset="0"/>
              <a:buNone/>
            </a:pPr>
            <a:endParaRPr lang="fr-FR" sz="800"/>
          </a:p>
          <a:p>
            <a:pPr marL="0" indent="0">
              <a:buFont typeface="Arial" panose="020B0604020202020204" pitchFamily="34" charset="0"/>
              <a:buNone/>
            </a:pPr>
            <a:endParaRPr lang="fr-FR" sz="800"/>
          </a:p>
        </p:txBody>
      </p:sp>
      <p:sp>
        <p:nvSpPr>
          <p:cNvPr id="35" name="ZoneTexte 34">
            <a:extLst>
              <a:ext uri="{FF2B5EF4-FFF2-40B4-BE49-F238E27FC236}">
                <a16:creationId xmlns:a16="http://schemas.microsoft.com/office/drawing/2014/main" id="{0DA266AF-752C-C56A-745C-3ED4EA2A0E7D}"/>
              </a:ext>
            </a:extLst>
          </p:cNvPr>
          <p:cNvSpPr txBox="1"/>
          <p:nvPr/>
        </p:nvSpPr>
        <p:spPr>
          <a:xfrm>
            <a:off x="1112521" y="5752049"/>
            <a:ext cx="1770003" cy="646331"/>
          </a:xfrm>
          <a:prstGeom prst="rect">
            <a:avLst/>
          </a:prstGeom>
          <a:noFill/>
        </p:spPr>
        <p:txBody>
          <a:bodyPr wrap="square">
            <a:spAutoFit/>
          </a:bodyPr>
          <a:lstStyle/>
          <a:p>
            <a:pPr algn="ctr"/>
            <a:r>
              <a:rPr lang="fr-FR" b="1"/>
              <a:t>PRESENTATION 2 CERCLES</a:t>
            </a:r>
            <a:endParaRPr lang="fr-FR"/>
          </a:p>
        </p:txBody>
      </p:sp>
      <p:sp>
        <p:nvSpPr>
          <p:cNvPr id="36" name="ZoneTexte 35">
            <a:extLst>
              <a:ext uri="{FF2B5EF4-FFF2-40B4-BE49-F238E27FC236}">
                <a16:creationId xmlns:a16="http://schemas.microsoft.com/office/drawing/2014/main" id="{050A9F87-1540-1106-8244-CA2F45BD8470}"/>
              </a:ext>
            </a:extLst>
          </p:cNvPr>
          <p:cNvSpPr txBox="1"/>
          <p:nvPr/>
        </p:nvSpPr>
        <p:spPr>
          <a:xfrm>
            <a:off x="5450834" y="5752048"/>
            <a:ext cx="1770003" cy="646331"/>
          </a:xfrm>
          <a:prstGeom prst="rect">
            <a:avLst/>
          </a:prstGeom>
          <a:noFill/>
        </p:spPr>
        <p:txBody>
          <a:bodyPr wrap="square">
            <a:spAutoFit/>
          </a:bodyPr>
          <a:lstStyle/>
          <a:p>
            <a:pPr algn="ctr"/>
            <a:r>
              <a:rPr lang="fr-FR" b="1"/>
              <a:t>PRESENTATION EN TABLEAU</a:t>
            </a:r>
            <a:endParaRPr lang="fr-FR"/>
          </a:p>
        </p:txBody>
      </p:sp>
      <p:sp>
        <p:nvSpPr>
          <p:cNvPr id="37" name="ZoneTexte 36">
            <a:extLst>
              <a:ext uri="{FF2B5EF4-FFF2-40B4-BE49-F238E27FC236}">
                <a16:creationId xmlns:a16="http://schemas.microsoft.com/office/drawing/2014/main" id="{E6399FA1-1465-A495-BC89-986B2360DAC2}"/>
              </a:ext>
            </a:extLst>
          </p:cNvPr>
          <p:cNvSpPr txBox="1"/>
          <p:nvPr/>
        </p:nvSpPr>
        <p:spPr>
          <a:xfrm>
            <a:off x="9120519" y="5752048"/>
            <a:ext cx="1770003" cy="646331"/>
          </a:xfrm>
          <a:prstGeom prst="rect">
            <a:avLst/>
          </a:prstGeom>
          <a:noFill/>
        </p:spPr>
        <p:txBody>
          <a:bodyPr wrap="square">
            <a:spAutoFit/>
          </a:bodyPr>
          <a:lstStyle/>
          <a:p>
            <a:pPr algn="ctr"/>
            <a:r>
              <a:rPr lang="fr-FR" b="1"/>
              <a:t>PRESENTATION EN TEXTE</a:t>
            </a:r>
            <a:endParaRPr lang="fr-FR"/>
          </a:p>
        </p:txBody>
      </p:sp>
    </p:spTree>
    <p:extLst>
      <p:ext uri="{BB962C8B-B14F-4D97-AF65-F5344CB8AC3E}">
        <p14:creationId xmlns:p14="http://schemas.microsoft.com/office/powerpoint/2010/main" val="3343136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Usage de l’IVCD </a:t>
            </a:r>
            <a:r>
              <a:rPr lang="fr-FR" err="1"/>
              <a:t>Map</a:t>
            </a:r>
            <a:r>
              <a:rPr lang="fr-FR"/>
              <a:t> en atelier d’équipe</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06486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normAutofit/>
          </a:bodyPr>
          <a:lstStyle/>
          <a:p>
            <a:r>
              <a:rPr lang="fr-FR" sz="3200"/>
              <a:t>Cet atelier suit des recommandations </a:t>
            </a:r>
            <a:r>
              <a:rPr lang="en-US" sz="3200" b="1"/>
              <a:t>#</a:t>
            </a:r>
            <a:r>
              <a:rPr lang="en-US" sz="3200" b="1">
                <a:solidFill>
                  <a:srgbClr val="ED7D31"/>
                </a:solidFill>
              </a:rPr>
              <a:t>Open</a:t>
            </a:r>
            <a:r>
              <a:rPr lang="en-US" sz="3200" b="1">
                <a:solidFill>
                  <a:srgbClr val="0683AA"/>
                </a:solidFill>
              </a:rPr>
              <a:t>Serious</a:t>
            </a:r>
            <a:r>
              <a:rPr lang="en-US" sz="3200" b="1">
                <a:solidFill>
                  <a:srgbClr val="ED7D31"/>
                </a:solidFill>
              </a:rPr>
              <a:t>Game</a:t>
            </a:r>
            <a:endParaRPr lang="fr-FR" sz="3200"/>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lstStyle/>
          <a:p>
            <a:pPr marL="0" indent="0">
              <a:buNone/>
            </a:pPr>
            <a:r>
              <a:rPr lang="fr-FR" i="1"/>
              <a:t>Il est fait pour que vous puissiez le retransmettre après l’avoir joué</a:t>
            </a:r>
          </a:p>
          <a:p>
            <a:pPr marL="0" indent="0">
              <a:buNone/>
            </a:pPr>
            <a:endParaRPr lang="fr-FR" i="1"/>
          </a:p>
          <a:p>
            <a:pPr marL="0" indent="0">
              <a:buNone/>
            </a:pPr>
            <a:r>
              <a:rPr lang="fr-FR" i="1"/>
              <a:t>Tout le matériel pour le promouvoir, l’animer, l’adapter, créer des variantes est mis à votre disposition.</a:t>
            </a:r>
          </a:p>
          <a:p>
            <a:pPr marL="0" indent="0">
              <a:buNone/>
            </a:pPr>
            <a:endParaRPr lang="fr-FR" i="1"/>
          </a:p>
          <a:p>
            <a:pPr marL="0" indent="0">
              <a:buNone/>
            </a:pPr>
            <a:r>
              <a:rPr lang="fr-FR" i="1"/>
              <a:t>A vous de jouer, et un jour : A vous de transmettre !</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942" y="4960398"/>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351" y="342900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lstStyle/>
          <a:p>
            <a:r>
              <a:rPr lang="fr-FR"/>
              <a:t>Déroulement de l’IVCD </a:t>
            </a:r>
            <a:r>
              <a:rPr lang="fr-FR" err="1"/>
              <a:t>Map</a:t>
            </a:r>
            <a:r>
              <a:rPr lang="fr-FR"/>
              <a:t> en bref</a:t>
            </a:r>
          </a:p>
        </p:txBody>
      </p:sp>
      <p:pic>
        <p:nvPicPr>
          <p:cNvPr id="12" name="Espace réservé pour une image  11" descr="Une image contenant personne, intérieur, groupe, gens&#10;&#10;Description générée automatiquement">
            <a:extLst>
              <a:ext uri="{FF2B5EF4-FFF2-40B4-BE49-F238E27FC236}">
                <a16:creationId xmlns:a16="http://schemas.microsoft.com/office/drawing/2014/main" id="{7EFF40A8-2B25-B428-2F47-D9D6B3900E7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460" r="21460"/>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66285" y="5461000"/>
            <a:ext cx="3402012" cy="813965"/>
          </a:xfrm>
        </p:spPr>
        <p:txBody>
          <a:bodyPr/>
          <a:lstStyle/>
          <a:p>
            <a:r>
              <a:rPr lang="fr-FR" sz="1100"/>
              <a:t>On présente aux participants le concept d’arbitrer entre agir vite seul et se mettre d’accord avant (peut aussi être envoyé en amont d’atelier).</a:t>
            </a:r>
          </a:p>
          <a:p>
            <a:r>
              <a:rPr lang="fr-FR" sz="1100"/>
              <a:t>On présente un exemple d’usage l’IVCD </a:t>
            </a:r>
            <a:r>
              <a:rPr lang="fr-FR" sz="1100" err="1"/>
              <a:t>Map</a:t>
            </a:r>
            <a:endParaRPr lang="fr-FR" sz="1100"/>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15459" y="5461000"/>
            <a:ext cx="3402012" cy="813965"/>
          </a:xfrm>
        </p:spPr>
        <p:txBody>
          <a:bodyPr/>
          <a:lstStyle/>
          <a:p>
            <a:r>
              <a:rPr lang="fr-FR" sz="1100"/>
              <a:t>Chaque participant note de son côté les sujets qu’ils considère importants pour la discussion </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56032" y="5461000"/>
            <a:ext cx="3402012" cy="813965"/>
          </a:xfrm>
        </p:spPr>
        <p:txBody>
          <a:bodyPr/>
          <a:lstStyle/>
          <a:p>
            <a:r>
              <a:rPr lang="fr-FR" sz="1100"/>
              <a:t>Chacun son tour, chaque participant propose UN sujet et en discute jusqu’à fixer la zone. On passe alors au participant suivant.</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se représenter comment se passe cet atelier</a:t>
            </a:r>
          </a:p>
        </p:txBody>
      </p:sp>
      <p:sp>
        <p:nvSpPr>
          <p:cNvPr id="21" name="Rectangle 20">
            <a:extLst>
              <a:ext uri="{FF2B5EF4-FFF2-40B4-BE49-F238E27FC236}">
                <a16:creationId xmlns:a16="http://schemas.microsoft.com/office/drawing/2014/main" id="{BCD4E38A-A424-67B0-18E8-059EEB04E1D1}"/>
              </a:ext>
            </a:extLst>
          </p:cNvPr>
          <p:cNvSpPr/>
          <p:nvPr/>
        </p:nvSpPr>
        <p:spPr>
          <a:xfrm>
            <a:off x="838200" y="1996580"/>
            <a:ext cx="2299283" cy="906011"/>
          </a:xfrm>
          <a:prstGeom prst="rect">
            <a:avLst/>
          </a:prstGeom>
          <a:solidFill>
            <a:srgbClr val="DDE8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4226AF23-3044-6492-3023-CA2626A9FA70}"/>
              </a:ext>
            </a:extLst>
          </p:cNvPr>
          <p:cNvGrpSpPr/>
          <p:nvPr/>
        </p:nvGrpSpPr>
        <p:grpSpPr>
          <a:xfrm>
            <a:off x="1002044" y="2265895"/>
            <a:ext cx="1992826" cy="297661"/>
            <a:chOff x="3521626" y="2664211"/>
            <a:chExt cx="5414734" cy="808778"/>
          </a:xfrm>
        </p:grpSpPr>
        <p:sp>
          <p:nvSpPr>
            <p:cNvPr id="23" name="Flèche : double flèche horizontale 22">
              <a:extLst>
                <a:ext uri="{FF2B5EF4-FFF2-40B4-BE49-F238E27FC236}">
                  <a16:creationId xmlns:a16="http://schemas.microsoft.com/office/drawing/2014/main" id="{DB48B2BB-E4FC-D3B2-7E32-DA923DC0B102}"/>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24" name="Graphique 23" descr="Homme portant un sweat à capuche">
              <a:extLst>
                <a:ext uri="{FF2B5EF4-FFF2-40B4-BE49-F238E27FC236}">
                  <a16:creationId xmlns:a16="http://schemas.microsoft.com/office/drawing/2014/main" id="{861493B2-ABC5-DF80-CF15-32A0E865751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567800" y="2672804"/>
              <a:ext cx="387523" cy="522438"/>
            </a:xfrm>
            <a:prstGeom prst="rect">
              <a:avLst/>
            </a:prstGeom>
          </p:spPr>
        </p:pic>
        <p:pic>
          <p:nvPicPr>
            <p:cNvPr id="25" name="Graphique 24" descr="Homme portant un sweat à capuche">
              <a:extLst>
                <a:ext uri="{FF2B5EF4-FFF2-40B4-BE49-F238E27FC236}">
                  <a16:creationId xmlns:a16="http://schemas.microsoft.com/office/drawing/2014/main" id="{2DD65C55-B3C3-9086-B985-99688C14E6D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521626" y="2691671"/>
              <a:ext cx="387523" cy="522438"/>
            </a:xfrm>
            <a:prstGeom prst="rect">
              <a:avLst/>
            </a:prstGeom>
          </p:spPr>
        </p:pic>
        <p:pic>
          <p:nvPicPr>
            <p:cNvPr id="26" name="Graphique 25" descr="Femme avec bras prothétique">
              <a:extLst>
                <a:ext uri="{FF2B5EF4-FFF2-40B4-BE49-F238E27FC236}">
                  <a16:creationId xmlns:a16="http://schemas.microsoft.com/office/drawing/2014/main" id="{94FF7743-17A4-7901-AC77-7AEACEC7AD3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66285" y="2664211"/>
              <a:ext cx="482456" cy="506579"/>
            </a:xfrm>
            <a:prstGeom prst="rect">
              <a:avLst/>
            </a:prstGeom>
          </p:spPr>
        </p:pic>
        <p:pic>
          <p:nvPicPr>
            <p:cNvPr id="27" name="Graphique 26" descr="Homme barbu en peignoir">
              <a:extLst>
                <a:ext uri="{FF2B5EF4-FFF2-40B4-BE49-F238E27FC236}">
                  <a16:creationId xmlns:a16="http://schemas.microsoft.com/office/drawing/2014/main" id="{2BA8EC8B-7919-785F-8BB6-586617A34D0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34428" y="2664211"/>
              <a:ext cx="422410" cy="531030"/>
            </a:xfrm>
            <a:prstGeom prst="rect">
              <a:avLst/>
            </a:prstGeom>
          </p:spPr>
        </p:pic>
        <p:pic>
          <p:nvPicPr>
            <p:cNvPr id="28" name="Graphique 27" descr="Femme tenant un ordinateur portable">
              <a:extLst>
                <a:ext uri="{FF2B5EF4-FFF2-40B4-BE49-F238E27FC236}">
                  <a16:creationId xmlns:a16="http://schemas.microsoft.com/office/drawing/2014/main" id="{6AA01607-7FFE-1CEF-891E-BF666989D3D9}"/>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437779" y="2688662"/>
              <a:ext cx="498581" cy="506579"/>
            </a:xfrm>
            <a:prstGeom prst="rect">
              <a:avLst/>
            </a:prstGeom>
          </p:spPr>
        </p:pic>
      </p:grpSp>
      <p:pic>
        <p:nvPicPr>
          <p:cNvPr id="35" name="Espace réservé pour une image  34" descr="Une image contenant texte, document&#10;&#10;Description générée automatiquement">
            <a:extLst>
              <a:ext uri="{FF2B5EF4-FFF2-40B4-BE49-F238E27FC236}">
                <a16:creationId xmlns:a16="http://schemas.microsoft.com/office/drawing/2014/main" id="{CC00A408-CE40-3D9A-E3F6-1A315F625853}"/>
              </a:ext>
            </a:extLst>
          </p:cNvPr>
          <p:cNvPicPr>
            <a:picLocks noGrp="1" noChangeAspect="1"/>
          </p:cNvPicPr>
          <p:nvPr>
            <p:ph type="pic" sz="quarter" idx="14"/>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t="630" b="630"/>
          <a:stretch>
            <a:fillRect/>
          </a:stretch>
        </p:blipFill>
        <p:spPr/>
      </p:pic>
      <p:grpSp>
        <p:nvGrpSpPr>
          <p:cNvPr id="37" name="Groupe 36">
            <a:extLst>
              <a:ext uri="{FF2B5EF4-FFF2-40B4-BE49-F238E27FC236}">
                <a16:creationId xmlns:a16="http://schemas.microsoft.com/office/drawing/2014/main" id="{F0C013E2-7078-A0C3-C4C2-4C6B003A9455}"/>
              </a:ext>
            </a:extLst>
          </p:cNvPr>
          <p:cNvGrpSpPr/>
          <p:nvPr/>
        </p:nvGrpSpPr>
        <p:grpSpPr>
          <a:xfrm>
            <a:off x="8111871" y="2691517"/>
            <a:ext cx="3226026" cy="1614825"/>
            <a:chOff x="2071688" y="1690688"/>
            <a:chExt cx="9894887" cy="4953000"/>
          </a:xfrm>
        </p:grpSpPr>
        <p:grpSp>
          <p:nvGrpSpPr>
            <p:cNvPr id="38" name="Groupe 37">
              <a:extLst>
                <a:ext uri="{FF2B5EF4-FFF2-40B4-BE49-F238E27FC236}">
                  <a16:creationId xmlns:a16="http://schemas.microsoft.com/office/drawing/2014/main" id="{AE4B7354-7003-57A1-AEB3-79C1C80560C4}"/>
                </a:ext>
              </a:extLst>
            </p:cNvPr>
            <p:cNvGrpSpPr/>
            <p:nvPr/>
          </p:nvGrpSpPr>
          <p:grpSpPr>
            <a:xfrm>
              <a:off x="3333750" y="1690688"/>
              <a:ext cx="6959600" cy="4953000"/>
              <a:chOff x="2425700" y="1690688"/>
              <a:chExt cx="6959600" cy="4953000"/>
            </a:xfrm>
          </p:grpSpPr>
          <p:sp>
            <p:nvSpPr>
              <p:cNvPr id="49" name="Ellipse 48">
                <a:extLst>
                  <a:ext uri="{FF2B5EF4-FFF2-40B4-BE49-F238E27FC236}">
                    <a16:creationId xmlns:a16="http://schemas.microsoft.com/office/drawing/2014/main" id="{8DF90AD2-01ED-2232-5CAC-9206332A25B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50" name="Ellipse 49">
                <a:extLst>
                  <a:ext uri="{FF2B5EF4-FFF2-40B4-BE49-F238E27FC236}">
                    <a16:creationId xmlns:a16="http://schemas.microsoft.com/office/drawing/2014/main" id="{BB4DAF45-5DD1-63E0-C1BB-BD667F49E2BA}"/>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39" name="ZoneTexte 38">
              <a:extLst>
                <a:ext uri="{FF2B5EF4-FFF2-40B4-BE49-F238E27FC236}">
                  <a16:creationId xmlns:a16="http://schemas.microsoft.com/office/drawing/2014/main" id="{A39FBA57-7AB1-63FC-5094-773AC8038B77}"/>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40" name="ZoneTexte 39">
              <a:extLst>
                <a:ext uri="{FF2B5EF4-FFF2-40B4-BE49-F238E27FC236}">
                  <a16:creationId xmlns:a16="http://schemas.microsoft.com/office/drawing/2014/main" id="{93A257D6-8052-82A5-27DA-3EDB3A1593F3}"/>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41" name="ZoneTexte 40">
              <a:extLst>
                <a:ext uri="{FF2B5EF4-FFF2-40B4-BE49-F238E27FC236}">
                  <a16:creationId xmlns:a16="http://schemas.microsoft.com/office/drawing/2014/main" id="{B1AD6AE0-E9B1-5154-F77A-55A639104835}"/>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42" name="ZoneTexte 41">
              <a:extLst>
                <a:ext uri="{FF2B5EF4-FFF2-40B4-BE49-F238E27FC236}">
                  <a16:creationId xmlns:a16="http://schemas.microsoft.com/office/drawing/2014/main" id="{CAD9F256-9035-188E-AF26-42137E73E4ED}"/>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43" name="ZoneTexte 42">
              <a:extLst>
                <a:ext uri="{FF2B5EF4-FFF2-40B4-BE49-F238E27FC236}">
                  <a16:creationId xmlns:a16="http://schemas.microsoft.com/office/drawing/2014/main" id="{847EC266-5733-52A8-4628-4D98EF29F248}"/>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44" name="ZoneTexte 43">
              <a:extLst>
                <a:ext uri="{FF2B5EF4-FFF2-40B4-BE49-F238E27FC236}">
                  <a16:creationId xmlns:a16="http://schemas.microsoft.com/office/drawing/2014/main" id="{CE0C5AC9-A723-966C-40CF-159AE2AA9415}"/>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45" name="ZoneTexte 44">
              <a:extLst>
                <a:ext uri="{FF2B5EF4-FFF2-40B4-BE49-F238E27FC236}">
                  <a16:creationId xmlns:a16="http://schemas.microsoft.com/office/drawing/2014/main" id="{5B862888-49C6-4AAB-767A-AEC3AA95C75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46" name="ZoneTexte 45">
              <a:extLst>
                <a:ext uri="{FF2B5EF4-FFF2-40B4-BE49-F238E27FC236}">
                  <a16:creationId xmlns:a16="http://schemas.microsoft.com/office/drawing/2014/main" id="{C5B86061-16E8-BF7F-1D37-0695266FF064}"/>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47" name="ZoneTexte 46">
              <a:extLst>
                <a:ext uri="{FF2B5EF4-FFF2-40B4-BE49-F238E27FC236}">
                  <a16:creationId xmlns:a16="http://schemas.microsoft.com/office/drawing/2014/main" id="{E9C17B92-D015-A43C-322B-E3F24F7606E9}"/>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48" name="ZoneTexte 47">
              <a:extLst>
                <a:ext uri="{FF2B5EF4-FFF2-40B4-BE49-F238E27FC236}">
                  <a16:creationId xmlns:a16="http://schemas.microsoft.com/office/drawing/2014/main" id="{6FEAF6AA-56B1-8CC8-CFDF-E0B65EE79AAD}"/>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pic>
        <p:nvPicPr>
          <p:cNvPr id="52" name="Graphique 51" descr="Homme portant un sweat à capuche">
            <a:extLst>
              <a:ext uri="{FF2B5EF4-FFF2-40B4-BE49-F238E27FC236}">
                <a16:creationId xmlns:a16="http://schemas.microsoft.com/office/drawing/2014/main" id="{7EDA47AA-7812-C239-0B55-4B03A955E39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985856" y="2969253"/>
            <a:ext cx="387523" cy="522438"/>
          </a:xfrm>
          <a:prstGeom prst="rect">
            <a:avLst/>
          </a:prstGeom>
        </p:spPr>
      </p:pic>
      <p:grpSp>
        <p:nvGrpSpPr>
          <p:cNvPr id="56" name="Groupe 55">
            <a:extLst>
              <a:ext uri="{FF2B5EF4-FFF2-40B4-BE49-F238E27FC236}">
                <a16:creationId xmlns:a16="http://schemas.microsoft.com/office/drawing/2014/main" id="{79DF7357-76C2-CC92-52CE-41365FE2F37D}"/>
              </a:ext>
            </a:extLst>
          </p:cNvPr>
          <p:cNvGrpSpPr/>
          <p:nvPr/>
        </p:nvGrpSpPr>
        <p:grpSpPr>
          <a:xfrm>
            <a:off x="10924392" y="3181851"/>
            <a:ext cx="977350" cy="288026"/>
            <a:chOff x="10408277" y="3548984"/>
            <a:chExt cx="1801932" cy="531031"/>
          </a:xfrm>
        </p:grpSpPr>
        <p:pic>
          <p:nvPicPr>
            <p:cNvPr id="51" name="Graphique 50" descr="Homme portant un sweat à capuche">
              <a:extLst>
                <a:ext uri="{FF2B5EF4-FFF2-40B4-BE49-F238E27FC236}">
                  <a16:creationId xmlns:a16="http://schemas.microsoft.com/office/drawing/2014/main" id="{713AA842-4A8D-5711-5611-ECC8A8C68A2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841649" y="3557577"/>
              <a:ext cx="387523" cy="522438"/>
            </a:xfrm>
            <a:prstGeom prst="rect">
              <a:avLst/>
            </a:prstGeom>
          </p:spPr>
        </p:pic>
        <p:pic>
          <p:nvPicPr>
            <p:cNvPr id="53" name="Graphique 52" descr="Femme avec bras prothétique">
              <a:extLst>
                <a:ext uri="{FF2B5EF4-FFF2-40B4-BE49-F238E27FC236}">
                  <a16:creationId xmlns:a16="http://schemas.microsoft.com/office/drawing/2014/main" id="{199F3909-2607-9ED5-9F63-2843CDA864A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240134" y="3548984"/>
              <a:ext cx="482456" cy="506579"/>
            </a:xfrm>
            <a:prstGeom prst="rect">
              <a:avLst/>
            </a:prstGeom>
          </p:spPr>
        </p:pic>
        <p:pic>
          <p:nvPicPr>
            <p:cNvPr id="54" name="Graphique 53" descr="Homme barbu en peignoir">
              <a:extLst>
                <a:ext uri="{FF2B5EF4-FFF2-40B4-BE49-F238E27FC236}">
                  <a16:creationId xmlns:a16="http://schemas.microsoft.com/office/drawing/2014/main" id="{2C7287F0-AB69-FE52-056D-CAF3D2B506D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408277" y="3548984"/>
              <a:ext cx="422410" cy="531030"/>
            </a:xfrm>
            <a:prstGeom prst="rect">
              <a:avLst/>
            </a:prstGeom>
          </p:spPr>
        </p:pic>
        <p:pic>
          <p:nvPicPr>
            <p:cNvPr id="55" name="Graphique 54" descr="Femme tenant un ordinateur portable">
              <a:extLst>
                <a:ext uri="{FF2B5EF4-FFF2-40B4-BE49-F238E27FC236}">
                  <a16:creationId xmlns:a16="http://schemas.microsoft.com/office/drawing/2014/main" id="{63C66578-BEB1-0B28-C88E-30CDF3342E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711628" y="3573435"/>
              <a:ext cx="498581" cy="506579"/>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sz="3600"/>
              <a:t>Niveau 2 : Détails sur l’atelier IVCD </a:t>
            </a:r>
            <a:r>
              <a:rPr lang="fr-FR" sz="3600" err="1"/>
              <a:t>Map</a:t>
            </a:r>
            <a:endParaRPr lang="fr-FR" sz="3600"/>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2753146838"/>
              </p:ext>
            </p:extLst>
          </p:nvPr>
        </p:nvGraphicFramePr>
        <p:xfrm>
          <a:off x="217646" y="1603540"/>
          <a:ext cx="10421855" cy="4776102"/>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Icebreaker, …</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 …</a:t>
                      </a:r>
                    </a:p>
                  </a:txBody>
                  <a:tcPr/>
                </a:tc>
                <a:extLst>
                  <a:ext uri="{0D108BD9-81ED-4DB2-BD59-A6C34878D82A}">
                    <a16:rowId xmlns:a16="http://schemas.microsoft.com/office/drawing/2014/main" val="1724558119"/>
                  </a:ext>
                </a:extLst>
              </a:tr>
              <a:tr h="3521451">
                <a:tc>
                  <a:txBody>
                    <a:bodyPr/>
                    <a:lstStyle/>
                    <a:p>
                      <a:r>
                        <a:rPr lang="fr-FR" sz="1100" b="1"/>
                        <a:t>10 min</a:t>
                      </a:r>
                    </a:p>
                    <a:p>
                      <a:endParaRPr lang="fr-FR" sz="1100"/>
                    </a:p>
                    <a:p>
                      <a:r>
                        <a:rPr lang="fr-FR" sz="1100"/>
                        <a:t>On présente aux participants le concept d’arbitrer entre agir vite seul et se mettre d’accord avant (peut aussi être envoyé en amont d’atelier).</a:t>
                      </a:r>
                    </a:p>
                    <a:p>
                      <a:endParaRPr lang="fr-FR" sz="1100"/>
                    </a:p>
                    <a:p>
                      <a:r>
                        <a:rPr lang="fr-FR" sz="1100"/>
                        <a:t>On présente un exemple d’usage l’IVCD </a:t>
                      </a:r>
                      <a:r>
                        <a:rPr lang="fr-FR" sz="1100" err="1"/>
                        <a:t>Map</a:t>
                      </a:r>
                      <a:endParaRPr lang="fr-FR" sz="1100"/>
                    </a:p>
                  </a:txBody>
                  <a:tcPr/>
                </a:tc>
                <a:tc>
                  <a:txBody>
                    <a:bodyPr/>
                    <a:lstStyle/>
                    <a:p>
                      <a:r>
                        <a:rPr lang="fr-FR" sz="1100" b="1"/>
                        <a:t>5 min Préparation</a:t>
                      </a:r>
                      <a:r>
                        <a:rPr lang="fr-FR" sz="1100"/>
                        <a:t> </a:t>
                      </a:r>
                    </a:p>
                    <a:p>
                      <a:r>
                        <a:rPr lang="fr-FR" sz="1100"/>
                        <a:t>Chaque participant note de son côté les sujets qu’ils considère importants pour discussion </a:t>
                      </a:r>
                    </a:p>
                    <a:p>
                      <a:endParaRPr lang="fr-FR" sz="1100"/>
                    </a:p>
                    <a:p>
                      <a:r>
                        <a:rPr lang="fr-FR" sz="1100"/>
                        <a:t>Les sujets notés sont ceux pour lesquels on considère qu’il vaut mieux pouvoir agir vite ou bien qu’il vaut mieux se concerter. Ce sont typiquement </a:t>
                      </a:r>
                      <a:r>
                        <a:rPr lang="fr-FR" sz="1100" b="1"/>
                        <a:t>les sujets sur lesquels on aimerait faire moins de réunion</a:t>
                      </a:r>
                      <a:r>
                        <a:rPr lang="fr-FR" sz="1100"/>
                        <a:t>, avoir plus de liberté, </a:t>
                      </a:r>
                      <a:r>
                        <a:rPr lang="fr-FR" sz="1100" b="1"/>
                        <a:t>ou au contraire « être mis dans la boucle »</a:t>
                      </a:r>
                      <a:r>
                        <a:rPr lang="fr-FR" sz="1100"/>
                        <a:t>, ou « être consulté ».</a:t>
                      </a:r>
                    </a:p>
                    <a:p>
                      <a:endParaRPr lang="fr-FR" sz="1100"/>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1 à 3 sujets max par personne ou bien 10 sujets max pour tous un atelier d’1h.</a:t>
                      </a:r>
                    </a:p>
                    <a:p>
                      <a:endParaRPr lang="fr-FR" sz="1100"/>
                    </a:p>
                    <a:p>
                      <a:r>
                        <a:rPr lang="fr-FR" sz="1100"/>
                        <a:t>La formulation des sujets doit être suffisamment bonne pour pouvoir faire l’objet de discussion </a:t>
                      </a:r>
                    </a:p>
                    <a:p>
                      <a:pPr marL="171450" indent="-171450">
                        <a:buFont typeface="Arial" panose="020B0604020202020204" pitchFamily="34" charset="0"/>
                        <a:buChar char="•"/>
                      </a:pPr>
                      <a:r>
                        <a:rPr lang="fr-FR" sz="1100"/>
                        <a:t>Formulation idéale d’un sujet : Verbe d’action – Complément :  « Mettre à jour les fiches d’instructions ». Cette formulation facilite la décision</a:t>
                      </a:r>
                    </a:p>
                    <a:p>
                      <a:pPr marL="171450" indent="-171450">
                        <a:buFont typeface="Arial" panose="020B0604020202020204" pitchFamily="34" charset="0"/>
                        <a:buChar char="•"/>
                      </a:pPr>
                      <a:r>
                        <a:rPr lang="fr-FR" sz="1100"/>
                        <a:t>Mauvaise formulation d’un sujet : Un seul mot ou thème  « SEO », cette formulation rend difficile la décision</a:t>
                      </a:r>
                    </a:p>
                    <a:p>
                      <a:pPr marL="0" indent="0">
                        <a:buFont typeface="Arial" panose="020B0604020202020204" pitchFamily="34" charset="0"/>
                        <a:buNone/>
                      </a:pPr>
                      <a:endParaRPr lang="fr-FR" sz="1100"/>
                    </a:p>
                    <a:p>
                      <a:r>
                        <a:rPr lang="fr-FR" sz="1100" b="1"/>
                        <a:t>30 minutes Exposition des sujets et discussion</a:t>
                      </a:r>
                    </a:p>
                    <a:p>
                      <a:r>
                        <a:rPr lang="fr-FR" sz="1100"/>
                        <a:t>Chacun son tour, un participant propose UN sujet (un des tickets qu’il ou elle a écrit). </a:t>
                      </a:r>
                    </a:p>
                    <a:p>
                      <a:r>
                        <a:rPr lang="fr-FR" sz="1100"/>
                        <a:t>Ensemble, les participants décident alors si c’est un sujet sur lequel on peut décider seul, sur lequel il est meilleur de solliciter un consensus (au moins 2 personnes), ou bien si ce sera du cas par cas.</a:t>
                      </a:r>
                    </a:p>
                    <a:p>
                      <a:r>
                        <a:rPr lang="fr-FR" sz="1100"/>
                        <a:t>Il peut y avoir beaucoup de discussion ou très peu sur chaque sujet, l’important est qu’on se pose sur ce qu’on préfère en tant que collectif : privilégier l’autonomie, l’alignement collectif, ou au cas par cas. A noter que beaucoup de « cas par cas » peut être lourd sur le long terme.</a:t>
                      </a:r>
                    </a:p>
                    <a:p>
                      <a:endParaRPr lang="fr-FR" sz="1100"/>
                    </a:p>
                    <a:p>
                      <a:r>
                        <a:rPr lang="fr-FR" sz="1100"/>
                        <a:t>On fait autant de tickets que possible en 30 minutes.</a:t>
                      </a:r>
                    </a:p>
                  </a:txBody>
                  <a:tcPr/>
                </a:tc>
                <a:tc>
                  <a:txBody>
                    <a:bodyPr/>
                    <a:lstStyle/>
                    <a:p>
                      <a:r>
                        <a:rPr lang="fr-FR" sz="1100" b="1"/>
                        <a:t>15 min</a:t>
                      </a:r>
                    </a:p>
                    <a:p>
                      <a:r>
                        <a:rPr lang="fr-FR" sz="1100"/>
                        <a:t>Discussion sur :</a:t>
                      </a:r>
                    </a:p>
                    <a:p>
                      <a:pPr marL="285750" indent="-285750">
                        <a:buFont typeface="Arial" panose="020B0604020202020204" pitchFamily="34" charset="0"/>
                        <a:buChar char="•"/>
                      </a:pPr>
                      <a:r>
                        <a:rPr lang="fr-FR" sz="1100"/>
                        <a:t>Où enregistrer les résultats (livret d’</a:t>
                      </a:r>
                      <a:r>
                        <a:rPr lang="fr-FR" sz="1100" err="1"/>
                        <a:t>onboarding</a:t>
                      </a:r>
                      <a:r>
                        <a:rPr lang="fr-FR" sz="1100"/>
                        <a:t>, wiki de l’équipe etc.)</a:t>
                      </a:r>
                    </a:p>
                    <a:p>
                      <a:pPr marL="285750" indent="-285750">
                        <a:buFont typeface="Arial" panose="020B0604020202020204" pitchFamily="34" charset="0"/>
                        <a:buChar char="•"/>
                      </a:pPr>
                      <a:r>
                        <a:rPr lang="fr-FR" sz="1100"/>
                        <a:t>Quand rediscuter de ces décisions</a:t>
                      </a:r>
                    </a:p>
                    <a:p>
                      <a:pPr marL="285750" indent="-285750">
                        <a:buFont typeface="Arial" panose="020B0604020202020204" pitchFamily="34" charset="0"/>
                        <a:buChar char="•"/>
                      </a:pPr>
                      <a:r>
                        <a:rPr lang="fr-FR" sz="1100"/>
                        <a:t>Avec qui partager les résultats</a:t>
                      </a:r>
                    </a:p>
                    <a:p>
                      <a:pPr marL="285750" indent="-285750">
                        <a:buFont typeface="Arial" panose="020B0604020202020204" pitchFamily="34" charset="0"/>
                        <a:buChar char="•"/>
                      </a:pPr>
                      <a:r>
                        <a:rPr lang="fr-FR" sz="1100"/>
                        <a:t>Les autres sujets desquels on souhaite discuter une prochaine fois</a:t>
                      </a:r>
                    </a:p>
                    <a:p>
                      <a:pPr marL="285750" indent="-285750">
                        <a:buFont typeface="Arial" panose="020B0604020202020204" pitchFamily="34" charset="0"/>
                        <a:buChar char="•"/>
                      </a:pPr>
                      <a:endParaRPr lang="fr-FR" sz="110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Font typeface="Arial" panose="020B0604020202020204" pitchFamily="34" charset="0"/>
              <a:buNone/>
            </a:pPr>
            <a:r>
              <a:rPr lang="fr-FR" sz="2000" b="1">
                <a:solidFill>
                  <a:srgbClr val="000000"/>
                </a:solidFill>
                <a:cs typeface="Calibri"/>
              </a:rPr>
              <a:t>1h </a:t>
            </a:r>
          </a:p>
        </p:txBody>
      </p:sp>
    </p:spTree>
    <p:extLst>
      <p:ext uri="{BB962C8B-B14F-4D97-AF65-F5344CB8AC3E}">
        <p14:creationId xmlns:p14="http://schemas.microsoft.com/office/powerpoint/2010/main" val="1235997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581900" cy="1325563"/>
          </a:xfrm>
        </p:spPr>
        <p:txBody>
          <a:bodyPr/>
          <a:lstStyle/>
          <a:p>
            <a:r>
              <a:rPr lang="fr-FR"/>
              <a:t>Niveau 3 : Organisation d’IVCD </a:t>
            </a:r>
            <a:r>
              <a:rPr lang="fr-FR" err="1"/>
              <a:t>Map</a:t>
            </a:r>
            <a:endParaRPr lang="fr-F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vérifier que cela correspond bien à mon besoin et mes capacités. </a:t>
            </a:r>
          </a:p>
          <a:p>
            <a:pPr algn="ctr"/>
            <a:endParaRPr lang="fr-FR" sz="1200">
              <a:solidFill>
                <a:schemeClr val="tx1"/>
              </a:solidFill>
            </a:endParaRPr>
          </a:p>
          <a:p>
            <a:pPr algn="ctr"/>
            <a:r>
              <a:rPr lang="fr-FR" sz="120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Avoir compris les avantages et inconvénients de pouvoir agir vite seul ou de solliciter un consensus</a:t>
            </a:r>
          </a:p>
          <a:p>
            <a:pPr marL="0" indent="0">
              <a:buFont typeface="Arial" panose="020B0604020202020204" pitchFamily="34" charset="0"/>
              <a:buNone/>
            </a:pPr>
            <a:r>
              <a:rPr lang="fr-FR" sz="1200"/>
              <a:t>Avoir identifié des situations clés où le niveau d’autonomie ou de consensus actuel est problématique (et améliorable) </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Avoir clarifié les libertés individuelles des membres, Avoir clarifié les sujets qui nécessitent un consensus</a:t>
            </a:r>
          </a:p>
          <a:p>
            <a:pPr marL="0" indent="0">
              <a:buFont typeface="Arial" panose="020B0604020202020204" pitchFamily="34" charset="0"/>
              <a:buNone/>
            </a:pPr>
            <a:r>
              <a:rPr lang="fr-FR" sz="1200"/>
              <a:t>Avoir produit un document commun qui résume ces informations </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L’IVCD </a:t>
            </a:r>
            <a:r>
              <a:rPr lang="fr-FR" sz="1200" err="1"/>
              <a:t>Map</a:t>
            </a:r>
            <a:r>
              <a:rPr lang="fr-FR" sz="1200"/>
              <a:t> peut se jouer dans des collectifs (équipes, services, collectifs transverses) avec des personnes qui doivent travailler ensemble, plus ou moins en autonomie ou en concertation.  </a:t>
            </a:r>
          </a:p>
          <a:p>
            <a:pPr marL="0" indent="0">
              <a:buNone/>
            </a:pPr>
            <a:r>
              <a:rPr lang="fr-FR" sz="1200" b="1"/>
              <a:t>Idéalement, les participants ont une idée de ce qu’est l’amélioration continue, et sont prêts à partager entre eux dans cette intention.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Equipe qui grandit et qui a besoin de plus d’autonomie pour éviter trop de ralentissements</a:t>
            </a:r>
          </a:p>
          <a:p>
            <a:pPr marL="0" indent="0">
              <a:buNone/>
            </a:pPr>
            <a:r>
              <a:rPr lang="fr-FR" sz="1200"/>
              <a:t>Communauté d’entreprise qui souhaite développer l’autonomie chez ses membres</a:t>
            </a:r>
          </a:p>
          <a:p>
            <a:pPr marL="0" indent="0">
              <a:buNone/>
            </a:pPr>
            <a:r>
              <a:rPr lang="fr-FR" sz="1200"/>
              <a:t>Collectif de spécialistes qui doivent coopérer et qui connaissent mal les périmètres et expertises les uns des autres</a:t>
            </a:r>
          </a:p>
          <a:p>
            <a:pPr marL="0" indent="0">
              <a:buNone/>
            </a:pPr>
            <a:r>
              <a:rPr lang="fr-FR" sz="1200"/>
              <a:t>Service qui vient de renouveler son équipe dirigeante (même partiellement) et qui a besoin de refaire le point</a:t>
            </a:r>
          </a:p>
          <a:p>
            <a:pPr marL="0" indent="0">
              <a:buNone/>
            </a:pPr>
            <a:r>
              <a:rPr lang="fr-FR" sz="1200"/>
              <a:t>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Rôles et responsabilités détaillées</a:t>
            </a:r>
          </a:p>
          <a:p>
            <a:pPr marL="0" indent="0">
              <a:buFont typeface="Arial" panose="020B0604020202020204" pitchFamily="34" charset="0"/>
              <a:buNone/>
            </a:pPr>
            <a:r>
              <a:rPr lang="fr-FR" sz="1200"/>
              <a:t>Processus de décision pour tout ce qui nécessite consensus</a:t>
            </a:r>
          </a:p>
          <a:p>
            <a:pPr marL="0" indent="0">
              <a:buFont typeface="Arial" panose="020B0604020202020204" pitchFamily="34" charset="0"/>
              <a:buNone/>
            </a:pPr>
            <a:endParaRPr lang="fr-FR" sz="1200"/>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1H (avec extension possible à 1H30 si on souhaite, plus long non recommandé), </a:t>
            </a:r>
          </a:p>
          <a:p>
            <a:pPr marL="0" indent="0">
              <a:buFont typeface="Arial" panose="020B0604020202020204" pitchFamily="34" charset="0"/>
              <a:buNone/>
            </a:pPr>
            <a:r>
              <a:rPr lang="fr-FR" sz="1200"/>
              <a:t>Besoin d’un mur virtuel utilisé par les participants, ou bien d’un mur physique avec matériel d’écriture et tickets mobiles (post-it)</a:t>
            </a:r>
          </a:p>
          <a:p>
            <a:pPr marL="0" indent="0">
              <a:buFont typeface="Arial" panose="020B0604020202020204" pitchFamily="34" charset="0"/>
              <a:buNone/>
            </a:pPr>
            <a:endParaRPr lang="fr-FR" sz="120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err="1"/>
              <a:t>Delegation</a:t>
            </a:r>
            <a:r>
              <a:rPr lang="fr-FR" sz="1200"/>
              <a:t> Poker</a:t>
            </a:r>
          </a:p>
          <a:p>
            <a:pPr marL="0" indent="0">
              <a:buNone/>
            </a:pPr>
            <a:r>
              <a:rPr lang="fr-FR" sz="1200"/>
              <a:t>RACI</a:t>
            </a:r>
          </a:p>
          <a:p>
            <a:pPr marL="0" indent="0">
              <a:buNone/>
            </a:pPr>
            <a:r>
              <a:rPr lang="fr-FR" sz="1200"/>
              <a:t>Echelle des décisions collectives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court (à copier-coller dans les descriptifs)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Je n’ai pas été mis dans la boucle », « On a 1000 fois trop de réunions »… Dans un collectif, on aime parfois être concerté, mais on n’aime parfois pas la concertation et ses conséquences.</a:t>
            </a:r>
          </a:p>
          <a:p>
            <a:pPr marL="0" indent="0">
              <a:buNone/>
            </a:pPr>
            <a:r>
              <a:rPr lang="fr-FR" sz="1200" dirty="0"/>
              <a:t>Comment concilier ces 2 situations courantes, en donnant à tous des repères clairs, utilisables, assez flexibles et simples ? </a:t>
            </a:r>
          </a:p>
          <a:p>
            <a:pPr marL="0" indent="0">
              <a:buNone/>
            </a:pPr>
            <a:r>
              <a:rPr lang="fr-FR" sz="1200" dirty="0"/>
              <a:t>L’IVCD </a:t>
            </a:r>
            <a:r>
              <a:rPr lang="fr-FR" sz="1200" dirty="0" err="1"/>
              <a:t>Map</a:t>
            </a:r>
            <a:r>
              <a:rPr lang="fr-FR" sz="1200" dirty="0"/>
              <a:t> est un atelier simple, rapide, qui permet d’échanger sur ces sujets en équipe, afin d’améliorer l’autonomie et la co-construction à la fois.</a:t>
            </a:r>
          </a:p>
        </p:txBody>
      </p:sp>
    </p:spTree>
    <p:extLst>
      <p:ext uri="{BB962C8B-B14F-4D97-AF65-F5344CB8AC3E}">
        <p14:creationId xmlns:p14="http://schemas.microsoft.com/office/powerpoint/2010/main" val="471399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a:t>Niveau 5 : Animation de IVCD </a:t>
            </a:r>
            <a:r>
              <a:rPr lang="fr-FR" err="1"/>
              <a:t>map</a:t>
            </a:r>
            <a:endParaRPr lang="fr-F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389436" cy="1456415"/>
          </a:xfrm>
          <a:prstGeom prst="wedgeEllipseCallout">
            <a:avLst>
              <a:gd name="adj1" fmla="val 53183"/>
              <a:gd name="adj2" fmla="val 3785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fr-FR" sz="1400"/>
              <a:t>Il est important de rester neutre dans la présentation d’agir vite seul vs se mettre d’accord au préalable. Cette neutralité est importante pour saisir l’existence d’avantages et inconvénients dans chaque modalité.</a:t>
            </a:r>
          </a:p>
          <a:p>
            <a:r>
              <a:rPr lang="fr-FR" sz="1400"/>
              <a:t>L’IVCD </a:t>
            </a:r>
            <a:r>
              <a:rPr lang="fr-FR" sz="1400" err="1"/>
              <a:t>Map</a:t>
            </a:r>
            <a:r>
              <a:rPr lang="fr-FR" sz="1400"/>
              <a:t> est un outil pour l’amélioration continue et non pas pour faire bureau des plaintes, il est important de continuer à maintenir cette </a:t>
            </a:r>
            <a:r>
              <a:rPr lang="fr-FR" sz="1400" b="1"/>
              <a:t>posture orientée amélioration plutôt que reproche</a:t>
            </a:r>
            <a:r>
              <a:rPr lang="fr-FR" sz="1400"/>
              <a: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fr-FR" sz="1400"/>
              <a:t>Il peut être utile de présenter des cas réels où :</a:t>
            </a:r>
          </a:p>
          <a:p>
            <a:pPr marL="285750" indent="-285750">
              <a:buFontTx/>
              <a:buChar char="-"/>
            </a:pPr>
            <a:r>
              <a:rPr lang="fr-FR" sz="1400"/>
              <a:t>Le collectif est content de pouvoir agir en autonomie sur certains sujets</a:t>
            </a:r>
          </a:p>
          <a:p>
            <a:pPr marL="285750" indent="-285750">
              <a:buFontTx/>
              <a:buChar char="-"/>
            </a:pPr>
            <a:r>
              <a:rPr lang="fr-FR" sz="1400"/>
              <a:t>Le collectif est content d’être en consensus préalable sur certains sujets</a:t>
            </a:r>
          </a:p>
          <a:p>
            <a:r>
              <a:rPr lang="fr-FR" sz="1400"/>
              <a:t>Cet ajout nécessite une connaissance du contexte du collectif (par exemple de ses réunions de décisions) et de ses pratiques. Vous pouvez même créer une IVCD </a:t>
            </a:r>
            <a:r>
              <a:rPr lang="fr-FR" sz="1400" err="1"/>
              <a:t>map</a:t>
            </a:r>
            <a:r>
              <a:rPr lang="fr-FR" sz="1400"/>
              <a:t> à l’aide de ces informations. </a:t>
            </a:r>
          </a:p>
          <a:p>
            <a:r>
              <a:rPr lang="fr-FR" sz="1400"/>
              <a:t>Vous pouvez adapter les exemples au contexte (cet atelier a été créé générique pour être utilisé dans de nombreux contextes) pour être plus parlant. </a:t>
            </a:r>
          </a:p>
          <a:p>
            <a:r>
              <a:rPr lang="fr-FR" sz="1400"/>
              <a:t>Il peut être intéressant de préparer ces exemples à l’avance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fr-FR" sz="1000" b="1"/>
              <a:t>Debriefing opérationnel</a:t>
            </a:r>
          </a:p>
          <a:p>
            <a:pPr marL="285750" indent="-285750">
              <a:buFont typeface="Arial" panose="020B0604020202020204" pitchFamily="34" charset="0"/>
              <a:buChar char="•"/>
            </a:pPr>
            <a:r>
              <a:rPr lang="fr-FR" sz="1000"/>
              <a:t>Où allons nous enregistrer les résultats de l’atelier d’aujourd’hui ? Avec qui partager cette information ?</a:t>
            </a:r>
          </a:p>
          <a:p>
            <a:pPr marL="285750" indent="-285750">
              <a:buFont typeface="Arial" panose="020B0604020202020204" pitchFamily="34" charset="0"/>
              <a:buChar char="•"/>
            </a:pPr>
            <a:r>
              <a:rPr lang="fr-FR" sz="1000"/>
              <a:t>Quand rediscuter de ces décisions ? Que reste-t-il à discuter </a:t>
            </a:r>
          </a:p>
          <a:p>
            <a:pPr marL="285750" indent="-285750">
              <a:buFont typeface="Arial" panose="020B0604020202020204" pitchFamily="34" charset="0"/>
              <a:buChar char="•"/>
            </a:pPr>
            <a:r>
              <a:rPr lang="fr-FR" sz="1000"/>
              <a:t>Avec qui serait-il intéressant de refaire cet atelier ?</a:t>
            </a:r>
          </a:p>
          <a:p>
            <a:endParaRPr lang="fr-FR" sz="1000"/>
          </a:p>
          <a:p>
            <a:r>
              <a:rPr lang="fr-FR" sz="1000" b="1"/>
              <a:t>Debriefing Pédagogique</a:t>
            </a:r>
          </a:p>
          <a:p>
            <a:pPr marL="171450" indent="-171450">
              <a:buFont typeface="Arial" panose="020B0604020202020204" pitchFamily="34" charset="0"/>
              <a:buChar char="•"/>
            </a:pPr>
            <a:r>
              <a:rPr lang="fr-FR" sz="1000"/>
              <a:t>Qu’avez-vous appris avec l’IVCD </a:t>
            </a:r>
            <a:r>
              <a:rPr lang="fr-FR" sz="1000" err="1"/>
              <a:t>map</a:t>
            </a:r>
            <a:r>
              <a:rPr lang="fr-FR" sz="1000"/>
              <a:t> ?</a:t>
            </a:r>
          </a:p>
          <a:p>
            <a:pPr marL="171450" indent="-171450">
              <a:buFont typeface="Arial" panose="020B0604020202020204" pitchFamily="34" charset="0"/>
              <a:buChar char="•"/>
            </a:pPr>
            <a:r>
              <a:rPr lang="fr-FR" sz="1000"/>
              <a:t>Dans quelles situations pourriez vous trouver cet outil utile ? Qu’allez vous appliquer</a:t>
            </a:r>
          </a:p>
          <a:p>
            <a:pPr marL="171450" indent="-171450">
              <a:buFont typeface="Arial" panose="020B0604020202020204" pitchFamily="34" charset="0"/>
              <a:buChar char="•"/>
            </a:pPr>
            <a:r>
              <a:rPr lang="fr-FR" sz="1000"/>
              <a:t>Quelles sont les limites ?</a:t>
            </a:r>
          </a:p>
          <a:p>
            <a:pPr marL="171450" indent="-171450">
              <a:buFont typeface="Arial" panose="020B0604020202020204" pitchFamily="34" charset="0"/>
              <a:buChar char="•"/>
            </a:pPr>
            <a:r>
              <a:rPr lang="fr-FR" sz="1000"/>
              <a:t>Avec quoi compléteriez vous cet outil?</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a:t>🙋Debriefing</a:t>
            </a:r>
          </a:p>
        </p:txBody>
      </p:sp>
    </p:spTree>
    <p:extLst>
      <p:ext uri="{BB962C8B-B14F-4D97-AF65-F5344CB8AC3E}">
        <p14:creationId xmlns:p14="http://schemas.microsoft.com/office/powerpoint/2010/main" val="427037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a:t>Niveau 6 : Adaptation de IVCD </a:t>
            </a:r>
            <a:r>
              <a:rPr lang="fr-FR" err="1"/>
              <a:t>Map</a:t>
            </a:r>
            <a:endParaRPr lang="fr-F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14568110"/>
              </p:ext>
            </p:extLst>
          </p:nvPr>
        </p:nvGraphicFramePr>
        <p:xfrm>
          <a:off x="6961023" y="1821540"/>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a:p>
                  </a:txBody>
                  <a:tcPr/>
                </a:tc>
                <a:tc>
                  <a:txBody>
                    <a:bodyPr/>
                    <a:lstStyle/>
                    <a:p>
                      <a:endParaRPr lang="fr-FR" sz="110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568002192"/>
              </p:ext>
            </p:extLst>
          </p:nvPr>
        </p:nvGraphicFramePr>
        <p:xfrm>
          <a:off x="362762" y="1821540"/>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Thomas FROMENT</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CF6A5A4-C9A1-FE18-40F1-8BED15E2BCDD}"/>
              </a:ext>
            </a:extLst>
          </p:cNvPr>
          <p:cNvSpPr>
            <a:spLocks noGrp="1"/>
          </p:cNvSpPr>
          <p:nvPr>
            <p:ph type="title"/>
          </p:nvPr>
        </p:nvSpPr>
        <p:spPr/>
        <p:txBody>
          <a:bodyPr/>
          <a:lstStyle/>
          <a:p>
            <a:r>
              <a:rPr lang="fr-FR"/>
              <a:t>Usage en </a:t>
            </a:r>
            <a:r>
              <a:rPr lang="fr-FR" err="1"/>
              <a:t>onboarding</a:t>
            </a:r>
            <a:endParaRPr lang="fr-FR"/>
          </a:p>
        </p:txBody>
      </p:sp>
      <p:sp>
        <p:nvSpPr>
          <p:cNvPr id="10" name="Espace réservé du contenu 9">
            <a:extLst>
              <a:ext uri="{FF2B5EF4-FFF2-40B4-BE49-F238E27FC236}">
                <a16:creationId xmlns:a16="http://schemas.microsoft.com/office/drawing/2014/main" id="{D2AF21F8-04D3-805D-F34E-F6B2B3E945C8}"/>
              </a:ext>
            </a:extLst>
          </p:cNvPr>
          <p:cNvSpPr>
            <a:spLocks noGrp="1"/>
          </p:cNvSpPr>
          <p:nvPr>
            <p:ph idx="1"/>
          </p:nvPr>
        </p:nvSpPr>
        <p:spPr>
          <a:xfrm>
            <a:off x="838200" y="1834220"/>
            <a:ext cx="10515600" cy="1219579"/>
          </a:xfrm>
        </p:spPr>
        <p:txBody>
          <a:bodyPr>
            <a:normAutofit/>
          </a:bodyPr>
          <a:lstStyle/>
          <a:p>
            <a:r>
              <a:rPr lang="fr-FR" sz="1800"/>
              <a:t>L’IVCD </a:t>
            </a:r>
            <a:r>
              <a:rPr lang="fr-FR" sz="1800" err="1"/>
              <a:t>Map</a:t>
            </a:r>
            <a:r>
              <a:rPr lang="fr-FR" sz="1800"/>
              <a:t> peut être présentée à l’</a:t>
            </a:r>
            <a:r>
              <a:rPr lang="fr-FR" sz="1800" err="1"/>
              <a:t>onboarding</a:t>
            </a:r>
            <a:r>
              <a:rPr lang="fr-FR" sz="1800"/>
              <a:t> (intégration) d’un nouveau membre d’un collectif (équipe, communauté, etc.) afin que ce nouveau membre comprenne mieux ses besoins d’interaction.</a:t>
            </a:r>
          </a:p>
          <a:p>
            <a:r>
              <a:rPr lang="fr-FR" sz="1800"/>
              <a:t>Voici un format de présentation</a:t>
            </a:r>
          </a:p>
        </p:txBody>
      </p:sp>
      <p:graphicFrame>
        <p:nvGraphicFramePr>
          <p:cNvPr id="11" name="Tableau 25">
            <a:extLst>
              <a:ext uri="{FF2B5EF4-FFF2-40B4-BE49-F238E27FC236}">
                <a16:creationId xmlns:a16="http://schemas.microsoft.com/office/drawing/2014/main" id="{7555C7BF-4CB5-78A8-99E8-2787816F13C8}"/>
              </a:ext>
            </a:extLst>
          </p:cNvPr>
          <p:cNvGraphicFramePr>
            <a:graphicFrameLocks noGrp="1"/>
          </p:cNvGraphicFramePr>
          <p:nvPr>
            <p:extLst>
              <p:ext uri="{D42A27DB-BD31-4B8C-83A1-F6EECF244321}">
                <p14:modId xmlns:p14="http://schemas.microsoft.com/office/powerpoint/2010/main" val="2845457358"/>
              </p:ext>
            </p:extLst>
          </p:nvPr>
        </p:nvGraphicFramePr>
        <p:xfrm>
          <a:off x="4972004" y="3339595"/>
          <a:ext cx="6910665" cy="3153280"/>
        </p:xfrm>
        <a:graphic>
          <a:graphicData uri="http://schemas.openxmlformats.org/drawingml/2006/table">
            <a:tbl>
              <a:tblPr firstRow="1" bandRow="1">
                <a:tableStyleId>{5C22544A-7EE6-4342-B048-85BDC9FD1C3A}</a:tableStyleId>
              </a:tblPr>
              <a:tblGrid>
                <a:gridCol w="2303555">
                  <a:extLst>
                    <a:ext uri="{9D8B030D-6E8A-4147-A177-3AD203B41FA5}">
                      <a16:colId xmlns:a16="http://schemas.microsoft.com/office/drawing/2014/main" val="202539309"/>
                    </a:ext>
                  </a:extLst>
                </a:gridCol>
                <a:gridCol w="2303555">
                  <a:extLst>
                    <a:ext uri="{9D8B030D-6E8A-4147-A177-3AD203B41FA5}">
                      <a16:colId xmlns:a16="http://schemas.microsoft.com/office/drawing/2014/main" val="3873720868"/>
                    </a:ext>
                  </a:extLst>
                </a:gridCol>
                <a:gridCol w="2303555">
                  <a:extLst>
                    <a:ext uri="{9D8B030D-6E8A-4147-A177-3AD203B41FA5}">
                      <a16:colId xmlns:a16="http://schemas.microsoft.com/office/drawing/2014/main" val="184706590"/>
                    </a:ext>
                  </a:extLst>
                </a:gridCol>
              </a:tblGrid>
              <a:tr h="373979">
                <a:tc>
                  <a:txBody>
                    <a:bodyPr/>
                    <a:lstStyle/>
                    <a:p>
                      <a:r>
                        <a:rPr lang="fr-FR" sz="1400"/>
                        <a:t>Ce que tu peux te sentir à l’aise de faire en toute autonomie</a:t>
                      </a:r>
                    </a:p>
                  </a:txBody>
                  <a:tcPr marL="189800" marR="189800" marT="94900" marB="94900">
                    <a:solidFill>
                      <a:schemeClr val="accent2"/>
                    </a:solidFill>
                  </a:tcPr>
                </a:tc>
                <a:tc>
                  <a:txBody>
                    <a:bodyPr/>
                    <a:lstStyle/>
                    <a:p>
                      <a:r>
                        <a:rPr lang="fr-FR" sz="1400"/>
                        <a:t>Au cas par cas </a:t>
                      </a:r>
                    </a:p>
                  </a:txBody>
                  <a:tcPr marL="189800" marR="189800" marT="94900" marB="94900">
                    <a:solidFill>
                      <a:schemeClr val="bg1">
                        <a:lumMod val="50000"/>
                      </a:schemeClr>
                    </a:solidFill>
                  </a:tcPr>
                </a:tc>
                <a:tc>
                  <a:txBody>
                    <a:bodyPr/>
                    <a:lstStyle/>
                    <a:p>
                      <a:r>
                        <a:rPr lang="fr-FR" sz="1400"/>
                        <a:t>Ce qui nécessitera une décision collective (demande à quelqu’un d’autre de l’équipe pour avoir des détails !)</a:t>
                      </a:r>
                    </a:p>
                  </a:txBody>
                  <a:tcPr marL="189800" marR="189800" marT="94900" marB="94900"/>
                </a:tc>
                <a:extLst>
                  <a:ext uri="{0D108BD9-81ED-4DB2-BD59-A6C34878D82A}">
                    <a16:rowId xmlns:a16="http://schemas.microsoft.com/office/drawing/2014/main" val="311288095"/>
                  </a:ext>
                </a:extLst>
              </a:tr>
              <a:tr h="1188447">
                <a:tc>
                  <a:txBody>
                    <a:bodyPr/>
                    <a:lstStyle/>
                    <a:p>
                      <a:pPr marL="171450" indent="-171450">
                        <a:buFont typeface="Arial" panose="020B0604020202020204" pitchFamily="34" charset="0"/>
                        <a:buChar char="•"/>
                      </a:pPr>
                      <a:r>
                        <a:rPr lang="fr-FR" sz="1400"/>
                        <a:t>Configurer ton poste de travail</a:t>
                      </a:r>
                    </a:p>
                    <a:p>
                      <a:pPr marL="171450" indent="-171450">
                        <a:buFont typeface="Arial" panose="020B0604020202020204" pitchFamily="34" charset="0"/>
                        <a:buChar char="•"/>
                      </a:pPr>
                      <a:r>
                        <a:rPr lang="fr-FR" sz="1400"/>
                        <a:t>Décider de tes horaires</a:t>
                      </a:r>
                    </a:p>
                    <a:p>
                      <a:pPr marL="171450" indent="-171450">
                        <a:buFont typeface="Arial" panose="020B0604020202020204" pitchFamily="34" charset="0"/>
                        <a:buChar char="•"/>
                      </a:pPr>
                      <a:r>
                        <a:rPr lang="fr-FR" sz="1400"/>
                        <a:t>Choisir les outils de rédaction que tu préfères</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accent2">
                        <a:lumMod val="20000"/>
                        <a:lumOff val="80000"/>
                      </a:schemeClr>
                    </a:solidFill>
                  </a:tcPr>
                </a:tc>
                <a:tc>
                  <a:txBody>
                    <a:bodyPr/>
                    <a:lstStyle/>
                    <a:p>
                      <a:pPr marL="171450" indent="-171450">
                        <a:buFont typeface="Arial" panose="020B0604020202020204" pitchFamily="34" charset="0"/>
                        <a:buChar char="•"/>
                      </a:pPr>
                      <a:r>
                        <a:rPr lang="fr-FR" sz="1400"/>
                        <a:t>Communiquer à l’extérieur de l’équipe</a:t>
                      </a:r>
                    </a:p>
                    <a:p>
                      <a:pPr marL="171450" indent="-171450">
                        <a:buFont typeface="Arial" panose="020B0604020202020204" pitchFamily="34" charset="0"/>
                        <a:buChar char="•"/>
                      </a:pPr>
                      <a:r>
                        <a:rPr lang="fr-FR" sz="1400"/>
                        <a:t>Lancer des projets dans l’équipe</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bg1">
                        <a:lumMod val="85000"/>
                      </a:schemeClr>
                    </a:solidFill>
                  </a:tcPr>
                </a:tc>
                <a:tc>
                  <a:txBody>
                    <a:bodyPr/>
                    <a:lstStyle/>
                    <a:p>
                      <a:pPr marL="171450" indent="-171450">
                        <a:buFont typeface="Arial" panose="020B0604020202020204" pitchFamily="34" charset="0"/>
                        <a:buChar char="•"/>
                      </a:pPr>
                      <a:r>
                        <a:rPr lang="fr-FR" sz="1400"/>
                        <a:t>Envoyer des communications à la hiérarchie</a:t>
                      </a:r>
                    </a:p>
                    <a:p>
                      <a:pPr marL="171450" indent="-171450">
                        <a:buFont typeface="Arial" panose="020B0604020202020204" pitchFamily="34" charset="0"/>
                        <a:buChar char="•"/>
                      </a:pPr>
                      <a:r>
                        <a:rPr lang="fr-FR" sz="1400"/>
                        <a:t>Effectuer des achats au nom de l’équipe</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tc>
                <a:extLst>
                  <a:ext uri="{0D108BD9-81ED-4DB2-BD59-A6C34878D82A}">
                    <a16:rowId xmlns:a16="http://schemas.microsoft.com/office/drawing/2014/main" val="2549662727"/>
                  </a:ext>
                </a:extLst>
              </a:tr>
            </a:tbl>
          </a:graphicData>
        </a:graphic>
      </p:graphicFrame>
      <p:grpSp>
        <p:nvGrpSpPr>
          <p:cNvPr id="18" name="Groupe 17">
            <a:extLst>
              <a:ext uri="{FF2B5EF4-FFF2-40B4-BE49-F238E27FC236}">
                <a16:creationId xmlns:a16="http://schemas.microsoft.com/office/drawing/2014/main" id="{3B106A13-84A9-A3E4-5D8E-9BEBBF14CF55}"/>
              </a:ext>
            </a:extLst>
          </p:cNvPr>
          <p:cNvGrpSpPr/>
          <p:nvPr/>
        </p:nvGrpSpPr>
        <p:grpSpPr>
          <a:xfrm>
            <a:off x="5775777" y="2701319"/>
            <a:ext cx="5303118" cy="537589"/>
            <a:chOff x="4712262" y="3103192"/>
            <a:chExt cx="2320112" cy="235195"/>
          </a:xfrm>
        </p:grpSpPr>
        <p:pic>
          <p:nvPicPr>
            <p:cNvPr id="12" name="Graphique 11" descr="Homme portant un sweat à capuche">
              <a:extLst>
                <a:ext uri="{FF2B5EF4-FFF2-40B4-BE49-F238E27FC236}">
                  <a16:creationId xmlns:a16="http://schemas.microsoft.com/office/drawing/2014/main" id="{F6E2D81F-C1B5-BEB2-3831-06C646D75FA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88893" y="3160513"/>
              <a:ext cx="125577" cy="172697"/>
            </a:xfrm>
            <a:prstGeom prst="rect">
              <a:avLst/>
            </a:prstGeom>
          </p:spPr>
        </p:pic>
        <p:pic>
          <p:nvPicPr>
            <p:cNvPr id="13" name="Graphique 12" descr="Homme portant un sweat à capuche">
              <a:extLst>
                <a:ext uri="{FF2B5EF4-FFF2-40B4-BE49-F238E27FC236}">
                  <a16:creationId xmlns:a16="http://schemas.microsoft.com/office/drawing/2014/main" id="{D086A6D3-3215-C451-88A5-AA6B1DA94B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12262" y="3165690"/>
              <a:ext cx="125577" cy="172697"/>
            </a:xfrm>
            <a:prstGeom prst="rect">
              <a:avLst/>
            </a:prstGeom>
          </p:spPr>
        </p:pic>
        <p:pic>
          <p:nvPicPr>
            <p:cNvPr id="14" name="Graphique 13" descr="Femme avec bras prothétique">
              <a:extLst>
                <a:ext uri="{FF2B5EF4-FFF2-40B4-BE49-F238E27FC236}">
                  <a16:creationId xmlns:a16="http://schemas.microsoft.com/office/drawing/2014/main" id="{D49CEB6A-3508-9A12-CF15-62FC2C8BC8C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718022" y="3157672"/>
              <a:ext cx="156339" cy="167455"/>
            </a:xfrm>
            <a:prstGeom prst="rect">
              <a:avLst/>
            </a:prstGeom>
          </p:spPr>
        </p:pic>
        <p:pic>
          <p:nvPicPr>
            <p:cNvPr id="15" name="Graphique 14" descr="Homme barbu en peignoir">
              <a:extLst>
                <a:ext uri="{FF2B5EF4-FFF2-40B4-BE49-F238E27FC236}">
                  <a16:creationId xmlns:a16="http://schemas.microsoft.com/office/drawing/2014/main" id="{5F7691A8-CD9E-F0B0-6797-11BD2AA5E04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48459" y="3157672"/>
              <a:ext cx="136882" cy="175537"/>
            </a:xfrm>
            <a:prstGeom prst="rect">
              <a:avLst/>
            </a:prstGeom>
          </p:spPr>
        </p:pic>
        <p:pic>
          <p:nvPicPr>
            <p:cNvPr id="16" name="Graphique 15" descr="Femme tenant un ordinateur portable">
              <a:extLst>
                <a:ext uri="{FF2B5EF4-FFF2-40B4-BE49-F238E27FC236}">
                  <a16:creationId xmlns:a16="http://schemas.microsoft.com/office/drawing/2014/main" id="{8CF408A3-0FD2-0564-414A-B42A6BD49A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870809" y="3165755"/>
              <a:ext cx="161565" cy="167455"/>
            </a:xfrm>
            <a:prstGeom prst="rect">
              <a:avLst/>
            </a:prstGeom>
          </p:spPr>
        </p:pic>
        <p:pic>
          <p:nvPicPr>
            <p:cNvPr id="17" name="Graphique 16" descr="Point d’interrogation avec un remplissage uni">
              <a:extLst>
                <a:ext uri="{FF2B5EF4-FFF2-40B4-BE49-F238E27FC236}">
                  <a16:creationId xmlns:a16="http://schemas.microsoft.com/office/drawing/2014/main" id="{4C3CCB5D-A8A9-A870-AA51-8D34E6CA76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57664" y="3103192"/>
              <a:ext cx="221935" cy="221935"/>
            </a:xfrm>
            <a:prstGeom prst="rect">
              <a:avLst/>
            </a:prstGeom>
          </p:spPr>
        </p:pic>
      </p:grpSp>
      <p:sp>
        <p:nvSpPr>
          <p:cNvPr id="20" name="ZoneTexte 19">
            <a:extLst>
              <a:ext uri="{FF2B5EF4-FFF2-40B4-BE49-F238E27FC236}">
                <a16:creationId xmlns:a16="http://schemas.microsoft.com/office/drawing/2014/main" id="{6A338252-18A9-1D78-91B1-39C5C8C095A3}"/>
              </a:ext>
            </a:extLst>
          </p:cNvPr>
          <p:cNvSpPr txBox="1"/>
          <p:nvPr/>
        </p:nvSpPr>
        <p:spPr>
          <a:xfrm>
            <a:off x="2354873" y="4428742"/>
            <a:ext cx="2472655" cy="1477328"/>
          </a:xfrm>
          <a:prstGeom prst="rect">
            <a:avLst/>
          </a:prstGeom>
          <a:noFill/>
        </p:spPr>
        <p:txBody>
          <a:bodyPr wrap="square">
            <a:spAutoFit/>
          </a:bodyPr>
          <a:lstStyle/>
          <a:p>
            <a:r>
              <a:rPr lang="fr-FR" sz="1800" i="1"/>
              <a:t>Bienvenue parmi nous, voici une fiche pour t’aider à être plus autonome et à mieux travailler avec nous </a:t>
            </a:r>
          </a:p>
        </p:txBody>
      </p:sp>
    </p:spTree>
    <p:extLst>
      <p:ext uri="{BB962C8B-B14F-4D97-AF65-F5344CB8AC3E}">
        <p14:creationId xmlns:p14="http://schemas.microsoft.com/office/powerpoint/2010/main" val="3415243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899D11-43C5-0A5C-49E7-5F9F62128B96}"/>
              </a:ext>
            </a:extLst>
          </p:cNvPr>
          <p:cNvSpPr>
            <a:spLocks noGrp="1"/>
          </p:cNvSpPr>
          <p:nvPr>
            <p:ph type="title"/>
          </p:nvPr>
        </p:nvSpPr>
        <p:spPr/>
        <p:txBody>
          <a:bodyPr/>
          <a:lstStyle/>
          <a:p>
            <a:r>
              <a:rPr lang="fr-FR"/>
              <a:t>Usage entre 2 équipes</a:t>
            </a:r>
          </a:p>
        </p:txBody>
      </p:sp>
      <p:sp>
        <p:nvSpPr>
          <p:cNvPr id="3" name="Espace réservé du contenu 2">
            <a:extLst>
              <a:ext uri="{FF2B5EF4-FFF2-40B4-BE49-F238E27FC236}">
                <a16:creationId xmlns:a16="http://schemas.microsoft.com/office/drawing/2014/main" id="{0A24477A-34EF-58CD-F101-E34CDDB1639E}"/>
              </a:ext>
            </a:extLst>
          </p:cNvPr>
          <p:cNvSpPr>
            <a:spLocks noGrp="1"/>
          </p:cNvSpPr>
          <p:nvPr>
            <p:ph idx="1"/>
          </p:nvPr>
        </p:nvSpPr>
        <p:spPr>
          <a:xfrm>
            <a:off x="838200" y="1825625"/>
            <a:ext cx="10515600" cy="1325563"/>
          </a:xfrm>
        </p:spPr>
        <p:txBody>
          <a:bodyPr>
            <a:normAutofit/>
          </a:bodyPr>
          <a:lstStyle/>
          <a:p>
            <a:r>
              <a:rPr lang="fr-FR" sz="1600"/>
              <a:t>Lorsque 2 équipes doivent coopérer, il peut arriver les mêmes écueils qu’à l’intérieur d’une seule (impression d’être court-circuité, ou de tout le temps dépendre de l’autre équipe, etc.). </a:t>
            </a:r>
          </a:p>
          <a:p>
            <a:r>
              <a:rPr lang="fr-FR" sz="1600"/>
              <a:t>Un atelier tel que l’IVCD </a:t>
            </a:r>
            <a:r>
              <a:rPr lang="fr-FR" sz="1600" err="1"/>
              <a:t>Map</a:t>
            </a:r>
            <a:r>
              <a:rPr lang="fr-FR" sz="1600"/>
              <a:t> permet de poser un cadre concret pour dégrossir les sujets de conflit, quitte à les faire arbitrer ensuite à qui de droit.</a:t>
            </a:r>
          </a:p>
        </p:txBody>
      </p:sp>
      <p:grpSp>
        <p:nvGrpSpPr>
          <p:cNvPr id="23" name="Groupe 22">
            <a:extLst>
              <a:ext uri="{FF2B5EF4-FFF2-40B4-BE49-F238E27FC236}">
                <a16:creationId xmlns:a16="http://schemas.microsoft.com/office/drawing/2014/main" id="{B2D82E42-BEB0-93F0-3CA7-09AB3EDE376C}"/>
              </a:ext>
            </a:extLst>
          </p:cNvPr>
          <p:cNvGrpSpPr/>
          <p:nvPr/>
        </p:nvGrpSpPr>
        <p:grpSpPr>
          <a:xfrm>
            <a:off x="4655890" y="3155028"/>
            <a:ext cx="7426586" cy="3492500"/>
            <a:chOff x="1608950" y="1690688"/>
            <a:chExt cx="10532250" cy="4953000"/>
          </a:xfrm>
        </p:grpSpPr>
        <p:grpSp>
          <p:nvGrpSpPr>
            <p:cNvPr id="4" name="Groupe 3">
              <a:extLst>
                <a:ext uri="{FF2B5EF4-FFF2-40B4-BE49-F238E27FC236}">
                  <a16:creationId xmlns:a16="http://schemas.microsoft.com/office/drawing/2014/main" id="{0AD5AE03-6344-C5D2-2F7E-8F66E47BB170}"/>
                </a:ext>
              </a:extLst>
            </p:cNvPr>
            <p:cNvGrpSpPr/>
            <p:nvPr/>
          </p:nvGrpSpPr>
          <p:grpSpPr>
            <a:xfrm>
              <a:off x="3333750" y="1690688"/>
              <a:ext cx="6959600" cy="4953000"/>
              <a:chOff x="2425700" y="1690688"/>
              <a:chExt cx="6959600" cy="4953000"/>
            </a:xfrm>
          </p:grpSpPr>
          <p:sp>
            <p:nvSpPr>
              <p:cNvPr id="5" name="Ellipse 4">
                <a:extLst>
                  <a:ext uri="{FF2B5EF4-FFF2-40B4-BE49-F238E27FC236}">
                    <a16:creationId xmlns:a16="http://schemas.microsoft.com/office/drawing/2014/main" id="{A7503F04-3188-C667-BC0A-A086F3A0C0E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6" name="Ellipse 5">
                <a:extLst>
                  <a:ext uri="{FF2B5EF4-FFF2-40B4-BE49-F238E27FC236}">
                    <a16:creationId xmlns:a16="http://schemas.microsoft.com/office/drawing/2014/main" id="{2810D6F5-EAA4-079B-F5BE-E982AD1176B9}"/>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grpSp>
        <p:sp>
          <p:nvSpPr>
            <p:cNvPr id="7" name="ZoneTexte 6">
              <a:extLst>
                <a:ext uri="{FF2B5EF4-FFF2-40B4-BE49-F238E27FC236}">
                  <a16:creationId xmlns:a16="http://schemas.microsoft.com/office/drawing/2014/main" id="{2F2AA31B-3C5C-6B0A-82B0-F0AC59FF7012}"/>
                </a:ext>
              </a:extLst>
            </p:cNvPr>
            <p:cNvSpPr txBox="1"/>
            <p:nvPr/>
          </p:nvSpPr>
          <p:spPr>
            <a:xfrm>
              <a:off x="1608950" y="1690688"/>
              <a:ext cx="2135962" cy="851142"/>
            </a:xfrm>
            <a:prstGeom prst="rect">
              <a:avLst/>
            </a:prstGeom>
            <a:noFill/>
          </p:spPr>
          <p:txBody>
            <a:bodyPr wrap="square">
              <a:spAutoFit/>
            </a:bodyPr>
            <a:lstStyle/>
            <a:p>
              <a:pPr algn="ctr"/>
              <a:r>
                <a:rPr lang="fr-FR" sz="1100" b="1">
                  <a:solidFill>
                    <a:srgbClr val="ED7D31"/>
                  </a:solidFill>
                </a:rPr>
                <a:t>Décisions qu’une équipe peut prendre sans consulter l’autre </a:t>
              </a:r>
              <a:endParaRPr lang="fr-FR" sz="1100">
                <a:solidFill>
                  <a:srgbClr val="ED7D31"/>
                </a:solidFill>
              </a:endParaRPr>
            </a:p>
          </p:txBody>
        </p:sp>
        <p:sp>
          <p:nvSpPr>
            <p:cNvPr id="8" name="ZoneTexte 7">
              <a:extLst>
                <a:ext uri="{FF2B5EF4-FFF2-40B4-BE49-F238E27FC236}">
                  <a16:creationId xmlns:a16="http://schemas.microsoft.com/office/drawing/2014/main" id="{C4CF1444-2881-DCA2-1E95-9F93A5296F44}"/>
                </a:ext>
              </a:extLst>
            </p:cNvPr>
            <p:cNvSpPr txBox="1"/>
            <p:nvPr/>
          </p:nvSpPr>
          <p:spPr>
            <a:xfrm>
              <a:off x="10293350" y="1690688"/>
              <a:ext cx="1673225" cy="1331274"/>
            </a:xfrm>
            <a:prstGeom prst="rect">
              <a:avLst/>
            </a:prstGeom>
            <a:noFill/>
          </p:spPr>
          <p:txBody>
            <a:bodyPr wrap="square">
              <a:spAutoFit/>
            </a:bodyPr>
            <a:lstStyle/>
            <a:p>
              <a:pPr algn="ctr"/>
              <a:r>
                <a:rPr lang="fr-FR" sz="1100" b="1">
                  <a:solidFill>
                    <a:srgbClr val="3494BA"/>
                  </a:solidFill>
                </a:rPr>
                <a:t>Décisions qu’il est préférable et convenu de prendre en groupe</a:t>
              </a:r>
              <a:endParaRPr lang="fr-FR" sz="1100">
                <a:solidFill>
                  <a:srgbClr val="3494BA"/>
                </a:solidFill>
              </a:endParaRPr>
            </a:p>
          </p:txBody>
        </p:sp>
        <p:sp>
          <p:nvSpPr>
            <p:cNvPr id="9" name="ZoneTexte 8">
              <a:extLst>
                <a:ext uri="{FF2B5EF4-FFF2-40B4-BE49-F238E27FC236}">
                  <a16:creationId xmlns:a16="http://schemas.microsoft.com/office/drawing/2014/main" id="{E7B7BB36-498B-8683-C6BB-3DE18009BB20}"/>
                </a:ext>
              </a:extLst>
            </p:cNvPr>
            <p:cNvSpPr txBox="1"/>
            <p:nvPr/>
          </p:nvSpPr>
          <p:spPr>
            <a:xfrm>
              <a:off x="6096000" y="2106185"/>
              <a:ext cx="1401764" cy="851142"/>
            </a:xfrm>
            <a:prstGeom prst="rect">
              <a:avLst/>
            </a:prstGeom>
            <a:noFill/>
          </p:spPr>
          <p:txBody>
            <a:bodyPr wrap="square">
              <a:spAutoFit/>
            </a:bodyPr>
            <a:lstStyle/>
            <a:p>
              <a:pPr algn="ctr"/>
              <a:r>
                <a:rPr lang="fr-FR" sz="1100" b="1">
                  <a:solidFill>
                    <a:schemeClr val="bg1">
                      <a:lumMod val="50000"/>
                    </a:schemeClr>
                  </a:solidFill>
                </a:rPr>
                <a:t>Zone grise (au cas par cas)</a:t>
              </a:r>
              <a:endParaRPr lang="fr-FR" sz="1100">
                <a:solidFill>
                  <a:schemeClr val="bg1">
                    <a:lumMod val="50000"/>
                  </a:schemeClr>
                </a:solidFill>
              </a:endParaRPr>
            </a:p>
          </p:txBody>
        </p:sp>
        <p:sp>
          <p:nvSpPr>
            <p:cNvPr id="10" name="ZoneTexte 9">
              <a:extLst>
                <a:ext uri="{FF2B5EF4-FFF2-40B4-BE49-F238E27FC236}">
                  <a16:creationId xmlns:a16="http://schemas.microsoft.com/office/drawing/2014/main" id="{C970DD96-43DE-E865-4A50-982D04DA3BAA}"/>
                </a:ext>
              </a:extLst>
            </p:cNvPr>
            <p:cNvSpPr txBox="1"/>
            <p:nvPr/>
          </p:nvSpPr>
          <p:spPr>
            <a:xfrm>
              <a:off x="5950350" y="3123973"/>
              <a:ext cx="1547415" cy="1003911"/>
            </a:xfrm>
            <a:prstGeom prst="rect">
              <a:avLst/>
            </a:prstGeom>
            <a:solidFill>
              <a:srgbClr val="FFFF00"/>
            </a:solidFill>
            <a:ln>
              <a:solidFill>
                <a:schemeClr val="tx1"/>
              </a:solidFill>
            </a:ln>
          </p:spPr>
          <p:txBody>
            <a:bodyPr wrap="square">
              <a:spAutoFit/>
            </a:bodyPr>
            <a:lstStyle/>
            <a:p>
              <a:pPr algn="ctr"/>
              <a:r>
                <a:rPr lang="fr-FR" sz="1000"/>
                <a:t>Les points de contact de référence sur des sujets communs</a:t>
              </a:r>
            </a:p>
          </p:txBody>
        </p:sp>
        <p:sp>
          <p:nvSpPr>
            <p:cNvPr id="11" name="ZoneTexte 10">
              <a:extLst>
                <a:ext uri="{FF2B5EF4-FFF2-40B4-BE49-F238E27FC236}">
                  <a16:creationId xmlns:a16="http://schemas.microsoft.com/office/drawing/2014/main" id="{A7305CC4-EA55-D590-8D8D-73E0436490BE}"/>
                </a:ext>
              </a:extLst>
            </p:cNvPr>
            <p:cNvSpPr txBox="1"/>
            <p:nvPr/>
          </p:nvSpPr>
          <p:spPr>
            <a:xfrm>
              <a:off x="8319492" y="2646918"/>
              <a:ext cx="1547415" cy="785670"/>
            </a:xfrm>
            <a:prstGeom prst="rect">
              <a:avLst/>
            </a:prstGeom>
            <a:solidFill>
              <a:srgbClr val="FFFF00"/>
            </a:solidFill>
            <a:ln>
              <a:solidFill>
                <a:schemeClr val="tx1"/>
              </a:solidFill>
            </a:ln>
          </p:spPr>
          <p:txBody>
            <a:bodyPr wrap="square">
              <a:spAutoFit/>
            </a:bodyPr>
            <a:lstStyle/>
            <a:p>
              <a:pPr algn="ctr"/>
              <a:r>
                <a:rPr lang="fr-FR" sz="1000"/>
                <a:t>Les outils en commun des 2 équipes</a:t>
              </a:r>
            </a:p>
          </p:txBody>
        </p:sp>
        <p:sp>
          <p:nvSpPr>
            <p:cNvPr id="12" name="ZoneTexte 11">
              <a:extLst>
                <a:ext uri="{FF2B5EF4-FFF2-40B4-BE49-F238E27FC236}">
                  <a16:creationId xmlns:a16="http://schemas.microsoft.com/office/drawing/2014/main" id="{B44C5DD9-B805-4651-7FF3-B34A00F664D1}"/>
                </a:ext>
              </a:extLst>
            </p:cNvPr>
            <p:cNvSpPr txBox="1"/>
            <p:nvPr/>
          </p:nvSpPr>
          <p:spPr>
            <a:xfrm>
              <a:off x="3883653" y="2424793"/>
              <a:ext cx="1547415" cy="785670"/>
            </a:xfrm>
            <a:prstGeom prst="rect">
              <a:avLst/>
            </a:prstGeom>
            <a:solidFill>
              <a:srgbClr val="FFFF00"/>
            </a:solidFill>
            <a:ln>
              <a:solidFill>
                <a:schemeClr val="tx1"/>
              </a:solidFill>
            </a:ln>
          </p:spPr>
          <p:txBody>
            <a:bodyPr wrap="square">
              <a:spAutoFit/>
            </a:bodyPr>
            <a:lstStyle/>
            <a:p>
              <a:pPr algn="ctr"/>
              <a:r>
                <a:rPr lang="fr-FR" sz="1000"/>
                <a:t>Les outils internes de chaque équipe</a:t>
              </a:r>
            </a:p>
          </p:txBody>
        </p:sp>
        <p:sp>
          <p:nvSpPr>
            <p:cNvPr id="13" name="ZoneTexte 12">
              <a:extLst>
                <a:ext uri="{FF2B5EF4-FFF2-40B4-BE49-F238E27FC236}">
                  <a16:creationId xmlns:a16="http://schemas.microsoft.com/office/drawing/2014/main" id="{9846388C-2CE4-39B7-165F-7DF2FBC254AD}"/>
                </a:ext>
              </a:extLst>
            </p:cNvPr>
            <p:cNvSpPr txBox="1"/>
            <p:nvPr/>
          </p:nvSpPr>
          <p:spPr>
            <a:xfrm>
              <a:off x="8583017" y="3797857"/>
              <a:ext cx="1547415" cy="1003911"/>
            </a:xfrm>
            <a:prstGeom prst="rect">
              <a:avLst/>
            </a:prstGeom>
            <a:solidFill>
              <a:srgbClr val="FFFF00"/>
            </a:solidFill>
            <a:ln>
              <a:solidFill>
                <a:schemeClr val="tx1"/>
              </a:solidFill>
            </a:ln>
          </p:spPr>
          <p:txBody>
            <a:bodyPr wrap="square">
              <a:spAutoFit/>
            </a:bodyPr>
            <a:lstStyle/>
            <a:p>
              <a:pPr algn="ctr"/>
              <a:r>
                <a:rPr lang="fr-FR" sz="1000"/>
                <a:t>L’organisation de la réunion de synchronisation trimestrielle</a:t>
              </a:r>
            </a:p>
          </p:txBody>
        </p:sp>
        <p:sp>
          <p:nvSpPr>
            <p:cNvPr id="14" name="ZoneTexte 13">
              <a:extLst>
                <a:ext uri="{FF2B5EF4-FFF2-40B4-BE49-F238E27FC236}">
                  <a16:creationId xmlns:a16="http://schemas.microsoft.com/office/drawing/2014/main" id="{A08A1111-7CD3-2D9E-9DBA-6D35BA24A641}"/>
                </a:ext>
              </a:extLst>
            </p:cNvPr>
            <p:cNvSpPr txBox="1"/>
            <p:nvPr/>
          </p:nvSpPr>
          <p:spPr>
            <a:xfrm>
              <a:off x="3509975" y="3558307"/>
              <a:ext cx="1547415" cy="1003911"/>
            </a:xfrm>
            <a:prstGeom prst="rect">
              <a:avLst/>
            </a:prstGeom>
            <a:solidFill>
              <a:srgbClr val="FFFF00"/>
            </a:solidFill>
            <a:ln>
              <a:solidFill>
                <a:schemeClr val="tx1"/>
              </a:solidFill>
            </a:ln>
          </p:spPr>
          <p:txBody>
            <a:bodyPr wrap="square">
              <a:spAutoFit/>
            </a:bodyPr>
            <a:lstStyle/>
            <a:p>
              <a:pPr algn="ctr"/>
              <a:r>
                <a:rPr lang="fr-FR" sz="1000"/>
                <a:t>Le recrutement et les sorties de personnes dans chaque équipe</a:t>
              </a:r>
            </a:p>
          </p:txBody>
        </p:sp>
        <p:sp>
          <p:nvSpPr>
            <p:cNvPr id="15" name="ZoneTexte 14">
              <a:extLst>
                <a:ext uri="{FF2B5EF4-FFF2-40B4-BE49-F238E27FC236}">
                  <a16:creationId xmlns:a16="http://schemas.microsoft.com/office/drawing/2014/main" id="{274D86EF-F41E-1D52-0586-4436234F5853}"/>
                </a:ext>
              </a:extLst>
            </p:cNvPr>
            <p:cNvSpPr txBox="1"/>
            <p:nvPr/>
          </p:nvSpPr>
          <p:spPr>
            <a:xfrm>
              <a:off x="3868701" y="5011809"/>
              <a:ext cx="1547415" cy="1222152"/>
            </a:xfrm>
            <a:prstGeom prst="rect">
              <a:avLst/>
            </a:prstGeom>
            <a:solidFill>
              <a:srgbClr val="FFFF00"/>
            </a:solidFill>
            <a:ln>
              <a:solidFill>
                <a:schemeClr val="tx1"/>
              </a:solidFill>
            </a:ln>
          </p:spPr>
          <p:txBody>
            <a:bodyPr wrap="square">
              <a:spAutoFit/>
            </a:bodyPr>
            <a:lstStyle/>
            <a:p>
              <a:pPr algn="ctr"/>
              <a:r>
                <a:rPr lang="fr-FR" sz="1000"/>
                <a:t>Les processus internes (réunions, etc.) de chaque équipe </a:t>
              </a:r>
            </a:p>
          </p:txBody>
        </p:sp>
        <p:sp>
          <p:nvSpPr>
            <p:cNvPr id="16" name="ZoneTexte 15">
              <a:extLst>
                <a:ext uri="{FF2B5EF4-FFF2-40B4-BE49-F238E27FC236}">
                  <a16:creationId xmlns:a16="http://schemas.microsoft.com/office/drawing/2014/main" id="{FC0BDFBE-848F-9465-0490-512AB3EB2D2B}"/>
                </a:ext>
              </a:extLst>
            </p:cNvPr>
            <p:cNvSpPr txBox="1"/>
            <p:nvPr/>
          </p:nvSpPr>
          <p:spPr>
            <a:xfrm>
              <a:off x="6331303" y="4662623"/>
              <a:ext cx="1547415" cy="785670"/>
            </a:xfrm>
            <a:prstGeom prst="rect">
              <a:avLst/>
            </a:prstGeom>
            <a:solidFill>
              <a:srgbClr val="FFFF00"/>
            </a:solidFill>
            <a:ln>
              <a:solidFill>
                <a:schemeClr val="tx1"/>
              </a:solidFill>
            </a:ln>
          </p:spPr>
          <p:txBody>
            <a:bodyPr wrap="square">
              <a:spAutoFit/>
            </a:bodyPr>
            <a:lstStyle/>
            <a:p>
              <a:pPr algn="ctr"/>
              <a:r>
                <a:rPr lang="fr-FR" sz="1000"/>
                <a:t>La direction prise par chacune des équipes</a:t>
              </a:r>
            </a:p>
          </p:txBody>
        </p:sp>
        <p:grpSp>
          <p:nvGrpSpPr>
            <p:cNvPr id="17" name="Groupe 16">
              <a:extLst>
                <a:ext uri="{FF2B5EF4-FFF2-40B4-BE49-F238E27FC236}">
                  <a16:creationId xmlns:a16="http://schemas.microsoft.com/office/drawing/2014/main" id="{51E6DA51-65C7-E0D1-5C19-913AD774E666}"/>
                </a:ext>
              </a:extLst>
            </p:cNvPr>
            <p:cNvGrpSpPr/>
            <p:nvPr/>
          </p:nvGrpSpPr>
          <p:grpSpPr>
            <a:xfrm>
              <a:off x="1984482" y="3065005"/>
              <a:ext cx="10156718" cy="1324098"/>
              <a:chOff x="1984482" y="3065005"/>
              <a:chExt cx="10156718" cy="1324098"/>
            </a:xfrm>
          </p:grpSpPr>
          <p:pic>
            <p:nvPicPr>
              <p:cNvPr id="18" name="Graphique 17" descr="Homme portant un sweat à capuche">
                <a:extLst>
                  <a:ext uri="{FF2B5EF4-FFF2-40B4-BE49-F238E27FC236}">
                    <a16:creationId xmlns:a16="http://schemas.microsoft.com/office/drawing/2014/main" id="{1EECF58F-E7E9-35C4-8972-EC78D8E208D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9" name="Graphique 18" descr="Homme portant un sweat à capuche">
                <a:extLst>
                  <a:ext uri="{FF2B5EF4-FFF2-40B4-BE49-F238E27FC236}">
                    <a16:creationId xmlns:a16="http://schemas.microsoft.com/office/drawing/2014/main" id="{F2F7E8DE-EE3B-98C8-2EEB-D96264E20F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1550" y="3088507"/>
                <a:ext cx="387522" cy="522438"/>
              </a:xfrm>
              <a:prstGeom prst="rect">
                <a:avLst/>
              </a:prstGeom>
            </p:spPr>
          </p:pic>
          <p:pic>
            <p:nvPicPr>
              <p:cNvPr id="20" name="Graphique 19" descr="Femme avec bras prothétique">
                <a:extLst>
                  <a:ext uri="{FF2B5EF4-FFF2-40B4-BE49-F238E27FC236}">
                    <a16:creationId xmlns:a16="http://schemas.microsoft.com/office/drawing/2014/main" id="{B69BF9C9-59E5-CD58-64A9-C1FBC893C8B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1" name="Graphique 20" descr="Homme barbu en peignoir">
                <a:extLst>
                  <a:ext uri="{FF2B5EF4-FFF2-40B4-BE49-F238E27FC236}">
                    <a16:creationId xmlns:a16="http://schemas.microsoft.com/office/drawing/2014/main" id="{3CBBE840-BD98-B97C-28C5-F23690B951F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2" name="Graphique 21" descr="Femme tenant un ordinateur portable">
                <a:extLst>
                  <a:ext uri="{FF2B5EF4-FFF2-40B4-BE49-F238E27FC236}">
                    <a16:creationId xmlns:a16="http://schemas.microsoft.com/office/drawing/2014/main" id="{7F8BCDB9-F284-5FCA-7954-8B06C21F06F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pic>
            <p:nvPicPr>
              <p:cNvPr id="24" name="Graphique 23" descr="Homme portant un sweat à capuche">
                <a:extLst>
                  <a:ext uri="{FF2B5EF4-FFF2-40B4-BE49-F238E27FC236}">
                    <a16:creationId xmlns:a16="http://schemas.microsoft.com/office/drawing/2014/main" id="{4FBAFB2D-D10C-6D9E-B756-3971C5FF44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41650" y="3088507"/>
                <a:ext cx="387522" cy="522438"/>
              </a:xfrm>
              <a:prstGeom prst="rect">
                <a:avLst/>
              </a:prstGeom>
            </p:spPr>
          </p:pic>
          <p:pic>
            <p:nvPicPr>
              <p:cNvPr id="25" name="Graphique 24" descr="Homme portant un sweat à capuche">
                <a:extLst>
                  <a:ext uri="{FF2B5EF4-FFF2-40B4-BE49-F238E27FC236}">
                    <a16:creationId xmlns:a16="http://schemas.microsoft.com/office/drawing/2014/main" id="{255DC58E-1C00-D190-6C14-77482B1CE4A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74401" y="3065005"/>
                <a:ext cx="387522" cy="522438"/>
              </a:xfrm>
              <a:prstGeom prst="rect">
                <a:avLst/>
              </a:prstGeom>
            </p:spPr>
          </p:pic>
          <p:pic>
            <p:nvPicPr>
              <p:cNvPr id="26" name="Graphique 25" descr="Homme portant un sweat à capuche">
                <a:extLst>
                  <a:ext uri="{FF2B5EF4-FFF2-40B4-BE49-F238E27FC236}">
                    <a16:creationId xmlns:a16="http://schemas.microsoft.com/office/drawing/2014/main" id="{45E05811-ACFB-3977-F890-D95283718EA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984482" y="3866665"/>
                <a:ext cx="387522" cy="522438"/>
              </a:xfrm>
              <a:prstGeom prst="rect">
                <a:avLst/>
              </a:prstGeom>
            </p:spPr>
          </p:pic>
          <p:pic>
            <p:nvPicPr>
              <p:cNvPr id="27" name="Graphique 26" descr="Homme portant un sweat à capuche">
                <a:extLst>
                  <a:ext uri="{FF2B5EF4-FFF2-40B4-BE49-F238E27FC236}">
                    <a16:creationId xmlns:a16="http://schemas.microsoft.com/office/drawing/2014/main" id="{8EFFB7C4-9ABD-F199-A5D7-7A3AEC0BF50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215053" y="3866665"/>
                <a:ext cx="387522" cy="522438"/>
              </a:xfrm>
              <a:prstGeom prst="rect">
                <a:avLst/>
              </a:prstGeom>
            </p:spPr>
          </p:pic>
          <p:pic>
            <p:nvPicPr>
              <p:cNvPr id="28" name="Graphique 27" descr="Homme portant un sweat à capuche">
                <a:extLst>
                  <a:ext uri="{FF2B5EF4-FFF2-40B4-BE49-F238E27FC236}">
                    <a16:creationId xmlns:a16="http://schemas.microsoft.com/office/drawing/2014/main" id="{76C95F45-53BD-C8A7-3BE1-40359F3CC5F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47368" y="3821947"/>
                <a:ext cx="387522" cy="522438"/>
              </a:xfrm>
              <a:prstGeom prst="rect">
                <a:avLst/>
              </a:prstGeom>
            </p:spPr>
          </p:pic>
          <p:pic>
            <p:nvPicPr>
              <p:cNvPr id="29" name="Graphique 28" descr="Homme portant un sweat à capuche">
                <a:extLst>
                  <a:ext uri="{FF2B5EF4-FFF2-40B4-BE49-F238E27FC236}">
                    <a16:creationId xmlns:a16="http://schemas.microsoft.com/office/drawing/2014/main" id="{552692F1-CA4F-6B25-672A-43CB8A371AD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597510" y="3255620"/>
                <a:ext cx="387522" cy="522438"/>
              </a:xfrm>
              <a:prstGeom prst="rect">
                <a:avLst/>
              </a:prstGeom>
            </p:spPr>
          </p:pic>
          <p:pic>
            <p:nvPicPr>
              <p:cNvPr id="30" name="Graphique 29" descr="Homme portant un sweat à capuche">
                <a:extLst>
                  <a:ext uri="{FF2B5EF4-FFF2-40B4-BE49-F238E27FC236}">
                    <a16:creationId xmlns:a16="http://schemas.microsoft.com/office/drawing/2014/main" id="{2F8B6E2C-085B-6C48-1E0B-512A2A6627E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999494" y="3210462"/>
                <a:ext cx="387522" cy="522438"/>
              </a:xfrm>
              <a:prstGeom prst="rect">
                <a:avLst/>
              </a:prstGeom>
            </p:spPr>
          </p:pic>
          <p:pic>
            <p:nvPicPr>
              <p:cNvPr id="31" name="Graphique 30" descr="Homme portant un sweat à capuche">
                <a:extLst>
                  <a:ext uri="{FF2B5EF4-FFF2-40B4-BE49-F238E27FC236}">
                    <a16:creationId xmlns:a16="http://schemas.microsoft.com/office/drawing/2014/main" id="{5FD74054-3868-DB61-F852-E0D8DCA85F8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37064" y="3279091"/>
                <a:ext cx="387522" cy="522438"/>
              </a:xfrm>
              <a:prstGeom prst="rect">
                <a:avLst/>
              </a:prstGeom>
            </p:spPr>
          </p:pic>
        </p:grpSp>
      </p:grpSp>
    </p:spTree>
    <p:extLst>
      <p:ext uri="{BB962C8B-B14F-4D97-AF65-F5344CB8AC3E}">
        <p14:creationId xmlns:p14="http://schemas.microsoft.com/office/powerpoint/2010/main" val="1561264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Former à l’IVCD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130215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A2258-F426-543E-9416-6F5748114549}"/>
              </a:ext>
            </a:extLst>
          </p:cNvPr>
          <p:cNvSpPr>
            <a:spLocks noGrp="1"/>
          </p:cNvSpPr>
          <p:nvPr>
            <p:ph type="title"/>
          </p:nvPr>
        </p:nvSpPr>
        <p:spPr/>
        <p:txBody>
          <a:bodyPr/>
          <a:lstStyle/>
          <a:p>
            <a:r>
              <a:rPr lang="fr-FR"/>
              <a:t>🎓Former à l’IVCD </a:t>
            </a:r>
            <a:r>
              <a:rPr lang="fr-FR" err="1"/>
              <a:t>Map</a:t>
            </a:r>
            <a:endParaRPr lang="fr-FR"/>
          </a:p>
        </p:txBody>
      </p:sp>
      <p:sp>
        <p:nvSpPr>
          <p:cNvPr id="3" name="Espace réservé du contenu 2">
            <a:extLst>
              <a:ext uri="{FF2B5EF4-FFF2-40B4-BE49-F238E27FC236}">
                <a16:creationId xmlns:a16="http://schemas.microsoft.com/office/drawing/2014/main" id="{A6F06131-83B3-F603-CB44-8092D6B0A111}"/>
              </a:ext>
            </a:extLst>
          </p:cNvPr>
          <p:cNvSpPr>
            <a:spLocks noGrp="1"/>
          </p:cNvSpPr>
          <p:nvPr>
            <p:ph idx="1"/>
          </p:nvPr>
        </p:nvSpPr>
        <p:spPr>
          <a:xfrm>
            <a:off x="838200" y="1565567"/>
            <a:ext cx="10515600" cy="1194412"/>
          </a:xfrm>
        </p:spPr>
        <p:txBody>
          <a:bodyPr>
            <a:normAutofit/>
          </a:bodyPr>
          <a:lstStyle/>
          <a:p>
            <a:r>
              <a:rPr lang="fr-FR" sz="1400"/>
              <a:t>L’IVCD </a:t>
            </a:r>
            <a:r>
              <a:rPr lang="fr-FR" sz="1400" err="1"/>
              <a:t>Map</a:t>
            </a:r>
            <a:r>
              <a:rPr lang="fr-FR" sz="1400"/>
              <a:t> est un outil qui peut avoir de multiples usages, particulièrement dans des collectifs de vie professionnelle (équipes, services, départements, communautés d’entreprise.)</a:t>
            </a:r>
          </a:p>
          <a:p>
            <a:endParaRPr lang="fr-FR" sz="1400"/>
          </a:p>
          <a:p>
            <a:r>
              <a:rPr lang="fr-FR" sz="1400"/>
              <a:t>Pour former à l’IVCD </a:t>
            </a:r>
            <a:r>
              <a:rPr lang="fr-FR" sz="1400" err="1"/>
              <a:t>map</a:t>
            </a:r>
            <a:r>
              <a:rPr lang="fr-FR" sz="1400"/>
              <a:t>, voici un chemin recommandé (de gauche à droite) : </a:t>
            </a:r>
          </a:p>
        </p:txBody>
      </p:sp>
      <p:graphicFrame>
        <p:nvGraphicFramePr>
          <p:cNvPr id="4" name="Tableau 4">
            <a:extLst>
              <a:ext uri="{FF2B5EF4-FFF2-40B4-BE49-F238E27FC236}">
                <a16:creationId xmlns:a16="http://schemas.microsoft.com/office/drawing/2014/main" id="{C560FAB5-6044-2ABA-8109-064477C0A8E4}"/>
              </a:ext>
            </a:extLst>
          </p:cNvPr>
          <p:cNvGraphicFramePr>
            <a:graphicFrameLocks noGrp="1"/>
          </p:cNvGraphicFramePr>
          <p:nvPr>
            <p:extLst>
              <p:ext uri="{D42A27DB-BD31-4B8C-83A1-F6EECF244321}">
                <p14:modId xmlns:p14="http://schemas.microsoft.com/office/powerpoint/2010/main" val="3731963311"/>
              </p:ext>
            </p:extLst>
          </p:nvPr>
        </p:nvGraphicFramePr>
        <p:xfrm>
          <a:off x="838200" y="2731740"/>
          <a:ext cx="11249630" cy="3840480"/>
        </p:xfrm>
        <a:graphic>
          <a:graphicData uri="http://schemas.openxmlformats.org/drawingml/2006/table">
            <a:tbl>
              <a:tblPr firstRow="1" bandRow="1">
                <a:tableStyleId>{5C22544A-7EE6-4342-B048-85BDC9FD1C3A}</a:tableStyleId>
              </a:tblPr>
              <a:tblGrid>
                <a:gridCol w="1607090">
                  <a:extLst>
                    <a:ext uri="{9D8B030D-6E8A-4147-A177-3AD203B41FA5}">
                      <a16:colId xmlns:a16="http://schemas.microsoft.com/office/drawing/2014/main" val="2054735247"/>
                    </a:ext>
                  </a:extLst>
                </a:gridCol>
                <a:gridCol w="1607090">
                  <a:extLst>
                    <a:ext uri="{9D8B030D-6E8A-4147-A177-3AD203B41FA5}">
                      <a16:colId xmlns:a16="http://schemas.microsoft.com/office/drawing/2014/main" val="2709973171"/>
                    </a:ext>
                  </a:extLst>
                </a:gridCol>
                <a:gridCol w="1607090">
                  <a:extLst>
                    <a:ext uri="{9D8B030D-6E8A-4147-A177-3AD203B41FA5}">
                      <a16:colId xmlns:a16="http://schemas.microsoft.com/office/drawing/2014/main" val="1251853624"/>
                    </a:ext>
                  </a:extLst>
                </a:gridCol>
                <a:gridCol w="1607090">
                  <a:extLst>
                    <a:ext uri="{9D8B030D-6E8A-4147-A177-3AD203B41FA5}">
                      <a16:colId xmlns:a16="http://schemas.microsoft.com/office/drawing/2014/main" val="3963689365"/>
                    </a:ext>
                  </a:extLst>
                </a:gridCol>
                <a:gridCol w="1607090">
                  <a:extLst>
                    <a:ext uri="{9D8B030D-6E8A-4147-A177-3AD203B41FA5}">
                      <a16:colId xmlns:a16="http://schemas.microsoft.com/office/drawing/2014/main" val="3380083620"/>
                    </a:ext>
                  </a:extLst>
                </a:gridCol>
                <a:gridCol w="1607090">
                  <a:extLst>
                    <a:ext uri="{9D8B030D-6E8A-4147-A177-3AD203B41FA5}">
                      <a16:colId xmlns:a16="http://schemas.microsoft.com/office/drawing/2014/main" val="1294326035"/>
                    </a:ext>
                  </a:extLst>
                </a:gridCol>
                <a:gridCol w="1607090">
                  <a:extLst>
                    <a:ext uri="{9D8B030D-6E8A-4147-A177-3AD203B41FA5}">
                      <a16:colId xmlns:a16="http://schemas.microsoft.com/office/drawing/2014/main" val="4085682508"/>
                    </a:ext>
                  </a:extLst>
                </a:gridCol>
              </a:tblGrid>
              <a:tr h="189155">
                <a:tc>
                  <a:txBody>
                    <a:bodyPr/>
                    <a:lstStyle/>
                    <a:p>
                      <a:r>
                        <a:rPr lang="fr-FR" sz="1200" b="1"/>
                        <a:t>1. Inspiration : Créer l’envie</a:t>
                      </a:r>
                      <a:endParaRPr lang="fr-FR" sz="1200"/>
                    </a:p>
                  </a:txBody>
                  <a:tcPr/>
                </a:tc>
                <a:tc>
                  <a:txBody>
                    <a:bodyPr/>
                    <a:lstStyle/>
                    <a:p>
                      <a:r>
                        <a:rPr lang="fr-FR" sz="1200"/>
                        <a:t>2. Collecte : Faire que les formés se sentent concernés</a:t>
                      </a:r>
                    </a:p>
                  </a:txBody>
                  <a:tcPr/>
                </a:tc>
                <a:tc>
                  <a:txBody>
                    <a:bodyPr/>
                    <a:lstStyle/>
                    <a:p>
                      <a:r>
                        <a:rPr lang="fr-FR" sz="1200"/>
                        <a:t>3. Initiation : faire pratiquer l’outil IVCD </a:t>
                      </a:r>
                      <a:r>
                        <a:rPr lang="fr-FR" sz="1200" err="1"/>
                        <a:t>map</a:t>
                      </a:r>
                      <a:endParaRPr lang="fr-FR" sz="1200"/>
                    </a:p>
                  </a:txBody>
                  <a:tcPr/>
                </a:tc>
                <a:tc>
                  <a:txBody>
                    <a:bodyPr/>
                    <a:lstStyle/>
                    <a:p>
                      <a:r>
                        <a:rPr lang="fr-FR" sz="1200" b="1"/>
                        <a:t>4. Choc de la réalité : Aider à l’application</a:t>
                      </a:r>
                      <a:endParaRPr lang="fr-FR" sz="1200"/>
                    </a:p>
                  </a:txBody>
                  <a:tcPr/>
                </a:tc>
                <a:tc>
                  <a:txBody>
                    <a:bodyPr/>
                    <a:lstStyle/>
                    <a:p>
                      <a:r>
                        <a:rPr lang="fr-FR" sz="1200"/>
                        <a:t>5. Confirmation des réussites : Capitaliser</a:t>
                      </a:r>
                    </a:p>
                  </a:txBody>
                  <a:tcPr/>
                </a:tc>
                <a:tc>
                  <a:txBody>
                    <a:bodyPr/>
                    <a:lstStyle/>
                    <a:p>
                      <a:r>
                        <a:rPr lang="fr-FR" sz="1200"/>
                        <a:t>6. Exposition : Etendre un usage</a:t>
                      </a:r>
                    </a:p>
                  </a:txBody>
                  <a:tcPr/>
                </a:tc>
                <a:tc>
                  <a:txBody>
                    <a:bodyPr/>
                    <a:lstStyle/>
                    <a:p>
                      <a:r>
                        <a:rPr lang="fr-FR" sz="1200"/>
                        <a:t>7. Officialisation : Systématiser une amélioration</a:t>
                      </a:r>
                    </a:p>
                  </a:txBody>
                  <a:tcPr/>
                </a:tc>
                <a:extLst>
                  <a:ext uri="{0D108BD9-81ED-4DB2-BD59-A6C34878D82A}">
                    <a16:rowId xmlns:a16="http://schemas.microsoft.com/office/drawing/2014/main" val="1393921739"/>
                  </a:ext>
                </a:extLst>
              </a:tr>
              <a:tr h="24253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le concept « Agir seul vs Se mettre d’accord avant » et les problématiques liées, sans parler de l’IVCD </a:t>
                      </a:r>
                      <a:r>
                        <a:rPr lang="fr-FR" sz="1200" err="1"/>
                        <a:t>Map</a:t>
                      </a:r>
                      <a:r>
                        <a:rPr lang="fr-FR" sz="1200"/>
                        <a:t>. (Niveau de détail à choisir librement)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l’utilité de se mettre d’accord sur ce sujet (avec l’IVCD </a:t>
                      </a:r>
                      <a:r>
                        <a:rPr lang="fr-FR" sz="1200" err="1"/>
                        <a:t>map</a:t>
                      </a:r>
                      <a:r>
                        <a:rPr lang="fr-FR" sz="1200"/>
                        <a:t>) : les gains en autonomie et en alignement. Présenter des cas réels si possible.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Poser des questions aux participants sur ce qu’ils ont déjà observé, vécu, ou qu’ils vivent comme situations similaires à ce qui est présenté dans la phase Inspiration.</a:t>
                      </a:r>
                    </a:p>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l’outil IVCD </a:t>
                      </a:r>
                      <a:r>
                        <a:rPr lang="fr-FR" sz="1200" err="1"/>
                        <a:t>Map</a:t>
                      </a:r>
                      <a:r>
                        <a:rPr lang="fr-FR" sz="1200"/>
                        <a:t>, et le faire appliquer sur différents exemples</a:t>
                      </a:r>
                    </a:p>
                    <a:p>
                      <a:endParaRPr lang="fr-FR" sz="1200"/>
                    </a:p>
                  </a:txBody>
                  <a:tcPr/>
                </a:tc>
                <a:tc>
                  <a:txBody>
                    <a:bodyPr/>
                    <a:lstStyle/>
                    <a:p>
                      <a:r>
                        <a:rPr lang="fr-FR" sz="1200"/>
                        <a:t>Faire appliquer l’IVCD </a:t>
                      </a:r>
                      <a:r>
                        <a:rPr lang="fr-FR" sz="1200" err="1"/>
                        <a:t>Map</a:t>
                      </a:r>
                      <a:r>
                        <a:rPr lang="fr-FR" sz="1200"/>
                        <a:t> dans son propre contexte avant de revenir en groupe faire le point sur l’apprentissage.</a:t>
                      </a:r>
                    </a:p>
                    <a:p>
                      <a:endParaRPr lang="fr-FR" sz="1200"/>
                    </a:p>
                    <a:p>
                      <a:r>
                        <a:rPr lang="fr-FR" sz="1200"/>
                        <a:t>Discuter ensemble de cas d’usage, de limites d’application de l’IVCD </a:t>
                      </a:r>
                      <a:r>
                        <a:rPr lang="fr-FR" sz="1200" err="1"/>
                        <a:t>map</a:t>
                      </a:r>
                      <a:endParaRPr lang="fr-FR" sz="1200"/>
                    </a:p>
                    <a:p>
                      <a:endParaRPr lang="fr-FR" sz="1200"/>
                    </a:p>
                    <a:p>
                      <a:r>
                        <a:rPr lang="fr-FR" sz="1200"/>
                        <a:t>Partager sur ce qui ne fonctionne pas, des blocages, et discuter de comment les contourner.</a:t>
                      </a:r>
                    </a:p>
                  </a:txBody>
                  <a:tcPr/>
                </a:tc>
                <a:tc>
                  <a:txBody>
                    <a:bodyPr/>
                    <a:lstStyle/>
                    <a:p>
                      <a:r>
                        <a:rPr lang="fr-FR" sz="1200"/>
                        <a:t>Discuter ensemble des retours d’expériences, des pratiques et adaptations qui ont fonctionné </a:t>
                      </a:r>
                    </a:p>
                    <a:p>
                      <a:endParaRPr lang="fr-FR" sz="1200"/>
                    </a:p>
                    <a:p>
                      <a:r>
                        <a:rPr lang="fr-FR" sz="1200"/>
                        <a:t>Réfléchir sur comment capitaliser ces pratiques</a:t>
                      </a:r>
                    </a:p>
                  </a:txBody>
                  <a:tcPr/>
                </a:tc>
                <a:tc>
                  <a:txBody>
                    <a:bodyPr/>
                    <a:lstStyle/>
                    <a:p>
                      <a:r>
                        <a:rPr lang="fr-FR" sz="1200"/>
                        <a:t>Discuter ensemble de qui d’autre (de réel et </a:t>
                      </a:r>
                      <a:r>
                        <a:rPr lang="fr-FR" sz="1200" err="1"/>
                        <a:t>contactable</a:t>
                      </a:r>
                      <a:r>
                        <a:rPr lang="fr-FR" sz="1200"/>
                        <a:t>) pourrait bénéficier de l’IVCD </a:t>
                      </a:r>
                      <a:r>
                        <a:rPr lang="fr-FR" sz="1200" err="1"/>
                        <a:t>map</a:t>
                      </a:r>
                      <a:r>
                        <a:rPr lang="fr-FR" sz="1200"/>
                        <a:t> en tant que processus</a:t>
                      </a:r>
                    </a:p>
                  </a:txBody>
                  <a:tcPr/>
                </a:tc>
                <a:tc>
                  <a:txBody>
                    <a:bodyPr/>
                    <a:lstStyle/>
                    <a:p>
                      <a:r>
                        <a:rPr lang="fr-FR" sz="1200"/>
                        <a:t>Identifier les cadres où il faudrait systématiquement faire une IVCD </a:t>
                      </a:r>
                      <a:r>
                        <a:rPr lang="fr-FR" sz="1200" err="1"/>
                        <a:t>Map</a:t>
                      </a:r>
                      <a:endParaRPr lang="fr-FR" sz="1200"/>
                    </a:p>
                  </a:txBody>
                  <a:tcPr/>
                </a:tc>
                <a:extLst>
                  <a:ext uri="{0D108BD9-81ED-4DB2-BD59-A6C34878D82A}">
                    <a16:rowId xmlns:a16="http://schemas.microsoft.com/office/drawing/2014/main" val="4147954361"/>
                  </a:ext>
                </a:extLst>
              </a:tr>
            </a:tbl>
          </a:graphicData>
        </a:graphic>
      </p:graphicFrame>
    </p:spTree>
    <p:extLst>
      <p:ext uri="{BB962C8B-B14F-4D97-AF65-F5344CB8AC3E}">
        <p14:creationId xmlns:p14="http://schemas.microsoft.com/office/powerpoint/2010/main" val="3063254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5DD3D-00D8-736E-9561-EB8909441FB1}"/>
              </a:ext>
            </a:extLst>
          </p:cNvPr>
          <p:cNvSpPr>
            <a:spLocks noGrp="1"/>
          </p:cNvSpPr>
          <p:nvPr>
            <p:ph type="title"/>
          </p:nvPr>
        </p:nvSpPr>
        <p:spPr/>
        <p:txBody>
          <a:bodyPr/>
          <a:lstStyle/>
          <a:p>
            <a:r>
              <a:rPr lang="fr-FR"/>
              <a:t>1. Inspiration : Format recommandés</a:t>
            </a:r>
          </a:p>
        </p:txBody>
      </p:sp>
      <p:sp>
        <p:nvSpPr>
          <p:cNvPr id="4" name="Espace réservé du contenu 2">
            <a:extLst>
              <a:ext uri="{FF2B5EF4-FFF2-40B4-BE49-F238E27FC236}">
                <a16:creationId xmlns:a16="http://schemas.microsoft.com/office/drawing/2014/main" id="{66373FD8-83AD-31CE-83AE-5776E88ED600}"/>
              </a:ext>
            </a:extLst>
          </p:cNvPr>
          <p:cNvSpPr>
            <a:spLocks noGrp="1"/>
          </p:cNvSpPr>
          <p:nvPr>
            <p:ph idx="1"/>
          </p:nvPr>
        </p:nvSpPr>
        <p:spPr>
          <a:xfrm>
            <a:off x="1039536" y="1854723"/>
            <a:ext cx="2550952" cy="4147336"/>
          </a:xfrm>
        </p:spPr>
        <p:txBody>
          <a:bodyPr>
            <a:normAutofit/>
          </a:bodyPr>
          <a:lstStyle/>
          <a:p>
            <a:pPr marL="0" indent="0">
              <a:buNone/>
            </a:pPr>
            <a:r>
              <a:rPr lang="fr-FR" sz="1400"/>
              <a:t>Voici les formats recommandés pour la phase d’inspiration (vous pouvez choisir de tous les faire ou d’en prendre une seule partie)</a:t>
            </a:r>
          </a:p>
          <a:p>
            <a:pPr marL="0" indent="0">
              <a:buNone/>
            </a:pPr>
            <a:endParaRPr lang="fr-FR" sz="1400"/>
          </a:p>
          <a:p>
            <a:pPr>
              <a:buFontTx/>
              <a:buChar char="-"/>
            </a:pPr>
            <a:r>
              <a:rPr lang="fr-FR" sz="1400"/>
              <a:t>Présentation courte (20 minutes) des slides de la section dédiée dans ce document. En direct ou en vidéo (asynchrone).</a:t>
            </a:r>
          </a:p>
          <a:p>
            <a:pPr>
              <a:buFontTx/>
              <a:buChar char="-"/>
            </a:pPr>
            <a:endParaRPr lang="fr-FR" sz="1400"/>
          </a:p>
          <a:p>
            <a:pPr>
              <a:buFontTx/>
              <a:buChar char="-"/>
            </a:pPr>
            <a:r>
              <a:rPr lang="fr-FR" sz="1400"/>
              <a:t>Présentation de cas réels (en direct ou en vidéo).</a:t>
            </a:r>
          </a:p>
        </p:txBody>
      </p:sp>
      <p:pic>
        <p:nvPicPr>
          <p:cNvPr id="6" name="Graphique 5" descr="Présentation avec multimédia avec un remplissage uni">
            <a:extLst>
              <a:ext uri="{FF2B5EF4-FFF2-40B4-BE49-F238E27FC236}">
                <a16:creationId xmlns:a16="http://schemas.microsoft.com/office/drawing/2014/main" id="{A0373AB3-26F0-F3F9-C796-1939A204E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8569" y="1730635"/>
            <a:ext cx="2062294" cy="2062294"/>
          </a:xfrm>
          <a:prstGeom prst="rect">
            <a:avLst/>
          </a:prstGeom>
        </p:spPr>
      </p:pic>
      <p:pic>
        <p:nvPicPr>
          <p:cNvPr id="8" name="Graphique 7" descr="Enseignant avec un remplissage uni">
            <a:extLst>
              <a:ext uri="{FF2B5EF4-FFF2-40B4-BE49-F238E27FC236}">
                <a16:creationId xmlns:a16="http://schemas.microsoft.com/office/drawing/2014/main" id="{56BE8BEF-AA44-57E3-D52E-7993244CA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8961" y="1593908"/>
            <a:ext cx="2221042" cy="2221042"/>
          </a:xfrm>
          <a:prstGeom prst="rect">
            <a:avLst/>
          </a:prstGeom>
        </p:spPr>
      </p:pic>
      <p:pic>
        <p:nvPicPr>
          <p:cNvPr id="10" name="Graphique 9" descr="Vlog avec un remplissage uni">
            <a:extLst>
              <a:ext uri="{FF2B5EF4-FFF2-40B4-BE49-F238E27FC236}">
                <a16:creationId xmlns:a16="http://schemas.microsoft.com/office/drawing/2014/main" id="{A5C090CE-2170-E44C-B0FC-A1B8D4741A1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2440" y="1843583"/>
            <a:ext cx="1455490" cy="1455490"/>
          </a:xfrm>
          <a:prstGeom prst="rect">
            <a:avLst/>
          </a:prstGeom>
        </p:spPr>
      </p:pic>
      <p:sp>
        <p:nvSpPr>
          <p:cNvPr id="11" name="ZoneTexte 10">
            <a:extLst>
              <a:ext uri="{FF2B5EF4-FFF2-40B4-BE49-F238E27FC236}">
                <a16:creationId xmlns:a16="http://schemas.microsoft.com/office/drawing/2014/main" id="{ED1A53C1-6B18-AFA0-5626-D7DE2C6810B8}"/>
              </a:ext>
            </a:extLst>
          </p:cNvPr>
          <p:cNvSpPr txBox="1"/>
          <p:nvPr/>
        </p:nvSpPr>
        <p:spPr>
          <a:xfrm>
            <a:off x="5151597" y="3605225"/>
            <a:ext cx="1577130" cy="646331"/>
          </a:xfrm>
          <a:prstGeom prst="rect">
            <a:avLst/>
          </a:prstGeom>
          <a:noFill/>
        </p:spPr>
        <p:txBody>
          <a:bodyPr wrap="square" rtlCol="0">
            <a:spAutoFit/>
          </a:bodyPr>
          <a:lstStyle/>
          <a:p>
            <a:pPr algn="ctr"/>
            <a:r>
              <a:rPr lang="fr-FR"/>
              <a:t>Présentations en direct</a:t>
            </a:r>
          </a:p>
        </p:txBody>
      </p:sp>
      <p:pic>
        <p:nvPicPr>
          <p:cNvPr id="13" name="Graphique 12" descr="Réunion en ligne avec un remplissage uni">
            <a:extLst>
              <a:ext uri="{FF2B5EF4-FFF2-40B4-BE49-F238E27FC236}">
                <a16:creationId xmlns:a16="http://schemas.microsoft.com/office/drawing/2014/main" id="{3E491CCB-7565-510D-5847-C9EDECD55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0322" y="4075331"/>
            <a:ext cx="1919681" cy="1919681"/>
          </a:xfrm>
          <a:prstGeom prst="rect">
            <a:avLst/>
          </a:prstGeom>
        </p:spPr>
      </p:pic>
      <p:sp>
        <p:nvSpPr>
          <p:cNvPr id="16" name="ZoneTexte 15">
            <a:extLst>
              <a:ext uri="{FF2B5EF4-FFF2-40B4-BE49-F238E27FC236}">
                <a16:creationId xmlns:a16="http://schemas.microsoft.com/office/drawing/2014/main" id="{EAE6262C-EDD2-E49C-2719-3A080AC76513}"/>
              </a:ext>
            </a:extLst>
          </p:cNvPr>
          <p:cNvSpPr txBox="1"/>
          <p:nvPr/>
        </p:nvSpPr>
        <p:spPr>
          <a:xfrm>
            <a:off x="7672547" y="3605225"/>
            <a:ext cx="1577130" cy="923330"/>
          </a:xfrm>
          <a:prstGeom prst="rect">
            <a:avLst/>
          </a:prstGeom>
          <a:noFill/>
        </p:spPr>
        <p:txBody>
          <a:bodyPr wrap="square" rtlCol="0">
            <a:spAutoFit/>
          </a:bodyPr>
          <a:lstStyle/>
          <a:p>
            <a:pPr algn="ctr"/>
            <a:r>
              <a:rPr lang="fr-FR"/>
              <a:t>Vidéos puis debriefing en direct</a:t>
            </a:r>
          </a:p>
        </p:txBody>
      </p:sp>
      <p:sp>
        <p:nvSpPr>
          <p:cNvPr id="17" name="ZoneTexte 16">
            <a:extLst>
              <a:ext uri="{FF2B5EF4-FFF2-40B4-BE49-F238E27FC236}">
                <a16:creationId xmlns:a16="http://schemas.microsoft.com/office/drawing/2014/main" id="{A5F96757-59B8-AF4B-6746-E381C80D958C}"/>
              </a:ext>
            </a:extLst>
          </p:cNvPr>
          <p:cNvSpPr txBox="1"/>
          <p:nvPr/>
        </p:nvSpPr>
        <p:spPr>
          <a:xfrm>
            <a:off x="10271620" y="3558928"/>
            <a:ext cx="1577130" cy="1477328"/>
          </a:xfrm>
          <a:prstGeom prst="rect">
            <a:avLst/>
          </a:prstGeom>
          <a:noFill/>
        </p:spPr>
        <p:txBody>
          <a:bodyPr wrap="square" rtlCol="0">
            <a:spAutoFit/>
          </a:bodyPr>
          <a:lstStyle/>
          <a:p>
            <a:pPr algn="ctr"/>
            <a:r>
              <a:rPr lang="fr-FR"/>
              <a:t>Vidéos en asynchrone (envoyées par message ou publiés)</a:t>
            </a:r>
          </a:p>
        </p:txBody>
      </p:sp>
    </p:spTree>
    <p:extLst>
      <p:ext uri="{BB962C8B-B14F-4D97-AF65-F5344CB8AC3E}">
        <p14:creationId xmlns:p14="http://schemas.microsoft.com/office/powerpoint/2010/main" val="801612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Phase Collecte : contenu recommandés</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506136" y="1690688"/>
            <a:ext cx="2706847" cy="4147336"/>
          </a:xfrm>
        </p:spPr>
        <p:txBody>
          <a:bodyPr>
            <a:normAutofit/>
          </a:bodyPr>
          <a:lstStyle/>
          <a:p>
            <a:pPr marL="0" indent="0">
              <a:buNone/>
            </a:pPr>
            <a:r>
              <a:rPr lang="fr-FR" sz="1000"/>
              <a:t>Selon le </a:t>
            </a:r>
            <a:r>
              <a:rPr lang="fr-FR" sz="1000" b="1"/>
              <a:t>niveau de sécurité psychologique </a:t>
            </a:r>
            <a:r>
              <a:rPr lang="fr-FR" sz="1000"/>
              <a:t>entre participants, autrement dit leur facilité à échanger entre eux, on peut leur poser différentes questions pendant la phase de « Collecte ».</a:t>
            </a:r>
          </a:p>
          <a:p>
            <a:pPr marL="0" indent="0">
              <a:buNone/>
            </a:pPr>
            <a:r>
              <a:rPr lang="fr-FR" sz="1000"/>
              <a:t>En effet, </a:t>
            </a:r>
            <a:r>
              <a:rPr lang="fr-FR" sz="1000" b="1">
                <a:solidFill>
                  <a:srgbClr val="FF0000"/>
                </a:solidFill>
              </a:rPr>
              <a:t>il peut être difficile pour certaines personnes d’exposer devant d’autres (inconnues ou connues) certaines situations problématiques, difficultés, ou plaintes</a:t>
            </a:r>
            <a:r>
              <a:rPr lang="fr-FR" sz="1000"/>
              <a:t>. </a:t>
            </a:r>
          </a:p>
          <a:p>
            <a:pPr marL="0" indent="0">
              <a:buNone/>
            </a:pPr>
            <a:r>
              <a:rPr lang="fr-FR" sz="1000"/>
              <a:t>Pourtant, c’est souvent la capacité à faire le lien avec la réalité du terrain qui rend utile un atelier de travail ou une formation.</a:t>
            </a:r>
          </a:p>
          <a:p>
            <a:pPr marL="0" indent="0">
              <a:buNone/>
            </a:pPr>
            <a:endParaRPr lang="fr-FR" sz="1000"/>
          </a:p>
          <a:p>
            <a:pPr marL="0" indent="0">
              <a:buNone/>
            </a:pPr>
            <a:r>
              <a:rPr lang="fr-FR" sz="1000"/>
              <a:t>Cette page propose donc différentes questions à poser selon le niveau de confiance.</a:t>
            </a:r>
          </a:p>
          <a:p>
            <a:pPr marL="0" indent="0">
              <a:buNone/>
            </a:pPr>
            <a:endParaRPr lang="fr-FR" sz="1000"/>
          </a:p>
          <a:p>
            <a:pPr marL="0" indent="0">
              <a:buNone/>
            </a:pPr>
            <a:r>
              <a:rPr lang="fr-FR" sz="1000"/>
              <a:t>Plus le niveau de confiance est haut, plus on peut travailler le lien avec le sujet</a:t>
            </a:r>
          </a:p>
          <a:p>
            <a:pPr marL="0" indent="0">
              <a:buNone/>
            </a:pPr>
            <a:endParaRPr lang="fr-FR" sz="1000"/>
          </a:p>
          <a:p>
            <a:pPr marL="0" indent="0">
              <a:buNone/>
            </a:pPr>
            <a:r>
              <a:rPr lang="fr-FR" sz="1000"/>
              <a:t>Plus il est bas, plus on protège les participants et leur confidentialité, le temps que le partage fasse monter la confiance.</a:t>
            </a:r>
          </a:p>
        </p:txBody>
      </p:sp>
      <p:graphicFrame>
        <p:nvGraphicFramePr>
          <p:cNvPr id="4" name="Tableau 4">
            <a:extLst>
              <a:ext uri="{FF2B5EF4-FFF2-40B4-BE49-F238E27FC236}">
                <a16:creationId xmlns:a16="http://schemas.microsoft.com/office/drawing/2014/main" id="{E24E296B-BBF6-5781-9467-7D1388A7A031}"/>
              </a:ext>
            </a:extLst>
          </p:cNvPr>
          <p:cNvGraphicFramePr>
            <a:graphicFrameLocks noGrp="1"/>
          </p:cNvGraphicFramePr>
          <p:nvPr>
            <p:extLst>
              <p:ext uri="{D42A27DB-BD31-4B8C-83A1-F6EECF244321}">
                <p14:modId xmlns:p14="http://schemas.microsoft.com/office/powerpoint/2010/main" val="4241215698"/>
              </p:ext>
            </p:extLst>
          </p:nvPr>
        </p:nvGraphicFramePr>
        <p:xfrm>
          <a:off x="3397540" y="1303041"/>
          <a:ext cx="8288324" cy="5389246"/>
        </p:xfrm>
        <a:graphic>
          <a:graphicData uri="http://schemas.openxmlformats.org/drawingml/2006/table">
            <a:tbl>
              <a:tblPr firstRow="1" firstCol="1" bandRow="1">
                <a:tableStyleId>{5C22544A-7EE6-4342-B048-85BDC9FD1C3A}</a:tableStyleId>
              </a:tblPr>
              <a:tblGrid>
                <a:gridCol w="1333851">
                  <a:extLst>
                    <a:ext uri="{9D8B030D-6E8A-4147-A177-3AD203B41FA5}">
                      <a16:colId xmlns:a16="http://schemas.microsoft.com/office/drawing/2014/main" val="1527017991"/>
                    </a:ext>
                  </a:extLst>
                </a:gridCol>
                <a:gridCol w="3389152">
                  <a:extLst>
                    <a:ext uri="{9D8B030D-6E8A-4147-A177-3AD203B41FA5}">
                      <a16:colId xmlns:a16="http://schemas.microsoft.com/office/drawing/2014/main" val="2303037504"/>
                    </a:ext>
                  </a:extLst>
                </a:gridCol>
                <a:gridCol w="3565321">
                  <a:extLst>
                    <a:ext uri="{9D8B030D-6E8A-4147-A177-3AD203B41FA5}">
                      <a16:colId xmlns:a16="http://schemas.microsoft.com/office/drawing/2014/main" val="3054417180"/>
                    </a:ext>
                  </a:extLst>
                </a:gridCol>
              </a:tblGrid>
              <a:tr h="603886">
                <a:tc>
                  <a:txBody>
                    <a:bodyPr/>
                    <a:lstStyle/>
                    <a:p>
                      <a:r>
                        <a:rPr lang="fr-FR" sz="1200"/>
                        <a:t>Niveau de confiance</a:t>
                      </a:r>
                    </a:p>
                  </a:txBody>
                  <a:tcPr/>
                </a:tc>
                <a:tc>
                  <a:txBody>
                    <a:bodyPr/>
                    <a:lstStyle/>
                    <a:p>
                      <a:r>
                        <a:rPr lang="fr-FR" sz="1200"/>
                        <a:t>Description du niveau de confiance</a:t>
                      </a:r>
                    </a:p>
                  </a:txBody>
                  <a:tcPr/>
                </a:tc>
                <a:tc>
                  <a:txBody>
                    <a:bodyPr/>
                    <a:lstStyle/>
                    <a:p>
                      <a:r>
                        <a:rPr lang="fr-FR" sz="1200"/>
                        <a:t>Exemples de questions à poser, ou d’exercice pour faire le lien entre atelier et expérience terrain </a:t>
                      </a:r>
                    </a:p>
                  </a:txBody>
                  <a:tcPr/>
                </a:tc>
                <a:extLst>
                  <a:ext uri="{0D108BD9-81ED-4DB2-BD59-A6C34878D82A}">
                    <a16:rowId xmlns:a16="http://schemas.microsoft.com/office/drawing/2014/main" val="3776620324"/>
                  </a:ext>
                </a:extLst>
              </a:tr>
              <a:tr h="931956">
                <a:tc>
                  <a:txBody>
                    <a:bodyPr/>
                    <a:lstStyle/>
                    <a:p>
                      <a:r>
                        <a:rPr lang="fr-FR" sz="1000"/>
                        <a:t>Elevé</a:t>
                      </a:r>
                    </a:p>
                    <a:p>
                      <a:endParaRPr lang="fr-FR" sz="1000"/>
                    </a:p>
                    <a:p>
                      <a:r>
                        <a:rPr lang="fr-FR" sz="1000"/>
                        <a:t>« Transparence confiante et assumée»</a:t>
                      </a:r>
                    </a:p>
                  </a:txBody>
                  <a:tcPr>
                    <a:solidFill>
                      <a:srgbClr val="00B050"/>
                    </a:solidFill>
                  </a:tcPr>
                </a:tc>
                <a:tc>
                  <a:txBody>
                    <a:bodyPr/>
                    <a:lstStyle/>
                    <a:p>
                      <a:r>
                        <a:rPr lang="fr-FR" sz="1000"/>
                        <a:t>Les participants ont confiance en l’écoute, la bienveillance et la compétence les uns des autres.</a:t>
                      </a:r>
                    </a:p>
                    <a:p>
                      <a:endParaRPr lang="fr-FR" sz="1000"/>
                    </a:p>
                    <a:p>
                      <a:r>
                        <a:rPr lang="fr-FR" sz="1000"/>
                        <a:t> Ils ont également confiance en eux-mêmes sur le fait de gérer les conséquences de leur partage (pas de crainte de représailles, gestion des erreurs d’interprétation, etc.).</a:t>
                      </a:r>
                    </a:p>
                  </a:txBody>
                  <a:tcPr>
                    <a:solidFill>
                      <a:schemeClr val="accent6">
                        <a:lumMod val="20000"/>
                        <a:lumOff val="80000"/>
                      </a:schemeClr>
                    </a:solidFill>
                  </a:tcPr>
                </a:tc>
                <a:tc>
                  <a:txBody>
                    <a:bodyPr/>
                    <a:lstStyle/>
                    <a:p>
                      <a:pPr marL="0" indent="0">
                        <a:buFont typeface="Arial" panose="020B0604020202020204" pitchFamily="34" charset="0"/>
                        <a:buNone/>
                      </a:pPr>
                      <a:r>
                        <a:rPr lang="fr-FR" sz="1000" b="1"/>
                        <a:t>Faire parler de situations connues, proches </a:t>
                      </a:r>
                    </a:p>
                    <a:p>
                      <a:pPr marL="171450" indent="-171450">
                        <a:buFont typeface="Arial" panose="020B0604020202020204" pitchFamily="34" charset="0"/>
                        <a:buChar char="•"/>
                      </a:pPr>
                      <a:r>
                        <a:rPr lang="fr-FR" sz="1000"/>
                        <a:t>« Cela vous rappelle-t-il des situations que vous avez vécu ? Récentes ? Dites nous en plus. »</a:t>
                      </a:r>
                    </a:p>
                    <a:p>
                      <a:pPr marL="171450" indent="-171450">
                        <a:buFont typeface="Arial" panose="020B0604020202020204" pitchFamily="34" charset="0"/>
                        <a:buChar char="•"/>
                      </a:pPr>
                      <a:r>
                        <a:rPr lang="fr-FR" sz="1000"/>
                        <a:t>« A quel point (fréquence, intensité) ces situations vous touchent aujourd’hui dans votre travail ? »</a:t>
                      </a:r>
                    </a:p>
                    <a:p>
                      <a:pPr marL="171450" indent="-171450">
                        <a:buFont typeface="Arial" panose="020B0604020202020204" pitchFamily="34" charset="0"/>
                        <a:buChar char="•"/>
                      </a:pPr>
                      <a:r>
                        <a:rPr lang="fr-FR" sz="1000"/>
                        <a:t>« En toute transparence, quelles sont les sources que vous attribuez à ces problèmes ? »</a:t>
                      </a:r>
                    </a:p>
                  </a:txBody>
                  <a:tcPr>
                    <a:solidFill>
                      <a:schemeClr val="accent6">
                        <a:lumMod val="20000"/>
                        <a:lumOff val="80000"/>
                      </a:schemeClr>
                    </a:solidFill>
                  </a:tcPr>
                </a:tc>
                <a:extLst>
                  <a:ext uri="{0D108BD9-81ED-4DB2-BD59-A6C34878D82A}">
                    <a16:rowId xmlns:a16="http://schemas.microsoft.com/office/drawing/2014/main" val="3297197167"/>
                  </a:ext>
                </a:extLst>
              </a:tr>
              <a:tr h="931956">
                <a:tc>
                  <a:txBody>
                    <a:bodyPr/>
                    <a:lstStyle/>
                    <a:p>
                      <a:r>
                        <a:rPr lang="fr-FR" sz="1000">
                          <a:solidFill>
                            <a:schemeClr val="tx1"/>
                          </a:solidFill>
                        </a:rPr>
                        <a:t>Bon</a:t>
                      </a:r>
                    </a:p>
                    <a:p>
                      <a:endParaRPr lang="fr-FR" sz="1000">
                        <a:solidFill>
                          <a:schemeClr val="tx1"/>
                        </a:solidFill>
                      </a:endParaRPr>
                    </a:p>
                    <a:p>
                      <a:r>
                        <a:rPr lang="fr-FR" sz="1000">
                          <a:solidFill>
                            <a:schemeClr val="tx1"/>
                          </a:solidFill>
                        </a:rPr>
                        <a:t>« Bonne transparence si confidentialité »</a:t>
                      </a:r>
                    </a:p>
                  </a:txBody>
                  <a:tcPr>
                    <a:solidFill>
                      <a:schemeClr val="accent4"/>
                    </a:solidFill>
                  </a:tcPr>
                </a:tc>
                <a:tc>
                  <a:txBody>
                    <a:bodyPr/>
                    <a:lstStyle/>
                    <a:p>
                      <a:r>
                        <a:rPr lang="fr-FR" sz="1000"/>
                        <a:t>Les participants ont confiance en les autres, et sont capables de partager entre eux uniquement si on leur garantit la confidentialité totale.</a:t>
                      </a:r>
                    </a:p>
                    <a:p>
                      <a:endParaRPr lang="fr-FR" sz="1000"/>
                    </a:p>
                    <a:p>
                      <a:r>
                        <a:rPr lang="fr-FR" sz="1000"/>
                        <a:t> Ils ne sont pas 100% sûrs de comment leurs propos seraient traités sinon, même si 80% des cas sont ok.</a:t>
                      </a:r>
                    </a:p>
                  </a:txBody>
                  <a:tcPr>
                    <a:solidFill>
                      <a:schemeClr val="accent4">
                        <a:lumMod val="20000"/>
                        <a:lumOff val="80000"/>
                      </a:schemeClr>
                    </a:solidFill>
                  </a:tcPr>
                </a:tc>
                <a:tc>
                  <a:txBody>
                    <a:bodyPr/>
                    <a:lstStyle/>
                    <a:p>
                      <a:pPr marL="0" indent="0">
                        <a:buFont typeface="Arial" panose="020B0604020202020204" pitchFamily="34" charset="0"/>
                        <a:buNone/>
                      </a:pPr>
                      <a:r>
                        <a:rPr lang="fr-FR" sz="1000" b="1"/>
                        <a:t>Faire parler de situations connues mais lointaines ou passées </a:t>
                      </a:r>
                      <a:r>
                        <a:rPr lang="fr-FR" sz="1000"/>
                        <a:t> </a:t>
                      </a:r>
                    </a:p>
                    <a:p>
                      <a:pPr marL="171450" indent="-171450">
                        <a:buFont typeface="Arial" panose="020B0604020202020204" pitchFamily="34" charset="0"/>
                        <a:buChar char="•"/>
                      </a:pPr>
                      <a:r>
                        <a:rPr lang="fr-FR" sz="1000"/>
                        <a:t>« Cela vous rappelle-t-il des situations que vous avez vécu il y a longtemps ou que vous connaissez dans d’autres contextes que le votre ? » </a:t>
                      </a:r>
                    </a:p>
                  </a:txBody>
                  <a:tcPr>
                    <a:solidFill>
                      <a:schemeClr val="accent4">
                        <a:lumMod val="20000"/>
                        <a:lumOff val="80000"/>
                      </a:schemeClr>
                    </a:solidFill>
                  </a:tcPr>
                </a:tc>
                <a:extLst>
                  <a:ext uri="{0D108BD9-81ED-4DB2-BD59-A6C34878D82A}">
                    <a16:rowId xmlns:a16="http://schemas.microsoft.com/office/drawing/2014/main" val="3314196028"/>
                  </a:ext>
                </a:extLst>
              </a:tr>
              <a:tr h="931956">
                <a:tc>
                  <a:txBody>
                    <a:bodyPr/>
                    <a:lstStyle/>
                    <a:p>
                      <a:r>
                        <a:rPr lang="fr-FR" sz="1000">
                          <a:solidFill>
                            <a:schemeClr val="tx1"/>
                          </a:solidFill>
                        </a:rPr>
                        <a:t>Faible</a:t>
                      </a:r>
                    </a:p>
                    <a:p>
                      <a:endParaRPr lang="fr-FR" sz="1000">
                        <a:solidFill>
                          <a:schemeClr val="tx1"/>
                        </a:solidFill>
                      </a:endParaRPr>
                    </a:p>
                    <a:p>
                      <a:r>
                        <a:rPr lang="fr-FR" sz="1000">
                          <a:solidFill>
                            <a:schemeClr val="tx1"/>
                          </a:solidFill>
                        </a:rPr>
                        <a:t>« Petite confiance sur le moment, mais crainte d’une quelconque fuite non maîtrisée»</a:t>
                      </a:r>
                    </a:p>
                  </a:txBody>
                  <a:tcPr>
                    <a:solidFill>
                      <a:schemeClr val="accent2"/>
                    </a:solidFill>
                  </a:tcPr>
                </a:tc>
                <a:tc>
                  <a:txBody>
                    <a:bodyPr/>
                    <a:lstStyle/>
                    <a:p>
                      <a:r>
                        <a:rPr lang="fr-FR" sz="1000">
                          <a:solidFill>
                            <a:schemeClr val="tx1"/>
                          </a:solidFill>
                        </a:rPr>
                        <a:t>Les participants ne se méfient pas particulièrement beaucoup les uns des autres. </a:t>
                      </a:r>
                    </a:p>
                    <a:p>
                      <a:endParaRPr lang="fr-FR" sz="1000">
                        <a:solidFill>
                          <a:schemeClr val="tx1"/>
                        </a:solidFill>
                      </a:endParaRPr>
                    </a:p>
                    <a:p>
                      <a:r>
                        <a:rPr lang="fr-FR" sz="1000">
                          <a:solidFill>
                            <a:schemeClr val="tx1"/>
                          </a:solidFill>
                        </a:rPr>
                        <a:t>Ils ne se sentent pas de beaucoup partager à propos de leurs cas car ils craignent une mauvaise utilisation de l’information (par exemple, que leur « critique » de certaines situations soit mal interprétée et se propage ailleurs). Ils ne partagent que ce qui fait facilement consensus et qui ne risque l’image de personne.</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a:solidFill>
                            <a:schemeClr val="tx1"/>
                          </a:solidFill>
                        </a:rPr>
                        <a:t>Faire parler de situations inexistantes et possibles </a:t>
                      </a:r>
                      <a:r>
                        <a:rPr lang="fr-FR" sz="1000">
                          <a:solidFill>
                            <a:schemeClr val="tx1"/>
                          </a:solidFill>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a:solidFill>
                            <a:schemeClr val="tx1"/>
                          </a:solidFill>
                        </a:rPr>
                        <a:t>« Pensez vous que ce problème puisse toucher des professionnels ? Dans quels types de situation par exemple»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a:solidFill>
                            <a:schemeClr val="tx1"/>
                          </a:solidFill>
                        </a:rPr>
                        <a:t>« Quelles sont les dérives possibles si on oublie ces problèmes ou qu’on les laisse perdurer ? »</a:t>
                      </a:r>
                    </a:p>
                  </a:txBody>
                  <a:tcPr>
                    <a:solidFill>
                      <a:schemeClr val="accent2">
                        <a:lumMod val="20000"/>
                        <a:lumOff val="80000"/>
                      </a:schemeClr>
                    </a:solidFill>
                  </a:tcPr>
                </a:tc>
                <a:extLst>
                  <a:ext uri="{0D108BD9-81ED-4DB2-BD59-A6C34878D82A}">
                    <a16:rowId xmlns:a16="http://schemas.microsoft.com/office/drawing/2014/main" val="1791930333"/>
                  </a:ext>
                </a:extLst>
              </a:tr>
              <a:tr h="931956">
                <a:tc>
                  <a:txBody>
                    <a:bodyPr/>
                    <a:lstStyle/>
                    <a:p>
                      <a:r>
                        <a:rPr lang="fr-FR" sz="1000">
                          <a:solidFill>
                            <a:schemeClr val="tx1"/>
                          </a:solidFill>
                        </a:rPr>
                        <a:t>Bas</a:t>
                      </a:r>
                    </a:p>
                    <a:p>
                      <a:endParaRPr lang="fr-FR" sz="1000">
                        <a:solidFill>
                          <a:schemeClr val="tx1"/>
                        </a:solidFill>
                      </a:endParaRPr>
                    </a:p>
                    <a:p>
                      <a:r>
                        <a:rPr lang="fr-FR" sz="1000">
                          <a:solidFill>
                            <a:schemeClr val="tx1"/>
                          </a:solidFill>
                        </a:rPr>
                        <a:t>« Loi du silence ou fausse bienséance timide »</a:t>
                      </a:r>
                    </a:p>
                  </a:txBody>
                  <a:tcPr>
                    <a:solidFill>
                      <a:srgbClr val="FF0000"/>
                    </a:solidFill>
                  </a:tcPr>
                </a:tc>
                <a:tc>
                  <a:txBody>
                    <a:bodyPr/>
                    <a:lstStyle/>
                    <a:p>
                      <a:r>
                        <a:rPr lang="fr-FR" sz="1000"/>
                        <a:t>Les participants sont sur la défensive les uns par rapport aux autres. </a:t>
                      </a:r>
                    </a:p>
                    <a:p>
                      <a:endParaRPr lang="fr-FR" sz="1000"/>
                    </a:p>
                    <a:p>
                      <a:r>
                        <a:rPr lang="fr-FR" sz="1000"/>
                        <a:t>Ils s’auto-censurent lorsqu’il s’agit d’échanger à propos de soi, pour ne pas risquer une réaction directe des autres, des représailles, moqueries, reproches. Le groupe est très silencieux et chacun attend que les autres commencent.</a:t>
                      </a:r>
                    </a:p>
                  </a:txBody>
                  <a:tcPr>
                    <a:solidFill>
                      <a:schemeClr val="accent2">
                        <a:lumMod val="60000"/>
                        <a:lumOff val="40000"/>
                      </a:schemeClr>
                    </a:solidFill>
                  </a:tcPr>
                </a:tc>
                <a:tc>
                  <a:txBody>
                    <a:bodyPr/>
                    <a:lstStyle/>
                    <a:p>
                      <a:r>
                        <a:rPr lang="fr-FR" sz="1000" b="1"/>
                        <a:t>Faire parler autour d’un exemple fictif </a:t>
                      </a:r>
                      <a:r>
                        <a:rPr lang="fr-FR" sz="1000"/>
                        <a:t>(par exemple les exemples fournis) où personne n’a à parler de soi</a:t>
                      </a:r>
                    </a:p>
                    <a:p>
                      <a:pPr marL="171450" indent="-171450">
                        <a:buFont typeface="Arial" panose="020B0604020202020204" pitchFamily="34" charset="0"/>
                        <a:buChar char="•"/>
                      </a:pPr>
                      <a:r>
                        <a:rPr lang="fr-FR" sz="1000"/>
                        <a:t>Voici un exemple de situation avec des sujets à ranger. Que recommanderiez vous dans ce cas là (côté autonomie ou côté consensus) et pourquoi ?</a:t>
                      </a:r>
                    </a:p>
                  </a:txBody>
                  <a:tcPr>
                    <a:solidFill>
                      <a:schemeClr val="accent2">
                        <a:lumMod val="60000"/>
                        <a:lumOff val="40000"/>
                      </a:schemeClr>
                    </a:solidFill>
                  </a:tcPr>
                </a:tc>
                <a:extLst>
                  <a:ext uri="{0D108BD9-81ED-4DB2-BD59-A6C34878D82A}">
                    <a16:rowId xmlns:a16="http://schemas.microsoft.com/office/drawing/2014/main" val="1489326426"/>
                  </a:ext>
                </a:extLst>
              </a:tr>
            </a:tbl>
          </a:graphicData>
        </a:graphic>
      </p:graphicFrame>
    </p:spTree>
    <p:extLst>
      <p:ext uri="{BB962C8B-B14F-4D97-AF65-F5344CB8AC3E}">
        <p14:creationId xmlns:p14="http://schemas.microsoft.com/office/powerpoint/2010/main" val="802680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Phase Collecte : Format</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695587" y="1804389"/>
            <a:ext cx="2550952" cy="4147336"/>
          </a:xfrm>
        </p:spPr>
        <p:txBody>
          <a:bodyPr>
            <a:normAutofit/>
          </a:bodyPr>
          <a:lstStyle/>
          <a:p>
            <a:pPr marL="0" indent="0">
              <a:buNone/>
            </a:pPr>
            <a:r>
              <a:rPr lang="fr-FR" sz="1400"/>
              <a:t>Vous pouvez utiliser différents outils pour la phase de collecte</a:t>
            </a:r>
          </a:p>
          <a:p>
            <a:pPr marL="0" indent="0">
              <a:buNone/>
            </a:pPr>
            <a:endParaRPr lang="fr-FR" sz="1400"/>
          </a:p>
          <a:p>
            <a:pPr marL="0" indent="0">
              <a:buNone/>
            </a:pPr>
            <a:r>
              <a:rPr lang="fr-FR" sz="1400"/>
              <a:t>Cette phase de collecte permet aux participants de la formation de faire le lien entre contenu de la formation et leur propre situation.</a:t>
            </a:r>
          </a:p>
          <a:p>
            <a:pPr marL="0" indent="0">
              <a:buNone/>
            </a:pPr>
            <a:endParaRPr lang="fr-FR" sz="1400"/>
          </a:p>
          <a:p>
            <a:pPr marL="0" indent="0">
              <a:buNone/>
            </a:pPr>
            <a:endParaRPr lang="fr-FR" sz="1400"/>
          </a:p>
        </p:txBody>
      </p:sp>
      <p:grpSp>
        <p:nvGrpSpPr>
          <p:cNvPr id="5" name="Groupe 4">
            <a:extLst>
              <a:ext uri="{FF2B5EF4-FFF2-40B4-BE49-F238E27FC236}">
                <a16:creationId xmlns:a16="http://schemas.microsoft.com/office/drawing/2014/main" id="{B1BCA1DB-FE52-DB51-C653-D1DF7EEBE2B1}"/>
              </a:ext>
            </a:extLst>
          </p:cNvPr>
          <p:cNvGrpSpPr/>
          <p:nvPr/>
        </p:nvGrpSpPr>
        <p:grpSpPr>
          <a:xfrm>
            <a:off x="4067273" y="2204096"/>
            <a:ext cx="2409028" cy="1887018"/>
            <a:chOff x="7748306" y="490159"/>
            <a:chExt cx="3442453" cy="2696512"/>
          </a:xfrm>
        </p:grpSpPr>
        <p:pic>
          <p:nvPicPr>
            <p:cNvPr id="6" name="Graphique 5" descr="Enveloppe avec un remplissage uni">
              <a:extLst>
                <a:ext uri="{FF2B5EF4-FFF2-40B4-BE49-F238E27FC236}">
                  <a16:creationId xmlns:a16="http://schemas.microsoft.com/office/drawing/2014/main" id="{8A344D88-6834-CEF8-452F-3577F39F2F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76359" y="490159"/>
              <a:ext cx="914400" cy="914400"/>
            </a:xfrm>
            <a:prstGeom prst="rect">
              <a:avLst/>
            </a:prstGeom>
          </p:spPr>
        </p:pic>
        <p:grpSp>
          <p:nvGrpSpPr>
            <p:cNvPr id="7" name="Groupe 6">
              <a:extLst>
                <a:ext uri="{FF2B5EF4-FFF2-40B4-BE49-F238E27FC236}">
                  <a16:creationId xmlns:a16="http://schemas.microsoft.com/office/drawing/2014/main" id="{DC1BB1B8-C2EC-63B3-53F1-A7806B931BF5}"/>
                </a:ext>
              </a:extLst>
            </p:cNvPr>
            <p:cNvGrpSpPr/>
            <p:nvPr/>
          </p:nvGrpSpPr>
          <p:grpSpPr>
            <a:xfrm>
              <a:off x="7748306" y="1139265"/>
              <a:ext cx="1452457" cy="1899771"/>
              <a:chOff x="7682578" y="1021976"/>
              <a:chExt cx="1658646" cy="2169460"/>
            </a:xfrm>
          </p:grpSpPr>
          <p:pic>
            <p:nvPicPr>
              <p:cNvPr id="13" name="Graphique 12" descr="Papier contour">
                <a:extLst>
                  <a:ext uri="{FF2B5EF4-FFF2-40B4-BE49-F238E27FC236}">
                    <a16:creationId xmlns:a16="http://schemas.microsoft.com/office/drawing/2014/main" id="{5E6AD784-BE0E-5CC3-DDCF-D26C3AA202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172" t="6805" r="16563" b="6523"/>
              <a:stretch/>
            </p:blipFill>
            <p:spPr>
              <a:xfrm>
                <a:off x="7682578" y="1021976"/>
                <a:ext cx="1658646" cy="2169460"/>
              </a:xfrm>
              <a:prstGeom prst="rect">
                <a:avLst/>
              </a:prstGeom>
            </p:spPr>
          </p:pic>
          <p:pic>
            <p:nvPicPr>
              <p:cNvPr id="14" name="Graphique 13" descr="Aide avec un remplissage uni">
                <a:extLst>
                  <a:ext uri="{FF2B5EF4-FFF2-40B4-BE49-F238E27FC236}">
                    <a16:creationId xmlns:a16="http://schemas.microsoft.com/office/drawing/2014/main" id="{DD911FED-71B0-8A8A-2F1E-269936F552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9327" y="1628496"/>
                <a:ext cx="537883" cy="537883"/>
              </a:xfrm>
              <a:prstGeom prst="rect">
                <a:avLst/>
              </a:prstGeom>
            </p:spPr>
          </p:pic>
          <p:pic>
            <p:nvPicPr>
              <p:cNvPr id="15" name="Graphique 14" descr="Aide avec un remplissage uni">
                <a:extLst>
                  <a:ext uri="{FF2B5EF4-FFF2-40B4-BE49-F238E27FC236}">
                    <a16:creationId xmlns:a16="http://schemas.microsoft.com/office/drawing/2014/main" id="{4E8F2DDF-9296-0CBB-880E-44D824FEC1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36722" y="2103170"/>
                <a:ext cx="537883" cy="537883"/>
              </a:xfrm>
              <a:prstGeom prst="rect">
                <a:avLst/>
              </a:prstGeom>
            </p:spPr>
          </p:pic>
          <p:pic>
            <p:nvPicPr>
              <p:cNvPr id="16" name="Graphique 15" descr="Aide avec un remplissage uni">
                <a:extLst>
                  <a:ext uri="{FF2B5EF4-FFF2-40B4-BE49-F238E27FC236}">
                    <a16:creationId xmlns:a16="http://schemas.microsoft.com/office/drawing/2014/main" id="{72E29729-CF0A-1D88-FCF6-F20CAF3BA2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29326" y="2577844"/>
                <a:ext cx="537883" cy="537883"/>
              </a:xfrm>
              <a:prstGeom prst="rect">
                <a:avLst/>
              </a:prstGeom>
            </p:spPr>
          </p:pic>
        </p:grpSp>
        <p:cxnSp>
          <p:nvCxnSpPr>
            <p:cNvPr id="8" name="Connecteur : en angle 7">
              <a:extLst>
                <a:ext uri="{FF2B5EF4-FFF2-40B4-BE49-F238E27FC236}">
                  <a16:creationId xmlns:a16="http://schemas.microsoft.com/office/drawing/2014/main" id="{738CAAD9-AB7E-D898-CBDB-E68E02049632}"/>
                </a:ext>
              </a:extLst>
            </p:cNvPr>
            <p:cNvCxnSpPr>
              <a:stCxn id="13" idx="3"/>
              <a:endCxn id="6" idx="1"/>
            </p:cNvCxnSpPr>
            <p:nvPr/>
          </p:nvCxnSpPr>
          <p:spPr>
            <a:xfrm flipV="1">
              <a:off x="9200763" y="947359"/>
              <a:ext cx="1075596" cy="1141792"/>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Connecteur : en angle 8">
              <a:extLst>
                <a:ext uri="{FF2B5EF4-FFF2-40B4-BE49-F238E27FC236}">
                  <a16:creationId xmlns:a16="http://schemas.microsoft.com/office/drawing/2014/main" id="{0DAA00FD-7930-801E-F180-32DEC4F296F7}"/>
                </a:ext>
              </a:extLst>
            </p:cNvPr>
            <p:cNvCxnSpPr>
              <a:cxnSpLocks/>
              <a:stCxn id="13" idx="3"/>
            </p:cNvCxnSpPr>
            <p:nvPr/>
          </p:nvCxnSpPr>
          <p:spPr>
            <a:xfrm flipV="1">
              <a:off x="9200763" y="1815071"/>
              <a:ext cx="1075596" cy="27408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DE0664F6-2B90-0920-7483-070003B001DD}"/>
                </a:ext>
              </a:extLst>
            </p:cNvPr>
            <p:cNvCxnSpPr>
              <a:cxnSpLocks/>
              <a:stCxn id="13" idx="3"/>
            </p:cNvCxnSpPr>
            <p:nvPr/>
          </p:nvCxnSpPr>
          <p:spPr>
            <a:xfrm>
              <a:off x="9200763" y="2089151"/>
              <a:ext cx="1075596" cy="593631"/>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1" name="Graphique 10" descr="Réseau en ligne avec un remplissage uni">
              <a:extLst>
                <a:ext uri="{FF2B5EF4-FFF2-40B4-BE49-F238E27FC236}">
                  <a16:creationId xmlns:a16="http://schemas.microsoft.com/office/drawing/2014/main" id="{3271F085-5DA7-88FF-9733-BB7576EEDDD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14892" y="2272271"/>
              <a:ext cx="914400" cy="914400"/>
            </a:xfrm>
            <a:prstGeom prst="rect">
              <a:avLst/>
            </a:prstGeom>
          </p:spPr>
        </p:pic>
        <p:pic>
          <p:nvPicPr>
            <p:cNvPr id="12" name="Graphique 11" descr="Réunion en ligne avec un remplissage uni">
              <a:extLst>
                <a:ext uri="{FF2B5EF4-FFF2-40B4-BE49-F238E27FC236}">
                  <a16:creationId xmlns:a16="http://schemas.microsoft.com/office/drawing/2014/main" id="{24B7DF98-39C2-FEA5-3A60-2CEFBF43849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276359" y="1348236"/>
              <a:ext cx="914400" cy="914400"/>
            </a:xfrm>
            <a:prstGeom prst="rect">
              <a:avLst/>
            </a:prstGeom>
          </p:spPr>
        </p:pic>
      </p:grpSp>
      <p:sp>
        <p:nvSpPr>
          <p:cNvPr id="17" name="ZoneTexte 16">
            <a:extLst>
              <a:ext uri="{FF2B5EF4-FFF2-40B4-BE49-F238E27FC236}">
                <a16:creationId xmlns:a16="http://schemas.microsoft.com/office/drawing/2014/main" id="{63B73818-3E26-1BE8-EF5A-7E95E9DDF3A6}"/>
              </a:ext>
            </a:extLst>
          </p:cNvPr>
          <p:cNvSpPr txBox="1"/>
          <p:nvPr/>
        </p:nvSpPr>
        <p:spPr>
          <a:xfrm>
            <a:off x="4322010" y="4309120"/>
            <a:ext cx="1577130" cy="1477328"/>
          </a:xfrm>
          <a:prstGeom prst="rect">
            <a:avLst/>
          </a:prstGeom>
          <a:noFill/>
        </p:spPr>
        <p:txBody>
          <a:bodyPr wrap="square" rtlCol="0">
            <a:spAutoFit/>
          </a:bodyPr>
          <a:lstStyle/>
          <a:p>
            <a:pPr algn="ctr"/>
            <a:r>
              <a:rPr lang="fr-FR"/>
              <a:t>Sous forme de sondage numérique (en direct ou par message)</a:t>
            </a:r>
          </a:p>
        </p:txBody>
      </p:sp>
      <p:grpSp>
        <p:nvGrpSpPr>
          <p:cNvPr id="18" name="Groupe 17">
            <a:extLst>
              <a:ext uri="{FF2B5EF4-FFF2-40B4-BE49-F238E27FC236}">
                <a16:creationId xmlns:a16="http://schemas.microsoft.com/office/drawing/2014/main" id="{90643B98-3E02-EA90-DA5A-C5A6D80C6681}"/>
              </a:ext>
            </a:extLst>
          </p:cNvPr>
          <p:cNvGrpSpPr/>
          <p:nvPr/>
        </p:nvGrpSpPr>
        <p:grpSpPr>
          <a:xfrm>
            <a:off x="7521233" y="2789447"/>
            <a:ext cx="1458903" cy="810761"/>
            <a:chOff x="5262966" y="3441208"/>
            <a:chExt cx="5110014" cy="2839805"/>
          </a:xfrm>
        </p:grpSpPr>
        <p:pic>
          <p:nvPicPr>
            <p:cNvPr id="19" name="Graphique 18" descr="Personne confuse avec un remplissage uni">
              <a:extLst>
                <a:ext uri="{FF2B5EF4-FFF2-40B4-BE49-F238E27FC236}">
                  <a16:creationId xmlns:a16="http://schemas.microsoft.com/office/drawing/2014/main" id="{3FE583EE-73AE-75C8-AA78-0B5AAD6296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6504238" y="4125117"/>
              <a:ext cx="1565232" cy="1093672"/>
            </a:xfrm>
            <a:prstGeom prst="rect">
              <a:avLst/>
            </a:prstGeom>
          </p:spPr>
        </p:pic>
        <p:pic>
          <p:nvPicPr>
            <p:cNvPr id="20" name="Graphique 19" descr="Homme avec un remplissage uni">
              <a:extLst>
                <a:ext uri="{FF2B5EF4-FFF2-40B4-BE49-F238E27FC236}">
                  <a16:creationId xmlns:a16="http://schemas.microsoft.com/office/drawing/2014/main" id="{CF9C5019-4273-E89A-9628-38227510DD4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2505" t="2891" b="40502"/>
            <a:stretch/>
          </p:blipFill>
          <p:spPr>
            <a:xfrm>
              <a:off x="5262966" y="4794268"/>
              <a:ext cx="1597831" cy="1167136"/>
            </a:xfrm>
            <a:prstGeom prst="rect">
              <a:avLst/>
            </a:prstGeom>
          </p:spPr>
        </p:pic>
        <p:pic>
          <p:nvPicPr>
            <p:cNvPr id="21" name="Graphique 20" descr="Homme avec un remplissage uni">
              <a:extLst>
                <a:ext uri="{FF2B5EF4-FFF2-40B4-BE49-F238E27FC236}">
                  <a16:creationId xmlns:a16="http://schemas.microsoft.com/office/drawing/2014/main" id="{E84B1637-9E65-AF4C-54C3-342586D2C9C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 b="40502"/>
            <a:stretch/>
          </p:blipFill>
          <p:spPr>
            <a:xfrm>
              <a:off x="5713008" y="4989115"/>
              <a:ext cx="2061836" cy="1226716"/>
            </a:xfrm>
            <a:prstGeom prst="rect">
              <a:avLst/>
            </a:prstGeom>
          </p:spPr>
        </p:pic>
        <p:pic>
          <p:nvPicPr>
            <p:cNvPr id="22" name="Graphique 21" descr="Homme avec un remplissage uni">
              <a:extLst>
                <a:ext uri="{FF2B5EF4-FFF2-40B4-BE49-F238E27FC236}">
                  <a16:creationId xmlns:a16="http://schemas.microsoft.com/office/drawing/2014/main" id="{DCDA4049-311E-BC92-66BB-73F6C6341E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40502"/>
            <a:stretch/>
          </p:blipFill>
          <p:spPr>
            <a:xfrm>
              <a:off x="7113689" y="5054297"/>
              <a:ext cx="2061836" cy="1226716"/>
            </a:xfrm>
            <a:prstGeom prst="rect">
              <a:avLst/>
            </a:prstGeom>
          </p:spPr>
        </p:pic>
        <p:pic>
          <p:nvPicPr>
            <p:cNvPr id="23" name="Graphique 22" descr="Homme avec un remplissage uni">
              <a:extLst>
                <a:ext uri="{FF2B5EF4-FFF2-40B4-BE49-F238E27FC236}">
                  <a16:creationId xmlns:a16="http://schemas.microsoft.com/office/drawing/2014/main" id="{4A482FF7-E24A-5E1A-A138-A3EA1A348DE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 b="40502"/>
            <a:stretch/>
          </p:blipFill>
          <p:spPr>
            <a:xfrm>
              <a:off x="8311144" y="4781138"/>
              <a:ext cx="2061836" cy="1226716"/>
            </a:xfrm>
            <a:prstGeom prst="rect">
              <a:avLst/>
            </a:prstGeom>
          </p:spPr>
        </p:pic>
        <p:grpSp>
          <p:nvGrpSpPr>
            <p:cNvPr id="40" name="Groupe 39">
              <a:extLst>
                <a:ext uri="{FF2B5EF4-FFF2-40B4-BE49-F238E27FC236}">
                  <a16:creationId xmlns:a16="http://schemas.microsoft.com/office/drawing/2014/main" id="{22327194-E43F-37E1-7C74-7C0CE0D7ED0A}"/>
                </a:ext>
              </a:extLst>
            </p:cNvPr>
            <p:cNvGrpSpPr/>
            <p:nvPr/>
          </p:nvGrpSpPr>
          <p:grpSpPr>
            <a:xfrm>
              <a:off x="5646533" y="3908600"/>
              <a:ext cx="1177655" cy="932400"/>
              <a:chOff x="1733248" y="3784720"/>
              <a:chExt cx="1501399" cy="1188720"/>
            </a:xfrm>
          </p:grpSpPr>
          <p:pic>
            <p:nvPicPr>
              <p:cNvPr id="42" name="Graphique 41" descr="Bulle de discussion contour">
                <a:extLst>
                  <a:ext uri="{FF2B5EF4-FFF2-40B4-BE49-F238E27FC236}">
                    <a16:creationId xmlns:a16="http://schemas.microsoft.com/office/drawing/2014/main" id="{7DD2C76B-DB11-29ED-7BD9-72953B057055}"/>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43" name="Rectangle 42">
                <a:extLst>
                  <a:ext uri="{FF2B5EF4-FFF2-40B4-BE49-F238E27FC236}">
                    <a16:creationId xmlns:a16="http://schemas.microsoft.com/office/drawing/2014/main" id="{38AF3A2C-55C7-A57D-1A35-B5DA357CBC30}"/>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92F1553-74EE-9E15-BB24-F85B7F8BAE0E}"/>
                </a:ext>
              </a:extLst>
            </p:cNvPr>
            <p:cNvGrpSpPr/>
            <p:nvPr/>
          </p:nvGrpSpPr>
          <p:grpSpPr>
            <a:xfrm>
              <a:off x="9150985" y="3973785"/>
              <a:ext cx="1177655" cy="932400"/>
              <a:chOff x="1733248" y="3784720"/>
              <a:chExt cx="1501399" cy="1188720"/>
            </a:xfrm>
          </p:grpSpPr>
          <p:pic>
            <p:nvPicPr>
              <p:cNvPr id="38" name="Graphique 37" descr="Bulle de discussion contour">
                <a:extLst>
                  <a:ext uri="{FF2B5EF4-FFF2-40B4-BE49-F238E27FC236}">
                    <a16:creationId xmlns:a16="http://schemas.microsoft.com/office/drawing/2014/main" id="{BB90EBC6-20DE-6073-797E-6DEDCB1C3CDA}"/>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9" name="Rectangle 38">
                <a:extLst>
                  <a:ext uri="{FF2B5EF4-FFF2-40B4-BE49-F238E27FC236}">
                    <a16:creationId xmlns:a16="http://schemas.microsoft.com/office/drawing/2014/main" id="{46EBE2B1-FC8E-876F-645A-A2EC149A722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8A225F66-E3BE-71B0-C6AB-EA84AFAA8FB1}"/>
                </a:ext>
              </a:extLst>
            </p:cNvPr>
            <p:cNvGrpSpPr/>
            <p:nvPr/>
          </p:nvGrpSpPr>
          <p:grpSpPr>
            <a:xfrm>
              <a:off x="7995548" y="4371002"/>
              <a:ext cx="1177655" cy="932400"/>
              <a:chOff x="1733248" y="3784720"/>
              <a:chExt cx="1501399" cy="1188720"/>
            </a:xfrm>
          </p:grpSpPr>
          <p:pic>
            <p:nvPicPr>
              <p:cNvPr id="34" name="Graphique 33" descr="Bulle de discussion contour">
                <a:extLst>
                  <a:ext uri="{FF2B5EF4-FFF2-40B4-BE49-F238E27FC236}">
                    <a16:creationId xmlns:a16="http://schemas.microsoft.com/office/drawing/2014/main" id="{F31B84D0-EA32-A0F7-18AD-14FB7A3F0273}"/>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5" name="Rectangle 34">
                <a:extLst>
                  <a:ext uri="{FF2B5EF4-FFF2-40B4-BE49-F238E27FC236}">
                    <a16:creationId xmlns:a16="http://schemas.microsoft.com/office/drawing/2014/main" id="{60CC3158-57C2-8AA5-4A9B-7DDF342BD27D}"/>
                  </a:ext>
                </a:extLst>
              </p:cNvPr>
              <p:cNvSpPr/>
              <p:nvPr/>
            </p:nvSpPr>
            <p:spPr>
              <a:xfrm>
                <a:off x="1992203" y="3912698"/>
                <a:ext cx="964659" cy="693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079670C5-B73D-E810-586B-DEF2BDC15E00}"/>
                </a:ext>
              </a:extLst>
            </p:cNvPr>
            <p:cNvGrpSpPr/>
            <p:nvPr/>
          </p:nvGrpSpPr>
          <p:grpSpPr>
            <a:xfrm flipH="1">
              <a:off x="5659211" y="5047355"/>
              <a:ext cx="1111063" cy="932398"/>
              <a:chOff x="1733248" y="3784720"/>
              <a:chExt cx="1501399" cy="1188720"/>
            </a:xfrm>
          </p:grpSpPr>
          <p:pic>
            <p:nvPicPr>
              <p:cNvPr id="30" name="Graphique 29" descr="Bulle de discussion contour">
                <a:extLst>
                  <a:ext uri="{FF2B5EF4-FFF2-40B4-BE49-F238E27FC236}">
                    <a16:creationId xmlns:a16="http://schemas.microsoft.com/office/drawing/2014/main" id="{574FE693-5656-8969-4CEE-121A5EE1476B}"/>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1" name="Rectangle 30">
                <a:extLst>
                  <a:ext uri="{FF2B5EF4-FFF2-40B4-BE49-F238E27FC236}">
                    <a16:creationId xmlns:a16="http://schemas.microsoft.com/office/drawing/2014/main" id="{AD2253C1-00E6-1847-85A6-0D18D2C941DA}"/>
                  </a:ext>
                </a:extLst>
              </p:cNvPr>
              <p:cNvSpPr/>
              <p:nvPr/>
            </p:nvSpPr>
            <p:spPr>
              <a:xfrm>
                <a:off x="2011149" y="3919483"/>
                <a:ext cx="958375" cy="701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9" name="Graphique 28" descr="Bulle de discussion contour">
              <a:extLst>
                <a:ext uri="{FF2B5EF4-FFF2-40B4-BE49-F238E27FC236}">
                  <a16:creationId xmlns:a16="http://schemas.microsoft.com/office/drawing/2014/main" id="{F003FDB5-AB2A-EC4F-02A3-3A74C4ADA2AC}"/>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003" b="12311"/>
            <a:stretch/>
          </p:blipFill>
          <p:spPr>
            <a:xfrm flipH="1">
              <a:off x="6853990" y="3441208"/>
              <a:ext cx="1436183" cy="777844"/>
            </a:xfrm>
            <a:prstGeom prst="rect">
              <a:avLst/>
            </a:prstGeom>
          </p:spPr>
        </p:pic>
      </p:grpSp>
      <p:sp>
        <p:nvSpPr>
          <p:cNvPr id="44" name="ZoneTexte 43">
            <a:extLst>
              <a:ext uri="{FF2B5EF4-FFF2-40B4-BE49-F238E27FC236}">
                <a16:creationId xmlns:a16="http://schemas.microsoft.com/office/drawing/2014/main" id="{1A9E75D9-AADA-FF53-173A-C63B9478750F}"/>
              </a:ext>
            </a:extLst>
          </p:cNvPr>
          <p:cNvSpPr txBox="1"/>
          <p:nvPr/>
        </p:nvSpPr>
        <p:spPr>
          <a:xfrm>
            <a:off x="7387436" y="4371532"/>
            <a:ext cx="1577130" cy="923330"/>
          </a:xfrm>
          <a:prstGeom prst="rect">
            <a:avLst/>
          </a:prstGeom>
          <a:noFill/>
        </p:spPr>
        <p:txBody>
          <a:bodyPr wrap="square" rtlCol="0">
            <a:spAutoFit/>
          </a:bodyPr>
          <a:lstStyle/>
          <a:p>
            <a:pPr algn="ctr"/>
            <a:r>
              <a:rPr lang="fr-FR"/>
              <a:t>Dans une discussion libre</a:t>
            </a:r>
          </a:p>
        </p:txBody>
      </p:sp>
      <p:grpSp>
        <p:nvGrpSpPr>
          <p:cNvPr id="45" name="Groupe 44">
            <a:extLst>
              <a:ext uri="{FF2B5EF4-FFF2-40B4-BE49-F238E27FC236}">
                <a16:creationId xmlns:a16="http://schemas.microsoft.com/office/drawing/2014/main" id="{16965395-133C-7C9C-5E8E-6EDAE6C3AC7D}"/>
              </a:ext>
            </a:extLst>
          </p:cNvPr>
          <p:cNvGrpSpPr/>
          <p:nvPr/>
        </p:nvGrpSpPr>
        <p:grpSpPr>
          <a:xfrm>
            <a:off x="9884664" y="2753905"/>
            <a:ext cx="1348758" cy="773835"/>
            <a:chOff x="1774127" y="3261367"/>
            <a:chExt cx="4861346" cy="2789143"/>
          </a:xfrm>
        </p:grpSpPr>
        <p:sp>
          <p:nvSpPr>
            <p:cNvPr id="48" name="Rectangle 47">
              <a:extLst>
                <a:ext uri="{FF2B5EF4-FFF2-40B4-BE49-F238E27FC236}">
                  <a16:creationId xmlns:a16="http://schemas.microsoft.com/office/drawing/2014/main" id="{1513739E-1AAA-2159-4068-7F702584AEE4}"/>
                </a:ext>
              </a:extLst>
            </p:cNvPr>
            <p:cNvSpPr/>
            <p:nvPr/>
          </p:nvSpPr>
          <p:spPr>
            <a:xfrm>
              <a:off x="262624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3689CDBD-79C6-7E19-3BE3-9F97BB565E01}"/>
                </a:ext>
              </a:extLst>
            </p:cNvPr>
            <p:cNvSpPr/>
            <p:nvPr/>
          </p:nvSpPr>
          <p:spPr>
            <a:xfrm>
              <a:off x="3583068"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49B2E52D-7DEA-C89C-3E12-286191B62FB5}"/>
                </a:ext>
              </a:extLst>
            </p:cNvPr>
            <p:cNvSpPr/>
            <p:nvPr/>
          </p:nvSpPr>
          <p:spPr>
            <a:xfrm>
              <a:off x="4539889"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58B88B2B-E7AF-646F-191B-018F1F325DE3}"/>
                </a:ext>
              </a:extLst>
            </p:cNvPr>
            <p:cNvSpPr/>
            <p:nvPr/>
          </p:nvSpPr>
          <p:spPr>
            <a:xfrm>
              <a:off x="550755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Sphères de Harvey 100% avec un remplissage uni">
              <a:extLst>
                <a:ext uri="{FF2B5EF4-FFF2-40B4-BE49-F238E27FC236}">
                  <a16:creationId xmlns:a16="http://schemas.microsoft.com/office/drawing/2014/main" id="{A9E7FAB4-DBA9-EF86-D97F-B2ACF96966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689708" y="3294556"/>
              <a:ext cx="533474" cy="533474"/>
            </a:xfrm>
            <a:prstGeom prst="rect">
              <a:avLst/>
            </a:prstGeom>
          </p:spPr>
        </p:pic>
        <p:sp>
          <p:nvSpPr>
            <p:cNvPr id="54" name="Rectangle 53">
              <a:extLst>
                <a:ext uri="{FF2B5EF4-FFF2-40B4-BE49-F238E27FC236}">
                  <a16:creationId xmlns:a16="http://schemas.microsoft.com/office/drawing/2014/main" id="{191AA071-BD71-C9C9-E8B5-CE967A8070D9}"/>
                </a:ext>
              </a:extLst>
            </p:cNvPr>
            <p:cNvSpPr/>
            <p:nvPr/>
          </p:nvSpPr>
          <p:spPr>
            <a:xfrm>
              <a:off x="2682556"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5" name="Rectangle 54">
              <a:extLst>
                <a:ext uri="{FF2B5EF4-FFF2-40B4-BE49-F238E27FC236}">
                  <a16:creationId xmlns:a16="http://schemas.microsoft.com/office/drawing/2014/main" id="{4F491A38-DD3D-4159-3006-149A81D9BCD4}"/>
                </a:ext>
              </a:extLst>
            </p:cNvPr>
            <p:cNvSpPr/>
            <p:nvPr/>
          </p:nvSpPr>
          <p:spPr>
            <a:xfrm>
              <a:off x="2991651"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6" name="Rectangle 55">
              <a:extLst>
                <a:ext uri="{FF2B5EF4-FFF2-40B4-BE49-F238E27FC236}">
                  <a16:creationId xmlns:a16="http://schemas.microsoft.com/office/drawing/2014/main" id="{A895E8AF-C779-18D5-1907-A729C7A2D962}"/>
                </a:ext>
              </a:extLst>
            </p:cNvPr>
            <p:cNvSpPr/>
            <p:nvPr/>
          </p:nvSpPr>
          <p:spPr>
            <a:xfrm>
              <a:off x="2912610" y="4148465"/>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7" name="Rectangle 56">
              <a:extLst>
                <a:ext uri="{FF2B5EF4-FFF2-40B4-BE49-F238E27FC236}">
                  <a16:creationId xmlns:a16="http://schemas.microsoft.com/office/drawing/2014/main" id="{6F040A4F-4150-57D0-037A-5D7E4D88058B}"/>
                </a:ext>
              </a:extLst>
            </p:cNvPr>
            <p:cNvSpPr/>
            <p:nvPr/>
          </p:nvSpPr>
          <p:spPr>
            <a:xfrm>
              <a:off x="3680364" y="3871561"/>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8" name="Rectangle 57">
              <a:extLst>
                <a:ext uri="{FF2B5EF4-FFF2-40B4-BE49-F238E27FC236}">
                  <a16:creationId xmlns:a16="http://schemas.microsoft.com/office/drawing/2014/main" id="{09E73C7B-64AC-BA5F-97BF-CD70C4B686B3}"/>
                </a:ext>
              </a:extLst>
            </p:cNvPr>
            <p:cNvSpPr/>
            <p:nvPr/>
          </p:nvSpPr>
          <p:spPr>
            <a:xfrm>
              <a:off x="4016069" y="398672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9" name="Rectangle 58">
              <a:extLst>
                <a:ext uri="{FF2B5EF4-FFF2-40B4-BE49-F238E27FC236}">
                  <a16:creationId xmlns:a16="http://schemas.microsoft.com/office/drawing/2014/main" id="{E41F716A-85FB-B341-B1E4-5B64406F2F07}"/>
                </a:ext>
              </a:extLst>
            </p:cNvPr>
            <p:cNvSpPr/>
            <p:nvPr/>
          </p:nvSpPr>
          <p:spPr>
            <a:xfrm>
              <a:off x="3698403" y="4181149"/>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0" name="Rectangle 59">
              <a:extLst>
                <a:ext uri="{FF2B5EF4-FFF2-40B4-BE49-F238E27FC236}">
                  <a16:creationId xmlns:a16="http://schemas.microsoft.com/office/drawing/2014/main" id="{138EB9FF-F551-8038-A2B0-009CAFC8DFAF}"/>
                </a:ext>
              </a:extLst>
            </p:cNvPr>
            <p:cNvSpPr/>
            <p:nvPr/>
          </p:nvSpPr>
          <p:spPr>
            <a:xfrm>
              <a:off x="4604347" y="3858182"/>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1" name="Rectangle 60">
              <a:extLst>
                <a:ext uri="{FF2B5EF4-FFF2-40B4-BE49-F238E27FC236}">
                  <a16:creationId xmlns:a16="http://schemas.microsoft.com/office/drawing/2014/main" id="{2429F924-80B7-DF1E-0DFE-E22F123A715C}"/>
                </a:ext>
              </a:extLst>
            </p:cNvPr>
            <p:cNvSpPr/>
            <p:nvPr/>
          </p:nvSpPr>
          <p:spPr>
            <a:xfrm>
              <a:off x="4928163" y="384379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2" name="Rectangle 61">
              <a:extLst>
                <a:ext uri="{FF2B5EF4-FFF2-40B4-BE49-F238E27FC236}">
                  <a16:creationId xmlns:a16="http://schemas.microsoft.com/office/drawing/2014/main" id="{76756310-BACC-4E51-44E4-671D13E765F3}"/>
                </a:ext>
              </a:extLst>
            </p:cNvPr>
            <p:cNvSpPr/>
            <p:nvPr/>
          </p:nvSpPr>
          <p:spPr>
            <a:xfrm>
              <a:off x="4844841" y="4195507"/>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3" name="Rectangle 62">
              <a:extLst>
                <a:ext uri="{FF2B5EF4-FFF2-40B4-BE49-F238E27FC236}">
                  <a16:creationId xmlns:a16="http://schemas.microsoft.com/office/drawing/2014/main" id="{36B69579-C36F-694A-7461-842734FA419B}"/>
                </a:ext>
              </a:extLst>
            </p:cNvPr>
            <p:cNvSpPr/>
            <p:nvPr/>
          </p:nvSpPr>
          <p:spPr>
            <a:xfrm>
              <a:off x="5637937" y="386543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4" name="Rectangle 63">
              <a:extLst>
                <a:ext uri="{FF2B5EF4-FFF2-40B4-BE49-F238E27FC236}">
                  <a16:creationId xmlns:a16="http://schemas.microsoft.com/office/drawing/2014/main" id="{0F5EABE0-CEE2-4C77-E80A-2CEE5936B806}"/>
                </a:ext>
              </a:extLst>
            </p:cNvPr>
            <p:cNvSpPr/>
            <p:nvPr/>
          </p:nvSpPr>
          <p:spPr>
            <a:xfrm>
              <a:off x="5908449" y="4146553"/>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5" name="Rectangle 64">
              <a:extLst>
                <a:ext uri="{FF2B5EF4-FFF2-40B4-BE49-F238E27FC236}">
                  <a16:creationId xmlns:a16="http://schemas.microsoft.com/office/drawing/2014/main" id="{B62FD37C-CD30-8C8E-BD69-5A135080E88C}"/>
                </a:ext>
              </a:extLst>
            </p:cNvPr>
            <p:cNvSpPr/>
            <p:nvPr/>
          </p:nvSpPr>
          <p:spPr>
            <a:xfrm>
              <a:off x="5973166" y="384301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6" name="Graphique 65" descr="Personne confuse avec un remplissage uni">
              <a:extLst>
                <a:ext uri="{FF2B5EF4-FFF2-40B4-BE49-F238E27FC236}">
                  <a16:creationId xmlns:a16="http://schemas.microsoft.com/office/drawing/2014/main" id="{96D6D123-C2C5-5208-AF80-29A747D12F7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5070241" y="4696406"/>
              <a:ext cx="1565232" cy="1093672"/>
            </a:xfrm>
            <a:prstGeom prst="rect">
              <a:avLst/>
            </a:prstGeom>
          </p:spPr>
        </p:pic>
        <p:sp>
          <p:nvSpPr>
            <p:cNvPr id="67" name="Rectangle 66">
              <a:extLst>
                <a:ext uri="{FF2B5EF4-FFF2-40B4-BE49-F238E27FC236}">
                  <a16:creationId xmlns:a16="http://schemas.microsoft.com/office/drawing/2014/main" id="{C6D2B217-D8BB-00F1-B04B-5D08C877EF98}"/>
                </a:ext>
              </a:extLst>
            </p:cNvPr>
            <p:cNvSpPr/>
            <p:nvPr/>
          </p:nvSpPr>
          <p:spPr>
            <a:xfrm>
              <a:off x="5070241" y="5355918"/>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8" name="Graphique 67" descr="Homme avec un remplissage uni">
              <a:extLst>
                <a:ext uri="{FF2B5EF4-FFF2-40B4-BE49-F238E27FC236}">
                  <a16:creationId xmlns:a16="http://schemas.microsoft.com/office/drawing/2014/main" id="{417B0EE3-1F28-0573-497A-1E7D96CCC0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3267315" y="4792695"/>
              <a:ext cx="2011658" cy="1226716"/>
            </a:xfrm>
            <a:prstGeom prst="rect">
              <a:avLst/>
            </a:prstGeom>
          </p:spPr>
        </p:pic>
        <p:pic>
          <p:nvPicPr>
            <p:cNvPr id="69" name="Graphique 68" descr="Homme avec un remplissage uni">
              <a:extLst>
                <a:ext uri="{FF2B5EF4-FFF2-40B4-BE49-F238E27FC236}">
                  <a16:creationId xmlns:a16="http://schemas.microsoft.com/office/drawing/2014/main" id="{13A41369-F434-9552-CCCD-F96D9AAF2129}"/>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2276236" y="4718638"/>
              <a:ext cx="2061836" cy="1226716"/>
            </a:xfrm>
            <a:prstGeom prst="rect">
              <a:avLst/>
            </a:prstGeom>
          </p:spPr>
        </p:pic>
        <p:pic>
          <p:nvPicPr>
            <p:cNvPr id="70" name="Graphique 69" descr="Homme avec un remplissage uni">
              <a:extLst>
                <a:ext uri="{FF2B5EF4-FFF2-40B4-BE49-F238E27FC236}">
                  <a16:creationId xmlns:a16="http://schemas.microsoft.com/office/drawing/2014/main" id="{74FD942E-B324-ED27-16BE-FCBB32F3A12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0753" t="1048" b="40502"/>
            <a:stretch/>
          </p:blipFill>
          <p:spPr>
            <a:xfrm>
              <a:off x="1774127" y="4845372"/>
              <a:ext cx="1633936" cy="1205138"/>
            </a:xfrm>
            <a:prstGeom prst="rect">
              <a:avLst/>
            </a:prstGeom>
          </p:spPr>
        </p:pic>
      </p:grpSp>
      <p:sp>
        <p:nvSpPr>
          <p:cNvPr id="73" name="ZoneTexte 72">
            <a:extLst>
              <a:ext uri="{FF2B5EF4-FFF2-40B4-BE49-F238E27FC236}">
                <a16:creationId xmlns:a16="http://schemas.microsoft.com/office/drawing/2014/main" id="{255A2FE1-46A2-F5A6-80B7-7666708CE11F}"/>
              </a:ext>
            </a:extLst>
          </p:cNvPr>
          <p:cNvSpPr txBox="1"/>
          <p:nvPr/>
        </p:nvSpPr>
        <p:spPr>
          <a:xfrm>
            <a:off x="9881330" y="4367627"/>
            <a:ext cx="1577130" cy="1200329"/>
          </a:xfrm>
          <a:prstGeom prst="rect">
            <a:avLst/>
          </a:prstGeom>
          <a:noFill/>
        </p:spPr>
        <p:txBody>
          <a:bodyPr wrap="square" rtlCol="0">
            <a:spAutoFit/>
          </a:bodyPr>
          <a:lstStyle/>
          <a:p>
            <a:pPr algn="ctr"/>
            <a:r>
              <a:rPr lang="fr-FR"/>
              <a:t>Dans un atelier collectif dédié à ces questions</a:t>
            </a:r>
          </a:p>
        </p:txBody>
      </p:sp>
    </p:spTree>
    <p:extLst>
      <p:ext uri="{BB962C8B-B14F-4D97-AF65-F5344CB8AC3E}">
        <p14:creationId xmlns:p14="http://schemas.microsoft.com/office/powerpoint/2010/main" val="831225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1/4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fontScale="92500" lnSpcReduction="20000"/>
          </a:bodyPr>
          <a:lstStyle/>
          <a:p>
            <a:r>
              <a:rPr lang="fr-FR" sz="1800"/>
              <a:t>Voici un exemple de travail à faire remplir par des apprenants (il n’y a pas de bonne réponse, l’important est d’apprendre à discuter ensemble)</a:t>
            </a:r>
          </a:p>
          <a:p>
            <a:r>
              <a:rPr lang="fr-FR" sz="1800" b="1"/>
              <a:t>Exercice </a:t>
            </a:r>
            <a:r>
              <a:rPr lang="fr-FR" sz="1800"/>
              <a:t>: déplacez les tickets dans ce que vous considérez meilleur pour chacun (plutôt en autonomie, ou en consensus collectif, ou au cas par cas). Discutez de pourquoi vous mettez ces tickets dans chaque zone</a:t>
            </a:r>
          </a:p>
          <a:p>
            <a:endParaRPr lang="fr-FR" sz="1800"/>
          </a:p>
          <a:p>
            <a:r>
              <a:rPr lang="fr-FR" sz="1800" b="1"/>
              <a:t>Scénario : </a:t>
            </a:r>
            <a:r>
              <a:rPr lang="fr-FR" sz="1800"/>
              <a:t>Vous travaillez dans une communauté de pratique transverse (adhésion facultative) dans une grande entreprise. Cette communauté de pratique interne cherche à capitaliser  les bonnes pratiques à l’échelle de la grande entreprise, en faisant collaborer différents acteurs autonomes autour de ces pratiques.</a:t>
            </a:r>
          </a:p>
          <a:p>
            <a:endParaRPr lang="fr-FR" sz="18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Envoyer une invitation pour événement au nom de la Communauté</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Proposer l’intégration d’un nouveau membre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Mettre en application une pratique partagée </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Envoyer une présentation d’une pratique sur le forum de la Communauté</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Organiser une rencontre entre membres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Choisir un format (de document) pour partager une pratique personnelle</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Exclure une personne de l’adhésion à la Communauté</a:t>
            </a:r>
          </a:p>
        </p:txBody>
      </p:sp>
    </p:spTree>
    <p:extLst>
      <p:ext uri="{BB962C8B-B14F-4D97-AF65-F5344CB8AC3E}">
        <p14:creationId xmlns:p14="http://schemas.microsoft.com/office/powerpoint/2010/main" val="3165057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2/4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a:bodyPr>
          <a:lstStyle/>
          <a:p>
            <a:r>
              <a:rPr lang="fr-FR" sz="1400"/>
              <a:t>Voici un exemple de travail à faire remplir par des apprenants (il n’y a pas de bonne réponse, l’important est d’apprendre à discuter ensemble)</a:t>
            </a:r>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endParaRPr lang="fr-FR" sz="1400"/>
          </a:p>
          <a:p>
            <a:r>
              <a:rPr lang="fr-FR" sz="1400" b="1"/>
              <a:t>Scénario : </a:t>
            </a:r>
            <a:r>
              <a:rPr lang="fr-FR" sz="1400"/>
              <a:t>Vous travaillez dans une équipe de conception d’applications mobile (avec 1 Designer, 2 développeurs, 1 responsable produit) dans une grande entreprise. Comme tous sont en télétravail, vous cherchez à établir des règles de fonctionnement de l’équipe qui permet l’autonomie sans perdre le lien.</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Corriger une faute d’orthographe dans les mentions légales</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Mettre en production une nouvelle version de l’app</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a:t>Changer la couleur d’un menu</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Revoir l’architecture technique de l’application</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Faire des recherches d’idées sur des évolutions possibles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Réécrire certains fichiers pour les rendre plus performants sans changer leur fonction</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Publier un correctif sur le serveur de test</a:t>
            </a:r>
          </a:p>
        </p:txBody>
      </p:sp>
    </p:spTree>
    <p:extLst>
      <p:ext uri="{BB962C8B-B14F-4D97-AF65-F5344CB8AC3E}">
        <p14:creationId xmlns:p14="http://schemas.microsoft.com/office/powerpoint/2010/main" val="1394597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3/4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a:bodyPr>
          <a:lstStyle/>
          <a:p>
            <a:r>
              <a:rPr lang="fr-FR" sz="1400"/>
              <a:t>Voici un exemple de travail à faire remplir par des apprenants (il n’y a pas de bonne réponse, l’important est d’apprendre à discuter ensemble)</a:t>
            </a:r>
          </a:p>
          <a:p>
            <a:endParaRPr lang="fr-FR" sz="1400"/>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r>
              <a:rPr lang="fr-FR" sz="1400" b="1"/>
              <a:t>Scénario : </a:t>
            </a:r>
            <a:r>
              <a:rPr lang="fr-FR" sz="1400"/>
              <a:t>Vous travaillez dans une entreprise qui a un passé de travail très hiérarchique. Historiquement, beaucoup prenaient des postures d’exécutants ou de commandeurs, et cette culture semble avoir atteint ses limites (perte de sens, d’opportunités, etc.) Vous êtes dans un service de gestion logistique interne.  Vous êtes nouveau manager et êtes en charge de changer la culture pour développer plus d’autonomie, de réactivité entre les membres de ce service. </a:t>
            </a:r>
          </a:p>
          <a:p>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Contacter un autre membre du service pour demander un petit renseignement</a:t>
            </a:r>
          </a:p>
          <a:p>
            <a:pPr algn="ctr"/>
            <a:endParaRPr lang="fr-FR" sz="1050"/>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S’arranger avec un membre d’une autre équipe (dans le même service)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Prendre une initiative sur son travail personnel</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Tester une amélioration de pratique qui peut améliorer la vie de tous</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Organiser un moment d’équipe</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Changer les règles de partenariat avec les autres services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Envoyer un mail à propos d’un problème du quotidien </a:t>
            </a:r>
          </a:p>
        </p:txBody>
      </p:sp>
    </p:spTree>
    <p:extLst>
      <p:ext uri="{BB962C8B-B14F-4D97-AF65-F5344CB8AC3E}">
        <p14:creationId xmlns:p14="http://schemas.microsoft.com/office/powerpoint/2010/main" val="1847007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4/4 </a:t>
            </a:r>
            <a:br>
              <a:rPr lang="fr-FR" sz="3600"/>
            </a:br>
            <a:r>
              <a:rPr lang="fr-FR" sz="3600"/>
              <a:t>Application « individuelle »</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lnSpcReduction="10000"/>
          </a:bodyPr>
          <a:lstStyle/>
          <a:p>
            <a:r>
              <a:rPr lang="fr-FR" sz="1400"/>
              <a:t>Voici un exemple de travail à faire remplir par des apprenants (il n’y a pas de bonne réponse, l’important est d’apprendre à discuter ensemble)</a:t>
            </a:r>
          </a:p>
          <a:p>
            <a:endParaRPr lang="fr-FR" sz="1400"/>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r>
              <a:rPr lang="fr-FR" sz="1400" b="1"/>
              <a:t>Scénario : </a:t>
            </a:r>
            <a:r>
              <a:rPr lang="fr-FR" sz="1400"/>
              <a:t>Vous travaillez dans une entreprise qui a un passé de travail très hiérarchique. Historiquement, beaucoup prenaient des postures d’exécutants ou de commandeurs. Cette culture semble avoir atteint ses limites (perte d’intérêt, de sens, d’opportunités, etc.).  Vous êtes nouveau manager et êtes en charge de changer la culture pour développer plus d’autonomie, de réactivité entre les membres de ce service.  </a:t>
            </a:r>
          </a:p>
          <a:p>
            <a:r>
              <a:rPr lang="fr-FR" sz="1400"/>
              <a:t>Vous vous posez des questions sur les postures que vous voulez prendre auprès de votre équipe</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646331"/>
          </a:xfrm>
          <a:prstGeom prst="rect">
            <a:avLst/>
          </a:prstGeom>
          <a:noFill/>
        </p:spPr>
        <p:txBody>
          <a:bodyPr wrap="square">
            <a:spAutoFit/>
          </a:bodyPr>
          <a:lstStyle/>
          <a:p>
            <a:pPr algn="ctr"/>
            <a:r>
              <a:rPr lang="fr-FR" sz="1200" b="1">
                <a:solidFill>
                  <a:srgbClr val="ED7D31"/>
                </a:solidFill>
              </a:rPr>
              <a:t>Décisions que vous préférez prendre seul</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que vous préférez prendre avec les membres de votre équipe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Demander d’arrêter une tâche visiblement inutile</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Changer les tâches affectées d’un membre de votre équipe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Décider des objectifs d’équipe de l’année</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a:bodyPr>
          <a:lstStyle/>
          <a:p>
            <a:pPr algn="ctr"/>
            <a:r>
              <a:rPr lang="fr-FR" sz="1050"/>
              <a:t>Changer les horaires de travail </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Définir « les prochaines compétences sur lesquelles se former »</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a:bodyPr>
          <a:lstStyle/>
          <a:p>
            <a:pPr algn="ctr"/>
            <a:r>
              <a:rPr lang="fr-FR" sz="1050"/>
              <a:t>Définir des objectifs individuels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a:bodyPr>
          <a:lstStyle/>
          <a:p>
            <a:pPr algn="ctr"/>
            <a:r>
              <a:rPr lang="fr-FR" sz="1050"/>
              <a:t>Changer les horaires de pause</a:t>
            </a:r>
          </a:p>
        </p:txBody>
      </p:sp>
    </p:spTree>
    <p:extLst>
      <p:ext uri="{BB962C8B-B14F-4D97-AF65-F5344CB8AC3E}">
        <p14:creationId xmlns:p14="http://schemas.microsoft.com/office/powerpoint/2010/main" val="3924999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AFC349-0315-4D81-4274-8622D739768A}"/>
              </a:ext>
            </a:extLst>
          </p:cNvPr>
          <p:cNvSpPr>
            <a:spLocks noGrp="1"/>
          </p:cNvSpPr>
          <p:nvPr>
            <p:ph type="title"/>
          </p:nvPr>
        </p:nvSpPr>
        <p:spPr/>
        <p:txBody>
          <a:bodyPr>
            <a:normAutofit/>
          </a:bodyPr>
          <a:lstStyle/>
          <a:p>
            <a:r>
              <a:rPr lang="fr-FR" sz="3600"/>
              <a:t>4. Phase Choc de la réalité</a:t>
            </a:r>
            <a:br>
              <a:rPr lang="fr-FR" sz="3600"/>
            </a:br>
            <a:r>
              <a:rPr lang="fr-FR" sz="3600"/>
              <a:t>Contenus et format</a:t>
            </a:r>
          </a:p>
        </p:txBody>
      </p:sp>
      <p:sp>
        <p:nvSpPr>
          <p:cNvPr id="3" name="Espace réservé du contenu 2">
            <a:extLst>
              <a:ext uri="{FF2B5EF4-FFF2-40B4-BE49-F238E27FC236}">
                <a16:creationId xmlns:a16="http://schemas.microsoft.com/office/drawing/2014/main" id="{14B1F1D7-71C7-0EA4-0120-B9BE3DA6E167}"/>
              </a:ext>
            </a:extLst>
          </p:cNvPr>
          <p:cNvSpPr>
            <a:spLocks noGrp="1"/>
          </p:cNvSpPr>
          <p:nvPr>
            <p:ph idx="1"/>
          </p:nvPr>
        </p:nvSpPr>
        <p:spPr>
          <a:xfrm>
            <a:off x="838200" y="1825625"/>
            <a:ext cx="3012347" cy="4351338"/>
          </a:xfrm>
          <a:solidFill>
            <a:schemeClr val="bg1">
              <a:lumMod val="95000"/>
            </a:schemeClr>
          </a:solidFill>
        </p:spPr>
        <p:txBody>
          <a:bodyPr>
            <a:normAutofit fontScale="92500" lnSpcReduction="20000"/>
          </a:bodyPr>
          <a:lstStyle/>
          <a:p>
            <a:r>
              <a:rPr lang="fr-FR" sz="1400"/>
              <a:t>Dans cette phase, on demande aux participants de la formation non plus d’appliquer l’IVCD </a:t>
            </a:r>
            <a:r>
              <a:rPr lang="fr-FR" sz="1400" err="1"/>
              <a:t>Map</a:t>
            </a:r>
            <a:r>
              <a:rPr lang="fr-FR" sz="1400"/>
              <a:t> dans le cadre d’une formation, mais de l’utiliser dans leur </a:t>
            </a:r>
            <a:r>
              <a:rPr lang="fr-FR" sz="1400" b="1"/>
              <a:t>propre situation réelle </a:t>
            </a:r>
            <a:r>
              <a:rPr lang="fr-FR" sz="1400"/>
              <a:t>(quotidien professionnel, etc.)</a:t>
            </a:r>
            <a:r>
              <a:rPr lang="fr-FR" sz="1400" b="1"/>
              <a:t>. </a:t>
            </a:r>
          </a:p>
          <a:p>
            <a:endParaRPr lang="fr-FR" sz="1400"/>
          </a:p>
          <a:p>
            <a:r>
              <a:rPr lang="fr-FR" sz="1400"/>
              <a:t>L’idée est de confronter cet outil de formation à la réalité, afin de partager ensuite sur l’applicabilité et la mise en pratique. </a:t>
            </a:r>
          </a:p>
          <a:p>
            <a:endParaRPr lang="fr-FR" sz="1400"/>
          </a:p>
          <a:p>
            <a:r>
              <a:rPr lang="fr-FR" sz="1400"/>
              <a:t>L’organisation de cette phase se fait idéalement plusieurs semaines après la phase précédente. Le temps de trouver l’opportunité d’application. </a:t>
            </a:r>
          </a:p>
          <a:p>
            <a:endParaRPr lang="fr-FR" sz="1400"/>
          </a:p>
          <a:p>
            <a:r>
              <a:rPr lang="fr-FR" sz="1400"/>
              <a:t>Le format à prendre pour le Debriefing est simplement </a:t>
            </a:r>
            <a:r>
              <a:rPr lang="fr-FR" sz="1400" b="1"/>
              <a:t>une session de debriefing de groupe avec les mêmes participants qu’à la formation</a:t>
            </a:r>
            <a:r>
              <a:rPr lang="fr-FR" sz="1400"/>
              <a:t>, idéalement avec suffisamment de participants qui ont appliqué.</a:t>
            </a:r>
          </a:p>
        </p:txBody>
      </p:sp>
      <p:sp>
        <p:nvSpPr>
          <p:cNvPr id="4" name="Espace réservé du contenu 2">
            <a:extLst>
              <a:ext uri="{FF2B5EF4-FFF2-40B4-BE49-F238E27FC236}">
                <a16:creationId xmlns:a16="http://schemas.microsoft.com/office/drawing/2014/main" id="{DC75A474-E889-4754-01E8-E5FED1D866A6}"/>
              </a:ext>
            </a:extLst>
          </p:cNvPr>
          <p:cNvSpPr txBox="1">
            <a:spLocks/>
          </p:cNvSpPr>
          <p:nvPr/>
        </p:nvSpPr>
        <p:spPr>
          <a:xfrm>
            <a:off x="4378354" y="1825625"/>
            <a:ext cx="3012347" cy="4351338"/>
          </a:xfrm>
          <a:prstGeom prst="rect">
            <a:avLst/>
          </a:prstGeom>
          <a:solidFill>
            <a:schemeClr val="accent2"/>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a:t>Il existe plusieurs opportunités d’application, dont voici plusieurs exemples, du plus simple (peu de prise de risque) au plus engageant</a:t>
            </a:r>
          </a:p>
          <a:p>
            <a:endParaRPr lang="fr-FR" sz="1400"/>
          </a:p>
          <a:p>
            <a:pPr marL="342900" indent="-342900">
              <a:buFont typeface="+mj-lt"/>
              <a:buAutoNum type="arabicPeriod"/>
            </a:pPr>
            <a:r>
              <a:rPr lang="fr-FR" sz="1400" b="1"/>
              <a:t>Simple : </a:t>
            </a:r>
            <a:r>
              <a:rPr lang="fr-FR" sz="1400"/>
              <a:t>Appliquer l’IVCD </a:t>
            </a:r>
            <a:r>
              <a:rPr lang="fr-FR" sz="1400" err="1"/>
              <a:t>map</a:t>
            </a:r>
            <a:r>
              <a:rPr lang="fr-FR" sz="1400"/>
              <a:t> à soi même (décrire son propre poste sous forme d’IVCD </a:t>
            </a:r>
            <a:r>
              <a:rPr lang="fr-FR" sz="1400" err="1"/>
              <a:t>map</a:t>
            </a:r>
            <a:r>
              <a:rPr lang="fr-FR" sz="1400"/>
              <a:t>)</a:t>
            </a:r>
          </a:p>
          <a:p>
            <a:pPr marL="342900" indent="-342900">
              <a:buFont typeface="+mj-lt"/>
              <a:buAutoNum type="arabicPeriod"/>
            </a:pPr>
            <a:r>
              <a:rPr lang="fr-FR" sz="1400" b="1"/>
              <a:t>Légèrement engageant : </a:t>
            </a:r>
            <a:r>
              <a:rPr lang="fr-FR" sz="1400"/>
              <a:t>Organiser une IVCD </a:t>
            </a:r>
            <a:r>
              <a:rPr lang="fr-FR" sz="1400" err="1"/>
              <a:t>map</a:t>
            </a:r>
            <a:r>
              <a:rPr lang="fr-FR" sz="1400"/>
              <a:t> (avec présentation) avec les membres les plus motivés de son équipe</a:t>
            </a:r>
          </a:p>
          <a:p>
            <a:pPr marL="342900" indent="-342900">
              <a:buFont typeface="+mj-lt"/>
              <a:buAutoNum type="arabicPeriod"/>
            </a:pPr>
            <a:r>
              <a:rPr lang="fr-FR" sz="1400" b="1"/>
              <a:t>Engageant : </a:t>
            </a:r>
            <a:r>
              <a:rPr lang="fr-FR" sz="1400"/>
              <a:t>Organiser une rétrospective basée sur l’IVCD </a:t>
            </a:r>
            <a:r>
              <a:rPr lang="fr-FR" sz="1400" err="1"/>
              <a:t>Map</a:t>
            </a:r>
            <a:r>
              <a:rPr lang="fr-FR" sz="1400"/>
              <a:t>, pour discuter ensemble des autonomies ou consensus souhaités</a:t>
            </a:r>
          </a:p>
          <a:p>
            <a:pPr marL="342900" indent="-342900">
              <a:buFont typeface="+mj-lt"/>
              <a:buAutoNum type="arabicPeriod"/>
            </a:pPr>
            <a:r>
              <a:rPr lang="fr-FR" sz="1400" b="1"/>
              <a:t>Très engageant :</a:t>
            </a:r>
            <a:r>
              <a:rPr lang="fr-FR" sz="1400"/>
              <a:t> Utiliser l’IVCD </a:t>
            </a:r>
            <a:r>
              <a:rPr lang="fr-FR" sz="1400" err="1"/>
              <a:t>map</a:t>
            </a:r>
            <a:r>
              <a:rPr lang="fr-FR" sz="1400"/>
              <a:t> avec son équipe et une autre équipe, pour améliorer la coopération et les interactions</a:t>
            </a:r>
          </a:p>
          <a:p>
            <a:endParaRPr lang="fr-FR" sz="1400"/>
          </a:p>
          <a:p>
            <a:endParaRPr lang="fr-FR" sz="1400"/>
          </a:p>
        </p:txBody>
      </p:sp>
      <p:sp>
        <p:nvSpPr>
          <p:cNvPr id="5" name="Espace réservé du contenu 2">
            <a:extLst>
              <a:ext uri="{FF2B5EF4-FFF2-40B4-BE49-F238E27FC236}">
                <a16:creationId xmlns:a16="http://schemas.microsoft.com/office/drawing/2014/main" id="{F3E49DEA-AEEB-EA28-0115-8A7272BC5688}"/>
              </a:ext>
            </a:extLst>
          </p:cNvPr>
          <p:cNvSpPr txBox="1">
            <a:spLocks/>
          </p:cNvSpPr>
          <p:nvPr/>
        </p:nvSpPr>
        <p:spPr>
          <a:xfrm>
            <a:off x="7918508" y="1825625"/>
            <a:ext cx="3012347" cy="4351338"/>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a:t>Questions de débriefing de l’application :</a:t>
            </a:r>
          </a:p>
          <a:p>
            <a:pPr marL="0" indent="0">
              <a:buNone/>
            </a:pPr>
            <a:r>
              <a:rPr lang="fr-FR" sz="1400"/>
              <a:t>Voici des questions à se poser et partager entre participants, une fois l’IVCD </a:t>
            </a:r>
            <a:r>
              <a:rPr lang="fr-FR" sz="1400" err="1"/>
              <a:t>map</a:t>
            </a:r>
            <a:r>
              <a:rPr lang="fr-FR" sz="1400"/>
              <a:t> appliquée :</a:t>
            </a:r>
          </a:p>
          <a:p>
            <a:pPr marL="0" indent="0">
              <a:buNone/>
            </a:pPr>
            <a:endParaRPr lang="fr-FR" sz="1400"/>
          </a:p>
          <a:p>
            <a:pPr marL="342900" indent="-342900">
              <a:buFont typeface="+mj-lt"/>
              <a:buAutoNum type="arabicPeriod"/>
            </a:pPr>
            <a:r>
              <a:rPr lang="fr-FR" sz="1400"/>
              <a:t>A quel point avez-vous trouvé l’exercice facile ? Qu’est-ce qui rend l’IVCD </a:t>
            </a:r>
            <a:r>
              <a:rPr lang="fr-FR" sz="1400" err="1"/>
              <a:t>Map</a:t>
            </a:r>
            <a:r>
              <a:rPr lang="fr-FR" sz="1400"/>
              <a:t> difficile ? </a:t>
            </a:r>
          </a:p>
          <a:p>
            <a:pPr marL="342900" indent="-342900">
              <a:buFont typeface="+mj-lt"/>
              <a:buAutoNum type="arabicPeriod"/>
            </a:pPr>
            <a:r>
              <a:rPr lang="fr-FR" sz="1400"/>
              <a:t>Comment avez-vous  « préparé le terrain »? Qu’avez-vous choisi et pourquoi ?</a:t>
            </a:r>
          </a:p>
          <a:p>
            <a:pPr marL="342900" indent="-342900">
              <a:buFont typeface="+mj-lt"/>
              <a:buAutoNum type="arabicPeriod"/>
            </a:pPr>
            <a:r>
              <a:rPr lang="fr-FR" sz="1400"/>
              <a:t>Si vous deviez refaire l’exercice, vous sentiriez vous plus confiant ? Que changeriez vous ?</a:t>
            </a:r>
          </a:p>
          <a:p>
            <a:pPr marL="342900" indent="-342900">
              <a:buFont typeface="+mj-lt"/>
              <a:buAutoNum type="arabicPeriod"/>
            </a:pPr>
            <a:r>
              <a:rPr lang="fr-FR" sz="1400"/>
              <a:t>Que diriez vous aux autres pour les motiver à tester l’IVCD </a:t>
            </a:r>
            <a:r>
              <a:rPr lang="fr-FR" sz="1400" err="1"/>
              <a:t>map</a:t>
            </a:r>
            <a:r>
              <a:rPr lang="fr-FR" sz="1400"/>
              <a:t> à leur tour ?</a:t>
            </a:r>
          </a:p>
        </p:txBody>
      </p:sp>
    </p:spTree>
    <p:extLst>
      <p:ext uri="{BB962C8B-B14F-4D97-AF65-F5344CB8AC3E}">
        <p14:creationId xmlns:p14="http://schemas.microsoft.com/office/powerpoint/2010/main" val="1777620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428F7E-F43E-7767-B791-96E8EB48E3DD}"/>
              </a:ext>
            </a:extLst>
          </p:cNvPr>
          <p:cNvSpPr>
            <a:spLocks noGrp="1"/>
          </p:cNvSpPr>
          <p:nvPr>
            <p:ph type="title"/>
          </p:nvPr>
        </p:nvSpPr>
        <p:spPr/>
        <p:txBody>
          <a:bodyPr/>
          <a:lstStyle/>
          <a:p>
            <a:r>
              <a:rPr lang="fr-FR"/>
              <a:t>5. Phase Confirmation des réussites </a:t>
            </a:r>
          </a:p>
        </p:txBody>
      </p:sp>
      <p:sp>
        <p:nvSpPr>
          <p:cNvPr id="3" name="Espace réservé du contenu 2">
            <a:extLst>
              <a:ext uri="{FF2B5EF4-FFF2-40B4-BE49-F238E27FC236}">
                <a16:creationId xmlns:a16="http://schemas.microsoft.com/office/drawing/2014/main" id="{37F2B63D-E36D-5EFA-635B-2128FCEECF6D}"/>
              </a:ext>
            </a:extLst>
          </p:cNvPr>
          <p:cNvSpPr>
            <a:spLocks noGrp="1"/>
          </p:cNvSpPr>
          <p:nvPr>
            <p:ph idx="1"/>
          </p:nvPr>
        </p:nvSpPr>
        <p:spPr>
          <a:xfrm>
            <a:off x="4590661" y="1825625"/>
            <a:ext cx="6763138" cy="4351338"/>
          </a:xfrm>
        </p:spPr>
        <p:txBody>
          <a:bodyPr>
            <a:normAutofit/>
          </a:bodyPr>
          <a:lstStyle/>
          <a:p>
            <a:pPr marL="0" indent="0">
              <a:buNone/>
            </a:pPr>
            <a:r>
              <a:rPr lang="fr-FR" sz="1800"/>
              <a:t>Dans cette phase, le but est de capitaliser et de confirmer ce qui fonctionne dans le contexte de chacun. Voici quelques questions à se poser en groupe :</a:t>
            </a:r>
          </a:p>
          <a:p>
            <a:endParaRPr lang="fr-FR" sz="1800"/>
          </a:p>
          <a:p>
            <a:pPr marL="914400" lvl="1" indent="-457200">
              <a:buFont typeface="+mj-lt"/>
              <a:buAutoNum type="arabicPeriod"/>
            </a:pPr>
            <a:r>
              <a:rPr lang="fr-FR" sz="1800"/>
              <a:t>Qu’est-ce qui nous a LE PLUS servi dans l’exercice de l’IVCD </a:t>
            </a:r>
            <a:r>
              <a:rPr lang="fr-FR" sz="1800" err="1"/>
              <a:t>Map</a:t>
            </a:r>
            <a:r>
              <a:rPr lang="fr-FR" sz="1800"/>
              <a:t> ? Comment le résumerions nous ? </a:t>
            </a:r>
          </a:p>
          <a:p>
            <a:pPr marL="914400" lvl="1" indent="-457200">
              <a:buFont typeface="+mj-lt"/>
              <a:buAutoNum type="arabicPeriod"/>
            </a:pPr>
            <a:r>
              <a:rPr lang="fr-FR" sz="1800"/>
              <a:t>Où enregistrer cette information essentielle pour qu’elle puisse resservir plus tard ?</a:t>
            </a:r>
          </a:p>
          <a:p>
            <a:pPr marL="914400" lvl="1" indent="-457200">
              <a:buFont typeface="+mj-lt"/>
              <a:buAutoNum type="arabicPeriod"/>
            </a:pPr>
            <a:r>
              <a:rPr lang="fr-FR" sz="1800"/>
              <a:t>Comment allons nous gérer cette connaissance ? (diffusion, transmission, etc.)</a:t>
            </a:r>
          </a:p>
        </p:txBody>
      </p:sp>
      <p:pic>
        <p:nvPicPr>
          <p:cNvPr id="5" name="Image 4">
            <a:extLst>
              <a:ext uri="{FF2B5EF4-FFF2-40B4-BE49-F238E27FC236}">
                <a16:creationId xmlns:a16="http://schemas.microsoft.com/office/drawing/2014/main" id="{2FB73E66-0609-4A7A-CE09-2FE6EEC68D8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7489" y="2772133"/>
            <a:ext cx="3262901" cy="2173092"/>
          </a:xfrm>
          <a:prstGeom prst="rect">
            <a:avLst/>
          </a:prstGeom>
        </p:spPr>
      </p:pic>
    </p:spTree>
    <p:extLst>
      <p:ext uri="{BB962C8B-B14F-4D97-AF65-F5344CB8AC3E}">
        <p14:creationId xmlns:p14="http://schemas.microsoft.com/office/powerpoint/2010/main" val="177322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Limites et extensions de l’IVCD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73084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L’IVCD </a:t>
            </a:r>
            <a:r>
              <a:rPr lang="fr-FR" err="1"/>
              <a:t>Map</a:t>
            </a:r>
            <a:r>
              <a:rPr lang="fr-FR"/>
              <a:t> et la combinaison avec les autres outils</a:t>
            </a: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628053" y="1847462"/>
            <a:ext cx="8156510" cy="3545730"/>
          </a:xfrm>
        </p:spPr>
        <p:txBody>
          <a:bodyPr>
            <a:normAutofit fontScale="92500" lnSpcReduction="10000"/>
          </a:bodyPr>
          <a:lstStyle/>
          <a:p>
            <a:pPr marL="0" indent="0">
              <a:buNone/>
            </a:pPr>
            <a:r>
              <a:rPr lang="fr-FR" sz="1800"/>
              <a:t>L’IVCD </a:t>
            </a:r>
            <a:r>
              <a:rPr lang="fr-FR" sz="1800" err="1"/>
              <a:t>Map</a:t>
            </a:r>
            <a:r>
              <a:rPr lang="fr-FR" sz="1800"/>
              <a:t> a été conçue pour être un outil extrêmement simple et léger. Ce n’est bien sûr pas le seul outil méthodologique qui existe sur ce sujet et on peut le compléter avec d’autres outils plus spécialisés. </a:t>
            </a:r>
          </a:p>
          <a:p>
            <a:endParaRPr lang="fr-FR" sz="1800"/>
          </a:p>
          <a:p>
            <a:r>
              <a:rPr lang="fr-FR" sz="1800"/>
              <a:t>Avec le </a:t>
            </a:r>
            <a:r>
              <a:rPr lang="fr-FR" sz="1800" b="1" err="1"/>
              <a:t>Delegation</a:t>
            </a:r>
            <a:r>
              <a:rPr lang="fr-FR" sz="1800" b="1"/>
              <a:t> Poker  </a:t>
            </a:r>
            <a:r>
              <a:rPr lang="fr-FR" sz="1800"/>
              <a:t>(Management 3.0) : Après un tour de l’IVCD </a:t>
            </a:r>
            <a:r>
              <a:rPr lang="fr-FR" sz="1800" err="1"/>
              <a:t>Map</a:t>
            </a:r>
            <a:r>
              <a:rPr lang="fr-FR" sz="1800"/>
              <a:t> pour clarifier de manière simple les libertés de chacun, on peut </a:t>
            </a:r>
            <a:r>
              <a:rPr lang="fr-FR" sz="1800" b="1"/>
              <a:t>approfondir les détails</a:t>
            </a:r>
            <a:r>
              <a:rPr lang="fr-FR" sz="1800"/>
              <a:t> avec le </a:t>
            </a:r>
            <a:r>
              <a:rPr lang="fr-FR" sz="1800" err="1"/>
              <a:t>delegation</a:t>
            </a:r>
            <a:r>
              <a:rPr lang="fr-FR" sz="1800"/>
              <a:t> poker, particulièrement sur les décisions autour de la personne qui gère l’équipe (manager).</a:t>
            </a:r>
          </a:p>
          <a:p>
            <a:endParaRPr lang="fr-FR" sz="1800"/>
          </a:p>
          <a:p>
            <a:endParaRPr lang="fr-FR" sz="1800"/>
          </a:p>
          <a:p>
            <a:r>
              <a:rPr lang="fr-FR" sz="1800"/>
              <a:t>Avec le RACI (</a:t>
            </a:r>
            <a:r>
              <a:rPr lang="fr-FR" sz="1800" err="1"/>
              <a:t>Responsible</a:t>
            </a:r>
            <a:r>
              <a:rPr lang="fr-FR" sz="1800"/>
              <a:t>, </a:t>
            </a:r>
            <a:r>
              <a:rPr lang="fr-FR" sz="1800" err="1"/>
              <a:t>Accountable</a:t>
            </a:r>
            <a:r>
              <a:rPr lang="fr-FR" sz="1800"/>
              <a:t>, </a:t>
            </a:r>
            <a:r>
              <a:rPr lang="fr-FR" sz="1800" err="1"/>
              <a:t>Consulted</a:t>
            </a:r>
            <a:r>
              <a:rPr lang="fr-FR" sz="1800"/>
              <a:t>, </a:t>
            </a:r>
            <a:r>
              <a:rPr lang="fr-FR" sz="1800" err="1"/>
              <a:t>Informed</a:t>
            </a:r>
            <a:r>
              <a:rPr lang="fr-FR" sz="1800"/>
              <a:t>) : Après un tour de l’IVCD </a:t>
            </a:r>
            <a:r>
              <a:rPr lang="fr-FR" sz="1800" err="1"/>
              <a:t>map</a:t>
            </a:r>
            <a:r>
              <a:rPr lang="fr-FR" sz="1800"/>
              <a:t> en tant qu’outil de discussion pour introduire le sujet de manière simple. Toutes les décisions collectives peuvent être détaillées avec le RACI.</a:t>
            </a:r>
          </a:p>
          <a:p>
            <a:endParaRPr lang="fr-FR" sz="1800"/>
          </a:p>
          <a:p>
            <a:endParaRPr lang="fr-FR" sz="1800"/>
          </a:p>
        </p:txBody>
      </p:sp>
      <p:pic>
        <p:nvPicPr>
          <p:cNvPr id="5" name="Image 4">
            <a:extLst>
              <a:ext uri="{FF2B5EF4-FFF2-40B4-BE49-F238E27FC236}">
                <a16:creationId xmlns:a16="http://schemas.microsoft.com/office/drawing/2014/main" id="{1BADCE6F-0028-7B40-0B0B-DB5072224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97" y="2589245"/>
            <a:ext cx="2387929" cy="1679510"/>
          </a:xfrm>
          <a:prstGeom prst="rect">
            <a:avLst/>
          </a:prstGeom>
        </p:spPr>
      </p:pic>
      <p:pic>
        <p:nvPicPr>
          <p:cNvPr id="7" name="Image 6" descr="Une image contenant table&#10;&#10;Description générée automatiquement">
            <a:extLst>
              <a:ext uri="{FF2B5EF4-FFF2-40B4-BE49-F238E27FC236}">
                <a16:creationId xmlns:a16="http://schemas.microsoft.com/office/drawing/2014/main" id="{32B20F62-23E2-6A03-6C8F-1CAFEE175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946" y="4553437"/>
            <a:ext cx="2436980" cy="1679510"/>
          </a:xfrm>
          <a:prstGeom prst="rect">
            <a:avLst/>
          </a:prstGeom>
        </p:spPr>
      </p:pic>
    </p:spTree>
    <p:extLst>
      <p:ext uri="{BB962C8B-B14F-4D97-AF65-F5344CB8AC3E}">
        <p14:creationId xmlns:p14="http://schemas.microsoft.com/office/powerpoint/2010/main" val="1080955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Limites de l’IVCD </a:t>
            </a:r>
            <a:r>
              <a:rPr lang="fr-FR" err="1"/>
              <a:t>Map</a:t>
            </a:r>
            <a:endParaRPr lang="fr-F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074379" y="2510192"/>
            <a:ext cx="8156510" cy="3545730"/>
          </a:xfrm>
        </p:spPr>
        <p:txBody>
          <a:bodyPr>
            <a:normAutofit/>
          </a:bodyPr>
          <a:lstStyle/>
          <a:p>
            <a:pPr marL="0" indent="0">
              <a:buNone/>
            </a:pPr>
            <a:r>
              <a:rPr lang="fr-FR" sz="1800"/>
              <a:t>L’IVCD </a:t>
            </a:r>
            <a:r>
              <a:rPr lang="fr-FR" sz="1800" err="1"/>
              <a:t>Map</a:t>
            </a:r>
            <a:r>
              <a:rPr lang="fr-FR" sz="1800"/>
              <a:t> est un outil simple qui n’aborde pas les aspects suivants : </a:t>
            </a:r>
          </a:p>
          <a:p>
            <a:pPr marL="0" indent="0">
              <a:buNone/>
            </a:pPr>
            <a:endParaRPr lang="fr-FR" sz="1800"/>
          </a:p>
          <a:p>
            <a:r>
              <a:rPr lang="fr-FR" sz="1800"/>
              <a:t>Liste des sujets à discuter </a:t>
            </a:r>
          </a:p>
          <a:p>
            <a:r>
              <a:rPr lang="fr-FR" sz="1800"/>
              <a:t>Recommandations sur « ce qu’il faudrait mettre en autonomie ou en consensus »</a:t>
            </a:r>
          </a:p>
          <a:p>
            <a:r>
              <a:rPr lang="fr-FR" sz="1800"/>
              <a:t>Détails sur la forme de décision collective</a:t>
            </a:r>
          </a:p>
          <a:p>
            <a:endParaRPr lang="fr-FR" sz="1800"/>
          </a:p>
          <a:p>
            <a:pPr marL="0" indent="0">
              <a:buNone/>
            </a:pPr>
            <a:r>
              <a:rPr lang="fr-FR" sz="1800"/>
              <a:t>L’IVCD </a:t>
            </a:r>
            <a:r>
              <a:rPr lang="fr-FR" sz="1800" err="1"/>
              <a:t>map</a:t>
            </a:r>
            <a:r>
              <a:rPr lang="fr-FR" sz="1800"/>
              <a:t> ne cherche pas à pousser une culture en particulier (favoriser l’autonomie ou le consensus), il s’agit simplement d’un outil d’expression pour qu’un groupe puisse améliorer son quotidien.</a:t>
            </a:r>
          </a:p>
          <a:p>
            <a:endParaRPr lang="fr-FR" sz="1800"/>
          </a:p>
        </p:txBody>
      </p:sp>
      <p:pic>
        <p:nvPicPr>
          <p:cNvPr id="5" name="Graphique 4" descr="Avertissement avec un remplissage uni">
            <a:extLst>
              <a:ext uri="{FF2B5EF4-FFF2-40B4-BE49-F238E27FC236}">
                <a16:creationId xmlns:a16="http://schemas.microsoft.com/office/drawing/2014/main" id="{728868AE-8011-24C9-F573-CD20AA2895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253739"/>
            <a:ext cx="2171350" cy="2171350"/>
          </a:xfrm>
          <a:prstGeom prst="rect">
            <a:avLst/>
          </a:prstGeom>
        </p:spPr>
      </p:pic>
    </p:spTree>
    <p:extLst>
      <p:ext uri="{BB962C8B-B14F-4D97-AF65-F5344CB8AC3E}">
        <p14:creationId xmlns:p14="http://schemas.microsoft.com/office/powerpoint/2010/main" val="36808051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0BCF3B-2DA2-2416-6C0A-E3BC84AE475F}"/>
              </a:ext>
            </a:extLst>
          </p:cNvPr>
          <p:cNvSpPr>
            <a:spLocks noGrp="1"/>
          </p:cNvSpPr>
          <p:nvPr>
            <p:ph type="title"/>
          </p:nvPr>
        </p:nvSpPr>
        <p:spPr/>
        <p:txBody>
          <a:bodyPr/>
          <a:lstStyle/>
          <a:p>
            <a:r>
              <a:rPr lang="fr-FR"/>
              <a:t>IVCD </a:t>
            </a:r>
            <a:r>
              <a:rPr lang="fr-FR" err="1"/>
              <a:t>Map</a:t>
            </a:r>
            <a:r>
              <a:rPr lang="fr-FR"/>
              <a:t> détaillée</a:t>
            </a:r>
          </a:p>
        </p:txBody>
      </p:sp>
      <p:sp>
        <p:nvSpPr>
          <p:cNvPr id="3" name="Espace réservé du contenu 2">
            <a:extLst>
              <a:ext uri="{FF2B5EF4-FFF2-40B4-BE49-F238E27FC236}">
                <a16:creationId xmlns:a16="http://schemas.microsoft.com/office/drawing/2014/main" id="{393442AE-3F5D-139A-CD16-E17C9F16677B}"/>
              </a:ext>
            </a:extLst>
          </p:cNvPr>
          <p:cNvSpPr>
            <a:spLocks noGrp="1"/>
          </p:cNvSpPr>
          <p:nvPr>
            <p:ph idx="1"/>
          </p:nvPr>
        </p:nvSpPr>
        <p:spPr>
          <a:xfrm>
            <a:off x="1930808" y="2157981"/>
            <a:ext cx="6372849" cy="848704"/>
          </a:xfrm>
        </p:spPr>
        <p:txBody>
          <a:bodyPr>
            <a:normAutofit fontScale="92500" lnSpcReduction="10000"/>
          </a:bodyPr>
          <a:lstStyle/>
          <a:p>
            <a:pPr marL="0" indent="0">
              <a:buNone/>
            </a:pPr>
            <a:r>
              <a:rPr lang="fr-FR" sz="1800"/>
              <a:t>A chaque fois qu’un ticket sera dans la case « consensus » :</a:t>
            </a:r>
          </a:p>
          <a:p>
            <a:pPr marL="0" indent="0">
              <a:buNone/>
            </a:pPr>
            <a:r>
              <a:rPr lang="fr-FR" sz="1800"/>
              <a:t>L’IVCD </a:t>
            </a:r>
            <a:r>
              <a:rPr lang="fr-FR" sz="1800" err="1"/>
              <a:t>Map</a:t>
            </a:r>
            <a:r>
              <a:rPr lang="fr-FR" sz="1800"/>
              <a:t> détaillée consiste à détailler « qui sont les collectifs » associés (Tickets verts dans l’exemple ci-dessous)</a:t>
            </a:r>
          </a:p>
          <a:p>
            <a:endParaRPr lang="fr-FR" sz="1800"/>
          </a:p>
          <a:p>
            <a:endParaRPr lang="fr-FR" sz="1800"/>
          </a:p>
        </p:txBody>
      </p:sp>
      <p:grpSp>
        <p:nvGrpSpPr>
          <p:cNvPr id="187" name="Groupe 186">
            <a:extLst>
              <a:ext uri="{FF2B5EF4-FFF2-40B4-BE49-F238E27FC236}">
                <a16:creationId xmlns:a16="http://schemas.microsoft.com/office/drawing/2014/main" id="{0C2AAC4A-D841-F7E2-466C-D8CC8DC2B41E}"/>
              </a:ext>
            </a:extLst>
          </p:cNvPr>
          <p:cNvGrpSpPr/>
          <p:nvPr/>
        </p:nvGrpSpPr>
        <p:grpSpPr>
          <a:xfrm>
            <a:off x="897288" y="4198832"/>
            <a:ext cx="3226026" cy="1614825"/>
            <a:chOff x="2071688" y="1690688"/>
            <a:chExt cx="9894887" cy="4953000"/>
          </a:xfrm>
        </p:grpSpPr>
        <p:grpSp>
          <p:nvGrpSpPr>
            <p:cNvPr id="188" name="Groupe 187">
              <a:extLst>
                <a:ext uri="{FF2B5EF4-FFF2-40B4-BE49-F238E27FC236}">
                  <a16:creationId xmlns:a16="http://schemas.microsoft.com/office/drawing/2014/main" id="{A5006CCA-CD1F-EA5B-14A0-90414A49A485}"/>
                </a:ext>
              </a:extLst>
            </p:cNvPr>
            <p:cNvGrpSpPr/>
            <p:nvPr/>
          </p:nvGrpSpPr>
          <p:grpSpPr>
            <a:xfrm>
              <a:off x="3333750" y="1690688"/>
              <a:ext cx="6959600" cy="4953000"/>
              <a:chOff x="2425700" y="1690688"/>
              <a:chExt cx="6959600" cy="4953000"/>
            </a:xfrm>
          </p:grpSpPr>
          <p:sp>
            <p:nvSpPr>
              <p:cNvPr id="199" name="Ellipse 198">
                <a:extLst>
                  <a:ext uri="{FF2B5EF4-FFF2-40B4-BE49-F238E27FC236}">
                    <a16:creationId xmlns:a16="http://schemas.microsoft.com/office/drawing/2014/main" id="{1BBF4C11-1D38-95FD-001B-3CDB7B091227}"/>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200" name="Ellipse 199">
                <a:extLst>
                  <a:ext uri="{FF2B5EF4-FFF2-40B4-BE49-F238E27FC236}">
                    <a16:creationId xmlns:a16="http://schemas.microsoft.com/office/drawing/2014/main" id="{F75D0DDB-D51B-E03B-2760-B58C5E6F00C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89" name="ZoneTexte 188">
              <a:extLst>
                <a:ext uri="{FF2B5EF4-FFF2-40B4-BE49-F238E27FC236}">
                  <a16:creationId xmlns:a16="http://schemas.microsoft.com/office/drawing/2014/main" id="{8B6038D3-AD67-559E-5660-023E37D079EC}"/>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190" name="ZoneTexte 189">
              <a:extLst>
                <a:ext uri="{FF2B5EF4-FFF2-40B4-BE49-F238E27FC236}">
                  <a16:creationId xmlns:a16="http://schemas.microsoft.com/office/drawing/2014/main" id="{6D04FDD5-9F6D-92FF-112E-FD21C4A46880}"/>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191" name="ZoneTexte 190">
              <a:extLst>
                <a:ext uri="{FF2B5EF4-FFF2-40B4-BE49-F238E27FC236}">
                  <a16:creationId xmlns:a16="http://schemas.microsoft.com/office/drawing/2014/main" id="{E7E231A3-1561-3D93-563B-6E998008C1EB}"/>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192" name="ZoneTexte 191">
              <a:extLst>
                <a:ext uri="{FF2B5EF4-FFF2-40B4-BE49-F238E27FC236}">
                  <a16:creationId xmlns:a16="http://schemas.microsoft.com/office/drawing/2014/main" id="{9D80ABF3-D628-E17F-7A55-A5C574E74E97}"/>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93" name="ZoneTexte 192">
              <a:extLst>
                <a:ext uri="{FF2B5EF4-FFF2-40B4-BE49-F238E27FC236}">
                  <a16:creationId xmlns:a16="http://schemas.microsoft.com/office/drawing/2014/main" id="{1468CC21-ACEB-3AF4-54AC-ACC9E11A0737}"/>
                </a:ext>
              </a:extLst>
            </p:cNvPr>
            <p:cNvSpPr txBox="1"/>
            <p:nvPr/>
          </p:nvSpPr>
          <p:spPr>
            <a:xfrm>
              <a:off x="8505227" y="2729103"/>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4" name="ZoneTexte 193">
              <a:extLst>
                <a:ext uri="{FF2B5EF4-FFF2-40B4-BE49-F238E27FC236}">
                  <a16:creationId xmlns:a16="http://schemas.microsoft.com/office/drawing/2014/main" id="{43E9C611-D6B7-3D48-B913-D5E7F49FF18A}"/>
                </a:ext>
              </a:extLst>
            </p:cNvPr>
            <p:cNvSpPr txBox="1"/>
            <p:nvPr/>
          </p:nvSpPr>
          <p:spPr>
            <a:xfrm>
              <a:off x="3773091" y="2754641"/>
              <a:ext cx="1547415" cy="523220"/>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195" name="ZoneTexte 194">
              <a:extLst>
                <a:ext uri="{FF2B5EF4-FFF2-40B4-BE49-F238E27FC236}">
                  <a16:creationId xmlns:a16="http://schemas.microsoft.com/office/drawing/2014/main" id="{466C7592-4F76-8798-CCDC-172B9CEA43C8}"/>
                </a:ext>
              </a:extLst>
            </p:cNvPr>
            <p:cNvSpPr txBox="1"/>
            <p:nvPr/>
          </p:nvSpPr>
          <p:spPr>
            <a:xfrm>
              <a:off x="8583017" y="3797856"/>
              <a:ext cx="1547415" cy="954107"/>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6" name="ZoneTexte 195">
              <a:extLst>
                <a:ext uri="{FF2B5EF4-FFF2-40B4-BE49-F238E27FC236}">
                  <a16:creationId xmlns:a16="http://schemas.microsoft.com/office/drawing/2014/main" id="{35FF46AE-B435-231E-D642-9073FD02D83E}"/>
                </a:ext>
              </a:extLst>
            </p:cNvPr>
            <p:cNvSpPr txBox="1"/>
            <p:nvPr/>
          </p:nvSpPr>
          <p:spPr>
            <a:xfrm>
              <a:off x="3506192" y="3433873"/>
              <a:ext cx="1547415" cy="1169551"/>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197" name="ZoneTexte 196">
              <a:extLst>
                <a:ext uri="{FF2B5EF4-FFF2-40B4-BE49-F238E27FC236}">
                  <a16:creationId xmlns:a16="http://schemas.microsoft.com/office/drawing/2014/main" id="{6CC0CC81-03A3-CA91-FE1F-D793BA565640}"/>
                </a:ext>
              </a:extLst>
            </p:cNvPr>
            <p:cNvSpPr txBox="1"/>
            <p:nvPr/>
          </p:nvSpPr>
          <p:spPr>
            <a:xfrm>
              <a:off x="3773091" y="4776948"/>
              <a:ext cx="1547415" cy="738664"/>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198" name="ZoneTexte 197">
              <a:extLst>
                <a:ext uri="{FF2B5EF4-FFF2-40B4-BE49-F238E27FC236}">
                  <a16:creationId xmlns:a16="http://schemas.microsoft.com/office/drawing/2014/main" id="{726E4164-D1B3-7B01-17C8-B9C1DE70C036}"/>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207" name="ZoneTexte 206">
              <a:extLst>
                <a:ext uri="{FF2B5EF4-FFF2-40B4-BE49-F238E27FC236}">
                  <a16:creationId xmlns:a16="http://schemas.microsoft.com/office/drawing/2014/main" id="{C4C1E36D-8215-8D0E-BE6A-2E7AABA47C5A}"/>
                </a:ext>
              </a:extLst>
            </p:cNvPr>
            <p:cNvSpPr txBox="1"/>
            <p:nvPr/>
          </p:nvSpPr>
          <p:spPr>
            <a:xfrm>
              <a:off x="8147241" y="5038555"/>
              <a:ext cx="1547415" cy="954106"/>
            </a:xfrm>
            <a:prstGeom prst="rect">
              <a:avLst/>
            </a:prstGeom>
            <a:solidFill>
              <a:schemeClr val="accent6"/>
            </a:solidFill>
            <a:ln>
              <a:solidFill>
                <a:schemeClr val="tx1"/>
              </a:solidFill>
            </a:ln>
          </p:spPr>
          <p:txBody>
            <a:bodyPr wrap="square">
              <a:normAutofit/>
            </a:bodyPr>
            <a:lstStyle/>
            <a:p>
              <a:pPr algn="ctr"/>
              <a:endParaRPr lang="fr-FR" sz="200"/>
            </a:p>
          </p:txBody>
        </p:sp>
        <p:sp>
          <p:nvSpPr>
            <p:cNvPr id="301" name="ZoneTexte 300">
              <a:extLst>
                <a:ext uri="{FF2B5EF4-FFF2-40B4-BE49-F238E27FC236}">
                  <a16:creationId xmlns:a16="http://schemas.microsoft.com/office/drawing/2014/main" id="{28CDD65D-4708-A72B-79DF-DDA13A364159}"/>
                </a:ext>
              </a:extLst>
            </p:cNvPr>
            <p:cNvSpPr txBox="1"/>
            <p:nvPr/>
          </p:nvSpPr>
          <p:spPr>
            <a:xfrm>
              <a:off x="7733797" y="1754590"/>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grpSp>
      <p:pic>
        <p:nvPicPr>
          <p:cNvPr id="201" name="Graphique 200" descr="Homme portant un sweat à capuche">
            <a:extLst>
              <a:ext uri="{FF2B5EF4-FFF2-40B4-BE49-F238E27FC236}">
                <a16:creationId xmlns:a16="http://schemas.microsoft.com/office/drawing/2014/main" id="{6B82F75B-21C8-733A-D762-1622357463B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5583" y="4480494"/>
            <a:ext cx="387523" cy="522438"/>
          </a:xfrm>
          <a:prstGeom prst="rect">
            <a:avLst/>
          </a:prstGeom>
        </p:spPr>
      </p:pic>
      <p:grpSp>
        <p:nvGrpSpPr>
          <p:cNvPr id="202" name="Groupe 201">
            <a:extLst>
              <a:ext uri="{FF2B5EF4-FFF2-40B4-BE49-F238E27FC236}">
                <a16:creationId xmlns:a16="http://schemas.microsoft.com/office/drawing/2014/main" id="{3B9EEEFA-0E01-FE09-6BC3-919D688C7FCA}"/>
              </a:ext>
            </a:extLst>
          </p:cNvPr>
          <p:cNvGrpSpPr/>
          <p:nvPr/>
        </p:nvGrpSpPr>
        <p:grpSpPr>
          <a:xfrm>
            <a:off x="3684119" y="4693092"/>
            <a:ext cx="977350" cy="288026"/>
            <a:chOff x="10408277" y="3548984"/>
            <a:chExt cx="1801932" cy="531031"/>
          </a:xfrm>
        </p:grpSpPr>
        <p:pic>
          <p:nvPicPr>
            <p:cNvPr id="203" name="Graphique 202" descr="Homme portant un sweat à capuche">
              <a:extLst>
                <a:ext uri="{FF2B5EF4-FFF2-40B4-BE49-F238E27FC236}">
                  <a16:creationId xmlns:a16="http://schemas.microsoft.com/office/drawing/2014/main" id="{9BEC1DEE-161D-826D-4165-D897E97E8EB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41649" y="3557577"/>
              <a:ext cx="387523" cy="522438"/>
            </a:xfrm>
            <a:prstGeom prst="rect">
              <a:avLst/>
            </a:prstGeom>
          </p:spPr>
        </p:pic>
        <p:pic>
          <p:nvPicPr>
            <p:cNvPr id="204" name="Graphique 203" descr="Femme avec bras prothétique">
              <a:extLst>
                <a:ext uri="{FF2B5EF4-FFF2-40B4-BE49-F238E27FC236}">
                  <a16:creationId xmlns:a16="http://schemas.microsoft.com/office/drawing/2014/main" id="{6A8F7E53-27AA-1EF6-0BF3-9FD76DBCBAE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240134" y="3548984"/>
              <a:ext cx="482456" cy="506579"/>
            </a:xfrm>
            <a:prstGeom prst="rect">
              <a:avLst/>
            </a:prstGeom>
          </p:spPr>
        </p:pic>
        <p:pic>
          <p:nvPicPr>
            <p:cNvPr id="205" name="Graphique 204" descr="Homme barbu en peignoir">
              <a:extLst>
                <a:ext uri="{FF2B5EF4-FFF2-40B4-BE49-F238E27FC236}">
                  <a16:creationId xmlns:a16="http://schemas.microsoft.com/office/drawing/2014/main" id="{1D662F5E-101D-7164-45B9-01DD189DE9C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408277" y="3548984"/>
              <a:ext cx="422410" cy="531030"/>
            </a:xfrm>
            <a:prstGeom prst="rect">
              <a:avLst/>
            </a:prstGeom>
          </p:spPr>
        </p:pic>
        <p:pic>
          <p:nvPicPr>
            <p:cNvPr id="206" name="Graphique 205" descr="Femme tenant un ordinateur portable">
              <a:extLst>
                <a:ext uri="{FF2B5EF4-FFF2-40B4-BE49-F238E27FC236}">
                  <a16:creationId xmlns:a16="http://schemas.microsoft.com/office/drawing/2014/main" id="{958B3B9E-30A8-476B-0A08-26CF9F5E05D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711628" y="3573435"/>
              <a:ext cx="498581" cy="506579"/>
            </a:xfrm>
            <a:prstGeom prst="rect">
              <a:avLst/>
            </a:prstGeom>
          </p:spPr>
        </p:pic>
      </p:grpSp>
      <p:sp>
        <p:nvSpPr>
          <p:cNvPr id="208" name="Espace réservé du contenu 2">
            <a:extLst>
              <a:ext uri="{FF2B5EF4-FFF2-40B4-BE49-F238E27FC236}">
                <a16:creationId xmlns:a16="http://schemas.microsoft.com/office/drawing/2014/main" id="{F2F9BE4A-3922-F767-5BD2-5C0F1F2C6AF6}"/>
              </a:ext>
            </a:extLst>
          </p:cNvPr>
          <p:cNvSpPr txBox="1">
            <a:spLocks/>
          </p:cNvSpPr>
          <p:nvPr/>
        </p:nvSpPr>
        <p:spPr>
          <a:xfrm>
            <a:off x="1027824" y="3326079"/>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a:t>
            </a:r>
            <a:r>
              <a:rPr lang="fr-FR" sz="1800" err="1"/>
              <a:t>Map</a:t>
            </a:r>
            <a:r>
              <a:rPr lang="fr-FR" sz="1800"/>
              <a:t> simple</a:t>
            </a:r>
          </a:p>
        </p:txBody>
      </p:sp>
      <p:sp>
        <p:nvSpPr>
          <p:cNvPr id="209" name="Espace réservé du contenu 2">
            <a:extLst>
              <a:ext uri="{FF2B5EF4-FFF2-40B4-BE49-F238E27FC236}">
                <a16:creationId xmlns:a16="http://schemas.microsoft.com/office/drawing/2014/main" id="{500E55C2-1A78-35A3-161B-C169DC2C5E71}"/>
              </a:ext>
            </a:extLst>
          </p:cNvPr>
          <p:cNvSpPr txBox="1">
            <a:spLocks/>
          </p:cNvSpPr>
          <p:nvPr/>
        </p:nvSpPr>
        <p:spPr>
          <a:xfrm>
            <a:off x="6268985" y="3265794"/>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a:t>
            </a:r>
            <a:r>
              <a:rPr lang="fr-FR" sz="1800" err="1"/>
              <a:t>Map</a:t>
            </a:r>
            <a:r>
              <a:rPr lang="fr-FR" sz="1800"/>
              <a:t> détaillée</a:t>
            </a:r>
          </a:p>
        </p:txBody>
      </p:sp>
      <p:sp>
        <p:nvSpPr>
          <p:cNvPr id="210" name="ZoneTexte 209">
            <a:extLst>
              <a:ext uri="{FF2B5EF4-FFF2-40B4-BE49-F238E27FC236}">
                <a16:creationId xmlns:a16="http://schemas.microsoft.com/office/drawing/2014/main" id="{F42BC581-E7E0-E707-3C8A-4198F3F25E26}"/>
              </a:ext>
            </a:extLst>
          </p:cNvPr>
          <p:cNvSpPr txBox="1"/>
          <p:nvPr/>
        </p:nvSpPr>
        <p:spPr>
          <a:xfrm>
            <a:off x="6820968" y="4812096"/>
            <a:ext cx="504503" cy="170585"/>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211" name="ZoneTexte 210">
            <a:extLst>
              <a:ext uri="{FF2B5EF4-FFF2-40B4-BE49-F238E27FC236}">
                <a16:creationId xmlns:a16="http://schemas.microsoft.com/office/drawing/2014/main" id="{1C46CBD7-9B91-8F53-6D85-2DDCEEB2E64A}"/>
              </a:ext>
            </a:extLst>
          </p:cNvPr>
          <p:cNvSpPr txBox="1"/>
          <p:nvPr/>
        </p:nvSpPr>
        <p:spPr>
          <a:xfrm>
            <a:off x="6820968" y="5035895"/>
            <a:ext cx="504503" cy="381308"/>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2" name="ZoneTexte 211">
            <a:extLst>
              <a:ext uri="{FF2B5EF4-FFF2-40B4-BE49-F238E27FC236}">
                <a16:creationId xmlns:a16="http://schemas.microsoft.com/office/drawing/2014/main" id="{6F558876-9578-98C0-9F0A-D96BC1051A20}"/>
              </a:ext>
            </a:extLst>
          </p:cNvPr>
          <p:cNvSpPr txBox="1"/>
          <p:nvPr/>
        </p:nvSpPr>
        <p:spPr>
          <a:xfrm>
            <a:off x="6820968" y="5471428"/>
            <a:ext cx="504503" cy="240826"/>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3" name="ZoneTexte 212">
            <a:extLst>
              <a:ext uri="{FF2B5EF4-FFF2-40B4-BE49-F238E27FC236}">
                <a16:creationId xmlns:a16="http://schemas.microsoft.com/office/drawing/2014/main" id="{5D7632CC-6AEE-617F-A096-CD32EA1EA3A7}"/>
              </a:ext>
            </a:extLst>
          </p:cNvPr>
          <p:cNvSpPr txBox="1"/>
          <p:nvPr/>
        </p:nvSpPr>
        <p:spPr>
          <a:xfrm>
            <a:off x="8342983" y="4827691"/>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4" name="ZoneTexte 213">
            <a:extLst>
              <a:ext uri="{FF2B5EF4-FFF2-40B4-BE49-F238E27FC236}">
                <a16:creationId xmlns:a16="http://schemas.microsoft.com/office/drawing/2014/main" id="{58729BE6-CA37-C7A8-B042-D2895D3DEB50}"/>
              </a:ext>
            </a:extLst>
          </p:cNvPr>
          <p:cNvSpPr txBox="1"/>
          <p:nvPr/>
        </p:nvSpPr>
        <p:spPr>
          <a:xfrm>
            <a:off x="9811189" y="4807479"/>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5" name="ZoneTexte 214">
            <a:extLst>
              <a:ext uri="{FF2B5EF4-FFF2-40B4-BE49-F238E27FC236}">
                <a16:creationId xmlns:a16="http://schemas.microsoft.com/office/drawing/2014/main" id="{99A46F9E-48D7-9BEA-DD2E-06FF49756EC0}"/>
              </a:ext>
            </a:extLst>
          </p:cNvPr>
          <p:cNvSpPr txBox="1"/>
          <p:nvPr/>
        </p:nvSpPr>
        <p:spPr>
          <a:xfrm>
            <a:off x="11355485" y="4741854"/>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grpSp>
        <p:nvGrpSpPr>
          <p:cNvPr id="300" name="Groupe 299">
            <a:extLst>
              <a:ext uri="{FF2B5EF4-FFF2-40B4-BE49-F238E27FC236}">
                <a16:creationId xmlns:a16="http://schemas.microsoft.com/office/drawing/2014/main" id="{7AF7D77C-7DB1-E599-5256-8A21B435E859}"/>
              </a:ext>
            </a:extLst>
          </p:cNvPr>
          <p:cNvGrpSpPr/>
          <p:nvPr/>
        </p:nvGrpSpPr>
        <p:grpSpPr>
          <a:xfrm>
            <a:off x="6500054" y="3473978"/>
            <a:ext cx="5673724" cy="1257845"/>
            <a:chOff x="6613052" y="848589"/>
            <a:chExt cx="5673724" cy="1257845"/>
          </a:xfrm>
        </p:grpSpPr>
        <p:sp>
          <p:nvSpPr>
            <p:cNvPr id="216" name="Flèche : double flèche horizontale 215">
              <a:extLst>
                <a:ext uri="{FF2B5EF4-FFF2-40B4-BE49-F238E27FC236}">
                  <a16:creationId xmlns:a16="http://schemas.microsoft.com/office/drawing/2014/main" id="{D5D431E6-14B4-4080-AFD0-0877A94AB6EF}"/>
                </a:ext>
              </a:extLst>
            </p:cNvPr>
            <p:cNvSpPr/>
            <p:nvPr/>
          </p:nvSpPr>
          <p:spPr>
            <a:xfrm>
              <a:off x="6613052" y="1746207"/>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219" name="Groupe 218">
              <a:extLst>
                <a:ext uri="{FF2B5EF4-FFF2-40B4-BE49-F238E27FC236}">
                  <a16:creationId xmlns:a16="http://schemas.microsoft.com/office/drawing/2014/main" id="{D9097560-28D3-2A04-57D7-23E063A3658E}"/>
                </a:ext>
              </a:extLst>
            </p:cNvPr>
            <p:cNvGrpSpPr/>
            <p:nvPr/>
          </p:nvGrpSpPr>
          <p:grpSpPr>
            <a:xfrm>
              <a:off x="6684187" y="882366"/>
              <a:ext cx="914400" cy="914400"/>
              <a:chOff x="168514" y="2615341"/>
              <a:chExt cx="914400" cy="914400"/>
            </a:xfrm>
          </p:grpSpPr>
          <p:pic>
            <p:nvPicPr>
              <p:cNvPr id="220" name="Graphique 219" descr="Homme conductrice avec un remplissage uni">
                <a:extLst>
                  <a:ext uri="{FF2B5EF4-FFF2-40B4-BE49-F238E27FC236}">
                    <a16:creationId xmlns:a16="http://schemas.microsoft.com/office/drawing/2014/main" id="{8AE5EA37-C490-FF93-DA49-4A4836C0C5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514" y="2615341"/>
                <a:ext cx="914400" cy="914400"/>
              </a:xfrm>
              <a:prstGeom prst="rect">
                <a:avLst/>
              </a:prstGeom>
            </p:spPr>
          </p:pic>
          <p:sp>
            <p:nvSpPr>
              <p:cNvPr id="221" name="Rectangle 220">
                <a:extLst>
                  <a:ext uri="{FF2B5EF4-FFF2-40B4-BE49-F238E27FC236}">
                    <a16:creationId xmlns:a16="http://schemas.microsoft.com/office/drawing/2014/main" id="{61D04F9C-09C4-788B-4B91-C9BD9B626E71}"/>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24" name="Groupe 223">
              <a:extLst>
                <a:ext uri="{FF2B5EF4-FFF2-40B4-BE49-F238E27FC236}">
                  <a16:creationId xmlns:a16="http://schemas.microsoft.com/office/drawing/2014/main" id="{DD2B292F-E220-723F-D689-BE4985037A54}"/>
                </a:ext>
              </a:extLst>
            </p:cNvPr>
            <p:cNvGrpSpPr/>
            <p:nvPr/>
          </p:nvGrpSpPr>
          <p:grpSpPr>
            <a:xfrm>
              <a:off x="11182055" y="848589"/>
              <a:ext cx="1052362" cy="886148"/>
              <a:chOff x="8572649" y="1655556"/>
              <a:chExt cx="1409636" cy="1186993"/>
            </a:xfrm>
            <a:solidFill>
              <a:schemeClr val="accent1"/>
            </a:solidFill>
          </p:grpSpPr>
          <p:grpSp>
            <p:nvGrpSpPr>
              <p:cNvPr id="225" name="Groupe 224">
                <a:extLst>
                  <a:ext uri="{FF2B5EF4-FFF2-40B4-BE49-F238E27FC236}">
                    <a16:creationId xmlns:a16="http://schemas.microsoft.com/office/drawing/2014/main" id="{4DF5981E-8794-13A6-1267-6274F6CE7229}"/>
                  </a:ext>
                </a:extLst>
              </p:cNvPr>
              <p:cNvGrpSpPr/>
              <p:nvPr/>
            </p:nvGrpSpPr>
            <p:grpSpPr>
              <a:xfrm>
                <a:off x="8572649" y="1655556"/>
                <a:ext cx="1409636" cy="1186993"/>
                <a:chOff x="8982504" y="3274976"/>
                <a:chExt cx="1230670" cy="1036294"/>
              </a:xfrm>
              <a:grpFill/>
            </p:grpSpPr>
            <p:pic>
              <p:nvPicPr>
                <p:cNvPr id="259" name="Graphique 258" descr="Utilisateur avec un remplissage uni">
                  <a:extLst>
                    <a:ext uri="{FF2B5EF4-FFF2-40B4-BE49-F238E27FC236}">
                      <a16:creationId xmlns:a16="http://schemas.microsoft.com/office/drawing/2014/main" id="{B1535F7A-7C3D-21B1-C435-15A8499F82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01028" y="3274976"/>
                  <a:ext cx="336064" cy="336064"/>
                </a:xfrm>
                <a:prstGeom prst="rect">
                  <a:avLst/>
                </a:prstGeom>
              </p:spPr>
            </p:pic>
            <p:pic>
              <p:nvPicPr>
                <p:cNvPr id="260" name="Graphique 259" descr="Utilisateur avec un remplissage uni">
                  <a:extLst>
                    <a:ext uri="{FF2B5EF4-FFF2-40B4-BE49-F238E27FC236}">
                      <a16:creationId xmlns:a16="http://schemas.microsoft.com/office/drawing/2014/main" id="{4CECBCB6-ECEA-E543-1B58-3A97ECDAD99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54140" y="3512720"/>
                  <a:ext cx="336064" cy="336064"/>
                </a:xfrm>
                <a:prstGeom prst="rect">
                  <a:avLst/>
                </a:prstGeom>
              </p:spPr>
            </p:pic>
            <p:pic>
              <p:nvPicPr>
                <p:cNvPr id="261" name="Graphique 260" descr="Utilisateur avec un remplissage uni">
                  <a:extLst>
                    <a:ext uri="{FF2B5EF4-FFF2-40B4-BE49-F238E27FC236}">
                      <a16:creationId xmlns:a16="http://schemas.microsoft.com/office/drawing/2014/main" id="{AABFCAAD-1E03-5108-6A03-4411B6C154D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45616" y="3561880"/>
                  <a:ext cx="336064" cy="336064"/>
                </a:xfrm>
                <a:prstGeom prst="rect">
                  <a:avLst/>
                </a:prstGeom>
              </p:spPr>
            </p:pic>
            <p:pic>
              <p:nvPicPr>
                <p:cNvPr id="262" name="Graphique 261" descr="Utilisateur avec un remplissage uni">
                  <a:extLst>
                    <a:ext uri="{FF2B5EF4-FFF2-40B4-BE49-F238E27FC236}">
                      <a16:creationId xmlns:a16="http://schemas.microsoft.com/office/drawing/2014/main" id="{D9ABA7E0-CD24-1BB3-CA32-C50F8E61C5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92504" y="3418428"/>
                  <a:ext cx="336064" cy="336064"/>
                </a:xfrm>
                <a:prstGeom prst="rect">
                  <a:avLst/>
                </a:prstGeom>
              </p:spPr>
            </p:pic>
            <p:pic>
              <p:nvPicPr>
                <p:cNvPr id="263" name="Graphique 262" descr="Utilisateur avec un remplissage uni">
                  <a:extLst>
                    <a:ext uri="{FF2B5EF4-FFF2-40B4-BE49-F238E27FC236}">
                      <a16:creationId xmlns:a16="http://schemas.microsoft.com/office/drawing/2014/main" id="{3E90BA0A-5660-F8E2-0F96-49F85BDBB35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35196" y="3680752"/>
                  <a:ext cx="336064" cy="336064"/>
                </a:xfrm>
                <a:prstGeom prst="rect">
                  <a:avLst/>
                </a:prstGeom>
              </p:spPr>
            </p:pic>
            <p:pic>
              <p:nvPicPr>
                <p:cNvPr id="264" name="Graphique 263" descr="Utilisateur avec un remplissage uni">
                  <a:extLst>
                    <a:ext uri="{FF2B5EF4-FFF2-40B4-BE49-F238E27FC236}">
                      <a16:creationId xmlns:a16="http://schemas.microsoft.com/office/drawing/2014/main" id="{5C608117-EA74-BBC5-C2A8-BE2A157BA8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56440" y="3848784"/>
                  <a:ext cx="336064" cy="336064"/>
                </a:xfrm>
                <a:prstGeom prst="rect">
                  <a:avLst/>
                </a:prstGeom>
              </p:spPr>
            </p:pic>
            <p:pic>
              <p:nvPicPr>
                <p:cNvPr id="265" name="Graphique 264" descr="Utilisateur avec un remplissage uni">
                  <a:extLst>
                    <a:ext uri="{FF2B5EF4-FFF2-40B4-BE49-F238E27FC236}">
                      <a16:creationId xmlns:a16="http://schemas.microsoft.com/office/drawing/2014/main" id="{D355FF30-A1AA-FF28-575D-31BB11BEB6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82504" y="3835028"/>
                  <a:ext cx="336064" cy="336064"/>
                </a:xfrm>
                <a:prstGeom prst="rect">
                  <a:avLst/>
                </a:prstGeom>
              </p:spPr>
            </p:pic>
            <p:pic>
              <p:nvPicPr>
                <p:cNvPr id="266" name="Graphique 265" descr="Utilisateur avec un remplissage uni">
                  <a:extLst>
                    <a:ext uri="{FF2B5EF4-FFF2-40B4-BE49-F238E27FC236}">
                      <a16:creationId xmlns:a16="http://schemas.microsoft.com/office/drawing/2014/main" id="{81E10BAA-D10D-3E28-08EB-FEBB333F8A5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0868" y="3943076"/>
                  <a:ext cx="336064" cy="336064"/>
                </a:xfrm>
                <a:prstGeom prst="rect">
                  <a:avLst/>
                </a:prstGeom>
              </p:spPr>
            </p:pic>
            <p:pic>
              <p:nvPicPr>
                <p:cNvPr id="267" name="Graphique 266" descr="Utilisateur avec un remplissage uni">
                  <a:extLst>
                    <a:ext uri="{FF2B5EF4-FFF2-40B4-BE49-F238E27FC236}">
                      <a16:creationId xmlns:a16="http://schemas.microsoft.com/office/drawing/2014/main" id="{D908223D-634F-7D49-1AD5-7DA84E25F3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83417" y="3975206"/>
                  <a:ext cx="336064" cy="336064"/>
                </a:xfrm>
                <a:prstGeom prst="rect">
                  <a:avLst/>
                </a:prstGeom>
              </p:spPr>
            </p:pic>
            <p:pic>
              <p:nvPicPr>
                <p:cNvPr id="268" name="Graphique 267" descr="Utilisateur avec un remplissage uni">
                  <a:extLst>
                    <a:ext uri="{FF2B5EF4-FFF2-40B4-BE49-F238E27FC236}">
                      <a16:creationId xmlns:a16="http://schemas.microsoft.com/office/drawing/2014/main" id="{7D4F4CA4-2648-B7B3-FA19-C07129B4F6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77110" y="3705332"/>
                  <a:ext cx="336064" cy="336064"/>
                </a:xfrm>
                <a:prstGeom prst="rect">
                  <a:avLst/>
                </a:prstGeom>
              </p:spPr>
            </p:pic>
            <p:pic>
              <p:nvPicPr>
                <p:cNvPr id="269" name="Graphique 268" descr="Utilisateur avec un remplissage uni">
                  <a:extLst>
                    <a:ext uri="{FF2B5EF4-FFF2-40B4-BE49-F238E27FC236}">
                      <a16:creationId xmlns:a16="http://schemas.microsoft.com/office/drawing/2014/main" id="{34341945-1E12-D6AF-27BB-39B42A97AE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56932" y="3429000"/>
                  <a:ext cx="336064" cy="336064"/>
                </a:xfrm>
                <a:prstGeom prst="rect">
                  <a:avLst/>
                </a:prstGeom>
              </p:spPr>
            </p:pic>
          </p:grpSp>
          <p:grpSp>
            <p:nvGrpSpPr>
              <p:cNvPr id="226" name="Groupe 225">
                <a:extLst>
                  <a:ext uri="{FF2B5EF4-FFF2-40B4-BE49-F238E27FC236}">
                    <a16:creationId xmlns:a16="http://schemas.microsoft.com/office/drawing/2014/main" id="{78A72E0B-DB31-C941-52F3-6998AE7805BF}"/>
                  </a:ext>
                </a:extLst>
              </p:cNvPr>
              <p:cNvGrpSpPr/>
              <p:nvPr/>
            </p:nvGrpSpPr>
            <p:grpSpPr>
              <a:xfrm>
                <a:off x="8937492" y="1776645"/>
                <a:ext cx="102144" cy="191413"/>
                <a:chOff x="10178180" y="1782664"/>
                <a:chExt cx="102144" cy="191413"/>
              </a:xfrm>
              <a:grpFill/>
            </p:grpSpPr>
            <p:cxnSp>
              <p:nvCxnSpPr>
                <p:cNvPr id="257" name="Connecteur droit 256">
                  <a:extLst>
                    <a:ext uri="{FF2B5EF4-FFF2-40B4-BE49-F238E27FC236}">
                      <a16:creationId xmlns:a16="http://schemas.microsoft.com/office/drawing/2014/main" id="{7130BADB-57A2-F1AE-319F-AB65EE0F19B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D0719081-E37C-E693-B718-FE9CA2F8B98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7" name="Groupe 226">
                <a:extLst>
                  <a:ext uri="{FF2B5EF4-FFF2-40B4-BE49-F238E27FC236}">
                    <a16:creationId xmlns:a16="http://schemas.microsoft.com/office/drawing/2014/main" id="{801131BD-7610-88B6-8100-5387B6D60100}"/>
                  </a:ext>
                </a:extLst>
              </p:cNvPr>
              <p:cNvGrpSpPr/>
              <p:nvPr/>
            </p:nvGrpSpPr>
            <p:grpSpPr>
              <a:xfrm>
                <a:off x="9268284" y="1944784"/>
                <a:ext cx="102144" cy="191413"/>
                <a:chOff x="10178180" y="1782664"/>
                <a:chExt cx="102144" cy="191413"/>
              </a:xfrm>
              <a:grpFill/>
            </p:grpSpPr>
            <p:cxnSp>
              <p:nvCxnSpPr>
                <p:cNvPr id="255" name="Connecteur droit 254">
                  <a:extLst>
                    <a:ext uri="{FF2B5EF4-FFF2-40B4-BE49-F238E27FC236}">
                      <a16:creationId xmlns:a16="http://schemas.microsoft.com/office/drawing/2014/main" id="{1933C208-50D5-886D-A8E9-5D178EC999EA}"/>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DB1A70E-8249-878C-5456-BC75316192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8" name="Groupe 227">
                <a:extLst>
                  <a:ext uri="{FF2B5EF4-FFF2-40B4-BE49-F238E27FC236}">
                    <a16:creationId xmlns:a16="http://schemas.microsoft.com/office/drawing/2014/main" id="{6B5DF93C-9F3A-43B9-6B9C-D79B960AD5D9}"/>
                  </a:ext>
                </a:extLst>
              </p:cNvPr>
              <p:cNvGrpSpPr/>
              <p:nvPr/>
            </p:nvGrpSpPr>
            <p:grpSpPr>
              <a:xfrm>
                <a:off x="9584871" y="1954555"/>
                <a:ext cx="102144" cy="191413"/>
                <a:chOff x="10178180" y="1782664"/>
                <a:chExt cx="102144" cy="191413"/>
              </a:xfrm>
              <a:grpFill/>
            </p:grpSpPr>
            <p:cxnSp>
              <p:nvCxnSpPr>
                <p:cNvPr id="253" name="Connecteur droit 252">
                  <a:extLst>
                    <a:ext uri="{FF2B5EF4-FFF2-40B4-BE49-F238E27FC236}">
                      <a16:creationId xmlns:a16="http://schemas.microsoft.com/office/drawing/2014/main" id="{4BEFA778-69E2-EE34-D1A4-905532FF042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D8730043-6E2F-199B-01B2-E7CA222D8D0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9" name="Groupe 228">
                <a:extLst>
                  <a:ext uri="{FF2B5EF4-FFF2-40B4-BE49-F238E27FC236}">
                    <a16:creationId xmlns:a16="http://schemas.microsoft.com/office/drawing/2014/main" id="{1EDDEAE1-919E-C988-258C-7D99DF47E93D}"/>
                  </a:ext>
                </a:extLst>
              </p:cNvPr>
              <p:cNvGrpSpPr/>
              <p:nvPr/>
            </p:nvGrpSpPr>
            <p:grpSpPr>
              <a:xfrm>
                <a:off x="9610640" y="2276238"/>
                <a:ext cx="102144" cy="191413"/>
                <a:chOff x="10178180" y="1782664"/>
                <a:chExt cx="102144" cy="191413"/>
              </a:xfrm>
              <a:grpFill/>
            </p:grpSpPr>
            <p:cxnSp>
              <p:nvCxnSpPr>
                <p:cNvPr id="251" name="Connecteur droit 250">
                  <a:extLst>
                    <a:ext uri="{FF2B5EF4-FFF2-40B4-BE49-F238E27FC236}">
                      <a16:creationId xmlns:a16="http://schemas.microsoft.com/office/drawing/2014/main" id="{12DAACDA-C427-8FB9-3A04-91B04F2F515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BEC32540-E7C1-1710-5791-4474A3CFC69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0" name="Groupe 229">
                <a:extLst>
                  <a:ext uri="{FF2B5EF4-FFF2-40B4-BE49-F238E27FC236}">
                    <a16:creationId xmlns:a16="http://schemas.microsoft.com/office/drawing/2014/main" id="{1E46B35B-8267-5E54-032D-8C2A7425516E}"/>
                  </a:ext>
                </a:extLst>
              </p:cNvPr>
              <p:cNvGrpSpPr/>
              <p:nvPr/>
            </p:nvGrpSpPr>
            <p:grpSpPr>
              <a:xfrm>
                <a:off x="9334800" y="2253116"/>
                <a:ext cx="102144" cy="191413"/>
                <a:chOff x="10178180" y="1782664"/>
                <a:chExt cx="102144" cy="191413"/>
              </a:xfrm>
              <a:grpFill/>
            </p:grpSpPr>
            <p:cxnSp>
              <p:nvCxnSpPr>
                <p:cNvPr id="249" name="Connecteur droit 248">
                  <a:extLst>
                    <a:ext uri="{FF2B5EF4-FFF2-40B4-BE49-F238E27FC236}">
                      <a16:creationId xmlns:a16="http://schemas.microsoft.com/office/drawing/2014/main" id="{EA0924AF-ED17-37DF-CBEB-1D85CEE9E7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A7F93FC9-F5CA-DFF0-96CC-DC692C48D5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1" name="Groupe 230">
                <a:extLst>
                  <a:ext uri="{FF2B5EF4-FFF2-40B4-BE49-F238E27FC236}">
                    <a16:creationId xmlns:a16="http://schemas.microsoft.com/office/drawing/2014/main" id="{0B500217-C37B-C87F-A639-B673196E3C16}"/>
                  </a:ext>
                </a:extLst>
              </p:cNvPr>
              <p:cNvGrpSpPr/>
              <p:nvPr/>
            </p:nvGrpSpPr>
            <p:grpSpPr>
              <a:xfrm>
                <a:off x="8988065" y="2116634"/>
                <a:ext cx="102144" cy="191413"/>
                <a:chOff x="10178180" y="1782664"/>
                <a:chExt cx="102144" cy="191413"/>
              </a:xfrm>
              <a:grpFill/>
            </p:grpSpPr>
            <p:cxnSp>
              <p:nvCxnSpPr>
                <p:cNvPr id="247" name="Connecteur droit 246">
                  <a:extLst>
                    <a:ext uri="{FF2B5EF4-FFF2-40B4-BE49-F238E27FC236}">
                      <a16:creationId xmlns:a16="http://schemas.microsoft.com/office/drawing/2014/main" id="{931DD9C6-3100-EFB2-2AC4-89F613900E9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40D202D7-9D2D-27F6-9385-CFB68D8CFA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2" name="Groupe 231">
                <a:extLst>
                  <a:ext uri="{FF2B5EF4-FFF2-40B4-BE49-F238E27FC236}">
                    <a16:creationId xmlns:a16="http://schemas.microsoft.com/office/drawing/2014/main" id="{58CB9EC9-F36B-C442-57BA-951B866BCD24}"/>
                  </a:ext>
                </a:extLst>
              </p:cNvPr>
              <p:cNvGrpSpPr/>
              <p:nvPr/>
            </p:nvGrpSpPr>
            <p:grpSpPr>
              <a:xfrm>
                <a:off x="8656873" y="2059330"/>
                <a:ext cx="102144" cy="191413"/>
                <a:chOff x="10178180" y="1782664"/>
                <a:chExt cx="102144" cy="191413"/>
              </a:xfrm>
              <a:grpFill/>
            </p:grpSpPr>
            <p:cxnSp>
              <p:nvCxnSpPr>
                <p:cNvPr id="245" name="Connecteur droit 244">
                  <a:extLst>
                    <a:ext uri="{FF2B5EF4-FFF2-40B4-BE49-F238E27FC236}">
                      <a16:creationId xmlns:a16="http://schemas.microsoft.com/office/drawing/2014/main" id="{7EE5BD83-A370-FD3C-467B-C4190D9279A0}"/>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6" name="Ellipse 245">
                  <a:extLst>
                    <a:ext uri="{FF2B5EF4-FFF2-40B4-BE49-F238E27FC236}">
                      <a16:creationId xmlns:a16="http://schemas.microsoft.com/office/drawing/2014/main" id="{2FEF512B-9203-9116-6D2E-F72FBBB45D7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3" name="Groupe 232">
                <a:extLst>
                  <a:ext uri="{FF2B5EF4-FFF2-40B4-BE49-F238E27FC236}">
                    <a16:creationId xmlns:a16="http://schemas.microsoft.com/office/drawing/2014/main" id="{2F76B2CC-6F07-3FED-E604-E0096FAABF72}"/>
                  </a:ext>
                </a:extLst>
              </p:cNvPr>
              <p:cNvGrpSpPr/>
              <p:nvPr/>
            </p:nvGrpSpPr>
            <p:grpSpPr>
              <a:xfrm>
                <a:off x="8574420" y="2433143"/>
                <a:ext cx="102144" cy="191413"/>
                <a:chOff x="10178180" y="1782664"/>
                <a:chExt cx="102144" cy="191413"/>
              </a:xfrm>
              <a:grpFill/>
            </p:grpSpPr>
            <p:cxnSp>
              <p:nvCxnSpPr>
                <p:cNvPr id="243" name="Connecteur droit 242">
                  <a:extLst>
                    <a:ext uri="{FF2B5EF4-FFF2-40B4-BE49-F238E27FC236}">
                      <a16:creationId xmlns:a16="http://schemas.microsoft.com/office/drawing/2014/main" id="{70CB0DA6-04B8-A439-D494-2DEE6837487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4" name="Ellipse 243">
                  <a:extLst>
                    <a:ext uri="{FF2B5EF4-FFF2-40B4-BE49-F238E27FC236}">
                      <a16:creationId xmlns:a16="http://schemas.microsoft.com/office/drawing/2014/main" id="{6C74A311-9825-85EC-06B4-E2B55A5E402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4" name="Groupe 233">
                <a:extLst>
                  <a:ext uri="{FF2B5EF4-FFF2-40B4-BE49-F238E27FC236}">
                    <a16:creationId xmlns:a16="http://schemas.microsoft.com/office/drawing/2014/main" id="{2A809B5F-6A41-1679-6B87-B14C6413E523}"/>
                  </a:ext>
                </a:extLst>
              </p:cNvPr>
              <p:cNvGrpSpPr/>
              <p:nvPr/>
            </p:nvGrpSpPr>
            <p:grpSpPr>
              <a:xfrm>
                <a:off x="8888568" y="2441622"/>
                <a:ext cx="102144" cy="191413"/>
                <a:chOff x="10178180" y="1782664"/>
                <a:chExt cx="102144" cy="191413"/>
              </a:xfrm>
              <a:grpFill/>
            </p:grpSpPr>
            <p:cxnSp>
              <p:nvCxnSpPr>
                <p:cNvPr id="241" name="Connecteur droit 240">
                  <a:extLst>
                    <a:ext uri="{FF2B5EF4-FFF2-40B4-BE49-F238E27FC236}">
                      <a16:creationId xmlns:a16="http://schemas.microsoft.com/office/drawing/2014/main" id="{3A528582-75FD-D197-EB39-23FB196360F1}"/>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2" name="Ellipse 241">
                  <a:extLst>
                    <a:ext uri="{FF2B5EF4-FFF2-40B4-BE49-F238E27FC236}">
                      <a16:creationId xmlns:a16="http://schemas.microsoft.com/office/drawing/2014/main" id="{842CD754-500B-4A61-9BD3-72BBAD158A7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5" name="Groupe 234">
                <a:extLst>
                  <a:ext uri="{FF2B5EF4-FFF2-40B4-BE49-F238E27FC236}">
                    <a16:creationId xmlns:a16="http://schemas.microsoft.com/office/drawing/2014/main" id="{F24A46E8-54B3-BC5C-0CA7-5A00F7A2D3D3}"/>
                  </a:ext>
                </a:extLst>
              </p:cNvPr>
              <p:cNvGrpSpPr/>
              <p:nvPr/>
            </p:nvGrpSpPr>
            <p:grpSpPr>
              <a:xfrm>
                <a:off x="9195077" y="2553446"/>
                <a:ext cx="102144" cy="191413"/>
                <a:chOff x="10178180" y="1782664"/>
                <a:chExt cx="102144" cy="191413"/>
              </a:xfrm>
              <a:grpFill/>
            </p:grpSpPr>
            <p:cxnSp>
              <p:nvCxnSpPr>
                <p:cNvPr id="239" name="Connecteur droit 238">
                  <a:extLst>
                    <a:ext uri="{FF2B5EF4-FFF2-40B4-BE49-F238E27FC236}">
                      <a16:creationId xmlns:a16="http://schemas.microsoft.com/office/drawing/2014/main" id="{50CB32D5-FC6E-5FD7-76CE-B5C6696B93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0" name="Ellipse 239">
                  <a:extLst>
                    <a:ext uri="{FF2B5EF4-FFF2-40B4-BE49-F238E27FC236}">
                      <a16:creationId xmlns:a16="http://schemas.microsoft.com/office/drawing/2014/main" id="{5F50EBFF-7814-CA43-0058-E85387A3D22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6" name="Groupe 235">
                <a:extLst>
                  <a:ext uri="{FF2B5EF4-FFF2-40B4-BE49-F238E27FC236}">
                    <a16:creationId xmlns:a16="http://schemas.microsoft.com/office/drawing/2014/main" id="{1D85BB5A-1E57-3C48-FFE0-8503EEDA82EA}"/>
                  </a:ext>
                </a:extLst>
              </p:cNvPr>
              <p:cNvGrpSpPr/>
              <p:nvPr/>
            </p:nvGrpSpPr>
            <p:grpSpPr>
              <a:xfrm>
                <a:off x="9490032" y="2590463"/>
                <a:ext cx="102144" cy="191413"/>
                <a:chOff x="10178180" y="1782664"/>
                <a:chExt cx="102144" cy="191413"/>
              </a:xfrm>
              <a:grpFill/>
            </p:grpSpPr>
            <p:cxnSp>
              <p:nvCxnSpPr>
                <p:cNvPr id="237" name="Connecteur droit 236">
                  <a:extLst>
                    <a:ext uri="{FF2B5EF4-FFF2-40B4-BE49-F238E27FC236}">
                      <a16:creationId xmlns:a16="http://schemas.microsoft.com/office/drawing/2014/main" id="{D01790B0-E2B4-B58A-6688-72342DEA551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38" name="Ellipse 237">
                  <a:extLst>
                    <a:ext uri="{FF2B5EF4-FFF2-40B4-BE49-F238E27FC236}">
                      <a16:creationId xmlns:a16="http://schemas.microsoft.com/office/drawing/2014/main" id="{CB8D8056-6A85-3A86-887B-5F2DBEBDAD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2" name="Groupe 271">
              <a:extLst>
                <a:ext uri="{FF2B5EF4-FFF2-40B4-BE49-F238E27FC236}">
                  <a16:creationId xmlns:a16="http://schemas.microsoft.com/office/drawing/2014/main" id="{C44F1154-EF60-3D54-61D6-2163D81B02EA}"/>
                </a:ext>
              </a:extLst>
            </p:cNvPr>
            <p:cNvGrpSpPr/>
            <p:nvPr/>
          </p:nvGrpSpPr>
          <p:grpSpPr>
            <a:xfrm>
              <a:off x="8241424" y="971309"/>
              <a:ext cx="891895" cy="820209"/>
              <a:chOff x="1281387" y="2495253"/>
              <a:chExt cx="1084118" cy="996982"/>
            </a:xfrm>
          </p:grpSpPr>
          <p:grpSp>
            <p:nvGrpSpPr>
              <p:cNvPr id="273" name="Groupe 272">
                <a:extLst>
                  <a:ext uri="{FF2B5EF4-FFF2-40B4-BE49-F238E27FC236}">
                    <a16:creationId xmlns:a16="http://schemas.microsoft.com/office/drawing/2014/main" id="{0F211C05-8223-DF03-2B14-2BEAFE7BE587}"/>
                  </a:ext>
                </a:extLst>
              </p:cNvPr>
              <p:cNvGrpSpPr/>
              <p:nvPr/>
            </p:nvGrpSpPr>
            <p:grpSpPr>
              <a:xfrm>
                <a:off x="1569563" y="3035035"/>
                <a:ext cx="457200" cy="457200"/>
                <a:chOff x="3982824" y="1896400"/>
                <a:chExt cx="914400" cy="914400"/>
              </a:xfrm>
            </p:grpSpPr>
            <p:pic>
              <p:nvPicPr>
                <p:cNvPr id="283" name="Graphique 282" descr="Homme conductrice avec un remplissage uni">
                  <a:extLst>
                    <a:ext uri="{FF2B5EF4-FFF2-40B4-BE49-F238E27FC236}">
                      <a16:creationId xmlns:a16="http://schemas.microsoft.com/office/drawing/2014/main" id="{C82D7760-D368-4B4D-5B59-8A9C002CE1A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4" name="Rectangle 283">
                  <a:extLst>
                    <a:ext uri="{FF2B5EF4-FFF2-40B4-BE49-F238E27FC236}">
                      <a16:creationId xmlns:a16="http://schemas.microsoft.com/office/drawing/2014/main" id="{0CAC897B-C82F-BAC1-65D7-D297E95183BE}"/>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4" name="Groupe 273">
                <a:extLst>
                  <a:ext uri="{FF2B5EF4-FFF2-40B4-BE49-F238E27FC236}">
                    <a16:creationId xmlns:a16="http://schemas.microsoft.com/office/drawing/2014/main" id="{F1338421-F36F-F35F-E480-6DA8C9414350}"/>
                  </a:ext>
                </a:extLst>
              </p:cNvPr>
              <p:cNvGrpSpPr/>
              <p:nvPr/>
            </p:nvGrpSpPr>
            <p:grpSpPr>
              <a:xfrm>
                <a:off x="1281387" y="2806435"/>
                <a:ext cx="457200" cy="457200"/>
                <a:chOff x="3982824" y="1896400"/>
                <a:chExt cx="914400" cy="914400"/>
              </a:xfrm>
            </p:grpSpPr>
            <p:pic>
              <p:nvPicPr>
                <p:cNvPr id="281" name="Graphique 280" descr="Homme conductrice avec un remplissage uni">
                  <a:extLst>
                    <a:ext uri="{FF2B5EF4-FFF2-40B4-BE49-F238E27FC236}">
                      <a16:creationId xmlns:a16="http://schemas.microsoft.com/office/drawing/2014/main" id="{884ABCF5-1DC4-3F91-23A9-A82EE802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82824" y="1896400"/>
                  <a:ext cx="914400" cy="914400"/>
                </a:xfrm>
                <a:prstGeom prst="rect">
                  <a:avLst/>
                </a:prstGeom>
              </p:spPr>
            </p:pic>
            <p:sp>
              <p:nvSpPr>
                <p:cNvPr id="282" name="Rectangle 281">
                  <a:extLst>
                    <a:ext uri="{FF2B5EF4-FFF2-40B4-BE49-F238E27FC236}">
                      <a16:creationId xmlns:a16="http://schemas.microsoft.com/office/drawing/2014/main" id="{AC85364F-3171-8D48-DA89-5A160A99C57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5" name="Groupe 274">
                <a:extLst>
                  <a:ext uri="{FF2B5EF4-FFF2-40B4-BE49-F238E27FC236}">
                    <a16:creationId xmlns:a16="http://schemas.microsoft.com/office/drawing/2014/main" id="{60F4195C-B3CE-ED6F-0419-2C1DD16556E9}"/>
                  </a:ext>
                </a:extLst>
              </p:cNvPr>
              <p:cNvGrpSpPr/>
              <p:nvPr/>
            </p:nvGrpSpPr>
            <p:grpSpPr>
              <a:xfrm>
                <a:off x="1613164" y="2495253"/>
                <a:ext cx="457200" cy="457200"/>
                <a:chOff x="3982824" y="1896400"/>
                <a:chExt cx="914400" cy="914400"/>
              </a:xfrm>
            </p:grpSpPr>
            <p:pic>
              <p:nvPicPr>
                <p:cNvPr id="279" name="Graphique 278" descr="Homme conductrice avec un remplissage uni">
                  <a:extLst>
                    <a:ext uri="{FF2B5EF4-FFF2-40B4-BE49-F238E27FC236}">
                      <a16:creationId xmlns:a16="http://schemas.microsoft.com/office/drawing/2014/main" id="{E2ABDF2C-B2F7-D1C2-B954-FD206647D7F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0" name="Rectangle 279">
                  <a:extLst>
                    <a:ext uri="{FF2B5EF4-FFF2-40B4-BE49-F238E27FC236}">
                      <a16:creationId xmlns:a16="http://schemas.microsoft.com/office/drawing/2014/main" id="{460F9206-EFB8-9E4E-0707-E5DDD102CD3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6" name="Groupe 275">
                <a:extLst>
                  <a:ext uri="{FF2B5EF4-FFF2-40B4-BE49-F238E27FC236}">
                    <a16:creationId xmlns:a16="http://schemas.microsoft.com/office/drawing/2014/main" id="{AC11E5E9-44AC-6984-2DDC-B308C016B95B}"/>
                  </a:ext>
                </a:extLst>
              </p:cNvPr>
              <p:cNvGrpSpPr/>
              <p:nvPr/>
            </p:nvGrpSpPr>
            <p:grpSpPr>
              <a:xfrm>
                <a:off x="1908305" y="2820432"/>
                <a:ext cx="457200" cy="457200"/>
                <a:chOff x="3982824" y="1896400"/>
                <a:chExt cx="914400" cy="914400"/>
              </a:xfrm>
            </p:grpSpPr>
            <p:pic>
              <p:nvPicPr>
                <p:cNvPr id="277" name="Graphique 276" descr="Homme conductrice avec un remplissage uni">
                  <a:extLst>
                    <a:ext uri="{FF2B5EF4-FFF2-40B4-BE49-F238E27FC236}">
                      <a16:creationId xmlns:a16="http://schemas.microsoft.com/office/drawing/2014/main" id="{BC87184D-1D02-F3A2-B4B1-1F4E2F209B5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78" name="Rectangle 277">
                  <a:extLst>
                    <a:ext uri="{FF2B5EF4-FFF2-40B4-BE49-F238E27FC236}">
                      <a16:creationId xmlns:a16="http://schemas.microsoft.com/office/drawing/2014/main" id="{E3DC104F-6875-B6AC-8EFA-651AE34A8C5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87" name="Groupe 286">
              <a:extLst>
                <a:ext uri="{FF2B5EF4-FFF2-40B4-BE49-F238E27FC236}">
                  <a16:creationId xmlns:a16="http://schemas.microsoft.com/office/drawing/2014/main" id="{C614507D-21D1-EB62-5EFE-8593F0ED9E7C}"/>
                </a:ext>
              </a:extLst>
            </p:cNvPr>
            <p:cNvGrpSpPr/>
            <p:nvPr/>
          </p:nvGrpSpPr>
          <p:grpSpPr>
            <a:xfrm>
              <a:off x="9702300" y="918524"/>
              <a:ext cx="891895" cy="820209"/>
              <a:chOff x="1281387" y="2495253"/>
              <a:chExt cx="1084118" cy="996982"/>
            </a:xfrm>
          </p:grpSpPr>
          <p:grpSp>
            <p:nvGrpSpPr>
              <p:cNvPr id="288" name="Groupe 287">
                <a:extLst>
                  <a:ext uri="{FF2B5EF4-FFF2-40B4-BE49-F238E27FC236}">
                    <a16:creationId xmlns:a16="http://schemas.microsoft.com/office/drawing/2014/main" id="{B7D75296-D8A2-6C73-998F-EC5C896F9F5B}"/>
                  </a:ext>
                </a:extLst>
              </p:cNvPr>
              <p:cNvGrpSpPr/>
              <p:nvPr/>
            </p:nvGrpSpPr>
            <p:grpSpPr>
              <a:xfrm>
                <a:off x="1569563" y="3035035"/>
                <a:ext cx="457200" cy="457200"/>
                <a:chOff x="3982824" y="1896400"/>
                <a:chExt cx="914400" cy="914400"/>
              </a:xfrm>
            </p:grpSpPr>
            <p:pic>
              <p:nvPicPr>
                <p:cNvPr id="298" name="Graphique 297" descr="Homme conductrice avec un remplissage uni">
                  <a:extLst>
                    <a:ext uri="{FF2B5EF4-FFF2-40B4-BE49-F238E27FC236}">
                      <a16:creationId xmlns:a16="http://schemas.microsoft.com/office/drawing/2014/main" id="{F0D5AF09-E0BE-C7B4-33EC-2656C6FBD4D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9" name="Rectangle 298">
                  <a:extLst>
                    <a:ext uri="{FF2B5EF4-FFF2-40B4-BE49-F238E27FC236}">
                      <a16:creationId xmlns:a16="http://schemas.microsoft.com/office/drawing/2014/main" id="{782B3053-5E05-4287-02EC-481AECD3BEE3}"/>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89" name="Groupe 288">
                <a:extLst>
                  <a:ext uri="{FF2B5EF4-FFF2-40B4-BE49-F238E27FC236}">
                    <a16:creationId xmlns:a16="http://schemas.microsoft.com/office/drawing/2014/main" id="{DF20609E-3918-9C96-31C9-13D04AD7955E}"/>
                  </a:ext>
                </a:extLst>
              </p:cNvPr>
              <p:cNvGrpSpPr/>
              <p:nvPr/>
            </p:nvGrpSpPr>
            <p:grpSpPr>
              <a:xfrm>
                <a:off x="1281387" y="2806435"/>
                <a:ext cx="457200" cy="457200"/>
                <a:chOff x="3982824" y="1896400"/>
                <a:chExt cx="914400" cy="914400"/>
              </a:xfrm>
            </p:grpSpPr>
            <p:pic>
              <p:nvPicPr>
                <p:cNvPr id="296" name="Graphique 295" descr="Homme conductrice avec un remplissage uni">
                  <a:extLst>
                    <a:ext uri="{FF2B5EF4-FFF2-40B4-BE49-F238E27FC236}">
                      <a16:creationId xmlns:a16="http://schemas.microsoft.com/office/drawing/2014/main" id="{8373B619-AB98-374B-D807-25C82012E29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7" name="Rectangle 296">
                  <a:extLst>
                    <a:ext uri="{FF2B5EF4-FFF2-40B4-BE49-F238E27FC236}">
                      <a16:creationId xmlns:a16="http://schemas.microsoft.com/office/drawing/2014/main" id="{46835727-9387-7D08-D3D4-901916AC207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0" name="Groupe 289">
                <a:extLst>
                  <a:ext uri="{FF2B5EF4-FFF2-40B4-BE49-F238E27FC236}">
                    <a16:creationId xmlns:a16="http://schemas.microsoft.com/office/drawing/2014/main" id="{76895B8C-0BF1-3ACB-7994-33682C15D0B6}"/>
                  </a:ext>
                </a:extLst>
              </p:cNvPr>
              <p:cNvGrpSpPr/>
              <p:nvPr/>
            </p:nvGrpSpPr>
            <p:grpSpPr>
              <a:xfrm>
                <a:off x="1613164" y="2495253"/>
                <a:ext cx="457200" cy="457200"/>
                <a:chOff x="3982824" y="1896400"/>
                <a:chExt cx="914400" cy="914400"/>
              </a:xfrm>
            </p:grpSpPr>
            <p:pic>
              <p:nvPicPr>
                <p:cNvPr id="294" name="Graphique 293" descr="Homme conductrice avec un remplissage uni">
                  <a:extLst>
                    <a:ext uri="{FF2B5EF4-FFF2-40B4-BE49-F238E27FC236}">
                      <a16:creationId xmlns:a16="http://schemas.microsoft.com/office/drawing/2014/main" id="{E9B06A03-B983-E665-0D2E-DABD855DE1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5" name="Rectangle 294">
                  <a:extLst>
                    <a:ext uri="{FF2B5EF4-FFF2-40B4-BE49-F238E27FC236}">
                      <a16:creationId xmlns:a16="http://schemas.microsoft.com/office/drawing/2014/main" id="{0081F533-4F47-F8D4-4180-0005385DD44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1" name="Groupe 290">
                <a:extLst>
                  <a:ext uri="{FF2B5EF4-FFF2-40B4-BE49-F238E27FC236}">
                    <a16:creationId xmlns:a16="http://schemas.microsoft.com/office/drawing/2014/main" id="{EAA3F9EF-C4A4-7C34-552D-82231C48F6F2}"/>
                  </a:ext>
                </a:extLst>
              </p:cNvPr>
              <p:cNvGrpSpPr/>
              <p:nvPr/>
            </p:nvGrpSpPr>
            <p:grpSpPr>
              <a:xfrm>
                <a:off x="1908305" y="2820432"/>
                <a:ext cx="457200" cy="457200"/>
                <a:chOff x="3982824" y="1896400"/>
                <a:chExt cx="914400" cy="914400"/>
              </a:xfrm>
            </p:grpSpPr>
            <p:pic>
              <p:nvPicPr>
                <p:cNvPr id="292" name="Graphique 291" descr="Homme conductrice avec un remplissage uni">
                  <a:extLst>
                    <a:ext uri="{FF2B5EF4-FFF2-40B4-BE49-F238E27FC236}">
                      <a16:creationId xmlns:a16="http://schemas.microsoft.com/office/drawing/2014/main" id="{E921C2B7-5F1A-6DE3-BA0F-A5C2D2F0170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3" name="Rectangle 292">
                  <a:extLst>
                    <a:ext uri="{FF2B5EF4-FFF2-40B4-BE49-F238E27FC236}">
                      <a16:creationId xmlns:a16="http://schemas.microsoft.com/office/drawing/2014/main" id="{6D522641-4B00-D6A2-3284-94123837AD9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302" name="ZoneTexte 301">
            <a:extLst>
              <a:ext uri="{FF2B5EF4-FFF2-40B4-BE49-F238E27FC236}">
                <a16:creationId xmlns:a16="http://schemas.microsoft.com/office/drawing/2014/main" id="{F122D452-BD39-94FA-F530-7923F7B162D8}"/>
              </a:ext>
            </a:extLst>
          </p:cNvPr>
          <p:cNvSpPr txBox="1"/>
          <p:nvPr/>
        </p:nvSpPr>
        <p:spPr>
          <a:xfrm>
            <a:off x="8346485" y="5093169"/>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pic>
        <p:nvPicPr>
          <p:cNvPr id="7" name="Graphique 6" descr="Flèche : courbe légère avec un remplissage uni">
            <a:extLst>
              <a:ext uri="{FF2B5EF4-FFF2-40B4-BE49-F238E27FC236}">
                <a16:creationId xmlns:a16="http://schemas.microsoft.com/office/drawing/2014/main" id="{813950CC-5C8F-66C9-BBF1-3AFB6815E69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54162" y="4917619"/>
            <a:ext cx="5387479" cy="914400"/>
          </a:xfrm>
          <a:prstGeom prst="rect">
            <a:avLst/>
          </a:prstGeom>
        </p:spPr>
      </p:pic>
    </p:spTree>
    <p:extLst>
      <p:ext uri="{BB962C8B-B14F-4D97-AF65-F5344CB8AC3E}">
        <p14:creationId xmlns:p14="http://schemas.microsoft.com/office/powerpoint/2010/main" val="442446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3FF6-C16E-0387-513D-A082FB2A304E}"/>
              </a:ext>
            </a:extLst>
          </p:cNvPr>
          <p:cNvSpPr>
            <a:spLocks noGrp="1"/>
          </p:cNvSpPr>
          <p:nvPr>
            <p:ph type="title"/>
          </p:nvPr>
        </p:nvSpPr>
        <p:spPr>
          <a:xfrm>
            <a:off x="838200" y="365125"/>
            <a:ext cx="7534311" cy="1325563"/>
          </a:xfrm>
        </p:spPr>
        <p:txBody>
          <a:bodyPr>
            <a:noAutofit/>
          </a:bodyPr>
          <a:lstStyle/>
          <a:p>
            <a:r>
              <a:rPr lang="fr-FR" sz="3200"/>
              <a:t>IVCD </a:t>
            </a:r>
            <a:r>
              <a:rPr lang="fr-FR" sz="3200" err="1"/>
              <a:t>Map</a:t>
            </a:r>
            <a:r>
              <a:rPr lang="fr-FR" sz="3200"/>
              <a:t> détaillée</a:t>
            </a:r>
            <a:br>
              <a:rPr lang="fr-FR" sz="3200"/>
            </a:br>
            <a:r>
              <a:rPr lang="fr-FR" sz="3200"/>
              <a:t>Format de la carte et des tickets</a:t>
            </a:r>
          </a:p>
        </p:txBody>
      </p:sp>
      <p:sp>
        <p:nvSpPr>
          <p:cNvPr id="4" name="Flèche : double flèche horizontale 3">
            <a:extLst>
              <a:ext uri="{FF2B5EF4-FFF2-40B4-BE49-F238E27FC236}">
                <a16:creationId xmlns:a16="http://schemas.microsoft.com/office/drawing/2014/main" id="{1B8D61C3-81A0-31B4-E2FB-7AC7B41B03D8}"/>
              </a:ext>
            </a:extLst>
          </p:cNvPr>
          <p:cNvSpPr/>
          <p:nvPr/>
        </p:nvSpPr>
        <p:spPr>
          <a:xfrm>
            <a:off x="838200" y="4136584"/>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29" name="ZoneTexte 28">
            <a:extLst>
              <a:ext uri="{FF2B5EF4-FFF2-40B4-BE49-F238E27FC236}">
                <a16:creationId xmlns:a16="http://schemas.microsoft.com/office/drawing/2014/main" id="{6E484D5F-E755-5BB3-0483-3E324476BC6E}"/>
              </a:ext>
            </a:extLst>
          </p:cNvPr>
          <p:cNvSpPr txBox="1"/>
          <p:nvPr/>
        </p:nvSpPr>
        <p:spPr>
          <a:xfrm>
            <a:off x="4899454" y="4137869"/>
            <a:ext cx="1802574" cy="307777"/>
          </a:xfrm>
          <a:prstGeom prst="rect">
            <a:avLst/>
          </a:prstGeom>
          <a:noFill/>
        </p:spPr>
        <p:txBody>
          <a:bodyPr wrap="square">
            <a:spAutoFit/>
          </a:bodyPr>
          <a:lstStyle/>
          <a:p>
            <a:pPr algn="ctr"/>
            <a:r>
              <a:rPr lang="fr-FR" sz="1400"/>
              <a:t>Grand consensus</a:t>
            </a:r>
          </a:p>
        </p:txBody>
      </p:sp>
      <p:sp>
        <p:nvSpPr>
          <p:cNvPr id="30" name="ZoneTexte 29">
            <a:extLst>
              <a:ext uri="{FF2B5EF4-FFF2-40B4-BE49-F238E27FC236}">
                <a16:creationId xmlns:a16="http://schemas.microsoft.com/office/drawing/2014/main" id="{B457523F-1815-3784-6F9E-D66819A71ACA}"/>
              </a:ext>
            </a:extLst>
          </p:cNvPr>
          <p:cNvSpPr txBox="1"/>
          <p:nvPr/>
        </p:nvSpPr>
        <p:spPr>
          <a:xfrm>
            <a:off x="780930" y="4138404"/>
            <a:ext cx="1802574" cy="307777"/>
          </a:xfrm>
          <a:prstGeom prst="rect">
            <a:avLst/>
          </a:prstGeom>
          <a:noFill/>
        </p:spPr>
        <p:txBody>
          <a:bodyPr wrap="square">
            <a:spAutoFit/>
          </a:bodyPr>
          <a:lstStyle/>
          <a:p>
            <a:pPr algn="ctr"/>
            <a:r>
              <a:rPr lang="fr-FR" sz="1400"/>
              <a:t>Décision autonome</a:t>
            </a:r>
          </a:p>
        </p:txBody>
      </p:sp>
      <p:grpSp>
        <p:nvGrpSpPr>
          <p:cNvPr id="178" name="Groupe 177">
            <a:extLst>
              <a:ext uri="{FF2B5EF4-FFF2-40B4-BE49-F238E27FC236}">
                <a16:creationId xmlns:a16="http://schemas.microsoft.com/office/drawing/2014/main" id="{231D06BC-C956-F160-4104-A88DE0AFB6CF}"/>
              </a:ext>
            </a:extLst>
          </p:cNvPr>
          <p:cNvGrpSpPr/>
          <p:nvPr/>
        </p:nvGrpSpPr>
        <p:grpSpPr>
          <a:xfrm>
            <a:off x="815405" y="2541140"/>
            <a:ext cx="937195" cy="1502516"/>
            <a:chOff x="90185" y="2189111"/>
            <a:chExt cx="937195" cy="1502516"/>
          </a:xfrm>
        </p:grpSpPr>
        <p:sp>
          <p:nvSpPr>
            <p:cNvPr id="179" name="ZoneTexte 178">
              <a:extLst>
                <a:ext uri="{FF2B5EF4-FFF2-40B4-BE49-F238E27FC236}">
                  <a16:creationId xmlns:a16="http://schemas.microsoft.com/office/drawing/2014/main" id="{C28C87A0-E50B-6FEC-59E0-009DE7C1B9ED}"/>
                </a:ext>
              </a:extLst>
            </p:cNvPr>
            <p:cNvSpPr txBox="1"/>
            <p:nvPr/>
          </p:nvSpPr>
          <p:spPr>
            <a:xfrm>
              <a:off x="90185" y="3045296"/>
              <a:ext cx="899253" cy="646331"/>
            </a:xfrm>
            <a:prstGeom prst="rect">
              <a:avLst/>
            </a:prstGeom>
            <a:noFill/>
          </p:spPr>
          <p:txBody>
            <a:bodyPr wrap="square">
              <a:spAutoFit/>
            </a:bodyPr>
            <a:lstStyle/>
            <a:p>
              <a:pPr algn="ctr"/>
              <a:r>
                <a:rPr lang="fr-FR" sz="1200"/>
                <a:t>Chaque agent décide</a:t>
              </a:r>
            </a:p>
          </p:txBody>
        </p:sp>
        <p:grpSp>
          <p:nvGrpSpPr>
            <p:cNvPr id="198" name="Groupe 197">
              <a:extLst>
                <a:ext uri="{FF2B5EF4-FFF2-40B4-BE49-F238E27FC236}">
                  <a16:creationId xmlns:a16="http://schemas.microsoft.com/office/drawing/2014/main" id="{814DF423-0DA9-2F00-FAE3-BAED9E4E2F70}"/>
                </a:ext>
              </a:extLst>
            </p:cNvPr>
            <p:cNvGrpSpPr/>
            <p:nvPr/>
          </p:nvGrpSpPr>
          <p:grpSpPr>
            <a:xfrm>
              <a:off x="112980" y="2189111"/>
              <a:ext cx="914400" cy="914400"/>
              <a:chOff x="168514" y="2615341"/>
              <a:chExt cx="914400" cy="914400"/>
            </a:xfrm>
          </p:grpSpPr>
          <p:pic>
            <p:nvPicPr>
              <p:cNvPr id="199" name="Graphique 198" descr="Homme conductrice avec un remplissage uni">
                <a:extLst>
                  <a:ext uri="{FF2B5EF4-FFF2-40B4-BE49-F238E27FC236}">
                    <a16:creationId xmlns:a16="http://schemas.microsoft.com/office/drawing/2014/main" id="{7D7356FC-0476-0A30-BA0C-289304D661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514" y="2615341"/>
                <a:ext cx="914400" cy="914400"/>
              </a:xfrm>
              <a:prstGeom prst="rect">
                <a:avLst/>
              </a:prstGeom>
            </p:spPr>
          </p:pic>
          <p:sp>
            <p:nvSpPr>
              <p:cNvPr id="200" name="Rectangle 199">
                <a:extLst>
                  <a:ext uri="{FF2B5EF4-FFF2-40B4-BE49-F238E27FC236}">
                    <a16:creationId xmlns:a16="http://schemas.microsoft.com/office/drawing/2014/main" id="{FECF8574-056E-05FB-8502-6003B0F5E10C}"/>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32" name="Groupe 231">
            <a:extLst>
              <a:ext uri="{FF2B5EF4-FFF2-40B4-BE49-F238E27FC236}">
                <a16:creationId xmlns:a16="http://schemas.microsoft.com/office/drawing/2014/main" id="{5D36B453-B5A1-FDB1-EC07-66C80B8698C4}"/>
              </a:ext>
            </a:extLst>
          </p:cNvPr>
          <p:cNvGrpSpPr/>
          <p:nvPr/>
        </p:nvGrpSpPr>
        <p:grpSpPr>
          <a:xfrm>
            <a:off x="5317189" y="2507363"/>
            <a:ext cx="1071241" cy="1389205"/>
            <a:chOff x="10875724" y="2275346"/>
            <a:chExt cx="1071241" cy="1389205"/>
          </a:xfrm>
          <a:solidFill>
            <a:schemeClr val="accent1"/>
          </a:solidFill>
        </p:grpSpPr>
        <p:sp>
          <p:nvSpPr>
            <p:cNvPr id="233" name="ZoneTexte 232">
              <a:extLst>
                <a:ext uri="{FF2B5EF4-FFF2-40B4-BE49-F238E27FC236}">
                  <a16:creationId xmlns:a16="http://schemas.microsoft.com/office/drawing/2014/main" id="{A32CD217-E6D4-D16A-1E4E-C21276775D15}"/>
                </a:ext>
              </a:extLst>
            </p:cNvPr>
            <p:cNvSpPr txBox="1"/>
            <p:nvPr/>
          </p:nvSpPr>
          <p:spPr>
            <a:xfrm>
              <a:off x="10875724" y="3202886"/>
              <a:ext cx="1068090" cy="461665"/>
            </a:xfrm>
            <a:prstGeom prst="rect">
              <a:avLst/>
            </a:prstGeom>
            <a:noFill/>
          </p:spPr>
          <p:txBody>
            <a:bodyPr wrap="square">
              <a:spAutoFit/>
            </a:bodyPr>
            <a:lstStyle/>
            <a:p>
              <a:pPr algn="ctr"/>
              <a:r>
                <a:rPr lang="fr-FR" sz="1200"/>
                <a:t>Décision par tous</a:t>
              </a:r>
            </a:p>
          </p:txBody>
        </p:sp>
        <p:grpSp>
          <p:nvGrpSpPr>
            <p:cNvPr id="234" name="Groupe 233">
              <a:extLst>
                <a:ext uri="{FF2B5EF4-FFF2-40B4-BE49-F238E27FC236}">
                  <a16:creationId xmlns:a16="http://schemas.microsoft.com/office/drawing/2014/main" id="{E8025A3E-34FD-6D47-BC4D-1E9963882B94}"/>
                </a:ext>
              </a:extLst>
            </p:cNvPr>
            <p:cNvGrpSpPr/>
            <p:nvPr/>
          </p:nvGrpSpPr>
          <p:grpSpPr>
            <a:xfrm>
              <a:off x="10894603" y="2275346"/>
              <a:ext cx="1052362" cy="886148"/>
              <a:chOff x="8572649" y="1655556"/>
              <a:chExt cx="1409636" cy="1186993"/>
            </a:xfrm>
            <a:grpFill/>
          </p:grpSpPr>
          <p:grpSp>
            <p:nvGrpSpPr>
              <p:cNvPr id="235" name="Groupe 234">
                <a:extLst>
                  <a:ext uri="{FF2B5EF4-FFF2-40B4-BE49-F238E27FC236}">
                    <a16:creationId xmlns:a16="http://schemas.microsoft.com/office/drawing/2014/main" id="{6CF8B074-52BD-9A23-9148-D47ECF686F5F}"/>
                  </a:ext>
                </a:extLst>
              </p:cNvPr>
              <p:cNvGrpSpPr/>
              <p:nvPr/>
            </p:nvGrpSpPr>
            <p:grpSpPr>
              <a:xfrm>
                <a:off x="8572649" y="1655556"/>
                <a:ext cx="1409636" cy="1186993"/>
                <a:chOff x="8982504" y="3274976"/>
                <a:chExt cx="1230670" cy="1036294"/>
              </a:xfrm>
              <a:grpFill/>
            </p:grpSpPr>
            <p:pic>
              <p:nvPicPr>
                <p:cNvPr id="269" name="Graphique 268" descr="Utilisateur avec un remplissage uni">
                  <a:extLst>
                    <a:ext uri="{FF2B5EF4-FFF2-40B4-BE49-F238E27FC236}">
                      <a16:creationId xmlns:a16="http://schemas.microsoft.com/office/drawing/2014/main" id="{50938EFB-44E9-DDDE-56BC-6084EA8892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01028" y="3274976"/>
                  <a:ext cx="336064" cy="336064"/>
                </a:xfrm>
                <a:prstGeom prst="rect">
                  <a:avLst/>
                </a:prstGeom>
              </p:spPr>
            </p:pic>
            <p:pic>
              <p:nvPicPr>
                <p:cNvPr id="270" name="Graphique 269" descr="Utilisateur avec un remplissage uni">
                  <a:extLst>
                    <a:ext uri="{FF2B5EF4-FFF2-40B4-BE49-F238E27FC236}">
                      <a16:creationId xmlns:a16="http://schemas.microsoft.com/office/drawing/2014/main" id="{1EEB5F7E-99F7-E7EF-F1CA-822CC49129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54140" y="3512720"/>
                  <a:ext cx="336064" cy="336064"/>
                </a:xfrm>
                <a:prstGeom prst="rect">
                  <a:avLst/>
                </a:prstGeom>
              </p:spPr>
            </p:pic>
            <p:pic>
              <p:nvPicPr>
                <p:cNvPr id="271" name="Graphique 270" descr="Utilisateur avec un remplissage uni">
                  <a:extLst>
                    <a:ext uri="{FF2B5EF4-FFF2-40B4-BE49-F238E27FC236}">
                      <a16:creationId xmlns:a16="http://schemas.microsoft.com/office/drawing/2014/main" id="{D884622E-0CCE-D17E-224F-E70F93D797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5616" y="3561880"/>
                  <a:ext cx="336064" cy="336064"/>
                </a:xfrm>
                <a:prstGeom prst="rect">
                  <a:avLst/>
                </a:prstGeom>
              </p:spPr>
            </p:pic>
            <p:pic>
              <p:nvPicPr>
                <p:cNvPr id="272" name="Graphique 271" descr="Utilisateur avec un remplissage uni">
                  <a:extLst>
                    <a:ext uri="{FF2B5EF4-FFF2-40B4-BE49-F238E27FC236}">
                      <a16:creationId xmlns:a16="http://schemas.microsoft.com/office/drawing/2014/main" id="{B5C4C160-52A5-E1C6-EA73-FEF92B86D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92504" y="3418428"/>
                  <a:ext cx="336064" cy="336064"/>
                </a:xfrm>
                <a:prstGeom prst="rect">
                  <a:avLst/>
                </a:prstGeom>
              </p:spPr>
            </p:pic>
            <p:pic>
              <p:nvPicPr>
                <p:cNvPr id="273" name="Graphique 272" descr="Utilisateur avec un remplissage uni">
                  <a:extLst>
                    <a:ext uri="{FF2B5EF4-FFF2-40B4-BE49-F238E27FC236}">
                      <a16:creationId xmlns:a16="http://schemas.microsoft.com/office/drawing/2014/main" id="{A1D13968-E2C1-3805-A4C0-07764E5372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35196" y="3680752"/>
                  <a:ext cx="336064" cy="336064"/>
                </a:xfrm>
                <a:prstGeom prst="rect">
                  <a:avLst/>
                </a:prstGeom>
              </p:spPr>
            </p:pic>
            <p:pic>
              <p:nvPicPr>
                <p:cNvPr id="274" name="Graphique 273" descr="Utilisateur avec un remplissage uni">
                  <a:extLst>
                    <a:ext uri="{FF2B5EF4-FFF2-40B4-BE49-F238E27FC236}">
                      <a16:creationId xmlns:a16="http://schemas.microsoft.com/office/drawing/2014/main" id="{F62A929C-EB6B-606D-940B-2316B1C579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56440" y="3848784"/>
                  <a:ext cx="336064" cy="336064"/>
                </a:xfrm>
                <a:prstGeom prst="rect">
                  <a:avLst/>
                </a:prstGeom>
              </p:spPr>
            </p:pic>
            <p:pic>
              <p:nvPicPr>
                <p:cNvPr id="275" name="Graphique 274" descr="Utilisateur avec un remplissage uni">
                  <a:extLst>
                    <a:ext uri="{FF2B5EF4-FFF2-40B4-BE49-F238E27FC236}">
                      <a16:creationId xmlns:a16="http://schemas.microsoft.com/office/drawing/2014/main" id="{A757EDEE-AA3B-EFAB-C6ED-6F613258C5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2504" y="3835028"/>
                  <a:ext cx="336064" cy="336064"/>
                </a:xfrm>
                <a:prstGeom prst="rect">
                  <a:avLst/>
                </a:prstGeom>
              </p:spPr>
            </p:pic>
            <p:pic>
              <p:nvPicPr>
                <p:cNvPr id="276" name="Graphique 275" descr="Utilisateur avec un remplissage uni">
                  <a:extLst>
                    <a:ext uri="{FF2B5EF4-FFF2-40B4-BE49-F238E27FC236}">
                      <a16:creationId xmlns:a16="http://schemas.microsoft.com/office/drawing/2014/main" id="{41F1BE11-F15E-2429-EF4C-D249D0543C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0868" y="3943076"/>
                  <a:ext cx="336064" cy="336064"/>
                </a:xfrm>
                <a:prstGeom prst="rect">
                  <a:avLst/>
                </a:prstGeom>
              </p:spPr>
            </p:pic>
            <p:pic>
              <p:nvPicPr>
                <p:cNvPr id="277" name="Graphique 276" descr="Utilisateur avec un remplissage uni">
                  <a:extLst>
                    <a:ext uri="{FF2B5EF4-FFF2-40B4-BE49-F238E27FC236}">
                      <a16:creationId xmlns:a16="http://schemas.microsoft.com/office/drawing/2014/main" id="{1A384462-65CA-5CFF-EE89-520D2771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83417" y="3975206"/>
                  <a:ext cx="336064" cy="336064"/>
                </a:xfrm>
                <a:prstGeom prst="rect">
                  <a:avLst/>
                </a:prstGeom>
              </p:spPr>
            </p:pic>
            <p:pic>
              <p:nvPicPr>
                <p:cNvPr id="278" name="Graphique 277" descr="Utilisateur avec un remplissage uni">
                  <a:extLst>
                    <a:ext uri="{FF2B5EF4-FFF2-40B4-BE49-F238E27FC236}">
                      <a16:creationId xmlns:a16="http://schemas.microsoft.com/office/drawing/2014/main" id="{2BA3584A-2F98-A30C-50C6-60A88374E8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77110" y="3705332"/>
                  <a:ext cx="336064" cy="336064"/>
                </a:xfrm>
                <a:prstGeom prst="rect">
                  <a:avLst/>
                </a:prstGeom>
              </p:spPr>
            </p:pic>
            <p:pic>
              <p:nvPicPr>
                <p:cNvPr id="279" name="Graphique 278" descr="Utilisateur avec un remplissage uni">
                  <a:extLst>
                    <a:ext uri="{FF2B5EF4-FFF2-40B4-BE49-F238E27FC236}">
                      <a16:creationId xmlns:a16="http://schemas.microsoft.com/office/drawing/2014/main" id="{526BB467-4E01-5793-20C2-3702740627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56932" y="3429000"/>
                  <a:ext cx="336064" cy="336064"/>
                </a:xfrm>
                <a:prstGeom prst="rect">
                  <a:avLst/>
                </a:prstGeom>
              </p:spPr>
            </p:pic>
          </p:grpSp>
          <p:grpSp>
            <p:nvGrpSpPr>
              <p:cNvPr id="236" name="Groupe 235">
                <a:extLst>
                  <a:ext uri="{FF2B5EF4-FFF2-40B4-BE49-F238E27FC236}">
                    <a16:creationId xmlns:a16="http://schemas.microsoft.com/office/drawing/2014/main" id="{FE2B0B75-779F-9E5D-5D92-1828775BB870}"/>
                  </a:ext>
                </a:extLst>
              </p:cNvPr>
              <p:cNvGrpSpPr/>
              <p:nvPr/>
            </p:nvGrpSpPr>
            <p:grpSpPr>
              <a:xfrm>
                <a:off x="8937492" y="1776645"/>
                <a:ext cx="102144" cy="191413"/>
                <a:chOff x="10178180" y="1782664"/>
                <a:chExt cx="102144" cy="191413"/>
              </a:xfrm>
              <a:grpFill/>
            </p:grpSpPr>
            <p:cxnSp>
              <p:nvCxnSpPr>
                <p:cNvPr id="267" name="Connecteur droit 266">
                  <a:extLst>
                    <a:ext uri="{FF2B5EF4-FFF2-40B4-BE49-F238E27FC236}">
                      <a16:creationId xmlns:a16="http://schemas.microsoft.com/office/drawing/2014/main" id="{65AB7FBA-60B7-0C7F-8475-E812CF8894F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8" name="Ellipse 267">
                  <a:extLst>
                    <a:ext uri="{FF2B5EF4-FFF2-40B4-BE49-F238E27FC236}">
                      <a16:creationId xmlns:a16="http://schemas.microsoft.com/office/drawing/2014/main" id="{C9317186-8162-A8D9-3CBA-472368CDEC60}"/>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7" name="Groupe 236">
                <a:extLst>
                  <a:ext uri="{FF2B5EF4-FFF2-40B4-BE49-F238E27FC236}">
                    <a16:creationId xmlns:a16="http://schemas.microsoft.com/office/drawing/2014/main" id="{BAD207E7-5967-F4B3-0667-ABA6D60C2F2F}"/>
                  </a:ext>
                </a:extLst>
              </p:cNvPr>
              <p:cNvGrpSpPr/>
              <p:nvPr/>
            </p:nvGrpSpPr>
            <p:grpSpPr>
              <a:xfrm>
                <a:off x="9268284" y="1944784"/>
                <a:ext cx="102144" cy="191413"/>
                <a:chOff x="10178180" y="1782664"/>
                <a:chExt cx="102144" cy="191413"/>
              </a:xfrm>
              <a:grpFill/>
            </p:grpSpPr>
            <p:cxnSp>
              <p:nvCxnSpPr>
                <p:cNvPr id="265" name="Connecteur droit 264">
                  <a:extLst>
                    <a:ext uri="{FF2B5EF4-FFF2-40B4-BE49-F238E27FC236}">
                      <a16:creationId xmlns:a16="http://schemas.microsoft.com/office/drawing/2014/main" id="{9ADAF00C-5083-732E-0CF8-D05658D5EE49}"/>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6" name="Ellipse 265">
                  <a:extLst>
                    <a:ext uri="{FF2B5EF4-FFF2-40B4-BE49-F238E27FC236}">
                      <a16:creationId xmlns:a16="http://schemas.microsoft.com/office/drawing/2014/main" id="{850C218D-4459-CB1B-CCDD-1AD5D456811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8" name="Groupe 237">
                <a:extLst>
                  <a:ext uri="{FF2B5EF4-FFF2-40B4-BE49-F238E27FC236}">
                    <a16:creationId xmlns:a16="http://schemas.microsoft.com/office/drawing/2014/main" id="{5EEE4248-2D13-23F8-A831-0BCF2E23BD0C}"/>
                  </a:ext>
                </a:extLst>
              </p:cNvPr>
              <p:cNvGrpSpPr/>
              <p:nvPr/>
            </p:nvGrpSpPr>
            <p:grpSpPr>
              <a:xfrm>
                <a:off x="9584871" y="1954555"/>
                <a:ext cx="102144" cy="191413"/>
                <a:chOff x="10178180" y="1782664"/>
                <a:chExt cx="102144" cy="191413"/>
              </a:xfrm>
              <a:grpFill/>
            </p:grpSpPr>
            <p:cxnSp>
              <p:nvCxnSpPr>
                <p:cNvPr id="263" name="Connecteur droit 262">
                  <a:extLst>
                    <a:ext uri="{FF2B5EF4-FFF2-40B4-BE49-F238E27FC236}">
                      <a16:creationId xmlns:a16="http://schemas.microsoft.com/office/drawing/2014/main" id="{B1D5169C-A711-D301-59A2-045FC2ED413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4" name="Ellipse 263">
                  <a:extLst>
                    <a:ext uri="{FF2B5EF4-FFF2-40B4-BE49-F238E27FC236}">
                      <a16:creationId xmlns:a16="http://schemas.microsoft.com/office/drawing/2014/main" id="{337C43AD-EF68-17A2-1C2C-DF9C91AAF57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9" name="Groupe 238">
                <a:extLst>
                  <a:ext uri="{FF2B5EF4-FFF2-40B4-BE49-F238E27FC236}">
                    <a16:creationId xmlns:a16="http://schemas.microsoft.com/office/drawing/2014/main" id="{EAF34F4B-958C-FD96-5BC2-B7D28683BD3E}"/>
                  </a:ext>
                </a:extLst>
              </p:cNvPr>
              <p:cNvGrpSpPr/>
              <p:nvPr/>
            </p:nvGrpSpPr>
            <p:grpSpPr>
              <a:xfrm>
                <a:off x="9610640" y="2276238"/>
                <a:ext cx="102144" cy="191413"/>
                <a:chOff x="10178180" y="1782664"/>
                <a:chExt cx="102144" cy="191413"/>
              </a:xfrm>
              <a:grpFill/>
            </p:grpSpPr>
            <p:cxnSp>
              <p:nvCxnSpPr>
                <p:cNvPr id="261" name="Connecteur droit 260">
                  <a:extLst>
                    <a:ext uri="{FF2B5EF4-FFF2-40B4-BE49-F238E27FC236}">
                      <a16:creationId xmlns:a16="http://schemas.microsoft.com/office/drawing/2014/main" id="{C2054AF5-5CF2-389E-7536-F33FD10C0E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2" name="Ellipse 261">
                  <a:extLst>
                    <a:ext uri="{FF2B5EF4-FFF2-40B4-BE49-F238E27FC236}">
                      <a16:creationId xmlns:a16="http://schemas.microsoft.com/office/drawing/2014/main" id="{1C17970D-2DA5-AB72-F412-43FC8152E75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0" name="Groupe 239">
                <a:extLst>
                  <a:ext uri="{FF2B5EF4-FFF2-40B4-BE49-F238E27FC236}">
                    <a16:creationId xmlns:a16="http://schemas.microsoft.com/office/drawing/2014/main" id="{5AE5369C-EFDA-B2B3-4C3B-5282A5DC80AE}"/>
                  </a:ext>
                </a:extLst>
              </p:cNvPr>
              <p:cNvGrpSpPr/>
              <p:nvPr/>
            </p:nvGrpSpPr>
            <p:grpSpPr>
              <a:xfrm>
                <a:off x="9334800" y="2253116"/>
                <a:ext cx="102144" cy="191413"/>
                <a:chOff x="10178180" y="1782664"/>
                <a:chExt cx="102144" cy="191413"/>
              </a:xfrm>
              <a:grpFill/>
            </p:grpSpPr>
            <p:cxnSp>
              <p:nvCxnSpPr>
                <p:cNvPr id="259" name="Connecteur droit 258">
                  <a:extLst>
                    <a:ext uri="{FF2B5EF4-FFF2-40B4-BE49-F238E27FC236}">
                      <a16:creationId xmlns:a16="http://schemas.microsoft.com/office/drawing/2014/main" id="{FC3A936D-11A6-E1F3-5697-990BECD8EA8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0" name="Ellipse 259">
                  <a:extLst>
                    <a:ext uri="{FF2B5EF4-FFF2-40B4-BE49-F238E27FC236}">
                      <a16:creationId xmlns:a16="http://schemas.microsoft.com/office/drawing/2014/main" id="{F36A61F1-4A40-5CBB-AA6A-F0BAA484CB3E}"/>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1" name="Groupe 240">
                <a:extLst>
                  <a:ext uri="{FF2B5EF4-FFF2-40B4-BE49-F238E27FC236}">
                    <a16:creationId xmlns:a16="http://schemas.microsoft.com/office/drawing/2014/main" id="{543057F6-2B73-0144-992D-DA0F493DE534}"/>
                  </a:ext>
                </a:extLst>
              </p:cNvPr>
              <p:cNvGrpSpPr/>
              <p:nvPr/>
            </p:nvGrpSpPr>
            <p:grpSpPr>
              <a:xfrm>
                <a:off x="8988065" y="2116634"/>
                <a:ext cx="102144" cy="191413"/>
                <a:chOff x="10178180" y="1782664"/>
                <a:chExt cx="102144" cy="191413"/>
              </a:xfrm>
              <a:grpFill/>
            </p:grpSpPr>
            <p:cxnSp>
              <p:nvCxnSpPr>
                <p:cNvPr id="257" name="Connecteur droit 256">
                  <a:extLst>
                    <a:ext uri="{FF2B5EF4-FFF2-40B4-BE49-F238E27FC236}">
                      <a16:creationId xmlns:a16="http://schemas.microsoft.com/office/drawing/2014/main" id="{7164B75E-A7D2-ABE8-9B9B-8985E67A30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03CEAAF6-8A42-AC71-1D08-6444094CDC1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2" name="Groupe 241">
                <a:extLst>
                  <a:ext uri="{FF2B5EF4-FFF2-40B4-BE49-F238E27FC236}">
                    <a16:creationId xmlns:a16="http://schemas.microsoft.com/office/drawing/2014/main" id="{A26CFC27-EFE5-7462-BA79-440910FF4160}"/>
                  </a:ext>
                </a:extLst>
              </p:cNvPr>
              <p:cNvGrpSpPr/>
              <p:nvPr/>
            </p:nvGrpSpPr>
            <p:grpSpPr>
              <a:xfrm>
                <a:off x="8656873" y="2059330"/>
                <a:ext cx="102144" cy="191413"/>
                <a:chOff x="10178180" y="1782664"/>
                <a:chExt cx="102144" cy="191413"/>
              </a:xfrm>
              <a:grpFill/>
            </p:grpSpPr>
            <p:cxnSp>
              <p:nvCxnSpPr>
                <p:cNvPr id="255" name="Connecteur droit 254">
                  <a:extLst>
                    <a:ext uri="{FF2B5EF4-FFF2-40B4-BE49-F238E27FC236}">
                      <a16:creationId xmlns:a16="http://schemas.microsoft.com/office/drawing/2014/main" id="{893DB391-5731-A203-680B-2C035813B543}"/>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AC596E5-141F-1136-BCA2-A76FD78B218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3" name="Groupe 242">
                <a:extLst>
                  <a:ext uri="{FF2B5EF4-FFF2-40B4-BE49-F238E27FC236}">
                    <a16:creationId xmlns:a16="http://schemas.microsoft.com/office/drawing/2014/main" id="{DA30F0F8-44E2-CF14-5EB1-9091CEACAEA2}"/>
                  </a:ext>
                </a:extLst>
              </p:cNvPr>
              <p:cNvGrpSpPr/>
              <p:nvPr/>
            </p:nvGrpSpPr>
            <p:grpSpPr>
              <a:xfrm>
                <a:off x="8574420" y="2433143"/>
                <a:ext cx="102144" cy="191413"/>
                <a:chOff x="10178180" y="1782664"/>
                <a:chExt cx="102144" cy="191413"/>
              </a:xfrm>
              <a:grpFill/>
            </p:grpSpPr>
            <p:cxnSp>
              <p:nvCxnSpPr>
                <p:cNvPr id="253" name="Connecteur droit 252">
                  <a:extLst>
                    <a:ext uri="{FF2B5EF4-FFF2-40B4-BE49-F238E27FC236}">
                      <a16:creationId xmlns:a16="http://schemas.microsoft.com/office/drawing/2014/main" id="{61C9883A-28DE-F992-747B-41641B086C3F}"/>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C683EB77-3F17-7DF1-A0C4-0F85732532F8}"/>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4" name="Groupe 243">
                <a:extLst>
                  <a:ext uri="{FF2B5EF4-FFF2-40B4-BE49-F238E27FC236}">
                    <a16:creationId xmlns:a16="http://schemas.microsoft.com/office/drawing/2014/main" id="{ED8218F7-E76B-D77F-8BF8-7DF686CEB201}"/>
                  </a:ext>
                </a:extLst>
              </p:cNvPr>
              <p:cNvGrpSpPr/>
              <p:nvPr/>
            </p:nvGrpSpPr>
            <p:grpSpPr>
              <a:xfrm>
                <a:off x="8888568" y="2441622"/>
                <a:ext cx="102144" cy="191413"/>
                <a:chOff x="10178180" y="1782664"/>
                <a:chExt cx="102144" cy="191413"/>
              </a:xfrm>
              <a:grpFill/>
            </p:grpSpPr>
            <p:cxnSp>
              <p:nvCxnSpPr>
                <p:cNvPr id="251" name="Connecteur droit 250">
                  <a:extLst>
                    <a:ext uri="{FF2B5EF4-FFF2-40B4-BE49-F238E27FC236}">
                      <a16:creationId xmlns:a16="http://schemas.microsoft.com/office/drawing/2014/main" id="{91D2F22D-7AEF-DF0D-C63E-9A6208EEF91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A6CD9DD3-4FC8-F2B2-B746-A5EE285E6AA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5" name="Groupe 244">
                <a:extLst>
                  <a:ext uri="{FF2B5EF4-FFF2-40B4-BE49-F238E27FC236}">
                    <a16:creationId xmlns:a16="http://schemas.microsoft.com/office/drawing/2014/main" id="{6EBD957C-3A00-04EF-B99F-E53D548390E0}"/>
                  </a:ext>
                </a:extLst>
              </p:cNvPr>
              <p:cNvGrpSpPr/>
              <p:nvPr/>
            </p:nvGrpSpPr>
            <p:grpSpPr>
              <a:xfrm>
                <a:off x="9195077" y="2553446"/>
                <a:ext cx="102144" cy="191413"/>
                <a:chOff x="10178180" y="1782664"/>
                <a:chExt cx="102144" cy="191413"/>
              </a:xfrm>
              <a:grpFill/>
            </p:grpSpPr>
            <p:cxnSp>
              <p:nvCxnSpPr>
                <p:cNvPr id="249" name="Connecteur droit 248">
                  <a:extLst>
                    <a:ext uri="{FF2B5EF4-FFF2-40B4-BE49-F238E27FC236}">
                      <a16:creationId xmlns:a16="http://schemas.microsoft.com/office/drawing/2014/main" id="{5C1D2174-84EE-F56F-7136-7E7EAD1007A2}"/>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EE406D84-C952-319C-76F0-346ED939EB6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6" name="Groupe 245">
                <a:extLst>
                  <a:ext uri="{FF2B5EF4-FFF2-40B4-BE49-F238E27FC236}">
                    <a16:creationId xmlns:a16="http://schemas.microsoft.com/office/drawing/2014/main" id="{C9A76386-5284-0774-29E1-021673C7164C}"/>
                  </a:ext>
                </a:extLst>
              </p:cNvPr>
              <p:cNvGrpSpPr/>
              <p:nvPr/>
            </p:nvGrpSpPr>
            <p:grpSpPr>
              <a:xfrm>
                <a:off x="9490032" y="2590463"/>
                <a:ext cx="102144" cy="191413"/>
                <a:chOff x="10178180" y="1782664"/>
                <a:chExt cx="102144" cy="191413"/>
              </a:xfrm>
              <a:grpFill/>
            </p:grpSpPr>
            <p:cxnSp>
              <p:nvCxnSpPr>
                <p:cNvPr id="247" name="Connecteur droit 246">
                  <a:extLst>
                    <a:ext uri="{FF2B5EF4-FFF2-40B4-BE49-F238E27FC236}">
                      <a16:creationId xmlns:a16="http://schemas.microsoft.com/office/drawing/2014/main" id="{992034B1-D3E4-845A-D971-B451799FFD1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9F7F1D71-6A41-FD2A-4DB6-BFE40ED4015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316" name="Groupe 315">
            <a:extLst>
              <a:ext uri="{FF2B5EF4-FFF2-40B4-BE49-F238E27FC236}">
                <a16:creationId xmlns:a16="http://schemas.microsoft.com/office/drawing/2014/main" id="{90602E47-1263-4E16-6656-7CEEE17D1BC3}"/>
              </a:ext>
            </a:extLst>
          </p:cNvPr>
          <p:cNvGrpSpPr/>
          <p:nvPr/>
        </p:nvGrpSpPr>
        <p:grpSpPr>
          <a:xfrm>
            <a:off x="2295488" y="2630083"/>
            <a:ext cx="1142475" cy="1466540"/>
            <a:chOff x="1062995" y="2236944"/>
            <a:chExt cx="1142475" cy="1466540"/>
          </a:xfrm>
        </p:grpSpPr>
        <p:sp>
          <p:nvSpPr>
            <p:cNvPr id="317" name="ZoneTexte 316">
              <a:extLst>
                <a:ext uri="{FF2B5EF4-FFF2-40B4-BE49-F238E27FC236}">
                  <a16:creationId xmlns:a16="http://schemas.microsoft.com/office/drawing/2014/main" id="{5C53D44A-F22A-7F20-79B8-63694D772C0E}"/>
                </a:ext>
              </a:extLst>
            </p:cNvPr>
            <p:cNvSpPr txBox="1"/>
            <p:nvPr/>
          </p:nvSpPr>
          <p:spPr>
            <a:xfrm>
              <a:off x="1062995" y="3057153"/>
              <a:ext cx="1142475" cy="646331"/>
            </a:xfrm>
            <a:prstGeom prst="rect">
              <a:avLst/>
            </a:prstGeom>
            <a:noFill/>
          </p:spPr>
          <p:txBody>
            <a:bodyPr wrap="square">
              <a:spAutoFit/>
            </a:bodyPr>
            <a:lstStyle/>
            <a:p>
              <a:pPr algn="ctr"/>
              <a:r>
                <a:rPr lang="fr-FR" sz="1200"/>
                <a:t>Un comité (dont l’agent) décide</a:t>
              </a:r>
            </a:p>
          </p:txBody>
        </p:sp>
        <p:grpSp>
          <p:nvGrpSpPr>
            <p:cNvPr id="318" name="Groupe 317">
              <a:extLst>
                <a:ext uri="{FF2B5EF4-FFF2-40B4-BE49-F238E27FC236}">
                  <a16:creationId xmlns:a16="http://schemas.microsoft.com/office/drawing/2014/main" id="{F535494A-CA6D-DFE5-12B5-CDC0331CDDE6}"/>
                </a:ext>
              </a:extLst>
            </p:cNvPr>
            <p:cNvGrpSpPr/>
            <p:nvPr/>
          </p:nvGrpSpPr>
          <p:grpSpPr>
            <a:xfrm>
              <a:off x="1162944" y="2236944"/>
              <a:ext cx="891895" cy="820209"/>
              <a:chOff x="1281387" y="2495253"/>
              <a:chExt cx="1084118" cy="996982"/>
            </a:xfrm>
          </p:grpSpPr>
          <p:grpSp>
            <p:nvGrpSpPr>
              <p:cNvPr id="319" name="Groupe 318">
                <a:extLst>
                  <a:ext uri="{FF2B5EF4-FFF2-40B4-BE49-F238E27FC236}">
                    <a16:creationId xmlns:a16="http://schemas.microsoft.com/office/drawing/2014/main" id="{DF6D60CD-3E00-3E21-3A83-E5329339CD10}"/>
                  </a:ext>
                </a:extLst>
              </p:cNvPr>
              <p:cNvGrpSpPr/>
              <p:nvPr/>
            </p:nvGrpSpPr>
            <p:grpSpPr>
              <a:xfrm>
                <a:off x="1569563" y="3035035"/>
                <a:ext cx="457200" cy="457200"/>
                <a:chOff x="3982824" y="1896400"/>
                <a:chExt cx="914400" cy="914400"/>
              </a:xfrm>
            </p:grpSpPr>
            <p:pic>
              <p:nvPicPr>
                <p:cNvPr id="329" name="Graphique 328" descr="Homme conductrice avec un remplissage uni">
                  <a:extLst>
                    <a:ext uri="{FF2B5EF4-FFF2-40B4-BE49-F238E27FC236}">
                      <a16:creationId xmlns:a16="http://schemas.microsoft.com/office/drawing/2014/main" id="{5379302F-9B52-9024-513C-DE148B9A326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30" name="Rectangle 329">
                  <a:extLst>
                    <a:ext uri="{FF2B5EF4-FFF2-40B4-BE49-F238E27FC236}">
                      <a16:creationId xmlns:a16="http://schemas.microsoft.com/office/drawing/2014/main" id="{6277118C-B6B9-80C3-A0C3-19AED272BD77}"/>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0" name="Groupe 319">
                <a:extLst>
                  <a:ext uri="{FF2B5EF4-FFF2-40B4-BE49-F238E27FC236}">
                    <a16:creationId xmlns:a16="http://schemas.microsoft.com/office/drawing/2014/main" id="{03EADEB5-06BE-92B8-B694-B3E28B52B58E}"/>
                  </a:ext>
                </a:extLst>
              </p:cNvPr>
              <p:cNvGrpSpPr/>
              <p:nvPr/>
            </p:nvGrpSpPr>
            <p:grpSpPr>
              <a:xfrm>
                <a:off x="1281387" y="2806435"/>
                <a:ext cx="457200" cy="457200"/>
                <a:chOff x="3982824" y="1896400"/>
                <a:chExt cx="914400" cy="914400"/>
              </a:xfrm>
            </p:grpSpPr>
            <p:pic>
              <p:nvPicPr>
                <p:cNvPr id="327" name="Graphique 326" descr="Homme conductrice avec un remplissage uni">
                  <a:extLst>
                    <a:ext uri="{FF2B5EF4-FFF2-40B4-BE49-F238E27FC236}">
                      <a16:creationId xmlns:a16="http://schemas.microsoft.com/office/drawing/2014/main" id="{6BAB7D07-3F53-288A-853F-1EB9615D73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2824" y="1896400"/>
                  <a:ext cx="914400" cy="914400"/>
                </a:xfrm>
                <a:prstGeom prst="rect">
                  <a:avLst/>
                </a:prstGeom>
              </p:spPr>
            </p:pic>
            <p:sp>
              <p:nvSpPr>
                <p:cNvPr id="328" name="Rectangle 327">
                  <a:extLst>
                    <a:ext uri="{FF2B5EF4-FFF2-40B4-BE49-F238E27FC236}">
                      <a16:creationId xmlns:a16="http://schemas.microsoft.com/office/drawing/2014/main" id="{8187A43B-FD41-48C1-AFB0-7F6A8BC8421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1" name="Groupe 320">
                <a:extLst>
                  <a:ext uri="{FF2B5EF4-FFF2-40B4-BE49-F238E27FC236}">
                    <a16:creationId xmlns:a16="http://schemas.microsoft.com/office/drawing/2014/main" id="{A47940E1-729A-EFDF-973D-D86DD4B2804C}"/>
                  </a:ext>
                </a:extLst>
              </p:cNvPr>
              <p:cNvGrpSpPr/>
              <p:nvPr/>
            </p:nvGrpSpPr>
            <p:grpSpPr>
              <a:xfrm>
                <a:off x="1613164" y="2495253"/>
                <a:ext cx="457200" cy="457200"/>
                <a:chOff x="3982824" y="1896400"/>
                <a:chExt cx="914400" cy="914400"/>
              </a:xfrm>
            </p:grpSpPr>
            <p:pic>
              <p:nvPicPr>
                <p:cNvPr id="325" name="Graphique 324" descr="Homme conductrice avec un remplissage uni">
                  <a:extLst>
                    <a:ext uri="{FF2B5EF4-FFF2-40B4-BE49-F238E27FC236}">
                      <a16:creationId xmlns:a16="http://schemas.microsoft.com/office/drawing/2014/main" id="{8E54E859-443A-FE94-4B9D-DC9DBC2DF1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6" name="Rectangle 325">
                  <a:extLst>
                    <a:ext uri="{FF2B5EF4-FFF2-40B4-BE49-F238E27FC236}">
                      <a16:creationId xmlns:a16="http://schemas.microsoft.com/office/drawing/2014/main" id="{C9885DE0-491B-B604-2939-D3B7DF450EC1}"/>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2" name="Groupe 321">
                <a:extLst>
                  <a:ext uri="{FF2B5EF4-FFF2-40B4-BE49-F238E27FC236}">
                    <a16:creationId xmlns:a16="http://schemas.microsoft.com/office/drawing/2014/main" id="{7A643A72-8DD1-7988-FF30-6B8BD6BF1629}"/>
                  </a:ext>
                </a:extLst>
              </p:cNvPr>
              <p:cNvGrpSpPr/>
              <p:nvPr/>
            </p:nvGrpSpPr>
            <p:grpSpPr>
              <a:xfrm>
                <a:off x="1908305" y="2820432"/>
                <a:ext cx="457200" cy="457200"/>
                <a:chOff x="3982824" y="1896400"/>
                <a:chExt cx="914400" cy="914400"/>
              </a:xfrm>
            </p:grpSpPr>
            <p:pic>
              <p:nvPicPr>
                <p:cNvPr id="323" name="Graphique 322" descr="Homme conductrice avec un remplissage uni">
                  <a:extLst>
                    <a:ext uri="{FF2B5EF4-FFF2-40B4-BE49-F238E27FC236}">
                      <a16:creationId xmlns:a16="http://schemas.microsoft.com/office/drawing/2014/main" id="{311E0D80-3602-C49F-D216-453DF87261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4" name="Rectangle 323">
                  <a:extLst>
                    <a:ext uri="{FF2B5EF4-FFF2-40B4-BE49-F238E27FC236}">
                      <a16:creationId xmlns:a16="http://schemas.microsoft.com/office/drawing/2014/main" id="{3C674105-0914-9BE3-2BCB-7A528C9934F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grpSp>
        <p:nvGrpSpPr>
          <p:cNvPr id="3" name="Groupe 2">
            <a:extLst>
              <a:ext uri="{FF2B5EF4-FFF2-40B4-BE49-F238E27FC236}">
                <a16:creationId xmlns:a16="http://schemas.microsoft.com/office/drawing/2014/main" id="{DE3183CA-C63F-A6AB-E1E1-453173213EEB}"/>
              </a:ext>
            </a:extLst>
          </p:cNvPr>
          <p:cNvGrpSpPr/>
          <p:nvPr/>
        </p:nvGrpSpPr>
        <p:grpSpPr>
          <a:xfrm>
            <a:off x="3756364" y="2577298"/>
            <a:ext cx="1142475" cy="1281874"/>
            <a:chOff x="1062995" y="2236944"/>
            <a:chExt cx="1142475" cy="1281874"/>
          </a:xfrm>
        </p:grpSpPr>
        <p:sp>
          <p:nvSpPr>
            <p:cNvPr id="22" name="ZoneTexte 21">
              <a:extLst>
                <a:ext uri="{FF2B5EF4-FFF2-40B4-BE49-F238E27FC236}">
                  <a16:creationId xmlns:a16="http://schemas.microsoft.com/office/drawing/2014/main" id="{6FD43AB8-2EC5-6311-490A-7B85D0CBD3F1}"/>
                </a:ext>
              </a:extLst>
            </p:cNvPr>
            <p:cNvSpPr txBox="1"/>
            <p:nvPr/>
          </p:nvSpPr>
          <p:spPr>
            <a:xfrm>
              <a:off x="1062995" y="3057153"/>
              <a:ext cx="1142475" cy="461665"/>
            </a:xfrm>
            <a:prstGeom prst="rect">
              <a:avLst/>
            </a:prstGeom>
            <a:noFill/>
          </p:spPr>
          <p:txBody>
            <a:bodyPr wrap="square">
              <a:spAutoFit/>
            </a:bodyPr>
            <a:lstStyle/>
            <a:p>
              <a:pPr algn="ctr"/>
              <a:r>
                <a:rPr lang="fr-FR" sz="1200"/>
                <a:t>Un comité sans agent décide</a:t>
              </a:r>
            </a:p>
          </p:txBody>
        </p:sp>
        <p:grpSp>
          <p:nvGrpSpPr>
            <p:cNvPr id="23" name="Groupe 22">
              <a:extLst>
                <a:ext uri="{FF2B5EF4-FFF2-40B4-BE49-F238E27FC236}">
                  <a16:creationId xmlns:a16="http://schemas.microsoft.com/office/drawing/2014/main" id="{E5D3B090-771F-9A12-F04A-50AF6B55516E}"/>
                </a:ext>
              </a:extLst>
            </p:cNvPr>
            <p:cNvGrpSpPr/>
            <p:nvPr/>
          </p:nvGrpSpPr>
          <p:grpSpPr>
            <a:xfrm>
              <a:off x="1162944" y="2236944"/>
              <a:ext cx="891895" cy="820209"/>
              <a:chOff x="1281387" y="2495253"/>
              <a:chExt cx="1084118" cy="996982"/>
            </a:xfrm>
          </p:grpSpPr>
          <p:grpSp>
            <p:nvGrpSpPr>
              <p:cNvPr id="31" name="Groupe 30">
                <a:extLst>
                  <a:ext uri="{FF2B5EF4-FFF2-40B4-BE49-F238E27FC236}">
                    <a16:creationId xmlns:a16="http://schemas.microsoft.com/office/drawing/2014/main" id="{AEF27E26-9BAE-6A38-A82A-088598D05F66}"/>
                  </a:ext>
                </a:extLst>
              </p:cNvPr>
              <p:cNvGrpSpPr/>
              <p:nvPr/>
            </p:nvGrpSpPr>
            <p:grpSpPr>
              <a:xfrm>
                <a:off x="1569563" y="3035035"/>
                <a:ext cx="457200" cy="457200"/>
                <a:chOff x="3982824" y="1896400"/>
                <a:chExt cx="914400" cy="914400"/>
              </a:xfrm>
            </p:grpSpPr>
            <p:pic>
              <p:nvPicPr>
                <p:cNvPr id="41" name="Graphique 40" descr="Homme conductrice avec un remplissage uni">
                  <a:extLst>
                    <a:ext uri="{FF2B5EF4-FFF2-40B4-BE49-F238E27FC236}">
                      <a16:creationId xmlns:a16="http://schemas.microsoft.com/office/drawing/2014/main" id="{F64F86AB-035C-2D07-ED36-72997301DC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2" name="Rectangle 41">
                  <a:extLst>
                    <a:ext uri="{FF2B5EF4-FFF2-40B4-BE49-F238E27FC236}">
                      <a16:creationId xmlns:a16="http://schemas.microsoft.com/office/drawing/2014/main" id="{2CFA9C69-A393-CBC2-7702-D832872DD30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 name="Groupe 31">
                <a:extLst>
                  <a:ext uri="{FF2B5EF4-FFF2-40B4-BE49-F238E27FC236}">
                    <a16:creationId xmlns:a16="http://schemas.microsoft.com/office/drawing/2014/main" id="{B480127C-57DA-4997-2F77-761CD1323E73}"/>
                  </a:ext>
                </a:extLst>
              </p:cNvPr>
              <p:cNvGrpSpPr/>
              <p:nvPr/>
            </p:nvGrpSpPr>
            <p:grpSpPr>
              <a:xfrm>
                <a:off x="1281387" y="2806435"/>
                <a:ext cx="457200" cy="457200"/>
                <a:chOff x="3982824" y="1896400"/>
                <a:chExt cx="914400" cy="914400"/>
              </a:xfrm>
            </p:grpSpPr>
            <p:pic>
              <p:nvPicPr>
                <p:cNvPr id="39" name="Graphique 38" descr="Homme conductrice avec un remplissage uni">
                  <a:extLst>
                    <a:ext uri="{FF2B5EF4-FFF2-40B4-BE49-F238E27FC236}">
                      <a16:creationId xmlns:a16="http://schemas.microsoft.com/office/drawing/2014/main" id="{C731BF6C-377F-7599-8987-6D1559A67A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0" name="Rectangle 39">
                  <a:extLst>
                    <a:ext uri="{FF2B5EF4-FFF2-40B4-BE49-F238E27FC236}">
                      <a16:creationId xmlns:a16="http://schemas.microsoft.com/office/drawing/2014/main" id="{FFE7B6A8-ECD4-4FB4-7D25-8966B412F06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3" name="Groupe 32">
                <a:extLst>
                  <a:ext uri="{FF2B5EF4-FFF2-40B4-BE49-F238E27FC236}">
                    <a16:creationId xmlns:a16="http://schemas.microsoft.com/office/drawing/2014/main" id="{B5533935-542D-B1D5-69F8-E5FF589A2B72}"/>
                  </a:ext>
                </a:extLst>
              </p:cNvPr>
              <p:cNvGrpSpPr/>
              <p:nvPr/>
            </p:nvGrpSpPr>
            <p:grpSpPr>
              <a:xfrm>
                <a:off x="1613164" y="2495253"/>
                <a:ext cx="457200" cy="457200"/>
                <a:chOff x="3982824" y="1896400"/>
                <a:chExt cx="914400" cy="914400"/>
              </a:xfrm>
            </p:grpSpPr>
            <p:pic>
              <p:nvPicPr>
                <p:cNvPr id="37" name="Graphique 36" descr="Homme conductrice avec un remplissage uni">
                  <a:extLst>
                    <a:ext uri="{FF2B5EF4-FFF2-40B4-BE49-F238E27FC236}">
                      <a16:creationId xmlns:a16="http://schemas.microsoft.com/office/drawing/2014/main" id="{A42765BB-9A30-CA07-BB3D-6824984786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8" name="Rectangle 37">
                  <a:extLst>
                    <a:ext uri="{FF2B5EF4-FFF2-40B4-BE49-F238E27FC236}">
                      <a16:creationId xmlns:a16="http://schemas.microsoft.com/office/drawing/2014/main" id="{44B0B58D-7DCE-6B92-9385-B6D9D6C9D835}"/>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4" name="Groupe 33">
                <a:extLst>
                  <a:ext uri="{FF2B5EF4-FFF2-40B4-BE49-F238E27FC236}">
                    <a16:creationId xmlns:a16="http://schemas.microsoft.com/office/drawing/2014/main" id="{36617305-3E6F-4BB2-B1EF-0AFC278D8A6C}"/>
                  </a:ext>
                </a:extLst>
              </p:cNvPr>
              <p:cNvGrpSpPr/>
              <p:nvPr/>
            </p:nvGrpSpPr>
            <p:grpSpPr>
              <a:xfrm>
                <a:off x="1908305" y="2820432"/>
                <a:ext cx="457200" cy="457200"/>
                <a:chOff x="3982824" y="1896400"/>
                <a:chExt cx="914400" cy="914400"/>
              </a:xfrm>
            </p:grpSpPr>
            <p:pic>
              <p:nvPicPr>
                <p:cNvPr id="35" name="Graphique 34" descr="Homme conductrice avec un remplissage uni">
                  <a:extLst>
                    <a:ext uri="{FF2B5EF4-FFF2-40B4-BE49-F238E27FC236}">
                      <a16:creationId xmlns:a16="http://schemas.microsoft.com/office/drawing/2014/main" id="{6C471F4E-213D-500E-6F57-84CF36C22E4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6" name="Rectangle 35">
                  <a:extLst>
                    <a:ext uri="{FF2B5EF4-FFF2-40B4-BE49-F238E27FC236}">
                      <a16:creationId xmlns:a16="http://schemas.microsoft.com/office/drawing/2014/main" id="{C5E7F4F6-9338-8825-063D-1B99A3C54C24}"/>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43" name="ZoneTexte 42">
            <a:extLst>
              <a:ext uri="{FF2B5EF4-FFF2-40B4-BE49-F238E27FC236}">
                <a16:creationId xmlns:a16="http://schemas.microsoft.com/office/drawing/2014/main" id="{8A886B9B-C820-AC0C-AB7B-5510BA24E6B7}"/>
              </a:ext>
            </a:extLst>
          </p:cNvPr>
          <p:cNvSpPr txBox="1"/>
          <p:nvPr/>
        </p:nvSpPr>
        <p:spPr>
          <a:xfrm>
            <a:off x="912504" y="453677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4" name="ZoneTexte 43">
            <a:extLst>
              <a:ext uri="{FF2B5EF4-FFF2-40B4-BE49-F238E27FC236}">
                <a16:creationId xmlns:a16="http://schemas.microsoft.com/office/drawing/2014/main" id="{5733EF5A-C8A4-789B-43EA-3DFFC05C28EF}"/>
              </a:ext>
            </a:extLst>
          </p:cNvPr>
          <p:cNvSpPr txBox="1"/>
          <p:nvPr/>
        </p:nvSpPr>
        <p:spPr>
          <a:xfrm>
            <a:off x="2568332" y="4576189"/>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5" name="ZoneTexte 44">
            <a:extLst>
              <a:ext uri="{FF2B5EF4-FFF2-40B4-BE49-F238E27FC236}">
                <a16:creationId xmlns:a16="http://schemas.microsoft.com/office/drawing/2014/main" id="{5CEAAA3F-79F4-8E6F-91B5-AEF90E4A82E4}"/>
              </a:ext>
            </a:extLst>
          </p:cNvPr>
          <p:cNvSpPr txBox="1"/>
          <p:nvPr/>
        </p:nvSpPr>
        <p:spPr>
          <a:xfrm>
            <a:off x="2583504" y="4947293"/>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6" name="ZoneTexte 45">
            <a:extLst>
              <a:ext uri="{FF2B5EF4-FFF2-40B4-BE49-F238E27FC236}">
                <a16:creationId xmlns:a16="http://schemas.microsoft.com/office/drawing/2014/main" id="{5115945B-3095-5539-09FF-E4BF5FE4CB96}"/>
              </a:ext>
            </a:extLst>
          </p:cNvPr>
          <p:cNvSpPr txBox="1"/>
          <p:nvPr/>
        </p:nvSpPr>
        <p:spPr>
          <a:xfrm>
            <a:off x="2583504" y="5371984"/>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7" name="ZoneTexte 46">
            <a:extLst>
              <a:ext uri="{FF2B5EF4-FFF2-40B4-BE49-F238E27FC236}">
                <a16:creationId xmlns:a16="http://schemas.microsoft.com/office/drawing/2014/main" id="{AC2F767E-B015-AD86-C917-6E208018AE52}"/>
              </a:ext>
            </a:extLst>
          </p:cNvPr>
          <p:cNvSpPr txBox="1"/>
          <p:nvPr/>
        </p:nvSpPr>
        <p:spPr>
          <a:xfrm>
            <a:off x="3980196" y="4544333"/>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8" name="ZoneTexte 47">
            <a:extLst>
              <a:ext uri="{FF2B5EF4-FFF2-40B4-BE49-F238E27FC236}">
                <a16:creationId xmlns:a16="http://schemas.microsoft.com/office/drawing/2014/main" id="{0AD545DD-7A5A-617C-8003-C003144ECE5B}"/>
              </a:ext>
            </a:extLst>
          </p:cNvPr>
          <p:cNvSpPr txBox="1"/>
          <p:nvPr/>
        </p:nvSpPr>
        <p:spPr>
          <a:xfrm>
            <a:off x="3968383" y="4932284"/>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9" name="ZoneTexte 48">
            <a:extLst>
              <a:ext uri="{FF2B5EF4-FFF2-40B4-BE49-F238E27FC236}">
                <a16:creationId xmlns:a16="http://schemas.microsoft.com/office/drawing/2014/main" id="{02CBD9F1-2367-568C-97DE-95337ED88A72}"/>
              </a:ext>
            </a:extLst>
          </p:cNvPr>
          <p:cNvSpPr txBox="1"/>
          <p:nvPr/>
        </p:nvSpPr>
        <p:spPr>
          <a:xfrm>
            <a:off x="3960674" y="5365230"/>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0" name="ZoneTexte 49">
            <a:extLst>
              <a:ext uri="{FF2B5EF4-FFF2-40B4-BE49-F238E27FC236}">
                <a16:creationId xmlns:a16="http://schemas.microsoft.com/office/drawing/2014/main" id="{E047EA71-BF42-DDF8-980C-708172F5C533}"/>
              </a:ext>
            </a:extLst>
          </p:cNvPr>
          <p:cNvSpPr txBox="1"/>
          <p:nvPr/>
        </p:nvSpPr>
        <p:spPr>
          <a:xfrm>
            <a:off x="5516948" y="454433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1" name="ZoneTexte 50">
            <a:extLst>
              <a:ext uri="{FF2B5EF4-FFF2-40B4-BE49-F238E27FC236}">
                <a16:creationId xmlns:a16="http://schemas.microsoft.com/office/drawing/2014/main" id="{25507CB2-08B0-2279-8482-2138DD3E29CA}"/>
              </a:ext>
            </a:extLst>
          </p:cNvPr>
          <p:cNvSpPr txBox="1"/>
          <p:nvPr/>
        </p:nvSpPr>
        <p:spPr>
          <a:xfrm>
            <a:off x="5516948" y="491851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2" name="ZoneTexte 51">
            <a:extLst>
              <a:ext uri="{FF2B5EF4-FFF2-40B4-BE49-F238E27FC236}">
                <a16:creationId xmlns:a16="http://schemas.microsoft.com/office/drawing/2014/main" id="{A54AE7AA-1140-5804-70C0-FABCFEB718A6}"/>
              </a:ext>
            </a:extLst>
          </p:cNvPr>
          <p:cNvSpPr txBox="1"/>
          <p:nvPr/>
        </p:nvSpPr>
        <p:spPr>
          <a:xfrm>
            <a:off x="5516948" y="5336079"/>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3" name="ZoneTexte 52">
            <a:extLst>
              <a:ext uri="{FF2B5EF4-FFF2-40B4-BE49-F238E27FC236}">
                <a16:creationId xmlns:a16="http://schemas.microsoft.com/office/drawing/2014/main" id="{99CD0AF7-4E5D-7104-C7E2-E524C50C076F}"/>
              </a:ext>
            </a:extLst>
          </p:cNvPr>
          <p:cNvSpPr txBox="1"/>
          <p:nvPr/>
        </p:nvSpPr>
        <p:spPr>
          <a:xfrm>
            <a:off x="5519757" y="5753646"/>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4" name="ZoneTexte 53">
            <a:extLst>
              <a:ext uri="{FF2B5EF4-FFF2-40B4-BE49-F238E27FC236}">
                <a16:creationId xmlns:a16="http://schemas.microsoft.com/office/drawing/2014/main" id="{B3CBD601-2293-F2E3-7F8D-60B64E96221C}"/>
              </a:ext>
            </a:extLst>
          </p:cNvPr>
          <p:cNvSpPr txBox="1"/>
          <p:nvPr/>
        </p:nvSpPr>
        <p:spPr>
          <a:xfrm>
            <a:off x="9512226" y="4119287"/>
            <a:ext cx="1537145" cy="873493"/>
          </a:xfrm>
          <a:prstGeom prst="rect">
            <a:avLst/>
          </a:prstGeom>
          <a:solidFill>
            <a:srgbClr val="FFFF00"/>
          </a:solidFill>
          <a:ln>
            <a:solidFill>
              <a:schemeClr val="tx1"/>
            </a:solidFill>
          </a:ln>
        </p:spPr>
        <p:txBody>
          <a:bodyPr wrap="square">
            <a:normAutofit fontScale="92500" lnSpcReduction="10000"/>
          </a:bodyPr>
          <a:lstStyle/>
          <a:p>
            <a:pPr algn="ctr"/>
            <a:r>
              <a:rPr lang="fr-FR" sz="1200"/>
              <a:t>Choisir les outils de travail </a:t>
            </a:r>
          </a:p>
          <a:p>
            <a:pPr algn="ctr"/>
            <a:endParaRPr lang="fr-FR" sz="1200"/>
          </a:p>
          <a:p>
            <a:pPr algn="ctr"/>
            <a:r>
              <a:rPr lang="fr-FR" sz="1200" b="1"/>
              <a:t>Responsables outils et processus de l’équipe</a:t>
            </a:r>
          </a:p>
        </p:txBody>
      </p:sp>
      <p:sp>
        <p:nvSpPr>
          <p:cNvPr id="55" name="ZoneTexte 54">
            <a:extLst>
              <a:ext uri="{FF2B5EF4-FFF2-40B4-BE49-F238E27FC236}">
                <a16:creationId xmlns:a16="http://schemas.microsoft.com/office/drawing/2014/main" id="{1F80DFF3-5480-BD27-9262-6A7DC5476437}"/>
              </a:ext>
            </a:extLst>
          </p:cNvPr>
          <p:cNvSpPr txBox="1"/>
          <p:nvPr/>
        </p:nvSpPr>
        <p:spPr>
          <a:xfrm>
            <a:off x="9512226" y="5178809"/>
            <a:ext cx="1537145" cy="873493"/>
          </a:xfrm>
          <a:prstGeom prst="rect">
            <a:avLst/>
          </a:prstGeom>
          <a:solidFill>
            <a:srgbClr val="FFFF00"/>
          </a:solidFill>
          <a:ln>
            <a:solidFill>
              <a:schemeClr val="tx1"/>
            </a:solidFill>
          </a:ln>
        </p:spPr>
        <p:txBody>
          <a:bodyPr wrap="square">
            <a:normAutofit/>
          </a:bodyPr>
          <a:lstStyle/>
          <a:p>
            <a:pPr algn="ctr"/>
            <a:r>
              <a:rPr lang="fr-FR" sz="1200"/>
              <a:t>Décider des animations des fêtes</a:t>
            </a:r>
          </a:p>
          <a:p>
            <a:pPr algn="ctr"/>
            <a:endParaRPr lang="fr-FR" sz="1200"/>
          </a:p>
          <a:p>
            <a:pPr algn="ctr"/>
            <a:r>
              <a:rPr lang="fr-FR" sz="1200" b="1"/>
              <a:t>Comité des fêtes</a:t>
            </a:r>
          </a:p>
        </p:txBody>
      </p:sp>
      <p:sp>
        <p:nvSpPr>
          <p:cNvPr id="56" name="Espace réservé du contenu 2">
            <a:extLst>
              <a:ext uri="{FF2B5EF4-FFF2-40B4-BE49-F238E27FC236}">
                <a16:creationId xmlns:a16="http://schemas.microsoft.com/office/drawing/2014/main" id="{AB9B97BE-1C78-BC20-70B6-55A40C61AEF1}"/>
              </a:ext>
            </a:extLst>
          </p:cNvPr>
          <p:cNvSpPr>
            <a:spLocks noGrp="1"/>
          </p:cNvSpPr>
          <p:nvPr>
            <p:ph idx="1"/>
          </p:nvPr>
        </p:nvSpPr>
        <p:spPr>
          <a:xfrm>
            <a:off x="8848149" y="2506572"/>
            <a:ext cx="2352520" cy="3545730"/>
          </a:xfrm>
        </p:spPr>
        <p:txBody>
          <a:bodyPr>
            <a:normAutofit/>
          </a:bodyPr>
          <a:lstStyle/>
          <a:p>
            <a:pPr marL="0" indent="0">
              <a:buNone/>
            </a:pPr>
            <a:r>
              <a:rPr lang="fr-FR" sz="1800"/>
              <a:t>Pour chaque ticket, une fois la décision prise, on ajoute aussi QUI prend la décision pour les décisions collectives</a:t>
            </a:r>
          </a:p>
        </p:txBody>
      </p:sp>
    </p:spTree>
    <p:extLst>
      <p:ext uri="{BB962C8B-B14F-4D97-AF65-F5344CB8AC3E}">
        <p14:creationId xmlns:p14="http://schemas.microsoft.com/office/powerpoint/2010/main" val="2310581659"/>
      </p:ext>
    </p:extLst>
  </p:cSld>
  <p:clrMapOvr>
    <a:masterClrMapping/>
  </p:clrMapOvr>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Props1.xml><?xml version="1.0" encoding="utf-8"?>
<ds:datastoreItem xmlns:ds="http://schemas.openxmlformats.org/officeDocument/2006/customXml" ds:itemID="{0DF9F165-648D-421E-8498-0034FE725326}">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EFC2266-5CEF-4FAD-B245-97511FB4E840}">
  <ds:schemaRefs>
    <ds:schemaRef ds:uri="http://schemas.microsoft.com/sharepoint/v3/contenttype/forms"/>
  </ds:schemaRefs>
</ds:datastoreItem>
</file>

<file path=customXml/itemProps3.xml><?xml version="1.0" encoding="utf-8"?>
<ds:datastoreItem xmlns:ds="http://schemas.openxmlformats.org/officeDocument/2006/customXml" ds:itemID="{A886DD1B-D33E-4B6C-A6C5-A418DF31A1DA}">
  <ds:schemaRefs>
    <ds:schemaRef ds:uri="ae28f11b-d4f1-47fe-837d-5da7d4fdfa8d"/>
    <ds:schemaRef ds:uri="http://schemas.microsoft.com/office/2006/documentManagement/types"/>
    <ds:schemaRef ds:uri="http://purl.org/dc/terms/"/>
    <ds:schemaRef ds:uri="http://www.w3.org/XML/1998/namespace"/>
    <ds:schemaRef ds:uri="http://schemas.openxmlformats.org/package/2006/metadata/core-properties"/>
    <ds:schemaRef ds:uri="http://purl.org/dc/elements/1.1/"/>
    <ds:schemaRef ds:uri="http://schemas.microsoft.com/office/infopath/2007/PartnerControls"/>
    <ds:schemaRef ds:uri="2e054d75-df43-4e50-a610-0e7b0816d11a"/>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6282</Words>
  <Application>Microsoft Office PowerPoint</Application>
  <PresentationFormat>Widescreen</PresentationFormat>
  <Paragraphs>600</Paragraphs>
  <Slides>48</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48</vt:i4>
      </vt:variant>
    </vt:vector>
  </HeadingPairs>
  <TitlesOfParts>
    <vt:vector size="52" baseType="lpstr">
      <vt:lpstr>Arial</vt:lpstr>
      <vt:lpstr>Calibri</vt:lpstr>
      <vt:lpstr>Calibri Light</vt:lpstr>
      <vt:lpstr>Thème Office</vt:lpstr>
      <vt:lpstr>Presentazione standard di PowerPoint</vt:lpstr>
      <vt:lpstr>Ce document est un contenu #OpenSeriousCommunity #OSC</vt:lpstr>
      <vt:lpstr>Sommaire de l’IVCD Map</vt:lpstr>
      <vt:lpstr>Concept  Décision par l’individu vs Consensus</vt:lpstr>
      <vt:lpstr>Quelques situations courantes</vt:lpstr>
      <vt:lpstr>Quelques situations courantes</vt:lpstr>
      <vt:lpstr>Quelques situations courantes</vt:lpstr>
      <vt:lpstr>La question derrière ces situations </vt:lpstr>
      <vt:lpstr>La question derrière ces situations </vt:lpstr>
      <vt:lpstr>Agir vite seul(e) ou bien se mettre d’accord au préalable </vt:lpstr>
      <vt:lpstr>Les bénéfices de chaque modalité</vt:lpstr>
      <vt:lpstr>Les bénéfices de chaque modalité</vt:lpstr>
      <vt:lpstr>En tant que Non-Agent, les réactions possibles</vt:lpstr>
      <vt:lpstr>En tant qu’Agent, les difficultés lorsqu’on est « forcé » de choisir une modalité</vt:lpstr>
      <vt:lpstr>Agir vite seul(e) ou bien se mettre d’accord au préalable Avantages et Inconvénients </vt:lpstr>
      <vt:lpstr>Agir vite seul(e) ou bien se mettre d’accord au préalable Conditions favorables qui invitent à une modalité ou une autre</vt:lpstr>
      <vt:lpstr>Agir vite seul(e) ou bien se mettre d’accord au préalable Exemples de situations</vt:lpstr>
      <vt:lpstr>Outil IVCD Map</vt:lpstr>
      <vt:lpstr>Agir vite seul(e) ou bien se mettre d’accord au préalable Atelier pratique : Individual vs Consensus decision (IVCD) map</vt:lpstr>
      <vt:lpstr>Agir vite seul(e) ou bien se mettre d’accord au préalable IVCD map – Exemple de résultat</vt:lpstr>
      <vt:lpstr>Agir vite seul(e) ou bien se mettre d’accord au préalable Quand utiliser l’IVCD map dans un collectif ?</vt:lpstr>
      <vt:lpstr>Les bénéfices d’un bon usage de l’IVCD Map</vt:lpstr>
      <vt:lpstr>Présenter l’IVCD Map différemment</vt:lpstr>
      <vt:lpstr>Usage de l’IVCD Map en atelier d’équipe</vt:lpstr>
      <vt:lpstr>Cet atelier suit des recommandations #OpenSeriousGame</vt:lpstr>
      <vt:lpstr>Déroulement de l’IVCD Map en bref</vt:lpstr>
      <vt:lpstr>Niveau 2 : Détails sur l’atelier IVCD Map</vt:lpstr>
      <vt:lpstr>Niveau 3 : Organisation d’IVCD Map</vt:lpstr>
      <vt:lpstr>Niveau 5 : Animation de IVCD map</vt:lpstr>
      <vt:lpstr>Niveau 6 : Adaptation de IVCD Map</vt:lpstr>
      <vt:lpstr>Usage en onboarding</vt:lpstr>
      <vt:lpstr>Usage entre 2 équipes</vt:lpstr>
      <vt:lpstr>Former à l’IVCD Map</vt:lpstr>
      <vt:lpstr>🎓Former à l’IVCD Map</vt:lpstr>
      <vt:lpstr>1. Inspiration : Format recommandés</vt:lpstr>
      <vt:lpstr>2. Phase Collecte : contenu recommandés</vt:lpstr>
      <vt:lpstr>2. Phase Collecte : Format</vt:lpstr>
      <vt:lpstr>3. Phase initiation Exemple fictif pour s’exercer à l’IVCD Map   1/4</vt:lpstr>
      <vt:lpstr>3. Phase initiation Exemple fictif pour s’exercer à l’IVCD Map   2/4</vt:lpstr>
      <vt:lpstr>3. Phase initiation Exemple fictif pour s’exercer à l’IVCD Map   3/4</vt:lpstr>
      <vt:lpstr>3. Phase initiation Exemple fictif pour s’exercer à l’IVCD Map   4/4  Application « individuelle »</vt:lpstr>
      <vt:lpstr>4. Phase Choc de la réalité Contenus et format</vt:lpstr>
      <vt:lpstr>5. Phase Confirmation des réussites </vt:lpstr>
      <vt:lpstr>Limites et extensions de l’IVCD Map</vt:lpstr>
      <vt:lpstr>L’IVCD Map et la combinaison avec les autres outils</vt:lpstr>
      <vt:lpstr>Limites de l’IVCD Map</vt:lpstr>
      <vt:lpstr>IVCD Map détaillée</vt:lpstr>
      <vt:lpstr>IVCD Map détaillée Format de la carte et des tickets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IVCD Map </dc:title>
  <dc:creator>Alexandre Quach</dc:creator>
  <cp:lastModifiedBy>Alexandre Quach</cp:lastModifiedBy>
  <cp:revision>2</cp:revision>
  <dcterms:created xsi:type="dcterms:W3CDTF">2022-10-14T08:56:06Z</dcterms:created>
  <dcterms:modified xsi:type="dcterms:W3CDTF">2022-11-25T14:45:22Z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