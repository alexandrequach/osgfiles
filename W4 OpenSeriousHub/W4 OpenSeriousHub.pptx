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2"/>
  </p:notesMasterIdLst>
  <p:sldIdLst>
    <p:sldId id="646" r:id="rId2"/>
    <p:sldId id="670" r:id="rId3"/>
    <p:sldId id="630" r:id="rId4"/>
    <p:sldId id="641" r:id="rId5"/>
    <p:sldId id="632" r:id="rId6"/>
    <p:sldId id="671" r:id="rId7"/>
    <p:sldId id="672" r:id="rId8"/>
    <p:sldId id="310" r:id="rId9"/>
    <p:sldId id="676" r:id="rId10"/>
    <p:sldId id="677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re Quach" initials="AQ" lastIdx="3" clrIdx="0">
    <p:extLst>
      <p:ext uri="{19B8F6BF-5375-455C-9EA6-DF929625EA0E}">
        <p15:presenceInfo xmlns:p15="http://schemas.microsoft.com/office/powerpoint/2012/main" userId="7bb690c8a6e028e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B2B"/>
    <a:srgbClr val="3494BA"/>
    <a:srgbClr val="F4B183"/>
    <a:srgbClr val="FF0000"/>
    <a:srgbClr val="A6A6A6"/>
    <a:srgbClr val="FBE5D6"/>
    <a:srgbClr val="E2F0D9"/>
    <a:srgbClr val="A9D18E"/>
    <a:srgbClr val="BFBFBF"/>
    <a:srgbClr val="CDDC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88D467-E178-405C-B39E-6398160D11B2}" v="45" dt="2022-03-04T10:09:17.8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 autoAdjust="0"/>
    <p:restoredTop sz="94660"/>
  </p:normalViewPr>
  <p:slideViewPr>
    <p:cSldViewPr snapToGrid="0">
      <p:cViewPr varScale="1">
        <p:scale>
          <a:sx n="58" d="100"/>
          <a:sy n="58" d="100"/>
        </p:scale>
        <p:origin x="854" y="2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226AC-8069-465F-BE35-AC5AC6A5824B}" type="datetimeFigureOut">
              <a:rPr lang="fr-FR" smtClean="0"/>
              <a:t>08/06/2025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5F71A-6683-4344-8A86-B72493AD35FC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42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8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2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EC7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4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51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83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0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1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5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47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19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90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42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3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1" r:id="rId3"/>
    <p:sldLayoutId id="2147483716" r:id="rId4"/>
    <p:sldLayoutId id="2147483717" r:id="rId5"/>
    <p:sldLayoutId id="2147483720" r:id="rId6"/>
    <p:sldLayoutId id="2147483718" r:id="rId7"/>
    <p:sldLayoutId id="2147483712" r:id="rId8"/>
    <p:sldLayoutId id="2147483708" r:id="rId9"/>
    <p:sldLayoutId id="2147483709" r:id="rId10"/>
    <p:sldLayoutId id="2147483710" r:id="rId11"/>
    <p:sldLayoutId id="2147483711" r:id="rId12"/>
    <p:sldLayoutId id="214748371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avatar-icon-document-entrepreneur-1789663/" TargetMode="External"/><Relationship Id="rId7" Type="http://schemas.openxmlformats.org/officeDocument/2006/relationships/hyperlink" Target="https://commons.wikimedia.org/wiki/File:Creative-Tail-People-women.svg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hyperlink" Target="https://pixabay.com/en/child-avatar-icon-flat-design-red-1837375/" TargetMode="Externa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svg"/><Relationship Id="rId7" Type="http://schemas.openxmlformats.org/officeDocument/2006/relationships/image" Target="../media/image19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hyperlink" Target="https://stileex.xyz/salons-foires-antananarivo/" TargetMode="External"/><Relationship Id="rId3" Type="http://schemas.openxmlformats.org/officeDocument/2006/relationships/image" Target="../media/image19.svg"/><Relationship Id="rId7" Type="http://schemas.openxmlformats.org/officeDocument/2006/relationships/image" Target="../media/image8.svg"/><Relationship Id="rId12" Type="http://schemas.openxmlformats.org/officeDocument/2006/relationships/image" Target="../media/image26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25.svg"/><Relationship Id="rId5" Type="http://schemas.openxmlformats.org/officeDocument/2006/relationships/image" Target="../media/image17.svg"/><Relationship Id="rId10" Type="http://schemas.openxmlformats.org/officeDocument/2006/relationships/image" Target="../media/image24.png"/><Relationship Id="rId4" Type="http://schemas.openxmlformats.org/officeDocument/2006/relationships/image" Target="../media/image16.png"/><Relationship Id="rId9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35EF47E-B86E-4B3A-8928-F5F2830BE8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/>
            </a:br>
            <a:r>
              <a:rPr lang="en-US"/>
              <a:t>W4</a:t>
            </a:r>
            <a:br>
              <a:rPr lang="en-US"/>
            </a:br>
            <a:r>
              <a:rPr lang="en-US"/>
              <a:t>#OpenSeriousHub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ABE99CBA-8491-42DB-A730-F3730B4580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Organize flash knowledge sharing and prepare for the future</a:t>
            </a:r>
          </a:p>
        </p:txBody>
      </p:sp>
    </p:spTree>
    <p:extLst>
      <p:ext uri="{BB962C8B-B14F-4D97-AF65-F5344CB8AC3E}">
        <p14:creationId xmlns:p14="http://schemas.microsoft.com/office/powerpoint/2010/main" val="975829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5E2B7F-E022-4490-9914-51D531BC9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#OpenSeriousHub : short Story</a:t>
            </a:r>
            <a:endParaRPr lang="en-US"/>
          </a:p>
        </p:txBody>
      </p:sp>
      <p:pic>
        <p:nvPicPr>
          <p:cNvPr id="4" name="Image 3" descr="Une image contenant texte, personne, intérieur&#10;&#10;Description générée automatiquement">
            <a:extLst>
              <a:ext uri="{FF2B5EF4-FFF2-40B4-BE49-F238E27FC236}">
                <a16:creationId xmlns:a16="http://schemas.microsoft.com/office/drawing/2014/main" id="{DD0B116F-A034-456C-871B-09729C05C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05" y="2785644"/>
            <a:ext cx="3899405" cy="2597978"/>
          </a:xfrm>
          <a:prstGeom prst="rect">
            <a:avLst/>
          </a:prstGeom>
        </p:spPr>
      </p:pic>
      <p:grpSp>
        <p:nvGrpSpPr>
          <p:cNvPr id="11" name="Groupe 10">
            <a:extLst>
              <a:ext uri="{FF2B5EF4-FFF2-40B4-BE49-F238E27FC236}">
                <a16:creationId xmlns:a16="http://schemas.microsoft.com/office/drawing/2014/main" id="{F7FF3AE2-A5A1-4C08-9792-AD1813C3B507}"/>
              </a:ext>
            </a:extLst>
          </p:cNvPr>
          <p:cNvGrpSpPr/>
          <p:nvPr/>
        </p:nvGrpSpPr>
        <p:grpSpPr>
          <a:xfrm>
            <a:off x="5453141" y="2364694"/>
            <a:ext cx="1442609" cy="3087363"/>
            <a:chOff x="5453141" y="2364695"/>
            <a:chExt cx="1166663" cy="2496804"/>
          </a:xfrm>
        </p:grpSpPr>
        <p:pic>
          <p:nvPicPr>
            <p:cNvPr id="5" name="Image 4" descr="Une image contenant personne, gens&#10;&#10;Description générée automatiquement">
              <a:extLst>
                <a:ext uri="{FF2B5EF4-FFF2-40B4-BE49-F238E27FC236}">
                  <a16:creationId xmlns:a16="http://schemas.microsoft.com/office/drawing/2014/main" id="{5D3D62AB-4FDD-4D23-812D-1FE96AE20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53141" y="2364695"/>
              <a:ext cx="1165257" cy="841898"/>
            </a:xfrm>
            <a:prstGeom prst="rect">
              <a:avLst/>
            </a:prstGeom>
          </p:spPr>
        </p:pic>
        <p:pic>
          <p:nvPicPr>
            <p:cNvPr id="6" name="Image 5" descr="Une image contenant texte, personne, table, femme&#10;&#10;Description générée automatiquement">
              <a:extLst>
                <a:ext uri="{FF2B5EF4-FFF2-40B4-BE49-F238E27FC236}">
                  <a16:creationId xmlns:a16="http://schemas.microsoft.com/office/drawing/2014/main" id="{11EB6DA8-7108-421D-B528-BD6D2D3AC1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53141" y="4088585"/>
              <a:ext cx="1166663" cy="772914"/>
            </a:xfrm>
            <a:prstGeom prst="rect">
              <a:avLst/>
            </a:prstGeom>
          </p:spPr>
        </p:pic>
        <p:pic>
          <p:nvPicPr>
            <p:cNvPr id="7" name="Image 6" descr="Une image contenant personne, intérieur, portable, gens&#10;&#10;Description générée automatiquement">
              <a:extLst>
                <a:ext uri="{FF2B5EF4-FFF2-40B4-BE49-F238E27FC236}">
                  <a16:creationId xmlns:a16="http://schemas.microsoft.com/office/drawing/2014/main" id="{EA5233A8-B053-4EE8-987A-CFD237A49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53141" y="3261132"/>
              <a:ext cx="1159371" cy="772914"/>
            </a:xfrm>
            <a:prstGeom prst="rect">
              <a:avLst/>
            </a:prstGeom>
          </p:spPr>
        </p:pic>
      </p:grpSp>
      <p:pic>
        <p:nvPicPr>
          <p:cNvPr id="9" name="Image 8" descr="Une image contenant texte, personne&#10;&#10;Description générée automatiquement">
            <a:extLst>
              <a:ext uri="{FF2B5EF4-FFF2-40B4-BE49-F238E27FC236}">
                <a16:creationId xmlns:a16="http://schemas.microsoft.com/office/drawing/2014/main" id="{B8DA7CE6-ADE3-4C21-94A6-3F0A437EB7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526" y="2785644"/>
            <a:ext cx="3652621" cy="266641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7752C5CC-9CE4-4AC1-B39E-26BF51C64D94}"/>
              </a:ext>
            </a:extLst>
          </p:cNvPr>
          <p:cNvSpPr txBox="1"/>
          <p:nvPr/>
        </p:nvSpPr>
        <p:spPr>
          <a:xfrm>
            <a:off x="529547" y="5600877"/>
            <a:ext cx="3070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Members write down what they want to learn and what knowledge they can share. They proceed to matchmake these info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A5FD550-C49C-4DD0-9713-5DAA9E55036D}"/>
              </a:ext>
            </a:extLst>
          </p:cNvPr>
          <p:cNvSpPr txBox="1"/>
          <p:nvPr/>
        </p:nvSpPr>
        <p:spPr>
          <a:xfrm>
            <a:off x="4560764" y="5600877"/>
            <a:ext cx="3070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Members split into small breakout rooms to share and discuss freely about selected topics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1AC1660-E4E5-413F-8613-95A4E2F151BF}"/>
              </a:ext>
            </a:extLst>
          </p:cNvPr>
          <p:cNvSpPr txBox="1"/>
          <p:nvPr/>
        </p:nvSpPr>
        <p:spPr>
          <a:xfrm>
            <a:off x="8213224" y="5600876"/>
            <a:ext cx="3070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Members come back together to share feedback and discuss what to do with remaining topics</a:t>
            </a:r>
          </a:p>
        </p:txBody>
      </p:sp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B36CBC4B-84BB-4932-981A-E2FD97B6F3A9}"/>
              </a:ext>
            </a:extLst>
          </p:cNvPr>
          <p:cNvSpPr/>
          <p:nvPr/>
        </p:nvSpPr>
        <p:spPr>
          <a:xfrm rot="19185918">
            <a:off x="4515646" y="2668561"/>
            <a:ext cx="589659" cy="6200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24CEC1E9-35ED-4AB9-872D-33DE6207139C}"/>
              </a:ext>
            </a:extLst>
          </p:cNvPr>
          <p:cNvSpPr/>
          <p:nvPr/>
        </p:nvSpPr>
        <p:spPr>
          <a:xfrm>
            <a:off x="4602615" y="3698159"/>
            <a:ext cx="589659" cy="6200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204277EC-370A-4218-8ED2-9E513045B9B3}"/>
              </a:ext>
            </a:extLst>
          </p:cNvPr>
          <p:cNvSpPr/>
          <p:nvPr/>
        </p:nvSpPr>
        <p:spPr>
          <a:xfrm rot="1711653">
            <a:off x="4515645" y="4573479"/>
            <a:ext cx="589659" cy="6200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2AC80842-5DAA-4AAF-AAEF-8A4E0FE6895B}"/>
              </a:ext>
            </a:extLst>
          </p:cNvPr>
          <p:cNvSpPr/>
          <p:nvPr/>
        </p:nvSpPr>
        <p:spPr>
          <a:xfrm rot="2917598">
            <a:off x="7117300" y="2697454"/>
            <a:ext cx="589659" cy="6200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69E3691D-1F2B-41E6-8260-4F566589F01F}"/>
              </a:ext>
            </a:extLst>
          </p:cNvPr>
          <p:cNvSpPr/>
          <p:nvPr/>
        </p:nvSpPr>
        <p:spPr>
          <a:xfrm>
            <a:off x="7041577" y="3613330"/>
            <a:ext cx="589659" cy="6200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5504CC64-26C4-4830-B78E-CE239269B3CF}"/>
              </a:ext>
            </a:extLst>
          </p:cNvPr>
          <p:cNvSpPr/>
          <p:nvPr/>
        </p:nvSpPr>
        <p:spPr>
          <a:xfrm rot="19185918">
            <a:off x="7121808" y="4564223"/>
            <a:ext cx="589659" cy="6200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44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DFB249-4BAC-45D8-BD66-8A9B48267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619232" cy="1179576"/>
          </a:xfrm>
        </p:spPr>
        <p:txBody>
          <a:bodyPr>
            <a:normAutofit fontScale="90000"/>
          </a:bodyPr>
          <a:lstStyle/>
          <a:p>
            <a:r>
              <a:rPr lang="en-US"/>
              <a:t>#OpenSeriousHub</a:t>
            </a:r>
            <a:br>
              <a:rPr lang="en-US"/>
            </a:br>
            <a:r>
              <a:rPr lang="en-US"/>
              <a:t>Example workshop result – Digital Version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9E291B2-BD49-4A26-A723-CF877394973E}"/>
              </a:ext>
            </a:extLst>
          </p:cNvPr>
          <p:cNvSpPr txBox="1"/>
          <p:nvPr/>
        </p:nvSpPr>
        <p:spPr>
          <a:xfrm>
            <a:off x="415164" y="1997003"/>
            <a:ext cx="1350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👂Learning Demand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9FF8DA6-C6C9-4139-9EA1-A00D8A5C26D9}"/>
              </a:ext>
            </a:extLst>
          </p:cNvPr>
          <p:cNvSpPr txBox="1"/>
          <p:nvPr/>
        </p:nvSpPr>
        <p:spPr>
          <a:xfrm>
            <a:off x="2304970" y="2026591"/>
            <a:ext cx="1691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🎤Knowledge sharing Offer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32DC290-F586-49C4-8160-6C133B001C9A}"/>
              </a:ext>
            </a:extLst>
          </p:cNvPr>
          <p:cNvSpPr txBox="1"/>
          <p:nvPr/>
        </p:nvSpPr>
        <p:spPr>
          <a:xfrm>
            <a:off x="4488179" y="2026591"/>
            <a:ext cx="2058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🗣️What has been shared between members today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79C7102-EFB6-4DEB-B10D-4F599BC26B90}"/>
              </a:ext>
            </a:extLst>
          </p:cNvPr>
          <p:cNvSpPr txBox="1"/>
          <p:nvPr/>
        </p:nvSpPr>
        <p:spPr>
          <a:xfrm>
            <a:off x="8950638" y="1997969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Additional Future Knowledge sharing events (could not happen today)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010FC5B5-188D-4830-BE66-5DF6A213268A}"/>
              </a:ext>
            </a:extLst>
          </p:cNvPr>
          <p:cNvSpPr txBox="1"/>
          <p:nvPr/>
        </p:nvSpPr>
        <p:spPr>
          <a:xfrm>
            <a:off x="8958600" y="4332458"/>
            <a:ext cx="3070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External content to look for  (strong demand, could not happen within Community capacities)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10980C1-0E86-412C-A64D-CDC636F33EB6}"/>
              </a:ext>
            </a:extLst>
          </p:cNvPr>
          <p:cNvSpPr txBox="1"/>
          <p:nvPr/>
        </p:nvSpPr>
        <p:spPr>
          <a:xfrm>
            <a:off x="6662285" y="2027826"/>
            <a:ext cx="2058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👍Feedback about today’s session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4856B5-9892-4F43-882D-4BD008E1957E}"/>
              </a:ext>
            </a:extLst>
          </p:cNvPr>
          <p:cNvSpPr/>
          <p:nvPr/>
        </p:nvSpPr>
        <p:spPr>
          <a:xfrm>
            <a:off x="406268" y="2456625"/>
            <a:ext cx="788262" cy="81675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A</a:t>
            </a:r>
          </a:p>
          <a:p>
            <a:pPr algn="ctr"/>
            <a:endParaRPr lang="fr-FR" sz="1050">
              <a:solidFill>
                <a:schemeClr val="tx1"/>
              </a:solidFill>
            </a:endParaRPr>
          </a:p>
          <a:p>
            <a:pPr algn="r"/>
            <a:r>
              <a:rPr lang="fr-FR" sz="1050">
                <a:solidFill>
                  <a:schemeClr val="tx1"/>
                </a:solidFill>
              </a:rPr>
              <a:t>Bob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Charlie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DF1E1B-49D5-4F13-9936-BDA24F9F6A29}"/>
              </a:ext>
            </a:extLst>
          </p:cNvPr>
          <p:cNvSpPr/>
          <p:nvPr/>
        </p:nvSpPr>
        <p:spPr>
          <a:xfrm>
            <a:off x="415164" y="3340889"/>
            <a:ext cx="788262" cy="81675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B</a:t>
            </a:r>
          </a:p>
          <a:p>
            <a:pPr algn="r"/>
            <a:endParaRPr lang="fr-FR" sz="1050">
              <a:solidFill>
                <a:schemeClr val="tx1"/>
              </a:solidFill>
            </a:endParaRPr>
          </a:p>
          <a:p>
            <a:pPr algn="r"/>
            <a:r>
              <a:rPr lang="fr-FR" sz="1050">
                <a:solidFill>
                  <a:schemeClr val="tx1"/>
                </a:solidFill>
              </a:rPr>
              <a:t>Bob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Alice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Erin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E37B648-248F-475D-935C-7FB3BA1BF039}"/>
              </a:ext>
            </a:extLst>
          </p:cNvPr>
          <p:cNvSpPr/>
          <p:nvPr/>
        </p:nvSpPr>
        <p:spPr>
          <a:xfrm>
            <a:off x="406267" y="4240369"/>
            <a:ext cx="788262" cy="81675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C</a:t>
            </a:r>
          </a:p>
          <a:p>
            <a:pPr algn="ctr"/>
            <a:endParaRPr lang="fr-FR" sz="1050">
              <a:solidFill>
                <a:schemeClr val="tx1"/>
              </a:solidFill>
            </a:endParaRPr>
          </a:p>
          <a:p>
            <a:pPr algn="r"/>
            <a:r>
              <a:rPr lang="fr-FR" sz="1050">
                <a:solidFill>
                  <a:schemeClr val="tx1"/>
                </a:solidFill>
              </a:rPr>
              <a:t>Alice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Dick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Freddy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7BD18B0-0EB5-428C-98B8-F0DBFED6B093}"/>
              </a:ext>
            </a:extLst>
          </p:cNvPr>
          <p:cNvSpPr/>
          <p:nvPr/>
        </p:nvSpPr>
        <p:spPr>
          <a:xfrm>
            <a:off x="406266" y="5139849"/>
            <a:ext cx="788262" cy="81675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D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Gina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Heinrich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Isiah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B3D514-EDC3-4DD6-A782-B46A695CBE58}"/>
              </a:ext>
            </a:extLst>
          </p:cNvPr>
          <p:cNvSpPr/>
          <p:nvPr/>
        </p:nvSpPr>
        <p:spPr>
          <a:xfrm>
            <a:off x="1242843" y="2875866"/>
            <a:ext cx="788262" cy="81675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E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Alice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Isiah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81A82D8-3245-476D-8369-31EA1F6DF405}"/>
              </a:ext>
            </a:extLst>
          </p:cNvPr>
          <p:cNvSpPr/>
          <p:nvPr/>
        </p:nvSpPr>
        <p:spPr>
          <a:xfrm>
            <a:off x="1242843" y="3749266"/>
            <a:ext cx="788262" cy="81675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F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John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Erin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5181757-2CBE-4A09-A103-19FEDE7C3548}"/>
              </a:ext>
            </a:extLst>
          </p:cNvPr>
          <p:cNvSpPr/>
          <p:nvPr/>
        </p:nvSpPr>
        <p:spPr>
          <a:xfrm>
            <a:off x="2429932" y="2481792"/>
            <a:ext cx="788262" cy="816754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A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Heinrich</a:t>
            </a:r>
          </a:p>
          <a:p>
            <a:pPr algn="ctr"/>
            <a:endParaRPr lang="fr-FR" sz="105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CF28F54-DBFC-4241-A2A9-148532A05A3E}"/>
              </a:ext>
            </a:extLst>
          </p:cNvPr>
          <p:cNvSpPr/>
          <p:nvPr/>
        </p:nvSpPr>
        <p:spPr>
          <a:xfrm>
            <a:off x="3298448" y="3850610"/>
            <a:ext cx="788262" cy="816754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L</a:t>
            </a:r>
          </a:p>
          <a:p>
            <a:pPr algn="r"/>
            <a:endParaRPr lang="fr-FR" sz="1050">
              <a:solidFill>
                <a:schemeClr val="tx1"/>
              </a:solidFill>
            </a:endParaRPr>
          </a:p>
          <a:p>
            <a:pPr algn="r"/>
            <a:r>
              <a:rPr lang="fr-FR" sz="1050">
                <a:solidFill>
                  <a:schemeClr val="tx1"/>
                </a:solidFill>
              </a:rPr>
              <a:t>Alice</a:t>
            </a:r>
          </a:p>
          <a:p>
            <a:pPr algn="ctr"/>
            <a:endParaRPr lang="fr-FR" sz="105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E5D587-89C2-4722-8BA1-17DCD201A4B7}"/>
              </a:ext>
            </a:extLst>
          </p:cNvPr>
          <p:cNvSpPr/>
          <p:nvPr/>
        </p:nvSpPr>
        <p:spPr>
          <a:xfrm>
            <a:off x="2429930" y="3384605"/>
            <a:ext cx="788262" cy="816754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C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Bob</a:t>
            </a:r>
          </a:p>
          <a:p>
            <a:pPr algn="ctr"/>
            <a:endParaRPr lang="fr-FR" sz="105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D240CE0-569C-4EEA-B7F8-05B37FE5C84C}"/>
              </a:ext>
            </a:extLst>
          </p:cNvPr>
          <p:cNvSpPr/>
          <p:nvPr/>
        </p:nvSpPr>
        <p:spPr>
          <a:xfrm>
            <a:off x="1252668" y="4623954"/>
            <a:ext cx="788262" cy="81675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G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Gina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Bob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Charlie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Erin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A4C5A11-0E4F-44A3-8E05-346AD92826CE}"/>
              </a:ext>
            </a:extLst>
          </p:cNvPr>
          <p:cNvSpPr/>
          <p:nvPr/>
        </p:nvSpPr>
        <p:spPr>
          <a:xfrm>
            <a:off x="1252668" y="5497354"/>
            <a:ext cx="788262" cy="81675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H</a:t>
            </a:r>
          </a:p>
          <a:p>
            <a:pPr algn="ctr"/>
            <a:endParaRPr lang="fr-FR" sz="1050">
              <a:solidFill>
                <a:schemeClr val="tx1"/>
              </a:solidFill>
            </a:endParaRPr>
          </a:p>
          <a:p>
            <a:pPr algn="r"/>
            <a:r>
              <a:rPr lang="fr-FR" sz="1050">
                <a:solidFill>
                  <a:schemeClr val="tx1"/>
                </a:solidFill>
              </a:rPr>
              <a:t>Freddy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FD288C7-B6B8-4703-8787-C16184549EE3}"/>
              </a:ext>
            </a:extLst>
          </p:cNvPr>
          <p:cNvSpPr/>
          <p:nvPr/>
        </p:nvSpPr>
        <p:spPr>
          <a:xfrm>
            <a:off x="2429930" y="4254612"/>
            <a:ext cx="788262" cy="816754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E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Dick</a:t>
            </a:r>
          </a:p>
          <a:p>
            <a:pPr algn="ctr"/>
            <a:endParaRPr lang="fr-FR" sz="105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4C6DC5C-585E-4A50-AFE1-CF6218E3E835}"/>
              </a:ext>
            </a:extLst>
          </p:cNvPr>
          <p:cNvSpPr/>
          <p:nvPr/>
        </p:nvSpPr>
        <p:spPr>
          <a:xfrm>
            <a:off x="3298449" y="2993581"/>
            <a:ext cx="788262" cy="816754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K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Bob</a:t>
            </a:r>
          </a:p>
          <a:p>
            <a:pPr algn="ctr"/>
            <a:endParaRPr lang="fr-FR" sz="105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088757F-9712-44F6-AE1D-8833F4731E27}"/>
              </a:ext>
            </a:extLst>
          </p:cNvPr>
          <p:cNvSpPr/>
          <p:nvPr/>
        </p:nvSpPr>
        <p:spPr>
          <a:xfrm>
            <a:off x="4720201" y="2899311"/>
            <a:ext cx="788262" cy="81675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A</a:t>
            </a:r>
          </a:p>
          <a:p>
            <a:pPr algn="ctr"/>
            <a:endParaRPr lang="fr-FR" sz="1050">
              <a:solidFill>
                <a:schemeClr val="tx1"/>
              </a:solidFill>
            </a:endParaRPr>
          </a:p>
          <a:p>
            <a:pPr algn="r"/>
            <a:r>
              <a:rPr lang="fr-FR" sz="1050">
                <a:solidFill>
                  <a:schemeClr val="tx1"/>
                </a:solidFill>
              </a:rPr>
              <a:t>Bob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Charlie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DD44EE1-247C-4DBA-B9F4-834C4C4C451C}"/>
              </a:ext>
            </a:extLst>
          </p:cNvPr>
          <p:cNvSpPr/>
          <p:nvPr/>
        </p:nvSpPr>
        <p:spPr>
          <a:xfrm>
            <a:off x="5588718" y="2890169"/>
            <a:ext cx="788262" cy="816754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A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Heinrich</a:t>
            </a:r>
          </a:p>
          <a:p>
            <a:pPr algn="ctr"/>
            <a:endParaRPr lang="fr-FR" sz="105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A1AE853-7C49-4AD3-AEA4-B4DE31C40D84}"/>
              </a:ext>
            </a:extLst>
          </p:cNvPr>
          <p:cNvSpPr/>
          <p:nvPr/>
        </p:nvSpPr>
        <p:spPr>
          <a:xfrm>
            <a:off x="10012068" y="2778200"/>
            <a:ext cx="788262" cy="816754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C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Bob</a:t>
            </a:r>
          </a:p>
          <a:p>
            <a:pPr algn="ctr"/>
            <a:endParaRPr lang="fr-FR" sz="105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1C054D1-74BC-4523-AA3F-2EF4E8DA1535}"/>
              </a:ext>
            </a:extLst>
          </p:cNvPr>
          <p:cNvSpPr/>
          <p:nvPr/>
        </p:nvSpPr>
        <p:spPr>
          <a:xfrm>
            <a:off x="4706138" y="4104623"/>
            <a:ext cx="788262" cy="81675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E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Alice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Isiah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E7EE35A-7D5E-4CF4-AE52-D93A56106A26}"/>
              </a:ext>
            </a:extLst>
          </p:cNvPr>
          <p:cNvSpPr/>
          <p:nvPr/>
        </p:nvSpPr>
        <p:spPr>
          <a:xfrm>
            <a:off x="5588718" y="4098481"/>
            <a:ext cx="788262" cy="816754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E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Dick</a:t>
            </a:r>
          </a:p>
          <a:p>
            <a:pPr algn="ctr"/>
            <a:endParaRPr lang="fr-FR" sz="105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49A5CA1-CF99-48B2-B013-1BCBEDCC05AB}"/>
              </a:ext>
            </a:extLst>
          </p:cNvPr>
          <p:cNvSpPr/>
          <p:nvPr/>
        </p:nvSpPr>
        <p:spPr>
          <a:xfrm>
            <a:off x="4706138" y="5337176"/>
            <a:ext cx="788262" cy="81675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D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Gina</a:t>
            </a:r>
          </a:p>
          <a:p>
            <a:pPr algn="r"/>
            <a:r>
              <a:rPr lang="fr-FR" sz="1050" strike="sngStrike">
                <a:solidFill>
                  <a:schemeClr val="tx1"/>
                </a:solidFill>
              </a:rPr>
              <a:t>Heinrich</a:t>
            </a:r>
          </a:p>
          <a:p>
            <a:pPr algn="r"/>
            <a:r>
              <a:rPr lang="fr-FR" sz="1050" strike="sngStrike">
                <a:solidFill>
                  <a:schemeClr val="tx1"/>
                </a:solidFill>
              </a:rPr>
              <a:t>Isiah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338236B-6CC6-401C-8CDD-71DF7C653E35}"/>
              </a:ext>
            </a:extLst>
          </p:cNvPr>
          <p:cNvSpPr/>
          <p:nvPr/>
        </p:nvSpPr>
        <p:spPr>
          <a:xfrm>
            <a:off x="2437607" y="5154091"/>
            <a:ext cx="788262" cy="816754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D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Erin</a:t>
            </a:r>
          </a:p>
          <a:p>
            <a:pPr algn="ctr"/>
            <a:endParaRPr lang="fr-FR" sz="1050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3480C5F-D80C-4AEF-83C6-F61888CAF77F}"/>
              </a:ext>
            </a:extLst>
          </p:cNvPr>
          <p:cNvSpPr/>
          <p:nvPr/>
        </p:nvSpPr>
        <p:spPr>
          <a:xfrm>
            <a:off x="5565861" y="5351540"/>
            <a:ext cx="788262" cy="816754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D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Erin</a:t>
            </a:r>
          </a:p>
          <a:p>
            <a:pPr algn="ctr"/>
            <a:endParaRPr lang="fr-FR" sz="105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A2265EC-1118-4667-992F-05B7DFB54382}"/>
              </a:ext>
            </a:extLst>
          </p:cNvPr>
          <p:cNvSpPr/>
          <p:nvPr/>
        </p:nvSpPr>
        <p:spPr>
          <a:xfrm>
            <a:off x="10899364" y="2778200"/>
            <a:ext cx="788262" cy="81675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C</a:t>
            </a:r>
          </a:p>
          <a:p>
            <a:pPr algn="ctr"/>
            <a:endParaRPr lang="fr-FR" sz="1050">
              <a:solidFill>
                <a:schemeClr val="tx1"/>
              </a:solidFill>
            </a:endParaRPr>
          </a:p>
          <a:p>
            <a:pPr algn="r"/>
            <a:r>
              <a:rPr lang="fr-FR" sz="1050">
                <a:solidFill>
                  <a:schemeClr val="tx1"/>
                </a:solidFill>
              </a:rPr>
              <a:t>Alice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Dick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Freddy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4DA7797-1E94-4D2F-B65D-D8912BC88681}"/>
              </a:ext>
            </a:extLst>
          </p:cNvPr>
          <p:cNvSpPr/>
          <p:nvPr/>
        </p:nvSpPr>
        <p:spPr>
          <a:xfrm>
            <a:off x="9616460" y="5564434"/>
            <a:ext cx="788262" cy="81675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fr-FR" sz="1050" b="1">
                <a:solidFill>
                  <a:schemeClr val="tx1"/>
                </a:solidFill>
              </a:rPr>
              <a:t>Topic G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Gina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Bob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Charlie</a:t>
            </a:r>
          </a:p>
          <a:p>
            <a:pPr algn="r"/>
            <a:r>
              <a:rPr lang="fr-FR" sz="1050">
                <a:solidFill>
                  <a:schemeClr val="tx1"/>
                </a:solidFill>
              </a:rPr>
              <a:t>Erin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8C47E28-F9AF-4EBA-A528-60D2E1E4C7BB}"/>
              </a:ext>
            </a:extLst>
          </p:cNvPr>
          <p:cNvSpPr/>
          <p:nvPr/>
        </p:nvSpPr>
        <p:spPr>
          <a:xfrm>
            <a:off x="7040293" y="2780296"/>
            <a:ext cx="1012851" cy="1049461"/>
          </a:xfrm>
          <a:prstGeom prst="rect">
            <a:avLst/>
          </a:prstGeom>
          <a:solidFill>
            <a:srgbClr val="FE5C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50" i="1">
                <a:solidFill>
                  <a:schemeClr val="tx1"/>
                </a:solidFill>
              </a:rPr>
              <a:t>« Very happy to meet Heinrich »</a:t>
            </a:r>
          </a:p>
          <a:p>
            <a:pPr algn="r"/>
            <a:r>
              <a:rPr lang="en-US" sz="1050">
                <a:solidFill>
                  <a:schemeClr val="tx1"/>
                </a:solidFill>
              </a:rPr>
              <a:t>Bob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34BBAA6-5592-4179-AE64-404CD54D0CA2}"/>
              </a:ext>
            </a:extLst>
          </p:cNvPr>
          <p:cNvSpPr/>
          <p:nvPr/>
        </p:nvSpPr>
        <p:spPr>
          <a:xfrm>
            <a:off x="8105292" y="3164216"/>
            <a:ext cx="1012851" cy="1049461"/>
          </a:xfrm>
          <a:prstGeom prst="rect">
            <a:avLst/>
          </a:prstGeom>
          <a:solidFill>
            <a:srgbClr val="FE5C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050" i="1">
                <a:solidFill>
                  <a:schemeClr val="tx1"/>
                </a:solidFill>
              </a:rPr>
              <a:t>« I did not know other people were interested in Topic A here»</a:t>
            </a:r>
          </a:p>
          <a:p>
            <a:pPr algn="r"/>
            <a:r>
              <a:rPr lang="en-US" sz="1050">
                <a:solidFill>
                  <a:schemeClr val="tx1"/>
                </a:solidFill>
              </a:rPr>
              <a:t>Bob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3D99A5B-93B8-4FE4-AD23-5D7487F3835A}"/>
              </a:ext>
            </a:extLst>
          </p:cNvPr>
          <p:cNvSpPr/>
          <p:nvPr/>
        </p:nvSpPr>
        <p:spPr>
          <a:xfrm>
            <a:off x="7040292" y="4157643"/>
            <a:ext cx="1012851" cy="1049461"/>
          </a:xfrm>
          <a:prstGeom prst="rect">
            <a:avLst/>
          </a:prstGeom>
          <a:solidFill>
            <a:srgbClr val="FE5C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050" i="1">
                <a:solidFill>
                  <a:schemeClr val="tx1"/>
                </a:solidFill>
              </a:rPr>
              <a:t>«I would not have started topic E by myself, now I do »</a:t>
            </a:r>
          </a:p>
          <a:p>
            <a:pPr algn="r"/>
            <a:r>
              <a:rPr lang="en-US" sz="1050">
                <a:solidFill>
                  <a:schemeClr val="tx1"/>
                </a:solidFill>
              </a:rPr>
              <a:t>Alice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CD732C7-2151-4123-9AFE-E93761AD855C}"/>
              </a:ext>
            </a:extLst>
          </p:cNvPr>
          <p:cNvSpPr/>
          <p:nvPr/>
        </p:nvSpPr>
        <p:spPr>
          <a:xfrm>
            <a:off x="7040293" y="5277247"/>
            <a:ext cx="1012851" cy="1049461"/>
          </a:xfrm>
          <a:prstGeom prst="rect">
            <a:avLst/>
          </a:prstGeom>
          <a:solidFill>
            <a:srgbClr val="FE5C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sz="1050" i="1">
                <a:solidFill>
                  <a:schemeClr val="tx1"/>
                </a:solidFill>
              </a:rPr>
              <a:t>«Hearing about direct experience is way nicer than content»</a:t>
            </a:r>
          </a:p>
          <a:p>
            <a:pPr algn="r"/>
            <a:r>
              <a:rPr lang="en-US" sz="1050">
                <a:solidFill>
                  <a:schemeClr val="tx1"/>
                </a:solidFill>
              </a:rPr>
              <a:t>Gina</a:t>
            </a:r>
          </a:p>
        </p:txBody>
      </p:sp>
    </p:spTree>
    <p:extLst>
      <p:ext uri="{BB962C8B-B14F-4D97-AF65-F5344CB8AC3E}">
        <p14:creationId xmlns:p14="http://schemas.microsoft.com/office/powerpoint/2010/main" val="1145665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DFB249-4BAC-45D8-BD66-8A9B48267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619232" cy="1179576"/>
          </a:xfrm>
        </p:spPr>
        <p:txBody>
          <a:bodyPr>
            <a:normAutofit fontScale="90000"/>
          </a:bodyPr>
          <a:lstStyle/>
          <a:p>
            <a:r>
              <a:rPr lang="en-US"/>
              <a:t>#OpenSeriousHub</a:t>
            </a:r>
            <a:br>
              <a:rPr lang="en-US"/>
            </a:br>
            <a:r>
              <a:rPr lang="en-US"/>
              <a:t>Workshop step by step</a:t>
            </a:r>
          </a:p>
        </p:txBody>
      </p:sp>
      <p:graphicFrame>
        <p:nvGraphicFramePr>
          <p:cNvPr id="3" name="Tableau 4">
            <a:extLst>
              <a:ext uri="{FF2B5EF4-FFF2-40B4-BE49-F238E27FC236}">
                <a16:creationId xmlns:a16="http://schemas.microsoft.com/office/drawing/2014/main" id="{8554FDFA-5C7B-4FE0-BB18-C051BFBFE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898892"/>
              </p:ext>
            </p:extLst>
          </p:nvPr>
        </p:nvGraphicFramePr>
        <p:xfrm>
          <a:off x="145280" y="1813144"/>
          <a:ext cx="10630967" cy="4815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15455">
                  <a:extLst>
                    <a:ext uri="{9D8B030D-6E8A-4147-A177-3AD203B41FA5}">
                      <a16:colId xmlns:a16="http://schemas.microsoft.com/office/drawing/2014/main" val="3637095222"/>
                    </a:ext>
                  </a:extLst>
                </a:gridCol>
                <a:gridCol w="1725236">
                  <a:extLst>
                    <a:ext uri="{9D8B030D-6E8A-4147-A177-3AD203B41FA5}">
                      <a16:colId xmlns:a16="http://schemas.microsoft.com/office/drawing/2014/main" val="1997714430"/>
                    </a:ext>
                  </a:extLst>
                </a:gridCol>
                <a:gridCol w="1589718">
                  <a:extLst>
                    <a:ext uri="{9D8B030D-6E8A-4147-A177-3AD203B41FA5}">
                      <a16:colId xmlns:a16="http://schemas.microsoft.com/office/drawing/2014/main" val="3341757670"/>
                    </a:ext>
                  </a:extLst>
                </a:gridCol>
                <a:gridCol w="1770149">
                  <a:extLst>
                    <a:ext uri="{9D8B030D-6E8A-4147-A177-3AD203B41FA5}">
                      <a16:colId xmlns:a16="http://schemas.microsoft.com/office/drawing/2014/main" val="3035350526"/>
                    </a:ext>
                  </a:extLst>
                </a:gridCol>
                <a:gridCol w="1476803">
                  <a:extLst>
                    <a:ext uri="{9D8B030D-6E8A-4147-A177-3AD203B41FA5}">
                      <a16:colId xmlns:a16="http://schemas.microsoft.com/office/drawing/2014/main" val="1419982903"/>
                    </a:ext>
                  </a:extLst>
                </a:gridCol>
                <a:gridCol w="1476803">
                  <a:extLst>
                    <a:ext uri="{9D8B030D-6E8A-4147-A177-3AD203B41FA5}">
                      <a16:colId xmlns:a16="http://schemas.microsoft.com/office/drawing/2014/main" val="2747996475"/>
                    </a:ext>
                  </a:extLst>
                </a:gridCol>
                <a:gridCol w="1476803">
                  <a:extLst>
                    <a:ext uri="{9D8B030D-6E8A-4147-A177-3AD203B41FA5}">
                      <a16:colId xmlns:a16="http://schemas.microsoft.com/office/drawing/2014/main" val="2174399618"/>
                    </a:ext>
                  </a:extLst>
                </a:gridCol>
              </a:tblGrid>
              <a:tr h="594340"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1</a:t>
                      </a:r>
                    </a:p>
                    <a:p>
                      <a:pPr algn="ctr"/>
                      <a:r>
                        <a:rPr lang="en-US" noProof="0"/>
                        <a:t>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2</a:t>
                      </a:r>
                    </a:p>
                    <a:p>
                      <a:pPr algn="ctr"/>
                      <a:r>
                        <a:rPr lang="en-US" noProof="0"/>
                        <a:t>Example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3</a:t>
                      </a:r>
                    </a:p>
                    <a:p>
                      <a:pPr algn="ctr"/>
                      <a:r>
                        <a:rPr lang="en-US" noProof="0"/>
                        <a:t>Matchmake Learning Offer &amp; Demand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4</a:t>
                      </a:r>
                    </a:p>
                    <a:p>
                      <a:pPr algn="ctr"/>
                      <a:r>
                        <a:rPr lang="en-US" noProof="0"/>
                        <a:t>Knowledge sharing breakout 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5</a:t>
                      </a:r>
                    </a:p>
                    <a:p>
                      <a:pPr algn="ctr"/>
                      <a:r>
                        <a:rPr lang="en-US" noProof="0"/>
                        <a:t>Feedback about sharing 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6</a:t>
                      </a:r>
                    </a:p>
                    <a:p>
                      <a:pPr algn="ctr"/>
                      <a:r>
                        <a:rPr lang="en-US" noProof="0"/>
                        <a:t>Share &amp; Brainstorm about the future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663392"/>
                  </a:ext>
                </a:extLst>
              </a:tr>
              <a:tr h="498335">
                <a:tc>
                  <a:txBody>
                    <a:bodyPr/>
                    <a:lstStyle/>
                    <a:p>
                      <a:r>
                        <a:rPr lang="en-US" sz="1400" noProof="0"/>
                        <a:t>Suggested timebox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/>
                        <a:t>10 minutes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20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10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051482"/>
                  </a:ext>
                </a:extLst>
              </a:tr>
              <a:tr h="2016509">
                <a:tc>
                  <a:txBody>
                    <a:bodyPr/>
                    <a:lstStyle/>
                    <a:p>
                      <a:r>
                        <a:rPr lang="en-US" sz="1400" noProof="0"/>
                        <a:t>Action</a:t>
                      </a:r>
                    </a:p>
                    <a:p>
                      <a:endParaRPr lang="en-US" sz="1400" noProof="0"/>
                    </a:p>
                    <a:p>
                      <a:endParaRPr lang="en-US" sz="1400" noProof="0"/>
                    </a:p>
                    <a:p>
                      <a:r>
                        <a:rPr lang="en-US" sz="1400" noProof="0"/>
                        <a:t>To be performed mostly using a (digital Wall) and breakout 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noProof="0"/>
                        <a:t>Explain purpose of the workshop : 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noProof="0"/>
                        <a:t>Encourage direct knowledge sharing between members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noProof="0"/>
                        <a:t>Collect key information for next activities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noProof="0"/>
                        <a:t>Create or foster link between members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900" noProof="0"/>
                        <a:t>Share about workshop timeline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US" sz="900" noProof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900" noProof="0"/>
                        <a:t>Share about mindset :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noProof="0"/>
                        <a:t>We are all here to learn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noProof="0"/>
                        <a:t>Feel free to share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noProof="0"/>
                        <a:t>Show example results to inspire: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 noProof="0"/>
                        <a:t>Example of topics that could be shared in the Community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 noProof="0"/>
                        <a:t>Example of topics that members would want to learn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 noProof="0"/>
                        <a:t>Example of Matchmaking (get one ticket of offer and one of demand together)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 noProof="0"/>
                        <a:t>Example of sharing session : discussion, presentation, …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sz="900" noProof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noProof="0"/>
                        <a:t>It is up to you to limit topics scope to Community related topics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noProof="0" dirty="0"/>
                        <a:t>Listing (2 minutes) :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noProof="0" dirty="0"/>
                        <a:t>Members write (on their side) in one color what they want to learn, and what they can teach others in another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noProof="0" dirty="0"/>
                        <a:t>Members place their tickets </a:t>
                      </a:r>
                      <a:r>
                        <a:rPr lang="en-US" sz="900" noProof="0"/>
                        <a:t>on the board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US" sz="900" noProof="0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900" noProof="0" dirty="0"/>
                        <a:t>Matchmaking (5 minutes)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noProof="0" dirty="0"/>
                        <a:t>All together, members place demand tickets in front of matching offer tickets. 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US" sz="900" noProof="0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900" noProof="0" dirty="0"/>
                        <a:t>If there are no matches: skip to part 6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900" noProof="0" dirty="0"/>
                        <a:t>If there are matches : decide on what will be the sharing sessions of the day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noProof="0" dirty="0"/>
                        <a:t>Attendees that are identified in matchmaking are split into small groups of learners and sharers. Format of sharing is free to choose.</a:t>
                      </a:r>
                    </a:p>
                    <a:p>
                      <a:endParaRPr lang="en-US" sz="900" noProof="0" dirty="0"/>
                    </a:p>
                    <a:p>
                      <a:r>
                        <a:rPr lang="en-US" sz="900" noProof="0" dirty="0"/>
                        <a:t>Anyone left (not going in Breakout rooms) can start working on part 6.</a:t>
                      </a:r>
                    </a:p>
                    <a:p>
                      <a:endParaRPr lang="en-US" sz="900" noProof="0" dirty="0"/>
                    </a:p>
                    <a:p>
                      <a:r>
                        <a:rPr lang="en-US" sz="900" noProof="0" dirty="0"/>
                        <a:t>In breakout rooms, people can share about dedicated topic and  plan their own meetings for later.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noProof="0"/>
                        <a:t>People who were in Breakout rooms can give feedback (written) about their experience of sharing and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noProof="0" dirty="0"/>
                        <a:t>You can discuss all together or in small groups about :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noProof="0" dirty="0"/>
                        <a:t>What to do with unmatched demand ?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endParaRPr lang="en-US" sz="900" noProof="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noProof="0" dirty="0"/>
                        <a:t>What to do with matchmade sessions that could not happen today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endParaRPr lang="en-US" sz="900" noProof="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noProof="0" dirty="0"/>
                        <a:t>What to do with matchmade offer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endParaRPr lang="en-US" sz="900" noProof="0" dirty="0"/>
                    </a:p>
                    <a:p>
                      <a:pPr marL="171450" indent="-171450">
                        <a:buFontTx/>
                        <a:buChar char="-"/>
                      </a:pPr>
                      <a:endParaRPr lang="en-US" sz="900" noProof="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noProof="0" dirty="0"/>
                        <a:t>See “Using Workshop results” for ideas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626046"/>
                  </a:ext>
                </a:extLst>
              </a:tr>
            </a:tbl>
          </a:graphicData>
        </a:graphic>
      </p:graphicFrame>
      <p:sp>
        <p:nvSpPr>
          <p:cNvPr id="4" name="Triangle isocèle 3">
            <a:extLst>
              <a:ext uri="{FF2B5EF4-FFF2-40B4-BE49-F238E27FC236}">
                <a16:creationId xmlns:a16="http://schemas.microsoft.com/office/drawing/2014/main" id="{B25EC0D0-B422-4384-9A06-277164CAB252}"/>
              </a:ext>
            </a:extLst>
          </p:cNvPr>
          <p:cNvSpPr/>
          <p:nvPr/>
        </p:nvSpPr>
        <p:spPr>
          <a:xfrm rot="5400000">
            <a:off x="8992134" y="3597258"/>
            <a:ext cx="4838698" cy="127047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8953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DFB249-4BAC-45D8-BD66-8A9B48267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#OpenSeriousHub</a:t>
            </a:r>
            <a:br>
              <a:rPr lang="en-US"/>
            </a:br>
            <a:r>
              <a:rPr lang="en-US"/>
              <a:t>Using workshop results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89E729D-F078-4AD8-AB8B-CB0A8AA633AD}"/>
              </a:ext>
            </a:extLst>
          </p:cNvPr>
          <p:cNvSpPr txBox="1"/>
          <p:nvPr/>
        </p:nvSpPr>
        <p:spPr>
          <a:xfrm>
            <a:off x="440498" y="1842262"/>
            <a:ext cx="1350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👂Learning Demand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A64F503-FC33-4A66-8024-98C68EDA2251}"/>
              </a:ext>
            </a:extLst>
          </p:cNvPr>
          <p:cNvSpPr txBox="1"/>
          <p:nvPr/>
        </p:nvSpPr>
        <p:spPr>
          <a:xfrm>
            <a:off x="2330304" y="1871850"/>
            <a:ext cx="1691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🎤Knowledge sharing Offer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56570C5-9A88-4F6D-A7E1-36C9A12E335F}"/>
              </a:ext>
            </a:extLst>
          </p:cNvPr>
          <p:cNvSpPr txBox="1"/>
          <p:nvPr/>
        </p:nvSpPr>
        <p:spPr>
          <a:xfrm>
            <a:off x="4513513" y="1871850"/>
            <a:ext cx="2058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🗣️What has been shared between members today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1278CA8-E7EC-4F17-8B70-B7B98287F46E}"/>
              </a:ext>
            </a:extLst>
          </p:cNvPr>
          <p:cNvSpPr txBox="1"/>
          <p:nvPr/>
        </p:nvSpPr>
        <p:spPr>
          <a:xfrm>
            <a:off x="6687619" y="1873085"/>
            <a:ext cx="2058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👍Feedback about today’s session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053EB1-B8B6-4173-A9C9-9EC46DB1E37E}"/>
              </a:ext>
            </a:extLst>
          </p:cNvPr>
          <p:cNvSpPr/>
          <p:nvPr/>
        </p:nvSpPr>
        <p:spPr>
          <a:xfrm>
            <a:off x="406268" y="2456625"/>
            <a:ext cx="788262" cy="81675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Topic A</a:t>
            </a:r>
          </a:p>
          <a:p>
            <a:pPr algn="ctr"/>
            <a:endParaRPr lang="en-US" sz="1000">
              <a:solidFill>
                <a:schemeClr val="tx1"/>
              </a:solidFill>
            </a:endParaRPr>
          </a:p>
          <a:p>
            <a:pPr algn="r"/>
            <a:r>
              <a:rPr lang="en-US" sz="1000">
                <a:solidFill>
                  <a:schemeClr val="tx1"/>
                </a:solidFill>
              </a:rPr>
              <a:t>Bob</a:t>
            </a:r>
          </a:p>
          <a:p>
            <a:pPr algn="r"/>
            <a:r>
              <a:rPr lang="en-US" sz="1000">
                <a:solidFill>
                  <a:schemeClr val="tx1"/>
                </a:solidFill>
              </a:rPr>
              <a:t>Charlie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2EB0B2-C73F-4EB1-AB86-6C32FFFD388B}"/>
              </a:ext>
            </a:extLst>
          </p:cNvPr>
          <p:cNvSpPr/>
          <p:nvPr/>
        </p:nvSpPr>
        <p:spPr>
          <a:xfrm>
            <a:off x="415164" y="3340889"/>
            <a:ext cx="788262" cy="81675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Topic B</a:t>
            </a:r>
          </a:p>
          <a:p>
            <a:pPr algn="r"/>
            <a:endParaRPr lang="en-US" sz="1000">
              <a:solidFill>
                <a:schemeClr val="tx1"/>
              </a:solidFill>
            </a:endParaRPr>
          </a:p>
          <a:p>
            <a:pPr algn="r"/>
            <a:r>
              <a:rPr lang="en-US" sz="1000">
                <a:solidFill>
                  <a:schemeClr val="tx1"/>
                </a:solidFill>
              </a:rPr>
              <a:t>Bob</a:t>
            </a:r>
          </a:p>
          <a:p>
            <a:pPr algn="r"/>
            <a:r>
              <a:rPr lang="en-US" sz="1000">
                <a:solidFill>
                  <a:schemeClr val="tx1"/>
                </a:solidFill>
              </a:rPr>
              <a:t>Alice</a:t>
            </a:r>
          </a:p>
          <a:p>
            <a:pPr algn="r"/>
            <a:r>
              <a:rPr lang="en-US" sz="1000">
                <a:solidFill>
                  <a:schemeClr val="tx1"/>
                </a:solidFill>
              </a:rPr>
              <a:t>Erin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C81AB5-E2C6-46C7-A974-38707F8AF247}"/>
              </a:ext>
            </a:extLst>
          </p:cNvPr>
          <p:cNvSpPr/>
          <p:nvPr/>
        </p:nvSpPr>
        <p:spPr>
          <a:xfrm>
            <a:off x="1242843" y="2875866"/>
            <a:ext cx="788262" cy="81675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Topic E</a:t>
            </a:r>
          </a:p>
          <a:p>
            <a:pPr algn="r"/>
            <a:r>
              <a:rPr lang="en-US" sz="1000">
                <a:solidFill>
                  <a:schemeClr val="tx1"/>
                </a:solidFill>
              </a:rPr>
              <a:t>Alice</a:t>
            </a:r>
          </a:p>
          <a:p>
            <a:pPr algn="r"/>
            <a:r>
              <a:rPr lang="en-US" sz="1000">
                <a:solidFill>
                  <a:schemeClr val="tx1"/>
                </a:solidFill>
              </a:rPr>
              <a:t>Isiah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E0517C-5856-44CE-8790-00040E2771AB}"/>
              </a:ext>
            </a:extLst>
          </p:cNvPr>
          <p:cNvSpPr/>
          <p:nvPr/>
        </p:nvSpPr>
        <p:spPr>
          <a:xfrm>
            <a:off x="2429932" y="2481792"/>
            <a:ext cx="788262" cy="816754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Topic A</a:t>
            </a:r>
          </a:p>
          <a:p>
            <a:pPr algn="r"/>
            <a:r>
              <a:rPr lang="en-US" sz="1000">
                <a:solidFill>
                  <a:schemeClr val="tx1"/>
                </a:solidFill>
              </a:rPr>
              <a:t>Heinrich</a:t>
            </a:r>
          </a:p>
          <a:p>
            <a:pPr algn="ctr"/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518A7B-3668-4530-8EC2-6AA6FC50FF57}"/>
              </a:ext>
            </a:extLst>
          </p:cNvPr>
          <p:cNvSpPr/>
          <p:nvPr/>
        </p:nvSpPr>
        <p:spPr>
          <a:xfrm>
            <a:off x="2429930" y="3384605"/>
            <a:ext cx="788262" cy="816754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Topic C</a:t>
            </a:r>
          </a:p>
          <a:p>
            <a:pPr algn="r"/>
            <a:r>
              <a:rPr lang="en-US" sz="1000">
                <a:solidFill>
                  <a:schemeClr val="tx1"/>
                </a:solidFill>
              </a:rPr>
              <a:t>Bob</a:t>
            </a:r>
          </a:p>
          <a:p>
            <a:pPr algn="ctr"/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F321B5-DB7B-42ED-9103-835514D4D21F}"/>
              </a:ext>
            </a:extLst>
          </p:cNvPr>
          <p:cNvSpPr/>
          <p:nvPr/>
        </p:nvSpPr>
        <p:spPr>
          <a:xfrm>
            <a:off x="3298449" y="2993581"/>
            <a:ext cx="788262" cy="816754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Topic K</a:t>
            </a:r>
          </a:p>
          <a:p>
            <a:pPr algn="r"/>
            <a:r>
              <a:rPr lang="en-US" sz="1000">
                <a:solidFill>
                  <a:schemeClr val="tx1"/>
                </a:solidFill>
              </a:rPr>
              <a:t>Bob</a:t>
            </a:r>
          </a:p>
          <a:p>
            <a:pPr algn="ctr"/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DCB03E-22DA-4FD6-A135-90001178D8BB}"/>
              </a:ext>
            </a:extLst>
          </p:cNvPr>
          <p:cNvSpPr/>
          <p:nvPr/>
        </p:nvSpPr>
        <p:spPr>
          <a:xfrm>
            <a:off x="4708848" y="2489559"/>
            <a:ext cx="788262" cy="81675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Topic A</a:t>
            </a:r>
          </a:p>
          <a:p>
            <a:pPr algn="ctr"/>
            <a:endParaRPr lang="en-US" sz="1000">
              <a:solidFill>
                <a:schemeClr val="tx1"/>
              </a:solidFill>
            </a:endParaRPr>
          </a:p>
          <a:p>
            <a:pPr algn="r"/>
            <a:r>
              <a:rPr lang="en-US" sz="1000">
                <a:solidFill>
                  <a:schemeClr val="tx1"/>
                </a:solidFill>
              </a:rPr>
              <a:t>Bob</a:t>
            </a:r>
          </a:p>
          <a:p>
            <a:pPr algn="r"/>
            <a:r>
              <a:rPr lang="en-US" sz="1000">
                <a:solidFill>
                  <a:schemeClr val="tx1"/>
                </a:solidFill>
              </a:rPr>
              <a:t>Charlie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E4C32D-2C5D-498E-B325-4816C13C566B}"/>
              </a:ext>
            </a:extLst>
          </p:cNvPr>
          <p:cNvSpPr/>
          <p:nvPr/>
        </p:nvSpPr>
        <p:spPr>
          <a:xfrm>
            <a:off x="5577365" y="2480417"/>
            <a:ext cx="788262" cy="816754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Topic A</a:t>
            </a:r>
          </a:p>
          <a:p>
            <a:pPr algn="r"/>
            <a:r>
              <a:rPr lang="en-US" sz="1000">
                <a:solidFill>
                  <a:schemeClr val="tx1"/>
                </a:solidFill>
              </a:rPr>
              <a:t>Heinrich</a:t>
            </a:r>
          </a:p>
          <a:p>
            <a:pPr algn="ctr"/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11B7C8-7F6A-44BB-B19F-94AA5C46B795}"/>
              </a:ext>
            </a:extLst>
          </p:cNvPr>
          <p:cNvSpPr/>
          <p:nvPr/>
        </p:nvSpPr>
        <p:spPr>
          <a:xfrm>
            <a:off x="4694785" y="3459357"/>
            <a:ext cx="788262" cy="81675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Topic E</a:t>
            </a:r>
          </a:p>
          <a:p>
            <a:pPr algn="r"/>
            <a:r>
              <a:rPr lang="en-US" sz="1000">
                <a:solidFill>
                  <a:schemeClr val="tx1"/>
                </a:solidFill>
              </a:rPr>
              <a:t>Alice</a:t>
            </a:r>
          </a:p>
          <a:p>
            <a:pPr algn="r"/>
            <a:r>
              <a:rPr lang="en-US" sz="1000">
                <a:solidFill>
                  <a:schemeClr val="tx1"/>
                </a:solidFill>
              </a:rPr>
              <a:t>Isiah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A173B20-A291-479E-9D68-921043F682CB}"/>
              </a:ext>
            </a:extLst>
          </p:cNvPr>
          <p:cNvSpPr/>
          <p:nvPr/>
        </p:nvSpPr>
        <p:spPr>
          <a:xfrm>
            <a:off x="5577365" y="3453215"/>
            <a:ext cx="788262" cy="816754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Topic E</a:t>
            </a:r>
          </a:p>
          <a:p>
            <a:pPr algn="r"/>
            <a:r>
              <a:rPr lang="en-US" sz="1000">
                <a:solidFill>
                  <a:schemeClr val="tx1"/>
                </a:solidFill>
              </a:rPr>
              <a:t>Dick</a:t>
            </a:r>
          </a:p>
          <a:p>
            <a:pPr algn="ctr"/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8DF3C6-CACE-4F32-B399-8798B50F5714}"/>
              </a:ext>
            </a:extLst>
          </p:cNvPr>
          <p:cNvSpPr/>
          <p:nvPr/>
        </p:nvSpPr>
        <p:spPr>
          <a:xfrm>
            <a:off x="7040293" y="2780296"/>
            <a:ext cx="1012851" cy="1049461"/>
          </a:xfrm>
          <a:prstGeom prst="rect">
            <a:avLst/>
          </a:prstGeom>
          <a:solidFill>
            <a:srgbClr val="FE5C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 i="1">
                <a:solidFill>
                  <a:schemeClr val="tx1"/>
                </a:solidFill>
              </a:rPr>
              <a:t>« Very happy to meet Heinrich »</a:t>
            </a:r>
          </a:p>
          <a:p>
            <a:pPr algn="r"/>
            <a:r>
              <a:rPr lang="en-US" sz="1000">
                <a:solidFill>
                  <a:schemeClr val="tx1"/>
                </a:solidFill>
              </a:rPr>
              <a:t>Bob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C20887-DDCE-431A-9E67-515DF6831DB0}"/>
              </a:ext>
            </a:extLst>
          </p:cNvPr>
          <p:cNvSpPr/>
          <p:nvPr/>
        </p:nvSpPr>
        <p:spPr>
          <a:xfrm>
            <a:off x="8105292" y="2778200"/>
            <a:ext cx="1012851" cy="1049461"/>
          </a:xfrm>
          <a:prstGeom prst="rect">
            <a:avLst/>
          </a:prstGeom>
          <a:solidFill>
            <a:srgbClr val="FE5C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 i="1">
                <a:solidFill>
                  <a:schemeClr val="tx1"/>
                </a:solidFill>
              </a:rPr>
              <a:t>« I did not know other people were interested in Topic A here»</a:t>
            </a:r>
          </a:p>
          <a:p>
            <a:pPr algn="r"/>
            <a:r>
              <a:rPr lang="en-US" sz="1000">
                <a:solidFill>
                  <a:schemeClr val="tx1"/>
                </a:solidFill>
              </a:rPr>
              <a:t>Bob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367B3AF-B52E-45AE-B48C-8E856CD77594}"/>
              </a:ext>
            </a:extLst>
          </p:cNvPr>
          <p:cNvSpPr/>
          <p:nvPr/>
        </p:nvSpPr>
        <p:spPr>
          <a:xfrm>
            <a:off x="383465" y="4868869"/>
            <a:ext cx="1639922" cy="175757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Use Recorded Learning Demand to : </a:t>
            </a:r>
          </a:p>
          <a:p>
            <a:pPr algn="ctr"/>
            <a:endParaRPr lang="en-US" sz="1000" b="1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sz="1000">
                <a:solidFill>
                  <a:schemeClr val="tx1"/>
                </a:solidFill>
              </a:rPr>
              <a:t>Select topics for next events</a:t>
            </a:r>
          </a:p>
          <a:p>
            <a:pPr marL="171450" indent="-171450">
              <a:buFontTx/>
              <a:buChar char="-"/>
            </a:pPr>
            <a:r>
              <a:rPr lang="en-US" sz="1000">
                <a:solidFill>
                  <a:schemeClr val="tx1"/>
                </a:solidFill>
              </a:rPr>
              <a:t>Select topics for next contents</a:t>
            </a:r>
          </a:p>
          <a:p>
            <a:pPr marL="171450" indent="-171450">
              <a:buFontTx/>
              <a:buChar char="-"/>
            </a:pPr>
            <a:r>
              <a:rPr lang="en-US" sz="1000">
                <a:solidFill>
                  <a:schemeClr val="tx1"/>
                </a:solidFill>
              </a:rPr>
              <a:t>Create community subgroups of same interests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AC13E3C-CF33-496D-B85A-A07ACAB0AD1F}"/>
              </a:ext>
            </a:extLst>
          </p:cNvPr>
          <p:cNvSpPr/>
          <p:nvPr/>
        </p:nvSpPr>
        <p:spPr>
          <a:xfrm>
            <a:off x="2252659" y="4868869"/>
            <a:ext cx="2007451" cy="1757571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lnSpcReduction="10000"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Use Recorded Learning Offer to : </a:t>
            </a:r>
          </a:p>
          <a:p>
            <a:pPr algn="ctr"/>
            <a:endParaRPr lang="en-US" sz="1000" b="1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sz="1000">
                <a:solidFill>
                  <a:schemeClr val="tx1"/>
                </a:solidFill>
              </a:rPr>
              <a:t>Select topics for next events</a:t>
            </a:r>
          </a:p>
          <a:p>
            <a:pPr marL="171450" indent="-171450">
              <a:buFontTx/>
              <a:buChar char="-"/>
            </a:pPr>
            <a:r>
              <a:rPr lang="en-US" sz="1000">
                <a:solidFill>
                  <a:schemeClr val="tx1"/>
                </a:solidFill>
              </a:rPr>
              <a:t>Showcase members, skills and possibilities in the Community</a:t>
            </a:r>
          </a:p>
          <a:p>
            <a:pPr marL="171450" indent="-171450">
              <a:buFontTx/>
              <a:buChar char="-"/>
            </a:pPr>
            <a:r>
              <a:rPr lang="en-US" sz="1000">
                <a:solidFill>
                  <a:schemeClr val="tx1"/>
                </a:solidFill>
              </a:rPr>
              <a:t>Propose topics to other communities as a service from your Community (with agreement of sharers)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B2F7A64-C6A7-474F-9D10-2E2545BA1A29}"/>
              </a:ext>
            </a:extLst>
          </p:cNvPr>
          <p:cNvSpPr/>
          <p:nvPr/>
        </p:nvSpPr>
        <p:spPr>
          <a:xfrm>
            <a:off x="4712839" y="4868869"/>
            <a:ext cx="1652787" cy="1757571"/>
          </a:xfrm>
          <a:prstGeom prst="rect">
            <a:avLst/>
          </a:prstGeom>
          <a:gradFill>
            <a:gsLst>
              <a:gs pos="0">
                <a:srgbClr val="FFFF00"/>
              </a:gs>
              <a:gs pos="37000">
                <a:srgbClr val="FFFF00"/>
              </a:gs>
              <a:gs pos="60000">
                <a:srgbClr val="7FC1DB"/>
              </a:gs>
              <a:gs pos="100000">
                <a:srgbClr val="7FC1DB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Use matches that did not happen today to :</a:t>
            </a:r>
          </a:p>
          <a:p>
            <a:pPr algn="ctr"/>
            <a:endParaRPr lang="en-US" sz="1000" b="1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sz="1000">
                <a:solidFill>
                  <a:schemeClr val="tx1"/>
                </a:solidFill>
              </a:rPr>
              <a:t>Select topics for next events</a:t>
            </a:r>
          </a:p>
          <a:p>
            <a:pPr marL="171450" indent="-171450">
              <a:buFontTx/>
              <a:buChar char="-"/>
            </a:pPr>
            <a:r>
              <a:rPr lang="en-US" sz="1000">
                <a:solidFill>
                  <a:schemeClr val="tx1"/>
                </a:solidFill>
              </a:rPr>
              <a:t>Introduce members to each other for them to arrange knowledge sharing by themselves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54F2C7A-9E2B-4438-8E5A-E9FCD32BF20C}"/>
              </a:ext>
            </a:extLst>
          </p:cNvPr>
          <p:cNvSpPr/>
          <p:nvPr/>
        </p:nvSpPr>
        <p:spPr>
          <a:xfrm>
            <a:off x="7040293" y="4868868"/>
            <a:ext cx="2077850" cy="1757571"/>
          </a:xfrm>
          <a:prstGeom prst="rect">
            <a:avLst/>
          </a:prstGeom>
          <a:solidFill>
            <a:srgbClr val="FE5C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Use written feedback to :</a:t>
            </a:r>
          </a:p>
          <a:p>
            <a:pPr algn="ctr"/>
            <a:endParaRPr lang="en-US" sz="1000" b="1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sz="1000">
                <a:solidFill>
                  <a:schemeClr val="tx1"/>
                </a:solidFill>
              </a:rPr>
              <a:t>Promote knowledge sharing in the Community (ask members if they agree with feedback usage first)</a:t>
            </a:r>
          </a:p>
          <a:p>
            <a:pPr marL="171450" indent="-171450">
              <a:buFontTx/>
              <a:buChar char="-"/>
            </a:pPr>
            <a:r>
              <a:rPr lang="en-US" sz="1000">
                <a:solidFill>
                  <a:schemeClr val="tx1"/>
                </a:solidFill>
              </a:rPr>
              <a:t>Improve the Community </a:t>
            </a:r>
          </a:p>
          <a:p>
            <a:pPr marL="171450" indent="-171450">
              <a:buFontTx/>
              <a:buChar char="-"/>
            </a:pP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40" name="Flèche : bas 39">
            <a:extLst>
              <a:ext uri="{FF2B5EF4-FFF2-40B4-BE49-F238E27FC236}">
                <a16:creationId xmlns:a16="http://schemas.microsoft.com/office/drawing/2014/main" id="{0B5D9B30-6C32-44B3-A5A4-E859CF7179FF}"/>
              </a:ext>
            </a:extLst>
          </p:cNvPr>
          <p:cNvSpPr/>
          <p:nvPr/>
        </p:nvSpPr>
        <p:spPr>
          <a:xfrm>
            <a:off x="1012723" y="4345858"/>
            <a:ext cx="462116" cy="383724"/>
          </a:xfrm>
          <a:prstGeom prst="down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lèche : bas 40">
            <a:extLst>
              <a:ext uri="{FF2B5EF4-FFF2-40B4-BE49-F238E27FC236}">
                <a16:creationId xmlns:a16="http://schemas.microsoft.com/office/drawing/2014/main" id="{9AC203B4-ECA1-47FA-A3F0-9F8C65CF5C96}"/>
              </a:ext>
            </a:extLst>
          </p:cNvPr>
          <p:cNvSpPr/>
          <p:nvPr/>
        </p:nvSpPr>
        <p:spPr>
          <a:xfrm>
            <a:off x="2944958" y="4289157"/>
            <a:ext cx="462116" cy="383724"/>
          </a:xfrm>
          <a:prstGeom prst="downArrow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lèche : bas 41">
            <a:extLst>
              <a:ext uri="{FF2B5EF4-FFF2-40B4-BE49-F238E27FC236}">
                <a16:creationId xmlns:a16="http://schemas.microsoft.com/office/drawing/2014/main" id="{FDE41AE5-1D09-4626-8AA7-BA90BF68BEB1}"/>
              </a:ext>
            </a:extLst>
          </p:cNvPr>
          <p:cNvSpPr/>
          <p:nvPr/>
        </p:nvSpPr>
        <p:spPr>
          <a:xfrm>
            <a:off x="5251989" y="4362246"/>
            <a:ext cx="462116" cy="383724"/>
          </a:xfrm>
          <a:prstGeom prst="downArrow">
            <a:avLst/>
          </a:prstGeom>
          <a:gradFill>
            <a:gsLst>
              <a:gs pos="0">
                <a:srgbClr val="FFFF00"/>
              </a:gs>
              <a:gs pos="37000">
                <a:srgbClr val="FFFF00"/>
              </a:gs>
              <a:gs pos="60000">
                <a:srgbClr val="7FC1DB"/>
              </a:gs>
              <a:gs pos="100000">
                <a:srgbClr val="7FC1DB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algn="ctr"/>
            <a:endParaRPr lang="fr-FR" sz="1000" b="1">
              <a:solidFill>
                <a:schemeClr val="tx1"/>
              </a:solidFill>
            </a:endParaRPr>
          </a:p>
        </p:txBody>
      </p:sp>
      <p:sp>
        <p:nvSpPr>
          <p:cNvPr id="43" name="Flèche : bas 42">
            <a:extLst>
              <a:ext uri="{FF2B5EF4-FFF2-40B4-BE49-F238E27FC236}">
                <a16:creationId xmlns:a16="http://schemas.microsoft.com/office/drawing/2014/main" id="{3F9873C5-30EA-48EE-80AD-0815C14B7D36}"/>
              </a:ext>
            </a:extLst>
          </p:cNvPr>
          <p:cNvSpPr/>
          <p:nvPr/>
        </p:nvSpPr>
        <p:spPr>
          <a:xfrm>
            <a:off x="7874234" y="4362246"/>
            <a:ext cx="462116" cy="383724"/>
          </a:xfrm>
          <a:prstGeom prst="downArrow">
            <a:avLst/>
          </a:prstGeom>
          <a:solidFill>
            <a:srgbClr val="FE5C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algn="ctr"/>
            <a:endParaRPr lang="fr-FR" sz="1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663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A6EAF45E-EA4E-45F8-936E-0ACD2FA5DA9E}"/>
              </a:ext>
            </a:extLst>
          </p:cNvPr>
          <p:cNvSpPr/>
          <p:nvPr/>
        </p:nvSpPr>
        <p:spPr>
          <a:xfrm>
            <a:off x="2404260" y="3799094"/>
            <a:ext cx="8803905" cy="2571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458039A-F10D-469B-A576-DC9601DA1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450985"/>
            <a:ext cx="10168128" cy="1179576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Understanding</a:t>
            </a:r>
            <a:br>
              <a:rPr lang="fr-FR" dirty="0"/>
            </a:br>
            <a:r>
              <a:rPr lang="fr-FR" dirty="0" err="1"/>
              <a:t>Difference</a:t>
            </a:r>
            <a:r>
              <a:rPr lang="fr-FR" dirty="0"/>
              <a:t> between formats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979F303-9288-49E2-A246-ADD33D893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589" y="1728217"/>
            <a:ext cx="1654789" cy="165478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516E3C9-2A20-481B-8ABE-0105893E0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932" y="1728216"/>
            <a:ext cx="1654789" cy="165478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521EF4B-100B-40B2-868B-692775788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275" y="1728216"/>
            <a:ext cx="1654789" cy="165478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2F25696-0FD9-4F85-8EB8-7CD20D43A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7618" y="1728216"/>
            <a:ext cx="1654789" cy="1654789"/>
          </a:xfrm>
          <a:prstGeom prst="rect">
            <a:avLst/>
          </a:prstGeom>
        </p:spPr>
      </p:pic>
      <p:pic>
        <p:nvPicPr>
          <p:cNvPr id="9" name="Graphique 8" descr="Calendrier journalier avec un remplissage uni">
            <a:extLst>
              <a:ext uri="{FF2B5EF4-FFF2-40B4-BE49-F238E27FC236}">
                <a16:creationId xmlns:a16="http://schemas.microsoft.com/office/drawing/2014/main" id="{B1DB3BDA-C54D-4C3D-B530-3986B05A6A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3820" y="3383005"/>
            <a:ext cx="563032" cy="563032"/>
          </a:xfrm>
          <a:prstGeom prst="rect">
            <a:avLst/>
          </a:prstGeom>
        </p:spPr>
      </p:pic>
      <p:pic>
        <p:nvPicPr>
          <p:cNvPr id="10" name="Graphique 9" descr="Calendrier journalier avec un remplissage uni">
            <a:extLst>
              <a:ext uri="{FF2B5EF4-FFF2-40B4-BE49-F238E27FC236}">
                <a16:creationId xmlns:a16="http://schemas.microsoft.com/office/drawing/2014/main" id="{0520B83A-00E5-4830-A319-A507B1CE08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62570" y="3383211"/>
            <a:ext cx="563032" cy="563032"/>
          </a:xfrm>
          <a:prstGeom prst="rect">
            <a:avLst/>
          </a:prstGeom>
        </p:spPr>
      </p:pic>
      <p:pic>
        <p:nvPicPr>
          <p:cNvPr id="11" name="Graphique 10" descr="Calendrier journalier avec un remplissage uni">
            <a:extLst>
              <a:ext uri="{FF2B5EF4-FFF2-40B4-BE49-F238E27FC236}">
                <a16:creationId xmlns:a16="http://schemas.microsoft.com/office/drawing/2014/main" id="{5E409E21-2D12-4D7E-A3F0-003FBF0A09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8153" y="3389926"/>
            <a:ext cx="563032" cy="563032"/>
          </a:xfrm>
          <a:prstGeom prst="rect">
            <a:avLst/>
          </a:prstGeom>
        </p:spPr>
      </p:pic>
      <p:pic>
        <p:nvPicPr>
          <p:cNvPr id="12" name="Graphique 11" descr="Calendrier journalier avec un remplissage uni">
            <a:extLst>
              <a:ext uri="{FF2B5EF4-FFF2-40B4-BE49-F238E27FC236}">
                <a16:creationId xmlns:a16="http://schemas.microsoft.com/office/drawing/2014/main" id="{E8200DDB-CCDE-4E3A-BDDB-14658B2186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13496" y="3383005"/>
            <a:ext cx="563032" cy="563032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3CD833F1-ED78-4716-984D-6508E1E596FA}"/>
              </a:ext>
            </a:extLst>
          </p:cNvPr>
          <p:cNvSpPr txBox="1"/>
          <p:nvPr/>
        </p:nvSpPr>
        <p:spPr>
          <a:xfrm>
            <a:off x="42898" y="1715532"/>
            <a:ext cx="209296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Classical </a:t>
            </a:r>
          </a:p>
          <a:p>
            <a:pPr algn="ctr"/>
            <a:r>
              <a:rPr lang="en-US" sz="1200" b="1" dirty="0"/>
              <a:t>“Top-down” knowledge transfer</a:t>
            </a:r>
          </a:p>
          <a:p>
            <a:pPr algn="ctr"/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One person transfers knowledge to N-1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Content must fit all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grouping rules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Knowledge transfer happens during the centrally planned session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D043153-EB57-40A6-9E1F-BFD85EA2F9D0}"/>
              </a:ext>
            </a:extLst>
          </p:cNvPr>
          <p:cNvSpPr txBox="1"/>
          <p:nvPr/>
        </p:nvSpPr>
        <p:spPr>
          <a:xfrm>
            <a:off x="15157" y="4330048"/>
            <a:ext cx="244216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Open Space Technology</a:t>
            </a:r>
          </a:p>
          <a:p>
            <a:pPr algn="ctr"/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Several members transfer knowledge to a variable number of other members depending on interest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Content fit is dynamic (moving people)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Grouping rules depend on free moving from participants during the event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Knowledge transfer happens only during the events</a:t>
            </a:r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4CBE874D-4D2D-4D29-9E10-820C195DA10E}"/>
              </a:ext>
            </a:extLst>
          </p:cNvPr>
          <p:cNvGrpSpPr/>
          <p:nvPr/>
        </p:nvGrpSpPr>
        <p:grpSpPr>
          <a:xfrm>
            <a:off x="2455042" y="4703236"/>
            <a:ext cx="1883620" cy="1060194"/>
            <a:chOff x="2111331" y="4364374"/>
            <a:chExt cx="3569034" cy="2008828"/>
          </a:xfrm>
        </p:grpSpPr>
        <p:pic>
          <p:nvPicPr>
            <p:cNvPr id="16" name="Graphique 15" descr="Personne confuse avec un remplissage uni">
              <a:extLst>
                <a:ext uri="{FF2B5EF4-FFF2-40B4-BE49-F238E27FC236}">
                  <a16:creationId xmlns:a16="http://schemas.microsoft.com/office/drawing/2014/main" id="{7D9F0265-B6A7-48B3-BC1E-F0AAC0ECF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03977" y="4509340"/>
              <a:ext cx="602103" cy="602103"/>
            </a:xfrm>
            <a:prstGeom prst="rect">
              <a:avLst/>
            </a:prstGeom>
          </p:spPr>
        </p:pic>
        <p:pic>
          <p:nvPicPr>
            <p:cNvPr id="17" name="Graphique 16" descr="Personne confuse avec un remplissage uni">
              <a:extLst>
                <a:ext uri="{FF2B5EF4-FFF2-40B4-BE49-F238E27FC236}">
                  <a16:creationId xmlns:a16="http://schemas.microsoft.com/office/drawing/2014/main" id="{AFBD388B-0293-4F1A-BA7A-461847BA8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11331" y="4808849"/>
              <a:ext cx="602103" cy="602103"/>
            </a:xfrm>
            <a:prstGeom prst="rect">
              <a:avLst/>
            </a:prstGeom>
          </p:spPr>
        </p:pic>
        <p:pic>
          <p:nvPicPr>
            <p:cNvPr id="18" name="Graphique 17" descr="Personne confuse avec un remplissage uni">
              <a:extLst>
                <a:ext uri="{FF2B5EF4-FFF2-40B4-BE49-F238E27FC236}">
                  <a16:creationId xmlns:a16="http://schemas.microsoft.com/office/drawing/2014/main" id="{4E339BD2-DBD6-45B9-8D46-917FFF061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77211" y="4418681"/>
              <a:ext cx="602103" cy="602103"/>
            </a:xfrm>
            <a:prstGeom prst="rect">
              <a:avLst/>
            </a:prstGeom>
          </p:spPr>
        </p:pic>
        <p:pic>
          <p:nvPicPr>
            <p:cNvPr id="19" name="Graphique 18" descr="Personne confuse avec un remplissage uni">
              <a:extLst>
                <a:ext uri="{FF2B5EF4-FFF2-40B4-BE49-F238E27FC236}">
                  <a16:creationId xmlns:a16="http://schemas.microsoft.com/office/drawing/2014/main" id="{AB019CBF-BF19-4739-86D3-F7101B436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078262" y="4507797"/>
              <a:ext cx="602103" cy="602103"/>
            </a:xfrm>
            <a:prstGeom prst="rect">
              <a:avLst/>
            </a:prstGeom>
          </p:spPr>
        </p:pic>
        <p:pic>
          <p:nvPicPr>
            <p:cNvPr id="20" name="Graphique 19" descr="Personne confuse avec un remplissage uni">
              <a:extLst>
                <a:ext uri="{FF2B5EF4-FFF2-40B4-BE49-F238E27FC236}">
                  <a16:creationId xmlns:a16="http://schemas.microsoft.com/office/drawing/2014/main" id="{CCFD3333-6C0A-49ED-A018-1A8C7AF2B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885616" y="4807306"/>
              <a:ext cx="602103" cy="602103"/>
            </a:xfrm>
            <a:prstGeom prst="rect">
              <a:avLst/>
            </a:prstGeom>
          </p:spPr>
        </p:pic>
        <p:pic>
          <p:nvPicPr>
            <p:cNvPr id="21" name="Graphique 20" descr="Personne confuse avec un remplissage uni">
              <a:extLst>
                <a:ext uri="{FF2B5EF4-FFF2-40B4-BE49-F238E27FC236}">
                  <a16:creationId xmlns:a16="http://schemas.microsoft.com/office/drawing/2014/main" id="{79B29A7F-5533-4949-AC23-9B882D850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06547" y="4569978"/>
              <a:ext cx="602103" cy="602103"/>
            </a:xfrm>
            <a:prstGeom prst="rect">
              <a:avLst/>
            </a:prstGeom>
          </p:spPr>
        </p:pic>
        <p:pic>
          <p:nvPicPr>
            <p:cNvPr id="22" name="Graphique 21" descr="Personne confuse avec un remplissage uni">
              <a:extLst>
                <a:ext uri="{FF2B5EF4-FFF2-40B4-BE49-F238E27FC236}">
                  <a16:creationId xmlns:a16="http://schemas.microsoft.com/office/drawing/2014/main" id="{E10F197B-EE50-47F4-B23A-567051628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07598" y="4659094"/>
              <a:ext cx="602103" cy="602103"/>
            </a:xfrm>
            <a:prstGeom prst="rect">
              <a:avLst/>
            </a:prstGeom>
          </p:spPr>
        </p:pic>
        <p:pic>
          <p:nvPicPr>
            <p:cNvPr id="23" name="Graphique 22" descr="Personne confuse avec un remplissage uni">
              <a:extLst>
                <a:ext uri="{FF2B5EF4-FFF2-40B4-BE49-F238E27FC236}">
                  <a16:creationId xmlns:a16="http://schemas.microsoft.com/office/drawing/2014/main" id="{44699319-0CE6-4270-A629-D9FFE1A15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54257" y="4922452"/>
              <a:ext cx="602103" cy="602103"/>
            </a:xfrm>
            <a:prstGeom prst="rect">
              <a:avLst/>
            </a:prstGeom>
          </p:spPr>
        </p:pic>
        <p:pic>
          <p:nvPicPr>
            <p:cNvPr id="24" name="Graphique 23" descr="Personne confuse avec un remplissage uni">
              <a:extLst>
                <a:ext uri="{FF2B5EF4-FFF2-40B4-BE49-F238E27FC236}">
                  <a16:creationId xmlns:a16="http://schemas.microsoft.com/office/drawing/2014/main" id="{CD9D2B2E-4CCC-4BDD-94BE-334FD8CFB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487272" y="5666635"/>
              <a:ext cx="602103" cy="602103"/>
            </a:xfrm>
            <a:prstGeom prst="rect">
              <a:avLst/>
            </a:prstGeom>
          </p:spPr>
        </p:pic>
        <p:pic>
          <p:nvPicPr>
            <p:cNvPr id="25" name="Graphique 24" descr="Personne confuse avec un remplissage uni">
              <a:extLst>
                <a:ext uri="{FF2B5EF4-FFF2-40B4-BE49-F238E27FC236}">
                  <a16:creationId xmlns:a16="http://schemas.microsoft.com/office/drawing/2014/main" id="{5D44AC42-FDF6-4D1D-819E-5CA5FB4EB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702585" y="5433414"/>
              <a:ext cx="602103" cy="602103"/>
            </a:xfrm>
            <a:prstGeom prst="rect">
              <a:avLst/>
            </a:prstGeom>
          </p:spPr>
        </p:pic>
        <p:pic>
          <p:nvPicPr>
            <p:cNvPr id="26" name="Graphique 25" descr="Personne confuse avec un remplissage uni">
              <a:extLst>
                <a:ext uri="{FF2B5EF4-FFF2-40B4-BE49-F238E27FC236}">
                  <a16:creationId xmlns:a16="http://schemas.microsoft.com/office/drawing/2014/main" id="{C1F7663A-47E8-4BD2-958C-7E1F21D49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45079" y="5771099"/>
              <a:ext cx="602103" cy="602103"/>
            </a:xfrm>
            <a:prstGeom prst="rect">
              <a:avLst/>
            </a:prstGeom>
          </p:spPr>
        </p:pic>
        <p:pic>
          <p:nvPicPr>
            <p:cNvPr id="27" name="Graphique 26" descr="Personne confuse avec un remplissage uni">
              <a:extLst>
                <a:ext uri="{FF2B5EF4-FFF2-40B4-BE49-F238E27FC236}">
                  <a16:creationId xmlns:a16="http://schemas.microsoft.com/office/drawing/2014/main" id="{AFCA057F-7074-4F04-B489-BAD781052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65784" y="5666635"/>
              <a:ext cx="602103" cy="602103"/>
            </a:xfrm>
            <a:prstGeom prst="rect">
              <a:avLst/>
            </a:prstGeom>
          </p:spPr>
        </p:pic>
        <p:pic>
          <p:nvPicPr>
            <p:cNvPr id="28" name="Graphique 27" descr="Personne confuse avec un remplissage uni">
              <a:extLst>
                <a:ext uri="{FF2B5EF4-FFF2-40B4-BE49-F238E27FC236}">
                  <a16:creationId xmlns:a16="http://schemas.microsoft.com/office/drawing/2014/main" id="{FD2D5F83-77F6-49E3-BC1A-CFEB4EF9E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69112" y="4364374"/>
              <a:ext cx="602103" cy="602103"/>
            </a:xfrm>
            <a:prstGeom prst="rect">
              <a:avLst/>
            </a:prstGeom>
          </p:spPr>
        </p:pic>
        <p:pic>
          <p:nvPicPr>
            <p:cNvPr id="29" name="Graphique 28" descr="Personne confuse avec un remplissage uni">
              <a:extLst>
                <a:ext uri="{FF2B5EF4-FFF2-40B4-BE49-F238E27FC236}">
                  <a16:creationId xmlns:a16="http://schemas.microsoft.com/office/drawing/2014/main" id="{608CBA93-913D-459D-A34E-D59B67060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76466" y="4663883"/>
              <a:ext cx="602103" cy="602103"/>
            </a:xfrm>
            <a:prstGeom prst="rect">
              <a:avLst/>
            </a:prstGeom>
          </p:spPr>
        </p:pic>
        <p:pic>
          <p:nvPicPr>
            <p:cNvPr id="30" name="Graphique 29" descr="Personne confuse avec un remplissage uni">
              <a:extLst>
                <a:ext uri="{FF2B5EF4-FFF2-40B4-BE49-F238E27FC236}">
                  <a16:creationId xmlns:a16="http://schemas.microsoft.com/office/drawing/2014/main" id="{3FE23460-3372-4041-9503-8B82F645C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70127" y="5674127"/>
              <a:ext cx="602102" cy="602102"/>
            </a:xfrm>
            <a:prstGeom prst="rect">
              <a:avLst/>
            </a:prstGeom>
          </p:spPr>
        </p:pic>
        <p:pic>
          <p:nvPicPr>
            <p:cNvPr id="31" name="Graphique 30" descr="Personne confuse avec un remplissage uni">
              <a:extLst>
                <a:ext uri="{FF2B5EF4-FFF2-40B4-BE49-F238E27FC236}">
                  <a16:creationId xmlns:a16="http://schemas.microsoft.com/office/drawing/2014/main" id="{2D96922F-6F1B-45CB-AF4B-63404F737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88773" y="5399065"/>
              <a:ext cx="602103" cy="602103"/>
            </a:xfrm>
            <a:prstGeom prst="rect">
              <a:avLst/>
            </a:prstGeom>
          </p:spPr>
        </p:pic>
        <p:cxnSp>
          <p:nvCxnSpPr>
            <p:cNvPr id="32" name="Connecteur droit avec flèche 31">
              <a:extLst>
                <a:ext uri="{FF2B5EF4-FFF2-40B4-BE49-F238E27FC236}">
                  <a16:creationId xmlns:a16="http://schemas.microsoft.com/office/drawing/2014/main" id="{48EDBCC5-139F-4998-B332-0496747A37C1}"/>
                </a:ext>
              </a:extLst>
            </p:cNvPr>
            <p:cNvCxnSpPr/>
            <p:nvPr/>
          </p:nvCxnSpPr>
          <p:spPr>
            <a:xfrm>
              <a:off x="2676752" y="4952008"/>
              <a:ext cx="1752848" cy="8137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avec flèche 32">
              <a:extLst>
                <a:ext uri="{FF2B5EF4-FFF2-40B4-BE49-F238E27FC236}">
                  <a16:creationId xmlns:a16="http://schemas.microsoft.com/office/drawing/2014/main" id="{2A8F4BF9-667D-45B2-95EF-4325A974266A}"/>
                </a:ext>
              </a:extLst>
            </p:cNvPr>
            <p:cNvCxnSpPr>
              <a:cxnSpLocks/>
            </p:cNvCxnSpPr>
            <p:nvPr/>
          </p:nvCxnSpPr>
          <p:spPr>
            <a:xfrm>
              <a:off x="2642768" y="5243661"/>
              <a:ext cx="707057" cy="307861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avec flèche 33">
              <a:extLst>
                <a:ext uri="{FF2B5EF4-FFF2-40B4-BE49-F238E27FC236}">
                  <a16:creationId xmlns:a16="http://schemas.microsoft.com/office/drawing/2014/main" id="{F3034BC3-E671-444D-916E-CA844DE0DDD8}"/>
                </a:ext>
              </a:extLst>
            </p:cNvPr>
            <p:cNvCxnSpPr>
              <a:cxnSpLocks/>
            </p:cNvCxnSpPr>
            <p:nvPr/>
          </p:nvCxnSpPr>
          <p:spPr>
            <a:xfrm>
              <a:off x="3678622" y="5169447"/>
              <a:ext cx="1163219" cy="586304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avec flèche 34">
              <a:extLst>
                <a:ext uri="{FF2B5EF4-FFF2-40B4-BE49-F238E27FC236}">
                  <a16:creationId xmlns:a16="http://schemas.microsoft.com/office/drawing/2014/main" id="{159AE3BE-053B-45B7-BBCF-F3C98291CF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4508" y="5794123"/>
              <a:ext cx="341652" cy="257297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avec flèche 35">
              <a:extLst>
                <a:ext uri="{FF2B5EF4-FFF2-40B4-BE49-F238E27FC236}">
                  <a16:creationId xmlns:a16="http://schemas.microsoft.com/office/drawing/2014/main" id="{1EE17D1B-D057-4198-96CB-393271586F7B}"/>
                </a:ext>
              </a:extLst>
            </p:cNvPr>
            <p:cNvCxnSpPr>
              <a:cxnSpLocks/>
            </p:cNvCxnSpPr>
            <p:nvPr/>
          </p:nvCxnSpPr>
          <p:spPr>
            <a:xfrm>
              <a:off x="4214772" y="5808627"/>
              <a:ext cx="205146" cy="79241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avec flèche 36">
              <a:extLst>
                <a:ext uri="{FF2B5EF4-FFF2-40B4-BE49-F238E27FC236}">
                  <a16:creationId xmlns:a16="http://schemas.microsoft.com/office/drawing/2014/main" id="{8E4E5D2E-1E99-4D98-8A28-8D619BBA19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9126" y="5439429"/>
              <a:ext cx="136371" cy="251762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droit avec flèche 37">
              <a:extLst>
                <a:ext uri="{FF2B5EF4-FFF2-40B4-BE49-F238E27FC236}">
                  <a16:creationId xmlns:a16="http://schemas.microsoft.com/office/drawing/2014/main" id="{8C9FF779-2E7B-4CA8-9CE4-41429217F3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53964" y="5189763"/>
              <a:ext cx="272889" cy="394818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eur droit avec flèche 38">
              <a:extLst>
                <a:ext uri="{FF2B5EF4-FFF2-40B4-BE49-F238E27FC236}">
                  <a16:creationId xmlns:a16="http://schemas.microsoft.com/office/drawing/2014/main" id="{E43F70B3-AF12-4E3F-826D-C24B34B4B005}"/>
                </a:ext>
              </a:extLst>
            </p:cNvPr>
            <p:cNvCxnSpPr>
              <a:cxnSpLocks/>
            </p:cNvCxnSpPr>
            <p:nvPr/>
          </p:nvCxnSpPr>
          <p:spPr>
            <a:xfrm>
              <a:off x="3756574" y="5072030"/>
              <a:ext cx="111147" cy="368744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avec flèche 39">
              <a:extLst>
                <a:ext uri="{FF2B5EF4-FFF2-40B4-BE49-F238E27FC236}">
                  <a16:creationId xmlns:a16="http://schemas.microsoft.com/office/drawing/2014/main" id="{46089512-17C0-4AF3-8040-2F6BFD76DB43}"/>
                </a:ext>
              </a:extLst>
            </p:cNvPr>
            <p:cNvCxnSpPr>
              <a:cxnSpLocks/>
            </p:cNvCxnSpPr>
            <p:nvPr/>
          </p:nvCxnSpPr>
          <p:spPr>
            <a:xfrm>
              <a:off x="2560416" y="5383490"/>
              <a:ext cx="111147" cy="368744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eur droit avec flèche 40">
              <a:extLst>
                <a:ext uri="{FF2B5EF4-FFF2-40B4-BE49-F238E27FC236}">
                  <a16:creationId xmlns:a16="http://schemas.microsoft.com/office/drawing/2014/main" id="{D8D91D33-E578-4ABC-BC4E-00D0969432E5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flipH="1">
              <a:off x="3171180" y="5338456"/>
              <a:ext cx="136706" cy="335669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ZoneTexte 42">
            <a:extLst>
              <a:ext uri="{FF2B5EF4-FFF2-40B4-BE49-F238E27FC236}">
                <a16:creationId xmlns:a16="http://schemas.microsoft.com/office/drawing/2014/main" id="{465A5C3E-2ABC-449A-BFA8-81E5F2BAE726}"/>
              </a:ext>
            </a:extLst>
          </p:cNvPr>
          <p:cNvSpPr txBox="1"/>
          <p:nvPr/>
        </p:nvSpPr>
        <p:spPr>
          <a:xfrm>
            <a:off x="3267466" y="3436221"/>
            <a:ext cx="7040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Event 1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7286AB3A-B67B-4E4E-A901-755D03ED1D02}"/>
              </a:ext>
            </a:extLst>
          </p:cNvPr>
          <p:cNvSpPr txBox="1"/>
          <p:nvPr/>
        </p:nvSpPr>
        <p:spPr>
          <a:xfrm>
            <a:off x="5794953" y="3454769"/>
            <a:ext cx="7037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Event 2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2C5A3F64-9330-4560-A832-95E74633585F}"/>
              </a:ext>
            </a:extLst>
          </p:cNvPr>
          <p:cNvSpPr txBox="1"/>
          <p:nvPr/>
        </p:nvSpPr>
        <p:spPr>
          <a:xfrm>
            <a:off x="8160335" y="3460564"/>
            <a:ext cx="7037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Event 3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0ADFBE25-D0A5-4CBB-8BDD-941A00DE79A7}"/>
              </a:ext>
            </a:extLst>
          </p:cNvPr>
          <p:cNvSpPr txBox="1"/>
          <p:nvPr/>
        </p:nvSpPr>
        <p:spPr>
          <a:xfrm>
            <a:off x="10385961" y="3479158"/>
            <a:ext cx="7037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Event 4</a:t>
            </a:r>
          </a:p>
        </p:txBody>
      </p:sp>
      <p:sp>
        <p:nvSpPr>
          <p:cNvPr id="47" name="Flèche : droite 46">
            <a:extLst>
              <a:ext uri="{FF2B5EF4-FFF2-40B4-BE49-F238E27FC236}">
                <a16:creationId xmlns:a16="http://schemas.microsoft.com/office/drawing/2014/main" id="{5B01DD67-88F6-46D4-9D95-E844D06BEB55}"/>
              </a:ext>
            </a:extLst>
          </p:cNvPr>
          <p:cNvSpPr/>
          <p:nvPr/>
        </p:nvSpPr>
        <p:spPr>
          <a:xfrm>
            <a:off x="2578361" y="6260726"/>
            <a:ext cx="8803905" cy="2571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8" name="Graphique 47" descr="Calendrier journalier avec un remplissage uni">
            <a:extLst>
              <a:ext uri="{FF2B5EF4-FFF2-40B4-BE49-F238E27FC236}">
                <a16:creationId xmlns:a16="http://schemas.microsoft.com/office/drawing/2014/main" id="{D5B1A28D-ECDE-4483-813C-C5D14D4525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7921" y="5844637"/>
            <a:ext cx="563032" cy="563032"/>
          </a:xfrm>
          <a:prstGeom prst="rect">
            <a:avLst/>
          </a:prstGeom>
        </p:spPr>
      </p:pic>
      <p:pic>
        <p:nvPicPr>
          <p:cNvPr id="49" name="Graphique 48" descr="Calendrier journalier avec un remplissage uni">
            <a:extLst>
              <a:ext uri="{FF2B5EF4-FFF2-40B4-BE49-F238E27FC236}">
                <a16:creationId xmlns:a16="http://schemas.microsoft.com/office/drawing/2014/main" id="{F8FABADD-D4D4-42C6-8811-B53C9B62C2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6671" y="5844843"/>
            <a:ext cx="563032" cy="563032"/>
          </a:xfrm>
          <a:prstGeom prst="rect">
            <a:avLst/>
          </a:prstGeom>
        </p:spPr>
      </p:pic>
      <p:pic>
        <p:nvPicPr>
          <p:cNvPr id="50" name="Graphique 49" descr="Calendrier journalier avec un remplissage uni">
            <a:extLst>
              <a:ext uri="{FF2B5EF4-FFF2-40B4-BE49-F238E27FC236}">
                <a16:creationId xmlns:a16="http://schemas.microsoft.com/office/drawing/2014/main" id="{5B5646BF-8238-4ED8-8EF7-5D636BC27C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2254" y="5851558"/>
            <a:ext cx="563032" cy="563032"/>
          </a:xfrm>
          <a:prstGeom prst="rect">
            <a:avLst/>
          </a:prstGeom>
        </p:spPr>
      </p:pic>
      <p:pic>
        <p:nvPicPr>
          <p:cNvPr id="51" name="Graphique 50" descr="Calendrier journalier avec un remplissage uni">
            <a:extLst>
              <a:ext uri="{FF2B5EF4-FFF2-40B4-BE49-F238E27FC236}">
                <a16:creationId xmlns:a16="http://schemas.microsoft.com/office/drawing/2014/main" id="{8D47168B-80CC-444E-9D57-6B9B46B137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87597" y="5844637"/>
            <a:ext cx="563032" cy="563032"/>
          </a:xfrm>
          <a:prstGeom prst="rect">
            <a:avLst/>
          </a:prstGeom>
        </p:spPr>
      </p:pic>
      <p:sp>
        <p:nvSpPr>
          <p:cNvPr id="52" name="ZoneTexte 51">
            <a:extLst>
              <a:ext uri="{FF2B5EF4-FFF2-40B4-BE49-F238E27FC236}">
                <a16:creationId xmlns:a16="http://schemas.microsoft.com/office/drawing/2014/main" id="{A9DA67DD-2B60-4F18-8F7C-8EA173718A7A}"/>
              </a:ext>
            </a:extLst>
          </p:cNvPr>
          <p:cNvSpPr txBox="1"/>
          <p:nvPr/>
        </p:nvSpPr>
        <p:spPr>
          <a:xfrm>
            <a:off x="3441567" y="5897853"/>
            <a:ext cx="1130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Open </a:t>
            </a:r>
            <a:r>
              <a:rPr lang="fr-FR" sz="1200" dirty="0" err="1"/>
              <a:t>Space</a:t>
            </a:r>
            <a:r>
              <a:rPr lang="fr-FR" sz="1200" dirty="0"/>
              <a:t> </a:t>
            </a:r>
          </a:p>
          <a:p>
            <a:r>
              <a:rPr lang="fr-FR" sz="1200" dirty="0" err="1"/>
              <a:t>Technology</a:t>
            </a:r>
            <a:r>
              <a:rPr lang="fr-FR" sz="1200" dirty="0"/>
              <a:t> 1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FF48A295-D196-42D4-AB74-39584727AEB9}"/>
              </a:ext>
            </a:extLst>
          </p:cNvPr>
          <p:cNvSpPr txBox="1"/>
          <p:nvPr/>
        </p:nvSpPr>
        <p:spPr>
          <a:xfrm>
            <a:off x="5969054" y="5916401"/>
            <a:ext cx="1131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Open </a:t>
            </a:r>
            <a:r>
              <a:rPr lang="fr-FR" sz="1200" dirty="0" err="1"/>
              <a:t>Space</a:t>
            </a:r>
            <a:r>
              <a:rPr lang="fr-FR" sz="1200" dirty="0"/>
              <a:t> </a:t>
            </a:r>
          </a:p>
          <a:p>
            <a:r>
              <a:rPr lang="fr-FR" sz="1200" dirty="0" err="1"/>
              <a:t>Technology</a:t>
            </a:r>
            <a:r>
              <a:rPr lang="fr-FR" sz="1200" dirty="0"/>
              <a:t> 2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AC8B6B39-4C0A-42B0-86C4-DA10BBC5F336}"/>
              </a:ext>
            </a:extLst>
          </p:cNvPr>
          <p:cNvSpPr txBox="1"/>
          <p:nvPr/>
        </p:nvSpPr>
        <p:spPr>
          <a:xfrm>
            <a:off x="8334436" y="5922196"/>
            <a:ext cx="1131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Open </a:t>
            </a:r>
            <a:r>
              <a:rPr lang="fr-FR" sz="1200" dirty="0" err="1"/>
              <a:t>Space</a:t>
            </a:r>
            <a:r>
              <a:rPr lang="fr-FR" sz="1200" dirty="0"/>
              <a:t> </a:t>
            </a:r>
          </a:p>
          <a:p>
            <a:r>
              <a:rPr lang="fr-FR" sz="1200" dirty="0" err="1"/>
              <a:t>Technology</a:t>
            </a:r>
            <a:r>
              <a:rPr lang="fr-FR" sz="1200" dirty="0"/>
              <a:t> 3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B4DBC3FA-BE1D-4D73-B69A-E4633AA4CA85}"/>
              </a:ext>
            </a:extLst>
          </p:cNvPr>
          <p:cNvSpPr txBox="1"/>
          <p:nvPr/>
        </p:nvSpPr>
        <p:spPr>
          <a:xfrm>
            <a:off x="10560062" y="5940790"/>
            <a:ext cx="1131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Open </a:t>
            </a:r>
            <a:r>
              <a:rPr lang="fr-FR" sz="1200" dirty="0" err="1"/>
              <a:t>Space</a:t>
            </a:r>
            <a:r>
              <a:rPr lang="fr-FR" sz="1200" dirty="0"/>
              <a:t> </a:t>
            </a:r>
          </a:p>
          <a:p>
            <a:r>
              <a:rPr lang="fr-FR" sz="1200" dirty="0" err="1"/>
              <a:t>Technology</a:t>
            </a:r>
            <a:r>
              <a:rPr lang="fr-FR" sz="1200" dirty="0"/>
              <a:t> 4</a:t>
            </a:r>
          </a:p>
        </p:txBody>
      </p: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41F198B8-5221-4B11-81AB-9E0F581DBA75}"/>
              </a:ext>
            </a:extLst>
          </p:cNvPr>
          <p:cNvGrpSpPr/>
          <p:nvPr/>
        </p:nvGrpSpPr>
        <p:grpSpPr>
          <a:xfrm>
            <a:off x="4983792" y="4741712"/>
            <a:ext cx="1883620" cy="1060194"/>
            <a:chOff x="2111331" y="4364374"/>
            <a:chExt cx="3569034" cy="2008828"/>
          </a:xfrm>
        </p:grpSpPr>
        <p:pic>
          <p:nvPicPr>
            <p:cNvPr id="57" name="Graphique 56" descr="Personne confuse avec un remplissage uni">
              <a:extLst>
                <a:ext uri="{FF2B5EF4-FFF2-40B4-BE49-F238E27FC236}">
                  <a16:creationId xmlns:a16="http://schemas.microsoft.com/office/drawing/2014/main" id="{C001045E-B84F-409B-9204-3D73958C17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03977" y="4509340"/>
              <a:ext cx="602103" cy="602103"/>
            </a:xfrm>
            <a:prstGeom prst="rect">
              <a:avLst/>
            </a:prstGeom>
          </p:spPr>
        </p:pic>
        <p:pic>
          <p:nvPicPr>
            <p:cNvPr id="58" name="Graphique 57" descr="Personne confuse avec un remplissage uni">
              <a:extLst>
                <a:ext uri="{FF2B5EF4-FFF2-40B4-BE49-F238E27FC236}">
                  <a16:creationId xmlns:a16="http://schemas.microsoft.com/office/drawing/2014/main" id="{31BE6A87-3EB6-449F-A019-D0F000D8D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11331" y="4808849"/>
              <a:ext cx="602103" cy="602103"/>
            </a:xfrm>
            <a:prstGeom prst="rect">
              <a:avLst/>
            </a:prstGeom>
          </p:spPr>
        </p:pic>
        <p:pic>
          <p:nvPicPr>
            <p:cNvPr id="59" name="Graphique 58" descr="Personne confuse avec un remplissage uni">
              <a:extLst>
                <a:ext uri="{FF2B5EF4-FFF2-40B4-BE49-F238E27FC236}">
                  <a16:creationId xmlns:a16="http://schemas.microsoft.com/office/drawing/2014/main" id="{C21D503E-8534-4D6A-B323-9D121E0E5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77211" y="4418681"/>
              <a:ext cx="602103" cy="602103"/>
            </a:xfrm>
            <a:prstGeom prst="rect">
              <a:avLst/>
            </a:prstGeom>
          </p:spPr>
        </p:pic>
        <p:pic>
          <p:nvPicPr>
            <p:cNvPr id="60" name="Graphique 59" descr="Personne confuse avec un remplissage uni">
              <a:extLst>
                <a:ext uri="{FF2B5EF4-FFF2-40B4-BE49-F238E27FC236}">
                  <a16:creationId xmlns:a16="http://schemas.microsoft.com/office/drawing/2014/main" id="{6E644A34-A49F-47FC-9EC8-87D4858350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078262" y="4507797"/>
              <a:ext cx="602103" cy="602103"/>
            </a:xfrm>
            <a:prstGeom prst="rect">
              <a:avLst/>
            </a:prstGeom>
          </p:spPr>
        </p:pic>
        <p:pic>
          <p:nvPicPr>
            <p:cNvPr id="61" name="Graphique 60" descr="Personne confuse avec un remplissage uni">
              <a:extLst>
                <a:ext uri="{FF2B5EF4-FFF2-40B4-BE49-F238E27FC236}">
                  <a16:creationId xmlns:a16="http://schemas.microsoft.com/office/drawing/2014/main" id="{A2D44229-CA7F-404A-B011-0DC54FE2E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885616" y="4807306"/>
              <a:ext cx="602103" cy="602103"/>
            </a:xfrm>
            <a:prstGeom prst="rect">
              <a:avLst/>
            </a:prstGeom>
          </p:spPr>
        </p:pic>
        <p:pic>
          <p:nvPicPr>
            <p:cNvPr id="62" name="Graphique 61" descr="Personne confuse avec un remplissage uni">
              <a:extLst>
                <a:ext uri="{FF2B5EF4-FFF2-40B4-BE49-F238E27FC236}">
                  <a16:creationId xmlns:a16="http://schemas.microsoft.com/office/drawing/2014/main" id="{4AB4D9B0-08A2-450A-8217-C2A0AAF94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06547" y="4569978"/>
              <a:ext cx="602103" cy="602103"/>
            </a:xfrm>
            <a:prstGeom prst="rect">
              <a:avLst/>
            </a:prstGeom>
          </p:spPr>
        </p:pic>
        <p:pic>
          <p:nvPicPr>
            <p:cNvPr id="63" name="Graphique 62" descr="Personne confuse avec un remplissage uni">
              <a:extLst>
                <a:ext uri="{FF2B5EF4-FFF2-40B4-BE49-F238E27FC236}">
                  <a16:creationId xmlns:a16="http://schemas.microsoft.com/office/drawing/2014/main" id="{752609B5-C443-4AB8-BD59-F745530CD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07598" y="4659094"/>
              <a:ext cx="602103" cy="602103"/>
            </a:xfrm>
            <a:prstGeom prst="rect">
              <a:avLst/>
            </a:prstGeom>
          </p:spPr>
        </p:pic>
        <p:pic>
          <p:nvPicPr>
            <p:cNvPr id="64" name="Graphique 63" descr="Personne confuse avec un remplissage uni">
              <a:extLst>
                <a:ext uri="{FF2B5EF4-FFF2-40B4-BE49-F238E27FC236}">
                  <a16:creationId xmlns:a16="http://schemas.microsoft.com/office/drawing/2014/main" id="{D885E254-06AC-4E68-B72D-895E74C7CE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54257" y="4922452"/>
              <a:ext cx="602103" cy="602103"/>
            </a:xfrm>
            <a:prstGeom prst="rect">
              <a:avLst/>
            </a:prstGeom>
          </p:spPr>
        </p:pic>
        <p:pic>
          <p:nvPicPr>
            <p:cNvPr id="65" name="Graphique 64" descr="Personne confuse avec un remplissage uni">
              <a:extLst>
                <a:ext uri="{FF2B5EF4-FFF2-40B4-BE49-F238E27FC236}">
                  <a16:creationId xmlns:a16="http://schemas.microsoft.com/office/drawing/2014/main" id="{72F56CBA-F8B2-4858-81BF-B4A339809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487272" y="5666635"/>
              <a:ext cx="602103" cy="602103"/>
            </a:xfrm>
            <a:prstGeom prst="rect">
              <a:avLst/>
            </a:prstGeom>
          </p:spPr>
        </p:pic>
        <p:pic>
          <p:nvPicPr>
            <p:cNvPr id="66" name="Graphique 65" descr="Personne confuse avec un remplissage uni">
              <a:extLst>
                <a:ext uri="{FF2B5EF4-FFF2-40B4-BE49-F238E27FC236}">
                  <a16:creationId xmlns:a16="http://schemas.microsoft.com/office/drawing/2014/main" id="{82ABF5C6-7A64-408F-8C7A-8278AA3DB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702585" y="5433414"/>
              <a:ext cx="602103" cy="602103"/>
            </a:xfrm>
            <a:prstGeom prst="rect">
              <a:avLst/>
            </a:prstGeom>
          </p:spPr>
        </p:pic>
        <p:pic>
          <p:nvPicPr>
            <p:cNvPr id="67" name="Graphique 66" descr="Personne confuse avec un remplissage uni">
              <a:extLst>
                <a:ext uri="{FF2B5EF4-FFF2-40B4-BE49-F238E27FC236}">
                  <a16:creationId xmlns:a16="http://schemas.microsoft.com/office/drawing/2014/main" id="{DFACD812-13D6-4556-B6AF-9D74507191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45079" y="5771099"/>
              <a:ext cx="602103" cy="602103"/>
            </a:xfrm>
            <a:prstGeom prst="rect">
              <a:avLst/>
            </a:prstGeom>
          </p:spPr>
        </p:pic>
        <p:pic>
          <p:nvPicPr>
            <p:cNvPr id="68" name="Graphique 67" descr="Personne confuse avec un remplissage uni">
              <a:extLst>
                <a:ext uri="{FF2B5EF4-FFF2-40B4-BE49-F238E27FC236}">
                  <a16:creationId xmlns:a16="http://schemas.microsoft.com/office/drawing/2014/main" id="{06630B3D-7B00-4EAD-8A0B-C499A410E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65784" y="5666635"/>
              <a:ext cx="602103" cy="602103"/>
            </a:xfrm>
            <a:prstGeom prst="rect">
              <a:avLst/>
            </a:prstGeom>
          </p:spPr>
        </p:pic>
        <p:pic>
          <p:nvPicPr>
            <p:cNvPr id="69" name="Graphique 68" descr="Personne confuse avec un remplissage uni">
              <a:extLst>
                <a:ext uri="{FF2B5EF4-FFF2-40B4-BE49-F238E27FC236}">
                  <a16:creationId xmlns:a16="http://schemas.microsoft.com/office/drawing/2014/main" id="{9C31785D-3F3A-4266-B2FD-37D158106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69112" y="4364374"/>
              <a:ext cx="602103" cy="602103"/>
            </a:xfrm>
            <a:prstGeom prst="rect">
              <a:avLst/>
            </a:prstGeom>
          </p:spPr>
        </p:pic>
        <p:pic>
          <p:nvPicPr>
            <p:cNvPr id="70" name="Graphique 69" descr="Personne confuse avec un remplissage uni">
              <a:extLst>
                <a:ext uri="{FF2B5EF4-FFF2-40B4-BE49-F238E27FC236}">
                  <a16:creationId xmlns:a16="http://schemas.microsoft.com/office/drawing/2014/main" id="{12C02708-459E-463D-A4CA-D96E98CF5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76466" y="4663883"/>
              <a:ext cx="602103" cy="602103"/>
            </a:xfrm>
            <a:prstGeom prst="rect">
              <a:avLst/>
            </a:prstGeom>
          </p:spPr>
        </p:pic>
        <p:pic>
          <p:nvPicPr>
            <p:cNvPr id="71" name="Graphique 70" descr="Personne confuse avec un remplissage uni">
              <a:extLst>
                <a:ext uri="{FF2B5EF4-FFF2-40B4-BE49-F238E27FC236}">
                  <a16:creationId xmlns:a16="http://schemas.microsoft.com/office/drawing/2014/main" id="{B9A53353-24A5-4C5A-8DCA-31636C3B9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70127" y="5674127"/>
              <a:ext cx="602102" cy="602102"/>
            </a:xfrm>
            <a:prstGeom prst="rect">
              <a:avLst/>
            </a:prstGeom>
          </p:spPr>
        </p:pic>
        <p:pic>
          <p:nvPicPr>
            <p:cNvPr id="72" name="Graphique 71" descr="Personne confuse avec un remplissage uni">
              <a:extLst>
                <a:ext uri="{FF2B5EF4-FFF2-40B4-BE49-F238E27FC236}">
                  <a16:creationId xmlns:a16="http://schemas.microsoft.com/office/drawing/2014/main" id="{C43EDDC6-B8CD-42C8-B3CF-633C4F980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88773" y="5399065"/>
              <a:ext cx="602103" cy="602103"/>
            </a:xfrm>
            <a:prstGeom prst="rect">
              <a:avLst/>
            </a:prstGeom>
          </p:spPr>
        </p:pic>
        <p:cxnSp>
          <p:nvCxnSpPr>
            <p:cNvPr id="73" name="Connecteur droit avec flèche 72">
              <a:extLst>
                <a:ext uri="{FF2B5EF4-FFF2-40B4-BE49-F238E27FC236}">
                  <a16:creationId xmlns:a16="http://schemas.microsoft.com/office/drawing/2014/main" id="{6E74F79A-4083-46F4-B3DB-908C14838CB5}"/>
                </a:ext>
              </a:extLst>
            </p:cNvPr>
            <p:cNvCxnSpPr/>
            <p:nvPr/>
          </p:nvCxnSpPr>
          <p:spPr>
            <a:xfrm>
              <a:off x="2676752" y="4952008"/>
              <a:ext cx="1752848" cy="8137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eur droit avec flèche 73">
              <a:extLst>
                <a:ext uri="{FF2B5EF4-FFF2-40B4-BE49-F238E27FC236}">
                  <a16:creationId xmlns:a16="http://schemas.microsoft.com/office/drawing/2014/main" id="{BDAEA1BA-42CC-4A9C-8516-46733F317A1A}"/>
                </a:ext>
              </a:extLst>
            </p:cNvPr>
            <p:cNvCxnSpPr>
              <a:cxnSpLocks/>
            </p:cNvCxnSpPr>
            <p:nvPr/>
          </p:nvCxnSpPr>
          <p:spPr>
            <a:xfrm>
              <a:off x="2642768" y="5243661"/>
              <a:ext cx="707057" cy="307861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eur droit avec flèche 74">
              <a:extLst>
                <a:ext uri="{FF2B5EF4-FFF2-40B4-BE49-F238E27FC236}">
                  <a16:creationId xmlns:a16="http://schemas.microsoft.com/office/drawing/2014/main" id="{D9C59A3B-3544-4428-B9E2-674DB9F543B8}"/>
                </a:ext>
              </a:extLst>
            </p:cNvPr>
            <p:cNvCxnSpPr>
              <a:cxnSpLocks/>
            </p:cNvCxnSpPr>
            <p:nvPr/>
          </p:nvCxnSpPr>
          <p:spPr>
            <a:xfrm>
              <a:off x="3678622" y="5169447"/>
              <a:ext cx="1163219" cy="586304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avec flèche 75">
              <a:extLst>
                <a:ext uri="{FF2B5EF4-FFF2-40B4-BE49-F238E27FC236}">
                  <a16:creationId xmlns:a16="http://schemas.microsoft.com/office/drawing/2014/main" id="{0A7926C5-B67A-4888-874C-1F552CB836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4508" y="5794123"/>
              <a:ext cx="341652" cy="257297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avec flèche 76">
              <a:extLst>
                <a:ext uri="{FF2B5EF4-FFF2-40B4-BE49-F238E27FC236}">
                  <a16:creationId xmlns:a16="http://schemas.microsoft.com/office/drawing/2014/main" id="{3F7992BB-F5EE-4EF1-8B5E-11D621F801C6}"/>
                </a:ext>
              </a:extLst>
            </p:cNvPr>
            <p:cNvCxnSpPr>
              <a:cxnSpLocks/>
            </p:cNvCxnSpPr>
            <p:nvPr/>
          </p:nvCxnSpPr>
          <p:spPr>
            <a:xfrm>
              <a:off x="4214772" y="5808627"/>
              <a:ext cx="205146" cy="79241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eur droit avec flèche 77">
              <a:extLst>
                <a:ext uri="{FF2B5EF4-FFF2-40B4-BE49-F238E27FC236}">
                  <a16:creationId xmlns:a16="http://schemas.microsoft.com/office/drawing/2014/main" id="{5A95F347-3578-4749-9058-BEB7BC58C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9126" y="5439429"/>
              <a:ext cx="136371" cy="251762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eur droit avec flèche 78">
              <a:extLst>
                <a:ext uri="{FF2B5EF4-FFF2-40B4-BE49-F238E27FC236}">
                  <a16:creationId xmlns:a16="http://schemas.microsoft.com/office/drawing/2014/main" id="{361E907B-64A9-468A-9199-555521953F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53964" y="5189763"/>
              <a:ext cx="272889" cy="394818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eur droit avec flèche 79">
              <a:extLst>
                <a:ext uri="{FF2B5EF4-FFF2-40B4-BE49-F238E27FC236}">
                  <a16:creationId xmlns:a16="http://schemas.microsoft.com/office/drawing/2014/main" id="{0FE67198-D7D4-4C22-B592-486A2E632017}"/>
                </a:ext>
              </a:extLst>
            </p:cNvPr>
            <p:cNvCxnSpPr>
              <a:cxnSpLocks/>
            </p:cNvCxnSpPr>
            <p:nvPr/>
          </p:nvCxnSpPr>
          <p:spPr>
            <a:xfrm>
              <a:off x="3756574" y="5072030"/>
              <a:ext cx="111147" cy="368744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eur droit avec flèche 80">
              <a:extLst>
                <a:ext uri="{FF2B5EF4-FFF2-40B4-BE49-F238E27FC236}">
                  <a16:creationId xmlns:a16="http://schemas.microsoft.com/office/drawing/2014/main" id="{13E5E937-9C64-4864-97F5-A94DE7C1C156}"/>
                </a:ext>
              </a:extLst>
            </p:cNvPr>
            <p:cNvCxnSpPr>
              <a:cxnSpLocks/>
            </p:cNvCxnSpPr>
            <p:nvPr/>
          </p:nvCxnSpPr>
          <p:spPr>
            <a:xfrm>
              <a:off x="2560416" y="5383490"/>
              <a:ext cx="111147" cy="368744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eur droit avec flèche 81">
              <a:extLst>
                <a:ext uri="{FF2B5EF4-FFF2-40B4-BE49-F238E27FC236}">
                  <a16:creationId xmlns:a16="http://schemas.microsoft.com/office/drawing/2014/main" id="{AF7D5D74-BC44-43FF-ABE7-E969FD2E4BB4}"/>
                </a:ext>
              </a:extLst>
            </p:cNvPr>
            <p:cNvCxnSpPr>
              <a:cxnSpLocks/>
              <a:endCxn id="71" idx="0"/>
            </p:cNvCxnSpPr>
            <p:nvPr/>
          </p:nvCxnSpPr>
          <p:spPr>
            <a:xfrm flipH="1">
              <a:off x="3171180" y="5338456"/>
              <a:ext cx="136706" cy="335669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e 82">
            <a:extLst>
              <a:ext uri="{FF2B5EF4-FFF2-40B4-BE49-F238E27FC236}">
                <a16:creationId xmlns:a16="http://schemas.microsoft.com/office/drawing/2014/main" id="{AFB99306-0142-4F92-98DD-FEB9BCCD5D4B}"/>
              </a:ext>
            </a:extLst>
          </p:cNvPr>
          <p:cNvGrpSpPr/>
          <p:nvPr/>
        </p:nvGrpSpPr>
        <p:grpSpPr>
          <a:xfrm>
            <a:off x="7347531" y="4748427"/>
            <a:ext cx="1883620" cy="1060194"/>
            <a:chOff x="2111331" y="4364374"/>
            <a:chExt cx="3569034" cy="2008828"/>
          </a:xfrm>
        </p:grpSpPr>
        <p:pic>
          <p:nvPicPr>
            <p:cNvPr id="84" name="Graphique 83" descr="Personne confuse avec un remplissage uni">
              <a:extLst>
                <a:ext uri="{FF2B5EF4-FFF2-40B4-BE49-F238E27FC236}">
                  <a16:creationId xmlns:a16="http://schemas.microsoft.com/office/drawing/2014/main" id="{E9A49C4B-03FE-4715-96B6-946AD3ADD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03977" y="4509340"/>
              <a:ext cx="602103" cy="602103"/>
            </a:xfrm>
            <a:prstGeom prst="rect">
              <a:avLst/>
            </a:prstGeom>
          </p:spPr>
        </p:pic>
        <p:pic>
          <p:nvPicPr>
            <p:cNvPr id="85" name="Graphique 84" descr="Personne confuse avec un remplissage uni">
              <a:extLst>
                <a:ext uri="{FF2B5EF4-FFF2-40B4-BE49-F238E27FC236}">
                  <a16:creationId xmlns:a16="http://schemas.microsoft.com/office/drawing/2014/main" id="{54D11702-1C00-43FA-8098-9E0EE646B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11331" y="4808849"/>
              <a:ext cx="602103" cy="602103"/>
            </a:xfrm>
            <a:prstGeom prst="rect">
              <a:avLst/>
            </a:prstGeom>
          </p:spPr>
        </p:pic>
        <p:pic>
          <p:nvPicPr>
            <p:cNvPr id="86" name="Graphique 85" descr="Personne confuse avec un remplissage uni">
              <a:extLst>
                <a:ext uri="{FF2B5EF4-FFF2-40B4-BE49-F238E27FC236}">
                  <a16:creationId xmlns:a16="http://schemas.microsoft.com/office/drawing/2014/main" id="{DE92AD52-274C-46C7-840C-14BA074A5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77211" y="4418681"/>
              <a:ext cx="602103" cy="602103"/>
            </a:xfrm>
            <a:prstGeom prst="rect">
              <a:avLst/>
            </a:prstGeom>
          </p:spPr>
        </p:pic>
        <p:pic>
          <p:nvPicPr>
            <p:cNvPr id="87" name="Graphique 86" descr="Personne confuse avec un remplissage uni">
              <a:extLst>
                <a:ext uri="{FF2B5EF4-FFF2-40B4-BE49-F238E27FC236}">
                  <a16:creationId xmlns:a16="http://schemas.microsoft.com/office/drawing/2014/main" id="{90371A8C-79ED-4CE9-A4AA-1AF0B5A63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078262" y="4507797"/>
              <a:ext cx="602103" cy="602103"/>
            </a:xfrm>
            <a:prstGeom prst="rect">
              <a:avLst/>
            </a:prstGeom>
          </p:spPr>
        </p:pic>
        <p:pic>
          <p:nvPicPr>
            <p:cNvPr id="88" name="Graphique 87" descr="Personne confuse avec un remplissage uni">
              <a:extLst>
                <a:ext uri="{FF2B5EF4-FFF2-40B4-BE49-F238E27FC236}">
                  <a16:creationId xmlns:a16="http://schemas.microsoft.com/office/drawing/2014/main" id="{29717EBD-CDEE-4967-BBD8-A99F7CEEC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885616" y="4807306"/>
              <a:ext cx="602103" cy="602103"/>
            </a:xfrm>
            <a:prstGeom prst="rect">
              <a:avLst/>
            </a:prstGeom>
          </p:spPr>
        </p:pic>
        <p:pic>
          <p:nvPicPr>
            <p:cNvPr id="89" name="Graphique 88" descr="Personne confuse avec un remplissage uni">
              <a:extLst>
                <a:ext uri="{FF2B5EF4-FFF2-40B4-BE49-F238E27FC236}">
                  <a16:creationId xmlns:a16="http://schemas.microsoft.com/office/drawing/2014/main" id="{52BD9E1A-4CA2-45CA-A1DE-9087374A75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06547" y="4569978"/>
              <a:ext cx="602103" cy="602103"/>
            </a:xfrm>
            <a:prstGeom prst="rect">
              <a:avLst/>
            </a:prstGeom>
          </p:spPr>
        </p:pic>
        <p:pic>
          <p:nvPicPr>
            <p:cNvPr id="90" name="Graphique 89" descr="Personne confuse avec un remplissage uni">
              <a:extLst>
                <a:ext uri="{FF2B5EF4-FFF2-40B4-BE49-F238E27FC236}">
                  <a16:creationId xmlns:a16="http://schemas.microsoft.com/office/drawing/2014/main" id="{BF017EE6-DAC8-4AC1-B795-B9291E2B3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07598" y="4659094"/>
              <a:ext cx="602103" cy="602103"/>
            </a:xfrm>
            <a:prstGeom prst="rect">
              <a:avLst/>
            </a:prstGeom>
          </p:spPr>
        </p:pic>
        <p:pic>
          <p:nvPicPr>
            <p:cNvPr id="91" name="Graphique 90" descr="Personne confuse avec un remplissage uni">
              <a:extLst>
                <a:ext uri="{FF2B5EF4-FFF2-40B4-BE49-F238E27FC236}">
                  <a16:creationId xmlns:a16="http://schemas.microsoft.com/office/drawing/2014/main" id="{92D96696-46FF-4F8C-B837-EA8EED1F5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54257" y="4922452"/>
              <a:ext cx="602103" cy="602103"/>
            </a:xfrm>
            <a:prstGeom prst="rect">
              <a:avLst/>
            </a:prstGeom>
          </p:spPr>
        </p:pic>
        <p:pic>
          <p:nvPicPr>
            <p:cNvPr id="92" name="Graphique 91" descr="Personne confuse avec un remplissage uni">
              <a:extLst>
                <a:ext uri="{FF2B5EF4-FFF2-40B4-BE49-F238E27FC236}">
                  <a16:creationId xmlns:a16="http://schemas.microsoft.com/office/drawing/2014/main" id="{75BA4F4F-2F2A-4133-B218-E2B5D014C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487272" y="5666635"/>
              <a:ext cx="602103" cy="602103"/>
            </a:xfrm>
            <a:prstGeom prst="rect">
              <a:avLst/>
            </a:prstGeom>
          </p:spPr>
        </p:pic>
        <p:pic>
          <p:nvPicPr>
            <p:cNvPr id="93" name="Graphique 92" descr="Personne confuse avec un remplissage uni">
              <a:extLst>
                <a:ext uri="{FF2B5EF4-FFF2-40B4-BE49-F238E27FC236}">
                  <a16:creationId xmlns:a16="http://schemas.microsoft.com/office/drawing/2014/main" id="{98660D6A-4B7F-4E74-BAC7-669A2229BF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702585" y="5433414"/>
              <a:ext cx="602103" cy="602103"/>
            </a:xfrm>
            <a:prstGeom prst="rect">
              <a:avLst/>
            </a:prstGeom>
          </p:spPr>
        </p:pic>
        <p:pic>
          <p:nvPicPr>
            <p:cNvPr id="94" name="Graphique 93" descr="Personne confuse avec un remplissage uni">
              <a:extLst>
                <a:ext uri="{FF2B5EF4-FFF2-40B4-BE49-F238E27FC236}">
                  <a16:creationId xmlns:a16="http://schemas.microsoft.com/office/drawing/2014/main" id="{6E7659B3-2116-4552-B507-CDB4C58EE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45079" y="5771099"/>
              <a:ext cx="602103" cy="602103"/>
            </a:xfrm>
            <a:prstGeom prst="rect">
              <a:avLst/>
            </a:prstGeom>
          </p:spPr>
        </p:pic>
        <p:pic>
          <p:nvPicPr>
            <p:cNvPr id="95" name="Graphique 94" descr="Personne confuse avec un remplissage uni">
              <a:extLst>
                <a:ext uri="{FF2B5EF4-FFF2-40B4-BE49-F238E27FC236}">
                  <a16:creationId xmlns:a16="http://schemas.microsoft.com/office/drawing/2014/main" id="{5332009C-A772-46C5-A303-D514F7E4E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65784" y="5666635"/>
              <a:ext cx="602103" cy="602103"/>
            </a:xfrm>
            <a:prstGeom prst="rect">
              <a:avLst/>
            </a:prstGeom>
          </p:spPr>
        </p:pic>
        <p:pic>
          <p:nvPicPr>
            <p:cNvPr id="96" name="Graphique 95" descr="Personne confuse avec un remplissage uni">
              <a:extLst>
                <a:ext uri="{FF2B5EF4-FFF2-40B4-BE49-F238E27FC236}">
                  <a16:creationId xmlns:a16="http://schemas.microsoft.com/office/drawing/2014/main" id="{0D4D17B5-065E-46E4-9EA9-B300F8F389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69112" y="4364374"/>
              <a:ext cx="602103" cy="602103"/>
            </a:xfrm>
            <a:prstGeom prst="rect">
              <a:avLst/>
            </a:prstGeom>
          </p:spPr>
        </p:pic>
        <p:pic>
          <p:nvPicPr>
            <p:cNvPr id="97" name="Graphique 96" descr="Personne confuse avec un remplissage uni">
              <a:extLst>
                <a:ext uri="{FF2B5EF4-FFF2-40B4-BE49-F238E27FC236}">
                  <a16:creationId xmlns:a16="http://schemas.microsoft.com/office/drawing/2014/main" id="{76836675-C5C3-48DA-8171-9068817AB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76466" y="4663883"/>
              <a:ext cx="602103" cy="602103"/>
            </a:xfrm>
            <a:prstGeom prst="rect">
              <a:avLst/>
            </a:prstGeom>
          </p:spPr>
        </p:pic>
        <p:pic>
          <p:nvPicPr>
            <p:cNvPr id="98" name="Graphique 97" descr="Personne confuse avec un remplissage uni">
              <a:extLst>
                <a:ext uri="{FF2B5EF4-FFF2-40B4-BE49-F238E27FC236}">
                  <a16:creationId xmlns:a16="http://schemas.microsoft.com/office/drawing/2014/main" id="{58EE7BB3-7FE6-473D-847A-FF8C247DD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70127" y="5674127"/>
              <a:ext cx="602102" cy="602102"/>
            </a:xfrm>
            <a:prstGeom prst="rect">
              <a:avLst/>
            </a:prstGeom>
          </p:spPr>
        </p:pic>
        <p:pic>
          <p:nvPicPr>
            <p:cNvPr id="99" name="Graphique 98" descr="Personne confuse avec un remplissage uni">
              <a:extLst>
                <a:ext uri="{FF2B5EF4-FFF2-40B4-BE49-F238E27FC236}">
                  <a16:creationId xmlns:a16="http://schemas.microsoft.com/office/drawing/2014/main" id="{EA1FC526-EEC0-413A-A524-26346F8AF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88773" y="5399065"/>
              <a:ext cx="602103" cy="602103"/>
            </a:xfrm>
            <a:prstGeom prst="rect">
              <a:avLst/>
            </a:prstGeom>
          </p:spPr>
        </p:pic>
        <p:cxnSp>
          <p:nvCxnSpPr>
            <p:cNvPr id="100" name="Connecteur droit avec flèche 99">
              <a:extLst>
                <a:ext uri="{FF2B5EF4-FFF2-40B4-BE49-F238E27FC236}">
                  <a16:creationId xmlns:a16="http://schemas.microsoft.com/office/drawing/2014/main" id="{AFE01176-C203-4032-BE90-550DE5A76C0F}"/>
                </a:ext>
              </a:extLst>
            </p:cNvPr>
            <p:cNvCxnSpPr/>
            <p:nvPr/>
          </p:nvCxnSpPr>
          <p:spPr>
            <a:xfrm>
              <a:off x="2676752" y="4952008"/>
              <a:ext cx="1752848" cy="8137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eur droit avec flèche 100">
              <a:extLst>
                <a:ext uri="{FF2B5EF4-FFF2-40B4-BE49-F238E27FC236}">
                  <a16:creationId xmlns:a16="http://schemas.microsoft.com/office/drawing/2014/main" id="{74AF033F-F666-4917-8C6B-2E82398E9D8D}"/>
                </a:ext>
              </a:extLst>
            </p:cNvPr>
            <p:cNvCxnSpPr>
              <a:cxnSpLocks/>
            </p:cNvCxnSpPr>
            <p:nvPr/>
          </p:nvCxnSpPr>
          <p:spPr>
            <a:xfrm>
              <a:off x="2642768" y="5243661"/>
              <a:ext cx="707057" cy="307861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cteur droit avec flèche 101">
              <a:extLst>
                <a:ext uri="{FF2B5EF4-FFF2-40B4-BE49-F238E27FC236}">
                  <a16:creationId xmlns:a16="http://schemas.microsoft.com/office/drawing/2014/main" id="{9D40BBDA-0C55-468D-9AE8-F03B7196B5F4}"/>
                </a:ext>
              </a:extLst>
            </p:cNvPr>
            <p:cNvCxnSpPr>
              <a:cxnSpLocks/>
            </p:cNvCxnSpPr>
            <p:nvPr/>
          </p:nvCxnSpPr>
          <p:spPr>
            <a:xfrm>
              <a:off x="3678622" y="5169447"/>
              <a:ext cx="1163219" cy="586304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cteur droit avec flèche 102">
              <a:extLst>
                <a:ext uri="{FF2B5EF4-FFF2-40B4-BE49-F238E27FC236}">
                  <a16:creationId xmlns:a16="http://schemas.microsoft.com/office/drawing/2014/main" id="{08239195-BA85-47CE-8642-FB0B44F6C7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4508" y="5794123"/>
              <a:ext cx="341652" cy="257297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eur droit avec flèche 103">
              <a:extLst>
                <a:ext uri="{FF2B5EF4-FFF2-40B4-BE49-F238E27FC236}">
                  <a16:creationId xmlns:a16="http://schemas.microsoft.com/office/drawing/2014/main" id="{64B8BA0F-D729-45D5-A59C-F36EABCEB503}"/>
                </a:ext>
              </a:extLst>
            </p:cNvPr>
            <p:cNvCxnSpPr>
              <a:cxnSpLocks/>
            </p:cNvCxnSpPr>
            <p:nvPr/>
          </p:nvCxnSpPr>
          <p:spPr>
            <a:xfrm>
              <a:off x="4214772" y="5808627"/>
              <a:ext cx="205146" cy="79241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eur droit avec flèche 104">
              <a:extLst>
                <a:ext uri="{FF2B5EF4-FFF2-40B4-BE49-F238E27FC236}">
                  <a16:creationId xmlns:a16="http://schemas.microsoft.com/office/drawing/2014/main" id="{714325CC-01FB-40D1-AA38-97AA553D69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9126" y="5439429"/>
              <a:ext cx="136371" cy="251762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eur droit avec flèche 105">
              <a:extLst>
                <a:ext uri="{FF2B5EF4-FFF2-40B4-BE49-F238E27FC236}">
                  <a16:creationId xmlns:a16="http://schemas.microsoft.com/office/drawing/2014/main" id="{E192F929-B762-4125-BC8D-DEBFCF4E58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53964" y="5189763"/>
              <a:ext cx="272889" cy="394818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cteur droit avec flèche 106">
              <a:extLst>
                <a:ext uri="{FF2B5EF4-FFF2-40B4-BE49-F238E27FC236}">
                  <a16:creationId xmlns:a16="http://schemas.microsoft.com/office/drawing/2014/main" id="{36C8EE99-14AC-439C-9AD8-917675A1BA15}"/>
                </a:ext>
              </a:extLst>
            </p:cNvPr>
            <p:cNvCxnSpPr>
              <a:cxnSpLocks/>
            </p:cNvCxnSpPr>
            <p:nvPr/>
          </p:nvCxnSpPr>
          <p:spPr>
            <a:xfrm>
              <a:off x="3756574" y="5072030"/>
              <a:ext cx="111147" cy="368744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eur droit avec flèche 107">
              <a:extLst>
                <a:ext uri="{FF2B5EF4-FFF2-40B4-BE49-F238E27FC236}">
                  <a16:creationId xmlns:a16="http://schemas.microsoft.com/office/drawing/2014/main" id="{9DE04383-90D8-4268-9AEC-6C304034D8A6}"/>
                </a:ext>
              </a:extLst>
            </p:cNvPr>
            <p:cNvCxnSpPr>
              <a:cxnSpLocks/>
            </p:cNvCxnSpPr>
            <p:nvPr/>
          </p:nvCxnSpPr>
          <p:spPr>
            <a:xfrm>
              <a:off x="2560416" y="5383490"/>
              <a:ext cx="111147" cy="368744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avec flèche 108">
              <a:extLst>
                <a:ext uri="{FF2B5EF4-FFF2-40B4-BE49-F238E27FC236}">
                  <a16:creationId xmlns:a16="http://schemas.microsoft.com/office/drawing/2014/main" id="{2CDD02B3-CBA9-44CC-B55B-D0DA7BA72A51}"/>
                </a:ext>
              </a:extLst>
            </p:cNvPr>
            <p:cNvCxnSpPr>
              <a:cxnSpLocks/>
              <a:endCxn id="98" idx="0"/>
            </p:cNvCxnSpPr>
            <p:nvPr/>
          </p:nvCxnSpPr>
          <p:spPr>
            <a:xfrm flipH="1">
              <a:off x="3171180" y="5338456"/>
              <a:ext cx="136706" cy="335669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Groupe 109">
            <a:extLst>
              <a:ext uri="{FF2B5EF4-FFF2-40B4-BE49-F238E27FC236}">
                <a16:creationId xmlns:a16="http://schemas.microsoft.com/office/drawing/2014/main" id="{9E2B057C-7F89-4C5C-A95C-15DCDB48EE44}"/>
              </a:ext>
            </a:extLst>
          </p:cNvPr>
          <p:cNvGrpSpPr/>
          <p:nvPr/>
        </p:nvGrpSpPr>
        <p:grpSpPr>
          <a:xfrm>
            <a:off x="9699618" y="4775805"/>
            <a:ext cx="1883620" cy="1060194"/>
            <a:chOff x="2111331" y="4364374"/>
            <a:chExt cx="3569034" cy="2008828"/>
          </a:xfrm>
        </p:grpSpPr>
        <p:pic>
          <p:nvPicPr>
            <p:cNvPr id="111" name="Graphique 110" descr="Personne confuse avec un remplissage uni">
              <a:extLst>
                <a:ext uri="{FF2B5EF4-FFF2-40B4-BE49-F238E27FC236}">
                  <a16:creationId xmlns:a16="http://schemas.microsoft.com/office/drawing/2014/main" id="{CED263A0-3878-4977-90B2-12873513B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03977" y="4509340"/>
              <a:ext cx="602103" cy="602103"/>
            </a:xfrm>
            <a:prstGeom prst="rect">
              <a:avLst/>
            </a:prstGeom>
          </p:spPr>
        </p:pic>
        <p:pic>
          <p:nvPicPr>
            <p:cNvPr id="112" name="Graphique 111" descr="Personne confuse avec un remplissage uni">
              <a:extLst>
                <a:ext uri="{FF2B5EF4-FFF2-40B4-BE49-F238E27FC236}">
                  <a16:creationId xmlns:a16="http://schemas.microsoft.com/office/drawing/2014/main" id="{DA64A6C6-14E4-47D7-BB6F-FA362512D5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11331" y="4808849"/>
              <a:ext cx="602103" cy="602103"/>
            </a:xfrm>
            <a:prstGeom prst="rect">
              <a:avLst/>
            </a:prstGeom>
          </p:spPr>
        </p:pic>
        <p:pic>
          <p:nvPicPr>
            <p:cNvPr id="113" name="Graphique 112" descr="Personne confuse avec un remplissage uni">
              <a:extLst>
                <a:ext uri="{FF2B5EF4-FFF2-40B4-BE49-F238E27FC236}">
                  <a16:creationId xmlns:a16="http://schemas.microsoft.com/office/drawing/2014/main" id="{FBDA1BFF-F8AE-4AE7-90B7-D3689F046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77211" y="4418681"/>
              <a:ext cx="602103" cy="602103"/>
            </a:xfrm>
            <a:prstGeom prst="rect">
              <a:avLst/>
            </a:prstGeom>
          </p:spPr>
        </p:pic>
        <p:pic>
          <p:nvPicPr>
            <p:cNvPr id="114" name="Graphique 113" descr="Personne confuse avec un remplissage uni">
              <a:extLst>
                <a:ext uri="{FF2B5EF4-FFF2-40B4-BE49-F238E27FC236}">
                  <a16:creationId xmlns:a16="http://schemas.microsoft.com/office/drawing/2014/main" id="{613D0644-D0BA-4CE7-9873-EBEDF0043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078262" y="4507797"/>
              <a:ext cx="602103" cy="602103"/>
            </a:xfrm>
            <a:prstGeom prst="rect">
              <a:avLst/>
            </a:prstGeom>
          </p:spPr>
        </p:pic>
        <p:pic>
          <p:nvPicPr>
            <p:cNvPr id="115" name="Graphique 114" descr="Personne confuse avec un remplissage uni">
              <a:extLst>
                <a:ext uri="{FF2B5EF4-FFF2-40B4-BE49-F238E27FC236}">
                  <a16:creationId xmlns:a16="http://schemas.microsoft.com/office/drawing/2014/main" id="{37A5B61F-4E8C-489C-BF5C-0949ED022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885616" y="4807306"/>
              <a:ext cx="602103" cy="602103"/>
            </a:xfrm>
            <a:prstGeom prst="rect">
              <a:avLst/>
            </a:prstGeom>
          </p:spPr>
        </p:pic>
        <p:pic>
          <p:nvPicPr>
            <p:cNvPr id="116" name="Graphique 115" descr="Personne confuse avec un remplissage uni">
              <a:extLst>
                <a:ext uri="{FF2B5EF4-FFF2-40B4-BE49-F238E27FC236}">
                  <a16:creationId xmlns:a16="http://schemas.microsoft.com/office/drawing/2014/main" id="{7A25A986-C80A-4800-A61C-E7D248EAB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06547" y="4569978"/>
              <a:ext cx="602103" cy="602103"/>
            </a:xfrm>
            <a:prstGeom prst="rect">
              <a:avLst/>
            </a:prstGeom>
          </p:spPr>
        </p:pic>
        <p:pic>
          <p:nvPicPr>
            <p:cNvPr id="117" name="Graphique 116" descr="Personne confuse avec un remplissage uni">
              <a:extLst>
                <a:ext uri="{FF2B5EF4-FFF2-40B4-BE49-F238E27FC236}">
                  <a16:creationId xmlns:a16="http://schemas.microsoft.com/office/drawing/2014/main" id="{1F3D41BB-2EDC-486C-9294-DCB1B2AAC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07598" y="4659094"/>
              <a:ext cx="602103" cy="602103"/>
            </a:xfrm>
            <a:prstGeom prst="rect">
              <a:avLst/>
            </a:prstGeom>
          </p:spPr>
        </p:pic>
        <p:pic>
          <p:nvPicPr>
            <p:cNvPr id="118" name="Graphique 117" descr="Personne confuse avec un remplissage uni">
              <a:extLst>
                <a:ext uri="{FF2B5EF4-FFF2-40B4-BE49-F238E27FC236}">
                  <a16:creationId xmlns:a16="http://schemas.microsoft.com/office/drawing/2014/main" id="{CC32A777-95CF-4E46-9C74-AAFD34524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54257" y="4922452"/>
              <a:ext cx="602103" cy="602103"/>
            </a:xfrm>
            <a:prstGeom prst="rect">
              <a:avLst/>
            </a:prstGeom>
          </p:spPr>
        </p:pic>
        <p:pic>
          <p:nvPicPr>
            <p:cNvPr id="119" name="Graphique 118" descr="Personne confuse avec un remplissage uni">
              <a:extLst>
                <a:ext uri="{FF2B5EF4-FFF2-40B4-BE49-F238E27FC236}">
                  <a16:creationId xmlns:a16="http://schemas.microsoft.com/office/drawing/2014/main" id="{16CF7B04-2F18-4C13-AC51-49AA2519E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487272" y="5666635"/>
              <a:ext cx="602103" cy="602103"/>
            </a:xfrm>
            <a:prstGeom prst="rect">
              <a:avLst/>
            </a:prstGeom>
          </p:spPr>
        </p:pic>
        <p:pic>
          <p:nvPicPr>
            <p:cNvPr id="120" name="Graphique 119" descr="Personne confuse avec un remplissage uni">
              <a:extLst>
                <a:ext uri="{FF2B5EF4-FFF2-40B4-BE49-F238E27FC236}">
                  <a16:creationId xmlns:a16="http://schemas.microsoft.com/office/drawing/2014/main" id="{D9D367F9-6D9E-4619-AF41-1D8ADA1F3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702585" y="5433414"/>
              <a:ext cx="602103" cy="602103"/>
            </a:xfrm>
            <a:prstGeom prst="rect">
              <a:avLst/>
            </a:prstGeom>
          </p:spPr>
        </p:pic>
        <p:pic>
          <p:nvPicPr>
            <p:cNvPr id="121" name="Graphique 120" descr="Personne confuse avec un remplissage uni">
              <a:extLst>
                <a:ext uri="{FF2B5EF4-FFF2-40B4-BE49-F238E27FC236}">
                  <a16:creationId xmlns:a16="http://schemas.microsoft.com/office/drawing/2014/main" id="{31B31630-8AB8-495E-81E1-225064B63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45079" y="5771099"/>
              <a:ext cx="602103" cy="602103"/>
            </a:xfrm>
            <a:prstGeom prst="rect">
              <a:avLst/>
            </a:prstGeom>
          </p:spPr>
        </p:pic>
        <p:pic>
          <p:nvPicPr>
            <p:cNvPr id="122" name="Graphique 121" descr="Personne confuse avec un remplissage uni">
              <a:extLst>
                <a:ext uri="{FF2B5EF4-FFF2-40B4-BE49-F238E27FC236}">
                  <a16:creationId xmlns:a16="http://schemas.microsoft.com/office/drawing/2014/main" id="{3EF6144F-8BD0-4F81-8523-78093DFF4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65784" y="5666635"/>
              <a:ext cx="602103" cy="602103"/>
            </a:xfrm>
            <a:prstGeom prst="rect">
              <a:avLst/>
            </a:prstGeom>
          </p:spPr>
        </p:pic>
        <p:pic>
          <p:nvPicPr>
            <p:cNvPr id="123" name="Graphique 122" descr="Personne confuse avec un remplissage uni">
              <a:extLst>
                <a:ext uri="{FF2B5EF4-FFF2-40B4-BE49-F238E27FC236}">
                  <a16:creationId xmlns:a16="http://schemas.microsoft.com/office/drawing/2014/main" id="{D513E750-D9AD-461C-81DC-EEDA28F2E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69112" y="4364374"/>
              <a:ext cx="602103" cy="602103"/>
            </a:xfrm>
            <a:prstGeom prst="rect">
              <a:avLst/>
            </a:prstGeom>
          </p:spPr>
        </p:pic>
        <p:pic>
          <p:nvPicPr>
            <p:cNvPr id="124" name="Graphique 123" descr="Personne confuse avec un remplissage uni">
              <a:extLst>
                <a:ext uri="{FF2B5EF4-FFF2-40B4-BE49-F238E27FC236}">
                  <a16:creationId xmlns:a16="http://schemas.microsoft.com/office/drawing/2014/main" id="{0E25D3A5-600A-44F5-A25B-47AD8B804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76466" y="4663883"/>
              <a:ext cx="602103" cy="602103"/>
            </a:xfrm>
            <a:prstGeom prst="rect">
              <a:avLst/>
            </a:prstGeom>
          </p:spPr>
        </p:pic>
        <p:pic>
          <p:nvPicPr>
            <p:cNvPr id="125" name="Graphique 124" descr="Personne confuse avec un remplissage uni">
              <a:extLst>
                <a:ext uri="{FF2B5EF4-FFF2-40B4-BE49-F238E27FC236}">
                  <a16:creationId xmlns:a16="http://schemas.microsoft.com/office/drawing/2014/main" id="{06EFD3B3-5ECD-4EB9-938F-460586AEA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70127" y="5674127"/>
              <a:ext cx="602102" cy="602102"/>
            </a:xfrm>
            <a:prstGeom prst="rect">
              <a:avLst/>
            </a:prstGeom>
          </p:spPr>
        </p:pic>
        <p:pic>
          <p:nvPicPr>
            <p:cNvPr id="126" name="Graphique 125" descr="Personne confuse avec un remplissage uni">
              <a:extLst>
                <a:ext uri="{FF2B5EF4-FFF2-40B4-BE49-F238E27FC236}">
                  <a16:creationId xmlns:a16="http://schemas.microsoft.com/office/drawing/2014/main" id="{F75E56F0-44CD-4412-8E3A-438D70C87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88773" y="5399065"/>
              <a:ext cx="602103" cy="602103"/>
            </a:xfrm>
            <a:prstGeom prst="rect">
              <a:avLst/>
            </a:prstGeom>
          </p:spPr>
        </p:pic>
        <p:cxnSp>
          <p:nvCxnSpPr>
            <p:cNvPr id="127" name="Connecteur droit avec flèche 126">
              <a:extLst>
                <a:ext uri="{FF2B5EF4-FFF2-40B4-BE49-F238E27FC236}">
                  <a16:creationId xmlns:a16="http://schemas.microsoft.com/office/drawing/2014/main" id="{6DE32385-4482-4C10-AEB7-E633D90E501D}"/>
                </a:ext>
              </a:extLst>
            </p:cNvPr>
            <p:cNvCxnSpPr/>
            <p:nvPr/>
          </p:nvCxnSpPr>
          <p:spPr>
            <a:xfrm>
              <a:off x="2676752" y="4952008"/>
              <a:ext cx="1752848" cy="8137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cteur droit avec flèche 127">
              <a:extLst>
                <a:ext uri="{FF2B5EF4-FFF2-40B4-BE49-F238E27FC236}">
                  <a16:creationId xmlns:a16="http://schemas.microsoft.com/office/drawing/2014/main" id="{A97AE646-5076-4D51-866E-03B281412DEA}"/>
                </a:ext>
              </a:extLst>
            </p:cNvPr>
            <p:cNvCxnSpPr>
              <a:cxnSpLocks/>
            </p:cNvCxnSpPr>
            <p:nvPr/>
          </p:nvCxnSpPr>
          <p:spPr>
            <a:xfrm>
              <a:off x="2642768" y="5243661"/>
              <a:ext cx="707057" cy="307861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necteur droit avec flèche 128">
              <a:extLst>
                <a:ext uri="{FF2B5EF4-FFF2-40B4-BE49-F238E27FC236}">
                  <a16:creationId xmlns:a16="http://schemas.microsoft.com/office/drawing/2014/main" id="{17096A28-5FCA-4C65-AA23-40D257FAA9C5}"/>
                </a:ext>
              </a:extLst>
            </p:cNvPr>
            <p:cNvCxnSpPr>
              <a:cxnSpLocks/>
            </p:cNvCxnSpPr>
            <p:nvPr/>
          </p:nvCxnSpPr>
          <p:spPr>
            <a:xfrm>
              <a:off x="3678622" y="5169447"/>
              <a:ext cx="1163219" cy="586304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necteur droit avec flèche 129">
              <a:extLst>
                <a:ext uri="{FF2B5EF4-FFF2-40B4-BE49-F238E27FC236}">
                  <a16:creationId xmlns:a16="http://schemas.microsoft.com/office/drawing/2014/main" id="{A8330E28-D367-4BAE-8E0D-2857A11F00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4508" y="5794123"/>
              <a:ext cx="341652" cy="257297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avec flèche 130">
              <a:extLst>
                <a:ext uri="{FF2B5EF4-FFF2-40B4-BE49-F238E27FC236}">
                  <a16:creationId xmlns:a16="http://schemas.microsoft.com/office/drawing/2014/main" id="{0999AD4C-F4D3-4748-BADB-DA3D2F053BEF}"/>
                </a:ext>
              </a:extLst>
            </p:cNvPr>
            <p:cNvCxnSpPr>
              <a:cxnSpLocks/>
            </p:cNvCxnSpPr>
            <p:nvPr/>
          </p:nvCxnSpPr>
          <p:spPr>
            <a:xfrm>
              <a:off x="4214772" y="5808627"/>
              <a:ext cx="205146" cy="79241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necteur droit avec flèche 131">
              <a:extLst>
                <a:ext uri="{FF2B5EF4-FFF2-40B4-BE49-F238E27FC236}">
                  <a16:creationId xmlns:a16="http://schemas.microsoft.com/office/drawing/2014/main" id="{5DCE98F0-B1D1-4C85-819D-DE66F56864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9126" y="5439429"/>
              <a:ext cx="136371" cy="251762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necteur droit avec flèche 132">
              <a:extLst>
                <a:ext uri="{FF2B5EF4-FFF2-40B4-BE49-F238E27FC236}">
                  <a16:creationId xmlns:a16="http://schemas.microsoft.com/office/drawing/2014/main" id="{8ED9EC89-5911-4259-AF42-45DBD90A0B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53964" y="5189763"/>
              <a:ext cx="272889" cy="394818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cteur droit avec flèche 133">
              <a:extLst>
                <a:ext uri="{FF2B5EF4-FFF2-40B4-BE49-F238E27FC236}">
                  <a16:creationId xmlns:a16="http://schemas.microsoft.com/office/drawing/2014/main" id="{1B650FC1-E927-434E-B643-C16EAAB4219E}"/>
                </a:ext>
              </a:extLst>
            </p:cNvPr>
            <p:cNvCxnSpPr>
              <a:cxnSpLocks/>
            </p:cNvCxnSpPr>
            <p:nvPr/>
          </p:nvCxnSpPr>
          <p:spPr>
            <a:xfrm>
              <a:off x="3756574" y="5072030"/>
              <a:ext cx="111147" cy="368744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cteur droit avec flèche 134">
              <a:extLst>
                <a:ext uri="{FF2B5EF4-FFF2-40B4-BE49-F238E27FC236}">
                  <a16:creationId xmlns:a16="http://schemas.microsoft.com/office/drawing/2014/main" id="{A97D4A7B-42B4-455B-B1D1-AC14F44E5211}"/>
                </a:ext>
              </a:extLst>
            </p:cNvPr>
            <p:cNvCxnSpPr>
              <a:cxnSpLocks/>
            </p:cNvCxnSpPr>
            <p:nvPr/>
          </p:nvCxnSpPr>
          <p:spPr>
            <a:xfrm>
              <a:off x="2560416" y="5383490"/>
              <a:ext cx="111147" cy="368744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eur droit avec flèche 135">
              <a:extLst>
                <a:ext uri="{FF2B5EF4-FFF2-40B4-BE49-F238E27FC236}">
                  <a16:creationId xmlns:a16="http://schemas.microsoft.com/office/drawing/2014/main" id="{2F4D6022-03DB-4E2B-A869-AF2F45610DCB}"/>
                </a:ext>
              </a:extLst>
            </p:cNvPr>
            <p:cNvCxnSpPr>
              <a:cxnSpLocks/>
              <a:endCxn id="125" idx="0"/>
            </p:cNvCxnSpPr>
            <p:nvPr/>
          </p:nvCxnSpPr>
          <p:spPr>
            <a:xfrm flipH="1">
              <a:off x="3171180" y="5338456"/>
              <a:ext cx="136706" cy="335669"/>
            </a:xfrm>
            <a:prstGeom prst="straightConnector1">
              <a:avLst/>
            </a:prstGeom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58114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A6EAF45E-EA4E-45F8-936E-0ACD2FA5DA9E}"/>
              </a:ext>
            </a:extLst>
          </p:cNvPr>
          <p:cNvSpPr/>
          <p:nvPr/>
        </p:nvSpPr>
        <p:spPr>
          <a:xfrm>
            <a:off x="2345476" y="5825415"/>
            <a:ext cx="1869234" cy="2571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458039A-F10D-469B-A576-DC9601DA1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450985"/>
            <a:ext cx="10168128" cy="1179576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Understanding</a:t>
            </a:r>
            <a:br>
              <a:rPr lang="fr-FR" dirty="0"/>
            </a:br>
            <a:r>
              <a:rPr lang="fr-FR" dirty="0" err="1"/>
              <a:t>Difference</a:t>
            </a:r>
            <a:r>
              <a:rPr lang="fr-FR" dirty="0"/>
              <a:t> between formats</a:t>
            </a:r>
          </a:p>
        </p:txBody>
      </p:sp>
      <p:pic>
        <p:nvPicPr>
          <p:cNvPr id="9" name="Graphique 8" descr="Calendrier journalier avec un remplissage uni">
            <a:extLst>
              <a:ext uri="{FF2B5EF4-FFF2-40B4-BE49-F238E27FC236}">
                <a16:creationId xmlns:a16="http://schemas.microsoft.com/office/drawing/2014/main" id="{B1DB3BDA-C54D-4C3D-B530-3986B05A6A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5476" y="6082041"/>
            <a:ext cx="563032" cy="563032"/>
          </a:xfrm>
          <a:prstGeom prst="rect">
            <a:avLst/>
          </a:prstGeom>
        </p:spPr>
      </p:pic>
      <p:pic>
        <p:nvPicPr>
          <p:cNvPr id="10" name="Graphique 9" descr="Calendrier journalier avec un remplissage uni">
            <a:extLst>
              <a:ext uri="{FF2B5EF4-FFF2-40B4-BE49-F238E27FC236}">
                <a16:creationId xmlns:a16="http://schemas.microsoft.com/office/drawing/2014/main" id="{0520B83A-00E5-4830-A319-A507B1CE0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2204" y="1974072"/>
            <a:ext cx="385373" cy="385373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3CD833F1-ED78-4716-984D-6508E1E596FA}"/>
              </a:ext>
            </a:extLst>
          </p:cNvPr>
          <p:cNvSpPr txBox="1"/>
          <p:nvPr/>
        </p:nvSpPr>
        <p:spPr>
          <a:xfrm>
            <a:off x="238207" y="2044005"/>
            <a:ext cx="209296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#OpenSeriousHub</a:t>
            </a:r>
          </a:p>
          <a:p>
            <a:pPr algn="ctr"/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Several members transfer knowledge to a variable number of other members depending on </a:t>
            </a:r>
            <a:r>
              <a:rPr lang="en-US" sz="1200" b="1" dirty="0"/>
              <a:t>Offer and Demand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Content fit is based on matchmaking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Grouping rules depend on matchmaking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Knowledge transfer happens within the event and mostly after the event.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b="1" dirty="0"/>
              <a:t>Each group defines its own timeline (less constraints than in a large group)</a:t>
            </a:r>
          </a:p>
        </p:txBody>
      </p:sp>
      <p:pic>
        <p:nvPicPr>
          <p:cNvPr id="16" name="Graphique 15" descr="Personne confuse avec un remplissage uni">
            <a:extLst>
              <a:ext uri="{FF2B5EF4-FFF2-40B4-BE49-F238E27FC236}">
                <a16:creationId xmlns:a16="http://schemas.microsoft.com/office/drawing/2014/main" id="{7D9F0265-B6A7-48B3-BC1E-F0AAC0ECFD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2069" y="2142392"/>
            <a:ext cx="379473" cy="379473"/>
          </a:xfrm>
          <a:prstGeom prst="rect">
            <a:avLst/>
          </a:prstGeom>
        </p:spPr>
      </p:pic>
      <p:pic>
        <p:nvPicPr>
          <p:cNvPr id="17" name="Graphique 16" descr="Personne confuse avec un remplissage uni">
            <a:extLst>
              <a:ext uri="{FF2B5EF4-FFF2-40B4-BE49-F238E27FC236}">
                <a16:creationId xmlns:a16="http://schemas.microsoft.com/office/drawing/2014/main" id="{AFBD388B-0293-4F1A-BA7A-461847BA86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0655" y="2331156"/>
            <a:ext cx="379473" cy="379473"/>
          </a:xfrm>
          <a:prstGeom prst="rect">
            <a:avLst/>
          </a:prstGeom>
        </p:spPr>
      </p:pic>
      <p:pic>
        <p:nvPicPr>
          <p:cNvPr id="18" name="Graphique 17" descr="Personne confuse avec un remplissage uni">
            <a:extLst>
              <a:ext uri="{FF2B5EF4-FFF2-40B4-BE49-F238E27FC236}">
                <a16:creationId xmlns:a16="http://schemas.microsoft.com/office/drawing/2014/main" id="{4E339BD2-DBD6-45B9-8D46-917FFF0616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5078" y="4733917"/>
            <a:ext cx="379473" cy="379473"/>
          </a:xfrm>
          <a:prstGeom prst="rect">
            <a:avLst/>
          </a:prstGeom>
        </p:spPr>
      </p:pic>
      <p:pic>
        <p:nvPicPr>
          <p:cNvPr id="19" name="Graphique 18" descr="Personne confuse avec un remplissage uni">
            <a:extLst>
              <a:ext uri="{FF2B5EF4-FFF2-40B4-BE49-F238E27FC236}">
                <a16:creationId xmlns:a16="http://schemas.microsoft.com/office/drawing/2014/main" id="{AB019CBF-BF19-4739-86D3-F7101B4366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4814" y="4790082"/>
            <a:ext cx="379473" cy="379473"/>
          </a:xfrm>
          <a:prstGeom prst="rect">
            <a:avLst/>
          </a:prstGeom>
        </p:spPr>
      </p:pic>
      <p:pic>
        <p:nvPicPr>
          <p:cNvPr id="20" name="Graphique 19" descr="Personne confuse avec un remplissage uni">
            <a:extLst>
              <a:ext uri="{FF2B5EF4-FFF2-40B4-BE49-F238E27FC236}">
                <a16:creationId xmlns:a16="http://schemas.microsoft.com/office/drawing/2014/main" id="{CCFD3333-6C0A-49ED-A018-1A8C7AF2BD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03400" y="4978846"/>
            <a:ext cx="379473" cy="379473"/>
          </a:xfrm>
          <a:prstGeom prst="rect">
            <a:avLst/>
          </a:prstGeom>
        </p:spPr>
      </p:pic>
      <p:pic>
        <p:nvPicPr>
          <p:cNvPr id="21" name="Graphique 20" descr="Personne confuse avec un remplissage uni">
            <a:extLst>
              <a:ext uri="{FF2B5EF4-FFF2-40B4-BE49-F238E27FC236}">
                <a16:creationId xmlns:a16="http://schemas.microsoft.com/office/drawing/2014/main" id="{79B29A7F-5533-4949-AC23-9B882D8508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38444" y="4829271"/>
            <a:ext cx="379473" cy="379473"/>
          </a:xfrm>
          <a:prstGeom prst="rect">
            <a:avLst/>
          </a:prstGeom>
        </p:spPr>
      </p:pic>
      <p:pic>
        <p:nvPicPr>
          <p:cNvPr id="22" name="Graphique 21" descr="Personne confuse avec un remplissage uni">
            <a:extLst>
              <a:ext uri="{FF2B5EF4-FFF2-40B4-BE49-F238E27FC236}">
                <a16:creationId xmlns:a16="http://schemas.microsoft.com/office/drawing/2014/main" id="{E10F197B-EE50-47F4-B23A-5670516289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8180" y="4885436"/>
            <a:ext cx="379473" cy="379473"/>
          </a:xfrm>
          <a:prstGeom prst="rect">
            <a:avLst/>
          </a:prstGeom>
        </p:spPr>
      </p:pic>
      <p:pic>
        <p:nvPicPr>
          <p:cNvPr id="23" name="Graphique 22" descr="Personne confuse avec un remplissage uni">
            <a:extLst>
              <a:ext uri="{FF2B5EF4-FFF2-40B4-BE49-F238E27FC236}">
                <a16:creationId xmlns:a16="http://schemas.microsoft.com/office/drawing/2014/main" id="{44699319-0CE6-4270-A629-D9FFE1A155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1457" y="5109651"/>
            <a:ext cx="379473" cy="379473"/>
          </a:xfrm>
          <a:prstGeom prst="rect">
            <a:avLst/>
          </a:prstGeom>
        </p:spPr>
      </p:pic>
      <p:pic>
        <p:nvPicPr>
          <p:cNvPr id="24" name="Graphique 23" descr="Personne confuse avec un remplissage uni">
            <a:extLst>
              <a:ext uri="{FF2B5EF4-FFF2-40B4-BE49-F238E27FC236}">
                <a16:creationId xmlns:a16="http://schemas.microsoft.com/office/drawing/2014/main" id="{CD9D2B2E-4CCC-4BDD-94BE-334FD8CFB1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3785" y="3712424"/>
            <a:ext cx="379473" cy="379473"/>
          </a:xfrm>
          <a:prstGeom prst="rect">
            <a:avLst/>
          </a:prstGeom>
        </p:spPr>
      </p:pic>
      <p:pic>
        <p:nvPicPr>
          <p:cNvPr id="25" name="Graphique 24" descr="Personne confuse avec un remplissage uni">
            <a:extLst>
              <a:ext uri="{FF2B5EF4-FFF2-40B4-BE49-F238E27FC236}">
                <a16:creationId xmlns:a16="http://schemas.microsoft.com/office/drawing/2014/main" id="{5D44AC42-FDF6-4D1D-819E-5CA5FB4EB3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9485" y="3565438"/>
            <a:ext cx="379473" cy="379473"/>
          </a:xfrm>
          <a:prstGeom prst="rect">
            <a:avLst/>
          </a:prstGeom>
        </p:spPr>
      </p:pic>
      <p:pic>
        <p:nvPicPr>
          <p:cNvPr id="26" name="Graphique 25" descr="Personne confuse avec un remplissage uni">
            <a:extLst>
              <a:ext uri="{FF2B5EF4-FFF2-40B4-BE49-F238E27FC236}">
                <a16:creationId xmlns:a16="http://schemas.microsoft.com/office/drawing/2014/main" id="{C1F7663A-47E8-4BD2-958C-7E1F21D496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80093" y="4310682"/>
            <a:ext cx="379473" cy="379473"/>
          </a:xfrm>
          <a:prstGeom prst="rect">
            <a:avLst/>
          </a:prstGeom>
        </p:spPr>
      </p:pic>
      <p:pic>
        <p:nvPicPr>
          <p:cNvPr id="27" name="Graphique 26" descr="Personne confuse avec un remplissage uni">
            <a:extLst>
              <a:ext uri="{FF2B5EF4-FFF2-40B4-BE49-F238E27FC236}">
                <a16:creationId xmlns:a16="http://schemas.microsoft.com/office/drawing/2014/main" id="{AFCA057F-7074-4F04-B489-BAD7810526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82216" y="4244844"/>
            <a:ext cx="379473" cy="379473"/>
          </a:xfrm>
          <a:prstGeom prst="rect">
            <a:avLst/>
          </a:prstGeom>
        </p:spPr>
      </p:pic>
      <p:pic>
        <p:nvPicPr>
          <p:cNvPr id="28" name="Graphique 27" descr="Personne confuse avec un remplissage uni">
            <a:extLst>
              <a:ext uri="{FF2B5EF4-FFF2-40B4-BE49-F238E27FC236}">
                <a16:creationId xmlns:a16="http://schemas.microsoft.com/office/drawing/2014/main" id="{FD2D5F83-77F6-49E3-BC1A-CFEB4EF9E1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2990" y="2945174"/>
            <a:ext cx="379473" cy="379473"/>
          </a:xfrm>
          <a:prstGeom prst="rect">
            <a:avLst/>
          </a:prstGeom>
        </p:spPr>
      </p:pic>
      <p:pic>
        <p:nvPicPr>
          <p:cNvPr id="29" name="Graphique 28" descr="Personne confuse avec un remplissage uni">
            <a:extLst>
              <a:ext uri="{FF2B5EF4-FFF2-40B4-BE49-F238E27FC236}">
                <a16:creationId xmlns:a16="http://schemas.microsoft.com/office/drawing/2014/main" id="{608CBA93-913D-459D-A34E-D59B670602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1575" y="3133938"/>
            <a:ext cx="379473" cy="379473"/>
          </a:xfrm>
          <a:prstGeom prst="rect">
            <a:avLst/>
          </a:prstGeom>
        </p:spPr>
      </p:pic>
      <p:pic>
        <p:nvPicPr>
          <p:cNvPr id="30" name="Graphique 29" descr="Personne confuse avec un remplissage uni">
            <a:extLst>
              <a:ext uri="{FF2B5EF4-FFF2-40B4-BE49-F238E27FC236}">
                <a16:creationId xmlns:a16="http://schemas.microsoft.com/office/drawing/2014/main" id="{3FE23460-3372-4041-9503-8B82F645C4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5078" y="3717146"/>
            <a:ext cx="379472" cy="379472"/>
          </a:xfrm>
          <a:prstGeom prst="rect">
            <a:avLst/>
          </a:prstGeom>
        </p:spPr>
      </p:pic>
      <p:pic>
        <p:nvPicPr>
          <p:cNvPr id="31" name="Graphique 30" descr="Personne confuse avec un remplissage uni">
            <a:extLst>
              <a:ext uri="{FF2B5EF4-FFF2-40B4-BE49-F238E27FC236}">
                <a16:creationId xmlns:a16="http://schemas.microsoft.com/office/drawing/2014/main" id="{2D96922F-6F1B-45CB-AF4B-63404F737D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33286" y="5111271"/>
            <a:ext cx="379473" cy="379473"/>
          </a:xfrm>
          <a:prstGeom prst="rect">
            <a:avLst/>
          </a:prstGeom>
        </p:spPr>
      </p:pic>
      <p:sp>
        <p:nvSpPr>
          <p:cNvPr id="43" name="ZoneTexte 42">
            <a:extLst>
              <a:ext uri="{FF2B5EF4-FFF2-40B4-BE49-F238E27FC236}">
                <a16:creationId xmlns:a16="http://schemas.microsoft.com/office/drawing/2014/main" id="{465A5C3E-2ABC-449A-BFA8-81E5F2BAE726}"/>
              </a:ext>
            </a:extLst>
          </p:cNvPr>
          <p:cNvSpPr txBox="1"/>
          <p:nvPr/>
        </p:nvSpPr>
        <p:spPr>
          <a:xfrm>
            <a:off x="2779122" y="6135257"/>
            <a:ext cx="1483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#OpenSeriousHub 1</a:t>
            </a:r>
          </a:p>
        </p:txBody>
      </p:sp>
      <p:sp>
        <p:nvSpPr>
          <p:cNvPr id="137" name="Flèche : droite 136">
            <a:extLst>
              <a:ext uri="{FF2B5EF4-FFF2-40B4-BE49-F238E27FC236}">
                <a16:creationId xmlns:a16="http://schemas.microsoft.com/office/drawing/2014/main" id="{320A04AC-0344-4E1F-8097-41B316C1DB2D}"/>
              </a:ext>
            </a:extLst>
          </p:cNvPr>
          <p:cNvSpPr/>
          <p:nvPr/>
        </p:nvSpPr>
        <p:spPr>
          <a:xfrm>
            <a:off x="4262346" y="2287767"/>
            <a:ext cx="6801222" cy="2571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8" name="Flèche : droite 137">
            <a:extLst>
              <a:ext uri="{FF2B5EF4-FFF2-40B4-BE49-F238E27FC236}">
                <a16:creationId xmlns:a16="http://schemas.microsoft.com/office/drawing/2014/main" id="{816B6E48-63EF-47D8-B5A0-C66388F69BFC}"/>
              </a:ext>
            </a:extLst>
          </p:cNvPr>
          <p:cNvSpPr/>
          <p:nvPr/>
        </p:nvSpPr>
        <p:spPr>
          <a:xfrm>
            <a:off x="4262346" y="2979126"/>
            <a:ext cx="3834089" cy="2571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0" name="Flèche : droite 139">
            <a:extLst>
              <a:ext uri="{FF2B5EF4-FFF2-40B4-BE49-F238E27FC236}">
                <a16:creationId xmlns:a16="http://schemas.microsoft.com/office/drawing/2014/main" id="{A2E6AC88-47D0-46E2-BC91-82657496435C}"/>
              </a:ext>
            </a:extLst>
          </p:cNvPr>
          <p:cNvSpPr/>
          <p:nvPr/>
        </p:nvSpPr>
        <p:spPr>
          <a:xfrm>
            <a:off x="4253414" y="4427332"/>
            <a:ext cx="6801222" cy="2571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1" name="Flèche : droite 140">
            <a:extLst>
              <a:ext uri="{FF2B5EF4-FFF2-40B4-BE49-F238E27FC236}">
                <a16:creationId xmlns:a16="http://schemas.microsoft.com/office/drawing/2014/main" id="{93C27C00-A954-43D6-90C0-4C0B41385C58}"/>
              </a:ext>
            </a:extLst>
          </p:cNvPr>
          <p:cNvSpPr/>
          <p:nvPr/>
        </p:nvSpPr>
        <p:spPr>
          <a:xfrm>
            <a:off x="4262346" y="5146610"/>
            <a:ext cx="1215122" cy="2571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2" name="Graphique 141" descr="Calendrier journalier avec un remplissage uni">
            <a:extLst>
              <a:ext uri="{FF2B5EF4-FFF2-40B4-BE49-F238E27FC236}">
                <a16:creationId xmlns:a16="http://schemas.microsoft.com/office/drawing/2014/main" id="{B45D46A3-5776-4C27-B0C5-0D65F45AA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61123" y="1964466"/>
            <a:ext cx="385373" cy="385373"/>
          </a:xfrm>
          <a:prstGeom prst="rect">
            <a:avLst/>
          </a:prstGeom>
        </p:spPr>
      </p:pic>
      <p:pic>
        <p:nvPicPr>
          <p:cNvPr id="143" name="Graphique 142" descr="Calendrier journalier avec un remplissage uni">
            <a:extLst>
              <a:ext uri="{FF2B5EF4-FFF2-40B4-BE49-F238E27FC236}">
                <a16:creationId xmlns:a16="http://schemas.microsoft.com/office/drawing/2014/main" id="{7E0EDB8D-62A8-452D-967C-C80170DBC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5920" y="1964466"/>
            <a:ext cx="385373" cy="385373"/>
          </a:xfrm>
          <a:prstGeom prst="rect">
            <a:avLst/>
          </a:prstGeom>
        </p:spPr>
      </p:pic>
      <p:pic>
        <p:nvPicPr>
          <p:cNvPr id="144" name="Graphique 143" descr="Calendrier journalier avec un remplissage uni">
            <a:extLst>
              <a:ext uri="{FF2B5EF4-FFF2-40B4-BE49-F238E27FC236}">
                <a16:creationId xmlns:a16="http://schemas.microsoft.com/office/drawing/2014/main" id="{2020E9FE-5951-4B15-9CBB-97865E91C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4942" y="1956736"/>
            <a:ext cx="385373" cy="385373"/>
          </a:xfrm>
          <a:prstGeom prst="rect">
            <a:avLst/>
          </a:prstGeom>
        </p:spPr>
      </p:pic>
      <p:pic>
        <p:nvPicPr>
          <p:cNvPr id="145" name="Graphique 144" descr="Calendrier journalier avec un remplissage uni">
            <a:extLst>
              <a:ext uri="{FF2B5EF4-FFF2-40B4-BE49-F238E27FC236}">
                <a16:creationId xmlns:a16="http://schemas.microsoft.com/office/drawing/2014/main" id="{18B56A42-6F00-4D7D-96D7-5778D2FB8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7745" y="1956736"/>
            <a:ext cx="385373" cy="385373"/>
          </a:xfrm>
          <a:prstGeom prst="rect">
            <a:avLst/>
          </a:prstGeom>
        </p:spPr>
      </p:pic>
      <p:pic>
        <p:nvPicPr>
          <p:cNvPr id="146" name="Graphique 145" descr="Calendrier journalier avec un remplissage uni">
            <a:extLst>
              <a:ext uri="{FF2B5EF4-FFF2-40B4-BE49-F238E27FC236}">
                <a16:creationId xmlns:a16="http://schemas.microsoft.com/office/drawing/2014/main" id="{7CADF3F4-FC5E-4CFC-84F1-432AEA1CF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842" y="2895599"/>
            <a:ext cx="385373" cy="385373"/>
          </a:xfrm>
          <a:prstGeom prst="rect">
            <a:avLst/>
          </a:prstGeom>
        </p:spPr>
      </p:pic>
      <p:pic>
        <p:nvPicPr>
          <p:cNvPr id="147" name="Graphique 146" descr="Calendrier journalier avec un remplissage uni">
            <a:extLst>
              <a:ext uri="{FF2B5EF4-FFF2-40B4-BE49-F238E27FC236}">
                <a16:creationId xmlns:a16="http://schemas.microsoft.com/office/drawing/2014/main" id="{3A728DFF-0305-4AB1-BDD8-953BFF0C9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6464" y="4132192"/>
            <a:ext cx="385373" cy="385373"/>
          </a:xfrm>
          <a:prstGeom prst="rect">
            <a:avLst/>
          </a:prstGeom>
        </p:spPr>
      </p:pic>
      <p:pic>
        <p:nvPicPr>
          <p:cNvPr id="148" name="Graphique 147" descr="Calendrier journalier avec un remplissage uni">
            <a:extLst>
              <a:ext uri="{FF2B5EF4-FFF2-40B4-BE49-F238E27FC236}">
                <a16:creationId xmlns:a16="http://schemas.microsoft.com/office/drawing/2014/main" id="{67A39F0A-76F3-49FB-BF7F-14235082CF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4986" y="4147483"/>
            <a:ext cx="385373" cy="385373"/>
          </a:xfrm>
          <a:prstGeom prst="rect">
            <a:avLst/>
          </a:prstGeom>
        </p:spPr>
      </p:pic>
      <p:pic>
        <p:nvPicPr>
          <p:cNvPr id="149" name="Graphique 148" descr="Calendrier journalier avec un remplissage uni">
            <a:extLst>
              <a:ext uri="{FF2B5EF4-FFF2-40B4-BE49-F238E27FC236}">
                <a16:creationId xmlns:a16="http://schemas.microsoft.com/office/drawing/2014/main" id="{338BD3BB-D61D-4AF6-BA13-A3399AAE1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75676" y="4946395"/>
            <a:ext cx="563032" cy="563032"/>
          </a:xfrm>
          <a:prstGeom prst="rect">
            <a:avLst/>
          </a:prstGeom>
        </p:spPr>
      </p:pic>
      <p:sp>
        <p:nvSpPr>
          <p:cNvPr id="150" name="Rectangle 149">
            <a:extLst>
              <a:ext uri="{FF2B5EF4-FFF2-40B4-BE49-F238E27FC236}">
                <a16:creationId xmlns:a16="http://schemas.microsoft.com/office/drawing/2014/main" id="{511F4362-FD22-4053-9B0A-F113BD3462AF}"/>
              </a:ext>
            </a:extLst>
          </p:cNvPr>
          <p:cNvSpPr/>
          <p:nvPr/>
        </p:nvSpPr>
        <p:spPr>
          <a:xfrm>
            <a:off x="2318240" y="3025425"/>
            <a:ext cx="230734" cy="2390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200" b="1">
                <a:solidFill>
                  <a:schemeClr val="tx1"/>
                </a:solidFill>
              </a:rPr>
              <a:t>Topic A</a:t>
            </a:r>
          </a:p>
          <a:p>
            <a:pPr algn="ctr"/>
            <a:endParaRPr lang="fr-FR" sz="200">
              <a:solidFill>
                <a:schemeClr val="tx1"/>
              </a:solidFill>
            </a:endParaRPr>
          </a:p>
          <a:p>
            <a:pPr algn="r"/>
            <a:r>
              <a:rPr lang="fr-FR" sz="200">
                <a:solidFill>
                  <a:schemeClr val="tx1"/>
                </a:solidFill>
              </a:rPr>
              <a:t>Bob</a:t>
            </a:r>
          </a:p>
          <a:p>
            <a:pPr algn="r"/>
            <a:r>
              <a:rPr lang="fr-FR" sz="200">
                <a:solidFill>
                  <a:schemeClr val="tx1"/>
                </a:solidFill>
              </a:rPr>
              <a:t>Charlie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772374C0-E84D-473D-84F4-B72BB1EB2CC1}"/>
              </a:ext>
            </a:extLst>
          </p:cNvPr>
          <p:cNvSpPr/>
          <p:nvPr/>
        </p:nvSpPr>
        <p:spPr>
          <a:xfrm>
            <a:off x="2572467" y="3022749"/>
            <a:ext cx="230734" cy="239075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200" b="1">
                <a:solidFill>
                  <a:schemeClr val="tx1"/>
                </a:solidFill>
              </a:rPr>
              <a:t>Topic A</a:t>
            </a:r>
          </a:p>
          <a:p>
            <a:pPr algn="r"/>
            <a:r>
              <a:rPr lang="fr-FR" sz="200">
                <a:solidFill>
                  <a:schemeClr val="tx1"/>
                </a:solidFill>
              </a:rPr>
              <a:t>Heinrich</a:t>
            </a:r>
          </a:p>
          <a:p>
            <a:pPr algn="ctr"/>
            <a:endParaRPr lang="fr-FR" sz="200">
              <a:solidFill>
                <a:schemeClr val="tx1"/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C50CD19-0292-46B2-899E-7A3217671940}"/>
              </a:ext>
            </a:extLst>
          </p:cNvPr>
          <p:cNvSpPr/>
          <p:nvPr/>
        </p:nvSpPr>
        <p:spPr>
          <a:xfrm>
            <a:off x="2314124" y="3378236"/>
            <a:ext cx="230734" cy="2390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200" b="1">
                <a:solidFill>
                  <a:schemeClr val="tx1"/>
                </a:solidFill>
              </a:rPr>
              <a:t>Topic E</a:t>
            </a:r>
          </a:p>
          <a:p>
            <a:pPr algn="r"/>
            <a:r>
              <a:rPr lang="fr-FR" sz="200">
                <a:solidFill>
                  <a:schemeClr val="tx1"/>
                </a:solidFill>
              </a:rPr>
              <a:t>Alice</a:t>
            </a:r>
          </a:p>
          <a:p>
            <a:pPr algn="r"/>
            <a:r>
              <a:rPr lang="fr-FR" sz="200">
                <a:solidFill>
                  <a:schemeClr val="tx1"/>
                </a:solidFill>
              </a:rPr>
              <a:t>Isiah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A4C439E3-9E7B-435D-9ECA-2079B3ECDDE9}"/>
              </a:ext>
            </a:extLst>
          </p:cNvPr>
          <p:cNvSpPr/>
          <p:nvPr/>
        </p:nvSpPr>
        <p:spPr>
          <a:xfrm>
            <a:off x="2572467" y="3376438"/>
            <a:ext cx="230734" cy="239075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200" b="1">
                <a:solidFill>
                  <a:schemeClr val="tx1"/>
                </a:solidFill>
              </a:rPr>
              <a:t>Topic E</a:t>
            </a:r>
          </a:p>
          <a:p>
            <a:pPr algn="r"/>
            <a:r>
              <a:rPr lang="fr-FR" sz="200">
                <a:solidFill>
                  <a:schemeClr val="tx1"/>
                </a:solidFill>
              </a:rPr>
              <a:t>Dick</a:t>
            </a:r>
          </a:p>
          <a:p>
            <a:pPr algn="ctr"/>
            <a:endParaRPr lang="fr-FR" sz="200">
              <a:solidFill>
                <a:schemeClr val="tx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AA8782B0-EC6D-4B66-8F52-2B5FD6E4A52C}"/>
              </a:ext>
            </a:extLst>
          </p:cNvPr>
          <p:cNvSpPr/>
          <p:nvPr/>
        </p:nvSpPr>
        <p:spPr>
          <a:xfrm>
            <a:off x="2314124" y="3739020"/>
            <a:ext cx="230734" cy="2390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200" b="1">
                <a:solidFill>
                  <a:schemeClr val="tx1"/>
                </a:solidFill>
              </a:rPr>
              <a:t>Topic D</a:t>
            </a:r>
          </a:p>
          <a:p>
            <a:pPr algn="r"/>
            <a:r>
              <a:rPr lang="fr-FR" sz="200">
                <a:solidFill>
                  <a:schemeClr val="tx1"/>
                </a:solidFill>
              </a:rPr>
              <a:t>Gina</a:t>
            </a:r>
          </a:p>
          <a:p>
            <a:pPr algn="r"/>
            <a:r>
              <a:rPr lang="fr-FR" sz="200" strike="sngStrike">
                <a:solidFill>
                  <a:schemeClr val="tx1"/>
                </a:solidFill>
              </a:rPr>
              <a:t>Heinrich</a:t>
            </a:r>
          </a:p>
          <a:p>
            <a:pPr algn="r"/>
            <a:r>
              <a:rPr lang="fr-FR" sz="200" strike="sngStrike">
                <a:solidFill>
                  <a:schemeClr val="tx1"/>
                </a:solidFill>
              </a:rPr>
              <a:t>Isiah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0585936F-CBDC-48A7-B717-56471E395E0A}"/>
              </a:ext>
            </a:extLst>
          </p:cNvPr>
          <p:cNvSpPr/>
          <p:nvPr/>
        </p:nvSpPr>
        <p:spPr>
          <a:xfrm>
            <a:off x="2565776" y="3743224"/>
            <a:ext cx="230734" cy="239075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200" b="1">
                <a:solidFill>
                  <a:schemeClr val="tx1"/>
                </a:solidFill>
              </a:rPr>
              <a:t>Topic D</a:t>
            </a:r>
          </a:p>
          <a:p>
            <a:pPr algn="r"/>
            <a:r>
              <a:rPr lang="fr-FR" sz="200">
                <a:solidFill>
                  <a:schemeClr val="tx1"/>
                </a:solidFill>
              </a:rPr>
              <a:t>Erin</a:t>
            </a:r>
          </a:p>
          <a:p>
            <a:pPr algn="ctr"/>
            <a:endParaRPr lang="fr-FR" sz="200">
              <a:solidFill>
                <a:schemeClr val="tx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AD874443-43C4-4D73-BEF5-5337B6940E0E}"/>
              </a:ext>
            </a:extLst>
          </p:cNvPr>
          <p:cNvSpPr/>
          <p:nvPr/>
        </p:nvSpPr>
        <p:spPr>
          <a:xfrm>
            <a:off x="2305011" y="4107604"/>
            <a:ext cx="230734" cy="2390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200" b="1">
                <a:solidFill>
                  <a:schemeClr val="tx1"/>
                </a:solidFill>
              </a:rPr>
              <a:t>Topic E</a:t>
            </a:r>
          </a:p>
          <a:p>
            <a:pPr algn="r"/>
            <a:r>
              <a:rPr lang="fr-FR" sz="200">
                <a:solidFill>
                  <a:schemeClr val="tx1"/>
                </a:solidFill>
              </a:rPr>
              <a:t>Alice</a:t>
            </a:r>
          </a:p>
          <a:p>
            <a:pPr algn="r"/>
            <a:r>
              <a:rPr lang="fr-FR" sz="200">
                <a:solidFill>
                  <a:schemeClr val="tx1"/>
                </a:solidFill>
              </a:rPr>
              <a:t>Isiah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6A5B8353-C1A1-44A1-B3ED-E37E39CB10EA}"/>
              </a:ext>
            </a:extLst>
          </p:cNvPr>
          <p:cNvSpPr/>
          <p:nvPr/>
        </p:nvSpPr>
        <p:spPr>
          <a:xfrm>
            <a:off x="2563354" y="4105806"/>
            <a:ext cx="230734" cy="239075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200" b="1">
                <a:solidFill>
                  <a:schemeClr val="tx1"/>
                </a:solidFill>
              </a:rPr>
              <a:t>Topic E</a:t>
            </a:r>
          </a:p>
          <a:p>
            <a:pPr algn="r"/>
            <a:r>
              <a:rPr lang="fr-FR" sz="200">
                <a:solidFill>
                  <a:schemeClr val="tx1"/>
                </a:solidFill>
              </a:rPr>
              <a:t>Dick</a:t>
            </a:r>
          </a:p>
          <a:p>
            <a:pPr algn="ctr"/>
            <a:endParaRPr lang="fr-FR" sz="200">
              <a:solidFill>
                <a:schemeClr val="tx1"/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364EBFD-B928-4868-97A3-EC2C218C6A78}"/>
              </a:ext>
            </a:extLst>
          </p:cNvPr>
          <p:cNvSpPr/>
          <p:nvPr/>
        </p:nvSpPr>
        <p:spPr>
          <a:xfrm>
            <a:off x="2305011" y="4468388"/>
            <a:ext cx="230734" cy="2390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200" b="1">
                <a:solidFill>
                  <a:schemeClr val="tx1"/>
                </a:solidFill>
              </a:rPr>
              <a:t>Topic D</a:t>
            </a:r>
          </a:p>
          <a:p>
            <a:pPr algn="r"/>
            <a:r>
              <a:rPr lang="fr-FR" sz="200">
                <a:solidFill>
                  <a:schemeClr val="tx1"/>
                </a:solidFill>
              </a:rPr>
              <a:t>Gina</a:t>
            </a:r>
          </a:p>
          <a:p>
            <a:pPr algn="r"/>
            <a:r>
              <a:rPr lang="fr-FR" sz="200" strike="sngStrike">
                <a:solidFill>
                  <a:schemeClr val="tx1"/>
                </a:solidFill>
              </a:rPr>
              <a:t>Heinrich</a:t>
            </a:r>
          </a:p>
          <a:p>
            <a:pPr algn="r"/>
            <a:r>
              <a:rPr lang="fr-FR" sz="200" strike="sngStrike">
                <a:solidFill>
                  <a:schemeClr val="tx1"/>
                </a:solidFill>
              </a:rPr>
              <a:t>Isiah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36CD9D85-AC0E-4E65-877E-990BB87A9740}"/>
              </a:ext>
            </a:extLst>
          </p:cNvPr>
          <p:cNvSpPr/>
          <p:nvPr/>
        </p:nvSpPr>
        <p:spPr>
          <a:xfrm>
            <a:off x="2556663" y="4472592"/>
            <a:ext cx="230734" cy="239075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200" b="1">
                <a:solidFill>
                  <a:schemeClr val="tx1"/>
                </a:solidFill>
              </a:rPr>
              <a:t>Topic D</a:t>
            </a:r>
          </a:p>
          <a:p>
            <a:pPr algn="r"/>
            <a:r>
              <a:rPr lang="fr-FR" sz="200">
                <a:solidFill>
                  <a:schemeClr val="tx1"/>
                </a:solidFill>
              </a:rPr>
              <a:t>Erin</a:t>
            </a:r>
          </a:p>
          <a:p>
            <a:pPr algn="ctr"/>
            <a:endParaRPr lang="fr-FR" sz="200">
              <a:solidFill>
                <a:schemeClr val="tx1"/>
              </a:solidFill>
            </a:endParaRPr>
          </a:p>
        </p:txBody>
      </p:sp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E7ECD478-BB09-44DE-8587-271CC2DC7057}"/>
              </a:ext>
            </a:extLst>
          </p:cNvPr>
          <p:cNvSpPr/>
          <p:nvPr/>
        </p:nvSpPr>
        <p:spPr>
          <a:xfrm rot="18206695">
            <a:off x="2883058" y="2634745"/>
            <a:ext cx="257367" cy="2571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0" name="Flèche : droite 159">
            <a:extLst>
              <a:ext uri="{FF2B5EF4-FFF2-40B4-BE49-F238E27FC236}">
                <a16:creationId xmlns:a16="http://schemas.microsoft.com/office/drawing/2014/main" id="{F1C9B162-8473-434E-8D3B-1DDB08E09E3A}"/>
              </a:ext>
            </a:extLst>
          </p:cNvPr>
          <p:cNvSpPr/>
          <p:nvPr/>
        </p:nvSpPr>
        <p:spPr>
          <a:xfrm rot="20496125">
            <a:off x="2951596" y="3256285"/>
            <a:ext cx="257367" cy="2571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Flèche : droite 160">
            <a:extLst>
              <a:ext uri="{FF2B5EF4-FFF2-40B4-BE49-F238E27FC236}">
                <a16:creationId xmlns:a16="http://schemas.microsoft.com/office/drawing/2014/main" id="{756A230A-FF82-4A9A-B78D-A3A39AE9900C}"/>
              </a:ext>
            </a:extLst>
          </p:cNvPr>
          <p:cNvSpPr/>
          <p:nvPr/>
        </p:nvSpPr>
        <p:spPr>
          <a:xfrm>
            <a:off x="2948314" y="3681258"/>
            <a:ext cx="257367" cy="2571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2" name="Flèche : droite 161">
            <a:extLst>
              <a:ext uri="{FF2B5EF4-FFF2-40B4-BE49-F238E27FC236}">
                <a16:creationId xmlns:a16="http://schemas.microsoft.com/office/drawing/2014/main" id="{BFC6A07A-0937-481B-8D5B-9A4993DFFEFF}"/>
              </a:ext>
            </a:extLst>
          </p:cNvPr>
          <p:cNvSpPr/>
          <p:nvPr/>
        </p:nvSpPr>
        <p:spPr>
          <a:xfrm rot="1388542">
            <a:off x="2914881" y="4147787"/>
            <a:ext cx="257367" cy="2571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3" name="Flèche : droite 162">
            <a:extLst>
              <a:ext uri="{FF2B5EF4-FFF2-40B4-BE49-F238E27FC236}">
                <a16:creationId xmlns:a16="http://schemas.microsoft.com/office/drawing/2014/main" id="{9737988B-FE01-4DBE-98AC-09753339BA59}"/>
              </a:ext>
            </a:extLst>
          </p:cNvPr>
          <p:cNvSpPr/>
          <p:nvPr/>
        </p:nvSpPr>
        <p:spPr>
          <a:xfrm rot="1798555">
            <a:off x="2924337" y="4634483"/>
            <a:ext cx="257367" cy="2571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0254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B50D2008-8009-44B9-8D8F-1A784DE5DC85}"/>
              </a:ext>
            </a:extLst>
          </p:cNvPr>
          <p:cNvSpPr/>
          <p:nvPr/>
        </p:nvSpPr>
        <p:spPr>
          <a:xfrm>
            <a:off x="8712054" y="5440796"/>
            <a:ext cx="3078215" cy="1293206"/>
          </a:xfrm>
          <a:prstGeom prst="roundRect">
            <a:avLst/>
          </a:prstGeom>
          <a:solidFill>
            <a:schemeClr val="accent3">
              <a:lumMod val="75000"/>
              <a:alpha val="3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Link between people sharing same interests AND non attendants</a:t>
            </a:r>
          </a:p>
        </p:txBody>
      </p:sp>
      <p:sp>
        <p:nvSpPr>
          <p:cNvPr id="64" name="Rectangle : coins arrondis 63">
            <a:extLst>
              <a:ext uri="{FF2B5EF4-FFF2-40B4-BE49-F238E27FC236}">
                <a16:creationId xmlns:a16="http://schemas.microsoft.com/office/drawing/2014/main" id="{6C6E1A06-9360-4998-A576-2C472BE6E15B}"/>
              </a:ext>
            </a:extLst>
          </p:cNvPr>
          <p:cNvSpPr/>
          <p:nvPr/>
        </p:nvSpPr>
        <p:spPr>
          <a:xfrm>
            <a:off x="8695922" y="4090653"/>
            <a:ext cx="3078215" cy="1293206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Appointments </a:t>
            </a:r>
            <a:r>
              <a:rPr lang="en-US" sz="800" b="1">
                <a:solidFill>
                  <a:schemeClr val="tx1"/>
                </a:solidFill>
              </a:rPr>
              <a:t>adjusted to availabilities</a:t>
            </a:r>
          </a:p>
        </p:txBody>
      </p:sp>
      <p:sp>
        <p:nvSpPr>
          <p:cNvPr id="63" name="Rectangle : coins arrondis 62">
            <a:extLst>
              <a:ext uri="{FF2B5EF4-FFF2-40B4-BE49-F238E27FC236}">
                <a16:creationId xmlns:a16="http://schemas.microsoft.com/office/drawing/2014/main" id="{ADD98788-93FD-4008-9A96-925E5C92F35A}"/>
              </a:ext>
            </a:extLst>
          </p:cNvPr>
          <p:cNvSpPr/>
          <p:nvPr/>
        </p:nvSpPr>
        <p:spPr>
          <a:xfrm>
            <a:off x="8695923" y="2667154"/>
            <a:ext cx="3078215" cy="1293206"/>
          </a:xfrm>
          <a:prstGeom prst="roundRect">
            <a:avLst/>
          </a:prstGeom>
          <a:solidFill>
            <a:srgbClr val="FFCC99">
              <a:alpha val="3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Ideas for Major events in case of popular demand</a:t>
            </a:r>
          </a:p>
          <a:p>
            <a:pPr algn="ctr"/>
            <a:endParaRPr lang="fr-FR" sz="800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165797D-5CB0-4F90-9AE0-BD52DA15B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#OpenSeriousHub</a:t>
            </a:r>
            <a:br>
              <a:rPr lang="en-US" dirty="0"/>
            </a:br>
            <a:r>
              <a:rPr lang="en-US" dirty="0"/>
              <a:t>A share and learn opportunities workshop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796B2DE4-2EE5-4A5A-83B4-B25263349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022" y="2210018"/>
            <a:ext cx="2144874" cy="4455702"/>
          </a:xfrm>
          <a:prstGeom prst="roundRect">
            <a:avLst>
              <a:gd name="adj" fmla="val 5909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/>
              <a:t>What is this workshop about ?</a:t>
            </a:r>
          </a:p>
          <a:p>
            <a:pPr marL="0" indent="0">
              <a:buNone/>
            </a:pPr>
            <a:r>
              <a:rPr lang="en-US" sz="1200" dirty="0"/>
              <a:t>Let’s get into more details to pick out topics that can be turned into Knowledge transfer</a:t>
            </a:r>
          </a:p>
          <a:p>
            <a:pPr marL="0" indent="0">
              <a:buNone/>
            </a:pPr>
            <a:r>
              <a:rPr lang="en-US" sz="1200" dirty="0"/>
              <a:t>The goal of this workshop put in common to know :</a:t>
            </a:r>
          </a:p>
          <a:p>
            <a:pPr>
              <a:buFontTx/>
              <a:buChar char="-"/>
            </a:pPr>
            <a:r>
              <a:rPr lang="en-US" sz="1200" dirty="0"/>
              <a:t>On which topics each of us can share</a:t>
            </a:r>
          </a:p>
          <a:p>
            <a:pPr>
              <a:buFontTx/>
              <a:buChar char="-"/>
            </a:pPr>
            <a:r>
              <a:rPr lang="en-US" sz="1200" dirty="0"/>
              <a:t>Which topics are the most popular</a:t>
            </a:r>
          </a:p>
          <a:p>
            <a:pPr>
              <a:buFontTx/>
              <a:buChar char="-"/>
            </a:pPr>
            <a:r>
              <a:rPr lang="en-US" sz="1200" dirty="0"/>
              <a:t>Which topics can be organized “on popular demand”</a:t>
            </a:r>
          </a:p>
          <a:p>
            <a:pPr>
              <a:buFontTx/>
              <a:buChar char="-"/>
            </a:pPr>
            <a:r>
              <a:rPr lang="en-US" sz="1200" dirty="0"/>
              <a:t>Who among us can share about this popular demand</a:t>
            </a:r>
          </a:p>
          <a:p>
            <a:pPr>
              <a:buFontTx/>
              <a:buChar char="-"/>
            </a:pPr>
            <a:endParaRPr lang="en-US" sz="1200" dirty="0"/>
          </a:p>
          <a:p>
            <a:pPr>
              <a:buFontTx/>
              <a:buChar char="-"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FAE5246-13DE-4421-9056-7859817AACED}"/>
              </a:ext>
            </a:extLst>
          </p:cNvPr>
          <p:cNvCxnSpPr>
            <a:cxnSpLocks/>
          </p:cNvCxnSpPr>
          <p:nvPr/>
        </p:nvCxnSpPr>
        <p:spPr>
          <a:xfrm>
            <a:off x="4064380" y="4097169"/>
            <a:ext cx="0" cy="2430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808D9F0D-B254-4A69-A6EE-3EC3011974E2}"/>
              </a:ext>
            </a:extLst>
          </p:cNvPr>
          <p:cNvSpPr txBox="1"/>
          <p:nvPr/>
        </p:nvSpPr>
        <p:spPr>
          <a:xfrm>
            <a:off x="2577447" y="3967077"/>
            <a:ext cx="147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/>
              <a:t>Topics on which I can share my knowledge and experience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F23B5D-1D97-484B-A23D-3B9FDE18C503}"/>
              </a:ext>
            </a:extLst>
          </p:cNvPr>
          <p:cNvSpPr/>
          <p:nvPr/>
        </p:nvSpPr>
        <p:spPr>
          <a:xfrm>
            <a:off x="3005123" y="4573875"/>
            <a:ext cx="946288" cy="64682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TOPIC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23C04B-84D3-414F-B29C-67D4D42E34A7}"/>
              </a:ext>
            </a:extLst>
          </p:cNvPr>
          <p:cNvSpPr/>
          <p:nvPr/>
        </p:nvSpPr>
        <p:spPr>
          <a:xfrm>
            <a:off x="4177350" y="4459410"/>
            <a:ext cx="946288" cy="508563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TOPIC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C3B93C-DE81-452F-8CE7-0050FC5E2619}"/>
              </a:ext>
            </a:extLst>
          </p:cNvPr>
          <p:cNvSpPr/>
          <p:nvPr/>
        </p:nvSpPr>
        <p:spPr>
          <a:xfrm>
            <a:off x="3018395" y="5351511"/>
            <a:ext cx="946287" cy="50856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TOPIC 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E5AA45-C464-40C3-BC09-04788B3095BC}"/>
              </a:ext>
            </a:extLst>
          </p:cNvPr>
          <p:cNvSpPr/>
          <p:nvPr/>
        </p:nvSpPr>
        <p:spPr>
          <a:xfrm>
            <a:off x="4177349" y="5043698"/>
            <a:ext cx="946283" cy="508563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TOPIC 4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9FD95889-F1C7-4ADA-8E9B-DA97C610C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514098" y="2779413"/>
            <a:ext cx="1150727" cy="1208298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3E070AE3-4A90-4CFC-9C7A-7655929E76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048104" y="3013405"/>
            <a:ext cx="1240245" cy="1169992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E3BA438D-8845-45DC-B365-7C41761CDF07}"/>
              </a:ext>
            </a:extLst>
          </p:cNvPr>
          <p:cNvSpPr txBox="1"/>
          <p:nvPr/>
        </p:nvSpPr>
        <p:spPr>
          <a:xfrm>
            <a:off x="4120412" y="4006373"/>
            <a:ext cx="9860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Topics I want to learn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6EB28E6E-771A-4661-9DEF-D4F26F366C2A}"/>
              </a:ext>
            </a:extLst>
          </p:cNvPr>
          <p:cNvSpPr txBox="1"/>
          <p:nvPr/>
        </p:nvSpPr>
        <p:spPr>
          <a:xfrm>
            <a:off x="2917489" y="2164737"/>
            <a:ext cx="22061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/>
              <a:t>What inputs do we bring in the 1</a:t>
            </a:r>
            <a:r>
              <a:rPr lang="en-US" sz="1100" b="1" baseline="30000"/>
              <a:t>st</a:t>
            </a:r>
            <a:r>
              <a:rPr lang="en-US" sz="1100" b="1"/>
              <a:t> part of the workshop ?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73DBD14-53E1-4541-ABA7-BEF5953384E9}"/>
              </a:ext>
            </a:extLst>
          </p:cNvPr>
          <p:cNvSpPr txBox="1"/>
          <p:nvPr/>
        </p:nvSpPr>
        <p:spPr>
          <a:xfrm>
            <a:off x="5472896" y="2164737"/>
            <a:ext cx="26057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/>
              <a:t>What discussions will happen on the 2</a:t>
            </a:r>
            <a:r>
              <a:rPr lang="en-US" sz="1100" b="1" baseline="30000"/>
              <a:t>nd</a:t>
            </a:r>
            <a:r>
              <a:rPr lang="en-US" sz="1100" b="1"/>
              <a:t> part of the workshop ?</a:t>
            </a:r>
          </a:p>
        </p:txBody>
      </p:sp>
      <p:sp>
        <p:nvSpPr>
          <p:cNvPr id="45" name="Bulle narrative : ronde 44">
            <a:extLst>
              <a:ext uri="{FF2B5EF4-FFF2-40B4-BE49-F238E27FC236}">
                <a16:creationId xmlns:a16="http://schemas.microsoft.com/office/drawing/2014/main" id="{B19A90B7-786A-44F1-B0E8-789050DBE055}"/>
              </a:ext>
            </a:extLst>
          </p:cNvPr>
          <p:cNvSpPr/>
          <p:nvPr/>
        </p:nvSpPr>
        <p:spPr>
          <a:xfrm>
            <a:off x="6323266" y="2701669"/>
            <a:ext cx="1862507" cy="532066"/>
          </a:xfrm>
          <a:prstGeom prst="wedgeEllipseCallout">
            <a:avLst>
              <a:gd name="adj1" fmla="val -21809"/>
              <a:gd name="adj2" fmla="val 10779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I can help you on the </a:t>
            </a:r>
            <a:r>
              <a:rPr lang="en-US" sz="1050" dirty="0">
                <a:solidFill>
                  <a:schemeClr val="tx1"/>
                </a:solidFill>
                <a:highlight>
                  <a:srgbClr val="FFCE00"/>
                </a:highlight>
              </a:rPr>
              <a:t>TOPIC 1</a:t>
            </a:r>
            <a:r>
              <a:rPr lang="en-US" sz="1050" dirty="0">
                <a:solidFill>
                  <a:schemeClr val="tx1"/>
                </a:solidFill>
              </a:rPr>
              <a:t> !</a:t>
            </a:r>
          </a:p>
        </p:txBody>
      </p:sp>
      <p:pic>
        <p:nvPicPr>
          <p:cNvPr id="46" name="Image 45">
            <a:extLst>
              <a:ext uri="{FF2B5EF4-FFF2-40B4-BE49-F238E27FC236}">
                <a16:creationId xmlns:a16="http://schemas.microsoft.com/office/drawing/2014/main" id="{FE608365-596D-4DD4-BDA5-3FF4615BD0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485265" y="3789357"/>
            <a:ext cx="1249746" cy="1249746"/>
          </a:xfrm>
          <a:prstGeom prst="rect">
            <a:avLst/>
          </a:prstGeom>
        </p:spPr>
      </p:pic>
      <p:sp>
        <p:nvSpPr>
          <p:cNvPr id="48" name="Bulle narrative : ronde 47">
            <a:extLst>
              <a:ext uri="{FF2B5EF4-FFF2-40B4-BE49-F238E27FC236}">
                <a16:creationId xmlns:a16="http://schemas.microsoft.com/office/drawing/2014/main" id="{BD990CF1-DEFB-4042-9073-782A2D088A79}"/>
              </a:ext>
            </a:extLst>
          </p:cNvPr>
          <p:cNvSpPr/>
          <p:nvPr/>
        </p:nvSpPr>
        <p:spPr>
          <a:xfrm>
            <a:off x="5472895" y="4893724"/>
            <a:ext cx="1825341" cy="1249746"/>
          </a:xfrm>
          <a:prstGeom prst="wedgeEllipseCallout">
            <a:avLst>
              <a:gd name="adj1" fmla="val 39459"/>
              <a:gd name="adj2" fmla="val -7484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My team and I would be interested in learning about </a:t>
            </a:r>
            <a:r>
              <a:rPr lang="en-US" sz="1050" dirty="0">
                <a:solidFill>
                  <a:schemeClr val="tx1"/>
                </a:solidFill>
                <a:highlight>
                  <a:srgbClr val="FFFF00"/>
                </a:highlight>
              </a:rPr>
              <a:t>TOPIC 2 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456DB83-EE8B-4D3F-87A5-BB78FF40B2A1}"/>
              </a:ext>
            </a:extLst>
          </p:cNvPr>
          <p:cNvSpPr txBox="1"/>
          <p:nvPr/>
        </p:nvSpPr>
        <p:spPr>
          <a:xfrm>
            <a:off x="9076803" y="2158221"/>
            <a:ext cx="23487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/>
              <a:t>What will be the outcomes of the workshop ?</a:t>
            </a:r>
          </a:p>
        </p:txBody>
      </p:sp>
      <p:pic>
        <p:nvPicPr>
          <p:cNvPr id="51" name="Image 50">
            <a:extLst>
              <a:ext uri="{FF2B5EF4-FFF2-40B4-BE49-F238E27FC236}">
                <a16:creationId xmlns:a16="http://schemas.microsoft.com/office/drawing/2014/main" id="{0F5FE89A-4E58-4C8F-82D0-31372AA32B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632690" y="5851845"/>
            <a:ext cx="456760" cy="430887"/>
          </a:xfrm>
          <a:prstGeom prst="rect">
            <a:avLst/>
          </a:prstGeom>
        </p:spPr>
      </p:pic>
      <p:pic>
        <p:nvPicPr>
          <p:cNvPr id="52" name="Image 51">
            <a:extLst>
              <a:ext uri="{FF2B5EF4-FFF2-40B4-BE49-F238E27FC236}">
                <a16:creationId xmlns:a16="http://schemas.microsoft.com/office/drawing/2014/main" id="{9A26B66D-9EE0-48CE-B3BA-A6B7E7C488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0183027" y="5858204"/>
            <a:ext cx="471109" cy="471109"/>
          </a:xfrm>
          <a:prstGeom prst="rect">
            <a:avLst/>
          </a:prstGeom>
        </p:spPr>
      </p:pic>
      <p:pic>
        <p:nvPicPr>
          <p:cNvPr id="55" name="Image 54">
            <a:extLst>
              <a:ext uri="{FF2B5EF4-FFF2-40B4-BE49-F238E27FC236}">
                <a16:creationId xmlns:a16="http://schemas.microsoft.com/office/drawing/2014/main" id="{38EB54A5-738D-4370-B619-4EAF040698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856458" y="4787616"/>
            <a:ext cx="471109" cy="471109"/>
          </a:xfrm>
          <a:prstGeom prst="rect">
            <a:avLst/>
          </a:prstGeom>
        </p:spPr>
      </p:pic>
      <p:pic>
        <p:nvPicPr>
          <p:cNvPr id="56" name="Image 55">
            <a:extLst>
              <a:ext uri="{FF2B5EF4-FFF2-40B4-BE49-F238E27FC236}">
                <a16:creationId xmlns:a16="http://schemas.microsoft.com/office/drawing/2014/main" id="{BF4F2446-30C8-4188-BF9D-9C2C1BBF3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121930" y="4732932"/>
            <a:ext cx="471109" cy="494679"/>
          </a:xfrm>
          <a:prstGeom prst="rect">
            <a:avLst/>
          </a:prstGeom>
        </p:spPr>
      </p:pic>
      <p:sp>
        <p:nvSpPr>
          <p:cNvPr id="57" name="Bulle narrative : ronde 56">
            <a:extLst>
              <a:ext uri="{FF2B5EF4-FFF2-40B4-BE49-F238E27FC236}">
                <a16:creationId xmlns:a16="http://schemas.microsoft.com/office/drawing/2014/main" id="{08C255C3-7262-494C-B319-1B99F6FFEBBB}"/>
              </a:ext>
            </a:extLst>
          </p:cNvPr>
          <p:cNvSpPr/>
          <p:nvPr/>
        </p:nvSpPr>
        <p:spPr>
          <a:xfrm>
            <a:off x="9005031" y="4394792"/>
            <a:ext cx="2588008" cy="304047"/>
          </a:xfrm>
          <a:prstGeom prst="wedgeEllipseCallout">
            <a:avLst>
              <a:gd name="adj1" fmla="val 31852"/>
              <a:gd name="adj2" fmla="val 95894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I’m only available one-hour on the next month</a:t>
            </a:r>
          </a:p>
        </p:txBody>
      </p:sp>
      <p:sp>
        <p:nvSpPr>
          <p:cNvPr id="60" name="Bulle narrative : ronde 59">
            <a:extLst>
              <a:ext uri="{FF2B5EF4-FFF2-40B4-BE49-F238E27FC236}">
                <a16:creationId xmlns:a16="http://schemas.microsoft.com/office/drawing/2014/main" id="{96B975B8-8FFC-4DE4-B8BB-01228F5FE4F0}"/>
              </a:ext>
            </a:extLst>
          </p:cNvPr>
          <p:cNvSpPr/>
          <p:nvPr/>
        </p:nvSpPr>
        <p:spPr>
          <a:xfrm>
            <a:off x="9273111" y="4741069"/>
            <a:ext cx="1819832" cy="304047"/>
          </a:xfrm>
          <a:prstGeom prst="wedgeEllipseCallout">
            <a:avLst>
              <a:gd name="adj1" fmla="val -53631"/>
              <a:gd name="adj2" fmla="val 67699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Let’s just have a team coffee with you then</a:t>
            </a:r>
          </a:p>
        </p:txBody>
      </p:sp>
      <p:pic>
        <p:nvPicPr>
          <p:cNvPr id="61" name="Image 60">
            <a:extLst>
              <a:ext uri="{FF2B5EF4-FFF2-40B4-BE49-F238E27FC236}">
                <a16:creationId xmlns:a16="http://schemas.microsoft.com/office/drawing/2014/main" id="{B50DC8EE-5ECB-4AF3-A15C-51C1D00930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725096" y="3325011"/>
            <a:ext cx="565796" cy="533747"/>
          </a:xfrm>
          <a:prstGeom prst="rect">
            <a:avLst/>
          </a:prstGeom>
        </p:spPr>
      </p:pic>
      <p:sp>
        <p:nvSpPr>
          <p:cNvPr id="62" name="Bulle narrative : ronde 61">
            <a:extLst>
              <a:ext uri="{FF2B5EF4-FFF2-40B4-BE49-F238E27FC236}">
                <a16:creationId xmlns:a16="http://schemas.microsoft.com/office/drawing/2014/main" id="{3C94B566-5A9A-4CFC-9276-5CA393154140}"/>
              </a:ext>
            </a:extLst>
          </p:cNvPr>
          <p:cNvSpPr/>
          <p:nvPr/>
        </p:nvSpPr>
        <p:spPr>
          <a:xfrm>
            <a:off x="8819745" y="2978595"/>
            <a:ext cx="1862507" cy="733028"/>
          </a:xfrm>
          <a:prstGeom prst="wedgeEllipseCallout">
            <a:avLst>
              <a:gd name="adj1" fmla="val 62946"/>
              <a:gd name="adj2" fmla="val 41839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It looks like lots of you are interested in my presentation, maybe I should plan a meetup then</a:t>
            </a:r>
          </a:p>
        </p:txBody>
      </p:sp>
      <p:sp>
        <p:nvSpPr>
          <p:cNvPr id="66" name="Bulle narrative : ronde 65">
            <a:extLst>
              <a:ext uri="{FF2B5EF4-FFF2-40B4-BE49-F238E27FC236}">
                <a16:creationId xmlns:a16="http://schemas.microsoft.com/office/drawing/2014/main" id="{CD9D1FF3-4187-485E-B27C-F35F80AEA8AB}"/>
              </a:ext>
            </a:extLst>
          </p:cNvPr>
          <p:cNvSpPr/>
          <p:nvPr/>
        </p:nvSpPr>
        <p:spPr>
          <a:xfrm>
            <a:off x="8230012" y="5849282"/>
            <a:ext cx="1268693" cy="866900"/>
          </a:xfrm>
          <a:prstGeom prst="wedgeEllipseCallout">
            <a:avLst>
              <a:gd name="adj1" fmla="val 67093"/>
              <a:gd name="adj2" fmla="val -19321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Next time, I will bring some colleagues in !</a:t>
            </a:r>
          </a:p>
        </p:txBody>
      </p:sp>
      <p:sp>
        <p:nvSpPr>
          <p:cNvPr id="67" name="Bulle narrative : ronde 66">
            <a:extLst>
              <a:ext uri="{FF2B5EF4-FFF2-40B4-BE49-F238E27FC236}">
                <a16:creationId xmlns:a16="http://schemas.microsoft.com/office/drawing/2014/main" id="{11C50CBF-E56D-4596-8824-4D60D179A7F6}"/>
              </a:ext>
            </a:extLst>
          </p:cNvPr>
          <p:cNvSpPr/>
          <p:nvPr/>
        </p:nvSpPr>
        <p:spPr>
          <a:xfrm>
            <a:off x="10615153" y="5792304"/>
            <a:ext cx="1268693" cy="866900"/>
          </a:xfrm>
          <a:prstGeom prst="wedgeEllipseCallout">
            <a:avLst>
              <a:gd name="adj1" fmla="val -58436"/>
              <a:gd name="adj2" fmla="val -18442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My team will be happy with whom I found today !</a:t>
            </a:r>
          </a:p>
        </p:txBody>
      </p:sp>
    </p:spTree>
    <p:extLst>
      <p:ext uri="{BB962C8B-B14F-4D97-AF65-F5344CB8AC3E}">
        <p14:creationId xmlns:p14="http://schemas.microsoft.com/office/powerpoint/2010/main" val="1345515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EB13ED-0457-495C-92B8-12CA91623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#OpenSeriousHub</a:t>
            </a:r>
            <a:br>
              <a:rPr lang="fr-FR" dirty="0"/>
            </a:br>
            <a:r>
              <a:rPr lang="fr-FR" dirty="0"/>
              <a:t>On-site version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D07BC614-855B-4E08-9676-0F64FBD98598}"/>
              </a:ext>
            </a:extLst>
          </p:cNvPr>
          <p:cNvGrpSpPr/>
          <p:nvPr/>
        </p:nvGrpSpPr>
        <p:grpSpPr>
          <a:xfrm>
            <a:off x="3635797" y="3152251"/>
            <a:ext cx="4403324" cy="2478408"/>
            <a:chOff x="2111331" y="4364374"/>
            <a:chExt cx="3569034" cy="2008828"/>
          </a:xfrm>
          <a:solidFill>
            <a:srgbClr val="EC7B2B"/>
          </a:solidFill>
        </p:grpSpPr>
        <p:pic>
          <p:nvPicPr>
            <p:cNvPr id="5" name="Graphique 4" descr="Personne confuse avec un remplissage uni">
              <a:extLst>
                <a:ext uri="{FF2B5EF4-FFF2-40B4-BE49-F238E27FC236}">
                  <a16:creationId xmlns:a16="http://schemas.microsoft.com/office/drawing/2014/main" id="{2E70CEC8-664F-4D84-B2C5-B2A9C10E8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03977" y="4509340"/>
              <a:ext cx="602103" cy="602103"/>
            </a:xfrm>
            <a:prstGeom prst="rect">
              <a:avLst/>
            </a:prstGeom>
          </p:spPr>
        </p:pic>
        <p:pic>
          <p:nvPicPr>
            <p:cNvPr id="6" name="Graphique 5" descr="Personne confuse avec un remplissage uni">
              <a:extLst>
                <a:ext uri="{FF2B5EF4-FFF2-40B4-BE49-F238E27FC236}">
                  <a16:creationId xmlns:a16="http://schemas.microsoft.com/office/drawing/2014/main" id="{ED057870-1384-4541-B409-A7C5F5CED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11331" y="4808849"/>
              <a:ext cx="602103" cy="602103"/>
            </a:xfrm>
            <a:prstGeom prst="rect">
              <a:avLst/>
            </a:prstGeom>
          </p:spPr>
        </p:pic>
        <p:pic>
          <p:nvPicPr>
            <p:cNvPr id="7" name="Graphique 6" descr="Personne confuse avec un remplissage uni">
              <a:extLst>
                <a:ext uri="{FF2B5EF4-FFF2-40B4-BE49-F238E27FC236}">
                  <a16:creationId xmlns:a16="http://schemas.microsoft.com/office/drawing/2014/main" id="{FFE43EF8-B179-4E91-9344-0FC914C1F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77211" y="4418681"/>
              <a:ext cx="602103" cy="602103"/>
            </a:xfrm>
            <a:prstGeom prst="rect">
              <a:avLst/>
            </a:prstGeom>
          </p:spPr>
        </p:pic>
        <p:pic>
          <p:nvPicPr>
            <p:cNvPr id="8" name="Graphique 7" descr="Personne confuse avec un remplissage uni">
              <a:extLst>
                <a:ext uri="{FF2B5EF4-FFF2-40B4-BE49-F238E27FC236}">
                  <a16:creationId xmlns:a16="http://schemas.microsoft.com/office/drawing/2014/main" id="{49F9A6C1-F662-48E5-B5DA-83FDF91D4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78262" y="4507797"/>
              <a:ext cx="602103" cy="602103"/>
            </a:xfrm>
            <a:prstGeom prst="rect">
              <a:avLst/>
            </a:prstGeom>
          </p:spPr>
        </p:pic>
        <p:pic>
          <p:nvPicPr>
            <p:cNvPr id="9" name="Graphique 8" descr="Personne confuse avec un remplissage uni">
              <a:extLst>
                <a:ext uri="{FF2B5EF4-FFF2-40B4-BE49-F238E27FC236}">
                  <a16:creationId xmlns:a16="http://schemas.microsoft.com/office/drawing/2014/main" id="{ECC61BE7-1BD8-4320-97CE-2C850EE9F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5616" y="4807306"/>
              <a:ext cx="602103" cy="602103"/>
            </a:xfrm>
            <a:prstGeom prst="rect">
              <a:avLst/>
            </a:prstGeom>
          </p:spPr>
        </p:pic>
        <p:pic>
          <p:nvPicPr>
            <p:cNvPr id="10" name="Graphique 9" descr="Personne confuse avec un remplissage uni">
              <a:extLst>
                <a:ext uri="{FF2B5EF4-FFF2-40B4-BE49-F238E27FC236}">
                  <a16:creationId xmlns:a16="http://schemas.microsoft.com/office/drawing/2014/main" id="{F3AABFEE-3B40-423C-A40B-46CE03177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06547" y="4569978"/>
              <a:ext cx="602103" cy="602103"/>
            </a:xfrm>
            <a:prstGeom prst="rect">
              <a:avLst/>
            </a:prstGeom>
          </p:spPr>
        </p:pic>
        <p:pic>
          <p:nvPicPr>
            <p:cNvPr id="11" name="Graphique 10" descr="Personne confuse avec un remplissage uni">
              <a:extLst>
                <a:ext uri="{FF2B5EF4-FFF2-40B4-BE49-F238E27FC236}">
                  <a16:creationId xmlns:a16="http://schemas.microsoft.com/office/drawing/2014/main" id="{CBE8E613-2DDE-435F-A741-D52403144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7598" y="4659094"/>
              <a:ext cx="602103" cy="602103"/>
            </a:xfrm>
            <a:prstGeom prst="rect">
              <a:avLst/>
            </a:prstGeom>
          </p:spPr>
        </p:pic>
        <p:pic>
          <p:nvPicPr>
            <p:cNvPr id="12" name="Graphique 11" descr="Personne confuse avec un remplissage uni">
              <a:extLst>
                <a:ext uri="{FF2B5EF4-FFF2-40B4-BE49-F238E27FC236}">
                  <a16:creationId xmlns:a16="http://schemas.microsoft.com/office/drawing/2014/main" id="{7AE00980-3FB3-4354-B6A2-0C002B539B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54257" y="4922452"/>
              <a:ext cx="602103" cy="602103"/>
            </a:xfrm>
            <a:prstGeom prst="rect">
              <a:avLst/>
            </a:prstGeom>
          </p:spPr>
        </p:pic>
        <p:pic>
          <p:nvPicPr>
            <p:cNvPr id="13" name="Graphique 12" descr="Personne confuse avec un remplissage uni">
              <a:extLst>
                <a:ext uri="{FF2B5EF4-FFF2-40B4-BE49-F238E27FC236}">
                  <a16:creationId xmlns:a16="http://schemas.microsoft.com/office/drawing/2014/main" id="{F1F97767-632F-4AAF-A1EC-A10007EFF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87272" y="5666635"/>
              <a:ext cx="602103" cy="602103"/>
            </a:xfrm>
            <a:prstGeom prst="rect">
              <a:avLst/>
            </a:prstGeom>
          </p:spPr>
        </p:pic>
        <p:pic>
          <p:nvPicPr>
            <p:cNvPr id="14" name="Graphique 13" descr="Personne confuse avec un remplissage uni">
              <a:extLst>
                <a:ext uri="{FF2B5EF4-FFF2-40B4-BE49-F238E27FC236}">
                  <a16:creationId xmlns:a16="http://schemas.microsoft.com/office/drawing/2014/main" id="{ACB71B94-C712-4AD5-AD3A-5A7BA112F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02585" y="5433414"/>
              <a:ext cx="602103" cy="602103"/>
            </a:xfrm>
            <a:prstGeom prst="rect">
              <a:avLst/>
            </a:prstGeom>
          </p:spPr>
        </p:pic>
        <p:pic>
          <p:nvPicPr>
            <p:cNvPr id="15" name="Graphique 14" descr="Personne confuse avec un remplissage uni">
              <a:extLst>
                <a:ext uri="{FF2B5EF4-FFF2-40B4-BE49-F238E27FC236}">
                  <a16:creationId xmlns:a16="http://schemas.microsoft.com/office/drawing/2014/main" id="{B0E1D8C2-4A51-4E2D-8E78-84A2726E5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45079" y="5771099"/>
              <a:ext cx="602103" cy="602103"/>
            </a:xfrm>
            <a:prstGeom prst="rect">
              <a:avLst/>
            </a:prstGeom>
          </p:spPr>
        </p:pic>
        <p:pic>
          <p:nvPicPr>
            <p:cNvPr id="16" name="Graphique 15" descr="Personne confuse avec un remplissage uni">
              <a:extLst>
                <a:ext uri="{FF2B5EF4-FFF2-40B4-BE49-F238E27FC236}">
                  <a16:creationId xmlns:a16="http://schemas.microsoft.com/office/drawing/2014/main" id="{A5FAA771-0CFD-4ED1-A3D9-AD0EBB864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5784" y="5666635"/>
              <a:ext cx="602103" cy="602103"/>
            </a:xfrm>
            <a:prstGeom prst="rect">
              <a:avLst/>
            </a:prstGeom>
          </p:spPr>
        </p:pic>
        <p:pic>
          <p:nvPicPr>
            <p:cNvPr id="17" name="Graphique 16" descr="Personne confuse avec un remplissage uni">
              <a:extLst>
                <a:ext uri="{FF2B5EF4-FFF2-40B4-BE49-F238E27FC236}">
                  <a16:creationId xmlns:a16="http://schemas.microsoft.com/office/drawing/2014/main" id="{CF458EB2-D5A4-4588-981D-219C272D4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69112" y="4364374"/>
              <a:ext cx="602103" cy="602103"/>
            </a:xfrm>
            <a:prstGeom prst="rect">
              <a:avLst/>
            </a:prstGeom>
          </p:spPr>
        </p:pic>
        <p:pic>
          <p:nvPicPr>
            <p:cNvPr id="18" name="Graphique 17" descr="Personne confuse avec un remplissage uni">
              <a:extLst>
                <a:ext uri="{FF2B5EF4-FFF2-40B4-BE49-F238E27FC236}">
                  <a16:creationId xmlns:a16="http://schemas.microsoft.com/office/drawing/2014/main" id="{54348E68-58ED-42E3-AFB2-48103DA4A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76466" y="4663883"/>
              <a:ext cx="602103" cy="602103"/>
            </a:xfrm>
            <a:prstGeom prst="rect">
              <a:avLst/>
            </a:prstGeom>
          </p:spPr>
        </p:pic>
        <p:pic>
          <p:nvPicPr>
            <p:cNvPr id="19" name="Graphique 18" descr="Personne confuse avec un remplissage uni">
              <a:extLst>
                <a:ext uri="{FF2B5EF4-FFF2-40B4-BE49-F238E27FC236}">
                  <a16:creationId xmlns:a16="http://schemas.microsoft.com/office/drawing/2014/main" id="{D232CC54-8D85-4646-9D1F-4CB6F6F68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70127" y="5674127"/>
              <a:ext cx="602102" cy="602102"/>
            </a:xfrm>
            <a:prstGeom prst="rect">
              <a:avLst/>
            </a:prstGeom>
          </p:spPr>
        </p:pic>
        <p:pic>
          <p:nvPicPr>
            <p:cNvPr id="20" name="Graphique 19" descr="Personne confuse avec un remplissage uni">
              <a:extLst>
                <a:ext uri="{FF2B5EF4-FFF2-40B4-BE49-F238E27FC236}">
                  <a16:creationId xmlns:a16="http://schemas.microsoft.com/office/drawing/2014/main" id="{63B4811F-0F07-4FF6-BD67-B5AC21C07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88773" y="5399065"/>
              <a:ext cx="602103" cy="602103"/>
            </a:xfrm>
            <a:prstGeom prst="rect">
              <a:avLst/>
            </a:prstGeom>
          </p:spPr>
        </p:pic>
        <p:cxnSp>
          <p:nvCxnSpPr>
            <p:cNvPr id="21" name="Connecteur droit avec flèche 20">
              <a:extLst>
                <a:ext uri="{FF2B5EF4-FFF2-40B4-BE49-F238E27FC236}">
                  <a16:creationId xmlns:a16="http://schemas.microsoft.com/office/drawing/2014/main" id="{35FF6A0C-1C75-4558-8080-44B70D1F38AD}"/>
                </a:ext>
              </a:extLst>
            </p:cNvPr>
            <p:cNvCxnSpPr/>
            <p:nvPr/>
          </p:nvCxnSpPr>
          <p:spPr>
            <a:xfrm>
              <a:off x="2676752" y="4952008"/>
              <a:ext cx="1752848" cy="8137"/>
            </a:xfrm>
            <a:prstGeom prst="straightConnector1">
              <a:avLst/>
            </a:prstGeom>
            <a:grpFill/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avec flèche 21">
              <a:extLst>
                <a:ext uri="{FF2B5EF4-FFF2-40B4-BE49-F238E27FC236}">
                  <a16:creationId xmlns:a16="http://schemas.microsoft.com/office/drawing/2014/main" id="{53F7B3BD-7984-4151-A805-8C650EED7F4C}"/>
                </a:ext>
              </a:extLst>
            </p:cNvPr>
            <p:cNvCxnSpPr>
              <a:cxnSpLocks/>
            </p:cNvCxnSpPr>
            <p:nvPr/>
          </p:nvCxnSpPr>
          <p:spPr>
            <a:xfrm>
              <a:off x="2642768" y="5243661"/>
              <a:ext cx="707057" cy="307861"/>
            </a:xfrm>
            <a:prstGeom prst="straightConnector1">
              <a:avLst/>
            </a:prstGeom>
            <a:grpFill/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avec flèche 22">
              <a:extLst>
                <a:ext uri="{FF2B5EF4-FFF2-40B4-BE49-F238E27FC236}">
                  <a16:creationId xmlns:a16="http://schemas.microsoft.com/office/drawing/2014/main" id="{55C4E47C-F411-49BC-8D9E-4506D31B9E6E}"/>
                </a:ext>
              </a:extLst>
            </p:cNvPr>
            <p:cNvCxnSpPr>
              <a:cxnSpLocks/>
            </p:cNvCxnSpPr>
            <p:nvPr/>
          </p:nvCxnSpPr>
          <p:spPr>
            <a:xfrm>
              <a:off x="3678622" y="5169447"/>
              <a:ext cx="1163219" cy="586304"/>
            </a:xfrm>
            <a:prstGeom prst="straightConnector1">
              <a:avLst/>
            </a:prstGeom>
            <a:grpFill/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avec flèche 23">
              <a:extLst>
                <a:ext uri="{FF2B5EF4-FFF2-40B4-BE49-F238E27FC236}">
                  <a16:creationId xmlns:a16="http://schemas.microsoft.com/office/drawing/2014/main" id="{BAA3C35F-985E-4E33-ADFE-30288F8BD3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4508" y="5794123"/>
              <a:ext cx="341652" cy="257297"/>
            </a:xfrm>
            <a:prstGeom prst="straightConnector1">
              <a:avLst/>
            </a:prstGeom>
            <a:grpFill/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eur droit avec flèche 24">
              <a:extLst>
                <a:ext uri="{FF2B5EF4-FFF2-40B4-BE49-F238E27FC236}">
                  <a16:creationId xmlns:a16="http://schemas.microsoft.com/office/drawing/2014/main" id="{EE1C4277-10BE-49DB-B0AB-F61F4E32D47C}"/>
                </a:ext>
              </a:extLst>
            </p:cNvPr>
            <p:cNvCxnSpPr>
              <a:cxnSpLocks/>
            </p:cNvCxnSpPr>
            <p:nvPr/>
          </p:nvCxnSpPr>
          <p:spPr>
            <a:xfrm>
              <a:off x="4214772" y="5808627"/>
              <a:ext cx="205146" cy="79241"/>
            </a:xfrm>
            <a:prstGeom prst="straightConnector1">
              <a:avLst/>
            </a:prstGeom>
            <a:grpFill/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avec flèche 25">
              <a:extLst>
                <a:ext uri="{FF2B5EF4-FFF2-40B4-BE49-F238E27FC236}">
                  <a16:creationId xmlns:a16="http://schemas.microsoft.com/office/drawing/2014/main" id="{3DDD1FA9-BAC3-41C4-A23D-DE800BAE28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9126" y="5439429"/>
              <a:ext cx="136371" cy="251762"/>
            </a:xfrm>
            <a:prstGeom prst="straightConnector1">
              <a:avLst/>
            </a:prstGeom>
            <a:grpFill/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avec flèche 26">
              <a:extLst>
                <a:ext uri="{FF2B5EF4-FFF2-40B4-BE49-F238E27FC236}">
                  <a16:creationId xmlns:a16="http://schemas.microsoft.com/office/drawing/2014/main" id="{122B67C0-0FD9-4B02-BABC-47CA2B8185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53964" y="5189763"/>
              <a:ext cx="272889" cy="394818"/>
            </a:xfrm>
            <a:prstGeom prst="straightConnector1">
              <a:avLst/>
            </a:prstGeom>
            <a:grpFill/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eur droit avec flèche 27">
              <a:extLst>
                <a:ext uri="{FF2B5EF4-FFF2-40B4-BE49-F238E27FC236}">
                  <a16:creationId xmlns:a16="http://schemas.microsoft.com/office/drawing/2014/main" id="{93C33EC6-2391-484B-9181-4280D8E0A949}"/>
                </a:ext>
              </a:extLst>
            </p:cNvPr>
            <p:cNvCxnSpPr>
              <a:cxnSpLocks/>
            </p:cNvCxnSpPr>
            <p:nvPr/>
          </p:nvCxnSpPr>
          <p:spPr>
            <a:xfrm>
              <a:off x="3756574" y="5072030"/>
              <a:ext cx="111147" cy="368744"/>
            </a:xfrm>
            <a:prstGeom prst="straightConnector1">
              <a:avLst/>
            </a:prstGeom>
            <a:grpFill/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avec flèche 28">
              <a:extLst>
                <a:ext uri="{FF2B5EF4-FFF2-40B4-BE49-F238E27FC236}">
                  <a16:creationId xmlns:a16="http://schemas.microsoft.com/office/drawing/2014/main" id="{BEEC13B8-E77E-4018-8FAA-042992054443}"/>
                </a:ext>
              </a:extLst>
            </p:cNvPr>
            <p:cNvCxnSpPr>
              <a:cxnSpLocks/>
            </p:cNvCxnSpPr>
            <p:nvPr/>
          </p:nvCxnSpPr>
          <p:spPr>
            <a:xfrm>
              <a:off x="2560416" y="5383490"/>
              <a:ext cx="111147" cy="368744"/>
            </a:xfrm>
            <a:prstGeom prst="straightConnector1">
              <a:avLst/>
            </a:prstGeom>
            <a:grpFill/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avec flèche 29">
              <a:extLst>
                <a:ext uri="{FF2B5EF4-FFF2-40B4-BE49-F238E27FC236}">
                  <a16:creationId xmlns:a16="http://schemas.microsoft.com/office/drawing/2014/main" id="{27762659-207B-4781-8DA8-9CA6B6368136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 flipH="1">
              <a:off x="3171180" y="5338456"/>
              <a:ext cx="136706" cy="335669"/>
            </a:xfrm>
            <a:prstGeom prst="straightConnector1">
              <a:avLst/>
            </a:prstGeom>
            <a:grpFill/>
            <a:ln w="28575">
              <a:solidFill>
                <a:srgbClr val="F16E8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Graphique 30" descr="Personne confuse avec un remplissage uni">
            <a:extLst>
              <a:ext uri="{FF2B5EF4-FFF2-40B4-BE49-F238E27FC236}">
                <a16:creationId xmlns:a16="http://schemas.microsoft.com/office/drawing/2014/main" id="{8887BABF-9BAD-462A-9A1A-F2DD8E2B00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853" r="14328" b="41777"/>
          <a:stretch/>
        </p:blipFill>
        <p:spPr>
          <a:xfrm>
            <a:off x="155146" y="3229391"/>
            <a:ext cx="3046058" cy="250424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64A4C35B-3B01-4140-B56E-7AD0AE51818D}"/>
              </a:ext>
            </a:extLst>
          </p:cNvPr>
          <p:cNvSpPr/>
          <p:nvPr/>
        </p:nvSpPr>
        <p:spPr>
          <a:xfrm>
            <a:off x="1170780" y="4354890"/>
            <a:ext cx="391094" cy="40523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500" b="1" dirty="0">
                <a:solidFill>
                  <a:schemeClr val="tx1"/>
                </a:solidFill>
              </a:rPr>
              <a:t>SUJET 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9A51955-73CC-44C8-853B-50F58D9A156A}"/>
              </a:ext>
            </a:extLst>
          </p:cNvPr>
          <p:cNvSpPr/>
          <p:nvPr/>
        </p:nvSpPr>
        <p:spPr>
          <a:xfrm>
            <a:off x="1170780" y="4771426"/>
            <a:ext cx="391094" cy="40523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500" b="1" dirty="0">
                <a:solidFill>
                  <a:schemeClr val="tx1"/>
                </a:solidFill>
              </a:rPr>
              <a:t>SUJET B</a:t>
            </a:r>
          </a:p>
          <a:p>
            <a:pPr algn="r"/>
            <a:endParaRPr lang="fr-FR" sz="3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7E71FC7-D70D-4A26-9DC9-AB2B974189D6}"/>
              </a:ext>
            </a:extLst>
          </p:cNvPr>
          <p:cNvSpPr/>
          <p:nvPr/>
        </p:nvSpPr>
        <p:spPr>
          <a:xfrm>
            <a:off x="1716790" y="4354890"/>
            <a:ext cx="391094" cy="405230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500" b="1" dirty="0">
                <a:solidFill>
                  <a:schemeClr val="tx1"/>
                </a:solidFill>
              </a:rPr>
              <a:t>SUJET C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EB9F143-0B50-4CCD-A905-F45135215AF4}"/>
              </a:ext>
            </a:extLst>
          </p:cNvPr>
          <p:cNvSpPr/>
          <p:nvPr/>
        </p:nvSpPr>
        <p:spPr>
          <a:xfrm>
            <a:off x="1716790" y="4802128"/>
            <a:ext cx="391094" cy="405230"/>
          </a:xfrm>
          <a:prstGeom prst="rect">
            <a:avLst/>
          </a:prstGeom>
          <a:solidFill>
            <a:srgbClr val="7FC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500" b="1" dirty="0">
                <a:solidFill>
                  <a:schemeClr val="tx1"/>
                </a:solidFill>
              </a:rPr>
              <a:t>SUJET D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2786987A-5D8C-46F3-8963-46C0AE6F4389}"/>
              </a:ext>
            </a:extLst>
          </p:cNvPr>
          <p:cNvSpPr txBox="1"/>
          <p:nvPr/>
        </p:nvSpPr>
        <p:spPr>
          <a:xfrm>
            <a:off x="386410" y="2115683"/>
            <a:ext cx="26607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b="1" dirty="0" err="1"/>
              <a:t>Knowledge</a:t>
            </a:r>
            <a:r>
              <a:rPr lang="fr-FR" sz="1050" b="1" dirty="0"/>
              <a:t> </a:t>
            </a:r>
            <a:r>
              <a:rPr lang="fr-FR" sz="1050" b="1" dirty="0" err="1"/>
              <a:t>transfer</a:t>
            </a:r>
            <a:r>
              <a:rPr lang="fr-FR" sz="1050" b="1" dirty="0"/>
              <a:t> and learning « costume »</a:t>
            </a:r>
          </a:p>
          <a:p>
            <a:pPr algn="ctr"/>
            <a:endParaRPr lang="fr-FR" sz="1050" b="1" dirty="0"/>
          </a:p>
          <a:p>
            <a:r>
              <a:rPr lang="en-US" sz="1050" dirty="0"/>
              <a:t>Each person carries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Post-it notes of a color 1 for what they learn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Post-it notes of a color 2 for what they pass on</a:t>
            </a:r>
            <a:endParaRPr lang="fr-FR" sz="105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8796DDAD-0FFE-49C9-ADD5-C16D25F7C670}"/>
              </a:ext>
            </a:extLst>
          </p:cNvPr>
          <p:cNvSpPr txBox="1"/>
          <p:nvPr/>
        </p:nvSpPr>
        <p:spPr>
          <a:xfrm>
            <a:off x="3814720" y="2155380"/>
            <a:ext cx="3986721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Free circulation without pace constraints</a:t>
            </a:r>
            <a:endParaRPr lang="fr-FR" sz="1050" dirty="0"/>
          </a:p>
          <a:p>
            <a:pPr algn="ctr"/>
            <a:endParaRPr lang="en-US" sz="1050" dirty="0"/>
          </a:p>
          <a:p>
            <a:pPr algn="ctr"/>
            <a:r>
              <a:rPr lang="en-US" sz="1050" dirty="0"/>
              <a:t>Participants may roam free during the event. </a:t>
            </a:r>
          </a:p>
          <a:p>
            <a:pPr algn="ctr"/>
            <a:r>
              <a:rPr lang="en-US" sz="1050" dirty="0"/>
              <a:t>#OpenSeriousHub can be a "red thread" event in parallel with a buffet or a break.</a:t>
            </a:r>
            <a:endParaRPr lang="fr-FR" sz="1050" dirty="0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F2AC4C4F-C2D7-43FA-A990-E0A7A86D40BD}"/>
              </a:ext>
            </a:extLst>
          </p:cNvPr>
          <p:cNvSpPr txBox="1"/>
          <p:nvPr/>
        </p:nvSpPr>
        <p:spPr>
          <a:xfrm>
            <a:off x="8874616" y="2155380"/>
            <a:ext cx="27384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b="1" dirty="0"/>
              <a:t>« </a:t>
            </a:r>
            <a:r>
              <a:rPr lang="fr-FR" sz="1050" b="1" dirty="0" err="1"/>
              <a:t>Connecting</a:t>
            </a:r>
            <a:r>
              <a:rPr lang="fr-FR" sz="1050" b="1" dirty="0"/>
              <a:t> the Dots" mission</a:t>
            </a:r>
          </a:p>
          <a:p>
            <a:pPr algn="ctr"/>
            <a:r>
              <a:rPr lang="en-US" sz="1050" dirty="0"/>
              <a:t>Everyone is invited to bring others together if they identify an opportunity for knowledge transfer.</a:t>
            </a:r>
            <a:endParaRPr lang="fr-FR" sz="1050" dirty="0"/>
          </a:p>
        </p:txBody>
      </p: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67FAD4B2-795F-48EE-B5C4-A26C8B6D9909}"/>
              </a:ext>
            </a:extLst>
          </p:cNvPr>
          <p:cNvGrpSpPr/>
          <p:nvPr/>
        </p:nvGrpSpPr>
        <p:grpSpPr>
          <a:xfrm>
            <a:off x="10166554" y="3714327"/>
            <a:ext cx="1654987" cy="1360610"/>
            <a:chOff x="8676510" y="3265956"/>
            <a:chExt cx="3046058" cy="2504248"/>
          </a:xfrm>
        </p:grpSpPr>
        <p:pic>
          <p:nvPicPr>
            <p:cNvPr id="39" name="Graphique 38" descr="Personne confuse avec un remplissage uni">
              <a:extLst>
                <a:ext uri="{FF2B5EF4-FFF2-40B4-BE49-F238E27FC236}">
                  <a16:creationId xmlns:a16="http://schemas.microsoft.com/office/drawing/2014/main" id="{9402F09B-6ADB-4897-B5B9-25FF893699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4853" r="14328" b="41777"/>
            <a:stretch/>
          </p:blipFill>
          <p:spPr>
            <a:xfrm>
              <a:off x="8676510" y="3265956"/>
              <a:ext cx="3046058" cy="2504248"/>
            </a:xfrm>
            <a:prstGeom prst="rect">
              <a:avLst/>
            </a:prstGeom>
          </p:spPr>
        </p:pic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50D88D8-8965-42E2-8E9F-AE03C4BE105C}"/>
                </a:ext>
              </a:extLst>
            </p:cNvPr>
            <p:cNvSpPr/>
            <p:nvPr/>
          </p:nvSpPr>
          <p:spPr>
            <a:xfrm>
              <a:off x="9692144" y="4391455"/>
              <a:ext cx="391094" cy="40523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</a:rPr>
                <a:t>A</a:t>
              </a:r>
            </a:p>
          </p:txBody>
        </p:sp>
      </p:grp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14FDEE9D-EFB8-49F3-80D1-2907F7D69F11}"/>
              </a:ext>
            </a:extLst>
          </p:cNvPr>
          <p:cNvGrpSpPr/>
          <p:nvPr/>
        </p:nvGrpSpPr>
        <p:grpSpPr>
          <a:xfrm>
            <a:off x="8110909" y="3698722"/>
            <a:ext cx="1654987" cy="1360610"/>
            <a:chOff x="8676510" y="3265956"/>
            <a:chExt cx="3046058" cy="2504248"/>
          </a:xfrm>
        </p:grpSpPr>
        <p:pic>
          <p:nvPicPr>
            <p:cNvPr id="46" name="Graphique 45" descr="Personne confuse avec un remplissage uni">
              <a:extLst>
                <a:ext uri="{FF2B5EF4-FFF2-40B4-BE49-F238E27FC236}">
                  <a16:creationId xmlns:a16="http://schemas.microsoft.com/office/drawing/2014/main" id="{C306A6EE-6506-4C13-A8A5-A1860F95CC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4853" r="14328" b="41777"/>
            <a:stretch/>
          </p:blipFill>
          <p:spPr>
            <a:xfrm>
              <a:off x="8676510" y="3265956"/>
              <a:ext cx="3046058" cy="2504248"/>
            </a:xfrm>
            <a:prstGeom prst="rect">
              <a:avLst/>
            </a:prstGeom>
          </p:spPr>
        </p:pic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318888D-52A6-4FD0-AD73-00C4109EBC6C}"/>
                </a:ext>
              </a:extLst>
            </p:cNvPr>
            <p:cNvSpPr/>
            <p:nvPr/>
          </p:nvSpPr>
          <p:spPr>
            <a:xfrm>
              <a:off x="9692144" y="4391455"/>
              <a:ext cx="391094" cy="40523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fr-FR" sz="1100" b="1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23FF151-A257-4565-AF89-CE9419510515}"/>
                </a:ext>
              </a:extLst>
            </p:cNvPr>
            <p:cNvSpPr/>
            <p:nvPr/>
          </p:nvSpPr>
          <p:spPr>
            <a:xfrm>
              <a:off x="10238154" y="4391455"/>
              <a:ext cx="391094" cy="405230"/>
            </a:xfrm>
            <a:prstGeom prst="rect">
              <a:avLst/>
            </a:prstGeom>
            <a:solidFill>
              <a:srgbClr val="7FC1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fr-FR" sz="1100" b="1" dirty="0">
                  <a:solidFill>
                    <a:schemeClr val="tx1"/>
                  </a:solidFill>
                </a:rPr>
                <a:t>D</a:t>
              </a:r>
            </a:p>
          </p:txBody>
        </p:sp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65758D9A-7E4E-4C46-B9EE-4396AFADFA7B}"/>
              </a:ext>
            </a:extLst>
          </p:cNvPr>
          <p:cNvGrpSpPr/>
          <p:nvPr/>
        </p:nvGrpSpPr>
        <p:grpSpPr>
          <a:xfrm>
            <a:off x="10381867" y="5259234"/>
            <a:ext cx="1654987" cy="1360610"/>
            <a:chOff x="8676510" y="3265956"/>
            <a:chExt cx="3046058" cy="2504248"/>
          </a:xfrm>
        </p:grpSpPr>
        <p:pic>
          <p:nvPicPr>
            <p:cNvPr id="52" name="Graphique 51" descr="Personne confuse avec un remplissage uni">
              <a:extLst>
                <a:ext uri="{FF2B5EF4-FFF2-40B4-BE49-F238E27FC236}">
                  <a16:creationId xmlns:a16="http://schemas.microsoft.com/office/drawing/2014/main" id="{69DC129C-066F-4230-A886-65EB0F5144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4853" r="14328" b="41777"/>
            <a:stretch/>
          </p:blipFill>
          <p:spPr>
            <a:xfrm>
              <a:off x="8676510" y="3265956"/>
              <a:ext cx="3046058" cy="2504248"/>
            </a:xfrm>
            <a:prstGeom prst="rect">
              <a:avLst/>
            </a:prstGeom>
          </p:spPr>
        </p:pic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7277E0E-B5AD-4013-8C8F-3D6C30334A9F}"/>
                </a:ext>
              </a:extLst>
            </p:cNvPr>
            <p:cNvSpPr/>
            <p:nvPr/>
          </p:nvSpPr>
          <p:spPr>
            <a:xfrm>
              <a:off x="10238154" y="4391455"/>
              <a:ext cx="391094" cy="405230"/>
            </a:xfrm>
            <a:prstGeom prst="rect">
              <a:avLst/>
            </a:prstGeom>
            <a:solidFill>
              <a:srgbClr val="7FC1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fr-FR" sz="1400" b="1" dirty="0">
                  <a:solidFill>
                    <a:schemeClr val="tx1"/>
                  </a:solidFill>
                </a:rPr>
                <a:t>A</a:t>
              </a:r>
            </a:p>
          </p:txBody>
        </p:sp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AF706454-990D-46DF-BABD-CEB0F1C8341D}"/>
              </a:ext>
            </a:extLst>
          </p:cNvPr>
          <p:cNvGrpSpPr/>
          <p:nvPr/>
        </p:nvGrpSpPr>
        <p:grpSpPr>
          <a:xfrm>
            <a:off x="8589281" y="2980687"/>
            <a:ext cx="1714747" cy="742849"/>
            <a:chOff x="8732703" y="3002381"/>
            <a:chExt cx="1714747" cy="742849"/>
          </a:xfrm>
        </p:grpSpPr>
        <p:sp>
          <p:nvSpPr>
            <p:cNvPr id="57" name="Bulle narrative : ronde 56">
              <a:extLst>
                <a:ext uri="{FF2B5EF4-FFF2-40B4-BE49-F238E27FC236}">
                  <a16:creationId xmlns:a16="http://schemas.microsoft.com/office/drawing/2014/main" id="{5E4612D4-5C03-4336-8003-C4318CFFB456}"/>
                </a:ext>
              </a:extLst>
            </p:cNvPr>
            <p:cNvSpPr/>
            <p:nvPr/>
          </p:nvSpPr>
          <p:spPr>
            <a:xfrm>
              <a:off x="8732703" y="3002381"/>
              <a:ext cx="1714747" cy="742849"/>
            </a:xfrm>
            <a:prstGeom prst="wedgeEllipseCallou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8" name="Graphique 57" descr="Personne confuse avec un remplissage uni">
              <a:extLst>
                <a:ext uri="{FF2B5EF4-FFF2-40B4-BE49-F238E27FC236}">
                  <a16:creationId xmlns:a16="http://schemas.microsoft.com/office/drawing/2014/main" id="{3813578D-A08D-4472-A1E1-285C141C40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4853" r="14328" b="41777"/>
            <a:stretch/>
          </p:blipFill>
          <p:spPr>
            <a:xfrm>
              <a:off x="9578400" y="3095445"/>
              <a:ext cx="568658" cy="467509"/>
            </a:xfrm>
            <a:prstGeom prst="rect">
              <a:avLst/>
            </a:prstGeom>
          </p:spPr>
        </p:pic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4040211-EA16-4718-B314-69134B92EAF1}"/>
                </a:ext>
              </a:extLst>
            </p:cNvPr>
            <p:cNvSpPr/>
            <p:nvPr/>
          </p:nvSpPr>
          <p:spPr>
            <a:xfrm>
              <a:off x="9812623" y="3259551"/>
              <a:ext cx="212490" cy="220170"/>
            </a:xfrm>
            <a:prstGeom prst="rect">
              <a:avLst/>
            </a:prstGeom>
            <a:solidFill>
              <a:srgbClr val="7FC1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fr-FR" sz="1400" b="1" dirty="0">
                  <a:solidFill>
                    <a:schemeClr val="tx1"/>
                  </a:solidFill>
                </a:rPr>
                <a:t>A</a:t>
              </a:r>
            </a:p>
          </p:txBody>
        </p:sp>
        <p:pic>
          <p:nvPicPr>
            <p:cNvPr id="60" name="Graphique 59" descr="Personne confuse avec un remplissage uni">
              <a:extLst>
                <a:ext uri="{FF2B5EF4-FFF2-40B4-BE49-F238E27FC236}">
                  <a16:creationId xmlns:a16="http://schemas.microsoft.com/office/drawing/2014/main" id="{C96B7D6D-B3E7-4A11-B791-C09F71256A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4853" r="14328" b="41777"/>
            <a:stretch/>
          </p:blipFill>
          <p:spPr>
            <a:xfrm>
              <a:off x="8875214" y="3117774"/>
              <a:ext cx="581241" cy="477854"/>
            </a:xfrm>
            <a:prstGeom prst="rect">
              <a:avLst/>
            </a:prstGeom>
          </p:spPr>
        </p:pic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7EE7760-A7C9-41B0-9C70-73B179EFBBA2}"/>
                </a:ext>
              </a:extLst>
            </p:cNvPr>
            <p:cNvSpPr/>
            <p:nvPr/>
          </p:nvSpPr>
          <p:spPr>
            <a:xfrm>
              <a:off x="9018038" y="3302202"/>
              <a:ext cx="212490" cy="22017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</a:rPr>
                <a:t>A</a:t>
              </a:r>
            </a:p>
          </p:txBody>
        </p:sp>
      </p:grpSp>
      <p:sp>
        <p:nvSpPr>
          <p:cNvPr id="63" name="Bulle narrative : ronde 62">
            <a:extLst>
              <a:ext uri="{FF2B5EF4-FFF2-40B4-BE49-F238E27FC236}">
                <a16:creationId xmlns:a16="http://schemas.microsoft.com/office/drawing/2014/main" id="{F062310E-002C-4005-AA9A-6DAB2FC64D99}"/>
              </a:ext>
            </a:extLst>
          </p:cNvPr>
          <p:cNvSpPr/>
          <p:nvPr/>
        </p:nvSpPr>
        <p:spPr>
          <a:xfrm>
            <a:off x="10574583" y="3219253"/>
            <a:ext cx="1466485" cy="504283"/>
          </a:xfrm>
          <a:prstGeom prst="wedgeEllipseCallout">
            <a:avLst>
              <a:gd name="adj1" fmla="val -9832"/>
              <a:gd name="adj2" fmla="val 69643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6" name="Graphique 65" descr="Signe pouce en haut avec un remplissage uni">
            <a:extLst>
              <a:ext uri="{FF2B5EF4-FFF2-40B4-BE49-F238E27FC236}">
                <a16:creationId xmlns:a16="http://schemas.microsoft.com/office/drawing/2014/main" id="{6EC9C03D-EAF7-42A1-A29E-B3EB6BE9A4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03726" y="3237857"/>
            <a:ext cx="443771" cy="44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29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EB13ED-0457-495C-92B8-12CA91623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#OpenSeriousHub</a:t>
            </a:r>
            <a:br>
              <a:rPr lang="fr-FR"/>
            </a:br>
            <a:r>
              <a:rPr lang="fr-FR"/>
              <a:t>On-site version Gamification</a:t>
            </a:r>
            <a:endParaRPr lang="fr-FR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2786987A-5D8C-46F3-8963-46C0AE6F4389}"/>
              </a:ext>
            </a:extLst>
          </p:cNvPr>
          <p:cNvSpPr txBox="1"/>
          <p:nvPr/>
        </p:nvSpPr>
        <p:spPr>
          <a:xfrm>
            <a:off x="320354" y="2154471"/>
            <a:ext cx="268029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Collective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Participants have a collective score during the event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1 point </a:t>
            </a:r>
            <a:r>
              <a:rPr lang="en-US" sz="1600" dirty="0"/>
              <a:t>for each connection that took place during the #OpenSeriousHub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494BA"/>
                </a:solidFill>
              </a:rPr>
              <a:t>5 points </a:t>
            </a:r>
            <a:r>
              <a:rPr lang="en-US" sz="1600" dirty="0"/>
              <a:t>for each future "small group" event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EC7B2B"/>
                </a:solidFill>
              </a:rPr>
              <a:t>20 points </a:t>
            </a:r>
            <a:r>
              <a:rPr lang="en-US" sz="1600" dirty="0"/>
              <a:t>for each commitment to co-create content related to their small group topic</a:t>
            </a:r>
            <a:endParaRPr lang="fr-FR" sz="1600" dirty="0"/>
          </a:p>
        </p:txBody>
      </p:sp>
      <p:sp>
        <p:nvSpPr>
          <p:cNvPr id="3" name="Est égal à 2">
            <a:extLst>
              <a:ext uri="{FF2B5EF4-FFF2-40B4-BE49-F238E27FC236}">
                <a16:creationId xmlns:a16="http://schemas.microsoft.com/office/drawing/2014/main" id="{B48D66E4-3515-4FF0-81E7-E4148A2849C7}"/>
              </a:ext>
            </a:extLst>
          </p:cNvPr>
          <p:cNvSpPr/>
          <p:nvPr/>
        </p:nvSpPr>
        <p:spPr>
          <a:xfrm>
            <a:off x="5684884" y="2905780"/>
            <a:ext cx="511886" cy="532661"/>
          </a:xfrm>
          <a:prstGeom prst="mathEqual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grpSp>
        <p:nvGrpSpPr>
          <p:cNvPr id="65" name="Groupe 64">
            <a:extLst>
              <a:ext uri="{FF2B5EF4-FFF2-40B4-BE49-F238E27FC236}">
                <a16:creationId xmlns:a16="http://schemas.microsoft.com/office/drawing/2014/main" id="{369BE2E6-F843-4CDC-B2C3-9CD2CE1E212C}"/>
              </a:ext>
            </a:extLst>
          </p:cNvPr>
          <p:cNvGrpSpPr/>
          <p:nvPr/>
        </p:nvGrpSpPr>
        <p:grpSpPr>
          <a:xfrm>
            <a:off x="3218807" y="2643997"/>
            <a:ext cx="2452074" cy="959071"/>
            <a:chOff x="8875214" y="3117774"/>
            <a:chExt cx="1221738" cy="477854"/>
          </a:xfrm>
        </p:grpSpPr>
        <p:pic>
          <p:nvPicPr>
            <p:cNvPr id="68" name="Graphique 67" descr="Personne confuse avec un remplissage uni">
              <a:extLst>
                <a:ext uri="{FF2B5EF4-FFF2-40B4-BE49-F238E27FC236}">
                  <a16:creationId xmlns:a16="http://schemas.microsoft.com/office/drawing/2014/main" id="{FAD75E41-BA17-4093-B0D3-80D4F7242E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4853" r="14328" b="41777"/>
            <a:stretch/>
          </p:blipFill>
          <p:spPr>
            <a:xfrm>
              <a:off x="9528294" y="3117774"/>
              <a:ext cx="568658" cy="467509"/>
            </a:xfrm>
            <a:prstGeom prst="rect">
              <a:avLst/>
            </a:prstGeom>
          </p:spPr>
        </p:pic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B1B1B8C-6C10-4BD7-8D94-F1DDCBE90434}"/>
                </a:ext>
              </a:extLst>
            </p:cNvPr>
            <p:cNvSpPr/>
            <p:nvPr/>
          </p:nvSpPr>
          <p:spPr>
            <a:xfrm>
              <a:off x="9773615" y="3302202"/>
              <a:ext cx="191310" cy="220170"/>
            </a:xfrm>
            <a:prstGeom prst="rect">
              <a:avLst/>
            </a:prstGeom>
            <a:solidFill>
              <a:srgbClr val="7FC1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fr-FR" sz="2400" b="1" dirty="0">
                  <a:solidFill>
                    <a:schemeClr val="tx1"/>
                  </a:solidFill>
                </a:rPr>
                <a:t>A</a:t>
              </a:r>
            </a:p>
          </p:txBody>
        </p:sp>
        <p:pic>
          <p:nvPicPr>
            <p:cNvPr id="70" name="Graphique 69" descr="Personne confuse avec un remplissage uni">
              <a:extLst>
                <a:ext uri="{FF2B5EF4-FFF2-40B4-BE49-F238E27FC236}">
                  <a16:creationId xmlns:a16="http://schemas.microsoft.com/office/drawing/2014/main" id="{C6129352-6880-4334-A52D-94E5F3D637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4853" r="14328" b="41777"/>
            <a:stretch/>
          </p:blipFill>
          <p:spPr>
            <a:xfrm>
              <a:off x="8875214" y="3117774"/>
              <a:ext cx="581241" cy="477854"/>
            </a:xfrm>
            <a:prstGeom prst="rect">
              <a:avLst/>
            </a:prstGeom>
          </p:spPr>
        </p:pic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EA8DA0F9-FC38-439D-9788-DF5900253742}"/>
                </a:ext>
              </a:extLst>
            </p:cNvPr>
            <p:cNvSpPr/>
            <p:nvPr/>
          </p:nvSpPr>
          <p:spPr>
            <a:xfrm>
              <a:off x="9018038" y="3302202"/>
              <a:ext cx="212490" cy="22017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fr-FR" sz="2000" b="1" dirty="0">
                  <a:solidFill>
                    <a:schemeClr val="tx1"/>
                  </a:solidFill>
                </a:rPr>
                <a:t>A</a:t>
              </a:r>
            </a:p>
          </p:txBody>
        </p:sp>
      </p:grpSp>
      <p:sp>
        <p:nvSpPr>
          <p:cNvPr id="72" name="ZoneTexte 71">
            <a:extLst>
              <a:ext uri="{FF2B5EF4-FFF2-40B4-BE49-F238E27FC236}">
                <a16:creationId xmlns:a16="http://schemas.microsoft.com/office/drawing/2014/main" id="{E573305E-F701-4A68-A741-53B836734F00}"/>
              </a:ext>
            </a:extLst>
          </p:cNvPr>
          <p:cNvSpPr txBox="1"/>
          <p:nvPr/>
        </p:nvSpPr>
        <p:spPr>
          <a:xfrm>
            <a:off x="6191837" y="2905780"/>
            <a:ext cx="12744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/>
              <a:t>1 pt</a:t>
            </a:r>
            <a:endParaRPr lang="fr-FR" sz="2800" b="1" dirty="0">
              <a:solidFill>
                <a:srgbClr val="EC7B2B"/>
              </a:solidFill>
            </a:endParaRPr>
          </a:p>
        </p:txBody>
      </p:sp>
      <p:sp>
        <p:nvSpPr>
          <p:cNvPr id="73" name="Bulle narrative : ronde 72">
            <a:extLst>
              <a:ext uri="{FF2B5EF4-FFF2-40B4-BE49-F238E27FC236}">
                <a16:creationId xmlns:a16="http://schemas.microsoft.com/office/drawing/2014/main" id="{AEC2761B-EA8D-4EB5-8E4F-466F5F7ACEDA}"/>
              </a:ext>
            </a:extLst>
          </p:cNvPr>
          <p:cNvSpPr/>
          <p:nvPr/>
        </p:nvSpPr>
        <p:spPr>
          <a:xfrm>
            <a:off x="3658187" y="2202108"/>
            <a:ext cx="1268514" cy="441889"/>
          </a:xfrm>
          <a:prstGeom prst="wedgeEllipseCallout">
            <a:avLst>
              <a:gd name="adj1" fmla="val -9832"/>
              <a:gd name="adj2" fmla="val 69643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Bulle narrative : ronde 73">
            <a:extLst>
              <a:ext uri="{FF2B5EF4-FFF2-40B4-BE49-F238E27FC236}">
                <a16:creationId xmlns:a16="http://schemas.microsoft.com/office/drawing/2014/main" id="{F67E0EDD-75BA-4419-825F-FD7E5A664195}"/>
              </a:ext>
            </a:extLst>
          </p:cNvPr>
          <p:cNvSpPr/>
          <p:nvPr/>
        </p:nvSpPr>
        <p:spPr>
          <a:xfrm>
            <a:off x="3791071" y="2202108"/>
            <a:ext cx="1268514" cy="441889"/>
          </a:xfrm>
          <a:prstGeom prst="wedgeEllipseCallout">
            <a:avLst>
              <a:gd name="adj1" fmla="val 34958"/>
              <a:gd name="adj2" fmla="val 67634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Est égal à 74">
            <a:extLst>
              <a:ext uri="{FF2B5EF4-FFF2-40B4-BE49-F238E27FC236}">
                <a16:creationId xmlns:a16="http://schemas.microsoft.com/office/drawing/2014/main" id="{9AEC3DB7-9842-4EF5-9D76-50FC817D1813}"/>
              </a:ext>
            </a:extLst>
          </p:cNvPr>
          <p:cNvSpPr/>
          <p:nvPr/>
        </p:nvSpPr>
        <p:spPr>
          <a:xfrm>
            <a:off x="5684884" y="4382395"/>
            <a:ext cx="511886" cy="532661"/>
          </a:xfrm>
          <a:prstGeom prst="mathEqual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7AA1959A-F494-4F6A-B0D6-22B60ACF9F36}"/>
              </a:ext>
            </a:extLst>
          </p:cNvPr>
          <p:cNvSpPr txBox="1"/>
          <p:nvPr/>
        </p:nvSpPr>
        <p:spPr>
          <a:xfrm>
            <a:off x="6191837" y="4355190"/>
            <a:ext cx="12744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/>
              <a:t>5 pts</a:t>
            </a:r>
            <a:endParaRPr lang="fr-FR" sz="2800" b="1" dirty="0">
              <a:solidFill>
                <a:srgbClr val="EC7B2B"/>
              </a:solidFill>
            </a:endParaRPr>
          </a:p>
        </p:txBody>
      </p:sp>
      <p:sp>
        <p:nvSpPr>
          <p:cNvPr id="78" name="Flèche : droite 77">
            <a:extLst>
              <a:ext uri="{FF2B5EF4-FFF2-40B4-BE49-F238E27FC236}">
                <a16:creationId xmlns:a16="http://schemas.microsoft.com/office/drawing/2014/main" id="{C91107E0-ADFF-457D-8FC8-1C75755B5535}"/>
              </a:ext>
            </a:extLst>
          </p:cNvPr>
          <p:cNvSpPr/>
          <p:nvPr/>
        </p:nvSpPr>
        <p:spPr>
          <a:xfrm>
            <a:off x="4398913" y="4417328"/>
            <a:ext cx="328419" cy="3612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9" name="Graphique 78" descr="Calendrier journalier avec un remplissage uni">
            <a:extLst>
              <a:ext uri="{FF2B5EF4-FFF2-40B4-BE49-F238E27FC236}">
                <a16:creationId xmlns:a16="http://schemas.microsoft.com/office/drawing/2014/main" id="{BAFE92E3-ABC0-408D-BAED-6C56188B71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55062" y="4312874"/>
            <a:ext cx="563032" cy="563032"/>
          </a:xfrm>
          <a:prstGeom prst="rect">
            <a:avLst/>
          </a:prstGeom>
        </p:spPr>
      </p:pic>
      <p:grpSp>
        <p:nvGrpSpPr>
          <p:cNvPr id="80" name="Groupe 79">
            <a:extLst>
              <a:ext uri="{FF2B5EF4-FFF2-40B4-BE49-F238E27FC236}">
                <a16:creationId xmlns:a16="http://schemas.microsoft.com/office/drawing/2014/main" id="{A22ECA82-73DF-4B06-80C8-ED55DAEE7358}"/>
              </a:ext>
            </a:extLst>
          </p:cNvPr>
          <p:cNvGrpSpPr/>
          <p:nvPr/>
        </p:nvGrpSpPr>
        <p:grpSpPr>
          <a:xfrm>
            <a:off x="3393651" y="4329722"/>
            <a:ext cx="978414" cy="534482"/>
            <a:chOff x="8875214" y="3117774"/>
            <a:chExt cx="874753" cy="477854"/>
          </a:xfrm>
        </p:grpSpPr>
        <p:pic>
          <p:nvPicPr>
            <p:cNvPr id="81" name="Graphique 80" descr="Personne confuse avec un remplissage uni">
              <a:extLst>
                <a:ext uri="{FF2B5EF4-FFF2-40B4-BE49-F238E27FC236}">
                  <a16:creationId xmlns:a16="http://schemas.microsoft.com/office/drawing/2014/main" id="{BCBB7FE7-76CF-469C-A896-685AC37128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4853" r="14328" b="41777"/>
            <a:stretch/>
          </p:blipFill>
          <p:spPr>
            <a:xfrm>
              <a:off x="9181309" y="3117774"/>
              <a:ext cx="568658" cy="467509"/>
            </a:xfrm>
            <a:prstGeom prst="rect">
              <a:avLst/>
            </a:prstGeom>
          </p:spPr>
        </p:pic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82E017B-359C-4082-A441-7520216DF636}"/>
                </a:ext>
              </a:extLst>
            </p:cNvPr>
            <p:cNvSpPr/>
            <p:nvPr/>
          </p:nvSpPr>
          <p:spPr>
            <a:xfrm>
              <a:off x="9408504" y="3294265"/>
              <a:ext cx="191310" cy="220170"/>
            </a:xfrm>
            <a:prstGeom prst="rect">
              <a:avLst/>
            </a:prstGeom>
            <a:solidFill>
              <a:srgbClr val="7FC1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fr-FR" sz="2400" b="1" dirty="0">
                <a:solidFill>
                  <a:schemeClr val="tx1"/>
                </a:solidFill>
              </a:endParaRPr>
            </a:p>
          </p:txBody>
        </p:sp>
        <p:pic>
          <p:nvPicPr>
            <p:cNvPr id="83" name="Graphique 82" descr="Personne confuse avec un remplissage uni">
              <a:extLst>
                <a:ext uri="{FF2B5EF4-FFF2-40B4-BE49-F238E27FC236}">
                  <a16:creationId xmlns:a16="http://schemas.microsoft.com/office/drawing/2014/main" id="{4838749B-196B-4B71-8E96-7B88329461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4853" r="14328" b="41777"/>
            <a:stretch/>
          </p:blipFill>
          <p:spPr>
            <a:xfrm>
              <a:off x="8875214" y="3117774"/>
              <a:ext cx="581241" cy="477854"/>
            </a:xfrm>
            <a:prstGeom prst="rect">
              <a:avLst/>
            </a:prstGeom>
          </p:spPr>
        </p:pic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31ECEAF-D1DF-484C-9948-1251D250DBD4}"/>
                </a:ext>
              </a:extLst>
            </p:cNvPr>
            <p:cNvSpPr/>
            <p:nvPr/>
          </p:nvSpPr>
          <p:spPr>
            <a:xfrm>
              <a:off x="9018038" y="3302202"/>
              <a:ext cx="212490" cy="22017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fr-FR" sz="20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85" name="Est égal à 84">
            <a:extLst>
              <a:ext uri="{FF2B5EF4-FFF2-40B4-BE49-F238E27FC236}">
                <a16:creationId xmlns:a16="http://schemas.microsoft.com/office/drawing/2014/main" id="{85CDF1F9-F3C0-4B04-BD36-43ADE01950DA}"/>
              </a:ext>
            </a:extLst>
          </p:cNvPr>
          <p:cNvSpPr/>
          <p:nvPr/>
        </p:nvSpPr>
        <p:spPr>
          <a:xfrm>
            <a:off x="5684884" y="5592679"/>
            <a:ext cx="511886" cy="532661"/>
          </a:xfrm>
          <a:prstGeom prst="mathEqual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55B7B6B2-2BD9-4F4C-B697-87B7A3F7E351}"/>
              </a:ext>
            </a:extLst>
          </p:cNvPr>
          <p:cNvSpPr txBox="1"/>
          <p:nvPr/>
        </p:nvSpPr>
        <p:spPr>
          <a:xfrm>
            <a:off x="6212554" y="5602120"/>
            <a:ext cx="12744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/>
              <a:t>20 pts</a:t>
            </a:r>
            <a:endParaRPr lang="fr-FR" sz="2800" b="1" dirty="0">
              <a:solidFill>
                <a:srgbClr val="EC7B2B"/>
              </a:solidFill>
            </a:endParaRPr>
          </a:p>
        </p:txBody>
      </p:sp>
      <p:pic>
        <p:nvPicPr>
          <p:cNvPr id="42" name="Graphique 41" descr="Présentation avec multimédia avec un remplissage uni">
            <a:extLst>
              <a:ext uri="{FF2B5EF4-FFF2-40B4-BE49-F238E27FC236}">
                <a16:creationId xmlns:a16="http://schemas.microsoft.com/office/drawing/2014/main" id="{AD414AD1-A7B5-453A-931A-7116A8776D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36644" y="5411881"/>
            <a:ext cx="532661" cy="532661"/>
          </a:xfrm>
          <a:prstGeom prst="rect">
            <a:avLst/>
          </a:prstGeom>
        </p:spPr>
      </p:pic>
      <p:pic>
        <p:nvPicPr>
          <p:cNvPr id="48" name="Graphique 47" descr="Journal avec un remplissage uni">
            <a:extLst>
              <a:ext uri="{FF2B5EF4-FFF2-40B4-BE49-F238E27FC236}">
                <a16:creationId xmlns:a16="http://schemas.microsoft.com/office/drawing/2014/main" id="{6BD51696-153B-4EF8-A017-1B98D1CF913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27515" y="5808792"/>
            <a:ext cx="532661" cy="532661"/>
          </a:xfrm>
          <a:prstGeom prst="rect">
            <a:avLst/>
          </a:prstGeom>
        </p:spPr>
      </p:pic>
      <p:grpSp>
        <p:nvGrpSpPr>
          <p:cNvPr id="87" name="Groupe 86">
            <a:extLst>
              <a:ext uri="{FF2B5EF4-FFF2-40B4-BE49-F238E27FC236}">
                <a16:creationId xmlns:a16="http://schemas.microsoft.com/office/drawing/2014/main" id="{F4C015F6-6808-4246-8977-F0CEFC26732D}"/>
              </a:ext>
            </a:extLst>
          </p:cNvPr>
          <p:cNvGrpSpPr/>
          <p:nvPr/>
        </p:nvGrpSpPr>
        <p:grpSpPr>
          <a:xfrm>
            <a:off x="3420499" y="5590858"/>
            <a:ext cx="978414" cy="534482"/>
            <a:chOff x="8875214" y="3117774"/>
            <a:chExt cx="874753" cy="477854"/>
          </a:xfrm>
        </p:grpSpPr>
        <p:pic>
          <p:nvPicPr>
            <p:cNvPr id="88" name="Graphique 87" descr="Personne confuse avec un remplissage uni">
              <a:extLst>
                <a:ext uri="{FF2B5EF4-FFF2-40B4-BE49-F238E27FC236}">
                  <a16:creationId xmlns:a16="http://schemas.microsoft.com/office/drawing/2014/main" id="{CAEE9165-2B46-49AB-BB50-B02B4AD9C6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4853" r="14328" b="41777"/>
            <a:stretch/>
          </p:blipFill>
          <p:spPr>
            <a:xfrm>
              <a:off x="9181309" y="3117774"/>
              <a:ext cx="568658" cy="467509"/>
            </a:xfrm>
            <a:prstGeom prst="rect">
              <a:avLst/>
            </a:prstGeom>
          </p:spPr>
        </p:pic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E9F975C-C05F-47C5-B73B-093AA9FF547B}"/>
                </a:ext>
              </a:extLst>
            </p:cNvPr>
            <p:cNvSpPr/>
            <p:nvPr/>
          </p:nvSpPr>
          <p:spPr>
            <a:xfrm>
              <a:off x="9408504" y="3294265"/>
              <a:ext cx="191310" cy="220170"/>
            </a:xfrm>
            <a:prstGeom prst="rect">
              <a:avLst/>
            </a:prstGeom>
            <a:solidFill>
              <a:srgbClr val="7FC1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fr-FR" sz="2400" b="1" dirty="0">
                <a:solidFill>
                  <a:schemeClr val="tx1"/>
                </a:solidFill>
              </a:endParaRPr>
            </a:p>
          </p:txBody>
        </p:sp>
        <p:pic>
          <p:nvPicPr>
            <p:cNvPr id="90" name="Graphique 89" descr="Personne confuse avec un remplissage uni">
              <a:extLst>
                <a:ext uri="{FF2B5EF4-FFF2-40B4-BE49-F238E27FC236}">
                  <a16:creationId xmlns:a16="http://schemas.microsoft.com/office/drawing/2014/main" id="{B866F337-257D-4154-8B97-EAC079F060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4853" r="14328" b="41777"/>
            <a:stretch/>
          </p:blipFill>
          <p:spPr>
            <a:xfrm>
              <a:off x="8875214" y="3117774"/>
              <a:ext cx="581241" cy="477854"/>
            </a:xfrm>
            <a:prstGeom prst="rect">
              <a:avLst/>
            </a:prstGeom>
          </p:spPr>
        </p:pic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0F90899-2BCA-4D1E-8204-6F3DCC15310D}"/>
                </a:ext>
              </a:extLst>
            </p:cNvPr>
            <p:cNvSpPr/>
            <p:nvPr/>
          </p:nvSpPr>
          <p:spPr>
            <a:xfrm>
              <a:off x="9018038" y="3302202"/>
              <a:ext cx="212490" cy="22017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fr-FR" sz="20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92" name="Flèche : droite 91">
            <a:extLst>
              <a:ext uri="{FF2B5EF4-FFF2-40B4-BE49-F238E27FC236}">
                <a16:creationId xmlns:a16="http://schemas.microsoft.com/office/drawing/2014/main" id="{996D2938-2030-4D60-A0BC-6AEE2612C760}"/>
              </a:ext>
            </a:extLst>
          </p:cNvPr>
          <p:cNvSpPr/>
          <p:nvPr/>
        </p:nvSpPr>
        <p:spPr>
          <a:xfrm>
            <a:off x="4408225" y="5678211"/>
            <a:ext cx="328419" cy="361241"/>
          </a:xfrm>
          <a:prstGeom prst="rightArrow">
            <a:avLst/>
          </a:prstGeom>
          <a:solidFill>
            <a:srgbClr val="EC7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1DC94A62-7E11-438B-95B6-9F244802301C}"/>
              </a:ext>
            </a:extLst>
          </p:cNvPr>
          <p:cNvSpPr txBox="1"/>
          <p:nvPr/>
        </p:nvSpPr>
        <p:spPr>
          <a:xfrm>
            <a:off x="8453762" y="2155170"/>
            <a:ext cx="3247008" cy="424731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endParaRPr lang="fr-FR" sz="1800" b="1" dirty="0"/>
          </a:p>
          <a:p>
            <a:pPr algn="ctr"/>
            <a:endParaRPr lang="fr-FR" b="1" dirty="0"/>
          </a:p>
          <a:p>
            <a:pPr algn="ctr"/>
            <a:endParaRPr lang="fr-FR" sz="1800" b="1" dirty="0"/>
          </a:p>
          <a:p>
            <a:pPr algn="ctr"/>
            <a:endParaRPr lang="fr-FR" b="1" dirty="0"/>
          </a:p>
          <a:p>
            <a:pPr algn="ctr"/>
            <a:endParaRPr lang="fr-FR" sz="1800" b="1" dirty="0"/>
          </a:p>
          <a:p>
            <a:pPr algn="ctr"/>
            <a:endParaRPr lang="fr-FR" b="1" dirty="0"/>
          </a:p>
          <a:p>
            <a:pPr algn="ctr"/>
            <a:endParaRPr lang="fr-FR" sz="1800" b="1" dirty="0"/>
          </a:p>
          <a:p>
            <a:pPr algn="ctr"/>
            <a:endParaRPr lang="fr-FR" b="1" dirty="0"/>
          </a:p>
          <a:p>
            <a:pPr algn="ctr"/>
            <a:r>
              <a:rPr lang="en-US" sz="1800" b="1" dirty="0"/>
              <a:t>How to score the points?</a:t>
            </a:r>
          </a:p>
          <a:p>
            <a:pPr algn="ctr"/>
            <a:r>
              <a:rPr lang="en-US" sz="1800" dirty="0"/>
              <a:t>Take a selfie and post it on the group's network (with a commitment message)</a:t>
            </a:r>
          </a:p>
          <a:p>
            <a:pPr algn="ctr"/>
            <a:endParaRPr lang="en-US" dirty="0"/>
          </a:p>
          <a:p>
            <a:pPr algn="ctr"/>
            <a:r>
              <a:rPr lang="fr-FR" sz="1800" dirty="0"/>
              <a:t>Tag </a:t>
            </a:r>
            <a:r>
              <a:rPr lang="fr-FR" sz="1800" b="1" dirty="0"/>
              <a:t>#OpenSeriousHub </a:t>
            </a:r>
            <a:r>
              <a:rPr lang="fr-FR" sz="1800" b="1" dirty="0">
                <a:solidFill>
                  <a:srgbClr val="3494BA"/>
                </a:solidFill>
              </a:rPr>
              <a:t>#5points </a:t>
            </a:r>
            <a:r>
              <a:rPr lang="fr-FR" dirty="0"/>
              <a:t>or</a:t>
            </a:r>
            <a:r>
              <a:rPr lang="fr-FR" sz="1800" dirty="0"/>
              <a:t> </a:t>
            </a:r>
            <a:r>
              <a:rPr lang="fr-FR" sz="1800" b="1" dirty="0">
                <a:solidFill>
                  <a:srgbClr val="EC7B2B"/>
                </a:solidFill>
              </a:rPr>
              <a:t>#20points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E97099-40E8-446B-81D4-4B0332E20BA5}"/>
              </a:ext>
            </a:extLst>
          </p:cNvPr>
          <p:cNvSpPr/>
          <p:nvPr/>
        </p:nvSpPr>
        <p:spPr>
          <a:xfrm>
            <a:off x="8855338" y="2423052"/>
            <a:ext cx="2468263" cy="17603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4" name="Image 93" descr="Une image contenant texte, intérieur, plusieurs, automate&#10;&#10;Description générée automatiquement">
            <a:extLst>
              <a:ext uri="{FF2B5EF4-FFF2-40B4-BE49-F238E27FC236}">
                <a16:creationId xmlns:a16="http://schemas.microsoft.com/office/drawing/2014/main" id="{548599C2-C60E-4753-A443-588FAF4B76CA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lum bright="70000" contrast="-70000"/>
            <a:alphaModFix amt="70000"/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9419939" y="2954911"/>
            <a:ext cx="1397860" cy="864676"/>
          </a:xfrm>
          <a:prstGeom prst="rect">
            <a:avLst/>
          </a:prstGeom>
        </p:spPr>
      </p:pic>
      <p:grpSp>
        <p:nvGrpSpPr>
          <p:cNvPr id="96" name="Groupe 95">
            <a:extLst>
              <a:ext uri="{FF2B5EF4-FFF2-40B4-BE49-F238E27FC236}">
                <a16:creationId xmlns:a16="http://schemas.microsoft.com/office/drawing/2014/main" id="{BCDE5ACF-63F6-467A-BA68-65D93F7685C0}"/>
              </a:ext>
            </a:extLst>
          </p:cNvPr>
          <p:cNvGrpSpPr/>
          <p:nvPr/>
        </p:nvGrpSpPr>
        <p:grpSpPr>
          <a:xfrm>
            <a:off x="9536770" y="3029704"/>
            <a:ext cx="1164198" cy="720247"/>
            <a:chOff x="8875214" y="3099515"/>
            <a:chExt cx="801911" cy="496113"/>
          </a:xfrm>
        </p:grpSpPr>
        <p:pic>
          <p:nvPicPr>
            <p:cNvPr id="97" name="Graphique 96" descr="Personne confuse avec un remplissage uni">
              <a:extLst>
                <a:ext uri="{FF2B5EF4-FFF2-40B4-BE49-F238E27FC236}">
                  <a16:creationId xmlns:a16="http://schemas.microsoft.com/office/drawing/2014/main" id="{F9A9B8D9-6E74-42E2-AF82-81AD220BA7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4853" r="14328" b="41777"/>
            <a:stretch/>
          </p:blipFill>
          <p:spPr>
            <a:xfrm>
              <a:off x="9108467" y="3099515"/>
              <a:ext cx="568658" cy="467509"/>
            </a:xfrm>
            <a:prstGeom prst="rect">
              <a:avLst/>
            </a:prstGeom>
          </p:spPr>
        </p:pic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C98E844-9848-40CD-83B8-67E96D99AAC8}"/>
                </a:ext>
              </a:extLst>
            </p:cNvPr>
            <p:cNvSpPr/>
            <p:nvPr/>
          </p:nvSpPr>
          <p:spPr>
            <a:xfrm>
              <a:off x="9368858" y="3299165"/>
              <a:ext cx="191310" cy="220170"/>
            </a:xfrm>
            <a:prstGeom prst="rect">
              <a:avLst/>
            </a:prstGeom>
            <a:solidFill>
              <a:srgbClr val="7FC1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fr-FR" sz="2400" b="1" dirty="0">
                <a:solidFill>
                  <a:schemeClr val="tx1"/>
                </a:solidFill>
              </a:endParaRPr>
            </a:p>
          </p:txBody>
        </p:sp>
        <p:pic>
          <p:nvPicPr>
            <p:cNvPr id="99" name="Graphique 98" descr="Personne confuse avec un remplissage uni">
              <a:extLst>
                <a:ext uri="{FF2B5EF4-FFF2-40B4-BE49-F238E27FC236}">
                  <a16:creationId xmlns:a16="http://schemas.microsoft.com/office/drawing/2014/main" id="{81C2FA11-EB6C-4A71-885E-3EEAF53B04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4853" r="14328" b="41777"/>
            <a:stretch/>
          </p:blipFill>
          <p:spPr>
            <a:xfrm>
              <a:off x="8875214" y="3117774"/>
              <a:ext cx="581241" cy="477854"/>
            </a:xfrm>
            <a:prstGeom prst="rect">
              <a:avLst/>
            </a:prstGeom>
          </p:spPr>
        </p:pic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2C7FFF71-4F3E-4BDB-9D84-58A2313BBD62}"/>
                </a:ext>
              </a:extLst>
            </p:cNvPr>
            <p:cNvSpPr/>
            <p:nvPr/>
          </p:nvSpPr>
          <p:spPr>
            <a:xfrm>
              <a:off x="9018038" y="3302202"/>
              <a:ext cx="212490" cy="22017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fr-FR" sz="20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02" name="Ellipse 101">
            <a:extLst>
              <a:ext uri="{FF2B5EF4-FFF2-40B4-BE49-F238E27FC236}">
                <a16:creationId xmlns:a16="http://schemas.microsoft.com/office/drawing/2014/main" id="{BF7B9C91-7BA1-4C15-B5CC-6820B466538C}"/>
              </a:ext>
            </a:extLst>
          </p:cNvPr>
          <p:cNvSpPr/>
          <p:nvPr/>
        </p:nvSpPr>
        <p:spPr>
          <a:xfrm>
            <a:off x="9026548" y="2546300"/>
            <a:ext cx="311091" cy="2936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3" name="Graphique 102" descr="Personne confuse avec un remplissage uni">
            <a:extLst>
              <a:ext uri="{FF2B5EF4-FFF2-40B4-BE49-F238E27FC236}">
                <a16:creationId xmlns:a16="http://schemas.microsoft.com/office/drawing/2014/main" id="{5843CBD2-1731-48EE-BB62-88802F9C17C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4853" r="14328" b="41777"/>
          <a:stretch/>
        </p:blipFill>
        <p:spPr>
          <a:xfrm>
            <a:off x="9050177" y="2584676"/>
            <a:ext cx="263832" cy="216904"/>
          </a:xfrm>
          <a:prstGeom prst="rect">
            <a:avLst/>
          </a:prstGeom>
        </p:spPr>
      </p:pic>
      <p:sp>
        <p:nvSpPr>
          <p:cNvPr id="104" name="ZoneTexte 103">
            <a:extLst>
              <a:ext uri="{FF2B5EF4-FFF2-40B4-BE49-F238E27FC236}">
                <a16:creationId xmlns:a16="http://schemas.microsoft.com/office/drawing/2014/main" id="{A2B8AE42-C0C7-4EFD-B94D-8ECD20165CEC}"/>
              </a:ext>
            </a:extLst>
          </p:cNvPr>
          <p:cNvSpPr txBox="1"/>
          <p:nvPr/>
        </p:nvSpPr>
        <p:spPr>
          <a:xfrm>
            <a:off x="9319494" y="2490282"/>
            <a:ext cx="200291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b="1" dirty="0"/>
              <a:t>Mr XYZ</a:t>
            </a:r>
          </a:p>
          <a:p>
            <a:r>
              <a:rPr lang="fr-FR" sz="700" dirty="0"/>
              <a:t>Lorem Ipsum </a:t>
            </a:r>
            <a:r>
              <a:rPr lang="fr-FR" sz="700" dirty="0">
                <a:solidFill>
                  <a:srgbClr val="EC7B2B"/>
                </a:solidFill>
              </a:rPr>
              <a:t>@Mrs ABCD</a:t>
            </a:r>
          </a:p>
          <a:p>
            <a:r>
              <a:rPr lang="fr-FR" sz="700" b="1" dirty="0">
                <a:solidFill>
                  <a:srgbClr val="3494BA"/>
                </a:solidFill>
              </a:rPr>
              <a:t>#OpenSeriousHub #5points</a:t>
            </a:r>
          </a:p>
        </p:txBody>
      </p:sp>
      <p:sp>
        <p:nvSpPr>
          <p:cNvPr id="105" name="Rectangle : coins arrondis 104">
            <a:extLst>
              <a:ext uri="{FF2B5EF4-FFF2-40B4-BE49-F238E27FC236}">
                <a16:creationId xmlns:a16="http://schemas.microsoft.com/office/drawing/2014/main" id="{AB8C2997-2B21-4758-AAF4-9C62D6D6CAB4}"/>
              </a:ext>
            </a:extLst>
          </p:cNvPr>
          <p:cNvSpPr/>
          <p:nvPr/>
        </p:nvSpPr>
        <p:spPr>
          <a:xfrm>
            <a:off x="8984398" y="2482671"/>
            <a:ext cx="2002915" cy="1336916"/>
          </a:xfrm>
          <a:prstGeom prst="roundRect">
            <a:avLst>
              <a:gd name="adj" fmla="val 469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Rectangle : coins arrondis 105">
            <a:extLst>
              <a:ext uri="{FF2B5EF4-FFF2-40B4-BE49-F238E27FC236}">
                <a16:creationId xmlns:a16="http://schemas.microsoft.com/office/drawing/2014/main" id="{B3866B89-40F4-456F-B2B2-D8BB7444B250}"/>
              </a:ext>
            </a:extLst>
          </p:cNvPr>
          <p:cNvSpPr/>
          <p:nvPr/>
        </p:nvSpPr>
        <p:spPr>
          <a:xfrm>
            <a:off x="8984397" y="3828942"/>
            <a:ext cx="2002915" cy="354438"/>
          </a:xfrm>
          <a:prstGeom prst="roundRect">
            <a:avLst>
              <a:gd name="adj" fmla="val 469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7" name="Ellipse 106">
            <a:extLst>
              <a:ext uri="{FF2B5EF4-FFF2-40B4-BE49-F238E27FC236}">
                <a16:creationId xmlns:a16="http://schemas.microsoft.com/office/drawing/2014/main" id="{9BE9BA01-3D89-4F31-9695-B82A0B57F401}"/>
              </a:ext>
            </a:extLst>
          </p:cNvPr>
          <p:cNvSpPr/>
          <p:nvPr/>
        </p:nvSpPr>
        <p:spPr>
          <a:xfrm>
            <a:off x="9026548" y="3829742"/>
            <a:ext cx="311091" cy="2936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8" name="Graphique 107" descr="Personne confuse avec un remplissage uni">
            <a:extLst>
              <a:ext uri="{FF2B5EF4-FFF2-40B4-BE49-F238E27FC236}">
                <a16:creationId xmlns:a16="http://schemas.microsoft.com/office/drawing/2014/main" id="{FFB7748E-550C-4D27-AD51-B67984EA975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4853" r="14328" b="41777"/>
          <a:stretch/>
        </p:blipFill>
        <p:spPr>
          <a:xfrm>
            <a:off x="9050177" y="3868118"/>
            <a:ext cx="263832" cy="216904"/>
          </a:xfrm>
          <a:prstGeom prst="rect">
            <a:avLst/>
          </a:prstGeom>
        </p:spPr>
      </p:pic>
      <p:sp>
        <p:nvSpPr>
          <p:cNvPr id="109" name="ZoneTexte 108">
            <a:extLst>
              <a:ext uri="{FF2B5EF4-FFF2-40B4-BE49-F238E27FC236}">
                <a16:creationId xmlns:a16="http://schemas.microsoft.com/office/drawing/2014/main" id="{1FC34EA9-4685-46A7-A8B6-73D8D702BBFF}"/>
              </a:ext>
            </a:extLst>
          </p:cNvPr>
          <p:cNvSpPr txBox="1"/>
          <p:nvPr/>
        </p:nvSpPr>
        <p:spPr>
          <a:xfrm>
            <a:off x="9332502" y="3868118"/>
            <a:ext cx="1368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b="1" dirty="0"/>
              <a:t>Mr XYZ</a:t>
            </a:r>
          </a:p>
          <a:p>
            <a:r>
              <a:rPr lang="fr-FR" sz="700" dirty="0"/>
              <a:t>Lorem Ipsum</a:t>
            </a:r>
            <a:endParaRPr lang="fr-FR" sz="700" b="1" dirty="0">
              <a:solidFill>
                <a:srgbClr val="3494B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914181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Personnalisé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494BA"/>
      </a:accent1>
      <a:accent2>
        <a:srgbClr val="ED7D31"/>
      </a:accent2>
      <a:accent3>
        <a:srgbClr val="A5A5A5"/>
      </a:accent3>
      <a:accent4>
        <a:srgbClr val="F4AD7C"/>
      </a:accent4>
      <a:accent5>
        <a:srgbClr val="69B6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3382</TotalTime>
  <Words>1474</Words>
  <Application>Microsoft Office PowerPoint</Application>
  <PresentationFormat>Widescreen</PresentationFormat>
  <Paragraphs>361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Arial</vt:lpstr>
      <vt:lpstr>Avenir Next LT Pro</vt:lpstr>
      <vt:lpstr>Calibri</vt:lpstr>
      <vt:lpstr>AccentBoxVTI</vt:lpstr>
      <vt:lpstr> W4 #OpenSeriousHub</vt:lpstr>
      <vt:lpstr>#OpenSeriousHub : short Story</vt:lpstr>
      <vt:lpstr>#OpenSeriousHub Example workshop result – Digital Version</vt:lpstr>
      <vt:lpstr>#OpenSeriousHub Workshop step by step</vt:lpstr>
      <vt:lpstr>#OpenSeriousHub Using workshop results</vt:lpstr>
      <vt:lpstr>Understanding Difference between formats</vt:lpstr>
      <vt:lpstr>Understanding Difference between formats</vt:lpstr>
      <vt:lpstr>#OpenSeriousHub A share and learn opportunities workshop</vt:lpstr>
      <vt:lpstr>#OpenSeriousHub On-site version</vt:lpstr>
      <vt:lpstr>#OpenSeriousHub On-site version Gamification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Intégrer la méthode #OSG dans une communauté</dc:title>
  <dc:creator>Alexandre Quach</dc:creator>
  <cp:lastModifiedBy>Alexandre Quach</cp:lastModifiedBy>
  <cp:revision>3</cp:revision>
  <dcterms:created xsi:type="dcterms:W3CDTF">2020-12-16T10:05:09Z</dcterms:created>
  <dcterms:modified xsi:type="dcterms:W3CDTF">2025-06-08T14:32:30Z</dcterms:modified>
</cp:coreProperties>
</file>