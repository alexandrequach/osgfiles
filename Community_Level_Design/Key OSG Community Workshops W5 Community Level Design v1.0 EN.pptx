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6"/>
  </p:notesMasterIdLst>
  <p:sldIdLst>
    <p:sldId id="657" r:id="rId2"/>
    <p:sldId id="658" r:id="rId3"/>
    <p:sldId id="659" r:id="rId4"/>
    <p:sldId id="660" r:id="rId5"/>
    <p:sldId id="662" r:id="rId6"/>
    <p:sldId id="667" r:id="rId7"/>
    <p:sldId id="671" r:id="rId8"/>
    <p:sldId id="668" r:id="rId9"/>
    <p:sldId id="673" r:id="rId10"/>
    <p:sldId id="758" r:id="rId11"/>
    <p:sldId id="720" r:id="rId12"/>
    <p:sldId id="719" r:id="rId13"/>
    <p:sldId id="718" r:id="rId14"/>
    <p:sldId id="784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B2B"/>
    <a:srgbClr val="F4B183"/>
    <a:srgbClr val="3494BA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B017C102-AC06-4219-A51E-7E7AF486EEE4}"/>
    <pc:docChg chg="delSld modSld delSection modSection">
      <pc:chgData name="Alexandre Quach" userId="7bb690c8a6e028e4" providerId="LiveId" clId="{B017C102-AC06-4219-A51E-7E7AF486EEE4}" dt="2022-02-28T10:24:36.980" v="37" actId="20577"/>
      <pc:docMkLst>
        <pc:docMk/>
      </pc:docMkLst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1287199829" sldId="256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993966662" sldId="629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3299158037" sldId="643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2891350657" sldId="644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570331714" sldId="645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975829464" sldId="646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2612031657" sldId="648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156997757" sldId="64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332850991" sldId="650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382741872" sldId="651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245040671" sldId="652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635027199" sldId="653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1977824969" sldId="661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442944801" sldId="663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667133540" sldId="664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4135389196" sldId="66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324247947" sldId="672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945836210" sldId="674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900062565" sldId="675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222675155" sldId="676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127912802" sldId="677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560413230" sldId="678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878369571" sldId="67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273808140" sldId="681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270226292" sldId="682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4133377052" sldId="683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456310723" sldId="684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165885568" sldId="685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409047177" sldId="687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895866099" sldId="688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218647812" sldId="68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631831837" sldId="690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380095623" sldId="691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3788056139" sldId="693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661135379" sldId="697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325807060" sldId="698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4265184603" sldId="699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4097861198" sldId="706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100448547" sldId="707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564475199" sldId="708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4188663725" sldId="70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790072755" sldId="712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3894888987" sldId="715"/>
        </pc:sldMkLst>
      </pc:sldChg>
      <pc:sldChg chg="del">
        <pc:chgData name="Alexandre Quach" userId="7bb690c8a6e028e4" providerId="LiveId" clId="{B017C102-AC06-4219-A51E-7E7AF486EEE4}" dt="2022-02-28T10:23:31.882" v="0" actId="47"/>
        <pc:sldMkLst>
          <pc:docMk/>
          <pc:sldMk cId="1089705046" sldId="717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740416805" sldId="721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89794009" sldId="722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732705795" sldId="723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505264428" sldId="724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372093128" sldId="725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4007433336" sldId="726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712108834" sldId="727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855432752" sldId="72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288081926" sldId="731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762528925" sldId="733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925730918" sldId="734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2080453100" sldId="735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862467739" sldId="736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3864783376" sldId="737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606020062" sldId="738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1663112076" sldId="740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2536106261" sldId="741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3076425223" sldId="743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3995733869" sldId="745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2576978481" sldId="746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566893459" sldId="747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3699353547" sldId="748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637564488" sldId="74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593384485" sldId="756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726726189" sldId="757"/>
        </pc:sldMkLst>
      </pc:sldChg>
      <pc:sldChg chg="modSp mod">
        <pc:chgData name="Alexandre Quach" userId="7bb690c8a6e028e4" providerId="LiveId" clId="{B017C102-AC06-4219-A51E-7E7AF486EEE4}" dt="2022-02-28T10:24:36.980" v="37" actId="20577"/>
        <pc:sldMkLst>
          <pc:docMk/>
          <pc:sldMk cId="3127021725" sldId="758"/>
        </pc:sldMkLst>
        <pc:spChg chg="mod">
          <ac:chgData name="Alexandre Quach" userId="7bb690c8a6e028e4" providerId="LiveId" clId="{B017C102-AC06-4219-A51E-7E7AF486EEE4}" dt="2022-02-28T10:24:36.980" v="37" actId="20577"/>
          <ac:spMkLst>
            <pc:docMk/>
            <pc:sldMk cId="3127021725" sldId="758"/>
            <ac:spMk id="3" creationId="{737BA7EA-302A-4050-9FC4-E1AD5090B4AA}"/>
          </ac:spMkLst>
        </pc:spChg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2981540849" sldId="759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3088292956" sldId="765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2594471247" sldId="766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84664993" sldId="767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2428910884" sldId="768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2268383974" sldId="76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4067938282" sldId="786"/>
        </pc:sldMkLst>
      </pc:sldChg>
      <pc:sldChg chg="del">
        <pc:chgData name="Alexandre Quach" userId="7bb690c8a6e028e4" providerId="LiveId" clId="{B017C102-AC06-4219-A51E-7E7AF486EEE4}" dt="2022-02-28T10:24:01.943" v="2" actId="47"/>
        <pc:sldMkLst>
          <pc:docMk/>
          <pc:sldMk cId="3593510566" sldId="809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645637661" sldId="811"/>
        </pc:sldMkLst>
      </pc:sldChg>
      <pc:sldChg chg="del">
        <pc:chgData name="Alexandre Quach" userId="7bb690c8a6e028e4" providerId="LiveId" clId="{B017C102-AC06-4219-A51E-7E7AF486EEE4}" dt="2022-02-28T10:23:44.773" v="1" actId="47"/>
        <pc:sldMkLst>
          <pc:docMk/>
          <pc:sldMk cId="1445510329" sldId="8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28/02/2022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3" Type="http://schemas.openxmlformats.org/officeDocument/2006/relationships/image" Target="../media/image8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18" Type="http://schemas.openxmlformats.org/officeDocument/2006/relationships/image" Target="../media/image43.png"/><Relationship Id="rId3" Type="http://schemas.openxmlformats.org/officeDocument/2006/relationships/image" Target="../media/image28.svg"/><Relationship Id="rId21" Type="http://schemas.openxmlformats.org/officeDocument/2006/relationships/image" Target="../media/image46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17" Type="http://schemas.openxmlformats.org/officeDocument/2006/relationships/image" Target="../media/image42.sv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10" Type="http://schemas.openxmlformats.org/officeDocument/2006/relationships/image" Target="../media/image35.png"/><Relationship Id="rId19" Type="http://schemas.openxmlformats.org/officeDocument/2006/relationships/image" Target="../media/image44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18" Type="http://schemas.openxmlformats.org/officeDocument/2006/relationships/image" Target="../media/image63.png"/><Relationship Id="rId3" Type="http://schemas.openxmlformats.org/officeDocument/2006/relationships/image" Target="../media/image48.svg"/><Relationship Id="rId21" Type="http://schemas.openxmlformats.org/officeDocument/2006/relationships/image" Target="../media/image66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17" Type="http://schemas.openxmlformats.org/officeDocument/2006/relationships/image" Target="../media/image62.sv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5" Type="http://schemas.openxmlformats.org/officeDocument/2006/relationships/image" Target="../media/image60.svg"/><Relationship Id="rId10" Type="http://schemas.openxmlformats.org/officeDocument/2006/relationships/image" Target="../media/image55.png"/><Relationship Id="rId19" Type="http://schemas.openxmlformats.org/officeDocument/2006/relationships/image" Target="../media/image64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Relationship Id="rId1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fr-FR"/>
            </a:br>
            <a:r>
              <a:rPr lang="fr-FR"/>
              <a:t>W5</a:t>
            </a:r>
            <a:br>
              <a:rPr lang="fr-FR"/>
            </a:br>
            <a:r>
              <a:rPr lang="fr-FR"/>
              <a:t>Community </a:t>
            </a:r>
            <a:r>
              <a:rPr lang="fr-FR" err="1"/>
              <a:t>Level</a:t>
            </a:r>
            <a:r>
              <a:rPr lang="fr-FR"/>
              <a:t> Design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774020"/>
          </a:xfrm>
        </p:spPr>
        <p:txBody>
          <a:bodyPr>
            <a:normAutofit/>
          </a:bodyPr>
          <a:lstStyle/>
          <a:p>
            <a:r>
              <a:rPr lang="en-US"/>
              <a:t>Let members earn their way within the Community</a:t>
            </a:r>
          </a:p>
          <a:p>
            <a:r>
              <a:rPr lang="en-US"/>
              <a:t>Gamify progression in Community</a:t>
            </a:r>
          </a:p>
          <a:p>
            <a:r>
              <a:rPr lang="en-US" b="1"/>
              <a:t>For Community Boosters only</a:t>
            </a:r>
          </a:p>
        </p:txBody>
      </p:sp>
    </p:spTree>
    <p:extLst>
      <p:ext uri="{BB962C8B-B14F-4D97-AF65-F5344CB8AC3E}">
        <p14:creationId xmlns:p14="http://schemas.microsoft.com/office/powerpoint/2010/main" val="3748362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866FF310-D1C3-4195-97B1-217DF644FC21}"/>
              </a:ext>
            </a:extLst>
          </p:cNvPr>
          <p:cNvCxnSpPr/>
          <p:nvPr/>
        </p:nvCxnSpPr>
        <p:spPr>
          <a:xfrm>
            <a:off x="10349571" y="2240096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AEAFFACE-2906-4C58-9072-CFF64F320A64}"/>
              </a:ext>
            </a:extLst>
          </p:cNvPr>
          <p:cNvCxnSpPr/>
          <p:nvPr/>
        </p:nvCxnSpPr>
        <p:spPr>
          <a:xfrm>
            <a:off x="8141895" y="2192874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CF758E0F-C3E5-4E87-8E7C-A1492F97162B}"/>
              </a:ext>
            </a:extLst>
          </p:cNvPr>
          <p:cNvCxnSpPr/>
          <p:nvPr/>
        </p:nvCxnSpPr>
        <p:spPr>
          <a:xfrm>
            <a:off x="5990363" y="2230859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EDC27FB1-1B1E-431C-B08F-F645CAB375EB}"/>
              </a:ext>
            </a:extLst>
          </p:cNvPr>
          <p:cNvCxnSpPr/>
          <p:nvPr/>
        </p:nvCxnSpPr>
        <p:spPr>
          <a:xfrm>
            <a:off x="3776780" y="2250926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8E55D39-8610-4E1C-8923-6B492CD1D24A}"/>
              </a:ext>
            </a:extLst>
          </p:cNvPr>
          <p:cNvCxnSpPr/>
          <p:nvPr/>
        </p:nvCxnSpPr>
        <p:spPr>
          <a:xfrm>
            <a:off x="1434517" y="2192874"/>
            <a:ext cx="0" cy="433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5973728" cy="1179576"/>
          </a:xfrm>
        </p:spPr>
        <p:txBody>
          <a:bodyPr>
            <a:normAutofit fontScale="90000"/>
          </a:bodyPr>
          <a:lstStyle/>
          <a:p>
            <a:r>
              <a:rPr lang="en-US"/>
              <a:t>Community level Design</a:t>
            </a:r>
            <a:br>
              <a:rPr lang="en-US"/>
            </a:br>
            <a:r>
              <a:rPr lang="en-US"/>
              <a:t>Example of workshop results</a:t>
            </a:r>
          </a:p>
        </p:txBody>
      </p:sp>
      <p:pic>
        <p:nvPicPr>
          <p:cNvPr id="3" name="Graphique 2" descr="Presse-papiers partiellement vérifié contour">
            <a:extLst>
              <a:ext uri="{FF2B5EF4-FFF2-40B4-BE49-F238E27FC236}">
                <a16:creationId xmlns:a16="http://schemas.microsoft.com/office/drawing/2014/main" id="{189026FC-D4A0-49BA-8810-F22002CBB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5100" y="1290681"/>
            <a:ext cx="480487" cy="480487"/>
          </a:xfrm>
          <a:prstGeom prst="rect">
            <a:avLst/>
          </a:prstGeom>
        </p:spPr>
      </p:pic>
      <p:pic>
        <p:nvPicPr>
          <p:cNvPr id="4" name="Graphique 3" descr="Obstacle avec un remplissage uni">
            <a:extLst>
              <a:ext uri="{FF2B5EF4-FFF2-40B4-BE49-F238E27FC236}">
                <a16:creationId xmlns:a16="http://schemas.microsoft.com/office/drawing/2014/main" id="{EC472D04-051B-4C4F-874C-7C90A0C78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0128" y="1328084"/>
            <a:ext cx="457200" cy="457200"/>
          </a:xfrm>
          <a:prstGeom prst="rect">
            <a:avLst/>
          </a:prstGeom>
        </p:spPr>
      </p:pic>
      <p:pic>
        <p:nvPicPr>
          <p:cNvPr id="5" name="Graphique 4" descr="Médaille avec un remplissage uni">
            <a:extLst>
              <a:ext uri="{FF2B5EF4-FFF2-40B4-BE49-F238E27FC236}">
                <a16:creationId xmlns:a16="http://schemas.microsoft.com/office/drawing/2014/main" id="{A5C77568-37EF-4AF5-950C-6A818B4B5A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36450" y="1267648"/>
            <a:ext cx="492643" cy="49264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EB91366-10C7-4E44-BCC0-8FB1A2C2CDE0}"/>
              </a:ext>
            </a:extLst>
          </p:cNvPr>
          <p:cNvSpPr txBox="1"/>
          <p:nvPr/>
        </p:nvSpPr>
        <p:spPr>
          <a:xfrm>
            <a:off x="10743894" y="242584"/>
            <a:ext cx="1079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🎖️Community Rewards</a:t>
            </a:r>
          </a:p>
          <a:p>
            <a:pPr algn="ctr"/>
            <a:r>
              <a:rPr lang="en-US" sz="1000"/>
              <a:t>What rewards members get for going up a level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2B3600-9905-49C0-9279-E7C307A68501}"/>
              </a:ext>
            </a:extLst>
          </p:cNvPr>
          <p:cNvSpPr txBox="1"/>
          <p:nvPr/>
        </p:nvSpPr>
        <p:spPr>
          <a:xfrm>
            <a:off x="9679225" y="242584"/>
            <a:ext cx="9790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🎖️Growth challenges</a:t>
            </a:r>
          </a:p>
          <a:p>
            <a:pPr algn="ctr"/>
            <a:r>
              <a:rPr lang="en-US" sz="1000"/>
              <a:t>What is necessary to gain access to next level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30CA19A-D72E-4944-A809-E6846990265C}"/>
              </a:ext>
            </a:extLst>
          </p:cNvPr>
          <p:cNvSpPr txBox="1"/>
          <p:nvPr/>
        </p:nvSpPr>
        <p:spPr>
          <a:xfrm>
            <a:off x="8548683" y="242584"/>
            <a:ext cx="9790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✅Base activities</a:t>
            </a:r>
          </a:p>
          <a:p>
            <a:pPr algn="ctr"/>
            <a:r>
              <a:rPr lang="en-US" sz="1000"/>
              <a:t>What is the experience at this level</a:t>
            </a:r>
          </a:p>
        </p:txBody>
      </p:sp>
      <p:pic>
        <p:nvPicPr>
          <p:cNvPr id="14" name="Graphique 13" descr="Presse-papiers partiellement vérifié contour">
            <a:extLst>
              <a:ext uri="{FF2B5EF4-FFF2-40B4-BE49-F238E27FC236}">
                <a16:creationId xmlns:a16="http://schemas.microsoft.com/office/drawing/2014/main" id="{AED4A88C-9AA7-44D3-803F-A738F1BFE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912" y="2940242"/>
            <a:ext cx="480487" cy="480487"/>
          </a:xfrm>
          <a:prstGeom prst="rect">
            <a:avLst/>
          </a:prstGeom>
        </p:spPr>
      </p:pic>
      <p:pic>
        <p:nvPicPr>
          <p:cNvPr id="15" name="Graphique 14" descr="Obstacle avec un remplissage uni">
            <a:extLst>
              <a:ext uri="{FF2B5EF4-FFF2-40B4-BE49-F238E27FC236}">
                <a16:creationId xmlns:a16="http://schemas.microsoft.com/office/drawing/2014/main" id="{AFC3646D-1F93-4753-A7D9-C9C057C9A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559" y="2971800"/>
            <a:ext cx="457200" cy="457200"/>
          </a:xfrm>
          <a:prstGeom prst="rect">
            <a:avLst/>
          </a:prstGeom>
        </p:spPr>
      </p:pic>
      <p:pic>
        <p:nvPicPr>
          <p:cNvPr id="16" name="Graphique 15" descr="Médaille avec un remplissage uni">
            <a:extLst>
              <a:ext uri="{FF2B5EF4-FFF2-40B4-BE49-F238E27FC236}">
                <a16:creationId xmlns:a16="http://schemas.microsoft.com/office/drawing/2014/main" id="{B71F970C-C0A7-4501-9A70-C33ECABE1E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13870" y="2939778"/>
            <a:ext cx="492643" cy="49264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AF1AAB0-0CBC-4500-967C-93787298A904}"/>
              </a:ext>
            </a:extLst>
          </p:cNvPr>
          <p:cNvSpPr/>
          <p:nvPr/>
        </p:nvSpPr>
        <p:spPr>
          <a:xfrm>
            <a:off x="93978" y="2240096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1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Bystanders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85A7D-8703-4885-821D-5D5874F8B843}"/>
              </a:ext>
            </a:extLst>
          </p:cNvPr>
          <p:cNvSpPr/>
          <p:nvPr/>
        </p:nvSpPr>
        <p:spPr>
          <a:xfrm>
            <a:off x="1952838" y="2230859"/>
            <a:ext cx="1219108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2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Followers</a:t>
            </a:r>
          </a:p>
        </p:txBody>
      </p:sp>
      <p:pic>
        <p:nvPicPr>
          <p:cNvPr id="19" name="Graphique 18" descr="Presse-papiers partiellement vérifié contour">
            <a:extLst>
              <a:ext uri="{FF2B5EF4-FFF2-40B4-BE49-F238E27FC236}">
                <a16:creationId xmlns:a16="http://schemas.microsoft.com/office/drawing/2014/main" id="{88F0F7CF-2094-4FAC-B9A9-4FA1BC610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1654" y="2940242"/>
            <a:ext cx="480487" cy="480487"/>
          </a:xfrm>
          <a:prstGeom prst="rect">
            <a:avLst/>
          </a:prstGeom>
        </p:spPr>
      </p:pic>
      <p:pic>
        <p:nvPicPr>
          <p:cNvPr id="20" name="Graphique 19" descr="Obstacle avec un remplissage uni">
            <a:extLst>
              <a:ext uri="{FF2B5EF4-FFF2-40B4-BE49-F238E27FC236}">
                <a16:creationId xmlns:a16="http://schemas.microsoft.com/office/drawing/2014/main" id="{15E82C3C-70B3-40E1-9947-5FE89C0BC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5166" y="2971800"/>
            <a:ext cx="457200" cy="457200"/>
          </a:xfrm>
          <a:prstGeom prst="rect">
            <a:avLst/>
          </a:prstGeom>
        </p:spPr>
      </p:pic>
      <p:pic>
        <p:nvPicPr>
          <p:cNvPr id="25" name="Graphique 24" descr="Médaille avec un remplissage uni">
            <a:extLst>
              <a:ext uri="{FF2B5EF4-FFF2-40B4-BE49-F238E27FC236}">
                <a16:creationId xmlns:a16="http://schemas.microsoft.com/office/drawing/2014/main" id="{5AFAB30C-B7FC-4EBC-879E-D3794C9D7A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4811" y="2931128"/>
            <a:ext cx="492643" cy="49264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636592A-832F-4E9A-B623-CBE6171DF5D6}"/>
              </a:ext>
            </a:extLst>
          </p:cNvPr>
          <p:cNvSpPr/>
          <p:nvPr/>
        </p:nvSpPr>
        <p:spPr>
          <a:xfrm>
            <a:off x="4389305" y="2250926"/>
            <a:ext cx="1134587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3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Rookie</a:t>
            </a:r>
          </a:p>
        </p:txBody>
      </p:sp>
      <p:pic>
        <p:nvPicPr>
          <p:cNvPr id="27" name="Graphique 26" descr="Presse-papiers partiellement vérifié contour">
            <a:extLst>
              <a:ext uri="{FF2B5EF4-FFF2-40B4-BE49-F238E27FC236}">
                <a16:creationId xmlns:a16="http://schemas.microsoft.com/office/drawing/2014/main" id="{5F97DA5E-099B-4746-A2B1-7719CBCCE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3221" y="2940242"/>
            <a:ext cx="480487" cy="480487"/>
          </a:xfrm>
          <a:prstGeom prst="rect">
            <a:avLst/>
          </a:prstGeom>
        </p:spPr>
      </p:pic>
      <p:pic>
        <p:nvPicPr>
          <p:cNvPr id="28" name="Graphique 27" descr="Obstacle avec un remplissage uni">
            <a:extLst>
              <a:ext uri="{FF2B5EF4-FFF2-40B4-BE49-F238E27FC236}">
                <a16:creationId xmlns:a16="http://schemas.microsoft.com/office/drawing/2014/main" id="{FF7DECCB-6DBB-4589-8589-D5AF480AE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2805" y="2939778"/>
            <a:ext cx="457200" cy="457200"/>
          </a:xfrm>
          <a:prstGeom prst="rect">
            <a:avLst/>
          </a:prstGeom>
        </p:spPr>
      </p:pic>
      <p:pic>
        <p:nvPicPr>
          <p:cNvPr id="29" name="Graphique 28" descr="Médaille avec un remplissage uni">
            <a:extLst>
              <a:ext uri="{FF2B5EF4-FFF2-40B4-BE49-F238E27FC236}">
                <a16:creationId xmlns:a16="http://schemas.microsoft.com/office/drawing/2014/main" id="{2822A5DF-2461-4737-88AE-51354B1BF2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2062" y="2939778"/>
            <a:ext cx="492643" cy="49264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50AA63D-BD67-4EFF-AC43-03E1DE8CB081}"/>
              </a:ext>
            </a:extLst>
          </p:cNvPr>
          <p:cNvSpPr/>
          <p:nvPr/>
        </p:nvSpPr>
        <p:spPr>
          <a:xfrm>
            <a:off x="6470278" y="2250758"/>
            <a:ext cx="1219108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4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Contributors</a:t>
            </a:r>
          </a:p>
        </p:txBody>
      </p:sp>
      <p:pic>
        <p:nvPicPr>
          <p:cNvPr id="31" name="Graphique 30" descr="Presse-papiers partiellement vérifié contour">
            <a:extLst>
              <a:ext uri="{FF2B5EF4-FFF2-40B4-BE49-F238E27FC236}">
                <a16:creationId xmlns:a16="http://schemas.microsoft.com/office/drawing/2014/main" id="{8F7B15D5-2821-482C-8199-A92E174C2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1291" y="2940242"/>
            <a:ext cx="480487" cy="480487"/>
          </a:xfrm>
          <a:prstGeom prst="rect">
            <a:avLst/>
          </a:prstGeom>
        </p:spPr>
      </p:pic>
      <p:pic>
        <p:nvPicPr>
          <p:cNvPr id="32" name="Graphique 31" descr="Obstacle avec un remplissage uni">
            <a:extLst>
              <a:ext uri="{FF2B5EF4-FFF2-40B4-BE49-F238E27FC236}">
                <a16:creationId xmlns:a16="http://schemas.microsoft.com/office/drawing/2014/main" id="{25EE6CD8-BABD-4C6F-A824-7A75F572B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5098" y="2951885"/>
            <a:ext cx="457200" cy="457200"/>
          </a:xfrm>
          <a:prstGeom prst="rect">
            <a:avLst/>
          </a:prstGeom>
        </p:spPr>
      </p:pic>
      <p:pic>
        <p:nvPicPr>
          <p:cNvPr id="33" name="Graphique 32" descr="Médaille avec un remplissage uni">
            <a:extLst>
              <a:ext uri="{FF2B5EF4-FFF2-40B4-BE49-F238E27FC236}">
                <a16:creationId xmlns:a16="http://schemas.microsoft.com/office/drawing/2014/main" id="{BE843F7A-17E2-47EF-BAEF-1FFE7A0118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3314" y="2939778"/>
            <a:ext cx="492643" cy="49264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7B77492-6EA4-483E-9E69-5650AC970731}"/>
              </a:ext>
            </a:extLst>
          </p:cNvPr>
          <p:cNvSpPr/>
          <p:nvPr/>
        </p:nvSpPr>
        <p:spPr>
          <a:xfrm>
            <a:off x="8660215" y="2240096"/>
            <a:ext cx="1219108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5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Ambassadors</a:t>
            </a:r>
          </a:p>
        </p:txBody>
      </p:sp>
      <p:pic>
        <p:nvPicPr>
          <p:cNvPr id="35" name="Graphique 34" descr="Presse-papiers partiellement vérifié contour">
            <a:extLst>
              <a:ext uri="{FF2B5EF4-FFF2-40B4-BE49-F238E27FC236}">
                <a16:creationId xmlns:a16="http://schemas.microsoft.com/office/drawing/2014/main" id="{476AF516-5A82-4A05-841D-4EC54FFAE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6907" y="2948513"/>
            <a:ext cx="480487" cy="480487"/>
          </a:xfrm>
          <a:prstGeom prst="rect">
            <a:avLst/>
          </a:prstGeom>
        </p:spPr>
      </p:pic>
      <p:pic>
        <p:nvPicPr>
          <p:cNvPr id="36" name="Graphique 35" descr="Obstacle avec un remplissage uni">
            <a:extLst>
              <a:ext uri="{FF2B5EF4-FFF2-40B4-BE49-F238E27FC236}">
                <a16:creationId xmlns:a16="http://schemas.microsoft.com/office/drawing/2014/main" id="{CA172CCD-971B-448B-98ED-B3BEBFEA0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886" y="2948513"/>
            <a:ext cx="457200" cy="457200"/>
          </a:xfrm>
          <a:prstGeom prst="rect">
            <a:avLst/>
          </a:prstGeom>
        </p:spPr>
      </p:pic>
      <p:pic>
        <p:nvPicPr>
          <p:cNvPr id="37" name="Graphique 36" descr="Médaille avec un remplissage uni">
            <a:extLst>
              <a:ext uri="{FF2B5EF4-FFF2-40B4-BE49-F238E27FC236}">
                <a16:creationId xmlns:a16="http://schemas.microsoft.com/office/drawing/2014/main" id="{F95B6356-8E10-42BD-887C-025256D8C2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6624" y="2976613"/>
            <a:ext cx="492643" cy="492643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D5C4999-7A5B-4AF7-9B4A-B70FF5FC56BA}"/>
              </a:ext>
            </a:extLst>
          </p:cNvPr>
          <p:cNvSpPr/>
          <p:nvPr/>
        </p:nvSpPr>
        <p:spPr>
          <a:xfrm>
            <a:off x="10768369" y="2240096"/>
            <a:ext cx="1219108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Level 6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All-in-Ones</a:t>
            </a:r>
          </a:p>
        </p:txBody>
      </p:sp>
      <p:pic>
        <p:nvPicPr>
          <p:cNvPr id="39" name="Graphique 38" descr="Presse-papiers partiellement vérifié contour">
            <a:extLst>
              <a:ext uri="{FF2B5EF4-FFF2-40B4-BE49-F238E27FC236}">
                <a16:creationId xmlns:a16="http://schemas.microsoft.com/office/drawing/2014/main" id="{A5A8504A-7CB6-4D38-8F0F-2294BEEB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2759" y="2976613"/>
            <a:ext cx="480487" cy="48048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0492461-6E58-421A-97E1-8490AD2C5C67}"/>
              </a:ext>
            </a:extLst>
          </p:cNvPr>
          <p:cNvSpPr/>
          <p:nvPr/>
        </p:nvSpPr>
        <p:spPr>
          <a:xfrm>
            <a:off x="5633453" y="3499448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Contribute in 1 major event organization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4FCF12-52EA-49A1-9309-C1D66E98BB7C}"/>
              </a:ext>
            </a:extLst>
          </p:cNvPr>
          <p:cNvSpPr/>
          <p:nvPr/>
        </p:nvSpPr>
        <p:spPr>
          <a:xfrm>
            <a:off x="1089300" y="350771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Attend 3 events in a row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5213F6-A809-4D8E-9C03-1FA4A7AC262E}"/>
              </a:ext>
            </a:extLst>
          </p:cNvPr>
          <p:cNvSpPr/>
          <p:nvPr/>
        </p:nvSpPr>
        <p:spPr>
          <a:xfrm>
            <a:off x="1095696" y="4153930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Subscribe to newsletter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843526-CC0B-4EBC-B1DC-30F5687359CB}"/>
              </a:ext>
            </a:extLst>
          </p:cNvPr>
          <p:cNvSpPr/>
          <p:nvPr/>
        </p:nvSpPr>
        <p:spPr>
          <a:xfrm>
            <a:off x="3393591" y="3499448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Bring 3 people to 2 events (total 6)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25C068-1AC3-4B6E-8B4B-7B4E6662DFCD}"/>
              </a:ext>
            </a:extLst>
          </p:cNvPr>
          <p:cNvSpPr/>
          <p:nvPr/>
        </p:nvSpPr>
        <p:spPr>
          <a:xfrm>
            <a:off x="1839177" y="3499448"/>
            <a:ext cx="731775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📛 Community BADGE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9D25101-71EF-43DE-B342-233B21124BC1}"/>
              </a:ext>
            </a:extLst>
          </p:cNvPr>
          <p:cNvSpPr/>
          <p:nvPr/>
        </p:nvSpPr>
        <p:spPr>
          <a:xfrm>
            <a:off x="2650227" y="3494917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Attend major events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AAFDAC-A7AD-45E7-8BBB-17DF6F3ECD56}"/>
              </a:ext>
            </a:extLst>
          </p:cNvPr>
          <p:cNvSpPr/>
          <p:nvPr/>
        </p:nvSpPr>
        <p:spPr>
          <a:xfrm>
            <a:off x="4211176" y="3501747"/>
            <a:ext cx="671337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🍛 Invitation to quarterly dinner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4791A12-621A-4FB1-9D01-4E681E29FF9A}"/>
              </a:ext>
            </a:extLst>
          </p:cNvPr>
          <p:cNvSpPr/>
          <p:nvPr/>
        </p:nvSpPr>
        <p:spPr>
          <a:xfrm>
            <a:off x="4921212" y="3499448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Share content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AA0B993-7593-428E-9AB3-8CF64E2E5229}"/>
              </a:ext>
            </a:extLst>
          </p:cNvPr>
          <p:cNvSpPr/>
          <p:nvPr/>
        </p:nvSpPr>
        <p:spPr>
          <a:xfrm>
            <a:off x="7818730" y="3501747"/>
            <a:ext cx="628338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Set up a new tool for the Community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4AACDB3-1C32-47C7-937A-B8E96F3D3FB5}"/>
              </a:ext>
            </a:extLst>
          </p:cNvPr>
          <p:cNvSpPr/>
          <p:nvPr/>
        </p:nvSpPr>
        <p:spPr>
          <a:xfrm>
            <a:off x="6379560" y="3494491"/>
            <a:ext cx="671337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📅 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Access to special events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CB7C17F-EBA7-49E7-81C2-57D4DF55A20C}"/>
              </a:ext>
            </a:extLst>
          </p:cNvPr>
          <p:cNvSpPr/>
          <p:nvPr/>
        </p:nvSpPr>
        <p:spPr>
          <a:xfrm>
            <a:off x="7083389" y="3501747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Attend to major &amp;  minor events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F5800F-854A-4AB9-A7CC-BD7BEE2E5A15}"/>
              </a:ext>
            </a:extLst>
          </p:cNvPr>
          <p:cNvSpPr/>
          <p:nvPr/>
        </p:nvSpPr>
        <p:spPr>
          <a:xfrm>
            <a:off x="10030311" y="3501747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Help offboard 2 members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A44FEC-0B77-4884-8928-E5B06C5CE09E}"/>
              </a:ext>
            </a:extLst>
          </p:cNvPr>
          <p:cNvSpPr/>
          <p:nvPr/>
        </p:nvSpPr>
        <p:spPr>
          <a:xfrm>
            <a:off x="8551649" y="3499448"/>
            <a:ext cx="671337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📖 Book on Community activity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F94054-A645-43B7-B58F-5BCE450E8A64}"/>
              </a:ext>
            </a:extLst>
          </p:cNvPr>
          <p:cNvSpPr/>
          <p:nvPr/>
        </p:nvSpPr>
        <p:spPr>
          <a:xfrm>
            <a:off x="9290980" y="3501747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Lead Community Activities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F63BFE-06A7-4BE3-8227-F02A583683CA}"/>
              </a:ext>
            </a:extLst>
          </p:cNvPr>
          <p:cNvSpPr/>
          <p:nvPr/>
        </p:nvSpPr>
        <p:spPr>
          <a:xfrm>
            <a:off x="10794414" y="3523663"/>
            <a:ext cx="671337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💰 Financial incentive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24D8985-AB03-4955-9661-4E4F2AA26C41}"/>
              </a:ext>
            </a:extLst>
          </p:cNvPr>
          <p:cNvSpPr/>
          <p:nvPr/>
        </p:nvSpPr>
        <p:spPr>
          <a:xfrm>
            <a:off x="11529093" y="3523663"/>
            <a:ext cx="635080" cy="59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Community big decisions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55BD761-7F5A-423A-9646-6CAD5853D858}"/>
              </a:ext>
            </a:extLst>
          </p:cNvPr>
          <p:cNvSpPr/>
          <p:nvPr/>
        </p:nvSpPr>
        <p:spPr>
          <a:xfrm>
            <a:off x="7798446" y="414565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Pass Level 2 Certification of Skill X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EB90ED-1A8E-40BA-B0A5-C5D16121217F}"/>
              </a:ext>
            </a:extLst>
          </p:cNvPr>
          <p:cNvSpPr/>
          <p:nvPr/>
        </p:nvSpPr>
        <p:spPr>
          <a:xfrm>
            <a:off x="128686" y="3499448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Read posts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E8155CB-C18A-4FD6-B83F-6AEF39A5D2C9}"/>
              </a:ext>
            </a:extLst>
          </p:cNvPr>
          <p:cNvSpPr/>
          <p:nvPr/>
        </p:nvSpPr>
        <p:spPr>
          <a:xfrm>
            <a:off x="134050" y="4145659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React to articles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2316C6F-CBCC-4D6A-A125-14DF44931CC6}"/>
              </a:ext>
            </a:extLst>
          </p:cNvPr>
          <p:cNvSpPr/>
          <p:nvPr/>
        </p:nvSpPr>
        <p:spPr>
          <a:xfrm>
            <a:off x="2650161" y="4120875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Discuss in Forum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92EF28-81C0-425F-98CB-3E5B2F21BC37}"/>
              </a:ext>
            </a:extLst>
          </p:cNvPr>
          <p:cNvSpPr/>
          <p:nvPr/>
        </p:nvSpPr>
        <p:spPr>
          <a:xfrm>
            <a:off x="134749" y="4815443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Discover community activities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F975B9-BEEE-467B-B367-CF025366020D}"/>
              </a:ext>
            </a:extLst>
          </p:cNvPr>
          <p:cNvSpPr/>
          <p:nvPr/>
        </p:nvSpPr>
        <p:spPr>
          <a:xfrm>
            <a:off x="2650160" y="4738365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Meet members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F0FEDE-D3CB-4DE0-8C6C-D9506F3EFAD0}"/>
              </a:ext>
            </a:extLst>
          </p:cNvPr>
          <p:cNvSpPr/>
          <p:nvPr/>
        </p:nvSpPr>
        <p:spPr>
          <a:xfrm>
            <a:off x="7083389" y="4141153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Contribute to event organization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518553B-EFB4-48CD-9EFE-DCBD558E728A}"/>
              </a:ext>
            </a:extLst>
          </p:cNvPr>
          <p:cNvSpPr/>
          <p:nvPr/>
        </p:nvSpPr>
        <p:spPr>
          <a:xfrm>
            <a:off x="4910843" y="4161588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Organize small groups of attendees in event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73229A6-B1BE-4804-B046-CD63AAE666CD}"/>
              </a:ext>
            </a:extLst>
          </p:cNvPr>
          <p:cNvSpPr/>
          <p:nvPr/>
        </p:nvSpPr>
        <p:spPr>
          <a:xfrm>
            <a:off x="1096052" y="4823714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Answer to 4 polls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6EDE76E-8DC4-4AB3-99A2-00F1AF906BFC}"/>
              </a:ext>
            </a:extLst>
          </p:cNvPr>
          <p:cNvSpPr/>
          <p:nvPr/>
        </p:nvSpPr>
        <p:spPr>
          <a:xfrm>
            <a:off x="3401743" y="4121113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Write 2 promotional articles about the Community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CFA6C85-2521-48D2-B473-A3AAEB0ADBD2}"/>
              </a:ext>
            </a:extLst>
          </p:cNvPr>
          <p:cNvSpPr/>
          <p:nvPr/>
        </p:nvSpPr>
        <p:spPr>
          <a:xfrm>
            <a:off x="1830617" y="4120875"/>
            <a:ext cx="731775" cy="597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🎫 Community Lottery ticket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8E05014-B8D2-419E-9C5E-844B18CC573D}"/>
              </a:ext>
            </a:extLst>
          </p:cNvPr>
          <p:cNvSpPr/>
          <p:nvPr/>
        </p:nvSpPr>
        <p:spPr>
          <a:xfrm>
            <a:off x="4910842" y="4823728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Help in Community onboarding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AD50DFC-BCA6-49D1-A024-3CCA18C67077}"/>
              </a:ext>
            </a:extLst>
          </p:cNvPr>
          <p:cNvSpPr/>
          <p:nvPr/>
        </p:nvSpPr>
        <p:spPr>
          <a:xfrm>
            <a:off x="8551649" y="4144649"/>
            <a:ext cx="677627" cy="65385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♞ Ambassador naming ceremony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FAD78AD-5CDB-475D-B651-90C46E4557E8}"/>
              </a:ext>
            </a:extLst>
          </p:cNvPr>
          <p:cNvSpPr/>
          <p:nvPr/>
        </p:nvSpPr>
        <p:spPr>
          <a:xfrm>
            <a:off x="6386861" y="4161588"/>
            <a:ext cx="659451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👨‍🏫 Exclusive access to mentoring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CAE1952-94BD-4154-A98D-4B2B95044459}"/>
              </a:ext>
            </a:extLst>
          </p:cNvPr>
          <p:cNvSpPr/>
          <p:nvPr/>
        </p:nvSpPr>
        <p:spPr>
          <a:xfrm>
            <a:off x="7079086" y="4784269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Organize Community Forum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432EE17-5CDC-45E3-A8BB-3A5081252AE8}"/>
              </a:ext>
            </a:extLst>
          </p:cNvPr>
          <p:cNvSpPr/>
          <p:nvPr/>
        </p:nvSpPr>
        <p:spPr>
          <a:xfrm>
            <a:off x="7081836" y="5427385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Help &amp; teach new members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74C9948-BC7D-4476-8731-E26D36E95A6B}"/>
              </a:ext>
            </a:extLst>
          </p:cNvPr>
          <p:cNvSpPr/>
          <p:nvPr/>
        </p:nvSpPr>
        <p:spPr>
          <a:xfrm>
            <a:off x="10793487" y="4188737"/>
            <a:ext cx="677628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🤴 Access to committees with CEO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5407C1B-5CA8-4C75-B15C-A9A55C8CAB52}"/>
              </a:ext>
            </a:extLst>
          </p:cNvPr>
          <p:cNvSpPr/>
          <p:nvPr/>
        </p:nvSpPr>
        <p:spPr>
          <a:xfrm>
            <a:off x="10011852" y="414464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Pass Level 4 Certification of Skill X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FBFED30-3B2D-4359-B3F7-F7AB7FD50ED1}"/>
              </a:ext>
            </a:extLst>
          </p:cNvPr>
          <p:cNvSpPr/>
          <p:nvPr/>
        </p:nvSpPr>
        <p:spPr>
          <a:xfrm>
            <a:off x="5643336" y="414464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Pass Level 1 Certification of Skill X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AA5A005-457A-4495-90E9-1FF20E04957F}"/>
              </a:ext>
            </a:extLst>
          </p:cNvPr>
          <p:cNvSpPr/>
          <p:nvPr/>
        </p:nvSpPr>
        <p:spPr>
          <a:xfrm>
            <a:off x="8576899" y="4873388"/>
            <a:ext cx="646088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⏳Spare time to work freely on projects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6941B4B-F057-42A5-A2E9-30B15863D549}"/>
              </a:ext>
            </a:extLst>
          </p:cNvPr>
          <p:cNvSpPr/>
          <p:nvPr/>
        </p:nvSpPr>
        <p:spPr>
          <a:xfrm>
            <a:off x="9285830" y="4141153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Represent Community outside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65BAB99-2EC2-44F5-96C8-FE74FF8909C5}"/>
              </a:ext>
            </a:extLst>
          </p:cNvPr>
          <p:cNvSpPr/>
          <p:nvPr/>
        </p:nvSpPr>
        <p:spPr>
          <a:xfrm>
            <a:off x="9285830" y="4785241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Mentor Level 4 members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167B204-8D59-42FE-8ADA-A0E09FA34DB7}"/>
              </a:ext>
            </a:extLst>
          </p:cNvPr>
          <p:cNvSpPr/>
          <p:nvPr/>
        </p:nvSpPr>
        <p:spPr>
          <a:xfrm>
            <a:off x="6386861" y="4767979"/>
            <a:ext cx="651565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🎁 Community Gift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95C58B3-4970-4DE5-A3BC-9C25028E785A}"/>
              </a:ext>
            </a:extLst>
          </p:cNvPr>
          <p:cNvSpPr/>
          <p:nvPr/>
        </p:nvSpPr>
        <p:spPr>
          <a:xfrm>
            <a:off x="10788123" y="4827484"/>
            <a:ext cx="677628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👍Support for future project proposition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EB369E-5321-430B-AAA3-181844C2C4CD}"/>
              </a:ext>
            </a:extLst>
          </p:cNvPr>
          <p:cNvSpPr/>
          <p:nvPr/>
        </p:nvSpPr>
        <p:spPr>
          <a:xfrm>
            <a:off x="10004621" y="4784269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Lead organization of 1 major event 3 years in a row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FF09847-9F2B-45A2-9F6C-33B9AF3C4F66}"/>
              </a:ext>
            </a:extLst>
          </p:cNvPr>
          <p:cNvSpPr/>
          <p:nvPr/>
        </p:nvSpPr>
        <p:spPr>
          <a:xfrm>
            <a:off x="10012596" y="5427385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Mentor 3 members for one year each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283C30E-8AE1-4DC9-8EB0-35D3490F6765}"/>
              </a:ext>
            </a:extLst>
          </p:cNvPr>
          <p:cNvSpPr/>
          <p:nvPr/>
        </p:nvSpPr>
        <p:spPr>
          <a:xfrm>
            <a:off x="7818730" y="4784269"/>
            <a:ext cx="628338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Write 5 articles for the Community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EC0F367-FD25-46E8-8FF2-F320CCEB0150}"/>
              </a:ext>
            </a:extLst>
          </p:cNvPr>
          <p:cNvSpPr/>
          <p:nvPr/>
        </p:nvSpPr>
        <p:spPr>
          <a:xfrm>
            <a:off x="7082545" y="6066791"/>
            <a:ext cx="671337" cy="597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Create content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C8D36F5-AB34-4C78-A9E7-57A415AD33C9}"/>
              </a:ext>
            </a:extLst>
          </p:cNvPr>
          <p:cNvSpPr/>
          <p:nvPr/>
        </p:nvSpPr>
        <p:spPr>
          <a:xfrm>
            <a:off x="5644720" y="4768037"/>
            <a:ext cx="671337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Answer to 25 questions in Community Forum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D52194-7A2D-4362-A5C4-C433A6B37FCC}"/>
              </a:ext>
            </a:extLst>
          </p:cNvPr>
          <p:cNvSpPr/>
          <p:nvPr/>
        </p:nvSpPr>
        <p:spPr>
          <a:xfrm>
            <a:off x="7791316" y="5420940"/>
            <a:ext cx="651728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Record a video with self for Community promotion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533AF17-659F-438F-8B53-6CEB03630392}"/>
              </a:ext>
            </a:extLst>
          </p:cNvPr>
          <p:cNvSpPr/>
          <p:nvPr/>
        </p:nvSpPr>
        <p:spPr>
          <a:xfrm>
            <a:off x="6363185" y="5374370"/>
            <a:ext cx="67672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🎨Exclusive access to creative rooms (</a:t>
            </a:r>
            <a:r>
              <a:rPr lang="en-US" sz="900" err="1">
                <a:solidFill>
                  <a:schemeClr val="tx1"/>
                </a:solidFill>
              </a:rPr>
              <a:t>Fablab</a:t>
            </a:r>
            <a:r>
              <a:rPr lang="en-US" sz="90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9D358DB-3797-4A0C-B4A4-80847ADE04D0}"/>
              </a:ext>
            </a:extLst>
          </p:cNvPr>
          <p:cNvSpPr/>
          <p:nvPr/>
        </p:nvSpPr>
        <p:spPr>
          <a:xfrm>
            <a:off x="7791316" y="6051222"/>
            <a:ext cx="651728" cy="5972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Organize 3 minor events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CF0EC26-561C-4E32-928F-53CA98F05EA6}"/>
              </a:ext>
            </a:extLst>
          </p:cNvPr>
          <p:cNvSpPr/>
          <p:nvPr/>
        </p:nvSpPr>
        <p:spPr>
          <a:xfrm>
            <a:off x="8576900" y="5494252"/>
            <a:ext cx="642628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📜 Community related diploma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D625FD5-DA93-42B4-A25D-01A01A04B379}"/>
              </a:ext>
            </a:extLst>
          </p:cNvPr>
          <p:cNvSpPr/>
          <p:nvPr/>
        </p:nvSpPr>
        <p:spPr>
          <a:xfrm>
            <a:off x="6379560" y="5975985"/>
            <a:ext cx="656993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Official registering in list of Contributors 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BB8805D-8AAB-4417-AD16-26090B29987D}"/>
              </a:ext>
            </a:extLst>
          </p:cNvPr>
          <p:cNvSpPr/>
          <p:nvPr/>
        </p:nvSpPr>
        <p:spPr>
          <a:xfrm>
            <a:off x="4210937" y="4142482"/>
            <a:ext cx="651415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📚 Exclusive access digital library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C67CFE3-A33B-417C-8044-731827C13A95}"/>
              </a:ext>
            </a:extLst>
          </p:cNvPr>
          <p:cNvSpPr/>
          <p:nvPr/>
        </p:nvSpPr>
        <p:spPr>
          <a:xfrm>
            <a:off x="11529093" y="4173940"/>
            <a:ext cx="635080" cy="59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Community leadership speeches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7A7B2CE-A024-46E0-B695-BDC70301CF1B}"/>
              </a:ext>
            </a:extLst>
          </p:cNvPr>
          <p:cNvSpPr/>
          <p:nvPr/>
        </p:nvSpPr>
        <p:spPr>
          <a:xfrm>
            <a:off x="11529093" y="4819063"/>
            <a:ext cx="635080" cy="59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Sponsorship of initiatives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A26B9A8-42F0-403F-A438-1B0BBE2B3A3A}"/>
              </a:ext>
            </a:extLst>
          </p:cNvPr>
          <p:cNvSpPr/>
          <p:nvPr/>
        </p:nvSpPr>
        <p:spPr>
          <a:xfrm>
            <a:off x="11529093" y="5467107"/>
            <a:ext cx="635080" cy="59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700">
                <a:solidFill>
                  <a:schemeClr val="tx1"/>
                </a:solidFill>
              </a:rPr>
              <a:t>Community Level Design</a:t>
            </a:r>
          </a:p>
        </p:txBody>
      </p:sp>
    </p:spTree>
    <p:extLst>
      <p:ext uri="{BB962C8B-B14F-4D97-AF65-F5344CB8AC3E}">
        <p14:creationId xmlns:p14="http://schemas.microsoft.com/office/powerpoint/2010/main" val="253394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FFD5B-AC47-4127-A8CC-20181340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Community Level Design</a:t>
            </a:r>
            <a:br>
              <a:rPr lang="en-US"/>
            </a:br>
            <a:r>
              <a:rPr lang="en-US"/>
              <a:t>Workshop step by step</a:t>
            </a: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DD1C82ED-290A-4282-91BA-89B659C01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198465"/>
              </p:ext>
            </p:extLst>
          </p:nvPr>
        </p:nvGraphicFramePr>
        <p:xfrm>
          <a:off x="145280" y="1813144"/>
          <a:ext cx="11582527" cy="457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5298">
                  <a:extLst>
                    <a:ext uri="{9D8B030D-6E8A-4147-A177-3AD203B41FA5}">
                      <a16:colId xmlns:a16="http://schemas.microsoft.com/office/drawing/2014/main" val="3637095222"/>
                    </a:ext>
                  </a:extLst>
                </a:gridCol>
                <a:gridCol w="1879659">
                  <a:extLst>
                    <a:ext uri="{9D8B030D-6E8A-4147-A177-3AD203B41FA5}">
                      <a16:colId xmlns:a16="http://schemas.microsoft.com/office/drawing/2014/main" val="1997714430"/>
                    </a:ext>
                  </a:extLst>
                </a:gridCol>
                <a:gridCol w="1732011">
                  <a:extLst>
                    <a:ext uri="{9D8B030D-6E8A-4147-A177-3AD203B41FA5}">
                      <a16:colId xmlns:a16="http://schemas.microsoft.com/office/drawing/2014/main" val="3341757670"/>
                    </a:ext>
                  </a:extLst>
                </a:gridCol>
                <a:gridCol w="1928592">
                  <a:extLst>
                    <a:ext uri="{9D8B030D-6E8A-4147-A177-3AD203B41FA5}">
                      <a16:colId xmlns:a16="http://schemas.microsoft.com/office/drawing/2014/main" val="3035350526"/>
                    </a:ext>
                  </a:extLst>
                </a:gridCol>
                <a:gridCol w="1608989">
                  <a:extLst>
                    <a:ext uri="{9D8B030D-6E8A-4147-A177-3AD203B41FA5}">
                      <a16:colId xmlns:a16="http://schemas.microsoft.com/office/drawing/2014/main" val="1419982903"/>
                    </a:ext>
                  </a:extLst>
                </a:gridCol>
                <a:gridCol w="1608989">
                  <a:extLst>
                    <a:ext uri="{9D8B030D-6E8A-4147-A177-3AD203B41FA5}">
                      <a16:colId xmlns:a16="http://schemas.microsoft.com/office/drawing/2014/main" val="2747996475"/>
                    </a:ext>
                  </a:extLst>
                </a:gridCol>
                <a:gridCol w="1608989">
                  <a:extLst>
                    <a:ext uri="{9D8B030D-6E8A-4147-A177-3AD203B41FA5}">
                      <a16:colId xmlns:a16="http://schemas.microsoft.com/office/drawing/2014/main" val="2174399618"/>
                    </a:ext>
                  </a:extLst>
                </a:gridCol>
              </a:tblGrid>
              <a:tr h="594340"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1</a:t>
                      </a:r>
                    </a:p>
                    <a:p>
                      <a:pPr algn="ctr"/>
                      <a:r>
                        <a:rPr lang="en-US" sz="1400" noProof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2</a:t>
                      </a:r>
                    </a:p>
                    <a:p>
                      <a:pPr algn="ctr"/>
                      <a:r>
                        <a:rPr lang="en-US" sz="1400" noProof="0"/>
                        <a:t>Example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3</a:t>
                      </a:r>
                    </a:p>
                    <a:p>
                      <a:pPr algn="ctr"/>
                      <a:r>
                        <a:rPr lang="en-US" sz="1400" noProof="0"/>
                        <a:t>Define activities  🟦 and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4</a:t>
                      </a:r>
                    </a:p>
                    <a:p>
                      <a:pPr algn="ctr"/>
                      <a:r>
                        <a:rPr lang="en-US" sz="1400" noProof="0"/>
                        <a:t>Define rewards🟩 and challenges🟨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5</a:t>
                      </a:r>
                    </a:p>
                    <a:p>
                      <a:pPr algn="ctr"/>
                      <a:r>
                        <a:rPr lang="en-US" sz="1400" noProof="0"/>
                        <a:t>Global review of a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6</a:t>
                      </a:r>
                    </a:p>
                    <a:p>
                      <a:pPr algn="ctr"/>
                      <a:r>
                        <a:rPr lang="en-US" sz="1400" noProof="0"/>
                        <a:t>Share &amp; Brainstorm about the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63392"/>
                  </a:ext>
                </a:extLst>
              </a:tr>
              <a:tr h="498335">
                <a:tc>
                  <a:txBody>
                    <a:bodyPr/>
                    <a:lstStyle/>
                    <a:p>
                      <a:r>
                        <a:rPr lang="en-US" sz="1400" noProof="0"/>
                        <a:t>Suggested timebox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40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10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51482"/>
                  </a:ext>
                </a:extLst>
              </a:tr>
              <a:tr h="2016509">
                <a:tc>
                  <a:txBody>
                    <a:bodyPr/>
                    <a:lstStyle/>
                    <a:p>
                      <a:r>
                        <a:rPr lang="en-US" sz="1400" noProof="0"/>
                        <a:t>Action</a:t>
                      </a:r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To be performed mostly using a (digital Wall) and breakout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/>
                        <a:t>Explain purpose of the workshop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Promote Engagement in Community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Become fair about Community progression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noProof="0"/>
                        <a:t>Share about mindset :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Fairness first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Acceptance that not all members are equal in contribution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Remember to base rewards and challenges on your own knowledge of members motivations and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Show example results to inspire: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Ideas of levels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Ideas of rewards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Ideas of challenges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9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It is up to you to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Define paths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Select rewards and challenges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Invite whoever you think is relevant to the Community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900" noProof="0"/>
                        <a:t>The most advanced level represent what a member does when he/she has progressed through ALL the Community level. Therefore, it is the paragon of members and must represent an ideal.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9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Define activities 🟦 of the most advanced level🟪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900" noProof="0"/>
                        <a:t>Name the most advanced level 🟪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900" noProof="0"/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Define the second most advanced level🟪🟦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Continue down to the entry levels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900" noProof="0"/>
                        <a:t>In case of several branches, finish one full path from ideal to beginner before starting another one.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For each level 🟪, choose or define rewards 🟩 that will be given for the NEXT level🟪. Start with beginners.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Once you finished all rewards, start from the top level 🟪 and define the challenges 🟨 that are necessary to perform at the level below 🟪 to reach this level.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noProof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noProof="0"/>
                        <a:t>During this exercise, feel free to adjust activities 🟦 and level names🟪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/>
                        <a:t>Tell a story of a beginner🟪 in the Community to his advanced/level🟪.</a:t>
                      </a:r>
                    </a:p>
                    <a:p>
                      <a:endParaRPr lang="en-US" sz="900" noProof="0"/>
                    </a:p>
                    <a:p>
                      <a:r>
                        <a:rPr lang="en-US" sz="900" noProof="0"/>
                        <a:t>In case of inconsistencies or possible improvements, adjust your 🟪🟦🟩🟨 </a:t>
                      </a:r>
                    </a:p>
                    <a:p>
                      <a:endParaRPr lang="en-US" sz="900" noProof="0"/>
                    </a:p>
                    <a:p>
                      <a:r>
                        <a:rPr lang="en-US" sz="900" noProof="0"/>
                        <a:t>It is recommended to perform this global review once again a few days after the workshop</a:t>
                      </a:r>
                    </a:p>
                    <a:p>
                      <a:endParaRPr lang="en-US" sz="900" noProof="0"/>
                    </a:p>
                    <a:p>
                      <a:endParaRPr lang="en-US" sz="9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noProof="0"/>
                        <a:t>Discuss on implementation : </a:t>
                      </a:r>
                    </a:p>
                    <a:p>
                      <a:endParaRPr lang="en-US" sz="900" noProof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/>
                        <a:t>Where will the path be published ?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/>
                        <a:t>Who should review it before publishing ?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900" noProof="0"/>
                        <a:t>What is hidden (surprise rewards for example), what is shown ?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900" noProof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noProof="0"/>
                        <a:t>Organize FAQ session about the Community levels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900" noProof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900" noProof="0"/>
                        <a:t>Check the “Using the workshop results” slide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26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77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workshop results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8F5973-11FE-47DA-9479-62749C9C3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521" y="2248250"/>
            <a:ext cx="10016958" cy="34562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☑️Review the results a few days after to take some hindsight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🤝Review with Community Sponsor (Clarify Governance, validate rewards, …)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📣Identify where, when, how, to whom, the levels should be shared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✨Beautify and make the result fun and engaging (in the format)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⚒️Decide on implementation tools and processes : When, where, who, how will you track members levels (example : use workshop 6 #OpenSeriousPath)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9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FFD5B-AC47-4127-A8CC-20181340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/>
              <a:t>Optional preparatory workshop : </a:t>
            </a:r>
            <a:br>
              <a:rPr lang="en-US" sz="2400"/>
            </a:br>
            <a:r>
              <a:rPr lang="en-US" sz="2400"/>
              <a:t>Pre-define level rewards based on members motivations. </a:t>
            </a:r>
            <a:br>
              <a:rPr lang="en-US" sz="2400"/>
            </a:br>
            <a:r>
              <a:rPr lang="en-US" sz="2400"/>
              <a:t>Ideas for Community rewards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8B5E8A-8E2F-448A-AB62-816F4E4F56A5}"/>
              </a:ext>
            </a:extLst>
          </p:cNvPr>
          <p:cNvSpPr txBox="1"/>
          <p:nvPr/>
        </p:nvSpPr>
        <p:spPr>
          <a:xfrm>
            <a:off x="2007113" y="2214033"/>
            <a:ext cx="979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🥇Social recognition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D1B87E7-A81B-4F82-8DD3-557207767876}"/>
              </a:ext>
            </a:extLst>
          </p:cNvPr>
          <p:cNvSpPr txBox="1"/>
          <p:nvPr/>
        </p:nvSpPr>
        <p:spPr>
          <a:xfrm>
            <a:off x="7353741" y="2199558"/>
            <a:ext cx="1673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🏋️Skill development &amp; achievement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8F236F-3546-40C8-81E7-A87FC47C41BB}"/>
              </a:ext>
            </a:extLst>
          </p:cNvPr>
          <p:cNvSpPr txBox="1"/>
          <p:nvPr/>
        </p:nvSpPr>
        <p:spPr>
          <a:xfrm>
            <a:off x="5983741" y="2176856"/>
            <a:ext cx="1274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🎗️Positive Impact &amp; meaning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307DFF1-32F7-4E1F-B2BA-D051DAF756CA}"/>
              </a:ext>
            </a:extLst>
          </p:cNvPr>
          <p:cNvSpPr txBox="1"/>
          <p:nvPr/>
        </p:nvSpPr>
        <p:spPr>
          <a:xfrm>
            <a:off x="529373" y="2203232"/>
            <a:ext cx="1152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🎁Material possessions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8C0D23E-298D-41AE-8796-B5CE40656D1B}"/>
              </a:ext>
            </a:extLst>
          </p:cNvPr>
          <p:cNvSpPr txBox="1"/>
          <p:nvPr/>
        </p:nvSpPr>
        <p:spPr>
          <a:xfrm>
            <a:off x="8991079" y="2228494"/>
            <a:ext cx="1152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⏳Freedom &amp; Free Time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F3784A8-E819-4B03-A008-CC592A27E890}"/>
              </a:ext>
            </a:extLst>
          </p:cNvPr>
          <p:cNvSpPr txBox="1"/>
          <p:nvPr/>
        </p:nvSpPr>
        <p:spPr>
          <a:xfrm>
            <a:off x="10412924" y="2228494"/>
            <a:ext cx="97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💡Creative space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10797BA-1958-42CD-A065-2B9E910DC08D}"/>
              </a:ext>
            </a:extLst>
          </p:cNvPr>
          <p:cNvSpPr txBox="1"/>
          <p:nvPr/>
        </p:nvSpPr>
        <p:spPr>
          <a:xfrm>
            <a:off x="4721223" y="2173360"/>
            <a:ext cx="97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🤝Bonding with others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EEA3761-0E12-4976-88EE-BB120C5E9646}"/>
              </a:ext>
            </a:extLst>
          </p:cNvPr>
          <p:cNvSpPr txBox="1"/>
          <p:nvPr/>
        </p:nvSpPr>
        <p:spPr>
          <a:xfrm>
            <a:off x="3282322" y="2174671"/>
            <a:ext cx="1143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✨Stimulation &amp; Well-being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2838C3-2E4C-4F0E-94F6-22EE4F6A0231}"/>
              </a:ext>
            </a:extLst>
          </p:cNvPr>
          <p:cNvSpPr/>
          <p:nvPr/>
        </p:nvSpPr>
        <p:spPr>
          <a:xfrm>
            <a:off x="616345" y="26353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💰 Financial incentives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26FD08-150C-40B6-93BA-CAECEACC5BC7}"/>
              </a:ext>
            </a:extLst>
          </p:cNvPr>
          <p:cNvSpPr/>
          <p:nvPr/>
        </p:nvSpPr>
        <p:spPr>
          <a:xfrm>
            <a:off x="2003342" y="26353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📛 Badges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682C43-70D2-4C73-88FB-D51AF93CF94C}"/>
              </a:ext>
            </a:extLst>
          </p:cNvPr>
          <p:cNvSpPr/>
          <p:nvPr/>
        </p:nvSpPr>
        <p:spPr>
          <a:xfrm>
            <a:off x="7666514" y="26353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🔑 Access to training courses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2F56E3-3FFA-415E-A091-CAAFAF4882E4}"/>
              </a:ext>
            </a:extLst>
          </p:cNvPr>
          <p:cNvSpPr/>
          <p:nvPr/>
        </p:nvSpPr>
        <p:spPr>
          <a:xfrm>
            <a:off x="3383176" y="2627722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🎲 Participation to games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27FD7D-0756-4788-9C68-1E1B20BE5171}"/>
              </a:ext>
            </a:extLst>
          </p:cNvPr>
          <p:cNvSpPr/>
          <p:nvPr/>
        </p:nvSpPr>
        <p:spPr>
          <a:xfrm>
            <a:off x="616345" y="3250026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🎁 </a:t>
            </a:r>
            <a:r>
              <a:rPr lang="en-US" sz="900">
                <a:solidFill>
                  <a:schemeClr val="tx1"/>
                </a:solidFill>
              </a:rPr>
              <a:t>Gifts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AAD4B3-7BF1-412A-9325-0F434FCAE43A}"/>
              </a:ext>
            </a:extLst>
          </p:cNvPr>
          <p:cNvSpPr/>
          <p:nvPr/>
        </p:nvSpPr>
        <p:spPr>
          <a:xfrm>
            <a:off x="6108083" y="262563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💰</a:t>
            </a:r>
            <a:r>
              <a:rPr lang="en-US" sz="900" b="1">
                <a:solidFill>
                  <a:schemeClr val="tx1"/>
                </a:solidFill>
              </a:rPr>
              <a:t> ❤️</a:t>
            </a:r>
            <a:r>
              <a:rPr lang="en-US" sz="900">
                <a:solidFill>
                  <a:schemeClr val="tx1"/>
                </a:solidFill>
              </a:rPr>
              <a:t> Financial reward to give to non-profit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BEF4B8-A823-4CC5-BDAA-43641F28B2AA}"/>
              </a:ext>
            </a:extLst>
          </p:cNvPr>
          <p:cNvSpPr/>
          <p:nvPr/>
        </p:nvSpPr>
        <p:spPr>
          <a:xfrm>
            <a:off x="6114434" y="323779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🎁 ❤️ </a:t>
            </a:r>
            <a:r>
              <a:rPr lang="en-US" sz="900">
                <a:solidFill>
                  <a:schemeClr val="tx1"/>
                </a:solidFill>
              </a:rPr>
              <a:t>Gift to offer to someone of choice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72FF8-E44B-4AC5-AF5D-9815408CD870}"/>
              </a:ext>
            </a:extLst>
          </p:cNvPr>
          <p:cNvSpPr/>
          <p:nvPr/>
        </p:nvSpPr>
        <p:spPr>
          <a:xfrm>
            <a:off x="10403984" y="26705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🎨Exclusive access to creative rooms (</a:t>
            </a:r>
            <a:r>
              <a:rPr lang="en-US" sz="900" err="1">
                <a:solidFill>
                  <a:schemeClr val="tx1"/>
                </a:solidFill>
              </a:rPr>
              <a:t>Fablab</a:t>
            </a:r>
            <a:r>
              <a:rPr lang="en-US" sz="900">
                <a:solidFill>
                  <a:schemeClr val="tx1"/>
                </a:solidFill>
              </a:rPr>
              <a:t>, …)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49587F-B4F6-4463-9205-8166DAA33D89}"/>
              </a:ext>
            </a:extLst>
          </p:cNvPr>
          <p:cNvSpPr/>
          <p:nvPr/>
        </p:nvSpPr>
        <p:spPr>
          <a:xfrm>
            <a:off x="9068668" y="266619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⏳Spare time to work freely on projects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DD4CF5-99A5-4607-B620-81C6F5CB449C}"/>
              </a:ext>
            </a:extLst>
          </p:cNvPr>
          <p:cNvSpPr/>
          <p:nvPr/>
        </p:nvSpPr>
        <p:spPr>
          <a:xfrm>
            <a:off x="7666514" y="322861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📖 Books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13465C-5BF2-4E27-BF12-20AA15102B1C}"/>
              </a:ext>
            </a:extLst>
          </p:cNvPr>
          <p:cNvSpPr/>
          <p:nvPr/>
        </p:nvSpPr>
        <p:spPr>
          <a:xfrm>
            <a:off x="1998170" y="321877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🦚 Official titles in the organizational chart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3E4F01-4576-4C0A-9340-6AEC7A8DD5F1}"/>
              </a:ext>
            </a:extLst>
          </p:cNvPr>
          <p:cNvSpPr/>
          <p:nvPr/>
        </p:nvSpPr>
        <p:spPr>
          <a:xfrm>
            <a:off x="1989228" y="381422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♞ Accolade / Coronation / title giving ceremony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3E92EF-5098-4C77-9BC4-7D701FB5B803}"/>
              </a:ext>
            </a:extLst>
          </p:cNvPr>
          <p:cNvSpPr/>
          <p:nvPr/>
        </p:nvSpPr>
        <p:spPr>
          <a:xfrm>
            <a:off x="4751986" y="262622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🥂 Celebration moments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19EA3E-69BF-4E27-B3F8-951B40712D1D}"/>
              </a:ext>
            </a:extLst>
          </p:cNvPr>
          <p:cNvSpPr/>
          <p:nvPr/>
        </p:nvSpPr>
        <p:spPr>
          <a:xfrm>
            <a:off x="1998169" y="440749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🤴 Exclusive access rights or decision rights / power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D6F557-7868-4B10-B45D-F3749CDFA938}"/>
              </a:ext>
            </a:extLst>
          </p:cNvPr>
          <p:cNvSpPr/>
          <p:nvPr/>
        </p:nvSpPr>
        <p:spPr>
          <a:xfrm>
            <a:off x="4741552" y="322235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🎁 ❤️ </a:t>
            </a:r>
            <a:r>
              <a:rPr lang="en-US" sz="900">
                <a:solidFill>
                  <a:schemeClr val="tx1"/>
                </a:solidFill>
              </a:rPr>
              <a:t>Gift to offer to someone of choice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1E601F-E7BC-4171-A00C-60990417D91C}"/>
              </a:ext>
            </a:extLst>
          </p:cNvPr>
          <p:cNvSpPr/>
          <p:nvPr/>
        </p:nvSpPr>
        <p:spPr>
          <a:xfrm>
            <a:off x="616344" y="385349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👕 Community themed Wearable (t-shirt, caps, …)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0734B7-4DB8-455C-9D41-BAEB7B76EF7C}"/>
              </a:ext>
            </a:extLst>
          </p:cNvPr>
          <p:cNvSpPr/>
          <p:nvPr/>
        </p:nvSpPr>
        <p:spPr>
          <a:xfrm>
            <a:off x="4746267" y="3823029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🎁 ❤️ </a:t>
            </a:r>
            <a:r>
              <a:rPr lang="en-US" sz="900">
                <a:solidFill>
                  <a:schemeClr val="tx1"/>
                </a:solidFill>
              </a:rPr>
              <a:t>Gift to offer to another member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306298-8F56-4898-8CF3-3A64E6D4AC87}"/>
              </a:ext>
            </a:extLst>
          </p:cNvPr>
          <p:cNvSpPr/>
          <p:nvPr/>
        </p:nvSpPr>
        <p:spPr>
          <a:xfrm>
            <a:off x="6108082" y="382346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Statement or acknowledgment of contribution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6ED528-30FF-41E9-872E-C2E3F937B59E}"/>
              </a:ext>
            </a:extLst>
          </p:cNvPr>
          <p:cNvSpPr/>
          <p:nvPr/>
        </p:nvSpPr>
        <p:spPr>
          <a:xfrm>
            <a:off x="1997158" y="499855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📣 Promotional campaign about member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D29DCD-2696-4132-B12A-FE7058B74965}"/>
              </a:ext>
            </a:extLst>
          </p:cNvPr>
          <p:cNvSpPr/>
          <p:nvPr/>
        </p:nvSpPr>
        <p:spPr>
          <a:xfrm>
            <a:off x="10403984" y="332595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🎨Exclusive access to creative tools (creative pen display, drawing equipment…)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D963E5-CCEE-4CA4-B25A-2979C75011D0}"/>
              </a:ext>
            </a:extLst>
          </p:cNvPr>
          <p:cNvSpPr/>
          <p:nvPr/>
        </p:nvSpPr>
        <p:spPr>
          <a:xfrm>
            <a:off x="9068666" y="331147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👍Support for future project proposition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1168905-0C73-471C-A69D-6F4AC12E48DD}"/>
              </a:ext>
            </a:extLst>
          </p:cNvPr>
          <p:cNvSpPr/>
          <p:nvPr/>
        </p:nvSpPr>
        <p:spPr>
          <a:xfrm>
            <a:off x="10403982" y="398056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Support for future project proposition (ex: bonus votes at arbitration event)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C724DB-8F58-4F21-925C-C65493AE0A82}"/>
              </a:ext>
            </a:extLst>
          </p:cNvPr>
          <p:cNvSpPr/>
          <p:nvPr/>
        </p:nvSpPr>
        <p:spPr>
          <a:xfrm>
            <a:off x="3383176" y="327300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📅 Tickets to Innovation events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BC21C6-9B91-4BCB-B894-B8F2A2B371D6}"/>
              </a:ext>
            </a:extLst>
          </p:cNvPr>
          <p:cNvSpPr/>
          <p:nvPr/>
        </p:nvSpPr>
        <p:spPr>
          <a:xfrm>
            <a:off x="7657573" y="383264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👨‍🏫 Exclusive access to mentoring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805A496-EF80-46BF-8248-413365334BB9}"/>
              </a:ext>
            </a:extLst>
          </p:cNvPr>
          <p:cNvSpPr/>
          <p:nvPr/>
        </p:nvSpPr>
        <p:spPr>
          <a:xfrm>
            <a:off x="7657573" y="442306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📚 Exclusive access to physical or digital library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751157-B0B1-4D11-922B-0CD6E301A770}"/>
              </a:ext>
            </a:extLst>
          </p:cNvPr>
          <p:cNvSpPr/>
          <p:nvPr/>
        </p:nvSpPr>
        <p:spPr>
          <a:xfrm>
            <a:off x="3383175" y="391216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💆 Personal services (massage, Yoga course …)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F1A6448-8F4B-49F3-B0C6-B8C599E93728}"/>
              </a:ext>
            </a:extLst>
          </p:cNvPr>
          <p:cNvSpPr/>
          <p:nvPr/>
        </p:nvSpPr>
        <p:spPr>
          <a:xfrm>
            <a:off x="3383175" y="4546875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🍛 Food and restaurant invitations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006EB5-0229-47D7-8EF9-DEDDA92C502C}"/>
              </a:ext>
            </a:extLst>
          </p:cNvPr>
          <p:cNvSpPr/>
          <p:nvPr/>
        </p:nvSpPr>
        <p:spPr>
          <a:xfrm>
            <a:off x="2005647" y="5591999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Contribution plaque (“This is here thanks to …”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60D9D2-507C-4251-9A85-B9F584C5D0E0}"/>
              </a:ext>
            </a:extLst>
          </p:cNvPr>
          <p:cNvSpPr/>
          <p:nvPr/>
        </p:nvSpPr>
        <p:spPr>
          <a:xfrm>
            <a:off x="2005647" y="618544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👕 Community themed exclusive Wearable (t-shirt, caps, belt…)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4C96C6-9834-4470-835B-B3D3A1127F36}"/>
              </a:ext>
            </a:extLst>
          </p:cNvPr>
          <p:cNvSpPr/>
          <p:nvPr/>
        </p:nvSpPr>
        <p:spPr>
          <a:xfrm>
            <a:off x="600930" y="447600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🍺 Community themed Goodies (mugs, USB key, …)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BE859A-71D8-433A-A817-DBFF1937268A}"/>
              </a:ext>
            </a:extLst>
          </p:cNvPr>
          <p:cNvSpPr/>
          <p:nvPr/>
        </p:nvSpPr>
        <p:spPr>
          <a:xfrm>
            <a:off x="7657573" y="5030001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📜 Community related diploma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7AD0B3-1A30-4E30-98E7-864D00C9A323}"/>
              </a:ext>
            </a:extLst>
          </p:cNvPr>
          <p:cNvSpPr/>
          <p:nvPr/>
        </p:nvSpPr>
        <p:spPr>
          <a:xfrm>
            <a:off x="10395042" y="4601079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📅 Allocated timeslot in large Community event for showcasing new project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16DC30F-5B81-43F1-811C-58F1AF8C298C}"/>
              </a:ext>
            </a:extLst>
          </p:cNvPr>
          <p:cNvSpPr/>
          <p:nvPr/>
        </p:nvSpPr>
        <p:spPr>
          <a:xfrm>
            <a:off x="7657573" y="564401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🏋️</a:t>
            </a:r>
            <a:r>
              <a:rPr lang="en-US" sz="900">
                <a:solidFill>
                  <a:schemeClr val="tx1"/>
                </a:solidFill>
              </a:rPr>
              <a:t> Statement of achievement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953045-435D-4FDF-89D9-0C7178030AF0}"/>
              </a:ext>
            </a:extLst>
          </p:cNvPr>
          <p:cNvSpPr/>
          <p:nvPr/>
        </p:nvSpPr>
        <p:spPr>
          <a:xfrm>
            <a:off x="3383175" y="519660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🎫 Lottery tickets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46AD084-6E92-403C-88E5-46EBA5CABCC2}"/>
              </a:ext>
            </a:extLst>
          </p:cNvPr>
          <p:cNvSpPr/>
          <p:nvPr/>
        </p:nvSpPr>
        <p:spPr>
          <a:xfrm>
            <a:off x="9068666" y="395062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🧹Logistics services (cleaning service, team extension …)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0546A0-9E9A-441B-A7D8-25B225AC6677}"/>
              </a:ext>
            </a:extLst>
          </p:cNvPr>
          <p:cNvSpPr/>
          <p:nvPr/>
        </p:nvSpPr>
        <p:spPr>
          <a:xfrm>
            <a:off x="3383175" y="5823087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🎯 Access to bonus challenges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B91003-DE5A-4592-8E74-C0D8226AB432}"/>
              </a:ext>
            </a:extLst>
          </p:cNvPr>
          <p:cNvSpPr/>
          <p:nvPr/>
        </p:nvSpPr>
        <p:spPr>
          <a:xfrm>
            <a:off x="4751986" y="4429256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🤝 One-time access to VIP or difficult to access (President,  …)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2E6571-9BCF-4ED7-8355-0B49EEF39D64}"/>
              </a:ext>
            </a:extLst>
          </p:cNvPr>
          <p:cNvSpPr/>
          <p:nvPr/>
        </p:nvSpPr>
        <p:spPr>
          <a:xfrm>
            <a:off x="6108082" y="440913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🙏Thank you cards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22A90DA-A471-4C9C-A0D5-FA03DCC7F2D5}"/>
              </a:ext>
            </a:extLst>
          </p:cNvPr>
          <p:cNvSpPr/>
          <p:nvPr/>
        </p:nvSpPr>
        <p:spPr>
          <a:xfrm>
            <a:off x="9068666" y="458534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🔓Freedom to unfollow some existing rules or restrictions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638238B-C0A3-42B6-9BCC-F9E6CE240DA7}"/>
              </a:ext>
            </a:extLst>
          </p:cNvPr>
          <p:cNvSpPr/>
          <p:nvPr/>
        </p:nvSpPr>
        <p:spPr>
          <a:xfrm>
            <a:off x="7666514" y="6258033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🎯 </a:t>
            </a:r>
            <a:r>
              <a:rPr lang="en-US" sz="900">
                <a:solidFill>
                  <a:schemeClr val="tx1"/>
                </a:solidFill>
              </a:rPr>
              <a:t>Exclusive access to bonus challenges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297AA46-31D0-401D-ADDF-99E031AE8A5D}"/>
              </a:ext>
            </a:extLst>
          </p:cNvPr>
          <p:cNvSpPr/>
          <p:nvPr/>
        </p:nvSpPr>
        <p:spPr>
          <a:xfrm>
            <a:off x="9068665" y="5220058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🤴 Exclusive access rights or decision rights / power </a:t>
            </a:r>
          </a:p>
        </p:txBody>
      </p:sp>
      <p:sp>
        <p:nvSpPr>
          <p:cNvPr id="4" name="Flèche : double flèche horizontale 3">
            <a:extLst>
              <a:ext uri="{FF2B5EF4-FFF2-40B4-BE49-F238E27FC236}">
                <a16:creationId xmlns:a16="http://schemas.microsoft.com/office/drawing/2014/main" id="{384779CE-F599-4F0D-9B65-AEC04766BCF1}"/>
              </a:ext>
            </a:extLst>
          </p:cNvPr>
          <p:cNvSpPr/>
          <p:nvPr/>
        </p:nvSpPr>
        <p:spPr>
          <a:xfrm>
            <a:off x="369116" y="1776485"/>
            <a:ext cx="11293511" cy="529746"/>
          </a:xfrm>
          <a:prstGeom prst="leftRightArrow">
            <a:avLst/>
          </a:prstGeom>
          <a:gradFill>
            <a:gsLst>
              <a:gs pos="0">
                <a:srgbClr val="EC7B2B"/>
              </a:gs>
              <a:gs pos="100000">
                <a:srgbClr val="3494B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Extrinsic motivations                                                                                                              Intrinsic motivations</a:t>
            </a:r>
          </a:p>
        </p:txBody>
      </p:sp>
      <p:pic>
        <p:nvPicPr>
          <p:cNvPr id="58" name="Graphique 57" descr="Médaille avec un remplissage uni">
            <a:extLst>
              <a:ext uri="{FF2B5EF4-FFF2-40B4-BE49-F238E27FC236}">
                <a16:creationId xmlns:a16="http://schemas.microsoft.com/office/drawing/2014/main" id="{4EA84966-EAAA-49FC-B050-7AD0560A4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71" y="548640"/>
            <a:ext cx="1053657" cy="1053657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05878D9B-EB44-48D2-B136-808FC001B7F0}"/>
              </a:ext>
            </a:extLst>
          </p:cNvPr>
          <p:cNvSpPr/>
          <p:nvPr/>
        </p:nvSpPr>
        <p:spPr>
          <a:xfrm>
            <a:off x="617458" y="509002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💰 Community currency (loyalty points…)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FE4543E-1EE3-4FB4-BD60-D32803C45A7C}"/>
              </a:ext>
            </a:extLst>
          </p:cNvPr>
          <p:cNvSpPr/>
          <p:nvPr/>
        </p:nvSpPr>
        <p:spPr>
          <a:xfrm>
            <a:off x="6114434" y="5008120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🙏Opportunity to serve others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A12F2BE-A9FB-475B-B9E5-F7AB956D5FAA}"/>
              </a:ext>
            </a:extLst>
          </p:cNvPr>
          <p:cNvSpPr/>
          <p:nvPr/>
        </p:nvSpPr>
        <p:spPr>
          <a:xfrm>
            <a:off x="4760845" y="5029934"/>
            <a:ext cx="996889" cy="553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🙏Opportunity to serve other members</a:t>
            </a:r>
          </a:p>
        </p:txBody>
      </p:sp>
    </p:spTree>
    <p:extLst>
      <p:ext uri="{BB962C8B-B14F-4D97-AF65-F5344CB8AC3E}">
        <p14:creationId xmlns:p14="http://schemas.microsoft.com/office/powerpoint/2010/main" val="336936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A5423D-66D7-4EC8-B7B5-C9536E4E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to ask yourself on rewards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2C384B-443A-4C50-AA55-AC834D877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Should a given reward  be 🧍individual or 🧑🏽‍🤝‍🧑🏻 collective ? </a:t>
            </a:r>
          </a:p>
          <a:p>
            <a:pPr lvl="1"/>
            <a:r>
              <a:rPr lang="en-US"/>
              <a:t>Individual rewards can foster individualistic behavior</a:t>
            </a:r>
          </a:p>
          <a:p>
            <a:pPr lvl="1"/>
            <a:r>
              <a:rPr lang="en-US"/>
              <a:t>Collective rewards can be slower to implement </a:t>
            </a:r>
          </a:p>
          <a:p>
            <a:endParaRPr lang="en-US"/>
          </a:p>
          <a:p>
            <a:r>
              <a:rPr lang="en-US"/>
              <a:t>Should it be known beforehand by member (can trigger reward-driven behavior) or unknown beforehand and given by Community Booster only after challenges are completed ?</a:t>
            </a:r>
          </a:p>
          <a:p>
            <a:endParaRPr lang="en-US"/>
          </a:p>
          <a:p>
            <a:r>
              <a:rPr lang="en-US"/>
              <a:t>Should it always be the same reward for all or should it depend on the person ? If the latter, among what shortlist would you pick ?</a:t>
            </a:r>
          </a:p>
        </p:txBody>
      </p:sp>
      <p:pic>
        <p:nvPicPr>
          <p:cNvPr id="4" name="Graphique 3" descr="Médaille avec un remplissage uni">
            <a:extLst>
              <a:ext uri="{FF2B5EF4-FFF2-40B4-BE49-F238E27FC236}">
                <a16:creationId xmlns:a16="http://schemas.microsoft.com/office/drawing/2014/main" id="{0E104EE8-4D15-4DAD-904D-15BF03208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71" y="548640"/>
            <a:ext cx="1053657" cy="105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0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FFD5B-AC47-4127-A8CC-20181340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Single Member</a:t>
            </a:r>
            <a:br>
              <a:rPr lang="en-US" sz="3200"/>
            </a:br>
            <a:r>
              <a:rPr lang="en-US" sz="3200"/>
              <a:t>Examples of challenges &amp; activities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F0AFA93-ABD0-474C-8DA4-EE7D53054D35}"/>
              </a:ext>
            </a:extLst>
          </p:cNvPr>
          <p:cNvSpPr txBox="1"/>
          <p:nvPr/>
        </p:nvSpPr>
        <p:spPr>
          <a:xfrm>
            <a:off x="1489578" y="2094175"/>
            <a:ext cx="1152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✔️Perform Actions for current members-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0DDE18-F4B1-4A3F-BE27-E4F9FAE0BEA5}"/>
              </a:ext>
            </a:extLst>
          </p:cNvPr>
          <p:cNvSpPr txBox="1"/>
          <p:nvPr/>
        </p:nvSpPr>
        <p:spPr>
          <a:xfrm>
            <a:off x="3295028" y="2094175"/>
            <a:ext cx="1152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🎓Develop Community related Skills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3A3EBB5-FC11-477A-B2CB-895950F835E8}"/>
              </a:ext>
            </a:extLst>
          </p:cNvPr>
          <p:cNvSpPr txBox="1"/>
          <p:nvPr/>
        </p:nvSpPr>
        <p:spPr>
          <a:xfrm>
            <a:off x="4937593" y="2094175"/>
            <a:ext cx="1152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📣Act outside of the Community for the Community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8C9C926-F196-426C-A5CD-312774458E20}"/>
              </a:ext>
            </a:extLst>
          </p:cNvPr>
          <p:cNvSpPr txBox="1"/>
          <p:nvPr/>
        </p:nvSpPr>
        <p:spPr>
          <a:xfrm>
            <a:off x="6580158" y="2094175"/>
            <a:ext cx="1152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✍️Create or curate content for the Community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E6B0283-BE05-4AAB-8770-36AABB699B6A}"/>
              </a:ext>
            </a:extLst>
          </p:cNvPr>
          <p:cNvSpPr txBox="1"/>
          <p:nvPr/>
        </p:nvSpPr>
        <p:spPr>
          <a:xfrm>
            <a:off x="8222723" y="2094175"/>
            <a:ext cx="1152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🎯Serve Community purpose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8081A24-EF99-4A1A-A12A-090CC82EC249}"/>
              </a:ext>
            </a:extLst>
          </p:cNvPr>
          <p:cNvSpPr txBox="1"/>
          <p:nvPr/>
        </p:nvSpPr>
        <p:spPr>
          <a:xfrm>
            <a:off x="9865286" y="2094175"/>
            <a:ext cx="1152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📚Learn about the Community culture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5A530A-6282-49F1-8A26-BADA3F47106D}"/>
              </a:ext>
            </a:extLst>
          </p:cNvPr>
          <p:cNvSpPr/>
          <p:nvPr/>
        </p:nvSpPr>
        <p:spPr>
          <a:xfrm>
            <a:off x="2065609" y="2893729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🚪Help in onboarding a new member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6506E3-455B-4956-B548-82803BC8C787}"/>
              </a:ext>
            </a:extLst>
          </p:cNvPr>
          <p:cNvSpPr/>
          <p:nvPr/>
        </p:nvSpPr>
        <p:spPr>
          <a:xfrm>
            <a:off x="2065609" y="4714906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🎤 Host or co-host a Community event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CC510-75E1-4EFF-B547-C2B692CA858E}"/>
              </a:ext>
            </a:extLst>
          </p:cNvPr>
          <p:cNvSpPr/>
          <p:nvPr/>
        </p:nvSpPr>
        <p:spPr>
          <a:xfrm>
            <a:off x="2065609" y="5321965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📅 Help in the organization of a Community event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976343-4D12-4E3D-8828-D4F5EAA90970}"/>
              </a:ext>
            </a:extLst>
          </p:cNvPr>
          <p:cNvSpPr/>
          <p:nvPr/>
        </p:nvSpPr>
        <p:spPr>
          <a:xfrm>
            <a:off x="2065609" y="4107847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❓Answer members’ questions in Community Forum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C0B9DB-B97C-4ADE-A2E1-276A0F33F4DD}"/>
              </a:ext>
            </a:extLst>
          </p:cNvPr>
          <p:cNvSpPr/>
          <p:nvPr/>
        </p:nvSpPr>
        <p:spPr>
          <a:xfrm>
            <a:off x="991134" y="2894568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👋Help in offboarding a (soon) former member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B68A06-3855-4AAC-9D7E-E5D4F364AA92}"/>
              </a:ext>
            </a:extLst>
          </p:cNvPr>
          <p:cNvSpPr/>
          <p:nvPr/>
        </p:nvSpPr>
        <p:spPr>
          <a:xfrm>
            <a:off x="2065609" y="3500788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💁🏻Help a current member or group of members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EB88C8-3EFA-4D8F-A9CB-07A468BC348B}"/>
              </a:ext>
            </a:extLst>
          </p:cNvPr>
          <p:cNvSpPr/>
          <p:nvPr/>
        </p:nvSpPr>
        <p:spPr>
          <a:xfrm>
            <a:off x="5015180" y="292890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/>
              <a:t>📣 </a:t>
            </a:r>
            <a:r>
              <a:rPr lang="en-US" sz="900">
                <a:solidFill>
                  <a:schemeClr val="tx1"/>
                </a:solidFill>
              </a:rPr>
              <a:t>Help promote the Community (host or organize event)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2E83FA-F508-455B-AB99-67C8A6C20CB1}"/>
              </a:ext>
            </a:extLst>
          </p:cNvPr>
          <p:cNvSpPr/>
          <p:nvPr/>
        </p:nvSpPr>
        <p:spPr>
          <a:xfrm>
            <a:off x="5015180" y="353612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💌 Bring new members 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47F23A-57FB-4584-93F0-C369B7B9D480}"/>
              </a:ext>
            </a:extLst>
          </p:cNvPr>
          <p:cNvSpPr/>
          <p:nvPr/>
        </p:nvSpPr>
        <p:spPr>
          <a:xfrm>
            <a:off x="5015180" y="414334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🤝 Establish partnerships with the Community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113C42-84B8-4C4D-A1D3-05E8376A702B}"/>
              </a:ext>
            </a:extLst>
          </p:cNvPr>
          <p:cNvSpPr/>
          <p:nvPr/>
        </p:nvSpPr>
        <p:spPr>
          <a:xfrm>
            <a:off x="6657745" y="292890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💬 Start a discussion in Community Forum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7035FE-8FB6-4EDA-B8F9-6CDB460871ED}"/>
              </a:ext>
            </a:extLst>
          </p:cNvPr>
          <p:cNvSpPr/>
          <p:nvPr/>
        </p:nvSpPr>
        <p:spPr>
          <a:xfrm>
            <a:off x="991133" y="351563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🤝Introduce members to each other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27BE6F-E81B-4E48-A9BC-29012AB1D4C6}"/>
              </a:ext>
            </a:extLst>
          </p:cNvPr>
          <p:cNvSpPr/>
          <p:nvPr/>
        </p:nvSpPr>
        <p:spPr>
          <a:xfrm>
            <a:off x="5015180" y="475056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🤝 Introduce members (as members) outside the Community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88F709-4B56-4E0C-9C23-6A4EE0B5687E}"/>
              </a:ext>
            </a:extLst>
          </p:cNvPr>
          <p:cNvSpPr/>
          <p:nvPr/>
        </p:nvSpPr>
        <p:spPr>
          <a:xfrm>
            <a:off x="5015180" y="535778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📧 Share Community related content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AABB93-BC4B-48F1-8D35-21F63659CA43}"/>
              </a:ext>
            </a:extLst>
          </p:cNvPr>
          <p:cNvSpPr/>
          <p:nvPr/>
        </p:nvSpPr>
        <p:spPr>
          <a:xfrm>
            <a:off x="5015180" y="596500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💬 Review, Comment, add likes, subscribe to the Community in outside platforms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15A6A6-7D0B-44A4-821E-49C5AF4474AB}"/>
              </a:ext>
            </a:extLst>
          </p:cNvPr>
          <p:cNvSpPr/>
          <p:nvPr/>
        </p:nvSpPr>
        <p:spPr>
          <a:xfrm>
            <a:off x="6657745" y="352144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📰 Write an article for the Community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2E89FD-8C89-4E2E-8866-EB5E862CD18B}"/>
              </a:ext>
            </a:extLst>
          </p:cNvPr>
          <p:cNvSpPr/>
          <p:nvPr/>
        </p:nvSpPr>
        <p:spPr>
          <a:xfrm>
            <a:off x="6657745" y="4113979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📹 Record a video or a podcast or music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6D8C9A-C3F2-40FA-A050-197BB7DF5F7F}"/>
              </a:ext>
            </a:extLst>
          </p:cNvPr>
          <p:cNvSpPr/>
          <p:nvPr/>
        </p:nvSpPr>
        <p:spPr>
          <a:xfrm>
            <a:off x="6657745" y="4697338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🗃️ Organize Community Wiki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1C6FF2-D42F-4DD6-B86C-F9C604550040}"/>
              </a:ext>
            </a:extLst>
          </p:cNvPr>
          <p:cNvSpPr/>
          <p:nvPr/>
        </p:nvSpPr>
        <p:spPr>
          <a:xfrm>
            <a:off x="991133" y="412285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🛠️Set up tools and processes for the Community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020CF5-E25D-49C6-B43E-4082F8644888}"/>
              </a:ext>
            </a:extLst>
          </p:cNvPr>
          <p:cNvSpPr/>
          <p:nvPr/>
        </p:nvSpPr>
        <p:spPr>
          <a:xfrm>
            <a:off x="991133" y="473007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🤡Entertain the Community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D96781-0945-459C-8DB2-E56FE81D07EE}"/>
              </a:ext>
            </a:extLst>
          </p:cNvPr>
          <p:cNvSpPr/>
          <p:nvPr/>
        </p:nvSpPr>
        <p:spPr>
          <a:xfrm>
            <a:off x="8300310" y="2928901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✋ Perform actions for which the Community was created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BB9228-1EF5-4630-BDBA-B8AB2F7C72FC}"/>
              </a:ext>
            </a:extLst>
          </p:cNvPr>
          <p:cNvSpPr/>
          <p:nvPr/>
        </p:nvSpPr>
        <p:spPr>
          <a:xfrm>
            <a:off x="8300310" y="3540563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🎤 Share results about Community purpose related actions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F345FE-68DE-42FD-8935-7C4FD41BD0A2}"/>
              </a:ext>
            </a:extLst>
          </p:cNvPr>
          <p:cNvSpPr/>
          <p:nvPr/>
        </p:nvSpPr>
        <p:spPr>
          <a:xfrm>
            <a:off x="9942875" y="2928900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/>
              <a:t>🎓 </a:t>
            </a:r>
            <a:r>
              <a:rPr lang="en-US" sz="900">
                <a:solidFill>
                  <a:schemeClr val="tx1"/>
                </a:solidFill>
              </a:rPr>
              <a:t>Discover Community Artifacts (see #OpenSeriousCommmunity)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C0F3F5-136A-43EF-A89C-EB0EF3D4054D}"/>
              </a:ext>
            </a:extLst>
          </p:cNvPr>
          <p:cNvSpPr/>
          <p:nvPr/>
        </p:nvSpPr>
        <p:spPr>
          <a:xfrm>
            <a:off x="3442259" y="2896897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/>
              <a:t>🎓 </a:t>
            </a:r>
            <a:r>
              <a:rPr lang="en-US" sz="900">
                <a:solidFill>
                  <a:schemeClr val="tx1"/>
                </a:solidFill>
              </a:rPr>
              <a:t>Learn about a Community related skill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7189E3-51C4-4E6F-B0B4-19953624068A}"/>
              </a:ext>
            </a:extLst>
          </p:cNvPr>
          <p:cNvSpPr/>
          <p:nvPr/>
        </p:nvSpPr>
        <p:spPr>
          <a:xfrm>
            <a:off x="3442259" y="3504352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✔️ Pass a Community exam about a Community related skill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0742E2-3018-4DC8-8F99-EF126F11A284}"/>
              </a:ext>
            </a:extLst>
          </p:cNvPr>
          <p:cNvSpPr/>
          <p:nvPr/>
        </p:nvSpPr>
        <p:spPr>
          <a:xfrm>
            <a:off x="3442259" y="4107847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✔️ Pass an external exam about a Community related skill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B5BE04-C8F1-45CF-8F1A-B2D98B51041A}"/>
              </a:ext>
            </a:extLst>
          </p:cNvPr>
          <p:cNvSpPr/>
          <p:nvPr/>
        </p:nvSpPr>
        <p:spPr>
          <a:xfrm>
            <a:off x="3442259" y="4714906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📤 Share knowledge about a Community related skill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2ABF57-2BC2-4018-BB8A-7A90484559A3}"/>
              </a:ext>
            </a:extLst>
          </p:cNvPr>
          <p:cNvSpPr/>
          <p:nvPr/>
        </p:nvSpPr>
        <p:spPr>
          <a:xfrm>
            <a:off x="6657745" y="5304558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 b="1"/>
              <a:t>🎓 </a:t>
            </a:r>
            <a:r>
              <a:rPr lang="en-US" sz="900">
                <a:solidFill>
                  <a:schemeClr val="tx1"/>
                </a:solidFill>
              </a:rPr>
              <a:t>Create a training course / program for the Community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C08207-1996-4A2A-BFA8-FCBB31BE649D}"/>
              </a:ext>
            </a:extLst>
          </p:cNvPr>
          <p:cNvSpPr/>
          <p:nvPr/>
        </p:nvSpPr>
        <p:spPr>
          <a:xfrm>
            <a:off x="6657745" y="5911778"/>
            <a:ext cx="996890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👍 React to posts in Community Forum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35EFA8-D2BE-4973-A41E-15FA99E8845A}"/>
              </a:ext>
            </a:extLst>
          </p:cNvPr>
          <p:cNvSpPr/>
          <p:nvPr/>
        </p:nvSpPr>
        <p:spPr>
          <a:xfrm>
            <a:off x="991134" y="5321965"/>
            <a:ext cx="996889" cy="553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tx1"/>
                </a:solidFill>
              </a:rPr>
              <a:t>🕴️ Represent the voice of the Community among members</a:t>
            </a:r>
          </a:p>
        </p:txBody>
      </p:sp>
    </p:spTree>
    <p:extLst>
      <p:ext uri="{BB962C8B-B14F-4D97-AF65-F5344CB8AC3E}">
        <p14:creationId xmlns:p14="http://schemas.microsoft.com/office/powerpoint/2010/main" val="101554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A5423D-66D7-4EC8-B7B5-C9536E4E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Questions to ask yourself on growth challenges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2C384B-443A-4C50-AA55-AC834D877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Should a challenge be 🧍individual or 🧑🏽‍🤝‍🧑🏻 collective ? Or collective beyond a certain level ? </a:t>
            </a:r>
          </a:p>
          <a:p>
            <a:r>
              <a:rPr lang="en-US"/>
              <a:t>How can you make a challenge meaningful (difficult enough but not too difficult, useful for the Community, …) ?</a:t>
            </a:r>
          </a:p>
          <a:p>
            <a:endParaRPr lang="en-US"/>
          </a:p>
        </p:txBody>
      </p:sp>
      <p:pic>
        <p:nvPicPr>
          <p:cNvPr id="5" name="Graphique 4" descr="Obstacle avec un remplissage uni">
            <a:extLst>
              <a:ext uri="{FF2B5EF4-FFF2-40B4-BE49-F238E27FC236}">
                <a16:creationId xmlns:a16="http://schemas.microsoft.com/office/drawing/2014/main" id="{33D7F340-F652-457C-BC55-20CAD8F8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48640"/>
            <a:ext cx="951508" cy="95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0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3D6071-34F3-4AA4-B7E3-26C8D9D0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one Path to many paths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7BA7EA-302A-4050-9FC4-E1AD5090B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3540322" cy="3694176"/>
          </a:xfrm>
        </p:spPr>
        <p:txBody>
          <a:bodyPr>
            <a:normAutofit fontScale="77500" lnSpcReduction="20000"/>
          </a:bodyPr>
          <a:lstStyle/>
          <a:p>
            <a:r>
              <a:rPr lang="en-US" sz="2000"/>
              <a:t>In case of high diversity in Community Profiles, you can choose to set up different paths instead of one</a:t>
            </a:r>
          </a:p>
          <a:p>
            <a:endParaRPr lang="en-US" sz="2000"/>
          </a:p>
          <a:p>
            <a:r>
              <a:rPr lang="en-US" sz="2000"/>
              <a:t>🗺️Mostly apply to larger communities than to small communities</a:t>
            </a:r>
          </a:p>
          <a:p>
            <a:endParaRPr lang="en-US" sz="2000"/>
          </a:p>
          <a:p>
            <a:r>
              <a:rPr lang="en-US" sz="2000"/>
              <a:t>Adding several paths allows more alignment between levels and members preferences, but also adds more complexity in Community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942EB3-3299-4089-9B20-539164365AE6}"/>
              </a:ext>
            </a:extLst>
          </p:cNvPr>
          <p:cNvSpPr/>
          <p:nvPr/>
        </p:nvSpPr>
        <p:spPr>
          <a:xfrm>
            <a:off x="5345486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F87AA1-35E6-4348-A4E7-F84782D16C5E}"/>
              </a:ext>
            </a:extLst>
          </p:cNvPr>
          <p:cNvSpPr/>
          <p:nvPr/>
        </p:nvSpPr>
        <p:spPr>
          <a:xfrm>
            <a:off x="6511555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35A4F-DD0C-4EA2-B5BB-CF3F103DF1EF}"/>
              </a:ext>
            </a:extLst>
          </p:cNvPr>
          <p:cNvSpPr/>
          <p:nvPr/>
        </p:nvSpPr>
        <p:spPr>
          <a:xfrm>
            <a:off x="7677624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6FB5F1-85F9-48DB-A856-55FCEF1CE9DB}"/>
              </a:ext>
            </a:extLst>
          </p:cNvPr>
          <p:cNvSpPr/>
          <p:nvPr/>
        </p:nvSpPr>
        <p:spPr>
          <a:xfrm>
            <a:off x="8843693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45CEA-55B5-49B0-97E1-922C06806396}"/>
              </a:ext>
            </a:extLst>
          </p:cNvPr>
          <p:cNvSpPr/>
          <p:nvPr/>
        </p:nvSpPr>
        <p:spPr>
          <a:xfrm>
            <a:off x="10009762" y="247802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0580DF7-B5ED-49A8-903D-903C4585BD2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6023296" y="2696020"/>
            <a:ext cx="488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D776714-DFCF-4B86-AD26-E9B4D9DFA15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89365" y="2696020"/>
            <a:ext cx="488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708BB29-DF08-437F-AEFE-DFD9A26DBCF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8355434" y="2696020"/>
            <a:ext cx="488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00C8534-2F25-47DC-9AC3-CACA0333E35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9521503" y="2696020"/>
            <a:ext cx="488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BD91388-636A-45E4-B666-BAF8A52A8856}"/>
              </a:ext>
            </a:extLst>
          </p:cNvPr>
          <p:cNvSpPr/>
          <p:nvPr/>
        </p:nvSpPr>
        <p:spPr>
          <a:xfrm>
            <a:off x="5488947" y="52035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DC894F-B970-4076-8BD3-F630ACAAF2BF}"/>
              </a:ext>
            </a:extLst>
          </p:cNvPr>
          <p:cNvSpPr/>
          <p:nvPr/>
        </p:nvSpPr>
        <p:spPr>
          <a:xfrm>
            <a:off x="6511555" y="52035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1F338B-74F5-4452-B791-E1491CDBAEAD}"/>
              </a:ext>
            </a:extLst>
          </p:cNvPr>
          <p:cNvSpPr/>
          <p:nvPr/>
        </p:nvSpPr>
        <p:spPr>
          <a:xfrm>
            <a:off x="7433494" y="52035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22F431-BE83-4AB2-944B-A892841B3A59}"/>
              </a:ext>
            </a:extLst>
          </p:cNvPr>
          <p:cNvSpPr/>
          <p:nvPr/>
        </p:nvSpPr>
        <p:spPr>
          <a:xfrm>
            <a:off x="8355433" y="52035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6B48E3-C1BC-4F80-8608-A74B0CA9CB0D}"/>
              </a:ext>
            </a:extLst>
          </p:cNvPr>
          <p:cNvSpPr/>
          <p:nvPr/>
        </p:nvSpPr>
        <p:spPr>
          <a:xfrm>
            <a:off x="9363859" y="491178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1C079D-23FB-4F1F-9C22-46A3CBF8C932}"/>
              </a:ext>
            </a:extLst>
          </p:cNvPr>
          <p:cNvSpPr/>
          <p:nvPr/>
        </p:nvSpPr>
        <p:spPr>
          <a:xfrm>
            <a:off x="10362147" y="491178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1C898D-3C50-4309-884D-99A189674351}"/>
              </a:ext>
            </a:extLst>
          </p:cNvPr>
          <p:cNvSpPr/>
          <p:nvPr/>
        </p:nvSpPr>
        <p:spPr>
          <a:xfrm>
            <a:off x="9331952" y="5875635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4BF5AC-4B00-43CA-9B20-A12EE9E1BC41}"/>
              </a:ext>
            </a:extLst>
          </p:cNvPr>
          <p:cNvSpPr/>
          <p:nvPr/>
        </p:nvSpPr>
        <p:spPr>
          <a:xfrm>
            <a:off x="10330240" y="5878859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08B5B9-DB0E-4EE0-95E0-3136ACE88D17}"/>
              </a:ext>
            </a:extLst>
          </p:cNvPr>
          <p:cNvSpPr/>
          <p:nvPr/>
        </p:nvSpPr>
        <p:spPr>
          <a:xfrm>
            <a:off x="10362147" y="4119902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0BF388-F9E2-479B-8B41-82E5D850CD04}"/>
              </a:ext>
            </a:extLst>
          </p:cNvPr>
          <p:cNvSpPr/>
          <p:nvPr/>
        </p:nvSpPr>
        <p:spPr>
          <a:xfrm>
            <a:off x="7433494" y="5954204"/>
            <a:ext cx="677810" cy="4359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301C4CE-913D-403C-B950-EDECDF90A5A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6166757" y="5421555"/>
            <a:ext cx="344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8D960D0-A28E-42D2-BB59-78E7B9A622F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189365" y="5421555"/>
            <a:ext cx="244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D5941D01-D3A2-41C7-98F3-0FDF42440A51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>
            <a:off x="7189365" y="5421555"/>
            <a:ext cx="244129" cy="750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A1B467FA-1C90-4FC5-A239-B23A06C7B05C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8111304" y="5421555"/>
            <a:ext cx="244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930932EC-146F-41A0-8BD6-D2634E6CE363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9033243" y="5129785"/>
            <a:ext cx="330616" cy="291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DBA9A952-4474-4F70-B681-4089AB85555C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9033243" y="5421555"/>
            <a:ext cx="298709" cy="672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6AFA37E6-3C6D-4348-A186-6E3EAD4EC618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10009762" y="6093631"/>
            <a:ext cx="320478" cy="3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3CA61EB-BF8C-44CF-A30F-12A78A0AF223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10041669" y="5129785"/>
            <a:ext cx="3204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FB2D5FFA-45E2-451C-93BC-D8A5E9BFEA88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 flipV="1">
            <a:off x="10041669" y="4337898"/>
            <a:ext cx="320478" cy="791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èche : bas 57">
            <a:extLst>
              <a:ext uri="{FF2B5EF4-FFF2-40B4-BE49-F238E27FC236}">
                <a16:creationId xmlns:a16="http://schemas.microsoft.com/office/drawing/2014/main" id="{451935BD-7B01-4236-AE6C-119D2F2BF742}"/>
              </a:ext>
            </a:extLst>
          </p:cNvPr>
          <p:cNvSpPr/>
          <p:nvPr/>
        </p:nvSpPr>
        <p:spPr>
          <a:xfrm>
            <a:off x="7122253" y="3342087"/>
            <a:ext cx="1308683" cy="9295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22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3D6071-34F3-4AA4-B7E3-26C8D9D0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Multiplayer level design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7BA7EA-302A-4050-9FC4-E1AD5090B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3540322" cy="3694176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Single player level design can create competitive side effects, which can be damageable</a:t>
            </a:r>
          </a:p>
          <a:p>
            <a:endParaRPr lang="en-US" sz="2000" dirty="0"/>
          </a:p>
          <a:p>
            <a:r>
              <a:rPr lang="en-US" sz="2000" dirty="0"/>
              <a:t>Multiplayer level design insists on the necessity of cooperation and collaboration to succeed on collective challenges and receive collective rewards.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702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Examples of basic (usually entry level) Community Roles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FEB3CB-FB45-4F17-8F54-B3E066B812F5}"/>
              </a:ext>
            </a:extLst>
          </p:cNvPr>
          <p:cNvSpPr/>
          <p:nvPr/>
        </p:nvSpPr>
        <p:spPr>
          <a:xfrm>
            <a:off x="569773" y="338487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Curious Reactor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F535A7-262A-4C67-A207-8D33EF931D5C}"/>
              </a:ext>
            </a:extLst>
          </p:cNvPr>
          <p:cNvSpPr/>
          <p:nvPr/>
        </p:nvSpPr>
        <p:spPr>
          <a:xfrm>
            <a:off x="2287502" y="3384143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Student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9CA36-1F6E-49FF-9220-D178EBEF677E}"/>
              </a:ext>
            </a:extLst>
          </p:cNvPr>
          <p:cNvSpPr/>
          <p:nvPr/>
        </p:nvSpPr>
        <p:spPr>
          <a:xfrm>
            <a:off x="6161670" y="3438391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Shadow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EB798-6CE0-4A58-85EB-628BCDBD2701}"/>
              </a:ext>
            </a:extLst>
          </p:cNvPr>
          <p:cNvSpPr/>
          <p:nvPr/>
        </p:nvSpPr>
        <p:spPr>
          <a:xfrm>
            <a:off x="8223693" y="3439122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Micro-Contributor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13177B-B298-434B-A4DD-99CB2DFAC9BA}"/>
              </a:ext>
            </a:extLst>
          </p:cNvPr>
          <p:cNvSpPr/>
          <p:nvPr/>
        </p:nvSpPr>
        <p:spPr>
          <a:xfrm>
            <a:off x="10117599" y="338487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Micro Hotline</a:t>
            </a:r>
          </a:p>
        </p:txBody>
      </p:sp>
      <p:pic>
        <p:nvPicPr>
          <p:cNvPr id="4" name="Graphique 3" descr="Femme agricultrice avec un remplissage uni">
            <a:extLst>
              <a:ext uri="{FF2B5EF4-FFF2-40B4-BE49-F238E27FC236}">
                <a16:creationId xmlns:a16="http://schemas.microsoft.com/office/drawing/2014/main" id="{FAAB6965-2D7A-416D-AE51-5CFCBF3C9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9536" y="2524698"/>
            <a:ext cx="914400" cy="914400"/>
          </a:xfrm>
          <a:prstGeom prst="rect">
            <a:avLst/>
          </a:prstGeom>
        </p:spPr>
      </p:pic>
      <p:pic>
        <p:nvPicPr>
          <p:cNvPr id="6" name="Graphique 5" descr="Homme agriculteur avec un remplissage uni">
            <a:extLst>
              <a:ext uri="{FF2B5EF4-FFF2-40B4-BE49-F238E27FC236}">
                <a16:creationId xmlns:a16="http://schemas.microsoft.com/office/drawing/2014/main" id="{3C9C13D4-B5E1-414B-81B3-9821F29F7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6365" y="2524698"/>
            <a:ext cx="914400" cy="914400"/>
          </a:xfrm>
          <a:prstGeom prst="rect">
            <a:avLst/>
          </a:prstGeom>
        </p:spPr>
      </p:pic>
      <p:pic>
        <p:nvPicPr>
          <p:cNvPr id="12" name="Graphique 11" descr="Femme détective avec un remplissage uni">
            <a:extLst>
              <a:ext uri="{FF2B5EF4-FFF2-40B4-BE49-F238E27FC236}">
                <a16:creationId xmlns:a16="http://schemas.microsoft.com/office/drawing/2014/main" id="{29864E89-51F4-4E73-84A6-7E74FCE5D0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1208" y="2523967"/>
            <a:ext cx="914400" cy="914400"/>
          </a:xfrm>
          <a:prstGeom prst="rect">
            <a:avLst/>
          </a:prstGeom>
        </p:spPr>
      </p:pic>
      <p:pic>
        <p:nvPicPr>
          <p:cNvPr id="18" name="Graphique 17" descr="Homme détective avec un remplissage uni">
            <a:extLst>
              <a:ext uri="{FF2B5EF4-FFF2-40B4-BE49-F238E27FC236}">
                <a16:creationId xmlns:a16="http://schemas.microsoft.com/office/drawing/2014/main" id="{887D5566-2343-4B4F-BF9C-A58586D3C5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7688" y="2523943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8900D9-258A-4D71-A2A8-27CAD4B1D756}"/>
              </a:ext>
            </a:extLst>
          </p:cNvPr>
          <p:cNvSpPr/>
          <p:nvPr/>
        </p:nvSpPr>
        <p:spPr>
          <a:xfrm>
            <a:off x="2230748" y="4107828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Learn about a Community related skill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25284A-9F92-41F6-8311-13202C8DB72B}"/>
              </a:ext>
            </a:extLst>
          </p:cNvPr>
          <p:cNvSpPr/>
          <p:nvPr/>
        </p:nvSpPr>
        <p:spPr>
          <a:xfrm>
            <a:off x="2239065" y="472397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✔️ Attend an external exam about a Community related skill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BA1867B-AC60-4262-A297-4190A8DDF9A9}"/>
              </a:ext>
            </a:extLst>
          </p:cNvPr>
          <p:cNvGrpSpPr/>
          <p:nvPr/>
        </p:nvGrpSpPr>
        <p:grpSpPr>
          <a:xfrm>
            <a:off x="1977715" y="2285149"/>
            <a:ext cx="914400" cy="1126704"/>
            <a:chOff x="2647288" y="1873578"/>
            <a:chExt cx="914400" cy="1126704"/>
          </a:xfrm>
        </p:grpSpPr>
        <p:pic>
          <p:nvPicPr>
            <p:cNvPr id="5" name="Graphique 4" descr="Toque d'étudiant avec un remplissage uni">
              <a:extLst>
                <a:ext uri="{FF2B5EF4-FFF2-40B4-BE49-F238E27FC236}">
                  <a16:creationId xmlns:a16="http://schemas.microsoft.com/office/drawing/2014/main" id="{35A6DDB3-7DDC-4A4B-BBDE-EBB6ACE61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802238" y="1873578"/>
              <a:ext cx="619105" cy="619105"/>
            </a:xfrm>
            <a:prstGeom prst="rect">
              <a:avLst/>
            </a:prstGeom>
          </p:spPr>
        </p:pic>
        <p:pic>
          <p:nvPicPr>
            <p:cNvPr id="15" name="Graphique 14" descr="Profil femelle contour">
              <a:extLst>
                <a:ext uri="{FF2B5EF4-FFF2-40B4-BE49-F238E27FC236}">
                  <a16:creationId xmlns:a16="http://schemas.microsoft.com/office/drawing/2014/main" id="{4014C303-6CFC-4022-AF6C-FC951357F1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t="16627"/>
            <a:stretch/>
          </p:blipFill>
          <p:spPr>
            <a:xfrm>
              <a:off x="2647288" y="2237923"/>
              <a:ext cx="914400" cy="762359"/>
            </a:xfrm>
            <a:prstGeom prst="rect">
              <a:avLst/>
            </a:prstGeom>
          </p:spPr>
        </p:pic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5BBACADE-EEB6-4027-BF04-5312A00B2713}"/>
              </a:ext>
            </a:extLst>
          </p:cNvPr>
          <p:cNvGrpSpPr/>
          <p:nvPr/>
        </p:nvGrpSpPr>
        <p:grpSpPr>
          <a:xfrm>
            <a:off x="2643328" y="2307042"/>
            <a:ext cx="914400" cy="1107992"/>
            <a:chOff x="3312901" y="1895471"/>
            <a:chExt cx="914400" cy="1107992"/>
          </a:xfrm>
        </p:grpSpPr>
        <p:pic>
          <p:nvPicPr>
            <p:cNvPr id="17" name="Graphique 16" descr="Profil mâle contour">
              <a:extLst>
                <a:ext uri="{FF2B5EF4-FFF2-40B4-BE49-F238E27FC236}">
                  <a16:creationId xmlns:a16="http://schemas.microsoft.com/office/drawing/2014/main" id="{00780DAB-EB12-4435-95D3-9AF37FEE84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t="23077"/>
            <a:stretch/>
          </p:blipFill>
          <p:spPr>
            <a:xfrm>
              <a:off x="3312901" y="2300074"/>
              <a:ext cx="914400" cy="703389"/>
            </a:xfrm>
            <a:prstGeom prst="rect">
              <a:avLst/>
            </a:prstGeom>
          </p:spPr>
        </p:pic>
        <p:pic>
          <p:nvPicPr>
            <p:cNvPr id="23" name="Graphique 22" descr="Toque d'étudiant avec un remplissage uni">
              <a:extLst>
                <a:ext uri="{FF2B5EF4-FFF2-40B4-BE49-F238E27FC236}">
                  <a16:creationId xmlns:a16="http://schemas.microsoft.com/office/drawing/2014/main" id="{AABCF31B-32C5-4B85-8C15-DFB9AAB7E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55409" y="1895471"/>
              <a:ext cx="599626" cy="599626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47BC703-69EB-436F-AF0C-75088B7F79E9}"/>
              </a:ext>
            </a:extLst>
          </p:cNvPr>
          <p:cNvSpPr/>
          <p:nvPr/>
        </p:nvSpPr>
        <p:spPr>
          <a:xfrm>
            <a:off x="493213" y="4106951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👍 Read and react to posts in Community Forum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EFB869-41A4-49CB-9CC6-F62F75C45BCD}"/>
              </a:ext>
            </a:extLst>
          </p:cNvPr>
          <p:cNvSpPr/>
          <p:nvPr/>
        </p:nvSpPr>
        <p:spPr>
          <a:xfrm>
            <a:off x="493213" y="4723097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Attend a Community event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DF1633-C173-40DA-AE4F-D2905893A555}"/>
              </a:ext>
            </a:extLst>
          </p:cNvPr>
          <p:cNvSpPr/>
          <p:nvPr/>
        </p:nvSpPr>
        <p:spPr>
          <a:xfrm>
            <a:off x="10053304" y="4106951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members’ questions in Community Forum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969C2A-CC5C-4650-8E9A-169940DA37D8}"/>
              </a:ext>
            </a:extLst>
          </p:cNvPr>
          <p:cNvSpPr/>
          <p:nvPr/>
        </p:nvSpPr>
        <p:spPr>
          <a:xfrm>
            <a:off x="10050391" y="472309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💁🏻Help a current member or group of members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0DC449-0E89-46B4-9B95-CEF04A19380B}"/>
              </a:ext>
            </a:extLst>
          </p:cNvPr>
          <p:cNvSpPr/>
          <p:nvPr/>
        </p:nvSpPr>
        <p:spPr>
          <a:xfrm>
            <a:off x="8150703" y="41611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✋ Perform actions for which the Community was created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04A571-9B54-40F9-8DC3-ED886BC085C7}"/>
              </a:ext>
            </a:extLst>
          </p:cNvPr>
          <p:cNvSpPr/>
          <p:nvPr/>
        </p:nvSpPr>
        <p:spPr>
          <a:xfrm>
            <a:off x="6085293" y="4160468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Attend a Community event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488AC-AD22-4924-A6BF-A9CCD03EA131}"/>
              </a:ext>
            </a:extLst>
          </p:cNvPr>
          <p:cNvSpPr/>
          <p:nvPr/>
        </p:nvSpPr>
        <p:spPr>
          <a:xfrm>
            <a:off x="6090107" y="4757704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Follow a mentor as a Shadow to learn a Community related skill</a:t>
            </a:r>
          </a:p>
        </p:txBody>
      </p:sp>
      <p:pic>
        <p:nvPicPr>
          <p:cNvPr id="44" name="Graphique 43" descr="Profil femelle contour">
            <a:extLst>
              <a:ext uri="{FF2B5EF4-FFF2-40B4-BE49-F238E27FC236}">
                <a16:creationId xmlns:a16="http://schemas.microsoft.com/office/drawing/2014/main" id="{662173B5-B648-4A84-89F1-E9BB733FCD4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7574"/>
          <a:stretch/>
        </p:blipFill>
        <p:spPr>
          <a:xfrm>
            <a:off x="201168" y="2583862"/>
            <a:ext cx="914400" cy="845138"/>
          </a:xfrm>
          <a:prstGeom prst="rect">
            <a:avLst/>
          </a:prstGeom>
        </p:spPr>
      </p:pic>
      <p:pic>
        <p:nvPicPr>
          <p:cNvPr id="45" name="Graphique 44" descr="Profil mâle contour">
            <a:extLst>
              <a:ext uri="{FF2B5EF4-FFF2-40B4-BE49-F238E27FC236}">
                <a16:creationId xmlns:a16="http://schemas.microsoft.com/office/drawing/2014/main" id="{2D8A6F7B-6094-44F3-AE37-0D6200DA0E5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7227"/>
          <a:stretch/>
        </p:blipFill>
        <p:spPr>
          <a:xfrm>
            <a:off x="866781" y="2583863"/>
            <a:ext cx="914400" cy="848318"/>
          </a:xfrm>
          <a:prstGeom prst="rect">
            <a:avLst/>
          </a:prstGeom>
        </p:spPr>
      </p:pic>
      <p:pic>
        <p:nvPicPr>
          <p:cNvPr id="48" name="Graphique 47" descr="Signe pouce en haut avec un remplissage uni">
            <a:extLst>
              <a:ext uri="{FF2B5EF4-FFF2-40B4-BE49-F238E27FC236}">
                <a16:creationId xmlns:a16="http://schemas.microsoft.com/office/drawing/2014/main" id="{F9169816-5336-4780-946C-E66D178644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83573" y="2972483"/>
            <a:ext cx="456517" cy="456517"/>
          </a:xfrm>
          <a:prstGeom prst="rect">
            <a:avLst/>
          </a:prstGeom>
        </p:spPr>
      </p:pic>
      <p:pic>
        <p:nvPicPr>
          <p:cNvPr id="49" name="Graphique 48" descr="Signe pouce en haut avec un remplissage uni">
            <a:extLst>
              <a:ext uri="{FF2B5EF4-FFF2-40B4-BE49-F238E27FC236}">
                <a16:creationId xmlns:a16="http://schemas.microsoft.com/office/drawing/2014/main" id="{4C3515AF-997B-49E1-9839-FE7EA59E9B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1197537" y="2927626"/>
            <a:ext cx="454183" cy="456517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34B9B213-3EA7-41E6-92E2-4DE015D99714}"/>
              </a:ext>
            </a:extLst>
          </p:cNvPr>
          <p:cNvSpPr/>
          <p:nvPr/>
        </p:nvSpPr>
        <p:spPr>
          <a:xfrm>
            <a:off x="8150704" y="4758435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Help in the organization of a Community event</a:t>
            </a:r>
          </a:p>
        </p:txBody>
      </p:sp>
      <p:pic>
        <p:nvPicPr>
          <p:cNvPr id="52" name="Graphique 51" descr="Centre d’appels avec un remplissage uni">
            <a:extLst>
              <a:ext uri="{FF2B5EF4-FFF2-40B4-BE49-F238E27FC236}">
                <a16:creationId xmlns:a16="http://schemas.microsoft.com/office/drawing/2014/main" id="{2F2A129A-61B9-43D8-A20A-C18D6A311C7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65707" y="2496576"/>
            <a:ext cx="914400" cy="914400"/>
          </a:xfrm>
          <a:prstGeom prst="rect">
            <a:avLst/>
          </a:prstGeom>
        </p:spPr>
      </p:pic>
      <p:pic>
        <p:nvPicPr>
          <p:cNvPr id="53" name="Graphique 52" descr="Centre d’appels avec un remplissage uni">
            <a:extLst>
              <a:ext uri="{FF2B5EF4-FFF2-40B4-BE49-F238E27FC236}">
                <a16:creationId xmlns:a16="http://schemas.microsoft.com/office/drawing/2014/main" id="{C2CEF563-23E2-42CC-A24F-FBF1AF5019C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420189" y="2483525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1F04E9D-E8AC-438C-9D99-33DEE18455D5}"/>
              </a:ext>
            </a:extLst>
          </p:cNvPr>
          <p:cNvSpPr/>
          <p:nvPr/>
        </p:nvSpPr>
        <p:spPr>
          <a:xfrm>
            <a:off x="4270243" y="3404500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Connector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E84284-90CE-4E5C-9DC5-A22A7209B7DC}"/>
              </a:ext>
            </a:extLst>
          </p:cNvPr>
          <p:cNvSpPr/>
          <p:nvPr/>
        </p:nvSpPr>
        <p:spPr>
          <a:xfrm>
            <a:off x="4208743" y="414298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🤝Introduce members to each other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1B2316-59AC-4674-9C13-5CABF2ADA34B}"/>
              </a:ext>
            </a:extLst>
          </p:cNvPr>
          <p:cNvSpPr/>
          <p:nvPr/>
        </p:nvSpPr>
        <p:spPr>
          <a:xfrm>
            <a:off x="4199136" y="4726391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 Introduce members (as members) outside the Community</a:t>
            </a:r>
          </a:p>
        </p:txBody>
      </p:sp>
      <p:pic>
        <p:nvPicPr>
          <p:cNvPr id="37" name="Graphique 36" descr="Profil femelle contour">
            <a:extLst>
              <a:ext uri="{FF2B5EF4-FFF2-40B4-BE49-F238E27FC236}">
                <a16:creationId xmlns:a16="http://schemas.microsoft.com/office/drawing/2014/main" id="{27B21433-B7F4-44C3-82C7-211304B597E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7574"/>
          <a:stretch/>
        </p:blipFill>
        <p:spPr>
          <a:xfrm>
            <a:off x="3920640" y="2583862"/>
            <a:ext cx="914400" cy="845138"/>
          </a:xfrm>
          <a:prstGeom prst="rect">
            <a:avLst/>
          </a:prstGeom>
        </p:spPr>
      </p:pic>
      <p:pic>
        <p:nvPicPr>
          <p:cNvPr id="38" name="Graphique 37" descr="Profil mâle contour">
            <a:extLst>
              <a:ext uri="{FF2B5EF4-FFF2-40B4-BE49-F238E27FC236}">
                <a16:creationId xmlns:a16="http://schemas.microsoft.com/office/drawing/2014/main" id="{9D699778-BC3A-4275-A469-EF73FB13999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7227"/>
          <a:stretch/>
        </p:blipFill>
        <p:spPr>
          <a:xfrm>
            <a:off x="4586253" y="2583863"/>
            <a:ext cx="914400" cy="848318"/>
          </a:xfrm>
          <a:prstGeom prst="rect">
            <a:avLst/>
          </a:prstGeom>
        </p:spPr>
      </p:pic>
      <p:sp>
        <p:nvSpPr>
          <p:cNvPr id="3" name="Bulle narrative : ronde 2">
            <a:extLst>
              <a:ext uri="{FF2B5EF4-FFF2-40B4-BE49-F238E27FC236}">
                <a16:creationId xmlns:a16="http://schemas.microsoft.com/office/drawing/2014/main" id="{FBB025D3-B7BA-469E-B190-7A92D7E1A067}"/>
              </a:ext>
            </a:extLst>
          </p:cNvPr>
          <p:cNvSpPr/>
          <p:nvPr/>
        </p:nvSpPr>
        <p:spPr>
          <a:xfrm>
            <a:off x="4743678" y="2119689"/>
            <a:ext cx="1040636" cy="424077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Bulle narrative : ronde 39">
            <a:extLst>
              <a:ext uri="{FF2B5EF4-FFF2-40B4-BE49-F238E27FC236}">
                <a16:creationId xmlns:a16="http://schemas.microsoft.com/office/drawing/2014/main" id="{A5782218-7C76-4EBE-8827-73A58527AB28}"/>
              </a:ext>
            </a:extLst>
          </p:cNvPr>
          <p:cNvSpPr/>
          <p:nvPr/>
        </p:nvSpPr>
        <p:spPr>
          <a:xfrm>
            <a:off x="3530121" y="2119688"/>
            <a:ext cx="1040636" cy="424077"/>
          </a:xfrm>
          <a:prstGeom prst="wedgeEllipseCallout">
            <a:avLst>
              <a:gd name="adj1" fmla="val 23102"/>
              <a:gd name="adj2" fmla="val 56511"/>
            </a:avLst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que 15" descr="Utilisateur avec un remplissage uni">
            <a:extLst>
              <a:ext uri="{FF2B5EF4-FFF2-40B4-BE49-F238E27FC236}">
                <a16:creationId xmlns:a16="http://schemas.microsoft.com/office/drawing/2014/main" id="{FFEA85C1-5D0C-499E-9FBE-72FA2473532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72362" y="2156751"/>
            <a:ext cx="326774" cy="326774"/>
          </a:xfrm>
          <a:prstGeom prst="rect">
            <a:avLst/>
          </a:prstGeom>
        </p:spPr>
      </p:pic>
      <p:pic>
        <p:nvPicPr>
          <p:cNvPr id="46" name="Graphique 45" descr="Utilisateur avec un remplissage uni">
            <a:extLst>
              <a:ext uri="{FF2B5EF4-FFF2-40B4-BE49-F238E27FC236}">
                <a16:creationId xmlns:a16="http://schemas.microsoft.com/office/drawing/2014/main" id="{C77A6349-616B-40D5-B9A2-64DC9E22A7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39395" y="2156751"/>
            <a:ext cx="326774" cy="32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Examples of intermediary (usually mid level) Community Roles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FEB3CB-FB45-4F17-8F54-B3E066B812F5}"/>
              </a:ext>
            </a:extLst>
          </p:cNvPr>
          <p:cNvSpPr/>
          <p:nvPr/>
        </p:nvSpPr>
        <p:spPr>
          <a:xfrm>
            <a:off x="875604" y="292406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Recruiter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F535A7-262A-4C67-A207-8D33EF931D5C}"/>
              </a:ext>
            </a:extLst>
          </p:cNvPr>
          <p:cNvSpPr/>
          <p:nvPr/>
        </p:nvSpPr>
        <p:spPr>
          <a:xfrm>
            <a:off x="3317294" y="292406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Godparent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9CA36-1F6E-49FF-9220-D178EBEF677E}"/>
              </a:ext>
            </a:extLst>
          </p:cNvPr>
          <p:cNvSpPr/>
          <p:nvPr/>
        </p:nvSpPr>
        <p:spPr>
          <a:xfrm>
            <a:off x="5914389" y="292406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Scout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EB798-6CE0-4A58-85EB-628BCDBD2701}"/>
              </a:ext>
            </a:extLst>
          </p:cNvPr>
          <p:cNvSpPr/>
          <p:nvPr/>
        </p:nvSpPr>
        <p:spPr>
          <a:xfrm>
            <a:off x="8247502" y="292406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Mentor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008BA7-7C19-41D0-AD1F-AC24C3691EC0}"/>
              </a:ext>
            </a:extLst>
          </p:cNvPr>
          <p:cNvSpPr/>
          <p:nvPr/>
        </p:nvSpPr>
        <p:spPr>
          <a:xfrm>
            <a:off x="5850093" y="4184062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Help in the organization of a Community event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708410-A743-4C3E-99CA-717551B933A8}"/>
              </a:ext>
            </a:extLst>
          </p:cNvPr>
          <p:cNvSpPr/>
          <p:nvPr/>
        </p:nvSpPr>
        <p:spPr>
          <a:xfrm>
            <a:off x="3240143" y="6004933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godchildren’ questions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81ED39-4A9C-4D6F-ADE2-38AE6E9F436E}"/>
              </a:ext>
            </a:extLst>
          </p:cNvPr>
          <p:cNvSpPr/>
          <p:nvPr/>
        </p:nvSpPr>
        <p:spPr>
          <a:xfrm>
            <a:off x="3240143" y="5409856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💁🏻Help godchildren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9F96EB-8100-4EED-AB5B-149A3AB4BFCA}"/>
              </a:ext>
            </a:extLst>
          </p:cNvPr>
          <p:cNvSpPr/>
          <p:nvPr/>
        </p:nvSpPr>
        <p:spPr>
          <a:xfrm>
            <a:off x="811309" y="356791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💌 Bring new members 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0A7E0B-D641-4F40-9CE4-BB96D044406E}"/>
              </a:ext>
            </a:extLst>
          </p:cNvPr>
          <p:cNvSpPr/>
          <p:nvPr/>
        </p:nvSpPr>
        <p:spPr>
          <a:xfrm>
            <a:off x="5848111" y="600493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💬 Start discussions in Community Forum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04E75A-097D-4430-988A-8F08668CFA46}"/>
              </a:ext>
            </a:extLst>
          </p:cNvPr>
          <p:cNvSpPr/>
          <p:nvPr/>
        </p:nvSpPr>
        <p:spPr>
          <a:xfrm>
            <a:off x="2741697" y="356791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🤝Introduce members to godchildren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775008-9949-49F0-8FB6-CBD5BE151DC7}"/>
              </a:ext>
            </a:extLst>
          </p:cNvPr>
          <p:cNvSpPr/>
          <p:nvPr/>
        </p:nvSpPr>
        <p:spPr>
          <a:xfrm>
            <a:off x="3805388" y="356791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 Introduce godchildren (as members) outside the Community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7E1DF1-D14E-4D01-811B-889FC667E902}"/>
              </a:ext>
            </a:extLst>
          </p:cNvPr>
          <p:cNvSpPr/>
          <p:nvPr/>
        </p:nvSpPr>
        <p:spPr>
          <a:xfrm>
            <a:off x="5848111" y="480020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📧 Share Community related content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0FCBD-8540-4763-AD45-F20619DF00C7}"/>
              </a:ext>
            </a:extLst>
          </p:cNvPr>
          <p:cNvSpPr/>
          <p:nvPr/>
        </p:nvSpPr>
        <p:spPr>
          <a:xfrm>
            <a:off x="811309" y="5409856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Share results about Community purpose related actions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F08393-C4F9-4E84-8A5A-42AC60FC4901}"/>
              </a:ext>
            </a:extLst>
          </p:cNvPr>
          <p:cNvSpPr/>
          <p:nvPr/>
        </p:nvSpPr>
        <p:spPr>
          <a:xfrm>
            <a:off x="8183207" y="4184062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Learn about a Community related skill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722258-91AE-44FD-94F4-96ECC34F80D4}"/>
              </a:ext>
            </a:extLst>
          </p:cNvPr>
          <p:cNvSpPr/>
          <p:nvPr/>
        </p:nvSpPr>
        <p:spPr>
          <a:xfrm>
            <a:off x="8183207" y="3567915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📤 Share knowledge about a Community related skill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E513B5-1DF4-43F7-A513-E7DE0F6E004F}"/>
              </a:ext>
            </a:extLst>
          </p:cNvPr>
          <p:cNvSpPr/>
          <p:nvPr/>
        </p:nvSpPr>
        <p:spPr>
          <a:xfrm>
            <a:off x="5850094" y="3567915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🕴️ Represent the voice of the Community among members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96E6C9-91D9-4524-A897-554E2EFA022D}"/>
              </a:ext>
            </a:extLst>
          </p:cNvPr>
          <p:cNvSpPr/>
          <p:nvPr/>
        </p:nvSpPr>
        <p:spPr>
          <a:xfrm>
            <a:off x="3240143" y="480020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🚪Help in onboarding godchildren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AFEB8F-39C4-4AE5-AEC7-18C52F02D419}"/>
              </a:ext>
            </a:extLst>
          </p:cNvPr>
          <p:cNvSpPr/>
          <p:nvPr/>
        </p:nvSpPr>
        <p:spPr>
          <a:xfrm>
            <a:off x="3240143" y="4184062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👋Help in offboarding godchildren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3E7D39-E653-4898-AD24-7AE3C38F0150}"/>
              </a:ext>
            </a:extLst>
          </p:cNvPr>
          <p:cNvSpPr/>
          <p:nvPr/>
        </p:nvSpPr>
        <p:spPr>
          <a:xfrm>
            <a:off x="5848111" y="5409856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📣 </a:t>
            </a:r>
            <a:r>
              <a:rPr lang="en-US" sz="900">
                <a:solidFill>
                  <a:schemeClr val="bg1"/>
                </a:solidFill>
              </a:rPr>
              <a:t>Help promote the Community (host or organize event)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3DBDB01-632E-4252-96F9-738425D86986}"/>
              </a:ext>
            </a:extLst>
          </p:cNvPr>
          <p:cNvSpPr/>
          <p:nvPr/>
        </p:nvSpPr>
        <p:spPr>
          <a:xfrm>
            <a:off x="8183207" y="4800209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members’ questions in Community Forum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57048C-9901-4291-B453-044F7B7B97ED}"/>
              </a:ext>
            </a:extLst>
          </p:cNvPr>
          <p:cNvSpPr/>
          <p:nvPr/>
        </p:nvSpPr>
        <p:spPr>
          <a:xfrm>
            <a:off x="811309" y="4184062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🚪Help in onboarding new members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02EE46-AB1C-4AEC-BF35-FE4A2B7B577E}"/>
              </a:ext>
            </a:extLst>
          </p:cNvPr>
          <p:cNvSpPr/>
          <p:nvPr/>
        </p:nvSpPr>
        <p:spPr>
          <a:xfrm>
            <a:off x="811309" y="480020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📣 </a:t>
            </a:r>
            <a:r>
              <a:rPr lang="en-US" sz="900">
                <a:solidFill>
                  <a:schemeClr val="bg1"/>
                </a:solidFill>
              </a:rPr>
              <a:t>Help promote the Community (host or organize event)</a:t>
            </a:r>
          </a:p>
        </p:txBody>
      </p:sp>
      <p:pic>
        <p:nvPicPr>
          <p:cNvPr id="4" name="Graphique 3" descr="Femme DJ avec un remplissage uni">
            <a:extLst>
              <a:ext uri="{FF2B5EF4-FFF2-40B4-BE49-F238E27FC236}">
                <a16:creationId xmlns:a16="http://schemas.microsoft.com/office/drawing/2014/main" id="{E98D33F4-6C96-4D34-84AA-24D88128E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605" y="1987664"/>
            <a:ext cx="914400" cy="914400"/>
          </a:xfrm>
          <a:prstGeom prst="rect">
            <a:avLst/>
          </a:prstGeom>
        </p:spPr>
      </p:pic>
      <p:pic>
        <p:nvPicPr>
          <p:cNvPr id="6" name="Graphique 5" descr="Homme DJ avec un remplissage uni">
            <a:extLst>
              <a:ext uri="{FF2B5EF4-FFF2-40B4-BE49-F238E27FC236}">
                <a16:creationId xmlns:a16="http://schemas.microsoft.com/office/drawing/2014/main" id="{D3F9FD1C-9A66-478F-A6D2-C1B3D2650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937" y="1987664"/>
            <a:ext cx="914400" cy="914400"/>
          </a:xfrm>
          <a:prstGeom prst="rect">
            <a:avLst/>
          </a:prstGeom>
        </p:spPr>
      </p:pic>
      <p:pic>
        <p:nvPicPr>
          <p:cNvPr id="45" name="Graphique 44" descr="Homme pilote avec un remplissage uni">
            <a:extLst>
              <a:ext uri="{FF2B5EF4-FFF2-40B4-BE49-F238E27FC236}">
                <a16:creationId xmlns:a16="http://schemas.microsoft.com/office/drawing/2014/main" id="{2C2164E3-4A79-4D03-A74C-C5D95E74E4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5886" y="1987664"/>
            <a:ext cx="914400" cy="914400"/>
          </a:xfrm>
          <a:prstGeom prst="rect">
            <a:avLst/>
          </a:prstGeom>
        </p:spPr>
      </p:pic>
      <p:pic>
        <p:nvPicPr>
          <p:cNvPr id="53" name="Graphique 52" descr="Employée de bureau avec un remplissage uni">
            <a:extLst>
              <a:ext uri="{FF2B5EF4-FFF2-40B4-BE49-F238E27FC236}">
                <a16:creationId xmlns:a16="http://schemas.microsoft.com/office/drawing/2014/main" id="{5B132842-1D4E-429C-AEDB-8E8C903922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17593" y="1987664"/>
            <a:ext cx="914400" cy="914400"/>
          </a:xfrm>
          <a:prstGeom prst="rect">
            <a:avLst/>
          </a:prstGeom>
        </p:spPr>
      </p:pic>
      <p:pic>
        <p:nvPicPr>
          <p:cNvPr id="57" name="Graphique 56" descr="Femme pilote avec un remplissage uni">
            <a:extLst>
              <a:ext uri="{FF2B5EF4-FFF2-40B4-BE49-F238E27FC236}">
                <a16:creationId xmlns:a16="http://schemas.microsoft.com/office/drawing/2014/main" id="{AB6BC45D-67DC-48E3-8F0D-C573AAA5A4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5088" y="1987664"/>
            <a:ext cx="914400" cy="914400"/>
          </a:xfrm>
          <a:prstGeom prst="rect">
            <a:avLst/>
          </a:prstGeom>
        </p:spPr>
      </p:pic>
      <p:pic>
        <p:nvPicPr>
          <p:cNvPr id="65" name="Graphique 64" descr="Employé de bureau avec un remplissage uni">
            <a:extLst>
              <a:ext uri="{FF2B5EF4-FFF2-40B4-BE49-F238E27FC236}">
                <a16:creationId xmlns:a16="http://schemas.microsoft.com/office/drawing/2014/main" id="{5062F0E3-03DC-4769-9AB4-B7397E7B0C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78391" y="1987664"/>
            <a:ext cx="914400" cy="914400"/>
          </a:xfrm>
          <a:prstGeom prst="rect">
            <a:avLst/>
          </a:prstGeom>
        </p:spPr>
      </p:pic>
      <p:pic>
        <p:nvPicPr>
          <p:cNvPr id="67" name="Graphique 66" descr="Femme cowboy avec un remplissage uni">
            <a:extLst>
              <a:ext uri="{FF2B5EF4-FFF2-40B4-BE49-F238E27FC236}">
                <a16:creationId xmlns:a16="http://schemas.microsoft.com/office/drawing/2014/main" id="{734714FB-283C-492A-82DD-5BF9A4D6C1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91448" y="1987664"/>
            <a:ext cx="914400" cy="914400"/>
          </a:xfrm>
          <a:prstGeom prst="rect">
            <a:avLst/>
          </a:prstGeom>
        </p:spPr>
      </p:pic>
      <p:pic>
        <p:nvPicPr>
          <p:cNvPr id="69" name="Graphique 68" descr="Cowboy mâle avec un remplissage uni">
            <a:extLst>
              <a:ext uri="{FF2B5EF4-FFF2-40B4-BE49-F238E27FC236}">
                <a16:creationId xmlns:a16="http://schemas.microsoft.com/office/drawing/2014/main" id="{3D5259C4-8DDB-4C9E-8471-F591ADA91E2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29006" y="1987664"/>
            <a:ext cx="914400" cy="9144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4F10BFD-9CC5-41C3-BCDE-581306CB7417}"/>
              </a:ext>
            </a:extLst>
          </p:cNvPr>
          <p:cNvSpPr/>
          <p:nvPr/>
        </p:nvSpPr>
        <p:spPr>
          <a:xfrm>
            <a:off x="10355658" y="2877027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Event Host or co-host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210B62-1E2F-471A-B7BA-D2179D825E7F}"/>
              </a:ext>
            </a:extLst>
          </p:cNvPr>
          <p:cNvSpPr/>
          <p:nvPr/>
        </p:nvSpPr>
        <p:spPr>
          <a:xfrm>
            <a:off x="10291363" y="3551542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Host or co-host  Community events</a:t>
            </a:r>
          </a:p>
        </p:txBody>
      </p:sp>
      <p:pic>
        <p:nvPicPr>
          <p:cNvPr id="5" name="Graphique 4" descr="Homme conductrice avec un remplissage uni">
            <a:extLst>
              <a:ext uri="{FF2B5EF4-FFF2-40B4-BE49-F238E27FC236}">
                <a16:creationId xmlns:a16="http://schemas.microsoft.com/office/drawing/2014/main" id="{43ED176D-8581-4C8A-9589-C5AABE4BB50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89473" y="1987664"/>
            <a:ext cx="914400" cy="914400"/>
          </a:xfrm>
          <a:prstGeom prst="rect">
            <a:avLst/>
          </a:prstGeom>
        </p:spPr>
      </p:pic>
      <p:pic>
        <p:nvPicPr>
          <p:cNvPr id="12" name="Graphique 11" descr="Femme conductrice avec un remplissage uni">
            <a:extLst>
              <a:ext uri="{FF2B5EF4-FFF2-40B4-BE49-F238E27FC236}">
                <a16:creationId xmlns:a16="http://schemas.microsoft.com/office/drawing/2014/main" id="{DDEA225F-8E93-43C4-A60C-3917006D7D7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59525" y="19626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4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09186-11E1-4A35-8BB1-DD05F539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Examples of advanced (usually high level) Community Roles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FEB3CB-FB45-4F17-8F54-B3E066B812F5}"/>
              </a:ext>
            </a:extLst>
          </p:cNvPr>
          <p:cNvSpPr/>
          <p:nvPr/>
        </p:nvSpPr>
        <p:spPr>
          <a:xfrm>
            <a:off x="5481134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OPS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F535A7-262A-4C67-A207-8D33EF931D5C}"/>
              </a:ext>
            </a:extLst>
          </p:cNvPr>
          <p:cNvSpPr/>
          <p:nvPr/>
        </p:nvSpPr>
        <p:spPr>
          <a:xfrm>
            <a:off x="7922824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Booster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9CA36-1F6E-49FF-9220-D178EBEF677E}"/>
              </a:ext>
            </a:extLst>
          </p:cNvPr>
          <p:cNvSpPr/>
          <p:nvPr/>
        </p:nvSpPr>
        <p:spPr>
          <a:xfrm>
            <a:off x="10519919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EB798-6CE0-4A58-85EB-628BCDBD2701}"/>
              </a:ext>
            </a:extLst>
          </p:cNvPr>
          <p:cNvSpPr/>
          <p:nvPr/>
        </p:nvSpPr>
        <p:spPr>
          <a:xfrm>
            <a:off x="787288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Expert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35C843-9FFD-4365-B66C-F807BCA6B1CD}"/>
              </a:ext>
            </a:extLst>
          </p:cNvPr>
          <p:cNvSpPr/>
          <p:nvPr/>
        </p:nvSpPr>
        <p:spPr>
          <a:xfrm>
            <a:off x="10961799" y="3634799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Host or co-host a Community event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008BA7-7C19-41D0-AD1F-AC24C3691EC0}"/>
              </a:ext>
            </a:extLst>
          </p:cNvPr>
          <p:cNvSpPr/>
          <p:nvPr/>
        </p:nvSpPr>
        <p:spPr>
          <a:xfrm>
            <a:off x="5415249" y="4248405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📅 Help in the organization of a Community event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708410-A743-4C3E-99CA-717551B933A8}"/>
              </a:ext>
            </a:extLst>
          </p:cNvPr>
          <p:cNvSpPr/>
          <p:nvPr/>
        </p:nvSpPr>
        <p:spPr>
          <a:xfrm>
            <a:off x="7288172" y="5457473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members’ questions in Community Forum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81ED39-4A9C-4D6F-ADE2-38AE6E9F436E}"/>
              </a:ext>
            </a:extLst>
          </p:cNvPr>
          <p:cNvSpPr/>
          <p:nvPr/>
        </p:nvSpPr>
        <p:spPr>
          <a:xfrm>
            <a:off x="8367074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💁🏻Help a current member or group of members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9F96EB-8100-4EED-AB5B-149A3AB4BFCA}"/>
              </a:ext>
            </a:extLst>
          </p:cNvPr>
          <p:cNvSpPr/>
          <p:nvPr/>
        </p:nvSpPr>
        <p:spPr>
          <a:xfrm>
            <a:off x="7786616" y="6075216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💌 Bring new members 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5086A1-90F4-4471-8278-4319D1821697}"/>
              </a:ext>
            </a:extLst>
          </p:cNvPr>
          <p:cNvSpPr/>
          <p:nvPr/>
        </p:nvSpPr>
        <p:spPr>
          <a:xfrm>
            <a:off x="9924264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 Establish partnerships with the Community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0A7E0B-D641-4F40-9CE4-BB96D044406E}"/>
              </a:ext>
            </a:extLst>
          </p:cNvPr>
          <p:cNvSpPr/>
          <p:nvPr/>
        </p:nvSpPr>
        <p:spPr>
          <a:xfrm>
            <a:off x="7291028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💬 Start discussions in Community Forum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04E75A-097D-4430-988A-8F08668CFA46}"/>
              </a:ext>
            </a:extLst>
          </p:cNvPr>
          <p:cNvSpPr/>
          <p:nvPr/>
        </p:nvSpPr>
        <p:spPr>
          <a:xfrm>
            <a:off x="7291028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🤝Introduce members to each other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775008-9949-49F0-8FB6-CBD5BE151DC7}"/>
              </a:ext>
            </a:extLst>
          </p:cNvPr>
          <p:cNvSpPr/>
          <p:nvPr/>
        </p:nvSpPr>
        <p:spPr>
          <a:xfrm>
            <a:off x="10955350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🤝 Introduce members (as members) outside the Community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7E1DF1-D14E-4D01-811B-889FC667E902}"/>
              </a:ext>
            </a:extLst>
          </p:cNvPr>
          <p:cNvSpPr/>
          <p:nvPr/>
        </p:nvSpPr>
        <p:spPr>
          <a:xfrm>
            <a:off x="3176743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📧 Share Community related content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8B3CF5-75B7-4617-8E2F-C4C4A9A2AD41}"/>
              </a:ext>
            </a:extLst>
          </p:cNvPr>
          <p:cNvSpPr/>
          <p:nvPr/>
        </p:nvSpPr>
        <p:spPr>
          <a:xfrm>
            <a:off x="1299059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💬 Review, Comment, add likes, subscribe to the Community in outside platforms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846449-4AF8-4048-9B81-ACB331613C03}"/>
              </a:ext>
            </a:extLst>
          </p:cNvPr>
          <p:cNvSpPr/>
          <p:nvPr/>
        </p:nvSpPr>
        <p:spPr>
          <a:xfrm>
            <a:off x="2698372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📰 Write articles for the Community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8A7170-F469-4B43-A950-73D45AB8B26D}"/>
              </a:ext>
            </a:extLst>
          </p:cNvPr>
          <p:cNvSpPr/>
          <p:nvPr/>
        </p:nvSpPr>
        <p:spPr>
          <a:xfrm>
            <a:off x="3776444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📹 Record &amp; edit videos or a podcast or music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0B72AD-7269-48B8-8572-FB57C567160D}"/>
              </a:ext>
            </a:extLst>
          </p:cNvPr>
          <p:cNvSpPr/>
          <p:nvPr/>
        </p:nvSpPr>
        <p:spPr>
          <a:xfrm>
            <a:off x="2705777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🗃️ Organize Community Wiki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EB8733-1F63-4C56-85E9-116709687074}"/>
              </a:ext>
            </a:extLst>
          </p:cNvPr>
          <p:cNvSpPr/>
          <p:nvPr/>
        </p:nvSpPr>
        <p:spPr>
          <a:xfrm>
            <a:off x="5415249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🛠️Set up tools and processes for the Community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A2CB0E-7A99-4AD0-959C-BE10C5F8ACE9}"/>
              </a:ext>
            </a:extLst>
          </p:cNvPr>
          <p:cNvSpPr/>
          <p:nvPr/>
        </p:nvSpPr>
        <p:spPr>
          <a:xfrm>
            <a:off x="8367074" y="545747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🤡Entertain the Community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E36A76-C4B3-41DD-A814-EB5D64B6023C}"/>
              </a:ext>
            </a:extLst>
          </p:cNvPr>
          <p:cNvSpPr/>
          <p:nvPr/>
        </p:nvSpPr>
        <p:spPr>
          <a:xfrm>
            <a:off x="10469183" y="545747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⚖️ Define rules, manage arbitration and conflicts within the Community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80FCBD-8540-4763-AD45-F20619DF00C7}"/>
              </a:ext>
            </a:extLst>
          </p:cNvPr>
          <p:cNvSpPr/>
          <p:nvPr/>
        </p:nvSpPr>
        <p:spPr>
          <a:xfrm>
            <a:off x="10463353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Share results about Community purpose related actions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F08393-C4F9-4E84-8A5A-42AC60FC4901}"/>
              </a:ext>
            </a:extLst>
          </p:cNvPr>
          <p:cNvSpPr/>
          <p:nvPr/>
        </p:nvSpPr>
        <p:spPr>
          <a:xfrm>
            <a:off x="224548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Learn about a Community related skill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358F1B-E28C-4D1C-A6D2-17EDADC7BE9E}"/>
              </a:ext>
            </a:extLst>
          </p:cNvPr>
          <p:cNvSpPr/>
          <p:nvPr/>
        </p:nvSpPr>
        <p:spPr>
          <a:xfrm>
            <a:off x="220321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✔️ Pass a Community exam about a Community related skill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0B00D9-FF8B-42ED-A27B-7179C54F42A8}"/>
              </a:ext>
            </a:extLst>
          </p:cNvPr>
          <p:cNvSpPr/>
          <p:nvPr/>
        </p:nvSpPr>
        <p:spPr>
          <a:xfrm>
            <a:off x="1299059" y="3634799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✔️ Pass an external exam about a Community related skill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722258-91AE-44FD-94F4-96ECC34F80D4}"/>
              </a:ext>
            </a:extLst>
          </p:cNvPr>
          <p:cNvSpPr/>
          <p:nvPr/>
        </p:nvSpPr>
        <p:spPr>
          <a:xfrm>
            <a:off x="1299059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📤 Share knowledge about a Community related skill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F275EE-06B1-4670-A1A7-9258BC500C53}"/>
              </a:ext>
            </a:extLst>
          </p:cNvPr>
          <p:cNvSpPr/>
          <p:nvPr/>
        </p:nvSpPr>
        <p:spPr>
          <a:xfrm>
            <a:off x="3776444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🎓 </a:t>
            </a:r>
            <a:r>
              <a:rPr lang="en-US" sz="900">
                <a:solidFill>
                  <a:schemeClr val="bg1"/>
                </a:solidFill>
              </a:rPr>
              <a:t>Create a training course / program for the Community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BFDEEA-6BE3-4F69-9F4C-82C51328ABCC}"/>
              </a:ext>
            </a:extLst>
          </p:cNvPr>
          <p:cNvSpPr/>
          <p:nvPr/>
        </p:nvSpPr>
        <p:spPr>
          <a:xfrm>
            <a:off x="220321" y="5457473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👍 React to posts in Community Forum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E513B5-1DF4-43F7-A513-E7DE0F6E004F}"/>
              </a:ext>
            </a:extLst>
          </p:cNvPr>
          <p:cNvSpPr/>
          <p:nvPr/>
        </p:nvSpPr>
        <p:spPr>
          <a:xfrm>
            <a:off x="9926098" y="3634799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🕴️ Represent the voice of the Community among members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96E6C9-91D9-4524-A897-554E2EFA022D}"/>
              </a:ext>
            </a:extLst>
          </p:cNvPr>
          <p:cNvSpPr/>
          <p:nvPr/>
        </p:nvSpPr>
        <p:spPr>
          <a:xfrm>
            <a:off x="8367074" y="4242357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🚪Help in onboarding  new members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AFEB8F-39C4-4AE5-AEC7-18C52F02D419}"/>
              </a:ext>
            </a:extLst>
          </p:cNvPr>
          <p:cNvSpPr/>
          <p:nvPr/>
        </p:nvSpPr>
        <p:spPr>
          <a:xfrm>
            <a:off x="8369208" y="3634799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👋Help in offboarding  members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13177B-B298-434B-A4DD-99CB2DFAC9BA}"/>
              </a:ext>
            </a:extLst>
          </p:cNvPr>
          <p:cNvSpPr/>
          <p:nvPr/>
        </p:nvSpPr>
        <p:spPr>
          <a:xfrm>
            <a:off x="3176743" y="2959124"/>
            <a:ext cx="868300" cy="59721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Community Content Champions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3E7D39-E653-4898-AD24-7AE3C38F0150}"/>
              </a:ext>
            </a:extLst>
          </p:cNvPr>
          <p:cNvSpPr/>
          <p:nvPr/>
        </p:nvSpPr>
        <p:spPr>
          <a:xfrm>
            <a:off x="7288171" y="4849190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</a:rPr>
              <a:t>📣 </a:t>
            </a:r>
            <a:r>
              <a:rPr lang="en-US" sz="900">
                <a:solidFill>
                  <a:schemeClr val="bg1"/>
                </a:solidFill>
              </a:rPr>
              <a:t>Help promote the Community (host or organize event)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3DBDB01-632E-4252-96F9-738425D86986}"/>
              </a:ext>
            </a:extLst>
          </p:cNvPr>
          <p:cNvSpPr/>
          <p:nvPr/>
        </p:nvSpPr>
        <p:spPr>
          <a:xfrm>
            <a:off x="224548" y="4242357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❓Answer members’ questions in Community Forum</a:t>
            </a:r>
          </a:p>
        </p:txBody>
      </p:sp>
      <p:pic>
        <p:nvPicPr>
          <p:cNvPr id="50" name="Graphique 49" descr="Homme électricien avec un remplissage uni">
            <a:extLst>
              <a:ext uri="{FF2B5EF4-FFF2-40B4-BE49-F238E27FC236}">
                <a16:creationId xmlns:a16="http://schemas.microsoft.com/office/drawing/2014/main" id="{AD927913-485A-4CD9-8F5E-0F80C532D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5466" y="2003978"/>
            <a:ext cx="914400" cy="914400"/>
          </a:xfrm>
          <a:prstGeom prst="rect">
            <a:avLst/>
          </a:prstGeom>
        </p:spPr>
      </p:pic>
      <p:pic>
        <p:nvPicPr>
          <p:cNvPr id="52" name="Graphique 51" descr="Femme électricienne avec un remplissage uni">
            <a:extLst>
              <a:ext uri="{FF2B5EF4-FFF2-40B4-BE49-F238E27FC236}">
                <a16:creationId xmlns:a16="http://schemas.microsoft.com/office/drawing/2014/main" id="{E6B1028D-7485-4DD2-9B56-7A39C820F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0702" y="2003978"/>
            <a:ext cx="914400" cy="914400"/>
          </a:xfrm>
          <a:prstGeom prst="rect">
            <a:avLst/>
          </a:prstGeom>
        </p:spPr>
      </p:pic>
      <p:pic>
        <p:nvPicPr>
          <p:cNvPr id="54" name="Graphique 53" descr="Femme capitaine avec un remplissage uni">
            <a:extLst>
              <a:ext uri="{FF2B5EF4-FFF2-40B4-BE49-F238E27FC236}">
                <a16:creationId xmlns:a16="http://schemas.microsoft.com/office/drawing/2014/main" id="{90AFD79E-7238-4B8B-99B9-4F8931AD7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11380" y="2003978"/>
            <a:ext cx="914400" cy="914400"/>
          </a:xfrm>
          <a:prstGeom prst="rect">
            <a:avLst/>
          </a:prstGeom>
        </p:spPr>
      </p:pic>
      <p:pic>
        <p:nvPicPr>
          <p:cNvPr id="56" name="Graphique 55" descr="Homme capitaine avec un remplissage uni">
            <a:extLst>
              <a:ext uri="{FF2B5EF4-FFF2-40B4-BE49-F238E27FC236}">
                <a16:creationId xmlns:a16="http://schemas.microsoft.com/office/drawing/2014/main" id="{918D310F-65CC-4996-8329-E606901D71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6496" y="2003978"/>
            <a:ext cx="914400" cy="914400"/>
          </a:xfrm>
          <a:prstGeom prst="rect">
            <a:avLst/>
          </a:prstGeom>
        </p:spPr>
      </p:pic>
      <p:pic>
        <p:nvPicPr>
          <p:cNvPr id="58" name="Graphique 57" descr="Un artiste masculin avec un remplissage uni">
            <a:extLst>
              <a:ext uri="{FF2B5EF4-FFF2-40B4-BE49-F238E27FC236}">
                <a16:creationId xmlns:a16="http://schemas.microsoft.com/office/drawing/2014/main" id="{7BFDF9FE-EA75-4B65-A3BD-2FFAD6A0C9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37939" y="2003978"/>
            <a:ext cx="914400" cy="914400"/>
          </a:xfrm>
          <a:prstGeom prst="rect">
            <a:avLst/>
          </a:prstGeom>
        </p:spPr>
      </p:pic>
      <p:pic>
        <p:nvPicPr>
          <p:cNvPr id="60" name="Graphique 59" descr="Une artiste avec un remplissage uni">
            <a:extLst>
              <a:ext uri="{FF2B5EF4-FFF2-40B4-BE49-F238E27FC236}">
                <a16:creationId xmlns:a16="http://schemas.microsoft.com/office/drawing/2014/main" id="{3F4364D2-C5FC-4268-A05E-31CECABBF0D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87843" y="2003978"/>
            <a:ext cx="914400" cy="914400"/>
          </a:xfrm>
          <a:prstGeom prst="rect">
            <a:avLst/>
          </a:prstGeom>
        </p:spPr>
      </p:pic>
      <p:pic>
        <p:nvPicPr>
          <p:cNvPr id="62" name="Graphique 61" descr="Homme professeur avec un remplissage uni">
            <a:extLst>
              <a:ext uri="{FF2B5EF4-FFF2-40B4-BE49-F238E27FC236}">
                <a16:creationId xmlns:a16="http://schemas.microsoft.com/office/drawing/2014/main" id="{1C86D240-1A3E-4F1E-A473-9B794DB10E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6604" y="2003978"/>
            <a:ext cx="914400" cy="914400"/>
          </a:xfrm>
          <a:prstGeom prst="rect">
            <a:avLst/>
          </a:prstGeom>
        </p:spPr>
      </p:pic>
      <p:pic>
        <p:nvPicPr>
          <p:cNvPr id="64" name="Graphique 63" descr="Femme professeur avec un remplissage uni">
            <a:extLst>
              <a:ext uri="{FF2B5EF4-FFF2-40B4-BE49-F238E27FC236}">
                <a16:creationId xmlns:a16="http://schemas.microsoft.com/office/drawing/2014/main" id="{F9C521C1-9D92-4075-A319-AC5C38C3BCE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83952" y="2003978"/>
            <a:ext cx="914400" cy="914400"/>
          </a:xfrm>
          <a:prstGeom prst="rect">
            <a:avLst/>
          </a:prstGeom>
        </p:spPr>
      </p:pic>
      <p:pic>
        <p:nvPicPr>
          <p:cNvPr id="73" name="Graphique 72" descr="Serveuse avec un remplissage uni">
            <a:extLst>
              <a:ext uri="{FF2B5EF4-FFF2-40B4-BE49-F238E27FC236}">
                <a16:creationId xmlns:a16="http://schemas.microsoft.com/office/drawing/2014/main" id="{AB4CFAD3-D5AA-4C85-BE1D-63A0E6A563A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583361" y="2003978"/>
            <a:ext cx="914400" cy="914400"/>
          </a:xfrm>
          <a:prstGeom prst="rect">
            <a:avLst/>
          </a:prstGeom>
        </p:spPr>
      </p:pic>
      <p:pic>
        <p:nvPicPr>
          <p:cNvPr id="75" name="Graphique 74" descr="Serveur avec un remplissage uni">
            <a:extLst>
              <a:ext uri="{FF2B5EF4-FFF2-40B4-BE49-F238E27FC236}">
                <a16:creationId xmlns:a16="http://schemas.microsoft.com/office/drawing/2014/main" id="{A16406AA-5B8B-4DA3-93F9-CCD76D2951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33265" y="2003978"/>
            <a:ext cx="914400" cy="91440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131556A6-DB97-41CD-8F38-38B7D0BD05C8}"/>
              </a:ext>
            </a:extLst>
          </p:cNvPr>
          <p:cNvSpPr/>
          <p:nvPr/>
        </p:nvSpPr>
        <p:spPr>
          <a:xfrm>
            <a:off x="685507" y="6052052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🗃️ Organize Community Wiki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1A51DFA-994C-41E1-B934-82DD1718E86F}"/>
              </a:ext>
            </a:extLst>
          </p:cNvPr>
          <p:cNvSpPr/>
          <p:nvPr/>
        </p:nvSpPr>
        <p:spPr>
          <a:xfrm>
            <a:off x="1299060" y="5457473"/>
            <a:ext cx="996889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🎤 Host or co-host a Community event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F57B455-8D41-4EA5-8682-1C47C58E6569}"/>
              </a:ext>
            </a:extLst>
          </p:cNvPr>
          <p:cNvSpPr/>
          <p:nvPr/>
        </p:nvSpPr>
        <p:spPr>
          <a:xfrm>
            <a:off x="5427381" y="4862011"/>
            <a:ext cx="996890" cy="553997"/>
          </a:xfrm>
          <a:prstGeom prst="rect">
            <a:avLst/>
          </a:prstGeom>
          <a:solidFill>
            <a:srgbClr val="349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⚖️ Define rules within the Community</a:t>
            </a:r>
          </a:p>
        </p:txBody>
      </p:sp>
    </p:spTree>
    <p:extLst>
      <p:ext uri="{BB962C8B-B14F-4D97-AF65-F5344CB8AC3E}">
        <p14:creationId xmlns:p14="http://schemas.microsoft.com/office/powerpoint/2010/main" val="3477599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ZoneTexte 313">
            <a:extLst>
              <a:ext uri="{FF2B5EF4-FFF2-40B4-BE49-F238E27FC236}">
                <a16:creationId xmlns:a16="http://schemas.microsoft.com/office/drawing/2014/main" id="{DC24A43B-69E8-45C5-9C31-33572C4A46A8}"/>
              </a:ext>
            </a:extLst>
          </p:cNvPr>
          <p:cNvSpPr txBox="1"/>
          <p:nvPr/>
        </p:nvSpPr>
        <p:spPr>
          <a:xfrm>
            <a:off x="1237372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Forming</a:t>
            </a:r>
            <a:endParaRPr lang="en-US" sz="1400" b="1" dirty="0"/>
          </a:p>
          <a:p>
            <a:pPr algn="ctr"/>
            <a:r>
              <a:rPr lang="en-US" sz="1400" dirty="0"/>
              <a:t>Know</a:t>
            </a:r>
          </a:p>
        </p:txBody>
      </p:sp>
      <p:sp>
        <p:nvSpPr>
          <p:cNvPr id="352" name="ZoneTexte 351">
            <a:extLst>
              <a:ext uri="{FF2B5EF4-FFF2-40B4-BE49-F238E27FC236}">
                <a16:creationId xmlns:a16="http://schemas.microsoft.com/office/drawing/2014/main" id="{E4F3AE4D-62DC-4DA4-BD05-A84C7D5BE06D}"/>
              </a:ext>
            </a:extLst>
          </p:cNvPr>
          <p:cNvSpPr txBox="1"/>
          <p:nvPr/>
        </p:nvSpPr>
        <p:spPr>
          <a:xfrm>
            <a:off x="2710610" y="2120100"/>
            <a:ext cx="1440000" cy="446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Storming</a:t>
            </a:r>
          </a:p>
          <a:p>
            <a:pPr algn="ctr"/>
            <a:r>
              <a:rPr lang="en-US" sz="1400"/>
              <a:t>Experience</a:t>
            </a:r>
          </a:p>
        </p:txBody>
      </p:sp>
      <p:sp>
        <p:nvSpPr>
          <p:cNvPr id="353" name="ZoneTexte 352">
            <a:extLst>
              <a:ext uri="{FF2B5EF4-FFF2-40B4-BE49-F238E27FC236}">
                <a16:creationId xmlns:a16="http://schemas.microsoft.com/office/drawing/2014/main" id="{60CFACDF-B8EC-4570-9734-77C24575EAA4}"/>
              </a:ext>
            </a:extLst>
          </p:cNvPr>
          <p:cNvSpPr txBox="1"/>
          <p:nvPr/>
        </p:nvSpPr>
        <p:spPr>
          <a:xfrm>
            <a:off x="5657086" y="2120100"/>
            <a:ext cx="1440000" cy="4464000"/>
          </a:xfrm>
          <a:prstGeom prst="rect">
            <a:avLst/>
          </a:prstGeom>
          <a:solidFill>
            <a:srgbClr val="EC7B2B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Performing</a:t>
            </a:r>
            <a:r>
              <a:rPr lang="en-US" sz="1400"/>
              <a:t> </a:t>
            </a:r>
            <a:endParaRPr lang="en-US" sz="1400" dirty="0"/>
          </a:p>
          <a:p>
            <a:pPr algn="ctr"/>
            <a:r>
              <a:rPr lang="en-US" sz="1400" dirty="0"/>
              <a:t>Achieve</a:t>
            </a:r>
          </a:p>
        </p:txBody>
      </p:sp>
      <p:sp>
        <p:nvSpPr>
          <p:cNvPr id="354" name="ZoneTexte 353">
            <a:extLst>
              <a:ext uri="{FF2B5EF4-FFF2-40B4-BE49-F238E27FC236}">
                <a16:creationId xmlns:a16="http://schemas.microsoft.com/office/drawing/2014/main" id="{270A6E38-A4E0-4CA2-B4CE-8FA66D8EA00B}"/>
              </a:ext>
            </a:extLst>
          </p:cNvPr>
          <p:cNvSpPr txBox="1"/>
          <p:nvPr/>
        </p:nvSpPr>
        <p:spPr>
          <a:xfrm>
            <a:off x="4183848" y="2120100"/>
            <a:ext cx="1440000" cy="4464000"/>
          </a:xfrm>
          <a:prstGeom prst="rect">
            <a:avLst/>
          </a:prstGeom>
          <a:solidFill>
            <a:srgbClr val="3494BA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Norming</a:t>
            </a:r>
          </a:p>
          <a:p>
            <a:pPr algn="ctr"/>
            <a:r>
              <a:rPr lang="en-US" sz="1400"/>
              <a:t>Agree</a:t>
            </a:r>
          </a:p>
        </p:txBody>
      </p:sp>
      <p:sp>
        <p:nvSpPr>
          <p:cNvPr id="454" name="ZoneTexte 453">
            <a:extLst>
              <a:ext uri="{FF2B5EF4-FFF2-40B4-BE49-F238E27FC236}">
                <a16:creationId xmlns:a16="http://schemas.microsoft.com/office/drawing/2014/main" id="{85B0C092-D66A-4477-A67F-D182C1E25D7D}"/>
              </a:ext>
            </a:extLst>
          </p:cNvPr>
          <p:cNvSpPr txBox="1"/>
          <p:nvPr/>
        </p:nvSpPr>
        <p:spPr>
          <a:xfrm>
            <a:off x="7130323" y="2120100"/>
            <a:ext cx="1440000" cy="44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C7B2B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Belonging</a:t>
            </a:r>
            <a:r>
              <a:rPr lang="en-US" sz="1400"/>
              <a:t> </a:t>
            </a:r>
          </a:p>
          <a:p>
            <a:pPr algn="ctr"/>
            <a:r>
              <a:rPr lang="en-US" sz="1400"/>
              <a:t>Be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3C7B6-D591-4EC6-9F45-A3B2E7150CBE}"/>
              </a:ext>
            </a:extLst>
          </p:cNvPr>
          <p:cNvSpPr/>
          <p:nvPr/>
        </p:nvSpPr>
        <p:spPr>
          <a:xfrm>
            <a:off x="1512150" y="3274423"/>
            <a:ext cx="967741" cy="78852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👋</a:t>
            </a:r>
            <a:r>
              <a:rPr lang="en-US" sz="800" b="1">
                <a:solidFill>
                  <a:schemeClr val="tx1"/>
                </a:solidFill>
              </a:rPr>
              <a:t>Social onboarders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introduce members to each other”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49EA4E-8A19-4FC4-A28E-BFAAC7C37DDC}"/>
              </a:ext>
            </a:extLst>
          </p:cNvPr>
          <p:cNvSpPr/>
          <p:nvPr/>
        </p:nvSpPr>
        <p:spPr>
          <a:xfrm>
            <a:off x="1523762" y="5501103"/>
            <a:ext cx="967741" cy="80825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🔔</a:t>
            </a:r>
            <a:r>
              <a:rPr lang="en-US" sz="800" b="1">
                <a:solidFill>
                  <a:schemeClr val="tx1"/>
                </a:solidFill>
              </a:rPr>
              <a:t>Reminders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“I keep the Community in members attention”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62801-822C-43EA-BE38-0AEFC595D541}"/>
              </a:ext>
            </a:extLst>
          </p:cNvPr>
          <p:cNvSpPr/>
          <p:nvPr/>
        </p:nvSpPr>
        <p:spPr>
          <a:xfrm>
            <a:off x="4431459" y="3579541"/>
            <a:ext cx="967741" cy="824269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🔮</a:t>
            </a:r>
            <a:r>
              <a:rPr lang="en-US" sz="800" b="1">
                <a:solidFill>
                  <a:schemeClr val="tx1"/>
                </a:solidFill>
              </a:rPr>
              <a:t>Futurists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share a vision of a collective future”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DEC46F-9B7C-4BE6-B018-339B0CB91E19}"/>
              </a:ext>
            </a:extLst>
          </p:cNvPr>
          <p:cNvSpPr/>
          <p:nvPr/>
        </p:nvSpPr>
        <p:spPr>
          <a:xfrm>
            <a:off x="5902037" y="4438760"/>
            <a:ext cx="967741" cy="76280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💾</a:t>
            </a:r>
            <a:r>
              <a:rPr lang="en-US" sz="800" b="1">
                <a:solidFill>
                  <a:schemeClr val="tx1"/>
                </a:solidFill>
              </a:rPr>
              <a:t>Memory makers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create good memories, storage and share them”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641E24-E68B-4E94-AD7C-AAD155C47B95}"/>
              </a:ext>
            </a:extLst>
          </p:cNvPr>
          <p:cNvSpPr/>
          <p:nvPr/>
        </p:nvSpPr>
        <p:spPr>
          <a:xfrm>
            <a:off x="5899570" y="3500162"/>
            <a:ext cx="967741" cy="76280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🏆</a:t>
            </a:r>
            <a:r>
              <a:rPr lang="en-US" sz="800" b="1">
                <a:solidFill>
                  <a:schemeClr val="tx1"/>
                </a:solidFill>
              </a:rPr>
              <a:t>Achievement engagers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push members into collective achievements”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AA336B-E4E8-44BC-9689-7F2AE8DA9841}"/>
              </a:ext>
            </a:extLst>
          </p:cNvPr>
          <p:cNvSpPr/>
          <p:nvPr/>
        </p:nvSpPr>
        <p:spPr>
          <a:xfrm>
            <a:off x="4419761" y="2768158"/>
            <a:ext cx="967741" cy="64458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🤝</a:t>
            </a:r>
            <a:r>
              <a:rPr lang="en-US" sz="800" b="1">
                <a:solidFill>
                  <a:schemeClr val="tx1"/>
                </a:solidFill>
              </a:rPr>
              <a:t>Trusted Third Parties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trust each other”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2A22133-AFA4-4370-8679-C253B4800F1E}"/>
              </a:ext>
            </a:extLst>
          </p:cNvPr>
          <p:cNvSpPr/>
          <p:nvPr/>
        </p:nvSpPr>
        <p:spPr>
          <a:xfrm>
            <a:off x="2953095" y="3506441"/>
            <a:ext cx="967741" cy="70937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👍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Matchmakers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appreciate each other”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212986-54DB-4040-AC67-17BB08C65286}"/>
              </a:ext>
            </a:extLst>
          </p:cNvPr>
          <p:cNvSpPr/>
          <p:nvPr/>
        </p:nvSpPr>
        <p:spPr>
          <a:xfrm>
            <a:off x="7373732" y="4062946"/>
            <a:ext cx="967741" cy="115287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🏳️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Standard bearers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gather under the same banner”</a:t>
            </a:r>
            <a:endParaRPr lang="en-US" sz="800" b="1" i="1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D9CECEB-FA49-4275-9C7C-5E470407F893}"/>
              </a:ext>
            </a:extLst>
          </p:cNvPr>
          <p:cNvSpPr/>
          <p:nvPr/>
        </p:nvSpPr>
        <p:spPr>
          <a:xfrm>
            <a:off x="5880781" y="2774336"/>
            <a:ext cx="967741" cy="62581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💞 Helpers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and make members support each other”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FA3412C-D1F9-40A3-A96D-D429453FF4BF}"/>
              </a:ext>
            </a:extLst>
          </p:cNvPr>
          <p:cNvSpPr/>
          <p:nvPr/>
        </p:nvSpPr>
        <p:spPr>
          <a:xfrm>
            <a:off x="2949660" y="4248862"/>
            <a:ext cx="967741" cy="741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🎯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Idealists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expect from the Community”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B66B9D-B428-4C5B-B598-7D74D8815482}"/>
              </a:ext>
            </a:extLst>
          </p:cNvPr>
          <p:cNvSpPr/>
          <p:nvPr/>
        </p:nvSpPr>
        <p:spPr>
          <a:xfrm>
            <a:off x="4432986" y="4562784"/>
            <a:ext cx="967741" cy="788663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🛠️</a:t>
            </a:r>
            <a:r>
              <a:rPr lang="en-US" sz="800" b="1">
                <a:solidFill>
                  <a:schemeClr val="tx1"/>
                </a:solidFill>
              </a:rPr>
              <a:t>Operatives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improve the efficiency of Community rules and processes”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53E7A9-4002-45FF-9759-B8DECE3912DC}"/>
              </a:ext>
            </a:extLst>
          </p:cNvPr>
          <p:cNvSpPr/>
          <p:nvPr/>
        </p:nvSpPr>
        <p:spPr>
          <a:xfrm>
            <a:off x="5880463" y="5316746"/>
            <a:ext cx="967741" cy="99261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💪</a:t>
            </a:r>
            <a:r>
              <a:rPr lang="en-US" sz="800" b="1">
                <a:solidFill>
                  <a:schemeClr val="tx1"/>
                </a:solidFill>
              </a:rPr>
              <a:t>Community Trainers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help members self actualize thanks to the Community”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4D583E1-7EC7-41D9-9C11-E441C874E659}"/>
              </a:ext>
            </a:extLst>
          </p:cNvPr>
          <p:cNvSpPr/>
          <p:nvPr/>
        </p:nvSpPr>
        <p:spPr>
          <a:xfrm>
            <a:off x="2963762" y="5023804"/>
            <a:ext cx="967741" cy="96854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🔭</a:t>
            </a:r>
          </a:p>
          <a:p>
            <a:pPr algn="ctr"/>
            <a:r>
              <a:rPr lang="en-US" sz="800" b="1" dirty="0">
                <a:solidFill>
                  <a:schemeClr val="tx1"/>
                </a:solidFill>
              </a:rPr>
              <a:t>Self-Vision Coaches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“We help members envision their future in the Community”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1912D9F-FFAD-4F58-B0E5-4151881031A3}"/>
              </a:ext>
            </a:extLst>
          </p:cNvPr>
          <p:cNvSpPr/>
          <p:nvPr/>
        </p:nvSpPr>
        <p:spPr>
          <a:xfrm>
            <a:off x="7370297" y="5551192"/>
            <a:ext cx="967741" cy="77391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🚀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Motivator 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facilitate members engagement”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31CE938-5509-4335-AC53-E2294568D107}"/>
              </a:ext>
            </a:extLst>
          </p:cNvPr>
          <p:cNvSpPr/>
          <p:nvPr/>
        </p:nvSpPr>
        <p:spPr>
          <a:xfrm>
            <a:off x="2975373" y="6040717"/>
            <a:ext cx="967741" cy="61958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</a:rPr>
              <a:t>✨Entertainers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make Community experience enjoyable”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A33963F-B4DB-4275-9308-2CE7F7B62354}"/>
              </a:ext>
            </a:extLst>
          </p:cNvPr>
          <p:cNvSpPr/>
          <p:nvPr/>
        </p:nvSpPr>
        <p:spPr>
          <a:xfrm>
            <a:off x="7366452" y="2792555"/>
            <a:ext cx="967741" cy="93502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🦚 </a:t>
            </a:r>
          </a:p>
          <a:p>
            <a:pPr algn="ctr"/>
            <a:r>
              <a:rPr lang="en-US" sz="800" b="1">
                <a:solidFill>
                  <a:schemeClr val="tx1"/>
                </a:solidFill>
              </a:rPr>
              <a:t>Preachers</a:t>
            </a:r>
          </a:p>
          <a:p>
            <a:pPr algn="ctr"/>
            <a:r>
              <a:rPr lang="en-US" sz="800">
                <a:solidFill>
                  <a:schemeClr val="tx1"/>
                </a:solidFill>
              </a:rPr>
              <a:t>“</a:t>
            </a:r>
            <a:r>
              <a:rPr lang="en-US" sz="800" i="1">
                <a:solidFill>
                  <a:schemeClr val="tx1"/>
                </a:solidFill>
              </a:rPr>
              <a:t>We help members share their pride of belonging</a:t>
            </a:r>
            <a:r>
              <a:rPr lang="en-US" sz="800">
                <a:solidFill>
                  <a:schemeClr val="tx1"/>
                </a:solidFill>
              </a:rPr>
              <a:t>” 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94DB25F8-4839-4288-8C0A-75CB3739549B}"/>
              </a:ext>
            </a:extLst>
          </p:cNvPr>
          <p:cNvSpPr/>
          <p:nvPr/>
        </p:nvSpPr>
        <p:spPr>
          <a:xfrm>
            <a:off x="2953095" y="2725427"/>
            <a:ext cx="967741" cy="747883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💬</a:t>
            </a:r>
            <a:r>
              <a:rPr lang="en-US" sz="800" b="1">
                <a:solidFill>
                  <a:schemeClr val="tx1"/>
                </a:solidFill>
              </a:rPr>
              <a:t>Facilitators 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”We help members interact with each other”</a:t>
            </a:r>
          </a:p>
        </p:txBody>
      </p:sp>
      <p:sp>
        <p:nvSpPr>
          <p:cNvPr id="217" name="Titre 1">
            <a:extLst>
              <a:ext uri="{FF2B5EF4-FFF2-40B4-BE49-F238E27FC236}">
                <a16:creationId xmlns:a16="http://schemas.microsoft.com/office/drawing/2014/main" id="{2551ADE9-39AD-4FBE-A8DB-62C155F9E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en-US"/>
              <a:t>KCIs related roles</a:t>
            </a:r>
            <a:br>
              <a:rPr lang="en-US"/>
            </a:br>
            <a:r>
              <a:rPr lang="en-US"/>
              <a:t>Defining roles by KCIs families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84DF82C-6E6E-4B40-9559-28D4F7CF53F5}"/>
              </a:ext>
            </a:extLst>
          </p:cNvPr>
          <p:cNvSpPr/>
          <p:nvPr/>
        </p:nvSpPr>
        <p:spPr>
          <a:xfrm>
            <a:off x="4440463" y="5612906"/>
            <a:ext cx="967741" cy="72700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👷</a:t>
            </a:r>
            <a:r>
              <a:rPr lang="en-US" sz="800" b="1">
                <a:solidFill>
                  <a:schemeClr val="tx1"/>
                </a:solidFill>
              </a:rPr>
              <a:t>People Organizers</a:t>
            </a:r>
          </a:p>
          <a:p>
            <a:pPr algn="ctr"/>
            <a:r>
              <a:rPr lang="en-US" sz="800" i="1">
                <a:solidFill>
                  <a:schemeClr val="tx1"/>
                </a:solidFill>
              </a:rPr>
              <a:t>“We make  Community Roles consistent”</a:t>
            </a:r>
          </a:p>
        </p:txBody>
      </p:sp>
    </p:spTree>
    <p:extLst>
      <p:ext uri="{BB962C8B-B14F-4D97-AF65-F5344CB8AC3E}">
        <p14:creationId xmlns:p14="http://schemas.microsoft.com/office/powerpoint/2010/main" val="1996776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</TotalTime>
  <Words>2472</Words>
  <Application>Microsoft Office PowerPoint</Application>
  <PresentationFormat>Grand écran</PresentationFormat>
  <Paragraphs>409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Calibri</vt:lpstr>
      <vt:lpstr>AccentBoxVTI</vt:lpstr>
      <vt:lpstr> W5 Community Level Design</vt:lpstr>
      <vt:lpstr>Community level Design Example of workshop results</vt:lpstr>
      <vt:lpstr>Community Level Design Workshop step by step</vt:lpstr>
      <vt:lpstr>Using the workshop results</vt:lpstr>
      <vt:lpstr>Optional preparatory workshop :  Pre-define level rewards based on members motivations.  Ideas for Community rewards</vt:lpstr>
      <vt:lpstr>Questions to ask yourself on rewards</vt:lpstr>
      <vt:lpstr>Single Member Examples of challenges &amp; activities</vt:lpstr>
      <vt:lpstr>Questions to ask yourself on growth challenges</vt:lpstr>
      <vt:lpstr>From one Path to many paths</vt:lpstr>
      <vt:lpstr>Multiplayer level design</vt:lpstr>
      <vt:lpstr>Examples of basic (usually entry level) Community Roles</vt:lpstr>
      <vt:lpstr>Examples of intermediary (usually mid level) Community Roles</vt:lpstr>
      <vt:lpstr>Examples of advanced (usually high level) Community Roles</vt:lpstr>
      <vt:lpstr>KCIs related roles Defining roles by KCIs families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2</cp:revision>
  <dcterms:created xsi:type="dcterms:W3CDTF">2020-12-16T10:05:09Z</dcterms:created>
  <dcterms:modified xsi:type="dcterms:W3CDTF">2022-02-28T10:24:45Z</dcterms:modified>
</cp:coreProperties>
</file>