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Default Extension="svg" ContentType="image/svg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fr-FR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21E4AEA4-8DFA-4A89-87EB-49C32662AFE0}"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  <a:fill>
          <a:solidFill>
            <a:schemeClr val="accent2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10" d="100"/>
          <a:sy n="110" d="100"/>
        </p:scale>
        <p:origin x="288" y="96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8293315" name="Espace réservé de l'en-tête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56223207" name="Espace réservé de la date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9C2DC682-A0FA-4050-8373-3D0B6B41B593}" type="datetimeFigureOut">
              <a:rPr lang="fr-FR"/>
              <a:t>01/02/2022</a:t>
            </a:fld>
            <a:endParaRPr lang="fr-FR"/>
          </a:p>
        </p:txBody>
      </p:sp>
      <p:sp>
        <p:nvSpPr>
          <p:cNvPr id="1893167144" name="Espace réservé de l'image des diapositives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fr-FR"/>
          </a:p>
        </p:txBody>
      </p:sp>
      <p:sp>
        <p:nvSpPr>
          <p:cNvPr id="1412003638" name="Espace réservé des notes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414365300" name="Espace réservé du pied de page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17089205" name="Espace réservé du numéro de diapositive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8381247-AF34-4F93-ACB2-EAAC5B47D7E6}" type="slidenum">
              <a:rPr lang="fr-FR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36E764-A9FB-9EE4-44D6-3EBA571662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1AC7D7-F083-CF16-957C-24FFCF5E04A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CC41BF-2BA4-985D-4D69-F886387923E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C44614A-C4D2-DA00-F0E5-76B604FE10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5964F96-FD92-BE4B-B06E-9AD49EC292E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AFCB68-270C-D373-9D2C-38E41A6903A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70C1CD-72FD-E22E-44A5-73067A7FE9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C3DAC4C-5765-3458-C5FC-14DEC2DA83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740A708-ABA6-D392-DCB7-A82B58C3292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Diapositive de titr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2630575" name="Titr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376892970" name="Sous-titr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fr-FR"/>
              <a:t>Modifiez le style des sous-titres du masque</a:t>
            </a:r>
            <a:endParaRPr/>
          </a:p>
        </p:txBody>
      </p:sp>
      <p:sp>
        <p:nvSpPr>
          <p:cNvPr id="1371496923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E6439E6-DD8C-4C85-9C7B-9357438C85CB}" type="datetimeFigureOut">
              <a:rPr lang="fr-FR"/>
              <a:t>01/02/2022</a:t>
            </a:fld>
            <a:endParaRPr lang="fr-FR"/>
          </a:p>
        </p:txBody>
      </p:sp>
      <p:sp>
        <p:nvSpPr>
          <p:cNvPr id="1356730811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409043580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B4D992-F161-4455-B186-2BFDF7EA604F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re et contenu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885379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31197901" name="Espace réservé du contenu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1878134811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E6439E6-DD8C-4C85-9C7B-9357438C85CB}" type="datetimeFigureOut">
              <a:rPr lang="fr-FR"/>
              <a:t>01/02/2022</a:t>
            </a:fld>
            <a:endParaRPr lang="fr-FR"/>
          </a:p>
        </p:txBody>
      </p:sp>
      <p:sp>
        <p:nvSpPr>
          <p:cNvPr id="977942991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48154617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B4D992-F161-4455-B186-2BFDF7EA604F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Titre de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9470228" name="Titr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947285397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590308375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E6439E6-DD8C-4C85-9C7B-9357438C85CB}" type="datetimeFigureOut">
              <a:rPr lang="fr-FR"/>
              <a:t>01/02/2022</a:t>
            </a:fld>
            <a:endParaRPr lang="fr-FR"/>
          </a:p>
        </p:txBody>
      </p:sp>
      <p:sp>
        <p:nvSpPr>
          <p:cNvPr id="2053837033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702113827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B4D992-F161-4455-B186-2BFDF7EA604F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Deux contenu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9066978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366094725" name="Espace réservé du contenu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603026738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460184589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E6439E6-DD8C-4C85-9C7B-9357438C85CB}" type="datetimeFigureOut">
              <a:rPr lang="fr-FR"/>
              <a:t>01/02/2022</a:t>
            </a:fld>
            <a:endParaRPr lang="fr-FR"/>
          </a:p>
        </p:txBody>
      </p:sp>
      <p:sp>
        <p:nvSpPr>
          <p:cNvPr id="1251155333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79655170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B4D992-F161-4455-B186-2BFDF7EA604F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a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0237178" name="Titr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550725908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592917260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207075374" name="Espace réservé du texte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528311215" name="Espace réservé du contenu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754285205" name="Espace réservé de la date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E6439E6-DD8C-4C85-9C7B-9357438C85CB}" type="datetimeFigureOut">
              <a:rPr lang="fr-FR"/>
              <a:t>01/02/2022</a:t>
            </a:fld>
            <a:endParaRPr lang="fr-FR"/>
          </a:p>
        </p:txBody>
      </p:sp>
      <p:sp>
        <p:nvSpPr>
          <p:cNvPr id="616238321" name="Espace réservé du pied de page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279990790" name="Espace réservé du numéro de diapositive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B4D992-F161-4455-B186-2BFDF7EA604F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re seu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6392070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634515614" name="Espace réservé de la date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E6439E6-DD8C-4C85-9C7B-9357438C85CB}" type="datetimeFigureOut">
              <a:rPr lang="fr-FR"/>
              <a:t>01/02/2022</a:t>
            </a:fld>
            <a:endParaRPr lang="fr-FR"/>
          </a:p>
        </p:txBody>
      </p:sp>
      <p:sp>
        <p:nvSpPr>
          <p:cNvPr id="1399960999" name="Espace réservé du pied de page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283922013" name="Espace réservé du numéro de diapositive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B4D992-F161-4455-B186-2BFDF7EA604F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V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0212467" name="Espace réservé de la date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E6439E6-DD8C-4C85-9C7B-9357438C85CB}" type="datetimeFigureOut">
              <a:rPr lang="fr-FR"/>
              <a:t>01/02/2022</a:t>
            </a:fld>
            <a:endParaRPr lang="fr-FR"/>
          </a:p>
        </p:txBody>
      </p:sp>
      <p:sp>
        <p:nvSpPr>
          <p:cNvPr id="2100689157" name="Espace réservé du pied de page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76045206" name="Espace réservé du numéro de diapositive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B4D992-F161-4455-B186-2BFDF7EA604F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u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0644011" name="Titr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351911835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2104238194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574827966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E6439E6-DD8C-4C85-9C7B-9357438C85CB}" type="datetimeFigureOut">
              <a:rPr lang="fr-FR"/>
              <a:t>01/02/2022</a:t>
            </a:fld>
            <a:endParaRPr lang="fr-FR"/>
          </a:p>
        </p:txBody>
      </p:sp>
      <p:sp>
        <p:nvSpPr>
          <p:cNvPr id="1364347475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879263220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B4D992-F161-4455-B186-2BFDF7EA604F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Image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3387067" name="Titr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521016836" name="Espace réservé pour une image 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fr-FR"/>
          </a:p>
        </p:txBody>
      </p:sp>
      <p:sp>
        <p:nvSpPr>
          <p:cNvPr id="494511570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286497593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E6439E6-DD8C-4C85-9C7B-9357438C85CB}" type="datetimeFigureOut">
              <a:rPr lang="fr-FR"/>
              <a:t>01/02/2022</a:t>
            </a:fld>
            <a:endParaRPr lang="fr-FR"/>
          </a:p>
        </p:txBody>
      </p:sp>
      <p:sp>
        <p:nvSpPr>
          <p:cNvPr id="724347407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2055473887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B4D992-F161-4455-B186-2BFDF7EA604F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re et texte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6438877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2028502312" name="Espace réservé du texte vertical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2023933778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E6439E6-DD8C-4C85-9C7B-9357438C85CB}" type="datetimeFigureOut">
              <a:rPr lang="fr-FR"/>
              <a:t>01/02/2022</a:t>
            </a:fld>
            <a:endParaRPr lang="fr-FR"/>
          </a:p>
        </p:txBody>
      </p:sp>
      <p:sp>
        <p:nvSpPr>
          <p:cNvPr id="1854719591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75396930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B4D992-F161-4455-B186-2BFDF7EA604F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Titre vertical et tex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2282900" name="Titre vertica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989214795" name="Espace réservé du texte vertical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1762007869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E6439E6-DD8C-4C85-9C7B-9357438C85CB}" type="datetimeFigureOut">
              <a:rPr lang="fr-FR"/>
              <a:t>01/02/2022</a:t>
            </a:fld>
            <a:endParaRPr lang="fr-FR"/>
          </a:p>
        </p:txBody>
      </p:sp>
      <p:sp>
        <p:nvSpPr>
          <p:cNvPr id="844836722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276682661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B4D992-F161-4455-B186-2BFDF7EA604F}" type="slidenum">
              <a:rPr lang="fr-FR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9989664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306748381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1441064436" name="Espace réservé de la date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E6439E6-DD8C-4C85-9C7B-9357438C85CB}" type="datetimeFigureOut">
              <a:rPr lang="fr-FR"/>
              <a:t>01/02/2022</a:t>
            </a:fld>
            <a:endParaRPr lang="fr-FR"/>
          </a:p>
        </p:txBody>
      </p:sp>
      <p:sp>
        <p:nvSpPr>
          <p:cNvPr id="1265053226" name="Espace réservé du pied de page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18959779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7B4D992-F161-4455-B186-2BFDF7EA604F}" type="slidenum">
              <a:rPr lang="fr-FR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3.jpg"/><Relationship Id="rId6" Type="http://schemas.openxmlformats.org/officeDocument/2006/relationships/image" Target="../media/image4.jpg"/><Relationship Id="rId7" Type="http://schemas.openxmlformats.org/officeDocument/2006/relationships/image" Target="../media/image5.jpg"/><Relationship Id="rId8" Type="http://schemas.openxmlformats.org/officeDocument/2006/relationships/image" Target="../media/image6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2.jpg"/><Relationship Id="rId5" Type="http://schemas.openxmlformats.org/officeDocument/2006/relationships/image" Target="../media/image3.jpg"/><Relationship Id="rId6" Type="http://schemas.openxmlformats.org/officeDocument/2006/relationships/image" Target="../media/image4.jpg"/><Relationship Id="rId7" Type="http://schemas.openxmlformats.org/officeDocument/2006/relationships/image" Target="../media/image5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10.jpg"/><Relationship Id="rId6" Type="http://schemas.openxmlformats.org/officeDocument/2006/relationships/image" Target="../media/image5.jpg"/><Relationship Id="rId7" Type="http://schemas.openxmlformats.org/officeDocument/2006/relationships/image" Target="../media/image11.jpg"/><Relationship Id="rId8" Type="http://schemas.openxmlformats.org/officeDocument/2006/relationships/image" Target="../media/image12.jpg"/><Relationship Id="rId9" Type="http://schemas.openxmlformats.org/officeDocument/2006/relationships/image" Target="../media/image13.jpg"/><Relationship Id="rId10" Type="http://schemas.openxmlformats.org/officeDocument/2006/relationships/image" Target="../media/image14.jpg"/><Relationship Id="rId11" Type="http://schemas.openxmlformats.org/officeDocument/2006/relationships/image" Target="../media/image15.jpg"/><Relationship Id="rId12" Type="http://schemas.openxmlformats.org/officeDocument/2006/relationships/image" Target="../media/image16.jpg"/><Relationship Id="rId13" Type="http://schemas.openxmlformats.org/officeDocument/2006/relationships/image" Target="../media/image17.jpg"/><Relationship Id="rId14" Type="http://schemas.openxmlformats.org/officeDocument/2006/relationships/image" Target="../media/image18.jpg"/><Relationship Id="rId15" Type="http://schemas.openxmlformats.org/officeDocument/2006/relationships/image" Target="../media/image19.jpg"/><Relationship Id="rId16" Type="http://schemas.openxmlformats.org/officeDocument/2006/relationships/image" Target="../media/image2.jpg"/><Relationship Id="rId17" Type="http://schemas.openxmlformats.org/officeDocument/2006/relationships/image" Target="../media/image3.jpg"/><Relationship Id="rId18" Type="http://schemas.openxmlformats.org/officeDocument/2006/relationships/image" Target="../media/image4.jpg"/><Relationship Id="rId19" Type="http://schemas.openxmlformats.org/officeDocument/2006/relationships/image" Target="../media/image20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Relationship Id="rId4" Type="http://schemas.openxmlformats.org/officeDocument/2006/relationships/image" Target="../media/media1.svg"/><Relationship Id="rId5" Type="http://schemas.openxmlformats.org/officeDocument/2006/relationships/image" Target="../media/image22.png"/><Relationship Id="rId6" Type="http://schemas.openxmlformats.org/officeDocument/2006/relationships/image" Target="../media/media2.svg"/><Relationship Id="rId7" Type="http://schemas.openxmlformats.org/officeDocument/2006/relationships/image" Target="../media/image23.png"/><Relationship Id="rId8" Type="http://schemas.openxmlformats.org/officeDocument/2006/relationships/image" Target="../media/media3.svg"/><Relationship Id="rId9" Type="http://schemas.openxmlformats.org/officeDocument/2006/relationships/image" Target="../media/image24.png"/><Relationship Id="rId10" Type="http://schemas.openxmlformats.org/officeDocument/2006/relationships/image" Target="../media/media4.svg"/><Relationship Id="rId11" Type="http://schemas.openxmlformats.org/officeDocument/2006/relationships/image" Target="../media/image25.png"/><Relationship Id="rId12" Type="http://schemas.openxmlformats.org/officeDocument/2006/relationships/image" Target="../media/media5.svg"/><Relationship Id="rId13" Type="http://schemas.openxmlformats.org/officeDocument/2006/relationships/image" Target="../media/image26.png"/><Relationship Id="rId14" Type="http://schemas.openxmlformats.org/officeDocument/2006/relationships/image" Target="../media/media6.svg"/><Relationship Id="rId15" Type="http://schemas.openxmlformats.org/officeDocument/2006/relationships/image" Target="../media/image27.png"/><Relationship Id="rId16" Type="http://schemas.openxmlformats.org/officeDocument/2006/relationships/image" Target="../media/media7.svg"/><Relationship Id="rId17" Type="http://schemas.openxmlformats.org/officeDocument/2006/relationships/image" Target="../media/image28.png"/><Relationship Id="rId18" Type="http://schemas.openxmlformats.org/officeDocument/2006/relationships/image" Target="../media/media8.svg"/><Relationship Id="rId19" Type="http://schemas.openxmlformats.org/officeDocument/2006/relationships/image" Target="../media/image29.png"/><Relationship Id="rId20" Type="http://schemas.openxmlformats.org/officeDocument/2006/relationships/image" Target="../media/media9.svg"/><Relationship Id="rId21" Type="http://schemas.openxmlformats.org/officeDocument/2006/relationships/image" Target="../media/image30.png"/><Relationship Id="rId22" Type="http://schemas.openxmlformats.org/officeDocument/2006/relationships/image" Target="../media/media10.svg"/><Relationship Id="rId23" Type="http://schemas.openxmlformats.org/officeDocument/2006/relationships/image" Target="../media/image31.png"/><Relationship Id="rId24" Type="http://schemas.openxmlformats.org/officeDocument/2006/relationships/image" Target="../media/media11.svg"/><Relationship Id="rId25" Type="http://schemas.openxmlformats.org/officeDocument/2006/relationships/image" Target="../media/image32.png"/><Relationship Id="rId26" Type="http://schemas.openxmlformats.org/officeDocument/2006/relationships/image" Target="../media/media12.sv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jp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6730417" name="Freeform 5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-329674" y="1290909"/>
            <a:ext cx="9702800" cy="5573512"/>
          </a:xfrm>
          <a:custGeom>
            <a:avLst/>
            <a:gdLst>
              <a:gd name="T0" fmla="*/ 1752 w 2038"/>
              <a:gd name="T1" fmla="*/ 1169 h 1169"/>
              <a:gd name="T2" fmla="*/ 1487 w 2038"/>
              <a:gd name="T3" fmla="*/ 334 h 1169"/>
              <a:gd name="T4" fmla="*/ 860 w 2038"/>
              <a:gd name="T5" fmla="*/ 22 h 1169"/>
              <a:gd name="T6" fmla="*/ 199 w 2038"/>
              <a:gd name="T7" fmla="*/ 318 h 1169"/>
              <a:gd name="T8" fmla="*/ 399 w 2038"/>
              <a:gd name="T9" fmla="*/ 1165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38" h="1169" fill="norm" stroke="1" extrusionOk="0">
                <a:moveTo>
                  <a:pt x="1752" y="1169"/>
                </a:moveTo>
                <a:cubicBezTo>
                  <a:pt x="2038" y="928"/>
                  <a:pt x="1673" y="513"/>
                  <a:pt x="1487" y="334"/>
                </a:cubicBezTo>
                <a:cubicBezTo>
                  <a:pt x="1316" y="170"/>
                  <a:pt x="1099" y="43"/>
                  <a:pt x="860" y="22"/>
                </a:cubicBezTo>
                <a:cubicBezTo>
                  <a:pt x="621" y="0"/>
                  <a:pt x="341" y="128"/>
                  <a:pt x="199" y="318"/>
                </a:cubicBezTo>
                <a:cubicBezTo>
                  <a:pt x="0" y="586"/>
                  <a:pt x="184" y="965"/>
                  <a:pt x="399" y="1165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946793872" name="Freeform 6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670451" y="2010741"/>
            <a:ext cx="7373938" cy="4848892"/>
          </a:xfrm>
          <a:custGeom>
            <a:avLst/>
            <a:gdLst>
              <a:gd name="T0" fmla="*/ 1025 w 1549"/>
              <a:gd name="T1" fmla="*/ 1016 h 1017"/>
              <a:gd name="T2" fmla="*/ 1443 w 1549"/>
              <a:gd name="T3" fmla="*/ 592 h 1017"/>
              <a:gd name="T4" fmla="*/ 782 w 1549"/>
              <a:gd name="T5" fmla="*/ 53 h 1017"/>
              <a:gd name="T6" fmla="*/ 150 w 1549"/>
              <a:gd name="T7" fmla="*/ 329 h 1017"/>
              <a:gd name="T8" fmla="*/ 477 w 1549"/>
              <a:gd name="T9" fmla="*/ 1017 h 10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49" h="1017" fill="norm" stroke="1" extrusionOk="0">
                <a:moveTo>
                  <a:pt x="1025" y="1016"/>
                </a:moveTo>
                <a:cubicBezTo>
                  <a:pt x="1223" y="971"/>
                  <a:pt x="1549" y="857"/>
                  <a:pt x="1443" y="592"/>
                </a:cubicBezTo>
                <a:cubicBezTo>
                  <a:pt x="1344" y="344"/>
                  <a:pt x="1041" y="111"/>
                  <a:pt x="782" y="53"/>
                </a:cubicBezTo>
                <a:cubicBezTo>
                  <a:pt x="545" y="0"/>
                  <a:pt x="275" y="117"/>
                  <a:pt x="150" y="329"/>
                </a:cubicBezTo>
                <a:cubicBezTo>
                  <a:pt x="0" y="584"/>
                  <a:pt x="243" y="911"/>
                  <a:pt x="477" y="1017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en-US"/>
          </a:p>
        </p:txBody>
      </p:sp>
      <p:sp>
        <p:nvSpPr>
          <p:cNvPr id="707310103" name="Freeform 7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251350" y="1780905"/>
            <a:ext cx="8035925" cy="5083516"/>
          </a:xfrm>
          <a:custGeom>
            <a:avLst/>
            <a:gdLst>
              <a:gd name="T0" fmla="*/ 1302 w 1688"/>
              <a:gd name="T1" fmla="*/ 1066 h 1066"/>
              <a:gd name="T2" fmla="*/ 1613 w 1688"/>
              <a:gd name="T3" fmla="*/ 850 h 1066"/>
              <a:gd name="T4" fmla="*/ 1517 w 1688"/>
              <a:gd name="T5" fmla="*/ 471 h 1066"/>
              <a:gd name="T6" fmla="*/ 798 w 1688"/>
              <a:gd name="T7" fmla="*/ 28 h 1066"/>
              <a:gd name="T8" fmla="*/ 181 w 1688"/>
              <a:gd name="T9" fmla="*/ 333 h 1066"/>
              <a:gd name="T10" fmla="*/ 420 w 1688"/>
              <a:gd name="T11" fmla="*/ 1066 h 10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688" h="1066" fill="norm" stroke="1" extrusionOk="0">
                <a:moveTo>
                  <a:pt x="1302" y="1066"/>
                </a:moveTo>
                <a:cubicBezTo>
                  <a:pt x="1416" y="1024"/>
                  <a:pt x="1551" y="962"/>
                  <a:pt x="1613" y="850"/>
                </a:cubicBezTo>
                <a:cubicBezTo>
                  <a:pt x="1688" y="715"/>
                  <a:pt x="1606" y="575"/>
                  <a:pt x="1517" y="471"/>
                </a:cubicBezTo>
                <a:cubicBezTo>
                  <a:pt x="1336" y="258"/>
                  <a:pt x="1084" y="62"/>
                  <a:pt x="798" y="28"/>
                </a:cubicBezTo>
                <a:cubicBezTo>
                  <a:pt x="559" y="0"/>
                  <a:pt x="317" y="138"/>
                  <a:pt x="181" y="333"/>
                </a:cubicBezTo>
                <a:cubicBezTo>
                  <a:pt x="0" y="592"/>
                  <a:pt x="191" y="907"/>
                  <a:pt x="420" y="1066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dash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en-US"/>
          </a:p>
        </p:txBody>
      </p:sp>
      <p:sp>
        <p:nvSpPr>
          <p:cNvPr id="954052937" name="Freeform 8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-1061" y="542347"/>
            <a:ext cx="10334625" cy="6322075"/>
          </a:xfrm>
          <a:custGeom>
            <a:avLst/>
            <a:gdLst>
              <a:gd name="T0" fmla="*/ 1873 w 2171"/>
              <a:gd name="T1" fmla="*/ 1326 h 1326"/>
              <a:gd name="T2" fmla="*/ 1609 w 2171"/>
              <a:gd name="T3" fmla="*/ 473 h 1326"/>
              <a:gd name="T4" fmla="*/ 880 w 2171"/>
              <a:gd name="T5" fmla="*/ 63 h 1326"/>
              <a:gd name="T6" fmla="*/ 0 w 2171"/>
              <a:gd name="T7" fmla="*/ 423 h 13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71" h="1326" fill="norm" stroke="1" extrusionOk="0">
                <a:moveTo>
                  <a:pt x="1873" y="1326"/>
                </a:moveTo>
                <a:cubicBezTo>
                  <a:pt x="2171" y="1045"/>
                  <a:pt x="1825" y="678"/>
                  <a:pt x="1609" y="473"/>
                </a:cubicBezTo>
                <a:cubicBezTo>
                  <a:pt x="1406" y="281"/>
                  <a:pt x="1159" y="116"/>
                  <a:pt x="880" y="63"/>
                </a:cubicBezTo>
                <a:cubicBezTo>
                  <a:pt x="545" y="0"/>
                  <a:pt x="214" y="161"/>
                  <a:pt x="0" y="423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en-US"/>
          </a:p>
        </p:txBody>
      </p:sp>
      <p:sp>
        <p:nvSpPr>
          <p:cNvPr id="392508730" name="Freeform 9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3701" y="6178751"/>
            <a:ext cx="504825" cy="681527"/>
          </a:xfrm>
          <a:custGeom>
            <a:avLst/>
            <a:gdLst>
              <a:gd name="T0" fmla="*/ 0 w 106"/>
              <a:gd name="T1" fmla="*/ 0 h 143"/>
              <a:gd name="T2" fmla="*/ 106 w 106"/>
              <a:gd name="T3" fmla="*/ 143 h 14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06" h="143" fill="norm" stroke="1" extrusionOk="0">
                <a:moveTo>
                  <a:pt x="0" y="0"/>
                </a:moveTo>
                <a:cubicBezTo>
                  <a:pt x="35" y="54"/>
                  <a:pt x="70" y="101"/>
                  <a:pt x="106" y="143"/>
                </a:cubicBezTo>
              </a:path>
            </a:pathLst>
          </a:custGeom>
          <a:noFill/>
          <a:ln w="4763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en-US"/>
          </a:p>
        </p:txBody>
      </p:sp>
      <p:sp>
        <p:nvSpPr>
          <p:cNvPr id="429557273" name="Freeform 10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-1061" y="-59376"/>
            <a:ext cx="11091863" cy="6923796"/>
          </a:xfrm>
          <a:custGeom>
            <a:avLst/>
            <a:gdLst>
              <a:gd name="T0" fmla="*/ 2046 w 2330"/>
              <a:gd name="T1" fmla="*/ 1452 h 1452"/>
              <a:gd name="T2" fmla="*/ 1813 w 2330"/>
              <a:gd name="T3" fmla="*/ 601 h 1452"/>
              <a:gd name="T4" fmla="*/ 956 w 2330"/>
              <a:gd name="T5" fmla="*/ 97 h 1452"/>
              <a:gd name="T6" fmla="*/ 0 w 2330"/>
              <a:gd name="T7" fmla="*/ 366 h 14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30" h="1452" fill="norm" stroke="1" extrusionOk="0">
                <a:moveTo>
                  <a:pt x="2046" y="1452"/>
                </a:moveTo>
                <a:cubicBezTo>
                  <a:pt x="2330" y="1153"/>
                  <a:pt x="2049" y="821"/>
                  <a:pt x="1813" y="601"/>
                </a:cubicBezTo>
                <a:cubicBezTo>
                  <a:pt x="1569" y="375"/>
                  <a:pt x="1282" y="179"/>
                  <a:pt x="956" y="97"/>
                </a:cubicBezTo>
                <a:cubicBezTo>
                  <a:pt x="572" y="0"/>
                  <a:pt x="292" y="101"/>
                  <a:pt x="0" y="366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486241582" name="Freeform 12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-1061" y="-1916"/>
            <a:ext cx="1057275" cy="614491"/>
          </a:xfrm>
          <a:custGeom>
            <a:avLst/>
            <a:gdLst>
              <a:gd name="T0" fmla="*/ 222 w 222"/>
              <a:gd name="T1" fmla="*/ 0 h 129"/>
              <a:gd name="T2" fmla="*/ 0 w 222"/>
              <a:gd name="T3" fmla="*/ 129 h 12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22" h="129" fill="norm" stroke="1" extrusionOk="0">
                <a:moveTo>
                  <a:pt x="222" y="0"/>
                </a:moveTo>
                <a:cubicBezTo>
                  <a:pt x="152" y="35"/>
                  <a:pt x="76" y="78"/>
                  <a:pt x="0" y="129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en-US"/>
          </a:p>
        </p:txBody>
      </p:sp>
      <p:sp>
        <p:nvSpPr>
          <p:cNvPr id="54255503" name="Freeform 14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3701" y="-6705"/>
            <a:ext cx="595313" cy="352734"/>
          </a:xfrm>
          <a:custGeom>
            <a:avLst/>
            <a:gdLst>
              <a:gd name="T0" fmla="*/ 125 w 125"/>
              <a:gd name="T1" fmla="*/ 0 h 74"/>
              <a:gd name="T2" fmla="*/ 0 w 125"/>
              <a:gd name="T3" fmla="*/ 74 h 7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25" h="74" fill="norm" stroke="1" extrusionOk="0">
                <a:moveTo>
                  <a:pt x="125" y="0"/>
                </a:moveTo>
                <a:cubicBezTo>
                  <a:pt x="85" y="22"/>
                  <a:pt x="43" y="47"/>
                  <a:pt x="0" y="74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dash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en-US"/>
          </a:p>
        </p:txBody>
      </p:sp>
      <p:sp>
        <p:nvSpPr>
          <p:cNvPr id="567633781" name="Freeform 16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-1061" y="-1916"/>
            <a:ext cx="357188" cy="213875"/>
          </a:xfrm>
          <a:custGeom>
            <a:avLst/>
            <a:gdLst>
              <a:gd name="T0" fmla="*/ 75 w 75"/>
              <a:gd name="T1" fmla="*/ 0 h 45"/>
              <a:gd name="T2" fmla="*/ 0 w 75"/>
              <a:gd name="T3" fmla="*/ 45 h 4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5" h="45" fill="norm" stroke="1" extrusionOk="0">
                <a:moveTo>
                  <a:pt x="75" y="0"/>
                </a:moveTo>
                <a:cubicBezTo>
                  <a:pt x="50" y="14"/>
                  <a:pt x="25" y="29"/>
                  <a:pt x="0" y="45"/>
                </a:cubicBezTo>
              </a:path>
            </a:pathLst>
          </a:custGeom>
          <a:noFill/>
          <a:ln w="12700" cap="flat">
            <a:solidFill>
              <a:schemeClr val="tx1">
                <a:alpha val="20000"/>
              </a:schemeClr>
            </a:solidFill>
            <a:prstDash val="dashDot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53927315" name="Freeform 11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5426601" y="-1916"/>
            <a:ext cx="5788025" cy="6847184"/>
          </a:xfrm>
          <a:custGeom>
            <a:avLst/>
            <a:gdLst>
              <a:gd name="T0" fmla="*/ 1094 w 1216"/>
              <a:gd name="T1" fmla="*/ 1436 h 1436"/>
              <a:gd name="T2" fmla="*/ 709 w 1216"/>
              <a:gd name="T3" fmla="*/ 551 h 1436"/>
              <a:gd name="T4" fmla="*/ 0 w 1216"/>
              <a:gd name="T5" fmla="*/ 0 h 1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216" h="1436" fill="norm" stroke="1" extrusionOk="0">
                <a:moveTo>
                  <a:pt x="1094" y="1436"/>
                </a:moveTo>
                <a:cubicBezTo>
                  <a:pt x="1216" y="1114"/>
                  <a:pt x="904" y="770"/>
                  <a:pt x="709" y="551"/>
                </a:cubicBezTo>
                <a:cubicBezTo>
                  <a:pt x="509" y="327"/>
                  <a:pt x="274" y="127"/>
                  <a:pt x="0" y="0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219703924" name="Freeform 21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9235014" y="2872"/>
            <a:ext cx="2951163" cy="2555325"/>
          </a:xfrm>
          <a:custGeom>
            <a:avLst/>
            <a:gdLst>
              <a:gd name="T0" fmla="*/ 620 w 620"/>
              <a:gd name="T1" fmla="*/ 536 h 536"/>
              <a:gd name="T2" fmla="*/ 0 w 620"/>
              <a:gd name="T3" fmla="*/ 0 h 53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620" h="536" fill="norm" stroke="1" extrusionOk="0">
                <a:moveTo>
                  <a:pt x="620" y="536"/>
                </a:moveTo>
                <a:cubicBezTo>
                  <a:pt x="404" y="314"/>
                  <a:pt x="196" y="138"/>
                  <a:pt x="0" y="0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715455510" name="Freeform 22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10020826" y="-1916"/>
            <a:ext cx="2165350" cy="1358265"/>
          </a:xfrm>
          <a:custGeom>
            <a:avLst/>
            <a:gdLst>
              <a:gd name="T0" fmla="*/ 0 w 455"/>
              <a:gd name="T1" fmla="*/ 0 h 285"/>
              <a:gd name="T2" fmla="*/ 455 w 455"/>
              <a:gd name="T3" fmla="*/ 285 h 28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455" h="285" fill="norm" stroke="1" extrusionOk="0">
                <a:moveTo>
                  <a:pt x="0" y="0"/>
                </a:moveTo>
                <a:cubicBezTo>
                  <a:pt x="153" y="85"/>
                  <a:pt x="308" y="180"/>
                  <a:pt x="455" y="285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dash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195514270" name="Freeform 23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11290826" y="-1916"/>
            <a:ext cx="895350" cy="534687"/>
          </a:xfrm>
          <a:custGeom>
            <a:avLst/>
            <a:gdLst>
              <a:gd name="T0" fmla="*/ 0 w 188"/>
              <a:gd name="T1" fmla="*/ 0 h 112"/>
              <a:gd name="T2" fmla="*/ 188 w 188"/>
              <a:gd name="T3" fmla="*/ 112 h 112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88" h="112" fill="norm" stroke="1" extrusionOk="0">
                <a:moveTo>
                  <a:pt x="0" y="0"/>
                </a:moveTo>
                <a:cubicBezTo>
                  <a:pt x="63" y="36"/>
                  <a:pt x="126" y="73"/>
                  <a:pt x="188" y="112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800304995" name="Freeform: Shape 88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 rot="20931529">
            <a:off x="752078" y="2218040"/>
            <a:ext cx="4418757" cy="4259609"/>
          </a:xfrm>
          <a:custGeom>
            <a:avLst/>
            <a:gdLst>
              <a:gd name="connsiteX0" fmla="*/ 404107 w 4507111"/>
              <a:gd name="connsiteY0" fmla="*/ 0 h 4344781"/>
              <a:gd name="connsiteX1" fmla="*/ 371857 w 4507111"/>
              <a:gd name="connsiteY1" fmla="*/ 117359 h 4344781"/>
              <a:gd name="connsiteX2" fmla="*/ 307833 w 4507111"/>
              <a:gd name="connsiteY2" fmla="*/ 632970 h 4344781"/>
              <a:gd name="connsiteX3" fmla="*/ 3569418 w 4507111"/>
              <a:gd name="connsiteY3" fmla="*/ 4141149 h 4344781"/>
              <a:gd name="connsiteX4" fmla="*/ 4440861 w 4507111"/>
              <a:gd name="connsiteY4" fmla="*/ 4332480 h 4344781"/>
              <a:gd name="connsiteX5" fmla="*/ 4507111 w 4507111"/>
              <a:gd name="connsiteY5" fmla="*/ 4341752 h 4344781"/>
              <a:gd name="connsiteX6" fmla="*/ 4296045 w 4507111"/>
              <a:gd name="connsiteY6" fmla="*/ 4344781 h 4344781"/>
              <a:gd name="connsiteX7" fmla="*/ 3749565 w 4507111"/>
              <a:gd name="connsiteY7" fmla="*/ 4321853 h 4344781"/>
              <a:gd name="connsiteX8" fmla="*/ 36764 w 4507111"/>
              <a:gd name="connsiteY8" fmla="*/ 1629794 h 4344781"/>
              <a:gd name="connsiteX9" fmla="*/ 300069 w 4507111"/>
              <a:gd name="connsiteY9" fmla="*/ 144750 h 4344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07111" h="4344781" fill="norm" stroke="1" extrusionOk="0">
                <a:moveTo>
                  <a:pt x="404107" y="0"/>
                </a:moveTo>
                <a:lnTo>
                  <a:pt x="371857" y="117359"/>
                </a:lnTo>
                <a:cubicBezTo>
                  <a:pt x="333827" y="278567"/>
                  <a:pt x="311875" y="450459"/>
                  <a:pt x="307833" y="632970"/>
                </a:cubicBezTo>
                <a:cubicBezTo>
                  <a:pt x="264711" y="2579752"/>
                  <a:pt x="2253987" y="3769243"/>
                  <a:pt x="3569418" y="4141149"/>
                </a:cubicBezTo>
                <a:cubicBezTo>
                  <a:pt x="3816061" y="4210881"/>
                  <a:pt x="4114807" y="4279754"/>
                  <a:pt x="4440861" y="4332480"/>
                </a:cubicBezTo>
                <a:lnTo>
                  <a:pt x="4507111" y="4341752"/>
                </a:lnTo>
                <a:lnTo>
                  <a:pt x="4296045" y="4344781"/>
                </a:lnTo>
                <a:cubicBezTo>
                  <a:pt x="4097363" y="4343711"/>
                  <a:pt x="3912623" y="4335104"/>
                  <a:pt x="3749565" y="4321853"/>
                </a:cubicBezTo>
                <a:cubicBezTo>
                  <a:pt x="2445102" y="4215850"/>
                  <a:pt x="356405" y="3466499"/>
                  <a:pt x="36764" y="1629794"/>
                </a:cubicBezTo>
                <a:cubicBezTo>
                  <a:pt x="-63123" y="1055823"/>
                  <a:pt x="45741" y="555869"/>
                  <a:pt x="300069" y="144750"/>
                </a:cubicBezTo>
                <a:close/>
              </a:path>
            </a:pathLst>
          </a:cu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800" b="0" i="0" u="none" strike="noStrike" cap="none" spc="0">
              <a:ln>
                <a:noFill/>
              </a:ln>
              <a:solidFill>
                <a:prstClr val="white"/>
              </a:solidFill>
              <a:latin typeface="Rockwell"/>
              <a:ea typeface="+mn-ea"/>
              <a:cs typeface="+mn-cs"/>
            </a:endParaRPr>
          </a:p>
        </p:txBody>
      </p:sp>
      <p:pic>
        <p:nvPicPr>
          <p:cNvPr id="829233963" name="Image 35" descr="Une image contenant texte, clipart&#10;&#10;Description générée automatiquement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9872981" y="6233384"/>
            <a:ext cx="789196" cy="286130"/>
          </a:xfrm>
          <a:prstGeom prst="rect">
            <a:avLst/>
          </a:prstGeom>
        </p:spPr>
      </p:pic>
      <p:sp>
        <p:nvSpPr>
          <p:cNvPr id="576247058" name="Titre 1"/>
          <p:cNvSpPr txBox="1"/>
          <p:nvPr/>
        </p:nvSpPr>
        <p:spPr bwMode="auto">
          <a:xfrm>
            <a:off x="108733" y="1156837"/>
            <a:ext cx="5440734" cy="398694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fr-FR" sz="9000" b="1">
                <a:solidFill>
                  <a:schemeClr val="accent2"/>
                </a:solidFill>
              </a:rPr>
              <a:t>#</a:t>
            </a:r>
            <a:r>
              <a:rPr lang="fr-FR" sz="9000" b="1">
                <a:solidFill>
                  <a:schemeClr val="accent1"/>
                </a:solidFill>
              </a:rPr>
              <a:t>OSG</a:t>
            </a:r>
            <a:endParaRPr/>
          </a:p>
          <a:p>
            <a:pPr>
              <a:defRPr/>
            </a:pPr>
            <a:r>
              <a:rPr lang="fr-FR" sz="9000" i="1">
                <a:solidFill>
                  <a:srgbClr val="000000"/>
                </a:solidFill>
              </a:rPr>
              <a:t>Workshop </a:t>
            </a:r>
            <a:r>
              <a:rPr lang="fr-FR" sz="9000" i="1">
                <a:solidFill>
                  <a:srgbClr val="ED7D31"/>
                </a:solidFill>
              </a:rPr>
              <a:t>Design </a:t>
            </a:r>
            <a:r>
              <a:rPr lang="fr-FR" sz="9000" i="1">
                <a:solidFill>
                  <a:srgbClr val="0099CC"/>
                </a:solidFill>
              </a:rPr>
              <a:t>Cards</a:t>
            </a:r>
            <a:endParaRPr/>
          </a:p>
        </p:txBody>
      </p:sp>
      <p:sp>
        <p:nvSpPr>
          <p:cNvPr id="295076491" name="Titre 1"/>
          <p:cNvSpPr txBox="1"/>
          <p:nvPr/>
        </p:nvSpPr>
        <p:spPr bwMode="auto">
          <a:xfrm>
            <a:off x="4275838" y="4843363"/>
            <a:ext cx="6362185" cy="75794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7500" lnSpcReduction="20000"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defRPr/>
            </a:pPr>
            <a:r>
              <a:rPr lang="fr-FR" b="1" i="1">
                <a:solidFill>
                  <a:srgbClr val="0099CC"/>
                </a:solidFill>
              </a:rPr>
              <a:t>CONCEVEZ</a:t>
            </a:r>
            <a:r>
              <a:rPr lang="fr-FR" i="1">
                <a:solidFill>
                  <a:srgbClr val="000000"/>
                </a:solidFill>
              </a:rPr>
              <a:t> des </a:t>
            </a:r>
            <a:r>
              <a:rPr lang="fr-FR" b="1" i="1">
                <a:solidFill>
                  <a:srgbClr val="ED7D31"/>
                </a:solidFill>
              </a:rPr>
              <a:t>ATELIERS </a:t>
            </a:r>
            <a:r>
              <a:rPr lang="fr-FR" i="1"/>
              <a:t>d’intelligence collective par petits éléments</a:t>
            </a:r>
            <a:endParaRPr/>
          </a:p>
        </p:txBody>
      </p:sp>
      <p:grpSp>
        <p:nvGrpSpPr>
          <p:cNvPr id="460125278" name="Groupe 9"/>
          <p:cNvGrpSpPr/>
          <p:nvPr/>
        </p:nvGrpSpPr>
        <p:grpSpPr bwMode="auto">
          <a:xfrm rot="664616">
            <a:off x="6396100" y="499924"/>
            <a:ext cx="4198786" cy="4213689"/>
            <a:chOff x="6396100" y="499924"/>
            <a:chExt cx="4198786" cy="4213689"/>
          </a:xfrm>
        </p:grpSpPr>
        <p:pic>
          <p:nvPicPr>
            <p:cNvPr id="9" name="Image 8" descr="Une image contenant texte&#10;&#10;Description générée automatiquement"/>
            <p:cNvPicPr>
              <a:picLocks noChangeAspect="1"/>
            </p:cNvPicPr>
            <p:nvPr/>
          </p:nvPicPr>
          <p:blipFill rotWithShape="1">
            <a:blip r:embed="rId4"/>
            <a:stretch/>
          </p:blipFill>
          <p:spPr bwMode="auto">
            <a:xfrm rot="1525759">
              <a:off x="7983386" y="499924"/>
              <a:ext cx="2611500" cy="3653246"/>
            </a:xfrm>
            <a:prstGeom prst="rect">
              <a:avLst/>
            </a:prstGeom>
          </p:spPr>
        </p:pic>
        <p:pic>
          <p:nvPicPr>
            <p:cNvPr id="3" name="Image 2" descr="Une image contenant texte&#10;&#10;Description générée automatiquement"/>
            <p:cNvPicPr>
              <a:picLocks noChangeAspect="1"/>
            </p:cNvPicPr>
            <p:nvPr/>
          </p:nvPicPr>
          <p:blipFill rotWithShape="1">
            <a:blip r:embed="rId5"/>
            <a:stretch/>
          </p:blipFill>
          <p:spPr bwMode="auto">
            <a:xfrm rot="1787985">
              <a:off x="7043795" y="711792"/>
              <a:ext cx="2308594" cy="3229510"/>
            </a:xfrm>
            <a:prstGeom prst="rect">
              <a:avLst/>
            </a:prstGeom>
          </p:spPr>
        </p:pic>
        <p:pic>
          <p:nvPicPr>
            <p:cNvPr id="5" name="Image 4" descr="Une image contenant texte&#10;&#10;Description générée automatiquement"/>
            <p:cNvPicPr>
              <a:picLocks noChangeAspect="1"/>
            </p:cNvPicPr>
            <p:nvPr/>
          </p:nvPicPr>
          <p:blipFill rotWithShape="1">
            <a:blip r:embed="rId6"/>
            <a:stretch/>
          </p:blipFill>
          <p:spPr bwMode="auto">
            <a:xfrm rot="674423">
              <a:off x="6518806" y="1141548"/>
              <a:ext cx="2070691" cy="2896705"/>
            </a:xfrm>
            <a:prstGeom prst="rect">
              <a:avLst/>
            </a:prstGeom>
          </p:spPr>
        </p:pic>
        <p:pic>
          <p:nvPicPr>
            <p:cNvPr id="7" name="Image 6" descr="Une image contenant texte&#10;&#10;Description générée automatiquement"/>
            <p:cNvPicPr>
              <a:picLocks noChangeAspect="1"/>
            </p:cNvPicPr>
            <p:nvPr/>
          </p:nvPicPr>
          <p:blipFill rotWithShape="1">
            <a:blip r:embed="rId7"/>
            <a:stretch/>
          </p:blipFill>
          <p:spPr bwMode="auto">
            <a:xfrm rot="20089221">
              <a:off x="6396100" y="1835430"/>
              <a:ext cx="2057451" cy="2878183"/>
            </a:xfrm>
            <a:prstGeom prst="rect">
              <a:avLst/>
            </a:prstGeom>
          </p:spPr>
        </p:pic>
      </p:grpSp>
      <p:pic>
        <p:nvPicPr>
          <p:cNvPr id="1721254134" name="Image 11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10763025" y="5399625"/>
            <a:ext cx="1152995" cy="11123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0" advClick="1" advTm="14392"/>
    </mc:Choice>
    <mc:Fallback>
      <p:transition advClick="1" advTm="1439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7839302" name="Rectangle 21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1" y="0"/>
            <a:ext cx="5614875" cy="6858000"/>
          </a:xfrm>
          <a:prstGeom prst="rect">
            <a:avLst/>
          </a:prstGeom>
          <a:gradFill>
            <a:gsLst>
              <a:gs pos="0">
                <a:schemeClr val="accent1">
                  <a:lumMod val="100000"/>
                  <a:alpha val="82000"/>
                </a:schemeClr>
              </a:gs>
              <a:gs pos="25000">
                <a:schemeClr val="accent1">
                  <a:alpha val="60000"/>
                </a:schemeClr>
              </a:gs>
              <a:gs pos="94000">
                <a:schemeClr val="bg2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pic>
        <p:nvPicPr>
          <p:cNvPr id="1333152137" name="Picture 23"/>
          <p:cNvPicPr>
            <a:picLocks noAdjustHandles="1" noChangeAspect="1" noChangeArrowheads="1" noChangeShapeType="1" noEditPoints="1" noGrp="1" noMove="1" noResize="1" noRot="1" noCrop="1"/>
          </p:cNvPicPr>
          <p:nvPr/>
        </p:nvPicPr>
        <p:blipFill rotWithShape="1">
          <a:blip r:embed="rId3"/>
          <a:stretch/>
        </p:blipFill>
        <p:spPr bwMode="auto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992697933" name="Titre 1"/>
          <p:cNvSpPr>
            <a:spLocks noGrp="1"/>
          </p:cNvSpPr>
          <p:nvPr>
            <p:ph type="title"/>
          </p:nvPr>
        </p:nvSpPr>
        <p:spPr bwMode="auto"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fr-FR">
                <a:solidFill>
                  <a:srgbClr val="000000"/>
                </a:solidFill>
              </a:rPr>
              <a:t>Pitch</a:t>
            </a:r>
            <a:endParaRPr/>
          </a:p>
        </p:txBody>
      </p:sp>
      <p:sp>
        <p:nvSpPr>
          <p:cNvPr id="1211712337" name="Freeform 62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0" y="738619"/>
            <a:ext cx="5000438" cy="5400962"/>
          </a:xfrm>
          <a:custGeom>
            <a:avLst/>
            <a:gdLst>
              <a:gd name="connsiteX0" fmla="*/ 2299956 w 5000438"/>
              <a:gd name="connsiteY0" fmla="*/ 0 h 5400962"/>
              <a:gd name="connsiteX1" fmla="*/ 5000438 w 5000438"/>
              <a:gd name="connsiteY1" fmla="*/ 2700481 h 5400962"/>
              <a:gd name="connsiteX2" fmla="*/ 2299956 w 5000438"/>
              <a:gd name="connsiteY2" fmla="*/ 5400962 h 5400962"/>
              <a:gd name="connsiteX3" fmla="*/ 60675 w 5000438"/>
              <a:gd name="connsiteY3" fmla="*/ 4210346 h 5400962"/>
              <a:gd name="connsiteX4" fmla="*/ 0 w 5000438"/>
              <a:gd name="connsiteY4" fmla="*/ 4110472 h 5400962"/>
              <a:gd name="connsiteX5" fmla="*/ 0 w 5000438"/>
              <a:gd name="connsiteY5" fmla="*/ 1290491 h 5400962"/>
              <a:gd name="connsiteX6" fmla="*/ 60675 w 5000438"/>
              <a:gd name="connsiteY6" fmla="*/ 1190617 h 5400962"/>
              <a:gd name="connsiteX7" fmla="*/ 2299956 w 5000438"/>
              <a:gd name="connsiteY7" fmla="*/ 0 h 540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00438" h="5400962" fill="norm" stroke="1" extrusionOk="0">
                <a:moveTo>
                  <a:pt x="2299956" y="0"/>
                </a:moveTo>
                <a:cubicBezTo>
                  <a:pt x="3791390" y="0"/>
                  <a:pt x="5000438" y="1209047"/>
                  <a:pt x="5000438" y="2700481"/>
                </a:cubicBezTo>
                <a:cubicBezTo>
                  <a:pt x="5000438" y="4191915"/>
                  <a:pt x="3791390" y="5400962"/>
                  <a:pt x="2299956" y="5400962"/>
                </a:cubicBezTo>
                <a:cubicBezTo>
                  <a:pt x="1367810" y="5400962"/>
                  <a:pt x="545971" y="4928678"/>
                  <a:pt x="60675" y="4210346"/>
                </a:cubicBezTo>
                <a:lnTo>
                  <a:pt x="0" y="4110472"/>
                </a:lnTo>
                <a:lnTo>
                  <a:pt x="0" y="1290491"/>
                </a:lnTo>
                <a:lnTo>
                  <a:pt x="60675" y="1190617"/>
                </a:lnTo>
                <a:cubicBezTo>
                  <a:pt x="545971" y="472284"/>
                  <a:pt x="1367810" y="0"/>
                  <a:pt x="229995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en-US"/>
          </a:p>
        </p:txBody>
      </p:sp>
      <p:sp>
        <p:nvSpPr>
          <p:cNvPr id="247626768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6094503" y="2158351"/>
            <a:ext cx="4977578" cy="42424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  <a:defRPr/>
            </a:pPr>
            <a:r>
              <a:rPr lang="fr-FR" sz="1100">
                <a:solidFill>
                  <a:srgbClr val="000000"/>
                </a:solidFill>
                <a:cs typeface="Calibri"/>
              </a:rPr>
              <a:t>« Je dois créer un atelier, mais je ne sais pas par quel bout commencer ! Et les ateliers tout prêts ne correspondent jamais vraiment à mon besoin»</a:t>
            </a:r>
            <a:endParaRPr/>
          </a:p>
          <a:p>
            <a:pPr marL="0" indent="0">
              <a:buNone/>
              <a:defRPr/>
            </a:pPr>
            <a:r>
              <a:rPr lang="fr-FR" sz="1100">
                <a:solidFill>
                  <a:srgbClr val="000000"/>
                </a:solidFill>
                <a:cs typeface="Calibri"/>
              </a:rPr>
              <a:t>Vous êtes formateurs, animateurs de groupes de travail, facilitateurs, coachs, managers, et responsables de faire travailler en intelligence collective ? </a:t>
            </a:r>
            <a:endParaRPr/>
          </a:p>
          <a:p>
            <a:pPr marL="0" indent="0">
              <a:buNone/>
              <a:defRPr/>
            </a:pPr>
            <a:r>
              <a:rPr lang="fr-FR" sz="1100">
                <a:solidFill>
                  <a:srgbClr val="000000"/>
                </a:solidFill>
                <a:cs typeface="Calibri"/>
              </a:rPr>
              <a:t>Vous ne souhaitez plus réutiliser des ateliers tout prêts, qui ne correspondent jamais vraiment à votre besoin, et souhaitez apprendre comment VOUS-MÊME en créer un ?</a:t>
            </a:r>
            <a:endParaRPr/>
          </a:p>
          <a:p>
            <a:pPr marL="0" indent="0">
              <a:buNone/>
              <a:defRPr/>
            </a:pPr>
            <a:r>
              <a:rPr lang="fr-FR" sz="1100">
                <a:solidFill>
                  <a:srgbClr val="000000"/>
                </a:solidFill>
                <a:cs typeface="Calibri"/>
              </a:rPr>
              <a:t>Vous avez une idée des participants, des contraintes horaires, une intention de résultat, mais vous ne savez pas comment convertir tout cela en déroulement CONCRET !</a:t>
            </a:r>
            <a:endParaRPr/>
          </a:p>
          <a:p>
            <a:pPr marL="0" indent="0">
              <a:buNone/>
              <a:defRPr/>
            </a:pPr>
            <a:r>
              <a:rPr lang="fr-FR" sz="1100">
                <a:solidFill>
                  <a:srgbClr val="000000"/>
                </a:solidFill>
                <a:cs typeface="Calibri"/>
              </a:rPr>
              <a:t>Par quel bout s’y prendre ? Quels sont les usages courants ? Où trouver des exemples qui vous correspondent ? </a:t>
            </a:r>
            <a:endParaRPr/>
          </a:p>
          <a:p>
            <a:pPr marL="0" indent="0">
              <a:buNone/>
              <a:defRPr/>
            </a:pPr>
            <a:r>
              <a:rPr lang="fr-FR" sz="1100">
                <a:solidFill>
                  <a:srgbClr val="000000"/>
                </a:solidFill>
                <a:cs typeface="Calibri"/>
              </a:rPr>
              <a:t>Conçues après des années à créer des ateliers d’intelligence collective, à les animer, à les modifier, les Workshops Design Cards sont des cartes qui vous aident à cadrer chaque partie de votre atelier, à identifier quel ingrédient s’utilise dans quel but, et à CONSTRUIRE votre atelier d’intelligence collective !</a:t>
            </a:r>
            <a:endParaRPr/>
          </a:p>
          <a:p>
            <a:pPr marL="0" indent="0">
              <a:buNone/>
              <a:defRPr/>
            </a:pPr>
            <a:r>
              <a:rPr lang="fr-FR" sz="1100">
                <a:solidFill>
                  <a:srgbClr val="000000"/>
                </a:solidFill>
                <a:cs typeface="Calibri"/>
              </a:rPr>
              <a:t>Disposez vos éléments un par un sur une ligne de temps selon vos objectifs, ajustez les détails, et hop, un atelier tout prêt à être exécuté !</a:t>
            </a:r>
            <a:endParaRPr/>
          </a:p>
          <a:p>
            <a:pPr marL="0" indent="0">
              <a:buNone/>
              <a:defRPr/>
            </a:pPr>
            <a:endParaRPr lang="fr-FR" sz="1100">
              <a:solidFill>
                <a:srgbClr val="000000"/>
              </a:solidFill>
              <a:cs typeface="Calibri"/>
            </a:endParaRPr>
          </a:p>
          <a:p>
            <a:pPr marL="0" indent="0">
              <a:buNone/>
              <a:defRPr/>
            </a:pPr>
            <a:r>
              <a:rPr lang="fr-FR" sz="1100">
                <a:solidFill>
                  <a:srgbClr val="000000"/>
                </a:solidFill>
                <a:cs typeface="Calibri"/>
              </a:rPr>
              <a:t>Usage recommandé avec des outils de mur virtuel </a:t>
            </a:r>
            <a:endParaRPr/>
          </a:p>
        </p:txBody>
      </p:sp>
      <p:grpSp>
        <p:nvGrpSpPr>
          <p:cNvPr id="1532403216" name="Groupe 6"/>
          <p:cNvGrpSpPr/>
          <p:nvPr/>
        </p:nvGrpSpPr>
        <p:grpSpPr bwMode="auto">
          <a:xfrm rot="664616">
            <a:off x="499513" y="1708873"/>
            <a:ext cx="3828305" cy="3841893"/>
            <a:chOff x="6396100" y="499924"/>
            <a:chExt cx="4198786" cy="4213689"/>
          </a:xfrm>
        </p:grpSpPr>
        <p:pic>
          <p:nvPicPr>
            <p:cNvPr id="8" name="Image 7" descr="Une image contenant texte&#10;&#10;Description générée automatiquement"/>
            <p:cNvPicPr>
              <a:picLocks noChangeAspect="1"/>
            </p:cNvPicPr>
            <p:nvPr/>
          </p:nvPicPr>
          <p:blipFill rotWithShape="1">
            <a:blip r:embed="rId4"/>
            <a:stretch/>
          </p:blipFill>
          <p:spPr bwMode="auto">
            <a:xfrm rot="1525759">
              <a:off x="7983386" y="499924"/>
              <a:ext cx="2611500" cy="3653246"/>
            </a:xfrm>
            <a:prstGeom prst="rect">
              <a:avLst/>
            </a:prstGeom>
          </p:spPr>
        </p:pic>
        <p:pic>
          <p:nvPicPr>
            <p:cNvPr id="9" name="Image 8" descr="Une image contenant texte&#10;&#10;Description générée automatiquement"/>
            <p:cNvPicPr>
              <a:picLocks noChangeAspect="1"/>
            </p:cNvPicPr>
            <p:nvPr/>
          </p:nvPicPr>
          <p:blipFill rotWithShape="1">
            <a:blip r:embed="rId5"/>
            <a:stretch/>
          </p:blipFill>
          <p:spPr bwMode="auto">
            <a:xfrm rot="1787985">
              <a:off x="7043795" y="711792"/>
              <a:ext cx="2308594" cy="3229510"/>
            </a:xfrm>
            <a:prstGeom prst="rect">
              <a:avLst/>
            </a:prstGeom>
          </p:spPr>
        </p:pic>
        <p:pic>
          <p:nvPicPr>
            <p:cNvPr id="10" name="Image 9" descr="Une image contenant texte&#10;&#10;Description générée automatiquement"/>
            <p:cNvPicPr>
              <a:picLocks noChangeAspect="1"/>
            </p:cNvPicPr>
            <p:nvPr/>
          </p:nvPicPr>
          <p:blipFill rotWithShape="1">
            <a:blip r:embed="rId6"/>
            <a:stretch/>
          </p:blipFill>
          <p:spPr bwMode="auto">
            <a:xfrm rot="674423">
              <a:off x="6518806" y="1141548"/>
              <a:ext cx="2070691" cy="2896705"/>
            </a:xfrm>
            <a:prstGeom prst="rect">
              <a:avLst/>
            </a:prstGeom>
          </p:spPr>
        </p:pic>
        <p:pic>
          <p:nvPicPr>
            <p:cNvPr id="11" name="Image 10" descr="Une image contenant texte&#10;&#10;Description générée automatiquement"/>
            <p:cNvPicPr>
              <a:picLocks noChangeAspect="1"/>
            </p:cNvPicPr>
            <p:nvPr/>
          </p:nvPicPr>
          <p:blipFill rotWithShape="1">
            <a:blip r:embed="rId7"/>
            <a:stretch/>
          </p:blipFill>
          <p:spPr bwMode="auto">
            <a:xfrm rot="20089221">
              <a:off x="6396100" y="1835430"/>
              <a:ext cx="2057451" cy="2878183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0" advClick="1" advTm="68033"/>
    </mc:Choice>
    <mc:Fallback>
      <p:transition advClick="1" advTm="6803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3063884" name="Titre 1"/>
          <p:cNvSpPr>
            <a:spLocks noGrp="1"/>
          </p:cNvSpPr>
          <p:nvPr>
            <p:ph type="title"/>
          </p:nvPr>
        </p:nvSpPr>
        <p:spPr bwMode="auto">
          <a:xfrm>
            <a:off x="838200" y="365126"/>
            <a:ext cx="10515600" cy="466444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fr-FR" sz="3200"/>
              <a:t>Comment utiliser les #OSG Workshop Design Cards ? </a:t>
            </a:r>
            <a:endParaRPr/>
          </a:p>
        </p:txBody>
      </p:sp>
      <p:sp>
        <p:nvSpPr>
          <p:cNvPr id="387757872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697106" y="5944150"/>
            <a:ext cx="2574841" cy="67288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  <a:defRPr/>
            </a:pPr>
            <a:r>
              <a:rPr lang="fr-FR" sz="1400">
                <a:solidFill>
                  <a:srgbClr val="000000"/>
                </a:solidFill>
                <a:cs typeface="Calibri"/>
              </a:rPr>
              <a:t>1. Avoir clarifié vos objectifs en amont, tracez une ligne représentant la ligne de temps de votre atelier</a:t>
            </a:r>
            <a:endParaRPr/>
          </a:p>
        </p:txBody>
      </p:sp>
      <p:sp>
        <p:nvSpPr>
          <p:cNvPr id="1521919059" name="Flèche : droite 9"/>
          <p:cNvSpPr/>
          <p:nvPr/>
        </p:nvSpPr>
        <p:spPr bwMode="auto">
          <a:xfrm>
            <a:off x="426927" y="1989480"/>
            <a:ext cx="11607800" cy="364614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876769336" name="Espace réservé du contenu 2"/>
          <p:cNvSpPr txBox="1"/>
          <p:nvPr/>
        </p:nvSpPr>
        <p:spPr bwMode="auto">
          <a:xfrm>
            <a:off x="6272539" y="5919274"/>
            <a:ext cx="2860630" cy="67287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  <a:defRPr/>
            </a:pPr>
            <a:r>
              <a:rPr lang="fr-FR" sz="1400">
                <a:solidFill>
                  <a:srgbClr val="000000"/>
                </a:solidFill>
                <a:cs typeface="Calibri"/>
              </a:rPr>
              <a:t>3. Sur les différentes étapes, disposez les cartes qui vous semblent les plus cohérentes</a:t>
            </a:r>
            <a:endParaRPr/>
          </a:p>
        </p:txBody>
      </p:sp>
      <p:sp>
        <p:nvSpPr>
          <p:cNvPr id="559368967" name="Espace réservé du contenu 2"/>
          <p:cNvSpPr txBox="1"/>
          <p:nvPr/>
        </p:nvSpPr>
        <p:spPr bwMode="auto">
          <a:xfrm>
            <a:off x="9715500" y="5931550"/>
            <a:ext cx="2319227" cy="6483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t">
            <a:normAutofit fontScale="85000" lnSpcReduction="20000"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lang="fr-FR" sz="1400">
                <a:solidFill>
                  <a:srgbClr val="000000"/>
                </a:solidFill>
                <a:cs typeface="Calibri"/>
              </a:rPr>
              <a:t>4. Ajoutez des cartes selon les combinaisons, ajustez les durées, les titres… Faites des essais et complétez avec des commentaires</a:t>
            </a:r>
            <a:endParaRPr/>
          </a:p>
        </p:txBody>
      </p:sp>
      <p:pic>
        <p:nvPicPr>
          <p:cNvPr id="175413161" name="Image 13" descr="Une image contenant texte&#10;&#10;Description générée automatiquement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062573" y="1585146"/>
            <a:ext cx="855302" cy="1196487"/>
          </a:xfrm>
          <a:prstGeom prst="rect">
            <a:avLst/>
          </a:prstGeom>
        </p:spPr>
      </p:pic>
      <p:pic>
        <p:nvPicPr>
          <p:cNvPr id="717591008" name="Image 14" descr="Une image contenant texte&#10;&#10;Description générée automatiquement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170793" y="1585146"/>
            <a:ext cx="855302" cy="1196487"/>
          </a:xfrm>
          <a:prstGeom prst="rect">
            <a:avLst/>
          </a:prstGeom>
        </p:spPr>
      </p:pic>
      <p:pic>
        <p:nvPicPr>
          <p:cNvPr id="304474433" name="Image 15" descr="Une image contenant texte&#10;&#10;Description générée automatiquement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9246116" y="1594128"/>
            <a:ext cx="855302" cy="1196487"/>
          </a:xfrm>
          <a:prstGeom prst="rect">
            <a:avLst/>
          </a:prstGeom>
        </p:spPr>
      </p:pic>
      <p:pic>
        <p:nvPicPr>
          <p:cNvPr id="285313527" name="Image 16" descr="Une image contenant texte&#10;&#10;Description générée automatiquement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3778582" y="1585146"/>
            <a:ext cx="855302" cy="1196487"/>
          </a:xfrm>
          <a:prstGeom prst="rect">
            <a:avLst/>
          </a:prstGeom>
        </p:spPr>
      </p:pic>
      <p:pic>
        <p:nvPicPr>
          <p:cNvPr id="1623498846" name="Image 17" descr="Une image contenant texte&#10;&#10;Description générée automatiquement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7847598" y="1585146"/>
            <a:ext cx="855302" cy="1196487"/>
          </a:xfrm>
          <a:prstGeom prst="rect">
            <a:avLst/>
          </a:prstGeom>
        </p:spPr>
      </p:pic>
      <p:pic>
        <p:nvPicPr>
          <p:cNvPr id="1089539481" name="Image 18" descr="Une image contenant texte&#10;&#10;Description générée automatiquement"/>
          <p:cNvPicPr>
            <a:picLocks noChangeAspect="1"/>
          </p:cNvPicPr>
          <p:nvPr/>
        </p:nvPicPr>
        <p:blipFill rotWithShape="1">
          <a:blip r:embed="rId8"/>
          <a:stretch/>
        </p:blipFill>
        <p:spPr bwMode="auto">
          <a:xfrm>
            <a:off x="7853904" y="2816996"/>
            <a:ext cx="848996" cy="1187667"/>
          </a:xfrm>
          <a:prstGeom prst="rect">
            <a:avLst/>
          </a:prstGeom>
        </p:spPr>
      </p:pic>
      <p:pic>
        <p:nvPicPr>
          <p:cNvPr id="1368096435" name="Image 19" descr="Une image contenant texte&#10;&#10;Description générée automatiquement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>
            <a:off x="5177100" y="2816996"/>
            <a:ext cx="848996" cy="1187667"/>
          </a:xfrm>
          <a:prstGeom prst="rect">
            <a:avLst/>
          </a:prstGeom>
        </p:spPr>
      </p:pic>
      <p:pic>
        <p:nvPicPr>
          <p:cNvPr id="1548025509" name="Image 20" descr="Une image contenant texte&#10;&#10;Description générée automatiquement"/>
          <p:cNvPicPr>
            <a:picLocks noChangeAspect="1"/>
          </p:cNvPicPr>
          <p:nvPr/>
        </p:nvPicPr>
        <p:blipFill rotWithShape="1">
          <a:blip r:embed="rId10"/>
          <a:stretch/>
        </p:blipFill>
        <p:spPr bwMode="auto">
          <a:xfrm>
            <a:off x="9246116" y="2825978"/>
            <a:ext cx="848996" cy="1187667"/>
          </a:xfrm>
          <a:prstGeom prst="rect">
            <a:avLst/>
          </a:prstGeom>
        </p:spPr>
      </p:pic>
      <p:pic>
        <p:nvPicPr>
          <p:cNvPr id="1197225014" name="Image 21" descr="Une image contenant texte&#10;&#10;Description générée automatiquement"/>
          <p:cNvPicPr>
            <a:picLocks noChangeAspect="1"/>
          </p:cNvPicPr>
          <p:nvPr/>
        </p:nvPicPr>
        <p:blipFill rotWithShape="1">
          <a:blip r:embed="rId11"/>
          <a:stretch/>
        </p:blipFill>
        <p:spPr bwMode="auto">
          <a:xfrm>
            <a:off x="3778582" y="2816996"/>
            <a:ext cx="855302" cy="1196488"/>
          </a:xfrm>
          <a:prstGeom prst="rect">
            <a:avLst/>
          </a:prstGeom>
        </p:spPr>
      </p:pic>
      <p:pic>
        <p:nvPicPr>
          <p:cNvPr id="981560376" name="Image 22" descr="Une image contenant texte&#10;&#10;Description générée automatiquement"/>
          <p:cNvPicPr>
            <a:picLocks noChangeAspect="1"/>
          </p:cNvPicPr>
          <p:nvPr/>
        </p:nvPicPr>
        <p:blipFill rotWithShape="1">
          <a:blip r:embed="rId12"/>
          <a:stretch/>
        </p:blipFill>
        <p:spPr bwMode="auto">
          <a:xfrm>
            <a:off x="2379951" y="1585146"/>
            <a:ext cx="861722" cy="1205469"/>
          </a:xfrm>
          <a:prstGeom prst="rect">
            <a:avLst/>
          </a:prstGeom>
        </p:spPr>
      </p:pic>
      <p:pic>
        <p:nvPicPr>
          <p:cNvPr id="1537603403" name="Image 23" descr="Une image contenant texte&#10;&#10;Description générée automatiquement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>
            <a:off x="2386370" y="2816996"/>
            <a:ext cx="861722" cy="1205469"/>
          </a:xfrm>
          <a:prstGeom prst="rect">
            <a:avLst/>
          </a:prstGeom>
        </p:spPr>
      </p:pic>
      <p:pic>
        <p:nvPicPr>
          <p:cNvPr id="559497744" name="Image 24" descr="Une image contenant texte&#10;&#10;Description générée automatiquement"/>
          <p:cNvPicPr>
            <a:picLocks noChangeAspect="1"/>
          </p:cNvPicPr>
          <p:nvPr/>
        </p:nvPicPr>
        <p:blipFill rotWithShape="1">
          <a:blip r:embed="rId9"/>
          <a:stretch/>
        </p:blipFill>
        <p:spPr bwMode="auto">
          <a:xfrm>
            <a:off x="10622994" y="2825978"/>
            <a:ext cx="848996" cy="1187667"/>
          </a:xfrm>
          <a:prstGeom prst="rect">
            <a:avLst/>
          </a:prstGeom>
        </p:spPr>
      </p:pic>
      <p:pic>
        <p:nvPicPr>
          <p:cNvPr id="358697384" name="Image 25"/>
          <p:cNvPicPr>
            <a:picLocks noChangeAspect="1"/>
          </p:cNvPicPr>
          <p:nvPr/>
        </p:nvPicPr>
        <p:blipFill rotWithShape="1">
          <a:blip r:embed="rId13"/>
          <a:stretch/>
        </p:blipFill>
        <p:spPr bwMode="auto">
          <a:xfrm>
            <a:off x="6068879" y="2816996"/>
            <a:ext cx="848996" cy="1187666"/>
          </a:xfrm>
          <a:prstGeom prst="rect">
            <a:avLst/>
          </a:prstGeom>
        </p:spPr>
      </p:pic>
      <p:pic>
        <p:nvPicPr>
          <p:cNvPr id="78561944" name="Image 26"/>
          <p:cNvPicPr>
            <a:picLocks noChangeAspect="1"/>
          </p:cNvPicPr>
          <p:nvPr/>
        </p:nvPicPr>
        <p:blipFill rotWithShape="1">
          <a:blip r:embed="rId14"/>
          <a:stretch/>
        </p:blipFill>
        <p:spPr bwMode="auto">
          <a:xfrm>
            <a:off x="7853904" y="4041561"/>
            <a:ext cx="848996" cy="1187666"/>
          </a:xfrm>
          <a:prstGeom prst="rect">
            <a:avLst/>
          </a:prstGeom>
        </p:spPr>
      </p:pic>
      <p:pic>
        <p:nvPicPr>
          <p:cNvPr id="539560836" name="Image 27" descr="Une image contenant table&#10;&#10;Description générée automatiquement"/>
          <p:cNvPicPr>
            <a:picLocks noChangeAspect="1"/>
          </p:cNvPicPr>
          <p:nvPr/>
        </p:nvPicPr>
        <p:blipFill rotWithShape="1">
          <a:blip r:embed="rId15"/>
          <a:stretch/>
        </p:blipFill>
        <p:spPr bwMode="auto">
          <a:xfrm>
            <a:off x="9246116" y="4050543"/>
            <a:ext cx="855302" cy="1196488"/>
          </a:xfrm>
          <a:prstGeom prst="rect">
            <a:avLst/>
          </a:prstGeom>
        </p:spPr>
      </p:pic>
      <p:pic>
        <p:nvPicPr>
          <p:cNvPr id="1849981205" name="Image 28" descr="Une image contenant texte&#10;&#10;Description générée automatiquement"/>
          <p:cNvPicPr>
            <a:picLocks noChangeAspect="1"/>
          </p:cNvPicPr>
          <p:nvPr/>
        </p:nvPicPr>
        <p:blipFill rotWithShape="1">
          <a:blip r:embed="rId12"/>
          <a:stretch/>
        </p:blipFill>
        <p:spPr bwMode="auto">
          <a:xfrm>
            <a:off x="10610269" y="1594128"/>
            <a:ext cx="861722" cy="1205469"/>
          </a:xfrm>
          <a:prstGeom prst="rect">
            <a:avLst/>
          </a:prstGeom>
        </p:spPr>
      </p:pic>
      <p:sp>
        <p:nvSpPr>
          <p:cNvPr id="2051293707" name="Flèche : droite 29"/>
          <p:cNvSpPr/>
          <p:nvPr/>
        </p:nvSpPr>
        <p:spPr bwMode="auto">
          <a:xfrm>
            <a:off x="157273" y="6009631"/>
            <a:ext cx="577345" cy="246082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grpSp>
        <p:nvGrpSpPr>
          <p:cNvPr id="498459220" name="Groupe 30"/>
          <p:cNvGrpSpPr/>
          <p:nvPr/>
        </p:nvGrpSpPr>
        <p:grpSpPr bwMode="auto">
          <a:xfrm rot="664616">
            <a:off x="5859408" y="5792483"/>
            <a:ext cx="750539" cy="753203"/>
            <a:chOff x="6396100" y="499924"/>
            <a:chExt cx="4198786" cy="4213689"/>
          </a:xfrm>
        </p:grpSpPr>
        <p:pic>
          <p:nvPicPr>
            <p:cNvPr id="32" name="Image 31" descr="Une image contenant texte&#10;&#10;Description générée automatiquement"/>
            <p:cNvPicPr>
              <a:picLocks noChangeAspect="1"/>
            </p:cNvPicPr>
            <p:nvPr/>
          </p:nvPicPr>
          <p:blipFill rotWithShape="1">
            <a:blip r:embed="rId16"/>
            <a:stretch/>
          </p:blipFill>
          <p:spPr bwMode="auto">
            <a:xfrm rot="1525759">
              <a:off x="7983386" y="499924"/>
              <a:ext cx="2611500" cy="3653246"/>
            </a:xfrm>
            <a:prstGeom prst="rect">
              <a:avLst/>
            </a:prstGeom>
          </p:spPr>
        </p:pic>
        <p:pic>
          <p:nvPicPr>
            <p:cNvPr id="33" name="Image 32" descr="Une image contenant texte&#10;&#10;Description générée automatiquement"/>
            <p:cNvPicPr>
              <a:picLocks noChangeAspect="1"/>
            </p:cNvPicPr>
            <p:nvPr/>
          </p:nvPicPr>
          <p:blipFill rotWithShape="1">
            <a:blip r:embed="rId17"/>
            <a:stretch/>
          </p:blipFill>
          <p:spPr bwMode="auto">
            <a:xfrm rot="1787985">
              <a:off x="7043795" y="711792"/>
              <a:ext cx="2308594" cy="3229510"/>
            </a:xfrm>
            <a:prstGeom prst="rect">
              <a:avLst/>
            </a:prstGeom>
          </p:spPr>
        </p:pic>
        <p:pic>
          <p:nvPicPr>
            <p:cNvPr id="34" name="Image 33" descr="Une image contenant texte&#10;&#10;Description générée automatiquement"/>
            <p:cNvPicPr>
              <a:picLocks noChangeAspect="1"/>
            </p:cNvPicPr>
            <p:nvPr/>
          </p:nvPicPr>
          <p:blipFill rotWithShape="1">
            <a:blip r:embed="rId18"/>
            <a:stretch/>
          </p:blipFill>
          <p:spPr bwMode="auto">
            <a:xfrm rot="674423">
              <a:off x="6518806" y="1141548"/>
              <a:ext cx="2070691" cy="2896705"/>
            </a:xfrm>
            <a:prstGeom prst="rect">
              <a:avLst/>
            </a:prstGeom>
          </p:spPr>
        </p:pic>
        <p:pic>
          <p:nvPicPr>
            <p:cNvPr id="35" name="Image 34" descr="Une image contenant texte&#10;&#10;Description générée automatiquement"/>
            <p:cNvPicPr>
              <a:picLocks noChangeAspect="1"/>
            </p:cNvPicPr>
            <p:nvPr/>
          </p:nvPicPr>
          <p:blipFill rotWithShape="1">
            <a:blip r:embed="rId6"/>
            <a:stretch/>
          </p:blipFill>
          <p:spPr bwMode="auto">
            <a:xfrm rot="20089221">
              <a:off x="6396100" y="1835430"/>
              <a:ext cx="2057451" cy="2878183"/>
            </a:xfrm>
            <a:prstGeom prst="rect">
              <a:avLst/>
            </a:prstGeom>
          </p:spPr>
        </p:pic>
      </p:grpSp>
      <p:pic>
        <p:nvPicPr>
          <p:cNvPr id="1481115761" name="Image 35" descr="Une image contenant texte&#10;&#10;Description générée automatiquement"/>
          <p:cNvPicPr>
            <a:picLocks noChangeAspect="1"/>
          </p:cNvPicPr>
          <p:nvPr/>
        </p:nvPicPr>
        <p:blipFill rotWithShape="1">
          <a:blip r:embed="rId19"/>
          <a:stretch/>
        </p:blipFill>
        <p:spPr bwMode="auto">
          <a:xfrm>
            <a:off x="3772161" y="4041561"/>
            <a:ext cx="861723" cy="1205470"/>
          </a:xfrm>
          <a:prstGeom prst="rect">
            <a:avLst/>
          </a:prstGeom>
        </p:spPr>
      </p:pic>
      <p:sp>
        <p:nvSpPr>
          <p:cNvPr id="580142633" name="Rectangle 36"/>
          <p:cNvSpPr/>
          <p:nvPr/>
        </p:nvSpPr>
        <p:spPr bwMode="auto">
          <a:xfrm>
            <a:off x="2236468" y="832052"/>
            <a:ext cx="721017" cy="6728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 sz="1200">
                <a:solidFill>
                  <a:schemeClr val="tx1"/>
                </a:solidFill>
              </a:rPr>
              <a:t>Intro</a:t>
            </a:r>
            <a:endParaRPr/>
          </a:p>
          <a:p>
            <a:pPr algn="ctr">
              <a:defRPr/>
            </a:pPr>
            <a:r>
              <a:rPr lang="fr-FR" sz="1200">
                <a:solidFill>
                  <a:schemeClr val="tx1"/>
                </a:solidFill>
              </a:rPr>
              <a:t>5’</a:t>
            </a:r>
            <a:endParaRPr/>
          </a:p>
        </p:txBody>
      </p:sp>
      <p:sp>
        <p:nvSpPr>
          <p:cNvPr id="198347617" name="Rectangle 37"/>
          <p:cNvSpPr/>
          <p:nvPr/>
        </p:nvSpPr>
        <p:spPr bwMode="auto">
          <a:xfrm>
            <a:off x="3740012" y="832052"/>
            <a:ext cx="939141" cy="6728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 sz="1000">
                <a:solidFill>
                  <a:schemeClr val="tx1"/>
                </a:solidFill>
              </a:rPr>
              <a:t>Brainstorming</a:t>
            </a:r>
            <a:endParaRPr/>
          </a:p>
          <a:p>
            <a:pPr algn="ctr">
              <a:defRPr/>
            </a:pPr>
            <a:r>
              <a:rPr lang="fr-FR" sz="1000">
                <a:solidFill>
                  <a:schemeClr val="tx1"/>
                </a:solidFill>
              </a:rPr>
              <a:t>15’</a:t>
            </a:r>
            <a:endParaRPr/>
          </a:p>
        </p:txBody>
      </p:sp>
      <p:sp>
        <p:nvSpPr>
          <p:cNvPr id="487567862" name="Rectangle 38"/>
          <p:cNvSpPr/>
          <p:nvPr/>
        </p:nvSpPr>
        <p:spPr bwMode="auto">
          <a:xfrm>
            <a:off x="5702064" y="831570"/>
            <a:ext cx="721017" cy="6728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 sz="1050">
                <a:solidFill>
                  <a:schemeClr val="tx1"/>
                </a:solidFill>
              </a:rPr>
              <a:t>Fusion sélection</a:t>
            </a:r>
            <a:endParaRPr/>
          </a:p>
          <a:p>
            <a:pPr algn="ctr">
              <a:defRPr/>
            </a:pPr>
            <a:r>
              <a:rPr lang="fr-FR" sz="1050">
                <a:solidFill>
                  <a:schemeClr val="tx1"/>
                </a:solidFill>
              </a:rPr>
              <a:t>10’</a:t>
            </a:r>
            <a:endParaRPr/>
          </a:p>
        </p:txBody>
      </p:sp>
      <p:sp>
        <p:nvSpPr>
          <p:cNvPr id="2080895206" name="Rectangle 39"/>
          <p:cNvSpPr/>
          <p:nvPr/>
        </p:nvSpPr>
        <p:spPr bwMode="auto">
          <a:xfrm>
            <a:off x="7914740" y="831570"/>
            <a:ext cx="721017" cy="6728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 sz="1200">
                <a:solidFill>
                  <a:schemeClr val="tx1"/>
                </a:solidFill>
              </a:rPr>
              <a:t>Détail</a:t>
            </a:r>
            <a:endParaRPr/>
          </a:p>
          <a:p>
            <a:pPr algn="ctr">
              <a:defRPr/>
            </a:pPr>
            <a:r>
              <a:rPr lang="fr-FR" sz="1200">
                <a:solidFill>
                  <a:schemeClr val="tx1"/>
                </a:solidFill>
              </a:rPr>
              <a:t>10’</a:t>
            </a:r>
            <a:endParaRPr/>
          </a:p>
        </p:txBody>
      </p:sp>
      <p:sp>
        <p:nvSpPr>
          <p:cNvPr id="668063690" name="Rectangle 40"/>
          <p:cNvSpPr/>
          <p:nvPr/>
        </p:nvSpPr>
        <p:spPr bwMode="auto">
          <a:xfrm>
            <a:off x="9310105" y="840552"/>
            <a:ext cx="721017" cy="6728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 sz="1200">
                <a:solidFill>
                  <a:schemeClr val="tx1"/>
                </a:solidFill>
              </a:rPr>
              <a:t>Plan d’action</a:t>
            </a:r>
            <a:endParaRPr/>
          </a:p>
          <a:p>
            <a:pPr algn="ctr">
              <a:defRPr/>
            </a:pPr>
            <a:r>
              <a:rPr lang="fr-FR" sz="1200">
                <a:solidFill>
                  <a:schemeClr val="tx1"/>
                </a:solidFill>
              </a:rPr>
              <a:t>15’</a:t>
            </a:r>
            <a:endParaRPr/>
          </a:p>
        </p:txBody>
      </p:sp>
      <p:sp>
        <p:nvSpPr>
          <p:cNvPr id="47397334" name="Rectangle 41"/>
          <p:cNvSpPr/>
          <p:nvPr/>
        </p:nvSpPr>
        <p:spPr bwMode="auto">
          <a:xfrm>
            <a:off x="10680621" y="840552"/>
            <a:ext cx="721017" cy="6728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 sz="1200">
                <a:solidFill>
                  <a:schemeClr val="tx1"/>
                </a:solidFill>
              </a:rPr>
              <a:t>Clôture</a:t>
            </a:r>
            <a:endParaRPr/>
          </a:p>
          <a:p>
            <a:pPr algn="ctr">
              <a:defRPr/>
            </a:pPr>
            <a:r>
              <a:rPr lang="fr-FR" sz="1200">
                <a:solidFill>
                  <a:schemeClr val="tx1"/>
                </a:solidFill>
              </a:rPr>
              <a:t>5’</a:t>
            </a:r>
            <a:endParaRPr/>
          </a:p>
        </p:txBody>
      </p:sp>
      <p:sp>
        <p:nvSpPr>
          <p:cNvPr id="1954755288" name="Espace réservé du contenu 2"/>
          <p:cNvSpPr txBox="1"/>
          <p:nvPr/>
        </p:nvSpPr>
        <p:spPr bwMode="auto">
          <a:xfrm>
            <a:off x="4095272" y="5919273"/>
            <a:ext cx="1353942" cy="67288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lang="fr-FR" sz="1400">
                <a:solidFill>
                  <a:srgbClr val="000000"/>
                </a:solidFill>
                <a:cs typeface="Calibri"/>
              </a:rPr>
              <a:t>2. Posez vos grandes étapes </a:t>
            </a:r>
            <a:endParaRPr/>
          </a:p>
        </p:txBody>
      </p:sp>
      <p:sp>
        <p:nvSpPr>
          <p:cNvPr id="1810937294" name="Rectangle 43"/>
          <p:cNvSpPr/>
          <p:nvPr/>
        </p:nvSpPr>
        <p:spPr bwMode="auto">
          <a:xfrm>
            <a:off x="3576647" y="5855154"/>
            <a:ext cx="586296" cy="54715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 sz="1200">
              <a:solidFill>
                <a:schemeClr val="tx1"/>
              </a:solidFill>
            </a:endParaRPr>
          </a:p>
        </p:txBody>
      </p:sp>
      <p:sp>
        <p:nvSpPr>
          <p:cNvPr id="652144305" name="Rectangle 44"/>
          <p:cNvSpPr/>
          <p:nvPr/>
        </p:nvSpPr>
        <p:spPr bwMode="auto">
          <a:xfrm>
            <a:off x="2507529" y="4066273"/>
            <a:ext cx="764418" cy="4190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 sz="600">
                <a:solidFill>
                  <a:schemeClr val="bg1"/>
                </a:solidFill>
              </a:rPr>
              <a:t>Commentaires supplémentaires</a:t>
            </a:r>
            <a:endParaRPr/>
          </a:p>
        </p:txBody>
      </p:sp>
      <p:sp>
        <p:nvSpPr>
          <p:cNvPr id="700569924" name="Rectangle 50"/>
          <p:cNvSpPr/>
          <p:nvPr/>
        </p:nvSpPr>
        <p:spPr bwMode="auto">
          <a:xfrm>
            <a:off x="3869466" y="5302353"/>
            <a:ext cx="764418" cy="4190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 sz="600">
                <a:solidFill>
                  <a:schemeClr val="bg1"/>
                </a:solidFill>
              </a:rPr>
              <a:t>Commentaires supplémentaires</a:t>
            </a:r>
            <a:endParaRPr/>
          </a:p>
        </p:txBody>
      </p:sp>
      <p:sp>
        <p:nvSpPr>
          <p:cNvPr id="1191692241" name="Rectangle 51"/>
          <p:cNvSpPr/>
          <p:nvPr/>
        </p:nvSpPr>
        <p:spPr bwMode="auto">
          <a:xfrm>
            <a:off x="5641718" y="4110689"/>
            <a:ext cx="764418" cy="4190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 sz="600">
                <a:solidFill>
                  <a:schemeClr val="bg1"/>
                </a:solidFill>
              </a:rPr>
              <a:t>Commentaires supplémentaires</a:t>
            </a:r>
            <a:endParaRPr/>
          </a:p>
        </p:txBody>
      </p:sp>
      <p:sp>
        <p:nvSpPr>
          <p:cNvPr id="2076532151" name="Rectangle 52"/>
          <p:cNvSpPr/>
          <p:nvPr/>
        </p:nvSpPr>
        <p:spPr bwMode="auto">
          <a:xfrm>
            <a:off x="7938818" y="5303929"/>
            <a:ext cx="764418" cy="4190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 sz="600">
                <a:solidFill>
                  <a:schemeClr val="bg1"/>
                </a:solidFill>
              </a:rPr>
              <a:t>Commentaires supplémentaires</a:t>
            </a:r>
            <a:endParaRPr/>
          </a:p>
        </p:txBody>
      </p:sp>
      <p:sp>
        <p:nvSpPr>
          <p:cNvPr id="240388282" name="Rectangle 53"/>
          <p:cNvSpPr/>
          <p:nvPr/>
        </p:nvSpPr>
        <p:spPr bwMode="auto">
          <a:xfrm>
            <a:off x="9333291" y="5326787"/>
            <a:ext cx="764418" cy="4190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 sz="600">
                <a:solidFill>
                  <a:schemeClr val="bg1"/>
                </a:solidFill>
              </a:rPr>
              <a:t>Commentaires supplémentaires</a:t>
            </a:r>
            <a:endParaRPr/>
          </a:p>
        </p:txBody>
      </p:sp>
      <p:sp>
        <p:nvSpPr>
          <p:cNvPr id="546995278" name="Rectangle 54"/>
          <p:cNvSpPr/>
          <p:nvPr/>
        </p:nvSpPr>
        <p:spPr bwMode="auto">
          <a:xfrm>
            <a:off x="10680621" y="4076312"/>
            <a:ext cx="764418" cy="4190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 sz="600">
                <a:solidFill>
                  <a:schemeClr val="bg1"/>
                </a:solidFill>
              </a:rPr>
              <a:t>Commentaires supplémentaires</a:t>
            </a:r>
            <a:endParaRPr/>
          </a:p>
        </p:txBody>
      </p:sp>
      <p:sp>
        <p:nvSpPr>
          <p:cNvPr id="653597233" name="Rectangle 55"/>
          <p:cNvSpPr/>
          <p:nvPr/>
        </p:nvSpPr>
        <p:spPr bwMode="auto">
          <a:xfrm>
            <a:off x="9404041" y="5965243"/>
            <a:ext cx="384393" cy="46515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 sz="60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342086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Cartes</a:t>
            </a:r>
            <a:endParaRPr/>
          </a:p>
        </p:txBody>
      </p:sp>
      <p:sp>
        <p:nvSpPr>
          <p:cNvPr id="611572510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983439" y="1975471"/>
            <a:ext cx="3279407" cy="36392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  <a:defRPr/>
            </a:pPr>
            <a:r>
              <a:rPr lang="fr-FR" sz="1600">
                <a:solidFill>
                  <a:srgbClr val="000000"/>
                </a:solidFill>
                <a:cs typeface="Calibri"/>
              </a:rPr>
              <a:t>Les cartes sont divisées en 6 catégories décrivant les règles d’ateliers.</a:t>
            </a:r>
            <a:endParaRPr/>
          </a:p>
          <a:p>
            <a:pPr marL="0" indent="0">
              <a:buNone/>
              <a:defRPr/>
            </a:pPr>
            <a:endParaRPr lang="fr-FR" sz="1600">
              <a:solidFill>
                <a:srgbClr val="000000"/>
              </a:solidFill>
              <a:cs typeface="Calibri"/>
            </a:endParaRPr>
          </a:p>
          <a:p>
            <a:pPr marL="0" indent="0">
              <a:buNone/>
              <a:defRPr/>
            </a:pPr>
            <a:r>
              <a:rPr lang="fr-FR" sz="1600">
                <a:solidFill>
                  <a:srgbClr val="000000"/>
                </a:solidFill>
                <a:cs typeface="Calibri"/>
              </a:rPr>
              <a:t>Chaque famille vous aide à décrire l’atelier que vous souhaitez créer ou des aspects particuliers de ces ateliers</a:t>
            </a:r>
            <a:endParaRPr/>
          </a:p>
        </p:txBody>
      </p:sp>
      <p:grpSp>
        <p:nvGrpSpPr>
          <p:cNvPr id="687993187" name="Groupe 85"/>
          <p:cNvGrpSpPr/>
          <p:nvPr/>
        </p:nvGrpSpPr>
        <p:grpSpPr bwMode="auto">
          <a:xfrm>
            <a:off x="9239794" y="799011"/>
            <a:ext cx="1854926" cy="2629989"/>
            <a:chOff x="9239794" y="799011"/>
            <a:chExt cx="1854926" cy="2629989"/>
          </a:xfrm>
        </p:grpSpPr>
        <p:sp>
          <p:nvSpPr>
            <p:cNvPr id="6" name="Rectangle 5"/>
            <p:cNvSpPr/>
            <p:nvPr/>
          </p:nvSpPr>
          <p:spPr bwMode="auto">
            <a:xfrm>
              <a:off x="9239794" y="799011"/>
              <a:ext cx="1854926" cy="2629989"/>
            </a:xfrm>
            <a:prstGeom prst="rect">
              <a:avLst/>
            </a:prstGeom>
            <a:solidFill>
              <a:srgbClr val="93D27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>
                <a:defRPr/>
              </a:pPr>
              <a:r>
                <a:rPr lang="fr-FR"/>
                <a:t>Modèle visuel</a:t>
              </a:r>
              <a:endParaRPr/>
            </a:p>
            <a:p>
              <a:pPr algn="ctr">
                <a:defRPr/>
              </a:pPr>
              <a:endParaRPr lang="fr-FR"/>
            </a:p>
          </p:txBody>
        </p:sp>
        <p:grpSp>
          <p:nvGrpSpPr>
            <p:cNvPr id="20" name="Groupe 19"/>
            <p:cNvGrpSpPr/>
            <p:nvPr/>
          </p:nvGrpSpPr>
          <p:grpSpPr bwMode="auto">
            <a:xfrm>
              <a:off x="9522037" y="1800717"/>
              <a:ext cx="1290440" cy="626574"/>
              <a:chOff x="284241" y="407098"/>
              <a:chExt cx="3661166" cy="1777681"/>
            </a:xfrm>
            <a:solidFill>
              <a:schemeClr val="bg1"/>
            </a:solidFill>
          </p:grpSpPr>
          <p:pic>
            <p:nvPicPr>
              <p:cNvPr id="21" name="Graphique 20" descr="Œil avec un remplissage uni"/>
              <p:cNvPicPr>
                <a:picLocks noChangeAspect="1"/>
              </p:cNvPicPr>
              <p:nvPr/>
            </p:nvPicPr>
            <p:blipFill rotWithShape="1"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/>
            </p:blipFill>
            <p:spPr bwMode="auto">
              <a:xfrm>
                <a:off x="284241" y="413893"/>
                <a:ext cx="530020" cy="530020"/>
              </a:xfrm>
              <a:prstGeom prst="rect">
                <a:avLst/>
              </a:prstGeom>
            </p:spPr>
          </p:pic>
          <p:pic>
            <p:nvPicPr>
              <p:cNvPr id="22" name="Graphique 21" descr="Œil avec un remplissage uni"/>
              <p:cNvPicPr>
                <a:picLocks noChangeAspect="1"/>
              </p:cNvPicPr>
              <p:nvPr/>
            </p:nvPicPr>
            <p:blipFill rotWithShape="1">
              <a:blip r:embed="rId3"/>
              <a:stretch/>
            </p:blipFill>
            <p:spPr bwMode="auto">
              <a:xfrm>
                <a:off x="733582" y="413893"/>
                <a:ext cx="530020" cy="530020"/>
              </a:xfrm>
              <a:prstGeom prst="rect">
                <a:avLst/>
              </a:prstGeom>
            </p:spPr>
          </p:pic>
          <p:pic>
            <p:nvPicPr>
              <p:cNvPr id="23" name="Graphique 22" descr="Œil avec un remplissage uni"/>
              <p:cNvPicPr>
                <a:picLocks noChangeAspect="1"/>
              </p:cNvPicPr>
              <p:nvPr/>
            </p:nvPicPr>
            <p:blipFill rotWithShape="1">
              <a:blip r:embed="rId3"/>
              <a:stretch/>
            </p:blipFill>
            <p:spPr bwMode="auto">
              <a:xfrm>
                <a:off x="2966046" y="407098"/>
                <a:ext cx="530020" cy="530020"/>
              </a:xfrm>
              <a:prstGeom prst="rect">
                <a:avLst/>
              </a:prstGeom>
            </p:spPr>
          </p:pic>
          <p:pic>
            <p:nvPicPr>
              <p:cNvPr id="24" name="Graphique 23" descr="Œil avec un remplissage uni"/>
              <p:cNvPicPr>
                <a:picLocks noChangeAspect="1"/>
              </p:cNvPicPr>
              <p:nvPr/>
            </p:nvPicPr>
            <p:blipFill rotWithShape="1">
              <a:blip r:embed="rId3"/>
              <a:stretch/>
            </p:blipFill>
            <p:spPr bwMode="auto">
              <a:xfrm>
                <a:off x="3415387" y="407098"/>
                <a:ext cx="530020" cy="530020"/>
              </a:xfrm>
              <a:prstGeom prst="rect">
                <a:avLst/>
              </a:prstGeom>
            </p:spPr>
          </p:pic>
          <p:pic>
            <p:nvPicPr>
              <p:cNvPr id="25" name="Graphique 24" descr="Œil avec un remplissage uni"/>
              <p:cNvPicPr>
                <a:picLocks noChangeAspect="1"/>
              </p:cNvPicPr>
              <p:nvPr/>
            </p:nvPicPr>
            <p:blipFill rotWithShape="1">
              <a:blip r:embed="rId3"/>
              <a:stretch/>
            </p:blipFill>
            <p:spPr bwMode="auto">
              <a:xfrm>
                <a:off x="1574458" y="1654759"/>
                <a:ext cx="530020" cy="530020"/>
              </a:xfrm>
              <a:prstGeom prst="rect">
                <a:avLst/>
              </a:prstGeom>
            </p:spPr>
          </p:pic>
          <p:pic>
            <p:nvPicPr>
              <p:cNvPr id="26" name="Graphique 25" descr="Œil avec un remplissage uni"/>
              <p:cNvPicPr>
                <a:picLocks noChangeAspect="1"/>
              </p:cNvPicPr>
              <p:nvPr/>
            </p:nvPicPr>
            <p:blipFill rotWithShape="1">
              <a:blip r:embed="rId3"/>
              <a:stretch/>
            </p:blipFill>
            <p:spPr bwMode="auto">
              <a:xfrm>
                <a:off x="2023799" y="1654759"/>
                <a:ext cx="530020" cy="530020"/>
              </a:xfrm>
              <a:prstGeom prst="rect">
                <a:avLst/>
              </a:prstGeom>
            </p:spPr>
          </p:pic>
          <p:pic>
            <p:nvPicPr>
              <p:cNvPr id="27" name="Graphique 26" descr="Aide avec un remplissage uni"/>
              <p:cNvPicPr>
                <a:picLocks noChangeAspect="1"/>
              </p:cNvPicPr>
              <p:nvPr/>
            </p:nvPicPr>
            <p:blipFill rotWithShape="1"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/>
            </p:blipFill>
            <p:spPr bwMode="auto">
              <a:xfrm>
                <a:off x="1629018" y="634068"/>
                <a:ext cx="914400" cy="914400"/>
              </a:xfrm>
              <a:prstGeom prst="rect">
                <a:avLst/>
              </a:prstGeom>
            </p:spPr>
          </p:pic>
          <p:sp>
            <p:nvSpPr>
              <p:cNvPr id="28" name="Flèche : droite 27"/>
              <p:cNvSpPr/>
              <p:nvPr/>
            </p:nvSpPr>
            <p:spPr bwMode="auto">
              <a:xfrm rot="8771669">
                <a:off x="2528589" y="692427"/>
                <a:ext cx="308234" cy="323982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/>
              </a:p>
            </p:txBody>
          </p:sp>
          <p:sp>
            <p:nvSpPr>
              <p:cNvPr id="29" name="Flèche : droite 28"/>
              <p:cNvSpPr/>
              <p:nvPr/>
            </p:nvSpPr>
            <p:spPr bwMode="auto">
              <a:xfrm rot="16199999">
                <a:off x="1901366" y="1492768"/>
                <a:ext cx="308234" cy="323982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/>
              </a:p>
            </p:txBody>
          </p:sp>
          <p:sp>
            <p:nvSpPr>
              <p:cNvPr id="30" name="Flèche : droite 29"/>
              <p:cNvSpPr/>
              <p:nvPr/>
            </p:nvSpPr>
            <p:spPr bwMode="auto">
              <a:xfrm rot="2098502">
                <a:off x="1285223" y="647591"/>
                <a:ext cx="308234" cy="323982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/>
              </a:p>
            </p:txBody>
          </p:sp>
        </p:grpSp>
      </p:grpSp>
      <p:grpSp>
        <p:nvGrpSpPr>
          <p:cNvPr id="1146829654" name="Groupe 89"/>
          <p:cNvGrpSpPr/>
          <p:nvPr/>
        </p:nvGrpSpPr>
        <p:grpSpPr bwMode="auto">
          <a:xfrm>
            <a:off x="7263864" y="799011"/>
            <a:ext cx="1854926" cy="2629989"/>
            <a:chOff x="7271657" y="799012"/>
            <a:chExt cx="1854926" cy="2629989"/>
          </a:xfrm>
        </p:grpSpPr>
        <p:sp>
          <p:nvSpPr>
            <p:cNvPr id="5" name="Rectangle 4"/>
            <p:cNvSpPr/>
            <p:nvPr/>
          </p:nvSpPr>
          <p:spPr bwMode="auto">
            <a:xfrm>
              <a:off x="7271657" y="799012"/>
              <a:ext cx="1854926" cy="2629989"/>
            </a:xfrm>
            <a:prstGeom prst="rect">
              <a:avLst/>
            </a:prstGeom>
            <a:solidFill>
              <a:srgbClr val="F16E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>
                <a:defRPr/>
              </a:pPr>
              <a:r>
                <a:rPr lang="fr-FR"/>
                <a:t>Configuration</a:t>
              </a:r>
              <a:endParaRPr/>
            </a:p>
            <a:p>
              <a:pPr algn="ctr">
                <a:defRPr/>
              </a:pPr>
              <a:endParaRPr lang="fr-FR"/>
            </a:p>
          </p:txBody>
        </p:sp>
        <p:grpSp>
          <p:nvGrpSpPr>
            <p:cNvPr id="31" name="Groupe 30"/>
            <p:cNvGrpSpPr/>
            <p:nvPr/>
          </p:nvGrpSpPr>
          <p:grpSpPr bwMode="auto">
            <a:xfrm>
              <a:off x="7490192" y="1786482"/>
              <a:ext cx="1444839" cy="566441"/>
              <a:chOff x="300929" y="626311"/>
              <a:chExt cx="3334766" cy="1307376"/>
            </a:xfrm>
            <a:solidFill>
              <a:schemeClr val="bg1"/>
            </a:solidFill>
          </p:grpSpPr>
          <p:pic>
            <p:nvPicPr>
              <p:cNvPr id="32" name="Graphique 31" descr="Héros avec un remplissage uni"/>
              <p:cNvPicPr>
                <a:picLocks noChangeAspect="1"/>
              </p:cNvPicPr>
              <p:nvPr/>
            </p:nvPicPr>
            <p:blipFill rotWithShape="1"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/>
            </p:blipFill>
            <p:spPr bwMode="auto">
              <a:xfrm>
                <a:off x="2328319" y="626311"/>
                <a:ext cx="1307376" cy="1307376"/>
              </a:xfrm>
              <a:prstGeom prst="rect">
                <a:avLst/>
              </a:prstGeom>
            </p:spPr>
          </p:pic>
          <p:pic>
            <p:nvPicPr>
              <p:cNvPr id="33" name="Graphique 32" descr="Personne confuse avec un remplissage uni"/>
              <p:cNvPicPr>
                <a:picLocks noChangeAspect="1"/>
              </p:cNvPicPr>
              <p:nvPr/>
            </p:nvPicPr>
            <p:blipFill rotWithShape="1"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/>
            </p:blipFill>
            <p:spPr bwMode="auto">
              <a:xfrm>
                <a:off x="300929" y="660773"/>
                <a:ext cx="1238451" cy="1238451"/>
              </a:xfrm>
              <a:prstGeom prst="rect">
                <a:avLst/>
              </a:prstGeom>
            </p:spPr>
          </p:pic>
          <p:pic>
            <p:nvPicPr>
              <p:cNvPr id="34" name="Graphique 33" descr="Aide avec un remplissage uni"/>
              <p:cNvPicPr>
                <a:picLocks noChangeAspect="1"/>
              </p:cNvPicPr>
              <p:nvPr/>
            </p:nvPicPr>
            <p:blipFill rotWithShape="1">
              <a:blip r:embed="rId5"/>
              <a:stretch/>
            </p:blipFill>
            <p:spPr bwMode="auto">
              <a:xfrm>
                <a:off x="1430032" y="680525"/>
                <a:ext cx="914400" cy="914400"/>
              </a:xfrm>
              <a:prstGeom prst="rect">
                <a:avLst/>
              </a:prstGeom>
            </p:spPr>
          </p:pic>
        </p:grpSp>
      </p:grpSp>
      <p:grpSp>
        <p:nvGrpSpPr>
          <p:cNvPr id="1977324482" name="Groupe 87"/>
          <p:cNvGrpSpPr/>
          <p:nvPr/>
        </p:nvGrpSpPr>
        <p:grpSpPr bwMode="auto">
          <a:xfrm>
            <a:off x="9239794" y="3533541"/>
            <a:ext cx="1854926" cy="2629989"/>
            <a:chOff x="5303520" y="799013"/>
            <a:chExt cx="1854926" cy="2629989"/>
          </a:xfrm>
        </p:grpSpPr>
        <p:sp>
          <p:nvSpPr>
            <p:cNvPr id="4" name="Rectangle 3"/>
            <p:cNvSpPr/>
            <p:nvPr/>
          </p:nvSpPr>
          <p:spPr bwMode="auto">
            <a:xfrm>
              <a:off x="5303520" y="799013"/>
              <a:ext cx="1854926" cy="2629989"/>
            </a:xfrm>
            <a:prstGeom prst="rect">
              <a:avLst/>
            </a:prstGeom>
            <a:solidFill>
              <a:srgbClr val="FFAA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>
                <a:defRPr/>
              </a:pPr>
              <a:r>
                <a:rPr lang="fr-FR"/>
                <a:t>Type d’activités</a:t>
              </a:r>
              <a:endParaRPr/>
            </a:p>
            <a:p>
              <a:pPr algn="ctr">
                <a:defRPr/>
              </a:pPr>
              <a:endParaRPr lang="fr-FR"/>
            </a:p>
          </p:txBody>
        </p:sp>
        <p:grpSp>
          <p:nvGrpSpPr>
            <p:cNvPr id="46" name="Groupe 45"/>
            <p:cNvGrpSpPr/>
            <p:nvPr/>
          </p:nvGrpSpPr>
          <p:grpSpPr bwMode="auto">
            <a:xfrm>
              <a:off x="5503946" y="1683762"/>
              <a:ext cx="1467684" cy="771880"/>
              <a:chOff x="377658" y="300868"/>
              <a:chExt cx="3371310" cy="1773029"/>
            </a:xfrm>
            <a:solidFill>
              <a:schemeClr val="bg1"/>
            </a:solidFill>
          </p:grpSpPr>
          <p:pic>
            <p:nvPicPr>
              <p:cNvPr id="35" name="Graphique 34" descr="Bulle de pensée avec un remplissage uni"/>
              <p:cNvPicPr>
                <a:picLocks noChangeAspect="1"/>
              </p:cNvPicPr>
              <p:nvPr/>
            </p:nvPicPr>
            <p:blipFill rotWithShape="1"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/>
            </p:blipFill>
            <p:spPr bwMode="auto">
              <a:xfrm>
                <a:off x="2989655" y="318667"/>
                <a:ext cx="759313" cy="759313"/>
              </a:xfrm>
              <a:prstGeom prst="rect">
                <a:avLst/>
              </a:prstGeom>
            </p:spPr>
          </p:pic>
          <p:pic>
            <p:nvPicPr>
              <p:cNvPr id="36" name="Graphique 35" descr="Aide avec un remplissage uni"/>
              <p:cNvPicPr>
                <a:picLocks noChangeAspect="1"/>
              </p:cNvPicPr>
              <p:nvPr/>
            </p:nvPicPr>
            <p:blipFill rotWithShape="1">
              <a:blip r:embed="rId5"/>
              <a:stretch/>
            </p:blipFill>
            <p:spPr bwMode="auto">
              <a:xfrm>
                <a:off x="1588934" y="753137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37" name="Graphique 36" descr="Lumières allumées avec un remplissage uni"/>
              <p:cNvPicPr>
                <a:picLocks noChangeAspect="1"/>
              </p:cNvPicPr>
              <p:nvPr/>
            </p:nvPicPr>
            <p:blipFill rotWithShape="1"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/>
            </p:blipFill>
            <p:spPr bwMode="auto">
              <a:xfrm>
                <a:off x="377658" y="300868"/>
                <a:ext cx="759313" cy="759313"/>
              </a:xfrm>
              <a:prstGeom prst="rect">
                <a:avLst/>
              </a:prstGeom>
            </p:spPr>
          </p:pic>
          <p:pic>
            <p:nvPicPr>
              <p:cNvPr id="38" name="Graphique 37" descr="Document avec un remplissage uni"/>
              <p:cNvPicPr>
                <a:picLocks noChangeAspect="1"/>
              </p:cNvPicPr>
              <p:nvPr/>
            </p:nvPicPr>
            <p:blipFill rotWithShape="1"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/>
            </p:blipFill>
            <p:spPr bwMode="auto">
              <a:xfrm>
                <a:off x="2969389" y="1479464"/>
                <a:ext cx="594433" cy="594433"/>
              </a:xfrm>
              <a:prstGeom prst="rect">
                <a:avLst/>
              </a:prstGeom>
            </p:spPr>
          </p:pic>
          <p:grpSp>
            <p:nvGrpSpPr>
              <p:cNvPr id="39" name="Groupe 38"/>
              <p:cNvGrpSpPr/>
              <p:nvPr/>
            </p:nvGrpSpPr>
            <p:grpSpPr bwMode="auto">
              <a:xfrm>
                <a:off x="593644" y="1378068"/>
                <a:ext cx="445506" cy="619997"/>
                <a:chOff x="928941" y="1083787"/>
                <a:chExt cx="764213" cy="1063531"/>
              </a:xfrm>
              <a:grpFill/>
            </p:grpSpPr>
            <p:sp>
              <p:nvSpPr>
                <p:cNvPr id="40" name="Rectangle 39"/>
                <p:cNvSpPr/>
                <p:nvPr/>
              </p:nvSpPr>
              <p:spPr bwMode="auto">
                <a:xfrm>
                  <a:off x="1367902" y="1258707"/>
                  <a:ext cx="275432" cy="280070"/>
                </a:xfrm>
                <a:prstGeom prst="rect">
                  <a:avLst/>
                </a:prstGeom>
                <a:grpFill/>
                <a:ln>
                  <a:solidFill>
                    <a:srgbClr val="FFAA5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fr-FR"/>
                </a:p>
              </p:txBody>
            </p:sp>
            <p:sp>
              <p:nvSpPr>
                <p:cNvPr id="41" name="Rectangle 40"/>
                <p:cNvSpPr/>
                <p:nvPr/>
              </p:nvSpPr>
              <p:spPr bwMode="auto">
                <a:xfrm>
                  <a:off x="1366680" y="1585858"/>
                  <a:ext cx="275432" cy="280070"/>
                </a:xfrm>
                <a:prstGeom prst="rect">
                  <a:avLst/>
                </a:prstGeom>
                <a:grpFill/>
                <a:ln>
                  <a:solidFill>
                    <a:srgbClr val="FFAA5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fr-FR"/>
                </a:p>
              </p:txBody>
            </p:sp>
            <p:sp>
              <p:nvSpPr>
                <p:cNvPr id="42" name="Rectangle 41"/>
                <p:cNvSpPr/>
                <p:nvPr/>
              </p:nvSpPr>
              <p:spPr bwMode="auto">
                <a:xfrm>
                  <a:off x="1069550" y="1134646"/>
                  <a:ext cx="275432" cy="280070"/>
                </a:xfrm>
                <a:prstGeom prst="rect">
                  <a:avLst/>
                </a:prstGeom>
                <a:grpFill/>
                <a:ln>
                  <a:solidFill>
                    <a:srgbClr val="FFAA5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fr-FR"/>
                </a:p>
              </p:txBody>
            </p:sp>
            <p:sp>
              <p:nvSpPr>
                <p:cNvPr id="43" name="Rectangle 42"/>
                <p:cNvSpPr/>
                <p:nvPr/>
              </p:nvSpPr>
              <p:spPr bwMode="auto">
                <a:xfrm>
                  <a:off x="1045262" y="1490813"/>
                  <a:ext cx="275432" cy="280070"/>
                </a:xfrm>
                <a:prstGeom prst="rect">
                  <a:avLst/>
                </a:prstGeom>
                <a:grpFill/>
                <a:ln>
                  <a:solidFill>
                    <a:srgbClr val="FFAA5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fr-FR"/>
                </a:p>
              </p:txBody>
            </p:sp>
            <p:sp>
              <p:nvSpPr>
                <p:cNvPr id="44" name="Rectangle 43"/>
                <p:cNvSpPr/>
                <p:nvPr/>
              </p:nvSpPr>
              <p:spPr bwMode="auto">
                <a:xfrm>
                  <a:off x="1105408" y="1845060"/>
                  <a:ext cx="275432" cy="280070"/>
                </a:xfrm>
                <a:prstGeom prst="rect">
                  <a:avLst/>
                </a:prstGeom>
                <a:grpFill/>
                <a:ln>
                  <a:solidFill>
                    <a:srgbClr val="FFAA5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fr-FR"/>
                </a:p>
              </p:txBody>
            </p:sp>
            <p:sp>
              <p:nvSpPr>
                <p:cNvPr id="45" name="Forme libre : forme 44"/>
                <p:cNvSpPr/>
                <p:nvPr/>
              </p:nvSpPr>
              <p:spPr bwMode="auto">
                <a:xfrm>
                  <a:off x="928941" y="1083787"/>
                  <a:ext cx="764213" cy="1063531"/>
                </a:xfrm>
                <a:custGeom>
                  <a:avLst/>
                  <a:gdLst>
                    <a:gd name="connsiteX0" fmla="*/ 981075 w 1143000"/>
                    <a:gd name="connsiteY0" fmla="*/ 0 h 1590675"/>
                    <a:gd name="connsiteX1" fmla="*/ 781050 w 1143000"/>
                    <a:gd name="connsiteY1" fmla="*/ 19050 h 1590675"/>
                    <a:gd name="connsiteX2" fmla="*/ 571500 w 1143000"/>
                    <a:gd name="connsiteY2" fmla="*/ 47625 h 1590675"/>
                    <a:gd name="connsiteX3" fmla="*/ 400050 w 1143000"/>
                    <a:gd name="connsiteY3" fmla="*/ 66675 h 1590675"/>
                    <a:gd name="connsiteX4" fmla="*/ 104775 w 1143000"/>
                    <a:gd name="connsiteY4" fmla="*/ 228600 h 1590675"/>
                    <a:gd name="connsiteX5" fmla="*/ 19050 w 1143000"/>
                    <a:gd name="connsiteY5" fmla="*/ 381000 h 1590675"/>
                    <a:gd name="connsiteX6" fmla="*/ 0 w 1143000"/>
                    <a:gd name="connsiteY6" fmla="*/ 533400 h 1590675"/>
                    <a:gd name="connsiteX7" fmla="*/ 19050 w 1143000"/>
                    <a:gd name="connsiteY7" fmla="*/ 857250 h 1590675"/>
                    <a:gd name="connsiteX8" fmla="*/ 76200 w 1143000"/>
                    <a:gd name="connsiteY8" fmla="*/ 1038225 h 1590675"/>
                    <a:gd name="connsiteX9" fmla="*/ 238125 w 1143000"/>
                    <a:gd name="connsiteY9" fmla="*/ 1362075 h 1590675"/>
                    <a:gd name="connsiteX10" fmla="*/ 304800 w 1143000"/>
                    <a:gd name="connsiteY10" fmla="*/ 1438275 h 1590675"/>
                    <a:gd name="connsiteX11" fmla="*/ 371475 w 1143000"/>
                    <a:gd name="connsiteY11" fmla="*/ 1495425 h 1590675"/>
                    <a:gd name="connsiteX12" fmla="*/ 552450 w 1143000"/>
                    <a:gd name="connsiteY12" fmla="*/ 1590675 h 1590675"/>
                    <a:gd name="connsiteX13" fmla="*/ 876300 w 1143000"/>
                    <a:gd name="connsiteY13" fmla="*/ 1533525 h 1590675"/>
                    <a:gd name="connsiteX14" fmla="*/ 952500 w 1143000"/>
                    <a:gd name="connsiteY14" fmla="*/ 1466850 h 1590675"/>
                    <a:gd name="connsiteX15" fmla="*/ 1104900 w 1143000"/>
                    <a:gd name="connsiteY15" fmla="*/ 1257300 h 1590675"/>
                    <a:gd name="connsiteX16" fmla="*/ 1143000 w 1143000"/>
                    <a:gd name="connsiteY16" fmla="*/ 1143000 h 1590675"/>
                    <a:gd name="connsiteX17" fmla="*/ 1133475 w 1143000"/>
                    <a:gd name="connsiteY17" fmla="*/ 838200 h 1590675"/>
                    <a:gd name="connsiteX18" fmla="*/ 1095375 w 1143000"/>
                    <a:gd name="connsiteY18" fmla="*/ 609600 h 1590675"/>
                    <a:gd name="connsiteX19" fmla="*/ 1047750 w 1143000"/>
                    <a:gd name="connsiteY19" fmla="*/ 466725 h 1590675"/>
                    <a:gd name="connsiteX20" fmla="*/ 1019175 w 1143000"/>
                    <a:gd name="connsiteY20" fmla="*/ 361950 h 1590675"/>
                    <a:gd name="connsiteX21" fmla="*/ 962025 w 1143000"/>
                    <a:gd name="connsiteY21" fmla="*/ 219075 h 1590675"/>
                    <a:gd name="connsiteX22" fmla="*/ 923925 w 1143000"/>
                    <a:gd name="connsiteY22" fmla="*/ 152400 h 1590675"/>
                    <a:gd name="connsiteX23" fmla="*/ 866775 w 1143000"/>
                    <a:gd name="connsiteY23" fmla="*/ 95250 h 1590675"/>
                    <a:gd name="connsiteX24" fmla="*/ 809625 w 1143000"/>
                    <a:gd name="connsiteY24" fmla="*/ 66675 h 1590675"/>
                    <a:gd name="connsiteX25" fmla="*/ 781050 w 1143000"/>
                    <a:gd name="connsiteY25" fmla="*/ 47625 h 1590675"/>
                    <a:gd name="connsiteX26" fmla="*/ 685800 w 1143000"/>
                    <a:gd name="connsiteY26" fmla="*/ 19050 h 15906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1143000" h="1590675" fill="norm" stroke="1" extrusionOk="0">
                      <a:moveTo>
                        <a:pt x="981075" y="0"/>
                      </a:moveTo>
                      <a:cubicBezTo>
                        <a:pt x="914400" y="6350"/>
                        <a:pt x="847578" y="11314"/>
                        <a:pt x="781050" y="19050"/>
                      </a:cubicBezTo>
                      <a:cubicBezTo>
                        <a:pt x="711025" y="27192"/>
                        <a:pt x="641452" y="38881"/>
                        <a:pt x="571500" y="47625"/>
                      </a:cubicBezTo>
                      <a:cubicBezTo>
                        <a:pt x="514442" y="54757"/>
                        <a:pt x="457200" y="60325"/>
                        <a:pt x="400050" y="66675"/>
                      </a:cubicBezTo>
                      <a:cubicBezTo>
                        <a:pt x="271292" y="114112"/>
                        <a:pt x="192280" y="120261"/>
                        <a:pt x="104775" y="228600"/>
                      </a:cubicBezTo>
                      <a:cubicBezTo>
                        <a:pt x="68152" y="273942"/>
                        <a:pt x="47625" y="330200"/>
                        <a:pt x="19050" y="381000"/>
                      </a:cubicBezTo>
                      <a:cubicBezTo>
                        <a:pt x="12700" y="431800"/>
                        <a:pt x="0" y="482205"/>
                        <a:pt x="0" y="533400"/>
                      </a:cubicBezTo>
                      <a:cubicBezTo>
                        <a:pt x="0" y="641537"/>
                        <a:pt x="2910" y="750325"/>
                        <a:pt x="19050" y="857250"/>
                      </a:cubicBezTo>
                      <a:cubicBezTo>
                        <a:pt x="28492" y="919803"/>
                        <a:pt x="53679" y="979108"/>
                        <a:pt x="76200" y="1038225"/>
                      </a:cubicBezTo>
                      <a:cubicBezTo>
                        <a:pt x="123734" y="1163001"/>
                        <a:pt x="162087" y="1258880"/>
                        <a:pt x="238125" y="1362075"/>
                      </a:cubicBezTo>
                      <a:cubicBezTo>
                        <a:pt x="258146" y="1389246"/>
                        <a:pt x="280935" y="1414410"/>
                        <a:pt x="304800" y="1438275"/>
                      </a:cubicBezTo>
                      <a:cubicBezTo>
                        <a:pt x="325498" y="1458973"/>
                        <a:pt x="347655" y="1478411"/>
                        <a:pt x="371475" y="1495425"/>
                      </a:cubicBezTo>
                      <a:cubicBezTo>
                        <a:pt x="498031" y="1585822"/>
                        <a:pt x="459262" y="1572037"/>
                        <a:pt x="552450" y="1590675"/>
                      </a:cubicBezTo>
                      <a:cubicBezTo>
                        <a:pt x="660400" y="1571625"/>
                        <a:pt x="771583" y="1565937"/>
                        <a:pt x="876300" y="1533525"/>
                      </a:cubicBezTo>
                      <a:cubicBezTo>
                        <a:pt x="908542" y="1523545"/>
                        <a:pt x="928635" y="1490715"/>
                        <a:pt x="952500" y="1466850"/>
                      </a:cubicBezTo>
                      <a:cubicBezTo>
                        <a:pt x="1023109" y="1396241"/>
                        <a:pt x="1062781" y="1349197"/>
                        <a:pt x="1104900" y="1257300"/>
                      </a:cubicBezTo>
                      <a:cubicBezTo>
                        <a:pt x="1121633" y="1220791"/>
                        <a:pt x="1130300" y="1181100"/>
                        <a:pt x="1143000" y="1143000"/>
                      </a:cubicBezTo>
                      <a:cubicBezTo>
                        <a:pt x="1139825" y="1041400"/>
                        <a:pt x="1140237" y="939624"/>
                        <a:pt x="1133475" y="838200"/>
                      </a:cubicBezTo>
                      <a:cubicBezTo>
                        <a:pt x="1132377" y="821731"/>
                        <a:pt x="1102047" y="634384"/>
                        <a:pt x="1095375" y="609600"/>
                      </a:cubicBezTo>
                      <a:cubicBezTo>
                        <a:pt x="1082324" y="561125"/>
                        <a:pt x="1062513" y="514706"/>
                        <a:pt x="1047750" y="466725"/>
                      </a:cubicBezTo>
                      <a:cubicBezTo>
                        <a:pt x="1037104" y="432125"/>
                        <a:pt x="1029577" y="396624"/>
                        <a:pt x="1019175" y="361950"/>
                      </a:cubicBezTo>
                      <a:cubicBezTo>
                        <a:pt x="997592" y="290008"/>
                        <a:pt x="994364" y="279132"/>
                        <a:pt x="962025" y="219075"/>
                      </a:cubicBezTo>
                      <a:cubicBezTo>
                        <a:pt x="949889" y="196537"/>
                        <a:pt x="939532" y="172689"/>
                        <a:pt x="923925" y="152400"/>
                      </a:cubicBezTo>
                      <a:cubicBezTo>
                        <a:pt x="907499" y="131046"/>
                        <a:pt x="890872" y="107298"/>
                        <a:pt x="866775" y="95250"/>
                      </a:cubicBezTo>
                      <a:cubicBezTo>
                        <a:pt x="847725" y="85725"/>
                        <a:pt x="828243" y="77018"/>
                        <a:pt x="809625" y="66675"/>
                      </a:cubicBezTo>
                      <a:cubicBezTo>
                        <a:pt x="799618" y="61116"/>
                        <a:pt x="791808" y="51537"/>
                        <a:pt x="781050" y="47625"/>
                      </a:cubicBezTo>
                      <a:cubicBezTo>
                        <a:pt x="628723" y="-7767"/>
                        <a:pt x="747043" y="49671"/>
                        <a:pt x="685800" y="19050"/>
                      </a:cubicBezTo>
                    </a:path>
                  </a:pathLst>
                </a:custGeom>
                <a:grpFill/>
                <a:ln w="38100">
                  <a:solidFill>
                    <a:srgbClr val="FFAA5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fr-FR"/>
                </a:p>
              </p:txBody>
            </p:sp>
          </p:grpSp>
        </p:grpSp>
      </p:grpSp>
      <p:grpSp>
        <p:nvGrpSpPr>
          <p:cNvPr id="1199864568" name="Groupe 84"/>
          <p:cNvGrpSpPr/>
          <p:nvPr/>
        </p:nvGrpSpPr>
        <p:grpSpPr bwMode="auto">
          <a:xfrm>
            <a:off x="5287935" y="799011"/>
            <a:ext cx="1854926" cy="2629989"/>
            <a:chOff x="7271657" y="3524795"/>
            <a:chExt cx="1854926" cy="2629989"/>
          </a:xfrm>
        </p:grpSpPr>
        <p:sp>
          <p:nvSpPr>
            <p:cNvPr id="8" name="Rectangle 7"/>
            <p:cNvSpPr/>
            <p:nvPr/>
          </p:nvSpPr>
          <p:spPr bwMode="auto">
            <a:xfrm>
              <a:off x="7271657" y="3524795"/>
              <a:ext cx="1854926" cy="2629989"/>
            </a:xfrm>
            <a:prstGeom prst="rect">
              <a:avLst/>
            </a:prstGeom>
            <a:solidFill>
              <a:srgbClr val="F1CE2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>
                <a:defRPr/>
              </a:pPr>
              <a:endParaRPr lang="fr-FR"/>
            </a:p>
            <a:p>
              <a:pPr algn="ctr">
                <a:defRPr/>
              </a:pPr>
              <a:endParaRPr lang="fr-FR"/>
            </a:p>
            <a:p>
              <a:pPr algn="ctr">
                <a:defRPr/>
              </a:pPr>
              <a:r>
                <a:rPr lang="fr-FR"/>
                <a:t>Outils et espaces</a:t>
              </a:r>
              <a:endParaRPr/>
            </a:p>
            <a:p>
              <a:pPr algn="ctr">
                <a:defRPr/>
              </a:pPr>
              <a:endParaRPr lang="fr-FR"/>
            </a:p>
          </p:txBody>
        </p:sp>
        <p:grpSp>
          <p:nvGrpSpPr>
            <p:cNvPr id="64" name="Groupe 63"/>
            <p:cNvGrpSpPr/>
            <p:nvPr/>
          </p:nvGrpSpPr>
          <p:grpSpPr bwMode="auto">
            <a:xfrm>
              <a:off x="7374616" y="4147475"/>
              <a:ext cx="1662699" cy="884423"/>
              <a:chOff x="296730" y="274977"/>
              <a:chExt cx="3454015" cy="1837259"/>
            </a:xfrm>
            <a:solidFill>
              <a:schemeClr val="bg1"/>
            </a:solidFill>
          </p:grpSpPr>
          <p:pic>
            <p:nvPicPr>
              <p:cNvPr id="47" name="Graphique 46" descr="Aide avec un remplissage uni"/>
              <p:cNvPicPr>
                <a:picLocks noChangeAspect="1"/>
              </p:cNvPicPr>
              <p:nvPr/>
            </p:nvPicPr>
            <p:blipFill rotWithShape="1">
              <a:blip r:embed="rId5"/>
              <a:stretch/>
            </p:blipFill>
            <p:spPr bwMode="auto">
              <a:xfrm>
                <a:off x="1545579" y="697610"/>
                <a:ext cx="914400" cy="914400"/>
              </a:xfrm>
              <a:prstGeom prst="rect">
                <a:avLst/>
              </a:prstGeom>
            </p:spPr>
          </p:pic>
          <p:grpSp>
            <p:nvGrpSpPr>
              <p:cNvPr id="48" name="Groupe 47"/>
              <p:cNvGrpSpPr/>
              <p:nvPr/>
            </p:nvGrpSpPr>
            <p:grpSpPr bwMode="auto">
              <a:xfrm>
                <a:off x="2765333" y="278879"/>
                <a:ext cx="976111" cy="689789"/>
                <a:chOff x="10418956" y="841417"/>
                <a:chExt cx="1472754" cy="1040752"/>
              </a:xfrm>
              <a:grpFill/>
            </p:grpSpPr>
            <p:grpSp>
              <p:nvGrpSpPr>
                <p:cNvPr id="49" name="Groupe 48"/>
                <p:cNvGrpSpPr/>
                <p:nvPr/>
              </p:nvGrpSpPr>
              <p:grpSpPr bwMode="auto">
                <a:xfrm rot="19766643">
                  <a:off x="10418956" y="967769"/>
                  <a:ext cx="914400" cy="914400"/>
                  <a:chOff x="8464597" y="537132"/>
                  <a:chExt cx="914400" cy="914400"/>
                </a:xfrm>
                <a:grpFill/>
              </p:grpSpPr>
              <p:pic>
                <p:nvPicPr>
                  <p:cNvPr id="56" name="Graphique 55" descr="Carte à jouer avec un remplissage uni"/>
                  <p:cNvPicPr>
                    <a:picLocks noChangeAspect="1"/>
                  </p:cNvPicPr>
                  <p:nvPr/>
                </p:nvPicPr>
                <p:blipFill rotWithShape="1">
                  <a:blip r:embed="rId17">
                    <a:extLst>
                      <a:ext uri="{96DAC541-7B7A-43D3-8B79-37D633B846F1}">
                        <asvg:svgBlip xmlns:asvg="http://schemas.microsoft.com/office/drawing/2016/SVG/main" r:embed="rId18"/>
                      </a:ext>
                    </a:extLst>
                  </a:blip>
                  <a:stretch/>
                </p:blipFill>
                <p:spPr bwMode="auto">
                  <a:xfrm>
                    <a:off x="8464597" y="537132"/>
                    <a:ext cx="914400" cy="914400"/>
                  </a:xfrm>
                  <a:prstGeom prst="rect">
                    <a:avLst/>
                  </a:prstGeom>
                </p:spPr>
              </p:pic>
              <p:sp>
                <p:nvSpPr>
                  <p:cNvPr id="57" name="Rectangle 56"/>
                  <p:cNvSpPr/>
                  <p:nvPr/>
                </p:nvSpPr>
                <p:spPr bwMode="auto">
                  <a:xfrm>
                    <a:off x="8748713" y="719138"/>
                    <a:ext cx="342900" cy="557212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fr-FR"/>
                  </a:p>
                </p:txBody>
              </p:sp>
            </p:grpSp>
            <p:grpSp>
              <p:nvGrpSpPr>
                <p:cNvPr id="50" name="Groupe 49"/>
                <p:cNvGrpSpPr/>
                <p:nvPr/>
              </p:nvGrpSpPr>
              <p:grpSpPr bwMode="auto">
                <a:xfrm>
                  <a:off x="10717267" y="841417"/>
                  <a:ext cx="914400" cy="914400"/>
                  <a:chOff x="8464597" y="537132"/>
                  <a:chExt cx="914400" cy="914400"/>
                </a:xfrm>
                <a:grpFill/>
              </p:grpSpPr>
              <p:pic>
                <p:nvPicPr>
                  <p:cNvPr id="54" name="Graphique 53" descr="Carte à jouer avec un remplissage uni"/>
                  <p:cNvPicPr>
                    <a:picLocks noChangeAspect="1"/>
                  </p:cNvPicPr>
                  <p:nvPr/>
                </p:nvPicPr>
                <p:blipFill rotWithShape="1">
                  <a:blip r:embed="rId17"/>
                  <a:stretch/>
                </p:blipFill>
                <p:spPr bwMode="auto">
                  <a:xfrm>
                    <a:off x="8464597" y="537132"/>
                    <a:ext cx="914400" cy="914400"/>
                  </a:xfrm>
                  <a:prstGeom prst="rect">
                    <a:avLst/>
                  </a:prstGeom>
                </p:spPr>
              </p:pic>
              <p:sp>
                <p:nvSpPr>
                  <p:cNvPr id="55" name="Rectangle 54"/>
                  <p:cNvSpPr/>
                  <p:nvPr/>
                </p:nvSpPr>
                <p:spPr bwMode="auto">
                  <a:xfrm>
                    <a:off x="8708520" y="690563"/>
                    <a:ext cx="428625" cy="617162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fr-FR"/>
                  </a:p>
                </p:txBody>
              </p:sp>
            </p:grpSp>
            <p:grpSp>
              <p:nvGrpSpPr>
                <p:cNvPr id="51" name="Groupe 50"/>
                <p:cNvGrpSpPr/>
                <p:nvPr/>
              </p:nvGrpSpPr>
              <p:grpSpPr bwMode="auto">
                <a:xfrm rot="1566252">
                  <a:off x="10977309" y="893806"/>
                  <a:ext cx="914400" cy="914400"/>
                  <a:chOff x="8464597" y="537132"/>
                  <a:chExt cx="914400" cy="914400"/>
                </a:xfrm>
                <a:grpFill/>
              </p:grpSpPr>
              <p:pic>
                <p:nvPicPr>
                  <p:cNvPr id="52" name="Graphique 51" descr="Carte à jouer avec un remplissage uni"/>
                  <p:cNvPicPr>
                    <a:picLocks noChangeAspect="1"/>
                  </p:cNvPicPr>
                  <p:nvPr/>
                </p:nvPicPr>
                <p:blipFill rotWithShape="1">
                  <a:blip r:embed="rId17"/>
                  <a:stretch/>
                </p:blipFill>
                <p:spPr bwMode="auto">
                  <a:xfrm>
                    <a:off x="8464597" y="537132"/>
                    <a:ext cx="914400" cy="914400"/>
                  </a:xfrm>
                  <a:prstGeom prst="rect">
                    <a:avLst/>
                  </a:prstGeom>
                </p:spPr>
              </p:pic>
              <p:sp>
                <p:nvSpPr>
                  <p:cNvPr id="53" name="Rectangle 52"/>
                  <p:cNvSpPr/>
                  <p:nvPr/>
                </p:nvSpPr>
                <p:spPr bwMode="auto">
                  <a:xfrm>
                    <a:off x="8708520" y="690563"/>
                    <a:ext cx="428625" cy="617162"/>
                  </a:xfrm>
                  <a:prstGeom prst="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/>
                    </a:pPr>
                    <a:endParaRPr lang="fr-FR"/>
                  </a:p>
                </p:txBody>
              </p:sp>
            </p:grpSp>
          </p:grpSp>
          <p:grpSp>
            <p:nvGrpSpPr>
              <p:cNvPr id="58" name="Groupe 57"/>
              <p:cNvGrpSpPr/>
              <p:nvPr/>
            </p:nvGrpSpPr>
            <p:grpSpPr bwMode="auto">
              <a:xfrm>
                <a:off x="296730" y="1095248"/>
                <a:ext cx="716083" cy="970336"/>
                <a:chOff x="4460125" y="4780518"/>
                <a:chExt cx="716083" cy="970336"/>
              </a:xfrm>
              <a:grpFill/>
            </p:grpSpPr>
            <p:pic>
              <p:nvPicPr>
                <p:cNvPr id="59" name="Graphique 58" descr="Table et chaises avec un remplissage uni"/>
                <p:cNvPicPr>
                  <a:picLocks noChangeAspect="1"/>
                </p:cNvPicPr>
                <p:nvPr/>
              </p:nvPicPr>
              <p:blipFill rotWithShape="1">
                <a:blip r:embed="rId19">
                  <a:extLst>
                    <a:ext uri="{96DAC541-7B7A-43D3-8B79-37D633B846F1}">
                      <asvg:svgBlip xmlns:asvg="http://schemas.microsoft.com/office/drawing/2016/SVG/main" r:embed="rId20"/>
                    </a:ext>
                  </a:extLst>
                </a:blip>
                <a:stretch/>
              </p:blipFill>
              <p:spPr bwMode="auto">
                <a:xfrm>
                  <a:off x="4541770" y="4780518"/>
                  <a:ext cx="634438" cy="634438"/>
                </a:xfrm>
                <a:prstGeom prst="rect">
                  <a:avLst/>
                </a:prstGeom>
              </p:spPr>
            </p:pic>
            <p:pic>
              <p:nvPicPr>
                <p:cNvPr id="60" name="Graphique 59" descr="Table et chaises avec un remplissage uni"/>
                <p:cNvPicPr>
                  <a:picLocks noChangeAspect="1"/>
                </p:cNvPicPr>
                <p:nvPr/>
              </p:nvPicPr>
              <p:blipFill rotWithShape="1">
                <a:blip r:embed="rId19"/>
                <a:stretch/>
              </p:blipFill>
              <p:spPr bwMode="auto">
                <a:xfrm>
                  <a:off x="4460125" y="5116416"/>
                  <a:ext cx="634438" cy="634438"/>
                </a:xfrm>
                <a:prstGeom prst="rect">
                  <a:avLst/>
                </a:prstGeom>
              </p:spPr>
            </p:pic>
            <p:sp>
              <p:nvSpPr>
                <p:cNvPr id="61" name="Organigramme : Données 60"/>
                <p:cNvSpPr/>
                <p:nvPr/>
              </p:nvSpPr>
              <p:spPr bwMode="auto">
                <a:xfrm>
                  <a:off x="4640613" y="5039076"/>
                  <a:ext cx="372169" cy="342598"/>
                </a:xfrm>
                <a:prstGeom prst="flowChartInputOutput">
                  <a:avLst/>
                </a:prstGeom>
                <a:grpFill/>
                <a:ln>
                  <a:solidFill>
                    <a:srgbClr val="F1CE2C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/>
                  </a:pPr>
                  <a:endParaRPr lang="fr-FR"/>
                </a:p>
              </p:txBody>
            </p:sp>
          </p:grpSp>
          <p:pic>
            <p:nvPicPr>
              <p:cNvPr id="62" name="Graphique 61" descr="Dé avec un remplissage uni"/>
              <p:cNvPicPr>
                <a:picLocks noChangeAspect="1"/>
              </p:cNvPicPr>
              <p:nvPr/>
            </p:nvPicPr>
            <p:blipFill rotWithShape="1">
              <a:blip r:embed="rId21">
                <a:extLst>
                  <a:ext uri="{96DAC541-7B7A-43D3-8B79-37D633B846F1}">
                    <asvg:svgBlip xmlns:asvg="http://schemas.microsoft.com/office/drawing/2016/SVG/main" r:embed="rId22"/>
                  </a:ext>
                </a:extLst>
              </a:blip>
              <a:stretch/>
            </p:blipFill>
            <p:spPr bwMode="auto">
              <a:xfrm>
                <a:off x="2836345" y="1197837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63" name="Graphique 62" descr="Papier avec un remplissage uni"/>
              <p:cNvPicPr>
                <a:picLocks noChangeAspect="1"/>
              </p:cNvPicPr>
              <p:nvPr/>
            </p:nvPicPr>
            <p:blipFill rotWithShape="1">
              <a:blip r:embed="rId23">
                <a:extLst>
                  <a:ext uri="{96DAC541-7B7A-43D3-8B79-37D633B846F1}">
                    <asvg:svgBlip xmlns:asvg="http://schemas.microsoft.com/office/drawing/2016/SVG/main" r:embed="rId24"/>
                  </a:ext>
                </a:extLst>
              </a:blip>
              <a:stretch/>
            </p:blipFill>
            <p:spPr bwMode="auto">
              <a:xfrm>
                <a:off x="334821" y="274977"/>
                <a:ext cx="596347" cy="596347"/>
              </a:xfrm>
              <a:prstGeom prst="rect">
                <a:avLst/>
              </a:prstGeom>
            </p:spPr>
          </p:pic>
        </p:grpSp>
      </p:grpSp>
      <p:grpSp>
        <p:nvGrpSpPr>
          <p:cNvPr id="1937564499" name="Groupe 86"/>
          <p:cNvGrpSpPr/>
          <p:nvPr/>
        </p:nvGrpSpPr>
        <p:grpSpPr bwMode="auto">
          <a:xfrm>
            <a:off x="5298602" y="3533541"/>
            <a:ext cx="1854926" cy="2629989"/>
            <a:chOff x="9239794" y="3524794"/>
            <a:chExt cx="1854926" cy="2629989"/>
          </a:xfrm>
        </p:grpSpPr>
        <p:sp>
          <p:nvSpPr>
            <p:cNvPr id="9" name="Rectangle 8"/>
            <p:cNvSpPr/>
            <p:nvPr/>
          </p:nvSpPr>
          <p:spPr bwMode="auto">
            <a:xfrm>
              <a:off x="9239794" y="3524794"/>
              <a:ext cx="1854926" cy="2629989"/>
            </a:xfrm>
            <a:prstGeom prst="rect">
              <a:avLst/>
            </a:prstGeom>
            <a:solidFill>
              <a:srgbClr val="AD29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>
                <a:defRPr/>
              </a:pPr>
              <a:endParaRPr lang="fr-FR"/>
            </a:p>
            <a:p>
              <a:pPr algn="ctr">
                <a:defRPr/>
              </a:pPr>
              <a:endParaRPr lang="fr-FR"/>
            </a:p>
            <a:p>
              <a:pPr algn="ctr">
                <a:defRPr/>
              </a:pPr>
              <a:r>
                <a:rPr lang="fr-FR"/>
                <a:t>Univers narratif</a:t>
              </a:r>
              <a:endParaRPr/>
            </a:p>
            <a:p>
              <a:pPr algn="ctr">
                <a:defRPr/>
              </a:pPr>
              <a:endParaRPr lang="fr-FR"/>
            </a:p>
          </p:txBody>
        </p:sp>
        <p:pic>
          <p:nvPicPr>
            <p:cNvPr id="65" name="Graphique 64" descr="Création de récits avec un remplissage uni"/>
            <p:cNvPicPr>
              <a:picLocks noChangeAspect="1"/>
            </p:cNvPicPr>
            <p:nvPr/>
          </p:nvPicPr>
          <p:blipFill rotWithShape="1"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/>
          </p:blipFill>
          <p:spPr bwMode="auto">
            <a:xfrm>
              <a:off x="9670167" y="4006154"/>
              <a:ext cx="1068011" cy="1068011"/>
            </a:xfrm>
            <a:prstGeom prst="rect">
              <a:avLst/>
            </a:prstGeom>
          </p:spPr>
        </p:pic>
      </p:grpSp>
      <p:grpSp>
        <p:nvGrpSpPr>
          <p:cNvPr id="241045826" name="Groupe 88"/>
          <p:cNvGrpSpPr/>
          <p:nvPr/>
        </p:nvGrpSpPr>
        <p:grpSpPr bwMode="auto">
          <a:xfrm>
            <a:off x="7269198" y="3533541"/>
            <a:ext cx="1854926" cy="2629989"/>
            <a:chOff x="5303520" y="3524796"/>
            <a:chExt cx="1854926" cy="2629989"/>
          </a:xfrm>
        </p:grpSpPr>
        <p:sp>
          <p:nvSpPr>
            <p:cNvPr id="7" name="Rectangle 6"/>
            <p:cNvSpPr/>
            <p:nvPr/>
          </p:nvSpPr>
          <p:spPr bwMode="auto">
            <a:xfrm>
              <a:off x="5303520" y="3524796"/>
              <a:ext cx="1854926" cy="2629989"/>
            </a:xfrm>
            <a:prstGeom prst="rect">
              <a:avLst/>
            </a:prstGeom>
            <a:solidFill>
              <a:srgbClr val="ABD6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b"/>
            <a:lstStyle/>
            <a:p>
              <a:pPr algn="ctr">
                <a:defRPr/>
              </a:pPr>
              <a:endParaRPr lang="fr-FR">
                <a:solidFill>
                  <a:schemeClr val="bg1"/>
                </a:solidFill>
              </a:endParaRPr>
            </a:p>
            <a:p>
              <a:pPr algn="ctr">
                <a:defRPr/>
              </a:pPr>
              <a:endParaRPr lang="fr-FR">
                <a:solidFill>
                  <a:schemeClr val="bg1"/>
                </a:solidFill>
              </a:endParaRPr>
            </a:p>
            <a:p>
              <a:pPr algn="ctr">
                <a:defRPr/>
              </a:pPr>
              <a:endParaRPr lang="fr-FR">
                <a:solidFill>
                  <a:schemeClr val="bg1"/>
                </a:solidFill>
              </a:endParaRPr>
            </a:p>
            <a:p>
              <a:pPr algn="ctr">
                <a:defRPr/>
              </a:pPr>
              <a:r>
                <a:rPr lang="fr-FR">
                  <a:solidFill>
                    <a:schemeClr val="bg1"/>
                  </a:solidFill>
                </a:rPr>
                <a:t>Composition de groupes</a:t>
              </a:r>
              <a:endParaRPr/>
            </a:p>
            <a:p>
              <a:pPr algn="ctr">
                <a:defRPr/>
              </a:pPr>
              <a:endParaRPr lang="fr-FR">
                <a:solidFill>
                  <a:schemeClr val="bg1"/>
                </a:solidFill>
              </a:endParaRPr>
            </a:p>
          </p:txBody>
        </p:sp>
        <p:grpSp>
          <p:nvGrpSpPr>
            <p:cNvPr id="84" name="Groupe 83"/>
            <p:cNvGrpSpPr/>
            <p:nvPr/>
          </p:nvGrpSpPr>
          <p:grpSpPr bwMode="auto">
            <a:xfrm>
              <a:off x="5439388" y="4137665"/>
              <a:ext cx="1524797" cy="806891"/>
              <a:chOff x="161688" y="127669"/>
              <a:chExt cx="3850792" cy="2037759"/>
            </a:xfrm>
            <a:solidFill>
              <a:schemeClr val="bg1"/>
            </a:solidFill>
          </p:grpSpPr>
          <p:pic>
            <p:nvPicPr>
              <p:cNvPr id="67" name="Graphique 66" descr="Personne confuse avec un remplissage uni"/>
              <p:cNvPicPr>
                <a:picLocks noChangeAspect="1"/>
              </p:cNvPicPr>
              <p:nvPr/>
            </p:nvPicPr>
            <p:blipFill rotWithShape="1">
              <a:blip r:embed="rId9"/>
              <a:stretch/>
            </p:blipFill>
            <p:spPr bwMode="auto">
              <a:xfrm>
                <a:off x="715732" y="1563325"/>
                <a:ext cx="602103" cy="602103"/>
              </a:xfrm>
              <a:prstGeom prst="rect">
                <a:avLst/>
              </a:prstGeom>
            </p:spPr>
          </p:pic>
          <p:pic>
            <p:nvPicPr>
              <p:cNvPr id="68" name="Graphique 67" descr="Personne confuse avec un remplissage uni"/>
              <p:cNvPicPr>
                <a:picLocks noChangeAspect="1"/>
              </p:cNvPicPr>
              <p:nvPr/>
            </p:nvPicPr>
            <p:blipFill rotWithShape="1">
              <a:blip r:embed="rId9"/>
              <a:stretch/>
            </p:blipFill>
            <p:spPr bwMode="auto">
              <a:xfrm>
                <a:off x="458064" y="1380404"/>
                <a:ext cx="602103" cy="602103"/>
              </a:xfrm>
              <a:prstGeom prst="rect">
                <a:avLst/>
              </a:prstGeom>
            </p:spPr>
          </p:pic>
          <p:pic>
            <p:nvPicPr>
              <p:cNvPr id="69" name="Graphique 68" descr="Personne confuse avec un remplissage uni"/>
              <p:cNvPicPr>
                <a:picLocks noChangeAspect="1"/>
              </p:cNvPicPr>
              <p:nvPr/>
            </p:nvPicPr>
            <p:blipFill rotWithShape="1">
              <a:blip r:embed="rId9"/>
              <a:stretch/>
            </p:blipFill>
            <p:spPr bwMode="auto">
              <a:xfrm>
                <a:off x="3319060" y="1541561"/>
                <a:ext cx="602103" cy="602103"/>
              </a:xfrm>
              <a:prstGeom prst="rect">
                <a:avLst/>
              </a:prstGeom>
            </p:spPr>
          </p:pic>
          <p:pic>
            <p:nvPicPr>
              <p:cNvPr id="70" name="Graphique 69" descr="Personne confuse avec un remplissage uni"/>
              <p:cNvPicPr>
                <a:picLocks noChangeAspect="1"/>
              </p:cNvPicPr>
              <p:nvPr/>
            </p:nvPicPr>
            <p:blipFill rotWithShape="1">
              <a:blip r:embed="rId9"/>
              <a:stretch/>
            </p:blipFill>
            <p:spPr bwMode="auto">
              <a:xfrm>
                <a:off x="3010826" y="1292309"/>
                <a:ext cx="602103" cy="602103"/>
              </a:xfrm>
              <a:prstGeom prst="rect">
                <a:avLst/>
              </a:prstGeom>
            </p:spPr>
          </p:pic>
          <p:pic>
            <p:nvPicPr>
              <p:cNvPr id="71" name="Graphique 70" descr="Personne confuse avec un remplissage uni"/>
              <p:cNvPicPr>
                <a:picLocks noChangeAspect="1"/>
              </p:cNvPicPr>
              <p:nvPr/>
            </p:nvPicPr>
            <p:blipFill rotWithShape="1">
              <a:blip r:embed="rId9"/>
              <a:stretch/>
            </p:blipFill>
            <p:spPr bwMode="auto">
              <a:xfrm>
                <a:off x="3410377" y="300848"/>
                <a:ext cx="602103" cy="602103"/>
              </a:xfrm>
              <a:prstGeom prst="rect">
                <a:avLst/>
              </a:prstGeom>
            </p:spPr>
          </p:pic>
          <p:pic>
            <p:nvPicPr>
              <p:cNvPr id="72" name="Graphique 71" descr="Personne confuse avec un remplissage uni"/>
              <p:cNvPicPr>
                <a:picLocks noChangeAspect="1"/>
              </p:cNvPicPr>
              <p:nvPr/>
            </p:nvPicPr>
            <p:blipFill rotWithShape="1">
              <a:blip r:embed="rId9"/>
              <a:stretch/>
            </p:blipFill>
            <p:spPr bwMode="auto">
              <a:xfrm>
                <a:off x="3030022" y="127669"/>
                <a:ext cx="602103" cy="602103"/>
              </a:xfrm>
              <a:prstGeom prst="rect">
                <a:avLst/>
              </a:prstGeom>
            </p:spPr>
          </p:pic>
          <p:pic>
            <p:nvPicPr>
              <p:cNvPr id="73" name="Graphique 72" descr="Personne confuse avec un remplissage uni"/>
              <p:cNvPicPr>
                <a:picLocks noChangeAspect="1"/>
              </p:cNvPicPr>
              <p:nvPr/>
            </p:nvPicPr>
            <p:blipFill rotWithShape="1">
              <a:blip r:embed="rId9"/>
              <a:stretch/>
            </p:blipFill>
            <p:spPr bwMode="auto">
              <a:xfrm>
                <a:off x="3131777" y="578949"/>
                <a:ext cx="602103" cy="602103"/>
              </a:xfrm>
              <a:prstGeom prst="rect">
                <a:avLst/>
              </a:prstGeom>
            </p:spPr>
          </p:pic>
          <p:pic>
            <p:nvPicPr>
              <p:cNvPr id="74" name="Graphique 73" descr="Personne confuse avec un remplissage uni"/>
              <p:cNvPicPr>
                <a:picLocks noChangeAspect="1"/>
              </p:cNvPicPr>
              <p:nvPr/>
            </p:nvPicPr>
            <p:blipFill rotWithShape="1">
              <a:blip r:embed="rId9"/>
              <a:stretch/>
            </p:blipFill>
            <p:spPr bwMode="auto">
              <a:xfrm>
                <a:off x="628214" y="256149"/>
                <a:ext cx="602103" cy="602103"/>
              </a:xfrm>
              <a:prstGeom prst="rect">
                <a:avLst/>
              </a:prstGeom>
            </p:spPr>
          </p:pic>
          <p:pic>
            <p:nvPicPr>
              <p:cNvPr id="75" name="Graphique 74" descr="Personne confuse avec un remplissage uni"/>
              <p:cNvPicPr>
                <a:picLocks noChangeAspect="1"/>
              </p:cNvPicPr>
              <p:nvPr/>
            </p:nvPicPr>
            <p:blipFill rotWithShape="1">
              <a:blip r:embed="rId9"/>
              <a:stretch/>
            </p:blipFill>
            <p:spPr bwMode="auto">
              <a:xfrm>
                <a:off x="276230" y="152443"/>
                <a:ext cx="602103" cy="602103"/>
              </a:xfrm>
              <a:prstGeom prst="rect">
                <a:avLst/>
              </a:prstGeom>
            </p:spPr>
          </p:pic>
          <p:pic>
            <p:nvPicPr>
              <p:cNvPr id="76" name="Graphique 75" descr="Personne confuse avec un remplissage uni"/>
              <p:cNvPicPr>
                <a:picLocks noChangeAspect="1"/>
              </p:cNvPicPr>
              <p:nvPr/>
            </p:nvPicPr>
            <p:blipFill rotWithShape="1">
              <a:blip r:embed="rId9"/>
              <a:stretch/>
            </p:blipFill>
            <p:spPr bwMode="auto">
              <a:xfrm>
                <a:off x="423961" y="517722"/>
                <a:ext cx="602103" cy="602103"/>
              </a:xfrm>
              <a:prstGeom prst="rect">
                <a:avLst/>
              </a:prstGeom>
            </p:spPr>
          </p:pic>
          <p:pic>
            <p:nvPicPr>
              <p:cNvPr id="77" name="Graphique 76" descr="Personne confuse avec un remplissage uni"/>
              <p:cNvPicPr>
                <a:picLocks noChangeAspect="1"/>
              </p:cNvPicPr>
              <p:nvPr/>
            </p:nvPicPr>
            <p:blipFill rotWithShape="1">
              <a:blip r:embed="rId9"/>
              <a:stretch/>
            </p:blipFill>
            <p:spPr bwMode="auto">
              <a:xfrm>
                <a:off x="161688" y="1537159"/>
                <a:ext cx="602103" cy="602103"/>
              </a:xfrm>
              <a:prstGeom prst="rect">
                <a:avLst/>
              </a:prstGeom>
            </p:spPr>
          </p:pic>
          <p:pic>
            <p:nvPicPr>
              <p:cNvPr id="78" name="Graphique 77" descr="Personne confuse avec un remplissage uni"/>
              <p:cNvPicPr>
                <a:picLocks noChangeAspect="1"/>
              </p:cNvPicPr>
              <p:nvPr/>
            </p:nvPicPr>
            <p:blipFill rotWithShape="1">
              <a:blip r:embed="rId9"/>
              <a:stretch/>
            </p:blipFill>
            <p:spPr bwMode="auto">
              <a:xfrm>
                <a:off x="2803628" y="1563325"/>
                <a:ext cx="602103" cy="602103"/>
              </a:xfrm>
              <a:prstGeom prst="rect">
                <a:avLst/>
              </a:prstGeom>
            </p:spPr>
          </p:pic>
          <p:sp>
            <p:nvSpPr>
              <p:cNvPr id="79" name="Flèche : droite 78"/>
              <p:cNvSpPr/>
              <p:nvPr/>
            </p:nvSpPr>
            <p:spPr bwMode="auto">
              <a:xfrm rot="19461843">
                <a:off x="2535926" y="605555"/>
                <a:ext cx="308234" cy="323982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/>
              </a:p>
            </p:txBody>
          </p:sp>
          <p:sp>
            <p:nvSpPr>
              <p:cNvPr id="80" name="Flèche : droite 79"/>
              <p:cNvSpPr/>
              <p:nvPr/>
            </p:nvSpPr>
            <p:spPr bwMode="auto">
              <a:xfrm rot="2418518">
                <a:off x="2497437" y="1332105"/>
                <a:ext cx="308234" cy="323982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/>
              </a:p>
            </p:txBody>
          </p:sp>
          <p:sp>
            <p:nvSpPr>
              <p:cNvPr id="81" name="Flèche : droite 80"/>
              <p:cNvSpPr/>
              <p:nvPr/>
            </p:nvSpPr>
            <p:spPr bwMode="auto">
              <a:xfrm rot="8175033">
                <a:off x="1520771" y="1318229"/>
                <a:ext cx="308234" cy="323982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/>
              </a:p>
            </p:txBody>
          </p:sp>
          <p:sp>
            <p:nvSpPr>
              <p:cNvPr id="82" name="Flèche : droite 81"/>
              <p:cNvSpPr/>
              <p:nvPr/>
            </p:nvSpPr>
            <p:spPr bwMode="auto">
              <a:xfrm rot="13045094">
                <a:off x="1541316" y="616659"/>
                <a:ext cx="308234" cy="323982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/>
                </a:pPr>
                <a:endParaRPr lang="fr-FR"/>
              </a:p>
            </p:txBody>
          </p:sp>
          <p:pic>
            <p:nvPicPr>
              <p:cNvPr id="83" name="Graphique 82" descr="Aide avec un remplissage uni"/>
              <p:cNvPicPr>
                <a:picLocks noChangeAspect="1"/>
              </p:cNvPicPr>
              <p:nvPr/>
            </p:nvPicPr>
            <p:blipFill rotWithShape="1">
              <a:blip r:embed="rId5"/>
              <a:stretch/>
            </p:blipFill>
            <p:spPr bwMode="auto">
              <a:xfrm>
                <a:off x="1716071" y="671590"/>
                <a:ext cx="914400" cy="914400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6394970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algn="r">
              <a:defRPr/>
            </a:pPr>
            <a:r>
              <a:rPr lang="fr-FR"/>
              <a:t>Contenu de chaque carte</a:t>
            </a:r>
            <a:endParaRPr/>
          </a:p>
        </p:txBody>
      </p:sp>
      <p:pic>
        <p:nvPicPr>
          <p:cNvPr id="563777732" name="Image 4" descr="Une image contenant texte&#10;&#10;Description générée automatiquement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14724" y="855405"/>
            <a:ext cx="3883262" cy="5432322"/>
          </a:xfrm>
          <a:prstGeom prst="rect">
            <a:avLst/>
          </a:prstGeom>
        </p:spPr>
      </p:pic>
      <p:sp>
        <p:nvSpPr>
          <p:cNvPr id="107518578" name="Flèche : gauche 5"/>
          <p:cNvSpPr/>
          <p:nvPr/>
        </p:nvSpPr>
        <p:spPr bwMode="auto">
          <a:xfrm>
            <a:off x="3946532" y="3648892"/>
            <a:ext cx="2612571" cy="557348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2106674394" name="Flèche : gauche 6"/>
          <p:cNvSpPr/>
          <p:nvPr/>
        </p:nvSpPr>
        <p:spPr bwMode="auto">
          <a:xfrm rot="1763804">
            <a:off x="3922127" y="1829247"/>
            <a:ext cx="2612571" cy="557348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191328561" name="Flèche : gauche 7"/>
          <p:cNvSpPr/>
          <p:nvPr/>
        </p:nvSpPr>
        <p:spPr bwMode="auto">
          <a:xfrm>
            <a:off x="3953534" y="4828403"/>
            <a:ext cx="2612571" cy="557348"/>
          </a:xfrm>
          <a:prstGeom prst="leftArrow">
            <a:avLst>
              <a:gd name="adj1" fmla="val 50000"/>
              <a:gd name="adj2" fmla="val 50000"/>
            </a:avLst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443118090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6896558" y="2107921"/>
            <a:ext cx="3279407" cy="42754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  <a:defRPr/>
            </a:pPr>
            <a:endParaRPr lang="fr-FR" sz="1600" b="1">
              <a:solidFill>
                <a:srgbClr val="000000"/>
              </a:solidFill>
              <a:cs typeface="Calibri"/>
            </a:endParaRPr>
          </a:p>
          <a:p>
            <a:pPr marL="0" indent="0">
              <a:buNone/>
              <a:defRPr/>
            </a:pPr>
            <a:r>
              <a:rPr lang="fr-FR" sz="1600" b="1">
                <a:solidFill>
                  <a:srgbClr val="000000"/>
                </a:solidFill>
                <a:cs typeface="Calibri"/>
              </a:rPr>
              <a:t>Titre de la carte :</a:t>
            </a:r>
            <a:r>
              <a:rPr lang="fr-FR" sz="1600">
                <a:solidFill>
                  <a:srgbClr val="000000"/>
                </a:solidFill>
                <a:cs typeface="Calibri"/>
              </a:rPr>
              <a:t> pour résumer son contenu</a:t>
            </a:r>
            <a:endParaRPr/>
          </a:p>
          <a:p>
            <a:pPr marL="0" indent="0">
              <a:buNone/>
              <a:defRPr/>
            </a:pPr>
            <a:endParaRPr lang="fr-FR" sz="1600">
              <a:solidFill>
                <a:srgbClr val="000000"/>
              </a:solidFill>
              <a:cs typeface="Calibri"/>
            </a:endParaRPr>
          </a:p>
          <a:p>
            <a:pPr marL="0" indent="0">
              <a:buNone/>
              <a:defRPr/>
            </a:pPr>
            <a:endParaRPr lang="fr-FR" sz="1600" b="1">
              <a:solidFill>
                <a:srgbClr val="000000"/>
              </a:solidFill>
              <a:cs typeface="Calibri"/>
            </a:endParaRPr>
          </a:p>
          <a:p>
            <a:pPr marL="0" indent="0">
              <a:buNone/>
              <a:defRPr/>
            </a:pPr>
            <a:r>
              <a:rPr lang="fr-FR" sz="1600" b="1">
                <a:solidFill>
                  <a:srgbClr val="000000"/>
                </a:solidFill>
                <a:cs typeface="Calibri"/>
              </a:rPr>
              <a:t>Description détaillée :</a:t>
            </a:r>
            <a:r>
              <a:rPr lang="fr-FR" sz="1600">
                <a:solidFill>
                  <a:srgbClr val="000000"/>
                </a:solidFill>
                <a:cs typeface="Calibri"/>
              </a:rPr>
              <a:t> pour apprendre cet ingrédient, ses avantages, inconvénients, usages</a:t>
            </a:r>
            <a:endParaRPr/>
          </a:p>
          <a:p>
            <a:pPr marL="0" indent="0">
              <a:buNone/>
              <a:defRPr/>
            </a:pPr>
            <a:endParaRPr lang="fr-FR" sz="1600">
              <a:solidFill>
                <a:srgbClr val="000000"/>
              </a:solidFill>
              <a:cs typeface="Calibri"/>
            </a:endParaRPr>
          </a:p>
          <a:p>
            <a:pPr marL="0" indent="0">
              <a:buNone/>
              <a:defRPr/>
            </a:pPr>
            <a:r>
              <a:rPr lang="fr-FR" sz="1600" b="1">
                <a:solidFill>
                  <a:srgbClr val="000000"/>
                </a:solidFill>
                <a:cs typeface="Calibri"/>
              </a:rPr>
              <a:t>Suggestions de combinaisons :</a:t>
            </a:r>
            <a:r>
              <a:rPr lang="fr-FR" sz="1600">
                <a:solidFill>
                  <a:srgbClr val="000000"/>
                </a:solidFill>
                <a:cs typeface="Calibri"/>
              </a:rPr>
              <a:t> pour avoir une idée de quelles cartes vont bien avec cette carte, afin de composer votre atelier plus facilement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4348207" name="Titre 1"/>
          <p:cNvSpPr>
            <a:spLocks noGrp="1"/>
          </p:cNvSpPr>
          <p:nvPr>
            <p:ph type="title"/>
          </p:nvPr>
        </p:nvSpPr>
        <p:spPr bwMode="auto">
          <a:xfrm>
            <a:off x="838200" y="365126"/>
            <a:ext cx="10515600" cy="102775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fr-FR"/>
              <a:t>Exemple de plateau de conception</a:t>
            </a:r>
            <a:br>
              <a:rPr lang="fr-FR"/>
            </a:br>
            <a:r>
              <a:rPr lang="fr-FR"/>
              <a:t>#OSG Workshop Design Cards</a:t>
            </a:r>
            <a:endParaRPr/>
          </a:p>
        </p:txBody>
      </p:sp>
      <p:sp>
        <p:nvSpPr>
          <p:cNvPr id="1562876526" name="Flèche : droite 2"/>
          <p:cNvSpPr/>
          <p:nvPr/>
        </p:nvSpPr>
        <p:spPr bwMode="auto">
          <a:xfrm>
            <a:off x="446043" y="3123725"/>
            <a:ext cx="11607800" cy="364614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791504215" name="Rectangle 3"/>
          <p:cNvSpPr/>
          <p:nvPr/>
        </p:nvSpPr>
        <p:spPr bwMode="auto">
          <a:xfrm>
            <a:off x="1329622" y="1987389"/>
            <a:ext cx="721017" cy="6728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 sz="1000">
                <a:solidFill>
                  <a:schemeClr val="tx1"/>
                </a:solidFill>
              </a:rPr>
              <a:t>Nommer l’étape 1</a:t>
            </a:r>
            <a:endParaRPr/>
          </a:p>
          <a:p>
            <a:pPr algn="ctr">
              <a:defRPr/>
            </a:pPr>
            <a:r>
              <a:rPr lang="fr-FR" sz="1000">
                <a:solidFill>
                  <a:schemeClr val="tx1"/>
                </a:solidFill>
              </a:rPr>
              <a:t>Durée</a:t>
            </a:r>
            <a:endParaRPr/>
          </a:p>
        </p:txBody>
      </p:sp>
      <p:sp>
        <p:nvSpPr>
          <p:cNvPr id="420540098" name="Rectangle 4"/>
          <p:cNvSpPr/>
          <p:nvPr/>
        </p:nvSpPr>
        <p:spPr bwMode="auto">
          <a:xfrm>
            <a:off x="3131878" y="1986907"/>
            <a:ext cx="939141" cy="6728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 sz="1000">
                <a:solidFill>
                  <a:schemeClr val="tx1"/>
                </a:solidFill>
              </a:rPr>
              <a:t>Nommer l’étape 2</a:t>
            </a:r>
            <a:endParaRPr/>
          </a:p>
          <a:p>
            <a:pPr algn="ctr">
              <a:defRPr/>
            </a:pPr>
            <a:r>
              <a:rPr lang="fr-FR" sz="1000">
                <a:solidFill>
                  <a:schemeClr val="tx1"/>
                </a:solidFill>
              </a:rPr>
              <a:t>Durée</a:t>
            </a:r>
            <a:endParaRPr/>
          </a:p>
        </p:txBody>
      </p:sp>
      <p:sp>
        <p:nvSpPr>
          <p:cNvPr id="199121928" name="Rectangle 5"/>
          <p:cNvSpPr/>
          <p:nvPr/>
        </p:nvSpPr>
        <p:spPr bwMode="auto">
          <a:xfrm>
            <a:off x="5188541" y="1986786"/>
            <a:ext cx="721017" cy="6728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 sz="1000">
                <a:solidFill>
                  <a:schemeClr val="tx1"/>
                </a:solidFill>
              </a:rPr>
              <a:t>Nommer l’étape 3</a:t>
            </a:r>
            <a:endParaRPr/>
          </a:p>
          <a:p>
            <a:pPr algn="ctr">
              <a:defRPr/>
            </a:pPr>
            <a:r>
              <a:rPr lang="fr-FR" sz="1000">
                <a:solidFill>
                  <a:schemeClr val="tx1"/>
                </a:solidFill>
              </a:rPr>
              <a:t>Durée</a:t>
            </a:r>
            <a:endParaRPr/>
          </a:p>
        </p:txBody>
      </p:sp>
      <p:sp>
        <p:nvSpPr>
          <p:cNvPr id="276600802" name="Rectangle 6"/>
          <p:cNvSpPr/>
          <p:nvPr/>
        </p:nvSpPr>
        <p:spPr bwMode="auto">
          <a:xfrm>
            <a:off x="6949016" y="1986786"/>
            <a:ext cx="721017" cy="6728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 sz="1000">
                <a:solidFill>
                  <a:schemeClr val="tx1"/>
                </a:solidFill>
              </a:rPr>
              <a:t>Nommer l’étape 4</a:t>
            </a:r>
            <a:endParaRPr/>
          </a:p>
          <a:p>
            <a:pPr algn="ctr">
              <a:defRPr/>
            </a:pPr>
            <a:r>
              <a:rPr lang="fr-FR" sz="1000">
                <a:solidFill>
                  <a:schemeClr val="tx1"/>
                </a:solidFill>
              </a:rPr>
              <a:t>Durée</a:t>
            </a:r>
            <a:endParaRPr/>
          </a:p>
        </p:txBody>
      </p:sp>
      <p:sp>
        <p:nvSpPr>
          <p:cNvPr id="2145368163" name="Rectangle 7"/>
          <p:cNvSpPr/>
          <p:nvPr/>
        </p:nvSpPr>
        <p:spPr bwMode="auto">
          <a:xfrm>
            <a:off x="8816561" y="1975908"/>
            <a:ext cx="721017" cy="6728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 sz="1000">
                <a:solidFill>
                  <a:schemeClr val="tx1"/>
                </a:solidFill>
              </a:rPr>
              <a:t>Nommer l’étape 5</a:t>
            </a:r>
            <a:endParaRPr/>
          </a:p>
          <a:p>
            <a:pPr algn="ctr">
              <a:defRPr/>
            </a:pPr>
            <a:r>
              <a:rPr lang="fr-FR" sz="1000">
                <a:solidFill>
                  <a:schemeClr val="tx1"/>
                </a:solidFill>
              </a:rPr>
              <a:t>Durée</a:t>
            </a:r>
            <a:endParaRPr/>
          </a:p>
        </p:txBody>
      </p:sp>
      <p:sp>
        <p:nvSpPr>
          <p:cNvPr id="1536979864" name="Rectangle 8"/>
          <p:cNvSpPr/>
          <p:nvPr/>
        </p:nvSpPr>
        <p:spPr bwMode="auto">
          <a:xfrm>
            <a:off x="10443750" y="1968144"/>
            <a:ext cx="721017" cy="6728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 sz="1000">
                <a:solidFill>
                  <a:schemeClr val="tx1"/>
                </a:solidFill>
              </a:rPr>
              <a:t>Nommer l’étape 6</a:t>
            </a:r>
            <a:endParaRPr/>
          </a:p>
          <a:p>
            <a:pPr algn="ctr">
              <a:defRPr/>
            </a:pPr>
            <a:r>
              <a:rPr lang="fr-FR" sz="1000">
                <a:solidFill>
                  <a:schemeClr val="tx1"/>
                </a:solidFill>
              </a:rPr>
              <a:t>Durée</a:t>
            </a:r>
            <a:endParaRPr/>
          </a:p>
        </p:txBody>
      </p:sp>
      <p:sp>
        <p:nvSpPr>
          <p:cNvPr id="1248796672" name="Rectangle 10"/>
          <p:cNvSpPr/>
          <p:nvPr/>
        </p:nvSpPr>
        <p:spPr bwMode="auto">
          <a:xfrm>
            <a:off x="1737417" y="2915124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 sz="1200">
                <a:solidFill>
                  <a:schemeClr val="tx1"/>
                </a:solidFill>
              </a:rPr>
              <a:t>Placez une carte ici</a:t>
            </a:r>
            <a:endParaRPr/>
          </a:p>
        </p:txBody>
      </p:sp>
      <p:sp>
        <p:nvSpPr>
          <p:cNvPr id="1039438497" name="Rectangle 23"/>
          <p:cNvSpPr/>
          <p:nvPr/>
        </p:nvSpPr>
        <p:spPr bwMode="auto">
          <a:xfrm>
            <a:off x="965260" y="2915124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 sz="1200">
                <a:solidFill>
                  <a:schemeClr val="tx1"/>
                </a:solidFill>
              </a:rPr>
              <a:t>Placez une carte ici</a:t>
            </a:r>
            <a:endParaRPr/>
          </a:p>
        </p:txBody>
      </p:sp>
      <p:sp>
        <p:nvSpPr>
          <p:cNvPr id="1790450194" name="Rectangle 29"/>
          <p:cNvSpPr/>
          <p:nvPr/>
        </p:nvSpPr>
        <p:spPr bwMode="auto">
          <a:xfrm>
            <a:off x="1737417" y="3983728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 sz="1200">
                <a:solidFill>
                  <a:schemeClr val="tx1"/>
                </a:solidFill>
              </a:rPr>
              <a:t>Placez une carte ici</a:t>
            </a:r>
            <a:endParaRPr/>
          </a:p>
        </p:txBody>
      </p:sp>
      <p:sp>
        <p:nvSpPr>
          <p:cNvPr id="1941301117" name="Rectangle 43"/>
          <p:cNvSpPr/>
          <p:nvPr/>
        </p:nvSpPr>
        <p:spPr bwMode="auto">
          <a:xfrm>
            <a:off x="967343" y="3983728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 sz="1200">
                <a:solidFill>
                  <a:schemeClr val="tx1"/>
                </a:solidFill>
              </a:rPr>
              <a:t>Placez une carte ici</a:t>
            </a:r>
            <a:endParaRPr/>
          </a:p>
        </p:txBody>
      </p:sp>
      <p:sp>
        <p:nvSpPr>
          <p:cNvPr id="583673580" name="Rectangle 86"/>
          <p:cNvSpPr/>
          <p:nvPr/>
        </p:nvSpPr>
        <p:spPr bwMode="auto">
          <a:xfrm>
            <a:off x="1735333" y="5049669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 sz="1200">
                <a:solidFill>
                  <a:schemeClr val="tx1"/>
                </a:solidFill>
              </a:rPr>
              <a:t>Placez une carte ici</a:t>
            </a:r>
            <a:endParaRPr/>
          </a:p>
        </p:txBody>
      </p:sp>
      <p:sp>
        <p:nvSpPr>
          <p:cNvPr id="584011409" name="Rectangle 87"/>
          <p:cNvSpPr/>
          <p:nvPr/>
        </p:nvSpPr>
        <p:spPr bwMode="auto">
          <a:xfrm>
            <a:off x="965260" y="5049669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 sz="1200">
                <a:solidFill>
                  <a:schemeClr val="tx1"/>
                </a:solidFill>
              </a:rPr>
              <a:t>Placez une carte ici</a:t>
            </a:r>
            <a:endParaRPr/>
          </a:p>
        </p:txBody>
      </p:sp>
      <p:sp>
        <p:nvSpPr>
          <p:cNvPr id="1267043252" name="Rectangle 88"/>
          <p:cNvSpPr/>
          <p:nvPr/>
        </p:nvSpPr>
        <p:spPr bwMode="auto">
          <a:xfrm>
            <a:off x="3627177" y="2915124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 sz="1200">
                <a:solidFill>
                  <a:schemeClr val="tx1"/>
                </a:solidFill>
              </a:rPr>
              <a:t>Placez une carte ici</a:t>
            </a:r>
            <a:endParaRPr/>
          </a:p>
        </p:txBody>
      </p:sp>
      <p:sp>
        <p:nvSpPr>
          <p:cNvPr id="853067195" name="Rectangle 89"/>
          <p:cNvSpPr/>
          <p:nvPr/>
        </p:nvSpPr>
        <p:spPr bwMode="auto">
          <a:xfrm>
            <a:off x="2855020" y="2915124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 sz="1200">
                <a:solidFill>
                  <a:schemeClr val="tx1"/>
                </a:solidFill>
              </a:rPr>
              <a:t>Placez une carte ici</a:t>
            </a:r>
            <a:endParaRPr/>
          </a:p>
        </p:txBody>
      </p:sp>
      <p:sp>
        <p:nvSpPr>
          <p:cNvPr id="173422348" name="Rectangle 90"/>
          <p:cNvSpPr/>
          <p:nvPr/>
        </p:nvSpPr>
        <p:spPr bwMode="auto">
          <a:xfrm>
            <a:off x="3627177" y="3983728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 sz="1200">
                <a:solidFill>
                  <a:schemeClr val="tx1"/>
                </a:solidFill>
              </a:rPr>
              <a:t>Placez une carte ici</a:t>
            </a:r>
            <a:endParaRPr/>
          </a:p>
        </p:txBody>
      </p:sp>
      <p:sp>
        <p:nvSpPr>
          <p:cNvPr id="587674440" name="Rectangle 91"/>
          <p:cNvSpPr/>
          <p:nvPr/>
        </p:nvSpPr>
        <p:spPr bwMode="auto">
          <a:xfrm>
            <a:off x="2857104" y="3983728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 sz="1200">
                <a:solidFill>
                  <a:schemeClr val="tx1"/>
                </a:solidFill>
              </a:rPr>
              <a:t>Placez une carte ici</a:t>
            </a:r>
            <a:endParaRPr/>
          </a:p>
        </p:txBody>
      </p:sp>
      <p:sp>
        <p:nvSpPr>
          <p:cNvPr id="162818768" name="Rectangle 92"/>
          <p:cNvSpPr/>
          <p:nvPr/>
        </p:nvSpPr>
        <p:spPr bwMode="auto">
          <a:xfrm>
            <a:off x="3625093" y="5049669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 sz="1200">
                <a:solidFill>
                  <a:schemeClr val="tx1"/>
                </a:solidFill>
              </a:rPr>
              <a:t>Placez une carte ici</a:t>
            </a:r>
            <a:endParaRPr/>
          </a:p>
        </p:txBody>
      </p:sp>
      <p:sp>
        <p:nvSpPr>
          <p:cNvPr id="1952232588" name="Rectangle 93"/>
          <p:cNvSpPr/>
          <p:nvPr/>
        </p:nvSpPr>
        <p:spPr bwMode="auto">
          <a:xfrm>
            <a:off x="2855020" y="5049669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 sz="1200">
                <a:solidFill>
                  <a:schemeClr val="tx1"/>
                </a:solidFill>
              </a:rPr>
              <a:t>Placez une carte ici</a:t>
            </a:r>
            <a:endParaRPr/>
          </a:p>
        </p:txBody>
      </p:sp>
      <p:sp>
        <p:nvSpPr>
          <p:cNvPr id="771153832" name="Rectangle 94"/>
          <p:cNvSpPr/>
          <p:nvPr/>
        </p:nvSpPr>
        <p:spPr bwMode="auto">
          <a:xfrm>
            <a:off x="5570766" y="2915124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 sz="1200">
                <a:solidFill>
                  <a:schemeClr val="tx1"/>
                </a:solidFill>
              </a:rPr>
              <a:t>Placez une carte ici</a:t>
            </a:r>
            <a:endParaRPr/>
          </a:p>
        </p:txBody>
      </p:sp>
      <p:sp>
        <p:nvSpPr>
          <p:cNvPr id="129404032" name="Rectangle 95"/>
          <p:cNvSpPr/>
          <p:nvPr/>
        </p:nvSpPr>
        <p:spPr bwMode="auto">
          <a:xfrm>
            <a:off x="4798609" y="2915124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 sz="1200">
                <a:solidFill>
                  <a:schemeClr val="tx1"/>
                </a:solidFill>
              </a:rPr>
              <a:t>Placez une carte ici</a:t>
            </a:r>
            <a:endParaRPr/>
          </a:p>
        </p:txBody>
      </p:sp>
      <p:sp>
        <p:nvSpPr>
          <p:cNvPr id="1227387557" name="Rectangle 96"/>
          <p:cNvSpPr/>
          <p:nvPr/>
        </p:nvSpPr>
        <p:spPr bwMode="auto">
          <a:xfrm>
            <a:off x="5570766" y="3983728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 sz="1200">
                <a:solidFill>
                  <a:schemeClr val="tx1"/>
                </a:solidFill>
              </a:rPr>
              <a:t>Placez une carte ici</a:t>
            </a:r>
            <a:endParaRPr/>
          </a:p>
        </p:txBody>
      </p:sp>
      <p:sp>
        <p:nvSpPr>
          <p:cNvPr id="1464950500" name="Rectangle 97"/>
          <p:cNvSpPr/>
          <p:nvPr/>
        </p:nvSpPr>
        <p:spPr bwMode="auto">
          <a:xfrm>
            <a:off x="4800693" y="3983728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 sz="1200">
                <a:solidFill>
                  <a:schemeClr val="tx1"/>
                </a:solidFill>
              </a:rPr>
              <a:t>Placez une carte ici</a:t>
            </a:r>
            <a:endParaRPr/>
          </a:p>
        </p:txBody>
      </p:sp>
      <p:sp>
        <p:nvSpPr>
          <p:cNvPr id="2067102701" name="Rectangle 98"/>
          <p:cNvSpPr/>
          <p:nvPr/>
        </p:nvSpPr>
        <p:spPr bwMode="auto">
          <a:xfrm>
            <a:off x="5568682" y="5049669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 sz="1200">
                <a:solidFill>
                  <a:schemeClr val="tx1"/>
                </a:solidFill>
              </a:rPr>
              <a:t>Placez une carte ici</a:t>
            </a:r>
            <a:endParaRPr/>
          </a:p>
        </p:txBody>
      </p:sp>
      <p:sp>
        <p:nvSpPr>
          <p:cNvPr id="1670351927" name="Rectangle 99"/>
          <p:cNvSpPr/>
          <p:nvPr/>
        </p:nvSpPr>
        <p:spPr bwMode="auto">
          <a:xfrm>
            <a:off x="4798609" y="5049669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 sz="1200">
                <a:solidFill>
                  <a:schemeClr val="tx1"/>
                </a:solidFill>
              </a:rPr>
              <a:t>Placez une carte ici</a:t>
            </a:r>
            <a:endParaRPr/>
          </a:p>
        </p:txBody>
      </p:sp>
      <p:sp>
        <p:nvSpPr>
          <p:cNvPr id="1870612095" name="Rectangle 100"/>
          <p:cNvSpPr/>
          <p:nvPr/>
        </p:nvSpPr>
        <p:spPr bwMode="auto">
          <a:xfrm>
            <a:off x="7425692" y="2915124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 sz="1200">
                <a:solidFill>
                  <a:schemeClr val="tx1"/>
                </a:solidFill>
              </a:rPr>
              <a:t>Placez une carte ici</a:t>
            </a:r>
            <a:endParaRPr/>
          </a:p>
        </p:txBody>
      </p:sp>
      <p:sp>
        <p:nvSpPr>
          <p:cNvPr id="1766090852" name="Rectangle 101"/>
          <p:cNvSpPr/>
          <p:nvPr/>
        </p:nvSpPr>
        <p:spPr bwMode="auto">
          <a:xfrm>
            <a:off x="6653535" y="2915124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 sz="1200">
                <a:solidFill>
                  <a:schemeClr val="tx1"/>
                </a:solidFill>
              </a:rPr>
              <a:t>Placez une carte ici</a:t>
            </a:r>
            <a:endParaRPr/>
          </a:p>
        </p:txBody>
      </p:sp>
      <p:sp>
        <p:nvSpPr>
          <p:cNvPr id="694973914" name="Rectangle 102"/>
          <p:cNvSpPr/>
          <p:nvPr/>
        </p:nvSpPr>
        <p:spPr bwMode="auto">
          <a:xfrm>
            <a:off x="7425692" y="3983728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 sz="1200">
                <a:solidFill>
                  <a:schemeClr val="tx1"/>
                </a:solidFill>
              </a:rPr>
              <a:t>Placez une carte ici</a:t>
            </a:r>
            <a:endParaRPr/>
          </a:p>
        </p:txBody>
      </p:sp>
      <p:sp>
        <p:nvSpPr>
          <p:cNvPr id="1065635930" name="Rectangle 103"/>
          <p:cNvSpPr/>
          <p:nvPr/>
        </p:nvSpPr>
        <p:spPr bwMode="auto">
          <a:xfrm>
            <a:off x="6655619" y="3983728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 sz="1200">
                <a:solidFill>
                  <a:schemeClr val="tx1"/>
                </a:solidFill>
              </a:rPr>
              <a:t>Placez une carte ici</a:t>
            </a:r>
            <a:endParaRPr/>
          </a:p>
        </p:txBody>
      </p:sp>
      <p:sp>
        <p:nvSpPr>
          <p:cNvPr id="842558122" name="Rectangle 104"/>
          <p:cNvSpPr/>
          <p:nvPr/>
        </p:nvSpPr>
        <p:spPr bwMode="auto">
          <a:xfrm>
            <a:off x="7423608" y="5049669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 sz="1200">
                <a:solidFill>
                  <a:schemeClr val="tx1"/>
                </a:solidFill>
              </a:rPr>
              <a:t>Placez une carte ici</a:t>
            </a:r>
            <a:endParaRPr/>
          </a:p>
        </p:txBody>
      </p:sp>
      <p:sp>
        <p:nvSpPr>
          <p:cNvPr id="782809696" name="Rectangle 105"/>
          <p:cNvSpPr/>
          <p:nvPr/>
        </p:nvSpPr>
        <p:spPr bwMode="auto">
          <a:xfrm>
            <a:off x="6653535" y="5049669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 sz="1200">
                <a:solidFill>
                  <a:schemeClr val="tx1"/>
                </a:solidFill>
              </a:rPr>
              <a:t>Placez une carte ici</a:t>
            </a:r>
            <a:endParaRPr/>
          </a:p>
        </p:txBody>
      </p:sp>
      <p:sp>
        <p:nvSpPr>
          <p:cNvPr id="7245837" name="Rectangle 106"/>
          <p:cNvSpPr/>
          <p:nvPr/>
        </p:nvSpPr>
        <p:spPr bwMode="auto">
          <a:xfrm>
            <a:off x="9224356" y="2915124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 sz="1200">
                <a:solidFill>
                  <a:schemeClr val="tx1"/>
                </a:solidFill>
              </a:rPr>
              <a:t>Placez une carte ici</a:t>
            </a:r>
            <a:endParaRPr/>
          </a:p>
        </p:txBody>
      </p:sp>
      <p:sp>
        <p:nvSpPr>
          <p:cNvPr id="2074593652" name="Rectangle 107"/>
          <p:cNvSpPr/>
          <p:nvPr/>
        </p:nvSpPr>
        <p:spPr bwMode="auto">
          <a:xfrm>
            <a:off x="8452199" y="2915124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 sz="1200">
                <a:solidFill>
                  <a:schemeClr val="tx1"/>
                </a:solidFill>
              </a:rPr>
              <a:t>Placez une carte ici</a:t>
            </a:r>
            <a:endParaRPr/>
          </a:p>
        </p:txBody>
      </p:sp>
      <p:sp>
        <p:nvSpPr>
          <p:cNvPr id="33551124" name="Rectangle 108"/>
          <p:cNvSpPr/>
          <p:nvPr/>
        </p:nvSpPr>
        <p:spPr bwMode="auto">
          <a:xfrm>
            <a:off x="9224356" y="3983728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 sz="1200">
                <a:solidFill>
                  <a:schemeClr val="tx1"/>
                </a:solidFill>
              </a:rPr>
              <a:t>Placez une carte ici</a:t>
            </a:r>
            <a:endParaRPr/>
          </a:p>
        </p:txBody>
      </p:sp>
      <p:sp>
        <p:nvSpPr>
          <p:cNvPr id="1297589067" name="Rectangle 109"/>
          <p:cNvSpPr/>
          <p:nvPr/>
        </p:nvSpPr>
        <p:spPr bwMode="auto">
          <a:xfrm>
            <a:off x="8454283" y="3983728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 sz="1200">
                <a:solidFill>
                  <a:schemeClr val="tx1"/>
                </a:solidFill>
              </a:rPr>
              <a:t>Placez une carte ici</a:t>
            </a:r>
            <a:endParaRPr/>
          </a:p>
        </p:txBody>
      </p:sp>
      <p:sp>
        <p:nvSpPr>
          <p:cNvPr id="1788195907" name="Rectangle 110"/>
          <p:cNvSpPr/>
          <p:nvPr/>
        </p:nvSpPr>
        <p:spPr bwMode="auto">
          <a:xfrm>
            <a:off x="9222272" y="5049669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 sz="1200">
                <a:solidFill>
                  <a:schemeClr val="tx1"/>
                </a:solidFill>
              </a:rPr>
              <a:t>Placez une carte ici</a:t>
            </a:r>
            <a:endParaRPr/>
          </a:p>
        </p:txBody>
      </p:sp>
      <p:sp>
        <p:nvSpPr>
          <p:cNvPr id="109058280" name="Rectangle 111"/>
          <p:cNvSpPr/>
          <p:nvPr/>
        </p:nvSpPr>
        <p:spPr bwMode="auto">
          <a:xfrm>
            <a:off x="8452199" y="5049669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 sz="1200">
                <a:solidFill>
                  <a:schemeClr val="tx1"/>
                </a:solidFill>
              </a:rPr>
              <a:t>Placez une carte ici</a:t>
            </a:r>
            <a:endParaRPr/>
          </a:p>
        </p:txBody>
      </p:sp>
      <p:sp>
        <p:nvSpPr>
          <p:cNvPr id="1240984318" name="Rectangle 112"/>
          <p:cNvSpPr/>
          <p:nvPr/>
        </p:nvSpPr>
        <p:spPr bwMode="auto">
          <a:xfrm>
            <a:off x="10944821" y="2891641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 sz="1200">
                <a:solidFill>
                  <a:schemeClr val="tx1"/>
                </a:solidFill>
              </a:rPr>
              <a:t>Placez une carte ici</a:t>
            </a:r>
            <a:endParaRPr/>
          </a:p>
        </p:txBody>
      </p:sp>
      <p:sp>
        <p:nvSpPr>
          <p:cNvPr id="1461739586" name="Rectangle 113"/>
          <p:cNvSpPr/>
          <p:nvPr/>
        </p:nvSpPr>
        <p:spPr bwMode="auto">
          <a:xfrm>
            <a:off x="10172664" y="2891641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 sz="1200">
                <a:solidFill>
                  <a:schemeClr val="tx1"/>
                </a:solidFill>
              </a:rPr>
              <a:t>Placez une carte ici</a:t>
            </a:r>
            <a:endParaRPr/>
          </a:p>
        </p:txBody>
      </p:sp>
      <p:sp>
        <p:nvSpPr>
          <p:cNvPr id="1063662142" name="Rectangle 114"/>
          <p:cNvSpPr/>
          <p:nvPr/>
        </p:nvSpPr>
        <p:spPr bwMode="auto">
          <a:xfrm>
            <a:off x="10944821" y="3960245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 sz="1200">
                <a:solidFill>
                  <a:schemeClr val="tx1"/>
                </a:solidFill>
              </a:rPr>
              <a:t>Placez une carte ici</a:t>
            </a:r>
            <a:endParaRPr/>
          </a:p>
        </p:txBody>
      </p:sp>
      <p:sp>
        <p:nvSpPr>
          <p:cNvPr id="1645036316" name="Rectangle 115"/>
          <p:cNvSpPr/>
          <p:nvPr/>
        </p:nvSpPr>
        <p:spPr bwMode="auto">
          <a:xfrm>
            <a:off x="10174748" y="3960245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 sz="1200">
                <a:solidFill>
                  <a:schemeClr val="tx1"/>
                </a:solidFill>
              </a:rPr>
              <a:t>Placez une carte ici</a:t>
            </a:r>
            <a:endParaRPr/>
          </a:p>
        </p:txBody>
      </p:sp>
      <p:sp>
        <p:nvSpPr>
          <p:cNvPr id="1231869604" name="Rectangle 116"/>
          <p:cNvSpPr/>
          <p:nvPr/>
        </p:nvSpPr>
        <p:spPr bwMode="auto">
          <a:xfrm>
            <a:off x="10942737" y="5026186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 sz="1200">
                <a:solidFill>
                  <a:schemeClr val="tx1"/>
                </a:solidFill>
              </a:rPr>
              <a:t>Placez une carte ici</a:t>
            </a:r>
            <a:endParaRPr/>
          </a:p>
        </p:txBody>
      </p:sp>
      <p:sp>
        <p:nvSpPr>
          <p:cNvPr id="455257316" name="Rectangle 117"/>
          <p:cNvSpPr/>
          <p:nvPr/>
        </p:nvSpPr>
        <p:spPr bwMode="auto">
          <a:xfrm>
            <a:off x="10172664" y="5026186"/>
            <a:ext cx="724871" cy="1027751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 sz="1200">
                <a:solidFill>
                  <a:schemeClr val="tx1"/>
                </a:solidFill>
              </a:rPr>
              <a:t>Placez une carte ici</a:t>
            </a:r>
            <a:endParaRPr/>
          </a:p>
        </p:txBody>
      </p:sp>
      <p:sp>
        <p:nvSpPr>
          <p:cNvPr id="487805729" name="Rectangle 118"/>
          <p:cNvSpPr/>
          <p:nvPr/>
        </p:nvSpPr>
        <p:spPr bwMode="auto">
          <a:xfrm>
            <a:off x="1352035" y="6115610"/>
            <a:ext cx="1108169" cy="672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 sz="1000">
                <a:solidFill>
                  <a:schemeClr val="tx1"/>
                </a:solidFill>
              </a:rPr>
              <a:t>Commentaires supplémentaires</a:t>
            </a:r>
            <a:endParaRPr/>
          </a:p>
        </p:txBody>
      </p:sp>
      <p:sp>
        <p:nvSpPr>
          <p:cNvPr id="1048034399" name="Rectangle 119"/>
          <p:cNvSpPr/>
          <p:nvPr/>
        </p:nvSpPr>
        <p:spPr bwMode="auto">
          <a:xfrm>
            <a:off x="3241795" y="6115610"/>
            <a:ext cx="1108169" cy="672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 sz="1000">
                <a:solidFill>
                  <a:schemeClr val="tx1"/>
                </a:solidFill>
              </a:rPr>
              <a:t>Commentaires supplémentaires</a:t>
            </a:r>
            <a:endParaRPr/>
          </a:p>
        </p:txBody>
      </p:sp>
      <p:sp>
        <p:nvSpPr>
          <p:cNvPr id="1672771497" name="Rectangle 120"/>
          <p:cNvSpPr/>
          <p:nvPr/>
        </p:nvSpPr>
        <p:spPr bwMode="auto">
          <a:xfrm>
            <a:off x="5188541" y="6115610"/>
            <a:ext cx="1108169" cy="672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 sz="1000">
                <a:solidFill>
                  <a:schemeClr val="tx1"/>
                </a:solidFill>
              </a:rPr>
              <a:t>Commentaires supplémentaires</a:t>
            </a:r>
            <a:endParaRPr/>
          </a:p>
        </p:txBody>
      </p:sp>
      <p:sp>
        <p:nvSpPr>
          <p:cNvPr id="2112642011" name="Rectangle 121"/>
          <p:cNvSpPr/>
          <p:nvPr/>
        </p:nvSpPr>
        <p:spPr bwMode="auto">
          <a:xfrm>
            <a:off x="7056702" y="6115610"/>
            <a:ext cx="1108169" cy="672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 sz="1000">
                <a:solidFill>
                  <a:schemeClr val="tx1"/>
                </a:solidFill>
              </a:rPr>
              <a:t>Commentaires supplémentaires</a:t>
            </a:r>
            <a:endParaRPr/>
          </a:p>
        </p:txBody>
      </p:sp>
      <p:sp>
        <p:nvSpPr>
          <p:cNvPr id="724178546" name="Rectangle 122"/>
          <p:cNvSpPr/>
          <p:nvPr/>
        </p:nvSpPr>
        <p:spPr bwMode="auto">
          <a:xfrm>
            <a:off x="8838974" y="6115610"/>
            <a:ext cx="1108169" cy="672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 sz="1000">
                <a:solidFill>
                  <a:schemeClr val="tx1"/>
                </a:solidFill>
              </a:rPr>
              <a:t>Commentaires supplémentaires</a:t>
            </a:r>
            <a:endParaRPr/>
          </a:p>
        </p:txBody>
      </p:sp>
      <p:sp>
        <p:nvSpPr>
          <p:cNvPr id="55779495" name="Rectangle 123"/>
          <p:cNvSpPr/>
          <p:nvPr/>
        </p:nvSpPr>
        <p:spPr bwMode="auto">
          <a:xfrm>
            <a:off x="10559439" y="6092127"/>
            <a:ext cx="1108169" cy="672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 sz="1000">
                <a:solidFill>
                  <a:schemeClr val="tx1"/>
                </a:solidFill>
              </a:rPr>
              <a:t>Commentaires supplémentaires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2896900" name="Espace réservé du texte 3"/>
          <p:cNvSpPr>
            <a:spLocks noGrp="1"/>
          </p:cNvSpPr>
          <p:nvPr>
            <p:ph type="body" idx="1"/>
          </p:nvPr>
        </p:nvSpPr>
        <p:spPr bwMode="auto">
          <a:xfrm>
            <a:off x="331235" y="341282"/>
            <a:ext cx="2832017" cy="823912"/>
          </a:xfrm>
          <a:prstGeom prst="rect">
            <a:avLst/>
          </a:prstGeom>
          <a:solidFill>
            <a:srgbClr val="0683AA"/>
          </a:solidFill>
        </p:spPr>
        <p:txBody>
          <a:bodyPr anchor="ctr">
            <a:normAutofit/>
          </a:bodyPr>
          <a:lstStyle/>
          <a:p>
            <a:pPr>
              <a:defRPr/>
            </a:pPr>
            <a:r>
              <a:rPr lang="fr-FR" sz="2000"/>
              <a:t>Objectifs pédagogiques</a:t>
            </a:r>
            <a:endParaRPr/>
          </a:p>
        </p:txBody>
      </p:sp>
      <p:sp>
        <p:nvSpPr>
          <p:cNvPr id="276461905" name="Espace réservé du contenu 2"/>
          <p:cNvSpPr>
            <a:spLocks noGrp="1"/>
          </p:cNvSpPr>
          <p:nvPr>
            <p:ph sz="half" idx="2"/>
          </p:nvPr>
        </p:nvSpPr>
        <p:spPr bwMode="auto">
          <a:xfrm>
            <a:off x="331235" y="1165194"/>
            <a:ext cx="2832017" cy="2350363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fr-FR" sz="1200"/>
              <a:t>Apprendre à créer un atelier d’intelligence collective</a:t>
            </a:r>
            <a:endParaRPr/>
          </a:p>
          <a:p>
            <a:pPr marL="0" indent="0">
              <a:buNone/>
              <a:defRPr/>
            </a:pPr>
            <a:endParaRPr lang="fr-FR" sz="1200"/>
          </a:p>
          <a:p>
            <a:pPr marL="0" indent="0">
              <a:buNone/>
              <a:defRPr/>
            </a:pPr>
            <a:r>
              <a:rPr lang="fr-FR" sz="1200"/>
              <a:t>Apprendre ce qui définit un atelier d’intelligence collective</a:t>
            </a:r>
            <a:endParaRPr/>
          </a:p>
        </p:txBody>
      </p:sp>
      <p:sp>
        <p:nvSpPr>
          <p:cNvPr id="718123060" name="Espace réservé du texte 4"/>
          <p:cNvSpPr>
            <a:spLocks noGrp="1"/>
          </p:cNvSpPr>
          <p:nvPr>
            <p:ph type="body" sz="quarter" idx="3"/>
          </p:nvPr>
        </p:nvSpPr>
        <p:spPr bwMode="auto">
          <a:xfrm>
            <a:off x="3250035" y="341282"/>
            <a:ext cx="2845964" cy="823912"/>
          </a:xfrm>
          <a:prstGeom prst="rect">
            <a:avLst/>
          </a:prstGeom>
          <a:solidFill>
            <a:srgbClr val="ED7D31"/>
          </a:solidFill>
        </p:spPr>
        <p:txBody>
          <a:bodyPr anchor="ctr">
            <a:normAutofit/>
          </a:bodyPr>
          <a:lstStyle/>
          <a:p>
            <a:pPr>
              <a:defRPr/>
            </a:pPr>
            <a:r>
              <a:rPr lang="fr-FR" sz="2000"/>
              <a:t>Objectifs opérationnels</a:t>
            </a:r>
            <a:endParaRPr/>
          </a:p>
        </p:txBody>
      </p:sp>
      <p:sp>
        <p:nvSpPr>
          <p:cNvPr id="881607729" name="Espace réservé du contenu 5"/>
          <p:cNvSpPr>
            <a:spLocks noGrp="1"/>
          </p:cNvSpPr>
          <p:nvPr>
            <p:ph sz="quarter" idx="4"/>
          </p:nvPr>
        </p:nvSpPr>
        <p:spPr bwMode="auto">
          <a:xfrm>
            <a:off x="3250035" y="1165194"/>
            <a:ext cx="2845964" cy="23503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fr-FR" sz="1200"/>
              <a:t>Obtenir en quelques minutes un atelier d’intelligence collective qui correspond à un besoin</a:t>
            </a:r>
            <a:endParaRPr/>
          </a:p>
          <a:p>
            <a:pPr marL="0" indent="0">
              <a:buNone/>
              <a:defRPr/>
            </a:pPr>
            <a:endParaRPr lang="fr-FR" sz="1200"/>
          </a:p>
          <a:p>
            <a:pPr marL="0" indent="0">
              <a:buNone/>
              <a:defRPr/>
            </a:pPr>
            <a:r>
              <a:rPr lang="fr-FR" sz="1200"/>
              <a:t>Prérequis : Vous avez déjà en tête l’objectif de l’atelier que vous souhaitez créer</a:t>
            </a:r>
            <a:endParaRPr/>
          </a:p>
        </p:txBody>
      </p:sp>
      <p:sp>
        <p:nvSpPr>
          <p:cNvPr id="875264904" name="Espace réservé du texte 3"/>
          <p:cNvSpPr txBox="1"/>
          <p:nvPr/>
        </p:nvSpPr>
        <p:spPr bwMode="auto">
          <a:xfrm>
            <a:off x="6182782" y="341282"/>
            <a:ext cx="2832017" cy="82391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r-FR" sz="2000"/>
              <a:t>Public idéal</a:t>
            </a:r>
            <a:endParaRPr/>
          </a:p>
        </p:txBody>
      </p:sp>
      <p:sp>
        <p:nvSpPr>
          <p:cNvPr id="1779978438" name="Espace réservé du contenu 2"/>
          <p:cNvSpPr txBox="1"/>
          <p:nvPr/>
        </p:nvSpPr>
        <p:spPr bwMode="auto">
          <a:xfrm>
            <a:off x="6182782" y="1165194"/>
            <a:ext cx="2832017" cy="235036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fr-FR" sz="1200"/>
              <a:t>Responsables de communauté</a:t>
            </a:r>
            <a:endParaRPr/>
          </a:p>
          <a:p>
            <a:pPr marL="0" indent="0">
              <a:buNone/>
              <a:defRPr/>
            </a:pPr>
            <a:r>
              <a:rPr lang="fr-FR" sz="1200"/>
              <a:t>Responsables d’ateliers de travail</a:t>
            </a:r>
            <a:endParaRPr/>
          </a:p>
          <a:p>
            <a:pPr marL="0" indent="0">
              <a:buNone/>
              <a:defRPr/>
            </a:pPr>
            <a:r>
              <a:rPr lang="fr-FR" sz="1200"/>
              <a:t>Formateurs débutants</a:t>
            </a:r>
            <a:endParaRPr/>
          </a:p>
          <a:p>
            <a:pPr marL="0" indent="0">
              <a:buNone/>
              <a:defRPr/>
            </a:pPr>
            <a:r>
              <a:rPr lang="fr-FR" sz="1200"/>
              <a:t>Coachs Agiles débutants</a:t>
            </a:r>
            <a:endParaRPr/>
          </a:p>
          <a:p>
            <a:pPr marL="0" indent="0">
              <a:buNone/>
              <a:defRPr/>
            </a:pPr>
            <a:r>
              <a:rPr lang="fr-FR" sz="1200"/>
              <a:t>SCRUM Master débutants</a:t>
            </a:r>
            <a:endParaRPr/>
          </a:p>
        </p:txBody>
      </p:sp>
      <p:sp>
        <p:nvSpPr>
          <p:cNvPr id="376812417" name="Espace réservé du texte 3"/>
          <p:cNvSpPr txBox="1"/>
          <p:nvPr/>
        </p:nvSpPr>
        <p:spPr bwMode="auto">
          <a:xfrm>
            <a:off x="9101582" y="341282"/>
            <a:ext cx="2832017" cy="82391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r-FR" sz="2000"/>
              <a:t>Problèmes et défis adressés</a:t>
            </a:r>
            <a:endParaRPr/>
          </a:p>
        </p:txBody>
      </p:sp>
      <p:sp>
        <p:nvSpPr>
          <p:cNvPr id="1800591351" name="Espace réservé du contenu 2"/>
          <p:cNvSpPr txBox="1"/>
          <p:nvPr/>
        </p:nvSpPr>
        <p:spPr bwMode="auto">
          <a:xfrm>
            <a:off x="9101582" y="1165194"/>
            <a:ext cx="2832017" cy="23503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fr-FR" sz="1200"/>
              <a:t>Globalement vous savez comment se passe un atelier d’intelligence collective</a:t>
            </a:r>
            <a:endParaRPr/>
          </a:p>
          <a:p>
            <a:pPr marL="0" indent="0">
              <a:buNone/>
              <a:defRPr/>
            </a:pPr>
            <a:r>
              <a:rPr lang="fr-FR" sz="1200"/>
              <a:t>Vous souhaiteriez ne plus vous arrêter à réutiliser des ateliers tout prêts, qui semblent populaires mais jamais vraiment adaptés à votre besoin.</a:t>
            </a:r>
            <a:endParaRPr/>
          </a:p>
          <a:p>
            <a:pPr marL="0" indent="0">
              <a:buNone/>
              <a:defRPr/>
            </a:pPr>
            <a:r>
              <a:rPr lang="fr-FR" sz="1200"/>
              <a:t>Vous souhaitez créer un atelier d’intelligence collective de toutes pièces et maîtriser ce sujet à l’avenir</a:t>
            </a:r>
            <a:endParaRPr/>
          </a:p>
        </p:txBody>
      </p:sp>
      <p:sp>
        <p:nvSpPr>
          <p:cNvPr id="1998640553" name="Espace réservé du texte 3"/>
          <p:cNvSpPr txBox="1"/>
          <p:nvPr/>
        </p:nvSpPr>
        <p:spPr bwMode="auto">
          <a:xfrm>
            <a:off x="541537" y="3661531"/>
            <a:ext cx="3753555" cy="823912"/>
          </a:xfrm>
          <a:prstGeom prst="rect">
            <a:avLst/>
          </a:prstGeom>
          <a:solidFill>
            <a:srgbClr val="0683AA"/>
          </a:solidFill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r-FR" sz="2000"/>
              <a:t>Sujets non couverts</a:t>
            </a:r>
            <a:endParaRPr/>
          </a:p>
        </p:txBody>
      </p:sp>
      <p:sp>
        <p:nvSpPr>
          <p:cNvPr id="1969520261" name="Espace réservé du contenu 2"/>
          <p:cNvSpPr txBox="1"/>
          <p:nvPr/>
        </p:nvSpPr>
        <p:spPr bwMode="auto">
          <a:xfrm>
            <a:off x="541537" y="4485443"/>
            <a:ext cx="3753555" cy="21639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lang="fr-FR" sz="1200"/>
              <a:t>Animation de l’atelier d’intelligence collective</a:t>
            </a:r>
            <a:endParaRPr/>
          </a:p>
        </p:txBody>
      </p:sp>
      <p:sp>
        <p:nvSpPr>
          <p:cNvPr id="858315782" name="Espace réservé du texte 4"/>
          <p:cNvSpPr txBox="1"/>
          <p:nvPr/>
        </p:nvSpPr>
        <p:spPr bwMode="auto">
          <a:xfrm>
            <a:off x="4381874" y="3661531"/>
            <a:ext cx="3865481" cy="823912"/>
          </a:xfrm>
          <a:prstGeom prst="rect">
            <a:avLst/>
          </a:prstGeom>
          <a:solidFill>
            <a:srgbClr val="ED7D31"/>
          </a:solidFill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r-FR" sz="2000"/>
              <a:t>Avec quoi compléter ?</a:t>
            </a:r>
            <a:endParaRPr lang="fr-FR" sz="2000"/>
          </a:p>
        </p:txBody>
      </p:sp>
      <p:sp>
        <p:nvSpPr>
          <p:cNvPr id="446532792" name="Espace réservé du contenu 5"/>
          <p:cNvSpPr txBox="1"/>
          <p:nvPr/>
        </p:nvSpPr>
        <p:spPr bwMode="auto">
          <a:xfrm>
            <a:off x="4381874" y="4485443"/>
            <a:ext cx="3865481" cy="21639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  <a:defRPr/>
            </a:pPr>
            <a:r>
              <a:rPr lang="fr-FR" sz="1200"/>
              <a:t>Outils conseillant sur la facilitation</a:t>
            </a:r>
            <a:endParaRPr/>
          </a:p>
        </p:txBody>
      </p:sp>
      <p:sp>
        <p:nvSpPr>
          <p:cNvPr id="1698583658" name="Espace réservé du texte 3"/>
          <p:cNvSpPr txBox="1"/>
          <p:nvPr/>
        </p:nvSpPr>
        <p:spPr bwMode="auto">
          <a:xfrm>
            <a:off x="8334137" y="3661531"/>
            <a:ext cx="3440612" cy="82391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vert="horz" lIns="91440" tIns="45720" rIns="91440" bIns="45720" rtlCol="0" anchor="ctr">
            <a:normAutofit fontScale="92500"/>
          </a:bodyPr>
          <a:lstStyle>
            <a:lvl1pPr marL="0" indent="0" algn="l" defTabSz="914400" rtl="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r-FR" sz="2000"/>
              <a:t>Ce qu’on suppose des utilisateurs au-delà de la session</a:t>
            </a:r>
            <a:endParaRPr/>
          </a:p>
        </p:txBody>
      </p:sp>
      <p:sp>
        <p:nvSpPr>
          <p:cNvPr id="490669494" name="Espace réservé du contenu 2"/>
          <p:cNvSpPr txBox="1"/>
          <p:nvPr/>
        </p:nvSpPr>
        <p:spPr bwMode="auto">
          <a:xfrm>
            <a:off x="8334137" y="4485443"/>
            <a:ext cx="3440612" cy="21639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fr-FR" sz="1200"/>
              <a:t>Vous avez l’envie d’apprendre l’intelligence collective et comment l’animer dans des ateliers de travail. Vous êtes sur un chemin de maîtrise pas à pas, et souhaitez passer au concret en termes de création. </a:t>
            </a:r>
            <a:endParaRPr/>
          </a:p>
          <a:p>
            <a:pPr marL="0" indent="0">
              <a:buNone/>
              <a:defRPr/>
            </a:pPr>
            <a:r>
              <a:rPr lang="fr-FR" sz="1200"/>
              <a:t>Vous savez agir et raisonner par étapes pour dérouler progressivement votre atelier d’intelligence collective.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0" advClick="1" advTm="60894"/>
    </mc:Choice>
    <mc:Fallback>
      <p:transition advClick="1" advTm="60894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06815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Historique des modifications et licences</a:t>
            </a:r>
            <a:endParaRPr/>
          </a:p>
        </p:txBody>
      </p:sp>
      <p:graphicFrame>
        <p:nvGraphicFramePr>
          <p:cNvPr id="1191716517" name="Tableau 4"/>
          <p:cNvGraphicFramePr>
            <a:graphicFrameLocks xmlns:a="http://schemas.openxmlformats.org/drawingml/2006/main" noGrp="1"/>
          </p:cNvGraphicFramePr>
          <p:nvPr>
            <p:ph idx="1"/>
          </p:nvPr>
        </p:nvGraphicFramePr>
        <p:xfrm rot="0">
          <a:off x="478172" y="1532010"/>
          <a:ext cx="11409028" cy="194056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{21E4AEA4-8DFA-4A89-87EB-49C32662AFE0}</a:tableStyleId>
              </a:tblPr>
              <a:tblGrid>
                <a:gridCol w="2852257"/>
                <a:gridCol w="2852257"/>
                <a:gridCol w="2852257"/>
                <a:gridCol w="2852257"/>
              </a:tblGrid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/>
                        <a:t>Version 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/>
                        <a:t>Contributeurs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/>
                        <a:t>Licence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/>
                        <a:t>Commentaires</a:t>
                      </a:r>
                      <a:endParaRPr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200"/>
                        <a:t>1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200"/>
                        <a:t>Alexandre QUACH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200"/>
                        <a:t>CC-BY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200"/>
                        <a:t>Version de lancement</a:t>
                      </a:r>
                      <a:endParaRPr/>
                    </a:p>
                    <a:p>
                      <a:pPr>
                        <a:defRPr/>
                      </a:pPr>
                      <a:r>
                        <a:rPr lang="fr-FR" sz="1200"/>
                        <a:t>Cartes créées avec </a:t>
                      </a:r>
                      <a:r>
                        <a:rPr lang="fr-FR" sz="1200"/>
                        <a:t>Card</a:t>
                      </a:r>
                      <a:r>
                        <a:rPr lang="fr-FR" sz="1200"/>
                        <a:t> Creator</a:t>
                      </a:r>
                      <a:endParaRPr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200"/>
                        <a:t>2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fr-FR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fr-FR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fr-FR" sz="1200"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200"/>
                        <a:t>3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fr-FR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fr-FR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fr-FR" sz="1200"/>
                    </a:p>
                  </a:txBody>
                  <a:tcPr/>
                </a:tc>
              </a:tr>
              <a:tr h="370840">
                <a:tc>
                  <a:txBody>
                    <a:bodyPr/>
                    <a:p>
                      <a:pPr>
                        <a:defRPr/>
                      </a:pPr>
                      <a:endParaRPr lang="fr-FR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fr-FR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fr-FR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fr-FR" sz="12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0" advClick="1" advTm="19680"/>
    </mc:Choice>
    <mc:Fallback>
      <p:transition advClick="1" advTm="1968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6351600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Idées d’extension</a:t>
            </a:r>
            <a:endParaRPr/>
          </a:p>
        </p:txBody>
      </p:sp>
      <p:sp>
        <p:nvSpPr>
          <p:cNvPr id="1889332296" name="Espace réservé du contenu 4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Catégorie : Cartes d’Icebreaker</a:t>
            </a:r>
            <a:endParaRPr/>
          </a:p>
          <a:p>
            <a:pPr>
              <a:defRPr/>
            </a:pPr>
            <a:r>
              <a:rPr lang="fr-FR"/>
              <a:t>Catégorie : Cartes d’ouvertures</a:t>
            </a:r>
            <a:endParaRPr/>
          </a:p>
          <a:p>
            <a:pPr>
              <a:defRPr/>
            </a:pPr>
            <a:r>
              <a:rPr lang="fr-FR"/>
              <a:t>Catégorie : Cartes de fermetures</a:t>
            </a:r>
            <a:endParaRPr/>
          </a:p>
          <a:p>
            <a:pPr>
              <a:defRPr/>
            </a:pPr>
            <a:r>
              <a:rPr lang="fr-FR"/>
              <a:t>Catégorie : Cartes d’objectifs d’atelier (+ suggestions de combinaisons associées)</a:t>
            </a:r>
            <a:endParaRPr/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Calcul automatique de meilleures combinaisons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0" advClick="1" advTm="19680"/>
    </mc:Choice>
    <mc:Fallback>
      <p:transition advClick="1" advTm="19680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hème Office">
  <a:themeElements>
    <a:clrScheme name="Personnalisé 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494BA"/>
      </a:accent1>
      <a:accent2>
        <a:srgbClr val="ED7D31"/>
      </a:accent2>
      <a:accent3>
        <a:srgbClr val="A5A5A5"/>
      </a:accent3>
      <a:accent4>
        <a:srgbClr val="F4AD7C"/>
      </a:accent4>
      <a:accent5>
        <a:srgbClr val="69B6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ONLYOFFICE/9.2.1.43</Application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Alexandre Quach</dc:creator>
  <cp:lastModifiedBy/>
  <cp:revision>227</cp:revision>
  <dcterms:created xsi:type="dcterms:W3CDTF">2021-02-02T23:16:24Z</dcterms:created>
  <dcterms:modified xsi:type="dcterms:W3CDTF">2026-01-23T18:58:54Z</dcterms:modified>
</cp:coreProperties>
</file>