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60" r:id="rId3"/>
    <p:sldId id="262" r:id="rId4"/>
    <p:sldId id="263" r:id="rId5"/>
    <p:sldId id="259" r:id="rId6"/>
  </p:sldIdLst>
  <p:sldSz cx="6858000" cy="9906000" type="A4"/>
  <p:notesSz cx="6858000" cy="9926638"/>
  <p:defaultTextStyle>
    <a:defPPr>
      <a:defRPr lang="en-US"/>
    </a:defPPr>
    <a:lvl1pPr marL="0" algn="l" defTabSz="457133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33" algn="l" defTabSz="457133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66" algn="l" defTabSz="457133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399" algn="l" defTabSz="457133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532" algn="l" defTabSz="457133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665" algn="l" defTabSz="457133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798" algn="l" defTabSz="457133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931" algn="l" defTabSz="457133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064" algn="l" defTabSz="457133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C0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48" autoAdjust="0"/>
    <p:restoredTop sz="94660"/>
  </p:normalViewPr>
  <p:slideViewPr>
    <p:cSldViewPr snapToGrid="0">
      <p:cViewPr varScale="1">
        <p:scale>
          <a:sx n="69" d="100"/>
          <a:sy n="69" d="100"/>
        </p:scale>
        <p:origin x="27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Quach" userId="03a3b9a4-365b-425e-bba9-a77346403bac" providerId="ADAL" clId="{4972B678-411D-4304-BA47-F1F67C7E6D5A}"/>
    <pc:docChg chg="delSld modSld">
      <pc:chgData name="Alexandre Quach" userId="03a3b9a4-365b-425e-bba9-a77346403bac" providerId="ADAL" clId="{4972B678-411D-4304-BA47-F1F67C7E6D5A}" dt="2023-06-14T12:37:08.561" v="8" actId="47"/>
      <pc:docMkLst>
        <pc:docMk/>
      </pc:docMkLst>
      <pc:sldChg chg="modSp mod">
        <pc:chgData name="Alexandre Quach" userId="03a3b9a4-365b-425e-bba9-a77346403bac" providerId="ADAL" clId="{4972B678-411D-4304-BA47-F1F67C7E6D5A}" dt="2023-06-14T12:36:54.669" v="7" actId="20577"/>
        <pc:sldMkLst>
          <pc:docMk/>
          <pc:sldMk cId="1060690436" sldId="260"/>
        </pc:sldMkLst>
        <pc:spChg chg="mod">
          <ac:chgData name="Alexandre Quach" userId="03a3b9a4-365b-425e-bba9-a77346403bac" providerId="ADAL" clId="{4972B678-411D-4304-BA47-F1F67C7E6D5A}" dt="2023-06-14T12:36:54.669" v="7" actId="20577"/>
          <ac:spMkLst>
            <pc:docMk/>
            <pc:sldMk cId="1060690436" sldId="260"/>
            <ac:spMk id="11" creationId="{249FC274-2561-A605-3512-14F27FF09516}"/>
          </ac:spMkLst>
        </pc:spChg>
      </pc:sldChg>
      <pc:sldChg chg="del">
        <pc:chgData name="Alexandre Quach" userId="03a3b9a4-365b-425e-bba9-a77346403bac" providerId="ADAL" clId="{4972B678-411D-4304-BA47-F1F67C7E6D5A}" dt="2023-06-14T12:37:08.561" v="8" actId="47"/>
        <pc:sldMkLst>
          <pc:docMk/>
          <pc:sldMk cId="2494253049" sldId="26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A948C06-F7D7-4872-AC54-D56568C40D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A16C201-56D9-42B1-91DB-92380F2868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46E387-58D0-40AA-A111-39025C8DE5A5}" type="datetimeFigureOut">
              <a:rPr lang="fr-FR" smtClean="0"/>
              <a:t>14/06/2023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BF02CFE-A077-47B6-A7C0-3D0CE97510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E98511-98FD-4F53-85BC-630702199D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17C46C-43A9-4CC6-ABA8-CCA27B0BD1B2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9423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20955-6C47-4586-98EC-FFC38E96B8F7}" type="datetimeFigureOut">
              <a:rPr lang="fr-FR" smtClean="0"/>
              <a:t>14/06/2023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270125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776788"/>
            <a:ext cx="5486400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A7939E-2C09-4915-8039-A09DC60D8B16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63677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26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3" algn="l" defTabSz="91426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6" algn="l" defTabSz="91426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9" algn="l" defTabSz="91426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32" algn="l" defTabSz="91426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65" algn="l" defTabSz="91426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98" algn="l" defTabSz="91426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31" algn="l" defTabSz="91426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64" algn="l" defTabSz="91426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5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0D14-03F7-4F0D-A834-CBE5F1B767A5}" type="datetimeFigureOut">
              <a:rPr lang="fr-FR" smtClean="0"/>
              <a:t>14/06/2023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5C76-BE70-4258-8668-C07A75A9D8EB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2992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0D14-03F7-4F0D-A834-CBE5F1B767A5}" type="datetimeFigureOut">
              <a:rPr lang="fr-FR" smtClean="0"/>
              <a:t>14/06/2023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5C76-BE70-4258-8668-C07A75A9D8EB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5331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7" y="2469625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7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0D14-03F7-4F0D-A834-CBE5F1B767A5}" type="datetimeFigureOut">
              <a:rPr lang="fr-FR" smtClean="0"/>
              <a:t>14/06/2023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5C76-BE70-4258-8668-C07A75A9D8EB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8475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0D14-03F7-4F0D-A834-CBE5F1B767A5}" type="datetimeFigureOut">
              <a:rPr lang="fr-FR" smtClean="0"/>
              <a:t>14/06/2023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5C76-BE70-4258-8668-C07A75A9D8EB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3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527405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0D14-03F7-4F0D-A834-CBE5F1B767A5}" type="datetimeFigureOut">
              <a:rPr lang="fr-FR" smtClean="0"/>
              <a:t>14/06/2023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5C76-BE70-4258-8668-C07A75A9D8EB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879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0D14-03F7-4F0D-A834-CBE5F1B767A5}" type="datetimeFigureOut">
              <a:rPr lang="fr-FR" smtClean="0"/>
              <a:t>14/06/2023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5C76-BE70-4258-8668-C07A75A9D8EB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029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0D14-03F7-4F0D-A834-CBE5F1B767A5}" type="datetimeFigureOut">
              <a:rPr lang="fr-FR" smtClean="0"/>
              <a:t>14/06/2023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5C76-BE70-4258-8668-C07A75A9D8EB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469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4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1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0D14-03F7-4F0D-A834-CBE5F1B767A5}" type="datetimeFigureOut">
              <a:rPr lang="fr-FR" smtClean="0"/>
              <a:t>14/06/2023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5C76-BE70-4258-8668-C07A75A9D8EB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792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4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1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0D14-03F7-4F0D-A834-CBE5F1B767A5}" type="datetimeFigureOut">
              <a:rPr lang="fr-FR" smtClean="0"/>
              <a:t>14/06/2023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5C76-BE70-4258-8668-C07A75A9D8EB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440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0D14-03F7-4F0D-A834-CBE5F1B767A5}" type="datetimeFigureOut">
              <a:rPr lang="fr-FR" smtClean="0"/>
              <a:t>14/06/2023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5C76-BE70-4258-8668-C07A75A9D8EB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62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4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4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0D14-03F7-4F0D-A834-CBE5F1B767A5}" type="datetimeFigureOut">
              <a:rPr lang="fr-FR" smtClean="0"/>
              <a:t>14/06/2023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85C76-BE70-4258-8668-C07A75A9D8EB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0201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8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A0D14-03F7-4F0D-A834-CBE5F1B767A5}" type="datetimeFigureOut">
              <a:rPr lang="fr-FR" smtClean="0"/>
              <a:t>14/06/2023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8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8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85C76-BE70-4258-8668-C07A75A9D8EB}" type="slidenum">
              <a:rPr lang="fr-FR" smtClean="0"/>
              <a:t>‹N›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967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hyperlink" Target="https://www.komyu.io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omyu.io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omyu.io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omyu.io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creativecommons.org/licenses/by/3.0/fr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hyperlink" Target="https://www.komyu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ésultat de recherche d'images pour &quot;crowd clipart&quot;">
            <a:extLst>
              <a:ext uri="{FF2B5EF4-FFF2-40B4-BE49-F238E27FC236}">
                <a16:creationId xmlns:a16="http://schemas.microsoft.com/office/drawing/2014/main" id="{1DAEDE93-1B49-4670-AF38-541EE5AD53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411" b="89869" l="8111" r="90000">
                        <a14:foregroundMark x1="27444" y1="11069" x2="45000" y2="9099"/>
                        <a14:foregroundMark x1="45000" y1="9099" x2="62333" y2="9475"/>
                        <a14:foregroundMark x1="62333" y1="9475" x2="65444" y2="8068"/>
                        <a14:foregroundMark x1="57111" y1="7692" x2="50111" y2="7411"/>
                        <a14:foregroundMark x1="65000" y1="56473" x2="67111" y2="71951"/>
                        <a14:foregroundMark x1="67111" y1="71951" x2="64556" y2="77955"/>
                        <a14:foregroundMark x1="89556" y1="43621" x2="88667" y2="30300"/>
                        <a14:foregroundMark x1="13000" y1="30300" x2="8111" y2="417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738"/>
          <a:stretch/>
        </p:blipFill>
        <p:spPr bwMode="auto">
          <a:xfrm>
            <a:off x="665146" y="5705727"/>
            <a:ext cx="2163713" cy="2364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8F54CC7A-2683-4D5C-BC2E-362AA3F06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712251"/>
              </p:ext>
            </p:extLst>
          </p:nvPr>
        </p:nvGraphicFramePr>
        <p:xfrm>
          <a:off x="0" y="1"/>
          <a:ext cx="6858000" cy="1021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612185270"/>
                    </a:ext>
                  </a:extLst>
                </a:gridCol>
              </a:tblGrid>
              <a:tr h="446566">
                <a:tc>
                  <a:txBody>
                    <a:bodyPr/>
                    <a:lstStyle/>
                    <a:p>
                      <a:pPr marL="342900" marR="0" lvl="1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dirty="0">
                          <a:solidFill>
                            <a:schemeClr val="tx1"/>
                          </a:solidFill>
                        </a:rPr>
                        <a:t>BINGO COCKTAIL V1</a:t>
                      </a:r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marL="342900" marR="0" lvl="1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dirty="0">
                          <a:solidFill>
                            <a:schemeClr val="tx1"/>
                          </a:solidFill>
                        </a:rPr>
                        <a:t>Jeu prétexte pour discuter et découvrir les autres. </a:t>
                      </a:r>
                    </a:p>
                    <a:p>
                      <a:pPr marL="342900" marR="0" lvl="1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dirty="0">
                          <a:solidFill>
                            <a:schemeClr val="tx1"/>
                          </a:solidFill>
                        </a:rPr>
                        <a:t>10-20 minutes. Compatible pendant un moment buffet. Nombre de personnes illimitées.</a:t>
                      </a:r>
                    </a:p>
                    <a:p>
                      <a:pPr marL="342900" marR="0" lvl="1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dirty="0">
                          <a:solidFill>
                            <a:schemeClr val="tx1"/>
                          </a:solidFill>
                        </a:rPr>
                        <a:t>#</a:t>
                      </a:r>
                      <a:r>
                        <a:rPr lang="fr-FR" sz="1100" b="1" dirty="0" err="1">
                          <a:solidFill>
                            <a:schemeClr val="tx1"/>
                          </a:solidFill>
                        </a:rPr>
                        <a:t>OpenSeriousGame</a:t>
                      </a:r>
                      <a:endParaRPr lang="fr-FR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10C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43360"/>
                  </a:ext>
                </a:extLst>
              </a:tr>
            </a:tbl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DB0B1A80-DBE8-46EB-BC9C-C0D83311BB74}"/>
              </a:ext>
            </a:extLst>
          </p:cNvPr>
          <p:cNvSpPr/>
          <p:nvPr/>
        </p:nvSpPr>
        <p:spPr>
          <a:xfrm>
            <a:off x="377128" y="2082473"/>
            <a:ext cx="1286160" cy="14248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Bahnschrift" panose="020B0502040204020203" pitchFamily="34" charset="0"/>
              </a:rPr>
              <a:t>Quelqu’un qui habite dans une ville limitrophe à la tienne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6518A2E-7076-4325-9286-B402D6150F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295" y="6497221"/>
            <a:ext cx="2224753" cy="222475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9AF822E-0EFE-4935-8CA0-0752F3ED5011}"/>
              </a:ext>
            </a:extLst>
          </p:cNvPr>
          <p:cNvSpPr txBox="1"/>
          <p:nvPr/>
        </p:nvSpPr>
        <p:spPr>
          <a:xfrm>
            <a:off x="4099176" y="4920897"/>
            <a:ext cx="26835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Distribuez ces feuilles chez vos participants, laissez les personnes se rencontrer en cherchant à cocher des cases. Les premiers gagnants reçoivent un mini-prix</a:t>
            </a:r>
          </a:p>
        </p:txBody>
      </p:sp>
      <p:sp>
        <p:nvSpPr>
          <p:cNvPr id="48" name="Forme libre : forme 47">
            <a:extLst>
              <a:ext uri="{FF2B5EF4-FFF2-40B4-BE49-F238E27FC236}">
                <a16:creationId xmlns:a16="http://schemas.microsoft.com/office/drawing/2014/main" id="{B6D38EA9-D119-41A3-9CA7-7A7134B94B9D}"/>
              </a:ext>
            </a:extLst>
          </p:cNvPr>
          <p:cNvSpPr/>
          <p:nvPr/>
        </p:nvSpPr>
        <p:spPr>
          <a:xfrm>
            <a:off x="21036" y="3507288"/>
            <a:ext cx="1215445" cy="3036408"/>
          </a:xfrm>
          <a:custGeom>
            <a:avLst/>
            <a:gdLst>
              <a:gd name="connsiteX0" fmla="*/ 1215445 w 1215445"/>
              <a:gd name="connsiteY0" fmla="*/ 0 h 3036408"/>
              <a:gd name="connsiteX1" fmla="*/ 764508 w 1215445"/>
              <a:gd name="connsiteY1" fmla="*/ 300625 h 3036408"/>
              <a:gd name="connsiteX2" fmla="*/ 1152815 w 1215445"/>
              <a:gd name="connsiteY2" fmla="*/ 701458 h 3036408"/>
              <a:gd name="connsiteX3" fmla="*/ 513988 w 1215445"/>
              <a:gd name="connsiteY3" fmla="*/ 1415441 h 3036408"/>
              <a:gd name="connsiteX4" fmla="*/ 488936 w 1215445"/>
              <a:gd name="connsiteY4" fmla="*/ 2204581 h 3036408"/>
              <a:gd name="connsiteX5" fmla="*/ 25473 w 1215445"/>
              <a:gd name="connsiteY5" fmla="*/ 2430049 h 3036408"/>
              <a:gd name="connsiteX6" fmla="*/ 100629 w 1215445"/>
              <a:gd name="connsiteY6" fmla="*/ 3031299 h 3036408"/>
              <a:gd name="connsiteX7" fmla="*/ 438832 w 1215445"/>
              <a:gd name="connsiteY7" fmla="*/ 2718148 h 3036408"/>
              <a:gd name="connsiteX8" fmla="*/ 626722 w 1215445"/>
              <a:gd name="connsiteY8" fmla="*/ 2693096 h 303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5445" h="3036408">
                <a:moveTo>
                  <a:pt x="1215445" y="0"/>
                </a:moveTo>
                <a:cubicBezTo>
                  <a:pt x="995195" y="91857"/>
                  <a:pt x="774946" y="183715"/>
                  <a:pt x="764508" y="300625"/>
                </a:cubicBezTo>
                <a:cubicBezTo>
                  <a:pt x="754070" y="417535"/>
                  <a:pt x="1194568" y="515655"/>
                  <a:pt x="1152815" y="701458"/>
                </a:cubicBezTo>
                <a:cubicBezTo>
                  <a:pt x="1111062" y="887261"/>
                  <a:pt x="624634" y="1164921"/>
                  <a:pt x="513988" y="1415441"/>
                </a:cubicBezTo>
                <a:cubicBezTo>
                  <a:pt x="403341" y="1665962"/>
                  <a:pt x="570355" y="2035480"/>
                  <a:pt x="488936" y="2204581"/>
                </a:cubicBezTo>
                <a:cubicBezTo>
                  <a:pt x="407517" y="2373682"/>
                  <a:pt x="90191" y="2292263"/>
                  <a:pt x="25473" y="2430049"/>
                </a:cubicBezTo>
                <a:cubicBezTo>
                  <a:pt x="-39245" y="2567835"/>
                  <a:pt x="31736" y="2983283"/>
                  <a:pt x="100629" y="3031299"/>
                </a:cubicBezTo>
                <a:cubicBezTo>
                  <a:pt x="169522" y="3079315"/>
                  <a:pt x="351150" y="2774515"/>
                  <a:pt x="438832" y="2718148"/>
                </a:cubicBezTo>
                <a:cubicBezTo>
                  <a:pt x="526514" y="2661781"/>
                  <a:pt x="576618" y="2677438"/>
                  <a:pt x="626722" y="2693096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E0B9D200-56D6-44B5-86A2-FE8419CD4EFC}"/>
              </a:ext>
            </a:extLst>
          </p:cNvPr>
          <p:cNvSpPr txBox="1"/>
          <p:nvPr/>
        </p:nvSpPr>
        <p:spPr>
          <a:xfrm>
            <a:off x="3985283" y="3005535"/>
            <a:ext cx="2683514" cy="4308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Pour inviter à se découvrir et/ou discuter dans votre collectif</a:t>
            </a:r>
          </a:p>
        </p:txBody>
      </p:sp>
      <p:sp>
        <p:nvSpPr>
          <p:cNvPr id="52" name="Forme libre : forme 51">
            <a:extLst>
              <a:ext uri="{FF2B5EF4-FFF2-40B4-BE49-F238E27FC236}">
                <a16:creationId xmlns:a16="http://schemas.microsoft.com/office/drawing/2014/main" id="{6B472212-3304-4482-8A36-7CEDDA0EAFAD}"/>
              </a:ext>
            </a:extLst>
          </p:cNvPr>
          <p:cNvSpPr/>
          <p:nvPr/>
        </p:nvSpPr>
        <p:spPr>
          <a:xfrm>
            <a:off x="2096382" y="3507288"/>
            <a:ext cx="1149180" cy="3348733"/>
          </a:xfrm>
          <a:custGeom>
            <a:avLst/>
            <a:gdLst>
              <a:gd name="connsiteX0" fmla="*/ 1064712 w 1149180"/>
              <a:gd name="connsiteY0" fmla="*/ 0 h 3348733"/>
              <a:gd name="connsiteX1" fmla="*/ 1052186 w 1149180"/>
              <a:gd name="connsiteY1" fmla="*/ 964504 h 3348733"/>
              <a:gd name="connsiteX2" fmla="*/ 87682 w 1149180"/>
              <a:gd name="connsiteY2" fmla="*/ 1440493 h 3348733"/>
              <a:gd name="connsiteX3" fmla="*/ 438411 w 1149180"/>
              <a:gd name="connsiteY3" fmla="*/ 2254685 h 3348733"/>
              <a:gd name="connsiteX4" fmla="*/ 400833 w 1149180"/>
              <a:gd name="connsiteY4" fmla="*/ 3244241 h 3348733"/>
              <a:gd name="connsiteX5" fmla="*/ 0 w 1149180"/>
              <a:gd name="connsiteY5" fmla="*/ 3319397 h 3348733"/>
              <a:gd name="connsiteX6" fmla="*/ 0 w 1149180"/>
              <a:gd name="connsiteY6" fmla="*/ 3319397 h 3348733"/>
              <a:gd name="connsiteX7" fmla="*/ 0 w 1149180"/>
              <a:gd name="connsiteY7" fmla="*/ 3319397 h 334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9180" h="3348733">
                <a:moveTo>
                  <a:pt x="1064712" y="0"/>
                </a:moveTo>
                <a:cubicBezTo>
                  <a:pt x="1139868" y="362211"/>
                  <a:pt x="1215024" y="724422"/>
                  <a:pt x="1052186" y="964504"/>
                </a:cubicBezTo>
                <a:cubicBezTo>
                  <a:pt x="889348" y="1204586"/>
                  <a:pt x="189978" y="1225463"/>
                  <a:pt x="87682" y="1440493"/>
                </a:cubicBezTo>
                <a:cubicBezTo>
                  <a:pt x="-14614" y="1655523"/>
                  <a:pt x="386219" y="1954060"/>
                  <a:pt x="438411" y="2254685"/>
                </a:cubicBezTo>
                <a:cubicBezTo>
                  <a:pt x="490603" y="2555310"/>
                  <a:pt x="473901" y="3066789"/>
                  <a:pt x="400833" y="3244241"/>
                </a:cubicBezTo>
                <a:cubicBezTo>
                  <a:pt x="327765" y="3421693"/>
                  <a:pt x="0" y="3319397"/>
                  <a:pt x="0" y="3319397"/>
                </a:cubicBezTo>
                <a:lnTo>
                  <a:pt x="0" y="3319397"/>
                </a:lnTo>
                <a:lnTo>
                  <a:pt x="0" y="3319397"/>
                </a:ln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A02D5966-B4D3-42FA-9A7D-8DC2C40BE8C6}"/>
              </a:ext>
            </a:extLst>
          </p:cNvPr>
          <p:cNvSpPr txBox="1"/>
          <p:nvPr/>
        </p:nvSpPr>
        <p:spPr>
          <a:xfrm>
            <a:off x="1478071" y="8905898"/>
            <a:ext cx="5304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dirty="0"/>
              <a:t>Idéal pendant les moments libres : </a:t>
            </a:r>
          </a:p>
          <a:p>
            <a:pPr algn="r"/>
            <a:r>
              <a:rPr lang="fr-FR" sz="1600" dirty="0"/>
              <a:t>Pauses, buffets, etc. ou en « déroulement libre » pendant une journée événementielle </a:t>
            </a:r>
          </a:p>
        </p:txBody>
      </p:sp>
      <p:sp>
        <p:nvSpPr>
          <p:cNvPr id="2" name="Rectangle 38">
            <a:extLst>
              <a:ext uri="{FF2B5EF4-FFF2-40B4-BE49-F238E27FC236}">
                <a16:creationId xmlns:a16="http://schemas.microsoft.com/office/drawing/2014/main" id="{E75BF6D3-162A-D4F7-9E9C-B09F1D87EBEC}"/>
              </a:ext>
            </a:extLst>
          </p:cNvPr>
          <p:cNvSpPr/>
          <p:nvPr/>
        </p:nvSpPr>
        <p:spPr>
          <a:xfrm>
            <a:off x="2339856" y="2077856"/>
            <a:ext cx="1286160" cy="14248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  <a:latin typeface="Bahnschrift" panose="020B0502040204020203" pitchFamily="34" charset="0"/>
              </a:rPr>
              <a:t>Quelqu’un qui a eu le BAC à 2 années d’écart max avec toi</a:t>
            </a:r>
          </a:p>
        </p:txBody>
      </p:sp>
      <p:pic>
        <p:nvPicPr>
          <p:cNvPr id="4" name="Immagine 3" descr="Immagine che contiene schermata, testo, linea, diagramma&#10;&#10;Descrizione generata automaticamente">
            <a:extLst>
              <a:ext uri="{FF2B5EF4-FFF2-40B4-BE49-F238E27FC236}">
                <a16:creationId xmlns:a16="http://schemas.microsoft.com/office/drawing/2014/main" id="{9DB546FE-7711-CE6C-548F-7D1327B986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901" y="1339175"/>
            <a:ext cx="1025032" cy="1482436"/>
          </a:xfrm>
          <a:prstGeom prst="rect">
            <a:avLst/>
          </a:prstGeom>
        </p:spPr>
      </p:pic>
      <p:pic>
        <p:nvPicPr>
          <p:cNvPr id="3" name="Image 12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DAE43F1C-1C9C-74E1-D147-B3FA0BD8BA2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223" y="9698173"/>
            <a:ext cx="428905" cy="155503"/>
          </a:xfrm>
          <a:prstGeom prst="rect">
            <a:avLst/>
          </a:prstGeom>
        </p:spPr>
      </p:pic>
      <p:pic>
        <p:nvPicPr>
          <p:cNvPr id="5" name="Image 14" descr="Une image contenant texte, clipart&#10;&#10;Description générée automatiquement">
            <a:hlinkClick r:id="rId7"/>
            <a:extLst>
              <a:ext uri="{FF2B5EF4-FFF2-40B4-BE49-F238E27FC236}">
                <a16:creationId xmlns:a16="http://schemas.microsoft.com/office/drawing/2014/main" id="{5285CB29-4F75-3C0C-B614-AA974923751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329" y="9386161"/>
            <a:ext cx="628694" cy="260149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1DB00FB9-3D69-2B78-6BDE-26820CAFB2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6" t="17394" r="25946" b="25394"/>
          <a:stretch/>
        </p:blipFill>
        <p:spPr bwMode="auto">
          <a:xfrm>
            <a:off x="84689" y="9645849"/>
            <a:ext cx="249126" cy="26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768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8F54CC7A-2683-4D5C-BC2E-362AA3F06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819152"/>
              </p:ext>
            </p:extLst>
          </p:nvPr>
        </p:nvGraphicFramePr>
        <p:xfrm>
          <a:off x="0" y="1"/>
          <a:ext cx="6858000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612185270"/>
                    </a:ext>
                  </a:extLst>
                </a:gridCol>
              </a:tblGrid>
              <a:tr h="446566">
                <a:tc>
                  <a:txBody>
                    <a:bodyPr/>
                    <a:lstStyle/>
                    <a:p>
                      <a:pPr marL="342900" marR="0" lvl="1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dirty="0">
                          <a:solidFill>
                            <a:schemeClr val="tx1"/>
                          </a:solidFill>
                        </a:rPr>
                        <a:t>BINGO COCKTAIL : POINTS COMMUNS</a:t>
                      </a:r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marL="342900" marR="0" lvl="1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dirty="0">
                          <a:solidFill>
                            <a:schemeClr val="tx1"/>
                          </a:solidFill>
                        </a:rPr>
                        <a:t>#OpenSeriousGame</a:t>
                      </a:r>
                      <a:endParaRPr lang="fr-FR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10C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43360"/>
                  </a:ext>
                </a:extLst>
              </a:tr>
            </a:tbl>
          </a:graphicData>
        </a:graphic>
      </p:graphicFrame>
      <p:sp>
        <p:nvSpPr>
          <p:cNvPr id="55" name="ZoneTexte 54">
            <a:extLst>
              <a:ext uri="{FF2B5EF4-FFF2-40B4-BE49-F238E27FC236}">
                <a16:creationId xmlns:a16="http://schemas.microsoft.com/office/drawing/2014/main" id="{A02D5966-B4D3-42FA-9A7D-8DC2C40BE8C6}"/>
              </a:ext>
            </a:extLst>
          </p:cNvPr>
          <p:cNvSpPr txBox="1"/>
          <p:nvPr/>
        </p:nvSpPr>
        <p:spPr>
          <a:xfrm>
            <a:off x="111092" y="8009976"/>
            <a:ext cx="53046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Tirez un trait lorsque vous avez rempli les 3 cases d’une même ligne, colonne ou diagonale</a:t>
            </a:r>
          </a:p>
          <a:p>
            <a:pPr algn="ctr"/>
            <a:r>
              <a:rPr lang="fr-FR" sz="1600" dirty="0"/>
              <a:t>Les 3 premières personnes à remplir 2 lignes, colonnes ou diagonales gagnent :</a:t>
            </a:r>
          </a:p>
          <a:p>
            <a:pPr algn="ctr"/>
            <a:r>
              <a:rPr lang="fr-FR" sz="1600" dirty="0"/>
              <a:t>1</a:t>
            </a:r>
            <a:r>
              <a:rPr lang="fr-FR" sz="1600" baseline="30000" dirty="0"/>
              <a:t>er</a:t>
            </a:r>
            <a:r>
              <a:rPr lang="fr-FR" sz="1600" dirty="0"/>
              <a:t> prix : { Remplir ici votre premier prix}</a:t>
            </a:r>
          </a:p>
          <a:p>
            <a:pPr algn="ctr"/>
            <a:r>
              <a:rPr lang="fr-FR" sz="1600" dirty="0"/>
              <a:t>2</a:t>
            </a:r>
            <a:r>
              <a:rPr lang="fr-FR" sz="1600" baseline="30000" dirty="0"/>
              <a:t>e</a:t>
            </a:r>
            <a:r>
              <a:rPr lang="fr-FR" sz="1600" dirty="0"/>
              <a:t> prix :  { Remplir ici votre deuxième prix}</a:t>
            </a:r>
          </a:p>
          <a:p>
            <a:pPr algn="ctr"/>
            <a:r>
              <a:rPr lang="fr-FR" sz="1600" dirty="0"/>
              <a:t>3</a:t>
            </a:r>
            <a:r>
              <a:rPr lang="fr-FR" sz="1600" baseline="30000" dirty="0"/>
              <a:t>e</a:t>
            </a:r>
            <a:r>
              <a:rPr lang="fr-FR" sz="1600" dirty="0"/>
              <a:t> prix :  { Remplir ici votre troisième prix}</a:t>
            </a:r>
          </a:p>
        </p:txBody>
      </p:sp>
      <p:sp>
        <p:nvSpPr>
          <p:cNvPr id="3" name="ZoneTexte 54">
            <a:extLst>
              <a:ext uri="{FF2B5EF4-FFF2-40B4-BE49-F238E27FC236}">
                <a16:creationId xmlns:a16="http://schemas.microsoft.com/office/drawing/2014/main" id="{E3567928-C879-1707-08F1-BE340A23B6B6}"/>
              </a:ext>
            </a:extLst>
          </p:cNvPr>
          <p:cNvSpPr txBox="1"/>
          <p:nvPr/>
        </p:nvSpPr>
        <p:spPr>
          <a:xfrm>
            <a:off x="267983" y="937213"/>
            <a:ext cx="44516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Cette feuille est celle de : ……………………………………………</a:t>
            </a:r>
          </a:p>
          <a:p>
            <a:pPr algn="ctr"/>
            <a:endParaRPr lang="fr-FR" sz="1600" dirty="0"/>
          </a:p>
          <a:p>
            <a:r>
              <a:rPr lang="fr-FR" sz="1600" dirty="0"/>
              <a:t>Marquez les boîtes avec le prénom de la personne que vous avez trouvé. 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ED5A47A5-9AC1-A2E6-B4F7-22C3CCF82220}"/>
              </a:ext>
            </a:extLst>
          </p:cNvPr>
          <p:cNvSpPr/>
          <p:nvPr/>
        </p:nvSpPr>
        <p:spPr>
          <a:xfrm>
            <a:off x="1134654" y="2503029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vit à moins de 1km de chez vous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9A2D396-4DDC-2265-7916-FF22EC9D9EC0}"/>
              </a:ext>
            </a:extLst>
          </p:cNvPr>
          <p:cNvSpPr/>
          <p:nvPr/>
        </p:nvSpPr>
        <p:spPr>
          <a:xfrm>
            <a:off x="2820290" y="2503029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a la même couleur d’yeux que vous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58D17F7-7A24-BB8B-91F5-03EB4BA2A145}"/>
              </a:ext>
            </a:extLst>
          </p:cNvPr>
          <p:cNvSpPr/>
          <p:nvPr/>
        </p:nvSpPr>
        <p:spPr>
          <a:xfrm>
            <a:off x="4505926" y="2503029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dont les dernières vacances étaient dans le même pays que celui de vos dernières vacances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6730ECE-0078-6AB1-6887-FB7E65C1DA59}"/>
              </a:ext>
            </a:extLst>
          </p:cNvPr>
          <p:cNvSpPr/>
          <p:nvPr/>
        </p:nvSpPr>
        <p:spPr>
          <a:xfrm>
            <a:off x="1134654" y="4244085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parle couramment 2 mêmes langues étrangères que vous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49FC274-2561-A605-3512-14F27FF09516}"/>
              </a:ext>
            </a:extLst>
          </p:cNvPr>
          <p:cNvSpPr/>
          <p:nvPr/>
        </p:nvSpPr>
        <p:spPr>
          <a:xfrm>
            <a:off x="2820290" y="4244085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a passé son BAC à 2 ans d’écarts maximum de vous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234E132-CE65-7C41-1D42-5DC45A845402}"/>
              </a:ext>
            </a:extLst>
          </p:cNvPr>
          <p:cNvSpPr/>
          <p:nvPr/>
        </p:nvSpPr>
        <p:spPr>
          <a:xfrm>
            <a:off x="4505926" y="4244085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a au moins 1 entreprises en commun avec vous dans son parcours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(hors actuelle)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A959866-D781-7253-FA8D-D0CE04D7CA23}"/>
              </a:ext>
            </a:extLst>
          </p:cNvPr>
          <p:cNvSpPr/>
          <p:nvPr/>
        </p:nvSpPr>
        <p:spPr>
          <a:xfrm>
            <a:off x="1134654" y="5985141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avec qui vous avez un écart de taille (hauteur) de 1cm max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2DCFC43-28DD-9E73-CD02-4E636C18B6D4}"/>
              </a:ext>
            </a:extLst>
          </p:cNvPr>
          <p:cNvSpPr/>
          <p:nvPr/>
        </p:nvSpPr>
        <p:spPr>
          <a:xfrm>
            <a:off x="2820290" y="5985141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pratique le même sport ou loisir que vous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83F161A2-E718-9A6E-CCA5-A3B8024932B6}"/>
              </a:ext>
            </a:extLst>
          </p:cNvPr>
          <p:cNvSpPr/>
          <p:nvPr/>
        </p:nvSpPr>
        <p:spPr>
          <a:xfrm>
            <a:off x="4505926" y="5985141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a fait les mêmes études (même cursus, même thème) que vous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8A1CABBD-B849-B24A-2494-470E128B9E6E}"/>
              </a:ext>
            </a:extLst>
          </p:cNvPr>
          <p:cNvSpPr/>
          <p:nvPr/>
        </p:nvSpPr>
        <p:spPr>
          <a:xfrm>
            <a:off x="5149272" y="860124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Exemple</a:t>
            </a:r>
          </a:p>
          <a:p>
            <a:pPr algn="ctr"/>
            <a:endParaRPr lang="fr-FR" sz="1100" dirty="0">
              <a:solidFill>
                <a:schemeClr val="tx1"/>
              </a:solidFill>
            </a:endParaRPr>
          </a:p>
          <a:p>
            <a:pPr algn="ctr"/>
            <a:r>
              <a:rPr lang="fr-FR" sz="1100" dirty="0">
                <a:solidFill>
                  <a:schemeClr val="tx1"/>
                </a:solidFill>
              </a:rPr>
              <a:t>Une personne qui vit à moins de 1km de chez vous</a:t>
            </a:r>
          </a:p>
          <a:p>
            <a:pPr algn="ctr"/>
            <a:endParaRPr lang="fr-FR" sz="1100" dirty="0">
              <a:solidFill>
                <a:schemeClr val="tx1"/>
              </a:solidFill>
            </a:endParaRPr>
          </a:p>
          <a:p>
            <a:pPr algn="ctr"/>
            <a:r>
              <a:rPr lang="fr-FR" sz="1100" dirty="0">
                <a:solidFill>
                  <a:schemeClr val="tx1"/>
                </a:solidFill>
              </a:rPr>
              <a:t>…………………………….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4574E63-4A3B-ED87-D53E-15308FF34129}"/>
              </a:ext>
            </a:extLst>
          </p:cNvPr>
          <p:cNvSpPr txBox="1"/>
          <p:nvPr/>
        </p:nvSpPr>
        <p:spPr>
          <a:xfrm flipH="1">
            <a:off x="5333999" y="1911137"/>
            <a:ext cx="12746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Bradley Hand ITC" panose="03070402050302030203" pitchFamily="66" charset="0"/>
              </a:rPr>
              <a:t>Jacques</a:t>
            </a:r>
          </a:p>
        </p:txBody>
      </p: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C79B1EE0-95EB-441F-C982-D14DE1083056}"/>
              </a:ext>
            </a:extLst>
          </p:cNvPr>
          <p:cNvGrpSpPr/>
          <p:nvPr/>
        </p:nvGrpSpPr>
        <p:grpSpPr>
          <a:xfrm flipH="1" flipV="1">
            <a:off x="5575682" y="8127150"/>
            <a:ext cx="991122" cy="918726"/>
            <a:chOff x="1287054" y="2655429"/>
            <a:chExt cx="4830617" cy="4950694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7A725329-A257-95FE-6B58-24034FD7F0B9}"/>
                </a:ext>
              </a:extLst>
            </p:cNvPr>
            <p:cNvSpPr/>
            <p:nvPr/>
          </p:nvSpPr>
          <p:spPr>
            <a:xfrm>
              <a:off x="1287054" y="2655429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FF6FF6DB-9318-3D47-7BDB-E56B169F5C0B}"/>
                </a:ext>
              </a:extLst>
            </p:cNvPr>
            <p:cNvSpPr/>
            <p:nvPr/>
          </p:nvSpPr>
          <p:spPr>
            <a:xfrm>
              <a:off x="2972690" y="2655429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DB45163D-C888-206E-B46C-0BFB96C996D5}"/>
                </a:ext>
              </a:extLst>
            </p:cNvPr>
            <p:cNvSpPr/>
            <p:nvPr/>
          </p:nvSpPr>
          <p:spPr>
            <a:xfrm>
              <a:off x="4658326" y="2655429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819B2E41-5143-7C3C-5A85-24A5D7FF0A9C}"/>
                </a:ext>
              </a:extLst>
            </p:cNvPr>
            <p:cNvSpPr/>
            <p:nvPr/>
          </p:nvSpPr>
          <p:spPr>
            <a:xfrm>
              <a:off x="1287054" y="4396485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48918525-68A3-85EB-4CE2-A29184B1A803}"/>
                </a:ext>
              </a:extLst>
            </p:cNvPr>
            <p:cNvSpPr/>
            <p:nvPr/>
          </p:nvSpPr>
          <p:spPr>
            <a:xfrm>
              <a:off x="2972690" y="4396485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10EDC537-7930-8BC6-17F2-5F422D4D9FD0}"/>
                </a:ext>
              </a:extLst>
            </p:cNvPr>
            <p:cNvSpPr/>
            <p:nvPr/>
          </p:nvSpPr>
          <p:spPr>
            <a:xfrm>
              <a:off x="4658326" y="4396485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4B721F53-4E79-E4E0-5E99-ED10C7C26D36}"/>
                </a:ext>
              </a:extLst>
            </p:cNvPr>
            <p:cNvSpPr/>
            <p:nvPr/>
          </p:nvSpPr>
          <p:spPr>
            <a:xfrm>
              <a:off x="1287054" y="6137541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5" name="Rettangolo 24">
              <a:extLst>
                <a:ext uri="{FF2B5EF4-FFF2-40B4-BE49-F238E27FC236}">
                  <a16:creationId xmlns:a16="http://schemas.microsoft.com/office/drawing/2014/main" id="{4F022446-577D-7739-03AD-E2BFA30086D1}"/>
                </a:ext>
              </a:extLst>
            </p:cNvPr>
            <p:cNvSpPr/>
            <p:nvPr/>
          </p:nvSpPr>
          <p:spPr>
            <a:xfrm>
              <a:off x="2972690" y="6137541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" name="Rettangolo 25">
              <a:extLst>
                <a:ext uri="{FF2B5EF4-FFF2-40B4-BE49-F238E27FC236}">
                  <a16:creationId xmlns:a16="http://schemas.microsoft.com/office/drawing/2014/main" id="{A8C3586B-6FE2-2FB5-4AC5-514A59D7FBD9}"/>
                </a:ext>
              </a:extLst>
            </p:cNvPr>
            <p:cNvSpPr/>
            <p:nvPr/>
          </p:nvSpPr>
          <p:spPr>
            <a:xfrm>
              <a:off x="4658326" y="6137541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4A74901D-0DC2-5197-6D20-D27D4AE2F19A}"/>
              </a:ext>
            </a:extLst>
          </p:cNvPr>
          <p:cNvCxnSpPr>
            <a:cxnSpLocks/>
          </p:cNvCxnSpPr>
          <p:nvPr/>
        </p:nvCxnSpPr>
        <p:spPr>
          <a:xfrm>
            <a:off x="5725392" y="8073677"/>
            <a:ext cx="0" cy="97219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C3BD9566-B867-9945-3E08-8B268E226EB0}"/>
              </a:ext>
            </a:extLst>
          </p:cNvPr>
          <p:cNvCxnSpPr>
            <a:cxnSpLocks/>
          </p:cNvCxnSpPr>
          <p:nvPr/>
        </p:nvCxnSpPr>
        <p:spPr>
          <a:xfrm>
            <a:off x="5575682" y="8127150"/>
            <a:ext cx="1037552" cy="9187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2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778F037E-36E0-FD99-EFDD-A1F6AB3251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0847" y="9698173"/>
            <a:ext cx="428905" cy="155503"/>
          </a:xfrm>
          <a:prstGeom prst="rect">
            <a:avLst/>
          </a:prstGeom>
        </p:spPr>
      </p:pic>
      <p:pic>
        <p:nvPicPr>
          <p:cNvPr id="6" name="Image 14" descr="Une image contenant texte, clipart&#10;&#10;Description générée automatiquement">
            <a:hlinkClick r:id="rId3"/>
            <a:extLst>
              <a:ext uri="{FF2B5EF4-FFF2-40B4-BE49-F238E27FC236}">
                <a16:creationId xmlns:a16="http://schemas.microsoft.com/office/drawing/2014/main" id="{861522AB-8F82-6358-1CD9-2D63ED4E3D9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0953" y="9386161"/>
            <a:ext cx="628694" cy="26014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C6AA734-3511-01A4-9E7E-B30FFB15F1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6" t="17394" r="25946" b="25394"/>
          <a:stretch/>
        </p:blipFill>
        <p:spPr bwMode="auto">
          <a:xfrm>
            <a:off x="6036313" y="9645849"/>
            <a:ext cx="249126" cy="26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690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8F54CC7A-2683-4D5C-BC2E-362AA3F06638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6858000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612185270"/>
                    </a:ext>
                  </a:extLst>
                </a:gridCol>
              </a:tblGrid>
              <a:tr h="446566">
                <a:tc>
                  <a:txBody>
                    <a:bodyPr/>
                    <a:lstStyle/>
                    <a:p>
                      <a:pPr marL="342900" marR="0" lvl="1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dirty="0">
                          <a:solidFill>
                            <a:schemeClr val="tx1"/>
                          </a:solidFill>
                        </a:rPr>
                        <a:t>BINGO COCKTAIL : POINTS COMMUNS</a:t>
                      </a:r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marL="342900" marR="0" lvl="1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dirty="0">
                          <a:solidFill>
                            <a:schemeClr val="tx1"/>
                          </a:solidFill>
                        </a:rPr>
                        <a:t>#OpenSeriousGame</a:t>
                      </a:r>
                      <a:endParaRPr lang="fr-FR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10C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43360"/>
                  </a:ext>
                </a:extLst>
              </a:tr>
            </a:tbl>
          </a:graphicData>
        </a:graphic>
      </p:graphicFrame>
      <p:sp>
        <p:nvSpPr>
          <p:cNvPr id="55" name="ZoneTexte 54">
            <a:extLst>
              <a:ext uri="{FF2B5EF4-FFF2-40B4-BE49-F238E27FC236}">
                <a16:creationId xmlns:a16="http://schemas.microsoft.com/office/drawing/2014/main" id="{A02D5966-B4D3-42FA-9A7D-8DC2C40BE8C6}"/>
              </a:ext>
            </a:extLst>
          </p:cNvPr>
          <p:cNvSpPr txBox="1"/>
          <p:nvPr/>
        </p:nvSpPr>
        <p:spPr>
          <a:xfrm>
            <a:off x="111092" y="8009976"/>
            <a:ext cx="53046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Tirez un trait lorsque vous avez rempli les 3 cases d’une même ligne, colonne ou diagonale</a:t>
            </a:r>
          </a:p>
          <a:p>
            <a:pPr algn="ctr"/>
            <a:r>
              <a:rPr lang="fr-FR" sz="1600" dirty="0"/>
              <a:t>Les 3 premières personnes à remplir 2 lignes, colonnes ou diagonales gagnent :</a:t>
            </a:r>
          </a:p>
          <a:p>
            <a:pPr algn="ctr"/>
            <a:r>
              <a:rPr lang="fr-FR" sz="1600" dirty="0"/>
              <a:t>1</a:t>
            </a:r>
            <a:r>
              <a:rPr lang="fr-FR" sz="1600" baseline="30000" dirty="0"/>
              <a:t>er</a:t>
            </a:r>
            <a:r>
              <a:rPr lang="fr-FR" sz="1600" dirty="0"/>
              <a:t> prix : { Remplir ici votre premier prix}</a:t>
            </a:r>
          </a:p>
          <a:p>
            <a:pPr algn="ctr"/>
            <a:r>
              <a:rPr lang="fr-FR" sz="1600" dirty="0"/>
              <a:t>2</a:t>
            </a:r>
            <a:r>
              <a:rPr lang="fr-FR" sz="1600" baseline="30000" dirty="0"/>
              <a:t>e</a:t>
            </a:r>
            <a:r>
              <a:rPr lang="fr-FR" sz="1600" dirty="0"/>
              <a:t> prix :  { Remplir ici votre deuxième prix}</a:t>
            </a:r>
          </a:p>
          <a:p>
            <a:pPr algn="ctr"/>
            <a:r>
              <a:rPr lang="fr-FR" sz="1600" dirty="0"/>
              <a:t>3</a:t>
            </a:r>
            <a:r>
              <a:rPr lang="fr-FR" sz="1600" baseline="30000" dirty="0"/>
              <a:t>e</a:t>
            </a:r>
            <a:r>
              <a:rPr lang="fr-FR" sz="1600" dirty="0"/>
              <a:t> prix :  { Remplir ici votre troisième prix}</a:t>
            </a:r>
          </a:p>
        </p:txBody>
      </p:sp>
      <p:sp>
        <p:nvSpPr>
          <p:cNvPr id="3" name="ZoneTexte 54">
            <a:extLst>
              <a:ext uri="{FF2B5EF4-FFF2-40B4-BE49-F238E27FC236}">
                <a16:creationId xmlns:a16="http://schemas.microsoft.com/office/drawing/2014/main" id="{E3567928-C879-1707-08F1-BE340A23B6B6}"/>
              </a:ext>
            </a:extLst>
          </p:cNvPr>
          <p:cNvSpPr txBox="1"/>
          <p:nvPr/>
        </p:nvSpPr>
        <p:spPr>
          <a:xfrm>
            <a:off x="267983" y="937213"/>
            <a:ext cx="44516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Cette feuille est celle de : ……………………………………………</a:t>
            </a:r>
          </a:p>
          <a:p>
            <a:pPr algn="ctr"/>
            <a:endParaRPr lang="fr-FR" sz="1600" dirty="0"/>
          </a:p>
          <a:p>
            <a:r>
              <a:rPr lang="fr-FR" sz="1600" dirty="0"/>
              <a:t>Marquez les boîtes avec le prénom de la personne que vous avez trouvé. 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ED5A47A5-9AC1-A2E6-B4F7-22C3CCF82220}"/>
              </a:ext>
            </a:extLst>
          </p:cNvPr>
          <p:cNvSpPr/>
          <p:nvPr/>
        </p:nvSpPr>
        <p:spPr>
          <a:xfrm>
            <a:off x="1134654" y="2503029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porte des chaussettes de même couleur que vous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9A2D396-4DDC-2265-7916-FF22EC9D9EC0}"/>
              </a:ext>
            </a:extLst>
          </p:cNvPr>
          <p:cNvSpPr/>
          <p:nvPr/>
        </p:nvSpPr>
        <p:spPr>
          <a:xfrm>
            <a:off x="2820290" y="2503029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a le même temps de trajet professionnel que vous (5 minutes près)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58D17F7-7A24-BB8B-91F5-03EB4BA2A145}"/>
              </a:ext>
            </a:extLst>
          </p:cNvPr>
          <p:cNvSpPr/>
          <p:nvPr/>
        </p:nvSpPr>
        <p:spPr>
          <a:xfrm>
            <a:off x="4505926" y="2503029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a eu le même poste que vous dans le passé (pas forcément en même temps) …………………………….</a:t>
            </a:r>
            <a:endParaRPr lang="fr-FR" sz="1200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6730ECE-0078-6AB1-6887-FB7E65C1DA59}"/>
              </a:ext>
            </a:extLst>
          </p:cNvPr>
          <p:cNvSpPr/>
          <p:nvPr/>
        </p:nvSpPr>
        <p:spPr>
          <a:xfrm>
            <a:off x="1134654" y="4244085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a autant d’enfants que vous (zéro est aussi possible)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49FC274-2561-A605-3512-14F27FF09516}"/>
              </a:ext>
            </a:extLst>
          </p:cNvPr>
          <p:cNvSpPr/>
          <p:nvPr/>
        </p:nvSpPr>
        <p:spPr>
          <a:xfrm>
            <a:off x="2820290" y="4244085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dont la série/film préféré(e) est le même que le/la votre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234E132-CE65-7C41-1D42-5DC45A845402}"/>
              </a:ext>
            </a:extLst>
          </p:cNvPr>
          <p:cNvSpPr/>
          <p:nvPr/>
        </p:nvSpPr>
        <p:spPr>
          <a:xfrm>
            <a:off x="4505926" y="4244085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a une voiture de la même marque que la votre …………………………….</a:t>
            </a:r>
            <a:endParaRPr lang="fr-FR" sz="1200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A959866-D781-7253-FA8D-D0CE04D7CA23}"/>
              </a:ext>
            </a:extLst>
          </p:cNvPr>
          <p:cNvSpPr/>
          <p:nvPr/>
        </p:nvSpPr>
        <p:spPr>
          <a:xfrm>
            <a:off x="1134654" y="5985141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est née à moins de 5km de là où vous êtes né(e) …………………………….</a:t>
            </a:r>
            <a:endParaRPr lang="fr-FR" sz="1200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2DCFC43-28DD-9E73-CD02-4E636C18B6D4}"/>
              </a:ext>
            </a:extLst>
          </p:cNvPr>
          <p:cNvSpPr/>
          <p:nvPr/>
        </p:nvSpPr>
        <p:spPr>
          <a:xfrm>
            <a:off x="2820290" y="5985141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a la même coupe de cheveux que vous (à peu près)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83F161A2-E718-9A6E-CCA5-A3B8024932B6}"/>
              </a:ext>
            </a:extLst>
          </p:cNvPr>
          <p:cNvSpPr/>
          <p:nvPr/>
        </p:nvSpPr>
        <p:spPr>
          <a:xfrm>
            <a:off x="4505926" y="5985141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dont le prénom commence par la même lettre que le votre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8A1CABBD-B849-B24A-2494-470E128B9E6E}"/>
              </a:ext>
            </a:extLst>
          </p:cNvPr>
          <p:cNvSpPr/>
          <p:nvPr/>
        </p:nvSpPr>
        <p:spPr>
          <a:xfrm>
            <a:off x="5149272" y="860124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Exemple</a:t>
            </a:r>
          </a:p>
          <a:p>
            <a:pPr algn="ctr"/>
            <a:endParaRPr lang="fr-FR" sz="1100" dirty="0">
              <a:solidFill>
                <a:schemeClr val="tx1"/>
              </a:solidFill>
            </a:endParaRPr>
          </a:p>
          <a:p>
            <a:pPr algn="ctr"/>
            <a:r>
              <a:rPr lang="fr-FR" sz="1100" dirty="0">
                <a:solidFill>
                  <a:schemeClr val="tx1"/>
                </a:solidFill>
              </a:rPr>
              <a:t>Une personne qui vit à moins de 1km de chez vous</a:t>
            </a:r>
          </a:p>
          <a:p>
            <a:pPr algn="ctr"/>
            <a:endParaRPr lang="fr-FR" sz="1100" dirty="0">
              <a:solidFill>
                <a:schemeClr val="tx1"/>
              </a:solidFill>
            </a:endParaRPr>
          </a:p>
          <a:p>
            <a:pPr algn="ctr"/>
            <a:r>
              <a:rPr lang="fr-FR" sz="1100" dirty="0">
                <a:solidFill>
                  <a:schemeClr val="tx1"/>
                </a:solidFill>
              </a:rPr>
              <a:t>…………………………….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4574E63-4A3B-ED87-D53E-15308FF34129}"/>
              </a:ext>
            </a:extLst>
          </p:cNvPr>
          <p:cNvSpPr txBox="1"/>
          <p:nvPr/>
        </p:nvSpPr>
        <p:spPr>
          <a:xfrm flipH="1">
            <a:off x="5333999" y="1911137"/>
            <a:ext cx="12746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Bradley Hand ITC" panose="03070402050302030203" pitchFamily="66" charset="0"/>
              </a:rPr>
              <a:t>Jacques</a:t>
            </a:r>
          </a:p>
        </p:txBody>
      </p: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C79B1EE0-95EB-441F-C982-D14DE1083056}"/>
              </a:ext>
            </a:extLst>
          </p:cNvPr>
          <p:cNvGrpSpPr/>
          <p:nvPr/>
        </p:nvGrpSpPr>
        <p:grpSpPr>
          <a:xfrm flipH="1" flipV="1">
            <a:off x="5575682" y="8127150"/>
            <a:ext cx="991122" cy="918726"/>
            <a:chOff x="1287054" y="2655429"/>
            <a:chExt cx="4830617" cy="4950694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7A725329-A257-95FE-6B58-24034FD7F0B9}"/>
                </a:ext>
              </a:extLst>
            </p:cNvPr>
            <p:cNvSpPr/>
            <p:nvPr/>
          </p:nvSpPr>
          <p:spPr>
            <a:xfrm>
              <a:off x="1287054" y="2655429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FF6FF6DB-9318-3D47-7BDB-E56B169F5C0B}"/>
                </a:ext>
              </a:extLst>
            </p:cNvPr>
            <p:cNvSpPr/>
            <p:nvPr/>
          </p:nvSpPr>
          <p:spPr>
            <a:xfrm>
              <a:off x="2972690" y="2655429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DB45163D-C888-206E-B46C-0BFB96C996D5}"/>
                </a:ext>
              </a:extLst>
            </p:cNvPr>
            <p:cNvSpPr/>
            <p:nvPr/>
          </p:nvSpPr>
          <p:spPr>
            <a:xfrm>
              <a:off x="4658326" y="2655429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819B2E41-5143-7C3C-5A85-24A5D7FF0A9C}"/>
                </a:ext>
              </a:extLst>
            </p:cNvPr>
            <p:cNvSpPr/>
            <p:nvPr/>
          </p:nvSpPr>
          <p:spPr>
            <a:xfrm>
              <a:off x="1287054" y="4396485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48918525-68A3-85EB-4CE2-A29184B1A803}"/>
                </a:ext>
              </a:extLst>
            </p:cNvPr>
            <p:cNvSpPr/>
            <p:nvPr/>
          </p:nvSpPr>
          <p:spPr>
            <a:xfrm>
              <a:off x="2972690" y="4396485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10EDC537-7930-8BC6-17F2-5F422D4D9FD0}"/>
                </a:ext>
              </a:extLst>
            </p:cNvPr>
            <p:cNvSpPr/>
            <p:nvPr/>
          </p:nvSpPr>
          <p:spPr>
            <a:xfrm>
              <a:off x="4658326" y="4396485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4B721F53-4E79-E4E0-5E99-ED10C7C26D36}"/>
                </a:ext>
              </a:extLst>
            </p:cNvPr>
            <p:cNvSpPr/>
            <p:nvPr/>
          </p:nvSpPr>
          <p:spPr>
            <a:xfrm>
              <a:off x="1287054" y="6137541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5" name="Rettangolo 24">
              <a:extLst>
                <a:ext uri="{FF2B5EF4-FFF2-40B4-BE49-F238E27FC236}">
                  <a16:creationId xmlns:a16="http://schemas.microsoft.com/office/drawing/2014/main" id="{4F022446-577D-7739-03AD-E2BFA30086D1}"/>
                </a:ext>
              </a:extLst>
            </p:cNvPr>
            <p:cNvSpPr/>
            <p:nvPr/>
          </p:nvSpPr>
          <p:spPr>
            <a:xfrm>
              <a:off x="2972690" y="6137541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" name="Rettangolo 25">
              <a:extLst>
                <a:ext uri="{FF2B5EF4-FFF2-40B4-BE49-F238E27FC236}">
                  <a16:creationId xmlns:a16="http://schemas.microsoft.com/office/drawing/2014/main" id="{A8C3586B-6FE2-2FB5-4AC5-514A59D7FBD9}"/>
                </a:ext>
              </a:extLst>
            </p:cNvPr>
            <p:cNvSpPr/>
            <p:nvPr/>
          </p:nvSpPr>
          <p:spPr>
            <a:xfrm>
              <a:off x="4658326" y="6137541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4A74901D-0DC2-5197-6D20-D27D4AE2F19A}"/>
              </a:ext>
            </a:extLst>
          </p:cNvPr>
          <p:cNvCxnSpPr>
            <a:cxnSpLocks/>
          </p:cNvCxnSpPr>
          <p:nvPr/>
        </p:nvCxnSpPr>
        <p:spPr>
          <a:xfrm>
            <a:off x="5725392" y="8073677"/>
            <a:ext cx="0" cy="97219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C3BD9566-B867-9945-3E08-8B268E226EB0}"/>
              </a:ext>
            </a:extLst>
          </p:cNvPr>
          <p:cNvCxnSpPr>
            <a:cxnSpLocks/>
          </p:cNvCxnSpPr>
          <p:nvPr/>
        </p:nvCxnSpPr>
        <p:spPr>
          <a:xfrm>
            <a:off x="5575682" y="8127150"/>
            <a:ext cx="1037552" cy="9187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2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A1311C39-C977-1F8A-2D45-40042ECDD95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0847" y="9698173"/>
            <a:ext cx="428905" cy="155503"/>
          </a:xfrm>
          <a:prstGeom prst="rect">
            <a:avLst/>
          </a:prstGeom>
        </p:spPr>
      </p:pic>
      <p:pic>
        <p:nvPicPr>
          <p:cNvPr id="6" name="Image 14" descr="Une image contenant texte, clipart&#10;&#10;Description générée automatiquement">
            <a:hlinkClick r:id="rId3"/>
            <a:extLst>
              <a:ext uri="{FF2B5EF4-FFF2-40B4-BE49-F238E27FC236}">
                <a16:creationId xmlns:a16="http://schemas.microsoft.com/office/drawing/2014/main" id="{663866BF-FDFF-7A40-1E65-FA0DBA92D9B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0953" y="9386161"/>
            <a:ext cx="628694" cy="26014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860F158-9A2E-86C8-A6F6-E324DAE4FE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6" t="17394" r="25946" b="25394"/>
          <a:stretch/>
        </p:blipFill>
        <p:spPr bwMode="auto">
          <a:xfrm>
            <a:off x="6036313" y="9645849"/>
            <a:ext cx="249126" cy="26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168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8F54CC7A-2683-4D5C-BC2E-362AA3F06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052734"/>
              </p:ext>
            </p:extLst>
          </p:nvPr>
        </p:nvGraphicFramePr>
        <p:xfrm>
          <a:off x="0" y="1"/>
          <a:ext cx="6858000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1612185270"/>
                    </a:ext>
                  </a:extLst>
                </a:gridCol>
              </a:tblGrid>
              <a:tr h="446566">
                <a:tc>
                  <a:txBody>
                    <a:bodyPr/>
                    <a:lstStyle/>
                    <a:p>
                      <a:pPr marL="342900" marR="0" lvl="1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dirty="0">
                          <a:solidFill>
                            <a:schemeClr val="tx1"/>
                          </a:solidFill>
                        </a:rPr>
                        <a:t>BINGO COCKTAIL : CARACTERISTIQUES</a:t>
                      </a:r>
                      <a:endParaRPr lang="fr-FR" sz="2400" b="1" dirty="0">
                        <a:solidFill>
                          <a:schemeClr val="tx1"/>
                        </a:solidFill>
                      </a:endParaRPr>
                    </a:p>
                    <a:p>
                      <a:pPr marL="342900" marR="0" lvl="1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dirty="0">
                          <a:solidFill>
                            <a:schemeClr val="tx1"/>
                          </a:solidFill>
                        </a:rPr>
                        <a:t>#OpenSeriousGame</a:t>
                      </a:r>
                      <a:endParaRPr lang="fr-FR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10C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43360"/>
                  </a:ext>
                </a:extLst>
              </a:tr>
            </a:tbl>
          </a:graphicData>
        </a:graphic>
      </p:graphicFrame>
      <p:sp>
        <p:nvSpPr>
          <p:cNvPr id="55" name="ZoneTexte 54">
            <a:extLst>
              <a:ext uri="{FF2B5EF4-FFF2-40B4-BE49-F238E27FC236}">
                <a16:creationId xmlns:a16="http://schemas.microsoft.com/office/drawing/2014/main" id="{A02D5966-B4D3-42FA-9A7D-8DC2C40BE8C6}"/>
              </a:ext>
            </a:extLst>
          </p:cNvPr>
          <p:cNvSpPr txBox="1"/>
          <p:nvPr/>
        </p:nvSpPr>
        <p:spPr>
          <a:xfrm>
            <a:off x="111092" y="8009976"/>
            <a:ext cx="53046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Tirez un trait lorsque vous avez rempli les 3 cases d’une même ligne, colonne ou diagonale</a:t>
            </a:r>
          </a:p>
          <a:p>
            <a:pPr algn="ctr"/>
            <a:r>
              <a:rPr lang="fr-FR" sz="1600" dirty="0"/>
              <a:t>Les 3 premières personnes à remplir 2 lignes, colonnes ou diagonales gagnent :</a:t>
            </a:r>
          </a:p>
          <a:p>
            <a:pPr algn="ctr"/>
            <a:r>
              <a:rPr lang="fr-FR" sz="1600" dirty="0"/>
              <a:t>1</a:t>
            </a:r>
            <a:r>
              <a:rPr lang="fr-FR" sz="1600" baseline="30000" dirty="0"/>
              <a:t>er</a:t>
            </a:r>
            <a:r>
              <a:rPr lang="fr-FR" sz="1600" dirty="0"/>
              <a:t> prix : { Remplir ici votre premier prix}</a:t>
            </a:r>
          </a:p>
          <a:p>
            <a:pPr algn="ctr"/>
            <a:r>
              <a:rPr lang="fr-FR" sz="1600" dirty="0"/>
              <a:t>2</a:t>
            </a:r>
            <a:r>
              <a:rPr lang="fr-FR" sz="1600" baseline="30000" dirty="0"/>
              <a:t>e</a:t>
            </a:r>
            <a:r>
              <a:rPr lang="fr-FR" sz="1600" dirty="0"/>
              <a:t> prix :  { Remplir ici votre deuxième prix}</a:t>
            </a:r>
          </a:p>
          <a:p>
            <a:pPr algn="ctr"/>
            <a:r>
              <a:rPr lang="fr-FR" sz="1600" dirty="0"/>
              <a:t>3</a:t>
            </a:r>
            <a:r>
              <a:rPr lang="fr-FR" sz="1600" baseline="30000" dirty="0"/>
              <a:t>e</a:t>
            </a:r>
            <a:r>
              <a:rPr lang="fr-FR" sz="1600" dirty="0"/>
              <a:t> prix :  { Remplir ici votre troisième prix}</a:t>
            </a:r>
          </a:p>
        </p:txBody>
      </p:sp>
      <p:sp>
        <p:nvSpPr>
          <p:cNvPr id="3" name="ZoneTexte 54">
            <a:extLst>
              <a:ext uri="{FF2B5EF4-FFF2-40B4-BE49-F238E27FC236}">
                <a16:creationId xmlns:a16="http://schemas.microsoft.com/office/drawing/2014/main" id="{E3567928-C879-1707-08F1-BE340A23B6B6}"/>
              </a:ext>
            </a:extLst>
          </p:cNvPr>
          <p:cNvSpPr txBox="1"/>
          <p:nvPr/>
        </p:nvSpPr>
        <p:spPr>
          <a:xfrm>
            <a:off x="267983" y="937213"/>
            <a:ext cx="44516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Cette feuille est celle de : ……………………………………………</a:t>
            </a:r>
          </a:p>
          <a:p>
            <a:pPr algn="ctr"/>
            <a:endParaRPr lang="fr-FR" sz="1600" dirty="0"/>
          </a:p>
          <a:p>
            <a:r>
              <a:rPr lang="fr-FR" sz="1600" dirty="0"/>
              <a:t>Marquez les boîtes avec le prénom de la personne que vous avez trouvé. 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ED5A47A5-9AC1-A2E6-B4F7-22C3CCF82220}"/>
              </a:ext>
            </a:extLst>
          </p:cNvPr>
          <p:cNvSpPr/>
          <p:nvPr/>
        </p:nvSpPr>
        <p:spPr>
          <a:xfrm>
            <a:off x="1134654" y="2503029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La première personne arrivée à l’événement d’aujourd’hui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9A2D396-4DDC-2265-7916-FF22EC9D9EC0}"/>
              </a:ext>
            </a:extLst>
          </p:cNvPr>
          <p:cNvSpPr/>
          <p:nvPr/>
        </p:nvSpPr>
        <p:spPr>
          <a:xfrm>
            <a:off x="2820290" y="2503029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Quelqu’un qui peut vous donner au moins 10 prénoms d’autres participants (en étant juste!) …………………………….</a:t>
            </a:r>
            <a:endParaRPr lang="fr-FR" sz="1200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58D17F7-7A24-BB8B-91F5-03EB4BA2A145}"/>
              </a:ext>
            </a:extLst>
          </p:cNvPr>
          <p:cNvSpPr/>
          <p:nvPr/>
        </p:nvSpPr>
        <p:spPr>
          <a:xfrm>
            <a:off x="4505926" y="2503029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Quelqu’un qui est reconnu(e) pour sa maîtrise de {Remplir un sujet avant d’imprimer cette feuille} …………………………….</a:t>
            </a:r>
            <a:endParaRPr lang="fr-FR" sz="1200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6730ECE-0078-6AB1-6887-FB7E65C1DA59}"/>
              </a:ext>
            </a:extLst>
          </p:cNvPr>
          <p:cNvSpPr/>
          <p:nvPr/>
        </p:nvSpPr>
        <p:spPr>
          <a:xfrm>
            <a:off x="1134654" y="4244085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que vous rencontrez pour la première fois aujourd’hui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49FC274-2561-A605-3512-14F27FF09516}"/>
              </a:ext>
            </a:extLst>
          </p:cNvPr>
          <p:cNvSpPr/>
          <p:nvPr/>
        </p:nvSpPr>
        <p:spPr>
          <a:xfrm>
            <a:off x="2820290" y="4244085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Quelqu’un qui vous a présenté à 2 autres personnes (en détail, au moins quelques minutes par personne)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234E132-CE65-7C41-1D42-5DC45A845402}"/>
              </a:ext>
            </a:extLst>
          </p:cNvPr>
          <p:cNvSpPr/>
          <p:nvPr/>
        </p:nvSpPr>
        <p:spPr>
          <a:xfrm>
            <a:off x="4505926" y="4244085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Quelqu’un qui s’est servi le même premier verre que vous, et le même deuxième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A959866-D781-7253-FA8D-D0CE04D7CA23}"/>
              </a:ext>
            </a:extLst>
          </p:cNvPr>
          <p:cNvSpPr/>
          <p:nvPr/>
        </p:nvSpPr>
        <p:spPr>
          <a:xfrm>
            <a:off x="1134654" y="5985141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qui fait une activité sportive au moins 4h par semaine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2DCFC43-28DD-9E73-CD02-4E636C18B6D4}"/>
              </a:ext>
            </a:extLst>
          </p:cNvPr>
          <p:cNvSpPr/>
          <p:nvPr/>
        </p:nvSpPr>
        <p:spPr>
          <a:xfrm>
            <a:off x="2820290" y="5985141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Une personne née à au moins 300 km d’ici.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83F161A2-E718-9A6E-CCA5-A3B8024932B6}"/>
              </a:ext>
            </a:extLst>
          </p:cNvPr>
          <p:cNvSpPr/>
          <p:nvPr/>
        </p:nvSpPr>
        <p:spPr>
          <a:xfrm>
            <a:off x="4505926" y="5985141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La personne la plus jeune du groupe 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…………………………….</a:t>
            </a:r>
            <a:endParaRPr lang="fr-FR" sz="120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8A1CABBD-B849-B24A-2494-470E128B9E6E}"/>
              </a:ext>
            </a:extLst>
          </p:cNvPr>
          <p:cNvSpPr/>
          <p:nvPr/>
        </p:nvSpPr>
        <p:spPr>
          <a:xfrm>
            <a:off x="5149272" y="860124"/>
            <a:ext cx="1459345" cy="1468582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Exemple</a:t>
            </a:r>
          </a:p>
          <a:p>
            <a:pPr algn="ctr"/>
            <a:endParaRPr lang="fr-FR" sz="1100" dirty="0">
              <a:solidFill>
                <a:schemeClr val="tx1"/>
              </a:solidFill>
            </a:endParaRPr>
          </a:p>
          <a:p>
            <a:pPr algn="ctr"/>
            <a:r>
              <a:rPr lang="fr-FR" sz="1100" dirty="0">
                <a:solidFill>
                  <a:schemeClr val="tx1"/>
                </a:solidFill>
              </a:rPr>
              <a:t>Une personne qui vit à moins de 1km de chez vous</a:t>
            </a:r>
          </a:p>
          <a:p>
            <a:pPr algn="ctr"/>
            <a:endParaRPr lang="fr-FR" sz="1100" dirty="0">
              <a:solidFill>
                <a:schemeClr val="tx1"/>
              </a:solidFill>
            </a:endParaRPr>
          </a:p>
          <a:p>
            <a:pPr algn="ctr"/>
            <a:r>
              <a:rPr lang="fr-FR" sz="1100" dirty="0">
                <a:solidFill>
                  <a:schemeClr val="tx1"/>
                </a:solidFill>
              </a:rPr>
              <a:t>…………………………….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4574E63-4A3B-ED87-D53E-15308FF34129}"/>
              </a:ext>
            </a:extLst>
          </p:cNvPr>
          <p:cNvSpPr txBox="1"/>
          <p:nvPr/>
        </p:nvSpPr>
        <p:spPr>
          <a:xfrm flipH="1">
            <a:off x="5333999" y="1911137"/>
            <a:ext cx="1274618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Bradley Hand ITC" panose="03070402050302030203" pitchFamily="66" charset="0"/>
              </a:rPr>
              <a:t>Jacques</a:t>
            </a:r>
          </a:p>
        </p:txBody>
      </p: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C79B1EE0-95EB-441F-C982-D14DE1083056}"/>
              </a:ext>
            </a:extLst>
          </p:cNvPr>
          <p:cNvGrpSpPr/>
          <p:nvPr/>
        </p:nvGrpSpPr>
        <p:grpSpPr>
          <a:xfrm flipH="1" flipV="1">
            <a:off x="5575682" y="8127150"/>
            <a:ext cx="991122" cy="918726"/>
            <a:chOff x="1287054" y="2655429"/>
            <a:chExt cx="4830617" cy="4950694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7A725329-A257-95FE-6B58-24034FD7F0B9}"/>
                </a:ext>
              </a:extLst>
            </p:cNvPr>
            <p:cNvSpPr/>
            <p:nvPr/>
          </p:nvSpPr>
          <p:spPr>
            <a:xfrm>
              <a:off x="1287054" y="2655429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FF6FF6DB-9318-3D47-7BDB-E56B169F5C0B}"/>
                </a:ext>
              </a:extLst>
            </p:cNvPr>
            <p:cNvSpPr/>
            <p:nvPr/>
          </p:nvSpPr>
          <p:spPr>
            <a:xfrm>
              <a:off x="2972690" y="2655429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DB45163D-C888-206E-B46C-0BFB96C996D5}"/>
                </a:ext>
              </a:extLst>
            </p:cNvPr>
            <p:cNvSpPr/>
            <p:nvPr/>
          </p:nvSpPr>
          <p:spPr>
            <a:xfrm>
              <a:off x="4658326" y="2655429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819B2E41-5143-7C3C-5A85-24A5D7FF0A9C}"/>
                </a:ext>
              </a:extLst>
            </p:cNvPr>
            <p:cNvSpPr/>
            <p:nvPr/>
          </p:nvSpPr>
          <p:spPr>
            <a:xfrm>
              <a:off x="1287054" y="4396485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48918525-68A3-85EB-4CE2-A29184B1A803}"/>
                </a:ext>
              </a:extLst>
            </p:cNvPr>
            <p:cNvSpPr/>
            <p:nvPr/>
          </p:nvSpPr>
          <p:spPr>
            <a:xfrm>
              <a:off x="2972690" y="4396485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10EDC537-7930-8BC6-17F2-5F422D4D9FD0}"/>
                </a:ext>
              </a:extLst>
            </p:cNvPr>
            <p:cNvSpPr/>
            <p:nvPr/>
          </p:nvSpPr>
          <p:spPr>
            <a:xfrm>
              <a:off x="4658326" y="4396485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4B721F53-4E79-E4E0-5E99-ED10C7C26D36}"/>
                </a:ext>
              </a:extLst>
            </p:cNvPr>
            <p:cNvSpPr/>
            <p:nvPr/>
          </p:nvSpPr>
          <p:spPr>
            <a:xfrm>
              <a:off x="1287054" y="6137541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5" name="Rettangolo 24">
              <a:extLst>
                <a:ext uri="{FF2B5EF4-FFF2-40B4-BE49-F238E27FC236}">
                  <a16:creationId xmlns:a16="http://schemas.microsoft.com/office/drawing/2014/main" id="{4F022446-577D-7739-03AD-E2BFA30086D1}"/>
                </a:ext>
              </a:extLst>
            </p:cNvPr>
            <p:cNvSpPr/>
            <p:nvPr/>
          </p:nvSpPr>
          <p:spPr>
            <a:xfrm>
              <a:off x="2972690" y="6137541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" name="Rettangolo 25">
              <a:extLst>
                <a:ext uri="{FF2B5EF4-FFF2-40B4-BE49-F238E27FC236}">
                  <a16:creationId xmlns:a16="http://schemas.microsoft.com/office/drawing/2014/main" id="{A8C3586B-6FE2-2FB5-4AC5-514A59D7FBD9}"/>
                </a:ext>
              </a:extLst>
            </p:cNvPr>
            <p:cNvSpPr/>
            <p:nvPr/>
          </p:nvSpPr>
          <p:spPr>
            <a:xfrm>
              <a:off x="4658326" y="6137541"/>
              <a:ext cx="1459345" cy="1468582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4A74901D-0DC2-5197-6D20-D27D4AE2F19A}"/>
              </a:ext>
            </a:extLst>
          </p:cNvPr>
          <p:cNvCxnSpPr>
            <a:cxnSpLocks/>
          </p:cNvCxnSpPr>
          <p:nvPr/>
        </p:nvCxnSpPr>
        <p:spPr>
          <a:xfrm>
            <a:off x="5725392" y="8073677"/>
            <a:ext cx="0" cy="97219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C3BD9566-B867-9945-3E08-8B268E226EB0}"/>
              </a:ext>
            </a:extLst>
          </p:cNvPr>
          <p:cNvCxnSpPr>
            <a:cxnSpLocks/>
          </p:cNvCxnSpPr>
          <p:nvPr/>
        </p:nvCxnSpPr>
        <p:spPr>
          <a:xfrm>
            <a:off x="5575682" y="8127150"/>
            <a:ext cx="1037552" cy="9187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2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7CFF4BE7-CB5C-E671-B5AD-712FAB90D31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0847" y="9698173"/>
            <a:ext cx="428905" cy="155503"/>
          </a:xfrm>
          <a:prstGeom prst="rect">
            <a:avLst/>
          </a:prstGeom>
        </p:spPr>
      </p:pic>
      <p:pic>
        <p:nvPicPr>
          <p:cNvPr id="6" name="Image 14" descr="Une image contenant texte, clipart&#10;&#10;Description générée automatiquement">
            <a:hlinkClick r:id="rId3"/>
            <a:extLst>
              <a:ext uri="{FF2B5EF4-FFF2-40B4-BE49-F238E27FC236}">
                <a16:creationId xmlns:a16="http://schemas.microsoft.com/office/drawing/2014/main" id="{F57DDE10-236C-7F2B-22E7-E899886F80E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0953" y="9386161"/>
            <a:ext cx="628694" cy="26014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CF2DE26C-AEF2-4138-636E-5AEAAE307E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6" t="17394" r="25946" b="25394"/>
          <a:stretch/>
        </p:blipFill>
        <p:spPr bwMode="auto">
          <a:xfrm>
            <a:off x="6036313" y="9645849"/>
            <a:ext cx="249126" cy="26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6830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8F54CC7A-2683-4D5C-BC2E-362AA3F06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094554"/>
              </p:ext>
            </p:extLst>
          </p:nvPr>
        </p:nvGraphicFramePr>
        <p:xfrm>
          <a:off x="21036" y="14180"/>
          <a:ext cx="6836964" cy="88021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5178">
                  <a:extLst>
                    <a:ext uri="{9D8B030D-6E8A-4147-A177-3AD203B41FA5}">
                      <a16:colId xmlns:a16="http://schemas.microsoft.com/office/drawing/2014/main" val="1612185270"/>
                    </a:ext>
                  </a:extLst>
                </a:gridCol>
                <a:gridCol w="3391786">
                  <a:extLst>
                    <a:ext uri="{9D8B030D-6E8A-4147-A177-3AD203B41FA5}">
                      <a16:colId xmlns:a16="http://schemas.microsoft.com/office/drawing/2014/main" val="1787628615"/>
                    </a:ext>
                  </a:extLst>
                </a:gridCol>
              </a:tblGrid>
              <a:tr h="311889">
                <a:tc gridSpan="2">
                  <a:txBody>
                    <a:bodyPr/>
                    <a:lstStyle/>
                    <a:p>
                      <a:pPr lvl="1" algn="ctr"/>
                      <a:r>
                        <a:rPr lang="fr-FR" sz="2000" b="1" dirty="0">
                          <a:solidFill>
                            <a:schemeClr val="tx1"/>
                          </a:solidFill>
                        </a:rPr>
                        <a:t>BINGO COCKTAIL</a:t>
                      </a:r>
                    </a:p>
                    <a:p>
                      <a:pPr lvl="1" algn="ctr"/>
                      <a:r>
                        <a:rPr lang="fr-FR" sz="2000" b="1" dirty="0">
                          <a:solidFill>
                            <a:schemeClr val="tx1"/>
                          </a:solidFill>
                        </a:rPr>
                        <a:t>Guide de l’animateur/-</a:t>
                      </a:r>
                      <a:r>
                        <a:rPr lang="fr-FR" sz="2000" b="1" dirty="0" err="1">
                          <a:solidFill>
                            <a:schemeClr val="tx1"/>
                          </a:solidFill>
                        </a:rPr>
                        <a:t>trice</a:t>
                      </a:r>
                      <a:r>
                        <a:rPr lang="fr-FR" sz="2000" b="1" dirty="0">
                          <a:solidFill>
                            <a:schemeClr val="tx1"/>
                          </a:solidFill>
                        </a:rPr>
                        <a:t> #OpenSeriousGame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241753"/>
                  </a:ext>
                </a:extLst>
              </a:tr>
              <a:tr h="945802">
                <a:tc>
                  <a:txBody>
                    <a:bodyPr/>
                    <a:lstStyle/>
                    <a:p>
                      <a:r>
                        <a:rPr lang="fr-FR" sz="2000" b="1" dirty="0">
                          <a:solidFill>
                            <a:schemeClr val="tx1"/>
                          </a:solidFill>
                        </a:rPr>
                        <a:t>Objectif 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</a:rPr>
                        <a:t>Jeu de team </a:t>
                      </a:r>
                      <a:r>
                        <a:rPr lang="fr-FR" sz="1000" b="0" dirty="0" err="1">
                          <a:solidFill>
                            <a:schemeClr val="tx1"/>
                          </a:solidFill>
                        </a:rPr>
                        <a:t>buidling</a:t>
                      </a:r>
                      <a:endParaRPr lang="fr-F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fr-FR" sz="1000" dirty="0">
                          <a:solidFill>
                            <a:schemeClr val="tx1"/>
                          </a:solidFill>
                        </a:rPr>
                        <a:t>L’objectif de ce mini-jeu est d’enclencher la discussion entre les membres d’un collectif, en donnant un prétexte pour se retrouver et faire connaissance.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fr-FR" sz="1000" dirty="0">
                          <a:solidFill>
                            <a:schemeClr val="tx1"/>
                          </a:solidFill>
                        </a:rPr>
                        <a:t>Le niveau de « prise de connaissance de l’autre » est libre à chacun(e).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1" dirty="0">
                          <a:solidFill>
                            <a:schemeClr val="tx1"/>
                          </a:solidFill>
                        </a:rPr>
                        <a:t>Public et contexte idéal</a:t>
                      </a:r>
                    </a:p>
                    <a:p>
                      <a:endParaRPr lang="fr-FR" sz="10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fr-FR" sz="1000" b="0" dirty="0">
                          <a:solidFill>
                            <a:schemeClr val="tx1"/>
                          </a:solidFill>
                        </a:rPr>
                        <a:t>Ce mini-jeu de présentation se prête bien aux moments de pause pour un grand collectif (&gt;30 personnes) dont les membres ne se connaissent pas tous, ou n’ont pas l’occasion d’interagir au quotidien.</a:t>
                      </a:r>
                    </a:p>
                    <a:p>
                      <a:endParaRPr lang="fr-FR" sz="10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fr-FR" sz="1000" b="0" dirty="0">
                          <a:solidFill>
                            <a:schemeClr val="tx1"/>
                          </a:solidFill>
                        </a:rPr>
                        <a:t>Exemple :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</a:rPr>
                        <a:t>Membres d’un même programme multi-équipes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</a:rPr>
                        <a:t>Membres d’un même département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</a:rPr>
                        <a:t>Participants d’un même </a:t>
                      </a:r>
                      <a:r>
                        <a:rPr lang="fr-FR" sz="1000" b="0" dirty="0" err="1">
                          <a:solidFill>
                            <a:schemeClr val="tx1"/>
                          </a:solidFill>
                        </a:rPr>
                        <a:t>meetup</a:t>
                      </a:r>
                      <a:endParaRPr lang="fr-F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fr-FR" sz="1000" dirty="0">
                          <a:solidFill>
                            <a:schemeClr val="tx1"/>
                          </a:solidFill>
                        </a:rPr>
                        <a:t>Contexte d’utilisation :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fr-FR" sz="1000" dirty="0">
                          <a:solidFill>
                            <a:schemeClr val="tx1"/>
                          </a:solidFill>
                        </a:rPr>
                        <a:t>Peut être utilisé en gamification d’un moment buffet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fr-FR" sz="1000" dirty="0">
                          <a:solidFill>
                            <a:schemeClr val="tx1"/>
                          </a:solidFill>
                        </a:rPr>
                        <a:t>Peut être utilisé en « jeu libre » sur une journée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fr-FR" sz="1000" dirty="0">
                          <a:solidFill>
                            <a:schemeClr val="tx1"/>
                          </a:solidFill>
                        </a:rPr>
                        <a:t>Dans le cadre d’un événement plus sérieux, pour créer du lien informel</a:t>
                      </a:r>
                    </a:p>
                    <a:p>
                      <a:pPr marL="0" indent="0">
                        <a:buNone/>
                      </a:pPr>
                      <a:endParaRPr lang="fr-FR" sz="105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604468"/>
                  </a:ext>
                </a:extLst>
              </a:tr>
              <a:tr h="869173">
                <a:tc>
                  <a:txBody>
                    <a:bodyPr/>
                    <a:lstStyle/>
                    <a:p>
                      <a:r>
                        <a:rPr lang="fr-FR" sz="2000" b="1" dirty="0">
                          <a:solidFill>
                            <a:schemeClr val="tx1"/>
                          </a:solidFill>
                        </a:rPr>
                        <a:t>Au préalable</a:t>
                      </a:r>
                    </a:p>
                    <a:p>
                      <a:endParaRPr lang="fr-FR" sz="2000" b="1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fr-FR" sz="1050" dirty="0">
                          <a:solidFill>
                            <a:schemeClr val="tx1"/>
                          </a:solidFill>
                        </a:rPr>
                        <a:t>Revoyez les tables de bingo </a:t>
                      </a:r>
                      <a:r>
                        <a:rPr lang="fr-FR" sz="1050" dirty="0" err="1">
                          <a:solidFill>
                            <a:schemeClr val="tx1"/>
                          </a:solidFill>
                        </a:rPr>
                        <a:t>cocktailet</a:t>
                      </a:r>
                      <a:r>
                        <a:rPr lang="fr-FR" sz="1050" dirty="0">
                          <a:solidFill>
                            <a:schemeClr val="tx1"/>
                          </a:solidFill>
                        </a:rPr>
                        <a:t> ajustez les cases si besoin. Vous pouvez mélanger les points communs, les caractéristiques, créer vos propres boîtes, etc.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fr-FR" sz="1050" dirty="0">
                          <a:solidFill>
                            <a:schemeClr val="tx1"/>
                          </a:solidFill>
                        </a:rPr>
                        <a:t>(Facultatif) Préparez les cadeaux pour quand les participant(e)s ont réussi une ligne. Exemples : Chocolat, </a:t>
                      </a:r>
                      <a:r>
                        <a:rPr lang="fr-FR" sz="1050" dirty="0" err="1">
                          <a:solidFill>
                            <a:schemeClr val="tx1"/>
                          </a:solidFill>
                        </a:rPr>
                        <a:t>papillotte</a:t>
                      </a:r>
                      <a:r>
                        <a:rPr lang="fr-FR" sz="1050" dirty="0">
                          <a:solidFill>
                            <a:schemeClr val="tx1"/>
                          </a:solidFill>
                        </a:rPr>
                        <a:t> de Noël, billet de concert, etc.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fr-FR" sz="1050" dirty="0">
                          <a:solidFill>
                            <a:schemeClr val="tx1"/>
                          </a:solidFill>
                        </a:rPr>
                        <a:t>Remplissez les prix dans les feuilles avant de les imprimer. Vous pouvez imprimer des feuilles de plusieurs modèle si vous souhaitez.</a:t>
                      </a: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fr-FR" sz="1050" dirty="0">
                          <a:solidFill>
                            <a:schemeClr val="tx1"/>
                          </a:solidFill>
                        </a:rPr>
                        <a:t>Imprimez les feuilles (A4 ou A5)</a:t>
                      </a:r>
                    </a:p>
                    <a:p>
                      <a:pPr marL="228600" indent="-228600">
                        <a:buAutoNum type="arabicPeriod"/>
                      </a:pPr>
                      <a:endParaRPr lang="fr-FR" sz="105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fr-FR" sz="105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1" dirty="0">
                          <a:solidFill>
                            <a:schemeClr val="tx1"/>
                          </a:solidFill>
                        </a:rPr>
                        <a:t>Déroulement et conseils d’animation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fr-FR" sz="1050" dirty="0">
                          <a:solidFill>
                            <a:schemeClr val="tx1"/>
                          </a:solidFill>
                        </a:rPr>
                        <a:t>Distribuez les bingos avec un stylo en début d’événement</a:t>
                      </a:r>
                    </a:p>
                    <a:p>
                      <a:pPr marL="228600" indent="-228600">
                        <a:buAutoNum type="arabicPeriod"/>
                      </a:pPr>
                      <a:endParaRPr lang="fr-FR" sz="105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fr-FR" sz="1050" dirty="0">
                          <a:solidFill>
                            <a:schemeClr val="tx1"/>
                          </a:solidFill>
                        </a:rPr>
                        <a:t>Conseil : Vous pouvez distribuer des feuilles différentes</a:t>
                      </a:r>
                    </a:p>
                    <a:p>
                      <a:pPr marL="228600" indent="-228600">
                        <a:buAutoNum type="arabicPeriod"/>
                      </a:pPr>
                      <a:endParaRPr lang="fr-FR" sz="105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fr-FR" sz="1050" dirty="0">
                          <a:solidFill>
                            <a:schemeClr val="tx1"/>
                          </a:solidFill>
                        </a:rPr>
                        <a:t>(Facultatif) Vous pouvez retirer la notion de récompense et laisser le jeu libre ou bien ajouter une notion de temps limité. </a:t>
                      </a:r>
                    </a:p>
                    <a:p>
                      <a:pPr marL="228600" indent="-228600">
                        <a:buAutoNum type="arabicPeriod"/>
                      </a:pPr>
                      <a:endParaRPr lang="fr-FR" sz="1050" dirty="0">
                        <a:solidFill>
                          <a:schemeClr val="tx1"/>
                        </a:solidFill>
                      </a:endParaRPr>
                    </a:p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249841"/>
                  </a:ext>
                </a:extLst>
              </a:tr>
              <a:tr h="450118">
                <a:tc gridSpan="2">
                  <a:txBody>
                    <a:bodyPr/>
                    <a:lstStyle/>
                    <a:p>
                      <a:pPr lvl="1" algn="ctr"/>
                      <a:r>
                        <a:rPr lang="fr-FR" sz="2000" b="1" dirty="0">
                          <a:solidFill>
                            <a:schemeClr val="tx1"/>
                          </a:solidFill>
                        </a:rPr>
                        <a:t>Guide du/de la créateur(-</a:t>
                      </a:r>
                      <a:r>
                        <a:rPr lang="fr-FR" sz="2000" b="1" dirty="0" err="1">
                          <a:solidFill>
                            <a:schemeClr val="tx1"/>
                          </a:solidFill>
                        </a:rPr>
                        <a:t>trice</a:t>
                      </a:r>
                      <a:r>
                        <a:rPr lang="fr-FR" sz="2000" b="1" dirty="0">
                          <a:solidFill>
                            <a:schemeClr val="tx1"/>
                          </a:solidFill>
                        </a:rPr>
                        <a:t>) #</a:t>
                      </a:r>
                      <a:r>
                        <a:rPr lang="fr-FR" sz="2000" b="1" dirty="0" err="1">
                          <a:solidFill>
                            <a:schemeClr val="tx1"/>
                          </a:solidFill>
                        </a:rPr>
                        <a:t>OpenSeriousGame</a:t>
                      </a:r>
                      <a:endParaRPr lang="fr-F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fr-FR" sz="1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526861"/>
                  </a:ext>
                </a:extLst>
              </a:tr>
              <a:tr h="869173">
                <a:tc>
                  <a:txBody>
                    <a:bodyPr/>
                    <a:lstStyle/>
                    <a:p>
                      <a:r>
                        <a:rPr lang="fr-FR" sz="2000" b="1" dirty="0">
                          <a:solidFill>
                            <a:schemeClr val="tx1"/>
                          </a:solidFill>
                        </a:rPr>
                        <a:t>Principes utilisés dans cette session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fr-FR" sz="1000" dirty="0">
                          <a:solidFill>
                            <a:schemeClr val="tx1"/>
                          </a:solidFill>
                        </a:rPr>
                        <a:t>Rencontre «gamifiée » (jeu prétexte)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fr-FR" sz="1000" dirty="0">
                          <a:solidFill>
                            <a:schemeClr val="tx1"/>
                          </a:solidFill>
                        </a:rPr>
                        <a:t>Les recherches font discuter </a:t>
                      </a:r>
                      <a:endParaRPr lang="fr-FR" sz="1050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>
                        <a:buAutoNum type="arabicPeriod"/>
                      </a:pPr>
                      <a:endParaRPr lang="fr-FR" sz="105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1" dirty="0">
                          <a:solidFill>
                            <a:schemeClr val="tx1"/>
                          </a:solidFill>
                        </a:rPr>
                        <a:t>Variantes de jeu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fr-F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fr-F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</a:rPr>
                        <a:t>Voir les différentes feuilles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474307"/>
                  </a:ext>
                </a:extLst>
              </a:tr>
              <a:tr h="869173">
                <a:tc>
                  <a:txBody>
                    <a:bodyPr/>
                    <a:lstStyle/>
                    <a:p>
                      <a:r>
                        <a:rPr lang="fr-FR" sz="2000" b="1" dirty="0">
                          <a:solidFill>
                            <a:schemeClr val="tx1"/>
                          </a:solidFill>
                        </a:rPr>
                        <a:t>Création de cette version</a:t>
                      </a:r>
                    </a:p>
                    <a:p>
                      <a:endParaRPr lang="fr-FR" sz="105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fr-FR" sz="1000" b="0" dirty="0">
                          <a:solidFill>
                            <a:schemeClr val="tx1"/>
                          </a:solidFill>
                        </a:rPr>
                        <a:t>Alexandre QUACH, KOMYU</a:t>
                      </a:r>
                      <a:endParaRPr lang="fr-FR" sz="18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1" dirty="0">
                          <a:solidFill>
                            <a:schemeClr val="tx1"/>
                          </a:solidFill>
                        </a:rPr>
                        <a:t>Licence de réutilisation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fr-F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fr-FR" sz="1000" b="0" dirty="0">
                          <a:solidFill>
                            <a:schemeClr val="tx1"/>
                          </a:solidFill>
                        </a:rPr>
                        <a:t>Creative Commons Attribution 3.0</a:t>
                      </a:r>
                    </a:p>
                    <a:p>
                      <a:pPr marL="0" indent="0">
                        <a:buNone/>
                      </a:pPr>
                      <a:r>
                        <a:rPr lang="fr-FR" sz="1000" dirty="0">
                          <a:hlinkClick r:id="rId2"/>
                        </a:rPr>
                        <a:t>https://creativecommons.org/licenses/by/3.0/fr/</a:t>
                      </a:r>
                      <a:endParaRPr lang="fr-FR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103360"/>
                  </a:ext>
                </a:extLst>
              </a:tr>
            </a:tbl>
          </a:graphicData>
        </a:graphic>
      </p:graphicFrame>
      <p:pic>
        <p:nvPicPr>
          <p:cNvPr id="2" name="Image 12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B613E8A-D887-4681-D888-8B027714385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539" y="9497895"/>
            <a:ext cx="614777" cy="222893"/>
          </a:xfrm>
          <a:prstGeom prst="rect">
            <a:avLst/>
          </a:prstGeom>
        </p:spPr>
      </p:pic>
      <p:pic>
        <p:nvPicPr>
          <p:cNvPr id="3" name="Image 14" descr="Une image contenant texte, clipart&#10;&#10;Description générée automatiquement">
            <a:hlinkClick r:id="rId4"/>
            <a:extLst>
              <a:ext uri="{FF2B5EF4-FFF2-40B4-BE49-F238E27FC236}">
                <a16:creationId xmlns:a16="http://schemas.microsoft.com/office/drawing/2014/main" id="{05A1E24A-D63A-F462-DE65-F70B7E9C8E1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539" y="8920197"/>
            <a:ext cx="901148" cy="37288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DC4DE4A-50F4-C61A-1A97-6C32B211A8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6" t="17394" r="25946" b="25394"/>
          <a:stretch/>
        </p:blipFill>
        <p:spPr bwMode="auto">
          <a:xfrm>
            <a:off x="934695" y="9387713"/>
            <a:ext cx="357088" cy="37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799481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2924</TotalTime>
  <Words>1181</Words>
  <Application>Microsoft Office PowerPoint</Application>
  <PresentationFormat>A4 (21x29,7 cm)</PresentationFormat>
  <Paragraphs>171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1" baseType="lpstr">
      <vt:lpstr>Arial</vt:lpstr>
      <vt:lpstr>Bahnschrift</vt:lpstr>
      <vt:lpstr>Bradley Hand ITC</vt:lpstr>
      <vt:lpstr>Calibri</vt:lpstr>
      <vt:lpstr>Calibri Light</vt:lpstr>
      <vt:lpstr>Thème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Alexandre QUACH</dc:creator>
  <cp:lastModifiedBy>Alexandre Quach</cp:lastModifiedBy>
  <cp:revision>81</cp:revision>
  <cp:lastPrinted>2019-08-29T08:55:25Z</cp:lastPrinted>
  <dcterms:created xsi:type="dcterms:W3CDTF">2019-08-28T08:39:22Z</dcterms:created>
  <dcterms:modified xsi:type="dcterms:W3CDTF">2023-06-14T12:37:12Z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8ed5431-0ab7-4c1b-98f4-d4e50f674d02_Enabled">
    <vt:lpwstr>True</vt:lpwstr>
  </property>
  <property fmtid="{D5CDD505-2E9C-101B-9397-08002B2CF9AE}" pid="3" name="MSIP_Label_48ed5431-0ab7-4c1b-98f4-d4e50f674d02_SiteId">
    <vt:lpwstr>614f9c25-bffa-42c7-86d8-964101f55fa2</vt:lpwstr>
  </property>
  <property fmtid="{D5CDD505-2E9C-101B-9397-08002B2CF9AE}" pid="4" name="MSIP_Label_48ed5431-0ab7-4c1b-98f4-d4e50f674d02_Owner">
    <vt:lpwstr>alexandre.quach@externe.bnpparibas.com</vt:lpwstr>
  </property>
  <property fmtid="{D5CDD505-2E9C-101B-9397-08002B2CF9AE}" pid="5" name="MSIP_Label_48ed5431-0ab7-4c1b-98f4-d4e50f674d02_SetDate">
    <vt:lpwstr>2019-12-11T09:48:24.1221894Z</vt:lpwstr>
  </property>
  <property fmtid="{D5CDD505-2E9C-101B-9397-08002B2CF9AE}" pid="6" name="MSIP_Label_48ed5431-0ab7-4c1b-98f4-d4e50f674d02_Name">
    <vt:lpwstr>Public</vt:lpwstr>
  </property>
  <property fmtid="{D5CDD505-2E9C-101B-9397-08002B2CF9AE}" pid="7" name="MSIP_Label_48ed5431-0ab7-4c1b-98f4-d4e50f674d02_Application">
    <vt:lpwstr>Microsoft Azure Information Protection</vt:lpwstr>
  </property>
  <property fmtid="{D5CDD505-2E9C-101B-9397-08002B2CF9AE}" pid="8" name="MSIP_Label_48ed5431-0ab7-4c1b-98f4-d4e50f674d02_ActionId">
    <vt:lpwstr>e2fd7773-faf9-42d4-a1e1-dddf6cbe8fae</vt:lpwstr>
  </property>
  <property fmtid="{D5CDD505-2E9C-101B-9397-08002B2CF9AE}" pid="9" name="MSIP_Label_48ed5431-0ab7-4c1b-98f4-d4e50f674d02_Extended_MSFT_Method">
    <vt:lpwstr>Manual</vt:lpwstr>
  </property>
  <property fmtid="{D5CDD505-2E9C-101B-9397-08002B2CF9AE}" pid="10" name="Sensitivity">
    <vt:lpwstr>Public</vt:lpwstr>
  </property>
</Properties>
</file>